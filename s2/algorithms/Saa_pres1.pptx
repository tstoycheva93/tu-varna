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xls" ContentType="application/vnd.ms-excel"/>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sldIdLst>
    <p:sldId id="256" r:id="rId2"/>
    <p:sldId id="257" r:id="rId3"/>
    <p:sldId id="377" r:id="rId4"/>
    <p:sldId id="258" r:id="rId5"/>
    <p:sldId id="338" r:id="rId6"/>
    <p:sldId id="259" r:id="rId7"/>
    <p:sldId id="260" r:id="rId8"/>
    <p:sldId id="271" r:id="rId9"/>
    <p:sldId id="261" r:id="rId10"/>
    <p:sldId id="262" r:id="rId11"/>
    <p:sldId id="263" r:id="rId12"/>
    <p:sldId id="264" r:id="rId13"/>
    <p:sldId id="265" r:id="rId14"/>
    <p:sldId id="266" r:id="rId15"/>
    <p:sldId id="269" r:id="rId16"/>
    <p:sldId id="273" r:id="rId17"/>
    <p:sldId id="274" r:id="rId18"/>
    <p:sldId id="276" r:id="rId19"/>
    <p:sldId id="345" r:id="rId20"/>
    <p:sldId id="339" r:id="rId21"/>
    <p:sldId id="340" r:id="rId22"/>
    <p:sldId id="341" r:id="rId23"/>
    <p:sldId id="342" r:id="rId24"/>
    <p:sldId id="343" r:id="rId25"/>
    <p:sldId id="344" r:id="rId26"/>
    <p:sldId id="277" r:id="rId27"/>
    <p:sldId id="278" r:id="rId28"/>
    <p:sldId id="272" r:id="rId29"/>
    <p:sldId id="279" r:id="rId30"/>
    <p:sldId id="329" r:id="rId31"/>
    <p:sldId id="330" r:id="rId32"/>
    <p:sldId id="331" r:id="rId33"/>
    <p:sldId id="332" r:id="rId34"/>
    <p:sldId id="333" r:id="rId35"/>
    <p:sldId id="334" r:id="rId36"/>
    <p:sldId id="335" r:id="rId37"/>
    <p:sldId id="336" r:id="rId38"/>
    <p:sldId id="379" r:id="rId39"/>
    <p:sldId id="281" r:id="rId40"/>
    <p:sldId id="378" r:id="rId41"/>
    <p:sldId id="282" r:id="rId42"/>
    <p:sldId id="284" r:id="rId43"/>
    <p:sldId id="286" r:id="rId44"/>
    <p:sldId id="285" r:id="rId45"/>
    <p:sldId id="283" r:id="rId46"/>
    <p:sldId id="287" r:id="rId47"/>
    <p:sldId id="290" r:id="rId48"/>
    <p:sldId id="288" r:id="rId49"/>
    <p:sldId id="289" r:id="rId50"/>
    <p:sldId id="291" r:id="rId51"/>
    <p:sldId id="292" r:id="rId52"/>
    <p:sldId id="293" r:id="rId53"/>
    <p:sldId id="294" r:id="rId54"/>
    <p:sldId id="295" r:id="rId55"/>
    <p:sldId id="296" r:id="rId56"/>
    <p:sldId id="299" r:id="rId57"/>
    <p:sldId id="347" r:id="rId58"/>
    <p:sldId id="351" r:id="rId59"/>
    <p:sldId id="388" r:id="rId60"/>
    <p:sldId id="362" r:id="rId61"/>
    <p:sldId id="363" r:id="rId62"/>
    <p:sldId id="364" r:id="rId63"/>
    <p:sldId id="348" r:id="rId64"/>
    <p:sldId id="349" r:id="rId65"/>
    <p:sldId id="350" r:id="rId66"/>
    <p:sldId id="359" r:id="rId67"/>
    <p:sldId id="384" r:id="rId68"/>
    <p:sldId id="385" r:id="rId69"/>
    <p:sldId id="386" r:id="rId70"/>
    <p:sldId id="387" r:id="rId71"/>
    <p:sldId id="352" r:id="rId72"/>
    <p:sldId id="353" r:id="rId73"/>
    <p:sldId id="354" r:id="rId74"/>
    <p:sldId id="355" r:id="rId75"/>
    <p:sldId id="356" r:id="rId76"/>
    <p:sldId id="357" r:id="rId77"/>
    <p:sldId id="358" r:id="rId78"/>
    <p:sldId id="380" r:id="rId79"/>
    <p:sldId id="360" r:id="rId80"/>
    <p:sldId id="361" r:id="rId81"/>
    <p:sldId id="381" r:id="rId82"/>
    <p:sldId id="383" r:id="rId83"/>
    <p:sldId id="382" r:id="rId84"/>
    <p:sldId id="369" r:id="rId85"/>
    <p:sldId id="370" r:id="rId86"/>
    <p:sldId id="371" r:id="rId87"/>
    <p:sldId id="372" r:id="rId88"/>
    <p:sldId id="373" r:id="rId89"/>
    <p:sldId id="374" r:id="rId90"/>
    <p:sldId id="375" r:id="rId91"/>
    <p:sldId id="376" r:id="rId92"/>
    <p:sldId id="366" r:id="rId93"/>
    <p:sldId id="367" r:id="rId94"/>
    <p:sldId id="368" r:id="rId9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00FF"/>
    <a:srgbClr val="0033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099" y="-2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736D4901-929D-4C84-B44B-37A133CAB19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251F1A20-DA33-4D88-9E76-FDC1E043F19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769E8E2E-92FD-4C0D-B3F4-6F7D7CDB400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06DD3AB8-C716-405E-87E0-90D5AAB391F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580E081C-01CA-4E9E-AAA9-261A82CA57F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0ECAA71C-72BE-4BDB-AC32-2B6560FC26B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4" name="Date Placeholder 1"/>
          <p:cNvSpPr>
            <a:spLocks noGrp="1"/>
          </p:cNvSpPr>
          <p:nvPr>
            <p:ph type="dt" sz="half" idx="10"/>
          </p:nvPr>
        </p:nvSpPr>
        <p:spPr/>
        <p:txBody>
          <a:bodyPr/>
          <a:lstStyle>
            <a:lvl1pPr>
              <a:defRPr/>
            </a:lvl1pPr>
            <a:extLst/>
          </a:lstStyle>
          <a:p>
            <a:pPr>
              <a:defRPr/>
            </a:pPr>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93EE9911-BF04-43ED-A80A-4B91F8A69AD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FDE218D9-B913-47A0-AEC2-A7A25E4FE47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eaLnBrk="1" hangingPunct="1">
              <a:lnSpc>
                <a:spcPts val="3000"/>
              </a:lnSpc>
              <a:spcBef>
                <a:spcPts val="600"/>
              </a:spcBef>
              <a:buClr>
                <a:schemeClr val="accent1"/>
              </a:buClr>
              <a:buSzPct val="80000"/>
              <a:buFont typeface="Wingdings 2"/>
              <a:buNone/>
              <a:defRPr/>
            </a:pPr>
            <a:endParaRPr lang="en-US" sz="320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C931DDC2-C9D8-46AE-8690-B8C1E3CA83E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980A66BE-B40A-43F4-8DD3-5FC352B0B3A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35C18EA6-3754-4AF6-928C-3D43F1A3E674}"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bg-BG"/>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bg-BG"/>
          </a:p>
        </p:txBody>
      </p:sp>
      <p:sp>
        <p:nvSpPr>
          <p:cNvPr id="4" name="ClipArt Placeholder 3"/>
          <p:cNvSpPr>
            <a:spLocks noGrp="1"/>
          </p:cNvSpPr>
          <p:nvPr>
            <p:ph type="clipArt" sz="half" idx="2"/>
          </p:nvPr>
        </p:nvSpPr>
        <p:spPr>
          <a:xfrm>
            <a:off x="4648200" y="1981200"/>
            <a:ext cx="3810000" cy="4114800"/>
          </a:xfrm>
        </p:spPr>
        <p:txBody>
          <a:bodyPr>
            <a:normAutofit/>
          </a:bodyPr>
          <a:lstStyle/>
          <a:p>
            <a:pPr lvl="0"/>
            <a:endParaRPr lang="bg-BG" noProof="0" smtClean="0"/>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74E4E929-2AD8-4920-AA59-637A79FB7BC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1639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CF95A6D6-EB83-4BB2-8A63-6F7E3BBE6213}"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705" r:id="rId1"/>
    <p:sldLayoutId id="2147483699" r:id="rId2"/>
    <p:sldLayoutId id="2147483706" r:id="rId3"/>
    <p:sldLayoutId id="2147483700" r:id="rId4"/>
    <p:sldLayoutId id="2147483707" r:id="rId5"/>
    <p:sldLayoutId id="2147483701" r:id="rId6"/>
    <p:sldLayoutId id="2147483708" r:id="rId7"/>
    <p:sldLayoutId id="2147483709" r:id="rId8"/>
    <p:sldLayoutId id="2147483710" r:id="rId9"/>
    <p:sldLayoutId id="2147483702" r:id="rId10"/>
    <p:sldLayoutId id="2147483703" r:id="rId11"/>
    <p:sldLayoutId id="2147483704"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Microsoft_Excel_97-2003_Worksheet2.xls"/><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10.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1.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12.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Microsoft_Excel_97-2003_Worksheet3.xls"/><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13.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Microsoft_Excel_97-2003_Worksheet4.xls"/><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14.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Microsoft_Excel_97-2003_Worksheet5.xls"/><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14.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Microsoft_Excel_97-2003_Worksheet6.xls"/><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15.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13.vml"/><Relationship Id="rId4" Type="http://schemas.openxmlformats.org/officeDocument/2006/relationships/image" Target="../media/image16.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7.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20.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1116013" y="1700213"/>
            <a:ext cx="7772400" cy="1143000"/>
          </a:xfrm>
        </p:spPr>
        <p:txBody>
          <a:bodyPr>
            <a:normAutofit fontScale="90000"/>
          </a:bodyPr>
          <a:lstStyle/>
          <a:p>
            <a:pPr eaLnBrk="1" fontAlgn="auto" hangingPunct="1">
              <a:spcAft>
                <a:spcPts val="0"/>
              </a:spcAft>
              <a:defRPr/>
            </a:pPr>
            <a:r>
              <a:rPr lang="bg-BG" smtClean="0">
                <a:solidFill>
                  <a:schemeClr val="tx2">
                    <a:satMod val="130000"/>
                  </a:schemeClr>
                </a:solidFill>
              </a:rPr>
              <a:t>СИНТЕЗ  И  АНАЛИЗ  НА  АЛГОРИТМИ</a:t>
            </a:r>
            <a:endParaRPr lang="en-US" smtClean="0">
              <a:solidFill>
                <a:schemeClr val="tx2">
                  <a:satMod val="130000"/>
                </a:schemeClr>
              </a:solidFill>
            </a:endParaRPr>
          </a:p>
        </p:txBody>
      </p:sp>
      <p:sp>
        <p:nvSpPr>
          <p:cNvPr id="17411" name="Rectangle 3"/>
          <p:cNvSpPr>
            <a:spLocks noGrp="1" noChangeArrowheads="1"/>
          </p:cNvSpPr>
          <p:nvPr>
            <p:ph type="subTitle" idx="1"/>
          </p:nvPr>
        </p:nvSpPr>
        <p:spPr>
          <a:xfrm>
            <a:off x="971550" y="3505200"/>
            <a:ext cx="7632700" cy="1752600"/>
          </a:xfrm>
        </p:spPr>
        <p:txBody>
          <a:bodyPr>
            <a:normAutofit/>
          </a:bodyPr>
          <a:lstStyle/>
          <a:p>
            <a:pPr eaLnBrk="1" fontAlgn="auto" hangingPunct="1">
              <a:spcAft>
                <a:spcPts val="0"/>
              </a:spcAft>
              <a:buFont typeface="Wingdings 2"/>
              <a:buNone/>
              <a:defRPr/>
            </a:pPr>
            <a:r>
              <a:rPr lang="bg-BG" dirty="0" smtClean="0"/>
              <a:t>Лекции - </a:t>
            </a:r>
            <a:r>
              <a:rPr lang="en-US" dirty="0" smtClean="0"/>
              <a:t>30</a:t>
            </a:r>
            <a:r>
              <a:rPr lang="bg-BG" dirty="0" smtClean="0"/>
              <a:t> часа</a:t>
            </a:r>
          </a:p>
          <a:p>
            <a:pPr eaLnBrk="1" fontAlgn="auto" hangingPunct="1">
              <a:spcAft>
                <a:spcPts val="0"/>
              </a:spcAft>
              <a:buFont typeface="Wingdings 2"/>
              <a:buNone/>
              <a:defRPr/>
            </a:pPr>
            <a:r>
              <a:rPr lang="bg-BG" dirty="0" smtClean="0"/>
              <a:t>Лабораторни упражнения - </a:t>
            </a:r>
            <a:r>
              <a:rPr lang="en-US" dirty="0" smtClean="0"/>
              <a:t>30</a:t>
            </a:r>
            <a:r>
              <a:rPr lang="bg-BG" dirty="0" smtClean="0"/>
              <a:t> часа</a:t>
            </a:r>
          </a:p>
          <a:p>
            <a:pPr eaLnBrk="1" fontAlgn="auto" hangingPunct="1">
              <a:spcAft>
                <a:spcPts val="0"/>
              </a:spcAft>
              <a:buFont typeface="Wingdings 2"/>
              <a:buNone/>
              <a:defRPr/>
            </a:pPr>
            <a:r>
              <a:rPr lang="bg-BG" dirty="0" smtClean="0"/>
              <a:t>Изпитна процедура - тест</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1187624" y="1916832"/>
            <a:ext cx="7772400" cy="4725988"/>
          </a:xfrm>
        </p:spPr>
        <p:txBody>
          <a:bodyPr>
            <a:normAutofit fontScale="90000"/>
          </a:bodyPr>
          <a:lstStyle/>
          <a:p>
            <a:pPr eaLnBrk="1" fontAlgn="auto" hangingPunct="1">
              <a:spcAft>
                <a:spcPts val="0"/>
              </a:spcAft>
              <a:defRPr/>
            </a:pPr>
            <a:r>
              <a:rPr lang="bg-BG" u="sng" dirty="0" smtClean="0">
                <a:solidFill>
                  <a:schemeClr val="tx2">
                    <a:satMod val="130000"/>
                  </a:schemeClr>
                </a:solidFill>
              </a:rPr>
              <a:t>Лектор</a:t>
            </a:r>
            <a:r>
              <a:rPr lang="bg-BG" u="sng" dirty="0" smtClean="0">
                <a:solidFill>
                  <a:schemeClr val="tx2">
                    <a:satMod val="130000"/>
                  </a:schemeClr>
                </a:solidFill>
              </a:rPr>
              <a:t>:</a:t>
            </a:r>
            <a:r>
              <a:rPr lang="bg-BG" dirty="0" smtClean="0">
                <a:solidFill>
                  <a:schemeClr val="tx2">
                    <a:satMod val="130000"/>
                  </a:schemeClr>
                </a:solidFill>
              </a:rPr>
              <a:t/>
            </a:r>
            <a:br>
              <a:rPr lang="bg-BG" dirty="0" smtClean="0">
                <a:solidFill>
                  <a:schemeClr val="tx2">
                    <a:satMod val="130000"/>
                  </a:schemeClr>
                </a:solidFill>
              </a:rPr>
            </a:br>
            <a:r>
              <a:rPr lang="en-US" dirty="0" smtClean="0">
                <a:solidFill>
                  <a:schemeClr val="tx2">
                    <a:satMod val="130000"/>
                  </a:schemeClr>
                </a:solidFill>
              </a:rPr>
              <a:t>Д</a:t>
            </a:r>
            <a:r>
              <a:rPr lang="bg-BG" dirty="0" err="1" smtClean="0">
                <a:solidFill>
                  <a:schemeClr val="tx2">
                    <a:satMod val="130000"/>
                  </a:schemeClr>
                </a:solidFill>
              </a:rPr>
              <a:t>оц</a:t>
            </a:r>
            <a:r>
              <a:rPr lang="bg-BG" dirty="0" smtClean="0">
                <a:solidFill>
                  <a:schemeClr val="tx2">
                    <a:satMod val="130000"/>
                  </a:schemeClr>
                </a:solidFill>
              </a:rPr>
              <a:t>. д-р Елена Рачева</a:t>
            </a:r>
            <a:br>
              <a:rPr lang="bg-BG" dirty="0" smtClean="0">
                <a:solidFill>
                  <a:schemeClr val="tx2">
                    <a:satMod val="130000"/>
                  </a:schemeClr>
                </a:solidFill>
              </a:rPr>
            </a:br>
            <a:r>
              <a:rPr lang="bg-BG" sz="4000" dirty="0" smtClean="0">
                <a:solidFill>
                  <a:schemeClr val="tx2">
                    <a:satMod val="130000"/>
                  </a:schemeClr>
                </a:solidFill>
                <a:latin typeface="Arial" pitchFamily="34" charset="0"/>
                <a:cs typeface="Arial" pitchFamily="34" charset="0"/>
              </a:rPr>
              <a:t>404</a:t>
            </a:r>
            <a:r>
              <a:rPr lang="bg-BG" dirty="0" smtClean="0">
                <a:solidFill>
                  <a:schemeClr val="tx2">
                    <a:satMod val="130000"/>
                  </a:schemeClr>
                </a:solidFill>
              </a:rPr>
              <a:t> ТВ</a:t>
            </a:r>
            <a:br>
              <a:rPr lang="bg-BG" dirty="0" smtClean="0">
                <a:solidFill>
                  <a:schemeClr val="tx2">
                    <a:satMod val="130000"/>
                  </a:schemeClr>
                </a:solidFill>
              </a:rPr>
            </a:br>
            <a:r>
              <a:rPr lang="bg-BG" dirty="0" smtClean="0">
                <a:solidFill>
                  <a:schemeClr val="tx2">
                    <a:satMod val="130000"/>
                  </a:schemeClr>
                </a:solidFill>
              </a:rPr>
              <a:t>сл. тел. </a:t>
            </a:r>
            <a:r>
              <a:rPr lang="bg-BG" dirty="0" smtClean="0">
                <a:solidFill>
                  <a:schemeClr val="tx2">
                    <a:satMod val="130000"/>
                  </a:schemeClr>
                </a:solidFill>
                <a:latin typeface="Arial" pitchFamily="34" charset="0"/>
                <a:cs typeface="Arial" pitchFamily="34" charset="0"/>
              </a:rPr>
              <a:t>383-628</a:t>
            </a:r>
            <a:br>
              <a:rPr lang="bg-BG" dirty="0" smtClean="0">
                <a:solidFill>
                  <a:schemeClr val="tx2">
                    <a:satMod val="130000"/>
                  </a:schemeClr>
                </a:solidFill>
                <a:latin typeface="Arial" pitchFamily="34" charset="0"/>
                <a:cs typeface="Arial" pitchFamily="34" charset="0"/>
              </a:rPr>
            </a:br>
            <a:r>
              <a:rPr lang="bg-BG" sz="1800" dirty="0" smtClean="0">
                <a:solidFill>
                  <a:schemeClr val="tx2">
                    <a:satMod val="130000"/>
                  </a:schemeClr>
                </a:solidFill>
              </a:rPr>
              <a:t/>
            </a:r>
            <a:br>
              <a:rPr lang="bg-BG" sz="1800" dirty="0" smtClean="0">
                <a:solidFill>
                  <a:schemeClr val="tx2">
                    <a:satMod val="130000"/>
                  </a:schemeClr>
                </a:solidFill>
              </a:rPr>
            </a:br>
            <a:r>
              <a:rPr lang="bg-BG" u="sng" dirty="0" smtClean="0">
                <a:solidFill>
                  <a:schemeClr val="tx2">
                    <a:satMod val="130000"/>
                  </a:schemeClr>
                </a:solidFill>
              </a:rPr>
              <a:t>Асистенти:</a:t>
            </a:r>
            <a:r>
              <a:rPr lang="bg-BG" dirty="0" smtClean="0">
                <a:solidFill>
                  <a:schemeClr val="tx2">
                    <a:satMod val="130000"/>
                  </a:schemeClr>
                </a:solidFill>
              </a:rPr>
              <a:t/>
            </a:r>
            <a:br>
              <a:rPr lang="bg-BG" dirty="0" smtClean="0">
                <a:solidFill>
                  <a:schemeClr val="tx2">
                    <a:satMod val="130000"/>
                  </a:schemeClr>
                </a:solidFill>
              </a:rPr>
            </a:br>
            <a:r>
              <a:rPr lang="bg-BG" dirty="0" smtClean="0">
                <a:solidFill>
                  <a:schemeClr val="tx2">
                    <a:satMod val="130000"/>
                  </a:schemeClr>
                </a:solidFill>
              </a:rPr>
              <a:t>ас. Антоанета Иванова</a:t>
            </a:r>
            <a:br>
              <a:rPr lang="bg-BG" dirty="0" smtClean="0">
                <a:solidFill>
                  <a:schemeClr val="tx2">
                    <a:satMod val="130000"/>
                  </a:schemeClr>
                </a:solidFill>
              </a:rPr>
            </a:br>
            <a:r>
              <a:rPr lang="bg-BG" dirty="0" smtClean="0">
                <a:solidFill>
                  <a:schemeClr val="tx2">
                    <a:satMod val="130000"/>
                  </a:schemeClr>
                </a:solidFill>
              </a:rPr>
              <a:t>ас. Мая Тодорова</a:t>
            </a:r>
            <a:r>
              <a:rPr lang="en-US" dirty="0" smtClean="0">
                <a:solidFill>
                  <a:schemeClr val="tx2">
                    <a:satMod val="130000"/>
                  </a:schemeClr>
                </a:solidFill>
              </a:rPr>
              <a:t/>
            </a:r>
            <a:br>
              <a:rPr lang="en-US" dirty="0" smtClean="0">
                <a:solidFill>
                  <a:schemeClr val="tx2">
                    <a:satMod val="130000"/>
                  </a:schemeClr>
                </a:solidFill>
              </a:rPr>
            </a:br>
            <a:r>
              <a:rPr lang="bg-BG" dirty="0" smtClean="0">
                <a:solidFill>
                  <a:schemeClr val="tx2">
                    <a:satMod val="130000"/>
                  </a:schemeClr>
                </a:solidFill>
              </a:rPr>
              <a:t>ас. Нели Калчева</a:t>
            </a:r>
            <a:r>
              <a:rPr lang="en-US" dirty="0" smtClean="0">
                <a:solidFill>
                  <a:schemeClr val="tx2">
                    <a:satMod val="130000"/>
                  </a:schemeClr>
                </a:solidFill>
              </a:rPr>
              <a:t/>
            </a:r>
            <a:br>
              <a:rPr lang="en-US" dirty="0" smtClean="0">
                <a:solidFill>
                  <a:schemeClr val="tx2">
                    <a:satMod val="130000"/>
                  </a:schemeClr>
                </a:solidFill>
              </a:rPr>
            </a:br>
            <a:r>
              <a:rPr lang="bg-BG" dirty="0" smtClean="0">
                <a:solidFill>
                  <a:schemeClr val="tx2">
                    <a:satMod val="130000"/>
                  </a:schemeClr>
                </a:solidFill>
              </a:rPr>
              <a:t>ас</a:t>
            </a:r>
            <a:r>
              <a:rPr lang="bg-BG" dirty="0" smtClean="0">
                <a:solidFill>
                  <a:schemeClr val="tx2">
                    <a:satMod val="130000"/>
                  </a:schemeClr>
                </a:solidFill>
              </a:rPr>
              <a:t>. </a:t>
            </a:r>
            <a:r>
              <a:rPr lang="bg-BG" dirty="0" smtClean="0">
                <a:solidFill>
                  <a:schemeClr val="tx2">
                    <a:satMod val="130000"/>
                  </a:schemeClr>
                </a:solidFill>
              </a:rPr>
              <a:t>Павлина </a:t>
            </a:r>
            <a:r>
              <a:rPr lang="bg-BG" dirty="0" err="1" smtClean="0">
                <a:solidFill>
                  <a:schemeClr val="tx2">
                    <a:satMod val="130000"/>
                  </a:schemeClr>
                </a:solidFill>
              </a:rPr>
              <a:t>Линова</a:t>
            </a:r>
            <a:r>
              <a:rPr lang="bg-BG" dirty="0" smtClean="0">
                <a:solidFill>
                  <a:schemeClr val="tx2">
                    <a:satMod val="130000"/>
                  </a:schemeClr>
                </a:solidFill>
              </a:rPr>
              <a:t/>
            </a:r>
            <a:br>
              <a:rPr lang="bg-BG" dirty="0" smtClean="0">
                <a:solidFill>
                  <a:schemeClr val="tx2">
                    <a:satMod val="130000"/>
                  </a:schemeClr>
                </a:solidFill>
              </a:rPr>
            </a:br>
            <a:r>
              <a:rPr lang="bg-BG" dirty="0" smtClean="0">
                <a:solidFill>
                  <a:schemeClr val="tx2">
                    <a:satMod val="130000"/>
                  </a:schemeClr>
                </a:solidFill>
              </a:rPr>
              <a:t>ас. Надежда Цветкова</a:t>
            </a:r>
            <a:endParaRPr lang="en-US" dirty="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4"/>
          <p:cNvGraphicFramePr>
            <a:graphicFrameLocks noGrp="1" noChangeAspect="1"/>
          </p:cNvGraphicFramePr>
          <p:nvPr>
            <p:ph type="title"/>
          </p:nvPr>
        </p:nvGraphicFramePr>
        <p:xfrm>
          <a:off x="971550" y="1412875"/>
          <a:ext cx="7993063" cy="3946525"/>
        </p:xfrm>
        <a:graphic>
          <a:graphicData uri="http://schemas.openxmlformats.org/presentationml/2006/ole">
            <mc:AlternateContent xmlns:mc="http://schemas.openxmlformats.org/markup-compatibility/2006">
              <mc:Choice xmlns:v="urn:schemas-microsoft-com:vml" Requires="v">
                <p:oleObj spid="_x0000_s1029" name="Document" r:id="rId3" imgW="6275976" imgH="2479753" progId="Word.Document.8">
                  <p:embed/>
                </p:oleObj>
              </mc:Choice>
              <mc:Fallback>
                <p:oleObj name="Document" r:id="rId3" imgW="6275976" imgH="2479753"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412875"/>
                        <a:ext cx="7993063" cy="3946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0"/>
            <a:ext cx="7772400" cy="1143000"/>
          </a:xfrm>
        </p:spPr>
        <p:txBody>
          <a:bodyPr/>
          <a:lstStyle/>
          <a:p>
            <a:pPr eaLnBrk="1" fontAlgn="auto" hangingPunct="1">
              <a:spcAft>
                <a:spcPts val="0"/>
              </a:spcAft>
              <a:defRPr/>
            </a:pPr>
            <a:r>
              <a:rPr lang="en-US" smtClean="0">
                <a:solidFill>
                  <a:schemeClr val="tx2">
                    <a:satMod val="130000"/>
                  </a:schemeClr>
                </a:solidFill>
              </a:rPr>
              <a:t>Л</a:t>
            </a:r>
            <a:r>
              <a:rPr lang="bg-BG" smtClean="0">
                <a:solidFill>
                  <a:schemeClr val="tx2">
                    <a:satMod val="130000"/>
                  </a:schemeClr>
                </a:solidFill>
              </a:rPr>
              <a:t>итература</a:t>
            </a:r>
            <a:endParaRPr lang="en-US" smtClean="0">
              <a:solidFill>
                <a:schemeClr val="tx2">
                  <a:satMod val="130000"/>
                </a:schemeClr>
              </a:solidFill>
            </a:endParaRPr>
          </a:p>
        </p:txBody>
      </p:sp>
      <p:sp>
        <p:nvSpPr>
          <p:cNvPr id="25603" name="Rectangle 3"/>
          <p:cNvSpPr>
            <a:spLocks noGrp="1" noChangeArrowheads="1"/>
          </p:cNvSpPr>
          <p:nvPr>
            <p:ph idx="1"/>
          </p:nvPr>
        </p:nvSpPr>
        <p:spPr>
          <a:xfrm>
            <a:off x="0" y="1052736"/>
            <a:ext cx="8964612" cy="5543128"/>
          </a:xfrm>
          <a:ln>
            <a:solidFill>
              <a:schemeClr val="tx1"/>
            </a:solidFill>
          </a:ln>
        </p:spPr>
        <p:txBody>
          <a:bodyPr/>
          <a:lstStyle/>
          <a:p>
            <a:pPr eaLnBrk="1" hangingPunct="1">
              <a:lnSpc>
                <a:spcPct val="80000"/>
              </a:lnSpc>
              <a:buFontTx/>
              <a:buNone/>
            </a:pPr>
            <a:r>
              <a:rPr lang="bg-BG" sz="2400" dirty="0" smtClean="0">
                <a:latin typeface="Arial" charset="0"/>
                <a:cs typeface="Arial" charset="0"/>
              </a:rPr>
              <a:t>1</a:t>
            </a:r>
            <a:r>
              <a:rPr lang="en-US" sz="2400" dirty="0" smtClean="0">
                <a:latin typeface="Arial" charset="0"/>
                <a:cs typeface="Arial" charset="0"/>
              </a:rPr>
              <a:t>. </a:t>
            </a:r>
            <a:r>
              <a:rPr lang="bg-BG" sz="2400" dirty="0" smtClean="0"/>
              <a:t>Робърт </a:t>
            </a:r>
            <a:r>
              <a:rPr lang="bg-BG" sz="2400" dirty="0" err="1" smtClean="0"/>
              <a:t>Седжуик</a:t>
            </a:r>
            <a:r>
              <a:rPr lang="bg-BG" sz="2400" dirty="0" smtClean="0"/>
              <a:t>, </a:t>
            </a:r>
            <a:r>
              <a:rPr lang="bg-BG" sz="2400" i="1" dirty="0" smtClean="0"/>
              <a:t>Алгоритми на С, том 1,2,</a:t>
            </a:r>
            <a:r>
              <a:rPr lang="bg-BG" sz="2400" dirty="0" smtClean="0"/>
              <a:t> </a:t>
            </a:r>
            <a:r>
              <a:rPr lang="bg-BG" sz="2400" dirty="0" err="1" smtClean="0"/>
              <a:t>Софтпрес</a:t>
            </a:r>
            <a:r>
              <a:rPr lang="bg-BG" sz="2400" dirty="0" smtClean="0"/>
              <a:t>, С. </a:t>
            </a:r>
            <a:r>
              <a:rPr lang="bg-BG" sz="2200" dirty="0" smtClean="0"/>
              <a:t>2002</a:t>
            </a:r>
          </a:p>
          <a:p>
            <a:pPr eaLnBrk="1" hangingPunct="1">
              <a:lnSpc>
                <a:spcPct val="80000"/>
              </a:lnSpc>
              <a:buFontTx/>
              <a:buNone/>
            </a:pPr>
            <a:r>
              <a:rPr lang="bg-BG" sz="2400" dirty="0" smtClean="0">
                <a:latin typeface="Arial" charset="0"/>
                <a:cs typeface="Arial" charset="0"/>
              </a:rPr>
              <a:t>2. </a:t>
            </a:r>
            <a:r>
              <a:rPr lang="bg-BG" sz="2400" dirty="0" err="1" smtClean="0"/>
              <a:t>Лендерт</a:t>
            </a:r>
            <a:r>
              <a:rPr lang="bg-BG" sz="2400" dirty="0" smtClean="0"/>
              <a:t> </a:t>
            </a:r>
            <a:r>
              <a:rPr lang="bg-BG" sz="2400" dirty="0" err="1" smtClean="0"/>
              <a:t>Амерал</a:t>
            </a:r>
            <a:r>
              <a:rPr lang="bg-BG" sz="2400" dirty="0" smtClean="0"/>
              <a:t>, </a:t>
            </a:r>
            <a:r>
              <a:rPr lang="bg-BG" sz="2400" i="1" dirty="0" smtClean="0"/>
              <a:t>Алгоритми и структури от данни в С++, ИК СОФТЕХ,</a:t>
            </a:r>
            <a:r>
              <a:rPr lang="bg-BG" sz="2400" dirty="0" smtClean="0"/>
              <a:t> С., 2001</a:t>
            </a:r>
          </a:p>
          <a:p>
            <a:pPr eaLnBrk="1" hangingPunct="1">
              <a:lnSpc>
                <a:spcPct val="80000"/>
              </a:lnSpc>
              <a:buFontTx/>
              <a:buNone/>
            </a:pPr>
            <a:r>
              <a:rPr lang="bg-BG" sz="2400" dirty="0" smtClean="0">
                <a:latin typeface="Arial" charset="0"/>
                <a:cs typeface="Arial" charset="0"/>
              </a:rPr>
              <a:t>3. </a:t>
            </a:r>
            <a:r>
              <a:rPr lang="bg-BG" sz="2400" dirty="0" smtClean="0"/>
              <a:t>Преслав Наков, Панайот </a:t>
            </a:r>
            <a:r>
              <a:rPr lang="bg-BG" sz="2400" dirty="0" err="1" smtClean="0"/>
              <a:t>Добриков</a:t>
            </a:r>
            <a:r>
              <a:rPr lang="bg-BG" sz="2400" dirty="0" smtClean="0"/>
              <a:t>. </a:t>
            </a:r>
            <a:r>
              <a:rPr lang="bg-BG" sz="2400" i="1" dirty="0" smtClean="0"/>
              <a:t>Програмиране = ++Алгоритми</a:t>
            </a:r>
            <a:r>
              <a:rPr lang="bg-BG" sz="2400" dirty="0" smtClean="0"/>
              <a:t>, </a:t>
            </a:r>
            <a:r>
              <a:rPr lang="en-US" sz="2400" dirty="0" err="1" smtClean="0"/>
              <a:t>TpoTeam</a:t>
            </a:r>
            <a:r>
              <a:rPr lang="en-US" sz="2400" dirty="0" smtClean="0"/>
              <a:t> Co., </a:t>
            </a:r>
            <a:r>
              <a:rPr lang="bg-BG" sz="2400" dirty="0" smtClean="0"/>
              <a:t>София </a:t>
            </a:r>
            <a:endParaRPr lang="en-US" sz="2400" dirty="0" smtClean="0"/>
          </a:p>
          <a:p>
            <a:pPr eaLnBrk="1" hangingPunct="1">
              <a:lnSpc>
                <a:spcPct val="80000"/>
              </a:lnSpc>
              <a:buFontTx/>
              <a:buNone/>
            </a:pPr>
            <a:endParaRPr lang="en-US" sz="2400" dirty="0" smtClean="0"/>
          </a:p>
          <a:p>
            <a:pPr eaLnBrk="1" hangingPunct="1">
              <a:lnSpc>
                <a:spcPct val="80000"/>
              </a:lnSpc>
              <a:buFontTx/>
              <a:buNone/>
            </a:pPr>
            <a:endParaRPr lang="en-US" sz="2400" dirty="0" smtClean="0"/>
          </a:p>
          <a:p>
            <a:pPr eaLnBrk="1" hangingPunct="1">
              <a:lnSpc>
                <a:spcPct val="80000"/>
              </a:lnSpc>
              <a:buFontTx/>
              <a:buNone/>
            </a:pPr>
            <a:endParaRPr lang="en-US" sz="2400" dirty="0" smtClean="0"/>
          </a:p>
          <a:p>
            <a:pPr eaLnBrk="1" hangingPunct="1">
              <a:lnSpc>
                <a:spcPct val="80000"/>
              </a:lnSpc>
              <a:buFontTx/>
              <a:buNone/>
            </a:pPr>
            <a:r>
              <a:rPr lang="en-US" sz="2400" dirty="0" smtClean="0">
                <a:latin typeface="Arial" charset="0"/>
                <a:cs typeface="Arial" charset="0"/>
              </a:rPr>
              <a:t>4. </a:t>
            </a:r>
            <a:r>
              <a:rPr lang="bg-BG" sz="2400" dirty="0" smtClean="0"/>
              <a:t>Е.Рачева</a:t>
            </a:r>
            <a:r>
              <a:rPr lang="en-US" sz="2400" dirty="0" smtClean="0"/>
              <a:t>.</a:t>
            </a:r>
            <a:r>
              <a:rPr lang="bg-BG" sz="2400" dirty="0" smtClean="0"/>
              <a:t> </a:t>
            </a:r>
            <a:r>
              <a:rPr lang="bg-BG" sz="2400" i="1" dirty="0" smtClean="0"/>
              <a:t>Лекционни материали  по “Синтез и анализ на алгоритми”</a:t>
            </a:r>
            <a:r>
              <a:rPr lang="bg-BG" sz="2400" dirty="0" smtClean="0"/>
              <a:t>, ТУ-Варна, 2005</a:t>
            </a:r>
          </a:p>
          <a:p>
            <a:pPr eaLnBrk="1" hangingPunct="1">
              <a:lnSpc>
                <a:spcPct val="80000"/>
              </a:lnSpc>
              <a:buFontTx/>
              <a:buNone/>
            </a:pPr>
            <a:r>
              <a:rPr lang="en-US" sz="2400" dirty="0" smtClean="0">
                <a:latin typeface="Arial" charset="0"/>
                <a:cs typeface="Arial" charset="0"/>
              </a:rPr>
              <a:t>5</a:t>
            </a:r>
            <a:r>
              <a:rPr lang="bg-BG" sz="2400" dirty="0" smtClean="0">
                <a:latin typeface="Arial" charset="0"/>
                <a:cs typeface="Arial" charset="0"/>
              </a:rPr>
              <a:t>.</a:t>
            </a:r>
            <a:r>
              <a:rPr lang="bg-BG" sz="2400" dirty="0" smtClean="0"/>
              <a:t> Е.Рачева, Н.Николов, А.Иванова. </a:t>
            </a:r>
            <a:r>
              <a:rPr lang="bg-BG" sz="2400" i="1" dirty="0" smtClean="0"/>
              <a:t>Ръководство за лабораторни упражнения по “Синтез и анализ на алгоритми”</a:t>
            </a:r>
            <a:r>
              <a:rPr lang="bg-BG" sz="2400" dirty="0" smtClean="0"/>
              <a:t>, ТУ-Варна</a:t>
            </a:r>
          </a:p>
          <a:p>
            <a:pPr eaLnBrk="1" hangingPunct="1">
              <a:lnSpc>
                <a:spcPct val="80000"/>
              </a:lnSpc>
              <a:buFontTx/>
              <a:buNone/>
            </a:pPr>
            <a:r>
              <a:rPr lang="en-US" sz="2400" dirty="0" smtClean="0">
                <a:latin typeface="Arial" charset="0"/>
                <a:cs typeface="Arial" charset="0"/>
              </a:rPr>
              <a:t>6</a:t>
            </a:r>
            <a:r>
              <a:rPr lang="bg-BG" sz="2400" dirty="0" smtClean="0">
                <a:latin typeface="Arial" charset="0"/>
                <a:cs typeface="Arial" charset="0"/>
              </a:rPr>
              <a:t>. </a:t>
            </a:r>
            <a:r>
              <a:rPr lang="bg-BG" sz="2400" dirty="0" smtClean="0"/>
              <a:t>Е.Рачева, Н.Николов, Н.Миндов. </a:t>
            </a:r>
            <a:r>
              <a:rPr lang="bg-BG" sz="2400" i="1" dirty="0" smtClean="0"/>
              <a:t>Тестове  по “Синтез и анализ на алгоритми”</a:t>
            </a:r>
            <a:r>
              <a:rPr lang="bg-BG" sz="2400" dirty="0" smtClean="0"/>
              <a:t>, ТУ-Варна, 2004</a:t>
            </a:r>
          </a:p>
          <a:p>
            <a:pPr eaLnBrk="1" hangingPunct="1">
              <a:lnSpc>
                <a:spcPct val="80000"/>
              </a:lnSpc>
              <a:buFontTx/>
              <a:buNone/>
            </a:pPr>
            <a:r>
              <a:rPr lang="en-US" sz="2400" dirty="0" smtClean="0">
                <a:latin typeface="Arial" charset="0"/>
                <a:cs typeface="Arial" charset="0"/>
              </a:rPr>
              <a:t>7</a:t>
            </a:r>
            <a:r>
              <a:rPr lang="bg-BG" sz="2400" dirty="0" smtClean="0">
                <a:latin typeface="Arial" charset="0"/>
                <a:cs typeface="Arial" charset="0"/>
              </a:rPr>
              <a:t>. </a:t>
            </a:r>
            <a:r>
              <a:rPr lang="bg-BG" sz="2400" dirty="0" smtClean="0"/>
              <a:t>Н. </a:t>
            </a:r>
            <a:r>
              <a:rPr lang="bg-BG" sz="2400" dirty="0" err="1" smtClean="0"/>
              <a:t>Уирт</a:t>
            </a:r>
            <a:r>
              <a:rPr lang="bg-BG" sz="2400" dirty="0" smtClean="0"/>
              <a:t>. </a:t>
            </a:r>
            <a:r>
              <a:rPr lang="bg-BG" sz="2400" i="1" dirty="0" smtClean="0"/>
              <a:t>“Алгоритми + Структури от данни = Програми”,</a:t>
            </a:r>
            <a:r>
              <a:rPr lang="bg-BG" sz="2400" dirty="0" smtClean="0"/>
              <a:t> Техника, 1988</a:t>
            </a:r>
            <a:r>
              <a:rPr lang="bg-BG" sz="2400" dirty="0" smtClean="0">
                <a:latin typeface="Arial" charset="0"/>
              </a:rPr>
              <a:t> </a:t>
            </a:r>
          </a:p>
          <a:p>
            <a:pPr eaLnBrk="1" hangingPunct="1">
              <a:lnSpc>
                <a:spcPct val="80000"/>
              </a:lnSpc>
              <a:buFontTx/>
              <a:buNone/>
            </a:pPr>
            <a:endParaRPr lang="en-US" sz="2400" dirty="0" smtClean="0"/>
          </a:p>
        </p:txBody>
      </p:sp>
      <p:pic>
        <p:nvPicPr>
          <p:cNvPr id="27650" name="Picture 2"/>
          <p:cNvPicPr>
            <a:picLocks noChangeAspect="1" noChangeArrowheads="1"/>
          </p:cNvPicPr>
          <p:nvPr/>
        </p:nvPicPr>
        <p:blipFill>
          <a:blip r:embed="rId2" cstate="print"/>
          <a:srcRect/>
          <a:stretch>
            <a:fillRect/>
          </a:stretch>
        </p:blipFill>
        <p:spPr bwMode="auto">
          <a:xfrm>
            <a:off x="1259632" y="2852936"/>
            <a:ext cx="6696744" cy="10801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7"/>
          <p:cNvSpPr>
            <a:spLocks noGrp="1" noChangeArrowheads="1"/>
          </p:cNvSpPr>
          <p:nvPr>
            <p:ph idx="1"/>
          </p:nvPr>
        </p:nvSpPr>
        <p:spPr>
          <a:xfrm>
            <a:off x="250825" y="116632"/>
            <a:ext cx="8893175" cy="6741369"/>
          </a:xfrm>
        </p:spPr>
        <p:txBody>
          <a:bodyPr/>
          <a:lstStyle/>
          <a:p>
            <a:pPr eaLnBrk="1" hangingPunct="1">
              <a:lnSpc>
                <a:spcPct val="120000"/>
              </a:lnSpc>
              <a:buNone/>
            </a:pPr>
            <a:r>
              <a:rPr lang="en-US" sz="2200" smtClean="0">
                <a:latin typeface="Arial" charset="0"/>
                <a:cs typeface="Arial" charset="0"/>
              </a:rPr>
              <a:t>8</a:t>
            </a:r>
            <a:r>
              <a:rPr lang="bg-BG" sz="2200" smtClean="0">
                <a:latin typeface="Arial" charset="0"/>
                <a:cs typeface="Arial" charset="0"/>
              </a:rPr>
              <a:t>.</a:t>
            </a:r>
            <a:r>
              <a:rPr lang="bg-BG" sz="2200" smtClean="0"/>
              <a:t> </a:t>
            </a:r>
            <a:r>
              <a:rPr lang="en-US" sz="2200" u="sng" smtClean="0"/>
              <a:t>http://www.awl.com/cseng/titles/0-201-35088-2</a:t>
            </a:r>
            <a:r>
              <a:rPr lang="en-US" sz="2200" smtClean="0"/>
              <a:t> </a:t>
            </a:r>
            <a:r>
              <a:rPr lang="bg-BG" sz="2200" smtClean="0"/>
              <a:t>Материали по книгата на Р. Седжуик  </a:t>
            </a:r>
            <a:r>
              <a:rPr lang="bg-BG" sz="2200" i="1" smtClean="0"/>
              <a:t>Algorithms in C++, Parts 1-4: Fundamentals, Data Structure, Sorting, Searching, Third Edition</a:t>
            </a:r>
            <a:r>
              <a:rPr lang="bg-BG" sz="2200" smtClean="0"/>
              <a:t>.</a:t>
            </a:r>
            <a:r>
              <a:rPr lang="en-US" sz="2200" smtClean="0"/>
              <a:t> </a:t>
            </a:r>
            <a:r>
              <a:rPr lang="en-US" sz="1800" smtClean="0"/>
              <a:t>Addison-Wesley, Reading, MA, 1999.</a:t>
            </a:r>
          </a:p>
          <a:p>
            <a:pPr eaLnBrk="1" hangingPunct="1">
              <a:lnSpc>
                <a:spcPct val="120000"/>
              </a:lnSpc>
              <a:buFontTx/>
              <a:buNone/>
            </a:pPr>
            <a:r>
              <a:rPr lang="en-US" sz="2200" smtClean="0"/>
              <a:t>9. </a:t>
            </a:r>
            <a:r>
              <a:rPr lang="bg-BG" sz="2200" smtClean="0"/>
              <a:t> </a:t>
            </a:r>
            <a:r>
              <a:rPr lang="en-US" sz="2200" smtClean="0"/>
              <a:t>D. Knuth. </a:t>
            </a:r>
            <a:r>
              <a:rPr lang="en-US" sz="2200" i="1" smtClean="0"/>
              <a:t>The Art of Computer Programming. Volume 1: Fundamental Algorithms</a:t>
            </a:r>
            <a:r>
              <a:rPr lang="en-US" sz="2200" smtClean="0"/>
              <a:t>, third edition, Addison-Wesley, Reading, MA, 1997.</a:t>
            </a:r>
            <a:endParaRPr lang="bg-BG" sz="2200" smtClean="0"/>
          </a:p>
          <a:p>
            <a:pPr eaLnBrk="1" hangingPunct="1">
              <a:lnSpc>
                <a:spcPct val="120000"/>
              </a:lnSpc>
              <a:buFontTx/>
              <a:buNone/>
            </a:pPr>
            <a:r>
              <a:rPr lang="en-US" sz="2200" smtClean="0"/>
              <a:t>10. </a:t>
            </a:r>
            <a:r>
              <a:rPr lang="bg-BG" sz="2200" smtClean="0"/>
              <a:t> </a:t>
            </a:r>
            <a:r>
              <a:rPr lang="en-US" sz="2200" smtClean="0"/>
              <a:t>D. Knuth. </a:t>
            </a:r>
            <a:r>
              <a:rPr lang="en-US" sz="2200" i="1" smtClean="0"/>
              <a:t>The Art of Computer Programming. Volume 3: Sorting and Searching</a:t>
            </a:r>
            <a:r>
              <a:rPr lang="en-US" sz="2200" smtClean="0"/>
              <a:t>, second edition, Addison-Wesley, Reading, MA, 1998.</a:t>
            </a:r>
            <a:endParaRPr lang="bg-BG" sz="2200" smtClean="0"/>
          </a:p>
          <a:p>
            <a:pPr eaLnBrk="1" hangingPunct="1">
              <a:lnSpc>
                <a:spcPct val="120000"/>
              </a:lnSpc>
              <a:buFontTx/>
              <a:buNone/>
            </a:pPr>
            <a:r>
              <a:rPr lang="en-US" sz="2200" smtClean="0"/>
              <a:t>I1. </a:t>
            </a:r>
            <a:r>
              <a:rPr lang="bg-BG" sz="2200" smtClean="0"/>
              <a:t> </a:t>
            </a:r>
            <a:r>
              <a:rPr lang="en-US" sz="2200" smtClean="0"/>
              <a:t>R. Sedgewisk and P.Flajolet. </a:t>
            </a:r>
            <a:r>
              <a:rPr lang="en-US" sz="2200" i="1" smtClean="0"/>
              <a:t>An Introduction to the Analysis of Algorithms</a:t>
            </a:r>
            <a:r>
              <a:rPr lang="en-US" sz="2200" smtClean="0"/>
              <a:t>, Addison-Wesley, Reading, MA, 1996.</a:t>
            </a:r>
            <a:r>
              <a:rPr lang="en-GB" sz="2200" smtClean="0"/>
              <a:t> </a:t>
            </a:r>
            <a:endParaRPr lang="bg-BG" sz="2200" smtClean="0"/>
          </a:p>
          <a:p>
            <a:pPr eaLnBrk="1" hangingPunct="1">
              <a:lnSpc>
                <a:spcPct val="120000"/>
              </a:lnSpc>
              <a:buFontTx/>
              <a:buNone/>
            </a:pPr>
            <a:r>
              <a:rPr lang="en-US" sz="2200" smtClean="0"/>
              <a:t>12. </a:t>
            </a:r>
            <a:r>
              <a:rPr lang="bg-BG" sz="2200" smtClean="0"/>
              <a:t> </a:t>
            </a:r>
            <a:r>
              <a:rPr lang="en-US" sz="2200" smtClean="0"/>
              <a:t>A. Aho, J. Hopcroft, J. Ulman. </a:t>
            </a:r>
            <a:r>
              <a:rPr lang="en-US" sz="2200" i="1" smtClean="0"/>
              <a:t>Data Structures and Algirithms</a:t>
            </a:r>
            <a:r>
              <a:rPr lang="en-US" sz="2200" smtClean="0"/>
              <a:t>. Addison Wesl</a:t>
            </a:r>
            <a:r>
              <a:rPr lang="en-GB" sz="2200" smtClean="0"/>
              <a:t>е</a:t>
            </a:r>
            <a:r>
              <a:rPr lang="en-US" sz="2200" smtClean="0"/>
              <a:t>y, 1983.</a:t>
            </a:r>
            <a:r>
              <a:rPr lang="en-GB" sz="2200" smtClean="0"/>
              <a:t> </a:t>
            </a:r>
            <a:endParaRPr lang="bg-BG" sz="2200" smtClean="0"/>
          </a:p>
          <a:p>
            <a:pPr eaLnBrk="1" hangingPunct="1">
              <a:lnSpc>
                <a:spcPct val="120000"/>
              </a:lnSpc>
              <a:buFontTx/>
              <a:buNone/>
            </a:pPr>
            <a:r>
              <a:rPr lang="en-US" sz="2200" smtClean="0"/>
              <a:t>13. </a:t>
            </a:r>
            <a:r>
              <a:rPr lang="bg-BG" sz="2200" smtClean="0"/>
              <a:t> </a:t>
            </a:r>
            <a:r>
              <a:rPr lang="en-GB" sz="2200" smtClean="0"/>
              <a:t>L</a:t>
            </a:r>
            <a:r>
              <a:rPr lang="en-US" sz="2200" smtClean="0"/>
              <a:t>. Banachowski, A. Kreczmar. </a:t>
            </a:r>
            <a:r>
              <a:rPr lang="en-US" sz="2200" i="1" smtClean="0"/>
              <a:t>Analysis of Algorithms and Data structures</a:t>
            </a:r>
            <a:r>
              <a:rPr lang="en-US" sz="2200" smtClean="0"/>
              <a:t>. Addison Wesl</a:t>
            </a:r>
            <a:r>
              <a:rPr lang="en-GB" sz="2200" smtClean="0"/>
              <a:t>е</a:t>
            </a:r>
            <a:r>
              <a:rPr lang="en-US" sz="2200" smtClean="0"/>
              <a:t>y, 1992.</a:t>
            </a:r>
            <a:endParaRPr lang="bg-BG" sz="2200" smtClean="0"/>
          </a:p>
          <a:p>
            <a:pPr eaLnBrk="1" hangingPunct="1">
              <a:lnSpc>
                <a:spcPct val="120000"/>
              </a:lnSpc>
              <a:buFontTx/>
              <a:buNone/>
            </a:pPr>
            <a:r>
              <a:rPr lang="en-US" sz="2200" smtClean="0"/>
              <a:t>14. </a:t>
            </a:r>
            <a:r>
              <a:rPr lang="en-GB" sz="2200" smtClean="0"/>
              <a:t>Уильям Топп, Уильям Форд. </a:t>
            </a:r>
            <a:r>
              <a:rPr lang="en-GB" sz="2200" i="1" smtClean="0"/>
              <a:t>Структуры данных в С++.</a:t>
            </a:r>
            <a:r>
              <a:rPr lang="en-GB" sz="2200" smtClean="0"/>
              <a:t> Бином, М., 2000. </a:t>
            </a:r>
            <a:r>
              <a:rPr lang="en-GB" sz="2400" smtClean="0">
                <a:latin typeface="Corbel" pitchFamily="34" charset="0"/>
              </a:rPr>
              <a:t/>
            </a:r>
            <a:br>
              <a:rPr lang="en-GB" sz="2400" smtClean="0">
                <a:latin typeface="Corbel" pitchFamily="34" charset="0"/>
              </a:rPr>
            </a:br>
            <a:r>
              <a:rPr lang="en-GB" sz="2400" smtClean="0">
                <a:latin typeface="Corbel" pitchFamily="34" charset="0"/>
              </a:rPr>
              <a:t/>
            </a:r>
            <a:br>
              <a:rPr lang="en-GB" sz="2400" smtClean="0">
                <a:latin typeface="Corbel" pitchFamily="34" charset="0"/>
              </a:rPr>
            </a:br>
            <a:r>
              <a:rPr lang="en-US" sz="2400" smtClean="0">
                <a:latin typeface="Corbel" pitchFamily="34" charset="0"/>
              </a:rPr>
              <a:t/>
            </a:r>
            <a:br>
              <a:rPr lang="en-US" sz="2400" smtClean="0">
                <a:latin typeface="Corbel" pitchFamily="34" charset="0"/>
              </a:rPr>
            </a:br>
            <a:endParaRPr lang="bg-BG" sz="2400" smtClean="0"/>
          </a:p>
          <a:p>
            <a:pPr eaLnBrk="1" hangingPunct="1">
              <a:lnSpc>
                <a:spcPct val="90000"/>
              </a:lnSpc>
            </a:pPr>
            <a:endParaRPr lang="bg-BG" sz="2400" smtClean="0"/>
          </a:p>
          <a:p>
            <a:pPr eaLnBrk="1" hangingPunct="1">
              <a:lnSpc>
                <a:spcPct val="90000"/>
              </a:lnSpc>
            </a:pPr>
            <a:r>
              <a:rPr lang="en-US" sz="2400" smtClean="0">
                <a:latin typeface="Corbel" pitchFamily="34" charset="0"/>
              </a:rPr>
              <a:t/>
            </a:r>
            <a:br>
              <a:rPr lang="en-US" sz="2400" smtClean="0">
                <a:latin typeface="Corbel" pitchFamily="34" charset="0"/>
              </a:rPr>
            </a:br>
            <a:endParaRPr lang="en-US" sz="2400" smtClean="0">
              <a:latin typeface="Corbe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900113" y="2133600"/>
            <a:ext cx="7772400" cy="3167063"/>
          </a:xfrm>
        </p:spPr>
        <p:txBody>
          <a:bodyPr>
            <a:normAutofit fontScale="90000"/>
          </a:bodyPr>
          <a:lstStyle/>
          <a:p>
            <a:pPr algn="ctr" eaLnBrk="1" fontAlgn="auto" hangingPunct="1">
              <a:spcAft>
                <a:spcPts val="0"/>
              </a:spcAft>
              <a:defRPr/>
            </a:pP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АЛГОРИТМИ  + СТРУКТУРИ</a:t>
            </a:r>
            <a:br>
              <a:rPr lang="bg-BG" smtClean="0">
                <a:solidFill>
                  <a:schemeClr val="tx2">
                    <a:satMod val="130000"/>
                  </a:schemeClr>
                </a:solidFill>
              </a:rPr>
            </a:b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  ОТ  ДАННИ  =  ПРОГРАМИ</a:t>
            </a:r>
            <a:br>
              <a:rPr lang="bg-BG" smtClean="0">
                <a:solidFill>
                  <a:schemeClr val="tx2">
                    <a:satMod val="130000"/>
                  </a:schemeClr>
                </a:solidFill>
              </a:rPr>
            </a:b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(Николаус Уирт)</a:t>
            </a:r>
            <a:endParaRPr lang="en-US"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333375"/>
            <a:ext cx="7772400" cy="3095625"/>
          </a:xfrm>
        </p:spPr>
        <p:txBody>
          <a:bodyPr/>
          <a:lstStyle/>
          <a:p>
            <a:pPr eaLnBrk="1" fontAlgn="auto" hangingPunct="1">
              <a:spcAft>
                <a:spcPts val="0"/>
              </a:spcAft>
              <a:defRPr/>
            </a:pPr>
            <a:r>
              <a:rPr lang="bg-BG" sz="3600" u="sng" smtClean="0">
                <a:solidFill>
                  <a:schemeClr val="tx2">
                    <a:satMod val="130000"/>
                  </a:schemeClr>
                </a:solidFill>
              </a:rPr>
              <a:t>ИНТУИТИВНА ДЕФИНИЦИЯ:</a:t>
            </a:r>
            <a:r>
              <a:rPr lang="en-US" sz="3600" smtClean="0">
                <a:solidFill>
                  <a:schemeClr val="tx2">
                    <a:satMod val="130000"/>
                  </a:schemeClr>
                </a:solidFill>
              </a:rPr>
              <a:t/>
            </a:r>
            <a:br>
              <a:rPr lang="en-US" sz="3600" smtClean="0">
                <a:solidFill>
                  <a:schemeClr val="tx2">
                    <a:satMod val="130000"/>
                  </a:schemeClr>
                </a:solidFill>
              </a:rPr>
            </a:br>
            <a:r>
              <a:rPr lang="bg-BG" sz="3600" smtClean="0">
                <a:solidFill>
                  <a:schemeClr val="tx2">
                    <a:satMod val="130000"/>
                  </a:schemeClr>
                </a:solidFill>
              </a:rPr>
              <a:t>Алгоритъм е еднозначно трактувана процедура за решаване на задачата</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3600" u="sng" smtClean="0">
                <a:solidFill>
                  <a:schemeClr val="tx2">
                    <a:satMod val="130000"/>
                  </a:schemeClr>
                </a:solidFill>
              </a:rPr>
              <a:t>СВОЙСТВА НА АЛГОРИТМИТЕ</a:t>
            </a:r>
            <a:endParaRPr lang="en-US" u="sng" smtClean="0">
              <a:solidFill>
                <a:schemeClr val="tx2">
                  <a:satMod val="130000"/>
                </a:schemeClr>
              </a:solidFill>
            </a:endParaRPr>
          </a:p>
        </p:txBody>
      </p:sp>
      <p:sp>
        <p:nvSpPr>
          <p:cNvPr id="28675" name="Rectangle 3"/>
          <p:cNvSpPr>
            <a:spLocks noGrp="1" noChangeArrowheads="1"/>
          </p:cNvSpPr>
          <p:nvPr>
            <p:ph idx="1"/>
          </p:nvPr>
        </p:nvSpPr>
        <p:spPr>
          <a:xfrm>
            <a:off x="539750" y="3500438"/>
            <a:ext cx="7772400" cy="3032125"/>
          </a:xfrm>
        </p:spPr>
        <p:txBody>
          <a:bodyPr/>
          <a:lstStyle/>
          <a:p>
            <a:pPr eaLnBrk="1" hangingPunct="1"/>
            <a:r>
              <a:rPr lang="bg-BG" sz="4000" smtClean="0"/>
              <a:t>определеност (еднозначност)</a:t>
            </a:r>
          </a:p>
          <a:p>
            <a:pPr eaLnBrk="1" hangingPunct="1"/>
            <a:r>
              <a:rPr lang="bg-BG" sz="4000" smtClean="0"/>
              <a:t>масовост</a:t>
            </a:r>
          </a:p>
          <a:p>
            <a:pPr eaLnBrk="1" hangingPunct="1"/>
            <a:r>
              <a:rPr lang="bg-BG" sz="4000" smtClean="0"/>
              <a:t>дискретност  </a:t>
            </a:r>
          </a:p>
          <a:p>
            <a:pPr eaLnBrk="1" hangingPunct="1"/>
            <a:r>
              <a:rPr lang="bg-BG" sz="4000" smtClean="0"/>
              <a:t>резултативност (реализуемост)</a:t>
            </a:r>
          </a:p>
          <a:p>
            <a:pPr eaLnBrk="1" hangingPunct="1"/>
            <a:endParaRPr lang="en-US"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1042988" y="549275"/>
            <a:ext cx="7866062" cy="5570538"/>
          </a:xfrm>
          <a:prstGeom prst="rect">
            <a:avLst/>
          </a:prstGeom>
          <a:noFill/>
          <a:ln w="9525">
            <a:noFill/>
            <a:miter lim="800000"/>
            <a:headEnd/>
            <a:tailEnd/>
          </a:ln>
        </p:spPr>
        <p:txBody>
          <a:bodyPr>
            <a:spAutoFit/>
          </a:bodyPr>
          <a:lstStyle/>
          <a:p>
            <a:r>
              <a:rPr lang="en-US" sz="6000"/>
              <a:t>		</a:t>
            </a:r>
          </a:p>
          <a:p>
            <a:r>
              <a:rPr lang="bg-BG" sz="6000"/>
              <a:t>		</a:t>
            </a:r>
            <a:r>
              <a:rPr lang="en-US" sz="5400"/>
              <a:t>Т</a:t>
            </a:r>
            <a:r>
              <a:rPr lang="bg-BG" sz="5400"/>
              <a:t>еза  на Чърч</a:t>
            </a:r>
            <a:r>
              <a:rPr lang="bg-BG" sz="4400"/>
              <a:t/>
            </a:r>
            <a:br>
              <a:rPr lang="bg-BG" sz="4400"/>
            </a:br>
            <a:r>
              <a:rPr lang="bg-BG" sz="4400"/>
              <a:t/>
            </a:r>
            <a:br>
              <a:rPr lang="bg-BG" sz="4400"/>
            </a:br>
            <a:r>
              <a:rPr lang="bg-BG" sz="4400"/>
              <a:t>	</a:t>
            </a:r>
            <a:r>
              <a:rPr lang="bg-BG" sz="4800"/>
              <a:t>Формалните модели на всеки един алгоритъм съответстват на интуитив</a:t>
            </a:r>
            <a:r>
              <a:rPr lang="en-US" sz="4800"/>
              <a:t>-</a:t>
            </a:r>
            <a:r>
              <a:rPr lang="bg-BG" sz="4800"/>
              <a:t>ната представа за него</a:t>
            </a:r>
            <a:endParaRPr lang="en-US" sz="44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1835150" y="1484313"/>
            <a:ext cx="6623050" cy="1143000"/>
          </a:xfrm>
        </p:spPr>
        <p:txBody>
          <a:bodyPr/>
          <a:lstStyle/>
          <a:p>
            <a:pPr eaLnBrk="1" fontAlgn="auto" hangingPunct="1">
              <a:spcAft>
                <a:spcPts val="0"/>
              </a:spcAft>
              <a:defRPr/>
            </a:pPr>
            <a:r>
              <a:rPr lang="en-US" smtClean="0">
                <a:solidFill>
                  <a:schemeClr val="tx2">
                    <a:satMod val="130000"/>
                  </a:schemeClr>
                </a:solidFill>
              </a:rPr>
              <a:t>М</a:t>
            </a:r>
            <a:r>
              <a:rPr lang="bg-BG" smtClean="0">
                <a:solidFill>
                  <a:schemeClr val="tx2">
                    <a:satMod val="130000"/>
                  </a:schemeClr>
                </a:solidFill>
              </a:rPr>
              <a:t>АШИНА  НА  ТЮРИНГ</a:t>
            </a:r>
            <a:endParaRPr lang="en-US" smtClean="0">
              <a:solidFill>
                <a:schemeClr val="tx2">
                  <a:satMod val="130000"/>
                </a:schemeClr>
              </a:solidFill>
            </a:endParaRPr>
          </a:p>
        </p:txBody>
      </p:sp>
      <p:sp>
        <p:nvSpPr>
          <p:cNvPr id="24579" name="Rectangle 3"/>
          <p:cNvSpPr>
            <a:spLocks noGrp="1" noChangeArrowheads="1"/>
          </p:cNvSpPr>
          <p:nvPr>
            <p:ph type="subTitle" idx="1"/>
          </p:nvPr>
        </p:nvSpPr>
        <p:spPr>
          <a:xfrm>
            <a:off x="1619250" y="2924175"/>
            <a:ext cx="6400800" cy="2667000"/>
          </a:xfrm>
        </p:spPr>
        <p:txBody>
          <a:bodyPr>
            <a:normAutofit/>
          </a:bodyPr>
          <a:lstStyle/>
          <a:p>
            <a:pPr eaLnBrk="1" fontAlgn="auto" hangingPunct="1">
              <a:spcAft>
                <a:spcPts val="0"/>
              </a:spcAft>
              <a:buFont typeface="Wingdings 2"/>
              <a:buNone/>
              <a:defRPr/>
            </a:pPr>
            <a:r>
              <a:rPr lang="bg-BG" sz="3600" smtClean="0"/>
              <a:t>	Автомат, обработващ безкрайна лента, разделена на участъци (клетки), по една клетка наведнъж. </a:t>
            </a:r>
            <a:endParaRPr lang="en-US"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xfrm>
            <a:off x="971550" y="765175"/>
            <a:ext cx="7772400" cy="4876800"/>
          </a:xfrm>
        </p:spPr>
        <p:txBody>
          <a:bodyPr/>
          <a:lstStyle/>
          <a:p>
            <a:pPr eaLnBrk="1" fontAlgn="auto" hangingPunct="1">
              <a:spcAft>
                <a:spcPts val="0"/>
              </a:spcAft>
              <a:defRPr/>
            </a:pPr>
            <a:r>
              <a:rPr lang="bg-BG" smtClean="0">
                <a:solidFill>
                  <a:schemeClr val="tx2">
                    <a:satMod val="130000"/>
                  </a:schemeClr>
                </a:solidFill>
              </a:rPr>
              <a:t>Във всяка една клетка може да бъде записан (прочетен) един символ:</a:t>
            </a:r>
            <a:br>
              <a:rPr lang="bg-BG" smtClean="0">
                <a:solidFill>
                  <a:schemeClr val="tx2">
                    <a:satMod val="130000"/>
                  </a:schemeClr>
                </a:solidFill>
              </a:rPr>
            </a:br>
            <a:r>
              <a:rPr lang="en-US" smtClean="0">
                <a:solidFill>
                  <a:schemeClr val="tx2">
                    <a:satMod val="130000"/>
                  </a:schemeClr>
                </a:solidFill>
              </a:rPr>
              <a:t>		</a:t>
            </a:r>
            <a:r>
              <a:rPr lang="bg-BG" smtClean="0">
                <a:solidFill>
                  <a:schemeClr val="tx2">
                    <a:satMod val="130000"/>
                  </a:schemeClr>
                </a:solidFill>
              </a:rPr>
              <a:t>а</a:t>
            </a:r>
            <a:r>
              <a:rPr lang="bg-BG" baseline="-25000" smtClean="0">
                <a:solidFill>
                  <a:schemeClr val="tx2">
                    <a:satMod val="130000"/>
                  </a:schemeClr>
                </a:solidFill>
              </a:rPr>
              <a:t>0</a:t>
            </a:r>
            <a:r>
              <a:rPr lang="bg-BG" smtClean="0">
                <a:solidFill>
                  <a:schemeClr val="tx2">
                    <a:satMod val="130000"/>
                  </a:schemeClr>
                </a:solidFill>
              </a:rPr>
              <a:t>, а</a:t>
            </a:r>
            <a:r>
              <a:rPr lang="bg-BG" baseline="-25000" smtClean="0">
                <a:solidFill>
                  <a:schemeClr val="tx2">
                    <a:satMod val="130000"/>
                  </a:schemeClr>
                </a:solidFill>
              </a:rPr>
              <a:t>1</a:t>
            </a:r>
            <a:r>
              <a:rPr lang="bg-BG" smtClean="0">
                <a:solidFill>
                  <a:schemeClr val="tx2">
                    <a:satMod val="130000"/>
                  </a:schemeClr>
                </a:solidFill>
              </a:rPr>
              <a:t>, а</a:t>
            </a:r>
            <a:r>
              <a:rPr lang="bg-BG" baseline="-25000" smtClean="0">
                <a:solidFill>
                  <a:schemeClr val="tx2">
                    <a:satMod val="130000"/>
                  </a:schemeClr>
                </a:solidFill>
              </a:rPr>
              <a:t>2</a:t>
            </a:r>
            <a:r>
              <a:rPr lang="bg-BG" smtClean="0">
                <a:solidFill>
                  <a:schemeClr val="tx2">
                    <a:satMod val="130000"/>
                  </a:schemeClr>
                </a:solidFill>
              </a:rPr>
              <a:t>, … а</a:t>
            </a:r>
            <a:r>
              <a:rPr lang="bg-BG" baseline="-25000" smtClean="0">
                <a:solidFill>
                  <a:schemeClr val="tx2">
                    <a:satMod val="130000"/>
                  </a:schemeClr>
                </a:solidFill>
              </a:rPr>
              <a:t>n</a:t>
            </a:r>
            <a:r>
              <a:rPr lang="en-US" baseline="-25000" smtClean="0">
                <a:solidFill>
                  <a:schemeClr val="tx2">
                    <a:satMod val="130000"/>
                  </a:schemeClr>
                </a:solidFill>
              </a:rPr>
              <a:t/>
            </a:r>
            <a:br>
              <a:rPr lang="en-US" baseline="-25000" smtClean="0">
                <a:solidFill>
                  <a:schemeClr val="tx2">
                    <a:satMod val="130000"/>
                  </a:schemeClr>
                </a:solidFill>
              </a:rPr>
            </a:br>
            <a:r>
              <a:rPr lang="bg-BG" baseline="-25000" smtClean="0">
                <a:solidFill>
                  <a:schemeClr val="tx2">
                    <a:satMod val="130000"/>
                  </a:schemeClr>
                </a:solidFill>
              </a:rPr>
              <a:t/>
            </a:r>
            <a:br>
              <a:rPr lang="bg-BG" baseline="-25000" smtClean="0">
                <a:solidFill>
                  <a:schemeClr val="tx2">
                    <a:satMod val="130000"/>
                  </a:schemeClr>
                </a:solidFill>
              </a:rPr>
            </a:br>
            <a:r>
              <a:rPr lang="en-US" smtClean="0">
                <a:solidFill>
                  <a:schemeClr val="tx2">
                    <a:satMod val="130000"/>
                  </a:schemeClr>
                </a:solidFill>
              </a:rPr>
              <a:t>- </a:t>
            </a:r>
            <a:r>
              <a:rPr lang="bg-BG" smtClean="0">
                <a:solidFill>
                  <a:schemeClr val="tx2">
                    <a:satMod val="130000"/>
                  </a:schemeClr>
                </a:solidFill>
              </a:rPr>
              <a:t>външна азбука на МТ</a:t>
            </a:r>
            <a:endParaRPr lang="en-US"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1042988" y="908050"/>
            <a:ext cx="7772400" cy="4953000"/>
          </a:xfrm>
        </p:spPr>
        <p:txBody>
          <a:bodyPr>
            <a:normAutofit fontScale="90000"/>
          </a:bodyPr>
          <a:lstStyle/>
          <a:p>
            <a:pPr eaLnBrk="1" fontAlgn="auto" hangingPunct="1">
              <a:spcAft>
                <a:spcPts val="0"/>
              </a:spcAft>
              <a:defRPr/>
            </a:pPr>
            <a:r>
              <a:rPr lang="en-US" smtClean="0">
                <a:solidFill>
                  <a:schemeClr val="tx2">
                    <a:satMod val="130000"/>
                  </a:schemeClr>
                </a:solidFill>
              </a:rPr>
              <a:t>З</a:t>
            </a:r>
            <a:r>
              <a:rPr lang="bg-BG" smtClean="0">
                <a:solidFill>
                  <a:schemeClr val="tx2">
                    <a:satMod val="130000"/>
                  </a:schemeClr>
                </a:solidFill>
              </a:rPr>
              <a:t>а предвижване на лентата МТ разполага с прост механизъм, който:</a:t>
            </a:r>
            <a:br>
              <a:rPr lang="bg-BG" smtClean="0">
                <a:solidFill>
                  <a:schemeClr val="tx2">
                    <a:satMod val="130000"/>
                  </a:schemeClr>
                </a:solidFill>
              </a:rPr>
            </a:br>
            <a:r>
              <a:rPr lang="bg-BG" smtClean="0">
                <a:solidFill>
                  <a:schemeClr val="tx2">
                    <a:satMod val="130000"/>
                  </a:schemeClr>
                </a:solidFill>
              </a:rPr>
              <a:t>- предвижва лентата с една</a:t>
            </a:r>
            <a:br>
              <a:rPr lang="bg-BG" smtClean="0">
                <a:solidFill>
                  <a:schemeClr val="tx2">
                    <a:satMod val="130000"/>
                  </a:schemeClr>
                </a:solidFill>
              </a:rPr>
            </a:br>
            <a:r>
              <a:rPr lang="bg-BG" smtClean="0">
                <a:solidFill>
                  <a:schemeClr val="tx2">
                    <a:satMod val="130000"/>
                  </a:schemeClr>
                </a:solidFill>
              </a:rPr>
              <a:t>  стъпка  напред;</a:t>
            </a:r>
            <a:br>
              <a:rPr lang="bg-BG" smtClean="0">
                <a:solidFill>
                  <a:schemeClr val="tx2">
                    <a:satMod val="130000"/>
                  </a:schemeClr>
                </a:solidFill>
              </a:rPr>
            </a:br>
            <a:r>
              <a:rPr lang="bg-BG" smtClean="0">
                <a:solidFill>
                  <a:schemeClr val="tx2">
                    <a:satMod val="130000"/>
                  </a:schemeClr>
                </a:solidFill>
              </a:rPr>
              <a:t>- предвижва лентата с една</a:t>
            </a:r>
            <a:br>
              <a:rPr lang="bg-BG" smtClean="0">
                <a:solidFill>
                  <a:schemeClr val="tx2">
                    <a:satMod val="130000"/>
                  </a:schemeClr>
                </a:solidFill>
              </a:rPr>
            </a:br>
            <a:r>
              <a:rPr lang="bg-BG" smtClean="0">
                <a:solidFill>
                  <a:schemeClr val="tx2">
                    <a:satMod val="130000"/>
                  </a:schemeClr>
                </a:solidFill>
              </a:rPr>
              <a:t>   стъпка  назад; </a:t>
            </a:r>
            <a:br>
              <a:rPr lang="bg-BG" smtClean="0">
                <a:solidFill>
                  <a:schemeClr val="tx2">
                    <a:satMod val="130000"/>
                  </a:schemeClr>
                </a:solidFill>
              </a:rPr>
            </a:br>
            <a:r>
              <a:rPr lang="bg-BG" smtClean="0">
                <a:solidFill>
                  <a:schemeClr val="tx2">
                    <a:satMod val="130000"/>
                  </a:schemeClr>
                </a:solidFill>
              </a:rPr>
              <a:t>- оставя лентата неподвижна.</a:t>
            </a:r>
            <a:endParaRPr lang="en-US"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1116013" y="5084763"/>
            <a:ext cx="7772400" cy="1143000"/>
          </a:xfrm>
        </p:spPr>
        <p:txBody>
          <a:bodyPr>
            <a:normAutofit fontScale="90000"/>
          </a:bodyPr>
          <a:lstStyle/>
          <a:p>
            <a:pPr eaLnBrk="1" fontAlgn="auto" hangingPunct="1">
              <a:spcAft>
                <a:spcPts val="0"/>
              </a:spcAft>
              <a:defRPr/>
            </a:pPr>
            <a:r>
              <a:rPr lang="en-US" smtClean="0">
                <a:solidFill>
                  <a:schemeClr val="tx2">
                    <a:satMod val="130000"/>
                  </a:schemeClr>
                </a:solidFill>
              </a:rPr>
              <a:t>Т</a:t>
            </a:r>
            <a:r>
              <a:rPr lang="bg-BG" smtClean="0">
                <a:solidFill>
                  <a:schemeClr val="tx2">
                    <a:satMod val="130000"/>
                  </a:schemeClr>
                </a:solidFill>
              </a:rPr>
              <a:t>. е. лентата може да се намира в едно от трите състояния:</a:t>
            </a:r>
            <a:br>
              <a:rPr lang="bg-BG" smtClean="0">
                <a:solidFill>
                  <a:schemeClr val="tx2">
                    <a:satMod val="130000"/>
                  </a:schemeClr>
                </a:solidFill>
              </a:rPr>
            </a:br>
            <a:r>
              <a:rPr lang="bg-BG" smtClean="0">
                <a:solidFill>
                  <a:schemeClr val="tx2">
                    <a:satMod val="130000"/>
                  </a:schemeClr>
                </a:solidFill>
              </a:rPr>
              <a:t>	</a:t>
            </a:r>
            <a:r>
              <a:rPr lang="en-US" smtClean="0">
                <a:solidFill>
                  <a:schemeClr val="tx2">
                    <a:satMod val="130000"/>
                  </a:schemeClr>
                </a:solidFill>
              </a:rPr>
              <a:t>		d</a:t>
            </a:r>
            <a:r>
              <a:rPr lang="en-US" baseline="-25000" smtClean="0">
                <a:solidFill>
                  <a:schemeClr val="tx2">
                    <a:satMod val="130000"/>
                  </a:schemeClr>
                </a:solidFill>
              </a:rPr>
              <a:t>-1 </a:t>
            </a:r>
            <a:r>
              <a:rPr lang="en-US" smtClean="0">
                <a:solidFill>
                  <a:schemeClr val="tx2">
                    <a:satMod val="130000"/>
                  </a:schemeClr>
                </a:solidFill>
              </a:rPr>
              <a:t>d</a:t>
            </a:r>
            <a:r>
              <a:rPr lang="en-US" baseline="-25000" smtClean="0">
                <a:solidFill>
                  <a:schemeClr val="tx2">
                    <a:satMod val="130000"/>
                  </a:schemeClr>
                </a:solidFill>
              </a:rPr>
              <a:t>+1 </a:t>
            </a:r>
            <a:r>
              <a:rPr lang="en-US" smtClean="0">
                <a:solidFill>
                  <a:schemeClr val="tx2">
                    <a:satMod val="130000"/>
                  </a:schemeClr>
                </a:solidFill>
              </a:rPr>
              <a:t>d</a:t>
            </a:r>
            <a:r>
              <a:rPr lang="en-US" baseline="-25000" smtClean="0">
                <a:solidFill>
                  <a:schemeClr val="tx2">
                    <a:satMod val="130000"/>
                  </a:schemeClr>
                </a:solidFill>
              </a:rPr>
              <a:t>0</a:t>
            </a:r>
            <a:br>
              <a:rPr lang="en-US" baseline="-25000" smtClean="0">
                <a:solidFill>
                  <a:schemeClr val="tx2">
                    <a:satMod val="130000"/>
                  </a:schemeClr>
                </a:solidFill>
              </a:rPr>
            </a:br>
            <a:r>
              <a:rPr lang="bg-BG" baseline="-25000" smtClean="0">
                <a:solidFill>
                  <a:schemeClr val="tx2">
                    <a:satMod val="130000"/>
                  </a:schemeClr>
                </a:solidFill>
              </a:rPr>
              <a:t/>
            </a:r>
            <a:br>
              <a:rPr lang="bg-BG" baseline="-25000" smtClean="0">
                <a:solidFill>
                  <a:schemeClr val="tx2">
                    <a:satMod val="130000"/>
                  </a:schemeClr>
                </a:solidFill>
              </a:rPr>
            </a:br>
            <a:r>
              <a:rPr lang="bg-BG" smtClean="0">
                <a:solidFill>
                  <a:schemeClr val="tx2">
                    <a:satMod val="130000"/>
                  </a:schemeClr>
                </a:solidFill>
              </a:rPr>
              <a:t>Глава за четене / запис</a:t>
            </a:r>
            <a:br>
              <a:rPr lang="bg-BG" smtClean="0">
                <a:solidFill>
                  <a:schemeClr val="tx2">
                    <a:satMod val="130000"/>
                  </a:schemeClr>
                </a:solidFill>
              </a:rPr>
            </a:br>
            <a:r>
              <a:rPr lang="bg-BG" sz="1600" smtClean="0">
                <a:solidFill>
                  <a:schemeClr val="tx2">
                    <a:satMod val="130000"/>
                  </a:schemeClr>
                </a:solidFill>
              </a:rPr>
              <a:t/>
            </a:r>
            <a:br>
              <a:rPr lang="bg-BG" sz="1600" smtClean="0">
                <a:solidFill>
                  <a:schemeClr val="tx2">
                    <a:satMod val="130000"/>
                  </a:schemeClr>
                </a:solidFill>
              </a:rPr>
            </a:br>
            <a:r>
              <a:rPr lang="bg-BG" smtClean="0">
                <a:solidFill>
                  <a:schemeClr val="tx2">
                    <a:satMod val="130000"/>
                  </a:schemeClr>
                </a:solidFill>
              </a:rPr>
              <a:t>Логически блок с краен брой вътрешни състояния:</a:t>
            </a:r>
            <a:br>
              <a:rPr lang="bg-BG" smtClean="0">
                <a:solidFill>
                  <a:schemeClr val="tx2">
                    <a:satMod val="130000"/>
                  </a:schemeClr>
                </a:solidFill>
              </a:rPr>
            </a:br>
            <a:r>
              <a:rPr lang="bg-BG" smtClean="0">
                <a:solidFill>
                  <a:schemeClr val="tx2">
                    <a:satMod val="130000"/>
                  </a:schemeClr>
                </a:solidFill>
              </a:rPr>
              <a:t>	р</a:t>
            </a:r>
            <a:r>
              <a:rPr lang="bg-BG" baseline="-25000" smtClean="0">
                <a:solidFill>
                  <a:schemeClr val="tx2">
                    <a:satMod val="130000"/>
                  </a:schemeClr>
                </a:solidFill>
              </a:rPr>
              <a:t>1</a:t>
            </a:r>
            <a:r>
              <a:rPr lang="bg-BG" smtClean="0">
                <a:solidFill>
                  <a:schemeClr val="tx2">
                    <a:satMod val="130000"/>
                  </a:schemeClr>
                </a:solidFill>
              </a:rPr>
              <a:t>, р</a:t>
            </a:r>
            <a:r>
              <a:rPr lang="bg-BG" baseline="-25000" smtClean="0">
                <a:solidFill>
                  <a:schemeClr val="tx2">
                    <a:satMod val="130000"/>
                  </a:schemeClr>
                </a:solidFill>
              </a:rPr>
              <a:t>2</a:t>
            </a:r>
            <a:r>
              <a:rPr lang="bg-BG" smtClean="0">
                <a:solidFill>
                  <a:schemeClr val="tx2">
                    <a:satMod val="130000"/>
                  </a:schemeClr>
                </a:solidFill>
              </a:rPr>
              <a:t>, ...</a:t>
            </a:r>
            <a:r>
              <a:rPr lang="bg-BG" baseline="-25000" smtClean="0">
                <a:solidFill>
                  <a:schemeClr val="tx2">
                    <a:satMod val="130000"/>
                  </a:schemeClr>
                </a:solidFill>
              </a:rPr>
              <a:t>  </a:t>
            </a:r>
            <a:r>
              <a:rPr lang="bg-BG" smtClean="0">
                <a:solidFill>
                  <a:schemeClr val="tx2">
                    <a:satMod val="130000"/>
                  </a:schemeClr>
                </a:solidFill>
              </a:rPr>
              <a:t>р</a:t>
            </a:r>
            <a:r>
              <a:rPr lang="bg-BG" baseline="-25000" smtClean="0">
                <a:solidFill>
                  <a:schemeClr val="tx2">
                    <a:satMod val="130000"/>
                  </a:schemeClr>
                </a:solidFill>
              </a:rPr>
              <a:t>m</a:t>
            </a:r>
            <a:r>
              <a:rPr lang="en-US" smtClean="0">
                <a:solidFill>
                  <a:schemeClr val="tx2">
                    <a:satMod val="130000"/>
                  </a:schemeClr>
                </a:solidFill>
              </a:rPr>
              <a:t/>
            </a:r>
            <a:br>
              <a:rPr lang="en-US" smtClean="0">
                <a:solidFill>
                  <a:schemeClr val="tx2">
                    <a:satMod val="130000"/>
                  </a:schemeClr>
                </a:solidFill>
              </a:rPr>
            </a:br>
            <a:r>
              <a:rPr lang="bg-BG" smtClean="0">
                <a:solidFill>
                  <a:schemeClr val="tx2">
                    <a:satMod val="130000"/>
                  </a:schemeClr>
                </a:solidFill>
              </a:rPr>
              <a:t>(вътрешна азбука на МТ)</a:t>
            </a:r>
            <a:endParaRPr lang="en-US" baseline="-250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1547813" y="1371600"/>
            <a:ext cx="7200900" cy="5486400"/>
          </a:xfrm>
        </p:spPr>
        <p:txBody>
          <a:bodyPr>
            <a:normAutofit fontScale="90000"/>
          </a:bodyPr>
          <a:lstStyle/>
          <a:p>
            <a:pPr eaLnBrk="1" fontAlgn="auto" hangingPunct="1">
              <a:spcAft>
                <a:spcPts val="0"/>
              </a:spcAft>
              <a:defRPr/>
            </a:pPr>
            <a:r>
              <a:rPr lang="en-US" smtClean="0">
                <a:solidFill>
                  <a:schemeClr val="tx2">
                    <a:satMod val="130000"/>
                  </a:schemeClr>
                </a:solidFill>
              </a:rPr>
              <a:t>	</a:t>
            </a:r>
            <a:br>
              <a:rPr lang="en-US" smtClean="0">
                <a:solidFill>
                  <a:schemeClr val="tx2">
                    <a:satMod val="130000"/>
                  </a:schemeClr>
                </a:solidFill>
              </a:rPr>
            </a:b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	Работа на ЛБ на МТ:</a:t>
            </a:r>
            <a:br>
              <a:rPr lang="bg-BG" smtClean="0">
                <a:solidFill>
                  <a:schemeClr val="tx2">
                    <a:satMod val="130000"/>
                  </a:schemeClr>
                </a:solidFill>
              </a:rPr>
            </a:b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1. Главата чете текущия</a:t>
            </a:r>
            <a:br>
              <a:rPr lang="bg-BG" smtClean="0">
                <a:solidFill>
                  <a:schemeClr val="tx2">
                    <a:satMod val="130000"/>
                  </a:schemeClr>
                </a:solidFill>
              </a:rPr>
            </a:br>
            <a:r>
              <a:rPr lang="bg-BG" smtClean="0">
                <a:solidFill>
                  <a:schemeClr val="tx2">
                    <a:satMod val="130000"/>
                  </a:schemeClr>
                </a:solidFill>
              </a:rPr>
              <a:t>символ (под нея).</a:t>
            </a:r>
            <a:br>
              <a:rPr lang="bg-BG" smtClean="0">
                <a:solidFill>
                  <a:schemeClr val="tx2">
                    <a:satMod val="130000"/>
                  </a:schemeClr>
                </a:solidFill>
              </a:rPr>
            </a:br>
            <a:r>
              <a:rPr lang="bg-BG" smtClean="0">
                <a:solidFill>
                  <a:schemeClr val="tx2">
                    <a:satMod val="130000"/>
                  </a:schemeClr>
                </a:solidFill>
              </a:rPr>
              <a:t>2. В зависимост от прочетения символ (а</a:t>
            </a:r>
            <a:r>
              <a:rPr lang="bg-BG" baseline="-25000" smtClean="0">
                <a:solidFill>
                  <a:schemeClr val="tx2">
                    <a:satMod val="130000"/>
                  </a:schemeClr>
                </a:solidFill>
              </a:rPr>
              <a:t>i</a:t>
            </a:r>
            <a:r>
              <a:rPr lang="en-US" smtClean="0">
                <a:solidFill>
                  <a:schemeClr val="tx2">
                    <a:satMod val="130000"/>
                  </a:schemeClr>
                </a:solidFill>
              </a:rPr>
              <a:t>) </a:t>
            </a:r>
            <a:r>
              <a:rPr lang="bg-BG" smtClean="0">
                <a:solidFill>
                  <a:schemeClr val="tx2">
                    <a:satMod val="130000"/>
                  </a:schemeClr>
                </a:solidFill>
              </a:rPr>
              <a:t>и своето вътрешно състояние (р</a:t>
            </a:r>
            <a:r>
              <a:rPr lang="en-US" baseline="-25000" smtClean="0">
                <a:solidFill>
                  <a:schemeClr val="tx2">
                    <a:satMod val="130000"/>
                  </a:schemeClr>
                </a:solidFill>
              </a:rPr>
              <a:t>j</a:t>
            </a:r>
            <a:r>
              <a:rPr lang="bg-BG" smtClean="0">
                <a:solidFill>
                  <a:schemeClr val="tx2">
                    <a:satMod val="130000"/>
                  </a:schemeClr>
                </a:solidFill>
              </a:rPr>
              <a:t>): </a:t>
            </a:r>
            <a:br>
              <a:rPr lang="bg-BG" smtClean="0">
                <a:solidFill>
                  <a:schemeClr val="tx2">
                    <a:satMod val="130000"/>
                  </a:schemeClr>
                </a:solidFill>
              </a:rPr>
            </a:br>
            <a:r>
              <a:rPr lang="bg-BG" smtClean="0">
                <a:solidFill>
                  <a:schemeClr val="tx2">
                    <a:satMod val="130000"/>
                  </a:schemeClr>
                </a:solidFill>
              </a:rPr>
              <a:t>- задейства главата, която пише</a:t>
            </a:r>
            <a:br>
              <a:rPr lang="bg-BG" smtClean="0">
                <a:solidFill>
                  <a:schemeClr val="tx2">
                    <a:satMod val="130000"/>
                  </a:schemeClr>
                </a:solidFill>
              </a:rPr>
            </a:br>
            <a:r>
              <a:rPr lang="bg-BG" smtClean="0">
                <a:solidFill>
                  <a:schemeClr val="tx2">
                    <a:satMod val="130000"/>
                  </a:schemeClr>
                </a:solidFill>
              </a:rPr>
              <a:t> в клетката под нея нов символ;</a:t>
            </a:r>
            <a:br>
              <a:rPr lang="bg-BG" smtClean="0">
                <a:solidFill>
                  <a:schemeClr val="tx2">
                    <a:satMod val="130000"/>
                  </a:schemeClr>
                </a:solidFill>
              </a:rPr>
            </a:br>
            <a:endParaRPr lang="en-US"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971550" y="476250"/>
            <a:ext cx="7924800" cy="5791200"/>
          </a:xfrm>
        </p:spPr>
        <p:txBody>
          <a:bodyPr>
            <a:normAutofit fontScale="90000"/>
          </a:bodyPr>
          <a:lstStyle/>
          <a:p>
            <a:pPr eaLnBrk="1" fontAlgn="auto" hangingPunct="1">
              <a:spcAft>
                <a:spcPts val="0"/>
              </a:spcAft>
              <a:defRPr/>
            </a:pPr>
            <a:r>
              <a:rPr lang="bg-BG" smtClean="0">
                <a:solidFill>
                  <a:schemeClr val="tx2">
                    <a:satMod val="130000"/>
                  </a:schemeClr>
                </a:solidFill>
              </a:rPr>
              <a:t>- предвижва лентата;</a:t>
            </a:r>
            <a:br>
              <a:rPr lang="bg-BG" smtClean="0">
                <a:solidFill>
                  <a:schemeClr val="tx2">
                    <a:satMod val="130000"/>
                  </a:schemeClr>
                </a:solidFill>
              </a:rPr>
            </a:br>
            <a:r>
              <a:rPr lang="bg-BG" smtClean="0">
                <a:solidFill>
                  <a:schemeClr val="tx2">
                    <a:satMod val="130000"/>
                  </a:schemeClr>
                </a:solidFill>
              </a:rPr>
              <a:t>- променя вътрешното си</a:t>
            </a:r>
            <a:br>
              <a:rPr lang="bg-BG" smtClean="0">
                <a:solidFill>
                  <a:schemeClr val="tx2">
                    <a:satMod val="130000"/>
                  </a:schemeClr>
                </a:solidFill>
              </a:rPr>
            </a:br>
            <a:r>
              <a:rPr lang="bg-BG" smtClean="0">
                <a:solidFill>
                  <a:schemeClr val="tx2">
                    <a:satMod val="130000"/>
                  </a:schemeClr>
                </a:solidFill>
              </a:rPr>
              <a:t>  състояние.</a:t>
            </a:r>
            <a:br>
              <a:rPr lang="bg-BG" smtClean="0">
                <a:solidFill>
                  <a:schemeClr val="tx2">
                    <a:satMod val="130000"/>
                  </a:schemeClr>
                </a:solidFill>
              </a:rPr>
            </a:br>
            <a:r>
              <a:rPr lang="bg-BG" smtClean="0">
                <a:solidFill>
                  <a:schemeClr val="tx2">
                    <a:satMod val="130000"/>
                  </a:schemeClr>
                </a:solidFill>
              </a:rPr>
              <a:t>3. Ако в резултат на т. 2:</a:t>
            </a:r>
            <a:br>
              <a:rPr lang="bg-BG" smtClean="0">
                <a:solidFill>
                  <a:schemeClr val="tx2">
                    <a:satMod val="130000"/>
                  </a:schemeClr>
                </a:solidFill>
              </a:rPr>
            </a:br>
            <a:r>
              <a:rPr lang="bg-BG" smtClean="0">
                <a:solidFill>
                  <a:schemeClr val="tx2">
                    <a:satMod val="130000"/>
                  </a:schemeClr>
                </a:solidFill>
              </a:rPr>
              <a:t>- символът под главата</a:t>
            </a:r>
            <a:br>
              <a:rPr lang="bg-BG" smtClean="0">
                <a:solidFill>
                  <a:schemeClr val="tx2">
                    <a:satMod val="130000"/>
                  </a:schemeClr>
                </a:solidFill>
              </a:rPr>
            </a:br>
            <a:r>
              <a:rPr lang="bg-BG" smtClean="0">
                <a:solidFill>
                  <a:schemeClr val="tx2">
                    <a:satMod val="130000"/>
                  </a:schemeClr>
                </a:solidFill>
              </a:rPr>
              <a:t>- положението на лентата</a:t>
            </a:r>
            <a:br>
              <a:rPr lang="bg-BG" smtClean="0">
                <a:solidFill>
                  <a:schemeClr val="tx2">
                    <a:satMod val="130000"/>
                  </a:schemeClr>
                </a:solidFill>
              </a:rPr>
            </a:br>
            <a:r>
              <a:rPr lang="bg-BG" smtClean="0">
                <a:solidFill>
                  <a:schemeClr val="tx2">
                    <a:satMod val="130000"/>
                  </a:schemeClr>
                </a:solidFill>
              </a:rPr>
              <a:t>- вътрешното състояние на ЛБ</a:t>
            </a:r>
            <a:br>
              <a:rPr lang="bg-BG" smtClean="0">
                <a:solidFill>
                  <a:schemeClr val="tx2">
                    <a:satMod val="130000"/>
                  </a:schemeClr>
                </a:solidFill>
              </a:rPr>
            </a:br>
            <a:r>
              <a:rPr lang="bg-BG" smtClean="0">
                <a:solidFill>
                  <a:schemeClr val="tx2">
                    <a:satMod val="130000"/>
                  </a:schemeClr>
                </a:solidFill>
              </a:rPr>
              <a:t>остават без изменение, МТ спира.</a:t>
            </a:r>
            <a:r>
              <a:rPr lang="en-US" smtClean="0">
                <a:solidFill>
                  <a:schemeClr val="tx2">
                    <a:satMod val="130000"/>
                  </a:schemeClr>
                </a:solidFill>
              </a:rPr>
              <a:t/>
            </a:r>
            <a:br>
              <a:rPr lang="en-US" smtClean="0">
                <a:solidFill>
                  <a:schemeClr val="tx2">
                    <a:satMod val="130000"/>
                  </a:schemeClr>
                </a:solidFill>
              </a:rPr>
            </a:br>
            <a:r>
              <a:rPr lang="bg-BG" smtClean="0">
                <a:solidFill>
                  <a:schemeClr val="tx2">
                    <a:satMod val="130000"/>
                  </a:schemeClr>
                </a:solidFill>
              </a:rPr>
              <a:t>В противен случай - т.1</a:t>
            </a:r>
            <a:endParaRPr lang="en-US"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1435100" y="274638"/>
            <a:ext cx="7499350" cy="1143000"/>
          </a:xfrm>
        </p:spPr>
        <p:txBody>
          <a:bodyPr/>
          <a:lstStyle/>
          <a:p>
            <a:pPr eaLnBrk="1" fontAlgn="auto" hangingPunct="1">
              <a:spcAft>
                <a:spcPts val="0"/>
              </a:spcAft>
              <a:defRPr/>
            </a:pPr>
            <a:r>
              <a:rPr lang="bg-BG" smtClean="0">
                <a:solidFill>
                  <a:schemeClr val="tx2">
                    <a:satMod val="130000"/>
                  </a:schemeClr>
                </a:solidFill>
              </a:rPr>
              <a:t>Функционална таблица на МТ</a:t>
            </a:r>
            <a:endParaRPr lang="en-US" smtClean="0">
              <a:solidFill>
                <a:schemeClr val="tx2">
                  <a:satMod val="130000"/>
                </a:schemeClr>
              </a:solidFill>
            </a:endParaRPr>
          </a:p>
        </p:txBody>
      </p:sp>
      <p:graphicFrame>
        <p:nvGraphicFramePr>
          <p:cNvPr id="2050" name="Object 1024"/>
          <p:cNvGraphicFramePr>
            <a:graphicFrameLocks noChangeAspect="1"/>
          </p:cNvGraphicFramePr>
          <p:nvPr/>
        </p:nvGraphicFramePr>
        <p:xfrm>
          <a:off x="1042988" y="2060575"/>
          <a:ext cx="7924800" cy="4267200"/>
        </p:xfrm>
        <a:graphic>
          <a:graphicData uri="http://schemas.openxmlformats.org/presentationml/2006/ole">
            <mc:AlternateContent xmlns:mc="http://schemas.openxmlformats.org/markup-compatibility/2006">
              <mc:Choice xmlns:v="urn:schemas-microsoft-com:vml" Requires="v">
                <p:oleObj spid="_x0000_s2053" name="Worksheet" r:id="rId3" imgW="4268160" imgH="1333440" progId="Excel.Sheet.8">
                  <p:embed/>
                </p:oleObj>
              </mc:Choice>
              <mc:Fallback>
                <p:oleObj name="Worksheet" r:id="rId3" imgW="4268160" imgH="1333440" progId="Excel.Sheet.8">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060575"/>
                        <a:ext cx="7924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fontAlgn="auto" hangingPunct="1">
              <a:spcAft>
                <a:spcPts val="0"/>
              </a:spcAft>
              <a:defRPr/>
            </a:pPr>
            <a:r>
              <a:rPr lang="en-US" smtClean="0">
                <a:solidFill>
                  <a:schemeClr val="tx2">
                    <a:satMod val="130000"/>
                  </a:schemeClr>
                </a:solidFill>
              </a:rPr>
              <a:t>С</a:t>
            </a:r>
            <a:r>
              <a:rPr lang="bg-BG" smtClean="0">
                <a:solidFill>
                  <a:schemeClr val="tx2">
                    <a:satMod val="130000"/>
                  </a:schemeClr>
                </a:solidFill>
              </a:rPr>
              <a:t>ЛОЖНОСТ  НА  АЛГОРИТМИ</a:t>
            </a:r>
            <a:endParaRPr lang="en-US" smtClean="0">
              <a:solidFill>
                <a:schemeClr val="tx2">
                  <a:satMod val="130000"/>
                </a:schemeClr>
              </a:solidFill>
            </a:endParaRPr>
          </a:p>
        </p:txBody>
      </p:sp>
      <p:sp>
        <p:nvSpPr>
          <p:cNvPr id="36867" name="Rectangle 3"/>
          <p:cNvSpPr>
            <a:spLocks noGrp="1" noChangeArrowheads="1"/>
          </p:cNvSpPr>
          <p:nvPr>
            <p:ph idx="1"/>
          </p:nvPr>
        </p:nvSpPr>
        <p:spPr>
          <a:xfrm>
            <a:off x="685800" y="2060575"/>
            <a:ext cx="7772400" cy="4035425"/>
          </a:xfrm>
        </p:spPr>
        <p:txBody>
          <a:bodyPr/>
          <a:lstStyle/>
          <a:p>
            <a:pPr eaLnBrk="1" hangingPunct="1"/>
            <a:r>
              <a:rPr lang="bg-BG" sz="4000" smtClean="0"/>
              <a:t>Сложност  по време </a:t>
            </a:r>
            <a:r>
              <a:rPr lang="en-US" sz="4000" smtClean="0"/>
              <a:t> - </a:t>
            </a:r>
            <a:r>
              <a:rPr lang="bg-BG" sz="4000" smtClean="0"/>
              <a:t>Т(</a:t>
            </a:r>
            <a:r>
              <a:rPr lang="en-US" sz="4000" smtClean="0"/>
              <a:t>n) </a:t>
            </a:r>
            <a:r>
              <a:rPr lang="bg-BG" sz="4000" smtClean="0"/>
              <a:t>(изчислителна сложност, </a:t>
            </a:r>
            <a:r>
              <a:rPr lang="en-US" sz="4000" smtClean="0"/>
              <a:t>time complexity, growth rate)</a:t>
            </a:r>
          </a:p>
          <a:p>
            <a:pPr eaLnBrk="1" hangingPunct="1"/>
            <a:r>
              <a:rPr lang="bg-BG" sz="4000" smtClean="0"/>
              <a:t>Сложност по памет </a:t>
            </a:r>
            <a:r>
              <a:rPr lang="en-US" sz="4000" smtClean="0"/>
              <a:t>- M(n)</a:t>
            </a:r>
          </a:p>
          <a:p>
            <a:pPr eaLnBrk="1" hangingPunct="1">
              <a:buFont typeface="Wingdings 2" pitchFamily="18" charset="2"/>
              <a:buNone/>
            </a:pPr>
            <a:r>
              <a:rPr lang="en-US" sz="4000" smtClean="0"/>
              <a:t> </a:t>
            </a:r>
            <a:r>
              <a:rPr lang="bg-BG" sz="4000" smtClean="0"/>
              <a:t> 		</a:t>
            </a:r>
            <a:endParaRPr lang="en-US" sz="4000" smtClean="0"/>
          </a:p>
          <a:p>
            <a:pPr eaLnBrk="1" hangingPunct="1">
              <a:buFont typeface="Wingdings 2" pitchFamily="18" charset="2"/>
              <a:buNone/>
            </a:pPr>
            <a:r>
              <a:rPr lang="en-US" sz="4000" smtClean="0"/>
              <a:t>      n</a:t>
            </a:r>
            <a:r>
              <a:rPr lang="bg-BG" sz="4000" smtClean="0"/>
              <a:t> - размерност на задачата</a:t>
            </a:r>
            <a:endParaRPr lang="en-US" sz="40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ctrTitle"/>
          </p:nvPr>
        </p:nvSpPr>
        <p:spPr>
          <a:xfrm>
            <a:off x="2916238" y="692150"/>
            <a:ext cx="4246562" cy="2514600"/>
          </a:xfrm>
        </p:spPr>
        <p:txBody>
          <a:bodyPr/>
          <a:lstStyle/>
          <a:p>
            <a:pPr eaLnBrk="1" fontAlgn="auto" hangingPunct="1">
              <a:spcAft>
                <a:spcPts val="0"/>
              </a:spcAft>
              <a:defRPr/>
            </a:pPr>
            <a:r>
              <a:rPr lang="en-US" smtClean="0">
                <a:solidFill>
                  <a:schemeClr val="tx2">
                    <a:satMod val="130000"/>
                  </a:schemeClr>
                </a:solidFill>
              </a:rPr>
              <a:t>Тmin(n)</a:t>
            </a:r>
            <a:br>
              <a:rPr lang="en-US" smtClean="0">
                <a:solidFill>
                  <a:schemeClr val="tx2">
                    <a:satMod val="130000"/>
                  </a:schemeClr>
                </a:solidFill>
              </a:rPr>
            </a:br>
            <a:r>
              <a:rPr lang="en-US" smtClean="0">
                <a:solidFill>
                  <a:schemeClr val="tx2">
                    <a:satMod val="130000"/>
                  </a:schemeClr>
                </a:solidFill>
              </a:rPr>
              <a:t>Tmax(n)</a:t>
            </a:r>
            <a:br>
              <a:rPr lang="en-US" smtClean="0">
                <a:solidFill>
                  <a:schemeClr val="tx2">
                    <a:satMod val="130000"/>
                  </a:schemeClr>
                </a:solidFill>
              </a:rPr>
            </a:br>
            <a:r>
              <a:rPr lang="en-US" smtClean="0">
                <a:solidFill>
                  <a:schemeClr val="tx2">
                    <a:satMod val="130000"/>
                  </a:schemeClr>
                </a:solidFill>
              </a:rPr>
              <a:t>T</a:t>
            </a:r>
            <a:r>
              <a:rPr lang="bg-BG" smtClean="0">
                <a:solidFill>
                  <a:schemeClr val="tx2">
                    <a:satMod val="130000"/>
                  </a:schemeClr>
                </a:solidFill>
              </a:rPr>
              <a:t>(</a:t>
            </a:r>
            <a:r>
              <a:rPr lang="en-US" smtClean="0">
                <a:solidFill>
                  <a:schemeClr val="tx2">
                    <a:satMod val="130000"/>
                  </a:schemeClr>
                </a:solidFill>
              </a:rPr>
              <a:t>n</a:t>
            </a:r>
            <a:r>
              <a:rPr lang="bg-BG" smtClean="0">
                <a:solidFill>
                  <a:schemeClr val="tx2">
                    <a:satMod val="130000"/>
                  </a:schemeClr>
                </a:solidFill>
              </a:rPr>
              <a:t>)-</a:t>
            </a:r>
            <a:r>
              <a:rPr lang="en-US" smtClean="0">
                <a:solidFill>
                  <a:schemeClr val="tx2">
                    <a:satMod val="130000"/>
                  </a:schemeClr>
                </a:solidFill>
              </a:rPr>
              <a:t>&gt;T</a:t>
            </a:r>
            <a:r>
              <a:rPr lang="bg-BG" smtClean="0">
                <a:solidFill>
                  <a:schemeClr val="tx2">
                    <a:satMod val="130000"/>
                  </a:schemeClr>
                </a:solidFill>
              </a:rPr>
              <a:t>ср</a:t>
            </a:r>
            <a:r>
              <a:rPr lang="en-US" smtClean="0">
                <a:solidFill>
                  <a:schemeClr val="tx2">
                    <a:satMod val="130000"/>
                  </a:schemeClr>
                </a:solidFill>
              </a:rPr>
              <a:t>(n)</a:t>
            </a:r>
          </a:p>
        </p:txBody>
      </p:sp>
      <p:graphicFrame>
        <p:nvGraphicFramePr>
          <p:cNvPr id="3074" name="Object 2048"/>
          <p:cNvGraphicFramePr>
            <a:graphicFrameLocks noChangeAspect="1"/>
          </p:cNvGraphicFramePr>
          <p:nvPr/>
        </p:nvGraphicFramePr>
        <p:xfrm>
          <a:off x="1042988" y="3500438"/>
          <a:ext cx="3429000" cy="2514600"/>
        </p:xfrm>
        <a:graphic>
          <a:graphicData uri="http://schemas.openxmlformats.org/presentationml/2006/ole">
            <mc:AlternateContent xmlns:mc="http://schemas.openxmlformats.org/markup-compatibility/2006">
              <mc:Choice xmlns:v="urn:schemas-microsoft-com:vml" Requires="v">
                <p:oleObj spid="_x0000_s3080" name="Equation" r:id="rId3" imgW="1028520" imgH="761760" progId="">
                  <p:embed/>
                </p:oleObj>
              </mc:Choice>
              <mc:Fallback>
                <p:oleObj name="Equation" r:id="rId3" imgW="1028520" imgH="761760" progId="">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500438"/>
                        <a:ext cx="3429000"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2049"/>
          <p:cNvGraphicFramePr>
            <a:graphicFrameLocks noChangeAspect="1"/>
          </p:cNvGraphicFramePr>
          <p:nvPr/>
        </p:nvGraphicFramePr>
        <p:xfrm>
          <a:off x="4586288" y="4221163"/>
          <a:ext cx="4557712" cy="1519237"/>
        </p:xfrm>
        <a:graphic>
          <a:graphicData uri="http://schemas.openxmlformats.org/presentationml/2006/ole">
            <mc:AlternateContent xmlns:mc="http://schemas.openxmlformats.org/markup-compatibility/2006">
              <mc:Choice xmlns:v="urn:schemas-microsoft-com:vml" Requires="v">
                <p:oleObj spid="_x0000_s3081" name="Equation" r:id="rId5" imgW="1244520" imgH="457200" progId="">
                  <p:embed/>
                </p:oleObj>
              </mc:Choice>
              <mc:Fallback>
                <p:oleObj name="Equation" r:id="rId5" imgW="1244520" imgH="457200" progId="">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6288" y="4221163"/>
                        <a:ext cx="4557712" cy="151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09600" y="2667000"/>
            <a:ext cx="7772400" cy="3657600"/>
          </a:xfrm>
        </p:spPr>
        <p:txBody>
          <a:bodyPr/>
          <a:lstStyle/>
          <a:p>
            <a:pPr eaLnBrk="1" fontAlgn="auto" hangingPunct="1">
              <a:spcAft>
                <a:spcPts val="0"/>
              </a:spcAft>
              <a:defRPr/>
            </a:pP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 полиномиални  алгоритми</a:t>
            </a:r>
            <a:r>
              <a:rPr lang="en-US" smtClean="0">
                <a:solidFill>
                  <a:schemeClr val="tx2">
                    <a:satMod val="130000"/>
                  </a:schemeClr>
                </a:solidFill>
              </a:rPr>
              <a:t>	</a:t>
            </a:r>
            <a:r>
              <a:rPr lang="bg-BG" smtClean="0">
                <a:solidFill>
                  <a:schemeClr val="tx2">
                    <a:satMod val="130000"/>
                  </a:schemeClr>
                </a:solidFill>
              </a:rPr>
              <a:t/>
            </a:r>
            <a:br>
              <a:rPr lang="bg-BG" smtClean="0">
                <a:solidFill>
                  <a:schemeClr val="tx2">
                    <a:satMod val="130000"/>
                  </a:schemeClr>
                </a:solidFill>
              </a:rPr>
            </a:br>
            <a:r>
              <a:rPr lang="bg-BG" smtClean="0">
                <a:solidFill>
                  <a:schemeClr val="tx2">
                    <a:satMod val="130000"/>
                  </a:schemeClr>
                </a:solidFill>
              </a:rPr>
              <a:t>- експоненциални</a:t>
            </a:r>
            <a:r>
              <a:rPr lang="en-US" smtClean="0">
                <a:solidFill>
                  <a:schemeClr val="tx2">
                    <a:satMod val="130000"/>
                  </a:schemeClr>
                </a:solidFill>
              </a:rPr>
              <a:t>	</a:t>
            </a:r>
            <a:r>
              <a:rPr lang="bg-BG" smtClean="0">
                <a:solidFill>
                  <a:schemeClr val="tx2">
                    <a:satMod val="130000"/>
                  </a:schemeClr>
                </a:solidFill>
              </a:rPr>
              <a:t>алгоритми</a:t>
            </a:r>
            <a:r>
              <a:rPr lang="en-US" smtClean="0">
                <a:solidFill>
                  <a:schemeClr val="tx2">
                    <a:satMod val="130000"/>
                  </a:schemeClr>
                </a:solidFill>
              </a:rPr>
              <a:t>	</a:t>
            </a:r>
          </a:p>
        </p:txBody>
      </p:sp>
      <p:graphicFrame>
        <p:nvGraphicFramePr>
          <p:cNvPr id="4098" name="Object 3072"/>
          <p:cNvGraphicFramePr>
            <a:graphicFrameLocks noChangeAspect="1"/>
          </p:cNvGraphicFramePr>
          <p:nvPr/>
        </p:nvGraphicFramePr>
        <p:xfrm>
          <a:off x="1981200" y="1090613"/>
          <a:ext cx="5334000" cy="2562225"/>
        </p:xfrm>
        <a:graphic>
          <a:graphicData uri="http://schemas.openxmlformats.org/presentationml/2006/ole">
            <mc:AlternateContent xmlns:mc="http://schemas.openxmlformats.org/markup-compatibility/2006">
              <mc:Choice xmlns:v="urn:schemas-microsoft-com:vml" Requires="v">
                <p:oleObj spid="_x0000_s4104" name="Equation" r:id="rId3" imgW="1066680" imgH="634680" progId="">
                  <p:embed/>
                </p:oleObj>
              </mc:Choice>
              <mc:Fallback>
                <p:oleObj name="Equation" r:id="rId3" imgW="1066680" imgH="634680" progId="">
                  <p:embed/>
                  <p:pic>
                    <p:nvPicPr>
                      <p:cNvPr id="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090613"/>
                        <a:ext cx="5334000" cy="2562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3073"/>
          <p:cNvGraphicFramePr>
            <a:graphicFrameLocks noChangeAspect="1"/>
          </p:cNvGraphicFramePr>
          <p:nvPr/>
        </p:nvGraphicFramePr>
        <p:xfrm>
          <a:off x="3048000" y="381000"/>
          <a:ext cx="2895600" cy="919163"/>
        </p:xfrm>
        <a:graphic>
          <a:graphicData uri="http://schemas.openxmlformats.org/presentationml/2006/ole">
            <mc:AlternateContent xmlns:mc="http://schemas.openxmlformats.org/markup-compatibility/2006">
              <mc:Choice xmlns:v="urn:schemas-microsoft-com:vml" Requires="v">
                <p:oleObj spid="_x0000_s4105" name="Equation" r:id="rId5" imgW="545760" imgH="203040" progId="">
                  <p:embed/>
                </p:oleObj>
              </mc:Choice>
              <mc:Fallback>
                <p:oleObj name="Equation" r:id="rId5" imgW="545760" imgH="203040" progId="">
                  <p:embed/>
                  <p:pic>
                    <p:nvPicPr>
                      <p:cNvPr id="0"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381000"/>
                        <a:ext cx="2895600" cy="919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051"/>
          <p:cNvSpPr>
            <a:spLocks noGrp="1" noChangeArrowheads="1"/>
          </p:cNvSpPr>
          <p:nvPr>
            <p:ph type="title"/>
          </p:nvPr>
        </p:nvSpPr>
        <p:spPr>
          <a:xfrm>
            <a:off x="1136650" y="620713"/>
            <a:ext cx="8007350" cy="5791200"/>
          </a:xfrm>
        </p:spPr>
        <p:txBody>
          <a:bodyPr>
            <a:normAutofit fontScale="90000"/>
          </a:bodyPr>
          <a:lstStyle/>
          <a:p>
            <a:pPr eaLnBrk="1" fontAlgn="auto" hangingPunct="1">
              <a:spcAft>
                <a:spcPts val="0"/>
              </a:spcAft>
              <a:defRPr/>
            </a:pPr>
            <a:r>
              <a:rPr lang="bg-BG" sz="3600" b="1" u="sng" smtClean="0">
                <a:solidFill>
                  <a:schemeClr val="tx2">
                    <a:satMod val="130000"/>
                  </a:schemeClr>
                </a:solidFill>
              </a:rPr>
              <a:t>Сложност по памет</a:t>
            </a:r>
            <a:r>
              <a:rPr lang="bg-BG" sz="3600" smtClean="0">
                <a:solidFill>
                  <a:schemeClr val="tx2">
                    <a:satMod val="130000"/>
                  </a:schemeClr>
                </a:solidFill>
              </a:rPr>
              <a:t> </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(функция от големина на входните данни)</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  </a:t>
            </a:r>
            <a:r>
              <a:rPr lang="bg-BG" sz="3600" smtClean="0">
                <a:solidFill>
                  <a:schemeClr val="tx2">
                    <a:satMod val="130000"/>
                  </a:schemeClr>
                </a:solidFill>
              </a:rPr>
              <a:t>Задачи</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en-US" sz="3600" smtClean="0">
                <a:solidFill>
                  <a:schemeClr val="tx2">
                    <a:satMod val="130000"/>
                  </a:schemeClr>
                </a:solidFill>
              </a:rPr>
              <a:t>        P-space			Exp-space</a:t>
            </a:r>
            <a:br>
              <a:rPr lang="en-US" sz="3600" smtClean="0">
                <a:solidFill>
                  <a:schemeClr val="tx2">
                    <a:satMod val="130000"/>
                  </a:schemeClr>
                </a:solidFill>
              </a:rPr>
            </a:br>
            <a:r>
              <a:rPr lang="en-US" sz="3600" smtClean="0">
                <a:solidFill>
                  <a:schemeClr val="tx2">
                    <a:satMod val="130000"/>
                  </a:schemeClr>
                </a:solidFill>
              </a:rPr>
              <a:t/>
            </a:r>
            <a:br>
              <a:rPr lang="en-US" sz="3600" smtClean="0">
                <a:solidFill>
                  <a:schemeClr val="tx2">
                    <a:satMod val="130000"/>
                  </a:schemeClr>
                </a:solidFill>
              </a:rPr>
            </a:br>
            <a:r>
              <a:rPr lang="en-US" sz="2800" smtClean="0">
                <a:solidFill>
                  <a:schemeClr val="tx2">
                    <a:satMod val="130000"/>
                  </a:schemeClr>
                </a:solidFill>
              </a:rPr>
              <a:t>(</a:t>
            </a:r>
            <a:r>
              <a:rPr lang="bg-BG" sz="2800" smtClean="0">
                <a:solidFill>
                  <a:schemeClr val="tx2">
                    <a:satMod val="130000"/>
                  </a:schemeClr>
                </a:solidFill>
              </a:rPr>
              <a:t>задачи, за които е 	      (изискват експоненциална</a:t>
            </a:r>
            <a:br>
              <a:rPr lang="bg-BG" sz="2800" smtClean="0">
                <a:solidFill>
                  <a:schemeClr val="tx2">
                    <a:satMod val="130000"/>
                  </a:schemeClr>
                </a:solidFill>
              </a:rPr>
            </a:br>
            <a:r>
              <a:rPr lang="bg-BG" sz="2800" smtClean="0">
                <a:solidFill>
                  <a:schemeClr val="tx2">
                    <a:satMod val="130000"/>
                  </a:schemeClr>
                </a:solidFill>
              </a:rPr>
              <a:t>необходима</a:t>
            </a:r>
            <a:r>
              <a:rPr lang="en-US" sz="2800" smtClean="0">
                <a:solidFill>
                  <a:schemeClr val="tx2">
                    <a:satMod val="130000"/>
                  </a:schemeClr>
                </a:solidFill>
              </a:rPr>
              <a:t>	</a:t>
            </a:r>
            <a:r>
              <a:rPr lang="bg-BG" sz="2800" smtClean="0">
                <a:solidFill>
                  <a:schemeClr val="tx2">
                    <a:satMod val="130000"/>
                  </a:schemeClr>
                </a:solidFill>
              </a:rPr>
              <a:t>                             памет) </a:t>
            </a:r>
            <a:br>
              <a:rPr lang="bg-BG" sz="2800" smtClean="0">
                <a:solidFill>
                  <a:schemeClr val="tx2">
                    <a:satMod val="130000"/>
                  </a:schemeClr>
                </a:solidFill>
              </a:rPr>
            </a:br>
            <a:r>
              <a:rPr lang="bg-BG" sz="2800" smtClean="0">
                <a:solidFill>
                  <a:schemeClr val="tx2">
                    <a:satMod val="130000"/>
                  </a:schemeClr>
                </a:solidFill>
              </a:rPr>
              <a:t>полиномиална памет)</a:t>
            </a:r>
            <a:r>
              <a:rPr lang="en-US" sz="2800" smtClean="0">
                <a:solidFill>
                  <a:schemeClr val="tx2">
                    <a:satMod val="130000"/>
                  </a:schemeClr>
                </a:solidFill>
              </a:rPr>
              <a:t>			</a:t>
            </a:r>
            <a:endParaRPr lang="en-US" sz="3600" smtClean="0">
              <a:solidFill>
                <a:schemeClr val="tx2">
                  <a:satMod val="130000"/>
                </a:schemeClr>
              </a:solidFill>
            </a:endParaRPr>
          </a:p>
        </p:txBody>
      </p:sp>
      <p:sp>
        <p:nvSpPr>
          <p:cNvPr id="37891" name="Line 2052"/>
          <p:cNvSpPr>
            <a:spLocks noChangeShapeType="1"/>
          </p:cNvSpPr>
          <p:nvPr/>
        </p:nvSpPr>
        <p:spPr bwMode="auto">
          <a:xfrm flipH="1">
            <a:off x="2916238" y="3573463"/>
            <a:ext cx="969962" cy="342900"/>
          </a:xfrm>
          <a:prstGeom prst="line">
            <a:avLst/>
          </a:prstGeom>
          <a:noFill/>
          <a:ln w="9525">
            <a:solidFill>
              <a:schemeClr val="tx1"/>
            </a:solidFill>
            <a:round/>
            <a:headEnd/>
            <a:tailEnd type="triangle" w="med" len="med"/>
          </a:ln>
        </p:spPr>
        <p:txBody>
          <a:bodyPr wrap="none" anchor="ctr"/>
          <a:lstStyle/>
          <a:p>
            <a:endParaRPr lang="bg-BG"/>
          </a:p>
        </p:txBody>
      </p:sp>
      <p:sp>
        <p:nvSpPr>
          <p:cNvPr id="37892" name="Line 2053"/>
          <p:cNvSpPr>
            <a:spLocks noChangeShapeType="1"/>
          </p:cNvSpPr>
          <p:nvPr/>
        </p:nvSpPr>
        <p:spPr bwMode="auto">
          <a:xfrm>
            <a:off x="4572000" y="3573463"/>
            <a:ext cx="1008063" cy="431800"/>
          </a:xfrm>
          <a:prstGeom prst="line">
            <a:avLst/>
          </a:prstGeom>
          <a:noFill/>
          <a:ln w="9525">
            <a:solidFill>
              <a:schemeClr val="tx1"/>
            </a:solidFill>
            <a:round/>
            <a:headEnd/>
            <a:tailEnd type="triangle" w="med" len="med"/>
          </a:ln>
        </p:spPr>
        <p:txBody>
          <a:bodyPr wrap="none" anchor="ctr"/>
          <a:lstStyle/>
          <a:p>
            <a:endParaRPr lang="bg-BG"/>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title"/>
          </p:nvPr>
        </p:nvSpPr>
        <p:spPr>
          <a:xfrm>
            <a:off x="381000" y="609600"/>
            <a:ext cx="8458200" cy="5715000"/>
          </a:xfrm>
        </p:spPr>
        <p:txBody>
          <a:bodyPr/>
          <a:lstStyle/>
          <a:p>
            <a:pPr eaLnBrk="1" fontAlgn="auto" hangingPunct="1">
              <a:lnSpc>
                <a:spcPct val="120000"/>
              </a:lnSpc>
              <a:spcAft>
                <a:spcPts val="0"/>
              </a:spcAft>
              <a:defRPr/>
            </a:pPr>
            <a:r>
              <a:rPr lang="en-US" sz="3600" b="1" u="sng" smtClean="0">
                <a:solidFill>
                  <a:schemeClr val="tx2">
                    <a:satMod val="130000"/>
                  </a:schemeClr>
                </a:solidFill>
              </a:rPr>
              <a:t>NP-</a:t>
            </a:r>
            <a:r>
              <a:rPr lang="bg-BG" sz="3600" b="1" u="sng" smtClean="0">
                <a:solidFill>
                  <a:schemeClr val="tx2">
                    <a:satMod val="130000"/>
                  </a:schemeClr>
                </a:solidFill>
              </a:rPr>
              <a:t>задачи</a:t>
            </a:r>
            <a:r>
              <a:rPr lang="bg-BG" sz="3600" smtClean="0">
                <a:solidFill>
                  <a:schemeClr val="tx2">
                    <a:satMod val="130000"/>
                  </a:schemeClr>
                </a:solidFill>
              </a:rPr>
              <a:t> </a:t>
            </a:r>
            <a:br>
              <a:rPr lang="bg-BG" sz="3600" smtClean="0">
                <a:solidFill>
                  <a:schemeClr val="tx2">
                    <a:satMod val="130000"/>
                  </a:schemeClr>
                </a:solidFill>
              </a:rPr>
            </a:br>
            <a:r>
              <a:rPr lang="bg-BG" sz="3600" b="1" smtClean="0">
                <a:solidFill>
                  <a:schemeClr val="tx2">
                    <a:satMod val="130000"/>
                  </a:schemeClr>
                </a:solidFill>
              </a:rPr>
              <a:t>(</a:t>
            </a:r>
            <a:r>
              <a:rPr lang="en-US" sz="3600" b="1" smtClean="0">
                <a:solidFill>
                  <a:schemeClr val="tx2">
                    <a:satMod val="130000"/>
                  </a:schemeClr>
                </a:solidFill>
              </a:rPr>
              <a:t>non-deterministic polynomial time </a:t>
            </a:r>
            <a:r>
              <a:rPr lang="bg-BG" sz="3600" b="1" smtClean="0">
                <a:solidFill>
                  <a:schemeClr val="tx2">
                    <a:satMod val="130000"/>
                  </a:schemeClr>
                </a:solidFill>
              </a:rPr>
              <a:t>или полиномиално-проверими задачи</a:t>
            </a:r>
            <a:r>
              <a:rPr lang="en-US" sz="3600" b="1" smtClean="0">
                <a:solidFill>
                  <a:schemeClr val="tx2">
                    <a:satMod val="130000"/>
                  </a:schemeClr>
                </a:solidFill>
              </a:rPr>
              <a:t>)</a:t>
            </a:r>
            <a:r>
              <a:rPr lang="en-US" sz="3600" smtClean="0">
                <a:solidFill>
                  <a:schemeClr val="tx2">
                    <a:satMod val="130000"/>
                  </a:schemeClr>
                </a:solidFill>
              </a:rPr>
              <a:t/>
            </a:r>
            <a:br>
              <a:rPr lang="en-US" sz="3600" smtClean="0">
                <a:solidFill>
                  <a:schemeClr val="tx2">
                    <a:satMod val="130000"/>
                  </a:schemeClr>
                </a:solidFill>
              </a:rPr>
            </a:br>
            <a:r>
              <a:rPr lang="bg-BG" sz="2800" smtClean="0">
                <a:solidFill>
                  <a:schemeClr val="tx2">
                    <a:satMod val="130000"/>
                  </a:schemeClr>
                </a:solidFill>
              </a:rPr>
              <a:t/>
            </a:r>
            <a:br>
              <a:rPr lang="bg-BG" sz="2800" smtClean="0">
                <a:solidFill>
                  <a:schemeClr val="tx2">
                    <a:satMod val="130000"/>
                  </a:schemeClr>
                </a:solidFill>
              </a:rPr>
            </a:br>
            <a:r>
              <a:rPr lang="bg-BG" sz="2800" smtClean="0">
                <a:solidFill>
                  <a:schemeClr val="tx2">
                    <a:satMod val="130000"/>
                  </a:schemeClr>
                </a:solidFill>
              </a:rPr>
              <a:t>Една задача принадлежи на класа </a:t>
            </a:r>
            <a:r>
              <a:rPr lang="en-US" sz="2800" b="1" smtClean="0">
                <a:solidFill>
                  <a:schemeClr val="tx2">
                    <a:satMod val="130000"/>
                  </a:schemeClr>
                </a:solidFill>
              </a:rPr>
              <a:t>NP</a:t>
            </a:r>
            <a:r>
              <a:rPr lang="bg-BG" sz="2800" smtClean="0">
                <a:solidFill>
                  <a:schemeClr val="tx2">
                    <a:satMod val="130000"/>
                  </a:schemeClr>
                </a:solidFill>
              </a:rPr>
              <a:t> , ако е възможно с полиномиална сложност да се провери, дали даден кандидат действително е решение, без да се интересуваме, колко време ще отнеме намирането на такъв кандидат.</a:t>
            </a:r>
            <a:br>
              <a:rPr lang="bg-BG" sz="2800" smtClean="0">
                <a:solidFill>
                  <a:schemeClr val="tx2">
                    <a:satMod val="130000"/>
                  </a:schemeClr>
                </a:solidFill>
              </a:rPr>
            </a:br>
            <a:endParaRPr lang="en-US" sz="28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7"/>
          <p:cNvSpPr>
            <a:spLocks noGrp="1" noChangeArrowheads="1"/>
          </p:cNvSpPr>
          <p:nvPr>
            <p:ph type="title"/>
          </p:nvPr>
        </p:nvSpPr>
        <p:spPr>
          <a:xfrm>
            <a:off x="685800" y="609600"/>
            <a:ext cx="8077200" cy="5791200"/>
          </a:xfrm>
        </p:spPr>
        <p:txBody>
          <a:bodyPr/>
          <a:lstStyle/>
          <a:p>
            <a:pPr eaLnBrk="1" fontAlgn="auto" hangingPunct="1">
              <a:spcAft>
                <a:spcPts val="0"/>
              </a:spcAft>
              <a:defRPr/>
            </a:pPr>
            <a:r>
              <a:rPr lang="en-US" sz="2400" smtClean="0">
                <a:solidFill>
                  <a:schemeClr val="tx2">
                    <a:satMod val="130000"/>
                  </a:schemeClr>
                </a:solidFill>
              </a:rPr>
              <a:t>	</a:t>
            </a:r>
            <a:r>
              <a:rPr lang="bg-BG" sz="3200" smtClean="0">
                <a:solidFill>
                  <a:schemeClr val="tx2">
                    <a:satMod val="130000"/>
                  </a:schemeClr>
                </a:solidFill>
              </a:rPr>
              <a:t>Например:</a:t>
            </a:r>
            <a:r>
              <a:rPr lang="bg-BG" sz="2400" smtClean="0">
                <a:solidFill>
                  <a:schemeClr val="tx2">
                    <a:satMod val="130000"/>
                  </a:schemeClr>
                </a:solidFill>
              </a:rPr>
              <a:t> дадено е естествено число </a:t>
            </a:r>
            <a:r>
              <a:rPr lang="en-US" sz="2400" b="1" smtClean="0">
                <a:solidFill>
                  <a:schemeClr val="tx2">
                    <a:satMod val="130000"/>
                  </a:schemeClr>
                </a:solidFill>
              </a:rPr>
              <a:t>n</a:t>
            </a:r>
            <a:r>
              <a:rPr lang="bg-BG" sz="2400" b="1" smtClean="0">
                <a:solidFill>
                  <a:schemeClr val="tx2">
                    <a:satMod val="130000"/>
                  </a:schemeClr>
                </a:solidFill>
              </a:rPr>
              <a:t>. </a:t>
            </a:r>
            <a:r>
              <a:rPr lang="bg-BG" sz="2400" smtClean="0">
                <a:solidFill>
                  <a:schemeClr val="tx2">
                    <a:satMod val="130000"/>
                  </a:schemeClr>
                </a:solidFill>
              </a:rPr>
              <a:t>Да се провери дали съществува делител на </a:t>
            </a:r>
            <a:r>
              <a:rPr lang="en-US" sz="2400" b="1" smtClean="0">
                <a:solidFill>
                  <a:schemeClr val="tx2">
                    <a:satMod val="130000"/>
                  </a:schemeClr>
                </a:solidFill>
              </a:rPr>
              <a:t>n</a:t>
            </a:r>
            <a:r>
              <a:rPr lang="bg-BG" sz="2400" smtClean="0">
                <a:solidFill>
                  <a:schemeClr val="tx2">
                    <a:satMod val="130000"/>
                  </a:schemeClr>
                </a:solidFill>
              </a:rPr>
              <a:t>,</a:t>
            </a:r>
            <a:r>
              <a:rPr lang="bg-BG" sz="2400" b="1" smtClean="0">
                <a:solidFill>
                  <a:schemeClr val="tx2">
                    <a:satMod val="130000"/>
                  </a:schemeClr>
                </a:solidFill>
              </a:rPr>
              <a:t> </a:t>
            </a:r>
            <a:r>
              <a:rPr lang="bg-BG" sz="2400" smtClean="0">
                <a:solidFill>
                  <a:schemeClr val="tx2">
                    <a:satMod val="130000"/>
                  </a:schemeClr>
                </a:solidFill>
              </a:rPr>
              <a:t>по-малък от дадено</a:t>
            </a:r>
            <a:r>
              <a:rPr lang="bg-BG" sz="2400" b="1" smtClean="0">
                <a:solidFill>
                  <a:schemeClr val="tx2">
                    <a:satMod val="130000"/>
                  </a:schemeClr>
                </a:solidFill>
              </a:rPr>
              <a:t> </a:t>
            </a:r>
            <a:r>
              <a:rPr lang="bg-BG" sz="2400" smtClean="0">
                <a:solidFill>
                  <a:schemeClr val="tx2">
                    <a:satMod val="130000"/>
                  </a:schemeClr>
                </a:solidFill>
              </a:rPr>
              <a:t>естествено число</a:t>
            </a:r>
            <a:r>
              <a:rPr lang="bg-BG" sz="2400" b="1" smtClean="0">
                <a:solidFill>
                  <a:schemeClr val="tx2">
                    <a:satMod val="130000"/>
                  </a:schemeClr>
                </a:solidFill>
              </a:rPr>
              <a:t> </a:t>
            </a:r>
            <a:r>
              <a:rPr lang="en-US" sz="2400" b="1" smtClean="0">
                <a:solidFill>
                  <a:schemeClr val="tx2">
                    <a:satMod val="130000"/>
                  </a:schemeClr>
                </a:solidFill>
              </a:rPr>
              <a:t>q:</a:t>
            </a:r>
            <a:br>
              <a:rPr lang="en-US" sz="2400" b="1" smtClean="0">
                <a:solidFill>
                  <a:schemeClr val="tx2">
                    <a:satMod val="130000"/>
                  </a:schemeClr>
                </a:solidFill>
              </a:rPr>
            </a:br>
            <a:r>
              <a:rPr lang="en-US" sz="2400" b="1" smtClean="0">
                <a:solidFill>
                  <a:schemeClr val="tx2">
                    <a:satMod val="130000"/>
                  </a:schemeClr>
                </a:solidFill>
              </a:rPr>
              <a:t/>
            </a:r>
            <a:br>
              <a:rPr lang="en-US" sz="2400" b="1" smtClean="0">
                <a:solidFill>
                  <a:schemeClr val="tx2">
                    <a:satMod val="130000"/>
                  </a:schemeClr>
                </a:solidFill>
              </a:rPr>
            </a:br>
            <a:r>
              <a:rPr lang="en-US" sz="2400" b="1" smtClean="0">
                <a:solidFill>
                  <a:schemeClr val="tx2">
                    <a:satMod val="130000"/>
                  </a:schemeClr>
                </a:solidFill>
              </a:rPr>
              <a:t>				q&gt;1, q&lt;n</a:t>
            </a:r>
            <a:br>
              <a:rPr lang="en-US" sz="2400" b="1" smtClean="0">
                <a:solidFill>
                  <a:schemeClr val="tx2">
                    <a:satMod val="130000"/>
                  </a:schemeClr>
                </a:solidFill>
              </a:rPr>
            </a:br>
            <a:r>
              <a:rPr lang="en-US" sz="2400" b="1" smtClean="0">
                <a:solidFill>
                  <a:schemeClr val="tx2">
                    <a:satMod val="130000"/>
                  </a:schemeClr>
                </a:solidFill>
              </a:rPr>
              <a:t>	</a:t>
            </a:r>
            <a:br>
              <a:rPr lang="en-US" sz="2400" b="1" smtClean="0">
                <a:solidFill>
                  <a:schemeClr val="tx2">
                    <a:satMod val="130000"/>
                  </a:schemeClr>
                </a:solidFill>
              </a:rPr>
            </a:br>
            <a:r>
              <a:rPr lang="en-US" sz="2400" b="1" smtClean="0">
                <a:solidFill>
                  <a:schemeClr val="tx2">
                    <a:satMod val="130000"/>
                  </a:schemeClr>
                </a:solidFill>
              </a:rPr>
              <a:t>	</a:t>
            </a:r>
            <a:r>
              <a:rPr lang="bg-BG" sz="2400" smtClean="0">
                <a:solidFill>
                  <a:schemeClr val="tx2">
                    <a:satMod val="130000"/>
                  </a:schemeClr>
                </a:solidFill>
              </a:rPr>
              <a:t>Ако разполагаме с кандидат за решение </a:t>
            </a:r>
            <a:r>
              <a:rPr lang="en-US" sz="2400" b="1" smtClean="0">
                <a:solidFill>
                  <a:schemeClr val="tx2">
                    <a:satMod val="130000"/>
                  </a:schemeClr>
                </a:solidFill>
              </a:rPr>
              <a:t>q’</a:t>
            </a:r>
            <a:r>
              <a:rPr lang="bg-BG" sz="2400" smtClean="0">
                <a:solidFill>
                  <a:schemeClr val="tx2">
                    <a:satMod val="130000"/>
                  </a:schemeClr>
                </a:solidFill>
              </a:rPr>
              <a:t>, лесно можем да проверим дали съществува </a:t>
            </a:r>
            <a:r>
              <a:rPr lang="bg-BG" sz="2400" b="1" smtClean="0">
                <a:solidFill>
                  <a:schemeClr val="tx2">
                    <a:satMod val="130000"/>
                  </a:schemeClr>
                </a:solidFill>
              </a:rPr>
              <a:t>р’</a:t>
            </a:r>
            <a:r>
              <a:rPr lang="bg-BG" sz="2400" smtClean="0">
                <a:solidFill>
                  <a:schemeClr val="tx2">
                    <a:satMod val="130000"/>
                  </a:schemeClr>
                </a:solidFill>
              </a:rPr>
              <a:t>, такова че</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en-US" sz="2400" smtClean="0">
                <a:solidFill>
                  <a:schemeClr val="tx2">
                    <a:satMod val="130000"/>
                  </a:schemeClr>
                </a:solidFill>
              </a:rPr>
              <a:t>				</a:t>
            </a:r>
            <a:r>
              <a:rPr lang="en-US" sz="2400" b="1" smtClean="0">
                <a:solidFill>
                  <a:schemeClr val="tx2">
                    <a:satMod val="130000"/>
                  </a:schemeClr>
                </a:solidFill>
              </a:rPr>
              <a:t>n = p’ x q’</a:t>
            </a: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t>
            </a:r>
            <a:r>
              <a:rPr lang="bg-BG" sz="2400" smtClean="0">
                <a:solidFill>
                  <a:schemeClr val="tx2">
                    <a:satMod val="130000"/>
                  </a:schemeClr>
                </a:solidFill>
              </a:rPr>
              <a:t>Но за да решим формулираната задача, ще трябват по-големи изчислителни ресурси.</a:t>
            </a:r>
            <a:endParaRPr lang="en-US" sz="2400" b="1"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7"/>
          <p:cNvSpPr>
            <a:spLocks noGrp="1" noChangeArrowheads="1"/>
          </p:cNvSpPr>
          <p:nvPr>
            <p:ph type="title"/>
          </p:nvPr>
        </p:nvSpPr>
        <p:spPr>
          <a:xfrm>
            <a:off x="685800" y="1066800"/>
            <a:ext cx="8077200" cy="5791200"/>
          </a:xfrm>
        </p:spPr>
        <p:txBody>
          <a:bodyPr>
            <a:normAutofit fontScale="90000"/>
          </a:bodyPr>
          <a:lstStyle/>
          <a:p>
            <a:pPr eaLnBrk="1" fontAlgn="auto" hangingPunct="1">
              <a:lnSpc>
                <a:spcPct val="110000"/>
              </a:lnSpc>
              <a:spcAft>
                <a:spcPts val="0"/>
              </a:spcAft>
              <a:defRPr/>
            </a:pPr>
            <a:r>
              <a:rPr lang="bg-BG" sz="3600" b="1" u="sng" smtClean="0">
                <a:solidFill>
                  <a:schemeClr val="tx2">
                    <a:satMod val="130000"/>
                  </a:schemeClr>
                </a:solidFill>
              </a:rPr>
              <a:t>Р-задачи</a:t>
            </a:r>
            <a:r>
              <a:rPr lang="bg-BG" sz="3600" b="1" smtClean="0">
                <a:solidFill>
                  <a:schemeClr val="tx2">
                    <a:satMod val="130000"/>
                  </a:schemeClr>
                </a:solidFill>
              </a:rPr>
              <a:t/>
            </a:r>
            <a:br>
              <a:rPr lang="bg-BG" sz="3600" b="1" smtClean="0">
                <a:solidFill>
                  <a:schemeClr val="tx2">
                    <a:satMod val="130000"/>
                  </a:schemeClr>
                </a:solidFill>
              </a:rPr>
            </a:br>
            <a:r>
              <a:rPr lang="bg-BG" sz="3600" smtClean="0">
                <a:solidFill>
                  <a:schemeClr val="tx2">
                    <a:satMod val="130000"/>
                  </a:schemeClr>
                </a:solidFill>
              </a:rPr>
              <a:t>(</a:t>
            </a:r>
            <a:r>
              <a:rPr lang="en-US" sz="3600" smtClean="0">
                <a:solidFill>
                  <a:schemeClr val="tx2">
                    <a:satMod val="130000"/>
                  </a:schemeClr>
                </a:solidFill>
              </a:rPr>
              <a:t>polynomial</a:t>
            </a:r>
            <a:r>
              <a:rPr lang="bg-BG" sz="3600" smtClean="0">
                <a:solidFill>
                  <a:schemeClr val="tx2">
                    <a:satMod val="130000"/>
                  </a:schemeClr>
                </a:solidFill>
              </a:rPr>
              <a:t> или задачи, за които съществува решение с полиномиална сложност)</a:t>
            </a:r>
            <a:r>
              <a:rPr lang="bg-BG" sz="3600" b="1" smtClean="0">
                <a:solidFill>
                  <a:schemeClr val="tx2">
                    <a:satMod val="130000"/>
                  </a:schemeClr>
                </a:solidFill>
              </a:rPr>
              <a:t/>
            </a:r>
            <a:br>
              <a:rPr lang="bg-BG" sz="3600" b="1" smtClean="0">
                <a:solidFill>
                  <a:schemeClr val="tx2">
                    <a:satMod val="130000"/>
                  </a:schemeClr>
                </a:solidFill>
              </a:rPr>
            </a:br>
            <a:r>
              <a:rPr lang="bg-BG" sz="3600" b="1" smtClean="0">
                <a:solidFill>
                  <a:schemeClr val="tx2">
                    <a:satMod val="130000"/>
                  </a:schemeClr>
                </a:solidFill>
              </a:rPr>
              <a:t/>
            </a:r>
            <a:br>
              <a:rPr lang="bg-BG" sz="3600" b="1" smtClean="0">
                <a:solidFill>
                  <a:schemeClr val="tx2">
                    <a:satMod val="130000"/>
                  </a:schemeClr>
                </a:solidFill>
              </a:rPr>
            </a:br>
            <a:r>
              <a:rPr lang="bg-BG" sz="3600" b="1" u="sng" smtClean="0">
                <a:solidFill>
                  <a:schemeClr val="tx2">
                    <a:satMod val="130000"/>
                  </a:schemeClr>
                </a:solidFill>
              </a:rPr>
              <a:t>Експоненциални задачи</a:t>
            </a:r>
            <a:r>
              <a:rPr lang="bg-BG" sz="3600" b="1" smtClean="0">
                <a:solidFill>
                  <a:schemeClr val="tx2">
                    <a:satMod val="130000"/>
                  </a:schemeClr>
                </a:solidFill>
              </a:rPr>
              <a:t> </a:t>
            </a:r>
            <a:br>
              <a:rPr lang="bg-BG" sz="3600" b="1" smtClean="0">
                <a:solidFill>
                  <a:schemeClr val="tx2">
                    <a:satMod val="130000"/>
                  </a:schemeClr>
                </a:solidFill>
              </a:rPr>
            </a:br>
            <a:r>
              <a:rPr lang="bg-BG" sz="3600" b="1" smtClean="0">
                <a:solidFill>
                  <a:schemeClr val="tx2">
                    <a:satMod val="130000"/>
                  </a:schemeClr>
                </a:solidFill>
              </a:rPr>
              <a:t>- </a:t>
            </a:r>
            <a:r>
              <a:rPr lang="bg-BG" sz="3600" smtClean="0">
                <a:solidFill>
                  <a:schemeClr val="tx2">
                    <a:satMod val="130000"/>
                  </a:schemeClr>
                </a:solidFill>
              </a:rPr>
              <a:t>могат да се решат с експоненциална сложност</a:t>
            </a:r>
            <a:r>
              <a:rPr lang="bg-BG" sz="3600" b="1" smtClean="0">
                <a:solidFill>
                  <a:schemeClr val="tx2">
                    <a:satMod val="130000"/>
                  </a:schemeClr>
                </a:solidFill>
              </a:rPr>
              <a:t/>
            </a:r>
            <a:br>
              <a:rPr lang="bg-BG" sz="3600" b="1" smtClean="0">
                <a:solidFill>
                  <a:schemeClr val="tx2">
                    <a:satMod val="130000"/>
                  </a:schemeClr>
                </a:solidFill>
              </a:rPr>
            </a:br>
            <a:r>
              <a:rPr lang="bg-BG" sz="3600" b="1" smtClean="0">
                <a:solidFill>
                  <a:schemeClr val="tx2">
                    <a:satMod val="130000"/>
                  </a:schemeClr>
                </a:solidFill>
              </a:rPr>
              <a:t/>
            </a:r>
            <a:br>
              <a:rPr lang="bg-BG" sz="3600" b="1" smtClean="0">
                <a:solidFill>
                  <a:schemeClr val="tx2">
                    <a:satMod val="130000"/>
                  </a:schemeClr>
                </a:solidFill>
              </a:rPr>
            </a:br>
            <a:endParaRPr lang="en-US" sz="36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7"/>
          <p:cNvSpPr>
            <a:spLocks noGrp="1" noChangeArrowheads="1"/>
          </p:cNvSpPr>
          <p:nvPr>
            <p:ph type="title"/>
          </p:nvPr>
        </p:nvSpPr>
        <p:spPr>
          <a:xfrm>
            <a:off x="457200" y="990600"/>
            <a:ext cx="8229600" cy="5867400"/>
          </a:xfrm>
        </p:spPr>
        <p:txBody>
          <a:bodyPr>
            <a:normAutofit fontScale="90000"/>
          </a:bodyPr>
          <a:lstStyle/>
          <a:p>
            <a:pPr eaLnBrk="1" fontAlgn="auto" hangingPunct="1">
              <a:spcAft>
                <a:spcPts val="0"/>
              </a:spcAft>
              <a:defRPr/>
            </a:pPr>
            <a:r>
              <a:rPr lang="bg-BG" sz="3600" b="1" u="sng" smtClean="0">
                <a:solidFill>
                  <a:schemeClr val="tx2">
                    <a:satMod val="130000"/>
                  </a:schemeClr>
                </a:solidFill>
              </a:rPr>
              <a:t>Нерешими задачи</a:t>
            </a: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Не могат да бъдат решени независимо с колко време и памет разполагаме.</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Например: да се реши уравнението:</a:t>
            </a:r>
            <a:br>
              <a:rPr lang="bg-BG" sz="3600" smtClean="0">
                <a:solidFill>
                  <a:schemeClr val="tx2">
                    <a:satMod val="130000"/>
                  </a:schemeClr>
                </a:solidFill>
              </a:rPr>
            </a:br>
            <a:r>
              <a:rPr lang="en-US" sz="2800" smtClean="0">
                <a:solidFill>
                  <a:schemeClr val="tx2">
                    <a:satMod val="130000"/>
                  </a:schemeClr>
                </a:solidFill>
              </a:rPr>
              <a:t>			</a:t>
            </a:r>
            <a:r>
              <a:rPr lang="en-US" smtClean="0">
                <a:solidFill>
                  <a:schemeClr val="tx2">
                    <a:satMod val="130000"/>
                  </a:schemeClr>
                </a:solidFill>
              </a:rPr>
              <a:t>a</a:t>
            </a:r>
            <a:r>
              <a:rPr lang="en-US" baseline="30000" smtClean="0">
                <a:solidFill>
                  <a:schemeClr val="tx2">
                    <a:satMod val="130000"/>
                  </a:schemeClr>
                </a:solidFill>
              </a:rPr>
              <a:t>n</a:t>
            </a:r>
            <a:r>
              <a:rPr lang="en-US" smtClean="0">
                <a:solidFill>
                  <a:schemeClr val="tx2">
                    <a:satMod val="130000"/>
                  </a:schemeClr>
                </a:solidFill>
              </a:rPr>
              <a:t> + b</a:t>
            </a:r>
            <a:r>
              <a:rPr lang="en-US" baseline="30000" smtClean="0">
                <a:solidFill>
                  <a:schemeClr val="tx2">
                    <a:satMod val="130000"/>
                  </a:schemeClr>
                </a:solidFill>
              </a:rPr>
              <a:t>n</a:t>
            </a:r>
            <a:r>
              <a:rPr lang="en-US" smtClean="0">
                <a:solidFill>
                  <a:schemeClr val="tx2">
                    <a:satMod val="130000"/>
                  </a:schemeClr>
                </a:solidFill>
              </a:rPr>
              <a:t> = c</a:t>
            </a:r>
            <a:r>
              <a:rPr lang="en-US" baseline="30000" smtClean="0">
                <a:solidFill>
                  <a:schemeClr val="tx2">
                    <a:satMod val="130000"/>
                  </a:schemeClr>
                </a:solidFill>
              </a:rPr>
              <a:t>n</a:t>
            </a:r>
            <a:r>
              <a:rPr lang="en-US" sz="2800" smtClean="0">
                <a:solidFill>
                  <a:schemeClr val="tx2">
                    <a:satMod val="130000"/>
                  </a:schemeClr>
                </a:solidFill>
              </a:rPr>
              <a:t/>
            </a:r>
            <a:br>
              <a:rPr lang="en-US" sz="2800" smtClean="0">
                <a:solidFill>
                  <a:schemeClr val="tx2">
                    <a:satMod val="130000"/>
                  </a:schemeClr>
                </a:solidFill>
              </a:rPr>
            </a:br>
            <a:r>
              <a:rPr lang="en-US" sz="3600" smtClean="0">
                <a:solidFill>
                  <a:schemeClr val="tx2">
                    <a:satMod val="130000"/>
                  </a:schemeClr>
                </a:solidFill>
              </a:rPr>
              <a:t>a, b, c, n - </a:t>
            </a:r>
            <a:r>
              <a:rPr lang="bg-BG" sz="3600" smtClean="0">
                <a:solidFill>
                  <a:schemeClr val="tx2">
                    <a:satMod val="130000"/>
                  </a:schemeClr>
                </a:solidFill>
              </a:rPr>
              <a:t>естествени числа, </a:t>
            </a:r>
            <a:r>
              <a:rPr lang="en-US" sz="3600" smtClean="0">
                <a:solidFill>
                  <a:schemeClr val="tx2">
                    <a:satMod val="130000"/>
                  </a:schemeClr>
                </a:solidFill>
              </a:rPr>
              <a:t>n</a:t>
            </a:r>
            <a:r>
              <a:rPr lang="bg-BG" sz="3600" smtClean="0">
                <a:solidFill>
                  <a:schemeClr val="tx2">
                    <a:satMod val="130000"/>
                  </a:schemeClr>
                </a:solidFill>
              </a:rPr>
              <a:t>&gt;2</a:t>
            </a:r>
            <a:br>
              <a:rPr lang="bg-BG" sz="3600" smtClean="0">
                <a:solidFill>
                  <a:schemeClr val="tx2">
                    <a:satMod val="130000"/>
                  </a:schemeClr>
                </a:solidFill>
              </a:rPr>
            </a:br>
            <a:r>
              <a:rPr lang="bg-BG" sz="3600" smtClean="0">
                <a:solidFill>
                  <a:schemeClr val="tx2">
                    <a:satMod val="130000"/>
                  </a:schemeClr>
                </a:solidFill>
              </a:rPr>
              <a:t>	Съгласно скоро доказаната Голяма теорема на Ферма, такава четворка естествени числа не съществува.</a:t>
            </a:r>
            <a:r>
              <a:rPr lang="bg-BG" sz="2800" smtClean="0">
                <a:solidFill>
                  <a:schemeClr val="tx2">
                    <a:satMod val="130000"/>
                  </a:schemeClr>
                </a:solidFill>
              </a:rPr>
              <a:t> </a:t>
            </a:r>
            <a:r>
              <a:rPr lang="en-US" sz="2800" smtClean="0">
                <a:solidFill>
                  <a:schemeClr val="tx2">
                    <a:satMod val="130000"/>
                  </a:schemeClr>
                </a:solidFill>
              </a:rPr>
              <a:t/>
            </a:r>
            <a:br>
              <a:rPr lang="en-US" sz="2800" smtClean="0">
                <a:solidFill>
                  <a:schemeClr val="tx2">
                    <a:satMod val="130000"/>
                  </a:schemeClr>
                </a:solidFill>
              </a:rPr>
            </a:br>
            <a:r>
              <a:rPr lang="bg-BG" sz="2800" smtClean="0">
                <a:solidFill>
                  <a:schemeClr val="tx2">
                    <a:satMod val="130000"/>
                  </a:schemeClr>
                </a:solidFill>
              </a:rPr>
              <a:t/>
            </a:r>
            <a:br>
              <a:rPr lang="bg-BG" sz="2800" smtClean="0">
                <a:solidFill>
                  <a:schemeClr val="tx2">
                    <a:satMod val="130000"/>
                  </a:schemeClr>
                </a:solidFill>
              </a:rPr>
            </a:br>
            <a:endParaRPr lang="en-US" sz="36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7"/>
          <p:cNvSpPr>
            <a:spLocks noChangeArrowheads="1"/>
          </p:cNvSpPr>
          <p:nvPr/>
        </p:nvSpPr>
        <p:spPr bwMode="auto">
          <a:xfrm>
            <a:off x="381000" y="609600"/>
            <a:ext cx="8534400" cy="5867400"/>
          </a:xfrm>
          <a:prstGeom prst="rect">
            <a:avLst/>
          </a:prstGeom>
          <a:noFill/>
          <a:ln w="9525">
            <a:noFill/>
            <a:miter lim="800000"/>
            <a:headEnd/>
            <a:tailEnd/>
          </a:ln>
        </p:spPr>
        <p:txBody>
          <a:bodyPr anchor="ctr"/>
          <a:lstStyle/>
          <a:p>
            <a:r>
              <a:rPr lang="bg-BG" sz="3200">
                <a:solidFill>
                  <a:schemeClr val="tx2"/>
                </a:solidFill>
              </a:rPr>
              <a:t>Но програмистът (и компилатора) трудно може да прецени, дали решението съществува:</a:t>
            </a:r>
            <a:br>
              <a:rPr lang="bg-BG" sz="3200">
                <a:solidFill>
                  <a:schemeClr val="tx2"/>
                </a:solidFill>
              </a:rPr>
            </a:br>
            <a:r>
              <a:rPr lang="bg-BG" sz="3200">
                <a:solidFill>
                  <a:schemeClr val="tx2"/>
                </a:solidFill>
              </a:rPr>
              <a:t/>
            </a:r>
            <a:br>
              <a:rPr lang="bg-BG" sz="3200">
                <a:solidFill>
                  <a:schemeClr val="tx2"/>
                </a:solidFill>
              </a:rPr>
            </a:br>
            <a:r>
              <a:rPr lang="en-US">
                <a:solidFill>
                  <a:schemeClr val="tx2"/>
                </a:solidFill>
              </a:rPr>
              <a:t>int main()</a:t>
            </a:r>
            <a:r>
              <a:rPr lang="en-US" sz="3600">
                <a:solidFill>
                  <a:schemeClr val="tx2"/>
                </a:solidFill>
              </a:rPr>
              <a:t/>
            </a:r>
            <a:br>
              <a:rPr lang="en-US" sz="3600">
                <a:solidFill>
                  <a:schemeClr val="tx2"/>
                </a:solidFill>
              </a:rPr>
            </a:br>
            <a:r>
              <a:rPr lang="en-US">
                <a:solidFill>
                  <a:schemeClr val="tx2"/>
                </a:solidFill>
              </a:rPr>
              <a:t>{</a:t>
            </a:r>
            <a:br>
              <a:rPr lang="en-US">
                <a:solidFill>
                  <a:schemeClr val="tx2"/>
                </a:solidFill>
              </a:rPr>
            </a:br>
            <a:r>
              <a:rPr lang="en-US">
                <a:solidFill>
                  <a:schemeClr val="tx2"/>
                </a:solidFill>
              </a:rPr>
              <a:t>   unsigned a, b, c, x, n;</a:t>
            </a:r>
            <a:br>
              <a:rPr lang="en-US">
                <a:solidFill>
                  <a:schemeClr val="tx2"/>
                </a:solidFill>
              </a:rPr>
            </a:br>
            <a:r>
              <a:rPr lang="en-US">
                <a:solidFill>
                  <a:schemeClr val="tx2"/>
                </a:solidFill>
              </a:rPr>
              <a:t>  for (x=3; ;)</a:t>
            </a:r>
            <a:br>
              <a:rPr lang="en-US">
                <a:solidFill>
                  <a:schemeClr val="tx2"/>
                </a:solidFill>
              </a:rPr>
            </a:br>
            <a:r>
              <a:rPr lang="en-US">
                <a:solidFill>
                  <a:schemeClr val="tx2"/>
                </a:solidFill>
              </a:rPr>
              <a:t>  { for (a=1; a&lt;=x; a++)</a:t>
            </a:r>
            <a:br>
              <a:rPr lang="en-US">
                <a:solidFill>
                  <a:schemeClr val="tx2"/>
                </a:solidFill>
              </a:rPr>
            </a:br>
            <a:r>
              <a:rPr lang="en-US">
                <a:solidFill>
                  <a:schemeClr val="tx2"/>
                </a:solidFill>
              </a:rPr>
              <a:t>        for (b=1; b&lt;=x; b++)</a:t>
            </a:r>
            <a:br>
              <a:rPr lang="en-US">
                <a:solidFill>
                  <a:schemeClr val="tx2"/>
                </a:solidFill>
              </a:rPr>
            </a:br>
            <a:r>
              <a:rPr lang="en-US">
                <a:solidFill>
                  <a:schemeClr val="tx2"/>
                </a:solidFill>
              </a:rPr>
              <a:t>	</a:t>
            </a:r>
            <a:r>
              <a:rPr lang="en-US"/>
              <a:t>for (c=1; c&lt;=x; c++)</a:t>
            </a:r>
            <a:br>
              <a:rPr lang="en-US"/>
            </a:br>
            <a:r>
              <a:rPr lang="en-US">
                <a:solidFill>
                  <a:schemeClr val="tx2"/>
                </a:solidFill>
              </a:rPr>
              <a:t>               for (n=3; n&lt;=x; n++)</a:t>
            </a:r>
            <a:br>
              <a:rPr lang="en-US">
                <a:solidFill>
                  <a:schemeClr val="tx2"/>
                </a:solidFill>
              </a:rPr>
            </a:br>
            <a:r>
              <a:rPr lang="en-US">
                <a:solidFill>
                  <a:schemeClr val="tx2"/>
                </a:solidFill>
              </a:rPr>
              <a:t>                  if (pow(a,n) +pow(b,n)==pow(c,n))        exit(0);</a:t>
            </a:r>
            <a:br>
              <a:rPr lang="en-US">
                <a:solidFill>
                  <a:schemeClr val="tx2"/>
                </a:solidFill>
              </a:rPr>
            </a:br>
            <a:r>
              <a:rPr lang="en-US">
                <a:solidFill>
                  <a:schemeClr val="tx2"/>
                </a:solidFill>
              </a:rPr>
              <a:t>      x++;</a:t>
            </a:r>
            <a:br>
              <a:rPr lang="en-US">
                <a:solidFill>
                  <a:schemeClr val="tx2"/>
                </a:solidFill>
              </a:rPr>
            </a:br>
            <a:r>
              <a:rPr lang="en-US">
                <a:solidFill>
                  <a:schemeClr val="tx2"/>
                </a:solidFill>
              </a:rPr>
              <a:t>   }</a:t>
            </a:r>
            <a:br>
              <a:rPr lang="en-US">
                <a:solidFill>
                  <a:schemeClr val="tx2"/>
                </a:solidFill>
              </a:rPr>
            </a:br>
            <a:r>
              <a:rPr lang="en-US">
                <a:solidFill>
                  <a:schemeClr val="tx2"/>
                </a:solidFill>
              </a:rPr>
              <a:t>   return 0;</a:t>
            </a:r>
            <a:br>
              <a:rPr lang="en-US">
                <a:solidFill>
                  <a:schemeClr val="tx2"/>
                </a:solidFill>
              </a:rPr>
            </a:br>
            <a:r>
              <a:rPr lang="en-US">
                <a:solidFill>
                  <a:schemeClr val="tx2"/>
                </a:solidFill>
              </a:rPr>
              <a:t>}</a:t>
            </a:r>
            <a:endParaRPr lang="en-US" sz="3600">
              <a:solidFill>
                <a:schemeClr val="tx2"/>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7"/>
          <p:cNvSpPr>
            <a:spLocks noGrp="1" noChangeArrowheads="1"/>
          </p:cNvSpPr>
          <p:nvPr>
            <p:ph type="title"/>
          </p:nvPr>
        </p:nvSpPr>
        <p:spPr>
          <a:xfrm>
            <a:off x="685800" y="381000"/>
            <a:ext cx="8001000" cy="6248400"/>
          </a:xfrm>
        </p:spPr>
        <p:txBody>
          <a:bodyPr>
            <a:normAutofit fontScale="90000"/>
          </a:bodyPr>
          <a:lstStyle/>
          <a:p>
            <a:pPr eaLnBrk="1" fontAlgn="auto" hangingPunct="1">
              <a:spcAft>
                <a:spcPts val="0"/>
              </a:spcAft>
              <a:defRPr/>
            </a:pPr>
            <a:r>
              <a:rPr lang="en-US" sz="3600" b="1" u="sng" smtClean="0">
                <a:solidFill>
                  <a:schemeClr val="tx2">
                    <a:satMod val="130000"/>
                  </a:schemeClr>
                </a:solidFill>
              </a:rPr>
              <a:t>NP-</a:t>
            </a:r>
            <a:r>
              <a:rPr lang="bg-BG" sz="3600" b="1" u="sng" smtClean="0">
                <a:solidFill>
                  <a:schemeClr val="tx2">
                    <a:satMod val="130000"/>
                  </a:schemeClr>
                </a:solidFill>
              </a:rPr>
              <a:t>пълни задачи</a:t>
            </a:r>
            <a:r>
              <a:rPr lang="en-US" sz="3600" b="1" smtClean="0">
                <a:solidFill>
                  <a:schemeClr val="tx2">
                    <a:satMod val="130000"/>
                  </a:schemeClr>
                </a:solidFill>
              </a:rPr>
              <a:t>    (NP-complete)</a:t>
            </a:r>
            <a:r>
              <a:rPr lang="en-US" sz="1600" b="1" smtClean="0">
                <a:solidFill>
                  <a:schemeClr val="tx2">
                    <a:satMod val="130000"/>
                  </a:schemeClr>
                </a:solidFill>
              </a:rPr>
              <a:t/>
            </a:r>
            <a:br>
              <a:rPr lang="en-US" sz="1600" b="1" smtClean="0">
                <a:solidFill>
                  <a:schemeClr val="tx2">
                    <a:satMod val="130000"/>
                  </a:schemeClr>
                </a:solidFill>
              </a:rPr>
            </a:br>
            <a:r>
              <a:rPr lang="en-US" sz="1600" b="1" smtClean="0">
                <a:solidFill>
                  <a:schemeClr val="tx2">
                    <a:satMod val="130000"/>
                  </a:schemeClr>
                </a:solidFill>
              </a:rPr>
              <a:t/>
            </a:r>
            <a:br>
              <a:rPr lang="en-US" sz="1600" b="1" smtClean="0">
                <a:solidFill>
                  <a:schemeClr val="tx2">
                    <a:satMod val="130000"/>
                  </a:schemeClr>
                </a:solidFill>
              </a:rPr>
            </a:br>
            <a:r>
              <a:rPr lang="en-US" sz="3600" b="1" smtClean="0">
                <a:solidFill>
                  <a:schemeClr val="tx2">
                    <a:satMod val="130000"/>
                  </a:schemeClr>
                </a:solidFill>
              </a:rPr>
              <a:t>			</a:t>
            </a:r>
            <a:r>
              <a:rPr lang="bg-BG" sz="3600" b="1" smtClean="0">
                <a:solidFill>
                  <a:schemeClr val="tx2">
                    <a:satMod val="130000"/>
                  </a:schemeClr>
                </a:solidFill>
              </a:rPr>
              <a:t>   </a:t>
            </a:r>
            <a:r>
              <a:rPr lang="en-US" sz="3600" b="1" smtClean="0">
                <a:solidFill>
                  <a:schemeClr val="tx2">
                    <a:satMod val="130000"/>
                  </a:schemeClr>
                </a:solidFill>
              </a:rPr>
              <a:t>P</a:t>
            </a:r>
            <a:r>
              <a:rPr lang="en-US" sz="3600" b="1" smtClean="0">
                <a:solidFill>
                  <a:schemeClr val="tx2">
                    <a:satMod val="130000"/>
                  </a:schemeClr>
                </a:solidFill>
                <a:sym typeface="Symbol" pitchFamily="18" charset="2"/>
              </a:rPr>
              <a:t>NP ?</a:t>
            </a:r>
            <a:br>
              <a:rPr lang="en-US" sz="3600" b="1" smtClean="0">
                <a:solidFill>
                  <a:schemeClr val="tx2">
                    <a:satMod val="130000"/>
                  </a:schemeClr>
                </a:solidFill>
                <a:sym typeface="Symbol" pitchFamily="18" charset="2"/>
              </a:rPr>
            </a:br>
            <a:r>
              <a:rPr lang="bg-BG" sz="3600" b="1" smtClean="0">
                <a:solidFill>
                  <a:schemeClr val="tx2">
                    <a:satMod val="130000"/>
                  </a:schemeClr>
                </a:solidFill>
                <a:sym typeface="Symbol" pitchFamily="18" charset="2"/>
              </a:rPr>
              <a:t>	</a:t>
            </a:r>
            <a:r>
              <a:rPr lang="en-US" sz="2400" smtClean="0">
                <a:solidFill>
                  <a:schemeClr val="tx2">
                    <a:satMod val="130000"/>
                  </a:schemeClr>
                </a:solidFill>
                <a:sym typeface="Symbol" pitchFamily="18" charset="2"/>
              </a:rPr>
              <a:t>Т</a:t>
            </a:r>
            <a:r>
              <a:rPr lang="bg-BG" sz="2400" smtClean="0">
                <a:solidFill>
                  <a:schemeClr val="tx2">
                    <a:satMod val="130000"/>
                  </a:schemeClr>
                </a:solidFill>
                <a:sym typeface="Symbol" pitchFamily="18" charset="2"/>
              </a:rPr>
              <a:t>.е. ако проверката</a:t>
            </a:r>
            <a:r>
              <a:rPr lang="bg-BG" sz="3600" b="1" smtClean="0">
                <a:solidFill>
                  <a:schemeClr val="tx2">
                    <a:satMod val="130000"/>
                  </a:schemeClr>
                </a:solidFill>
                <a:sym typeface="Symbol" pitchFamily="18" charset="2"/>
              </a:rPr>
              <a:t> </a:t>
            </a:r>
            <a:r>
              <a:rPr lang="bg-BG" sz="2400" smtClean="0">
                <a:solidFill>
                  <a:schemeClr val="tx2">
                    <a:satMod val="130000"/>
                  </a:schemeClr>
                </a:solidFill>
                <a:sym typeface="Symbol" pitchFamily="18" charset="2"/>
              </a:rPr>
              <a:t>дали дадено кандидат-решение</a:t>
            </a:r>
            <a:r>
              <a:rPr lang="en-US" sz="2400" smtClean="0">
                <a:solidFill>
                  <a:schemeClr val="tx2">
                    <a:satMod val="130000"/>
                  </a:schemeClr>
                </a:solidFill>
                <a:sym typeface="Symbol" pitchFamily="18" charset="2"/>
              </a:rPr>
              <a:t> </a:t>
            </a:r>
            <a:r>
              <a:rPr lang="bg-BG" sz="2400" smtClean="0">
                <a:solidFill>
                  <a:schemeClr val="tx2">
                    <a:satMod val="130000"/>
                  </a:schemeClr>
                </a:solidFill>
                <a:sym typeface="Symbol" pitchFamily="18" charset="2"/>
              </a:rPr>
              <a:t>изисква полиномиално време, то и цялото решение също става за полиномиално време?</a:t>
            </a:r>
            <a:r>
              <a:rPr lang="bg-BG" sz="800" smtClean="0">
                <a:solidFill>
                  <a:schemeClr val="tx2">
                    <a:satMod val="130000"/>
                  </a:schemeClr>
                </a:solidFill>
                <a:sym typeface="Symbol" pitchFamily="18" charset="2"/>
              </a:rPr>
              <a:t/>
            </a:r>
            <a:br>
              <a:rPr lang="bg-BG" sz="800" smtClean="0">
                <a:solidFill>
                  <a:schemeClr val="tx2">
                    <a:satMod val="130000"/>
                  </a:schemeClr>
                </a:solidFill>
                <a:sym typeface="Symbol" pitchFamily="18" charset="2"/>
              </a:rPr>
            </a:br>
            <a:r>
              <a:rPr lang="bg-BG" sz="800" smtClean="0">
                <a:solidFill>
                  <a:schemeClr val="tx2">
                    <a:satMod val="130000"/>
                  </a:schemeClr>
                </a:solidFill>
                <a:sym typeface="Symbol" pitchFamily="18" charset="2"/>
              </a:rPr>
              <a:t/>
            </a:r>
            <a:br>
              <a:rPr lang="bg-BG" sz="800" smtClean="0">
                <a:solidFill>
                  <a:schemeClr val="tx2">
                    <a:satMod val="130000"/>
                  </a:schemeClr>
                </a:solidFill>
                <a:sym typeface="Symbol" pitchFamily="18" charset="2"/>
              </a:rPr>
            </a:br>
            <a:r>
              <a:rPr lang="bg-BG" sz="2400" smtClean="0">
                <a:solidFill>
                  <a:schemeClr val="tx2">
                    <a:satMod val="130000"/>
                  </a:schemeClr>
                </a:solidFill>
                <a:sym typeface="Symbol" pitchFamily="18" charset="2"/>
              </a:rPr>
              <a:t>	</a:t>
            </a:r>
            <a:r>
              <a:rPr lang="en-US" sz="2400" smtClean="0">
                <a:solidFill>
                  <a:schemeClr val="tx2">
                    <a:satMod val="130000"/>
                  </a:schemeClr>
                </a:solidFill>
                <a:sym typeface="Symbol" pitchFamily="18" charset="2"/>
              </a:rPr>
              <a:t>NP</a:t>
            </a:r>
            <a:r>
              <a:rPr lang="bg-BG" sz="2400" smtClean="0">
                <a:solidFill>
                  <a:schemeClr val="tx2">
                    <a:satMod val="130000"/>
                  </a:schemeClr>
                </a:solidFill>
                <a:sym typeface="Symbol" pitchFamily="18" charset="2"/>
              </a:rPr>
              <a:t>-пълни задачи е клас от </a:t>
            </a:r>
            <a:r>
              <a:rPr lang="en-US" sz="2400" smtClean="0">
                <a:solidFill>
                  <a:schemeClr val="tx2">
                    <a:satMod val="130000"/>
                  </a:schemeClr>
                </a:solidFill>
                <a:sym typeface="Symbol" pitchFamily="18" charset="2"/>
              </a:rPr>
              <a:t>NP</a:t>
            </a:r>
            <a:r>
              <a:rPr lang="bg-BG" sz="2400" smtClean="0">
                <a:solidFill>
                  <a:schemeClr val="tx2">
                    <a:satMod val="130000"/>
                  </a:schemeClr>
                </a:solidFill>
                <a:sym typeface="Symbol" pitchFamily="18" charset="2"/>
              </a:rPr>
              <a:t>-задачи, които могат да се свеждат една към друга с полиномиална сложност, и всяка задача от </a:t>
            </a:r>
            <a:r>
              <a:rPr lang="en-US" sz="2400" smtClean="0">
                <a:solidFill>
                  <a:schemeClr val="tx2">
                    <a:satMod val="130000"/>
                  </a:schemeClr>
                </a:solidFill>
                <a:sym typeface="Symbol" pitchFamily="18" charset="2"/>
              </a:rPr>
              <a:t>NP </a:t>
            </a:r>
            <a:r>
              <a:rPr lang="bg-BG" sz="2400" smtClean="0">
                <a:solidFill>
                  <a:schemeClr val="tx2">
                    <a:satMod val="130000"/>
                  </a:schemeClr>
                </a:solidFill>
                <a:sym typeface="Symbol" pitchFamily="18" charset="2"/>
              </a:rPr>
              <a:t>може да се сведе до някоя </a:t>
            </a:r>
            <a:r>
              <a:rPr lang="en-US" sz="2400" smtClean="0">
                <a:solidFill>
                  <a:schemeClr val="tx2">
                    <a:satMod val="130000"/>
                  </a:schemeClr>
                </a:solidFill>
                <a:sym typeface="Symbol" pitchFamily="18" charset="2"/>
              </a:rPr>
              <a:t>NP</a:t>
            </a:r>
            <a:r>
              <a:rPr lang="bg-BG" sz="2400" smtClean="0">
                <a:solidFill>
                  <a:schemeClr val="tx2">
                    <a:satMod val="130000"/>
                  </a:schemeClr>
                </a:solidFill>
                <a:sym typeface="Symbol" pitchFamily="18" charset="2"/>
              </a:rPr>
              <a:t>-пълна задача.</a:t>
            </a:r>
            <a:r>
              <a:rPr lang="bg-BG" sz="800" smtClean="0">
                <a:solidFill>
                  <a:schemeClr val="tx2">
                    <a:satMod val="130000"/>
                  </a:schemeClr>
                </a:solidFill>
                <a:sym typeface="Symbol" pitchFamily="18" charset="2"/>
              </a:rPr>
              <a:t/>
            </a:r>
            <a:br>
              <a:rPr lang="bg-BG" sz="800" smtClean="0">
                <a:solidFill>
                  <a:schemeClr val="tx2">
                    <a:satMod val="130000"/>
                  </a:schemeClr>
                </a:solidFill>
                <a:sym typeface="Symbol" pitchFamily="18" charset="2"/>
              </a:rPr>
            </a:br>
            <a:r>
              <a:rPr lang="bg-BG" sz="800" smtClean="0">
                <a:solidFill>
                  <a:schemeClr val="tx2">
                    <a:satMod val="130000"/>
                  </a:schemeClr>
                </a:solidFill>
                <a:sym typeface="Symbol" pitchFamily="18" charset="2"/>
              </a:rPr>
              <a:t/>
            </a:r>
            <a:br>
              <a:rPr lang="bg-BG" sz="800" smtClean="0">
                <a:solidFill>
                  <a:schemeClr val="tx2">
                    <a:satMod val="130000"/>
                  </a:schemeClr>
                </a:solidFill>
                <a:sym typeface="Symbol" pitchFamily="18" charset="2"/>
              </a:rPr>
            </a:br>
            <a:r>
              <a:rPr lang="bg-BG" sz="2400" smtClean="0">
                <a:solidFill>
                  <a:schemeClr val="tx2">
                    <a:satMod val="130000"/>
                  </a:schemeClr>
                </a:solidFill>
                <a:sym typeface="Symbol" pitchFamily="18" charset="2"/>
              </a:rPr>
              <a:t>	Ако само за една </a:t>
            </a:r>
            <a:r>
              <a:rPr lang="en-US" sz="2400" smtClean="0">
                <a:solidFill>
                  <a:schemeClr val="tx2">
                    <a:satMod val="130000"/>
                  </a:schemeClr>
                </a:solidFill>
                <a:sym typeface="Symbol" pitchFamily="18" charset="2"/>
              </a:rPr>
              <a:t>NP</a:t>
            </a:r>
            <a:r>
              <a:rPr lang="bg-BG" sz="2400" smtClean="0">
                <a:solidFill>
                  <a:schemeClr val="tx2">
                    <a:satMod val="130000"/>
                  </a:schemeClr>
                </a:solidFill>
                <a:sym typeface="Symbol" pitchFamily="18" charset="2"/>
              </a:rPr>
              <a:t>-пълна задача бъде доказано, че принадлежи или не принадлежи към класа Р, то това ще следва и за всички останали задачи от класа </a:t>
            </a:r>
            <a:r>
              <a:rPr lang="en-US" sz="2400" smtClean="0">
                <a:solidFill>
                  <a:schemeClr val="tx2">
                    <a:satMod val="130000"/>
                  </a:schemeClr>
                </a:solidFill>
                <a:sym typeface="Symbol" pitchFamily="18" charset="2"/>
              </a:rPr>
              <a:t>NP</a:t>
            </a:r>
            <a:r>
              <a:rPr lang="bg-BG" sz="2400" smtClean="0">
                <a:solidFill>
                  <a:schemeClr val="tx2">
                    <a:satMod val="130000"/>
                  </a:schemeClr>
                </a:solidFill>
                <a:sym typeface="Symbol" pitchFamily="18" charset="2"/>
              </a:rPr>
              <a:t>. </a:t>
            </a:r>
            <a:r>
              <a:rPr lang="en-US" sz="2400" smtClean="0">
                <a:solidFill>
                  <a:schemeClr val="tx2">
                    <a:satMod val="130000"/>
                  </a:schemeClr>
                </a:solidFill>
                <a:sym typeface="Symbol" pitchFamily="18" charset="2"/>
              </a:rPr>
              <a:t/>
            </a:r>
            <a:br>
              <a:rPr lang="en-US" sz="2400" smtClean="0">
                <a:solidFill>
                  <a:schemeClr val="tx2">
                    <a:satMod val="130000"/>
                  </a:schemeClr>
                </a:solidFill>
                <a:sym typeface="Symbol" pitchFamily="18" charset="2"/>
              </a:rPr>
            </a:br>
            <a:r>
              <a:rPr lang="en-US" sz="2400" smtClean="0">
                <a:solidFill>
                  <a:schemeClr val="tx2">
                    <a:satMod val="130000"/>
                  </a:schemeClr>
                </a:solidFill>
                <a:sym typeface="Symbol" pitchFamily="18" charset="2"/>
              </a:rPr>
              <a:t/>
            </a:r>
            <a:br>
              <a:rPr lang="en-US" sz="2400" smtClean="0">
                <a:solidFill>
                  <a:schemeClr val="tx2">
                    <a:satMod val="130000"/>
                  </a:schemeClr>
                </a:solidFill>
                <a:sym typeface="Symbol" pitchFamily="18" charset="2"/>
              </a:rPr>
            </a:br>
            <a:r>
              <a:rPr lang="bg-BG" sz="2400" smtClean="0">
                <a:solidFill>
                  <a:schemeClr val="tx2">
                    <a:satMod val="130000"/>
                  </a:schemeClr>
                </a:solidFill>
                <a:sym typeface="Symbol" pitchFamily="18" charset="2"/>
              </a:rPr>
              <a:t>(Например: търсене на прости пътища с дължина </a:t>
            </a:r>
            <a:r>
              <a:rPr lang="en-US" sz="2400" smtClean="0">
                <a:solidFill>
                  <a:schemeClr val="tx2">
                    <a:satMod val="130000"/>
                  </a:schemeClr>
                </a:solidFill>
                <a:sym typeface="Symbol" pitchFamily="18" charset="2"/>
              </a:rPr>
              <a:t>K</a:t>
            </a:r>
            <a:r>
              <a:rPr lang="bg-BG" sz="2400" smtClean="0">
                <a:solidFill>
                  <a:schemeClr val="tx2">
                    <a:satMod val="130000"/>
                  </a:schemeClr>
                </a:solidFill>
                <a:sym typeface="Symbol" pitchFamily="18" charset="2"/>
              </a:rPr>
              <a:t> е граф)</a:t>
            </a:r>
            <a:r>
              <a:rPr lang="en-US" sz="3600" b="1" smtClean="0">
                <a:solidFill>
                  <a:schemeClr val="tx2">
                    <a:satMod val="130000"/>
                  </a:schemeClr>
                </a:solidFill>
                <a:sym typeface="Symbol" pitchFamily="18" charset="2"/>
              </a:rPr>
              <a:t/>
            </a:r>
            <a:br>
              <a:rPr lang="en-US" sz="3600" b="1" smtClean="0">
                <a:solidFill>
                  <a:schemeClr val="tx2">
                    <a:satMod val="130000"/>
                  </a:schemeClr>
                </a:solidFill>
                <a:sym typeface="Symbol" pitchFamily="18" charset="2"/>
              </a:rPr>
            </a:br>
            <a:endParaRPr lang="en-US" sz="3600" b="1" smtClean="0">
              <a:solidFill>
                <a:schemeClr val="tx2">
                  <a:satMod val="130000"/>
                </a:schemeClr>
              </a:solidFill>
              <a:sym typeface="Symbol" pitchFamily="18" charset="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pPr eaLnBrk="1" fontAlgn="auto" hangingPunct="1">
              <a:spcAft>
                <a:spcPts val="0"/>
              </a:spcAft>
              <a:defRPr/>
            </a:pPr>
            <a:r>
              <a:rPr lang="bg-BG" sz="3600" smtClean="0">
                <a:solidFill>
                  <a:schemeClr val="tx2">
                    <a:satMod val="130000"/>
                  </a:schemeClr>
                </a:solidFill>
              </a:rPr>
              <a:t>Най-често срещани стойности на </a:t>
            </a:r>
            <a:r>
              <a:rPr lang="en-US" sz="3600" smtClean="0">
                <a:solidFill>
                  <a:schemeClr val="tx2">
                    <a:satMod val="130000"/>
                  </a:schemeClr>
                </a:solidFill>
              </a:rPr>
              <a:t>  f(n)</a:t>
            </a:r>
            <a:br>
              <a:rPr lang="en-US" sz="3600" smtClean="0">
                <a:solidFill>
                  <a:schemeClr val="tx2">
                    <a:satMod val="130000"/>
                  </a:schemeClr>
                </a:solidFill>
              </a:rPr>
            </a:br>
            <a:r>
              <a:rPr lang="bg-BG" sz="3600" smtClean="0">
                <a:solidFill>
                  <a:schemeClr val="tx2">
                    <a:satMod val="130000"/>
                  </a:schemeClr>
                </a:solidFill>
              </a:rPr>
              <a:t>за О(</a:t>
            </a:r>
            <a:r>
              <a:rPr lang="en-US" sz="3600" smtClean="0">
                <a:solidFill>
                  <a:schemeClr val="tx2">
                    <a:satMod val="130000"/>
                  </a:schemeClr>
                </a:solidFill>
              </a:rPr>
              <a:t>f(n))</a:t>
            </a:r>
            <a:endParaRPr lang="en-US" smtClean="0">
              <a:solidFill>
                <a:schemeClr val="tx2">
                  <a:satMod val="130000"/>
                </a:schemeClr>
              </a:solidFill>
            </a:endParaRPr>
          </a:p>
        </p:txBody>
      </p:sp>
      <p:sp>
        <p:nvSpPr>
          <p:cNvPr id="38915" name="Rectangle 3"/>
          <p:cNvSpPr>
            <a:spLocks noGrp="1" noChangeArrowheads="1"/>
          </p:cNvSpPr>
          <p:nvPr>
            <p:ph idx="1"/>
          </p:nvPr>
        </p:nvSpPr>
        <p:spPr>
          <a:xfrm>
            <a:off x="1187624" y="1988840"/>
            <a:ext cx="7772400" cy="4419600"/>
          </a:xfrm>
        </p:spPr>
        <p:txBody>
          <a:bodyPr>
            <a:normAutofit lnSpcReduction="10000"/>
          </a:bodyPr>
          <a:lstStyle/>
          <a:p>
            <a:pPr marL="365760" indent="-283464" eaLnBrk="1" fontAlgn="auto" hangingPunct="1">
              <a:spcAft>
                <a:spcPts val="0"/>
              </a:spcAft>
              <a:buFont typeface="Wingdings 2"/>
              <a:buChar char=""/>
              <a:defRPr/>
            </a:pPr>
            <a:r>
              <a:rPr lang="en-US" dirty="0" smtClean="0"/>
              <a:t>1</a:t>
            </a:r>
          </a:p>
          <a:p>
            <a:pPr marL="365760" indent="-283464" eaLnBrk="1" fontAlgn="auto" hangingPunct="1">
              <a:spcAft>
                <a:spcPts val="0"/>
              </a:spcAft>
              <a:buFont typeface="Wingdings 2"/>
              <a:buChar char=""/>
              <a:defRPr/>
            </a:pPr>
            <a:r>
              <a:rPr lang="en-US" dirty="0" smtClean="0"/>
              <a:t>log n			log</a:t>
            </a:r>
            <a:r>
              <a:rPr lang="en-US" baseline="-25000" dirty="0" smtClean="0"/>
              <a:t>2</a:t>
            </a:r>
            <a:r>
              <a:rPr lang="en-US" dirty="0" smtClean="0"/>
              <a:t> n	log</a:t>
            </a:r>
            <a:r>
              <a:rPr lang="en-US" baseline="-25000" dirty="0" smtClean="0"/>
              <a:t>10</a:t>
            </a:r>
            <a:r>
              <a:rPr lang="en-US" dirty="0" smtClean="0"/>
              <a:t> n</a:t>
            </a:r>
          </a:p>
          <a:p>
            <a:pPr marL="365760" indent="-283464" eaLnBrk="1" fontAlgn="auto" hangingPunct="1">
              <a:spcAft>
                <a:spcPts val="0"/>
              </a:spcAft>
              <a:buFont typeface="Wingdings 2"/>
              <a:buChar char=""/>
              <a:defRPr/>
            </a:pPr>
            <a:r>
              <a:rPr lang="en-US" dirty="0" smtClean="0"/>
              <a:t>n</a:t>
            </a:r>
          </a:p>
          <a:p>
            <a:pPr marL="365760" indent="-283464" eaLnBrk="1" fontAlgn="auto" hangingPunct="1">
              <a:spcAft>
                <a:spcPts val="0"/>
              </a:spcAft>
              <a:buFont typeface="Wingdings 2"/>
              <a:buChar char=""/>
              <a:defRPr/>
            </a:pPr>
            <a:r>
              <a:rPr lang="en-US" dirty="0" smtClean="0"/>
              <a:t>n*log n</a:t>
            </a:r>
          </a:p>
          <a:p>
            <a:pPr marL="365760" indent="-283464" eaLnBrk="1" fontAlgn="auto" hangingPunct="1">
              <a:spcAft>
                <a:spcPts val="0"/>
              </a:spcAft>
              <a:buFont typeface="Wingdings 2"/>
              <a:buChar char=""/>
              <a:defRPr/>
            </a:pPr>
            <a:r>
              <a:rPr lang="en-US" dirty="0" smtClean="0"/>
              <a:t>n</a:t>
            </a:r>
            <a:r>
              <a:rPr lang="en-US" baseline="30000" dirty="0" smtClean="0"/>
              <a:t>2</a:t>
            </a:r>
            <a:endParaRPr lang="en-US" dirty="0" smtClean="0"/>
          </a:p>
          <a:p>
            <a:pPr marL="365760" indent="-283464" eaLnBrk="1" fontAlgn="auto" hangingPunct="1">
              <a:spcAft>
                <a:spcPts val="0"/>
              </a:spcAft>
              <a:buFont typeface="Wingdings 2"/>
              <a:buChar char=""/>
              <a:defRPr/>
            </a:pPr>
            <a:r>
              <a:rPr lang="en-US" dirty="0" smtClean="0"/>
              <a:t>n</a:t>
            </a:r>
            <a:r>
              <a:rPr lang="en-US" baseline="30000" dirty="0" smtClean="0"/>
              <a:t>3</a:t>
            </a:r>
            <a:endParaRPr lang="en-US" dirty="0" smtClean="0"/>
          </a:p>
          <a:p>
            <a:pPr marL="365760" indent="-283464" eaLnBrk="1" fontAlgn="auto" hangingPunct="1">
              <a:spcAft>
                <a:spcPts val="0"/>
              </a:spcAft>
              <a:buFont typeface="Wingdings 2"/>
              <a:buChar char=""/>
              <a:defRPr/>
            </a:pPr>
            <a:r>
              <a:rPr lang="en-US" dirty="0" smtClean="0"/>
              <a:t>2</a:t>
            </a:r>
            <a:r>
              <a:rPr lang="en-US" baseline="30000" dirty="0" smtClean="0"/>
              <a:t>n</a:t>
            </a:r>
            <a:endParaRPr lang="bg-BG" baseline="30000" dirty="0" smtClean="0"/>
          </a:p>
          <a:p>
            <a:pPr marL="365760" indent="-283464" eaLnBrk="1" fontAlgn="auto" hangingPunct="1">
              <a:spcAft>
                <a:spcPts val="0"/>
              </a:spcAft>
              <a:buFont typeface="Wingdings 2"/>
              <a:buChar char=""/>
              <a:defRPr/>
            </a:pPr>
            <a:r>
              <a:rPr lang="en-US" dirty="0" smtClean="0"/>
              <a:t>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fontScale="90000"/>
          </a:bodyPr>
          <a:lstStyle/>
          <a:p>
            <a:pPr eaLnBrk="1" fontAlgn="auto" hangingPunct="1">
              <a:spcAft>
                <a:spcPts val="0"/>
              </a:spcAft>
              <a:defRPr/>
            </a:pPr>
            <a:r>
              <a:rPr lang="bg-BG" sz="3600" smtClean="0">
                <a:solidFill>
                  <a:schemeClr val="tx2">
                    <a:satMod val="130000"/>
                  </a:schemeClr>
                </a:solidFill>
              </a:rPr>
              <a:t>Основни правила за определяне на О(</a:t>
            </a:r>
            <a:r>
              <a:rPr lang="en-US" sz="3600" smtClean="0">
                <a:solidFill>
                  <a:schemeClr val="tx2">
                    <a:satMod val="130000"/>
                  </a:schemeClr>
                </a:solidFill>
              </a:rPr>
              <a:t>f(n))</a:t>
            </a:r>
          </a:p>
        </p:txBody>
      </p:sp>
      <p:sp>
        <p:nvSpPr>
          <p:cNvPr id="46083" name="Rectangle 3"/>
          <p:cNvSpPr>
            <a:spLocks noGrp="1" noChangeArrowheads="1"/>
          </p:cNvSpPr>
          <p:nvPr>
            <p:ph idx="1"/>
          </p:nvPr>
        </p:nvSpPr>
        <p:spPr/>
        <p:txBody>
          <a:bodyPr/>
          <a:lstStyle/>
          <a:p>
            <a:pPr eaLnBrk="1" hangingPunct="1"/>
            <a:r>
              <a:rPr lang="bg-BG" sz="2400" dirty="0" smtClean="0"/>
              <a:t>Всеки прост оператор, който не зависи от </a:t>
            </a:r>
            <a:r>
              <a:rPr lang="en-US" sz="2400" dirty="0" smtClean="0"/>
              <a:t>n, </a:t>
            </a:r>
            <a:r>
              <a:rPr lang="bg-BG" sz="2400" dirty="0" smtClean="0"/>
              <a:t>има сложност </a:t>
            </a:r>
            <a:r>
              <a:rPr lang="bg-BG" sz="2400" b="1" dirty="0" smtClean="0"/>
              <a:t>1</a:t>
            </a:r>
          </a:p>
          <a:p>
            <a:pPr eaLnBrk="1" hangingPunct="1"/>
            <a:r>
              <a:rPr lang="bg-BG" sz="2400" dirty="0" smtClean="0"/>
              <a:t>Два последователни програмни фрагмента с оценки на сложност О(</a:t>
            </a:r>
            <a:r>
              <a:rPr lang="en-US" sz="2400" dirty="0" smtClean="0"/>
              <a:t>f</a:t>
            </a:r>
            <a:r>
              <a:rPr lang="bg-BG" sz="2400" baseline="-25000" dirty="0" smtClean="0"/>
              <a:t>1</a:t>
            </a:r>
            <a:r>
              <a:rPr lang="en-US" sz="2400" dirty="0" smtClean="0"/>
              <a:t>(n))</a:t>
            </a:r>
            <a:r>
              <a:rPr lang="bg-BG" sz="2400" dirty="0" smtClean="0"/>
              <a:t> и О(</a:t>
            </a:r>
            <a:r>
              <a:rPr lang="en-US" sz="2400" dirty="0" smtClean="0"/>
              <a:t>f</a:t>
            </a:r>
            <a:r>
              <a:rPr lang="bg-BG" sz="2400" baseline="-25000" dirty="0" smtClean="0"/>
              <a:t>2</a:t>
            </a:r>
            <a:r>
              <a:rPr lang="en-US" sz="2400" dirty="0" smtClean="0"/>
              <a:t>(n))</a:t>
            </a:r>
            <a:r>
              <a:rPr lang="bg-BG" sz="2400" dirty="0" smtClean="0"/>
              <a:t> имат обща сложност </a:t>
            </a:r>
            <a:r>
              <a:rPr lang="bg-BG" sz="2400" b="1" dirty="0" smtClean="0"/>
              <a:t>О(</a:t>
            </a:r>
            <a:r>
              <a:rPr lang="en-US" sz="2400" b="1" dirty="0" smtClean="0"/>
              <a:t>max(f</a:t>
            </a:r>
            <a:r>
              <a:rPr lang="en-US" sz="2400" b="1" baseline="-25000" dirty="0" smtClean="0"/>
              <a:t>1</a:t>
            </a:r>
            <a:r>
              <a:rPr lang="en-US" sz="2400" b="1" dirty="0" smtClean="0"/>
              <a:t>(n), f</a:t>
            </a:r>
            <a:r>
              <a:rPr lang="bg-BG" sz="2400" b="1" baseline="-25000" dirty="0" smtClean="0"/>
              <a:t>2</a:t>
            </a:r>
            <a:r>
              <a:rPr lang="en-US" sz="2400" b="1" dirty="0" smtClean="0"/>
              <a:t>(n))</a:t>
            </a:r>
            <a:r>
              <a:rPr lang="bg-BG" sz="2400" b="1" dirty="0" smtClean="0"/>
              <a:t> </a:t>
            </a:r>
            <a:r>
              <a:rPr lang="en-US" sz="2400" b="1" dirty="0" smtClean="0"/>
              <a:t>)</a:t>
            </a:r>
          </a:p>
          <a:p>
            <a:pPr eaLnBrk="1" hangingPunct="1"/>
            <a:r>
              <a:rPr lang="bg-BG" sz="2400" dirty="0" smtClean="0"/>
              <a:t>Ако фрагмент със сложност О(</a:t>
            </a:r>
            <a:r>
              <a:rPr lang="en-US" sz="2400" dirty="0" smtClean="0"/>
              <a:t>f</a:t>
            </a:r>
            <a:r>
              <a:rPr lang="bg-BG" sz="2400" baseline="-25000" dirty="0" smtClean="0"/>
              <a:t>1</a:t>
            </a:r>
            <a:r>
              <a:rPr lang="en-US" sz="2400" dirty="0" smtClean="0"/>
              <a:t>(n)</a:t>
            </a:r>
            <a:r>
              <a:rPr lang="bg-BG" sz="2400" dirty="0" smtClean="0"/>
              <a:t>) е вложен в друг със сложност О(</a:t>
            </a:r>
            <a:r>
              <a:rPr lang="en-US" sz="2400" dirty="0" smtClean="0"/>
              <a:t>f</a:t>
            </a:r>
            <a:r>
              <a:rPr lang="bg-BG" sz="2400" baseline="-25000" dirty="0" smtClean="0"/>
              <a:t>2</a:t>
            </a:r>
            <a:r>
              <a:rPr lang="en-US" sz="2400" dirty="0" smtClean="0"/>
              <a:t>(n))</a:t>
            </a:r>
            <a:r>
              <a:rPr lang="bg-BG" sz="2400" dirty="0" smtClean="0"/>
              <a:t>, то общата им сложност е </a:t>
            </a:r>
            <a:r>
              <a:rPr lang="bg-BG" sz="2400" b="1" dirty="0" smtClean="0"/>
              <a:t>О(</a:t>
            </a:r>
            <a:r>
              <a:rPr lang="en-US" sz="2400" b="1" dirty="0" smtClean="0"/>
              <a:t>f</a:t>
            </a:r>
            <a:r>
              <a:rPr lang="en-US" sz="2400" b="1" baseline="-25000" dirty="0" smtClean="0"/>
              <a:t>1</a:t>
            </a:r>
            <a:r>
              <a:rPr lang="en-US" sz="2400" b="1" dirty="0" smtClean="0"/>
              <a:t>(n)</a:t>
            </a:r>
            <a:r>
              <a:rPr lang="bg-BG" sz="2400" b="1" dirty="0" smtClean="0"/>
              <a:t>*</a:t>
            </a:r>
            <a:r>
              <a:rPr lang="en-US" sz="2400" b="1" dirty="0" smtClean="0"/>
              <a:t>f</a:t>
            </a:r>
            <a:r>
              <a:rPr lang="bg-BG" sz="2400" b="1" baseline="-25000" dirty="0" smtClean="0"/>
              <a:t>2</a:t>
            </a:r>
            <a:r>
              <a:rPr lang="en-US" sz="2400" b="1" dirty="0" smtClean="0"/>
              <a:t>(n))</a:t>
            </a:r>
            <a:endParaRPr lang="bg-BG" sz="2400" b="1" dirty="0" smtClean="0"/>
          </a:p>
          <a:p>
            <a:pPr eaLnBrk="1" hangingPunct="1"/>
            <a:r>
              <a:rPr lang="bg-BG" sz="2400" dirty="0" smtClean="0"/>
              <a:t>Ако има К цикли, вложени един в друг, със сложност О(</a:t>
            </a:r>
            <a:r>
              <a:rPr lang="en-US" sz="2400" dirty="0" smtClean="0"/>
              <a:t>n)</a:t>
            </a:r>
            <a:r>
              <a:rPr lang="bg-BG" sz="2400" dirty="0" smtClean="0"/>
              <a:t> всеки, общата им оценка е </a:t>
            </a:r>
            <a:r>
              <a:rPr lang="bg-BG" sz="2400" b="1" dirty="0" smtClean="0"/>
              <a:t>О(</a:t>
            </a:r>
            <a:r>
              <a:rPr lang="en-US" sz="2400" b="1" dirty="0" err="1" smtClean="0"/>
              <a:t>n</a:t>
            </a:r>
            <a:r>
              <a:rPr lang="en-US" sz="2400" b="1" baseline="30000" dirty="0" err="1" smtClean="0"/>
              <a:t>k</a:t>
            </a:r>
            <a:r>
              <a:rPr lang="en-US" sz="2400" b="1" dirty="0" smtClean="0"/>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1403350" y="620713"/>
            <a:ext cx="6915150" cy="1143000"/>
          </a:xfrm>
        </p:spPr>
        <p:txBody>
          <a:bodyPr>
            <a:normAutofit fontScale="90000"/>
          </a:bodyPr>
          <a:lstStyle/>
          <a:p>
            <a:pPr eaLnBrk="1" fontAlgn="auto" hangingPunct="1">
              <a:spcAft>
                <a:spcPts val="0"/>
              </a:spcAft>
              <a:defRPr/>
            </a:pPr>
            <a:r>
              <a:rPr lang="bg-BG" sz="3600" smtClean="0">
                <a:solidFill>
                  <a:schemeClr val="tx2">
                    <a:satMod val="130000"/>
                  </a:schemeClr>
                </a:solidFill>
              </a:rPr>
              <a:t>МЕТОДИ  ЗА  РАЗРАБОТВАНЕ  НА  АЛГОРИТМИ</a:t>
            </a:r>
            <a:r>
              <a:rPr lang="en-US" sz="3600" smtClean="0">
                <a:solidFill>
                  <a:schemeClr val="tx2">
                    <a:satMod val="130000"/>
                  </a:schemeClr>
                </a:solidFill>
              </a:rPr>
              <a:t>  </a:t>
            </a:r>
            <a:r>
              <a:rPr lang="bg-BG" sz="3600" smtClean="0">
                <a:solidFill>
                  <a:schemeClr val="tx2">
                    <a:satMod val="130000"/>
                  </a:schemeClr>
                </a:solidFill>
              </a:rPr>
              <a:t>И  ПРОГРАМИ</a:t>
            </a:r>
            <a:endParaRPr lang="en-US" smtClean="0">
              <a:solidFill>
                <a:schemeClr val="tx2">
                  <a:satMod val="130000"/>
                </a:schemeClr>
              </a:solidFill>
            </a:endParaRPr>
          </a:p>
        </p:txBody>
      </p:sp>
      <p:sp>
        <p:nvSpPr>
          <p:cNvPr id="40963" name="Rectangle 3"/>
          <p:cNvSpPr>
            <a:spLocks noGrp="1" noChangeArrowheads="1"/>
          </p:cNvSpPr>
          <p:nvPr>
            <p:ph type="subTitle" idx="1"/>
          </p:nvPr>
        </p:nvSpPr>
        <p:spPr>
          <a:xfrm>
            <a:off x="1371600" y="1916113"/>
            <a:ext cx="7088188" cy="4608512"/>
          </a:xfrm>
        </p:spPr>
        <p:txBody>
          <a:bodyPr>
            <a:normAutofit/>
          </a:bodyPr>
          <a:lstStyle/>
          <a:p>
            <a:pPr eaLnBrk="1" fontAlgn="auto" hangingPunct="1">
              <a:spcAft>
                <a:spcPts val="0"/>
              </a:spcAft>
              <a:buFont typeface="Wingdings 2"/>
              <a:buNone/>
              <a:defRPr/>
            </a:pPr>
            <a:r>
              <a:rPr lang="bg-BG" smtClean="0"/>
              <a:t>- </a:t>
            </a:r>
            <a:r>
              <a:rPr lang="bg-BG" sz="3200" smtClean="0"/>
              <a:t>“поредово” програмиране</a:t>
            </a:r>
          </a:p>
          <a:p>
            <a:pPr eaLnBrk="1" fontAlgn="auto" hangingPunct="1">
              <a:spcAft>
                <a:spcPts val="0"/>
              </a:spcAft>
              <a:buFont typeface="Wingdings 2"/>
              <a:buNone/>
              <a:defRPr/>
            </a:pPr>
            <a:r>
              <a:rPr lang="bg-BG" sz="3200" smtClean="0"/>
              <a:t>-   използване на специални методи</a:t>
            </a:r>
          </a:p>
          <a:p>
            <a:pPr eaLnBrk="1" fontAlgn="auto" hangingPunct="1">
              <a:spcAft>
                <a:spcPts val="0"/>
              </a:spcAft>
              <a:buFont typeface="Wingdings 2"/>
              <a:buNone/>
              <a:defRPr/>
            </a:pPr>
            <a:r>
              <a:rPr lang="bg-BG" sz="3200" smtClean="0"/>
              <a:t>     и подходи с цел повишаване на </a:t>
            </a:r>
          </a:p>
          <a:p>
            <a:pPr eaLnBrk="1" fontAlgn="auto" hangingPunct="1">
              <a:spcAft>
                <a:spcPts val="0"/>
              </a:spcAft>
              <a:buFont typeface="Wingdings 2"/>
              <a:buNone/>
              <a:defRPr/>
            </a:pPr>
            <a:r>
              <a:rPr lang="bg-BG" sz="3200" smtClean="0"/>
              <a:t>     ефективността на процеса на</a:t>
            </a:r>
          </a:p>
          <a:p>
            <a:pPr eaLnBrk="1" fontAlgn="auto" hangingPunct="1">
              <a:spcAft>
                <a:spcPts val="0"/>
              </a:spcAft>
              <a:buFont typeface="Wingdings 2"/>
              <a:buNone/>
              <a:defRPr/>
            </a:pPr>
            <a:r>
              <a:rPr lang="bg-BG" sz="3200" smtClean="0"/>
              <a:t>     проектиране и реализация на </a:t>
            </a:r>
          </a:p>
          <a:p>
            <a:pPr eaLnBrk="1" fontAlgn="auto" hangingPunct="1">
              <a:spcAft>
                <a:spcPts val="0"/>
              </a:spcAft>
              <a:buFont typeface="Wingdings 2"/>
              <a:buNone/>
              <a:defRPr/>
            </a:pPr>
            <a:r>
              <a:rPr lang="bg-BG" sz="3200" smtClean="0"/>
              <a:t>     сложни проекти</a:t>
            </a:r>
          </a:p>
          <a:p>
            <a:pPr eaLnBrk="1" fontAlgn="auto" hangingPunct="1">
              <a:spcAft>
                <a:spcPts val="0"/>
              </a:spcAft>
              <a:buFont typeface="Wingdings 2"/>
              <a:buNone/>
              <a:defRPr/>
            </a:pPr>
            <a:endParaRPr 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fontScale="90000"/>
          </a:bodyPr>
          <a:lstStyle/>
          <a:p>
            <a:pPr eaLnBrk="1" fontAlgn="auto" hangingPunct="1">
              <a:spcAft>
                <a:spcPts val="0"/>
              </a:spcAft>
              <a:defRPr/>
            </a:pPr>
            <a:r>
              <a:rPr lang="bg-BG" sz="3600" smtClean="0">
                <a:solidFill>
                  <a:schemeClr val="tx2">
                    <a:satMod val="130000"/>
                  </a:schemeClr>
                </a:solidFill>
              </a:rPr>
              <a:t>МЕТОДИ  ЗА  РАЗРАБОТВАНЕ  НА  АЛГОРИТМИ</a:t>
            </a:r>
            <a:r>
              <a:rPr lang="en-US" sz="3600" smtClean="0">
                <a:solidFill>
                  <a:schemeClr val="tx2">
                    <a:satMod val="130000"/>
                  </a:schemeClr>
                </a:solidFill>
              </a:rPr>
              <a:t>  </a:t>
            </a:r>
            <a:r>
              <a:rPr lang="bg-BG" sz="3600" smtClean="0">
                <a:solidFill>
                  <a:schemeClr val="tx2">
                    <a:satMod val="130000"/>
                  </a:schemeClr>
                </a:solidFill>
              </a:rPr>
              <a:t>И  ПРОГРАМИ</a:t>
            </a:r>
            <a:endParaRPr lang="en-US" sz="3600" smtClean="0">
              <a:solidFill>
                <a:schemeClr val="tx2">
                  <a:satMod val="130000"/>
                </a:schemeClr>
              </a:solidFill>
            </a:endParaRPr>
          </a:p>
        </p:txBody>
      </p:sp>
      <p:sp>
        <p:nvSpPr>
          <p:cNvPr id="48131" name="Rectangle 3"/>
          <p:cNvSpPr>
            <a:spLocks noGrp="1" noChangeArrowheads="1"/>
          </p:cNvSpPr>
          <p:nvPr>
            <p:ph idx="1"/>
          </p:nvPr>
        </p:nvSpPr>
        <p:spPr/>
        <p:txBody>
          <a:bodyPr/>
          <a:lstStyle/>
          <a:p>
            <a:pPr eaLnBrk="1" hangingPunct="1"/>
            <a:r>
              <a:rPr lang="bg-BG" dirty="0" smtClean="0"/>
              <a:t>Структурно програмиране</a:t>
            </a:r>
          </a:p>
          <a:p>
            <a:pPr eaLnBrk="1" hangingPunct="1"/>
            <a:r>
              <a:rPr lang="bg-BG" dirty="0" smtClean="0"/>
              <a:t>Обектно-ориентирано програмиране</a:t>
            </a:r>
          </a:p>
          <a:p>
            <a:pPr eaLnBrk="1" hangingPunct="1"/>
            <a:r>
              <a:rPr lang="bg-BG" dirty="0" smtClean="0"/>
              <a:t>Метод на частните цели</a:t>
            </a:r>
          </a:p>
          <a:p>
            <a:pPr eaLnBrk="1" hangingPunct="1"/>
            <a:r>
              <a:rPr lang="bg-BG" dirty="0" smtClean="0"/>
              <a:t>Метод “Разделяй и владей”</a:t>
            </a:r>
          </a:p>
          <a:p>
            <a:pPr eaLnBrk="1" hangingPunct="1"/>
            <a:r>
              <a:rPr lang="bg-BG" dirty="0" smtClean="0"/>
              <a:t>Метод “Връщане назад” (обратно проследяване или </a:t>
            </a:r>
            <a:r>
              <a:rPr lang="en-US" dirty="0" smtClean="0"/>
              <a:t>backtracking)</a:t>
            </a:r>
          </a:p>
          <a:p>
            <a:pPr eaLnBrk="1" hangingPunct="1"/>
            <a:r>
              <a:rPr lang="bg-BG" dirty="0" smtClean="0"/>
              <a:t>Евристични алгоритми</a:t>
            </a:r>
          </a:p>
          <a:p>
            <a:pPr eaLnBrk="1" hangingPunct="1"/>
            <a:r>
              <a:rPr lang="bg-BG" dirty="0" smtClean="0"/>
              <a:t>Рекурсия и други</a:t>
            </a:r>
            <a:endParaRPr 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a:xfrm>
            <a:off x="1187450" y="620713"/>
            <a:ext cx="7705725" cy="5791200"/>
          </a:xfrm>
        </p:spPr>
        <p:txBody>
          <a:bodyPr/>
          <a:lstStyle/>
          <a:p>
            <a:pPr eaLnBrk="1" fontAlgn="auto" hangingPunct="1">
              <a:spcAft>
                <a:spcPts val="0"/>
              </a:spcAft>
              <a:defRPr/>
            </a:pPr>
            <a:r>
              <a:rPr lang="bg-BG" dirty="0" smtClean="0">
                <a:solidFill>
                  <a:schemeClr val="tx2">
                    <a:satMod val="130000"/>
                  </a:schemeClr>
                </a:solidFill>
              </a:rPr>
              <a:t>    Структурно програмиране</a:t>
            </a:r>
            <a:br>
              <a:rPr lang="bg-BG" dirty="0" smtClean="0">
                <a:solidFill>
                  <a:schemeClr val="tx2">
                    <a:satMod val="130000"/>
                  </a:schemeClr>
                </a:solidFill>
              </a:rPr>
            </a:br>
            <a:r>
              <a:rPr lang="en-US" sz="2000" dirty="0" smtClean="0">
                <a:solidFill>
                  <a:schemeClr val="tx2">
                    <a:satMod val="130000"/>
                  </a:schemeClr>
                </a:solidFill>
              </a:rPr>
              <a:t/>
            </a:r>
            <a:br>
              <a:rPr lang="en-US" sz="2000" dirty="0" smtClean="0">
                <a:solidFill>
                  <a:schemeClr val="tx2">
                    <a:satMod val="130000"/>
                  </a:schemeClr>
                </a:solidFill>
              </a:rPr>
            </a:br>
            <a:r>
              <a:rPr lang="bg-BG" sz="2800" dirty="0" smtClean="0">
                <a:solidFill>
                  <a:schemeClr val="tx2">
                    <a:satMod val="130000"/>
                  </a:schemeClr>
                </a:solidFill>
              </a:rPr>
              <a:t>Програмиране без </a:t>
            </a:r>
            <a:r>
              <a:rPr lang="en-US" sz="2800" dirty="0" err="1" smtClean="0">
                <a:solidFill>
                  <a:schemeClr val="tx1"/>
                </a:solidFill>
              </a:rPr>
              <a:t>goto</a:t>
            </a:r>
            <a:r>
              <a:rPr lang="en-US" sz="2800" dirty="0" smtClean="0">
                <a:solidFill>
                  <a:schemeClr val="accent2"/>
                </a:solidFill>
              </a:rPr>
              <a:t/>
            </a:r>
            <a:br>
              <a:rPr lang="en-US" sz="2800" dirty="0" smtClean="0">
                <a:solidFill>
                  <a:schemeClr val="accent2"/>
                </a:solidFill>
              </a:rPr>
            </a:br>
            <a:r>
              <a:rPr lang="en-US" sz="2800" dirty="0" smtClean="0">
                <a:solidFill>
                  <a:schemeClr val="tx2">
                    <a:satMod val="130000"/>
                  </a:schemeClr>
                </a:solidFill>
              </a:rPr>
              <a:t/>
            </a:r>
            <a:br>
              <a:rPr lang="en-US" sz="2800" dirty="0" smtClean="0">
                <a:solidFill>
                  <a:schemeClr val="tx2">
                    <a:satMod val="130000"/>
                  </a:schemeClr>
                </a:solidFill>
              </a:rPr>
            </a:br>
            <a:r>
              <a:rPr lang="bg-BG" sz="2800" dirty="0" smtClean="0">
                <a:solidFill>
                  <a:schemeClr val="tx2">
                    <a:satMod val="130000"/>
                  </a:schemeClr>
                </a:solidFill>
              </a:rPr>
              <a:t>Произволно сложна програма може да бъде реализирана при използване на следния минимален базис:</a:t>
            </a:r>
            <a:br>
              <a:rPr lang="bg-BG" sz="2800" dirty="0" smtClean="0">
                <a:solidFill>
                  <a:schemeClr val="tx2">
                    <a:satMod val="130000"/>
                  </a:schemeClr>
                </a:solidFill>
              </a:rPr>
            </a:br>
            <a:r>
              <a:rPr lang="bg-BG" sz="2800" dirty="0" smtClean="0">
                <a:solidFill>
                  <a:schemeClr val="tx2">
                    <a:satMod val="130000"/>
                  </a:schemeClr>
                </a:solidFill>
              </a:rPr>
              <a:t>- последователност</a:t>
            </a:r>
            <a:br>
              <a:rPr lang="bg-BG" sz="2800" dirty="0" smtClean="0">
                <a:solidFill>
                  <a:schemeClr val="tx2">
                    <a:satMod val="130000"/>
                  </a:schemeClr>
                </a:solidFill>
              </a:rPr>
            </a:br>
            <a:r>
              <a:rPr lang="bg-BG" sz="2800" dirty="0" smtClean="0">
                <a:solidFill>
                  <a:schemeClr val="tx2">
                    <a:satMod val="130000"/>
                  </a:schemeClr>
                </a:solidFill>
              </a:rPr>
              <a:t>- </a:t>
            </a:r>
            <a:r>
              <a:rPr lang="en-US" sz="2800" dirty="0" smtClean="0">
                <a:solidFill>
                  <a:schemeClr val="tx1"/>
                </a:solidFill>
              </a:rPr>
              <a:t>while</a:t>
            </a:r>
            <a:r>
              <a:rPr lang="en-US" sz="2800" dirty="0" smtClean="0">
                <a:solidFill>
                  <a:schemeClr val="tx2">
                    <a:satMod val="130000"/>
                  </a:schemeClr>
                </a:solidFill>
              </a:rPr>
              <a:t> </a:t>
            </a:r>
            <a:r>
              <a:rPr lang="bg-BG" sz="2800" dirty="0" smtClean="0">
                <a:solidFill>
                  <a:schemeClr val="tx2">
                    <a:satMod val="130000"/>
                  </a:schemeClr>
                </a:solidFill>
              </a:rPr>
              <a:t>(итеративна структура)</a:t>
            </a:r>
            <a:br>
              <a:rPr lang="bg-BG" sz="2800" dirty="0" smtClean="0">
                <a:solidFill>
                  <a:schemeClr val="tx2">
                    <a:satMod val="130000"/>
                  </a:schemeClr>
                </a:solidFill>
              </a:rPr>
            </a:br>
            <a:r>
              <a:rPr lang="bg-BG" sz="2800" dirty="0" smtClean="0">
                <a:solidFill>
                  <a:schemeClr val="tx2">
                    <a:satMod val="130000"/>
                  </a:schemeClr>
                </a:solidFill>
              </a:rPr>
              <a:t>- </a:t>
            </a:r>
            <a:r>
              <a:rPr lang="en-US" sz="2800" dirty="0" smtClean="0">
                <a:solidFill>
                  <a:schemeClr val="tx1"/>
                </a:solidFill>
              </a:rPr>
              <a:t>case</a:t>
            </a:r>
            <a:r>
              <a:rPr lang="en-US" sz="2800" dirty="0" smtClean="0">
                <a:solidFill>
                  <a:schemeClr val="tx2">
                    <a:satMod val="130000"/>
                  </a:schemeClr>
                </a:solidFill>
              </a:rPr>
              <a:t> </a:t>
            </a:r>
            <a:r>
              <a:rPr lang="bg-BG" sz="2800" dirty="0" smtClean="0">
                <a:solidFill>
                  <a:schemeClr val="tx2">
                    <a:satMod val="130000"/>
                  </a:schemeClr>
                </a:solidFill>
              </a:rPr>
              <a:t>(избор)</a:t>
            </a:r>
            <a:br>
              <a:rPr lang="bg-BG" sz="2800" dirty="0" smtClean="0">
                <a:solidFill>
                  <a:schemeClr val="tx2">
                    <a:satMod val="130000"/>
                  </a:schemeClr>
                </a:solidFill>
              </a:rPr>
            </a:br>
            <a:r>
              <a:rPr lang="bg-BG" sz="2800" dirty="0" smtClean="0">
                <a:solidFill>
                  <a:schemeClr val="tx2">
                    <a:satMod val="130000"/>
                  </a:schemeClr>
                </a:solidFill>
              </a:rPr>
              <a:t/>
            </a:r>
            <a:br>
              <a:rPr lang="bg-BG" sz="2800" dirty="0" smtClean="0">
                <a:solidFill>
                  <a:schemeClr val="tx2">
                    <a:satMod val="130000"/>
                  </a:schemeClr>
                </a:solidFill>
              </a:rPr>
            </a:br>
            <a:r>
              <a:rPr lang="bg-BG" sz="2800" dirty="0" smtClean="0">
                <a:solidFill>
                  <a:schemeClr val="tx2">
                    <a:satMod val="130000"/>
                  </a:schemeClr>
                </a:solidFill>
              </a:rPr>
              <a:t>Всяка неструктурирана програма може да бъде структурирана допълнително.</a:t>
            </a:r>
            <a:endParaRPr lang="en-US" sz="2800" dirty="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187450" y="549275"/>
            <a:ext cx="7791450" cy="5867400"/>
          </a:xfrm>
        </p:spPr>
        <p:txBody>
          <a:bodyPr>
            <a:normAutofit fontScale="90000"/>
          </a:bodyPr>
          <a:lstStyle/>
          <a:p>
            <a:pPr eaLnBrk="1" fontAlgn="auto" hangingPunct="1">
              <a:lnSpc>
                <a:spcPct val="130000"/>
              </a:lnSpc>
              <a:spcAft>
                <a:spcPts val="0"/>
              </a:spcAft>
              <a:defRPr/>
            </a:pPr>
            <a:r>
              <a:rPr lang="bg-BG" sz="4000" smtClean="0">
                <a:solidFill>
                  <a:schemeClr val="tx2">
                    <a:satMod val="130000"/>
                  </a:schemeClr>
                </a:solidFill>
              </a:rPr>
              <a:t>Цели на структурното програмиране:</a:t>
            </a:r>
            <a:br>
              <a:rPr lang="bg-BG" sz="4000" smtClean="0">
                <a:solidFill>
                  <a:schemeClr val="tx2">
                    <a:satMod val="130000"/>
                  </a:schemeClr>
                </a:solidFill>
              </a:rPr>
            </a:br>
            <a:r>
              <a:rPr lang="bg-BG" sz="4000" smtClean="0">
                <a:solidFill>
                  <a:schemeClr val="tx2">
                    <a:satMod val="130000"/>
                  </a:schemeClr>
                </a:solidFill>
              </a:rPr>
              <a:t/>
            </a:r>
            <a:br>
              <a:rPr lang="bg-BG" sz="4000" smtClean="0">
                <a:solidFill>
                  <a:schemeClr val="tx2">
                    <a:satMod val="130000"/>
                  </a:schemeClr>
                </a:solidFill>
              </a:rPr>
            </a:br>
            <a:r>
              <a:rPr lang="bg-BG" sz="2800" smtClean="0">
                <a:solidFill>
                  <a:schemeClr val="tx2">
                    <a:satMod val="130000"/>
                  </a:schemeClr>
                </a:solidFill>
              </a:rPr>
              <a:t>1. </a:t>
            </a:r>
            <a:r>
              <a:rPr lang="bg-BG" sz="3200" smtClean="0">
                <a:solidFill>
                  <a:schemeClr val="tx2">
                    <a:satMod val="130000"/>
                  </a:schemeClr>
                </a:solidFill>
              </a:rPr>
              <a:t>Да се осигури дисциплина в програмирането</a:t>
            </a:r>
            <a:br>
              <a:rPr lang="bg-BG" sz="3200" smtClean="0">
                <a:solidFill>
                  <a:schemeClr val="tx2">
                    <a:satMod val="130000"/>
                  </a:schemeClr>
                </a:solidFill>
              </a:rPr>
            </a:br>
            <a:r>
              <a:rPr lang="bg-BG" sz="3200" smtClean="0">
                <a:solidFill>
                  <a:schemeClr val="tx2">
                    <a:satMod val="130000"/>
                  </a:schemeClr>
                </a:solidFill>
              </a:rPr>
              <a:t>2. Да се подобри читаемостта на програмите</a:t>
            </a:r>
            <a:br>
              <a:rPr lang="bg-BG" sz="3200" smtClean="0">
                <a:solidFill>
                  <a:schemeClr val="tx2">
                    <a:satMod val="130000"/>
                  </a:schemeClr>
                </a:solidFill>
              </a:rPr>
            </a:br>
            <a:r>
              <a:rPr lang="bg-BG" sz="3200" smtClean="0">
                <a:solidFill>
                  <a:schemeClr val="tx2">
                    <a:satMod val="130000"/>
                  </a:schemeClr>
                </a:solidFill>
              </a:rPr>
              <a:t>3. Да се повиши ефективността на програмите</a:t>
            </a:r>
            <a:br>
              <a:rPr lang="bg-BG" sz="3200" smtClean="0">
                <a:solidFill>
                  <a:schemeClr val="tx2">
                    <a:satMod val="130000"/>
                  </a:schemeClr>
                </a:solidFill>
              </a:rPr>
            </a:br>
            <a:r>
              <a:rPr lang="bg-BG" sz="3200" smtClean="0">
                <a:solidFill>
                  <a:schemeClr val="tx2">
                    <a:satMod val="130000"/>
                  </a:schemeClr>
                </a:solidFill>
              </a:rPr>
              <a:t>4. Да се повиши надеждността на програмите</a:t>
            </a:r>
            <a:br>
              <a:rPr lang="bg-BG" sz="3200" smtClean="0">
                <a:solidFill>
                  <a:schemeClr val="tx2">
                    <a:satMod val="130000"/>
                  </a:schemeClr>
                </a:solidFill>
              </a:rPr>
            </a:br>
            <a:r>
              <a:rPr lang="bg-BG" sz="3200" smtClean="0">
                <a:solidFill>
                  <a:schemeClr val="tx2">
                    <a:satMod val="130000"/>
                  </a:schemeClr>
                </a:solidFill>
              </a:rPr>
              <a:t>5. Да се намали времетраенето и стойността на </a:t>
            </a:r>
            <a:br>
              <a:rPr lang="bg-BG" sz="3200" smtClean="0">
                <a:solidFill>
                  <a:schemeClr val="tx2">
                    <a:satMod val="130000"/>
                  </a:schemeClr>
                </a:solidFill>
              </a:rPr>
            </a:br>
            <a:r>
              <a:rPr lang="bg-BG" sz="3200" smtClean="0">
                <a:solidFill>
                  <a:schemeClr val="tx2">
                    <a:satMod val="130000"/>
                  </a:schemeClr>
                </a:solidFill>
              </a:rPr>
              <a:t>    разработването на програмите</a:t>
            </a:r>
            <a:r>
              <a:rPr lang="bg-BG" sz="2800" smtClean="0">
                <a:solidFill>
                  <a:schemeClr val="tx2">
                    <a:satMod val="130000"/>
                  </a:schemeClr>
                </a:solidFill>
              </a:rPr>
              <a:t/>
            </a:r>
            <a:br>
              <a:rPr lang="bg-BG" sz="2800" smtClean="0">
                <a:solidFill>
                  <a:schemeClr val="tx2">
                    <a:satMod val="130000"/>
                  </a:schemeClr>
                </a:solidFill>
              </a:rPr>
            </a:br>
            <a:endParaRPr lang="en-US" sz="28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p:cNvSpPr>
            <a:spLocks noGrp="1" noChangeArrowheads="1"/>
          </p:cNvSpPr>
          <p:nvPr>
            <p:ph type="title"/>
          </p:nvPr>
        </p:nvSpPr>
        <p:spPr>
          <a:xfrm>
            <a:off x="1187450" y="620713"/>
            <a:ext cx="7705725" cy="5715000"/>
          </a:xfrm>
        </p:spPr>
        <p:txBody>
          <a:bodyPr/>
          <a:lstStyle/>
          <a:p>
            <a:pPr eaLnBrk="1" fontAlgn="auto" hangingPunct="1">
              <a:lnSpc>
                <a:spcPct val="120000"/>
              </a:lnSpc>
              <a:spcAft>
                <a:spcPts val="0"/>
              </a:spcAft>
              <a:defRPr/>
            </a:pPr>
            <a:r>
              <a:rPr lang="bg-BG" sz="4000" smtClean="0">
                <a:solidFill>
                  <a:schemeClr val="tx2">
                    <a:satMod val="130000"/>
                  </a:schemeClr>
                </a:solidFill>
              </a:rPr>
              <a:t>Основни принципи на структурното   програмиране:</a:t>
            </a:r>
            <a:br>
              <a:rPr lang="bg-BG" sz="4000" smtClean="0">
                <a:solidFill>
                  <a:schemeClr val="tx2">
                    <a:satMod val="130000"/>
                  </a:schemeClr>
                </a:solidFill>
              </a:rPr>
            </a:br>
            <a:r>
              <a:rPr lang="bg-BG" sz="4000" smtClean="0">
                <a:solidFill>
                  <a:schemeClr val="tx2">
                    <a:satMod val="130000"/>
                  </a:schemeClr>
                </a:solidFill>
              </a:rPr>
              <a:t/>
            </a:r>
            <a:br>
              <a:rPr lang="bg-BG" sz="4000" smtClean="0">
                <a:solidFill>
                  <a:schemeClr val="tx2">
                    <a:satMod val="130000"/>
                  </a:schemeClr>
                </a:solidFill>
              </a:rPr>
            </a:br>
            <a:r>
              <a:rPr lang="bg-BG" sz="3200" smtClean="0">
                <a:solidFill>
                  <a:schemeClr val="tx2">
                    <a:satMod val="130000"/>
                  </a:schemeClr>
                </a:solidFill>
              </a:rPr>
              <a:t>1. Принцип на абстракциите</a:t>
            </a:r>
            <a:br>
              <a:rPr lang="bg-BG" sz="3200" smtClean="0">
                <a:solidFill>
                  <a:schemeClr val="tx2">
                    <a:satMod val="130000"/>
                  </a:schemeClr>
                </a:solidFill>
              </a:rPr>
            </a:br>
            <a:r>
              <a:rPr lang="bg-BG" sz="3200" smtClean="0">
                <a:solidFill>
                  <a:schemeClr val="tx2">
                    <a:satMod val="130000"/>
                  </a:schemeClr>
                </a:solidFill>
              </a:rPr>
              <a:t>2. Принцип на формалността</a:t>
            </a:r>
            <a:br>
              <a:rPr lang="bg-BG" sz="3200" smtClean="0">
                <a:solidFill>
                  <a:schemeClr val="tx2">
                    <a:satMod val="130000"/>
                  </a:schemeClr>
                </a:solidFill>
              </a:rPr>
            </a:br>
            <a:r>
              <a:rPr lang="bg-BG" sz="3200" smtClean="0">
                <a:solidFill>
                  <a:schemeClr val="tx2">
                    <a:satMod val="130000"/>
                  </a:schemeClr>
                </a:solidFill>
              </a:rPr>
              <a:t>3. Принцип “Разделяй и владей”</a:t>
            </a:r>
            <a:br>
              <a:rPr lang="bg-BG" sz="3200" smtClean="0">
                <a:solidFill>
                  <a:schemeClr val="tx2">
                    <a:satMod val="130000"/>
                  </a:schemeClr>
                </a:solidFill>
              </a:rPr>
            </a:br>
            <a:r>
              <a:rPr lang="bg-BG" sz="3200" smtClean="0">
                <a:solidFill>
                  <a:schemeClr val="tx2">
                    <a:satMod val="130000"/>
                  </a:schemeClr>
                </a:solidFill>
              </a:rPr>
              <a:t>4. Принцип на йерархичното подреждане</a:t>
            </a:r>
            <a:endParaRPr lang="en-US" sz="32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6"/>
          <p:cNvSpPr>
            <a:spLocks noGrp="1" noChangeArrowheads="1"/>
          </p:cNvSpPr>
          <p:nvPr>
            <p:ph type="title"/>
          </p:nvPr>
        </p:nvSpPr>
        <p:spPr>
          <a:xfrm>
            <a:off x="1116013" y="476250"/>
            <a:ext cx="7723187" cy="6000750"/>
          </a:xfrm>
        </p:spPr>
        <p:txBody>
          <a:bodyPr>
            <a:normAutofit fontScale="90000"/>
          </a:bodyPr>
          <a:lstStyle/>
          <a:p>
            <a:pPr eaLnBrk="1" fontAlgn="auto" hangingPunct="1">
              <a:spcAft>
                <a:spcPts val="0"/>
              </a:spcAft>
              <a:defRPr/>
            </a:pPr>
            <a:r>
              <a:rPr lang="bg-BG" sz="4000" smtClean="0">
                <a:solidFill>
                  <a:schemeClr val="tx2">
                    <a:satMod val="130000"/>
                  </a:schemeClr>
                </a:solidFill>
              </a:rPr>
              <a:t>Търсене с връщане назад (</a:t>
            </a:r>
            <a:r>
              <a:rPr lang="en-US" sz="4000" smtClean="0">
                <a:solidFill>
                  <a:schemeClr val="tx2">
                    <a:satMod val="130000"/>
                  </a:schemeClr>
                </a:solidFill>
              </a:rPr>
              <a:t>backtracking)</a:t>
            </a:r>
            <a:r>
              <a:rPr lang="en-US" smtClean="0">
                <a:solidFill>
                  <a:schemeClr val="tx2">
                    <a:satMod val="130000"/>
                  </a:schemeClr>
                </a:solidFill>
              </a:rPr>
              <a:t/>
            </a:r>
            <a:br>
              <a:rPr lang="en-US" smtClean="0">
                <a:solidFill>
                  <a:schemeClr val="tx2">
                    <a:satMod val="130000"/>
                  </a:schemeClr>
                </a:solidFill>
              </a:rPr>
            </a:br>
            <a:r>
              <a:rPr lang="bg-BG" sz="800" smtClean="0">
                <a:solidFill>
                  <a:schemeClr val="tx2">
                    <a:satMod val="130000"/>
                  </a:schemeClr>
                </a:solidFill>
              </a:rPr>
              <a:t/>
            </a:r>
            <a:br>
              <a:rPr lang="bg-BG" sz="800" smtClean="0">
                <a:solidFill>
                  <a:schemeClr val="tx2">
                    <a:satMod val="130000"/>
                  </a:schemeClr>
                </a:solidFill>
              </a:rPr>
            </a:br>
            <a:r>
              <a:rPr lang="bg-BG" sz="2400" smtClean="0">
                <a:solidFill>
                  <a:schemeClr val="tx2">
                    <a:satMod val="130000"/>
                  </a:schemeClr>
                </a:solidFill>
              </a:rPr>
              <a:t>Започва с с целта или решението и се предприема движение в обратната посока – к началната постановка на задачата. След това пак от постановката към решението и т. н.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u="sng" smtClean="0">
                <a:solidFill>
                  <a:schemeClr val="tx2">
                    <a:satMod val="130000"/>
                  </a:schemeClr>
                </a:solidFill>
              </a:rPr>
              <a:t>Задача за джипа</a:t>
            </a:r>
            <a:r>
              <a:rPr lang="bg-BG" sz="2400" smtClean="0">
                <a:solidFill>
                  <a:schemeClr val="tx2">
                    <a:satMod val="130000"/>
                  </a:schemeClr>
                </a:solidFill>
              </a:rPr>
              <a:t>:</a:t>
            </a:r>
            <a:br>
              <a:rPr lang="bg-BG" sz="2400" smtClean="0">
                <a:solidFill>
                  <a:schemeClr val="tx2">
                    <a:satMod val="130000"/>
                  </a:schemeClr>
                </a:solidFill>
              </a:rPr>
            </a:br>
            <a:r>
              <a:rPr lang="bg-BG" sz="2400" smtClean="0">
                <a:solidFill>
                  <a:schemeClr val="tx2">
                    <a:satMod val="130000"/>
                  </a:schemeClr>
                </a:solidFill>
              </a:rPr>
              <a:t>Да се пресече пустиня с дължина 1000 мили с </a:t>
            </a:r>
            <a:r>
              <a:rPr lang="en-US" sz="2400" smtClean="0">
                <a:solidFill>
                  <a:schemeClr val="tx2">
                    <a:satMod val="130000"/>
                  </a:schemeClr>
                </a:solidFill>
              </a:rPr>
              <a:t>MIN</a:t>
            </a:r>
            <a:r>
              <a:rPr lang="bg-BG" sz="2400" smtClean="0">
                <a:solidFill>
                  <a:schemeClr val="tx2">
                    <a:satMod val="130000"/>
                  </a:schemeClr>
                </a:solidFill>
              </a:rPr>
              <a:t> разход на гориво.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Обемът на резервоара – 500 л, разходът на гориво е 1 л на 1 миля (за улесняване на сметките).</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В началния пункт има неограничени количества гориво, в пустинята – няма.</a:t>
            </a:r>
            <a:endParaRPr lang="en-US" sz="2400" smtClean="0">
              <a:solidFill>
                <a:schemeClr val="tx2">
                  <a:satMod val="130000"/>
                </a:schemeClr>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p:cNvSpPr>
            <a:spLocks noGrp="1" noChangeArrowheads="1"/>
          </p:cNvSpPr>
          <p:nvPr>
            <p:ph type="title"/>
          </p:nvPr>
        </p:nvSpPr>
        <p:spPr>
          <a:xfrm>
            <a:off x="1042988" y="609600"/>
            <a:ext cx="7850187" cy="5867400"/>
          </a:xfrm>
        </p:spPr>
        <p:txBody>
          <a:bodyPr>
            <a:normAutofit fontScale="90000"/>
          </a:bodyPr>
          <a:lstStyle/>
          <a:p>
            <a:pPr eaLnBrk="1" fontAlgn="auto" hangingPunct="1">
              <a:spcAft>
                <a:spcPts val="0"/>
              </a:spcAft>
              <a:defRPr/>
            </a:pPr>
            <a:r>
              <a:rPr lang="bg-BG" sz="2400" smtClean="0">
                <a:solidFill>
                  <a:schemeClr val="tx2">
                    <a:satMod val="130000"/>
                  </a:schemeClr>
                </a:solidFill>
              </a:rPr>
              <a:t>	Очевидно е, че в пустинята трябва да се създадат складове. Къде да ги направим и колко гориво да съхраняваме, за да пресечем пустинята с </a:t>
            </a:r>
            <a:r>
              <a:rPr lang="en-US" sz="2400" smtClean="0">
                <a:solidFill>
                  <a:schemeClr val="tx2">
                    <a:satMod val="130000"/>
                  </a:schemeClr>
                </a:solidFill>
              </a:rPr>
              <a:t>MIN</a:t>
            </a:r>
            <a:r>
              <a:rPr lang="bg-BG" sz="2400" smtClean="0">
                <a:solidFill>
                  <a:schemeClr val="tx2">
                    <a:satMod val="130000"/>
                  </a:schemeClr>
                </a:solidFill>
              </a:rPr>
              <a:t> разход на гориво?</a:t>
            </a:r>
            <a:br>
              <a:rPr lang="bg-BG" sz="2400" smtClean="0">
                <a:solidFill>
                  <a:schemeClr val="tx2">
                    <a:satMod val="130000"/>
                  </a:schemeClr>
                </a:solidFill>
              </a:rPr>
            </a:br>
            <a:r>
              <a:rPr lang="bg-BG" sz="2400" smtClean="0">
                <a:solidFill>
                  <a:schemeClr val="tx2">
                    <a:satMod val="130000"/>
                  </a:schemeClr>
                </a:solidFill>
              </a:rPr>
              <a:t>	Ако имаме склад с К резервоара гориво, какво разстояние можем да изминем? Къде трябва да се намира този склад, че да стигнем до края на  </a:t>
            </a:r>
            <a:br>
              <a:rPr lang="bg-BG" sz="2400" smtClean="0">
                <a:solidFill>
                  <a:schemeClr val="tx2">
                    <a:satMod val="130000"/>
                  </a:schemeClr>
                </a:solidFill>
              </a:rPr>
            </a:br>
            <a:r>
              <a:rPr lang="bg-BG" sz="2400" smtClean="0">
                <a:solidFill>
                  <a:schemeClr val="tx2">
                    <a:satMod val="130000"/>
                  </a:schemeClr>
                </a:solidFill>
              </a:rPr>
              <a:t>пустинята?</a:t>
            </a:r>
            <a:br>
              <a:rPr lang="bg-BG" sz="2400" smtClean="0">
                <a:solidFill>
                  <a:schemeClr val="tx2">
                    <a:satMod val="130000"/>
                  </a:schemeClr>
                </a:solidFill>
              </a:rPr>
            </a:br>
            <a:r>
              <a:rPr lang="bg-BG" sz="2400" smtClean="0">
                <a:solidFill>
                  <a:schemeClr val="tx2">
                    <a:satMod val="130000"/>
                  </a:schemeClr>
                </a:solidFill>
              </a:rPr>
              <a:t>	Ще търсим отговор на тази задача за К=1, 2, 3, ... </a:t>
            </a:r>
            <a:r>
              <a:rPr lang="en-US" sz="2400" smtClean="0">
                <a:solidFill>
                  <a:schemeClr val="tx2">
                    <a:satMod val="130000"/>
                  </a:schemeClr>
                </a:solidFill>
              </a:rPr>
              <a:t>N</a:t>
            </a:r>
            <a:r>
              <a:rPr lang="bg-BG" sz="2400" smtClean="0">
                <a:solidFill>
                  <a:schemeClr val="tx2">
                    <a:satMod val="130000"/>
                  </a:schemeClr>
                </a:solidFill>
              </a:rPr>
              <a:t>, докато </a:t>
            </a:r>
            <a:r>
              <a:rPr lang="en-US" sz="2400" smtClean="0">
                <a:solidFill>
                  <a:schemeClr val="tx2">
                    <a:satMod val="130000"/>
                  </a:schemeClr>
                </a:solidFill>
              </a:rPr>
              <a:t>N</a:t>
            </a:r>
            <a:r>
              <a:rPr lang="bg-BG" sz="2400" smtClean="0">
                <a:solidFill>
                  <a:schemeClr val="tx2">
                    <a:satMod val="130000"/>
                  </a:schemeClr>
                </a:solidFill>
              </a:rPr>
              <a:t> ще се окаже достатъчно за 1000 мили.</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Нека К=1. Очевидно е, че могат да се изминат 500 мили:</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С </a:t>
            </a:r>
            <a:r>
              <a:rPr lang="en-US" sz="2400" smtClean="0">
                <a:solidFill>
                  <a:schemeClr val="tx2">
                    <a:satMod val="130000"/>
                  </a:schemeClr>
                </a:solidFill>
              </a:rPr>
              <a:t> </a:t>
            </a:r>
            <a:r>
              <a:rPr lang="bg-BG" sz="2400" smtClean="0">
                <a:solidFill>
                  <a:schemeClr val="tx2">
                    <a:satMod val="130000"/>
                  </a:schemeClr>
                </a:solidFill>
              </a:rPr>
              <a:t>е най-отдалечената точка, започвайки от която джипът може да пресече пустинята, разполагайки с 500 л гориво. </a:t>
            </a:r>
            <a:endParaRPr lang="en-US" sz="2400" smtClean="0">
              <a:solidFill>
                <a:schemeClr val="tx2">
                  <a:satMod val="130000"/>
                </a:schemeClr>
              </a:solidFill>
            </a:endParaRPr>
          </a:p>
        </p:txBody>
      </p:sp>
      <p:sp>
        <p:nvSpPr>
          <p:cNvPr id="53251" name="Line 1027"/>
          <p:cNvSpPr>
            <a:spLocks noChangeShapeType="1"/>
          </p:cNvSpPr>
          <p:nvPr/>
        </p:nvSpPr>
        <p:spPr bwMode="auto">
          <a:xfrm>
            <a:off x="1447800" y="5334000"/>
            <a:ext cx="6096000" cy="0"/>
          </a:xfrm>
          <a:prstGeom prst="line">
            <a:avLst/>
          </a:prstGeom>
          <a:noFill/>
          <a:ln w="9525">
            <a:solidFill>
              <a:schemeClr val="tx1"/>
            </a:solidFill>
            <a:round/>
            <a:headEnd/>
            <a:tailEnd/>
          </a:ln>
        </p:spPr>
        <p:txBody>
          <a:bodyPr/>
          <a:lstStyle/>
          <a:p>
            <a:endParaRPr lang="bg-BG"/>
          </a:p>
        </p:txBody>
      </p:sp>
      <p:sp>
        <p:nvSpPr>
          <p:cNvPr id="53252" name="Text Box 1028"/>
          <p:cNvSpPr txBox="1">
            <a:spLocks noChangeArrowheads="1"/>
          </p:cNvSpPr>
          <p:nvPr/>
        </p:nvSpPr>
        <p:spPr bwMode="auto">
          <a:xfrm>
            <a:off x="1079500" y="5092700"/>
            <a:ext cx="457200" cy="457200"/>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53253" name="Text Box 1029"/>
          <p:cNvSpPr txBox="1">
            <a:spLocks noChangeArrowheads="1"/>
          </p:cNvSpPr>
          <p:nvPr/>
        </p:nvSpPr>
        <p:spPr bwMode="auto">
          <a:xfrm>
            <a:off x="7772400" y="5181600"/>
            <a:ext cx="457200" cy="457200"/>
          </a:xfrm>
          <a:prstGeom prst="rect">
            <a:avLst/>
          </a:prstGeom>
          <a:noFill/>
          <a:ln w="9525">
            <a:noFill/>
            <a:miter lim="800000"/>
            <a:headEnd/>
            <a:tailEnd/>
          </a:ln>
        </p:spPr>
        <p:txBody>
          <a:bodyPr>
            <a:spAutoFit/>
          </a:bodyPr>
          <a:lstStyle/>
          <a:p>
            <a:pPr>
              <a:spcBef>
                <a:spcPct val="50000"/>
              </a:spcBef>
            </a:pPr>
            <a:r>
              <a:rPr lang="bg-BG"/>
              <a:t>В</a:t>
            </a:r>
            <a:endParaRPr lang="en-US"/>
          </a:p>
        </p:txBody>
      </p:sp>
      <p:sp>
        <p:nvSpPr>
          <p:cNvPr id="53254" name="Text Box 1030"/>
          <p:cNvSpPr txBox="1">
            <a:spLocks noChangeArrowheads="1"/>
          </p:cNvSpPr>
          <p:nvPr/>
        </p:nvSpPr>
        <p:spPr bwMode="auto">
          <a:xfrm>
            <a:off x="4267200" y="5334000"/>
            <a:ext cx="457200" cy="457200"/>
          </a:xfrm>
          <a:prstGeom prst="rect">
            <a:avLst/>
          </a:prstGeom>
          <a:noFill/>
          <a:ln w="9525">
            <a:noFill/>
            <a:miter lim="800000"/>
            <a:headEnd/>
            <a:tailEnd/>
          </a:ln>
        </p:spPr>
        <p:txBody>
          <a:bodyPr>
            <a:spAutoFit/>
          </a:bodyPr>
          <a:lstStyle/>
          <a:p>
            <a:pPr>
              <a:spcBef>
                <a:spcPct val="50000"/>
              </a:spcBef>
            </a:pPr>
            <a:r>
              <a:rPr lang="bg-BG"/>
              <a:t>С</a:t>
            </a:r>
            <a:endParaRPr lang="en-US"/>
          </a:p>
        </p:txBody>
      </p:sp>
      <p:sp>
        <p:nvSpPr>
          <p:cNvPr id="53255" name="Line 1032"/>
          <p:cNvSpPr>
            <a:spLocks noChangeShapeType="1"/>
          </p:cNvSpPr>
          <p:nvPr/>
        </p:nvSpPr>
        <p:spPr bwMode="auto">
          <a:xfrm>
            <a:off x="1447800" y="5257800"/>
            <a:ext cx="0" cy="152400"/>
          </a:xfrm>
          <a:prstGeom prst="line">
            <a:avLst/>
          </a:prstGeom>
          <a:noFill/>
          <a:ln w="9525">
            <a:solidFill>
              <a:schemeClr val="tx1"/>
            </a:solidFill>
            <a:round/>
            <a:headEnd/>
            <a:tailEnd/>
          </a:ln>
        </p:spPr>
        <p:txBody>
          <a:bodyPr/>
          <a:lstStyle/>
          <a:p>
            <a:endParaRPr lang="bg-BG"/>
          </a:p>
        </p:txBody>
      </p:sp>
      <p:sp>
        <p:nvSpPr>
          <p:cNvPr id="53256" name="Line 1033"/>
          <p:cNvSpPr>
            <a:spLocks noChangeShapeType="1"/>
          </p:cNvSpPr>
          <p:nvPr/>
        </p:nvSpPr>
        <p:spPr bwMode="auto">
          <a:xfrm>
            <a:off x="4495800" y="5257800"/>
            <a:ext cx="0" cy="152400"/>
          </a:xfrm>
          <a:prstGeom prst="line">
            <a:avLst/>
          </a:prstGeom>
          <a:noFill/>
          <a:ln w="9525">
            <a:solidFill>
              <a:srgbClr val="FF0000"/>
            </a:solidFill>
            <a:round/>
            <a:headEnd/>
            <a:tailEnd/>
          </a:ln>
        </p:spPr>
        <p:txBody>
          <a:bodyPr/>
          <a:lstStyle/>
          <a:p>
            <a:endParaRPr lang="bg-BG"/>
          </a:p>
        </p:txBody>
      </p:sp>
      <p:sp>
        <p:nvSpPr>
          <p:cNvPr id="53257" name="Line 1034"/>
          <p:cNvSpPr>
            <a:spLocks noChangeShapeType="1"/>
          </p:cNvSpPr>
          <p:nvPr/>
        </p:nvSpPr>
        <p:spPr bwMode="auto">
          <a:xfrm>
            <a:off x="7543800" y="5257800"/>
            <a:ext cx="0" cy="152400"/>
          </a:xfrm>
          <a:prstGeom prst="line">
            <a:avLst/>
          </a:prstGeom>
          <a:noFill/>
          <a:ln w="9525">
            <a:solidFill>
              <a:schemeClr val="tx1"/>
            </a:solidFill>
            <a:round/>
            <a:headEnd/>
            <a:tailEnd/>
          </a:ln>
        </p:spPr>
        <p:txBody>
          <a:bodyPr/>
          <a:lstStyle/>
          <a:p>
            <a:endParaRPr lang="bg-BG"/>
          </a:p>
        </p:txBody>
      </p:sp>
      <p:sp>
        <p:nvSpPr>
          <p:cNvPr id="53258" name="Text Box 1035"/>
          <p:cNvSpPr txBox="1">
            <a:spLocks noChangeArrowheads="1"/>
          </p:cNvSpPr>
          <p:nvPr/>
        </p:nvSpPr>
        <p:spPr bwMode="auto">
          <a:xfrm>
            <a:off x="4191000" y="4876800"/>
            <a:ext cx="838200" cy="457200"/>
          </a:xfrm>
          <a:prstGeom prst="rect">
            <a:avLst/>
          </a:prstGeom>
          <a:noFill/>
          <a:ln w="9525">
            <a:noFill/>
            <a:miter lim="800000"/>
            <a:headEnd/>
            <a:tailEnd/>
          </a:ln>
        </p:spPr>
        <p:txBody>
          <a:bodyPr>
            <a:spAutoFit/>
          </a:bodyPr>
          <a:lstStyle/>
          <a:p>
            <a:pPr>
              <a:spcBef>
                <a:spcPct val="50000"/>
              </a:spcBef>
            </a:pPr>
            <a:r>
              <a:rPr lang="bg-BG"/>
              <a:t>500</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84213" y="620713"/>
            <a:ext cx="8280400" cy="5867400"/>
          </a:xfrm>
        </p:spPr>
        <p:txBody>
          <a:bodyPr>
            <a:normAutofit fontScale="90000"/>
          </a:bodyPr>
          <a:lstStyle/>
          <a:p>
            <a:pPr eaLnBrk="1" fontAlgn="auto" hangingPunct="1">
              <a:spcAft>
                <a:spcPts val="0"/>
              </a:spcAft>
              <a:defRPr/>
            </a:pPr>
            <a:r>
              <a:rPr lang="bg-BG" sz="2400" smtClean="0">
                <a:solidFill>
                  <a:schemeClr val="tx2">
                    <a:satMod val="130000"/>
                  </a:schemeClr>
                </a:solidFill>
              </a:rPr>
              <a:t>	Т. е. в С трябва да осигурим склад с 1 резервоар (500 л) гориво. Как?</a:t>
            </a:r>
            <a:br>
              <a:rPr lang="bg-BG" sz="2400" smtClean="0">
                <a:solidFill>
                  <a:schemeClr val="tx2">
                    <a:satMod val="130000"/>
                  </a:schemeClr>
                </a:solidFill>
              </a:rPr>
            </a:br>
            <a:r>
              <a:rPr lang="bg-BG" sz="2400" smtClean="0">
                <a:solidFill>
                  <a:schemeClr val="tx2">
                    <a:satMod val="130000"/>
                  </a:schemeClr>
                </a:solidFill>
              </a:rPr>
              <a:t>	Нека К=2, т.е. в следващия склад ще има два пълни резервоара гориво (1000 л). Къде да се разположи този склад, така че от него да се пренесат в С 500 л (К=1)?</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Т.е. каква е </a:t>
            </a:r>
            <a:r>
              <a:rPr lang="en-US" sz="2400" smtClean="0">
                <a:solidFill>
                  <a:schemeClr val="tx2">
                    <a:satMod val="130000"/>
                  </a:schemeClr>
                </a:solidFill>
              </a:rPr>
              <a:t>M</a:t>
            </a:r>
            <a:r>
              <a:rPr lang="bg-BG" sz="2400" smtClean="0">
                <a:solidFill>
                  <a:schemeClr val="tx2">
                    <a:satMod val="130000"/>
                  </a:schemeClr>
                </a:solidFill>
              </a:rPr>
              <a:t>ах стойност на Х</a:t>
            </a:r>
            <a:r>
              <a:rPr lang="bg-BG" sz="2400" b="1" baseline="-25000" smtClean="0">
                <a:solidFill>
                  <a:schemeClr val="tx2">
                    <a:satMod val="130000"/>
                  </a:schemeClr>
                </a:solidFill>
              </a:rPr>
              <a:t>1</a:t>
            </a:r>
            <a:r>
              <a:rPr lang="bg-BG" sz="2400" smtClean="0">
                <a:solidFill>
                  <a:schemeClr val="tx2">
                    <a:satMod val="130000"/>
                  </a:schemeClr>
                </a:solidFill>
              </a:rPr>
              <a:t>, че тръгвайки с 1000 л (К=2) от т. (500- Х</a:t>
            </a:r>
            <a:r>
              <a:rPr lang="bg-BG" sz="2400" b="1" baseline="-25000" smtClean="0">
                <a:solidFill>
                  <a:schemeClr val="tx2">
                    <a:satMod val="130000"/>
                  </a:schemeClr>
                </a:solidFill>
              </a:rPr>
              <a:t>1</a:t>
            </a:r>
            <a:r>
              <a:rPr lang="bg-BG" sz="2400" smtClean="0">
                <a:solidFill>
                  <a:schemeClr val="tx2">
                    <a:satMod val="130000"/>
                  </a:schemeClr>
                </a:solidFill>
              </a:rPr>
              <a:t>) могат да се занесат достатъчни количества в т. С.</a:t>
            </a:r>
            <a:br>
              <a:rPr lang="bg-BG" sz="2400" smtClean="0">
                <a:solidFill>
                  <a:schemeClr val="tx2">
                    <a:satMod val="130000"/>
                  </a:schemeClr>
                </a:solidFill>
              </a:rPr>
            </a:br>
            <a:r>
              <a:rPr lang="bg-BG" sz="2400" smtClean="0">
                <a:solidFill>
                  <a:schemeClr val="tx2">
                    <a:satMod val="130000"/>
                  </a:schemeClr>
                </a:solidFill>
              </a:rPr>
              <a:t>Един от начините е следния:</a:t>
            </a:r>
            <a:br>
              <a:rPr lang="bg-BG" sz="2400" smtClean="0">
                <a:solidFill>
                  <a:schemeClr val="tx2">
                    <a:satMod val="130000"/>
                  </a:schemeClr>
                </a:solidFill>
              </a:rPr>
            </a:br>
            <a:r>
              <a:rPr lang="bg-BG" sz="2400" smtClean="0">
                <a:solidFill>
                  <a:schemeClr val="tx2">
                    <a:satMod val="130000"/>
                  </a:schemeClr>
                </a:solidFill>
              </a:rPr>
              <a:t>	Зареждаме колата в т. (500- Х</a:t>
            </a:r>
            <a:r>
              <a:rPr lang="bg-BG" sz="2400" b="1" baseline="-25000" smtClean="0">
                <a:solidFill>
                  <a:schemeClr val="tx2">
                    <a:satMod val="130000"/>
                  </a:schemeClr>
                </a:solidFill>
              </a:rPr>
              <a:t>1</a:t>
            </a:r>
            <a:r>
              <a:rPr lang="bg-BG" sz="2400" smtClean="0">
                <a:solidFill>
                  <a:schemeClr val="tx2">
                    <a:satMod val="130000"/>
                  </a:schemeClr>
                </a:solidFill>
              </a:rPr>
              <a:t>) , стигаме до т. С (изминавайки Х</a:t>
            </a:r>
            <a:r>
              <a:rPr lang="bg-BG" sz="2400" b="1" baseline="-25000" smtClean="0">
                <a:solidFill>
                  <a:schemeClr val="tx2">
                    <a:satMod val="130000"/>
                  </a:schemeClr>
                </a:solidFill>
              </a:rPr>
              <a:t>1 </a:t>
            </a:r>
            <a:r>
              <a:rPr lang="bg-BG" sz="2400" smtClean="0">
                <a:solidFill>
                  <a:schemeClr val="tx2">
                    <a:satMod val="130000"/>
                  </a:schemeClr>
                </a:solidFill>
              </a:rPr>
              <a:t>мили), преливаме в склада цялото гориво с изключение на Х</a:t>
            </a:r>
            <a:r>
              <a:rPr lang="bg-BG" sz="2400" b="1" baseline="-25000" smtClean="0">
                <a:solidFill>
                  <a:schemeClr val="tx2">
                    <a:satMod val="130000"/>
                  </a:schemeClr>
                </a:solidFill>
              </a:rPr>
              <a:t>1</a:t>
            </a:r>
            <a:r>
              <a:rPr lang="bg-BG" sz="2400" smtClean="0">
                <a:solidFill>
                  <a:schemeClr val="tx2">
                    <a:satMod val="130000"/>
                  </a:schemeClr>
                </a:solidFill>
              </a:rPr>
              <a:t> литра, необходими  за връщане в т. (500- Х</a:t>
            </a:r>
            <a:r>
              <a:rPr lang="bg-BG" sz="2400" b="1" baseline="-25000" smtClean="0">
                <a:solidFill>
                  <a:schemeClr val="tx2">
                    <a:satMod val="130000"/>
                  </a:schemeClr>
                </a:solidFill>
              </a:rPr>
              <a:t>1</a:t>
            </a:r>
            <a:r>
              <a:rPr lang="bg-BG" sz="2400" smtClean="0">
                <a:solidFill>
                  <a:schemeClr val="tx2">
                    <a:satMod val="130000"/>
                  </a:schemeClr>
                </a:solidFill>
              </a:rPr>
              <a:t>). Тук резервоарът вече е празен. Пълним го за втори път, изминаваме Х</a:t>
            </a:r>
            <a:r>
              <a:rPr lang="bg-BG" sz="2400" b="1" baseline="-25000" smtClean="0">
                <a:solidFill>
                  <a:schemeClr val="tx2">
                    <a:satMod val="130000"/>
                  </a:schemeClr>
                </a:solidFill>
              </a:rPr>
              <a:t>1</a:t>
            </a:r>
            <a:r>
              <a:rPr lang="bg-BG" sz="2400" smtClean="0">
                <a:solidFill>
                  <a:schemeClr val="tx2">
                    <a:satMod val="130000"/>
                  </a:schemeClr>
                </a:solidFill>
              </a:rPr>
              <a:t> мили до т. С, зареждаме запазеното там гориво и тръгваме  за т. В с пълен резервоар.</a:t>
            </a:r>
            <a:endParaRPr lang="en-US" sz="2400" smtClean="0">
              <a:solidFill>
                <a:schemeClr val="tx2">
                  <a:satMod val="130000"/>
                </a:schemeClr>
              </a:solidFill>
            </a:endParaRPr>
          </a:p>
        </p:txBody>
      </p:sp>
      <p:sp>
        <p:nvSpPr>
          <p:cNvPr id="54275" name="Line 3"/>
          <p:cNvSpPr>
            <a:spLocks noChangeShapeType="1"/>
          </p:cNvSpPr>
          <p:nvPr/>
        </p:nvSpPr>
        <p:spPr bwMode="auto">
          <a:xfrm>
            <a:off x="1447800" y="2895600"/>
            <a:ext cx="6248400" cy="0"/>
          </a:xfrm>
          <a:prstGeom prst="line">
            <a:avLst/>
          </a:prstGeom>
          <a:noFill/>
          <a:ln w="9525">
            <a:solidFill>
              <a:schemeClr val="tx1"/>
            </a:solidFill>
            <a:round/>
            <a:headEnd/>
            <a:tailEnd/>
          </a:ln>
        </p:spPr>
        <p:txBody>
          <a:bodyPr/>
          <a:lstStyle/>
          <a:p>
            <a:endParaRPr lang="bg-BG"/>
          </a:p>
        </p:txBody>
      </p:sp>
      <p:sp>
        <p:nvSpPr>
          <p:cNvPr id="54276" name="Text Box 5"/>
          <p:cNvSpPr txBox="1">
            <a:spLocks noChangeArrowheads="1"/>
          </p:cNvSpPr>
          <p:nvPr/>
        </p:nvSpPr>
        <p:spPr bwMode="auto">
          <a:xfrm>
            <a:off x="4343400" y="2971800"/>
            <a:ext cx="457200" cy="457200"/>
          </a:xfrm>
          <a:prstGeom prst="rect">
            <a:avLst/>
          </a:prstGeom>
          <a:noFill/>
          <a:ln w="9525">
            <a:noFill/>
            <a:miter lim="800000"/>
            <a:headEnd/>
            <a:tailEnd/>
          </a:ln>
        </p:spPr>
        <p:txBody>
          <a:bodyPr>
            <a:spAutoFit/>
          </a:bodyPr>
          <a:lstStyle/>
          <a:p>
            <a:pPr>
              <a:spcBef>
                <a:spcPct val="50000"/>
              </a:spcBef>
            </a:pPr>
            <a:r>
              <a:rPr lang="bg-BG"/>
              <a:t>С</a:t>
            </a:r>
            <a:endParaRPr lang="en-US"/>
          </a:p>
        </p:txBody>
      </p:sp>
      <p:sp>
        <p:nvSpPr>
          <p:cNvPr id="54277" name="Text Box 6"/>
          <p:cNvSpPr txBox="1">
            <a:spLocks noChangeArrowheads="1"/>
          </p:cNvSpPr>
          <p:nvPr/>
        </p:nvSpPr>
        <p:spPr bwMode="auto">
          <a:xfrm>
            <a:off x="838200" y="2667000"/>
            <a:ext cx="457200" cy="457200"/>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54278" name="Text Box 7"/>
          <p:cNvSpPr txBox="1">
            <a:spLocks noChangeArrowheads="1"/>
          </p:cNvSpPr>
          <p:nvPr/>
        </p:nvSpPr>
        <p:spPr bwMode="auto">
          <a:xfrm>
            <a:off x="7848600" y="2667000"/>
            <a:ext cx="457200" cy="457200"/>
          </a:xfrm>
          <a:prstGeom prst="rect">
            <a:avLst/>
          </a:prstGeom>
          <a:noFill/>
          <a:ln w="9525">
            <a:noFill/>
            <a:miter lim="800000"/>
            <a:headEnd/>
            <a:tailEnd/>
          </a:ln>
        </p:spPr>
        <p:txBody>
          <a:bodyPr>
            <a:spAutoFit/>
          </a:bodyPr>
          <a:lstStyle/>
          <a:p>
            <a:pPr>
              <a:spcBef>
                <a:spcPct val="50000"/>
              </a:spcBef>
            </a:pPr>
            <a:r>
              <a:rPr lang="bg-BG"/>
              <a:t>В</a:t>
            </a:r>
            <a:endParaRPr lang="en-US"/>
          </a:p>
        </p:txBody>
      </p:sp>
      <p:sp>
        <p:nvSpPr>
          <p:cNvPr id="54279" name="Line 8"/>
          <p:cNvSpPr>
            <a:spLocks noChangeShapeType="1"/>
          </p:cNvSpPr>
          <p:nvPr/>
        </p:nvSpPr>
        <p:spPr bwMode="auto">
          <a:xfrm>
            <a:off x="1447800" y="2819400"/>
            <a:ext cx="0" cy="228600"/>
          </a:xfrm>
          <a:prstGeom prst="line">
            <a:avLst/>
          </a:prstGeom>
          <a:noFill/>
          <a:ln w="9525">
            <a:solidFill>
              <a:schemeClr val="tx1"/>
            </a:solidFill>
            <a:round/>
            <a:headEnd/>
            <a:tailEnd/>
          </a:ln>
        </p:spPr>
        <p:txBody>
          <a:bodyPr/>
          <a:lstStyle/>
          <a:p>
            <a:endParaRPr lang="bg-BG"/>
          </a:p>
        </p:txBody>
      </p:sp>
      <p:sp>
        <p:nvSpPr>
          <p:cNvPr id="54280" name="Line 9"/>
          <p:cNvSpPr>
            <a:spLocks noChangeShapeType="1"/>
          </p:cNvSpPr>
          <p:nvPr/>
        </p:nvSpPr>
        <p:spPr bwMode="auto">
          <a:xfrm>
            <a:off x="3429000" y="2819400"/>
            <a:ext cx="0" cy="228600"/>
          </a:xfrm>
          <a:prstGeom prst="line">
            <a:avLst/>
          </a:prstGeom>
          <a:noFill/>
          <a:ln w="9525">
            <a:solidFill>
              <a:srgbClr val="FF0000"/>
            </a:solidFill>
            <a:round/>
            <a:headEnd/>
            <a:tailEnd/>
          </a:ln>
        </p:spPr>
        <p:txBody>
          <a:bodyPr/>
          <a:lstStyle/>
          <a:p>
            <a:endParaRPr lang="bg-BG"/>
          </a:p>
        </p:txBody>
      </p:sp>
      <p:sp>
        <p:nvSpPr>
          <p:cNvPr id="54281" name="Line 10"/>
          <p:cNvSpPr>
            <a:spLocks noChangeShapeType="1"/>
          </p:cNvSpPr>
          <p:nvPr/>
        </p:nvSpPr>
        <p:spPr bwMode="auto">
          <a:xfrm>
            <a:off x="4495800" y="2819400"/>
            <a:ext cx="0" cy="228600"/>
          </a:xfrm>
          <a:prstGeom prst="line">
            <a:avLst/>
          </a:prstGeom>
          <a:noFill/>
          <a:ln w="9525">
            <a:solidFill>
              <a:schemeClr val="tx1"/>
            </a:solidFill>
            <a:round/>
            <a:headEnd/>
            <a:tailEnd/>
          </a:ln>
        </p:spPr>
        <p:txBody>
          <a:bodyPr/>
          <a:lstStyle/>
          <a:p>
            <a:endParaRPr lang="bg-BG"/>
          </a:p>
        </p:txBody>
      </p:sp>
      <p:sp>
        <p:nvSpPr>
          <p:cNvPr id="54282" name="Line 11"/>
          <p:cNvSpPr>
            <a:spLocks noChangeShapeType="1"/>
          </p:cNvSpPr>
          <p:nvPr/>
        </p:nvSpPr>
        <p:spPr bwMode="auto">
          <a:xfrm>
            <a:off x="7696200" y="2819400"/>
            <a:ext cx="0" cy="228600"/>
          </a:xfrm>
          <a:prstGeom prst="line">
            <a:avLst/>
          </a:prstGeom>
          <a:noFill/>
          <a:ln w="9525">
            <a:solidFill>
              <a:schemeClr val="tx1"/>
            </a:solidFill>
            <a:round/>
            <a:headEnd/>
            <a:tailEnd/>
          </a:ln>
        </p:spPr>
        <p:txBody>
          <a:bodyPr/>
          <a:lstStyle/>
          <a:p>
            <a:endParaRPr lang="bg-BG"/>
          </a:p>
        </p:txBody>
      </p:sp>
      <p:sp>
        <p:nvSpPr>
          <p:cNvPr id="54283" name="Text Box 12"/>
          <p:cNvSpPr txBox="1">
            <a:spLocks noChangeArrowheads="1"/>
          </p:cNvSpPr>
          <p:nvPr/>
        </p:nvSpPr>
        <p:spPr bwMode="auto">
          <a:xfrm>
            <a:off x="3733800" y="2438400"/>
            <a:ext cx="533400" cy="457200"/>
          </a:xfrm>
          <a:prstGeom prst="rect">
            <a:avLst/>
          </a:prstGeom>
          <a:noFill/>
          <a:ln w="9525">
            <a:noFill/>
            <a:miter lim="800000"/>
            <a:headEnd/>
            <a:tailEnd/>
          </a:ln>
        </p:spPr>
        <p:txBody>
          <a:bodyPr>
            <a:spAutoFit/>
          </a:bodyPr>
          <a:lstStyle/>
          <a:p>
            <a:pPr>
              <a:spcBef>
                <a:spcPct val="50000"/>
              </a:spcBef>
            </a:pPr>
            <a:r>
              <a:rPr lang="bg-BG">
                <a:solidFill>
                  <a:schemeClr val="tx2"/>
                </a:solidFill>
              </a:rPr>
              <a:t>Х</a:t>
            </a:r>
            <a:r>
              <a:rPr lang="bg-BG" b="1" baseline="-25000">
                <a:solidFill>
                  <a:schemeClr val="tx2"/>
                </a:solidFill>
              </a:rPr>
              <a:t>1</a:t>
            </a:r>
            <a:endParaRPr lang="en-US" b="1" baseline="-25000">
              <a:solidFill>
                <a:schemeClr val="tx2"/>
              </a:solidFill>
            </a:endParaRPr>
          </a:p>
        </p:txBody>
      </p:sp>
      <p:sp>
        <p:nvSpPr>
          <p:cNvPr id="54284" name="Line 13"/>
          <p:cNvSpPr>
            <a:spLocks noChangeShapeType="1"/>
          </p:cNvSpPr>
          <p:nvPr/>
        </p:nvSpPr>
        <p:spPr bwMode="auto">
          <a:xfrm>
            <a:off x="3505200" y="2971800"/>
            <a:ext cx="914400" cy="0"/>
          </a:xfrm>
          <a:prstGeom prst="line">
            <a:avLst/>
          </a:prstGeom>
          <a:noFill/>
          <a:ln w="9525">
            <a:solidFill>
              <a:schemeClr val="tx1"/>
            </a:solidFill>
            <a:round/>
            <a:headEnd/>
            <a:tailEnd type="triangle" w="med" len="med"/>
          </a:ln>
        </p:spPr>
        <p:txBody>
          <a:bodyPr/>
          <a:lstStyle/>
          <a:p>
            <a:endParaRPr lang="bg-BG"/>
          </a:p>
        </p:txBody>
      </p:sp>
      <p:sp>
        <p:nvSpPr>
          <p:cNvPr id="54285" name="Line 14"/>
          <p:cNvSpPr>
            <a:spLocks noChangeShapeType="1"/>
          </p:cNvSpPr>
          <p:nvPr/>
        </p:nvSpPr>
        <p:spPr bwMode="auto">
          <a:xfrm flipH="1">
            <a:off x="3505200" y="3048000"/>
            <a:ext cx="838200" cy="0"/>
          </a:xfrm>
          <a:prstGeom prst="line">
            <a:avLst/>
          </a:prstGeom>
          <a:noFill/>
          <a:ln w="9525">
            <a:solidFill>
              <a:schemeClr val="tx1"/>
            </a:solidFill>
            <a:round/>
            <a:headEnd/>
            <a:tailEnd type="triangle" w="med" len="med"/>
          </a:ln>
        </p:spPr>
        <p:txBody>
          <a:bodyPr/>
          <a:lstStyle/>
          <a:p>
            <a:endParaRPr lang="bg-BG"/>
          </a:p>
        </p:txBody>
      </p:sp>
      <p:sp>
        <p:nvSpPr>
          <p:cNvPr id="54286" name="Line 15"/>
          <p:cNvSpPr>
            <a:spLocks noChangeShapeType="1"/>
          </p:cNvSpPr>
          <p:nvPr/>
        </p:nvSpPr>
        <p:spPr bwMode="auto">
          <a:xfrm>
            <a:off x="3505200" y="3124200"/>
            <a:ext cx="914400" cy="0"/>
          </a:xfrm>
          <a:prstGeom prst="line">
            <a:avLst/>
          </a:prstGeom>
          <a:noFill/>
          <a:ln w="9525">
            <a:solidFill>
              <a:schemeClr val="tx1"/>
            </a:solidFill>
            <a:round/>
            <a:headEnd/>
            <a:tailEnd type="triangle" w="med" len="med"/>
          </a:ln>
        </p:spPr>
        <p:txBody>
          <a:bodyPr/>
          <a:lstStyle/>
          <a:p>
            <a:endParaRPr lang="bg-BG"/>
          </a:p>
        </p:txBody>
      </p:sp>
      <p:sp>
        <p:nvSpPr>
          <p:cNvPr id="54287" name="Text Box 16"/>
          <p:cNvSpPr txBox="1">
            <a:spLocks noChangeArrowheads="1"/>
          </p:cNvSpPr>
          <p:nvPr/>
        </p:nvSpPr>
        <p:spPr bwMode="auto">
          <a:xfrm>
            <a:off x="4267200" y="2438400"/>
            <a:ext cx="762000" cy="457200"/>
          </a:xfrm>
          <a:prstGeom prst="rect">
            <a:avLst/>
          </a:prstGeom>
          <a:noFill/>
          <a:ln w="9525">
            <a:noFill/>
            <a:miter lim="800000"/>
            <a:headEnd/>
            <a:tailEnd/>
          </a:ln>
        </p:spPr>
        <p:txBody>
          <a:bodyPr>
            <a:spAutoFit/>
          </a:bodyPr>
          <a:lstStyle/>
          <a:p>
            <a:pPr>
              <a:spcBef>
                <a:spcPct val="50000"/>
              </a:spcBef>
            </a:pPr>
            <a:r>
              <a:rPr lang="bg-BG"/>
              <a:t>500</a:t>
            </a:r>
            <a:endParaRPr lang="en-US"/>
          </a:p>
        </p:txBody>
      </p:sp>
      <p:sp>
        <p:nvSpPr>
          <p:cNvPr id="54288" name="Text Box 17"/>
          <p:cNvSpPr txBox="1">
            <a:spLocks noChangeArrowheads="1"/>
          </p:cNvSpPr>
          <p:nvPr/>
        </p:nvSpPr>
        <p:spPr bwMode="auto">
          <a:xfrm>
            <a:off x="3209925" y="2928938"/>
            <a:ext cx="381000" cy="457200"/>
          </a:xfrm>
          <a:prstGeom prst="rect">
            <a:avLst/>
          </a:prstGeom>
          <a:noFill/>
          <a:ln w="9525">
            <a:noFill/>
            <a:miter lim="800000"/>
            <a:headEnd/>
            <a:tailEnd/>
          </a:ln>
        </p:spPr>
        <p:txBody>
          <a:bodyPr>
            <a:spAutoFit/>
          </a:bodyPr>
          <a:lstStyle/>
          <a:p>
            <a:pPr>
              <a:spcBef>
                <a:spcPct val="50000"/>
              </a:spcBef>
            </a:pPr>
            <a:r>
              <a:rPr lang="en-US"/>
              <a:t>D</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a:xfrm>
            <a:off x="304800" y="381000"/>
            <a:ext cx="8534400" cy="6096000"/>
          </a:xfrm>
        </p:spPr>
        <p:txBody>
          <a:bodyPr>
            <a:normAutofit fontScale="90000"/>
          </a:bodyPr>
          <a:lstStyle/>
          <a:p>
            <a:pPr eaLnBrk="1" fontAlgn="auto" hangingPunct="1">
              <a:spcAft>
                <a:spcPts val="0"/>
              </a:spcAft>
              <a:defRPr/>
            </a:pPr>
            <a:r>
              <a:rPr lang="bg-BG" sz="2400" smtClean="0">
                <a:solidFill>
                  <a:schemeClr val="tx2">
                    <a:satMod val="130000"/>
                  </a:schemeClr>
                </a:solidFill>
              </a:rPr>
              <a:t>Общото разстояние, което се изминава, се състои от 3 отсечки по Х</a:t>
            </a:r>
            <a:r>
              <a:rPr lang="bg-BG" sz="2400" b="1" baseline="-25000" smtClean="0">
                <a:solidFill>
                  <a:schemeClr val="tx2">
                    <a:satMod val="130000"/>
                  </a:schemeClr>
                </a:solidFill>
              </a:rPr>
              <a:t>1 </a:t>
            </a:r>
            <a:r>
              <a:rPr lang="bg-BG" sz="2400" smtClean="0">
                <a:solidFill>
                  <a:schemeClr val="tx2">
                    <a:satMod val="130000"/>
                  </a:schemeClr>
                </a:solidFill>
              </a:rPr>
              <a:t>мили и СВ или в литри:</a:t>
            </a:r>
            <a:br>
              <a:rPr lang="bg-BG" sz="2400" smtClean="0">
                <a:solidFill>
                  <a:schemeClr val="tx2">
                    <a:satMod val="130000"/>
                  </a:schemeClr>
                </a:solidFill>
              </a:rPr>
            </a:br>
            <a:r>
              <a:rPr lang="bg-BG" sz="2400" smtClean="0">
                <a:solidFill>
                  <a:schemeClr val="tx2">
                    <a:satMod val="130000"/>
                  </a:schemeClr>
                </a:solidFill>
              </a:rPr>
              <a:t>		  3 Х</a:t>
            </a:r>
            <a:r>
              <a:rPr lang="bg-BG" sz="2400" b="1" baseline="-25000" smtClean="0">
                <a:solidFill>
                  <a:schemeClr val="tx2">
                    <a:satMod val="130000"/>
                  </a:schemeClr>
                </a:solidFill>
              </a:rPr>
              <a:t>1 </a:t>
            </a:r>
            <a:r>
              <a:rPr lang="bg-BG" sz="2400" smtClean="0">
                <a:solidFill>
                  <a:schemeClr val="tx2">
                    <a:satMod val="130000"/>
                  </a:schemeClr>
                </a:solidFill>
              </a:rPr>
              <a:t>литра + 500 литра = 1000 литра</a:t>
            </a:r>
            <a:br>
              <a:rPr lang="bg-BG" sz="2400" smtClean="0">
                <a:solidFill>
                  <a:schemeClr val="tx2">
                    <a:satMod val="130000"/>
                  </a:schemeClr>
                </a:solidFill>
              </a:rPr>
            </a:br>
            <a:r>
              <a:rPr lang="bg-BG" sz="2400" smtClean="0">
                <a:solidFill>
                  <a:schemeClr val="tx2">
                    <a:satMod val="130000"/>
                  </a:schemeClr>
                </a:solidFill>
              </a:rPr>
              <a:t>Решението на уравнението е Х</a:t>
            </a:r>
            <a:r>
              <a:rPr lang="bg-BG" sz="2400" b="1" baseline="-25000" smtClean="0">
                <a:solidFill>
                  <a:schemeClr val="tx2">
                    <a:satMod val="130000"/>
                  </a:schemeClr>
                </a:solidFill>
              </a:rPr>
              <a:t>1 </a:t>
            </a:r>
            <a:r>
              <a:rPr lang="bg-BG" sz="2400" smtClean="0">
                <a:solidFill>
                  <a:schemeClr val="tx2">
                    <a:satMod val="130000"/>
                  </a:schemeClr>
                </a:solidFill>
              </a:rPr>
              <a:t>= 500/3.</a:t>
            </a:r>
            <a:br>
              <a:rPr lang="bg-BG" sz="2400" smtClean="0">
                <a:solidFill>
                  <a:schemeClr val="tx2">
                    <a:satMod val="130000"/>
                  </a:schemeClr>
                </a:solidFill>
              </a:rPr>
            </a:br>
            <a:r>
              <a:rPr lang="bg-BG" sz="2400" smtClean="0">
                <a:solidFill>
                  <a:schemeClr val="tx2">
                    <a:satMod val="130000"/>
                  </a:schemeClr>
                </a:solidFill>
              </a:rPr>
              <a:t>Т.е. два резервоара бензин (или 1000 литра) позволяват ни да изминем:</a:t>
            </a:r>
            <a:br>
              <a:rPr lang="bg-BG" sz="2400" smtClean="0">
                <a:solidFill>
                  <a:schemeClr val="tx2">
                    <a:satMod val="130000"/>
                  </a:schemeClr>
                </a:solidFill>
              </a:rPr>
            </a:br>
            <a:r>
              <a:rPr lang="bg-BG" sz="2400" smtClean="0">
                <a:solidFill>
                  <a:schemeClr val="tx2">
                    <a:satMod val="130000"/>
                  </a:schemeClr>
                </a:solidFill>
              </a:rPr>
              <a:t>		</a:t>
            </a:r>
            <a:r>
              <a:rPr lang="en-US" sz="2400" smtClean="0">
                <a:solidFill>
                  <a:schemeClr val="tx2">
                    <a:satMod val="130000"/>
                  </a:schemeClr>
                </a:solidFill>
              </a:rPr>
              <a:t>DIST</a:t>
            </a:r>
            <a:r>
              <a:rPr lang="en-US" sz="2400" b="1" baseline="-25000" smtClean="0">
                <a:solidFill>
                  <a:schemeClr val="tx2">
                    <a:satMod val="130000"/>
                  </a:schemeClr>
                </a:solidFill>
              </a:rPr>
              <a:t>2</a:t>
            </a:r>
            <a:r>
              <a:rPr lang="en-US" sz="2400" smtClean="0">
                <a:solidFill>
                  <a:schemeClr val="tx2">
                    <a:satMod val="130000"/>
                  </a:schemeClr>
                </a:solidFill>
              </a:rPr>
              <a:t> = 500 + </a:t>
            </a:r>
            <a:r>
              <a:rPr lang="bg-BG" sz="2400" smtClean="0">
                <a:solidFill>
                  <a:schemeClr val="tx2">
                    <a:satMod val="130000"/>
                  </a:schemeClr>
                </a:solidFill>
              </a:rPr>
              <a:t>Х</a:t>
            </a:r>
            <a:r>
              <a:rPr lang="bg-BG" sz="2400" b="1" baseline="-25000" smtClean="0">
                <a:solidFill>
                  <a:schemeClr val="tx2">
                    <a:satMod val="130000"/>
                  </a:schemeClr>
                </a:solidFill>
              </a:rPr>
              <a:t>1</a:t>
            </a:r>
            <a:r>
              <a:rPr lang="en-US" sz="2400" smtClean="0">
                <a:solidFill>
                  <a:schemeClr val="tx2">
                    <a:satMod val="130000"/>
                  </a:schemeClr>
                </a:solidFill>
              </a:rPr>
              <a:t> =  500 (1 +1/3) </a:t>
            </a:r>
            <a:r>
              <a:rPr lang="bg-BG" sz="2400" smtClean="0">
                <a:solidFill>
                  <a:schemeClr val="tx2">
                    <a:satMod val="130000"/>
                  </a:schemeClr>
                </a:solidFill>
              </a:rPr>
              <a:t>мили</a:t>
            </a:r>
            <a:br>
              <a:rPr lang="bg-BG" sz="2400" smtClean="0">
                <a:solidFill>
                  <a:schemeClr val="tx2">
                    <a:satMod val="130000"/>
                  </a:schemeClr>
                </a:solidFill>
              </a:rPr>
            </a:br>
            <a:r>
              <a:rPr lang="bg-BG" sz="2400" smtClean="0">
                <a:solidFill>
                  <a:schemeClr val="tx2">
                    <a:satMod val="130000"/>
                  </a:schemeClr>
                </a:solidFill>
              </a:rPr>
              <a:t>Постановката е следната: като разполагаме с К резервоара гориво, ние се стремим да се придвижим колкото може повече назад от точката, в която се намират К-1 резервоара, т. е. търсим </a:t>
            </a:r>
            <a:r>
              <a:rPr lang="en-US" sz="2400" smtClean="0">
                <a:solidFill>
                  <a:schemeClr val="tx2">
                    <a:satMod val="130000"/>
                  </a:schemeClr>
                </a:solidFill>
              </a:rPr>
              <a:t>M</a:t>
            </a:r>
            <a:r>
              <a:rPr lang="bg-BG" sz="2400" smtClean="0">
                <a:solidFill>
                  <a:schemeClr val="tx2">
                    <a:satMod val="130000"/>
                  </a:schemeClr>
                </a:solidFill>
              </a:rPr>
              <a:t>ах</a:t>
            </a:r>
            <a:r>
              <a:rPr lang="en-US" sz="2400" smtClean="0">
                <a:solidFill>
                  <a:schemeClr val="tx2">
                    <a:satMod val="130000"/>
                  </a:schemeClr>
                </a:solidFill>
              </a:rPr>
              <a:t> X</a:t>
            </a:r>
            <a:r>
              <a:rPr lang="bg-BG" sz="2400" smtClean="0">
                <a:solidFill>
                  <a:schemeClr val="tx2">
                    <a:satMod val="130000"/>
                  </a:schemeClr>
                </a:solidFill>
              </a:rPr>
              <a:t>.</a:t>
            </a:r>
            <a:br>
              <a:rPr lang="bg-BG" sz="2400" smtClean="0">
                <a:solidFill>
                  <a:schemeClr val="tx2">
                    <a:satMod val="130000"/>
                  </a:schemeClr>
                </a:solidFill>
              </a:rPr>
            </a:br>
            <a:r>
              <a:rPr lang="bg-BG" sz="2400" smtClean="0">
                <a:solidFill>
                  <a:schemeClr val="tx2">
                    <a:satMod val="130000"/>
                  </a:schemeClr>
                </a:solidFill>
              </a:rPr>
              <a:t>К=3. От тази точка трябва да тръгнем с 1500 л гориво, за да доставим 1000 л в т. (500- Х</a:t>
            </a:r>
            <a:r>
              <a:rPr lang="bg-BG" sz="2400" b="1" baseline="-25000" smtClean="0">
                <a:solidFill>
                  <a:schemeClr val="tx2">
                    <a:satMod val="130000"/>
                  </a:schemeClr>
                </a:solidFill>
              </a:rPr>
              <a:t>1</a:t>
            </a:r>
            <a:r>
              <a:rPr lang="bg-BG" sz="2400" smtClean="0">
                <a:solidFill>
                  <a:schemeClr val="tx2">
                    <a:satMod val="130000"/>
                  </a:schemeClr>
                </a:solidFill>
              </a:rPr>
              <a:t>). Търсим </a:t>
            </a:r>
            <a:r>
              <a:rPr lang="en-US" sz="2400" smtClean="0">
                <a:solidFill>
                  <a:schemeClr val="tx2">
                    <a:satMod val="130000"/>
                  </a:schemeClr>
                </a:solidFill>
              </a:rPr>
              <a:t>M</a:t>
            </a:r>
            <a:r>
              <a:rPr lang="bg-BG" sz="2400" smtClean="0">
                <a:solidFill>
                  <a:schemeClr val="tx2">
                    <a:satMod val="130000"/>
                  </a:schemeClr>
                </a:solidFill>
              </a:rPr>
              <a:t>ах Х</a:t>
            </a:r>
            <a:r>
              <a:rPr lang="bg-BG" sz="2400" b="1" baseline="-25000" smtClean="0">
                <a:solidFill>
                  <a:schemeClr val="tx2">
                    <a:satMod val="130000"/>
                  </a:schemeClr>
                </a:solidFill>
              </a:rPr>
              <a:t>2</a:t>
            </a:r>
            <a:r>
              <a:rPr lang="bg-BG" sz="2400" smtClean="0">
                <a:solidFill>
                  <a:schemeClr val="tx2">
                    <a:satMod val="130000"/>
                  </a:schemeClr>
                </a:solidFill>
              </a:rPr>
              <a:t>, което да ни осигури това условие</a:t>
            </a:r>
            <a:r>
              <a:rPr lang="en-US" sz="2400" smtClean="0">
                <a:solidFill>
                  <a:schemeClr val="tx2">
                    <a:satMod val="130000"/>
                  </a:schemeClr>
                </a:solidFill>
              </a:rPr>
              <a:t>.</a:t>
            </a: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endParaRPr lang="en-US" sz="2400" smtClean="0">
              <a:solidFill>
                <a:schemeClr val="tx2">
                  <a:satMod val="130000"/>
                </a:schemeClr>
              </a:solidFill>
            </a:endParaRPr>
          </a:p>
        </p:txBody>
      </p:sp>
      <p:grpSp>
        <p:nvGrpSpPr>
          <p:cNvPr id="55299" name="Group 1041"/>
          <p:cNvGrpSpPr>
            <a:grpSpLocks/>
          </p:cNvGrpSpPr>
          <p:nvPr/>
        </p:nvGrpSpPr>
        <p:grpSpPr bwMode="auto">
          <a:xfrm>
            <a:off x="609600" y="5410200"/>
            <a:ext cx="8001000" cy="762000"/>
            <a:chOff x="384" y="3408"/>
            <a:chExt cx="5040" cy="480"/>
          </a:xfrm>
        </p:grpSpPr>
        <p:sp>
          <p:nvSpPr>
            <p:cNvPr id="55303" name="Line 1028"/>
            <p:cNvSpPr>
              <a:spLocks noChangeShapeType="1"/>
            </p:cNvSpPr>
            <p:nvPr/>
          </p:nvSpPr>
          <p:spPr bwMode="auto">
            <a:xfrm>
              <a:off x="672" y="3744"/>
              <a:ext cx="4368" cy="0"/>
            </a:xfrm>
            <a:prstGeom prst="line">
              <a:avLst/>
            </a:prstGeom>
            <a:noFill/>
            <a:ln w="9525">
              <a:solidFill>
                <a:schemeClr val="tx1"/>
              </a:solidFill>
              <a:round/>
              <a:headEnd/>
              <a:tailEnd/>
            </a:ln>
          </p:spPr>
          <p:txBody>
            <a:bodyPr/>
            <a:lstStyle/>
            <a:p>
              <a:endParaRPr lang="bg-BG"/>
            </a:p>
          </p:txBody>
        </p:sp>
        <p:sp>
          <p:nvSpPr>
            <p:cNvPr id="55304" name="Text Box 1029"/>
            <p:cNvSpPr txBox="1">
              <a:spLocks noChangeArrowheads="1"/>
            </p:cNvSpPr>
            <p:nvPr/>
          </p:nvSpPr>
          <p:spPr bwMode="auto">
            <a:xfrm>
              <a:off x="384" y="3600"/>
              <a:ext cx="288" cy="288"/>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55305" name="Text Box 1030"/>
            <p:cNvSpPr txBox="1">
              <a:spLocks noChangeArrowheads="1"/>
            </p:cNvSpPr>
            <p:nvPr/>
          </p:nvSpPr>
          <p:spPr bwMode="auto">
            <a:xfrm>
              <a:off x="1920" y="3408"/>
              <a:ext cx="384" cy="288"/>
            </a:xfrm>
            <a:prstGeom prst="rect">
              <a:avLst/>
            </a:prstGeom>
            <a:noFill/>
            <a:ln w="9525">
              <a:noFill/>
              <a:miter lim="800000"/>
              <a:headEnd/>
              <a:tailEnd/>
            </a:ln>
          </p:spPr>
          <p:txBody>
            <a:bodyPr>
              <a:spAutoFit/>
            </a:bodyPr>
            <a:lstStyle/>
            <a:p>
              <a:pPr>
                <a:spcBef>
                  <a:spcPct val="50000"/>
                </a:spcBef>
              </a:pPr>
              <a:r>
                <a:rPr lang="bg-BG">
                  <a:solidFill>
                    <a:schemeClr val="tx2"/>
                  </a:solidFill>
                </a:rPr>
                <a:t>Х</a:t>
              </a:r>
              <a:r>
                <a:rPr lang="bg-BG" b="1" baseline="-25000">
                  <a:solidFill>
                    <a:schemeClr val="tx2"/>
                  </a:solidFill>
                </a:rPr>
                <a:t>2</a:t>
              </a:r>
              <a:endParaRPr lang="en-US" b="1" baseline="-25000">
                <a:solidFill>
                  <a:schemeClr val="tx2"/>
                </a:solidFill>
              </a:endParaRPr>
            </a:p>
          </p:txBody>
        </p:sp>
        <p:sp>
          <p:nvSpPr>
            <p:cNvPr id="55306" name="Text Box 1031"/>
            <p:cNvSpPr txBox="1">
              <a:spLocks noChangeArrowheads="1"/>
            </p:cNvSpPr>
            <p:nvPr/>
          </p:nvSpPr>
          <p:spPr bwMode="auto">
            <a:xfrm>
              <a:off x="2400" y="3408"/>
              <a:ext cx="384" cy="288"/>
            </a:xfrm>
            <a:prstGeom prst="rect">
              <a:avLst/>
            </a:prstGeom>
            <a:noFill/>
            <a:ln w="9525">
              <a:noFill/>
              <a:miter lim="800000"/>
              <a:headEnd/>
              <a:tailEnd/>
            </a:ln>
          </p:spPr>
          <p:txBody>
            <a:bodyPr>
              <a:spAutoFit/>
            </a:bodyPr>
            <a:lstStyle/>
            <a:p>
              <a:pPr>
                <a:spcBef>
                  <a:spcPct val="50000"/>
                </a:spcBef>
              </a:pPr>
              <a:r>
                <a:rPr lang="bg-BG">
                  <a:solidFill>
                    <a:schemeClr val="tx2"/>
                  </a:solidFill>
                </a:rPr>
                <a:t>Х</a:t>
              </a:r>
              <a:r>
                <a:rPr lang="bg-BG" b="1" baseline="-25000">
                  <a:solidFill>
                    <a:schemeClr val="tx2"/>
                  </a:solidFill>
                </a:rPr>
                <a:t>1</a:t>
              </a:r>
              <a:endParaRPr lang="en-US" b="1" baseline="-25000">
                <a:solidFill>
                  <a:schemeClr val="tx2"/>
                </a:solidFill>
              </a:endParaRPr>
            </a:p>
          </p:txBody>
        </p:sp>
        <p:sp>
          <p:nvSpPr>
            <p:cNvPr id="55307" name="Text Box 1032"/>
            <p:cNvSpPr txBox="1">
              <a:spLocks noChangeArrowheads="1"/>
            </p:cNvSpPr>
            <p:nvPr/>
          </p:nvSpPr>
          <p:spPr bwMode="auto">
            <a:xfrm>
              <a:off x="5136" y="3600"/>
              <a:ext cx="288" cy="288"/>
            </a:xfrm>
            <a:prstGeom prst="rect">
              <a:avLst/>
            </a:prstGeom>
            <a:noFill/>
            <a:ln w="9525">
              <a:noFill/>
              <a:miter lim="800000"/>
              <a:headEnd/>
              <a:tailEnd/>
            </a:ln>
          </p:spPr>
          <p:txBody>
            <a:bodyPr>
              <a:spAutoFit/>
            </a:bodyPr>
            <a:lstStyle/>
            <a:p>
              <a:pPr>
                <a:spcBef>
                  <a:spcPct val="50000"/>
                </a:spcBef>
              </a:pPr>
              <a:r>
                <a:rPr lang="bg-BG"/>
                <a:t>В</a:t>
              </a:r>
              <a:endParaRPr lang="en-US"/>
            </a:p>
          </p:txBody>
        </p:sp>
        <p:sp>
          <p:nvSpPr>
            <p:cNvPr id="55308" name="Line 1033"/>
            <p:cNvSpPr>
              <a:spLocks noChangeShapeType="1"/>
            </p:cNvSpPr>
            <p:nvPr/>
          </p:nvSpPr>
          <p:spPr bwMode="auto">
            <a:xfrm>
              <a:off x="5040" y="3696"/>
              <a:ext cx="0" cy="96"/>
            </a:xfrm>
            <a:prstGeom prst="line">
              <a:avLst/>
            </a:prstGeom>
            <a:noFill/>
            <a:ln w="9525">
              <a:solidFill>
                <a:schemeClr val="tx1"/>
              </a:solidFill>
              <a:round/>
              <a:headEnd/>
              <a:tailEnd/>
            </a:ln>
          </p:spPr>
          <p:txBody>
            <a:bodyPr/>
            <a:lstStyle/>
            <a:p>
              <a:endParaRPr lang="bg-BG"/>
            </a:p>
          </p:txBody>
        </p:sp>
        <p:sp>
          <p:nvSpPr>
            <p:cNvPr id="55309" name="Line 1034"/>
            <p:cNvSpPr>
              <a:spLocks noChangeShapeType="1"/>
            </p:cNvSpPr>
            <p:nvPr/>
          </p:nvSpPr>
          <p:spPr bwMode="auto">
            <a:xfrm>
              <a:off x="672" y="3696"/>
              <a:ext cx="0" cy="96"/>
            </a:xfrm>
            <a:prstGeom prst="line">
              <a:avLst/>
            </a:prstGeom>
            <a:noFill/>
            <a:ln w="9525">
              <a:solidFill>
                <a:schemeClr val="tx1"/>
              </a:solidFill>
              <a:round/>
              <a:headEnd/>
              <a:tailEnd/>
            </a:ln>
          </p:spPr>
          <p:txBody>
            <a:bodyPr/>
            <a:lstStyle/>
            <a:p>
              <a:endParaRPr lang="bg-BG"/>
            </a:p>
          </p:txBody>
        </p:sp>
        <p:sp>
          <p:nvSpPr>
            <p:cNvPr id="55310" name="Line 1035"/>
            <p:cNvSpPr>
              <a:spLocks noChangeShapeType="1"/>
            </p:cNvSpPr>
            <p:nvPr/>
          </p:nvSpPr>
          <p:spPr bwMode="auto">
            <a:xfrm>
              <a:off x="2832" y="3696"/>
              <a:ext cx="0" cy="96"/>
            </a:xfrm>
            <a:prstGeom prst="line">
              <a:avLst/>
            </a:prstGeom>
            <a:noFill/>
            <a:ln w="9525">
              <a:solidFill>
                <a:schemeClr val="tx1"/>
              </a:solidFill>
              <a:round/>
              <a:headEnd/>
              <a:tailEnd/>
            </a:ln>
          </p:spPr>
          <p:txBody>
            <a:bodyPr/>
            <a:lstStyle/>
            <a:p>
              <a:endParaRPr lang="bg-BG"/>
            </a:p>
          </p:txBody>
        </p:sp>
        <p:sp>
          <p:nvSpPr>
            <p:cNvPr id="55311" name="Line 1036"/>
            <p:cNvSpPr>
              <a:spLocks noChangeShapeType="1"/>
            </p:cNvSpPr>
            <p:nvPr/>
          </p:nvSpPr>
          <p:spPr bwMode="auto">
            <a:xfrm>
              <a:off x="1872" y="3696"/>
              <a:ext cx="0" cy="96"/>
            </a:xfrm>
            <a:prstGeom prst="line">
              <a:avLst/>
            </a:prstGeom>
            <a:noFill/>
            <a:ln w="9525">
              <a:solidFill>
                <a:srgbClr val="FF0000"/>
              </a:solidFill>
              <a:round/>
              <a:headEnd/>
              <a:tailEnd/>
            </a:ln>
          </p:spPr>
          <p:txBody>
            <a:bodyPr/>
            <a:lstStyle/>
            <a:p>
              <a:endParaRPr lang="bg-BG"/>
            </a:p>
          </p:txBody>
        </p:sp>
        <p:sp>
          <p:nvSpPr>
            <p:cNvPr id="55312" name="Line 1037"/>
            <p:cNvSpPr>
              <a:spLocks noChangeShapeType="1"/>
            </p:cNvSpPr>
            <p:nvPr/>
          </p:nvSpPr>
          <p:spPr bwMode="auto">
            <a:xfrm>
              <a:off x="2256" y="3696"/>
              <a:ext cx="0" cy="96"/>
            </a:xfrm>
            <a:prstGeom prst="line">
              <a:avLst/>
            </a:prstGeom>
            <a:noFill/>
            <a:ln w="9525">
              <a:solidFill>
                <a:schemeClr val="tx1"/>
              </a:solidFill>
              <a:round/>
              <a:headEnd/>
              <a:tailEnd/>
            </a:ln>
          </p:spPr>
          <p:txBody>
            <a:bodyPr/>
            <a:lstStyle/>
            <a:p>
              <a:endParaRPr lang="bg-BG"/>
            </a:p>
          </p:txBody>
        </p:sp>
      </p:grpSp>
      <p:sp>
        <p:nvSpPr>
          <p:cNvPr id="55300" name="Text Box 1038"/>
          <p:cNvSpPr txBox="1">
            <a:spLocks noChangeArrowheads="1"/>
          </p:cNvSpPr>
          <p:nvPr/>
        </p:nvSpPr>
        <p:spPr bwMode="auto">
          <a:xfrm>
            <a:off x="3352800" y="6019800"/>
            <a:ext cx="457200" cy="457200"/>
          </a:xfrm>
          <a:prstGeom prst="rect">
            <a:avLst/>
          </a:prstGeom>
          <a:noFill/>
          <a:ln w="9525">
            <a:noFill/>
            <a:miter lim="800000"/>
            <a:headEnd/>
            <a:tailEnd/>
          </a:ln>
        </p:spPr>
        <p:txBody>
          <a:bodyPr>
            <a:spAutoFit/>
          </a:bodyPr>
          <a:lstStyle/>
          <a:p>
            <a:pPr>
              <a:spcBef>
                <a:spcPct val="50000"/>
              </a:spcBef>
            </a:pPr>
            <a:r>
              <a:rPr lang="en-US"/>
              <a:t>D</a:t>
            </a:r>
          </a:p>
        </p:txBody>
      </p:sp>
      <p:sp>
        <p:nvSpPr>
          <p:cNvPr id="55301" name="Text Box 1039"/>
          <p:cNvSpPr txBox="1">
            <a:spLocks noChangeArrowheads="1"/>
          </p:cNvSpPr>
          <p:nvPr/>
        </p:nvSpPr>
        <p:spPr bwMode="auto">
          <a:xfrm>
            <a:off x="4267200" y="6019800"/>
            <a:ext cx="457200" cy="457200"/>
          </a:xfrm>
          <a:prstGeom prst="rect">
            <a:avLst/>
          </a:prstGeom>
          <a:noFill/>
          <a:ln w="9525">
            <a:noFill/>
            <a:miter lim="800000"/>
            <a:headEnd/>
            <a:tailEnd/>
          </a:ln>
        </p:spPr>
        <p:txBody>
          <a:bodyPr>
            <a:spAutoFit/>
          </a:bodyPr>
          <a:lstStyle/>
          <a:p>
            <a:pPr>
              <a:spcBef>
                <a:spcPct val="50000"/>
              </a:spcBef>
            </a:pPr>
            <a:r>
              <a:rPr lang="bg-BG"/>
              <a:t>С</a:t>
            </a:r>
            <a:endParaRPr lang="en-US"/>
          </a:p>
        </p:txBody>
      </p:sp>
      <p:sp>
        <p:nvSpPr>
          <p:cNvPr id="55302" name="Text Box 1040"/>
          <p:cNvSpPr txBox="1">
            <a:spLocks noChangeArrowheads="1"/>
          </p:cNvSpPr>
          <p:nvPr/>
        </p:nvSpPr>
        <p:spPr bwMode="auto">
          <a:xfrm>
            <a:off x="2743200" y="6019800"/>
            <a:ext cx="457200" cy="457200"/>
          </a:xfrm>
          <a:prstGeom prst="rect">
            <a:avLst/>
          </a:prstGeom>
          <a:noFill/>
          <a:ln w="9525">
            <a:noFill/>
            <a:miter lim="800000"/>
            <a:headEnd/>
            <a:tailEnd/>
          </a:ln>
        </p:spPr>
        <p:txBody>
          <a:bodyPr>
            <a:spAutoFit/>
          </a:bodyPr>
          <a:lstStyle/>
          <a:p>
            <a:pPr>
              <a:spcBef>
                <a:spcPct val="50000"/>
              </a:spcBef>
            </a:pPr>
            <a:r>
              <a:rPr lang="en-US"/>
              <a:t>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a:xfrm>
            <a:off x="395288" y="404813"/>
            <a:ext cx="8458200" cy="6154737"/>
          </a:xfrm>
        </p:spPr>
        <p:txBody>
          <a:bodyPr>
            <a:normAutofit fontScale="90000"/>
          </a:bodyPr>
          <a:lstStyle/>
          <a:p>
            <a:pPr eaLnBrk="1" fontAlgn="auto" hangingPunct="1">
              <a:spcAft>
                <a:spcPts val="0"/>
              </a:spcAft>
              <a:defRPr/>
            </a:pPr>
            <a:r>
              <a:rPr lang="bg-BG" sz="2400" smtClean="0">
                <a:solidFill>
                  <a:schemeClr val="tx2">
                    <a:satMod val="130000"/>
                  </a:schemeClr>
                </a:solidFill>
              </a:rPr>
              <a:t>	Тръгваме с 1500 л гориво от т. (500 - Х</a:t>
            </a:r>
            <a:r>
              <a:rPr lang="bg-BG" sz="2400" b="1" baseline="-25000" smtClean="0">
                <a:solidFill>
                  <a:schemeClr val="tx2">
                    <a:satMod val="130000"/>
                  </a:schemeClr>
                </a:solidFill>
              </a:rPr>
              <a:t>1</a:t>
            </a:r>
            <a:r>
              <a:rPr lang="bg-BG" sz="2400" smtClean="0">
                <a:solidFill>
                  <a:schemeClr val="tx2">
                    <a:satMod val="130000"/>
                  </a:schemeClr>
                </a:solidFill>
              </a:rPr>
              <a:t> - Х</a:t>
            </a:r>
            <a:r>
              <a:rPr lang="bg-BG" sz="2400" b="1" baseline="-25000" smtClean="0">
                <a:solidFill>
                  <a:schemeClr val="tx2">
                    <a:satMod val="130000"/>
                  </a:schemeClr>
                </a:solidFill>
              </a:rPr>
              <a:t>2</a:t>
            </a:r>
            <a:r>
              <a:rPr lang="bg-BG" sz="2400" smtClean="0">
                <a:solidFill>
                  <a:schemeClr val="tx2">
                    <a:satMod val="130000"/>
                  </a:schemeClr>
                </a:solidFill>
              </a:rPr>
              <a:t>)  (или т. </a:t>
            </a:r>
            <a:r>
              <a:rPr lang="en-US" sz="2400" smtClean="0">
                <a:solidFill>
                  <a:schemeClr val="tx2">
                    <a:satMod val="130000"/>
                  </a:schemeClr>
                </a:solidFill>
              </a:rPr>
              <a:t>E</a:t>
            </a:r>
            <a:r>
              <a:rPr lang="bg-BG" sz="2400" smtClean="0">
                <a:solidFill>
                  <a:schemeClr val="tx2">
                    <a:satMod val="130000"/>
                  </a:schemeClr>
                </a:solidFill>
              </a:rPr>
              <a:t>)  и доставяме 1000 л в т. (500- Х</a:t>
            </a:r>
            <a:r>
              <a:rPr lang="bg-BG" sz="2400" b="1" baseline="-25000" smtClean="0">
                <a:solidFill>
                  <a:schemeClr val="tx2">
                    <a:satMod val="130000"/>
                  </a:schemeClr>
                </a:solidFill>
              </a:rPr>
              <a:t>1</a:t>
            </a:r>
            <a:r>
              <a:rPr lang="bg-BG" sz="2400" smtClean="0">
                <a:solidFill>
                  <a:schemeClr val="tx2">
                    <a:satMod val="130000"/>
                  </a:schemeClr>
                </a:solidFill>
              </a:rPr>
              <a:t>)</a:t>
            </a:r>
            <a:r>
              <a:rPr lang="en-US" sz="2400" smtClean="0">
                <a:solidFill>
                  <a:schemeClr val="tx2">
                    <a:satMod val="130000"/>
                  </a:schemeClr>
                </a:solidFill>
              </a:rPr>
              <a:t> (</a:t>
            </a:r>
            <a:r>
              <a:rPr lang="bg-BG" sz="2400" smtClean="0">
                <a:solidFill>
                  <a:schemeClr val="tx2">
                    <a:satMod val="130000"/>
                  </a:schemeClr>
                </a:solidFill>
              </a:rPr>
              <a:t>или т. </a:t>
            </a:r>
            <a:r>
              <a:rPr lang="en-US" sz="2400" smtClean="0">
                <a:solidFill>
                  <a:schemeClr val="tx2">
                    <a:satMod val="130000"/>
                  </a:schemeClr>
                </a:solidFill>
              </a:rPr>
              <a:t>D</a:t>
            </a:r>
            <a:r>
              <a:rPr lang="bg-BG" sz="2400" smtClean="0">
                <a:solidFill>
                  <a:schemeClr val="tx2">
                    <a:satMod val="130000"/>
                  </a:schemeClr>
                </a:solidFill>
              </a:rPr>
              <a:t>).</a:t>
            </a:r>
            <a:br>
              <a:rPr lang="bg-BG" sz="2400" smtClean="0">
                <a:solidFill>
                  <a:schemeClr val="tx2">
                    <a:satMod val="130000"/>
                  </a:schemeClr>
                </a:solidFill>
              </a:rPr>
            </a:br>
            <a:r>
              <a:rPr lang="bg-BG" sz="2400" smtClean="0">
                <a:solidFill>
                  <a:schemeClr val="tx2">
                    <a:satMod val="130000"/>
                  </a:schemeClr>
                </a:solidFill>
              </a:rPr>
              <a:t>								</a:t>
            </a:r>
            <a:br>
              <a:rPr lang="bg-BG" sz="2400" smtClean="0">
                <a:solidFill>
                  <a:schemeClr val="tx2">
                    <a:satMod val="130000"/>
                  </a:schemeClr>
                </a:solidFill>
              </a:rPr>
            </a:br>
            <a:r>
              <a:rPr lang="bg-BG" sz="2400" smtClean="0">
                <a:solidFill>
                  <a:schemeClr val="tx2">
                    <a:satMod val="130000"/>
                  </a:schemeClr>
                </a:solidFill>
              </a:rPr>
              <a:t>	</a:t>
            </a: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bg-BG" sz="2400" smtClean="0">
                <a:solidFill>
                  <a:schemeClr val="tx2">
                    <a:satMod val="130000"/>
                  </a:schemeClr>
                </a:solidFill>
              </a:rPr>
              <a:t>Това може да стане по следния начин:   тръгваме от т. (500 - Х</a:t>
            </a:r>
            <a:r>
              <a:rPr lang="bg-BG" sz="2400" b="1" baseline="-25000" smtClean="0">
                <a:solidFill>
                  <a:schemeClr val="tx2">
                    <a:satMod val="130000"/>
                  </a:schemeClr>
                </a:solidFill>
              </a:rPr>
              <a:t>1</a:t>
            </a:r>
            <a:r>
              <a:rPr lang="bg-BG" sz="2400" smtClean="0">
                <a:solidFill>
                  <a:schemeClr val="tx2">
                    <a:satMod val="130000"/>
                  </a:schemeClr>
                </a:solidFill>
              </a:rPr>
              <a:t> - Х</a:t>
            </a:r>
            <a:r>
              <a:rPr lang="bg-BG" sz="2400" b="1" baseline="-25000" smtClean="0">
                <a:solidFill>
                  <a:schemeClr val="tx2">
                    <a:satMod val="130000"/>
                  </a:schemeClr>
                </a:solidFill>
              </a:rPr>
              <a:t>2</a:t>
            </a:r>
            <a:r>
              <a:rPr lang="bg-BG" sz="2400" smtClean="0">
                <a:solidFill>
                  <a:schemeClr val="tx2">
                    <a:satMod val="130000"/>
                  </a:schemeClr>
                </a:solidFill>
              </a:rPr>
              <a:t>), стигаме до т. (500- Х</a:t>
            </a:r>
            <a:r>
              <a:rPr lang="bg-BG" sz="2400" b="1" baseline="-25000" smtClean="0">
                <a:solidFill>
                  <a:schemeClr val="tx2">
                    <a:satMod val="130000"/>
                  </a:schemeClr>
                </a:solidFill>
              </a:rPr>
              <a:t>1</a:t>
            </a:r>
            <a:r>
              <a:rPr lang="bg-BG" sz="2400" smtClean="0">
                <a:solidFill>
                  <a:schemeClr val="tx2">
                    <a:satMod val="130000"/>
                  </a:schemeClr>
                </a:solidFill>
              </a:rPr>
              <a:t>), преливаме горивото, като запазваме само необходимото Х</a:t>
            </a:r>
            <a:r>
              <a:rPr lang="bg-BG" sz="2400" b="1" baseline="-25000" smtClean="0">
                <a:solidFill>
                  <a:schemeClr val="tx2">
                    <a:satMod val="130000"/>
                  </a:schemeClr>
                </a:solidFill>
              </a:rPr>
              <a:t>2</a:t>
            </a:r>
            <a:r>
              <a:rPr lang="bg-BG" sz="2400" smtClean="0">
                <a:solidFill>
                  <a:schemeClr val="tx2">
                    <a:satMod val="130000"/>
                  </a:schemeClr>
                </a:solidFill>
              </a:rPr>
              <a:t> количество. Връщаме се в т. (500 - Х</a:t>
            </a:r>
            <a:r>
              <a:rPr lang="bg-BG" sz="2400" b="1" baseline="-25000" smtClean="0">
                <a:solidFill>
                  <a:schemeClr val="tx2">
                    <a:satMod val="130000"/>
                  </a:schemeClr>
                </a:solidFill>
              </a:rPr>
              <a:t>1</a:t>
            </a:r>
            <a:r>
              <a:rPr lang="bg-BG" sz="2400" smtClean="0">
                <a:solidFill>
                  <a:schemeClr val="tx2">
                    <a:satMod val="130000"/>
                  </a:schemeClr>
                </a:solidFill>
              </a:rPr>
              <a:t> - Х</a:t>
            </a:r>
            <a:r>
              <a:rPr lang="bg-BG" sz="2400" b="1" baseline="-25000" smtClean="0">
                <a:solidFill>
                  <a:schemeClr val="tx2">
                    <a:satMod val="130000"/>
                  </a:schemeClr>
                </a:solidFill>
              </a:rPr>
              <a:t>2</a:t>
            </a:r>
            <a:r>
              <a:rPr lang="bg-BG" sz="2400" smtClean="0">
                <a:solidFill>
                  <a:schemeClr val="tx2">
                    <a:satMod val="130000"/>
                  </a:schemeClr>
                </a:solidFill>
              </a:rPr>
              <a:t>) или т. </a:t>
            </a:r>
            <a:r>
              <a:rPr lang="en-US" sz="2400" smtClean="0">
                <a:solidFill>
                  <a:schemeClr val="tx2">
                    <a:satMod val="130000"/>
                  </a:schemeClr>
                </a:solidFill>
              </a:rPr>
              <a:t>E</a:t>
            </a:r>
            <a:r>
              <a:rPr lang="bg-BG" sz="2400" smtClean="0">
                <a:solidFill>
                  <a:schemeClr val="tx2">
                    <a:satMod val="130000"/>
                  </a:schemeClr>
                </a:solidFill>
              </a:rPr>
              <a:t> с празен резервоар. Ако повторим процедурата, ние ще изразходваме 4Х</a:t>
            </a:r>
            <a:r>
              <a:rPr lang="bg-BG" sz="2400" b="1" baseline="-25000" smtClean="0">
                <a:solidFill>
                  <a:schemeClr val="tx2">
                    <a:satMod val="130000"/>
                  </a:schemeClr>
                </a:solidFill>
              </a:rPr>
              <a:t>2</a:t>
            </a:r>
            <a:r>
              <a:rPr lang="bg-BG" sz="2400" smtClean="0">
                <a:solidFill>
                  <a:schemeClr val="tx2">
                    <a:satMod val="130000"/>
                  </a:schemeClr>
                </a:solidFill>
              </a:rPr>
              <a:t> литра гориво и ще оставим (1000 – 4Х</a:t>
            </a:r>
            <a:r>
              <a:rPr lang="bg-BG" sz="2400" b="1" baseline="-25000" smtClean="0">
                <a:solidFill>
                  <a:schemeClr val="tx2">
                    <a:satMod val="130000"/>
                  </a:schemeClr>
                </a:solidFill>
              </a:rPr>
              <a:t>2</a:t>
            </a:r>
            <a:r>
              <a:rPr lang="bg-BG" sz="2400" smtClean="0">
                <a:solidFill>
                  <a:schemeClr val="tx2">
                    <a:satMod val="130000"/>
                  </a:schemeClr>
                </a:solidFill>
              </a:rPr>
              <a:t>)</a:t>
            </a:r>
            <a:r>
              <a:rPr lang="bg-BG" sz="2400" b="1" baseline="-25000" smtClean="0">
                <a:solidFill>
                  <a:schemeClr val="tx2">
                    <a:satMod val="130000"/>
                  </a:schemeClr>
                </a:solidFill>
              </a:rPr>
              <a:t> </a:t>
            </a:r>
            <a:r>
              <a:rPr lang="bg-BG" sz="2400" smtClean="0">
                <a:solidFill>
                  <a:schemeClr val="tx2">
                    <a:satMod val="130000"/>
                  </a:schemeClr>
                </a:solidFill>
              </a:rPr>
              <a:t>литра в т. (500- Х</a:t>
            </a:r>
            <a:r>
              <a:rPr lang="bg-BG" sz="2400" b="1" baseline="-25000" smtClean="0">
                <a:solidFill>
                  <a:schemeClr val="tx2">
                    <a:satMod val="130000"/>
                  </a:schemeClr>
                </a:solidFill>
              </a:rPr>
              <a:t>1</a:t>
            </a:r>
            <a:r>
              <a:rPr lang="bg-BG" sz="2400" smtClean="0">
                <a:solidFill>
                  <a:schemeClr val="tx2">
                    <a:satMod val="130000"/>
                  </a:schemeClr>
                </a:solidFill>
              </a:rPr>
              <a:t>)</a:t>
            </a:r>
            <a:r>
              <a:rPr lang="en-US" sz="2400" smtClean="0">
                <a:solidFill>
                  <a:schemeClr val="tx2">
                    <a:satMod val="130000"/>
                  </a:schemeClr>
                </a:solidFill>
              </a:rPr>
              <a:t> </a:t>
            </a:r>
            <a:r>
              <a:rPr lang="bg-BG" sz="2400" smtClean="0">
                <a:solidFill>
                  <a:schemeClr val="tx2">
                    <a:satMod val="130000"/>
                  </a:schemeClr>
                </a:solidFill>
              </a:rPr>
              <a:t>или т. </a:t>
            </a:r>
            <a:r>
              <a:rPr lang="en-US" sz="2400" smtClean="0">
                <a:solidFill>
                  <a:schemeClr val="tx2">
                    <a:satMod val="130000"/>
                  </a:schemeClr>
                </a:solidFill>
              </a:rPr>
              <a:t>D</a:t>
            </a:r>
            <a:r>
              <a:rPr lang="bg-BG" sz="2400" smtClean="0">
                <a:solidFill>
                  <a:schemeClr val="tx2">
                    <a:satMod val="130000"/>
                  </a:schemeClr>
                </a:solidFill>
              </a:rPr>
              <a:t>. Сега в т. </a:t>
            </a:r>
            <a:r>
              <a:rPr lang="en-US" sz="2400" smtClean="0">
                <a:solidFill>
                  <a:schemeClr val="tx2">
                    <a:satMod val="130000"/>
                  </a:schemeClr>
                </a:solidFill>
              </a:rPr>
              <a:t>E</a:t>
            </a:r>
            <a:r>
              <a:rPr lang="bg-BG" sz="2400" smtClean="0">
                <a:solidFill>
                  <a:schemeClr val="tx2">
                    <a:satMod val="130000"/>
                  </a:schemeClr>
                </a:solidFill>
              </a:rPr>
              <a:t> остават само 500 л. Зареждаме ги и тръгваме за т. </a:t>
            </a:r>
            <a:r>
              <a:rPr lang="en-US" sz="2400" smtClean="0">
                <a:solidFill>
                  <a:schemeClr val="tx2">
                    <a:satMod val="130000"/>
                  </a:schemeClr>
                </a:solidFill>
              </a:rPr>
              <a:t>D</a:t>
            </a:r>
            <a:r>
              <a:rPr lang="bg-BG" sz="2400" smtClean="0">
                <a:solidFill>
                  <a:schemeClr val="tx2">
                    <a:satMod val="130000"/>
                  </a:schemeClr>
                </a:solidFill>
              </a:rPr>
              <a:t>, като изразходваме по пътя Х</a:t>
            </a:r>
            <a:r>
              <a:rPr lang="bg-BG" sz="2400" b="1" baseline="-25000" smtClean="0">
                <a:solidFill>
                  <a:schemeClr val="tx2">
                    <a:satMod val="130000"/>
                  </a:schemeClr>
                </a:solidFill>
              </a:rPr>
              <a:t>2</a:t>
            </a:r>
            <a:r>
              <a:rPr lang="bg-BG" sz="2400" smtClean="0">
                <a:solidFill>
                  <a:schemeClr val="tx2">
                    <a:satMod val="130000"/>
                  </a:schemeClr>
                </a:solidFill>
              </a:rPr>
              <a:t> литра:</a:t>
            </a:r>
            <a:br>
              <a:rPr lang="bg-BG" sz="2400" smtClean="0">
                <a:solidFill>
                  <a:schemeClr val="tx2">
                    <a:satMod val="130000"/>
                  </a:schemeClr>
                </a:solidFill>
              </a:rPr>
            </a:br>
            <a:r>
              <a:rPr lang="bg-BG" sz="2400" smtClean="0">
                <a:solidFill>
                  <a:schemeClr val="tx2">
                    <a:satMod val="130000"/>
                  </a:schemeClr>
                </a:solidFill>
              </a:rPr>
              <a:t>   1500 - 5Х</a:t>
            </a:r>
            <a:r>
              <a:rPr lang="bg-BG" sz="2400" b="1" baseline="-25000" smtClean="0">
                <a:solidFill>
                  <a:schemeClr val="tx2">
                    <a:satMod val="130000"/>
                  </a:schemeClr>
                </a:solidFill>
              </a:rPr>
              <a:t>2 </a:t>
            </a:r>
            <a:r>
              <a:rPr lang="bg-BG" sz="2400" b="1" smtClean="0">
                <a:solidFill>
                  <a:schemeClr val="tx2">
                    <a:satMod val="130000"/>
                  </a:schemeClr>
                </a:solidFill>
              </a:rPr>
              <a:t>= </a:t>
            </a:r>
            <a:r>
              <a:rPr lang="bg-BG" sz="2400" smtClean="0">
                <a:solidFill>
                  <a:schemeClr val="tx2">
                    <a:satMod val="130000"/>
                  </a:schemeClr>
                </a:solidFill>
              </a:rPr>
              <a:t>1000 (толкова остават в т. </a:t>
            </a:r>
            <a:r>
              <a:rPr lang="en-US" sz="2400" smtClean="0">
                <a:solidFill>
                  <a:schemeClr val="tx2">
                    <a:satMod val="130000"/>
                  </a:schemeClr>
                </a:solidFill>
              </a:rPr>
              <a:t>E</a:t>
            </a:r>
            <a:r>
              <a:rPr lang="bg-BG" sz="2400" smtClean="0">
                <a:solidFill>
                  <a:schemeClr val="tx2">
                    <a:satMod val="130000"/>
                  </a:schemeClr>
                </a:solidFill>
              </a:rPr>
              <a:t>)    т. е. Х</a:t>
            </a:r>
            <a:r>
              <a:rPr lang="bg-BG" sz="2400" b="1" baseline="-25000" smtClean="0">
                <a:solidFill>
                  <a:schemeClr val="tx2">
                    <a:satMod val="130000"/>
                  </a:schemeClr>
                </a:solidFill>
              </a:rPr>
              <a:t>2</a:t>
            </a:r>
            <a:r>
              <a:rPr lang="bg-BG" sz="2400" smtClean="0">
                <a:solidFill>
                  <a:schemeClr val="tx2">
                    <a:satMod val="130000"/>
                  </a:schemeClr>
                </a:solidFill>
              </a:rPr>
              <a:t> = 500/5 </a:t>
            </a:r>
            <a:br>
              <a:rPr lang="bg-BG" sz="2400" smtClean="0">
                <a:solidFill>
                  <a:schemeClr val="tx2">
                    <a:satMod val="130000"/>
                  </a:schemeClr>
                </a:solidFill>
              </a:rPr>
            </a:br>
            <a:r>
              <a:rPr lang="bg-BG" sz="2400" smtClean="0">
                <a:solidFill>
                  <a:schemeClr val="tx2">
                    <a:satMod val="130000"/>
                  </a:schemeClr>
                </a:solidFill>
              </a:rPr>
              <a:t>  Или с три резервоара можем да се придвижим напред с:</a:t>
            </a:r>
            <a:br>
              <a:rPr lang="bg-BG" sz="2400" smtClean="0">
                <a:solidFill>
                  <a:schemeClr val="tx2">
                    <a:satMod val="130000"/>
                  </a:schemeClr>
                </a:solidFill>
              </a:rPr>
            </a:br>
            <a:r>
              <a:rPr lang="bg-BG" sz="2400" smtClean="0">
                <a:solidFill>
                  <a:schemeClr val="tx2">
                    <a:satMod val="130000"/>
                  </a:schemeClr>
                </a:solidFill>
              </a:rPr>
              <a:t>	</a:t>
            </a:r>
            <a:r>
              <a:rPr lang="en-US" sz="2400" smtClean="0">
                <a:solidFill>
                  <a:schemeClr val="tx2">
                    <a:satMod val="130000"/>
                  </a:schemeClr>
                </a:solidFill>
              </a:rPr>
              <a:t>DIST</a:t>
            </a:r>
            <a:r>
              <a:rPr lang="bg-BG" sz="2400" b="1" baseline="-25000" smtClean="0">
                <a:solidFill>
                  <a:schemeClr val="tx2">
                    <a:satMod val="130000"/>
                  </a:schemeClr>
                </a:solidFill>
              </a:rPr>
              <a:t>3</a:t>
            </a:r>
            <a:r>
              <a:rPr lang="en-US" sz="2400" smtClean="0">
                <a:solidFill>
                  <a:schemeClr val="tx2">
                    <a:satMod val="130000"/>
                  </a:schemeClr>
                </a:solidFill>
              </a:rPr>
              <a:t> = 500 + </a:t>
            </a:r>
            <a:r>
              <a:rPr lang="bg-BG" sz="2400" smtClean="0">
                <a:solidFill>
                  <a:schemeClr val="tx2">
                    <a:satMod val="130000"/>
                  </a:schemeClr>
                </a:solidFill>
              </a:rPr>
              <a:t>Х</a:t>
            </a:r>
            <a:r>
              <a:rPr lang="bg-BG" sz="2400" b="1" baseline="-25000" smtClean="0">
                <a:solidFill>
                  <a:schemeClr val="tx2">
                    <a:satMod val="130000"/>
                  </a:schemeClr>
                </a:solidFill>
              </a:rPr>
              <a:t>1</a:t>
            </a:r>
            <a:r>
              <a:rPr lang="en-US" sz="2400" smtClean="0">
                <a:solidFill>
                  <a:schemeClr val="tx2">
                    <a:satMod val="130000"/>
                  </a:schemeClr>
                </a:solidFill>
              </a:rPr>
              <a:t> </a:t>
            </a:r>
            <a:r>
              <a:rPr lang="bg-BG" sz="2400" smtClean="0">
                <a:solidFill>
                  <a:schemeClr val="tx2">
                    <a:satMod val="130000"/>
                  </a:schemeClr>
                </a:solidFill>
              </a:rPr>
              <a:t>+Х</a:t>
            </a:r>
            <a:r>
              <a:rPr lang="bg-BG" sz="2400" b="1" baseline="-25000" smtClean="0">
                <a:solidFill>
                  <a:schemeClr val="tx2">
                    <a:satMod val="130000"/>
                  </a:schemeClr>
                </a:solidFill>
              </a:rPr>
              <a:t>2 </a:t>
            </a:r>
            <a:r>
              <a:rPr lang="en-US" sz="2400" smtClean="0">
                <a:solidFill>
                  <a:schemeClr val="tx2">
                    <a:satMod val="130000"/>
                  </a:schemeClr>
                </a:solidFill>
              </a:rPr>
              <a:t>=  500 (</a:t>
            </a:r>
            <a:r>
              <a:rPr lang="en-US" sz="2400" smtClean="0">
                <a:solidFill>
                  <a:schemeClr val="tx2">
                    <a:satMod val="130000"/>
                  </a:schemeClr>
                </a:solidFill>
                <a:latin typeface="Corbel" pitchFamily="34" charset="0"/>
              </a:rPr>
              <a:t>1 +1/3</a:t>
            </a:r>
            <a:r>
              <a:rPr lang="bg-BG" sz="2400" smtClean="0">
                <a:solidFill>
                  <a:schemeClr val="tx2">
                    <a:satMod val="130000"/>
                  </a:schemeClr>
                </a:solidFill>
              </a:rPr>
              <a:t> + 1/5</a:t>
            </a:r>
            <a:r>
              <a:rPr lang="en-US" sz="2400" smtClean="0">
                <a:solidFill>
                  <a:schemeClr val="tx2">
                    <a:satMod val="130000"/>
                  </a:schemeClr>
                </a:solidFill>
                <a:latin typeface="Corbel" pitchFamily="34" charset="0"/>
              </a:rPr>
              <a:t>) </a:t>
            </a:r>
            <a:r>
              <a:rPr lang="bg-BG" sz="2400" smtClean="0">
                <a:solidFill>
                  <a:schemeClr val="tx2">
                    <a:satMod val="130000"/>
                  </a:schemeClr>
                </a:solidFill>
              </a:rPr>
              <a:t>мили</a:t>
            </a:r>
            <a:br>
              <a:rPr lang="bg-BG" sz="2400" smtClean="0">
                <a:solidFill>
                  <a:schemeClr val="tx2">
                    <a:satMod val="130000"/>
                  </a:schemeClr>
                </a:solidFill>
              </a:rPr>
            </a:br>
            <a:r>
              <a:rPr lang="bg-BG" sz="800" smtClean="0">
                <a:solidFill>
                  <a:schemeClr val="tx2">
                    <a:satMod val="130000"/>
                  </a:schemeClr>
                </a:solidFill>
              </a:rPr>
              <a:t/>
            </a:r>
            <a:br>
              <a:rPr lang="bg-BG" sz="800" smtClean="0">
                <a:solidFill>
                  <a:schemeClr val="tx2">
                    <a:satMod val="130000"/>
                  </a:schemeClr>
                </a:solidFill>
              </a:rPr>
            </a:br>
            <a:endParaRPr lang="en-US" sz="2400" smtClean="0">
              <a:solidFill>
                <a:schemeClr val="tx2">
                  <a:satMod val="130000"/>
                </a:schemeClr>
              </a:solidFill>
            </a:endParaRPr>
          </a:p>
        </p:txBody>
      </p:sp>
      <p:grpSp>
        <p:nvGrpSpPr>
          <p:cNvPr id="56323" name="Group 1036"/>
          <p:cNvGrpSpPr>
            <a:grpSpLocks/>
          </p:cNvGrpSpPr>
          <p:nvPr/>
        </p:nvGrpSpPr>
        <p:grpSpPr bwMode="auto">
          <a:xfrm>
            <a:off x="684213" y="1484313"/>
            <a:ext cx="8001000" cy="720725"/>
            <a:chOff x="384" y="3507"/>
            <a:chExt cx="5040" cy="381"/>
          </a:xfrm>
        </p:grpSpPr>
        <p:sp>
          <p:nvSpPr>
            <p:cNvPr id="56332" name="Line 1037"/>
            <p:cNvSpPr>
              <a:spLocks noChangeShapeType="1"/>
            </p:cNvSpPr>
            <p:nvPr/>
          </p:nvSpPr>
          <p:spPr bwMode="auto">
            <a:xfrm>
              <a:off x="672" y="3744"/>
              <a:ext cx="4368" cy="0"/>
            </a:xfrm>
            <a:prstGeom prst="line">
              <a:avLst/>
            </a:prstGeom>
            <a:noFill/>
            <a:ln w="9525">
              <a:solidFill>
                <a:schemeClr val="tx1"/>
              </a:solidFill>
              <a:round/>
              <a:headEnd/>
              <a:tailEnd/>
            </a:ln>
          </p:spPr>
          <p:txBody>
            <a:bodyPr/>
            <a:lstStyle/>
            <a:p>
              <a:endParaRPr lang="bg-BG"/>
            </a:p>
          </p:txBody>
        </p:sp>
        <p:sp>
          <p:nvSpPr>
            <p:cNvPr id="56333" name="Text Box 1038"/>
            <p:cNvSpPr txBox="1">
              <a:spLocks noChangeArrowheads="1"/>
            </p:cNvSpPr>
            <p:nvPr/>
          </p:nvSpPr>
          <p:spPr bwMode="auto">
            <a:xfrm>
              <a:off x="384" y="3600"/>
              <a:ext cx="288" cy="288"/>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56334" name="Text Box 1039"/>
            <p:cNvSpPr txBox="1">
              <a:spLocks noChangeArrowheads="1"/>
            </p:cNvSpPr>
            <p:nvPr/>
          </p:nvSpPr>
          <p:spPr bwMode="auto">
            <a:xfrm>
              <a:off x="1929" y="3510"/>
              <a:ext cx="362" cy="192"/>
            </a:xfrm>
            <a:prstGeom prst="rect">
              <a:avLst/>
            </a:prstGeom>
            <a:noFill/>
            <a:ln w="9525">
              <a:noFill/>
              <a:miter lim="800000"/>
              <a:headEnd/>
              <a:tailEnd/>
            </a:ln>
          </p:spPr>
          <p:txBody>
            <a:bodyPr>
              <a:spAutoFit/>
            </a:bodyPr>
            <a:lstStyle/>
            <a:p>
              <a:pPr>
                <a:spcBef>
                  <a:spcPct val="50000"/>
                </a:spcBef>
              </a:pPr>
              <a:r>
                <a:rPr lang="bg-BG">
                  <a:solidFill>
                    <a:schemeClr val="tx2"/>
                  </a:solidFill>
                </a:rPr>
                <a:t>Х</a:t>
              </a:r>
              <a:r>
                <a:rPr lang="bg-BG" b="1" baseline="-25000">
                  <a:solidFill>
                    <a:schemeClr val="tx2"/>
                  </a:solidFill>
                </a:rPr>
                <a:t>2</a:t>
              </a:r>
              <a:endParaRPr lang="en-US" b="1" baseline="-25000">
                <a:solidFill>
                  <a:schemeClr val="tx2"/>
                </a:solidFill>
              </a:endParaRPr>
            </a:p>
          </p:txBody>
        </p:sp>
        <p:sp>
          <p:nvSpPr>
            <p:cNvPr id="56335" name="Text Box 1040"/>
            <p:cNvSpPr txBox="1">
              <a:spLocks noChangeArrowheads="1"/>
            </p:cNvSpPr>
            <p:nvPr/>
          </p:nvSpPr>
          <p:spPr bwMode="auto">
            <a:xfrm>
              <a:off x="2393" y="3507"/>
              <a:ext cx="384" cy="192"/>
            </a:xfrm>
            <a:prstGeom prst="rect">
              <a:avLst/>
            </a:prstGeom>
            <a:noFill/>
            <a:ln w="9525">
              <a:noFill/>
              <a:miter lim="800000"/>
              <a:headEnd/>
              <a:tailEnd/>
            </a:ln>
          </p:spPr>
          <p:txBody>
            <a:bodyPr>
              <a:spAutoFit/>
            </a:bodyPr>
            <a:lstStyle/>
            <a:p>
              <a:pPr>
                <a:spcBef>
                  <a:spcPct val="50000"/>
                </a:spcBef>
              </a:pPr>
              <a:r>
                <a:rPr lang="bg-BG">
                  <a:solidFill>
                    <a:schemeClr val="tx2"/>
                  </a:solidFill>
                </a:rPr>
                <a:t>Х</a:t>
              </a:r>
              <a:r>
                <a:rPr lang="bg-BG" b="1" baseline="-25000">
                  <a:solidFill>
                    <a:schemeClr val="tx2"/>
                  </a:solidFill>
                </a:rPr>
                <a:t>1</a:t>
              </a:r>
              <a:endParaRPr lang="en-US" b="1" baseline="-25000">
                <a:solidFill>
                  <a:schemeClr val="tx2"/>
                </a:solidFill>
              </a:endParaRPr>
            </a:p>
          </p:txBody>
        </p:sp>
        <p:sp>
          <p:nvSpPr>
            <p:cNvPr id="56336" name="Text Box 1041"/>
            <p:cNvSpPr txBox="1">
              <a:spLocks noChangeArrowheads="1"/>
            </p:cNvSpPr>
            <p:nvPr/>
          </p:nvSpPr>
          <p:spPr bwMode="auto">
            <a:xfrm>
              <a:off x="5136" y="3600"/>
              <a:ext cx="288" cy="288"/>
            </a:xfrm>
            <a:prstGeom prst="rect">
              <a:avLst/>
            </a:prstGeom>
            <a:noFill/>
            <a:ln w="9525">
              <a:noFill/>
              <a:miter lim="800000"/>
              <a:headEnd/>
              <a:tailEnd/>
            </a:ln>
          </p:spPr>
          <p:txBody>
            <a:bodyPr>
              <a:spAutoFit/>
            </a:bodyPr>
            <a:lstStyle/>
            <a:p>
              <a:pPr>
                <a:spcBef>
                  <a:spcPct val="50000"/>
                </a:spcBef>
              </a:pPr>
              <a:r>
                <a:rPr lang="bg-BG"/>
                <a:t>В</a:t>
              </a:r>
              <a:endParaRPr lang="en-US"/>
            </a:p>
          </p:txBody>
        </p:sp>
        <p:sp>
          <p:nvSpPr>
            <p:cNvPr id="56337" name="Line 1042"/>
            <p:cNvSpPr>
              <a:spLocks noChangeShapeType="1"/>
            </p:cNvSpPr>
            <p:nvPr/>
          </p:nvSpPr>
          <p:spPr bwMode="auto">
            <a:xfrm>
              <a:off x="5040" y="3696"/>
              <a:ext cx="0" cy="96"/>
            </a:xfrm>
            <a:prstGeom prst="line">
              <a:avLst/>
            </a:prstGeom>
            <a:noFill/>
            <a:ln w="9525">
              <a:solidFill>
                <a:schemeClr val="tx1"/>
              </a:solidFill>
              <a:round/>
              <a:headEnd/>
              <a:tailEnd/>
            </a:ln>
          </p:spPr>
          <p:txBody>
            <a:bodyPr/>
            <a:lstStyle/>
            <a:p>
              <a:endParaRPr lang="bg-BG"/>
            </a:p>
          </p:txBody>
        </p:sp>
        <p:sp>
          <p:nvSpPr>
            <p:cNvPr id="56338" name="Line 1043"/>
            <p:cNvSpPr>
              <a:spLocks noChangeShapeType="1"/>
            </p:cNvSpPr>
            <p:nvPr/>
          </p:nvSpPr>
          <p:spPr bwMode="auto">
            <a:xfrm>
              <a:off x="672" y="3696"/>
              <a:ext cx="0" cy="96"/>
            </a:xfrm>
            <a:prstGeom prst="line">
              <a:avLst/>
            </a:prstGeom>
            <a:noFill/>
            <a:ln w="9525">
              <a:solidFill>
                <a:schemeClr val="tx1"/>
              </a:solidFill>
              <a:round/>
              <a:headEnd/>
              <a:tailEnd/>
            </a:ln>
          </p:spPr>
          <p:txBody>
            <a:bodyPr/>
            <a:lstStyle/>
            <a:p>
              <a:endParaRPr lang="bg-BG"/>
            </a:p>
          </p:txBody>
        </p:sp>
        <p:sp>
          <p:nvSpPr>
            <p:cNvPr id="56339" name="Line 1044"/>
            <p:cNvSpPr>
              <a:spLocks noChangeShapeType="1"/>
            </p:cNvSpPr>
            <p:nvPr/>
          </p:nvSpPr>
          <p:spPr bwMode="auto">
            <a:xfrm>
              <a:off x="2832" y="3696"/>
              <a:ext cx="0" cy="96"/>
            </a:xfrm>
            <a:prstGeom prst="line">
              <a:avLst/>
            </a:prstGeom>
            <a:noFill/>
            <a:ln w="9525">
              <a:solidFill>
                <a:schemeClr val="tx1"/>
              </a:solidFill>
              <a:round/>
              <a:headEnd/>
              <a:tailEnd/>
            </a:ln>
          </p:spPr>
          <p:txBody>
            <a:bodyPr/>
            <a:lstStyle/>
            <a:p>
              <a:endParaRPr lang="bg-BG"/>
            </a:p>
          </p:txBody>
        </p:sp>
        <p:sp>
          <p:nvSpPr>
            <p:cNvPr id="56340" name="Line 1045"/>
            <p:cNvSpPr>
              <a:spLocks noChangeShapeType="1"/>
            </p:cNvSpPr>
            <p:nvPr/>
          </p:nvSpPr>
          <p:spPr bwMode="auto">
            <a:xfrm>
              <a:off x="1872" y="3696"/>
              <a:ext cx="0" cy="96"/>
            </a:xfrm>
            <a:prstGeom prst="line">
              <a:avLst/>
            </a:prstGeom>
            <a:noFill/>
            <a:ln w="9525">
              <a:solidFill>
                <a:srgbClr val="FF0000"/>
              </a:solidFill>
              <a:round/>
              <a:headEnd/>
              <a:tailEnd/>
            </a:ln>
          </p:spPr>
          <p:txBody>
            <a:bodyPr/>
            <a:lstStyle/>
            <a:p>
              <a:endParaRPr lang="bg-BG"/>
            </a:p>
          </p:txBody>
        </p:sp>
        <p:sp>
          <p:nvSpPr>
            <p:cNvPr id="56341" name="Line 1046"/>
            <p:cNvSpPr>
              <a:spLocks noChangeShapeType="1"/>
            </p:cNvSpPr>
            <p:nvPr/>
          </p:nvSpPr>
          <p:spPr bwMode="auto">
            <a:xfrm>
              <a:off x="2256" y="3696"/>
              <a:ext cx="0" cy="96"/>
            </a:xfrm>
            <a:prstGeom prst="line">
              <a:avLst/>
            </a:prstGeom>
            <a:noFill/>
            <a:ln w="9525">
              <a:solidFill>
                <a:schemeClr val="tx1"/>
              </a:solidFill>
              <a:round/>
              <a:headEnd/>
              <a:tailEnd/>
            </a:ln>
          </p:spPr>
          <p:txBody>
            <a:bodyPr/>
            <a:lstStyle/>
            <a:p>
              <a:endParaRPr lang="bg-BG"/>
            </a:p>
          </p:txBody>
        </p:sp>
      </p:grpSp>
      <p:sp>
        <p:nvSpPr>
          <p:cNvPr id="56324" name="Line 1047"/>
          <p:cNvSpPr>
            <a:spLocks noChangeShapeType="1"/>
          </p:cNvSpPr>
          <p:nvPr/>
        </p:nvSpPr>
        <p:spPr bwMode="auto">
          <a:xfrm>
            <a:off x="3059113" y="1989138"/>
            <a:ext cx="576262" cy="0"/>
          </a:xfrm>
          <a:prstGeom prst="line">
            <a:avLst/>
          </a:prstGeom>
          <a:noFill/>
          <a:ln w="9525">
            <a:solidFill>
              <a:schemeClr val="tx1"/>
            </a:solidFill>
            <a:round/>
            <a:headEnd/>
            <a:tailEnd type="triangle" w="med" len="med"/>
          </a:ln>
        </p:spPr>
        <p:txBody>
          <a:bodyPr/>
          <a:lstStyle/>
          <a:p>
            <a:endParaRPr lang="bg-BG"/>
          </a:p>
        </p:txBody>
      </p:sp>
      <p:sp>
        <p:nvSpPr>
          <p:cNvPr id="56325" name="Line 1048"/>
          <p:cNvSpPr>
            <a:spLocks noChangeShapeType="1"/>
          </p:cNvSpPr>
          <p:nvPr/>
        </p:nvSpPr>
        <p:spPr bwMode="auto">
          <a:xfrm>
            <a:off x="3059113" y="2276475"/>
            <a:ext cx="576262" cy="0"/>
          </a:xfrm>
          <a:prstGeom prst="line">
            <a:avLst/>
          </a:prstGeom>
          <a:noFill/>
          <a:ln w="9525">
            <a:solidFill>
              <a:schemeClr val="tx1"/>
            </a:solidFill>
            <a:round/>
            <a:headEnd/>
            <a:tailEnd type="triangle" w="med" len="med"/>
          </a:ln>
        </p:spPr>
        <p:txBody>
          <a:bodyPr/>
          <a:lstStyle/>
          <a:p>
            <a:endParaRPr lang="bg-BG"/>
          </a:p>
        </p:txBody>
      </p:sp>
      <p:sp>
        <p:nvSpPr>
          <p:cNvPr id="56326" name="Line 1049"/>
          <p:cNvSpPr>
            <a:spLocks noChangeShapeType="1"/>
          </p:cNvSpPr>
          <p:nvPr/>
        </p:nvSpPr>
        <p:spPr bwMode="auto">
          <a:xfrm>
            <a:off x="3059113" y="2133600"/>
            <a:ext cx="576262" cy="0"/>
          </a:xfrm>
          <a:prstGeom prst="line">
            <a:avLst/>
          </a:prstGeom>
          <a:noFill/>
          <a:ln w="9525">
            <a:solidFill>
              <a:schemeClr val="tx1"/>
            </a:solidFill>
            <a:round/>
            <a:headEnd/>
            <a:tailEnd type="triangle" w="med" len="med"/>
          </a:ln>
        </p:spPr>
        <p:txBody>
          <a:bodyPr/>
          <a:lstStyle/>
          <a:p>
            <a:endParaRPr lang="bg-BG"/>
          </a:p>
        </p:txBody>
      </p:sp>
      <p:sp>
        <p:nvSpPr>
          <p:cNvPr id="56327" name="Line 1050"/>
          <p:cNvSpPr>
            <a:spLocks noChangeShapeType="1"/>
          </p:cNvSpPr>
          <p:nvPr/>
        </p:nvSpPr>
        <p:spPr bwMode="auto">
          <a:xfrm flipH="1">
            <a:off x="3059113" y="2205038"/>
            <a:ext cx="576262" cy="0"/>
          </a:xfrm>
          <a:prstGeom prst="line">
            <a:avLst/>
          </a:prstGeom>
          <a:noFill/>
          <a:ln w="9525">
            <a:solidFill>
              <a:schemeClr val="tx1"/>
            </a:solidFill>
            <a:round/>
            <a:headEnd/>
            <a:tailEnd type="triangle" w="med" len="med"/>
          </a:ln>
        </p:spPr>
        <p:txBody>
          <a:bodyPr/>
          <a:lstStyle/>
          <a:p>
            <a:endParaRPr lang="bg-BG"/>
          </a:p>
        </p:txBody>
      </p:sp>
      <p:sp>
        <p:nvSpPr>
          <p:cNvPr id="56328" name="Line 1051"/>
          <p:cNvSpPr>
            <a:spLocks noChangeShapeType="1"/>
          </p:cNvSpPr>
          <p:nvPr/>
        </p:nvSpPr>
        <p:spPr bwMode="auto">
          <a:xfrm flipH="1">
            <a:off x="3059113" y="2060575"/>
            <a:ext cx="576262" cy="0"/>
          </a:xfrm>
          <a:prstGeom prst="line">
            <a:avLst/>
          </a:prstGeom>
          <a:noFill/>
          <a:ln w="9525">
            <a:solidFill>
              <a:schemeClr val="tx1"/>
            </a:solidFill>
            <a:round/>
            <a:headEnd/>
            <a:tailEnd type="triangle" w="med" len="med"/>
          </a:ln>
        </p:spPr>
        <p:txBody>
          <a:bodyPr/>
          <a:lstStyle/>
          <a:p>
            <a:endParaRPr lang="bg-BG"/>
          </a:p>
        </p:txBody>
      </p:sp>
      <p:sp>
        <p:nvSpPr>
          <p:cNvPr id="56329" name="TextBox 19"/>
          <p:cNvSpPr txBox="1">
            <a:spLocks noChangeArrowheads="1"/>
          </p:cNvSpPr>
          <p:nvPr/>
        </p:nvSpPr>
        <p:spPr bwMode="auto">
          <a:xfrm>
            <a:off x="4500563" y="1916113"/>
            <a:ext cx="431800" cy="461962"/>
          </a:xfrm>
          <a:prstGeom prst="rect">
            <a:avLst/>
          </a:prstGeom>
          <a:noFill/>
          <a:ln w="9525">
            <a:noFill/>
            <a:miter lim="800000"/>
            <a:headEnd/>
            <a:tailEnd/>
          </a:ln>
        </p:spPr>
        <p:txBody>
          <a:bodyPr>
            <a:spAutoFit/>
          </a:bodyPr>
          <a:lstStyle/>
          <a:p>
            <a:r>
              <a:rPr lang="en-US"/>
              <a:t>C</a:t>
            </a:r>
            <a:endParaRPr lang="bg-BG"/>
          </a:p>
        </p:txBody>
      </p:sp>
      <p:sp>
        <p:nvSpPr>
          <p:cNvPr id="56330" name="TextBox 21"/>
          <p:cNvSpPr txBox="1">
            <a:spLocks noChangeArrowheads="1"/>
          </p:cNvSpPr>
          <p:nvPr/>
        </p:nvSpPr>
        <p:spPr bwMode="auto">
          <a:xfrm>
            <a:off x="3606800" y="1925638"/>
            <a:ext cx="358775" cy="461962"/>
          </a:xfrm>
          <a:prstGeom prst="rect">
            <a:avLst/>
          </a:prstGeom>
          <a:noFill/>
          <a:ln w="9525">
            <a:noFill/>
            <a:miter lim="800000"/>
            <a:headEnd/>
            <a:tailEnd/>
          </a:ln>
        </p:spPr>
        <p:txBody>
          <a:bodyPr>
            <a:spAutoFit/>
          </a:bodyPr>
          <a:lstStyle/>
          <a:p>
            <a:r>
              <a:rPr lang="en-US"/>
              <a:t>D</a:t>
            </a:r>
            <a:endParaRPr lang="bg-BG"/>
          </a:p>
        </p:txBody>
      </p:sp>
      <p:sp>
        <p:nvSpPr>
          <p:cNvPr id="56331" name="TextBox 22"/>
          <p:cNvSpPr txBox="1">
            <a:spLocks noChangeArrowheads="1"/>
          </p:cNvSpPr>
          <p:nvPr/>
        </p:nvSpPr>
        <p:spPr bwMode="auto">
          <a:xfrm>
            <a:off x="2738438" y="1912938"/>
            <a:ext cx="358775" cy="461962"/>
          </a:xfrm>
          <a:prstGeom prst="rect">
            <a:avLst/>
          </a:prstGeom>
          <a:noFill/>
          <a:ln w="9525">
            <a:noFill/>
            <a:miter lim="800000"/>
            <a:headEnd/>
            <a:tailEnd/>
          </a:ln>
        </p:spPr>
        <p:txBody>
          <a:bodyPr>
            <a:spAutoFit/>
          </a:bodyPr>
          <a:lstStyle/>
          <a:p>
            <a:r>
              <a:rPr lang="en-US"/>
              <a:t>E</a:t>
            </a:r>
            <a:endParaRPr lang="bg-BG"/>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title"/>
          </p:nvPr>
        </p:nvSpPr>
        <p:spPr>
          <a:xfrm>
            <a:off x="395288" y="404813"/>
            <a:ext cx="8208962" cy="6119812"/>
          </a:xfrm>
        </p:spPr>
        <p:txBody>
          <a:bodyPr/>
          <a:lstStyle/>
          <a:p>
            <a:pPr eaLnBrk="1" fontAlgn="auto" hangingPunct="1">
              <a:spcAft>
                <a:spcPts val="0"/>
              </a:spcAft>
              <a:defRPr/>
            </a:pPr>
            <a:r>
              <a:rPr lang="bg-BG" sz="2800" smtClean="0">
                <a:solidFill>
                  <a:schemeClr val="tx2">
                    <a:satMod val="130000"/>
                  </a:schemeClr>
                </a:solidFill>
              </a:rPr>
              <a:t>Ако продължим този процес, ще получим следната закономерност:</a:t>
            </a:r>
            <a:br>
              <a:rPr lang="bg-BG" sz="2800" smtClean="0">
                <a:solidFill>
                  <a:schemeClr val="tx2">
                    <a:satMod val="130000"/>
                  </a:schemeClr>
                </a:solidFill>
              </a:rPr>
            </a:br>
            <a:r>
              <a:rPr lang="bg-BG" sz="2800" smtClean="0">
                <a:solidFill>
                  <a:schemeClr val="tx2">
                    <a:satMod val="130000"/>
                  </a:schemeClr>
                </a:solidFill>
              </a:rPr>
              <a:t>	</a:t>
            </a:r>
            <a:r>
              <a:rPr lang="en-US" sz="2800" smtClean="0">
                <a:solidFill>
                  <a:schemeClr val="tx2">
                    <a:satMod val="130000"/>
                  </a:schemeClr>
                </a:solidFill>
              </a:rPr>
              <a:t>DIST</a:t>
            </a:r>
            <a:r>
              <a:rPr lang="en-US" sz="2800" b="1" baseline="-25000" smtClean="0">
                <a:solidFill>
                  <a:schemeClr val="tx2">
                    <a:satMod val="130000"/>
                  </a:schemeClr>
                </a:solidFill>
              </a:rPr>
              <a:t>N</a:t>
            </a:r>
            <a:r>
              <a:rPr lang="en-US" sz="2800" smtClean="0">
                <a:solidFill>
                  <a:schemeClr val="tx2">
                    <a:satMod val="130000"/>
                  </a:schemeClr>
                </a:solidFill>
              </a:rPr>
              <a:t> =  500 (1 +1/3</a:t>
            </a:r>
            <a:r>
              <a:rPr lang="bg-BG" sz="2800" smtClean="0">
                <a:solidFill>
                  <a:schemeClr val="tx2">
                    <a:satMod val="130000"/>
                  </a:schemeClr>
                </a:solidFill>
              </a:rPr>
              <a:t> + 1/5</a:t>
            </a:r>
            <a:r>
              <a:rPr lang="en-US" sz="2800" smtClean="0">
                <a:solidFill>
                  <a:schemeClr val="tx2">
                    <a:satMod val="130000"/>
                  </a:schemeClr>
                </a:solidFill>
              </a:rPr>
              <a:t> + … + 1/(2N+1))</a:t>
            </a:r>
            <a:br>
              <a:rPr lang="en-US" sz="2800" smtClean="0">
                <a:solidFill>
                  <a:schemeClr val="tx2">
                    <a:satMod val="130000"/>
                  </a:schemeClr>
                </a:solidFill>
              </a:rPr>
            </a:br>
            <a:r>
              <a:rPr lang="bg-BG" sz="2800" smtClean="0">
                <a:solidFill>
                  <a:schemeClr val="tx2">
                    <a:satMod val="130000"/>
                  </a:schemeClr>
                </a:solidFill>
              </a:rPr>
              <a:t>	Задачата се решава с </a:t>
            </a:r>
            <a:r>
              <a:rPr lang="en-US" sz="2800" smtClean="0">
                <a:solidFill>
                  <a:schemeClr val="tx2">
                    <a:satMod val="130000"/>
                  </a:schemeClr>
                </a:solidFill>
              </a:rPr>
              <a:t>N</a:t>
            </a:r>
            <a:r>
              <a:rPr lang="bg-BG" sz="2800" smtClean="0">
                <a:solidFill>
                  <a:schemeClr val="tx2">
                    <a:satMod val="130000"/>
                  </a:schemeClr>
                </a:solidFill>
              </a:rPr>
              <a:t> = 7</a:t>
            </a:r>
          </a:p>
        </p:txBody>
      </p:sp>
      <p:sp>
        <p:nvSpPr>
          <p:cNvPr id="57347" name="Line 8"/>
          <p:cNvSpPr>
            <a:spLocks noChangeShapeType="1"/>
          </p:cNvSpPr>
          <p:nvPr/>
        </p:nvSpPr>
        <p:spPr bwMode="auto">
          <a:xfrm>
            <a:off x="1141413" y="1730375"/>
            <a:ext cx="6934200" cy="0"/>
          </a:xfrm>
          <a:prstGeom prst="line">
            <a:avLst/>
          </a:prstGeom>
          <a:noFill/>
          <a:ln w="9525">
            <a:solidFill>
              <a:schemeClr val="tx1"/>
            </a:solidFill>
            <a:round/>
            <a:headEnd/>
            <a:tailEnd/>
          </a:ln>
        </p:spPr>
        <p:txBody>
          <a:bodyPr/>
          <a:lstStyle/>
          <a:p>
            <a:endParaRPr lang="bg-BG"/>
          </a:p>
        </p:txBody>
      </p:sp>
      <p:sp>
        <p:nvSpPr>
          <p:cNvPr id="57348" name="Text Box 9"/>
          <p:cNvSpPr txBox="1">
            <a:spLocks noChangeArrowheads="1"/>
          </p:cNvSpPr>
          <p:nvPr/>
        </p:nvSpPr>
        <p:spPr bwMode="auto">
          <a:xfrm>
            <a:off x="684213" y="1501775"/>
            <a:ext cx="457200" cy="457200"/>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57349" name="Text Box 11"/>
          <p:cNvSpPr txBox="1">
            <a:spLocks noChangeArrowheads="1"/>
          </p:cNvSpPr>
          <p:nvPr/>
        </p:nvSpPr>
        <p:spPr bwMode="auto">
          <a:xfrm>
            <a:off x="4305300" y="1222375"/>
            <a:ext cx="647700" cy="366713"/>
          </a:xfrm>
          <a:prstGeom prst="rect">
            <a:avLst/>
          </a:prstGeom>
          <a:noFill/>
          <a:ln w="9525">
            <a:noFill/>
            <a:miter lim="800000"/>
            <a:headEnd/>
            <a:tailEnd/>
          </a:ln>
        </p:spPr>
        <p:txBody>
          <a:bodyPr>
            <a:spAutoFit/>
          </a:bodyPr>
          <a:lstStyle/>
          <a:p>
            <a:pPr>
              <a:spcBef>
                <a:spcPct val="50000"/>
              </a:spcBef>
            </a:pPr>
            <a:r>
              <a:rPr lang="bg-BG" sz="1800">
                <a:solidFill>
                  <a:schemeClr val="tx2"/>
                </a:solidFill>
              </a:rPr>
              <a:t>К=1</a:t>
            </a:r>
            <a:endParaRPr lang="en-US" sz="1800" b="1" baseline="-25000">
              <a:solidFill>
                <a:schemeClr val="tx2"/>
              </a:solidFill>
            </a:endParaRPr>
          </a:p>
        </p:txBody>
      </p:sp>
      <p:sp>
        <p:nvSpPr>
          <p:cNvPr id="57350" name="Text Box 12"/>
          <p:cNvSpPr txBox="1">
            <a:spLocks noChangeArrowheads="1"/>
          </p:cNvSpPr>
          <p:nvPr/>
        </p:nvSpPr>
        <p:spPr bwMode="auto">
          <a:xfrm>
            <a:off x="8228013" y="1501775"/>
            <a:ext cx="457200" cy="457200"/>
          </a:xfrm>
          <a:prstGeom prst="rect">
            <a:avLst/>
          </a:prstGeom>
          <a:noFill/>
          <a:ln w="9525">
            <a:noFill/>
            <a:miter lim="800000"/>
            <a:headEnd/>
            <a:tailEnd/>
          </a:ln>
        </p:spPr>
        <p:txBody>
          <a:bodyPr>
            <a:spAutoFit/>
          </a:bodyPr>
          <a:lstStyle/>
          <a:p>
            <a:pPr>
              <a:spcBef>
                <a:spcPct val="50000"/>
              </a:spcBef>
            </a:pPr>
            <a:r>
              <a:rPr lang="bg-BG"/>
              <a:t>В</a:t>
            </a:r>
            <a:endParaRPr lang="en-US"/>
          </a:p>
        </p:txBody>
      </p:sp>
      <p:sp>
        <p:nvSpPr>
          <p:cNvPr id="57351" name="Line 13"/>
          <p:cNvSpPr>
            <a:spLocks noChangeShapeType="1"/>
          </p:cNvSpPr>
          <p:nvPr/>
        </p:nvSpPr>
        <p:spPr bwMode="auto">
          <a:xfrm>
            <a:off x="8075613" y="1654175"/>
            <a:ext cx="0" cy="152400"/>
          </a:xfrm>
          <a:prstGeom prst="line">
            <a:avLst/>
          </a:prstGeom>
          <a:noFill/>
          <a:ln w="9525">
            <a:solidFill>
              <a:schemeClr val="tx1"/>
            </a:solidFill>
            <a:round/>
            <a:headEnd/>
            <a:tailEnd/>
          </a:ln>
        </p:spPr>
        <p:txBody>
          <a:bodyPr/>
          <a:lstStyle/>
          <a:p>
            <a:endParaRPr lang="bg-BG"/>
          </a:p>
        </p:txBody>
      </p:sp>
      <p:sp>
        <p:nvSpPr>
          <p:cNvPr id="57352" name="Line 14"/>
          <p:cNvSpPr>
            <a:spLocks noChangeShapeType="1"/>
          </p:cNvSpPr>
          <p:nvPr/>
        </p:nvSpPr>
        <p:spPr bwMode="auto">
          <a:xfrm>
            <a:off x="1141413" y="1654175"/>
            <a:ext cx="0" cy="152400"/>
          </a:xfrm>
          <a:prstGeom prst="line">
            <a:avLst/>
          </a:prstGeom>
          <a:noFill/>
          <a:ln w="9525">
            <a:solidFill>
              <a:schemeClr val="tx1"/>
            </a:solidFill>
            <a:round/>
            <a:headEnd/>
            <a:tailEnd/>
          </a:ln>
        </p:spPr>
        <p:txBody>
          <a:bodyPr/>
          <a:lstStyle/>
          <a:p>
            <a:endParaRPr lang="bg-BG"/>
          </a:p>
        </p:txBody>
      </p:sp>
      <p:sp>
        <p:nvSpPr>
          <p:cNvPr id="57353" name="Line 15"/>
          <p:cNvSpPr>
            <a:spLocks noChangeShapeType="1"/>
          </p:cNvSpPr>
          <p:nvPr/>
        </p:nvSpPr>
        <p:spPr bwMode="auto">
          <a:xfrm>
            <a:off x="4570413" y="1654175"/>
            <a:ext cx="0" cy="152400"/>
          </a:xfrm>
          <a:prstGeom prst="line">
            <a:avLst/>
          </a:prstGeom>
          <a:noFill/>
          <a:ln w="9525">
            <a:solidFill>
              <a:schemeClr val="tx1"/>
            </a:solidFill>
            <a:round/>
            <a:headEnd/>
            <a:tailEnd/>
          </a:ln>
        </p:spPr>
        <p:txBody>
          <a:bodyPr/>
          <a:lstStyle/>
          <a:p>
            <a:endParaRPr lang="bg-BG"/>
          </a:p>
        </p:txBody>
      </p:sp>
      <p:sp>
        <p:nvSpPr>
          <p:cNvPr id="57354" name="Line 16"/>
          <p:cNvSpPr>
            <a:spLocks noChangeShapeType="1"/>
          </p:cNvSpPr>
          <p:nvPr/>
        </p:nvSpPr>
        <p:spPr bwMode="auto">
          <a:xfrm>
            <a:off x="2944813" y="1654175"/>
            <a:ext cx="0" cy="152400"/>
          </a:xfrm>
          <a:prstGeom prst="line">
            <a:avLst/>
          </a:prstGeom>
          <a:noFill/>
          <a:ln w="9525">
            <a:solidFill>
              <a:schemeClr val="tx1"/>
            </a:solidFill>
            <a:round/>
            <a:headEnd/>
            <a:tailEnd/>
          </a:ln>
        </p:spPr>
        <p:txBody>
          <a:bodyPr/>
          <a:lstStyle/>
          <a:p>
            <a:endParaRPr lang="bg-BG"/>
          </a:p>
        </p:txBody>
      </p:sp>
      <p:sp>
        <p:nvSpPr>
          <p:cNvPr id="57355" name="Line 17"/>
          <p:cNvSpPr>
            <a:spLocks noChangeShapeType="1"/>
          </p:cNvSpPr>
          <p:nvPr/>
        </p:nvSpPr>
        <p:spPr bwMode="auto">
          <a:xfrm>
            <a:off x="3592513" y="1654175"/>
            <a:ext cx="0" cy="152400"/>
          </a:xfrm>
          <a:prstGeom prst="line">
            <a:avLst/>
          </a:prstGeom>
          <a:noFill/>
          <a:ln w="9525">
            <a:solidFill>
              <a:schemeClr val="tx1"/>
            </a:solidFill>
            <a:round/>
            <a:headEnd/>
            <a:tailEnd/>
          </a:ln>
        </p:spPr>
        <p:txBody>
          <a:bodyPr/>
          <a:lstStyle/>
          <a:p>
            <a:endParaRPr lang="bg-BG"/>
          </a:p>
        </p:txBody>
      </p:sp>
      <p:sp>
        <p:nvSpPr>
          <p:cNvPr id="57356" name="Line 19"/>
          <p:cNvSpPr>
            <a:spLocks noChangeShapeType="1"/>
          </p:cNvSpPr>
          <p:nvPr/>
        </p:nvSpPr>
        <p:spPr bwMode="auto">
          <a:xfrm>
            <a:off x="2365375" y="1654175"/>
            <a:ext cx="0" cy="152400"/>
          </a:xfrm>
          <a:prstGeom prst="line">
            <a:avLst/>
          </a:prstGeom>
          <a:noFill/>
          <a:ln w="9525">
            <a:solidFill>
              <a:schemeClr val="tx1"/>
            </a:solidFill>
            <a:round/>
            <a:headEnd/>
            <a:tailEnd/>
          </a:ln>
        </p:spPr>
        <p:txBody>
          <a:bodyPr/>
          <a:lstStyle/>
          <a:p>
            <a:endParaRPr lang="bg-BG"/>
          </a:p>
        </p:txBody>
      </p:sp>
      <p:sp>
        <p:nvSpPr>
          <p:cNvPr id="57357" name="Line 20"/>
          <p:cNvSpPr>
            <a:spLocks noChangeShapeType="1"/>
          </p:cNvSpPr>
          <p:nvPr/>
        </p:nvSpPr>
        <p:spPr bwMode="auto">
          <a:xfrm>
            <a:off x="1908175" y="1662113"/>
            <a:ext cx="0" cy="152400"/>
          </a:xfrm>
          <a:prstGeom prst="line">
            <a:avLst/>
          </a:prstGeom>
          <a:noFill/>
          <a:ln w="9525">
            <a:solidFill>
              <a:schemeClr val="tx1"/>
            </a:solidFill>
            <a:round/>
            <a:headEnd/>
            <a:tailEnd/>
          </a:ln>
        </p:spPr>
        <p:txBody>
          <a:bodyPr/>
          <a:lstStyle/>
          <a:p>
            <a:endParaRPr lang="bg-BG"/>
          </a:p>
        </p:txBody>
      </p:sp>
      <p:sp>
        <p:nvSpPr>
          <p:cNvPr id="57358" name="Line 21"/>
          <p:cNvSpPr>
            <a:spLocks noChangeShapeType="1"/>
          </p:cNvSpPr>
          <p:nvPr/>
        </p:nvSpPr>
        <p:spPr bwMode="auto">
          <a:xfrm>
            <a:off x="1535113" y="1666875"/>
            <a:ext cx="0" cy="152400"/>
          </a:xfrm>
          <a:prstGeom prst="line">
            <a:avLst/>
          </a:prstGeom>
          <a:noFill/>
          <a:ln w="9525">
            <a:solidFill>
              <a:schemeClr val="tx1"/>
            </a:solidFill>
            <a:round/>
            <a:headEnd/>
            <a:tailEnd/>
          </a:ln>
        </p:spPr>
        <p:txBody>
          <a:bodyPr/>
          <a:lstStyle/>
          <a:p>
            <a:endParaRPr lang="bg-BG"/>
          </a:p>
        </p:txBody>
      </p:sp>
      <p:sp>
        <p:nvSpPr>
          <p:cNvPr id="57359" name="Line 22"/>
          <p:cNvSpPr>
            <a:spLocks noChangeShapeType="1"/>
          </p:cNvSpPr>
          <p:nvPr/>
        </p:nvSpPr>
        <p:spPr bwMode="auto">
          <a:xfrm>
            <a:off x="1276350" y="1666875"/>
            <a:ext cx="0" cy="152400"/>
          </a:xfrm>
          <a:prstGeom prst="line">
            <a:avLst/>
          </a:prstGeom>
          <a:noFill/>
          <a:ln w="9525">
            <a:solidFill>
              <a:schemeClr val="tx1"/>
            </a:solidFill>
            <a:round/>
            <a:headEnd/>
            <a:tailEnd/>
          </a:ln>
        </p:spPr>
        <p:txBody>
          <a:bodyPr/>
          <a:lstStyle/>
          <a:p>
            <a:endParaRPr lang="bg-BG"/>
          </a:p>
        </p:txBody>
      </p:sp>
      <p:sp>
        <p:nvSpPr>
          <p:cNvPr id="57360" name="Text Box 23"/>
          <p:cNvSpPr txBox="1">
            <a:spLocks noChangeArrowheads="1"/>
          </p:cNvSpPr>
          <p:nvPr/>
        </p:nvSpPr>
        <p:spPr bwMode="auto">
          <a:xfrm>
            <a:off x="2665413" y="1255713"/>
            <a:ext cx="647700" cy="366712"/>
          </a:xfrm>
          <a:prstGeom prst="rect">
            <a:avLst/>
          </a:prstGeom>
          <a:noFill/>
          <a:ln w="9525">
            <a:noFill/>
            <a:miter lim="800000"/>
            <a:headEnd/>
            <a:tailEnd/>
          </a:ln>
        </p:spPr>
        <p:txBody>
          <a:bodyPr>
            <a:spAutoFit/>
          </a:bodyPr>
          <a:lstStyle/>
          <a:p>
            <a:pPr>
              <a:spcBef>
                <a:spcPct val="50000"/>
              </a:spcBef>
            </a:pPr>
            <a:r>
              <a:rPr lang="bg-BG" sz="1800">
                <a:solidFill>
                  <a:schemeClr val="tx2"/>
                </a:solidFill>
              </a:rPr>
              <a:t>К=3</a:t>
            </a:r>
            <a:endParaRPr lang="en-US" sz="1800" b="1" baseline="-25000">
              <a:solidFill>
                <a:schemeClr val="tx2"/>
              </a:solidFill>
            </a:endParaRPr>
          </a:p>
        </p:txBody>
      </p:sp>
      <p:sp>
        <p:nvSpPr>
          <p:cNvPr id="57361" name="Text Box 24"/>
          <p:cNvSpPr txBox="1">
            <a:spLocks noChangeArrowheads="1"/>
          </p:cNvSpPr>
          <p:nvPr/>
        </p:nvSpPr>
        <p:spPr bwMode="auto">
          <a:xfrm>
            <a:off x="2089150" y="1268413"/>
            <a:ext cx="647700" cy="366712"/>
          </a:xfrm>
          <a:prstGeom prst="rect">
            <a:avLst/>
          </a:prstGeom>
          <a:noFill/>
          <a:ln w="9525">
            <a:noFill/>
            <a:miter lim="800000"/>
            <a:headEnd/>
            <a:tailEnd/>
          </a:ln>
        </p:spPr>
        <p:txBody>
          <a:bodyPr>
            <a:spAutoFit/>
          </a:bodyPr>
          <a:lstStyle/>
          <a:p>
            <a:pPr>
              <a:spcBef>
                <a:spcPct val="50000"/>
              </a:spcBef>
            </a:pPr>
            <a:r>
              <a:rPr lang="bg-BG" sz="1800">
                <a:solidFill>
                  <a:schemeClr val="tx2"/>
                </a:solidFill>
              </a:rPr>
              <a:t>К=4</a:t>
            </a:r>
            <a:endParaRPr lang="en-US" sz="1800" b="1" baseline="-25000">
              <a:solidFill>
                <a:schemeClr val="tx2"/>
              </a:solidFill>
            </a:endParaRPr>
          </a:p>
        </p:txBody>
      </p:sp>
      <p:sp>
        <p:nvSpPr>
          <p:cNvPr id="57362" name="Text Box 25"/>
          <p:cNvSpPr txBox="1">
            <a:spLocks noChangeArrowheads="1"/>
          </p:cNvSpPr>
          <p:nvPr/>
        </p:nvSpPr>
        <p:spPr bwMode="auto">
          <a:xfrm>
            <a:off x="1619250" y="1763713"/>
            <a:ext cx="647700" cy="366712"/>
          </a:xfrm>
          <a:prstGeom prst="rect">
            <a:avLst/>
          </a:prstGeom>
          <a:noFill/>
          <a:ln w="9525">
            <a:noFill/>
            <a:miter lim="800000"/>
            <a:headEnd/>
            <a:tailEnd/>
          </a:ln>
        </p:spPr>
        <p:txBody>
          <a:bodyPr>
            <a:spAutoFit/>
          </a:bodyPr>
          <a:lstStyle/>
          <a:p>
            <a:pPr>
              <a:spcBef>
                <a:spcPct val="50000"/>
              </a:spcBef>
            </a:pPr>
            <a:r>
              <a:rPr lang="bg-BG" sz="1800">
                <a:solidFill>
                  <a:schemeClr val="tx2"/>
                </a:solidFill>
              </a:rPr>
              <a:t>К=5</a:t>
            </a:r>
            <a:endParaRPr lang="en-US" sz="1800" b="1" baseline="-25000">
              <a:solidFill>
                <a:schemeClr val="tx2"/>
              </a:solidFill>
            </a:endParaRPr>
          </a:p>
        </p:txBody>
      </p:sp>
      <p:sp>
        <p:nvSpPr>
          <p:cNvPr id="57363" name="Text Box 26"/>
          <p:cNvSpPr txBox="1">
            <a:spLocks noChangeArrowheads="1"/>
          </p:cNvSpPr>
          <p:nvPr/>
        </p:nvSpPr>
        <p:spPr bwMode="auto">
          <a:xfrm>
            <a:off x="1260475" y="1268413"/>
            <a:ext cx="647700" cy="366712"/>
          </a:xfrm>
          <a:prstGeom prst="rect">
            <a:avLst/>
          </a:prstGeom>
          <a:noFill/>
          <a:ln w="9525">
            <a:noFill/>
            <a:miter lim="800000"/>
            <a:headEnd/>
            <a:tailEnd/>
          </a:ln>
        </p:spPr>
        <p:txBody>
          <a:bodyPr>
            <a:spAutoFit/>
          </a:bodyPr>
          <a:lstStyle/>
          <a:p>
            <a:pPr>
              <a:spcBef>
                <a:spcPct val="50000"/>
              </a:spcBef>
            </a:pPr>
            <a:r>
              <a:rPr lang="bg-BG" sz="1800">
                <a:solidFill>
                  <a:schemeClr val="tx2"/>
                </a:solidFill>
              </a:rPr>
              <a:t>К=6</a:t>
            </a:r>
            <a:endParaRPr lang="en-US" sz="1800" b="1" baseline="-25000">
              <a:solidFill>
                <a:schemeClr val="tx2"/>
              </a:solidFill>
            </a:endParaRPr>
          </a:p>
        </p:txBody>
      </p:sp>
      <p:sp>
        <p:nvSpPr>
          <p:cNvPr id="57364" name="Text Box 27"/>
          <p:cNvSpPr txBox="1">
            <a:spLocks noChangeArrowheads="1"/>
          </p:cNvSpPr>
          <p:nvPr/>
        </p:nvSpPr>
        <p:spPr bwMode="auto">
          <a:xfrm>
            <a:off x="971550" y="1773238"/>
            <a:ext cx="647700" cy="366712"/>
          </a:xfrm>
          <a:prstGeom prst="rect">
            <a:avLst/>
          </a:prstGeom>
          <a:noFill/>
          <a:ln w="9525">
            <a:noFill/>
            <a:miter lim="800000"/>
            <a:headEnd/>
            <a:tailEnd/>
          </a:ln>
        </p:spPr>
        <p:txBody>
          <a:bodyPr>
            <a:spAutoFit/>
          </a:bodyPr>
          <a:lstStyle/>
          <a:p>
            <a:pPr>
              <a:spcBef>
                <a:spcPct val="50000"/>
              </a:spcBef>
            </a:pPr>
            <a:r>
              <a:rPr lang="bg-BG" sz="1800">
                <a:solidFill>
                  <a:schemeClr val="tx2"/>
                </a:solidFill>
              </a:rPr>
              <a:t>К=7</a:t>
            </a:r>
            <a:endParaRPr lang="en-US" sz="1800" b="1" baseline="-25000">
              <a:solidFill>
                <a:schemeClr val="tx2"/>
              </a:solidFill>
            </a:endParaRPr>
          </a:p>
        </p:txBody>
      </p:sp>
      <p:sp>
        <p:nvSpPr>
          <p:cNvPr id="57365" name="Text Box 28"/>
          <p:cNvSpPr txBox="1">
            <a:spLocks noChangeArrowheads="1"/>
          </p:cNvSpPr>
          <p:nvPr/>
        </p:nvSpPr>
        <p:spPr bwMode="auto">
          <a:xfrm>
            <a:off x="3289300" y="1247775"/>
            <a:ext cx="647700" cy="366713"/>
          </a:xfrm>
          <a:prstGeom prst="rect">
            <a:avLst/>
          </a:prstGeom>
          <a:noFill/>
          <a:ln w="9525">
            <a:noFill/>
            <a:miter lim="800000"/>
            <a:headEnd/>
            <a:tailEnd/>
          </a:ln>
        </p:spPr>
        <p:txBody>
          <a:bodyPr>
            <a:spAutoFit/>
          </a:bodyPr>
          <a:lstStyle/>
          <a:p>
            <a:pPr>
              <a:spcBef>
                <a:spcPct val="50000"/>
              </a:spcBef>
            </a:pPr>
            <a:r>
              <a:rPr lang="bg-BG" sz="1800">
                <a:solidFill>
                  <a:schemeClr val="tx2"/>
                </a:solidFill>
              </a:rPr>
              <a:t>К=2</a:t>
            </a:r>
            <a:endParaRPr lang="en-US" sz="1800" b="1" baseline="-25000">
              <a:solidFill>
                <a:schemeClr val="tx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116013" y="549275"/>
            <a:ext cx="7696200" cy="4343400"/>
          </a:xfrm>
        </p:spPr>
        <p:txBody>
          <a:bodyPr>
            <a:normAutofit fontScale="90000"/>
          </a:bodyPr>
          <a:lstStyle/>
          <a:p>
            <a:pPr eaLnBrk="1" fontAlgn="auto" hangingPunct="1">
              <a:spcAft>
                <a:spcPts val="0"/>
              </a:spcAft>
              <a:defRPr/>
            </a:pPr>
            <a:r>
              <a:rPr lang="bg-BG" dirty="0" smtClean="0">
                <a:solidFill>
                  <a:schemeClr val="tx2">
                    <a:satMod val="130000"/>
                  </a:schemeClr>
                </a:solidFill>
              </a:rPr>
              <a:t>			Рекурсия</a:t>
            </a:r>
            <a:br>
              <a:rPr lang="bg-BG" dirty="0" smtClean="0">
                <a:solidFill>
                  <a:schemeClr val="tx2">
                    <a:satMod val="130000"/>
                  </a:schemeClr>
                </a:solidFill>
              </a:rPr>
            </a:br>
            <a:r>
              <a:rPr lang="bg-BG" dirty="0" smtClean="0">
                <a:solidFill>
                  <a:schemeClr val="tx2">
                    <a:satMod val="130000"/>
                  </a:schemeClr>
                </a:solidFill>
              </a:rPr>
              <a:t>	</a:t>
            </a:r>
            <a:r>
              <a:rPr lang="bg-BG" sz="2800" dirty="0" smtClean="0">
                <a:solidFill>
                  <a:schemeClr val="tx1"/>
                </a:solidFill>
              </a:rPr>
              <a:t>Рекурсията е метод в математиката и програмирането за дефиниране на функция или езикова конструкция чрез самата себе си. </a:t>
            </a:r>
            <a:br>
              <a:rPr lang="bg-BG" sz="2800" dirty="0" smtClean="0">
                <a:solidFill>
                  <a:schemeClr val="tx1"/>
                </a:solidFill>
              </a:rPr>
            </a:br>
            <a:r>
              <a:rPr lang="bg-BG" sz="2800" dirty="0" smtClean="0">
                <a:solidFill>
                  <a:schemeClr val="tx2">
                    <a:satMod val="130000"/>
                  </a:schemeClr>
                </a:solidFill>
              </a:rPr>
              <a:t/>
            </a:r>
            <a:br>
              <a:rPr lang="bg-BG" sz="2800" dirty="0" smtClean="0">
                <a:solidFill>
                  <a:schemeClr val="tx2">
                    <a:satMod val="130000"/>
                  </a:schemeClr>
                </a:solidFill>
              </a:rPr>
            </a:br>
            <a:r>
              <a:rPr lang="bg-BG" sz="2800" dirty="0" smtClean="0">
                <a:solidFill>
                  <a:schemeClr val="tx1"/>
                </a:solidFill>
              </a:rPr>
              <a:t>Пример за рекурсивно дефиниране на функция е функцията </a:t>
            </a:r>
            <a:r>
              <a:rPr lang="bg-BG" sz="2800" dirty="0" err="1" smtClean="0">
                <a:solidFill>
                  <a:schemeClr val="tx1"/>
                </a:solidFill>
              </a:rPr>
              <a:t>факториел</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a:t>
            </a:r>
            <a:r>
              <a:rPr lang="en-US" sz="2800" dirty="0" smtClean="0">
                <a:solidFill>
                  <a:schemeClr val="tx1"/>
                </a:solidFill>
              </a:rPr>
              <a:t>f(n) = n!=n*(n-1)*(n-2)*(n-3)* … *2*1, </a:t>
            </a:r>
            <a:r>
              <a:rPr lang="bg-BG" sz="2800" dirty="0" smtClean="0">
                <a:solidFill>
                  <a:schemeClr val="tx1"/>
                </a:solidFill>
              </a:rPr>
              <a:t>като се приеме 0! = 1</a:t>
            </a:r>
            <a:br>
              <a:rPr lang="bg-BG" sz="2800" dirty="0" smtClean="0">
                <a:solidFill>
                  <a:schemeClr val="tx1"/>
                </a:solidFill>
              </a:rPr>
            </a:br>
            <a:r>
              <a:rPr lang="en-US" sz="2800" dirty="0" smtClean="0">
                <a:solidFill>
                  <a:schemeClr val="tx1"/>
                </a:solidFill>
              </a:rPr>
              <a:t>		</a:t>
            </a:r>
            <a:r>
              <a:rPr lang="bg-BG" sz="2800" dirty="0" smtClean="0">
                <a:solidFill>
                  <a:schemeClr val="tx1"/>
                </a:solidFill>
              </a:rPr>
              <a:t>или</a:t>
            </a:r>
            <a:br>
              <a:rPr lang="bg-BG" sz="2800" dirty="0" smtClean="0">
                <a:solidFill>
                  <a:schemeClr val="tx1"/>
                </a:solidFill>
              </a:rPr>
            </a:br>
            <a:endParaRPr lang="en-US" sz="2000" dirty="0" smtClean="0">
              <a:solidFill>
                <a:schemeClr val="tx1"/>
              </a:solidFill>
            </a:endParaRPr>
          </a:p>
        </p:txBody>
      </p:sp>
      <p:graphicFrame>
        <p:nvGraphicFramePr>
          <p:cNvPr id="5122" name="Object 1024"/>
          <p:cNvGraphicFramePr>
            <a:graphicFrameLocks noChangeAspect="1"/>
          </p:cNvGraphicFramePr>
          <p:nvPr/>
        </p:nvGraphicFramePr>
        <p:xfrm>
          <a:off x="1752600" y="4953000"/>
          <a:ext cx="4953000" cy="1181100"/>
        </p:xfrm>
        <a:graphic>
          <a:graphicData uri="http://schemas.openxmlformats.org/presentationml/2006/ole">
            <mc:AlternateContent xmlns:mc="http://schemas.openxmlformats.org/markup-compatibility/2006">
              <mc:Choice xmlns:v="urn:schemas-microsoft-com:vml" Requires="v">
                <p:oleObj spid="_x0000_s5125" name="Equation" r:id="rId3" imgW="1917360" imgH="457200" progId="">
                  <p:embed/>
                </p:oleObj>
              </mc:Choice>
              <mc:Fallback>
                <p:oleObj name="Equation" r:id="rId3" imgW="1917360" imgH="457200" progId="">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953000"/>
                        <a:ext cx="49530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5"/>
          <p:cNvGraphicFramePr>
            <a:graphicFrameLocks noChangeAspect="1"/>
          </p:cNvGraphicFramePr>
          <p:nvPr/>
        </p:nvGraphicFramePr>
        <p:xfrm>
          <a:off x="1447800" y="762000"/>
          <a:ext cx="6477000" cy="533400"/>
        </p:xfrm>
        <a:graphic>
          <a:graphicData uri="http://schemas.openxmlformats.org/presentationml/2006/ole">
            <mc:AlternateContent xmlns:mc="http://schemas.openxmlformats.org/markup-compatibility/2006">
              <mc:Choice xmlns:v="urn:schemas-microsoft-com:vml" Requires="v">
                <p:oleObj spid="_x0000_s6152" name="Equation" r:id="rId3" imgW="1879560" imgH="203040" progId="">
                  <p:embed/>
                </p:oleObj>
              </mc:Choice>
              <mc:Fallback>
                <p:oleObj name="Equation" r:id="rId3" imgW="1879560" imgH="203040"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762000"/>
                        <a:ext cx="6477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148" name="Group 6"/>
          <p:cNvGrpSpPr>
            <a:grpSpLocks/>
          </p:cNvGrpSpPr>
          <p:nvPr/>
        </p:nvGrpSpPr>
        <p:grpSpPr bwMode="auto">
          <a:xfrm>
            <a:off x="1116013" y="4292600"/>
            <a:ext cx="7086600" cy="1389063"/>
            <a:chOff x="2394" y="4292"/>
            <a:chExt cx="8919" cy="1422"/>
          </a:xfrm>
        </p:grpSpPr>
        <p:sp>
          <p:nvSpPr>
            <p:cNvPr id="6155" name="Rectangle 7"/>
            <p:cNvSpPr>
              <a:spLocks noChangeArrowheads="1"/>
            </p:cNvSpPr>
            <p:nvPr/>
          </p:nvSpPr>
          <p:spPr bwMode="auto">
            <a:xfrm>
              <a:off x="2394" y="4346"/>
              <a:ext cx="1026" cy="1368"/>
            </a:xfrm>
            <a:prstGeom prst="rect">
              <a:avLst/>
            </a:prstGeom>
            <a:solidFill>
              <a:srgbClr val="FFFFFF"/>
            </a:solidFill>
            <a:ln w="9525">
              <a:solidFill>
                <a:srgbClr val="000000"/>
              </a:solidFill>
              <a:miter lim="800000"/>
              <a:headEnd/>
              <a:tailEnd/>
            </a:ln>
          </p:spPr>
          <p:txBody>
            <a:bodyPr/>
            <a:lstStyle/>
            <a:p>
              <a:endParaRPr lang="bg-BG"/>
            </a:p>
          </p:txBody>
        </p:sp>
        <p:sp>
          <p:nvSpPr>
            <p:cNvPr id="6156" name="Rectangle 8"/>
            <p:cNvSpPr>
              <a:spLocks noChangeArrowheads="1"/>
            </p:cNvSpPr>
            <p:nvPr/>
          </p:nvSpPr>
          <p:spPr bwMode="auto">
            <a:xfrm>
              <a:off x="3975" y="4331"/>
              <a:ext cx="1026" cy="1368"/>
            </a:xfrm>
            <a:prstGeom prst="rect">
              <a:avLst/>
            </a:prstGeom>
            <a:solidFill>
              <a:srgbClr val="FFFFFF"/>
            </a:solidFill>
            <a:ln w="9525">
              <a:solidFill>
                <a:srgbClr val="000000"/>
              </a:solidFill>
              <a:miter lim="800000"/>
              <a:headEnd/>
              <a:tailEnd/>
            </a:ln>
          </p:spPr>
          <p:txBody>
            <a:bodyPr/>
            <a:lstStyle/>
            <a:p>
              <a:endParaRPr lang="bg-BG"/>
            </a:p>
          </p:txBody>
        </p:sp>
        <p:sp>
          <p:nvSpPr>
            <p:cNvPr id="6157" name="Rectangle 9"/>
            <p:cNvSpPr>
              <a:spLocks noChangeArrowheads="1"/>
            </p:cNvSpPr>
            <p:nvPr/>
          </p:nvSpPr>
          <p:spPr bwMode="auto">
            <a:xfrm>
              <a:off x="5571" y="4319"/>
              <a:ext cx="1026" cy="1368"/>
            </a:xfrm>
            <a:prstGeom prst="rect">
              <a:avLst/>
            </a:prstGeom>
            <a:solidFill>
              <a:srgbClr val="FFFFFF"/>
            </a:solidFill>
            <a:ln w="9525">
              <a:solidFill>
                <a:srgbClr val="000000"/>
              </a:solidFill>
              <a:miter lim="800000"/>
              <a:headEnd/>
              <a:tailEnd/>
            </a:ln>
          </p:spPr>
          <p:txBody>
            <a:bodyPr/>
            <a:lstStyle/>
            <a:p>
              <a:endParaRPr lang="bg-BG"/>
            </a:p>
          </p:txBody>
        </p:sp>
        <p:sp>
          <p:nvSpPr>
            <p:cNvPr id="6158" name="Rectangle 10"/>
            <p:cNvSpPr>
              <a:spLocks noChangeArrowheads="1"/>
            </p:cNvSpPr>
            <p:nvPr/>
          </p:nvSpPr>
          <p:spPr bwMode="auto">
            <a:xfrm>
              <a:off x="7140" y="4319"/>
              <a:ext cx="1026" cy="1368"/>
            </a:xfrm>
            <a:prstGeom prst="rect">
              <a:avLst/>
            </a:prstGeom>
            <a:solidFill>
              <a:srgbClr val="FFFFFF"/>
            </a:solidFill>
            <a:ln w="9525">
              <a:solidFill>
                <a:srgbClr val="000000"/>
              </a:solidFill>
              <a:miter lim="800000"/>
              <a:headEnd/>
              <a:tailEnd/>
            </a:ln>
          </p:spPr>
          <p:txBody>
            <a:bodyPr/>
            <a:lstStyle/>
            <a:p>
              <a:endParaRPr lang="bg-BG"/>
            </a:p>
          </p:txBody>
        </p:sp>
        <p:sp>
          <p:nvSpPr>
            <p:cNvPr id="6159" name="Rectangle 11"/>
            <p:cNvSpPr>
              <a:spLocks noChangeArrowheads="1"/>
            </p:cNvSpPr>
            <p:nvPr/>
          </p:nvSpPr>
          <p:spPr bwMode="auto">
            <a:xfrm>
              <a:off x="8721" y="4307"/>
              <a:ext cx="1026" cy="1368"/>
            </a:xfrm>
            <a:prstGeom prst="rect">
              <a:avLst/>
            </a:prstGeom>
            <a:solidFill>
              <a:srgbClr val="FFFFFF"/>
            </a:solidFill>
            <a:ln w="9525">
              <a:solidFill>
                <a:srgbClr val="000000"/>
              </a:solidFill>
              <a:miter lim="800000"/>
              <a:headEnd/>
              <a:tailEnd/>
            </a:ln>
          </p:spPr>
          <p:txBody>
            <a:bodyPr/>
            <a:lstStyle/>
            <a:p>
              <a:endParaRPr lang="bg-BG"/>
            </a:p>
          </p:txBody>
        </p:sp>
        <p:sp>
          <p:nvSpPr>
            <p:cNvPr id="6160" name="Rectangle 12"/>
            <p:cNvSpPr>
              <a:spLocks noChangeArrowheads="1"/>
            </p:cNvSpPr>
            <p:nvPr/>
          </p:nvSpPr>
          <p:spPr bwMode="auto">
            <a:xfrm>
              <a:off x="10302" y="4292"/>
              <a:ext cx="1011" cy="1368"/>
            </a:xfrm>
            <a:prstGeom prst="rect">
              <a:avLst/>
            </a:prstGeom>
            <a:solidFill>
              <a:srgbClr val="FFFFFF"/>
            </a:solidFill>
            <a:ln w="9525">
              <a:solidFill>
                <a:srgbClr val="000000"/>
              </a:solidFill>
              <a:miter lim="800000"/>
              <a:headEnd/>
              <a:tailEnd/>
            </a:ln>
          </p:spPr>
          <p:txBody>
            <a:bodyPr/>
            <a:lstStyle/>
            <a:p>
              <a:endParaRPr lang="bg-BG"/>
            </a:p>
          </p:txBody>
        </p:sp>
        <p:sp>
          <p:nvSpPr>
            <p:cNvPr id="6161" name="Line 13"/>
            <p:cNvSpPr>
              <a:spLocks noChangeShapeType="1"/>
            </p:cNvSpPr>
            <p:nvPr/>
          </p:nvSpPr>
          <p:spPr bwMode="auto">
            <a:xfrm>
              <a:off x="3420" y="4731"/>
              <a:ext cx="513" cy="0"/>
            </a:xfrm>
            <a:prstGeom prst="line">
              <a:avLst/>
            </a:prstGeom>
            <a:noFill/>
            <a:ln w="9525">
              <a:solidFill>
                <a:srgbClr val="000000"/>
              </a:solidFill>
              <a:round/>
              <a:headEnd/>
              <a:tailEnd type="triangle" w="med" len="med"/>
            </a:ln>
          </p:spPr>
          <p:txBody>
            <a:bodyPr/>
            <a:lstStyle/>
            <a:p>
              <a:endParaRPr lang="bg-BG"/>
            </a:p>
          </p:txBody>
        </p:sp>
        <p:sp>
          <p:nvSpPr>
            <p:cNvPr id="6162" name="Line 14"/>
            <p:cNvSpPr>
              <a:spLocks noChangeShapeType="1"/>
            </p:cNvSpPr>
            <p:nvPr/>
          </p:nvSpPr>
          <p:spPr bwMode="auto">
            <a:xfrm>
              <a:off x="5016" y="4731"/>
              <a:ext cx="513" cy="0"/>
            </a:xfrm>
            <a:prstGeom prst="line">
              <a:avLst/>
            </a:prstGeom>
            <a:noFill/>
            <a:ln w="9525">
              <a:solidFill>
                <a:srgbClr val="000000"/>
              </a:solidFill>
              <a:round/>
              <a:headEnd/>
              <a:tailEnd type="triangle" w="med" len="med"/>
            </a:ln>
          </p:spPr>
          <p:txBody>
            <a:bodyPr/>
            <a:lstStyle/>
            <a:p>
              <a:endParaRPr lang="bg-BG"/>
            </a:p>
          </p:txBody>
        </p:sp>
        <p:sp>
          <p:nvSpPr>
            <p:cNvPr id="6163" name="Line 15"/>
            <p:cNvSpPr>
              <a:spLocks noChangeShapeType="1"/>
            </p:cNvSpPr>
            <p:nvPr/>
          </p:nvSpPr>
          <p:spPr bwMode="auto">
            <a:xfrm>
              <a:off x="6612" y="4731"/>
              <a:ext cx="513" cy="0"/>
            </a:xfrm>
            <a:prstGeom prst="line">
              <a:avLst/>
            </a:prstGeom>
            <a:noFill/>
            <a:ln w="9525">
              <a:solidFill>
                <a:srgbClr val="000000"/>
              </a:solidFill>
              <a:round/>
              <a:headEnd/>
              <a:tailEnd type="triangle" w="med" len="med"/>
            </a:ln>
          </p:spPr>
          <p:txBody>
            <a:bodyPr/>
            <a:lstStyle/>
            <a:p>
              <a:endParaRPr lang="bg-BG"/>
            </a:p>
          </p:txBody>
        </p:sp>
        <p:sp>
          <p:nvSpPr>
            <p:cNvPr id="6164" name="Line 16"/>
            <p:cNvSpPr>
              <a:spLocks noChangeShapeType="1"/>
            </p:cNvSpPr>
            <p:nvPr/>
          </p:nvSpPr>
          <p:spPr bwMode="auto">
            <a:xfrm>
              <a:off x="8208" y="4731"/>
              <a:ext cx="513" cy="0"/>
            </a:xfrm>
            <a:prstGeom prst="line">
              <a:avLst/>
            </a:prstGeom>
            <a:noFill/>
            <a:ln w="9525">
              <a:solidFill>
                <a:srgbClr val="000000"/>
              </a:solidFill>
              <a:round/>
              <a:headEnd/>
              <a:tailEnd type="triangle" w="med" len="med"/>
            </a:ln>
          </p:spPr>
          <p:txBody>
            <a:bodyPr/>
            <a:lstStyle/>
            <a:p>
              <a:endParaRPr lang="bg-BG"/>
            </a:p>
          </p:txBody>
        </p:sp>
        <p:sp>
          <p:nvSpPr>
            <p:cNvPr id="6165" name="Line 17"/>
            <p:cNvSpPr>
              <a:spLocks noChangeShapeType="1"/>
            </p:cNvSpPr>
            <p:nvPr/>
          </p:nvSpPr>
          <p:spPr bwMode="auto">
            <a:xfrm>
              <a:off x="9747" y="4674"/>
              <a:ext cx="570" cy="0"/>
            </a:xfrm>
            <a:prstGeom prst="line">
              <a:avLst/>
            </a:prstGeom>
            <a:noFill/>
            <a:ln w="9525">
              <a:solidFill>
                <a:srgbClr val="000000"/>
              </a:solidFill>
              <a:round/>
              <a:headEnd/>
              <a:tailEnd type="triangle" w="med" len="med"/>
            </a:ln>
          </p:spPr>
          <p:txBody>
            <a:bodyPr/>
            <a:lstStyle/>
            <a:p>
              <a:endParaRPr lang="bg-BG"/>
            </a:p>
          </p:txBody>
        </p:sp>
        <p:sp>
          <p:nvSpPr>
            <p:cNvPr id="6166" name="Line 18"/>
            <p:cNvSpPr>
              <a:spLocks noChangeShapeType="1"/>
            </p:cNvSpPr>
            <p:nvPr/>
          </p:nvSpPr>
          <p:spPr bwMode="auto">
            <a:xfrm flipH="1">
              <a:off x="9747" y="5187"/>
              <a:ext cx="570" cy="0"/>
            </a:xfrm>
            <a:prstGeom prst="line">
              <a:avLst/>
            </a:prstGeom>
            <a:noFill/>
            <a:ln w="9525">
              <a:solidFill>
                <a:srgbClr val="000000"/>
              </a:solidFill>
              <a:round/>
              <a:headEnd/>
              <a:tailEnd type="triangle" w="med" len="med"/>
            </a:ln>
          </p:spPr>
          <p:txBody>
            <a:bodyPr/>
            <a:lstStyle/>
            <a:p>
              <a:endParaRPr lang="bg-BG"/>
            </a:p>
          </p:txBody>
        </p:sp>
        <p:sp>
          <p:nvSpPr>
            <p:cNvPr id="6167" name="Line 19"/>
            <p:cNvSpPr>
              <a:spLocks noChangeShapeType="1"/>
            </p:cNvSpPr>
            <p:nvPr/>
          </p:nvSpPr>
          <p:spPr bwMode="auto">
            <a:xfrm flipH="1">
              <a:off x="8151" y="5244"/>
              <a:ext cx="570" cy="0"/>
            </a:xfrm>
            <a:prstGeom prst="line">
              <a:avLst/>
            </a:prstGeom>
            <a:noFill/>
            <a:ln w="9525">
              <a:solidFill>
                <a:srgbClr val="000000"/>
              </a:solidFill>
              <a:round/>
              <a:headEnd/>
              <a:tailEnd type="triangle" w="med" len="med"/>
            </a:ln>
          </p:spPr>
          <p:txBody>
            <a:bodyPr/>
            <a:lstStyle/>
            <a:p>
              <a:endParaRPr lang="bg-BG"/>
            </a:p>
          </p:txBody>
        </p:sp>
        <p:sp>
          <p:nvSpPr>
            <p:cNvPr id="6168" name="Line 20"/>
            <p:cNvSpPr>
              <a:spLocks noChangeShapeType="1"/>
            </p:cNvSpPr>
            <p:nvPr/>
          </p:nvSpPr>
          <p:spPr bwMode="auto">
            <a:xfrm flipH="1">
              <a:off x="6612" y="5244"/>
              <a:ext cx="513" cy="0"/>
            </a:xfrm>
            <a:prstGeom prst="line">
              <a:avLst/>
            </a:prstGeom>
            <a:noFill/>
            <a:ln w="9525">
              <a:solidFill>
                <a:srgbClr val="000000"/>
              </a:solidFill>
              <a:round/>
              <a:headEnd/>
              <a:tailEnd type="triangle" w="med" len="med"/>
            </a:ln>
          </p:spPr>
          <p:txBody>
            <a:bodyPr/>
            <a:lstStyle/>
            <a:p>
              <a:endParaRPr lang="bg-BG"/>
            </a:p>
          </p:txBody>
        </p:sp>
        <p:sp>
          <p:nvSpPr>
            <p:cNvPr id="6169" name="Line 21"/>
            <p:cNvSpPr>
              <a:spLocks noChangeShapeType="1"/>
            </p:cNvSpPr>
            <p:nvPr/>
          </p:nvSpPr>
          <p:spPr bwMode="auto">
            <a:xfrm flipH="1">
              <a:off x="5016" y="5244"/>
              <a:ext cx="570" cy="0"/>
            </a:xfrm>
            <a:prstGeom prst="line">
              <a:avLst/>
            </a:prstGeom>
            <a:noFill/>
            <a:ln w="9525">
              <a:solidFill>
                <a:srgbClr val="000000"/>
              </a:solidFill>
              <a:round/>
              <a:headEnd/>
              <a:tailEnd type="triangle" w="med" len="med"/>
            </a:ln>
          </p:spPr>
          <p:txBody>
            <a:bodyPr/>
            <a:lstStyle/>
            <a:p>
              <a:endParaRPr lang="bg-BG"/>
            </a:p>
          </p:txBody>
        </p:sp>
        <p:sp>
          <p:nvSpPr>
            <p:cNvPr id="6170" name="Line 22"/>
            <p:cNvSpPr>
              <a:spLocks noChangeShapeType="1"/>
            </p:cNvSpPr>
            <p:nvPr/>
          </p:nvSpPr>
          <p:spPr bwMode="auto">
            <a:xfrm flipH="1">
              <a:off x="3420" y="5244"/>
              <a:ext cx="570" cy="0"/>
            </a:xfrm>
            <a:prstGeom prst="line">
              <a:avLst/>
            </a:prstGeom>
            <a:noFill/>
            <a:ln w="9525">
              <a:solidFill>
                <a:srgbClr val="000000"/>
              </a:solidFill>
              <a:round/>
              <a:headEnd/>
              <a:tailEnd type="triangle" w="med" len="med"/>
            </a:ln>
          </p:spPr>
          <p:txBody>
            <a:bodyPr/>
            <a:lstStyle/>
            <a:p>
              <a:endParaRPr lang="bg-BG"/>
            </a:p>
          </p:txBody>
        </p:sp>
        <p:sp>
          <p:nvSpPr>
            <p:cNvPr id="6171" name="Text Box 23"/>
            <p:cNvSpPr txBox="1">
              <a:spLocks noChangeArrowheads="1"/>
            </p:cNvSpPr>
            <p:nvPr/>
          </p:nvSpPr>
          <p:spPr bwMode="auto">
            <a:xfrm>
              <a:off x="2508" y="4503"/>
              <a:ext cx="798" cy="570"/>
            </a:xfrm>
            <a:prstGeom prst="rect">
              <a:avLst/>
            </a:prstGeom>
            <a:solidFill>
              <a:srgbClr val="FFFFFF"/>
            </a:solidFill>
            <a:ln w="9525">
              <a:noFill/>
              <a:miter lim="800000"/>
              <a:headEnd/>
              <a:tailEnd/>
            </a:ln>
          </p:spPr>
          <p:txBody>
            <a:bodyPr/>
            <a:lstStyle/>
            <a:p>
              <a:r>
                <a:rPr lang="en-US" sz="2200"/>
                <a:t>f(5)</a:t>
              </a:r>
              <a:endParaRPr lang="en-US" sz="1600"/>
            </a:p>
          </p:txBody>
        </p:sp>
        <p:sp>
          <p:nvSpPr>
            <p:cNvPr id="6172" name="Text Box 24"/>
            <p:cNvSpPr txBox="1">
              <a:spLocks noChangeArrowheads="1"/>
            </p:cNvSpPr>
            <p:nvPr/>
          </p:nvSpPr>
          <p:spPr bwMode="auto">
            <a:xfrm>
              <a:off x="4104" y="4467"/>
              <a:ext cx="798" cy="570"/>
            </a:xfrm>
            <a:prstGeom prst="rect">
              <a:avLst/>
            </a:prstGeom>
            <a:solidFill>
              <a:srgbClr val="FFFFFF"/>
            </a:solidFill>
            <a:ln w="9525">
              <a:noFill/>
              <a:miter lim="800000"/>
              <a:headEnd/>
              <a:tailEnd/>
            </a:ln>
          </p:spPr>
          <p:txBody>
            <a:bodyPr/>
            <a:lstStyle/>
            <a:p>
              <a:r>
                <a:rPr lang="en-US" sz="2200"/>
                <a:t>f(4)</a:t>
              </a:r>
              <a:endParaRPr lang="en-US" sz="1600"/>
            </a:p>
          </p:txBody>
        </p:sp>
        <p:sp>
          <p:nvSpPr>
            <p:cNvPr id="6173" name="Text Box 25"/>
            <p:cNvSpPr txBox="1">
              <a:spLocks noChangeArrowheads="1"/>
            </p:cNvSpPr>
            <p:nvPr/>
          </p:nvSpPr>
          <p:spPr bwMode="auto">
            <a:xfrm>
              <a:off x="5700" y="4461"/>
              <a:ext cx="798" cy="570"/>
            </a:xfrm>
            <a:prstGeom prst="rect">
              <a:avLst/>
            </a:prstGeom>
            <a:solidFill>
              <a:srgbClr val="FFFFFF"/>
            </a:solidFill>
            <a:ln w="9525">
              <a:noFill/>
              <a:miter lim="800000"/>
              <a:headEnd/>
              <a:tailEnd/>
            </a:ln>
          </p:spPr>
          <p:txBody>
            <a:bodyPr/>
            <a:lstStyle/>
            <a:p>
              <a:r>
                <a:rPr lang="en-US" sz="2200"/>
                <a:t>f(3)</a:t>
              </a:r>
              <a:endParaRPr lang="bg-BG" sz="1600"/>
            </a:p>
          </p:txBody>
        </p:sp>
        <p:sp>
          <p:nvSpPr>
            <p:cNvPr id="6174" name="Text Box 26"/>
            <p:cNvSpPr txBox="1">
              <a:spLocks noChangeArrowheads="1"/>
            </p:cNvSpPr>
            <p:nvPr/>
          </p:nvSpPr>
          <p:spPr bwMode="auto">
            <a:xfrm>
              <a:off x="7239" y="4503"/>
              <a:ext cx="798" cy="570"/>
            </a:xfrm>
            <a:prstGeom prst="rect">
              <a:avLst/>
            </a:prstGeom>
            <a:solidFill>
              <a:srgbClr val="FFFFFF"/>
            </a:solidFill>
            <a:ln w="9525">
              <a:noFill/>
              <a:miter lim="800000"/>
              <a:headEnd/>
              <a:tailEnd/>
            </a:ln>
          </p:spPr>
          <p:txBody>
            <a:bodyPr/>
            <a:lstStyle/>
            <a:p>
              <a:r>
                <a:rPr lang="en-US" sz="2200"/>
                <a:t>f(2)</a:t>
              </a:r>
              <a:endParaRPr lang="en-US" sz="1600"/>
            </a:p>
          </p:txBody>
        </p:sp>
        <p:sp>
          <p:nvSpPr>
            <p:cNvPr id="6175" name="Text Box 27"/>
            <p:cNvSpPr txBox="1">
              <a:spLocks noChangeArrowheads="1"/>
            </p:cNvSpPr>
            <p:nvPr/>
          </p:nvSpPr>
          <p:spPr bwMode="auto">
            <a:xfrm>
              <a:off x="8835" y="4476"/>
              <a:ext cx="798" cy="513"/>
            </a:xfrm>
            <a:prstGeom prst="rect">
              <a:avLst/>
            </a:prstGeom>
            <a:solidFill>
              <a:srgbClr val="FFFFFF"/>
            </a:solidFill>
            <a:ln w="9525">
              <a:noFill/>
              <a:miter lim="800000"/>
              <a:headEnd/>
              <a:tailEnd/>
            </a:ln>
          </p:spPr>
          <p:txBody>
            <a:bodyPr/>
            <a:lstStyle/>
            <a:p>
              <a:r>
                <a:rPr lang="en-US" sz="2200"/>
                <a:t>f(1)</a:t>
              </a:r>
              <a:endParaRPr lang="en-US" sz="1600"/>
            </a:p>
          </p:txBody>
        </p:sp>
        <p:sp>
          <p:nvSpPr>
            <p:cNvPr id="6176" name="Text Box 28"/>
            <p:cNvSpPr txBox="1">
              <a:spLocks noChangeArrowheads="1"/>
            </p:cNvSpPr>
            <p:nvPr/>
          </p:nvSpPr>
          <p:spPr bwMode="auto">
            <a:xfrm>
              <a:off x="10431" y="4446"/>
              <a:ext cx="798" cy="570"/>
            </a:xfrm>
            <a:prstGeom prst="rect">
              <a:avLst/>
            </a:prstGeom>
            <a:solidFill>
              <a:srgbClr val="FFFFFF"/>
            </a:solidFill>
            <a:ln w="9525">
              <a:noFill/>
              <a:miter lim="800000"/>
              <a:headEnd/>
              <a:tailEnd/>
            </a:ln>
          </p:spPr>
          <p:txBody>
            <a:bodyPr/>
            <a:lstStyle/>
            <a:p>
              <a:r>
                <a:rPr lang="en-US" sz="2200"/>
                <a:t>f(0)</a:t>
              </a:r>
            </a:p>
          </p:txBody>
        </p:sp>
        <p:sp>
          <p:nvSpPr>
            <p:cNvPr id="6177" name="Text Box 29"/>
            <p:cNvSpPr txBox="1">
              <a:spLocks noChangeArrowheads="1"/>
            </p:cNvSpPr>
            <p:nvPr/>
          </p:nvSpPr>
          <p:spPr bwMode="auto">
            <a:xfrm>
              <a:off x="10470" y="5103"/>
              <a:ext cx="684" cy="456"/>
            </a:xfrm>
            <a:prstGeom prst="rect">
              <a:avLst/>
            </a:prstGeom>
            <a:solidFill>
              <a:srgbClr val="FFFFFF"/>
            </a:solidFill>
            <a:ln w="9525">
              <a:noFill/>
              <a:miter lim="800000"/>
              <a:headEnd/>
              <a:tailEnd/>
            </a:ln>
          </p:spPr>
          <p:txBody>
            <a:bodyPr/>
            <a:lstStyle/>
            <a:p>
              <a:r>
                <a:rPr lang="en-AU" sz="2200"/>
                <a:t>=1</a:t>
              </a:r>
              <a:endParaRPr lang="en-AU" sz="1600"/>
            </a:p>
          </p:txBody>
        </p:sp>
        <p:sp>
          <p:nvSpPr>
            <p:cNvPr id="6178" name="Text Box 30"/>
            <p:cNvSpPr txBox="1">
              <a:spLocks noChangeArrowheads="1"/>
            </p:cNvSpPr>
            <p:nvPr/>
          </p:nvSpPr>
          <p:spPr bwMode="auto">
            <a:xfrm>
              <a:off x="5700" y="5130"/>
              <a:ext cx="684" cy="456"/>
            </a:xfrm>
            <a:prstGeom prst="rect">
              <a:avLst/>
            </a:prstGeom>
            <a:solidFill>
              <a:srgbClr val="FFFFFF"/>
            </a:solidFill>
            <a:ln w="9525">
              <a:noFill/>
              <a:miter lim="800000"/>
              <a:headEnd/>
              <a:tailEnd/>
            </a:ln>
          </p:spPr>
          <p:txBody>
            <a:bodyPr/>
            <a:lstStyle/>
            <a:p>
              <a:r>
                <a:rPr lang="en-AU" sz="2200"/>
                <a:t>=6</a:t>
              </a:r>
              <a:endParaRPr lang="en-AU" sz="1600"/>
            </a:p>
          </p:txBody>
        </p:sp>
        <p:sp>
          <p:nvSpPr>
            <p:cNvPr id="6179" name="Text Box 31"/>
            <p:cNvSpPr txBox="1">
              <a:spLocks noChangeArrowheads="1"/>
            </p:cNvSpPr>
            <p:nvPr/>
          </p:nvSpPr>
          <p:spPr bwMode="auto">
            <a:xfrm>
              <a:off x="4047" y="5130"/>
              <a:ext cx="798" cy="513"/>
            </a:xfrm>
            <a:prstGeom prst="rect">
              <a:avLst/>
            </a:prstGeom>
            <a:solidFill>
              <a:srgbClr val="FFFFFF"/>
            </a:solidFill>
            <a:ln w="9525">
              <a:noFill/>
              <a:miter lim="800000"/>
              <a:headEnd/>
              <a:tailEnd/>
            </a:ln>
          </p:spPr>
          <p:txBody>
            <a:bodyPr/>
            <a:lstStyle/>
            <a:p>
              <a:r>
                <a:rPr lang="en-AU" sz="2200"/>
                <a:t>=24</a:t>
              </a:r>
              <a:endParaRPr lang="en-AU" sz="1600"/>
            </a:p>
          </p:txBody>
        </p:sp>
        <p:sp>
          <p:nvSpPr>
            <p:cNvPr id="6180" name="Text Box 32"/>
            <p:cNvSpPr txBox="1">
              <a:spLocks noChangeArrowheads="1"/>
            </p:cNvSpPr>
            <p:nvPr/>
          </p:nvSpPr>
          <p:spPr bwMode="auto">
            <a:xfrm>
              <a:off x="2409" y="5142"/>
              <a:ext cx="969" cy="513"/>
            </a:xfrm>
            <a:prstGeom prst="rect">
              <a:avLst/>
            </a:prstGeom>
            <a:solidFill>
              <a:srgbClr val="FFFFFF"/>
            </a:solidFill>
            <a:ln w="9525">
              <a:noFill/>
              <a:miter lim="800000"/>
              <a:headEnd/>
              <a:tailEnd/>
            </a:ln>
          </p:spPr>
          <p:txBody>
            <a:bodyPr/>
            <a:lstStyle/>
            <a:p>
              <a:r>
                <a:rPr lang="en-AU" sz="2200"/>
                <a:t>=12</a:t>
              </a:r>
              <a:r>
                <a:rPr lang="en-US" sz="2200"/>
                <a:t>0</a:t>
              </a:r>
              <a:endParaRPr lang="en-AU" sz="1600"/>
            </a:p>
          </p:txBody>
        </p:sp>
        <p:sp>
          <p:nvSpPr>
            <p:cNvPr id="6181" name="Text Box 33"/>
            <p:cNvSpPr txBox="1">
              <a:spLocks noChangeArrowheads="1"/>
            </p:cNvSpPr>
            <p:nvPr/>
          </p:nvSpPr>
          <p:spPr bwMode="auto">
            <a:xfrm>
              <a:off x="8892" y="5100"/>
              <a:ext cx="684" cy="486"/>
            </a:xfrm>
            <a:prstGeom prst="rect">
              <a:avLst/>
            </a:prstGeom>
            <a:solidFill>
              <a:srgbClr val="FFFFFF"/>
            </a:solidFill>
            <a:ln w="9525">
              <a:noFill/>
              <a:miter lim="800000"/>
              <a:headEnd/>
              <a:tailEnd/>
            </a:ln>
          </p:spPr>
          <p:txBody>
            <a:bodyPr/>
            <a:lstStyle/>
            <a:p>
              <a:r>
                <a:rPr lang="en-AU" sz="2200"/>
                <a:t>=1</a:t>
              </a:r>
            </a:p>
          </p:txBody>
        </p:sp>
        <p:sp>
          <p:nvSpPr>
            <p:cNvPr id="6182" name="Text Box 34"/>
            <p:cNvSpPr txBox="1">
              <a:spLocks noChangeArrowheads="1"/>
            </p:cNvSpPr>
            <p:nvPr/>
          </p:nvSpPr>
          <p:spPr bwMode="auto">
            <a:xfrm>
              <a:off x="7296" y="5130"/>
              <a:ext cx="684" cy="513"/>
            </a:xfrm>
            <a:prstGeom prst="rect">
              <a:avLst/>
            </a:prstGeom>
            <a:solidFill>
              <a:srgbClr val="FFFFFF"/>
            </a:solidFill>
            <a:ln w="9525">
              <a:noFill/>
              <a:miter lim="800000"/>
              <a:headEnd/>
              <a:tailEnd/>
            </a:ln>
          </p:spPr>
          <p:txBody>
            <a:bodyPr/>
            <a:lstStyle/>
            <a:p>
              <a:r>
                <a:rPr lang="en-AU" sz="2200"/>
                <a:t>=2</a:t>
              </a:r>
            </a:p>
          </p:txBody>
        </p:sp>
      </p:grpSp>
      <p:sp>
        <p:nvSpPr>
          <p:cNvPr id="6149" name="Text Box 36"/>
          <p:cNvSpPr txBox="1">
            <a:spLocks noChangeArrowheads="1"/>
          </p:cNvSpPr>
          <p:nvPr/>
        </p:nvSpPr>
        <p:spPr bwMode="auto">
          <a:xfrm>
            <a:off x="1187450" y="2924175"/>
            <a:ext cx="1371600" cy="457200"/>
          </a:xfrm>
          <a:prstGeom prst="rect">
            <a:avLst/>
          </a:prstGeom>
          <a:noFill/>
          <a:ln w="9525">
            <a:noFill/>
            <a:miter lim="800000"/>
            <a:headEnd/>
            <a:tailEnd/>
          </a:ln>
        </p:spPr>
        <p:txBody>
          <a:bodyPr>
            <a:spAutoFit/>
          </a:bodyPr>
          <a:lstStyle/>
          <a:p>
            <a:pPr>
              <a:spcBef>
                <a:spcPct val="50000"/>
              </a:spcBef>
            </a:pPr>
            <a:r>
              <a:rPr lang="bg-BG"/>
              <a:t>За </a:t>
            </a:r>
            <a:r>
              <a:rPr lang="en-US"/>
              <a:t>n=5</a:t>
            </a:r>
            <a:r>
              <a:rPr lang="bg-BG"/>
              <a:t>:</a:t>
            </a:r>
            <a:endParaRPr lang="en-US"/>
          </a:p>
        </p:txBody>
      </p:sp>
      <p:sp>
        <p:nvSpPr>
          <p:cNvPr id="6150" name="Text Box 37"/>
          <p:cNvSpPr txBox="1">
            <a:spLocks noChangeArrowheads="1"/>
          </p:cNvSpPr>
          <p:nvPr/>
        </p:nvSpPr>
        <p:spPr bwMode="auto">
          <a:xfrm>
            <a:off x="1835150" y="3716338"/>
            <a:ext cx="685800" cy="457200"/>
          </a:xfrm>
          <a:prstGeom prst="rect">
            <a:avLst/>
          </a:prstGeom>
          <a:noFill/>
          <a:ln w="9525">
            <a:noFill/>
            <a:miter lim="800000"/>
            <a:headEnd/>
            <a:tailEnd/>
          </a:ln>
        </p:spPr>
        <p:txBody>
          <a:bodyPr>
            <a:spAutoFit/>
          </a:bodyPr>
          <a:lstStyle/>
          <a:p>
            <a:pPr>
              <a:spcBef>
                <a:spcPct val="50000"/>
              </a:spcBef>
            </a:pPr>
            <a:r>
              <a:rPr lang="en-US"/>
              <a:t>n-1</a:t>
            </a:r>
          </a:p>
        </p:txBody>
      </p:sp>
      <p:sp>
        <p:nvSpPr>
          <p:cNvPr id="6151" name="Text Box 38"/>
          <p:cNvSpPr txBox="1">
            <a:spLocks noChangeArrowheads="1"/>
          </p:cNvSpPr>
          <p:nvPr/>
        </p:nvSpPr>
        <p:spPr bwMode="auto">
          <a:xfrm>
            <a:off x="4284663" y="3716338"/>
            <a:ext cx="738187" cy="457200"/>
          </a:xfrm>
          <a:prstGeom prst="rect">
            <a:avLst/>
          </a:prstGeom>
          <a:noFill/>
          <a:ln w="9525">
            <a:noFill/>
            <a:miter lim="800000"/>
            <a:headEnd/>
            <a:tailEnd/>
          </a:ln>
        </p:spPr>
        <p:txBody>
          <a:bodyPr>
            <a:spAutoFit/>
          </a:bodyPr>
          <a:lstStyle/>
          <a:p>
            <a:pPr>
              <a:spcBef>
                <a:spcPct val="50000"/>
              </a:spcBef>
            </a:pPr>
            <a:r>
              <a:rPr lang="en-US"/>
              <a:t>n-1</a:t>
            </a:r>
          </a:p>
        </p:txBody>
      </p:sp>
      <p:sp>
        <p:nvSpPr>
          <p:cNvPr id="6152" name="Text Box 39"/>
          <p:cNvSpPr txBox="1">
            <a:spLocks noChangeArrowheads="1"/>
          </p:cNvSpPr>
          <p:nvPr/>
        </p:nvSpPr>
        <p:spPr bwMode="auto">
          <a:xfrm>
            <a:off x="3059113" y="3716338"/>
            <a:ext cx="685800" cy="457200"/>
          </a:xfrm>
          <a:prstGeom prst="rect">
            <a:avLst/>
          </a:prstGeom>
          <a:noFill/>
          <a:ln w="9525">
            <a:noFill/>
            <a:miter lim="800000"/>
            <a:headEnd/>
            <a:tailEnd/>
          </a:ln>
        </p:spPr>
        <p:txBody>
          <a:bodyPr>
            <a:spAutoFit/>
          </a:bodyPr>
          <a:lstStyle/>
          <a:p>
            <a:pPr>
              <a:spcBef>
                <a:spcPct val="50000"/>
              </a:spcBef>
            </a:pPr>
            <a:r>
              <a:rPr lang="en-US"/>
              <a:t>n-1</a:t>
            </a:r>
          </a:p>
        </p:txBody>
      </p:sp>
      <p:sp>
        <p:nvSpPr>
          <p:cNvPr id="6153" name="Text Box 40"/>
          <p:cNvSpPr txBox="1">
            <a:spLocks noChangeArrowheads="1"/>
          </p:cNvSpPr>
          <p:nvPr/>
        </p:nvSpPr>
        <p:spPr bwMode="auto">
          <a:xfrm>
            <a:off x="6956425" y="3713163"/>
            <a:ext cx="738188" cy="457200"/>
          </a:xfrm>
          <a:prstGeom prst="rect">
            <a:avLst/>
          </a:prstGeom>
          <a:noFill/>
          <a:ln w="9525">
            <a:noFill/>
            <a:miter lim="800000"/>
            <a:headEnd/>
            <a:tailEnd/>
          </a:ln>
        </p:spPr>
        <p:txBody>
          <a:bodyPr>
            <a:spAutoFit/>
          </a:bodyPr>
          <a:lstStyle/>
          <a:p>
            <a:pPr>
              <a:spcBef>
                <a:spcPct val="50000"/>
              </a:spcBef>
            </a:pPr>
            <a:r>
              <a:rPr lang="en-US"/>
              <a:t>n-1</a:t>
            </a:r>
          </a:p>
        </p:txBody>
      </p:sp>
      <p:sp>
        <p:nvSpPr>
          <p:cNvPr id="6154" name="Text Box 41"/>
          <p:cNvSpPr txBox="1">
            <a:spLocks noChangeArrowheads="1"/>
          </p:cNvSpPr>
          <p:nvPr/>
        </p:nvSpPr>
        <p:spPr bwMode="auto">
          <a:xfrm>
            <a:off x="5580063" y="3716338"/>
            <a:ext cx="738187" cy="457200"/>
          </a:xfrm>
          <a:prstGeom prst="rect">
            <a:avLst/>
          </a:prstGeom>
          <a:noFill/>
          <a:ln w="9525">
            <a:noFill/>
            <a:miter lim="800000"/>
            <a:headEnd/>
            <a:tailEnd/>
          </a:ln>
        </p:spPr>
        <p:txBody>
          <a:bodyPr>
            <a:spAutoFit/>
          </a:bodyPr>
          <a:lstStyle/>
          <a:p>
            <a:pPr>
              <a:spcBef>
                <a:spcPct val="50000"/>
              </a:spcBef>
            </a:pPr>
            <a:r>
              <a:rPr lang="en-US"/>
              <a:t>n-1</a:t>
            </a:r>
          </a:p>
        </p:txBody>
      </p:sp>
      <p:graphicFrame>
        <p:nvGraphicFramePr>
          <p:cNvPr id="6147" name="Object 42"/>
          <p:cNvGraphicFramePr>
            <a:graphicFrameLocks noChangeAspect="1"/>
          </p:cNvGraphicFramePr>
          <p:nvPr/>
        </p:nvGraphicFramePr>
        <p:xfrm>
          <a:off x="2124075" y="1687513"/>
          <a:ext cx="4953000" cy="1181100"/>
        </p:xfrm>
        <a:graphic>
          <a:graphicData uri="http://schemas.openxmlformats.org/presentationml/2006/ole">
            <mc:AlternateContent xmlns:mc="http://schemas.openxmlformats.org/markup-compatibility/2006">
              <mc:Choice xmlns:v="urn:schemas-microsoft-com:vml" Requires="v">
                <p:oleObj spid="_x0000_s6153" name="Equation" r:id="rId5" imgW="1917360" imgH="457200" progId="">
                  <p:embed/>
                </p:oleObj>
              </mc:Choice>
              <mc:Fallback>
                <p:oleObj name="Equation" r:id="rId5" imgW="1917360" imgH="457200" progId="">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687513"/>
                        <a:ext cx="49530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331913" y="333375"/>
            <a:ext cx="7486650" cy="6078538"/>
          </a:xfrm>
        </p:spPr>
        <p:txBody>
          <a:bodyPr>
            <a:normAutofit fontScale="90000"/>
          </a:bodyPr>
          <a:lstStyle/>
          <a:p>
            <a:pPr eaLnBrk="1" fontAlgn="auto" hangingPunct="1">
              <a:lnSpc>
                <a:spcPct val="90000"/>
              </a:lnSpc>
              <a:spcAft>
                <a:spcPts val="0"/>
              </a:spcAft>
              <a:defRPr/>
            </a:pPr>
            <a:r>
              <a:rPr lang="bg-BG" sz="2400" dirty="0" smtClean="0">
                <a:solidFill>
                  <a:schemeClr val="tx2">
                    <a:satMod val="130000"/>
                  </a:schemeClr>
                </a:solidFill>
              </a:rPr>
              <a:t>Рекурсивен вариант на функцията </a:t>
            </a:r>
            <a:r>
              <a:rPr lang="en-US" sz="2400" dirty="0" smtClean="0">
                <a:solidFill>
                  <a:schemeClr val="tx2">
                    <a:satMod val="130000"/>
                  </a:schemeClr>
                </a:solidFill>
              </a:rPr>
              <a:t>F(n) (factorial(n)):</a:t>
            </a:r>
            <a:br>
              <a:rPr lang="en-US" sz="2400" dirty="0" smtClean="0">
                <a:solidFill>
                  <a:schemeClr val="tx2">
                    <a:satMod val="130000"/>
                  </a:schemeClr>
                </a:solidFill>
              </a:rPr>
            </a:br>
            <a:r>
              <a:rPr lang="en-US" sz="2400" dirty="0" smtClean="0">
                <a:solidFill>
                  <a:schemeClr val="tx2">
                    <a:satMod val="130000"/>
                  </a:schemeClr>
                </a:solidFill>
              </a:rPr>
              <a:t/>
            </a:r>
            <a:br>
              <a:rPr lang="en-US" sz="2400" dirty="0" smtClean="0">
                <a:solidFill>
                  <a:schemeClr val="tx2">
                    <a:satMod val="130000"/>
                  </a:schemeClr>
                </a:solidFill>
              </a:rPr>
            </a:br>
            <a:r>
              <a:rPr lang="en-US" sz="2400" dirty="0" smtClean="0">
                <a:solidFill>
                  <a:schemeClr val="tx1"/>
                </a:solidFill>
                <a:latin typeface="Courier New" pitchFamily="49" charset="0"/>
              </a:rPr>
              <a:t>#include &lt;</a:t>
            </a:r>
            <a:r>
              <a:rPr lang="en-US" sz="2400" dirty="0" err="1" smtClean="0">
                <a:solidFill>
                  <a:schemeClr val="tx1"/>
                </a:solidFill>
                <a:latin typeface="Courier New" pitchFamily="49" charset="0"/>
              </a:rPr>
              <a:t>iostream</a:t>
            </a:r>
            <a:r>
              <a:rPr lang="en-US" sz="2400" dirty="0" smtClean="0">
                <a:solidFill>
                  <a:schemeClr val="tx1"/>
                </a:solidFill>
                <a:latin typeface="Courier New" pitchFamily="49" charset="0"/>
              </a:rPr>
              <a:t>&gt;</a:t>
            </a:r>
            <a:br>
              <a:rPr lang="en-US" sz="2400" dirty="0" smtClean="0">
                <a:solidFill>
                  <a:schemeClr val="tx1"/>
                </a:solidFill>
                <a:latin typeface="Courier New" pitchFamily="49" charset="0"/>
              </a:rPr>
            </a:br>
            <a:r>
              <a:rPr lang="en-US" sz="2400" dirty="0" smtClean="0">
                <a:solidFill>
                  <a:schemeClr val="tx2">
                    <a:satMod val="130000"/>
                  </a:schemeClr>
                </a:solidFill>
                <a:latin typeface="Courier New" pitchFamily="49" charset="0"/>
              </a:rPr>
              <a:t>using namespace std; </a:t>
            </a:r>
            <a:r>
              <a:rPr lang="en-US" sz="2400" dirty="0" smtClean="0">
                <a:solidFill>
                  <a:schemeClr val="tx1"/>
                </a:solidFill>
                <a:latin typeface="Courier New" pitchFamily="49" charset="0"/>
              </a:rPr>
              <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long factorial (long </a:t>
            </a:r>
            <a:r>
              <a:rPr lang="en-US" sz="2400" dirty="0" err="1" smtClean="0">
                <a:solidFill>
                  <a:schemeClr val="tx1"/>
                </a:solidFill>
                <a:latin typeface="Courier New" pitchFamily="49" charset="0"/>
              </a:rPr>
              <a:t>int</a:t>
            </a:r>
            <a:r>
              <a:rPr lang="en-US" sz="2400" dirty="0" smtClean="0">
                <a:solidFill>
                  <a:schemeClr val="tx1"/>
                </a:solidFill>
                <a:latin typeface="Courier New" pitchFamily="49" charset="0"/>
              </a:rPr>
              <a:t> n);//prototype</a:t>
            </a:r>
            <a:br>
              <a:rPr lang="en-US" sz="2400" dirty="0" smtClean="0">
                <a:solidFill>
                  <a:schemeClr val="tx1"/>
                </a:solidFill>
                <a:latin typeface="Courier New" pitchFamily="49" charset="0"/>
              </a:rPr>
            </a:br>
            <a:r>
              <a:rPr lang="en-US" sz="2400" dirty="0" err="1" smtClean="0">
                <a:solidFill>
                  <a:schemeClr val="tx1"/>
                </a:solidFill>
                <a:latin typeface="Courier New" pitchFamily="49" charset="0"/>
              </a:rPr>
              <a:t>int</a:t>
            </a:r>
            <a:r>
              <a:rPr lang="en-US" sz="2400" dirty="0" smtClean="0">
                <a:solidFill>
                  <a:schemeClr val="tx1"/>
                </a:solidFill>
                <a:latin typeface="Courier New" pitchFamily="49" charset="0"/>
              </a:rPr>
              <a:t> main()</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a:t>
            </a:r>
            <a:br>
              <a:rPr lang="en-US" sz="2400" dirty="0" smtClean="0">
                <a:solidFill>
                  <a:schemeClr val="tx1"/>
                </a:solidFill>
                <a:latin typeface="Courier New" pitchFamily="49" charset="0"/>
              </a:rPr>
            </a:br>
            <a:r>
              <a:rPr lang="en-US" sz="2400" dirty="0" smtClean="0">
                <a:solidFill>
                  <a:schemeClr val="tx2">
                    <a:satMod val="130000"/>
                  </a:schemeClr>
                </a:solidFill>
                <a:latin typeface="Courier New" pitchFamily="49" charset="0"/>
              </a:rPr>
              <a:t>    long k;</a:t>
            </a:r>
            <a:br>
              <a:rPr lang="en-US" sz="2400" dirty="0" smtClean="0">
                <a:solidFill>
                  <a:schemeClr val="tx2">
                    <a:satMod val="130000"/>
                  </a:schemeClr>
                </a:solidFill>
                <a:latin typeface="Courier New" pitchFamily="49" charset="0"/>
              </a:rPr>
            </a:br>
            <a:r>
              <a:rPr lang="en-US" sz="2400" dirty="0" smtClean="0">
                <a:solidFill>
                  <a:schemeClr val="tx1"/>
                </a:solidFill>
                <a:latin typeface="Courier New" pitchFamily="49" charset="0"/>
              </a:rPr>
              <a:t>    </a:t>
            </a:r>
            <a:r>
              <a:rPr lang="en-US" sz="2400" dirty="0" err="1" smtClean="0">
                <a:solidFill>
                  <a:schemeClr val="tx1"/>
                </a:solidFill>
                <a:latin typeface="Courier New" pitchFamily="49" charset="0"/>
              </a:rPr>
              <a:t>cout</a:t>
            </a:r>
            <a:r>
              <a:rPr lang="en-US" sz="2400" dirty="0" smtClean="0">
                <a:solidFill>
                  <a:schemeClr val="tx1"/>
                </a:solidFill>
                <a:latin typeface="Courier New" pitchFamily="49" charset="0"/>
              </a:rPr>
              <a:t>&lt;&lt;"\</a:t>
            </a:r>
            <a:r>
              <a:rPr lang="en-US" sz="2400" dirty="0" err="1" smtClean="0">
                <a:solidFill>
                  <a:schemeClr val="tx1"/>
                </a:solidFill>
                <a:latin typeface="Courier New" pitchFamily="49" charset="0"/>
              </a:rPr>
              <a:t>nВъведете</a:t>
            </a:r>
            <a:r>
              <a:rPr lang="en-US" sz="2400" dirty="0" smtClean="0">
                <a:solidFill>
                  <a:schemeClr val="tx1"/>
                </a:solidFill>
                <a:latin typeface="Courier New" pitchFamily="49" charset="0"/>
              </a:rPr>
              <a:t> </a:t>
            </a:r>
            <a:r>
              <a:rPr lang="en-US" sz="2400" dirty="0" err="1" smtClean="0">
                <a:solidFill>
                  <a:schemeClr val="tx1"/>
                </a:solidFill>
                <a:latin typeface="Courier New" pitchFamily="49" charset="0"/>
              </a:rPr>
              <a:t>цяло</a:t>
            </a:r>
            <a:r>
              <a:rPr lang="en-US" sz="2400" dirty="0" smtClean="0">
                <a:solidFill>
                  <a:schemeClr val="tx1"/>
                </a:solidFill>
                <a:latin typeface="Courier New" pitchFamily="49" charset="0"/>
              </a:rPr>
              <a:t> </a:t>
            </a:r>
            <a:r>
              <a:rPr lang="en-US" sz="2400" dirty="0" err="1" smtClean="0">
                <a:solidFill>
                  <a:schemeClr val="tx1"/>
                </a:solidFill>
                <a:latin typeface="Courier New" pitchFamily="49" charset="0"/>
              </a:rPr>
              <a:t>число</a:t>
            </a:r>
            <a:r>
              <a:rPr lang="en-US" sz="2400" dirty="0" smtClean="0">
                <a:solidFill>
                  <a:schemeClr val="tx1"/>
                </a:solidFill>
                <a:latin typeface="Courier New" pitchFamily="49" charset="0"/>
              </a:rPr>
              <a:t>:";</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a:t>
            </a:r>
            <a:r>
              <a:rPr lang="en-US" sz="2400" dirty="0" err="1" smtClean="0">
                <a:solidFill>
                  <a:schemeClr val="tx1"/>
                </a:solidFill>
                <a:latin typeface="Courier New" pitchFamily="49" charset="0"/>
              </a:rPr>
              <a:t>cin</a:t>
            </a:r>
            <a:r>
              <a:rPr lang="en-US" sz="2400" dirty="0" smtClean="0">
                <a:solidFill>
                  <a:schemeClr val="tx1"/>
                </a:solidFill>
                <a:latin typeface="Courier New" pitchFamily="49" charset="0"/>
              </a:rPr>
              <a:t>&gt;&gt;k;</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a:t>
            </a:r>
            <a:r>
              <a:rPr lang="en-US" sz="2400" dirty="0" err="1" smtClean="0">
                <a:solidFill>
                  <a:schemeClr val="tx1"/>
                </a:solidFill>
                <a:latin typeface="Courier New" pitchFamily="49" charset="0"/>
              </a:rPr>
              <a:t>cout</a:t>
            </a:r>
            <a:r>
              <a:rPr lang="en-US" sz="2400" dirty="0" smtClean="0">
                <a:solidFill>
                  <a:schemeClr val="tx1"/>
                </a:solidFill>
                <a:latin typeface="Courier New" pitchFamily="49" charset="0"/>
              </a:rPr>
              <a:t>&lt;&lt;"\n"&lt;&lt;k&lt;&lt;"! = "&lt;&lt;factorial(k);</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return 0;</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long </a:t>
            </a:r>
            <a:r>
              <a:rPr lang="en-US" sz="2400" dirty="0" err="1" smtClean="0">
                <a:solidFill>
                  <a:schemeClr val="tx1"/>
                </a:solidFill>
                <a:latin typeface="Courier New" pitchFamily="49" charset="0"/>
              </a:rPr>
              <a:t>int</a:t>
            </a:r>
            <a:r>
              <a:rPr lang="en-US" sz="2400" dirty="0" smtClean="0">
                <a:solidFill>
                  <a:schemeClr val="tx1"/>
                </a:solidFill>
                <a:latin typeface="Courier New" pitchFamily="49" charset="0"/>
              </a:rPr>
              <a:t> factorial (long n)</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a:t>
            </a:r>
            <a:r>
              <a:rPr lang="bg-BG" sz="2400" dirty="0" smtClean="0">
                <a:solidFill>
                  <a:schemeClr val="tx1"/>
                </a:solidFill>
                <a:latin typeface="Courier New" pitchFamily="49" charset="0"/>
              </a:rPr>
              <a:t/>
            </a:r>
            <a:br>
              <a:rPr lang="bg-BG" sz="2400" dirty="0" smtClean="0">
                <a:solidFill>
                  <a:schemeClr val="tx1"/>
                </a:solidFill>
                <a:latin typeface="Courier New" pitchFamily="49" charset="0"/>
              </a:rPr>
            </a:br>
            <a:r>
              <a:rPr lang="en-US" sz="2400" dirty="0" smtClean="0">
                <a:solidFill>
                  <a:schemeClr val="tx1"/>
                </a:solidFill>
                <a:latin typeface="Courier New" pitchFamily="49" charset="0"/>
              </a:rPr>
              <a:t>if (n&gt;1)</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return (n*factorial(n-1));</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else</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    return(1);</a:t>
            </a:r>
            <a:br>
              <a:rPr lang="en-US" sz="2400" dirty="0" smtClean="0">
                <a:solidFill>
                  <a:schemeClr val="tx1"/>
                </a:solidFill>
                <a:latin typeface="Courier New" pitchFamily="49" charset="0"/>
              </a:rPr>
            </a:br>
            <a:r>
              <a:rPr lang="en-US" sz="2400" dirty="0" smtClean="0">
                <a:solidFill>
                  <a:schemeClr val="tx1"/>
                </a:solidFill>
                <a:latin typeface="Courier New" pitchFamily="49" charset="0"/>
              </a:rPr>
              <a:t>}</a:t>
            </a:r>
            <a:endParaRPr lang="en-US" dirty="0" smtClean="0">
              <a:solidFill>
                <a:schemeClr val="tx1"/>
              </a:solidFill>
              <a:latin typeface="Courier New" pitchFamily="49"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403350" y="908050"/>
            <a:ext cx="7265988" cy="5715000"/>
          </a:xfrm>
        </p:spPr>
        <p:txBody>
          <a:bodyPr>
            <a:normAutofit fontScale="90000"/>
          </a:bodyPr>
          <a:lstStyle/>
          <a:p>
            <a:pPr eaLnBrk="1" fontAlgn="auto" hangingPunct="1">
              <a:lnSpc>
                <a:spcPct val="90000"/>
              </a:lnSpc>
              <a:spcAft>
                <a:spcPts val="0"/>
              </a:spcAft>
              <a:defRPr/>
            </a:pPr>
            <a:r>
              <a:rPr lang="bg-BG" sz="2400" dirty="0" smtClean="0">
                <a:solidFill>
                  <a:schemeClr val="tx2">
                    <a:satMod val="130000"/>
                  </a:schemeClr>
                </a:solidFill>
              </a:rPr>
              <a:t>Итеративен вариант на функцията </a:t>
            </a:r>
            <a:r>
              <a:rPr lang="en-US" sz="2400" dirty="0" smtClean="0">
                <a:solidFill>
                  <a:schemeClr val="tx2">
                    <a:satMod val="130000"/>
                  </a:schemeClr>
                </a:solidFill>
              </a:rPr>
              <a:t>F(n) (factorial(n)):</a:t>
            </a:r>
            <a:r>
              <a:rPr lang="bg-BG" sz="2400" dirty="0" smtClean="0">
                <a:solidFill>
                  <a:schemeClr val="tx2">
                    <a:satMod val="130000"/>
                  </a:schemeClr>
                </a:solidFill>
              </a:rPr>
              <a:t/>
            </a:r>
            <a:br>
              <a:rPr lang="bg-BG" sz="2400" dirty="0" smtClean="0">
                <a:solidFill>
                  <a:schemeClr val="tx2">
                    <a:satMod val="130000"/>
                  </a:schemeClr>
                </a:solidFill>
              </a:rPr>
            </a:br>
            <a:r>
              <a:rPr lang="bg-BG" sz="2400" dirty="0" smtClean="0">
                <a:solidFill>
                  <a:schemeClr val="tx2">
                    <a:satMod val="130000"/>
                  </a:schemeClr>
                </a:solidFill>
              </a:rPr>
              <a:t/>
            </a:r>
            <a:br>
              <a:rPr lang="bg-BG" sz="2400" dirty="0" smtClean="0">
                <a:solidFill>
                  <a:schemeClr val="tx2">
                    <a:satMod val="130000"/>
                  </a:schemeClr>
                </a:solidFill>
              </a:rPr>
            </a:br>
            <a:r>
              <a:rPr lang="en-US" sz="2400" dirty="0" smtClean="0">
                <a:solidFill>
                  <a:schemeClr val="tx2">
                    <a:satMod val="130000"/>
                  </a:schemeClr>
                </a:solidFill>
                <a:latin typeface="Courier New" pitchFamily="49" charset="0"/>
              </a:rPr>
              <a:t>#include&lt;</a:t>
            </a:r>
            <a:r>
              <a:rPr lang="en-US" sz="2400" dirty="0" err="1" smtClean="0">
                <a:solidFill>
                  <a:schemeClr val="tx2">
                    <a:satMod val="130000"/>
                  </a:schemeClr>
                </a:solidFill>
                <a:latin typeface="Courier New" pitchFamily="49" charset="0"/>
              </a:rPr>
              <a:t>iostream</a:t>
            </a:r>
            <a:r>
              <a:rPr lang="en-US" sz="2400" dirty="0" smtClean="0">
                <a:solidFill>
                  <a:schemeClr val="tx2">
                    <a:satMod val="130000"/>
                  </a:schemeClr>
                </a:solidFill>
                <a:latin typeface="Courier New" pitchFamily="49" charset="0"/>
              </a:rPr>
              <a:t>&gt;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using namespace std; </a:t>
            </a:r>
            <a:br>
              <a:rPr lang="en-US"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factor(</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n);//prototype</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void main()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char c;</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do</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nВъведете</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цяло</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число</a:t>
            </a:r>
            <a:r>
              <a:rPr lang="en-US" sz="2400" dirty="0" smtClean="0">
                <a:solidFill>
                  <a:schemeClr val="tx2">
                    <a:satMod val="130000"/>
                  </a:schemeClr>
                </a:solidFill>
                <a:latin typeface="Courier New" pitchFamily="49" charset="0"/>
              </a:rPr>
              <a: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cin</a:t>
            </a:r>
            <a:r>
              <a:rPr lang="en-US" sz="2400" dirty="0" smtClean="0">
                <a:solidFill>
                  <a:schemeClr val="tx2">
                    <a:satMod val="130000"/>
                  </a:schemeClr>
                </a:solidFill>
                <a:latin typeface="Courier New" pitchFamily="49" charset="0"/>
              </a:rPr>
              <a:t>&gt;&gt;n;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factor(n);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nДруга</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стойност</a:t>
            </a:r>
            <a:r>
              <a:rPr lang="en-US" sz="2400" dirty="0" smtClean="0">
                <a:solidFill>
                  <a:schemeClr val="tx2">
                    <a:satMod val="130000"/>
                  </a:schemeClr>
                </a:solidFill>
                <a:latin typeface="Courier New" pitchFamily="49" charset="0"/>
              </a:rPr>
              <a:t> (Y/N)?</a:t>
            </a:r>
            <a:r>
              <a:rPr lang="bg-BG" sz="2400" dirty="0" smtClean="0">
                <a:solidFill>
                  <a:schemeClr val="tx2">
                    <a:satMod val="130000"/>
                  </a:schemeClr>
                </a:solidFill>
                <a:latin typeface="Courier New" pitchFamily="49" charset="0"/>
              </a:rPr>
              <a:t> </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cin</a:t>
            </a:r>
            <a:r>
              <a:rPr lang="en-US" sz="2400" dirty="0" smtClean="0">
                <a:solidFill>
                  <a:schemeClr val="tx2">
                    <a:satMod val="130000"/>
                  </a:schemeClr>
                </a:solidFill>
                <a:latin typeface="Courier New" pitchFamily="49" charset="0"/>
              </a:rPr>
              <a:t>&gt;&gt;c;</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while ((c!='N')&amp;&amp;(c!='n'));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br>
              <a:rPr lang="en-US" sz="2400" dirty="0" smtClean="0">
                <a:solidFill>
                  <a:schemeClr val="tx2">
                    <a:satMod val="130000"/>
                  </a:schemeClr>
                </a:solidFill>
                <a:latin typeface="Courier New" pitchFamily="49" charset="0"/>
              </a:rPr>
            </a:br>
            <a:endParaRPr lang="en-US" dirty="0" smtClean="0">
              <a:solidFill>
                <a:schemeClr val="tx2">
                  <a:satMod val="130000"/>
                </a:schemeClr>
              </a:solidFill>
              <a:latin typeface="Courier New" pitchFamily="49"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619250" y="1916113"/>
            <a:ext cx="6623050" cy="2971800"/>
          </a:xfrm>
        </p:spPr>
        <p:txBody>
          <a:bodyPr>
            <a:normAutofit fontScale="90000"/>
          </a:bodyPr>
          <a:lstStyle/>
          <a:p>
            <a:pPr eaLnBrk="1" fontAlgn="auto" hangingPunct="1">
              <a:spcAft>
                <a:spcPts val="0"/>
              </a:spcAft>
              <a:defRPr/>
            </a:pP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factor(</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rez</a:t>
            </a:r>
            <a:r>
              <a:rPr lang="en-US" sz="2400" dirty="0" smtClean="0">
                <a:solidFill>
                  <a:schemeClr val="tx2">
                    <a:satMod val="130000"/>
                  </a:schemeClr>
                </a:solidFill>
                <a:latin typeface="Courier New" pitchFamily="49" charset="0"/>
              </a:rPr>
              <a:t>=1;</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=1;i&lt;=</a:t>
            </a:r>
            <a:r>
              <a:rPr lang="en-US" sz="2400" dirty="0" err="1" smtClean="0">
                <a:solidFill>
                  <a:schemeClr val="tx2">
                    <a:satMod val="130000"/>
                  </a:schemeClr>
                </a:solidFill>
                <a:latin typeface="Courier New" pitchFamily="49" charset="0"/>
              </a:rPr>
              <a:t>n;i</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rez</a:t>
            </a:r>
            <a:r>
              <a:rPr lang="en-US" sz="2400" dirty="0" smtClean="0">
                <a:solidFill>
                  <a:schemeClr val="tx2">
                    <a:satMod val="130000"/>
                  </a:schemeClr>
                </a:solidFill>
                <a:latin typeface="Courier New" pitchFamily="49" charset="0"/>
              </a:rPr>
              <a:t>*=</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rez</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return 0;</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dirty="0" smtClean="0">
                <a:solidFill>
                  <a:schemeClr val="tx2">
                    <a:satMod val="130000"/>
                  </a:schemeClr>
                </a:solidFill>
                <a:latin typeface="Courier New" pitchFamily="49" charset="0"/>
              </a:rPr>
              <a:t/>
            </a:r>
            <a:br>
              <a:rPr lang="bg-BG" dirty="0" smtClean="0">
                <a:solidFill>
                  <a:schemeClr val="tx2">
                    <a:satMod val="130000"/>
                  </a:schemeClr>
                </a:solidFill>
                <a:latin typeface="Courier New" pitchFamily="49" charset="0"/>
              </a:rPr>
            </a:br>
            <a:endParaRPr lang="en-US" dirty="0" smtClean="0">
              <a:solidFill>
                <a:schemeClr val="tx2">
                  <a:satMod val="130000"/>
                </a:schemeClr>
              </a:solidFill>
              <a:latin typeface="Courier New"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258888" y="836613"/>
            <a:ext cx="7499350" cy="1143000"/>
          </a:xfrm>
        </p:spPr>
        <p:txBody>
          <a:bodyPr>
            <a:normAutofit fontScale="90000"/>
          </a:bodyPr>
          <a:lstStyle/>
          <a:p>
            <a:pPr eaLnBrk="1" fontAlgn="auto" hangingPunct="1">
              <a:spcAft>
                <a:spcPts val="0"/>
              </a:spcAft>
              <a:defRPr/>
            </a:pPr>
            <a:r>
              <a:rPr lang="bg-BG" sz="2800" smtClean="0">
                <a:solidFill>
                  <a:schemeClr val="tx1"/>
                </a:solidFill>
              </a:rPr>
              <a:t>Алгоритъм на Евклид на намиране на най-големия общ делител на две положителни числа</a:t>
            </a:r>
            <a:r>
              <a:rPr lang="en-AU" smtClean="0">
                <a:solidFill>
                  <a:schemeClr val="tx1"/>
                </a:solidFill>
              </a:rPr>
              <a:t> </a:t>
            </a:r>
            <a:endParaRPr lang="en-US" smtClean="0">
              <a:solidFill>
                <a:schemeClr val="tx1"/>
              </a:solidFill>
            </a:endParaRPr>
          </a:p>
        </p:txBody>
      </p:sp>
      <p:graphicFrame>
        <p:nvGraphicFramePr>
          <p:cNvPr id="7170" name="Object 3"/>
          <p:cNvGraphicFramePr>
            <a:graphicFrameLocks noChangeAspect="1"/>
          </p:cNvGraphicFramePr>
          <p:nvPr/>
        </p:nvGraphicFramePr>
        <p:xfrm>
          <a:off x="1476375" y="2924175"/>
          <a:ext cx="6324600" cy="1539875"/>
        </p:xfrm>
        <a:graphic>
          <a:graphicData uri="http://schemas.openxmlformats.org/presentationml/2006/ole">
            <mc:AlternateContent xmlns:mc="http://schemas.openxmlformats.org/markup-compatibility/2006">
              <mc:Choice xmlns:v="urn:schemas-microsoft-com:vml" Requires="v">
                <p:oleObj spid="_x0000_s7173" name="Equation" r:id="rId3" imgW="2920680" imgH="711000" progId="">
                  <p:embed/>
                </p:oleObj>
              </mc:Choice>
              <mc:Fallback>
                <p:oleObj name="Equation" r:id="rId3" imgW="2920680" imgH="7110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924175"/>
                        <a:ext cx="63246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331913" y="765175"/>
            <a:ext cx="7632575" cy="5867400"/>
          </a:xfrm>
        </p:spPr>
        <p:txBody>
          <a:bodyPr>
            <a:normAutofit fontScale="90000"/>
          </a:bodyPr>
          <a:lstStyle/>
          <a:p>
            <a:pPr eaLnBrk="1" fontAlgn="auto" hangingPunct="1">
              <a:lnSpc>
                <a:spcPct val="80000"/>
              </a:lnSpc>
              <a:spcAft>
                <a:spcPts val="0"/>
              </a:spcAft>
              <a:defRPr/>
            </a:pPr>
            <a:r>
              <a:rPr lang="bg-BG" sz="2000" b="1" dirty="0" smtClean="0">
                <a:solidFill>
                  <a:schemeClr val="tx2">
                    <a:satMod val="130000"/>
                  </a:schemeClr>
                </a:solidFill>
                <a:latin typeface="Courier New" pitchFamily="49" charset="0"/>
              </a:rPr>
              <a:t>Рекурсивен вариант:</a:t>
            </a:r>
            <a:br>
              <a:rPr lang="bg-BG" sz="2000" b="1" dirty="0" smtClean="0">
                <a:solidFill>
                  <a:schemeClr val="tx2">
                    <a:satMod val="130000"/>
                  </a:schemeClr>
                </a:solidFill>
                <a:latin typeface="Courier New" pitchFamily="49" charset="0"/>
              </a:rPr>
            </a:br>
            <a:r>
              <a:rPr lang="en-US" sz="2000" b="1" dirty="0" smtClean="0">
                <a:solidFill>
                  <a:schemeClr val="tx2">
                    <a:satMod val="130000"/>
                  </a:schemeClr>
                </a:solidFill>
                <a:latin typeface="Courier New" pitchFamily="49" charset="0"/>
              </a:rPr>
              <a:t/>
            </a:r>
            <a:br>
              <a:rPr lang="en-US" sz="2000" b="1" dirty="0" smtClean="0">
                <a:solidFill>
                  <a:schemeClr val="tx2">
                    <a:satMod val="130000"/>
                  </a:schemeClr>
                </a:solidFill>
                <a:latin typeface="Courier New" pitchFamily="49" charset="0"/>
              </a:rPr>
            </a:br>
            <a:r>
              <a:rPr lang="bg-BG" sz="2200" dirty="0" smtClean="0">
                <a:solidFill>
                  <a:schemeClr val="tx2">
                    <a:satMod val="130000"/>
                  </a:schemeClr>
                </a:solidFill>
                <a:effectLst/>
                <a:latin typeface="Courier New" pitchFamily="49" charset="0"/>
              </a:rPr>
              <a:t>#</a:t>
            </a:r>
            <a:r>
              <a:rPr lang="en-US" sz="2200" dirty="0" smtClean="0">
                <a:solidFill>
                  <a:schemeClr val="tx2">
                    <a:satMod val="130000"/>
                  </a:schemeClr>
                </a:solidFill>
                <a:effectLst/>
                <a:latin typeface="Courier New" pitchFamily="49" charset="0"/>
              </a:rPr>
              <a:t>include &lt;</a:t>
            </a:r>
            <a:r>
              <a:rPr lang="en-US" sz="2200" dirty="0" err="1" smtClean="0">
                <a:solidFill>
                  <a:schemeClr val="tx2">
                    <a:satMod val="130000"/>
                  </a:schemeClr>
                </a:solidFill>
                <a:effectLst/>
                <a:latin typeface="Courier New" pitchFamily="49" charset="0"/>
              </a:rPr>
              <a:t>iostream</a:t>
            </a:r>
            <a:r>
              <a:rPr lang="en-US" sz="2200" dirty="0" smtClean="0">
                <a:solidFill>
                  <a:schemeClr val="tx2">
                    <a:satMod val="130000"/>
                  </a:schemeClr>
                </a:solidFill>
                <a:effectLst/>
                <a:latin typeface="Courier New" pitchFamily="49" charset="0"/>
              </a:rPr>
              <a:t>&gt;</a:t>
            </a:r>
            <a:r>
              <a:rPr lang="bg-BG" sz="2200" dirty="0" smtClean="0">
                <a:solidFill>
                  <a:schemeClr val="tx2">
                    <a:satMod val="130000"/>
                  </a:schemeClr>
                </a:solidFill>
                <a:effectLst/>
                <a:latin typeface="Courier New" pitchFamily="49" charset="0"/>
              </a:rPr>
              <a:t/>
            </a:r>
            <a:br>
              <a:rPr lang="bg-BG"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using namespace std;</a:t>
            </a:r>
            <a:br>
              <a:rPr lang="en-US" sz="2200" dirty="0" smtClean="0">
                <a:solidFill>
                  <a:schemeClr val="tx2">
                    <a:satMod val="130000"/>
                  </a:schemeClr>
                </a:solidFill>
                <a:effectLst/>
                <a:latin typeface="Courier New" pitchFamily="49" charset="0"/>
              </a:rPr>
            </a:br>
            <a:r>
              <a:rPr lang="en-US" sz="2200" dirty="0" err="1" smtClean="0">
                <a:solidFill>
                  <a:schemeClr val="tx2">
                    <a:satMod val="130000"/>
                  </a:schemeClr>
                </a:solidFill>
                <a:effectLst/>
                <a:latin typeface="Courier New" pitchFamily="49" charset="0"/>
              </a:rPr>
              <a:t>int</a:t>
            </a:r>
            <a:r>
              <a:rPr lang="en-US" sz="2200" dirty="0" smtClean="0">
                <a:solidFill>
                  <a:schemeClr val="tx2">
                    <a:satMod val="130000"/>
                  </a:schemeClr>
                </a:solidFill>
                <a:effectLst/>
                <a:latin typeface="Courier New" pitchFamily="49" charset="0"/>
              </a:rPr>
              <a:t> NGOD (</a:t>
            </a:r>
            <a:r>
              <a:rPr lang="en-US" sz="2200" dirty="0" err="1" smtClean="0">
                <a:solidFill>
                  <a:schemeClr val="tx2">
                    <a:satMod val="130000"/>
                  </a:schemeClr>
                </a:solidFill>
                <a:effectLst/>
                <a:latin typeface="Courier New" pitchFamily="49" charset="0"/>
              </a:rPr>
              <a:t>int</a:t>
            </a: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m,int</a:t>
            </a:r>
            <a:r>
              <a:rPr lang="en-US" sz="2200" dirty="0" smtClean="0">
                <a:solidFill>
                  <a:schemeClr val="tx2">
                    <a:satMod val="130000"/>
                  </a:schemeClr>
                </a:solidFill>
                <a:effectLst/>
                <a:latin typeface="Courier New" pitchFamily="49" charset="0"/>
              </a:rPr>
              <a:t> n); //Prototype</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void main()</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int</a:t>
            </a:r>
            <a:r>
              <a:rPr lang="en-US" sz="2200" dirty="0" smtClean="0">
                <a:solidFill>
                  <a:schemeClr val="tx2">
                    <a:satMod val="130000"/>
                  </a:schemeClr>
                </a:solidFill>
                <a:effectLst/>
                <a:latin typeface="Courier New" pitchFamily="49" charset="0"/>
              </a:rPr>
              <a:t> m, n;</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char r;</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do</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bg-BG" sz="2200" dirty="0" smtClean="0">
                <a:solidFill>
                  <a:schemeClr val="tx2">
                    <a:satMod val="130000"/>
                  </a:schemeClr>
                </a:solidFill>
                <a:effectLst/>
                <a:latin typeface="Courier New" pitchFamily="49" charset="0"/>
              </a:rPr>
              <a:t/>
            </a:r>
            <a:br>
              <a:rPr lang="bg-BG"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do</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cout</a:t>
            </a:r>
            <a:r>
              <a:rPr lang="en-US" sz="2200" dirty="0" smtClean="0">
                <a:solidFill>
                  <a:schemeClr val="tx2">
                    <a:satMod val="130000"/>
                  </a:schemeClr>
                </a:solidFill>
                <a:effectLst/>
                <a:latin typeface="Courier New" pitchFamily="49" charset="0"/>
              </a:rPr>
              <a:t>&lt;&lt;"\nm=";</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cin</a:t>
            </a:r>
            <a:r>
              <a:rPr lang="en-US" sz="2200" dirty="0" smtClean="0">
                <a:solidFill>
                  <a:schemeClr val="tx2">
                    <a:satMod val="130000"/>
                  </a:schemeClr>
                </a:solidFill>
                <a:effectLst/>
                <a:latin typeface="Courier New" pitchFamily="49" charset="0"/>
              </a:rPr>
              <a:t>&gt;&gt;m;</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cout</a:t>
            </a:r>
            <a:r>
              <a:rPr lang="en-US" sz="2200" dirty="0" smtClean="0">
                <a:solidFill>
                  <a:schemeClr val="tx2">
                    <a:satMod val="130000"/>
                  </a:schemeClr>
                </a:solidFill>
                <a:effectLst/>
                <a:latin typeface="Courier New" pitchFamily="49" charset="0"/>
              </a:rPr>
              <a:t>&lt;&lt;"\</a:t>
            </a:r>
            <a:r>
              <a:rPr lang="en-US" sz="2200" dirty="0" err="1" smtClean="0">
                <a:solidFill>
                  <a:schemeClr val="tx2">
                    <a:satMod val="130000"/>
                  </a:schemeClr>
                </a:solidFill>
                <a:effectLst/>
                <a:latin typeface="Courier New" pitchFamily="49" charset="0"/>
              </a:rPr>
              <a:t>nn</a:t>
            </a:r>
            <a:r>
              <a:rPr lang="en-US" sz="2200" dirty="0" smtClean="0">
                <a:solidFill>
                  <a:schemeClr val="tx2">
                    <a:satMod val="130000"/>
                  </a:schemeClr>
                </a:solidFill>
                <a:effectLst/>
                <a:latin typeface="Courier New" pitchFamily="49" charset="0"/>
              </a:rPr>
              <a:t>=";</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cin</a:t>
            </a:r>
            <a:r>
              <a:rPr lang="en-US" sz="2200" dirty="0" smtClean="0">
                <a:solidFill>
                  <a:schemeClr val="tx2">
                    <a:satMod val="130000"/>
                  </a:schemeClr>
                </a:solidFill>
                <a:effectLst/>
                <a:latin typeface="Courier New" pitchFamily="49" charset="0"/>
              </a:rPr>
              <a:t>&gt;&gt;n;</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while ((n&lt;0)||(m&lt;0));</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cout</a:t>
            </a:r>
            <a:r>
              <a:rPr lang="en-US" sz="2200" dirty="0" smtClean="0">
                <a:solidFill>
                  <a:schemeClr val="tx2">
                    <a:satMod val="130000"/>
                  </a:schemeClr>
                </a:solidFill>
                <a:effectLst/>
                <a:latin typeface="Courier New" pitchFamily="49" charset="0"/>
              </a:rPr>
              <a:t>&lt;&lt;"\</a:t>
            </a:r>
            <a:r>
              <a:rPr lang="en-US" sz="2200" dirty="0" err="1" smtClean="0">
                <a:solidFill>
                  <a:schemeClr val="tx2">
                    <a:satMod val="130000"/>
                  </a:schemeClr>
                </a:solidFill>
                <a:effectLst/>
                <a:latin typeface="Courier New" pitchFamily="49" charset="0"/>
              </a:rPr>
              <a:t>nNGOD</a:t>
            </a:r>
            <a:r>
              <a:rPr lang="en-US" sz="2200" dirty="0" smtClean="0">
                <a:solidFill>
                  <a:schemeClr val="tx2">
                    <a:satMod val="130000"/>
                  </a:schemeClr>
                </a:solidFill>
                <a:effectLst/>
                <a:latin typeface="Courier New" pitchFamily="49" charset="0"/>
              </a:rPr>
              <a:t>("&lt;&lt;m&lt;&lt;","&lt;&lt;n&lt;&lt;")="&lt;&lt;NGOD(</a:t>
            </a:r>
            <a:r>
              <a:rPr lang="en-US" sz="2200" dirty="0" err="1" smtClean="0">
                <a:solidFill>
                  <a:schemeClr val="tx2">
                    <a:satMod val="130000"/>
                  </a:schemeClr>
                </a:solidFill>
                <a:effectLst/>
                <a:latin typeface="Courier New" pitchFamily="49" charset="0"/>
              </a:rPr>
              <a:t>m,n</a:t>
            </a:r>
            <a:r>
              <a:rPr lang="en-US" sz="2200" dirty="0" smtClean="0">
                <a:solidFill>
                  <a:schemeClr val="tx2">
                    <a:satMod val="130000"/>
                  </a:schemeClr>
                </a:solidFill>
                <a:effectLst/>
                <a:latin typeface="Courier New" pitchFamily="49" charset="0"/>
              </a:rPr>
              <a:t>);</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cout</a:t>
            </a:r>
            <a:r>
              <a:rPr lang="en-US" sz="2200" dirty="0" smtClean="0">
                <a:solidFill>
                  <a:schemeClr val="tx2">
                    <a:satMod val="130000"/>
                  </a:schemeClr>
                </a:solidFill>
                <a:effectLst/>
                <a:latin typeface="Courier New" pitchFamily="49" charset="0"/>
              </a:rPr>
              <a:t>&lt;&lt;"\</a:t>
            </a:r>
            <a:r>
              <a:rPr lang="en-US" sz="2200" dirty="0" err="1" smtClean="0">
                <a:solidFill>
                  <a:schemeClr val="tx2">
                    <a:satMod val="130000"/>
                  </a:schemeClr>
                </a:solidFill>
                <a:effectLst/>
                <a:latin typeface="Courier New" pitchFamily="49" charset="0"/>
              </a:rPr>
              <a:t>nNext</a:t>
            </a: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arg</a:t>
            </a:r>
            <a:r>
              <a:rPr lang="en-US" sz="2200" dirty="0" smtClean="0">
                <a:solidFill>
                  <a:schemeClr val="tx2">
                    <a:satMod val="130000"/>
                  </a:schemeClr>
                </a:solidFill>
                <a:effectLst/>
                <a:latin typeface="Courier New" pitchFamily="49" charset="0"/>
              </a:rPr>
              <a:t> (y/n):";</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r>
              <a:rPr lang="en-US" sz="2200" dirty="0" err="1" smtClean="0">
                <a:solidFill>
                  <a:schemeClr val="tx2">
                    <a:satMod val="130000"/>
                  </a:schemeClr>
                </a:solidFill>
                <a:effectLst/>
                <a:latin typeface="Courier New" pitchFamily="49" charset="0"/>
              </a:rPr>
              <a:t>cin</a:t>
            </a:r>
            <a:r>
              <a:rPr lang="en-US" sz="2200" dirty="0" smtClean="0">
                <a:solidFill>
                  <a:schemeClr val="tx2">
                    <a:satMod val="130000"/>
                  </a:schemeClr>
                </a:solidFill>
                <a:effectLst/>
                <a:latin typeface="Courier New" pitchFamily="49" charset="0"/>
              </a:rPr>
              <a:t>&gt;&gt;r;</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a:t>
            </a:r>
            <a:br>
              <a:rPr lang="en-US" sz="2200" dirty="0" smtClean="0">
                <a:solidFill>
                  <a:schemeClr val="tx2">
                    <a:satMod val="130000"/>
                  </a:schemeClr>
                </a:solidFill>
                <a:effectLst/>
                <a:latin typeface="Courier New" pitchFamily="49" charset="0"/>
              </a:rPr>
            </a:br>
            <a:r>
              <a:rPr lang="en-US" sz="2200" dirty="0" smtClean="0">
                <a:solidFill>
                  <a:schemeClr val="tx2">
                    <a:satMod val="130000"/>
                  </a:schemeClr>
                </a:solidFill>
                <a:effectLst/>
                <a:latin typeface="Courier New" pitchFamily="49" charset="0"/>
              </a:rPr>
              <a:t>  while ((r=='y')||(r=='Y'));</a:t>
            </a:r>
            <a:r>
              <a:rPr lang="en-US" sz="2100" dirty="0" smtClean="0">
                <a:solidFill>
                  <a:schemeClr val="tx2">
                    <a:satMod val="130000"/>
                  </a:schemeClr>
                </a:solidFill>
                <a:effectLst/>
                <a:latin typeface="Courier New" pitchFamily="49" charset="0"/>
              </a:rPr>
              <a:t/>
            </a:r>
            <a:br>
              <a:rPr lang="en-US" sz="2100" dirty="0" smtClean="0">
                <a:solidFill>
                  <a:schemeClr val="tx2">
                    <a:satMod val="130000"/>
                  </a:schemeClr>
                </a:solidFill>
                <a:effectLst/>
                <a:latin typeface="Courier New" pitchFamily="49" charset="0"/>
              </a:rPr>
            </a:br>
            <a:r>
              <a:rPr lang="en-US" sz="2100" dirty="0" smtClean="0">
                <a:solidFill>
                  <a:schemeClr val="tx2">
                    <a:satMod val="130000"/>
                  </a:schemeClr>
                </a:solidFill>
                <a:effectLst/>
                <a:latin typeface="Courier New" pitchFamily="49" charset="0"/>
              </a:rPr>
              <a:t> }</a:t>
            </a:r>
            <a:br>
              <a:rPr lang="en-US" sz="2100" dirty="0" smtClean="0">
                <a:solidFill>
                  <a:schemeClr val="tx2">
                    <a:satMod val="130000"/>
                  </a:schemeClr>
                </a:solidFill>
                <a:effectLst/>
                <a:latin typeface="Courier New" pitchFamily="49" charset="0"/>
              </a:rPr>
            </a:br>
            <a:endParaRPr lang="en-US" sz="2100" dirty="0" smtClean="0">
              <a:solidFill>
                <a:schemeClr val="tx2">
                  <a:satMod val="130000"/>
                </a:schemeClr>
              </a:solidFill>
              <a:effectLst/>
              <a:latin typeface="Courier New"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619250" y="620713"/>
            <a:ext cx="7054850" cy="5486400"/>
          </a:xfrm>
        </p:spPr>
        <p:txBody>
          <a:bodyPr>
            <a:normAutofit fontScale="90000"/>
          </a:bodyPr>
          <a:lstStyle/>
          <a:p>
            <a:pPr eaLnBrk="1" fontAlgn="auto" hangingPunct="1">
              <a:spcAft>
                <a:spcPts val="0"/>
              </a:spcAft>
              <a:defRPr/>
            </a:pPr>
            <a:r>
              <a:rPr lang="en-US" smtClean="0">
                <a:solidFill>
                  <a:schemeClr val="tx2">
                    <a:satMod val="130000"/>
                  </a:schemeClr>
                </a:solidFill>
                <a:latin typeface="Courier New" pitchFamily="49" charset="0"/>
              </a:rPr>
              <a:t/>
            </a:r>
            <a:br>
              <a:rPr lang="en-US"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int NGOD(int m,int 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if  (n&gt;m)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return(NGOD(n,m));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else</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if (n==0)</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else</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return(NGOD(n,m%n));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br>
              <a:rPr lang="en-US"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r>
              <a:rPr lang="bg-BG" sz="2000" b="1" smtClean="0">
                <a:solidFill>
                  <a:schemeClr val="tx2">
                    <a:satMod val="130000"/>
                  </a:schemeClr>
                </a:solidFill>
                <a:latin typeface="Courier New" pitchFamily="49" charset="0"/>
              </a:rPr>
              <a:t>По-ефективна реализация:</a:t>
            </a:r>
            <a:br>
              <a:rPr lang="bg-BG" sz="2000" b="1"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int NGOD (int m, int 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if (n&gt;m)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 NGOD(n,m);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else  return n?NGOD(n,m%n):m;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endParaRPr lang="en-US" smtClean="0">
              <a:solidFill>
                <a:schemeClr val="tx2">
                  <a:satMod val="130000"/>
                </a:schemeClr>
              </a:solidFill>
              <a:latin typeface="Courier New"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476375" y="620713"/>
            <a:ext cx="7053263" cy="5486400"/>
          </a:xfrm>
        </p:spPr>
        <p:txBody>
          <a:bodyPr>
            <a:normAutofit fontScale="90000"/>
          </a:bodyPr>
          <a:lstStyle/>
          <a:p>
            <a:pPr eaLnBrk="1" fontAlgn="auto" hangingPunct="1">
              <a:spcAft>
                <a:spcPts val="0"/>
              </a:spcAft>
              <a:defRPr/>
            </a:pPr>
            <a:r>
              <a:rPr lang="bg-BG" sz="2400" smtClean="0">
                <a:solidFill>
                  <a:schemeClr val="tx2">
                    <a:satMod val="130000"/>
                  </a:schemeClr>
                </a:solidFill>
              </a:rPr>
              <a:t>Итеративна реализация:</a:t>
            </a:r>
            <a:br>
              <a:rPr lang="bg-BG"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int NGOD (int n, int m)</a:t>
            </a:r>
            <a:br>
              <a:rPr lang="en-US" sz="2400" smtClean="0">
                <a:solidFill>
                  <a:schemeClr val="tx2">
                    <a:satMod val="130000"/>
                  </a:schemeClr>
                </a:solidFill>
              </a:rPr>
            </a:br>
            <a:r>
              <a:rPr lang="en-US" sz="2400" smtClean="0">
                <a:solidFill>
                  <a:schemeClr val="tx2">
                    <a:satMod val="130000"/>
                  </a:schemeClr>
                </a:solidFill>
              </a:rPr>
              <a:t>{</a:t>
            </a:r>
            <a:br>
              <a:rPr lang="en-US" sz="2400" smtClean="0">
                <a:solidFill>
                  <a:schemeClr val="tx2">
                    <a:satMod val="130000"/>
                  </a:schemeClr>
                </a:solidFill>
              </a:rPr>
            </a:br>
            <a:r>
              <a:rPr lang="en-US" sz="2400" smtClean="0">
                <a:solidFill>
                  <a:schemeClr val="tx2">
                    <a:satMod val="130000"/>
                  </a:schemeClr>
                </a:solidFill>
              </a:rPr>
              <a:t>	int k, nn,mm;</a:t>
            </a:r>
            <a:br>
              <a:rPr lang="en-US" sz="2400" smtClean="0">
                <a:solidFill>
                  <a:schemeClr val="tx2">
                    <a:satMod val="130000"/>
                  </a:schemeClr>
                </a:solidFill>
              </a:rPr>
            </a:br>
            <a:r>
              <a:rPr lang="en-US" sz="2400" smtClean="0">
                <a:solidFill>
                  <a:schemeClr val="tx2">
                    <a:satMod val="130000"/>
                  </a:schemeClr>
                </a:solidFill>
              </a:rPr>
              <a:t>	if (n&lt;m) </a:t>
            </a:r>
            <a:br>
              <a:rPr lang="en-US" sz="2400" smtClean="0">
                <a:solidFill>
                  <a:schemeClr val="tx2">
                    <a:satMod val="130000"/>
                  </a:schemeClr>
                </a:solidFill>
              </a:rPr>
            </a:br>
            <a:r>
              <a:rPr lang="en-US" sz="2400" smtClean="0">
                <a:solidFill>
                  <a:schemeClr val="tx2">
                    <a:satMod val="130000"/>
                  </a:schemeClr>
                </a:solidFill>
              </a:rPr>
              <a:t>	{nn=n; mm=m;}</a:t>
            </a:r>
            <a:br>
              <a:rPr lang="en-US" sz="2400" smtClean="0">
                <a:solidFill>
                  <a:schemeClr val="tx2">
                    <a:satMod val="130000"/>
                  </a:schemeClr>
                </a:solidFill>
              </a:rPr>
            </a:br>
            <a:r>
              <a:rPr lang="en-US" sz="2400" smtClean="0">
                <a:solidFill>
                  <a:schemeClr val="tx2">
                    <a:satMod val="130000"/>
                  </a:schemeClr>
                </a:solidFill>
              </a:rPr>
              <a:t>	    else</a:t>
            </a:r>
            <a:br>
              <a:rPr lang="en-US" sz="2400" smtClean="0">
                <a:solidFill>
                  <a:schemeClr val="tx2">
                    <a:satMod val="130000"/>
                  </a:schemeClr>
                </a:solidFill>
              </a:rPr>
            </a:br>
            <a:r>
              <a:rPr lang="en-US" sz="2400" smtClean="0">
                <a:solidFill>
                  <a:schemeClr val="tx2">
                    <a:satMod val="130000"/>
                  </a:schemeClr>
                </a:solidFill>
              </a:rPr>
              <a:t>		{nn=m; mm=n;}</a:t>
            </a:r>
            <a:br>
              <a:rPr lang="en-US" sz="2400" smtClean="0">
                <a:solidFill>
                  <a:schemeClr val="tx2">
                    <a:satMod val="130000"/>
                  </a:schemeClr>
                </a:solidFill>
              </a:rPr>
            </a:br>
            <a:r>
              <a:rPr lang="en-US" sz="2400" smtClean="0">
                <a:solidFill>
                  <a:schemeClr val="tx2">
                    <a:satMod val="130000"/>
                  </a:schemeClr>
                </a:solidFill>
              </a:rPr>
              <a:t>              while (nn)</a:t>
            </a:r>
            <a:br>
              <a:rPr lang="en-US" sz="2400" smtClean="0">
                <a:solidFill>
                  <a:schemeClr val="tx2">
                    <a:satMod val="130000"/>
                  </a:schemeClr>
                </a:solidFill>
              </a:rPr>
            </a:br>
            <a:r>
              <a:rPr lang="en-US" sz="2400" smtClean="0">
                <a:solidFill>
                  <a:schemeClr val="tx2">
                    <a:satMod val="130000"/>
                  </a:schemeClr>
                </a:solidFill>
              </a:rPr>
              <a:t>	     {</a:t>
            </a:r>
            <a:br>
              <a:rPr lang="en-US" sz="2400" smtClean="0">
                <a:solidFill>
                  <a:schemeClr val="tx2">
                    <a:satMod val="130000"/>
                  </a:schemeClr>
                </a:solidFill>
              </a:rPr>
            </a:br>
            <a:r>
              <a:rPr lang="en-US" sz="2400" smtClean="0">
                <a:solidFill>
                  <a:schemeClr val="tx2">
                    <a:satMod val="130000"/>
                  </a:schemeClr>
                </a:solidFill>
              </a:rPr>
              <a:t>                       k=nn;</a:t>
            </a:r>
            <a:br>
              <a:rPr lang="en-US" sz="2400" smtClean="0">
                <a:solidFill>
                  <a:schemeClr val="tx2">
                    <a:satMod val="130000"/>
                  </a:schemeClr>
                </a:solidFill>
              </a:rPr>
            </a:br>
            <a:r>
              <a:rPr lang="en-US" sz="2400" smtClean="0">
                <a:solidFill>
                  <a:schemeClr val="tx2">
                    <a:satMod val="130000"/>
                  </a:schemeClr>
                </a:solidFill>
              </a:rPr>
              <a:t>	           nn=mm%nn;</a:t>
            </a:r>
            <a:br>
              <a:rPr lang="en-US" sz="2400" smtClean="0">
                <a:solidFill>
                  <a:schemeClr val="tx2">
                    <a:satMod val="130000"/>
                  </a:schemeClr>
                </a:solidFill>
              </a:rPr>
            </a:br>
            <a:r>
              <a:rPr lang="en-US" sz="2400" smtClean="0">
                <a:solidFill>
                  <a:schemeClr val="tx2">
                    <a:satMod val="130000"/>
                  </a:schemeClr>
                </a:solidFill>
              </a:rPr>
              <a:t>	           mm=k;</a:t>
            </a:r>
            <a:br>
              <a:rPr lang="en-US" sz="2400" smtClean="0">
                <a:solidFill>
                  <a:schemeClr val="tx2">
                    <a:satMod val="130000"/>
                  </a:schemeClr>
                </a:solidFill>
              </a:rPr>
            </a:br>
            <a:r>
              <a:rPr lang="en-US" sz="2400" smtClean="0">
                <a:solidFill>
                  <a:schemeClr val="tx2">
                    <a:satMod val="130000"/>
                  </a:schemeClr>
                </a:solidFill>
              </a:rPr>
              <a:t>	     }</a:t>
            </a:r>
            <a:br>
              <a:rPr lang="en-US" sz="2400" smtClean="0">
                <a:solidFill>
                  <a:schemeClr val="tx2">
                    <a:satMod val="130000"/>
                  </a:schemeClr>
                </a:solidFill>
              </a:rPr>
            </a:br>
            <a:r>
              <a:rPr lang="en-US" sz="2400" smtClean="0">
                <a:solidFill>
                  <a:schemeClr val="tx2">
                    <a:satMod val="130000"/>
                  </a:schemeClr>
                </a:solidFill>
              </a:rPr>
              <a:t>             return mm;</a:t>
            </a:r>
            <a:br>
              <a:rPr lang="en-US" sz="2400" smtClean="0">
                <a:solidFill>
                  <a:schemeClr val="tx2">
                    <a:satMod val="130000"/>
                  </a:schemeClr>
                </a:solidFill>
              </a:rPr>
            </a:br>
            <a:r>
              <a:rPr lang="en-US" sz="2400" smtClean="0">
                <a:solidFill>
                  <a:schemeClr val="tx2">
                    <a:satMod val="130000"/>
                  </a:schemeClr>
                </a:solidFill>
              </a:rPr>
              <a:t>}</a:t>
            </a:r>
            <a:endParaRPr lang="en-US" smtClean="0">
              <a:solidFill>
                <a:schemeClr val="tx2">
                  <a:satMod val="13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116013" y="620713"/>
            <a:ext cx="7620000" cy="2209800"/>
          </a:xfrm>
        </p:spPr>
        <p:txBody>
          <a:bodyPr>
            <a:normAutofit fontScale="90000"/>
          </a:bodyPr>
          <a:lstStyle/>
          <a:p>
            <a:pPr eaLnBrk="1" fontAlgn="auto" hangingPunct="1">
              <a:lnSpc>
                <a:spcPct val="120000"/>
              </a:lnSpc>
              <a:spcAft>
                <a:spcPts val="0"/>
              </a:spcAft>
              <a:defRPr/>
            </a:pPr>
            <a:r>
              <a:rPr lang="bg-BG" sz="2400" smtClean="0">
                <a:solidFill>
                  <a:schemeClr val="tx1"/>
                </a:solidFill>
              </a:rPr>
              <a:t/>
            </a:r>
            <a:br>
              <a:rPr lang="bg-BG" sz="2400" smtClean="0">
                <a:solidFill>
                  <a:schemeClr val="tx1"/>
                </a:solidFill>
              </a:rPr>
            </a:br>
            <a:r>
              <a:rPr lang="bg-BG" sz="2400" smtClean="0">
                <a:solidFill>
                  <a:schemeClr val="tx1"/>
                </a:solidFill>
              </a:rPr>
              <a:t/>
            </a:r>
            <a:br>
              <a:rPr lang="bg-BG" sz="2400" smtClean="0">
                <a:solidFill>
                  <a:schemeClr val="tx1"/>
                </a:solidFill>
              </a:rPr>
            </a:br>
            <a:r>
              <a:rPr lang="bg-BG" sz="2400" smtClean="0">
                <a:solidFill>
                  <a:schemeClr val="tx1"/>
                </a:solidFill>
              </a:rPr>
              <a:t>Интересен е случаят на т. н. “двойна” рекурсия, представляваща по-сложна рекурсивна зависимост. Като такъв пример може да послужи функцията на Акерман:</a:t>
            </a:r>
            <a:r>
              <a:rPr lang="en-US" smtClean="0">
                <a:solidFill>
                  <a:schemeClr val="tx1"/>
                </a:solidFill>
              </a:rPr>
              <a:t/>
            </a:r>
            <a:br>
              <a:rPr lang="en-US" smtClean="0">
                <a:solidFill>
                  <a:schemeClr val="tx1"/>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endParaRPr lang="en-US" sz="2400" smtClean="0">
              <a:solidFill>
                <a:schemeClr val="tx2">
                  <a:satMod val="130000"/>
                </a:schemeClr>
              </a:solidFill>
            </a:endParaRPr>
          </a:p>
        </p:txBody>
      </p:sp>
      <p:graphicFrame>
        <p:nvGraphicFramePr>
          <p:cNvPr id="8194" name="Object 3"/>
          <p:cNvGraphicFramePr>
            <a:graphicFrameLocks noChangeAspect="1"/>
          </p:cNvGraphicFramePr>
          <p:nvPr/>
        </p:nvGraphicFramePr>
        <p:xfrm>
          <a:off x="1403350" y="3141663"/>
          <a:ext cx="7315200" cy="1905000"/>
        </p:xfrm>
        <a:graphic>
          <a:graphicData uri="http://schemas.openxmlformats.org/presentationml/2006/ole">
            <mc:AlternateContent xmlns:mc="http://schemas.openxmlformats.org/markup-compatibility/2006">
              <mc:Choice xmlns:v="urn:schemas-microsoft-com:vml" Requires="v">
                <p:oleObj spid="_x0000_s8197" name="Equation" r:id="rId3" imgW="2882880" imgH="711000" progId="">
                  <p:embed/>
                </p:oleObj>
              </mc:Choice>
              <mc:Fallback>
                <p:oleObj name="Equation" r:id="rId3" imgW="2882880" imgH="7110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141663"/>
                        <a:ext cx="7315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42988" y="836613"/>
            <a:ext cx="7772400" cy="5562600"/>
          </a:xfrm>
        </p:spPr>
        <p:txBody>
          <a:bodyPr>
            <a:normAutofit fontScale="90000"/>
          </a:bodyPr>
          <a:lstStyle/>
          <a:p>
            <a:pPr eaLnBrk="1" fontAlgn="auto" hangingPunct="1">
              <a:lnSpc>
                <a:spcPct val="90000"/>
              </a:lnSpc>
              <a:spcAft>
                <a:spcPts val="0"/>
              </a:spcAft>
              <a:defRPr/>
            </a:pP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Рекурсивна реализация:</a:t>
            </a:r>
            <a:r>
              <a:rPr lang="bg-BG" sz="900" smtClean="0">
                <a:solidFill>
                  <a:schemeClr val="tx2">
                    <a:satMod val="130000"/>
                  </a:schemeClr>
                </a:solidFill>
              </a:rPr>
              <a:t/>
            </a:r>
            <a:br>
              <a:rPr lang="bg-BG" sz="900" smtClean="0">
                <a:solidFill>
                  <a:schemeClr val="tx2">
                    <a:satMod val="130000"/>
                  </a:schemeClr>
                </a:solidFill>
              </a:rPr>
            </a:br>
            <a:r>
              <a:rPr lang="en-US" sz="900" smtClean="0">
                <a:solidFill>
                  <a:schemeClr val="tx2">
                    <a:satMod val="130000"/>
                  </a:schemeClr>
                </a:solidFill>
              </a:rPr>
              <a:t/>
            </a:r>
            <a:br>
              <a:rPr lang="en-US" sz="900" smtClean="0">
                <a:solidFill>
                  <a:schemeClr val="tx2">
                    <a:satMod val="130000"/>
                  </a:schemeClr>
                </a:solidFill>
              </a:rPr>
            </a:br>
            <a:r>
              <a:rPr lang="en-US" sz="2000" smtClean="0">
                <a:solidFill>
                  <a:schemeClr val="tx2">
                    <a:satMod val="130000"/>
                  </a:schemeClr>
                </a:solidFill>
                <a:latin typeface="Courier New" pitchFamily="49" charset="0"/>
              </a:rPr>
              <a:t>#include&lt;iostream&gt;</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using namespace std;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int ack(int m, int n);//prototype</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void main()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int n, 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cout&lt;&lt;"n=";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cin&gt;&gt;n;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cout&lt;&lt;"m=";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cin&gt;&gt;m;</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cout&lt;&lt;"Funcition ACK: "&lt;&lt;ack(m,n);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int ack(int m, int n)</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if (m==0)</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 n+1;</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else</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if (n==0)</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 ack(m-1,1);</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else</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return ack(m-1, ack(m,n-1));</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a:t>
            </a:r>
            <a:br>
              <a:rPr lang="en-US" sz="2000" smtClean="0">
                <a:solidFill>
                  <a:schemeClr val="tx2">
                    <a:satMod val="130000"/>
                  </a:schemeClr>
                </a:solidFill>
                <a:latin typeface="Courier New" pitchFamily="49" charset="0"/>
              </a:rPr>
            </a:br>
            <a:endParaRPr lang="en-US" smtClean="0">
              <a:solidFill>
                <a:schemeClr val="tx2">
                  <a:satMod val="130000"/>
                </a:schemeClr>
              </a:solidFill>
              <a:latin typeface="Courier New"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66800" y="620713"/>
            <a:ext cx="8077200" cy="5715000"/>
          </a:xfrm>
        </p:spPr>
        <p:txBody>
          <a:bodyPr>
            <a:normAutofit fontScale="90000"/>
          </a:bodyPr>
          <a:lstStyle/>
          <a:p>
            <a:pPr eaLnBrk="1" fontAlgn="auto" hangingPunct="1">
              <a:spcAft>
                <a:spcPts val="0"/>
              </a:spcAft>
              <a:defRPr/>
            </a:pPr>
            <a:r>
              <a:rPr lang="bg-BG" sz="4000" smtClean="0">
                <a:solidFill>
                  <a:schemeClr val="tx2">
                    <a:satMod val="130000"/>
                  </a:schemeClr>
                </a:solidFill>
              </a:rPr>
              <a:t>  </a:t>
            </a:r>
            <a:r>
              <a:rPr lang="bg-BG" smtClean="0">
                <a:solidFill>
                  <a:schemeClr val="tx2">
                    <a:satMod val="130000"/>
                  </a:schemeClr>
                </a:solidFill>
              </a:rPr>
              <a:t>Форми на рекурсивни функции</a:t>
            </a:r>
            <a:r>
              <a:rPr lang="bg-BG" sz="4000" smtClean="0">
                <a:solidFill>
                  <a:schemeClr val="tx2">
                    <a:satMod val="130000"/>
                  </a:schemeClr>
                </a:solidFill>
              </a:rPr>
              <a:t/>
            </a:r>
            <a:br>
              <a:rPr lang="bg-BG" sz="40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4000" smtClean="0">
                <a:solidFill>
                  <a:schemeClr val="tx2">
                    <a:satMod val="130000"/>
                  </a:schemeClr>
                </a:solidFill>
              </a:rPr>
              <a:t>Рекурсивните обръщения могат да се разглеждат като движение:</a:t>
            </a:r>
            <a:br>
              <a:rPr lang="bg-BG" sz="40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4000" smtClean="0">
                <a:solidFill>
                  <a:schemeClr val="tx2">
                    <a:satMod val="130000"/>
                  </a:schemeClr>
                </a:solidFill>
              </a:rPr>
              <a:t>напред/назад</a:t>
            </a: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bg-BG" sz="4000" smtClean="0">
                <a:solidFill>
                  <a:schemeClr val="tx2">
                    <a:satMod val="130000"/>
                  </a:schemeClr>
                </a:solidFill>
              </a:rPr>
              <a:t>или рекурсивно спускане/завръщане</a:t>
            </a: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endParaRPr lang="en-US" smtClean="0">
              <a:solidFill>
                <a:schemeClr val="tx2">
                  <a:satMod val="130000"/>
                </a:schemeClr>
              </a:solidFill>
            </a:endParaRPr>
          </a:p>
        </p:txBody>
      </p:sp>
      <p:sp>
        <p:nvSpPr>
          <p:cNvPr id="65539" name="Line 3"/>
          <p:cNvSpPr>
            <a:spLocks noChangeShapeType="1"/>
          </p:cNvSpPr>
          <p:nvPr/>
        </p:nvSpPr>
        <p:spPr bwMode="auto">
          <a:xfrm>
            <a:off x="4495800" y="3505200"/>
            <a:ext cx="2362200" cy="0"/>
          </a:xfrm>
          <a:prstGeom prst="line">
            <a:avLst/>
          </a:prstGeom>
          <a:noFill/>
          <a:ln w="9525">
            <a:solidFill>
              <a:schemeClr val="tx1"/>
            </a:solidFill>
            <a:round/>
            <a:headEnd/>
            <a:tailEnd type="triangle" w="med" len="med"/>
          </a:ln>
        </p:spPr>
        <p:txBody>
          <a:bodyPr wrap="none" anchor="ctr"/>
          <a:lstStyle/>
          <a:p>
            <a:endParaRPr lang="bg-BG"/>
          </a:p>
        </p:txBody>
      </p:sp>
      <p:sp>
        <p:nvSpPr>
          <p:cNvPr id="65540" name="Line 8"/>
          <p:cNvSpPr>
            <a:spLocks noChangeShapeType="1"/>
          </p:cNvSpPr>
          <p:nvPr/>
        </p:nvSpPr>
        <p:spPr bwMode="auto">
          <a:xfrm flipH="1">
            <a:off x="4495800" y="4038600"/>
            <a:ext cx="2362200" cy="0"/>
          </a:xfrm>
          <a:prstGeom prst="line">
            <a:avLst/>
          </a:prstGeom>
          <a:noFill/>
          <a:ln w="9525">
            <a:solidFill>
              <a:schemeClr val="tx1"/>
            </a:solidFill>
            <a:round/>
            <a:headEnd/>
            <a:tailEnd type="triangle" w="med" len="med"/>
          </a:ln>
        </p:spPr>
        <p:txBody>
          <a:bodyPr wrap="none" anchor="ctr"/>
          <a:lstStyle/>
          <a:p>
            <a:endParaRPr lang="bg-BG"/>
          </a:p>
        </p:txBody>
      </p:sp>
      <p:sp>
        <p:nvSpPr>
          <p:cNvPr id="65541" name="Line 9"/>
          <p:cNvSpPr>
            <a:spLocks noChangeShapeType="1"/>
          </p:cNvSpPr>
          <p:nvPr/>
        </p:nvSpPr>
        <p:spPr bwMode="auto">
          <a:xfrm>
            <a:off x="5054600" y="5081588"/>
            <a:ext cx="0" cy="1066800"/>
          </a:xfrm>
          <a:prstGeom prst="line">
            <a:avLst/>
          </a:prstGeom>
          <a:noFill/>
          <a:ln w="9525">
            <a:solidFill>
              <a:schemeClr val="tx1"/>
            </a:solidFill>
            <a:round/>
            <a:headEnd/>
            <a:tailEnd type="triangle" w="med" len="med"/>
          </a:ln>
        </p:spPr>
        <p:txBody>
          <a:bodyPr wrap="none" anchor="ctr"/>
          <a:lstStyle/>
          <a:p>
            <a:endParaRPr lang="bg-BG"/>
          </a:p>
        </p:txBody>
      </p:sp>
      <p:sp>
        <p:nvSpPr>
          <p:cNvPr id="65542" name="Line 10"/>
          <p:cNvSpPr>
            <a:spLocks noChangeShapeType="1"/>
          </p:cNvSpPr>
          <p:nvPr/>
        </p:nvSpPr>
        <p:spPr bwMode="auto">
          <a:xfrm flipV="1">
            <a:off x="5651500" y="5013325"/>
            <a:ext cx="0" cy="1066800"/>
          </a:xfrm>
          <a:prstGeom prst="line">
            <a:avLst/>
          </a:prstGeom>
          <a:noFill/>
          <a:ln w="9525">
            <a:solidFill>
              <a:schemeClr val="tx1"/>
            </a:solidFill>
            <a:round/>
            <a:headEnd/>
            <a:tailEnd type="triangle" w="med" len="med"/>
          </a:ln>
        </p:spPr>
        <p:txBody>
          <a:bodyPr wrap="none" anchor="ctr"/>
          <a:lstStyle/>
          <a:p>
            <a:endParaRPr lang="bg-BG"/>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042988" y="692150"/>
            <a:ext cx="7924800" cy="5486400"/>
          </a:xfrm>
        </p:spPr>
        <p:txBody>
          <a:bodyPr/>
          <a:lstStyle/>
          <a:p>
            <a:pPr eaLnBrk="1" fontAlgn="auto" hangingPunct="1">
              <a:spcAft>
                <a:spcPts val="0"/>
              </a:spcAft>
              <a:defRPr/>
            </a:pPr>
            <a:r>
              <a:rPr lang="bg-BG" dirty="0" smtClean="0">
                <a:solidFill>
                  <a:schemeClr val="tx2">
                    <a:satMod val="130000"/>
                  </a:schemeClr>
                </a:solidFill>
              </a:rPr>
              <a:t/>
            </a:r>
            <a:br>
              <a:rPr lang="bg-BG" dirty="0" smtClean="0">
                <a:solidFill>
                  <a:schemeClr val="tx2">
                    <a:satMod val="130000"/>
                  </a:schemeClr>
                </a:solidFill>
              </a:rPr>
            </a:br>
            <a:r>
              <a:rPr lang="bg-BG" dirty="0" smtClean="0">
                <a:solidFill>
                  <a:schemeClr val="tx2">
                    <a:satMod val="130000"/>
                  </a:schemeClr>
                </a:solidFill>
              </a:rPr>
              <a:t>Всяка рекурсивна функция се състои от определен брой оператори (</a:t>
            </a:r>
            <a:r>
              <a:rPr lang="en-US" dirty="0" smtClean="0">
                <a:solidFill>
                  <a:schemeClr val="accent2"/>
                </a:solidFill>
              </a:rPr>
              <a:t>S</a:t>
            </a:r>
            <a:r>
              <a:rPr lang="bg-BG" dirty="0" smtClean="0">
                <a:solidFill>
                  <a:schemeClr val="tx2">
                    <a:satMod val="130000"/>
                  </a:schemeClr>
                </a:solidFill>
              </a:rPr>
              <a:t> - тяло или действие</a:t>
            </a:r>
            <a:r>
              <a:rPr lang="en-US" dirty="0" smtClean="0">
                <a:solidFill>
                  <a:schemeClr val="tx2">
                    <a:satMod val="130000"/>
                  </a:schemeClr>
                </a:solidFill>
              </a:rPr>
              <a:t>)</a:t>
            </a:r>
            <a:r>
              <a:rPr lang="bg-BG" dirty="0" smtClean="0">
                <a:solidFill>
                  <a:schemeClr val="tx2">
                    <a:satMod val="130000"/>
                  </a:schemeClr>
                </a:solidFill>
              </a:rPr>
              <a:t>, конструкция </a:t>
            </a:r>
            <a:r>
              <a:rPr lang="en-US" dirty="0" smtClean="0">
                <a:solidFill>
                  <a:schemeClr val="accent2"/>
                </a:solidFill>
              </a:rPr>
              <a:t>if (</a:t>
            </a:r>
            <a:r>
              <a:rPr lang="bg-BG" dirty="0" smtClean="0">
                <a:solidFill>
                  <a:schemeClr val="accent2"/>
                </a:solidFill>
              </a:rPr>
              <a:t>условие)</a:t>
            </a:r>
            <a:r>
              <a:rPr lang="bg-BG" dirty="0" smtClean="0">
                <a:solidFill>
                  <a:schemeClr val="tx2">
                    <a:satMod val="130000"/>
                  </a:schemeClr>
                </a:solidFill>
              </a:rPr>
              <a:t> (задължително!) и едно или няколко </a:t>
            </a:r>
            <a:r>
              <a:rPr lang="bg-BG" dirty="0" smtClean="0">
                <a:solidFill>
                  <a:schemeClr val="accent2"/>
                </a:solidFill>
              </a:rPr>
              <a:t>рекурсивни обръщения</a:t>
            </a:r>
            <a:r>
              <a:rPr lang="bg-BG" dirty="0" smtClean="0">
                <a:solidFill>
                  <a:schemeClr val="tx2">
                    <a:satMod val="130000"/>
                  </a:schemeClr>
                </a:solidFill>
              </a:rPr>
              <a:t>.</a:t>
            </a:r>
            <a:endParaRPr lang="en-US" dirty="0" smtClean="0">
              <a:solidFill>
                <a:schemeClr val="tx2">
                  <a:satMod val="130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042988" y="549275"/>
            <a:ext cx="7772400" cy="5715000"/>
          </a:xfrm>
        </p:spPr>
        <p:txBody>
          <a:bodyPr>
            <a:normAutofit fontScale="90000"/>
          </a:bodyPr>
          <a:lstStyle/>
          <a:p>
            <a:pPr eaLnBrk="1" fontAlgn="auto" hangingPunct="1">
              <a:spcAft>
                <a:spcPts val="0"/>
              </a:spcAft>
              <a:defRPr/>
            </a:pPr>
            <a:r>
              <a:rPr lang="en-US" smtClean="0">
                <a:solidFill>
                  <a:schemeClr val="tx2">
                    <a:satMod val="130000"/>
                  </a:schemeClr>
                </a:solidFill>
              </a:rPr>
              <a:t>	</a:t>
            </a:r>
            <a:r>
              <a:rPr lang="bg-BG" smtClean="0">
                <a:solidFill>
                  <a:schemeClr val="tx2">
                    <a:satMod val="130000"/>
                  </a:schemeClr>
                </a:solidFill>
              </a:rPr>
              <a:t>		Форма 1</a:t>
            </a:r>
            <a:br>
              <a:rPr lang="bg-BG" smtClean="0">
                <a:solidFill>
                  <a:schemeClr val="tx2">
                    <a:satMod val="130000"/>
                  </a:schemeClr>
                </a:solidFill>
              </a:rPr>
            </a:br>
            <a:r>
              <a:rPr lang="bg-BG" smtClean="0">
                <a:solidFill>
                  <a:schemeClr val="tx2">
                    <a:satMod val="130000"/>
                  </a:schemeClr>
                </a:solidFill>
              </a:rPr>
              <a:t>	</a:t>
            </a:r>
            <a:r>
              <a:rPr lang="en-US" sz="3600" smtClean="0">
                <a:solidFill>
                  <a:schemeClr val="tx2">
                    <a:satMod val="130000"/>
                  </a:schemeClr>
                </a:solidFill>
              </a:rPr>
              <a:t>S </a:t>
            </a:r>
            <a:r>
              <a:rPr lang="bg-BG" sz="3600" smtClean="0">
                <a:solidFill>
                  <a:schemeClr val="tx2">
                    <a:satMod val="130000"/>
                  </a:schemeClr>
                </a:solidFill>
              </a:rPr>
              <a:t>се изпълнява преди рекурсивно обръщение (т. е. при рекурсивно спускане):</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en-US" sz="3600" smtClean="0">
                <a:solidFill>
                  <a:schemeClr val="tx2">
                    <a:satMod val="130000"/>
                  </a:schemeClr>
                </a:solidFill>
              </a:rPr>
              <a:t>int Rec (</a:t>
            </a:r>
            <a:r>
              <a:rPr lang="bg-BG" sz="3600" smtClean="0">
                <a:solidFill>
                  <a:schemeClr val="tx2">
                    <a:satMod val="130000"/>
                  </a:schemeClr>
                </a:solidFill>
              </a:rPr>
              <a:t>параметри</a:t>
            </a:r>
            <a:r>
              <a:rPr lang="en-US" sz="3600" smtClean="0">
                <a:solidFill>
                  <a:schemeClr val="tx2">
                    <a:satMod val="130000"/>
                  </a:schemeClr>
                </a:solidFill>
              </a:rPr>
              <a:t>)</a:t>
            </a:r>
            <a:br>
              <a:rPr lang="en-US" sz="3600" smtClean="0">
                <a:solidFill>
                  <a:schemeClr val="tx2">
                    <a:satMod val="130000"/>
                  </a:schemeClr>
                </a:solidFill>
              </a:rPr>
            </a:br>
            <a:r>
              <a:rPr lang="en-US" sz="3600" smtClean="0">
                <a:solidFill>
                  <a:schemeClr val="tx2">
                    <a:satMod val="130000"/>
                  </a:schemeClr>
                </a:solidFill>
              </a:rPr>
              <a:t>{</a:t>
            </a:r>
            <a:br>
              <a:rPr lang="en-US" sz="3600" smtClean="0">
                <a:solidFill>
                  <a:schemeClr val="tx2">
                    <a:satMod val="130000"/>
                  </a:schemeClr>
                </a:solidFill>
              </a:rPr>
            </a:br>
            <a:r>
              <a:rPr lang="en-US" sz="3600" smtClean="0">
                <a:solidFill>
                  <a:schemeClr val="tx2">
                    <a:satMod val="130000"/>
                  </a:schemeClr>
                </a:solidFill>
              </a:rPr>
              <a:t>	S;</a:t>
            </a:r>
            <a:br>
              <a:rPr lang="en-US" sz="3600" smtClean="0">
                <a:solidFill>
                  <a:schemeClr val="tx2">
                    <a:satMod val="130000"/>
                  </a:schemeClr>
                </a:solidFill>
              </a:rPr>
            </a:br>
            <a:r>
              <a:rPr lang="en-US" sz="3600" smtClean="0">
                <a:solidFill>
                  <a:schemeClr val="tx2">
                    <a:satMod val="130000"/>
                  </a:schemeClr>
                </a:solidFill>
              </a:rPr>
              <a:t>	if (</a:t>
            </a:r>
            <a:r>
              <a:rPr lang="bg-BG" sz="3600" smtClean="0">
                <a:solidFill>
                  <a:schemeClr val="tx2">
                    <a:satMod val="130000"/>
                  </a:schemeClr>
                </a:solidFill>
              </a:rPr>
              <a:t>условие)</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Rec </a:t>
            </a:r>
            <a:r>
              <a:rPr lang="bg-BG" sz="3600" smtClean="0">
                <a:solidFill>
                  <a:schemeClr val="tx2">
                    <a:satMod val="130000"/>
                  </a:schemeClr>
                </a:solidFill>
              </a:rPr>
              <a:t>(параметри);</a:t>
            </a:r>
            <a:r>
              <a:rPr lang="en-US" sz="3600" smtClean="0">
                <a:solidFill>
                  <a:schemeClr val="tx2">
                    <a:satMod val="130000"/>
                  </a:schemeClr>
                </a:solidFill>
              </a:rPr>
              <a:t/>
            </a:r>
            <a:br>
              <a:rPr lang="en-US" sz="3600" smtClean="0">
                <a:solidFill>
                  <a:schemeClr val="tx2">
                    <a:satMod val="130000"/>
                  </a:schemeClr>
                </a:solidFill>
              </a:rPr>
            </a:br>
            <a:r>
              <a:rPr lang="en-US" sz="3600" smtClean="0">
                <a:solidFill>
                  <a:schemeClr val="tx2">
                    <a:satMod val="130000"/>
                  </a:schemeClr>
                </a:solidFill>
              </a:rPr>
              <a:t>}</a:t>
            </a:r>
            <a:endParaRPr lang="en-US" smtClean="0">
              <a:solidFill>
                <a:schemeClr val="tx2">
                  <a:satMod val="130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042988" y="549275"/>
            <a:ext cx="7772400" cy="5562600"/>
          </a:xfrm>
        </p:spPr>
        <p:txBody>
          <a:bodyPr>
            <a:normAutofit fontScale="90000"/>
          </a:bodyPr>
          <a:lstStyle/>
          <a:p>
            <a:pPr eaLnBrk="1" fontAlgn="auto" hangingPunct="1">
              <a:spcAft>
                <a:spcPts val="0"/>
              </a:spcAft>
              <a:defRPr/>
            </a:pPr>
            <a:r>
              <a:rPr lang="en-US" smtClean="0">
                <a:solidFill>
                  <a:schemeClr val="tx2">
                    <a:satMod val="130000"/>
                  </a:schemeClr>
                </a:solidFill>
              </a:rPr>
              <a:t>			</a:t>
            </a:r>
            <a:r>
              <a:rPr lang="bg-BG" smtClean="0">
                <a:solidFill>
                  <a:schemeClr val="tx2">
                    <a:satMod val="130000"/>
                  </a:schemeClr>
                </a:solidFill>
              </a:rPr>
              <a:t>Форма 2</a:t>
            </a:r>
            <a:br>
              <a:rPr lang="bg-BG" smtClean="0">
                <a:solidFill>
                  <a:schemeClr val="tx2">
                    <a:satMod val="130000"/>
                  </a:schemeClr>
                </a:solidFill>
              </a:rPr>
            </a:br>
            <a:r>
              <a:rPr lang="bg-BG" smtClean="0">
                <a:solidFill>
                  <a:schemeClr val="tx2">
                    <a:satMod val="130000"/>
                  </a:schemeClr>
                </a:solidFill>
              </a:rPr>
              <a:t>	</a:t>
            </a:r>
            <a:r>
              <a:rPr lang="en-US" sz="3600" smtClean="0">
                <a:solidFill>
                  <a:schemeClr val="tx2">
                    <a:satMod val="130000"/>
                  </a:schemeClr>
                </a:solidFill>
              </a:rPr>
              <a:t>S </a:t>
            </a:r>
            <a:r>
              <a:rPr lang="bg-BG" sz="3600" smtClean="0">
                <a:solidFill>
                  <a:schemeClr val="tx2">
                    <a:satMod val="130000"/>
                  </a:schemeClr>
                </a:solidFill>
              </a:rPr>
              <a:t>се изпълнява след рекурсивно обръщение (т. е. при рекурсивно връщане):</a:t>
            </a:r>
            <a:br>
              <a:rPr lang="bg-BG" sz="3600" smtClean="0">
                <a:solidFill>
                  <a:schemeClr val="tx2">
                    <a:satMod val="130000"/>
                  </a:schemeClr>
                </a:solidFill>
              </a:rPr>
            </a:br>
            <a:r>
              <a:rPr lang="bg-BG" sz="3600" smtClean="0">
                <a:solidFill>
                  <a:schemeClr val="tx2">
                    <a:satMod val="130000"/>
                  </a:schemeClr>
                </a:solidFill>
              </a:rPr>
              <a:t/>
            </a:r>
            <a:br>
              <a:rPr lang="bg-BG" sz="3600" smtClean="0">
                <a:solidFill>
                  <a:schemeClr val="tx2">
                    <a:satMod val="130000"/>
                  </a:schemeClr>
                </a:solidFill>
              </a:rPr>
            </a:br>
            <a:r>
              <a:rPr lang="en-US" sz="3600" smtClean="0">
                <a:solidFill>
                  <a:schemeClr val="tx2">
                    <a:satMod val="130000"/>
                  </a:schemeClr>
                </a:solidFill>
              </a:rPr>
              <a:t>int Rec (</a:t>
            </a:r>
            <a:r>
              <a:rPr lang="bg-BG" sz="3600" smtClean="0">
                <a:solidFill>
                  <a:schemeClr val="tx2">
                    <a:satMod val="130000"/>
                  </a:schemeClr>
                </a:solidFill>
              </a:rPr>
              <a:t>параметри</a:t>
            </a:r>
            <a:r>
              <a:rPr lang="en-US" sz="3600" smtClean="0">
                <a:solidFill>
                  <a:schemeClr val="tx2">
                    <a:satMod val="130000"/>
                  </a:schemeClr>
                </a:solidFill>
              </a:rPr>
              <a:t>)</a:t>
            </a:r>
            <a:br>
              <a:rPr lang="en-US" sz="3600" smtClean="0">
                <a:solidFill>
                  <a:schemeClr val="tx2">
                    <a:satMod val="130000"/>
                  </a:schemeClr>
                </a:solidFill>
              </a:rPr>
            </a:br>
            <a:r>
              <a:rPr lang="en-US" sz="3600" smtClean="0">
                <a:solidFill>
                  <a:schemeClr val="tx2">
                    <a:satMod val="130000"/>
                  </a:schemeClr>
                </a:solidFill>
              </a:rPr>
              <a:t>{</a:t>
            </a:r>
            <a:r>
              <a:rPr lang="bg-BG" sz="3600" smtClean="0">
                <a:solidFill>
                  <a:schemeClr val="tx2">
                    <a:satMod val="130000"/>
                  </a:schemeClr>
                </a:solidFill>
              </a:rPr>
              <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	if (</a:t>
            </a:r>
            <a:r>
              <a:rPr lang="bg-BG" sz="3600" smtClean="0">
                <a:solidFill>
                  <a:schemeClr val="tx2">
                    <a:satMod val="130000"/>
                  </a:schemeClr>
                </a:solidFill>
              </a:rPr>
              <a:t>условие)</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Rec </a:t>
            </a:r>
            <a:r>
              <a:rPr lang="bg-BG" sz="3600" smtClean="0">
                <a:solidFill>
                  <a:schemeClr val="tx2">
                    <a:satMod val="130000"/>
                  </a:schemeClr>
                </a:solidFill>
              </a:rPr>
              <a:t>(параметри);</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S;</a:t>
            </a:r>
            <a:r>
              <a:rPr lang="bg-BG" sz="3600" smtClean="0">
                <a:solidFill>
                  <a:schemeClr val="tx2">
                    <a:satMod val="130000"/>
                  </a:schemeClr>
                </a:solidFill>
              </a:rPr>
              <a:t> </a:t>
            </a:r>
            <a:r>
              <a:rPr lang="en-US" sz="3600" smtClean="0">
                <a:solidFill>
                  <a:schemeClr val="tx2">
                    <a:satMod val="130000"/>
                  </a:schemeClr>
                </a:solidFill>
              </a:rPr>
              <a:t/>
            </a:r>
            <a:br>
              <a:rPr lang="en-US" sz="3600" smtClean="0">
                <a:solidFill>
                  <a:schemeClr val="tx2">
                    <a:satMod val="130000"/>
                  </a:schemeClr>
                </a:solidFill>
              </a:rPr>
            </a:br>
            <a:r>
              <a:rPr lang="en-US" sz="3600" smtClean="0">
                <a:solidFill>
                  <a:schemeClr val="tx2">
                    <a:satMod val="130000"/>
                  </a:schemeClr>
                </a:solidFill>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066800" y="620713"/>
            <a:ext cx="8077200" cy="5867400"/>
          </a:xfrm>
        </p:spPr>
        <p:txBody>
          <a:bodyPr>
            <a:normAutofit fontScale="90000"/>
          </a:bodyPr>
          <a:lstStyle/>
          <a:p>
            <a:pPr eaLnBrk="1" fontAlgn="auto" hangingPunct="1">
              <a:spcAft>
                <a:spcPts val="0"/>
              </a:spcAft>
              <a:defRPr/>
            </a:pPr>
            <a:r>
              <a:rPr lang="en-US" smtClean="0">
                <a:solidFill>
                  <a:schemeClr val="tx2">
                    <a:satMod val="130000"/>
                  </a:schemeClr>
                </a:solidFill>
              </a:rPr>
              <a:t>	</a:t>
            </a:r>
            <a:r>
              <a:rPr lang="bg-BG" smtClean="0">
                <a:solidFill>
                  <a:schemeClr val="tx2">
                    <a:satMod val="130000"/>
                  </a:schemeClr>
                </a:solidFill>
              </a:rPr>
              <a:t>		Форма 3</a:t>
            </a:r>
            <a:br>
              <a:rPr lang="bg-BG" smtClean="0">
                <a:solidFill>
                  <a:schemeClr val="tx2">
                    <a:satMod val="130000"/>
                  </a:schemeClr>
                </a:solidFill>
              </a:rPr>
            </a:br>
            <a:r>
              <a:rPr lang="bg-BG" smtClean="0">
                <a:solidFill>
                  <a:schemeClr val="tx2">
                    <a:satMod val="130000"/>
                  </a:schemeClr>
                </a:solidFill>
              </a:rPr>
              <a:t>	</a:t>
            </a:r>
            <a:r>
              <a:rPr lang="bg-BG" sz="3600" smtClean="0">
                <a:solidFill>
                  <a:schemeClr val="tx2">
                    <a:satMod val="130000"/>
                  </a:schemeClr>
                </a:solidFill>
              </a:rPr>
              <a:t>Действието</a:t>
            </a:r>
            <a:r>
              <a:rPr lang="en-US" sz="3600" smtClean="0">
                <a:solidFill>
                  <a:schemeClr val="tx2">
                    <a:satMod val="130000"/>
                  </a:schemeClr>
                </a:solidFill>
              </a:rPr>
              <a:t> </a:t>
            </a:r>
            <a:r>
              <a:rPr lang="bg-BG" sz="3600" smtClean="0">
                <a:solidFill>
                  <a:schemeClr val="tx2">
                    <a:satMod val="130000"/>
                  </a:schemeClr>
                </a:solidFill>
              </a:rPr>
              <a:t>се извършва както преди, така и след  рекурсивното обръщение (при спускане и при връщане:</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	int Rec (</a:t>
            </a:r>
            <a:r>
              <a:rPr lang="bg-BG" sz="3600" smtClean="0">
                <a:solidFill>
                  <a:schemeClr val="tx2">
                    <a:satMod val="130000"/>
                  </a:schemeClr>
                </a:solidFill>
              </a:rPr>
              <a:t>параметри</a:t>
            </a:r>
            <a:r>
              <a:rPr lang="en-US" sz="3600" smtClean="0">
                <a:solidFill>
                  <a:schemeClr val="tx2">
                    <a:satMod val="130000"/>
                  </a:schemeClr>
                </a:solidFill>
              </a:rPr>
              <a:t>)</a:t>
            </a:r>
            <a:br>
              <a:rPr lang="en-US" sz="3600" smtClean="0">
                <a:solidFill>
                  <a:schemeClr val="tx2">
                    <a:satMod val="130000"/>
                  </a:schemeClr>
                </a:solidFill>
              </a:rPr>
            </a:br>
            <a:r>
              <a:rPr lang="en-US" sz="3600" smtClean="0">
                <a:solidFill>
                  <a:schemeClr val="tx2">
                    <a:satMod val="130000"/>
                  </a:schemeClr>
                </a:solidFill>
              </a:rPr>
              <a:t>		{</a:t>
            </a:r>
            <a:r>
              <a:rPr lang="bg-BG" sz="3600" smtClean="0">
                <a:solidFill>
                  <a:schemeClr val="tx2">
                    <a:satMod val="130000"/>
                  </a:schemeClr>
                </a:solidFill>
              </a:rPr>
              <a:t>      </a:t>
            </a:r>
            <a:r>
              <a:rPr lang="en-US" sz="3600" smtClean="0">
                <a:solidFill>
                  <a:schemeClr val="tx2">
                    <a:satMod val="130000"/>
                  </a:schemeClr>
                </a:solidFill>
              </a:rPr>
              <a:t>S1;</a:t>
            </a:r>
            <a:br>
              <a:rPr lang="en-US" sz="3600" smtClean="0">
                <a:solidFill>
                  <a:schemeClr val="tx2">
                    <a:satMod val="130000"/>
                  </a:schemeClr>
                </a:solidFill>
              </a:rPr>
            </a:br>
            <a:r>
              <a:rPr lang="en-US" sz="3600" smtClean="0">
                <a:solidFill>
                  <a:schemeClr val="tx2">
                    <a:satMod val="130000"/>
                  </a:schemeClr>
                </a:solidFill>
              </a:rPr>
              <a:t>			if (</a:t>
            </a:r>
            <a:r>
              <a:rPr lang="bg-BG" sz="3600" smtClean="0">
                <a:solidFill>
                  <a:schemeClr val="tx2">
                    <a:satMod val="130000"/>
                  </a:schemeClr>
                </a:solidFill>
              </a:rPr>
              <a:t>условие)</a:t>
            </a:r>
            <a:br>
              <a:rPr lang="bg-BG"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	Rec </a:t>
            </a:r>
            <a:r>
              <a:rPr lang="bg-BG" sz="3600" smtClean="0">
                <a:solidFill>
                  <a:schemeClr val="tx2">
                    <a:satMod val="130000"/>
                  </a:schemeClr>
                </a:solidFill>
              </a:rPr>
              <a:t>(параметри);</a:t>
            </a:r>
            <a:r>
              <a:rPr lang="en-US" sz="3600" smtClean="0">
                <a:solidFill>
                  <a:schemeClr val="tx2">
                    <a:satMod val="130000"/>
                  </a:schemeClr>
                </a:solidFill>
              </a:rPr>
              <a:t/>
            </a:r>
            <a:br>
              <a:rPr lang="en-US" sz="3600" smtClean="0">
                <a:solidFill>
                  <a:schemeClr val="tx2">
                    <a:satMod val="130000"/>
                  </a:schemeClr>
                </a:solidFill>
              </a:rPr>
            </a:br>
            <a:r>
              <a:rPr lang="bg-BG" sz="3600" smtClean="0">
                <a:solidFill>
                  <a:schemeClr val="tx2">
                    <a:satMod val="130000"/>
                  </a:schemeClr>
                </a:solidFill>
              </a:rPr>
              <a:t>       	</a:t>
            </a:r>
            <a:r>
              <a:rPr lang="en-US" sz="3600" smtClean="0">
                <a:solidFill>
                  <a:schemeClr val="tx2">
                    <a:satMod val="130000"/>
                  </a:schemeClr>
                </a:solidFill>
              </a:rPr>
              <a:t>		S2;</a:t>
            </a:r>
            <a:br>
              <a:rPr lang="en-US" sz="3600" smtClean="0">
                <a:solidFill>
                  <a:schemeClr val="tx2">
                    <a:satMod val="130000"/>
                  </a:schemeClr>
                </a:solidFill>
              </a:rPr>
            </a:br>
            <a:r>
              <a:rPr lang="en-US" sz="3600" smtClean="0">
                <a:solidFill>
                  <a:schemeClr val="tx2">
                    <a:satMod val="130000"/>
                  </a:schemeClr>
                </a:solidFill>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043608" y="692696"/>
            <a:ext cx="7848600" cy="5791200"/>
          </a:xfrm>
        </p:spPr>
        <p:txBody>
          <a:bodyPr>
            <a:normAutofit fontScale="90000"/>
          </a:bodyPr>
          <a:lstStyle/>
          <a:p>
            <a:pPr eaLnBrk="1" fontAlgn="auto" hangingPunct="1">
              <a:spcAft>
                <a:spcPts val="0"/>
              </a:spcAft>
              <a:defRPr/>
            </a:pPr>
            <a:r>
              <a:rPr lang="bg-BG" sz="2400" dirty="0" smtClean="0">
                <a:solidFill>
                  <a:schemeClr val="tx2">
                    <a:satMod val="130000"/>
                  </a:schemeClr>
                </a:solidFill>
              </a:rPr>
              <a:t>Рекурсивна програма за формиране на аритметична прогресия</a:t>
            </a:r>
            <a:r>
              <a:rPr lang="en-US" sz="2400" dirty="0" smtClean="0">
                <a:solidFill>
                  <a:schemeClr val="tx2">
                    <a:satMod val="130000"/>
                  </a:schemeClr>
                </a:solidFill>
              </a:rPr>
              <a:t>:</a:t>
            </a:r>
            <a:r>
              <a:rPr lang="en-US" sz="2000" dirty="0" smtClean="0">
                <a:solidFill>
                  <a:schemeClr val="tx2">
                    <a:satMod val="130000"/>
                  </a:schemeClr>
                </a:solidFill>
              </a:rPr>
              <a:t/>
            </a:r>
            <a:br>
              <a:rPr lang="en-US" sz="2000" dirty="0" smtClean="0">
                <a:solidFill>
                  <a:schemeClr val="tx2">
                    <a:satMod val="130000"/>
                  </a:schemeClr>
                </a:solidFill>
              </a:rPr>
            </a:br>
            <a:r>
              <a:rPr lang="en-US" sz="2000" dirty="0" smtClean="0">
                <a:solidFill>
                  <a:schemeClr val="tx2">
                    <a:satMod val="130000"/>
                  </a:schemeClr>
                </a:solidFill>
              </a:rPr>
              <a:t>			</a:t>
            </a:r>
            <a:r>
              <a:rPr lang="en-US" sz="2800" dirty="0" err="1" smtClean="0">
                <a:solidFill>
                  <a:schemeClr val="tx2">
                    <a:satMod val="130000"/>
                  </a:schemeClr>
                </a:solidFill>
              </a:rPr>
              <a:t>a</a:t>
            </a:r>
            <a:r>
              <a:rPr lang="en-US" sz="2000" dirty="0" err="1" smtClean="0">
                <a:solidFill>
                  <a:schemeClr val="tx2">
                    <a:satMod val="130000"/>
                  </a:schemeClr>
                </a:solidFill>
              </a:rPr>
              <a:t>i</a:t>
            </a:r>
            <a:r>
              <a:rPr lang="en-US" sz="2000" dirty="0" smtClean="0">
                <a:solidFill>
                  <a:schemeClr val="tx2">
                    <a:satMod val="130000"/>
                  </a:schemeClr>
                </a:solidFill>
              </a:rPr>
              <a:t> =</a:t>
            </a:r>
            <a:r>
              <a:rPr lang="bg-BG" sz="2000" dirty="0" smtClean="0">
                <a:solidFill>
                  <a:schemeClr val="tx2">
                    <a:satMod val="130000"/>
                  </a:schemeClr>
                </a:solidFill>
              </a:rPr>
              <a:t> </a:t>
            </a:r>
            <a:r>
              <a:rPr lang="en-US" sz="2800" dirty="0" smtClean="0">
                <a:solidFill>
                  <a:schemeClr val="tx2">
                    <a:satMod val="130000"/>
                  </a:schemeClr>
                </a:solidFill>
              </a:rPr>
              <a:t>a</a:t>
            </a:r>
            <a:r>
              <a:rPr lang="en-US" sz="2000" dirty="0" smtClean="0">
                <a:solidFill>
                  <a:schemeClr val="tx2">
                    <a:satMod val="130000"/>
                  </a:schemeClr>
                </a:solidFill>
              </a:rPr>
              <a:t>i-1 + </a:t>
            </a:r>
            <a:r>
              <a:rPr lang="en-US" sz="2800" dirty="0" smtClean="0">
                <a:solidFill>
                  <a:schemeClr val="tx2">
                    <a:satMod val="130000"/>
                  </a:schemeClr>
                </a:solidFill>
              </a:rPr>
              <a:t>b, </a:t>
            </a:r>
            <a:r>
              <a:rPr lang="bg-BG" sz="2800" dirty="0" smtClean="0">
                <a:solidFill>
                  <a:schemeClr val="tx2">
                    <a:satMod val="130000"/>
                  </a:schemeClr>
                </a:solidFill>
              </a:rPr>
              <a:t>      </a:t>
            </a:r>
            <a:r>
              <a:rPr lang="en-US" sz="2800" dirty="0" err="1" smtClean="0">
                <a:solidFill>
                  <a:schemeClr val="tx2">
                    <a:satMod val="130000"/>
                  </a:schemeClr>
                </a:solidFill>
              </a:rPr>
              <a:t>a</a:t>
            </a:r>
            <a:r>
              <a:rPr lang="en-US" sz="2000" dirty="0" err="1" smtClean="0">
                <a:solidFill>
                  <a:schemeClr val="tx2">
                    <a:satMod val="130000"/>
                  </a:schemeClr>
                </a:solidFill>
              </a:rPr>
              <a:t>i</a:t>
            </a:r>
            <a:r>
              <a:rPr lang="en-US" sz="2000" dirty="0" smtClean="0">
                <a:solidFill>
                  <a:schemeClr val="tx2">
                    <a:satMod val="130000"/>
                  </a:schemeClr>
                </a:solidFill>
              </a:rPr>
              <a:t> &lt;=</a:t>
            </a:r>
            <a:r>
              <a:rPr lang="en-US" sz="2800" dirty="0" smtClean="0">
                <a:solidFill>
                  <a:schemeClr val="tx2">
                    <a:satMod val="130000"/>
                  </a:schemeClr>
                </a:solidFill>
              </a:rPr>
              <a:t>c</a:t>
            </a:r>
            <a:br>
              <a:rPr lang="en-US" sz="2800" dirty="0" smtClean="0">
                <a:solidFill>
                  <a:schemeClr val="tx2">
                    <a:satMod val="130000"/>
                  </a:schemeClr>
                </a:solidFill>
              </a:rPr>
            </a:br>
            <a:r>
              <a:rPr lang="en-US" sz="2200" dirty="0" smtClean="0">
                <a:solidFill>
                  <a:schemeClr val="tx2">
                    <a:satMod val="130000"/>
                  </a:schemeClr>
                </a:solidFill>
              </a:rPr>
              <a:t>#include &lt;</a:t>
            </a:r>
            <a:r>
              <a:rPr lang="en-US" sz="2200" dirty="0" err="1" smtClean="0">
                <a:solidFill>
                  <a:schemeClr val="tx2">
                    <a:satMod val="130000"/>
                  </a:schemeClr>
                </a:solidFill>
              </a:rPr>
              <a:t>iostream</a:t>
            </a:r>
            <a:r>
              <a:rPr lang="en-US" sz="2200" dirty="0" smtClean="0">
                <a:solidFill>
                  <a:schemeClr val="tx2">
                    <a:satMod val="130000"/>
                  </a:schemeClr>
                </a:solidFill>
              </a:rPr>
              <a:t>&gt;</a:t>
            </a:r>
            <a:br>
              <a:rPr lang="en-US" sz="2200" dirty="0" smtClean="0">
                <a:solidFill>
                  <a:schemeClr val="tx2">
                    <a:satMod val="130000"/>
                  </a:schemeClr>
                </a:solidFill>
              </a:rPr>
            </a:br>
            <a:r>
              <a:rPr lang="en-US" sz="2200" dirty="0" smtClean="0">
                <a:solidFill>
                  <a:schemeClr val="tx2">
                    <a:satMod val="130000"/>
                  </a:schemeClr>
                </a:solidFill>
                <a:latin typeface="+mn-lt"/>
              </a:rPr>
              <a:t>using namespace std; </a:t>
            </a:r>
            <a:r>
              <a:rPr lang="en-US" sz="2200" dirty="0" smtClean="0">
                <a:solidFill>
                  <a:schemeClr val="tx2">
                    <a:satMod val="130000"/>
                  </a:schemeClr>
                </a:solidFill>
              </a:rPr>
              <a:t/>
            </a:r>
            <a:br>
              <a:rPr lang="en-US" sz="2200" dirty="0" smtClean="0">
                <a:solidFill>
                  <a:schemeClr val="tx2">
                    <a:satMod val="130000"/>
                  </a:schemeClr>
                </a:solidFill>
              </a:rPr>
            </a:br>
            <a:r>
              <a:rPr lang="en-US" sz="2200" dirty="0" smtClean="0">
                <a:solidFill>
                  <a:schemeClr val="tx2">
                    <a:satMod val="130000"/>
                  </a:schemeClr>
                </a:solidFill>
              </a:rPr>
              <a:t>void </a:t>
            </a:r>
            <a:r>
              <a:rPr lang="en-US" sz="2200" dirty="0" err="1" smtClean="0">
                <a:solidFill>
                  <a:schemeClr val="tx2">
                    <a:satMod val="130000"/>
                  </a:schemeClr>
                </a:solidFill>
              </a:rPr>
              <a:t>prog</a:t>
            </a:r>
            <a:r>
              <a:rPr lang="en-US" sz="2200" dirty="0" smtClean="0">
                <a:solidFill>
                  <a:schemeClr val="tx2">
                    <a:satMod val="130000"/>
                  </a:schemeClr>
                </a:solidFill>
              </a:rPr>
              <a:t> (</a:t>
            </a:r>
            <a:r>
              <a:rPr lang="en-US" sz="2200" dirty="0" err="1" smtClean="0">
                <a:solidFill>
                  <a:schemeClr val="tx2">
                    <a:satMod val="130000"/>
                  </a:schemeClr>
                </a:solidFill>
              </a:rPr>
              <a:t>int</a:t>
            </a:r>
            <a:r>
              <a:rPr lang="en-US" sz="2200" dirty="0" smtClean="0">
                <a:solidFill>
                  <a:schemeClr val="tx2">
                    <a:satMod val="130000"/>
                  </a:schemeClr>
                </a:solidFill>
              </a:rPr>
              <a:t> n);</a:t>
            </a:r>
            <a:r>
              <a:rPr lang="bg-BG" sz="2200" dirty="0" smtClean="0">
                <a:solidFill>
                  <a:schemeClr val="tx2">
                    <a:satMod val="130000"/>
                  </a:schemeClr>
                </a:solidFill>
              </a:rPr>
              <a:t>                   </a:t>
            </a:r>
            <a:r>
              <a:rPr lang="en-US" sz="2200" dirty="0" smtClean="0">
                <a:solidFill>
                  <a:schemeClr val="tx2">
                    <a:satMod val="130000"/>
                  </a:schemeClr>
                </a:solidFill>
              </a:rPr>
              <a:t>//prototype</a:t>
            </a:r>
            <a:br>
              <a:rPr lang="en-US" sz="2200" dirty="0" smtClean="0">
                <a:solidFill>
                  <a:schemeClr val="tx2">
                    <a:satMod val="130000"/>
                  </a:schemeClr>
                </a:solidFill>
              </a:rPr>
            </a:br>
            <a:r>
              <a:rPr lang="en-US" sz="2200" dirty="0" err="1" smtClean="0">
                <a:solidFill>
                  <a:schemeClr val="tx2">
                    <a:satMod val="130000"/>
                  </a:schemeClr>
                </a:solidFill>
              </a:rPr>
              <a:t>int</a:t>
            </a:r>
            <a:r>
              <a:rPr lang="en-US" sz="2200" dirty="0" smtClean="0">
                <a:solidFill>
                  <a:schemeClr val="tx2">
                    <a:satMod val="130000"/>
                  </a:schemeClr>
                </a:solidFill>
              </a:rPr>
              <a:t> a, b, c;</a:t>
            </a:r>
            <a:br>
              <a:rPr lang="en-US" sz="2200" dirty="0" smtClean="0">
                <a:solidFill>
                  <a:schemeClr val="tx2">
                    <a:satMod val="130000"/>
                  </a:schemeClr>
                </a:solidFill>
              </a:rPr>
            </a:br>
            <a:r>
              <a:rPr lang="en-US" sz="2200" dirty="0" smtClean="0">
                <a:solidFill>
                  <a:schemeClr val="tx2">
                    <a:satMod val="130000"/>
                  </a:schemeClr>
                </a:solidFill>
              </a:rPr>
              <a:t>void main()</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cout</a:t>
            </a:r>
            <a:r>
              <a:rPr lang="en-US" sz="2200" dirty="0" smtClean="0">
                <a:solidFill>
                  <a:schemeClr val="tx2">
                    <a:satMod val="130000"/>
                  </a:schemeClr>
                </a:solidFill>
              </a:rPr>
              <a:t> &lt;&lt;"\</a:t>
            </a:r>
            <a:r>
              <a:rPr lang="en-US" sz="2200" dirty="0" err="1" smtClean="0">
                <a:solidFill>
                  <a:schemeClr val="tx2">
                    <a:satMod val="130000"/>
                  </a:schemeClr>
                </a:solidFill>
              </a:rPr>
              <a:t>nВъведете</a:t>
            </a:r>
            <a:r>
              <a:rPr lang="en-US" sz="2200" dirty="0" smtClean="0">
                <a:solidFill>
                  <a:schemeClr val="tx2">
                    <a:satMod val="130000"/>
                  </a:schemeClr>
                </a:solidFill>
              </a:rPr>
              <a:t> a:";    </a:t>
            </a:r>
            <a:r>
              <a:rPr lang="en-US" sz="2200" dirty="0" err="1" smtClean="0">
                <a:solidFill>
                  <a:schemeClr val="tx2">
                    <a:satMod val="130000"/>
                  </a:schemeClr>
                </a:solidFill>
              </a:rPr>
              <a:t>cin</a:t>
            </a:r>
            <a:r>
              <a:rPr lang="en-US" sz="2200" dirty="0" smtClean="0">
                <a:solidFill>
                  <a:schemeClr val="tx2">
                    <a:satMod val="130000"/>
                  </a:schemeClr>
                </a:solidFill>
              </a:rPr>
              <a:t>&gt;&gt;a;         // </a:t>
            </a:r>
            <a:r>
              <a:rPr lang="bg-BG" sz="2200" dirty="0" smtClean="0">
                <a:solidFill>
                  <a:schemeClr val="tx2">
                    <a:satMod val="130000"/>
                  </a:schemeClr>
                </a:solidFill>
              </a:rPr>
              <a:t>Например </a:t>
            </a:r>
            <a:r>
              <a:rPr lang="en-US" sz="2200" dirty="0" smtClean="0">
                <a:solidFill>
                  <a:schemeClr val="tx2">
                    <a:satMod val="130000"/>
                  </a:schemeClr>
                </a:solidFill>
              </a:rPr>
              <a:t> </a:t>
            </a:r>
            <a:r>
              <a:rPr lang="bg-BG" sz="2200" dirty="0" smtClean="0">
                <a:solidFill>
                  <a:schemeClr val="tx2">
                    <a:satMod val="130000"/>
                  </a:schemeClr>
                </a:solidFill>
              </a:rPr>
              <a:t>а=1</a:t>
            </a:r>
            <a:r>
              <a:rPr lang="en-US" sz="2200" dirty="0" smtClean="0">
                <a:solidFill>
                  <a:schemeClr val="tx2">
                    <a:satMod val="130000"/>
                  </a:schemeClr>
                </a:solidFill>
              </a:rPr>
              <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cout</a:t>
            </a:r>
            <a:r>
              <a:rPr lang="en-US" sz="2200" dirty="0" smtClean="0">
                <a:solidFill>
                  <a:schemeClr val="tx2">
                    <a:satMod val="130000"/>
                  </a:schemeClr>
                </a:solidFill>
              </a:rPr>
              <a:t> &lt;&lt;"\</a:t>
            </a:r>
            <a:r>
              <a:rPr lang="en-US" sz="2200" dirty="0" err="1" smtClean="0">
                <a:solidFill>
                  <a:schemeClr val="tx2">
                    <a:satMod val="130000"/>
                  </a:schemeClr>
                </a:solidFill>
              </a:rPr>
              <a:t>nВъведете</a:t>
            </a:r>
            <a:r>
              <a:rPr lang="en-US" sz="2200" dirty="0" smtClean="0">
                <a:solidFill>
                  <a:schemeClr val="tx2">
                    <a:satMod val="130000"/>
                  </a:schemeClr>
                </a:solidFill>
              </a:rPr>
              <a:t> b:";   </a:t>
            </a:r>
            <a:r>
              <a:rPr lang="en-US" sz="2200" dirty="0" err="1" smtClean="0">
                <a:solidFill>
                  <a:schemeClr val="tx2">
                    <a:satMod val="130000"/>
                  </a:schemeClr>
                </a:solidFill>
              </a:rPr>
              <a:t>cin</a:t>
            </a:r>
            <a:r>
              <a:rPr lang="en-US" sz="2200" dirty="0" smtClean="0">
                <a:solidFill>
                  <a:schemeClr val="tx2">
                    <a:satMod val="130000"/>
                  </a:schemeClr>
                </a:solidFill>
              </a:rPr>
              <a:t>&gt;&gt;b</a:t>
            </a:r>
            <a:r>
              <a:rPr lang="bg-BG" sz="2200" dirty="0" smtClean="0">
                <a:solidFill>
                  <a:schemeClr val="tx2">
                    <a:satMod val="130000"/>
                  </a:schemeClr>
                </a:solidFill>
              </a:rPr>
              <a:t>;       </a:t>
            </a:r>
            <a:r>
              <a:rPr lang="en-US" sz="2200" dirty="0" smtClean="0">
                <a:solidFill>
                  <a:schemeClr val="tx2">
                    <a:satMod val="130000"/>
                  </a:schemeClr>
                </a:solidFill>
              </a:rPr>
              <a:t> </a:t>
            </a:r>
            <a:r>
              <a:rPr lang="bg-BG" sz="2200" dirty="0" smtClean="0">
                <a:solidFill>
                  <a:schemeClr val="tx2">
                    <a:satMod val="130000"/>
                  </a:schemeClr>
                </a:solidFill>
              </a:rPr>
              <a:t>  </a:t>
            </a:r>
            <a:r>
              <a:rPr lang="en-US" sz="2200" dirty="0" smtClean="0">
                <a:solidFill>
                  <a:schemeClr val="tx2">
                    <a:satMod val="130000"/>
                  </a:schemeClr>
                </a:solidFill>
              </a:rPr>
              <a:t>  //</a:t>
            </a:r>
            <a:r>
              <a:rPr lang="bg-BG" sz="2200" dirty="0" smtClean="0">
                <a:solidFill>
                  <a:schemeClr val="tx2">
                    <a:satMod val="130000"/>
                  </a:schemeClr>
                </a:solidFill>
              </a:rPr>
              <a:t> </a:t>
            </a:r>
            <a:r>
              <a:rPr lang="en-US" sz="2200" dirty="0" smtClean="0">
                <a:solidFill>
                  <a:schemeClr val="tx2">
                    <a:satMod val="130000"/>
                  </a:schemeClr>
                </a:solidFill>
              </a:rPr>
              <a:t>  b</a:t>
            </a:r>
            <a:r>
              <a:rPr lang="bg-BG" sz="2200" dirty="0" smtClean="0">
                <a:solidFill>
                  <a:schemeClr val="tx2">
                    <a:satMod val="130000"/>
                  </a:schemeClr>
                </a:solidFill>
              </a:rPr>
              <a:t>=2</a:t>
            </a:r>
            <a:r>
              <a:rPr lang="en-US" sz="2200" dirty="0" smtClean="0">
                <a:solidFill>
                  <a:schemeClr val="tx2">
                    <a:satMod val="130000"/>
                  </a:schemeClr>
                </a:solidFill>
              </a:rPr>
              <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cout</a:t>
            </a:r>
            <a:r>
              <a:rPr lang="en-US" sz="2200" dirty="0" smtClean="0">
                <a:solidFill>
                  <a:schemeClr val="tx2">
                    <a:satMod val="130000"/>
                  </a:schemeClr>
                </a:solidFill>
              </a:rPr>
              <a:t> &lt;&lt;"\</a:t>
            </a:r>
            <a:r>
              <a:rPr lang="en-US" sz="2200" dirty="0" err="1" smtClean="0">
                <a:solidFill>
                  <a:schemeClr val="tx2">
                    <a:satMod val="130000"/>
                  </a:schemeClr>
                </a:solidFill>
              </a:rPr>
              <a:t>nВъведете</a:t>
            </a:r>
            <a:r>
              <a:rPr lang="en-US" sz="2200" dirty="0" smtClean="0">
                <a:solidFill>
                  <a:schemeClr val="tx2">
                    <a:satMod val="130000"/>
                  </a:schemeClr>
                </a:solidFill>
              </a:rPr>
              <a:t> c:";    </a:t>
            </a:r>
            <a:r>
              <a:rPr lang="en-US" sz="2200" dirty="0" err="1" smtClean="0">
                <a:solidFill>
                  <a:schemeClr val="tx2">
                    <a:satMod val="130000"/>
                  </a:schemeClr>
                </a:solidFill>
              </a:rPr>
              <a:t>cin</a:t>
            </a:r>
            <a:r>
              <a:rPr lang="en-US" sz="2200" dirty="0" smtClean="0">
                <a:solidFill>
                  <a:schemeClr val="tx2">
                    <a:satMod val="130000"/>
                  </a:schemeClr>
                </a:solidFill>
              </a:rPr>
              <a:t>&gt;&gt;c;        //   c=7</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prog</a:t>
            </a:r>
            <a:r>
              <a:rPr lang="en-US" sz="2200" dirty="0" smtClean="0">
                <a:solidFill>
                  <a:schemeClr val="tx2">
                    <a:satMod val="130000"/>
                  </a:schemeClr>
                </a:solidFill>
              </a:rPr>
              <a:t>(a);</a:t>
            </a:r>
            <a:br>
              <a:rPr lang="en-US" sz="2200" dirty="0" smtClean="0">
                <a:solidFill>
                  <a:schemeClr val="tx2">
                    <a:satMod val="130000"/>
                  </a:schemeClr>
                </a:solidFill>
              </a:rPr>
            </a:br>
            <a:r>
              <a:rPr lang="en-US" sz="2200" dirty="0" smtClean="0">
                <a:solidFill>
                  <a:schemeClr val="tx2">
                    <a:satMod val="130000"/>
                  </a:schemeClr>
                </a:solidFill>
              </a:rPr>
              <a:t>}</a:t>
            </a:r>
            <a:br>
              <a:rPr lang="en-US" sz="2200" dirty="0" smtClean="0">
                <a:solidFill>
                  <a:schemeClr val="tx2">
                    <a:satMod val="130000"/>
                  </a:schemeClr>
                </a:solidFill>
              </a:rPr>
            </a:br>
            <a:r>
              <a:rPr lang="en-US" sz="2200" dirty="0" smtClean="0">
                <a:solidFill>
                  <a:schemeClr val="tx2">
                    <a:satMod val="130000"/>
                  </a:schemeClr>
                </a:solidFill>
              </a:rPr>
              <a:t>void </a:t>
            </a:r>
            <a:r>
              <a:rPr lang="en-US" sz="2200" dirty="0" err="1" smtClean="0">
                <a:solidFill>
                  <a:schemeClr val="tx2">
                    <a:satMod val="130000"/>
                  </a:schemeClr>
                </a:solidFill>
              </a:rPr>
              <a:t>prog</a:t>
            </a:r>
            <a:r>
              <a:rPr lang="en-US" sz="2200" dirty="0" smtClean="0">
                <a:solidFill>
                  <a:schemeClr val="tx2">
                    <a:satMod val="130000"/>
                  </a:schemeClr>
                </a:solidFill>
              </a:rPr>
              <a:t> (</a:t>
            </a:r>
            <a:r>
              <a:rPr lang="en-US" sz="2200" dirty="0" err="1" smtClean="0">
                <a:solidFill>
                  <a:schemeClr val="tx2">
                    <a:satMod val="130000"/>
                  </a:schemeClr>
                </a:solidFill>
              </a:rPr>
              <a:t>int</a:t>
            </a:r>
            <a:r>
              <a:rPr lang="en-US" sz="2200" dirty="0" smtClean="0">
                <a:solidFill>
                  <a:schemeClr val="tx2">
                    <a:satMod val="130000"/>
                  </a:schemeClr>
                </a:solidFill>
              </a:rPr>
              <a:t> n)</a:t>
            </a:r>
            <a:br>
              <a:rPr lang="en-US" sz="2200" dirty="0" smtClean="0">
                <a:solidFill>
                  <a:schemeClr val="tx2">
                    <a:satMod val="130000"/>
                  </a:schemeClr>
                </a:solidFill>
              </a:rPr>
            </a:br>
            <a:r>
              <a:rPr lang="en-US" sz="2200" dirty="0" smtClean="0">
                <a:solidFill>
                  <a:schemeClr val="tx2">
                    <a:satMod val="130000"/>
                  </a:schemeClr>
                </a:solidFill>
              </a:rPr>
              <a:t>{</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cout</a:t>
            </a:r>
            <a:r>
              <a:rPr lang="en-US" sz="2200" dirty="0" smtClean="0">
                <a:solidFill>
                  <a:schemeClr val="tx2">
                    <a:satMod val="130000"/>
                  </a:schemeClr>
                </a:solidFill>
              </a:rPr>
              <a:t>&lt;&lt;n&lt;&lt;"   ”;                    	      // 1   3    5   7</a:t>
            </a:r>
            <a:br>
              <a:rPr lang="en-US" sz="2200" dirty="0" smtClean="0">
                <a:solidFill>
                  <a:schemeClr val="tx2">
                    <a:satMod val="130000"/>
                  </a:schemeClr>
                </a:solidFill>
              </a:rPr>
            </a:br>
            <a:r>
              <a:rPr lang="en-US" sz="2200" dirty="0" smtClean="0">
                <a:solidFill>
                  <a:schemeClr val="tx2">
                    <a:satMod val="130000"/>
                  </a:schemeClr>
                </a:solidFill>
              </a:rPr>
              <a:t> 	if (</a:t>
            </a:r>
            <a:r>
              <a:rPr lang="en-US" sz="2200" dirty="0" err="1" smtClean="0">
                <a:solidFill>
                  <a:schemeClr val="tx2">
                    <a:satMod val="130000"/>
                  </a:schemeClr>
                </a:solidFill>
              </a:rPr>
              <a:t>n+b</a:t>
            </a:r>
            <a:r>
              <a:rPr lang="en-US" sz="2200" dirty="0" smtClean="0">
                <a:solidFill>
                  <a:schemeClr val="tx2">
                    <a:satMod val="130000"/>
                  </a:schemeClr>
                </a:solidFill>
              </a:rPr>
              <a:t>&lt;=c)</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prog</a:t>
            </a:r>
            <a:r>
              <a:rPr lang="en-US" sz="2200" dirty="0" smtClean="0">
                <a:solidFill>
                  <a:schemeClr val="tx2">
                    <a:satMod val="130000"/>
                  </a:schemeClr>
                </a:solidFill>
              </a:rPr>
              <a:t>(</a:t>
            </a:r>
            <a:r>
              <a:rPr lang="en-US" sz="2200" dirty="0" err="1" smtClean="0">
                <a:solidFill>
                  <a:schemeClr val="tx2">
                    <a:satMod val="130000"/>
                  </a:schemeClr>
                </a:solidFill>
              </a:rPr>
              <a:t>n+b</a:t>
            </a:r>
            <a:r>
              <a:rPr lang="en-US" sz="2200" dirty="0" smtClean="0">
                <a:solidFill>
                  <a:schemeClr val="tx2">
                    <a:satMod val="130000"/>
                  </a:schemeClr>
                </a:solidFill>
              </a:rPr>
              <a:t>);</a:t>
            </a:r>
            <a:br>
              <a:rPr lang="en-US" sz="2200" dirty="0" smtClean="0">
                <a:solidFill>
                  <a:schemeClr val="tx2">
                    <a:satMod val="130000"/>
                  </a:schemeClr>
                </a:solidFill>
              </a:rPr>
            </a:br>
            <a:r>
              <a:rPr lang="en-US" sz="2200" dirty="0" smtClean="0">
                <a:solidFill>
                  <a:schemeClr val="tx2">
                    <a:satMod val="130000"/>
                  </a:schemeClr>
                </a:solidFill>
              </a:rPr>
              <a:t>	</a:t>
            </a:r>
            <a:r>
              <a:rPr lang="en-US" sz="2200" dirty="0" err="1" smtClean="0">
                <a:solidFill>
                  <a:schemeClr val="tx2">
                    <a:satMod val="130000"/>
                  </a:schemeClr>
                </a:solidFill>
              </a:rPr>
              <a:t>cout</a:t>
            </a:r>
            <a:r>
              <a:rPr lang="en-US" sz="2200" dirty="0" smtClean="0">
                <a:solidFill>
                  <a:schemeClr val="tx2">
                    <a:satMod val="130000"/>
                  </a:schemeClr>
                </a:solidFill>
              </a:rPr>
              <a:t>&lt;&lt;n&lt;&lt;"   ”;		                   // 7   5    3    1</a:t>
            </a:r>
            <a:br>
              <a:rPr lang="en-US" sz="2200" dirty="0" smtClean="0">
                <a:solidFill>
                  <a:schemeClr val="tx2">
                    <a:satMod val="130000"/>
                  </a:schemeClr>
                </a:solidFill>
              </a:rPr>
            </a:br>
            <a:r>
              <a:rPr lang="en-US" sz="2200" dirty="0" smtClean="0">
                <a:solidFill>
                  <a:schemeClr val="tx2">
                    <a:satMod val="130000"/>
                  </a:schemeClr>
                </a:solidFill>
              </a:rPr>
              <a:t>}</a:t>
            </a:r>
            <a:br>
              <a:rPr lang="en-US" sz="2200" dirty="0" smtClean="0">
                <a:solidFill>
                  <a:schemeClr val="tx2">
                    <a:satMod val="130000"/>
                  </a:schemeClr>
                </a:solidFill>
              </a:rPr>
            </a:br>
            <a:endParaRPr lang="en-US" sz="2200" dirty="0" smtClean="0">
              <a:solidFill>
                <a:schemeClr val="tx2">
                  <a:satMod val="130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187450" y="404813"/>
            <a:ext cx="7772400" cy="1143000"/>
          </a:xfrm>
        </p:spPr>
        <p:txBody>
          <a:bodyPr/>
          <a:lstStyle/>
          <a:p>
            <a:pPr eaLnBrk="1" fontAlgn="auto" hangingPunct="1">
              <a:spcAft>
                <a:spcPts val="0"/>
              </a:spcAft>
              <a:defRPr/>
            </a:pPr>
            <a:r>
              <a:rPr lang="bg-BG" sz="3600" smtClean="0">
                <a:solidFill>
                  <a:schemeClr val="tx2">
                    <a:satMod val="130000"/>
                  </a:schemeClr>
                </a:solidFill>
              </a:rPr>
              <a:t>Демонстрационен пример</a:t>
            </a:r>
            <a:r>
              <a:rPr lang="bg-BG" sz="3200" smtClean="0">
                <a:solidFill>
                  <a:schemeClr val="tx2">
                    <a:satMod val="130000"/>
                  </a:schemeClr>
                </a:solidFill>
              </a:rPr>
              <a:t/>
            </a:r>
            <a:br>
              <a:rPr lang="bg-BG" sz="3200" smtClean="0">
                <a:solidFill>
                  <a:schemeClr val="tx2">
                    <a:satMod val="130000"/>
                  </a:schemeClr>
                </a:solidFill>
              </a:rPr>
            </a:br>
            <a:r>
              <a:rPr lang="bg-BG" sz="3200" smtClean="0">
                <a:solidFill>
                  <a:schemeClr val="tx2">
                    <a:satMod val="130000"/>
                  </a:schemeClr>
                </a:solidFill>
              </a:rPr>
              <a:t> обръщане на символен низ: </a:t>
            </a:r>
            <a:r>
              <a:rPr lang="en-US" sz="3200" smtClean="0">
                <a:solidFill>
                  <a:schemeClr val="tx2">
                    <a:satMod val="130000"/>
                  </a:schemeClr>
                </a:solidFill>
              </a:rPr>
              <a:t>Hello! - !olleH</a:t>
            </a:r>
          </a:p>
        </p:txBody>
      </p:sp>
      <p:sp>
        <p:nvSpPr>
          <p:cNvPr id="9220" name="Rectangle 3"/>
          <p:cNvSpPr>
            <a:spLocks noGrp="1" noChangeArrowheads="1"/>
          </p:cNvSpPr>
          <p:nvPr>
            <p:ph type="body" sz="half" idx="1"/>
          </p:nvPr>
        </p:nvSpPr>
        <p:spPr>
          <a:xfrm>
            <a:off x="685800" y="1524000"/>
            <a:ext cx="3810000" cy="5334000"/>
          </a:xfrm>
        </p:spPr>
        <p:txBody>
          <a:bodyPr/>
          <a:lstStyle/>
          <a:p>
            <a:pPr eaLnBrk="1" hangingPunct="1"/>
            <a:r>
              <a:rPr lang="en-US" sz="2400" dirty="0" smtClean="0"/>
              <a:t>void main()</a:t>
            </a:r>
          </a:p>
          <a:p>
            <a:pPr eaLnBrk="1" hangingPunct="1"/>
            <a:r>
              <a:rPr lang="en-US" sz="2400" dirty="0" smtClean="0"/>
              <a:t>{…</a:t>
            </a:r>
          </a:p>
          <a:p>
            <a:pPr eaLnBrk="1" hangingPunct="1"/>
            <a:r>
              <a:rPr lang="en-US" sz="2400" dirty="0" smtClean="0"/>
              <a:t>  Reverse(c);</a:t>
            </a:r>
          </a:p>
          <a:p>
            <a:pPr eaLnBrk="1" hangingPunct="1"/>
            <a:r>
              <a:rPr lang="en-US" sz="2400" dirty="0" smtClean="0"/>
              <a:t>…</a:t>
            </a:r>
          </a:p>
          <a:p>
            <a:pPr eaLnBrk="1" hangingPunct="1"/>
            <a:r>
              <a:rPr lang="en-US" sz="2400" dirty="0" smtClean="0"/>
              <a:t>}</a:t>
            </a:r>
          </a:p>
          <a:p>
            <a:pPr eaLnBrk="1" hangingPunct="1"/>
            <a:r>
              <a:rPr lang="en-US" sz="2400" dirty="0" smtClean="0"/>
              <a:t>void  Reverse (char f)</a:t>
            </a:r>
          </a:p>
          <a:p>
            <a:pPr eaLnBrk="1" hangingPunct="1"/>
            <a:r>
              <a:rPr lang="en-US" sz="2400" dirty="0" smtClean="0"/>
              <a:t>{if (f!=‘!’)</a:t>
            </a:r>
          </a:p>
          <a:p>
            <a:pPr eaLnBrk="1" hangingPunct="1"/>
            <a:r>
              <a:rPr lang="en-US" sz="2400" dirty="0" smtClean="0"/>
              <a:t>   {</a:t>
            </a:r>
            <a:r>
              <a:rPr lang="en-US" sz="2400" dirty="0" err="1" smtClean="0"/>
              <a:t>cin</a:t>
            </a:r>
            <a:r>
              <a:rPr lang="en-US" sz="2400" dirty="0" smtClean="0"/>
              <a:t>&gt;&gt;f;</a:t>
            </a:r>
          </a:p>
          <a:p>
            <a:pPr eaLnBrk="1" hangingPunct="1"/>
            <a:r>
              <a:rPr lang="en-US" sz="2400" dirty="0" smtClean="0"/>
              <a:t>     Reverse (f);</a:t>
            </a:r>
          </a:p>
          <a:p>
            <a:pPr eaLnBrk="1" hangingPunct="1"/>
            <a:r>
              <a:rPr lang="en-US" sz="2400" dirty="0" smtClean="0"/>
              <a:t>     </a:t>
            </a:r>
            <a:r>
              <a:rPr lang="en-US" sz="2400" dirty="0" err="1" smtClean="0"/>
              <a:t>cout</a:t>
            </a:r>
            <a:r>
              <a:rPr lang="en-US" sz="2400" dirty="0" smtClean="0"/>
              <a:t>&lt;&lt;f;</a:t>
            </a:r>
          </a:p>
          <a:p>
            <a:pPr eaLnBrk="1" hangingPunct="1"/>
            <a:r>
              <a:rPr lang="en-US" sz="2400" dirty="0" smtClean="0"/>
              <a:t>    }</a:t>
            </a:r>
          </a:p>
          <a:p>
            <a:pPr eaLnBrk="1" hangingPunct="1"/>
            <a:r>
              <a:rPr lang="en-US" sz="2400" dirty="0" smtClean="0"/>
              <a:t> }</a:t>
            </a:r>
            <a:endParaRPr lang="en-US" sz="2800" dirty="0" smtClean="0"/>
          </a:p>
        </p:txBody>
      </p:sp>
      <p:graphicFrame>
        <p:nvGraphicFramePr>
          <p:cNvPr id="9218" name="Object 1024"/>
          <p:cNvGraphicFramePr>
            <a:graphicFrameLocks noGrp="1" noChangeAspect="1"/>
          </p:cNvGraphicFramePr>
          <p:nvPr>
            <p:ph type="clipArt" sz="half" idx="2"/>
          </p:nvPr>
        </p:nvGraphicFramePr>
        <p:xfrm>
          <a:off x="4114800" y="2520950"/>
          <a:ext cx="4648200" cy="3033713"/>
        </p:xfrm>
        <a:graphic>
          <a:graphicData uri="http://schemas.openxmlformats.org/presentationml/2006/ole">
            <mc:AlternateContent xmlns:mc="http://schemas.openxmlformats.org/markup-compatibility/2006">
              <mc:Choice xmlns:v="urn:schemas-microsoft-com:vml" Requires="v">
                <p:oleObj spid="_x0000_s9221" name="Worksheet" r:id="rId3" imgW="2271960" imgH="1486080" progId="Excel.Sheet.8">
                  <p:embed/>
                </p:oleObj>
              </mc:Choice>
              <mc:Fallback>
                <p:oleObj name="Worksheet" r:id="rId3" imgW="2271960" imgH="1486080" progId="Excel.Sheet.8">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520950"/>
                        <a:ext cx="4648200" cy="303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827088" y="2276475"/>
            <a:ext cx="8458200" cy="5943600"/>
          </a:xfrm>
        </p:spPr>
        <p:txBody>
          <a:bodyPr>
            <a:normAutofit fontScale="90000"/>
          </a:bodyPr>
          <a:lstStyle/>
          <a:p>
            <a:pPr eaLnBrk="1" fontAlgn="auto" hangingPunct="1">
              <a:spcAft>
                <a:spcPts val="0"/>
              </a:spcAft>
              <a:defRPr/>
            </a:pPr>
            <a:r>
              <a:rPr lang="bg-BG" sz="3000" u="sng" smtClean="0">
                <a:solidFill>
                  <a:schemeClr val="tx2">
                    <a:satMod val="130000"/>
                  </a:schemeClr>
                </a:solidFill>
                <a:latin typeface="Arial" charset="0"/>
              </a:rPr>
              <a:t>Задача за разполагане на царици върху шахматна дъска (или задача за 8-те царици)</a:t>
            </a:r>
            <a:r>
              <a:rPr lang="bg-BG" sz="3200" smtClean="0">
                <a:solidFill>
                  <a:schemeClr val="tx2">
                    <a:satMod val="130000"/>
                  </a:schemeClr>
                </a:solidFill>
                <a:latin typeface="Arial" charset="0"/>
              </a:rPr>
              <a:t/>
            </a:r>
            <a:br>
              <a:rPr lang="bg-BG" sz="32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Задачата представлява пример за използване на метода “на пробите и грешките”, а също така метода на обратно търсене (или връщане назад, или </a:t>
            </a:r>
            <a:r>
              <a:rPr lang="bg-BG" sz="2400" i="1" smtClean="0">
                <a:solidFill>
                  <a:schemeClr val="tx2">
                    <a:satMod val="130000"/>
                  </a:schemeClr>
                </a:solidFill>
                <a:latin typeface="Arial" charset="0"/>
              </a:rPr>
              <a:t>backtracking</a:t>
            </a:r>
            <a:r>
              <a:rPr lang="bg-BG" sz="2400" smtClean="0">
                <a:solidFill>
                  <a:schemeClr val="tx2">
                    <a:satMod val="130000"/>
                  </a:schemeClr>
                </a:solidFill>
                <a:latin typeface="Arial" charset="0"/>
              </a:rPr>
              <a:t>). Известно е, че още през 1850 върху тази задача е работил Гаус, но така и не успял да получи пълното й решение. В това няма нищо чудно, подобни задачи обикновено нямат аналитическо решение, те изискват голям обем неприятни сметки, търпение и точност. Затова подобни задачи се решават предимно от компютри.</a:t>
            </a:r>
            <a:br>
              <a:rPr lang="bg-BG" sz="24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Условието на задачата е: Да се състави програма, която намира всички възможни начини за разполагане на</a:t>
            </a:r>
            <a:r>
              <a:rPr lang="bg-BG" sz="2400" b="1" smtClean="0">
                <a:solidFill>
                  <a:schemeClr val="tx2">
                    <a:satMod val="130000"/>
                  </a:schemeClr>
                </a:solidFill>
                <a:latin typeface="Arial" charset="0"/>
              </a:rPr>
              <a:t> </a:t>
            </a:r>
            <a:r>
              <a:rPr lang="en-US" sz="2400" b="1" smtClean="0">
                <a:solidFill>
                  <a:schemeClr val="tx2">
                    <a:satMod val="130000"/>
                  </a:schemeClr>
                </a:solidFill>
                <a:latin typeface="Arial" charset="0"/>
              </a:rPr>
              <a:t>N</a:t>
            </a: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царици (максимално възможната стойност на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е 8) върху шахматна дъска по такъв начин, че никоя царица да не заплашва друга царица.</a:t>
            </a:r>
            <a:r>
              <a:rPr lang="bg-BG" smtClean="0">
                <a:solidFill>
                  <a:schemeClr val="tx2">
                    <a:satMod val="130000"/>
                  </a:schemeClr>
                </a:solidFill>
                <a:latin typeface="Arial" charset="0"/>
              </a:rPr>
              <a:t/>
            </a:r>
            <a:br>
              <a:rPr lang="bg-BG" smtClean="0">
                <a:solidFill>
                  <a:schemeClr val="tx2">
                    <a:satMod val="130000"/>
                  </a:schemeClr>
                </a:solidFill>
                <a:latin typeface="Arial" charset="0"/>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en-US" sz="2400" smtClean="0">
                <a:solidFill>
                  <a:schemeClr val="tx1"/>
                </a:solidFill>
              </a:rPr>
              <a:t/>
            </a:r>
            <a:br>
              <a:rPr lang="en-US" sz="2400" smtClean="0">
                <a:solidFill>
                  <a:schemeClr val="tx1"/>
                </a:solidFill>
              </a:rPr>
            </a:br>
            <a:r>
              <a:rPr lang="bg-BG" sz="2400" smtClean="0">
                <a:solidFill>
                  <a:schemeClr val="tx1"/>
                </a:solidFill>
              </a:rPr>
              <a:t/>
            </a:r>
            <a:br>
              <a:rPr lang="bg-BG" sz="2400" smtClean="0">
                <a:solidFill>
                  <a:schemeClr val="tx1"/>
                </a:solidFill>
              </a:rPr>
            </a:br>
            <a:endParaRPr lang="en-US" sz="2400" smtClean="0">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116013" y="0"/>
            <a:ext cx="7772400" cy="5791200"/>
          </a:xfrm>
        </p:spPr>
        <p:txBody>
          <a:bodyPr/>
          <a:lstStyle/>
          <a:p>
            <a:pPr eaLnBrk="1" fontAlgn="auto" hangingPunct="1">
              <a:spcAft>
                <a:spcPts val="0"/>
              </a:spcAft>
              <a:defRPr/>
            </a:pPr>
            <a:r>
              <a:rPr lang="en-US" sz="2000" smtClean="0">
                <a:solidFill>
                  <a:schemeClr val="tx2">
                    <a:satMod val="130000"/>
                  </a:schemeClr>
                </a:solidFill>
                <a:latin typeface="Arial" charset="0"/>
              </a:rPr>
              <a:t>	</a:t>
            </a:r>
            <a:r>
              <a:rPr lang="bg-BG" sz="2000" smtClean="0">
                <a:solidFill>
                  <a:schemeClr val="tx2">
                    <a:satMod val="130000"/>
                  </a:schemeClr>
                </a:solidFill>
                <a:latin typeface="Arial" charset="0"/>
              </a:rPr>
              <a:t>Естественият подход за намиране на решение на задачата е рекурсивен: ако сме разположили удачно </a:t>
            </a:r>
            <a:r>
              <a:rPr lang="bg-BG" sz="2000" b="1" smtClean="0">
                <a:solidFill>
                  <a:schemeClr val="tx2">
                    <a:satMod val="130000"/>
                  </a:schemeClr>
                </a:solidFill>
                <a:latin typeface="Arial" charset="0"/>
              </a:rPr>
              <a:t>i </a:t>
            </a:r>
            <a:r>
              <a:rPr lang="bg-BG" sz="2000" smtClean="0">
                <a:solidFill>
                  <a:schemeClr val="tx2">
                    <a:satMod val="130000"/>
                  </a:schemeClr>
                </a:solidFill>
                <a:latin typeface="Arial" charset="0"/>
              </a:rPr>
              <a:t>царици, проблемът се свежда до намиране на задоволително положение на </a:t>
            </a:r>
            <a:r>
              <a:rPr lang="bg-BG" sz="2000" b="1" smtClean="0">
                <a:solidFill>
                  <a:schemeClr val="tx2">
                    <a:satMod val="130000"/>
                  </a:schemeClr>
                </a:solidFill>
                <a:latin typeface="Arial" charset="0"/>
              </a:rPr>
              <a:t>i+1</a:t>
            </a:r>
            <a:r>
              <a:rPr lang="bg-BG" sz="2000" smtClean="0">
                <a:solidFill>
                  <a:schemeClr val="tx2">
                    <a:satMod val="130000"/>
                  </a:schemeClr>
                </a:solidFill>
                <a:latin typeface="Arial" charset="0"/>
              </a:rPr>
              <a:t>-вата царица. Задачата е решена, когато </a:t>
            </a:r>
            <a:r>
              <a:rPr lang="bg-BG" sz="2000" b="1" smtClean="0">
                <a:solidFill>
                  <a:schemeClr val="tx2">
                    <a:satMod val="130000"/>
                  </a:schemeClr>
                </a:solidFill>
                <a:latin typeface="Arial" charset="0"/>
              </a:rPr>
              <a:t>i=N</a:t>
            </a:r>
            <a:r>
              <a:rPr lang="en-US" sz="2000" b="1" smtClean="0">
                <a:solidFill>
                  <a:schemeClr val="tx2">
                    <a:satMod val="130000"/>
                  </a:schemeClr>
                </a:solidFill>
                <a:latin typeface="Arial" charset="0"/>
              </a:rPr>
              <a:t>. </a:t>
            </a:r>
            <a:r>
              <a:rPr lang="bg-BG" sz="2000" smtClean="0">
                <a:solidFill>
                  <a:schemeClr val="tx2">
                    <a:satMod val="130000"/>
                  </a:schemeClr>
                </a:solidFill>
                <a:latin typeface="Arial" charset="0"/>
              </a:rPr>
              <a:t>Остава да изведем намереното решение.</a:t>
            </a:r>
            <a:r>
              <a:rPr lang="bg-BG" sz="800" smtClean="0">
                <a:solidFill>
                  <a:schemeClr val="tx2">
                    <a:satMod val="130000"/>
                  </a:schemeClr>
                </a:solidFill>
                <a:latin typeface="Arial" charset="0"/>
              </a:rPr>
              <a:t/>
            </a:r>
            <a:br>
              <a:rPr lang="bg-BG" sz="800" smtClean="0">
                <a:solidFill>
                  <a:schemeClr val="tx2">
                    <a:satMod val="130000"/>
                  </a:schemeClr>
                </a:solidFill>
                <a:latin typeface="Arial" charset="0"/>
              </a:rPr>
            </a:br>
            <a:r>
              <a:rPr lang="bg-BG" sz="800" smtClean="0">
                <a:solidFill>
                  <a:schemeClr val="tx2">
                    <a:satMod val="130000"/>
                  </a:schemeClr>
                </a:solidFill>
                <a:latin typeface="Arial" charset="0"/>
              </a:rPr>
              <a:t/>
            </a:r>
            <a:br>
              <a:rPr lang="bg-BG" sz="800" smtClean="0">
                <a:solidFill>
                  <a:schemeClr val="tx2">
                    <a:satMod val="130000"/>
                  </a:schemeClr>
                </a:solidFill>
                <a:latin typeface="Arial" charset="0"/>
              </a:rPr>
            </a:br>
            <a:r>
              <a:rPr lang="en-US" sz="800" smtClean="0">
                <a:solidFill>
                  <a:schemeClr val="tx2">
                    <a:satMod val="130000"/>
                  </a:schemeClr>
                </a:solidFill>
                <a:latin typeface="Arial" charset="0"/>
              </a:rPr>
              <a:t>	</a:t>
            </a:r>
            <a:r>
              <a:rPr lang="bg-BG" sz="2000" smtClean="0">
                <a:solidFill>
                  <a:schemeClr val="tx2">
                    <a:satMod val="130000"/>
                  </a:schemeClr>
                </a:solidFill>
                <a:latin typeface="Arial" charset="0"/>
              </a:rPr>
              <a:t>Известно е, че царицата заплашва всяка фигура в реда, колоната и диагонала, в които се намира, т.е. всеки ред и всяка колона може да съдържа само една царица. Цариците можем да представим с номерата на съответните колони(</a:t>
            </a:r>
            <a:r>
              <a:rPr lang="bg-BG" sz="2000" b="1" smtClean="0">
                <a:solidFill>
                  <a:schemeClr val="tx2">
                    <a:satMod val="130000"/>
                  </a:schemeClr>
                </a:solidFill>
                <a:latin typeface="Arial" charset="0"/>
              </a:rPr>
              <a:t>i</a:t>
            </a:r>
            <a:r>
              <a:rPr lang="bg-BG" sz="2000" smtClean="0">
                <a:solidFill>
                  <a:schemeClr val="tx2">
                    <a:satMod val="130000"/>
                  </a:schemeClr>
                </a:solidFill>
                <a:latin typeface="Arial" charset="0"/>
              </a:rPr>
              <a:t>). Тогава изборът на позиция за </a:t>
            </a:r>
            <a:r>
              <a:rPr lang="bg-BG" sz="2000" b="1" smtClean="0">
                <a:solidFill>
                  <a:schemeClr val="tx2">
                    <a:satMod val="130000"/>
                  </a:schemeClr>
                </a:solidFill>
                <a:latin typeface="Arial" charset="0"/>
              </a:rPr>
              <a:t>i</a:t>
            </a:r>
            <a:r>
              <a:rPr lang="bg-BG" sz="2000" smtClean="0">
                <a:solidFill>
                  <a:schemeClr val="tx2">
                    <a:satMod val="130000"/>
                  </a:schemeClr>
                </a:solidFill>
                <a:latin typeface="Arial" charset="0"/>
              </a:rPr>
              <a:t>-та царица се ограничава в </a:t>
            </a:r>
            <a:r>
              <a:rPr lang="bg-BG" sz="2000" b="1" smtClean="0">
                <a:solidFill>
                  <a:schemeClr val="tx2">
                    <a:satMod val="130000"/>
                  </a:schemeClr>
                </a:solidFill>
                <a:latin typeface="Arial" charset="0"/>
              </a:rPr>
              <a:t>i</a:t>
            </a:r>
            <a:r>
              <a:rPr lang="bg-BG" sz="2000" smtClean="0">
                <a:solidFill>
                  <a:schemeClr val="tx2">
                    <a:satMod val="130000"/>
                  </a:schemeClr>
                </a:solidFill>
                <a:latin typeface="Arial" charset="0"/>
              </a:rPr>
              <a:t>-та колона и се свежда до определяне на номера </a:t>
            </a:r>
            <a:r>
              <a:rPr lang="bg-BG" sz="2000" b="1" smtClean="0">
                <a:solidFill>
                  <a:schemeClr val="tx2">
                    <a:satMod val="130000"/>
                  </a:schemeClr>
                </a:solidFill>
                <a:latin typeface="Arial" charset="0"/>
              </a:rPr>
              <a:t>j</a:t>
            </a:r>
            <a:r>
              <a:rPr lang="bg-BG" sz="2000" smtClean="0">
                <a:solidFill>
                  <a:schemeClr val="tx2">
                    <a:satMod val="130000"/>
                  </a:schemeClr>
                </a:solidFill>
                <a:latin typeface="Arial" charset="0"/>
              </a:rPr>
              <a:t> на реда, в който тя може да се разположи в тази колона</a:t>
            </a:r>
            <a:r>
              <a:rPr lang="en-US" sz="2000" smtClean="0">
                <a:solidFill>
                  <a:schemeClr val="tx2">
                    <a:satMod val="130000"/>
                  </a:schemeClr>
                </a:solidFill>
                <a:latin typeface="Arial" charset="0"/>
              </a:rPr>
              <a:t>:</a:t>
            </a:r>
            <a:r>
              <a:rPr lang="bg-BG" smtClean="0">
                <a:solidFill>
                  <a:schemeClr val="tx2">
                    <a:satMod val="130000"/>
                  </a:schemeClr>
                </a:solidFill>
                <a:latin typeface="Arial" charset="0"/>
              </a:rPr>
              <a:t/>
            </a:r>
            <a:br>
              <a:rPr lang="bg-BG" smtClean="0">
                <a:solidFill>
                  <a:schemeClr val="tx2">
                    <a:satMod val="130000"/>
                  </a:schemeClr>
                </a:solidFill>
                <a:latin typeface="Arial" charset="0"/>
              </a:rPr>
            </a:br>
            <a:r>
              <a:rPr lang="en-US" smtClean="0">
                <a:solidFill>
                  <a:schemeClr val="tx2">
                    <a:satMod val="130000"/>
                  </a:schemeClr>
                </a:solidFill>
                <a:latin typeface="Arial" charset="0"/>
              </a:rPr>
              <a:t>			</a:t>
            </a:r>
            <a:r>
              <a:rPr lang="en-US" sz="2800" smtClean="0">
                <a:solidFill>
                  <a:schemeClr val="tx2">
                    <a:satMod val="130000"/>
                  </a:schemeClr>
                </a:solidFill>
                <a:latin typeface="Arial" charset="0"/>
              </a:rPr>
              <a:t>i</a:t>
            </a:r>
            <a:br>
              <a:rPr lang="en-US" sz="2800" smtClean="0">
                <a:solidFill>
                  <a:schemeClr val="tx2">
                    <a:satMod val="130000"/>
                  </a:schemeClr>
                </a:solidFill>
                <a:latin typeface="Arial" charset="0"/>
              </a:rPr>
            </a:br>
            <a:r>
              <a:rPr lang="en-US" sz="2800" smtClean="0">
                <a:solidFill>
                  <a:schemeClr val="tx2">
                    <a:satMod val="130000"/>
                  </a:schemeClr>
                </a:solidFill>
                <a:latin typeface="Arial" charset="0"/>
              </a:rPr>
              <a:t/>
            </a:r>
            <a:br>
              <a:rPr lang="en-US" sz="2800" smtClean="0">
                <a:solidFill>
                  <a:schemeClr val="tx2">
                    <a:satMod val="130000"/>
                  </a:schemeClr>
                </a:solidFill>
                <a:latin typeface="Arial" charset="0"/>
              </a:rPr>
            </a:br>
            <a:r>
              <a:rPr lang="en-US" sz="2800" smtClean="0">
                <a:solidFill>
                  <a:schemeClr val="tx2">
                    <a:satMod val="130000"/>
                  </a:schemeClr>
                </a:solidFill>
                <a:latin typeface="Arial" charset="0"/>
              </a:rPr>
              <a:t>                    j		</a:t>
            </a:r>
            <a:endParaRPr lang="en-US" smtClean="0">
              <a:solidFill>
                <a:schemeClr val="tx2">
                  <a:satMod val="130000"/>
                </a:schemeClr>
              </a:solidFill>
            </a:endParaRPr>
          </a:p>
        </p:txBody>
      </p:sp>
      <p:graphicFrame>
        <p:nvGraphicFramePr>
          <p:cNvPr id="10242" name="Object 31"/>
          <p:cNvGraphicFramePr>
            <a:graphicFrameLocks noChangeAspect="1"/>
          </p:cNvGraphicFramePr>
          <p:nvPr/>
        </p:nvGraphicFramePr>
        <p:xfrm>
          <a:off x="3429000" y="4648200"/>
          <a:ext cx="1905000" cy="1838325"/>
        </p:xfrm>
        <a:graphic>
          <a:graphicData uri="http://schemas.openxmlformats.org/presentationml/2006/ole">
            <mc:AlternateContent xmlns:mc="http://schemas.openxmlformats.org/markup-compatibility/2006">
              <mc:Choice xmlns:v="urn:schemas-microsoft-com:vml" Requires="v">
                <p:oleObj spid="_x0000_s10245" name="Worksheet" r:id="rId3" imgW="1357560" imgH="1313280" progId="Excel.Sheet.8">
                  <p:embed/>
                </p:oleObj>
              </mc:Choice>
              <mc:Fallback>
                <p:oleObj name="Worksheet" r:id="rId3" imgW="1357560" imgH="1313280" progId="Excel.Sheet.8">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4648200"/>
                        <a:ext cx="1905000"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Line 32"/>
          <p:cNvSpPr>
            <a:spLocks noChangeShapeType="1"/>
          </p:cNvSpPr>
          <p:nvPr/>
        </p:nvSpPr>
        <p:spPr bwMode="auto">
          <a:xfrm>
            <a:off x="3429000" y="4648200"/>
            <a:ext cx="0" cy="1828800"/>
          </a:xfrm>
          <a:prstGeom prst="line">
            <a:avLst/>
          </a:prstGeom>
          <a:noFill/>
          <a:ln w="28575">
            <a:solidFill>
              <a:schemeClr val="tx1"/>
            </a:solidFill>
            <a:round/>
            <a:headEnd/>
            <a:tailEnd/>
          </a:ln>
        </p:spPr>
        <p:txBody>
          <a:bodyPr wrap="none" anchor="ctr"/>
          <a:lstStyle/>
          <a:p>
            <a:endParaRPr lang="bg-BG"/>
          </a:p>
        </p:txBody>
      </p:sp>
      <p:sp>
        <p:nvSpPr>
          <p:cNvPr id="10245" name="Line 34"/>
          <p:cNvSpPr>
            <a:spLocks noChangeShapeType="1"/>
          </p:cNvSpPr>
          <p:nvPr/>
        </p:nvSpPr>
        <p:spPr bwMode="auto">
          <a:xfrm>
            <a:off x="3429000" y="4648200"/>
            <a:ext cx="1905000" cy="0"/>
          </a:xfrm>
          <a:prstGeom prst="line">
            <a:avLst/>
          </a:prstGeom>
          <a:noFill/>
          <a:ln w="28575">
            <a:solidFill>
              <a:schemeClr val="tx1"/>
            </a:solidFill>
            <a:round/>
            <a:headEnd/>
            <a:tailEnd/>
          </a:ln>
        </p:spPr>
        <p:txBody>
          <a:bodyPr wrap="none" anchor="ctr"/>
          <a:lstStyle/>
          <a:p>
            <a:endParaRPr lang="bg-BG"/>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smtClean="0"/>
              <a:t>Две примерни решения на задачата:</a:t>
            </a:r>
            <a:endParaRPr lang="bg-BG"/>
          </a:p>
        </p:txBody>
      </p:sp>
      <p:graphicFrame>
        <p:nvGraphicFramePr>
          <p:cNvPr id="4" name="Group 733"/>
          <p:cNvGraphicFramePr>
            <a:graphicFrameLocks/>
          </p:cNvGraphicFramePr>
          <p:nvPr/>
        </p:nvGraphicFramePr>
        <p:xfrm>
          <a:off x="251520" y="1772816"/>
          <a:ext cx="8679498" cy="4145280"/>
        </p:xfrm>
        <a:graphic>
          <a:graphicData uri="http://schemas.openxmlformats.org/drawingml/2006/table">
            <a:tbl>
              <a:tblPr/>
              <a:tblGrid>
                <a:gridCol w="522288"/>
                <a:gridCol w="460375"/>
                <a:gridCol w="419100"/>
                <a:gridCol w="460375"/>
                <a:gridCol w="446087"/>
                <a:gridCol w="447675"/>
                <a:gridCol w="447675"/>
                <a:gridCol w="515938"/>
                <a:gridCol w="208280"/>
                <a:gridCol w="412750"/>
                <a:gridCol w="415925"/>
                <a:gridCol w="208280"/>
                <a:gridCol w="511175"/>
                <a:gridCol w="447675"/>
                <a:gridCol w="447675"/>
                <a:gridCol w="469900"/>
                <a:gridCol w="436562"/>
                <a:gridCol w="508000"/>
                <a:gridCol w="447675"/>
                <a:gridCol w="446088"/>
              </a:tblGrid>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0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smtClean="0">
                          <a:ln>
                            <a:noFill/>
                          </a:ln>
                          <a:solidFill>
                            <a:schemeClr val="tx1"/>
                          </a:solidFill>
                          <a:effectLst/>
                          <a:latin typeface="Arial" charset="0"/>
                        </a:rPr>
                        <a:t>X</a:t>
                      </a:r>
                      <a:endParaRPr kumimoji="0" lang="bg-BG"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5"/>
          <p:cNvSpPr>
            <a:spLocks noGrp="1" noChangeArrowheads="1"/>
          </p:cNvSpPr>
          <p:nvPr>
            <p:ph type="title"/>
          </p:nvPr>
        </p:nvSpPr>
        <p:spPr>
          <a:xfrm>
            <a:off x="304800" y="1066800"/>
            <a:ext cx="8686800" cy="5791200"/>
          </a:xfrm>
        </p:spPr>
        <p:txBody>
          <a:bodyPr>
            <a:normAutofit fontScale="90000"/>
          </a:bodyPr>
          <a:lstStyle/>
          <a:p>
            <a:pPr eaLnBrk="1" fontAlgn="auto" hangingPunct="1">
              <a:spcAft>
                <a:spcPts val="0"/>
              </a:spcAft>
              <a:defRPr/>
            </a:pPr>
            <a:r>
              <a:rPr lang="bg-BG" sz="2400" smtClean="0">
                <a:solidFill>
                  <a:schemeClr val="tx2">
                    <a:satMod val="130000"/>
                  </a:schemeClr>
                </a:solidFill>
                <a:latin typeface="Arial" charset="0"/>
              </a:rPr>
              <a:t>Полуформалното описание на алгоритъма за разполагане на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 е:</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PLACE(int i)</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for (j=0; </a:t>
            </a:r>
            <a:r>
              <a:rPr lang="en-US" sz="2400" smtClean="0">
                <a:solidFill>
                  <a:schemeClr val="tx2">
                    <a:satMod val="130000"/>
                  </a:schemeClr>
                </a:solidFill>
                <a:latin typeface="Arial" charset="0"/>
              </a:rPr>
              <a:t>j</a:t>
            </a:r>
            <a:r>
              <a:rPr lang="bg-BG" sz="2400" smtClean="0">
                <a:solidFill>
                  <a:schemeClr val="tx2">
                    <a:satMod val="130000"/>
                  </a:schemeClr>
                </a:solidFill>
                <a:latin typeface="Arial" charset="0"/>
              </a:rPr>
              <a:t>&lt; n; </a:t>
            </a:r>
            <a:r>
              <a:rPr lang="en-US" sz="2400" smtClean="0">
                <a:solidFill>
                  <a:schemeClr val="tx2">
                    <a:satMod val="130000"/>
                  </a:schemeClr>
                </a:solidFill>
                <a:latin typeface="Arial" charset="0"/>
              </a:rPr>
              <a:t>j</a:t>
            </a:r>
            <a:r>
              <a:rPr lang="bg-BG" sz="2400" smtClean="0">
                <a:solidFill>
                  <a:schemeClr val="tx2">
                    <a:satMod val="130000"/>
                  </a:schemeClr>
                </a:solidFill>
                <a:latin typeface="Arial" charset="0"/>
              </a:rPr>
              <a:t>++)</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 if допустимо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 в </a:t>
            </a:r>
            <a:r>
              <a:rPr lang="bg-BG" sz="2400" b="1" smtClean="0">
                <a:solidFill>
                  <a:schemeClr val="tx2">
                    <a:satMod val="130000"/>
                  </a:schemeClr>
                </a:solidFill>
                <a:latin typeface="Arial" charset="0"/>
              </a:rPr>
              <a:t>j</a:t>
            </a:r>
            <a:r>
              <a:rPr lang="bg-BG" sz="2400" smtClean="0">
                <a:solidFill>
                  <a:schemeClr val="tx2">
                    <a:satMod val="130000"/>
                  </a:schemeClr>
                </a:solidFill>
                <a:latin typeface="Arial" charset="0"/>
              </a:rPr>
              <a:t>-я ред </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Регистрация на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if  (i&lt;n)   {PLACE(i+1)}</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else PRINT</a:t>
            </a:r>
            <a:r>
              <a:rPr lang="en-US" sz="2400" smtClean="0">
                <a:solidFill>
                  <a:schemeClr val="tx2">
                    <a:satMod val="130000"/>
                  </a:schemeClr>
                </a:solidFill>
                <a:latin typeface="Arial" charset="0"/>
              </a:rPr>
              <a:t>;</a:t>
            </a:r>
            <a:br>
              <a:rPr lang="en-US" sz="24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Премахване на регистрацията на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a:t>
            </a:r>
            <a:r>
              <a:rPr lang="en-US" sz="2400" smtClean="0">
                <a:solidFill>
                  <a:schemeClr val="tx2">
                    <a:satMod val="130000"/>
                  </a:schemeClr>
                </a:solidFill>
                <a:latin typeface="Arial" charset="0"/>
              </a:rPr>
              <a:t>;</a:t>
            </a:r>
            <a:r>
              <a:rPr lang="bg-BG" sz="2400" smtClean="0">
                <a:solidFill>
                  <a:schemeClr val="tx2">
                    <a:satMod val="130000"/>
                  </a:schemeClr>
                </a:solidFill>
                <a:latin typeface="Arial" charset="0"/>
              </a:rPr>
              <a:t/>
            </a:r>
            <a:br>
              <a:rPr lang="bg-BG" sz="24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
            </a:r>
            <a:br>
              <a:rPr lang="bg-BG" sz="2400" smtClean="0">
                <a:solidFill>
                  <a:schemeClr val="tx2">
                    <a:satMod val="130000"/>
                  </a:schemeClr>
                </a:solidFill>
                <a:latin typeface="Arial" charset="0"/>
              </a:rPr>
            </a:br>
            <a:r>
              <a:rPr lang="en-US" sz="2400" smtClean="0">
                <a:solidFill>
                  <a:schemeClr val="tx2">
                    <a:satMod val="130000"/>
                  </a:schemeClr>
                </a:solidFill>
                <a:latin typeface="Arial" charset="0"/>
              </a:rPr>
              <a:t>               }</a:t>
            </a:r>
            <a:br>
              <a:rPr lang="en-US" sz="2400" smtClean="0">
                <a:solidFill>
                  <a:schemeClr val="tx2">
                    <a:satMod val="130000"/>
                  </a:schemeClr>
                </a:solidFill>
                <a:latin typeface="Arial" charset="0"/>
              </a:rPr>
            </a:br>
            <a:r>
              <a:rPr lang="en-US" sz="2400" smtClean="0">
                <a:solidFill>
                  <a:schemeClr val="tx2">
                    <a:satMod val="130000"/>
                  </a:schemeClr>
                </a:solidFill>
                <a:latin typeface="Arial" charset="0"/>
              </a:rPr>
              <a:t> } {PLACE}</a:t>
            </a:r>
            <a:br>
              <a:rPr lang="en-US" sz="2400" smtClean="0">
                <a:solidFill>
                  <a:schemeClr val="tx2">
                    <a:satMod val="130000"/>
                  </a:schemeClr>
                </a:solidFill>
                <a:latin typeface="Arial" charset="0"/>
              </a:rPr>
            </a:br>
            <a:endParaRPr lang="en-US" smtClean="0">
              <a:solidFill>
                <a:schemeClr val="tx2">
                  <a:satMod val="130000"/>
                </a:schemeClr>
              </a:solidFill>
              <a:latin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304800" y="-457200"/>
            <a:ext cx="8458200" cy="5943600"/>
          </a:xfrm>
        </p:spPr>
        <p:txBody>
          <a:bodyPr/>
          <a:lstStyle/>
          <a:p>
            <a:pPr eaLnBrk="1" fontAlgn="auto" hangingPunct="1">
              <a:spcAft>
                <a:spcPts val="0"/>
              </a:spcAft>
              <a:defRPr/>
            </a:pPr>
            <a:r>
              <a:rPr lang="en-US" sz="2000" smtClean="0">
                <a:solidFill>
                  <a:schemeClr val="tx2">
                    <a:satMod val="130000"/>
                  </a:schemeClr>
                </a:solidFill>
                <a:latin typeface="Arial" charset="0"/>
              </a:rPr>
              <a:t>	</a:t>
            </a:r>
            <a:r>
              <a:rPr lang="bg-BG" sz="2000" smtClean="0">
                <a:solidFill>
                  <a:schemeClr val="tx2">
                    <a:satMod val="130000"/>
                  </a:schemeClr>
                </a:solidFill>
                <a:latin typeface="Arial" charset="0"/>
              </a:rPr>
              <a:t>За да разположим </a:t>
            </a:r>
            <a:r>
              <a:rPr lang="bg-BG" sz="2000" b="1" smtClean="0">
                <a:solidFill>
                  <a:schemeClr val="tx2">
                    <a:satMod val="130000"/>
                  </a:schemeClr>
                </a:solidFill>
                <a:latin typeface="Arial" charset="0"/>
              </a:rPr>
              <a:t>i</a:t>
            </a:r>
            <a:r>
              <a:rPr lang="bg-BG" sz="2000" smtClean="0">
                <a:solidFill>
                  <a:schemeClr val="tx2">
                    <a:satMod val="130000"/>
                  </a:schemeClr>
                </a:solidFill>
                <a:latin typeface="Arial" charset="0"/>
              </a:rPr>
              <a:t>-та царица задоволително, е необходимо да знаем, в кои редове и диагонали са поставени царици до момента. Как да представим тази информация?</a:t>
            </a:r>
            <a:br>
              <a:rPr lang="bg-BG" sz="2000" smtClean="0">
                <a:solidFill>
                  <a:schemeClr val="tx2">
                    <a:satMod val="130000"/>
                  </a:schemeClr>
                </a:solidFill>
                <a:latin typeface="Arial" charset="0"/>
              </a:rPr>
            </a:br>
            <a:r>
              <a:rPr lang="en-US" sz="2000" smtClean="0">
                <a:solidFill>
                  <a:schemeClr val="tx2">
                    <a:satMod val="130000"/>
                  </a:schemeClr>
                </a:solidFill>
                <a:latin typeface="Arial" charset="0"/>
              </a:rPr>
              <a:t>	</a:t>
            </a:r>
            <a:r>
              <a:rPr lang="bg-BG" sz="2000" smtClean="0">
                <a:solidFill>
                  <a:schemeClr val="tx2">
                    <a:satMod val="130000"/>
                  </a:schemeClr>
                </a:solidFill>
                <a:latin typeface="Arial" charset="0"/>
              </a:rPr>
              <a:t>Ако разгледаме шахматната дъска, то можем да открием следната закономерност: за “червените” диагонали сумата от координатите им i+</a:t>
            </a:r>
            <a:r>
              <a:rPr lang="en-US" sz="2000" smtClean="0">
                <a:solidFill>
                  <a:schemeClr val="tx2">
                    <a:satMod val="130000"/>
                  </a:schemeClr>
                </a:solidFill>
                <a:latin typeface="Arial" charset="0"/>
              </a:rPr>
              <a:t>j </a:t>
            </a:r>
            <a:r>
              <a:rPr lang="bg-BG" sz="2000" smtClean="0">
                <a:solidFill>
                  <a:schemeClr val="tx2">
                    <a:satMod val="130000"/>
                  </a:schemeClr>
                </a:solidFill>
                <a:latin typeface="Arial" charset="0"/>
              </a:rPr>
              <a:t>е константа:	</a:t>
            </a:r>
            <a:r>
              <a:rPr lang="en-US" sz="2000" smtClean="0">
                <a:solidFill>
                  <a:schemeClr val="tx2">
                    <a:satMod val="130000"/>
                  </a:schemeClr>
                </a:solidFill>
                <a:latin typeface="Arial" charset="0"/>
              </a:rPr>
              <a:t/>
            </a:r>
            <a:br>
              <a:rPr lang="en-US" sz="2000" smtClean="0">
                <a:solidFill>
                  <a:schemeClr val="tx2">
                    <a:satMod val="130000"/>
                  </a:schemeClr>
                </a:solidFill>
                <a:latin typeface="Arial" charset="0"/>
              </a:rPr>
            </a:br>
            <a:r>
              <a:rPr lang="en-US" sz="2000" smtClean="0">
                <a:solidFill>
                  <a:schemeClr val="tx2">
                    <a:satMod val="130000"/>
                  </a:schemeClr>
                </a:solidFill>
                <a:latin typeface="Arial" charset="0"/>
              </a:rPr>
              <a:t>		</a:t>
            </a:r>
            <a:r>
              <a:rPr lang="bg-BG" sz="2000" smtClean="0">
                <a:solidFill>
                  <a:schemeClr val="tx2">
                    <a:satMod val="130000"/>
                  </a:schemeClr>
                </a:solidFill>
                <a:latin typeface="Arial" charset="0"/>
              </a:rPr>
              <a:t>	i+j=const; 	0 &lt;= i+j &lt;=2(</a:t>
            </a:r>
            <a:r>
              <a:rPr lang="en-US" sz="2000" smtClean="0">
                <a:solidFill>
                  <a:schemeClr val="tx2">
                    <a:satMod val="130000"/>
                  </a:schemeClr>
                </a:solidFill>
                <a:latin typeface="Arial" charset="0"/>
              </a:rPr>
              <a:t>N</a:t>
            </a:r>
            <a:r>
              <a:rPr lang="bg-BG" sz="2000" smtClean="0">
                <a:solidFill>
                  <a:schemeClr val="tx2">
                    <a:satMod val="130000"/>
                  </a:schemeClr>
                </a:solidFill>
                <a:latin typeface="Arial" charset="0"/>
              </a:rPr>
              <a:t>-1) </a:t>
            </a:r>
            <a:br>
              <a:rPr lang="bg-BG" sz="2000" smtClean="0">
                <a:solidFill>
                  <a:schemeClr val="tx2">
                    <a:satMod val="130000"/>
                  </a:schemeClr>
                </a:solidFill>
                <a:latin typeface="Arial" charset="0"/>
              </a:rPr>
            </a:br>
            <a:r>
              <a:rPr lang="bg-BG" sz="2000" smtClean="0">
                <a:solidFill>
                  <a:schemeClr val="tx2">
                    <a:satMod val="130000"/>
                  </a:schemeClr>
                </a:solidFill>
                <a:latin typeface="Arial" charset="0"/>
              </a:rPr>
              <a:t>За “сините”диагонали	i-j=const; 	1-N &lt;= i-j &lt;= </a:t>
            </a:r>
            <a:r>
              <a:rPr lang="en-US" sz="2000" smtClean="0">
                <a:solidFill>
                  <a:schemeClr val="tx2">
                    <a:satMod val="130000"/>
                  </a:schemeClr>
                </a:solidFill>
                <a:latin typeface="Arial" charset="0"/>
              </a:rPr>
              <a:t>N</a:t>
            </a:r>
            <a:r>
              <a:rPr lang="bg-BG" sz="2000" smtClean="0">
                <a:solidFill>
                  <a:schemeClr val="tx2">
                    <a:satMod val="130000"/>
                  </a:schemeClr>
                </a:solidFill>
                <a:latin typeface="Arial" charset="0"/>
              </a:rPr>
              <a:t>-1</a:t>
            </a:r>
            <a:br>
              <a:rPr lang="bg-BG" sz="2000" smtClean="0">
                <a:solidFill>
                  <a:schemeClr val="tx2">
                    <a:satMod val="130000"/>
                  </a:schemeClr>
                </a:solidFill>
                <a:latin typeface="Arial" charset="0"/>
              </a:rPr>
            </a:br>
            <a:r>
              <a:rPr lang="bg-BG" sz="2000" smtClean="0">
                <a:solidFill>
                  <a:schemeClr val="tx2">
                    <a:satMod val="130000"/>
                  </a:schemeClr>
                </a:solidFill>
                <a:latin typeface="Arial" charset="0"/>
              </a:rPr>
              <a:t>Така можем да дефинираме три булеви масива, които да съхраняват нужната ни информация:</a:t>
            </a:r>
            <a:br>
              <a:rPr lang="bg-BG" sz="2000" smtClean="0">
                <a:solidFill>
                  <a:schemeClr val="tx2">
                    <a:satMod val="130000"/>
                  </a:schemeClr>
                </a:solidFill>
                <a:latin typeface="Arial" charset="0"/>
              </a:rPr>
            </a:br>
            <a:r>
              <a:rPr lang="bg-BG" sz="2000" smtClean="0">
                <a:solidFill>
                  <a:schemeClr val="tx2">
                    <a:satMod val="130000"/>
                  </a:schemeClr>
                </a:solidFill>
                <a:latin typeface="Arial" charset="0"/>
              </a:rPr>
              <a:t>	a[j]= 1, ако в j ред няма царица, и 0, ако има;</a:t>
            </a:r>
            <a:br>
              <a:rPr lang="bg-BG" sz="2000" smtClean="0">
                <a:solidFill>
                  <a:schemeClr val="tx2">
                    <a:satMod val="130000"/>
                  </a:schemeClr>
                </a:solidFill>
                <a:latin typeface="Arial" charset="0"/>
              </a:rPr>
            </a:br>
            <a:r>
              <a:rPr lang="bg-BG" sz="2000" smtClean="0">
                <a:solidFill>
                  <a:schemeClr val="tx2">
                    <a:satMod val="130000"/>
                  </a:schemeClr>
                </a:solidFill>
                <a:latin typeface="Arial" charset="0"/>
              </a:rPr>
              <a:t>	b[i+j]= 1, ако в този диагонал няма царица, и</a:t>
            </a:r>
            <a:r>
              <a:rPr lang="en-US" sz="2000" smtClean="0">
                <a:solidFill>
                  <a:schemeClr val="tx2">
                    <a:satMod val="130000"/>
                  </a:schemeClr>
                </a:solidFill>
                <a:latin typeface="Arial" charset="0"/>
              </a:rPr>
              <a:t> </a:t>
            </a:r>
            <a:r>
              <a:rPr lang="bg-BG" sz="2000" smtClean="0">
                <a:solidFill>
                  <a:schemeClr val="tx2">
                    <a:satMod val="130000"/>
                  </a:schemeClr>
                </a:solidFill>
                <a:latin typeface="Arial" charset="0"/>
              </a:rPr>
              <a:t>0, ако има;</a:t>
            </a:r>
            <a:br>
              <a:rPr lang="bg-BG" sz="2000" smtClean="0">
                <a:solidFill>
                  <a:schemeClr val="tx2">
                    <a:satMod val="130000"/>
                  </a:schemeClr>
                </a:solidFill>
                <a:latin typeface="Arial" charset="0"/>
              </a:rPr>
            </a:br>
            <a:r>
              <a:rPr lang="bg-BG" sz="2000" smtClean="0">
                <a:solidFill>
                  <a:schemeClr val="tx2">
                    <a:satMod val="130000"/>
                  </a:schemeClr>
                </a:solidFill>
                <a:latin typeface="Arial" charset="0"/>
              </a:rPr>
              <a:t>	c[i-j]= 1, ако в този диагонал няма царица, и 0, ако има;</a:t>
            </a:r>
            <a:br>
              <a:rPr lang="bg-BG" sz="2000" smtClean="0">
                <a:solidFill>
                  <a:schemeClr val="tx2">
                    <a:satMod val="130000"/>
                  </a:schemeClr>
                </a:solidFill>
                <a:latin typeface="Arial" charset="0"/>
              </a:rPr>
            </a:br>
            <a:endParaRPr lang="en-US" smtClean="0">
              <a:solidFill>
                <a:schemeClr val="tx2">
                  <a:satMod val="130000"/>
                </a:schemeClr>
              </a:solidFill>
              <a:latin typeface="Arial" charset="0"/>
            </a:endParaRPr>
          </a:p>
        </p:txBody>
      </p:sp>
      <p:grpSp>
        <p:nvGrpSpPr>
          <p:cNvPr id="11268" name="Group 25"/>
          <p:cNvGrpSpPr>
            <a:grpSpLocks/>
          </p:cNvGrpSpPr>
          <p:nvPr/>
        </p:nvGrpSpPr>
        <p:grpSpPr bwMode="auto">
          <a:xfrm>
            <a:off x="3276600" y="4119563"/>
            <a:ext cx="2286000" cy="2365375"/>
            <a:chOff x="2064" y="2595"/>
            <a:chExt cx="1440" cy="1490"/>
          </a:xfrm>
        </p:grpSpPr>
        <p:sp>
          <p:nvSpPr>
            <p:cNvPr id="11269" name="Text Box 22"/>
            <p:cNvSpPr txBox="1">
              <a:spLocks noChangeArrowheads="1"/>
            </p:cNvSpPr>
            <p:nvPr/>
          </p:nvSpPr>
          <p:spPr bwMode="auto">
            <a:xfrm>
              <a:off x="2304" y="2595"/>
              <a:ext cx="336" cy="288"/>
            </a:xfrm>
            <a:prstGeom prst="rect">
              <a:avLst/>
            </a:prstGeom>
            <a:noFill/>
            <a:ln w="9525">
              <a:noFill/>
              <a:miter lim="800000"/>
              <a:headEnd/>
              <a:tailEnd/>
            </a:ln>
          </p:spPr>
          <p:txBody>
            <a:bodyPr>
              <a:spAutoFit/>
            </a:bodyPr>
            <a:lstStyle/>
            <a:p>
              <a:pPr>
                <a:spcBef>
                  <a:spcPct val="50000"/>
                </a:spcBef>
              </a:pPr>
              <a:r>
                <a:rPr lang="en-US"/>
                <a:t>i</a:t>
              </a:r>
            </a:p>
          </p:txBody>
        </p:sp>
        <p:grpSp>
          <p:nvGrpSpPr>
            <p:cNvPr id="11270" name="Group 24"/>
            <p:cNvGrpSpPr>
              <a:grpSpLocks/>
            </p:cNvGrpSpPr>
            <p:nvPr/>
          </p:nvGrpSpPr>
          <p:grpSpPr bwMode="auto">
            <a:xfrm>
              <a:off x="2064" y="2880"/>
              <a:ext cx="1440" cy="1205"/>
              <a:chOff x="2064" y="2880"/>
              <a:chExt cx="1440" cy="1205"/>
            </a:xfrm>
          </p:grpSpPr>
          <p:graphicFrame>
            <p:nvGraphicFramePr>
              <p:cNvPr id="11266" name="Object 3"/>
              <p:cNvGraphicFramePr>
                <a:graphicFrameLocks noChangeAspect="1"/>
              </p:cNvGraphicFramePr>
              <p:nvPr/>
            </p:nvGraphicFramePr>
            <p:xfrm>
              <a:off x="2256" y="2880"/>
              <a:ext cx="1248" cy="1205"/>
            </p:xfrm>
            <a:graphic>
              <a:graphicData uri="http://schemas.openxmlformats.org/presentationml/2006/ole">
                <mc:AlternateContent xmlns:mc="http://schemas.openxmlformats.org/markup-compatibility/2006">
                  <mc:Choice xmlns:v="urn:schemas-microsoft-com:vml" Requires="v">
                    <p:oleObj spid="_x0000_s11269" name="Worksheet" r:id="rId3" imgW="1357560" imgH="1313280" progId="Excel.Sheet.8">
                      <p:embed/>
                    </p:oleObj>
                  </mc:Choice>
                  <mc:Fallback>
                    <p:oleObj name="Worksheet" r:id="rId3" imgW="1357560" imgH="1313280" progId="Excel.Shee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6" y="2880"/>
                            <a:ext cx="1248" cy="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1" name="Line 5"/>
              <p:cNvSpPr>
                <a:spLocks noChangeShapeType="1"/>
              </p:cNvSpPr>
              <p:nvPr/>
            </p:nvSpPr>
            <p:spPr bwMode="auto">
              <a:xfrm>
                <a:off x="2256" y="2880"/>
                <a:ext cx="1248" cy="0"/>
              </a:xfrm>
              <a:prstGeom prst="line">
                <a:avLst/>
              </a:prstGeom>
              <a:noFill/>
              <a:ln w="28575">
                <a:solidFill>
                  <a:schemeClr val="tx1"/>
                </a:solidFill>
                <a:round/>
                <a:headEnd/>
                <a:tailEnd/>
              </a:ln>
            </p:spPr>
            <p:txBody>
              <a:bodyPr wrap="none" anchor="ctr"/>
              <a:lstStyle/>
              <a:p>
                <a:endParaRPr lang="bg-BG"/>
              </a:p>
            </p:txBody>
          </p:sp>
          <p:sp>
            <p:nvSpPr>
              <p:cNvPr id="11272" name="Line 6"/>
              <p:cNvSpPr>
                <a:spLocks noChangeShapeType="1"/>
              </p:cNvSpPr>
              <p:nvPr/>
            </p:nvSpPr>
            <p:spPr bwMode="auto">
              <a:xfrm flipV="1">
                <a:off x="2256" y="2880"/>
                <a:ext cx="0" cy="1200"/>
              </a:xfrm>
              <a:prstGeom prst="line">
                <a:avLst/>
              </a:prstGeom>
              <a:noFill/>
              <a:ln w="28575">
                <a:solidFill>
                  <a:schemeClr val="tx1"/>
                </a:solidFill>
                <a:round/>
                <a:headEnd/>
                <a:tailEnd/>
              </a:ln>
            </p:spPr>
            <p:txBody>
              <a:bodyPr wrap="none" anchor="ctr"/>
              <a:lstStyle/>
              <a:p>
                <a:endParaRPr lang="bg-BG"/>
              </a:p>
            </p:txBody>
          </p:sp>
          <p:sp>
            <p:nvSpPr>
              <p:cNvPr id="11273" name="Line 7"/>
              <p:cNvSpPr>
                <a:spLocks noChangeShapeType="1"/>
              </p:cNvSpPr>
              <p:nvPr/>
            </p:nvSpPr>
            <p:spPr bwMode="auto">
              <a:xfrm flipV="1">
                <a:off x="2256" y="2880"/>
                <a:ext cx="192" cy="144"/>
              </a:xfrm>
              <a:prstGeom prst="line">
                <a:avLst/>
              </a:prstGeom>
              <a:noFill/>
              <a:ln w="9525">
                <a:solidFill>
                  <a:srgbClr val="FF0000"/>
                </a:solidFill>
                <a:round/>
                <a:headEnd/>
                <a:tailEnd/>
              </a:ln>
            </p:spPr>
            <p:txBody>
              <a:bodyPr wrap="none" anchor="ctr"/>
              <a:lstStyle/>
              <a:p>
                <a:endParaRPr lang="bg-BG"/>
              </a:p>
            </p:txBody>
          </p:sp>
          <p:sp>
            <p:nvSpPr>
              <p:cNvPr id="11274" name="Line 8"/>
              <p:cNvSpPr>
                <a:spLocks noChangeShapeType="1"/>
              </p:cNvSpPr>
              <p:nvPr/>
            </p:nvSpPr>
            <p:spPr bwMode="auto">
              <a:xfrm flipV="1">
                <a:off x="2256" y="2880"/>
                <a:ext cx="336" cy="288"/>
              </a:xfrm>
              <a:prstGeom prst="line">
                <a:avLst/>
              </a:prstGeom>
              <a:noFill/>
              <a:ln w="9525">
                <a:solidFill>
                  <a:srgbClr val="FF0000"/>
                </a:solidFill>
                <a:round/>
                <a:headEnd/>
                <a:tailEnd/>
              </a:ln>
            </p:spPr>
            <p:txBody>
              <a:bodyPr wrap="none" anchor="ctr"/>
              <a:lstStyle/>
              <a:p>
                <a:endParaRPr lang="bg-BG"/>
              </a:p>
            </p:txBody>
          </p:sp>
          <p:sp>
            <p:nvSpPr>
              <p:cNvPr id="11275" name="Line 9"/>
              <p:cNvSpPr>
                <a:spLocks noChangeShapeType="1"/>
              </p:cNvSpPr>
              <p:nvPr/>
            </p:nvSpPr>
            <p:spPr bwMode="auto">
              <a:xfrm flipV="1">
                <a:off x="2274" y="2880"/>
                <a:ext cx="1200" cy="1152"/>
              </a:xfrm>
              <a:prstGeom prst="line">
                <a:avLst/>
              </a:prstGeom>
              <a:noFill/>
              <a:ln w="9525">
                <a:solidFill>
                  <a:srgbClr val="FF0000"/>
                </a:solidFill>
                <a:round/>
                <a:headEnd/>
                <a:tailEnd/>
              </a:ln>
            </p:spPr>
            <p:txBody>
              <a:bodyPr wrap="none" anchor="ctr"/>
              <a:lstStyle/>
              <a:p>
                <a:endParaRPr lang="bg-BG"/>
              </a:p>
            </p:txBody>
          </p:sp>
          <p:sp>
            <p:nvSpPr>
              <p:cNvPr id="11276" name="Line 12"/>
              <p:cNvSpPr>
                <a:spLocks noChangeShapeType="1"/>
              </p:cNvSpPr>
              <p:nvPr/>
            </p:nvSpPr>
            <p:spPr bwMode="auto">
              <a:xfrm flipV="1">
                <a:off x="3168" y="3792"/>
                <a:ext cx="336" cy="288"/>
              </a:xfrm>
              <a:prstGeom prst="line">
                <a:avLst/>
              </a:prstGeom>
              <a:noFill/>
              <a:ln w="9525">
                <a:solidFill>
                  <a:srgbClr val="FF0000"/>
                </a:solidFill>
                <a:round/>
                <a:headEnd/>
                <a:tailEnd/>
              </a:ln>
            </p:spPr>
            <p:txBody>
              <a:bodyPr wrap="none" anchor="ctr"/>
              <a:lstStyle/>
              <a:p>
                <a:endParaRPr lang="bg-BG"/>
              </a:p>
            </p:txBody>
          </p:sp>
          <p:sp>
            <p:nvSpPr>
              <p:cNvPr id="11277" name="Line 15"/>
              <p:cNvSpPr>
                <a:spLocks noChangeShapeType="1"/>
              </p:cNvSpPr>
              <p:nvPr/>
            </p:nvSpPr>
            <p:spPr bwMode="auto">
              <a:xfrm flipV="1">
                <a:off x="3312" y="3936"/>
                <a:ext cx="192" cy="144"/>
              </a:xfrm>
              <a:prstGeom prst="line">
                <a:avLst/>
              </a:prstGeom>
              <a:noFill/>
              <a:ln w="9525">
                <a:solidFill>
                  <a:srgbClr val="FF0000"/>
                </a:solidFill>
                <a:round/>
                <a:headEnd/>
                <a:tailEnd/>
              </a:ln>
            </p:spPr>
            <p:txBody>
              <a:bodyPr wrap="none" anchor="ctr"/>
              <a:lstStyle/>
              <a:p>
                <a:endParaRPr lang="bg-BG"/>
              </a:p>
            </p:txBody>
          </p:sp>
          <p:sp>
            <p:nvSpPr>
              <p:cNvPr id="11278" name="Line 16"/>
              <p:cNvSpPr>
                <a:spLocks noChangeShapeType="1"/>
              </p:cNvSpPr>
              <p:nvPr/>
            </p:nvSpPr>
            <p:spPr bwMode="auto">
              <a:xfrm>
                <a:off x="3333" y="2880"/>
                <a:ext cx="144" cy="144"/>
              </a:xfrm>
              <a:prstGeom prst="line">
                <a:avLst/>
              </a:prstGeom>
              <a:noFill/>
              <a:ln w="9525">
                <a:solidFill>
                  <a:schemeClr val="accent2"/>
                </a:solidFill>
                <a:round/>
                <a:headEnd/>
                <a:tailEnd/>
              </a:ln>
            </p:spPr>
            <p:txBody>
              <a:bodyPr wrap="none" anchor="ctr"/>
              <a:lstStyle/>
              <a:p>
                <a:endParaRPr lang="bg-BG"/>
              </a:p>
            </p:txBody>
          </p:sp>
          <p:sp>
            <p:nvSpPr>
              <p:cNvPr id="11279" name="Line 17"/>
              <p:cNvSpPr>
                <a:spLocks noChangeShapeType="1"/>
              </p:cNvSpPr>
              <p:nvPr/>
            </p:nvSpPr>
            <p:spPr bwMode="auto">
              <a:xfrm>
                <a:off x="3168" y="2880"/>
                <a:ext cx="288" cy="288"/>
              </a:xfrm>
              <a:prstGeom prst="line">
                <a:avLst/>
              </a:prstGeom>
              <a:noFill/>
              <a:ln w="9525">
                <a:solidFill>
                  <a:schemeClr val="tx1"/>
                </a:solidFill>
                <a:round/>
                <a:headEnd/>
                <a:tailEnd/>
              </a:ln>
            </p:spPr>
            <p:txBody>
              <a:bodyPr wrap="none" anchor="ctr"/>
              <a:lstStyle/>
              <a:p>
                <a:endParaRPr lang="bg-BG"/>
              </a:p>
            </p:txBody>
          </p:sp>
          <p:sp>
            <p:nvSpPr>
              <p:cNvPr id="11280" name="Line 18"/>
              <p:cNvSpPr>
                <a:spLocks noChangeShapeType="1"/>
              </p:cNvSpPr>
              <p:nvPr/>
            </p:nvSpPr>
            <p:spPr bwMode="auto">
              <a:xfrm>
                <a:off x="2256" y="2898"/>
                <a:ext cx="1248" cy="1152"/>
              </a:xfrm>
              <a:prstGeom prst="line">
                <a:avLst/>
              </a:prstGeom>
              <a:noFill/>
              <a:ln w="9525">
                <a:solidFill>
                  <a:schemeClr val="tx1"/>
                </a:solidFill>
                <a:round/>
                <a:headEnd/>
                <a:tailEnd/>
              </a:ln>
            </p:spPr>
            <p:txBody>
              <a:bodyPr wrap="none" anchor="ctr"/>
              <a:lstStyle/>
              <a:p>
                <a:endParaRPr lang="bg-BG"/>
              </a:p>
            </p:txBody>
          </p:sp>
          <p:sp>
            <p:nvSpPr>
              <p:cNvPr id="11281" name="Line 19"/>
              <p:cNvSpPr>
                <a:spLocks noChangeShapeType="1"/>
              </p:cNvSpPr>
              <p:nvPr/>
            </p:nvSpPr>
            <p:spPr bwMode="auto">
              <a:xfrm>
                <a:off x="2256" y="3648"/>
                <a:ext cx="480" cy="432"/>
              </a:xfrm>
              <a:prstGeom prst="line">
                <a:avLst/>
              </a:prstGeom>
              <a:noFill/>
              <a:ln w="9525">
                <a:solidFill>
                  <a:schemeClr val="accent2"/>
                </a:solidFill>
                <a:round/>
                <a:headEnd/>
                <a:tailEnd/>
              </a:ln>
            </p:spPr>
            <p:txBody>
              <a:bodyPr wrap="none" anchor="ctr"/>
              <a:lstStyle/>
              <a:p>
                <a:endParaRPr lang="bg-BG"/>
              </a:p>
            </p:txBody>
          </p:sp>
          <p:sp>
            <p:nvSpPr>
              <p:cNvPr id="11282" name="Line 20"/>
              <p:cNvSpPr>
                <a:spLocks noChangeShapeType="1"/>
              </p:cNvSpPr>
              <p:nvPr/>
            </p:nvSpPr>
            <p:spPr bwMode="auto">
              <a:xfrm>
                <a:off x="2256" y="3792"/>
                <a:ext cx="336" cy="288"/>
              </a:xfrm>
              <a:prstGeom prst="line">
                <a:avLst/>
              </a:prstGeom>
              <a:noFill/>
              <a:ln w="9525">
                <a:solidFill>
                  <a:schemeClr val="tx1"/>
                </a:solidFill>
                <a:round/>
                <a:headEnd/>
                <a:tailEnd/>
              </a:ln>
            </p:spPr>
            <p:txBody>
              <a:bodyPr wrap="none" anchor="ctr"/>
              <a:lstStyle/>
              <a:p>
                <a:endParaRPr lang="bg-BG"/>
              </a:p>
            </p:txBody>
          </p:sp>
          <p:sp>
            <p:nvSpPr>
              <p:cNvPr id="11283" name="Line 21"/>
              <p:cNvSpPr>
                <a:spLocks noChangeShapeType="1"/>
              </p:cNvSpPr>
              <p:nvPr/>
            </p:nvSpPr>
            <p:spPr bwMode="auto">
              <a:xfrm>
                <a:off x="2256" y="3936"/>
                <a:ext cx="144" cy="144"/>
              </a:xfrm>
              <a:prstGeom prst="line">
                <a:avLst/>
              </a:prstGeom>
              <a:noFill/>
              <a:ln w="9525">
                <a:solidFill>
                  <a:schemeClr val="tx1"/>
                </a:solidFill>
                <a:round/>
                <a:headEnd/>
                <a:tailEnd/>
              </a:ln>
            </p:spPr>
            <p:txBody>
              <a:bodyPr wrap="none" anchor="ctr"/>
              <a:lstStyle/>
              <a:p>
                <a:endParaRPr lang="bg-BG"/>
              </a:p>
            </p:txBody>
          </p:sp>
          <p:sp>
            <p:nvSpPr>
              <p:cNvPr id="11284" name="Text Box 23"/>
              <p:cNvSpPr txBox="1">
                <a:spLocks noChangeArrowheads="1"/>
              </p:cNvSpPr>
              <p:nvPr/>
            </p:nvSpPr>
            <p:spPr bwMode="auto">
              <a:xfrm>
                <a:off x="2064" y="2928"/>
                <a:ext cx="144" cy="288"/>
              </a:xfrm>
              <a:prstGeom prst="rect">
                <a:avLst/>
              </a:prstGeom>
              <a:noFill/>
              <a:ln w="9525">
                <a:noFill/>
                <a:miter lim="800000"/>
                <a:headEnd/>
                <a:tailEnd/>
              </a:ln>
            </p:spPr>
            <p:txBody>
              <a:bodyPr>
                <a:spAutoFit/>
              </a:bodyPr>
              <a:lstStyle/>
              <a:p>
                <a:pPr>
                  <a:spcBef>
                    <a:spcPct val="50000"/>
                  </a:spcBef>
                </a:pPr>
                <a:r>
                  <a:rPr lang="en-US"/>
                  <a:t>j</a:t>
                </a:r>
              </a:p>
            </p:txBody>
          </p:sp>
        </p:gr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85800" y="609600"/>
            <a:ext cx="8153400" cy="5715000"/>
          </a:xfrm>
        </p:spPr>
        <p:txBody>
          <a:bodyPr>
            <a:normAutofit fontScale="90000"/>
          </a:bodyPr>
          <a:lstStyle/>
          <a:p>
            <a:pPr eaLnBrk="1" fontAlgn="auto" hangingPunct="1">
              <a:lnSpc>
                <a:spcPct val="90000"/>
              </a:lnSpc>
              <a:spcAft>
                <a:spcPts val="0"/>
              </a:spcAft>
              <a:defRPr/>
            </a:pP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Проверката на тези три масива ще ни позволява да определим, дали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 може да бъде поставена в </a:t>
            </a:r>
            <a:r>
              <a:rPr lang="bg-BG" sz="2400" b="1" smtClean="0">
                <a:solidFill>
                  <a:schemeClr val="tx2">
                    <a:satMod val="130000"/>
                  </a:schemeClr>
                </a:solidFill>
                <a:latin typeface="Arial" charset="0"/>
              </a:rPr>
              <a:t>j</a:t>
            </a:r>
            <a:r>
              <a:rPr lang="bg-BG" sz="2400" smtClean="0">
                <a:solidFill>
                  <a:schemeClr val="tx2">
                    <a:satMod val="130000"/>
                  </a:schemeClr>
                </a:solidFill>
                <a:latin typeface="Arial" charset="0"/>
              </a:rPr>
              <a:t>-я ред. При положителен отговор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 се поставя в клетката с координати </a:t>
            </a:r>
            <a:r>
              <a:rPr lang="bg-BG" sz="2400" b="1" smtClean="0">
                <a:solidFill>
                  <a:schemeClr val="tx2">
                    <a:satMod val="130000"/>
                  </a:schemeClr>
                </a:solidFill>
                <a:latin typeface="Arial" charset="0"/>
              </a:rPr>
              <a:t>(i,j),</a:t>
            </a:r>
            <a:r>
              <a:rPr lang="bg-BG" sz="2400" smtClean="0">
                <a:solidFill>
                  <a:schemeClr val="tx2">
                    <a:satMod val="130000"/>
                  </a:schemeClr>
                </a:solidFill>
                <a:latin typeface="Arial" charset="0"/>
              </a:rPr>
              <a:t> след което тази позиция се регистрира – съответните елементи на масивите </a:t>
            </a:r>
            <a:r>
              <a:rPr lang="bg-BG" sz="2400" b="1" smtClean="0">
                <a:solidFill>
                  <a:schemeClr val="tx2">
                    <a:satMod val="130000"/>
                  </a:schemeClr>
                </a:solidFill>
                <a:latin typeface="Arial" charset="0"/>
              </a:rPr>
              <a:t>a</a:t>
            </a:r>
            <a:r>
              <a:rPr lang="bg-BG" sz="2400" smtClean="0">
                <a:solidFill>
                  <a:schemeClr val="tx2">
                    <a:satMod val="130000"/>
                  </a:schemeClr>
                </a:solidFill>
                <a:latin typeface="Arial" charset="0"/>
              </a:rPr>
              <a:t>, </a:t>
            </a:r>
            <a:r>
              <a:rPr lang="bg-BG" sz="2400" b="1" smtClean="0">
                <a:solidFill>
                  <a:schemeClr val="tx2">
                    <a:satMod val="130000"/>
                  </a:schemeClr>
                </a:solidFill>
                <a:latin typeface="Arial" charset="0"/>
              </a:rPr>
              <a:t>b</a:t>
            </a:r>
            <a:r>
              <a:rPr lang="bg-BG" sz="2400" smtClean="0">
                <a:solidFill>
                  <a:schemeClr val="tx2">
                    <a:satMod val="130000"/>
                  </a:schemeClr>
                </a:solidFill>
                <a:latin typeface="Arial" charset="0"/>
              </a:rPr>
              <a:t> и </a:t>
            </a:r>
            <a:r>
              <a:rPr lang="bg-BG" sz="2400" b="1" smtClean="0">
                <a:solidFill>
                  <a:schemeClr val="tx2">
                    <a:satMod val="130000"/>
                  </a:schemeClr>
                </a:solidFill>
                <a:latin typeface="Arial" charset="0"/>
              </a:rPr>
              <a:t>c</a:t>
            </a:r>
            <a:r>
              <a:rPr lang="bg-BG" sz="2400" smtClean="0">
                <a:solidFill>
                  <a:schemeClr val="tx2">
                    <a:satMod val="130000"/>
                  </a:schemeClr>
                </a:solidFill>
                <a:latin typeface="Arial" charset="0"/>
              </a:rPr>
              <a:t> се установяват в 0. </a:t>
            </a: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Продължаваме рекурсивно да търсим място на следващата, </a:t>
            </a:r>
            <a:r>
              <a:rPr lang="bg-BG" sz="2400" b="1" smtClean="0">
                <a:solidFill>
                  <a:schemeClr val="tx2">
                    <a:satMod val="130000"/>
                  </a:schemeClr>
                </a:solidFill>
                <a:latin typeface="Arial" charset="0"/>
              </a:rPr>
              <a:t>i+1</a:t>
            </a:r>
            <a:r>
              <a:rPr lang="bg-BG" sz="2400" smtClean="0">
                <a:solidFill>
                  <a:schemeClr val="tx2">
                    <a:satMod val="130000"/>
                  </a:schemeClr>
                </a:solidFill>
                <a:latin typeface="Arial" charset="0"/>
              </a:rPr>
              <a:t>-та царица. Ако това не е възможно при </a:t>
            </a:r>
            <a:r>
              <a:rPr lang="bg-BG" sz="2400" b="1" smtClean="0">
                <a:solidFill>
                  <a:schemeClr val="tx2">
                    <a:satMod val="130000"/>
                  </a:schemeClr>
                </a:solidFill>
                <a:latin typeface="Arial" charset="0"/>
              </a:rPr>
              <a:t>i&lt;</a:t>
            </a:r>
            <a:r>
              <a:rPr lang="en-US" sz="2400" b="1" smtClean="0">
                <a:solidFill>
                  <a:schemeClr val="tx2">
                    <a:satMod val="130000"/>
                  </a:schemeClr>
                </a:solidFill>
                <a:latin typeface="Arial" charset="0"/>
              </a:rPr>
              <a:t>N</a:t>
            </a:r>
            <a:r>
              <a:rPr lang="bg-BG" sz="2400" smtClean="0">
                <a:solidFill>
                  <a:schemeClr val="tx2">
                    <a:satMod val="130000"/>
                  </a:schemeClr>
                </a:solidFill>
                <a:latin typeface="Arial" charset="0"/>
              </a:rPr>
              <a:t>, връщаме се обратно към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-та царица и се опитваме да я преместим в друга клетка с надеждата, че това ще доведе до друго решение. Непосредствено преди връщането е необходимо да премахнем регистрацията на текущата позиция на </a:t>
            </a:r>
            <a:r>
              <a:rPr lang="bg-BG" sz="2400" b="1" smtClean="0">
                <a:solidFill>
                  <a:schemeClr val="tx2">
                    <a:satMod val="130000"/>
                  </a:schemeClr>
                </a:solidFill>
                <a:latin typeface="Arial" charset="0"/>
              </a:rPr>
              <a:t>i</a:t>
            </a:r>
            <a:r>
              <a:rPr lang="bg-BG" sz="2400" smtClean="0">
                <a:solidFill>
                  <a:schemeClr val="tx2">
                    <a:satMod val="130000"/>
                  </a:schemeClr>
                </a:solidFill>
                <a:latin typeface="Arial" charset="0"/>
              </a:rPr>
              <a:t>-</a:t>
            </a:r>
            <a:r>
              <a:rPr lang="en-US" sz="2400" smtClean="0">
                <a:solidFill>
                  <a:schemeClr val="tx2">
                    <a:satMod val="130000"/>
                  </a:schemeClr>
                </a:solidFill>
                <a:latin typeface="Arial" charset="0"/>
              </a:rPr>
              <a:t>та </a:t>
            </a:r>
            <a:r>
              <a:rPr lang="bg-BG" sz="2400" smtClean="0">
                <a:solidFill>
                  <a:schemeClr val="tx2">
                    <a:satMod val="130000"/>
                  </a:schemeClr>
                </a:solidFill>
                <a:latin typeface="Arial" charset="0"/>
              </a:rPr>
              <a:t>царица, т.е. да присвоим на</a:t>
            </a: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съответните елементи на масивите </a:t>
            </a:r>
            <a:r>
              <a:rPr lang="bg-BG" sz="2400" b="1" smtClean="0">
                <a:solidFill>
                  <a:schemeClr val="tx2">
                    <a:satMod val="130000"/>
                  </a:schemeClr>
                </a:solidFill>
                <a:latin typeface="Arial" charset="0"/>
              </a:rPr>
              <a:t>a</a:t>
            </a:r>
            <a:r>
              <a:rPr lang="bg-BG" sz="2400" smtClean="0">
                <a:solidFill>
                  <a:schemeClr val="tx2">
                    <a:satMod val="130000"/>
                  </a:schemeClr>
                </a:solidFill>
                <a:latin typeface="Arial" charset="0"/>
              </a:rPr>
              <a:t>,</a:t>
            </a:r>
            <a:r>
              <a:rPr lang="bg-BG" sz="2400" b="1" smtClean="0">
                <a:solidFill>
                  <a:schemeClr val="tx2">
                    <a:satMod val="130000"/>
                  </a:schemeClr>
                </a:solidFill>
                <a:latin typeface="Arial" charset="0"/>
              </a:rPr>
              <a:t>b</a:t>
            </a:r>
            <a:r>
              <a:rPr lang="bg-BG" sz="2400" smtClean="0">
                <a:solidFill>
                  <a:schemeClr val="tx2">
                    <a:satMod val="130000"/>
                  </a:schemeClr>
                </a:solidFill>
                <a:latin typeface="Arial" charset="0"/>
              </a:rPr>
              <a:t> и </a:t>
            </a:r>
            <a:r>
              <a:rPr lang="bg-BG" sz="2400" b="1" smtClean="0">
                <a:solidFill>
                  <a:schemeClr val="tx2">
                    <a:satMod val="130000"/>
                  </a:schemeClr>
                </a:solidFill>
                <a:latin typeface="Arial" charset="0"/>
              </a:rPr>
              <a:t>c</a:t>
            </a:r>
            <a:r>
              <a:rPr lang="bg-BG" sz="2400" smtClean="0">
                <a:solidFill>
                  <a:schemeClr val="tx2">
                    <a:satMod val="130000"/>
                  </a:schemeClr>
                </a:solidFill>
                <a:latin typeface="Arial" charset="0"/>
              </a:rPr>
              <a:t> стойност </a:t>
            </a:r>
            <a:r>
              <a:rPr lang="en-US" sz="2400" smtClean="0">
                <a:solidFill>
                  <a:schemeClr val="tx2">
                    <a:satMod val="130000"/>
                  </a:schemeClr>
                </a:solidFill>
                <a:latin typeface="Arial" charset="0"/>
              </a:rPr>
              <a:t>1.</a:t>
            </a:r>
            <a:br>
              <a:rPr lang="en-US" sz="24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1"/>
                </a:solidFill>
                <a:latin typeface="Arial" charset="0"/>
              </a:rPr>
              <a:t>Ядрото на програмата е рекурсивната функция </a:t>
            </a:r>
            <a:r>
              <a:rPr lang="en-US" sz="2400" smtClean="0">
                <a:solidFill>
                  <a:schemeClr val="tx1"/>
                </a:solidFill>
                <a:latin typeface="Arial" charset="0"/>
              </a:rPr>
              <a:t>PLACE. </a:t>
            </a:r>
            <a:r>
              <a:rPr lang="bg-BG" sz="2400" smtClean="0">
                <a:solidFill>
                  <a:schemeClr val="tx1"/>
                </a:solidFill>
                <a:latin typeface="Arial" charset="0"/>
              </a:rPr>
              <a:t>В тялото на функцията е организиран цикъл за изчерпване на всички възможни варианти за разполагане на дадената царица.</a:t>
            </a:r>
            <a:endParaRPr lang="en-US" smtClean="0">
              <a:solidFill>
                <a:schemeClr val="tx1"/>
              </a:solidFill>
              <a:latin typeface="Arial"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84213" y="549275"/>
            <a:ext cx="8294687" cy="5867400"/>
          </a:xfrm>
        </p:spPr>
        <p:txBody>
          <a:bodyPr>
            <a:normAutofit fontScale="90000"/>
          </a:bodyPr>
          <a:lstStyle/>
          <a:p>
            <a:pPr eaLnBrk="1" fontAlgn="auto" hangingPunct="1">
              <a:spcAft>
                <a:spcPts val="0"/>
              </a:spcAft>
              <a:defRPr/>
            </a:pPr>
            <a:r>
              <a:rPr lang="en-US" sz="2400" smtClean="0">
                <a:solidFill>
                  <a:schemeClr val="tx2">
                    <a:satMod val="130000"/>
                  </a:schemeClr>
                </a:solidFill>
                <a:latin typeface="Courier New" pitchFamily="49" charset="0"/>
              </a:rPr>
              <a:t>#include &lt;iostream&gt;</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using namespace std; </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void print();</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void true_false(int i, int j, int k);</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void place(int i);</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const int N=8;</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int a[N]={1,1,1,1,1,1,1,1};</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int b[2*N-1]={1,1,1,1,1,1,1,1,1,1,1,1,1,1,1};</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int c[2*N-1]={1,1,1,1,1,1,1,1,1,1,1,1,1,1,1};</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int pos[N]={0,0,0,0,0,0,0,0};</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endParaRPr lang="en-US" smtClean="0">
              <a:solidFill>
                <a:schemeClr val="tx2">
                  <a:satMod val="130000"/>
                </a:schemeClr>
              </a:solidFill>
              <a:latin typeface="Courier New"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79613" y="620713"/>
            <a:ext cx="6550025" cy="5943600"/>
          </a:xfrm>
        </p:spPr>
        <p:txBody>
          <a:bodyPr>
            <a:normAutofit fontScale="90000"/>
          </a:bodyPr>
          <a:lstStyle/>
          <a:p>
            <a:pPr eaLnBrk="1" fontAlgn="auto" hangingPunct="1">
              <a:lnSpc>
                <a:spcPct val="90000"/>
              </a:lnSpc>
              <a:spcAft>
                <a:spcPts val="0"/>
              </a:spcAft>
              <a:defRPr/>
            </a:pPr>
            <a:r>
              <a:rPr lang="en-US" sz="2400" dirty="0" smtClean="0">
                <a:solidFill>
                  <a:schemeClr val="tx2">
                    <a:satMod val="130000"/>
                  </a:schemeClr>
                </a:solidFill>
                <a:latin typeface="Courier New" pitchFamily="49" charset="0"/>
              </a:rPr>
              <a:t>void main()</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place(1);</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void print()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m=0; m&lt;N; m++)</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 "    " &lt;&lt;pos[m];</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endl</a:t>
            </a: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void </a:t>
            </a:r>
            <a:r>
              <a:rPr lang="en-US" sz="2400" dirty="0" err="1" smtClean="0">
                <a:solidFill>
                  <a:schemeClr val="tx2">
                    <a:satMod val="130000"/>
                  </a:schemeClr>
                </a:solidFill>
                <a:latin typeface="Courier New" pitchFamily="49" charset="0"/>
              </a:rPr>
              <a:t>true_false</a:t>
            </a:r>
            <a:r>
              <a:rPr lang="en-US" sz="2400" dirty="0" smtClean="0">
                <a:solidFill>
                  <a:schemeClr val="tx2">
                    <a:satMod val="130000"/>
                  </a:schemeClr>
                </a:solidFill>
                <a:latin typeface="Courier New" pitchFamily="49" charset="0"/>
              </a:rPr>
              <a:t>(</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j,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k)</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a[j-1]=k;</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b[i+j-2]=k;</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c[i-j+7]=k;</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endParaRPr lang="en-US" sz="2400" dirty="0" smtClean="0">
              <a:solidFill>
                <a:schemeClr val="tx2">
                  <a:satMod val="130000"/>
                </a:schemeClr>
              </a:solidFill>
              <a:latin typeface="Courier New"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00113" y="838200"/>
            <a:ext cx="8243887" cy="6019800"/>
          </a:xfrm>
        </p:spPr>
        <p:txBody>
          <a:bodyPr>
            <a:normAutofit fontScale="90000"/>
          </a:bodyPr>
          <a:lstStyle/>
          <a:p>
            <a:pPr eaLnBrk="1" fontAlgn="auto" hangingPunct="1">
              <a:spcAft>
                <a:spcPts val="0"/>
              </a:spcAft>
              <a:defRPr/>
            </a:pPr>
            <a:r>
              <a:rPr lang="en-US" sz="2400" dirty="0" smtClean="0">
                <a:solidFill>
                  <a:schemeClr val="tx2">
                    <a:satMod val="130000"/>
                  </a:schemeClr>
                </a:solidFill>
                <a:latin typeface="Courier New" pitchFamily="49" charset="0"/>
              </a:rPr>
              <a:t>void place(</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j;</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(j=1; j&lt;=</a:t>
            </a:r>
            <a:r>
              <a:rPr lang="en-US" sz="2400" dirty="0" err="1" smtClean="0">
                <a:solidFill>
                  <a:schemeClr val="tx2">
                    <a:satMod val="130000"/>
                  </a:schemeClr>
                </a:solidFill>
                <a:latin typeface="Courier New" pitchFamily="49" charset="0"/>
              </a:rPr>
              <a:t>N;j</a:t>
            </a:r>
            <a:r>
              <a:rPr lang="en-US" sz="2400" dirty="0" smtClean="0">
                <a:solidFill>
                  <a:schemeClr val="tx2">
                    <a:satMod val="130000"/>
                  </a:schemeClr>
                </a:solidFill>
                <a:latin typeface="Courier New" pitchFamily="49" charset="0"/>
              </a:rPr>
              <a: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if((a[j-1]==1)&amp;&amp;(b[i+j-2]==1)&amp;&amp;(c[i-j+7]==1))</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pos[i-1]=j;</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true_false</a:t>
            </a:r>
            <a:r>
              <a:rPr lang="en-US" sz="2400" dirty="0" smtClean="0">
                <a:solidFill>
                  <a:schemeClr val="tx2">
                    <a:satMod val="130000"/>
                  </a:schemeClr>
                </a:solidFill>
                <a:latin typeface="Courier New" pitchFamily="49" charset="0"/>
              </a:rPr>
              <a:t>(i,j,0);</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if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&lt;N)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place(i+1);</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else</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print();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true_false</a:t>
            </a:r>
            <a:r>
              <a:rPr lang="en-US" sz="2400" dirty="0" smtClean="0">
                <a:solidFill>
                  <a:schemeClr val="tx2">
                    <a:satMod val="130000"/>
                  </a:schemeClr>
                </a:solidFill>
                <a:latin typeface="Courier New" pitchFamily="49" charset="0"/>
              </a:rPr>
              <a:t>(i,j,1);</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r>
              <a:rPr lang="bg-BG" dirty="0" smtClean="0">
                <a:solidFill>
                  <a:schemeClr val="tx2">
                    <a:satMod val="130000"/>
                  </a:schemeClr>
                </a:solidFill>
                <a:latin typeface="Courier New" pitchFamily="49" charset="0"/>
              </a:rPr>
              <a:t/>
            </a:r>
            <a:br>
              <a:rPr lang="bg-BG" dirty="0" smtClean="0">
                <a:solidFill>
                  <a:schemeClr val="tx2">
                    <a:satMod val="130000"/>
                  </a:schemeClr>
                </a:solidFill>
                <a:latin typeface="Courier New" pitchFamily="49" charset="0"/>
              </a:rPr>
            </a:br>
            <a:endParaRPr lang="en-US" dirty="0" smtClean="0">
              <a:solidFill>
                <a:schemeClr val="tx2">
                  <a:satMod val="130000"/>
                </a:schemeClr>
              </a:solidFill>
              <a:latin typeface="Courier New"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52400" y="609600"/>
            <a:ext cx="8763000" cy="6019800"/>
          </a:xfrm>
        </p:spPr>
        <p:txBody>
          <a:bodyPr>
            <a:normAutofit fontScale="90000"/>
          </a:bodyPr>
          <a:lstStyle/>
          <a:p>
            <a:pPr eaLnBrk="1" fontAlgn="auto" hangingPunct="1">
              <a:spcAft>
                <a:spcPts val="0"/>
              </a:spcAft>
              <a:defRPr/>
            </a:pPr>
            <a:r>
              <a:rPr lang="bg-BG" sz="2800" smtClean="0">
                <a:solidFill>
                  <a:schemeClr val="tx2">
                    <a:satMod val="130000"/>
                  </a:schemeClr>
                </a:solidFill>
              </a:rPr>
              <a:t/>
            </a:r>
            <a:br>
              <a:rPr lang="bg-BG" sz="2800" smtClean="0">
                <a:solidFill>
                  <a:schemeClr val="tx2">
                    <a:satMod val="130000"/>
                  </a:schemeClr>
                </a:solidFill>
              </a:rPr>
            </a:br>
            <a:r>
              <a:rPr lang="bg-BG" sz="2800" smtClean="0">
                <a:solidFill>
                  <a:schemeClr val="tx2">
                    <a:satMod val="130000"/>
                  </a:schemeClr>
                </a:solidFill>
              </a:rPr>
              <a:t>Задача за коня</a:t>
            </a:r>
            <a:br>
              <a:rPr lang="bg-BG" sz="2800" smtClean="0">
                <a:solidFill>
                  <a:schemeClr val="tx2">
                    <a:satMod val="130000"/>
                  </a:schemeClr>
                </a:solidFill>
              </a:rPr>
            </a:br>
            <a:r>
              <a:rPr lang="bg-BG" sz="2800" smtClean="0">
                <a:solidFill>
                  <a:schemeClr val="tx2">
                    <a:satMod val="130000"/>
                  </a:schemeClr>
                </a:solidFill>
              </a:rPr>
              <a:t>(Обхождане на шахматна дъска с ходове на коня)</a:t>
            </a:r>
            <a:r>
              <a:rPr lang="bg-BG" smtClean="0">
                <a:solidFill>
                  <a:schemeClr val="tx2">
                    <a:satMod val="130000"/>
                  </a:schemeClr>
                </a:solidFill>
              </a:rPr>
              <a:t/>
            </a:r>
            <a:br>
              <a:rPr lang="bg-BG"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r>
              <a:rPr lang="en-US" smtClean="0">
                <a:solidFill>
                  <a:schemeClr val="tx2">
                    <a:satMod val="130000"/>
                  </a:schemeClr>
                </a:solidFill>
              </a:rPr>
              <a:t/>
            </a:r>
            <a:br>
              <a:rPr lang="en-US" smtClean="0">
                <a:solidFill>
                  <a:schemeClr val="tx2">
                    <a:satMod val="130000"/>
                  </a:schemeClr>
                </a:solidFill>
              </a:rPr>
            </a:br>
            <a:endParaRPr lang="en-US" smtClean="0">
              <a:solidFill>
                <a:schemeClr val="tx2">
                  <a:satMod val="130000"/>
                </a:schemeClr>
              </a:solidFill>
            </a:endParaRPr>
          </a:p>
        </p:txBody>
      </p:sp>
      <p:graphicFrame>
        <p:nvGraphicFramePr>
          <p:cNvPr id="12290" name="Object 4"/>
          <p:cNvGraphicFramePr>
            <a:graphicFrameLocks noChangeAspect="1"/>
          </p:cNvGraphicFramePr>
          <p:nvPr/>
        </p:nvGraphicFramePr>
        <p:xfrm>
          <a:off x="2514600" y="2209800"/>
          <a:ext cx="4194175" cy="4310063"/>
        </p:xfrm>
        <a:graphic>
          <a:graphicData uri="http://schemas.openxmlformats.org/presentationml/2006/ole">
            <mc:AlternateContent xmlns:mc="http://schemas.openxmlformats.org/markup-compatibility/2006">
              <mc:Choice xmlns:v="urn:schemas-microsoft-com:vml" Requires="v">
                <p:oleObj spid="_x0000_s12293" name="Worksheet" r:id="rId3" imgW="1711080" imgH="1762200" progId="Excel.Sheet.8">
                  <p:embed/>
                </p:oleObj>
              </mc:Choice>
              <mc:Fallback>
                <p:oleObj name="Worksheet" r:id="rId3" imgW="1711080" imgH="1762200"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209800"/>
                        <a:ext cx="4194175" cy="431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2" name="Line 6"/>
          <p:cNvSpPr>
            <a:spLocks noChangeShapeType="1"/>
          </p:cNvSpPr>
          <p:nvPr/>
        </p:nvSpPr>
        <p:spPr bwMode="auto">
          <a:xfrm>
            <a:off x="2514600" y="2209800"/>
            <a:ext cx="4191000" cy="0"/>
          </a:xfrm>
          <a:prstGeom prst="line">
            <a:avLst/>
          </a:prstGeom>
          <a:noFill/>
          <a:ln w="57150">
            <a:solidFill>
              <a:schemeClr val="tx1"/>
            </a:solidFill>
            <a:round/>
            <a:headEnd/>
            <a:tailEnd/>
          </a:ln>
        </p:spPr>
        <p:txBody>
          <a:bodyPr wrap="none" anchor="ctr"/>
          <a:lstStyle/>
          <a:p>
            <a:endParaRPr lang="bg-BG"/>
          </a:p>
        </p:txBody>
      </p:sp>
      <p:sp>
        <p:nvSpPr>
          <p:cNvPr id="12293" name="Line 7"/>
          <p:cNvSpPr>
            <a:spLocks noChangeShapeType="1"/>
          </p:cNvSpPr>
          <p:nvPr/>
        </p:nvSpPr>
        <p:spPr bwMode="auto">
          <a:xfrm>
            <a:off x="2514600" y="2209800"/>
            <a:ext cx="0" cy="4267200"/>
          </a:xfrm>
          <a:prstGeom prst="line">
            <a:avLst/>
          </a:prstGeom>
          <a:noFill/>
          <a:ln w="57150">
            <a:solidFill>
              <a:schemeClr val="tx1"/>
            </a:solidFill>
            <a:round/>
            <a:headEnd/>
            <a:tailEnd/>
          </a:ln>
        </p:spPr>
        <p:txBody>
          <a:bodyPr wrap="none" anchor="ctr"/>
          <a:lstStyle/>
          <a:p>
            <a:endParaRPr lang="bg-BG"/>
          </a:p>
        </p:txBody>
      </p:sp>
      <p:sp>
        <p:nvSpPr>
          <p:cNvPr id="12294" name="Line 8"/>
          <p:cNvSpPr>
            <a:spLocks noChangeShapeType="1"/>
          </p:cNvSpPr>
          <p:nvPr/>
        </p:nvSpPr>
        <p:spPr bwMode="auto">
          <a:xfrm flipV="1">
            <a:off x="4876800" y="2971800"/>
            <a:ext cx="0" cy="1066800"/>
          </a:xfrm>
          <a:prstGeom prst="line">
            <a:avLst/>
          </a:prstGeom>
          <a:noFill/>
          <a:ln w="9525">
            <a:solidFill>
              <a:schemeClr val="accent2"/>
            </a:solidFill>
            <a:round/>
            <a:headEnd/>
            <a:tailEnd/>
          </a:ln>
        </p:spPr>
        <p:txBody>
          <a:bodyPr wrap="none" anchor="ctr"/>
          <a:lstStyle/>
          <a:p>
            <a:endParaRPr lang="bg-BG"/>
          </a:p>
        </p:txBody>
      </p:sp>
      <p:sp>
        <p:nvSpPr>
          <p:cNvPr id="12295" name="Line 9"/>
          <p:cNvSpPr>
            <a:spLocks noChangeShapeType="1"/>
          </p:cNvSpPr>
          <p:nvPr/>
        </p:nvSpPr>
        <p:spPr bwMode="auto">
          <a:xfrm>
            <a:off x="4876800" y="2971800"/>
            <a:ext cx="457200" cy="0"/>
          </a:xfrm>
          <a:prstGeom prst="line">
            <a:avLst/>
          </a:prstGeom>
          <a:noFill/>
          <a:ln w="9525">
            <a:solidFill>
              <a:schemeClr val="accent2"/>
            </a:solidFill>
            <a:round/>
            <a:headEnd/>
            <a:tailEnd type="triangle" w="med" len="med"/>
          </a:ln>
        </p:spPr>
        <p:txBody>
          <a:bodyPr wrap="none" anchor="ctr"/>
          <a:lstStyle/>
          <a:p>
            <a:endParaRPr lang="bg-BG"/>
          </a:p>
        </p:txBody>
      </p:sp>
      <p:sp>
        <p:nvSpPr>
          <p:cNvPr id="12296" name="Line 10"/>
          <p:cNvSpPr>
            <a:spLocks noChangeShapeType="1"/>
          </p:cNvSpPr>
          <p:nvPr/>
        </p:nvSpPr>
        <p:spPr bwMode="auto">
          <a:xfrm>
            <a:off x="4876800" y="4038600"/>
            <a:ext cx="990600" cy="0"/>
          </a:xfrm>
          <a:prstGeom prst="line">
            <a:avLst/>
          </a:prstGeom>
          <a:noFill/>
          <a:ln w="9525">
            <a:solidFill>
              <a:schemeClr val="accent2"/>
            </a:solidFill>
            <a:round/>
            <a:headEnd/>
            <a:tailEnd/>
          </a:ln>
        </p:spPr>
        <p:txBody>
          <a:bodyPr wrap="none" anchor="ctr"/>
          <a:lstStyle/>
          <a:p>
            <a:endParaRPr lang="bg-BG"/>
          </a:p>
        </p:txBody>
      </p:sp>
      <p:sp>
        <p:nvSpPr>
          <p:cNvPr id="12297" name="Line 11"/>
          <p:cNvSpPr>
            <a:spLocks noChangeShapeType="1"/>
          </p:cNvSpPr>
          <p:nvPr/>
        </p:nvSpPr>
        <p:spPr bwMode="auto">
          <a:xfrm flipV="1">
            <a:off x="5867400" y="3505200"/>
            <a:ext cx="0" cy="533400"/>
          </a:xfrm>
          <a:prstGeom prst="line">
            <a:avLst/>
          </a:prstGeom>
          <a:noFill/>
          <a:ln w="9525">
            <a:solidFill>
              <a:schemeClr val="accent2"/>
            </a:solidFill>
            <a:round/>
            <a:headEnd/>
            <a:tailEnd type="triangle" w="med" len="med"/>
          </a:ln>
        </p:spPr>
        <p:txBody>
          <a:bodyPr wrap="none" anchor="ctr"/>
          <a:lstStyle/>
          <a:p>
            <a:endParaRPr lang="bg-BG"/>
          </a:p>
        </p:txBody>
      </p:sp>
      <p:sp>
        <p:nvSpPr>
          <p:cNvPr id="12298" name="Line 12"/>
          <p:cNvSpPr>
            <a:spLocks noChangeShapeType="1"/>
          </p:cNvSpPr>
          <p:nvPr/>
        </p:nvSpPr>
        <p:spPr bwMode="auto">
          <a:xfrm>
            <a:off x="4876800" y="4114800"/>
            <a:ext cx="990600" cy="0"/>
          </a:xfrm>
          <a:prstGeom prst="line">
            <a:avLst/>
          </a:prstGeom>
          <a:noFill/>
          <a:ln w="9525">
            <a:solidFill>
              <a:schemeClr val="accent2"/>
            </a:solidFill>
            <a:round/>
            <a:headEnd/>
            <a:tailEnd/>
          </a:ln>
        </p:spPr>
        <p:txBody>
          <a:bodyPr wrap="none" anchor="ctr"/>
          <a:lstStyle/>
          <a:p>
            <a:endParaRPr lang="bg-BG"/>
          </a:p>
        </p:txBody>
      </p:sp>
      <p:sp>
        <p:nvSpPr>
          <p:cNvPr id="12299" name="Line 13"/>
          <p:cNvSpPr>
            <a:spLocks noChangeShapeType="1"/>
          </p:cNvSpPr>
          <p:nvPr/>
        </p:nvSpPr>
        <p:spPr bwMode="auto">
          <a:xfrm>
            <a:off x="5867400" y="4114800"/>
            <a:ext cx="0" cy="457200"/>
          </a:xfrm>
          <a:prstGeom prst="line">
            <a:avLst/>
          </a:prstGeom>
          <a:noFill/>
          <a:ln w="9525">
            <a:solidFill>
              <a:schemeClr val="accent2"/>
            </a:solidFill>
            <a:round/>
            <a:headEnd/>
            <a:tailEnd type="triangle" w="med" len="med"/>
          </a:ln>
        </p:spPr>
        <p:txBody>
          <a:bodyPr wrap="none" anchor="ctr"/>
          <a:lstStyle/>
          <a:p>
            <a:endParaRPr lang="bg-BG"/>
          </a:p>
        </p:txBody>
      </p:sp>
      <p:sp>
        <p:nvSpPr>
          <p:cNvPr id="12300" name="Line 14"/>
          <p:cNvSpPr>
            <a:spLocks noChangeShapeType="1"/>
          </p:cNvSpPr>
          <p:nvPr/>
        </p:nvSpPr>
        <p:spPr bwMode="auto">
          <a:xfrm>
            <a:off x="4876800" y="4114800"/>
            <a:ext cx="0" cy="990600"/>
          </a:xfrm>
          <a:prstGeom prst="line">
            <a:avLst/>
          </a:prstGeom>
          <a:noFill/>
          <a:ln w="9525">
            <a:solidFill>
              <a:schemeClr val="accent2"/>
            </a:solidFill>
            <a:round/>
            <a:headEnd/>
            <a:tailEnd/>
          </a:ln>
        </p:spPr>
        <p:txBody>
          <a:bodyPr wrap="none" anchor="ctr"/>
          <a:lstStyle/>
          <a:p>
            <a:endParaRPr lang="bg-BG"/>
          </a:p>
        </p:txBody>
      </p:sp>
      <p:sp>
        <p:nvSpPr>
          <p:cNvPr id="12301" name="Line 15"/>
          <p:cNvSpPr>
            <a:spLocks noChangeShapeType="1"/>
          </p:cNvSpPr>
          <p:nvPr/>
        </p:nvSpPr>
        <p:spPr bwMode="auto">
          <a:xfrm>
            <a:off x="4876800" y="5105400"/>
            <a:ext cx="457200" cy="0"/>
          </a:xfrm>
          <a:prstGeom prst="line">
            <a:avLst/>
          </a:prstGeom>
          <a:noFill/>
          <a:ln w="9525">
            <a:solidFill>
              <a:schemeClr val="accent2"/>
            </a:solidFill>
            <a:round/>
            <a:headEnd/>
            <a:tailEnd type="triangle" w="med" len="med"/>
          </a:ln>
        </p:spPr>
        <p:txBody>
          <a:bodyPr wrap="none" anchor="ctr"/>
          <a:lstStyle/>
          <a:p>
            <a:endParaRPr lang="bg-BG"/>
          </a:p>
        </p:txBody>
      </p:sp>
      <p:sp>
        <p:nvSpPr>
          <p:cNvPr id="12302" name="Line 16"/>
          <p:cNvSpPr>
            <a:spLocks noChangeShapeType="1"/>
          </p:cNvSpPr>
          <p:nvPr/>
        </p:nvSpPr>
        <p:spPr bwMode="auto">
          <a:xfrm>
            <a:off x="4800600" y="4114800"/>
            <a:ext cx="0" cy="990600"/>
          </a:xfrm>
          <a:prstGeom prst="line">
            <a:avLst/>
          </a:prstGeom>
          <a:noFill/>
          <a:ln w="9525">
            <a:solidFill>
              <a:schemeClr val="accent2"/>
            </a:solidFill>
            <a:round/>
            <a:headEnd/>
            <a:tailEnd/>
          </a:ln>
        </p:spPr>
        <p:txBody>
          <a:bodyPr wrap="none" anchor="ctr"/>
          <a:lstStyle/>
          <a:p>
            <a:endParaRPr lang="bg-BG"/>
          </a:p>
        </p:txBody>
      </p:sp>
      <p:sp>
        <p:nvSpPr>
          <p:cNvPr id="12303" name="Line 18"/>
          <p:cNvSpPr>
            <a:spLocks noChangeShapeType="1"/>
          </p:cNvSpPr>
          <p:nvPr/>
        </p:nvSpPr>
        <p:spPr bwMode="auto">
          <a:xfrm flipH="1">
            <a:off x="4267200" y="5105400"/>
            <a:ext cx="533400" cy="0"/>
          </a:xfrm>
          <a:prstGeom prst="line">
            <a:avLst/>
          </a:prstGeom>
          <a:noFill/>
          <a:ln w="9525">
            <a:solidFill>
              <a:schemeClr val="accent2"/>
            </a:solidFill>
            <a:round/>
            <a:headEnd/>
            <a:tailEnd type="triangle" w="med" len="med"/>
          </a:ln>
        </p:spPr>
        <p:txBody>
          <a:bodyPr wrap="none" anchor="ctr"/>
          <a:lstStyle/>
          <a:p>
            <a:endParaRPr lang="bg-BG"/>
          </a:p>
        </p:txBody>
      </p:sp>
      <p:sp>
        <p:nvSpPr>
          <p:cNvPr id="12304" name="Line 19"/>
          <p:cNvSpPr>
            <a:spLocks noChangeShapeType="1"/>
          </p:cNvSpPr>
          <p:nvPr/>
        </p:nvSpPr>
        <p:spPr bwMode="auto">
          <a:xfrm flipH="1">
            <a:off x="3810000" y="4114800"/>
            <a:ext cx="914400" cy="0"/>
          </a:xfrm>
          <a:prstGeom prst="line">
            <a:avLst/>
          </a:prstGeom>
          <a:noFill/>
          <a:ln w="9525">
            <a:solidFill>
              <a:schemeClr val="accent2"/>
            </a:solidFill>
            <a:round/>
            <a:headEnd/>
            <a:tailEnd/>
          </a:ln>
        </p:spPr>
        <p:txBody>
          <a:bodyPr wrap="none" anchor="ctr"/>
          <a:lstStyle/>
          <a:p>
            <a:endParaRPr lang="bg-BG"/>
          </a:p>
        </p:txBody>
      </p:sp>
      <p:sp>
        <p:nvSpPr>
          <p:cNvPr id="12305" name="Line 20"/>
          <p:cNvSpPr>
            <a:spLocks noChangeShapeType="1"/>
          </p:cNvSpPr>
          <p:nvPr/>
        </p:nvSpPr>
        <p:spPr bwMode="auto">
          <a:xfrm>
            <a:off x="3810000" y="4114800"/>
            <a:ext cx="0" cy="457200"/>
          </a:xfrm>
          <a:prstGeom prst="line">
            <a:avLst/>
          </a:prstGeom>
          <a:noFill/>
          <a:ln w="9525">
            <a:solidFill>
              <a:schemeClr val="accent2"/>
            </a:solidFill>
            <a:round/>
            <a:headEnd/>
            <a:tailEnd type="triangle" w="med" len="med"/>
          </a:ln>
        </p:spPr>
        <p:txBody>
          <a:bodyPr wrap="none" anchor="ctr"/>
          <a:lstStyle/>
          <a:p>
            <a:endParaRPr lang="bg-BG"/>
          </a:p>
        </p:txBody>
      </p:sp>
      <p:sp>
        <p:nvSpPr>
          <p:cNvPr id="12306" name="Line 23"/>
          <p:cNvSpPr>
            <a:spLocks noChangeShapeType="1"/>
          </p:cNvSpPr>
          <p:nvPr/>
        </p:nvSpPr>
        <p:spPr bwMode="auto">
          <a:xfrm flipH="1">
            <a:off x="3810000" y="4038600"/>
            <a:ext cx="914400" cy="0"/>
          </a:xfrm>
          <a:prstGeom prst="line">
            <a:avLst/>
          </a:prstGeom>
          <a:noFill/>
          <a:ln w="9525">
            <a:solidFill>
              <a:schemeClr val="accent2"/>
            </a:solidFill>
            <a:round/>
            <a:headEnd/>
            <a:tailEnd/>
          </a:ln>
        </p:spPr>
        <p:txBody>
          <a:bodyPr wrap="none" anchor="ctr"/>
          <a:lstStyle/>
          <a:p>
            <a:endParaRPr lang="bg-BG"/>
          </a:p>
        </p:txBody>
      </p:sp>
      <p:sp>
        <p:nvSpPr>
          <p:cNvPr id="12307" name="Line 24"/>
          <p:cNvSpPr>
            <a:spLocks noChangeShapeType="1"/>
          </p:cNvSpPr>
          <p:nvPr/>
        </p:nvSpPr>
        <p:spPr bwMode="auto">
          <a:xfrm flipV="1">
            <a:off x="3810000" y="3581400"/>
            <a:ext cx="0" cy="457200"/>
          </a:xfrm>
          <a:prstGeom prst="line">
            <a:avLst/>
          </a:prstGeom>
          <a:noFill/>
          <a:ln w="9525">
            <a:solidFill>
              <a:schemeClr val="accent2"/>
            </a:solidFill>
            <a:round/>
            <a:headEnd/>
            <a:tailEnd type="triangle" w="med" len="med"/>
          </a:ln>
        </p:spPr>
        <p:txBody>
          <a:bodyPr wrap="none" anchor="ctr"/>
          <a:lstStyle/>
          <a:p>
            <a:endParaRPr lang="bg-BG"/>
          </a:p>
        </p:txBody>
      </p:sp>
      <p:sp>
        <p:nvSpPr>
          <p:cNvPr id="12308" name="Line 25"/>
          <p:cNvSpPr>
            <a:spLocks noChangeShapeType="1"/>
          </p:cNvSpPr>
          <p:nvPr/>
        </p:nvSpPr>
        <p:spPr bwMode="auto">
          <a:xfrm flipV="1">
            <a:off x="4800600" y="2971800"/>
            <a:ext cx="0" cy="1066800"/>
          </a:xfrm>
          <a:prstGeom prst="line">
            <a:avLst/>
          </a:prstGeom>
          <a:noFill/>
          <a:ln w="9525">
            <a:solidFill>
              <a:schemeClr val="accent2"/>
            </a:solidFill>
            <a:round/>
            <a:headEnd/>
            <a:tailEnd/>
          </a:ln>
        </p:spPr>
        <p:txBody>
          <a:bodyPr wrap="none" anchor="ctr"/>
          <a:lstStyle/>
          <a:p>
            <a:endParaRPr lang="bg-BG"/>
          </a:p>
        </p:txBody>
      </p:sp>
      <p:sp>
        <p:nvSpPr>
          <p:cNvPr id="12309" name="Line 26"/>
          <p:cNvSpPr>
            <a:spLocks noChangeShapeType="1"/>
          </p:cNvSpPr>
          <p:nvPr/>
        </p:nvSpPr>
        <p:spPr bwMode="auto">
          <a:xfrm flipH="1">
            <a:off x="4267200" y="2971800"/>
            <a:ext cx="533400" cy="0"/>
          </a:xfrm>
          <a:prstGeom prst="line">
            <a:avLst/>
          </a:prstGeom>
          <a:noFill/>
          <a:ln w="9525">
            <a:solidFill>
              <a:schemeClr val="accent2"/>
            </a:solidFill>
            <a:round/>
            <a:headEnd/>
            <a:tailEnd type="triangle" w="med" len="med"/>
          </a:ln>
        </p:spPr>
        <p:txBody>
          <a:bodyPr wrap="none" anchor="ctr"/>
          <a:lstStyle/>
          <a:p>
            <a:endParaRPr lang="bg-BG"/>
          </a:p>
        </p:txBody>
      </p:sp>
      <p:sp>
        <p:nvSpPr>
          <p:cNvPr id="12310" name="Text Box 27"/>
          <p:cNvSpPr txBox="1">
            <a:spLocks noChangeArrowheads="1"/>
          </p:cNvSpPr>
          <p:nvPr/>
        </p:nvSpPr>
        <p:spPr bwMode="auto">
          <a:xfrm>
            <a:off x="1981200" y="3886200"/>
            <a:ext cx="381000" cy="457200"/>
          </a:xfrm>
          <a:prstGeom prst="rect">
            <a:avLst/>
          </a:prstGeom>
          <a:noFill/>
          <a:ln w="9525">
            <a:noFill/>
            <a:miter lim="800000"/>
            <a:headEnd/>
            <a:tailEnd/>
          </a:ln>
        </p:spPr>
        <p:txBody>
          <a:bodyPr>
            <a:spAutoFit/>
          </a:bodyPr>
          <a:lstStyle/>
          <a:p>
            <a:pPr>
              <a:spcBef>
                <a:spcPct val="50000"/>
              </a:spcBef>
            </a:pPr>
            <a:r>
              <a:rPr lang="en-US"/>
              <a:t>i</a:t>
            </a:r>
          </a:p>
        </p:txBody>
      </p:sp>
      <p:sp>
        <p:nvSpPr>
          <p:cNvPr id="12311" name="Text Box 28"/>
          <p:cNvSpPr txBox="1">
            <a:spLocks noChangeArrowheads="1"/>
          </p:cNvSpPr>
          <p:nvPr/>
        </p:nvSpPr>
        <p:spPr bwMode="auto">
          <a:xfrm>
            <a:off x="4648200" y="1676400"/>
            <a:ext cx="533400" cy="457200"/>
          </a:xfrm>
          <a:prstGeom prst="rect">
            <a:avLst/>
          </a:prstGeom>
          <a:noFill/>
          <a:ln w="9525">
            <a:noFill/>
            <a:miter lim="800000"/>
            <a:headEnd/>
            <a:tailEnd/>
          </a:ln>
        </p:spPr>
        <p:txBody>
          <a:bodyPr>
            <a:spAutoFit/>
          </a:bodyPr>
          <a:lstStyle/>
          <a:p>
            <a:pPr>
              <a:spcBef>
                <a:spcPct val="50000"/>
              </a:spcBef>
            </a:pPr>
            <a:r>
              <a:rPr lang="en-US"/>
              <a:t>j</a:t>
            </a:r>
          </a:p>
        </p:txBody>
      </p:sp>
      <p:sp>
        <p:nvSpPr>
          <p:cNvPr id="12312" name="Text Box 29"/>
          <p:cNvSpPr txBox="1">
            <a:spLocks noChangeArrowheads="1"/>
          </p:cNvSpPr>
          <p:nvPr/>
        </p:nvSpPr>
        <p:spPr bwMode="auto">
          <a:xfrm>
            <a:off x="5283200" y="2819400"/>
            <a:ext cx="304800" cy="457200"/>
          </a:xfrm>
          <a:prstGeom prst="rect">
            <a:avLst/>
          </a:prstGeom>
          <a:noFill/>
          <a:ln w="9525">
            <a:noFill/>
            <a:miter lim="800000"/>
            <a:headEnd/>
            <a:tailEnd/>
          </a:ln>
        </p:spPr>
        <p:txBody>
          <a:bodyPr>
            <a:spAutoFit/>
          </a:bodyPr>
          <a:lstStyle/>
          <a:p>
            <a:pPr>
              <a:spcBef>
                <a:spcPct val="50000"/>
              </a:spcBef>
            </a:pPr>
            <a:r>
              <a:rPr lang="en-US"/>
              <a:t>0</a:t>
            </a:r>
          </a:p>
        </p:txBody>
      </p:sp>
      <p:sp>
        <p:nvSpPr>
          <p:cNvPr id="12313" name="Text Box 30"/>
          <p:cNvSpPr txBox="1">
            <a:spLocks noChangeArrowheads="1"/>
          </p:cNvSpPr>
          <p:nvPr/>
        </p:nvSpPr>
        <p:spPr bwMode="auto">
          <a:xfrm>
            <a:off x="5867400" y="3352800"/>
            <a:ext cx="304800" cy="457200"/>
          </a:xfrm>
          <a:prstGeom prst="rect">
            <a:avLst/>
          </a:prstGeom>
          <a:noFill/>
          <a:ln w="9525">
            <a:noFill/>
            <a:miter lim="800000"/>
            <a:headEnd/>
            <a:tailEnd/>
          </a:ln>
        </p:spPr>
        <p:txBody>
          <a:bodyPr>
            <a:spAutoFit/>
          </a:bodyPr>
          <a:lstStyle/>
          <a:p>
            <a:pPr>
              <a:spcBef>
                <a:spcPct val="50000"/>
              </a:spcBef>
            </a:pPr>
            <a:r>
              <a:rPr lang="en-US"/>
              <a:t>1</a:t>
            </a:r>
          </a:p>
        </p:txBody>
      </p:sp>
      <p:sp>
        <p:nvSpPr>
          <p:cNvPr id="12314" name="Text Box 31"/>
          <p:cNvSpPr txBox="1">
            <a:spLocks noChangeArrowheads="1"/>
          </p:cNvSpPr>
          <p:nvPr/>
        </p:nvSpPr>
        <p:spPr bwMode="auto">
          <a:xfrm>
            <a:off x="5867400" y="4394200"/>
            <a:ext cx="304800" cy="457200"/>
          </a:xfrm>
          <a:prstGeom prst="rect">
            <a:avLst/>
          </a:prstGeom>
          <a:noFill/>
          <a:ln w="9525">
            <a:noFill/>
            <a:miter lim="800000"/>
            <a:headEnd/>
            <a:tailEnd/>
          </a:ln>
        </p:spPr>
        <p:txBody>
          <a:bodyPr>
            <a:spAutoFit/>
          </a:bodyPr>
          <a:lstStyle/>
          <a:p>
            <a:pPr>
              <a:spcBef>
                <a:spcPct val="50000"/>
              </a:spcBef>
            </a:pPr>
            <a:r>
              <a:rPr lang="en-US"/>
              <a:t>2</a:t>
            </a:r>
          </a:p>
        </p:txBody>
      </p:sp>
      <p:sp>
        <p:nvSpPr>
          <p:cNvPr id="12315" name="Text Box 32"/>
          <p:cNvSpPr txBox="1">
            <a:spLocks noChangeArrowheads="1"/>
          </p:cNvSpPr>
          <p:nvPr/>
        </p:nvSpPr>
        <p:spPr bwMode="auto">
          <a:xfrm>
            <a:off x="5308600" y="4953000"/>
            <a:ext cx="304800" cy="457200"/>
          </a:xfrm>
          <a:prstGeom prst="rect">
            <a:avLst/>
          </a:prstGeom>
          <a:noFill/>
          <a:ln w="9525">
            <a:noFill/>
            <a:miter lim="800000"/>
            <a:headEnd/>
            <a:tailEnd/>
          </a:ln>
        </p:spPr>
        <p:txBody>
          <a:bodyPr>
            <a:spAutoFit/>
          </a:bodyPr>
          <a:lstStyle/>
          <a:p>
            <a:pPr>
              <a:spcBef>
                <a:spcPct val="50000"/>
              </a:spcBef>
            </a:pPr>
            <a:r>
              <a:rPr lang="en-US"/>
              <a:t>3</a:t>
            </a:r>
          </a:p>
        </p:txBody>
      </p:sp>
      <p:sp>
        <p:nvSpPr>
          <p:cNvPr id="12316" name="Text Box 33"/>
          <p:cNvSpPr txBox="1">
            <a:spLocks noChangeArrowheads="1"/>
          </p:cNvSpPr>
          <p:nvPr/>
        </p:nvSpPr>
        <p:spPr bwMode="auto">
          <a:xfrm>
            <a:off x="4013200" y="4953000"/>
            <a:ext cx="304800" cy="457200"/>
          </a:xfrm>
          <a:prstGeom prst="rect">
            <a:avLst/>
          </a:prstGeom>
          <a:noFill/>
          <a:ln w="9525">
            <a:noFill/>
            <a:miter lim="800000"/>
            <a:headEnd/>
            <a:tailEnd/>
          </a:ln>
        </p:spPr>
        <p:txBody>
          <a:bodyPr>
            <a:spAutoFit/>
          </a:bodyPr>
          <a:lstStyle/>
          <a:p>
            <a:pPr>
              <a:spcBef>
                <a:spcPct val="50000"/>
              </a:spcBef>
            </a:pPr>
            <a:r>
              <a:rPr lang="en-US"/>
              <a:t>4</a:t>
            </a:r>
          </a:p>
        </p:txBody>
      </p:sp>
      <p:sp>
        <p:nvSpPr>
          <p:cNvPr id="12317" name="Text Box 34"/>
          <p:cNvSpPr txBox="1">
            <a:spLocks noChangeArrowheads="1"/>
          </p:cNvSpPr>
          <p:nvPr/>
        </p:nvSpPr>
        <p:spPr bwMode="auto">
          <a:xfrm>
            <a:off x="3505200" y="4419600"/>
            <a:ext cx="304800" cy="457200"/>
          </a:xfrm>
          <a:prstGeom prst="rect">
            <a:avLst/>
          </a:prstGeom>
          <a:noFill/>
          <a:ln w="9525">
            <a:noFill/>
            <a:miter lim="800000"/>
            <a:headEnd/>
            <a:tailEnd/>
          </a:ln>
        </p:spPr>
        <p:txBody>
          <a:bodyPr>
            <a:spAutoFit/>
          </a:bodyPr>
          <a:lstStyle/>
          <a:p>
            <a:pPr>
              <a:spcBef>
                <a:spcPct val="50000"/>
              </a:spcBef>
            </a:pPr>
            <a:r>
              <a:rPr lang="en-US"/>
              <a:t>5</a:t>
            </a:r>
          </a:p>
        </p:txBody>
      </p:sp>
      <p:sp>
        <p:nvSpPr>
          <p:cNvPr id="12318" name="Text Box 35"/>
          <p:cNvSpPr txBox="1">
            <a:spLocks noChangeArrowheads="1"/>
          </p:cNvSpPr>
          <p:nvPr/>
        </p:nvSpPr>
        <p:spPr bwMode="auto">
          <a:xfrm>
            <a:off x="3530600" y="3327400"/>
            <a:ext cx="304800" cy="457200"/>
          </a:xfrm>
          <a:prstGeom prst="rect">
            <a:avLst/>
          </a:prstGeom>
          <a:noFill/>
          <a:ln w="9525">
            <a:noFill/>
            <a:miter lim="800000"/>
            <a:headEnd/>
            <a:tailEnd/>
          </a:ln>
        </p:spPr>
        <p:txBody>
          <a:bodyPr>
            <a:spAutoFit/>
          </a:bodyPr>
          <a:lstStyle/>
          <a:p>
            <a:pPr>
              <a:spcBef>
                <a:spcPct val="50000"/>
              </a:spcBef>
            </a:pPr>
            <a:r>
              <a:rPr lang="en-US"/>
              <a:t>6</a:t>
            </a:r>
          </a:p>
        </p:txBody>
      </p:sp>
      <p:sp>
        <p:nvSpPr>
          <p:cNvPr id="12319" name="Oval 36"/>
          <p:cNvSpPr>
            <a:spLocks noChangeArrowheads="1"/>
          </p:cNvSpPr>
          <p:nvPr/>
        </p:nvSpPr>
        <p:spPr bwMode="auto">
          <a:xfrm>
            <a:off x="4724400" y="3937000"/>
            <a:ext cx="228600" cy="228600"/>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12320" name="Text Box 37"/>
          <p:cNvSpPr txBox="1">
            <a:spLocks noChangeArrowheads="1"/>
          </p:cNvSpPr>
          <p:nvPr/>
        </p:nvSpPr>
        <p:spPr bwMode="auto">
          <a:xfrm>
            <a:off x="4013200" y="2819400"/>
            <a:ext cx="304800" cy="457200"/>
          </a:xfrm>
          <a:prstGeom prst="rect">
            <a:avLst/>
          </a:prstGeom>
          <a:noFill/>
          <a:ln w="9525">
            <a:noFill/>
            <a:miter lim="800000"/>
            <a:headEnd/>
            <a:tailEnd/>
          </a:ln>
        </p:spPr>
        <p:txBody>
          <a:bodyPr>
            <a:spAutoFit/>
          </a:bodyPr>
          <a:lstStyle/>
          <a:p>
            <a:pPr>
              <a:spcBef>
                <a:spcPct val="50000"/>
              </a:spcBef>
            </a:pPr>
            <a:r>
              <a:rPr lang="en-US"/>
              <a:t>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p:cNvSpPr>
            <a:spLocks noChangeArrowheads="1"/>
          </p:cNvSpPr>
          <p:nvPr/>
        </p:nvSpPr>
        <p:spPr bwMode="auto">
          <a:xfrm>
            <a:off x="1475656" y="117475"/>
            <a:ext cx="6696099" cy="6740525"/>
          </a:xfrm>
          <a:prstGeom prst="rect">
            <a:avLst/>
          </a:prstGeom>
          <a:noFill/>
          <a:ln w="9525">
            <a:noFill/>
            <a:miter lim="800000"/>
            <a:headEnd/>
            <a:tailEnd/>
          </a:ln>
        </p:spPr>
        <p:txBody>
          <a:bodyPr wrap="square" anchor="ctr">
            <a:spAutoFit/>
          </a:bodyPr>
          <a:lstStyle/>
          <a:p>
            <a:r>
              <a:rPr lang="bg-BG" dirty="0"/>
              <a:t>Реализация:</a:t>
            </a:r>
          </a:p>
          <a:p>
            <a:endParaRPr lang="bg-BG" dirty="0"/>
          </a:p>
          <a:p>
            <a:r>
              <a:rPr lang="bg-BG" dirty="0"/>
              <a:t>#</a:t>
            </a:r>
            <a:r>
              <a:rPr lang="bg-BG" dirty="0" err="1"/>
              <a:t>include</a:t>
            </a:r>
            <a:r>
              <a:rPr lang="bg-BG" dirty="0"/>
              <a:t> &lt;</a:t>
            </a:r>
            <a:r>
              <a:rPr lang="bg-BG" dirty="0" err="1"/>
              <a:t>iostream</a:t>
            </a:r>
            <a:r>
              <a:rPr lang="bg-BG" dirty="0"/>
              <a:t>&gt;</a:t>
            </a:r>
            <a:endParaRPr lang="en-US" dirty="0"/>
          </a:p>
          <a:p>
            <a:r>
              <a:rPr lang="en-US" dirty="0">
                <a:cs typeface="Times New Roman" pitchFamily="18" charset="0"/>
              </a:rPr>
              <a:t>using namespace std;</a:t>
            </a:r>
            <a:endParaRPr lang="bg-BG" dirty="0">
              <a:cs typeface="Times New Roman" pitchFamily="18" charset="0"/>
            </a:endParaRPr>
          </a:p>
          <a:p>
            <a:r>
              <a:rPr lang="bg-BG" dirty="0"/>
              <a:t>#</a:t>
            </a:r>
            <a:r>
              <a:rPr lang="bg-BG" dirty="0" err="1"/>
              <a:t>include</a:t>
            </a:r>
            <a:r>
              <a:rPr lang="bg-BG" dirty="0"/>
              <a:t> &lt;</a:t>
            </a:r>
            <a:r>
              <a:rPr lang="bg-BG" dirty="0" err="1"/>
              <a:t>iomanip</a:t>
            </a:r>
            <a:r>
              <a:rPr lang="bg-BG" dirty="0"/>
              <a:t>.h&gt;</a:t>
            </a:r>
          </a:p>
          <a:p>
            <a:r>
              <a:rPr lang="bg-BG" dirty="0" err="1"/>
              <a:t>void</a:t>
            </a:r>
            <a:r>
              <a:rPr lang="bg-BG" dirty="0"/>
              <a:t> </a:t>
            </a:r>
            <a:r>
              <a:rPr lang="bg-BG" dirty="0" err="1"/>
              <a:t>print</a:t>
            </a:r>
            <a:r>
              <a:rPr lang="bg-BG" dirty="0"/>
              <a:t>();</a:t>
            </a:r>
          </a:p>
          <a:p>
            <a:r>
              <a:rPr lang="bg-BG" dirty="0" err="1"/>
              <a:t>bool</a:t>
            </a:r>
            <a:r>
              <a:rPr lang="bg-BG" dirty="0"/>
              <a:t> </a:t>
            </a:r>
            <a:r>
              <a:rPr lang="bg-BG" dirty="0" err="1"/>
              <a:t>opit</a:t>
            </a:r>
            <a:r>
              <a:rPr lang="bg-BG" dirty="0"/>
              <a:t>(</a:t>
            </a:r>
            <a:r>
              <a:rPr lang="bg-BG" dirty="0" err="1"/>
              <a:t>int</a:t>
            </a:r>
            <a:r>
              <a:rPr lang="bg-BG" dirty="0"/>
              <a:t> </a:t>
            </a:r>
            <a:r>
              <a:rPr lang="bg-BG" dirty="0" err="1"/>
              <a:t>ibr</a:t>
            </a:r>
            <a:r>
              <a:rPr lang="bg-BG" dirty="0"/>
              <a:t>,</a:t>
            </a:r>
            <a:r>
              <a:rPr lang="bg-BG" dirty="0" err="1"/>
              <a:t>int</a:t>
            </a:r>
            <a:r>
              <a:rPr lang="bg-BG" dirty="0"/>
              <a:t> x,</a:t>
            </a:r>
            <a:r>
              <a:rPr lang="bg-BG" dirty="0" err="1"/>
              <a:t>int</a:t>
            </a:r>
            <a:r>
              <a:rPr lang="bg-BG" dirty="0"/>
              <a:t> y);</a:t>
            </a:r>
          </a:p>
          <a:p>
            <a:r>
              <a:rPr lang="bg-BG" dirty="0" err="1"/>
              <a:t>const</a:t>
            </a:r>
            <a:r>
              <a:rPr lang="bg-BG" dirty="0"/>
              <a:t> </a:t>
            </a:r>
            <a:r>
              <a:rPr lang="bg-BG" dirty="0" err="1"/>
              <a:t>int</a:t>
            </a:r>
            <a:r>
              <a:rPr lang="bg-BG" dirty="0"/>
              <a:t> N = 5, NSQ = N*</a:t>
            </a:r>
            <a:r>
              <a:rPr lang="bg-BG" dirty="0" err="1"/>
              <a:t>N</a:t>
            </a:r>
            <a:r>
              <a:rPr lang="bg-BG" dirty="0"/>
              <a:t>;</a:t>
            </a:r>
          </a:p>
          <a:p>
            <a:r>
              <a:rPr lang="bg-BG" dirty="0" err="1"/>
              <a:t>bool</a:t>
            </a:r>
            <a:r>
              <a:rPr lang="bg-BG" dirty="0"/>
              <a:t> </a:t>
            </a:r>
            <a:r>
              <a:rPr lang="bg-BG" dirty="0" err="1"/>
              <a:t>qq</a:t>
            </a:r>
            <a:r>
              <a:rPr lang="bg-BG" dirty="0"/>
              <a:t>, q=</a:t>
            </a:r>
            <a:r>
              <a:rPr lang="bg-BG" dirty="0" err="1"/>
              <a:t>false</a:t>
            </a:r>
            <a:r>
              <a:rPr lang="bg-BG" dirty="0"/>
              <a:t>;</a:t>
            </a:r>
          </a:p>
          <a:p>
            <a:r>
              <a:rPr lang="bg-BG" dirty="0" err="1"/>
              <a:t>int</a:t>
            </a:r>
            <a:r>
              <a:rPr lang="bg-BG" dirty="0"/>
              <a:t> a[8]={2, 1, -</a:t>
            </a:r>
            <a:r>
              <a:rPr lang="bg-BG" dirty="0" err="1"/>
              <a:t>1</a:t>
            </a:r>
            <a:r>
              <a:rPr lang="bg-BG" dirty="0"/>
              <a:t>, -2, -</a:t>
            </a:r>
            <a:r>
              <a:rPr lang="bg-BG" dirty="0" err="1"/>
              <a:t>2</a:t>
            </a:r>
            <a:r>
              <a:rPr lang="bg-BG" dirty="0"/>
              <a:t>, -1,  </a:t>
            </a:r>
            <a:r>
              <a:rPr lang="bg-BG" dirty="0" err="1"/>
              <a:t>1</a:t>
            </a:r>
            <a:r>
              <a:rPr lang="bg-BG" dirty="0"/>
              <a:t>,  2};</a:t>
            </a:r>
          </a:p>
          <a:p>
            <a:r>
              <a:rPr lang="bg-BG" dirty="0" err="1"/>
              <a:t>int</a:t>
            </a:r>
            <a:r>
              <a:rPr lang="bg-BG" dirty="0"/>
              <a:t> b[8]={1, 2,  </a:t>
            </a:r>
            <a:r>
              <a:rPr lang="bg-BG" dirty="0" err="1"/>
              <a:t>2</a:t>
            </a:r>
            <a:r>
              <a:rPr lang="bg-BG" dirty="0"/>
              <a:t>,  1, -</a:t>
            </a:r>
            <a:r>
              <a:rPr lang="bg-BG" dirty="0" err="1"/>
              <a:t>1</a:t>
            </a:r>
            <a:r>
              <a:rPr lang="bg-BG" dirty="0"/>
              <a:t>, -2, -</a:t>
            </a:r>
            <a:r>
              <a:rPr lang="bg-BG" dirty="0" err="1"/>
              <a:t>2</a:t>
            </a:r>
            <a:r>
              <a:rPr lang="bg-BG" dirty="0"/>
              <a:t>, -1};</a:t>
            </a:r>
          </a:p>
          <a:p>
            <a:r>
              <a:rPr lang="bg-BG" dirty="0" err="1"/>
              <a:t>int</a:t>
            </a:r>
            <a:r>
              <a:rPr lang="bg-BG" dirty="0"/>
              <a:t> h[N][</a:t>
            </a:r>
            <a:r>
              <a:rPr lang="bg-BG" dirty="0" err="1"/>
              <a:t>N</a:t>
            </a:r>
            <a:r>
              <a:rPr lang="bg-BG" dirty="0"/>
              <a:t>];</a:t>
            </a:r>
          </a:p>
          <a:p>
            <a:r>
              <a:rPr lang="bg-BG" dirty="0" err="1"/>
              <a:t>int</a:t>
            </a:r>
            <a:r>
              <a:rPr lang="bg-BG" dirty="0"/>
              <a:t> </a:t>
            </a:r>
            <a:r>
              <a:rPr lang="bg-BG" dirty="0" err="1"/>
              <a:t>main</a:t>
            </a:r>
            <a:r>
              <a:rPr lang="bg-BG" dirty="0"/>
              <a:t>()</a:t>
            </a:r>
          </a:p>
          <a:p>
            <a:r>
              <a:rPr lang="bg-BG" dirty="0"/>
              <a:t>{	</a:t>
            </a:r>
            <a:r>
              <a:rPr lang="bg-BG" dirty="0" err="1"/>
              <a:t>int</a:t>
            </a:r>
            <a:r>
              <a:rPr lang="bg-BG" dirty="0"/>
              <a:t> i,j,</a:t>
            </a:r>
            <a:r>
              <a:rPr lang="bg-BG" dirty="0" err="1"/>
              <a:t>y_start</a:t>
            </a:r>
            <a:r>
              <a:rPr lang="bg-BG" dirty="0"/>
              <a:t>,</a:t>
            </a:r>
            <a:r>
              <a:rPr lang="bg-BG" dirty="0" err="1"/>
              <a:t>x_start</a:t>
            </a:r>
            <a:r>
              <a:rPr lang="bg-BG" dirty="0"/>
              <a:t>;</a:t>
            </a:r>
          </a:p>
          <a:p>
            <a:r>
              <a:rPr lang="bg-BG" dirty="0"/>
              <a:t>	</a:t>
            </a:r>
            <a:r>
              <a:rPr lang="bg-BG" dirty="0" err="1"/>
              <a:t>for</a:t>
            </a:r>
            <a:r>
              <a:rPr lang="bg-BG" dirty="0"/>
              <a:t> (i=0;i&lt;=N-1;</a:t>
            </a:r>
            <a:r>
              <a:rPr lang="bg-BG" dirty="0" err="1"/>
              <a:t>i++</a:t>
            </a:r>
            <a:r>
              <a:rPr lang="bg-BG" dirty="0"/>
              <a:t>)</a:t>
            </a:r>
          </a:p>
          <a:p>
            <a:r>
              <a:rPr lang="bg-BG" dirty="0"/>
              <a:t>		</a:t>
            </a:r>
            <a:r>
              <a:rPr lang="bg-BG" dirty="0" err="1"/>
              <a:t>for</a:t>
            </a:r>
            <a:r>
              <a:rPr lang="bg-BG" dirty="0"/>
              <a:t> (j=0;j&lt;=N-1;</a:t>
            </a:r>
            <a:r>
              <a:rPr lang="bg-BG" dirty="0" err="1"/>
              <a:t>j++</a:t>
            </a:r>
            <a:r>
              <a:rPr lang="bg-BG" dirty="0"/>
              <a:t>)</a:t>
            </a:r>
          </a:p>
          <a:p>
            <a:r>
              <a:rPr lang="bg-BG" dirty="0"/>
              <a:t>			h[i][j]=0;</a:t>
            </a:r>
          </a:p>
          <a:p>
            <a:r>
              <a:rPr lang="bg-BG"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ChangeArrowheads="1"/>
          </p:cNvSpPr>
          <p:nvPr/>
        </p:nvSpPr>
        <p:spPr bwMode="auto">
          <a:xfrm>
            <a:off x="971550" y="333375"/>
            <a:ext cx="7704138" cy="5934075"/>
          </a:xfrm>
          <a:prstGeom prst="rect">
            <a:avLst/>
          </a:prstGeom>
          <a:noFill/>
          <a:ln w="9525">
            <a:noFill/>
            <a:miter lim="800000"/>
            <a:headEnd/>
            <a:tailEnd/>
          </a:ln>
        </p:spPr>
        <p:txBody>
          <a:bodyPr>
            <a:spAutoFit/>
          </a:bodyPr>
          <a:lstStyle/>
          <a:p>
            <a:r>
              <a:rPr lang="bg-BG"/>
              <a:t>// N=5</a:t>
            </a:r>
          </a:p>
          <a:p>
            <a:r>
              <a:rPr lang="bg-BG"/>
              <a:t>// x_start=4; y_start=0 - OK!;</a:t>
            </a:r>
          </a:p>
          <a:p>
            <a:r>
              <a:rPr lang="bg-BG"/>
              <a:t>// x_start=0; y_start=4 - OK!;</a:t>
            </a:r>
          </a:p>
          <a:p>
            <a:r>
              <a:rPr lang="bg-BG"/>
              <a:t>// x_start=4; y_start=4 - OK!</a:t>
            </a:r>
          </a:p>
          <a:p>
            <a:r>
              <a:rPr lang="bg-BG"/>
              <a:t>// N=8</a:t>
            </a:r>
          </a:p>
          <a:p>
            <a:r>
              <a:rPr lang="bg-BG"/>
              <a:t>// x_start=0; y_start=4 - OK!;</a:t>
            </a:r>
          </a:p>
          <a:p>
            <a:endParaRPr lang="bg-BG"/>
          </a:p>
          <a:p>
            <a:r>
              <a:rPr lang="bg-BG"/>
              <a:t>cout&lt;&lt;"Enter start posiotion x_start= ";    cin&gt;&gt;x_start;</a:t>
            </a:r>
          </a:p>
          <a:p>
            <a:r>
              <a:rPr lang="bg-BG"/>
              <a:t>cout&lt;&lt;"Enter start posiotion y_start= ";    cin&gt;&gt;y_start;</a:t>
            </a:r>
          </a:p>
          <a:p>
            <a:r>
              <a:rPr lang="bg-BG"/>
              <a:t>h[y_start][x_start]=1;</a:t>
            </a:r>
          </a:p>
          <a:p>
            <a:r>
              <a:rPr lang="bg-BG"/>
              <a:t>print();</a:t>
            </a:r>
          </a:p>
          <a:p>
            <a:r>
              <a:rPr lang="bg-BG"/>
              <a:t>qq=opit(2, y_start,x_start);</a:t>
            </a:r>
          </a:p>
          <a:p>
            <a:r>
              <a:rPr lang="bg-BG"/>
              <a:t>if (qq)     print();</a:t>
            </a:r>
          </a:p>
          <a:p>
            <a:r>
              <a:rPr lang="bg-BG"/>
              <a:t>	else      cout&lt;&lt;"No solution!\n";</a:t>
            </a:r>
          </a:p>
          <a:p>
            <a:r>
              <a:rPr lang="bg-BG"/>
              <a:t>return 0;</a:t>
            </a:r>
          </a:p>
          <a:p>
            <a:r>
              <a:rPr lang="bg-BG"/>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ChangeArrowheads="1"/>
          </p:cNvSpPr>
          <p:nvPr/>
        </p:nvSpPr>
        <p:spPr bwMode="auto">
          <a:xfrm>
            <a:off x="1116013" y="836613"/>
            <a:ext cx="7200900" cy="4473575"/>
          </a:xfrm>
          <a:prstGeom prst="rect">
            <a:avLst/>
          </a:prstGeom>
          <a:noFill/>
          <a:ln w="9525">
            <a:noFill/>
            <a:miter lim="800000"/>
            <a:headEnd/>
            <a:tailEnd/>
          </a:ln>
        </p:spPr>
        <p:txBody>
          <a:bodyPr>
            <a:spAutoFit/>
          </a:bodyPr>
          <a:lstStyle/>
          <a:p>
            <a:r>
              <a:rPr lang="bg-BG"/>
              <a:t>void print()</a:t>
            </a:r>
          </a:p>
          <a:p>
            <a:r>
              <a:rPr lang="bg-BG"/>
              <a:t>{</a:t>
            </a:r>
          </a:p>
          <a:p>
            <a:r>
              <a:rPr lang="bg-BG"/>
              <a:t>	int i,j;</a:t>
            </a:r>
          </a:p>
          <a:p>
            <a:r>
              <a:rPr lang="bg-BG"/>
              <a:t>	for (i=1; i&lt;=5; i++)</a:t>
            </a:r>
          </a:p>
          <a:p>
            <a:r>
              <a:rPr lang="bg-BG"/>
              <a:t>		cout&lt;&lt;'\n';</a:t>
            </a:r>
          </a:p>
          <a:p>
            <a:r>
              <a:rPr lang="bg-BG"/>
              <a:t>	for (i=0;i&lt;=N-1;i++)</a:t>
            </a:r>
          </a:p>
          <a:p>
            <a:r>
              <a:rPr lang="bg-BG"/>
              <a:t>	{</a:t>
            </a:r>
          </a:p>
          <a:p>
            <a:r>
              <a:rPr lang="bg-BG"/>
              <a:t>		for (j=0;j&lt;=N-1;j++)</a:t>
            </a:r>
          </a:p>
          <a:p>
            <a:r>
              <a:rPr lang="bg-BG"/>
              <a:t>			cout&lt;&lt;setw(3)&lt;&lt;h[i][j]&lt;&lt;"  ";</a:t>
            </a:r>
          </a:p>
          <a:p>
            <a:r>
              <a:rPr lang="bg-BG"/>
              <a:t>	            cout&lt;&lt;'\n';</a:t>
            </a:r>
          </a:p>
          <a:p>
            <a:r>
              <a:rPr lang="bg-BG"/>
              <a:t>	}</a:t>
            </a:r>
          </a:p>
          <a:p>
            <a:r>
              <a:rPr lang="bg-BG"/>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ChangeArrowheads="1"/>
          </p:cNvSpPr>
          <p:nvPr/>
        </p:nvSpPr>
        <p:spPr bwMode="auto">
          <a:xfrm>
            <a:off x="971600" y="188640"/>
            <a:ext cx="7849368" cy="6407908"/>
          </a:xfrm>
          <a:prstGeom prst="rect">
            <a:avLst/>
          </a:prstGeom>
          <a:noFill/>
          <a:ln w="9525">
            <a:noFill/>
            <a:miter lim="800000"/>
            <a:headEnd/>
            <a:tailEnd/>
          </a:ln>
        </p:spPr>
        <p:txBody>
          <a:bodyPr wrap="square">
            <a:spAutoFit/>
          </a:bodyPr>
          <a:lstStyle/>
          <a:p>
            <a:pPr>
              <a:lnSpc>
                <a:spcPct val="90000"/>
              </a:lnSpc>
            </a:pPr>
            <a:r>
              <a:rPr lang="bg-BG" dirty="0" err="1"/>
              <a:t>bool</a:t>
            </a:r>
            <a:r>
              <a:rPr lang="bg-BG" dirty="0"/>
              <a:t> </a:t>
            </a:r>
            <a:r>
              <a:rPr lang="bg-BG" dirty="0" err="1"/>
              <a:t>opit</a:t>
            </a:r>
            <a:r>
              <a:rPr lang="bg-BG" dirty="0"/>
              <a:t>(</a:t>
            </a:r>
            <a:r>
              <a:rPr lang="bg-BG" dirty="0" err="1"/>
              <a:t>int</a:t>
            </a:r>
            <a:r>
              <a:rPr lang="bg-BG" dirty="0"/>
              <a:t> </a:t>
            </a:r>
            <a:r>
              <a:rPr lang="bg-BG" dirty="0" err="1"/>
              <a:t>ibr</a:t>
            </a:r>
            <a:r>
              <a:rPr lang="bg-BG" dirty="0"/>
              <a:t>,</a:t>
            </a:r>
            <a:r>
              <a:rPr lang="bg-BG" dirty="0" err="1"/>
              <a:t>int</a:t>
            </a:r>
            <a:r>
              <a:rPr lang="bg-BG" dirty="0"/>
              <a:t> x,</a:t>
            </a:r>
            <a:r>
              <a:rPr lang="bg-BG" dirty="0" err="1"/>
              <a:t>int</a:t>
            </a:r>
            <a:r>
              <a:rPr lang="bg-BG" dirty="0"/>
              <a:t> y)</a:t>
            </a:r>
          </a:p>
          <a:p>
            <a:pPr>
              <a:lnSpc>
                <a:spcPct val="90000"/>
              </a:lnSpc>
            </a:pPr>
            <a:r>
              <a:rPr lang="bg-BG" dirty="0"/>
              <a:t>{   </a:t>
            </a:r>
            <a:r>
              <a:rPr lang="bg-BG" dirty="0" err="1"/>
              <a:t>int</a:t>
            </a:r>
            <a:r>
              <a:rPr lang="bg-BG" dirty="0"/>
              <a:t> k,u,v;</a:t>
            </a:r>
          </a:p>
          <a:p>
            <a:pPr>
              <a:lnSpc>
                <a:spcPct val="90000"/>
              </a:lnSpc>
            </a:pPr>
            <a:r>
              <a:rPr lang="bg-BG" dirty="0"/>
              <a:t>     </a:t>
            </a:r>
            <a:r>
              <a:rPr lang="bg-BG" dirty="0" err="1"/>
              <a:t>bool</a:t>
            </a:r>
            <a:r>
              <a:rPr lang="bg-BG" dirty="0"/>
              <a:t> q1;</a:t>
            </a:r>
          </a:p>
          <a:p>
            <a:pPr>
              <a:lnSpc>
                <a:spcPct val="90000"/>
              </a:lnSpc>
            </a:pPr>
            <a:r>
              <a:rPr lang="bg-BG" dirty="0"/>
              <a:t>     k=0;</a:t>
            </a:r>
          </a:p>
          <a:p>
            <a:pPr>
              <a:lnSpc>
                <a:spcPct val="90000"/>
              </a:lnSpc>
            </a:pPr>
            <a:r>
              <a:rPr lang="bg-BG" dirty="0"/>
              <a:t>     </a:t>
            </a:r>
            <a:r>
              <a:rPr lang="bg-BG" dirty="0" err="1"/>
              <a:t>do</a:t>
            </a:r>
            <a:endParaRPr lang="bg-BG" dirty="0"/>
          </a:p>
          <a:p>
            <a:pPr>
              <a:lnSpc>
                <a:spcPct val="90000"/>
              </a:lnSpc>
            </a:pPr>
            <a:r>
              <a:rPr lang="bg-BG" dirty="0"/>
              <a:t>	{  </a:t>
            </a:r>
            <a:r>
              <a:rPr lang="bg-BG" dirty="0" err="1"/>
              <a:t>k++</a:t>
            </a:r>
            <a:r>
              <a:rPr lang="bg-BG" dirty="0"/>
              <a:t>;  q1=</a:t>
            </a:r>
            <a:r>
              <a:rPr lang="bg-BG" dirty="0" err="1"/>
              <a:t>false</a:t>
            </a:r>
            <a:r>
              <a:rPr lang="bg-BG" dirty="0"/>
              <a:t>;</a:t>
            </a:r>
          </a:p>
          <a:p>
            <a:pPr>
              <a:lnSpc>
                <a:spcPct val="90000"/>
              </a:lnSpc>
            </a:pPr>
            <a:r>
              <a:rPr lang="bg-BG" dirty="0"/>
              <a:t>	    u=</a:t>
            </a:r>
            <a:r>
              <a:rPr lang="bg-BG" dirty="0" err="1"/>
              <a:t>x+a</a:t>
            </a:r>
            <a:r>
              <a:rPr lang="bg-BG" dirty="0"/>
              <a:t>[k-1];   v=</a:t>
            </a:r>
            <a:r>
              <a:rPr lang="bg-BG" dirty="0" err="1"/>
              <a:t>y+b</a:t>
            </a:r>
            <a:r>
              <a:rPr lang="bg-BG" dirty="0"/>
              <a:t>[k-1];</a:t>
            </a:r>
          </a:p>
          <a:p>
            <a:pPr>
              <a:lnSpc>
                <a:spcPct val="90000"/>
              </a:lnSpc>
            </a:pPr>
            <a:r>
              <a:rPr lang="bg-BG" dirty="0"/>
              <a:t>	   </a:t>
            </a:r>
            <a:r>
              <a:rPr lang="bg-BG" dirty="0" err="1"/>
              <a:t>if</a:t>
            </a:r>
            <a:r>
              <a:rPr lang="bg-BG" dirty="0"/>
              <a:t> ((u&gt;=0 &amp;&amp; u&lt;=N-1) &amp;&amp; (v&gt;=0 &amp;&amp; v&lt;=N-1))</a:t>
            </a:r>
          </a:p>
          <a:p>
            <a:pPr>
              <a:lnSpc>
                <a:spcPct val="90000"/>
              </a:lnSpc>
            </a:pPr>
            <a:r>
              <a:rPr lang="bg-BG" dirty="0"/>
              <a:t>		</a:t>
            </a:r>
            <a:r>
              <a:rPr lang="bg-BG" dirty="0" err="1"/>
              <a:t>if</a:t>
            </a:r>
            <a:r>
              <a:rPr lang="bg-BG" dirty="0"/>
              <a:t> (h[u][v] == 0)</a:t>
            </a:r>
          </a:p>
          <a:p>
            <a:pPr>
              <a:lnSpc>
                <a:spcPct val="90000"/>
              </a:lnSpc>
            </a:pPr>
            <a:r>
              <a:rPr lang="bg-BG" dirty="0"/>
              <a:t>		 { h[u][v]=</a:t>
            </a:r>
            <a:r>
              <a:rPr lang="bg-BG" dirty="0" err="1"/>
              <a:t>ibr</a:t>
            </a:r>
            <a:r>
              <a:rPr lang="bg-BG" dirty="0"/>
              <a:t>;</a:t>
            </a:r>
          </a:p>
          <a:p>
            <a:pPr>
              <a:lnSpc>
                <a:spcPct val="90000"/>
              </a:lnSpc>
            </a:pPr>
            <a:r>
              <a:rPr lang="bg-BG" dirty="0"/>
              <a:t>		    </a:t>
            </a:r>
            <a:r>
              <a:rPr lang="bg-BG" dirty="0" err="1"/>
              <a:t>if</a:t>
            </a:r>
            <a:r>
              <a:rPr lang="bg-BG" dirty="0"/>
              <a:t> (</a:t>
            </a:r>
            <a:r>
              <a:rPr lang="bg-BG" dirty="0" err="1"/>
              <a:t>ibr</a:t>
            </a:r>
            <a:r>
              <a:rPr lang="bg-BG" dirty="0"/>
              <a:t>&lt;NSQ)</a:t>
            </a:r>
          </a:p>
          <a:p>
            <a:pPr>
              <a:lnSpc>
                <a:spcPct val="90000"/>
              </a:lnSpc>
            </a:pPr>
            <a:r>
              <a:rPr lang="bg-BG" dirty="0"/>
              <a:t>				{q1=</a:t>
            </a:r>
            <a:r>
              <a:rPr lang="bg-BG" dirty="0" err="1"/>
              <a:t>opit</a:t>
            </a:r>
            <a:r>
              <a:rPr lang="bg-BG" dirty="0"/>
              <a:t>(ibr+1,u,v);</a:t>
            </a:r>
          </a:p>
          <a:p>
            <a:pPr>
              <a:lnSpc>
                <a:spcPct val="90000"/>
              </a:lnSpc>
            </a:pPr>
            <a:r>
              <a:rPr lang="bg-BG" dirty="0"/>
              <a:t>				  </a:t>
            </a:r>
            <a:r>
              <a:rPr lang="bg-BG" dirty="0" err="1"/>
              <a:t>if</a:t>
            </a:r>
            <a:r>
              <a:rPr lang="bg-BG" dirty="0"/>
              <a:t> (!q1)    h[u][v]=0;</a:t>
            </a:r>
          </a:p>
          <a:p>
            <a:pPr>
              <a:lnSpc>
                <a:spcPct val="90000"/>
              </a:lnSpc>
            </a:pPr>
            <a:r>
              <a:rPr lang="bg-BG" dirty="0"/>
              <a:t>				 }    </a:t>
            </a:r>
            <a:r>
              <a:rPr lang="bg-BG" dirty="0" err="1"/>
              <a:t>else</a:t>
            </a:r>
            <a:r>
              <a:rPr lang="bg-BG" dirty="0"/>
              <a:t>     q1=</a:t>
            </a:r>
            <a:r>
              <a:rPr lang="bg-BG" dirty="0" err="1"/>
              <a:t>true</a:t>
            </a:r>
            <a:r>
              <a:rPr lang="bg-BG" dirty="0"/>
              <a:t>;</a:t>
            </a:r>
          </a:p>
          <a:p>
            <a:pPr>
              <a:lnSpc>
                <a:spcPct val="90000"/>
              </a:lnSpc>
            </a:pPr>
            <a:r>
              <a:rPr lang="bg-BG" dirty="0"/>
              <a:t>		  }</a:t>
            </a:r>
          </a:p>
          <a:p>
            <a:pPr>
              <a:lnSpc>
                <a:spcPct val="90000"/>
              </a:lnSpc>
            </a:pPr>
            <a:r>
              <a:rPr lang="bg-BG" dirty="0"/>
              <a:t>	} </a:t>
            </a:r>
            <a:r>
              <a:rPr lang="bg-BG" dirty="0" err="1"/>
              <a:t>while</a:t>
            </a:r>
            <a:r>
              <a:rPr lang="bg-BG" dirty="0"/>
              <a:t> (!q1 &amp;&amp; (k!=7));</a:t>
            </a:r>
          </a:p>
          <a:p>
            <a:pPr>
              <a:lnSpc>
                <a:spcPct val="90000"/>
              </a:lnSpc>
            </a:pPr>
            <a:r>
              <a:rPr lang="bg-BG" dirty="0"/>
              <a:t>      q=q1;</a:t>
            </a:r>
          </a:p>
          <a:p>
            <a:pPr>
              <a:lnSpc>
                <a:spcPct val="90000"/>
              </a:lnSpc>
            </a:pPr>
            <a:r>
              <a:rPr lang="bg-BG" dirty="0"/>
              <a:t>      </a:t>
            </a:r>
            <a:r>
              <a:rPr lang="bg-BG" dirty="0" err="1"/>
              <a:t>return</a:t>
            </a:r>
            <a:r>
              <a:rPr lang="bg-BG" dirty="0"/>
              <a:t> q1;</a:t>
            </a:r>
          </a:p>
          <a:p>
            <a:pPr>
              <a:lnSpc>
                <a:spcPct val="90000"/>
              </a:lnSpc>
            </a:pPr>
            <a:r>
              <a:rPr lang="bg-BG"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989013" y="692150"/>
            <a:ext cx="8154987" cy="5867400"/>
          </a:xfrm>
        </p:spPr>
        <p:txBody>
          <a:bodyPr>
            <a:normAutofit fontScale="90000"/>
          </a:bodyPr>
          <a:lstStyle/>
          <a:p>
            <a:pPr eaLnBrk="1" fontAlgn="auto" hangingPunct="1">
              <a:lnSpc>
                <a:spcPct val="110000"/>
              </a:lnSpc>
              <a:spcAft>
                <a:spcPts val="0"/>
              </a:spcAft>
              <a:defRPr/>
            </a:pPr>
            <a:r>
              <a:rPr lang="bg-BG" sz="2400" smtClean="0">
                <a:solidFill>
                  <a:schemeClr val="tx1"/>
                </a:solidFill>
              </a:rPr>
              <a:t>	Друг класически пример за използване на рекурсия е формирането на редицата на Фибоначи. Числата на Фибоначи представляват безкрайна поредица от цели числа, в която елементът с индекс </a:t>
            </a:r>
            <a:r>
              <a:rPr lang="bg-BG" sz="2400" b="1" smtClean="0">
                <a:solidFill>
                  <a:schemeClr val="tx1"/>
                </a:solidFill>
              </a:rPr>
              <a:t>N</a:t>
            </a:r>
            <a:r>
              <a:rPr lang="bg-BG" sz="2400" smtClean="0">
                <a:solidFill>
                  <a:schemeClr val="tx1"/>
                </a:solidFill>
              </a:rPr>
              <a:t> </a:t>
            </a:r>
            <a:r>
              <a:rPr lang="bg-BG" sz="2400" b="1" smtClean="0">
                <a:solidFill>
                  <a:schemeClr val="tx1"/>
                </a:solidFill>
              </a:rPr>
              <a:t>(N&gt;2)</a:t>
            </a:r>
            <a:r>
              <a:rPr lang="bg-BG" sz="2400" smtClean="0">
                <a:solidFill>
                  <a:schemeClr val="tx1"/>
                </a:solidFill>
              </a:rPr>
              <a:t> е равен на сумата на двата непосредствено предхождащи го елемента - с индекси </a:t>
            </a:r>
            <a:r>
              <a:rPr lang="bg-BG" sz="2400" b="1" smtClean="0">
                <a:solidFill>
                  <a:schemeClr val="tx1"/>
                </a:solidFill>
              </a:rPr>
              <a:t>N-1</a:t>
            </a:r>
            <a:r>
              <a:rPr lang="bg-BG" sz="2400" smtClean="0">
                <a:solidFill>
                  <a:schemeClr val="tx1"/>
                </a:solidFill>
              </a:rPr>
              <a:t> и </a:t>
            </a:r>
            <a:r>
              <a:rPr lang="bg-BG" sz="2400" b="1" smtClean="0">
                <a:solidFill>
                  <a:schemeClr val="tx1"/>
                </a:solidFill>
              </a:rPr>
              <a:t>N-2</a:t>
            </a:r>
            <a:r>
              <a:rPr lang="bg-BG" sz="2400" smtClean="0">
                <a:solidFill>
                  <a:schemeClr val="tx1"/>
                </a:solidFill>
              </a:rPr>
              <a:t>. Първите два елемента на поредицата са </a:t>
            </a:r>
            <a:r>
              <a:rPr lang="bg-BG" sz="2400" b="1" smtClean="0">
                <a:solidFill>
                  <a:schemeClr val="tx1"/>
                </a:solidFill>
              </a:rPr>
              <a:t>0</a:t>
            </a:r>
            <a:r>
              <a:rPr lang="bg-BG" sz="2400" smtClean="0">
                <a:solidFill>
                  <a:schemeClr val="tx1"/>
                </a:solidFill>
              </a:rPr>
              <a:t> и </a:t>
            </a:r>
            <a:r>
              <a:rPr lang="bg-BG" sz="2400" b="1" smtClean="0">
                <a:solidFill>
                  <a:schemeClr val="tx1"/>
                </a:solidFill>
              </a:rPr>
              <a:t>1</a:t>
            </a:r>
            <a:r>
              <a:rPr lang="bg-BG" sz="2400" smtClean="0">
                <a:solidFill>
                  <a:schemeClr val="tx1"/>
                </a:solidFill>
              </a:rPr>
              <a:t>:</a:t>
            </a:r>
            <a:br>
              <a:rPr lang="bg-BG" sz="2400" smtClean="0">
                <a:solidFill>
                  <a:schemeClr val="tx1"/>
                </a:solidFill>
              </a:rPr>
            </a:br>
            <a:r>
              <a:rPr lang="en-US" sz="2400" b="1" smtClean="0">
                <a:solidFill>
                  <a:schemeClr val="tx1"/>
                </a:solidFill>
              </a:rPr>
              <a:t>0, 1, </a:t>
            </a:r>
            <a:r>
              <a:rPr lang="en-AU" sz="2400" b="1" smtClean="0">
                <a:solidFill>
                  <a:schemeClr val="tx1"/>
                </a:solidFill>
              </a:rPr>
              <a:t>1, 2, 3, 5, 8, 13, 21, 34, 55, 89,…</a:t>
            </a:r>
            <a:r>
              <a:rPr lang="en-AU" b="1" smtClean="0">
                <a:solidFill>
                  <a:schemeClr val="tx1"/>
                </a:solidFill>
              </a:rPr>
              <a:t/>
            </a:r>
            <a:br>
              <a:rPr lang="en-AU" b="1" smtClean="0">
                <a:solidFill>
                  <a:schemeClr val="tx1"/>
                </a:solidFill>
              </a:rPr>
            </a:br>
            <a:r>
              <a:rPr lang="bg-BG" b="1" smtClean="0">
                <a:solidFill>
                  <a:schemeClr val="tx1"/>
                </a:solidFill>
              </a:rPr>
              <a:t/>
            </a:r>
            <a:br>
              <a:rPr lang="bg-BG" b="1" smtClean="0">
                <a:solidFill>
                  <a:schemeClr val="tx1"/>
                </a:solidFill>
              </a:rPr>
            </a:br>
            <a:r>
              <a:rPr lang="bg-BG" b="1" smtClean="0">
                <a:solidFill>
                  <a:schemeClr val="tx1"/>
                </a:solidFill>
              </a:rPr>
              <a:t/>
            </a:r>
            <a:br>
              <a:rPr lang="bg-BG" b="1" smtClean="0">
                <a:solidFill>
                  <a:schemeClr val="tx1"/>
                </a:solidFill>
              </a:rPr>
            </a:br>
            <a:r>
              <a:rPr lang="bg-BG" b="1" smtClean="0">
                <a:solidFill>
                  <a:schemeClr val="tx1"/>
                </a:solidFill>
              </a:rPr>
              <a:t/>
            </a:r>
            <a:br>
              <a:rPr lang="bg-BG" b="1" smtClean="0">
                <a:solidFill>
                  <a:schemeClr val="tx1"/>
                </a:solidFill>
              </a:rPr>
            </a:br>
            <a:r>
              <a:rPr lang="bg-BG" b="1" smtClean="0">
                <a:solidFill>
                  <a:schemeClr val="tx1"/>
                </a:solidFill>
              </a:rPr>
              <a:t/>
            </a:r>
            <a:br>
              <a:rPr lang="bg-BG" b="1" smtClean="0">
                <a:solidFill>
                  <a:schemeClr val="tx1"/>
                </a:solidFill>
              </a:rPr>
            </a:br>
            <a:endParaRPr lang="en-US" b="1" smtClean="0">
              <a:solidFill>
                <a:schemeClr val="tx1"/>
              </a:solidFill>
            </a:endParaRPr>
          </a:p>
        </p:txBody>
      </p:sp>
      <p:graphicFrame>
        <p:nvGraphicFramePr>
          <p:cNvPr id="13314" name="Object 3"/>
          <p:cNvGraphicFramePr>
            <a:graphicFrameLocks noChangeAspect="1"/>
          </p:cNvGraphicFramePr>
          <p:nvPr/>
        </p:nvGraphicFramePr>
        <p:xfrm>
          <a:off x="1403350" y="3716338"/>
          <a:ext cx="6705600" cy="1884362"/>
        </p:xfrm>
        <a:graphic>
          <a:graphicData uri="http://schemas.openxmlformats.org/presentationml/2006/ole">
            <mc:AlternateContent xmlns:mc="http://schemas.openxmlformats.org/markup-compatibility/2006">
              <mc:Choice xmlns:v="urn:schemas-microsoft-com:vml" Requires="v">
                <p:oleObj spid="_x0000_s13317" name="Equation" r:id="rId3" imgW="2768400" imgH="711000" progId="">
                  <p:embed/>
                </p:oleObj>
              </mc:Choice>
              <mc:Fallback>
                <p:oleObj name="Equation" r:id="rId3" imgW="2768400" imgH="7110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716338"/>
                        <a:ext cx="6705600" cy="188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150938" y="549275"/>
            <a:ext cx="7993062" cy="5943600"/>
          </a:xfrm>
        </p:spPr>
        <p:txBody>
          <a:bodyPr>
            <a:normAutofit fontScale="90000"/>
          </a:bodyPr>
          <a:lstStyle/>
          <a:p>
            <a:pPr eaLnBrk="1" fontAlgn="auto" hangingPunct="1">
              <a:spcAft>
                <a:spcPts val="0"/>
              </a:spcAft>
              <a:defRPr/>
            </a:pPr>
            <a:r>
              <a:rPr lang="bg-BG" sz="2400" dirty="0" smtClean="0">
                <a:solidFill>
                  <a:schemeClr val="tx1"/>
                </a:solidFill>
              </a:rPr>
              <a:t>Рекурсивна реализация на програма за изчисляване числата на </a:t>
            </a:r>
            <a:r>
              <a:rPr lang="bg-BG" sz="2400" dirty="0" err="1" smtClean="0">
                <a:solidFill>
                  <a:schemeClr val="tx1"/>
                </a:solidFill>
              </a:rPr>
              <a:t>Фибоначи</a:t>
            </a:r>
            <a:r>
              <a:rPr lang="bg-BG" sz="2400" dirty="0" smtClean="0">
                <a:solidFill>
                  <a:schemeClr val="tx1"/>
                </a:solidFill>
              </a:rPr>
              <a:t>:</a:t>
            </a:r>
            <a:br>
              <a:rPr lang="bg-BG" sz="2400" dirty="0" smtClean="0">
                <a:solidFill>
                  <a:schemeClr val="tx1"/>
                </a:solidFill>
              </a:rPr>
            </a:br>
            <a:r>
              <a:rPr lang="en-US" sz="2400" dirty="0" smtClean="0">
                <a:solidFill>
                  <a:schemeClr val="tx2">
                    <a:satMod val="130000"/>
                  </a:schemeClr>
                </a:solidFill>
                <a:latin typeface="Courier New" pitchFamily="49" charset="0"/>
              </a:rPr>
              <a:t>#include&lt;</a:t>
            </a:r>
            <a:r>
              <a:rPr lang="en-US" sz="2400" dirty="0" err="1" smtClean="0">
                <a:solidFill>
                  <a:schemeClr val="tx2">
                    <a:satMod val="130000"/>
                  </a:schemeClr>
                </a:solidFill>
                <a:latin typeface="Courier New" pitchFamily="49" charset="0"/>
              </a:rPr>
              <a:t>iostream</a:t>
            </a:r>
            <a:r>
              <a:rPr lang="en-US" sz="2400" dirty="0" smtClean="0">
                <a:solidFill>
                  <a:schemeClr val="tx2">
                    <a:satMod val="130000"/>
                  </a:schemeClr>
                </a:solidFill>
                <a:latin typeface="Courier New" pitchFamily="49" charset="0"/>
              </a:rPr>
              <a:t>&gt;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using namespace std; </a:t>
            </a:r>
            <a:br>
              <a:rPr lang="en-US"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fib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);//prototype</a:t>
            </a:r>
            <a:br>
              <a:rPr lang="en-US"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main()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bg-BG" sz="2400" dirty="0" smtClean="0">
                <a:solidFill>
                  <a:schemeClr val="tx2">
                    <a:satMod val="130000"/>
                  </a:schemeClr>
                </a:solidFill>
                <a:latin typeface="Courier New" pitchFamily="49" charset="0"/>
              </a:rPr>
              <a:t>Въведете броя на числата (не повече от 24): ";</a:t>
            </a:r>
            <a:br>
              <a:rPr lang="bg-BG"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cin</a:t>
            </a:r>
            <a:r>
              <a:rPr lang="en-US" sz="2400" dirty="0" smtClean="0">
                <a:solidFill>
                  <a:schemeClr val="tx2">
                    <a:satMod val="130000"/>
                  </a:schemeClr>
                </a:solidFill>
                <a:latin typeface="Courier New" pitchFamily="49" charset="0"/>
              </a:rPr>
              <a:t>&gt;&gt;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j=0; j&lt;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 j++)</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&lt;&lt;fib(j)&lt;&lt;"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return 0;</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endParaRPr lang="en-US" dirty="0" smtClean="0">
              <a:solidFill>
                <a:schemeClr val="tx1"/>
              </a:solidFill>
              <a:latin typeface="Courier New"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476375" y="1700213"/>
            <a:ext cx="6986588" cy="3352800"/>
          </a:xfrm>
        </p:spPr>
        <p:txBody>
          <a:bodyPr>
            <a:normAutofit fontScale="90000"/>
          </a:bodyPr>
          <a:lstStyle/>
          <a:p>
            <a:pPr eaLnBrk="1" fontAlgn="auto" hangingPunct="1">
              <a:spcAft>
                <a:spcPts val="0"/>
              </a:spcAft>
              <a:defRPr/>
            </a:pPr>
            <a:r>
              <a:rPr lang="en-US" sz="2400" smtClean="0">
                <a:solidFill>
                  <a:schemeClr val="tx2">
                    <a:satMod val="130000"/>
                  </a:schemeClr>
                </a:solidFill>
                <a:latin typeface="Courier New" pitchFamily="49" charset="0"/>
              </a:rPr>
              <a:t>int fib (int i)</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a:t>
            </a:r>
            <a:r>
              <a:rPr lang="bg-BG" sz="2400" smtClean="0">
                <a:solidFill>
                  <a:schemeClr val="tx2">
                    <a:satMod val="130000"/>
                  </a:schemeClr>
                </a:solidFill>
                <a:latin typeface="Courier New" pitchFamily="49" charset="0"/>
              </a:rPr>
              <a:t/>
            </a:r>
            <a:br>
              <a:rPr lang="bg-BG"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if (i&lt;1)</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0;</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if (i==1)</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1;</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fib(i-1)+fib(i-2);</a:t>
            </a:r>
            <a:br>
              <a:rPr lang="en-US" sz="2400" smtClean="0">
                <a:solidFill>
                  <a:schemeClr val="tx2">
                    <a:satMod val="130000"/>
                  </a:schemeClr>
                </a:solidFill>
                <a:latin typeface="Courier New" pitchFamily="49" charset="0"/>
              </a:rPr>
            </a:br>
            <a:r>
              <a:rPr lang="en-AU" sz="2400" smtClean="0">
                <a:solidFill>
                  <a:schemeClr val="tx1"/>
                </a:solidFill>
                <a:latin typeface="Courier New" pitchFamily="49" charset="0"/>
              </a:rPr>
              <a:t>}</a:t>
            </a:r>
            <a:r>
              <a:rPr lang="bg-BG" sz="2400" smtClean="0">
                <a:solidFill>
                  <a:schemeClr val="tx1"/>
                </a:solidFill>
                <a:latin typeface="Courier New" pitchFamily="49" charset="0"/>
              </a:rPr>
              <a:t/>
            </a:r>
            <a:br>
              <a:rPr lang="bg-BG" sz="2400" smtClean="0">
                <a:solidFill>
                  <a:schemeClr val="tx1"/>
                </a:solidFill>
                <a:latin typeface="Courier New" pitchFamily="49" charset="0"/>
              </a:rPr>
            </a:br>
            <a:r>
              <a:rPr lang="bg-BG" sz="2400" smtClean="0">
                <a:solidFill>
                  <a:schemeClr val="tx1"/>
                </a:solidFill>
                <a:latin typeface="Courier New" pitchFamily="49" charset="0"/>
              </a:rPr>
              <a:t/>
            </a:r>
            <a:br>
              <a:rPr lang="bg-BG" sz="2400" smtClean="0">
                <a:solidFill>
                  <a:schemeClr val="tx1"/>
                </a:solidFill>
                <a:latin typeface="Courier New" pitchFamily="49" charset="0"/>
              </a:rPr>
            </a:br>
            <a:r>
              <a:rPr lang="bg-BG" sz="3200" smtClean="0">
                <a:solidFill>
                  <a:schemeClr val="tx1"/>
                </a:solidFill>
              </a:rPr>
              <a:t>Реализацията е неефективна!</a:t>
            </a:r>
            <a:endParaRPr lang="bg-BG" smtClean="0">
              <a:solidFill>
                <a:schemeClr val="tx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900113" y="838200"/>
            <a:ext cx="8243887" cy="6019800"/>
          </a:xfrm>
        </p:spPr>
        <p:txBody>
          <a:bodyPr>
            <a:normAutofit fontScale="90000"/>
          </a:bodyPr>
          <a:lstStyle/>
          <a:p>
            <a:pPr eaLnBrk="1" fontAlgn="auto" hangingPunct="1">
              <a:lnSpc>
                <a:spcPct val="90000"/>
              </a:lnSpc>
              <a:spcAft>
                <a:spcPts val="0"/>
              </a:spcAft>
              <a:defRPr/>
            </a:pPr>
            <a:r>
              <a:rPr lang="bg-BG" sz="2400" dirty="0" smtClean="0">
                <a:solidFill>
                  <a:schemeClr val="tx1"/>
                </a:solidFill>
              </a:rPr>
              <a:t>Итеративна реализация на програма за изчисляване числата на </a:t>
            </a:r>
            <a:r>
              <a:rPr lang="bg-BG" sz="2400" dirty="0" err="1" smtClean="0">
                <a:solidFill>
                  <a:schemeClr val="tx1"/>
                </a:solidFill>
              </a:rPr>
              <a:t>Фибоначи</a:t>
            </a:r>
            <a:r>
              <a:rPr lang="bg-BG" sz="2400" dirty="0" smtClean="0">
                <a:solidFill>
                  <a:schemeClr val="tx1"/>
                </a:solidFill>
              </a:rPr>
              <a:t>:</a:t>
            </a:r>
            <a:br>
              <a:rPr lang="bg-BG" sz="2400" dirty="0" smtClean="0">
                <a:solidFill>
                  <a:schemeClr val="tx1"/>
                </a:solidFill>
              </a:rPr>
            </a:br>
            <a:r>
              <a:rPr lang="en-US" sz="2400" dirty="0" smtClean="0">
                <a:solidFill>
                  <a:schemeClr val="tx2">
                    <a:satMod val="130000"/>
                  </a:schemeClr>
                </a:solidFill>
                <a:latin typeface="Courier New" pitchFamily="49" charset="0"/>
              </a:rPr>
              <a:t>#</a:t>
            </a:r>
            <a:r>
              <a:rPr lang="en-US" sz="2400" dirty="0" err="1" smtClean="0">
                <a:solidFill>
                  <a:schemeClr val="tx2">
                    <a:satMod val="130000"/>
                  </a:schemeClr>
                </a:solidFill>
                <a:latin typeface="Courier New" pitchFamily="49" charset="0"/>
              </a:rPr>
              <a:t>include”stafx.h</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#include&lt;</a:t>
            </a:r>
            <a:r>
              <a:rPr lang="en-US" sz="2400" dirty="0" err="1" smtClean="0">
                <a:solidFill>
                  <a:schemeClr val="tx2">
                    <a:satMod val="130000"/>
                  </a:schemeClr>
                </a:solidFill>
                <a:latin typeface="Courier New" pitchFamily="49" charset="0"/>
              </a:rPr>
              <a:t>iostream</a:t>
            </a:r>
            <a:r>
              <a:rPr lang="en-US" sz="2400" dirty="0" smtClean="0">
                <a:solidFill>
                  <a:schemeClr val="tx2">
                    <a:satMod val="130000"/>
                  </a:schemeClr>
                </a:solidFill>
                <a:latin typeface="Courier New" pitchFamily="49" charset="0"/>
              </a:rPr>
              <a:t>&gt;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const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n=24;// max </a:t>
            </a:r>
            <a:r>
              <a:rPr lang="bg-BG" sz="2400" dirty="0" smtClean="0">
                <a:solidFill>
                  <a:schemeClr val="tx2">
                    <a:satMod val="130000"/>
                  </a:schemeClr>
                </a:solidFill>
                <a:latin typeface="Courier New" pitchFamily="49" charset="0"/>
              </a:rPr>
              <a:t>за</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main()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f[n];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200" dirty="0" smtClean="0">
                <a:solidFill>
                  <a:schemeClr val="tx2">
                    <a:satMod val="130000"/>
                  </a:schemeClr>
                </a:solidFill>
                <a:latin typeface="Courier New" pitchFamily="49" charset="0"/>
              </a:rPr>
              <a:t>&lt;&lt;"</a:t>
            </a:r>
            <a:r>
              <a:rPr lang="bg-BG" sz="2200" dirty="0" smtClean="0">
                <a:solidFill>
                  <a:schemeClr val="tx2">
                    <a:satMod val="130000"/>
                  </a:schemeClr>
                </a:solidFill>
                <a:latin typeface="Courier New" pitchFamily="49" charset="0"/>
              </a:rPr>
              <a:t>Въведете броя на числата (не повече от 24:</a:t>
            </a:r>
            <a:r>
              <a:rPr lang="en-US" sz="2200" dirty="0" smtClean="0">
                <a:solidFill>
                  <a:schemeClr val="tx2">
                    <a:satMod val="130000"/>
                  </a:schemeClr>
                </a:solidFill>
                <a:latin typeface="Courier New" pitchFamily="49" charset="0"/>
              </a:rPr>
              <a:t>";</a:t>
            </a:r>
            <a:br>
              <a:rPr lang="en-US" sz="22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cin</a:t>
            </a:r>
            <a:r>
              <a:rPr lang="en-US" sz="2400" dirty="0" smtClean="0">
                <a:solidFill>
                  <a:schemeClr val="tx2">
                    <a:satMod val="130000"/>
                  </a:schemeClr>
                </a:solidFill>
                <a:latin typeface="Courier New" pitchFamily="49" charset="0"/>
              </a:rPr>
              <a:t>&gt;&gt;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f[0]=0;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f[1]=1;</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j=2; j&lt;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 j++)</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f[j]=f[j-1]+f[j-2];</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&lt;&lt;"\n</a:t>
            </a:r>
            <a:r>
              <a:rPr lang="bg-BG" sz="2400" dirty="0" smtClean="0">
                <a:solidFill>
                  <a:schemeClr val="tx2">
                    <a:satMod val="130000"/>
                  </a:schemeClr>
                </a:solidFill>
                <a:latin typeface="Courier New" pitchFamily="49" charset="0"/>
              </a:rPr>
              <a:t>Числата на </a:t>
            </a:r>
            <a:r>
              <a:rPr lang="bg-BG" sz="2400" dirty="0" err="1" smtClean="0">
                <a:solidFill>
                  <a:schemeClr val="tx2">
                    <a:satMod val="130000"/>
                  </a:schemeClr>
                </a:solidFill>
                <a:latin typeface="Courier New" pitchFamily="49" charset="0"/>
              </a:rPr>
              <a:t>Фибоначи</a:t>
            </a:r>
            <a:r>
              <a:rPr lang="bg-BG" sz="2400" dirty="0" smtClean="0">
                <a:solidFill>
                  <a:schemeClr val="tx2">
                    <a:satMod val="130000"/>
                  </a:schemeClr>
                </a:solidFill>
                <a:latin typeface="Courier New" pitchFamily="49" charset="0"/>
              </a:rPr>
              <a:t> са</a:t>
            </a:r>
            <a:r>
              <a:rPr lang="en-US" sz="2400" dirty="0" smtClean="0">
                <a:solidFill>
                  <a:schemeClr val="tx2">
                    <a:satMod val="130000"/>
                  </a:schemeClr>
                </a:solidFill>
                <a:latin typeface="Courier New" pitchFamily="49" charset="0"/>
              </a:rPr>
              <a:t>:\n</a:t>
            </a:r>
            <a:r>
              <a:rPr lang="bg-BG" sz="2400" dirty="0" smtClean="0">
                <a:solidFill>
                  <a:schemeClr val="tx2">
                    <a:satMod val="130000"/>
                  </a:schemeClr>
                </a:solidFill>
                <a:latin typeface="Courier New" pitchFamily="49" charset="0"/>
              </a:rPr>
              <a:t> </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(j=0; j&lt;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 j++)</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&lt;&lt;f[j]&lt;&lt;"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return 0;</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endParaRPr lang="en-US" dirty="0" smtClean="0">
              <a:solidFill>
                <a:schemeClr val="tx2">
                  <a:satMod val="130000"/>
                </a:schemeClr>
              </a:solidFill>
              <a:latin typeface="Courier New"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04800" y="404813"/>
            <a:ext cx="8839200" cy="6019800"/>
          </a:xfrm>
        </p:spPr>
        <p:txBody>
          <a:bodyPr>
            <a:normAutofit fontScale="90000"/>
          </a:bodyPr>
          <a:lstStyle/>
          <a:p>
            <a:pPr eaLnBrk="1" fontAlgn="auto" hangingPunct="1">
              <a:spcAft>
                <a:spcPts val="0"/>
              </a:spcAft>
              <a:defRPr/>
            </a:pPr>
            <a:r>
              <a:rPr lang="bg-BG" sz="2400" b="1" dirty="0" smtClean="0">
                <a:solidFill>
                  <a:schemeClr val="tx1"/>
                </a:solidFill>
              </a:rPr>
              <a:t>ДИНАМИЧНО  ПРОГРАМИРАНЕ</a:t>
            </a:r>
            <a:br>
              <a:rPr lang="bg-BG" sz="2400" b="1" dirty="0" smtClean="0">
                <a:solidFill>
                  <a:schemeClr val="tx1"/>
                </a:solidFill>
              </a:rPr>
            </a:br>
            <a:r>
              <a:rPr lang="bg-BG" sz="2400" dirty="0" smtClean="0">
                <a:solidFill>
                  <a:schemeClr val="tx1"/>
                </a:solidFill>
              </a:rPr>
              <a:t/>
            </a:r>
            <a:br>
              <a:rPr lang="bg-BG" sz="2400" dirty="0" smtClean="0">
                <a:solidFill>
                  <a:schemeClr val="tx1"/>
                </a:solidFill>
              </a:rPr>
            </a:br>
            <a:r>
              <a:rPr lang="bg-BG" sz="2400" dirty="0" smtClean="0">
                <a:solidFill>
                  <a:schemeClr val="tx1"/>
                </a:solidFill>
              </a:rPr>
              <a:t>	Метод, при който се извършва запомняне на междинните резултати от решенията на вече решени подзадачи с цел избягване на повторни пресмятания, се нарича </a:t>
            </a:r>
            <a:r>
              <a:rPr lang="bg-BG" sz="2400" i="1" dirty="0" smtClean="0">
                <a:solidFill>
                  <a:schemeClr val="tx1"/>
                </a:solidFill>
              </a:rPr>
              <a:t>динамично програмиране</a:t>
            </a:r>
            <a:r>
              <a:rPr lang="bg-BG" sz="2400" dirty="0" smtClean="0">
                <a:solidFill>
                  <a:schemeClr val="tx1"/>
                </a:solidFill>
              </a:rPr>
              <a:t> </a:t>
            </a:r>
            <a:r>
              <a:rPr lang="bg-BG" sz="2400" i="1" dirty="0" smtClean="0">
                <a:solidFill>
                  <a:schemeClr val="tx1"/>
                </a:solidFill>
              </a:rPr>
              <a:t>(</a:t>
            </a:r>
            <a:r>
              <a:rPr lang="bg-BG" sz="2400" i="1" dirty="0" err="1" smtClean="0">
                <a:solidFill>
                  <a:schemeClr val="tx1"/>
                </a:solidFill>
              </a:rPr>
              <a:t>dynamic</a:t>
            </a:r>
            <a:r>
              <a:rPr lang="bg-BG" sz="2400" i="1" dirty="0" smtClean="0">
                <a:solidFill>
                  <a:schemeClr val="tx1"/>
                </a:solidFill>
              </a:rPr>
              <a:t> </a:t>
            </a:r>
            <a:r>
              <a:rPr lang="bg-BG" sz="2400" i="1" dirty="0" err="1" smtClean="0">
                <a:solidFill>
                  <a:schemeClr val="tx1"/>
                </a:solidFill>
              </a:rPr>
              <a:t>programming</a:t>
            </a:r>
            <a:r>
              <a:rPr lang="bg-BG" sz="2400" i="1" dirty="0" smtClean="0">
                <a:solidFill>
                  <a:schemeClr val="tx1"/>
                </a:solidFill>
              </a:rPr>
              <a:t>)</a:t>
            </a:r>
            <a:r>
              <a:rPr lang="bg-BG" sz="2400" dirty="0" smtClean="0">
                <a:solidFill>
                  <a:schemeClr val="tx1"/>
                </a:solidFill>
              </a:rPr>
              <a:t> или </a:t>
            </a:r>
            <a:r>
              <a:rPr lang="bg-BG" sz="2400" i="1" dirty="0" smtClean="0">
                <a:solidFill>
                  <a:schemeClr val="tx1"/>
                </a:solidFill>
              </a:rPr>
              <a:t>динамично </a:t>
            </a:r>
            <a:r>
              <a:rPr lang="bg-BG" sz="2400" i="1" dirty="0" err="1" smtClean="0">
                <a:solidFill>
                  <a:schemeClr val="tx1"/>
                </a:solidFill>
              </a:rPr>
              <a:t>оптимиране</a:t>
            </a:r>
            <a:r>
              <a:rPr lang="bg-BG" sz="2400" dirty="0" smtClean="0">
                <a:solidFill>
                  <a:schemeClr val="tx1"/>
                </a:solidFill>
              </a:rPr>
              <a:t>. Основното предназначение на този метод е решаването на различни оптимизационни задачи. </a:t>
            </a:r>
            <a:br>
              <a:rPr lang="bg-BG" sz="2400" dirty="0" smtClean="0">
                <a:solidFill>
                  <a:schemeClr val="tx1"/>
                </a:solidFill>
              </a:rPr>
            </a:br>
            <a:r>
              <a:rPr lang="bg-BG" sz="2400" dirty="0" smtClean="0">
                <a:solidFill>
                  <a:schemeClr val="tx1"/>
                </a:solidFill>
              </a:rPr>
              <a:t>	За да разгледаме метода, нека да използваме известния вече пример за изчисляване на числата на </a:t>
            </a:r>
            <a:r>
              <a:rPr lang="bg-BG" sz="2400" dirty="0" err="1" smtClean="0">
                <a:solidFill>
                  <a:schemeClr val="tx1"/>
                </a:solidFill>
              </a:rPr>
              <a:t>Фибоначи</a:t>
            </a:r>
            <a:r>
              <a:rPr lang="bg-BG" sz="2400" dirty="0" smtClean="0">
                <a:solidFill>
                  <a:schemeClr val="tx1"/>
                </a:solidFill>
              </a:rPr>
              <a:t> (рекурсивна и итеративна реализация). На практика рекурсивната реализация изисква много излишни обръщения към функцията. За да се изчисли </a:t>
            </a:r>
            <a:r>
              <a:rPr lang="bg-BG" sz="2400" b="1" dirty="0" smtClean="0">
                <a:solidFill>
                  <a:schemeClr val="tx1"/>
                </a:solidFill>
              </a:rPr>
              <a:t>n-</a:t>
            </a:r>
            <a:r>
              <a:rPr lang="bg-BG" sz="2400" dirty="0" smtClean="0">
                <a:solidFill>
                  <a:schemeClr val="tx1"/>
                </a:solidFill>
              </a:rPr>
              <a:t>то число всеки път се изчисляват </a:t>
            </a:r>
            <a:r>
              <a:rPr lang="bg-BG" sz="2400" b="1" dirty="0" smtClean="0">
                <a:solidFill>
                  <a:schemeClr val="tx1"/>
                </a:solidFill>
              </a:rPr>
              <a:t>n-1</a:t>
            </a:r>
            <a:r>
              <a:rPr lang="bg-BG" sz="2400" dirty="0" smtClean="0">
                <a:solidFill>
                  <a:schemeClr val="tx1"/>
                </a:solidFill>
              </a:rPr>
              <a:t>-то</a:t>
            </a:r>
            <a:r>
              <a:rPr lang="bg-BG" sz="2400" b="1" dirty="0" smtClean="0">
                <a:solidFill>
                  <a:schemeClr val="tx1"/>
                </a:solidFill>
              </a:rPr>
              <a:t> и n-2</a:t>
            </a:r>
            <a:r>
              <a:rPr lang="bg-BG" sz="2400" dirty="0" smtClean="0">
                <a:solidFill>
                  <a:schemeClr val="tx1"/>
                </a:solidFill>
              </a:rPr>
              <a:t>-то</a:t>
            </a:r>
            <a:r>
              <a:rPr lang="bg-BG" sz="2400" b="1" dirty="0" smtClean="0">
                <a:solidFill>
                  <a:schemeClr val="tx1"/>
                </a:solidFill>
              </a:rPr>
              <a:t> </a:t>
            </a:r>
            <a:r>
              <a:rPr lang="bg-BG" sz="2400" dirty="0" smtClean="0">
                <a:solidFill>
                  <a:schemeClr val="tx1"/>
                </a:solidFill>
              </a:rPr>
              <a:t>числа, което е</a:t>
            </a:r>
            <a:r>
              <a:rPr lang="bg-BG" sz="2400" b="1" dirty="0" smtClean="0">
                <a:solidFill>
                  <a:schemeClr val="tx1"/>
                </a:solidFill>
              </a:rPr>
              <a:t> </a:t>
            </a:r>
            <a:r>
              <a:rPr lang="bg-BG" sz="2400" dirty="0" smtClean="0">
                <a:solidFill>
                  <a:schemeClr val="tx1"/>
                </a:solidFill>
              </a:rPr>
              <a:t>изключително неефективно. Броят на извършваните рекурсивни обръщения е ненужно голям. </a:t>
            </a:r>
            <a:r>
              <a:rPr lang="bg-BG" sz="2400" dirty="0" smtClean="0">
                <a:solidFill>
                  <a:schemeClr val="tx1"/>
                </a:solidFill>
              </a:rPr>
              <a:t>Алгоритмът </a:t>
            </a:r>
            <a:r>
              <a:rPr lang="bg-BG" sz="2400" dirty="0" smtClean="0">
                <a:solidFill>
                  <a:schemeClr val="tx1"/>
                </a:solidFill>
              </a:rPr>
              <a:t>е</a:t>
            </a:r>
            <a:r>
              <a:rPr lang="en-US" sz="2400" dirty="0" smtClean="0">
                <a:solidFill>
                  <a:schemeClr val="tx1"/>
                </a:solidFill>
              </a:rPr>
              <a:t> </a:t>
            </a:r>
            <a:r>
              <a:rPr lang="bg-BG" sz="2400" dirty="0" smtClean="0">
                <a:solidFill>
                  <a:schemeClr val="tx1"/>
                </a:solidFill>
              </a:rPr>
              <a:t>експоненциален и няма да работи при големи </a:t>
            </a:r>
            <a:r>
              <a:rPr lang="bg-BG" sz="2400" b="1" dirty="0" smtClean="0">
                <a:solidFill>
                  <a:schemeClr val="tx1"/>
                </a:solidFill>
              </a:rPr>
              <a:t>n</a:t>
            </a:r>
            <a:r>
              <a:rPr lang="bg-BG" sz="2400" dirty="0" smtClean="0">
                <a:solidFill>
                  <a:schemeClr val="tx1"/>
                </a:solidFill>
              </a:rPr>
              <a:t>. </a:t>
            </a:r>
            <a:br>
              <a:rPr lang="bg-BG" sz="2400" dirty="0" smtClean="0">
                <a:solidFill>
                  <a:schemeClr val="tx1"/>
                </a:solidFill>
              </a:rPr>
            </a:br>
            <a:endParaRPr lang="en-US" sz="2400" dirty="0" smtClean="0">
              <a:solidFill>
                <a:schemeClr val="tx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938213" y="838200"/>
            <a:ext cx="8226425" cy="6019800"/>
          </a:xfrm>
        </p:spPr>
        <p:txBody>
          <a:bodyPr>
            <a:normAutofit fontScale="90000"/>
          </a:bodyPr>
          <a:lstStyle/>
          <a:p>
            <a:pPr eaLnBrk="1" fontAlgn="auto" hangingPunct="1">
              <a:lnSpc>
                <a:spcPct val="90000"/>
              </a:lnSpc>
              <a:spcAft>
                <a:spcPts val="0"/>
              </a:spcAft>
              <a:defRPr/>
            </a:pPr>
            <a:r>
              <a:rPr lang="bg-BG" sz="2400" dirty="0" smtClean="0">
                <a:solidFill>
                  <a:schemeClr val="tx1"/>
                </a:solidFill>
              </a:rPr>
              <a:t>	При динамичната реализация изчислените вече числа се съхраняват в статичен масив </a:t>
            </a:r>
            <a:r>
              <a:rPr lang="bg-BG" sz="2400" i="1" dirty="0" err="1" smtClean="0">
                <a:solidFill>
                  <a:schemeClr val="tx1"/>
                </a:solidFill>
              </a:rPr>
              <a:t>known</a:t>
            </a:r>
            <a:r>
              <a:rPr lang="bg-BG" sz="2400" i="1" dirty="0" smtClean="0">
                <a:solidFill>
                  <a:schemeClr val="tx1"/>
                </a:solidFill>
              </a:rPr>
              <a:t>[ ] </a:t>
            </a:r>
            <a:r>
              <a:rPr lang="bg-BG" sz="2400" dirty="0" smtClean="0">
                <a:solidFill>
                  <a:schemeClr val="tx1"/>
                </a:solidFill>
              </a:rPr>
              <a:t>(или друг външен за рекурсивната функция масив) и се използват при изчисляване на следващите стойности. </a:t>
            </a:r>
            <a:r>
              <a:rPr lang="bg-BG" sz="2400" dirty="0" smtClean="0">
                <a:solidFill>
                  <a:schemeClr val="tx1"/>
                </a:solidFill>
              </a:rPr>
              <a:t>Алгоритмът </a:t>
            </a:r>
            <a:r>
              <a:rPr lang="bg-BG" sz="2400" dirty="0" smtClean="0">
                <a:solidFill>
                  <a:schemeClr val="tx1"/>
                </a:solidFill>
              </a:rPr>
              <a:t>има </a:t>
            </a:r>
            <a:r>
              <a:rPr lang="bg-BG" sz="2400" dirty="0" err="1" smtClean="0">
                <a:solidFill>
                  <a:schemeClr val="tx1"/>
                </a:solidFill>
              </a:rPr>
              <a:t>полиномиална</a:t>
            </a:r>
            <a:r>
              <a:rPr lang="bg-BG" sz="2400" dirty="0" smtClean="0">
                <a:solidFill>
                  <a:schemeClr val="tx1"/>
                </a:solidFill>
              </a:rPr>
              <a:t> сложност.</a:t>
            </a:r>
            <a:br>
              <a:rPr lang="bg-BG" sz="2400" dirty="0" smtClean="0">
                <a:solidFill>
                  <a:schemeClr val="tx1"/>
                </a:solidFill>
              </a:rPr>
            </a:br>
            <a:r>
              <a:rPr lang="bg-BG" sz="2400" dirty="0" smtClean="0">
                <a:solidFill>
                  <a:schemeClr val="tx1"/>
                </a:solidFill>
              </a:rPr>
              <a:t/>
            </a:r>
            <a:br>
              <a:rPr lang="bg-BG" sz="2400" dirty="0" smtClean="0">
                <a:solidFill>
                  <a:schemeClr val="tx1"/>
                </a:solidFill>
              </a:rPr>
            </a:br>
            <a:r>
              <a:rPr lang="bg-BG" sz="2400" dirty="0" smtClean="0">
                <a:solidFill>
                  <a:schemeClr val="tx1"/>
                </a:solidFill>
              </a:rPr>
              <a:t>Динамична реализация на програма за изчисляване на числата на </a:t>
            </a:r>
            <a:r>
              <a:rPr lang="bg-BG" sz="2400" dirty="0" err="1" smtClean="0">
                <a:solidFill>
                  <a:schemeClr val="tx1"/>
                </a:solidFill>
              </a:rPr>
              <a:t>Фибоначи</a:t>
            </a:r>
            <a:r>
              <a:rPr lang="bg-BG" sz="2400" dirty="0" smtClean="0">
                <a:solidFill>
                  <a:schemeClr val="tx1"/>
                </a:solidFill>
              </a:rPr>
              <a:t>:</a:t>
            </a:r>
            <a:br>
              <a:rPr lang="bg-BG" sz="2400" dirty="0" smtClean="0">
                <a:solidFill>
                  <a:schemeClr val="tx1"/>
                </a:solidFill>
              </a:rPr>
            </a:br>
            <a:r>
              <a:rPr lang="en-US" sz="2400" dirty="0" smtClean="0">
                <a:solidFill>
                  <a:schemeClr val="tx2">
                    <a:satMod val="130000"/>
                  </a:schemeClr>
                </a:solidFill>
                <a:latin typeface="Courier New" pitchFamily="49" charset="0"/>
              </a:rPr>
              <a:t>#include&lt;</a:t>
            </a:r>
            <a:r>
              <a:rPr lang="en-US" sz="2400" dirty="0" err="1" smtClean="0">
                <a:solidFill>
                  <a:schemeClr val="tx2">
                    <a:satMod val="130000"/>
                  </a:schemeClr>
                </a:solidFill>
                <a:latin typeface="Courier New" pitchFamily="49" charset="0"/>
              </a:rPr>
              <a:t>iostream</a:t>
            </a:r>
            <a:r>
              <a:rPr lang="en-US" sz="2400" dirty="0" smtClean="0">
                <a:solidFill>
                  <a:schemeClr val="tx2">
                    <a:satMod val="130000"/>
                  </a:schemeClr>
                </a:solidFill>
                <a:latin typeface="Courier New" pitchFamily="49" charset="0"/>
              </a:rPr>
              <a:t>&gt;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using namespace std; </a:t>
            </a:r>
            <a:br>
              <a:rPr lang="en-US"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fib(</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a:t>
            </a:r>
            <a:r>
              <a:rPr lang="en-US" sz="2400" dirty="0" smtClean="0">
                <a:solidFill>
                  <a:schemeClr val="tx2">
                    <a:satMod val="130000"/>
                  </a:schemeClr>
                </a:solidFill>
                <a:latin typeface="Courier New" pitchFamily="49" charset="0"/>
              </a:rPr>
              <a:t>); //prototype</a:t>
            </a:r>
            <a:br>
              <a:rPr lang="en-US" sz="2400" dirty="0" smtClean="0">
                <a:solidFill>
                  <a:schemeClr val="tx2">
                    <a:satMod val="130000"/>
                  </a:schemeClr>
                </a:solidFill>
                <a:latin typeface="Courier New" pitchFamily="49" charset="0"/>
              </a:rPr>
            </a:b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main()</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cin</a:t>
            </a:r>
            <a:r>
              <a:rPr lang="en-US" sz="2400" dirty="0" smtClean="0">
                <a:solidFill>
                  <a:schemeClr val="tx2">
                    <a:satMod val="130000"/>
                  </a:schemeClr>
                </a:solidFill>
                <a:latin typeface="Courier New" pitchFamily="49" charset="0"/>
              </a:rPr>
              <a:t>&gt;&gt;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for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j=0; j&lt;</a:t>
            </a:r>
            <a:r>
              <a:rPr lang="en-US" sz="2400" dirty="0" err="1" smtClean="0">
                <a:solidFill>
                  <a:schemeClr val="tx2">
                    <a:satMod val="130000"/>
                  </a:schemeClr>
                </a:solidFill>
                <a:latin typeface="Courier New" pitchFamily="49" charset="0"/>
              </a:rPr>
              <a:t>nn</a:t>
            </a:r>
            <a:r>
              <a:rPr lang="en-US" sz="2400" dirty="0" smtClean="0">
                <a:solidFill>
                  <a:schemeClr val="tx2">
                    <a:satMod val="130000"/>
                  </a:schemeClr>
                </a:solidFill>
                <a:latin typeface="Courier New" pitchFamily="49" charset="0"/>
              </a:rPr>
              <a:t>; j++)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cout</a:t>
            </a:r>
            <a:r>
              <a:rPr lang="en-US" sz="2400" dirty="0" smtClean="0">
                <a:solidFill>
                  <a:schemeClr val="tx2">
                    <a:satMod val="130000"/>
                  </a:schemeClr>
                </a:solidFill>
                <a:latin typeface="Courier New" pitchFamily="49" charset="0"/>
              </a:rPr>
              <a:t>&lt;&lt;fib(j)&lt;&lt;"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  return 0;</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a:t>
            </a:r>
            <a:br>
              <a:rPr lang="en-US" sz="2400" dirty="0" smtClean="0">
                <a:solidFill>
                  <a:schemeClr val="tx2">
                    <a:satMod val="130000"/>
                  </a:schemeClr>
                </a:solidFill>
                <a:latin typeface="Courier New" pitchFamily="49" charset="0"/>
              </a:rPr>
            </a:br>
            <a:endParaRPr lang="en-US" dirty="0" smtClean="0">
              <a:solidFill>
                <a:schemeClr val="tx2">
                  <a:satMod val="130000"/>
                </a:schemeClr>
              </a:solidFill>
              <a:latin typeface="Courier New"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763713" y="620713"/>
            <a:ext cx="6283325" cy="6019800"/>
          </a:xfrm>
        </p:spPr>
        <p:txBody>
          <a:bodyPr/>
          <a:lstStyle/>
          <a:p>
            <a:pPr eaLnBrk="1" fontAlgn="auto" hangingPunct="1">
              <a:lnSpc>
                <a:spcPct val="110000"/>
              </a:lnSpc>
              <a:spcAft>
                <a:spcPts val="0"/>
              </a:spcAft>
              <a:defRPr/>
            </a:pPr>
            <a:r>
              <a:rPr lang="en-US" sz="2400" smtClean="0">
                <a:solidFill>
                  <a:schemeClr val="tx2">
                    <a:satMod val="130000"/>
                  </a:schemeClr>
                </a:solidFill>
                <a:latin typeface="Courier New" pitchFamily="49" charset="0"/>
              </a:rPr>
              <a:t>int fib (int i)</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static int knownf[n];</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if (knownf[i]!=0)</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knownf[i];</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int t=i;</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if (i&lt;0)</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0;</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if (i&gt;1)</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t=fib(i-1)+fib(i-2);</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return knownf[i]=t;</a:t>
            </a:r>
            <a:br>
              <a:rPr lang="en-US" sz="2400" smtClean="0">
                <a:solidFill>
                  <a:schemeClr val="tx2">
                    <a:satMod val="130000"/>
                  </a:schemeClr>
                </a:solidFill>
                <a:latin typeface="Courier New" pitchFamily="49" charset="0"/>
              </a:rPr>
            </a:br>
            <a:r>
              <a:rPr lang="en-AU" sz="2400" smtClean="0">
                <a:solidFill>
                  <a:schemeClr val="tx1"/>
                </a:solidFill>
                <a:latin typeface="Courier New" pitchFamily="49" charset="0"/>
              </a:rPr>
              <a:t>}</a:t>
            </a:r>
            <a:endParaRPr lang="en-US" smtClean="0">
              <a:solidFill>
                <a:schemeClr val="tx1"/>
              </a:solidFill>
              <a:latin typeface="Courier New"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403350" y="1052513"/>
            <a:ext cx="7497763" cy="1143000"/>
          </a:xfrm>
        </p:spPr>
        <p:txBody>
          <a:bodyPr>
            <a:normAutofit fontScale="90000"/>
          </a:bodyPr>
          <a:lstStyle/>
          <a:p>
            <a:pPr eaLnBrk="1" fontAlgn="auto" hangingPunct="1">
              <a:spcAft>
                <a:spcPts val="0"/>
              </a:spcAft>
              <a:defRPr/>
            </a:pPr>
            <a:r>
              <a:rPr lang="bg-BG" sz="3200" smtClean="0">
                <a:solidFill>
                  <a:schemeClr val="tx2">
                    <a:satMod val="130000"/>
                  </a:schemeClr>
                </a:solidFill>
              </a:rPr>
              <a:t>Основни стъпки при създаване на алгоритми и програми, реализиращи динамично програмиране (оптимиране)</a:t>
            </a:r>
          </a:p>
        </p:txBody>
      </p:sp>
      <p:sp>
        <p:nvSpPr>
          <p:cNvPr id="88067" name="Rectangle 3"/>
          <p:cNvSpPr>
            <a:spLocks noGrp="1" noChangeArrowheads="1"/>
          </p:cNvSpPr>
          <p:nvPr>
            <p:ph idx="1"/>
          </p:nvPr>
        </p:nvSpPr>
        <p:spPr>
          <a:xfrm>
            <a:off x="685800" y="2781300"/>
            <a:ext cx="7772400" cy="3314700"/>
          </a:xfrm>
        </p:spPr>
        <p:txBody>
          <a:bodyPr/>
          <a:lstStyle/>
          <a:p>
            <a:pPr eaLnBrk="1" hangingPunct="1"/>
            <a:r>
              <a:rPr lang="bg-BG" sz="2800" smtClean="0"/>
              <a:t>Описание на структурата на решението</a:t>
            </a:r>
          </a:p>
          <a:p>
            <a:pPr eaLnBrk="1" hangingPunct="1"/>
            <a:r>
              <a:rPr lang="bg-BG" sz="2800" smtClean="0"/>
              <a:t>Рекурсивно дефиниране на резултата</a:t>
            </a:r>
          </a:p>
          <a:p>
            <a:pPr eaLnBrk="1" hangingPunct="1"/>
            <a:r>
              <a:rPr lang="bg-BG" sz="2800" smtClean="0"/>
              <a:t>Изчисляване на стойностите-кандидати за оптимално решение</a:t>
            </a:r>
          </a:p>
          <a:p>
            <a:pPr eaLnBrk="1" hangingPunct="1"/>
            <a:r>
              <a:rPr lang="bg-BG" sz="2800" smtClean="0"/>
              <a:t>Конструиране на оптималното решение</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457200" y="152400"/>
            <a:ext cx="8382000" cy="5943600"/>
          </a:xfrm>
        </p:spPr>
        <p:txBody>
          <a:bodyPr/>
          <a:lstStyle/>
          <a:p>
            <a:pPr eaLnBrk="1" fontAlgn="auto" hangingPunct="1">
              <a:spcAft>
                <a:spcPts val="0"/>
              </a:spcAft>
              <a:defRPr/>
            </a:pPr>
            <a:r>
              <a:rPr lang="bg-BG" sz="2400" smtClean="0">
                <a:solidFill>
                  <a:schemeClr val="tx2">
                    <a:satMod val="130000"/>
                  </a:schemeClr>
                </a:solidFill>
              </a:rPr>
              <a:t>Още една класическа оптимизационна задача, която се решава чрез динамично оптимиране</a:t>
            </a:r>
            <a:r>
              <a:rPr lang="en-US" sz="2400" smtClean="0">
                <a:solidFill>
                  <a:schemeClr val="tx2">
                    <a:satMod val="130000"/>
                  </a:schemeClr>
                </a:solidFill>
              </a:rPr>
              <a:t>:</a:t>
            </a:r>
            <a:r>
              <a:rPr lang="en-US" sz="800" smtClean="0">
                <a:solidFill>
                  <a:schemeClr val="tx2">
                    <a:satMod val="130000"/>
                  </a:schemeClr>
                </a:solidFill>
              </a:rPr>
              <a:t/>
            </a:r>
            <a:br>
              <a:rPr lang="en-US" sz="800" smtClean="0">
                <a:solidFill>
                  <a:schemeClr val="tx2">
                    <a:satMod val="130000"/>
                  </a:schemeClr>
                </a:solidFill>
              </a:rPr>
            </a:br>
            <a:r>
              <a:rPr lang="en-US" sz="800" smtClean="0">
                <a:solidFill>
                  <a:schemeClr val="tx2">
                    <a:satMod val="130000"/>
                  </a:schemeClr>
                </a:solidFill>
              </a:rPr>
              <a:t/>
            </a:r>
            <a:br>
              <a:rPr lang="en-US" sz="800" smtClean="0">
                <a:solidFill>
                  <a:schemeClr val="tx2">
                    <a:satMod val="130000"/>
                  </a:schemeClr>
                </a:solidFill>
              </a:rPr>
            </a:br>
            <a:r>
              <a:rPr lang="bg-BG" sz="2400" smtClean="0">
                <a:solidFill>
                  <a:schemeClr val="tx2">
                    <a:satMod val="130000"/>
                  </a:schemeClr>
                </a:solidFill>
              </a:rPr>
              <a:t>ЗАДАЧА ЗА РАНИЦАТА</a:t>
            </a:r>
            <a:r>
              <a:rPr lang="en-US" sz="2400" smtClean="0">
                <a:solidFill>
                  <a:schemeClr val="tx2">
                    <a:satMod val="130000"/>
                  </a:schemeClr>
                </a:solidFill>
              </a:rPr>
              <a:t/>
            </a:r>
            <a:br>
              <a:rPr lang="en-US" sz="2400" smtClean="0">
                <a:solidFill>
                  <a:schemeClr val="tx2">
                    <a:satMod val="130000"/>
                  </a:schemeClr>
                </a:solidFill>
              </a:rPr>
            </a:br>
            <a:r>
              <a:rPr lang="bg-BG" sz="2400" smtClean="0">
                <a:solidFill>
                  <a:schemeClr val="tx2">
                    <a:satMod val="130000"/>
                  </a:schemeClr>
                </a:solidFill>
              </a:rPr>
              <a:t> Дадена е раница с вместимост М килограма и </a:t>
            </a:r>
            <a:r>
              <a:rPr lang="en-US" sz="2400" smtClean="0">
                <a:solidFill>
                  <a:schemeClr val="tx2">
                    <a:satMod val="130000"/>
                  </a:schemeClr>
                </a:solidFill>
              </a:rPr>
              <a:t>N</a:t>
            </a:r>
            <a:r>
              <a:rPr lang="bg-BG" sz="2400" smtClean="0">
                <a:solidFill>
                  <a:schemeClr val="tx2">
                    <a:satMod val="130000"/>
                  </a:schemeClr>
                </a:solidFill>
              </a:rPr>
              <a:t> предмета, всеки от които се характеризира с две числа: </a:t>
            </a:r>
            <a:r>
              <a:rPr lang="en-US" sz="2400" b="1" smtClean="0">
                <a:solidFill>
                  <a:schemeClr val="tx2">
                    <a:satMod val="130000"/>
                  </a:schemeClr>
                </a:solidFill>
              </a:rPr>
              <a:t>m</a:t>
            </a:r>
            <a:r>
              <a:rPr lang="en-US" sz="2400" b="1" baseline="-25000" smtClean="0">
                <a:solidFill>
                  <a:schemeClr val="tx2">
                    <a:satMod val="130000"/>
                  </a:schemeClr>
                </a:solidFill>
              </a:rPr>
              <a:t>i</a:t>
            </a:r>
            <a:r>
              <a:rPr lang="en-US" sz="2400" b="1" smtClean="0">
                <a:solidFill>
                  <a:schemeClr val="tx2">
                    <a:satMod val="130000"/>
                  </a:schemeClr>
                </a:solidFill>
              </a:rPr>
              <a:t> </a:t>
            </a:r>
            <a:r>
              <a:rPr lang="en-US" sz="2400" smtClean="0">
                <a:solidFill>
                  <a:schemeClr val="tx2">
                    <a:satMod val="130000"/>
                  </a:schemeClr>
                </a:solidFill>
              </a:rPr>
              <a:t>(</a:t>
            </a:r>
            <a:r>
              <a:rPr lang="bg-BG" sz="2400" smtClean="0">
                <a:solidFill>
                  <a:schemeClr val="tx2">
                    <a:satMod val="130000"/>
                  </a:schemeClr>
                </a:solidFill>
              </a:rPr>
              <a:t>тегло</a:t>
            </a:r>
            <a:r>
              <a:rPr lang="en-US" sz="2400" smtClean="0">
                <a:solidFill>
                  <a:schemeClr val="tx2">
                    <a:satMod val="130000"/>
                  </a:schemeClr>
                </a:solidFill>
              </a:rPr>
              <a:t>) </a:t>
            </a:r>
            <a:r>
              <a:rPr lang="bg-BG" sz="2400" smtClean="0">
                <a:solidFill>
                  <a:schemeClr val="tx2">
                    <a:satMod val="130000"/>
                  </a:schemeClr>
                </a:solidFill>
              </a:rPr>
              <a:t>и </a:t>
            </a:r>
            <a:r>
              <a:rPr lang="en-US" sz="2400" smtClean="0">
                <a:solidFill>
                  <a:schemeClr val="tx2">
                    <a:satMod val="130000"/>
                  </a:schemeClr>
                </a:solidFill>
              </a:rPr>
              <a:t> </a:t>
            </a:r>
            <a:r>
              <a:rPr lang="en-US" sz="2400" b="1" smtClean="0">
                <a:solidFill>
                  <a:schemeClr val="tx2">
                    <a:satMod val="130000"/>
                  </a:schemeClr>
                </a:solidFill>
              </a:rPr>
              <a:t>c</a:t>
            </a:r>
            <a:r>
              <a:rPr lang="en-US" sz="2400" b="1" baseline="-25000" smtClean="0">
                <a:solidFill>
                  <a:schemeClr val="tx2">
                    <a:satMod val="130000"/>
                  </a:schemeClr>
                </a:solidFill>
              </a:rPr>
              <a:t>i</a:t>
            </a:r>
            <a:r>
              <a:rPr lang="en-US" sz="2400" b="1" smtClean="0">
                <a:solidFill>
                  <a:schemeClr val="tx2">
                    <a:satMod val="130000"/>
                  </a:schemeClr>
                </a:solidFill>
              </a:rPr>
              <a:t> </a:t>
            </a:r>
            <a:r>
              <a:rPr lang="en-US" sz="2400" smtClean="0">
                <a:solidFill>
                  <a:schemeClr val="tx2">
                    <a:satMod val="130000"/>
                  </a:schemeClr>
                </a:solidFill>
              </a:rPr>
              <a:t>(</a:t>
            </a:r>
            <a:r>
              <a:rPr lang="bg-BG" sz="2400" smtClean="0">
                <a:solidFill>
                  <a:schemeClr val="tx2">
                    <a:satMod val="130000"/>
                  </a:schemeClr>
                </a:solidFill>
              </a:rPr>
              <a:t>стойност). Да се избере такова множество предмети, чиято сумарна стойност е максимална, а сумата от теглата им не надвишава М. Числата </a:t>
            </a:r>
            <a:r>
              <a:rPr lang="en-US" sz="2400" smtClean="0">
                <a:solidFill>
                  <a:schemeClr val="tx2">
                    <a:satMod val="130000"/>
                  </a:schemeClr>
                </a:solidFill>
              </a:rPr>
              <a:t>M, N, </a:t>
            </a:r>
            <a:r>
              <a:rPr lang="en-US" sz="2400" b="1" smtClean="0">
                <a:solidFill>
                  <a:schemeClr val="tx2">
                    <a:satMod val="130000"/>
                  </a:schemeClr>
                </a:solidFill>
              </a:rPr>
              <a:t>m</a:t>
            </a:r>
            <a:r>
              <a:rPr lang="en-US" sz="2400" b="1" baseline="-25000" smtClean="0">
                <a:solidFill>
                  <a:schemeClr val="tx2">
                    <a:satMod val="130000"/>
                  </a:schemeClr>
                </a:solidFill>
              </a:rPr>
              <a:t>i</a:t>
            </a:r>
            <a:r>
              <a:rPr lang="en-US" sz="2400" smtClean="0">
                <a:solidFill>
                  <a:schemeClr val="tx2">
                    <a:satMod val="130000"/>
                  </a:schemeClr>
                </a:solidFill>
              </a:rPr>
              <a:t>, </a:t>
            </a:r>
            <a:r>
              <a:rPr lang="bg-BG" sz="2400" smtClean="0">
                <a:solidFill>
                  <a:schemeClr val="tx2">
                    <a:satMod val="130000"/>
                  </a:schemeClr>
                </a:solidFill>
              </a:rPr>
              <a:t>и </a:t>
            </a:r>
            <a:r>
              <a:rPr lang="en-US" sz="2400" smtClean="0">
                <a:solidFill>
                  <a:schemeClr val="tx2">
                    <a:satMod val="130000"/>
                  </a:schemeClr>
                </a:solidFill>
              </a:rPr>
              <a:t> </a:t>
            </a:r>
            <a:r>
              <a:rPr lang="en-US" sz="2400" b="1" smtClean="0">
                <a:solidFill>
                  <a:schemeClr val="tx2">
                    <a:satMod val="130000"/>
                  </a:schemeClr>
                </a:solidFill>
              </a:rPr>
              <a:t>c</a:t>
            </a:r>
            <a:r>
              <a:rPr lang="en-US" sz="2400" b="1" baseline="-25000" smtClean="0">
                <a:solidFill>
                  <a:schemeClr val="tx2">
                    <a:satMod val="130000"/>
                  </a:schemeClr>
                </a:solidFill>
              </a:rPr>
              <a:t>i</a:t>
            </a:r>
            <a:r>
              <a:rPr lang="en-US" sz="2400" b="1" smtClean="0">
                <a:solidFill>
                  <a:schemeClr val="tx2">
                    <a:satMod val="130000"/>
                  </a:schemeClr>
                </a:solidFill>
              </a:rPr>
              <a:t> </a:t>
            </a:r>
            <a:r>
              <a:rPr lang="en-US" sz="2400" smtClean="0">
                <a:solidFill>
                  <a:schemeClr val="tx2">
                    <a:satMod val="130000"/>
                  </a:schemeClr>
                </a:solidFill>
              </a:rPr>
              <a:t>с</a:t>
            </a:r>
            <a:r>
              <a:rPr lang="bg-BG" sz="2400" smtClean="0">
                <a:solidFill>
                  <a:schemeClr val="tx2">
                    <a:satMod val="130000"/>
                  </a:schemeClr>
                </a:solidFill>
              </a:rPr>
              <a:t>а естествени числа (</a:t>
            </a:r>
            <a:r>
              <a:rPr lang="en-US" sz="2400" smtClean="0">
                <a:solidFill>
                  <a:schemeClr val="tx2">
                    <a:satMod val="130000"/>
                  </a:schemeClr>
                </a:solidFill>
              </a:rPr>
              <a:t>1&lt;=i&lt;=N).</a:t>
            </a:r>
            <a:br>
              <a:rPr lang="en-US" sz="2400" smtClean="0">
                <a:solidFill>
                  <a:schemeClr val="tx2">
                    <a:satMod val="130000"/>
                  </a:schemeClr>
                </a:solidFill>
              </a:rPr>
            </a:br>
            <a:r>
              <a:rPr lang="en-US" sz="2400" smtClean="0">
                <a:solidFill>
                  <a:schemeClr val="tx2">
                    <a:satMod val="130000"/>
                  </a:schemeClr>
                </a:solidFill>
              </a:rPr>
              <a:t>	</a:t>
            </a:r>
            <a:r>
              <a:rPr lang="bg-BG" sz="2400" smtClean="0">
                <a:solidFill>
                  <a:schemeClr val="tx2">
                    <a:satMod val="130000"/>
                  </a:schemeClr>
                </a:solidFill>
              </a:rPr>
              <a:t>Задачата се свежда до намиране на максимума на сумата:</a:t>
            </a: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endParaRPr lang="en-US" sz="2400" smtClean="0">
              <a:solidFill>
                <a:schemeClr val="tx2">
                  <a:satMod val="130000"/>
                </a:schemeClr>
              </a:solidFill>
            </a:endParaRPr>
          </a:p>
        </p:txBody>
      </p:sp>
      <p:graphicFrame>
        <p:nvGraphicFramePr>
          <p:cNvPr id="14338" name="Object 3"/>
          <p:cNvGraphicFramePr>
            <a:graphicFrameLocks noChangeAspect="1"/>
          </p:cNvGraphicFramePr>
          <p:nvPr/>
        </p:nvGraphicFramePr>
        <p:xfrm>
          <a:off x="1676400" y="4648200"/>
          <a:ext cx="1143000" cy="1143000"/>
        </p:xfrm>
        <a:graphic>
          <a:graphicData uri="http://schemas.openxmlformats.org/presentationml/2006/ole">
            <mc:AlternateContent xmlns:mc="http://schemas.openxmlformats.org/markup-compatibility/2006">
              <mc:Choice xmlns:v="urn:schemas-microsoft-com:vml" Requires="v">
                <p:oleObj spid="_x0000_s14347" name="Equation" r:id="rId3" imgW="431640" imgH="431640" progId="">
                  <p:embed/>
                </p:oleObj>
              </mc:Choice>
              <mc:Fallback>
                <p:oleObj name="Equation" r:id="rId3" imgW="431640" imgH="43164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648200"/>
                        <a:ext cx="1143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4"/>
          <p:cNvGraphicFramePr>
            <a:graphicFrameLocks noChangeAspect="1"/>
          </p:cNvGraphicFramePr>
          <p:nvPr/>
        </p:nvGraphicFramePr>
        <p:xfrm>
          <a:off x="4724400" y="4648200"/>
          <a:ext cx="3048000" cy="1066800"/>
        </p:xfrm>
        <a:graphic>
          <a:graphicData uri="http://schemas.openxmlformats.org/presentationml/2006/ole">
            <mc:AlternateContent xmlns:mc="http://schemas.openxmlformats.org/markup-compatibility/2006">
              <mc:Choice xmlns:v="urn:schemas-microsoft-com:vml" Requires="v">
                <p:oleObj spid="_x0000_s14348" name="Equation" r:id="rId5" imgW="799920" imgH="431640" progId="">
                  <p:embed/>
                </p:oleObj>
              </mc:Choice>
              <mc:Fallback>
                <p:oleObj name="Equation" r:id="rId5" imgW="799920" imgH="43164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4648200"/>
                        <a:ext cx="3048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0" name="Object 5"/>
          <p:cNvGraphicFramePr>
            <a:graphicFrameLocks noChangeAspect="1"/>
          </p:cNvGraphicFramePr>
          <p:nvPr/>
        </p:nvGraphicFramePr>
        <p:xfrm>
          <a:off x="3505200" y="5867400"/>
          <a:ext cx="5257800" cy="533400"/>
        </p:xfrm>
        <a:graphic>
          <a:graphicData uri="http://schemas.openxmlformats.org/presentationml/2006/ole">
            <mc:AlternateContent xmlns:mc="http://schemas.openxmlformats.org/markup-compatibility/2006">
              <mc:Choice xmlns:v="urn:schemas-microsoft-com:vml" Requires="v">
                <p:oleObj spid="_x0000_s14349" name="Equation" r:id="rId7" imgW="2361960" imgH="228600" progId="">
                  <p:embed/>
                </p:oleObj>
              </mc:Choice>
              <mc:Fallback>
                <p:oleObj name="Equation" r:id="rId7" imgW="2361960" imgH="228600" progId="">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5867400"/>
                        <a:ext cx="525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304800" y="609600"/>
            <a:ext cx="8534400" cy="5791200"/>
          </a:xfrm>
        </p:spPr>
        <p:txBody>
          <a:bodyPr>
            <a:normAutofit fontScale="90000"/>
          </a:bodyPr>
          <a:lstStyle/>
          <a:p>
            <a:pPr eaLnBrk="1" fontAlgn="auto" hangingPunct="1">
              <a:spcAft>
                <a:spcPts val="0"/>
              </a:spcAft>
              <a:defRPr/>
            </a:pPr>
            <a:r>
              <a:rPr lang="bg-BG" sz="2400" smtClean="0">
                <a:solidFill>
                  <a:schemeClr val="tx2">
                    <a:satMod val="130000"/>
                  </a:schemeClr>
                </a:solidFill>
              </a:rPr>
              <a:t>Решение: Ще дефинираме рекурентна целева функция </a:t>
            </a:r>
            <a:r>
              <a:rPr lang="en-US" sz="2400" i="1" smtClean="0">
                <a:solidFill>
                  <a:schemeClr val="tx2">
                    <a:satMod val="130000"/>
                  </a:schemeClr>
                </a:solidFill>
              </a:rPr>
              <a:t>F(i)</a:t>
            </a:r>
            <a:r>
              <a:rPr lang="bg-BG" sz="2400" i="1" smtClean="0">
                <a:solidFill>
                  <a:schemeClr val="tx2">
                    <a:satMod val="130000"/>
                  </a:schemeClr>
                </a:solidFill>
              </a:rPr>
              <a:t>,</a:t>
            </a:r>
            <a:r>
              <a:rPr lang="bg-BG" sz="2400" smtClean="0">
                <a:solidFill>
                  <a:schemeClr val="tx2">
                    <a:satMod val="130000"/>
                  </a:schemeClr>
                </a:solidFill>
              </a:rPr>
              <a:t> представляваща решение за раница с вместимост</a:t>
            </a:r>
            <a:r>
              <a:rPr lang="bg-BG" sz="2400" i="1" smtClean="0">
                <a:solidFill>
                  <a:schemeClr val="tx2">
                    <a:satMod val="130000"/>
                  </a:schemeClr>
                </a:solidFill>
              </a:rPr>
              <a:t> </a:t>
            </a:r>
            <a:r>
              <a:rPr lang="en-US" sz="2400" i="1" smtClean="0">
                <a:solidFill>
                  <a:schemeClr val="tx2">
                    <a:satMod val="130000"/>
                  </a:schemeClr>
                </a:solidFill>
              </a:rPr>
              <a:t>i</a:t>
            </a:r>
            <a:r>
              <a:rPr lang="en-US" sz="2400" smtClean="0">
                <a:solidFill>
                  <a:schemeClr val="tx2">
                    <a:satMod val="130000"/>
                  </a:schemeClr>
                </a:solidFill>
              </a:rPr>
              <a:t>. </a:t>
            </a: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Тогава</a:t>
            </a: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rPr>
              <a:t/>
            </a:r>
            <a:br>
              <a:rPr lang="en-US" sz="2400" smtClean="0">
                <a:solidFill>
                  <a:schemeClr val="tx2">
                    <a:satMod val="130000"/>
                  </a:schemeClr>
                </a:solidFill>
              </a:rPr>
            </a:br>
            <a:r>
              <a:rPr lang="bg-BG" sz="2400" smtClean="0">
                <a:solidFill>
                  <a:schemeClr val="tx2">
                    <a:satMod val="130000"/>
                  </a:schemeClr>
                </a:solidFill>
              </a:rPr>
              <a:t>Рекурентната формула трябва да бъде реализирана като рекурсивна функция. За да се извърши динамично оптимиране, за всяка </a:t>
            </a:r>
            <a:r>
              <a:rPr lang="en-US" sz="2400" smtClean="0">
                <a:solidFill>
                  <a:schemeClr val="tx2">
                    <a:satMod val="130000"/>
                  </a:schemeClr>
                </a:solidFill>
              </a:rPr>
              <a:t> </a:t>
            </a:r>
            <a:r>
              <a:rPr lang="en-US" sz="2400" i="1" smtClean="0">
                <a:solidFill>
                  <a:schemeClr val="tx2">
                    <a:satMod val="130000"/>
                  </a:schemeClr>
                </a:solidFill>
              </a:rPr>
              <a:t>F(i)</a:t>
            </a:r>
            <a:r>
              <a:rPr lang="bg-BG" sz="2400" i="1" smtClean="0">
                <a:solidFill>
                  <a:schemeClr val="tx2">
                    <a:satMod val="130000"/>
                  </a:schemeClr>
                </a:solidFill>
              </a:rPr>
              <a:t>,</a:t>
            </a:r>
            <a:r>
              <a:rPr lang="bg-BG" sz="2400" smtClean="0">
                <a:solidFill>
                  <a:schemeClr val="tx2">
                    <a:satMod val="130000"/>
                  </a:schemeClr>
                </a:solidFill>
              </a:rPr>
              <a:t> ще се поддържа множество </a:t>
            </a:r>
            <a:r>
              <a:rPr lang="en-US" sz="2400" i="1" smtClean="0">
                <a:solidFill>
                  <a:schemeClr val="tx2">
                    <a:satMod val="130000"/>
                  </a:schemeClr>
                </a:solidFill>
              </a:rPr>
              <a:t>s[i],</a:t>
            </a:r>
            <a:r>
              <a:rPr lang="en-US" sz="2400" smtClean="0">
                <a:solidFill>
                  <a:schemeClr val="tx2">
                    <a:satMod val="130000"/>
                  </a:schemeClr>
                </a:solidFill>
              </a:rPr>
              <a:t> </a:t>
            </a:r>
            <a:r>
              <a:rPr lang="bg-BG" sz="2400" smtClean="0">
                <a:solidFill>
                  <a:schemeClr val="tx2">
                    <a:satMod val="130000"/>
                  </a:schemeClr>
                </a:solidFill>
              </a:rPr>
              <a:t> съдържащо конкретните предмети, чието вземане води до тази минимална стойност. Освен това </a:t>
            </a:r>
            <a:r>
              <a:rPr lang="en-US" sz="2400" i="1" smtClean="0">
                <a:solidFill>
                  <a:schemeClr val="tx2">
                    <a:satMod val="130000"/>
                  </a:schemeClr>
                </a:solidFill>
              </a:rPr>
              <a:t>s[i]</a:t>
            </a:r>
            <a:r>
              <a:rPr lang="en-US" sz="2400" smtClean="0">
                <a:solidFill>
                  <a:schemeClr val="tx2">
                    <a:satMod val="130000"/>
                  </a:schemeClr>
                </a:solidFill>
              </a:rPr>
              <a:t> </a:t>
            </a:r>
            <a:r>
              <a:rPr lang="bg-BG" sz="2400" smtClean="0">
                <a:solidFill>
                  <a:schemeClr val="tx2">
                    <a:satMod val="130000"/>
                  </a:schemeClr>
                </a:solidFill>
              </a:rPr>
              <a:t>ще ни предпази от повторното включване на един и същи предмет. </a:t>
            </a:r>
            <a:r>
              <a:rPr lang="en-US" sz="2400" smtClean="0">
                <a:solidFill>
                  <a:schemeClr val="tx2">
                    <a:satMod val="130000"/>
                  </a:schemeClr>
                </a:solidFill>
              </a:rPr>
              <a:t/>
            </a:r>
            <a:br>
              <a:rPr lang="en-US" sz="2400" smtClean="0">
                <a:solidFill>
                  <a:schemeClr val="tx2">
                    <a:satMod val="130000"/>
                  </a:schemeClr>
                </a:solidFill>
              </a:rPr>
            </a:br>
            <a:r>
              <a:rPr lang="bg-BG" sz="2400" smtClean="0">
                <a:solidFill>
                  <a:schemeClr val="tx2">
                    <a:satMod val="130000"/>
                  </a:schemeClr>
                </a:solidFill>
              </a:rPr>
              <a:t>Реализация - </a:t>
            </a:r>
            <a:r>
              <a:rPr lang="en-US" sz="2400" smtClean="0">
                <a:solidFill>
                  <a:schemeClr val="tx2">
                    <a:satMod val="130000"/>
                  </a:schemeClr>
                </a:solidFill>
              </a:rPr>
              <a:t>[3]</a:t>
            </a:r>
          </a:p>
        </p:txBody>
      </p:sp>
      <p:graphicFrame>
        <p:nvGraphicFramePr>
          <p:cNvPr id="15362" name="Object 3"/>
          <p:cNvGraphicFramePr>
            <a:graphicFrameLocks noChangeAspect="1"/>
          </p:cNvGraphicFramePr>
          <p:nvPr/>
        </p:nvGraphicFramePr>
        <p:xfrm>
          <a:off x="1447800" y="1600200"/>
          <a:ext cx="6248400" cy="2514600"/>
        </p:xfrm>
        <a:graphic>
          <a:graphicData uri="http://schemas.openxmlformats.org/presentationml/2006/ole">
            <mc:AlternateContent xmlns:mc="http://schemas.openxmlformats.org/markup-compatibility/2006">
              <mc:Choice xmlns:v="urn:schemas-microsoft-com:vml" Requires="v">
                <p:oleObj spid="_x0000_s15365" name="Equation" r:id="rId3" imgW="2666880" imgH="1015920" progId="">
                  <p:embed/>
                </p:oleObj>
              </mc:Choice>
              <mc:Fallback>
                <p:oleObj name="Equation" r:id="rId3" imgW="2666880" imgH="101592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600200"/>
                        <a:ext cx="6248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Grp="1" noChangeArrowheads="1"/>
          </p:cNvSpPr>
          <p:nvPr>
            <p:ph type="title"/>
          </p:nvPr>
        </p:nvSpPr>
        <p:spPr>
          <a:xfrm>
            <a:off x="971550" y="620713"/>
            <a:ext cx="7991475" cy="6059487"/>
          </a:xfrm>
        </p:spPr>
        <p:txBody>
          <a:bodyPr>
            <a:normAutofit fontScale="90000"/>
          </a:bodyPr>
          <a:lstStyle/>
          <a:p>
            <a:pPr eaLnBrk="1" fontAlgn="auto" hangingPunct="1">
              <a:spcAft>
                <a:spcPts val="0"/>
              </a:spcAft>
              <a:defRPr/>
            </a:pPr>
            <a:r>
              <a:rPr lang="bg-BG" sz="2400" smtClean="0">
                <a:solidFill>
                  <a:schemeClr val="tx2">
                    <a:satMod val="130000"/>
                  </a:schemeClr>
                </a:solidFill>
              </a:rPr>
              <a:t>		</a:t>
            </a:r>
            <a:r>
              <a:rPr lang="bg-BG" sz="2800" u="sng" smtClean="0">
                <a:solidFill>
                  <a:schemeClr val="tx2">
                    <a:satMod val="130000"/>
                  </a:schemeClr>
                </a:solidFill>
              </a:rPr>
              <a:t>Задача за раницата</a:t>
            </a: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#include&lt;iostream&gt;</a:t>
            </a:r>
            <a:r>
              <a:rPr lang="en-US" sz="2400" smtClean="0">
                <a:solidFill>
                  <a:schemeClr val="tx2">
                    <a:satMod val="130000"/>
                  </a:schemeClr>
                </a:solidFill>
              </a:rPr>
              <a:t/>
            </a:r>
            <a:br>
              <a:rPr lang="en-US" sz="2400" smtClean="0">
                <a:solidFill>
                  <a:schemeClr val="tx2">
                    <a:satMod val="130000"/>
                  </a:schemeClr>
                </a:solidFill>
              </a:rPr>
            </a:br>
            <a:r>
              <a:rPr lang="en-US" sz="2400" smtClean="0">
                <a:solidFill>
                  <a:schemeClr val="tx2">
                    <a:satMod val="130000"/>
                  </a:schemeClr>
                </a:solidFill>
                <a:latin typeface="Corbel" pitchFamily="34" charset="0"/>
                <a:cs typeface="Courier New" pitchFamily="49" charset="0"/>
              </a:rPr>
              <a:t>using namespace std; </a:t>
            </a:r>
            <a:r>
              <a:rPr lang="bg-BG" sz="2400" smtClean="0">
                <a:solidFill>
                  <a:schemeClr val="tx2">
                    <a:satMod val="130000"/>
                  </a:schemeClr>
                </a:solidFill>
              </a:rPr>
              <a:t/>
            </a:r>
            <a:br>
              <a:rPr lang="bg-BG" sz="2400" smtClean="0">
                <a:solidFill>
                  <a:schemeClr val="tx2">
                    <a:satMod val="130000"/>
                  </a:schemeClr>
                </a:solidFill>
              </a:rPr>
            </a:br>
            <a:r>
              <a:rPr lang="en-US" sz="2400" smtClean="0">
                <a:solidFill>
                  <a:schemeClr val="tx2">
                    <a:satMod val="130000"/>
                  </a:schemeClr>
                </a:solidFill>
              </a:rPr>
              <a:t>const int N=</a:t>
            </a:r>
            <a:r>
              <a:rPr lang="bg-BG" sz="2400" smtClean="0">
                <a:solidFill>
                  <a:schemeClr val="tx2">
                    <a:satMod val="130000"/>
                  </a:schemeClr>
                </a:solidFill>
              </a:rPr>
              <a:t>10  // Брой предмети</a:t>
            </a:r>
            <a:br>
              <a:rPr lang="bg-BG" sz="2400" smtClean="0">
                <a:solidFill>
                  <a:schemeClr val="tx2">
                    <a:satMod val="130000"/>
                  </a:schemeClr>
                </a:solidFill>
              </a:rPr>
            </a:br>
            <a:r>
              <a:rPr lang="bg-BG" sz="2400" smtClean="0">
                <a:solidFill>
                  <a:schemeClr val="tx2">
                    <a:satMod val="130000"/>
                  </a:schemeClr>
                </a:solidFill>
              </a:rPr>
              <a:t>void tr (int i, int tw, int c); // Рекурсивна функция</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smtClean="0">
                <a:solidFill>
                  <a:schemeClr val="tx2">
                    <a:satMod val="130000"/>
                  </a:schemeClr>
                </a:solidFill>
              </a:rPr>
              <a:t>struct object</a:t>
            </a:r>
            <a:br>
              <a:rPr lang="bg-BG" sz="2400" smtClean="0">
                <a:solidFill>
                  <a:schemeClr val="tx2">
                    <a:satMod val="130000"/>
                  </a:schemeClr>
                </a:solidFill>
              </a:rPr>
            </a:br>
            <a:r>
              <a:rPr lang="bg-BG" sz="2400" smtClean="0">
                <a:solidFill>
                  <a:schemeClr val="tx2">
                    <a:satMod val="130000"/>
                  </a:schemeClr>
                </a:solidFill>
              </a:rPr>
              <a:t>{</a:t>
            </a:r>
            <a:br>
              <a:rPr lang="bg-BG" sz="2400" smtClean="0">
                <a:solidFill>
                  <a:schemeClr val="tx2">
                    <a:satMod val="130000"/>
                  </a:schemeClr>
                </a:solidFill>
              </a:rPr>
            </a:br>
            <a:r>
              <a:rPr lang="bg-BG" sz="2400" smtClean="0">
                <a:solidFill>
                  <a:schemeClr val="tx2">
                    <a:satMod val="130000"/>
                  </a:schemeClr>
                </a:solidFill>
              </a:rPr>
              <a:t>	int w;</a:t>
            </a:r>
            <a:br>
              <a:rPr lang="bg-BG" sz="2400" smtClean="0">
                <a:solidFill>
                  <a:schemeClr val="tx2">
                    <a:satMod val="130000"/>
                  </a:schemeClr>
                </a:solidFill>
              </a:rPr>
            </a:br>
            <a:r>
              <a:rPr lang="bg-BG" sz="2400" smtClean="0">
                <a:solidFill>
                  <a:schemeClr val="tx2">
                    <a:satMod val="130000"/>
                  </a:schemeClr>
                </a:solidFill>
              </a:rPr>
              <a:t>	int c;</a:t>
            </a:r>
            <a:br>
              <a:rPr lang="bg-BG" sz="2400" smtClean="0">
                <a:solidFill>
                  <a:schemeClr val="tx2">
                    <a:satMod val="130000"/>
                  </a:schemeClr>
                </a:solidFill>
              </a:rPr>
            </a:br>
            <a:r>
              <a:rPr lang="bg-BG" sz="2400" smtClean="0">
                <a:solidFill>
                  <a:schemeClr val="tx2">
                    <a:satMod val="130000"/>
                  </a:schemeClr>
                </a:solidFill>
              </a:rPr>
              <a:t>} </a:t>
            </a:r>
            <a:br>
              <a:rPr lang="bg-BG" sz="2400" smtClean="0">
                <a:solidFill>
                  <a:schemeClr val="tx2">
                    <a:satMod val="130000"/>
                  </a:schemeClr>
                </a:solidFill>
              </a:rPr>
            </a:br>
            <a:r>
              <a:rPr lang="bg-BG" sz="2400" smtClean="0">
                <a:solidFill>
                  <a:schemeClr val="tx2">
                    <a:satMod val="130000"/>
                  </a:schemeClr>
                </a:solidFill>
              </a:rPr>
              <a:t>a[N]={10, 18, 11, 20, 12, 17, 13, 19, 14, 25, 15, 21, 16, 27, 17, 23, 18, 25, 19, 24};</a:t>
            </a:r>
            <a:br>
              <a:rPr lang="bg-BG" sz="2400" smtClean="0">
                <a:solidFill>
                  <a:schemeClr val="tx2">
                    <a:satMod val="130000"/>
                  </a:schemeClr>
                </a:solidFill>
              </a:rPr>
            </a:br>
            <a:r>
              <a:rPr lang="bg-BG" sz="2400" smtClean="0">
                <a:solidFill>
                  <a:schemeClr val="tx2">
                    <a:satMod val="130000"/>
                  </a:schemeClr>
                </a:solidFill>
              </a:rPr>
              <a:t>int limW, w1, wh, w2, totalC, maxC;</a:t>
            </a:r>
            <a:br>
              <a:rPr lang="bg-BG" sz="2400" smtClean="0">
                <a:solidFill>
                  <a:schemeClr val="tx2">
                    <a:satMod val="130000"/>
                  </a:schemeClr>
                </a:solidFill>
              </a:rPr>
            </a:br>
            <a:r>
              <a:rPr lang="bg-BG" sz="2400" smtClean="0">
                <a:solidFill>
                  <a:schemeClr val="tx2">
                    <a:satMod val="130000"/>
                  </a:schemeClr>
                </a:solidFill>
              </a:rPr>
              <a:t>int S[N], optS[N];	// текуща извадка и оптимална извадка</a:t>
            </a:r>
            <a:br>
              <a:rPr lang="bg-BG" sz="2400" smtClean="0">
                <a:solidFill>
                  <a:schemeClr val="tx2">
                    <a:satMod val="130000"/>
                  </a:schemeClr>
                </a:solidFill>
              </a:rPr>
            </a:br>
            <a:r>
              <a:rPr lang="bg-BG" sz="2400" smtClean="0">
                <a:solidFill>
                  <a:schemeClr val="tx2">
                    <a:satMod val="130000"/>
                  </a:schemeClr>
                </a:solidFill>
              </a:rPr>
              <a:t>char flag[2]={' ', '*'};</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endParaRPr lang="bg-BG" sz="2400" smtClean="0">
              <a:solidFill>
                <a:schemeClr val="tx2">
                  <a:satMod val="130000"/>
                </a:schemeClr>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ChangeArrowheads="1"/>
          </p:cNvSpPr>
          <p:nvPr/>
        </p:nvSpPr>
        <p:spPr bwMode="auto">
          <a:xfrm>
            <a:off x="971550" y="333375"/>
            <a:ext cx="7777163" cy="6299200"/>
          </a:xfrm>
          <a:prstGeom prst="rect">
            <a:avLst/>
          </a:prstGeom>
          <a:noFill/>
          <a:ln w="9525">
            <a:noFill/>
            <a:miter lim="800000"/>
            <a:headEnd/>
            <a:tailEnd/>
          </a:ln>
        </p:spPr>
        <p:txBody>
          <a:bodyPr>
            <a:spAutoFit/>
          </a:bodyPr>
          <a:lstStyle/>
          <a:p>
            <a:r>
              <a:rPr lang="bg-BG">
                <a:solidFill>
                  <a:schemeClr val="tx2"/>
                </a:solidFill>
              </a:rPr>
              <a:t>void main()</a:t>
            </a:r>
            <a:br>
              <a:rPr lang="bg-BG">
                <a:solidFill>
                  <a:schemeClr val="tx2"/>
                </a:solidFill>
              </a:rPr>
            </a:br>
            <a:r>
              <a:rPr lang="bg-BG">
                <a:solidFill>
                  <a:schemeClr val="tx2"/>
                </a:solidFill>
              </a:rPr>
              <a:t>{    int i;</a:t>
            </a:r>
            <a:br>
              <a:rPr lang="bg-BG">
                <a:solidFill>
                  <a:schemeClr val="tx2"/>
                </a:solidFill>
              </a:rPr>
            </a:br>
            <a:r>
              <a:rPr lang="bg-BG">
                <a:solidFill>
                  <a:schemeClr val="tx2"/>
                </a:solidFill>
              </a:rPr>
              <a:t>      for (i=0; i&lt;N; i++)        totalC+=a[i].c;</a:t>
            </a:r>
            <a:br>
              <a:rPr lang="bg-BG">
                <a:solidFill>
                  <a:schemeClr val="tx2"/>
                </a:solidFill>
              </a:rPr>
            </a:br>
            <a:r>
              <a:rPr lang="bg-BG">
                <a:solidFill>
                  <a:schemeClr val="tx2"/>
                </a:solidFill>
              </a:rPr>
              <a:t>      cout&lt;&lt;"\nInput limW: ";   cin&gt;&gt;limW;</a:t>
            </a:r>
            <a:br>
              <a:rPr lang="bg-BG">
                <a:solidFill>
                  <a:schemeClr val="tx2"/>
                </a:solidFill>
              </a:rPr>
            </a:br>
            <a:r>
              <a:rPr lang="bg-BG">
                <a:solidFill>
                  <a:schemeClr val="tx2"/>
                </a:solidFill>
              </a:rPr>
              <a:t>      cout&lt;&lt;"\nWeights: ";</a:t>
            </a:r>
            <a:br>
              <a:rPr lang="bg-BG">
                <a:solidFill>
                  <a:schemeClr val="tx2"/>
                </a:solidFill>
              </a:rPr>
            </a:br>
            <a:r>
              <a:rPr lang="bg-BG">
                <a:solidFill>
                  <a:schemeClr val="tx2"/>
                </a:solidFill>
              </a:rPr>
              <a:t>      for (i=0; i&lt;N; i++)</a:t>
            </a:r>
            <a:br>
              <a:rPr lang="bg-BG">
                <a:solidFill>
                  <a:schemeClr val="tx2"/>
                </a:solidFill>
              </a:rPr>
            </a:br>
            <a:r>
              <a:rPr lang="bg-BG">
                <a:solidFill>
                  <a:schemeClr val="tx2"/>
                </a:solidFill>
              </a:rPr>
              <a:t>		cout&lt;&lt;a[i].w&lt;&lt;' ';</a:t>
            </a:r>
            <a:br>
              <a:rPr lang="bg-BG">
                <a:solidFill>
                  <a:schemeClr val="tx2"/>
                </a:solidFill>
              </a:rPr>
            </a:br>
            <a:r>
              <a:rPr lang="bg-BG">
                <a:solidFill>
                  <a:schemeClr val="tx2"/>
                </a:solidFill>
              </a:rPr>
              <a:t>      cout&lt;&lt;"\nCosts:   ";</a:t>
            </a:r>
            <a:br>
              <a:rPr lang="bg-BG">
                <a:solidFill>
                  <a:schemeClr val="tx2"/>
                </a:solidFill>
              </a:rPr>
            </a:br>
            <a:r>
              <a:rPr lang="bg-BG">
                <a:solidFill>
                  <a:schemeClr val="tx2"/>
                </a:solidFill>
              </a:rPr>
              <a:t>      for (i=0; i&lt;N; i++)</a:t>
            </a:r>
            <a:br>
              <a:rPr lang="bg-BG">
                <a:solidFill>
                  <a:schemeClr val="tx2"/>
                </a:solidFill>
              </a:rPr>
            </a:br>
            <a:r>
              <a:rPr lang="bg-BG">
                <a:solidFill>
                  <a:schemeClr val="tx2"/>
                </a:solidFill>
              </a:rPr>
              <a:t>		cout&lt;&lt;a[i].c&lt;&lt;' ';</a:t>
            </a:r>
            <a:br>
              <a:rPr lang="bg-BG">
                <a:solidFill>
                  <a:schemeClr val="tx2"/>
                </a:solidFill>
              </a:rPr>
            </a:br>
            <a:r>
              <a:rPr lang="bg-BG">
                <a:solidFill>
                  <a:schemeClr val="tx2"/>
                </a:solidFill>
              </a:rPr>
              <a:t>      for (i=0; i&lt;N; i++)</a:t>
            </a:r>
            <a:br>
              <a:rPr lang="bg-BG">
                <a:solidFill>
                  <a:schemeClr val="tx2"/>
                </a:solidFill>
              </a:rPr>
            </a:br>
            <a:r>
              <a:rPr lang="bg-BG">
                <a:solidFill>
                  <a:schemeClr val="tx2"/>
                </a:solidFill>
              </a:rPr>
              <a:t>		S[i]=optS[i]=0;</a:t>
            </a:r>
            <a:br>
              <a:rPr lang="bg-BG">
                <a:solidFill>
                  <a:schemeClr val="tx2"/>
                </a:solidFill>
              </a:rPr>
            </a:br>
            <a:r>
              <a:rPr lang="bg-BG">
                <a:solidFill>
                  <a:schemeClr val="tx2"/>
                </a:solidFill>
              </a:rPr>
              <a:t>      tr(0, 0, totalC);</a:t>
            </a:r>
            <a:br>
              <a:rPr lang="bg-BG">
                <a:solidFill>
                  <a:schemeClr val="tx2"/>
                </a:solidFill>
              </a:rPr>
            </a:br>
            <a:r>
              <a:rPr lang="bg-BG">
                <a:solidFill>
                  <a:schemeClr val="tx2"/>
                </a:solidFill>
              </a:rPr>
              <a:t>      cout&lt;&lt;"\n         ";</a:t>
            </a:r>
            <a:br>
              <a:rPr lang="bg-BG">
                <a:solidFill>
                  <a:schemeClr val="tx2"/>
                </a:solidFill>
              </a:rPr>
            </a:br>
            <a:r>
              <a:rPr lang="bg-BG">
                <a:solidFill>
                  <a:schemeClr val="tx2"/>
                </a:solidFill>
              </a:rPr>
              <a:t>      for(i=0; i&lt;N; i++)</a:t>
            </a:r>
            <a:br>
              <a:rPr lang="bg-BG">
                <a:solidFill>
                  <a:schemeClr val="tx2"/>
                </a:solidFill>
              </a:rPr>
            </a:br>
            <a:r>
              <a:rPr lang="bg-BG">
                <a:solidFill>
                  <a:schemeClr val="tx2"/>
                </a:solidFill>
              </a:rPr>
              <a:t>		cout&lt;&lt;flag[optS[i]]&lt;&lt;"  ";</a:t>
            </a:r>
            <a:br>
              <a:rPr lang="bg-BG">
                <a:solidFill>
                  <a:schemeClr val="tx2"/>
                </a:solidFill>
              </a:rPr>
            </a:br>
            <a:r>
              <a:rPr lang="bg-BG">
                <a:solidFill>
                  <a:schemeClr val="tx2"/>
                </a:solidFill>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1258888" y="260350"/>
            <a:ext cx="7632700" cy="6740525"/>
          </a:xfrm>
          <a:prstGeom prst="rect">
            <a:avLst/>
          </a:prstGeom>
          <a:noFill/>
          <a:ln w="9525">
            <a:noFill/>
            <a:miter lim="800000"/>
            <a:headEnd/>
            <a:tailEnd/>
          </a:ln>
        </p:spPr>
        <p:txBody>
          <a:bodyPr>
            <a:spAutoFit/>
          </a:bodyPr>
          <a:lstStyle/>
          <a:p>
            <a:pPr>
              <a:lnSpc>
                <a:spcPct val="90000"/>
              </a:lnSpc>
            </a:pPr>
            <a:r>
              <a:rPr lang="bg-BG">
                <a:solidFill>
                  <a:schemeClr val="tx2"/>
                </a:solidFill>
              </a:rPr>
              <a:t>void tr (int i, int tw, int c)</a:t>
            </a:r>
            <a:br>
              <a:rPr lang="bg-BG">
                <a:solidFill>
                  <a:schemeClr val="tx2"/>
                </a:solidFill>
              </a:rPr>
            </a:br>
            <a:r>
              <a:rPr lang="bg-BG">
                <a:solidFill>
                  <a:schemeClr val="tx2"/>
                </a:solidFill>
              </a:rPr>
              <a:t>{int c1, k;</a:t>
            </a:r>
            <a:br>
              <a:rPr lang="bg-BG">
                <a:solidFill>
                  <a:schemeClr val="tx2"/>
                </a:solidFill>
              </a:rPr>
            </a:br>
            <a:r>
              <a:rPr lang="bg-BG">
                <a:solidFill>
                  <a:schemeClr val="tx2"/>
                </a:solidFill>
              </a:rPr>
              <a:t>  if(tw+a[i].w&lt;limW) 	//включване на i-я предмет</a:t>
            </a:r>
            <a:br>
              <a:rPr lang="bg-BG">
                <a:solidFill>
                  <a:schemeClr val="tx2"/>
                </a:solidFill>
              </a:rPr>
            </a:br>
            <a:r>
              <a:rPr lang="bg-BG">
                <a:solidFill>
                  <a:schemeClr val="tx2"/>
                </a:solidFill>
              </a:rPr>
              <a:t>	{S[i]=1; if (i&lt;N-1)</a:t>
            </a:r>
            <a:br>
              <a:rPr lang="bg-BG">
                <a:solidFill>
                  <a:schemeClr val="tx2"/>
                </a:solidFill>
              </a:rPr>
            </a:br>
            <a:r>
              <a:rPr lang="bg-BG">
                <a:solidFill>
                  <a:schemeClr val="tx2"/>
                </a:solidFill>
              </a:rPr>
              <a:t>			tr(i+1, tw+a[i].w, c);</a:t>
            </a:r>
            <a:br>
              <a:rPr lang="bg-BG">
                <a:solidFill>
                  <a:schemeClr val="tx2"/>
                </a:solidFill>
              </a:rPr>
            </a:br>
            <a:r>
              <a:rPr lang="bg-BG">
                <a:solidFill>
                  <a:schemeClr val="tx2"/>
                </a:solidFill>
              </a:rPr>
              <a:t>		else	if (c&gt;maxC)</a:t>
            </a:r>
            <a:br>
              <a:rPr lang="bg-BG">
                <a:solidFill>
                  <a:schemeClr val="tx2"/>
                </a:solidFill>
              </a:rPr>
            </a:br>
            <a:r>
              <a:rPr lang="bg-BG">
                <a:solidFill>
                  <a:schemeClr val="tx2"/>
                </a:solidFill>
              </a:rPr>
              <a:t>				{maxC=c;</a:t>
            </a:r>
            <a:br>
              <a:rPr lang="bg-BG">
                <a:solidFill>
                  <a:schemeClr val="tx2"/>
                </a:solidFill>
              </a:rPr>
            </a:br>
            <a:r>
              <a:rPr lang="bg-BG">
                <a:solidFill>
                  <a:schemeClr val="tx2"/>
                </a:solidFill>
              </a:rPr>
              <a:t>				  for(k=0; k&lt;N; k++)</a:t>
            </a:r>
            <a:br>
              <a:rPr lang="bg-BG">
                <a:solidFill>
                  <a:schemeClr val="tx2"/>
                </a:solidFill>
              </a:rPr>
            </a:br>
            <a:r>
              <a:rPr lang="bg-BG">
                <a:solidFill>
                  <a:schemeClr val="tx2"/>
                </a:solidFill>
              </a:rPr>
              <a:t>				   	optS[k]=S[k]; }</a:t>
            </a:r>
            <a:br>
              <a:rPr lang="bg-BG">
                <a:solidFill>
                  <a:schemeClr val="tx2"/>
                </a:solidFill>
              </a:rPr>
            </a:br>
            <a:r>
              <a:rPr lang="bg-BG">
                <a:solidFill>
                  <a:schemeClr val="tx2"/>
                </a:solidFill>
              </a:rPr>
              <a:t>	 S[i]=0;</a:t>
            </a:r>
          </a:p>
          <a:p>
            <a:pPr>
              <a:lnSpc>
                <a:spcPct val="90000"/>
              </a:lnSpc>
            </a:pPr>
            <a:r>
              <a:rPr lang="bg-BG">
                <a:solidFill>
                  <a:schemeClr val="tx2"/>
                </a:solidFill>
              </a:rPr>
              <a:t>	}</a:t>
            </a:r>
            <a:br>
              <a:rPr lang="bg-BG">
                <a:solidFill>
                  <a:schemeClr val="tx2"/>
                </a:solidFill>
              </a:rPr>
            </a:br>
            <a:r>
              <a:rPr lang="bg-BG">
                <a:solidFill>
                  <a:schemeClr val="tx2"/>
                </a:solidFill>
              </a:rPr>
              <a:t>	c1=c-a[i].c;</a:t>
            </a:r>
            <a:br>
              <a:rPr lang="bg-BG">
                <a:solidFill>
                  <a:schemeClr val="tx2"/>
                </a:solidFill>
              </a:rPr>
            </a:br>
            <a:r>
              <a:rPr lang="bg-BG">
                <a:solidFill>
                  <a:schemeClr val="tx2"/>
                </a:solidFill>
              </a:rPr>
              <a:t>	if (c1&gt;maxC)</a:t>
            </a:r>
            <a:br>
              <a:rPr lang="bg-BG">
                <a:solidFill>
                  <a:schemeClr val="tx2"/>
                </a:solidFill>
              </a:rPr>
            </a:br>
            <a:r>
              <a:rPr lang="bg-BG">
                <a:solidFill>
                  <a:schemeClr val="tx2"/>
                </a:solidFill>
              </a:rPr>
              <a:t>		if(i&lt;N-1)  tr(i+1, tw, c1);</a:t>
            </a:r>
            <a:br>
              <a:rPr lang="bg-BG">
                <a:solidFill>
                  <a:schemeClr val="tx2"/>
                </a:solidFill>
              </a:rPr>
            </a:br>
            <a:r>
              <a:rPr lang="bg-BG">
                <a:solidFill>
                  <a:schemeClr val="tx2"/>
                </a:solidFill>
              </a:rPr>
              <a:t>		   else</a:t>
            </a:r>
            <a:br>
              <a:rPr lang="bg-BG">
                <a:solidFill>
                  <a:schemeClr val="tx2"/>
                </a:solidFill>
              </a:rPr>
            </a:br>
            <a:r>
              <a:rPr lang="bg-BG">
                <a:solidFill>
                  <a:schemeClr val="tx2"/>
                </a:solidFill>
              </a:rPr>
              <a:t>		{ maxC=c1;</a:t>
            </a:r>
            <a:br>
              <a:rPr lang="bg-BG">
                <a:solidFill>
                  <a:schemeClr val="tx2"/>
                </a:solidFill>
              </a:rPr>
            </a:br>
            <a:r>
              <a:rPr lang="bg-BG">
                <a:solidFill>
                  <a:schemeClr val="tx2"/>
                </a:solidFill>
              </a:rPr>
              <a:t>		   for (k=0; k&lt;N; k++)    optS[k]=S[k];</a:t>
            </a:r>
            <a:br>
              <a:rPr lang="bg-BG">
                <a:solidFill>
                  <a:schemeClr val="tx2"/>
                </a:solidFill>
              </a:rPr>
            </a:br>
            <a:r>
              <a:rPr lang="bg-BG">
                <a:solidFill>
                  <a:schemeClr val="tx2"/>
                </a:solidFill>
              </a:rPr>
              <a:t>		}</a:t>
            </a:r>
            <a:br>
              <a:rPr lang="bg-BG">
                <a:solidFill>
                  <a:schemeClr val="tx2"/>
                </a:solidFill>
              </a:rPr>
            </a:br>
            <a:r>
              <a:rPr lang="bg-BG">
                <a:solidFill>
                  <a:schemeClr val="tx2"/>
                </a:solidFill>
              </a:rPr>
              <a:t>}</a:t>
            </a:r>
            <a:br>
              <a:rPr lang="bg-BG">
                <a:solidFill>
                  <a:schemeClr val="tx2"/>
                </a:solidFill>
              </a:rPr>
            </a:br>
            <a:endParaRPr lang="bg-BG">
              <a:solidFill>
                <a:schemeClr val="tx2"/>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323850" y="476250"/>
            <a:ext cx="8610600" cy="5867400"/>
          </a:xfrm>
        </p:spPr>
        <p:txBody>
          <a:bodyPr>
            <a:normAutofit fontScale="90000"/>
          </a:bodyPr>
          <a:lstStyle/>
          <a:p>
            <a:pPr eaLnBrk="1" fontAlgn="auto" hangingPunct="1">
              <a:spcAft>
                <a:spcPts val="0"/>
              </a:spcAft>
              <a:defRPr/>
            </a:pPr>
            <a:r>
              <a:rPr lang="bg-BG" sz="2400" u="sng" smtClean="0">
                <a:solidFill>
                  <a:schemeClr val="tx1"/>
                </a:solidFill>
                <a:latin typeface="Arial" charset="0"/>
              </a:rPr>
              <a:t>Задача за стабилните бракове (по Н. Уирт)</a:t>
            </a:r>
            <a:br>
              <a:rPr lang="bg-BG" sz="2400" u="sng" smtClean="0">
                <a:solidFill>
                  <a:schemeClr val="tx1"/>
                </a:solidFill>
                <a:latin typeface="Arial" charset="0"/>
              </a:rPr>
            </a:br>
            <a:r>
              <a:rPr lang="bg-BG" sz="2400" smtClean="0">
                <a:solidFill>
                  <a:schemeClr val="tx1"/>
                </a:solidFill>
                <a:latin typeface="Arial" charset="0"/>
              </a:rPr>
              <a:t>В какво се състои задачата?</a:t>
            </a:r>
            <a:br>
              <a:rPr lang="bg-BG" sz="2400" smtClean="0">
                <a:solidFill>
                  <a:schemeClr val="tx1"/>
                </a:solidFill>
                <a:latin typeface="Arial" charset="0"/>
              </a:rPr>
            </a:br>
            <a:r>
              <a:rPr lang="en-US" sz="2400" smtClean="0">
                <a:solidFill>
                  <a:schemeClr val="tx1"/>
                </a:solidFill>
                <a:latin typeface="Arial" charset="0"/>
              </a:rPr>
              <a:t>	</a:t>
            </a:r>
            <a:r>
              <a:rPr lang="bg-BG" sz="2400" smtClean="0">
                <a:solidFill>
                  <a:schemeClr val="tx2">
                    <a:satMod val="130000"/>
                  </a:schemeClr>
                </a:solidFill>
                <a:latin typeface="Arial" charset="0"/>
              </a:rPr>
              <a:t>Дадени са две непресичащите се множества </a:t>
            </a:r>
            <a:r>
              <a:rPr lang="bg-BG" sz="2400" b="1" smtClean="0">
                <a:solidFill>
                  <a:schemeClr val="tx2">
                    <a:satMod val="130000"/>
                  </a:schemeClr>
                </a:solidFill>
                <a:latin typeface="Arial" charset="0"/>
              </a:rPr>
              <a:t>А</a:t>
            </a:r>
            <a:r>
              <a:rPr lang="bg-BG" sz="2400" smtClean="0">
                <a:solidFill>
                  <a:schemeClr val="tx2">
                    <a:satMod val="130000"/>
                  </a:schemeClr>
                </a:solidFill>
                <a:latin typeface="Arial" charset="0"/>
              </a:rPr>
              <a:t> и </a:t>
            </a:r>
            <a:r>
              <a:rPr lang="bg-BG" sz="2400" b="1" smtClean="0">
                <a:solidFill>
                  <a:schemeClr val="tx2">
                    <a:satMod val="130000"/>
                  </a:schemeClr>
                </a:solidFill>
                <a:latin typeface="Arial" charset="0"/>
              </a:rPr>
              <a:t>В</a:t>
            </a:r>
            <a:r>
              <a:rPr lang="bg-BG" sz="2400" smtClean="0">
                <a:solidFill>
                  <a:schemeClr val="tx2">
                    <a:satMod val="130000"/>
                  </a:schemeClr>
                </a:solidFill>
                <a:latin typeface="Arial" charset="0"/>
              </a:rPr>
              <a:t> с по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елемента. Необходимо е да се намери множество двойки </a:t>
            </a:r>
            <a:r>
              <a:rPr lang="en-US" sz="2400" b="1" smtClean="0">
                <a:solidFill>
                  <a:schemeClr val="tx2">
                    <a:satMod val="130000"/>
                  </a:schemeClr>
                </a:solidFill>
                <a:latin typeface="Arial" charset="0"/>
              </a:rPr>
              <a:t>[a, b]</a:t>
            </a: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от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елементи, такива, че </a:t>
            </a:r>
            <a:r>
              <a:rPr lang="bg-BG" sz="2400" b="1" smtClean="0">
                <a:solidFill>
                  <a:schemeClr val="tx2">
                    <a:satMod val="130000"/>
                  </a:schemeClr>
                </a:solidFill>
                <a:latin typeface="Arial" charset="0"/>
              </a:rPr>
              <a:t>a in A, b in B</a:t>
            </a:r>
            <a:r>
              <a:rPr lang="bg-BG" sz="2400" smtClean="0">
                <a:solidFill>
                  <a:schemeClr val="tx2">
                    <a:satMod val="130000"/>
                  </a:schemeClr>
                </a:solidFill>
                <a:latin typeface="Arial" charset="0"/>
              </a:rPr>
              <a:t> да отговарят на определени условия (критерии). </a:t>
            </a:r>
            <a:br>
              <a:rPr lang="bg-BG" sz="2400" smtClean="0">
                <a:solidFill>
                  <a:schemeClr val="tx2">
                    <a:satMod val="130000"/>
                  </a:schemeClr>
                </a:solidFill>
                <a:latin typeface="Arial" charset="0"/>
              </a:rPr>
            </a:b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Критериите могат да бъдат най-различни. Единият от тях се нарича “Правило на стабилните бракове”.</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Нека </a:t>
            </a:r>
            <a:r>
              <a:rPr lang="bg-BG" sz="2400" b="1" smtClean="0">
                <a:solidFill>
                  <a:schemeClr val="tx2">
                    <a:satMod val="130000"/>
                  </a:schemeClr>
                </a:solidFill>
                <a:latin typeface="Arial" charset="0"/>
              </a:rPr>
              <a:t>А</a:t>
            </a:r>
            <a:r>
              <a:rPr lang="bg-BG" sz="2400" smtClean="0">
                <a:solidFill>
                  <a:schemeClr val="tx2">
                    <a:satMod val="130000"/>
                  </a:schemeClr>
                </a:solidFill>
                <a:latin typeface="Arial" charset="0"/>
              </a:rPr>
              <a:t> да е множество, съдържащо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мъже, а </a:t>
            </a:r>
            <a:r>
              <a:rPr lang="bg-BG" sz="2400" b="1" smtClean="0">
                <a:solidFill>
                  <a:schemeClr val="tx2">
                    <a:satMod val="130000"/>
                  </a:schemeClr>
                </a:solidFill>
                <a:latin typeface="Arial" charset="0"/>
              </a:rPr>
              <a:t>В </a:t>
            </a:r>
            <a:r>
              <a:rPr lang="bg-BG" sz="2400" smtClean="0">
                <a:solidFill>
                  <a:schemeClr val="tx2">
                    <a:satMod val="130000"/>
                  </a:schemeClr>
                </a:solidFill>
                <a:latin typeface="Arial" charset="0"/>
              </a:rPr>
              <a:t>– множество, съдържащо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жени. Всички те желаят да сключат брак и си имат определени предпочитания.</a:t>
            </a:r>
            <a:br>
              <a:rPr lang="bg-BG" sz="2400" smtClean="0">
                <a:solidFill>
                  <a:schemeClr val="tx2">
                    <a:satMod val="130000"/>
                  </a:schemeClr>
                </a:solidFill>
                <a:latin typeface="Arial" charset="0"/>
              </a:rPr>
            </a:br>
            <a:r>
              <a:rPr lang="bg-BG" smtClean="0">
                <a:solidFill>
                  <a:schemeClr val="tx2">
                    <a:satMod val="130000"/>
                  </a:schemeClr>
                </a:solidFill>
                <a:latin typeface="Arial" charset="0"/>
              </a:rPr>
              <a:t> </a:t>
            </a:r>
            <a:br>
              <a:rPr lang="bg-BG" smtClean="0">
                <a:solidFill>
                  <a:schemeClr val="tx2">
                    <a:satMod val="130000"/>
                  </a:schemeClr>
                </a:solidFill>
                <a:latin typeface="Arial" charset="0"/>
              </a:rPr>
            </a:br>
            <a:r>
              <a:rPr lang="bg-BG" smtClean="0">
                <a:solidFill>
                  <a:schemeClr val="tx2">
                    <a:satMod val="130000"/>
                  </a:schemeClr>
                </a:solidFill>
                <a:latin typeface="Arial" charset="0"/>
              </a:rPr>
              <a:t/>
            </a:r>
            <a:br>
              <a:rPr lang="bg-BG" smtClean="0">
                <a:solidFill>
                  <a:schemeClr val="tx2">
                    <a:satMod val="130000"/>
                  </a:schemeClr>
                </a:solidFill>
                <a:latin typeface="Arial" charset="0"/>
              </a:rPr>
            </a:br>
            <a:endParaRPr lang="en-US" smtClean="0">
              <a:solidFill>
                <a:schemeClr val="tx2">
                  <a:satMod val="130000"/>
                </a:schemeClr>
              </a:solidFill>
              <a:latin typeface="Arial" charset="0"/>
            </a:endParaRPr>
          </a:p>
        </p:txBody>
      </p:sp>
      <p:grpSp>
        <p:nvGrpSpPr>
          <p:cNvPr id="92163" name="Group 28"/>
          <p:cNvGrpSpPr>
            <a:grpSpLocks/>
          </p:cNvGrpSpPr>
          <p:nvPr/>
        </p:nvGrpSpPr>
        <p:grpSpPr bwMode="auto">
          <a:xfrm>
            <a:off x="1835150" y="4437063"/>
            <a:ext cx="5734050" cy="1952625"/>
            <a:chOff x="1156" y="2795"/>
            <a:chExt cx="3612" cy="1230"/>
          </a:xfrm>
        </p:grpSpPr>
        <p:grpSp>
          <p:nvGrpSpPr>
            <p:cNvPr id="92164" name="Group 4"/>
            <p:cNvGrpSpPr>
              <a:grpSpLocks/>
            </p:cNvGrpSpPr>
            <p:nvPr/>
          </p:nvGrpSpPr>
          <p:grpSpPr bwMode="auto">
            <a:xfrm>
              <a:off x="3424" y="3113"/>
              <a:ext cx="1344" cy="912"/>
              <a:chOff x="6158" y="9078"/>
              <a:chExt cx="1960" cy="1176"/>
            </a:xfrm>
          </p:grpSpPr>
          <p:sp>
            <p:nvSpPr>
              <p:cNvPr id="92173" name="Oval 5"/>
              <p:cNvSpPr>
                <a:spLocks noChangeArrowheads="1"/>
              </p:cNvSpPr>
              <p:nvPr/>
            </p:nvSpPr>
            <p:spPr bwMode="auto">
              <a:xfrm>
                <a:off x="6158" y="9078"/>
                <a:ext cx="1960" cy="1176"/>
              </a:xfrm>
              <a:prstGeom prst="ellipse">
                <a:avLst/>
              </a:prstGeom>
              <a:solidFill>
                <a:srgbClr val="FFFFFF"/>
              </a:solidFill>
              <a:ln w="9525">
                <a:solidFill>
                  <a:srgbClr val="000000"/>
                </a:solidFill>
                <a:round/>
                <a:headEnd/>
                <a:tailEnd/>
              </a:ln>
            </p:spPr>
            <p:txBody>
              <a:bodyPr/>
              <a:lstStyle/>
              <a:p>
                <a:endParaRPr lang="bg-BG"/>
              </a:p>
            </p:txBody>
          </p:sp>
          <p:sp>
            <p:nvSpPr>
              <p:cNvPr id="92174" name="Oval 6"/>
              <p:cNvSpPr>
                <a:spLocks noChangeArrowheads="1"/>
              </p:cNvSpPr>
              <p:nvPr/>
            </p:nvSpPr>
            <p:spPr bwMode="auto">
              <a:xfrm>
                <a:off x="6242" y="9470"/>
                <a:ext cx="252" cy="224"/>
              </a:xfrm>
              <a:prstGeom prst="ellipse">
                <a:avLst/>
              </a:prstGeom>
              <a:solidFill>
                <a:srgbClr val="FFFFFF"/>
              </a:solidFill>
              <a:ln w="9525">
                <a:solidFill>
                  <a:srgbClr val="000000"/>
                </a:solidFill>
                <a:round/>
                <a:headEnd/>
                <a:tailEnd/>
              </a:ln>
            </p:spPr>
            <p:txBody>
              <a:bodyPr/>
              <a:lstStyle/>
              <a:p>
                <a:endParaRPr lang="bg-BG"/>
              </a:p>
            </p:txBody>
          </p:sp>
          <p:sp>
            <p:nvSpPr>
              <p:cNvPr id="92175" name="Oval 7"/>
              <p:cNvSpPr>
                <a:spLocks noChangeArrowheads="1"/>
              </p:cNvSpPr>
              <p:nvPr/>
            </p:nvSpPr>
            <p:spPr bwMode="auto">
              <a:xfrm>
                <a:off x="6802" y="9274"/>
                <a:ext cx="252" cy="224"/>
              </a:xfrm>
              <a:prstGeom prst="ellipse">
                <a:avLst/>
              </a:prstGeom>
              <a:solidFill>
                <a:srgbClr val="FFFFFF"/>
              </a:solidFill>
              <a:ln w="9525">
                <a:solidFill>
                  <a:srgbClr val="000000"/>
                </a:solidFill>
                <a:round/>
                <a:headEnd/>
                <a:tailEnd/>
              </a:ln>
            </p:spPr>
            <p:txBody>
              <a:bodyPr/>
              <a:lstStyle/>
              <a:p>
                <a:endParaRPr lang="bg-BG"/>
              </a:p>
            </p:txBody>
          </p:sp>
          <p:sp>
            <p:nvSpPr>
              <p:cNvPr id="92176" name="Oval 8"/>
              <p:cNvSpPr>
                <a:spLocks noChangeArrowheads="1"/>
              </p:cNvSpPr>
              <p:nvPr/>
            </p:nvSpPr>
            <p:spPr bwMode="auto">
              <a:xfrm>
                <a:off x="6774" y="9750"/>
                <a:ext cx="252" cy="224"/>
              </a:xfrm>
              <a:prstGeom prst="ellipse">
                <a:avLst/>
              </a:prstGeom>
              <a:solidFill>
                <a:srgbClr val="FFFFFF"/>
              </a:solidFill>
              <a:ln w="9525">
                <a:solidFill>
                  <a:srgbClr val="000000"/>
                </a:solidFill>
                <a:round/>
                <a:headEnd/>
                <a:tailEnd/>
              </a:ln>
            </p:spPr>
            <p:txBody>
              <a:bodyPr/>
              <a:lstStyle/>
              <a:p>
                <a:endParaRPr lang="bg-BG"/>
              </a:p>
            </p:txBody>
          </p:sp>
          <p:sp>
            <p:nvSpPr>
              <p:cNvPr id="92177" name="Oval 9"/>
              <p:cNvSpPr>
                <a:spLocks noChangeArrowheads="1"/>
              </p:cNvSpPr>
              <p:nvPr/>
            </p:nvSpPr>
            <p:spPr bwMode="auto">
              <a:xfrm>
                <a:off x="7278" y="9862"/>
                <a:ext cx="252" cy="224"/>
              </a:xfrm>
              <a:prstGeom prst="ellipse">
                <a:avLst/>
              </a:prstGeom>
              <a:solidFill>
                <a:srgbClr val="FFFFFF"/>
              </a:solidFill>
              <a:ln w="9525">
                <a:solidFill>
                  <a:srgbClr val="000000"/>
                </a:solidFill>
                <a:round/>
                <a:headEnd/>
                <a:tailEnd/>
              </a:ln>
            </p:spPr>
            <p:txBody>
              <a:bodyPr/>
              <a:lstStyle/>
              <a:p>
                <a:endParaRPr lang="bg-BG"/>
              </a:p>
            </p:txBody>
          </p:sp>
          <p:sp>
            <p:nvSpPr>
              <p:cNvPr id="92178" name="Oval 10"/>
              <p:cNvSpPr>
                <a:spLocks noChangeArrowheads="1"/>
              </p:cNvSpPr>
              <p:nvPr/>
            </p:nvSpPr>
            <p:spPr bwMode="auto">
              <a:xfrm>
                <a:off x="7278" y="9442"/>
                <a:ext cx="252" cy="224"/>
              </a:xfrm>
              <a:prstGeom prst="ellipse">
                <a:avLst/>
              </a:prstGeom>
              <a:solidFill>
                <a:srgbClr val="FFFFFF"/>
              </a:solidFill>
              <a:ln w="9525">
                <a:solidFill>
                  <a:srgbClr val="000000"/>
                </a:solidFill>
                <a:round/>
                <a:headEnd/>
                <a:tailEnd/>
              </a:ln>
            </p:spPr>
            <p:txBody>
              <a:bodyPr/>
              <a:lstStyle/>
              <a:p>
                <a:endParaRPr lang="bg-BG"/>
              </a:p>
            </p:txBody>
          </p:sp>
        </p:grpSp>
        <p:sp>
          <p:nvSpPr>
            <p:cNvPr id="92165" name="Oval 20"/>
            <p:cNvSpPr>
              <a:spLocks noChangeArrowheads="1"/>
            </p:cNvSpPr>
            <p:nvPr/>
          </p:nvSpPr>
          <p:spPr bwMode="auto">
            <a:xfrm>
              <a:off x="1156" y="3113"/>
              <a:ext cx="1344" cy="864"/>
            </a:xfrm>
            <a:prstGeom prst="ellipse">
              <a:avLst/>
            </a:prstGeom>
            <a:solidFill>
              <a:srgbClr val="FFFFFF"/>
            </a:solidFill>
            <a:ln w="9525">
              <a:solidFill>
                <a:srgbClr val="000000"/>
              </a:solidFill>
              <a:round/>
              <a:headEnd/>
              <a:tailEnd/>
            </a:ln>
          </p:spPr>
          <p:txBody>
            <a:bodyPr/>
            <a:lstStyle/>
            <a:p>
              <a:endParaRPr lang="bg-BG"/>
            </a:p>
          </p:txBody>
        </p:sp>
        <p:sp>
          <p:nvSpPr>
            <p:cNvPr id="92166" name="Oval 21"/>
            <p:cNvSpPr>
              <a:spLocks noChangeArrowheads="1"/>
            </p:cNvSpPr>
            <p:nvPr/>
          </p:nvSpPr>
          <p:spPr bwMode="auto">
            <a:xfrm>
              <a:off x="1920" y="3408"/>
              <a:ext cx="144" cy="144"/>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92167" name="Oval 22"/>
            <p:cNvSpPr>
              <a:spLocks noChangeArrowheads="1"/>
            </p:cNvSpPr>
            <p:nvPr/>
          </p:nvSpPr>
          <p:spPr bwMode="auto">
            <a:xfrm>
              <a:off x="1440" y="3456"/>
              <a:ext cx="144" cy="144"/>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92168" name="Oval 23"/>
            <p:cNvSpPr>
              <a:spLocks noChangeArrowheads="1"/>
            </p:cNvSpPr>
            <p:nvPr/>
          </p:nvSpPr>
          <p:spPr bwMode="auto">
            <a:xfrm>
              <a:off x="1776" y="3648"/>
              <a:ext cx="144" cy="144"/>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92169" name="Oval 24"/>
            <p:cNvSpPr>
              <a:spLocks noChangeArrowheads="1"/>
            </p:cNvSpPr>
            <p:nvPr/>
          </p:nvSpPr>
          <p:spPr bwMode="auto">
            <a:xfrm>
              <a:off x="1392" y="3696"/>
              <a:ext cx="144" cy="144"/>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92170" name="Oval 25"/>
            <p:cNvSpPr>
              <a:spLocks noChangeArrowheads="1"/>
            </p:cNvSpPr>
            <p:nvPr/>
          </p:nvSpPr>
          <p:spPr bwMode="auto">
            <a:xfrm>
              <a:off x="2160" y="3600"/>
              <a:ext cx="144" cy="144"/>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92171" name="Text Box 26"/>
            <p:cNvSpPr txBox="1">
              <a:spLocks noChangeArrowheads="1"/>
            </p:cNvSpPr>
            <p:nvPr/>
          </p:nvSpPr>
          <p:spPr bwMode="auto">
            <a:xfrm>
              <a:off x="1701" y="2795"/>
              <a:ext cx="499" cy="288"/>
            </a:xfrm>
            <a:prstGeom prst="rect">
              <a:avLst/>
            </a:prstGeom>
            <a:noFill/>
            <a:ln w="9525">
              <a:noFill/>
              <a:miter lim="800000"/>
              <a:headEnd/>
              <a:tailEnd/>
            </a:ln>
          </p:spPr>
          <p:txBody>
            <a:bodyPr>
              <a:spAutoFit/>
            </a:bodyPr>
            <a:lstStyle/>
            <a:p>
              <a:pPr>
                <a:spcBef>
                  <a:spcPct val="50000"/>
                </a:spcBef>
              </a:pPr>
              <a:r>
                <a:rPr lang="en-US" b="1"/>
                <a:t>A</a:t>
              </a:r>
              <a:endParaRPr lang="en-US"/>
            </a:p>
          </p:txBody>
        </p:sp>
        <p:sp>
          <p:nvSpPr>
            <p:cNvPr id="92172" name="Text Box 27"/>
            <p:cNvSpPr txBox="1">
              <a:spLocks noChangeArrowheads="1"/>
            </p:cNvSpPr>
            <p:nvPr/>
          </p:nvSpPr>
          <p:spPr bwMode="auto">
            <a:xfrm>
              <a:off x="3969" y="2840"/>
              <a:ext cx="384" cy="288"/>
            </a:xfrm>
            <a:prstGeom prst="rect">
              <a:avLst/>
            </a:prstGeom>
            <a:noFill/>
            <a:ln w="9525">
              <a:noFill/>
              <a:miter lim="800000"/>
              <a:headEnd/>
              <a:tailEnd/>
            </a:ln>
          </p:spPr>
          <p:txBody>
            <a:bodyPr>
              <a:spAutoFit/>
            </a:bodyPr>
            <a:lstStyle/>
            <a:p>
              <a:pPr>
                <a:spcBef>
                  <a:spcPct val="50000"/>
                </a:spcBef>
              </a:pPr>
              <a:r>
                <a:rPr lang="en-US" b="1"/>
                <a:t>B</a:t>
              </a:r>
              <a:endParaRPr lang="en-US"/>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title"/>
          </p:nvPr>
        </p:nvSpPr>
        <p:spPr>
          <a:xfrm>
            <a:off x="685800" y="609600"/>
            <a:ext cx="8077200" cy="5562600"/>
          </a:xfrm>
        </p:spPr>
        <p:txBody>
          <a:bodyPr>
            <a:normAutofit fontScale="90000"/>
          </a:bodyPr>
          <a:lstStyle/>
          <a:p>
            <a:pPr eaLnBrk="1" fontAlgn="auto" hangingPunct="1">
              <a:lnSpc>
                <a:spcPct val="110000"/>
              </a:lnSpc>
              <a:spcAft>
                <a:spcPts val="0"/>
              </a:spcAft>
              <a:defRPr/>
            </a:pPr>
            <a:r>
              <a:rPr lang="en-US" sz="2400" smtClean="0">
                <a:solidFill>
                  <a:schemeClr val="tx2">
                    <a:satMod val="130000"/>
                  </a:schemeClr>
                </a:solidFill>
                <a:latin typeface="Arial" charset="0"/>
              </a:rPr>
              <a:t>	</a:t>
            </a:r>
            <a:r>
              <a:rPr lang="bg-BG" sz="2400" smtClean="0">
                <a:solidFill>
                  <a:schemeClr val="tx2">
                    <a:satMod val="130000"/>
                  </a:schemeClr>
                </a:solidFill>
                <a:latin typeface="Arial" charset="0"/>
              </a:rPr>
              <a:t>Необходимо е да се състави алгоритъм, който да формира </a:t>
            </a:r>
            <a:r>
              <a:rPr lang="bg-BG" sz="2400" b="1" smtClean="0">
                <a:solidFill>
                  <a:schemeClr val="tx2">
                    <a:satMod val="130000"/>
                  </a:schemeClr>
                </a:solidFill>
                <a:latin typeface="Arial" charset="0"/>
              </a:rPr>
              <a:t>n</a:t>
            </a:r>
            <a:r>
              <a:rPr lang="bg-BG" sz="2400" smtClean="0">
                <a:solidFill>
                  <a:schemeClr val="tx2">
                    <a:satMod val="130000"/>
                  </a:schemeClr>
                </a:solidFill>
                <a:latin typeface="Arial" charset="0"/>
              </a:rPr>
              <a:t> двойки на базата на тези предпочитания. Ако двойките са съставени така, че съществуват мъж и жена, които не образуват по между си двойка (т.е. участват в различни двойки), но предпочитат един друг, то множеството бракове се нарича “нестабилно”. Ако не съществува такава ситуация (т.е. такава “неправилна” двойка), множеството се нарича “стабилно”.</a:t>
            </a:r>
            <a:br>
              <a:rPr lang="bg-BG" sz="2400" smtClean="0">
                <a:solidFill>
                  <a:schemeClr val="tx2">
                    <a:satMod val="130000"/>
                  </a:schemeClr>
                </a:solidFill>
                <a:latin typeface="Arial" charset="0"/>
              </a:rPr>
            </a:br>
            <a:r>
              <a:rPr lang="bg-BG" sz="2400" smtClean="0">
                <a:solidFill>
                  <a:schemeClr val="tx1"/>
                </a:solidFill>
                <a:latin typeface="Arial" charset="0"/>
              </a:rPr>
              <a:t>	Тази задача има значително по-общ характер и се решава много често: класиране по ВУЗ-ове и специалности след кандидат-студентски изпити, разпределение на студенти по групи за свободно избираеми дисциплини и т.н. </a:t>
            </a:r>
            <a:endParaRPr lang="en-US" smtClean="0">
              <a:solidFill>
                <a:schemeClr val="tx1"/>
              </a:solidFill>
              <a:latin typeface="Arial"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79388" y="549275"/>
            <a:ext cx="8964612" cy="6072188"/>
          </a:xfrm>
        </p:spPr>
        <p:txBody>
          <a:bodyPr>
            <a:normAutofit fontScale="90000"/>
          </a:bodyPr>
          <a:lstStyle/>
          <a:p>
            <a:pPr eaLnBrk="1" fontAlgn="auto" hangingPunct="1">
              <a:lnSpc>
                <a:spcPct val="130000"/>
              </a:lnSpc>
              <a:spcAft>
                <a:spcPts val="0"/>
              </a:spcAft>
              <a:defRPr/>
            </a:pPr>
            <a:r>
              <a:rPr lang="en-US" sz="2400" smtClean="0">
                <a:solidFill>
                  <a:schemeClr val="tx1"/>
                </a:solidFill>
                <a:latin typeface="Arial" charset="0"/>
              </a:rPr>
              <a:t/>
            </a:r>
            <a:br>
              <a:rPr lang="en-US" sz="2400" smtClean="0">
                <a:solidFill>
                  <a:schemeClr val="tx1"/>
                </a:solidFill>
                <a:latin typeface="Arial" charset="0"/>
              </a:rPr>
            </a:br>
            <a:r>
              <a:rPr lang="en-US" sz="2400" smtClean="0">
                <a:solidFill>
                  <a:schemeClr val="tx1"/>
                </a:solidFill>
                <a:latin typeface="Arial" charset="0"/>
              </a:rPr>
              <a:t> 	</a:t>
            </a:r>
            <a:r>
              <a:rPr lang="bg-BG" sz="2400" smtClean="0">
                <a:solidFill>
                  <a:schemeClr val="tx1"/>
                </a:solidFill>
                <a:latin typeface="Arial" charset="0"/>
              </a:rPr>
              <a:t>Примерът с браковете – е само една абстракция, която позволява да формулираме и да решим задачата. </a:t>
            </a:r>
            <a:r>
              <a:rPr lang="en-US" sz="2400" smtClean="0">
                <a:solidFill>
                  <a:schemeClr val="tx1"/>
                </a:solidFill>
                <a:latin typeface="Arial" charset="0"/>
              </a:rPr>
              <a:t/>
            </a:r>
            <a:br>
              <a:rPr lang="en-US" sz="2400" smtClean="0">
                <a:solidFill>
                  <a:schemeClr val="tx1"/>
                </a:solidFill>
                <a:latin typeface="Arial" charset="0"/>
              </a:rPr>
            </a:br>
            <a:r>
              <a:rPr lang="en-US" sz="2400" smtClean="0">
                <a:solidFill>
                  <a:schemeClr val="tx1"/>
                </a:solidFill>
                <a:latin typeface="Arial" charset="0"/>
              </a:rPr>
              <a:t/>
            </a:r>
            <a:br>
              <a:rPr lang="en-US" sz="2400" smtClean="0">
                <a:solidFill>
                  <a:schemeClr val="tx1"/>
                </a:solidFill>
                <a:latin typeface="Arial" charset="0"/>
              </a:rPr>
            </a:br>
            <a:r>
              <a:rPr lang="en-US" sz="2400" smtClean="0">
                <a:solidFill>
                  <a:schemeClr val="tx1"/>
                </a:solidFill>
                <a:latin typeface="Arial" charset="0"/>
              </a:rPr>
              <a:t>	</a:t>
            </a:r>
            <a:r>
              <a:rPr lang="bg-BG" sz="2400" smtClean="0">
                <a:solidFill>
                  <a:schemeClr val="tx1"/>
                </a:solidFill>
                <a:latin typeface="Arial" charset="0"/>
              </a:rPr>
              <a:t>Решението ще се търси чрез последователно получаване на двойки елементи от двете множества, до изчерпване на множествата. Нека да намерим </a:t>
            </a:r>
            <a:r>
              <a:rPr lang="bg-BG" sz="2400" b="1" smtClean="0">
                <a:solidFill>
                  <a:schemeClr val="tx1"/>
                </a:solidFill>
                <a:latin typeface="Arial" charset="0"/>
              </a:rPr>
              <a:t>всички</a:t>
            </a:r>
            <a:r>
              <a:rPr lang="bg-BG" sz="2400" smtClean="0">
                <a:solidFill>
                  <a:schemeClr val="tx1"/>
                </a:solidFill>
                <a:latin typeface="Arial" charset="0"/>
              </a:rPr>
              <a:t> стабилни комбинации, като за целта ще използваме подхода от задачата за 8-те царици. Нека </a:t>
            </a:r>
            <a:r>
              <a:rPr lang="bg-BG" sz="2400" b="1" smtClean="0">
                <a:solidFill>
                  <a:schemeClr val="tx1"/>
                </a:solidFill>
                <a:latin typeface="Arial" charset="0"/>
              </a:rPr>
              <a:t>try(m)</a:t>
            </a:r>
            <a:r>
              <a:rPr lang="bg-BG" sz="2400" smtClean="0">
                <a:solidFill>
                  <a:schemeClr val="tx1"/>
                </a:solidFill>
                <a:latin typeface="Arial" charset="0"/>
              </a:rPr>
              <a:t> е алгоритъм за търсене на партньорка за мъжа </a:t>
            </a:r>
            <a:r>
              <a:rPr lang="bg-BG" sz="2400" b="1" smtClean="0">
                <a:solidFill>
                  <a:schemeClr val="tx1"/>
                </a:solidFill>
                <a:latin typeface="Arial" charset="0"/>
              </a:rPr>
              <a:t>m</a:t>
            </a:r>
            <a:r>
              <a:rPr lang="bg-BG" sz="2400" smtClean="0">
                <a:solidFill>
                  <a:schemeClr val="tx1"/>
                </a:solidFill>
                <a:latin typeface="Arial" charset="0"/>
              </a:rPr>
              <a:t> и нека търсенето става съгласно списъка на предпочитания на този мъж.</a:t>
            </a:r>
            <a:br>
              <a:rPr lang="bg-BG" sz="2400" smtClean="0">
                <a:solidFill>
                  <a:schemeClr val="tx1"/>
                </a:solidFill>
                <a:latin typeface="Arial" charset="0"/>
              </a:rPr>
            </a:br>
            <a:r>
              <a:rPr lang="bg-BG" smtClean="0">
                <a:solidFill>
                  <a:schemeClr val="tx1"/>
                </a:solidFill>
                <a:latin typeface="Arial" charset="0"/>
              </a:rPr>
              <a:t> </a:t>
            </a:r>
            <a:endParaRPr lang="en-US" smtClean="0">
              <a:solidFill>
                <a:schemeClr val="tx1"/>
              </a:solidFill>
              <a:latin typeface="Arial"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304800" y="736600"/>
            <a:ext cx="8534400" cy="5791200"/>
          </a:xfrm>
        </p:spPr>
        <p:txBody>
          <a:bodyPr>
            <a:normAutofit fontScale="90000"/>
          </a:bodyPr>
          <a:lstStyle/>
          <a:p>
            <a:pPr eaLnBrk="1" fontAlgn="auto" hangingPunct="1">
              <a:spcAft>
                <a:spcPts val="0"/>
              </a:spcAft>
              <a:defRPr/>
            </a:pPr>
            <a:r>
              <a:rPr lang="bg-BG" sz="2400" smtClean="0">
                <a:solidFill>
                  <a:schemeClr val="tx2">
                    <a:satMod val="130000"/>
                  </a:schemeClr>
                </a:solidFill>
                <a:latin typeface="Arial" charset="0"/>
              </a:rPr>
              <a:t>Първата версия на алгоритъма е:</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
            </a:r>
            <a:br>
              <a:rPr lang="bg-BG" sz="2400" smtClean="0">
                <a:solidFill>
                  <a:schemeClr val="tx2">
                    <a:satMod val="130000"/>
                  </a:schemeClr>
                </a:solidFill>
                <a:latin typeface="Arial" charset="0"/>
              </a:rPr>
            </a:br>
            <a:r>
              <a:rPr lang="bg-BG" sz="2400" smtClean="0">
                <a:solidFill>
                  <a:schemeClr val="tx2">
                    <a:satMod val="130000"/>
                  </a:schemeClr>
                </a:solidFill>
                <a:latin typeface="Arial" charset="0"/>
              </a:rPr>
              <a:t>i</a:t>
            </a:r>
            <a:r>
              <a:rPr lang="en-US" sz="2400" smtClean="0">
                <a:solidFill>
                  <a:schemeClr val="tx2">
                    <a:satMod val="130000"/>
                  </a:schemeClr>
                </a:solidFill>
                <a:latin typeface="Arial" charset="0"/>
              </a:rPr>
              <a:t>nt  man, woman; //1..n </a:t>
            </a:r>
            <a:br>
              <a:rPr lang="en-US" sz="2400" smtClean="0">
                <a:solidFill>
                  <a:schemeClr val="tx2">
                    <a:satMod val="130000"/>
                  </a:schemeClr>
                </a:solidFill>
                <a:latin typeface="Arial" charset="0"/>
              </a:rPr>
            </a:br>
            <a:r>
              <a:rPr lang="bg-BG" sz="2400" smtClean="0">
                <a:solidFill>
                  <a:schemeClr val="tx2">
                    <a:satMod val="130000"/>
                  </a:schemeClr>
                </a:solidFill>
                <a:latin typeface="Arial" charset="0"/>
              </a:rPr>
              <a:t>	</a:t>
            </a:r>
            <a:r>
              <a:rPr lang="en-US" sz="2400" smtClean="0">
                <a:solidFill>
                  <a:schemeClr val="tx2">
                    <a:satMod val="130000"/>
                  </a:schemeClr>
                </a:solidFill>
                <a:latin typeface="Arial" charset="0"/>
              </a:rPr>
              <a:t/>
            </a:r>
            <a:br>
              <a:rPr lang="en-US" sz="2400" smtClean="0">
                <a:solidFill>
                  <a:schemeClr val="tx2">
                    <a:satMod val="130000"/>
                  </a:schemeClr>
                </a:solidFill>
                <a:latin typeface="Arial" charset="0"/>
              </a:rPr>
            </a:br>
            <a:r>
              <a:rPr lang="en-US" sz="2400" smtClean="0">
                <a:solidFill>
                  <a:schemeClr val="tx1"/>
                </a:solidFill>
                <a:latin typeface="Arial" charset="0"/>
              </a:rPr>
              <a:t> try(int man)</a:t>
            </a:r>
            <a:br>
              <a:rPr lang="en-US" sz="2400" smtClean="0">
                <a:solidFill>
                  <a:schemeClr val="tx1"/>
                </a:solidFill>
                <a:latin typeface="Arial" charset="0"/>
              </a:rPr>
            </a:br>
            <a:r>
              <a:rPr lang="en-US" sz="2400" smtClean="0">
                <a:solidFill>
                  <a:schemeClr val="tx1"/>
                </a:solidFill>
                <a:latin typeface="Arial" charset="0"/>
              </a:rPr>
              <a:t> </a:t>
            </a:r>
            <a:r>
              <a:rPr lang="en-US" sz="2400" smtClean="0">
                <a:solidFill>
                  <a:schemeClr val="tx2">
                    <a:satMod val="130000"/>
                  </a:schemeClr>
                </a:solidFill>
                <a:latin typeface="Arial" charset="0"/>
              </a:rPr>
              <a:t>int	rank;               //1..n;</a:t>
            </a:r>
            <a:r>
              <a:rPr lang="en-US" sz="2400" smtClean="0">
                <a:solidFill>
                  <a:schemeClr val="tx1"/>
                </a:solidFill>
                <a:latin typeface="Arial" charset="0"/>
              </a:rPr>
              <a:t/>
            </a:r>
            <a:br>
              <a:rPr lang="en-US" sz="2400" smtClean="0">
                <a:solidFill>
                  <a:schemeClr val="tx1"/>
                </a:solidFill>
                <a:latin typeface="Arial" charset="0"/>
              </a:rPr>
            </a:br>
            <a:r>
              <a:rPr lang="en-US" sz="2400" smtClean="0">
                <a:solidFill>
                  <a:schemeClr val="tx1"/>
                </a:solidFill>
                <a:latin typeface="Arial" charset="0"/>
              </a:rPr>
              <a:t>{	for (r=1; r&lt;= n; r++)</a:t>
            </a:r>
            <a:br>
              <a:rPr lang="en-US" sz="2400" smtClean="0">
                <a:solidFill>
                  <a:schemeClr val="tx1"/>
                </a:solidFill>
                <a:latin typeface="Arial" charset="0"/>
              </a:rPr>
            </a:br>
            <a:r>
              <a:rPr lang="en-US" sz="2400" smtClean="0">
                <a:solidFill>
                  <a:schemeClr val="tx1"/>
                </a:solidFill>
                <a:latin typeface="Arial" charset="0"/>
              </a:rPr>
              <a:t>	  { </a:t>
            </a:r>
            <a:r>
              <a:rPr lang="bg-BG" sz="2400" smtClean="0">
                <a:solidFill>
                  <a:schemeClr val="tx1"/>
                </a:solidFill>
                <a:latin typeface="Arial" charset="0"/>
              </a:rPr>
              <a:t>От списъка на предпочитания на m-я мъж да</a:t>
            </a:r>
            <a:br>
              <a:rPr lang="bg-BG" sz="2400" smtClean="0">
                <a:solidFill>
                  <a:schemeClr val="tx1"/>
                </a:solidFill>
                <a:latin typeface="Arial" charset="0"/>
              </a:rPr>
            </a:br>
            <a:r>
              <a:rPr lang="bg-BG" sz="2400" smtClean="0">
                <a:solidFill>
                  <a:schemeClr val="tx1"/>
                </a:solidFill>
                <a:latin typeface="Arial" charset="0"/>
              </a:rPr>
              <a:t>	    се избере 	r-та жена;</a:t>
            </a:r>
            <a:br>
              <a:rPr lang="bg-BG" sz="2400" smtClean="0">
                <a:solidFill>
                  <a:schemeClr val="tx1"/>
                </a:solidFill>
                <a:latin typeface="Arial" charset="0"/>
              </a:rPr>
            </a:br>
            <a:r>
              <a:rPr lang="bg-BG" sz="2400" smtClean="0">
                <a:solidFill>
                  <a:schemeClr val="tx1"/>
                </a:solidFill>
                <a:latin typeface="Arial" charset="0"/>
              </a:rPr>
              <a:t>	    if  (изборът е приемлив)			</a:t>
            </a:r>
            <a:br>
              <a:rPr lang="bg-BG" sz="2400" smtClean="0">
                <a:solidFill>
                  <a:schemeClr val="tx1"/>
                </a:solidFill>
                <a:latin typeface="Arial" charset="0"/>
              </a:rPr>
            </a:br>
            <a:r>
              <a:rPr lang="bg-BG" sz="2400" smtClean="0">
                <a:solidFill>
                  <a:schemeClr val="tx1"/>
                </a:solidFill>
                <a:latin typeface="Arial" charset="0"/>
              </a:rPr>
              <a:t>                     {</a:t>
            </a:r>
            <a:br>
              <a:rPr lang="bg-BG" sz="2400" smtClean="0">
                <a:solidFill>
                  <a:schemeClr val="tx1"/>
                </a:solidFill>
                <a:latin typeface="Arial" charset="0"/>
              </a:rPr>
            </a:br>
            <a:r>
              <a:rPr lang="bg-BG" sz="2400" smtClean="0">
                <a:solidFill>
                  <a:schemeClr val="tx1"/>
                </a:solidFill>
                <a:latin typeface="Arial" charset="0"/>
              </a:rPr>
              <a:t>                       фиксиране на брака;</a:t>
            </a:r>
            <a:br>
              <a:rPr lang="bg-BG" sz="2400" smtClean="0">
                <a:solidFill>
                  <a:schemeClr val="tx1"/>
                </a:solidFill>
                <a:latin typeface="Arial" charset="0"/>
              </a:rPr>
            </a:br>
            <a:r>
              <a:rPr lang="bg-BG" sz="2400" smtClean="0">
                <a:solidFill>
                  <a:schemeClr val="tx1"/>
                </a:solidFill>
                <a:latin typeface="Arial" charset="0"/>
              </a:rPr>
              <a:t>		  if  (m&lt;&gt;n)   try(succ(m));</a:t>
            </a:r>
            <a:br>
              <a:rPr lang="bg-BG" sz="2400" smtClean="0">
                <a:solidFill>
                  <a:schemeClr val="tx1"/>
                </a:solidFill>
                <a:latin typeface="Arial" charset="0"/>
              </a:rPr>
            </a:br>
            <a:r>
              <a:rPr lang="bg-BG" sz="2400" smtClean="0">
                <a:solidFill>
                  <a:schemeClr val="tx1"/>
                </a:solidFill>
                <a:latin typeface="Arial" charset="0"/>
              </a:rPr>
              <a:t>		     else</a:t>
            </a:r>
            <a:r>
              <a:rPr lang="en-US" sz="2400" smtClean="0">
                <a:solidFill>
                  <a:schemeClr val="tx1"/>
                </a:solidFill>
                <a:latin typeface="Arial" charset="0"/>
              </a:rPr>
              <a:t>  </a:t>
            </a:r>
            <a:r>
              <a:rPr lang="bg-BG" sz="2400" smtClean="0">
                <a:solidFill>
                  <a:schemeClr val="tx1"/>
                </a:solidFill>
                <a:latin typeface="Arial" charset="0"/>
              </a:rPr>
              <a:t>да се запише стабилното множество</a:t>
            </a:r>
            <a:r>
              <a:rPr lang="en-US" sz="2400" smtClean="0">
                <a:solidFill>
                  <a:schemeClr val="tx1"/>
                </a:solidFill>
                <a:latin typeface="Arial" charset="0"/>
              </a:rPr>
              <a:t>;</a:t>
            </a:r>
            <a:br>
              <a:rPr lang="en-US" sz="2400" smtClean="0">
                <a:solidFill>
                  <a:schemeClr val="tx1"/>
                </a:solidFill>
                <a:latin typeface="Arial" charset="0"/>
              </a:rPr>
            </a:br>
            <a:r>
              <a:rPr lang="bg-BG" sz="2400" smtClean="0">
                <a:solidFill>
                  <a:schemeClr val="tx1"/>
                </a:solidFill>
                <a:latin typeface="Arial" charset="0"/>
              </a:rPr>
              <a:t>		</a:t>
            </a:r>
            <a:r>
              <a:rPr lang="en-US" sz="2400" smtClean="0">
                <a:solidFill>
                  <a:schemeClr val="tx1"/>
                </a:solidFill>
                <a:latin typeface="Arial" charset="0"/>
              </a:rPr>
              <a:t>  </a:t>
            </a:r>
            <a:r>
              <a:rPr lang="bg-BG" sz="2400" smtClean="0">
                <a:solidFill>
                  <a:schemeClr val="tx1"/>
                </a:solidFill>
                <a:latin typeface="Arial" charset="0"/>
              </a:rPr>
              <a:t>да се отмени брака;</a:t>
            </a:r>
            <a:br>
              <a:rPr lang="bg-BG" sz="2400" smtClean="0">
                <a:solidFill>
                  <a:schemeClr val="tx1"/>
                </a:solidFill>
                <a:latin typeface="Arial" charset="0"/>
              </a:rPr>
            </a:br>
            <a:r>
              <a:rPr lang="bg-BG" sz="2400" smtClean="0">
                <a:solidFill>
                  <a:schemeClr val="tx1"/>
                </a:solidFill>
                <a:latin typeface="Arial" charset="0"/>
              </a:rPr>
              <a:t>		</a:t>
            </a:r>
            <a:r>
              <a:rPr lang="en-US" sz="2400" smtClean="0">
                <a:solidFill>
                  <a:schemeClr val="tx1"/>
                </a:solidFill>
                <a:latin typeface="Arial" charset="0"/>
              </a:rPr>
              <a:t>}</a:t>
            </a:r>
            <a:r>
              <a:rPr lang="bg-BG" sz="2400" smtClean="0">
                <a:solidFill>
                  <a:schemeClr val="tx1"/>
                </a:solidFill>
                <a:latin typeface="Arial" charset="0"/>
              </a:rPr>
              <a:t/>
            </a:r>
            <a:br>
              <a:rPr lang="bg-BG" sz="2400" smtClean="0">
                <a:solidFill>
                  <a:schemeClr val="tx1"/>
                </a:solidFill>
                <a:latin typeface="Arial" charset="0"/>
              </a:rPr>
            </a:br>
            <a:r>
              <a:rPr lang="en-US" sz="2400" smtClean="0">
                <a:solidFill>
                  <a:schemeClr val="tx1"/>
                </a:solidFill>
                <a:latin typeface="Arial" charset="0"/>
              </a:rPr>
              <a:t>	    }</a:t>
            </a:r>
            <a:br>
              <a:rPr lang="en-US" sz="2400" smtClean="0">
                <a:solidFill>
                  <a:schemeClr val="tx1"/>
                </a:solidFill>
                <a:latin typeface="Arial" charset="0"/>
              </a:rPr>
            </a:br>
            <a:r>
              <a:rPr lang="en-US" sz="2400" smtClean="0">
                <a:solidFill>
                  <a:schemeClr val="tx1"/>
                </a:solidFill>
                <a:latin typeface="Arial" charset="0"/>
              </a:rPr>
              <a:t>}</a:t>
            </a:r>
            <a:br>
              <a:rPr lang="en-US" sz="2400" smtClean="0">
                <a:solidFill>
                  <a:schemeClr val="tx1"/>
                </a:solidFill>
                <a:latin typeface="Arial" charset="0"/>
              </a:rPr>
            </a:br>
            <a:endParaRPr lang="en-US" sz="2400" smtClean="0">
              <a:solidFill>
                <a:schemeClr val="tx1"/>
              </a:solidFill>
              <a:latin typeface="Arial"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042988" y="620713"/>
            <a:ext cx="8101012" cy="5867400"/>
          </a:xfrm>
        </p:spPr>
        <p:txBody>
          <a:bodyPr>
            <a:normAutofit fontScale="90000"/>
          </a:bodyPr>
          <a:lstStyle/>
          <a:p>
            <a:pPr eaLnBrk="1" fontAlgn="auto" hangingPunct="1">
              <a:lnSpc>
                <a:spcPct val="80000"/>
              </a:lnSpc>
              <a:spcAft>
                <a:spcPts val="0"/>
              </a:spcAft>
              <a:defRPr/>
            </a:pPr>
            <a:r>
              <a:rPr lang="bg-BG" sz="3000" dirty="0" smtClean="0">
                <a:solidFill>
                  <a:schemeClr val="tx2">
                    <a:satMod val="130000"/>
                  </a:schemeClr>
                </a:solidFill>
              </a:rPr>
              <a:t>      </a:t>
            </a:r>
            <a:r>
              <a:rPr lang="en-US" sz="3000" dirty="0" smtClean="0">
                <a:solidFill>
                  <a:schemeClr val="tx2">
                    <a:satMod val="130000"/>
                  </a:schemeClr>
                </a:solidFill>
              </a:rPr>
              <a:t>		</a:t>
            </a:r>
            <a:r>
              <a:rPr lang="bg-BG" sz="3000" dirty="0" smtClean="0">
                <a:solidFill>
                  <a:schemeClr val="tx2">
                    <a:satMod val="130000"/>
                  </a:schemeClr>
                </a:solidFill>
              </a:rPr>
              <a:t>Рекурсия и операции с променливите</a:t>
            </a:r>
            <a:r>
              <a:rPr lang="bg-BG" sz="2800" dirty="0" smtClean="0">
                <a:solidFill>
                  <a:schemeClr val="tx2">
                    <a:satMod val="130000"/>
                  </a:schemeClr>
                </a:solidFill>
              </a:rPr>
              <a:t/>
            </a:r>
            <a:br>
              <a:rPr lang="bg-BG" sz="2800" dirty="0" smtClean="0">
                <a:solidFill>
                  <a:schemeClr val="tx2">
                    <a:satMod val="130000"/>
                  </a:schemeClr>
                </a:solidFill>
              </a:rPr>
            </a:br>
            <a:r>
              <a:rPr lang="en-US" sz="1000" dirty="0" smtClean="0">
                <a:solidFill>
                  <a:schemeClr val="tx2">
                    <a:satMod val="130000"/>
                  </a:schemeClr>
                </a:solidFill>
              </a:rPr>
              <a:t/>
            </a:r>
            <a:br>
              <a:rPr lang="en-US" sz="1000" dirty="0" smtClean="0">
                <a:solidFill>
                  <a:schemeClr val="tx2">
                    <a:satMod val="130000"/>
                  </a:schemeClr>
                </a:solidFill>
              </a:rPr>
            </a:br>
            <a:r>
              <a:rPr lang="en-US" sz="2800" dirty="0" smtClean="0">
                <a:solidFill>
                  <a:schemeClr val="tx2">
                    <a:satMod val="130000"/>
                  </a:schemeClr>
                </a:solidFill>
              </a:rPr>
              <a:t>	</a:t>
            </a:r>
            <a:r>
              <a:rPr lang="bg-BG" sz="2800" dirty="0" smtClean="0">
                <a:solidFill>
                  <a:schemeClr val="tx2">
                    <a:satMod val="130000"/>
                  </a:schemeClr>
                </a:solidFill>
              </a:rPr>
              <a:t>а) променливи-параметри</a:t>
            </a:r>
            <a:br>
              <a:rPr lang="bg-BG" sz="2800" dirty="0" smtClean="0">
                <a:solidFill>
                  <a:schemeClr val="tx2">
                    <a:satMod val="130000"/>
                  </a:schemeClr>
                </a:solidFill>
              </a:rPr>
            </a:br>
            <a:r>
              <a:rPr lang="en-US" sz="2800" dirty="0" smtClean="0">
                <a:solidFill>
                  <a:schemeClr val="tx2">
                    <a:satMod val="130000"/>
                  </a:schemeClr>
                </a:solidFill>
              </a:rPr>
              <a:t>	</a:t>
            </a:r>
            <a:r>
              <a:rPr lang="bg-BG" sz="2800" dirty="0" smtClean="0">
                <a:solidFill>
                  <a:schemeClr val="tx2">
                    <a:satMod val="130000"/>
                  </a:schemeClr>
                </a:solidFill>
              </a:rPr>
              <a:t>б) локални променливи</a:t>
            </a:r>
            <a:br>
              <a:rPr lang="bg-BG" sz="2800" dirty="0" smtClean="0">
                <a:solidFill>
                  <a:schemeClr val="tx2">
                    <a:satMod val="130000"/>
                  </a:schemeClr>
                </a:solidFill>
              </a:rPr>
            </a:br>
            <a:r>
              <a:rPr lang="en-US" sz="2800" dirty="0" smtClean="0">
                <a:solidFill>
                  <a:schemeClr val="tx2">
                    <a:satMod val="130000"/>
                  </a:schemeClr>
                </a:solidFill>
              </a:rPr>
              <a:t>		</a:t>
            </a:r>
            <a:r>
              <a:rPr lang="bg-BG" sz="2800" dirty="0" smtClean="0">
                <a:solidFill>
                  <a:schemeClr val="tx2">
                    <a:satMod val="130000"/>
                  </a:schemeClr>
                </a:solidFill>
              </a:rPr>
              <a:t>Глобални променливи?</a:t>
            </a:r>
            <a:br>
              <a:rPr lang="bg-BG" sz="2800" dirty="0" smtClean="0">
                <a:solidFill>
                  <a:schemeClr val="tx2">
                    <a:satMod val="130000"/>
                  </a:schemeClr>
                </a:solidFill>
              </a:rPr>
            </a:br>
            <a:r>
              <a:rPr lang="bg-BG" sz="1000" dirty="0" smtClean="0">
                <a:solidFill>
                  <a:schemeClr val="tx2">
                    <a:satMod val="130000"/>
                  </a:schemeClr>
                </a:solidFill>
              </a:rPr>
              <a:t/>
            </a:r>
            <a:br>
              <a:rPr lang="bg-BG" sz="1000" dirty="0" smtClean="0">
                <a:solidFill>
                  <a:schemeClr val="tx2">
                    <a:satMod val="130000"/>
                  </a:schemeClr>
                </a:solidFill>
              </a:rPr>
            </a:br>
            <a:r>
              <a:rPr lang="bg-BG" sz="2000" dirty="0" smtClean="0">
                <a:solidFill>
                  <a:schemeClr val="tx2">
                    <a:satMod val="130000"/>
                  </a:schemeClr>
                </a:solidFill>
                <a:latin typeface="Courier New" pitchFamily="49" charset="0"/>
              </a:rPr>
              <a:t>// Изчисляване на n! </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аргументът на функцията е заменен с глобална</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променлива</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Реализацията работи в средата на </a:t>
            </a:r>
            <a:r>
              <a:rPr lang="bg-BG" sz="2000" dirty="0" err="1" smtClean="0">
                <a:solidFill>
                  <a:schemeClr val="tx2">
                    <a:satMod val="130000"/>
                  </a:schemeClr>
                </a:solidFill>
                <a:latin typeface="Courier New" pitchFamily="49" charset="0"/>
              </a:rPr>
              <a:t>Borland</a:t>
            </a:r>
            <a:r>
              <a:rPr lang="bg-BG" sz="2000" dirty="0" smtClean="0">
                <a:solidFill>
                  <a:schemeClr val="tx2">
                    <a:satMod val="130000"/>
                  </a:schemeClr>
                </a:solidFill>
                <a:latin typeface="Courier New" pitchFamily="49" charset="0"/>
              </a:rPr>
              <a:t> C за DOS</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и не работи в средата MS </a:t>
            </a:r>
            <a:r>
              <a:rPr lang="bg-BG" sz="2000" dirty="0" err="1" smtClean="0">
                <a:solidFill>
                  <a:schemeClr val="tx2">
                    <a:satMod val="130000"/>
                  </a:schemeClr>
                </a:solidFill>
                <a:latin typeface="Courier New" pitchFamily="49" charset="0"/>
              </a:rPr>
              <a:t>Visual</a:t>
            </a:r>
            <a:r>
              <a:rPr lang="bg-BG" sz="2000" dirty="0" smtClean="0">
                <a:solidFill>
                  <a:schemeClr val="tx2">
                    <a:satMod val="130000"/>
                  </a:schemeClr>
                </a:solidFill>
                <a:latin typeface="Courier New" pitchFamily="49" charset="0"/>
              </a:rPr>
              <a:t> C++ за Windows</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r>
              <a:rPr lang="bg-BG" sz="2000" dirty="0" err="1" smtClean="0">
                <a:solidFill>
                  <a:schemeClr val="tx2">
                    <a:satMod val="130000"/>
                  </a:schemeClr>
                </a:solidFill>
                <a:latin typeface="Courier New" pitchFamily="49" charset="0"/>
              </a:rPr>
              <a:t>include</a:t>
            </a:r>
            <a:r>
              <a:rPr lang="bg-BG" sz="2000" dirty="0" smtClean="0">
                <a:solidFill>
                  <a:schemeClr val="tx2">
                    <a:satMod val="130000"/>
                  </a:schemeClr>
                </a:solidFill>
                <a:latin typeface="Courier New" pitchFamily="49" charset="0"/>
              </a:rPr>
              <a:t> &lt;</a:t>
            </a:r>
            <a:r>
              <a:rPr lang="bg-BG" sz="2000" dirty="0" err="1" smtClean="0">
                <a:solidFill>
                  <a:schemeClr val="tx2">
                    <a:satMod val="130000"/>
                  </a:schemeClr>
                </a:solidFill>
                <a:latin typeface="Courier New" pitchFamily="49" charset="0"/>
              </a:rPr>
              <a:t>iostream</a:t>
            </a:r>
            <a:r>
              <a:rPr lang="bg-BG" sz="2000" dirty="0" smtClean="0">
                <a:solidFill>
                  <a:schemeClr val="tx2">
                    <a:satMod val="130000"/>
                  </a:schemeClr>
                </a:solidFill>
                <a:latin typeface="Courier New" pitchFamily="49" charset="0"/>
              </a:rPr>
              <a:t>&gt;</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using namespace std; </a:t>
            </a:r>
            <a:r>
              <a:rPr lang="bg-BG" sz="2000" dirty="0" smtClean="0">
                <a:solidFill>
                  <a:schemeClr val="tx2">
                    <a:satMod val="130000"/>
                  </a:schemeClr>
                </a:solidFill>
                <a:latin typeface="Courier New" pitchFamily="49" charset="0"/>
              </a:rPr>
              <a:t/>
            </a:r>
            <a:br>
              <a:rPr lang="bg-BG" sz="2000" dirty="0" smtClean="0">
                <a:solidFill>
                  <a:schemeClr val="tx2">
                    <a:satMod val="130000"/>
                  </a:schemeClr>
                </a:solidFill>
                <a:latin typeface="Courier New" pitchFamily="49" charset="0"/>
              </a:rPr>
            </a:br>
            <a:r>
              <a:rPr lang="bg-BG" sz="2000" dirty="0" err="1" smtClean="0">
                <a:solidFill>
                  <a:schemeClr val="tx2">
                    <a:satMod val="130000"/>
                  </a:schemeClr>
                </a:solidFill>
                <a:latin typeface="Courier New" pitchFamily="49" charset="0"/>
              </a:rPr>
              <a:t>const</a:t>
            </a:r>
            <a:r>
              <a:rPr lang="bg-BG" sz="2000" dirty="0" smtClean="0">
                <a:solidFill>
                  <a:schemeClr val="tx2">
                    <a:satMod val="130000"/>
                  </a:schemeClr>
                </a:solidFill>
                <a:latin typeface="Courier New" pitchFamily="49" charset="0"/>
              </a:rPr>
              <a:t> </a:t>
            </a:r>
            <a:r>
              <a:rPr lang="en-US" sz="2000" dirty="0" err="1" smtClean="0">
                <a:solidFill>
                  <a:schemeClr val="tx2">
                    <a:satMod val="130000"/>
                  </a:schemeClr>
                </a:solidFill>
                <a:latin typeface="Courier New" pitchFamily="49" charset="0"/>
              </a:rPr>
              <a:t>int</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n=6;</a:t>
            </a:r>
            <a:br>
              <a:rPr lang="bg-BG" sz="2000" dirty="0" smtClean="0">
                <a:solidFill>
                  <a:schemeClr val="tx2">
                    <a:satMod val="130000"/>
                  </a:schemeClr>
                </a:solidFill>
                <a:latin typeface="Courier New" pitchFamily="49" charset="0"/>
              </a:rPr>
            </a:br>
            <a:r>
              <a:rPr lang="bg-BG" sz="2000" dirty="0" err="1" smtClean="0">
                <a:solidFill>
                  <a:schemeClr val="tx2">
                    <a:satMod val="130000"/>
                  </a:schemeClr>
                </a:solidFill>
                <a:latin typeface="Courier New" pitchFamily="49" charset="0"/>
              </a:rPr>
              <a:t>unsigned</a:t>
            </a:r>
            <a:r>
              <a:rPr lang="bg-BG" sz="2000" dirty="0" smtClean="0">
                <a:solidFill>
                  <a:schemeClr val="tx2">
                    <a:satMod val="130000"/>
                  </a:schemeClr>
                </a:solidFill>
                <a:latin typeface="Courier New" pitchFamily="49" charset="0"/>
              </a:rPr>
              <a:t> i;</a:t>
            </a:r>
            <a:br>
              <a:rPr lang="bg-BG" sz="2000" dirty="0" smtClean="0">
                <a:solidFill>
                  <a:schemeClr val="tx2">
                    <a:satMod val="130000"/>
                  </a:schemeClr>
                </a:solidFill>
                <a:latin typeface="Courier New" pitchFamily="49" charset="0"/>
              </a:rPr>
            </a:br>
            <a:r>
              <a:rPr lang="bg-BG" sz="2000" dirty="0" err="1" smtClean="0">
                <a:solidFill>
                  <a:schemeClr val="tx2">
                    <a:satMod val="130000"/>
                  </a:schemeClr>
                </a:solidFill>
                <a:latin typeface="Courier New" pitchFamily="49" charset="0"/>
              </a:rPr>
              <a:t>unsigned</a:t>
            </a: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long</a:t>
            </a: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fact</a:t>
            </a: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void</a:t>
            </a: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if</a:t>
            </a:r>
            <a:r>
              <a:rPr lang="bg-BG" sz="2000" dirty="0" smtClean="0">
                <a:solidFill>
                  <a:schemeClr val="tx2">
                    <a:satMod val="130000"/>
                  </a:schemeClr>
                </a:solidFill>
                <a:latin typeface="Courier New" pitchFamily="49" charset="0"/>
              </a:rPr>
              <a:t> (i==1) </a:t>
            </a:r>
            <a:r>
              <a:rPr lang="bg-BG" sz="2000" dirty="0" err="1" smtClean="0">
                <a:solidFill>
                  <a:schemeClr val="tx2">
                    <a:satMod val="130000"/>
                  </a:schemeClr>
                </a:solidFill>
                <a:latin typeface="Courier New" pitchFamily="49" charset="0"/>
              </a:rPr>
              <a:t>return</a:t>
            </a:r>
            <a:r>
              <a:rPr lang="bg-BG" sz="2000" dirty="0" smtClean="0">
                <a:solidFill>
                  <a:schemeClr val="tx2">
                    <a:satMod val="130000"/>
                  </a:schemeClr>
                </a:solidFill>
                <a:latin typeface="Courier New" pitchFamily="49" charset="0"/>
              </a:rPr>
              <a:t> 1;</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return</a:t>
            </a:r>
            <a:r>
              <a:rPr lang="bg-BG" sz="2000" dirty="0" smtClean="0">
                <a:solidFill>
                  <a:schemeClr val="tx2">
                    <a:satMod val="130000"/>
                  </a:schemeClr>
                </a:solidFill>
                <a:latin typeface="Courier New" pitchFamily="49" charset="0"/>
              </a:rPr>
              <a:t> --</a:t>
            </a:r>
            <a:r>
              <a:rPr lang="en-US" sz="2000" dirty="0" err="1" smtClean="0">
                <a:solidFill>
                  <a:schemeClr val="tx2">
                    <a:satMod val="130000"/>
                  </a:schemeClr>
                </a:solidFill>
                <a:latin typeface="Courier New" pitchFamily="49" charset="0"/>
              </a:rPr>
              <a:t>i</a:t>
            </a:r>
            <a:r>
              <a:rPr lang="bg-BG" sz="2000" dirty="0" smtClean="0">
                <a:solidFill>
                  <a:schemeClr val="tx2">
                    <a:satMod val="130000"/>
                  </a:schemeClr>
                </a:solidFill>
                <a:latin typeface="Courier New" pitchFamily="49" charset="0"/>
              </a:rPr>
              <a:t>*</a:t>
            </a:r>
            <a:r>
              <a:rPr lang="bg-BG" sz="2000" dirty="0" err="1" smtClean="0">
                <a:solidFill>
                  <a:schemeClr val="tx2">
                    <a:satMod val="130000"/>
                  </a:schemeClr>
                </a:solidFill>
                <a:latin typeface="Courier New" pitchFamily="49" charset="0"/>
              </a:rPr>
              <a:t>fact</a:t>
            </a: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err="1" smtClean="0">
                <a:solidFill>
                  <a:schemeClr val="tx2">
                    <a:satMod val="130000"/>
                  </a:schemeClr>
                </a:solidFill>
                <a:latin typeface="Courier New" pitchFamily="49" charset="0"/>
              </a:rPr>
              <a:t>int</a:t>
            </a: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main</a:t>
            </a: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void</a:t>
            </a: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i=n+1;</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cout</a:t>
            </a:r>
            <a:r>
              <a:rPr lang="bg-BG" sz="2000" dirty="0" smtClean="0">
                <a:solidFill>
                  <a:schemeClr val="tx2">
                    <a:satMod val="130000"/>
                  </a:schemeClr>
                </a:solidFill>
                <a:latin typeface="Courier New" pitchFamily="49" charset="0"/>
              </a:rPr>
              <a:t>&lt;&lt;"n!="&lt;&lt;</a:t>
            </a:r>
            <a:r>
              <a:rPr lang="bg-BG" sz="2000" dirty="0" err="1" smtClean="0">
                <a:solidFill>
                  <a:schemeClr val="tx2">
                    <a:satMod val="130000"/>
                  </a:schemeClr>
                </a:solidFill>
                <a:latin typeface="Courier New" pitchFamily="49" charset="0"/>
              </a:rPr>
              <a:t>fact</a:t>
            </a: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return</a:t>
            </a:r>
            <a:r>
              <a:rPr lang="bg-BG" sz="2000" dirty="0" smtClean="0">
                <a:solidFill>
                  <a:schemeClr val="tx2">
                    <a:satMod val="130000"/>
                  </a:schemeClr>
                </a:solidFill>
                <a:latin typeface="Courier New" pitchFamily="49" charset="0"/>
              </a:rPr>
              <a:t> 0;</a:t>
            </a:r>
            <a:br>
              <a:rPr lang="bg-BG"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br>
              <a:rPr lang="bg-BG" sz="2000" dirty="0" smtClean="0">
                <a:solidFill>
                  <a:schemeClr val="tx2">
                    <a:satMod val="130000"/>
                  </a:schemeClr>
                </a:solidFill>
                <a:latin typeface="Courier New" pitchFamily="49" charset="0"/>
              </a:rPr>
            </a:br>
            <a:r>
              <a:rPr lang="bg-BG" dirty="0" smtClean="0">
                <a:solidFill>
                  <a:schemeClr val="tx2">
                    <a:satMod val="130000"/>
                  </a:schemeClr>
                </a:solidFill>
              </a:rPr>
              <a:t> </a:t>
            </a:r>
            <a:endParaRPr lang="en-US" dirty="0" smtClean="0">
              <a:solidFill>
                <a:schemeClr val="tx2">
                  <a:satMod val="130000"/>
                </a:schemeClr>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304800" y="304800"/>
            <a:ext cx="8534400" cy="6172200"/>
          </a:xfrm>
        </p:spPr>
        <p:txBody>
          <a:bodyPr>
            <a:normAutofit fontScale="90000"/>
          </a:bodyPr>
          <a:lstStyle/>
          <a:p>
            <a:pPr eaLnBrk="1" fontAlgn="auto" hangingPunct="1">
              <a:lnSpc>
                <a:spcPct val="90000"/>
              </a:lnSpc>
              <a:spcAft>
                <a:spcPts val="0"/>
              </a:spcAft>
              <a:defRPr/>
            </a:pPr>
            <a:r>
              <a:rPr lang="bg-BG" sz="2400" u="sng" smtClean="0">
                <a:solidFill>
                  <a:schemeClr val="tx2">
                    <a:satMod val="130000"/>
                  </a:schemeClr>
                </a:solidFill>
              </a:rPr>
              <a:t>Още един пример</a:t>
            </a:r>
            <a:r>
              <a:rPr lang="bg-BG" sz="2400" smtClean="0">
                <a:solidFill>
                  <a:schemeClr val="tx2">
                    <a:satMod val="130000"/>
                  </a:schemeClr>
                </a:solidFill>
              </a:rPr>
              <a:t>: за дадено естествено число </a:t>
            </a:r>
            <a:r>
              <a:rPr lang="en-US" sz="2400" b="1" i="1" smtClean="0">
                <a:solidFill>
                  <a:schemeClr val="tx2">
                    <a:satMod val="130000"/>
                  </a:schemeClr>
                </a:solidFill>
              </a:rPr>
              <a:t>n</a:t>
            </a:r>
            <a:r>
              <a:rPr lang="bg-BG" sz="2400" smtClean="0">
                <a:solidFill>
                  <a:schemeClr val="tx2">
                    <a:satMod val="130000"/>
                  </a:schemeClr>
                </a:solidFill>
              </a:rPr>
              <a:t> да се отпечатат в нарастващ и намаляващ ред числата 10</a:t>
            </a:r>
            <a:r>
              <a:rPr lang="en-US" sz="2400" b="1" i="1" baseline="30000" smtClean="0">
                <a:solidFill>
                  <a:schemeClr val="tx2">
                    <a:satMod val="130000"/>
                  </a:schemeClr>
                </a:solidFill>
              </a:rPr>
              <a:t>k</a:t>
            </a:r>
            <a:r>
              <a:rPr lang="en-US" sz="2400" smtClean="0">
                <a:solidFill>
                  <a:schemeClr val="tx2">
                    <a:satMod val="130000"/>
                  </a:schemeClr>
                </a:solidFill>
              </a:rPr>
              <a:t> (1&lt;=</a:t>
            </a:r>
            <a:r>
              <a:rPr lang="en-US" sz="2400" b="1" i="1" smtClean="0">
                <a:solidFill>
                  <a:schemeClr val="tx2">
                    <a:satMod val="130000"/>
                  </a:schemeClr>
                </a:solidFill>
              </a:rPr>
              <a:t>k</a:t>
            </a:r>
            <a:r>
              <a:rPr lang="en-US" sz="2400" smtClean="0">
                <a:solidFill>
                  <a:schemeClr val="tx2">
                    <a:satMod val="130000"/>
                  </a:schemeClr>
                </a:solidFill>
              </a:rPr>
              <a:t>&lt;=</a:t>
            </a:r>
            <a:r>
              <a:rPr lang="en-US" sz="2400" b="1" i="1" smtClean="0">
                <a:solidFill>
                  <a:schemeClr val="tx2">
                    <a:satMod val="130000"/>
                  </a:schemeClr>
                </a:solidFill>
              </a:rPr>
              <a:t>n</a:t>
            </a:r>
            <a:r>
              <a:rPr lang="en-US" sz="2400" smtClean="0">
                <a:solidFill>
                  <a:schemeClr val="tx2">
                    <a:satMod val="130000"/>
                  </a:schemeClr>
                </a:solidFill>
              </a:rPr>
              <a:t>). </a:t>
            </a:r>
            <a:br>
              <a:rPr lang="en-US" sz="2400" smtClean="0">
                <a:solidFill>
                  <a:schemeClr val="tx2">
                    <a:satMod val="130000"/>
                  </a:schemeClr>
                </a:solidFill>
              </a:rPr>
            </a:br>
            <a:r>
              <a:rPr lang="bg-BG" sz="2400" smtClean="0">
                <a:solidFill>
                  <a:schemeClr val="tx2">
                    <a:satMod val="130000"/>
                  </a:schemeClr>
                </a:solidFill>
              </a:rPr>
              <a:t>Например, за </a:t>
            </a:r>
            <a:r>
              <a:rPr lang="en-US" sz="2400" b="1" i="1" smtClean="0">
                <a:solidFill>
                  <a:schemeClr val="tx2">
                    <a:satMod val="130000"/>
                  </a:schemeClr>
                </a:solidFill>
              </a:rPr>
              <a:t>n</a:t>
            </a:r>
            <a:r>
              <a:rPr lang="bg-BG" sz="2400" smtClean="0">
                <a:solidFill>
                  <a:schemeClr val="tx2">
                    <a:satMod val="130000"/>
                  </a:schemeClr>
                </a:solidFill>
              </a:rPr>
              <a:t> =3: 10 100 1000 1000 100 10</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400" i="1" smtClean="0">
                <a:solidFill>
                  <a:schemeClr val="tx2">
                    <a:satMod val="130000"/>
                  </a:schemeClr>
                </a:solidFill>
              </a:rPr>
              <a:t>Вариант 1</a:t>
            </a:r>
            <a:r>
              <a:rPr lang="bg-BG" sz="2400" smtClean="0">
                <a:solidFill>
                  <a:schemeClr val="tx2">
                    <a:satMod val="130000"/>
                  </a:schemeClr>
                </a:solidFill>
              </a:rPr>
              <a:t>: Всички променливи (освен входа </a:t>
            </a:r>
            <a:r>
              <a:rPr lang="en-US" sz="2400" b="1" i="1" smtClean="0">
                <a:solidFill>
                  <a:schemeClr val="tx2">
                    <a:satMod val="130000"/>
                  </a:schemeClr>
                </a:solidFill>
              </a:rPr>
              <a:t>n</a:t>
            </a:r>
            <a:r>
              <a:rPr lang="bg-BG" sz="2400" smtClean="0">
                <a:solidFill>
                  <a:schemeClr val="tx2">
                    <a:satMod val="130000"/>
                  </a:schemeClr>
                </a:solidFill>
              </a:rPr>
              <a:t> ) са параметри на рекурсивната функция:</a:t>
            </a:r>
            <a:br>
              <a:rPr lang="bg-BG" sz="2400" smtClean="0">
                <a:solidFill>
                  <a:schemeClr val="tx2">
                    <a:satMod val="130000"/>
                  </a:schemeClr>
                </a:solidFill>
              </a:rPr>
            </a:br>
            <a:r>
              <a:rPr lang="bg-BG" sz="2400" smtClean="0">
                <a:solidFill>
                  <a:schemeClr val="tx2">
                    <a:satMod val="130000"/>
                  </a:schemeClr>
                </a:solidFill>
              </a:rPr>
              <a:t/>
            </a:r>
            <a:br>
              <a:rPr lang="bg-BG" sz="2400" smtClean="0">
                <a:solidFill>
                  <a:schemeClr val="tx2">
                    <a:satMod val="130000"/>
                  </a:schemeClr>
                </a:solidFill>
              </a:rPr>
            </a:br>
            <a:r>
              <a:rPr lang="bg-BG" sz="2000" smtClean="0">
                <a:solidFill>
                  <a:schemeClr val="tx2">
                    <a:satMod val="130000"/>
                  </a:schemeClr>
                </a:solidFill>
                <a:latin typeface="Courier New" pitchFamily="49" charset="0"/>
              </a:rPr>
              <a:t>#include &lt;iostream&gt;</a:t>
            </a:r>
            <a:r>
              <a:rPr lang="en-US" sz="2000" smtClean="0">
                <a:solidFill>
                  <a:schemeClr val="tx2">
                    <a:satMod val="130000"/>
                  </a:schemeClr>
                </a:solidFill>
                <a:latin typeface="Courier New" pitchFamily="49" charset="0"/>
              </a:rPr>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using namespace std; </a:t>
            </a: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const  </a:t>
            </a:r>
            <a:r>
              <a:rPr lang="en-US" sz="2000" smtClean="0">
                <a:solidFill>
                  <a:schemeClr val="tx2">
                    <a:satMod val="130000"/>
                  </a:schemeClr>
                </a:solidFill>
                <a:latin typeface="Courier New" pitchFamily="49" charset="0"/>
              </a:rPr>
              <a:t>int </a:t>
            </a:r>
            <a:r>
              <a:rPr lang="bg-BG" sz="2000" smtClean="0">
                <a:solidFill>
                  <a:schemeClr val="tx2">
                    <a:satMod val="130000"/>
                  </a:schemeClr>
                </a:solidFill>
                <a:latin typeface="Courier New" pitchFamily="49" charset="0"/>
              </a:rPr>
              <a:t>n=5;</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void printLine (unsigned k, unsigned long result)</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cout&lt;&lt;result&lt;&lt;' ';</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if (k&lt;n) printLine(k+1, result*10);</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cout&lt;&lt;result&lt;&lt;' ';</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void main()</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printLine(1,10);</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cout&lt;&lt;'\n';</a:t>
            </a:r>
            <a:br>
              <a:rPr lang="bg-BG" sz="2000" smtClean="0">
                <a:solidFill>
                  <a:schemeClr val="tx2">
                    <a:satMod val="130000"/>
                  </a:schemeClr>
                </a:solidFill>
                <a:latin typeface="Courier New" pitchFamily="49" charset="0"/>
              </a:rPr>
            </a:br>
            <a:r>
              <a:rPr lang="bg-BG" sz="2000" smtClean="0">
                <a:solidFill>
                  <a:schemeClr val="tx2">
                    <a:satMod val="130000"/>
                  </a:schemeClr>
                </a:solidFill>
                <a:latin typeface="Courier New" pitchFamily="49" charset="0"/>
              </a:rPr>
              <a:t>} </a:t>
            </a:r>
            <a:endParaRPr lang="en-US" sz="2000" smtClean="0">
              <a:solidFill>
                <a:schemeClr val="tx2">
                  <a:satMod val="130000"/>
                </a:schemeClr>
              </a:solidFill>
              <a:latin typeface="Courier New"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52400" y="609600"/>
            <a:ext cx="8839200" cy="5943600"/>
          </a:xfrm>
        </p:spPr>
        <p:txBody>
          <a:bodyPr>
            <a:normAutofit fontScale="90000"/>
          </a:bodyPr>
          <a:lstStyle/>
          <a:p>
            <a:pPr eaLnBrk="1" fontAlgn="auto" hangingPunct="1">
              <a:spcAft>
                <a:spcPts val="0"/>
              </a:spcAft>
              <a:defRPr/>
            </a:pPr>
            <a:r>
              <a:rPr lang="bg-BG" sz="2400" dirty="0" smtClean="0">
                <a:solidFill>
                  <a:schemeClr val="tx2">
                    <a:satMod val="130000"/>
                  </a:schemeClr>
                </a:solidFill>
              </a:rPr>
              <a:t>Сега ще заместваме променливи-аргументи с глобални променливи:</a:t>
            </a:r>
            <a:br>
              <a:rPr lang="bg-BG" sz="2400" dirty="0" smtClean="0">
                <a:solidFill>
                  <a:schemeClr val="tx2">
                    <a:satMod val="130000"/>
                  </a:schemeClr>
                </a:solidFill>
              </a:rPr>
            </a:br>
            <a:r>
              <a:rPr lang="bg-BG" sz="2400" dirty="0" smtClean="0">
                <a:solidFill>
                  <a:schemeClr val="tx2">
                    <a:satMod val="130000"/>
                  </a:schemeClr>
                </a:solidFill>
              </a:rPr>
              <a:t> </a:t>
            </a:r>
            <a:r>
              <a:rPr lang="bg-BG" sz="2400" i="1" dirty="0" smtClean="0">
                <a:solidFill>
                  <a:schemeClr val="tx2">
                    <a:satMod val="130000"/>
                  </a:schemeClr>
                </a:solidFill>
              </a:rPr>
              <a:t>Вариант 2</a:t>
            </a:r>
            <a:r>
              <a:rPr lang="bg-BG" sz="2400" dirty="0" smtClean="0">
                <a:solidFill>
                  <a:schemeClr val="tx2">
                    <a:satMod val="130000"/>
                  </a:schemeClr>
                </a:solidFill>
              </a:rPr>
              <a:t>: </a:t>
            </a:r>
            <a:r>
              <a:rPr lang="en-US" sz="2400" b="1" i="1" dirty="0" smtClean="0">
                <a:solidFill>
                  <a:schemeClr val="tx2">
                    <a:satMod val="130000"/>
                  </a:schemeClr>
                </a:solidFill>
              </a:rPr>
              <a:t>k</a:t>
            </a:r>
            <a:r>
              <a:rPr lang="en-US" sz="2400" dirty="0" smtClean="0">
                <a:solidFill>
                  <a:schemeClr val="tx2">
                    <a:satMod val="130000"/>
                  </a:schemeClr>
                </a:solidFill>
              </a:rPr>
              <a:t> </a:t>
            </a:r>
            <a:r>
              <a:rPr lang="bg-BG" sz="2400" dirty="0" smtClean="0">
                <a:solidFill>
                  <a:schemeClr val="tx2">
                    <a:satMod val="130000"/>
                  </a:schemeClr>
                </a:solidFill>
              </a:rPr>
              <a:t>става глобална променлива </a:t>
            </a:r>
            <a:br>
              <a:rPr lang="bg-BG" sz="2400" dirty="0" smtClean="0">
                <a:solidFill>
                  <a:schemeClr val="tx2">
                    <a:satMod val="130000"/>
                  </a:schemeClr>
                </a:solidFill>
              </a:rPr>
            </a:br>
            <a:r>
              <a:rPr lang="bg-BG" sz="2400" dirty="0" smtClean="0">
                <a:solidFill>
                  <a:schemeClr val="tx2">
                    <a:satMod val="130000"/>
                  </a:schemeClr>
                </a:solidFill>
                <a:latin typeface="Courier New" pitchFamily="49" charset="0"/>
              </a:rPr>
              <a:t>#</a:t>
            </a:r>
            <a:r>
              <a:rPr lang="bg-BG" sz="2400" dirty="0" err="1" smtClean="0">
                <a:solidFill>
                  <a:schemeClr val="tx2">
                    <a:satMod val="130000"/>
                  </a:schemeClr>
                </a:solidFill>
                <a:latin typeface="Courier New" pitchFamily="49" charset="0"/>
              </a:rPr>
              <a:t>include</a:t>
            </a:r>
            <a:r>
              <a:rPr lang="bg-BG" sz="2400" dirty="0" smtClean="0">
                <a:solidFill>
                  <a:schemeClr val="tx2">
                    <a:satMod val="130000"/>
                  </a:schemeClr>
                </a:solidFill>
                <a:latin typeface="Courier New" pitchFamily="49" charset="0"/>
              </a:rPr>
              <a:t> &lt;</a:t>
            </a:r>
            <a:r>
              <a:rPr lang="bg-BG" sz="2400" dirty="0" err="1" smtClean="0">
                <a:solidFill>
                  <a:schemeClr val="tx2">
                    <a:satMod val="130000"/>
                  </a:schemeClr>
                </a:solidFill>
                <a:latin typeface="Courier New" pitchFamily="49" charset="0"/>
              </a:rPr>
              <a:t>iostream</a:t>
            </a:r>
            <a:r>
              <a:rPr lang="bg-BG" sz="2400" dirty="0" smtClean="0">
                <a:solidFill>
                  <a:schemeClr val="tx2">
                    <a:satMod val="130000"/>
                  </a:schemeClr>
                </a:solidFill>
                <a:latin typeface="Courier New" pitchFamily="49" charset="0"/>
              </a:rPr>
              <a:t>.h&gt;</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const</a:t>
            </a:r>
            <a:r>
              <a:rPr lang="bg-BG"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n=5;</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unsigned</a:t>
            </a:r>
            <a:r>
              <a:rPr lang="bg-BG" sz="2400" dirty="0" smtClean="0">
                <a:solidFill>
                  <a:schemeClr val="tx2">
                    <a:satMod val="130000"/>
                  </a:schemeClr>
                </a:solidFill>
                <a:latin typeface="Courier New" pitchFamily="49" charset="0"/>
              </a:rPr>
              <a:t> k=0;</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void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unsigned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long</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k++</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&lt;&lt;'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if</a:t>
            </a:r>
            <a:r>
              <a:rPr lang="bg-BG" sz="2400" dirty="0" smtClean="0">
                <a:solidFill>
                  <a:schemeClr val="tx2">
                    <a:satMod val="130000"/>
                  </a:schemeClr>
                </a:solidFill>
                <a:latin typeface="Courier New" pitchFamily="49" charset="0"/>
              </a:rPr>
              <a:t> (k&lt;n)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*10);</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&lt;&lt;'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void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main</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(10);</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n'</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endParaRPr lang="en-US" sz="2400" dirty="0" smtClean="0">
              <a:solidFill>
                <a:schemeClr val="tx2">
                  <a:satMod val="130000"/>
                </a:schemeClr>
              </a:solidFill>
              <a:latin typeface="Courier New" pitchFamily="49"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187624" y="457200"/>
            <a:ext cx="7151712" cy="6400800"/>
          </a:xfrm>
        </p:spPr>
        <p:txBody>
          <a:bodyPr>
            <a:normAutofit fontScale="90000"/>
          </a:bodyPr>
          <a:lstStyle/>
          <a:p>
            <a:pPr eaLnBrk="1" fontAlgn="auto" hangingPunct="1">
              <a:lnSpc>
                <a:spcPct val="80000"/>
              </a:lnSpc>
              <a:spcAft>
                <a:spcPts val="0"/>
              </a:spcAft>
              <a:defRPr/>
            </a:pPr>
            <a:r>
              <a:rPr lang="bg-BG" sz="2400" i="1" dirty="0" smtClean="0">
                <a:solidFill>
                  <a:schemeClr val="tx2">
                    <a:satMod val="130000"/>
                  </a:schemeClr>
                </a:solidFill>
              </a:rPr>
              <a:t>Вариант 3</a:t>
            </a:r>
            <a:r>
              <a:rPr lang="bg-BG" sz="2400" dirty="0" smtClean="0">
                <a:solidFill>
                  <a:schemeClr val="tx2">
                    <a:satMod val="130000"/>
                  </a:schemeClr>
                </a:solidFill>
              </a:rPr>
              <a:t>: </a:t>
            </a:r>
            <a:r>
              <a:rPr lang="en-US" sz="2400" b="1" i="1" dirty="0" smtClean="0">
                <a:solidFill>
                  <a:schemeClr val="tx2">
                    <a:satMod val="130000"/>
                  </a:schemeClr>
                </a:solidFill>
              </a:rPr>
              <a:t>result</a:t>
            </a:r>
            <a:r>
              <a:rPr lang="bg-BG" sz="2400" dirty="0" smtClean="0">
                <a:solidFill>
                  <a:schemeClr val="tx2">
                    <a:satMod val="130000"/>
                  </a:schemeClr>
                </a:solidFill>
              </a:rPr>
              <a:t>  след подходящо модифициране преди и след рекурсивното обръщение също може да се изнесе извън функцията като глобална променлива</a:t>
            </a:r>
            <a:br>
              <a:rPr lang="bg-BG" sz="2400" dirty="0" smtClean="0">
                <a:solidFill>
                  <a:schemeClr val="tx2">
                    <a:satMod val="130000"/>
                  </a:schemeClr>
                </a:solidFill>
              </a:rPr>
            </a:br>
            <a:r>
              <a:rPr lang="bg-BG" sz="2400" dirty="0" smtClean="0">
                <a:solidFill>
                  <a:schemeClr val="tx2">
                    <a:satMod val="130000"/>
                  </a:schemeClr>
                </a:solidFill>
              </a:rPr>
              <a:t/>
            </a:r>
            <a:br>
              <a:rPr lang="bg-BG" sz="2400" dirty="0" smtClean="0">
                <a:solidFill>
                  <a:schemeClr val="tx2">
                    <a:satMod val="130000"/>
                  </a:schemeClr>
                </a:solidFill>
              </a:rPr>
            </a:br>
            <a:r>
              <a:rPr lang="bg-BG" sz="2400" dirty="0" smtClean="0">
                <a:solidFill>
                  <a:schemeClr val="tx2">
                    <a:satMod val="130000"/>
                  </a:schemeClr>
                </a:solidFill>
                <a:latin typeface="Courier New" pitchFamily="49" charset="0"/>
              </a:rPr>
              <a:t>#</a:t>
            </a:r>
            <a:r>
              <a:rPr lang="bg-BG" sz="2400" dirty="0" err="1" smtClean="0">
                <a:solidFill>
                  <a:schemeClr val="tx2">
                    <a:satMod val="130000"/>
                  </a:schemeClr>
                </a:solidFill>
                <a:latin typeface="Courier New" pitchFamily="49" charset="0"/>
              </a:rPr>
              <a:t>include</a:t>
            </a:r>
            <a:r>
              <a:rPr lang="bg-BG" sz="2400" dirty="0" smtClean="0">
                <a:solidFill>
                  <a:schemeClr val="tx2">
                    <a:satMod val="130000"/>
                  </a:schemeClr>
                </a:solidFill>
                <a:latin typeface="Courier New" pitchFamily="49" charset="0"/>
              </a:rPr>
              <a:t> &lt;</a:t>
            </a:r>
            <a:r>
              <a:rPr lang="bg-BG" sz="2400" dirty="0" err="1" smtClean="0">
                <a:solidFill>
                  <a:schemeClr val="tx2">
                    <a:satMod val="130000"/>
                  </a:schemeClr>
                </a:solidFill>
                <a:latin typeface="Courier New" pitchFamily="49" charset="0"/>
              </a:rPr>
              <a:t>iostream</a:t>
            </a:r>
            <a:r>
              <a:rPr lang="bg-BG" sz="2400" dirty="0" smtClean="0">
                <a:solidFill>
                  <a:schemeClr val="tx2">
                    <a:satMod val="130000"/>
                  </a:schemeClr>
                </a:solidFill>
                <a:latin typeface="Courier New" pitchFamily="49" charset="0"/>
              </a:rPr>
              <a:t>&gt;</a:t>
            </a:r>
            <a:r>
              <a:rPr lang="en-US" sz="2400" dirty="0" smtClean="0">
                <a:solidFill>
                  <a:schemeClr val="tx2">
                    <a:satMod val="130000"/>
                  </a:schemeClr>
                </a:solidFill>
                <a:latin typeface="Courier New" pitchFamily="49" charset="0"/>
              </a:rPr>
              <a:t/>
            </a:r>
            <a:br>
              <a:rPr lang="en-US" sz="2400" dirty="0" smtClean="0">
                <a:solidFill>
                  <a:schemeClr val="tx2">
                    <a:satMod val="130000"/>
                  </a:schemeClr>
                </a:solidFill>
                <a:latin typeface="Courier New" pitchFamily="49" charset="0"/>
              </a:rPr>
            </a:br>
            <a:r>
              <a:rPr lang="en-US" sz="2400" dirty="0" smtClean="0">
                <a:solidFill>
                  <a:schemeClr val="tx2">
                    <a:satMod val="130000"/>
                  </a:schemeClr>
                </a:solidFill>
                <a:latin typeface="Courier New" pitchFamily="49" charset="0"/>
              </a:rPr>
              <a:t>using namespace std; </a:t>
            </a:r>
            <a:r>
              <a:rPr lang="bg-BG" sz="2400" dirty="0" smtClean="0">
                <a:solidFill>
                  <a:schemeClr val="tx2">
                    <a:satMod val="130000"/>
                  </a:schemeClr>
                </a:solidFill>
                <a:latin typeface="Courier New" pitchFamily="49" charset="0"/>
              </a:rPr>
              <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const</a:t>
            </a:r>
            <a:r>
              <a:rPr lang="bg-BG" sz="2400" dirty="0" smtClean="0">
                <a:solidFill>
                  <a:schemeClr val="tx2">
                    <a:satMod val="130000"/>
                  </a:schemeClr>
                </a:solidFill>
                <a:latin typeface="Courier New" pitchFamily="49" charset="0"/>
              </a:rPr>
              <a:t>  </a:t>
            </a:r>
            <a:r>
              <a:rPr lang="en-US" sz="2400" dirty="0" err="1" smtClean="0">
                <a:solidFill>
                  <a:schemeClr val="tx2">
                    <a:satMod val="130000"/>
                  </a:schemeClr>
                </a:solidFill>
                <a:latin typeface="Courier New" pitchFamily="49" charset="0"/>
              </a:rPr>
              <a:t>int</a:t>
            </a:r>
            <a:r>
              <a:rPr lang="en-US" sz="2400" dirty="0" smtClean="0">
                <a:solidFill>
                  <a:schemeClr val="tx2">
                    <a:satMod val="130000"/>
                  </a:schemeClr>
                </a:solidFill>
                <a:latin typeface="Courier New" pitchFamily="49" charset="0"/>
              </a:rPr>
              <a:t> </a:t>
            </a:r>
            <a:r>
              <a:rPr lang="bg-BG" sz="2400" dirty="0" smtClean="0">
                <a:solidFill>
                  <a:schemeClr val="tx2">
                    <a:satMod val="130000"/>
                  </a:schemeClr>
                </a:solidFill>
                <a:latin typeface="Courier New" pitchFamily="49" charset="0"/>
              </a:rPr>
              <a:t>n=5;</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unsigned</a:t>
            </a:r>
            <a:r>
              <a:rPr lang="bg-BG" sz="2400" dirty="0" smtClean="0">
                <a:solidFill>
                  <a:schemeClr val="tx2">
                    <a:satMod val="130000"/>
                  </a:schemeClr>
                </a:solidFill>
                <a:latin typeface="Courier New" pitchFamily="49" charset="0"/>
              </a:rPr>
              <a:t> k=0;</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unsigned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long</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=1;</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void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k++</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*=10;</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&lt;&lt;'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if</a:t>
            </a:r>
            <a:r>
              <a:rPr lang="bg-BG" sz="2400" dirty="0" smtClean="0">
                <a:solidFill>
                  <a:schemeClr val="tx2">
                    <a:satMod val="130000"/>
                  </a:schemeClr>
                </a:solidFill>
                <a:latin typeface="Courier New" pitchFamily="49" charset="0"/>
              </a:rPr>
              <a:t> (k&lt;n)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&lt;&lt;' ';</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result</a:t>
            </a:r>
            <a:r>
              <a:rPr lang="bg-BG" sz="2400" dirty="0" smtClean="0">
                <a:solidFill>
                  <a:schemeClr val="tx2">
                    <a:satMod val="130000"/>
                  </a:schemeClr>
                </a:solidFill>
                <a:latin typeface="Courier New" pitchFamily="49" charset="0"/>
              </a:rPr>
              <a:t>/=10;</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err="1" smtClean="0">
                <a:solidFill>
                  <a:schemeClr val="tx2">
                    <a:satMod val="130000"/>
                  </a:schemeClr>
                </a:solidFill>
                <a:latin typeface="Courier New" pitchFamily="49" charset="0"/>
              </a:rPr>
              <a:t>void</a:t>
            </a: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main</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printLine</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 </a:t>
            </a:r>
            <a:r>
              <a:rPr lang="bg-BG" sz="2400" dirty="0" err="1" smtClean="0">
                <a:solidFill>
                  <a:schemeClr val="tx2">
                    <a:satMod val="130000"/>
                  </a:schemeClr>
                </a:solidFill>
                <a:latin typeface="Courier New" pitchFamily="49" charset="0"/>
              </a:rPr>
              <a:t>cout</a:t>
            </a:r>
            <a:r>
              <a:rPr lang="bg-BG" sz="2400" dirty="0" smtClean="0">
                <a:solidFill>
                  <a:schemeClr val="tx2">
                    <a:satMod val="130000"/>
                  </a:schemeClr>
                </a:solidFill>
                <a:latin typeface="Courier New" pitchFamily="49" charset="0"/>
              </a:rPr>
              <a:t>&lt;&lt;'\</a:t>
            </a:r>
            <a:r>
              <a:rPr lang="bg-BG" sz="2400" dirty="0" err="1" smtClean="0">
                <a:solidFill>
                  <a:schemeClr val="tx2">
                    <a:satMod val="130000"/>
                  </a:schemeClr>
                </a:solidFill>
                <a:latin typeface="Courier New" pitchFamily="49" charset="0"/>
              </a:rPr>
              <a:t>n'</a:t>
            </a: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latin typeface="Courier New" pitchFamily="49" charset="0"/>
              </a:rPr>
              <a:t>}</a:t>
            </a:r>
            <a:br>
              <a:rPr lang="bg-BG" sz="2400" dirty="0" smtClean="0">
                <a:solidFill>
                  <a:schemeClr val="tx2">
                    <a:satMod val="130000"/>
                  </a:schemeClr>
                </a:solidFill>
                <a:latin typeface="Courier New" pitchFamily="49" charset="0"/>
              </a:rPr>
            </a:br>
            <a:r>
              <a:rPr lang="bg-BG" sz="2400" dirty="0" smtClean="0">
                <a:solidFill>
                  <a:schemeClr val="tx2">
                    <a:satMod val="130000"/>
                  </a:schemeClr>
                </a:solidFill>
              </a:rPr>
              <a:t> </a:t>
            </a:r>
            <a:br>
              <a:rPr lang="bg-BG" sz="2400" dirty="0" smtClean="0">
                <a:solidFill>
                  <a:schemeClr val="tx2">
                    <a:satMod val="130000"/>
                  </a:schemeClr>
                </a:solidFill>
              </a:rPr>
            </a:br>
            <a:endParaRPr lang="en-US" sz="2400" dirty="0" smtClean="0">
              <a:solidFill>
                <a:schemeClr val="tx2">
                  <a:satMod val="130000"/>
                </a:schemeClr>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115616" y="692696"/>
            <a:ext cx="7719392" cy="5943600"/>
          </a:xfrm>
        </p:spPr>
        <p:txBody>
          <a:bodyPr>
            <a:normAutofit fontScale="90000"/>
          </a:bodyPr>
          <a:lstStyle/>
          <a:p>
            <a:pPr eaLnBrk="1" fontAlgn="auto" hangingPunct="1">
              <a:spcAft>
                <a:spcPts val="0"/>
              </a:spcAft>
              <a:defRPr/>
            </a:pPr>
            <a:r>
              <a:rPr lang="bg-BG" sz="2400" u="sng" dirty="0" smtClean="0">
                <a:solidFill>
                  <a:schemeClr val="tx2">
                    <a:satMod val="130000"/>
                  </a:schemeClr>
                </a:solidFill>
                <a:latin typeface="Arial" charset="0"/>
              </a:rPr>
              <a:t>Рекурсия и ефективност</a:t>
            </a:r>
            <a:r>
              <a:rPr lang="bg-BG" sz="800" u="sng" dirty="0" smtClean="0">
                <a:solidFill>
                  <a:schemeClr val="tx2">
                    <a:satMod val="130000"/>
                  </a:schemeClr>
                </a:solidFill>
                <a:latin typeface="Arial" charset="0"/>
              </a:rPr>
              <a:t/>
            </a:r>
            <a:br>
              <a:rPr lang="bg-BG" sz="800" u="sng" dirty="0" smtClean="0">
                <a:solidFill>
                  <a:schemeClr val="tx2">
                    <a:satMod val="130000"/>
                  </a:schemeClr>
                </a:solidFill>
                <a:latin typeface="Arial" charset="0"/>
              </a:rPr>
            </a:br>
            <a:r>
              <a:rPr lang="en-US" sz="800" u="sng" dirty="0" smtClean="0">
                <a:solidFill>
                  <a:schemeClr val="tx2">
                    <a:satMod val="130000"/>
                  </a:schemeClr>
                </a:solidFill>
                <a:latin typeface="Arial" charset="0"/>
              </a:rPr>
              <a:t/>
            </a:r>
            <a:br>
              <a:rPr lang="en-US" sz="800" u="sng" dirty="0" smtClean="0">
                <a:solidFill>
                  <a:schemeClr val="tx2">
                    <a:satMod val="130000"/>
                  </a:schemeClr>
                </a:solidFill>
                <a:latin typeface="Arial" charset="0"/>
              </a:rPr>
            </a:br>
            <a:r>
              <a:rPr lang="bg-BG" sz="2400" dirty="0" smtClean="0">
                <a:solidFill>
                  <a:schemeClr val="tx1"/>
                </a:solidFill>
                <a:latin typeface="Arial" charset="0"/>
              </a:rPr>
              <a:t>При всяко рекурсивно обръщение към подпрограма (функция) се заделят клетки от ОП за параметрите и за локалните променливи. Възможно е системният стек да се окаже недостатъчен за изпълнението на програмата, в която има много рекурсивни обръщения (т.е. дълбочината на рекурсията е голяма). Подобен проблем възниква също така и при неправилно рекурсивно обръщение – стекът се препълва. </a:t>
            </a:r>
            <a:br>
              <a:rPr lang="bg-BG" sz="2400" dirty="0" smtClean="0">
                <a:solidFill>
                  <a:schemeClr val="tx1"/>
                </a:solidFill>
                <a:latin typeface="Arial" charset="0"/>
              </a:rPr>
            </a:br>
            <a:r>
              <a:rPr lang="bg-BG" sz="2400" dirty="0" smtClean="0">
                <a:solidFill>
                  <a:schemeClr val="tx1"/>
                </a:solidFill>
                <a:latin typeface="Arial" charset="0"/>
              </a:rPr>
              <a:t>В случая на голяма дълбочина на рекурсията и невъзможност програмата да се реализира по този начин необходимо е да се премине към другия подход – итеративен.</a:t>
            </a:r>
            <a:br>
              <a:rPr lang="bg-BG" sz="2400" dirty="0" smtClean="0">
                <a:solidFill>
                  <a:schemeClr val="tx1"/>
                </a:solidFill>
                <a:latin typeface="Arial" charset="0"/>
              </a:rPr>
            </a:br>
            <a:r>
              <a:rPr lang="bg-BG" sz="2400" dirty="0" smtClean="0">
                <a:solidFill>
                  <a:schemeClr val="tx1"/>
                </a:solidFill>
                <a:latin typeface="Arial" charset="0"/>
              </a:rPr>
              <a:t>По-принцип рекурсивните програми са по-бавни и по-трудно се тестват. Използването на рекурсия изисква по-голям обем ОП. </a:t>
            </a:r>
            <a:br>
              <a:rPr lang="bg-BG" sz="2400" dirty="0" smtClean="0">
                <a:solidFill>
                  <a:schemeClr val="tx1"/>
                </a:solidFill>
                <a:latin typeface="Arial" charset="0"/>
              </a:rPr>
            </a:br>
            <a:endParaRPr lang="en-US" dirty="0" smtClean="0">
              <a:solidFill>
                <a:schemeClr val="tx1"/>
              </a:solidFill>
              <a:latin typeface="Arial"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187624" y="548680"/>
            <a:ext cx="7776864" cy="5943600"/>
          </a:xfrm>
        </p:spPr>
        <p:txBody>
          <a:bodyPr>
            <a:normAutofit fontScale="90000"/>
          </a:bodyPr>
          <a:lstStyle/>
          <a:p>
            <a:pPr eaLnBrk="1" fontAlgn="auto" hangingPunct="1">
              <a:lnSpc>
                <a:spcPct val="120000"/>
              </a:lnSpc>
              <a:spcAft>
                <a:spcPts val="0"/>
              </a:spcAft>
              <a:defRPr/>
            </a:pPr>
            <a:r>
              <a:rPr lang="en-US" sz="2400" dirty="0" smtClean="0">
                <a:solidFill>
                  <a:schemeClr val="tx1"/>
                </a:solidFill>
                <a:latin typeface="Arial" charset="0"/>
              </a:rPr>
              <a:t>	</a:t>
            </a:r>
            <a:r>
              <a:rPr lang="bg-BG" sz="2400" dirty="0" smtClean="0">
                <a:solidFill>
                  <a:schemeClr val="tx1"/>
                </a:solidFill>
                <a:latin typeface="Arial" charset="0"/>
              </a:rPr>
              <a:t>Но, от друга страна, рекурсията води до повишаване на ефективността на </a:t>
            </a:r>
            <a:r>
              <a:rPr lang="bg-BG" sz="2400" dirty="0" err="1" smtClean="0">
                <a:solidFill>
                  <a:schemeClr val="tx1"/>
                </a:solidFill>
                <a:latin typeface="Arial" charset="0"/>
              </a:rPr>
              <a:t>програмисткия</a:t>
            </a:r>
            <a:r>
              <a:rPr lang="bg-BG" sz="2400" dirty="0" smtClean="0">
                <a:solidFill>
                  <a:schemeClr val="tx1"/>
                </a:solidFill>
                <a:latin typeface="Arial" charset="0"/>
              </a:rPr>
              <a:t> труд. Много са задачите (и ние видяхме някои от тях), които се програмират трудно и бавно без рекурсия и просто и бързо – с рекурсия.</a:t>
            </a:r>
            <a:br>
              <a:rPr lang="bg-BG" sz="2400" dirty="0" smtClean="0">
                <a:solidFill>
                  <a:schemeClr val="tx1"/>
                </a:solidFill>
                <a:latin typeface="Arial" charset="0"/>
              </a:rPr>
            </a:br>
            <a:r>
              <a:rPr lang="en-US" sz="800" dirty="0" smtClean="0">
                <a:solidFill>
                  <a:schemeClr val="tx1"/>
                </a:solidFill>
                <a:latin typeface="Arial" charset="0"/>
              </a:rPr>
              <a:t/>
            </a:r>
            <a:br>
              <a:rPr lang="en-US" sz="800" dirty="0" smtClean="0">
                <a:solidFill>
                  <a:schemeClr val="tx1"/>
                </a:solidFill>
                <a:latin typeface="Arial" charset="0"/>
              </a:rPr>
            </a:br>
            <a:r>
              <a:rPr lang="en-US" sz="800" dirty="0" smtClean="0">
                <a:solidFill>
                  <a:schemeClr val="tx1"/>
                </a:solidFill>
                <a:latin typeface="Arial" charset="0"/>
              </a:rPr>
              <a:t>	</a:t>
            </a:r>
            <a:r>
              <a:rPr lang="bg-BG" sz="2400" dirty="0" smtClean="0">
                <a:solidFill>
                  <a:schemeClr val="tx1"/>
                </a:solidFill>
                <a:latin typeface="Arial" charset="0"/>
              </a:rPr>
              <a:t>Рекурсивните програми са по-четливи, по-ясни и разбираеми от съответните нерекурсивни програми.</a:t>
            </a:r>
            <a:r>
              <a:rPr lang="en-US" sz="2400" dirty="0" smtClean="0">
                <a:solidFill>
                  <a:schemeClr val="tx1"/>
                </a:solidFill>
                <a:latin typeface="Arial" charset="0"/>
              </a:rPr>
              <a:t/>
            </a:r>
            <a:br>
              <a:rPr lang="en-US" sz="2400" dirty="0" smtClean="0">
                <a:solidFill>
                  <a:schemeClr val="tx1"/>
                </a:solidFill>
                <a:latin typeface="Arial" charset="0"/>
              </a:rPr>
            </a:br>
            <a:r>
              <a:rPr lang="bg-BG" sz="2400" dirty="0" smtClean="0">
                <a:solidFill>
                  <a:schemeClr val="tx1"/>
                </a:solidFill>
                <a:latin typeface="Arial" charset="0"/>
              </a:rPr>
              <a:t>Затова трудно можем да намерим средно-сложна програма на някой от известните езици за програмиране, в която да няма рекурсивни обръщения. Но трябва да се има предвид, че не всички езици допускат рекурсия (например, Фортран, Бейсик, </a:t>
            </a:r>
            <a:r>
              <a:rPr lang="bg-BG" sz="2400" dirty="0" err="1" smtClean="0">
                <a:solidFill>
                  <a:schemeClr val="tx1"/>
                </a:solidFill>
                <a:latin typeface="Arial" charset="0"/>
              </a:rPr>
              <a:t>Кобол</a:t>
            </a:r>
            <a:r>
              <a:rPr lang="bg-BG" sz="2400" dirty="0" smtClean="0">
                <a:solidFill>
                  <a:schemeClr val="tx1"/>
                </a:solidFill>
                <a:latin typeface="Arial" charset="0"/>
              </a:rPr>
              <a:t>). Но и чрез тях може да се моделира механизма на рекурсията</a:t>
            </a:r>
            <a:r>
              <a:rPr lang="en-US" sz="2400" dirty="0" smtClean="0">
                <a:solidFill>
                  <a:schemeClr val="tx1"/>
                </a:solidFill>
                <a:latin typeface="Arial" charset="0"/>
              </a:rPr>
              <a:t>.</a:t>
            </a:r>
            <a:br>
              <a:rPr lang="en-US" sz="2400" dirty="0" smtClean="0">
                <a:solidFill>
                  <a:schemeClr val="tx1"/>
                </a:solidFill>
                <a:latin typeface="Arial" charset="0"/>
              </a:rPr>
            </a:br>
            <a:r>
              <a:rPr lang="en-US" sz="800" dirty="0" smtClean="0">
                <a:solidFill>
                  <a:schemeClr val="tx1"/>
                </a:solidFill>
                <a:latin typeface="Arial" charset="0"/>
              </a:rPr>
              <a:t/>
            </a:r>
            <a:br>
              <a:rPr lang="en-US" sz="800" dirty="0" smtClean="0">
                <a:solidFill>
                  <a:schemeClr val="tx1"/>
                </a:solidFill>
                <a:latin typeface="Arial" charset="0"/>
              </a:rPr>
            </a:br>
            <a:r>
              <a:rPr lang="en-US" sz="2400" dirty="0" smtClean="0">
                <a:solidFill>
                  <a:schemeClr val="tx1"/>
                </a:solidFill>
                <a:latin typeface="Arial" charset="0"/>
              </a:rPr>
              <a:t> 	</a:t>
            </a:r>
            <a:r>
              <a:rPr lang="bg-BG" sz="2400" dirty="0" smtClean="0">
                <a:solidFill>
                  <a:schemeClr val="tx1"/>
                </a:solidFill>
                <a:latin typeface="Arial" charset="0"/>
              </a:rPr>
              <a:t/>
            </a:r>
            <a:br>
              <a:rPr lang="bg-BG" sz="2400" dirty="0" smtClean="0">
                <a:solidFill>
                  <a:schemeClr val="tx1"/>
                </a:solidFill>
                <a:latin typeface="Arial" charset="0"/>
              </a:rPr>
            </a:br>
            <a:endParaRPr lang="en-US" sz="2400" dirty="0" smtClean="0">
              <a:solidFill>
                <a:schemeClr val="tx1"/>
              </a:solidFill>
              <a:latin typeface="Arial"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060376" y="836712"/>
            <a:ext cx="8083624" cy="5791200"/>
          </a:xfrm>
        </p:spPr>
        <p:txBody>
          <a:bodyPr>
            <a:normAutofit fontScale="90000"/>
          </a:bodyPr>
          <a:lstStyle/>
          <a:p>
            <a:pPr eaLnBrk="1" fontAlgn="auto" hangingPunct="1">
              <a:lnSpc>
                <a:spcPct val="120000"/>
              </a:lnSpc>
              <a:spcAft>
                <a:spcPts val="0"/>
              </a:spcAft>
              <a:defRPr/>
            </a:pPr>
            <a:r>
              <a:rPr lang="en-US" sz="2400" dirty="0" smtClean="0">
                <a:solidFill>
                  <a:schemeClr val="tx1"/>
                </a:solidFill>
                <a:latin typeface="Arial" charset="0"/>
              </a:rPr>
              <a:t>	</a:t>
            </a:r>
            <a:r>
              <a:rPr lang="bg-BG" sz="2400" dirty="0" smtClean="0">
                <a:solidFill>
                  <a:schemeClr val="tx1"/>
                </a:solidFill>
                <a:latin typeface="Arial" charset="0"/>
              </a:rPr>
              <a:t>Съвременните </a:t>
            </a:r>
            <a:r>
              <a:rPr lang="bg-BG" sz="2400" dirty="0">
                <a:solidFill>
                  <a:schemeClr val="tx1"/>
                </a:solidFill>
                <a:latin typeface="Arial" charset="0"/>
              </a:rPr>
              <a:t>компютри по-ефективно се справят с нерекурсивните програми, отколкото с рекурсивните. </a:t>
            </a:r>
            <a:r>
              <a:rPr lang="bg-BG" sz="2400" dirty="0" smtClean="0">
                <a:solidFill>
                  <a:schemeClr val="tx1"/>
                </a:solidFill>
                <a:latin typeface="Arial" charset="0"/>
              </a:rPr>
              <a:t/>
            </a:r>
            <a:br>
              <a:rPr lang="bg-BG" sz="2400" dirty="0" smtClean="0">
                <a:solidFill>
                  <a:schemeClr val="tx1"/>
                </a:solidFill>
                <a:latin typeface="Arial" charset="0"/>
              </a:rPr>
            </a:br>
            <a:r>
              <a:rPr lang="bg-BG" sz="2400" dirty="0">
                <a:solidFill>
                  <a:schemeClr val="tx1"/>
                </a:solidFill>
                <a:latin typeface="Arial" charset="0"/>
              </a:rPr>
              <a:t/>
            </a:r>
            <a:br>
              <a:rPr lang="bg-BG" sz="2400" dirty="0">
                <a:solidFill>
                  <a:schemeClr val="tx1"/>
                </a:solidFill>
                <a:latin typeface="Arial" charset="0"/>
              </a:rPr>
            </a:br>
            <a:r>
              <a:rPr lang="bg-BG" sz="2400" dirty="0" smtClean="0">
                <a:solidFill>
                  <a:schemeClr val="tx1"/>
                </a:solidFill>
                <a:latin typeface="Arial" charset="0"/>
              </a:rPr>
              <a:t>	</a:t>
            </a:r>
            <a:r>
              <a:rPr lang="bg-BG" sz="2400" dirty="0" smtClean="0">
                <a:solidFill>
                  <a:schemeClr val="tx1"/>
                </a:solidFill>
                <a:latin typeface="Arial" charset="0"/>
              </a:rPr>
              <a:t>Кога </a:t>
            </a:r>
            <a:r>
              <a:rPr lang="bg-BG" sz="2400" dirty="0" smtClean="0">
                <a:solidFill>
                  <a:schemeClr val="tx1"/>
                </a:solidFill>
                <a:latin typeface="Arial" charset="0"/>
              </a:rPr>
              <a:t>НЕ ТРЯБВА да прилагаме рекурсия:</a:t>
            </a:r>
            <a:br>
              <a:rPr lang="bg-BG" sz="2400" dirty="0" smtClean="0">
                <a:solidFill>
                  <a:schemeClr val="tx1"/>
                </a:solidFill>
                <a:latin typeface="Arial" charset="0"/>
              </a:rPr>
            </a:br>
            <a:r>
              <a:rPr lang="en-US" sz="2400" dirty="0" smtClean="0">
                <a:solidFill>
                  <a:schemeClr val="tx1"/>
                </a:solidFill>
                <a:latin typeface="Arial" charset="0"/>
              </a:rPr>
              <a:t>	- </a:t>
            </a:r>
            <a:r>
              <a:rPr lang="bg-BG" sz="2400" dirty="0" smtClean="0">
                <a:solidFill>
                  <a:schemeClr val="tx1"/>
                </a:solidFill>
                <a:latin typeface="Arial" charset="0"/>
              </a:rPr>
              <a:t>когато тя е неефективна в степен, по-голяма за допустимата в конкретния случай (например, бързодействието пада така, че това пречи на работата, или дълбочината на рекурсията е такава, че процесът на обръщенията става нереализуем поради препълване на системния стек);</a:t>
            </a:r>
            <a:br>
              <a:rPr lang="bg-BG" sz="2400" dirty="0" smtClean="0">
                <a:solidFill>
                  <a:schemeClr val="tx1"/>
                </a:solidFill>
                <a:latin typeface="Arial" charset="0"/>
              </a:rPr>
            </a:br>
            <a:r>
              <a:rPr lang="en-US" sz="2400" dirty="0" smtClean="0">
                <a:solidFill>
                  <a:schemeClr val="tx2">
                    <a:satMod val="130000"/>
                  </a:schemeClr>
                </a:solidFill>
              </a:rPr>
              <a:t>	- </a:t>
            </a:r>
            <a:r>
              <a:rPr lang="bg-BG" sz="2400" dirty="0" smtClean="0">
                <a:solidFill>
                  <a:schemeClr val="tx1"/>
                </a:solidFill>
                <a:latin typeface="Arial" charset="0"/>
              </a:rPr>
              <a:t>когато нерекурсивното решение е по-просто, по-естествено и много по-ефективно от рекурсивното (като задачите за събиране и умножение на цели числа).</a:t>
            </a:r>
            <a:r>
              <a:rPr lang="bg-BG" dirty="0" smtClean="0">
                <a:solidFill>
                  <a:schemeClr val="tx1"/>
                </a:solidFill>
                <a:latin typeface="Arial" charset="0"/>
              </a:rPr>
              <a:t/>
            </a:r>
            <a:br>
              <a:rPr lang="bg-BG" dirty="0" smtClean="0">
                <a:solidFill>
                  <a:schemeClr val="tx1"/>
                </a:solidFill>
                <a:latin typeface="Arial" charset="0"/>
              </a:rPr>
            </a:br>
            <a:endParaRPr lang="en-US" dirty="0" smtClean="0">
              <a:solidFill>
                <a:schemeClr val="tx1"/>
              </a:solidFill>
              <a:latin typeface="Arial"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2713</TotalTime>
  <Words>1332</Words>
  <Application>Microsoft Office PowerPoint</Application>
  <PresentationFormat>On-screen Show (4:3)</PresentationFormat>
  <Paragraphs>307</Paragraphs>
  <Slides>94</Slides>
  <Notes>0</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94</vt:i4>
      </vt:variant>
    </vt:vector>
  </HeadingPairs>
  <TitlesOfParts>
    <vt:vector size="98" baseType="lpstr">
      <vt:lpstr>Solstice</vt:lpstr>
      <vt:lpstr>Document</vt:lpstr>
      <vt:lpstr>Worksheet</vt:lpstr>
      <vt:lpstr>Equation</vt:lpstr>
      <vt:lpstr>СИНТЕЗ  И  АНАЛИЗ  НА  АЛГОРИТМИ</vt:lpstr>
      <vt:lpstr>Лектор: Доц. д-р Елена Рачева 404 ТВ сл. тел. 383-628  Асистенти: ас. Антоанета Иванова ас. Мая Тодорова ас. Нели Калчева ас. Павлина Линова ас. Надежда Цветкова</vt:lpstr>
      <vt:lpstr>PowerPoint Presentation</vt:lpstr>
      <vt:lpstr>Литература</vt:lpstr>
      <vt:lpstr>PowerPoint Presentation</vt:lpstr>
      <vt:lpstr> АЛГОРИТМИ  + СТРУКТУРИ    ОТ  ДАННИ  =  ПРОГРАМИ  (Николаус Уирт)</vt:lpstr>
      <vt:lpstr>ИНТУИТИВНА ДЕФИНИЦИЯ: Алгоритъм е еднозначно трактувана процедура за решаване на задачата  СВОЙСТВА НА АЛГОРИТМИТЕ</vt:lpstr>
      <vt:lpstr>PowerPoint Presentation</vt:lpstr>
      <vt:lpstr>МАШИНА  НА  ТЮРИНГ</vt:lpstr>
      <vt:lpstr>Във всяка една клетка може да бъде записан (прочетен) един символ:   а0, а1, а2, … аn  - външна азбука на МТ</vt:lpstr>
      <vt:lpstr>За предвижване на лентата МТ разполага с прост механизъм, който: - предвижва лентата с една   стъпка  напред; - предвижва лентата с една    стъпка  назад;  - оставя лентата неподвижна.</vt:lpstr>
      <vt:lpstr>Т. е. лентата може да се намира в едно от трите състояния:    d-1 d+1 d0  Глава за четене / запис  Логически блок с краен брой вътрешни състояния:  р1, р2, ...  рm (вътрешна азбука на МТ)</vt:lpstr>
      <vt:lpstr>    Работа на ЛБ на МТ:  1. Главата чете текущия символ (под нея). 2. В зависимост от прочетения символ (аi) и своето вътрешно състояние (рj):  - задейства главата, която пише  в клетката под нея нов символ; </vt:lpstr>
      <vt:lpstr>- предвижва лентата; - променя вътрешното си   състояние. 3. Ако в резултат на т. 2: - символът под главата - положението на лентата - вътрешното състояние на ЛБ остават без изменение, МТ спира. В противен случай - т.1</vt:lpstr>
      <vt:lpstr>Функционална таблица на МТ</vt:lpstr>
      <vt:lpstr>СЛОЖНОСТ  НА  АЛГОРИТМИ</vt:lpstr>
      <vt:lpstr>Тmin(n) Tmax(n) T(n)-&gt;Tср(n)</vt:lpstr>
      <vt:lpstr> - полиномиални  алгоритми  - експоненциални алгоритми </vt:lpstr>
      <vt:lpstr>Сложност по памет   (функция от големина на входните данни)                             Задачи          P-space   Exp-space  (задачи, за които е        (изискват експоненциална необходима                              памет)  полиномиална памет)   </vt:lpstr>
      <vt:lpstr>NP-задачи  (non-deterministic polynomial time или полиномиално-проверими задачи)  Една задача принадлежи на класа NP , ако е възможно с полиномиална сложност да се провери, дали даден кандидат действително е решение, без да се интересуваме, колко време ще отнеме намирането на такъв кандидат. </vt:lpstr>
      <vt:lpstr> Например: дадено е естествено число n. Да се провери дали съществува делител на n, по-малък от дадено естествено число q:      q&gt;1, q&lt;n    Ако разполагаме с кандидат за решение q’, лесно можем да проверим дали съществува р’, такова че      n = p’ x q’   Но за да решим формулираната задача, ще трябват по-големи изчислителни ресурси.</vt:lpstr>
      <vt:lpstr>Р-задачи (polynomial или задачи, за които съществува решение с полиномиална сложност)  Експоненциални задачи  - могат да се решат с експоненциална сложност  </vt:lpstr>
      <vt:lpstr>Нерешими задачи  Не могат да бъдат решени независимо с колко време и памет разполагаме.  Например: да се реши уравнението:    an + bn = cn a, b, c, n - естествени числа, n&gt;2  Съгласно скоро доказаната Голяма теорема на Ферма, такава четворка естествени числа не съществува.   </vt:lpstr>
      <vt:lpstr>PowerPoint Presentation</vt:lpstr>
      <vt:lpstr>NP-пълни задачи    (NP-complete)        PNP ?  Т.е. ако проверката дали дадено кандидат-решение изисква полиномиално време, то и цялото решение също става за полиномиално време?   NP-пълни задачи е клас от NP-задачи, които могат да се свеждат една към друга с полиномиална сложност, и всяка задача от NP може да се сведе до някоя NP-пълна задача.   Ако само за една NP-пълна задача бъде доказано, че принадлежи или не принадлежи към класа Р, то това ще следва и за всички останали задачи от класа NP.   (Например: търсене на прости пътища с дължина K е граф) </vt:lpstr>
      <vt:lpstr>Най-често срещани стойности на   f(n) за О(f(n))</vt:lpstr>
      <vt:lpstr>Основни правила за определяне на О(f(n))</vt:lpstr>
      <vt:lpstr>МЕТОДИ  ЗА  РАЗРАБОТВАНЕ  НА  АЛГОРИТМИ  И  ПРОГРАМИ</vt:lpstr>
      <vt:lpstr>МЕТОДИ  ЗА  РАЗРАБОТВАНЕ  НА  АЛГОРИТМИ  И  ПРОГРАМИ</vt:lpstr>
      <vt:lpstr>    Структурно програмиране  Програмиране без goto  Произволно сложна програма може да бъде реализирана при използване на следния минимален базис: - последователност - while (итеративна структура) - case (избор)  Всяка неструктурирана програма може да бъде структурирана допълнително.</vt:lpstr>
      <vt:lpstr>Цели на структурното програмиране:  1. Да се осигури дисциплина в програмирането 2. Да се подобри читаемостта на програмите 3. Да се повиши ефективността на програмите 4. Да се повиши надеждността на програмите 5. Да се намали времетраенето и стойността на      разработването на програмите </vt:lpstr>
      <vt:lpstr>Основни принципи на структурното   програмиране:  1. Принцип на абстракциите 2. Принцип на формалността 3. Принцип “Разделяй и владей” 4. Принцип на йерархичното подреждане</vt:lpstr>
      <vt:lpstr>Търсене с връщане назад (backtracking)  Започва с с целта или решението и се предприема движение в обратната посока – к началната постановка на задачата. След това пак от постановката към решението и т. н.   Задача за джипа: Да се пресече пустиня с дължина 1000 мили с MIN разход на гориво.   Обемът на резервоара – 500 л, разходът на гориво е 1 л на 1 миля (за улесняване на сметките).  В началния пункт има неограничени количества гориво, в пустинята – няма.</vt:lpstr>
      <vt:lpstr> Очевидно е, че в пустинята трябва да се създадат складове. Къде да ги направим и колко гориво да съхраняваме, за да пресечем пустинята с MIN разход на гориво?  Ако имаме склад с К резервоара гориво, какво разстояние можем да изминем? Къде трябва да се намира този склад, че да стигнем до края на   пустинята?  Ще търсим отговор на тази задача за К=1, 2, 3, ... N, докато N ще се окаже достатъчно за 1000 мили.  Нека К=1. Очевидно е, че могат да се изминат 500 мили:   С  е най-отдалечената точка, започвайки от която джипът може да пресече пустинята, разполагайки с 500 л гориво. </vt:lpstr>
      <vt:lpstr> Т. е. в С трябва да осигурим склад с 1 резервоар (500 л) гориво. Как?  Нека К=2, т.е. в следващия склад ще има два пълни резервоара гориво (1000 л). Къде да се разположи този склад, така че от него да се пренесат в С 500 л (К=1)?    Т.е. каква е Mах стойност на Х1, че тръгвайки с 1000 л (К=2) от т. (500- Х1) могат да се занесат достатъчни количества в т. С. Един от начините е следния:  Зареждаме колата в т. (500- Х1) , стигаме до т. С (изминавайки Х1 мили), преливаме в склада цялото гориво с изключение на Х1 литра, необходими  за връщане в т. (500- Х1). Тук резервоарът вече е празен. Пълним го за втори път, изминаваме Х1 мили до т. С, зареждаме запазеното там гориво и тръгваме  за т. В с пълен резервоар.</vt:lpstr>
      <vt:lpstr>Общото разстояние, което се изминава, се състои от 3 отсечки по Х1 мили и СВ или в литри:     3 Х1 литра + 500 литра = 1000 литра Решението на уравнението е Х1 = 500/3. Т.е. два резервоара бензин (или 1000 литра) позволяват ни да изминем:   DIST2 = 500 + Х1 =  500 (1 +1/3) мили Постановката е следната: като разполагаме с К резервоара гориво, ние се стремим да се придвижим колкото може повече назад от точката, в която се намират К-1 резервоара, т. е. търсим Mах X. К=3. От тази точка трябва да тръгнем с 1500 л гориво, за да доставим 1000 л в т. (500- Х1). Търсим Mах Х2, което да ни осигури това условие.   </vt:lpstr>
      <vt:lpstr> Тръгваме с 1500 л гориво от т. (500 - Х1 - Х2)  (или т. E)  и доставяме 1000 л в т. (500- Х1) (или т. D).              Това може да стане по следния начин:   тръгваме от т. (500 - Х1 - Х2), стигаме до т. (500- Х1), преливаме горивото, като запазваме само необходимото Х2 количество. Връщаме се в т. (500 - Х1 - Х2) или т. E с празен резервоар. Ако повторим процедурата, ние ще изразходваме 4Х2 литра гориво и ще оставим (1000 – 4Х2) литра в т. (500- Х1) или т. D. Сега в т. E остават само 500 л. Зареждаме ги и тръгваме за т. D, като изразходваме по пътя Х2 литра:    1500 - 5Х2 = 1000 (толкова остават в т. E)    т. е. Х2 = 500/5    Или с три резервоара можем да се придвижим напред с:  DIST3 = 500 + Х1 +Х2 =  500 (1 +1/3 + 1/5) мили  </vt:lpstr>
      <vt:lpstr>Ако продължим този процес, ще получим следната закономерност:  DISTN =  500 (1 +1/3 + 1/5 + … + 1/(2N+1))  Задачата се решава с N = 7</vt:lpstr>
      <vt:lpstr>   Рекурсия  Рекурсията е метод в математиката и програмирането за дефиниране на функция или езикова конструкция чрез самата себе си.   Пример за рекурсивно дефиниране на функция е функцията факториел:      f(n) = n!=n*(n-1)*(n-2)*(n-3)* … *2*1, като се приеме 0! = 1   или </vt:lpstr>
      <vt:lpstr>PowerPoint Presentation</vt:lpstr>
      <vt:lpstr>Рекурсивен вариант на функцията F(n) (factorial(n)):  #include &lt;iostream&gt; using namespace std;  long factorial (long int n);//prototype int main() {     long k;     cout&lt;&lt;"\nВъведете цяло число:";     cin&gt;&gt;k;     cout&lt;&lt;"\n"&lt;&lt;k&lt;&lt;"! = "&lt;&lt;factorial(k);     return 0; } long int factorial (long n) { if (n&gt;1)     return (n*factorial(n-1));   else     return(1); }</vt:lpstr>
      <vt:lpstr>Итеративен вариант на функцията F(n) (factorial(n)):  #include&lt;iostream&gt; using namespace std;  int factor(int n);//prototype void main()  {    int n;    char c;    do    {      cout&lt;&lt;"\nВъведете цяло число: ";      cin&gt;&gt;n;      factor(n);      cout&lt;&lt;"\nДруга стойност (Y/N)? ";      cin&gt;&gt;c;    }    while ((c!='N')&amp;&amp;(c!='n'));  } </vt:lpstr>
      <vt:lpstr>int factor(int n) {      int rez=1;      for(int i=1;i&lt;=n;i++)  rez*=i;      cout&lt;&lt;"\nn!="&lt;&lt;rez;     return 0; } </vt:lpstr>
      <vt:lpstr>Алгоритъм на Евклид на намиране на най-големия общ делител на две положителни числа </vt:lpstr>
      <vt:lpstr>Рекурсивен вариант:  #include &lt;iostream&gt; using namespace std; int NGOD (int m,int n); //Prototype void main() {   int m, n;   char r;   do    {     do     {       cout&lt;&lt;"\nm=";       cin&gt;&gt;m;       cout&lt;&lt;"\nn=";       cin&gt;&gt;n;     }     while ((n&lt;0)||(m&lt;0));     cout&lt;&lt;"\nNGOD("&lt;&lt;m&lt;&lt;","&lt;&lt;n&lt;&lt;")="&lt;&lt;NGOD(m,n);     cout&lt;&lt;"\nNext arg (y/n):";     cin&gt;&gt;r;    }   while ((r=='y')||(r=='Y'));  } </vt:lpstr>
      <vt:lpstr> int NGOD(int m,int n) {     if  (n&gt;m)       return(NGOD(n,m));      else      {  if (n==0)      return(m);       else         return(NGOD(n,m%n));      } }  По-ефективна реализация:  int NGOD (int m, int n) { if (n&gt;m)     return NGOD(n,m);      else  return n?NGOD(n,m%n):m; } </vt:lpstr>
      <vt:lpstr>Итеративна реализация:  int NGOD (int n, int m) {  int k, nn,mm;  if (n&lt;m)   {nn=n; mm=m;}      else   {nn=m; mm=n;}               while (nn)       {                        k=nn;             nn=mm%nn;             mm=k;       }              return mm; }</vt:lpstr>
      <vt:lpstr>  Интересен е случаят на т. н. “двойна” рекурсия, представляваща по-сложна рекурсивна зависимост. Като такъв пример може да послужи функцията на Акерман:   </vt:lpstr>
      <vt:lpstr> Рекурсивна реализация:  #include&lt;iostream&gt; using namespace std;  int ack(int m, int n);//prototype void main() {   int n, m;   cout&lt;&lt;"n=";   cin&gt;&gt;n;   cout&lt;&lt;"m=";   cin&gt;&gt;m;   cout&lt;&lt;"Funcition ACK: "&lt;&lt;ack(m,n); }   int ack(int m, int n) {    if (m==0)       return n+1;      else    if (n==0)     return ack(m-1,1);    else     return ack(m-1, ack(m,n-1)); } </vt:lpstr>
      <vt:lpstr>  Форми на рекурсивни функции  Рекурсивните обръщения могат да се разглеждат като движение:  напред/назад  или рекурсивно спускане/завръщане  </vt:lpstr>
      <vt:lpstr> Всяка рекурсивна функция се състои от определен брой оператори (S - тяло или действие), конструкция if (условие) (задължително!) и едно или няколко рекурсивни обръщения.</vt:lpstr>
      <vt:lpstr>   Форма 1  S се изпълнява преди рекурсивно обръщение (т. е. при рекурсивно спускане):  int Rec (параметри) {  S;  if (условие)   Rec (параметри); }</vt:lpstr>
      <vt:lpstr>   Форма 2  S се изпълнява след рекурсивно обръщение (т. е. при рекурсивно връщане):  int Rec (параметри) {   if (условие)   Rec (параметри);         S;  }</vt:lpstr>
      <vt:lpstr>   Форма 3  Действието се извършва както преди, така и след  рекурсивното обръщение (при спускане и при връщане:   int Rec (параметри)   {      S1;    if (условие)     Rec (параметри);           S2;    }</vt:lpstr>
      <vt:lpstr>Рекурсивна програма за формиране на аритметична прогресия:    ai = ai-1 + b,       ai &lt;=c #include &lt;iostream&gt; using namespace std;  void prog (int n);                   //prototype int a, b, c; void main() {            cout &lt;&lt;"\nВъведете a:";    cin&gt;&gt;a;         // Например  а=1  cout &lt;&lt;"\nВъведете b:";   cin&gt;&gt;b;            //   b=2               cout &lt;&lt;"\nВъведете c:";    cin&gt;&gt;c;        //   c=7               prog(a); } void prog (int n) {  cout&lt;&lt;n&lt;&lt;"   ”;                           // 1   3    5   7   if (n+b&lt;=c)   prog(n+b);  cout&lt;&lt;n&lt;&lt;"   ”;                     // 7   5    3    1 } </vt:lpstr>
      <vt:lpstr>Демонстрационен пример  обръщане на символен низ: Hello! - !olleH</vt:lpstr>
      <vt:lpstr>Задача за разполагане на царици върху шахматна дъска (или задача за 8-те царици)  Задачата представлява пример за използване на метода “на пробите и грешките”, а също така метода на обратно търсене (или връщане назад, или backtracking). Известно е, че още през 1850 върху тази задача е работил Гаус, но така и не успял да получи пълното й решение. В това няма нищо чудно, подобни задачи обикновено нямат аналитическо решение, те изискват голям обем неприятни сметки, търпение и точност. Затова подобни задачи се решават предимно от компютри.  Условието на задачата е: Да се състави програма, която намира всички възможни начини за разполагане на N царици (максимално възможната стойност на N е 8) върху шахматна дъска по такъв начин, че никоя царица да не заплашва друга царица.          </vt:lpstr>
      <vt:lpstr> Естественият подход за намиране на решение на задачата е рекурсивен: ако сме разположили удачно i царици, проблемът се свежда до намиране на задоволително положение на i+1-вата царица. Задачата е решена, когато i=N. Остава да изведем намереното решение.   Известно е, че царицата заплашва всяка фигура в реда, колоната и диагонала, в които се намира, т.е. всеки ред и всяка колона може да съдържа само една царица. Цариците можем да представим с номерата на съответните колони(i). Тогава изборът на позиция за i-та царица се ограничава в i-та колона и се свежда до определяне на номера j на реда, в който тя може да се разположи в тази колона:    i                      j  </vt:lpstr>
      <vt:lpstr>Две примерни решения на задачата:</vt:lpstr>
      <vt:lpstr>Полуформалното описание на алгоритъма за разполагане на i-та царица е:   PLACE(int i) {  for (j=0; j&lt; n; j++)    { if допустимо i-та царица в j-я ред         {           Регистрация на i-та царица;           if  (i&lt;n)   {PLACE(i+1)}    else PRINT;           Премахване на регистрацията на i-та царица;                  }                }  } {PLACE} </vt:lpstr>
      <vt:lpstr> За да разположим i-та царица задоволително, е необходимо да знаем, в кои редове и диагонали са поставени царици до момента. Как да представим тази информация?  Ако разгледаме шахматната дъска, то можем да открием следната закономерност: за “червените” диагонали сумата от координатите им i+j е константа:     i+j=const;  0 &lt;= i+j &lt;=2(N-1)  За “сините”диагонали i-j=const;  1-N &lt;= i-j &lt;= N-1 Така можем да дефинираме три булеви масива, които да съхраняват нужната ни информация:  a[j]= 1, ако в j ред няма царица, и 0, ако има;  b[i+j]= 1, ако в този диагонал няма царица, и 0, ако има;  c[i-j]= 1, ако в този диагонал няма царица, и 0, ако има; </vt:lpstr>
      <vt:lpstr> Проверката на тези три масива ще ни позволява да определим, дали i-та царица може да бъде поставена в j-я ред. При положителен отговор i-та царица се поставя в клетката с координати (i,j), след което тази позиция се регистрира – съответните елементи на масивите a, b и c се установяват в 0.   Продължаваме рекурсивно да търсим място на следващата, i+1-та царица. Ако това не е възможно при i&lt;N, връщаме се обратно към i-та царица и се опитваме да я преместим в друга клетка с надеждата, че това ще доведе до друго решение. Непосредствено преди връщането е необходимо да премахнем регистрацията на текущата позиция на i-та царица, т.е. да присвоим на съответните елементи на масивите a,b и c стойност 1.  Ядрото на програмата е рекурсивната функция PLACE. В тялото на функцията е организиран цикъл за изчерпване на всички възможни варианти за разполагане на дадената царица.</vt:lpstr>
      <vt:lpstr>#include &lt;iostream&gt; using namespace std;  void print(); void true_false(int i, int j, int k); void place(int i);  const int N=8; int a[N]={1,1,1,1,1,1,1,1}; int b[2*N-1]={1,1,1,1,1,1,1,1,1,1,1,1,1,1,1}; int c[2*N-1]={1,1,1,1,1,1,1,1,1,1,1,1,1,1,1}; int pos[N]={0,0,0,0,0,0,0,0};   </vt:lpstr>
      <vt:lpstr>void main() {   place(1); }  void print() {  for (int m=0; m&lt;N; m++)      cout&lt;&lt; "    " &lt;&lt;pos[m];  cout&lt;&lt;endl; }  void true_false(int i, int j, int k) {   a[j-1]=k;   b[i+j-2]=k;   c[i-j+7]=k; } </vt:lpstr>
      <vt:lpstr>void place(int i) {  int j;  for (j=1; j&lt;=N;j++)   {   if((a[j-1]==1)&amp;&amp;(b[i+j-2]==1)&amp;&amp;(c[i-j+7]==1))   {    pos[i-1]=j;       true_false(i,j,0);    if (i&lt;N)     place(i+1);    else     print();    true_false(i,j,1);   }   } } </vt:lpstr>
      <vt:lpstr> Задача за коня (Обхождане на шахматна дъска с ходове на коня)        </vt:lpstr>
      <vt:lpstr>PowerPoint Presentation</vt:lpstr>
      <vt:lpstr>PowerPoint Presentation</vt:lpstr>
      <vt:lpstr>PowerPoint Presentation</vt:lpstr>
      <vt:lpstr>PowerPoint Presentation</vt:lpstr>
      <vt:lpstr> Друг класически пример за използване на рекурсия е формирането на редицата на Фибоначи. Числата на Фибоначи представляват безкрайна поредица от цели числа, в която елементът с индекс N (N&gt;2) е равен на сумата на двата непосредствено предхождащи го елемента - с индекси N-1 и N-2. Първите два елемента на поредицата са 0 и 1: 0, 1, 1, 2, 3, 5, 8, 13, 21, 34, 55, 89,…     </vt:lpstr>
      <vt:lpstr>Рекурсивна реализация на програма за изчисляване числата на Фибоначи: #include&lt;iostream&gt; using namespace std;  int fib (int i);//prototype int main() {   int nn;   cout&lt;&lt;"Въведете броя на числата (не повече от 24): ";   cin&gt;&gt;nn;   for (int j=0; j&lt;nn; j++)   cout&lt;&lt;fib(j)&lt;&lt;"  ";   return 0; } </vt:lpstr>
      <vt:lpstr>int fib (int i) {   if (i&lt;1)      return 0;   if (i==1)      return 1;   return fib(i-1)+fib(i-2); }  Реализацията е неефективна!</vt:lpstr>
      <vt:lpstr>Итеративна реализация на програма за изчисляване числата на Фибоначи: #include”stafx.h” #include&lt;iostream&gt; const int n=24;// max за int int main() {  int f[n];  int nn;  cout&lt;&lt;"Въведете броя на числата (не повече от 24:";  cin&gt;&gt;nn;  f[0]=0;   f[1]=1;  for (int j=2; j&lt;nn; j++)  f[j]=f[j-1]+f[j-2];  cout&lt;&lt;"\nЧислата на Фибоначи са:\n ";  for (j=0; j&lt;nn; j++)    cout&lt;&lt;f[j]&lt;&lt;"  ";  return 0; } </vt:lpstr>
      <vt:lpstr>ДИНАМИЧНО  ПРОГРАМИРАНЕ   Метод, при който се извършва запомняне на междинните резултати от решенията на вече решени подзадачи с цел избягване на повторни пресмятания, се нарича динамично програмиране (dynamic programming) или динамично оптимиране. Основното предназначение на този метод е решаването на различни оптимизационни задачи.   За да разгледаме метода, нека да използваме известния вече пример за изчисляване на числата на Фибоначи (рекурсивна и итеративна реализация). На практика рекурсивната реализация изисква много излишни обръщения към функцията. За да се изчисли n-то число всеки път се изчисляват n-1-то и n-2-то числа, което е изключително неефективно. Броят на извършваните рекурсивни обръщения е ненужно голям. Алгоритмът е експоненциален и няма да работи при големи n.  </vt:lpstr>
      <vt:lpstr> При динамичната реализация изчислените вече числа се съхраняват в статичен масив known[ ] (или друг външен за рекурсивната функция масив) и се използват при изчисляване на следващите стойности. Алгоритмът има полиномиална сложност.  Динамична реализация на програма за изчисляване на числата на Фибоначи: #include&lt;iostream&gt; using namespace std;  int fib(int i); //prototype int main() {   int nn;   cout&lt;&lt;"nn=";   cin&gt;&gt;nn;   for (int j=0; j&lt;nn; j++)        cout&lt;&lt;fib(j)&lt;&lt;"  ";   return 0; } </vt:lpstr>
      <vt:lpstr>int fib (int i) {  static int knownf[n];  if (knownf[i]!=0)        return knownf[i];  int t=i;  if (i&lt;0)     return 0;  if (i&gt;1)     t=fib(i-1)+fib(i-2);  return knownf[i]=t; }</vt:lpstr>
      <vt:lpstr>Основни стъпки при създаване на алгоритми и програми, реализиращи динамично програмиране (оптимиране)</vt:lpstr>
      <vt:lpstr>Още една класическа оптимизационна задача, която се решава чрез динамично оптимиране:  ЗАДАЧА ЗА РАНИЦАТА  Дадена е раница с вместимост М килограма и N предмета, всеки от които се характеризира с две числа: mi (тегло) и  ci (стойност). Да се избере такова множество предмети, чиято сумарна стойност е максимална, а сумата от теглата им не надвишава М. Числата M, N, mi, и  ci са естествени числа (1&lt;=i&lt;=N).  Задачата се свежда до намиране на максимума на сумата:   </vt:lpstr>
      <vt:lpstr>Решение: Ще дефинираме рекурентна целева функция F(i), представляваща решение за раница с вместимост i.  Тогава       Рекурентната формула трябва да бъде реализирана като рекурсивна функция. За да се извърши динамично оптимиране, за всяка  F(i), ще се поддържа множество s[i],  съдържащо конкретните предмети, чието вземане води до тази минимална стойност. Освен това s[i] ще ни предпази от повторното включване на един и същи предмет.  Реализация - [3]</vt:lpstr>
      <vt:lpstr>  Задача за раницата #include&lt;iostream&gt; using namespace std;  const int N=10  // Брой предмети void tr (int i, int tw, int c); // Рекурсивна функция  struct object {  int w;  int c; }  a[N]={10, 18, 11, 20, 12, 17, 13, 19, 14, 25, 15, 21, 16, 27, 17, 23, 18, 25, 19, 24}; int limW, w1, wh, w2, totalC, maxC; int S[N], optS[N]; // текуща извадка и оптимална извадка char flag[2]={' ', '*'};  </vt:lpstr>
      <vt:lpstr>PowerPoint Presentation</vt:lpstr>
      <vt:lpstr>PowerPoint Presentation</vt:lpstr>
      <vt:lpstr>Задача за стабилните бракове (по Н. Уирт) В какво се състои задачата?  Дадени са две непресичащите се множества А и В с по n елемента. Необходимо е да се намери множество двойки [a, b] от n елементи, такива, че a in A, b in B да отговарят на определени условия (критерии).   Критериите могат да бъдат най-различни. Единият от тях се нарича “Правило на стабилните бракове”.  Нека А да е множество, съдържащо n мъже, а В – множество, съдържащо n жени. Всички те желаят да сключат брак и си имат определени предпочитания.    </vt:lpstr>
      <vt:lpstr> Необходимо е да се състави алгоритъм, който да формира n двойки на базата на тези предпочитания. Ако двойките са съставени така, че съществуват мъж и жена, които не образуват по между си двойка (т.е. участват в различни двойки), но предпочитат един друг, то множеството бракове се нарича “нестабилно”. Ако не съществува такава ситуация (т.е. такава “неправилна” двойка), множеството се нарича “стабилно”.  Тази задача има значително по-общ характер и се решава много често: класиране по ВУЗ-ове и специалности след кандидат-студентски изпити, разпределение на студенти по групи за свободно избираеми дисциплини и т.н. </vt:lpstr>
      <vt:lpstr>   Примерът с браковете – е само една абстракция, която позволява да формулираме и да решим задачата.    Решението ще се търси чрез последователно получаване на двойки елементи от двете множества, до изчерпване на множествата. Нека да намерим всички стабилни комбинации, като за целта ще използваме подхода от задачата за 8-те царици. Нека try(m) е алгоритъм за търсене на партньорка за мъжа m и нека търсенето става съгласно списъка на предпочитания на този мъж.  </vt:lpstr>
      <vt:lpstr>Първата версия на алгоритъма е:  int  man, woman; //1..n     try(int man)  int rank;               //1..n; { for (r=1; r&lt;= n; r++)    { От списъка на предпочитания на m-я мъж да      се избере  r-та жена;      if  (изборът е приемлив)                         {                        фиксиране на брака;     if  (m&lt;&gt;n)   try(succ(m));        else  да се запише стабилното множество;     да се отмени брака;   }      } } </vt:lpstr>
      <vt:lpstr>        Рекурсия и операции с променливите   а) променливи-параметри  б) локални променливи   Глобални променливи?  // Изчисляване на n!  // аргументът на функцията е заменен с глобална // променлива // Реализацията работи в средата на Borland C за DOS // и не работи в средата MS Visual C++ за Windows  #include &lt;iostream&gt; using namespace std;  const int n=6; unsigned i; unsigned long fact (void) {  if (i==1) return 1;  return --i*fact(); } int main (void) {  i=n+1;  cout&lt;&lt;"n!="&lt;&lt;fact();  return 0; }  </vt:lpstr>
      <vt:lpstr>Още един пример: за дадено естествено число n да се отпечатат в нарастващ и намаляващ ред числата 10k (1&lt;=k&lt;=n).  Например, за n =3: 10 100 1000 1000 100 10  Вариант 1: Всички променливи (освен входа n ) са параметри на рекурсивната функция:  #include &lt;iostream&gt; using namespace std;  const  int n=5;  void printLine (unsigned k, unsigned long result) {   cout&lt;&lt;result&lt;&lt;' ';   if (k&lt;n) printLine(k+1, result*10);   cout&lt;&lt;result&lt;&lt;' '; }  void main() {  printLine(1,10);   cout&lt;&lt;'\n'; } </vt:lpstr>
      <vt:lpstr>Сега ще заместваме променливи-аргументи с глобални променливи:  Вариант 2: k става глобална променлива  #include &lt;iostream.h&gt; const  int n=5; unsigned k=0; void printLine (unsigned long result) {   k++;   cout&lt;&lt;result&lt;&lt;' ';   if (k&lt;n) printLine(result*10);   cout&lt;&lt;result&lt;&lt;' '; } void main() {  printLine(10);  cout&lt;&lt;'\n'; } </vt:lpstr>
      <vt:lpstr>Вариант 3: result  след подходящо модифициране преди и след рекурсивното обръщение също може да се изнесе извън функцията като глобална променлива  #include &lt;iostream&gt; using namespace std;  const  int n=5; unsigned k=0; unsigned long result=1; void printLine () {   k++;   result*=10;   cout&lt;&lt;result&lt;&lt;' ';   if (k&lt;n) printLine();   cout&lt;&lt;result&lt;&lt;' ';   result/=10; } void main() {  printLine();  cout&lt;&lt;'\n'; }   </vt:lpstr>
      <vt:lpstr>Рекурсия и ефективност  При всяко рекурсивно обръщение към подпрограма (функция) се заделят клетки от ОП за параметрите и за локалните променливи. Възможно е системният стек да се окаже недостатъчен за изпълнението на програмата, в която има много рекурсивни обръщения (т.е. дълбочината на рекурсията е голяма). Подобен проблем възниква също така и при неправилно рекурсивно обръщение – стекът се препълва.  В случая на голяма дълбочина на рекурсията и невъзможност програмата да се реализира по този начин необходимо е да се премине към другия подход – итеративен. По-принцип рекурсивните програми са по-бавни и по-трудно се тестват. Използването на рекурсия изисква по-голям обем ОП.  </vt:lpstr>
      <vt:lpstr> Но, от друга страна, рекурсията води до повишаване на ефективността на програмисткия труд. Много са задачите (и ние видяхме някои от тях), които се програмират трудно и бавно без рекурсия и просто и бързо – с рекурсия.   Рекурсивните програми са по-четливи, по-ясни и разбираеми от съответните нерекурсивни програми. Затова трудно можем да намерим средно-сложна програма на някой от известните езици за програмиране, в която да няма рекурсивни обръщения. Но трябва да се има предвид, че не всички езици допускат рекурсия (например, Фортран, Бейсик, Кобол). Но и чрез тях може да се моделира механизма на рекурсията.     </vt:lpstr>
      <vt:lpstr> Съвременните компютри по-ефективно се справят с нерекурсивните програми, отколкото с рекурсивните.    Кога НЕ ТРЯБВА да прилагаме рекурсия:  - когато тя е неефективна в степен, по-голяма за допустимата в конкретния случай (например, бързодействието пада така, че това пречи на работата, или дълбочината на рекурсията е такава, че процесът на обръщенията става нереализуем поради препълване на системния стек);  - когато нерекурсивното решение е по-просто, по-естествено и много по-ефективно от рекурсивното (като задачите за събиране и умножение на цели числа). </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home computer</dc:creator>
  <cp:lastModifiedBy>Елена Рачева</cp:lastModifiedBy>
  <cp:revision>297</cp:revision>
  <dcterms:created xsi:type="dcterms:W3CDTF">2003-08-24T14:55:47Z</dcterms:created>
  <dcterms:modified xsi:type="dcterms:W3CDTF">2020-02-11T08:21:16Z</dcterms:modified>
</cp:coreProperties>
</file>
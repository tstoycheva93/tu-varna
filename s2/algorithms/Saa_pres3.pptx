
<file path=[Content_Types].xml><?xml version="1.0" encoding="utf-8"?>
<Types xmlns="http://schemas.openxmlformats.org/package/2006/content-types">
  <Default Extension="bin" ContentType="application/vnd.openxmlformats-officedocument.oleObject"/>
  <Default Extension="jpeg" ContentType="image/jpeg"/>
  <Default Extension="emf" ContentType="image/x-emf"/>
  <Default Extension="xls" ContentType="application/vnd.ms-excel"/>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130" autoAdjust="0"/>
    <p:restoredTop sz="90929"/>
  </p:normalViewPr>
  <p:slideViewPr>
    <p:cSldViewPr>
      <p:cViewPr>
        <p:scale>
          <a:sx n="85" d="100"/>
          <a:sy n="85" d="100"/>
        </p:scale>
        <p:origin x="-557"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Oval 3"/>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a:defRPr/>
            </a:pPr>
            <a:endParaRPr lang="en-US"/>
          </a:p>
        </p:txBody>
      </p:sp>
      <p:sp>
        <p:nvSpPr>
          <p:cNvPr id="5" name="Oval 4"/>
          <p:cNvSpPr/>
          <p:nvPr/>
        </p:nvSpPr>
        <p:spPr>
          <a:xfrm>
            <a:off x="1157288" y="1344613"/>
            <a:ext cx="63500" cy="65087"/>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a:defRPr/>
            </a:pPr>
            <a:endParaRPr lang="en-US"/>
          </a:p>
        </p:txBody>
      </p:sp>
      <p:sp>
        <p:nvSpPr>
          <p:cNvPr id="14" name="Title 13"/>
          <p:cNvSpPr>
            <a:spLocks noGrp="1"/>
          </p:cNvSpPr>
          <p:nvPr>
            <p:ph type="ctrTitle"/>
          </p:nvPr>
        </p:nvSpPr>
        <p:spPr>
          <a:xfrm>
            <a:off x="1432560" y="359898"/>
            <a:ext cx="7406640" cy="1472184"/>
          </a:xfrm>
        </p:spPr>
        <p:txBody>
          <a:bodyPr anchor="b"/>
          <a:lstStyle>
            <a:lvl1pPr algn="l">
              <a:defRPr/>
            </a:lvl1pPr>
            <a:extLst/>
          </a:lstStyle>
          <a:p>
            <a:r>
              <a:rPr lang="en-US" smtClean="0"/>
              <a:t>Click to edit Master title style</a:t>
            </a:r>
            <a:endParaRPr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6" name="Date Placeholder 6"/>
          <p:cNvSpPr>
            <a:spLocks noGrp="1"/>
          </p:cNvSpPr>
          <p:nvPr>
            <p:ph type="dt" sz="half" idx="10"/>
          </p:nvPr>
        </p:nvSpPr>
        <p:spPr/>
        <p:txBody>
          <a:bodyPr/>
          <a:lstStyle>
            <a:lvl1pPr>
              <a:defRPr/>
            </a:lvl1pPr>
            <a:extLst/>
          </a:lstStyle>
          <a:p>
            <a:pPr>
              <a:defRPr/>
            </a:pPr>
            <a:endParaRPr lang="en-US"/>
          </a:p>
        </p:txBody>
      </p:sp>
      <p:sp>
        <p:nvSpPr>
          <p:cNvPr id="7" name="Footer Placeholder 19"/>
          <p:cNvSpPr>
            <a:spLocks noGrp="1"/>
          </p:cNvSpPr>
          <p:nvPr>
            <p:ph type="ftr" sz="quarter" idx="11"/>
          </p:nvPr>
        </p:nvSpPr>
        <p:spPr/>
        <p:txBody>
          <a:bodyPr/>
          <a:lstStyle>
            <a:lvl1pPr>
              <a:defRPr/>
            </a:lvl1pPr>
            <a:extLst/>
          </a:lstStyle>
          <a:p>
            <a:pPr>
              <a:defRPr/>
            </a:pPr>
            <a:endParaRPr lang="en-US"/>
          </a:p>
        </p:txBody>
      </p:sp>
      <p:sp>
        <p:nvSpPr>
          <p:cNvPr id="8" name="Slide Number Placeholder 9"/>
          <p:cNvSpPr>
            <a:spLocks noGrp="1"/>
          </p:cNvSpPr>
          <p:nvPr>
            <p:ph type="sldNum" sz="quarter" idx="12"/>
          </p:nvPr>
        </p:nvSpPr>
        <p:spPr/>
        <p:txBody>
          <a:bodyPr/>
          <a:lstStyle>
            <a:lvl1pPr>
              <a:defRPr/>
            </a:lvl1pPr>
            <a:extLst/>
          </a:lstStyle>
          <a:p>
            <a:pPr>
              <a:defRPr/>
            </a:pPr>
            <a:fld id="{44865C13-AC9F-4F0C-B8FC-E4E4177318C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Content Placeholder 2"/>
          <p:cNvSpPr>
            <a:spLocks noGrp="1"/>
          </p:cNvSpPr>
          <p:nvPr>
            <p:ph idx="1"/>
          </p:nvPr>
        </p:nvSpPr>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2D6DF983-6A61-4496-B11A-1F4D248699B2}"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sp>
        <p:nvSpPr>
          <p:cNvPr id="5" name="Rectangle 4"/>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sp>
        <p:nvSpPr>
          <p:cNvPr id="6" name="Oval 5"/>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a:defRPr/>
            </a:pPr>
            <a:endParaRPr lang="en-US"/>
          </a:p>
        </p:txBody>
      </p:sp>
      <p:sp>
        <p:nvSpPr>
          <p:cNvPr id="7" name="Oval 6"/>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a:defRPr/>
            </a:pPr>
            <a:endParaRPr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en-US" smtClean="0"/>
              <a:t>Click to edit Master title style</a:t>
            </a:r>
            <a:endParaRPr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8" name="Date Placeholder 3"/>
          <p:cNvSpPr>
            <a:spLocks noGrp="1"/>
          </p:cNvSpPr>
          <p:nvPr>
            <p:ph type="dt" sz="half" idx="10"/>
          </p:nvPr>
        </p:nvSpPr>
        <p:spPr/>
        <p:txBody>
          <a:bodyPr/>
          <a:lstStyle>
            <a:lvl1pPr>
              <a:defRPr/>
            </a:lvl1pPr>
            <a:extLst/>
          </a:lstStyle>
          <a:p>
            <a:pPr>
              <a:defRPr/>
            </a:pPr>
            <a:endParaRPr lang="en-US"/>
          </a:p>
        </p:txBody>
      </p:sp>
      <p:sp>
        <p:nvSpPr>
          <p:cNvPr id="9" name="Footer Placeholder 4"/>
          <p:cNvSpPr>
            <a:spLocks noGrp="1"/>
          </p:cNvSpPr>
          <p:nvPr>
            <p:ph type="ftr" sz="quarter" idx="11"/>
          </p:nvPr>
        </p:nvSpPr>
        <p:spPr/>
        <p:txBody>
          <a:bodyPr/>
          <a:lstStyle>
            <a:lvl1pPr>
              <a:defRPr/>
            </a:lvl1pPr>
            <a:extLst/>
          </a:lstStyle>
          <a:p>
            <a:pPr>
              <a:defRPr/>
            </a:pPr>
            <a:endParaRPr lang="en-US"/>
          </a:p>
        </p:txBody>
      </p:sp>
      <p:sp>
        <p:nvSpPr>
          <p:cNvPr id="10" name="Slide Number Placeholder 5"/>
          <p:cNvSpPr>
            <a:spLocks noGrp="1"/>
          </p:cNvSpPr>
          <p:nvPr>
            <p:ph type="sldNum" sz="quarter" idx="12"/>
          </p:nvPr>
        </p:nvSpPr>
        <p:spPr/>
        <p:txBody>
          <a:bodyPr/>
          <a:lstStyle>
            <a:lvl1pPr>
              <a:defRPr/>
            </a:lvl1pPr>
            <a:extLst/>
          </a:lstStyle>
          <a:p>
            <a:pPr>
              <a:defRPr/>
            </a:pPr>
            <a:fld id="{00452FC8-39DA-4568-9EC4-4F960747E9A0}"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lang="en-US" smtClean="0"/>
              <a:t>Click to edit Master title style</a:t>
            </a:r>
            <a:endParaRPr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23"/>
          <p:cNvSpPr>
            <a:spLocks noGrp="1"/>
          </p:cNvSpPr>
          <p:nvPr>
            <p:ph type="dt" sz="half" idx="10"/>
          </p:nvPr>
        </p:nvSpPr>
        <p:spPr/>
        <p:txBody>
          <a:bodyPr/>
          <a:lstStyle>
            <a:lvl1pPr>
              <a:defRPr/>
            </a:lvl1pPr>
          </a:lstStyle>
          <a:p>
            <a:pPr>
              <a:defRPr/>
            </a:pPr>
            <a:endParaRPr lang="en-US"/>
          </a:p>
        </p:txBody>
      </p:sp>
      <p:sp>
        <p:nvSpPr>
          <p:cNvPr id="6" name="Footer Placeholder 9"/>
          <p:cNvSpPr>
            <a:spLocks noGrp="1"/>
          </p:cNvSpPr>
          <p:nvPr>
            <p:ph type="ftr" sz="quarter" idx="11"/>
          </p:nvPr>
        </p:nvSpPr>
        <p:spPr/>
        <p:txBody>
          <a:bodyPr/>
          <a:lstStyle>
            <a:lvl1pPr>
              <a:defRPr/>
            </a:lvl1pPr>
          </a:lstStyle>
          <a:p>
            <a:pPr>
              <a:defRPr/>
            </a:pPr>
            <a:endParaRPr lang="en-US"/>
          </a:p>
        </p:txBody>
      </p:sp>
      <p:sp>
        <p:nvSpPr>
          <p:cNvPr id="7" name="Slide Number Placeholder 21"/>
          <p:cNvSpPr>
            <a:spLocks noGrp="1"/>
          </p:cNvSpPr>
          <p:nvPr>
            <p:ph type="sldNum" sz="quarter" idx="12"/>
          </p:nvPr>
        </p:nvSpPr>
        <p:spPr/>
        <p:txBody>
          <a:bodyPr/>
          <a:lstStyle>
            <a:lvl1pPr>
              <a:defRPr/>
            </a:lvl1pPr>
          </a:lstStyle>
          <a:p>
            <a:pPr>
              <a:defRPr/>
            </a:pPr>
            <a:fld id="{0F2F764B-4BD6-4405-BCD8-0B18BF189A95}"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4500" b="1" cap="none" baseline="0"/>
            </a:lvl1pPr>
            <a:extLst/>
          </a:lstStyle>
          <a:p>
            <a:r>
              <a:rPr lang="en-US" smtClean="0"/>
              <a:t>Click to edit Master title style</a:t>
            </a:r>
            <a:endParaRPr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pPr>
              <a:defRPr/>
            </a:pPr>
            <a:endParaRPr lang="en-US"/>
          </a:p>
        </p:txBody>
      </p:sp>
      <p:sp>
        <p:nvSpPr>
          <p:cNvPr id="8" name="Footer Placeholder 7"/>
          <p:cNvSpPr>
            <a:spLocks noGrp="1"/>
          </p:cNvSpPr>
          <p:nvPr>
            <p:ph type="ftr" sz="quarter" idx="11"/>
          </p:nvPr>
        </p:nvSpPr>
        <p:spPr/>
        <p:txBody>
          <a:bodyPr/>
          <a:lstStyle>
            <a:lvl1pPr>
              <a:defRPr/>
            </a:lvl1pPr>
            <a:extLst/>
          </a:lstStyle>
          <a:p>
            <a:pPr>
              <a:defRPr/>
            </a:pPr>
            <a:endParaRPr lang="en-US"/>
          </a:p>
        </p:txBody>
      </p:sp>
      <p:sp>
        <p:nvSpPr>
          <p:cNvPr id="9" name="Slide Number Placeholder 8"/>
          <p:cNvSpPr>
            <a:spLocks noGrp="1"/>
          </p:cNvSpPr>
          <p:nvPr>
            <p:ph type="sldNum" sz="quarter" idx="12"/>
          </p:nvPr>
        </p:nvSpPr>
        <p:spPr/>
        <p:txBody>
          <a:bodyPr/>
          <a:lstStyle>
            <a:lvl1pPr>
              <a:defRPr/>
            </a:lvl1pPr>
            <a:extLst/>
          </a:lstStyle>
          <a:p>
            <a:pPr>
              <a:defRPr/>
            </a:pPr>
            <a:fld id="{5A5ED61A-BBF9-4C11-BAB7-34C971C4E523}"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lang="en-US" smtClean="0"/>
              <a:t>Click to edit Master title style</a:t>
            </a:r>
            <a:endParaRPr lang="en-US"/>
          </a:p>
        </p:txBody>
      </p:sp>
      <p:sp>
        <p:nvSpPr>
          <p:cNvPr id="3" name="Date Placeholder 23"/>
          <p:cNvSpPr>
            <a:spLocks noGrp="1"/>
          </p:cNvSpPr>
          <p:nvPr>
            <p:ph type="dt" sz="half" idx="10"/>
          </p:nvPr>
        </p:nvSpPr>
        <p:spPr/>
        <p:txBody>
          <a:bodyPr/>
          <a:lstStyle>
            <a:lvl1pPr>
              <a:defRPr/>
            </a:lvl1pPr>
          </a:lstStyle>
          <a:p>
            <a:pPr>
              <a:defRPr/>
            </a:pPr>
            <a:endParaRPr lang="en-US"/>
          </a:p>
        </p:txBody>
      </p:sp>
      <p:sp>
        <p:nvSpPr>
          <p:cNvPr id="4" name="Footer Placeholder 9"/>
          <p:cNvSpPr>
            <a:spLocks noGrp="1"/>
          </p:cNvSpPr>
          <p:nvPr>
            <p:ph type="ftr" sz="quarter" idx="11"/>
          </p:nvPr>
        </p:nvSpPr>
        <p:spPr/>
        <p:txBody>
          <a:bodyPr/>
          <a:lstStyle>
            <a:lvl1pPr>
              <a:defRPr/>
            </a:lvl1pPr>
          </a:lstStyle>
          <a:p>
            <a:pPr>
              <a:defRPr/>
            </a:pPr>
            <a:endParaRPr lang="en-US"/>
          </a:p>
        </p:txBody>
      </p:sp>
      <p:sp>
        <p:nvSpPr>
          <p:cNvPr id="5" name="Slide Number Placeholder 21"/>
          <p:cNvSpPr>
            <a:spLocks noGrp="1"/>
          </p:cNvSpPr>
          <p:nvPr>
            <p:ph type="sldNum" sz="quarter" idx="12"/>
          </p:nvPr>
        </p:nvSpPr>
        <p:spPr/>
        <p:txBody>
          <a:bodyPr/>
          <a:lstStyle>
            <a:lvl1pPr>
              <a:defRPr/>
            </a:lvl1pPr>
          </a:lstStyle>
          <a:p>
            <a:pPr>
              <a:defRPr/>
            </a:pPr>
            <a:fld id="{D1EDC81B-EC93-4E9F-A3D4-FCEDB0E8B28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sp>
        <p:nvSpPr>
          <p:cNvPr id="3" name="Rectangle 2"/>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sp>
        <p:nvSpPr>
          <p:cNvPr id="4" name="Date Placeholder 1"/>
          <p:cNvSpPr>
            <a:spLocks noGrp="1"/>
          </p:cNvSpPr>
          <p:nvPr>
            <p:ph type="dt" sz="half" idx="10"/>
          </p:nvPr>
        </p:nvSpPr>
        <p:spPr/>
        <p:txBody>
          <a:bodyPr/>
          <a:lstStyle>
            <a:lvl1pPr>
              <a:defRPr/>
            </a:lvl1pPr>
            <a:extLst/>
          </a:lstStyle>
          <a:p>
            <a:pPr>
              <a:defRPr/>
            </a:pPr>
            <a:endParaRPr lang="en-US"/>
          </a:p>
        </p:txBody>
      </p:sp>
      <p:sp>
        <p:nvSpPr>
          <p:cNvPr id="5" name="Footer Placeholder 2"/>
          <p:cNvSpPr>
            <a:spLocks noGrp="1"/>
          </p:cNvSpPr>
          <p:nvPr>
            <p:ph type="ftr" sz="quarter" idx="11"/>
          </p:nvPr>
        </p:nvSpPr>
        <p:spPr/>
        <p:txBody>
          <a:bodyPr/>
          <a:lstStyle>
            <a:lvl1pPr>
              <a:defRPr/>
            </a:lvl1pPr>
            <a:extLst/>
          </a:lstStyle>
          <a:p>
            <a:pPr>
              <a:defRPr/>
            </a:pPr>
            <a:endParaRPr lang="en-US"/>
          </a:p>
        </p:txBody>
      </p:sp>
      <p:sp>
        <p:nvSpPr>
          <p:cNvPr id="6" name="Slide Number Placeholder 3"/>
          <p:cNvSpPr>
            <a:spLocks noGrp="1"/>
          </p:cNvSpPr>
          <p:nvPr>
            <p:ph type="sldNum" sz="quarter" idx="12"/>
          </p:nvPr>
        </p:nvSpPr>
        <p:spPr/>
        <p:txBody>
          <a:bodyPr/>
          <a:lstStyle>
            <a:lvl1pPr>
              <a:defRPr/>
            </a:lvl1pPr>
            <a:extLst/>
          </a:lstStyle>
          <a:p>
            <a:pPr>
              <a:defRPr/>
            </a:pPr>
            <a:fld id="{18095364-8541-4EEC-BB6B-D425807A1A5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en-US" smtClean="0"/>
              <a:t>Click to edit Master title style</a:t>
            </a:r>
            <a:endParaRPr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endParaRPr lang="en-US"/>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extLst/>
          </a:lstStyle>
          <a:p>
            <a:pPr>
              <a:defRPr/>
            </a:pPr>
            <a:fld id="{8EEFE982-437A-4E51-AB8F-6BC2FECB1C05}"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extLst/>
          </a:lstStyle>
          <a:p>
            <a:pPr indent="-283464">
              <a:lnSpc>
                <a:spcPts val="3000"/>
              </a:lnSpc>
              <a:spcBef>
                <a:spcPts val="600"/>
              </a:spcBef>
              <a:buClr>
                <a:schemeClr val="accent1"/>
              </a:buClr>
              <a:buSzPct val="80000"/>
              <a:buFont typeface="Wingdings 2"/>
              <a:buNone/>
              <a:defRPr/>
            </a:pPr>
            <a:endParaRPr lang="en-US" sz="3200">
              <a:latin typeface="+mn-lt"/>
            </a:endParaRPr>
          </a:p>
        </p:txBody>
      </p:sp>
      <p:sp>
        <p:nvSpPr>
          <p:cNvPr id="6" name="Flowchart: Process 5"/>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sp>
        <p:nvSpPr>
          <p:cNvPr id="7" name="Flowchart: Process 6"/>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dirty="0"/>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en-US" smtClean="0"/>
              <a:t>Click to edit Master title style</a:t>
            </a:r>
            <a:endParaRPr lang="en-US"/>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extLst/>
          </a:lstStyle>
          <a:p>
            <a:pPr>
              <a:defRPr/>
            </a:pPr>
            <a:endParaRPr lang="en-US"/>
          </a:p>
        </p:txBody>
      </p:sp>
      <p:sp>
        <p:nvSpPr>
          <p:cNvPr id="9" name="Footer Placeholder 5"/>
          <p:cNvSpPr>
            <a:spLocks noGrp="1"/>
          </p:cNvSpPr>
          <p:nvPr>
            <p:ph type="ftr" sz="quarter" idx="11"/>
          </p:nvPr>
        </p:nvSpPr>
        <p:spPr/>
        <p:txBody>
          <a:bodyPr/>
          <a:lstStyle>
            <a:lvl1pPr>
              <a:defRPr/>
            </a:lvl1pPr>
            <a:extLst/>
          </a:lstStyle>
          <a:p>
            <a:pPr>
              <a:defRPr/>
            </a:pPr>
            <a:endParaRPr lang="en-US"/>
          </a:p>
        </p:txBody>
      </p:sp>
      <p:sp>
        <p:nvSpPr>
          <p:cNvPr id="10" name="Slide Number Placeholder 6"/>
          <p:cNvSpPr>
            <a:spLocks noGrp="1"/>
          </p:cNvSpPr>
          <p:nvPr>
            <p:ph type="sldNum" sz="quarter" idx="12"/>
          </p:nvPr>
        </p:nvSpPr>
        <p:spPr/>
        <p:txBody>
          <a:bodyPr/>
          <a:lstStyle>
            <a:lvl1pPr>
              <a:defRPr/>
            </a:lvl1pPr>
            <a:extLst/>
          </a:lstStyle>
          <a:p>
            <a:pPr>
              <a:defRPr/>
            </a:pPr>
            <a:fld id="{784EB08D-4AB4-46E9-A283-B5A33F24BF6D}"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F266F9CD-E22D-4994-8CFE-73AEB986F2C9}"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5B8F7FD6-8348-4307-B389-E78F140C252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sp>
        <p:nvSpPr>
          <p:cNvPr id="8" name="Oval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sp>
        <p:nvSpPr>
          <p:cNvPr id="5" name="Title Placeholder 4"/>
          <p:cNvSpPr>
            <a:spLocks noGrp="1"/>
          </p:cNvSpPr>
          <p:nvPr>
            <p:ph type="title"/>
          </p:nvPr>
        </p:nvSpPr>
        <p:spPr>
          <a:xfrm>
            <a:off x="1435100" y="274638"/>
            <a:ext cx="7499350" cy="1143000"/>
          </a:xfrm>
          <a:prstGeom prst="rect">
            <a:avLst/>
          </a:prstGeom>
        </p:spPr>
        <p:txBody>
          <a:bodyPr anchor="ctr">
            <a:normAutofit/>
          </a:bodyPr>
          <a:lstStyle>
            <a:extLst/>
          </a:lstStyle>
          <a:p>
            <a:r>
              <a:rPr lang="en-US" smtClean="0"/>
              <a:t>Click to edit Master title style</a:t>
            </a:r>
            <a:endParaRPr lang="en-US"/>
          </a:p>
        </p:txBody>
      </p:sp>
      <p:sp>
        <p:nvSpPr>
          <p:cNvPr id="2057" name="Text Placeholder 8"/>
          <p:cNvSpPr>
            <a:spLocks noGrp="1"/>
          </p:cNvSpPr>
          <p:nvPr>
            <p:ph type="body" idx="1"/>
          </p:nvPr>
        </p:nvSpPr>
        <p:spPr bwMode="auto">
          <a:xfrm>
            <a:off x="1435100" y="1447800"/>
            <a:ext cx="749935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pPr>
              <a:defRPr/>
            </a:pPr>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pPr>
              <a:defRPr/>
            </a:pPr>
            <a:endParaRPr lang="en-US"/>
          </a:p>
        </p:txBody>
      </p:sp>
      <p:sp>
        <p:nvSpPr>
          <p:cNvPr id="22" name="Slide Number Placeholder 21"/>
          <p:cNvSpPr>
            <a:spLocks noGrp="1"/>
          </p:cNvSpPr>
          <p:nvPr>
            <p:ph type="sldNum" sz="quarter" idx="4"/>
          </p:nvPr>
        </p:nvSpPr>
        <p:spPr>
          <a:xfrm>
            <a:off x="8613775" y="6305550"/>
            <a:ext cx="457200" cy="476250"/>
          </a:xfrm>
          <a:prstGeom prst="rect">
            <a:avLst/>
          </a:prstGeom>
        </p:spPr>
        <p:txBody>
          <a:bodyPr anchor="b"/>
          <a:lstStyle>
            <a:lvl1pPr algn="ctr" eaLnBrk="1" latinLnBrk="0" hangingPunct="1">
              <a:defRPr kumimoji="0" sz="1200" smtClean="0">
                <a:solidFill>
                  <a:schemeClr val="bg2">
                    <a:shade val="50000"/>
                    <a:satMod val="200000"/>
                  </a:schemeClr>
                </a:solidFill>
                <a:effectLst/>
              </a:defRPr>
            </a:lvl1pPr>
            <a:extLst/>
          </a:lstStyle>
          <a:p>
            <a:pPr>
              <a:defRPr/>
            </a:pPr>
            <a:fld id="{DFAE24B4-5059-4F82-B538-B3EF2D56263C}" type="slidenum">
              <a:rPr lang="en-US"/>
              <a:pPr>
                <a:defRPr/>
              </a:pPr>
              <a:t>‹#›</a:t>
            </a:fld>
            <a:endParaRPr lang="en-US"/>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spTree>
  </p:cSld>
  <p:clrMap bg1="lt1" tx1="dk1" bg2="lt2" tx2="dk2" accent1="accent1" accent2="accent2" accent3="accent3" accent4="accent4" accent5="accent5" accent6="accent6" hlink="hlink" folHlink="folHlink"/>
  <p:sldLayoutIdLst>
    <p:sldLayoutId id="2147483683" r:id="rId1"/>
    <p:sldLayoutId id="2147483678" r:id="rId2"/>
    <p:sldLayoutId id="2147483684" r:id="rId3"/>
    <p:sldLayoutId id="2147483679" r:id="rId4"/>
    <p:sldLayoutId id="2147483685" r:id="rId5"/>
    <p:sldLayoutId id="2147483680" r:id="rId6"/>
    <p:sldLayoutId id="2147483686" r:id="rId7"/>
    <p:sldLayoutId id="2147483687" r:id="rId8"/>
    <p:sldLayoutId id="2147483688" r:id="rId9"/>
    <p:sldLayoutId id="2147483681" r:id="rId10"/>
    <p:sldLayoutId id="2147483682" r:id="rId11"/>
  </p:sldLayoutIdLst>
  <p:txStyles>
    <p:titleStyle>
      <a:lvl1pPr algn="l" rtl="0" fontAlgn="base">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fontAlgn="base">
        <a:spcBef>
          <a:spcPct val="0"/>
        </a:spcBef>
        <a:spcAft>
          <a:spcPct val="0"/>
        </a:spcAft>
        <a:defRPr sz="4300">
          <a:solidFill>
            <a:srgbClr val="572314"/>
          </a:solidFill>
          <a:latin typeface="Gill Sans MT" pitchFamily="34" charset="0"/>
        </a:defRPr>
      </a:lvl2pPr>
      <a:lvl3pPr algn="l" rtl="0" fontAlgn="base">
        <a:spcBef>
          <a:spcPct val="0"/>
        </a:spcBef>
        <a:spcAft>
          <a:spcPct val="0"/>
        </a:spcAft>
        <a:defRPr sz="4300">
          <a:solidFill>
            <a:srgbClr val="572314"/>
          </a:solidFill>
          <a:latin typeface="Gill Sans MT" pitchFamily="34" charset="0"/>
        </a:defRPr>
      </a:lvl3pPr>
      <a:lvl4pPr algn="l" rtl="0" fontAlgn="base">
        <a:spcBef>
          <a:spcPct val="0"/>
        </a:spcBef>
        <a:spcAft>
          <a:spcPct val="0"/>
        </a:spcAft>
        <a:defRPr sz="4300">
          <a:solidFill>
            <a:srgbClr val="572314"/>
          </a:solidFill>
          <a:latin typeface="Gill Sans MT" pitchFamily="34" charset="0"/>
        </a:defRPr>
      </a:lvl4pPr>
      <a:lvl5pPr algn="l" rtl="0" fontAlgn="base">
        <a:spcBef>
          <a:spcPct val="0"/>
        </a:spcBef>
        <a:spcAft>
          <a:spcPct val="0"/>
        </a:spcAft>
        <a:defRPr sz="4300">
          <a:solidFill>
            <a:srgbClr val="572314"/>
          </a:solidFill>
          <a:latin typeface="Gill Sans MT" pitchFamily="34" charset="0"/>
        </a:defRPr>
      </a:lvl5pPr>
      <a:lvl6pPr marL="457200" algn="l" rtl="0" fontAlgn="base">
        <a:spcBef>
          <a:spcPct val="0"/>
        </a:spcBef>
        <a:spcAft>
          <a:spcPct val="0"/>
        </a:spcAft>
        <a:defRPr sz="4300">
          <a:solidFill>
            <a:srgbClr val="572314"/>
          </a:solidFill>
          <a:latin typeface="Gill Sans MT" pitchFamily="34" charset="0"/>
        </a:defRPr>
      </a:lvl6pPr>
      <a:lvl7pPr marL="914400" algn="l" rtl="0" fontAlgn="base">
        <a:spcBef>
          <a:spcPct val="0"/>
        </a:spcBef>
        <a:spcAft>
          <a:spcPct val="0"/>
        </a:spcAft>
        <a:defRPr sz="4300">
          <a:solidFill>
            <a:srgbClr val="572314"/>
          </a:solidFill>
          <a:latin typeface="Gill Sans MT" pitchFamily="34" charset="0"/>
        </a:defRPr>
      </a:lvl7pPr>
      <a:lvl8pPr marL="1371600" algn="l" rtl="0" fontAlgn="base">
        <a:spcBef>
          <a:spcPct val="0"/>
        </a:spcBef>
        <a:spcAft>
          <a:spcPct val="0"/>
        </a:spcAft>
        <a:defRPr sz="4300">
          <a:solidFill>
            <a:srgbClr val="572314"/>
          </a:solidFill>
          <a:latin typeface="Gill Sans MT" pitchFamily="34" charset="0"/>
        </a:defRPr>
      </a:lvl8pPr>
      <a:lvl9pPr marL="1828800" algn="l" rtl="0" fontAlgn="base">
        <a:spcBef>
          <a:spcPct val="0"/>
        </a:spcBef>
        <a:spcAft>
          <a:spcPct val="0"/>
        </a:spcAft>
        <a:defRPr sz="4300">
          <a:solidFill>
            <a:srgbClr val="572314"/>
          </a:solidFill>
          <a:latin typeface="Gill Sans MT" pitchFamily="34" charset="0"/>
        </a:defRPr>
      </a:lvl9pPr>
      <a:extLst/>
    </p:titleStyle>
    <p:bodyStyle>
      <a:lvl1pPr marL="365125" indent="-282575" algn="l" rtl="0" fontAlgn="base">
        <a:spcBef>
          <a:spcPts val="60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639763" indent="-236538" algn="l" rtl="0" fontAlgn="base">
        <a:spcBef>
          <a:spcPts val="550"/>
        </a:spcBef>
        <a:spcAft>
          <a:spcPct val="0"/>
        </a:spcAft>
        <a:buClr>
          <a:schemeClr val="accent1"/>
        </a:buClr>
        <a:buFont typeface="Verdana" pitchFamily="34" charset="0"/>
        <a:buChar char="◦"/>
        <a:defRPr sz="2800" kern="1200">
          <a:solidFill>
            <a:schemeClr val="tx1"/>
          </a:solidFill>
          <a:latin typeface="+mn-lt"/>
          <a:ea typeface="+mn-ea"/>
          <a:cs typeface="+mn-cs"/>
        </a:defRPr>
      </a:lvl2pPr>
      <a:lvl3pPr marL="885825" indent="-228600" algn="l" rtl="0" fontAlgn="base">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096963" indent="-173038" algn="l" rtl="0" fontAlgn="base">
        <a:spcBef>
          <a:spcPct val="20000"/>
        </a:spcBef>
        <a:spcAft>
          <a:spcPct val="0"/>
        </a:spcAft>
        <a:buClr>
          <a:srgbClr val="C32D2E"/>
        </a:buClr>
        <a:buFont typeface="Wingdings 2" pitchFamily="18" charset="2"/>
        <a:buChar char=""/>
        <a:defRPr sz="2000" kern="1200">
          <a:solidFill>
            <a:schemeClr val="tx1"/>
          </a:solidFill>
          <a:latin typeface="+mn-lt"/>
          <a:ea typeface="+mn-ea"/>
          <a:cs typeface="+mn-cs"/>
        </a:defRPr>
      </a:lvl4pPr>
      <a:lvl5pPr marL="1296988" indent="-182563" algn="l" rtl="0" fontAlgn="base">
        <a:spcBef>
          <a:spcPct val="20000"/>
        </a:spcBef>
        <a:spcAft>
          <a:spcPct val="0"/>
        </a:spcAft>
        <a:buClr>
          <a:srgbClr val="84AA33"/>
        </a:buClr>
        <a:buFont typeface="Wingdings 2"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oleObject" Target="../embeddings/Microsoft_Excel_97-2003_Worksheet1.xls"/></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fontAlgn="auto">
              <a:spcAft>
                <a:spcPts val="0"/>
              </a:spcAft>
              <a:defRPr/>
            </a:pPr>
            <a:r>
              <a:rPr lang="bg-BG" sz="3200" dirty="0">
                <a:solidFill>
                  <a:schemeClr val="tx2">
                    <a:satMod val="130000"/>
                  </a:schemeClr>
                </a:solidFill>
              </a:rPr>
              <a:t>Етапи на </a:t>
            </a:r>
            <a:r>
              <a:rPr lang="bg-BG" sz="3200" dirty="0">
                <a:solidFill>
                  <a:srgbClr val="FF0000"/>
                </a:solidFill>
              </a:rPr>
              <a:t>пълното</a:t>
            </a:r>
            <a:r>
              <a:rPr lang="bg-BG" sz="3200" dirty="0">
                <a:solidFill>
                  <a:schemeClr val="tx2">
                    <a:satMod val="130000"/>
                  </a:schemeClr>
                </a:solidFill>
              </a:rPr>
              <a:t> разработване на алгоритми и програми</a:t>
            </a:r>
            <a:endParaRPr lang="en-US" sz="3200" dirty="0">
              <a:solidFill>
                <a:schemeClr val="tx2">
                  <a:satMod val="130000"/>
                </a:schemeClr>
              </a:solidFill>
            </a:endParaRPr>
          </a:p>
        </p:txBody>
      </p:sp>
      <p:sp>
        <p:nvSpPr>
          <p:cNvPr id="9219" name="Rectangle 3"/>
          <p:cNvSpPr>
            <a:spLocks noGrp="1" noChangeArrowheads="1"/>
          </p:cNvSpPr>
          <p:nvPr>
            <p:ph idx="1"/>
          </p:nvPr>
        </p:nvSpPr>
        <p:spPr/>
        <p:txBody>
          <a:bodyPr/>
          <a:lstStyle/>
          <a:p>
            <a:r>
              <a:rPr lang="bg-BG" sz="2800" dirty="0" smtClean="0"/>
              <a:t>Постановка на задачата</a:t>
            </a:r>
          </a:p>
          <a:p>
            <a:r>
              <a:rPr lang="bg-BG" sz="2800" dirty="0" smtClean="0"/>
              <a:t>Построяване на модел</a:t>
            </a:r>
          </a:p>
          <a:p>
            <a:r>
              <a:rPr lang="bg-BG" sz="2800" dirty="0" smtClean="0"/>
              <a:t>Разработване на алгоритъм</a:t>
            </a:r>
          </a:p>
          <a:p>
            <a:r>
              <a:rPr lang="bg-BG" sz="2800" dirty="0" smtClean="0"/>
              <a:t>Проверка на правилността на алгоритъма</a:t>
            </a:r>
          </a:p>
          <a:p>
            <a:r>
              <a:rPr lang="bg-BG" sz="2800" dirty="0" smtClean="0"/>
              <a:t>Реализация на алгоритъма</a:t>
            </a:r>
          </a:p>
          <a:p>
            <a:r>
              <a:rPr lang="bg-BG" sz="2800" dirty="0" smtClean="0"/>
              <a:t>Анализ на алгоритъма и неговата сложност</a:t>
            </a:r>
          </a:p>
          <a:p>
            <a:r>
              <a:rPr lang="bg-BG" sz="2800" dirty="0" smtClean="0"/>
              <a:t>Проверка на програмата</a:t>
            </a:r>
          </a:p>
          <a:p>
            <a:r>
              <a:rPr lang="bg-BG" sz="2800" dirty="0" smtClean="0"/>
              <a:t>Съставяне на документацията</a:t>
            </a:r>
            <a:endParaRPr lang="en-US" sz="2800" dirty="0" smtClean="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5800" y="609600"/>
            <a:ext cx="7772400" cy="5791200"/>
          </a:xfrm>
        </p:spPr>
        <p:txBody>
          <a:bodyPr/>
          <a:lstStyle/>
          <a:p>
            <a:pPr marL="838200" indent="-838200" fontAlgn="auto">
              <a:lnSpc>
                <a:spcPct val="120000"/>
              </a:lnSpc>
              <a:spcAft>
                <a:spcPts val="0"/>
              </a:spcAft>
              <a:defRPr/>
            </a:pPr>
            <a:r>
              <a:rPr lang="bg-BG" sz="2800">
                <a:solidFill>
                  <a:schemeClr val="tx2">
                    <a:satMod val="130000"/>
                  </a:schemeClr>
                </a:solidFill>
              </a:rPr>
              <a:t>	</a:t>
            </a:r>
            <a:r>
              <a:rPr lang="en-US" sz="3200">
                <a:solidFill>
                  <a:schemeClr val="tx2">
                    <a:satMod val="130000"/>
                  </a:schemeClr>
                </a:solidFill>
              </a:rPr>
              <a:t>I</a:t>
            </a:r>
            <a:r>
              <a:rPr lang="bg-BG" sz="3200">
                <a:solidFill>
                  <a:schemeClr val="tx2">
                    <a:satMod val="130000"/>
                  </a:schemeClr>
                </a:solidFill>
              </a:rPr>
              <a:t>. Постановка на задачата</a:t>
            </a:r>
            <a:br>
              <a:rPr lang="bg-BG" sz="32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400">
                <a:solidFill>
                  <a:schemeClr val="tx2">
                    <a:satMod val="130000"/>
                  </a:schemeClr>
                </a:solidFill>
              </a:rPr>
              <a:t>Полезни въпроси за лошо формулирано задачи:</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en-US" sz="2400">
                <a:solidFill>
                  <a:schemeClr val="tx2">
                    <a:satMod val="130000"/>
                  </a:schemeClr>
                </a:solidFill>
              </a:rPr>
              <a:t>- </a:t>
            </a:r>
            <a:r>
              <a:rPr lang="bg-BG" sz="2400">
                <a:solidFill>
                  <a:schemeClr val="tx2">
                    <a:satMod val="130000"/>
                  </a:schemeClr>
                </a:solidFill>
              </a:rPr>
              <a:t>разбираема ли използваната терминология?</a:t>
            </a:r>
            <a:br>
              <a:rPr lang="bg-BG" sz="2400">
                <a:solidFill>
                  <a:schemeClr val="tx2">
                    <a:satMod val="130000"/>
                  </a:schemeClr>
                </a:solidFill>
              </a:rPr>
            </a:br>
            <a:r>
              <a:rPr lang="bg-BG" sz="2400">
                <a:solidFill>
                  <a:schemeClr val="tx2">
                    <a:satMod val="130000"/>
                  </a:schemeClr>
                </a:solidFill>
              </a:rPr>
              <a:t>- какво е дадено?</a:t>
            </a:r>
            <a:br>
              <a:rPr lang="bg-BG" sz="2400">
                <a:solidFill>
                  <a:schemeClr val="tx2">
                    <a:satMod val="130000"/>
                  </a:schemeClr>
                </a:solidFill>
              </a:rPr>
            </a:br>
            <a:r>
              <a:rPr lang="bg-BG" sz="2400">
                <a:solidFill>
                  <a:schemeClr val="tx2">
                    <a:satMod val="130000"/>
                  </a:schemeClr>
                </a:solidFill>
              </a:rPr>
              <a:t>- какво се търси?</a:t>
            </a:r>
            <a:br>
              <a:rPr lang="bg-BG" sz="2400">
                <a:solidFill>
                  <a:schemeClr val="tx2">
                    <a:satMod val="130000"/>
                  </a:schemeClr>
                </a:solidFill>
              </a:rPr>
            </a:br>
            <a:r>
              <a:rPr lang="bg-BG" sz="2400">
                <a:solidFill>
                  <a:schemeClr val="tx2">
                    <a:satMod val="130000"/>
                  </a:schemeClr>
                </a:solidFill>
              </a:rPr>
              <a:t>- какви данни липсват?</a:t>
            </a:r>
            <a:br>
              <a:rPr lang="bg-BG" sz="2400">
                <a:solidFill>
                  <a:schemeClr val="tx2">
                    <a:satMod val="130000"/>
                  </a:schemeClr>
                </a:solidFill>
              </a:rPr>
            </a:br>
            <a:r>
              <a:rPr lang="bg-BG" sz="2400">
                <a:solidFill>
                  <a:schemeClr val="tx2">
                    <a:satMod val="130000"/>
                  </a:schemeClr>
                </a:solidFill>
              </a:rPr>
              <a:t>- има ли излишни данни?</a:t>
            </a:r>
            <a:br>
              <a:rPr lang="bg-BG" sz="2400">
                <a:solidFill>
                  <a:schemeClr val="tx2">
                    <a:satMod val="130000"/>
                  </a:schemeClr>
                </a:solidFill>
              </a:rPr>
            </a:br>
            <a:r>
              <a:rPr lang="bg-BG" sz="2400">
                <a:solidFill>
                  <a:schemeClr val="tx2">
                    <a:satMod val="130000"/>
                  </a:schemeClr>
                </a:solidFill>
              </a:rPr>
              <a:t>- какви допускания (ограничения) са приети?</a:t>
            </a:r>
            <a:br>
              <a:rPr lang="bg-BG" sz="2400">
                <a:solidFill>
                  <a:schemeClr val="tx2">
                    <a:satMod val="130000"/>
                  </a:schemeClr>
                </a:solidFill>
              </a:rPr>
            </a:br>
            <a:r>
              <a:rPr lang="bg-BG" sz="2400">
                <a:solidFill>
                  <a:schemeClr val="tx2">
                    <a:satMod val="130000"/>
                  </a:schemeClr>
                </a:solidFill>
              </a:rPr>
              <a:t>- как да се намери решението?</a:t>
            </a:r>
            <a:br>
              <a:rPr lang="bg-BG" sz="2400">
                <a:solidFill>
                  <a:schemeClr val="tx2">
                    <a:satMod val="130000"/>
                  </a:schemeClr>
                </a:solidFill>
              </a:rPr>
            </a:br>
            <a:endParaRPr lang="en-US" sz="2400">
              <a:solidFill>
                <a:schemeClr val="tx2">
                  <a:satMod val="13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42988" y="476250"/>
            <a:ext cx="8101012" cy="5943600"/>
          </a:xfrm>
        </p:spPr>
        <p:txBody>
          <a:bodyPr/>
          <a:lstStyle/>
          <a:p>
            <a:pPr fontAlgn="auto">
              <a:spcAft>
                <a:spcPts val="0"/>
              </a:spcAft>
              <a:defRPr/>
            </a:pPr>
            <a:r>
              <a:rPr lang="bg-BG" sz="3200">
                <a:solidFill>
                  <a:schemeClr val="tx2">
                    <a:satMod val="130000"/>
                  </a:schemeClr>
                </a:solidFill>
              </a:rPr>
              <a:t>	Задача за търговския пътник:</a:t>
            </a:r>
            <a:br>
              <a:rPr lang="bg-BG" sz="3200">
                <a:solidFill>
                  <a:schemeClr val="tx2">
                    <a:satMod val="130000"/>
                  </a:schemeClr>
                </a:solidFill>
              </a:rPr>
            </a:br>
            <a:r>
              <a:rPr lang="bg-BG" sz="3200">
                <a:solidFill>
                  <a:schemeClr val="tx2">
                    <a:satMod val="130000"/>
                  </a:schemeClr>
                </a:solidFill>
              </a:rPr>
              <a:t>	</a:t>
            </a:r>
            <a:r>
              <a:rPr lang="bg-BG" sz="2800">
                <a:solidFill>
                  <a:schemeClr val="tx2">
                    <a:satMod val="130000"/>
                  </a:schemeClr>
                </a:solidFill>
              </a:rPr>
              <a:t>Агент по продажба на компютри (търговски пътник) обслужва територия от 20 града. Фирмата му заплаща само 50% от пътните разходи с автомобил. Агентът е пресметнал, колко му струва пътя между всеки два града, и иска да намали пътните си разходи.</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Какво е дадено?</a:t>
            </a:r>
            <a:br>
              <a:rPr lang="bg-BG" sz="2800">
                <a:solidFill>
                  <a:schemeClr val="tx2">
                    <a:satMod val="130000"/>
                  </a:schemeClr>
                </a:solidFill>
              </a:rPr>
            </a:br>
            <a:r>
              <a:rPr lang="bg-BG" sz="2800">
                <a:solidFill>
                  <a:schemeClr val="tx2">
                    <a:satMod val="130000"/>
                  </a:schemeClr>
                </a:solidFill>
              </a:rPr>
              <a:t>	- списък на градовете и</a:t>
            </a:r>
            <a:br>
              <a:rPr lang="bg-BG" sz="2800">
                <a:solidFill>
                  <a:schemeClr val="tx2">
                    <a:satMod val="130000"/>
                  </a:schemeClr>
                </a:solidFill>
              </a:rPr>
            </a:br>
            <a:r>
              <a:rPr lang="bg-BG" sz="2800">
                <a:solidFill>
                  <a:schemeClr val="tx2">
                    <a:satMod val="130000"/>
                  </a:schemeClr>
                </a:solidFill>
              </a:rPr>
              <a:t>	- съответстваща му матрица със стойности на разстоянията между всеки два града, т.е. двумерен масив С с размер 20 х 20 и с </a:t>
            </a:r>
            <a:r>
              <a:rPr lang="bg-BG" sz="2800" smtClean="0">
                <a:solidFill>
                  <a:schemeClr val="tx2">
                    <a:satMod val="130000"/>
                  </a:schemeClr>
                </a:solidFill>
              </a:rPr>
              <a:t>елементи </a:t>
            </a:r>
            <a:r>
              <a:rPr lang="bg-BG" sz="2800">
                <a:solidFill>
                  <a:schemeClr val="tx2">
                    <a:satMod val="130000"/>
                  </a:schemeClr>
                </a:solidFill>
              </a:rPr>
              <a:t>C</a:t>
            </a:r>
            <a:r>
              <a:rPr lang="en-US" sz="2800" baseline="-25000" smtClean="0">
                <a:solidFill>
                  <a:schemeClr val="tx2">
                    <a:satMod val="130000"/>
                  </a:schemeClr>
                </a:solidFill>
              </a:rPr>
              <a:t>ij</a:t>
            </a:r>
            <a:r>
              <a:rPr lang="en-US" sz="2800" smtClean="0">
                <a:solidFill>
                  <a:schemeClr val="tx2">
                    <a:satMod val="130000"/>
                  </a:schemeClr>
                </a:solidFill>
              </a:rPr>
              <a:t>.</a:t>
            </a:r>
            <a:endParaRPr lang="en-US" sz="2800" baseline="-25000">
              <a:solidFill>
                <a:schemeClr val="tx2">
                  <a:satMod val="13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187450" y="549275"/>
            <a:ext cx="7772400" cy="5715000"/>
          </a:xfrm>
        </p:spPr>
        <p:txBody>
          <a:bodyPr>
            <a:normAutofit fontScale="90000"/>
          </a:bodyPr>
          <a:lstStyle/>
          <a:p>
            <a:pPr fontAlgn="auto">
              <a:spcAft>
                <a:spcPts val="0"/>
              </a:spcAft>
              <a:defRPr/>
            </a:pPr>
            <a:r>
              <a:rPr lang="bg-BG" sz="2800">
                <a:solidFill>
                  <a:schemeClr val="tx2">
                    <a:satMod val="130000"/>
                  </a:schemeClr>
                </a:solidFill>
              </a:rPr>
              <a:t>	Какво се търси?</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Не може да се каже еднозначно.</a:t>
            </a:r>
            <a:br>
              <a:rPr lang="bg-BG" sz="2800">
                <a:solidFill>
                  <a:schemeClr val="tx2">
                    <a:satMod val="130000"/>
                  </a:schemeClr>
                </a:solidFill>
              </a:rPr>
            </a:br>
            <a:r>
              <a:rPr lang="bg-BG" sz="2800">
                <a:solidFill>
                  <a:schemeClr val="tx2">
                    <a:satMod val="130000"/>
                  </a:schemeClr>
                </a:solidFill>
              </a:rPr>
              <a:t>Уточнение:</a:t>
            </a:r>
            <a:br>
              <a:rPr lang="bg-BG" sz="2800">
                <a:solidFill>
                  <a:schemeClr val="tx2">
                    <a:satMod val="130000"/>
                  </a:schemeClr>
                </a:solidFill>
              </a:rPr>
            </a:br>
            <a:r>
              <a:rPr lang="bg-BG" sz="2800">
                <a:solidFill>
                  <a:schemeClr val="tx2">
                    <a:satMod val="130000"/>
                  </a:schemeClr>
                </a:solidFill>
              </a:rPr>
              <a:t>	- необходим е маршрут, който да започва 	от определен (базов) град, да завършва в 	него и да минава по веднъж през всеки от 	останалите градове.</a:t>
            </a:r>
            <a:br>
              <a:rPr lang="bg-BG" sz="2800">
                <a:solidFill>
                  <a:schemeClr val="tx2">
                    <a:satMod val="130000"/>
                  </a:schemeClr>
                </a:solidFill>
              </a:rPr>
            </a:br>
            <a:r>
              <a:rPr lang="bg-BG" sz="2800">
                <a:solidFill>
                  <a:schemeClr val="tx2">
                    <a:satMod val="130000"/>
                  </a:schemeClr>
                </a:solidFill>
              </a:rPr>
              <a:t>Очакван резултат:</a:t>
            </a:r>
            <a:br>
              <a:rPr lang="bg-BG" sz="2800">
                <a:solidFill>
                  <a:schemeClr val="tx2">
                    <a:satMod val="130000"/>
                  </a:schemeClr>
                </a:solidFill>
              </a:rPr>
            </a:br>
            <a:r>
              <a:rPr lang="bg-BG" sz="2800">
                <a:solidFill>
                  <a:schemeClr val="tx2">
                    <a:satMod val="130000"/>
                  </a:schemeClr>
                </a:solidFill>
              </a:rPr>
              <a:t>	- списък, в който всеки град фигурира по веднъж, като базовия град стои в началото и в края. Цената на обиколката, т.е. сумата на цените на разстоянията между всеки два града в списъка, трябва да е минимална.</a:t>
            </a:r>
            <a:endParaRPr lang="en-US" sz="2800">
              <a:solidFill>
                <a:schemeClr val="tx2">
                  <a:satMod val="130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042988" y="1125538"/>
            <a:ext cx="7947025" cy="5486400"/>
          </a:xfrm>
        </p:spPr>
        <p:txBody>
          <a:bodyPr>
            <a:normAutofit fontScale="90000"/>
          </a:bodyPr>
          <a:lstStyle/>
          <a:p>
            <a:pPr fontAlgn="auto">
              <a:spcAft>
                <a:spcPts val="0"/>
              </a:spcAft>
              <a:defRPr/>
            </a:pPr>
            <a:r>
              <a:rPr lang="bg-BG" sz="3200">
                <a:solidFill>
                  <a:schemeClr val="tx2">
                    <a:satMod val="130000"/>
                  </a:schemeClr>
                </a:solidFill>
              </a:rPr>
              <a:t>	</a:t>
            </a:r>
            <a:r>
              <a:rPr lang="en-US" sz="3200">
                <a:solidFill>
                  <a:schemeClr val="tx2">
                    <a:satMod val="130000"/>
                  </a:schemeClr>
                </a:solidFill>
              </a:rPr>
              <a:t>II</a:t>
            </a:r>
            <a:r>
              <a:rPr lang="bg-BG" sz="3200">
                <a:solidFill>
                  <a:schemeClr val="tx2">
                    <a:satMod val="130000"/>
                  </a:schemeClr>
                </a:solidFill>
              </a:rPr>
              <a:t>. Построяване на модел</a:t>
            </a: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Процесът не може да бъде автоматизиран. </a:t>
            </a:r>
            <a:br>
              <a:rPr lang="bg-BG" sz="2800">
                <a:solidFill>
                  <a:schemeClr val="tx2">
                    <a:satMod val="130000"/>
                  </a:schemeClr>
                </a:solidFill>
              </a:rPr>
            </a:br>
            <a:r>
              <a:rPr lang="bg-BG" sz="2800">
                <a:solidFill>
                  <a:schemeClr val="tx2">
                    <a:satMod val="130000"/>
                  </a:schemeClr>
                </a:solidFill>
              </a:rPr>
              <a:t>Всяка задача се разглежда индивидуално.</a:t>
            </a:r>
            <a:br>
              <a:rPr lang="bg-BG" sz="2800">
                <a:solidFill>
                  <a:schemeClr val="tx2">
                    <a:satMod val="130000"/>
                  </a:schemeClr>
                </a:solidFill>
              </a:rPr>
            </a:br>
            <a:r>
              <a:rPr lang="bg-BG" sz="2800">
                <a:solidFill>
                  <a:schemeClr val="tx2">
                    <a:satMod val="130000"/>
                  </a:schemeClr>
                </a:solidFill>
              </a:rPr>
              <a:t>Полезно е да се отговори на следните въпроси:</a:t>
            </a:r>
            <a:br>
              <a:rPr lang="bg-BG" sz="2800">
                <a:solidFill>
                  <a:schemeClr val="tx2">
                    <a:satMod val="130000"/>
                  </a:schemeClr>
                </a:solidFill>
              </a:rPr>
            </a:br>
            <a:r>
              <a:rPr lang="bg-BG" sz="1400">
                <a:solidFill>
                  <a:schemeClr val="tx2">
                    <a:satMod val="130000"/>
                  </a:schemeClr>
                </a:solidFill>
              </a:rPr>
              <a:t/>
            </a:r>
            <a:br>
              <a:rPr lang="bg-BG" sz="1400">
                <a:solidFill>
                  <a:schemeClr val="tx2">
                    <a:satMod val="130000"/>
                  </a:schemeClr>
                </a:solidFill>
              </a:rPr>
            </a:br>
            <a:r>
              <a:rPr lang="bg-BG" sz="2800">
                <a:solidFill>
                  <a:schemeClr val="tx2">
                    <a:satMod val="130000"/>
                  </a:schemeClr>
                </a:solidFill>
              </a:rPr>
              <a:t>1. Кои математически структури най-добре подхождат за решаване на задачата?</a:t>
            </a:r>
            <a:br>
              <a:rPr lang="bg-BG" sz="2800">
                <a:solidFill>
                  <a:schemeClr val="tx2">
                    <a:satMod val="130000"/>
                  </a:schemeClr>
                </a:solidFill>
              </a:rPr>
            </a:br>
            <a:r>
              <a:rPr lang="bg-BG" sz="2800">
                <a:solidFill>
                  <a:schemeClr val="tx2">
                    <a:satMod val="130000"/>
                  </a:schemeClr>
                </a:solidFill>
              </a:rPr>
              <a:t> - да опишем математически това, което е дадено и това, което се търси;</a:t>
            </a:r>
            <a:br>
              <a:rPr lang="bg-BG" sz="2800">
                <a:solidFill>
                  <a:schemeClr val="tx2">
                    <a:satMod val="130000"/>
                  </a:schemeClr>
                </a:solidFill>
              </a:rPr>
            </a:br>
            <a:r>
              <a:rPr lang="bg-BG" sz="2800">
                <a:solidFill>
                  <a:schemeClr val="tx2">
                    <a:satMod val="130000"/>
                  </a:schemeClr>
                </a:solidFill>
              </a:rPr>
              <a:t>- да отчетем удобството на представяне, простота на обработване и ограничеността на знанията си. </a:t>
            </a:r>
            <a:br>
              <a:rPr lang="bg-BG" sz="2800">
                <a:solidFill>
                  <a:schemeClr val="tx2">
                    <a:satMod val="130000"/>
                  </a:schemeClr>
                </a:solidFill>
              </a:rPr>
            </a:br>
            <a:r>
              <a:rPr lang="bg-BG" sz="1400">
                <a:solidFill>
                  <a:schemeClr val="tx2">
                    <a:satMod val="130000"/>
                  </a:schemeClr>
                </a:solidFill>
              </a:rPr>
              <a:t/>
            </a:r>
            <a:br>
              <a:rPr lang="bg-BG" sz="1400">
                <a:solidFill>
                  <a:schemeClr val="tx2">
                    <a:satMod val="130000"/>
                  </a:schemeClr>
                </a:solidFill>
              </a:rPr>
            </a:br>
            <a:r>
              <a:rPr lang="bg-BG" sz="2800">
                <a:solidFill>
                  <a:schemeClr val="tx2">
                    <a:satMod val="130000"/>
                  </a:schemeClr>
                </a:solidFill>
              </a:rPr>
              <a:t>2. Съществуват ли решения на аналогични задачи?</a:t>
            </a:r>
            <a:br>
              <a:rPr lang="bg-BG" sz="28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endParaRPr lang="en-US" sz="2400">
              <a:solidFill>
                <a:schemeClr val="tx2">
                  <a:satMod val="13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042988" y="333375"/>
            <a:ext cx="7947025" cy="6264275"/>
          </a:xfrm>
        </p:spPr>
        <p:txBody>
          <a:bodyPr>
            <a:normAutofit fontScale="90000"/>
          </a:bodyPr>
          <a:lstStyle/>
          <a:p>
            <a:pPr fontAlgn="auto">
              <a:spcAft>
                <a:spcPts val="0"/>
              </a:spcAft>
              <a:defRPr/>
            </a:pPr>
            <a:r>
              <a:rPr lang="bg-BG" sz="2800">
                <a:solidFill>
                  <a:schemeClr val="tx2">
                    <a:satMod val="130000"/>
                  </a:schemeClr>
                </a:solidFill>
              </a:rPr>
              <a:t>	След избора на математическата структура задачата трябва да се формулира отново в термините на обектите на избрания модел.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Моделът се смята за задоволителен, ако:</a:t>
            </a:r>
            <a:br>
              <a:rPr lang="bg-BG" sz="2800">
                <a:solidFill>
                  <a:schemeClr val="tx2">
                    <a:satMod val="130000"/>
                  </a:schemeClr>
                </a:solidFill>
              </a:rPr>
            </a:br>
            <a:r>
              <a:rPr lang="bg-BG" sz="1400">
                <a:solidFill>
                  <a:schemeClr val="tx2">
                    <a:satMod val="130000"/>
                  </a:schemeClr>
                </a:solidFill>
              </a:rPr>
              <a:t/>
            </a:r>
            <a:br>
              <a:rPr lang="bg-BG" sz="1400">
                <a:solidFill>
                  <a:schemeClr val="tx2">
                    <a:satMod val="130000"/>
                  </a:schemeClr>
                </a:solidFill>
              </a:rPr>
            </a:br>
            <a:r>
              <a:rPr lang="bg-BG" sz="2800">
                <a:solidFill>
                  <a:schemeClr val="tx2">
                    <a:satMod val="130000"/>
                  </a:schemeClr>
                </a:solidFill>
              </a:rPr>
              <a:t>  - цялата (или поне най-съществената) информация  </a:t>
            </a:r>
            <a:br>
              <a:rPr lang="bg-BG" sz="2800">
                <a:solidFill>
                  <a:schemeClr val="tx2">
                    <a:satMod val="130000"/>
                  </a:schemeClr>
                </a:solidFill>
              </a:rPr>
            </a:br>
            <a:r>
              <a:rPr lang="bg-BG" sz="2800">
                <a:solidFill>
                  <a:schemeClr val="tx2">
                    <a:satMod val="130000"/>
                  </a:schemeClr>
                </a:solidFill>
              </a:rPr>
              <a:t>    е добре описана чрез математическите обекти;</a:t>
            </a:r>
            <a:br>
              <a:rPr lang="bg-BG" sz="2800">
                <a:solidFill>
                  <a:schemeClr val="tx2">
                    <a:satMod val="130000"/>
                  </a:schemeClr>
                </a:solidFill>
              </a:rPr>
            </a:br>
            <a:r>
              <a:rPr lang="bg-BG" sz="2800">
                <a:solidFill>
                  <a:schemeClr val="tx2">
                    <a:satMod val="130000"/>
                  </a:schemeClr>
                </a:solidFill>
              </a:rPr>
              <a:t>  - между величините на модела фигурира и самия </a:t>
            </a:r>
            <a:br>
              <a:rPr lang="bg-BG" sz="2800">
                <a:solidFill>
                  <a:schemeClr val="tx2">
                    <a:satMod val="130000"/>
                  </a:schemeClr>
                </a:solidFill>
              </a:rPr>
            </a:br>
            <a:r>
              <a:rPr lang="bg-BG" sz="2800">
                <a:solidFill>
                  <a:schemeClr val="tx2">
                    <a:satMod val="130000"/>
                  </a:schemeClr>
                </a:solidFill>
              </a:rPr>
              <a:t>    резултат;</a:t>
            </a:r>
            <a:br>
              <a:rPr lang="bg-BG" sz="2800">
                <a:solidFill>
                  <a:schemeClr val="tx2">
                    <a:satMod val="130000"/>
                  </a:schemeClr>
                </a:solidFill>
              </a:rPr>
            </a:br>
            <a:r>
              <a:rPr lang="bg-BG" sz="2800">
                <a:solidFill>
                  <a:schemeClr val="tx2">
                    <a:satMod val="130000"/>
                  </a:schemeClr>
                </a:solidFill>
              </a:rPr>
              <a:t>  - може (и то удобно!) да се работи с модела;</a:t>
            </a:r>
            <a:br>
              <a:rPr lang="bg-BG" sz="2800">
                <a:solidFill>
                  <a:schemeClr val="tx2">
                    <a:satMod val="130000"/>
                  </a:schemeClr>
                </a:solidFill>
              </a:rPr>
            </a:br>
            <a:r>
              <a:rPr lang="bg-BG" sz="2800">
                <a:solidFill>
                  <a:schemeClr val="tx2">
                    <a:satMod val="130000"/>
                  </a:schemeClr>
                </a:solidFill>
              </a:rPr>
              <a:t>  - намерени са полезни съотношения между </a:t>
            </a:r>
            <a:br>
              <a:rPr lang="bg-BG" sz="2800">
                <a:solidFill>
                  <a:schemeClr val="tx2">
                    <a:satMod val="130000"/>
                  </a:schemeClr>
                </a:solidFill>
              </a:rPr>
            </a:br>
            <a:r>
              <a:rPr lang="bg-BG" sz="2800">
                <a:solidFill>
                  <a:schemeClr val="tx2">
                    <a:satMod val="130000"/>
                  </a:schemeClr>
                </a:solidFill>
              </a:rPr>
              <a:t>    обектите на модела, което ще улесни обработката.</a:t>
            </a:r>
            <a:endParaRPr lang="en-US" sz="2800">
              <a:solidFill>
                <a:schemeClr val="tx2">
                  <a:satMod val="13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68313" y="260350"/>
            <a:ext cx="8458200" cy="6096000"/>
          </a:xfrm>
        </p:spPr>
        <p:txBody>
          <a:bodyPr/>
          <a:lstStyle/>
          <a:p>
            <a:pPr fontAlgn="auto">
              <a:spcAft>
                <a:spcPts val="0"/>
              </a:spcAft>
              <a:defRPr/>
            </a:pPr>
            <a:r>
              <a:rPr lang="bg-BG" sz="2800">
                <a:solidFill>
                  <a:schemeClr val="tx2">
                    <a:satMod val="130000"/>
                  </a:schemeClr>
                </a:solidFill>
              </a:rPr>
              <a:t>Към задачата за търговския пътник:</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en-US" sz="2800">
                <a:solidFill>
                  <a:schemeClr val="tx2">
                    <a:satMod val="130000"/>
                  </a:schemeClr>
                </a:solidFill>
              </a:rPr>
              <a:t> - </a:t>
            </a:r>
            <a:r>
              <a:rPr lang="bg-BG" sz="2400">
                <a:solidFill>
                  <a:schemeClr val="tx2">
                    <a:satMod val="130000"/>
                  </a:schemeClr>
                </a:solidFill>
              </a:rPr>
              <a:t>Решавали ли сме подобна задача?</a:t>
            </a:r>
            <a:br>
              <a:rPr lang="bg-BG" sz="2400">
                <a:solidFill>
                  <a:schemeClr val="tx2">
                    <a:satMod val="130000"/>
                  </a:schemeClr>
                </a:solidFill>
              </a:rPr>
            </a:br>
            <a:r>
              <a:rPr lang="bg-BG" sz="2400">
                <a:solidFill>
                  <a:schemeClr val="tx2">
                    <a:satMod val="130000"/>
                  </a:schemeClr>
                </a:solidFill>
              </a:rPr>
              <a:t>Нека да приемем, че градовете са 5 (</a:t>
            </a:r>
            <a:r>
              <a:rPr lang="en-US" sz="2400">
                <a:solidFill>
                  <a:schemeClr val="tx2">
                    <a:satMod val="130000"/>
                  </a:schemeClr>
                </a:solidFill>
              </a:rPr>
              <a:t>n=5</a:t>
            </a:r>
            <a:r>
              <a:rPr lang="bg-BG" sz="2400">
                <a:solidFill>
                  <a:schemeClr val="tx2">
                    <a:satMod val="130000"/>
                  </a:schemeClr>
                </a:solidFill>
              </a:rPr>
              <a:t>)  и че цената на пътуването от град </a:t>
            </a:r>
            <a:r>
              <a:rPr lang="en-US" sz="2400">
                <a:solidFill>
                  <a:schemeClr val="tx2">
                    <a:satMod val="130000"/>
                  </a:schemeClr>
                </a:solidFill>
              </a:rPr>
              <a:t>i</a:t>
            </a:r>
            <a:r>
              <a:rPr lang="bg-BG" sz="2400">
                <a:solidFill>
                  <a:schemeClr val="tx2">
                    <a:satMod val="130000"/>
                  </a:schemeClr>
                </a:solidFill>
              </a:rPr>
              <a:t> в град</a:t>
            </a:r>
            <a:r>
              <a:rPr lang="en-US" sz="2400">
                <a:solidFill>
                  <a:schemeClr val="tx2">
                    <a:satMod val="130000"/>
                  </a:schemeClr>
                </a:solidFill>
              </a:rPr>
              <a:t>  j </a:t>
            </a:r>
            <a:r>
              <a:rPr lang="bg-BG" sz="2400">
                <a:solidFill>
                  <a:schemeClr val="tx2">
                    <a:satMod val="130000"/>
                  </a:schemeClr>
                </a:solidFill>
              </a:rPr>
              <a:t>съвпада </a:t>
            </a:r>
            <a:br>
              <a:rPr lang="bg-BG" sz="2400">
                <a:solidFill>
                  <a:schemeClr val="tx2">
                    <a:satMod val="130000"/>
                  </a:schemeClr>
                </a:solidFill>
              </a:rPr>
            </a:br>
            <a:r>
              <a:rPr lang="bg-BG" sz="2400">
                <a:solidFill>
                  <a:schemeClr val="tx2">
                    <a:satMod val="130000"/>
                  </a:schemeClr>
                </a:solidFill>
              </a:rPr>
              <a:t>с цената на пътя в обратната посока </a:t>
            </a:r>
            <a:br>
              <a:rPr lang="bg-BG" sz="2400">
                <a:solidFill>
                  <a:schemeClr val="tx2">
                    <a:satMod val="130000"/>
                  </a:schemeClr>
                </a:solidFill>
              </a:rPr>
            </a:br>
            <a:r>
              <a:rPr lang="bg-BG" sz="2400">
                <a:solidFill>
                  <a:schemeClr val="tx2">
                    <a:satMod val="130000"/>
                  </a:schemeClr>
                </a:solidFill>
              </a:rPr>
              <a:t>(пътищата са двупосочни):</a:t>
            </a:r>
            <a:r>
              <a:rPr lang="en-US" sz="2800">
                <a:solidFill>
                  <a:schemeClr val="tx2">
                    <a:satMod val="130000"/>
                  </a:schemeClr>
                </a:solidFill>
              </a:rPr>
              <a:t/>
            </a:r>
            <a:br>
              <a:rPr lang="en-US" sz="2800">
                <a:solidFill>
                  <a:schemeClr val="tx2">
                    <a:satMod val="130000"/>
                  </a:schemeClr>
                </a:solidFill>
              </a:rPr>
            </a:br>
            <a:r>
              <a:rPr lang="en-US" sz="2800">
                <a:solidFill>
                  <a:schemeClr val="tx2">
                    <a:satMod val="130000"/>
                  </a:schemeClr>
                </a:solidFill>
              </a:rPr>
              <a:t/>
            </a:r>
            <a:br>
              <a:rPr lang="en-US" sz="2800">
                <a:solidFill>
                  <a:schemeClr val="tx2">
                    <a:satMod val="130000"/>
                  </a:schemeClr>
                </a:solidFill>
              </a:rPr>
            </a:br>
            <a:r>
              <a:rPr lang="en-US" sz="2800">
                <a:solidFill>
                  <a:schemeClr val="tx2">
                    <a:satMod val="130000"/>
                  </a:schemeClr>
                </a:solidFill>
              </a:rPr>
              <a:t/>
            </a:r>
            <a:br>
              <a:rPr lang="en-US" sz="2800">
                <a:solidFill>
                  <a:schemeClr val="tx2">
                    <a:satMod val="130000"/>
                  </a:schemeClr>
                </a:solidFill>
              </a:rPr>
            </a:br>
            <a:r>
              <a:rPr lang="en-US" sz="2800">
                <a:solidFill>
                  <a:schemeClr val="tx1"/>
                </a:solidFill>
                <a:latin typeface="Arial" charset="0"/>
              </a:rPr>
              <a:t> </a:t>
            </a:r>
            <a:r>
              <a:rPr lang="en-US" sz="2800">
                <a:solidFill>
                  <a:schemeClr val="tx1"/>
                </a:solidFill>
                <a:latin typeface="Arial" charset="0"/>
                <a:cs typeface="Arial" charset="0"/>
              </a:rPr>
              <a:t> </a:t>
            </a:r>
            <a:r>
              <a:rPr lang="en-US" sz="2800">
                <a:solidFill>
                  <a:schemeClr val="tx2">
                    <a:satMod val="130000"/>
                  </a:schemeClr>
                </a:solidFill>
              </a:rPr>
              <a:t/>
            </a:r>
            <a:br>
              <a:rPr lang="en-US" sz="2800">
                <a:solidFill>
                  <a:schemeClr val="tx2">
                    <a:satMod val="130000"/>
                  </a:schemeClr>
                </a:solidFill>
              </a:rPr>
            </a:br>
            <a:r>
              <a:rPr lang="en-US" sz="2800">
                <a:solidFill>
                  <a:schemeClr val="tx2">
                    <a:satMod val="130000"/>
                  </a:schemeClr>
                </a:solidFill>
              </a:rPr>
              <a:t/>
            </a:r>
            <a:br>
              <a:rPr lang="en-US" sz="2800">
                <a:solidFill>
                  <a:schemeClr val="tx2">
                    <a:satMod val="130000"/>
                  </a:schemeClr>
                </a:solidFill>
              </a:rPr>
            </a:br>
            <a:r>
              <a:rPr lang="en-US" sz="2800">
                <a:solidFill>
                  <a:schemeClr val="tx2">
                    <a:satMod val="130000"/>
                  </a:schemeClr>
                </a:solidFill>
              </a:rPr>
              <a:t/>
            </a:r>
            <a:br>
              <a:rPr lang="en-US" sz="2800">
                <a:solidFill>
                  <a:schemeClr val="tx2">
                    <a:satMod val="130000"/>
                  </a:schemeClr>
                </a:solidFill>
              </a:rPr>
            </a:br>
            <a:endParaRPr lang="en-US" sz="2800">
              <a:solidFill>
                <a:schemeClr val="tx2">
                  <a:satMod val="130000"/>
                </a:schemeClr>
              </a:solidFill>
            </a:endParaRPr>
          </a:p>
        </p:txBody>
      </p:sp>
      <p:grpSp>
        <p:nvGrpSpPr>
          <p:cNvPr id="1028" name="Group 3"/>
          <p:cNvGrpSpPr>
            <a:grpSpLocks/>
          </p:cNvGrpSpPr>
          <p:nvPr/>
        </p:nvGrpSpPr>
        <p:grpSpPr bwMode="auto">
          <a:xfrm>
            <a:off x="5486400" y="2743200"/>
            <a:ext cx="3276600" cy="3733800"/>
            <a:chOff x="1744" y="1008"/>
            <a:chExt cx="2000" cy="2448"/>
          </a:xfrm>
        </p:grpSpPr>
        <p:sp>
          <p:nvSpPr>
            <p:cNvPr id="1045" name="Oval 4"/>
            <p:cNvSpPr>
              <a:spLocks noChangeArrowheads="1"/>
            </p:cNvSpPr>
            <p:nvPr/>
          </p:nvSpPr>
          <p:spPr bwMode="auto">
            <a:xfrm>
              <a:off x="3024" y="1008"/>
              <a:ext cx="288" cy="288"/>
            </a:xfrm>
            <a:prstGeom prst="ellipse">
              <a:avLst/>
            </a:prstGeom>
            <a:solidFill>
              <a:srgbClr val="FFFFFF"/>
            </a:solidFill>
            <a:ln w="9525">
              <a:solidFill>
                <a:srgbClr val="000000"/>
              </a:solidFill>
              <a:round/>
              <a:headEnd/>
              <a:tailEnd/>
            </a:ln>
          </p:spPr>
          <p:txBody>
            <a:bodyPr/>
            <a:lstStyle/>
            <a:p>
              <a:endParaRPr lang="bg-BG"/>
            </a:p>
          </p:txBody>
        </p:sp>
        <p:sp>
          <p:nvSpPr>
            <p:cNvPr id="1046" name="Oval 5"/>
            <p:cNvSpPr>
              <a:spLocks noChangeArrowheads="1"/>
            </p:cNvSpPr>
            <p:nvPr/>
          </p:nvSpPr>
          <p:spPr bwMode="auto">
            <a:xfrm>
              <a:off x="1744" y="2192"/>
              <a:ext cx="288" cy="288"/>
            </a:xfrm>
            <a:prstGeom prst="ellipse">
              <a:avLst/>
            </a:prstGeom>
            <a:solidFill>
              <a:srgbClr val="FFFFFF"/>
            </a:solidFill>
            <a:ln w="9525">
              <a:solidFill>
                <a:srgbClr val="000000"/>
              </a:solidFill>
              <a:round/>
              <a:headEnd/>
              <a:tailEnd/>
            </a:ln>
          </p:spPr>
          <p:txBody>
            <a:bodyPr/>
            <a:lstStyle/>
            <a:p>
              <a:endParaRPr lang="bg-BG"/>
            </a:p>
          </p:txBody>
        </p:sp>
        <p:sp>
          <p:nvSpPr>
            <p:cNvPr id="1047" name="Oval 6"/>
            <p:cNvSpPr>
              <a:spLocks noChangeArrowheads="1"/>
            </p:cNvSpPr>
            <p:nvPr/>
          </p:nvSpPr>
          <p:spPr bwMode="auto">
            <a:xfrm>
              <a:off x="2418" y="3168"/>
              <a:ext cx="288" cy="288"/>
            </a:xfrm>
            <a:prstGeom prst="ellipse">
              <a:avLst/>
            </a:prstGeom>
            <a:solidFill>
              <a:srgbClr val="FFFFFF"/>
            </a:solidFill>
            <a:ln w="9525">
              <a:solidFill>
                <a:srgbClr val="000000"/>
              </a:solidFill>
              <a:round/>
              <a:headEnd/>
              <a:tailEnd/>
            </a:ln>
          </p:spPr>
          <p:txBody>
            <a:bodyPr/>
            <a:lstStyle/>
            <a:p>
              <a:endParaRPr lang="bg-BG"/>
            </a:p>
          </p:txBody>
        </p:sp>
        <p:sp>
          <p:nvSpPr>
            <p:cNvPr id="1048" name="Oval 7"/>
            <p:cNvSpPr>
              <a:spLocks noChangeArrowheads="1"/>
            </p:cNvSpPr>
            <p:nvPr/>
          </p:nvSpPr>
          <p:spPr bwMode="auto">
            <a:xfrm>
              <a:off x="3168" y="3168"/>
              <a:ext cx="288" cy="288"/>
            </a:xfrm>
            <a:prstGeom prst="ellipse">
              <a:avLst/>
            </a:prstGeom>
            <a:solidFill>
              <a:srgbClr val="FFFFFF"/>
            </a:solidFill>
            <a:ln w="9525">
              <a:solidFill>
                <a:srgbClr val="000000"/>
              </a:solidFill>
              <a:round/>
              <a:headEnd/>
              <a:tailEnd/>
            </a:ln>
          </p:spPr>
          <p:txBody>
            <a:bodyPr/>
            <a:lstStyle/>
            <a:p>
              <a:endParaRPr lang="bg-BG"/>
            </a:p>
          </p:txBody>
        </p:sp>
        <p:sp>
          <p:nvSpPr>
            <p:cNvPr id="1049" name="Oval 8"/>
            <p:cNvSpPr>
              <a:spLocks noChangeArrowheads="1"/>
            </p:cNvSpPr>
            <p:nvPr/>
          </p:nvSpPr>
          <p:spPr bwMode="auto">
            <a:xfrm>
              <a:off x="3456" y="1872"/>
              <a:ext cx="288" cy="288"/>
            </a:xfrm>
            <a:prstGeom prst="ellipse">
              <a:avLst/>
            </a:prstGeom>
            <a:solidFill>
              <a:srgbClr val="FFFFFF"/>
            </a:solidFill>
            <a:ln w="9525">
              <a:solidFill>
                <a:srgbClr val="000000"/>
              </a:solidFill>
              <a:round/>
              <a:headEnd/>
              <a:tailEnd/>
            </a:ln>
          </p:spPr>
          <p:txBody>
            <a:bodyPr/>
            <a:lstStyle/>
            <a:p>
              <a:endParaRPr lang="bg-BG"/>
            </a:p>
          </p:txBody>
        </p:sp>
        <p:sp>
          <p:nvSpPr>
            <p:cNvPr id="1050" name="Line 9"/>
            <p:cNvSpPr>
              <a:spLocks noChangeShapeType="1"/>
            </p:cNvSpPr>
            <p:nvPr/>
          </p:nvSpPr>
          <p:spPr bwMode="auto">
            <a:xfrm flipV="1">
              <a:off x="2016" y="1296"/>
              <a:ext cx="1152" cy="1008"/>
            </a:xfrm>
            <a:prstGeom prst="line">
              <a:avLst/>
            </a:prstGeom>
            <a:noFill/>
            <a:ln w="9525">
              <a:solidFill>
                <a:srgbClr val="000000"/>
              </a:solidFill>
              <a:round/>
              <a:headEnd/>
              <a:tailEnd/>
            </a:ln>
          </p:spPr>
          <p:txBody>
            <a:bodyPr/>
            <a:lstStyle/>
            <a:p>
              <a:endParaRPr lang="bg-BG"/>
            </a:p>
          </p:txBody>
        </p:sp>
        <p:sp>
          <p:nvSpPr>
            <p:cNvPr id="1051" name="Line 10"/>
            <p:cNvSpPr>
              <a:spLocks noChangeShapeType="1"/>
            </p:cNvSpPr>
            <p:nvPr/>
          </p:nvSpPr>
          <p:spPr bwMode="auto">
            <a:xfrm>
              <a:off x="2016" y="2448"/>
              <a:ext cx="432" cy="720"/>
            </a:xfrm>
            <a:prstGeom prst="line">
              <a:avLst/>
            </a:prstGeom>
            <a:noFill/>
            <a:ln w="9525">
              <a:solidFill>
                <a:srgbClr val="000000"/>
              </a:solidFill>
              <a:round/>
              <a:headEnd/>
              <a:tailEnd/>
            </a:ln>
          </p:spPr>
          <p:txBody>
            <a:bodyPr/>
            <a:lstStyle/>
            <a:p>
              <a:endParaRPr lang="bg-BG"/>
            </a:p>
          </p:txBody>
        </p:sp>
        <p:sp>
          <p:nvSpPr>
            <p:cNvPr id="1052" name="Line 11"/>
            <p:cNvSpPr>
              <a:spLocks noChangeShapeType="1"/>
            </p:cNvSpPr>
            <p:nvPr/>
          </p:nvSpPr>
          <p:spPr bwMode="auto">
            <a:xfrm flipV="1">
              <a:off x="2016" y="2016"/>
              <a:ext cx="1440" cy="288"/>
            </a:xfrm>
            <a:prstGeom prst="line">
              <a:avLst/>
            </a:prstGeom>
            <a:noFill/>
            <a:ln w="9525">
              <a:solidFill>
                <a:srgbClr val="000000"/>
              </a:solidFill>
              <a:round/>
              <a:headEnd/>
              <a:tailEnd/>
            </a:ln>
          </p:spPr>
          <p:txBody>
            <a:bodyPr/>
            <a:lstStyle/>
            <a:p>
              <a:endParaRPr lang="bg-BG"/>
            </a:p>
          </p:txBody>
        </p:sp>
        <p:sp>
          <p:nvSpPr>
            <p:cNvPr id="1053" name="Line 12"/>
            <p:cNvSpPr>
              <a:spLocks noChangeShapeType="1"/>
            </p:cNvSpPr>
            <p:nvPr/>
          </p:nvSpPr>
          <p:spPr bwMode="auto">
            <a:xfrm>
              <a:off x="2736" y="3312"/>
              <a:ext cx="432" cy="0"/>
            </a:xfrm>
            <a:prstGeom prst="line">
              <a:avLst/>
            </a:prstGeom>
            <a:noFill/>
            <a:ln w="9525">
              <a:solidFill>
                <a:srgbClr val="000000"/>
              </a:solidFill>
              <a:round/>
              <a:headEnd/>
              <a:tailEnd/>
            </a:ln>
          </p:spPr>
          <p:txBody>
            <a:bodyPr/>
            <a:lstStyle/>
            <a:p>
              <a:endParaRPr lang="bg-BG"/>
            </a:p>
          </p:txBody>
        </p:sp>
        <p:sp>
          <p:nvSpPr>
            <p:cNvPr id="1054" name="Line 13"/>
            <p:cNvSpPr>
              <a:spLocks noChangeShapeType="1"/>
            </p:cNvSpPr>
            <p:nvPr/>
          </p:nvSpPr>
          <p:spPr bwMode="auto">
            <a:xfrm flipV="1">
              <a:off x="3312" y="2160"/>
              <a:ext cx="288" cy="1008"/>
            </a:xfrm>
            <a:prstGeom prst="line">
              <a:avLst/>
            </a:prstGeom>
            <a:noFill/>
            <a:ln w="9525">
              <a:solidFill>
                <a:srgbClr val="000000"/>
              </a:solidFill>
              <a:round/>
              <a:headEnd/>
              <a:tailEnd/>
            </a:ln>
          </p:spPr>
          <p:txBody>
            <a:bodyPr/>
            <a:lstStyle/>
            <a:p>
              <a:endParaRPr lang="bg-BG"/>
            </a:p>
          </p:txBody>
        </p:sp>
        <p:sp>
          <p:nvSpPr>
            <p:cNvPr id="1055" name="Line 14"/>
            <p:cNvSpPr>
              <a:spLocks noChangeShapeType="1"/>
            </p:cNvSpPr>
            <p:nvPr/>
          </p:nvSpPr>
          <p:spPr bwMode="auto">
            <a:xfrm flipH="1">
              <a:off x="2592" y="1296"/>
              <a:ext cx="576" cy="1872"/>
            </a:xfrm>
            <a:prstGeom prst="line">
              <a:avLst/>
            </a:prstGeom>
            <a:noFill/>
            <a:ln w="9525">
              <a:solidFill>
                <a:srgbClr val="000000"/>
              </a:solidFill>
              <a:round/>
              <a:headEnd/>
              <a:tailEnd/>
            </a:ln>
          </p:spPr>
          <p:txBody>
            <a:bodyPr/>
            <a:lstStyle/>
            <a:p>
              <a:endParaRPr lang="bg-BG"/>
            </a:p>
          </p:txBody>
        </p:sp>
        <p:sp>
          <p:nvSpPr>
            <p:cNvPr id="1056" name="Line 15"/>
            <p:cNvSpPr>
              <a:spLocks noChangeShapeType="1"/>
            </p:cNvSpPr>
            <p:nvPr/>
          </p:nvSpPr>
          <p:spPr bwMode="auto">
            <a:xfrm>
              <a:off x="3168" y="1296"/>
              <a:ext cx="144" cy="1872"/>
            </a:xfrm>
            <a:prstGeom prst="line">
              <a:avLst/>
            </a:prstGeom>
            <a:noFill/>
            <a:ln w="9525">
              <a:solidFill>
                <a:srgbClr val="000000"/>
              </a:solidFill>
              <a:round/>
              <a:headEnd/>
              <a:tailEnd/>
            </a:ln>
          </p:spPr>
          <p:txBody>
            <a:bodyPr/>
            <a:lstStyle/>
            <a:p>
              <a:endParaRPr lang="bg-BG"/>
            </a:p>
          </p:txBody>
        </p:sp>
        <p:sp>
          <p:nvSpPr>
            <p:cNvPr id="1057" name="Line 16"/>
            <p:cNvSpPr>
              <a:spLocks noChangeShapeType="1"/>
            </p:cNvSpPr>
            <p:nvPr/>
          </p:nvSpPr>
          <p:spPr bwMode="auto">
            <a:xfrm flipH="1">
              <a:off x="2632" y="2144"/>
              <a:ext cx="864" cy="1008"/>
            </a:xfrm>
            <a:prstGeom prst="line">
              <a:avLst/>
            </a:prstGeom>
            <a:noFill/>
            <a:ln w="9525">
              <a:solidFill>
                <a:srgbClr val="000000"/>
              </a:solidFill>
              <a:round/>
              <a:headEnd/>
              <a:tailEnd/>
            </a:ln>
          </p:spPr>
          <p:txBody>
            <a:bodyPr/>
            <a:lstStyle/>
            <a:p>
              <a:endParaRPr lang="bg-BG"/>
            </a:p>
          </p:txBody>
        </p:sp>
        <p:sp>
          <p:nvSpPr>
            <p:cNvPr id="1058" name="Line 17"/>
            <p:cNvSpPr>
              <a:spLocks noChangeShapeType="1"/>
            </p:cNvSpPr>
            <p:nvPr/>
          </p:nvSpPr>
          <p:spPr bwMode="auto">
            <a:xfrm>
              <a:off x="2016" y="2448"/>
              <a:ext cx="1152" cy="864"/>
            </a:xfrm>
            <a:prstGeom prst="line">
              <a:avLst/>
            </a:prstGeom>
            <a:noFill/>
            <a:ln w="9525">
              <a:solidFill>
                <a:srgbClr val="000000"/>
              </a:solidFill>
              <a:round/>
              <a:headEnd/>
              <a:tailEnd/>
            </a:ln>
          </p:spPr>
          <p:txBody>
            <a:bodyPr/>
            <a:lstStyle/>
            <a:p>
              <a:endParaRPr lang="bg-BG"/>
            </a:p>
          </p:txBody>
        </p:sp>
        <p:sp>
          <p:nvSpPr>
            <p:cNvPr id="1059" name="Line 18"/>
            <p:cNvSpPr>
              <a:spLocks noChangeShapeType="1"/>
            </p:cNvSpPr>
            <p:nvPr/>
          </p:nvSpPr>
          <p:spPr bwMode="auto">
            <a:xfrm>
              <a:off x="3168" y="1296"/>
              <a:ext cx="432" cy="576"/>
            </a:xfrm>
            <a:prstGeom prst="line">
              <a:avLst/>
            </a:prstGeom>
            <a:noFill/>
            <a:ln w="9525">
              <a:solidFill>
                <a:srgbClr val="000000"/>
              </a:solidFill>
              <a:round/>
              <a:headEnd/>
              <a:tailEnd/>
            </a:ln>
          </p:spPr>
          <p:txBody>
            <a:bodyPr/>
            <a:lstStyle/>
            <a:p>
              <a:endParaRPr lang="bg-BG"/>
            </a:p>
          </p:txBody>
        </p:sp>
      </p:grpSp>
      <p:sp>
        <p:nvSpPr>
          <p:cNvPr id="1029" name="Text Box 19"/>
          <p:cNvSpPr txBox="1">
            <a:spLocks noChangeArrowheads="1"/>
          </p:cNvSpPr>
          <p:nvPr/>
        </p:nvSpPr>
        <p:spPr bwMode="auto">
          <a:xfrm>
            <a:off x="7162800" y="2667000"/>
            <a:ext cx="228600" cy="457200"/>
          </a:xfrm>
          <a:prstGeom prst="rect">
            <a:avLst/>
          </a:prstGeom>
          <a:noFill/>
          <a:ln w="9525">
            <a:noFill/>
            <a:miter lim="800000"/>
            <a:headEnd/>
            <a:tailEnd/>
          </a:ln>
        </p:spPr>
        <p:txBody>
          <a:bodyPr>
            <a:spAutoFit/>
          </a:bodyPr>
          <a:lstStyle/>
          <a:p>
            <a:pPr>
              <a:spcBef>
                <a:spcPct val="50000"/>
              </a:spcBef>
            </a:pPr>
            <a:endParaRPr lang="bg-BG"/>
          </a:p>
        </p:txBody>
      </p:sp>
      <p:sp>
        <p:nvSpPr>
          <p:cNvPr id="1030" name="Text Box 20"/>
          <p:cNvSpPr txBox="1">
            <a:spLocks noChangeArrowheads="1"/>
          </p:cNvSpPr>
          <p:nvPr/>
        </p:nvSpPr>
        <p:spPr bwMode="auto">
          <a:xfrm>
            <a:off x="5562600" y="4521200"/>
            <a:ext cx="304800" cy="457200"/>
          </a:xfrm>
          <a:prstGeom prst="rect">
            <a:avLst/>
          </a:prstGeom>
          <a:noFill/>
          <a:ln w="9525">
            <a:noFill/>
            <a:miter lim="800000"/>
            <a:headEnd/>
            <a:tailEnd/>
          </a:ln>
        </p:spPr>
        <p:txBody>
          <a:bodyPr>
            <a:spAutoFit/>
          </a:bodyPr>
          <a:lstStyle/>
          <a:p>
            <a:pPr>
              <a:spcBef>
                <a:spcPct val="50000"/>
              </a:spcBef>
            </a:pPr>
            <a:r>
              <a:rPr lang="en-US"/>
              <a:t>5</a:t>
            </a:r>
          </a:p>
        </p:txBody>
      </p:sp>
      <p:sp>
        <p:nvSpPr>
          <p:cNvPr id="1031" name="Text Box 21"/>
          <p:cNvSpPr txBox="1">
            <a:spLocks noChangeArrowheads="1"/>
          </p:cNvSpPr>
          <p:nvPr/>
        </p:nvSpPr>
        <p:spPr bwMode="auto">
          <a:xfrm>
            <a:off x="7696200" y="2743200"/>
            <a:ext cx="304800" cy="457200"/>
          </a:xfrm>
          <a:prstGeom prst="rect">
            <a:avLst/>
          </a:prstGeom>
          <a:noFill/>
          <a:ln w="9525">
            <a:noFill/>
            <a:miter lim="800000"/>
            <a:headEnd/>
            <a:tailEnd/>
          </a:ln>
        </p:spPr>
        <p:txBody>
          <a:bodyPr>
            <a:spAutoFit/>
          </a:bodyPr>
          <a:lstStyle/>
          <a:p>
            <a:pPr>
              <a:spcBef>
                <a:spcPct val="50000"/>
              </a:spcBef>
            </a:pPr>
            <a:r>
              <a:rPr lang="en-US"/>
              <a:t>1</a:t>
            </a:r>
          </a:p>
        </p:txBody>
      </p:sp>
      <p:sp>
        <p:nvSpPr>
          <p:cNvPr id="1032" name="Text Box 22"/>
          <p:cNvSpPr txBox="1">
            <a:spLocks noChangeArrowheads="1"/>
          </p:cNvSpPr>
          <p:nvPr/>
        </p:nvSpPr>
        <p:spPr bwMode="auto">
          <a:xfrm>
            <a:off x="6654800" y="6019800"/>
            <a:ext cx="304800" cy="457200"/>
          </a:xfrm>
          <a:prstGeom prst="rect">
            <a:avLst/>
          </a:prstGeom>
          <a:noFill/>
          <a:ln w="9525">
            <a:noFill/>
            <a:miter lim="800000"/>
            <a:headEnd/>
            <a:tailEnd/>
          </a:ln>
        </p:spPr>
        <p:txBody>
          <a:bodyPr>
            <a:spAutoFit/>
          </a:bodyPr>
          <a:lstStyle/>
          <a:p>
            <a:pPr>
              <a:spcBef>
                <a:spcPct val="50000"/>
              </a:spcBef>
            </a:pPr>
            <a:r>
              <a:rPr lang="en-US"/>
              <a:t>4</a:t>
            </a:r>
          </a:p>
        </p:txBody>
      </p:sp>
      <p:sp>
        <p:nvSpPr>
          <p:cNvPr id="1033" name="Text Box 23"/>
          <p:cNvSpPr txBox="1">
            <a:spLocks noChangeArrowheads="1"/>
          </p:cNvSpPr>
          <p:nvPr/>
        </p:nvSpPr>
        <p:spPr bwMode="auto">
          <a:xfrm>
            <a:off x="8394700" y="4038600"/>
            <a:ext cx="381000" cy="457200"/>
          </a:xfrm>
          <a:prstGeom prst="rect">
            <a:avLst/>
          </a:prstGeom>
          <a:noFill/>
          <a:ln w="9525">
            <a:noFill/>
            <a:miter lim="800000"/>
            <a:headEnd/>
            <a:tailEnd/>
          </a:ln>
        </p:spPr>
        <p:txBody>
          <a:bodyPr>
            <a:spAutoFit/>
          </a:bodyPr>
          <a:lstStyle/>
          <a:p>
            <a:pPr>
              <a:spcBef>
                <a:spcPct val="50000"/>
              </a:spcBef>
            </a:pPr>
            <a:r>
              <a:rPr lang="en-US"/>
              <a:t>2</a:t>
            </a:r>
          </a:p>
        </p:txBody>
      </p:sp>
      <p:sp>
        <p:nvSpPr>
          <p:cNvPr id="1034" name="Text Box 24"/>
          <p:cNvSpPr txBox="1">
            <a:spLocks noChangeArrowheads="1"/>
          </p:cNvSpPr>
          <p:nvPr/>
        </p:nvSpPr>
        <p:spPr bwMode="auto">
          <a:xfrm>
            <a:off x="7899400" y="6019800"/>
            <a:ext cx="381000" cy="457200"/>
          </a:xfrm>
          <a:prstGeom prst="rect">
            <a:avLst/>
          </a:prstGeom>
          <a:noFill/>
          <a:ln w="9525">
            <a:noFill/>
            <a:miter lim="800000"/>
            <a:headEnd/>
            <a:tailEnd/>
          </a:ln>
        </p:spPr>
        <p:txBody>
          <a:bodyPr>
            <a:spAutoFit/>
          </a:bodyPr>
          <a:lstStyle/>
          <a:p>
            <a:pPr>
              <a:spcBef>
                <a:spcPct val="50000"/>
              </a:spcBef>
            </a:pPr>
            <a:r>
              <a:rPr lang="en-US"/>
              <a:t>3</a:t>
            </a:r>
          </a:p>
        </p:txBody>
      </p:sp>
      <p:sp>
        <p:nvSpPr>
          <p:cNvPr id="9241" name="Text Box 25"/>
          <p:cNvSpPr txBox="1">
            <a:spLocks noChangeArrowheads="1"/>
          </p:cNvSpPr>
          <p:nvPr/>
        </p:nvSpPr>
        <p:spPr bwMode="auto">
          <a:xfrm>
            <a:off x="6629400" y="3581400"/>
            <a:ext cx="304800" cy="457200"/>
          </a:xfrm>
          <a:prstGeom prst="rect">
            <a:avLst/>
          </a:prstGeom>
          <a:noFill/>
          <a:ln w="9525">
            <a:noFill/>
            <a:miter lim="800000"/>
            <a:headEnd/>
            <a:tailEnd/>
          </a:ln>
          <a:effectLst/>
        </p:spPr>
        <p:txBody>
          <a:bodyPr>
            <a:spAutoFit/>
          </a:bodyPr>
          <a:lstStyle/>
          <a:p>
            <a:pPr>
              <a:spcBef>
                <a:spcPct val="50000"/>
              </a:spcBef>
              <a:defRPr/>
            </a:pPr>
            <a:r>
              <a:rPr lang="en-US">
                <a:solidFill>
                  <a:schemeClr val="accent3"/>
                </a:solidFill>
              </a:rPr>
              <a:t>5</a:t>
            </a:r>
          </a:p>
        </p:txBody>
      </p:sp>
      <p:sp>
        <p:nvSpPr>
          <p:cNvPr id="9242" name="Text Box 26"/>
          <p:cNvSpPr txBox="1">
            <a:spLocks noChangeArrowheads="1"/>
          </p:cNvSpPr>
          <p:nvPr/>
        </p:nvSpPr>
        <p:spPr bwMode="auto">
          <a:xfrm>
            <a:off x="8153400" y="3352800"/>
            <a:ext cx="304800" cy="457200"/>
          </a:xfrm>
          <a:prstGeom prst="rect">
            <a:avLst/>
          </a:prstGeom>
          <a:noFill/>
          <a:ln w="9525">
            <a:noFill/>
            <a:miter lim="800000"/>
            <a:headEnd/>
            <a:tailEnd/>
          </a:ln>
          <a:effectLst/>
        </p:spPr>
        <p:txBody>
          <a:bodyPr>
            <a:spAutoFit/>
          </a:bodyPr>
          <a:lstStyle/>
          <a:p>
            <a:pPr>
              <a:spcBef>
                <a:spcPct val="50000"/>
              </a:spcBef>
              <a:defRPr/>
            </a:pPr>
            <a:r>
              <a:rPr lang="en-US">
                <a:solidFill>
                  <a:schemeClr val="accent3"/>
                </a:solidFill>
              </a:rPr>
              <a:t>1</a:t>
            </a:r>
          </a:p>
        </p:txBody>
      </p:sp>
      <p:sp>
        <p:nvSpPr>
          <p:cNvPr id="9243" name="Text Box 27"/>
          <p:cNvSpPr txBox="1">
            <a:spLocks noChangeArrowheads="1"/>
          </p:cNvSpPr>
          <p:nvPr/>
        </p:nvSpPr>
        <p:spPr bwMode="auto">
          <a:xfrm>
            <a:off x="8305800" y="5029200"/>
            <a:ext cx="304800" cy="457200"/>
          </a:xfrm>
          <a:prstGeom prst="rect">
            <a:avLst/>
          </a:prstGeom>
          <a:noFill/>
          <a:ln w="9525">
            <a:noFill/>
            <a:miter lim="800000"/>
            <a:headEnd/>
            <a:tailEnd/>
          </a:ln>
          <a:effectLst/>
        </p:spPr>
        <p:txBody>
          <a:bodyPr>
            <a:spAutoFit/>
          </a:bodyPr>
          <a:lstStyle/>
          <a:p>
            <a:pPr>
              <a:spcBef>
                <a:spcPct val="50000"/>
              </a:spcBef>
              <a:defRPr/>
            </a:pPr>
            <a:r>
              <a:rPr lang="en-US">
                <a:solidFill>
                  <a:schemeClr val="accent3"/>
                </a:solidFill>
              </a:rPr>
              <a:t>4</a:t>
            </a:r>
          </a:p>
        </p:txBody>
      </p:sp>
      <p:sp>
        <p:nvSpPr>
          <p:cNvPr id="9244" name="Text Box 28"/>
          <p:cNvSpPr txBox="1">
            <a:spLocks noChangeArrowheads="1"/>
          </p:cNvSpPr>
          <p:nvPr/>
        </p:nvSpPr>
        <p:spPr bwMode="auto">
          <a:xfrm>
            <a:off x="7162800" y="6172200"/>
            <a:ext cx="381000" cy="457200"/>
          </a:xfrm>
          <a:prstGeom prst="rect">
            <a:avLst/>
          </a:prstGeom>
          <a:noFill/>
          <a:ln w="9525">
            <a:noFill/>
            <a:miter lim="800000"/>
            <a:headEnd/>
            <a:tailEnd/>
          </a:ln>
          <a:effectLst/>
        </p:spPr>
        <p:txBody>
          <a:bodyPr>
            <a:spAutoFit/>
          </a:bodyPr>
          <a:lstStyle/>
          <a:p>
            <a:pPr>
              <a:spcBef>
                <a:spcPct val="50000"/>
              </a:spcBef>
              <a:defRPr/>
            </a:pPr>
            <a:r>
              <a:rPr lang="en-US">
                <a:solidFill>
                  <a:schemeClr val="accent3"/>
                </a:solidFill>
              </a:rPr>
              <a:t>1</a:t>
            </a:r>
          </a:p>
        </p:txBody>
      </p:sp>
      <p:sp>
        <p:nvSpPr>
          <p:cNvPr id="9245" name="Text Box 29"/>
          <p:cNvSpPr txBox="1">
            <a:spLocks noChangeArrowheads="1"/>
          </p:cNvSpPr>
          <p:nvPr/>
        </p:nvSpPr>
        <p:spPr bwMode="auto">
          <a:xfrm>
            <a:off x="6070600" y="5384800"/>
            <a:ext cx="381000" cy="457200"/>
          </a:xfrm>
          <a:prstGeom prst="rect">
            <a:avLst/>
          </a:prstGeom>
          <a:noFill/>
          <a:ln w="9525">
            <a:noFill/>
            <a:miter lim="800000"/>
            <a:headEnd/>
            <a:tailEnd/>
          </a:ln>
          <a:effectLst/>
        </p:spPr>
        <p:txBody>
          <a:bodyPr>
            <a:spAutoFit/>
          </a:bodyPr>
          <a:lstStyle/>
          <a:p>
            <a:pPr>
              <a:spcBef>
                <a:spcPct val="50000"/>
              </a:spcBef>
              <a:defRPr/>
            </a:pPr>
            <a:r>
              <a:rPr lang="en-US">
                <a:solidFill>
                  <a:schemeClr val="accent3"/>
                </a:solidFill>
              </a:rPr>
              <a:t>3</a:t>
            </a:r>
          </a:p>
        </p:txBody>
      </p:sp>
      <p:sp>
        <p:nvSpPr>
          <p:cNvPr id="9246" name="Text Box 30"/>
          <p:cNvSpPr txBox="1">
            <a:spLocks noChangeArrowheads="1"/>
          </p:cNvSpPr>
          <p:nvPr/>
        </p:nvSpPr>
        <p:spPr bwMode="auto">
          <a:xfrm>
            <a:off x="6248400" y="4800600"/>
            <a:ext cx="304800" cy="457200"/>
          </a:xfrm>
          <a:prstGeom prst="rect">
            <a:avLst/>
          </a:prstGeom>
          <a:noFill/>
          <a:ln w="9525">
            <a:noFill/>
            <a:miter lim="800000"/>
            <a:headEnd/>
            <a:tailEnd/>
          </a:ln>
          <a:effectLst/>
        </p:spPr>
        <p:txBody>
          <a:bodyPr>
            <a:spAutoFit/>
          </a:bodyPr>
          <a:lstStyle/>
          <a:p>
            <a:pPr>
              <a:spcBef>
                <a:spcPct val="50000"/>
              </a:spcBef>
              <a:defRPr/>
            </a:pPr>
            <a:r>
              <a:rPr lang="en-US">
                <a:solidFill>
                  <a:schemeClr val="accent3"/>
                </a:solidFill>
              </a:rPr>
              <a:t>2</a:t>
            </a:r>
          </a:p>
        </p:txBody>
      </p:sp>
      <p:sp>
        <p:nvSpPr>
          <p:cNvPr id="9247" name="Text Box 31"/>
          <p:cNvSpPr txBox="1">
            <a:spLocks noChangeArrowheads="1"/>
          </p:cNvSpPr>
          <p:nvPr/>
        </p:nvSpPr>
        <p:spPr bwMode="auto">
          <a:xfrm>
            <a:off x="7239000" y="3810000"/>
            <a:ext cx="381000" cy="457200"/>
          </a:xfrm>
          <a:prstGeom prst="rect">
            <a:avLst/>
          </a:prstGeom>
          <a:noFill/>
          <a:ln w="9525">
            <a:noFill/>
            <a:miter lim="800000"/>
            <a:headEnd/>
            <a:tailEnd/>
          </a:ln>
          <a:effectLst/>
        </p:spPr>
        <p:txBody>
          <a:bodyPr>
            <a:spAutoFit/>
          </a:bodyPr>
          <a:lstStyle/>
          <a:p>
            <a:pPr>
              <a:spcBef>
                <a:spcPct val="50000"/>
              </a:spcBef>
              <a:defRPr/>
            </a:pPr>
            <a:r>
              <a:rPr lang="en-US">
                <a:solidFill>
                  <a:schemeClr val="accent3"/>
                </a:solidFill>
              </a:rPr>
              <a:t>7</a:t>
            </a:r>
          </a:p>
        </p:txBody>
      </p:sp>
      <p:sp>
        <p:nvSpPr>
          <p:cNvPr id="9248" name="Text Box 32"/>
          <p:cNvSpPr txBox="1">
            <a:spLocks noChangeArrowheads="1"/>
          </p:cNvSpPr>
          <p:nvPr/>
        </p:nvSpPr>
        <p:spPr bwMode="auto">
          <a:xfrm>
            <a:off x="6654800" y="4203700"/>
            <a:ext cx="304800" cy="457200"/>
          </a:xfrm>
          <a:prstGeom prst="rect">
            <a:avLst/>
          </a:prstGeom>
          <a:noFill/>
          <a:ln w="9525">
            <a:noFill/>
            <a:miter lim="800000"/>
            <a:headEnd/>
            <a:tailEnd/>
          </a:ln>
          <a:effectLst/>
        </p:spPr>
        <p:txBody>
          <a:bodyPr>
            <a:spAutoFit/>
          </a:bodyPr>
          <a:lstStyle/>
          <a:p>
            <a:pPr>
              <a:spcBef>
                <a:spcPct val="50000"/>
              </a:spcBef>
              <a:defRPr/>
            </a:pPr>
            <a:r>
              <a:rPr lang="en-US">
                <a:solidFill>
                  <a:schemeClr val="accent3"/>
                </a:solidFill>
              </a:rPr>
              <a:t>3</a:t>
            </a:r>
          </a:p>
        </p:txBody>
      </p:sp>
      <p:sp>
        <p:nvSpPr>
          <p:cNvPr id="9249" name="Text Box 33"/>
          <p:cNvSpPr txBox="1">
            <a:spLocks noChangeArrowheads="1"/>
          </p:cNvSpPr>
          <p:nvPr/>
        </p:nvSpPr>
        <p:spPr bwMode="auto">
          <a:xfrm>
            <a:off x="7467600" y="4800600"/>
            <a:ext cx="304800" cy="457200"/>
          </a:xfrm>
          <a:prstGeom prst="rect">
            <a:avLst/>
          </a:prstGeom>
          <a:noFill/>
          <a:ln w="9525">
            <a:noFill/>
            <a:miter lim="800000"/>
            <a:headEnd/>
            <a:tailEnd/>
          </a:ln>
          <a:effectLst/>
        </p:spPr>
        <p:txBody>
          <a:bodyPr>
            <a:spAutoFit/>
          </a:bodyPr>
          <a:lstStyle/>
          <a:p>
            <a:pPr>
              <a:spcBef>
                <a:spcPct val="50000"/>
              </a:spcBef>
              <a:defRPr/>
            </a:pPr>
            <a:r>
              <a:rPr lang="en-US">
                <a:solidFill>
                  <a:schemeClr val="accent3"/>
                </a:solidFill>
              </a:rPr>
              <a:t>4</a:t>
            </a:r>
          </a:p>
        </p:txBody>
      </p:sp>
      <p:sp>
        <p:nvSpPr>
          <p:cNvPr id="9250" name="Text Box 34"/>
          <p:cNvSpPr txBox="1">
            <a:spLocks noChangeArrowheads="1"/>
          </p:cNvSpPr>
          <p:nvPr/>
        </p:nvSpPr>
        <p:spPr bwMode="auto">
          <a:xfrm>
            <a:off x="7848600" y="3581400"/>
            <a:ext cx="304800" cy="457200"/>
          </a:xfrm>
          <a:prstGeom prst="rect">
            <a:avLst/>
          </a:prstGeom>
          <a:noFill/>
          <a:ln w="9525">
            <a:noFill/>
            <a:miter lim="800000"/>
            <a:headEnd/>
            <a:tailEnd/>
          </a:ln>
          <a:effectLst/>
        </p:spPr>
        <p:txBody>
          <a:bodyPr>
            <a:spAutoFit/>
          </a:bodyPr>
          <a:lstStyle/>
          <a:p>
            <a:pPr>
              <a:spcBef>
                <a:spcPct val="50000"/>
              </a:spcBef>
              <a:defRPr/>
            </a:pPr>
            <a:r>
              <a:rPr lang="en-US">
                <a:solidFill>
                  <a:schemeClr val="accent3"/>
                </a:solidFill>
              </a:rPr>
              <a:t>2</a:t>
            </a:r>
          </a:p>
        </p:txBody>
      </p:sp>
      <p:graphicFrame>
        <p:nvGraphicFramePr>
          <p:cNvPr id="1026" name="Object 35"/>
          <p:cNvGraphicFramePr>
            <a:graphicFrameLocks noChangeAspect="1"/>
          </p:cNvGraphicFramePr>
          <p:nvPr/>
        </p:nvGraphicFramePr>
        <p:xfrm>
          <a:off x="539750" y="3644900"/>
          <a:ext cx="4876800" cy="2667000"/>
        </p:xfrm>
        <a:graphic>
          <a:graphicData uri="http://schemas.openxmlformats.org/presentationml/2006/ole">
            <mc:AlternateContent xmlns:mc="http://schemas.openxmlformats.org/markup-compatibility/2006">
              <mc:Choice xmlns:v="urn:schemas-microsoft-com:vml" Requires="v">
                <p:oleObj spid="_x0000_s1027" name="Worksheet" r:id="rId4" imgW="3654360" imgH="1008720" progId="Excel.Sheet.8">
                  <p:embed/>
                </p:oleObj>
              </mc:Choice>
              <mc:Fallback>
                <p:oleObj name="Worksheet" r:id="rId4" imgW="3654360" imgH="1008720" progId="Excel.Sheet.8">
                  <p:embed/>
                  <p:pic>
                    <p:nvPicPr>
                      <p:cNvPr id="0" name="Object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3644900"/>
                        <a:ext cx="48768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042988" y="333375"/>
            <a:ext cx="7874000" cy="6191250"/>
          </a:xfrm>
        </p:spPr>
        <p:txBody>
          <a:bodyPr/>
          <a:lstStyle/>
          <a:p>
            <a:pPr fontAlgn="auto">
              <a:spcAft>
                <a:spcPts val="0"/>
              </a:spcAft>
              <a:defRPr/>
            </a:pPr>
            <a:r>
              <a:rPr lang="bg-BG" dirty="0">
                <a:solidFill>
                  <a:schemeClr val="tx2">
                    <a:satMod val="130000"/>
                  </a:schemeClr>
                </a:solidFill>
              </a:rPr>
              <a:t>	</a:t>
            </a:r>
            <a:r>
              <a:rPr lang="bg-BG" sz="2400" dirty="0">
                <a:solidFill>
                  <a:schemeClr val="tx2">
                    <a:satMod val="130000"/>
                  </a:schemeClr>
                </a:solidFill>
              </a:rPr>
              <a:t>Схемата (или модел), която получихме, се нарича граф или мрежа.</a:t>
            </a:r>
            <a:r>
              <a:rPr lang="bg-BG" sz="800" dirty="0">
                <a:solidFill>
                  <a:schemeClr val="tx2">
                    <a:satMod val="130000"/>
                  </a:schemeClr>
                </a:solidFill>
              </a:rPr>
              <a:t/>
            </a:r>
            <a:br>
              <a:rPr lang="bg-BG" sz="800" dirty="0">
                <a:solidFill>
                  <a:schemeClr val="tx2">
                    <a:satMod val="130000"/>
                  </a:schemeClr>
                </a:solidFill>
              </a:rPr>
            </a:br>
            <a:r>
              <a:rPr lang="bg-BG" sz="800" dirty="0">
                <a:solidFill>
                  <a:schemeClr val="tx2">
                    <a:satMod val="130000"/>
                  </a:schemeClr>
                </a:solidFill>
              </a:rPr>
              <a:t/>
            </a:r>
            <a:br>
              <a:rPr lang="bg-BG" sz="800" dirty="0">
                <a:solidFill>
                  <a:schemeClr val="tx2">
                    <a:satMod val="130000"/>
                  </a:schemeClr>
                </a:solidFill>
              </a:rPr>
            </a:br>
            <a:r>
              <a:rPr lang="bg-BG" sz="2400" dirty="0">
                <a:solidFill>
                  <a:schemeClr val="tx2">
                    <a:satMod val="130000"/>
                  </a:schemeClr>
                </a:solidFill>
              </a:rPr>
              <a:t>	- Какво се търси ( в математическия смисъл)?</a:t>
            </a:r>
            <a:br>
              <a:rPr lang="bg-BG" sz="2400" dirty="0">
                <a:solidFill>
                  <a:schemeClr val="tx2">
                    <a:satMod val="130000"/>
                  </a:schemeClr>
                </a:solidFill>
              </a:rPr>
            </a:br>
            <a:r>
              <a:rPr lang="bg-BG" sz="2400" dirty="0">
                <a:solidFill>
                  <a:schemeClr val="tx2">
                    <a:satMod val="130000"/>
                  </a:schemeClr>
                </a:solidFill>
              </a:rPr>
              <a:t>	В термините на теорията на графите може да се каже, че се търси затворен цикъл, който започва от базов град и има минимална дължина.</a:t>
            </a:r>
            <a:br>
              <a:rPr lang="bg-BG" sz="2400" dirty="0">
                <a:solidFill>
                  <a:schemeClr val="tx2">
                    <a:satMod val="130000"/>
                  </a:schemeClr>
                </a:solidFill>
              </a:rPr>
            </a:br>
            <a:r>
              <a:rPr lang="bg-BG" sz="800" dirty="0">
                <a:solidFill>
                  <a:schemeClr val="tx2">
                    <a:satMod val="130000"/>
                  </a:schemeClr>
                </a:solidFill>
              </a:rPr>
              <a:t/>
            </a:r>
            <a:br>
              <a:rPr lang="bg-BG" sz="800" dirty="0">
                <a:solidFill>
                  <a:schemeClr val="tx2">
                    <a:satMod val="130000"/>
                  </a:schemeClr>
                </a:solidFill>
              </a:rPr>
            </a:br>
            <a:r>
              <a:rPr lang="bg-BG" sz="2400" dirty="0">
                <a:solidFill>
                  <a:schemeClr val="tx2">
                    <a:satMod val="130000"/>
                  </a:schemeClr>
                </a:solidFill>
              </a:rPr>
              <a:t>Например: </a:t>
            </a:r>
            <a:br>
              <a:rPr lang="bg-BG" sz="2400" dirty="0">
                <a:solidFill>
                  <a:schemeClr val="tx2">
                    <a:satMod val="130000"/>
                  </a:schemeClr>
                </a:solidFill>
              </a:rPr>
            </a:br>
            <a:r>
              <a:rPr lang="bg-BG" sz="2400" dirty="0">
                <a:solidFill>
                  <a:schemeClr val="tx2">
                    <a:satMod val="130000"/>
                  </a:schemeClr>
                </a:solidFill>
              </a:rPr>
              <a:t>ако изберем за базов град 1, един от възможните цикли е</a:t>
            </a:r>
            <a:br>
              <a:rPr lang="bg-BG" sz="2400" dirty="0">
                <a:solidFill>
                  <a:schemeClr val="tx2">
                    <a:satMod val="130000"/>
                  </a:schemeClr>
                </a:solidFill>
              </a:rPr>
            </a:br>
            <a:r>
              <a:rPr lang="bg-BG" sz="2400" dirty="0">
                <a:solidFill>
                  <a:schemeClr val="tx2">
                    <a:satMod val="130000"/>
                  </a:schemeClr>
                </a:solidFill>
              </a:rPr>
              <a:t>			 1 – 5 – 3 – 4 – 2 – 1</a:t>
            </a:r>
            <a:br>
              <a:rPr lang="bg-BG" sz="2400" dirty="0">
                <a:solidFill>
                  <a:schemeClr val="tx2">
                    <a:satMod val="130000"/>
                  </a:schemeClr>
                </a:solidFill>
              </a:rPr>
            </a:br>
            <a:r>
              <a:rPr lang="bg-BG" sz="2400" dirty="0">
                <a:solidFill>
                  <a:schemeClr val="tx2">
                    <a:satMod val="130000"/>
                  </a:schemeClr>
                </a:solidFill>
              </a:rPr>
              <a:t>цената му е                    </a:t>
            </a:r>
            <a:r>
              <a:rPr lang="en-US" sz="2400" dirty="0" smtClean="0">
                <a:solidFill>
                  <a:schemeClr val="tx2">
                    <a:satMod val="130000"/>
                  </a:schemeClr>
                </a:solidFill>
              </a:rPr>
              <a:t>   </a:t>
            </a:r>
            <a:r>
              <a:rPr lang="bg-BG" sz="2400" dirty="0" smtClean="0">
                <a:solidFill>
                  <a:srgbClr val="FF0000"/>
                </a:solidFill>
              </a:rPr>
              <a:t>5 </a:t>
            </a:r>
            <a:r>
              <a:rPr lang="bg-BG" sz="2400" dirty="0">
                <a:solidFill>
                  <a:srgbClr val="FF0000"/>
                </a:solidFill>
              </a:rPr>
              <a:t>+ 2 + 1 + 4 + 1 </a:t>
            </a:r>
            <a:r>
              <a:rPr lang="bg-BG" sz="2400" dirty="0">
                <a:solidFill>
                  <a:schemeClr val="tx2">
                    <a:satMod val="130000"/>
                  </a:schemeClr>
                </a:solidFill>
              </a:rPr>
              <a:t>= 13   - дали е   </a:t>
            </a:r>
            <a:r>
              <a:rPr lang="en-US" sz="2400" dirty="0">
                <a:solidFill>
                  <a:schemeClr val="tx2">
                    <a:satMod val="130000"/>
                  </a:schemeClr>
                </a:solidFill>
              </a:rPr>
              <a:t>MIN?</a:t>
            </a:r>
            <a:r>
              <a:rPr lang="bg-BG" sz="2400" dirty="0">
                <a:solidFill>
                  <a:schemeClr val="tx2">
                    <a:satMod val="130000"/>
                  </a:schemeClr>
                </a:solidFill>
              </a:rPr>
              <a:t> </a:t>
            </a:r>
            <a:r>
              <a:rPr lang="en-US" sz="2400" dirty="0" smtClean="0">
                <a:solidFill>
                  <a:schemeClr val="tx2">
                    <a:satMod val="130000"/>
                  </a:schemeClr>
                </a:solidFill>
              </a:rPr>
              <a:t/>
            </a:r>
            <a:br>
              <a:rPr lang="en-US" sz="2400" dirty="0" smtClean="0">
                <a:solidFill>
                  <a:schemeClr val="tx2">
                    <a:satMod val="130000"/>
                  </a:schemeClr>
                </a:solidFill>
              </a:rPr>
            </a:br>
            <a:r>
              <a:rPr lang="bg-BG" sz="2400" dirty="0" smtClean="0">
                <a:solidFill>
                  <a:schemeClr val="tx2">
                    <a:satMod val="130000"/>
                  </a:schemeClr>
                </a:solidFill>
              </a:rPr>
              <a:t>  </a:t>
            </a:r>
            <a:r>
              <a:rPr lang="bg-BG" sz="2400" dirty="0">
                <a:solidFill>
                  <a:schemeClr val="tx2">
                    <a:satMod val="130000"/>
                  </a:schemeClr>
                </a:solidFill>
              </a:rPr>
              <a:t/>
            </a:r>
            <a:br>
              <a:rPr lang="bg-BG" sz="2400" dirty="0">
                <a:solidFill>
                  <a:schemeClr val="tx2">
                    <a:satMod val="130000"/>
                  </a:schemeClr>
                </a:solidFill>
              </a:rPr>
            </a:br>
            <a:r>
              <a:rPr lang="bg-BG" sz="2400" dirty="0">
                <a:solidFill>
                  <a:schemeClr val="tx2">
                    <a:satMod val="130000"/>
                  </a:schemeClr>
                </a:solidFill>
              </a:rPr>
              <a:t>Това е класически пример на задача, която</a:t>
            </a:r>
            <a:br>
              <a:rPr lang="bg-BG" sz="2400" dirty="0">
                <a:solidFill>
                  <a:schemeClr val="tx2">
                    <a:satMod val="130000"/>
                  </a:schemeClr>
                </a:solidFill>
              </a:rPr>
            </a:br>
            <a:r>
              <a:rPr lang="bg-BG" sz="2400" dirty="0">
                <a:solidFill>
                  <a:schemeClr val="tx2">
                    <a:satMod val="130000"/>
                  </a:schemeClr>
                </a:solidFill>
              </a:rPr>
              <a:t> - лесно се формулира</a:t>
            </a:r>
            <a:br>
              <a:rPr lang="bg-BG" sz="2400" dirty="0">
                <a:solidFill>
                  <a:schemeClr val="tx2">
                    <a:satMod val="130000"/>
                  </a:schemeClr>
                </a:solidFill>
              </a:rPr>
            </a:br>
            <a:r>
              <a:rPr lang="bg-BG" sz="2400" dirty="0">
                <a:solidFill>
                  <a:schemeClr val="tx2">
                    <a:satMod val="130000"/>
                  </a:schemeClr>
                </a:solidFill>
              </a:rPr>
              <a:t> - лесно се моделира</a:t>
            </a:r>
            <a:br>
              <a:rPr lang="bg-BG" sz="2400" dirty="0">
                <a:solidFill>
                  <a:schemeClr val="tx2">
                    <a:satMod val="130000"/>
                  </a:schemeClr>
                </a:solidFill>
              </a:rPr>
            </a:br>
            <a:r>
              <a:rPr lang="bg-BG" sz="2400" dirty="0">
                <a:solidFill>
                  <a:schemeClr val="tx2">
                    <a:satMod val="130000"/>
                  </a:schemeClr>
                </a:solidFill>
              </a:rPr>
              <a:t> - но трудно се решава!           </a:t>
            </a:r>
            <a:endParaRPr lang="en-US" sz="2400" dirty="0">
              <a:solidFill>
                <a:schemeClr val="tx2">
                  <a:satMod val="13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116013" y="549275"/>
            <a:ext cx="8027987" cy="6048375"/>
          </a:xfrm>
        </p:spPr>
        <p:txBody>
          <a:bodyPr>
            <a:normAutofit fontScale="90000"/>
          </a:bodyPr>
          <a:lstStyle/>
          <a:p>
            <a:pPr fontAlgn="auto">
              <a:spcAft>
                <a:spcPts val="0"/>
              </a:spcAft>
              <a:defRPr/>
            </a:pPr>
            <a:r>
              <a:rPr lang="bg-BG" sz="3200">
                <a:solidFill>
                  <a:schemeClr val="tx2">
                    <a:satMod val="130000"/>
                  </a:schemeClr>
                </a:solidFill>
              </a:rPr>
              <a:t>       </a:t>
            </a:r>
            <a:r>
              <a:rPr lang="en-US" sz="3200">
                <a:solidFill>
                  <a:schemeClr val="tx2">
                    <a:satMod val="130000"/>
                  </a:schemeClr>
                </a:solidFill>
              </a:rPr>
              <a:t>III</a:t>
            </a:r>
            <a:r>
              <a:rPr lang="bg-BG" sz="3200">
                <a:solidFill>
                  <a:schemeClr val="tx2">
                    <a:satMod val="130000"/>
                  </a:schemeClr>
                </a:solidFill>
              </a:rPr>
              <a:t>. Разработване на алгоритъма</a:t>
            </a:r>
            <a:br>
              <a:rPr lang="bg-BG" sz="3200">
                <a:solidFill>
                  <a:schemeClr val="tx2">
                    <a:satMod val="130000"/>
                  </a:schemeClr>
                </a:solidFill>
              </a:rPr>
            </a:br>
            <a:r>
              <a:rPr lang="bg-BG" sz="3200">
                <a:solidFill>
                  <a:schemeClr val="tx2">
                    <a:satMod val="130000"/>
                  </a:schemeClr>
                </a:solidFill>
              </a:rPr>
              <a:t>	</a:t>
            </a:r>
            <a:r>
              <a:rPr lang="bg-BG" sz="2400">
                <a:solidFill>
                  <a:schemeClr val="tx2">
                    <a:satMod val="130000"/>
                  </a:schemeClr>
                </a:solidFill>
              </a:rPr>
              <a:t>Алгоритъмът зависи от метода</a:t>
            </a:r>
            <a:r>
              <a:rPr lang="bg-BG" sz="3200">
                <a:solidFill>
                  <a:schemeClr val="tx2">
                    <a:satMod val="130000"/>
                  </a:schemeClr>
                </a:solidFill>
              </a:rPr>
              <a:t> </a:t>
            </a:r>
            <a:r>
              <a:rPr lang="bg-BG" sz="2400">
                <a:solidFill>
                  <a:schemeClr val="tx2">
                    <a:satMod val="130000"/>
                  </a:schemeClr>
                </a:solidFill>
              </a:rPr>
              <a:t>за разработване, който, от своя страна, зависи от избрания модел.</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По различни методи могат да се разработят много алгоритми, всеки от които ще има своя собствена ефективност.</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Към примера:</a:t>
            </a:r>
            <a:br>
              <a:rPr lang="bg-BG" sz="2400">
                <a:solidFill>
                  <a:schemeClr val="tx2">
                    <a:satMod val="130000"/>
                  </a:schemeClr>
                </a:solidFill>
              </a:rPr>
            </a:br>
            <a:r>
              <a:rPr lang="bg-BG" sz="2400">
                <a:solidFill>
                  <a:schemeClr val="tx2">
                    <a:satMod val="130000"/>
                  </a:schemeClr>
                </a:solidFill>
              </a:rPr>
              <a:t>	Градовете са номерирани с цели числа от 1 до </a:t>
            </a:r>
            <a:r>
              <a:rPr lang="en-US" sz="2400" b="1">
                <a:solidFill>
                  <a:schemeClr val="tx2">
                    <a:satMod val="130000"/>
                  </a:schemeClr>
                </a:solidFill>
              </a:rPr>
              <a:t>n</a:t>
            </a:r>
            <a:r>
              <a:rPr lang="bg-BG" sz="2400">
                <a:solidFill>
                  <a:schemeClr val="tx2">
                    <a:satMod val="130000"/>
                  </a:schemeClr>
                </a:solidFill>
              </a:rPr>
              <a:t>. Да приемем, че базовия град е с номер</a:t>
            </a:r>
            <a:r>
              <a:rPr lang="en-US" sz="2400">
                <a:solidFill>
                  <a:schemeClr val="tx2">
                    <a:satMod val="130000"/>
                  </a:schemeClr>
                </a:solidFill>
              </a:rPr>
              <a:t> </a:t>
            </a:r>
            <a:r>
              <a:rPr lang="en-US" sz="2400" b="1">
                <a:solidFill>
                  <a:schemeClr val="tx2">
                    <a:satMod val="130000"/>
                  </a:schemeClr>
                </a:solidFill>
              </a:rPr>
              <a:t>n</a:t>
            </a:r>
            <a:r>
              <a:rPr lang="bg-BG" sz="2400">
                <a:solidFill>
                  <a:schemeClr val="tx2">
                    <a:satMod val="130000"/>
                  </a:schemeClr>
                </a:solidFill>
              </a:rPr>
              <a:t>. Тогава всеки маршрут ще съответства на определено подреждане на числата от 1 до </a:t>
            </a:r>
            <a:r>
              <a:rPr lang="en-US" sz="2400" b="1">
                <a:solidFill>
                  <a:schemeClr val="tx2">
                    <a:satMod val="130000"/>
                  </a:schemeClr>
                </a:solidFill>
              </a:rPr>
              <a:t>n</a:t>
            </a:r>
            <a:r>
              <a:rPr lang="bg-BG" sz="2400">
                <a:solidFill>
                  <a:schemeClr val="tx2">
                    <a:satMod val="130000"/>
                  </a:schemeClr>
                </a:solidFill>
              </a:rPr>
              <a:t>-1</a:t>
            </a:r>
            <a:r>
              <a:rPr lang="bg-BG" sz="2400" b="1">
                <a:solidFill>
                  <a:schemeClr val="tx2">
                    <a:satMod val="130000"/>
                  </a:schemeClr>
                </a:solidFill>
              </a:rPr>
              <a:t>. </a:t>
            </a:r>
            <a:br>
              <a:rPr lang="bg-BG" sz="2400" b="1">
                <a:solidFill>
                  <a:schemeClr val="tx2">
                    <a:satMod val="130000"/>
                  </a:schemeClr>
                </a:solidFill>
              </a:rPr>
            </a:br>
            <a:r>
              <a:rPr lang="bg-BG" sz="2400" b="1">
                <a:solidFill>
                  <a:schemeClr val="tx2">
                    <a:satMod val="130000"/>
                  </a:schemeClr>
                </a:solidFill>
              </a:rPr>
              <a:t>	</a:t>
            </a:r>
            <a:r>
              <a:rPr lang="bg-BG" sz="2400">
                <a:solidFill>
                  <a:schemeClr val="tx2">
                    <a:satMod val="130000"/>
                  </a:schemeClr>
                </a:solidFill>
              </a:rPr>
              <a:t>На всеки маршрут ще съответства определена комбинация-подреждане</a:t>
            </a:r>
            <a:r>
              <a:rPr lang="bg-BG" sz="2400" b="1">
                <a:solidFill>
                  <a:schemeClr val="tx2">
                    <a:satMod val="130000"/>
                  </a:schemeClr>
                </a:solidFill>
              </a:rPr>
              <a:t> </a:t>
            </a:r>
            <a:r>
              <a:rPr lang="bg-BG" sz="2400">
                <a:solidFill>
                  <a:schemeClr val="tx2">
                    <a:satMod val="130000"/>
                  </a:schemeClr>
                </a:solidFill>
              </a:rPr>
              <a:t>и</a:t>
            </a:r>
            <a:r>
              <a:rPr lang="bg-BG" sz="2400" b="1">
                <a:solidFill>
                  <a:schemeClr val="tx2">
                    <a:satMod val="130000"/>
                  </a:schemeClr>
                </a:solidFill>
              </a:rPr>
              <a:t> </a:t>
            </a:r>
            <a:r>
              <a:rPr lang="bg-BG" sz="2400">
                <a:solidFill>
                  <a:schemeClr val="tx2">
                    <a:satMod val="130000"/>
                  </a:schemeClr>
                </a:solidFill>
              </a:rPr>
              <a:t>на всяко подреждане –</a:t>
            </a:r>
            <a:r>
              <a:rPr lang="bg-BG" sz="2400" b="1">
                <a:solidFill>
                  <a:schemeClr val="tx2">
                    <a:satMod val="130000"/>
                  </a:schemeClr>
                </a:solidFill>
              </a:rPr>
              <a:t> </a:t>
            </a:r>
            <a:r>
              <a:rPr lang="bg-BG" sz="2400">
                <a:solidFill>
                  <a:schemeClr val="tx2">
                    <a:satMod val="130000"/>
                  </a:schemeClr>
                </a:solidFill>
              </a:rPr>
              <a:t>определен маршрут. На лице е взаимно еднозначно съответствие.</a:t>
            </a:r>
            <a:br>
              <a:rPr lang="bg-BG" sz="2400">
                <a:solidFill>
                  <a:schemeClr val="tx2">
                    <a:satMod val="130000"/>
                  </a:schemeClr>
                </a:solidFill>
              </a:rPr>
            </a:br>
            <a:r>
              <a:rPr lang="bg-BG" sz="2400">
                <a:solidFill>
                  <a:schemeClr val="tx2">
                    <a:satMod val="130000"/>
                  </a:schemeClr>
                </a:solidFill>
              </a:rPr>
              <a:t>	Очевидно е, че за всяко подреждане може да се проследи по модела съответния маршрут и да се определи цената му.</a:t>
            </a:r>
            <a:br>
              <a:rPr lang="bg-BG" sz="2400">
                <a:solidFill>
                  <a:schemeClr val="tx2">
                    <a:satMod val="130000"/>
                  </a:schemeClr>
                </a:solidFill>
              </a:rPr>
            </a:br>
            <a:endParaRPr lang="en-US" sz="2400">
              <a:solidFill>
                <a:schemeClr val="tx2">
                  <a:satMod val="13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43608" y="260648"/>
            <a:ext cx="7848426" cy="6264275"/>
          </a:xfrm>
        </p:spPr>
        <p:txBody>
          <a:bodyPr>
            <a:normAutofit fontScale="90000"/>
          </a:bodyPr>
          <a:lstStyle/>
          <a:p>
            <a:pPr fontAlgn="auto">
              <a:spcAft>
                <a:spcPts val="0"/>
              </a:spcAft>
              <a:defRPr/>
            </a:pPr>
            <a:r>
              <a:rPr lang="bg-BG" sz="2400" u="sng" dirty="0">
                <a:solidFill>
                  <a:schemeClr val="tx2">
                    <a:satMod val="130000"/>
                  </a:schemeClr>
                </a:solidFill>
              </a:rPr>
              <a:t>Алгоритъм</a:t>
            </a:r>
            <a:r>
              <a:rPr lang="bg-BG" sz="2400" dirty="0">
                <a:solidFill>
                  <a:schemeClr val="tx2">
                    <a:satMod val="130000"/>
                  </a:schemeClr>
                </a:solidFill>
              </a:rPr>
              <a:t>:</a:t>
            </a:r>
            <a:br>
              <a:rPr lang="bg-BG" sz="2400" dirty="0">
                <a:solidFill>
                  <a:schemeClr val="tx2">
                    <a:satMod val="130000"/>
                  </a:schemeClr>
                </a:solidFill>
              </a:rPr>
            </a:br>
            <a:r>
              <a:rPr lang="bg-BG" sz="2000" dirty="0">
                <a:solidFill>
                  <a:schemeClr val="tx2">
                    <a:satMod val="130000"/>
                  </a:schemeClr>
                </a:solidFill>
              </a:rPr>
              <a:t>Образуване на всички пермутации от първите </a:t>
            </a:r>
            <a:r>
              <a:rPr lang="en-US" sz="2000" b="1" dirty="0">
                <a:solidFill>
                  <a:schemeClr val="tx2">
                    <a:satMod val="130000"/>
                  </a:schemeClr>
                </a:solidFill>
              </a:rPr>
              <a:t>n</a:t>
            </a:r>
            <a:r>
              <a:rPr lang="bg-BG" sz="2000" dirty="0">
                <a:solidFill>
                  <a:schemeClr val="tx2">
                    <a:satMod val="130000"/>
                  </a:schemeClr>
                </a:solidFill>
              </a:rPr>
              <a:t>-1 цели положителни числа. За всяка пермутация се определя съответстващия й маршрут и цената му. Търсене на най-малката цена.</a:t>
            </a:r>
            <a:r>
              <a:rPr lang="bg-BG" sz="2400" dirty="0">
                <a:solidFill>
                  <a:schemeClr val="tx2">
                    <a:satMod val="130000"/>
                  </a:schemeClr>
                </a:solidFill>
              </a:rPr>
              <a:t> </a:t>
            </a:r>
            <a:br>
              <a:rPr lang="bg-BG" sz="2400" dirty="0">
                <a:solidFill>
                  <a:schemeClr val="tx2">
                    <a:satMod val="130000"/>
                  </a:schemeClr>
                </a:solidFill>
              </a:rPr>
            </a:br>
            <a:r>
              <a:rPr lang="bg-BG" sz="1000" dirty="0">
                <a:solidFill>
                  <a:schemeClr val="tx2">
                    <a:satMod val="130000"/>
                  </a:schemeClr>
                </a:solidFill>
              </a:rPr>
              <a:t/>
            </a:r>
            <a:br>
              <a:rPr lang="bg-BG" sz="1000" dirty="0">
                <a:solidFill>
                  <a:schemeClr val="tx2">
                    <a:satMod val="130000"/>
                  </a:schemeClr>
                </a:solidFill>
              </a:rPr>
            </a:br>
            <a:r>
              <a:rPr lang="bg-BG" sz="2000" dirty="0">
                <a:solidFill>
                  <a:schemeClr val="tx2">
                    <a:satMod val="130000"/>
                  </a:schemeClr>
                </a:solidFill>
              </a:rPr>
              <a:t>Входни данни: 	- брой градове </a:t>
            </a:r>
            <a:r>
              <a:rPr lang="en-US" sz="2000" b="1" dirty="0">
                <a:solidFill>
                  <a:schemeClr val="tx2">
                    <a:satMod val="130000"/>
                  </a:schemeClr>
                </a:solidFill>
              </a:rPr>
              <a:t>n</a:t>
            </a:r>
            <a:r>
              <a:rPr lang="en-US" sz="2000" dirty="0">
                <a:solidFill>
                  <a:schemeClr val="tx2">
                    <a:satMod val="130000"/>
                  </a:schemeClr>
                </a:solidFill>
              </a:rPr>
              <a:t/>
            </a:r>
            <a:br>
              <a:rPr lang="en-US" sz="2000" dirty="0">
                <a:solidFill>
                  <a:schemeClr val="tx2">
                    <a:satMod val="130000"/>
                  </a:schemeClr>
                </a:solidFill>
              </a:rPr>
            </a:br>
            <a:r>
              <a:rPr lang="en-US" sz="2000" dirty="0">
                <a:solidFill>
                  <a:schemeClr val="tx2">
                    <a:satMod val="130000"/>
                  </a:schemeClr>
                </a:solidFill>
              </a:rPr>
              <a:t>		- </a:t>
            </a:r>
            <a:r>
              <a:rPr lang="bg-BG" sz="2000" dirty="0">
                <a:solidFill>
                  <a:schemeClr val="tx2">
                    <a:satMod val="130000"/>
                  </a:schemeClr>
                </a:solidFill>
              </a:rPr>
              <a:t>ценова матрица </a:t>
            </a:r>
            <a:r>
              <a:rPr lang="bg-BG" sz="2000" b="1" dirty="0">
                <a:solidFill>
                  <a:schemeClr val="tx2">
                    <a:satMod val="130000"/>
                  </a:schemeClr>
                </a:solidFill>
              </a:rPr>
              <a:t>С</a:t>
            </a:r>
            <a:r>
              <a:rPr lang="bg-BG" sz="2000" dirty="0">
                <a:solidFill>
                  <a:schemeClr val="tx2">
                    <a:satMod val="130000"/>
                  </a:schemeClr>
                </a:solidFill>
              </a:rPr>
              <a:t>(</a:t>
            </a:r>
            <a:r>
              <a:rPr lang="en-US" sz="2000" b="1" dirty="0" err="1">
                <a:solidFill>
                  <a:schemeClr val="tx2">
                    <a:satMod val="130000"/>
                  </a:schemeClr>
                </a:solidFill>
              </a:rPr>
              <a:t>n</a:t>
            </a:r>
            <a:r>
              <a:rPr lang="en-US" sz="2000" dirty="0" err="1">
                <a:solidFill>
                  <a:schemeClr val="tx2">
                    <a:satMod val="130000"/>
                  </a:schemeClr>
                </a:solidFill>
              </a:rPr>
              <a:t>,</a:t>
            </a:r>
            <a:r>
              <a:rPr lang="en-US" sz="2000" b="1" dirty="0" err="1">
                <a:solidFill>
                  <a:schemeClr val="tx2">
                    <a:satMod val="130000"/>
                  </a:schemeClr>
                </a:solidFill>
              </a:rPr>
              <a:t>n</a:t>
            </a:r>
            <a:r>
              <a:rPr lang="en-US" sz="2000" dirty="0">
                <a:solidFill>
                  <a:schemeClr val="tx2">
                    <a:satMod val="130000"/>
                  </a:schemeClr>
                </a:solidFill>
              </a:rPr>
              <a:t>)</a:t>
            </a:r>
            <a:r>
              <a:rPr lang="bg-BG" sz="2000" dirty="0">
                <a:solidFill>
                  <a:schemeClr val="tx2">
                    <a:satMod val="130000"/>
                  </a:schemeClr>
                </a:solidFill>
              </a:rPr>
              <a:t/>
            </a:r>
            <a:br>
              <a:rPr lang="bg-BG" sz="2000" dirty="0">
                <a:solidFill>
                  <a:schemeClr val="tx2">
                    <a:satMod val="130000"/>
                  </a:schemeClr>
                </a:solidFill>
              </a:rPr>
            </a:br>
            <a:r>
              <a:rPr lang="bg-BG" sz="2000" dirty="0">
                <a:solidFill>
                  <a:schemeClr val="tx2">
                    <a:satMod val="130000"/>
                  </a:schemeClr>
                </a:solidFill>
              </a:rPr>
              <a:t/>
            </a:r>
            <a:br>
              <a:rPr lang="bg-BG" sz="2000" dirty="0">
                <a:solidFill>
                  <a:schemeClr val="tx2">
                    <a:satMod val="130000"/>
                  </a:schemeClr>
                </a:solidFill>
              </a:rPr>
            </a:br>
            <a:r>
              <a:rPr lang="bg-BG" sz="2000" dirty="0">
                <a:solidFill>
                  <a:schemeClr val="tx2">
                    <a:satMod val="130000"/>
                  </a:schemeClr>
                </a:solidFill>
              </a:rPr>
              <a:t>Стъпка:</a:t>
            </a:r>
            <a:br>
              <a:rPr lang="bg-BG" sz="2000" dirty="0">
                <a:solidFill>
                  <a:schemeClr val="tx2">
                    <a:satMod val="130000"/>
                  </a:schemeClr>
                </a:solidFill>
              </a:rPr>
            </a:br>
            <a:r>
              <a:rPr lang="bg-BG" sz="2000" dirty="0">
                <a:solidFill>
                  <a:schemeClr val="tx2">
                    <a:satMod val="130000"/>
                  </a:schemeClr>
                </a:solidFill>
              </a:rPr>
              <a:t>  0 (инициализация)                              </a:t>
            </a:r>
            <a:r>
              <a:rPr lang="en-US" sz="2000" dirty="0">
                <a:solidFill>
                  <a:schemeClr val="tx2">
                    <a:satMod val="130000"/>
                  </a:schemeClr>
                </a:solidFill>
              </a:rPr>
              <a:t>LIST = 0;  MIN = </a:t>
            </a:r>
            <a:r>
              <a:rPr lang="en-US" sz="2800" dirty="0">
                <a:solidFill>
                  <a:schemeClr val="tx2">
                    <a:satMod val="130000"/>
                  </a:schemeClr>
                </a:solidFill>
                <a:sym typeface="Symbol" pitchFamily="18" charset="2"/>
              </a:rPr>
              <a:t></a:t>
            </a:r>
            <a:r>
              <a:rPr lang="bg-BG" sz="2000" dirty="0">
                <a:solidFill>
                  <a:schemeClr val="tx2">
                    <a:satMod val="130000"/>
                  </a:schemeClr>
                </a:solidFill>
              </a:rPr>
              <a:t/>
            </a:r>
            <a:br>
              <a:rPr lang="bg-BG" sz="2000" dirty="0">
                <a:solidFill>
                  <a:schemeClr val="tx2">
                    <a:satMod val="130000"/>
                  </a:schemeClr>
                </a:solidFill>
              </a:rPr>
            </a:br>
            <a:r>
              <a:rPr lang="bg-BG" sz="2000" dirty="0">
                <a:solidFill>
                  <a:schemeClr val="tx2">
                    <a:satMod val="130000"/>
                  </a:schemeClr>
                </a:solidFill>
              </a:rPr>
              <a:t>  1 (образуване на пермутациите)</a:t>
            </a:r>
            <a:r>
              <a:rPr lang="en-US" sz="2000" dirty="0">
                <a:solidFill>
                  <a:schemeClr val="tx2">
                    <a:satMod val="130000"/>
                  </a:schemeClr>
                </a:solidFill>
              </a:rPr>
              <a:t>   </a:t>
            </a:r>
            <a:r>
              <a:rPr lang="bg-BG" sz="2000" dirty="0">
                <a:solidFill>
                  <a:schemeClr val="tx2">
                    <a:satMod val="130000"/>
                  </a:schemeClr>
                </a:solidFill>
              </a:rPr>
              <a:t>    За </a:t>
            </a:r>
            <a:r>
              <a:rPr lang="en-US" sz="2000" b="1" dirty="0" err="1">
                <a:solidFill>
                  <a:schemeClr val="tx2">
                    <a:satMod val="130000"/>
                  </a:schemeClr>
                </a:solidFill>
              </a:rPr>
              <a:t>i</a:t>
            </a:r>
            <a:r>
              <a:rPr lang="en-US" sz="2000" dirty="0">
                <a:solidFill>
                  <a:schemeClr val="tx2">
                    <a:satMod val="130000"/>
                  </a:schemeClr>
                </a:solidFill>
              </a:rPr>
              <a:t> </a:t>
            </a:r>
            <a:r>
              <a:rPr lang="bg-BG" sz="2000" dirty="0">
                <a:solidFill>
                  <a:schemeClr val="tx2">
                    <a:satMod val="130000"/>
                  </a:schemeClr>
                </a:solidFill>
              </a:rPr>
              <a:t>от 1 до </a:t>
            </a:r>
            <a:r>
              <a:rPr lang="en-US" sz="2000" b="1" dirty="0">
                <a:solidFill>
                  <a:schemeClr val="tx2">
                    <a:satMod val="130000"/>
                  </a:schemeClr>
                </a:solidFill>
              </a:rPr>
              <a:t>n</a:t>
            </a:r>
            <a:r>
              <a:rPr lang="en-US" sz="2000" dirty="0">
                <a:solidFill>
                  <a:schemeClr val="tx2">
                    <a:satMod val="130000"/>
                  </a:schemeClr>
                </a:solidFill>
              </a:rPr>
              <a:t>-1</a:t>
            </a:r>
            <a:r>
              <a:rPr lang="bg-BG" sz="2000" dirty="0">
                <a:solidFill>
                  <a:schemeClr val="tx2">
                    <a:satMod val="130000"/>
                  </a:schemeClr>
                </a:solidFill>
              </a:rPr>
              <a:t/>
            </a:r>
            <a:br>
              <a:rPr lang="bg-BG" sz="2000" dirty="0">
                <a:solidFill>
                  <a:schemeClr val="tx2">
                    <a:satMod val="130000"/>
                  </a:schemeClr>
                </a:solidFill>
              </a:rPr>
            </a:br>
            <a:r>
              <a:rPr lang="en-US" sz="2000" dirty="0">
                <a:solidFill>
                  <a:schemeClr val="tx2">
                    <a:satMod val="130000"/>
                  </a:schemeClr>
                </a:solidFill>
              </a:rPr>
              <a:t>			</a:t>
            </a:r>
            <a:r>
              <a:rPr lang="bg-BG" sz="2000" dirty="0">
                <a:solidFill>
                  <a:schemeClr val="tx2">
                    <a:satMod val="130000"/>
                  </a:schemeClr>
                </a:solidFill>
              </a:rPr>
              <a:t>                          повтаряй стъпки от 2 до 4;</a:t>
            </a:r>
            <a:br>
              <a:rPr lang="bg-BG" sz="2000" dirty="0">
                <a:solidFill>
                  <a:schemeClr val="tx2">
                    <a:satMod val="130000"/>
                  </a:schemeClr>
                </a:solidFill>
              </a:rPr>
            </a:br>
            <a:r>
              <a:rPr lang="bg-BG" sz="2000" dirty="0">
                <a:solidFill>
                  <a:schemeClr val="tx2">
                    <a:satMod val="130000"/>
                  </a:schemeClr>
                </a:solidFill>
              </a:rPr>
              <a:t>			                     край;</a:t>
            </a:r>
            <a:r>
              <a:rPr lang="en-US" sz="2000" dirty="0">
                <a:solidFill>
                  <a:schemeClr val="tx2">
                    <a:satMod val="130000"/>
                  </a:schemeClr>
                </a:solidFill>
              </a:rPr>
              <a:t/>
            </a:r>
            <a:br>
              <a:rPr lang="en-US" sz="2000" dirty="0">
                <a:solidFill>
                  <a:schemeClr val="tx2">
                    <a:satMod val="130000"/>
                  </a:schemeClr>
                </a:solidFill>
              </a:rPr>
            </a:br>
            <a:r>
              <a:rPr lang="bg-BG" sz="2000" dirty="0">
                <a:solidFill>
                  <a:schemeClr val="tx2">
                    <a:satMod val="130000"/>
                  </a:schemeClr>
                </a:solidFill>
              </a:rPr>
              <a:t>  2 (образуване на нова пермутация)   Получаване и запомняне на </a:t>
            </a:r>
            <a:r>
              <a:rPr lang="en-US" sz="2000" b="1" dirty="0" err="1">
                <a:solidFill>
                  <a:schemeClr val="tx2">
                    <a:satMod val="130000"/>
                  </a:schemeClr>
                </a:solidFill>
              </a:rPr>
              <a:t>i</a:t>
            </a:r>
            <a:r>
              <a:rPr lang="bg-BG" sz="2000" dirty="0">
                <a:solidFill>
                  <a:schemeClr val="tx2">
                    <a:satMod val="130000"/>
                  </a:schemeClr>
                </a:solidFill>
              </a:rPr>
              <a:t>-та пермутация</a:t>
            </a:r>
            <a:br>
              <a:rPr lang="bg-BG" sz="2000" dirty="0">
                <a:solidFill>
                  <a:schemeClr val="tx2">
                    <a:satMod val="130000"/>
                  </a:schemeClr>
                </a:solidFill>
              </a:rPr>
            </a:br>
            <a:r>
              <a:rPr lang="bg-BG" sz="2000" dirty="0">
                <a:solidFill>
                  <a:schemeClr val="tx2">
                    <a:satMod val="130000"/>
                  </a:schemeClr>
                </a:solidFill>
              </a:rPr>
              <a:t>				       на числата 1, 2, ..., </a:t>
            </a:r>
            <a:r>
              <a:rPr lang="en-US" sz="2000" b="1" dirty="0">
                <a:solidFill>
                  <a:schemeClr val="tx2">
                    <a:satMod val="130000"/>
                  </a:schemeClr>
                </a:solidFill>
              </a:rPr>
              <a:t>n</a:t>
            </a:r>
            <a:r>
              <a:rPr lang="en-US" sz="2000" dirty="0">
                <a:solidFill>
                  <a:schemeClr val="tx2">
                    <a:satMod val="130000"/>
                  </a:schemeClr>
                </a:solidFill>
              </a:rPr>
              <a:t>-1</a:t>
            </a:r>
            <a:r>
              <a:rPr lang="bg-BG" sz="2000" dirty="0">
                <a:solidFill>
                  <a:schemeClr val="tx2">
                    <a:satMod val="130000"/>
                  </a:schemeClr>
                </a:solidFill>
              </a:rPr>
              <a:t>;</a:t>
            </a:r>
            <a:br>
              <a:rPr lang="bg-BG" sz="2000" dirty="0">
                <a:solidFill>
                  <a:schemeClr val="tx2">
                    <a:satMod val="130000"/>
                  </a:schemeClr>
                </a:solidFill>
              </a:rPr>
            </a:br>
            <a:r>
              <a:rPr lang="bg-BG" sz="2000" dirty="0">
                <a:solidFill>
                  <a:schemeClr val="tx2">
                    <a:satMod val="130000"/>
                  </a:schemeClr>
                </a:solidFill>
              </a:rPr>
              <a:t>				       </a:t>
            </a:r>
            <a:r>
              <a:rPr lang="bg-BG" sz="2000" b="1" dirty="0">
                <a:solidFill>
                  <a:schemeClr val="tx2">
                    <a:satMod val="130000"/>
                  </a:schemeClr>
                </a:solidFill>
              </a:rPr>
              <a:t>Р</a:t>
            </a:r>
            <a:r>
              <a:rPr lang="bg-BG" sz="2000" dirty="0">
                <a:solidFill>
                  <a:schemeClr val="tx2">
                    <a:satMod val="130000"/>
                  </a:schemeClr>
                </a:solidFill>
              </a:rPr>
              <a:t> = </a:t>
            </a:r>
            <a:r>
              <a:rPr lang="en-US" sz="2000" b="1" dirty="0" err="1">
                <a:solidFill>
                  <a:schemeClr val="tx2">
                    <a:satMod val="130000"/>
                  </a:schemeClr>
                </a:solidFill>
              </a:rPr>
              <a:t>i</a:t>
            </a:r>
            <a:r>
              <a:rPr lang="bg-BG" sz="2000" dirty="0">
                <a:solidFill>
                  <a:schemeClr val="tx2">
                    <a:satMod val="130000"/>
                  </a:schemeClr>
                </a:solidFill>
              </a:rPr>
              <a:t>-та пермутация (как?);        </a:t>
            </a:r>
            <a:br>
              <a:rPr lang="bg-BG" sz="2000" dirty="0">
                <a:solidFill>
                  <a:schemeClr val="tx2">
                    <a:satMod val="130000"/>
                  </a:schemeClr>
                </a:solidFill>
              </a:rPr>
            </a:br>
            <a:r>
              <a:rPr lang="bg-BG" sz="2000" dirty="0">
                <a:solidFill>
                  <a:schemeClr val="tx2">
                    <a:satMod val="130000"/>
                  </a:schemeClr>
                </a:solidFill>
              </a:rPr>
              <a:t>  3 (изграждане на нов маршрут)         Построяване на маршрута </a:t>
            </a:r>
            <a:r>
              <a:rPr lang="bg-BG" sz="2000" b="1" dirty="0">
                <a:solidFill>
                  <a:schemeClr val="tx2">
                    <a:satMod val="130000"/>
                  </a:schemeClr>
                </a:solidFill>
              </a:rPr>
              <a:t>Т</a:t>
            </a:r>
            <a:r>
              <a:rPr lang="bg-BG" sz="2000" dirty="0">
                <a:solidFill>
                  <a:schemeClr val="tx2">
                    <a:satMod val="130000"/>
                  </a:schemeClr>
                </a:solidFill>
              </a:rPr>
              <a:t>(</a:t>
            </a:r>
            <a:r>
              <a:rPr lang="bg-BG" sz="2000" b="1" dirty="0">
                <a:solidFill>
                  <a:schemeClr val="tx2">
                    <a:satMod val="130000"/>
                  </a:schemeClr>
                </a:solidFill>
              </a:rPr>
              <a:t>Р</a:t>
            </a:r>
            <a:r>
              <a:rPr lang="bg-BG" sz="2000" dirty="0">
                <a:solidFill>
                  <a:schemeClr val="tx2">
                    <a:satMod val="130000"/>
                  </a:schemeClr>
                </a:solidFill>
              </a:rPr>
              <a:t>), </a:t>
            </a:r>
            <a:br>
              <a:rPr lang="bg-BG" sz="2000" dirty="0">
                <a:solidFill>
                  <a:schemeClr val="tx2">
                    <a:satMod val="130000"/>
                  </a:schemeClr>
                </a:solidFill>
              </a:rPr>
            </a:br>
            <a:r>
              <a:rPr lang="bg-BG" sz="2000" dirty="0">
                <a:solidFill>
                  <a:schemeClr val="tx2">
                    <a:satMod val="130000"/>
                  </a:schemeClr>
                </a:solidFill>
              </a:rPr>
              <a:t>				       съответстващ на пермутацията </a:t>
            </a:r>
            <a:r>
              <a:rPr lang="bg-BG" sz="2000" b="1" dirty="0">
                <a:solidFill>
                  <a:schemeClr val="tx2">
                    <a:satMod val="130000"/>
                  </a:schemeClr>
                </a:solidFill>
              </a:rPr>
              <a:t>Р</a:t>
            </a:r>
            <a:r>
              <a:rPr lang="bg-BG" sz="2000" dirty="0">
                <a:solidFill>
                  <a:schemeClr val="tx2">
                    <a:satMod val="130000"/>
                  </a:schemeClr>
                </a:solidFill>
              </a:rPr>
              <a:t>, и </a:t>
            </a:r>
            <a:br>
              <a:rPr lang="bg-BG" sz="2000" dirty="0">
                <a:solidFill>
                  <a:schemeClr val="tx2">
                    <a:satMod val="130000"/>
                  </a:schemeClr>
                </a:solidFill>
              </a:rPr>
            </a:br>
            <a:r>
              <a:rPr lang="bg-BG" sz="2000" dirty="0">
                <a:solidFill>
                  <a:schemeClr val="tx2">
                    <a:satMod val="130000"/>
                  </a:schemeClr>
                </a:solidFill>
              </a:rPr>
              <a:t>				       пресмятане  на цената </a:t>
            </a:r>
            <a:r>
              <a:rPr lang="en-US" sz="2000" b="1" dirty="0">
                <a:solidFill>
                  <a:schemeClr val="tx2">
                    <a:satMod val="130000"/>
                  </a:schemeClr>
                </a:solidFill>
              </a:rPr>
              <a:t>COST</a:t>
            </a:r>
            <a:r>
              <a:rPr lang="en-US" sz="2000" dirty="0">
                <a:solidFill>
                  <a:schemeClr val="tx2">
                    <a:satMod val="130000"/>
                  </a:schemeClr>
                </a:solidFill>
              </a:rPr>
              <a:t>(</a:t>
            </a:r>
            <a:r>
              <a:rPr lang="en-US" sz="2000" b="1" dirty="0">
                <a:solidFill>
                  <a:schemeClr val="tx2">
                    <a:satMod val="130000"/>
                  </a:schemeClr>
                </a:solidFill>
              </a:rPr>
              <a:t>T</a:t>
            </a:r>
            <a:r>
              <a:rPr lang="en-US" sz="2000" dirty="0">
                <a:solidFill>
                  <a:schemeClr val="tx2">
                    <a:satMod val="130000"/>
                  </a:schemeClr>
                </a:solidFill>
              </a:rPr>
              <a:t>(</a:t>
            </a:r>
            <a:r>
              <a:rPr lang="en-US" sz="2000" b="1" dirty="0">
                <a:solidFill>
                  <a:schemeClr val="tx2">
                    <a:satMod val="130000"/>
                  </a:schemeClr>
                </a:solidFill>
              </a:rPr>
              <a:t>P</a:t>
            </a:r>
            <a:r>
              <a:rPr lang="en-US" sz="2000" dirty="0">
                <a:solidFill>
                  <a:schemeClr val="tx2">
                    <a:satMod val="130000"/>
                  </a:schemeClr>
                </a:solidFill>
              </a:rPr>
              <a:t>))</a:t>
            </a:r>
            <a:r>
              <a:rPr lang="bg-BG" sz="2000" dirty="0">
                <a:solidFill>
                  <a:schemeClr val="tx2">
                    <a:satMod val="130000"/>
                  </a:schemeClr>
                </a:solidFill>
              </a:rPr>
              <a:t>	        </a:t>
            </a:r>
            <a:br>
              <a:rPr lang="bg-BG" sz="2000" dirty="0">
                <a:solidFill>
                  <a:schemeClr val="tx2">
                    <a:satMod val="130000"/>
                  </a:schemeClr>
                </a:solidFill>
              </a:rPr>
            </a:br>
            <a:r>
              <a:rPr lang="bg-BG" sz="2000" dirty="0">
                <a:solidFill>
                  <a:schemeClr val="tx2">
                    <a:satMod val="130000"/>
                  </a:schemeClr>
                </a:solidFill>
              </a:rPr>
              <a:t>  4 (сравнение)</a:t>
            </a:r>
            <a:r>
              <a:rPr lang="en-US" sz="2000" dirty="0">
                <a:solidFill>
                  <a:schemeClr val="tx2">
                    <a:satMod val="130000"/>
                  </a:schemeClr>
                </a:solidFill>
              </a:rPr>
              <a:t>			       </a:t>
            </a:r>
            <a:r>
              <a:rPr lang="bg-BG" sz="2000" dirty="0">
                <a:solidFill>
                  <a:schemeClr val="tx2">
                    <a:satMod val="130000"/>
                  </a:schemeClr>
                </a:solidFill>
              </a:rPr>
              <a:t>Ако </a:t>
            </a:r>
            <a:r>
              <a:rPr lang="en-US" sz="2000" b="1" dirty="0">
                <a:solidFill>
                  <a:schemeClr val="tx2">
                    <a:satMod val="130000"/>
                  </a:schemeClr>
                </a:solidFill>
              </a:rPr>
              <a:t>COST</a:t>
            </a:r>
            <a:r>
              <a:rPr lang="en-US" sz="2000" dirty="0">
                <a:solidFill>
                  <a:schemeClr val="tx2">
                    <a:satMod val="130000"/>
                  </a:schemeClr>
                </a:solidFill>
              </a:rPr>
              <a:t>(</a:t>
            </a:r>
            <a:r>
              <a:rPr lang="en-US" sz="2000" b="1" dirty="0">
                <a:solidFill>
                  <a:schemeClr val="tx2">
                    <a:satMod val="130000"/>
                  </a:schemeClr>
                </a:solidFill>
              </a:rPr>
              <a:t>T</a:t>
            </a:r>
            <a:r>
              <a:rPr lang="en-US" sz="2000" dirty="0">
                <a:solidFill>
                  <a:schemeClr val="tx2">
                    <a:satMod val="130000"/>
                  </a:schemeClr>
                </a:solidFill>
              </a:rPr>
              <a:t>(</a:t>
            </a:r>
            <a:r>
              <a:rPr lang="en-US" sz="2000" b="1" dirty="0">
                <a:solidFill>
                  <a:schemeClr val="tx2">
                    <a:satMod val="130000"/>
                  </a:schemeClr>
                </a:solidFill>
              </a:rPr>
              <a:t>P</a:t>
            </a:r>
            <a:r>
              <a:rPr lang="en-US" sz="2000" dirty="0">
                <a:solidFill>
                  <a:schemeClr val="tx2">
                    <a:satMod val="130000"/>
                  </a:schemeClr>
                </a:solidFill>
              </a:rPr>
              <a:t>))</a:t>
            </a:r>
            <a:r>
              <a:rPr lang="bg-BG" sz="2000" dirty="0">
                <a:solidFill>
                  <a:schemeClr val="tx2">
                    <a:satMod val="130000"/>
                  </a:schemeClr>
                </a:solidFill>
              </a:rPr>
              <a:t>&lt; </a:t>
            </a:r>
            <a:r>
              <a:rPr lang="en-US" sz="2000" b="1" dirty="0">
                <a:solidFill>
                  <a:schemeClr val="tx2">
                    <a:satMod val="130000"/>
                  </a:schemeClr>
                </a:solidFill>
              </a:rPr>
              <a:t>MIN</a:t>
            </a:r>
            <a:r>
              <a:rPr lang="en-US" sz="2000" dirty="0">
                <a:solidFill>
                  <a:schemeClr val="tx2">
                    <a:satMod val="130000"/>
                  </a:schemeClr>
                </a:solidFill>
              </a:rPr>
              <a:t> </a:t>
            </a:r>
            <a:r>
              <a:rPr lang="bg-BG" sz="2000" dirty="0">
                <a:solidFill>
                  <a:schemeClr val="tx2">
                    <a:satMod val="130000"/>
                  </a:schemeClr>
                </a:solidFill>
              </a:rPr>
              <a:t> тогава</a:t>
            </a:r>
            <a:br>
              <a:rPr lang="bg-BG" sz="2000" dirty="0">
                <a:solidFill>
                  <a:schemeClr val="tx2">
                    <a:satMod val="130000"/>
                  </a:schemeClr>
                </a:solidFill>
              </a:rPr>
            </a:br>
            <a:r>
              <a:rPr lang="bg-BG" sz="2000" dirty="0">
                <a:solidFill>
                  <a:schemeClr val="tx2">
                    <a:satMod val="130000"/>
                  </a:schemeClr>
                </a:solidFill>
              </a:rPr>
              <a:t>				            </a:t>
            </a:r>
            <a:r>
              <a:rPr lang="en-US" sz="2000" b="1" dirty="0">
                <a:solidFill>
                  <a:schemeClr val="tx2">
                    <a:satMod val="130000"/>
                  </a:schemeClr>
                </a:solidFill>
              </a:rPr>
              <a:t>LIST</a:t>
            </a:r>
            <a:r>
              <a:rPr lang="en-US" sz="2000" dirty="0">
                <a:solidFill>
                  <a:schemeClr val="tx2">
                    <a:satMod val="130000"/>
                  </a:schemeClr>
                </a:solidFill>
              </a:rPr>
              <a:t>=</a:t>
            </a:r>
            <a:r>
              <a:rPr lang="en-US" sz="2000" b="1" dirty="0">
                <a:solidFill>
                  <a:schemeClr val="tx2">
                    <a:satMod val="130000"/>
                  </a:schemeClr>
                </a:solidFill>
              </a:rPr>
              <a:t>T</a:t>
            </a:r>
            <a:r>
              <a:rPr lang="en-US" sz="2000" dirty="0">
                <a:solidFill>
                  <a:schemeClr val="tx2">
                    <a:satMod val="130000"/>
                  </a:schemeClr>
                </a:solidFill>
              </a:rPr>
              <a:t>(</a:t>
            </a:r>
            <a:r>
              <a:rPr lang="en-US" sz="2000" b="1" dirty="0">
                <a:solidFill>
                  <a:schemeClr val="tx2">
                    <a:satMod val="130000"/>
                  </a:schemeClr>
                </a:solidFill>
              </a:rPr>
              <a:t>P</a:t>
            </a:r>
            <a:r>
              <a:rPr lang="en-US" sz="2000" dirty="0">
                <a:solidFill>
                  <a:schemeClr val="tx2">
                    <a:satMod val="130000"/>
                  </a:schemeClr>
                </a:solidFill>
              </a:rPr>
              <a:t>), </a:t>
            </a:r>
            <a:r>
              <a:rPr lang="en-US" sz="2000" b="1" dirty="0">
                <a:solidFill>
                  <a:schemeClr val="tx2">
                    <a:satMod val="130000"/>
                  </a:schemeClr>
                </a:solidFill>
              </a:rPr>
              <a:t>MIN</a:t>
            </a:r>
            <a:r>
              <a:rPr lang="en-US" sz="2000" dirty="0">
                <a:solidFill>
                  <a:schemeClr val="tx2">
                    <a:satMod val="130000"/>
                  </a:schemeClr>
                </a:solidFill>
              </a:rPr>
              <a:t>=</a:t>
            </a:r>
            <a:r>
              <a:rPr lang="en-US" sz="2000" b="1" dirty="0">
                <a:solidFill>
                  <a:schemeClr val="tx2">
                    <a:satMod val="130000"/>
                  </a:schemeClr>
                </a:solidFill>
              </a:rPr>
              <a:t>COST</a:t>
            </a:r>
            <a:r>
              <a:rPr lang="en-US" sz="2000" dirty="0">
                <a:solidFill>
                  <a:schemeClr val="tx2">
                    <a:satMod val="130000"/>
                  </a:schemeClr>
                </a:solidFill>
              </a:rPr>
              <a:t>(</a:t>
            </a:r>
            <a:r>
              <a:rPr lang="en-US" sz="2000" b="1" dirty="0">
                <a:solidFill>
                  <a:schemeClr val="tx2">
                    <a:satMod val="130000"/>
                  </a:schemeClr>
                </a:solidFill>
              </a:rPr>
              <a:t>T</a:t>
            </a:r>
            <a:r>
              <a:rPr lang="en-US" sz="2000" dirty="0">
                <a:solidFill>
                  <a:schemeClr val="tx2">
                    <a:satMod val="130000"/>
                  </a:schemeClr>
                </a:solidFill>
              </a:rPr>
              <a:t>(</a:t>
            </a:r>
            <a:r>
              <a:rPr lang="en-US" sz="2000" b="1" dirty="0">
                <a:solidFill>
                  <a:schemeClr val="tx2">
                    <a:satMod val="130000"/>
                  </a:schemeClr>
                </a:solidFill>
              </a:rPr>
              <a:t>P</a:t>
            </a:r>
            <a:r>
              <a:rPr lang="en-US" sz="2000" dirty="0">
                <a:solidFill>
                  <a:schemeClr val="tx2">
                    <a:satMod val="130000"/>
                  </a:schemeClr>
                </a:solidFill>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042988" y="381000"/>
            <a:ext cx="7948612" cy="6019800"/>
          </a:xfrm>
        </p:spPr>
        <p:txBody>
          <a:bodyPr>
            <a:normAutofit fontScale="90000"/>
          </a:bodyPr>
          <a:lstStyle/>
          <a:p>
            <a:pPr fontAlgn="auto">
              <a:spcAft>
                <a:spcPts val="0"/>
              </a:spcAft>
              <a:defRPr/>
            </a:pPr>
            <a:r>
              <a:rPr lang="bg-BG" sz="3200">
                <a:solidFill>
                  <a:schemeClr val="tx2">
                    <a:satMod val="130000"/>
                  </a:schemeClr>
                </a:solidFill>
              </a:rPr>
              <a:t>		</a:t>
            </a:r>
            <a:r>
              <a:rPr lang="en-US" sz="3200">
                <a:solidFill>
                  <a:schemeClr val="tx2">
                    <a:satMod val="130000"/>
                  </a:schemeClr>
                </a:solidFill>
              </a:rPr>
              <a:t>IV</a:t>
            </a:r>
            <a:r>
              <a:rPr lang="bg-BG" sz="3200">
                <a:solidFill>
                  <a:schemeClr val="tx2">
                    <a:satMod val="130000"/>
                  </a:schemeClr>
                </a:solidFill>
              </a:rPr>
              <a:t>. Коректност на алгоритъма</a:t>
            </a:r>
            <a:br>
              <a:rPr lang="bg-BG" sz="3200">
                <a:solidFill>
                  <a:schemeClr val="tx2">
                    <a:satMod val="130000"/>
                  </a:schemeClr>
                </a:solidFill>
              </a:rPr>
            </a:br>
            <a:r>
              <a:rPr lang="bg-BG" sz="3200">
                <a:solidFill>
                  <a:schemeClr val="tx2">
                    <a:satMod val="130000"/>
                  </a:schemeClr>
                </a:solidFill>
              </a:rPr>
              <a:t>		</a:t>
            </a:r>
            <a:r>
              <a:rPr lang="bg-BG" sz="2400">
                <a:solidFill>
                  <a:schemeClr val="tx2">
                    <a:satMod val="130000"/>
                  </a:schemeClr>
                </a:solidFill>
              </a:rPr>
              <a:t>- тестване</a:t>
            </a:r>
            <a:br>
              <a:rPr lang="bg-BG" sz="2400">
                <a:solidFill>
                  <a:schemeClr val="tx2">
                    <a:satMod val="130000"/>
                  </a:schemeClr>
                </a:solidFill>
              </a:rPr>
            </a:br>
            <a:r>
              <a:rPr lang="bg-BG" sz="2400">
                <a:solidFill>
                  <a:schemeClr val="tx2">
                    <a:satMod val="130000"/>
                  </a:schemeClr>
                </a:solidFill>
              </a:rPr>
              <a:t>		- теоретично доказателство</a:t>
            </a:r>
            <a:br>
              <a:rPr lang="bg-BG" sz="2400">
                <a:solidFill>
                  <a:schemeClr val="tx2">
                    <a:satMod val="130000"/>
                  </a:schemeClr>
                </a:solidFill>
              </a:rPr>
            </a:br>
            <a:r>
              <a:rPr lang="bg-BG" sz="2400">
                <a:solidFill>
                  <a:schemeClr val="tx2">
                    <a:satMod val="130000"/>
                  </a:schemeClr>
                </a:solidFill>
              </a:rPr>
              <a:t>	Ако алгоритъмът се състои от </a:t>
            </a:r>
            <a:r>
              <a:rPr lang="en-US" sz="2400" b="1">
                <a:solidFill>
                  <a:schemeClr val="tx2">
                    <a:satMod val="130000"/>
                  </a:schemeClr>
                </a:solidFill>
              </a:rPr>
              <a:t>n</a:t>
            </a:r>
            <a:r>
              <a:rPr lang="bg-BG" sz="2400">
                <a:solidFill>
                  <a:schemeClr val="tx2">
                    <a:satMod val="130000"/>
                  </a:schemeClr>
                </a:solidFill>
              </a:rPr>
              <a:t> последователни стъпки, то трябва да се докаже :</a:t>
            </a:r>
            <a:br>
              <a:rPr lang="bg-BG" sz="2400">
                <a:solidFill>
                  <a:schemeClr val="tx2">
                    <a:satMod val="130000"/>
                  </a:schemeClr>
                </a:solidFill>
              </a:rPr>
            </a:br>
            <a:r>
              <a:rPr lang="bg-BG" sz="900">
                <a:solidFill>
                  <a:schemeClr val="tx2">
                    <a:satMod val="130000"/>
                  </a:schemeClr>
                </a:solidFill>
              </a:rPr>
              <a:t/>
            </a:r>
            <a:br>
              <a:rPr lang="bg-BG" sz="900">
                <a:solidFill>
                  <a:schemeClr val="tx2">
                    <a:satMod val="130000"/>
                  </a:schemeClr>
                </a:solidFill>
              </a:rPr>
            </a:br>
            <a:r>
              <a:rPr lang="bg-BG" sz="2400">
                <a:solidFill>
                  <a:schemeClr val="tx2">
                    <a:satMod val="130000"/>
                  </a:schemeClr>
                </a:solidFill>
              </a:rPr>
              <a:t>1) коректността на всяка една от стъпките;</a:t>
            </a:r>
            <a:br>
              <a:rPr lang="bg-BG" sz="2400">
                <a:solidFill>
                  <a:schemeClr val="tx2">
                    <a:satMod val="130000"/>
                  </a:schemeClr>
                </a:solidFill>
              </a:rPr>
            </a:br>
            <a:r>
              <a:rPr lang="bg-BG" sz="2400">
                <a:solidFill>
                  <a:schemeClr val="tx2">
                    <a:satMod val="130000"/>
                  </a:schemeClr>
                </a:solidFill>
              </a:rPr>
              <a:t>2) крайността на алгоритъма</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Задача за търговския пътник:</a:t>
            </a:r>
            <a:br>
              <a:rPr lang="bg-BG" sz="2400">
                <a:solidFill>
                  <a:schemeClr val="tx2">
                    <a:satMod val="130000"/>
                  </a:schemeClr>
                </a:solidFill>
              </a:rPr>
            </a:br>
            <a:r>
              <a:rPr lang="bg-BG" sz="2400">
                <a:solidFill>
                  <a:schemeClr val="tx2">
                    <a:satMod val="130000"/>
                  </a:schemeClr>
                </a:solidFill>
              </a:rPr>
              <a:t>	Т.к. се  проверява всеки маршрут, то ще бъде проверен и запомнен и минималния (с минималната стойност).</a:t>
            </a:r>
            <a:br>
              <a:rPr lang="bg-BG" sz="2400">
                <a:solidFill>
                  <a:schemeClr val="tx2">
                    <a:satMod val="130000"/>
                  </a:schemeClr>
                </a:solidFill>
              </a:rPr>
            </a:br>
            <a:r>
              <a:rPr lang="bg-BG" sz="2400">
                <a:solidFill>
                  <a:schemeClr val="tx2">
                    <a:satMod val="130000"/>
                  </a:schemeClr>
                </a:solidFill>
              </a:rPr>
              <a:t>	Алгоритъмът ще завърши, т.к. броят на проверяваните маршрути е краен.</a:t>
            </a:r>
            <a:br>
              <a:rPr lang="bg-BG" sz="2400">
                <a:solidFill>
                  <a:schemeClr val="tx2">
                    <a:satMod val="130000"/>
                  </a:schemeClr>
                </a:solidFill>
              </a:rPr>
            </a:br>
            <a:r>
              <a:rPr lang="bg-BG" sz="1000">
                <a:solidFill>
                  <a:schemeClr val="tx2">
                    <a:satMod val="130000"/>
                  </a:schemeClr>
                </a:solidFill>
              </a:rPr>
              <a:t/>
            </a:r>
            <a:br>
              <a:rPr lang="bg-BG" sz="1000">
                <a:solidFill>
                  <a:schemeClr val="tx2">
                    <a:satMod val="130000"/>
                  </a:schemeClr>
                </a:solidFill>
              </a:rPr>
            </a:br>
            <a:r>
              <a:rPr lang="bg-BG" sz="2400">
                <a:solidFill>
                  <a:schemeClr val="tx2">
                    <a:satMod val="130000"/>
                  </a:schemeClr>
                </a:solidFill>
              </a:rPr>
              <a:t>Коректността на алгоритъма не означава, че той е ефективен.</a:t>
            </a:r>
            <a:br>
              <a:rPr lang="bg-BG" sz="2400">
                <a:solidFill>
                  <a:schemeClr val="tx2">
                    <a:satMod val="130000"/>
                  </a:schemeClr>
                </a:solidFill>
              </a:rPr>
            </a:br>
            <a:r>
              <a:rPr lang="bg-BG" sz="2400">
                <a:solidFill>
                  <a:schemeClr val="tx2">
                    <a:satMod val="130000"/>
                  </a:schemeClr>
                </a:solidFill>
              </a:rPr>
              <a:t>(Алгоритмите, реализиращи пълна проверка</a:t>
            </a:r>
            <a:br>
              <a:rPr lang="bg-BG" sz="2400">
                <a:solidFill>
                  <a:schemeClr val="tx2">
                    <a:satMod val="130000"/>
                  </a:schemeClr>
                </a:solidFill>
              </a:rPr>
            </a:br>
            <a:r>
              <a:rPr lang="bg-BG" sz="2400">
                <a:solidFill>
                  <a:schemeClr val="tx2">
                    <a:satMod val="130000"/>
                  </a:schemeClr>
                </a:solidFill>
              </a:rPr>
              <a:t>на всички възможности обикновено не са ефективни!)</a:t>
            </a:r>
            <a:endParaRPr lang="en-US" sz="2400">
              <a:solidFill>
                <a:schemeClr val="tx2">
                  <a:satMod val="13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116013" y="1066800"/>
            <a:ext cx="8027987" cy="5791200"/>
          </a:xfrm>
        </p:spPr>
        <p:txBody>
          <a:bodyPr>
            <a:normAutofit fontScale="90000"/>
          </a:bodyPr>
          <a:lstStyle/>
          <a:p>
            <a:pPr fontAlgn="auto">
              <a:lnSpc>
                <a:spcPct val="90000"/>
              </a:lnSpc>
              <a:spcAft>
                <a:spcPts val="0"/>
              </a:spcAft>
              <a:defRPr/>
            </a:pPr>
            <a:r>
              <a:rPr lang="bg-BG" sz="3200">
                <a:solidFill>
                  <a:schemeClr val="tx2">
                    <a:satMod val="130000"/>
                  </a:schemeClr>
                </a:solidFill>
              </a:rPr>
              <a:t>	   </a:t>
            </a:r>
            <a:r>
              <a:rPr lang="en-US" sz="3200">
                <a:solidFill>
                  <a:schemeClr val="tx2">
                    <a:satMod val="130000"/>
                  </a:schemeClr>
                </a:solidFill>
              </a:rPr>
              <a:t>V</a:t>
            </a:r>
            <a:r>
              <a:rPr lang="bg-BG" sz="3200">
                <a:solidFill>
                  <a:schemeClr val="tx2">
                    <a:satMod val="130000"/>
                  </a:schemeClr>
                </a:solidFill>
              </a:rPr>
              <a:t>. Реализация на алгоритъма</a:t>
            </a:r>
            <a:r>
              <a:rPr lang="en-US" sz="3200">
                <a:solidFill>
                  <a:schemeClr val="tx2">
                    <a:satMod val="130000"/>
                  </a:schemeClr>
                </a:solidFill>
              </a:rPr>
              <a:t/>
            </a:r>
            <a:br>
              <a:rPr lang="en-US" sz="3200">
                <a:solidFill>
                  <a:schemeClr val="tx2">
                    <a:satMod val="130000"/>
                  </a:schemeClr>
                </a:solidFill>
              </a:rPr>
            </a:br>
            <a:r>
              <a:rPr lang="bg-BG" sz="3200">
                <a:solidFill>
                  <a:schemeClr val="tx2">
                    <a:satMod val="130000"/>
                  </a:schemeClr>
                </a:solidFill>
              </a:rPr>
              <a:t>	</a:t>
            </a:r>
            <a:r>
              <a:rPr lang="bg-BG" sz="2400">
                <a:solidFill>
                  <a:schemeClr val="tx2">
                    <a:satMod val="130000"/>
                  </a:schemeClr>
                </a:solidFill>
              </a:rPr>
              <a:t>Алгоритъмът е описан като последователност от стъпки. Предстои реализацията му – написване на програма.</a:t>
            </a:r>
            <a:br>
              <a:rPr lang="bg-BG" sz="2400">
                <a:solidFill>
                  <a:schemeClr val="tx2">
                    <a:satMod val="130000"/>
                  </a:schemeClr>
                </a:solidFill>
              </a:rPr>
            </a:br>
            <a:r>
              <a:rPr lang="bg-BG" sz="2400">
                <a:solidFill>
                  <a:schemeClr val="tx2">
                    <a:satMod val="130000"/>
                  </a:schemeClr>
                </a:solidFill>
              </a:rPr>
              <a:t>	Възможните трудности:</a:t>
            </a:r>
            <a:br>
              <a:rPr lang="bg-BG" sz="2400">
                <a:solidFill>
                  <a:schemeClr val="tx2">
                    <a:satMod val="130000"/>
                  </a:schemeClr>
                </a:solidFill>
              </a:rPr>
            </a:br>
            <a:r>
              <a:rPr lang="bg-BG" sz="2400">
                <a:solidFill>
                  <a:schemeClr val="tx2">
                    <a:satMod val="130000"/>
                  </a:schemeClr>
                </a:solidFill>
              </a:rPr>
              <a:t>1) не всички стъпки са формулирани детайлно (така, че директно могат да се запишат  на езика за програмиране – например, получаване на пермутации);</a:t>
            </a:r>
            <a:br>
              <a:rPr lang="bg-BG" sz="2400">
                <a:solidFill>
                  <a:schemeClr val="tx2">
                    <a:satMod val="130000"/>
                  </a:schemeClr>
                </a:solidFill>
              </a:rPr>
            </a:br>
            <a:r>
              <a:rPr lang="bg-BG" sz="2400">
                <a:solidFill>
                  <a:schemeClr val="tx2">
                    <a:satMod val="130000"/>
                  </a:schemeClr>
                </a:solidFill>
              </a:rPr>
              <a:t>2) трудности при представяне на отделни елементи на модела чрез структурите данни на езика за програмиране.   Необходимо е:</a:t>
            </a:r>
            <a:br>
              <a:rPr lang="bg-BG" sz="2400">
                <a:solidFill>
                  <a:schemeClr val="tx2">
                    <a:satMod val="130000"/>
                  </a:schemeClr>
                </a:solidFill>
              </a:rPr>
            </a:br>
            <a:r>
              <a:rPr lang="bg-BG" sz="2400">
                <a:solidFill>
                  <a:schemeClr val="tx2">
                    <a:satMod val="130000"/>
                  </a:schemeClr>
                </a:solidFill>
              </a:rPr>
              <a:t>- да се определят основните променливи и типът им;</a:t>
            </a:r>
            <a:br>
              <a:rPr lang="bg-BG" sz="2400">
                <a:solidFill>
                  <a:schemeClr val="tx2">
                    <a:satMod val="130000"/>
                  </a:schemeClr>
                </a:solidFill>
              </a:rPr>
            </a:br>
            <a:r>
              <a:rPr lang="bg-BG" sz="2400">
                <a:solidFill>
                  <a:schemeClr val="tx2">
                    <a:satMod val="130000"/>
                  </a:schemeClr>
                </a:solidFill>
              </a:rPr>
              <a:t>- какви масиви са нужни и с каква размерност;</a:t>
            </a:r>
            <a:br>
              <a:rPr lang="bg-BG" sz="2400">
                <a:solidFill>
                  <a:schemeClr val="tx2">
                    <a:satMod val="130000"/>
                  </a:schemeClr>
                </a:solidFill>
              </a:rPr>
            </a:br>
            <a:r>
              <a:rPr lang="bg-BG" sz="2400">
                <a:solidFill>
                  <a:schemeClr val="tx2">
                    <a:satMod val="130000"/>
                  </a:schemeClr>
                </a:solidFill>
              </a:rPr>
              <a:t>- необходимо ли е да се използва динамичната памет;</a:t>
            </a:r>
            <a:br>
              <a:rPr lang="bg-BG" sz="2400">
                <a:solidFill>
                  <a:schemeClr val="tx2">
                    <a:satMod val="130000"/>
                  </a:schemeClr>
                </a:solidFill>
              </a:rPr>
            </a:br>
            <a:r>
              <a:rPr lang="bg-BG" sz="2400">
                <a:solidFill>
                  <a:schemeClr val="tx2">
                    <a:satMod val="130000"/>
                  </a:schemeClr>
                </a:solidFill>
              </a:rPr>
              <a:t>- какви подпрограми (функции) са необходими.</a:t>
            </a:r>
            <a:br>
              <a:rPr lang="bg-BG" sz="2400">
                <a:solidFill>
                  <a:schemeClr val="tx2">
                    <a:satMod val="130000"/>
                  </a:schemeClr>
                </a:solidFill>
              </a:rPr>
            </a:br>
            <a:r>
              <a:rPr lang="bg-BG" sz="2400">
                <a:solidFill>
                  <a:schemeClr val="tx2">
                    <a:satMod val="130000"/>
                  </a:schemeClr>
                </a:solidFill>
              </a:rPr>
              <a:t>	След това се взема решение, какъв език за програмиране ще се използва.</a:t>
            </a:r>
            <a:br>
              <a:rPr lang="bg-BG" sz="2400">
                <a:solidFill>
                  <a:schemeClr val="tx2">
                    <a:satMod val="130000"/>
                  </a:schemeClr>
                </a:solidFill>
              </a:rPr>
            </a:br>
            <a:r>
              <a:rPr lang="bg-BG" sz="2400">
                <a:solidFill>
                  <a:schemeClr val="tx2">
                    <a:satMod val="130000"/>
                  </a:schemeClr>
                </a:solidFill>
              </a:rPr>
              <a:t>	Не само алгоритъмът, но и конкретна реализация на програмата влияе на изискванията към ПАМЕТ и ВРЕМЕ.</a:t>
            </a:r>
            <a:br>
              <a:rPr lang="bg-BG" sz="2400">
                <a:solidFill>
                  <a:schemeClr val="tx2">
                    <a:satMod val="130000"/>
                  </a:schemeClr>
                </a:solidFill>
              </a:rPr>
            </a:br>
            <a:r>
              <a:rPr lang="bg-BG" sz="2400">
                <a:solidFill>
                  <a:schemeClr val="tx2">
                    <a:satMod val="130000"/>
                  </a:schemeClr>
                </a:solidFill>
              </a:rPr>
              <a:t>Основен метод: </a:t>
            </a:r>
            <a:r>
              <a:rPr lang="en-US" sz="2400">
                <a:solidFill>
                  <a:schemeClr val="tx2">
                    <a:satMod val="130000"/>
                  </a:schemeClr>
                </a:solidFill>
              </a:rPr>
              <a:t>Top-down</a:t>
            </a:r>
            <a:r>
              <a:rPr lang="bg-BG" sz="2400">
                <a:solidFill>
                  <a:schemeClr val="tx2">
                    <a:satMod val="130000"/>
                  </a:schemeClr>
                </a:solidFill>
              </a:rPr>
              <a:t> програмиране.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3200">
                <a:solidFill>
                  <a:schemeClr val="tx2">
                    <a:satMod val="130000"/>
                  </a:schemeClr>
                </a:solidFill>
              </a:rPr>
              <a:t/>
            </a:r>
            <a:br>
              <a:rPr lang="bg-BG" sz="3200">
                <a:solidFill>
                  <a:schemeClr val="tx2">
                    <a:satMod val="130000"/>
                  </a:schemeClr>
                </a:solidFill>
              </a:rPr>
            </a:br>
            <a:endParaRPr lang="en-US" sz="3200">
              <a:solidFill>
                <a:schemeClr val="tx2">
                  <a:satMod val="130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042988" y="609600"/>
            <a:ext cx="7872412" cy="5867400"/>
          </a:xfrm>
        </p:spPr>
        <p:txBody>
          <a:bodyPr>
            <a:normAutofit fontScale="90000"/>
          </a:bodyPr>
          <a:lstStyle/>
          <a:p>
            <a:pPr fontAlgn="auto">
              <a:spcAft>
                <a:spcPts val="0"/>
              </a:spcAft>
              <a:defRPr/>
            </a:pPr>
            <a:r>
              <a:rPr lang="en-US" sz="3200">
                <a:solidFill>
                  <a:schemeClr val="tx2">
                    <a:satMod val="130000"/>
                  </a:schemeClr>
                </a:solidFill>
              </a:rPr>
              <a:t>VI</a:t>
            </a:r>
            <a:r>
              <a:rPr lang="bg-BG" sz="3200">
                <a:solidFill>
                  <a:schemeClr val="tx2">
                    <a:satMod val="130000"/>
                  </a:schemeClr>
                </a:solidFill>
              </a:rPr>
              <a:t>. Анализ на алгоритъма и неговата сложност</a:t>
            </a: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В два аспекта:</a:t>
            </a:r>
            <a:br>
              <a:rPr lang="bg-BG" sz="2400">
                <a:solidFill>
                  <a:schemeClr val="tx2">
                    <a:satMod val="130000"/>
                  </a:schemeClr>
                </a:solidFill>
              </a:rPr>
            </a:br>
            <a:r>
              <a:rPr lang="bg-BG" sz="2400">
                <a:solidFill>
                  <a:schemeClr val="tx2">
                    <a:satMod val="130000"/>
                  </a:schemeClr>
                </a:solidFill>
              </a:rPr>
              <a:t>- практически, какъв обем памет и колко време ще са необходими за решаване на задачата;</a:t>
            </a:r>
            <a:br>
              <a:rPr lang="bg-BG" sz="2400">
                <a:solidFill>
                  <a:schemeClr val="tx2">
                    <a:satMod val="130000"/>
                  </a:schemeClr>
                </a:solidFill>
              </a:rPr>
            </a:br>
            <a:r>
              <a:rPr lang="bg-BG" sz="2400">
                <a:solidFill>
                  <a:schemeClr val="tx2">
                    <a:satMod val="130000"/>
                  </a:schemeClr>
                </a:solidFill>
              </a:rPr>
              <a:t>- теоретичен – изчислява се сложността на алгоритъма</a:t>
            </a:r>
            <a:r>
              <a:rPr lang="en-US" sz="2400">
                <a:solidFill>
                  <a:schemeClr val="tx2">
                    <a:satMod val="130000"/>
                  </a:schemeClr>
                </a:solidFill>
              </a:rPr>
              <a:t> </a:t>
            </a:r>
            <a:r>
              <a:rPr lang="en-US" sz="2400" b="1">
                <a:solidFill>
                  <a:schemeClr val="tx2">
                    <a:satMod val="130000"/>
                  </a:schemeClr>
                </a:solidFill>
              </a:rPr>
              <a:t>O(f(n))</a:t>
            </a:r>
            <a:r>
              <a:rPr lang="en-US" sz="2400">
                <a:solidFill>
                  <a:schemeClr val="tx2">
                    <a:satMod val="130000"/>
                  </a:schemeClr>
                </a:solidFill>
              </a:rPr>
              <a:t> </a:t>
            </a:r>
            <a:r>
              <a:rPr lang="bg-BG" sz="2400">
                <a:solidFill>
                  <a:schemeClr val="tx2">
                    <a:satMod val="130000"/>
                  </a:schemeClr>
                </a:solidFill>
              </a:rPr>
              <a:t>с цел да се определи, дали алгоритъмът е полиномиален или експоненциален.</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u="sng">
                <a:solidFill>
                  <a:schemeClr val="tx2">
                    <a:satMod val="130000"/>
                  </a:schemeClr>
                </a:solidFill>
              </a:rPr>
              <a:t>Задача за търговския пътник</a:t>
            </a:r>
            <a:r>
              <a:rPr lang="bg-BG" sz="2400">
                <a:solidFill>
                  <a:schemeClr val="tx2">
                    <a:satMod val="130000"/>
                  </a:schemeClr>
                </a:solidFill>
              </a:rPr>
              <a:t>: </a:t>
            </a:r>
            <a:br>
              <a:rPr lang="bg-BG" sz="2400">
                <a:solidFill>
                  <a:schemeClr val="tx2">
                    <a:satMod val="130000"/>
                  </a:schemeClr>
                </a:solidFill>
              </a:rPr>
            </a:br>
            <a:r>
              <a:rPr lang="bg-BG" sz="2400">
                <a:solidFill>
                  <a:schemeClr val="tx2">
                    <a:satMod val="130000"/>
                  </a:schemeClr>
                </a:solidFill>
              </a:rPr>
              <a:t>	За </a:t>
            </a:r>
            <a:r>
              <a:rPr lang="en-US" sz="2400" b="1">
                <a:solidFill>
                  <a:schemeClr val="tx2">
                    <a:satMod val="130000"/>
                  </a:schemeClr>
                </a:solidFill>
              </a:rPr>
              <a:t>n</a:t>
            </a:r>
            <a:r>
              <a:rPr lang="en-US" sz="2400">
                <a:solidFill>
                  <a:schemeClr val="tx2">
                    <a:satMod val="130000"/>
                  </a:schemeClr>
                </a:solidFill>
              </a:rPr>
              <a:t>  </a:t>
            </a:r>
            <a:r>
              <a:rPr lang="bg-BG" sz="2400">
                <a:solidFill>
                  <a:schemeClr val="tx2">
                    <a:satMod val="130000"/>
                  </a:schemeClr>
                </a:solidFill>
              </a:rPr>
              <a:t>града трябва да получим пермутации от (</a:t>
            </a:r>
            <a:r>
              <a:rPr lang="en-US" sz="2400" b="1">
                <a:solidFill>
                  <a:schemeClr val="tx2">
                    <a:satMod val="130000"/>
                  </a:schemeClr>
                </a:solidFill>
              </a:rPr>
              <a:t>n</a:t>
            </a:r>
            <a:r>
              <a:rPr lang="en-US" sz="2400">
                <a:solidFill>
                  <a:schemeClr val="tx2">
                    <a:satMod val="130000"/>
                  </a:schemeClr>
                </a:solidFill>
              </a:rPr>
              <a:t>-1</a:t>
            </a:r>
            <a:r>
              <a:rPr lang="bg-BG" sz="2400">
                <a:solidFill>
                  <a:schemeClr val="tx2">
                    <a:satMod val="130000"/>
                  </a:schemeClr>
                </a:solidFill>
              </a:rPr>
              <a:t>) цели положителни числа, т.е </a:t>
            </a:r>
            <a:r>
              <a:rPr lang="en-US" sz="2400">
                <a:solidFill>
                  <a:schemeClr val="tx2">
                    <a:satMod val="130000"/>
                  </a:schemeClr>
                </a:solidFill>
              </a:rPr>
              <a:t> (</a:t>
            </a:r>
            <a:r>
              <a:rPr lang="en-US" sz="2400" b="1">
                <a:solidFill>
                  <a:schemeClr val="tx2">
                    <a:satMod val="130000"/>
                  </a:schemeClr>
                </a:solidFill>
              </a:rPr>
              <a:t>n</a:t>
            </a:r>
            <a:r>
              <a:rPr lang="en-US" sz="2400">
                <a:solidFill>
                  <a:schemeClr val="tx2">
                    <a:satMod val="130000"/>
                  </a:schemeClr>
                </a:solidFill>
              </a:rPr>
              <a:t>-1)!</a:t>
            </a:r>
            <a:r>
              <a:rPr lang="bg-BG" sz="2400">
                <a:solidFill>
                  <a:schemeClr val="tx2">
                    <a:satMod val="130000"/>
                  </a:schemeClr>
                </a:solidFill>
              </a:rPr>
              <a:t> пермутации. Ако приемем, че всяка пермутация се получава с една</a:t>
            </a:r>
            <a:r>
              <a:rPr lang="en-US" sz="2400">
                <a:solidFill>
                  <a:schemeClr val="tx2">
                    <a:satMod val="130000"/>
                  </a:schemeClr>
                </a:solidFill>
              </a:rPr>
              <a:t> </a:t>
            </a:r>
            <a:r>
              <a:rPr lang="bg-BG" sz="2400">
                <a:solidFill>
                  <a:schemeClr val="tx2">
                    <a:satMod val="130000"/>
                  </a:schemeClr>
                </a:solidFill>
              </a:rPr>
              <a:t>операция, то тази част от алгоритъма може да се оцени с </a:t>
            </a:r>
            <a:r>
              <a:rPr lang="en-US" sz="2400" b="1">
                <a:solidFill>
                  <a:schemeClr val="tx2">
                    <a:satMod val="130000"/>
                  </a:schemeClr>
                </a:solidFill>
              </a:rPr>
              <a:t>O</a:t>
            </a:r>
            <a:r>
              <a:rPr lang="en-US" sz="2400">
                <a:solidFill>
                  <a:schemeClr val="tx2">
                    <a:satMod val="130000"/>
                  </a:schemeClr>
                </a:solidFill>
              </a:rPr>
              <a:t>((</a:t>
            </a:r>
            <a:r>
              <a:rPr lang="en-US" sz="2400" b="1">
                <a:solidFill>
                  <a:schemeClr val="tx2">
                    <a:satMod val="130000"/>
                  </a:schemeClr>
                </a:solidFill>
              </a:rPr>
              <a:t>n</a:t>
            </a:r>
            <a:r>
              <a:rPr lang="en-US" sz="2400">
                <a:solidFill>
                  <a:schemeClr val="tx2">
                    <a:satMod val="130000"/>
                  </a:schemeClr>
                </a:solidFill>
              </a:rPr>
              <a:t>-1)!)</a:t>
            </a:r>
            <a:r>
              <a:rPr lang="bg-BG" sz="2400">
                <a:solidFill>
                  <a:schemeClr val="tx2">
                    <a:satMod val="130000"/>
                  </a:schemeClr>
                </a:solidFill>
              </a:rPr>
              <a:t>. </a:t>
            </a:r>
            <a:r>
              <a:rPr lang="en-US" sz="2400">
                <a:solidFill>
                  <a:schemeClr val="tx2">
                    <a:satMod val="130000"/>
                  </a:schemeClr>
                </a:solidFill>
              </a:rPr>
              <a:t>  </a:t>
            </a:r>
            <a:r>
              <a:rPr lang="bg-BG" sz="2400">
                <a:solidFill>
                  <a:schemeClr val="tx2">
                    <a:satMod val="130000"/>
                  </a:schemeClr>
                </a:solidFill>
              </a:rPr>
              <a:t>Алгоритъмът включва и други действия – търсене на маршрут, изчисляване на цената му, което изисква минимум </a:t>
            </a:r>
            <a:r>
              <a:rPr lang="en-US" sz="2400" b="1">
                <a:solidFill>
                  <a:schemeClr val="tx2">
                    <a:satMod val="130000"/>
                  </a:schemeClr>
                </a:solidFill>
              </a:rPr>
              <a:t>n</a:t>
            </a:r>
            <a:r>
              <a:rPr lang="bg-BG" sz="2400">
                <a:solidFill>
                  <a:schemeClr val="tx2">
                    <a:satMod val="130000"/>
                  </a:schemeClr>
                </a:solidFill>
              </a:rPr>
              <a:t> операции. Затова горната граница на целия алгоритъм ще бъде не по-малка от</a:t>
            </a:r>
            <a:r>
              <a:rPr lang="en-US" sz="2400">
                <a:solidFill>
                  <a:schemeClr val="tx2">
                    <a:satMod val="130000"/>
                  </a:schemeClr>
                </a:solidFill>
              </a:rPr>
              <a:t> </a:t>
            </a:r>
            <a:r>
              <a:rPr lang="en-US" sz="2400" b="1">
                <a:solidFill>
                  <a:schemeClr val="tx2">
                    <a:satMod val="130000"/>
                  </a:schemeClr>
                </a:solidFill>
              </a:rPr>
              <a:t>O</a:t>
            </a:r>
            <a:r>
              <a:rPr lang="en-US" sz="2400">
                <a:solidFill>
                  <a:schemeClr val="tx2">
                    <a:satMod val="130000"/>
                  </a:schemeClr>
                </a:solidFill>
              </a:rPr>
              <a:t>(</a:t>
            </a:r>
            <a:r>
              <a:rPr lang="en-US" sz="2400" b="1">
                <a:solidFill>
                  <a:schemeClr val="tx2">
                    <a:satMod val="130000"/>
                  </a:schemeClr>
                </a:solidFill>
              </a:rPr>
              <a:t>n</a:t>
            </a:r>
            <a:r>
              <a:rPr lang="en-US" sz="2400">
                <a:solidFill>
                  <a:schemeClr val="tx2">
                    <a:satMod val="130000"/>
                  </a:schemeClr>
                </a:solidFill>
              </a:rPr>
              <a:t>!).</a:t>
            </a:r>
            <a:r>
              <a:rPr lang="bg-BG" sz="2400">
                <a:solidFill>
                  <a:schemeClr val="tx2">
                    <a:satMod val="130000"/>
                  </a:schemeClr>
                </a:solidFill>
              </a:rPr>
              <a:t> </a:t>
            </a:r>
            <a:endParaRPr lang="en-US" sz="2400">
              <a:solidFill>
                <a:schemeClr val="tx2">
                  <a:satMod val="13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971550" y="620713"/>
            <a:ext cx="8001000" cy="5715000"/>
          </a:xfrm>
        </p:spPr>
        <p:txBody>
          <a:bodyPr/>
          <a:lstStyle/>
          <a:p>
            <a:pPr fontAlgn="auto">
              <a:spcAft>
                <a:spcPts val="0"/>
              </a:spcAft>
              <a:defRPr/>
            </a:pPr>
            <a:r>
              <a:rPr lang="bg-BG" sz="2400">
                <a:solidFill>
                  <a:schemeClr val="tx2">
                    <a:satMod val="130000"/>
                  </a:schemeClr>
                </a:solidFill>
              </a:rPr>
              <a:t>	Ако търговския пътник трябва да обиколи 20 града (</a:t>
            </a:r>
            <a:r>
              <a:rPr lang="en-US" sz="2400" b="1">
                <a:solidFill>
                  <a:schemeClr val="accent2"/>
                </a:solidFill>
              </a:rPr>
              <a:t>n</a:t>
            </a:r>
            <a:r>
              <a:rPr lang="en-US" sz="2400">
                <a:solidFill>
                  <a:schemeClr val="tx2">
                    <a:satMod val="130000"/>
                  </a:schemeClr>
                </a:solidFill>
              </a:rPr>
              <a:t>=20</a:t>
            </a:r>
            <a:r>
              <a:rPr lang="bg-BG" sz="2400">
                <a:solidFill>
                  <a:schemeClr val="tx2">
                    <a:satMod val="130000"/>
                  </a:schemeClr>
                </a:solidFill>
              </a:rPr>
              <a:t>, 20! </a:t>
            </a:r>
            <a:r>
              <a:rPr lang="bg-BG" sz="2400">
                <a:solidFill>
                  <a:schemeClr val="tx2">
                    <a:satMod val="130000"/>
                  </a:schemeClr>
                </a:solidFill>
                <a:sym typeface="Symbol" pitchFamily="18" charset="2"/>
              </a:rPr>
              <a:t> </a:t>
            </a:r>
            <a:r>
              <a:rPr lang="bg-BG" sz="2400">
                <a:solidFill>
                  <a:schemeClr val="tx2">
                    <a:satMod val="130000"/>
                  </a:schemeClr>
                </a:solidFill>
              </a:rPr>
              <a:t>2 х 10</a:t>
            </a:r>
            <a:r>
              <a:rPr lang="bg-BG" sz="2400" b="1" baseline="30000">
                <a:solidFill>
                  <a:schemeClr val="tx2">
                    <a:satMod val="130000"/>
                  </a:schemeClr>
                </a:solidFill>
              </a:rPr>
              <a:t>18</a:t>
            </a:r>
            <a:r>
              <a:rPr lang="bg-BG" sz="2400">
                <a:solidFill>
                  <a:schemeClr val="tx2">
                    <a:satMod val="130000"/>
                  </a:schemeClr>
                </a:solidFill>
              </a:rPr>
              <a:t>) и ние разполагаме с компютър, изпълняващ една елементарна операция за 10</a:t>
            </a:r>
            <a:r>
              <a:rPr lang="bg-BG" sz="2400" b="1" baseline="30000">
                <a:solidFill>
                  <a:schemeClr val="tx2">
                    <a:satMod val="130000"/>
                  </a:schemeClr>
                </a:solidFill>
              </a:rPr>
              <a:t>-8</a:t>
            </a:r>
            <a:r>
              <a:rPr lang="bg-BG" sz="2400">
                <a:solidFill>
                  <a:schemeClr val="tx2">
                    <a:satMod val="130000"/>
                  </a:schemeClr>
                </a:solidFill>
              </a:rPr>
              <a:t> сек., необходимото за програмата време е:</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2 х 10</a:t>
            </a:r>
            <a:r>
              <a:rPr lang="bg-BG" sz="2400" b="1" baseline="30000">
                <a:solidFill>
                  <a:schemeClr val="tx2">
                    <a:satMod val="130000"/>
                  </a:schemeClr>
                </a:solidFill>
              </a:rPr>
              <a:t>18</a:t>
            </a:r>
            <a:r>
              <a:rPr lang="bg-BG" sz="2400">
                <a:solidFill>
                  <a:schemeClr val="tx2">
                    <a:satMod val="130000"/>
                  </a:schemeClr>
                </a:solidFill>
              </a:rPr>
              <a:t> </a:t>
            </a:r>
            <a:r>
              <a:rPr lang="bg-BG" sz="800">
                <a:solidFill>
                  <a:schemeClr val="tx2">
                    <a:satMod val="130000"/>
                  </a:schemeClr>
                </a:solidFill>
              </a:rPr>
              <a:t/>
            </a:r>
            <a:br>
              <a:rPr lang="bg-BG" sz="800">
                <a:solidFill>
                  <a:schemeClr val="tx2">
                    <a:satMod val="130000"/>
                  </a:schemeClr>
                </a:solidFill>
              </a:rPr>
            </a:br>
            <a:r>
              <a:rPr lang="bg-BG" sz="2400">
                <a:solidFill>
                  <a:schemeClr val="tx2">
                    <a:satMod val="130000"/>
                  </a:schemeClr>
                </a:solidFill>
              </a:rPr>
              <a:t>       	Т =  ------------------------------ </a:t>
            </a:r>
            <a:r>
              <a:rPr lang="bg-BG" sz="2400">
                <a:solidFill>
                  <a:schemeClr val="tx2">
                    <a:satMod val="130000"/>
                  </a:schemeClr>
                </a:solidFill>
                <a:sym typeface="Symbol" pitchFamily="18" charset="2"/>
              </a:rPr>
              <a:t> 700 години</a:t>
            </a:r>
            <a:r>
              <a:rPr lang="bg-BG" sz="2400">
                <a:solidFill>
                  <a:schemeClr val="tx2">
                    <a:satMod val="130000"/>
                  </a:schemeClr>
                </a:solidFill>
              </a:rPr>
              <a:t> </a:t>
            </a:r>
            <a:br>
              <a:rPr lang="bg-BG" sz="2400">
                <a:solidFill>
                  <a:schemeClr val="tx2">
                    <a:satMod val="130000"/>
                  </a:schemeClr>
                </a:solidFill>
              </a:rPr>
            </a:br>
            <a:r>
              <a:rPr lang="bg-BG" sz="2400">
                <a:solidFill>
                  <a:schemeClr val="tx2">
                    <a:satMod val="130000"/>
                  </a:schemeClr>
                </a:solidFill>
              </a:rPr>
              <a:t>                     10</a:t>
            </a:r>
            <a:r>
              <a:rPr lang="bg-BG" sz="2400" b="1" baseline="30000">
                <a:solidFill>
                  <a:schemeClr val="tx2">
                    <a:satMod val="130000"/>
                  </a:schemeClr>
                </a:solidFill>
              </a:rPr>
              <a:t>8</a:t>
            </a:r>
            <a:r>
              <a:rPr lang="bg-BG" sz="2400">
                <a:solidFill>
                  <a:schemeClr val="tx2">
                    <a:satMod val="130000"/>
                  </a:schemeClr>
                </a:solidFill>
              </a:rPr>
              <a:t> х 3600 х 24 х 365</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Алгоритъмът е експоненциален - </a:t>
            </a:r>
            <a:r>
              <a:rPr lang="en-US" sz="2400" b="1" i="1">
                <a:solidFill>
                  <a:schemeClr val="tx2">
                    <a:satMod val="130000"/>
                  </a:schemeClr>
                </a:solidFill>
              </a:rPr>
              <a:t>O</a:t>
            </a:r>
            <a:r>
              <a:rPr lang="en-US" sz="2400" i="1">
                <a:solidFill>
                  <a:schemeClr val="tx2">
                    <a:satMod val="130000"/>
                  </a:schemeClr>
                </a:solidFill>
              </a:rPr>
              <a:t>(</a:t>
            </a:r>
            <a:r>
              <a:rPr lang="en-US" sz="2400" b="1" i="1">
                <a:solidFill>
                  <a:schemeClr val="tx1"/>
                </a:solidFill>
              </a:rPr>
              <a:t>n</a:t>
            </a:r>
            <a:r>
              <a:rPr lang="en-US" sz="2400" i="1">
                <a:solidFill>
                  <a:schemeClr val="tx2">
                    <a:satMod val="130000"/>
                  </a:schemeClr>
                </a:solidFill>
              </a:rPr>
              <a:t>!).</a:t>
            </a:r>
            <a:r>
              <a:rPr lang="bg-BG" sz="2400">
                <a:solidFill>
                  <a:schemeClr val="tx2">
                    <a:satMod val="130000"/>
                  </a:schemeClr>
                </a:solidFill>
              </a:rPr>
              <a:t> </a:t>
            </a:r>
            <a:br>
              <a:rPr lang="bg-BG" sz="2400">
                <a:solidFill>
                  <a:schemeClr val="tx2">
                    <a:satMod val="130000"/>
                  </a:schemeClr>
                </a:solidFill>
              </a:rPr>
            </a:br>
            <a:r>
              <a:rPr lang="bg-BG" sz="2400">
                <a:solidFill>
                  <a:schemeClr val="tx2">
                    <a:satMod val="130000"/>
                  </a:schemeClr>
                </a:solidFill>
              </a:rPr>
              <a:t>	Подобни алгоритми (с пълна, изчерпателна проверка на всички възможни варианти) са неефективни и могат да се използват само при малки </a:t>
            </a:r>
            <a:r>
              <a:rPr lang="en-US" sz="2400" b="1" i="1">
                <a:solidFill>
                  <a:schemeClr val="tx1"/>
                </a:solidFill>
              </a:rPr>
              <a:t>n</a:t>
            </a:r>
            <a:r>
              <a:rPr lang="en-US" sz="2400">
                <a:solidFill>
                  <a:schemeClr val="tx2">
                    <a:satMod val="130000"/>
                  </a:schemeClr>
                </a:solidFill>
              </a:rPr>
              <a:t>.</a:t>
            </a:r>
            <a:r>
              <a:rPr lang="bg-BG" sz="2400">
                <a:solidFill>
                  <a:schemeClr val="tx2">
                    <a:satMod val="130000"/>
                  </a:schemeClr>
                </a:solidFill>
              </a:rPr>
              <a:t> </a:t>
            </a:r>
            <a:br>
              <a:rPr lang="bg-BG" sz="2400">
                <a:solidFill>
                  <a:schemeClr val="tx2">
                    <a:satMod val="130000"/>
                  </a:schemeClr>
                </a:solidFill>
              </a:rPr>
            </a:br>
            <a:r>
              <a:rPr lang="bg-BG" sz="2400">
                <a:solidFill>
                  <a:schemeClr val="tx2">
                    <a:satMod val="130000"/>
                  </a:schemeClr>
                </a:solidFill>
              </a:rPr>
              <a:t>Изход – използване на други известни подходи и методи.</a:t>
            </a:r>
            <a:endParaRPr lang="en-US" sz="2400">
              <a:solidFill>
                <a:schemeClr val="tx2">
                  <a:satMod val="130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042988" y="549275"/>
            <a:ext cx="7867650" cy="5791200"/>
          </a:xfrm>
        </p:spPr>
        <p:txBody>
          <a:bodyPr>
            <a:normAutofit fontScale="90000"/>
          </a:bodyPr>
          <a:lstStyle/>
          <a:p>
            <a:pPr fontAlgn="auto">
              <a:spcAft>
                <a:spcPts val="0"/>
              </a:spcAft>
              <a:defRPr/>
            </a:pPr>
            <a:r>
              <a:rPr lang="bg-BG" sz="3200">
                <a:solidFill>
                  <a:schemeClr val="tx2">
                    <a:satMod val="130000"/>
                  </a:schemeClr>
                </a:solidFill>
              </a:rPr>
              <a:t>		    Евристични алгоритми</a:t>
            </a:r>
            <a:br>
              <a:rPr lang="bg-BG" sz="3200">
                <a:solidFill>
                  <a:schemeClr val="tx2">
                    <a:satMod val="130000"/>
                  </a:schemeClr>
                </a:solidFill>
              </a:rPr>
            </a:br>
            <a:r>
              <a:rPr lang="bg-BG" sz="2400">
                <a:solidFill>
                  <a:schemeClr val="tx2">
                    <a:satMod val="130000"/>
                  </a:schemeClr>
                </a:solidFill>
              </a:rPr>
              <a:t>Свойства:</a:t>
            </a:r>
            <a:br>
              <a:rPr lang="bg-BG" sz="2400">
                <a:solidFill>
                  <a:schemeClr val="tx2">
                    <a:satMod val="130000"/>
                  </a:schemeClr>
                </a:solidFill>
              </a:rPr>
            </a:br>
            <a:r>
              <a:rPr lang="bg-BG" sz="2400">
                <a:solidFill>
                  <a:schemeClr val="tx2">
                    <a:satMod val="130000"/>
                  </a:schemeClr>
                </a:solidFill>
              </a:rPr>
              <a:t>- дават добри, но не винаги оптимални решения;</a:t>
            </a:r>
            <a:br>
              <a:rPr lang="bg-BG" sz="2400">
                <a:solidFill>
                  <a:schemeClr val="tx2">
                    <a:satMod val="130000"/>
                  </a:schemeClr>
                </a:solidFill>
              </a:rPr>
            </a:br>
            <a:r>
              <a:rPr lang="bg-BG" sz="2400">
                <a:solidFill>
                  <a:schemeClr val="tx2">
                    <a:satMod val="130000"/>
                  </a:schemeClr>
                </a:solidFill>
              </a:rPr>
              <a:t>- могат да бъдат реализирани бързо и лесно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Нямат универсален подход за създаването им (“Еврика!”).</a:t>
            </a:r>
            <a:br>
              <a:rPr lang="bg-BG" sz="2400">
                <a:solidFill>
                  <a:schemeClr val="tx2">
                    <a:satMod val="130000"/>
                  </a:schemeClr>
                </a:solidFill>
              </a:rPr>
            </a:br>
            <a:r>
              <a:rPr lang="bg-BG" sz="2400">
                <a:solidFill>
                  <a:schemeClr val="tx2">
                    <a:satMod val="130000"/>
                  </a:schemeClr>
                </a:solidFill>
              </a:rPr>
              <a:t>Препоръки:</a:t>
            </a:r>
            <a:br>
              <a:rPr lang="bg-BG" sz="2400">
                <a:solidFill>
                  <a:schemeClr val="tx2">
                    <a:satMod val="130000"/>
                  </a:schemeClr>
                </a:solidFill>
              </a:rPr>
            </a:br>
            <a:r>
              <a:rPr lang="bg-BG" sz="2400">
                <a:solidFill>
                  <a:schemeClr val="tx2">
                    <a:satMod val="130000"/>
                  </a:schemeClr>
                </a:solidFill>
              </a:rPr>
              <a:t>Всички изисквания към решението се разделят на 2 групи:</a:t>
            </a:r>
            <a:br>
              <a:rPr lang="bg-BG" sz="2400">
                <a:solidFill>
                  <a:schemeClr val="tx2">
                    <a:satMod val="130000"/>
                  </a:schemeClr>
                </a:solidFill>
              </a:rPr>
            </a:br>
            <a:r>
              <a:rPr lang="bg-BG" sz="2400">
                <a:solidFill>
                  <a:schemeClr val="tx2">
                    <a:satMod val="130000"/>
                  </a:schemeClr>
                </a:solidFill>
              </a:rPr>
              <a:t>1. Тези, които лесно се постигат</a:t>
            </a:r>
            <a:br>
              <a:rPr lang="bg-BG" sz="2400">
                <a:solidFill>
                  <a:schemeClr val="tx2">
                    <a:satMod val="130000"/>
                  </a:schemeClr>
                </a:solidFill>
              </a:rPr>
            </a:br>
            <a:r>
              <a:rPr lang="bg-BG" sz="2400">
                <a:solidFill>
                  <a:schemeClr val="tx2">
                    <a:satMod val="130000"/>
                  </a:schemeClr>
                </a:solidFill>
              </a:rPr>
              <a:t>2. Тези, които не се постигат лесно.</a:t>
            </a:r>
            <a:br>
              <a:rPr lang="bg-BG" sz="2400">
                <a:solidFill>
                  <a:schemeClr val="tx2">
                    <a:satMod val="130000"/>
                  </a:schemeClr>
                </a:solidFill>
              </a:rPr>
            </a:br>
            <a:r>
              <a:rPr lang="bg-BG" sz="2400">
                <a:solidFill>
                  <a:schemeClr val="tx2">
                    <a:satMod val="130000"/>
                  </a:schemeClr>
                </a:solidFill>
              </a:rPr>
              <a:t>	или</a:t>
            </a:r>
            <a:br>
              <a:rPr lang="bg-BG" sz="2400">
                <a:solidFill>
                  <a:schemeClr val="tx2">
                    <a:satMod val="130000"/>
                  </a:schemeClr>
                </a:solidFill>
              </a:rPr>
            </a:br>
            <a:r>
              <a:rPr lang="bg-BG" sz="2400">
                <a:solidFill>
                  <a:schemeClr val="tx2">
                    <a:satMod val="130000"/>
                  </a:schemeClr>
                </a:solidFill>
              </a:rPr>
              <a:t>1. Тези, които са задължителни</a:t>
            </a:r>
            <a:br>
              <a:rPr lang="bg-BG" sz="2400">
                <a:solidFill>
                  <a:schemeClr val="tx2">
                    <a:satMod val="130000"/>
                  </a:schemeClr>
                </a:solidFill>
              </a:rPr>
            </a:br>
            <a:r>
              <a:rPr lang="bg-BG" sz="2400">
                <a:solidFill>
                  <a:schemeClr val="tx2">
                    <a:satMod val="130000"/>
                  </a:schemeClr>
                </a:solidFill>
              </a:rPr>
              <a:t>2. Тези, за които може да се направи компромис.</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Целта е да се изгради алгоритъм, гарантиращ изпълнение на изискванията от 1 група и не гарантиращ тези от 2-та (което не означава, че няма да се правят опити да се изпълнят и те).</a:t>
            </a:r>
            <a:endParaRPr lang="en-US" sz="2400">
              <a:solidFill>
                <a:schemeClr val="tx2">
                  <a:satMod val="130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043608" y="1944704"/>
            <a:ext cx="7776095" cy="5791200"/>
          </a:xfrm>
        </p:spPr>
        <p:txBody>
          <a:bodyPr>
            <a:normAutofit fontScale="90000"/>
          </a:bodyPr>
          <a:lstStyle/>
          <a:p>
            <a:pPr fontAlgn="auto">
              <a:lnSpc>
                <a:spcPct val="80000"/>
              </a:lnSpc>
              <a:spcAft>
                <a:spcPts val="0"/>
              </a:spcAft>
              <a:defRPr/>
            </a:pPr>
            <a:r>
              <a:rPr lang="bg-BG" sz="2400" u="sng">
                <a:solidFill>
                  <a:schemeClr val="tx2">
                    <a:satMod val="130000"/>
                  </a:schemeClr>
                </a:solidFill>
              </a:rPr>
              <a:t>Задача за търговския пътник</a:t>
            </a:r>
            <a:r>
              <a:rPr lang="bg-BG" sz="2400">
                <a:solidFill>
                  <a:schemeClr val="tx2">
                    <a:satMod val="130000"/>
                  </a:schemeClr>
                </a:solidFill>
              </a:rPr>
              <a:t>: </a:t>
            </a:r>
            <a:r>
              <a:rPr lang="en-US" sz="2400" smtClean="0">
                <a:solidFill>
                  <a:schemeClr val="tx2">
                    <a:satMod val="130000"/>
                  </a:schemeClr>
                </a:solidFill>
              </a:rPr>
              <a:t/>
            </a:r>
            <a:br>
              <a:rPr lang="en-US" sz="2400" smtClean="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t>
            </a:r>
            <a:r>
              <a:rPr lang="bg-BG" sz="2000">
                <a:solidFill>
                  <a:schemeClr val="tx2">
                    <a:satMod val="130000"/>
                  </a:schemeClr>
                </a:solidFill>
              </a:rPr>
              <a:t>Стъпка:</a:t>
            </a:r>
            <a:br>
              <a:rPr lang="bg-BG" sz="2000">
                <a:solidFill>
                  <a:schemeClr val="tx2">
                    <a:satMod val="130000"/>
                  </a:schemeClr>
                </a:solidFill>
              </a:rPr>
            </a:br>
            <a:r>
              <a:rPr lang="bg-BG" sz="2000">
                <a:solidFill>
                  <a:schemeClr val="tx2">
                    <a:satMod val="130000"/>
                  </a:schemeClr>
                </a:solidFill>
              </a:rPr>
              <a:t>  0 (инициализация)                              </a:t>
            </a:r>
            <a:r>
              <a:rPr lang="en-US" sz="2000" smtClean="0">
                <a:solidFill>
                  <a:schemeClr val="tx2">
                    <a:satMod val="130000"/>
                  </a:schemeClr>
                </a:solidFill>
              </a:rPr>
              <a:t>      LIST </a:t>
            </a:r>
            <a:r>
              <a:rPr lang="en-US" sz="2000">
                <a:solidFill>
                  <a:schemeClr val="tx2">
                    <a:satMod val="130000"/>
                  </a:schemeClr>
                </a:solidFill>
              </a:rPr>
              <a:t>= 0; COST </a:t>
            </a:r>
            <a:r>
              <a:rPr lang="bg-BG" sz="2000">
                <a:solidFill>
                  <a:schemeClr val="tx2">
                    <a:satMod val="130000"/>
                  </a:schemeClr>
                </a:solidFill>
              </a:rPr>
              <a:t>= 0, </a:t>
            </a:r>
            <a:r>
              <a:rPr lang="en-US" sz="2000">
                <a:solidFill>
                  <a:schemeClr val="tx2">
                    <a:satMod val="130000"/>
                  </a:schemeClr>
                </a:solidFill>
              </a:rPr>
              <a:t>V=1 (</a:t>
            </a:r>
            <a:r>
              <a:rPr lang="bg-BG" sz="2000">
                <a:solidFill>
                  <a:schemeClr val="tx2">
                    <a:satMod val="130000"/>
                  </a:schemeClr>
                </a:solidFill>
              </a:rPr>
              <a:t>нач. възел)</a:t>
            </a:r>
            <a:br>
              <a:rPr lang="bg-BG" sz="2000">
                <a:solidFill>
                  <a:schemeClr val="tx2">
                    <a:satMod val="130000"/>
                  </a:schemeClr>
                </a:solidFill>
              </a:rPr>
            </a:br>
            <a:r>
              <a:rPr lang="bg-BG" sz="2000">
                <a:solidFill>
                  <a:schemeClr val="tx2">
                    <a:satMod val="130000"/>
                  </a:schemeClr>
                </a:solidFill>
              </a:rPr>
              <a:t>  1 (посещение на всички градове)</a:t>
            </a:r>
            <a:r>
              <a:rPr lang="en-US" sz="2000">
                <a:solidFill>
                  <a:schemeClr val="tx2">
                    <a:satMod val="130000"/>
                  </a:schemeClr>
                </a:solidFill>
              </a:rPr>
              <a:t>   </a:t>
            </a:r>
            <a:r>
              <a:rPr lang="bg-BG" sz="2000">
                <a:solidFill>
                  <a:schemeClr val="tx2">
                    <a:satMod val="130000"/>
                  </a:schemeClr>
                </a:solidFill>
              </a:rPr>
              <a:t>   За </a:t>
            </a:r>
            <a:r>
              <a:rPr lang="en-US" sz="2000" b="1">
                <a:solidFill>
                  <a:schemeClr val="tx2">
                    <a:satMod val="130000"/>
                  </a:schemeClr>
                </a:solidFill>
              </a:rPr>
              <a:t>i</a:t>
            </a:r>
            <a:r>
              <a:rPr lang="en-US" sz="2000">
                <a:solidFill>
                  <a:schemeClr val="tx2">
                    <a:satMod val="130000"/>
                  </a:schemeClr>
                </a:solidFill>
              </a:rPr>
              <a:t> </a:t>
            </a:r>
            <a:r>
              <a:rPr lang="bg-BG" sz="2000">
                <a:solidFill>
                  <a:schemeClr val="tx2">
                    <a:satMod val="130000"/>
                  </a:schemeClr>
                </a:solidFill>
              </a:rPr>
              <a:t>от 1 до </a:t>
            </a:r>
            <a:r>
              <a:rPr lang="en-US" sz="2000" b="1">
                <a:solidFill>
                  <a:schemeClr val="tx2">
                    <a:satMod val="130000"/>
                  </a:schemeClr>
                </a:solidFill>
              </a:rPr>
              <a:t>n</a:t>
            </a:r>
            <a:r>
              <a:rPr lang="en-US" sz="2000">
                <a:solidFill>
                  <a:schemeClr val="tx2">
                    <a:satMod val="130000"/>
                  </a:schemeClr>
                </a:solidFill>
              </a:rPr>
              <a:t>-1</a:t>
            </a:r>
            <a:r>
              <a:rPr lang="bg-BG" sz="2000">
                <a:solidFill>
                  <a:schemeClr val="tx2">
                    <a:satMod val="130000"/>
                  </a:schemeClr>
                </a:solidFill>
              </a:rPr>
              <a:t/>
            </a:r>
            <a:br>
              <a:rPr lang="bg-BG" sz="2000">
                <a:solidFill>
                  <a:schemeClr val="tx2">
                    <a:satMod val="130000"/>
                  </a:schemeClr>
                </a:solidFill>
              </a:rPr>
            </a:br>
            <a:r>
              <a:rPr lang="en-US" sz="2000">
                <a:solidFill>
                  <a:schemeClr val="tx2">
                    <a:satMod val="130000"/>
                  </a:schemeClr>
                </a:solidFill>
              </a:rPr>
              <a:t>			</a:t>
            </a:r>
            <a:r>
              <a:rPr lang="bg-BG" sz="2000">
                <a:solidFill>
                  <a:schemeClr val="tx2">
                    <a:satMod val="130000"/>
                  </a:schemeClr>
                </a:solidFill>
              </a:rPr>
              <a:t>                          повтаряй стъпка 2;</a:t>
            </a:r>
            <a:br>
              <a:rPr lang="bg-BG" sz="2000">
                <a:solidFill>
                  <a:schemeClr val="tx2">
                    <a:satMod val="130000"/>
                  </a:schemeClr>
                </a:solidFill>
              </a:rPr>
            </a:br>
            <a:r>
              <a:rPr lang="bg-BG" sz="2000">
                <a:solidFill>
                  <a:schemeClr val="tx2">
                    <a:satMod val="130000"/>
                  </a:schemeClr>
                </a:solidFill>
              </a:rPr>
              <a:t>  2 (избор на следващо ребро)               (</a:t>
            </a:r>
            <a:r>
              <a:rPr lang="en-US" sz="2000">
                <a:solidFill>
                  <a:schemeClr val="tx2">
                    <a:satMod val="130000"/>
                  </a:schemeClr>
                </a:solidFill>
              </a:rPr>
              <a:t>V,W)</a:t>
            </a:r>
            <a:r>
              <a:rPr lang="bg-BG" sz="2000">
                <a:solidFill>
                  <a:schemeClr val="tx2">
                    <a:satMod val="130000"/>
                  </a:schemeClr>
                </a:solidFill>
              </a:rPr>
              <a:t> е ребро с </a:t>
            </a:r>
            <a:r>
              <a:rPr lang="en-US" sz="2000">
                <a:solidFill>
                  <a:schemeClr val="tx2">
                    <a:satMod val="130000"/>
                  </a:schemeClr>
                </a:solidFill>
              </a:rPr>
              <a:t>MIN </a:t>
            </a:r>
            <a:r>
              <a:rPr lang="bg-BG" sz="2000">
                <a:solidFill>
                  <a:schemeClr val="tx2">
                    <a:satMod val="130000"/>
                  </a:schemeClr>
                </a:solidFill>
              </a:rPr>
              <a:t>цена, свързващо 				        </a:t>
            </a:r>
            <a:r>
              <a:rPr lang="en-US" sz="2000" smtClean="0">
                <a:solidFill>
                  <a:schemeClr val="tx2">
                    <a:satMod val="130000"/>
                  </a:schemeClr>
                </a:solidFill>
              </a:rPr>
              <a:t>         V</a:t>
            </a:r>
            <a:r>
              <a:rPr lang="bg-BG" sz="2000" smtClean="0">
                <a:solidFill>
                  <a:schemeClr val="tx2">
                    <a:satMod val="130000"/>
                  </a:schemeClr>
                </a:solidFill>
              </a:rPr>
              <a:t> </a:t>
            </a:r>
            <a:r>
              <a:rPr lang="bg-BG" sz="2000">
                <a:solidFill>
                  <a:schemeClr val="tx2">
                    <a:satMod val="130000"/>
                  </a:schemeClr>
                </a:solidFill>
              </a:rPr>
              <a:t>с “непосетен” възел </a:t>
            </a:r>
            <a:r>
              <a:rPr lang="en-US" sz="2000">
                <a:solidFill>
                  <a:schemeClr val="tx2">
                    <a:satMod val="130000"/>
                  </a:schemeClr>
                </a:solidFill>
              </a:rPr>
              <a:t> W</a:t>
            </a:r>
            <a:r>
              <a:rPr lang="bg-BG" sz="2000">
                <a:solidFill>
                  <a:schemeClr val="tx2">
                    <a:satMod val="130000"/>
                  </a:schemeClr>
                </a:solidFill>
              </a:rPr>
              <a:t>:</a:t>
            </a:r>
            <a:br>
              <a:rPr lang="bg-BG" sz="2000">
                <a:solidFill>
                  <a:schemeClr val="tx2">
                    <a:satMod val="130000"/>
                  </a:schemeClr>
                </a:solidFill>
              </a:rPr>
            </a:br>
            <a:r>
              <a:rPr lang="bg-BG" sz="2000">
                <a:solidFill>
                  <a:schemeClr val="tx2">
                    <a:satMod val="130000"/>
                  </a:schemeClr>
                </a:solidFill>
              </a:rPr>
              <a:t>				              </a:t>
            </a:r>
            <a:r>
              <a:rPr lang="en-US" sz="2000">
                <a:solidFill>
                  <a:schemeClr val="tx2">
                    <a:satMod val="130000"/>
                  </a:schemeClr>
                </a:solidFill>
              </a:rPr>
              <a:t>LIST=LIST+W;</a:t>
            </a: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t>
            </a:r>
            <a:r>
              <a:rPr lang="en-US" sz="2000">
                <a:solidFill>
                  <a:schemeClr val="tx2">
                    <a:satMod val="130000"/>
                  </a:schemeClr>
                </a:solidFill>
              </a:rPr>
              <a:t>COST=COST+</a:t>
            </a:r>
            <a:r>
              <a:rPr lang="bg-BG" sz="2000">
                <a:solidFill>
                  <a:schemeClr val="tx2">
                    <a:satMod val="130000"/>
                  </a:schemeClr>
                </a:solidFill>
              </a:rPr>
              <a:t>стойност</a:t>
            </a:r>
            <a:r>
              <a:rPr lang="en-US" sz="2000">
                <a:solidFill>
                  <a:schemeClr val="tx2">
                    <a:satMod val="130000"/>
                  </a:schemeClr>
                </a:solidFill>
              </a:rPr>
              <a:t>(V,W);</a:t>
            </a:r>
            <a:br>
              <a:rPr lang="en-US" sz="2000">
                <a:solidFill>
                  <a:schemeClr val="tx2">
                    <a:satMod val="130000"/>
                  </a:schemeClr>
                </a:solidFill>
              </a:rPr>
            </a:br>
            <a:r>
              <a:rPr lang="en-US" sz="2000">
                <a:solidFill>
                  <a:schemeClr val="tx2">
                    <a:satMod val="130000"/>
                  </a:schemeClr>
                </a:solidFill>
              </a:rPr>
              <a:t>				       </a:t>
            </a:r>
            <a:r>
              <a:rPr lang="bg-BG" sz="2000">
                <a:solidFill>
                  <a:schemeClr val="tx2">
                    <a:satMod val="130000"/>
                  </a:schemeClr>
                </a:solidFill>
              </a:rPr>
              <a:t>     </a:t>
            </a:r>
            <a:r>
              <a:rPr lang="bg-BG" sz="2000" smtClean="0">
                <a:solidFill>
                  <a:schemeClr val="tx2">
                    <a:satMod val="130000"/>
                  </a:schemeClr>
                </a:solidFill>
              </a:rPr>
              <a:t>отбелязване </a:t>
            </a:r>
            <a:r>
              <a:rPr lang="bg-BG" sz="2000">
                <a:solidFill>
                  <a:schemeClr val="tx2">
                    <a:satMod val="130000"/>
                  </a:schemeClr>
                </a:solidFill>
              </a:rPr>
              <a:t>на </a:t>
            </a:r>
            <a:r>
              <a:rPr lang="en-US" sz="2000">
                <a:solidFill>
                  <a:schemeClr val="tx2">
                    <a:satMod val="130000"/>
                  </a:schemeClr>
                </a:solidFill>
              </a:rPr>
              <a:t>W</a:t>
            </a:r>
            <a:r>
              <a:rPr lang="bg-BG" sz="2000">
                <a:solidFill>
                  <a:schemeClr val="tx2">
                    <a:satMod val="130000"/>
                  </a:schemeClr>
                </a:solidFill>
              </a:rPr>
              <a:t> като посетен;</a:t>
            </a:r>
            <a:br>
              <a:rPr lang="bg-BG" sz="2000">
                <a:solidFill>
                  <a:schemeClr val="tx2">
                    <a:satMod val="130000"/>
                  </a:schemeClr>
                </a:solidFill>
              </a:rPr>
            </a:br>
            <a:r>
              <a:rPr lang="bg-BG" sz="2000">
                <a:solidFill>
                  <a:schemeClr val="tx2">
                    <a:satMod val="130000"/>
                  </a:schemeClr>
                </a:solidFill>
              </a:rPr>
              <a:t>				      </a:t>
            </a:r>
            <a:r>
              <a:rPr lang="en-US" sz="2000">
                <a:solidFill>
                  <a:schemeClr val="tx2">
                    <a:satMod val="130000"/>
                  </a:schemeClr>
                </a:solidFill>
              </a:rPr>
              <a:t> </a:t>
            </a:r>
            <a:r>
              <a:rPr lang="bg-BG" sz="2000">
                <a:solidFill>
                  <a:schemeClr val="tx2">
                    <a:satMod val="130000"/>
                  </a:schemeClr>
                </a:solidFill>
              </a:rPr>
              <a:t>       </a:t>
            </a:r>
            <a:r>
              <a:rPr lang="en-US" sz="2000" smtClean="0">
                <a:solidFill>
                  <a:schemeClr val="tx2">
                    <a:satMod val="130000"/>
                  </a:schemeClr>
                </a:solidFill>
              </a:rPr>
              <a:t>V=W</a:t>
            </a:r>
            <a:r>
              <a:rPr lang="en-US" sz="2000">
                <a:solidFill>
                  <a:schemeClr val="tx2">
                    <a:satMod val="130000"/>
                  </a:schemeClr>
                </a:solidFill>
              </a:rPr>
              <a:t>;</a:t>
            </a:r>
            <a:r>
              <a:rPr lang="bg-BG" sz="2000">
                <a:solidFill>
                  <a:schemeClr val="tx2">
                    <a:satMod val="130000"/>
                  </a:schemeClr>
                </a:solidFill>
              </a:rPr>
              <a:t>        </a:t>
            </a:r>
            <a:br>
              <a:rPr lang="bg-BG" sz="2000">
                <a:solidFill>
                  <a:schemeClr val="tx2">
                    <a:satMod val="130000"/>
                  </a:schemeClr>
                </a:solidFill>
              </a:rPr>
            </a:br>
            <a:r>
              <a:rPr lang="bg-BG" sz="2000">
                <a:solidFill>
                  <a:schemeClr val="tx2">
                    <a:satMod val="130000"/>
                  </a:schemeClr>
                </a:solidFill>
              </a:rPr>
              <a:t>  3 (завършване на маршрута)               </a:t>
            </a:r>
            <a:r>
              <a:rPr lang="en-US" sz="2000" smtClean="0">
                <a:solidFill>
                  <a:schemeClr val="tx2">
                    <a:satMod val="130000"/>
                  </a:schemeClr>
                </a:solidFill>
              </a:rPr>
              <a:t> LIST=LIST+</a:t>
            </a:r>
            <a:r>
              <a:rPr lang="bg-BG" sz="2000">
                <a:solidFill>
                  <a:schemeClr val="tx2">
                    <a:satMod val="130000"/>
                  </a:schemeClr>
                </a:solidFill>
              </a:rPr>
              <a:t>1</a:t>
            </a:r>
            <a:r>
              <a:rPr lang="en-US" sz="2000">
                <a:solidFill>
                  <a:schemeClr val="tx2">
                    <a:satMod val="130000"/>
                  </a:schemeClr>
                </a:solidFill>
              </a:rPr>
              <a:t>;</a:t>
            </a:r>
            <a:r>
              <a:rPr lang="bg-BG" sz="2000">
                <a:solidFill>
                  <a:schemeClr val="tx2">
                    <a:satMod val="130000"/>
                  </a:schemeClr>
                </a:solidFill>
              </a:rPr>
              <a:t> (добавяне  на 	нач.град)			                      </a:t>
            </a:r>
            <a:r>
              <a:rPr lang="en-US" sz="2000" smtClean="0">
                <a:solidFill>
                  <a:schemeClr val="tx2">
                    <a:satMod val="130000"/>
                  </a:schemeClr>
                </a:solidFill>
              </a:rPr>
              <a:t>             OST=COST+</a:t>
            </a:r>
            <a:r>
              <a:rPr lang="bg-BG" sz="2000">
                <a:solidFill>
                  <a:schemeClr val="tx2">
                    <a:satMod val="130000"/>
                  </a:schemeClr>
                </a:solidFill>
              </a:rPr>
              <a:t>стойност</a:t>
            </a:r>
            <a:r>
              <a:rPr lang="en-US" sz="2000">
                <a:solidFill>
                  <a:schemeClr val="tx2">
                    <a:satMod val="130000"/>
                  </a:schemeClr>
                </a:solidFill>
              </a:rPr>
              <a:t>(V,</a:t>
            </a:r>
            <a:r>
              <a:rPr lang="bg-BG" sz="2000">
                <a:solidFill>
                  <a:schemeClr val="tx2">
                    <a:satMod val="130000"/>
                  </a:schemeClr>
                </a:solidFill>
              </a:rPr>
              <a:t>1</a:t>
            </a:r>
            <a:r>
              <a:rPr lang="en-US" sz="2000">
                <a:solidFill>
                  <a:schemeClr val="tx2">
                    <a:satMod val="130000"/>
                  </a:schemeClr>
                </a:solidFill>
              </a:rPr>
              <a:t>);</a:t>
            </a:r>
            <a:br>
              <a:rPr lang="en-US"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4 Край</a:t>
            </a:r>
            <a:r>
              <a:rPr lang="bg-BG" sz="2400">
                <a:solidFill>
                  <a:schemeClr val="tx2">
                    <a:satMod val="130000"/>
                  </a:schemeClr>
                </a:solidFill>
              </a:rPr>
              <a:t>  </a:t>
            </a:r>
            <a:r>
              <a:rPr lang="en-US" sz="2400">
                <a:solidFill>
                  <a:schemeClr val="tx2">
                    <a:satMod val="130000"/>
                  </a:schemeClr>
                </a:solidFill>
              </a:rPr>
              <a:t>		</a:t>
            </a:r>
            <a:r>
              <a:rPr lang="bg-BG" sz="2400" u="sng">
                <a:solidFill>
                  <a:srgbClr val="FF0066"/>
                </a:solidFill>
              </a:rPr>
              <a:t>Сложност на алгоритъма е </a:t>
            </a:r>
            <a:r>
              <a:rPr lang="en-US" sz="2400" u="sng">
                <a:solidFill>
                  <a:srgbClr val="FF0066"/>
                </a:solidFill>
              </a:rPr>
              <a:t>O(n</a:t>
            </a:r>
            <a:r>
              <a:rPr lang="en-US" sz="2400" u="sng" baseline="30000">
                <a:solidFill>
                  <a:srgbClr val="FF0066"/>
                </a:solidFill>
              </a:rPr>
              <a:t>2</a:t>
            </a:r>
            <a:r>
              <a:rPr lang="en-US" sz="2400" u="sng">
                <a:solidFill>
                  <a:srgbClr val="FF0066"/>
                </a:solidFill>
              </a:rPr>
              <a:t>)</a:t>
            </a:r>
            <a:r>
              <a:rPr lang="bg-BG" sz="2400">
                <a:solidFill>
                  <a:schemeClr val="tx2">
                    <a:satMod val="130000"/>
                  </a:schemeClr>
                </a:solidFill>
              </a:rPr>
              <a:t>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t>
            </a:r>
            <a:endParaRPr lang="en-US" sz="2400">
              <a:solidFill>
                <a:schemeClr val="tx2">
                  <a:satMod val="130000"/>
                </a:schemeClr>
              </a:solidFill>
            </a:endParaRPr>
          </a:p>
        </p:txBody>
      </p:sp>
      <p:grpSp>
        <p:nvGrpSpPr>
          <p:cNvPr id="23555" name="Group 3"/>
          <p:cNvGrpSpPr>
            <a:grpSpLocks/>
          </p:cNvGrpSpPr>
          <p:nvPr/>
        </p:nvGrpSpPr>
        <p:grpSpPr bwMode="auto">
          <a:xfrm>
            <a:off x="5486400" y="152400"/>
            <a:ext cx="2743200" cy="2971800"/>
            <a:chOff x="1744" y="1008"/>
            <a:chExt cx="2000" cy="2448"/>
          </a:xfrm>
        </p:grpSpPr>
        <p:sp>
          <p:nvSpPr>
            <p:cNvPr id="23579" name="Oval 4"/>
            <p:cNvSpPr>
              <a:spLocks noChangeArrowheads="1"/>
            </p:cNvSpPr>
            <p:nvPr/>
          </p:nvSpPr>
          <p:spPr bwMode="auto">
            <a:xfrm>
              <a:off x="3024" y="1008"/>
              <a:ext cx="288" cy="288"/>
            </a:xfrm>
            <a:prstGeom prst="ellipse">
              <a:avLst/>
            </a:prstGeom>
            <a:solidFill>
              <a:srgbClr val="FFFFFF"/>
            </a:solidFill>
            <a:ln w="9525">
              <a:solidFill>
                <a:srgbClr val="000000"/>
              </a:solidFill>
              <a:round/>
              <a:headEnd/>
              <a:tailEnd/>
            </a:ln>
          </p:spPr>
          <p:txBody>
            <a:bodyPr/>
            <a:lstStyle/>
            <a:p>
              <a:endParaRPr lang="bg-BG"/>
            </a:p>
          </p:txBody>
        </p:sp>
        <p:sp>
          <p:nvSpPr>
            <p:cNvPr id="23580" name="Oval 5"/>
            <p:cNvSpPr>
              <a:spLocks noChangeArrowheads="1"/>
            </p:cNvSpPr>
            <p:nvPr/>
          </p:nvSpPr>
          <p:spPr bwMode="auto">
            <a:xfrm>
              <a:off x="1744" y="2192"/>
              <a:ext cx="288" cy="288"/>
            </a:xfrm>
            <a:prstGeom prst="ellipse">
              <a:avLst/>
            </a:prstGeom>
            <a:solidFill>
              <a:srgbClr val="FFFFFF"/>
            </a:solidFill>
            <a:ln w="9525">
              <a:solidFill>
                <a:srgbClr val="000000"/>
              </a:solidFill>
              <a:round/>
              <a:headEnd/>
              <a:tailEnd/>
            </a:ln>
          </p:spPr>
          <p:txBody>
            <a:bodyPr/>
            <a:lstStyle/>
            <a:p>
              <a:endParaRPr lang="bg-BG"/>
            </a:p>
          </p:txBody>
        </p:sp>
        <p:sp>
          <p:nvSpPr>
            <p:cNvPr id="23581" name="Oval 6"/>
            <p:cNvSpPr>
              <a:spLocks noChangeArrowheads="1"/>
            </p:cNvSpPr>
            <p:nvPr/>
          </p:nvSpPr>
          <p:spPr bwMode="auto">
            <a:xfrm>
              <a:off x="2418" y="3168"/>
              <a:ext cx="288" cy="288"/>
            </a:xfrm>
            <a:prstGeom prst="ellipse">
              <a:avLst/>
            </a:prstGeom>
            <a:solidFill>
              <a:srgbClr val="FFFFFF"/>
            </a:solidFill>
            <a:ln w="9525">
              <a:solidFill>
                <a:srgbClr val="000000"/>
              </a:solidFill>
              <a:round/>
              <a:headEnd/>
              <a:tailEnd/>
            </a:ln>
          </p:spPr>
          <p:txBody>
            <a:bodyPr/>
            <a:lstStyle/>
            <a:p>
              <a:endParaRPr lang="bg-BG"/>
            </a:p>
          </p:txBody>
        </p:sp>
        <p:sp>
          <p:nvSpPr>
            <p:cNvPr id="23582" name="Oval 7"/>
            <p:cNvSpPr>
              <a:spLocks noChangeArrowheads="1"/>
            </p:cNvSpPr>
            <p:nvPr/>
          </p:nvSpPr>
          <p:spPr bwMode="auto">
            <a:xfrm>
              <a:off x="3168" y="3168"/>
              <a:ext cx="288" cy="288"/>
            </a:xfrm>
            <a:prstGeom prst="ellipse">
              <a:avLst/>
            </a:prstGeom>
            <a:solidFill>
              <a:srgbClr val="FFFFFF"/>
            </a:solidFill>
            <a:ln w="9525">
              <a:solidFill>
                <a:srgbClr val="000000"/>
              </a:solidFill>
              <a:round/>
              <a:headEnd/>
              <a:tailEnd/>
            </a:ln>
          </p:spPr>
          <p:txBody>
            <a:bodyPr/>
            <a:lstStyle/>
            <a:p>
              <a:endParaRPr lang="bg-BG"/>
            </a:p>
          </p:txBody>
        </p:sp>
        <p:sp>
          <p:nvSpPr>
            <p:cNvPr id="23583" name="Oval 8"/>
            <p:cNvSpPr>
              <a:spLocks noChangeArrowheads="1"/>
            </p:cNvSpPr>
            <p:nvPr/>
          </p:nvSpPr>
          <p:spPr bwMode="auto">
            <a:xfrm>
              <a:off x="3456" y="1872"/>
              <a:ext cx="288" cy="288"/>
            </a:xfrm>
            <a:prstGeom prst="ellipse">
              <a:avLst/>
            </a:prstGeom>
            <a:solidFill>
              <a:srgbClr val="FFFFFF"/>
            </a:solidFill>
            <a:ln w="9525">
              <a:solidFill>
                <a:srgbClr val="000000"/>
              </a:solidFill>
              <a:round/>
              <a:headEnd/>
              <a:tailEnd/>
            </a:ln>
          </p:spPr>
          <p:txBody>
            <a:bodyPr/>
            <a:lstStyle/>
            <a:p>
              <a:endParaRPr lang="bg-BG"/>
            </a:p>
          </p:txBody>
        </p:sp>
        <p:sp>
          <p:nvSpPr>
            <p:cNvPr id="23584" name="Line 9"/>
            <p:cNvSpPr>
              <a:spLocks noChangeShapeType="1"/>
            </p:cNvSpPr>
            <p:nvPr/>
          </p:nvSpPr>
          <p:spPr bwMode="auto">
            <a:xfrm flipV="1">
              <a:off x="2016" y="1296"/>
              <a:ext cx="1152" cy="1008"/>
            </a:xfrm>
            <a:prstGeom prst="line">
              <a:avLst/>
            </a:prstGeom>
            <a:noFill/>
            <a:ln w="9525">
              <a:solidFill>
                <a:srgbClr val="000000"/>
              </a:solidFill>
              <a:round/>
              <a:headEnd/>
              <a:tailEnd/>
            </a:ln>
          </p:spPr>
          <p:txBody>
            <a:bodyPr/>
            <a:lstStyle/>
            <a:p>
              <a:endParaRPr lang="bg-BG"/>
            </a:p>
          </p:txBody>
        </p:sp>
        <p:sp>
          <p:nvSpPr>
            <p:cNvPr id="23585" name="Line 10"/>
            <p:cNvSpPr>
              <a:spLocks noChangeShapeType="1"/>
            </p:cNvSpPr>
            <p:nvPr/>
          </p:nvSpPr>
          <p:spPr bwMode="auto">
            <a:xfrm>
              <a:off x="2016" y="2448"/>
              <a:ext cx="432" cy="720"/>
            </a:xfrm>
            <a:prstGeom prst="line">
              <a:avLst/>
            </a:prstGeom>
            <a:noFill/>
            <a:ln w="9525">
              <a:solidFill>
                <a:srgbClr val="000000"/>
              </a:solidFill>
              <a:round/>
              <a:headEnd/>
              <a:tailEnd/>
            </a:ln>
          </p:spPr>
          <p:txBody>
            <a:bodyPr/>
            <a:lstStyle/>
            <a:p>
              <a:endParaRPr lang="bg-BG"/>
            </a:p>
          </p:txBody>
        </p:sp>
        <p:sp>
          <p:nvSpPr>
            <p:cNvPr id="23586" name="Line 11"/>
            <p:cNvSpPr>
              <a:spLocks noChangeShapeType="1"/>
            </p:cNvSpPr>
            <p:nvPr/>
          </p:nvSpPr>
          <p:spPr bwMode="auto">
            <a:xfrm flipV="1">
              <a:off x="2016" y="2016"/>
              <a:ext cx="1440" cy="288"/>
            </a:xfrm>
            <a:prstGeom prst="line">
              <a:avLst/>
            </a:prstGeom>
            <a:noFill/>
            <a:ln w="9525">
              <a:solidFill>
                <a:srgbClr val="000000"/>
              </a:solidFill>
              <a:round/>
              <a:headEnd/>
              <a:tailEnd/>
            </a:ln>
          </p:spPr>
          <p:txBody>
            <a:bodyPr/>
            <a:lstStyle/>
            <a:p>
              <a:endParaRPr lang="bg-BG"/>
            </a:p>
          </p:txBody>
        </p:sp>
        <p:sp>
          <p:nvSpPr>
            <p:cNvPr id="23587" name="Line 12"/>
            <p:cNvSpPr>
              <a:spLocks noChangeShapeType="1"/>
            </p:cNvSpPr>
            <p:nvPr/>
          </p:nvSpPr>
          <p:spPr bwMode="auto">
            <a:xfrm>
              <a:off x="2736" y="3312"/>
              <a:ext cx="432" cy="0"/>
            </a:xfrm>
            <a:prstGeom prst="line">
              <a:avLst/>
            </a:prstGeom>
            <a:noFill/>
            <a:ln w="9525">
              <a:solidFill>
                <a:srgbClr val="000000"/>
              </a:solidFill>
              <a:round/>
              <a:headEnd/>
              <a:tailEnd/>
            </a:ln>
          </p:spPr>
          <p:txBody>
            <a:bodyPr/>
            <a:lstStyle/>
            <a:p>
              <a:endParaRPr lang="bg-BG"/>
            </a:p>
          </p:txBody>
        </p:sp>
        <p:sp>
          <p:nvSpPr>
            <p:cNvPr id="23588" name="Line 13"/>
            <p:cNvSpPr>
              <a:spLocks noChangeShapeType="1"/>
            </p:cNvSpPr>
            <p:nvPr/>
          </p:nvSpPr>
          <p:spPr bwMode="auto">
            <a:xfrm flipV="1">
              <a:off x="3312" y="2160"/>
              <a:ext cx="288" cy="1008"/>
            </a:xfrm>
            <a:prstGeom prst="line">
              <a:avLst/>
            </a:prstGeom>
            <a:noFill/>
            <a:ln w="9525">
              <a:solidFill>
                <a:srgbClr val="000000"/>
              </a:solidFill>
              <a:round/>
              <a:headEnd/>
              <a:tailEnd/>
            </a:ln>
          </p:spPr>
          <p:txBody>
            <a:bodyPr/>
            <a:lstStyle/>
            <a:p>
              <a:endParaRPr lang="bg-BG"/>
            </a:p>
          </p:txBody>
        </p:sp>
        <p:sp>
          <p:nvSpPr>
            <p:cNvPr id="23589" name="Line 14"/>
            <p:cNvSpPr>
              <a:spLocks noChangeShapeType="1"/>
            </p:cNvSpPr>
            <p:nvPr/>
          </p:nvSpPr>
          <p:spPr bwMode="auto">
            <a:xfrm flipH="1">
              <a:off x="2592" y="1296"/>
              <a:ext cx="576" cy="1872"/>
            </a:xfrm>
            <a:prstGeom prst="line">
              <a:avLst/>
            </a:prstGeom>
            <a:noFill/>
            <a:ln w="9525">
              <a:solidFill>
                <a:srgbClr val="000000"/>
              </a:solidFill>
              <a:round/>
              <a:headEnd/>
              <a:tailEnd/>
            </a:ln>
          </p:spPr>
          <p:txBody>
            <a:bodyPr/>
            <a:lstStyle/>
            <a:p>
              <a:endParaRPr lang="bg-BG"/>
            </a:p>
          </p:txBody>
        </p:sp>
        <p:sp>
          <p:nvSpPr>
            <p:cNvPr id="23590" name="Line 15"/>
            <p:cNvSpPr>
              <a:spLocks noChangeShapeType="1"/>
            </p:cNvSpPr>
            <p:nvPr/>
          </p:nvSpPr>
          <p:spPr bwMode="auto">
            <a:xfrm>
              <a:off x="3168" y="1296"/>
              <a:ext cx="144" cy="1872"/>
            </a:xfrm>
            <a:prstGeom prst="line">
              <a:avLst/>
            </a:prstGeom>
            <a:noFill/>
            <a:ln w="9525">
              <a:solidFill>
                <a:srgbClr val="000000"/>
              </a:solidFill>
              <a:round/>
              <a:headEnd/>
              <a:tailEnd/>
            </a:ln>
          </p:spPr>
          <p:txBody>
            <a:bodyPr/>
            <a:lstStyle/>
            <a:p>
              <a:endParaRPr lang="bg-BG"/>
            </a:p>
          </p:txBody>
        </p:sp>
        <p:sp>
          <p:nvSpPr>
            <p:cNvPr id="23591" name="Line 16"/>
            <p:cNvSpPr>
              <a:spLocks noChangeShapeType="1"/>
            </p:cNvSpPr>
            <p:nvPr/>
          </p:nvSpPr>
          <p:spPr bwMode="auto">
            <a:xfrm flipH="1">
              <a:off x="2632" y="2144"/>
              <a:ext cx="864" cy="1008"/>
            </a:xfrm>
            <a:prstGeom prst="line">
              <a:avLst/>
            </a:prstGeom>
            <a:noFill/>
            <a:ln w="9525">
              <a:solidFill>
                <a:srgbClr val="000000"/>
              </a:solidFill>
              <a:round/>
              <a:headEnd/>
              <a:tailEnd/>
            </a:ln>
          </p:spPr>
          <p:txBody>
            <a:bodyPr/>
            <a:lstStyle/>
            <a:p>
              <a:endParaRPr lang="bg-BG"/>
            </a:p>
          </p:txBody>
        </p:sp>
        <p:sp>
          <p:nvSpPr>
            <p:cNvPr id="23592" name="Line 17"/>
            <p:cNvSpPr>
              <a:spLocks noChangeShapeType="1"/>
            </p:cNvSpPr>
            <p:nvPr/>
          </p:nvSpPr>
          <p:spPr bwMode="auto">
            <a:xfrm>
              <a:off x="2016" y="2448"/>
              <a:ext cx="1152" cy="864"/>
            </a:xfrm>
            <a:prstGeom prst="line">
              <a:avLst/>
            </a:prstGeom>
            <a:noFill/>
            <a:ln w="9525">
              <a:solidFill>
                <a:srgbClr val="000000"/>
              </a:solidFill>
              <a:round/>
              <a:headEnd/>
              <a:tailEnd/>
            </a:ln>
          </p:spPr>
          <p:txBody>
            <a:bodyPr/>
            <a:lstStyle/>
            <a:p>
              <a:endParaRPr lang="bg-BG"/>
            </a:p>
          </p:txBody>
        </p:sp>
        <p:sp>
          <p:nvSpPr>
            <p:cNvPr id="23593" name="Line 18"/>
            <p:cNvSpPr>
              <a:spLocks noChangeShapeType="1"/>
            </p:cNvSpPr>
            <p:nvPr/>
          </p:nvSpPr>
          <p:spPr bwMode="auto">
            <a:xfrm>
              <a:off x="3168" y="1296"/>
              <a:ext cx="432" cy="576"/>
            </a:xfrm>
            <a:prstGeom prst="line">
              <a:avLst/>
            </a:prstGeom>
            <a:noFill/>
            <a:ln w="9525">
              <a:solidFill>
                <a:srgbClr val="000000"/>
              </a:solidFill>
              <a:round/>
              <a:headEnd/>
              <a:tailEnd/>
            </a:ln>
          </p:spPr>
          <p:txBody>
            <a:bodyPr/>
            <a:lstStyle/>
            <a:p>
              <a:endParaRPr lang="bg-BG"/>
            </a:p>
          </p:txBody>
        </p:sp>
      </p:grpSp>
      <p:sp>
        <p:nvSpPr>
          <p:cNvPr id="23556" name="Text Box 19"/>
          <p:cNvSpPr txBox="1">
            <a:spLocks noChangeArrowheads="1"/>
          </p:cNvSpPr>
          <p:nvPr/>
        </p:nvSpPr>
        <p:spPr bwMode="auto">
          <a:xfrm>
            <a:off x="7289800" y="76200"/>
            <a:ext cx="457200" cy="457200"/>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23557" name="Text Box 20"/>
          <p:cNvSpPr txBox="1">
            <a:spLocks noChangeArrowheads="1"/>
          </p:cNvSpPr>
          <p:nvPr/>
        </p:nvSpPr>
        <p:spPr bwMode="auto">
          <a:xfrm>
            <a:off x="5511800" y="1524000"/>
            <a:ext cx="381000" cy="457200"/>
          </a:xfrm>
          <a:prstGeom prst="rect">
            <a:avLst/>
          </a:prstGeom>
          <a:noFill/>
          <a:ln w="9525">
            <a:noFill/>
            <a:miter lim="800000"/>
            <a:headEnd/>
            <a:tailEnd/>
          </a:ln>
        </p:spPr>
        <p:txBody>
          <a:bodyPr>
            <a:spAutoFit/>
          </a:bodyPr>
          <a:lstStyle/>
          <a:p>
            <a:pPr>
              <a:spcBef>
                <a:spcPct val="50000"/>
              </a:spcBef>
            </a:pPr>
            <a:r>
              <a:rPr lang="bg-BG"/>
              <a:t>5</a:t>
            </a:r>
            <a:endParaRPr lang="en-US"/>
          </a:p>
        </p:txBody>
      </p:sp>
      <p:sp>
        <p:nvSpPr>
          <p:cNvPr id="23558" name="Text Box 21"/>
          <p:cNvSpPr txBox="1">
            <a:spLocks noChangeArrowheads="1"/>
          </p:cNvSpPr>
          <p:nvPr/>
        </p:nvSpPr>
        <p:spPr bwMode="auto">
          <a:xfrm>
            <a:off x="6438900" y="2692400"/>
            <a:ext cx="381000" cy="457200"/>
          </a:xfrm>
          <a:prstGeom prst="rect">
            <a:avLst/>
          </a:prstGeom>
          <a:noFill/>
          <a:ln w="9525">
            <a:noFill/>
            <a:miter lim="800000"/>
            <a:headEnd/>
            <a:tailEnd/>
          </a:ln>
        </p:spPr>
        <p:txBody>
          <a:bodyPr>
            <a:spAutoFit/>
          </a:bodyPr>
          <a:lstStyle/>
          <a:p>
            <a:pPr>
              <a:spcBef>
                <a:spcPct val="50000"/>
              </a:spcBef>
            </a:pPr>
            <a:r>
              <a:rPr lang="bg-BG"/>
              <a:t>4</a:t>
            </a:r>
            <a:endParaRPr lang="en-US"/>
          </a:p>
        </p:txBody>
      </p:sp>
      <p:sp>
        <p:nvSpPr>
          <p:cNvPr id="23559" name="Text Box 22"/>
          <p:cNvSpPr txBox="1">
            <a:spLocks noChangeArrowheads="1"/>
          </p:cNvSpPr>
          <p:nvPr/>
        </p:nvSpPr>
        <p:spPr bwMode="auto">
          <a:xfrm>
            <a:off x="7467600" y="2667000"/>
            <a:ext cx="381000" cy="457200"/>
          </a:xfrm>
          <a:prstGeom prst="rect">
            <a:avLst/>
          </a:prstGeom>
          <a:noFill/>
          <a:ln w="9525">
            <a:noFill/>
            <a:miter lim="800000"/>
            <a:headEnd/>
            <a:tailEnd/>
          </a:ln>
        </p:spPr>
        <p:txBody>
          <a:bodyPr>
            <a:spAutoFit/>
          </a:bodyPr>
          <a:lstStyle/>
          <a:p>
            <a:r>
              <a:rPr lang="bg-BG"/>
              <a:t>3</a:t>
            </a:r>
            <a:endParaRPr lang="en-US"/>
          </a:p>
        </p:txBody>
      </p:sp>
      <p:sp>
        <p:nvSpPr>
          <p:cNvPr id="23560" name="Text Box 23"/>
          <p:cNvSpPr txBox="1">
            <a:spLocks noChangeArrowheads="1"/>
          </p:cNvSpPr>
          <p:nvPr/>
        </p:nvSpPr>
        <p:spPr bwMode="auto">
          <a:xfrm>
            <a:off x="7874000" y="1117600"/>
            <a:ext cx="304800" cy="457200"/>
          </a:xfrm>
          <a:prstGeom prst="rect">
            <a:avLst/>
          </a:prstGeom>
          <a:noFill/>
          <a:ln w="9525">
            <a:noFill/>
            <a:miter lim="800000"/>
            <a:headEnd/>
            <a:tailEnd/>
          </a:ln>
        </p:spPr>
        <p:txBody>
          <a:bodyPr>
            <a:spAutoFit/>
          </a:bodyPr>
          <a:lstStyle/>
          <a:p>
            <a:pPr>
              <a:spcBef>
                <a:spcPct val="50000"/>
              </a:spcBef>
            </a:pPr>
            <a:r>
              <a:rPr lang="bg-BG"/>
              <a:t>2</a:t>
            </a:r>
            <a:endParaRPr lang="en-US"/>
          </a:p>
        </p:txBody>
      </p:sp>
      <p:sp>
        <p:nvSpPr>
          <p:cNvPr id="18456" name="Text Box 24"/>
          <p:cNvSpPr txBox="1">
            <a:spLocks noChangeArrowheads="1"/>
          </p:cNvSpPr>
          <p:nvPr/>
        </p:nvSpPr>
        <p:spPr bwMode="auto">
          <a:xfrm>
            <a:off x="7708900" y="596900"/>
            <a:ext cx="304800" cy="396875"/>
          </a:xfrm>
          <a:prstGeom prst="rect">
            <a:avLst/>
          </a:prstGeom>
          <a:noFill/>
          <a:ln w="9525">
            <a:noFill/>
            <a:miter lim="800000"/>
            <a:headEnd/>
            <a:tailEnd/>
          </a:ln>
          <a:effectLst/>
        </p:spPr>
        <p:txBody>
          <a:bodyPr>
            <a:spAutoFit/>
          </a:bodyPr>
          <a:lstStyle/>
          <a:p>
            <a:pPr>
              <a:spcBef>
                <a:spcPct val="50000"/>
              </a:spcBef>
              <a:defRPr/>
            </a:pPr>
            <a:r>
              <a:rPr lang="bg-BG" sz="2000">
                <a:solidFill>
                  <a:schemeClr val="accent3"/>
                </a:solidFill>
              </a:rPr>
              <a:t>1</a:t>
            </a:r>
            <a:endParaRPr lang="en-US" sz="2000">
              <a:solidFill>
                <a:schemeClr val="accent3"/>
              </a:solidFill>
            </a:endParaRPr>
          </a:p>
        </p:txBody>
      </p:sp>
      <p:sp>
        <p:nvSpPr>
          <p:cNvPr id="18457" name="Text Box 25"/>
          <p:cNvSpPr txBox="1">
            <a:spLocks noChangeArrowheads="1"/>
          </p:cNvSpPr>
          <p:nvPr/>
        </p:nvSpPr>
        <p:spPr bwMode="auto">
          <a:xfrm>
            <a:off x="6324600" y="762000"/>
            <a:ext cx="304800" cy="396875"/>
          </a:xfrm>
          <a:prstGeom prst="rect">
            <a:avLst/>
          </a:prstGeom>
          <a:noFill/>
          <a:ln w="9525">
            <a:noFill/>
            <a:miter lim="800000"/>
            <a:headEnd/>
            <a:tailEnd/>
          </a:ln>
          <a:effectLst/>
        </p:spPr>
        <p:txBody>
          <a:bodyPr>
            <a:spAutoFit/>
          </a:bodyPr>
          <a:lstStyle/>
          <a:p>
            <a:pPr>
              <a:spcBef>
                <a:spcPct val="50000"/>
              </a:spcBef>
              <a:defRPr/>
            </a:pPr>
            <a:r>
              <a:rPr lang="bg-BG" sz="2000">
                <a:solidFill>
                  <a:schemeClr val="accent3"/>
                </a:solidFill>
              </a:rPr>
              <a:t>5</a:t>
            </a:r>
            <a:endParaRPr lang="en-US" sz="2000">
              <a:solidFill>
                <a:schemeClr val="accent3"/>
              </a:solidFill>
            </a:endParaRPr>
          </a:p>
        </p:txBody>
      </p:sp>
      <p:sp>
        <p:nvSpPr>
          <p:cNvPr id="18458" name="Text Box 26"/>
          <p:cNvSpPr txBox="1">
            <a:spLocks noChangeArrowheads="1"/>
          </p:cNvSpPr>
          <p:nvPr/>
        </p:nvSpPr>
        <p:spPr bwMode="auto">
          <a:xfrm>
            <a:off x="7848600" y="1828800"/>
            <a:ext cx="304800" cy="396875"/>
          </a:xfrm>
          <a:prstGeom prst="rect">
            <a:avLst/>
          </a:prstGeom>
          <a:noFill/>
          <a:ln w="9525">
            <a:noFill/>
            <a:miter lim="800000"/>
            <a:headEnd/>
            <a:tailEnd/>
          </a:ln>
          <a:effectLst/>
        </p:spPr>
        <p:txBody>
          <a:bodyPr>
            <a:spAutoFit/>
          </a:bodyPr>
          <a:lstStyle/>
          <a:p>
            <a:pPr>
              <a:spcBef>
                <a:spcPct val="50000"/>
              </a:spcBef>
              <a:defRPr/>
            </a:pPr>
            <a:r>
              <a:rPr lang="bg-BG" sz="2000">
                <a:solidFill>
                  <a:schemeClr val="accent3"/>
                </a:solidFill>
              </a:rPr>
              <a:t>4</a:t>
            </a:r>
            <a:endParaRPr lang="en-US" sz="2000">
              <a:solidFill>
                <a:schemeClr val="accent3"/>
              </a:solidFill>
            </a:endParaRPr>
          </a:p>
        </p:txBody>
      </p:sp>
      <p:sp>
        <p:nvSpPr>
          <p:cNvPr id="18459" name="Text Box 27"/>
          <p:cNvSpPr txBox="1">
            <a:spLocks noChangeArrowheads="1"/>
          </p:cNvSpPr>
          <p:nvPr/>
        </p:nvSpPr>
        <p:spPr bwMode="auto">
          <a:xfrm>
            <a:off x="5943600" y="2209800"/>
            <a:ext cx="304800" cy="396875"/>
          </a:xfrm>
          <a:prstGeom prst="rect">
            <a:avLst/>
          </a:prstGeom>
          <a:noFill/>
          <a:ln w="9525">
            <a:noFill/>
            <a:miter lim="800000"/>
            <a:headEnd/>
            <a:tailEnd/>
          </a:ln>
          <a:effectLst/>
        </p:spPr>
        <p:txBody>
          <a:bodyPr>
            <a:spAutoFit/>
          </a:bodyPr>
          <a:lstStyle/>
          <a:p>
            <a:pPr>
              <a:spcBef>
                <a:spcPct val="50000"/>
              </a:spcBef>
              <a:defRPr/>
            </a:pPr>
            <a:r>
              <a:rPr lang="bg-BG" sz="2000">
                <a:solidFill>
                  <a:schemeClr val="accent3"/>
                </a:solidFill>
              </a:rPr>
              <a:t>3</a:t>
            </a:r>
            <a:endParaRPr lang="en-US" sz="2000">
              <a:solidFill>
                <a:schemeClr val="accent3"/>
              </a:solidFill>
            </a:endParaRPr>
          </a:p>
        </p:txBody>
      </p:sp>
      <p:sp>
        <p:nvSpPr>
          <p:cNvPr id="18460" name="Text Box 28"/>
          <p:cNvSpPr txBox="1">
            <a:spLocks noChangeArrowheads="1"/>
          </p:cNvSpPr>
          <p:nvPr/>
        </p:nvSpPr>
        <p:spPr bwMode="auto">
          <a:xfrm>
            <a:off x="6629400" y="1219200"/>
            <a:ext cx="304800" cy="396875"/>
          </a:xfrm>
          <a:prstGeom prst="rect">
            <a:avLst/>
          </a:prstGeom>
          <a:noFill/>
          <a:ln w="9525">
            <a:noFill/>
            <a:miter lim="800000"/>
            <a:headEnd/>
            <a:tailEnd/>
          </a:ln>
          <a:effectLst/>
        </p:spPr>
        <p:txBody>
          <a:bodyPr>
            <a:spAutoFit/>
          </a:bodyPr>
          <a:lstStyle/>
          <a:p>
            <a:pPr>
              <a:spcBef>
                <a:spcPct val="50000"/>
              </a:spcBef>
              <a:defRPr/>
            </a:pPr>
            <a:r>
              <a:rPr lang="bg-BG" sz="2000">
                <a:solidFill>
                  <a:schemeClr val="accent3"/>
                </a:solidFill>
              </a:rPr>
              <a:t>3</a:t>
            </a:r>
            <a:endParaRPr lang="en-US" sz="2000">
              <a:solidFill>
                <a:schemeClr val="accent3"/>
              </a:solidFill>
            </a:endParaRPr>
          </a:p>
        </p:txBody>
      </p:sp>
      <p:sp>
        <p:nvSpPr>
          <p:cNvPr id="18461" name="Text Box 29"/>
          <p:cNvSpPr txBox="1">
            <a:spLocks noChangeArrowheads="1"/>
          </p:cNvSpPr>
          <p:nvPr/>
        </p:nvSpPr>
        <p:spPr bwMode="auto">
          <a:xfrm>
            <a:off x="6934200" y="2844800"/>
            <a:ext cx="304800" cy="396875"/>
          </a:xfrm>
          <a:prstGeom prst="rect">
            <a:avLst/>
          </a:prstGeom>
          <a:noFill/>
          <a:ln w="9525">
            <a:noFill/>
            <a:miter lim="800000"/>
            <a:headEnd/>
            <a:tailEnd/>
          </a:ln>
          <a:effectLst/>
        </p:spPr>
        <p:txBody>
          <a:bodyPr>
            <a:spAutoFit/>
          </a:bodyPr>
          <a:lstStyle/>
          <a:p>
            <a:pPr>
              <a:spcBef>
                <a:spcPct val="50000"/>
              </a:spcBef>
              <a:defRPr/>
            </a:pPr>
            <a:r>
              <a:rPr lang="bg-BG" sz="2000">
                <a:solidFill>
                  <a:schemeClr val="accent3"/>
                </a:solidFill>
              </a:rPr>
              <a:t>1</a:t>
            </a:r>
            <a:endParaRPr lang="en-US" sz="2000">
              <a:solidFill>
                <a:schemeClr val="accent3"/>
              </a:solidFill>
            </a:endParaRPr>
          </a:p>
        </p:txBody>
      </p:sp>
      <p:sp>
        <p:nvSpPr>
          <p:cNvPr id="18462" name="Text Box 30"/>
          <p:cNvSpPr txBox="1">
            <a:spLocks noChangeArrowheads="1"/>
          </p:cNvSpPr>
          <p:nvPr/>
        </p:nvSpPr>
        <p:spPr bwMode="auto">
          <a:xfrm>
            <a:off x="7289800" y="990600"/>
            <a:ext cx="304800" cy="396875"/>
          </a:xfrm>
          <a:prstGeom prst="rect">
            <a:avLst/>
          </a:prstGeom>
          <a:noFill/>
          <a:ln w="9525">
            <a:noFill/>
            <a:miter lim="800000"/>
            <a:headEnd/>
            <a:tailEnd/>
          </a:ln>
          <a:effectLst/>
        </p:spPr>
        <p:txBody>
          <a:bodyPr>
            <a:spAutoFit/>
          </a:bodyPr>
          <a:lstStyle/>
          <a:p>
            <a:pPr>
              <a:spcBef>
                <a:spcPct val="50000"/>
              </a:spcBef>
              <a:defRPr/>
            </a:pPr>
            <a:r>
              <a:rPr lang="bg-BG" sz="2000">
                <a:solidFill>
                  <a:schemeClr val="accent3"/>
                </a:solidFill>
              </a:rPr>
              <a:t>2</a:t>
            </a:r>
            <a:endParaRPr lang="en-US" sz="2000">
              <a:solidFill>
                <a:schemeClr val="accent3"/>
              </a:solidFill>
            </a:endParaRPr>
          </a:p>
        </p:txBody>
      </p:sp>
      <p:sp>
        <p:nvSpPr>
          <p:cNvPr id="18463" name="Text Box 31"/>
          <p:cNvSpPr txBox="1">
            <a:spLocks noChangeArrowheads="1"/>
          </p:cNvSpPr>
          <p:nvPr/>
        </p:nvSpPr>
        <p:spPr bwMode="auto">
          <a:xfrm>
            <a:off x="6667500" y="1828800"/>
            <a:ext cx="304800" cy="396875"/>
          </a:xfrm>
          <a:prstGeom prst="rect">
            <a:avLst/>
          </a:prstGeom>
          <a:noFill/>
          <a:ln w="9525">
            <a:noFill/>
            <a:miter lim="800000"/>
            <a:headEnd/>
            <a:tailEnd/>
          </a:ln>
          <a:effectLst/>
        </p:spPr>
        <p:txBody>
          <a:bodyPr>
            <a:spAutoFit/>
          </a:bodyPr>
          <a:lstStyle/>
          <a:p>
            <a:pPr>
              <a:spcBef>
                <a:spcPct val="50000"/>
              </a:spcBef>
              <a:defRPr/>
            </a:pPr>
            <a:r>
              <a:rPr lang="bg-BG" sz="2000">
                <a:solidFill>
                  <a:schemeClr val="accent3"/>
                </a:solidFill>
              </a:rPr>
              <a:t>7</a:t>
            </a:r>
            <a:endParaRPr lang="en-US" sz="2000">
              <a:solidFill>
                <a:schemeClr val="accent3"/>
              </a:solidFill>
            </a:endParaRPr>
          </a:p>
        </p:txBody>
      </p:sp>
      <p:sp>
        <p:nvSpPr>
          <p:cNvPr id="18464" name="Text Box 32"/>
          <p:cNvSpPr txBox="1">
            <a:spLocks noChangeArrowheads="1"/>
          </p:cNvSpPr>
          <p:nvPr/>
        </p:nvSpPr>
        <p:spPr bwMode="auto">
          <a:xfrm>
            <a:off x="7112000" y="2133600"/>
            <a:ext cx="304800" cy="396875"/>
          </a:xfrm>
          <a:prstGeom prst="rect">
            <a:avLst/>
          </a:prstGeom>
          <a:noFill/>
          <a:ln w="9525">
            <a:noFill/>
            <a:miter lim="800000"/>
            <a:headEnd/>
            <a:tailEnd/>
          </a:ln>
          <a:effectLst/>
        </p:spPr>
        <p:txBody>
          <a:bodyPr>
            <a:spAutoFit/>
          </a:bodyPr>
          <a:lstStyle/>
          <a:p>
            <a:pPr>
              <a:spcBef>
                <a:spcPct val="50000"/>
              </a:spcBef>
              <a:defRPr/>
            </a:pPr>
            <a:r>
              <a:rPr lang="bg-BG" sz="2000">
                <a:solidFill>
                  <a:schemeClr val="accent3"/>
                </a:solidFill>
              </a:rPr>
              <a:t>4</a:t>
            </a:r>
            <a:endParaRPr lang="en-US" sz="2000">
              <a:solidFill>
                <a:schemeClr val="accent3"/>
              </a:solidFill>
            </a:endParaRPr>
          </a:p>
        </p:txBody>
      </p:sp>
      <p:sp>
        <p:nvSpPr>
          <p:cNvPr id="18465" name="Text Box 33"/>
          <p:cNvSpPr txBox="1">
            <a:spLocks noChangeArrowheads="1"/>
          </p:cNvSpPr>
          <p:nvPr/>
        </p:nvSpPr>
        <p:spPr bwMode="auto">
          <a:xfrm>
            <a:off x="6248400" y="1905000"/>
            <a:ext cx="304800" cy="396875"/>
          </a:xfrm>
          <a:prstGeom prst="rect">
            <a:avLst/>
          </a:prstGeom>
          <a:noFill/>
          <a:ln w="9525">
            <a:noFill/>
            <a:miter lim="800000"/>
            <a:headEnd/>
            <a:tailEnd/>
          </a:ln>
          <a:effectLst/>
        </p:spPr>
        <p:txBody>
          <a:bodyPr>
            <a:spAutoFit/>
          </a:bodyPr>
          <a:lstStyle/>
          <a:p>
            <a:pPr>
              <a:spcBef>
                <a:spcPct val="50000"/>
              </a:spcBef>
              <a:defRPr/>
            </a:pPr>
            <a:r>
              <a:rPr lang="bg-BG" sz="2000">
                <a:solidFill>
                  <a:schemeClr val="accent3"/>
                </a:solidFill>
              </a:rPr>
              <a:t>2</a:t>
            </a:r>
            <a:endParaRPr lang="en-US" sz="2000">
              <a:solidFill>
                <a:schemeClr val="accent3"/>
              </a:solidFill>
            </a:endParaRPr>
          </a:p>
        </p:txBody>
      </p:sp>
      <p:sp>
        <p:nvSpPr>
          <p:cNvPr id="23571" name="Line 34"/>
          <p:cNvSpPr>
            <a:spLocks noChangeShapeType="1"/>
          </p:cNvSpPr>
          <p:nvPr/>
        </p:nvSpPr>
        <p:spPr bwMode="auto">
          <a:xfrm>
            <a:off x="2209800" y="1066800"/>
            <a:ext cx="685800" cy="381000"/>
          </a:xfrm>
          <a:prstGeom prst="line">
            <a:avLst/>
          </a:prstGeom>
          <a:noFill/>
          <a:ln w="9525">
            <a:solidFill>
              <a:schemeClr val="tx1"/>
            </a:solidFill>
            <a:round/>
            <a:headEnd/>
            <a:tailEnd/>
          </a:ln>
        </p:spPr>
        <p:txBody>
          <a:bodyPr/>
          <a:lstStyle/>
          <a:p>
            <a:endParaRPr lang="bg-BG"/>
          </a:p>
        </p:txBody>
      </p:sp>
      <p:sp>
        <p:nvSpPr>
          <p:cNvPr id="23572" name="Line 35"/>
          <p:cNvSpPr>
            <a:spLocks noChangeShapeType="1"/>
          </p:cNvSpPr>
          <p:nvPr/>
        </p:nvSpPr>
        <p:spPr bwMode="auto">
          <a:xfrm flipH="1">
            <a:off x="1397000" y="1447800"/>
            <a:ext cx="1447800" cy="228600"/>
          </a:xfrm>
          <a:prstGeom prst="line">
            <a:avLst/>
          </a:prstGeom>
          <a:noFill/>
          <a:ln w="9525">
            <a:solidFill>
              <a:schemeClr val="tx1"/>
            </a:solidFill>
            <a:round/>
            <a:headEnd/>
            <a:tailEnd/>
          </a:ln>
        </p:spPr>
        <p:txBody>
          <a:bodyPr/>
          <a:lstStyle/>
          <a:p>
            <a:endParaRPr lang="bg-BG"/>
          </a:p>
        </p:txBody>
      </p:sp>
      <p:sp>
        <p:nvSpPr>
          <p:cNvPr id="23573" name="Text Box 36"/>
          <p:cNvSpPr txBox="1">
            <a:spLocks noChangeArrowheads="1"/>
          </p:cNvSpPr>
          <p:nvPr/>
        </p:nvSpPr>
        <p:spPr bwMode="auto">
          <a:xfrm>
            <a:off x="1905000" y="850900"/>
            <a:ext cx="381000" cy="457200"/>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23574" name="Text Box 37"/>
          <p:cNvSpPr txBox="1">
            <a:spLocks noChangeArrowheads="1"/>
          </p:cNvSpPr>
          <p:nvPr/>
        </p:nvSpPr>
        <p:spPr bwMode="auto">
          <a:xfrm>
            <a:off x="2832100" y="1206500"/>
            <a:ext cx="304800" cy="457200"/>
          </a:xfrm>
          <a:prstGeom prst="rect">
            <a:avLst/>
          </a:prstGeom>
          <a:noFill/>
          <a:ln w="9525">
            <a:noFill/>
            <a:miter lim="800000"/>
            <a:headEnd/>
            <a:tailEnd/>
          </a:ln>
        </p:spPr>
        <p:txBody>
          <a:bodyPr>
            <a:spAutoFit/>
          </a:bodyPr>
          <a:lstStyle/>
          <a:p>
            <a:pPr>
              <a:spcBef>
                <a:spcPct val="50000"/>
              </a:spcBef>
            </a:pPr>
            <a:r>
              <a:rPr lang="bg-BG"/>
              <a:t>2</a:t>
            </a:r>
            <a:endParaRPr lang="en-US"/>
          </a:p>
        </p:txBody>
      </p:sp>
      <p:sp>
        <p:nvSpPr>
          <p:cNvPr id="23575" name="Text Box 38"/>
          <p:cNvSpPr txBox="1">
            <a:spLocks noChangeArrowheads="1"/>
          </p:cNvSpPr>
          <p:nvPr/>
        </p:nvSpPr>
        <p:spPr bwMode="auto">
          <a:xfrm>
            <a:off x="1143000" y="1524000"/>
            <a:ext cx="304800" cy="457200"/>
          </a:xfrm>
          <a:prstGeom prst="rect">
            <a:avLst/>
          </a:prstGeom>
          <a:noFill/>
          <a:ln w="9525">
            <a:noFill/>
            <a:miter lim="800000"/>
            <a:headEnd/>
            <a:tailEnd/>
          </a:ln>
        </p:spPr>
        <p:txBody>
          <a:bodyPr>
            <a:spAutoFit/>
          </a:bodyPr>
          <a:lstStyle/>
          <a:p>
            <a:pPr>
              <a:spcBef>
                <a:spcPct val="50000"/>
              </a:spcBef>
            </a:pPr>
            <a:r>
              <a:rPr lang="bg-BG"/>
              <a:t>5</a:t>
            </a:r>
            <a:endParaRPr lang="en-US"/>
          </a:p>
        </p:txBody>
      </p:sp>
      <p:sp>
        <p:nvSpPr>
          <p:cNvPr id="23576" name="Line 39"/>
          <p:cNvSpPr>
            <a:spLocks noChangeShapeType="1"/>
          </p:cNvSpPr>
          <p:nvPr/>
        </p:nvSpPr>
        <p:spPr bwMode="auto">
          <a:xfrm>
            <a:off x="1447800" y="1676400"/>
            <a:ext cx="1143000" cy="685800"/>
          </a:xfrm>
          <a:prstGeom prst="line">
            <a:avLst/>
          </a:prstGeom>
          <a:noFill/>
          <a:ln w="9525">
            <a:solidFill>
              <a:schemeClr val="tx1"/>
            </a:solidFill>
            <a:round/>
            <a:headEnd/>
            <a:tailEnd/>
          </a:ln>
        </p:spPr>
        <p:txBody>
          <a:bodyPr/>
          <a:lstStyle/>
          <a:p>
            <a:endParaRPr lang="bg-BG"/>
          </a:p>
        </p:txBody>
      </p:sp>
      <p:sp>
        <p:nvSpPr>
          <p:cNvPr id="23577" name="Text Box 40"/>
          <p:cNvSpPr txBox="1">
            <a:spLocks noChangeArrowheads="1"/>
          </p:cNvSpPr>
          <p:nvPr/>
        </p:nvSpPr>
        <p:spPr bwMode="auto">
          <a:xfrm>
            <a:off x="2501900" y="2146300"/>
            <a:ext cx="304800" cy="457200"/>
          </a:xfrm>
          <a:prstGeom prst="rect">
            <a:avLst/>
          </a:prstGeom>
          <a:noFill/>
          <a:ln w="9525">
            <a:noFill/>
            <a:miter lim="800000"/>
            <a:headEnd/>
            <a:tailEnd/>
          </a:ln>
        </p:spPr>
        <p:txBody>
          <a:bodyPr>
            <a:spAutoFit/>
          </a:bodyPr>
          <a:lstStyle/>
          <a:p>
            <a:pPr>
              <a:spcBef>
                <a:spcPct val="50000"/>
              </a:spcBef>
            </a:pPr>
            <a:r>
              <a:rPr lang="bg-BG"/>
              <a:t>3</a:t>
            </a:r>
            <a:endParaRPr lang="en-US"/>
          </a:p>
        </p:txBody>
      </p:sp>
      <p:sp>
        <p:nvSpPr>
          <p:cNvPr id="23578" name="Text Box 41"/>
          <p:cNvSpPr txBox="1">
            <a:spLocks noChangeArrowheads="1"/>
          </p:cNvSpPr>
          <p:nvPr/>
        </p:nvSpPr>
        <p:spPr bwMode="auto">
          <a:xfrm>
            <a:off x="3124200" y="1447800"/>
            <a:ext cx="3032125" cy="1768475"/>
          </a:xfrm>
          <a:prstGeom prst="rect">
            <a:avLst/>
          </a:prstGeom>
          <a:noFill/>
          <a:ln w="9525">
            <a:noFill/>
            <a:miter lim="800000"/>
            <a:headEnd/>
            <a:tailEnd/>
          </a:ln>
        </p:spPr>
        <p:txBody>
          <a:bodyPr>
            <a:spAutoFit/>
          </a:bodyPr>
          <a:lstStyle/>
          <a:p>
            <a:pPr>
              <a:spcBef>
                <a:spcPct val="50000"/>
              </a:spcBef>
            </a:pPr>
            <a:r>
              <a:rPr lang="bg-BG" sz="2000"/>
              <a:t>2 – 5 (3)</a:t>
            </a:r>
          </a:p>
          <a:p>
            <a:pPr>
              <a:spcBef>
                <a:spcPct val="50000"/>
              </a:spcBef>
            </a:pPr>
            <a:r>
              <a:rPr lang="bg-BG" sz="2000"/>
              <a:t>5 – 3 (2)</a:t>
            </a:r>
          </a:p>
          <a:p>
            <a:pPr>
              <a:spcBef>
                <a:spcPct val="50000"/>
              </a:spcBef>
            </a:pPr>
            <a:r>
              <a:rPr lang="bg-BG" sz="2000"/>
              <a:t>3 – 4 (1)</a:t>
            </a:r>
          </a:p>
          <a:p>
            <a:pPr>
              <a:spcBef>
                <a:spcPct val="50000"/>
              </a:spcBef>
            </a:pPr>
            <a:r>
              <a:rPr lang="bg-BG" sz="2000"/>
              <a:t>4 – 1 (7) = 14 (</a:t>
            </a:r>
            <a:r>
              <a:rPr lang="en-US" sz="2000"/>
              <a:t>MIN = 13</a:t>
            </a:r>
            <a:r>
              <a:rPr lang="bg-BG" sz="2000"/>
              <a:t>?</a:t>
            </a:r>
            <a:r>
              <a:rPr lang="en-US" sz="200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068388" y="620713"/>
            <a:ext cx="8075612" cy="5867400"/>
          </a:xfrm>
        </p:spPr>
        <p:txBody>
          <a:bodyPr>
            <a:normAutofit fontScale="90000"/>
          </a:bodyPr>
          <a:lstStyle/>
          <a:p>
            <a:pPr fontAlgn="auto">
              <a:spcAft>
                <a:spcPts val="0"/>
              </a:spcAft>
              <a:buFont typeface="Wingdings" pitchFamily="2" charset="2"/>
              <a:buNone/>
              <a:defRPr/>
            </a:pPr>
            <a:r>
              <a:rPr lang="bg-BG" sz="3200">
                <a:solidFill>
                  <a:schemeClr val="tx2">
                    <a:satMod val="130000"/>
                  </a:schemeClr>
                </a:solidFill>
              </a:rPr>
              <a:t>	  </a:t>
            </a:r>
            <a:r>
              <a:rPr lang="en-US" sz="3200">
                <a:solidFill>
                  <a:schemeClr val="tx2">
                    <a:satMod val="130000"/>
                  </a:schemeClr>
                </a:solidFill>
              </a:rPr>
              <a:t>VII</a:t>
            </a:r>
            <a:r>
              <a:rPr lang="bg-BG" sz="3200">
                <a:solidFill>
                  <a:schemeClr val="tx2">
                    <a:satMod val="130000"/>
                  </a:schemeClr>
                </a:solidFill>
              </a:rPr>
              <a:t>. Проверка на програмата</a:t>
            </a:r>
            <a:br>
              <a:rPr lang="bg-BG" sz="3200">
                <a:solidFill>
                  <a:schemeClr val="tx2">
                    <a:satMod val="130000"/>
                  </a:schemeClr>
                </a:solidFill>
              </a:rPr>
            </a:br>
            <a:r>
              <a:rPr lang="bg-BG" sz="3200">
                <a:solidFill>
                  <a:schemeClr val="tx2">
                    <a:satMod val="130000"/>
                  </a:schemeClr>
                </a:solidFill>
              </a:rPr>
              <a:t>	</a:t>
            </a:r>
            <a:r>
              <a:rPr lang="bg-BG" sz="2400">
                <a:solidFill>
                  <a:schemeClr val="tx2">
                    <a:satMod val="130000"/>
                  </a:schemeClr>
                </a:solidFill>
              </a:rPr>
              <a:t>Проверката е тестване (отстраняване на синтактични и логически грешки, както и изпълнение на контролен пример/примери).</a:t>
            </a:r>
            <a:br>
              <a:rPr lang="bg-BG" sz="2400">
                <a:solidFill>
                  <a:schemeClr val="tx2">
                    <a:satMod val="130000"/>
                  </a:schemeClr>
                </a:solidFill>
              </a:rPr>
            </a:br>
            <a:r>
              <a:rPr lang="bg-BG" sz="2400">
                <a:solidFill>
                  <a:schemeClr val="tx2">
                    <a:satMod val="130000"/>
                  </a:schemeClr>
                </a:solidFill>
              </a:rPr>
              <a:t>	Как се избират данните за тестване?</a:t>
            </a:r>
            <a:br>
              <a:rPr lang="bg-BG" sz="2400">
                <a:solidFill>
                  <a:schemeClr val="tx2">
                    <a:satMod val="130000"/>
                  </a:schemeClr>
                </a:solidFill>
              </a:rPr>
            </a:br>
            <a:r>
              <a:rPr lang="bg-BG" sz="2400">
                <a:solidFill>
                  <a:schemeClr val="tx2">
                    <a:satMod val="130000"/>
                  </a:schemeClr>
                </a:solidFill>
              </a:rPr>
              <a:t>	Зависи от:</a:t>
            </a:r>
            <a:br>
              <a:rPr lang="bg-BG" sz="2400">
                <a:solidFill>
                  <a:schemeClr val="tx2">
                    <a:satMod val="130000"/>
                  </a:schemeClr>
                </a:solidFill>
              </a:rPr>
            </a:br>
            <a:r>
              <a:rPr lang="bg-BG" sz="2400">
                <a:solidFill>
                  <a:schemeClr val="tx2">
                    <a:satMod val="130000"/>
                  </a:schemeClr>
                </a:solidFill>
              </a:rPr>
              <a:t>	- сложността на програмата;</a:t>
            </a:r>
            <a:br>
              <a:rPr lang="bg-BG" sz="2400">
                <a:solidFill>
                  <a:schemeClr val="tx2">
                    <a:satMod val="130000"/>
                  </a:schemeClr>
                </a:solidFill>
              </a:rPr>
            </a:br>
            <a:r>
              <a:rPr lang="bg-BG" sz="2400">
                <a:solidFill>
                  <a:schemeClr val="tx2">
                    <a:satMod val="130000"/>
                  </a:schemeClr>
                </a:solidFill>
              </a:rPr>
              <a:t>	- наличното време;</a:t>
            </a:r>
            <a:br>
              <a:rPr lang="bg-BG" sz="2400">
                <a:solidFill>
                  <a:schemeClr val="tx2">
                    <a:satMod val="130000"/>
                  </a:schemeClr>
                </a:solidFill>
              </a:rPr>
            </a:br>
            <a:r>
              <a:rPr lang="bg-BG" sz="2400">
                <a:solidFill>
                  <a:schemeClr val="tx2">
                    <a:satMod val="130000"/>
                  </a:schemeClr>
                </a:solidFill>
              </a:rPr>
              <a:t>	- персонала		и т. н.</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t>
            </a:r>
            <a:r>
              <a:rPr lang="bg-BG" sz="2400">
                <a:solidFill>
                  <a:schemeClr val="tx2">
                    <a:satMod val="130000"/>
                  </a:schemeClr>
                </a:solidFill>
                <a:sym typeface="Marlett" pitchFamily="2" charset="2"/>
              </a:rPr>
              <a:t> </a:t>
            </a:r>
            <a:r>
              <a:rPr lang="bg-BG" sz="2400">
                <a:solidFill>
                  <a:schemeClr val="tx2">
                    <a:satMod val="130000"/>
                  </a:schemeClr>
                </a:solidFill>
              </a:rPr>
              <a:t>Пълна проверка практически не е възможна!</a:t>
            </a:r>
            <a:br>
              <a:rPr lang="bg-BG" sz="2400">
                <a:solidFill>
                  <a:schemeClr val="tx2">
                    <a:satMod val="130000"/>
                  </a:schemeClr>
                </a:solidFill>
              </a:rPr>
            </a:br>
            <a:r>
              <a:rPr lang="bg-BG" sz="2400">
                <a:solidFill>
                  <a:schemeClr val="tx2">
                    <a:satMod val="130000"/>
                  </a:schemeClr>
                </a:solidFill>
              </a:rPr>
              <a:t> </a:t>
            </a:r>
            <a:r>
              <a:rPr lang="bg-BG" sz="2400">
                <a:solidFill>
                  <a:schemeClr val="tx2">
                    <a:satMod val="130000"/>
                  </a:schemeClr>
                </a:solidFill>
                <a:sym typeface="Marlett" pitchFamily="2" charset="2"/>
              </a:rPr>
              <a:t> </a:t>
            </a:r>
            <a:r>
              <a:rPr lang="bg-BG" sz="2400">
                <a:solidFill>
                  <a:schemeClr val="tx2">
                    <a:satMod val="130000"/>
                  </a:schemeClr>
                </a:solidFill>
              </a:rPr>
              <a:t>Тестването може да служи за доказателство </a:t>
            </a:r>
            <a:br>
              <a:rPr lang="bg-BG" sz="2400">
                <a:solidFill>
                  <a:schemeClr val="tx2">
                    <a:satMod val="130000"/>
                  </a:schemeClr>
                </a:solidFill>
              </a:rPr>
            </a:br>
            <a:r>
              <a:rPr lang="bg-BG" sz="2400">
                <a:solidFill>
                  <a:schemeClr val="tx2">
                    <a:satMod val="130000"/>
                  </a:schemeClr>
                </a:solidFill>
              </a:rPr>
              <a:t>      на наличието на грешки, но никога не доказва тяхното </a:t>
            </a:r>
            <a:br>
              <a:rPr lang="bg-BG" sz="2400">
                <a:solidFill>
                  <a:schemeClr val="tx2">
                    <a:satMod val="130000"/>
                  </a:schemeClr>
                </a:solidFill>
              </a:rPr>
            </a:br>
            <a:r>
              <a:rPr lang="bg-BG" sz="2400">
                <a:solidFill>
                  <a:schemeClr val="tx2">
                    <a:satMod val="130000"/>
                  </a:schemeClr>
                </a:solidFill>
              </a:rPr>
              <a:t>      отсъствие.</a:t>
            </a:r>
            <a:br>
              <a:rPr lang="bg-BG" sz="2400">
                <a:solidFill>
                  <a:schemeClr val="tx2">
                    <a:satMod val="130000"/>
                  </a:schemeClr>
                </a:solidFill>
              </a:rPr>
            </a:br>
            <a:r>
              <a:rPr lang="bg-BG" sz="2400">
                <a:solidFill>
                  <a:schemeClr val="tx2">
                    <a:satMod val="130000"/>
                  </a:schemeClr>
                </a:solidFill>
              </a:rPr>
              <a:t> </a:t>
            </a:r>
            <a:r>
              <a:rPr lang="bg-BG" sz="2400">
                <a:solidFill>
                  <a:schemeClr val="tx2">
                    <a:satMod val="130000"/>
                  </a:schemeClr>
                </a:solidFill>
                <a:sym typeface="Marlett" pitchFamily="2" charset="2"/>
              </a:rPr>
              <a:t></a:t>
            </a:r>
            <a:r>
              <a:rPr lang="bg-BG" sz="2400">
                <a:solidFill>
                  <a:schemeClr val="tx2">
                    <a:satMod val="130000"/>
                  </a:schemeClr>
                </a:solidFill>
              </a:rPr>
              <a:t> Надеждността на програмата се осигурява от </a:t>
            </a:r>
            <a:br>
              <a:rPr lang="bg-BG" sz="2400">
                <a:solidFill>
                  <a:schemeClr val="tx2">
                    <a:satMod val="130000"/>
                  </a:schemeClr>
                </a:solidFill>
              </a:rPr>
            </a:br>
            <a:r>
              <a:rPr lang="bg-BG" sz="2400">
                <a:solidFill>
                  <a:schemeClr val="tx2">
                    <a:satMod val="130000"/>
                  </a:schemeClr>
                </a:solidFill>
              </a:rPr>
              <a:t>      програмирането, а не от тестването. </a:t>
            </a:r>
            <a:br>
              <a:rPr lang="bg-BG" sz="2400">
                <a:solidFill>
                  <a:schemeClr val="tx2">
                    <a:satMod val="130000"/>
                  </a:schemeClr>
                </a:solidFill>
              </a:rPr>
            </a:br>
            <a:r>
              <a:rPr lang="bg-BG" sz="2400">
                <a:solidFill>
                  <a:schemeClr val="tx2">
                    <a:satMod val="130000"/>
                  </a:schemeClr>
                </a:solidFill>
              </a:rPr>
              <a:t>                                                                 (Лингер)	</a:t>
            </a:r>
            <a:br>
              <a:rPr lang="bg-BG" sz="2400">
                <a:solidFill>
                  <a:schemeClr val="tx2">
                    <a:satMod val="130000"/>
                  </a:schemeClr>
                </a:solidFill>
              </a:rPr>
            </a:br>
            <a:endParaRPr lang="en-US" sz="2400">
              <a:solidFill>
                <a:schemeClr val="tx2">
                  <a:satMod val="130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971550" y="620713"/>
            <a:ext cx="8012113" cy="5867400"/>
          </a:xfrm>
        </p:spPr>
        <p:txBody>
          <a:bodyPr>
            <a:normAutofit fontScale="90000"/>
          </a:bodyPr>
          <a:lstStyle/>
          <a:p>
            <a:pPr fontAlgn="auto">
              <a:spcAft>
                <a:spcPts val="0"/>
              </a:spcAft>
              <a:defRPr/>
            </a:pPr>
            <a:r>
              <a:rPr lang="bg-BG" sz="3200">
                <a:solidFill>
                  <a:schemeClr val="tx2">
                    <a:satMod val="130000"/>
                  </a:schemeClr>
                </a:solidFill>
              </a:rPr>
              <a:t>	</a:t>
            </a:r>
            <a:r>
              <a:rPr lang="en-US" sz="3200">
                <a:solidFill>
                  <a:schemeClr val="tx2">
                    <a:satMod val="130000"/>
                  </a:schemeClr>
                </a:solidFill>
              </a:rPr>
              <a:t>VIII</a:t>
            </a:r>
            <a:r>
              <a:rPr lang="bg-BG" sz="3200">
                <a:solidFill>
                  <a:schemeClr val="tx2">
                    <a:satMod val="130000"/>
                  </a:schemeClr>
                </a:solidFill>
              </a:rPr>
              <a:t>. Съставяне на документацията</a:t>
            </a:r>
            <a:br>
              <a:rPr lang="bg-BG" sz="3200">
                <a:solidFill>
                  <a:schemeClr val="tx2">
                    <a:satMod val="130000"/>
                  </a:schemeClr>
                </a:solidFill>
              </a:rPr>
            </a:br>
            <a:r>
              <a:rPr lang="bg-BG" sz="3200">
                <a:solidFill>
                  <a:schemeClr val="tx2">
                    <a:satMod val="130000"/>
                  </a:schemeClr>
                </a:solidFill>
              </a:rPr>
              <a:t/>
            </a:r>
            <a:br>
              <a:rPr lang="bg-BG" sz="3200">
                <a:solidFill>
                  <a:schemeClr val="tx2">
                    <a:satMod val="130000"/>
                  </a:schemeClr>
                </a:solidFill>
              </a:rPr>
            </a:br>
            <a:r>
              <a:rPr lang="bg-BG" sz="2400">
                <a:solidFill>
                  <a:schemeClr val="tx2">
                    <a:satMod val="130000"/>
                  </a:schemeClr>
                </a:solidFill>
              </a:rPr>
              <a:t>1. Външна документация   (ръководство за потребителя)   	</a:t>
            </a:r>
            <a:br>
              <a:rPr lang="bg-BG" sz="2400">
                <a:solidFill>
                  <a:schemeClr val="tx2">
                    <a:satMod val="130000"/>
                  </a:schemeClr>
                </a:solidFill>
              </a:rPr>
            </a:br>
            <a:r>
              <a:rPr lang="bg-BG" sz="2400">
                <a:solidFill>
                  <a:schemeClr val="tx2">
                    <a:satMod val="130000"/>
                  </a:schemeClr>
                </a:solidFill>
              </a:rPr>
              <a:t>    Включва това, което не се съдържа в самата програма:</a:t>
            </a:r>
            <a:br>
              <a:rPr lang="bg-BG" sz="2400">
                <a:solidFill>
                  <a:schemeClr val="tx2">
                    <a:satMod val="130000"/>
                  </a:schemeClr>
                </a:solidFill>
              </a:rPr>
            </a:br>
            <a:r>
              <a:rPr lang="bg-BG" sz="2400">
                <a:solidFill>
                  <a:schemeClr val="tx2">
                    <a:satMod val="130000"/>
                  </a:schemeClr>
                </a:solidFill>
              </a:rPr>
              <a:t>    Например: - формално описание на алгоритъма/програмата</a:t>
            </a:r>
            <a:br>
              <a:rPr lang="bg-BG" sz="2400">
                <a:solidFill>
                  <a:schemeClr val="tx2">
                    <a:satMod val="130000"/>
                  </a:schemeClr>
                </a:solidFill>
              </a:rPr>
            </a:br>
            <a:r>
              <a:rPr lang="bg-BG" sz="2400">
                <a:solidFill>
                  <a:schemeClr val="tx2">
                    <a:satMod val="130000"/>
                  </a:schemeClr>
                </a:solidFill>
              </a:rPr>
              <a:t>		- инструкцията за потребителя</a:t>
            </a:r>
            <a:br>
              <a:rPr lang="bg-BG" sz="2400">
                <a:solidFill>
                  <a:schemeClr val="tx2">
                    <a:satMod val="130000"/>
                  </a:schemeClr>
                </a:solidFill>
              </a:rPr>
            </a:br>
            <a:r>
              <a:rPr lang="bg-BG" sz="2400">
                <a:solidFill>
                  <a:schemeClr val="tx2">
                    <a:satMod val="130000"/>
                  </a:schemeClr>
                </a:solidFill>
              </a:rPr>
              <a:t>		- контролни входно/изходни данни</a:t>
            </a:r>
            <a:br>
              <a:rPr lang="bg-BG" sz="2400">
                <a:solidFill>
                  <a:schemeClr val="tx2">
                    <a:satMod val="130000"/>
                  </a:schemeClr>
                </a:solidFill>
              </a:rPr>
            </a:br>
            <a:r>
              <a:rPr lang="bg-BG" sz="2400">
                <a:solidFill>
                  <a:schemeClr val="tx2">
                    <a:satMod val="130000"/>
                  </a:schemeClr>
                </a:solidFill>
              </a:rPr>
              <a:t>		- използваната литература  и т. н.</a:t>
            </a:r>
            <a:br>
              <a:rPr lang="bg-BG" sz="2400">
                <a:solidFill>
                  <a:schemeClr val="tx2">
                    <a:satMod val="130000"/>
                  </a:schemeClr>
                </a:solidFill>
              </a:rPr>
            </a:br>
            <a:r>
              <a:rPr lang="bg-BG" sz="2400">
                <a:solidFill>
                  <a:schemeClr val="tx2">
                    <a:satMod val="130000"/>
                  </a:schemeClr>
                </a:solidFill>
              </a:rPr>
              <a:t>2. Вътрешна (програмна)документация или коментари.</a:t>
            </a:r>
            <a:br>
              <a:rPr lang="bg-BG" sz="2400">
                <a:solidFill>
                  <a:schemeClr val="tx2">
                    <a:satMod val="130000"/>
                  </a:schemeClr>
                </a:solidFill>
              </a:rPr>
            </a:br>
            <a:r>
              <a:rPr lang="bg-BG" sz="2400">
                <a:solidFill>
                  <a:schemeClr val="tx2">
                    <a:satMod val="130000"/>
                  </a:schemeClr>
                </a:solidFill>
              </a:rPr>
              <a:t>Няколко съвета:</a:t>
            </a:r>
            <a:br>
              <a:rPr lang="bg-BG" sz="2400">
                <a:solidFill>
                  <a:schemeClr val="tx2">
                    <a:satMod val="130000"/>
                  </a:schemeClr>
                </a:solidFill>
              </a:rPr>
            </a:br>
            <a:r>
              <a:rPr lang="bg-BG" sz="2400">
                <a:solidFill>
                  <a:schemeClr val="tx2">
                    <a:satMod val="130000"/>
                  </a:schemeClr>
                </a:solidFill>
              </a:rPr>
              <a:t>- коментариите трябва да бъдат правилни и информативни;</a:t>
            </a:r>
            <a:br>
              <a:rPr lang="bg-BG" sz="2400">
                <a:solidFill>
                  <a:schemeClr val="tx2">
                    <a:satMod val="130000"/>
                  </a:schemeClr>
                </a:solidFill>
              </a:rPr>
            </a:br>
            <a:r>
              <a:rPr lang="bg-BG" sz="2400">
                <a:solidFill>
                  <a:schemeClr val="tx2">
                    <a:satMod val="130000"/>
                  </a:schemeClr>
                </a:solidFill>
              </a:rPr>
              <a:t>- пишете коментарите едновременно с програмата;</a:t>
            </a:r>
            <a:br>
              <a:rPr lang="bg-BG" sz="2400">
                <a:solidFill>
                  <a:schemeClr val="tx2">
                    <a:satMod val="130000"/>
                  </a:schemeClr>
                </a:solidFill>
              </a:rPr>
            </a:br>
            <a:r>
              <a:rPr lang="bg-BG" sz="2400">
                <a:solidFill>
                  <a:schemeClr val="tx2">
                    <a:satMod val="130000"/>
                  </a:schemeClr>
                </a:solidFill>
              </a:rPr>
              <a:t>- използвайте за променливи и функции мнемонични имена;</a:t>
            </a:r>
            <a:br>
              <a:rPr lang="bg-BG" sz="2400">
                <a:solidFill>
                  <a:schemeClr val="tx2">
                    <a:satMod val="130000"/>
                  </a:schemeClr>
                </a:solidFill>
              </a:rPr>
            </a:br>
            <a:r>
              <a:rPr lang="bg-BG" sz="2400">
                <a:solidFill>
                  <a:schemeClr val="tx2">
                    <a:satMod val="130000"/>
                  </a:schemeClr>
                </a:solidFill>
              </a:rPr>
              <a:t>- не се престаравайте;</a:t>
            </a:r>
            <a:br>
              <a:rPr lang="bg-BG" sz="2400">
                <a:solidFill>
                  <a:schemeClr val="tx2">
                    <a:satMod val="130000"/>
                  </a:schemeClr>
                </a:solidFill>
              </a:rPr>
            </a:br>
            <a:r>
              <a:rPr lang="bg-BG" sz="2400">
                <a:solidFill>
                  <a:schemeClr val="tx2">
                    <a:satMod val="130000"/>
                  </a:schemeClr>
                </a:solidFill>
              </a:rPr>
              <a:t>- избягвайте нестандартни средства (или ги отбелязвайте с    </a:t>
            </a:r>
            <a:br>
              <a:rPr lang="bg-BG" sz="2400">
                <a:solidFill>
                  <a:schemeClr val="tx2">
                    <a:satMod val="130000"/>
                  </a:schemeClr>
                </a:solidFill>
              </a:rPr>
            </a:br>
            <a:r>
              <a:rPr lang="bg-BG" sz="2400">
                <a:solidFill>
                  <a:schemeClr val="tx2">
                    <a:satMod val="130000"/>
                  </a:schemeClr>
                </a:solidFill>
              </a:rPr>
              <a:t>   подходящ коментар). </a:t>
            </a:r>
            <a:endParaRPr lang="en-US" sz="2400">
              <a:solidFill>
                <a:schemeClr val="tx2">
                  <a:satMod val="130000"/>
                </a:schemeClr>
              </a:solidFil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470</TotalTime>
  <Words>130</Words>
  <Application>Microsoft Office PowerPoint</Application>
  <PresentationFormat>On-screen Show (4:3)</PresentationFormat>
  <Paragraphs>64</Paragraphs>
  <Slides>18</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0" baseType="lpstr">
      <vt:lpstr>Solstice</vt:lpstr>
      <vt:lpstr>Worksheet</vt:lpstr>
      <vt:lpstr>Етапи на пълното разработване на алгоритми и програми</vt:lpstr>
      <vt:lpstr> I. Постановка на задачата  Полезни въпроси за лошо формулирано задачи:  - разбираема ли използваната терминология? - какво е дадено? - какво се търси? - какви данни липсват? - има ли излишни данни? - какви допускания (ограничения) са приети? - как да се намери решението? </vt:lpstr>
      <vt:lpstr> Задача за търговския пътник:  Агент по продажба на компютри (търговски пътник) обслужва територия от 20 града. Фирмата му заплаща само 50% от пътните разходи с автомобил. Агентът е пресметнал, колко му струва пътя между всеки два града, и иска да намали пътните си разходи.   Какво е дадено?  - списък на градовете и  - съответстваща му матрица със стойности на разстоянията между всеки два града, т.е. двумерен масив С с размер 20 х 20 и с елементи Cij.</vt:lpstr>
      <vt:lpstr> Какво се търси?  Не може да се каже еднозначно. Уточнение:  - необходим е маршрут, който да започва  от определен (базов) град, да завършва в  него и да минава по веднъж през всеки от  останалите градове. Очакван резултат:  - списък, в който всеки град фигурира по веднъж, като базовия град стои в началото и в края. Цената на обиколката, т.е. сумата на цените на разстоянията между всеки два града в списъка, трябва да е минимална.</vt:lpstr>
      <vt:lpstr> II. Построяване на модел   Процесът не може да бъде автоматизиран.  Всяка задача се разглежда индивидуално. Полезно е да се отговори на следните въпроси:  1. Кои математически структури най-добре подхождат за решаване на задачата?  - да опишем математически това, което е дадено и това, което се търси; - да отчетем удобството на представяне, простота на обработване и ограничеността на знанията си.   2. Съществуват ли решения на аналогични задачи?  </vt:lpstr>
      <vt:lpstr> След избора на математическата структура задачата трябва да се формулира отново в термините на обектите на избрания модел.     Моделът се смята за задоволителен, ако:    - цялата (или поне най-съществената) информация       е добре описана чрез математическите обекти;   - между величините на модела фигурира и самия      резултат;   - може (и то удобно!) да се работи с модела;   - намерени са полезни съотношения между      обектите на модела, което ще улесни обработката.</vt:lpstr>
      <vt:lpstr>Към задачата за търговския пътник:   - Решавали ли сме подобна задача? Нека да приемем, че градовете са 5 (n=5)  и че цената на пътуването от град i в град  j съвпада  с цената на пътя в обратната посока  (пътищата са двупосочни):        </vt:lpstr>
      <vt:lpstr> Схемата (или модел), която получихме, се нарича граф или мрежа.   - Какво се търси ( в математическия смисъл)?  В термините на теорията на графите може да се каже, че се търси затворен цикъл, който започва от базов град и има минимална дължина.  Например:  ако изберем за базов град 1, един от възможните цикли е     1 – 5 – 3 – 4 – 2 – 1 цената му е                       5 + 2 + 1 + 4 + 1 = 13   - дали е   MIN?     Това е класически пример на задача, която  - лесно се формулира  - лесно се моделира  - но трудно се решава!           </vt:lpstr>
      <vt:lpstr>       III. Разработване на алгоритъма  Алгоритъмът зависи от метода за разработване, който, от своя страна, зависи от избрания модел.   По различни методи могат да се разработят много алгоритми, всеки от които ще има своя собствена ефективност.  Към примера:  Градовете са номерирани с цели числа от 1 до n. Да приемем, че базовия град е с номер n. Тогава всеки маршрут ще съответства на определено подреждане на числата от 1 до n-1.   На всеки маршрут ще съответства определена комбинация-подреждане и на всяко подреждане – определен маршрут. На лице е взаимно еднозначно съответствие.  Очевидно е, че за всяко подреждане може да се проследи по модела съответния маршрут и да се определи цената му. </vt:lpstr>
      <vt:lpstr>Алгоритъм: Образуване на всички пермутации от първите n-1 цели положителни числа. За всяка пермутация се определя съответстващия й маршрут и цената му. Търсене на най-малката цена.   Входни данни:  - брой градове n   - ценова матрица С(n,n)  Стъпка:   0 (инициализация)                              LIST = 0;  MIN =    1 (образуване на пермутациите)       За i от 1 до n-1                              повтаряй стъпки от 2 до 4;                         край;   2 (образуване на нова пермутация)   Получаване и запомняне на i-та пермутация            на числата 1, 2, ..., n-1;            Р = i-та пермутация (как?);           3 (изграждане на нов маршрут)         Построяване на маршрута Т(Р),             съответстващ на пермутацията Р, и             пресмятане  на цената COST(T(P))            4 (сравнение)          Ако COST(T(P))&lt; MIN  тогава                 LIST=T(P), MIN=COST(T(P))</vt:lpstr>
      <vt:lpstr>  IV. Коректност на алгоритъма   - тестване   - теоретично доказателство  Ако алгоритъмът се състои от n последователни стъпки, то трябва да се докаже :  1) коректността на всяка една от стъпките; 2) крайността на алгоритъма  Задача за търговския пътник:  Т.к. се  проверява всеки маршрут, то ще бъде проверен и запомнен и минималния (с минималната стойност).  Алгоритъмът ще завърши, т.к. броят на проверяваните маршрути е краен.  Коректността на алгоритъма не означава, че той е ефективен. (Алгоритмите, реализиращи пълна проверка на всички възможности обикновено не са ефективни!)</vt:lpstr>
      <vt:lpstr>    V. Реализация на алгоритъма  Алгоритъмът е описан като последователност от стъпки. Предстои реализацията му – написване на програма.  Възможните трудности: 1) не всички стъпки са формулирани детайлно (така, че директно могат да се запишат  на езика за програмиране – например, получаване на пермутации); 2) трудности при представяне на отделни елементи на модела чрез структурите данни на езика за програмиране.   Необходимо е: - да се определят основните променливи и типът им; - какви масиви са нужни и с каква размерност; - необходимо ли е да се използва динамичната памет; - какви подпрограми (функции) са необходими.  След това се взема решение, какъв език за програмиране ще се използва.  Не само алгоритъмът, но и конкретна реализация на програмата влияе на изискванията към ПАМЕТ и ВРЕМЕ. Основен метод: Top-down програмиране.    </vt:lpstr>
      <vt:lpstr>VI. Анализ на алгоритъма и неговата сложност В два аспекта: - практически, какъв обем памет и колко време ще са необходими за решаване на задачата; - теоретичен – изчислява се сложността на алгоритъма O(f(n)) с цел да се определи, дали алгоритъмът е полиномиален или експоненциален.  Задача за търговския пътник:   За n  града трябва да получим пермутации от (n-1) цели положителни числа, т.е  (n-1)! пермутации. Ако приемем, че всяка пермутация се получава с една операция, то тази част от алгоритъма може да се оцени с O((n-1)!).   Алгоритъмът включва и други действия – търсене на маршрут, изчисляване на цената му, което изисква минимум n операции. Затова горната граница на целия алгоритъм ще бъде не по-малка от O(n!). </vt:lpstr>
      <vt:lpstr> Ако търговския пътник трябва да обиколи 20 града (n=20, 20!  2 х 1018) и ние разполагаме с компютър, изпълняващ една елементарна операция за 10-8 сек., необходимото за програмата време е:                                   2 х 1018          Т =  ------------------------------  700 години                       108 х 3600 х 24 х 365   Алгоритъмът е експоненциален - O(n!).   Подобни алгоритми (с пълна, изчерпателна проверка на всички възможни варианти) са неефективни и могат да се използват само при малки n.  Изход – използване на други известни подходи и методи.</vt:lpstr>
      <vt:lpstr>      Евристични алгоритми Свойства: - дават добри, но не винаги оптимални решения; - могат да бъдат реализирани бързо и лесно             Нямат универсален подход за създаването им (“Еврика!”). Препоръки: Всички изисквания към решението се разделят на 2 групи: 1. Тези, които лесно се постигат 2. Тези, които не се постигат лесно.  или 1. Тези, които са задължителни 2. Тези, за които може да се направи компромис.  Целта е да се изгради алгоритъм, гарантиращ изпълнение на изискванията от 1 група и не гарантиращ тези от 2-та (което не означава, че няма да се правят опити да се изпълнят и те).</vt:lpstr>
      <vt:lpstr>Задача за търговския пътник:            Стъпка:   0 (инициализация)                                    LIST = 0; COST = 0, V=1 (нач. възел)   1 (посещение на всички градове)      За i от 1 до n-1                              повтаряй стъпка 2;   2 (избор на следващо ребро)               (V,W) е ребро с MIN цена, свързващо                      V с “непосетен” възел  W:                   LIST=LIST+W;                   COST=COST+стойност(V,W);                 отбелязване на W като посетен;                   V=W;           3 (завършване на маршрута)                LIST=LIST+1; (добавяне  на  нач.град)                                      OST=COST+стойност(V,1);    4 Край    Сложност на алгоритъма е O(n2)             </vt:lpstr>
      <vt:lpstr>   VII. Проверка на програмата  Проверката е тестване (отстраняване на синтактични и логически грешки, както и изпълнение на контролен пример/примери).  Как се избират данните за тестване?  Зависи от:  - сложността на програмата;  - наличното време;  - персонала  и т. н.    Пълна проверка практически не е възможна!   Тестването може да служи за доказателство        на наличието на грешки, но никога не доказва тяхното        отсъствие.   Надеждността на програмата се осигурява от        програмирането, а не от тестването.                                                                   (Лингер)  </vt:lpstr>
      <vt:lpstr> VIII. Съставяне на документацията  1. Външна документация   (ръководство за потребителя)         Включва това, което не се съдържа в самата програма:     Например: - формално описание на алгоритъма/програмата   - инструкцията за потребителя   - контролни входно/изходни данни   - използваната литература  и т. н. 2. Вътрешна (програмна)документация или коментари. Няколко съвета: - коментариите трябва да бъдат правилни и информативни; - пишете коментарите едновременно с програмата; - използвайте за променливи и функции мнемонични имена; - не се престаравайте; - избягвайте нестандартни средства (или ги отбелязвайте с        подходящ коментар). </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ERacheva</dc:creator>
  <cp:lastModifiedBy>Елена Рачева</cp:lastModifiedBy>
  <cp:revision>74</cp:revision>
  <dcterms:created xsi:type="dcterms:W3CDTF">2003-08-31T13:56:46Z</dcterms:created>
  <dcterms:modified xsi:type="dcterms:W3CDTF">2020-02-11T08:23:29Z</dcterms:modified>
</cp:coreProperties>
</file>
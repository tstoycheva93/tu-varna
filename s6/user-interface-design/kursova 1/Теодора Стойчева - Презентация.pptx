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3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1F30B-2EB7-4644-8CAF-B8C0B3185D15}" type="datetimeFigureOut">
              <a:rPr lang="en-150" smtClean="0"/>
              <a:t>24/03/2025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4E542-7F06-4AFA-B037-223E63569C8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8800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4E542-7F06-4AFA-B037-223E63569C89}" type="slidenum">
              <a:rPr lang="en-150" smtClean="0"/>
              <a:t>1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86966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517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12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663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551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974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459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478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467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493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482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47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1742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552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201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73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74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542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2240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F186-F51E-DE88-1344-D6CFE72B7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764047"/>
            <a:ext cx="8791575" cy="2387600"/>
          </a:xfrm>
        </p:spPr>
        <p:txBody>
          <a:bodyPr/>
          <a:lstStyle/>
          <a:p>
            <a:r>
              <a:rPr lang="bg-BG" dirty="0"/>
              <a:t>Анализ на интерфейси за разработка в мобилни приложения</a:t>
            </a: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112E2-80E1-4910-53D8-58672C3C3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4724986"/>
            <a:ext cx="8791575" cy="1655762"/>
          </a:xfrm>
        </p:spPr>
        <p:txBody>
          <a:bodyPr/>
          <a:lstStyle/>
          <a:p>
            <a:pPr algn="r"/>
            <a:r>
              <a:rPr lang="bg-BG" dirty="0"/>
              <a:t>Изготвил:</a:t>
            </a:r>
          </a:p>
          <a:p>
            <a:pPr algn="r"/>
            <a:r>
              <a:rPr lang="bg-BG" dirty="0"/>
              <a:t>Теодора стойчева</a:t>
            </a:r>
          </a:p>
          <a:p>
            <a:pPr algn="r"/>
            <a:r>
              <a:rPr lang="bg-BG" dirty="0"/>
              <a:t>22621693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78634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63EE-F971-5DEA-1B2E-DCCD9C613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6A018-66E6-6778-5401-370E4C741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bg-BG" dirty="0"/>
              <a:t>ВЪВЕДЕНИЕ</a:t>
            </a:r>
          </a:p>
          <a:p>
            <a:pPr marL="457200" indent="-457200">
              <a:buAutoNum type="arabicPeriod"/>
            </a:pPr>
            <a:r>
              <a:rPr lang="bg-BG" dirty="0"/>
              <a:t>СЪЩНОСТ НА ИНТЕРФЕЙСИТЕ ЗА РАЗРАБОТКА</a:t>
            </a:r>
          </a:p>
          <a:p>
            <a:pPr marL="457200" indent="-457200">
              <a:buAutoNum type="arabicPeriod"/>
            </a:pPr>
            <a:r>
              <a:rPr lang="bg-BG" dirty="0"/>
              <a:t>РАЗНОВИДНОСТИ</a:t>
            </a:r>
          </a:p>
          <a:p>
            <a:pPr marL="457200" indent="-457200">
              <a:buAutoNum type="arabicPeriod"/>
            </a:pPr>
            <a:r>
              <a:rPr lang="bg-BG" dirty="0"/>
              <a:t>СРАВНЕНИЕ</a:t>
            </a:r>
          </a:p>
          <a:p>
            <a:pPr marL="457200" indent="-457200">
              <a:buAutoNum type="arabicPeriod"/>
            </a:pPr>
            <a:r>
              <a:rPr lang="bg-BG" dirty="0"/>
              <a:t>ЛИЧНО ПРЕДЛОЖЕНИЕ</a:t>
            </a:r>
          </a:p>
          <a:p>
            <a:pPr marL="457200" indent="-457200">
              <a:buAutoNum type="arabicPeriod"/>
            </a:pPr>
            <a:r>
              <a:rPr lang="bg-BG" dirty="0"/>
              <a:t>ЗАКЛЮЧЕНИЕ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07820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32FE-B57C-38E2-C9EE-A718952F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91" y="1182350"/>
            <a:ext cx="9905998" cy="745061"/>
          </a:xfrm>
        </p:spPr>
        <p:txBody>
          <a:bodyPr/>
          <a:lstStyle/>
          <a:p>
            <a:r>
              <a:rPr lang="bg-BG" dirty="0"/>
              <a:t>1. Въведение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8388C-541A-A048-4661-0F29FD58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691" y="2133598"/>
            <a:ext cx="7726097" cy="4724402"/>
          </a:xfrm>
        </p:spPr>
        <p:txBody>
          <a:bodyPr>
            <a:normAutofit/>
          </a:bodyPr>
          <a:lstStyle/>
          <a:p>
            <a:r>
              <a:rPr lang="bg-BG" sz="3200" dirty="0"/>
              <a:t>Какво представляват интерфейсите за разработка?</a:t>
            </a:r>
          </a:p>
          <a:p>
            <a:r>
              <a:rPr lang="bg-BG" sz="3200" dirty="0"/>
              <a:t>Каква е ролята им в мобилните приложения?</a:t>
            </a:r>
          </a:p>
          <a:p>
            <a:r>
              <a:rPr lang="bg-BG" sz="3200" dirty="0"/>
              <a:t>Каква е целта на презентацията?</a:t>
            </a:r>
            <a:endParaRPr lang="en-150" sz="3200" dirty="0"/>
          </a:p>
        </p:txBody>
      </p:sp>
    </p:spTree>
    <p:extLst>
      <p:ext uri="{BB962C8B-B14F-4D97-AF65-F5344CB8AC3E}">
        <p14:creationId xmlns:p14="http://schemas.microsoft.com/office/powerpoint/2010/main" val="2751102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EBAA-5D7F-5950-6106-442CF2BF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F488-202D-5A2D-6D7A-47BBBF686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>
            <a:normAutofit fontScale="90000"/>
          </a:bodyPr>
          <a:lstStyle/>
          <a:p>
            <a:r>
              <a:rPr lang="bg-BG" dirty="0"/>
              <a:t>2. СЪЩНОСТ НА ИНТЕРФЕЙСИТЕ ЗА РАЗРАБОТКА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07513-2F50-555E-D4FD-E2129B2EE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245" y="1419726"/>
            <a:ext cx="4050568" cy="4724402"/>
          </a:xfrm>
        </p:spPr>
        <p:txBody>
          <a:bodyPr>
            <a:normAutofit fontScale="92500" lnSpcReduction="20000"/>
          </a:bodyPr>
          <a:lstStyle/>
          <a:p>
            <a:r>
              <a:rPr lang="bg-BG" sz="3200" dirty="0"/>
              <a:t>Достъп до ключови функционалности</a:t>
            </a:r>
          </a:p>
          <a:p>
            <a:r>
              <a:rPr lang="bg-BG" sz="3200" dirty="0"/>
              <a:t>Съчетание на визуален дизайн с логика на взаимодействие</a:t>
            </a:r>
          </a:p>
          <a:p>
            <a:r>
              <a:rPr lang="bg-BG" sz="3200" dirty="0"/>
              <a:t>Влияние върху потребителското изживяване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D3A2D-2F25-0709-EE30-D8D8CC9BE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114" y="1258363"/>
            <a:ext cx="5576145" cy="48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C332-0137-6246-E6A5-A195C82E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CA4F-3312-7548-DF00-33D5590B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3. РАЗНОВИДНОСТИ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3AEA2-227F-68EB-F79A-3A77A37C2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245" y="1419726"/>
            <a:ext cx="4267266" cy="3144402"/>
          </a:xfrm>
        </p:spPr>
        <p:txBody>
          <a:bodyPr>
            <a:normAutofit fontScale="92500" lnSpcReduction="20000"/>
          </a:bodyPr>
          <a:lstStyle/>
          <a:p>
            <a:r>
              <a:rPr lang="bg-BG" sz="3200" dirty="0"/>
              <a:t>Съобразени с изискванията на съдържанието</a:t>
            </a:r>
          </a:p>
          <a:p>
            <a:r>
              <a:rPr lang="bg-BG" sz="3200" dirty="0"/>
              <a:t>Разнообразни цели и приложения</a:t>
            </a:r>
          </a:p>
          <a:p>
            <a:r>
              <a:rPr lang="bg-BG" sz="3200" dirty="0"/>
              <a:t>Обмислен дизайн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C6D2F3-550C-AE6F-D8D1-BACBB4998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562" y="2490456"/>
            <a:ext cx="2486372" cy="1257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29893D-BFD7-5A3A-BF74-37E4421ED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48" y="1047905"/>
            <a:ext cx="4239217" cy="1124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72B0BA-849B-E7A2-15A5-2BF2CED59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024" y="2898179"/>
            <a:ext cx="3229426" cy="1400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3F27A3-118E-7D3F-A161-B56B1312F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802" y="4066376"/>
            <a:ext cx="1853618" cy="2662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143BE1-EACF-C226-4262-4113D5F38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024" y="4564128"/>
            <a:ext cx="3467584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073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70AD-8494-B26F-897F-E884105F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BC11-C5A2-484B-32AF-FC86F178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ЛЕНТА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85F34-20D8-5BB1-051D-666A5D107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084" y="1419726"/>
            <a:ext cx="3800551" cy="4724402"/>
          </a:xfrm>
        </p:spPr>
        <p:txBody>
          <a:bodyPr>
            <a:normAutofit/>
          </a:bodyPr>
          <a:lstStyle/>
          <a:p>
            <a:r>
              <a:rPr lang="bg-BG" dirty="0"/>
              <a:t>Навигация и функционалности</a:t>
            </a:r>
          </a:p>
          <a:p>
            <a:r>
              <a:rPr lang="bg-BG" dirty="0"/>
              <a:t>Лесно откриваема</a:t>
            </a:r>
          </a:p>
          <a:p>
            <a:r>
              <a:rPr lang="bg-BG" dirty="0"/>
              <a:t>Иновативен дизайн</a:t>
            </a:r>
          </a:p>
          <a:p>
            <a:r>
              <a:rPr lang="bg-BG" dirty="0"/>
              <a:t>Бърз постоянен достъп до операции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7F01B-6A72-7A8D-9886-E1CA77B21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083" y="1066797"/>
            <a:ext cx="2318833" cy="4791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BCD4B6-0D22-ED2C-0BEA-9D1F1B1EF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781" y="1066797"/>
            <a:ext cx="2318832" cy="4791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E01285-E1D6-E97C-9810-27BFFD5B1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479" y="1066797"/>
            <a:ext cx="2318832" cy="4791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669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1B07-113E-B1F2-D686-1E012B7C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042A-EA1D-E3D0-A535-C72FFA62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64037-C170-73DD-E1AB-7B518751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245" y="1419726"/>
            <a:ext cx="3494756" cy="4724402"/>
          </a:xfrm>
        </p:spPr>
        <p:txBody>
          <a:bodyPr>
            <a:normAutofit/>
          </a:bodyPr>
          <a:lstStyle/>
          <a:p>
            <a:r>
              <a:rPr lang="bg-BG" dirty="0"/>
              <a:t>По-широк набор от функционалности</a:t>
            </a:r>
          </a:p>
          <a:p>
            <a:r>
              <a:rPr lang="bg-BG" dirty="0"/>
              <a:t>Добре подредена, за да не се претоварва</a:t>
            </a:r>
          </a:p>
          <a:p>
            <a:r>
              <a:rPr lang="bg-BG" dirty="0"/>
              <a:t>Фиксирана или контекстуална, винаги разширяема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6A820-470F-12AA-FE0A-69D3A5398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975" y="1066799"/>
            <a:ext cx="2429214" cy="5144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8F0C71-4395-7028-8FEA-8DCD70D8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208" y="1066799"/>
            <a:ext cx="2517125" cy="50773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121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D408-69B7-04FF-2397-E93B83B8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D146-F9A7-D410-387C-EA630722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Бутон за призив за действие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8D9F9-AFF4-47D9-B81F-B0CD47998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2" y="1419726"/>
            <a:ext cx="4867761" cy="3444882"/>
          </a:xfrm>
        </p:spPr>
        <p:txBody>
          <a:bodyPr>
            <a:normAutofit fontScale="92500" lnSpcReduction="10000"/>
          </a:bodyPr>
          <a:lstStyle/>
          <a:p>
            <a:r>
              <a:rPr lang="bg-BG" sz="3200" dirty="0"/>
              <a:t>Визуално отличим бутон за основно действие</a:t>
            </a:r>
          </a:p>
          <a:p>
            <a:r>
              <a:rPr lang="bg-BG" sz="3200" dirty="0"/>
              <a:t>Насочва вниманието </a:t>
            </a:r>
          </a:p>
          <a:p>
            <a:r>
              <a:rPr lang="bg-BG" sz="3200" dirty="0"/>
              <a:t>Ангажира и води потребителя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A4EAC-1CD9-14DA-3A2C-CF743CE72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901" y="1255059"/>
            <a:ext cx="2553549" cy="5281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7D3D4B-D71F-FBD2-D0CF-0F2D3730D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398" y="1255059"/>
            <a:ext cx="2532897" cy="5281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7107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42F1B-6B79-025C-43B2-7075B3CF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0F08-0D78-560E-ADAE-E2C53D38B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Вградени бутони за действие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4A6F5-BECC-30A5-EC4D-8713AAF45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808" y="1308842"/>
            <a:ext cx="4441255" cy="3820942"/>
          </a:xfrm>
        </p:spPr>
        <p:txBody>
          <a:bodyPr>
            <a:normAutofit fontScale="85000" lnSpcReduction="10000"/>
          </a:bodyPr>
          <a:lstStyle/>
          <a:p>
            <a:r>
              <a:rPr lang="bg-BG" sz="3200" dirty="0"/>
              <a:t>Бързо взаимодействие без пренасочване</a:t>
            </a:r>
          </a:p>
          <a:p>
            <a:r>
              <a:rPr lang="bg-BG" sz="3200" dirty="0"/>
              <a:t>Социални и търговски приложения</a:t>
            </a:r>
          </a:p>
          <a:p>
            <a:r>
              <a:rPr lang="bg-BG" sz="3200" dirty="0"/>
              <a:t>Свързани с конкретен елемент от съдържанието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D9E975-249E-9CCE-A64D-6B11CA785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952" y="1066799"/>
            <a:ext cx="2507747" cy="51192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D9EF2-289B-1560-8022-A38713642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944" y="1066799"/>
            <a:ext cx="2507747" cy="5134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9446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E1424-B8F4-5BBB-E2D5-2887B64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E692-471D-504C-A225-467C6FC4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Бутони с множество състояния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7E6AF-61FA-7209-4252-A8ACA74D0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1566030"/>
            <a:ext cx="4814475" cy="3984378"/>
          </a:xfrm>
        </p:spPr>
        <p:txBody>
          <a:bodyPr>
            <a:normAutofit fontScale="85000" lnSpcReduction="10000"/>
          </a:bodyPr>
          <a:lstStyle/>
          <a:p>
            <a:r>
              <a:rPr lang="bg-BG" sz="3200" dirty="0"/>
              <a:t>Сменят визуализацията си при взаимодействие</a:t>
            </a:r>
          </a:p>
          <a:p>
            <a:r>
              <a:rPr lang="bg-BG" sz="3200" dirty="0"/>
              <a:t>Отразяват текущото състояние на елемента</a:t>
            </a:r>
          </a:p>
          <a:p>
            <a:r>
              <a:rPr lang="bg-BG" sz="3200" dirty="0"/>
              <a:t>Яснота и обратна връзка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557624-8434-BE12-FD62-C78AE1304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184" y="1224744"/>
            <a:ext cx="5223182" cy="5114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2285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37C50-9208-2B00-4D62-936ADBAB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8000-A4D3-9D6A-D89F-27049C43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Контекстуални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BBD16-72BF-96AB-EE04-CE49011C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39" y="1452933"/>
            <a:ext cx="3440117" cy="3554610"/>
          </a:xfrm>
        </p:spPr>
        <p:txBody>
          <a:bodyPr>
            <a:normAutofit fontScale="92500"/>
          </a:bodyPr>
          <a:lstStyle/>
          <a:p>
            <a:r>
              <a:rPr lang="bg-BG" dirty="0"/>
              <a:t>След конкретни потребителски действия</a:t>
            </a:r>
          </a:p>
          <a:p>
            <a:r>
              <a:rPr lang="bg-BG" dirty="0"/>
              <a:t>Релевантни функции според контекста</a:t>
            </a:r>
          </a:p>
          <a:p>
            <a:r>
              <a:rPr lang="bg-BG" dirty="0"/>
              <a:t>Минимализъм и чист интерфейс</a:t>
            </a:r>
          </a:p>
          <a:p>
            <a:endParaRPr lang="bg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C453A-A47D-9C5F-D56F-C886D9F1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958" y="1237125"/>
            <a:ext cx="2308146" cy="4724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9672F-108C-7E64-C7EC-B1BBE450E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979" y="1237125"/>
            <a:ext cx="2271875" cy="4724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A08387-C66B-FD96-2707-A89CDF048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60" y="1237125"/>
            <a:ext cx="2281813" cy="4724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3710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662B9-FD76-1E5B-BA71-3CD9F321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9D46-EBA1-DA43-0536-D655F9D17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Групови действия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7CB37-A710-A75F-EF34-9999B24E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19726"/>
            <a:ext cx="3813048" cy="3518034"/>
          </a:xfrm>
        </p:spPr>
        <p:txBody>
          <a:bodyPr>
            <a:normAutofit fontScale="92500"/>
          </a:bodyPr>
          <a:lstStyle/>
          <a:p>
            <a:r>
              <a:rPr lang="bg-BG" dirty="0"/>
              <a:t>Активират се при избор на няколко елемента</a:t>
            </a:r>
          </a:p>
          <a:p>
            <a:r>
              <a:rPr lang="bg-BG" dirty="0"/>
              <a:t>Едновременни действия върху група обекти</a:t>
            </a:r>
          </a:p>
          <a:p>
            <a:r>
              <a:rPr lang="bg-BG" dirty="0"/>
              <a:t>Намаляват броя на стъпките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33293-1BF4-141E-6CED-F8022FA2B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935" y="1062789"/>
            <a:ext cx="2632231" cy="5473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F17FA0-9C4E-AEF1-256A-BCA1237B8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998" y="1062789"/>
            <a:ext cx="2605198" cy="5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92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D797-6356-4968-444A-BAEDA4E0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71DE-2B35-A506-F840-F0DB4BFA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Контроли на заключен екран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C4F8A-441B-19F4-5EB4-895625309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528" y="1419726"/>
            <a:ext cx="3471673" cy="3207138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Мултимедия, съобщения, бързи действия</a:t>
            </a:r>
          </a:p>
          <a:p>
            <a:r>
              <a:rPr lang="bg-BG" dirty="0"/>
              <a:t>Удобство и сигурност</a:t>
            </a:r>
          </a:p>
          <a:p>
            <a:r>
              <a:rPr lang="bg-BG" dirty="0"/>
              <a:t>Лесна и бърза работа с устройството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AD7E7-CBD8-DE52-A00E-69A470D02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263" y="1057396"/>
            <a:ext cx="2534009" cy="5253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65586-BE60-2C15-CC0F-29C5FAFB7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334" y="1066799"/>
            <a:ext cx="2534009" cy="524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04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E1E8D-C0AC-1247-5FBF-F51651F9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A3BD-7B74-679C-3862-743E2F8C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4. Сравнение</a:t>
            </a:r>
            <a:endParaRPr lang="en-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17047-0A59-1642-1121-F9B97E4B6C66}"/>
              </a:ext>
            </a:extLst>
          </p:cNvPr>
          <p:cNvSpPr txBox="1"/>
          <p:nvPr/>
        </p:nvSpPr>
        <p:spPr>
          <a:xfrm>
            <a:off x="2366678" y="1120676"/>
            <a:ext cx="29156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Лента с инструменти</a:t>
            </a:r>
            <a:br>
              <a:rPr lang="ru-RU" sz="2400" dirty="0"/>
            </a:br>
            <a:r>
              <a:rPr lang="ru-RU" sz="2400" dirty="0"/>
              <a:t>✔ Винаги достъпна</a:t>
            </a:r>
            <a:br>
              <a:rPr lang="ru-RU" sz="2400" dirty="0"/>
            </a:br>
            <a:r>
              <a:rPr lang="ru-RU" sz="2400" dirty="0"/>
              <a:t>✘ Заема пространство</a:t>
            </a:r>
            <a:br>
              <a:rPr lang="ru-RU" sz="2400" dirty="0"/>
            </a:br>
            <a:r>
              <a:rPr lang="ru-RU" sz="2400" dirty="0"/>
              <a:t>📱 Instagram</a:t>
            </a:r>
            <a:endParaRPr lang="en-150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41C73-2222-EEDC-12DE-BD63D8C32D91}"/>
              </a:ext>
            </a:extLst>
          </p:cNvPr>
          <p:cNvSpPr txBox="1"/>
          <p:nvPr/>
        </p:nvSpPr>
        <p:spPr>
          <a:xfrm>
            <a:off x="6254833" y="1120676"/>
            <a:ext cx="32364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Кутия с инструменти</a:t>
            </a:r>
            <a:br>
              <a:rPr lang="ru-RU" sz="2400" dirty="0"/>
            </a:br>
            <a:r>
              <a:rPr lang="ru-RU" sz="2400" dirty="0"/>
              <a:t>✔ Богата функционалност</a:t>
            </a:r>
            <a:br>
              <a:rPr lang="ru-RU" sz="2400" dirty="0"/>
            </a:br>
            <a:r>
              <a:rPr lang="ru-RU" sz="2400" dirty="0"/>
              <a:t>✘ Претрупан интерфейс</a:t>
            </a:r>
            <a:br>
              <a:rPr lang="ru-RU" sz="2400" dirty="0"/>
            </a:br>
            <a:r>
              <a:rPr lang="ru-RU" sz="2400" dirty="0"/>
              <a:t>📱 Snapseed</a:t>
            </a:r>
            <a:endParaRPr lang="en-150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5DF31-2442-9AE6-754F-6D0AF7456E33}"/>
              </a:ext>
            </a:extLst>
          </p:cNvPr>
          <p:cNvSpPr txBox="1"/>
          <p:nvPr/>
        </p:nvSpPr>
        <p:spPr>
          <a:xfrm>
            <a:off x="2262331" y="4103514"/>
            <a:ext cx="33255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400" b="1" dirty="0"/>
              <a:t>Бутон за призив за действие</a:t>
            </a:r>
            <a:br>
              <a:rPr lang="en-US" sz="2400" dirty="0"/>
            </a:br>
            <a:r>
              <a:rPr lang="en-US" sz="2400" dirty="0"/>
              <a:t>✔ </a:t>
            </a:r>
            <a:r>
              <a:rPr lang="ru-RU" sz="2400" dirty="0"/>
              <a:t>Централен, ясен</a:t>
            </a:r>
            <a:br>
              <a:rPr lang="ru-RU" sz="2400" dirty="0"/>
            </a:br>
            <a:r>
              <a:rPr lang="ru-RU" sz="2400" dirty="0"/>
              <a:t>✘ Закрива съдържание</a:t>
            </a:r>
            <a:br>
              <a:rPr lang="ru-RU" sz="2400" dirty="0"/>
            </a:br>
            <a:r>
              <a:rPr lang="en-150" sz="2400" dirty="0"/>
              <a:t>📱 </a:t>
            </a:r>
            <a:r>
              <a:rPr lang="en-US" sz="2400" dirty="0"/>
              <a:t>Gmail</a:t>
            </a:r>
            <a:endParaRPr lang="en-150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3D097-2ACB-7CF2-E6FE-798255BD53F6}"/>
              </a:ext>
            </a:extLst>
          </p:cNvPr>
          <p:cNvSpPr txBox="1"/>
          <p:nvPr/>
        </p:nvSpPr>
        <p:spPr>
          <a:xfrm>
            <a:off x="6254833" y="4297324"/>
            <a:ext cx="36215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Вграден бутон</a:t>
            </a:r>
            <a:br>
              <a:rPr lang="ru-RU" sz="2400" dirty="0"/>
            </a:br>
            <a:r>
              <a:rPr lang="ru-RU" sz="2400" dirty="0"/>
              <a:t>✔ Бързо действие</a:t>
            </a:r>
            <a:br>
              <a:rPr lang="ru-RU" sz="2400" dirty="0"/>
            </a:br>
            <a:r>
              <a:rPr lang="ru-RU" sz="2400" dirty="0"/>
              <a:t>✘ Много икони</a:t>
            </a:r>
            <a:br>
              <a:rPr lang="ru-RU" sz="2400" dirty="0"/>
            </a:br>
            <a:r>
              <a:rPr lang="ru-RU" sz="2400" dirty="0"/>
              <a:t>📱 Sinsay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1844688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649D4-61BF-F85A-9525-2854B957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3370-9941-BCA7-C75C-8A6CBBF2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4. Сравнение</a:t>
            </a:r>
            <a:endParaRPr lang="en-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05FD5-76F1-73B1-C1B0-733052EB4853}"/>
              </a:ext>
            </a:extLst>
          </p:cNvPr>
          <p:cNvSpPr txBox="1"/>
          <p:nvPr/>
        </p:nvSpPr>
        <p:spPr>
          <a:xfrm>
            <a:off x="2175537" y="1490008"/>
            <a:ext cx="36375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Бутон с множество състояния</a:t>
            </a:r>
            <a:br>
              <a:rPr lang="ru-RU" sz="2400" dirty="0"/>
            </a:br>
            <a:r>
              <a:rPr lang="ru-RU" sz="2400" dirty="0"/>
              <a:t>✔ Визуална обратна връзка</a:t>
            </a:r>
            <a:br>
              <a:rPr lang="ru-RU" sz="2400" dirty="0"/>
            </a:br>
            <a:r>
              <a:rPr lang="ru-RU" sz="2400" dirty="0"/>
              <a:t>✘ Неясни състояния</a:t>
            </a:r>
            <a:br>
              <a:rPr lang="ru-RU" sz="2400" dirty="0"/>
            </a:br>
            <a:r>
              <a:rPr lang="en-150" sz="2400" dirty="0"/>
              <a:t>📱 </a:t>
            </a:r>
            <a:r>
              <a:rPr lang="en-US" sz="2400" dirty="0"/>
              <a:t>Spotify</a:t>
            </a:r>
            <a:endParaRPr lang="en-150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4BF7D-9D60-2DBC-292A-39F8E95CE989}"/>
              </a:ext>
            </a:extLst>
          </p:cNvPr>
          <p:cNvSpPr txBox="1"/>
          <p:nvPr/>
        </p:nvSpPr>
        <p:spPr>
          <a:xfrm>
            <a:off x="2175537" y="4393652"/>
            <a:ext cx="3637547" cy="1938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Контекстуални инструменти</a:t>
            </a:r>
            <a:br>
              <a:rPr lang="ru-RU" sz="2400" dirty="0"/>
            </a:br>
            <a:r>
              <a:rPr lang="ru-RU" sz="2400" dirty="0"/>
              <a:t>✔ Само при нужда</a:t>
            </a:r>
            <a:br>
              <a:rPr lang="ru-RU" sz="2400" dirty="0"/>
            </a:br>
            <a:r>
              <a:rPr lang="ru-RU" sz="2400" dirty="0"/>
              <a:t>✘ Трудно откриваеми</a:t>
            </a:r>
            <a:br>
              <a:rPr lang="ru-RU" sz="2400" dirty="0"/>
            </a:br>
            <a:r>
              <a:rPr lang="ru-RU" sz="2400" dirty="0"/>
              <a:t>📱 Pinterest</a:t>
            </a:r>
            <a:endParaRPr lang="en-150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8A90E-CFCB-7E23-1AEB-80E2B69DD1EA}"/>
              </a:ext>
            </a:extLst>
          </p:cNvPr>
          <p:cNvSpPr txBox="1"/>
          <p:nvPr/>
        </p:nvSpPr>
        <p:spPr>
          <a:xfrm>
            <a:off x="6882866" y="1490008"/>
            <a:ext cx="37658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Групови действия</a:t>
            </a:r>
            <a:br>
              <a:rPr lang="ru-RU" sz="2400" dirty="0"/>
            </a:br>
            <a:r>
              <a:rPr lang="ru-RU" sz="2400" dirty="0"/>
              <a:t>✔ Масово управление</a:t>
            </a:r>
            <a:br>
              <a:rPr lang="ru-RU" sz="2400" dirty="0"/>
            </a:br>
            <a:r>
              <a:rPr lang="ru-RU" sz="2400" dirty="0"/>
              <a:t>✘ Скрит достъп</a:t>
            </a:r>
            <a:br>
              <a:rPr lang="ru-RU" sz="2400" dirty="0"/>
            </a:br>
            <a:r>
              <a:rPr lang="ru-RU" sz="2400" dirty="0"/>
              <a:t>📱 Google Drive</a:t>
            </a:r>
            <a:endParaRPr lang="en-150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C5F227-3120-4F80-C349-21EB2E9FA3BE}"/>
              </a:ext>
            </a:extLst>
          </p:cNvPr>
          <p:cNvSpPr txBox="1"/>
          <p:nvPr/>
        </p:nvSpPr>
        <p:spPr>
          <a:xfrm>
            <a:off x="6468561" y="4393652"/>
            <a:ext cx="56748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Контроли на заключен екран</a:t>
            </a:r>
            <a:br>
              <a:rPr lang="ru-RU" sz="2400" dirty="0"/>
            </a:br>
            <a:r>
              <a:rPr lang="ru-RU" sz="2400" dirty="0"/>
              <a:t>✔ Бърз достъп</a:t>
            </a:r>
            <a:br>
              <a:rPr lang="ru-RU" sz="2400" dirty="0"/>
            </a:br>
            <a:r>
              <a:rPr lang="ru-RU" sz="2400" dirty="0"/>
              <a:t>✘ Ограничена функционалност</a:t>
            </a:r>
            <a:br>
              <a:rPr lang="ru-RU" sz="2400" dirty="0"/>
            </a:br>
            <a:r>
              <a:rPr lang="ru-RU" sz="2400" dirty="0"/>
              <a:t>📱 Spotify / YouTube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31472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9FDB3-FE19-0F38-C8E0-1D84D0D8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6754C-2B0B-7FED-1C0D-CAE42882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5. предложение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5ADF2-94C4-7C1E-FFD9-07D39EF1F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244" y="1419726"/>
            <a:ext cx="3778220" cy="3380874"/>
          </a:xfrm>
        </p:spPr>
        <p:txBody>
          <a:bodyPr>
            <a:normAutofit fontScale="85000" lnSpcReduction="10000"/>
          </a:bodyPr>
          <a:lstStyle/>
          <a:p>
            <a:r>
              <a:rPr lang="bg-BG" sz="3200" dirty="0"/>
              <a:t>Неясна навигация</a:t>
            </a:r>
          </a:p>
          <a:p>
            <a:r>
              <a:rPr lang="bg-BG" sz="3200" dirty="0"/>
              <a:t>Неподредени инструменти</a:t>
            </a:r>
          </a:p>
          <a:p>
            <a:r>
              <a:rPr lang="bg-BG" sz="3200" dirty="0"/>
              <a:t>Слабо визуализирани действия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D44D8-A525-C9F9-DA5E-4A310F25E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162" y="709863"/>
            <a:ext cx="2691670" cy="5438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DBC3D5-C701-D405-CB83-E60AB7B4A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569" y="729466"/>
            <a:ext cx="2665100" cy="539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2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476D-CA20-93C0-DA9E-B869893A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E56B-9834-E729-D9B9-BB1106CB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5. предложение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9AD0-3EE8-8C23-CCEE-9BB6837C3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244" y="1419726"/>
            <a:ext cx="4381724" cy="3280290"/>
          </a:xfrm>
        </p:spPr>
        <p:txBody>
          <a:bodyPr>
            <a:normAutofit fontScale="85000" lnSpcReduction="10000"/>
          </a:bodyPr>
          <a:lstStyle/>
          <a:p>
            <a:r>
              <a:rPr lang="bg-BG" sz="3200" dirty="0"/>
              <a:t>Адаптивна лента с инструменти</a:t>
            </a:r>
          </a:p>
          <a:p>
            <a:r>
              <a:rPr lang="bg-BG" sz="3200" dirty="0"/>
              <a:t>Ясни етикети и икони</a:t>
            </a:r>
          </a:p>
          <a:p>
            <a:r>
              <a:rPr lang="bg-BG" sz="3200" dirty="0"/>
              <a:t>Логично групирани контекстуални менюта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B47F1-1383-9894-24D0-3669F9D0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550" y="804201"/>
            <a:ext cx="2569589" cy="5339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594A87-67CC-B8D6-45FD-A12A0DED8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222" y="804201"/>
            <a:ext cx="2601913" cy="53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91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98C0-AEBC-E9E1-8E35-58187ABCA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F2B43-0732-EBE9-8B29-9A4F3445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4" y="321738"/>
            <a:ext cx="9905998" cy="745061"/>
          </a:xfrm>
        </p:spPr>
        <p:txBody>
          <a:bodyPr/>
          <a:lstStyle/>
          <a:p>
            <a:r>
              <a:rPr lang="bg-BG" dirty="0"/>
              <a:t>6. Заключение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AE2E7-038B-8DE0-4230-C3925CA96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244" y="1419726"/>
            <a:ext cx="10819100" cy="3847218"/>
          </a:xfrm>
        </p:spPr>
        <p:txBody>
          <a:bodyPr>
            <a:normAutofit/>
          </a:bodyPr>
          <a:lstStyle/>
          <a:p>
            <a:r>
              <a:rPr lang="bg-BG" sz="2800" dirty="0"/>
              <a:t>Връзка между функция и потребител</a:t>
            </a:r>
          </a:p>
          <a:p>
            <a:r>
              <a:rPr lang="bg-BG" sz="2800" dirty="0"/>
              <a:t>Навигация, ефективност, удовлетвореност</a:t>
            </a:r>
          </a:p>
          <a:p>
            <a:r>
              <a:rPr lang="bg-BG" sz="2800" dirty="0"/>
              <a:t>Добрият интерфейс – контекстуален, ясен, ненатрапчив</a:t>
            </a:r>
          </a:p>
          <a:p>
            <a:r>
              <a:rPr lang="bg-BG" sz="2800" dirty="0"/>
              <a:t>Цел: инструменти, които водят потребителя естествено</a:t>
            </a:r>
          </a:p>
          <a:p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993750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58C966-AD6B-09B9-AF98-F9D7FBD4E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8509" y="1539458"/>
            <a:ext cx="9385134" cy="2387600"/>
          </a:xfrm>
        </p:spPr>
        <p:txBody>
          <a:bodyPr>
            <a:normAutofit/>
          </a:bodyPr>
          <a:lstStyle/>
          <a:p>
            <a:r>
              <a:rPr lang="bg-BG" sz="5400" b="1" dirty="0"/>
              <a:t>БЛАГОДАРЯ ЗА ВНИМАНИЕТО!</a:t>
            </a:r>
            <a:endParaRPr lang="en-150" sz="5400" b="1" dirty="0"/>
          </a:p>
        </p:txBody>
      </p:sp>
    </p:spTree>
    <p:extLst>
      <p:ext uri="{BB962C8B-B14F-4D97-AF65-F5344CB8AC3E}">
        <p14:creationId xmlns:p14="http://schemas.microsoft.com/office/powerpoint/2010/main" val="359381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106</TotalTime>
  <Words>409</Words>
  <Application>Microsoft Office PowerPoint</Application>
  <PresentationFormat>Widescreen</PresentationFormat>
  <Paragraphs>81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Century Gothic</vt:lpstr>
      <vt:lpstr>Circuit</vt:lpstr>
      <vt:lpstr>Анализ на интерфейси за разработка в мобилни приложения</vt:lpstr>
      <vt:lpstr>СЪДЪРЖАНИЕ</vt:lpstr>
      <vt:lpstr>1. Въведение</vt:lpstr>
      <vt:lpstr>2. СЪЩНОСТ НА ИНТЕРФЕЙСИТЕ ЗА РАЗРАБОТКА</vt:lpstr>
      <vt:lpstr>3. РАЗНОВИДНОСТИ</vt:lpstr>
      <vt:lpstr>ЛЕНТА С ИНСТРУМЕНТИ</vt:lpstr>
      <vt:lpstr>Кутия с инструменти</vt:lpstr>
      <vt:lpstr>Бутон за призив за действие</vt:lpstr>
      <vt:lpstr>Вградени бутони за действие</vt:lpstr>
      <vt:lpstr>Бутони с множество състояния</vt:lpstr>
      <vt:lpstr>Контекстуални инструменти</vt:lpstr>
      <vt:lpstr>Групови действия</vt:lpstr>
      <vt:lpstr>Контроли на заключен екран</vt:lpstr>
      <vt:lpstr>4. Сравнение</vt:lpstr>
      <vt:lpstr>4. Сравнение</vt:lpstr>
      <vt:lpstr>5. предложение</vt:lpstr>
      <vt:lpstr>5. предложение</vt:lpstr>
      <vt:lpstr>6. Заключение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Stoycheva</dc:creator>
  <cp:lastModifiedBy>Teodora Stoycheva</cp:lastModifiedBy>
  <cp:revision>44</cp:revision>
  <dcterms:created xsi:type="dcterms:W3CDTF">2025-03-22T15:09:27Z</dcterms:created>
  <dcterms:modified xsi:type="dcterms:W3CDTF">2025-03-24T20:27:36Z</dcterms:modified>
</cp:coreProperties>
</file>
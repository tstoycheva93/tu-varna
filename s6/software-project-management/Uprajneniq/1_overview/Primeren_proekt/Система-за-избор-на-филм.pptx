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7" r:id="rId5"/>
    <p:sldId id="272" r:id="rId6"/>
    <p:sldId id="288" r:id="rId7"/>
    <p:sldId id="286" r:id="rId8"/>
    <p:sldId id="289" r:id="rId9"/>
    <p:sldId id="290" r:id="rId10"/>
    <p:sldId id="291" r:id="rId11"/>
    <p:sldId id="287" r:id="rId12"/>
    <p:sldId id="292" r:id="rId13"/>
    <p:sldId id="277" r:id="rId14"/>
    <p:sldId id="278" r:id="rId15"/>
    <p:sldId id="264" r:id="rId16"/>
    <p:sldId id="295" r:id="rId17"/>
    <p:sldId id="269" r:id="rId18"/>
    <p:sldId id="280" r:id="rId19"/>
    <p:sldId id="275" r:id="rId20"/>
    <p:sldId id="281" r:id="rId21"/>
    <p:sldId id="293" r:id="rId22"/>
    <p:sldId id="294" r:id="rId23"/>
    <p:sldId id="283" r:id="rId24"/>
    <p:sldId id="284" r:id="rId25"/>
    <p:sldId id="282" r:id="rId26"/>
    <p:sldId id="285" r:id="rId27"/>
    <p:sldId id="297" r:id="rId28"/>
    <p:sldId id="296" r:id="rId2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B833B2-00E5-4EFC-9A52-96B019DF7877}">
          <p14:sldIdLst>
            <p14:sldId id="257"/>
            <p14:sldId id="272"/>
            <p14:sldId id="288"/>
            <p14:sldId id="286"/>
            <p14:sldId id="289"/>
            <p14:sldId id="290"/>
            <p14:sldId id="291"/>
            <p14:sldId id="287"/>
            <p14:sldId id="292"/>
            <p14:sldId id="277"/>
            <p14:sldId id="278"/>
            <p14:sldId id="264"/>
            <p14:sldId id="295"/>
            <p14:sldId id="269"/>
            <p14:sldId id="280"/>
            <p14:sldId id="275"/>
            <p14:sldId id="281"/>
            <p14:sldId id="293"/>
            <p14:sldId id="294"/>
            <p14:sldId id="283"/>
            <p14:sldId id="284"/>
            <p14:sldId id="282"/>
            <p14:sldId id="285"/>
            <p14:sldId id="297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>
      <p:cViewPr varScale="1">
        <p:scale>
          <a:sx n="73" d="100"/>
          <a:sy n="73" d="100"/>
        </p:scale>
        <p:origin x="618" y="7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2.bin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3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../embeddings/oleObject4.bin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../embeddings/oleObject5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bg-BG"/>
              <a:t>Бюджет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Remaining Cost</c:v>
          </c:tx>
          <c:spPr>
            <a:gradFill rotWithShape="1">
              <a:gsLst>
                <a:gs pos="0">
                  <a:schemeClr val="accent1">
                    <a:satMod val="103000"/>
                    <a:lumMod val="118000"/>
                  </a:schemeClr>
                </a:gs>
                <a:gs pos="50000">
                  <a:schemeClr val="accent1">
                    <a:satMod val="89000"/>
                    <a:lumMod val="91000"/>
                  </a:schemeClr>
                </a:gs>
                <a:gs pos="100000">
                  <a:schemeClr val="accent1"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9"/>
              <c:pt idx="0">
                <c:v>Получаване на разрешение за започване на проекта</c:v>
              </c:pt>
              <c:pt idx="1">
                <c:v>Събиране и анализ на клиентските изисквания</c:v>
              </c:pt>
              <c:pt idx="2">
                <c:v>Проектиране</c:v>
              </c:pt>
              <c:pt idx="3">
                <c:v>Създаване на техническо задание на проекта </c:v>
              </c:pt>
              <c:pt idx="4">
                <c:v>Разработване</c:v>
              </c:pt>
              <c:pt idx="5">
                <c:v>Тестване</c:v>
              </c:pt>
              <c:pt idx="6">
                <c:v>Създаване на потребителска документация</c:v>
              </c:pt>
              <c:pt idx="7">
                <c:v>Представяне на продукта на клиента</c:v>
              </c:pt>
              <c:pt idx="8">
                <c:v>Пускане в производство на програмния продукт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348</c:v>
              </c:pt>
              <c:pt idx="6">
                <c:v>267</c:v>
              </c:pt>
              <c:pt idx="7">
                <c:v>147</c:v>
              </c:pt>
              <c:pt idx="8">
                <c:v>147</c:v>
              </c:pt>
            </c:numLit>
          </c:val>
          <c:extLst>
            <c:ext xmlns:c16="http://schemas.microsoft.com/office/drawing/2014/chart" uri="{C3380CC4-5D6E-409C-BE32-E72D297353CC}">
              <c16:uniqueId val="{00000000-957C-4256-B7B1-38FA8D6527E4}"/>
            </c:ext>
          </c:extLst>
        </c:ser>
        <c:ser>
          <c:idx val="1"/>
          <c:order val="1"/>
          <c:tx>
            <c:v>Actual Cost</c:v>
          </c:tx>
          <c:spPr>
            <a:gradFill rotWithShape="1">
              <a:gsLst>
                <a:gs pos="0">
                  <a:schemeClr val="accent2">
                    <a:satMod val="103000"/>
                    <a:lumMod val="118000"/>
                  </a:schemeClr>
                </a:gs>
                <a:gs pos="50000">
                  <a:schemeClr val="accent2">
                    <a:satMod val="89000"/>
                    <a:lumMod val="91000"/>
                  </a:schemeClr>
                </a:gs>
                <a:gs pos="100000">
                  <a:schemeClr val="accent2"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9"/>
              <c:pt idx="0">
                <c:v>Получаване на разрешение за започване на проекта</c:v>
              </c:pt>
              <c:pt idx="1">
                <c:v>Събиране и анализ на клиентските изисквания</c:v>
              </c:pt>
              <c:pt idx="2">
                <c:v>Проектиране</c:v>
              </c:pt>
              <c:pt idx="3">
                <c:v>Създаване на техническо задание на проекта </c:v>
              </c:pt>
              <c:pt idx="4">
                <c:v>Разработване</c:v>
              </c:pt>
              <c:pt idx="5">
                <c:v>Тестване</c:v>
              </c:pt>
              <c:pt idx="6">
                <c:v>Създаване на потребителска документация</c:v>
              </c:pt>
              <c:pt idx="7">
                <c:v>Представяне на продукта на клиента</c:v>
              </c:pt>
              <c:pt idx="8">
                <c:v>Пускане в производство на програмния продукт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265</c:v>
              </c:pt>
              <c:pt idx="2">
                <c:v>618</c:v>
              </c:pt>
              <c:pt idx="3">
                <c:v>267</c:v>
              </c:pt>
              <c:pt idx="4">
                <c:v>522</c:v>
              </c:pt>
              <c:pt idx="5">
                <c:v>51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957C-4256-B7B1-38FA8D6527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754857360"/>
        <c:axId val="754854096"/>
      </c:barChart>
      <c:lineChart>
        <c:grouping val="standard"/>
        <c:varyColors val="0"/>
        <c:ser>
          <c:idx val="2"/>
          <c:order val="2"/>
          <c:tx>
            <c:v>Baseline Cost</c:v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18000"/>
                    </a:schemeClr>
                  </a:gs>
                  <a:gs pos="50000">
                    <a:schemeClr val="accent3">
                      <a:satMod val="89000"/>
                      <a:lumMod val="91000"/>
                    </a:schemeClr>
                  </a:gs>
                  <a:gs pos="100000">
                    <a:schemeClr val="accent3">
                      <a:lumMod val="69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Lit>
              <c:ptCount val="9"/>
              <c:pt idx="0">
                <c:v>Получаване на разрешение за започване на проекта</c:v>
              </c:pt>
              <c:pt idx="1">
                <c:v>Събиране и анализ на клиентските изисквания</c:v>
              </c:pt>
              <c:pt idx="2">
                <c:v>Проектиране</c:v>
              </c:pt>
              <c:pt idx="3">
                <c:v>Създаване на техническо задание на проекта </c:v>
              </c:pt>
              <c:pt idx="4">
                <c:v>Разработване</c:v>
              </c:pt>
              <c:pt idx="5">
                <c:v>Тестване</c:v>
              </c:pt>
              <c:pt idx="6">
                <c:v>Създаване на потребителска документация</c:v>
              </c:pt>
              <c:pt idx="7">
                <c:v>Представяне на продукта на клиента</c:v>
              </c:pt>
              <c:pt idx="8">
                <c:v>Пускане в производство на програмния продукт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957C-4256-B7B1-38FA8D6527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4857360"/>
        <c:axId val="754854096"/>
      </c:lineChart>
      <c:catAx>
        <c:axId val="754857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4854096"/>
        <c:crosses val="autoZero"/>
        <c:auto val="1"/>
        <c:lblAlgn val="ctr"/>
        <c:lblOffset val="100"/>
        <c:noMultiLvlLbl val="0"/>
      </c:catAx>
      <c:valAx>
        <c:axId val="754854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485736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262686038635078"/>
          <c:y val="6.80196292113181E-2"/>
          <c:w val="0.61245200415387457"/>
          <c:h val="0.86046297536359162"/>
        </c:manualLayout>
      </c:layout>
      <c:pieChart>
        <c:varyColors val="1"/>
        <c:ser>
          <c:idx val="0"/>
          <c:order val="0"/>
          <c:tx>
            <c:v>Cost</c:v>
          </c:tx>
          <c:explosion val="20"/>
          <c:dPt>
            <c:idx val="0"/>
            <c:bubble3D val="0"/>
            <c:explosion val="25"/>
            <c:spPr>
              <a:gradFill rotWithShape="1">
                <a:gsLst>
                  <a:gs pos="0">
                    <a:schemeClr val="accent1">
                      <a:satMod val="103000"/>
                      <a:lumMod val="118000"/>
                    </a:schemeClr>
                  </a:gs>
                  <a:gs pos="50000">
                    <a:schemeClr val="accent1">
                      <a:satMod val="89000"/>
                      <a:lumMod val="91000"/>
                    </a:schemeClr>
                  </a:gs>
                  <a:gs pos="100000">
                    <a:schemeClr val="accent1">
                      <a:lumMod val="69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65E-494F-A94C-3FF8DC220C4C}"/>
              </c:ext>
            </c:extLst>
          </c:dPt>
          <c:dPt>
            <c:idx val="1"/>
            <c:bubble3D val="0"/>
            <c:explosion val="0"/>
            <c:spPr>
              <a:gradFill rotWithShape="1">
                <a:gsLst>
                  <a:gs pos="0">
                    <a:schemeClr val="accent2">
                      <a:satMod val="103000"/>
                      <a:lumMod val="118000"/>
                    </a:schemeClr>
                  </a:gs>
                  <a:gs pos="50000">
                    <a:schemeClr val="accent2">
                      <a:satMod val="89000"/>
                      <a:lumMod val="91000"/>
                    </a:schemeClr>
                  </a:gs>
                  <a:gs pos="100000">
                    <a:schemeClr val="accent2">
                      <a:lumMod val="69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65E-494F-A94C-3FF8DC220C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Lit>
              <c:ptCount val="2"/>
              <c:pt idx="0">
                <c:v>Type: Work</c:v>
              </c:pt>
              <c:pt idx="1">
                <c:v>Type: Material</c:v>
              </c:pt>
            </c:strLit>
          </c:cat>
          <c:val>
            <c:numLit>
              <c:formatCode>General</c:formatCode>
              <c:ptCount val="2"/>
              <c:pt idx="0">
                <c:v>2184</c:v>
              </c:pt>
              <c:pt idx="1">
                <c:v>448</c:v>
              </c:pt>
            </c:numLit>
          </c:val>
          <c:extLst>
            <c:ext xmlns:c16="http://schemas.microsoft.com/office/drawing/2014/chart" uri="{C3380CC4-5D6E-409C-BE32-E72D297353CC}">
              <c16:uniqueId val="{00000004-D65E-494F-A94C-3FF8DC220C4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  <c:extLst/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3202285884477205E-2"/>
          <c:y val="6.5957084311829423E-2"/>
          <c:w val="0.94788518456469539"/>
          <c:h val="0.80774478402064154"/>
        </c:manualLayout>
      </c:layout>
      <c:bar3DChart>
        <c:barDir val="col"/>
        <c:grouping val="clustered"/>
        <c:varyColors val="0"/>
        <c:ser>
          <c:idx val="0"/>
          <c:order val="0"/>
          <c:tx>
            <c:v>Cost Variance</c:v>
          </c:tx>
          <c:spPr>
            <a:gradFill rotWithShape="1">
              <a:gsLst>
                <a:gs pos="0">
                  <a:schemeClr val="accent1">
                    <a:satMod val="103000"/>
                    <a:lumMod val="118000"/>
                  </a:schemeClr>
                </a:gs>
                <a:gs pos="50000">
                  <a:schemeClr val="accent1">
                    <a:satMod val="89000"/>
                    <a:lumMod val="91000"/>
                  </a:schemeClr>
                </a:gs>
                <a:gs pos="100000">
                  <a:schemeClr val="accent1"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Lit>
              <c:ptCount val="8"/>
              <c:pt idx="0">
                <c:v>Радина</c:v>
              </c:pt>
              <c:pt idx="1">
                <c:v>Даниел</c:v>
              </c:pt>
              <c:pt idx="2">
                <c:v>електричество</c:v>
              </c:pt>
              <c:pt idx="3">
                <c:v>продукти за консумация</c:v>
              </c:pt>
              <c:pt idx="4">
                <c:v>интернет</c:v>
              </c:pt>
              <c:pt idx="5">
                <c:v>транспорт</c:v>
              </c:pt>
              <c:pt idx="6">
                <c:v>ssd</c:v>
              </c:pt>
              <c:pt idx="7">
                <c:v>канцеларски материали</c:v>
              </c:pt>
            </c:strLit>
          </c:cat>
          <c:val>
            <c:numLit>
              <c:formatCode>General</c:formatCode>
              <c:ptCount val="8"/>
              <c:pt idx="0">
                <c:v>1320</c:v>
              </c:pt>
              <c:pt idx="1">
                <c:v>864</c:v>
              </c:pt>
              <c:pt idx="2">
                <c:v>15</c:v>
              </c:pt>
              <c:pt idx="3">
                <c:v>320</c:v>
              </c:pt>
              <c:pt idx="4">
                <c:v>15</c:v>
              </c:pt>
              <c:pt idx="5">
                <c:v>32</c:v>
              </c:pt>
              <c:pt idx="6">
                <c:v>18</c:v>
              </c:pt>
              <c:pt idx="7">
                <c:v>48</c:v>
              </c:pt>
            </c:numLit>
          </c:val>
          <c:extLst>
            <c:ext xmlns:c16="http://schemas.microsoft.com/office/drawing/2014/chart" uri="{C3380CC4-5D6E-409C-BE32-E72D297353CC}">
              <c16:uniqueId val="{00000000-E135-4FBA-8718-D0EFF2A45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07943680"/>
        <c:axId val="2007944224"/>
        <c:axId val="0"/>
      </c:bar3DChart>
      <c:catAx>
        <c:axId val="2007943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944224"/>
        <c:crosses val="autoZero"/>
        <c:auto val="1"/>
        <c:lblAlgn val="ctr"/>
        <c:lblOffset val="100"/>
        <c:noMultiLvlLbl val="0"/>
      </c:catAx>
      <c:valAx>
        <c:axId val="2007944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94368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Actual Work</c:v>
          </c:tx>
          <c:spPr>
            <a:gradFill rotWithShape="1">
              <a:gsLst>
                <a:gs pos="0">
                  <a:schemeClr val="accent1">
                    <a:tint val="100000"/>
                    <a:satMod val="103000"/>
                    <a:lumMod val="118000"/>
                  </a:schemeClr>
                </a:gs>
                <a:gs pos="50000">
                  <a:schemeClr val="accent1">
                    <a:tint val="100000"/>
                    <a:satMod val="89000"/>
                    <a:lumMod val="91000"/>
                  </a:schemeClr>
                </a:gs>
                <a:gs pos="100000">
                  <a:schemeClr val="accent1">
                    <a:tint val="100000"/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9"/>
              <c:pt idx="0">
                <c:v>Получаване на разрешение за започване на проекта</c:v>
              </c:pt>
              <c:pt idx="1">
                <c:v>Събиране и анализ на клиентските изисквания</c:v>
              </c:pt>
              <c:pt idx="2">
                <c:v>Проектиране</c:v>
              </c:pt>
              <c:pt idx="3">
                <c:v>Създаване на техническо задание на проекта </c:v>
              </c:pt>
              <c:pt idx="4">
                <c:v>Разработване</c:v>
              </c:pt>
              <c:pt idx="5">
                <c:v>Тестване</c:v>
              </c:pt>
              <c:pt idx="6">
                <c:v>Създаване на потребителска документация</c:v>
              </c:pt>
              <c:pt idx="7">
                <c:v>Представяне на продукта на клиента</c:v>
              </c:pt>
              <c:pt idx="8">
                <c:v>Пускане в производство на програмния продукт</c:v>
              </c:pt>
            </c:strLit>
          </c:cat>
          <c:val>
            <c:numLit>
              <c:formatCode>#\ ##0_ "hrs"</c:formatCode>
              <c:ptCount val="9"/>
              <c:pt idx="0">
                <c:v>0</c:v>
              </c:pt>
              <c:pt idx="1">
                <c:v>16</c:v>
              </c:pt>
              <c:pt idx="2">
                <c:v>40</c:v>
              </c:pt>
              <c:pt idx="3">
                <c:v>16</c:v>
              </c:pt>
              <c:pt idx="4">
                <c:v>32</c:v>
              </c:pt>
              <c:pt idx="5">
                <c:v>2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A593-4B7A-B7EF-1818EAF7666E}"/>
            </c:ext>
          </c:extLst>
        </c:ser>
        <c:ser>
          <c:idx val="1"/>
          <c:order val="1"/>
          <c:tx>
            <c:v>Remaining Work</c:v>
          </c:tx>
          <c:spPr>
            <a:gradFill rotWithShape="1">
              <a:gsLst>
                <a:gs pos="0">
                  <a:schemeClr val="accent2">
                    <a:tint val="100000"/>
                    <a:satMod val="103000"/>
                    <a:lumMod val="118000"/>
                  </a:schemeClr>
                </a:gs>
                <a:gs pos="50000">
                  <a:schemeClr val="accent2">
                    <a:tint val="100000"/>
                    <a:satMod val="89000"/>
                    <a:lumMod val="91000"/>
                  </a:schemeClr>
                </a:gs>
                <a:gs pos="100000">
                  <a:schemeClr val="accent2">
                    <a:tint val="100000"/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9"/>
              <c:pt idx="0">
                <c:v>Получаване на разрешение за започване на проекта</c:v>
              </c:pt>
              <c:pt idx="1">
                <c:v>Събиране и анализ на клиентските изисквания</c:v>
              </c:pt>
              <c:pt idx="2">
                <c:v>Проектиране</c:v>
              </c:pt>
              <c:pt idx="3">
                <c:v>Създаване на техническо задание на проекта </c:v>
              </c:pt>
              <c:pt idx="4">
                <c:v>Разработване</c:v>
              </c:pt>
              <c:pt idx="5">
                <c:v>Тестване</c:v>
              </c:pt>
              <c:pt idx="6">
                <c:v>Създаване на потребителска документация</c:v>
              </c:pt>
              <c:pt idx="7">
                <c:v>Представяне на продукта на клиента</c:v>
              </c:pt>
              <c:pt idx="8">
                <c:v>Пускане в производство на програмния продукт</c:v>
              </c:pt>
            </c:strLit>
          </c:cat>
          <c:val>
            <c:numLit>
              <c:formatCode>#\ ##0_ "hrs"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22</c:v>
              </c:pt>
              <c:pt idx="6">
                <c:v>16</c:v>
              </c:pt>
              <c:pt idx="7">
                <c:v>8</c:v>
              </c:pt>
              <c:pt idx="8">
                <c:v>8</c:v>
              </c:pt>
            </c:numLit>
          </c:val>
          <c:extLst>
            <c:ext xmlns:c16="http://schemas.microsoft.com/office/drawing/2014/chart" uri="{C3380CC4-5D6E-409C-BE32-E72D297353CC}">
              <c16:uniqueId val="{00000001-A593-4B7A-B7EF-1818EAF766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845922128"/>
        <c:axId val="845921040"/>
      </c:barChart>
      <c:lineChart>
        <c:grouping val="standard"/>
        <c:varyColors val="0"/>
        <c:ser>
          <c:idx val="2"/>
          <c:order val="2"/>
          <c:tx>
            <c:v>Baseline Work</c:v>
          </c:tx>
          <c:spPr>
            <a:ln w="34925" cap="rnd">
              <a:solidFill>
                <a:schemeClr val="accent3">
                  <a:tint val="10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tint val="100000"/>
                      <a:satMod val="103000"/>
                      <a:lumMod val="118000"/>
                    </a:schemeClr>
                  </a:gs>
                  <a:gs pos="50000">
                    <a:schemeClr val="accent3">
                      <a:tint val="100000"/>
                      <a:satMod val="89000"/>
                      <a:lumMod val="91000"/>
                    </a:schemeClr>
                  </a:gs>
                  <a:gs pos="100000">
                    <a:schemeClr val="accent3">
                      <a:tint val="100000"/>
                      <a:lumMod val="69000"/>
                    </a:schemeClr>
                  </a:gs>
                </a:gsLst>
                <a:lin ang="5400000" scaled="0"/>
              </a:gradFill>
              <a:ln w="9525">
                <a:solidFill>
                  <a:schemeClr val="accent3">
                    <a:tint val="100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Lit>
              <c:ptCount val="9"/>
              <c:pt idx="0">
                <c:v>Получаване на разрешение за започване на проекта</c:v>
              </c:pt>
              <c:pt idx="1">
                <c:v>Събиране и анализ на клиентските изисквания</c:v>
              </c:pt>
              <c:pt idx="2">
                <c:v>Проектиране</c:v>
              </c:pt>
              <c:pt idx="3">
                <c:v>Създаване на техническо задание на проекта </c:v>
              </c:pt>
              <c:pt idx="4">
                <c:v>Разработване</c:v>
              </c:pt>
              <c:pt idx="5">
                <c:v>Тестване</c:v>
              </c:pt>
              <c:pt idx="6">
                <c:v>Създаване на потребителска документация</c:v>
              </c:pt>
              <c:pt idx="7">
                <c:v>Представяне на продукта на клиента</c:v>
              </c:pt>
              <c:pt idx="8">
                <c:v>Пускане в производство на програмния продукт</c:v>
              </c:pt>
            </c:strLit>
          </c:cat>
          <c:val>
            <c:numLit>
              <c:formatCode>#\ ##0_ "hrs"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A593-4B7A-B7EF-1818EAF766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5922128"/>
        <c:axId val="845921040"/>
      </c:lineChart>
      <c:catAx>
        <c:axId val="84592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921040"/>
        <c:crosses val="autoZero"/>
        <c:auto val="1"/>
        <c:lblAlgn val="ctr"/>
        <c:lblOffset val="100"/>
        <c:noMultiLvlLbl val="0"/>
      </c:catAx>
      <c:valAx>
        <c:axId val="84592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Work (hrs)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\ ##0_ &quot;hr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922128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243461736986749"/>
          <c:y val="0.20374799848132191"/>
          <c:w val="0.78084936136969207"/>
          <c:h val="0.7008732399016161"/>
        </c:manualLayout>
      </c:layout>
      <c:barChart>
        <c:barDir val="bar"/>
        <c:grouping val="stacked"/>
        <c:varyColors val="0"/>
        <c:ser>
          <c:idx val="0"/>
          <c:order val="0"/>
          <c:tx>
            <c:v>Actual Work</c:v>
          </c:tx>
          <c:spPr>
            <a:gradFill rotWithShape="1">
              <a:gsLst>
                <a:gs pos="0">
                  <a:schemeClr val="accent1">
                    <a:tint val="100000"/>
                    <a:satMod val="103000"/>
                    <a:lumMod val="118000"/>
                  </a:schemeClr>
                </a:gs>
                <a:gs pos="50000">
                  <a:schemeClr val="accent1">
                    <a:tint val="100000"/>
                    <a:satMod val="89000"/>
                    <a:lumMod val="91000"/>
                  </a:schemeClr>
                </a:gs>
                <a:gs pos="100000">
                  <a:schemeClr val="accent1">
                    <a:tint val="100000"/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Радина</c:v>
              </c:pt>
              <c:pt idx="1">
                <c:v>Даниел</c:v>
              </c:pt>
            </c:strLit>
          </c:cat>
          <c:val>
            <c:numLit>
              <c:formatCode>#\ ##0_ "hrs"</c:formatCode>
              <c:ptCount val="2"/>
              <c:pt idx="0">
                <c:v>48</c:v>
              </c:pt>
              <c:pt idx="1">
                <c:v>58</c:v>
              </c:pt>
            </c:numLit>
          </c:val>
          <c:extLst>
            <c:ext xmlns:c16="http://schemas.microsoft.com/office/drawing/2014/chart" uri="{C3380CC4-5D6E-409C-BE32-E72D297353CC}">
              <c16:uniqueId val="{00000000-BF12-47CC-AE6F-CA87C3A11BBB}"/>
            </c:ext>
          </c:extLst>
        </c:ser>
        <c:ser>
          <c:idx val="1"/>
          <c:order val="1"/>
          <c:tx>
            <c:v>Remaining Work</c:v>
          </c:tx>
          <c:spPr>
            <a:gradFill rotWithShape="1">
              <a:gsLst>
                <a:gs pos="0">
                  <a:schemeClr val="accent2">
                    <a:tint val="100000"/>
                    <a:satMod val="103000"/>
                    <a:lumMod val="118000"/>
                  </a:schemeClr>
                </a:gs>
                <a:gs pos="50000">
                  <a:schemeClr val="accent2">
                    <a:tint val="100000"/>
                    <a:satMod val="89000"/>
                    <a:lumMod val="91000"/>
                  </a:schemeClr>
                </a:gs>
                <a:gs pos="100000">
                  <a:schemeClr val="accent2">
                    <a:tint val="100000"/>
                    <a:lumMod val="6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Радина</c:v>
              </c:pt>
              <c:pt idx="1">
                <c:v>Даниел</c:v>
              </c:pt>
            </c:strLit>
          </c:cat>
          <c:val>
            <c:numLit>
              <c:formatCode>#\ ##0_ "hrs"</c:formatCode>
              <c:ptCount val="2"/>
              <c:pt idx="0">
                <c:v>40</c:v>
              </c:pt>
              <c:pt idx="1">
                <c:v>14</c:v>
              </c:pt>
            </c:numLit>
          </c:val>
          <c:extLst>
            <c:ext xmlns:c16="http://schemas.microsoft.com/office/drawing/2014/chart" uri="{C3380CC4-5D6E-409C-BE32-E72D297353CC}">
              <c16:uniqueId val="{00000001-BF12-47CC-AE6F-CA87C3A11BB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75585648"/>
        <c:axId val="775586192"/>
      </c:barChart>
      <c:catAx>
        <c:axId val="775585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5586192"/>
        <c:crosses val="autoZero"/>
        <c:auto val="1"/>
        <c:lblAlgn val="ctr"/>
        <c:lblOffset val="100"/>
        <c:noMultiLvlLbl val="0"/>
      </c:catAx>
      <c:valAx>
        <c:axId val="77558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_ &quot;hr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5585648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l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>
  <a:schemeClr val="accent1"/>
  <a:schemeClr val="accent2"/>
  <a:schemeClr val="accent3"/>
  <a:schemeClr val="accent4"/>
  <a:schemeClr val="accent5"/>
  <a:schemeClr val="accent6"/>
  <cs:variation>
    <a:tint val="100000"/>
  </cs:variation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>
  <a:schemeClr val="accent1"/>
  <a:schemeClr val="accent2"/>
  <a:schemeClr val="accent3"/>
  <a:schemeClr val="accent4"/>
  <a:schemeClr val="accent5"/>
  <a:schemeClr val="accent6"/>
  <cs:variation>
    <a:tint val="100000"/>
  </cs:variation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D46BDD-CA72-48F2-BE8C-F82CCFFB0DBE}" type="doc">
      <dgm:prSet loTypeId="urn:microsoft.com/office/officeart/2005/8/layout/hList9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9F46F06-3DF2-4911-BCDA-55B38875805A}">
      <dgm:prSet phldrT="[Text]"/>
      <dgm:spPr>
        <a:gradFill rotWithShape="0">
          <a:gsLst>
            <a:gs pos="0">
              <a:schemeClr val="accent2">
                <a:lumMod val="75000"/>
              </a:schemeClr>
            </a:gs>
            <a:gs pos="50000">
              <a:schemeClr val="accent2">
                <a:lumMod val="50000"/>
              </a:schemeClr>
            </a:gs>
            <a:gs pos="100000">
              <a:schemeClr val="accent6">
                <a:lumMod val="50000"/>
              </a:schemeClr>
            </a:gs>
          </a:gsLst>
        </a:gradFill>
      </dgm:spPr>
      <dgm:t>
        <a:bodyPr/>
        <a:lstStyle/>
        <a:p>
          <a:r>
            <a:rPr lang="bg-BG" dirty="0" smtClean="0"/>
            <a:t>РМ</a:t>
          </a:r>
          <a:endParaRPr lang="en-US" dirty="0"/>
        </a:p>
      </dgm:t>
    </dgm:pt>
    <dgm:pt modelId="{29669FA9-BCDB-4E04-BCBD-ADB6BBFECA77}" type="parTrans" cxnId="{3167943C-B617-47EE-AB4E-F103014F0B0F}">
      <dgm:prSet/>
      <dgm:spPr/>
      <dgm:t>
        <a:bodyPr/>
        <a:lstStyle/>
        <a:p>
          <a:endParaRPr lang="en-US"/>
        </a:p>
      </dgm:t>
    </dgm:pt>
    <dgm:pt modelId="{A2AB0762-8DE6-4EC9-8643-86B41C470FE8}" type="sibTrans" cxnId="{3167943C-B617-47EE-AB4E-F103014F0B0F}">
      <dgm:prSet/>
      <dgm:spPr/>
      <dgm:t>
        <a:bodyPr/>
        <a:lstStyle/>
        <a:p>
          <a:endParaRPr lang="en-US"/>
        </a:p>
      </dgm:t>
    </dgm:pt>
    <dgm:pt modelId="{20BB34D1-39DB-4D4A-8F74-38BB6AD52986}">
      <dgm:prSet phldrT="[Text]"/>
      <dgm:spPr/>
      <dgm:t>
        <a:bodyPr/>
        <a:lstStyle/>
        <a:p>
          <a:r>
            <a:rPr lang="en-US" dirty="0" err="1" smtClean="0"/>
            <a:t>Мениджър</a:t>
          </a:r>
          <a:r>
            <a:rPr lang="en-US" dirty="0" smtClean="0"/>
            <a:t> </a:t>
          </a:r>
          <a:r>
            <a:rPr lang="en-US" dirty="0" err="1" smtClean="0"/>
            <a:t>на</a:t>
          </a:r>
          <a:r>
            <a:rPr lang="en-US" dirty="0" smtClean="0"/>
            <a:t> </a:t>
          </a:r>
          <a:r>
            <a:rPr lang="en-US" dirty="0" err="1" smtClean="0"/>
            <a:t>проекта</a:t>
          </a:r>
          <a:r>
            <a:rPr lang="en-US" dirty="0" smtClean="0"/>
            <a:t> </a:t>
          </a:r>
          <a:endParaRPr lang="en-US" dirty="0"/>
        </a:p>
      </dgm:t>
    </dgm:pt>
    <dgm:pt modelId="{8369DE2E-05BE-4F58-ACF4-FFA3BF09D772}" type="parTrans" cxnId="{B4712C0E-A30F-43CC-BC2E-1C5644020AC8}">
      <dgm:prSet/>
      <dgm:spPr/>
      <dgm:t>
        <a:bodyPr/>
        <a:lstStyle/>
        <a:p>
          <a:endParaRPr lang="en-US"/>
        </a:p>
      </dgm:t>
    </dgm:pt>
    <dgm:pt modelId="{84668B4B-C68E-4C7B-8232-D5A08E3BE881}" type="sibTrans" cxnId="{B4712C0E-A30F-43CC-BC2E-1C5644020AC8}">
      <dgm:prSet/>
      <dgm:spPr/>
      <dgm:t>
        <a:bodyPr/>
        <a:lstStyle/>
        <a:p>
          <a:endParaRPr lang="en-US"/>
        </a:p>
      </dgm:t>
    </dgm:pt>
    <dgm:pt modelId="{76A93280-A4EB-4F31-BCFF-BD984FEDD50F}">
      <dgm:prSet phldrT="[Text]"/>
      <dgm:spPr/>
      <dgm:t>
        <a:bodyPr/>
        <a:lstStyle/>
        <a:p>
          <a:r>
            <a:rPr lang="en-US" dirty="0" err="1" smtClean="0"/>
            <a:t>Технически</a:t>
          </a:r>
          <a:r>
            <a:rPr lang="en-US" dirty="0" smtClean="0"/>
            <a:t> </a:t>
          </a:r>
          <a:r>
            <a:rPr lang="en-US" dirty="0" err="1" smtClean="0"/>
            <a:t>писател</a:t>
          </a:r>
          <a:endParaRPr lang="en-US" dirty="0"/>
        </a:p>
      </dgm:t>
    </dgm:pt>
    <dgm:pt modelId="{1C92D782-B050-4892-9519-839E2BD7B42C}" type="parTrans" cxnId="{FE330E5A-EA72-4133-BB4C-B1C3A357F977}">
      <dgm:prSet/>
      <dgm:spPr/>
      <dgm:t>
        <a:bodyPr/>
        <a:lstStyle/>
        <a:p>
          <a:endParaRPr lang="en-US"/>
        </a:p>
      </dgm:t>
    </dgm:pt>
    <dgm:pt modelId="{8240E23B-34F6-439D-92CA-C802127A8D7A}" type="sibTrans" cxnId="{FE330E5A-EA72-4133-BB4C-B1C3A357F977}">
      <dgm:prSet/>
      <dgm:spPr/>
      <dgm:t>
        <a:bodyPr/>
        <a:lstStyle/>
        <a:p>
          <a:endParaRPr lang="en-US"/>
        </a:p>
      </dgm:t>
    </dgm:pt>
    <dgm:pt modelId="{D8FC5610-3898-4562-A903-BD6F3DA6CF69}">
      <dgm:prSet phldrT="[Text]"/>
      <dgm:spPr>
        <a:gradFill rotWithShape="0">
          <a:gsLst>
            <a:gs pos="0">
              <a:schemeClr val="accent3">
                <a:lumMod val="75000"/>
              </a:schemeClr>
            </a:gs>
            <a:gs pos="50000">
              <a:schemeClr val="accent3">
                <a:lumMod val="50000"/>
              </a:schemeClr>
            </a:gs>
            <a:gs pos="100000">
              <a:schemeClr val="accent3">
                <a:lumMod val="50000"/>
              </a:schemeClr>
            </a:gs>
          </a:gsLst>
        </a:gradFill>
      </dgm:spPr>
      <dgm:t>
        <a:bodyPr/>
        <a:lstStyle/>
        <a:p>
          <a:r>
            <a:rPr lang="bg-BG" dirty="0" smtClean="0"/>
            <a:t>ДМ</a:t>
          </a:r>
          <a:endParaRPr lang="en-US" dirty="0"/>
        </a:p>
      </dgm:t>
    </dgm:pt>
    <dgm:pt modelId="{363A8C60-CC8B-4A97-9DB3-77D22A0D0C49}" type="parTrans" cxnId="{4676E083-2700-4795-A813-45405EB1FF52}">
      <dgm:prSet/>
      <dgm:spPr/>
      <dgm:t>
        <a:bodyPr/>
        <a:lstStyle/>
        <a:p>
          <a:endParaRPr lang="en-US"/>
        </a:p>
      </dgm:t>
    </dgm:pt>
    <dgm:pt modelId="{5AE2A356-4C4D-431C-9D04-8B80B25413E5}" type="sibTrans" cxnId="{4676E083-2700-4795-A813-45405EB1FF52}">
      <dgm:prSet/>
      <dgm:spPr/>
      <dgm:t>
        <a:bodyPr/>
        <a:lstStyle/>
        <a:p>
          <a:endParaRPr lang="en-US"/>
        </a:p>
      </dgm:t>
    </dgm:pt>
    <dgm:pt modelId="{A7DD8379-771D-49D5-B4B6-C11A31BBB56A}">
      <dgm:prSet phldrT="[Text]"/>
      <dgm:spPr/>
      <dgm:t>
        <a:bodyPr/>
        <a:lstStyle/>
        <a:p>
          <a:r>
            <a:rPr lang="bg-BG" dirty="0" smtClean="0"/>
            <a:t>Софтуерен архитект </a:t>
          </a:r>
          <a:endParaRPr lang="en-US" dirty="0"/>
        </a:p>
      </dgm:t>
    </dgm:pt>
    <dgm:pt modelId="{0B19244D-3C32-4E60-9E2E-00B7CE0082EB}" type="parTrans" cxnId="{8D4A74BD-0C6E-4A29-8A1B-8253B76608B2}">
      <dgm:prSet/>
      <dgm:spPr/>
      <dgm:t>
        <a:bodyPr/>
        <a:lstStyle/>
        <a:p>
          <a:endParaRPr lang="en-US"/>
        </a:p>
      </dgm:t>
    </dgm:pt>
    <dgm:pt modelId="{15F7A114-8617-4D09-8B60-367816E92F8F}" type="sibTrans" cxnId="{8D4A74BD-0C6E-4A29-8A1B-8253B76608B2}">
      <dgm:prSet/>
      <dgm:spPr/>
      <dgm:t>
        <a:bodyPr/>
        <a:lstStyle/>
        <a:p>
          <a:endParaRPr lang="en-US"/>
        </a:p>
      </dgm:t>
    </dgm:pt>
    <dgm:pt modelId="{F4F5A345-00F3-44B9-96CF-44E85D8CAA1D}">
      <dgm:prSet/>
      <dgm:spPr/>
      <dgm:t>
        <a:bodyPr/>
        <a:lstStyle/>
        <a:p>
          <a:r>
            <a:rPr lang="bg-BG" dirty="0" smtClean="0"/>
            <a:t>Тестер</a:t>
          </a:r>
          <a:endParaRPr lang="en-US" dirty="0"/>
        </a:p>
      </dgm:t>
    </dgm:pt>
    <dgm:pt modelId="{8785ADE6-B7AF-42BC-AD0F-28D8A6B3CFC2}" type="parTrans" cxnId="{DDC3D6E2-FE88-4415-BFFF-C9208A255EF2}">
      <dgm:prSet/>
      <dgm:spPr/>
      <dgm:t>
        <a:bodyPr/>
        <a:lstStyle/>
        <a:p>
          <a:endParaRPr lang="en-US"/>
        </a:p>
      </dgm:t>
    </dgm:pt>
    <dgm:pt modelId="{61C53D99-082A-48A3-9A82-628D27490246}" type="sibTrans" cxnId="{DDC3D6E2-FE88-4415-BFFF-C9208A255EF2}">
      <dgm:prSet/>
      <dgm:spPr/>
      <dgm:t>
        <a:bodyPr/>
        <a:lstStyle/>
        <a:p>
          <a:endParaRPr lang="en-US"/>
        </a:p>
      </dgm:t>
    </dgm:pt>
    <dgm:pt modelId="{CDD1F252-6242-4770-9542-63AC699859DC}">
      <dgm:prSet/>
      <dgm:spPr/>
      <dgm:t>
        <a:bodyPr/>
        <a:lstStyle/>
        <a:p>
          <a:r>
            <a:rPr lang="en-US" smtClean="0"/>
            <a:t>Дизайнер на потребителския интерфейс</a:t>
          </a:r>
          <a:endParaRPr lang="en-US"/>
        </a:p>
      </dgm:t>
    </dgm:pt>
    <dgm:pt modelId="{7D6E2527-373B-430A-8B62-6AA2E3AFA17C}" type="parTrans" cxnId="{21A00016-C4F4-4F18-82D1-AC17284A4259}">
      <dgm:prSet/>
      <dgm:spPr/>
      <dgm:t>
        <a:bodyPr/>
        <a:lstStyle/>
        <a:p>
          <a:endParaRPr lang="en-US"/>
        </a:p>
      </dgm:t>
    </dgm:pt>
    <dgm:pt modelId="{EADD5D5E-F540-4283-9FDE-BB561242A9D5}" type="sibTrans" cxnId="{21A00016-C4F4-4F18-82D1-AC17284A4259}">
      <dgm:prSet/>
      <dgm:spPr/>
      <dgm:t>
        <a:bodyPr/>
        <a:lstStyle/>
        <a:p>
          <a:endParaRPr lang="en-US"/>
        </a:p>
      </dgm:t>
    </dgm:pt>
    <dgm:pt modelId="{E6A0252F-27F3-486D-A278-6B92C212A3A8}" type="pres">
      <dgm:prSet presAssocID="{6DD46BDD-CA72-48F2-BE8C-F82CCFFB0DBE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071D52C-AA9E-4418-938D-D9AD58968FE7}" type="pres">
      <dgm:prSet presAssocID="{D9F46F06-3DF2-4911-BCDA-55B38875805A}" presName="posSpace" presStyleCnt="0"/>
      <dgm:spPr/>
    </dgm:pt>
    <dgm:pt modelId="{FFEF8555-8D54-4A33-94C4-F0131C0452B0}" type="pres">
      <dgm:prSet presAssocID="{D9F46F06-3DF2-4911-BCDA-55B38875805A}" presName="vertFlow" presStyleCnt="0"/>
      <dgm:spPr/>
    </dgm:pt>
    <dgm:pt modelId="{2632CC26-A159-4F77-B9CB-DD0FCE2A5829}" type="pres">
      <dgm:prSet presAssocID="{D9F46F06-3DF2-4911-BCDA-55B38875805A}" presName="topSpace" presStyleCnt="0"/>
      <dgm:spPr/>
    </dgm:pt>
    <dgm:pt modelId="{F09D65A3-FDB3-4381-9285-A7B1A6BBA703}" type="pres">
      <dgm:prSet presAssocID="{D9F46F06-3DF2-4911-BCDA-55B38875805A}" presName="firstComp" presStyleCnt="0"/>
      <dgm:spPr/>
    </dgm:pt>
    <dgm:pt modelId="{A40B6350-F943-41DE-88CA-6BB1201D312F}" type="pres">
      <dgm:prSet presAssocID="{D9F46F06-3DF2-4911-BCDA-55B38875805A}" presName="firstChild" presStyleLbl="bgAccFollowNode1" presStyleIdx="0" presStyleCnt="5"/>
      <dgm:spPr/>
      <dgm:t>
        <a:bodyPr/>
        <a:lstStyle/>
        <a:p>
          <a:endParaRPr lang="en-US"/>
        </a:p>
      </dgm:t>
    </dgm:pt>
    <dgm:pt modelId="{6C5D3B8C-8A0C-4B1F-9A82-E2BB97071881}" type="pres">
      <dgm:prSet presAssocID="{D9F46F06-3DF2-4911-BCDA-55B38875805A}" presName="firstChildTx" presStyleLbl="bg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02656E-8773-4CA9-B60F-C6D15F79706B}" type="pres">
      <dgm:prSet presAssocID="{76A93280-A4EB-4F31-BCFF-BD984FEDD50F}" presName="comp" presStyleCnt="0"/>
      <dgm:spPr/>
    </dgm:pt>
    <dgm:pt modelId="{FC1F2FE6-58F5-420D-9DE7-5BAB2796B2E2}" type="pres">
      <dgm:prSet presAssocID="{76A93280-A4EB-4F31-BCFF-BD984FEDD50F}" presName="child" presStyleLbl="bgAccFollowNode1" presStyleIdx="1" presStyleCnt="5"/>
      <dgm:spPr/>
      <dgm:t>
        <a:bodyPr/>
        <a:lstStyle/>
        <a:p>
          <a:endParaRPr lang="en-US"/>
        </a:p>
      </dgm:t>
    </dgm:pt>
    <dgm:pt modelId="{D67FA1D0-5919-4B16-8C64-A2C6C1973777}" type="pres">
      <dgm:prSet presAssocID="{76A93280-A4EB-4F31-BCFF-BD984FEDD50F}" presName="childTx" presStyleLbl="bg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B4AE91-C0C2-4B0B-AE52-82AB6C362B74}" type="pres">
      <dgm:prSet presAssocID="{CDD1F252-6242-4770-9542-63AC699859DC}" presName="comp" presStyleCnt="0"/>
      <dgm:spPr/>
    </dgm:pt>
    <dgm:pt modelId="{FB0AF79D-363B-4871-98FA-0781EB142A75}" type="pres">
      <dgm:prSet presAssocID="{CDD1F252-6242-4770-9542-63AC699859DC}" presName="child" presStyleLbl="bgAccFollowNode1" presStyleIdx="2" presStyleCnt="5"/>
      <dgm:spPr/>
    </dgm:pt>
    <dgm:pt modelId="{8524D7B6-3B6A-4796-9521-12588D3A9A6E}" type="pres">
      <dgm:prSet presAssocID="{CDD1F252-6242-4770-9542-63AC699859DC}" presName="childTx" presStyleLbl="bgAccFollowNode1" presStyleIdx="2" presStyleCnt="5">
        <dgm:presLayoutVars>
          <dgm:bulletEnabled val="1"/>
        </dgm:presLayoutVars>
      </dgm:prSet>
      <dgm:spPr/>
    </dgm:pt>
    <dgm:pt modelId="{F17A6DAB-1E58-429F-9DD7-50E4A0208591}" type="pres">
      <dgm:prSet presAssocID="{D9F46F06-3DF2-4911-BCDA-55B38875805A}" presName="negSpace" presStyleCnt="0"/>
      <dgm:spPr/>
    </dgm:pt>
    <dgm:pt modelId="{0D82DEB6-674D-425E-9C14-81B86C0A54B4}" type="pres">
      <dgm:prSet presAssocID="{D9F46F06-3DF2-4911-BCDA-55B38875805A}" presName="circle" presStyleLbl="node1" presStyleIdx="0" presStyleCnt="2"/>
      <dgm:spPr/>
      <dgm:t>
        <a:bodyPr/>
        <a:lstStyle/>
        <a:p>
          <a:endParaRPr lang="en-US"/>
        </a:p>
      </dgm:t>
    </dgm:pt>
    <dgm:pt modelId="{2D8D3251-0350-4344-BA0C-FE8B1C9F6531}" type="pres">
      <dgm:prSet presAssocID="{A2AB0762-8DE6-4EC9-8643-86B41C470FE8}" presName="transSpace" presStyleCnt="0"/>
      <dgm:spPr/>
    </dgm:pt>
    <dgm:pt modelId="{89065BC9-C7DE-4A6E-83CF-F45A6BD1CF92}" type="pres">
      <dgm:prSet presAssocID="{D8FC5610-3898-4562-A903-BD6F3DA6CF69}" presName="posSpace" presStyleCnt="0"/>
      <dgm:spPr/>
    </dgm:pt>
    <dgm:pt modelId="{9E863EE2-5F29-4FCF-879E-F83626B5334D}" type="pres">
      <dgm:prSet presAssocID="{D8FC5610-3898-4562-A903-BD6F3DA6CF69}" presName="vertFlow" presStyleCnt="0"/>
      <dgm:spPr/>
    </dgm:pt>
    <dgm:pt modelId="{087939FA-F74E-4918-A009-A7DBEE2A184D}" type="pres">
      <dgm:prSet presAssocID="{D8FC5610-3898-4562-A903-BD6F3DA6CF69}" presName="topSpace" presStyleCnt="0"/>
      <dgm:spPr/>
    </dgm:pt>
    <dgm:pt modelId="{9786080E-37A0-400B-9482-48F2EF7F4F7D}" type="pres">
      <dgm:prSet presAssocID="{D8FC5610-3898-4562-A903-BD6F3DA6CF69}" presName="firstComp" presStyleCnt="0"/>
      <dgm:spPr/>
    </dgm:pt>
    <dgm:pt modelId="{7FFBCDDD-B00A-4BA8-8ADF-9DC37CB99996}" type="pres">
      <dgm:prSet presAssocID="{D8FC5610-3898-4562-A903-BD6F3DA6CF69}" presName="firstChild" presStyleLbl="bgAccFollowNode1" presStyleIdx="3" presStyleCnt="5"/>
      <dgm:spPr/>
      <dgm:t>
        <a:bodyPr/>
        <a:lstStyle/>
        <a:p>
          <a:endParaRPr lang="en-US"/>
        </a:p>
      </dgm:t>
    </dgm:pt>
    <dgm:pt modelId="{47E0465A-EF86-488A-B4C6-C29755B5BE61}" type="pres">
      <dgm:prSet presAssocID="{D8FC5610-3898-4562-A903-BD6F3DA6CF69}" presName="firstChildTx" presStyleLbl="bg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EFD5A6-A668-4833-A64A-0C4374AA7176}" type="pres">
      <dgm:prSet presAssocID="{F4F5A345-00F3-44B9-96CF-44E85D8CAA1D}" presName="comp" presStyleCnt="0"/>
      <dgm:spPr/>
    </dgm:pt>
    <dgm:pt modelId="{38FF9C2D-E031-4EC5-AB76-01B7406CC8E7}" type="pres">
      <dgm:prSet presAssocID="{F4F5A345-00F3-44B9-96CF-44E85D8CAA1D}" presName="child" presStyleLbl="bgAccFollowNode1" presStyleIdx="4" presStyleCnt="5"/>
      <dgm:spPr/>
    </dgm:pt>
    <dgm:pt modelId="{DC3E8692-4823-4821-90D6-F28234D7BFF4}" type="pres">
      <dgm:prSet presAssocID="{F4F5A345-00F3-44B9-96CF-44E85D8CAA1D}" presName="childTx" presStyleLbl="bgAccFollowNode1" presStyleIdx="4" presStyleCnt="5">
        <dgm:presLayoutVars>
          <dgm:bulletEnabled val="1"/>
        </dgm:presLayoutVars>
      </dgm:prSet>
      <dgm:spPr/>
    </dgm:pt>
    <dgm:pt modelId="{230F3580-08E0-4C3E-8D2C-63C251CEBC97}" type="pres">
      <dgm:prSet presAssocID="{D8FC5610-3898-4562-A903-BD6F3DA6CF69}" presName="negSpace" presStyleCnt="0"/>
      <dgm:spPr/>
    </dgm:pt>
    <dgm:pt modelId="{2518DF80-CA43-4EFA-A570-D6C994F07512}" type="pres">
      <dgm:prSet presAssocID="{D8FC5610-3898-4562-A903-BD6F3DA6CF69}" presName="circle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21A00016-C4F4-4F18-82D1-AC17284A4259}" srcId="{D9F46F06-3DF2-4911-BCDA-55B38875805A}" destId="{CDD1F252-6242-4770-9542-63AC699859DC}" srcOrd="2" destOrd="0" parTransId="{7D6E2527-373B-430A-8B62-6AA2E3AFA17C}" sibTransId="{EADD5D5E-F540-4283-9FDE-BB561242A9D5}"/>
    <dgm:cxn modelId="{19A7BF02-4860-4999-8640-45ED22DA323A}" type="presOf" srcId="{76A93280-A4EB-4F31-BCFF-BD984FEDD50F}" destId="{FC1F2FE6-58F5-420D-9DE7-5BAB2796B2E2}" srcOrd="0" destOrd="0" presId="urn:microsoft.com/office/officeart/2005/8/layout/hList9"/>
    <dgm:cxn modelId="{87BEC999-17B6-4471-B1A7-527CF4EBB8E2}" type="presOf" srcId="{CDD1F252-6242-4770-9542-63AC699859DC}" destId="{8524D7B6-3B6A-4796-9521-12588D3A9A6E}" srcOrd="1" destOrd="0" presId="urn:microsoft.com/office/officeart/2005/8/layout/hList9"/>
    <dgm:cxn modelId="{8D4A74BD-0C6E-4A29-8A1B-8253B76608B2}" srcId="{D8FC5610-3898-4562-A903-BD6F3DA6CF69}" destId="{A7DD8379-771D-49D5-B4B6-C11A31BBB56A}" srcOrd="0" destOrd="0" parTransId="{0B19244D-3C32-4E60-9E2E-00B7CE0082EB}" sibTransId="{15F7A114-8617-4D09-8B60-367816E92F8F}"/>
    <dgm:cxn modelId="{5776125C-BA47-4DB3-9E56-C678CA0325CB}" type="presOf" srcId="{20BB34D1-39DB-4D4A-8F74-38BB6AD52986}" destId="{A40B6350-F943-41DE-88CA-6BB1201D312F}" srcOrd="0" destOrd="0" presId="urn:microsoft.com/office/officeart/2005/8/layout/hList9"/>
    <dgm:cxn modelId="{D1228834-4940-4BE8-8A4F-193BA215C362}" type="presOf" srcId="{76A93280-A4EB-4F31-BCFF-BD984FEDD50F}" destId="{D67FA1D0-5919-4B16-8C64-A2C6C1973777}" srcOrd="1" destOrd="0" presId="urn:microsoft.com/office/officeart/2005/8/layout/hList9"/>
    <dgm:cxn modelId="{B39F098C-A193-4E88-9A0D-332CB927F3D9}" type="presOf" srcId="{F4F5A345-00F3-44B9-96CF-44E85D8CAA1D}" destId="{38FF9C2D-E031-4EC5-AB76-01B7406CC8E7}" srcOrd="0" destOrd="0" presId="urn:microsoft.com/office/officeart/2005/8/layout/hList9"/>
    <dgm:cxn modelId="{ADA42416-7917-4871-B4B5-67235A0EC8A9}" type="presOf" srcId="{CDD1F252-6242-4770-9542-63AC699859DC}" destId="{FB0AF79D-363B-4871-98FA-0781EB142A75}" srcOrd="0" destOrd="0" presId="urn:microsoft.com/office/officeart/2005/8/layout/hList9"/>
    <dgm:cxn modelId="{FE330E5A-EA72-4133-BB4C-B1C3A357F977}" srcId="{D9F46F06-3DF2-4911-BCDA-55B38875805A}" destId="{76A93280-A4EB-4F31-BCFF-BD984FEDD50F}" srcOrd="1" destOrd="0" parTransId="{1C92D782-B050-4892-9519-839E2BD7B42C}" sibTransId="{8240E23B-34F6-439D-92CA-C802127A8D7A}"/>
    <dgm:cxn modelId="{21FE6DC7-5F6F-4FF8-B0C4-8D7F8A76E9BF}" type="presOf" srcId="{A7DD8379-771D-49D5-B4B6-C11A31BBB56A}" destId="{47E0465A-EF86-488A-B4C6-C29755B5BE61}" srcOrd="1" destOrd="0" presId="urn:microsoft.com/office/officeart/2005/8/layout/hList9"/>
    <dgm:cxn modelId="{DDC3D6E2-FE88-4415-BFFF-C9208A255EF2}" srcId="{D8FC5610-3898-4562-A903-BD6F3DA6CF69}" destId="{F4F5A345-00F3-44B9-96CF-44E85D8CAA1D}" srcOrd="1" destOrd="0" parTransId="{8785ADE6-B7AF-42BC-AD0F-28D8A6B3CFC2}" sibTransId="{61C53D99-082A-48A3-9A82-628D27490246}"/>
    <dgm:cxn modelId="{A1EB71BF-9906-470D-B871-1536CD96DA14}" type="presOf" srcId="{F4F5A345-00F3-44B9-96CF-44E85D8CAA1D}" destId="{DC3E8692-4823-4821-90D6-F28234D7BFF4}" srcOrd="1" destOrd="0" presId="urn:microsoft.com/office/officeart/2005/8/layout/hList9"/>
    <dgm:cxn modelId="{175558D3-18E1-45E2-851F-B338D73A0E1C}" type="presOf" srcId="{20BB34D1-39DB-4D4A-8F74-38BB6AD52986}" destId="{6C5D3B8C-8A0C-4B1F-9A82-E2BB97071881}" srcOrd="1" destOrd="0" presId="urn:microsoft.com/office/officeart/2005/8/layout/hList9"/>
    <dgm:cxn modelId="{B4712C0E-A30F-43CC-BC2E-1C5644020AC8}" srcId="{D9F46F06-3DF2-4911-BCDA-55B38875805A}" destId="{20BB34D1-39DB-4D4A-8F74-38BB6AD52986}" srcOrd="0" destOrd="0" parTransId="{8369DE2E-05BE-4F58-ACF4-FFA3BF09D772}" sibTransId="{84668B4B-C68E-4C7B-8232-D5A08E3BE881}"/>
    <dgm:cxn modelId="{4676E083-2700-4795-A813-45405EB1FF52}" srcId="{6DD46BDD-CA72-48F2-BE8C-F82CCFFB0DBE}" destId="{D8FC5610-3898-4562-A903-BD6F3DA6CF69}" srcOrd="1" destOrd="0" parTransId="{363A8C60-CC8B-4A97-9DB3-77D22A0D0C49}" sibTransId="{5AE2A356-4C4D-431C-9D04-8B80B25413E5}"/>
    <dgm:cxn modelId="{E3C2D008-D84F-4C45-9646-713C11B648EB}" type="presOf" srcId="{D9F46F06-3DF2-4911-BCDA-55B38875805A}" destId="{0D82DEB6-674D-425E-9C14-81B86C0A54B4}" srcOrd="0" destOrd="0" presId="urn:microsoft.com/office/officeart/2005/8/layout/hList9"/>
    <dgm:cxn modelId="{875555AF-CA8B-4AFE-A6B7-3F4465221C97}" type="presOf" srcId="{A7DD8379-771D-49D5-B4B6-C11A31BBB56A}" destId="{7FFBCDDD-B00A-4BA8-8ADF-9DC37CB99996}" srcOrd="0" destOrd="0" presId="urn:microsoft.com/office/officeart/2005/8/layout/hList9"/>
    <dgm:cxn modelId="{46D92507-09F3-48E7-91C2-02DEF077520A}" type="presOf" srcId="{D8FC5610-3898-4562-A903-BD6F3DA6CF69}" destId="{2518DF80-CA43-4EFA-A570-D6C994F07512}" srcOrd="0" destOrd="0" presId="urn:microsoft.com/office/officeart/2005/8/layout/hList9"/>
    <dgm:cxn modelId="{3167943C-B617-47EE-AB4E-F103014F0B0F}" srcId="{6DD46BDD-CA72-48F2-BE8C-F82CCFFB0DBE}" destId="{D9F46F06-3DF2-4911-BCDA-55B38875805A}" srcOrd="0" destOrd="0" parTransId="{29669FA9-BCDB-4E04-BCBD-ADB6BBFECA77}" sibTransId="{A2AB0762-8DE6-4EC9-8643-86B41C470FE8}"/>
    <dgm:cxn modelId="{01923391-779E-4964-AE54-107B62209B7B}" type="presOf" srcId="{6DD46BDD-CA72-48F2-BE8C-F82CCFFB0DBE}" destId="{E6A0252F-27F3-486D-A278-6B92C212A3A8}" srcOrd="0" destOrd="0" presId="urn:microsoft.com/office/officeart/2005/8/layout/hList9"/>
    <dgm:cxn modelId="{FE1B0D46-022A-4604-9E75-40EAEADBBA52}" type="presParOf" srcId="{E6A0252F-27F3-486D-A278-6B92C212A3A8}" destId="{5071D52C-AA9E-4418-938D-D9AD58968FE7}" srcOrd="0" destOrd="0" presId="urn:microsoft.com/office/officeart/2005/8/layout/hList9"/>
    <dgm:cxn modelId="{3663F3B5-F24D-43A9-9A2E-699309DDB9AD}" type="presParOf" srcId="{E6A0252F-27F3-486D-A278-6B92C212A3A8}" destId="{FFEF8555-8D54-4A33-94C4-F0131C0452B0}" srcOrd="1" destOrd="0" presId="urn:microsoft.com/office/officeart/2005/8/layout/hList9"/>
    <dgm:cxn modelId="{8122DDC6-99C6-4F78-AA48-E3DE80E4327A}" type="presParOf" srcId="{FFEF8555-8D54-4A33-94C4-F0131C0452B0}" destId="{2632CC26-A159-4F77-B9CB-DD0FCE2A5829}" srcOrd="0" destOrd="0" presId="urn:microsoft.com/office/officeart/2005/8/layout/hList9"/>
    <dgm:cxn modelId="{F583D60F-2896-40D1-B1A6-AC1DBE3F27A8}" type="presParOf" srcId="{FFEF8555-8D54-4A33-94C4-F0131C0452B0}" destId="{F09D65A3-FDB3-4381-9285-A7B1A6BBA703}" srcOrd="1" destOrd="0" presId="urn:microsoft.com/office/officeart/2005/8/layout/hList9"/>
    <dgm:cxn modelId="{E3B82652-BA89-4BF0-BDE8-207CACA094AD}" type="presParOf" srcId="{F09D65A3-FDB3-4381-9285-A7B1A6BBA703}" destId="{A40B6350-F943-41DE-88CA-6BB1201D312F}" srcOrd="0" destOrd="0" presId="urn:microsoft.com/office/officeart/2005/8/layout/hList9"/>
    <dgm:cxn modelId="{F24594D3-0E9E-42A4-B0A9-F39BFE8EA877}" type="presParOf" srcId="{F09D65A3-FDB3-4381-9285-A7B1A6BBA703}" destId="{6C5D3B8C-8A0C-4B1F-9A82-E2BB97071881}" srcOrd="1" destOrd="0" presId="urn:microsoft.com/office/officeart/2005/8/layout/hList9"/>
    <dgm:cxn modelId="{765F3D42-193B-4B3C-9CEA-6B32DF9FE40A}" type="presParOf" srcId="{FFEF8555-8D54-4A33-94C4-F0131C0452B0}" destId="{4202656E-8773-4CA9-B60F-C6D15F79706B}" srcOrd="2" destOrd="0" presId="urn:microsoft.com/office/officeart/2005/8/layout/hList9"/>
    <dgm:cxn modelId="{3BE414CB-5837-4A74-8F19-B9C0B7657425}" type="presParOf" srcId="{4202656E-8773-4CA9-B60F-C6D15F79706B}" destId="{FC1F2FE6-58F5-420D-9DE7-5BAB2796B2E2}" srcOrd="0" destOrd="0" presId="urn:microsoft.com/office/officeart/2005/8/layout/hList9"/>
    <dgm:cxn modelId="{7E80DAA4-675B-4681-BA31-6C88631EBF22}" type="presParOf" srcId="{4202656E-8773-4CA9-B60F-C6D15F79706B}" destId="{D67FA1D0-5919-4B16-8C64-A2C6C1973777}" srcOrd="1" destOrd="0" presId="urn:microsoft.com/office/officeart/2005/8/layout/hList9"/>
    <dgm:cxn modelId="{46FDDFE5-3C99-49FA-9E14-3572F43F81B5}" type="presParOf" srcId="{FFEF8555-8D54-4A33-94C4-F0131C0452B0}" destId="{17B4AE91-C0C2-4B0B-AE52-82AB6C362B74}" srcOrd="3" destOrd="0" presId="urn:microsoft.com/office/officeart/2005/8/layout/hList9"/>
    <dgm:cxn modelId="{71CA0312-87F7-438D-947B-B21756750F26}" type="presParOf" srcId="{17B4AE91-C0C2-4B0B-AE52-82AB6C362B74}" destId="{FB0AF79D-363B-4871-98FA-0781EB142A75}" srcOrd="0" destOrd="0" presId="urn:microsoft.com/office/officeart/2005/8/layout/hList9"/>
    <dgm:cxn modelId="{08DA33FB-7C9F-4B6B-88DC-AF54E69A3B8D}" type="presParOf" srcId="{17B4AE91-C0C2-4B0B-AE52-82AB6C362B74}" destId="{8524D7B6-3B6A-4796-9521-12588D3A9A6E}" srcOrd="1" destOrd="0" presId="urn:microsoft.com/office/officeart/2005/8/layout/hList9"/>
    <dgm:cxn modelId="{DC8064F3-37E6-473D-825D-B4FE5DE9E910}" type="presParOf" srcId="{E6A0252F-27F3-486D-A278-6B92C212A3A8}" destId="{F17A6DAB-1E58-429F-9DD7-50E4A0208591}" srcOrd="2" destOrd="0" presId="urn:microsoft.com/office/officeart/2005/8/layout/hList9"/>
    <dgm:cxn modelId="{DC3784CD-14A8-44AD-BF64-99822884F20A}" type="presParOf" srcId="{E6A0252F-27F3-486D-A278-6B92C212A3A8}" destId="{0D82DEB6-674D-425E-9C14-81B86C0A54B4}" srcOrd="3" destOrd="0" presId="urn:microsoft.com/office/officeart/2005/8/layout/hList9"/>
    <dgm:cxn modelId="{950C433E-1E77-4C3C-B677-545EAB858F1C}" type="presParOf" srcId="{E6A0252F-27F3-486D-A278-6B92C212A3A8}" destId="{2D8D3251-0350-4344-BA0C-FE8B1C9F6531}" srcOrd="4" destOrd="0" presId="urn:microsoft.com/office/officeart/2005/8/layout/hList9"/>
    <dgm:cxn modelId="{CC3F8541-6AF8-4123-99C7-0C68B4A2647C}" type="presParOf" srcId="{E6A0252F-27F3-486D-A278-6B92C212A3A8}" destId="{89065BC9-C7DE-4A6E-83CF-F45A6BD1CF92}" srcOrd="5" destOrd="0" presId="urn:microsoft.com/office/officeart/2005/8/layout/hList9"/>
    <dgm:cxn modelId="{7F80633B-2E00-486F-A49F-7F1CED0FB310}" type="presParOf" srcId="{E6A0252F-27F3-486D-A278-6B92C212A3A8}" destId="{9E863EE2-5F29-4FCF-879E-F83626B5334D}" srcOrd="6" destOrd="0" presId="urn:microsoft.com/office/officeart/2005/8/layout/hList9"/>
    <dgm:cxn modelId="{E1133432-7404-45CF-A1FF-DAEE325BEDD9}" type="presParOf" srcId="{9E863EE2-5F29-4FCF-879E-F83626B5334D}" destId="{087939FA-F74E-4918-A009-A7DBEE2A184D}" srcOrd="0" destOrd="0" presId="urn:microsoft.com/office/officeart/2005/8/layout/hList9"/>
    <dgm:cxn modelId="{00895F34-1371-4B89-864B-3FC2C7178722}" type="presParOf" srcId="{9E863EE2-5F29-4FCF-879E-F83626B5334D}" destId="{9786080E-37A0-400B-9482-48F2EF7F4F7D}" srcOrd="1" destOrd="0" presId="urn:microsoft.com/office/officeart/2005/8/layout/hList9"/>
    <dgm:cxn modelId="{773CBF24-77BA-4A98-AB6B-B24BB21A8DB5}" type="presParOf" srcId="{9786080E-37A0-400B-9482-48F2EF7F4F7D}" destId="{7FFBCDDD-B00A-4BA8-8ADF-9DC37CB99996}" srcOrd="0" destOrd="0" presId="urn:microsoft.com/office/officeart/2005/8/layout/hList9"/>
    <dgm:cxn modelId="{58B5BE6F-13BD-4DE4-9CD2-D21288B279AE}" type="presParOf" srcId="{9786080E-37A0-400B-9482-48F2EF7F4F7D}" destId="{47E0465A-EF86-488A-B4C6-C29755B5BE61}" srcOrd="1" destOrd="0" presId="urn:microsoft.com/office/officeart/2005/8/layout/hList9"/>
    <dgm:cxn modelId="{32FB005E-8E22-41CD-B289-E5321A83DF78}" type="presParOf" srcId="{9E863EE2-5F29-4FCF-879E-F83626B5334D}" destId="{85EFD5A6-A668-4833-A64A-0C4374AA7176}" srcOrd="2" destOrd="0" presId="urn:microsoft.com/office/officeart/2005/8/layout/hList9"/>
    <dgm:cxn modelId="{282A6CEC-FFAE-4003-90C3-17EA69142432}" type="presParOf" srcId="{85EFD5A6-A668-4833-A64A-0C4374AA7176}" destId="{38FF9C2D-E031-4EC5-AB76-01B7406CC8E7}" srcOrd="0" destOrd="0" presId="urn:microsoft.com/office/officeart/2005/8/layout/hList9"/>
    <dgm:cxn modelId="{C13FECCE-26B7-465E-90E2-83268032AA78}" type="presParOf" srcId="{85EFD5A6-A668-4833-A64A-0C4374AA7176}" destId="{DC3E8692-4823-4821-90D6-F28234D7BFF4}" srcOrd="1" destOrd="0" presId="urn:microsoft.com/office/officeart/2005/8/layout/hList9"/>
    <dgm:cxn modelId="{3EA8E88A-DBEE-4D71-AF13-61518DD0552D}" type="presParOf" srcId="{E6A0252F-27F3-486D-A278-6B92C212A3A8}" destId="{230F3580-08E0-4C3E-8D2C-63C251CEBC97}" srcOrd="7" destOrd="0" presId="urn:microsoft.com/office/officeart/2005/8/layout/hList9"/>
    <dgm:cxn modelId="{7FD8BF2C-28C6-4C2A-B042-0EE03D5C4DB6}" type="presParOf" srcId="{E6A0252F-27F3-486D-A278-6B92C212A3A8}" destId="{2518DF80-CA43-4EFA-A570-D6C994F07512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B6350-F943-41DE-88CA-6BB1201D312F}">
      <dsp:nvSpPr>
        <dsp:cNvPr id="0" name=""/>
        <dsp:cNvSpPr/>
      </dsp:nvSpPr>
      <dsp:spPr>
        <a:xfrm>
          <a:off x="783778" y="1356017"/>
          <a:ext cx="1467863" cy="9790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Мениджър</a:t>
          </a:r>
          <a:r>
            <a:rPr lang="en-US" sz="1200" kern="1200" dirty="0" smtClean="0"/>
            <a:t> </a:t>
          </a:r>
          <a:r>
            <a:rPr lang="en-US" sz="1200" kern="1200" dirty="0" err="1" smtClean="0"/>
            <a:t>на</a:t>
          </a:r>
          <a:r>
            <a:rPr lang="en-US" sz="1200" kern="1200" dirty="0" smtClean="0"/>
            <a:t> </a:t>
          </a:r>
          <a:r>
            <a:rPr lang="en-US" sz="1200" kern="1200" dirty="0" err="1" smtClean="0"/>
            <a:t>проекта</a:t>
          </a:r>
          <a:r>
            <a:rPr lang="en-US" sz="1200" kern="1200" dirty="0" smtClean="0"/>
            <a:t> </a:t>
          </a:r>
          <a:endParaRPr lang="en-US" sz="1200" kern="1200" dirty="0"/>
        </a:p>
      </dsp:txBody>
      <dsp:txXfrm>
        <a:off x="1018636" y="1356017"/>
        <a:ext cx="1233005" cy="979065"/>
      </dsp:txXfrm>
    </dsp:sp>
    <dsp:sp modelId="{FC1F2FE6-58F5-420D-9DE7-5BAB2796B2E2}">
      <dsp:nvSpPr>
        <dsp:cNvPr id="0" name=""/>
        <dsp:cNvSpPr/>
      </dsp:nvSpPr>
      <dsp:spPr>
        <a:xfrm>
          <a:off x="783778" y="2335082"/>
          <a:ext cx="1467863" cy="9790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Технически</a:t>
          </a:r>
          <a:r>
            <a:rPr lang="en-US" sz="1200" kern="1200" dirty="0" smtClean="0"/>
            <a:t> </a:t>
          </a:r>
          <a:r>
            <a:rPr lang="en-US" sz="1200" kern="1200" dirty="0" err="1" smtClean="0"/>
            <a:t>писател</a:t>
          </a:r>
          <a:endParaRPr lang="en-US" sz="1200" kern="1200" dirty="0"/>
        </a:p>
      </dsp:txBody>
      <dsp:txXfrm>
        <a:off x="1018636" y="2335082"/>
        <a:ext cx="1233005" cy="979065"/>
      </dsp:txXfrm>
    </dsp:sp>
    <dsp:sp modelId="{FB0AF79D-363B-4871-98FA-0781EB142A75}">
      <dsp:nvSpPr>
        <dsp:cNvPr id="0" name=""/>
        <dsp:cNvSpPr/>
      </dsp:nvSpPr>
      <dsp:spPr>
        <a:xfrm>
          <a:off x="783778" y="3314147"/>
          <a:ext cx="1467863" cy="97906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Дизайнер на потребителския интерфейс</a:t>
          </a:r>
          <a:endParaRPr lang="en-US" sz="1200" kern="1200"/>
        </a:p>
      </dsp:txBody>
      <dsp:txXfrm>
        <a:off x="1018636" y="3314147"/>
        <a:ext cx="1233005" cy="979065"/>
      </dsp:txXfrm>
    </dsp:sp>
    <dsp:sp modelId="{0D82DEB6-674D-425E-9C14-81B86C0A54B4}">
      <dsp:nvSpPr>
        <dsp:cNvPr id="0" name=""/>
        <dsp:cNvSpPr/>
      </dsp:nvSpPr>
      <dsp:spPr>
        <a:xfrm>
          <a:off x="917" y="964586"/>
          <a:ext cx="978575" cy="978575"/>
        </a:xfrm>
        <a:prstGeom prst="ellipse">
          <a:avLst/>
        </a:prstGeom>
        <a:gradFill rotWithShape="0">
          <a:gsLst>
            <a:gs pos="0">
              <a:schemeClr val="accent2">
                <a:lumMod val="75000"/>
              </a:schemeClr>
            </a:gs>
            <a:gs pos="50000">
              <a:schemeClr val="accent2">
                <a:lumMod val="50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600" kern="1200" dirty="0" smtClean="0"/>
            <a:t>РМ</a:t>
          </a:r>
          <a:endParaRPr lang="en-US" sz="3600" kern="1200" dirty="0"/>
        </a:p>
      </dsp:txBody>
      <dsp:txXfrm>
        <a:off x="144226" y="1107895"/>
        <a:ext cx="691957" cy="691957"/>
      </dsp:txXfrm>
    </dsp:sp>
    <dsp:sp modelId="{7FFBCDDD-B00A-4BA8-8ADF-9DC37CB99996}">
      <dsp:nvSpPr>
        <dsp:cNvPr id="0" name=""/>
        <dsp:cNvSpPr/>
      </dsp:nvSpPr>
      <dsp:spPr>
        <a:xfrm>
          <a:off x="3230218" y="1356017"/>
          <a:ext cx="1467863" cy="97906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Софтуерен архитект </a:t>
          </a:r>
          <a:endParaRPr lang="en-US" sz="1200" kern="1200" dirty="0"/>
        </a:p>
      </dsp:txBody>
      <dsp:txXfrm>
        <a:off x="3465076" y="1356017"/>
        <a:ext cx="1233005" cy="979065"/>
      </dsp:txXfrm>
    </dsp:sp>
    <dsp:sp modelId="{38FF9C2D-E031-4EC5-AB76-01B7406CC8E7}">
      <dsp:nvSpPr>
        <dsp:cNvPr id="0" name=""/>
        <dsp:cNvSpPr/>
      </dsp:nvSpPr>
      <dsp:spPr>
        <a:xfrm>
          <a:off x="3230218" y="2335082"/>
          <a:ext cx="1467863" cy="979065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Тестер</a:t>
          </a:r>
          <a:endParaRPr lang="en-US" sz="1200" kern="1200" dirty="0"/>
        </a:p>
      </dsp:txBody>
      <dsp:txXfrm>
        <a:off x="3465076" y="2335082"/>
        <a:ext cx="1233005" cy="979065"/>
      </dsp:txXfrm>
    </dsp:sp>
    <dsp:sp modelId="{2518DF80-CA43-4EFA-A570-D6C994F07512}">
      <dsp:nvSpPr>
        <dsp:cNvPr id="0" name=""/>
        <dsp:cNvSpPr/>
      </dsp:nvSpPr>
      <dsp:spPr>
        <a:xfrm>
          <a:off x="2447357" y="964586"/>
          <a:ext cx="978575" cy="978575"/>
        </a:xfrm>
        <a:prstGeom prst="ellipse">
          <a:avLst/>
        </a:prstGeom>
        <a:gradFill rotWithShape="0">
          <a:gsLst>
            <a:gs pos="0">
              <a:schemeClr val="accent3">
                <a:lumMod val="75000"/>
              </a:schemeClr>
            </a:gs>
            <a:gs pos="50000">
              <a:schemeClr val="accent3">
                <a:lumMod val="50000"/>
              </a:schemeClr>
            </a:gs>
            <a:gs pos="100000">
              <a:schemeClr val="accent3">
                <a:lumMod val="5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600" kern="1200" dirty="0" smtClean="0"/>
            <a:t>ДМ</a:t>
          </a:r>
          <a:endParaRPr lang="en-US" sz="3600" kern="1200" dirty="0"/>
        </a:p>
      </dsp:txBody>
      <dsp:txXfrm>
        <a:off x="2590666" y="1107895"/>
        <a:ext cx="691957" cy="691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5/2/2018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5/2/2018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CD9712D-992A-4AB1-A5C2-575F75921AA2}" type="datetimeFigureOut">
              <a:rPr lang="en-US" smtClean="0"/>
              <a:pPr/>
              <a:t>5/2/2018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7212" y="1066800"/>
            <a:ext cx="8458200" cy="3200400"/>
          </a:xfrm>
        </p:spPr>
        <p:txBody>
          <a:bodyPr/>
          <a:lstStyle/>
          <a:p>
            <a:pPr algn="ctr"/>
            <a:r>
              <a:rPr lang="bg-BG" dirty="0" smtClean="0"/>
              <a:t>Система за избор на филм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427412" y="3505200"/>
            <a:ext cx="8458200" cy="320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600" dirty="0" smtClean="0"/>
              <a:t>Изработили</a:t>
            </a:r>
            <a:r>
              <a:rPr lang="en-US" sz="3600" dirty="0" smtClean="0"/>
              <a:t>:</a:t>
            </a:r>
          </a:p>
          <a:p>
            <a:pPr algn="r"/>
            <a:r>
              <a:rPr lang="bg-BG" sz="2400" dirty="0" smtClean="0"/>
              <a:t>Радина Малчева</a:t>
            </a:r>
          </a:p>
          <a:p>
            <a:pPr algn="r"/>
            <a:r>
              <a:rPr lang="bg-BG" sz="2400" dirty="0" smtClean="0"/>
              <a:t>Даниел Маринов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93813" y="762000"/>
            <a:ext cx="9601200" cy="838200"/>
          </a:xfrm>
        </p:spPr>
        <p:txBody>
          <a:bodyPr/>
          <a:lstStyle/>
          <a:p>
            <a:pPr algn="ctr"/>
            <a:r>
              <a:rPr lang="bg-BG" dirty="0" smtClean="0"/>
              <a:t>Описание на проекта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93813" y="1905000"/>
            <a:ext cx="96012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Система за </a:t>
            </a:r>
            <a:r>
              <a:rPr lang="ru-RU" sz="3200" dirty="0" err="1"/>
              <a:t>избор</a:t>
            </a:r>
            <a:r>
              <a:rPr lang="ru-RU" sz="3200" dirty="0"/>
              <a:t> на </a:t>
            </a:r>
            <a:r>
              <a:rPr lang="ru-RU" sz="3200" dirty="0" err="1"/>
              <a:t>филм</a:t>
            </a:r>
            <a:endParaRPr lang="en-US" sz="32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Разработваната </a:t>
            </a:r>
            <a:r>
              <a:rPr lang="bg-BG" dirty="0"/>
              <a:t>система предлага съхраняване на данни за филми, филтриране по определени категории според желанието на възложителя и тяхното извличане и визуализиция в удобен потребителски </a:t>
            </a:r>
            <a:r>
              <a:rPr lang="bg-BG" dirty="0" smtClean="0"/>
              <a:t>интерфейс</a:t>
            </a: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Функционалности на приложението</a:t>
            </a:r>
          </a:p>
          <a:p>
            <a:pPr marL="896302" lvl="2" indent="-342900">
              <a:buFont typeface="Wingdings" panose="05000000000000000000" pitchFamily="2" charset="2"/>
              <a:buChar char="Ø"/>
            </a:pPr>
            <a:r>
              <a:rPr lang="en-US" sz="2000" dirty="0" err="1" smtClean="0"/>
              <a:t>Модул</a:t>
            </a:r>
            <a:r>
              <a:rPr lang="en-US" sz="2000" dirty="0" smtClean="0"/>
              <a:t> </a:t>
            </a: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bg-BG" sz="2000" dirty="0"/>
              <a:t>въвеждане на информация за филм 	</a:t>
            </a:r>
            <a:endParaRPr lang="bg-BG" sz="2000" dirty="0" smtClean="0"/>
          </a:p>
          <a:p>
            <a:pPr marL="896302" lvl="2" indent="-342900">
              <a:buFont typeface="Wingdings" panose="05000000000000000000" pitchFamily="2" charset="2"/>
              <a:buChar char="Ø"/>
            </a:pPr>
            <a:r>
              <a:rPr lang="en-US" sz="2000" dirty="0" err="1"/>
              <a:t>Модул</a:t>
            </a:r>
            <a:r>
              <a:rPr lang="en-US" sz="2000" dirty="0"/>
              <a:t> </a:t>
            </a: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bg-BG" sz="2000" dirty="0"/>
              <a:t>търсене на филми, според определени критерии</a:t>
            </a:r>
            <a:endParaRPr lang="en-US" sz="2000" dirty="0"/>
          </a:p>
          <a:p>
            <a:pPr marL="896302" lvl="2" indent="-3429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/>
              <a:t>Описание на проекта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bg-BG" b="1" dirty="0"/>
              <a:t> </a:t>
            </a:r>
            <a:r>
              <a:rPr lang="en-US" b="1" dirty="0" err="1"/>
              <a:t>Модул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bg-BG" b="1" dirty="0"/>
              <a:t>въвеждане на информация за филм 	</a:t>
            </a:r>
            <a:endParaRPr lang="en-US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избиране на име 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избиране на актьори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избиране на режисьор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избиране на година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избиране на жанр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избиране на рейтинг </a:t>
            </a:r>
            <a:endParaRPr lang="bg-BG" b="1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b="1" dirty="0" err="1" smtClean="0"/>
              <a:t>Модул</a:t>
            </a:r>
            <a:r>
              <a:rPr lang="en-US" b="1" dirty="0" smtClean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bg-BG" b="1" dirty="0"/>
              <a:t>търсене на филми, според определени критерии</a:t>
            </a:r>
            <a:endParaRPr lang="en-US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търсене по рейтинг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търсене по година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bg-BG" dirty="0"/>
              <a:t>Възможност за търсене по жанр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13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dirty="0" err="1" smtClean="0"/>
              <a:t>Бюджет</a:t>
            </a:r>
            <a:r>
              <a:rPr lang="en-US" dirty="0" smtClean="0"/>
              <a:t> </a:t>
            </a:r>
            <a:r>
              <a:rPr lang="bg-BG" dirty="0" smtClean="0"/>
              <a:t>на проекта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9914232"/>
              </p:ext>
            </p:extLst>
          </p:nvPr>
        </p:nvGraphicFramePr>
        <p:xfrm>
          <a:off x="1598612" y="1676400"/>
          <a:ext cx="9525000" cy="4848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51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609600"/>
          </a:xfrm>
        </p:spPr>
        <p:txBody>
          <a:bodyPr/>
          <a:lstStyle/>
          <a:p>
            <a:pPr algn="ctr"/>
            <a:r>
              <a:rPr lang="en-US" dirty="0" err="1"/>
              <a:t>Бюджет</a:t>
            </a:r>
            <a:r>
              <a:rPr lang="en-US" dirty="0"/>
              <a:t> </a:t>
            </a:r>
            <a:r>
              <a:rPr lang="bg-BG" dirty="0"/>
              <a:t>на проекта</a:t>
            </a:r>
            <a:r>
              <a:rPr lang="en-US" dirty="0"/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265262" y="1424938"/>
            <a:ext cx="4701142" cy="762001"/>
          </a:xfrm>
        </p:spPr>
        <p:txBody>
          <a:bodyPr/>
          <a:lstStyle/>
          <a:p>
            <a:r>
              <a:rPr lang="bg-BG" dirty="0" smtClean="0"/>
              <a:t>Оглед над бюджета на проекта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91754" y="1424937"/>
            <a:ext cx="4703259" cy="762001"/>
          </a:xfrm>
        </p:spPr>
        <p:txBody>
          <a:bodyPr/>
          <a:lstStyle/>
          <a:p>
            <a:r>
              <a:rPr lang="bg-BG" dirty="0" smtClean="0"/>
              <a:t>Кръгова диаграма на разпределение на ресурсите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985" y="2362200"/>
            <a:ext cx="3962400" cy="40843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797861904"/>
              </p:ext>
            </p:extLst>
          </p:nvPr>
        </p:nvGraphicFramePr>
        <p:xfrm>
          <a:off x="5966404" y="2362200"/>
          <a:ext cx="5738257" cy="408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5744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838200"/>
          </a:xfrm>
        </p:spPr>
        <p:txBody>
          <a:bodyPr/>
          <a:lstStyle/>
          <a:p>
            <a:pPr algn="ctr"/>
            <a:r>
              <a:rPr lang="en-US" dirty="0" err="1"/>
              <a:t>Бюджет</a:t>
            </a:r>
            <a:r>
              <a:rPr lang="en-US" dirty="0"/>
              <a:t> </a:t>
            </a:r>
            <a:r>
              <a:rPr lang="bg-BG" dirty="0"/>
              <a:t>на проекта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2" y="1676400"/>
            <a:ext cx="11125200" cy="4852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538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28600"/>
            <a:ext cx="9601200" cy="609600"/>
          </a:xfrm>
        </p:spPr>
        <p:txBody>
          <a:bodyPr/>
          <a:lstStyle/>
          <a:p>
            <a:pPr algn="ctr"/>
            <a:r>
              <a:rPr lang="en-US" dirty="0" err="1"/>
              <a:t>Бюджет</a:t>
            </a:r>
            <a:r>
              <a:rPr lang="en-US" dirty="0"/>
              <a:t> </a:t>
            </a:r>
            <a:r>
              <a:rPr lang="bg-BG" dirty="0"/>
              <a:t>на проекта</a:t>
            </a:r>
            <a:r>
              <a:rPr lang="en-US" dirty="0"/>
              <a:t> 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777165362"/>
              </p:ext>
            </p:extLst>
          </p:nvPr>
        </p:nvGraphicFramePr>
        <p:xfrm>
          <a:off x="989012" y="1066800"/>
          <a:ext cx="10744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991302"/>
              </p:ext>
            </p:extLst>
          </p:nvPr>
        </p:nvGraphicFramePr>
        <p:xfrm>
          <a:off x="1674812" y="5638799"/>
          <a:ext cx="8686800" cy="102390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61030">
                  <a:extLst>
                    <a:ext uri="{9D8B030D-6E8A-4147-A177-3AD203B41FA5}">
                      <a16:colId xmlns:a16="http://schemas.microsoft.com/office/drawing/2014/main" val="4008538938"/>
                    </a:ext>
                  </a:extLst>
                </a:gridCol>
                <a:gridCol w="1954530">
                  <a:extLst>
                    <a:ext uri="{9D8B030D-6E8A-4147-A177-3AD203B41FA5}">
                      <a16:colId xmlns:a16="http://schemas.microsoft.com/office/drawing/2014/main" val="421740598"/>
                    </a:ext>
                  </a:extLst>
                </a:gridCol>
                <a:gridCol w="1761490">
                  <a:extLst>
                    <a:ext uri="{9D8B030D-6E8A-4147-A177-3AD203B41FA5}">
                      <a16:colId xmlns:a16="http://schemas.microsoft.com/office/drawing/2014/main" val="1158327586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2636706"/>
                    </a:ext>
                  </a:extLst>
                </a:gridCol>
              </a:tblGrid>
              <a:tr h="4496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Name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Cost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Baseline Cost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Cost Variance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544597"/>
                  </a:ext>
                </a:extLst>
              </a:tr>
              <a:tr h="2704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Радина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1 320,00 </a:t>
                      </a:r>
                      <a:r>
                        <a:rPr lang="en-US" sz="1200" dirty="0" err="1">
                          <a:effectLst/>
                        </a:rPr>
                        <a:t>лв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0,00 </a:t>
                      </a:r>
                      <a:r>
                        <a:rPr lang="en-US" sz="1200" dirty="0" err="1">
                          <a:effectLst/>
                        </a:rPr>
                        <a:t>лв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1 320,00 </a:t>
                      </a:r>
                      <a:r>
                        <a:rPr lang="en-US" sz="1200" dirty="0" err="1">
                          <a:effectLst/>
                        </a:rPr>
                        <a:t>лв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11965"/>
                  </a:ext>
                </a:extLst>
              </a:tr>
              <a:tr h="2704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Даниел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864,00 лв.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0,00 лв.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864,00 </a:t>
                      </a:r>
                      <a:r>
                        <a:rPr lang="en-US" sz="1200" dirty="0" err="1">
                          <a:effectLst/>
                        </a:rPr>
                        <a:t>лв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411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78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28600"/>
            <a:ext cx="11277600" cy="1447800"/>
          </a:xfrm>
        </p:spPr>
        <p:txBody>
          <a:bodyPr>
            <a:normAutofit fontScale="90000"/>
          </a:bodyPr>
          <a:lstStyle/>
          <a:p>
            <a:pPr algn="ctr"/>
            <a:r>
              <a:rPr lang="bg-BG" dirty="0">
                <a:effectLst>
                  <a:outerShdw sx="0" sy="0">
                    <a:srgbClr val="000000"/>
                  </a:outerShdw>
                </a:effectLst>
              </a:rPr>
              <a:t>В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ъзможност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за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разработване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на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 smtClean="0">
                <a:effectLst>
                  <a:outerShdw sx="0" sy="0">
                    <a:srgbClr val="000000"/>
                  </a:outerShdw>
                </a:effectLst>
              </a:rPr>
              <a:t>допълнителни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 smtClean="0">
                <a:effectLst>
                  <a:outerShdw sx="0" sy="0">
                    <a:srgbClr val="000000"/>
                  </a:outerShdw>
                </a:effectLst>
              </a:rPr>
              <a:t>модули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/>
            </a:r>
            <a:br>
              <a:rPr lang="en-US" dirty="0">
                <a:effectLst>
                  <a:outerShdw sx="0" sy="0">
                    <a:srgbClr val="000000"/>
                  </a:outerShdw>
                </a:effectLst>
              </a:rPr>
            </a:br>
            <a:r>
              <a:rPr lang="en-US" dirty="0" smtClean="0">
                <a:effectLst>
                  <a:outerShdw sx="0" sy="0">
                    <a:srgbClr val="000000"/>
                  </a:outerShdw>
                </a:effectLst>
              </a:rPr>
              <a:t>и </a:t>
            </a:r>
            <a:r>
              <a:rPr lang="en-US" dirty="0" err="1" smtClean="0">
                <a:effectLst>
                  <a:outerShdw sx="0" sy="0">
                    <a:srgbClr val="000000"/>
                  </a:outerShdw>
                </a:effectLst>
              </a:rPr>
              <a:t>поддръжка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812" y="1899920"/>
            <a:ext cx="10286999" cy="4729480"/>
          </a:xfrm>
        </p:spPr>
        <p:txBody>
          <a:bodyPr>
            <a:normAutofit lnSpcReduction="10000"/>
          </a:bodyPr>
          <a:lstStyle/>
          <a:p>
            <a:pPr marL="342900" lvl="0" indent="-342900" fontAlgn="base">
              <a:buFont typeface="Wingdings" panose="05000000000000000000" pitchFamily="2" charset="2"/>
              <a:buChar char="v"/>
            </a:pPr>
            <a:r>
              <a:rPr lang="bg-BG" dirty="0" err="1">
                <a:effectLst>
                  <a:outerShdw sx="0" sy="0">
                    <a:srgbClr val="000000"/>
                  </a:outerShdw>
                </a:effectLst>
              </a:rPr>
              <a:t>В</a:t>
            </a:r>
            <a:r>
              <a:rPr lang="en-US" dirty="0" err="1" smtClean="0">
                <a:effectLst>
                  <a:outerShdw sx="0" sy="0">
                    <a:srgbClr val="000000"/>
                  </a:outerShdw>
                </a:effectLst>
              </a:rPr>
              <a:t>ъзможност</a:t>
            </a:r>
            <a:r>
              <a:rPr lang="en-US" dirty="0" smtClean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за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разработване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на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допълнителни</a:t>
            </a:r>
            <a:r>
              <a:rPr lang="en-US" dirty="0">
                <a:effectLst>
                  <a:outerShdw sx="0" sy="0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sx="0" sy="0">
                    <a:srgbClr val="000000"/>
                  </a:outerShdw>
                </a:effectLst>
              </a:rPr>
              <a:t>модули</a:t>
            </a:r>
            <a:endParaRPr lang="en-US" dirty="0">
              <a:effectLst>
                <a:outerShdw sx="0" sy="0">
                  <a:srgbClr val="000000"/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dirty="0" smtClean="0"/>
              <a:t>Със </a:t>
            </a:r>
            <a:r>
              <a:rPr lang="bg-BG" dirty="0"/>
              <a:t>закупуване на софтуерния продукт възложителят получава право над програмния код, който при желание от негова страна, може да бъде доразработен от изпълнителя, включвайки нови функционалности и допълнителни модули или промяна на съществуващи такива – създаване на нови версии на програмния продукт</a:t>
            </a:r>
            <a:r>
              <a:rPr lang="bg-BG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П</a:t>
            </a:r>
            <a:r>
              <a:rPr lang="en-US" dirty="0" err="1" smtClean="0"/>
              <a:t>оддръжка</a:t>
            </a:r>
            <a:endParaRPr lang="bg-BG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bg-BG" dirty="0"/>
              <a:t>Според подписания с възложителя договор изпълнителят поема отговорност за безплатна поддръжка в рамките на първия месец. След изтичане на този период поръчителят трябва да заплаща сума от </a:t>
            </a:r>
            <a:r>
              <a:rPr lang="en-US" dirty="0" smtClean="0"/>
              <a:t>3</a:t>
            </a:r>
            <a:r>
              <a:rPr lang="bg-BG" dirty="0" smtClean="0"/>
              <a:t>50 </a:t>
            </a:r>
            <a:r>
              <a:rPr lang="bg-BG" dirty="0"/>
              <a:t>лева месечно за поддръжка </a:t>
            </a:r>
            <a:r>
              <a:rPr lang="en-US" dirty="0"/>
              <a:t>(</a:t>
            </a:r>
            <a:r>
              <a:rPr lang="bg-BG" dirty="0"/>
              <a:t>10 % от цялата цена на продукта</a:t>
            </a:r>
            <a:r>
              <a:rPr lang="en-US" dirty="0"/>
              <a:t>)</a:t>
            </a:r>
            <a:r>
              <a:rPr lang="bg-BG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bg-BG" dirty="0"/>
              <a:t> на проекта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02776" y="1905000"/>
            <a:ext cx="9601200" cy="4495800"/>
          </a:xfrm>
        </p:spPr>
        <p:txBody>
          <a:bodyPr/>
          <a:lstStyle/>
          <a:p>
            <a:r>
              <a:rPr lang="bg-BG" dirty="0" smtClean="0"/>
              <a:t>Карти със задачи за бъдещо изпълнение, в процес на изпълнение и приключени задачи</a:t>
            </a:r>
          </a:p>
          <a:p>
            <a:r>
              <a:rPr lang="bg-BG" dirty="0" smtClean="0"/>
              <a:t>Добавяне на лейбъли в различни цветове</a:t>
            </a:r>
          </a:p>
          <a:p>
            <a:r>
              <a:rPr lang="bg-BG" dirty="0" smtClean="0"/>
              <a:t>Крайна дата за изпълнение на </a:t>
            </a:r>
            <a:r>
              <a:rPr lang="bg-BG" dirty="0" smtClean="0"/>
              <a:t>вс</a:t>
            </a:r>
            <a:r>
              <a:rPr lang="en-US" dirty="0" smtClean="0"/>
              <a:t>e</a:t>
            </a:r>
            <a:r>
              <a:rPr lang="bg-BG" dirty="0" smtClean="0"/>
              <a:t>ки </a:t>
            </a:r>
            <a:r>
              <a:rPr lang="bg-BG" dirty="0" smtClean="0"/>
              <a:t>етап от разработката</a:t>
            </a:r>
          </a:p>
          <a:p>
            <a:r>
              <a:rPr lang="bg-BG" dirty="0" smtClean="0"/>
              <a:t>Добавяне на стикери</a:t>
            </a:r>
          </a:p>
          <a:p>
            <a:r>
              <a:rPr lang="bg-BG" dirty="0" smtClean="0"/>
              <a:t>Общ достъп от всички участници в проекта до дъската, с възможност да отбелязват състоянието на възложените им задачи до момента</a:t>
            </a:r>
          </a:p>
          <a:p>
            <a:r>
              <a:rPr lang="bg-BG" dirty="0" smtClean="0"/>
              <a:t>Допълнителна информация на гърба на картата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3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228600"/>
            <a:ext cx="9601200" cy="685800"/>
          </a:xfrm>
        </p:spPr>
        <p:txBody>
          <a:bodyPr/>
          <a:lstStyle/>
          <a:p>
            <a:pPr algn="ctr"/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bg-BG" dirty="0"/>
              <a:t> на проекта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612" y="867547"/>
            <a:ext cx="10820400" cy="588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4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Трудности при използването на </a:t>
            </a:r>
            <a:r>
              <a:rPr lang="en-US" dirty="0" smtClean="0"/>
              <a:t>Trello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bg-BG" sz="28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sz="2800" dirty="0" smtClean="0"/>
              <a:t>Нашият екип не успя да се сблъска с трудности при използването му, но успяхме да открием някои слаби страни на тази система за управление на проекти: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400" dirty="0"/>
              <a:t>Простотата и минимализмът не позволяват проследяване на проектите в по-дълбока детайлност.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400" dirty="0"/>
              <a:t>Не е подходяща система за управление на сложни проекти.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400" dirty="0"/>
              <a:t>Няма възможност да се видят задачите, подредени по потребител или краен срок.</a:t>
            </a:r>
            <a:endParaRPr lang="en-US" sz="2400" dirty="0"/>
          </a:p>
          <a:p>
            <a:pPr marL="553402" lvl="2" indent="0">
              <a:buNone/>
            </a:pPr>
            <a:endParaRPr lang="bg-BG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7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Използвана система за контрол на версиите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1676400"/>
            <a:ext cx="9601200" cy="30480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smtClean="0"/>
              <a:t> </a:t>
            </a:r>
            <a:r>
              <a:rPr lang="bg-BG" sz="2800" dirty="0" smtClean="0"/>
              <a:t>Защо избрахме </a:t>
            </a:r>
            <a:r>
              <a:rPr lang="en-US" sz="2800" dirty="0" err="1" smtClean="0"/>
              <a:t>Git</a:t>
            </a:r>
            <a:r>
              <a:rPr lang="en-US" sz="2800" dirty="0"/>
              <a:t>?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dirty="0" smtClean="0"/>
              <a:t>Впечатляващо бърза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dirty="0" smtClean="0"/>
              <a:t>Ефективна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dirty="0" err="1" smtClean="0"/>
              <a:t>Опростен</a:t>
            </a:r>
            <a:r>
              <a:rPr lang="en-US" dirty="0" smtClean="0"/>
              <a:t> </a:t>
            </a:r>
            <a:r>
              <a:rPr lang="en-US" dirty="0" err="1"/>
              <a:t>дизайн</a:t>
            </a:r>
            <a:endParaRPr lang="en-US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dirty="0" err="1"/>
              <a:t>Напълно</a:t>
            </a:r>
            <a:r>
              <a:rPr lang="en-US" dirty="0"/>
              <a:t> </a:t>
            </a:r>
            <a:r>
              <a:rPr lang="en-US" dirty="0" err="1"/>
              <a:t>разпределена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4000" dirty="0" smtClean="0"/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4000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7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003" y="-10886"/>
            <a:ext cx="9601200" cy="1143000"/>
          </a:xfrm>
        </p:spPr>
        <p:txBody>
          <a:bodyPr/>
          <a:lstStyle/>
          <a:p>
            <a:pPr algn="ctr"/>
            <a:r>
              <a:rPr lang="bg-BG" dirty="0" smtClean="0"/>
              <a:t>Работа с </a:t>
            </a:r>
            <a:r>
              <a:rPr lang="en-US" dirty="0" err="1" smtClean="0"/>
              <a:t>Git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003" y="1156063"/>
            <a:ext cx="9865618" cy="554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4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3813" y="304800"/>
            <a:ext cx="9601200" cy="762000"/>
          </a:xfrm>
        </p:spPr>
        <p:txBody>
          <a:bodyPr/>
          <a:lstStyle/>
          <a:p>
            <a:pPr algn="ctr"/>
            <a:r>
              <a:rPr lang="bg-BG" dirty="0" smtClean="0"/>
              <a:t>Трудности при използване на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3813" y="1219200"/>
            <a:ext cx="9601200" cy="4953000"/>
          </a:xfrm>
        </p:spPr>
        <p:txBody>
          <a:bodyPr/>
          <a:lstStyle/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r>
              <a:rPr lang="bg-BG" dirty="0" smtClean="0"/>
              <a:t>Добавяне на участници, които могат да извършват </a:t>
            </a:r>
            <a:r>
              <a:rPr lang="en-US" dirty="0" smtClean="0"/>
              <a:t>push </a:t>
            </a:r>
            <a:r>
              <a:rPr lang="bg-BG" dirty="0" smtClean="0"/>
              <a:t>операции към репозиторито </a:t>
            </a:r>
            <a:r>
              <a:rPr lang="en-US" dirty="0" smtClean="0"/>
              <a:t>(contributors)</a:t>
            </a:r>
          </a:p>
          <a:p>
            <a:r>
              <a:rPr lang="bg-BG" dirty="0" smtClean="0"/>
              <a:t>Трудна първоначална интеграция на системата с </a:t>
            </a:r>
            <a:r>
              <a:rPr lang="en-US" dirty="0" smtClean="0"/>
              <a:t>Android Studio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03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Методология на </a:t>
            </a:r>
            <a:r>
              <a:rPr lang="ru-RU" dirty="0" err="1" smtClean="0"/>
              <a:t>разработване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1905000"/>
            <a:ext cx="9601200" cy="4800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 err="1"/>
              <a:t>Екстремно</a:t>
            </a:r>
            <a:r>
              <a:rPr lang="en-US" sz="2800" dirty="0"/>
              <a:t> </a:t>
            </a:r>
            <a:r>
              <a:rPr lang="en-US" sz="2800" dirty="0" err="1"/>
              <a:t>програмиране</a:t>
            </a:r>
            <a:r>
              <a:rPr lang="en-US" sz="2800" dirty="0"/>
              <a:t>, Extreme Programming, XP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Причините да изберем тази методология са, че тя пасва отлично на нашия проект и екип, тъй като имахме възможност:</a:t>
            </a:r>
          </a:p>
          <a:p>
            <a:pPr marL="621982" lvl="1" indent="-342900">
              <a:buFont typeface="Wingdings" panose="05000000000000000000" pitchFamily="2" charset="2"/>
              <a:buChar char="Ø"/>
            </a:pPr>
            <a:r>
              <a:rPr lang="bg-BG" dirty="0" smtClean="0"/>
              <a:t>Да работим заедно в екип, </a:t>
            </a:r>
            <a:r>
              <a:rPr lang="bg-BG" dirty="0"/>
              <a:t>за малки и средни </a:t>
            </a:r>
            <a:r>
              <a:rPr lang="bg-BG" dirty="0" smtClean="0"/>
              <a:t>колективи.</a:t>
            </a:r>
          </a:p>
          <a:p>
            <a:pPr marL="621982" lvl="1" indent="-342900">
              <a:buFont typeface="Wingdings" panose="05000000000000000000" pitchFamily="2" charset="2"/>
              <a:buChar char="Ø"/>
            </a:pPr>
            <a:r>
              <a:rPr lang="bg-BG" dirty="0" smtClean="0"/>
              <a:t>Изпълнявахме етапите стъпка по стъпка, използвайки кратки цикли за всеки етап, като резултата беше скоростното </a:t>
            </a:r>
            <a:r>
              <a:rPr lang="bg-BG" dirty="0"/>
              <a:t>получаване на конкретен </a:t>
            </a:r>
            <a:r>
              <a:rPr lang="bg-BG" dirty="0" smtClean="0"/>
              <a:t>резултат.</a:t>
            </a:r>
          </a:p>
          <a:p>
            <a:pPr marL="621982" lvl="1" indent="-342900">
              <a:buFont typeface="Wingdings" panose="05000000000000000000" pitchFamily="2" charset="2"/>
              <a:buChar char="Ø"/>
            </a:pPr>
            <a:r>
              <a:rPr lang="bg-BG" dirty="0" smtClean="0"/>
              <a:t>Тествахме всеки готов етап от разработката с цел да избегнем бъдещи проблеми.</a:t>
            </a:r>
          </a:p>
          <a:p>
            <a:pPr marL="621982" lvl="1" indent="-342900">
              <a:buFont typeface="Wingdings" panose="05000000000000000000" pitchFamily="2" charset="2"/>
              <a:buChar char="Ø"/>
            </a:pPr>
            <a:r>
              <a:rPr lang="bg-BG" dirty="0" smtClean="0"/>
              <a:t>Вземахме важните решенията и постигахме разбирателство относно разработването чрез сътрудничество и интензивна комуникация, наложени като стандарт за тази методология.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bg-BG" dirty="0" smtClean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62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Екип</a:t>
            </a:r>
            <a:r>
              <a:rPr lang="bg-BG" dirty="0"/>
              <a:t> </a:t>
            </a:r>
            <a:r>
              <a:rPr lang="bg-BG" dirty="0" smtClean="0"/>
              <a:t>и роли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989012" y="1676400"/>
            <a:ext cx="5791200" cy="4953000"/>
          </a:xfrm>
        </p:spPr>
        <p:txBody>
          <a:bodyPr/>
          <a:lstStyle/>
          <a:p>
            <a:pPr marL="0" indent="0">
              <a:buNone/>
            </a:pPr>
            <a:r>
              <a:rPr lang="bg-BG" sz="2800" b="1" dirty="0" smtClean="0"/>
              <a:t>Екип</a:t>
            </a:r>
            <a:r>
              <a:rPr lang="bg-BG" sz="2800" dirty="0" smtClean="0"/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РМ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ДМ</a:t>
            </a:r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sz="2800" b="1" dirty="0" smtClean="0"/>
              <a:t>Роли</a:t>
            </a:r>
            <a:r>
              <a:rPr lang="en-US" sz="2800" b="1" dirty="0" smtClean="0"/>
              <a:t>(</a:t>
            </a:r>
            <a:r>
              <a:rPr lang="bg-BG" sz="2800" b="1" dirty="0" smtClean="0"/>
              <a:t>общи за целия екип</a:t>
            </a:r>
            <a:r>
              <a:rPr lang="en-US" sz="2800" b="1" dirty="0" smtClean="0"/>
              <a:t>)</a:t>
            </a:r>
            <a:r>
              <a:rPr lang="bg-BG" dirty="0" smtClean="0"/>
              <a:t>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 err="1"/>
              <a:t>Разработчици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бизнес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smtClean="0"/>
              <a:t>–</a:t>
            </a:r>
            <a:r>
              <a:rPr lang="bg-BG" dirty="0" smtClean="0"/>
              <a:t> ДМ</a:t>
            </a:r>
            <a:r>
              <a:rPr lang="en-US" dirty="0" smtClean="0"/>
              <a:t>, </a:t>
            </a:r>
            <a:r>
              <a:rPr lang="bg-BG" dirty="0" smtClean="0"/>
              <a:t>РМ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g-BG" dirty="0" smtClean="0"/>
              <a:t>Проектанти </a:t>
            </a:r>
            <a:r>
              <a:rPr lang="en-US" dirty="0" smtClean="0"/>
              <a:t>–</a:t>
            </a:r>
            <a:r>
              <a:rPr lang="bg-BG" dirty="0" smtClean="0"/>
              <a:t> ДМ</a:t>
            </a:r>
            <a:r>
              <a:rPr lang="en-US" dirty="0"/>
              <a:t>, </a:t>
            </a:r>
            <a:r>
              <a:rPr lang="bg-BG" dirty="0"/>
              <a:t>РМ</a:t>
            </a:r>
          </a:p>
          <a:p>
            <a:pPr lvl="0">
              <a:buFont typeface="Wingdings" panose="05000000000000000000" pitchFamily="2" charset="2"/>
              <a:buChar char="v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3" descr="Stacked List - Use to show groups of information or steps in a task, process, or workflow. Circular shapes contain Level 1 text, and the corresponding rectangles contain Level 2 text. Works well for numerous details and minimal Level 1 text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50920515"/>
              </p:ext>
            </p:extLst>
          </p:nvPr>
        </p:nvGraphicFramePr>
        <p:xfrm>
          <a:off x="6780212" y="934027"/>
          <a:ext cx="46990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747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График за изпълнение на проекта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3813" y="1936245"/>
            <a:ext cx="9601200" cy="3976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169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Диаграма за времето за изпълнение на задачите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3813" y="1676400"/>
          <a:ext cx="9601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70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059" y="762000"/>
            <a:ext cx="9601200" cy="1143000"/>
          </a:xfrm>
        </p:spPr>
        <p:txBody>
          <a:bodyPr/>
          <a:lstStyle/>
          <a:p>
            <a:pPr algn="ctr"/>
            <a:r>
              <a:rPr lang="bg-BG" dirty="0" smtClean="0"/>
              <a:t>Диаграма за свършената и оставаща за свършване работа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3813" y="1676400"/>
          <a:ext cx="9601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409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360612" y="76200"/>
            <a:ext cx="70866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bg-BG" sz="3600" dirty="0" smtClean="0"/>
              <a:t>Задачи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598601"/>
              </p:ext>
            </p:extLst>
          </p:nvPr>
        </p:nvGraphicFramePr>
        <p:xfrm>
          <a:off x="455612" y="914400"/>
          <a:ext cx="11582401" cy="5334001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440035">
                  <a:extLst>
                    <a:ext uri="{9D8B030D-6E8A-4147-A177-3AD203B41FA5}">
                      <a16:colId xmlns:a16="http://schemas.microsoft.com/office/drawing/2014/main" val="3466861661"/>
                    </a:ext>
                  </a:extLst>
                </a:gridCol>
                <a:gridCol w="3839263">
                  <a:extLst>
                    <a:ext uri="{9D8B030D-6E8A-4147-A177-3AD203B41FA5}">
                      <a16:colId xmlns:a16="http://schemas.microsoft.com/office/drawing/2014/main" val="1865448961"/>
                    </a:ext>
                  </a:extLst>
                </a:gridCol>
                <a:gridCol w="2159432">
                  <a:extLst>
                    <a:ext uri="{9D8B030D-6E8A-4147-A177-3AD203B41FA5}">
                      <a16:colId xmlns:a16="http://schemas.microsoft.com/office/drawing/2014/main" val="1494897268"/>
                    </a:ext>
                  </a:extLst>
                </a:gridCol>
                <a:gridCol w="2447686">
                  <a:extLst>
                    <a:ext uri="{9D8B030D-6E8A-4147-A177-3AD203B41FA5}">
                      <a16:colId xmlns:a16="http://schemas.microsoft.com/office/drawing/2014/main" val="3759793672"/>
                    </a:ext>
                  </a:extLst>
                </a:gridCol>
                <a:gridCol w="1695985">
                  <a:extLst>
                    <a:ext uri="{9D8B030D-6E8A-4147-A177-3AD203B41FA5}">
                      <a16:colId xmlns:a16="http://schemas.microsoft.com/office/drawing/2014/main" val="1814648347"/>
                    </a:ext>
                  </a:extLst>
                </a:gridCol>
              </a:tblGrid>
              <a:tr h="813990">
                <a:tc>
                  <a:txBody>
                    <a:bodyPr/>
                    <a:lstStyle/>
                    <a:p>
                      <a:pPr lvl="1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Номер на задачата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Описание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Предшественик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Продължителност (дни)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Изпълнител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165078044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Получаване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разрешение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за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започване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проекта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-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-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-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624629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Събиране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и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анализ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клиентските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изисквания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144087237"/>
                  </a:ext>
                </a:extLst>
              </a:tr>
              <a:tr h="403756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Проектиране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92381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3.1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Избор на подходяща архитектура 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ДМ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000755109"/>
                  </a:ext>
                </a:extLst>
              </a:tr>
              <a:tr h="39781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3.2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Проектиране на БД 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3.1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ДМ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201516"/>
                  </a:ext>
                </a:extLst>
              </a:tr>
              <a:tr h="39781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3.3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Бизнес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логика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3.2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, </a:t>
                      </a: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ДМ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303432032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3.4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Първоначален дизайн на потребителския интерфейс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3.2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078770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Създаване на техническо задание на проекта 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4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4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172566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3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177107"/>
              </p:ext>
            </p:extLst>
          </p:nvPr>
        </p:nvGraphicFramePr>
        <p:xfrm>
          <a:off x="379412" y="533400"/>
          <a:ext cx="11506199" cy="609232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497287">
                  <a:extLst>
                    <a:ext uri="{9D8B030D-6E8A-4147-A177-3AD203B41FA5}">
                      <a16:colId xmlns:a16="http://schemas.microsoft.com/office/drawing/2014/main" val="428134581"/>
                    </a:ext>
                  </a:extLst>
                </a:gridCol>
                <a:gridCol w="3788745">
                  <a:extLst>
                    <a:ext uri="{9D8B030D-6E8A-4147-A177-3AD203B41FA5}">
                      <a16:colId xmlns:a16="http://schemas.microsoft.com/office/drawing/2014/main" val="3753832525"/>
                    </a:ext>
                  </a:extLst>
                </a:gridCol>
                <a:gridCol w="2131017">
                  <a:extLst>
                    <a:ext uri="{9D8B030D-6E8A-4147-A177-3AD203B41FA5}">
                      <a16:colId xmlns:a16="http://schemas.microsoft.com/office/drawing/2014/main" val="770423203"/>
                    </a:ext>
                  </a:extLst>
                </a:gridCol>
                <a:gridCol w="2415480">
                  <a:extLst>
                    <a:ext uri="{9D8B030D-6E8A-4147-A177-3AD203B41FA5}">
                      <a16:colId xmlns:a16="http://schemas.microsoft.com/office/drawing/2014/main" val="502014971"/>
                    </a:ext>
                  </a:extLst>
                </a:gridCol>
                <a:gridCol w="1673670">
                  <a:extLst>
                    <a:ext uri="{9D8B030D-6E8A-4147-A177-3AD203B41FA5}">
                      <a16:colId xmlns:a16="http://schemas.microsoft.com/office/drawing/2014/main" val="3291488564"/>
                    </a:ext>
                  </a:extLst>
                </a:gridCol>
              </a:tblGrid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Разработване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3543240147"/>
                  </a:ext>
                </a:extLst>
              </a:tr>
              <a:tr h="5531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Реализация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избраната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архитектура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</a:rPr>
                        <a:t>3.1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</a:rPr>
                        <a:t>ДМ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211762256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</a:t>
                      </a: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Реализация на 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БД 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</a:rPr>
                        <a:t>3.2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</a:rPr>
                        <a:t>ДМ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1025311007"/>
                  </a:ext>
                </a:extLst>
              </a:tr>
              <a:tr h="9841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</a:t>
                      </a: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Създаване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fr-FR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SQL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заявки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и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процедури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за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извеждане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,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добавяне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,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модифициране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и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изтриване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данни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от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БД 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5.2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ДМ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3600328267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</a:t>
                      </a: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Бизнес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логика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3.3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2819716889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</a:t>
                      </a: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Потр</a:t>
                      </a: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е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бителски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интерфейс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3.4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1823947363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Тестване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2700423999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6.1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БД 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5.2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2051235155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6.2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Логика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</a:t>
                      </a: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1619661395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6.3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Потребителски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интерфейс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5.</a:t>
                      </a: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2891082718"/>
                  </a:ext>
                </a:extLst>
              </a:tr>
              <a:tr h="7481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7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Създаване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на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потребителска</a:t>
                      </a: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документация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6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914901797"/>
                  </a:ext>
                </a:extLst>
              </a:tr>
              <a:tr h="5531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8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Представяне на продукта на </a:t>
                      </a: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клиента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7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3380702784"/>
                  </a:ext>
                </a:extLst>
              </a:tr>
              <a:tr h="5531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9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Пускане в производство на програмния продукт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8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lang="en-US" sz="1200" b="1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bg-BG" sz="1200" b="1" dirty="0">
                          <a:solidFill>
                            <a:schemeClr val="tx2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РМ</a:t>
                      </a:r>
                      <a:endParaRPr lang="en-US" sz="1200" b="1" dirty="0">
                        <a:solidFill>
                          <a:schemeClr val="tx2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elvetica" panose="020B060402020202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528" marR="46528" marT="46528" marB="46528"/>
                </a:tc>
                <a:extLst>
                  <a:ext uri="{0D108BD9-81ED-4DB2-BD59-A6C34878D82A}">
                    <a16:rowId xmlns:a16="http://schemas.microsoft.com/office/drawing/2014/main" val="1422169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88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Трудности при разработването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3813" y="1676400"/>
            <a:ext cx="9601200" cy="4876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bg-BG" dirty="0" smtClean="0"/>
              <a:t>Срещнахме трудности в началните етапи свързани с анализ на изискванията, проектиране на продукта и изработването на техническото задание, заради което се получи и забавяне, тъй като тази методология налага инкрементиращи се стъпки.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g-BG" dirty="0" smtClean="0"/>
              <a:t>При проектирането на продукта срещнахме проблем с желаната от възложителя архитектура за разработване, защото ни трябваше повече време да се запознаем с нея и спецификите й.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bg-BG" dirty="0" smtClean="0"/>
              <a:t>Забавянето се отрази и на следващия етап на създаване на техническото задание, но успяхме да наваксаме с работата и започнахме разработването навреме, което от друга страна ни отне по-малко време от проектирането, заради добре положените основи на проекта в началото.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00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Програмни </a:t>
            </a:r>
            <a:r>
              <a:rPr lang="bg-BG" dirty="0"/>
              <a:t>средства за реализацията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dirty="0" smtClean="0"/>
              <a:t>Програмен език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/>
              <a:t>Java</a:t>
            </a:r>
            <a:endParaRPr lang="bg-BG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IDE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/>
              <a:t>Android Studio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83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Краен продукт и интерфейс на приложението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7612" y="1676400"/>
            <a:ext cx="2440154" cy="449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64" y="1676401"/>
            <a:ext cx="2391383" cy="4495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601" y="1658983"/>
            <a:ext cx="2467930" cy="451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9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Възможност за бъдеща разработка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Custom </a:t>
            </a:r>
            <a:r>
              <a:rPr lang="bg-BG" dirty="0" smtClean="0"/>
              <a:t>анимации</a:t>
            </a:r>
          </a:p>
          <a:p>
            <a:r>
              <a:rPr lang="en-US" dirty="0" smtClean="0"/>
              <a:t>Google analytics </a:t>
            </a:r>
            <a:r>
              <a:rPr lang="bg-BG" dirty="0" smtClean="0"/>
              <a:t>и </a:t>
            </a:r>
            <a:r>
              <a:rPr lang="en-US" dirty="0" err="1" smtClean="0"/>
              <a:t>Crashlytics</a:t>
            </a:r>
            <a:endParaRPr lang="en-US" dirty="0" smtClean="0"/>
          </a:p>
          <a:p>
            <a:r>
              <a:rPr lang="bg-BG" dirty="0" smtClean="0"/>
              <a:t>Създаване на сървърна част </a:t>
            </a:r>
          </a:p>
          <a:p>
            <a:r>
              <a:rPr lang="bg-BG" dirty="0" smtClean="0"/>
              <a:t>Превръщане в мултипотребителско приложение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99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d Violet">
    <a:dk1>
      <a:sysClr val="windowText" lastClr="000000"/>
    </a:dk1>
    <a:lt1>
      <a:sysClr val="window" lastClr="FFFFFF"/>
    </a:lt1>
    <a:dk2>
      <a:srgbClr val="454551"/>
    </a:dk2>
    <a:lt2>
      <a:srgbClr val="D8D9DC"/>
    </a:lt2>
    <a:accent1>
      <a:srgbClr val="E32D91"/>
    </a:accent1>
    <a:accent2>
      <a:srgbClr val="C830CC"/>
    </a:accent2>
    <a:accent3>
      <a:srgbClr val="4EA6DC"/>
    </a:accent3>
    <a:accent4>
      <a:srgbClr val="4775E7"/>
    </a:accent4>
    <a:accent5>
      <a:srgbClr val="8971E1"/>
    </a:accent5>
    <a:accent6>
      <a:srgbClr val="D54773"/>
    </a:accent6>
    <a:hlink>
      <a:srgbClr val="6B9F25"/>
    </a:hlink>
    <a:folHlink>
      <a:srgbClr val="8C8C8C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57000"/>
              <a:satMod val="101000"/>
            </a:schemeClr>
          </a:gs>
          <a:gs pos="50000">
            <a:schemeClr val="phClr">
              <a:lumMod val="137000"/>
              <a:satMod val="103000"/>
            </a:schemeClr>
          </a:gs>
          <a:gs pos="100000">
            <a:schemeClr val="phClr">
              <a:lumMod val="115000"/>
              <a:satMod val="109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18000"/>
            </a:schemeClr>
          </a:gs>
          <a:gs pos="50000">
            <a:schemeClr val="phClr">
              <a:satMod val="89000"/>
              <a:lumMod val="91000"/>
            </a:schemeClr>
          </a:gs>
          <a:gs pos="100000">
            <a:schemeClr val="phClr">
              <a:lumMod val="69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</a:ln>
      <a:ln w="12700" cap="flat" cmpd="sng" algn="ctr">
        <a:solidFill>
          <a:schemeClr val="phClr"/>
        </a:solidFill>
        <a:prstDash val="solid"/>
      </a:ln>
      <a:ln w="1905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  <a:satMod val="100000"/>
              <a:shade val="0"/>
            </a:schemeClr>
          </a:gs>
          <a:gs pos="0">
            <a:scrgbClr r="0" g="0" b="0"/>
          </a:gs>
          <a:gs pos="100000">
            <a:schemeClr val="phClr">
              <a:shade val="100000"/>
              <a:satMod val="100000"/>
            </a:schemeClr>
          </a:gs>
        </a:gsLst>
        <a:lin ang="5400000" scaled="0"/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Violet II">
    <a:dk1>
      <a:sysClr val="windowText" lastClr="000000"/>
    </a:dk1>
    <a:lt1>
      <a:sysClr val="window" lastClr="FFFFFF"/>
    </a:lt1>
    <a:dk2>
      <a:srgbClr val="632E62"/>
    </a:dk2>
    <a:lt2>
      <a:srgbClr val="EAE5EB"/>
    </a:lt2>
    <a:accent1>
      <a:srgbClr val="92278F"/>
    </a:accent1>
    <a:accent2>
      <a:srgbClr val="9B57D3"/>
    </a:accent2>
    <a:accent3>
      <a:srgbClr val="755DD9"/>
    </a:accent3>
    <a:accent4>
      <a:srgbClr val="665EB8"/>
    </a:accent4>
    <a:accent5>
      <a:srgbClr val="45A5ED"/>
    </a:accent5>
    <a:accent6>
      <a:srgbClr val="5982DB"/>
    </a:accent6>
    <a:hlink>
      <a:srgbClr val="0066FF"/>
    </a:hlink>
    <a:folHlink>
      <a:srgbClr val="666699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57000"/>
              <a:satMod val="101000"/>
            </a:schemeClr>
          </a:gs>
          <a:gs pos="50000">
            <a:schemeClr val="phClr">
              <a:lumMod val="137000"/>
              <a:satMod val="103000"/>
            </a:schemeClr>
          </a:gs>
          <a:gs pos="100000">
            <a:schemeClr val="phClr">
              <a:lumMod val="115000"/>
              <a:satMod val="109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18000"/>
            </a:schemeClr>
          </a:gs>
          <a:gs pos="50000">
            <a:schemeClr val="phClr">
              <a:satMod val="89000"/>
              <a:lumMod val="91000"/>
            </a:schemeClr>
          </a:gs>
          <a:gs pos="100000">
            <a:schemeClr val="phClr">
              <a:lumMod val="69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</a:ln>
      <a:ln w="12700" cap="flat" cmpd="sng" algn="ctr">
        <a:solidFill>
          <a:schemeClr val="phClr"/>
        </a:solidFill>
        <a:prstDash val="solid"/>
      </a:ln>
      <a:ln w="1905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  <a:satMod val="100000"/>
              <a:shade val="0"/>
            </a:schemeClr>
          </a:gs>
          <a:gs pos="0">
            <a:scrgbClr r="0" g="0" b="0"/>
          </a:gs>
          <a:gs pos="100000">
            <a:schemeClr val="phClr">
              <a:shade val="100000"/>
              <a:satMod val="100000"/>
            </a:schemeClr>
          </a:gs>
        </a:gsLst>
        <a:lin ang="5400000" scaled="0"/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249165-F638-412C-8E0A-DFB7045CA2E0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4873beb7-5857-4685-be1f-d57550cc96cc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399</TotalTime>
  <Words>906</Words>
  <Application>Microsoft Office PowerPoint</Application>
  <PresentationFormat>Custom</PresentationFormat>
  <Paragraphs>230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 Unicode MS</vt:lpstr>
      <vt:lpstr>Arial</vt:lpstr>
      <vt:lpstr>Calibri</vt:lpstr>
      <vt:lpstr>Euphemia</vt:lpstr>
      <vt:lpstr>Helvetica</vt:lpstr>
      <vt:lpstr>Times New Roman</vt:lpstr>
      <vt:lpstr>Wingdings</vt:lpstr>
      <vt:lpstr>Serenity 16x9</vt:lpstr>
      <vt:lpstr>Система за избор на филм</vt:lpstr>
      <vt:lpstr>Описание на проекта</vt:lpstr>
      <vt:lpstr>Описание на проекта</vt:lpstr>
      <vt:lpstr>Бюджет на проекта </vt:lpstr>
      <vt:lpstr>Бюджет на проекта </vt:lpstr>
      <vt:lpstr>Бюджет на проекта </vt:lpstr>
      <vt:lpstr>Бюджет на проекта </vt:lpstr>
      <vt:lpstr>Възможност за разработване на допълнителни модули и поддръжка</vt:lpstr>
      <vt:lpstr>Система за управление на проекта</vt:lpstr>
      <vt:lpstr>Система за управление на проекта</vt:lpstr>
      <vt:lpstr>Трудности при използването на Trello</vt:lpstr>
      <vt:lpstr>Използвана система за контрол на версиите</vt:lpstr>
      <vt:lpstr>Работа с Git</vt:lpstr>
      <vt:lpstr>Трудности при използване на Git</vt:lpstr>
      <vt:lpstr>Методология на разработване</vt:lpstr>
      <vt:lpstr>Екип и роли</vt:lpstr>
      <vt:lpstr>График за изпълнение на проекта</vt:lpstr>
      <vt:lpstr>Диаграма за времето за изпълнение на задачите</vt:lpstr>
      <vt:lpstr>Диаграма за свършената и оставаща за свършване работа</vt:lpstr>
      <vt:lpstr>PowerPoint Presentation</vt:lpstr>
      <vt:lpstr>PowerPoint Presentation</vt:lpstr>
      <vt:lpstr>Трудности при разработването</vt:lpstr>
      <vt:lpstr>Програмни средства за реализацията</vt:lpstr>
      <vt:lpstr>Краен продукт и интерфейс на приложението</vt:lpstr>
      <vt:lpstr>Възможност за бъдеща разработка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Windows User</dc:creator>
  <cp:lastModifiedBy>Dany</cp:lastModifiedBy>
  <cp:revision>44</cp:revision>
  <dcterms:created xsi:type="dcterms:W3CDTF">2018-04-19T14:55:23Z</dcterms:created>
  <dcterms:modified xsi:type="dcterms:W3CDTF">2018-05-02T00:01:24Z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
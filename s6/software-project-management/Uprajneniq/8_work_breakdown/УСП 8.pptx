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43808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8618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9821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12706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5688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3755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9584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5787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540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46063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337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08156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7792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8491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12764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3059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AAB5D-A362-4E2B-A153-A8708C7318CE}" type="datetimeFigureOut">
              <a:rPr lang="bg-BG" smtClean="0"/>
              <a:t>31.3.2020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B1E6434-7BB0-4FD1-AB6C-56E8D0B4AB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4484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8487" y="1676401"/>
            <a:ext cx="8743804" cy="2574508"/>
          </a:xfrm>
        </p:spPr>
        <p:txBody>
          <a:bodyPr>
            <a:normAutofit/>
          </a:bodyPr>
          <a:lstStyle/>
          <a:p>
            <a:pPr algn="ctr"/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Проектен план, разбиване на работата в отделни задачи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89818" y="5944025"/>
            <a:ext cx="3602182" cy="913975"/>
          </a:xfrm>
        </p:spPr>
        <p:txBody>
          <a:bodyPr>
            <a:normAutofit fontScale="92500"/>
          </a:bodyPr>
          <a:lstStyle/>
          <a:p>
            <a:r>
              <a:rPr lang="bg-BG" sz="3000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bg-BG" sz="3000" i="1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с. Ренета Първанова</a:t>
            </a:r>
            <a:endParaRPr lang="bg-BG" sz="3000" i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79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430" y="396204"/>
            <a:ext cx="8915399" cy="864559"/>
          </a:xfrm>
        </p:spPr>
        <p:txBody>
          <a:bodyPr/>
          <a:lstStyle/>
          <a:p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Цел на упражнението:</a:t>
            </a:r>
            <a:endParaRPr lang="bg-B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0691" y="1729037"/>
            <a:ext cx="9107775" cy="4297690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7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Запознаване на студентите с планирането на проекта и в частност разбиването на работата по проекта в отделни задачи;</a:t>
            </a:r>
          </a:p>
          <a:p>
            <a:pPr marL="457200" indent="-457200" algn="just">
              <a:lnSpc>
                <a:spcPct val="17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Запознаване с техниките за планиране на задачите;</a:t>
            </a:r>
          </a:p>
          <a:p>
            <a:pPr marL="457200" indent="-457200" algn="just">
              <a:lnSpc>
                <a:spcPct val="170000"/>
              </a:lnSpc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Запознаване с термините: жалонни точки, </a:t>
            </a:r>
            <a:r>
              <a:rPr lang="en-US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CPM</a:t>
            </a:r>
            <a:r>
              <a:rPr lang="bg-BG" sz="23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PERT</a:t>
            </a:r>
            <a:r>
              <a:rPr lang="bg-BG" sz="23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bg-BG" sz="2300" dirty="0" smtClean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70000"/>
              </a:lnSpc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Разглеждане на различни диаграми на Гант;</a:t>
            </a:r>
          </a:p>
          <a:p>
            <a:pPr marL="457200" indent="-457200" algn="just">
              <a:lnSpc>
                <a:spcPct val="17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Възможни въпроси за контролн</a:t>
            </a:r>
            <a:r>
              <a:rPr lang="en-US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bg-BG" sz="23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№2.</a:t>
            </a:r>
          </a:p>
          <a:p>
            <a:pPr algn="just">
              <a:lnSpc>
                <a:spcPct val="170000"/>
              </a:lnSpc>
            </a:pPr>
            <a:endParaRPr lang="bg-BG" sz="23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</a:pPr>
            <a:endParaRPr lang="bg-BG" sz="3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bg-BG" sz="3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45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2379" y="540983"/>
            <a:ext cx="8911687" cy="949036"/>
          </a:xfrm>
        </p:spPr>
        <p:txBody>
          <a:bodyPr>
            <a:normAutofit/>
          </a:bodyPr>
          <a:lstStyle/>
          <a:p>
            <a:r>
              <a:rPr lang="bg-BG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Проектен план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2647" y="2618509"/>
            <a:ext cx="5391150" cy="39814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302327" y="1337619"/>
            <a:ext cx="10487891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Планиране, това е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непрекъсната дейност от началната идея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проекта, до неговото предаване.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Плановете трябва редовно да се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преглеждат, когато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постъпи нова информация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Планирането е и дейността, която отнема най-много време.</a:t>
            </a:r>
            <a:endParaRPr lang="bg-BG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bg-BG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7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3383" y="624110"/>
            <a:ext cx="9731230" cy="775199"/>
          </a:xfrm>
        </p:spPr>
        <p:txBody>
          <a:bodyPr>
            <a:norm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Structure (WBS)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637" y="1634836"/>
            <a:ext cx="10326976" cy="4724399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WBS </a:t>
            </a: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 подход, който подсигурява, че няма да има задача, която да носи някаква завършеност на проекта, липсваща в плана и в изчисленията;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WBS е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графичен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подход, посредством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организира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проекта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йерархична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WBS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изобразява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фунционалност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Целта </a:t>
            </a: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идентифицира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малки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специфични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части от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работата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стартирайки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 и постепенно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обхващайки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всички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 да бъде успешно прилагането на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WBS </a:t>
            </a: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 важно нивото на детайлизация да е еднакво за всички задачи от дадено ниво. Не е редно първите две задачи да са описани на по-абстрактно ниво, а следващите да са изключително детайлни;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 всяка задача на различните нива се номерира, за по-добро разбиране. 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4707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8961" y="624110"/>
            <a:ext cx="8911687" cy="955308"/>
          </a:xfrm>
        </p:spPr>
        <p:txBody>
          <a:bodyPr>
            <a:norm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WBS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86888" y="1579418"/>
            <a:ext cx="7561263" cy="44100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58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6290" y="549547"/>
            <a:ext cx="4606977" cy="1882581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Понякога към стандартното прилагане на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WBS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изброяване и раздробяване на задачи, се правят допълнения като:</a:t>
            </a:r>
            <a:r>
              <a:rPr lang="bg-BG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bg-BG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bg-BG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bg-BG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399" y="165170"/>
            <a:ext cx="5880913" cy="669283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122219" y="2432128"/>
            <a:ext cx="4364182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bg-BG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496290" y="2321292"/>
            <a:ext cx="4544292" cy="42041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 на задачата;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 на задачата, която трябва да бъде изпълнена, преди да започне изпълнението на текущата задача;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на продължителността на задачата във времето;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на изискваните ресурси;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Име или идентификатор на група, на която задачата е възложена;</a:t>
            </a: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3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982" y="582546"/>
            <a:ext cx="9883629" cy="1121560"/>
          </a:xfrm>
        </p:spPr>
        <p:txBody>
          <a:bodyPr>
            <a:noAutofit/>
          </a:bodyPr>
          <a:lstStyle/>
          <a:p>
            <a:r>
              <a:rPr lang="bg-BG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Техники за изготвяне на списък със задачите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0738" y="1510143"/>
            <a:ext cx="5557261" cy="51538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 1: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manager-</a:t>
            </a:r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ът прави списък с най-главните задачи, които трябва да се извършат. Тези дейности се наричат дейности/задачи от първо ниво;</a:t>
            </a:r>
          </a:p>
          <a:p>
            <a:pPr algn="just"/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Всяка една от задачите от първо ниво се възлагат на отделни индивиди или цяла група. 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Всеки, на когото е възложена такава задача, разглежда задачата като проект и изготвя план за завършването и. Този план представлява множество от задачи от второ ниво, за постигане на конкретна задача от първо ниво;</a:t>
            </a:r>
          </a:p>
          <a:p>
            <a:pPr algn="just"/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Процесът продължава, докато задачите от най-ниско ниво са достатъчно разбираеми и ясни.</a:t>
            </a:r>
          </a:p>
          <a:p>
            <a:pPr marL="0" indent="0">
              <a:buNone/>
            </a:pPr>
            <a:endParaRPr lang="bg-B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58353" y="1510143"/>
            <a:ext cx="4272538" cy="5153891"/>
          </a:xfrm>
        </p:spPr>
        <p:txBody>
          <a:bodyPr>
            <a:normAutofit/>
          </a:bodyPr>
          <a:lstStyle/>
          <a:p>
            <a:pPr marL="0" lvl="0" indent="0" algn="just">
              <a:buClr>
                <a:srgbClr val="0F6FC6"/>
              </a:buClr>
              <a:buNone/>
            </a:pPr>
            <a:r>
              <a:rPr lang="bg-BG" sz="2000" dirty="0">
                <a:solidFill>
                  <a:prstClr val="black">
                    <a:lumMod val="75000"/>
                    <a:lumOff val="2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 </a:t>
            </a:r>
            <a:r>
              <a:rPr lang="bg-BG" sz="2000" dirty="0" smtClean="0">
                <a:solidFill>
                  <a:prstClr val="black">
                    <a:lumMod val="75000"/>
                    <a:lumOff val="2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</a:p>
          <a:p>
            <a:pPr lvl="0" algn="just">
              <a:buClr>
                <a:srgbClr val="0F6FC6"/>
              </a:buClr>
            </a:pPr>
            <a:r>
              <a:rPr lang="bg-B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Проектният екип се събират заедно и на всеки от екипа се дават няколко бележки;</a:t>
            </a:r>
          </a:p>
          <a:p>
            <a:pPr lvl="0" algn="just">
              <a:buClr>
                <a:srgbClr val="0F6FC6"/>
              </a:buClr>
            </a:pPr>
            <a:r>
              <a:rPr lang="bg-B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Дефинират се целите на проекта;</a:t>
            </a:r>
          </a:p>
          <a:p>
            <a:pPr lvl="0" algn="just">
              <a:buClr>
                <a:srgbClr val="0F6FC6"/>
              </a:buClr>
            </a:pPr>
            <a:r>
              <a:rPr lang="bg-B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Дефинират се задачите от първо ниво за проекта;</a:t>
            </a:r>
          </a:p>
          <a:p>
            <a:pPr lvl="0" algn="just">
              <a:buClr>
                <a:srgbClr val="0F6FC6"/>
              </a:buClr>
            </a:pPr>
            <a:r>
              <a:rPr lang="bg-B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Членовете на екипа записват на бележките всички задачи, които според тях са нужни, за да се завърши проекта;</a:t>
            </a:r>
          </a:p>
          <a:p>
            <a:pPr lvl="0" algn="just">
              <a:buClr>
                <a:srgbClr val="0F6FC6"/>
              </a:buClr>
            </a:pPr>
            <a:r>
              <a:rPr lang="bg-B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Бележките, написани от членовете на екипа, се закачат на стената и се подреждат;</a:t>
            </a:r>
            <a:endParaRPr lang="bg-BG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Clr>
                <a:srgbClr val="0F6FC6"/>
              </a:buClr>
              <a:buNone/>
            </a:pPr>
            <a:endParaRPr lang="bg-BG" sz="2000" dirty="0">
              <a:solidFill>
                <a:prstClr val="black">
                  <a:lumMod val="75000"/>
                  <a:lumOff val="2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bg-BG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399309" y="6124364"/>
            <a:ext cx="10501746" cy="7336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bg-BG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Предимството на вторият подход е, че дава възможност на целия екип за по-добро разбиране на работата по проекта. Подобрява и колективния дух.</a:t>
            </a:r>
            <a:endParaRPr lang="bg-BG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47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3538" y="0"/>
            <a:ext cx="9828211" cy="830617"/>
          </a:xfrm>
        </p:spPr>
        <p:txBody>
          <a:bodyPr>
            <a:normAutofit/>
          </a:bodyPr>
          <a:lstStyle/>
          <a:p>
            <a:r>
              <a:rPr lang="bg-BG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Представяне с граф, жалонни точки и 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CPM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8" y="830617"/>
            <a:ext cx="9915525" cy="22764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8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81994458"/>
              </p:ext>
            </p:extLst>
          </p:nvPr>
        </p:nvGraphicFramePr>
        <p:xfrm>
          <a:off x="1840055" y="3074227"/>
          <a:ext cx="9077328" cy="3704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3727">
                  <a:extLst>
                    <a:ext uri="{9D8B030D-6E8A-4147-A177-3AD203B41FA5}">
                      <a16:colId xmlns:a16="http://schemas.microsoft.com/office/drawing/2014/main" val="1334763701"/>
                    </a:ext>
                  </a:extLst>
                </a:gridCol>
                <a:gridCol w="4392404">
                  <a:extLst>
                    <a:ext uri="{9D8B030D-6E8A-4147-A177-3AD203B41FA5}">
                      <a16:colId xmlns:a16="http://schemas.microsoft.com/office/drawing/2014/main" val="3870756703"/>
                    </a:ext>
                  </a:extLst>
                </a:gridCol>
                <a:gridCol w="1275788">
                  <a:extLst>
                    <a:ext uri="{9D8B030D-6E8A-4147-A177-3AD203B41FA5}">
                      <a16:colId xmlns:a16="http://schemas.microsoft.com/office/drawing/2014/main" val="15698500"/>
                    </a:ext>
                  </a:extLst>
                </a:gridCol>
                <a:gridCol w="835990">
                  <a:extLst>
                    <a:ext uri="{9D8B030D-6E8A-4147-A177-3AD203B41FA5}">
                      <a16:colId xmlns:a16="http://schemas.microsoft.com/office/drawing/2014/main" val="4161782020"/>
                    </a:ext>
                  </a:extLst>
                </a:gridCol>
                <a:gridCol w="1579419">
                  <a:extLst>
                    <a:ext uri="{9D8B030D-6E8A-4147-A177-3AD203B41FA5}">
                      <a16:colId xmlns:a16="http://schemas.microsoft.com/office/drawing/2014/main" val="823249968"/>
                    </a:ext>
                  </a:extLst>
                </a:gridCol>
              </a:tblGrid>
              <a:tr h="2852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Предходна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Време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Брой работници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3513538751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Разрешение за започване</a:t>
                      </a: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проекта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1683389866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на изискванията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3681069049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Проектиране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4234829563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Препроектиране на съществуващи компоненти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2257570364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3.2.2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Проектиране на нови компоненти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544118260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3.2.3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Проектиране на интерфейси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3.2.2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595027150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 на програмен код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2108292296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 на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нов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програмен код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3.2.2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3201242780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3.3.2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Модифициране на съществуващ програмен код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3.2.1, 3.2.3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4182729697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</a:t>
                      </a: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еализация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2761812668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Разработване на план за интеграция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3.2.2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3116106100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3.4.2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unit тестване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3.3.1, 3.3.2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3576011962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3.4.3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Актуализиране на документацията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3.3.1, 3.3.2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1477518506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Интегриране и тестване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2557689624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Разрабоване на тестове за интеграция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2321760640"/>
                  </a:ext>
                </a:extLst>
              </a:tr>
              <a:tr h="2491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3.5.2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Изпълнение на тестовете за интеграция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3.4.2, 3.4.3, 3.5.1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1874469819"/>
                  </a:ext>
                </a:extLst>
              </a:tr>
              <a:tr h="1245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Изпълнение на тестове за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демонстрация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3.5.2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bg-BG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bg-BG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14" marR="46714" marT="0" marB="0"/>
                </a:tc>
                <a:extLst>
                  <a:ext uri="{0D108BD9-81ED-4DB2-BD59-A6C34878D82A}">
                    <a16:rowId xmlns:a16="http://schemas.microsoft.com/office/drawing/2014/main" val="1785951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446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546" y="624110"/>
            <a:ext cx="9842066" cy="719781"/>
          </a:xfrm>
        </p:spPr>
        <p:txBody>
          <a:bodyPr>
            <a:normAutofit/>
          </a:bodyPr>
          <a:lstStyle/>
          <a:p>
            <a:r>
              <a:rPr lang="bg-BG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Жалонни точки на поставената задача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7782" y="1579418"/>
            <a:ext cx="8922327" cy="5278582"/>
          </a:xfrm>
        </p:spPr>
        <p:txBody>
          <a:bodyPr>
            <a:noAutofit/>
          </a:bodyPr>
          <a:lstStyle/>
          <a:p>
            <a:pPr algn="just"/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1. 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Стартиране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на проекта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bg-BG" sz="17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algn="just"/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2. 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Изискванията са анализирани;</a:t>
            </a:r>
            <a:endParaRPr lang="bg-BG" sz="17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algn="just"/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3. 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Н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овите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компоненти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са проектирани;</a:t>
            </a:r>
            <a:endParaRPr lang="bg-BG" sz="17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algn="just"/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4. 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С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ъществуващите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компоненти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bg-BG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и</a:t>
            </a:r>
            <a:r>
              <a:rPr lang="bg-BG" sz="1700" dirty="0" smtClean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bg-BG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Интерфейсите</a:t>
            </a:r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към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новите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компоненти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са проектирани</a:t>
            </a:r>
            <a:r>
              <a:rPr lang="bg-BG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pPr lvl="0" algn="just">
              <a:buClr>
                <a:srgbClr val="0F6FC6"/>
              </a:buClr>
            </a:pPr>
            <a:r>
              <a:rPr lang="bg-BG" sz="17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5. Н</a:t>
            </a:r>
            <a:r>
              <a:rPr lang="en-US" sz="17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овия</a:t>
            </a:r>
            <a:r>
              <a:rPr lang="bg-BG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т</a:t>
            </a:r>
            <a:r>
              <a:rPr lang="en-US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програмен код</a:t>
            </a:r>
            <a:r>
              <a:rPr lang="bg-BG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е реализиран</a:t>
            </a:r>
            <a:r>
              <a:rPr lang="en-US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bg-BG" sz="1700" dirty="0">
              <a:solidFill>
                <a:prstClr val="black">
                  <a:lumMod val="75000"/>
                  <a:lumOff val="25000"/>
                </a:prstClr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lvl="0" indent="0" algn="just">
              <a:buClr>
                <a:srgbClr val="0F6FC6"/>
              </a:buClr>
              <a:buNone/>
            </a:pPr>
            <a:r>
              <a:rPr lang="bg-BG" sz="17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	  С</a:t>
            </a:r>
            <a:r>
              <a:rPr lang="en-US" sz="17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ъществуващия</a:t>
            </a:r>
            <a:r>
              <a:rPr lang="bg-BG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т</a:t>
            </a:r>
            <a:r>
              <a:rPr lang="en-US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програмен код</a:t>
            </a:r>
            <a:r>
              <a:rPr lang="bg-BG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е модифициран</a:t>
            </a:r>
            <a:endParaRPr lang="bg-BG" sz="17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algn="just"/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6</a:t>
            </a:r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. 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И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нтеграция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та е планирана;</a:t>
            </a:r>
            <a:endParaRPr lang="bg-BG" sz="17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algn="just"/>
            <a:r>
              <a:rPr lang="bg-BG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7.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Unit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тестовете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са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завършени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pPr algn="just"/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Документацията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е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актуализирана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pPr algn="just"/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Готовност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за реализация на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тестове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за интеграция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bg-BG" sz="17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algn="just"/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8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. </a:t>
            </a:r>
            <a:r>
              <a:rPr lang="bg-BG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Т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естове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те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за интеграция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са реализирани;</a:t>
            </a:r>
            <a:endParaRPr lang="bg-BG" sz="17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algn="just"/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9</a:t>
            </a:r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. 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Т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естове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те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за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демонстрация</a:t>
            </a:r>
            <a:r>
              <a:rPr lang="bg-BG" sz="17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 са реализирани</a:t>
            </a:r>
            <a:r>
              <a:rPr lang="bg-BG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endParaRPr lang="bg-BG" sz="17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0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669" y="610256"/>
            <a:ext cx="8911687" cy="1280890"/>
          </a:xfrm>
        </p:spPr>
        <p:txBody>
          <a:bodyPr>
            <a:normAutofit/>
          </a:bodyPr>
          <a:lstStyle/>
          <a:p>
            <a:r>
              <a:rPr lang="bg-BG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Важни терминологии: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8072" y="1461654"/>
            <a:ext cx="9684327" cy="5396346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Жалонни точки </a:t>
            </a: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важни събития, съответстващи на завършени задачи. </a:t>
            </a: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Формиране на задача: Да се изготви проектен план;</a:t>
            </a:r>
          </a:p>
          <a:p>
            <a:pPr algn="just">
              <a:lnSpc>
                <a:spcPct val="160000"/>
              </a:lnSpc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Формиране на жалонна точка: Изготвен е проектен план;</a:t>
            </a:r>
          </a:p>
          <a:p>
            <a:pPr algn="just">
              <a:lnSpc>
                <a:spcPct val="160000"/>
              </a:lnSpc>
            </a:pPr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Граф</a:t>
            </a: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включва в себе си информацята за задачите и жалоните точки. От него може да се види последователността на задачите. Той е ацикличен насочен граф.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Critical Path Method (CPM)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чрез сумиране на времето за задачите се определя дължината на всички пътища в графа. Пътят с най-голяма продължителност се нарича „критичен път“. Всяко забавяне по планираните продължителности на задачите от критичния път, води до забавяне в общата продължителност на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305850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5" y="624110"/>
            <a:ext cx="9814357" cy="1280890"/>
          </a:xfrm>
        </p:spPr>
        <p:txBody>
          <a:bodyPr>
            <a:noAutofit/>
          </a:bodyPr>
          <a:lstStyle/>
          <a:p>
            <a:pPr algn="just"/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PERT – Program evaluation and review technique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78182" y="2133600"/>
                <a:ext cx="9426430" cy="47244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bg-BG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Подход за оценка на продължителността на дадена задача. Състои се в изчисляването на </a:t>
                </a:r>
                <a:r>
                  <a:rPr lang="bg-BG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Средната продължителност на задачата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𝐴𝑣𝑔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+4.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bg-BG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</a:t>
                </a:r>
                <a:r>
                  <a:rPr lang="bg-BG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ъдето:</a:t>
                </a:r>
              </a:p>
              <a:p>
                <a:pPr marL="0" indent="0" algn="just">
                  <a:buNone/>
                </a:pPr>
                <a:r>
                  <a:rPr lang="bg-BG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 – оптимистична оценка (най-кратката продължителност);</a:t>
                </a:r>
              </a:p>
              <a:p>
                <a:pPr marL="0" indent="0" algn="just">
                  <a:buNone/>
                </a:pP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– </a:t>
                </a:r>
                <a:r>
                  <a:rPr lang="bg-BG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песимистична оценка (най-дългата продължителност);</a:t>
                </a:r>
              </a:p>
              <a:p>
                <a:pPr marL="0" indent="0" algn="just">
                  <a:buNone/>
                </a:pP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– </a:t>
                </a:r>
                <a:r>
                  <a:rPr lang="bg-BG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най-вероятната продължителност;</a:t>
                </a:r>
              </a:p>
              <a:p>
                <a:pPr marL="0" indent="0" algn="just">
                  <a:buNone/>
                </a:pPr>
                <a:r>
                  <a:rPr lang="bg-BG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bg-BG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Стандартно отклонение за времето </a:t>
                </a:r>
                <a:r>
                  <a:rPr lang="bg-BG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до колко би трябвало да варира продължителността на изпълнението на задачата от средната продължителност: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bg-B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bg-BG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bg-BG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8182" y="2133600"/>
                <a:ext cx="9426430" cy="4724400"/>
              </a:xfrm>
              <a:blipFill>
                <a:blip r:embed="rId2"/>
                <a:stretch>
                  <a:fillRect l="-712" t="-645" r="-64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61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7345" y="527128"/>
            <a:ext cx="8911687" cy="1280890"/>
          </a:xfrm>
        </p:spPr>
        <p:txBody>
          <a:bodyPr>
            <a:normAutofit/>
          </a:bodyPr>
          <a:lstStyle/>
          <a:p>
            <a:r>
              <a:rPr lang="bg-BG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7345" y="1537854"/>
            <a:ext cx="9357158" cy="4475018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</a:pPr>
            <a:r>
              <a:rPr lang="bg-BG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По-долу са представени оценките за продължителността на работата (в дни) по отношение на малък проект:</a:t>
            </a:r>
          </a:p>
          <a:p>
            <a:pPr algn="just">
              <a:lnSpc>
                <a:spcPct val="115000"/>
              </a:lnSpc>
            </a:pPr>
            <a:endParaRPr lang="bg-BG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bg-BG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bg-BG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bg-BG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bg-BG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bg-BG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ru-RU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Каква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средната оценка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продължителността на задача А</a:t>
            </a:r>
            <a:r>
              <a:rPr lang="ru-RU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стандартното отклонение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продължителността на работа на задача А?</a:t>
            </a:r>
          </a:p>
          <a:p>
            <a:pPr marL="0" indent="0" algn="just">
              <a:lnSpc>
                <a:spcPct val="115000"/>
              </a:lnSpc>
              <a:buNone/>
            </a:pPr>
            <a:endParaRPr lang="bg-BG" b="1" dirty="0" smtClean="0"/>
          </a:p>
          <a:p>
            <a:pPr marL="0" indent="0" algn="just">
              <a:lnSpc>
                <a:spcPct val="115000"/>
              </a:lnSpc>
              <a:buNone/>
            </a:pPr>
            <a:endParaRPr lang="bg-BG" dirty="0"/>
          </a:p>
          <a:p>
            <a:pPr marL="0" indent="0" algn="just">
              <a:lnSpc>
                <a:spcPct val="115000"/>
              </a:lnSpc>
              <a:buNone/>
            </a:pPr>
            <a:endParaRPr lang="bg-BG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bg-B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695128"/>
              </p:ext>
            </p:extLst>
          </p:nvPr>
        </p:nvGraphicFramePr>
        <p:xfrm>
          <a:off x="3936567" y="2409048"/>
          <a:ext cx="5860472" cy="2256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8504">
                  <a:extLst>
                    <a:ext uri="{9D8B030D-6E8A-4147-A177-3AD203B41FA5}">
                      <a16:colId xmlns:a16="http://schemas.microsoft.com/office/drawing/2014/main" val="2572851317"/>
                    </a:ext>
                  </a:extLst>
                </a:gridCol>
                <a:gridCol w="1468580">
                  <a:extLst>
                    <a:ext uri="{9D8B030D-6E8A-4147-A177-3AD203B41FA5}">
                      <a16:colId xmlns:a16="http://schemas.microsoft.com/office/drawing/2014/main" val="3092060371"/>
                    </a:ext>
                  </a:extLst>
                </a:gridCol>
                <a:gridCol w="1594049">
                  <a:extLst>
                    <a:ext uri="{9D8B030D-6E8A-4147-A177-3AD203B41FA5}">
                      <a16:colId xmlns:a16="http://schemas.microsoft.com/office/drawing/2014/main" val="844497289"/>
                    </a:ext>
                  </a:extLst>
                </a:gridCol>
                <a:gridCol w="1649339">
                  <a:extLst>
                    <a:ext uri="{9D8B030D-6E8A-4147-A177-3AD203B41FA5}">
                      <a16:colId xmlns:a16="http://schemas.microsoft.com/office/drawing/2014/main" val="2772131561"/>
                    </a:ext>
                  </a:extLst>
                </a:gridCol>
              </a:tblGrid>
              <a:tr h="6795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Задача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Оптимистично време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Песимистично време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Най-вероятно време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5474632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0563736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3711225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815509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4354885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2277437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bg-BG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bg-BG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2963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05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1" y="374727"/>
            <a:ext cx="9911339" cy="983018"/>
          </a:xfrm>
        </p:spPr>
        <p:txBody>
          <a:bodyPr>
            <a:normAutofit/>
          </a:bodyPr>
          <a:lstStyle/>
          <a:p>
            <a:r>
              <a:rPr lang="bg-BG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Диаграми на Гант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655" y="1357745"/>
            <a:ext cx="10654145" cy="530629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Диаграмите на Гант могат да се използват за визуализиране на изпълнението на задачи или за визуализиране на използването на ресурси.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Дейностите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Гант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наредени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хоризонтално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за всяка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дейност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отделен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един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(задача),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всяка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вертикална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линия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момент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времето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сяка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правоъгълник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чиято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пропорционална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времетраенето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Защрихованите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критичнич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подредени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времевата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Некритичните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най-ранния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 старт и край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разширение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показващо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най-късния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край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според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времето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Едно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най-важните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предимства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Гант 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тяхното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опростено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представяне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13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0413" y="116020"/>
            <a:ext cx="9966756" cy="1280890"/>
          </a:xfrm>
        </p:spPr>
        <p:txBody>
          <a:bodyPr>
            <a:normAutofit/>
          </a:bodyPr>
          <a:lstStyle/>
          <a:p>
            <a:r>
              <a:rPr lang="bg-BG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Видове: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9078" y="1072844"/>
            <a:ext cx="5394250" cy="540327"/>
          </a:xfrm>
        </p:spPr>
        <p:txBody>
          <a:bodyPr/>
          <a:lstStyle/>
          <a:p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Опростена диаграма на Гант</a:t>
            </a:r>
            <a:endParaRPr lang="bg-B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51641" y="1043953"/>
            <a:ext cx="5098472" cy="569218"/>
          </a:xfrm>
        </p:spPr>
        <p:txBody>
          <a:bodyPr/>
          <a:lstStyle/>
          <a:p>
            <a:pPr algn="just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Диаграма на Гант с брой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участници</a:t>
            </a:r>
            <a:endParaRPr lang="bg-B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8698" y="1863432"/>
            <a:ext cx="5935011" cy="42481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Content Placeholder 7"/>
          <p:cNvPicPr>
            <a:picLocks noGrp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08618" y="1863432"/>
            <a:ext cx="5384518" cy="42481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925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634" y="915056"/>
            <a:ext cx="8911687" cy="581235"/>
          </a:xfrm>
        </p:spPr>
        <p:txBody>
          <a:bodyPr>
            <a:normAutofit/>
          </a:bodyPr>
          <a:lstStyle/>
          <a:p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Диаграма на Гант със свързаност между задачите</a:t>
            </a:r>
            <a:endParaRPr lang="bg-BG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0457" y="1759528"/>
            <a:ext cx="6267450" cy="40671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1221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315" y="407134"/>
            <a:ext cx="9722307" cy="879225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EST</a:t>
            </a:r>
            <a:r>
              <a:rPr lang="bg-BG" sz="4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4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EFT, LST и LFT</a:t>
            </a:r>
            <a:endParaRPr lang="bg-B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247255" y="1908875"/>
            <a:ext cx="9164367" cy="4569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EST (Earliest Start Time) -  </a:t>
            </a:r>
            <a:r>
              <a:rPr kumimoji="0" lang="bg-BG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най ранния момент когато дадена задача може да бъде започната. 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bg-BG" sz="1800" b="0" i="0" u="none" strike="noStrike" kern="120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EFT (Earliest Finish Time) – </a:t>
            </a:r>
            <a:r>
              <a:rPr kumimoji="0" lang="bg-BG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най-ранното време на приключване на задача. То е равно на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EST + </a:t>
            </a:r>
            <a:r>
              <a:rPr kumimoji="0" lang="bg-BG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времето за изпълнение на задачата.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bg-BG" sz="1800" b="0" i="0" u="none" strike="noStrike" kern="120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LST (Latest Start Time) – </a:t>
            </a:r>
            <a:r>
              <a:rPr kumimoji="0" lang="bg-BG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най-късното време когато дадена задача може да бъде започната без да се забави края на проекта. 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bg-BG" sz="1800" b="0" i="0" u="none" strike="noStrike" kern="120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LFT (Latest Finish Time) – </a:t>
            </a:r>
            <a:r>
              <a:rPr kumimoji="0" lang="bg-BG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най-късното време когато задача може да се завърши без да се забавя завършването на проекта.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LST </a:t>
            </a:r>
            <a:r>
              <a:rPr kumimoji="0" lang="bg-BG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за всяка задача е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LST </a:t>
            </a:r>
            <a:r>
              <a:rPr kumimoji="0" lang="bg-BG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 продължителността на задачата.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9A57C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9A57C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98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390" y="183455"/>
            <a:ext cx="10497221" cy="1468800"/>
          </a:xfrm>
        </p:spPr>
        <p:txBody>
          <a:bodyPr>
            <a:normAutofit/>
          </a:bodyPr>
          <a:lstStyle/>
          <a:p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 Да 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се изчисли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EST (Earliest Start Time) 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LST (Latest Start Time)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на проекта. </a:t>
            </a:r>
            <a:endParaRPr lang="bg-B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02" y="2430088"/>
            <a:ext cx="9926435" cy="227679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357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36190"/>
            <a:ext cx="12192000" cy="4021810"/>
          </a:xfrm>
        </p:spPr>
        <p:txBody>
          <a:bodyPr>
            <a:normAutofit/>
          </a:bodyPr>
          <a:lstStyle/>
          <a:p>
            <a:pPr algn="ctr"/>
            <a:r>
              <a:rPr lang="bg-BG" sz="50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за вниманието!</a:t>
            </a:r>
            <a:endParaRPr lang="bg-BG" sz="5000" b="1" i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3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1152</TotalTime>
  <Words>1342</Words>
  <Application>Microsoft Office PowerPoint</Application>
  <PresentationFormat>Widescreen</PresentationFormat>
  <Paragraphs>219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Century Gothic</vt:lpstr>
      <vt:lpstr>Consolas</vt:lpstr>
      <vt:lpstr>Times New Roman</vt:lpstr>
      <vt:lpstr>Wingdings</vt:lpstr>
      <vt:lpstr>Wingdings 3</vt:lpstr>
      <vt:lpstr>Wisp</vt:lpstr>
      <vt:lpstr>Проектен план, разбиване на работата в отделни задачи</vt:lpstr>
      <vt:lpstr>Цел на упражнението:</vt:lpstr>
      <vt:lpstr>Проектен план</vt:lpstr>
      <vt:lpstr>Work Breakdown Structure (WBS)</vt:lpstr>
      <vt:lpstr>WBS</vt:lpstr>
      <vt:lpstr>Понякога към стандартното прилагане на WBS с изброяване и раздробяване на задачи, се правят допълнения като:   </vt:lpstr>
      <vt:lpstr>Техники за изготвяне на списък със задачите</vt:lpstr>
      <vt:lpstr>Представяне с граф, жалонни точки и CPM</vt:lpstr>
      <vt:lpstr>Жалонни точки на поставената задача</vt:lpstr>
      <vt:lpstr>Важни терминологии:</vt:lpstr>
      <vt:lpstr>PERT – Program evaluation and review technique</vt:lpstr>
      <vt:lpstr>Пример:</vt:lpstr>
      <vt:lpstr>Диаграми на Гант</vt:lpstr>
      <vt:lpstr>Видове:</vt:lpstr>
      <vt:lpstr>Диаграма на Гант със свързаност между задачите</vt:lpstr>
      <vt:lpstr>EST, EFT, LST и LFT</vt:lpstr>
      <vt:lpstr>Задача: Да се изчисли EST (Earliest Start Time) и LST (Latest Start Time) на проекта. 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84</cp:revision>
  <dcterms:created xsi:type="dcterms:W3CDTF">2020-03-28T09:09:37Z</dcterms:created>
  <dcterms:modified xsi:type="dcterms:W3CDTF">2020-03-31T11:59:47Z</dcterms:modified>
</cp:coreProperties>
</file>
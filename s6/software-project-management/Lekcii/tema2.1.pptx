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68" r:id="rId4"/>
    <p:sldId id="259" r:id="rId5"/>
    <p:sldId id="260" r:id="rId6"/>
    <p:sldId id="261" r:id="rId7"/>
    <p:sldId id="269"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5F5F"/>
    <a:srgbClr val="666699"/>
    <a:srgbClr val="CC0000"/>
    <a:srgbClr val="00CC00"/>
    <a:srgbClr val="0066FF"/>
    <a:srgbClr val="FF0066"/>
    <a:srgbClr val="FF7316"/>
    <a:srgbClr val="2BB0B7"/>
    <a:srgbClr val="3DD7C1"/>
    <a:srgbClr val="0F8C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76230" autoAdjust="0"/>
  </p:normalViewPr>
  <p:slideViewPr>
    <p:cSldViewPr snapToGrid="0">
      <p:cViewPr varScale="1">
        <p:scale>
          <a:sx n="125" d="100"/>
          <a:sy n="125" d="100"/>
        </p:scale>
        <p:origin x="1512" y="9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CE7BE3-2841-483D-898B-3B5C39489B19}" type="datetimeFigureOut">
              <a:rPr lang="en-US" smtClean="0"/>
              <a:t>2/27/2020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090665-C37D-4270-9754-70274F8DCC49}" type="slidenum">
              <a:rPr lang="en-US" smtClean="0"/>
              <a:t>‹#›</a:t>
            </a:fld>
            <a:endParaRPr lang="en-US"/>
          </a:p>
        </p:txBody>
      </p:sp>
    </p:spTree>
    <p:extLst>
      <p:ext uri="{BB962C8B-B14F-4D97-AF65-F5344CB8AC3E}">
        <p14:creationId xmlns:p14="http://schemas.microsoft.com/office/powerpoint/2010/main" val="211149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smtClean="0">
                <a:solidFill>
                  <a:schemeClr val="bg1"/>
                </a:solidFill>
                <a:latin typeface="Segoe UI Light" panose="020B0502040204020203" pitchFamily="34" charset="0"/>
                <a:cs typeface="Segoe UI Light" panose="020B0502040204020203" pitchFamily="34" charset="0"/>
              </a:rPr>
              <a:t>*</a:t>
            </a:r>
            <a:r>
              <a:rPr lang="bg-BG" sz="1200" i="1" dirty="0" smtClean="0">
                <a:solidFill>
                  <a:schemeClr val="bg1"/>
                </a:solidFill>
                <a:latin typeface="Segoe UI Light" panose="020B0502040204020203" pitchFamily="34" charset="0"/>
                <a:cs typeface="Segoe UI Light" panose="020B0502040204020203" pitchFamily="34" charset="0"/>
              </a:rPr>
              <a:t>представяне кои сме</a:t>
            </a:r>
            <a:r>
              <a:rPr lang="en-US" sz="1200" i="1" dirty="0" smtClean="0">
                <a:solidFill>
                  <a:schemeClr val="bg1"/>
                </a:solidFill>
                <a:latin typeface="Segoe UI Light" panose="020B0502040204020203" pitchFamily="34" charset="0"/>
                <a:cs typeface="Segoe UI Light" panose="020B0502040204020203" pitchFamily="34" charset="0"/>
              </a:rPr>
              <a:t>*</a:t>
            </a:r>
            <a:endParaRPr lang="bg-BG" sz="1200" i="1" dirty="0" smtClean="0">
              <a:solidFill>
                <a:schemeClr val="bg1"/>
              </a:solidFill>
              <a:latin typeface="Segoe UI Light" panose="020B0502040204020203" pitchFamily="34" charset="0"/>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i="1" dirty="0" smtClean="0">
              <a:solidFill>
                <a:schemeClr val="bg1"/>
              </a:solidFill>
              <a:latin typeface="Segoe UI Light" panose="020B0502040204020203" pitchFamily="34" charset="0"/>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bg-BG" sz="1200" i="1" dirty="0" smtClean="0">
                <a:solidFill>
                  <a:schemeClr val="bg1"/>
                </a:solidFill>
                <a:latin typeface="Segoe UI Light" panose="020B0502040204020203" pitchFamily="34" charset="0"/>
                <a:cs typeface="Segoe UI Light" panose="020B0502040204020203" pitchFamily="34" charset="0"/>
              </a:rPr>
              <a:t>- Днес</a:t>
            </a:r>
            <a:r>
              <a:rPr lang="bg-BG" sz="1200" i="1" baseline="0" dirty="0" smtClean="0">
                <a:solidFill>
                  <a:schemeClr val="bg1"/>
                </a:solidFill>
                <a:latin typeface="Segoe UI Light" panose="020B0502040204020203" pitchFamily="34" charset="0"/>
                <a:cs typeface="Segoe UI Light" panose="020B0502040204020203" pitchFamily="34" charset="0"/>
              </a:rPr>
              <a:t> ще си говорим за Тема 2 от предмета Управление на Софтуерните проекти, като ще разгледаме по-подробно какво представлява ИТ проект, каква структура може да има и характерни негови черти.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bg-BG" sz="1200" i="1" baseline="0" dirty="0" smtClean="0">
                <a:solidFill>
                  <a:schemeClr val="bg1"/>
                </a:solidFill>
                <a:latin typeface="Segoe UI Light" panose="020B0502040204020203" pitchFamily="34" charset="0"/>
                <a:cs typeface="Segoe UI Light" panose="020B0502040204020203" pitchFamily="34" charset="0"/>
              </a:rPr>
              <a:t>Също така ще разгледаме задачите, които си поставяме да изпълним по време на всяка фаза от неговото изпълнение.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bg-BG" sz="1200" i="1" baseline="0" dirty="0" smtClean="0">
                <a:solidFill>
                  <a:schemeClr val="bg1"/>
                </a:solidFill>
                <a:latin typeface="Segoe UI Light" panose="020B0502040204020203" pitchFamily="34" charset="0"/>
                <a:cs typeface="Segoe UI Light" panose="020B0502040204020203" pitchFamily="34" charset="0"/>
              </a:rPr>
              <a:t>Ще разгледаме различните фактори в проекта и как да осигурим ефективност при изпълнение, и също така някои функции на управление на ИТ проектите.</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bg-BG" sz="1200" i="1" baseline="0" dirty="0" smtClean="0">
                <a:solidFill>
                  <a:schemeClr val="bg1"/>
                </a:solidFill>
                <a:latin typeface="Segoe UI Light" panose="020B0502040204020203" pitchFamily="34" charset="0"/>
                <a:cs typeface="Segoe UI Light" panose="020B0502040204020203" pitchFamily="34" charset="0"/>
              </a:rPr>
              <a:t>Или на кратко – как да си планираме задачите за изпълнение, как ефективно да ги изпълним и как успешно можем да управляваме целия този процес.</a:t>
            </a:r>
            <a:endParaRPr lang="en-US" sz="1200" i="1" dirty="0">
              <a:solidFill>
                <a:schemeClr val="bg1"/>
              </a:solidFill>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fld id="{9F8AF1B2-2831-482F-BCBB-50CEF9ABED95}" type="slidenum">
              <a:rPr lang="en-US" smtClean="0"/>
              <a:t>1</a:t>
            </a:fld>
            <a:endParaRPr lang="en-US"/>
          </a:p>
        </p:txBody>
      </p:sp>
    </p:spTree>
    <p:extLst>
      <p:ext uri="{BB962C8B-B14F-4D97-AF65-F5344CB8AC3E}">
        <p14:creationId xmlns:p14="http://schemas.microsoft.com/office/powerpoint/2010/main" val="396991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ru-RU" sz="1200" kern="1200" dirty="0" smtClean="0">
                <a:solidFill>
                  <a:schemeClr val="tx1"/>
                </a:solidFill>
                <a:effectLst/>
                <a:latin typeface="+mn-lt"/>
                <a:ea typeface="+mn-ea"/>
                <a:cs typeface="+mn-cs"/>
              </a:rPr>
              <a:t>- Та какво</a:t>
            </a:r>
            <a:r>
              <a:rPr lang="en-US" sz="1200" kern="1200" dirty="0" smtClean="0">
                <a:solidFill>
                  <a:schemeClr val="tx1"/>
                </a:solidFill>
                <a:effectLst/>
                <a:latin typeface="+mn-lt"/>
                <a:ea typeface="+mn-ea"/>
                <a:cs typeface="+mn-cs"/>
              </a:rPr>
              <a:t> </a:t>
            </a:r>
            <a:r>
              <a:rPr lang="bg-BG" sz="1200" kern="1200" dirty="0" smtClean="0">
                <a:solidFill>
                  <a:schemeClr val="tx1"/>
                </a:solidFill>
                <a:effectLst/>
                <a:latin typeface="+mn-lt"/>
                <a:ea typeface="+mn-ea"/>
                <a:cs typeface="+mn-cs"/>
              </a:rPr>
              <a:t>точно</a:t>
            </a:r>
            <a:r>
              <a:rPr lang="ru-RU" sz="1200" kern="1200" dirty="0" smtClean="0">
                <a:solidFill>
                  <a:schemeClr val="tx1"/>
                </a:solidFill>
                <a:effectLst/>
                <a:latin typeface="+mn-lt"/>
                <a:ea typeface="+mn-ea"/>
                <a:cs typeface="+mn-cs"/>
              </a:rPr>
              <a:t> е </a:t>
            </a:r>
            <a:r>
              <a:rPr lang="en-US" sz="1200" kern="1200" dirty="0" smtClean="0">
                <a:solidFill>
                  <a:schemeClr val="tx1"/>
                </a:solidFill>
                <a:effectLst/>
                <a:latin typeface="+mn-lt"/>
                <a:ea typeface="+mn-ea"/>
                <a:cs typeface="+mn-cs"/>
              </a:rPr>
              <a:t>IT Project</a:t>
            </a:r>
            <a:r>
              <a:rPr lang="en-US" sz="1200" kern="1200" baseline="0" dirty="0" smtClean="0">
                <a:solidFill>
                  <a:schemeClr val="tx1"/>
                </a:solidFill>
                <a:effectLst/>
                <a:latin typeface="+mn-lt"/>
                <a:ea typeface="+mn-ea"/>
                <a:cs typeface="+mn-cs"/>
              </a:rPr>
              <a:t> Management?</a:t>
            </a:r>
            <a:endParaRPr lang="bg-BG" sz="1200" kern="1200" baseline="0" dirty="0" smtClean="0">
              <a:solidFill>
                <a:schemeClr val="tx1"/>
              </a:solidFill>
              <a:effectLst/>
              <a:latin typeface="+mn-lt"/>
              <a:ea typeface="+mn-ea"/>
              <a:cs typeface="+mn-cs"/>
            </a:endParaRPr>
          </a:p>
          <a:p>
            <a:pPr marL="171450" indent="-171450">
              <a:buFontTx/>
              <a:buChar char="-"/>
            </a:pPr>
            <a:r>
              <a:rPr lang="bg-BG" sz="1200" kern="1200" baseline="0" dirty="0" smtClean="0">
                <a:solidFill>
                  <a:schemeClr val="tx1"/>
                </a:solidFill>
                <a:effectLst/>
                <a:latin typeface="+mn-lt"/>
                <a:ea typeface="+mn-ea"/>
                <a:cs typeface="+mn-cs"/>
              </a:rPr>
              <a:t>За да можем да си отговорим на този въпрос е нужно да си зададем друг такъв – какво е управление на проекти?</a:t>
            </a:r>
          </a:p>
          <a:p>
            <a:pPr marL="171450" indent="-171450">
              <a:buFontTx/>
              <a:buChar char="-"/>
            </a:pPr>
            <a:r>
              <a:rPr lang="ru-RU" sz="1200" kern="1200" dirty="0" smtClean="0">
                <a:solidFill>
                  <a:schemeClr val="tx1"/>
                </a:solidFill>
                <a:effectLst/>
                <a:latin typeface="+mn-lt"/>
                <a:ea typeface="+mn-ea"/>
                <a:cs typeface="+mn-cs"/>
              </a:rPr>
              <a:t>Управление на проекти е науката за проектите. В нея главна роля играе един специфичен човек</a:t>
            </a:r>
            <a:r>
              <a:rPr lang="en-US" sz="1200" kern="1200" dirty="0" smtClean="0">
                <a:solidFill>
                  <a:schemeClr val="tx1"/>
                </a:solidFill>
                <a:effectLst/>
                <a:latin typeface="+mn-lt"/>
                <a:ea typeface="+mn-ea"/>
                <a:cs typeface="+mn-cs"/>
              </a:rPr>
              <a:t>(</a:t>
            </a:r>
            <a:r>
              <a:rPr lang="ru-RU" sz="1200" kern="1200" dirty="0" smtClean="0">
                <a:solidFill>
                  <a:schemeClr val="tx1"/>
                </a:solidFill>
                <a:effectLst/>
                <a:latin typeface="+mn-lt"/>
                <a:ea typeface="+mn-ea"/>
                <a:cs typeface="+mn-cs"/>
              </a:rPr>
              <a:t>Project Manage</a:t>
            </a:r>
            <a:r>
              <a:rPr lang="en-US" sz="1200" kern="1200" dirty="0" smtClean="0">
                <a:solidFill>
                  <a:schemeClr val="tx1"/>
                </a:solidFill>
                <a:effectLst/>
                <a:latin typeface="+mn-lt"/>
                <a:ea typeface="+mn-ea"/>
                <a:cs typeface="+mn-cs"/>
              </a:rPr>
              <a:t>r/</a:t>
            </a:r>
            <a:r>
              <a:rPr lang="ru-RU" sz="1200" kern="1200" dirty="0" smtClean="0">
                <a:solidFill>
                  <a:schemeClr val="tx1"/>
                </a:solidFill>
                <a:effectLst/>
                <a:latin typeface="+mn-lt"/>
                <a:ea typeface="+mn-ea"/>
                <a:cs typeface="+mn-cs"/>
              </a:rPr>
              <a:t>мениждър на проекта). Според дефиниция, въведена със стандарта PMBOK (Project Management Body of Knowledge)</a:t>
            </a:r>
            <a:r>
              <a:rPr lang="en-US" sz="1200" kern="1200" dirty="0" smtClean="0">
                <a:solidFill>
                  <a:schemeClr val="tx1"/>
                </a:solidFill>
                <a:effectLst/>
                <a:latin typeface="+mn-lt"/>
                <a:ea typeface="+mn-ea"/>
                <a:cs typeface="+mn-cs"/>
              </a:rPr>
              <a:t>[</a:t>
            </a:r>
            <a:r>
              <a:rPr lang="bg-BG" sz="1200" kern="1200" dirty="0" smtClean="0">
                <a:solidFill>
                  <a:schemeClr val="tx1"/>
                </a:solidFill>
                <a:effectLst/>
                <a:latin typeface="+mn-lt"/>
                <a:ea typeface="+mn-ea"/>
                <a:cs typeface="+mn-cs"/>
              </a:rPr>
              <a:t>напишем</a:t>
            </a:r>
            <a:r>
              <a:rPr lang="bg-BG" sz="1200" kern="1200" baseline="0" dirty="0" smtClean="0">
                <a:solidFill>
                  <a:schemeClr val="tx1"/>
                </a:solidFill>
                <a:effectLst/>
                <a:latin typeface="+mn-lt"/>
                <a:ea typeface="+mn-ea"/>
                <a:cs typeface="+mn-cs"/>
              </a:rPr>
              <a:t> на дъската дефиницията, обясним връзката между </a:t>
            </a:r>
            <a:r>
              <a:rPr lang="en-US" sz="1200" kern="1200" baseline="0" dirty="0" smtClean="0">
                <a:solidFill>
                  <a:schemeClr val="tx1"/>
                </a:solidFill>
                <a:effectLst/>
                <a:latin typeface="+mn-lt"/>
                <a:ea typeface="+mn-ea"/>
                <a:cs typeface="+mn-cs"/>
              </a:rPr>
              <a:t>PM </a:t>
            </a:r>
            <a:r>
              <a:rPr lang="bg-BG" sz="1200" kern="1200" baseline="0" dirty="0" smtClean="0">
                <a:solidFill>
                  <a:schemeClr val="tx1"/>
                </a:solidFill>
                <a:effectLst/>
                <a:latin typeface="+mn-lt"/>
                <a:ea typeface="+mn-ea"/>
                <a:cs typeface="+mn-cs"/>
              </a:rPr>
              <a:t>и </a:t>
            </a:r>
            <a:r>
              <a:rPr lang="en-US" sz="1200" kern="1200" baseline="0" dirty="0" err="1" smtClean="0">
                <a:solidFill>
                  <a:schemeClr val="tx1"/>
                </a:solidFill>
                <a:effectLst/>
                <a:latin typeface="+mn-lt"/>
                <a:ea typeface="+mn-ea"/>
                <a:cs typeface="+mn-cs"/>
              </a:rPr>
              <a:t>BoK</a:t>
            </a:r>
            <a:r>
              <a:rPr lang="bg-BG" sz="1200" kern="1200" baseline="0" dirty="0" smtClean="0">
                <a:solidFill>
                  <a:schemeClr val="tx1"/>
                </a:solidFill>
                <a:effectLst/>
                <a:latin typeface="+mn-lt"/>
                <a:ea typeface="+mn-ea"/>
                <a:cs typeface="+mn-cs"/>
              </a:rPr>
              <a:t> и как думите са свързани с човека</a:t>
            </a:r>
            <a:r>
              <a:rPr lang="en-US" sz="1200" kern="1200" dirty="0" smtClean="0">
                <a:solidFill>
                  <a:schemeClr val="tx1"/>
                </a:solidFill>
                <a:effectLst/>
                <a:latin typeface="+mn-lt"/>
                <a:ea typeface="+mn-ea"/>
                <a:cs typeface="+mn-cs"/>
              </a:rPr>
              <a:t>]</a:t>
            </a:r>
            <a:r>
              <a:rPr lang="ru-RU" sz="1200" kern="1200" dirty="0" smtClean="0">
                <a:solidFill>
                  <a:schemeClr val="tx1"/>
                </a:solidFill>
                <a:effectLst/>
                <a:latin typeface="+mn-lt"/>
                <a:ea typeface="+mn-ea"/>
                <a:cs typeface="+mn-cs"/>
              </a:rPr>
              <a:t>, управлението на проекти е прилагането на знания, умения, инструменти и техники върху проектните дейности, за да могат да бъдат постигнати целите на изискванията към проекта.</a:t>
            </a:r>
            <a:endParaRPr lang="en-US" sz="1200" kern="1200"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bg-BG" sz="1200" kern="1200" dirty="0" smtClean="0">
                <a:solidFill>
                  <a:schemeClr val="tx1"/>
                </a:solidFill>
                <a:effectLst/>
                <a:latin typeface="+mn-lt"/>
                <a:ea typeface="+mn-ea"/>
                <a:cs typeface="+mn-cs"/>
              </a:rPr>
              <a:t>Което</a:t>
            </a:r>
            <a:r>
              <a:rPr lang="bg-BG" sz="1200" kern="1200" baseline="0" dirty="0" smtClean="0">
                <a:solidFill>
                  <a:schemeClr val="tx1"/>
                </a:solidFill>
                <a:effectLst/>
                <a:latin typeface="+mn-lt"/>
                <a:ea typeface="+mn-ea"/>
                <a:cs typeface="+mn-cs"/>
              </a:rPr>
              <a:t> следва, че какво е Управление на </a:t>
            </a:r>
            <a:r>
              <a:rPr lang="en-US" sz="1200" kern="1200" baseline="0" dirty="0" smtClean="0">
                <a:solidFill>
                  <a:schemeClr val="tx1"/>
                </a:solidFill>
                <a:effectLst/>
                <a:latin typeface="+mn-lt"/>
                <a:ea typeface="+mn-ea"/>
                <a:cs typeface="+mn-cs"/>
              </a:rPr>
              <a:t>IT </a:t>
            </a:r>
            <a:r>
              <a:rPr lang="bg-BG" sz="1200" kern="1200" baseline="0" dirty="0" smtClean="0">
                <a:solidFill>
                  <a:schemeClr val="tx1"/>
                </a:solidFill>
                <a:effectLst/>
                <a:latin typeface="+mn-lt"/>
                <a:ea typeface="+mn-ea"/>
                <a:cs typeface="+mn-cs"/>
              </a:rPr>
              <a:t>проект? </a:t>
            </a:r>
            <a:r>
              <a:rPr lang="bg-BG" sz="1200" kern="1200" dirty="0" smtClean="0">
                <a:solidFill>
                  <a:schemeClr val="tx1"/>
                </a:solidFill>
                <a:effectLst/>
                <a:latin typeface="+mn-lt"/>
                <a:ea typeface="+mn-ea"/>
                <a:cs typeface="+mn-cs"/>
              </a:rPr>
              <a:t>Това е самият процес на планиране, организиране и поемането на отговорността за постигане на специфичните цели на организацията.</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t>
            </a:r>
            <a:r>
              <a:rPr lang="bg-BG" sz="1200" kern="1200" dirty="0" smtClean="0">
                <a:solidFill>
                  <a:schemeClr val="tx1"/>
                </a:solidFill>
                <a:effectLst/>
                <a:latin typeface="+mn-lt"/>
                <a:ea typeface="+mn-ea"/>
                <a:cs typeface="+mn-cs"/>
              </a:rPr>
              <a:t>кратка</a:t>
            </a:r>
            <a:r>
              <a:rPr lang="bg-BG" sz="1200" kern="1200" baseline="0" dirty="0" smtClean="0">
                <a:solidFill>
                  <a:schemeClr val="tx1"/>
                </a:solidFill>
                <a:effectLst/>
                <a:latin typeface="+mn-lt"/>
                <a:ea typeface="+mn-ea"/>
                <a:cs typeface="+mn-cs"/>
              </a:rPr>
              <a:t> пауза</a:t>
            </a:r>
            <a:r>
              <a:rPr lang="en-US" sz="1200" kern="1200" dirty="0" smtClean="0">
                <a:solidFill>
                  <a:schemeClr val="tx1"/>
                </a:solidFill>
                <a:effectLst/>
                <a:latin typeface="+mn-lt"/>
                <a:ea typeface="+mn-ea"/>
                <a:cs typeface="+mn-cs"/>
              </a:rPr>
              <a:t>)</a:t>
            </a:r>
            <a:endParaRPr lang="bg-BG"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kern="1200" dirty="0" smtClean="0">
              <a:solidFill>
                <a:schemeClr val="tx1"/>
              </a:solidFill>
              <a:effectLst/>
              <a:latin typeface="+mn-lt"/>
              <a:ea typeface="+mn-ea"/>
              <a:cs typeface="+mn-cs"/>
            </a:endParaRPr>
          </a:p>
          <a:p>
            <a:pPr marL="0" indent="0">
              <a:buFontTx/>
              <a:buNone/>
            </a:pPr>
            <a:r>
              <a:rPr lang="ru-RU" sz="1200" kern="1200" dirty="0" smtClean="0">
                <a:solidFill>
                  <a:schemeClr val="tx1"/>
                </a:solidFill>
                <a:effectLst/>
                <a:latin typeface="+mn-lt"/>
                <a:ea typeface="+mn-ea"/>
                <a:cs typeface="+mn-cs"/>
              </a:rPr>
              <a:t>Управлението на ИТ проекти може да включва надзор на проекти за софтуерна разработка, хардуерни инсталации, настройки на корпоративни мрежи, облачни услуги и виртуализация, бизнес анализи и проекти за управление на данни, имплементиране на ИТ услуги и други.</a:t>
            </a:r>
          </a:p>
          <a:p>
            <a:pPr marL="0" indent="0">
              <a:buFontTx/>
              <a:buNone/>
            </a:pPr>
            <a:endParaRPr lang="ru-RU" sz="1200" kern="1200" dirty="0" smtClean="0">
              <a:solidFill>
                <a:schemeClr val="tx1"/>
              </a:solidFill>
              <a:effectLst/>
              <a:latin typeface="+mn-lt"/>
              <a:ea typeface="+mn-ea"/>
              <a:cs typeface="+mn-cs"/>
            </a:endParaRPr>
          </a:p>
          <a:p>
            <a:pPr marL="0" indent="0">
              <a:buFontTx/>
              <a:buNone/>
            </a:pPr>
            <a:r>
              <a:rPr lang="ru-RU" sz="1200" kern="1200" dirty="0" smtClean="0">
                <a:solidFill>
                  <a:schemeClr val="tx1"/>
                </a:solidFill>
                <a:effectLst/>
                <a:latin typeface="+mn-lt"/>
                <a:ea typeface="+mn-ea"/>
                <a:cs typeface="+mn-cs"/>
              </a:rPr>
              <a:t>Тъй като всеки проект е уникален, той може да има освен нормалните си рискови ситуации и препятствия, така и специални такива, които могат да имат негативно</a:t>
            </a:r>
            <a:r>
              <a:rPr lang="ru-RU" sz="1200" kern="1200" baseline="0" dirty="0" smtClean="0">
                <a:solidFill>
                  <a:schemeClr val="tx1"/>
                </a:solidFill>
                <a:effectLst/>
                <a:latin typeface="+mn-lt"/>
                <a:ea typeface="+mn-ea"/>
                <a:cs typeface="+mn-cs"/>
              </a:rPr>
              <a:t> влияние </a:t>
            </a:r>
            <a:r>
              <a:rPr lang="ru-RU" sz="1200" kern="1200" dirty="0" smtClean="0">
                <a:solidFill>
                  <a:schemeClr val="tx1"/>
                </a:solidFill>
                <a:effectLst/>
                <a:latin typeface="+mn-lt"/>
                <a:ea typeface="+mn-ea"/>
                <a:cs typeface="+mn-cs"/>
              </a:rPr>
              <a:t>в разработването или съпровождането на даден проект и дори да е причината той да се провали.</a:t>
            </a:r>
          </a:p>
          <a:p>
            <a:pPr marL="0" indent="0">
              <a:buFontTx/>
              <a:buNone/>
            </a:pPr>
            <a:endParaRPr lang="bg-BG" sz="1200" kern="1200" dirty="0" smtClean="0">
              <a:solidFill>
                <a:schemeClr val="tx1"/>
              </a:solidFill>
              <a:effectLst/>
              <a:latin typeface="+mn-lt"/>
              <a:ea typeface="+mn-ea"/>
              <a:cs typeface="+mn-cs"/>
            </a:endParaRPr>
          </a:p>
          <a:p>
            <a:pPr marL="0" indent="0">
              <a:buFontTx/>
              <a:buNone/>
            </a:pPr>
            <a:r>
              <a:rPr lang="ru-RU" sz="1200" kern="1200" dirty="0" smtClean="0">
                <a:solidFill>
                  <a:schemeClr val="tx1"/>
                </a:solidFill>
                <a:effectLst/>
                <a:latin typeface="+mn-lt"/>
                <a:ea typeface="+mn-ea"/>
                <a:cs typeface="+mn-cs"/>
              </a:rPr>
              <a:t>Те могат да включват например напредък в технологиите, които се използват по време на изработването на проекта (пр. Android годишен ъпдейт), промяна в инфраструктурата, което може да повлияе върху сигурността и управлението на данните, неизвестни зависимости между софтуер, хардуер и данни и т.н.</a:t>
            </a:r>
          </a:p>
          <a:p>
            <a:pPr marL="0" indent="0">
              <a:buFontTx/>
              <a:buNone/>
            </a:pPr>
            <a:endParaRPr lang="ru-RU" sz="1200" kern="1200" dirty="0" smtClean="0">
              <a:solidFill>
                <a:schemeClr val="tx1"/>
              </a:solidFill>
              <a:effectLst/>
              <a:latin typeface="+mn-lt"/>
              <a:ea typeface="+mn-ea"/>
              <a:cs typeface="+mn-cs"/>
            </a:endParaRPr>
          </a:p>
          <a:p>
            <a:pPr marL="0" indent="0">
              <a:buFontTx/>
              <a:buNone/>
            </a:pPr>
            <a:r>
              <a:rPr lang="ru-RU" sz="1200" kern="1200" dirty="0" smtClean="0">
                <a:solidFill>
                  <a:schemeClr val="tx1"/>
                </a:solidFill>
                <a:effectLst/>
                <a:latin typeface="+mn-lt"/>
                <a:ea typeface="+mn-ea"/>
                <a:cs typeface="+mn-cs"/>
              </a:rPr>
              <a:t>ИТ проектите също така могат да се подложат и на т.н. first-time, first-use penalty, което представлява риск, който компанията поема, когато прилага нова технология или подход за първи път. Тъй като технологията не е била преди това внедрена или използвана в организацията, вероятно е да настъпят усложнения, които не биха настъпили при работа с позната технология </a:t>
            </a:r>
            <a:r>
              <a:rPr lang="en-US" sz="1200" kern="1200" dirty="0" smtClean="0">
                <a:solidFill>
                  <a:schemeClr val="tx1"/>
                </a:solidFill>
                <a:effectLst/>
                <a:latin typeface="+mn-lt"/>
                <a:ea typeface="+mn-ea"/>
                <a:cs typeface="+mn-cs"/>
              </a:rPr>
              <a:t>(</a:t>
            </a:r>
            <a:r>
              <a:rPr lang="bg-BG" sz="1200" kern="1200" dirty="0" smtClean="0">
                <a:solidFill>
                  <a:schemeClr val="tx1"/>
                </a:solidFill>
                <a:effectLst/>
                <a:latin typeface="+mn-lt"/>
                <a:ea typeface="+mn-ea"/>
                <a:cs typeface="+mn-cs"/>
              </a:rPr>
              <a:t>може да се даде пример</a:t>
            </a:r>
            <a:r>
              <a:rPr lang="en-US" sz="1200" kern="1200" dirty="0" smtClean="0">
                <a:solidFill>
                  <a:schemeClr val="tx1"/>
                </a:solidFill>
                <a:effectLst/>
                <a:latin typeface="+mn-lt"/>
                <a:ea typeface="+mn-ea"/>
                <a:cs typeface="+mn-cs"/>
              </a:rPr>
              <a:t>)</a:t>
            </a:r>
            <a:r>
              <a:rPr lang="ru-RU" sz="1200" kern="1200" dirty="0" smtClean="0">
                <a:solidFill>
                  <a:schemeClr val="tx1"/>
                </a:solidFill>
                <a:effectLst/>
                <a:latin typeface="+mn-lt"/>
                <a:ea typeface="+mn-ea"/>
                <a:cs typeface="+mn-cs"/>
              </a:rPr>
              <a:t>.</a:t>
            </a:r>
          </a:p>
          <a:p>
            <a:pPr marL="0" indent="0">
              <a:buFontTx/>
              <a:buNone/>
            </a:pPr>
            <a:r>
              <a:rPr lang="en-US" sz="1200" kern="1200" dirty="0" smtClean="0">
                <a:solidFill>
                  <a:schemeClr val="tx1"/>
                </a:solidFill>
                <a:effectLst/>
                <a:latin typeface="+mn-lt"/>
                <a:ea typeface="+mn-ea"/>
                <a:cs typeface="+mn-cs"/>
              </a:rPr>
              <a:t>(</a:t>
            </a:r>
            <a:r>
              <a:rPr lang="bg-BG" sz="1200" kern="1200" dirty="0" smtClean="0">
                <a:solidFill>
                  <a:schemeClr val="tx1"/>
                </a:solidFill>
                <a:effectLst/>
                <a:latin typeface="+mn-lt"/>
                <a:ea typeface="+mn-ea"/>
                <a:cs typeface="+mn-cs"/>
              </a:rPr>
              <a:t>кратка пауза</a:t>
            </a:r>
            <a:r>
              <a:rPr lang="en-US" sz="1200" kern="1200" dirty="0" smtClean="0">
                <a:solidFill>
                  <a:schemeClr val="tx1"/>
                </a:solidFill>
                <a:effectLst/>
                <a:latin typeface="+mn-lt"/>
                <a:ea typeface="+mn-ea"/>
                <a:cs typeface="+mn-cs"/>
              </a:rPr>
              <a:t>)</a:t>
            </a:r>
            <a:endParaRPr lang="bg-BG" sz="1200" kern="1200" dirty="0" smtClean="0">
              <a:solidFill>
                <a:schemeClr val="tx1"/>
              </a:solidFill>
              <a:effectLst/>
              <a:latin typeface="+mn-lt"/>
              <a:ea typeface="+mn-ea"/>
              <a:cs typeface="+mn-cs"/>
            </a:endParaRPr>
          </a:p>
          <a:p>
            <a:pPr marL="0" indent="0">
              <a:buFontTx/>
              <a:buNone/>
            </a:pPr>
            <a:endParaRPr lang="bg-BG" sz="1200" kern="1200" dirty="0" smtClean="0">
              <a:solidFill>
                <a:schemeClr val="tx1"/>
              </a:solidFill>
              <a:effectLst/>
              <a:latin typeface="+mn-lt"/>
              <a:ea typeface="+mn-ea"/>
              <a:cs typeface="+mn-cs"/>
            </a:endParaRPr>
          </a:p>
          <a:p>
            <a:pPr marL="0" indent="0">
              <a:buFontTx/>
              <a:buNone/>
            </a:pPr>
            <a:r>
              <a:rPr lang="bg-BG" sz="1200" kern="1200" dirty="0" smtClean="0">
                <a:solidFill>
                  <a:schemeClr val="tx1"/>
                </a:solidFill>
                <a:effectLst/>
                <a:latin typeface="+mn-lt"/>
                <a:ea typeface="+mn-ea"/>
                <a:cs typeface="+mn-cs"/>
              </a:rPr>
              <a:t>Та</a:t>
            </a:r>
            <a:r>
              <a:rPr lang="bg-BG" sz="1200" kern="1200" baseline="0" dirty="0" smtClean="0">
                <a:solidFill>
                  <a:schemeClr val="tx1"/>
                </a:solidFill>
                <a:effectLst/>
                <a:latin typeface="+mn-lt"/>
                <a:ea typeface="+mn-ea"/>
                <a:cs typeface="+mn-cs"/>
              </a:rPr>
              <a:t> какво можем да направим ние, като мениджъри на даден ИТ проект, след като сега знаем, че всеки проект е уникален, има своите изисквания и последващи рискови, може да има и скрити плюсове и минуси?</a:t>
            </a:r>
          </a:p>
          <a:p>
            <a:pPr marL="0" indent="0">
              <a:buFontTx/>
              <a:buNone/>
            </a:pPr>
            <a:r>
              <a:rPr lang="en-US" sz="1200" kern="1200" baseline="0" dirty="0" smtClean="0">
                <a:solidFill>
                  <a:schemeClr val="tx1"/>
                </a:solidFill>
                <a:effectLst/>
                <a:latin typeface="+mn-lt"/>
                <a:ea typeface="+mn-ea"/>
                <a:cs typeface="+mn-cs"/>
              </a:rPr>
              <a:t>(</a:t>
            </a:r>
            <a:r>
              <a:rPr lang="bg-BG" sz="1200" kern="1200" baseline="0" dirty="0" smtClean="0">
                <a:solidFill>
                  <a:schemeClr val="tx1"/>
                </a:solidFill>
                <a:effectLst/>
                <a:latin typeface="+mn-lt"/>
                <a:ea typeface="+mn-ea"/>
                <a:cs typeface="+mn-cs"/>
              </a:rPr>
              <a:t>можем да питаме за идеи</a:t>
            </a:r>
            <a:r>
              <a:rPr lang="en-US" sz="1200" kern="1200" baseline="0" dirty="0" smtClean="0">
                <a:solidFill>
                  <a:schemeClr val="tx1"/>
                </a:solidFill>
                <a:effectLst/>
                <a:latin typeface="+mn-lt"/>
                <a:ea typeface="+mn-ea"/>
                <a:cs typeface="+mn-cs"/>
              </a:rPr>
              <a:t>)</a:t>
            </a:r>
            <a:endParaRPr lang="bg-BG" sz="1200" kern="1200" baseline="0" dirty="0" smtClean="0">
              <a:solidFill>
                <a:schemeClr val="tx1"/>
              </a:solidFill>
              <a:effectLst/>
              <a:latin typeface="+mn-lt"/>
              <a:ea typeface="+mn-ea"/>
              <a:cs typeface="+mn-cs"/>
            </a:endParaRPr>
          </a:p>
          <a:p>
            <a:pPr marL="0" indent="0">
              <a:buFontTx/>
              <a:buNone/>
            </a:pPr>
            <a:endParaRPr lang="bg-BG" sz="1200" kern="1200" baseline="0" dirty="0" smtClean="0">
              <a:solidFill>
                <a:schemeClr val="tx1"/>
              </a:solidFill>
              <a:effectLst/>
              <a:latin typeface="+mn-lt"/>
              <a:ea typeface="+mn-ea"/>
              <a:cs typeface="+mn-cs"/>
            </a:endParaRPr>
          </a:p>
          <a:p>
            <a:pPr marL="0" indent="0">
              <a:buFontTx/>
              <a:buNone/>
            </a:pPr>
            <a:r>
              <a:rPr lang="bg-BG" sz="1200" kern="1200" baseline="0" dirty="0" smtClean="0">
                <a:solidFill>
                  <a:schemeClr val="tx1"/>
                </a:solidFill>
                <a:effectLst/>
                <a:latin typeface="+mn-lt"/>
                <a:ea typeface="+mn-ea"/>
                <a:cs typeface="+mn-cs"/>
              </a:rPr>
              <a:t>Има много начини, които можем да използваме, за да реализираме успешен ИТ проект и ще ги разгледаме във втората част от темата следващия път, както и по-нататък в следващите лекции, но ще дадем един много известен пример, за да можете да добиете представа за успешно планиране и изпълнение на даден проект.</a:t>
            </a:r>
          </a:p>
        </p:txBody>
      </p:sp>
      <p:sp>
        <p:nvSpPr>
          <p:cNvPr id="4" name="Slide Number Placeholder 3"/>
          <p:cNvSpPr>
            <a:spLocks noGrp="1"/>
          </p:cNvSpPr>
          <p:nvPr>
            <p:ph type="sldNum" sz="quarter" idx="5"/>
          </p:nvPr>
        </p:nvSpPr>
        <p:spPr/>
        <p:txBody>
          <a:bodyPr/>
          <a:lstStyle/>
          <a:p>
            <a:fld id="{9F8AF1B2-2831-482F-BCBB-50CEF9ABED95}" type="slidenum">
              <a:rPr lang="en-US" smtClean="0"/>
              <a:t>2</a:t>
            </a:fld>
            <a:endParaRPr lang="en-US"/>
          </a:p>
        </p:txBody>
      </p:sp>
    </p:spTree>
    <p:extLst>
      <p:ext uri="{BB962C8B-B14F-4D97-AF65-F5344CB8AC3E}">
        <p14:creationId xmlns:p14="http://schemas.microsoft.com/office/powerpoint/2010/main" val="3795691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Project</a:t>
            </a:r>
            <a:r>
              <a:rPr lang="en-US" baseline="0" dirty="0" smtClean="0"/>
              <a:t> Manager-</a:t>
            </a:r>
            <a:r>
              <a:rPr lang="bg-BG" baseline="0" dirty="0" smtClean="0"/>
              <a:t>а се занимава главно с ръководенето на проектите, комуникацията с клиентите и успешното ръководене на проект. В повечето случаи е запознат с бранща, с който работи – може да е строителна фирма, фирма за недвижими имоти, ресторант, маркетинг и т.н.</a:t>
            </a:r>
          </a:p>
          <a:p>
            <a:endParaRPr lang="bg-BG" baseline="0" dirty="0" smtClean="0"/>
          </a:p>
          <a:p>
            <a:r>
              <a:rPr lang="bg-BG" baseline="0" dirty="0" smtClean="0"/>
              <a:t>Той е запознат поне малко за дадения бранш и може да подходи с традиционен модел съставянето на план, който в много от случаите е водопадния модел</a:t>
            </a:r>
            <a:r>
              <a:rPr lang="en-US" baseline="0" dirty="0" smtClean="0"/>
              <a:t>(</a:t>
            </a:r>
            <a:r>
              <a:rPr lang="en-US" baseline="0" dirty="0" err="1" smtClean="0"/>
              <a:t>Watefall</a:t>
            </a:r>
            <a:r>
              <a:rPr lang="en-US" baseline="0" dirty="0" smtClean="0"/>
              <a:t> Model). </a:t>
            </a:r>
            <a:r>
              <a:rPr lang="bg-BG" baseline="0" dirty="0" smtClean="0"/>
              <a:t>Също така в много от случаите, работата му е пряко свързана с физическа дейност, която ще се осъществява.</a:t>
            </a:r>
          </a:p>
          <a:p>
            <a:endParaRPr lang="bg-BG" baseline="0" dirty="0" smtClean="0"/>
          </a:p>
          <a:p>
            <a:r>
              <a:rPr lang="bg-BG" baseline="0" dirty="0" smtClean="0"/>
              <a:t>При ИТ мениджъра е малко по-различно – той отново ръководи проекта, комуникира с клиентите и се грижи всичко да мине добре, но тука има едни много съществени разлики – в много от случаите, </a:t>
            </a:r>
            <a:r>
              <a:rPr lang="en-US" baseline="0" dirty="0" smtClean="0"/>
              <a:t>IT Project </a:t>
            </a:r>
            <a:r>
              <a:rPr lang="bg-BG" baseline="0" dirty="0" smtClean="0"/>
              <a:t>мениджърите имат отлични познания в ИТ бранша, като в повечето случаи са сертифицирани. Също така те не могат да подходят на инициализирането на проекта и съставянето на план – в почти 99</a:t>
            </a:r>
            <a:r>
              <a:rPr lang="en-US" baseline="0" dirty="0" smtClean="0"/>
              <a:t>% </a:t>
            </a:r>
            <a:r>
              <a:rPr lang="bg-BG" baseline="0" dirty="0" smtClean="0"/>
              <a:t>от случаите изискванията и условията на проекта не са ясни и е нужно да се комуникира директно с клиента, и също така, за разлика от нормалния </a:t>
            </a:r>
            <a:r>
              <a:rPr lang="en-US" baseline="0" dirty="0" smtClean="0"/>
              <a:t>project manager</a:t>
            </a:r>
            <a:r>
              <a:rPr lang="bg-BG" baseline="0" dirty="0" smtClean="0"/>
              <a:t>, пряко с екипа от ИТ професионалисти за да се постигнат резултати. Затова традиционните методи на планиране и изпълнение в ИТ мениджмънта в повечето случаи са обречени на провал и затова се търсят т.н. </a:t>
            </a:r>
            <a:r>
              <a:rPr lang="en-US" baseline="0" dirty="0" smtClean="0"/>
              <a:t>Agile </a:t>
            </a:r>
            <a:r>
              <a:rPr lang="bg-BG" baseline="0" dirty="0" smtClean="0"/>
              <a:t>технологии за развитие на плана.</a:t>
            </a:r>
          </a:p>
          <a:p>
            <a:endParaRPr lang="bg-BG" baseline="0" dirty="0" smtClean="0"/>
          </a:p>
          <a:p>
            <a:r>
              <a:rPr lang="bg-BG" baseline="0" dirty="0" smtClean="0"/>
              <a:t>Те представляват комуникиране и разработване на проекта с прякото или непряко участие на клиента и планирането на проекта по време на неговото изпълнение. Нещо, за което ще си говорим малко по-подробно в следващите слайдове, където ще разгледаме за различните задачи и фази в един проект.</a:t>
            </a:r>
            <a:endParaRPr lang="en-US" dirty="0"/>
          </a:p>
        </p:txBody>
      </p:sp>
      <p:sp>
        <p:nvSpPr>
          <p:cNvPr id="4" name="Slide Number Placeholder 3"/>
          <p:cNvSpPr>
            <a:spLocks noGrp="1"/>
          </p:cNvSpPr>
          <p:nvPr>
            <p:ph type="sldNum" sz="quarter" idx="10"/>
          </p:nvPr>
        </p:nvSpPr>
        <p:spPr/>
        <p:txBody>
          <a:bodyPr/>
          <a:lstStyle/>
          <a:p>
            <a:fld id="{4A090665-C37D-4270-9754-70274F8DCC49}" type="slidenum">
              <a:rPr lang="en-US" smtClean="0"/>
              <a:t>3</a:t>
            </a:fld>
            <a:endParaRPr lang="en-US"/>
          </a:p>
        </p:txBody>
      </p:sp>
    </p:spTree>
    <p:extLst>
      <p:ext uri="{BB962C8B-B14F-4D97-AF65-F5344CB8AC3E}">
        <p14:creationId xmlns:p14="http://schemas.microsoft.com/office/powerpoint/2010/main" val="2969396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smtClean="0"/>
              <a:t>SWOT-анализът е широко популярна техника от стратегическото управление, разработена от Алберт Хъмфри. Анализът разглежда четири фактора, които идентифицират проекта, продукта или организацията, на които са приложени.</a:t>
            </a:r>
          </a:p>
          <a:p>
            <a:endParaRPr lang="ru-RU"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bg-BG" sz="1200" kern="1200" baseline="0" dirty="0" smtClean="0">
                <a:solidFill>
                  <a:schemeClr val="tx1"/>
                </a:solidFill>
                <a:effectLst/>
                <a:latin typeface="+mn-lt"/>
                <a:ea typeface="+mn-ea"/>
                <a:cs typeface="+mn-cs"/>
              </a:rPr>
              <a:t>Широко популярна техника за стратегическо управление на проектите е т.н. </a:t>
            </a:r>
            <a:r>
              <a:rPr lang="en-US" sz="1200" kern="1200" baseline="0" dirty="0" smtClean="0">
                <a:solidFill>
                  <a:schemeClr val="tx1"/>
                </a:solidFill>
                <a:effectLst/>
                <a:latin typeface="+mn-lt"/>
                <a:ea typeface="+mn-ea"/>
                <a:cs typeface="+mn-cs"/>
              </a:rPr>
              <a:t>SWOT </a:t>
            </a:r>
            <a:r>
              <a:rPr lang="bg-BG" sz="1200" kern="1200" baseline="0" dirty="0" smtClean="0">
                <a:solidFill>
                  <a:schemeClr val="tx1"/>
                </a:solidFill>
                <a:effectLst/>
                <a:latin typeface="+mn-lt"/>
                <a:ea typeface="+mn-ea"/>
                <a:cs typeface="+mn-cs"/>
              </a:rPr>
              <a:t>анализ. Той </a:t>
            </a:r>
            <a:r>
              <a:rPr lang="ru-RU" sz="1200" b="0" i="0" kern="1200" dirty="0" smtClean="0">
                <a:solidFill>
                  <a:schemeClr val="tx1"/>
                </a:solidFill>
                <a:effectLst/>
                <a:latin typeface="+mn-lt"/>
                <a:ea typeface="+mn-ea"/>
                <a:cs typeface="+mn-cs"/>
              </a:rPr>
              <a:t>разглежда четири фактора, които идентифицират проекта, продукта или организацията, на които са приложени.</a:t>
            </a:r>
            <a:endParaRPr lang="bg-BG" dirty="0" smtClean="0"/>
          </a:p>
          <a:p>
            <a:endParaRPr lang="bg-BG" dirty="0" smtClean="0"/>
          </a:p>
          <a:p>
            <a:r>
              <a:rPr lang="bg-BG" dirty="0" smtClean="0"/>
              <a:t>Вътрешна</a:t>
            </a:r>
            <a:r>
              <a:rPr lang="bg-BG" baseline="0" dirty="0" smtClean="0"/>
              <a:t> среда – Плюсове, Минуси</a:t>
            </a:r>
          </a:p>
          <a:p>
            <a:r>
              <a:rPr lang="bg-BG" baseline="0" dirty="0" smtClean="0"/>
              <a:t>Външна среда – Възможности, Опасности</a:t>
            </a:r>
          </a:p>
          <a:p>
            <a:endParaRPr lang="en-US" dirty="0" smtClean="0"/>
          </a:p>
          <a:p>
            <a:r>
              <a:rPr lang="ru-RU" sz="1200" b="0" i="1" kern="1200" dirty="0" smtClean="0">
                <a:solidFill>
                  <a:schemeClr val="tx1"/>
                </a:solidFill>
                <a:effectLst/>
                <a:latin typeface="+mn-lt"/>
                <a:ea typeface="+mn-ea"/>
                <a:cs typeface="+mn-cs"/>
              </a:rPr>
              <a:t>S-O-Стратегии</a:t>
            </a:r>
            <a:r>
              <a:rPr lang="ru-RU" sz="1200" b="0" i="0" kern="1200" dirty="0" smtClean="0">
                <a:solidFill>
                  <a:schemeClr val="tx1"/>
                </a:solidFill>
                <a:effectLst/>
                <a:latin typeface="+mn-lt"/>
                <a:ea typeface="+mn-ea"/>
                <a:cs typeface="+mn-cs"/>
              </a:rPr>
              <a:t>:</a:t>
            </a:r>
            <a:r>
              <a:rPr lang="ru-RU" dirty="0" smtClean="0"/>
              <a:t/>
            </a:r>
            <a:br>
              <a:rPr lang="ru-RU" dirty="0" smtClean="0"/>
            </a:br>
            <a:r>
              <a:rPr lang="ru-RU" sz="1200" b="0" i="0" kern="1200" dirty="0" smtClean="0">
                <a:solidFill>
                  <a:schemeClr val="tx1"/>
                </a:solidFill>
                <a:effectLst/>
                <a:latin typeface="+mn-lt"/>
                <a:ea typeface="+mn-ea"/>
                <a:cs typeface="+mn-cs"/>
              </a:rPr>
              <a:t>Използване на възможностите за реализация на плюсовете</a:t>
            </a:r>
          </a:p>
          <a:p>
            <a:r>
              <a:rPr lang="ru-RU" sz="1200" b="0" i="1" kern="1200" dirty="0" smtClean="0">
                <a:solidFill>
                  <a:schemeClr val="tx1"/>
                </a:solidFill>
                <a:effectLst/>
                <a:latin typeface="+mn-lt"/>
                <a:ea typeface="+mn-ea"/>
                <a:cs typeface="+mn-cs"/>
              </a:rPr>
              <a:t>S-T-Стратегии</a:t>
            </a:r>
            <a:r>
              <a:rPr lang="ru-RU" sz="1200" b="0" i="0" kern="1200" dirty="0" smtClean="0">
                <a:solidFill>
                  <a:schemeClr val="tx1"/>
                </a:solidFill>
                <a:effectLst/>
                <a:latin typeface="+mn-lt"/>
                <a:ea typeface="+mn-ea"/>
                <a:cs typeface="+mn-cs"/>
              </a:rPr>
              <a:t>:</a:t>
            </a:r>
            <a:r>
              <a:rPr lang="ru-RU" dirty="0" smtClean="0"/>
              <a:t/>
            </a:r>
            <a:br>
              <a:rPr lang="ru-RU" dirty="0" smtClean="0"/>
            </a:br>
            <a:r>
              <a:rPr lang="ru-RU" sz="1200" b="0" i="0" kern="1200" dirty="0" smtClean="0">
                <a:solidFill>
                  <a:schemeClr val="tx1"/>
                </a:solidFill>
                <a:effectLst/>
                <a:latin typeface="+mn-lt"/>
                <a:ea typeface="+mn-ea"/>
                <a:cs typeface="+mn-cs"/>
              </a:rPr>
              <a:t>Използване на плюсовете за елиминиране на опасностите</a:t>
            </a:r>
          </a:p>
          <a:p>
            <a:r>
              <a:rPr lang="ru-RU" sz="1200" b="0" i="1" kern="1200" dirty="0" smtClean="0">
                <a:solidFill>
                  <a:schemeClr val="tx1"/>
                </a:solidFill>
                <a:effectLst/>
                <a:latin typeface="+mn-lt"/>
                <a:ea typeface="+mn-ea"/>
                <a:cs typeface="+mn-cs"/>
              </a:rPr>
              <a:t>W-O-Стратегии</a:t>
            </a:r>
            <a:r>
              <a:rPr lang="ru-RU" sz="1200" b="0" i="0" kern="1200" dirty="0" smtClean="0">
                <a:solidFill>
                  <a:schemeClr val="tx1"/>
                </a:solidFill>
                <a:effectLst/>
                <a:latin typeface="+mn-lt"/>
                <a:ea typeface="+mn-ea"/>
                <a:cs typeface="+mn-cs"/>
              </a:rPr>
              <a:t>:</a:t>
            </a:r>
            <a:r>
              <a:rPr lang="ru-RU" dirty="0" smtClean="0"/>
              <a:t/>
            </a:r>
            <a:br>
              <a:rPr lang="ru-RU" dirty="0" smtClean="0"/>
            </a:br>
            <a:r>
              <a:rPr lang="ru-RU" sz="1200" b="0" i="0" kern="1200" dirty="0" smtClean="0">
                <a:solidFill>
                  <a:schemeClr val="tx1"/>
                </a:solidFill>
                <a:effectLst/>
                <a:latin typeface="+mn-lt"/>
                <a:ea typeface="+mn-ea"/>
                <a:cs typeface="+mn-cs"/>
              </a:rPr>
              <a:t>Унищожаване на слабости за създаване на нови възможности</a:t>
            </a:r>
          </a:p>
          <a:p>
            <a:r>
              <a:rPr lang="ru-RU" sz="1200" b="0" i="1" kern="1200" dirty="0" smtClean="0">
                <a:solidFill>
                  <a:schemeClr val="tx1"/>
                </a:solidFill>
                <a:effectLst/>
                <a:latin typeface="+mn-lt"/>
                <a:ea typeface="+mn-ea"/>
                <a:cs typeface="+mn-cs"/>
              </a:rPr>
              <a:t>W-T-Стратегии</a:t>
            </a:r>
            <a:r>
              <a:rPr lang="ru-RU" sz="1200" b="0" i="0" kern="1200" dirty="0" smtClean="0">
                <a:solidFill>
                  <a:schemeClr val="tx1"/>
                </a:solidFill>
                <a:effectLst/>
                <a:latin typeface="+mn-lt"/>
                <a:ea typeface="+mn-ea"/>
                <a:cs typeface="+mn-cs"/>
              </a:rPr>
              <a:t>:</a:t>
            </a:r>
            <a:r>
              <a:rPr lang="ru-RU" dirty="0" smtClean="0"/>
              <a:t/>
            </a:r>
            <a:br>
              <a:rPr lang="ru-RU" dirty="0" smtClean="0"/>
            </a:br>
            <a:r>
              <a:rPr lang="ru-RU" sz="1200" b="0" i="0" kern="1200" dirty="0" smtClean="0">
                <a:solidFill>
                  <a:schemeClr val="tx1"/>
                </a:solidFill>
                <a:effectLst/>
                <a:latin typeface="+mn-lt"/>
                <a:ea typeface="+mn-ea"/>
                <a:cs typeface="+mn-cs"/>
              </a:rPr>
              <a:t>Разработване на стратегии, които да не позволят слабостите да бъдат</a:t>
            </a:r>
            <a:r>
              <a:rPr lang="ru-RU" dirty="0" smtClean="0"/>
              <a:t/>
            </a:r>
            <a:br>
              <a:rPr lang="ru-RU" dirty="0" smtClean="0"/>
            </a:br>
            <a:r>
              <a:rPr lang="ru-RU" sz="1200" b="0" i="0" kern="1200" dirty="0" smtClean="0">
                <a:solidFill>
                  <a:schemeClr val="tx1"/>
                </a:solidFill>
                <a:effectLst/>
                <a:latin typeface="+mn-lt"/>
                <a:ea typeface="+mn-ea"/>
                <a:cs typeface="+mn-cs"/>
              </a:rPr>
              <a:t>активизирани от заплахи</a:t>
            </a:r>
            <a:endParaRPr lang="en-US" dirty="0"/>
          </a:p>
        </p:txBody>
      </p:sp>
      <p:sp>
        <p:nvSpPr>
          <p:cNvPr id="4" name="Slide Number Placeholder 3"/>
          <p:cNvSpPr>
            <a:spLocks noGrp="1"/>
          </p:cNvSpPr>
          <p:nvPr>
            <p:ph type="sldNum" sz="quarter" idx="10"/>
          </p:nvPr>
        </p:nvSpPr>
        <p:spPr/>
        <p:txBody>
          <a:bodyPr/>
          <a:lstStyle/>
          <a:p>
            <a:fld id="{4A090665-C37D-4270-9754-70274F8DCC49}" type="slidenum">
              <a:rPr lang="en-US" smtClean="0"/>
              <a:t>4</a:t>
            </a:fld>
            <a:endParaRPr lang="en-US"/>
          </a:p>
        </p:txBody>
      </p:sp>
    </p:spTree>
    <p:extLst>
      <p:ext uri="{BB962C8B-B14F-4D97-AF65-F5344CB8AC3E}">
        <p14:creationId xmlns:p14="http://schemas.microsoft.com/office/powerpoint/2010/main" val="1086547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smtClean="0"/>
              <a:t>Има пет процесни групи, които включват жизнения цикъл на управлението на проекти и са универсални за всички проекти.</a:t>
            </a:r>
          </a:p>
          <a:p>
            <a:r>
              <a:rPr lang="ru-RU" dirty="0" smtClean="0"/>
              <a:t>Въпреки, че всеки проект е уникален, тези пет задачи могат да се използват за всеки проект и да се представи неговият жизнен цикъл.</a:t>
            </a:r>
          </a:p>
          <a:p>
            <a:endParaRPr lang="ru-RU" dirty="0" smtClean="0"/>
          </a:p>
          <a:p>
            <a:r>
              <a:rPr lang="ru-RU" dirty="0" smtClean="0"/>
              <a:t>Инициализация - целта, потребността и проблемите са идентифицирани. Ръководителят на проекта е назначен и проектът на хартата се създава.</a:t>
            </a:r>
          </a:p>
          <a:p>
            <a:endParaRPr lang="ru-RU" dirty="0" smtClean="0"/>
          </a:p>
          <a:p>
            <a:r>
              <a:rPr lang="ru-RU" dirty="0" smtClean="0"/>
              <a:t>Планиране - ръководителят на проекта и екипа работят заедно, за да планират всички необходими стъпки за постигане на успешен проект. Процесите на планиране имат итеративен характер и се очаква, че често дори и по време на изпълнението по-нататък ще се случва да се върнем към планиране отново.</a:t>
            </a:r>
          </a:p>
          <a:p>
            <a:endParaRPr lang="ru-RU" dirty="0" smtClean="0"/>
          </a:p>
          <a:p>
            <a:r>
              <a:rPr lang="ru-RU" dirty="0" smtClean="0"/>
              <a:t>Изпълнение - след като проектът е създаден и са планирани задачките се започва да се изпълнява плана на проекта, за да може да се достигне до желаният резултат. Може и да се върне към планиране, ако е необходимо или се срещнат пречки по пътя на изпълнението.</a:t>
            </a:r>
          </a:p>
          <a:p>
            <a:endParaRPr lang="ru-RU" dirty="0" smtClean="0"/>
          </a:p>
          <a:p>
            <a:r>
              <a:rPr lang="ru-RU" dirty="0" smtClean="0"/>
              <a:t>Мониторинг и контрол - тъй като проектът се изпълнява от екип, ръководителят, който е отговорен за изпълнението му следи и контролира работата за време, разходи, обхват, качество, риск и други фактори на проекта. Следенето и контролът също е текущ процес, за да се гарантира, че проектът отговаря на своите цели и гарантира крайната цел на проекта.</a:t>
            </a:r>
          </a:p>
          <a:p>
            <a:endParaRPr lang="ru-RU" dirty="0" smtClean="0"/>
          </a:p>
          <a:p>
            <a:r>
              <a:rPr lang="ru-RU" dirty="0" smtClean="0"/>
              <a:t>Завършване (Закриване) - след като всяка фаза на проекта приключи се стига и до т.н. завършване на проекта. Това се случва след като цялата работа е приключила, одобрена и проектът е прехвърлен от екипа разработчици към отдела за съпровождане на проекта и към клиента.</a:t>
            </a:r>
            <a:endParaRPr lang="en-US" dirty="0"/>
          </a:p>
        </p:txBody>
      </p:sp>
      <p:sp>
        <p:nvSpPr>
          <p:cNvPr id="4" name="Slide Number Placeholder 3"/>
          <p:cNvSpPr>
            <a:spLocks noGrp="1"/>
          </p:cNvSpPr>
          <p:nvPr>
            <p:ph type="sldNum" sz="quarter" idx="10"/>
          </p:nvPr>
        </p:nvSpPr>
        <p:spPr/>
        <p:txBody>
          <a:bodyPr/>
          <a:lstStyle/>
          <a:p>
            <a:fld id="{A875EF33-A633-465B-8A7D-6E47CC51E93F}" type="slidenum">
              <a:rPr lang="en-US" smtClean="0"/>
              <a:t>5</a:t>
            </a:fld>
            <a:endParaRPr lang="en-US"/>
          </a:p>
        </p:txBody>
      </p:sp>
    </p:spTree>
    <p:extLst>
      <p:ext uri="{BB962C8B-B14F-4D97-AF65-F5344CB8AC3E}">
        <p14:creationId xmlns:p14="http://schemas.microsoft.com/office/powerpoint/2010/main" val="97484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bg-BG" dirty="0" smtClean="0"/>
              <a:t>Сега след като разгледахме за задачите и фазите за изпълнение на проекта, е време да обърнем внимание и на</a:t>
            </a:r>
            <a:r>
              <a:rPr lang="bg-BG" baseline="0" dirty="0" smtClean="0"/>
              <a:t> специфичните фактори в проекта и някои функции на управлението му.</a:t>
            </a:r>
          </a:p>
          <a:p>
            <a:endParaRPr lang="bg-BG" baseline="0" dirty="0" smtClean="0"/>
          </a:p>
          <a:p>
            <a:r>
              <a:rPr lang="ru-RU" dirty="0" smtClean="0"/>
              <a:t>Има десет области на знанието за управление на проекти. Тези десет области сегментират различни действия, изпълнени от ръководителя на проекта през целия проект.</a:t>
            </a:r>
            <a:r>
              <a:rPr lang="ru-RU" baseline="0" dirty="0" smtClean="0"/>
              <a:t> </a:t>
            </a:r>
          </a:p>
          <a:p>
            <a:r>
              <a:rPr lang="ru-RU" baseline="0" dirty="0" smtClean="0"/>
              <a:t>Един проект, за да протече успешно, проджект мениджъра е необходимо да е добре запознат с тях.</a:t>
            </a:r>
          </a:p>
          <a:p>
            <a:endParaRPr lang="ru-RU" baseline="0" dirty="0" smtClean="0"/>
          </a:p>
          <a:p>
            <a:r>
              <a:rPr lang="ru-RU" baseline="0" dirty="0" smtClean="0"/>
              <a:t>Нека да ги разгледаме сега и да си кажем по нещо за тях, тъй като ако искате да ръководите проект успешно, трябва да знаете какво все пак да правите. Не можете просто да кажете нещо от сорта на </a:t>
            </a:r>
            <a:r>
              <a:rPr lang="en-US" baseline="0" dirty="0" smtClean="0"/>
              <a:t>“</a:t>
            </a:r>
            <a:r>
              <a:rPr lang="bg-BG" baseline="0" dirty="0" smtClean="0"/>
              <a:t>еми ето това е плана, аз тука ще го следя</a:t>
            </a:r>
            <a:r>
              <a:rPr lang="en-US" baseline="0" dirty="0" smtClean="0"/>
              <a:t>”</a:t>
            </a:r>
            <a:r>
              <a:rPr lang="bg-BG" baseline="0" dirty="0" smtClean="0"/>
              <a:t> и това е. Един мениджър на проект трябва много стриктно да е запознат с обхвата на проекта, графика на изпълнение, разходи, човешки ресурси, да комуникира с клиентите и т.н., един вид да е навсякъде и да знае всичко. Именно затова е проектен МЕНИДЖЪР, защото е ключова и главна роля един проект да е нещо повече от техническа сглобка на програма или там каквото е. </a:t>
            </a:r>
            <a:r>
              <a:rPr lang="ru-RU" sz="1200" b="0" i="0" kern="1200" dirty="0" smtClean="0">
                <a:solidFill>
                  <a:schemeClr val="tx1"/>
                </a:solidFill>
                <a:effectLst/>
                <a:latin typeface="+mn-lt"/>
                <a:ea typeface="+mn-ea"/>
                <a:cs typeface="+mn-cs"/>
              </a:rPr>
              <a:t>IT Project мениджърът вижда, каквото програмистите не могат.</a:t>
            </a:r>
            <a:r>
              <a:rPr lang="ru-RU" sz="1200" b="0" i="0" kern="1200" baseline="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Той гледа на проекта с очите, с които клиента го прави, докато програмистите имат чисто технически поглед спрямо него. Все пак крайната цел е добра оценка именно от клиента, а не от програмистите. </a:t>
            </a:r>
          </a:p>
        </p:txBody>
      </p:sp>
      <p:sp>
        <p:nvSpPr>
          <p:cNvPr id="4" name="Slide Number Placeholder 3"/>
          <p:cNvSpPr>
            <a:spLocks noGrp="1"/>
          </p:cNvSpPr>
          <p:nvPr>
            <p:ph type="sldNum" sz="quarter" idx="10"/>
          </p:nvPr>
        </p:nvSpPr>
        <p:spPr/>
        <p:txBody>
          <a:bodyPr/>
          <a:lstStyle/>
          <a:p>
            <a:fld id="{4A090665-C37D-4270-9754-70274F8DCC49}" type="slidenum">
              <a:rPr lang="en-US" smtClean="0"/>
              <a:t>6</a:t>
            </a:fld>
            <a:endParaRPr lang="en-US"/>
          </a:p>
        </p:txBody>
      </p:sp>
    </p:spTree>
    <p:extLst>
      <p:ext uri="{BB962C8B-B14F-4D97-AF65-F5344CB8AC3E}">
        <p14:creationId xmlns:p14="http://schemas.microsoft.com/office/powerpoint/2010/main" val="1201420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sz="1200" b="0" i="0" kern="1200" dirty="0" smtClean="0">
              <a:solidFill>
                <a:schemeClr val="tx1"/>
              </a:solidFill>
              <a:effectLst/>
              <a:latin typeface="+mn-lt"/>
              <a:ea typeface="+mn-ea"/>
              <a:cs typeface="+mn-cs"/>
            </a:endParaRPr>
          </a:p>
          <a:p>
            <a:pPr marL="171450" indent="-171450">
              <a:buFontTx/>
              <a:buChar char="-"/>
            </a:pPr>
            <a:r>
              <a:rPr lang="ru-RU" sz="1200" b="0" i="0" kern="1200" dirty="0" smtClean="0">
                <a:solidFill>
                  <a:schemeClr val="tx1"/>
                </a:solidFill>
                <a:effectLst/>
                <a:latin typeface="+mn-lt"/>
                <a:ea typeface="+mn-ea"/>
                <a:cs typeface="+mn-cs"/>
              </a:rPr>
              <a:t>Управление на обхвата на проекта: обхватът е определен, документиран и одобрен. Той е защитен от неодобрени промени и е редактиран с одобрените промени. Утвърден е от заинтересованите страни за приемането и одобрението на проекта.</a:t>
            </a:r>
          </a:p>
          <a:p>
            <a:pPr marL="171450" indent="-171450">
              <a:buFontTx/>
              <a:buChar char="-"/>
            </a:pPr>
            <a:endParaRPr lang="ru-RU" sz="1200" b="0" i="0" kern="1200" dirty="0" smtClean="0">
              <a:solidFill>
                <a:schemeClr val="tx1"/>
              </a:solidFill>
              <a:effectLst/>
              <a:latin typeface="+mn-lt"/>
              <a:ea typeface="+mn-ea"/>
              <a:cs typeface="+mn-cs"/>
            </a:endParaRPr>
          </a:p>
          <a:p>
            <a:pPr marL="171450" indent="-171450">
              <a:buFontTx/>
              <a:buChar char="-"/>
            </a:pPr>
            <a:r>
              <a:rPr lang="ru-RU" sz="1200" b="0" i="0" kern="1200" dirty="0" smtClean="0">
                <a:solidFill>
                  <a:schemeClr val="tx1"/>
                </a:solidFill>
                <a:effectLst/>
                <a:latin typeface="+mn-lt"/>
                <a:ea typeface="+mn-ea"/>
                <a:cs typeface="+mn-cs"/>
              </a:rPr>
              <a:t>Управление на график на проекта: графикът на проекта се определя първо от работното време на проекта, всички етапи на проекта и в крайна сметка крайният срок на проекта. По време на целия проект се документира и планира съответно. Ръководителят на проекта работи много близо с екипа на проекта, за да идентифицира проектните задачи и прогнозите на продължителността на задачите, за да създаде времева линия на проекта. Доброто планиране на графика не само може</a:t>
            </a:r>
            <a:r>
              <a:rPr lang="ru-RU" sz="1200" b="0" i="0" kern="1200" baseline="0" dirty="0" smtClean="0">
                <a:solidFill>
                  <a:schemeClr val="tx1"/>
                </a:solidFill>
                <a:effectLst/>
                <a:latin typeface="+mn-lt"/>
                <a:ea typeface="+mn-ea"/>
                <a:cs typeface="+mn-cs"/>
              </a:rPr>
              <a:t> да избегне пресрочване на крайния срок, но и да не стресира програмистите толкова, като им даде достатъчно време и почивка.</a:t>
            </a:r>
          </a:p>
          <a:p>
            <a:pPr marL="171450" indent="-171450">
              <a:buFontTx/>
              <a:buChar char="-"/>
            </a:pPr>
            <a:endParaRPr lang="ru-RU" sz="1200" b="0" i="0" kern="1200" baseline="0" dirty="0" smtClean="0">
              <a:solidFill>
                <a:schemeClr val="tx1"/>
              </a:solidFill>
              <a:effectLst/>
              <a:latin typeface="+mn-lt"/>
              <a:ea typeface="+mn-ea"/>
              <a:cs typeface="+mn-cs"/>
            </a:endParaRPr>
          </a:p>
          <a:p>
            <a:pPr marL="171450" indent="-171450">
              <a:buFontTx/>
              <a:buChar char="-"/>
            </a:pPr>
            <a:r>
              <a:rPr lang="ru-RU" sz="1200" b="0" i="0" kern="1200" dirty="0" smtClean="0">
                <a:solidFill>
                  <a:schemeClr val="tx1"/>
                </a:solidFill>
                <a:effectLst/>
                <a:latin typeface="+mn-lt"/>
                <a:ea typeface="+mn-ea"/>
                <a:cs typeface="+mn-cs"/>
              </a:rPr>
              <a:t>Управление на разходите по проекта: разходите по проекта се изчисляват така, че да може да бъде определен бюджет за проекта. Разходите по проекта включват материали, услуги, съоръжения, лицензи за софтуер и други разходи, приписвани директно на проекта.</a:t>
            </a:r>
          </a:p>
          <a:p>
            <a:pPr marL="171450" indent="-171450">
              <a:buFontTx/>
              <a:buChar char="-"/>
            </a:pPr>
            <a:endParaRPr lang="ru-RU" sz="1200" b="0" i="0" kern="1200" dirty="0" smtClean="0">
              <a:solidFill>
                <a:schemeClr val="tx1"/>
              </a:solidFill>
              <a:effectLst/>
              <a:latin typeface="+mn-lt"/>
              <a:ea typeface="+mn-ea"/>
              <a:cs typeface="+mn-cs"/>
            </a:endParaRPr>
          </a:p>
          <a:p>
            <a:pPr marL="171450" indent="-171450">
              <a:buFontTx/>
              <a:buChar char="-"/>
            </a:pPr>
            <a:r>
              <a:rPr lang="ru-RU" sz="1200" b="0" i="0" kern="1200" dirty="0" smtClean="0">
                <a:solidFill>
                  <a:schemeClr val="tx1"/>
                </a:solidFill>
                <a:effectLst/>
                <a:latin typeface="+mn-lt"/>
                <a:ea typeface="+mn-ea"/>
                <a:cs typeface="+mn-cs"/>
              </a:rPr>
              <a:t>Управление на качеството на проекта: това, което представлява качество в проекта, се определя в конкретни показатели и се договаря между заинтересованите страни възможно най-рано в проекта. Тъй като всеки проект е уникален и оценяването на качеството на проекта е сложно и строго специфично, се набляга на използването на програми и политики</a:t>
            </a:r>
            <a:r>
              <a:rPr lang="ru-RU" sz="1200" b="0" i="0" kern="1200" baseline="0" dirty="0" smtClean="0">
                <a:solidFill>
                  <a:schemeClr val="tx1"/>
                </a:solidFill>
                <a:effectLst/>
                <a:latin typeface="+mn-lt"/>
                <a:ea typeface="+mn-ea"/>
                <a:cs typeface="+mn-cs"/>
              </a:rPr>
              <a:t> за осигуряване на качество и контрол на качество</a:t>
            </a:r>
            <a:r>
              <a:rPr lang="en-US" sz="1200" b="0" i="0" kern="1200" baseline="0" dirty="0" smtClean="0">
                <a:solidFill>
                  <a:schemeClr val="tx1"/>
                </a:solidFill>
                <a:effectLst/>
                <a:latin typeface="+mn-lt"/>
                <a:ea typeface="+mn-ea"/>
                <a:cs typeface="+mn-cs"/>
              </a:rPr>
              <a:t>(QA).</a:t>
            </a:r>
            <a:r>
              <a:rPr lang="ru-RU" sz="1200" b="0" i="0" kern="1200" dirty="0" smtClean="0">
                <a:solidFill>
                  <a:schemeClr val="tx1"/>
                </a:solidFill>
                <a:effectLst/>
                <a:latin typeface="+mn-lt"/>
                <a:ea typeface="+mn-ea"/>
                <a:cs typeface="+mn-cs"/>
              </a:rPr>
              <a:t> Програмите и политиките за осигуряване на качество насочват работата по проекта, докато контролът на качеството проверява работата по проекта, за да се потвърди, че качеството е било спазено.</a:t>
            </a:r>
            <a:endParaRPr lang="en-US" sz="1200" b="0" i="0" kern="1200" dirty="0" smtClean="0">
              <a:solidFill>
                <a:schemeClr val="tx1"/>
              </a:solidFill>
              <a:effectLst/>
              <a:latin typeface="+mn-lt"/>
              <a:ea typeface="+mn-ea"/>
              <a:cs typeface="+mn-cs"/>
            </a:endParaRPr>
          </a:p>
          <a:p>
            <a:pPr marL="171450" indent="-171450">
              <a:buFontTx/>
              <a:buChar char="-"/>
            </a:pPr>
            <a:endParaRPr lang="en-US" sz="1200" b="0" i="0" kern="1200" dirty="0" smtClean="0">
              <a:solidFill>
                <a:schemeClr val="tx1"/>
              </a:solidFill>
              <a:effectLst/>
              <a:latin typeface="+mn-lt"/>
              <a:ea typeface="+mn-ea"/>
              <a:cs typeface="+mn-cs"/>
            </a:endParaRPr>
          </a:p>
          <a:p>
            <a:pPr marL="171450" indent="-171450">
              <a:buFontTx/>
              <a:buChar char="-"/>
            </a:pPr>
            <a:r>
              <a:rPr lang="ru-RU" sz="1200" b="0" i="0" kern="1200" dirty="0" smtClean="0">
                <a:solidFill>
                  <a:schemeClr val="tx1"/>
                </a:solidFill>
                <a:effectLst/>
                <a:latin typeface="+mn-lt"/>
                <a:ea typeface="+mn-ea"/>
                <a:cs typeface="+mn-cs"/>
              </a:rPr>
              <a:t>Управление на човешките ресурси в проекта: ръководителят на проекта работи с екипа на проекта, за да провери дали всеки член на екипа изпълнява задачите си, работи добре с другите и че тяхното участие и изпълнение се отчитат на съответните ръководители.</a:t>
            </a:r>
            <a:r>
              <a:rPr lang="en-US" sz="1200" b="0" i="0" kern="1200" dirty="0" smtClean="0">
                <a:solidFill>
                  <a:schemeClr val="tx1"/>
                </a:solidFill>
                <a:effectLst/>
                <a:latin typeface="+mn-lt"/>
                <a:ea typeface="+mn-ea"/>
                <a:cs typeface="+mn-cs"/>
              </a:rPr>
              <a:t> </a:t>
            </a:r>
            <a:r>
              <a:rPr lang="bg-BG" sz="1200" b="0" i="0" kern="1200" dirty="0" smtClean="0">
                <a:solidFill>
                  <a:schemeClr val="tx1"/>
                </a:solidFill>
                <a:effectLst/>
                <a:latin typeface="+mn-lt"/>
                <a:ea typeface="+mn-ea"/>
                <a:cs typeface="+mn-cs"/>
              </a:rPr>
              <a:t>Тоест това не е работа само на човешки ресурси, но и на ИТ</a:t>
            </a:r>
            <a:r>
              <a:rPr lang="bg-BG" sz="1200" b="0" i="0" kern="1200" baseline="0" dirty="0" smtClean="0">
                <a:solidFill>
                  <a:schemeClr val="tx1"/>
                </a:solidFill>
                <a:effectLst/>
                <a:latin typeface="+mn-lt"/>
                <a:ea typeface="+mn-ea"/>
                <a:cs typeface="+mn-cs"/>
              </a:rPr>
              <a:t> мениджъра.</a:t>
            </a:r>
          </a:p>
          <a:p>
            <a:pPr marL="171450" indent="-171450">
              <a:buFontTx/>
              <a:buChar char="-"/>
            </a:pPr>
            <a:endParaRPr lang="bg-BG" sz="1200" b="0" i="0" kern="1200" baseline="0"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ru-RU" sz="1200" b="0" i="0" kern="1200" dirty="0" smtClean="0">
                <a:solidFill>
                  <a:schemeClr val="tx1"/>
                </a:solidFill>
                <a:effectLst/>
                <a:latin typeface="+mn-lt"/>
                <a:ea typeface="+mn-ea"/>
                <a:cs typeface="+mn-cs"/>
              </a:rPr>
              <a:t>Управление на комуникациите по проекта: заинтересованите страни ще се нуждаят от информация от ръководителя на проекта, ще трябва да предоставят информация на ръководителя на проекта през целия жизнен цикъл на проекта. Тази област създава план за управление на комуникациите, който адресира кой ще се нуждае от каква информация, кога е необходима информация и най-добрата модалност за комуникациите.</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bg-BG" sz="1200" b="0" i="0" kern="1200" dirty="0" smtClean="0">
                <a:solidFill>
                  <a:schemeClr val="tx1"/>
                </a:solidFill>
                <a:effectLst/>
                <a:latin typeface="+mn-lt"/>
                <a:ea typeface="+mn-ea"/>
                <a:cs typeface="+mn-cs"/>
              </a:rPr>
              <a:t>Един вид </a:t>
            </a:r>
            <a:r>
              <a:rPr lang="ru-RU" sz="1200" b="0" i="0" kern="1200" dirty="0" smtClean="0">
                <a:solidFill>
                  <a:schemeClr val="tx1"/>
                </a:solidFill>
                <a:effectLst/>
                <a:latin typeface="+mn-lt"/>
                <a:ea typeface="+mn-ea"/>
                <a:cs typeface="+mn-cs"/>
              </a:rPr>
              <a:t>IT Project мениджърът трябва да обясни „странния“ език на клиента си, чрез нормален език.</a:t>
            </a:r>
            <a:r>
              <a:rPr lang="ru-RU" sz="1200" b="0" i="0" kern="1200" baseline="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Той играе ролята на „мост“ между клиента от една страна и програмистите от друга. Той трябва да може да обясни заданието на програмистите, обяснявайки им го на акуратен за тях език и обратно – отговора от програмистите трябва да бъде съобщен на разбираем за клиента език.</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ru-RU" sz="1200" b="0" i="0" kern="1200"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ru-RU" sz="1200" b="0" i="0" kern="1200" dirty="0" smtClean="0">
                <a:solidFill>
                  <a:schemeClr val="tx1"/>
                </a:solidFill>
                <a:effectLst/>
                <a:latin typeface="+mn-lt"/>
                <a:ea typeface="+mn-ea"/>
                <a:cs typeface="+mn-cs"/>
              </a:rPr>
              <a:t>Управление на риска на проекта: рисковете са ситуации, събития, или условия, които могат да застрашат, или да се използват в полза на целите на ИТ проекта. Рисковете трябва да бъдат идентифицирани, анализирани и да се създаде отговор за рисковото събитие. Вероятността и въздействието на всяко рисково събитие се оценява, за да се създаде рисков резултат, който да оправдае разходите, необходими то</a:t>
            </a:r>
            <a:r>
              <a:rPr lang="ru-RU" sz="1200" b="0" i="0" kern="1200" baseline="0" dirty="0" smtClean="0">
                <a:solidFill>
                  <a:schemeClr val="tx1"/>
                </a:solidFill>
                <a:effectLst/>
                <a:latin typeface="+mn-lt"/>
                <a:ea typeface="+mn-ea"/>
                <a:cs typeface="+mn-cs"/>
              </a:rPr>
              <a:t> да се превърне или в полза, или да не се превърне в заплаха</a:t>
            </a:r>
            <a:r>
              <a:rPr lang="en-US" sz="1200" b="0" i="0" kern="1200" baseline="0" dirty="0" smtClean="0">
                <a:solidFill>
                  <a:schemeClr val="tx1"/>
                </a:solidFill>
                <a:effectLst/>
                <a:latin typeface="+mn-lt"/>
                <a:ea typeface="+mn-ea"/>
                <a:cs typeface="+mn-cs"/>
              </a:rPr>
              <a:t>(SWOT </a:t>
            </a:r>
            <a:r>
              <a:rPr lang="bg-BG" sz="1200" b="0" i="0" kern="1200" baseline="0" dirty="0" smtClean="0">
                <a:solidFill>
                  <a:schemeClr val="tx1"/>
                </a:solidFill>
                <a:effectLst/>
                <a:latin typeface="+mn-lt"/>
                <a:ea typeface="+mn-ea"/>
                <a:cs typeface="+mn-cs"/>
              </a:rPr>
              <a:t>модела помните ли го още?</a:t>
            </a:r>
            <a:r>
              <a:rPr lang="en-US" sz="1200" b="0" i="0" kern="1200" baseline="0" dirty="0" smtClean="0">
                <a:solidFill>
                  <a:schemeClr val="tx1"/>
                </a:solidFill>
                <a:effectLst/>
                <a:latin typeface="+mn-lt"/>
                <a:ea typeface="+mn-ea"/>
                <a:cs typeface="+mn-cs"/>
              </a:rPr>
              <a:t>)</a:t>
            </a:r>
            <a:r>
              <a:rPr lang="ru-RU" sz="1200" b="0" i="0" kern="1200" dirty="0" smtClean="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ru-RU" sz="1200" b="0" i="0" kern="1200"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ru-RU" sz="1200" b="0" i="0" kern="1200" dirty="0" smtClean="0">
                <a:solidFill>
                  <a:schemeClr val="tx1"/>
                </a:solidFill>
                <a:effectLst/>
                <a:latin typeface="+mn-lt"/>
                <a:ea typeface="+mn-ea"/>
                <a:cs typeface="+mn-cs"/>
              </a:rPr>
              <a:t>Управление на поръчки: ако проектът трябва да закупи стоки или услуги, ще трябва да бъде създаден официален процес за възлагане на поръчки. Планът трябва да се отнася до избора на проекта за вида на договора, администрирането на договора, одитите за закупуване и приключване на договора. Много мениджъри на проекти не управляват поръчките, а вместо</a:t>
            </a:r>
            <a:r>
              <a:rPr lang="ru-RU" sz="1200" b="0" i="0" kern="1200" baseline="0" dirty="0" smtClean="0">
                <a:solidFill>
                  <a:schemeClr val="tx1"/>
                </a:solidFill>
                <a:effectLst/>
                <a:latin typeface="+mn-lt"/>
                <a:ea typeface="+mn-ea"/>
                <a:cs typeface="+mn-cs"/>
              </a:rPr>
              <a:t> това се </a:t>
            </a:r>
            <a:r>
              <a:rPr lang="ru-RU" sz="1200" b="0" i="0" kern="1200" dirty="0" smtClean="0">
                <a:solidFill>
                  <a:schemeClr val="tx1"/>
                </a:solidFill>
                <a:effectLst/>
                <a:latin typeface="+mn-lt"/>
                <a:ea typeface="+mn-ea"/>
                <a:cs typeface="+mn-cs"/>
              </a:rPr>
              <a:t>позовават към финансовия отдел да се заеме с тях,</a:t>
            </a:r>
            <a:r>
              <a:rPr lang="ru-RU" sz="1200" b="0" i="0" kern="1200" baseline="0" dirty="0" smtClean="0">
                <a:solidFill>
                  <a:schemeClr val="tx1"/>
                </a:solidFill>
                <a:effectLst/>
                <a:latin typeface="+mn-lt"/>
                <a:ea typeface="+mn-ea"/>
                <a:cs typeface="+mn-cs"/>
              </a:rPr>
              <a:t> тъй като те по-добре могат да изведат правилен отчет и може да изведе повече ценна информация относно поръчките и правилния избор.</a:t>
            </a:r>
          </a:p>
          <a:p>
            <a:pPr marL="0" marR="0" lvl="0" indent="0" algn="l" defTabSz="914400" rtl="0" eaLnBrk="1" fontAlgn="auto" latinLnBrk="0" hangingPunct="1">
              <a:lnSpc>
                <a:spcPct val="100000"/>
              </a:lnSpc>
              <a:spcBef>
                <a:spcPts val="0"/>
              </a:spcBef>
              <a:spcAft>
                <a:spcPts val="0"/>
              </a:spcAft>
              <a:buClrTx/>
              <a:buSzTx/>
              <a:buFontTx/>
              <a:buNone/>
              <a:tabLst/>
              <a:defRPr/>
            </a:pPr>
            <a:r>
              <a:rPr lang="bg-BG" sz="1200" b="0" i="0" kern="1200" baseline="0" dirty="0" smtClean="0">
                <a:solidFill>
                  <a:schemeClr val="tx1"/>
                </a:solidFill>
                <a:effectLst/>
                <a:latin typeface="+mn-lt"/>
                <a:ea typeface="+mn-ea"/>
                <a:cs typeface="+mn-cs"/>
              </a:rPr>
              <a:t>   </a:t>
            </a:r>
            <a:r>
              <a:rPr lang="en-US" sz="1200" b="0" i="0" kern="1200" baseline="0" dirty="0" smtClean="0">
                <a:solidFill>
                  <a:schemeClr val="tx1"/>
                </a:solidFill>
                <a:effectLst/>
                <a:latin typeface="+mn-lt"/>
                <a:ea typeface="+mn-ea"/>
                <a:cs typeface="+mn-cs"/>
              </a:rPr>
              <a:t>(</a:t>
            </a:r>
            <a:r>
              <a:rPr lang="bg-BG" sz="1200" b="0" i="0" kern="1200" baseline="0" dirty="0" smtClean="0">
                <a:solidFill>
                  <a:schemeClr val="tx1"/>
                </a:solidFill>
                <a:effectLst/>
                <a:latin typeface="+mn-lt"/>
                <a:ea typeface="+mn-ea"/>
                <a:cs typeface="+mn-cs"/>
              </a:rPr>
              <a:t>пример закупуване на софтуерни лицензи, купуване на компютри, монитори, периферия, офис оборудване, т.н.</a:t>
            </a:r>
            <a:r>
              <a:rPr lang="en-US" sz="1200" b="0" i="0" kern="1200" baseline="0" dirty="0" smtClean="0">
                <a:solidFill>
                  <a:schemeClr val="tx1"/>
                </a:solidFill>
                <a:effectLst/>
                <a:latin typeface="+mn-lt"/>
                <a:ea typeface="+mn-ea"/>
                <a:cs typeface="+mn-cs"/>
              </a:rPr>
              <a:t>)</a:t>
            </a:r>
            <a:endParaRPr lang="bg-BG" sz="1200" b="0" i="0" kern="1200" baseline="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b="0" i="0" kern="1200" baseline="0"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ru-RU" sz="1200" b="0" i="0" kern="1200" dirty="0" smtClean="0">
                <a:solidFill>
                  <a:schemeClr val="tx1"/>
                </a:solidFill>
                <a:effectLst/>
                <a:latin typeface="+mn-lt"/>
                <a:ea typeface="+mn-ea"/>
                <a:cs typeface="+mn-cs"/>
              </a:rPr>
              <a:t>Управление на заинтересованите страни в проекта</a:t>
            </a:r>
            <a:r>
              <a:rPr lang="en-US" sz="1200" b="0" i="0" kern="1200" dirty="0" smtClean="0">
                <a:solidFill>
                  <a:schemeClr val="tx1"/>
                </a:solidFill>
                <a:effectLst/>
                <a:latin typeface="+mn-lt"/>
                <a:ea typeface="+mn-ea"/>
                <a:cs typeface="+mn-cs"/>
              </a:rPr>
              <a:t>(</a:t>
            </a:r>
            <a:r>
              <a:rPr lang="bg-BG" sz="1200" b="0" i="0" kern="1200" dirty="0" smtClean="0">
                <a:solidFill>
                  <a:schemeClr val="tx1"/>
                </a:solidFill>
                <a:effectLst/>
                <a:latin typeface="+mn-lt"/>
                <a:ea typeface="+mn-ea"/>
                <a:cs typeface="+mn-cs"/>
              </a:rPr>
              <a:t>или т.н. </a:t>
            </a:r>
            <a:r>
              <a:rPr lang="en-US" sz="1200" b="0" i="0" kern="1200" dirty="0" smtClean="0">
                <a:solidFill>
                  <a:schemeClr val="tx1"/>
                </a:solidFill>
                <a:effectLst/>
                <a:latin typeface="+mn-lt"/>
                <a:ea typeface="+mn-ea"/>
                <a:cs typeface="+mn-cs"/>
              </a:rPr>
              <a:t>stakeholders)</a:t>
            </a:r>
            <a:r>
              <a:rPr lang="ru-RU" sz="1200" b="0" i="0" kern="1200" dirty="0" smtClean="0">
                <a:solidFill>
                  <a:schemeClr val="tx1"/>
                </a:solidFill>
                <a:effectLst/>
                <a:latin typeface="+mn-lt"/>
                <a:ea typeface="+mn-ea"/>
                <a:cs typeface="+mn-cs"/>
              </a:rPr>
              <a:t>: заинтересовани страни са всеки, който проявява голям интерес към проекта.</a:t>
            </a:r>
            <a:r>
              <a:rPr lang="ru-RU" sz="1200" b="0" i="0" kern="1200" baseline="0" dirty="0" smtClean="0">
                <a:solidFill>
                  <a:schemeClr val="tx1"/>
                </a:solidFill>
                <a:effectLst/>
                <a:latin typeface="+mn-lt"/>
                <a:ea typeface="+mn-ea"/>
                <a:cs typeface="+mn-cs"/>
              </a:rPr>
              <a:t> Знан също като бордови директори, главни клиенти, инвеститори и т.н</a:t>
            </a:r>
            <a:r>
              <a:rPr lang="ru-RU" sz="1200" b="0" i="0" kern="1200" dirty="0" smtClean="0">
                <a:solidFill>
                  <a:schemeClr val="tx1"/>
                </a:solidFill>
                <a:effectLst/>
                <a:latin typeface="+mn-lt"/>
                <a:ea typeface="+mn-ea"/>
                <a:cs typeface="+mn-cs"/>
              </a:rPr>
              <a:t>. Управлението на заинтересованите страни е идентифицирането, включването и комуникацията с групите на заинтересованите страни в проекта. ИТ</a:t>
            </a:r>
            <a:r>
              <a:rPr lang="ru-RU" sz="1200" b="0" i="0" kern="1200" baseline="0" dirty="0" smtClean="0">
                <a:solidFill>
                  <a:schemeClr val="tx1"/>
                </a:solidFill>
                <a:effectLst/>
                <a:latin typeface="+mn-lt"/>
                <a:ea typeface="+mn-ea"/>
                <a:cs typeface="+mn-cs"/>
              </a:rPr>
              <a:t> проектния мениджър се грижи така да отговаря на въпросите и да оправдае тревогите и притесненията на тези страни.</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ru-RU" sz="1200" b="0" i="0" kern="1200" baseline="0"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ru-RU" sz="1200" b="0" i="0" kern="1200" dirty="0" smtClean="0">
                <a:solidFill>
                  <a:schemeClr val="tx1"/>
                </a:solidFill>
                <a:effectLst/>
                <a:latin typeface="+mn-lt"/>
                <a:ea typeface="+mn-ea"/>
                <a:cs typeface="+mn-cs"/>
              </a:rPr>
              <a:t>Управление на интеграцията на проекти: тази специална област е координацията на събитията във всички останали фактори. Колко добре се реализира мениджърът на проекти в една област, пряко влияе върху работата на другите области. Управлението на интеграцията на проекти изследва взаимодействията и непредвидените ситуации между областите, за да се гарантира, че проектът е адекватно планиран, изпълнен, контролиран и затворен. Така дори и да се появи</a:t>
            </a:r>
            <a:r>
              <a:rPr lang="ru-RU" sz="1200" b="0" i="0" kern="1200" baseline="0" dirty="0" smtClean="0">
                <a:solidFill>
                  <a:schemeClr val="tx1"/>
                </a:solidFill>
                <a:effectLst/>
                <a:latin typeface="+mn-lt"/>
                <a:ea typeface="+mn-ea"/>
                <a:cs typeface="+mn-cs"/>
              </a:rPr>
              <a:t> невиждан вариант в следствие на действията предприети от някои области, ИТ мениджъра ще е подготвен за това.</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ru-RU" sz="1200" b="0" i="0" kern="1200" baseline="0" dirty="0" smtClean="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ru-RU" sz="1200" b="0" i="0" kern="1200" baseline="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effectLst/>
                <a:latin typeface="+mn-lt"/>
                <a:ea typeface="+mn-ea"/>
                <a:cs typeface="+mn-cs"/>
              </a:rPr>
              <a:t>Тези десет специфични фоктори и функции трябва да се управляват итеративно през цялата</a:t>
            </a:r>
            <a:r>
              <a:rPr lang="ru-RU" sz="1200" b="0" i="0" kern="1200" baseline="0" dirty="0" smtClean="0">
                <a:solidFill>
                  <a:schemeClr val="tx1"/>
                </a:solidFill>
                <a:effectLst/>
                <a:latin typeface="+mn-lt"/>
                <a:ea typeface="+mn-ea"/>
                <a:cs typeface="+mn-cs"/>
              </a:rPr>
              <a:t> продължителност на</a:t>
            </a:r>
            <a:r>
              <a:rPr lang="ru-RU" sz="1200" b="0" i="0" kern="1200" dirty="0" smtClean="0">
                <a:solidFill>
                  <a:schemeClr val="tx1"/>
                </a:solidFill>
                <a:effectLst/>
                <a:latin typeface="+mn-lt"/>
                <a:ea typeface="+mn-ea"/>
                <a:cs typeface="+mn-cs"/>
              </a:rPr>
              <a:t> проекта. С изключение на поръчките, ръководителят на проекти вероятно ще се сблъска с всичките десет от тези области във всеки проект. Няма установен ред, в които трябва да се управляват, а по-скоро мениджърът на проекта сам ще се насочва към съответните области и процеси въз основа на това, което се случва в рамките на проекта.</a:t>
            </a:r>
          </a:p>
          <a:p>
            <a:endParaRPr lang="en-US" dirty="0"/>
          </a:p>
        </p:txBody>
      </p:sp>
      <p:sp>
        <p:nvSpPr>
          <p:cNvPr id="4" name="Slide Number Placeholder 3"/>
          <p:cNvSpPr>
            <a:spLocks noGrp="1"/>
          </p:cNvSpPr>
          <p:nvPr>
            <p:ph type="sldNum" sz="quarter" idx="10"/>
          </p:nvPr>
        </p:nvSpPr>
        <p:spPr/>
        <p:txBody>
          <a:bodyPr/>
          <a:lstStyle/>
          <a:p>
            <a:fld id="{4A090665-C37D-4270-9754-70274F8DCC49}" type="slidenum">
              <a:rPr lang="en-US" smtClean="0"/>
              <a:t>7</a:t>
            </a:fld>
            <a:endParaRPr lang="en-US"/>
          </a:p>
        </p:txBody>
      </p:sp>
    </p:spTree>
    <p:extLst>
      <p:ext uri="{BB962C8B-B14F-4D97-AF65-F5344CB8AC3E}">
        <p14:creationId xmlns:p14="http://schemas.microsoft.com/office/powerpoint/2010/main" val="2152088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bg-BG" sz="1200" dirty="0" smtClean="0"/>
              <a:t>До тук разгледахме какво е проджект мениджмънт, какви са ни основните задачи по време на един проект, през</a:t>
            </a:r>
            <a:r>
              <a:rPr lang="bg-BG" sz="1200" baseline="0" dirty="0" smtClean="0"/>
              <a:t> какви специфични фази преминаваме по време на проекта. А как можем ние да ПОДОБРИМ реално качествата си като проектен мениджър и да увеличим ефективността на проекта? Ще разгледаме 10 стъпки, които са изписани на дъската как можем да го направим. Спазвайки тези прости наръки ще ни позволи не само да увеличим ефективността на продукция, но и също така да сплоти екипа.</a:t>
            </a: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01</a:t>
            </a:r>
            <a:r>
              <a:rPr lang="en-US" sz="1200" baseline="0" dirty="0" smtClean="0"/>
              <a:t> - </a:t>
            </a:r>
            <a:r>
              <a:rPr lang="ru-RU" sz="1200" dirty="0" smtClean="0"/>
              <a:t>Присъствайте на етапите на планиране</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Като мениджър на проекта, важно е да присъстване на всички фази на планиране. Ако присъствате в началните фази, е по-вероятно да участвате пряко в решенията и да можете да измислите план, с който да избегнете евентуални проблеми и да съставите идеи и стратегии, които ще се отразят позитивно на бюджета. Присъствайки и също така на мийтингите затвърждавате информацията, която получавате, в реално време е и не изпускате нищо с детайлите.</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bg-BG" sz="1200" dirty="0" smtClean="0"/>
              <a:t>02 - Управлявайте времето</a:t>
            </a:r>
            <a:r>
              <a:rPr lang="en-US" sz="1200" dirty="0" smtClean="0"/>
              <a:t> </a:t>
            </a:r>
            <a:r>
              <a:rPr lang="bg-BG" sz="1200" dirty="0" smtClean="0"/>
              <a:t>си разумно</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Умното управление на времето е един сигурен начин за повишаване на ефективността. От съществено значение е работниците да са продуктивни със своето време. Използването на мобилно приложение е един от начините, по който ръководителите на проекти могат точно да проследят часовете отработени от служителите си. Управлението на времето кара работниците ви да са по-отговорни и по-продуктивни, което ви спестява пари в дългосрочен план, и много стрес за тях.</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03 - </a:t>
            </a:r>
            <a:r>
              <a:rPr lang="bg-BG" sz="1200" dirty="0" smtClean="0"/>
              <a:t>Провеждайте редовни срещи</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Отделянето на време за провеждане на редовни срещи със служителите може да ви помогне да се информирате за нивото на производителност. Определянето на конкретно време за дискусия или мийтинг гарантира, че отделяте време всяка седмица, за да направите комуникацията основен приоритет. Тези срещи са полезни, защото могат да послужат и като време за решаване на всякакви възможни проблеми и да ви информират за служителите.</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04 - </a:t>
            </a:r>
            <a:r>
              <a:rPr lang="bg-BG" sz="1200" dirty="0" smtClean="0"/>
              <a:t>Внедрете мобилни технологии</a:t>
            </a:r>
            <a:r>
              <a:rPr lang="en-US" sz="1200" dirty="0" smtClean="0"/>
              <a:t>(</a:t>
            </a:r>
            <a:r>
              <a:rPr lang="bg-BG" sz="1200" dirty="0" smtClean="0"/>
              <a:t>социални</a:t>
            </a:r>
            <a:r>
              <a:rPr lang="en-US" sz="1200" dirty="0" smtClean="0"/>
              <a:t>)</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Друг начин да увеличите ефективната комуникация е да интегрирате мобилните технологии. Така членове на екипа ви могат веднага да се свържат един с друг чрез социалните приложения или други. Когато всички могат да комуникират безпроблемно и от навсякъде, може работата да се свърши много по-бързо и лесно, като така ви спести много пари.</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05 - </a:t>
            </a:r>
            <a:r>
              <a:rPr lang="bg-BG" sz="1200" dirty="0" smtClean="0"/>
              <a:t>Изхвърлете хартията, преминете дигитално</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Едно от предимствата на дигитализацията е, че когато трябва да напишете доклад, емейл или нещо, което да се изпрати до друг човек или да се съхрани, често е по-удобно онлайн да се изпрати или да се запази дигитално копие. Защо е нужно да губим време, като всичко може да го имаме пред нас?</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06 - </a:t>
            </a:r>
            <a:r>
              <a:rPr lang="bg-BG" sz="1200" dirty="0" smtClean="0"/>
              <a:t>Осигурете стимул</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Един от методите да увеличим ефективността са стимулите. Те могат да са всичко от сорта на благодарствено писмо или картичка до бонуси в заплатата. Когато предложим някакъв стимул, ние така караме работниците ни да се стараят повече и да станат по-продуктивни. Стимулите също така освен, че удовлетворяват материално работниците, също така им вдига и моралът и работата в екип в зависимост от стимула.</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07 - </a:t>
            </a:r>
            <a:r>
              <a:rPr lang="bg-BG" sz="1200" dirty="0" smtClean="0"/>
              <a:t>Срещайте се редовно с работниците</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Когато правите редовни проверки и срещи с екипа, вие така можете да видите дали всички работят с едно и също темпо и дали има разминаване някъде. Също така индивидуалните посещения са идеална възможност да се поговори на четири очи с работниците и да се разбере дали има някакви проблеми и да се изгладят или да се работи над отстраняването им. Така може да се осигури нормална и приятна работна среда, която увеличава продуктивността.</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bg-BG" sz="1200" dirty="0" smtClean="0"/>
              <a:t>08 - Следете продуктивността</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Както при редовните посещения и проверки, следенето на продуктивността гарантира, че всички се движат с еднакво темпо. Така се избягват сериозни проблеми с продуктивността. Тя може да бъде повлияна негативно ако например екипа е принуден да работи извънредно, когато няма нужното оборудване или когато моралът е нисък. Затова е важно както казахме в началото на лекцията работниците да имат добре планиран график, да го спазват и да им се дава почивка.</a:t>
            </a: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09 - </a:t>
            </a:r>
            <a:r>
              <a:rPr lang="ru-RU" sz="1200" dirty="0" smtClean="0"/>
              <a:t>Поддържайте постоянна комуникация</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Ефективната комуникация е от съществено значение за осигуряването на ефективността. В ИТ индустрията комуникацията е ключов фактор и нарушената комуникация може да създаде големи главоболия. Затова важна роля е да се поддържа постоянна комуникация с всички лица, участващи в проекта, за да може да се достигне възможно най-високо ниво на комуникация. Това също означава да съобщавате на работниците си информация за задачите им, мястото и изискванията за да намалите времето изгубено в непродуктивност. Едно от предишните идеи - интегриране на мобилните комуникации дава възможността за интеграция по имейл и така всички съобщения по даден проект могат да бъдат документирани по-лесно.</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10 - </a:t>
            </a:r>
            <a:r>
              <a:rPr lang="bg-BG" sz="1200" dirty="0" smtClean="0"/>
              <a:t>Подобрете удовлетвореността на служителите си</a:t>
            </a:r>
            <a:endParaRPr lang="en-ID"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bg-BG"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smtClean="0"/>
              <a:t>Ако вашата ИТ фирма има неподходящи проекти, остаряло оборудване, което затруднява работата, липса на персонал, това може да повлияе негативно на работата и моралът на екипа, защото така те не могат да си свършат работата. Затова е важно да се грижите да имате нормални условия за работа за да може вашият екип да си свърши нормално работата.</a:t>
            </a:r>
            <a:endParaRPr lang="en-ID" sz="1200" dirty="0" smtClean="0"/>
          </a:p>
        </p:txBody>
      </p:sp>
      <p:sp>
        <p:nvSpPr>
          <p:cNvPr id="4" name="Slide Number Placeholder 3"/>
          <p:cNvSpPr>
            <a:spLocks noGrp="1"/>
          </p:cNvSpPr>
          <p:nvPr>
            <p:ph type="sldNum" sz="quarter" idx="10"/>
          </p:nvPr>
        </p:nvSpPr>
        <p:spPr/>
        <p:txBody>
          <a:bodyPr/>
          <a:lstStyle/>
          <a:p>
            <a:fld id="{4A090665-C37D-4270-9754-70274F8DCC49}" type="slidenum">
              <a:rPr lang="en-US" smtClean="0"/>
              <a:t>8</a:t>
            </a:fld>
            <a:endParaRPr lang="en-US"/>
          </a:p>
        </p:txBody>
      </p:sp>
    </p:spTree>
    <p:extLst>
      <p:ext uri="{BB962C8B-B14F-4D97-AF65-F5344CB8AC3E}">
        <p14:creationId xmlns:p14="http://schemas.microsoft.com/office/powerpoint/2010/main" val="3205323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090665-C37D-4270-9754-70274F8DCC49}" type="slidenum">
              <a:rPr lang="en-US" smtClean="0"/>
              <a:t>9</a:t>
            </a:fld>
            <a:endParaRPr lang="en-US"/>
          </a:p>
        </p:txBody>
      </p:sp>
    </p:spTree>
    <p:extLst>
      <p:ext uri="{BB962C8B-B14F-4D97-AF65-F5344CB8AC3E}">
        <p14:creationId xmlns:p14="http://schemas.microsoft.com/office/powerpoint/2010/main" val="2882287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solidFill>
                <a:srgbClr val="404040"/>
              </a:solidFill>
              <a:latin typeface="Segoe UI Light" panose="020B0502040204020203" pitchFamily="34" charset="0"/>
              <a:cs typeface="Segoe UI Light" panose="020B0502040204020203" pitchFamily="34" charset="0"/>
            </a:endParaRPr>
          </a:p>
        </p:txBody>
      </p:sp>
      <p:sp>
        <p:nvSpPr>
          <p:cNvPr id="4" name="Slide Number Placeholder 3"/>
          <p:cNvSpPr>
            <a:spLocks noGrp="1"/>
          </p:cNvSpPr>
          <p:nvPr>
            <p:ph type="sldNum" sz="quarter" idx="5"/>
          </p:nvPr>
        </p:nvSpPr>
        <p:spPr/>
        <p:txBody>
          <a:bodyPr/>
          <a:lstStyle/>
          <a:p>
            <a:fld id="{9F8AF1B2-2831-482F-BCBB-50CEF9ABED95}" type="slidenum">
              <a:rPr lang="en-US" smtClean="0"/>
              <a:t>10</a:t>
            </a:fld>
            <a:endParaRPr lang="en-US"/>
          </a:p>
        </p:txBody>
      </p:sp>
    </p:spTree>
    <p:extLst>
      <p:ext uri="{BB962C8B-B14F-4D97-AF65-F5344CB8AC3E}">
        <p14:creationId xmlns:p14="http://schemas.microsoft.com/office/powerpoint/2010/main" val="55520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A68854-4275-4E5D-9DCF-E50231FA08CE}" type="datetimeFigureOut">
              <a:rPr lang="en-US" smtClean="0"/>
              <a:t>2/27/2020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3339679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A68854-4275-4E5D-9DCF-E50231FA08CE}" type="datetimeFigureOut">
              <a:rPr lang="en-US" smtClean="0"/>
              <a:t>2/27/2020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259939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CA68854-4275-4E5D-9DCF-E50231FA08CE}" type="datetimeFigureOut">
              <a:rPr lang="en-US" smtClean="0"/>
              <a:t>2/27/2020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3331764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A68854-4275-4E5D-9DCF-E50231FA08CE}" type="datetimeFigureOut">
              <a:rPr lang="en-US" smtClean="0"/>
              <a:t>2/27/2020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225318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A68854-4275-4E5D-9DCF-E50231FA08CE}" type="datetimeFigureOut">
              <a:rPr lang="en-US" smtClean="0"/>
              <a:t>2/27/2020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1408297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A68854-4275-4E5D-9DCF-E50231FA08CE}" type="datetimeFigureOut">
              <a:rPr lang="en-US" smtClean="0"/>
              <a:t>2/27/2020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3144002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A68854-4275-4E5D-9DCF-E50231FA08CE}" type="datetimeFigureOut">
              <a:rPr lang="en-US" smtClean="0"/>
              <a:t>2/27/2020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1569988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CA68854-4275-4E5D-9DCF-E50231FA08CE}" type="datetimeFigureOut">
              <a:rPr lang="en-US" smtClean="0"/>
              <a:t>2/27/2020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454457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CA68854-4275-4E5D-9DCF-E50231FA08CE}" type="datetimeFigureOut">
              <a:rPr lang="en-US" smtClean="0"/>
              <a:t>2/27/2020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3536065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A68854-4275-4E5D-9DCF-E50231FA08CE}" type="datetimeFigureOut">
              <a:rPr lang="en-US" smtClean="0"/>
              <a:t>2/27/2020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1950278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A68854-4275-4E5D-9DCF-E50231FA08CE}" type="datetimeFigureOut">
              <a:rPr lang="en-US" smtClean="0"/>
              <a:t>2/27/2020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004C3-E694-496A-9197-905544AF676F}" type="slidenum">
              <a:rPr lang="en-US" smtClean="0"/>
              <a:t>‹#›</a:t>
            </a:fld>
            <a:endParaRPr lang="en-US"/>
          </a:p>
        </p:txBody>
      </p:sp>
    </p:spTree>
    <p:extLst>
      <p:ext uri="{BB962C8B-B14F-4D97-AF65-F5344CB8AC3E}">
        <p14:creationId xmlns:p14="http://schemas.microsoft.com/office/powerpoint/2010/main" val="2693920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A68854-4275-4E5D-9DCF-E50231FA08CE}" type="datetimeFigureOut">
              <a:rPr lang="en-US" smtClean="0"/>
              <a:t>2/27/2020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7004C3-E694-496A-9197-905544AF676F}" type="slidenum">
              <a:rPr lang="en-US" smtClean="0"/>
              <a:t>‹#›</a:t>
            </a:fld>
            <a:endParaRPr lang="en-US"/>
          </a:p>
        </p:txBody>
      </p:sp>
    </p:spTree>
    <p:extLst>
      <p:ext uri="{BB962C8B-B14F-4D97-AF65-F5344CB8AC3E}">
        <p14:creationId xmlns:p14="http://schemas.microsoft.com/office/powerpoint/2010/main" val="3160711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74E1080B-4674-4797-93DA-C3189630B756}"/>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val="0"/>
              </a:ext>
            </a:extLst>
          </a:blip>
          <a:srcRect r="42949" b="13462"/>
          <a:stretch/>
        </p:blipFill>
        <p:spPr>
          <a:xfrm>
            <a:off x="0" y="0"/>
            <a:ext cx="6781800" cy="6858000"/>
          </a:xfrm>
          <a:custGeom>
            <a:avLst/>
            <a:gdLst>
              <a:gd name="connsiteX0" fmla="*/ 1371551 w 6781800"/>
              <a:gd name="connsiteY0" fmla="*/ 0 h 6858000"/>
              <a:gd name="connsiteX1" fmla="*/ 6781800 w 6781800"/>
              <a:gd name="connsiteY1" fmla="*/ 0 h 6858000"/>
              <a:gd name="connsiteX2" fmla="*/ 5410249 w 6781800"/>
              <a:gd name="connsiteY2" fmla="*/ 6858000 h 6858000"/>
              <a:gd name="connsiteX3" fmla="*/ 0 w 6781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781800" h="6858000">
                <a:moveTo>
                  <a:pt x="1371551" y="0"/>
                </a:moveTo>
                <a:lnTo>
                  <a:pt x="6781800" y="0"/>
                </a:lnTo>
                <a:lnTo>
                  <a:pt x="5410249" y="6858000"/>
                </a:lnTo>
                <a:lnTo>
                  <a:pt x="0" y="6858000"/>
                </a:lnTo>
                <a:close/>
              </a:path>
            </a:pathLst>
          </a:custGeom>
        </p:spPr>
      </p:pic>
      <p:sp>
        <p:nvSpPr>
          <p:cNvPr id="22" name="Parallelogram 21">
            <a:extLst>
              <a:ext uri="{FF2B5EF4-FFF2-40B4-BE49-F238E27FC236}">
                <a16:creationId xmlns:a16="http://schemas.microsoft.com/office/drawing/2014/main" id="{736C5777-A3DC-4109-961B-3D93E6E04089}"/>
              </a:ext>
            </a:extLst>
          </p:cNvPr>
          <p:cNvSpPr/>
          <p:nvPr/>
        </p:nvSpPr>
        <p:spPr>
          <a:xfrm>
            <a:off x="54384" y="3951264"/>
            <a:ext cx="4465229" cy="1713845"/>
          </a:xfrm>
          <a:prstGeom prst="parallelogram">
            <a:avLst>
              <a:gd name="adj" fmla="val 19878"/>
            </a:avLst>
          </a:prstGeom>
          <a:solidFill>
            <a:srgbClr val="06C2BD">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9345E4CD-E292-45CF-BF67-A1F3A392FD00}"/>
              </a:ext>
            </a:extLst>
          </p:cNvPr>
          <p:cNvGrpSpPr/>
          <p:nvPr/>
        </p:nvGrpSpPr>
        <p:grpSpPr>
          <a:xfrm>
            <a:off x="368135" y="4104733"/>
            <a:ext cx="3762714" cy="805767"/>
            <a:chOff x="368135" y="4104733"/>
            <a:chExt cx="3762714" cy="805767"/>
          </a:xfrm>
        </p:grpSpPr>
        <p:sp>
          <p:nvSpPr>
            <p:cNvPr id="23" name="TextBox 22">
              <a:extLst>
                <a:ext uri="{FF2B5EF4-FFF2-40B4-BE49-F238E27FC236}">
                  <a16:creationId xmlns:a16="http://schemas.microsoft.com/office/drawing/2014/main" id="{E06CD049-6C47-4F05-A4DB-0DC473DE782C}"/>
                </a:ext>
              </a:extLst>
            </p:cNvPr>
            <p:cNvSpPr txBox="1"/>
            <p:nvPr/>
          </p:nvSpPr>
          <p:spPr>
            <a:xfrm>
              <a:off x="368135" y="4104733"/>
              <a:ext cx="3753016" cy="584775"/>
            </a:xfrm>
            <a:prstGeom prst="rect">
              <a:avLst/>
            </a:prstGeom>
            <a:noFill/>
          </p:spPr>
          <p:txBody>
            <a:bodyPr wrap="square" rtlCol="0">
              <a:spAutoFit/>
            </a:bodyPr>
            <a:lstStyle/>
            <a:p>
              <a:pPr algn="ctr"/>
              <a:r>
                <a:rPr lang="bg-BG" sz="3200" b="1" dirty="0" smtClean="0">
                  <a:solidFill>
                    <a:schemeClr val="bg1"/>
                  </a:solidFill>
                  <a:latin typeface="Segoe UI" panose="020B0502040204020203" pitchFamily="34" charset="0"/>
                  <a:ea typeface="Segoe UI Black" panose="020B0A02040204020203" pitchFamily="34" charset="0"/>
                  <a:cs typeface="Segoe UI" panose="020B0502040204020203" pitchFamily="34" charset="0"/>
                </a:rPr>
                <a:t>ТЕМА 2</a:t>
              </a:r>
              <a:endParaRPr lang="en-US" sz="3200" b="1" dirty="0">
                <a:solidFill>
                  <a:schemeClr val="bg1"/>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24" name="TextBox 23">
              <a:extLst>
                <a:ext uri="{FF2B5EF4-FFF2-40B4-BE49-F238E27FC236}">
                  <a16:creationId xmlns:a16="http://schemas.microsoft.com/office/drawing/2014/main" id="{8157F69B-B9B7-4807-9D78-AF3E1A25834C}"/>
                </a:ext>
              </a:extLst>
            </p:cNvPr>
            <p:cNvSpPr txBox="1"/>
            <p:nvPr/>
          </p:nvSpPr>
          <p:spPr>
            <a:xfrm>
              <a:off x="443147" y="4602723"/>
              <a:ext cx="3687702" cy="307777"/>
            </a:xfrm>
            <a:prstGeom prst="rect">
              <a:avLst/>
            </a:prstGeom>
            <a:noFill/>
          </p:spPr>
          <p:txBody>
            <a:bodyPr wrap="square" rtlCol="0">
              <a:spAutoFit/>
            </a:bodyPr>
            <a:lstStyle/>
            <a:p>
              <a:pPr algn="ctr"/>
              <a:r>
                <a:rPr lang="bg-BG" sz="1400" dirty="0" smtClean="0">
                  <a:solidFill>
                    <a:schemeClr val="bg1"/>
                  </a:solidFill>
                  <a:latin typeface="Segoe UI Light" panose="020B0502040204020203" pitchFamily="34" charset="0"/>
                  <a:ea typeface="Segoe UI Black" panose="020B0A02040204020203" pitchFamily="34" charset="0"/>
                  <a:cs typeface="Segoe UI Light" panose="020B0502040204020203" pitchFamily="34" charset="0"/>
                </a:rPr>
                <a:t>УПРАВЛЕНИЕ НА СОФТУЕРНИТЕ ПРОЕКТИ</a:t>
              </a:r>
              <a:endParaRPr lang="en-US" sz="1400" dirty="0">
                <a:solidFill>
                  <a:schemeClr val="bg1"/>
                </a:solidFill>
                <a:latin typeface="Segoe UI Light" panose="020B0502040204020203" pitchFamily="34" charset="0"/>
                <a:ea typeface="Segoe UI Black" panose="020B0A02040204020203" pitchFamily="34" charset="0"/>
                <a:cs typeface="Segoe UI Light" panose="020B0502040204020203" pitchFamily="34" charset="0"/>
              </a:endParaRPr>
            </a:p>
          </p:txBody>
        </p:sp>
      </p:grpSp>
      <p:sp>
        <p:nvSpPr>
          <p:cNvPr id="4" name="Rectangle 3">
            <a:extLst>
              <a:ext uri="{FF2B5EF4-FFF2-40B4-BE49-F238E27FC236}">
                <a16:creationId xmlns:a16="http://schemas.microsoft.com/office/drawing/2014/main" id="{B99E33EB-81B6-45C6-8445-5A1CD6C5D6D1}"/>
              </a:ext>
            </a:extLst>
          </p:cNvPr>
          <p:cNvSpPr/>
          <p:nvPr/>
        </p:nvSpPr>
        <p:spPr>
          <a:xfrm>
            <a:off x="706499" y="4921976"/>
            <a:ext cx="468000" cy="5094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6B498B2-27D0-48A6-8B43-A4AB4A310FA4}"/>
              </a:ext>
            </a:extLst>
          </p:cNvPr>
          <p:cNvSpPr txBox="1"/>
          <p:nvPr/>
        </p:nvSpPr>
        <p:spPr>
          <a:xfrm>
            <a:off x="6525906" y="4473436"/>
            <a:ext cx="4196282" cy="584775"/>
          </a:xfrm>
          <a:prstGeom prst="rect">
            <a:avLst/>
          </a:prstGeom>
          <a:noFill/>
        </p:spPr>
        <p:txBody>
          <a:bodyPr wrap="square" rtlCol="0">
            <a:spAutoFit/>
          </a:bodyPr>
          <a:lstStyle/>
          <a:p>
            <a:r>
              <a:rPr lang="ru-RU" sz="1600"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Специфични фактори в проекта. Функции на управлението на IT проектите</a:t>
            </a:r>
            <a:r>
              <a:rPr lang="ru-RU" sz="1600" dirty="0" smtClean="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a:t>
            </a:r>
            <a:endParaRPr lang="en-US" sz="1600"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27" name="Oval 26">
            <a:extLst>
              <a:ext uri="{FF2B5EF4-FFF2-40B4-BE49-F238E27FC236}">
                <a16:creationId xmlns:a16="http://schemas.microsoft.com/office/drawing/2014/main" id="{8CD5471A-CC5F-491E-838F-EAB3F6CFBB69}"/>
              </a:ext>
            </a:extLst>
          </p:cNvPr>
          <p:cNvSpPr/>
          <p:nvPr/>
        </p:nvSpPr>
        <p:spPr>
          <a:xfrm>
            <a:off x="5378542" y="4298080"/>
            <a:ext cx="838200" cy="838200"/>
          </a:xfrm>
          <a:prstGeom prst="ellipse">
            <a:avLst/>
          </a:prstGeom>
          <a:gradFill>
            <a:gsLst>
              <a:gs pos="0">
                <a:srgbClr val="06C2BD"/>
              </a:gs>
              <a:gs pos="100000">
                <a:schemeClr val="accent1"/>
              </a:gs>
            </a:gsLst>
            <a:lin ang="18900000" scaled="1"/>
          </a:gradFill>
          <a:ln w="50800">
            <a:solidFill>
              <a:schemeClr val="bg1"/>
            </a:solidFill>
          </a:ln>
          <a:effectLst>
            <a:outerShdw blurRad="139700" dist="50800" dir="24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B8B2477-EA5F-4B9A-9B58-DB8B84B22D32}"/>
              </a:ext>
            </a:extLst>
          </p:cNvPr>
          <p:cNvSpPr txBox="1"/>
          <p:nvPr/>
        </p:nvSpPr>
        <p:spPr>
          <a:xfrm>
            <a:off x="6726218" y="3125842"/>
            <a:ext cx="4273676" cy="584775"/>
          </a:xfrm>
          <a:prstGeom prst="rect">
            <a:avLst/>
          </a:prstGeom>
          <a:noFill/>
        </p:spPr>
        <p:txBody>
          <a:bodyPr wrap="square" rtlCol="0">
            <a:spAutoFit/>
          </a:bodyPr>
          <a:lstStyle/>
          <a:p>
            <a:r>
              <a:rPr lang="ru-RU" sz="1600" dirty="0" smtClean="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Последователност от задачи, асоциирани с всяка фаза от IT проекта.</a:t>
            </a:r>
            <a:endParaRPr lang="en-US" sz="1600"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26" name="Oval 25">
            <a:extLst>
              <a:ext uri="{FF2B5EF4-FFF2-40B4-BE49-F238E27FC236}">
                <a16:creationId xmlns:a16="http://schemas.microsoft.com/office/drawing/2014/main" id="{8B451018-D534-4A91-8157-0EEAA3D4F6C6}"/>
              </a:ext>
            </a:extLst>
          </p:cNvPr>
          <p:cNvSpPr/>
          <p:nvPr/>
        </p:nvSpPr>
        <p:spPr>
          <a:xfrm>
            <a:off x="5601754" y="2968352"/>
            <a:ext cx="838200" cy="838200"/>
          </a:xfrm>
          <a:prstGeom prst="ellipse">
            <a:avLst/>
          </a:prstGeom>
          <a:gradFill>
            <a:gsLst>
              <a:gs pos="0">
                <a:srgbClr val="06C2BD"/>
              </a:gs>
              <a:gs pos="100000">
                <a:schemeClr val="accent1"/>
              </a:gs>
            </a:gsLst>
            <a:lin ang="18900000" scaled="1"/>
          </a:gradFill>
          <a:ln w="50800">
            <a:solidFill>
              <a:schemeClr val="bg1"/>
            </a:solidFill>
          </a:ln>
          <a:effectLst>
            <a:outerShdw blurRad="139700" dist="50800" dir="24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1B983A8-58BA-4D2D-920D-AA4606E638BB}"/>
              </a:ext>
            </a:extLst>
          </p:cNvPr>
          <p:cNvSpPr txBox="1"/>
          <p:nvPr/>
        </p:nvSpPr>
        <p:spPr>
          <a:xfrm>
            <a:off x="6260504" y="5843251"/>
            <a:ext cx="4170429" cy="338554"/>
          </a:xfrm>
          <a:prstGeom prst="rect">
            <a:avLst/>
          </a:prstGeom>
          <a:noFill/>
        </p:spPr>
        <p:txBody>
          <a:bodyPr wrap="square" rtlCol="0">
            <a:spAutoFit/>
          </a:bodyPr>
          <a:lstStyle/>
          <a:p>
            <a:r>
              <a:rPr lang="ru-RU" sz="1600"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Осигуряване на ефективност при IT проекта.</a:t>
            </a:r>
            <a:endParaRPr lang="en-US" sz="1600"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28" name="Oval 27">
            <a:extLst>
              <a:ext uri="{FF2B5EF4-FFF2-40B4-BE49-F238E27FC236}">
                <a16:creationId xmlns:a16="http://schemas.microsoft.com/office/drawing/2014/main" id="{8A8B9FD4-52BF-476D-9932-EABBD3D1CFCA}"/>
              </a:ext>
            </a:extLst>
          </p:cNvPr>
          <p:cNvSpPr/>
          <p:nvPr/>
        </p:nvSpPr>
        <p:spPr>
          <a:xfrm>
            <a:off x="5127834" y="5578040"/>
            <a:ext cx="838200" cy="838200"/>
          </a:xfrm>
          <a:prstGeom prst="ellipse">
            <a:avLst/>
          </a:prstGeom>
          <a:gradFill>
            <a:gsLst>
              <a:gs pos="0">
                <a:srgbClr val="06C2BD"/>
              </a:gs>
              <a:gs pos="100000">
                <a:schemeClr val="accent1"/>
              </a:gs>
            </a:gsLst>
            <a:lin ang="18900000" scaled="1"/>
          </a:gradFill>
          <a:ln w="50800">
            <a:solidFill>
              <a:schemeClr val="bg1"/>
            </a:solidFill>
          </a:ln>
          <a:effectLst>
            <a:outerShdw blurRad="139700" dist="50800" dir="24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1CDFAAB-7D11-4DD2-B291-9C54A152B5C8}"/>
              </a:ext>
            </a:extLst>
          </p:cNvPr>
          <p:cNvSpPr txBox="1"/>
          <p:nvPr/>
        </p:nvSpPr>
        <p:spPr>
          <a:xfrm>
            <a:off x="7236204" y="497579"/>
            <a:ext cx="4383801" cy="584775"/>
          </a:xfrm>
          <a:prstGeom prst="rect">
            <a:avLst/>
          </a:prstGeom>
          <a:noFill/>
        </p:spPr>
        <p:txBody>
          <a:bodyPr wrap="square" rtlCol="0">
            <a:spAutoFit/>
          </a:bodyPr>
          <a:lstStyle/>
          <a:p>
            <a:r>
              <a:rPr lang="ru-RU" sz="1600" dirty="0" smtClean="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Същност и специфика на проектите в областта на информационните технологии.</a:t>
            </a:r>
            <a:endParaRPr lang="en-US" sz="1600"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5" name="Oval 4">
            <a:extLst>
              <a:ext uri="{FF2B5EF4-FFF2-40B4-BE49-F238E27FC236}">
                <a16:creationId xmlns:a16="http://schemas.microsoft.com/office/drawing/2014/main" id="{5228EFC3-3382-4436-9D8A-EB18EB1613CC}"/>
              </a:ext>
            </a:extLst>
          </p:cNvPr>
          <p:cNvSpPr/>
          <p:nvPr/>
        </p:nvSpPr>
        <p:spPr>
          <a:xfrm>
            <a:off x="6143011" y="340089"/>
            <a:ext cx="838200" cy="838200"/>
          </a:xfrm>
          <a:prstGeom prst="ellipse">
            <a:avLst/>
          </a:prstGeom>
          <a:gradFill>
            <a:gsLst>
              <a:gs pos="0">
                <a:srgbClr val="06C2BD"/>
              </a:gs>
              <a:gs pos="100000">
                <a:schemeClr val="accent1"/>
              </a:gs>
            </a:gsLst>
            <a:lin ang="18900000" scaled="1"/>
          </a:gradFill>
          <a:ln w="50800">
            <a:solidFill>
              <a:schemeClr val="bg1"/>
            </a:solidFill>
          </a:ln>
          <a:effectLst>
            <a:outerShdw blurRad="139700" dist="50800" dir="24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BBDF9B8-2A60-4F69-877E-B29DC81A9552}"/>
              </a:ext>
            </a:extLst>
          </p:cNvPr>
          <p:cNvSpPr txBox="1"/>
          <p:nvPr/>
        </p:nvSpPr>
        <p:spPr>
          <a:xfrm>
            <a:off x="6260504" y="497579"/>
            <a:ext cx="603213" cy="523220"/>
          </a:xfrm>
          <a:prstGeom prst="rect">
            <a:avLst/>
          </a:prstGeom>
          <a:noFill/>
        </p:spPr>
        <p:txBody>
          <a:bodyPr wrap="square" rtlCol="0">
            <a:spAutoFit/>
          </a:bodyPr>
          <a:lstStyle/>
          <a:p>
            <a:pPr algn="ctr"/>
            <a:r>
              <a:rPr lang="bg-BG" sz="2800" b="1" dirty="0" smtClean="0">
                <a:solidFill>
                  <a:schemeClr val="bg1"/>
                </a:solidFill>
              </a:rPr>
              <a:t>01</a:t>
            </a:r>
            <a:endParaRPr lang="bg-BG" sz="2800" b="1" dirty="0">
              <a:solidFill>
                <a:schemeClr val="bg1"/>
              </a:solidFill>
            </a:endParaRPr>
          </a:p>
        </p:txBody>
      </p:sp>
      <p:sp>
        <p:nvSpPr>
          <p:cNvPr id="37" name="TextBox 36">
            <a:extLst>
              <a:ext uri="{FF2B5EF4-FFF2-40B4-BE49-F238E27FC236}">
                <a16:creationId xmlns:a16="http://schemas.microsoft.com/office/drawing/2014/main" id="{61CDFAAB-7D11-4DD2-B291-9C54A152B5C8}"/>
              </a:ext>
            </a:extLst>
          </p:cNvPr>
          <p:cNvSpPr txBox="1"/>
          <p:nvPr/>
        </p:nvSpPr>
        <p:spPr>
          <a:xfrm>
            <a:off x="6981211" y="1912547"/>
            <a:ext cx="4346990" cy="338554"/>
          </a:xfrm>
          <a:prstGeom prst="rect">
            <a:avLst/>
          </a:prstGeom>
          <a:noFill/>
        </p:spPr>
        <p:txBody>
          <a:bodyPr wrap="square" rtlCol="0">
            <a:spAutoFit/>
          </a:bodyPr>
          <a:lstStyle/>
          <a:p>
            <a:r>
              <a:rPr lang="ru-RU" sz="1600" dirty="0" smtClean="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Структура и характерни черти на IT проекта.</a:t>
            </a:r>
            <a:endParaRPr lang="en-US" sz="1600"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38" name="Oval 37">
            <a:extLst>
              <a:ext uri="{FF2B5EF4-FFF2-40B4-BE49-F238E27FC236}">
                <a16:creationId xmlns:a16="http://schemas.microsoft.com/office/drawing/2014/main" id="{5228EFC3-3382-4436-9D8A-EB18EB1613CC}"/>
              </a:ext>
            </a:extLst>
          </p:cNvPr>
          <p:cNvSpPr/>
          <p:nvPr/>
        </p:nvSpPr>
        <p:spPr>
          <a:xfrm>
            <a:off x="5888017" y="1651893"/>
            <a:ext cx="838200" cy="838200"/>
          </a:xfrm>
          <a:prstGeom prst="ellipse">
            <a:avLst/>
          </a:prstGeom>
          <a:gradFill>
            <a:gsLst>
              <a:gs pos="0">
                <a:srgbClr val="06C2BD"/>
              </a:gs>
              <a:gs pos="100000">
                <a:schemeClr val="accent1"/>
              </a:gs>
            </a:gsLst>
            <a:lin ang="18900000" scaled="1"/>
          </a:gradFill>
          <a:ln w="50800">
            <a:solidFill>
              <a:schemeClr val="bg1"/>
            </a:solidFill>
          </a:ln>
          <a:effectLst>
            <a:outerShdw blurRad="139700" dist="50800" dir="24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9BBDF9B8-2A60-4F69-877E-B29DC81A9552}"/>
              </a:ext>
            </a:extLst>
          </p:cNvPr>
          <p:cNvSpPr txBox="1"/>
          <p:nvPr/>
        </p:nvSpPr>
        <p:spPr>
          <a:xfrm>
            <a:off x="6005510" y="1804826"/>
            <a:ext cx="603213" cy="523220"/>
          </a:xfrm>
          <a:prstGeom prst="rect">
            <a:avLst/>
          </a:prstGeom>
          <a:noFill/>
        </p:spPr>
        <p:txBody>
          <a:bodyPr wrap="square" rtlCol="0">
            <a:spAutoFit/>
          </a:bodyPr>
          <a:lstStyle/>
          <a:p>
            <a:pPr algn="ctr"/>
            <a:r>
              <a:rPr lang="bg-BG" sz="2800" b="1" dirty="0" smtClean="0">
                <a:solidFill>
                  <a:schemeClr val="bg1"/>
                </a:solidFill>
              </a:rPr>
              <a:t>02</a:t>
            </a:r>
            <a:endParaRPr lang="bg-BG" sz="2800" b="1" dirty="0">
              <a:solidFill>
                <a:schemeClr val="bg1"/>
              </a:solidFill>
            </a:endParaRPr>
          </a:p>
        </p:txBody>
      </p:sp>
      <p:sp>
        <p:nvSpPr>
          <p:cNvPr id="40" name="TextBox 39">
            <a:extLst>
              <a:ext uri="{FF2B5EF4-FFF2-40B4-BE49-F238E27FC236}">
                <a16:creationId xmlns:a16="http://schemas.microsoft.com/office/drawing/2014/main" id="{9BBDF9B8-2A60-4F69-877E-B29DC81A9552}"/>
              </a:ext>
            </a:extLst>
          </p:cNvPr>
          <p:cNvSpPr txBox="1"/>
          <p:nvPr/>
        </p:nvSpPr>
        <p:spPr>
          <a:xfrm>
            <a:off x="5719247" y="3125842"/>
            <a:ext cx="603213" cy="523220"/>
          </a:xfrm>
          <a:prstGeom prst="rect">
            <a:avLst/>
          </a:prstGeom>
          <a:noFill/>
        </p:spPr>
        <p:txBody>
          <a:bodyPr wrap="square" rtlCol="0">
            <a:spAutoFit/>
          </a:bodyPr>
          <a:lstStyle/>
          <a:p>
            <a:pPr algn="ctr"/>
            <a:r>
              <a:rPr lang="bg-BG" sz="2800" b="1" dirty="0" smtClean="0">
                <a:solidFill>
                  <a:schemeClr val="bg1"/>
                </a:solidFill>
              </a:rPr>
              <a:t>03</a:t>
            </a:r>
            <a:endParaRPr lang="bg-BG" sz="2800" b="1" dirty="0">
              <a:solidFill>
                <a:schemeClr val="bg1"/>
              </a:solidFill>
            </a:endParaRPr>
          </a:p>
        </p:txBody>
      </p:sp>
      <p:sp>
        <p:nvSpPr>
          <p:cNvPr id="41" name="TextBox 40">
            <a:extLst>
              <a:ext uri="{FF2B5EF4-FFF2-40B4-BE49-F238E27FC236}">
                <a16:creationId xmlns:a16="http://schemas.microsoft.com/office/drawing/2014/main" id="{9BBDF9B8-2A60-4F69-877E-B29DC81A9552}"/>
              </a:ext>
            </a:extLst>
          </p:cNvPr>
          <p:cNvSpPr txBox="1"/>
          <p:nvPr/>
        </p:nvSpPr>
        <p:spPr>
          <a:xfrm>
            <a:off x="5496035" y="4471382"/>
            <a:ext cx="603213" cy="523220"/>
          </a:xfrm>
          <a:prstGeom prst="rect">
            <a:avLst/>
          </a:prstGeom>
          <a:noFill/>
        </p:spPr>
        <p:txBody>
          <a:bodyPr wrap="square" rtlCol="0">
            <a:spAutoFit/>
          </a:bodyPr>
          <a:lstStyle/>
          <a:p>
            <a:pPr algn="ctr"/>
            <a:r>
              <a:rPr lang="bg-BG" sz="2800" b="1" dirty="0" smtClean="0">
                <a:solidFill>
                  <a:schemeClr val="bg1"/>
                </a:solidFill>
              </a:rPr>
              <a:t>04</a:t>
            </a:r>
            <a:endParaRPr lang="bg-BG" sz="2800" b="1" dirty="0">
              <a:solidFill>
                <a:schemeClr val="bg1"/>
              </a:solidFill>
            </a:endParaRPr>
          </a:p>
        </p:txBody>
      </p:sp>
      <p:sp>
        <p:nvSpPr>
          <p:cNvPr id="46" name="TextBox 45">
            <a:extLst>
              <a:ext uri="{FF2B5EF4-FFF2-40B4-BE49-F238E27FC236}">
                <a16:creationId xmlns:a16="http://schemas.microsoft.com/office/drawing/2014/main" id="{9BBDF9B8-2A60-4F69-877E-B29DC81A9552}"/>
              </a:ext>
            </a:extLst>
          </p:cNvPr>
          <p:cNvSpPr txBox="1"/>
          <p:nvPr/>
        </p:nvSpPr>
        <p:spPr>
          <a:xfrm>
            <a:off x="5245327" y="5741670"/>
            <a:ext cx="603213" cy="523220"/>
          </a:xfrm>
          <a:prstGeom prst="rect">
            <a:avLst/>
          </a:prstGeom>
          <a:noFill/>
        </p:spPr>
        <p:txBody>
          <a:bodyPr wrap="square" rtlCol="0">
            <a:spAutoFit/>
          </a:bodyPr>
          <a:lstStyle/>
          <a:p>
            <a:pPr algn="ctr"/>
            <a:r>
              <a:rPr lang="bg-BG" sz="2800" b="1" dirty="0" smtClean="0">
                <a:solidFill>
                  <a:schemeClr val="bg1"/>
                </a:solidFill>
              </a:rPr>
              <a:t>05</a:t>
            </a:r>
          </a:p>
        </p:txBody>
      </p:sp>
      <p:sp>
        <p:nvSpPr>
          <p:cNvPr id="47" name="TextBox 46">
            <a:extLst>
              <a:ext uri="{FF2B5EF4-FFF2-40B4-BE49-F238E27FC236}">
                <a16:creationId xmlns:a16="http://schemas.microsoft.com/office/drawing/2014/main" id="{8157F69B-B9B7-4807-9D78-AF3E1A25834C}"/>
              </a:ext>
            </a:extLst>
          </p:cNvPr>
          <p:cNvSpPr txBox="1"/>
          <p:nvPr/>
        </p:nvSpPr>
        <p:spPr>
          <a:xfrm>
            <a:off x="433449" y="5035348"/>
            <a:ext cx="3687702" cy="553998"/>
          </a:xfrm>
          <a:prstGeom prst="rect">
            <a:avLst/>
          </a:prstGeom>
          <a:noFill/>
        </p:spPr>
        <p:txBody>
          <a:bodyPr wrap="square" rtlCol="0">
            <a:spAutoFit/>
          </a:bodyPr>
          <a:lstStyle/>
          <a:p>
            <a:r>
              <a:rPr lang="bg-BG" sz="1500" dirty="0" smtClean="0">
                <a:solidFill>
                  <a:schemeClr val="bg1"/>
                </a:solidFill>
                <a:latin typeface="Segoe UI Light" panose="020B0502040204020203" pitchFamily="34" charset="0"/>
                <a:ea typeface="Segoe UI Black" panose="020B0A02040204020203" pitchFamily="34" charset="0"/>
                <a:cs typeface="Segoe UI Light" panose="020B0502040204020203" pitchFamily="34" charset="0"/>
              </a:rPr>
              <a:t>Илиян Красимиров Койчев – 17621807</a:t>
            </a:r>
            <a:br>
              <a:rPr lang="bg-BG" sz="1500" dirty="0" smtClean="0">
                <a:solidFill>
                  <a:schemeClr val="bg1"/>
                </a:solidFill>
                <a:latin typeface="Segoe UI Light" panose="020B0502040204020203" pitchFamily="34" charset="0"/>
                <a:ea typeface="Segoe UI Black" panose="020B0A02040204020203" pitchFamily="34" charset="0"/>
                <a:cs typeface="Segoe UI Light" panose="020B0502040204020203" pitchFamily="34" charset="0"/>
              </a:rPr>
            </a:br>
            <a:r>
              <a:rPr lang="bg-BG" sz="1500" dirty="0" smtClean="0">
                <a:solidFill>
                  <a:schemeClr val="bg1"/>
                </a:solidFill>
                <a:latin typeface="Segoe UI Light" panose="020B0502040204020203" pitchFamily="34" charset="0"/>
                <a:ea typeface="Segoe UI Black" panose="020B0A02040204020203" pitchFamily="34" charset="0"/>
                <a:cs typeface="Segoe UI Light" panose="020B0502040204020203" pitchFamily="34" charset="0"/>
              </a:rPr>
              <a:t>Петър Николчев Пеев - </a:t>
            </a:r>
            <a:r>
              <a:rPr lang="en-US" sz="1500" dirty="0" smtClean="0">
                <a:solidFill>
                  <a:schemeClr val="bg1"/>
                </a:solidFill>
                <a:latin typeface="Segoe UI Light" panose="020B0502040204020203" pitchFamily="34" charset="0"/>
                <a:ea typeface="Segoe UI Black" panose="020B0A02040204020203" pitchFamily="34" charset="0"/>
                <a:cs typeface="Segoe UI Light" panose="020B0502040204020203" pitchFamily="34" charset="0"/>
              </a:rPr>
              <a:t>17621708</a:t>
            </a:r>
            <a:endParaRPr lang="en-US" sz="1500" dirty="0">
              <a:solidFill>
                <a:schemeClr val="bg1"/>
              </a:solidFill>
              <a:latin typeface="Segoe UI Light" panose="020B0502040204020203" pitchFamily="34" charset="0"/>
              <a:ea typeface="Segoe UI Black" panose="020B0A02040204020203" pitchFamily="34" charset="0"/>
              <a:cs typeface="Segoe UI Light" panose="020B0502040204020203" pitchFamily="34" charset="0"/>
            </a:endParaRPr>
          </a:p>
        </p:txBody>
      </p:sp>
    </p:spTree>
    <p:extLst>
      <p:ext uri="{BB962C8B-B14F-4D97-AF65-F5344CB8AC3E}">
        <p14:creationId xmlns:p14="http://schemas.microsoft.com/office/powerpoint/2010/main" val="889158915"/>
      </p:ext>
    </p:extLst>
  </p:cSld>
  <p:clrMapOvr>
    <a:masterClrMapping/>
  </p:clrMapOvr>
  <mc:AlternateContent xmlns:mc="http://schemas.openxmlformats.org/markup-compatibility/2006" xmlns:p14="http://schemas.microsoft.com/office/powerpoint/2010/main">
    <mc:Choice Requires="p14">
      <p:transition spd="slow" p14:dur="275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anim calcmode="lin" valueType="num">
                                      <p:cBhvr>
                                        <p:cTn id="18" dur="1000" fill="hold"/>
                                        <p:tgtEl>
                                          <p:spTgt spid="29"/>
                                        </p:tgtEl>
                                        <p:attrNameLst>
                                          <p:attrName>ppt_x</p:attrName>
                                        </p:attrNameLst>
                                      </p:cBhvr>
                                      <p:tavLst>
                                        <p:tav tm="0">
                                          <p:val>
                                            <p:strVal val="#ppt_x"/>
                                          </p:val>
                                        </p:tav>
                                        <p:tav tm="100000">
                                          <p:val>
                                            <p:strVal val="#ppt_x"/>
                                          </p:val>
                                        </p:tav>
                                      </p:tavLst>
                                    </p:anim>
                                    <p:anim calcmode="lin" valueType="num">
                                      <p:cBhvr>
                                        <p:cTn id="19" dur="1000" fill="hold"/>
                                        <p:tgtEl>
                                          <p:spTgt spid="29"/>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1000"/>
                                        <p:tgtEl>
                                          <p:spTgt spid="38"/>
                                        </p:tgtEl>
                                      </p:cBhvr>
                                    </p:animEffect>
                                    <p:anim calcmode="lin" valueType="num">
                                      <p:cBhvr>
                                        <p:cTn id="24" dur="1000" fill="hold"/>
                                        <p:tgtEl>
                                          <p:spTgt spid="38"/>
                                        </p:tgtEl>
                                        <p:attrNameLst>
                                          <p:attrName>ppt_x</p:attrName>
                                        </p:attrNameLst>
                                      </p:cBhvr>
                                      <p:tavLst>
                                        <p:tav tm="0">
                                          <p:val>
                                            <p:strVal val="#ppt_x"/>
                                          </p:val>
                                        </p:tav>
                                        <p:tav tm="100000">
                                          <p:val>
                                            <p:strVal val="#ppt_x"/>
                                          </p:val>
                                        </p:tav>
                                      </p:tavLst>
                                    </p:anim>
                                    <p:anim calcmode="lin" valueType="num">
                                      <p:cBhvr>
                                        <p:cTn id="25" dur="1000" fill="hold"/>
                                        <p:tgtEl>
                                          <p:spTgt spid="3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1000"/>
                                        <p:tgtEl>
                                          <p:spTgt spid="39"/>
                                        </p:tgtEl>
                                      </p:cBhvr>
                                    </p:animEffect>
                                    <p:anim calcmode="lin" valueType="num">
                                      <p:cBhvr>
                                        <p:cTn id="29" dur="1000" fill="hold"/>
                                        <p:tgtEl>
                                          <p:spTgt spid="39"/>
                                        </p:tgtEl>
                                        <p:attrNameLst>
                                          <p:attrName>ppt_x</p:attrName>
                                        </p:attrNameLst>
                                      </p:cBhvr>
                                      <p:tavLst>
                                        <p:tav tm="0">
                                          <p:val>
                                            <p:strVal val="#ppt_x"/>
                                          </p:val>
                                        </p:tav>
                                        <p:tav tm="100000">
                                          <p:val>
                                            <p:strVal val="#ppt_x"/>
                                          </p:val>
                                        </p:tav>
                                      </p:tavLst>
                                    </p:anim>
                                    <p:anim calcmode="lin" valueType="num">
                                      <p:cBhvr>
                                        <p:cTn id="30" dur="1000" fill="hold"/>
                                        <p:tgtEl>
                                          <p:spTgt spid="3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1000"/>
                                        <p:tgtEl>
                                          <p:spTgt spid="37"/>
                                        </p:tgtEl>
                                      </p:cBhvr>
                                    </p:animEffect>
                                    <p:anim calcmode="lin" valueType="num">
                                      <p:cBhvr>
                                        <p:cTn id="34" dur="1000" fill="hold"/>
                                        <p:tgtEl>
                                          <p:spTgt spid="37"/>
                                        </p:tgtEl>
                                        <p:attrNameLst>
                                          <p:attrName>ppt_x</p:attrName>
                                        </p:attrNameLst>
                                      </p:cBhvr>
                                      <p:tavLst>
                                        <p:tav tm="0">
                                          <p:val>
                                            <p:strVal val="#ppt_x"/>
                                          </p:val>
                                        </p:tav>
                                        <p:tav tm="100000">
                                          <p:val>
                                            <p:strVal val="#ppt_x"/>
                                          </p:val>
                                        </p:tav>
                                      </p:tavLst>
                                    </p:anim>
                                    <p:anim calcmode="lin" valueType="num">
                                      <p:cBhvr>
                                        <p:cTn id="35" dur="1000" fill="hold"/>
                                        <p:tgtEl>
                                          <p:spTgt spid="37"/>
                                        </p:tgtEl>
                                        <p:attrNameLst>
                                          <p:attrName>ppt_y</p:attrName>
                                        </p:attrNameLst>
                                      </p:cBhvr>
                                      <p:tavLst>
                                        <p:tav tm="0">
                                          <p:val>
                                            <p:strVal val="#ppt_y+.1"/>
                                          </p:val>
                                        </p:tav>
                                        <p:tav tm="100000">
                                          <p:val>
                                            <p:strVal val="#ppt_y"/>
                                          </p:val>
                                        </p:tav>
                                      </p:tavLst>
                                    </p:anim>
                                  </p:childTnLst>
                                </p:cTn>
                              </p:par>
                            </p:childTnLst>
                          </p:cTn>
                        </p:par>
                        <p:par>
                          <p:cTn id="36" fill="hold">
                            <p:stCondLst>
                              <p:cond delay="2000"/>
                            </p:stCondLst>
                            <p:childTnLst>
                              <p:par>
                                <p:cTn id="37" presetID="42" presetClass="entr" presetSubtype="0" fill="hold" grpId="0"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1000"/>
                                        <p:tgtEl>
                                          <p:spTgt spid="40"/>
                                        </p:tgtEl>
                                      </p:cBhvr>
                                    </p:animEffect>
                                    <p:anim calcmode="lin" valueType="num">
                                      <p:cBhvr>
                                        <p:cTn id="40" dur="1000" fill="hold"/>
                                        <p:tgtEl>
                                          <p:spTgt spid="40"/>
                                        </p:tgtEl>
                                        <p:attrNameLst>
                                          <p:attrName>ppt_x</p:attrName>
                                        </p:attrNameLst>
                                      </p:cBhvr>
                                      <p:tavLst>
                                        <p:tav tm="0">
                                          <p:val>
                                            <p:strVal val="#ppt_x"/>
                                          </p:val>
                                        </p:tav>
                                        <p:tav tm="100000">
                                          <p:val>
                                            <p:strVal val="#ppt_x"/>
                                          </p:val>
                                        </p:tav>
                                      </p:tavLst>
                                    </p:anim>
                                    <p:anim calcmode="lin" valueType="num">
                                      <p:cBhvr>
                                        <p:cTn id="41" dur="1000" fill="hold"/>
                                        <p:tgtEl>
                                          <p:spTgt spid="4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1000"/>
                                        <p:tgtEl>
                                          <p:spTgt spid="26"/>
                                        </p:tgtEl>
                                      </p:cBhvr>
                                    </p:animEffect>
                                    <p:anim calcmode="lin" valueType="num">
                                      <p:cBhvr>
                                        <p:cTn id="45" dur="1000" fill="hold"/>
                                        <p:tgtEl>
                                          <p:spTgt spid="26"/>
                                        </p:tgtEl>
                                        <p:attrNameLst>
                                          <p:attrName>ppt_x</p:attrName>
                                        </p:attrNameLst>
                                      </p:cBhvr>
                                      <p:tavLst>
                                        <p:tav tm="0">
                                          <p:val>
                                            <p:strVal val="#ppt_x"/>
                                          </p:val>
                                        </p:tav>
                                        <p:tav tm="100000">
                                          <p:val>
                                            <p:strVal val="#ppt_x"/>
                                          </p:val>
                                        </p:tav>
                                      </p:tavLst>
                                    </p:anim>
                                    <p:anim calcmode="lin" valueType="num">
                                      <p:cBhvr>
                                        <p:cTn id="46" dur="1000" fill="hold"/>
                                        <p:tgtEl>
                                          <p:spTgt spid="26"/>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1000"/>
                                        <p:tgtEl>
                                          <p:spTgt spid="30"/>
                                        </p:tgtEl>
                                      </p:cBhvr>
                                    </p:animEffect>
                                    <p:anim calcmode="lin" valueType="num">
                                      <p:cBhvr>
                                        <p:cTn id="50" dur="1000" fill="hold"/>
                                        <p:tgtEl>
                                          <p:spTgt spid="30"/>
                                        </p:tgtEl>
                                        <p:attrNameLst>
                                          <p:attrName>ppt_x</p:attrName>
                                        </p:attrNameLst>
                                      </p:cBhvr>
                                      <p:tavLst>
                                        <p:tav tm="0">
                                          <p:val>
                                            <p:strVal val="#ppt_x"/>
                                          </p:val>
                                        </p:tav>
                                        <p:tav tm="100000">
                                          <p:val>
                                            <p:strVal val="#ppt_x"/>
                                          </p:val>
                                        </p:tav>
                                      </p:tavLst>
                                    </p:anim>
                                    <p:anim calcmode="lin" valueType="num">
                                      <p:cBhvr>
                                        <p:cTn id="51" dur="1000" fill="hold"/>
                                        <p:tgtEl>
                                          <p:spTgt spid="30"/>
                                        </p:tgtEl>
                                        <p:attrNameLst>
                                          <p:attrName>ppt_y</p:attrName>
                                        </p:attrNameLst>
                                      </p:cBhvr>
                                      <p:tavLst>
                                        <p:tav tm="0">
                                          <p:val>
                                            <p:strVal val="#ppt_y+.1"/>
                                          </p:val>
                                        </p:tav>
                                        <p:tav tm="100000">
                                          <p:val>
                                            <p:strVal val="#ppt_y"/>
                                          </p:val>
                                        </p:tav>
                                      </p:tavLst>
                                    </p:anim>
                                  </p:childTnLst>
                                </p:cTn>
                              </p:par>
                            </p:childTnLst>
                          </p:cTn>
                        </p:par>
                        <p:par>
                          <p:cTn id="52" fill="hold">
                            <p:stCondLst>
                              <p:cond delay="3000"/>
                            </p:stCondLst>
                            <p:childTnLst>
                              <p:par>
                                <p:cTn id="53" presetID="42" presetClass="entr" presetSubtype="0" fill="hold" grpId="0" nodeType="after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1000"/>
                                        <p:tgtEl>
                                          <p:spTgt spid="41"/>
                                        </p:tgtEl>
                                      </p:cBhvr>
                                    </p:animEffect>
                                    <p:anim calcmode="lin" valueType="num">
                                      <p:cBhvr>
                                        <p:cTn id="56" dur="1000" fill="hold"/>
                                        <p:tgtEl>
                                          <p:spTgt spid="41"/>
                                        </p:tgtEl>
                                        <p:attrNameLst>
                                          <p:attrName>ppt_x</p:attrName>
                                        </p:attrNameLst>
                                      </p:cBhvr>
                                      <p:tavLst>
                                        <p:tav tm="0">
                                          <p:val>
                                            <p:strVal val="#ppt_x"/>
                                          </p:val>
                                        </p:tav>
                                        <p:tav tm="100000">
                                          <p:val>
                                            <p:strVal val="#ppt_x"/>
                                          </p:val>
                                        </p:tav>
                                      </p:tavLst>
                                    </p:anim>
                                    <p:anim calcmode="lin" valueType="num">
                                      <p:cBhvr>
                                        <p:cTn id="57" dur="1000" fill="hold"/>
                                        <p:tgtEl>
                                          <p:spTgt spid="4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1000"/>
                                        <p:tgtEl>
                                          <p:spTgt spid="27"/>
                                        </p:tgtEl>
                                      </p:cBhvr>
                                    </p:animEffect>
                                    <p:anim calcmode="lin" valueType="num">
                                      <p:cBhvr>
                                        <p:cTn id="61" dur="1000" fill="hold"/>
                                        <p:tgtEl>
                                          <p:spTgt spid="27"/>
                                        </p:tgtEl>
                                        <p:attrNameLst>
                                          <p:attrName>ppt_x</p:attrName>
                                        </p:attrNameLst>
                                      </p:cBhvr>
                                      <p:tavLst>
                                        <p:tav tm="0">
                                          <p:val>
                                            <p:strVal val="#ppt_x"/>
                                          </p:val>
                                        </p:tav>
                                        <p:tav tm="100000">
                                          <p:val>
                                            <p:strVal val="#ppt_x"/>
                                          </p:val>
                                        </p:tav>
                                      </p:tavLst>
                                    </p:anim>
                                    <p:anim calcmode="lin" valueType="num">
                                      <p:cBhvr>
                                        <p:cTn id="62" dur="1000" fill="hold"/>
                                        <p:tgtEl>
                                          <p:spTgt spid="2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1000"/>
                                        <p:tgtEl>
                                          <p:spTgt spid="32"/>
                                        </p:tgtEl>
                                      </p:cBhvr>
                                    </p:animEffect>
                                    <p:anim calcmode="lin" valueType="num">
                                      <p:cBhvr>
                                        <p:cTn id="66" dur="1000" fill="hold"/>
                                        <p:tgtEl>
                                          <p:spTgt spid="32"/>
                                        </p:tgtEl>
                                        <p:attrNameLst>
                                          <p:attrName>ppt_x</p:attrName>
                                        </p:attrNameLst>
                                      </p:cBhvr>
                                      <p:tavLst>
                                        <p:tav tm="0">
                                          <p:val>
                                            <p:strVal val="#ppt_x"/>
                                          </p:val>
                                        </p:tav>
                                        <p:tav tm="100000">
                                          <p:val>
                                            <p:strVal val="#ppt_x"/>
                                          </p:val>
                                        </p:tav>
                                      </p:tavLst>
                                    </p:anim>
                                    <p:anim calcmode="lin" valueType="num">
                                      <p:cBhvr>
                                        <p:cTn id="67" dur="1000" fill="hold"/>
                                        <p:tgtEl>
                                          <p:spTgt spid="32"/>
                                        </p:tgtEl>
                                        <p:attrNameLst>
                                          <p:attrName>ppt_y</p:attrName>
                                        </p:attrNameLst>
                                      </p:cBhvr>
                                      <p:tavLst>
                                        <p:tav tm="0">
                                          <p:val>
                                            <p:strVal val="#ppt_y+.1"/>
                                          </p:val>
                                        </p:tav>
                                        <p:tav tm="100000">
                                          <p:val>
                                            <p:strVal val="#ppt_y"/>
                                          </p:val>
                                        </p:tav>
                                      </p:tavLst>
                                    </p:anim>
                                  </p:childTnLst>
                                </p:cTn>
                              </p:par>
                            </p:childTnLst>
                          </p:cTn>
                        </p:par>
                        <p:par>
                          <p:cTn id="68" fill="hold">
                            <p:stCondLst>
                              <p:cond delay="4000"/>
                            </p:stCondLst>
                            <p:childTnLst>
                              <p:par>
                                <p:cTn id="69" presetID="42" presetClass="entr" presetSubtype="0" fill="hold" grpId="0" nodeType="after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1000"/>
                                        <p:tgtEl>
                                          <p:spTgt spid="46"/>
                                        </p:tgtEl>
                                      </p:cBhvr>
                                    </p:animEffect>
                                    <p:anim calcmode="lin" valueType="num">
                                      <p:cBhvr>
                                        <p:cTn id="72" dur="1000" fill="hold"/>
                                        <p:tgtEl>
                                          <p:spTgt spid="46"/>
                                        </p:tgtEl>
                                        <p:attrNameLst>
                                          <p:attrName>ppt_x</p:attrName>
                                        </p:attrNameLst>
                                      </p:cBhvr>
                                      <p:tavLst>
                                        <p:tav tm="0">
                                          <p:val>
                                            <p:strVal val="#ppt_x"/>
                                          </p:val>
                                        </p:tav>
                                        <p:tav tm="100000">
                                          <p:val>
                                            <p:strVal val="#ppt_x"/>
                                          </p:val>
                                        </p:tav>
                                      </p:tavLst>
                                    </p:anim>
                                    <p:anim calcmode="lin" valueType="num">
                                      <p:cBhvr>
                                        <p:cTn id="73" dur="1000" fill="hold"/>
                                        <p:tgtEl>
                                          <p:spTgt spid="46"/>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1000"/>
                                        <p:tgtEl>
                                          <p:spTgt spid="28"/>
                                        </p:tgtEl>
                                      </p:cBhvr>
                                    </p:animEffect>
                                    <p:anim calcmode="lin" valueType="num">
                                      <p:cBhvr>
                                        <p:cTn id="77" dur="1000" fill="hold"/>
                                        <p:tgtEl>
                                          <p:spTgt spid="28"/>
                                        </p:tgtEl>
                                        <p:attrNameLst>
                                          <p:attrName>ppt_x</p:attrName>
                                        </p:attrNameLst>
                                      </p:cBhvr>
                                      <p:tavLst>
                                        <p:tav tm="0">
                                          <p:val>
                                            <p:strVal val="#ppt_x"/>
                                          </p:val>
                                        </p:tav>
                                        <p:tav tm="100000">
                                          <p:val>
                                            <p:strVal val="#ppt_x"/>
                                          </p:val>
                                        </p:tav>
                                      </p:tavLst>
                                    </p:anim>
                                    <p:anim calcmode="lin" valueType="num">
                                      <p:cBhvr>
                                        <p:cTn id="78" dur="1000" fill="hold"/>
                                        <p:tgtEl>
                                          <p:spTgt spid="28"/>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1000"/>
                                        <p:tgtEl>
                                          <p:spTgt spid="33"/>
                                        </p:tgtEl>
                                      </p:cBhvr>
                                    </p:animEffect>
                                    <p:anim calcmode="lin" valueType="num">
                                      <p:cBhvr>
                                        <p:cTn id="82" dur="1000" fill="hold"/>
                                        <p:tgtEl>
                                          <p:spTgt spid="33"/>
                                        </p:tgtEl>
                                        <p:attrNameLst>
                                          <p:attrName>ppt_x</p:attrName>
                                        </p:attrNameLst>
                                      </p:cBhvr>
                                      <p:tavLst>
                                        <p:tav tm="0">
                                          <p:val>
                                            <p:strVal val="#ppt_x"/>
                                          </p:val>
                                        </p:tav>
                                        <p:tav tm="100000">
                                          <p:val>
                                            <p:strVal val="#ppt_x"/>
                                          </p:val>
                                        </p:tav>
                                      </p:tavLst>
                                    </p:anim>
                                    <p:anim calcmode="lin" valueType="num">
                                      <p:cBhvr>
                                        <p:cTn id="83"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27" grpId="0" animBg="1"/>
      <p:bldP spid="30" grpId="0"/>
      <p:bldP spid="26" grpId="0" animBg="1"/>
      <p:bldP spid="33" grpId="0"/>
      <p:bldP spid="28" grpId="0" animBg="1"/>
      <p:bldP spid="29" grpId="0"/>
      <p:bldP spid="5" grpId="0" animBg="1"/>
      <p:bldP spid="31" grpId="0"/>
      <p:bldP spid="37" grpId="0"/>
      <p:bldP spid="38" grpId="0" animBg="1"/>
      <p:bldP spid="39" grpId="0"/>
      <p:bldP spid="40" grpId="0"/>
      <p:bldP spid="41" grpId="0"/>
      <p:bldP spid="4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E58058C2-FF87-4CCB-B9FE-554475A92E42}"/>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a14:imgEffect>
                    <a14:imgEffect>
                      <a14:colorTemperature colorTemp="5300"/>
                    </a14:imgEffect>
                    <a14:imgEffect>
                      <a14:saturation sat="33000"/>
                    </a14:imgEffect>
                  </a14:imgLayer>
                </a14:imgProps>
              </a:ext>
              <a:ext uri="{28A0092B-C50C-407E-A947-70E740481C1C}">
                <a14:useLocalDpi xmlns:a14="http://schemas.microsoft.com/office/drawing/2010/main" val="0"/>
              </a:ext>
            </a:extLst>
          </a:blip>
          <a:srcRect l="10739" t="11615"/>
          <a:stretch/>
        </p:blipFill>
        <p:spPr>
          <a:xfrm>
            <a:off x="0" y="1"/>
            <a:ext cx="12192000" cy="6858000"/>
          </a:xfrm>
          <a:prstGeom prst="rect">
            <a:avLst/>
          </a:prstGeom>
        </p:spPr>
      </p:pic>
      <p:pic>
        <p:nvPicPr>
          <p:cNvPr id="38" name="Picture 37">
            <a:extLst>
              <a:ext uri="{FF2B5EF4-FFF2-40B4-BE49-F238E27FC236}">
                <a16:creationId xmlns:a16="http://schemas.microsoft.com/office/drawing/2014/main" id="{740E45C6-A010-4EB4-9A29-3E83B6ED6289}"/>
              </a:ext>
            </a:extLst>
          </p:cNvPr>
          <p:cNvPicPr>
            <a:picLocks noChangeAspect="1"/>
          </p:cNvPicPr>
          <p:nvPr/>
        </p:nvPicPr>
        <p:blipFill rotWithShape="1">
          <a:blip r:embed="rId5">
            <a:extLst>
              <a:ext uri="{BEBA8EAE-BF5A-486C-A8C5-ECC9F3942E4B}">
                <a14:imgProps xmlns:a14="http://schemas.microsoft.com/office/drawing/2010/main">
                  <a14:imgLayer r:embed="rId4">
                    <a14:imgEffect>
                      <a14:colorTemperature colorTemp="5300"/>
                    </a14:imgEffect>
                    <a14:imgEffect>
                      <a14:saturation sat="33000"/>
                    </a14:imgEffect>
                  </a14:imgLayer>
                </a14:imgProps>
              </a:ext>
              <a:ext uri="{28A0092B-C50C-407E-A947-70E740481C1C}">
                <a14:useLocalDpi xmlns:a14="http://schemas.microsoft.com/office/drawing/2010/main" val="0"/>
              </a:ext>
            </a:extLst>
          </a:blip>
          <a:srcRect l="10739" t="11615"/>
          <a:stretch/>
        </p:blipFill>
        <p:spPr>
          <a:xfrm>
            <a:off x="978310" y="553335"/>
            <a:ext cx="10235381" cy="5751330"/>
          </a:xfrm>
          <a:prstGeom prst="rect">
            <a:avLst/>
          </a:prstGeom>
          <a:effectLst>
            <a:outerShdw blurRad="393700" sx="102000" sy="102000" algn="ctr" rotWithShape="0">
              <a:prstClr val="black">
                <a:alpha val="57000"/>
              </a:prstClr>
            </a:outerShdw>
          </a:effectLst>
        </p:spPr>
      </p:pic>
      <p:sp>
        <p:nvSpPr>
          <p:cNvPr id="40" name="Parallelogram 39">
            <a:extLst>
              <a:ext uri="{FF2B5EF4-FFF2-40B4-BE49-F238E27FC236}">
                <a16:creationId xmlns:a16="http://schemas.microsoft.com/office/drawing/2014/main" id="{1A05ECB9-6DED-4077-B6AF-1B75B6563886}"/>
              </a:ext>
            </a:extLst>
          </p:cNvPr>
          <p:cNvSpPr/>
          <p:nvPr/>
        </p:nvSpPr>
        <p:spPr>
          <a:xfrm>
            <a:off x="8091169" y="6304664"/>
            <a:ext cx="2095369" cy="553336"/>
          </a:xfrm>
          <a:prstGeom prst="parallelogram">
            <a:avLst>
              <a:gd name="adj" fmla="val 23600"/>
            </a:avLst>
          </a:prstGeom>
          <a:solidFill>
            <a:srgbClr val="06C2BD">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arallelogram 40">
            <a:extLst>
              <a:ext uri="{FF2B5EF4-FFF2-40B4-BE49-F238E27FC236}">
                <a16:creationId xmlns:a16="http://schemas.microsoft.com/office/drawing/2014/main" id="{09D04021-9924-48ED-B332-437527D0C7BD}"/>
              </a:ext>
            </a:extLst>
          </p:cNvPr>
          <p:cNvSpPr/>
          <p:nvPr/>
        </p:nvSpPr>
        <p:spPr>
          <a:xfrm>
            <a:off x="9346951" y="-1"/>
            <a:ext cx="2098967" cy="553335"/>
          </a:xfrm>
          <a:prstGeom prst="parallelogram">
            <a:avLst>
              <a:gd name="adj" fmla="val 25321"/>
            </a:avLst>
          </a:prstGeom>
          <a:solidFill>
            <a:srgbClr val="06C2BD">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Parallelogram 46">
            <a:extLst>
              <a:ext uri="{FF2B5EF4-FFF2-40B4-BE49-F238E27FC236}">
                <a16:creationId xmlns:a16="http://schemas.microsoft.com/office/drawing/2014/main" id="{E7901076-65B7-4C0F-86B4-E86AC42E8F19}"/>
              </a:ext>
            </a:extLst>
          </p:cNvPr>
          <p:cNvSpPr/>
          <p:nvPr/>
        </p:nvSpPr>
        <p:spPr>
          <a:xfrm>
            <a:off x="7465068" y="6304664"/>
            <a:ext cx="753873" cy="553336"/>
          </a:xfrm>
          <a:prstGeom prst="parallelogram">
            <a:avLst>
              <a:gd name="adj" fmla="val 23600"/>
            </a:avLst>
          </a:prstGeom>
          <a:solidFill>
            <a:srgbClr val="4040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Parallelogram 47">
            <a:extLst>
              <a:ext uri="{FF2B5EF4-FFF2-40B4-BE49-F238E27FC236}">
                <a16:creationId xmlns:a16="http://schemas.microsoft.com/office/drawing/2014/main" id="{152DDCDB-D5A8-4499-9E97-881C38844D7E}"/>
              </a:ext>
            </a:extLst>
          </p:cNvPr>
          <p:cNvSpPr/>
          <p:nvPr/>
        </p:nvSpPr>
        <p:spPr>
          <a:xfrm>
            <a:off x="8717346" y="-3"/>
            <a:ext cx="768420" cy="553336"/>
          </a:xfrm>
          <a:prstGeom prst="parallelogram">
            <a:avLst>
              <a:gd name="adj" fmla="val 24891"/>
            </a:avLst>
          </a:prstGeom>
          <a:solidFill>
            <a:srgbClr val="40404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Parallelogram 48">
            <a:extLst>
              <a:ext uri="{FF2B5EF4-FFF2-40B4-BE49-F238E27FC236}">
                <a16:creationId xmlns:a16="http://schemas.microsoft.com/office/drawing/2014/main" id="{C04E5819-C15C-4FD1-A011-9D4D39C96A11}"/>
              </a:ext>
            </a:extLst>
          </p:cNvPr>
          <p:cNvSpPr/>
          <p:nvPr/>
        </p:nvSpPr>
        <p:spPr>
          <a:xfrm>
            <a:off x="978309" y="4890942"/>
            <a:ext cx="7546512" cy="1413721"/>
          </a:xfrm>
          <a:prstGeom prst="parallelogram">
            <a:avLst>
              <a:gd name="adj" fmla="val 19878"/>
            </a:avLst>
          </a:prstGeom>
          <a:gradFill flip="none" rotWithShape="1">
            <a:gsLst>
              <a:gs pos="0">
                <a:srgbClr val="06C2BD"/>
              </a:gs>
              <a:gs pos="100000">
                <a:schemeClr val="accent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84801F7-3528-4F15-864B-DB436413EC4C}"/>
              </a:ext>
            </a:extLst>
          </p:cNvPr>
          <p:cNvSpPr txBox="1"/>
          <p:nvPr/>
        </p:nvSpPr>
        <p:spPr>
          <a:xfrm>
            <a:off x="1404004" y="5012662"/>
            <a:ext cx="6438000" cy="430887"/>
          </a:xfrm>
          <a:prstGeom prst="rect">
            <a:avLst/>
          </a:prstGeom>
          <a:noFill/>
        </p:spPr>
        <p:txBody>
          <a:bodyPr wrap="square" lIns="0" tIns="0" rIns="0" bIns="0" rtlCol="0" anchor="ctr">
            <a:spAutoFit/>
          </a:bodyPr>
          <a:lstStyle/>
          <a:p>
            <a:r>
              <a:rPr lang="bg-BG" sz="2800" b="1" dirty="0" smtClean="0">
                <a:solidFill>
                  <a:schemeClr val="bg1"/>
                </a:solidFill>
                <a:latin typeface="Segoe UI" panose="020B0502040204020203" pitchFamily="34" charset="0"/>
                <a:ea typeface="Segoe UI Black" panose="020B0A02040204020203" pitchFamily="34" charset="0"/>
                <a:cs typeface="Segoe UI" panose="020B0502040204020203" pitchFamily="34" charset="0"/>
              </a:rPr>
              <a:t>КАКВО</a:t>
            </a:r>
            <a:r>
              <a:rPr lang="en-US" sz="2800" b="1" dirty="0" smtClean="0">
                <a:solidFill>
                  <a:schemeClr val="bg1"/>
                </a:solidFill>
                <a:latin typeface="Segoe UI" panose="020B0502040204020203" pitchFamily="34" charset="0"/>
                <a:ea typeface="Segoe UI Black" panose="020B0A02040204020203" pitchFamily="34" charset="0"/>
                <a:cs typeface="Segoe UI" panose="020B0502040204020203" pitchFamily="34" charset="0"/>
              </a:rPr>
              <a:t> </a:t>
            </a:r>
            <a:r>
              <a:rPr lang="bg-BG" sz="2800" b="1" dirty="0" smtClean="0">
                <a:solidFill>
                  <a:schemeClr val="bg1"/>
                </a:solidFill>
                <a:latin typeface="Segoe UI" panose="020B0502040204020203" pitchFamily="34" charset="0"/>
                <a:ea typeface="Segoe UI Black" panose="020B0A02040204020203" pitchFamily="34" charset="0"/>
                <a:cs typeface="Segoe UI" panose="020B0502040204020203" pitchFamily="34" charset="0"/>
              </a:rPr>
              <a:t>Е</a:t>
            </a:r>
            <a:endParaRPr lang="en-US" sz="2800" b="1" dirty="0">
              <a:solidFill>
                <a:schemeClr val="bg1"/>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26" name="TextBox 25">
            <a:extLst>
              <a:ext uri="{FF2B5EF4-FFF2-40B4-BE49-F238E27FC236}">
                <a16:creationId xmlns:a16="http://schemas.microsoft.com/office/drawing/2014/main" id="{D84801F7-3528-4F15-864B-DB436413EC4C}"/>
              </a:ext>
            </a:extLst>
          </p:cNvPr>
          <p:cNvSpPr txBox="1"/>
          <p:nvPr/>
        </p:nvSpPr>
        <p:spPr>
          <a:xfrm>
            <a:off x="1344096" y="5443551"/>
            <a:ext cx="6814937" cy="615553"/>
          </a:xfrm>
          <a:prstGeom prst="rect">
            <a:avLst/>
          </a:prstGeom>
          <a:noFill/>
        </p:spPr>
        <p:txBody>
          <a:bodyPr wrap="square" lIns="0" tIns="0" rIns="0" bIns="0" rtlCol="0" anchor="ctr">
            <a:spAutoFit/>
          </a:bodyPr>
          <a:lstStyle/>
          <a:p>
            <a:r>
              <a:rPr lang="en-US" sz="4000" b="1" dirty="0" smtClean="0">
                <a:solidFill>
                  <a:schemeClr val="bg1"/>
                </a:solidFill>
                <a:latin typeface="Segoe UI" panose="020B0502040204020203" pitchFamily="34" charset="0"/>
                <a:ea typeface="Segoe UI Black" panose="020B0A02040204020203" pitchFamily="34" charset="0"/>
                <a:cs typeface="Segoe UI" panose="020B0502040204020203" pitchFamily="34" charset="0"/>
              </a:rPr>
              <a:t>IT </a:t>
            </a:r>
            <a:r>
              <a:rPr lang="en-US" sz="4000" b="1" dirty="0">
                <a:solidFill>
                  <a:schemeClr val="bg1"/>
                </a:solidFill>
                <a:latin typeface="Segoe UI" panose="020B0502040204020203" pitchFamily="34" charset="0"/>
                <a:ea typeface="Segoe UI Black" panose="020B0A02040204020203" pitchFamily="34" charset="0"/>
                <a:cs typeface="Segoe UI" panose="020B0502040204020203" pitchFamily="34" charset="0"/>
              </a:rPr>
              <a:t>PROJECT MANAGEMENT</a:t>
            </a:r>
            <a:r>
              <a:rPr lang="en-US" sz="4000" b="1" dirty="0" smtClean="0">
                <a:solidFill>
                  <a:schemeClr val="bg1"/>
                </a:solidFill>
                <a:latin typeface="Segoe UI" panose="020B0502040204020203" pitchFamily="34" charset="0"/>
                <a:ea typeface="Segoe UI Black" panose="020B0A02040204020203" pitchFamily="34" charset="0"/>
                <a:cs typeface="Segoe UI" panose="020B0502040204020203" pitchFamily="34" charset="0"/>
              </a:rPr>
              <a:t>?</a:t>
            </a:r>
            <a:endParaRPr lang="en-US" sz="4000" b="1" dirty="0">
              <a:solidFill>
                <a:schemeClr val="bg1"/>
              </a:solidFill>
              <a:latin typeface="Segoe UI" panose="020B05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1891100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04D9C745-241B-48EF-8E68-26964B57DD66}"/>
              </a:ext>
            </a:extLst>
          </p:cNvPr>
          <p:cNvSpPr/>
          <p:nvPr/>
        </p:nvSpPr>
        <p:spPr>
          <a:xfrm>
            <a:off x="2062021" y="5453262"/>
            <a:ext cx="2531355" cy="492443"/>
          </a:xfrm>
          <a:prstGeom prst="rect">
            <a:avLst/>
          </a:prstGeom>
        </p:spPr>
        <p:txBody>
          <a:bodyPr wrap="square" lIns="0" tIns="0" rIns="0" bIns="0" anchor="t">
            <a:spAutoFit/>
          </a:bodyPr>
          <a:lstStyle/>
          <a:p>
            <a:pPr lvl="0" algn="ctr"/>
            <a:r>
              <a:rPr lang="bg-BG" sz="3200" b="1" dirty="0" smtClean="0">
                <a:latin typeface="Segoe UI Light" panose="020B0502040204020203" pitchFamily="34" charset="0"/>
                <a:cs typeface="Segoe UI Light" panose="020B0502040204020203" pitchFamily="34" charset="0"/>
              </a:rPr>
              <a:t>ПЛАНИРАНЕ</a:t>
            </a:r>
            <a:endParaRPr lang="en-US" sz="3200" b="1" dirty="0">
              <a:latin typeface="Segoe UI Light" panose="020B0502040204020203" pitchFamily="34" charset="0"/>
              <a:cs typeface="Segoe UI Light" panose="020B0502040204020203" pitchFamily="34" charset="0"/>
            </a:endParaRPr>
          </a:p>
        </p:txBody>
      </p:sp>
      <p:sp>
        <p:nvSpPr>
          <p:cNvPr id="77" name="Teardrop 76">
            <a:extLst>
              <a:ext uri="{FF2B5EF4-FFF2-40B4-BE49-F238E27FC236}">
                <a16:creationId xmlns:a16="http://schemas.microsoft.com/office/drawing/2014/main" id="{B2F9CBCC-DB54-4BE7-BCF4-59C3A73AC8A3}"/>
              </a:ext>
            </a:extLst>
          </p:cNvPr>
          <p:cNvSpPr/>
          <p:nvPr/>
        </p:nvSpPr>
        <p:spPr>
          <a:xfrm rot="8100000">
            <a:off x="2336680" y="2938031"/>
            <a:ext cx="1982039" cy="1982039"/>
          </a:xfrm>
          <a:prstGeom prst="teardrop">
            <a:avLst/>
          </a:prstGeom>
          <a:solidFill>
            <a:srgbClr val="404040"/>
          </a:solidFill>
          <a:ln>
            <a:noFill/>
          </a:ln>
          <a:effectLst>
            <a:innerShdw blurRad="63500" dist="50800" dir="81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6D0C2753-C204-46C9-8A78-CA560DBAC3C1}"/>
              </a:ext>
            </a:extLst>
          </p:cNvPr>
          <p:cNvSpPr/>
          <p:nvPr/>
        </p:nvSpPr>
        <p:spPr>
          <a:xfrm>
            <a:off x="2557347" y="3158698"/>
            <a:ext cx="1540704" cy="1540704"/>
          </a:xfrm>
          <a:prstGeom prst="ellipse">
            <a:avLst/>
          </a:prstGeom>
          <a:gradFill>
            <a:gsLst>
              <a:gs pos="0">
                <a:srgbClr val="06C2BD"/>
              </a:gs>
              <a:gs pos="100000">
                <a:schemeClr val="accent1"/>
              </a:gs>
            </a:gsLst>
            <a:lin ang="18900000" scaled="1"/>
          </a:gradFill>
          <a:ln w="25400">
            <a:solidFill>
              <a:schemeClr val="bg1"/>
            </a:solidFill>
          </a:ln>
          <a:effectLst>
            <a:outerShdw blurRad="63500" dist="508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8" name="Group 107">
            <a:extLst>
              <a:ext uri="{FF2B5EF4-FFF2-40B4-BE49-F238E27FC236}">
                <a16:creationId xmlns:a16="http://schemas.microsoft.com/office/drawing/2014/main" id="{D7F5743F-C998-4925-8DCD-2C8C54B1EA1C}"/>
              </a:ext>
            </a:extLst>
          </p:cNvPr>
          <p:cNvGrpSpPr/>
          <p:nvPr/>
        </p:nvGrpSpPr>
        <p:grpSpPr>
          <a:xfrm>
            <a:off x="3022900" y="3630965"/>
            <a:ext cx="609600" cy="596172"/>
            <a:chOff x="2676526" y="4681538"/>
            <a:chExt cx="360363" cy="352425"/>
          </a:xfrm>
          <a:solidFill>
            <a:schemeClr val="bg1"/>
          </a:solidFill>
          <a:effectLst>
            <a:outerShdw blurRad="50800" dist="38100" dir="5400000" algn="t" rotWithShape="0">
              <a:prstClr val="black">
                <a:alpha val="20000"/>
              </a:prstClr>
            </a:outerShdw>
          </a:effectLst>
        </p:grpSpPr>
        <p:sp>
          <p:nvSpPr>
            <p:cNvPr id="109" name="Freeform 26">
              <a:extLst>
                <a:ext uri="{FF2B5EF4-FFF2-40B4-BE49-F238E27FC236}">
                  <a16:creationId xmlns:a16="http://schemas.microsoft.com/office/drawing/2014/main" id="{77DACCBD-B817-4437-97E3-16AB94BC68E0}"/>
                </a:ext>
              </a:extLst>
            </p:cNvPr>
            <p:cNvSpPr>
              <a:spLocks/>
            </p:cNvSpPr>
            <p:nvPr/>
          </p:nvSpPr>
          <p:spPr bwMode="auto">
            <a:xfrm>
              <a:off x="2676526" y="4794250"/>
              <a:ext cx="360363" cy="239713"/>
            </a:xfrm>
            <a:custGeom>
              <a:avLst/>
              <a:gdLst>
                <a:gd name="T0" fmla="*/ 94 w 96"/>
                <a:gd name="T1" fmla="*/ 60 h 64"/>
                <a:gd name="T2" fmla="*/ 92 w 96"/>
                <a:gd name="T3" fmla="*/ 60 h 64"/>
                <a:gd name="T4" fmla="*/ 92 w 96"/>
                <a:gd name="T5" fmla="*/ 2 h 64"/>
                <a:gd name="T6" fmla="*/ 90 w 96"/>
                <a:gd name="T7" fmla="*/ 0 h 64"/>
                <a:gd name="T8" fmla="*/ 78 w 96"/>
                <a:gd name="T9" fmla="*/ 0 h 64"/>
                <a:gd name="T10" fmla="*/ 76 w 96"/>
                <a:gd name="T11" fmla="*/ 2 h 64"/>
                <a:gd name="T12" fmla="*/ 76 w 96"/>
                <a:gd name="T13" fmla="*/ 60 h 64"/>
                <a:gd name="T14" fmla="*/ 68 w 96"/>
                <a:gd name="T15" fmla="*/ 60 h 64"/>
                <a:gd name="T16" fmla="*/ 68 w 96"/>
                <a:gd name="T17" fmla="*/ 18 h 64"/>
                <a:gd name="T18" fmla="*/ 66 w 96"/>
                <a:gd name="T19" fmla="*/ 16 h 64"/>
                <a:gd name="T20" fmla="*/ 54 w 96"/>
                <a:gd name="T21" fmla="*/ 16 h 64"/>
                <a:gd name="T22" fmla="*/ 52 w 96"/>
                <a:gd name="T23" fmla="*/ 18 h 64"/>
                <a:gd name="T24" fmla="*/ 52 w 96"/>
                <a:gd name="T25" fmla="*/ 60 h 64"/>
                <a:gd name="T26" fmla="*/ 44 w 96"/>
                <a:gd name="T27" fmla="*/ 60 h 64"/>
                <a:gd name="T28" fmla="*/ 44 w 96"/>
                <a:gd name="T29" fmla="*/ 34 h 64"/>
                <a:gd name="T30" fmla="*/ 42 w 96"/>
                <a:gd name="T31" fmla="*/ 32 h 64"/>
                <a:gd name="T32" fmla="*/ 30 w 96"/>
                <a:gd name="T33" fmla="*/ 32 h 64"/>
                <a:gd name="T34" fmla="*/ 28 w 96"/>
                <a:gd name="T35" fmla="*/ 34 h 64"/>
                <a:gd name="T36" fmla="*/ 28 w 96"/>
                <a:gd name="T37" fmla="*/ 60 h 64"/>
                <a:gd name="T38" fmla="*/ 20 w 96"/>
                <a:gd name="T39" fmla="*/ 60 h 64"/>
                <a:gd name="T40" fmla="*/ 20 w 96"/>
                <a:gd name="T41" fmla="*/ 50 h 64"/>
                <a:gd name="T42" fmla="*/ 18 w 96"/>
                <a:gd name="T43" fmla="*/ 48 h 64"/>
                <a:gd name="T44" fmla="*/ 6 w 96"/>
                <a:gd name="T45" fmla="*/ 48 h 64"/>
                <a:gd name="T46" fmla="*/ 4 w 96"/>
                <a:gd name="T47" fmla="*/ 50 h 64"/>
                <a:gd name="T48" fmla="*/ 4 w 96"/>
                <a:gd name="T49" fmla="*/ 60 h 64"/>
                <a:gd name="T50" fmla="*/ 2 w 96"/>
                <a:gd name="T51" fmla="*/ 60 h 64"/>
                <a:gd name="T52" fmla="*/ 0 w 96"/>
                <a:gd name="T53" fmla="*/ 62 h 64"/>
                <a:gd name="T54" fmla="*/ 2 w 96"/>
                <a:gd name="T55" fmla="*/ 64 h 64"/>
                <a:gd name="T56" fmla="*/ 94 w 96"/>
                <a:gd name="T57" fmla="*/ 64 h 64"/>
                <a:gd name="T58" fmla="*/ 96 w 96"/>
                <a:gd name="T59" fmla="*/ 62 h 64"/>
                <a:gd name="T60" fmla="*/ 94 w 96"/>
                <a:gd name="T61"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6" h="64">
                  <a:moveTo>
                    <a:pt x="94" y="60"/>
                  </a:moveTo>
                  <a:cubicBezTo>
                    <a:pt x="92" y="60"/>
                    <a:pt x="92" y="60"/>
                    <a:pt x="92" y="60"/>
                  </a:cubicBezTo>
                  <a:cubicBezTo>
                    <a:pt x="92" y="2"/>
                    <a:pt x="92" y="2"/>
                    <a:pt x="92" y="2"/>
                  </a:cubicBezTo>
                  <a:cubicBezTo>
                    <a:pt x="92" y="1"/>
                    <a:pt x="91" y="0"/>
                    <a:pt x="90" y="0"/>
                  </a:cubicBezTo>
                  <a:cubicBezTo>
                    <a:pt x="78" y="0"/>
                    <a:pt x="78" y="0"/>
                    <a:pt x="78" y="0"/>
                  </a:cubicBezTo>
                  <a:cubicBezTo>
                    <a:pt x="77" y="0"/>
                    <a:pt x="76" y="1"/>
                    <a:pt x="76" y="2"/>
                  </a:cubicBezTo>
                  <a:cubicBezTo>
                    <a:pt x="76" y="60"/>
                    <a:pt x="76" y="60"/>
                    <a:pt x="76" y="60"/>
                  </a:cubicBezTo>
                  <a:cubicBezTo>
                    <a:pt x="68" y="60"/>
                    <a:pt x="68" y="60"/>
                    <a:pt x="68" y="60"/>
                  </a:cubicBezTo>
                  <a:cubicBezTo>
                    <a:pt x="68" y="18"/>
                    <a:pt x="68" y="18"/>
                    <a:pt x="68" y="18"/>
                  </a:cubicBezTo>
                  <a:cubicBezTo>
                    <a:pt x="68" y="17"/>
                    <a:pt x="67" y="16"/>
                    <a:pt x="66" y="16"/>
                  </a:cubicBezTo>
                  <a:cubicBezTo>
                    <a:pt x="54" y="16"/>
                    <a:pt x="54" y="16"/>
                    <a:pt x="54" y="16"/>
                  </a:cubicBezTo>
                  <a:cubicBezTo>
                    <a:pt x="53" y="16"/>
                    <a:pt x="52" y="17"/>
                    <a:pt x="52" y="18"/>
                  </a:cubicBezTo>
                  <a:cubicBezTo>
                    <a:pt x="52" y="60"/>
                    <a:pt x="52" y="60"/>
                    <a:pt x="52" y="60"/>
                  </a:cubicBezTo>
                  <a:cubicBezTo>
                    <a:pt x="44" y="60"/>
                    <a:pt x="44" y="60"/>
                    <a:pt x="44" y="60"/>
                  </a:cubicBezTo>
                  <a:cubicBezTo>
                    <a:pt x="44" y="34"/>
                    <a:pt x="44" y="34"/>
                    <a:pt x="44" y="34"/>
                  </a:cubicBezTo>
                  <a:cubicBezTo>
                    <a:pt x="44" y="33"/>
                    <a:pt x="43" y="32"/>
                    <a:pt x="42" y="32"/>
                  </a:cubicBezTo>
                  <a:cubicBezTo>
                    <a:pt x="30" y="32"/>
                    <a:pt x="30" y="32"/>
                    <a:pt x="30" y="32"/>
                  </a:cubicBezTo>
                  <a:cubicBezTo>
                    <a:pt x="29" y="32"/>
                    <a:pt x="28" y="33"/>
                    <a:pt x="28" y="34"/>
                  </a:cubicBezTo>
                  <a:cubicBezTo>
                    <a:pt x="28" y="60"/>
                    <a:pt x="28" y="60"/>
                    <a:pt x="28" y="60"/>
                  </a:cubicBezTo>
                  <a:cubicBezTo>
                    <a:pt x="20" y="60"/>
                    <a:pt x="20" y="60"/>
                    <a:pt x="20" y="60"/>
                  </a:cubicBezTo>
                  <a:cubicBezTo>
                    <a:pt x="20" y="50"/>
                    <a:pt x="20" y="50"/>
                    <a:pt x="20" y="50"/>
                  </a:cubicBezTo>
                  <a:cubicBezTo>
                    <a:pt x="20" y="49"/>
                    <a:pt x="19" y="48"/>
                    <a:pt x="18" y="48"/>
                  </a:cubicBezTo>
                  <a:cubicBezTo>
                    <a:pt x="6" y="48"/>
                    <a:pt x="6" y="48"/>
                    <a:pt x="6" y="48"/>
                  </a:cubicBezTo>
                  <a:cubicBezTo>
                    <a:pt x="5" y="48"/>
                    <a:pt x="4" y="49"/>
                    <a:pt x="4" y="50"/>
                  </a:cubicBezTo>
                  <a:cubicBezTo>
                    <a:pt x="4" y="60"/>
                    <a:pt x="4" y="60"/>
                    <a:pt x="4" y="60"/>
                  </a:cubicBezTo>
                  <a:cubicBezTo>
                    <a:pt x="2" y="60"/>
                    <a:pt x="2" y="60"/>
                    <a:pt x="2" y="60"/>
                  </a:cubicBezTo>
                  <a:cubicBezTo>
                    <a:pt x="1" y="60"/>
                    <a:pt x="0" y="61"/>
                    <a:pt x="0" y="62"/>
                  </a:cubicBezTo>
                  <a:cubicBezTo>
                    <a:pt x="0" y="63"/>
                    <a:pt x="1" y="64"/>
                    <a:pt x="2" y="64"/>
                  </a:cubicBezTo>
                  <a:cubicBezTo>
                    <a:pt x="94" y="64"/>
                    <a:pt x="94" y="64"/>
                    <a:pt x="94" y="64"/>
                  </a:cubicBezTo>
                  <a:cubicBezTo>
                    <a:pt x="95" y="64"/>
                    <a:pt x="96" y="63"/>
                    <a:pt x="96" y="62"/>
                  </a:cubicBezTo>
                  <a:cubicBezTo>
                    <a:pt x="96" y="61"/>
                    <a:pt x="95" y="60"/>
                    <a:pt x="9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10" name="Freeform 27">
              <a:extLst>
                <a:ext uri="{FF2B5EF4-FFF2-40B4-BE49-F238E27FC236}">
                  <a16:creationId xmlns:a16="http://schemas.microsoft.com/office/drawing/2014/main" id="{014E9DED-1B15-47E0-9FC3-0A8D87BF9E4E}"/>
                </a:ext>
              </a:extLst>
            </p:cNvPr>
            <p:cNvSpPr>
              <a:spLocks/>
            </p:cNvSpPr>
            <p:nvPr/>
          </p:nvSpPr>
          <p:spPr bwMode="auto">
            <a:xfrm>
              <a:off x="2714626" y="4681538"/>
              <a:ext cx="285750" cy="203200"/>
            </a:xfrm>
            <a:custGeom>
              <a:avLst/>
              <a:gdLst>
                <a:gd name="T0" fmla="*/ 2 w 76"/>
                <a:gd name="T1" fmla="*/ 54 h 54"/>
                <a:gd name="T2" fmla="*/ 3 w 76"/>
                <a:gd name="T3" fmla="*/ 54 h 54"/>
                <a:gd name="T4" fmla="*/ 71 w 76"/>
                <a:gd name="T5" fmla="*/ 8 h 54"/>
                <a:gd name="T6" fmla="*/ 70 w 76"/>
                <a:gd name="T7" fmla="*/ 20 h 54"/>
                <a:gd name="T8" fmla="*/ 72 w 76"/>
                <a:gd name="T9" fmla="*/ 22 h 54"/>
                <a:gd name="T10" fmla="*/ 72 w 76"/>
                <a:gd name="T11" fmla="*/ 22 h 54"/>
                <a:gd name="T12" fmla="*/ 74 w 76"/>
                <a:gd name="T13" fmla="*/ 20 h 54"/>
                <a:gd name="T14" fmla="*/ 76 w 76"/>
                <a:gd name="T15" fmla="*/ 4 h 54"/>
                <a:gd name="T16" fmla="*/ 74 w 76"/>
                <a:gd name="T17" fmla="*/ 2 h 54"/>
                <a:gd name="T18" fmla="*/ 58 w 76"/>
                <a:gd name="T19" fmla="*/ 0 h 54"/>
                <a:gd name="T20" fmla="*/ 56 w 76"/>
                <a:gd name="T21" fmla="*/ 2 h 54"/>
                <a:gd name="T22" fmla="*/ 58 w 76"/>
                <a:gd name="T23" fmla="*/ 4 h 54"/>
                <a:gd name="T24" fmla="*/ 68 w 76"/>
                <a:gd name="T25" fmla="*/ 5 h 54"/>
                <a:gd name="T26" fmla="*/ 1 w 76"/>
                <a:gd name="T27" fmla="*/ 50 h 54"/>
                <a:gd name="T28" fmla="*/ 0 w 76"/>
                <a:gd name="T29" fmla="*/ 53 h 54"/>
                <a:gd name="T30" fmla="*/ 2 w 76"/>
                <a:gd name="T3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 h="54">
                  <a:moveTo>
                    <a:pt x="2" y="54"/>
                  </a:moveTo>
                  <a:cubicBezTo>
                    <a:pt x="2" y="54"/>
                    <a:pt x="3" y="54"/>
                    <a:pt x="3" y="54"/>
                  </a:cubicBezTo>
                  <a:cubicBezTo>
                    <a:pt x="71" y="8"/>
                    <a:pt x="71" y="8"/>
                    <a:pt x="71" y="8"/>
                  </a:cubicBezTo>
                  <a:cubicBezTo>
                    <a:pt x="70" y="20"/>
                    <a:pt x="70" y="20"/>
                    <a:pt x="70" y="20"/>
                  </a:cubicBezTo>
                  <a:cubicBezTo>
                    <a:pt x="70" y="21"/>
                    <a:pt x="71" y="22"/>
                    <a:pt x="72" y="22"/>
                  </a:cubicBezTo>
                  <a:cubicBezTo>
                    <a:pt x="72" y="22"/>
                    <a:pt x="72" y="22"/>
                    <a:pt x="72" y="22"/>
                  </a:cubicBezTo>
                  <a:cubicBezTo>
                    <a:pt x="73" y="22"/>
                    <a:pt x="74" y="21"/>
                    <a:pt x="74" y="20"/>
                  </a:cubicBezTo>
                  <a:cubicBezTo>
                    <a:pt x="76" y="4"/>
                    <a:pt x="76" y="4"/>
                    <a:pt x="76" y="4"/>
                  </a:cubicBezTo>
                  <a:cubicBezTo>
                    <a:pt x="76" y="3"/>
                    <a:pt x="75" y="2"/>
                    <a:pt x="74" y="2"/>
                  </a:cubicBezTo>
                  <a:cubicBezTo>
                    <a:pt x="74" y="2"/>
                    <a:pt x="58" y="0"/>
                    <a:pt x="58" y="0"/>
                  </a:cubicBezTo>
                  <a:cubicBezTo>
                    <a:pt x="57" y="0"/>
                    <a:pt x="56" y="1"/>
                    <a:pt x="56" y="2"/>
                  </a:cubicBezTo>
                  <a:cubicBezTo>
                    <a:pt x="56" y="3"/>
                    <a:pt x="57" y="4"/>
                    <a:pt x="58" y="4"/>
                  </a:cubicBezTo>
                  <a:cubicBezTo>
                    <a:pt x="68" y="5"/>
                    <a:pt x="68" y="5"/>
                    <a:pt x="68" y="5"/>
                  </a:cubicBezTo>
                  <a:cubicBezTo>
                    <a:pt x="1" y="50"/>
                    <a:pt x="1" y="50"/>
                    <a:pt x="1" y="50"/>
                  </a:cubicBezTo>
                  <a:cubicBezTo>
                    <a:pt x="0" y="51"/>
                    <a:pt x="0" y="52"/>
                    <a:pt x="0" y="53"/>
                  </a:cubicBezTo>
                  <a:cubicBezTo>
                    <a:pt x="1" y="54"/>
                    <a:pt x="1" y="54"/>
                    <a:pt x="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95" name="Teardrop 94">
            <a:extLst>
              <a:ext uri="{FF2B5EF4-FFF2-40B4-BE49-F238E27FC236}">
                <a16:creationId xmlns:a16="http://schemas.microsoft.com/office/drawing/2014/main" id="{3B30771A-AD49-4F5D-9A04-648542AC54B2}"/>
              </a:ext>
            </a:extLst>
          </p:cNvPr>
          <p:cNvSpPr/>
          <p:nvPr/>
        </p:nvSpPr>
        <p:spPr>
          <a:xfrm rot="8100000">
            <a:off x="7873281" y="2938031"/>
            <a:ext cx="1982039" cy="1982039"/>
          </a:xfrm>
          <a:prstGeom prst="teardrop">
            <a:avLst/>
          </a:prstGeom>
          <a:solidFill>
            <a:srgbClr val="404040"/>
          </a:solidFill>
          <a:ln>
            <a:noFill/>
          </a:ln>
          <a:effectLst>
            <a:innerShdw blurRad="63500" dist="50800" dir="81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ECAC53A4-A586-4486-B127-191E6BD5E5FF}"/>
              </a:ext>
            </a:extLst>
          </p:cNvPr>
          <p:cNvSpPr/>
          <p:nvPr/>
        </p:nvSpPr>
        <p:spPr>
          <a:xfrm>
            <a:off x="8093948" y="3158698"/>
            <a:ext cx="1540704" cy="1540704"/>
          </a:xfrm>
          <a:prstGeom prst="ellipse">
            <a:avLst/>
          </a:prstGeom>
          <a:gradFill>
            <a:gsLst>
              <a:gs pos="0">
                <a:srgbClr val="06C2BD"/>
              </a:gs>
              <a:gs pos="100000">
                <a:schemeClr val="accent1"/>
              </a:gs>
            </a:gsLst>
            <a:lin ang="18900000" scaled="1"/>
          </a:gradFill>
          <a:ln w="25400">
            <a:solidFill>
              <a:schemeClr val="bg1"/>
            </a:solidFill>
          </a:ln>
          <a:effectLst>
            <a:outerShdw blurRad="63500" dist="508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1" name="Group 110">
            <a:extLst>
              <a:ext uri="{FF2B5EF4-FFF2-40B4-BE49-F238E27FC236}">
                <a16:creationId xmlns:a16="http://schemas.microsoft.com/office/drawing/2014/main" id="{C6AA484B-E41C-4BB6-80B7-905667497CB7}"/>
              </a:ext>
            </a:extLst>
          </p:cNvPr>
          <p:cNvGrpSpPr/>
          <p:nvPr/>
        </p:nvGrpSpPr>
        <p:grpSpPr>
          <a:xfrm>
            <a:off x="8559501" y="3624251"/>
            <a:ext cx="609600" cy="609600"/>
            <a:chOff x="7002463" y="2509838"/>
            <a:chExt cx="360363" cy="360363"/>
          </a:xfrm>
          <a:solidFill>
            <a:schemeClr val="bg1"/>
          </a:solidFill>
          <a:effectLst>
            <a:outerShdw blurRad="50800" dist="38100" dir="5400000" algn="t" rotWithShape="0">
              <a:prstClr val="black">
                <a:alpha val="20000"/>
              </a:prstClr>
            </a:outerShdw>
          </a:effectLst>
        </p:grpSpPr>
        <p:sp>
          <p:nvSpPr>
            <p:cNvPr id="112" name="Freeform 172">
              <a:extLst>
                <a:ext uri="{FF2B5EF4-FFF2-40B4-BE49-F238E27FC236}">
                  <a16:creationId xmlns:a16="http://schemas.microsoft.com/office/drawing/2014/main" id="{44483692-9BE9-412E-9FEC-FADAF401A44E}"/>
                </a:ext>
              </a:extLst>
            </p:cNvPr>
            <p:cNvSpPr>
              <a:spLocks/>
            </p:cNvSpPr>
            <p:nvPr/>
          </p:nvSpPr>
          <p:spPr bwMode="auto">
            <a:xfrm>
              <a:off x="7115176" y="2614613"/>
              <a:ext cx="134938" cy="150813"/>
            </a:xfrm>
            <a:custGeom>
              <a:avLst/>
              <a:gdLst>
                <a:gd name="T0" fmla="*/ 25 w 36"/>
                <a:gd name="T1" fmla="*/ 22 h 40"/>
                <a:gd name="T2" fmla="*/ 30 w 36"/>
                <a:gd name="T3" fmla="*/ 12 h 40"/>
                <a:gd name="T4" fmla="*/ 18 w 36"/>
                <a:gd name="T5" fmla="*/ 0 h 40"/>
                <a:gd name="T6" fmla="*/ 6 w 36"/>
                <a:gd name="T7" fmla="*/ 12 h 40"/>
                <a:gd name="T8" fmla="*/ 11 w 36"/>
                <a:gd name="T9" fmla="*/ 22 h 40"/>
                <a:gd name="T10" fmla="*/ 0 w 36"/>
                <a:gd name="T11" fmla="*/ 38 h 40"/>
                <a:gd name="T12" fmla="*/ 2 w 36"/>
                <a:gd name="T13" fmla="*/ 40 h 40"/>
                <a:gd name="T14" fmla="*/ 34 w 36"/>
                <a:gd name="T15" fmla="*/ 40 h 40"/>
                <a:gd name="T16" fmla="*/ 34 w 36"/>
                <a:gd name="T17" fmla="*/ 40 h 40"/>
                <a:gd name="T18" fmla="*/ 36 w 36"/>
                <a:gd name="T19" fmla="*/ 38 h 40"/>
                <a:gd name="T20" fmla="*/ 36 w 36"/>
                <a:gd name="T21" fmla="*/ 37 h 40"/>
                <a:gd name="T22" fmla="*/ 25 w 36"/>
                <a:gd name="T23"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40">
                  <a:moveTo>
                    <a:pt x="25" y="22"/>
                  </a:moveTo>
                  <a:cubicBezTo>
                    <a:pt x="28" y="19"/>
                    <a:pt x="30" y="16"/>
                    <a:pt x="30" y="12"/>
                  </a:cubicBezTo>
                  <a:cubicBezTo>
                    <a:pt x="30" y="5"/>
                    <a:pt x="25" y="0"/>
                    <a:pt x="18" y="0"/>
                  </a:cubicBezTo>
                  <a:cubicBezTo>
                    <a:pt x="11" y="0"/>
                    <a:pt x="6" y="5"/>
                    <a:pt x="6" y="12"/>
                  </a:cubicBezTo>
                  <a:cubicBezTo>
                    <a:pt x="6" y="16"/>
                    <a:pt x="8" y="19"/>
                    <a:pt x="11" y="22"/>
                  </a:cubicBezTo>
                  <a:cubicBezTo>
                    <a:pt x="4" y="24"/>
                    <a:pt x="0" y="31"/>
                    <a:pt x="0" y="38"/>
                  </a:cubicBezTo>
                  <a:cubicBezTo>
                    <a:pt x="0" y="39"/>
                    <a:pt x="1" y="40"/>
                    <a:pt x="2" y="40"/>
                  </a:cubicBezTo>
                  <a:cubicBezTo>
                    <a:pt x="34" y="40"/>
                    <a:pt x="34" y="40"/>
                    <a:pt x="34" y="40"/>
                  </a:cubicBezTo>
                  <a:cubicBezTo>
                    <a:pt x="34" y="40"/>
                    <a:pt x="34" y="40"/>
                    <a:pt x="34" y="40"/>
                  </a:cubicBezTo>
                  <a:cubicBezTo>
                    <a:pt x="35" y="40"/>
                    <a:pt x="36" y="39"/>
                    <a:pt x="36" y="38"/>
                  </a:cubicBezTo>
                  <a:cubicBezTo>
                    <a:pt x="36" y="38"/>
                    <a:pt x="36" y="38"/>
                    <a:pt x="36" y="37"/>
                  </a:cubicBezTo>
                  <a:cubicBezTo>
                    <a:pt x="36" y="30"/>
                    <a:pt x="31" y="24"/>
                    <a:pt x="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13" name="Freeform 173">
              <a:extLst>
                <a:ext uri="{FF2B5EF4-FFF2-40B4-BE49-F238E27FC236}">
                  <a16:creationId xmlns:a16="http://schemas.microsoft.com/office/drawing/2014/main" id="{E937E782-7F1B-486C-9FC5-6621C707E3BB}"/>
                </a:ext>
              </a:extLst>
            </p:cNvPr>
            <p:cNvSpPr>
              <a:spLocks noEditPoints="1"/>
            </p:cNvSpPr>
            <p:nvPr/>
          </p:nvSpPr>
          <p:spPr bwMode="auto">
            <a:xfrm>
              <a:off x="7250113" y="2509838"/>
              <a:ext cx="112713" cy="112713"/>
            </a:xfrm>
            <a:custGeom>
              <a:avLst/>
              <a:gdLst>
                <a:gd name="T0" fmla="*/ 2 w 30"/>
                <a:gd name="T1" fmla="*/ 30 h 30"/>
                <a:gd name="T2" fmla="*/ 3 w 30"/>
                <a:gd name="T3" fmla="*/ 29 h 30"/>
                <a:gd name="T4" fmla="*/ 15 w 30"/>
                <a:gd name="T5" fmla="*/ 18 h 30"/>
                <a:gd name="T6" fmla="*/ 20 w 30"/>
                <a:gd name="T7" fmla="*/ 20 h 30"/>
                <a:gd name="T8" fmla="*/ 30 w 30"/>
                <a:gd name="T9" fmla="*/ 10 h 30"/>
                <a:gd name="T10" fmla="*/ 20 w 30"/>
                <a:gd name="T11" fmla="*/ 0 h 30"/>
                <a:gd name="T12" fmla="*/ 10 w 30"/>
                <a:gd name="T13" fmla="*/ 10 h 30"/>
                <a:gd name="T14" fmla="*/ 12 w 30"/>
                <a:gd name="T15" fmla="*/ 16 h 30"/>
                <a:gd name="T16" fmla="*/ 1 w 30"/>
                <a:gd name="T17" fmla="*/ 27 h 30"/>
                <a:gd name="T18" fmla="*/ 1 w 30"/>
                <a:gd name="T19" fmla="*/ 29 h 30"/>
                <a:gd name="T20" fmla="*/ 2 w 30"/>
                <a:gd name="T21" fmla="*/ 30 h 30"/>
                <a:gd name="T22" fmla="*/ 20 w 30"/>
                <a:gd name="T23" fmla="*/ 4 h 30"/>
                <a:gd name="T24" fmla="*/ 26 w 30"/>
                <a:gd name="T25" fmla="*/ 10 h 30"/>
                <a:gd name="T26" fmla="*/ 20 w 30"/>
                <a:gd name="T27" fmla="*/ 16 h 30"/>
                <a:gd name="T28" fmla="*/ 14 w 30"/>
                <a:gd name="T29" fmla="*/ 10 h 30"/>
                <a:gd name="T30" fmla="*/ 20 w 30"/>
                <a:gd name="T3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0">
                  <a:moveTo>
                    <a:pt x="2" y="30"/>
                  </a:moveTo>
                  <a:cubicBezTo>
                    <a:pt x="3" y="30"/>
                    <a:pt x="3" y="30"/>
                    <a:pt x="3" y="29"/>
                  </a:cubicBezTo>
                  <a:cubicBezTo>
                    <a:pt x="15" y="18"/>
                    <a:pt x="15" y="18"/>
                    <a:pt x="15" y="18"/>
                  </a:cubicBezTo>
                  <a:cubicBezTo>
                    <a:pt x="16" y="19"/>
                    <a:pt x="18" y="20"/>
                    <a:pt x="20" y="20"/>
                  </a:cubicBezTo>
                  <a:cubicBezTo>
                    <a:pt x="26" y="20"/>
                    <a:pt x="30" y="16"/>
                    <a:pt x="30" y="10"/>
                  </a:cubicBezTo>
                  <a:cubicBezTo>
                    <a:pt x="30" y="4"/>
                    <a:pt x="26" y="0"/>
                    <a:pt x="20" y="0"/>
                  </a:cubicBezTo>
                  <a:cubicBezTo>
                    <a:pt x="15" y="0"/>
                    <a:pt x="10" y="4"/>
                    <a:pt x="10" y="10"/>
                  </a:cubicBezTo>
                  <a:cubicBezTo>
                    <a:pt x="10" y="12"/>
                    <a:pt x="11" y="14"/>
                    <a:pt x="12" y="16"/>
                  </a:cubicBezTo>
                  <a:cubicBezTo>
                    <a:pt x="1" y="27"/>
                    <a:pt x="1" y="27"/>
                    <a:pt x="1" y="27"/>
                  </a:cubicBezTo>
                  <a:cubicBezTo>
                    <a:pt x="0" y="27"/>
                    <a:pt x="0" y="29"/>
                    <a:pt x="1" y="29"/>
                  </a:cubicBezTo>
                  <a:cubicBezTo>
                    <a:pt x="1" y="30"/>
                    <a:pt x="2" y="30"/>
                    <a:pt x="2" y="30"/>
                  </a:cubicBezTo>
                  <a:close/>
                  <a:moveTo>
                    <a:pt x="20" y="4"/>
                  </a:moveTo>
                  <a:cubicBezTo>
                    <a:pt x="23" y="4"/>
                    <a:pt x="26" y="7"/>
                    <a:pt x="26" y="10"/>
                  </a:cubicBezTo>
                  <a:cubicBezTo>
                    <a:pt x="26" y="13"/>
                    <a:pt x="23" y="16"/>
                    <a:pt x="20" y="16"/>
                  </a:cubicBezTo>
                  <a:cubicBezTo>
                    <a:pt x="17" y="16"/>
                    <a:pt x="14" y="13"/>
                    <a:pt x="14" y="10"/>
                  </a:cubicBezTo>
                  <a:cubicBezTo>
                    <a:pt x="14" y="7"/>
                    <a:pt x="17"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14" name="Freeform 174">
              <a:extLst>
                <a:ext uri="{FF2B5EF4-FFF2-40B4-BE49-F238E27FC236}">
                  <a16:creationId xmlns:a16="http://schemas.microsoft.com/office/drawing/2014/main" id="{49CB15D0-6675-4363-B72F-FA5753D4E728}"/>
                </a:ext>
              </a:extLst>
            </p:cNvPr>
            <p:cNvSpPr>
              <a:spLocks noEditPoints="1"/>
            </p:cNvSpPr>
            <p:nvPr/>
          </p:nvSpPr>
          <p:spPr bwMode="auto">
            <a:xfrm>
              <a:off x="7265988" y="2773363"/>
              <a:ext cx="96838" cy="96838"/>
            </a:xfrm>
            <a:custGeom>
              <a:avLst/>
              <a:gdLst>
                <a:gd name="T0" fmla="*/ 16 w 26"/>
                <a:gd name="T1" fmla="*/ 6 h 26"/>
                <a:gd name="T2" fmla="*/ 10 w 26"/>
                <a:gd name="T3" fmla="*/ 8 h 26"/>
                <a:gd name="T4" fmla="*/ 3 w 26"/>
                <a:gd name="T5" fmla="*/ 1 h 26"/>
                <a:gd name="T6" fmla="*/ 0 w 26"/>
                <a:gd name="T7" fmla="*/ 0 h 26"/>
                <a:gd name="T8" fmla="*/ 0 w 26"/>
                <a:gd name="T9" fmla="*/ 3 h 26"/>
                <a:gd name="T10" fmla="*/ 8 w 26"/>
                <a:gd name="T11" fmla="*/ 11 h 26"/>
                <a:gd name="T12" fmla="*/ 6 w 26"/>
                <a:gd name="T13" fmla="*/ 16 h 26"/>
                <a:gd name="T14" fmla="*/ 16 w 26"/>
                <a:gd name="T15" fmla="*/ 26 h 26"/>
                <a:gd name="T16" fmla="*/ 26 w 26"/>
                <a:gd name="T17" fmla="*/ 16 h 26"/>
                <a:gd name="T18" fmla="*/ 16 w 26"/>
                <a:gd name="T19" fmla="*/ 6 h 26"/>
                <a:gd name="T20" fmla="*/ 16 w 26"/>
                <a:gd name="T21" fmla="*/ 22 h 26"/>
                <a:gd name="T22" fmla="*/ 10 w 26"/>
                <a:gd name="T23" fmla="*/ 16 h 26"/>
                <a:gd name="T24" fmla="*/ 16 w 26"/>
                <a:gd name="T25" fmla="*/ 10 h 26"/>
                <a:gd name="T26" fmla="*/ 22 w 26"/>
                <a:gd name="T27" fmla="*/ 16 h 26"/>
                <a:gd name="T28" fmla="*/ 16 w 26"/>
                <a:gd name="T29" fmla="*/ 2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 h="26">
                  <a:moveTo>
                    <a:pt x="16" y="6"/>
                  </a:moveTo>
                  <a:cubicBezTo>
                    <a:pt x="14" y="6"/>
                    <a:pt x="12" y="7"/>
                    <a:pt x="10" y="8"/>
                  </a:cubicBezTo>
                  <a:cubicBezTo>
                    <a:pt x="3" y="1"/>
                    <a:pt x="3" y="1"/>
                    <a:pt x="3" y="1"/>
                  </a:cubicBezTo>
                  <a:cubicBezTo>
                    <a:pt x="3" y="0"/>
                    <a:pt x="1" y="0"/>
                    <a:pt x="0" y="0"/>
                  </a:cubicBezTo>
                  <a:cubicBezTo>
                    <a:pt x="0" y="1"/>
                    <a:pt x="0" y="3"/>
                    <a:pt x="0" y="3"/>
                  </a:cubicBezTo>
                  <a:cubicBezTo>
                    <a:pt x="8" y="11"/>
                    <a:pt x="8" y="11"/>
                    <a:pt x="8" y="11"/>
                  </a:cubicBezTo>
                  <a:cubicBezTo>
                    <a:pt x="7" y="12"/>
                    <a:pt x="6" y="14"/>
                    <a:pt x="6" y="16"/>
                  </a:cubicBezTo>
                  <a:cubicBezTo>
                    <a:pt x="6" y="22"/>
                    <a:pt x="11" y="26"/>
                    <a:pt x="16" y="26"/>
                  </a:cubicBezTo>
                  <a:cubicBezTo>
                    <a:pt x="22" y="26"/>
                    <a:pt x="26" y="22"/>
                    <a:pt x="26" y="16"/>
                  </a:cubicBezTo>
                  <a:cubicBezTo>
                    <a:pt x="26" y="10"/>
                    <a:pt x="22" y="6"/>
                    <a:pt x="16" y="6"/>
                  </a:cubicBezTo>
                  <a:close/>
                  <a:moveTo>
                    <a:pt x="16" y="22"/>
                  </a:moveTo>
                  <a:cubicBezTo>
                    <a:pt x="13" y="22"/>
                    <a:pt x="10" y="19"/>
                    <a:pt x="10" y="16"/>
                  </a:cubicBezTo>
                  <a:cubicBezTo>
                    <a:pt x="10" y="13"/>
                    <a:pt x="13" y="10"/>
                    <a:pt x="16" y="10"/>
                  </a:cubicBezTo>
                  <a:cubicBezTo>
                    <a:pt x="19" y="10"/>
                    <a:pt x="22" y="13"/>
                    <a:pt x="22" y="16"/>
                  </a:cubicBezTo>
                  <a:cubicBezTo>
                    <a:pt x="22" y="19"/>
                    <a:pt x="19" y="22"/>
                    <a:pt x="1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15" name="Freeform 175">
              <a:extLst>
                <a:ext uri="{FF2B5EF4-FFF2-40B4-BE49-F238E27FC236}">
                  <a16:creationId xmlns:a16="http://schemas.microsoft.com/office/drawing/2014/main" id="{0351137D-C18A-47DD-BC55-6B181BDBA919}"/>
                </a:ext>
              </a:extLst>
            </p:cNvPr>
            <p:cNvSpPr>
              <a:spLocks noEditPoints="1"/>
            </p:cNvSpPr>
            <p:nvPr/>
          </p:nvSpPr>
          <p:spPr bwMode="auto">
            <a:xfrm>
              <a:off x="7002463" y="2509838"/>
              <a:ext cx="112713" cy="112713"/>
            </a:xfrm>
            <a:custGeom>
              <a:avLst/>
              <a:gdLst>
                <a:gd name="T0" fmla="*/ 10 w 30"/>
                <a:gd name="T1" fmla="*/ 20 h 30"/>
                <a:gd name="T2" fmla="*/ 15 w 30"/>
                <a:gd name="T3" fmla="*/ 18 h 30"/>
                <a:gd name="T4" fmla="*/ 27 w 30"/>
                <a:gd name="T5" fmla="*/ 29 h 30"/>
                <a:gd name="T6" fmla="*/ 28 w 30"/>
                <a:gd name="T7" fmla="*/ 30 h 30"/>
                <a:gd name="T8" fmla="*/ 29 w 30"/>
                <a:gd name="T9" fmla="*/ 29 h 30"/>
                <a:gd name="T10" fmla="*/ 29 w 30"/>
                <a:gd name="T11" fmla="*/ 27 h 30"/>
                <a:gd name="T12" fmla="*/ 18 w 30"/>
                <a:gd name="T13" fmla="*/ 16 h 30"/>
                <a:gd name="T14" fmla="*/ 20 w 30"/>
                <a:gd name="T15" fmla="*/ 10 h 30"/>
                <a:gd name="T16" fmla="*/ 10 w 30"/>
                <a:gd name="T17" fmla="*/ 0 h 30"/>
                <a:gd name="T18" fmla="*/ 0 w 30"/>
                <a:gd name="T19" fmla="*/ 10 h 30"/>
                <a:gd name="T20" fmla="*/ 10 w 30"/>
                <a:gd name="T21" fmla="*/ 20 h 30"/>
                <a:gd name="T22" fmla="*/ 10 w 30"/>
                <a:gd name="T23" fmla="*/ 4 h 30"/>
                <a:gd name="T24" fmla="*/ 16 w 30"/>
                <a:gd name="T25" fmla="*/ 10 h 30"/>
                <a:gd name="T26" fmla="*/ 10 w 30"/>
                <a:gd name="T27" fmla="*/ 16 h 30"/>
                <a:gd name="T28" fmla="*/ 4 w 30"/>
                <a:gd name="T29" fmla="*/ 10 h 30"/>
                <a:gd name="T30" fmla="*/ 10 w 30"/>
                <a:gd name="T3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0">
                  <a:moveTo>
                    <a:pt x="10" y="20"/>
                  </a:moveTo>
                  <a:cubicBezTo>
                    <a:pt x="12" y="20"/>
                    <a:pt x="14" y="19"/>
                    <a:pt x="15" y="18"/>
                  </a:cubicBezTo>
                  <a:cubicBezTo>
                    <a:pt x="27" y="29"/>
                    <a:pt x="27" y="29"/>
                    <a:pt x="27" y="29"/>
                  </a:cubicBezTo>
                  <a:cubicBezTo>
                    <a:pt x="27" y="30"/>
                    <a:pt x="28" y="30"/>
                    <a:pt x="28" y="30"/>
                  </a:cubicBezTo>
                  <a:cubicBezTo>
                    <a:pt x="29" y="30"/>
                    <a:pt x="29" y="30"/>
                    <a:pt x="29" y="29"/>
                  </a:cubicBezTo>
                  <a:cubicBezTo>
                    <a:pt x="30" y="29"/>
                    <a:pt x="30" y="27"/>
                    <a:pt x="29" y="27"/>
                  </a:cubicBezTo>
                  <a:cubicBezTo>
                    <a:pt x="18" y="16"/>
                    <a:pt x="18" y="16"/>
                    <a:pt x="18" y="16"/>
                  </a:cubicBezTo>
                  <a:cubicBezTo>
                    <a:pt x="19" y="14"/>
                    <a:pt x="20" y="12"/>
                    <a:pt x="20" y="10"/>
                  </a:cubicBezTo>
                  <a:cubicBezTo>
                    <a:pt x="20" y="4"/>
                    <a:pt x="16" y="0"/>
                    <a:pt x="10" y="0"/>
                  </a:cubicBezTo>
                  <a:cubicBezTo>
                    <a:pt x="5" y="0"/>
                    <a:pt x="0" y="4"/>
                    <a:pt x="0" y="10"/>
                  </a:cubicBezTo>
                  <a:cubicBezTo>
                    <a:pt x="0" y="16"/>
                    <a:pt x="5" y="20"/>
                    <a:pt x="10" y="20"/>
                  </a:cubicBezTo>
                  <a:close/>
                  <a:moveTo>
                    <a:pt x="10" y="4"/>
                  </a:moveTo>
                  <a:cubicBezTo>
                    <a:pt x="13" y="4"/>
                    <a:pt x="16" y="7"/>
                    <a:pt x="16" y="10"/>
                  </a:cubicBezTo>
                  <a:cubicBezTo>
                    <a:pt x="16" y="13"/>
                    <a:pt x="13" y="16"/>
                    <a:pt x="10" y="16"/>
                  </a:cubicBezTo>
                  <a:cubicBezTo>
                    <a:pt x="7" y="16"/>
                    <a:pt x="4" y="13"/>
                    <a:pt x="4" y="10"/>
                  </a:cubicBezTo>
                  <a:cubicBezTo>
                    <a:pt x="4" y="7"/>
                    <a:pt x="7" y="4"/>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16" name="Freeform 176">
              <a:extLst>
                <a:ext uri="{FF2B5EF4-FFF2-40B4-BE49-F238E27FC236}">
                  <a16:creationId xmlns:a16="http://schemas.microsoft.com/office/drawing/2014/main" id="{A6A9D83C-85B5-4ABA-B07D-4CA268DFDFF0}"/>
                </a:ext>
              </a:extLst>
            </p:cNvPr>
            <p:cNvSpPr>
              <a:spLocks noEditPoints="1"/>
            </p:cNvSpPr>
            <p:nvPr/>
          </p:nvSpPr>
          <p:spPr bwMode="auto">
            <a:xfrm>
              <a:off x="7002463" y="2773363"/>
              <a:ext cx="98425" cy="96838"/>
            </a:xfrm>
            <a:custGeom>
              <a:avLst/>
              <a:gdLst>
                <a:gd name="T0" fmla="*/ 23 w 26"/>
                <a:gd name="T1" fmla="*/ 1 h 26"/>
                <a:gd name="T2" fmla="*/ 16 w 26"/>
                <a:gd name="T3" fmla="*/ 8 h 26"/>
                <a:gd name="T4" fmla="*/ 10 w 26"/>
                <a:gd name="T5" fmla="*/ 6 h 26"/>
                <a:gd name="T6" fmla="*/ 0 w 26"/>
                <a:gd name="T7" fmla="*/ 16 h 26"/>
                <a:gd name="T8" fmla="*/ 10 w 26"/>
                <a:gd name="T9" fmla="*/ 26 h 26"/>
                <a:gd name="T10" fmla="*/ 20 w 26"/>
                <a:gd name="T11" fmla="*/ 16 h 26"/>
                <a:gd name="T12" fmla="*/ 18 w 26"/>
                <a:gd name="T13" fmla="*/ 11 h 26"/>
                <a:gd name="T14" fmla="*/ 26 w 26"/>
                <a:gd name="T15" fmla="*/ 3 h 26"/>
                <a:gd name="T16" fmla="*/ 26 w 26"/>
                <a:gd name="T17" fmla="*/ 0 h 26"/>
                <a:gd name="T18" fmla="*/ 23 w 26"/>
                <a:gd name="T19" fmla="*/ 1 h 26"/>
                <a:gd name="T20" fmla="*/ 10 w 26"/>
                <a:gd name="T21" fmla="*/ 22 h 26"/>
                <a:gd name="T22" fmla="*/ 4 w 26"/>
                <a:gd name="T23" fmla="*/ 16 h 26"/>
                <a:gd name="T24" fmla="*/ 10 w 26"/>
                <a:gd name="T25" fmla="*/ 10 h 26"/>
                <a:gd name="T26" fmla="*/ 16 w 26"/>
                <a:gd name="T27" fmla="*/ 16 h 26"/>
                <a:gd name="T28" fmla="*/ 10 w 26"/>
                <a:gd name="T29" fmla="*/ 2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 h="26">
                  <a:moveTo>
                    <a:pt x="23" y="1"/>
                  </a:moveTo>
                  <a:cubicBezTo>
                    <a:pt x="16" y="8"/>
                    <a:pt x="16" y="8"/>
                    <a:pt x="16" y="8"/>
                  </a:cubicBezTo>
                  <a:cubicBezTo>
                    <a:pt x="14" y="7"/>
                    <a:pt x="12" y="6"/>
                    <a:pt x="10" y="6"/>
                  </a:cubicBezTo>
                  <a:cubicBezTo>
                    <a:pt x="4" y="6"/>
                    <a:pt x="0" y="10"/>
                    <a:pt x="0" y="16"/>
                  </a:cubicBezTo>
                  <a:cubicBezTo>
                    <a:pt x="0" y="22"/>
                    <a:pt x="4" y="26"/>
                    <a:pt x="10" y="26"/>
                  </a:cubicBezTo>
                  <a:cubicBezTo>
                    <a:pt x="16" y="26"/>
                    <a:pt x="20" y="22"/>
                    <a:pt x="20" y="16"/>
                  </a:cubicBezTo>
                  <a:cubicBezTo>
                    <a:pt x="20" y="14"/>
                    <a:pt x="19" y="12"/>
                    <a:pt x="18" y="11"/>
                  </a:cubicBezTo>
                  <a:cubicBezTo>
                    <a:pt x="26" y="3"/>
                    <a:pt x="26" y="3"/>
                    <a:pt x="26" y="3"/>
                  </a:cubicBezTo>
                  <a:cubicBezTo>
                    <a:pt x="26" y="3"/>
                    <a:pt x="26" y="1"/>
                    <a:pt x="26" y="0"/>
                  </a:cubicBezTo>
                  <a:cubicBezTo>
                    <a:pt x="25" y="0"/>
                    <a:pt x="24" y="0"/>
                    <a:pt x="23" y="1"/>
                  </a:cubicBezTo>
                  <a:close/>
                  <a:moveTo>
                    <a:pt x="10" y="22"/>
                  </a:moveTo>
                  <a:cubicBezTo>
                    <a:pt x="7" y="22"/>
                    <a:pt x="4" y="19"/>
                    <a:pt x="4" y="16"/>
                  </a:cubicBezTo>
                  <a:cubicBezTo>
                    <a:pt x="4" y="13"/>
                    <a:pt x="7" y="10"/>
                    <a:pt x="10" y="10"/>
                  </a:cubicBezTo>
                  <a:cubicBezTo>
                    <a:pt x="13" y="10"/>
                    <a:pt x="16" y="13"/>
                    <a:pt x="16" y="16"/>
                  </a:cubicBezTo>
                  <a:cubicBezTo>
                    <a:pt x="16" y="19"/>
                    <a:pt x="13" y="22"/>
                    <a:pt x="1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17" name="Freeform 177">
              <a:extLst>
                <a:ext uri="{FF2B5EF4-FFF2-40B4-BE49-F238E27FC236}">
                  <a16:creationId xmlns:a16="http://schemas.microsoft.com/office/drawing/2014/main" id="{19AB16B1-8CE6-44AF-B6A8-C049E0F55E98}"/>
                </a:ext>
              </a:extLst>
            </p:cNvPr>
            <p:cNvSpPr>
              <a:spLocks noEditPoints="1"/>
            </p:cNvSpPr>
            <p:nvPr/>
          </p:nvSpPr>
          <p:spPr bwMode="auto">
            <a:xfrm>
              <a:off x="7243763" y="2644775"/>
              <a:ext cx="119063" cy="74613"/>
            </a:xfrm>
            <a:custGeom>
              <a:avLst/>
              <a:gdLst>
                <a:gd name="T0" fmla="*/ 2 w 32"/>
                <a:gd name="T1" fmla="*/ 12 h 20"/>
                <a:gd name="T2" fmla="*/ 12 w 32"/>
                <a:gd name="T3" fmla="*/ 12 h 20"/>
                <a:gd name="T4" fmla="*/ 22 w 32"/>
                <a:gd name="T5" fmla="*/ 20 h 20"/>
                <a:gd name="T6" fmla="*/ 32 w 32"/>
                <a:gd name="T7" fmla="*/ 10 h 20"/>
                <a:gd name="T8" fmla="*/ 22 w 32"/>
                <a:gd name="T9" fmla="*/ 0 h 20"/>
                <a:gd name="T10" fmla="*/ 12 w 32"/>
                <a:gd name="T11" fmla="*/ 8 h 20"/>
                <a:gd name="T12" fmla="*/ 2 w 32"/>
                <a:gd name="T13" fmla="*/ 8 h 20"/>
                <a:gd name="T14" fmla="*/ 0 w 32"/>
                <a:gd name="T15" fmla="*/ 10 h 20"/>
                <a:gd name="T16" fmla="*/ 2 w 32"/>
                <a:gd name="T17" fmla="*/ 12 h 20"/>
                <a:gd name="T18" fmla="*/ 22 w 32"/>
                <a:gd name="T19" fmla="*/ 4 h 20"/>
                <a:gd name="T20" fmla="*/ 28 w 32"/>
                <a:gd name="T21" fmla="*/ 10 h 20"/>
                <a:gd name="T22" fmla="*/ 22 w 32"/>
                <a:gd name="T23" fmla="*/ 16 h 20"/>
                <a:gd name="T24" fmla="*/ 16 w 32"/>
                <a:gd name="T25" fmla="*/ 10 h 20"/>
                <a:gd name="T26" fmla="*/ 22 w 32"/>
                <a:gd name="T27"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20">
                  <a:moveTo>
                    <a:pt x="2" y="12"/>
                  </a:moveTo>
                  <a:cubicBezTo>
                    <a:pt x="12" y="12"/>
                    <a:pt x="12" y="12"/>
                    <a:pt x="12" y="12"/>
                  </a:cubicBezTo>
                  <a:cubicBezTo>
                    <a:pt x="13" y="17"/>
                    <a:pt x="17" y="20"/>
                    <a:pt x="22" y="20"/>
                  </a:cubicBezTo>
                  <a:cubicBezTo>
                    <a:pt x="28" y="20"/>
                    <a:pt x="32" y="16"/>
                    <a:pt x="32" y="10"/>
                  </a:cubicBezTo>
                  <a:cubicBezTo>
                    <a:pt x="32" y="4"/>
                    <a:pt x="28" y="0"/>
                    <a:pt x="22" y="0"/>
                  </a:cubicBezTo>
                  <a:cubicBezTo>
                    <a:pt x="17" y="0"/>
                    <a:pt x="13" y="3"/>
                    <a:pt x="12" y="8"/>
                  </a:cubicBezTo>
                  <a:cubicBezTo>
                    <a:pt x="2" y="8"/>
                    <a:pt x="2" y="8"/>
                    <a:pt x="2" y="8"/>
                  </a:cubicBezTo>
                  <a:cubicBezTo>
                    <a:pt x="1" y="8"/>
                    <a:pt x="0" y="9"/>
                    <a:pt x="0" y="10"/>
                  </a:cubicBezTo>
                  <a:cubicBezTo>
                    <a:pt x="0" y="11"/>
                    <a:pt x="1" y="12"/>
                    <a:pt x="2" y="12"/>
                  </a:cubicBezTo>
                  <a:close/>
                  <a:moveTo>
                    <a:pt x="22" y="4"/>
                  </a:moveTo>
                  <a:cubicBezTo>
                    <a:pt x="25" y="4"/>
                    <a:pt x="28" y="7"/>
                    <a:pt x="28" y="10"/>
                  </a:cubicBezTo>
                  <a:cubicBezTo>
                    <a:pt x="28" y="13"/>
                    <a:pt x="25" y="16"/>
                    <a:pt x="22" y="16"/>
                  </a:cubicBezTo>
                  <a:cubicBezTo>
                    <a:pt x="19" y="16"/>
                    <a:pt x="16" y="13"/>
                    <a:pt x="16" y="10"/>
                  </a:cubicBezTo>
                  <a:cubicBezTo>
                    <a:pt x="16" y="7"/>
                    <a:pt x="19" y="4"/>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18" name="Freeform 178">
              <a:extLst>
                <a:ext uri="{FF2B5EF4-FFF2-40B4-BE49-F238E27FC236}">
                  <a16:creationId xmlns:a16="http://schemas.microsoft.com/office/drawing/2014/main" id="{E2047260-4C5B-46A3-B9C2-D76E25F2E5D1}"/>
                </a:ext>
              </a:extLst>
            </p:cNvPr>
            <p:cNvSpPr>
              <a:spLocks noEditPoints="1"/>
            </p:cNvSpPr>
            <p:nvPr/>
          </p:nvSpPr>
          <p:spPr bwMode="auto">
            <a:xfrm>
              <a:off x="7002463" y="2644775"/>
              <a:ext cx="120650" cy="74613"/>
            </a:xfrm>
            <a:custGeom>
              <a:avLst/>
              <a:gdLst>
                <a:gd name="T0" fmla="*/ 10 w 32"/>
                <a:gd name="T1" fmla="*/ 20 h 20"/>
                <a:gd name="T2" fmla="*/ 20 w 32"/>
                <a:gd name="T3" fmla="*/ 12 h 20"/>
                <a:gd name="T4" fmla="*/ 30 w 32"/>
                <a:gd name="T5" fmla="*/ 12 h 20"/>
                <a:gd name="T6" fmla="*/ 32 w 32"/>
                <a:gd name="T7" fmla="*/ 10 h 20"/>
                <a:gd name="T8" fmla="*/ 30 w 32"/>
                <a:gd name="T9" fmla="*/ 8 h 20"/>
                <a:gd name="T10" fmla="*/ 20 w 32"/>
                <a:gd name="T11" fmla="*/ 8 h 20"/>
                <a:gd name="T12" fmla="*/ 10 w 32"/>
                <a:gd name="T13" fmla="*/ 0 h 20"/>
                <a:gd name="T14" fmla="*/ 0 w 32"/>
                <a:gd name="T15" fmla="*/ 10 h 20"/>
                <a:gd name="T16" fmla="*/ 10 w 32"/>
                <a:gd name="T17" fmla="*/ 20 h 20"/>
                <a:gd name="T18" fmla="*/ 10 w 32"/>
                <a:gd name="T19" fmla="*/ 4 h 20"/>
                <a:gd name="T20" fmla="*/ 16 w 32"/>
                <a:gd name="T21" fmla="*/ 10 h 20"/>
                <a:gd name="T22" fmla="*/ 10 w 32"/>
                <a:gd name="T23" fmla="*/ 16 h 20"/>
                <a:gd name="T24" fmla="*/ 4 w 32"/>
                <a:gd name="T25" fmla="*/ 10 h 20"/>
                <a:gd name="T26" fmla="*/ 10 w 32"/>
                <a:gd name="T27"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20">
                  <a:moveTo>
                    <a:pt x="10" y="20"/>
                  </a:moveTo>
                  <a:cubicBezTo>
                    <a:pt x="15" y="20"/>
                    <a:pt x="19" y="17"/>
                    <a:pt x="20" y="12"/>
                  </a:cubicBezTo>
                  <a:cubicBezTo>
                    <a:pt x="30" y="12"/>
                    <a:pt x="30" y="12"/>
                    <a:pt x="30" y="12"/>
                  </a:cubicBezTo>
                  <a:cubicBezTo>
                    <a:pt x="31" y="12"/>
                    <a:pt x="32" y="11"/>
                    <a:pt x="32" y="10"/>
                  </a:cubicBezTo>
                  <a:cubicBezTo>
                    <a:pt x="32" y="9"/>
                    <a:pt x="31" y="8"/>
                    <a:pt x="30" y="8"/>
                  </a:cubicBezTo>
                  <a:cubicBezTo>
                    <a:pt x="20" y="8"/>
                    <a:pt x="20" y="8"/>
                    <a:pt x="20" y="8"/>
                  </a:cubicBezTo>
                  <a:cubicBezTo>
                    <a:pt x="19" y="3"/>
                    <a:pt x="15" y="0"/>
                    <a:pt x="10" y="0"/>
                  </a:cubicBezTo>
                  <a:cubicBezTo>
                    <a:pt x="5" y="0"/>
                    <a:pt x="0" y="4"/>
                    <a:pt x="0" y="10"/>
                  </a:cubicBezTo>
                  <a:cubicBezTo>
                    <a:pt x="0" y="16"/>
                    <a:pt x="5" y="20"/>
                    <a:pt x="10" y="20"/>
                  </a:cubicBezTo>
                  <a:close/>
                  <a:moveTo>
                    <a:pt x="10" y="4"/>
                  </a:moveTo>
                  <a:cubicBezTo>
                    <a:pt x="13" y="4"/>
                    <a:pt x="16" y="7"/>
                    <a:pt x="16" y="10"/>
                  </a:cubicBezTo>
                  <a:cubicBezTo>
                    <a:pt x="16" y="13"/>
                    <a:pt x="13" y="16"/>
                    <a:pt x="10" y="16"/>
                  </a:cubicBezTo>
                  <a:cubicBezTo>
                    <a:pt x="7" y="16"/>
                    <a:pt x="4" y="13"/>
                    <a:pt x="4" y="10"/>
                  </a:cubicBezTo>
                  <a:cubicBezTo>
                    <a:pt x="4" y="7"/>
                    <a:pt x="7" y="4"/>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86" name="Teardrop 85">
            <a:extLst>
              <a:ext uri="{FF2B5EF4-FFF2-40B4-BE49-F238E27FC236}">
                <a16:creationId xmlns:a16="http://schemas.microsoft.com/office/drawing/2014/main" id="{DC02F8B1-8AEA-4CF4-82D0-842CD796F2BC}"/>
              </a:ext>
            </a:extLst>
          </p:cNvPr>
          <p:cNvSpPr/>
          <p:nvPr/>
        </p:nvSpPr>
        <p:spPr>
          <a:xfrm rot="18900000">
            <a:off x="5104980" y="2938031"/>
            <a:ext cx="1982039" cy="1982039"/>
          </a:xfrm>
          <a:prstGeom prst="teardrop">
            <a:avLst/>
          </a:prstGeom>
          <a:solidFill>
            <a:srgbClr val="404040"/>
          </a:solidFill>
          <a:ln>
            <a:noFill/>
          </a:ln>
          <a:effectLst>
            <a:innerShdw blurRad="63500" dist="50800" dir="81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005C12BC-A979-4EAF-A59F-079B10C8A056}"/>
              </a:ext>
            </a:extLst>
          </p:cNvPr>
          <p:cNvGrpSpPr/>
          <p:nvPr/>
        </p:nvGrpSpPr>
        <p:grpSpPr>
          <a:xfrm>
            <a:off x="1943550" y="2512569"/>
            <a:ext cx="8304900" cy="2768301"/>
            <a:chOff x="1943550" y="2512569"/>
            <a:chExt cx="8304900" cy="2768301"/>
          </a:xfrm>
        </p:grpSpPr>
        <p:sp>
          <p:nvSpPr>
            <p:cNvPr id="78" name="Arc 77">
              <a:extLst>
                <a:ext uri="{FF2B5EF4-FFF2-40B4-BE49-F238E27FC236}">
                  <a16:creationId xmlns:a16="http://schemas.microsoft.com/office/drawing/2014/main" id="{86BF35D9-CA29-4003-B28B-415049C03B78}"/>
                </a:ext>
              </a:extLst>
            </p:cNvPr>
            <p:cNvSpPr/>
            <p:nvPr/>
          </p:nvSpPr>
          <p:spPr>
            <a:xfrm rot="16200000">
              <a:off x="1943549" y="2512570"/>
              <a:ext cx="2768301" cy="2768300"/>
            </a:xfrm>
            <a:prstGeom prst="arc">
              <a:avLst>
                <a:gd name="adj1" fmla="val 16200000"/>
                <a:gd name="adj2" fmla="val 5385891"/>
              </a:avLst>
            </a:prstGeom>
            <a:ln w="57150">
              <a:gradFill>
                <a:gsLst>
                  <a:gs pos="0">
                    <a:srgbClr val="06C2BD"/>
                  </a:gs>
                  <a:gs pos="100000">
                    <a:schemeClr val="accent1"/>
                  </a:gs>
                </a:gsLst>
                <a:lin ang="5400000" scaled="1"/>
              </a:gradFill>
              <a:head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6" name="Arc 95">
              <a:extLst>
                <a:ext uri="{FF2B5EF4-FFF2-40B4-BE49-F238E27FC236}">
                  <a16:creationId xmlns:a16="http://schemas.microsoft.com/office/drawing/2014/main" id="{A73D722B-1CC9-404B-8DE0-88F6F58DC44E}"/>
                </a:ext>
              </a:extLst>
            </p:cNvPr>
            <p:cNvSpPr/>
            <p:nvPr/>
          </p:nvSpPr>
          <p:spPr>
            <a:xfrm rot="16200000">
              <a:off x="7480150" y="2512570"/>
              <a:ext cx="2768300" cy="2768300"/>
            </a:xfrm>
            <a:prstGeom prst="arc">
              <a:avLst>
                <a:gd name="adj1" fmla="val 16200000"/>
                <a:gd name="adj2" fmla="val 5385891"/>
              </a:avLst>
            </a:prstGeom>
            <a:ln w="57150">
              <a:gradFill>
                <a:gsLst>
                  <a:gs pos="0">
                    <a:srgbClr val="06C2BD"/>
                  </a:gs>
                  <a:gs pos="100000">
                    <a:schemeClr val="accent1"/>
                  </a:gs>
                </a:gsLst>
                <a:lin ang="5400000" scaled="1"/>
              </a:gradFill>
              <a:headEnd type="none" w="lg" len="lg"/>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7" name="Arc 86">
              <a:extLst>
                <a:ext uri="{FF2B5EF4-FFF2-40B4-BE49-F238E27FC236}">
                  <a16:creationId xmlns:a16="http://schemas.microsoft.com/office/drawing/2014/main" id="{0A24CACD-CB62-48DD-A7D7-E125F5A3609A}"/>
                </a:ext>
              </a:extLst>
            </p:cNvPr>
            <p:cNvSpPr/>
            <p:nvPr/>
          </p:nvSpPr>
          <p:spPr>
            <a:xfrm rot="5400000">
              <a:off x="4711849" y="2512570"/>
              <a:ext cx="2768301" cy="2768300"/>
            </a:xfrm>
            <a:prstGeom prst="arc">
              <a:avLst>
                <a:gd name="adj1" fmla="val 16200000"/>
                <a:gd name="adj2" fmla="val 5425293"/>
              </a:avLst>
            </a:prstGeom>
            <a:ln w="57150">
              <a:gradFill>
                <a:gsLst>
                  <a:gs pos="0">
                    <a:srgbClr val="06C2BD"/>
                  </a:gs>
                  <a:gs pos="100000">
                    <a:schemeClr val="accent1"/>
                  </a:gs>
                </a:gsLst>
                <a:lin ang="5400000" scaled="1"/>
              </a:gradFill>
              <a:head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88" name="Oval 87">
            <a:extLst>
              <a:ext uri="{FF2B5EF4-FFF2-40B4-BE49-F238E27FC236}">
                <a16:creationId xmlns:a16="http://schemas.microsoft.com/office/drawing/2014/main" id="{854EC819-D30D-4056-87F1-8E03217D3116}"/>
              </a:ext>
            </a:extLst>
          </p:cNvPr>
          <p:cNvSpPr/>
          <p:nvPr/>
        </p:nvSpPr>
        <p:spPr>
          <a:xfrm>
            <a:off x="5325647" y="3158698"/>
            <a:ext cx="1540704" cy="1540704"/>
          </a:xfrm>
          <a:prstGeom prst="ellipse">
            <a:avLst/>
          </a:prstGeom>
          <a:gradFill>
            <a:gsLst>
              <a:gs pos="0">
                <a:srgbClr val="06C2BD"/>
              </a:gs>
              <a:gs pos="100000">
                <a:schemeClr val="accent1"/>
              </a:gs>
            </a:gsLst>
            <a:lin ang="18900000" scaled="1"/>
          </a:gradFill>
          <a:ln w="25400">
            <a:solidFill>
              <a:schemeClr val="bg1"/>
            </a:solidFill>
          </a:ln>
          <a:effectLst>
            <a:outerShdw blurRad="63500" dist="508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9" name="Group 118">
            <a:extLst>
              <a:ext uri="{FF2B5EF4-FFF2-40B4-BE49-F238E27FC236}">
                <a16:creationId xmlns:a16="http://schemas.microsoft.com/office/drawing/2014/main" id="{C546B0D3-B3EA-48A3-B49A-D071FE406B49}"/>
              </a:ext>
            </a:extLst>
          </p:cNvPr>
          <p:cNvGrpSpPr/>
          <p:nvPr/>
        </p:nvGrpSpPr>
        <p:grpSpPr>
          <a:xfrm>
            <a:off x="5791200" y="3624251"/>
            <a:ext cx="609600" cy="609600"/>
            <a:chOff x="3397251" y="1066800"/>
            <a:chExt cx="360363" cy="360363"/>
          </a:xfrm>
          <a:solidFill>
            <a:schemeClr val="bg1"/>
          </a:solidFill>
          <a:effectLst>
            <a:outerShdw blurRad="50800" dist="38100" dir="5400000" algn="t" rotWithShape="0">
              <a:prstClr val="black">
                <a:alpha val="20000"/>
              </a:prstClr>
            </a:outerShdw>
          </a:effectLst>
        </p:grpSpPr>
        <p:sp>
          <p:nvSpPr>
            <p:cNvPr id="120" name="Freeform 282">
              <a:extLst>
                <a:ext uri="{FF2B5EF4-FFF2-40B4-BE49-F238E27FC236}">
                  <a16:creationId xmlns:a16="http://schemas.microsoft.com/office/drawing/2014/main" id="{7A2E3466-1F7E-4476-B52E-53DA28C08B6D}"/>
                </a:ext>
              </a:extLst>
            </p:cNvPr>
            <p:cNvSpPr>
              <a:spLocks/>
            </p:cNvSpPr>
            <p:nvPr/>
          </p:nvSpPr>
          <p:spPr bwMode="auto">
            <a:xfrm>
              <a:off x="3397251" y="1187450"/>
              <a:ext cx="360363" cy="239713"/>
            </a:xfrm>
            <a:custGeom>
              <a:avLst/>
              <a:gdLst>
                <a:gd name="T0" fmla="*/ 94 w 96"/>
                <a:gd name="T1" fmla="*/ 40 h 64"/>
                <a:gd name="T2" fmla="*/ 28 w 96"/>
                <a:gd name="T3" fmla="*/ 40 h 64"/>
                <a:gd name="T4" fmla="*/ 28 w 96"/>
                <a:gd name="T5" fmla="*/ 26 h 64"/>
                <a:gd name="T6" fmla="*/ 40 w 96"/>
                <a:gd name="T7" fmla="*/ 2 h 64"/>
                <a:gd name="T8" fmla="*/ 38 w 96"/>
                <a:gd name="T9" fmla="*/ 0 h 64"/>
                <a:gd name="T10" fmla="*/ 2 w 96"/>
                <a:gd name="T11" fmla="*/ 0 h 64"/>
                <a:gd name="T12" fmla="*/ 0 w 96"/>
                <a:gd name="T13" fmla="*/ 2 h 64"/>
                <a:gd name="T14" fmla="*/ 12 w 96"/>
                <a:gd name="T15" fmla="*/ 26 h 64"/>
                <a:gd name="T16" fmla="*/ 12 w 96"/>
                <a:gd name="T17" fmla="*/ 40 h 64"/>
                <a:gd name="T18" fmla="*/ 2 w 96"/>
                <a:gd name="T19" fmla="*/ 40 h 64"/>
                <a:gd name="T20" fmla="*/ 0 w 96"/>
                <a:gd name="T21" fmla="*/ 42 h 64"/>
                <a:gd name="T22" fmla="*/ 2 w 96"/>
                <a:gd name="T23" fmla="*/ 44 h 64"/>
                <a:gd name="T24" fmla="*/ 42 w 96"/>
                <a:gd name="T25" fmla="*/ 44 h 64"/>
                <a:gd name="T26" fmla="*/ 28 w 96"/>
                <a:gd name="T27" fmla="*/ 61 h 64"/>
                <a:gd name="T28" fmla="*/ 28 w 96"/>
                <a:gd name="T29" fmla="*/ 63 h 64"/>
                <a:gd name="T30" fmla="*/ 30 w 96"/>
                <a:gd name="T31" fmla="*/ 64 h 64"/>
                <a:gd name="T32" fmla="*/ 62 w 96"/>
                <a:gd name="T33" fmla="*/ 64 h 64"/>
                <a:gd name="T34" fmla="*/ 64 w 96"/>
                <a:gd name="T35" fmla="*/ 63 h 64"/>
                <a:gd name="T36" fmla="*/ 64 w 96"/>
                <a:gd name="T37" fmla="*/ 61 h 64"/>
                <a:gd name="T38" fmla="*/ 50 w 96"/>
                <a:gd name="T39" fmla="*/ 44 h 64"/>
                <a:gd name="T40" fmla="*/ 94 w 96"/>
                <a:gd name="T41" fmla="*/ 44 h 64"/>
                <a:gd name="T42" fmla="*/ 96 w 96"/>
                <a:gd name="T43" fmla="*/ 42 h 64"/>
                <a:gd name="T44" fmla="*/ 94 w 96"/>
                <a:gd name="T45" fmla="*/ 4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6" h="64">
                  <a:moveTo>
                    <a:pt x="94" y="40"/>
                  </a:moveTo>
                  <a:cubicBezTo>
                    <a:pt x="28" y="40"/>
                    <a:pt x="28" y="40"/>
                    <a:pt x="28" y="40"/>
                  </a:cubicBezTo>
                  <a:cubicBezTo>
                    <a:pt x="28" y="26"/>
                    <a:pt x="28" y="26"/>
                    <a:pt x="28" y="26"/>
                  </a:cubicBezTo>
                  <a:cubicBezTo>
                    <a:pt x="36" y="22"/>
                    <a:pt x="40" y="11"/>
                    <a:pt x="40" y="2"/>
                  </a:cubicBezTo>
                  <a:cubicBezTo>
                    <a:pt x="40" y="1"/>
                    <a:pt x="39" y="0"/>
                    <a:pt x="38" y="0"/>
                  </a:cubicBezTo>
                  <a:cubicBezTo>
                    <a:pt x="2" y="0"/>
                    <a:pt x="2" y="0"/>
                    <a:pt x="2" y="0"/>
                  </a:cubicBezTo>
                  <a:cubicBezTo>
                    <a:pt x="1" y="0"/>
                    <a:pt x="0" y="1"/>
                    <a:pt x="0" y="2"/>
                  </a:cubicBezTo>
                  <a:cubicBezTo>
                    <a:pt x="0" y="11"/>
                    <a:pt x="4" y="22"/>
                    <a:pt x="12" y="26"/>
                  </a:cubicBezTo>
                  <a:cubicBezTo>
                    <a:pt x="12" y="40"/>
                    <a:pt x="12" y="40"/>
                    <a:pt x="12" y="40"/>
                  </a:cubicBezTo>
                  <a:cubicBezTo>
                    <a:pt x="2" y="40"/>
                    <a:pt x="2" y="40"/>
                    <a:pt x="2" y="40"/>
                  </a:cubicBezTo>
                  <a:cubicBezTo>
                    <a:pt x="1" y="40"/>
                    <a:pt x="0" y="41"/>
                    <a:pt x="0" y="42"/>
                  </a:cubicBezTo>
                  <a:cubicBezTo>
                    <a:pt x="0" y="43"/>
                    <a:pt x="1" y="44"/>
                    <a:pt x="2" y="44"/>
                  </a:cubicBezTo>
                  <a:cubicBezTo>
                    <a:pt x="42" y="44"/>
                    <a:pt x="42" y="44"/>
                    <a:pt x="42" y="44"/>
                  </a:cubicBezTo>
                  <a:cubicBezTo>
                    <a:pt x="28" y="61"/>
                    <a:pt x="28" y="61"/>
                    <a:pt x="28" y="61"/>
                  </a:cubicBezTo>
                  <a:cubicBezTo>
                    <a:pt x="28" y="61"/>
                    <a:pt x="28" y="62"/>
                    <a:pt x="28" y="63"/>
                  </a:cubicBezTo>
                  <a:cubicBezTo>
                    <a:pt x="29" y="64"/>
                    <a:pt x="29" y="64"/>
                    <a:pt x="30" y="64"/>
                  </a:cubicBezTo>
                  <a:cubicBezTo>
                    <a:pt x="62" y="64"/>
                    <a:pt x="62" y="64"/>
                    <a:pt x="62" y="64"/>
                  </a:cubicBezTo>
                  <a:cubicBezTo>
                    <a:pt x="63" y="64"/>
                    <a:pt x="63" y="64"/>
                    <a:pt x="64" y="63"/>
                  </a:cubicBezTo>
                  <a:cubicBezTo>
                    <a:pt x="64" y="62"/>
                    <a:pt x="64" y="61"/>
                    <a:pt x="64" y="61"/>
                  </a:cubicBezTo>
                  <a:cubicBezTo>
                    <a:pt x="50" y="44"/>
                    <a:pt x="50" y="44"/>
                    <a:pt x="50" y="44"/>
                  </a:cubicBezTo>
                  <a:cubicBezTo>
                    <a:pt x="94" y="44"/>
                    <a:pt x="94" y="44"/>
                    <a:pt x="94" y="44"/>
                  </a:cubicBezTo>
                  <a:cubicBezTo>
                    <a:pt x="95" y="44"/>
                    <a:pt x="96" y="43"/>
                    <a:pt x="96" y="42"/>
                  </a:cubicBezTo>
                  <a:cubicBezTo>
                    <a:pt x="96" y="41"/>
                    <a:pt x="95" y="40"/>
                    <a:pt x="94"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21" name="Freeform 283">
              <a:extLst>
                <a:ext uri="{FF2B5EF4-FFF2-40B4-BE49-F238E27FC236}">
                  <a16:creationId xmlns:a16="http://schemas.microsoft.com/office/drawing/2014/main" id="{0526C3AB-C920-4F2B-A2A0-B213D1D2493E}"/>
                </a:ext>
              </a:extLst>
            </p:cNvPr>
            <p:cNvSpPr>
              <a:spLocks noEditPoints="1"/>
            </p:cNvSpPr>
            <p:nvPr/>
          </p:nvSpPr>
          <p:spPr bwMode="auto">
            <a:xfrm>
              <a:off x="3592513" y="1141413"/>
              <a:ext cx="165100" cy="166688"/>
            </a:xfrm>
            <a:custGeom>
              <a:avLst/>
              <a:gdLst>
                <a:gd name="T0" fmla="*/ 22 w 44"/>
                <a:gd name="T1" fmla="*/ 44 h 44"/>
                <a:gd name="T2" fmla="*/ 44 w 44"/>
                <a:gd name="T3" fmla="*/ 22 h 44"/>
                <a:gd name="T4" fmla="*/ 22 w 44"/>
                <a:gd name="T5" fmla="*/ 0 h 44"/>
                <a:gd name="T6" fmla="*/ 0 w 44"/>
                <a:gd name="T7" fmla="*/ 22 h 44"/>
                <a:gd name="T8" fmla="*/ 22 w 44"/>
                <a:gd name="T9" fmla="*/ 44 h 44"/>
                <a:gd name="T10" fmla="*/ 22 w 44"/>
                <a:gd name="T11" fmla="*/ 24 h 44"/>
                <a:gd name="T12" fmla="*/ 15 w 44"/>
                <a:gd name="T13" fmla="*/ 17 h 44"/>
                <a:gd name="T14" fmla="*/ 20 w 44"/>
                <a:gd name="T15" fmla="*/ 11 h 44"/>
                <a:gd name="T16" fmla="*/ 20 w 44"/>
                <a:gd name="T17" fmla="*/ 10 h 44"/>
                <a:gd name="T18" fmla="*/ 22 w 44"/>
                <a:gd name="T19" fmla="*/ 8 h 44"/>
                <a:gd name="T20" fmla="*/ 24 w 44"/>
                <a:gd name="T21" fmla="*/ 10 h 44"/>
                <a:gd name="T22" fmla="*/ 24 w 44"/>
                <a:gd name="T23" fmla="*/ 11 h 44"/>
                <a:gd name="T24" fmla="*/ 29 w 44"/>
                <a:gd name="T25" fmla="*/ 17 h 44"/>
                <a:gd name="T26" fmla="*/ 27 w 44"/>
                <a:gd name="T27" fmla="*/ 19 h 44"/>
                <a:gd name="T28" fmla="*/ 25 w 44"/>
                <a:gd name="T29" fmla="*/ 17 h 44"/>
                <a:gd name="T30" fmla="*/ 22 w 44"/>
                <a:gd name="T31" fmla="*/ 15 h 44"/>
                <a:gd name="T32" fmla="*/ 19 w 44"/>
                <a:gd name="T33" fmla="*/ 17 h 44"/>
                <a:gd name="T34" fmla="*/ 22 w 44"/>
                <a:gd name="T35" fmla="*/ 20 h 44"/>
                <a:gd name="T36" fmla="*/ 29 w 44"/>
                <a:gd name="T37" fmla="*/ 27 h 44"/>
                <a:gd name="T38" fmla="*/ 24 w 44"/>
                <a:gd name="T39" fmla="*/ 33 h 44"/>
                <a:gd name="T40" fmla="*/ 24 w 44"/>
                <a:gd name="T41" fmla="*/ 34 h 44"/>
                <a:gd name="T42" fmla="*/ 22 w 44"/>
                <a:gd name="T43" fmla="*/ 36 h 44"/>
                <a:gd name="T44" fmla="*/ 20 w 44"/>
                <a:gd name="T45" fmla="*/ 34 h 44"/>
                <a:gd name="T46" fmla="*/ 20 w 44"/>
                <a:gd name="T47" fmla="*/ 33 h 44"/>
                <a:gd name="T48" fmla="*/ 15 w 44"/>
                <a:gd name="T49" fmla="*/ 27 h 44"/>
                <a:gd name="T50" fmla="*/ 17 w 44"/>
                <a:gd name="T51" fmla="*/ 25 h 44"/>
                <a:gd name="T52" fmla="*/ 19 w 44"/>
                <a:gd name="T53" fmla="*/ 27 h 44"/>
                <a:gd name="T54" fmla="*/ 22 w 44"/>
                <a:gd name="T55" fmla="*/ 29 h 44"/>
                <a:gd name="T56" fmla="*/ 25 w 44"/>
                <a:gd name="T57" fmla="*/ 27 h 44"/>
                <a:gd name="T58" fmla="*/ 22 w 44"/>
                <a:gd name="T59" fmla="*/ 2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 h="44">
                  <a:moveTo>
                    <a:pt x="22" y="44"/>
                  </a:moveTo>
                  <a:cubicBezTo>
                    <a:pt x="34" y="44"/>
                    <a:pt x="44" y="34"/>
                    <a:pt x="44" y="22"/>
                  </a:cubicBezTo>
                  <a:cubicBezTo>
                    <a:pt x="44" y="10"/>
                    <a:pt x="34" y="0"/>
                    <a:pt x="22" y="0"/>
                  </a:cubicBezTo>
                  <a:cubicBezTo>
                    <a:pt x="10" y="0"/>
                    <a:pt x="0" y="10"/>
                    <a:pt x="0" y="22"/>
                  </a:cubicBezTo>
                  <a:cubicBezTo>
                    <a:pt x="0" y="34"/>
                    <a:pt x="10" y="44"/>
                    <a:pt x="22" y="44"/>
                  </a:cubicBezTo>
                  <a:close/>
                  <a:moveTo>
                    <a:pt x="22" y="24"/>
                  </a:moveTo>
                  <a:cubicBezTo>
                    <a:pt x="18" y="24"/>
                    <a:pt x="15" y="21"/>
                    <a:pt x="15" y="17"/>
                  </a:cubicBezTo>
                  <a:cubicBezTo>
                    <a:pt x="15" y="14"/>
                    <a:pt x="17" y="12"/>
                    <a:pt x="20" y="11"/>
                  </a:cubicBezTo>
                  <a:cubicBezTo>
                    <a:pt x="20" y="10"/>
                    <a:pt x="20" y="10"/>
                    <a:pt x="20" y="10"/>
                  </a:cubicBezTo>
                  <a:cubicBezTo>
                    <a:pt x="20" y="9"/>
                    <a:pt x="21" y="8"/>
                    <a:pt x="22" y="8"/>
                  </a:cubicBezTo>
                  <a:cubicBezTo>
                    <a:pt x="23" y="8"/>
                    <a:pt x="24" y="9"/>
                    <a:pt x="24" y="10"/>
                  </a:cubicBezTo>
                  <a:cubicBezTo>
                    <a:pt x="24" y="11"/>
                    <a:pt x="24" y="11"/>
                    <a:pt x="24" y="11"/>
                  </a:cubicBezTo>
                  <a:cubicBezTo>
                    <a:pt x="27" y="12"/>
                    <a:pt x="29" y="14"/>
                    <a:pt x="29" y="17"/>
                  </a:cubicBezTo>
                  <a:cubicBezTo>
                    <a:pt x="29" y="18"/>
                    <a:pt x="28" y="19"/>
                    <a:pt x="27" y="19"/>
                  </a:cubicBezTo>
                  <a:cubicBezTo>
                    <a:pt x="26" y="19"/>
                    <a:pt x="25" y="18"/>
                    <a:pt x="25" y="17"/>
                  </a:cubicBezTo>
                  <a:cubicBezTo>
                    <a:pt x="25" y="16"/>
                    <a:pt x="23" y="15"/>
                    <a:pt x="22" y="15"/>
                  </a:cubicBezTo>
                  <a:cubicBezTo>
                    <a:pt x="21" y="15"/>
                    <a:pt x="19" y="16"/>
                    <a:pt x="19" y="17"/>
                  </a:cubicBezTo>
                  <a:cubicBezTo>
                    <a:pt x="19" y="19"/>
                    <a:pt x="21" y="20"/>
                    <a:pt x="22" y="20"/>
                  </a:cubicBezTo>
                  <a:cubicBezTo>
                    <a:pt x="26" y="20"/>
                    <a:pt x="29" y="23"/>
                    <a:pt x="29" y="27"/>
                  </a:cubicBezTo>
                  <a:cubicBezTo>
                    <a:pt x="29" y="30"/>
                    <a:pt x="27" y="32"/>
                    <a:pt x="24" y="33"/>
                  </a:cubicBezTo>
                  <a:cubicBezTo>
                    <a:pt x="24" y="34"/>
                    <a:pt x="24" y="34"/>
                    <a:pt x="24" y="34"/>
                  </a:cubicBezTo>
                  <a:cubicBezTo>
                    <a:pt x="24" y="35"/>
                    <a:pt x="23" y="36"/>
                    <a:pt x="22" y="36"/>
                  </a:cubicBezTo>
                  <a:cubicBezTo>
                    <a:pt x="21" y="36"/>
                    <a:pt x="20" y="35"/>
                    <a:pt x="20" y="34"/>
                  </a:cubicBezTo>
                  <a:cubicBezTo>
                    <a:pt x="20" y="33"/>
                    <a:pt x="20" y="33"/>
                    <a:pt x="20" y="33"/>
                  </a:cubicBezTo>
                  <a:cubicBezTo>
                    <a:pt x="17" y="32"/>
                    <a:pt x="15" y="30"/>
                    <a:pt x="15" y="27"/>
                  </a:cubicBezTo>
                  <a:cubicBezTo>
                    <a:pt x="15" y="26"/>
                    <a:pt x="16" y="25"/>
                    <a:pt x="17" y="25"/>
                  </a:cubicBezTo>
                  <a:cubicBezTo>
                    <a:pt x="18" y="25"/>
                    <a:pt x="19" y="26"/>
                    <a:pt x="19" y="27"/>
                  </a:cubicBezTo>
                  <a:cubicBezTo>
                    <a:pt x="19" y="28"/>
                    <a:pt x="21" y="29"/>
                    <a:pt x="22" y="29"/>
                  </a:cubicBezTo>
                  <a:cubicBezTo>
                    <a:pt x="23" y="29"/>
                    <a:pt x="25" y="28"/>
                    <a:pt x="25" y="27"/>
                  </a:cubicBezTo>
                  <a:cubicBezTo>
                    <a:pt x="25" y="25"/>
                    <a:pt x="23" y="24"/>
                    <a:pt x="22"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22" name="Oval 284">
              <a:extLst>
                <a:ext uri="{FF2B5EF4-FFF2-40B4-BE49-F238E27FC236}">
                  <a16:creationId xmlns:a16="http://schemas.microsoft.com/office/drawing/2014/main" id="{D8F75FEF-CBE6-48E9-8A66-1D0C8C170DF9}"/>
                </a:ext>
              </a:extLst>
            </p:cNvPr>
            <p:cNvSpPr>
              <a:spLocks noChangeArrowheads="1"/>
            </p:cNvSpPr>
            <p:nvPr/>
          </p:nvSpPr>
          <p:spPr bwMode="auto">
            <a:xfrm>
              <a:off x="3419476" y="1066800"/>
              <a:ext cx="106363" cy="1047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125" name="Rectangle 124">
            <a:extLst>
              <a:ext uri="{FF2B5EF4-FFF2-40B4-BE49-F238E27FC236}">
                <a16:creationId xmlns:a16="http://schemas.microsoft.com/office/drawing/2014/main" id="{775DE4B9-5997-4A53-8EEC-8306DAF80CD1}"/>
              </a:ext>
            </a:extLst>
          </p:cNvPr>
          <p:cNvSpPr/>
          <p:nvPr/>
        </p:nvSpPr>
        <p:spPr>
          <a:xfrm>
            <a:off x="1926186" y="1211606"/>
            <a:ext cx="8909454" cy="430887"/>
          </a:xfrm>
          <a:prstGeom prst="rect">
            <a:avLst/>
          </a:prstGeom>
        </p:spPr>
        <p:txBody>
          <a:bodyPr wrap="square" lIns="0" tIns="0" rIns="0" bIns="0" anchor="t">
            <a:spAutoFit/>
          </a:bodyPr>
          <a:lstStyle/>
          <a:p>
            <a:pPr lvl="0" algn="ctr"/>
            <a:r>
              <a:rPr lang="bg-BG" sz="2800" dirty="0" smtClean="0">
                <a:latin typeface="Segoe UI Light" panose="020B0502040204020203" pitchFamily="34" charset="0"/>
                <a:cs typeface="Segoe UI Light" panose="020B0502040204020203" pitchFamily="34" charset="0"/>
              </a:rPr>
              <a:t>Какви са точно разликите между двете роли?</a:t>
            </a:r>
            <a:endParaRPr lang="en-US" sz="2800" dirty="0">
              <a:latin typeface="Segoe UI Light" panose="020B0502040204020203" pitchFamily="34" charset="0"/>
              <a:cs typeface="Segoe UI Light" panose="020B0502040204020203" pitchFamily="34" charset="0"/>
            </a:endParaRPr>
          </a:p>
        </p:txBody>
      </p:sp>
      <p:sp>
        <p:nvSpPr>
          <p:cNvPr id="126" name="TextBox 125">
            <a:extLst>
              <a:ext uri="{FF2B5EF4-FFF2-40B4-BE49-F238E27FC236}">
                <a16:creationId xmlns:a16="http://schemas.microsoft.com/office/drawing/2014/main" id="{E1B8419E-0925-415B-9CB3-8D17443DC105}"/>
              </a:ext>
            </a:extLst>
          </p:cNvPr>
          <p:cNvSpPr txBox="1"/>
          <p:nvPr/>
        </p:nvSpPr>
        <p:spPr>
          <a:xfrm>
            <a:off x="251460" y="361808"/>
            <a:ext cx="11689080" cy="677108"/>
          </a:xfrm>
          <a:prstGeom prst="rect">
            <a:avLst/>
          </a:prstGeom>
          <a:noFill/>
        </p:spPr>
        <p:txBody>
          <a:bodyPr wrap="square" lIns="0" tIns="0" rIns="0" bIns="0" rtlCol="0" anchor="ctr">
            <a:spAutoFit/>
          </a:bodyPr>
          <a:lstStyle/>
          <a:p>
            <a:pPr algn="ctr"/>
            <a:r>
              <a:rPr lang="en-US" sz="4400" b="1" dirty="0" smtClean="0">
                <a:solidFill>
                  <a:srgbClr val="404040"/>
                </a:solidFill>
                <a:latin typeface="Segoe UI" panose="020B0502040204020203" pitchFamily="34" charset="0"/>
                <a:ea typeface="Segoe UI Black" panose="020B0A02040204020203" pitchFamily="34" charset="0"/>
                <a:cs typeface="Segoe UI" panose="020B0502040204020203" pitchFamily="34" charset="0"/>
              </a:rPr>
              <a:t>Project Manager vs IT Project Manager</a:t>
            </a:r>
            <a:endParaRPr lang="en-US" sz="4400" b="1" dirty="0">
              <a:solidFill>
                <a:srgbClr val="404040"/>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127" name="Rectangle 126">
            <a:extLst>
              <a:ext uri="{FF2B5EF4-FFF2-40B4-BE49-F238E27FC236}">
                <a16:creationId xmlns:a16="http://schemas.microsoft.com/office/drawing/2014/main" id="{E2E06471-1EE7-4198-B08C-5E02E8EE6B78}"/>
              </a:ext>
            </a:extLst>
          </p:cNvPr>
          <p:cNvSpPr/>
          <p:nvPr/>
        </p:nvSpPr>
        <p:spPr>
          <a:xfrm>
            <a:off x="5540723" y="1008763"/>
            <a:ext cx="468000" cy="50948"/>
          </a:xfrm>
          <a:prstGeom prst="rect">
            <a:avLst/>
          </a:prstGeom>
          <a:solidFill>
            <a:srgbClr val="06C2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4D9C745-241B-48EF-8E68-26964B57DD66}"/>
              </a:ext>
            </a:extLst>
          </p:cNvPr>
          <p:cNvSpPr/>
          <p:nvPr/>
        </p:nvSpPr>
        <p:spPr>
          <a:xfrm>
            <a:off x="4830322" y="2018095"/>
            <a:ext cx="2531355" cy="492443"/>
          </a:xfrm>
          <a:prstGeom prst="rect">
            <a:avLst/>
          </a:prstGeom>
        </p:spPr>
        <p:txBody>
          <a:bodyPr wrap="square" lIns="0" tIns="0" rIns="0" bIns="0" anchor="t">
            <a:spAutoFit/>
          </a:bodyPr>
          <a:lstStyle/>
          <a:p>
            <a:pPr lvl="0" algn="ctr"/>
            <a:r>
              <a:rPr lang="bg-BG" sz="3200" b="1" dirty="0" smtClean="0">
                <a:latin typeface="Segoe UI Light" panose="020B0502040204020203" pitchFamily="34" charset="0"/>
                <a:cs typeface="Segoe UI Light" panose="020B0502040204020203" pitchFamily="34" charset="0"/>
              </a:rPr>
              <a:t>КОНТРОЛ</a:t>
            </a:r>
            <a:endParaRPr lang="en-US" sz="3200" b="1" dirty="0">
              <a:latin typeface="Segoe UI Light" panose="020B0502040204020203" pitchFamily="34" charset="0"/>
              <a:cs typeface="Segoe UI Light" panose="020B0502040204020203" pitchFamily="34" charset="0"/>
            </a:endParaRPr>
          </a:p>
        </p:txBody>
      </p:sp>
      <p:sp>
        <p:nvSpPr>
          <p:cNvPr id="35" name="Rectangle 34">
            <a:extLst>
              <a:ext uri="{FF2B5EF4-FFF2-40B4-BE49-F238E27FC236}">
                <a16:creationId xmlns:a16="http://schemas.microsoft.com/office/drawing/2014/main" id="{04D9C745-241B-48EF-8E68-26964B57DD66}"/>
              </a:ext>
            </a:extLst>
          </p:cNvPr>
          <p:cNvSpPr/>
          <p:nvPr/>
        </p:nvSpPr>
        <p:spPr>
          <a:xfrm>
            <a:off x="7365831" y="5444678"/>
            <a:ext cx="3008418" cy="492443"/>
          </a:xfrm>
          <a:prstGeom prst="rect">
            <a:avLst/>
          </a:prstGeom>
        </p:spPr>
        <p:txBody>
          <a:bodyPr wrap="square" lIns="0" tIns="0" rIns="0" bIns="0" anchor="t">
            <a:spAutoFit/>
          </a:bodyPr>
          <a:lstStyle/>
          <a:p>
            <a:pPr lvl="0" algn="ctr"/>
            <a:r>
              <a:rPr lang="bg-BG" sz="3200" b="1" dirty="0" smtClean="0">
                <a:latin typeface="Segoe UI Light" panose="020B0502040204020203" pitchFamily="34" charset="0"/>
                <a:cs typeface="Segoe UI Light" panose="020B0502040204020203" pitchFamily="34" charset="0"/>
              </a:rPr>
              <a:t>КОМУНИКАЦИЯ</a:t>
            </a:r>
            <a:endParaRPr lang="en-US" sz="3200" b="1"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4197703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heel(1)">
                                      <p:cBhvr>
                                        <p:cTn id="7" dur="2000"/>
                                        <p:tgtEl>
                                          <p:spTgt spid="34"/>
                                        </p:tgtEl>
                                      </p:cBhvr>
                                    </p:animEffect>
                                  </p:childTnLst>
                                </p:cTn>
                              </p:par>
                            </p:childTnLst>
                          </p:cTn>
                        </p:par>
                        <p:par>
                          <p:cTn id="8" fill="hold">
                            <p:stCondLst>
                              <p:cond delay="2000"/>
                            </p:stCondLst>
                            <p:childTnLst>
                              <p:par>
                                <p:cTn id="9" presetID="45" presetClass="entr" presetSubtype="0" fill="hold" grpId="0"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fade">
                                      <p:cBhvr>
                                        <p:cTn id="11" dur="2000"/>
                                        <p:tgtEl>
                                          <p:spTgt spid="80"/>
                                        </p:tgtEl>
                                      </p:cBhvr>
                                    </p:animEffect>
                                    <p:anim calcmode="lin" valueType="num">
                                      <p:cBhvr>
                                        <p:cTn id="12" dur="2000" fill="hold"/>
                                        <p:tgtEl>
                                          <p:spTgt spid="80"/>
                                        </p:tgtEl>
                                        <p:attrNameLst>
                                          <p:attrName>ppt_w</p:attrName>
                                        </p:attrNameLst>
                                      </p:cBhvr>
                                      <p:tavLst>
                                        <p:tav tm="0" fmla="#ppt_w*sin(2.5*pi*$)">
                                          <p:val>
                                            <p:fltVal val="0"/>
                                          </p:val>
                                        </p:tav>
                                        <p:tav tm="100000">
                                          <p:val>
                                            <p:fltVal val="1"/>
                                          </p:val>
                                        </p:tav>
                                      </p:tavLst>
                                    </p:anim>
                                    <p:anim calcmode="lin" valueType="num">
                                      <p:cBhvr>
                                        <p:cTn id="13" dur="2000" fill="hold"/>
                                        <p:tgtEl>
                                          <p:spTgt spid="80"/>
                                        </p:tgtEl>
                                        <p:attrNameLst>
                                          <p:attrName>ppt_h</p:attrName>
                                        </p:attrNameLst>
                                      </p:cBhvr>
                                      <p:tavLst>
                                        <p:tav tm="0">
                                          <p:val>
                                            <p:strVal val="#ppt_h"/>
                                          </p:val>
                                        </p:tav>
                                        <p:tav tm="100000">
                                          <p:val>
                                            <p:strVal val="#ppt_h"/>
                                          </p:val>
                                        </p:tav>
                                      </p:tavLst>
                                    </p:anim>
                                  </p:childTnLst>
                                </p:cTn>
                              </p:par>
                            </p:childTnLst>
                          </p:cTn>
                        </p:par>
                        <p:par>
                          <p:cTn id="14" fill="hold">
                            <p:stCondLst>
                              <p:cond delay="4000"/>
                            </p:stCondLst>
                            <p:childTnLst>
                              <p:par>
                                <p:cTn id="15" presetID="42" presetClass="entr" presetSubtype="0" fill="hold" grpId="0" nodeType="after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1000"/>
                                        <p:tgtEl>
                                          <p:spTgt spid="35"/>
                                        </p:tgtEl>
                                      </p:cBhvr>
                                    </p:animEffect>
                                    <p:anim calcmode="lin" valueType="num">
                                      <p:cBhvr>
                                        <p:cTn id="18" dur="1000" fill="hold"/>
                                        <p:tgtEl>
                                          <p:spTgt spid="35"/>
                                        </p:tgtEl>
                                        <p:attrNameLst>
                                          <p:attrName>ppt_x</p:attrName>
                                        </p:attrNameLst>
                                      </p:cBhvr>
                                      <p:tavLst>
                                        <p:tav tm="0">
                                          <p:val>
                                            <p:strVal val="#ppt_x"/>
                                          </p:val>
                                        </p:tav>
                                        <p:tav tm="100000">
                                          <p:val>
                                            <p:strVal val="#ppt_x"/>
                                          </p:val>
                                        </p:tav>
                                      </p:tavLst>
                                    </p:anim>
                                    <p:anim calcmode="lin" valueType="num">
                                      <p:cBhvr>
                                        <p:cTn id="1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34"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143430"/>
      </p:ext>
    </p:extLst>
  </p:cSld>
  <p:clrMapOvr>
    <a:masterClrMapping/>
  </p:clrMapOvr>
  <mc:AlternateContent xmlns:mc="http://schemas.openxmlformats.org/markup-compatibility/2006" xmlns:p14="http://schemas.microsoft.com/office/powerpoint/2010/main">
    <mc:Choice Requires="p14">
      <p:transition spd="slow" p14:dur="3000">
        <p14:ripp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1" name="Picture 90"/>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499853"/>
            <a:ext cx="12192000" cy="7110666"/>
          </a:xfrm>
          <a:custGeom>
            <a:avLst/>
            <a:gdLst>
              <a:gd name="connsiteX0" fmla="*/ 0 w 12192000"/>
              <a:gd name="connsiteY0" fmla="*/ 0 h 7110666"/>
              <a:gd name="connsiteX1" fmla="*/ 12192000 w 12192000"/>
              <a:gd name="connsiteY1" fmla="*/ 0 h 7110666"/>
              <a:gd name="connsiteX2" fmla="*/ 12192000 w 12192000"/>
              <a:gd name="connsiteY2" fmla="*/ 4517231 h 7110666"/>
              <a:gd name="connsiteX3" fmla="*/ 12010076 w 12192000"/>
              <a:gd name="connsiteY3" fmla="*/ 4702438 h 7110666"/>
              <a:gd name="connsiteX4" fmla="*/ 6096001 w 12192000"/>
              <a:gd name="connsiteY4" fmla="*/ 7110666 h 7110666"/>
              <a:gd name="connsiteX5" fmla="*/ 181925 w 12192000"/>
              <a:gd name="connsiteY5" fmla="*/ 4702438 h 7110666"/>
              <a:gd name="connsiteX6" fmla="*/ 0 w 12192000"/>
              <a:gd name="connsiteY6" fmla="*/ 4517230 h 7110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110666">
                <a:moveTo>
                  <a:pt x="0" y="0"/>
                </a:moveTo>
                <a:lnTo>
                  <a:pt x="12192000" y="0"/>
                </a:lnTo>
                <a:lnTo>
                  <a:pt x="12192000" y="4517231"/>
                </a:lnTo>
                <a:lnTo>
                  <a:pt x="12010076" y="4702438"/>
                </a:lnTo>
                <a:cubicBezTo>
                  <a:pt x="10484091" y="6192466"/>
                  <a:pt x="8397274" y="7110666"/>
                  <a:pt x="6096001" y="7110666"/>
                </a:cubicBezTo>
                <a:cubicBezTo>
                  <a:pt x="3794727" y="7110666"/>
                  <a:pt x="1707911" y="6192466"/>
                  <a:pt x="181925" y="4702438"/>
                </a:cubicBezTo>
                <a:lnTo>
                  <a:pt x="0" y="4517230"/>
                </a:lnTo>
                <a:close/>
              </a:path>
            </a:pathLst>
          </a:custGeom>
        </p:spPr>
      </p:pic>
      <p:sp>
        <p:nvSpPr>
          <p:cNvPr id="85" name="Freeform 84"/>
          <p:cNvSpPr/>
          <p:nvPr/>
        </p:nvSpPr>
        <p:spPr>
          <a:xfrm>
            <a:off x="0" y="-499853"/>
            <a:ext cx="12192000" cy="7110666"/>
          </a:xfrm>
          <a:custGeom>
            <a:avLst/>
            <a:gdLst>
              <a:gd name="connsiteX0" fmla="*/ 0 w 12192000"/>
              <a:gd name="connsiteY0" fmla="*/ 0 h 7110666"/>
              <a:gd name="connsiteX1" fmla="*/ 12192000 w 12192000"/>
              <a:gd name="connsiteY1" fmla="*/ 0 h 7110666"/>
              <a:gd name="connsiteX2" fmla="*/ 12192000 w 12192000"/>
              <a:gd name="connsiteY2" fmla="*/ 4517231 h 7110666"/>
              <a:gd name="connsiteX3" fmla="*/ 12010076 w 12192000"/>
              <a:gd name="connsiteY3" fmla="*/ 4702438 h 7110666"/>
              <a:gd name="connsiteX4" fmla="*/ 6096000 w 12192000"/>
              <a:gd name="connsiteY4" fmla="*/ 7110666 h 7110666"/>
              <a:gd name="connsiteX5" fmla="*/ 181925 w 12192000"/>
              <a:gd name="connsiteY5" fmla="*/ 4702438 h 7110666"/>
              <a:gd name="connsiteX6" fmla="*/ 0 w 12192000"/>
              <a:gd name="connsiteY6" fmla="*/ 4517230 h 7110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110666">
                <a:moveTo>
                  <a:pt x="0" y="0"/>
                </a:moveTo>
                <a:lnTo>
                  <a:pt x="12192000" y="0"/>
                </a:lnTo>
                <a:lnTo>
                  <a:pt x="12192000" y="4517231"/>
                </a:lnTo>
                <a:lnTo>
                  <a:pt x="12010076" y="4702438"/>
                </a:lnTo>
                <a:cubicBezTo>
                  <a:pt x="10484091" y="6192466"/>
                  <a:pt x="8397274" y="7110666"/>
                  <a:pt x="6096000" y="7110666"/>
                </a:cubicBezTo>
                <a:cubicBezTo>
                  <a:pt x="3794727" y="7110666"/>
                  <a:pt x="1707911" y="6192466"/>
                  <a:pt x="181925" y="4702438"/>
                </a:cubicBezTo>
                <a:lnTo>
                  <a:pt x="0" y="4517230"/>
                </a:lnTo>
                <a:close/>
              </a:path>
            </a:pathLst>
          </a:custGeom>
          <a:solidFill>
            <a:srgbClr val="1EC8C3">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049157" y="1395393"/>
            <a:ext cx="928914" cy="928914"/>
          </a:xfrm>
          <a:prstGeom prst="ellipse">
            <a:avLst/>
          </a:prstGeom>
          <a:solidFill>
            <a:srgbClr val="F9A27F">
              <a:alpha val="18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p:cNvSpPr/>
          <p:nvPr/>
        </p:nvSpPr>
        <p:spPr>
          <a:xfrm>
            <a:off x="3340350" y="3296419"/>
            <a:ext cx="928914" cy="928914"/>
          </a:xfrm>
          <a:prstGeom prst="ellipse">
            <a:avLst/>
          </a:prstGeom>
          <a:solidFill>
            <a:srgbClr val="F9A27F">
              <a:alpha val="18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7922736" y="3296419"/>
            <a:ext cx="928914" cy="928914"/>
          </a:xfrm>
          <a:prstGeom prst="ellipse">
            <a:avLst/>
          </a:prstGeom>
          <a:solidFill>
            <a:srgbClr val="F9A27F">
              <a:alpha val="18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10208551" y="1395393"/>
            <a:ext cx="928914" cy="928914"/>
          </a:xfrm>
          <a:prstGeom prst="ellipse">
            <a:avLst/>
          </a:prstGeom>
          <a:solidFill>
            <a:srgbClr val="F9A27F">
              <a:alpha val="18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5631543" y="4360962"/>
            <a:ext cx="928914" cy="928914"/>
          </a:xfrm>
          <a:prstGeom prst="ellipse">
            <a:avLst/>
          </a:prstGeom>
          <a:solidFill>
            <a:srgbClr val="F9A27F">
              <a:alpha val="18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1561239" y="-499853"/>
            <a:ext cx="9164772" cy="3899173"/>
          </a:xfrm>
          <a:custGeom>
            <a:avLst/>
            <a:gdLst>
              <a:gd name="connsiteX0" fmla="*/ 0 w 9164772"/>
              <a:gd name="connsiteY0" fmla="*/ 0 h 3899173"/>
              <a:gd name="connsiteX1" fmla="*/ 9164772 w 9164772"/>
              <a:gd name="connsiteY1" fmla="*/ 0 h 3899173"/>
              <a:gd name="connsiteX2" fmla="*/ 9130408 w 9164772"/>
              <a:gd name="connsiteY2" fmla="*/ 192428 h 3899173"/>
              <a:gd name="connsiteX3" fmla="*/ 4582386 w 9164772"/>
              <a:gd name="connsiteY3" fmla="*/ 3899173 h 3899173"/>
              <a:gd name="connsiteX4" fmla="*/ 34364 w 9164772"/>
              <a:gd name="connsiteY4" fmla="*/ 192428 h 3899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4772" h="3899173">
                <a:moveTo>
                  <a:pt x="0" y="0"/>
                </a:moveTo>
                <a:lnTo>
                  <a:pt x="9164772" y="0"/>
                </a:lnTo>
                <a:lnTo>
                  <a:pt x="9130408" y="192428"/>
                </a:lnTo>
                <a:cubicBezTo>
                  <a:pt x="8697527" y="2307863"/>
                  <a:pt x="6825792" y="3899173"/>
                  <a:pt x="4582386" y="3899173"/>
                </a:cubicBezTo>
                <a:cubicBezTo>
                  <a:pt x="2338981" y="3899173"/>
                  <a:pt x="467245" y="2307863"/>
                  <a:pt x="34364" y="192428"/>
                </a:cubicBez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1281238" y="1154454"/>
            <a:ext cx="464752" cy="464752"/>
          </a:xfrm>
          <a:prstGeom prst="ellipse">
            <a:avLst/>
          </a:prstGeom>
          <a:solidFill>
            <a:schemeClr val="bg1"/>
          </a:solidFill>
          <a:ln>
            <a:noFill/>
          </a:ln>
          <a:effectLst>
            <a:innerShdw blurRad="63500" dist="50800" dir="16200000">
              <a:prstClr val="black">
                <a:alpha val="2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1394368" y="1263319"/>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3572431" y="3055480"/>
            <a:ext cx="464752" cy="464752"/>
          </a:xfrm>
          <a:prstGeom prst="ellipse">
            <a:avLst/>
          </a:prstGeom>
          <a:solidFill>
            <a:schemeClr val="bg1"/>
          </a:solidFill>
          <a:ln>
            <a:noFill/>
          </a:ln>
          <a:effectLst>
            <a:innerShdw blurRad="63500" dist="50800" dir="16200000">
              <a:prstClr val="black">
                <a:alpha val="2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3685561" y="3168610"/>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D2B8A816-6A47-4FC3-9886-C2B5B77ED56D}"/>
              </a:ext>
            </a:extLst>
          </p:cNvPr>
          <p:cNvSpPr txBox="1"/>
          <p:nvPr/>
        </p:nvSpPr>
        <p:spPr>
          <a:xfrm flipH="1">
            <a:off x="430705" y="1812938"/>
            <a:ext cx="2085776" cy="369332"/>
          </a:xfrm>
          <a:prstGeom prst="rect">
            <a:avLst/>
          </a:prstGeom>
          <a:noFill/>
          <a:ln w="6350">
            <a:noFill/>
            <a:prstDash val="dash"/>
          </a:ln>
        </p:spPr>
        <p:txBody>
          <a:bodyPr wrap="square" lIns="0" tIns="0" rIns="0" bIns="0" rtlCol="0">
            <a:spAutoFit/>
          </a:bodyPr>
          <a:lstStyle/>
          <a:p>
            <a:pPr lvl="0" algn="ctr">
              <a:defRPr/>
            </a:pPr>
            <a:r>
              <a:rPr lang="bg-BG" sz="2400" dirty="0">
                <a:solidFill>
                  <a:schemeClr val="bg1"/>
                </a:solidFill>
              </a:rPr>
              <a:t>Инициализация</a:t>
            </a:r>
            <a:endParaRPr lang="en-US" sz="2400" dirty="0">
              <a:solidFill>
                <a:schemeClr val="bg1"/>
              </a:solidFill>
            </a:endParaRPr>
          </a:p>
        </p:txBody>
      </p:sp>
      <p:sp>
        <p:nvSpPr>
          <p:cNvPr id="70" name="TextBox 69">
            <a:extLst>
              <a:ext uri="{FF2B5EF4-FFF2-40B4-BE49-F238E27FC236}">
                <a16:creationId xmlns:a16="http://schemas.microsoft.com/office/drawing/2014/main" id="{D2B8A816-6A47-4FC3-9886-C2B5B77ED56D}"/>
              </a:ext>
            </a:extLst>
          </p:cNvPr>
          <p:cNvSpPr txBox="1"/>
          <p:nvPr/>
        </p:nvSpPr>
        <p:spPr>
          <a:xfrm flipH="1">
            <a:off x="2886059" y="3706745"/>
            <a:ext cx="1837497" cy="369332"/>
          </a:xfrm>
          <a:prstGeom prst="rect">
            <a:avLst/>
          </a:prstGeom>
          <a:noFill/>
          <a:ln w="6350">
            <a:noFill/>
            <a:prstDash val="dash"/>
          </a:ln>
        </p:spPr>
        <p:txBody>
          <a:bodyPr wrap="square" lIns="0" tIns="0" rIns="0" bIns="0" rtlCol="0">
            <a:spAutoFit/>
          </a:bodyPr>
          <a:lstStyle/>
          <a:p>
            <a:pPr lvl="0" algn="ctr">
              <a:defRPr/>
            </a:pPr>
            <a:r>
              <a:rPr lang="bg-BG" sz="2400" dirty="0" smtClean="0">
                <a:solidFill>
                  <a:schemeClr val="bg1"/>
                </a:solidFill>
              </a:rPr>
              <a:t>Планиране</a:t>
            </a:r>
            <a:endParaRPr lang="en-US" sz="2400" dirty="0">
              <a:solidFill>
                <a:schemeClr val="bg1"/>
              </a:solidFill>
            </a:endParaRPr>
          </a:p>
        </p:txBody>
      </p:sp>
      <p:sp>
        <p:nvSpPr>
          <p:cNvPr id="71" name="TextBox 70">
            <a:extLst>
              <a:ext uri="{FF2B5EF4-FFF2-40B4-BE49-F238E27FC236}">
                <a16:creationId xmlns:a16="http://schemas.microsoft.com/office/drawing/2014/main" id="{D2B8A816-6A47-4FC3-9886-C2B5B77ED56D}"/>
              </a:ext>
            </a:extLst>
          </p:cNvPr>
          <p:cNvSpPr txBox="1"/>
          <p:nvPr/>
        </p:nvSpPr>
        <p:spPr>
          <a:xfrm>
            <a:off x="5177252" y="4764513"/>
            <a:ext cx="1837497" cy="369332"/>
          </a:xfrm>
          <a:prstGeom prst="rect">
            <a:avLst/>
          </a:prstGeom>
          <a:noFill/>
          <a:ln w="6350">
            <a:noFill/>
            <a:prstDash val="dash"/>
          </a:ln>
        </p:spPr>
        <p:txBody>
          <a:bodyPr wrap="square" lIns="0" tIns="0" rIns="0" bIns="0" rtlCol="0">
            <a:spAutoFit/>
          </a:bodyPr>
          <a:lstStyle/>
          <a:p>
            <a:pPr lvl="0" algn="ctr">
              <a:defRPr/>
            </a:pPr>
            <a:r>
              <a:rPr lang="bg-BG" sz="2400" dirty="0" smtClean="0">
                <a:solidFill>
                  <a:schemeClr val="bg1"/>
                </a:solidFill>
              </a:rPr>
              <a:t>Изпълнение</a:t>
            </a:r>
            <a:endParaRPr lang="en-US" sz="2400" dirty="0">
              <a:solidFill>
                <a:schemeClr val="bg1"/>
              </a:solidFill>
            </a:endParaRPr>
          </a:p>
        </p:txBody>
      </p:sp>
      <p:sp>
        <p:nvSpPr>
          <p:cNvPr id="72" name="TextBox 71">
            <a:extLst>
              <a:ext uri="{FF2B5EF4-FFF2-40B4-BE49-F238E27FC236}">
                <a16:creationId xmlns:a16="http://schemas.microsoft.com/office/drawing/2014/main" id="{D2B8A816-6A47-4FC3-9886-C2B5B77ED56D}"/>
              </a:ext>
            </a:extLst>
          </p:cNvPr>
          <p:cNvSpPr txBox="1"/>
          <p:nvPr/>
        </p:nvSpPr>
        <p:spPr>
          <a:xfrm>
            <a:off x="7468445" y="3706745"/>
            <a:ext cx="1837497" cy="738664"/>
          </a:xfrm>
          <a:prstGeom prst="rect">
            <a:avLst/>
          </a:prstGeom>
          <a:noFill/>
          <a:ln w="6350">
            <a:noFill/>
            <a:prstDash val="dash"/>
          </a:ln>
        </p:spPr>
        <p:txBody>
          <a:bodyPr wrap="square" lIns="0" tIns="0" rIns="0" bIns="0" rtlCol="0">
            <a:spAutoFit/>
          </a:bodyPr>
          <a:lstStyle/>
          <a:p>
            <a:pPr lvl="0" algn="ctr">
              <a:defRPr/>
            </a:pPr>
            <a:r>
              <a:rPr lang="bg-BG" sz="2400" dirty="0" smtClean="0">
                <a:solidFill>
                  <a:schemeClr val="bg1"/>
                </a:solidFill>
              </a:rPr>
              <a:t>Мониторинг и контрол</a:t>
            </a:r>
            <a:endParaRPr lang="en-US" sz="2400" dirty="0">
              <a:solidFill>
                <a:schemeClr val="bg1"/>
              </a:solidFill>
            </a:endParaRPr>
          </a:p>
        </p:txBody>
      </p:sp>
      <p:sp>
        <p:nvSpPr>
          <p:cNvPr id="73" name="TextBox 72">
            <a:extLst>
              <a:ext uri="{FF2B5EF4-FFF2-40B4-BE49-F238E27FC236}">
                <a16:creationId xmlns:a16="http://schemas.microsoft.com/office/drawing/2014/main" id="{D2B8A816-6A47-4FC3-9886-C2B5B77ED56D}"/>
              </a:ext>
            </a:extLst>
          </p:cNvPr>
          <p:cNvSpPr txBox="1"/>
          <p:nvPr/>
        </p:nvSpPr>
        <p:spPr>
          <a:xfrm>
            <a:off x="9759638" y="1812938"/>
            <a:ext cx="1837497" cy="369332"/>
          </a:xfrm>
          <a:prstGeom prst="rect">
            <a:avLst/>
          </a:prstGeom>
          <a:noFill/>
          <a:ln w="6350">
            <a:noFill/>
            <a:prstDash val="dash"/>
          </a:ln>
        </p:spPr>
        <p:txBody>
          <a:bodyPr wrap="square" lIns="0" tIns="0" rIns="0" bIns="0" rtlCol="0">
            <a:spAutoFit/>
          </a:bodyPr>
          <a:lstStyle/>
          <a:p>
            <a:pPr lvl="0" algn="ctr">
              <a:defRPr/>
            </a:pPr>
            <a:r>
              <a:rPr lang="bg-BG" sz="2400" dirty="0" smtClean="0">
                <a:solidFill>
                  <a:schemeClr val="bg1"/>
                </a:solidFill>
              </a:rPr>
              <a:t>Завършване</a:t>
            </a:r>
            <a:endParaRPr lang="en-US" sz="2400" dirty="0">
              <a:solidFill>
                <a:schemeClr val="bg1"/>
              </a:solidFill>
            </a:endParaRPr>
          </a:p>
        </p:txBody>
      </p:sp>
      <p:sp>
        <p:nvSpPr>
          <p:cNvPr id="86" name="Oval 85"/>
          <p:cNvSpPr/>
          <p:nvPr/>
        </p:nvSpPr>
        <p:spPr>
          <a:xfrm>
            <a:off x="8154817" y="3055480"/>
            <a:ext cx="464752" cy="464752"/>
          </a:xfrm>
          <a:prstGeom prst="ellipse">
            <a:avLst/>
          </a:prstGeom>
          <a:solidFill>
            <a:schemeClr val="bg1"/>
          </a:solidFill>
          <a:ln>
            <a:noFill/>
          </a:ln>
          <a:effectLst>
            <a:innerShdw blurRad="63500" dist="50800" dir="16200000">
              <a:prstClr val="black">
                <a:alpha val="2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8267947" y="3168610"/>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0440632" y="1154454"/>
            <a:ext cx="464752" cy="464752"/>
          </a:xfrm>
          <a:prstGeom prst="ellipse">
            <a:avLst/>
          </a:prstGeom>
          <a:solidFill>
            <a:schemeClr val="bg1"/>
          </a:solidFill>
          <a:ln>
            <a:noFill/>
          </a:ln>
          <a:effectLst>
            <a:innerShdw blurRad="63500" dist="50800" dir="16200000">
              <a:prstClr val="black">
                <a:alpha val="2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p:cNvSpPr/>
          <p:nvPr/>
        </p:nvSpPr>
        <p:spPr>
          <a:xfrm>
            <a:off x="10553762" y="1263319"/>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5863624" y="4120023"/>
            <a:ext cx="464752" cy="464752"/>
          </a:xfrm>
          <a:prstGeom prst="ellipse">
            <a:avLst/>
          </a:prstGeom>
          <a:solidFill>
            <a:schemeClr val="bg1"/>
          </a:solidFill>
          <a:ln>
            <a:noFill/>
          </a:ln>
          <a:effectLst>
            <a:innerShdw blurRad="63500" dist="50800" dir="16200000">
              <a:prstClr val="black">
                <a:alpha val="2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5976754" y="4233153"/>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513613" y="951415"/>
            <a:ext cx="1372445" cy="337395"/>
            <a:chOff x="1513614" y="538163"/>
            <a:chExt cx="314080" cy="337395"/>
          </a:xfrm>
          <a:solidFill>
            <a:srgbClr val="4D4D4D"/>
          </a:solidFill>
        </p:grpSpPr>
        <p:cxnSp>
          <p:nvCxnSpPr>
            <p:cNvPr id="84" name="Straight Connector 83"/>
            <p:cNvCxnSpPr/>
            <p:nvPr/>
          </p:nvCxnSpPr>
          <p:spPr>
            <a:xfrm flipV="1">
              <a:off x="1513614" y="538163"/>
              <a:ext cx="0" cy="337395"/>
            </a:xfrm>
            <a:prstGeom prst="line">
              <a:avLst/>
            </a:prstGeom>
            <a:grpFill/>
            <a:ln>
              <a:solidFill>
                <a:srgbClr val="4D4D4D"/>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1513615" y="538163"/>
              <a:ext cx="314079" cy="1"/>
            </a:xfrm>
            <a:prstGeom prst="line">
              <a:avLst/>
            </a:prstGeom>
            <a:grpFill/>
            <a:ln>
              <a:solidFill>
                <a:srgbClr val="4D4D4D"/>
              </a:solidFill>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flipH="1">
            <a:off x="9305942" y="951415"/>
            <a:ext cx="1372445" cy="337395"/>
            <a:chOff x="1513614" y="538163"/>
            <a:chExt cx="314080" cy="337395"/>
          </a:xfrm>
        </p:grpSpPr>
        <p:cxnSp>
          <p:nvCxnSpPr>
            <p:cNvPr id="103" name="Straight Connector 102"/>
            <p:cNvCxnSpPr/>
            <p:nvPr/>
          </p:nvCxnSpPr>
          <p:spPr>
            <a:xfrm flipV="1">
              <a:off x="1513614" y="538163"/>
              <a:ext cx="0" cy="337395"/>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513615" y="538164"/>
              <a:ext cx="314079"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grpSp>
      <p:grpSp>
        <p:nvGrpSpPr>
          <p:cNvPr id="105" name="Group 104"/>
          <p:cNvGrpSpPr/>
          <p:nvPr/>
        </p:nvGrpSpPr>
        <p:grpSpPr>
          <a:xfrm flipH="1">
            <a:off x="7423149" y="2003346"/>
            <a:ext cx="964046" cy="1177819"/>
            <a:chOff x="1513614" y="538163"/>
            <a:chExt cx="313358" cy="337395"/>
          </a:xfrm>
        </p:grpSpPr>
        <p:cxnSp>
          <p:nvCxnSpPr>
            <p:cNvPr id="106" name="Straight Connector 105"/>
            <p:cNvCxnSpPr/>
            <p:nvPr/>
          </p:nvCxnSpPr>
          <p:spPr>
            <a:xfrm flipV="1">
              <a:off x="1513614" y="538163"/>
              <a:ext cx="0" cy="337395"/>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1513615" y="538164"/>
              <a:ext cx="313357"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grpSp>
      <p:cxnSp>
        <p:nvCxnSpPr>
          <p:cNvPr id="109" name="Straight Connector 108"/>
          <p:cNvCxnSpPr>
            <a:endCxn id="101" idx="4"/>
          </p:cNvCxnSpPr>
          <p:nvPr/>
        </p:nvCxnSpPr>
        <p:spPr>
          <a:xfrm flipH="1" flipV="1">
            <a:off x="6091422" y="2661250"/>
            <a:ext cx="4578" cy="1775455"/>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grpSp>
        <p:nvGrpSpPr>
          <p:cNvPr id="111" name="Group 110"/>
          <p:cNvGrpSpPr/>
          <p:nvPr/>
        </p:nvGrpSpPr>
        <p:grpSpPr>
          <a:xfrm>
            <a:off x="3804806" y="2003346"/>
            <a:ext cx="959422" cy="1177819"/>
            <a:chOff x="1513614" y="538163"/>
            <a:chExt cx="311855" cy="337395"/>
          </a:xfrm>
        </p:grpSpPr>
        <p:cxnSp>
          <p:nvCxnSpPr>
            <p:cNvPr id="112" name="Straight Connector 111"/>
            <p:cNvCxnSpPr/>
            <p:nvPr/>
          </p:nvCxnSpPr>
          <p:spPr>
            <a:xfrm flipV="1">
              <a:off x="1513614" y="538163"/>
              <a:ext cx="0" cy="337395"/>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1513615" y="538164"/>
              <a:ext cx="311854"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657352" y="4200093"/>
            <a:ext cx="285750" cy="280988"/>
            <a:chOff x="319051" y="2495550"/>
            <a:chExt cx="285750" cy="280988"/>
          </a:xfrm>
          <a:solidFill>
            <a:schemeClr val="bg1"/>
          </a:solidFill>
        </p:grpSpPr>
        <p:sp>
          <p:nvSpPr>
            <p:cNvPr id="50" name="Freeform 2985"/>
            <p:cNvSpPr>
              <a:spLocks/>
            </p:cNvSpPr>
            <p:nvPr/>
          </p:nvSpPr>
          <p:spPr bwMode="auto">
            <a:xfrm>
              <a:off x="319051" y="2495550"/>
              <a:ext cx="214313" cy="195263"/>
            </a:xfrm>
            <a:custGeom>
              <a:avLst/>
              <a:gdLst>
                <a:gd name="T0" fmla="*/ 505 w 537"/>
                <a:gd name="T1" fmla="*/ 263 h 492"/>
                <a:gd name="T2" fmla="*/ 525 w 537"/>
                <a:gd name="T3" fmla="*/ 266 h 492"/>
                <a:gd name="T4" fmla="*/ 537 w 537"/>
                <a:gd name="T5" fmla="*/ 250 h 492"/>
                <a:gd name="T6" fmla="*/ 537 w 537"/>
                <a:gd name="T7" fmla="*/ 227 h 492"/>
                <a:gd name="T8" fmla="*/ 536 w 537"/>
                <a:gd name="T9" fmla="*/ 210 h 492"/>
                <a:gd name="T10" fmla="*/ 534 w 537"/>
                <a:gd name="T11" fmla="*/ 187 h 492"/>
                <a:gd name="T12" fmla="*/ 528 w 537"/>
                <a:gd name="T13" fmla="*/ 166 h 492"/>
                <a:gd name="T14" fmla="*/ 521 w 537"/>
                <a:gd name="T15" fmla="*/ 146 h 492"/>
                <a:gd name="T16" fmla="*/ 510 w 537"/>
                <a:gd name="T17" fmla="*/ 125 h 492"/>
                <a:gd name="T18" fmla="*/ 498 w 537"/>
                <a:gd name="T19" fmla="*/ 106 h 492"/>
                <a:gd name="T20" fmla="*/ 475 w 537"/>
                <a:gd name="T21" fmla="*/ 81 h 492"/>
                <a:gd name="T22" fmla="*/ 438 w 537"/>
                <a:gd name="T23" fmla="*/ 50 h 492"/>
                <a:gd name="T24" fmla="*/ 396 w 537"/>
                <a:gd name="T25" fmla="*/ 27 h 492"/>
                <a:gd name="T26" fmla="*/ 348 w 537"/>
                <a:gd name="T27" fmla="*/ 10 h 492"/>
                <a:gd name="T28" fmla="*/ 296 w 537"/>
                <a:gd name="T29" fmla="*/ 2 h 492"/>
                <a:gd name="T30" fmla="*/ 241 w 537"/>
                <a:gd name="T31" fmla="*/ 2 h 492"/>
                <a:gd name="T32" fmla="*/ 189 w 537"/>
                <a:gd name="T33" fmla="*/ 10 h 492"/>
                <a:gd name="T34" fmla="*/ 140 w 537"/>
                <a:gd name="T35" fmla="*/ 27 h 492"/>
                <a:gd name="T36" fmla="*/ 97 w 537"/>
                <a:gd name="T37" fmla="*/ 52 h 492"/>
                <a:gd name="T38" fmla="*/ 61 w 537"/>
                <a:gd name="T39" fmla="*/ 81 h 492"/>
                <a:gd name="T40" fmla="*/ 39 w 537"/>
                <a:gd name="T41" fmla="*/ 108 h 492"/>
                <a:gd name="T42" fmla="*/ 26 w 537"/>
                <a:gd name="T43" fmla="*/ 127 h 492"/>
                <a:gd name="T44" fmla="*/ 16 w 537"/>
                <a:gd name="T45" fmla="*/ 146 h 492"/>
                <a:gd name="T46" fmla="*/ 8 w 537"/>
                <a:gd name="T47" fmla="*/ 167 h 492"/>
                <a:gd name="T48" fmla="*/ 3 w 537"/>
                <a:gd name="T49" fmla="*/ 188 h 492"/>
                <a:gd name="T50" fmla="*/ 0 w 537"/>
                <a:gd name="T51" fmla="*/ 211 h 492"/>
                <a:gd name="T52" fmla="*/ 1 w 537"/>
                <a:gd name="T53" fmla="*/ 244 h 492"/>
                <a:gd name="T54" fmla="*/ 9 w 537"/>
                <a:gd name="T55" fmla="*/ 286 h 492"/>
                <a:gd name="T56" fmla="*/ 27 w 537"/>
                <a:gd name="T57" fmla="*/ 325 h 492"/>
                <a:gd name="T58" fmla="*/ 52 w 537"/>
                <a:gd name="T59" fmla="*/ 360 h 492"/>
                <a:gd name="T60" fmla="*/ 13 w 537"/>
                <a:gd name="T61" fmla="*/ 474 h 492"/>
                <a:gd name="T62" fmla="*/ 11 w 537"/>
                <a:gd name="T63" fmla="*/ 481 h 492"/>
                <a:gd name="T64" fmla="*/ 14 w 537"/>
                <a:gd name="T65" fmla="*/ 487 h 492"/>
                <a:gd name="T66" fmla="*/ 23 w 537"/>
                <a:gd name="T67" fmla="*/ 492 h 492"/>
                <a:gd name="T68" fmla="*/ 28 w 537"/>
                <a:gd name="T69" fmla="*/ 491 h 492"/>
                <a:gd name="T70" fmla="*/ 191 w 537"/>
                <a:gd name="T71" fmla="*/ 436 h 492"/>
                <a:gd name="T72" fmla="*/ 215 w 537"/>
                <a:gd name="T73" fmla="*/ 442 h 492"/>
                <a:gd name="T74" fmla="*/ 239 w 537"/>
                <a:gd name="T75" fmla="*/ 445 h 492"/>
                <a:gd name="T76" fmla="*/ 255 w 537"/>
                <a:gd name="T77" fmla="*/ 428 h 492"/>
                <a:gd name="T78" fmla="*/ 271 w 537"/>
                <a:gd name="T79" fmla="*/ 391 h 492"/>
                <a:gd name="T80" fmla="*/ 292 w 537"/>
                <a:gd name="T81" fmla="*/ 359 h 492"/>
                <a:gd name="T82" fmla="*/ 320 w 537"/>
                <a:gd name="T83" fmla="*/ 329 h 492"/>
                <a:gd name="T84" fmla="*/ 352 w 537"/>
                <a:gd name="T85" fmla="*/ 305 h 492"/>
                <a:gd name="T86" fmla="*/ 389 w 537"/>
                <a:gd name="T87" fmla="*/ 285 h 492"/>
                <a:gd name="T88" fmla="*/ 429 w 537"/>
                <a:gd name="T89" fmla="*/ 272 h 492"/>
                <a:gd name="T90" fmla="*/ 472 w 537"/>
                <a:gd name="T91" fmla="*/ 265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37" h="492">
                  <a:moveTo>
                    <a:pt x="494" y="263"/>
                  </a:moveTo>
                  <a:lnTo>
                    <a:pt x="505" y="263"/>
                  </a:lnTo>
                  <a:lnTo>
                    <a:pt x="515" y="265"/>
                  </a:lnTo>
                  <a:lnTo>
                    <a:pt x="525" y="266"/>
                  </a:lnTo>
                  <a:lnTo>
                    <a:pt x="535" y="267"/>
                  </a:lnTo>
                  <a:lnTo>
                    <a:pt x="537" y="250"/>
                  </a:lnTo>
                  <a:lnTo>
                    <a:pt x="537" y="236"/>
                  </a:lnTo>
                  <a:lnTo>
                    <a:pt x="537" y="227"/>
                  </a:lnTo>
                  <a:lnTo>
                    <a:pt x="537" y="222"/>
                  </a:lnTo>
                  <a:lnTo>
                    <a:pt x="536" y="210"/>
                  </a:lnTo>
                  <a:lnTo>
                    <a:pt x="535" y="199"/>
                  </a:lnTo>
                  <a:lnTo>
                    <a:pt x="534" y="187"/>
                  </a:lnTo>
                  <a:lnTo>
                    <a:pt x="531" y="177"/>
                  </a:lnTo>
                  <a:lnTo>
                    <a:pt x="528" y="166"/>
                  </a:lnTo>
                  <a:lnTo>
                    <a:pt x="524" y="156"/>
                  </a:lnTo>
                  <a:lnTo>
                    <a:pt x="521" y="146"/>
                  </a:lnTo>
                  <a:lnTo>
                    <a:pt x="516" y="135"/>
                  </a:lnTo>
                  <a:lnTo>
                    <a:pt x="510" y="125"/>
                  </a:lnTo>
                  <a:lnTo>
                    <a:pt x="504" y="116"/>
                  </a:lnTo>
                  <a:lnTo>
                    <a:pt x="498" y="106"/>
                  </a:lnTo>
                  <a:lnTo>
                    <a:pt x="491" y="98"/>
                  </a:lnTo>
                  <a:lnTo>
                    <a:pt x="475" y="81"/>
                  </a:lnTo>
                  <a:lnTo>
                    <a:pt x="457" y="65"/>
                  </a:lnTo>
                  <a:lnTo>
                    <a:pt x="438" y="50"/>
                  </a:lnTo>
                  <a:lnTo>
                    <a:pt x="418" y="39"/>
                  </a:lnTo>
                  <a:lnTo>
                    <a:pt x="396" y="27"/>
                  </a:lnTo>
                  <a:lnTo>
                    <a:pt x="373" y="18"/>
                  </a:lnTo>
                  <a:lnTo>
                    <a:pt x="348" y="10"/>
                  </a:lnTo>
                  <a:lnTo>
                    <a:pt x="322" y="5"/>
                  </a:lnTo>
                  <a:lnTo>
                    <a:pt x="296" y="2"/>
                  </a:lnTo>
                  <a:lnTo>
                    <a:pt x="268" y="0"/>
                  </a:lnTo>
                  <a:lnTo>
                    <a:pt x="241" y="2"/>
                  </a:lnTo>
                  <a:lnTo>
                    <a:pt x="214" y="5"/>
                  </a:lnTo>
                  <a:lnTo>
                    <a:pt x="189" y="10"/>
                  </a:lnTo>
                  <a:lnTo>
                    <a:pt x="164" y="18"/>
                  </a:lnTo>
                  <a:lnTo>
                    <a:pt x="140" y="27"/>
                  </a:lnTo>
                  <a:lnTo>
                    <a:pt x="118" y="39"/>
                  </a:lnTo>
                  <a:lnTo>
                    <a:pt x="97" y="52"/>
                  </a:lnTo>
                  <a:lnTo>
                    <a:pt x="78" y="66"/>
                  </a:lnTo>
                  <a:lnTo>
                    <a:pt x="61" y="81"/>
                  </a:lnTo>
                  <a:lnTo>
                    <a:pt x="46" y="98"/>
                  </a:lnTo>
                  <a:lnTo>
                    <a:pt x="39" y="108"/>
                  </a:lnTo>
                  <a:lnTo>
                    <a:pt x="32" y="116"/>
                  </a:lnTo>
                  <a:lnTo>
                    <a:pt x="26" y="127"/>
                  </a:lnTo>
                  <a:lnTo>
                    <a:pt x="21" y="136"/>
                  </a:lnTo>
                  <a:lnTo>
                    <a:pt x="16" y="146"/>
                  </a:lnTo>
                  <a:lnTo>
                    <a:pt x="11" y="156"/>
                  </a:lnTo>
                  <a:lnTo>
                    <a:pt x="8" y="167"/>
                  </a:lnTo>
                  <a:lnTo>
                    <a:pt x="5" y="178"/>
                  </a:lnTo>
                  <a:lnTo>
                    <a:pt x="3" y="188"/>
                  </a:lnTo>
                  <a:lnTo>
                    <a:pt x="1" y="199"/>
                  </a:lnTo>
                  <a:lnTo>
                    <a:pt x="0" y="211"/>
                  </a:lnTo>
                  <a:lnTo>
                    <a:pt x="0" y="222"/>
                  </a:lnTo>
                  <a:lnTo>
                    <a:pt x="1" y="244"/>
                  </a:lnTo>
                  <a:lnTo>
                    <a:pt x="4" y="266"/>
                  </a:lnTo>
                  <a:lnTo>
                    <a:pt x="9" y="286"/>
                  </a:lnTo>
                  <a:lnTo>
                    <a:pt x="17" y="306"/>
                  </a:lnTo>
                  <a:lnTo>
                    <a:pt x="27" y="325"/>
                  </a:lnTo>
                  <a:lnTo>
                    <a:pt x="39" y="343"/>
                  </a:lnTo>
                  <a:lnTo>
                    <a:pt x="52" y="360"/>
                  </a:lnTo>
                  <a:lnTo>
                    <a:pt x="69" y="374"/>
                  </a:lnTo>
                  <a:lnTo>
                    <a:pt x="13" y="474"/>
                  </a:lnTo>
                  <a:lnTo>
                    <a:pt x="11" y="477"/>
                  </a:lnTo>
                  <a:lnTo>
                    <a:pt x="11" y="481"/>
                  </a:lnTo>
                  <a:lnTo>
                    <a:pt x="13" y="485"/>
                  </a:lnTo>
                  <a:lnTo>
                    <a:pt x="14" y="487"/>
                  </a:lnTo>
                  <a:lnTo>
                    <a:pt x="19" y="491"/>
                  </a:lnTo>
                  <a:lnTo>
                    <a:pt x="23" y="492"/>
                  </a:lnTo>
                  <a:lnTo>
                    <a:pt x="26" y="492"/>
                  </a:lnTo>
                  <a:lnTo>
                    <a:pt x="28" y="491"/>
                  </a:lnTo>
                  <a:lnTo>
                    <a:pt x="179" y="432"/>
                  </a:lnTo>
                  <a:lnTo>
                    <a:pt x="191" y="436"/>
                  </a:lnTo>
                  <a:lnTo>
                    <a:pt x="203" y="439"/>
                  </a:lnTo>
                  <a:lnTo>
                    <a:pt x="215" y="442"/>
                  </a:lnTo>
                  <a:lnTo>
                    <a:pt x="226" y="443"/>
                  </a:lnTo>
                  <a:lnTo>
                    <a:pt x="239" y="445"/>
                  </a:lnTo>
                  <a:lnTo>
                    <a:pt x="251" y="445"/>
                  </a:lnTo>
                  <a:lnTo>
                    <a:pt x="255" y="428"/>
                  </a:lnTo>
                  <a:lnTo>
                    <a:pt x="262" y="408"/>
                  </a:lnTo>
                  <a:lnTo>
                    <a:pt x="271" y="391"/>
                  </a:lnTo>
                  <a:lnTo>
                    <a:pt x="280" y="374"/>
                  </a:lnTo>
                  <a:lnTo>
                    <a:pt x="292" y="359"/>
                  </a:lnTo>
                  <a:lnTo>
                    <a:pt x="305" y="343"/>
                  </a:lnTo>
                  <a:lnTo>
                    <a:pt x="320" y="329"/>
                  </a:lnTo>
                  <a:lnTo>
                    <a:pt x="335" y="317"/>
                  </a:lnTo>
                  <a:lnTo>
                    <a:pt x="352" y="305"/>
                  </a:lnTo>
                  <a:lnTo>
                    <a:pt x="369" y="294"/>
                  </a:lnTo>
                  <a:lnTo>
                    <a:pt x="389" y="285"/>
                  </a:lnTo>
                  <a:lnTo>
                    <a:pt x="409" y="278"/>
                  </a:lnTo>
                  <a:lnTo>
                    <a:pt x="429" y="272"/>
                  </a:lnTo>
                  <a:lnTo>
                    <a:pt x="450" y="267"/>
                  </a:lnTo>
                  <a:lnTo>
                    <a:pt x="472" y="265"/>
                  </a:lnTo>
                  <a:lnTo>
                    <a:pt x="494" y="2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986"/>
            <p:cNvSpPr>
              <a:spLocks/>
            </p:cNvSpPr>
            <p:nvPr/>
          </p:nvSpPr>
          <p:spPr bwMode="auto">
            <a:xfrm>
              <a:off x="427001" y="2609850"/>
              <a:ext cx="177800" cy="166688"/>
            </a:xfrm>
            <a:custGeom>
              <a:avLst/>
              <a:gdLst>
                <a:gd name="T0" fmla="*/ 201 w 447"/>
                <a:gd name="T1" fmla="*/ 1 h 420"/>
                <a:gd name="T2" fmla="*/ 158 w 447"/>
                <a:gd name="T3" fmla="*/ 10 h 420"/>
                <a:gd name="T4" fmla="*/ 119 w 447"/>
                <a:gd name="T5" fmla="*/ 24 h 420"/>
                <a:gd name="T6" fmla="*/ 83 w 447"/>
                <a:gd name="T7" fmla="*/ 45 h 420"/>
                <a:gd name="T8" fmla="*/ 52 w 447"/>
                <a:gd name="T9" fmla="*/ 72 h 420"/>
                <a:gd name="T10" fmla="*/ 27 w 447"/>
                <a:gd name="T11" fmla="*/ 102 h 420"/>
                <a:gd name="T12" fmla="*/ 10 w 447"/>
                <a:gd name="T13" fmla="*/ 137 h 420"/>
                <a:gd name="T14" fmla="*/ 1 w 447"/>
                <a:gd name="T15" fmla="*/ 174 h 420"/>
                <a:gd name="T16" fmla="*/ 1 w 447"/>
                <a:gd name="T17" fmla="*/ 204 h 420"/>
                <a:gd name="T18" fmla="*/ 3 w 447"/>
                <a:gd name="T19" fmla="*/ 223 h 420"/>
                <a:gd name="T20" fmla="*/ 9 w 447"/>
                <a:gd name="T21" fmla="*/ 249 h 420"/>
                <a:gd name="T22" fmla="*/ 24 w 447"/>
                <a:gd name="T23" fmla="*/ 280 h 420"/>
                <a:gd name="T24" fmla="*/ 43 w 447"/>
                <a:gd name="T25" fmla="*/ 308 h 420"/>
                <a:gd name="T26" fmla="*/ 66 w 447"/>
                <a:gd name="T27" fmla="*/ 333 h 420"/>
                <a:gd name="T28" fmla="*/ 95 w 447"/>
                <a:gd name="T29" fmla="*/ 355 h 420"/>
                <a:gd name="T30" fmla="*/ 127 w 447"/>
                <a:gd name="T31" fmla="*/ 371 h 420"/>
                <a:gd name="T32" fmla="*/ 162 w 447"/>
                <a:gd name="T33" fmla="*/ 383 h 420"/>
                <a:gd name="T34" fmla="*/ 198 w 447"/>
                <a:gd name="T35" fmla="*/ 390 h 420"/>
                <a:gd name="T36" fmla="*/ 217 w 447"/>
                <a:gd name="T37" fmla="*/ 390 h 420"/>
                <a:gd name="T38" fmla="*/ 228 w 447"/>
                <a:gd name="T39" fmla="*/ 390 h 420"/>
                <a:gd name="T40" fmla="*/ 242 w 447"/>
                <a:gd name="T41" fmla="*/ 389 h 420"/>
                <a:gd name="T42" fmla="*/ 253 w 447"/>
                <a:gd name="T43" fmla="*/ 388 h 420"/>
                <a:gd name="T44" fmla="*/ 264 w 447"/>
                <a:gd name="T45" fmla="*/ 386 h 420"/>
                <a:gd name="T46" fmla="*/ 275 w 447"/>
                <a:gd name="T47" fmla="*/ 383 h 420"/>
                <a:gd name="T48" fmla="*/ 285 w 447"/>
                <a:gd name="T49" fmla="*/ 380 h 420"/>
                <a:gd name="T50" fmla="*/ 297 w 447"/>
                <a:gd name="T51" fmla="*/ 376 h 420"/>
                <a:gd name="T52" fmla="*/ 308 w 447"/>
                <a:gd name="T53" fmla="*/ 375 h 420"/>
                <a:gd name="T54" fmla="*/ 308 w 447"/>
                <a:gd name="T55" fmla="*/ 375 h 420"/>
                <a:gd name="T56" fmla="*/ 421 w 447"/>
                <a:gd name="T57" fmla="*/ 420 h 420"/>
                <a:gd name="T58" fmla="*/ 428 w 447"/>
                <a:gd name="T59" fmla="*/ 419 h 420"/>
                <a:gd name="T60" fmla="*/ 434 w 447"/>
                <a:gd name="T61" fmla="*/ 413 h 420"/>
                <a:gd name="T62" fmla="*/ 435 w 447"/>
                <a:gd name="T63" fmla="*/ 406 h 420"/>
                <a:gd name="T64" fmla="*/ 390 w 447"/>
                <a:gd name="T65" fmla="*/ 318 h 420"/>
                <a:gd name="T66" fmla="*/ 399 w 447"/>
                <a:gd name="T67" fmla="*/ 307 h 420"/>
                <a:gd name="T68" fmla="*/ 405 w 447"/>
                <a:gd name="T69" fmla="*/ 302 h 420"/>
                <a:gd name="T70" fmla="*/ 411 w 447"/>
                <a:gd name="T71" fmla="*/ 294 h 420"/>
                <a:gd name="T72" fmla="*/ 416 w 447"/>
                <a:gd name="T73" fmla="*/ 288 h 420"/>
                <a:gd name="T74" fmla="*/ 421 w 447"/>
                <a:gd name="T75" fmla="*/ 281 h 420"/>
                <a:gd name="T76" fmla="*/ 426 w 447"/>
                <a:gd name="T77" fmla="*/ 274 h 420"/>
                <a:gd name="T78" fmla="*/ 429 w 447"/>
                <a:gd name="T79" fmla="*/ 267 h 420"/>
                <a:gd name="T80" fmla="*/ 434 w 447"/>
                <a:gd name="T81" fmla="*/ 258 h 420"/>
                <a:gd name="T82" fmla="*/ 436 w 447"/>
                <a:gd name="T83" fmla="*/ 252 h 420"/>
                <a:gd name="T84" fmla="*/ 440 w 447"/>
                <a:gd name="T85" fmla="*/ 243 h 420"/>
                <a:gd name="T86" fmla="*/ 441 w 447"/>
                <a:gd name="T87" fmla="*/ 236 h 420"/>
                <a:gd name="T88" fmla="*/ 443 w 447"/>
                <a:gd name="T89" fmla="*/ 227 h 420"/>
                <a:gd name="T90" fmla="*/ 445 w 447"/>
                <a:gd name="T91" fmla="*/ 218 h 420"/>
                <a:gd name="T92" fmla="*/ 446 w 447"/>
                <a:gd name="T93" fmla="*/ 211 h 420"/>
                <a:gd name="T94" fmla="*/ 447 w 447"/>
                <a:gd name="T95" fmla="*/ 194 h 420"/>
                <a:gd name="T96" fmla="*/ 442 w 447"/>
                <a:gd name="T97" fmla="*/ 155 h 420"/>
                <a:gd name="T98" fmla="*/ 429 w 447"/>
                <a:gd name="T99" fmla="*/ 119 h 420"/>
                <a:gd name="T100" fmla="*/ 408 w 447"/>
                <a:gd name="T101" fmla="*/ 87 h 420"/>
                <a:gd name="T102" fmla="*/ 380 w 447"/>
                <a:gd name="T103" fmla="*/ 57 h 420"/>
                <a:gd name="T104" fmla="*/ 347 w 447"/>
                <a:gd name="T105" fmla="*/ 33 h 420"/>
                <a:gd name="T106" fmla="*/ 310 w 447"/>
                <a:gd name="T107" fmla="*/ 16 h 420"/>
                <a:gd name="T108" fmla="*/ 269 w 447"/>
                <a:gd name="T109" fmla="*/ 5 h 420"/>
                <a:gd name="T110" fmla="*/ 223 w 447"/>
                <a:gd name="T111" fmla="*/ 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47" h="420">
                  <a:moveTo>
                    <a:pt x="223" y="0"/>
                  </a:moveTo>
                  <a:lnTo>
                    <a:pt x="201" y="1"/>
                  </a:lnTo>
                  <a:lnTo>
                    <a:pt x="179" y="4"/>
                  </a:lnTo>
                  <a:lnTo>
                    <a:pt x="158" y="10"/>
                  </a:lnTo>
                  <a:lnTo>
                    <a:pt x="138" y="16"/>
                  </a:lnTo>
                  <a:lnTo>
                    <a:pt x="119" y="24"/>
                  </a:lnTo>
                  <a:lnTo>
                    <a:pt x="100" y="33"/>
                  </a:lnTo>
                  <a:lnTo>
                    <a:pt x="83" y="45"/>
                  </a:lnTo>
                  <a:lnTo>
                    <a:pt x="66" y="57"/>
                  </a:lnTo>
                  <a:lnTo>
                    <a:pt x="52" y="72"/>
                  </a:lnTo>
                  <a:lnTo>
                    <a:pt x="39" y="87"/>
                  </a:lnTo>
                  <a:lnTo>
                    <a:pt x="27" y="102"/>
                  </a:lnTo>
                  <a:lnTo>
                    <a:pt x="18" y="119"/>
                  </a:lnTo>
                  <a:lnTo>
                    <a:pt x="10" y="137"/>
                  </a:lnTo>
                  <a:lnTo>
                    <a:pt x="4" y="155"/>
                  </a:lnTo>
                  <a:lnTo>
                    <a:pt x="1" y="174"/>
                  </a:lnTo>
                  <a:lnTo>
                    <a:pt x="0" y="194"/>
                  </a:lnTo>
                  <a:lnTo>
                    <a:pt x="1" y="204"/>
                  </a:lnTo>
                  <a:lnTo>
                    <a:pt x="1" y="213"/>
                  </a:lnTo>
                  <a:lnTo>
                    <a:pt x="3" y="223"/>
                  </a:lnTo>
                  <a:lnTo>
                    <a:pt x="4" y="232"/>
                  </a:lnTo>
                  <a:lnTo>
                    <a:pt x="9" y="249"/>
                  </a:lnTo>
                  <a:lnTo>
                    <a:pt x="15" y="265"/>
                  </a:lnTo>
                  <a:lnTo>
                    <a:pt x="24" y="280"/>
                  </a:lnTo>
                  <a:lnTo>
                    <a:pt x="32" y="295"/>
                  </a:lnTo>
                  <a:lnTo>
                    <a:pt x="43" y="308"/>
                  </a:lnTo>
                  <a:lnTo>
                    <a:pt x="54" y="321"/>
                  </a:lnTo>
                  <a:lnTo>
                    <a:pt x="66" y="333"/>
                  </a:lnTo>
                  <a:lnTo>
                    <a:pt x="81" y="345"/>
                  </a:lnTo>
                  <a:lnTo>
                    <a:pt x="95" y="355"/>
                  </a:lnTo>
                  <a:lnTo>
                    <a:pt x="110" y="364"/>
                  </a:lnTo>
                  <a:lnTo>
                    <a:pt x="127" y="371"/>
                  </a:lnTo>
                  <a:lnTo>
                    <a:pt x="144" y="378"/>
                  </a:lnTo>
                  <a:lnTo>
                    <a:pt x="162" y="383"/>
                  </a:lnTo>
                  <a:lnTo>
                    <a:pt x="179" y="388"/>
                  </a:lnTo>
                  <a:lnTo>
                    <a:pt x="198" y="390"/>
                  </a:lnTo>
                  <a:lnTo>
                    <a:pt x="217" y="390"/>
                  </a:lnTo>
                  <a:lnTo>
                    <a:pt x="217" y="390"/>
                  </a:lnTo>
                  <a:lnTo>
                    <a:pt x="217" y="390"/>
                  </a:lnTo>
                  <a:lnTo>
                    <a:pt x="228" y="390"/>
                  </a:lnTo>
                  <a:lnTo>
                    <a:pt x="239" y="389"/>
                  </a:lnTo>
                  <a:lnTo>
                    <a:pt x="242" y="389"/>
                  </a:lnTo>
                  <a:lnTo>
                    <a:pt x="246" y="388"/>
                  </a:lnTo>
                  <a:lnTo>
                    <a:pt x="253" y="388"/>
                  </a:lnTo>
                  <a:lnTo>
                    <a:pt x="260" y="387"/>
                  </a:lnTo>
                  <a:lnTo>
                    <a:pt x="264" y="386"/>
                  </a:lnTo>
                  <a:lnTo>
                    <a:pt x="269" y="384"/>
                  </a:lnTo>
                  <a:lnTo>
                    <a:pt x="275" y="383"/>
                  </a:lnTo>
                  <a:lnTo>
                    <a:pt x="280" y="381"/>
                  </a:lnTo>
                  <a:lnTo>
                    <a:pt x="285" y="380"/>
                  </a:lnTo>
                  <a:lnTo>
                    <a:pt x="290" y="378"/>
                  </a:lnTo>
                  <a:lnTo>
                    <a:pt x="297" y="376"/>
                  </a:lnTo>
                  <a:lnTo>
                    <a:pt x="303" y="374"/>
                  </a:lnTo>
                  <a:lnTo>
                    <a:pt x="308" y="375"/>
                  </a:lnTo>
                  <a:lnTo>
                    <a:pt x="308" y="375"/>
                  </a:lnTo>
                  <a:lnTo>
                    <a:pt x="308" y="375"/>
                  </a:lnTo>
                  <a:lnTo>
                    <a:pt x="418" y="419"/>
                  </a:lnTo>
                  <a:lnTo>
                    <a:pt x="421" y="420"/>
                  </a:lnTo>
                  <a:lnTo>
                    <a:pt x="423" y="420"/>
                  </a:lnTo>
                  <a:lnTo>
                    <a:pt x="428" y="419"/>
                  </a:lnTo>
                  <a:lnTo>
                    <a:pt x="432" y="416"/>
                  </a:lnTo>
                  <a:lnTo>
                    <a:pt x="434" y="413"/>
                  </a:lnTo>
                  <a:lnTo>
                    <a:pt x="435" y="409"/>
                  </a:lnTo>
                  <a:lnTo>
                    <a:pt x="435" y="406"/>
                  </a:lnTo>
                  <a:lnTo>
                    <a:pt x="434" y="402"/>
                  </a:lnTo>
                  <a:lnTo>
                    <a:pt x="390" y="318"/>
                  </a:lnTo>
                  <a:lnTo>
                    <a:pt x="395" y="313"/>
                  </a:lnTo>
                  <a:lnTo>
                    <a:pt x="399" y="307"/>
                  </a:lnTo>
                  <a:lnTo>
                    <a:pt x="403" y="305"/>
                  </a:lnTo>
                  <a:lnTo>
                    <a:pt x="405" y="302"/>
                  </a:lnTo>
                  <a:lnTo>
                    <a:pt x="408" y="299"/>
                  </a:lnTo>
                  <a:lnTo>
                    <a:pt x="411" y="294"/>
                  </a:lnTo>
                  <a:lnTo>
                    <a:pt x="414" y="292"/>
                  </a:lnTo>
                  <a:lnTo>
                    <a:pt x="416" y="288"/>
                  </a:lnTo>
                  <a:lnTo>
                    <a:pt x="418" y="284"/>
                  </a:lnTo>
                  <a:lnTo>
                    <a:pt x="421" y="281"/>
                  </a:lnTo>
                  <a:lnTo>
                    <a:pt x="423" y="277"/>
                  </a:lnTo>
                  <a:lnTo>
                    <a:pt x="426" y="274"/>
                  </a:lnTo>
                  <a:lnTo>
                    <a:pt x="428" y="270"/>
                  </a:lnTo>
                  <a:lnTo>
                    <a:pt x="429" y="267"/>
                  </a:lnTo>
                  <a:lnTo>
                    <a:pt x="432" y="263"/>
                  </a:lnTo>
                  <a:lnTo>
                    <a:pt x="434" y="258"/>
                  </a:lnTo>
                  <a:lnTo>
                    <a:pt x="435" y="256"/>
                  </a:lnTo>
                  <a:lnTo>
                    <a:pt x="436" y="252"/>
                  </a:lnTo>
                  <a:lnTo>
                    <a:pt x="437" y="248"/>
                  </a:lnTo>
                  <a:lnTo>
                    <a:pt x="440" y="243"/>
                  </a:lnTo>
                  <a:lnTo>
                    <a:pt x="440" y="239"/>
                  </a:lnTo>
                  <a:lnTo>
                    <a:pt x="441" y="236"/>
                  </a:lnTo>
                  <a:lnTo>
                    <a:pt x="442" y="232"/>
                  </a:lnTo>
                  <a:lnTo>
                    <a:pt x="443" y="227"/>
                  </a:lnTo>
                  <a:lnTo>
                    <a:pt x="445" y="223"/>
                  </a:lnTo>
                  <a:lnTo>
                    <a:pt x="445" y="218"/>
                  </a:lnTo>
                  <a:lnTo>
                    <a:pt x="446" y="214"/>
                  </a:lnTo>
                  <a:lnTo>
                    <a:pt x="446" y="211"/>
                  </a:lnTo>
                  <a:lnTo>
                    <a:pt x="447" y="202"/>
                  </a:lnTo>
                  <a:lnTo>
                    <a:pt x="447" y="194"/>
                  </a:lnTo>
                  <a:lnTo>
                    <a:pt x="446" y="174"/>
                  </a:lnTo>
                  <a:lnTo>
                    <a:pt x="442" y="155"/>
                  </a:lnTo>
                  <a:lnTo>
                    <a:pt x="436" y="137"/>
                  </a:lnTo>
                  <a:lnTo>
                    <a:pt x="429" y="119"/>
                  </a:lnTo>
                  <a:lnTo>
                    <a:pt x="420" y="102"/>
                  </a:lnTo>
                  <a:lnTo>
                    <a:pt x="408" y="87"/>
                  </a:lnTo>
                  <a:lnTo>
                    <a:pt x="396" y="72"/>
                  </a:lnTo>
                  <a:lnTo>
                    <a:pt x="380" y="57"/>
                  </a:lnTo>
                  <a:lnTo>
                    <a:pt x="365" y="45"/>
                  </a:lnTo>
                  <a:lnTo>
                    <a:pt x="347" y="33"/>
                  </a:lnTo>
                  <a:lnTo>
                    <a:pt x="329" y="24"/>
                  </a:lnTo>
                  <a:lnTo>
                    <a:pt x="310" y="16"/>
                  </a:lnTo>
                  <a:lnTo>
                    <a:pt x="289" y="10"/>
                  </a:lnTo>
                  <a:lnTo>
                    <a:pt x="269" y="5"/>
                  </a:lnTo>
                  <a:lnTo>
                    <a:pt x="246" y="1"/>
                  </a:lnTo>
                  <a:lnTo>
                    <a:pt x="223" y="0"/>
                  </a:lnTo>
                  <a:lnTo>
                    <a:pt x="2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 name="Group 51"/>
          <p:cNvGrpSpPr/>
          <p:nvPr/>
        </p:nvGrpSpPr>
        <p:grpSpPr>
          <a:xfrm>
            <a:off x="1331273" y="2288570"/>
            <a:ext cx="284639" cy="284639"/>
            <a:chOff x="11045825" y="835025"/>
            <a:chExt cx="258763" cy="258763"/>
          </a:xfrm>
          <a:solidFill>
            <a:schemeClr val="bg1"/>
          </a:solidFill>
        </p:grpSpPr>
        <p:sp>
          <p:nvSpPr>
            <p:cNvPr id="53" name="Freeform 2131"/>
            <p:cNvSpPr>
              <a:spLocks/>
            </p:cNvSpPr>
            <p:nvPr/>
          </p:nvSpPr>
          <p:spPr bwMode="auto">
            <a:xfrm>
              <a:off x="11156950" y="1065213"/>
              <a:ext cx="38100" cy="9525"/>
            </a:xfrm>
            <a:custGeom>
              <a:avLst/>
              <a:gdLst>
                <a:gd name="T0" fmla="*/ 105 w 120"/>
                <a:gd name="T1" fmla="*/ 0 h 29"/>
                <a:gd name="T2" fmla="*/ 14 w 120"/>
                <a:gd name="T3" fmla="*/ 0 h 29"/>
                <a:gd name="T4" fmla="*/ 8 w 120"/>
                <a:gd name="T5" fmla="*/ 1 h 29"/>
                <a:gd name="T6" fmla="*/ 3 w 120"/>
                <a:gd name="T7" fmla="*/ 4 h 29"/>
                <a:gd name="T8" fmla="*/ 1 w 120"/>
                <a:gd name="T9" fmla="*/ 9 h 29"/>
                <a:gd name="T10" fmla="*/ 0 w 120"/>
                <a:gd name="T11" fmla="*/ 15 h 29"/>
                <a:gd name="T12" fmla="*/ 1 w 120"/>
                <a:gd name="T13" fmla="*/ 21 h 29"/>
                <a:gd name="T14" fmla="*/ 3 w 120"/>
                <a:gd name="T15" fmla="*/ 26 h 29"/>
                <a:gd name="T16" fmla="*/ 8 w 120"/>
                <a:gd name="T17" fmla="*/ 28 h 29"/>
                <a:gd name="T18" fmla="*/ 14 w 120"/>
                <a:gd name="T19" fmla="*/ 29 h 29"/>
                <a:gd name="T20" fmla="*/ 105 w 120"/>
                <a:gd name="T21" fmla="*/ 29 h 29"/>
                <a:gd name="T22" fmla="*/ 111 w 120"/>
                <a:gd name="T23" fmla="*/ 28 h 29"/>
                <a:gd name="T24" fmla="*/ 116 w 120"/>
                <a:gd name="T25" fmla="*/ 26 h 29"/>
                <a:gd name="T26" fmla="*/ 118 w 120"/>
                <a:gd name="T27" fmla="*/ 21 h 29"/>
                <a:gd name="T28" fmla="*/ 120 w 120"/>
                <a:gd name="T29" fmla="*/ 15 h 29"/>
                <a:gd name="T30" fmla="*/ 118 w 120"/>
                <a:gd name="T31" fmla="*/ 9 h 29"/>
                <a:gd name="T32" fmla="*/ 116 w 120"/>
                <a:gd name="T33" fmla="*/ 4 h 29"/>
                <a:gd name="T34" fmla="*/ 111 w 120"/>
                <a:gd name="T35" fmla="*/ 1 h 29"/>
                <a:gd name="T36" fmla="*/ 105 w 120"/>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0" h="29">
                  <a:moveTo>
                    <a:pt x="105" y="0"/>
                  </a:moveTo>
                  <a:lnTo>
                    <a:pt x="14" y="0"/>
                  </a:lnTo>
                  <a:lnTo>
                    <a:pt x="8" y="1"/>
                  </a:lnTo>
                  <a:lnTo>
                    <a:pt x="3" y="4"/>
                  </a:lnTo>
                  <a:lnTo>
                    <a:pt x="1" y="9"/>
                  </a:lnTo>
                  <a:lnTo>
                    <a:pt x="0" y="15"/>
                  </a:lnTo>
                  <a:lnTo>
                    <a:pt x="1" y="21"/>
                  </a:lnTo>
                  <a:lnTo>
                    <a:pt x="3" y="26"/>
                  </a:lnTo>
                  <a:lnTo>
                    <a:pt x="8" y="28"/>
                  </a:lnTo>
                  <a:lnTo>
                    <a:pt x="14" y="29"/>
                  </a:lnTo>
                  <a:lnTo>
                    <a:pt x="105" y="29"/>
                  </a:lnTo>
                  <a:lnTo>
                    <a:pt x="111" y="28"/>
                  </a:lnTo>
                  <a:lnTo>
                    <a:pt x="116" y="26"/>
                  </a:lnTo>
                  <a:lnTo>
                    <a:pt x="118" y="21"/>
                  </a:lnTo>
                  <a:lnTo>
                    <a:pt x="120" y="15"/>
                  </a:lnTo>
                  <a:lnTo>
                    <a:pt x="118" y="9"/>
                  </a:lnTo>
                  <a:lnTo>
                    <a:pt x="116" y="4"/>
                  </a:lnTo>
                  <a:lnTo>
                    <a:pt x="111" y="1"/>
                  </a:lnTo>
                  <a:lnTo>
                    <a:pt x="10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32"/>
            <p:cNvSpPr>
              <a:spLocks/>
            </p:cNvSpPr>
            <p:nvPr/>
          </p:nvSpPr>
          <p:spPr bwMode="auto">
            <a:xfrm>
              <a:off x="11166475" y="1084263"/>
              <a:ext cx="19050" cy="9525"/>
            </a:xfrm>
            <a:custGeom>
              <a:avLst/>
              <a:gdLst>
                <a:gd name="T0" fmla="*/ 45 w 61"/>
                <a:gd name="T1" fmla="*/ 0 h 30"/>
                <a:gd name="T2" fmla="*/ 16 w 61"/>
                <a:gd name="T3" fmla="*/ 0 h 30"/>
                <a:gd name="T4" fmla="*/ 10 w 61"/>
                <a:gd name="T5" fmla="*/ 1 h 30"/>
                <a:gd name="T6" fmla="*/ 5 w 61"/>
                <a:gd name="T7" fmla="*/ 5 h 30"/>
                <a:gd name="T8" fmla="*/ 1 w 61"/>
                <a:gd name="T9" fmla="*/ 8 h 30"/>
                <a:gd name="T10" fmla="*/ 0 w 61"/>
                <a:gd name="T11" fmla="*/ 14 h 30"/>
                <a:gd name="T12" fmla="*/ 1 w 61"/>
                <a:gd name="T13" fmla="*/ 21 h 30"/>
                <a:gd name="T14" fmla="*/ 5 w 61"/>
                <a:gd name="T15" fmla="*/ 25 h 30"/>
                <a:gd name="T16" fmla="*/ 10 w 61"/>
                <a:gd name="T17" fmla="*/ 29 h 30"/>
                <a:gd name="T18" fmla="*/ 16 w 61"/>
                <a:gd name="T19" fmla="*/ 30 h 30"/>
                <a:gd name="T20" fmla="*/ 45 w 61"/>
                <a:gd name="T21" fmla="*/ 30 h 30"/>
                <a:gd name="T22" fmla="*/ 51 w 61"/>
                <a:gd name="T23" fmla="*/ 29 h 30"/>
                <a:gd name="T24" fmla="*/ 56 w 61"/>
                <a:gd name="T25" fmla="*/ 25 h 30"/>
                <a:gd name="T26" fmla="*/ 60 w 61"/>
                <a:gd name="T27" fmla="*/ 21 h 30"/>
                <a:gd name="T28" fmla="*/ 61 w 61"/>
                <a:gd name="T29" fmla="*/ 14 h 30"/>
                <a:gd name="T30" fmla="*/ 60 w 61"/>
                <a:gd name="T31" fmla="*/ 8 h 30"/>
                <a:gd name="T32" fmla="*/ 56 w 61"/>
                <a:gd name="T33" fmla="*/ 5 h 30"/>
                <a:gd name="T34" fmla="*/ 51 w 61"/>
                <a:gd name="T35" fmla="*/ 1 h 30"/>
                <a:gd name="T36" fmla="*/ 45 w 61"/>
                <a:gd name="T3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 h="30">
                  <a:moveTo>
                    <a:pt x="45" y="0"/>
                  </a:moveTo>
                  <a:lnTo>
                    <a:pt x="16" y="0"/>
                  </a:lnTo>
                  <a:lnTo>
                    <a:pt x="10" y="1"/>
                  </a:lnTo>
                  <a:lnTo>
                    <a:pt x="5" y="5"/>
                  </a:lnTo>
                  <a:lnTo>
                    <a:pt x="1" y="8"/>
                  </a:lnTo>
                  <a:lnTo>
                    <a:pt x="0" y="14"/>
                  </a:lnTo>
                  <a:lnTo>
                    <a:pt x="1" y="21"/>
                  </a:lnTo>
                  <a:lnTo>
                    <a:pt x="5" y="25"/>
                  </a:lnTo>
                  <a:lnTo>
                    <a:pt x="10" y="29"/>
                  </a:lnTo>
                  <a:lnTo>
                    <a:pt x="16" y="30"/>
                  </a:lnTo>
                  <a:lnTo>
                    <a:pt x="45" y="30"/>
                  </a:lnTo>
                  <a:lnTo>
                    <a:pt x="51" y="29"/>
                  </a:lnTo>
                  <a:lnTo>
                    <a:pt x="56" y="25"/>
                  </a:lnTo>
                  <a:lnTo>
                    <a:pt x="60" y="21"/>
                  </a:lnTo>
                  <a:lnTo>
                    <a:pt x="61" y="14"/>
                  </a:lnTo>
                  <a:lnTo>
                    <a:pt x="60" y="8"/>
                  </a:lnTo>
                  <a:lnTo>
                    <a:pt x="56" y="5"/>
                  </a:lnTo>
                  <a:lnTo>
                    <a:pt x="51" y="1"/>
                  </a:lnTo>
                  <a:lnTo>
                    <a:pt x="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133"/>
            <p:cNvSpPr>
              <a:spLocks/>
            </p:cNvSpPr>
            <p:nvPr/>
          </p:nvSpPr>
          <p:spPr bwMode="auto">
            <a:xfrm>
              <a:off x="11095038" y="877888"/>
              <a:ext cx="161925" cy="177800"/>
            </a:xfrm>
            <a:custGeom>
              <a:avLst/>
              <a:gdLst>
                <a:gd name="T0" fmla="*/ 242 w 511"/>
                <a:gd name="T1" fmla="*/ 1 h 556"/>
                <a:gd name="T2" fmla="*/ 217 w 511"/>
                <a:gd name="T3" fmla="*/ 3 h 556"/>
                <a:gd name="T4" fmla="*/ 192 w 511"/>
                <a:gd name="T5" fmla="*/ 8 h 556"/>
                <a:gd name="T6" fmla="*/ 168 w 511"/>
                <a:gd name="T7" fmla="*/ 15 h 556"/>
                <a:gd name="T8" fmla="*/ 134 w 511"/>
                <a:gd name="T9" fmla="*/ 31 h 556"/>
                <a:gd name="T10" fmla="*/ 93 w 511"/>
                <a:gd name="T11" fmla="*/ 58 h 556"/>
                <a:gd name="T12" fmla="*/ 59 w 511"/>
                <a:gd name="T13" fmla="*/ 94 h 556"/>
                <a:gd name="T14" fmla="*/ 31 w 511"/>
                <a:gd name="T15" fmla="*/ 134 h 556"/>
                <a:gd name="T16" fmla="*/ 15 w 511"/>
                <a:gd name="T17" fmla="*/ 168 h 556"/>
                <a:gd name="T18" fmla="*/ 8 w 511"/>
                <a:gd name="T19" fmla="*/ 191 h 556"/>
                <a:gd name="T20" fmla="*/ 3 w 511"/>
                <a:gd name="T21" fmla="*/ 217 h 556"/>
                <a:gd name="T22" fmla="*/ 0 w 511"/>
                <a:gd name="T23" fmla="*/ 243 h 556"/>
                <a:gd name="T24" fmla="*/ 0 w 511"/>
                <a:gd name="T25" fmla="*/ 277 h 556"/>
                <a:gd name="T26" fmla="*/ 8 w 511"/>
                <a:gd name="T27" fmla="*/ 317 h 556"/>
                <a:gd name="T28" fmla="*/ 20 w 511"/>
                <a:gd name="T29" fmla="*/ 355 h 556"/>
                <a:gd name="T30" fmla="*/ 39 w 511"/>
                <a:gd name="T31" fmla="*/ 392 h 556"/>
                <a:gd name="T32" fmla="*/ 63 w 511"/>
                <a:gd name="T33" fmla="*/ 423 h 556"/>
                <a:gd name="T34" fmla="*/ 91 w 511"/>
                <a:gd name="T35" fmla="*/ 451 h 556"/>
                <a:gd name="T36" fmla="*/ 124 w 511"/>
                <a:gd name="T37" fmla="*/ 475 h 556"/>
                <a:gd name="T38" fmla="*/ 160 w 511"/>
                <a:gd name="T39" fmla="*/ 493 h 556"/>
                <a:gd name="T40" fmla="*/ 180 w 511"/>
                <a:gd name="T41" fmla="*/ 542 h 556"/>
                <a:gd name="T42" fmla="*/ 185 w 511"/>
                <a:gd name="T43" fmla="*/ 552 h 556"/>
                <a:gd name="T44" fmla="*/ 196 w 511"/>
                <a:gd name="T45" fmla="*/ 556 h 556"/>
                <a:gd name="T46" fmla="*/ 322 w 511"/>
                <a:gd name="T47" fmla="*/ 555 h 556"/>
                <a:gd name="T48" fmla="*/ 330 w 511"/>
                <a:gd name="T49" fmla="*/ 547 h 556"/>
                <a:gd name="T50" fmla="*/ 331 w 511"/>
                <a:gd name="T51" fmla="*/ 500 h 556"/>
                <a:gd name="T52" fmla="*/ 369 w 511"/>
                <a:gd name="T53" fmla="*/ 484 h 556"/>
                <a:gd name="T54" fmla="*/ 405 w 511"/>
                <a:gd name="T55" fmla="*/ 464 h 556"/>
                <a:gd name="T56" fmla="*/ 435 w 511"/>
                <a:gd name="T57" fmla="*/ 438 h 556"/>
                <a:gd name="T58" fmla="*/ 461 w 511"/>
                <a:gd name="T59" fmla="*/ 407 h 556"/>
                <a:gd name="T60" fmla="*/ 483 w 511"/>
                <a:gd name="T61" fmla="*/ 373 h 556"/>
                <a:gd name="T62" fmla="*/ 499 w 511"/>
                <a:gd name="T63" fmla="*/ 337 h 556"/>
                <a:gd name="T64" fmla="*/ 508 w 511"/>
                <a:gd name="T65" fmla="*/ 298 h 556"/>
                <a:gd name="T66" fmla="*/ 511 w 511"/>
                <a:gd name="T67" fmla="*/ 256 h 556"/>
                <a:gd name="T68" fmla="*/ 510 w 511"/>
                <a:gd name="T69" fmla="*/ 229 h 556"/>
                <a:gd name="T70" fmla="*/ 506 w 511"/>
                <a:gd name="T71" fmla="*/ 205 h 556"/>
                <a:gd name="T72" fmla="*/ 500 w 511"/>
                <a:gd name="T73" fmla="*/ 179 h 556"/>
                <a:gd name="T74" fmla="*/ 491 w 511"/>
                <a:gd name="T75" fmla="*/ 156 h 556"/>
                <a:gd name="T76" fmla="*/ 468 w 511"/>
                <a:gd name="T77" fmla="*/ 113 h 556"/>
                <a:gd name="T78" fmla="*/ 436 w 511"/>
                <a:gd name="T79" fmla="*/ 75 h 556"/>
                <a:gd name="T80" fmla="*/ 399 w 511"/>
                <a:gd name="T81" fmla="*/ 44 h 556"/>
                <a:gd name="T82" fmla="*/ 355 w 511"/>
                <a:gd name="T83" fmla="*/ 20 h 556"/>
                <a:gd name="T84" fmla="*/ 331 w 511"/>
                <a:gd name="T85" fmla="*/ 12 h 556"/>
                <a:gd name="T86" fmla="*/ 307 w 511"/>
                <a:gd name="T87" fmla="*/ 6 h 556"/>
                <a:gd name="T88" fmla="*/ 281 w 511"/>
                <a:gd name="T89" fmla="*/ 1 h 556"/>
                <a:gd name="T90" fmla="*/ 256 w 511"/>
                <a:gd name="T91"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1" h="556">
                  <a:moveTo>
                    <a:pt x="256" y="0"/>
                  </a:moveTo>
                  <a:lnTo>
                    <a:pt x="242" y="1"/>
                  </a:lnTo>
                  <a:lnTo>
                    <a:pt x="230" y="1"/>
                  </a:lnTo>
                  <a:lnTo>
                    <a:pt x="217" y="3"/>
                  </a:lnTo>
                  <a:lnTo>
                    <a:pt x="204" y="6"/>
                  </a:lnTo>
                  <a:lnTo>
                    <a:pt x="192" y="8"/>
                  </a:lnTo>
                  <a:lnTo>
                    <a:pt x="180" y="12"/>
                  </a:lnTo>
                  <a:lnTo>
                    <a:pt x="168" y="15"/>
                  </a:lnTo>
                  <a:lnTo>
                    <a:pt x="157" y="20"/>
                  </a:lnTo>
                  <a:lnTo>
                    <a:pt x="134" y="31"/>
                  </a:lnTo>
                  <a:lnTo>
                    <a:pt x="113" y="44"/>
                  </a:lnTo>
                  <a:lnTo>
                    <a:pt x="93" y="58"/>
                  </a:lnTo>
                  <a:lnTo>
                    <a:pt x="75" y="75"/>
                  </a:lnTo>
                  <a:lnTo>
                    <a:pt x="59" y="94"/>
                  </a:lnTo>
                  <a:lnTo>
                    <a:pt x="43" y="113"/>
                  </a:lnTo>
                  <a:lnTo>
                    <a:pt x="31" y="134"/>
                  </a:lnTo>
                  <a:lnTo>
                    <a:pt x="20" y="156"/>
                  </a:lnTo>
                  <a:lnTo>
                    <a:pt x="15" y="168"/>
                  </a:lnTo>
                  <a:lnTo>
                    <a:pt x="11" y="179"/>
                  </a:lnTo>
                  <a:lnTo>
                    <a:pt x="8" y="191"/>
                  </a:lnTo>
                  <a:lnTo>
                    <a:pt x="5" y="205"/>
                  </a:lnTo>
                  <a:lnTo>
                    <a:pt x="3" y="217"/>
                  </a:lnTo>
                  <a:lnTo>
                    <a:pt x="2" y="229"/>
                  </a:lnTo>
                  <a:lnTo>
                    <a:pt x="0" y="243"/>
                  </a:lnTo>
                  <a:lnTo>
                    <a:pt x="0" y="256"/>
                  </a:lnTo>
                  <a:lnTo>
                    <a:pt x="0" y="277"/>
                  </a:lnTo>
                  <a:lnTo>
                    <a:pt x="3" y="298"/>
                  </a:lnTo>
                  <a:lnTo>
                    <a:pt x="8" y="317"/>
                  </a:lnTo>
                  <a:lnTo>
                    <a:pt x="13" y="337"/>
                  </a:lnTo>
                  <a:lnTo>
                    <a:pt x="20" y="355"/>
                  </a:lnTo>
                  <a:lnTo>
                    <a:pt x="28" y="373"/>
                  </a:lnTo>
                  <a:lnTo>
                    <a:pt x="39" y="392"/>
                  </a:lnTo>
                  <a:lnTo>
                    <a:pt x="50" y="407"/>
                  </a:lnTo>
                  <a:lnTo>
                    <a:pt x="63" y="423"/>
                  </a:lnTo>
                  <a:lnTo>
                    <a:pt x="76" y="438"/>
                  </a:lnTo>
                  <a:lnTo>
                    <a:pt x="91" y="451"/>
                  </a:lnTo>
                  <a:lnTo>
                    <a:pt x="107" y="464"/>
                  </a:lnTo>
                  <a:lnTo>
                    <a:pt x="124" y="475"/>
                  </a:lnTo>
                  <a:lnTo>
                    <a:pt x="142" y="484"/>
                  </a:lnTo>
                  <a:lnTo>
                    <a:pt x="160" y="493"/>
                  </a:lnTo>
                  <a:lnTo>
                    <a:pt x="180" y="500"/>
                  </a:lnTo>
                  <a:lnTo>
                    <a:pt x="180" y="542"/>
                  </a:lnTo>
                  <a:lnTo>
                    <a:pt x="181" y="547"/>
                  </a:lnTo>
                  <a:lnTo>
                    <a:pt x="185" y="552"/>
                  </a:lnTo>
                  <a:lnTo>
                    <a:pt x="190" y="555"/>
                  </a:lnTo>
                  <a:lnTo>
                    <a:pt x="196" y="556"/>
                  </a:lnTo>
                  <a:lnTo>
                    <a:pt x="316" y="556"/>
                  </a:lnTo>
                  <a:lnTo>
                    <a:pt x="322" y="555"/>
                  </a:lnTo>
                  <a:lnTo>
                    <a:pt x="327" y="552"/>
                  </a:lnTo>
                  <a:lnTo>
                    <a:pt x="330" y="547"/>
                  </a:lnTo>
                  <a:lnTo>
                    <a:pt x="331" y="542"/>
                  </a:lnTo>
                  <a:lnTo>
                    <a:pt x="331" y="500"/>
                  </a:lnTo>
                  <a:lnTo>
                    <a:pt x="351" y="493"/>
                  </a:lnTo>
                  <a:lnTo>
                    <a:pt x="369" y="484"/>
                  </a:lnTo>
                  <a:lnTo>
                    <a:pt x="388" y="475"/>
                  </a:lnTo>
                  <a:lnTo>
                    <a:pt x="405" y="464"/>
                  </a:lnTo>
                  <a:lnTo>
                    <a:pt x="421" y="451"/>
                  </a:lnTo>
                  <a:lnTo>
                    <a:pt x="435" y="438"/>
                  </a:lnTo>
                  <a:lnTo>
                    <a:pt x="449" y="423"/>
                  </a:lnTo>
                  <a:lnTo>
                    <a:pt x="461" y="407"/>
                  </a:lnTo>
                  <a:lnTo>
                    <a:pt x="473" y="392"/>
                  </a:lnTo>
                  <a:lnTo>
                    <a:pt x="483" y="373"/>
                  </a:lnTo>
                  <a:lnTo>
                    <a:pt x="491" y="355"/>
                  </a:lnTo>
                  <a:lnTo>
                    <a:pt x="499" y="337"/>
                  </a:lnTo>
                  <a:lnTo>
                    <a:pt x="504" y="317"/>
                  </a:lnTo>
                  <a:lnTo>
                    <a:pt x="508" y="298"/>
                  </a:lnTo>
                  <a:lnTo>
                    <a:pt x="511" y="277"/>
                  </a:lnTo>
                  <a:lnTo>
                    <a:pt x="511" y="256"/>
                  </a:lnTo>
                  <a:lnTo>
                    <a:pt x="511" y="243"/>
                  </a:lnTo>
                  <a:lnTo>
                    <a:pt x="510" y="229"/>
                  </a:lnTo>
                  <a:lnTo>
                    <a:pt x="508" y="217"/>
                  </a:lnTo>
                  <a:lnTo>
                    <a:pt x="506" y="205"/>
                  </a:lnTo>
                  <a:lnTo>
                    <a:pt x="504" y="191"/>
                  </a:lnTo>
                  <a:lnTo>
                    <a:pt x="500" y="179"/>
                  </a:lnTo>
                  <a:lnTo>
                    <a:pt x="496" y="168"/>
                  </a:lnTo>
                  <a:lnTo>
                    <a:pt x="491" y="156"/>
                  </a:lnTo>
                  <a:lnTo>
                    <a:pt x="480" y="134"/>
                  </a:lnTo>
                  <a:lnTo>
                    <a:pt x="468" y="113"/>
                  </a:lnTo>
                  <a:lnTo>
                    <a:pt x="452" y="94"/>
                  </a:lnTo>
                  <a:lnTo>
                    <a:pt x="436" y="75"/>
                  </a:lnTo>
                  <a:lnTo>
                    <a:pt x="418" y="58"/>
                  </a:lnTo>
                  <a:lnTo>
                    <a:pt x="399" y="44"/>
                  </a:lnTo>
                  <a:lnTo>
                    <a:pt x="378" y="31"/>
                  </a:lnTo>
                  <a:lnTo>
                    <a:pt x="355" y="20"/>
                  </a:lnTo>
                  <a:lnTo>
                    <a:pt x="344" y="15"/>
                  </a:lnTo>
                  <a:lnTo>
                    <a:pt x="331" y="12"/>
                  </a:lnTo>
                  <a:lnTo>
                    <a:pt x="319" y="8"/>
                  </a:lnTo>
                  <a:lnTo>
                    <a:pt x="307" y="6"/>
                  </a:lnTo>
                  <a:lnTo>
                    <a:pt x="295" y="3"/>
                  </a:lnTo>
                  <a:lnTo>
                    <a:pt x="281" y="1"/>
                  </a:lnTo>
                  <a:lnTo>
                    <a:pt x="269" y="1"/>
                  </a:lnTo>
                  <a:lnTo>
                    <a:pt x="25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134"/>
            <p:cNvSpPr>
              <a:spLocks/>
            </p:cNvSpPr>
            <p:nvPr/>
          </p:nvSpPr>
          <p:spPr bwMode="auto">
            <a:xfrm>
              <a:off x="11045825" y="949325"/>
              <a:ext cx="28575" cy="11113"/>
            </a:xfrm>
            <a:custGeom>
              <a:avLst/>
              <a:gdLst>
                <a:gd name="T0" fmla="*/ 76 w 90"/>
                <a:gd name="T1" fmla="*/ 0 h 31"/>
                <a:gd name="T2" fmla="*/ 16 w 90"/>
                <a:gd name="T3" fmla="*/ 0 h 31"/>
                <a:gd name="T4" fmla="*/ 10 w 90"/>
                <a:gd name="T5" fmla="*/ 2 h 31"/>
                <a:gd name="T6" fmla="*/ 5 w 90"/>
                <a:gd name="T7" fmla="*/ 5 h 31"/>
                <a:gd name="T8" fmla="*/ 1 w 90"/>
                <a:gd name="T9" fmla="*/ 10 h 31"/>
                <a:gd name="T10" fmla="*/ 0 w 90"/>
                <a:gd name="T11" fmla="*/ 15 h 31"/>
                <a:gd name="T12" fmla="*/ 1 w 90"/>
                <a:gd name="T13" fmla="*/ 21 h 31"/>
                <a:gd name="T14" fmla="*/ 5 w 90"/>
                <a:gd name="T15" fmla="*/ 26 h 31"/>
                <a:gd name="T16" fmla="*/ 10 w 90"/>
                <a:gd name="T17" fmla="*/ 30 h 31"/>
                <a:gd name="T18" fmla="*/ 16 w 90"/>
                <a:gd name="T19" fmla="*/ 31 h 31"/>
                <a:gd name="T20" fmla="*/ 76 w 90"/>
                <a:gd name="T21" fmla="*/ 31 h 31"/>
                <a:gd name="T22" fmla="*/ 82 w 90"/>
                <a:gd name="T23" fmla="*/ 30 h 31"/>
                <a:gd name="T24" fmla="*/ 87 w 90"/>
                <a:gd name="T25" fmla="*/ 26 h 31"/>
                <a:gd name="T26" fmla="*/ 89 w 90"/>
                <a:gd name="T27" fmla="*/ 21 h 31"/>
                <a:gd name="T28" fmla="*/ 90 w 90"/>
                <a:gd name="T29" fmla="*/ 15 h 31"/>
                <a:gd name="T30" fmla="*/ 89 w 90"/>
                <a:gd name="T31" fmla="*/ 10 h 31"/>
                <a:gd name="T32" fmla="*/ 87 w 90"/>
                <a:gd name="T33" fmla="*/ 5 h 31"/>
                <a:gd name="T34" fmla="*/ 82 w 90"/>
                <a:gd name="T35" fmla="*/ 2 h 31"/>
                <a:gd name="T36" fmla="*/ 76 w 90"/>
                <a:gd name="T3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0" h="31">
                  <a:moveTo>
                    <a:pt x="76" y="0"/>
                  </a:moveTo>
                  <a:lnTo>
                    <a:pt x="16" y="0"/>
                  </a:lnTo>
                  <a:lnTo>
                    <a:pt x="10" y="2"/>
                  </a:lnTo>
                  <a:lnTo>
                    <a:pt x="5" y="5"/>
                  </a:lnTo>
                  <a:lnTo>
                    <a:pt x="1" y="10"/>
                  </a:lnTo>
                  <a:lnTo>
                    <a:pt x="0" y="15"/>
                  </a:lnTo>
                  <a:lnTo>
                    <a:pt x="1" y="21"/>
                  </a:lnTo>
                  <a:lnTo>
                    <a:pt x="5" y="26"/>
                  </a:lnTo>
                  <a:lnTo>
                    <a:pt x="10" y="30"/>
                  </a:lnTo>
                  <a:lnTo>
                    <a:pt x="16" y="31"/>
                  </a:lnTo>
                  <a:lnTo>
                    <a:pt x="76" y="31"/>
                  </a:lnTo>
                  <a:lnTo>
                    <a:pt x="82" y="30"/>
                  </a:lnTo>
                  <a:lnTo>
                    <a:pt x="87" y="26"/>
                  </a:lnTo>
                  <a:lnTo>
                    <a:pt x="89" y="21"/>
                  </a:lnTo>
                  <a:lnTo>
                    <a:pt x="90" y="15"/>
                  </a:lnTo>
                  <a:lnTo>
                    <a:pt x="89" y="10"/>
                  </a:lnTo>
                  <a:lnTo>
                    <a:pt x="87" y="5"/>
                  </a:lnTo>
                  <a:lnTo>
                    <a:pt x="82" y="2"/>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135"/>
            <p:cNvSpPr>
              <a:spLocks/>
            </p:cNvSpPr>
            <p:nvPr/>
          </p:nvSpPr>
          <p:spPr bwMode="auto">
            <a:xfrm>
              <a:off x="11074400" y="863600"/>
              <a:ext cx="34925" cy="34925"/>
            </a:xfrm>
            <a:custGeom>
              <a:avLst/>
              <a:gdLst>
                <a:gd name="T0" fmla="*/ 91 w 107"/>
                <a:gd name="T1" fmla="*/ 107 h 107"/>
                <a:gd name="T2" fmla="*/ 97 w 107"/>
                <a:gd name="T3" fmla="*/ 105 h 107"/>
                <a:gd name="T4" fmla="*/ 102 w 107"/>
                <a:gd name="T5" fmla="*/ 102 h 107"/>
                <a:gd name="T6" fmla="*/ 105 w 107"/>
                <a:gd name="T7" fmla="*/ 97 h 107"/>
                <a:gd name="T8" fmla="*/ 107 w 107"/>
                <a:gd name="T9" fmla="*/ 91 h 107"/>
                <a:gd name="T10" fmla="*/ 105 w 107"/>
                <a:gd name="T11" fmla="*/ 86 h 107"/>
                <a:gd name="T12" fmla="*/ 102 w 107"/>
                <a:gd name="T13" fmla="*/ 81 h 107"/>
                <a:gd name="T14" fmla="*/ 26 w 107"/>
                <a:gd name="T15" fmla="*/ 5 h 107"/>
                <a:gd name="T16" fmla="*/ 21 w 107"/>
                <a:gd name="T17" fmla="*/ 2 h 107"/>
                <a:gd name="T18" fmla="*/ 16 w 107"/>
                <a:gd name="T19" fmla="*/ 0 h 107"/>
                <a:gd name="T20" fmla="*/ 10 w 107"/>
                <a:gd name="T21" fmla="*/ 2 h 107"/>
                <a:gd name="T22" fmla="*/ 5 w 107"/>
                <a:gd name="T23" fmla="*/ 5 h 107"/>
                <a:gd name="T24" fmla="*/ 2 w 107"/>
                <a:gd name="T25" fmla="*/ 10 h 107"/>
                <a:gd name="T26" fmla="*/ 0 w 107"/>
                <a:gd name="T27" fmla="*/ 16 h 107"/>
                <a:gd name="T28" fmla="*/ 2 w 107"/>
                <a:gd name="T29" fmla="*/ 21 h 107"/>
                <a:gd name="T30" fmla="*/ 5 w 107"/>
                <a:gd name="T31" fmla="*/ 26 h 107"/>
                <a:gd name="T32" fmla="*/ 81 w 107"/>
                <a:gd name="T33" fmla="*/ 102 h 107"/>
                <a:gd name="T34" fmla="*/ 86 w 107"/>
                <a:gd name="T35" fmla="*/ 105 h 107"/>
                <a:gd name="T36" fmla="*/ 91 w 107"/>
                <a:gd name="T37"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7" h="107">
                  <a:moveTo>
                    <a:pt x="91" y="107"/>
                  </a:moveTo>
                  <a:lnTo>
                    <a:pt x="97" y="105"/>
                  </a:lnTo>
                  <a:lnTo>
                    <a:pt x="102" y="102"/>
                  </a:lnTo>
                  <a:lnTo>
                    <a:pt x="105" y="97"/>
                  </a:lnTo>
                  <a:lnTo>
                    <a:pt x="107" y="91"/>
                  </a:lnTo>
                  <a:lnTo>
                    <a:pt x="105" y="86"/>
                  </a:lnTo>
                  <a:lnTo>
                    <a:pt x="102" y="81"/>
                  </a:lnTo>
                  <a:lnTo>
                    <a:pt x="26" y="5"/>
                  </a:lnTo>
                  <a:lnTo>
                    <a:pt x="21" y="2"/>
                  </a:lnTo>
                  <a:lnTo>
                    <a:pt x="16" y="0"/>
                  </a:lnTo>
                  <a:lnTo>
                    <a:pt x="10" y="2"/>
                  </a:lnTo>
                  <a:lnTo>
                    <a:pt x="5" y="5"/>
                  </a:lnTo>
                  <a:lnTo>
                    <a:pt x="2" y="10"/>
                  </a:lnTo>
                  <a:lnTo>
                    <a:pt x="0" y="16"/>
                  </a:lnTo>
                  <a:lnTo>
                    <a:pt x="2" y="21"/>
                  </a:lnTo>
                  <a:lnTo>
                    <a:pt x="5" y="26"/>
                  </a:lnTo>
                  <a:lnTo>
                    <a:pt x="81" y="102"/>
                  </a:lnTo>
                  <a:lnTo>
                    <a:pt x="86" y="105"/>
                  </a:lnTo>
                  <a:lnTo>
                    <a:pt x="91"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36"/>
            <p:cNvSpPr>
              <a:spLocks/>
            </p:cNvSpPr>
            <p:nvPr/>
          </p:nvSpPr>
          <p:spPr bwMode="auto">
            <a:xfrm>
              <a:off x="11171238" y="835025"/>
              <a:ext cx="9525" cy="28575"/>
            </a:xfrm>
            <a:custGeom>
              <a:avLst/>
              <a:gdLst>
                <a:gd name="T0" fmla="*/ 15 w 29"/>
                <a:gd name="T1" fmla="*/ 90 h 90"/>
                <a:gd name="T2" fmla="*/ 21 w 29"/>
                <a:gd name="T3" fmla="*/ 89 h 90"/>
                <a:gd name="T4" fmla="*/ 26 w 29"/>
                <a:gd name="T5" fmla="*/ 87 h 90"/>
                <a:gd name="T6" fmla="*/ 28 w 29"/>
                <a:gd name="T7" fmla="*/ 82 h 90"/>
                <a:gd name="T8" fmla="*/ 29 w 29"/>
                <a:gd name="T9" fmla="*/ 76 h 90"/>
                <a:gd name="T10" fmla="*/ 29 w 29"/>
                <a:gd name="T11" fmla="*/ 16 h 90"/>
                <a:gd name="T12" fmla="*/ 28 w 29"/>
                <a:gd name="T13" fmla="*/ 10 h 90"/>
                <a:gd name="T14" fmla="*/ 26 w 29"/>
                <a:gd name="T15" fmla="*/ 5 h 90"/>
                <a:gd name="T16" fmla="*/ 21 w 29"/>
                <a:gd name="T17" fmla="*/ 1 h 90"/>
                <a:gd name="T18" fmla="*/ 15 w 29"/>
                <a:gd name="T19" fmla="*/ 0 h 90"/>
                <a:gd name="T20" fmla="*/ 9 w 29"/>
                <a:gd name="T21" fmla="*/ 1 h 90"/>
                <a:gd name="T22" fmla="*/ 4 w 29"/>
                <a:gd name="T23" fmla="*/ 5 h 90"/>
                <a:gd name="T24" fmla="*/ 1 w 29"/>
                <a:gd name="T25" fmla="*/ 10 h 90"/>
                <a:gd name="T26" fmla="*/ 0 w 29"/>
                <a:gd name="T27" fmla="*/ 16 h 90"/>
                <a:gd name="T28" fmla="*/ 0 w 29"/>
                <a:gd name="T29" fmla="*/ 76 h 90"/>
                <a:gd name="T30" fmla="*/ 1 w 29"/>
                <a:gd name="T31" fmla="*/ 82 h 90"/>
                <a:gd name="T32" fmla="*/ 4 w 29"/>
                <a:gd name="T33" fmla="*/ 87 h 90"/>
                <a:gd name="T34" fmla="*/ 9 w 29"/>
                <a:gd name="T35" fmla="*/ 89 h 90"/>
                <a:gd name="T36" fmla="*/ 15 w 29"/>
                <a:gd name="T3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90">
                  <a:moveTo>
                    <a:pt x="15" y="90"/>
                  </a:moveTo>
                  <a:lnTo>
                    <a:pt x="21" y="89"/>
                  </a:lnTo>
                  <a:lnTo>
                    <a:pt x="26" y="87"/>
                  </a:lnTo>
                  <a:lnTo>
                    <a:pt x="28" y="82"/>
                  </a:lnTo>
                  <a:lnTo>
                    <a:pt x="29" y="76"/>
                  </a:lnTo>
                  <a:lnTo>
                    <a:pt x="29" y="16"/>
                  </a:lnTo>
                  <a:lnTo>
                    <a:pt x="28" y="10"/>
                  </a:lnTo>
                  <a:lnTo>
                    <a:pt x="26" y="5"/>
                  </a:lnTo>
                  <a:lnTo>
                    <a:pt x="21" y="1"/>
                  </a:lnTo>
                  <a:lnTo>
                    <a:pt x="15" y="0"/>
                  </a:lnTo>
                  <a:lnTo>
                    <a:pt x="9" y="1"/>
                  </a:lnTo>
                  <a:lnTo>
                    <a:pt x="4" y="5"/>
                  </a:lnTo>
                  <a:lnTo>
                    <a:pt x="1" y="10"/>
                  </a:lnTo>
                  <a:lnTo>
                    <a:pt x="0" y="16"/>
                  </a:lnTo>
                  <a:lnTo>
                    <a:pt x="0" y="76"/>
                  </a:lnTo>
                  <a:lnTo>
                    <a:pt x="1" y="82"/>
                  </a:lnTo>
                  <a:lnTo>
                    <a:pt x="4" y="87"/>
                  </a:lnTo>
                  <a:lnTo>
                    <a:pt x="9" y="89"/>
                  </a:lnTo>
                  <a:lnTo>
                    <a:pt x="15"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37"/>
            <p:cNvSpPr>
              <a:spLocks/>
            </p:cNvSpPr>
            <p:nvPr/>
          </p:nvSpPr>
          <p:spPr bwMode="auto">
            <a:xfrm>
              <a:off x="11242675" y="863600"/>
              <a:ext cx="33338" cy="34925"/>
            </a:xfrm>
            <a:custGeom>
              <a:avLst/>
              <a:gdLst>
                <a:gd name="T0" fmla="*/ 101 w 106"/>
                <a:gd name="T1" fmla="*/ 5 h 107"/>
                <a:gd name="T2" fmla="*/ 96 w 106"/>
                <a:gd name="T3" fmla="*/ 2 h 107"/>
                <a:gd name="T4" fmla="*/ 90 w 106"/>
                <a:gd name="T5" fmla="*/ 0 h 107"/>
                <a:gd name="T6" fmla="*/ 85 w 106"/>
                <a:gd name="T7" fmla="*/ 2 h 107"/>
                <a:gd name="T8" fmla="*/ 80 w 106"/>
                <a:gd name="T9" fmla="*/ 5 h 107"/>
                <a:gd name="T10" fmla="*/ 5 w 106"/>
                <a:gd name="T11" fmla="*/ 80 h 107"/>
                <a:gd name="T12" fmla="*/ 1 w 106"/>
                <a:gd name="T13" fmla="*/ 86 h 107"/>
                <a:gd name="T14" fmla="*/ 0 w 106"/>
                <a:gd name="T15" fmla="*/ 91 h 107"/>
                <a:gd name="T16" fmla="*/ 1 w 106"/>
                <a:gd name="T17" fmla="*/ 97 h 107"/>
                <a:gd name="T18" fmla="*/ 5 w 106"/>
                <a:gd name="T19" fmla="*/ 102 h 107"/>
                <a:gd name="T20" fmla="*/ 10 w 106"/>
                <a:gd name="T21" fmla="*/ 105 h 107"/>
                <a:gd name="T22" fmla="*/ 16 w 106"/>
                <a:gd name="T23" fmla="*/ 107 h 107"/>
                <a:gd name="T24" fmla="*/ 21 w 106"/>
                <a:gd name="T25" fmla="*/ 105 h 107"/>
                <a:gd name="T26" fmla="*/ 25 w 106"/>
                <a:gd name="T27" fmla="*/ 102 h 107"/>
                <a:gd name="T28" fmla="*/ 101 w 106"/>
                <a:gd name="T29" fmla="*/ 26 h 107"/>
                <a:gd name="T30" fmla="*/ 105 w 106"/>
                <a:gd name="T31" fmla="*/ 21 h 107"/>
                <a:gd name="T32" fmla="*/ 106 w 106"/>
                <a:gd name="T33" fmla="*/ 16 h 107"/>
                <a:gd name="T34" fmla="*/ 105 w 106"/>
                <a:gd name="T35" fmla="*/ 10 h 107"/>
                <a:gd name="T36" fmla="*/ 101 w 106"/>
                <a:gd name="T37"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6" h="107">
                  <a:moveTo>
                    <a:pt x="101" y="5"/>
                  </a:moveTo>
                  <a:lnTo>
                    <a:pt x="96" y="2"/>
                  </a:lnTo>
                  <a:lnTo>
                    <a:pt x="90" y="0"/>
                  </a:lnTo>
                  <a:lnTo>
                    <a:pt x="85" y="2"/>
                  </a:lnTo>
                  <a:lnTo>
                    <a:pt x="80" y="5"/>
                  </a:lnTo>
                  <a:lnTo>
                    <a:pt x="5" y="80"/>
                  </a:lnTo>
                  <a:lnTo>
                    <a:pt x="1" y="86"/>
                  </a:lnTo>
                  <a:lnTo>
                    <a:pt x="0" y="91"/>
                  </a:lnTo>
                  <a:lnTo>
                    <a:pt x="1" y="97"/>
                  </a:lnTo>
                  <a:lnTo>
                    <a:pt x="5" y="102"/>
                  </a:lnTo>
                  <a:lnTo>
                    <a:pt x="10" y="105"/>
                  </a:lnTo>
                  <a:lnTo>
                    <a:pt x="16" y="107"/>
                  </a:lnTo>
                  <a:lnTo>
                    <a:pt x="21" y="105"/>
                  </a:lnTo>
                  <a:lnTo>
                    <a:pt x="25" y="102"/>
                  </a:lnTo>
                  <a:lnTo>
                    <a:pt x="101" y="26"/>
                  </a:lnTo>
                  <a:lnTo>
                    <a:pt x="105" y="21"/>
                  </a:lnTo>
                  <a:lnTo>
                    <a:pt x="106" y="16"/>
                  </a:lnTo>
                  <a:lnTo>
                    <a:pt x="105" y="10"/>
                  </a:lnTo>
                  <a:lnTo>
                    <a:pt x="101"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38"/>
            <p:cNvSpPr>
              <a:spLocks/>
            </p:cNvSpPr>
            <p:nvPr/>
          </p:nvSpPr>
          <p:spPr bwMode="auto">
            <a:xfrm>
              <a:off x="11276013" y="949325"/>
              <a:ext cx="28575" cy="11113"/>
            </a:xfrm>
            <a:custGeom>
              <a:avLst/>
              <a:gdLst>
                <a:gd name="T0" fmla="*/ 75 w 90"/>
                <a:gd name="T1" fmla="*/ 0 h 31"/>
                <a:gd name="T2" fmla="*/ 15 w 90"/>
                <a:gd name="T3" fmla="*/ 0 h 31"/>
                <a:gd name="T4" fmla="*/ 9 w 90"/>
                <a:gd name="T5" fmla="*/ 2 h 31"/>
                <a:gd name="T6" fmla="*/ 4 w 90"/>
                <a:gd name="T7" fmla="*/ 5 h 31"/>
                <a:gd name="T8" fmla="*/ 1 w 90"/>
                <a:gd name="T9" fmla="*/ 10 h 31"/>
                <a:gd name="T10" fmla="*/ 0 w 90"/>
                <a:gd name="T11" fmla="*/ 15 h 31"/>
                <a:gd name="T12" fmla="*/ 1 w 90"/>
                <a:gd name="T13" fmla="*/ 21 h 31"/>
                <a:gd name="T14" fmla="*/ 4 w 90"/>
                <a:gd name="T15" fmla="*/ 26 h 31"/>
                <a:gd name="T16" fmla="*/ 9 w 90"/>
                <a:gd name="T17" fmla="*/ 30 h 31"/>
                <a:gd name="T18" fmla="*/ 15 w 90"/>
                <a:gd name="T19" fmla="*/ 31 h 31"/>
                <a:gd name="T20" fmla="*/ 75 w 90"/>
                <a:gd name="T21" fmla="*/ 31 h 31"/>
                <a:gd name="T22" fmla="*/ 81 w 90"/>
                <a:gd name="T23" fmla="*/ 30 h 31"/>
                <a:gd name="T24" fmla="*/ 86 w 90"/>
                <a:gd name="T25" fmla="*/ 26 h 31"/>
                <a:gd name="T26" fmla="*/ 89 w 90"/>
                <a:gd name="T27" fmla="*/ 21 h 31"/>
                <a:gd name="T28" fmla="*/ 90 w 90"/>
                <a:gd name="T29" fmla="*/ 15 h 31"/>
                <a:gd name="T30" fmla="*/ 89 w 90"/>
                <a:gd name="T31" fmla="*/ 10 h 31"/>
                <a:gd name="T32" fmla="*/ 86 w 90"/>
                <a:gd name="T33" fmla="*/ 5 h 31"/>
                <a:gd name="T34" fmla="*/ 81 w 90"/>
                <a:gd name="T35" fmla="*/ 2 h 31"/>
                <a:gd name="T36" fmla="*/ 75 w 90"/>
                <a:gd name="T3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0" h="31">
                  <a:moveTo>
                    <a:pt x="75" y="0"/>
                  </a:moveTo>
                  <a:lnTo>
                    <a:pt x="15" y="0"/>
                  </a:lnTo>
                  <a:lnTo>
                    <a:pt x="9" y="2"/>
                  </a:lnTo>
                  <a:lnTo>
                    <a:pt x="4" y="5"/>
                  </a:lnTo>
                  <a:lnTo>
                    <a:pt x="1" y="10"/>
                  </a:lnTo>
                  <a:lnTo>
                    <a:pt x="0" y="15"/>
                  </a:lnTo>
                  <a:lnTo>
                    <a:pt x="1" y="21"/>
                  </a:lnTo>
                  <a:lnTo>
                    <a:pt x="4" y="26"/>
                  </a:lnTo>
                  <a:lnTo>
                    <a:pt x="9" y="30"/>
                  </a:lnTo>
                  <a:lnTo>
                    <a:pt x="15" y="31"/>
                  </a:lnTo>
                  <a:lnTo>
                    <a:pt x="75" y="31"/>
                  </a:lnTo>
                  <a:lnTo>
                    <a:pt x="81" y="30"/>
                  </a:lnTo>
                  <a:lnTo>
                    <a:pt x="86" y="26"/>
                  </a:lnTo>
                  <a:lnTo>
                    <a:pt x="89" y="21"/>
                  </a:lnTo>
                  <a:lnTo>
                    <a:pt x="90" y="15"/>
                  </a:lnTo>
                  <a:lnTo>
                    <a:pt x="89" y="10"/>
                  </a:lnTo>
                  <a:lnTo>
                    <a:pt x="86" y="5"/>
                  </a:lnTo>
                  <a:lnTo>
                    <a:pt x="81" y="2"/>
                  </a:lnTo>
                  <a:lnTo>
                    <a:pt x="7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4" name="Group 63"/>
          <p:cNvGrpSpPr/>
          <p:nvPr/>
        </p:nvGrpSpPr>
        <p:grpSpPr>
          <a:xfrm>
            <a:off x="5948547" y="5251646"/>
            <a:ext cx="285749" cy="285750"/>
            <a:chOff x="10456863" y="5349875"/>
            <a:chExt cx="285749" cy="285750"/>
          </a:xfrm>
          <a:solidFill>
            <a:schemeClr val="bg1"/>
          </a:solidFill>
        </p:grpSpPr>
        <p:sp>
          <p:nvSpPr>
            <p:cNvPr id="67" name="Freeform 3396"/>
            <p:cNvSpPr>
              <a:spLocks/>
            </p:cNvSpPr>
            <p:nvPr/>
          </p:nvSpPr>
          <p:spPr bwMode="auto">
            <a:xfrm>
              <a:off x="10666413" y="5445125"/>
              <a:ext cx="57150" cy="57150"/>
            </a:xfrm>
            <a:custGeom>
              <a:avLst/>
              <a:gdLst>
                <a:gd name="T0" fmla="*/ 80 w 145"/>
                <a:gd name="T1" fmla="*/ 143 h 143"/>
                <a:gd name="T2" fmla="*/ 94 w 145"/>
                <a:gd name="T3" fmla="*/ 141 h 143"/>
                <a:gd name="T4" fmla="*/ 107 w 145"/>
                <a:gd name="T5" fmla="*/ 134 h 143"/>
                <a:gd name="T6" fmla="*/ 118 w 145"/>
                <a:gd name="T7" fmla="*/ 127 h 143"/>
                <a:gd name="T8" fmla="*/ 128 w 145"/>
                <a:gd name="T9" fmla="*/ 118 h 143"/>
                <a:gd name="T10" fmla="*/ 136 w 145"/>
                <a:gd name="T11" fmla="*/ 106 h 143"/>
                <a:gd name="T12" fmla="*/ 141 w 145"/>
                <a:gd name="T13" fmla="*/ 93 h 143"/>
                <a:gd name="T14" fmla="*/ 144 w 145"/>
                <a:gd name="T15" fmla="*/ 79 h 143"/>
                <a:gd name="T16" fmla="*/ 144 w 145"/>
                <a:gd name="T17" fmla="*/ 64 h 143"/>
                <a:gd name="T18" fmla="*/ 141 w 145"/>
                <a:gd name="T19" fmla="*/ 50 h 143"/>
                <a:gd name="T20" fmla="*/ 136 w 145"/>
                <a:gd name="T21" fmla="*/ 37 h 143"/>
                <a:gd name="T22" fmla="*/ 128 w 145"/>
                <a:gd name="T23" fmla="*/ 25 h 143"/>
                <a:gd name="T24" fmla="*/ 118 w 145"/>
                <a:gd name="T25" fmla="*/ 16 h 143"/>
                <a:gd name="T26" fmla="*/ 107 w 145"/>
                <a:gd name="T27" fmla="*/ 9 h 143"/>
                <a:gd name="T28" fmla="*/ 94 w 145"/>
                <a:gd name="T29" fmla="*/ 2 h 143"/>
                <a:gd name="T30" fmla="*/ 80 w 145"/>
                <a:gd name="T31" fmla="*/ 0 h 143"/>
                <a:gd name="T32" fmla="*/ 65 w 145"/>
                <a:gd name="T33" fmla="*/ 0 h 143"/>
                <a:gd name="T34" fmla="*/ 51 w 145"/>
                <a:gd name="T35" fmla="*/ 2 h 143"/>
                <a:gd name="T36" fmla="*/ 38 w 145"/>
                <a:gd name="T37" fmla="*/ 9 h 143"/>
                <a:gd name="T38" fmla="*/ 27 w 145"/>
                <a:gd name="T39" fmla="*/ 16 h 143"/>
                <a:gd name="T40" fmla="*/ 17 w 145"/>
                <a:gd name="T41" fmla="*/ 25 h 143"/>
                <a:gd name="T42" fmla="*/ 9 w 145"/>
                <a:gd name="T43" fmla="*/ 37 h 143"/>
                <a:gd name="T44" fmla="*/ 4 w 145"/>
                <a:gd name="T45" fmla="*/ 50 h 143"/>
                <a:gd name="T46" fmla="*/ 1 w 145"/>
                <a:gd name="T47" fmla="*/ 64 h 143"/>
                <a:gd name="T48" fmla="*/ 1 w 145"/>
                <a:gd name="T49" fmla="*/ 79 h 143"/>
                <a:gd name="T50" fmla="*/ 4 w 145"/>
                <a:gd name="T51" fmla="*/ 93 h 143"/>
                <a:gd name="T52" fmla="*/ 9 w 145"/>
                <a:gd name="T53" fmla="*/ 106 h 143"/>
                <a:gd name="T54" fmla="*/ 17 w 145"/>
                <a:gd name="T55" fmla="*/ 118 h 143"/>
                <a:gd name="T56" fmla="*/ 27 w 145"/>
                <a:gd name="T57" fmla="*/ 127 h 143"/>
                <a:gd name="T58" fmla="*/ 38 w 145"/>
                <a:gd name="T59" fmla="*/ 134 h 143"/>
                <a:gd name="T60" fmla="*/ 51 w 145"/>
                <a:gd name="T61" fmla="*/ 141 h 143"/>
                <a:gd name="T62" fmla="*/ 65 w 145"/>
                <a:gd name="T63"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43">
                  <a:moveTo>
                    <a:pt x="73" y="143"/>
                  </a:moveTo>
                  <a:lnTo>
                    <a:pt x="80" y="143"/>
                  </a:lnTo>
                  <a:lnTo>
                    <a:pt x="87" y="142"/>
                  </a:lnTo>
                  <a:lnTo>
                    <a:pt x="94" y="141"/>
                  </a:lnTo>
                  <a:lnTo>
                    <a:pt x="100" y="138"/>
                  </a:lnTo>
                  <a:lnTo>
                    <a:pt x="107" y="134"/>
                  </a:lnTo>
                  <a:lnTo>
                    <a:pt x="113" y="132"/>
                  </a:lnTo>
                  <a:lnTo>
                    <a:pt x="118" y="127"/>
                  </a:lnTo>
                  <a:lnTo>
                    <a:pt x="123" y="123"/>
                  </a:lnTo>
                  <a:lnTo>
                    <a:pt x="128" y="118"/>
                  </a:lnTo>
                  <a:lnTo>
                    <a:pt x="132" y="111"/>
                  </a:lnTo>
                  <a:lnTo>
                    <a:pt x="136" y="106"/>
                  </a:lnTo>
                  <a:lnTo>
                    <a:pt x="139" y="100"/>
                  </a:lnTo>
                  <a:lnTo>
                    <a:pt x="141" y="93"/>
                  </a:lnTo>
                  <a:lnTo>
                    <a:pt x="144" y="86"/>
                  </a:lnTo>
                  <a:lnTo>
                    <a:pt x="144" y="79"/>
                  </a:lnTo>
                  <a:lnTo>
                    <a:pt x="145" y="72"/>
                  </a:lnTo>
                  <a:lnTo>
                    <a:pt x="144" y="64"/>
                  </a:lnTo>
                  <a:lnTo>
                    <a:pt x="144" y="57"/>
                  </a:lnTo>
                  <a:lnTo>
                    <a:pt x="141" y="50"/>
                  </a:lnTo>
                  <a:lnTo>
                    <a:pt x="139" y="43"/>
                  </a:lnTo>
                  <a:lnTo>
                    <a:pt x="136" y="37"/>
                  </a:lnTo>
                  <a:lnTo>
                    <a:pt x="132" y="32"/>
                  </a:lnTo>
                  <a:lnTo>
                    <a:pt x="128" y="25"/>
                  </a:lnTo>
                  <a:lnTo>
                    <a:pt x="123" y="20"/>
                  </a:lnTo>
                  <a:lnTo>
                    <a:pt x="118" y="16"/>
                  </a:lnTo>
                  <a:lnTo>
                    <a:pt x="113" y="11"/>
                  </a:lnTo>
                  <a:lnTo>
                    <a:pt x="107" y="9"/>
                  </a:lnTo>
                  <a:lnTo>
                    <a:pt x="100" y="5"/>
                  </a:lnTo>
                  <a:lnTo>
                    <a:pt x="94" y="2"/>
                  </a:lnTo>
                  <a:lnTo>
                    <a:pt x="87" y="1"/>
                  </a:lnTo>
                  <a:lnTo>
                    <a:pt x="80" y="0"/>
                  </a:lnTo>
                  <a:lnTo>
                    <a:pt x="73" y="0"/>
                  </a:lnTo>
                  <a:lnTo>
                    <a:pt x="65" y="0"/>
                  </a:lnTo>
                  <a:lnTo>
                    <a:pt x="58" y="1"/>
                  </a:lnTo>
                  <a:lnTo>
                    <a:pt x="51" y="2"/>
                  </a:lnTo>
                  <a:lnTo>
                    <a:pt x="45" y="5"/>
                  </a:lnTo>
                  <a:lnTo>
                    <a:pt x="38" y="9"/>
                  </a:lnTo>
                  <a:lnTo>
                    <a:pt x="32" y="11"/>
                  </a:lnTo>
                  <a:lnTo>
                    <a:pt x="27" y="16"/>
                  </a:lnTo>
                  <a:lnTo>
                    <a:pt x="22" y="20"/>
                  </a:lnTo>
                  <a:lnTo>
                    <a:pt x="17" y="25"/>
                  </a:lnTo>
                  <a:lnTo>
                    <a:pt x="13" y="32"/>
                  </a:lnTo>
                  <a:lnTo>
                    <a:pt x="9" y="37"/>
                  </a:lnTo>
                  <a:lnTo>
                    <a:pt x="6" y="43"/>
                  </a:lnTo>
                  <a:lnTo>
                    <a:pt x="4" y="50"/>
                  </a:lnTo>
                  <a:lnTo>
                    <a:pt x="3" y="57"/>
                  </a:lnTo>
                  <a:lnTo>
                    <a:pt x="1" y="64"/>
                  </a:lnTo>
                  <a:lnTo>
                    <a:pt x="0" y="72"/>
                  </a:lnTo>
                  <a:lnTo>
                    <a:pt x="1" y="79"/>
                  </a:lnTo>
                  <a:lnTo>
                    <a:pt x="3" y="86"/>
                  </a:lnTo>
                  <a:lnTo>
                    <a:pt x="4" y="93"/>
                  </a:lnTo>
                  <a:lnTo>
                    <a:pt x="6" y="100"/>
                  </a:lnTo>
                  <a:lnTo>
                    <a:pt x="9" y="106"/>
                  </a:lnTo>
                  <a:lnTo>
                    <a:pt x="13" y="111"/>
                  </a:lnTo>
                  <a:lnTo>
                    <a:pt x="17" y="118"/>
                  </a:lnTo>
                  <a:lnTo>
                    <a:pt x="22" y="123"/>
                  </a:lnTo>
                  <a:lnTo>
                    <a:pt x="27" y="127"/>
                  </a:lnTo>
                  <a:lnTo>
                    <a:pt x="32" y="132"/>
                  </a:lnTo>
                  <a:lnTo>
                    <a:pt x="38" y="134"/>
                  </a:lnTo>
                  <a:lnTo>
                    <a:pt x="45" y="138"/>
                  </a:lnTo>
                  <a:lnTo>
                    <a:pt x="51" y="141"/>
                  </a:lnTo>
                  <a:lnTo>
                    <a:pt x="58" y="142"/>
                  </a:lnTo>
                  <a:lnTo>
                    <a:pt x="65" y="143"/>
                  </a:lnTo>
                  <a:lnTo>
                    <a:pt x="73" y="1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3397"/>
            <p:cNvSpPr>
              <a:spLocks/>
            </p:cNvSpPr>
            <p:nvPr/>
          </p:nvSpPr>
          <p:spPr bwMode="auto">
            <a:xfrm>
              <a:off x="10648950" y="5511800"/>
              <a:ext cx="93662" cy="123825"/>
            </a:xfrm>
            <a:custGeom>
              <a:avLst/>
              <a:gdLst>
                <a:gd name="T0" fmla="*/ 0 w 237"/>
                <a:gd name="T1" fmla="*/ 0 h 312"/>
                <a:gd name="T2" fmla="*/ 0 w 237"/>
                <a:gd name="T3" fmla="*/ 11 h 312"/>
                <a:gd name="T4" fmla="*/ 0 w 237"/>
                <a:gd name="T5" fmla="*/ 40 h 312"/>
                <a:gd name="T6" fmla="*/ 3 w 237"/>
                <a:gd name="T7" fmla="*/ 67 h 312"/>
                <a:gd name="T8" fmla="*/ 4 w 237"/>
                <a:gd name="T9" fmla="*/ 81 h 312"/>
                <a:gd name="T10" fmla="*/ 5 w 237"/>
                <a:gd name="T11" fmla="*/ 94 h 312"/>
                <a:gd name="T12" fmla="*/ 8 w 237"/>
                <a:gd name="T13" fmla="*/ 106 h 312"/>
                <a:gd name="T14" fmla="*/ 11 w 237"/>
                <a:gd name="T15" fmla="*/ 119 h 312"/>
                <a:gd name="T16" fmla="*/ 14 w 237"/>
                <a:gd name="T17" fmla="*/ 131 h 312"/>
                <a:gd name="T18" fmla="*/ 20 w 237"/>
                <a:gd name="T19" fmla="*/ 141 h 312"/>
                <a:gd name="T20" fmla="*/ 25 w 237"/>
                <a:gd name="T21" fmla="*/ 151 h 312"/>
                <a:gd name="T22" fmla="*/ 31 w 237"/>
                <a:gd name="T23" fmla="*/ 160 h 312"/>
                <a:gd name="T24" fmla="*/ 39 w 237"/>
                <a:gd name="T25" fmla="*/ 169 h 312"/>
                <a:gd name="T26" fmla="*/ 48 w 237"/>
                <a:gd name="T27" fmla="*/ 176 h 312"/>
                <a:gd name="T28" fmla="*/ 57 w 237"/>
                <a:gd name="T29" fmla="*/ 182 h 312"/>
                <a:gd name="T30" fmla="*/ 68 w 237"/>
                <a:gd name="T31" fmla="*/ 186 h 312"/>
                <a:gd name="T32" fmla="*/ 68 w 237"/>
                <a:gd name="T33" fmla="*/ 312 h 312"/>
                <a:gd name="T34" fmla="*/ 165 w 237"/>
                <a:gd name="T35" fmla="*/ 312 h 312"/>
                <a:gd name="T36" fmla="*/ 165 w 237"/>
                <a:gd name="T37" fmla="*/ 186 h 312"/>
                <a:gd name="T38" fmla="*/ 176 w 237"/>
                <a:gd name="T39" fmla="*/ 182 h 312"/>
                <a:gd name="T40" fmla="*/ 187 w 237"/>
                <a:gd name="T41" fmla="*/ 176 h 312"/>
                <a:gd name="T42" fmla="*/ 195 w 237"/>
                <a:gd name="T43" fmla="*/ 169 h 312"/>
                <a:gd name="T44" fmla="*/ 204 w 237"/>
                <a:gd name="T45" fmla="*/ 160 h 312"/>
                <a:gd name="T46" fmla="*/ 211 w 237"/>
                <a:gd name="T47" fmla="*/ 151 h 312"/>
                <a:gd name="T48" fmla="*/ 216 w 237"/>
                <a:gd name="T49" fmla="*/ 141 h 312"/>
                <a:gd name="T50" fmla="*/ 221 w 237"/>
                <a:gd name="T51" fmla="*/ 131 h 312"/>
                <a:gd name="T52" fmla="*/ 225 w 237"/>
                <a:gd name="T53" fmla="*/ 119 h 312"/>
                <a:gd name="T54" fmla="*/ 229 w 237"/>
                <a:gd name="T55" fmla="*/ 106 h 312"/>
                <a:gd name="T56" fmla="*/ 231 w 237"/>
                <a:gd name="T57" fmla="*/ 94 h 312"/>
                <a:gd name="T58" fmla="*/ 233 w 237"/>
                <a:gd name="T59" fmla="*/ 81 h 312"/>
                <a:gd name="T60" fmla="*/ 235 w 237"/>
                <a:gd name="T61" fmla="*/ 68 h 312"/>
                <a:gd name="T62" fmla="*/ 237 w 237"/>
                <a:gd name="T63" fmla="*/ 40 h 312"/>
                <a:gd name="T64" fmla="*/ 237 w 237"/>
                <a:gd name="T65" fmla="*/ 11 h 312"/>
                <a:gd name="T66" fmla="*/ 237 w 237"/>
                <a:gd name="T67" fmla="*/ 0 h 312"/>
                <a:gd name="T68" fmla="*/ 0 w 237"/>
                <a:gd name="T69"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7" h="312">
                  <a:moveTo>
                    <a:pt x="0" y="0"/>
                  </a:moveTo>
                  <a:lnTo>
                    <a:pt x="0" y="11"/>
                  </a:lnTo>
                  <a:lnTo>
                    <a:pt x="0" y="40"/>
                  </a:lnTo>
                  <a:lnTo>
                    <a:pt x="3" y="67"/>
                  </a:lnTo>
                  <a:lnTo>
                    <a:pt x="4" y="81"/>
                  </a:lnTo>
                  <a:lnTo>
                    <a:pt x="5" y="94"/>
                  </a:lnTo>
                  <a:lnTo>
                    <a:pt x="8" y="106"/>
                  </a:lnTo>
                  <a:lnTo>
                    <a:pt x="11" y="119"/>
                  </a:lnTo>
                  <a:lnTo>
                    <a:pt x="14" y="131"/>
                  </a:lnTo>
                  <a:lnTo>
                    <a:pt x="20" y="141"/>
                  </a:lnTo>
                  <a:lnTo>
                    <a:pt x="25" y="151"/>
                  </a:lnTo>
                  <a:lnTo>
                    <a:pt x="31" y="160"/>
                  </a:lnTo>
                  <a:lnTo>
                    <a:pt x="39" y="169"/>
                  </a:lnTo>
                  <a:lnTo>
                    <a:pt x="48" y="176"/>
                  </a:lnTo>
                  <a:lnTo>
                    <a:pt x="57" y="182"/>
                  </a:lnTo>
                  <a:lnTo>
                    <a:pt x="68" y="186"/>
                  </a:lnTo>
                  <a:lnTo>
                    <a:pt x="68" y="312"/>
                  </a:lnTo>
                  <a:lnTo>
                    <a:pt x="165" y="312"/>
                  </a:lnTo>
                  <a:lnTo>
                    <a:pt x="165" y="186"/>
                  </a:lnTo>
                  <a:lnTo>
                    <a:pt x="176" y="182"/>
                  </a:lnTo>
                  <a:lnTo>
                    <a:pt x="187" y="176"/>
                  </a:lnTo>
                  <a:lnTo>
                    <a:pt x="195" y="169"/>
                  </a:lnTo>
                  <a:lnTo>
                    <a:pt x="204" y="160"/>
                  </a:lnTo>
                  <a:lnTo>
                    <a:pt x="211" y="151"/>
                  </a:lnTo>
                  <a:lnTo>
                    <a:pt x="216" y="141"/>
                  </a:lnTo>
                  <a:lnTo>
                    <a:pt x="221" y="131"/>
                  </a:lnTo>
                  <a:lnTo>
                    <a:pt x="225" y="119"/>
                  </a:lnTo>
                  <a:lnTo>
                    <a:pt x="229" y="106"/>
                  </a:lnTo>
                  <a:lnTo>
                    <a:pt x="231" y="94"/>
                  </a:lnTo>
                  <a:lnTo>
                    <a:pt x="233" y="81"/>
                  </a:lnTo>
                  <a:lnTo>
                    <a:pt x="235" y="68"/>
                  </a:lnTo>
                  <a:lnTo>
                    <a:pt x="237" y="40"/>
                  </a:lnTo>
                  <a:lnTo>
                    <a:pt x="237" y="11"/>
                  </a:lnTo>
                  <a:lnTo>
                    <a:pt x="23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398"/>
            <p:cNvSpPr>
              <a:spLocks/>
            </p:cNvSpPr>
            <p:nvPr/>
          </p:nvSpPr>
          <p:spPr bwMode="auto">
            <a:xfrm>
              <a:off x="10571163" y="5349875"/>
              <a:ext cx="57150" cy="57150"/>
            </a:xfrm>
            <a:custGeom>
              <a:avLst/>
              <a:gdLst>
                <a:gd name="T0" fmla="*/ 79 w 144"/>
                <a:gd name="T1" fmla="*/ 144 h 144"/>
                <a:gd name="T2" fmla="*/ 94 w 144"/>
                <a:gd name="T3" fmla="*/ 140 h 144"/>
                <a:gd name="T4" fmla="*/ 106 w 144"/>
                <a:gd name="T5" fmla="*/ 135 h 144"/>
                <a:gd name="T6" fmla="*/ 118 w 144"/>
                <a:gd name="T7" fmla="*/ 128 h 144"/>
                <a:gd name="T8" fmla="*/ 128 w 144"/>
                <a:gd name="T9" fmla="*/ 119 h 144"/>
                <a:gd name="T10" fmla="*/ 136 w 144"/>
                <a:gd name="T11" fmla="*/ 107 h 144"/>
                <a:gd name="T12" fmla="*/ 141 w 144"/>
                <a:gd name="T13" fmla="*/ 94 h 144"/>
                <a:gd name="T14" fmla="*/ 144 w 144"/>
                <a:gd name="T15" fmla="*/ 80 h 144"/>
                <a:gd name="T16" fmla="*/ 144 w 144"/>
                <a:gd name="T17" fmla="*/ 65 h 144"/>
                <a:gd name="T18" fmla="*/ 141 w 144"/>
                <a:gd name="T19" fmla="*/ 51 h 144"/>
                <a:gd name="T20" fmla="*/ 136 w 144"/>
                <a:gd name="T21" fmla="*/ 38 h 144"/>
                <a:gd name="T22" fmla="*/ 128 w 144"/>
                <a:gd name="T23" fmla="*/ 26 h 144"/>
                <a:gd name="T24" fmla="*/ 118 w 144"/>
                <a:gd name="T25" fmla="*/ 17 h 144"/>
                <a:gd name="T26" fmla="*/ 106 w 144"/>
                <a:gd name="T27" fmla="*/ 8 h 144"/>
                <a:gd name="T28" fmla="*/ 94 w 144"/>
                <a:gd name="T29" fmla="*/ 3 h 144"/>
                <a:gd name="T30" fmla="*/ 79 w 144"/>
                <a:gd name="T31" fmla="*/ 0 h 144"/>
                <a:gd name="T32" fmla="*/ 65 w 144"/>
                <a:gd name="T33" fmla="*/ 0 h 144"/>
                <a:gd name="T34" fmla="*/ 51 w 144"/>
                <a:gd name="T35" fmla="*/ 3 h 144"/>
                <a:gd name="T36" fmla="*/ 38 w 144"/>
                <a:gd name="T37" fmla="*/ 8 h 144"/>
                <a:gd name="T38" fmla="*/ 27 w 144"/>
                <a:gd name="T39" fmla="*/ 17 h 144"/>
                <a:gd name="T40" fmla="*/ 16 w 144"/>
                <a:gd name="T41" fmla="*/ 26 h 144"/>
                <a:gd name="T42" fmla="*/ 9 w 144"/>
                <a:gd name="T43" fmla="*/ 38 h 144"/>
                <a:gd name="T44" fmla="*/ 4 w 144"/>
                <a:gd name="T45" fmla="*/ 51 h 144"/>
                <a:gd name="T46" fmla="*/ 0 w 144"/>
                <a:gd name="T47" fmla="*/ 65 h 144"/>
                <a:gd name="T48" fmla="*/ 0 w 144"/>
                <a:gd name="T49" fmla="*/ 80 h 144"/>
                <a:gd name="T50" fmla="*/ 4 w 144"/>
                <a:gd name="T51" fmla="*/ 94 h 144"/>
                <a:gd name="T52" fmla="*/ 9 w 144"/>
                <a:gd name="T53" fmla="*/ 107 h 144"/>
                <a:gd name="T54" fmla="*/ 16 w 144"/>
                <a:gd name="T55" fmla="*/ 119 h 144"/>
                <a:gd name="T56" fmla="*/ 27 w 144"/>
                <a:gd name="T57" fmla="*/ 128 h 144"/>
                <a:gd name="T58" fmla="*/ 38 w 144"/>
                <a:gd name="T59" fmla="*/ 135 h 144"/>
                <a:gd name="T60" fmla="*/ 51 w 144"/>
                <a:gd name="T61" fmla="*/ 140 h 144"/>
                <a:gd name="T62" fmla="*/ 65 w 144"/>
                <a:gd name="T6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4" h="144">
                  <a:moveTo>
                    <a:pt x="72" y="144"/>
                  </a:moveTo>
                  <a:lnTo>
                    <a:pt x="79" y="144"/>
                  </a:lnTo>
                  <a:lnTo>
                    <a:pt x="87" y="143"/>
                  </a:lnTo>
                  <a:lnTo>
                    <a:pt x="94" y="140"/>
                  </a:lnTo>
                  <a:lnTo>
                    <a:pt x="100" y="139"/>
                  </a:lnTo>
                  <a:lnTo>
                    <a:pt x="106" y="135"/>
                  </a:lnTo>
                  <a:lnTo>
                    <a:pt x="113" y="131"/>
                  </a:lnTo>
                  <a:lnTo>
                    <a:pt x="118" y="128"/>
                  </a:lnTo>
                  <a:lnTo>
                    <a:pt x="123" y="124"/>
                  </a:lnTo>
                  <a:lnTo>
                    <a:pt x="128" y="119"/>
                  </a:lnTo>
                  <a:lnTo>
                    <a:pt x="132" y="112"/>
                  </a:lnTo>
                  <a:lnTo>
                    <a:pt x="136" y="107"/>
                  </a:lnTo>
                  <a:lnTo>
                    <a:pt x="139" y="101"/>
                  </a:lnTo>
                  <a:lnTo>
                    <a:pt x="141" y="94"/>
                  </a:lnTo>
                  <a:lnTo>
                    <a:pt x="142" y="87"/>
                  </a:lnTo>
                  <a:lnTo>
                    <a:pt x="144" y="80"/>
                  </a:lnTo>
                  <a:lnTo>
                    <a:pt x="144" y="72"/>
                  </a:lnTo>
                  <a:lnTo>
                    <a:pt x="144" y="65"/>
                  </a:lnTo>
                  <a:lnTo>
                    <a:pt x="142" y="58"/>
                  </a:lnTo>
                  <a:lnTo>
                    <a:pt x="141" y="51"/>
                  </a:lnTo>
                  <a:lnTo>
                    <a:pt x="139" y="44"/>
                  </a:lnTo>
                  <a:lnTo>
                    <a:pt x="136" y="38"/>
                  </a:lnTo>
                  <a:lnTo>
                    <a:pt x="132" y="31"/>
                  </a:lnTo>
                  <a:lnTo>
                    <a:pt x="128" y="26"/>
                  </a:lnTo>
                  <a:lnTo>
                    <a:pt x="123" y="21"/>
                  </a:lnTo>
                  <a:lnTo>
                    <a:pt x="118" y="17"/>
                  </a:lnTo>
                  <a:lnTo>
                    <a:pt x="113" y="12"/>
                  </a:lnTo>
                  <a:lnTo>
                    <a:pt x="106" y="8"/>
                  </a:lnTo>
                  <a:lnTo>
                    <a:pt x="100" y="6"/>
                  </a:lnTo>
                  <a:lnTo>
                    <a:pt x="94" y="3"/>
                  </a:lnTo>
                  <a:lnTo>
                    <a:pt x="87" y="2"/>
                  </a:lnTo>
                  <a:lnTo>
                    <a:pt x="79" y="0"/>
                  </a:lnTo>
                  <a:lnTo>
                    <a:pt x="72" y="0"/>
                  </a:lnTo>
                  <a:lnTo>
                    <a:pt x="65" y="0"/>
                  </a:lnTo>
                  <a:lnTo>
                    <a:pt x="58" y="2"/>
                  </a:lnTo>
                  <a:lnTo>
                    <a:pt x="51" y="3"/>
                  </a:lnTo>
                  <a:lnTo>
                    <a:pt x="45" y="6"/>
                  </a:lnTo>
                  <a:lnTo>
                    <a:pt x="38" y="8"/>
                  </a:lnTo>
                  <a:lnTo>
                    <a:pt x="32" y="12"/>
                  </a:lnTo>
                  <a:lnTo>
                    <a:pt x="27" y="17"/>
                  </a:lnTo>
                  <a:lnTo>
                    <a:pt x="22" y="21"/>
                  </a:lnTo>
                  <a:lnTo>
                    <a:pt x="16" y="26"/>
                  </a:lnTo>
                  <a:lnTo>
                    <a:pt x="13" y="31"/>
                  </a:lnTo>
                  <a:lnTo>
                    <a:pt x="9" y="38"/>
                  </a:lnTo>
                  <a:lnTo>
                    <a:pt x="6" y="44"/>
                  </a:lnTo>
                  <a:lnTo>
                    <a:pt x="4" y="51"/>
                  </a:lnTo>
                  <a:lnTo>
                    <a:pt x="1" y="58"/>
                  </a:lnTo>
                  <a:lnTo>
                    <a:pt x="0" y="65"/>
                  </a:lnTo>
                  <a:lnTo>
                    <a:pt x="0" y="72"/>
                  </a:lnTo>
                  <a:lnTo>
                    <a:pt x="0" y="80"/>
                  </a:lnTo>
                  <a:lnTo>
                    <a:pt x="1" y="87"/>
                  </a:lnTo>
                  <a:lnTo>
                    <a:pt x="4" y="94"/>
                  </a:lnTo>
                  <a:lnTo>
                    <a:pt x="6" y="101"/>
                  </a:lnTo>
                  <a:lnTo>
                    <a:pt x="9" y="107"/>
                  </a:lnTo>
                  <a:lnTo>
                    <a:pt x="13" y="112"/>
                  </a:lnTo>
                  <a:lnTo>
                    <a:pt x="16" y="119"/>
                  </a:lnTo>
                  <a:lnTo>
                    <a:pt x="22" y="124"/>
                  </a:lnTo>
                  <a:lnTo>
                    <a:pt x="27" y="128"/>
                  </a:lnTo>
                  <a:lnTo>
                    <a:pt x="32" y="131"/>
                  </a:lnTo>
                  <a:lnTo>
                    <a:pt x="38" y="135"/>
                  </a:lnTo>
                  <a:lnTo>
                    <a:pt x="45" y="139"/>
                  </a:lnTo>
                  <a:lnTo>
                    <a:pt x="51" y="140"/>
                  </a:lnTo>
                  <a:lnTo>
                    <a:pt x="58" y="143"/>
                  </a:lnTo>
                  <a:lnTo>
                    <a:pt x="65" y="144"/>
                  </a:lnTo>
                  <a:lnTo>
                    <a:pt x="72"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399"/>
            <p:cNvSpPr>
              <a:spLocks/>
            </p:cNvSpPr>
            <p:nvPr/>
          </p:nvSpPr>
          <p:spPr bwMode="auto">
            <a:xfrm>
              <a:off x="10553700" y="5416550"/>
              <a:ext cx="93662" cy="123825"/>
            </a:xfrm>
            <a:custGeom>
              <a:avLst/>
              <a:gdLst>
                <a:gd name="T0" fmla="*/ 0 w 236"/>
                <a:gd name="T1" fmla="*/ 11 h 312"/>
                <a:gd name="T2" fmla="*/ 0 w 236"/>
                <a:gd name="T3" fmla="*/ 40 h 312"/>
                <a:gd name="T4" fmla="*/ 1 w 236"/>
                <a:gd name="T5" fmla="*/ 68 h 312"/>
                <a:gd name="T6" fmla="*/ 3 w 236"/>
                <a:gd name="T7" fmla="*/ 82 h 312"/>
                <a:gd name="T8" fmla="*/ 5 w 236"/>
                <a:gd name="T9" fmla="*/ 95 h 312"/>
                <a:gd name="T10" fmla="*/ 8 w 236"/>
                <a:gd name="T11" fmla="*/ 108 h 312"/>
                <a:gd name="T12" fmla="*/ 10 w 236"/>
                <a:gd name="T13" fmla="*/ 120 h 312"/>
                <a:gd name="T14" fmla="*/ 14 w 236"/>
                <a:gd name="T15" fmla="*/ 132 h 312"/>
                <a:gd name="T16" fmla="*/ 19 w 236"/>
                <a:gd name="T17" fmla="*/ 144 h 312"/>
                <a:gd name="T18" fmla="*/ 25 w 236"/>
                <a:gd name="T19" fmla="*/ 154 h 312"/>
                <a:gd name="T20" fmla="*/ 31 w 236"/>
                <a:gd name="T21" fmla="*/ 163 h 312"/>
                <a:gd name="T22" fmla="*/ 39 w 236"/>
                <a:gd name="T23" fmla="*/ 171 h 312"/>
                <a:gd name="T24" fmla="*/ 48 w 236"/>
                <a:gd name="T25" fmla="*/ 178 h 312"/>
                <a:gd name="T26" fmla="*/ 57 w 236"/>
                <a:gd name="T27" fmla="*/ 183 h 312"/>
                <a:gd name="T28" fmla="*/ 68 w 236"/>
                <a:gd name="T29" fmla="*/ 188 h 312"/>
                <a:gd name="T30" fmla="*/ 68 w 236"/>
                <a:gd name="T31" fmla="*/ 312 h 312"/>
                <a:gd name="T32" fmla="*/ 165 w 236"/>
                <a:gd name="T33" fmla="*/ 312 h 312"/>
                <a:gd name="T34" fmla="*/ 165 w 236"/>
                <a:gd name="T35" fmla="*/ 188 h 312"/>
                <a:gd name="T36" fmla="*/ 176 w 236"/>
                <a:gd name="T37" fmla="*/ 185 h 312"/>
                <a:gd name="T38" fmla="*/ 186 w 236"/>
                <a:gd name="T39" fmla="*/ 178 h 312"/>
                <a:gd name="T40" fmla="*/ 195 w 236"/>
                <a:gd name="T41" fmla="*/ 172 h 312"/>
                <a:gd name="T42" fmla="*/ 203 w 236"/>
                <a:gd name="T43" fmla="*/ 163 h 312"/>
                <a:gd name="T44" fmla="*/ 211 w 236"/>
                <a:gd name="T45" fmla="*/ 154 h 312"/>
                <a:gd name="T46" fmla="*/ 216 w 236"/>
                <a:gd name="T47" fmla="*/ 144 h 312"/>
                <a:gd name="T48" fmla="*/ 221 w 236"/>
                <a:gd name="T49" fmla="*/ 132 h 312"/>
                <a:gd name="T50" fmla="*/ 225 w 236"/>
                <a:gd name="T51" fmla="*/ 120 h 312"/>
                <a:gd name="T52" fmla="*/ 229 w 236"/>
                <a:gd name="T53" fmla="*/ 108 h 312"/>
                <a:gd name="T54" fmla="*/ 231 w 236"/>
                <a:gd name="T55" fmla="*/ 95 h 312"/>
                <a:gd name="T56" fmla="*/ 233 w 236"/>
                <a:gd name="T57" fmla="*/ 82 h 312"/>
                <a:gd name="T58" fmla="*/ 234 w 236"/>
                <a:gd name="T59" fmla="*/ 68 h 312"/>
                <a:gd name="T60" fmla="*/ 236 w 236"/>
                <a:gd name="T61" fmla="*/ 40 h 312"/>
                <a:gd name="T62" fmla="*/ 236 w 236"/>
                <a:gd name="T63" fmla="*/ 11 h 312"/>
                <a:gd name="T64" fmla="*/ 236 w 236"/>
                <a:gd name="T65" fmla="*/ 0 h 312"/>
                <a:gd name="T66" fmla="*/ 0 w 236"/>
                <a:gd name="T67" fmla="*/ 0 h 312"/>
                <a:gd name="T68" fmla="*/ 0 w 236"/>
                <a:gd name="T69" fmla="*/ 11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6" h="312">
                  <a:moveTo>
                    <a:pt x="0" y="11"/>
                  </a:moveTo>
                  <a:lnTo>
                    <a:pt x="0" y="40"/>
                  </a:lnTo>
                  <a:lnTo>
                    <a:pt x="1" y="68"/>
                  </a:lnTo>
                  <a:lnTo>
                    <a:pt x="3" y="82"/>
                  </a:lnTo>
                  <a:lnTo>
                    <a:pt x="5" y="95"/>
                  </a:lnTo>
                  <a:lnTo>
                    <a:pt x="8" y="108"/>
                  </a:lnTo>
                  <a:lnTo>
                    <a:pt x="10" y="120"/>
                  </a:lnTo>
                  <a:lnTo>
                    <a:pt x="14" y="132"/>
                  </a:lnTo>
                  <a:lnTo>
                    <a:pt x="19" y="144"/>
                  </a:lnTo>
                  <a:lnTo>
                    <a:pt x="25" y="154"/>
                  </a:lnTo>
                  <a:lnTo>
                    <a:pt x="31" y="163"/>
                  </a:lnTo>
                  <a:lnTo>
                    <a:pt x="39" y="171"/>
                  </a:lnTo>
                  <a:lnTo>
                    <a:pt x="48" y="178"/>
                  </a:lnTo>
                  <a:lnTo>
                    <a:pt x="57" y="183"/>
                  </a:lnTo>
                  <a:lnTo>
                    <a:pt x="68" y="188"/>
                  </a:lnTo>
                  <a:lnTo>
                    <a:pt x="68" y="312"/>
                  </a:lnTo>
                  <a:lnTo>
                    <a:pt x="165" y="312"/>
                  </a:lnTo>
                  <a:lnTo>
                    <a:pt x="165" y="188"/>
                  </a:lnTo>
                  <a:lnTo>
                    <a:pt x="176" y="185"/>
                  </a:lnTo>
                  <a:lnTo>
                    <a:pt x="186" y="178"/>
                  </a:lnTo>
                  <a:lnTo>
                    <a:pt x="195" y="172"/>
                  </a:lnTo>
                  <a:lnTo>
                    <a:pt x="203" y="163"/>
                  </a:lnTo>
                  <a:lnTo>
                    <a:pt x="211" y="154"/>
                  </a:lnTo>
                  <a:lnTo>
                    <a:pt x="216" y="144"/>
                  </a:lnTo>
                  <a:lnTo>
                    <a:pt x="221" y="132"/>
                  </a:lnTo>
                  <a:lnTo>
                    <a:pt x="225" y="120"/>
                  </a:lnTo>
                  <a:lnTo>
                    <a:pt x="229" y="108"/>
                  </a:lnTo>
                  <a:lnTo>
                    <a:pt x="231" y="95"/>
                  </a:lnTo>
                  <a:lnTo>
                    <a:pt x="233" y="82"/>
                  </a:lnTo>
                  <a:lnTo>
                    <a:pt x="234" y="68"/>
                  </a:lnTo>
                  <a:lnTo>
                    <a:pt x="236" y="40"/>
                  </a:lnTo>
                  <a:lnTo>
                    <a:pt x="236" y="11"/>
                  </a:lnTo>
                  <a:lnTo>
                    <a:pt x="236" y="0"/>
                  </a:lnTo>
                  <a:lnTo>
                    <a:pt x="0" y="0"/>
                  </a:lnTo>
                  <a:lnTo>
                    <a:pt x="0"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400"/>
            <p:cNvSpPr>
              <a:spLocks/>
            </p:cNvSpPr>
            <p:nvPr/>
          </p:nvSpPr>
          <p:spPr bwMode="auto">
            <a:xfrm>
              <a:off x="10475913" y="5445125"/>
              <a:ext cx="57150" cy="57150"/>
            </a:xfrm>
            <a:custGeom>
              <a:avLst/>
              <a:gdLst>
                <a:gd name="T0" fmla="*/ 79 w 143"/>
                <a:gd name="T1" fmla="*/ 143 h 143"/>
                <a:gd name="T2" fmla="*/ 93 w 143"/>
                <a:gd name="T3" fmla="*/ 141 h 143"/>
                <a:gd name="T4" fmla="*/ 106 w 143"/>
                <a:gd name="T5" fmla="*/ 134 h 143"/>
                <a:gd name="T6" fmla="*/ 118 w 143"/>
                <a:gd name="T7" fmla="*/ 127 h 143"/>
                <a:gd name="T8" fmla="*/ 128 w 143"/>
                <a:gd name="T9" fmla="*/ 118 h 143"/>
                <a:gd name="T10" fmla="*/ 136 w 143"/>
                <a:gd name="T11" fmla="*/ 106 h 143"/>
                <a:gd name="T12" fmla="*/ 141 w 143"/>
                <a:gd name="T13" fmla="*/ 93 h 143"/>
                <a:gd name="T14" fmla="*/ 143 w 143"/>
                <a:gd name="T15" fmla="*/ 79 h 143"/>
                <a:gd name="T16" fmla="*/ 143 w 143"/>
                <a:gd name="T17" fmla="*/ 64 h 143"/>
                <a:gd name="T18" fmla="*/ 141 w 143"/>
                <a:gd name="T19" fmla="*/ 50 h 143"/>
                <a:gd name="T20" fmla="*/ 136 w 143"/>
                <a:gd name="T21" fmla="*/ 37 h 143"/>
                <a:gd name="T22" fmla="*/ 128 w 143"/>
                <a:gd name="T23" fmla="*/ 25 h 143"/>
                <a:gd name="T24" fmla="*/ 118 w 143"/>
                <a:gd name="T25" fmla="*/ 16 h 143"/>
                <a:gd name="T26" fmla="*/ 106 w 143"/>
                <a:gd name="T27" fmla="*/ 9 h 143"/>
                <a:gd name="T28" fmla="*/ 93 w 143"/>
                <a:gd name="T29" fmla="*/ 2 h 143"/>
                <a:gd name="T30" fmla="*/ 79 w 143"/>
                <a:gd name="T31" fmla="*/ 0 h 143"/>
                <a:gd name="T32" fmla="*/ 64 w 143"/>
                <a:gd name="T33" fmla="*/ 0 h 143"/>
                <a:gd name="T34" fmla="*/ 51 w 143"/>
                <a:gd name="T35" fmla="*/ 2 h 143"/>
                <a:gd name="T36" fmla="*/ 37 w 143"/>
                <a:gd name="T37" fmla="*/ 9 h 143"/>
                <a:gd name="T38" fmla="*/ 27 w 143"/>
                <a:gd name="T39" fmla="*/ 16 h 143"/>
                <a:gd name="T40" fmla="*/ 16 w 143"/>
                <a:gd name="T41" fmla="*/ 25 h 143"/>
                <a:gd name="T42" fmla="*/ 9 w 143"/>
                <a:gd name="T43" fmla="*/ 37 h 143"/>
                <a:gd name="T44" fmla="*/ 4 w 143"/>
                <a:gd name="T45" fmla="*/ 50 h 143"/>
                <a:gd name="T46" fmla="*/ 0 w 143"/>
                <a:gd name="T47" fmla="*/ 64 h 143"/>
                <a:gd name="T48" fmla="*/ 0 w 143"/>
                <a:gd name="T49" fmla="*/ 79 h 143"/>
                <a:gd name="T50" fmla="*/ 4 w 143"/>
                <a:gd name="T51" fmla="*/ 93 h 143"/>
                <a:gd name="T52" fmla="*/ 9 w 143"/>
                <a:gd name="T53" fmla="*/ 106 h 143"/>
                <a:gd name="T54" fmla="*/ 16 w 143"/>
                <a:gd name="T55" fmla="*/ 118 h 143"/>
                <a:gd name="T56" fmla="*/ 27 w 143"/>
                <a:gd name="T57" fmla="*/ 127 h 143"/>
                <a:gd name="T58" fmla="*/ 37 w 143"/>
                <a:gd name="T59" fmla="*/ 134 h 143"/>
                <a:gd name="T60" fmla="*/ 51 w 143"/>
                <a:gd name="T61" fmla="*/ 141 h 143"/>
                <a:gd name="T62" fmla="*/ 64 w 143"/>
                <a:gd name="T63"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3" h="143">
                  <a:moveTo>
                    <a:pt x="72" y="143"/>
                  </a:moveTo>
                  <a:lnTo>
                    <a:pt x="79" y="143"/>
                  </a:lnTo>
                  <a:lnTo>
                    <a:pt x="87" y="142"/>
                  </a:lnTo>
                  <a:lnTo>
                    <a:pt x="93" y="141"/>
                  </a:lnTo>
                  <a:lnTo>
                    <a:pt x="100" y="138"/>
                  </a:lnTo>
                  <a:lnTo>
                    <a:pt x="106" y="134"/>
                  </a:lnTo>
                  <a:lnTo>
                    <a:pt x="113" y="132"/>
                  </a:lnTo>
                  <a:lnTo>
                    <a:pt x="118" y="127"/>
                  </a:lnTo>
                  <a:lnTo>
                    <a:pt x="123" y="123"/>
                  </a:lnTo>
                  <a:lnTo>
                    <a:pt x="128" y="118"/>
                  </a:lnTo>
                  <a:lnTo>
                    <a:pt x="132" y="111"/>
                  </a:lnTo>
                  <a:lnTo>
                    <a:pt x="136" y="106"/>
                  </a:lnTo>
                  <a:lnTo>
                    <a:pt x="138" y="100"/>
                  </a:lnTo>
                  <a:lnTo>
                    <a:pt x="141" y="93"/>
                  </a:lnTo>
                  <a:lnTo>
                    <a:pt x="142" y="86"/>
                  </a:lnTo>
                  <a:lnTo>
                    <a:pt x="143" y="79"/>
                  </a:lnTo>
                  <a:lnTo>
                    <a:pt x="143" y="72"/>
                  </a:lnTo>
                  <a:lnTo>
                    <a:pt x="143" y="64"/>
                  </a:lnTo>
                  <a:lnTo>
                    <a:pt x="142" y="57"/>
                  </a:lnTo>
                  <a:lnTo>
                    <a:pt x="141" y="50"/>
                  </a:lnTo>
                  <a:lnTo>
                    <a:pt x="138" y="43"/>
                  </a:lnTo>
                  <a:lnTo>
                    <a:pt x="136" y="37"/>
                  </a:lnTo>
                  <a:lnTo>
                    <a:pt x="132" y="32"/>
                  </a:lnTo>
                  <a:lnTo>
                    <a:pt x="128" y="25"/>
                  </a:lnTo>
                  <a:lnTo>
                    <a:pt x="123" y="20"/>
                  </a:lnTo>
                  <a:lnTo>
                    <a:pt x="118" y="16"/>
                  </a:lnTo>
                  <a:lnTo>
                    <a:pt x="113" y="11"/>
                  </a:lnTo>
                  <a:lnTo>
                    <a:pt x="106" y="9"/>
                  </a:lnTo>
                  <a:lnTo>
                    <a:pt x="100" y="5"/>
                  </a:lnTo>
                  <a:lnTo>
                    <a:pt x="93" y="2"/>
                  </a:lnTo>
                  <a:lnTo>
                    <a:pt x="86" y="1"/>
                  </a:lnTo>
                  <a:lnTo>
                    <a:pt x="79" y="0"/>
                  </a:lnTo>
                  <a:lnTo>
                    <a:pt x="72" y="0"/>
                  </a:lnTo>
                  <a:lnTo>
                    <a:pt x="64" y="0"/>
                  </a:lnTo>
                  <a:lnTo>
                    <a:pt x="57" y="1"/>
                  </a:lnTo>
                  <a:lnTo>
                    <a:pt x="51" y="2"/>
                  </a:lnTo>
                  <a:lnTo>
                    <a:pt x="43" y="5"/>
                  </a:lnTo>
                  <a:lnTo>
                    <a:pt x="37" y="9"/>
                  </a:lnTo>
                  <a:lnTo>
                    <a:pt x="32" y="11"/>
                  </a:lnTo>
                  <a:lnTo>
                    <a:pt x="27" y="16"/>
                  </a:lnTo>
                  <a:lnTo>
                    <a:pt x="21" y="20"/>
                  </a:lnTo>
                  <a:lnTo>
                    <a:pt x="16" y="25"/>
                  </a:lnTo>
                  <a:lnTo>
                    <a:pt x="12" y="32"/>
                  </a:lnTo>
                  <a:lnTo>
                    <a:pt x="9" y="37"/>
                  </a:lnTo>
                  <a:lnTo>
                    <a:pt x="5" y="43"/>
                  </a:lnTo>
                  <a:lnTo>
                    <a:pt x="4" y="50"/>
                  </a:lnTo>
                  <a:lnTo>
                    <a:pt x="1" y="57"/>
                  </a:lnTo>
                  <a:lnTo>
                    <a:pt x="0" y="64"/>
                  </a:lnTo>
                  <a:lnTo>
                    <a:pt x="0" y="72"/>
                  </a:lnTo>
                  <a:lnTo>
                    <a:pt x="0" y="79"/>
                  </a:lnTo>
                  <a:lnTo>
                    <a:pt x="1" y="86"/>
                  </a:lnTo>
                  <a:lnTo>
                    <a:pt x="4" y="93"/>
                  </a:lnTo>
                  <a:lnTo>
                    <a:pt x="5" y="100"/>
                  </a:lnTo>
                  <a:lnTo>
                    <a:pt x="9" y="106"/>
                  </a:lnTo>
                  <a:lnTo>
                    <a:pt x="12" y="111"/>
                  </a:lnTo>
                  <a:lnTo>
                    <a:pt x="16" y="118"/>
                  </a:lnTo>
                  <a:lnTo>
                    <a:pt x="21" y="123"/>
                  </a:lnTo>
                  <a:lnTo>
                    <a:pt x="27" y="127"/>
                  </a:lnTo>
                  <a:lnTo>
                    <a:pt x="32" y="132"/>
                  </a:lnTo>
                  <a:lnTo>
                    <a:pt x="37" y="134"/>
                  </a:lnTo>
                  <a:lnTo>
                    <a:pt x="43" y="138"/>
                  </a:lnTo>
                  <a:lnTo>
                    <a:pt x="51" y="141"/>
                  </a:lnTo>
                  <a:lnTo>
                    <a:pt x="57" y="142"/>
                  </a:lnTo>
                  <a:lnTo>
                    <a:pt x="64" y="143"/>
                  </a:lnTo>
                  <a:lnTo>
                    <a:pt x="72" y="1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3401"/>
            <p:cNvSpPr>
              <a:spLocks/>
            </p:cNvSpPr>
            <p:nvPr/>
          </p:nvSpPr>
          <p:spPr bwMode="auto">
            <a:xfrm>
              <a:off x="10456863" y="5511800"/>
              <a:ext cx="93662" cy="123825"/>
            </a:xfrm>
            <a:custGeom>
              <a:avLst/>
              <a:gdLst>
                <a:gd name="T0" fmla="*/ 0 w 236"/>
                <a:gd name="T1" fmla="*/ 11 h 312"/>
                <a:gd name="T2" fmla="*/ 0 w 236"/>
                <a:gd name="T3" fmla="*/ 40 h 312"/>
                <a:gd name="T4" fmla="*/ 1 w 236"/>
                <a:gd name="T5" fmla="*/ 67 h 312"/>
                <a:gd name="T6" fmla="*/ 4 w 236"/>
                <a:gd name="T7" fmla="*/ 81 h 312"/>
                <a:gd name="T8" fmla="*/ 5 w 236"/>
                <a:gd name="T9" fmla="*/ 94 h 312"/>
                <a:gd name="T10" fmla="*/ 8 w 236"/>
                <a:gd name="T11" fmla="*/ 106 h 312"/>
                <a:gd name="T12" fmla="*/ 12 w 236"/>
                <a:gd name="T13" fmla="*/ 119 h 312"/>
                <a:gd name="T14" fmla="*/ 16 w 236"/>
                <a:gd name="T15" fmla="*/ 131 h 312"/>
                <a:gd name="T16" fmla="*/ 21 w 236"/>
                <a:gd name="T17" fmla="*/ 142 h 312"/>
                <a:gd name="T18" fmla="*/ 27 w 236"/>
                <a:gd name="T19" fmla="*/ 153 h 312"/>
                <a:gd name="T20" fmla="*/ 34 w 236"/>
                <a:gd name="T21" fmla="*/ 163 h 312"/>
                <a:gd name="T22" fmla="*/ 41 w 236"/>
                <a:gd name="T23" fmla="*/ 171 h 312"/>
                <a:gd name="T24" fmla="*/ 50 w 236"/>
                <a:gd name="T25" fmla="*/ 178 h 312"/>
                <a:gd name="T26" fmla="*/ 60 w 236"/>
                <a:gd name="T27" fmla="*/ 185 h 312"/>
                <a:gd name="T28" fmla="*/ 72 w 236"/>
                <a:gd name="T29" fmla="*/ 189 h 312"/>
                <a:gd name="T30" fmla="*/ 72 w 236"/>
                <a:gd name="T31" fmla="*/ 312 h 312"/>
                <a:gd name="T32" fmla="*/ 168 w 236"/>
                <a:gd name="T33" fmla="*/ 312 h 312"/>
                <a:gd name="T34" fmla="*/ 168 w 236"/>
                <a:gd name="T35" fmla="*/ 189 h 312"/>
                <a:gd name="T36" fmla="*/ 180 w 236"/>
                <a:gd name="T37" fmla="*/ 185 h 312"/>
                <a:gd name="T38" fmla="*/ 190 w 236"/>
                <a:gd name="T39" fmla="*/ 178 h 312"/>
                <a:gd name="T40" fmla="*/ 199 w 236"/>
                <a:gd name="T41" fmla="*/ 171 h 312"/>
                <a:gd name="T42" fmla="*/ 207 w 236"/>
                <a:gd name="T43" fmla="*/ 162 h 312"/>
                <a:gd name="T44" fmla="*/ 213 w 236"/>
                <a:gd name="T45" fmla="*/ 153 h 312"/>
                <a:gd name="T46" fmla="*/ 220 w 236"/>
                <a:gd name="T47" fmla="*/ 142 h 312"/>
                <a:gd name="T48" fmla="*/ 224 w 236"/>
                <a:gd name="T49" fmla="*/ 131 h 312"/>
                <a:gd name="T50" fmla="*/ 227 w 236"/>
                <a:gd name="T51" fmla="*/ 118 h 312"/>
                <a:gd name="T52" fmla="*/ 233 w 236"/>
                <a:gd name="T53" fmla="*/ 92 h 312"/>
                <a:gd name="T54" fmla="*/ 235 w 236"/>
                <a:gd name="T55" fmla="*/ 65 h 312"/>
                <a:gd name="T56" fmla="*/ 235 w 236"/>
                <a:gd name="T57" fmla="*/ 38 h 312"/>
                <a:gd name="T58" fmla="*/ 236 w 236"/>
                <a:gd name="T59" fmla="*/ 11 h 312"/>
                <a:gd name="T60" fmla="*/ 236 w 236"/>
                <a:gd name="T61" fmla="*/ 0 h 312"/>
                <a:gd name="T62" fmla="*/ 0 w 236"/>
                <a:gd name="T63" fmla="*/ 0 h 312"/>
                <a:gd name="T64" fmla="*/ 0 w 236"/>
                <a:gd name="T65" fmla="*/ 11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312">
                  <a:moveTo>
                    <a:pt x="0" y="11"/>
                  </a:moveTo>
                  <a:lnTo>
                    <a:pt x="0" y="40"/>
                  </a:lnTo>
                  <a:lnTo>
                    <a:pt x="1" y="67"/>
                  </a:lnTo>
                  <a:lnTo>
                    <a:pt x="4" y="81"/>
                  </a:lnTo>
                  <a:lnTo>
                    <a:pt x="5" y="94"/>
                  </a:lnTo>
                  <a:lnTo>
                    <a:pt x="8" y="106"/>
                  </a:lnTo>
                  <a:lnTo>
                    <a:pt x="12" y="119"/>
                  </a:lnTo>
                  <a:lnTo>
                    <a:pt x="16" y="131"/>
                  </a:lnTo>
                  <a:lnTo>
                    <a:pt x="21" y="142"/>
                  </a:lnTo>
                  <a:lnTo>
                    <a:pt x="27" y="153"/>
                  </a:lnTo>
                  <a:lnTo>
                    <a:pt x="34" y="163"/>
                  </a:lnTo>
                  <a:lnTo>
                    <a:pt x="41" y="171"/>
                  </a:lnTo>
                  <a:lnTo>
                    <a:pt x="50" y="178"/>
                  </a:lnTo>
                  <a:lnTo>
                    <a:pt x="60" y="185"/>
                  </a:lnTo>
                  <a:lnTo>
                    <a:pt x="72" y="189"/>
                  </a:lnTo>
                  <a:lnTo>
                    <a:pt x="72" y="312"/>
                  </a:lnTo>
                  <a:lnTo>
                    <a:pt x="168" y="312"/>
                  </a:lnTo>
                  <a:lnTo>
                    <a:pt x="168" y="189"/>
                  </a:lnTo>
                  <a:lnTo>
                    <a:pt x="180" y="185"/>
                  </a:lnTo>
                  <a:lnTo>
                    <a:pt x="190" y="178"/>
                  </a:lnTo>
                  <a:lnTo>
                    <a:pt x="199" y="171"/>
                  </a:lnTo>
                  <a:lnTo>
                    <a:pt x="207" y="162"/>
                  </a:lnTo>
                  <a:lnTo>
                    <a:pt x="213" y="153"/>
                  </a:lnTo>
                  <a:lnTo>
                    <a:pt x="220" y="142"/>
                  </a:lnTo>
                  <a:lnTo>
                    <a:pt x="224" y="131"/>
                  </a:lnTo>
                  <a:lnTo>
                    <a:pt x="227" y="118"/>
                  </a:lnTo>
                  <a:lnTo>
                    <a:pt x="233" y="92"/>
                  </a:lnTo>
                  <a:lnTo>
                    <a:pt x="235" y="65"/>
                  </a:lnTo>
                  <a:lnTo>
                    <a:pt x="235" y="38"/>
                  </a:lnTo>
                  <a:lnTo>
                    <a:pt x="236" y="11"/>
                  </a:lnTo>
                  <a:lnTo>
                    <a:pt x="236" y="0"/>
                  </a:lnTo>
                  <a:lnTo>
                    <a:pt x="0" y="0"/>
                  </a:lnTo>
                  <a:lnTo>
                    <a:pt x="0"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7" name="Group 76"/>
          <p:cNvGrpSpPr/>
          <p:nvPr/>
        </p:nvGrpSpPr>
        <p:grpSpPr>
          <a:xfrm>
            <a:off x="8251632" y="4566044"/>
            <a:ext cx="276226" cy="284163"/>
            <a:chOff x="7048500" y="1387475"/>
            <a:chExt cx="276226" cy="284163"/>
          </a:xfrm>
          <a:solidFill>
            <a:schemeClr val="bg1"/>
          </a:solidFill>
        </p:grpSpPr>
        <p:sp>
          <p:nvSpPr>
            <p:cNvPr id="78" name="Freeform 4357"/>
            <p:cNvSpPr>
              <a:spLocks noEditPoints="1"/>
            </p:cNvSpPr>
            <p:nvPr/>
          </p:nvSpPr>
          <p:spPr bwMode="auto">
            <a:xfrm>
              <a:off x="7161213" y="1387475"/>
              <a:ext cx="163513" cy="160338"/>
            </a:xfrm>
            <a:custGeom>
              <a:avLst/>
              <a:gdLst>
                <a:gd name="T0" fmla="*/ 229 w 512"/>
                <a:gd name="T1" fmla="*/ 345 h 506"/>
                <a:gd name="T2" fmla="*/ 198 w 512"/>
                <a:gd name="T3" fmla="*/ 328 h 506"/>
                <a:gd name="T4" fmla="*/ 177 w 512"/>
                <a:gd name="T5" fmla="*/ 302 h 506"/>
                <a:gd name="T6" fmla="*/ 166 w 512"/>
                <a:gd name="T7" fmla="*/ 268 h 506"/>
                <a:gd name="T8" fmla="*/ 169 w 512"/>
                <a:gd name="T9" fmla="*/ 232 h 506"/>
                <a:gd name="T10" fmla="*/ 187 w 512"/>
                <a:gd name="T11" fmla="*/ 201 h 506"/>
                <a:gd name="T12" fmla="*/ 213 w 512"/>
                <a:gd name="T13" fmla="*/ 179 h 506"/>
                <a:gd name="T14" fmla="*/ 246 w 512"/>
                <a:gd name="T15" fmla="*/ 169 h 506"/>
                <a:gd name="T16" fmla="*/ 283 w 512"/>
                <a:gd name="T17" fmla="*/ 172 h 506"/>
                <a:gd name="T18" fmla="*/ 314 w 512"/>
                <a:gd name="T19" fmla="*/ 189 h 506"/>
                <a:gd name="T20" fmla="*/ 335 w 512"/>
                <a:gd name="T21" fmla="*/ 216 h 506"/>
                <a:gd name="T22" fmla="*/ 346 w 512"/>
                <a:gd name="T23" fmla="*/ 250 h 506"/>
                <a:gd name="T24" fmla="*/ 343 w 512"/>
                <a:gd name="T25" fmla="*/ 286 h 506"/>
                <a:gd name="T26" fmla="*/ 326 w 512"/>
                <a:gd name="T27" fmla="*/ 316 h 506"/>
                <a:gd name="T28" fmla="*/ 299 w 512"/>
                <a:gd name="T29" fmla="*/ 338 h 506"/>
                <a:gd name="T30" fmla="*/ 265 w 512"/>
                <a:gd name="T31" fmla="*/ 348 h 506"/>
                <a:gd name="T32" fmla="*/ 458 w 512"/>
                <a:gd name="T33" fmla="*/ 276 h 506"/>
                <a:gd name="T34" fmla="*/ 504 w 512"/>
                <a:gd name="T35" fmla="*/ 198 h 506"/>
                <a:gd name="T36" fmla="*/ 511 w 512"/>
                <a:gd name="T37" fmla="*/ 189 h 506"/>
                <a:gd name="T38" fmla="*/ 510 w 512"/>
                <a:gd name="T39" fmla="*/ 178 h 506"/>
                <a:gd name="T40" fmla="*/ 438 w 512"/>
                <a:gd name="T41" fmla="*/ 72 h 506"/>
                <a:gd name="T42" fmla="*/ 363 w 512"/>
                <a:gd name="T43" fmla="*/ 85 h 506"/>
                <a:gd name="T44" fmla="*/ 332 w 512"/>
                <a:gd name="T45" fmla="*/ 10 h 506"/>
                <a:gd name="T46" fmla="*/ 326 w 512"/>
                <a:gd name="T47" fmla="*/ 2 h 506"/>
                <a:gd name="T48" fmla="*/ 204 w 512"/>
                <a:gd name="T49" fmla="*/ 0 h 506"/>
                <a:gd name="T50" fmla="*/ 193 w 512"/>
                <a:gd name="T51" fmla="*/ 3 h 506"/>
                <a:gd name="T52" fmla="*/ 189 w 512"/>
                <a:gd name="T53" fmla="*/ 14 h 506"/>
                <a:gd name="T54" fmla="*/ 162 w 512"/>
                <a:gd name="T55" fmla="*/ 78 h 506"/>
                <a:gd name="T56" fmla="*/ 81 w 512"/>
                <a:gd name="T57" fmla="*/ 74 h 506"/>
                <a:gd name="T58" fmla="*/ 65 w 512"/>
                <a:gd name="T59" fmla="*/ 76 h 506"/>
                <a:gd name="T60" fmla="*/ 1 w 512"/>
                <a:gd name="T61" fmla="*/ 184 h 506"/>
                <a:gd name="T62" fmla="*/ 6 w 512"/>
                <a:gd name="T63" fmla="*/ 197 h 506"/>
                <a:gd name="T64" fmla="*/ 53 w 512"/>
                <a:gd name="T65" fmla="*/ 259 h 506"/>
                <a:gd name="T66" fmla="*/ 4 w 512"/>
                <a:gd name="T67" fmla="*/ 324 h 506"/>
                <a:gd name="T68" fmla="*/ 1 w 512"/>
                <a:gd name="T69" fmla="*/ 338 h 506"/>
                <a:gd name="T70" fmla="*/ 62 w 512"/>
                <a:gd name="T71" fmla="*/ 442 h 506"/>
                <a:gd name="T72" fmla="*/ 73 w 512"/>
                <a:gd name="T73" fmla="*/ 445 h 506"/>
                <a:gd name="T74" fmla="*/ 141 w 512"/>
                <a:gd name="T75" fmla="*/ 427 h 506"/>
                <a:gd name="T76" fmla="*/ 179 w 512"/>
                <a:gd name="T77" fmla="*/ 447 h 506"/>
                <a:gd name="T78" fmla="*/ 190 w 512"/>
                <a:gd name="T79" fmla="*/ 497 h 506"/>
                <a:gd name="T80" fmla="*/ 198 w 512"/>
                <a:gd name="T81" fmla="*/ 505 h 506"/>
                <a:gd name="T82" fmla="*/ 320 w 512"/>
                <a:gd name="T83" fmla="*/ 506 h 506"/>
                <a:gd name="T84" fmla="*/ 330 w 512"/>
                <a:gd name="T85" fmla="*/ 499 h 506"/>
                <a:gd name="T86" fmla="*/ 332 w 512"/>
                <a:gd name="T87" fmla="*/ 448 h 506"/>
                <a:gd name="T88" fmla="*/ 387 w 512"/>
                <a:gd name="T89" fmla="*/ 416 h 506"/>
                <a:gd name="T90" fmla="*/ 441 w 512"/>
                <a:gd name="T91" fmla="*/ 446 h 506"/>
                <a:gd name="T92" fmla="*/ 451 w 512"/>
                <a:gd name="T93" fmla="*/ 440 h 506"/>
                <a:gd name="T94" fmla="*/ 512 w 512"/>
                <a:gd name="T95" fmla="*/ 335 h 506"/>
                <a:gd name="T96" fmla="*/ 509 w 512"/>
                <a:gd name="T97" fmla="*/ 323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2" h="506">
                  <a:moveTo>
                    <a:pt x="256" y="350"/>
                  </a:moveTo>
                  <a:lnTo>
                    <a:pt x="246" y="348"/>
                  </a:lnTo>
                  <a:lnTo>
                    <a:pt x="238" y="347"/>
                  </a:lnTo>
                  <a:lnTo>
                    <a:pt x="229" y="345"/>
                  </a:lnTo>
                  <a:lnTo>
                    <a:pt x="221" y="342"/>
                  </a:lnTo>
                  <a:lnTo>
                    <a:pt x="213" y="338"/>
                  </a:lnTo>
                  <a:lnTo>
                    <a:pt x="206" y="334"/>
                  </a:lnTo>
                  <a:lnTo>
                    <a:pt x="198" y="328"/>
                  </a:lnTo>
                  <a:lnTo>
                    <a:pt x="192" y="323"/>
                  </a:lnTo>
                  <a:lnTo>
                    <a:pt x="187" y="316"/>
                  </a:lnTo>
                  <a:lnTo>
                    <a:pt x="181" y="310"/>
                  </a:lnTo>
                  <a:lnTo>
                    <a:pt x="177" y="302"/>
                  </a:lnTo>
                  <a:lnTo>
                    <a:pt x="173" y="294"/>
                  </a:lnTo>
                  <a:lnTo>
                    <a:pt x="169" y="286"/>
                  </a:lnTo>
                  <a:lnTo>
                    <a:pt x="167" y="278"/>
                  </a:lnTo>
                  <a:lnTo>
                    <a:pt x="166" y="268"/>
                  </a:lnTo>
                  <a:lnTo>
                    <a:pt x="165" y="260"/>
                  </a:lnTo>
                  <a:lnTo>
                    <a:pt x="166" y="250"/>
                  </a:lnTo>
                  <a:lnTo>
                    <a:pt x="167" y="240"/>
                  </a:lnTo>
                  <a:lnTo>
                    <a:pt x="169" y="232"/>
                  </a:lnTo>
                  <a:lnTo>
                    <a:pt x="173" y="223"/>
                  </a:lnTo>
                  <a:lnTo>
                    <a:pt x="177" y="216"/>
                  </a:lnTo>
                  <a:lnTo>
                    <a:pt x="181" y="208"/>
                  </a:lnTo>
                  <a:lnTo>
                    <a:pt x="187" y="201"/>
                  </a:lnTo>
                  <a:lnTo>
                    <a:pt x="192" y="194"/>
                  </a:lnTo>
                  <a:lnTo>
                    <a:pt x="198" y="189"/>
                  </a:lnTo>
                  <a:lnTo>
                    <a:pt x="206" y="184"/>
                  </a:lnTo>
                  <a:lnTo>
                    <a:pt x="213" y="179"/>
                  </a:lnTo>
                  <a:lnTo>
                    <a:pt x="221" y="175"/>
                  </a:lnTo>
                  <a:lnTo>
                    <a:pt x="229" y="172"/>
                  </a:lnTo>
                  <a:lnTo>
                    <a:pt x="238" y="170"/>
                  </a:lnTo>
                  <a:lnTo>
                    <a:pt x="246" y="169"/>
                  </a:lnTo>
                  <a:lnTo>
                    <a:pt x="256" y="168"/>
                  </a:lnTo>
                  <a:lnTo>
                    <a:pt x="265" y="169"/>
                  </a:lnTo>
                  <a:lnTo>
                    <a:pt x="274" y="170"/>
                  </a:lnTo>
                  <a:lnTo>
                    <a:pt x="283" y="172"/>
                  </a:lnTo>
                  <a:lnTo>
                    <a:pt x="291" y="175"/>
                  </a:lnTo>
                  <a:lnTo>
                    <a:pt x="299" y="179"/>
                  </a:lnTo>
                  <a:lnTo>
                    <a:pt x="306" y="184"/>
                  </a:lnTo>
                  <a:lnTo>
                    <a:pt x="314" y="189"/>
                  </a:lnTo>
                  <a:lnTo>
                    <a:pt x="320" y="194"/>
                  </a:lnTo>
                  <a:lnTo>
                    <a:pt x="326" y="201"/>
                  </a:lnTo>
                  <a:lnTo>
                    <a:pt x="331" y="208"/>
                  </a:lnTo>
                  <a:lnTo>
                    <a:pt x="335" y="216"/>
                  </a:lnTo>
                  <a:lnTo>
                    <a:pt x="340" y="223"/>
                  </a:lnTo>
                  <a:lnTo>
                    <a:pt x="343" y="232"/>
                  </a:lnTo>
                  <a:lnTo>
                    <a:pt x="345" y="240"/>
                  </a:lnTo>
                  <a:lnTo>
                    <a:pt x="346" y="250"/>
                  </a:lnTo>
                  <a:lnTo>
                    <a:pt x="346" y="260"/>
                  </a:lnTo>
                  <a:lnTo>
                    <a:pt x="346" y="268"/>
                  </a:lnTo>
                  <a:lnTo>
                    <a:pt x="345" y="278"/>
                  </a:lnTo>
                  <a:lnTo>
                    <a:pt x="343" y="286"/>
                  </a:lnTo>
                  <a:lnTo>
                    <a:pt x="340" y="294"/>
                  </a:lnTo>
                  <a:lnTo>
                    <a:pt x="335" y="302"/>
                  </a:lnTo>
                  <a:lnTo>
                    <a:pt x="331" y="310"/>
                  </a:lnTo>
                  <a:lnTo>
                    <a:pt x="326" y="316"/>
                  </a:lnTo>
                  <a:lnTo>
                    <a:pt x="320" y="323"/>
                  </a:lnTo>
                  <a:lnTo>
                    <a:pt x="314" y="328"/>
                  </a:lnTo>
                  <a:lnTo>
                    <a:pt x="306" y="334"/>
                  </a:lnTo>
                  <a:lnTo>
                    <a:pt x="299" y="338"/>
                  </a:lnTo>
                  <a:lnTo>
                    <a:pt x="291" y="342"/>
                  </a:lnTo>
                  <a:lnTo>
                    <a:pt x="283" y="345"/>
                  </a:lnTo>
                  <a:lnTo>
                    <a:pt x="274" y="347"/>
                  </a:lnTo>
                  <a:lnTo>
                    <a:pt x="265" y="348"/>
                  </a:lnTo>
                  <a:lnTo>
                    <a:pt x="256" y="350"/>
                  </a:lnTo>
                  <a:close/>
                  <a:moveTo>
                    <a:pt x="504" y="320"/>
                  </a:moveTo>
                  <a:lnTo>
                    <a:pt x="456" y="292"/>
                  </a:lnTo>
                  <a:lnTo>
                    <a:pt x="458" y="276"/>
                  </a:lnTo>
                  <a:lnTo>
                    <a:pt x="459" y="259"/>
                  </a:lnTo>
                  <a:lnTo>
                    <a:pt x="458" y="241"/>
                  </a:lnTo>
                  <a:lnTo>
                    <a:pt x="456" y="225"/>
                  </a:lnTo>
                  <a:lnTo>
                    <a:pt x="504" y="198"/>
                  </a:lnTo>
                  <a:lnTo>
                    <a:pt x="506" y="197"/>
                  </a:lnTo>
                  <a:lnTo>
                    <a:pt x="509" y="194"/>
                  </a:lnTo>
                  <a:lnTo>
                    <a:pt x="510" y="191"/>
                  </a:lnTo>
                  <a:lnTo>
                    <a:pt x="511" y="189"/>
                  </a:lnTo>
                  <a:lnTo>
                    <a:pt x="512" y="186"/>
                  </a:lnTo>
                  <a:lnTo>
                    <a:pt x="512" y="184"/>
                  </a:lnTo>
                  <a:lnTo>
                    <a:pt x="511" y="181"/>
                  </a:lnTo>
                  <a:lnTo>
                    <a:pt x="510" y="178"/>
                  </a:lnTo>
                  <a:lnTo>
                    <a:pt x="453" y="80"/>
                  </a:lnTo>
                  <a:lnTo>
                    <a:pt x="449" y="76"/>
                  </a:lnTo>
                  <a:lnTo>
                    <a:pt x="443" y="72"/>
                  </a:lnTo>
                  <a:lnTo>
                    <a:pt x="438" y="72"/>
                  </a:lnTo>
                  <a:lnTo>
                    <a:pt x="433" y="74"/>
                  </a:lnTo>
                  <a:lnTo>
                    <a:pt x="387" y="102"/>
                  </a:lnTo>
                  <a:lnTo>
                    <a:pt x="376" y="94"/>
                  </a:lnTo>
                  <a:lnTo>
                    <a:pt x="363" y="85"/>
                  </a:lnTo>
                  <a:lnTo>
                    <a:pt x="348" y="78"/>
                  </a:lnTo>
                  <a:lnTo>
                    <a:pt x="332" y="69"/>
                  </a:lnTo>
                  <a:lnTo>
                    <a:pt x="332" y="14"/>
                  </a:lnTo>
                  <a:lnTo>
                    <a:pt x="332" y="10"/>
                  </a:lnTo>
                  <a:lnTo>
                    <a:pt x="331" y="8"/>
                  </a:lnTo>
                  <a:lnTo>
                    <a:pt x="330" y="5"/>
                  </a:lnTo>
                  <a:lnTo>
                    <a:pt x="328" y="3"/>
                  </a:lnTo>
                  <a:lnTo>
                    <a:pt x="326" y="2"/>
                  </a:lnTo>
                  <a:lnTo>
                    <a:pt x="322" y="1"/>
                  </a:lnTo>
                  <a:lnTo>
                    <a:pt x="320" y="0"/>
                  </a:lnTo>
                  <a:lnTo>
                    <a:pt x="317" y="0"/>
                  </a:lnTo>
                  <a:lnTo>
                    <a:pt x="204" y="0"/>
                  </a:lnTo>
                  <a:lnTo>
                    <a:pt x="200" y="0"/>
                  </a:lnTo>
                  <a:lnTo>
                    <a:pt x="198" y="1"/>
                  </a:lnTo>
                  <a:lnTo>
                    <a:pt x="195" y="2"/>
                  </a:lnTo>
                  <a:lnTo>
                    <a:pt x="193" y="3"/>
                  </a:lnTo>
                  <a:lnTo>
                    <a:pt x="192" y="5"/>
                  </a:lnTo>
                  <a:lnTo>
                    <a:pt x="190" y="8"/>
                  </a:lnTo>
                  <a:lnTo>
                    <a:pt x="190" y="10"/>
                  </a:lnTo>
                  <a:lnTo>
                    <a:pt x="189" y="14"/>
                  </a:lnTo>
                  <a:lnTo>
                    <a:pt x="189" y="68"/>
                  </a:lnTo>
                  <a:lnTo>
                    <a:pt x="179" y="71"/>
                  </a:lnTo>
                  <a:lnTo>
                    <a:pt x="169" y="75"/>
                  </a:lnTo>
                  <a:lnTo>
                    <a:pt x="162" y="78"/>
                  </a:lnTo>
                  <a:lnTo>
                    <a:pt x="154" y="82"/>
                  </a:lnTo>
                  <a:lnTo>
                    <a:pt x="141" y="92"/>
                  </a:lnTo>
                  <a:lnTo>
                    <a:pt x="129" y="102"/>
                  </a:lnTo>
                  <a:lnTo>
                    <a:pt x="81" y="74"/>
                  </a:lnTo>
                  <a:lnTo>
                    <a:pt x="75" y="72"/>
                  </a:lnTo>
                  <a:lnTo>
                    <a:pt x="69" y="74"/>
                  </a:lnTo>
                  <a:lnTo>
                    <a:pt x="67" y="74"/>
                  </a:lnTo>
                  <a:lnTo>
                    <a:pt x="65" y="76"/>
                  </a:lnTo>
                  <a:lnTo>
                    <a:pt x="62" y="78"/>
                  </a:lnTo>
                  <a:lnTo>
                    <a:pt x="60" y="80"/>
                  </a:lnTo>
                  <a:lnTo>
                    <a:pt x="3" y="177"/>
                  </a:lnTo>
                  <a:lnTo>
                    <a:pt x="1" y="184"/>
                  </a:lnTo>
                  <a:lnTo>
                    <a:pt x="1" y="189"/>
                  </a:lnTo>
                  <a:lnTo>
                    <a:pt x="3" y="192"/>
                  </a:lnTo>
                  <a:lnTo>
                    <a:pt x="4" y="194"/>
                  </a:lnTo>
                  <a:lnTo>
                    <a:pt x="6" y="197"/>
                  </a:lnTo>
                  <a:lnTo>
                    <a:pt x="9" y="198"/>
                  </a:lnTo>
                  <a:lnTo>
                    <a:pt x="56" y="225"/>
                  </a:lnTo>
                  <a:lnTo>
                    <a:pt x="54" y="241"/>
                  </a:lnTo>
                  <a:lnTo>
                    <a:pt x="53" y="259"/>
                  </a:lnTo>
                  <a:lnTo>
                    <a:pt x="53" y="276"/>
                  </a:lnTo>
                  <a:lnTo>
                    <a:pt x="55" y="292"/>
                  </a:lnTo>
                  <a:lnTo>
                    <a:pt x="8" y="320"/>
                  </a:lnTo>
                  <a:lnTo>
                    <a:pt x="4" y="324"/>
                  </a:lnTo>
                  <a:lnTo>
                    <a:pt x="1" y="328"/>
                  </a:lnTo>
                  <a:lnTo>
                    <a:pt x="0" y="331"/>
                  </a:lnTo>
                  <a:lnTo>
                    <a:pt x="0" y="335"/>
                  </a:lnTo>
                  <a:lnTo>
                    <a:pt x="1" y="338"/>
                  </a:lnTo>
                  <a:lnTo>
                    <a:pt x="3" y="340"/>
                  </a:lnTo>
                  <a:lnTo>
                    <a:pt x="59" y="437"/>
                  </a:lnTo>
                  <a:lnTo>
                    <a:pt x="60" y="439"/>
                  </a:lnTo>
                  <a:lnTo>
                    <a:pt x="62" y="442"/>
                  </a:lnTo>
                  <a:lnTo>
                    <a:pt x="66" y="444"/>
                  </a:lnTo>
                  <a:lnTo>
                    <a:pt x="68" y="445"/>
                  </a:lnTo>
                  <a:lnTo>
                    <a:pt x="71" y="446"/>
                  </a:lnTo>
                  <a:lnTo>
                    <a:pt x="73" y="445"/>
                  </a:lnTo>
                  <a:lnTo>
                    <a:pt x="76" y="445"/>
                  </a:lnTo>
                  <a:lnTo>
                    <a:pt x="80" y="444"/>
                  </a:lnTo>
                  <a:lnTo>
                    <a:pt x="129" y="416"/>
                  </a:lnTo>
                  <a:lnTo>
                    <a:pt x="141" y="427"/>
                  </a:lnTo>
                  <a:lnTo>
                    <a:pt x="154" y="435"/>
                  </a:lnTo>
                  <a:lnTo>
                    <a:pt x="162" y="439"/>
                  </a:lnTo>
                  <a:lnTo>
                    <a:pt x="169" y="444"/>
                  </a:lnTo>
                  <a:lnTo>
                    <a:pt x="179" y="447"/>
                  </a:lnTo>
                  <a:lnTo>
                    <a:pt x="189" y="451"/>
                  </a:lnTo>
                  <a:lnTo>
                    <a:pt x="189" y="491"/>
                  </a:lnTo>
                  <a:lnTo>
                    <a:pt x="190" y="494"/>
                  </a:lnTo>
                  <a:lnTo>
                    <a:pt x="190" y="497"/>
                  </a:lnTo>
                  <a:lnTo>
                    <a:pt x="192" y="499"/>
                  </a:lnTo>
                  <a:lnTo>
                    <a:pt x="193" y="501"/>
                  </a:lnTo>
                  <a:lnTo>
                    <a:pt x="195" y="504"/>
                  </a:lnTo>
                  <a:lnTo>
                    <a:pt x="198" y="505"/>
                  </a:lnTo>
                  <a:lnTo>
                    <a:pt x="200" y="506"/>
                  </a:lnTo>
                  <a:lnTo>
                    <a:pt x="204" y="506"/>
                  </a:lnTo>
                  <a:lnTo>
                    <a:pt x="317" y="506"/>
                  </a:lnTo>
                  <a:lnTo>
                    <a:pt x="320" y="506"/>
                  </a:lnTo>
                  <a:lnTo>
                    <a:pt x="322" y="505"/>
                  </a:lnTo>
                  <a:lnTo>
                    <a:pt x="326" y="504"/>
                  </a:lnTo>
                  <a:lnTo>
                    <a:pt x="328" y="501"/>
                  </a:lnTo>
                  <a:lnTo>
                    <a:pt x="330" y="499"/>
                  </a:lnTo>
                  <a:lnTo>
                    <a:pt x="331" y="497"/>
                  </a:lnTo>
                  <a:lnTo>
                    <a:pt x="332" y="494"/>
                  </a:lnTo>
                  <a:lnTo>
                    <a:pt x="332" y="491"/>
                  </a:lnTo>
                  <a:lnTo>
                    <a:pt x="332" y="448"/>
                  </a:lnTo>
                  <a:lnTo>
                    <a:pt x="348" y="439"/>
                  </a:lnTo>
                  <a:lnTo>
                    <a:pt x="363" y="432"/>
                  </a:lnTo>
                  <a:lnTo>
                    <a:pt x="376" y="424"/>
                  </a:lnTo>
                  <a:lnTo>
                    <a:pt x="387" y="416"/>
                  </a:lnTo>
                  <a:lnTo>
                    <a:pt x="433" y="444"/>
                  </a:lnTo>
                  <a:lnTo>
                    <a:pt x="435" y="445"/>
                  </a:lnTo>
                  <a:lnTo>
                    <a:pt x="438" y="445"/>
                  </a:lnTo>
                  <a:lnTo>
                    <a:pt x="441" y="446"/>
                  </a:lnTo>
                  <a:lnTo>
                    <a:pt x="443" y="445"/>
                  </a:lnTo>
                  <a:lnTo>
                    <a:pt x="447" y="444"/>
                  </a:lnTo>
                  <a:lnTo>
                    <a:pt x="449" y="443"/>
                  </a:lnTo>
                  <a:lnTo>
                    <a:pt x="451" y="440"/>
                  </a:lnTo>
                  <a:lnTo>
                    <a:pt x="453" y="437"/>
                  </a:lnTo>
                  <a:lnTo>
                    <a:pt x="510" y="340"/>
                  </a:lnTo>
                  <a:lnTo>
                    <a:pt x="511" y="338"/>
                  </a:lnTo>
                  <a:lnTo>
                    <a:pt x="512" y="335"/>
                  </a:lnTo>
                  <a:lnTo>
                    <a:pt x="512" y="331"/>
                  </a:lnTo>
                  <a:lnTo>
                    <a:pt x="511" y="328"/>
                  </a:lnTo>
                  <a:lnTo>
                    <a:pt x="510" y="326"/>
                  </a:lnTo>
                  <a:lnTo>
                    <a:pt x="509" y="323"/>
                  </a:lnTo>
                  <a:lnTo>
                    <a:pt x="506" y="321"/>
                  </a:lnTo>
                  <a:lnTo>
                    <a:pt x="504" y="3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4358"/>
            <p:cNvSpPr>
              <a:spLocks noEditPoints="1"/>
            </p:cNvSpPr>
            <p:nvPr/>
          </p:nvSpPr>
          <p:spPr bwMode="auto">
            <a:xfrm>
              <a:off x="7048500" y="1509713"/>
              <a:ext cx="161925" cy="161925"/>
            </a:xfrm>
            <a:custGeom>
              <a:avLst/>
              <a:gdLst>
                <a:gd name="T0" fmla="*/ 229 w 511"/>
                <a:gd name="T1" fmla="*/ 335 h 509"/>
                <a:gd name="T2" fmla="*/ 198 w 511"/>
                <a:gd name="T3" fmla="*/ 319 h 509"/>
                <a:gd name="T4" fmla="*/ 176 w 511"/>
                <a:gd name="T5" fmla="*/ 292 h 509"/>
                <a:gd name="T6" fmla="*/ 166 w 511"/>
                <a:gd name="T7" fmla="*/ 258 h 509"/>
                <a:gd name="T8" fmla="*/ 169 w 511"/>
                <a:gd name="T9" fmla="*/ 223 h 509"/>
                <a:gd name="T10" fmla="*/ 186 w 511"/>
                <a:gd name="T11" fmla="*/ 191 h 509"/>
                <a:gd name="T12" fmla="*/ 213 w 511"/>
                <a:gd name="T13" fmla="*/ 169 h 509"/>
                <a:gd name="T14" fmla="*/ 246 w 511"/>
                <a:gd name="T15" fmla="*/ 158 h 509"/>
                <a:gd name="T16" fmla="*/ 282 w 511"/>
                <a:gd name="T17" fmla="*/ 163 h 509"/>
                <a:gd name="T18" fmla="*/ 313 w 511"/>
                <a:gd name="T19" fmla="*/ 179 h 509"/>
                <a:gd name="T20" fmla="*/ 335 w 511"/>
                <a:gd name="T21" fmla="*/ 206 h 509"/>
                <a:gd name="T22" fmla="*/ 346 w 511"/>
                <a:gd name="T23" fmla="*/ 240 h 509"/>
                <a:gd name="T24" fmla="*/ 342 w 511"/>
                <a:gd name="T25" fmla="*/ 276 h 509"/>
                <a:gd name="T26" fmla="*/ 325 w 511"/>
                <a:gd name="T27" fmla="*/ 306 h 509"/>
                <a:gd name="T28" fmla="*/ 298 w 511"/>
                <a:gd name="T29" fmla="*/ 328 h 509"/>
                <a:gd name="T30" fmla="*/ 265 w 511"/>
                <a:gd name="T31" fmla="*/ 338 h 509"/>
                <a:gd name="T32" fmla="*/ 511 w 511"/>
                <a:gd name="T33" fmla="*/ 173 h 509"/>
                <a:gd name="T34" fmla="*/ 450 w 511"/>
                <a:gd name="T35" fmla="*/ 67 h 509"/>
                <a:gd name="T36" fmla="*/ 441 w 511"/>
                <a:gd name="T37" fmla="*/ 63 h 509"/>
                <a:gd name="T38" fmla="*/ 386 w 511"/>
                <a:gd name="T39" fmla="*/ 92 h 509"/>
                <a:gd name="T40" fmla="*/ 332 w 511"/>
                <a:gd name="T41" fmla="*/ 59 h 509"/>
                <a:gd name="T42" fmla="*/ 329 w 511"/>
                <a:gd name="T43" fmla="*/ 6 h 509"/>
                <a:gd name="T44" fmla="*/ 320 w 511"/>
                <a:gd name="T45" fmla="*/ 0 h 509"/>
                <a:gd name="T46" fmla="*/ 198 w 511"/>
                <a:gd name="T47" fmla="*/ 1 h 509"/>
                <a:gd name="T48" fmla="*/ 190 w 511"/>
                <a:gd name="T49" fmla="*/ 9 h 509"/>
                <a:gd name="T50" fmla="*/ 179 w 511"/>
                <a:gd name="T51" fmla="*/ 61 h 509"/>
                <a:gd name="T52" fmla="*/ 141 w 511"/>
                <a:gd name="T53" fmla="*/ 81 h 509"/>
                <a:gd name="T54" fmla="*/ 68 w 511"/>
                <a:gd name="T55" fmla="*/ 63 h 509"/>
                <a:gd name="T56" fmla="*/ 60 w 511"/>
                <a:gd name="T57" fmla="*/ 70 h 509"/>
                <a:gd name="T58" fmla="*/ 1 w 511"/>
                <a:gd name="T59" fmla="*/ 177 h 509"/>
                <a:gd name="T60" fmla="*/ 5 w 511"/>
                <a:gd name="T61" fmla="*/ 186 h 509"/>
                <a:gd name="T62" fmla="*/ 52 w 511"/>
                <a:gd name="T63" fmla="*/ 249 h 509"/>
                <a:gd name="T64" fmla="*/ 5 w 511"/>
                <a:gd name="T65" fmla="*/ 311 h 509"/>
                <a:gd name="T66" fmla="*/ 0 w 511"/>
                <a:gd name="T67" fmla="*/ 322 h 509"/>
                <a:gd name="T68" fmla="*/ 59 w 511"/>
                <a:gd name="T69" fmla="*/ 429 h 509"/>
                <a:gd name="T70" fmla="*/ 74 w 511"/>
                <a:gd name="T71" fmla="*/ 435 h 509"/>
                <a:gd name="T72" fmla="*/ 140 w 511"/>
                <a:gd name="T73" fmla="*/ 416 h 509"/>
                <a:gd name="T74" fmla="*/ 179 w 511"/>
                <a:gd name="T75" fmla="*/ 438 h 509"/>
                <a:gd name="T76" fmla="*/ 190 w 511"/>
                <a:gd name="T77" fmla="*/ 500 h 509"/>
                <a:gd name="T78" fmla="*/ 198 w 511"/>
                <a:gd name="T79" fmla="*/ 508 h 509"/>
                <a:gd name="T80" fmla="*/ 320 w 511"/>
                <a:gd name="T81" fmla="*/ 509 h 509"/>
                <a:gd name="T82" fmla="*/ 329 w 511"/>
                <a:gd name="T83" fmla="*/ 503 h 509"/>
                <a:gd name="T84" fmla="*/ 332 w 511"/>
                <a:gd name="T85" fmla="*/ 439 h 509"/>
                <a:gd name="T86" fmla="*/ 387 w 511"/>
                <a:gd name="T87" fmla="*/ 407 h 509"/>
                <a:gd name="T88" fmla="*/ 441 w 511"/>
                <a:gd name="T89" fmla="*/ 435 h 509"/>
                <a:gd name="T90" fmla="*/ 450 w 511"/>
                <a:gd name="T91" fmla="*/ 431 h 509"/>
                <a:gd name="T92" fmla="*/ 511 w 511"/>
                <a:gd name="T93" fmla="*/ 324 h 509"/>
                <a:gd name="T94" fmla="*/ 504 w 511"/>
                <a:gd name="T95" fmla="*/ 309 h 509"/>
                <a:gd name="T96" fmla="*/ 459 w 511"/>
                <a:gd name="T97" fmla="*/ 233 h 509"/>
                <a:gd name="T98" fmla="*/ 508 w 511"/>
                <a:gd name="T99" fmla="*/ 18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1" h="509">
                  <a:moveTo>
                    <a:pt x="256" y="339"/>
                  </a:moveTo>
                  <a:lnTo>
                    <a:pt x="246" y="338"/>
                  </a:lnTo>
                  <a:lnTo>
                    <a:pt x="237" y="337"/>
                  </a:lnTo>
                  <a:lnTo>
                    <a:pt x="229" y="335"/>
                  </a:lnTo>
                  <a:lnTo>
                    <a:pt x="220" y="332"/>
                  </a:lnTo>
                  <a:lnTo>
                    <a:pt x="213" y="328"/>
                  </a:lnTo>
                  <a:lnTo>
                    <a:pt x="205" y="323"/>
                  </a:lnTo>
                  <a:lnTo>
                    <a:pt x="198" y="319"/>
                  </a:lnTo>
                  <a:lnTo>
                    <a:pt x="191" y="312"/>
                  </a:lnTo>
                  <a:lnTo>
                    <a:pt x="186" y="306"/>
                  </a:lnTo>
                  <a:lnTo>
                    <a:pt x="181" y="300"/>
                  </a:lnTo>
                  <a:lnTo>
                    <a:pt x="176" y="292"/>
                  </a:lnTo>
                  <a:lnTo>
                    <a:pt x="172" y="284"/>
                  </a:lnTo>
                  <a:lnTo>
                    <a:pt x="169" y="276"/>
                  </a:lnTo>
                  <a:lnTo>
                    <a:pt x="167" y="267"/>
                  </a:lnTo>
                  <a:lnTo>
                    <a:pt x="166" y="258"/>
                  </a:lnTo>
                  <a:lnTo>
                    <a:pt x="166" y="249"/>
                  </a:lnTo>
                  <a:lnTo>
                    <a:pt x="166" y="240"/>
                  </a:lnTo>
                  <a:lnTo>
                    <a:pt x="167" y="231"/>
                  </a:lnTo>
                  <a:lnTo>
                    <a:pt x="169" y="223"/>
                  </a:lnTo>
                  <a:lnTo>
                    <a:pt x="172" y="214"/>
                  </a:lnTo>
                  <a:lnTo>
                    <a:pt x="176" y="206"/>
                  </a:lnTo>
                  <a:lnTo>
                    <a:pt x="181" y="199"/>
                  </a:lnTo>
                  <a:lnTo>
                    <a:pt x="186" y="191"/>
                  </a:lnTo>
                  <a:lnTo>
                    <a:pt x="191" y="185"/>
                  </a:lnTo>
                  <a:lnTo>
                    <a:pt x="198" y="179"/>
                  </a:lnTo>
                  <a:lnTo>
                    <a:pt x="205" y="173"/>
                  </a:lnTo>
                  <a:lnTo>
                    <a:pt x="213" y="169"/>
                  </a:lnTo>
                  <a:lnTo>
                    <a:pt x="220" y="165"/>
                  </a:lnTo>
                  <a:lnTo>
                    <a:pt x="229" y="163"/>
                  </a:lnTo>
                  <a:lnTo>
                    <a:pt x="237" y="159"/>
                  </a:lnTo>
                  <a:lnTo>
                    <a:pt x="246" y="158"/>
                  </a:lnTo>
                  <a:lnTo>
                    <a:pt x="256" y="158"/>
                  </a:lnTo>
                  <a:lnTo>
                    <a:pt x="265" y="158"/>
                  </a:lnTo>
                  <a:lnTo>
                    <a:pt x="274" y="159"/>
                  </a:lnTo>
                  <a:lnTo>
                    <a:pt x="282" y="163"/>
                  </a:lnTo>
                  <a:lnTo>
                    <a:pt x="291" y="165"/>
                  </a:lnTo>
                  <a:lnTo>
                    <a:pt x="298" y="169"/>
                  </a:lnTo>
                  <a:lnTo>
                    <a:pt x="306" y="173"/>
                  </a:lnTo>
                  <a:lnTo>
                    <a:pt x="313" y="179"/>
                  </a:lnTo>
                  <a:lnTo>
                    <a:pt x="320" y="185"/>
                  </a:lnTo>
                  <a:lnTo>
                    <a:pt x="325" y="191"/>
                  </a:lnTo>
                  <a:lnTo>
                    <a:pt x="331" y="199"/>
                  </a:lnTo>
                  <a:lnTo>
                    <a:pt x="335" y="206"/>
                  </a:lnTo>
                  <a:lnTo>
                    <a:pt x="339" y="214"/>
                  </a:lnTo>
                  <a:lnTo>
                    <a:pt x="342" y="223"/>
                  </a:lnTo>
                  <a:lnTo>
                    <a:pt x="344" y="231"/>
                  </a:lnTo>
                  <a:lnTo>
                    <a:pt x="346" y="240"/>
                  </a:lnTo>
                  <a:lnTo>
                    <a:pt x="347" y="249"/>
                  </a:lnTo>
                  <a:lnTo>
                    <a:pt x="346" y="258"/>
                  </a:lnTo>
                  <a:lnTo>
                    <a:pt x="344" y="267"/>
                  </a:lnTo>
                  <a:lnTo>
                    <a:pt x="342" y="276"/>
                  </a:lnTo>
                  <a:lnTo>
                    <a:pt x="339" y="284"/>
                  </a:lnTo>
                  <a:lnTo>
                    <a:pt x="335" y="292"/>
                  </a:lnTo>
                  <a:lnTo>
                    <a:pt x="331" y="300"/>
                  </a:lnTo>
                  <a:lnTo>
                    <a:pt x="325" y="306"/>
                  </a:lnTo>
                  <a:lnTo>
                    <a:pt x="320" y="312"/>
                  </a:lnTo>
                  <a:lnTo>
                    <a:pt x="313" y="319"/>
                  </a:lnTo>
                  <a:lnTo>
                    <a:pt x="306" y="323"/>
                  </a:lnTo>
                  <a:lnTo>
                    <a:pt x="298" y="328"/>
                  </a:lnTo>
                  <a:lnTo>
                    <a:pt x="291" y="332"/>
                  </a:lnTo>
                  <a:lnTo>
                    <a:pt x="282" y="335"/>
                  </a:lnTo>
                  <a:lnTo>
                    <a:pt x="274" y="337"/>
                  </a:lnTo>
                  <a:lnTo>
                    <a:pt x="265" y="338"/>
                  </a:lnTo>
                  <a:lnTo>
                    <a:pt x="256" y="339"/>
                  </a:lnTo>
                  <a:close/>
                  <a:moveTo>
                    <a:pt x="510" y="179"/>
                  </a:moveTo>
                  <a:lnTo>
                    <a:pt x="511" y="177"/>
                  </a:lnTo>
                  <a:lnTo>
                    <a:pt x="511" y="173"/>
                  </a:lnTo>
                  <a:lnTo>
                    <a:pt x="510" y="171"/>
                  </a:lnTo>
                  <a:lnTo>
                    <a:pt x="509" y="168"/>
                  </a:lnTo>
                  <a:lnTo>
                    <a:pt x="453" y="70"/>
                  </a:lnTo>
                  <a:lnTo>
                    <a:pt x="450" y="67"/>
                  </a:lnTo>
                  <a:lnTo>
                    <a:pt x="448" y="65"/>
                  </a:lnTo>
                  <a:lnTo>
                    <a:pt x="446" y="64"/>
                  </a:lnTo>
                  <a:lnTo>
                    <a:pt x="443" y="64"/>
                  </a:lnTo>
                  <a:lnTo>
                    <a:pt x="441" y="63"/>
                  </a:lnTo>
                  <a:lnTo>
                    <a:pt x="438" y="63"/>
                  </a:lnTo>
                  <a:lnTo>
                    <a:pt x="434" y="63"/>
                  </a:lnTo>
                  <a:lnTo>
                    <a:pt x="432" y="65"/>
                  </a:lnTo>
                  <a:lnTo>
                    <a:pt x="386" y="92"/>
                  </a:lnTo>
                  <a:lnTo>
                    <a:pt x="375" y="83"/>
                  </a:lnTo>
                  <a:lnTo>
                    <a:pt x="363" y="75"/>
                  </a:lnTo>
                  <a:lnTo>
                    <a:pt x="348" y="67"/>
                  </a:lnTo>
                  <a:lnTo>
                    <a:pt x="332" y="59"/>
                  </a:lnTo>
                  <a:lnTo>
                    <a:pt x="332" y="14"/>
                  </a:lnTo>
                  <a:lnTo>
                    <a:pt x="332" y="12"/>
                  </a:lnTo>
                  <a:lnTo>
                    <a:pt x="331" y="9"/>
                  </a:lnTo>
                  <a:lnTo>
                    <a:pt x="329" y="6"/>
                  </a:lnTo>
                  <a:lnTo>
                    <a:pt x="327" y="4"/>
                  </a:lnTo>
                  <a:lnTo>
                    <a:pt x="325" y="2"/>
                  </a:lnTo>
                  <a:lnTo>
                    <a:pt x="323" y="1"/>
                  </a:lnTo>
                  <a:lnTo>
                    <a:pt x="320" y="0"/>
                  </a:lnTo>
                  <a:lnTo>
                    <a:pt x="317" y="0"/>
                  </a:lnTo>
                  <a:lnTo>
                    <a:pt x="203" y="0"/>
                  </a:lnTo>
                  <a:lnTo>
                    <a:pt x="201" y="0"/>
                  </a:lnTo>
                  <a:lnTo>
                    <a:pt x="198" y="1"/>
                  </a:lnTo>
                  <a:lnTo>
                    <a:pt x="196" y="2"/>
                  </a:lnTo>
                  <a:lnTo>
                    <a:pt x="194" y="4"/>
                  </a:lnTo>
                  <a:lnTo>
                    <a:pt x="191" y="6"/>
                  </a:lnTo>
                  <a:lnTo>
                    <a:pt x="190" y="9"/>
                  </a:lnTo>
                  <a:lnTo>
                    <a:pt x="189" y="12"/>
                  </a:lnTo>
                  <a:lnTo>
                    <a:pt x="188" y="14"/>
                  </a:lnTo>
                  <a:lnTo>
                    <a:pt x="188" y="58"/>
                  </a:lnTo>
                  <a:lnTo>
                    <a:pt x="179" y="61"/>
                  </a:lnTo>
                  <a:lnTo>
                    <a:pt x="170" y="64"/>
                  </a:lnTo>
                  <a:lnTo>
                    <a:pt x="161" y="68"/>
                  </a:lnTo>
                  <a:lnTo>
                    <a:pt x="154" y="72"/>
                  </a:lnTo>
                  <a:lnTo>
                    <a:pt x="141" y="81"/>
                  </a:lnTo>
                  <a:lnTo>
                    <a:pt x="128" y="92"/>
                  </a:lnTo>
                  <a:lnTo>
                    <a:pt x="80" y="64"/>
                  </a:lnTo>
                  <a:lnTo>
                    <a:pt x="75" y="62"/>
                  </a:lnTo>
                  <a:lnTo>
                    <a:pt x="68" y="63"/>
                  </a:lnTo>
                  <a:lnTo>
                    <a:pt x="66" y="64"/>
                  </a:lnTo>
                  <a:lnTo>
                    <a:pt x="64" y="65"/>
                  </a:lnTo>
                  <a:lnTo>
                    <a:pt x="62" y="67"/>
                  </a:lnTo>
                  <a:lnTo>
                    <a:pt x="60" y="70"/>
                  </a:lnTo>
                  <a:lnTo>
                    <a:pt x="3" y="168"/>
                  </a:lnTo>
                  <a:lnTo>
                    <a:pt x="2" y="171"/>
                  </a:lnTo>
                  <a:lnTo>
                    <a:pt x="1" y="173"/>
                  </a:lnTo>
                  <a:lnTo>
                    <a:pt x="1" y="177"/>
                  </a:lnTo>
                  <a:lnTo>
                    <a:pt x="1" y="179"/>
                  </a:lnTo>
                  <a:lnTo>
                    <a:pt x="2" y="182"/>
                  </a:lnTo>
                  <a:lnTo>
                    <a:pt x="4" y="184"/>
                  </a:lnTo>
                  <a:lnTo>
                    <a:pt x="5" y="186"/>
                  </a:lnTo>
                  <a:lnTo>
                    <a:pt x="8" y="188"/>
                  </a:lnTo>
                  <a:lnTo>
                    <a:pt x="56" y="216"/>
                  </a:lnTo>
                  <a:lnTo>
                    <a:pt x="53" y="233"/>
                  </a:lnTo>
                  <a:lnTo>
                    <a:pt x="52" y="249"/>
                  </a:lnTo>
                  <a:lnTo>
                    <a:pt x="53" y="265"/>
                  </a:lnTo>
                  <a:lnTo>
                    <a:pt x="56" y="282"/>
                  </a:lnTo>
                  <a:lnTo>
                    <a:pt x="7" y="309"/>
                  </a:lnTo>
                  <a:lnTo>
                    <a:pt x="5" y="311"/>
                  </a:lnTo>
                  <a:lnTo>
                    <a:pt x="3" y="313"/>
                  </a:lnTo>
                  <a:lnTo>
                    <a:pt x="2" y="317"/>
                  </a:lnTo>
                  <a:lnTo>
                    <a:pt x="1" y="320"/>
                  </a:lnTo>
                  <a:lnTo>
                    <a:pt x="0" y="322"/>
                  </a:lnTo>
                  <a:lnTo>
                    <a:pt x="0" y="324"/>
                  </a:lnTo>
                  <a:lnTo>
                    <a:pt x="1" y="327"/>
                  </a:lnTo>
                  <a:lnTo>
                    <a:pt x="2" y="330"/>
                  </a:lnTo>
                  <a:lnTo>
                    <a:pt x="59" y="429"/>
                  </a:lnTo>
                  <a:lnTo>
                    <a:pt x="63" y="432"/>
                  </a:lnTo>
                  <a:lnTo>
                    <a:pt x="67" y="434"/>
                  </a:lnTo>
                  <a:lnTo>
                    <a:pt x="71" y="435"/>
                  </a:lnTo>
                  <a:lnTo>
                    <a:pt x="74" y="435"/>
                  </a:lnTo>
                  <a:lnTo>
                    <a:pt x="76" y="434"/>
                  </a:lnTo>
                  <a:lnTo>
                    <a:pt x="79" y="433"/>
                  </a:lnTo>
                  <a:lnTo>
                    <a:pt x="128" y="407"/>
                  </a:lnTo>
                  <a:lnTo>
                    <a:pt x="140" y="416"/>
                  </a:lnTo>
                  <a:lnTo>
                    <a:pt x="154" y="426"/>
                  </a:lnTo>
                  <a:lnTo>
                    <a:pt x="161" y="430"/>
                  </a:lnTo>
                  <a:lnTo>
                    <a:pt x="169" y="434"/>
                  </a:lnTo>
                  <a:lnTo>
                    <a:pt x="179" y="438"/>
                  </a:lnTo>
                  <a:lnTo>
                    <a:pt x="188" y="441"/>
                  </a:lnTo>
                  <a:lnTo>
                    <a:pt x="188" y="494"/>
                  </a:lnTo>
                  <a:lnTo>
                    <a:pt x="189" y="497"/>
                  </a:lnTo>
                  <a:lnTo>
                    <a:pt x="190" y="500"/>
                  </a:lnTo>
                  <a:lnTo>
                    <a:pt x="191" y="503"/>
                  </a:lnTo>
                  <a:lnTo>
                    <a:pt x="194" y="505"/>
                  </a:lnTo>
                  <a:lnTo>
                    <a:pt x="196" y="507"/>
                  </a:lnTo>
                  <a:lnTo>
                    <a:pt x="198" y="508"/>
                  </a:lnTo>
                  <a:lnTo>
                    <a:pt x="201" y="509"/>
                  </a:lnTo>
                  <a:lnTo>
                    <a:pt x="203" y="509"/>
                  </a:lnTo>
                  <a:lnTo>
                    <a:pt x="317" y="509"/>
                  </a:lnTo>
                  <a:lnTo>
                    <a:pt x="320" y="509"/>
                  </a:lnTo>
                  <a:lnTo>
                    <a:pt x="323" y="508"/>
                  </a:lnTo>
                  <a:lnTo>
                    <a:pt x="325" y="507"/>
                  </a:lnTo>
                  <a:lnTo>
                    <a:pt x="327" y="505"/>
                  </a:lnTo>
                  <a:lnTo>
                    <a:pt x="329" y="503"/>
                  </a:lnTo>
                  <a:lnTo>
                    <a:pt x="331" y="500"/>
                  </a:lnTo>
                  <a:lnTo>
                    <a:pt x="332" y="497"/>
                  </a:lnTo>
                  <a:lnTo>
                    <a:pt x="332" y="494"/>
                  </a:lnTo>
                  <a:lnTo>
                    <a:pt x="332" y="439"/>
                  </a:lnTo>
                  <a:lnTo>
                    <a:pt x="348" y="431"/>
                  </a:lnTo>
                  <a:lnTo>
                    <a:pt x="363" y="423"/>
                  </a:lnTo>
                  <a:lnTo>
                    <a:pt x="375" y="414"/>
                  </a:lnTo>
                  <a:lnTo>
                    <a:pt x="387" y="407"/>
                  </a:lnTo>
                  <a:lnTo>
                    <a:pt x="432" y="433"/>
                  </a:lnTo>
                  <a:lnTo>
                    <a:pt x="434" y="434"/>
                  </a:lnTo>
                  <a:lnTo>
                    <a:pt x="438" y="435"/>
                  </a:lnTo>
                  <a:lnTo>
                    <a:pt x="441" y="435"/>
                  </a:lnTo>
                  <a:lnTo>
                    <a:pt x="443" y="434"/>
                  </a:lnTo>
                  <a:lnTo>
                    <a:pt x="446" y="434"/>
                  </a:lnTo>
                  <a:lnTo>
                    <a:pt x="448" y="432"/>
                  </a:lnTo>
                  <a:lnTo>
                    <a:pt x="450" y="431"/>
                  </a:lnTo>
                  <a:lnTo>
                    <a:pt x="453" y="429"/>
                  </a:lnTo>
                  <a:lnTo>
                    <a:pt x="509" y="330"/>
                  </a:lnTo>
                  <a:lnTo>
                    <a:pt x="510" y="327"/>
                  </a:lnTo>
                  <a:lnTo>
                    <a:pt x="511" y="324"/>
                  </a:lnTo>
                  <a:lnTo>
                    <a:pt x="511" y="322"/>
                  </a:lnTo>
                  <a:lnTo>
                    <a:pt x="510" y="320"/>
                  </a:lnTo>
                  <a:lnTo>
                    <a:pt x="508" y="313"/>
                  </a:lnTo>
                  <a:lnTo>
                    <a:pt x="504" y="309"/>
                  </a:lnTo>
                  <a:lnTo>
                    <a:pt x="457" y="282"/>
                  </a:lnTo>
                  <a:lnTo>
                    <a:pt x="459" y="265"/>
                  </a:lnTo>
                  <a:lnTo>
                    <a:pt x="459" y="249"/>
                  </a:lnTo>
                  <a:lnTo>
                    <a:pt x="459" y="233"/>
                  </a:lnTo>
                  <a:lnTo>
                    <a:pt x="457" y="216"/>
                  </a:lnTo>
                  <a:lnTo>
                    <a:pt x="504" y="188"/>
                  </a:lnTo>
                  <a:lnTo>
                    <a:pt x="506" y="186"/>
                  </a:lnTo>
                  <a:lnTo>
                    <a:pt x="508" y="184"/>
                  </a:lnTo>
                  <a:lnTo>
                    <a:pt x="509" y="182"/>
                  </a:lnTo>
                  <a:lnTo>
                    <a:pt x="510" y="1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0" name="Freeform 776"/>
          <p:cNvSpPr>
            <a:spLocks/>
          </p:cNvSpPr>
          <p:nvPr/>
        </p:nvSpPr>
        <p:spPr bwMode="auto">
          <a:xfrm>
            <a:off x="10534714" y="2288570"/>
            <a:ext cx="287338" cy="287338"/>
          </a:xfrm>
          <a:custGeom>
            <a:avLst/>
            <a:gdLst>
              <a:gd name="T0" fmla="*/ 748 w 903"/>
              <a:gd name="T1" fmla="*/ 5 h 903"/>
              <a:gd name="T2" fmla="*/ 707 w 903"/>
              <a:gd name="T3" fmla="*/ 28 h 903"/>
              <a:gd name="T4" fmla="*/ 677 w 903"/>
              <a:gd name="T5" fmla="*/ 63 h 903"/>
              <a:gd name="T6" fmla="*/ 663 w 903"/>
              <a:gd name="T7" fmla="*/ 108 h 903"/>
              <a:gd name="T8" fmla="*/ 665 w 903"/>
              <a:gd name="T9" fmla="*/ 146 h 903"/>
              <a:gd name="T10" fmla="*/ 678 w 903"/>
              <a:gd name="T11" fmla="*/ 178 h 903"/>
              <a:gd name="T12" fmla="*/ 697 w 903"/>
              <a:gd name="T13" fmla="*/ 205 h 903"/>
              <a:gd name="T14" fmla="*/ 724 w 903"/>
              <a:gd name="T15" fmla="*/ 225 h 903"/>
              <a:gd name="T16" fmla="*/ 633 w 903"/>
              <a:gd name="T17" fmla="*/ 451 h 903"/>
              <a:gd name="T18" fmla="*/ 584 w 903"/>
              <a:gd name="T19" fmla="*/ 462 h 903"/>
              <a:gd name="T20" fmla="*/ 544 w 903"/>
              <a:gd name="T21" fmla="*/ 491 h 903"/>
              <a:gd name="T22" fmla="*/ 451 w 903"/>
              <a:gd name="T23" fmla="*/ 376 h 903"/>
              <a:gd name="T24" fmla="*/ 446 w 903"/>
              <a:gd name="T25" fmla="*/ 325 h 903"/>
              <a:gd name="T26" fmla="*/ 425 w 903"/>
              <a:gd name="T27" fmla="*/ 284 h 903"/>
              <a:gd name="T28" fmla="*/ 388 w 903"/>
              <a:gd name="T29" fmla="*/ 255 h 903"/>
              <a:gd name="T30" fmla="*/ 343 w 903"/>
              <a:gd name="T31" fmla="*/ 241 h 903"/>
              <a:gd name="T32" fmla="*/ 296 w 903"/>
              <a:gd name="T33" fmla="*/ 247 h 903"/>
              <a:gd name="T34" fmla="*/ 255 w 903"/>
              <a:gd name="T35" fmla="*/ 268 h 903"/>
              <a:gd name="T36" fmla="*/ 225 w 903"/>
              <a:gd name="T37" fmla="*/ 303 h 903"/>
              <a:gd name="T38" fmla="*/ 211 w 903"/>
              <a:gd name="T39" fmla="*/ 348 h 903"/>
              <a:gd name="T40" fmla="*/ 220 w 903"/>
              <a:gd name="T41" fmla="*/ 405 h 903"/>
              <a:gd name="T42" fmla="*/ 253 w 903"/>
              <a:gd name="T43" fmla="*/ 453 h 903"/>
              <a:gd name="T44" fmla="*/ 142 w 903"/>
              <a:gd name="T45" fmla="*/ 664 h 903"/>
              <a:gd name="T46" fmla="*/ 97 w 903"/>
              <a:gd name="T47" fmla="*/ 665 h 903"/>
              <a:gd name="T48" fmla="*/ 54 w 903"/>
              <a:gd name="T49" fmla="*/ 683 h 903"/>
              <a:gd name="T50" fmla="*/ 20 w 903"/>
              <a:gd name="T51" fmla="*/ 715 h 903"/>
              <a:gd name="T52" fmla="*/ 2 w 903"/>
              <a:gd name="T53" fmla="*/ 758 h 903"/>
              <a:gd name="T54" fmla="*/ 2 w 903"/>
              <a:gd name="T55" fmla="*/ 806 h 903"/>
              <a:gd name="T56" fmla="*/ 20 w 903"/>
              <a:gd name="T57" fmla="*/ 849 h 903"/>
              <a:gd name="T58" fmla="*/ 54 w 903"/>
              <a:gd name="T59" fmla="*/ 883 h 903"/>
              <a:gd name="T60" fmla="*/ 97 w 903"/>
              <a:gd name="T61" fmla="*/ 901 h 903"/>
              <a:gd name="T62" fmla="*/ 145 w 903"/>
              <a:gd name="T63" fmla="*/ 901 h 903"/>
              <a:gd name="T64" fmla="*/ 188 w 903"/>
              <a:gd name="T65" fmla="*/ 883 h 903"/>
              <a:gd name="T66" fmla="*/ 221 w 903"/>
              <a:gd name="T67" fmla="*/ 849 h 903"/>
              <a:gd name="T68" fmla="*/ 238 w 903"/>
              <a:gd name="T69" fmla="*/ 806 h 903"/>
              <a:gd name="T70" fmla="*/ 237 w 903"/>
              <a:gd name="T71" fmla="*/ 753 h 903"/>
              <a:gd name="T72" fmla="*/ 209 w 903"/>
              <a:gd name="T73" fmla="*/ 701 h 903"/>
              <a:gd name="T74" fmla="*/ 301 w 903"/>
              <a:gd name="T75" fmla="*/ 477 h 903"/>
              <a:gd name="T76" fmla="*/ 344 w 903"/>
              <a:gd name="T77" fmla="*/ 480 h 903"/>
              <a:gd name="T78" fmla="*/ 392 w 903"/>
              <a:gd name="T79" fmla="*/ 465 h 903"/>
              <a:gd name="T80" fmla="*/ 526 w 903"/>
              <a:gd name="T81" fmla="*/ 516 h 903"/>
              <a:gd name="T82" fmla="*/ 512 w 903"/>
              <a:gd name="T83" fmla="*/ 572 h 903"/>
              <a:gd name="T84" fmla="*/ 521 w 903"/>
              <a:gd name="T85" fmla="*/ 619 h 903"/>
              <a:gd name="T86" fmla="*/ 547 w 903"/>
              <a:gd name="T87" fmla="*/ 657 h 903"/>
              <a:gd name="T88" fmla="*/ 586 w 903"/>
              <a:gd name="T89" fmla="*/ 683 h 903"/>
              <a:gd name="T90" fmla="*/ 633 w 903"/>
              <a:gd name="T91" fmla="*/ 693 h 903"/>
              <a:gd name="T92" fmla="*/ 679 w 903"/>
              <a:gd name="T93" fmla="*/ 683 h 903"/>
              <a:gd name="T94" fmla="*/ 718 w 903"/>
              <a:gd name="T95" fmla="*/ 657 h 903"/>
              <a:gd name="T96" fmla="*/ 743 w 903"/>
              <a:gd name="T97" fmla="*/ 619 h 903"/>
              <a:gd name="T98" fmla="*/ 753 w 903"/>
              <a:gd name="T99" fmla="*/ 572 h 903"/>
              <a:gd name="T100" fmla="*/ 748 w 903"/>
              <a:gd name="T101" fmla="*/ 537 h 903"/>
              <a:gd name="T102" fmla="*/ 734 w 903"/>
              <a:gd name="T103" fmla="*/ 507 h 903"/>
              <a:gd name="T104" fmla="*/ 712 w 903"/>
              <a:gd name="T105" fmla="*/ 481 h 903"/>
              <a:gd name="T106" fmla="*/ 684 w 903"/>
              <a:gd name="T107" fmla="*/ 463 h 903"/>
              <a:gd name="T108" fmla="*/ 795 w 903"/>
              <a:gd name="T109" fmla="*/ 240 h 903"/>
              <a:gd name="T110" fmla="*/ 841 w 903"/>
              <a:gd name="T111" fmla="*/ 226 h 903"/>
              <a:gd name="T112" fmla="*/ 876 w 903"/>
              <a:gd name="T113" fmla="*/ 197 h 903"/>
              <a:gd name="T114" fmla="*/ 898 w 903"/>
              <a:gd name="T115" fmla="*/ 156 h 903"/>
              <a:gd name="T116" fmla="*/ 903 w 903"/>
              <a:gd name="T117" fmla="*/ 108 h 903"/>
              <a:gd name="T118" fmla="*/ 889 w 903"/>
              <a:gd name="T119" fmla="*/ 63 h 903"/>
              <a:gd name="T120" fmla="*/ 859 w 903"/>
              <a:gd name="T121" fmla="*/ 28 h 903"/>
              <a:gd name="T122" fmla="*/ 818 w 903"/>
              <a:gd name="T123" fmla="*/ 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3" h="903">
                <a:moveTo>
                  <a:pt x="783" y="0"/>
                </a:moveTo>
                <a:lnTo>
                  <a:pt x="771" y="0"/>
                </a:lnTo>
                <a:lnTo>
                  <a:pt x="758" y="2"/>
                </a:lnTo>
                <a:lnTo>
                  <a:pt x="748" y="5"/>
                </a:lnTo>
                <a:lnTo>
                  <a:pt x="736" y="10"/>
                </a:lnTo>
                <a:lnTo>
                  <a:pt x="726" y="14"/>
                </a:lnTo>
                <a:lnTo>
                  <a:pt x="715" y="20"/>
                </a:lnTo>
                <a:lnTo>
                  <a:pt x="707" y="28"/>
                </a:lnTo>
                <a:lnTo>
                  <a:pt x="698" y="35"/>
                </a:lnTo>
                <a:lnTo>
                  <a:pt x="690" y="44"/>
                </a:lnTo>
                <a:lnTo>
                  <a:pt x="683" y="52"/>
                </a:lnTo>
                <a:lnTo>
                  <a:pt x="677" y="63"/>
                </a:lnTo>
                <a:lnTo>
                  <a:pt x="673" y="74"/>
                </a:lnTo>
                <a:lnTo>
                  <a:pt x="668" y="85"/>
                </a:lnTo>
                <a:lnTo>
                  <a:pt x="665" y="96"/>
                </a:lnTo>
                <a:lnTo>
                  <a:pt x="663" y="108"/>
                </a:lnTo>
                <a:lnTo>
                  <a:pt x="663" y="120"/>
                </a:lnTo>
                <a:lnTo>
                  <a:pt x="663" y="129"/>
                </a:lnTo>
                <a:lnTo>
                  <a:pt x="664" y="138"/>
                </a:lnTo>
                <a:lnTo>
                  <a:pt x="665" y="146"/>
                </a:lnTo>
                <a:lnTo>
                  <a:pt x="667" y="154"/>
                </a:lnTo>
                <a:lnTo>
                  <a:pt x="670" y="163"/>
                </a:lnTo>
                <a:lnTo>
                  <a:pt x="674" y="170"/>
                </a:lnTo>
                <a:lnTo>
                  <a:pt x="678" y="178"/>
                </a:lnTo>
                <a:lnTo>
                  <a:pt x="682" y="185"/>
                </a:lnTo>
                <a:lnTo>
                  <a:pt x="686" y="192"/>
                </a:lnTo>
                <a:lnTo>
                  <a:pt x="692" y="198"/>
                </a:lnTo>
                <a:lnTo>
                  <a:pt x="697" y="205"/>
                </a:lnTo>
                <a:lnTo>
                  <a:pt x="704" y="210"/>
                </a:lnTo>
                <a:lnTo>
                  <a:pt x="710" y="215"/>
                </a:lnTo>
                <a:lnTo>
                  <a:pt x="717" y="221"/>
                </a:lnTo>
                <a:lnTo>
                  <a:pt x="724" y="225"/>
                </a:lnTo>
                <a:lnTo>
                  <a:pt x="730" y="228"/>
                </a:lnTo>
                <a:lnTo>
                  <a:pt x="656" y="454"/>
                </a:lnTo>
                <a:lnTo>
                  <a:pt x="645" y="451"/>
                </a:lnTo>
                <a:lnTo>
                  <a:pt x="633" y="451"/>
                </a:lnTo>
                <a:lnTo>
                  <a:pt x="619" y="453"/>
                </a:lnTo>
                <a:lnTo>
                  <a:pt x="607" y="455"/>
                </a:lnTo>
                <a:lnTo>
                  <a:pt x="594" y="458"/>
                </a:lnTo>
                <a:lnTo>
                  <a:pt x="584" y="462"/>
                </a:lnTo>
                <a:lnTo>
                  <a:pt x="572" y="468"/>
                </a:lnTo>
                <a:lnTo>
                  <a:pt x="562" y="475"/>
                </a:lnTo>
                <a:lnTo>
                  <a:pt x="552" y="483"/>
                </a:lnTo>
                <a:lnTo>
                  <a:pt x="544" y="491"/>
                </a:lnTo>
                <a:lnTo>
                  <a:pt x="438" y="417"/>
                </a:lnTo>
                <a:lnTo>
                  <a:pt x="444" y="404"/>
                </a:lnTo>
                <a:lnTo>
                  <a:pt x="448" y="390"/>
                </a:lnTo>
                <a:lnTo>
                  <a:pt x="451" y="376"/>
                </a:lnTo>
                <a:lnTo>
                  <a:pt x="452" y="361"/>
                </a:lnTo>
                <a:lnTo>
                  <a:pt x="452" y="348"/>
                </a:lnTo>
                <a:lnTo>
                  <a:pt x="449" y="337"/>
                </a:lnTo>
                <a:lnTo>
                  <a:pt x="446" y="325"/>
                </a:lnTo>
                <a:lnTo>
                  <a:pt x="442" y="314"/>
                </a:lnTo>
                <a:lnTo>
                  <a:pt x="438" y="303"/>
                </a:lnTo>
                <a:lnTo>
                  <a:pt x="431" y="294"/>
                </a:lnTo>
                <a:lnTo>
                  <a:pt x="425" y="284"/>
                </a:lnTo>
                <a:lnTo>
                  <a:pt x="416" y="276"/>
                </a:lnTo>
                <a:lnTo>
                  <a:pt x="408" y="268"/>
                </a:lnTo>
                <a:lnTo>
                  <a:pt x="399" y="262"/>
                </a:lnTo>
                <a:lnTo>
                  <a:pt x="388" y="255"/>
                </a:lnTo>
                <a:lnTo>
                  <a:pt x="379" y="250"/>
                </a:lnTo>
                <a:lnTo>
                  <a:pt x="367" y="247"/>
                </a:lnTo>
                <a:lnTo>
                  <a:pt x="356" y="243"/>
                </a:lnTo>
                <a:lnTo>
                  <a:pt x="343" y="241"/>
                </a:lnTo>
                <a:lnTo>
                  <a:pt x="331" y="240"/>
                </a:lnTo>
                <a:lnTo>
                  <a:pt x="320" y="241"/>
                </a:lnTo>
                <a:lnTo>
                  <a:pt x="307" y="243"/>
                </a:lnTo>
                <a:lnTo>
                  <a:pt x="296" y="247"/>
                </a:lnTo>
                <a:lnTo>
                  <a:pt x="284" y="250"/>
                </a:lnTo>
                <a:lnTo>
                  <a:pt x="275" y="255"/>
                </a:lnTo>
                <a:lnTo>
                  <a:pt x="264" y="262"/>
                </a:lnTo>
                <a:lnTo>
                  <a:pt x="255" y="268"/>
                </a:lnTo>
                <a:lnTo>
                  <a:pt x="247" y="276"/>
                </a:lnTo>
                <a:lnTo>
                  <a:pt x="238" y="284"/>
                </a:lnTo>
                <a:lnTo>
                  <a:pt x="232" y="294"/>
                </a:lnTo>
                <a:lnTo>
                  <a:pt x="225" y="303"/>
                </a:lnTo>
                <a:lnTo>
                  <a:pt x="221" y="314"/>
                </a:lnTo>
                <a:lnTo>
                  <a:pt x="217" y="325"/>
                </a:lnTo>
                <a:lnTo>
                  <a:pt x="214" y="337"/>
                </a:lnTo>
                <a:lnTo>
                  <a:pt x="211" y="348"/>
                </a:lnTo>
                <a:lnTo>
                  <a:pt x="211" y="361"/>
                </a:lnTo>
                <a:lnTo>
                  <a:pt x="212" y="376"/>
                </a:lnTo>
                <a:lnTo>
                  <a:pt x="215" y="391"/>
                </a:lnTo>
                <a:lnTo>
                  <a:pt x="220" y="405"/>
                </a:lnTo>
                <a:lnTo>
                  <a:pt x="225" y="418"/>
                </a:lnTo>
                <a:lnTo>
                  <a:pt x="234" y="431"/>
                </a:lnTo>
                <a:lnTo>
                  <a:pt x="242" y="442"/>
                </a:lnTo>
                <a:lnTo>
                  <a:pt x="253" y="453"/>
                </a:lnTo>
                <a:lnTo>
                  <a:pt x="265" y="461"/>
                </a:lnTo>
                <a:lnTo>
                  <a:pt x="161" y="669"/>
                </a:lnTo>
                <a:lnTo>
                  <a:pt x="151" y="666"/>
                </a:lnTo>
                <a:lnTo>
                  <a:pt x="142" y="664"/>
                </a:lnTo>
                <a:lnTo>
                  <a:pt x="131" y="663"/>
                </a:lnTo>
                <a:lnTo>
                  <a:pt x="120" y="662"/>
                </a:lnTo>
                <a:lnTo>
                  <a:pt x="108" y="663"/>
                </a:lnTo>
                <a:lnTo>
                  <a:pt x="97" y="665"/>
                </a:lnTo>
                <a:lnTo>
                  <a:pt x="85" y="667"/>
                </a:lnTo>
                <a:lnTo>
                  <a:pt x="74" y="671"/>
                </a:lnTo>
                <a:lnTo>
                  <a:pt x="63" y="677"/>
                </a:lnTo>
                <a:lnTo>
                  <a:pt x="54" y="683"/>
                </a:lnTo>
                <a:lnTo>
                  <a:pt x="44" y="690"/>
                </a:lnTo>
                <a:lnTo>
                  <a:pt x="35" y="697"/>
                </a:lnTo>
                <a:lnTo>
                  <a:pt x="28" y="706"/>
                </a:lnTo>
                <a:lnTo>
                  <a:pt x="20" y="715"/>
                </a:lnTo>
                <a:lnTo>
                  <a:pt x="15" y="725"/>
                </a:lnTo>
                <a:lnTo>
                  <a:pt x="10" y="736"/>
                </a:lnTo>
                <a:lnTo>
                  <a:pt x="5" y="746"/>
                </a:lnTo>
                <a:lnTo>
                  <a:pt x="2" y="758"/>
                </a:lnTo>
                <a:lnTo>
                  <a:pt x="1" y="770"/>
                </a:lnTo>
                <a:lnTo>
                  <a:pt x="0" y="783"/>
                </a:lnTo>
                <a:lnTo>
                  <a:pt x="1" y="795"/>
                </a:lnTo>
                <a:lnTo>
                  <a:pt x="2" y="806"/>
                </a:lnTo>
                <a:lnTo>
                  <a:pt x="5" y="818"/>
                </a:lnTo>
                <a:lnTo>
                  <a:pt x="10" y="829"/>
                </a:lnTo>
                <a:lnTo>
                  <a:pt x="15" y="840"/>
                </a:lnTo>
                <a:lnTo>
                  <a:pt x="20" y="849"/>
                </a:lnTo>
                <a:lnTo>
                  <a:pt x="28" y="859"/>
                </a:lnTo>
                <a:lnTo>
                  <a:pt x="35" y="868"/>
                </a:lnTo>
                <a:lnTo>
                  <a:pt x="44" y="875"/>
                </a:lnTo>
                <a:lnTo>
                  <a:pt x="54" y="883"/>
                </a:lnTo>
                <a:lnTo>
                  <a:pt x="63" y="888"/>
                </a:lnTo>
                <a:lnTo>
                  <a:pt x="74" y="893"/>
                </a:lnTo>
                <a:lnTo>
                  <a:pt x="85" y="898"/>
                </a:lnTo>
                <a:lnTo>
                  <a:pt x="97" y="901"/>
                </a:lnTo>
                <a:lnTo>
                  <a:pt x="108" y="902"/>
                </a:lnTo>
                <a:lnTo>
                  <a:pt x="120" y="903"/>
                </a:lnTo>
                <a:lnTo>
                  <a:pt x="133" y="902"/>
                </a:lnTo>
                <a:lnTo>
                  <a:pt x="145" y="901"/>
                </a:lnTo>
                <a:lnTo>
                  <a:pt x="157" y="898"/>
                </a:lnTo>
                <a:lnTo>
                  <a:pt x="167" y="893"/>
                </a:lnTo>
                <a:lnTo>
                  <a:pt x="178" y="888"/>
                </a:lnTo>
                <a:lnTo>
                  <a:pt x="188" y="883"/>
                </a:lnTo>
                <a:lnTo>
                  <a:pt x="197" y="875"/>
                </a:lnTo>
                <a:lnTo>
                  <a:pt x="206" y="868"/>
                </a:lnTo>
                <a:lnTo>
                  <a:pt x="214" y="859"/>
                </a:lnTo>
                <a:lnTo>
                  <a:pt x="221" y="849"/>
                </a:lnTo>
                <a:lnTo>
                  <a:pt x="226" y="840"/>
                </a:lnTo>
                <a:lnTo>
                  <a:pt x="232" y="829"/>
                </a:lnTo>
                <a:lnTo>
                  <a:pt x="236" y="818"/>
                </a:lnTo>
                <a:lnTo>
                  <a:pt x="238" y="806"/>
                </a:lnTo>
                <a:lnTo>
                  <a:pt x="240" y="795"/>
                </a:lnTo>
                <a:lnTo>
                  <a:pt x="241" y="783"/>
                </a:lnTo>
                <a:lnTo>
                  <a:pt x="240" y="767"/>
                </a:lnTo>
                <a:lnTo>
                  <a:pt x="237" y="753"/>
                </a:lnTo>
                <a:lnTo>
                  <a:pt x="233" y="738"/>
                </a:lnTo>
                <a:lnTo>
                  <a:pt x="226" y="725"/>
                </a:lnTo>
                <a:lnTo>
                  <a:pt x="219" y="713"/>
                </a:lnTo>
                <a:lnTo>
                  <a:pt x="209" y="701"/>
                </a:lnTo>
                <a:lnTo>
                  <a:pt x="200" y="692"/>
                </a:lnTo>
                <a:lnTo>
                  <a:pt x="188" y="682"/>
                </a:lnTo>
                <a:lnTo>
                  <a:pt x="292" y="475"/>
                </a:lnTo>
                <a:lnTo>
                  <a:pt x="301" y="477"/>
                </a:lnTo>
                <a:lnTo>
                  <a:pt x="311" y="479"/>
                </a:lnTo>
                <a:lnTo>
                  <a:pt x="321" y="481"/>
                </a:lnTo>
                <a:lnTo>
                  <a:pt x="331" y="481"/>
                </a:lnTo>
                <a:lnTo>
                  <a:pt x="344" y="480"/>
                </a:lnTo>
                <a:lnTo>
                  <a:pt x="357" y="478"/>
                </a:lnTo>
                <a:lnTo>
                  <a:pt x="369" y="475"/>
                </a:lnTo>
                <a:lnTo>
                  <a:pt x="381" y="471"/>
                </a:lnTo>
                <a:lnTo>
                  <a:pt x="392" y="465"/>
                </a:lnTo>
                <a:lnTo>
                  <a:pt x="402" y="458"/>
                </a:lnTo>
                <a:lnTo>
                  <a:pt x="412" y="450"/>
                </a:lnTo>
                <a:lnTo>
                  <a:pt x="421" y="442"/>
                </a:lnTo>
                <a:lnTo>
                  <a:pt x="526" y="516"/>
                </a:lnTo>
                <a:lnTo>
                  <a:pt x="520" y="529"/>
                </a:lnTo>
                <a:lnTo>
                  <a:pt x="516" y="543"/>
                </a:lnTo>
                <a:lnTo>
                  <a:pt x="513" y="557"/>
                </a:lnTo>
                <a:lnTo>
                  <a:pt x="512" y="572"/>
                </a:lnTo>
                <a:lnTo>
                  <a:pt x="513" y="584"/>
                </a:lnTo>
                <a:lnTo>
                  <a:pt x="515" y="596"/>
                </a:lnTo>
                <a:lnTo>
                  <a:pt x="517" y="608"/>
                </a:lnTo>
                <a:lnTo>
                  <a:pt x="521" y="619"/>
                </a:lnTo>
                <a:lnTo>
                  <a:pt x="527" y="629"/>
                </a:lnTo>
                <a:lnTo>
                  <a:pt x="533" y="639"/>
                </a:lnTo>
                <a:lnTo>
                  <a:pt x="540" y="649"/>
                </a:lnTo>
                <a:lnTo>
                  <a:pt x="547" y="657"/>
                </a:lnTo>
                <a:lnTo>
                  <a:pt x="556" y="665"/>
                </a:lnTo>
                <a:lnTo>
                  <a:pt x="565" y="671"/>
                </a:lnTo>
                <a:lnTo>
                  <a:pt x="575" y="678"/>
                </a:lnTo>
                <a:lnTo>
                  <a:pt x="586" y="683"/>
                </a:lnTo>
                <a:lnTo>
                  <a:pt x="596" y="686"/>
                </a:lnTo>
                <a:lnTo>
                  <a:pt x="608" y="690"/>
                </a:lnTo>
                <a:lnTo>
                  <a:pt x="620" y="692"/>
                </a:lnTo>
                <a:lnTo>
                  <a:pt x="633" y="693"/>
                </a:lnTo>
                <a:lnTo>
                  <a:pt x="645" y="692"/>
                </a:lnTo>
                <a:lnTo>
                  <a:pt x="656" y="690"/>
                </a:lnTo>
                <a:lnTo>
                  <a:pt x="668" y="686"/>
                </a:lnTo>
                <a:lnTo>
                  <a:pt x="679" y="683"/>
                </a:lnTo>
                <a:lnTo>
                  <a:pt x="690" y="678"/>
                </a:lnTo>
                <a:lnTo>
                  <a:pt x="699" y="671"/>
                </a:lnTo>
                <a:lnTo>
                  <a:pt x="709" y="665"/>
                </a:lnTo>
                <a:lnTo>
                  <a:pt x="718" y="657"/>
                </a:lnTo>
                <a:lnTo>
                  <a:pt x="725" y="649"/>
                </a:lnTo>
                <a:lnTo>
                  <a:pt x="733" y="639"/>
                </a:lnTo>
                <a:lnTo>
                  <a:pt x="738" y="629"/>
                </a:lnTo>
                <a:lnTo>
                  <a:pt x="743" y="619"/>
                </a:lnTo>
                <a:lnTo>
                  <a:pt x="748" y="608"/>
                </a:lnTo>
                <a:lnTo>
                  <a:pt x="751" y="596"/>
                </a:lnTo>
                <a:lnTo>
                  <a:pt x="752" y="584"/>
                </a:lnTo>
                <a:lnTo>
                  <a:pt x="753" y="572"/>
                </a:lnTo>
                <a:lnTo>
                  <a:pt x="753" y="563"/>
                </a:lnTo>
                <a:lnTo>
                  <a:pt x="752" y="554"/>
                </a:lnTo>
                <a:lnTo>
                  <a:pt x="750" y="546"/>
                </a:lnTo>
                <a:lnTo>
                  <a:pt x="748" y="537"/>
                </a:lnTo>
                <a:lnTo>
                  <a:pt x="745" y="530"/>
                </a:lnTo>
                <a:lnTo>
                  <a:pt x="742" y="521"/>
                </a:lnTo>
                <a:lnTo>
                  <a:pt x="738" y="514"/>
                </a:lnTo>
                <a:lnTo>
                  <a:pt x="734" y="507"/>
                </a:lnTo>
                <a:lnTo>
                  <a:pt x="729" y="500"/>
                </a:lnTo>
                <a:lnTo>
                  <a:pt x="724" y="493"/>
                </a:lnTo>
                <a:lnTo>
                  <a:pt x="719" y="488"/>
                </a:lnTo>
                <a:lnTo>
                  <a:pt x="712" y="481"/>
                </a:lnTo>
                <a:lnTo>
                  <a:pt x="706" y="476"/>
                </a:lnTo>
                <a:lnTo>
                  <a:pt x="699" y="472"/>
                </a:lnTo>
                <a:lnTo>
                  <a:pt x="692" y="468"/>
                </a:lnTo>
                <a:lnTo>
                  <a:pt x="684" y="463"/>
                </a:lnTo>
                <a:lnTo>
                  <a:pt x="759" y="238"/>
                </a:lnTo>
                <a:lnTo>
                  <a:pt x="771" y="240"/>
                </a:lnTo>
                <a:lnTo>
                  <a:pt x="783" y="240"/>
                </a:lnTo>
                <a:lnTo>
                  <a:pt x="795" y="240"/>
                </a:lnTo>
                <a:lnTo>
                  <a:pt x="808" y="238"/>
                </a:lnTo>
                <a:lnTo>
                  <a:pt x="818" y="235"/>
                </a:lnTo>
                <a:lnTo>
                  <a:pt x="830" y="232"/>
                </a:lnTo>
                <a:lnTo>
                  <a:pt x="841" y="226"/>
                </a:lnTo>
                <a:lnTo>
                  <a:pt x="851" y="220"/>
                </a:lnTo>
                <a:lnTo>
                  <a:pt x="859" y="213"/>
                </a:lnTo>
                <a:lnTo>
                  <a:pt x="868" y="206"/>
                </a:lnTo>
                <a:lnTo>
                  <a:pt x="876" y="197"/>
                </a:lnTo>
                <a:lnTo>
                  <a:pt x="883" y="188"/>
                </a:lnTo>
                <a:lnTo>
                  <a:pt x="889" y="178"/>
                </a:lnTo>
                <a:lnTo>
                  <a:pt x="893" y="167"/>
                </a:lnTo>
                <a:lnTo>
                  <a:pt x="898" y="156"/>
                </a:lnTo>
                <a:lnTo>
                  <a:pt x="901" y="145"/>
                </a:lnTo>
                <a:lnTo>
                  <a:pt x="903" y="133"/>
                </a:lnTo>
                <a:lnTo>
                  <a:pt x="903" y="120"/>
                </a:lnTo>
                <a:lnTo>
                  <a:pt x="903" y="108"/>
                </a:lnTo>
                <a:lnTo>
                  <a:pt x="901" y="96"/>
                </a:lnTo>
                <a:lnTo>
                  <a:pt x="898" y="85"/>
                </a:lnTo>
                <a:lnTo>
                  <a:pt x="893" y="74"/>
                </a:lnTo>
                <a:lnTo>
                  <a:pt x="889" y="63"/>
                </a:lnTo>
                <a:lnTo>
                  <a:pt x="883" y="52"/>
                </a:lnTo>
                <a:lnTo>
                  <a:pt x="876" y="44"/>
                </a:lnTo>
                <a:lnTo>
                  <a:pt x="868" y="35"/>
                </a:lnTo>
                <a:lnTo>
                  <a:pt x="859" y="28"/>
                </a:lnTo>
                <a:lnTo>
                  <a:pt x="851" y="20"/>
                </a:lnTo>
                <a:lnTo>
                  <a:pt x="841" y="14"/>
                </a:lnTo>
                <a:lnTo>
                  <a:pt x="830" y="10"/>
                </a:lnTo>
                <a:lnTo>
                  <a:pt x="818" y="5"/>
                </a:lnTo>
                <a:lnTo>
                  <a:pt x="808" y="2"/>
                </a:lnTo>
                <a:lnTo>
                  <a:pt x="795" y="0"/>
                </a:lnTo>
                <a:lnTo>
                  <a:pt x="7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97"/>
          <p:cNvSpPr/>
          <p:nvPr/>
        </p:nvSpPr>
        <p:spPr>
          <a:xfrm>
            <a:off x="2281389" y="-515569"/>
            <a:ext cx="7724475" cy="3077015"/>
          </a:xfrm>
          <a:custGeom>
            <a:avLst/>
            <a:gdLst>
              <a:gd name="connsiteX0" fmla="*/ 0 w 7724475"/>
              <a:gd name="connsiteY0" fmla="*/ 0 h 3077015"/>
              <a:gd name="connsiteX1" fmla="*/ 7724475 w 7724475"/>
              <a:gd name="connsiteY1" fmla="*/ 0 h 3077015"/>
              <a:gd name="connsiteX2" fmla="*/ 7663259 w 7724475"/>
              <a:gd name="connsiteY2" fmla="*/ 244348 h 3077015"/>
              <a:gd name="connsiteX3" fmla="*/ 3862237 w 7724475"/>
              <a:gd name="connsiteY3" fmla="*/ 3077015 h 3077015"/>
              <a:gd name="connsiteX4" fmla="*/ 61216 w 7724475"/>
              <a:gd name="connsiteY4" fmla="*/ 244348 h 3077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4475" h="3077015">
                <a:moveTo>
                  <a:pt x="0" y="0"/>
                </a:moveTo>
                <a:lnTo>
                  <a:pt x="7724475" y="0"/>
                </a:lnTo>
                <a:lnTo>
                  <a:pt x="7663259" y="244348"/>
                </a:lnTo>
                <a:cubicBezTo>
                  <a:pt x="7175958" y="1882443"/>
                  <a:pt x="5658602" y="3077015"/>
                  <a:pt x="3862237" y="3077015"/>
                </a:cubicBezTo>
                <a:cubicBezTo>
                  <a:pt x="2065874" y="3077015"/>
                  <a:pt x="548516" y="1882443"/>
                  <a:pt x="61216" y="244348"/>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9" name="Oval 98"/>
          <p:cNvSpPr/>
          <p:nvPr/>
        </p:nvSpPr>
        <p:spPr>
          <a:xfrm>
            <a:off x="2836361" y="832169"/>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4086675" y="1926576"/>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5972176" y="2422758"/>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7926957" y="1926576"/>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9208479" y="848958"/>
            <a:ext cx="238492" cy="238492"/>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2933680" y="-250695"/>
            <a:ext cx="6324639" cy="1325563"/>
          </a:xfrm>
        </p:spPr>
        <p:txBody>
          <a:bodyPr>
            <a:normAutofit/>
          </a:bodyPr>
          <a:lstStyle/>
          <a:p>
            <a:pPr algn="ctr"/>
            <a:r>
              <a:rPr lang="bg-BG" dirty="0" smtClean="0">
                <a:latin typeface="Segoe UI Black" panose="020B0A02040204020203" pitchFamily="34" charset="0"/>
                <a:ea typeface="Segoe UI Black" panose="020B0A02040204020203" pitchFamily="34" charset="0"/>
              </a:rPr>
              <a:t>ЗАДАЧИ И ФАЗИ</a:t>
            </a:r>
            <a:endParaRPr lang="en-US"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6517433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50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p:cTn id="13" dur="500" fill="hold"/>
                                        <p:tgtEl>
                                          <p:spTgt spid="61"/>
                                        </p:tgtEl>
                                        <p:attrNameLst>
                                          <p:attrName>ppt_w</p:attrName>
                                        </p:attrNameLst>
                                      </p:cBhvr>
                                      <p:tavLst>
                                        <p:tav tm="0">
                                          <p:val>
                                            <p:fltVal val="0"/>
                                          </p:val>
                                        </p:tav>
                                        <p:tav tm="100000">
                                          <p:val>
                                            <p:strVal val="#ppt_w"/>
                                          </p:val>
                                        </p:tav>
                                      </p:tavLst>
                                    </p:anim>
                                    <p:anim calcmode="lin" valueType="num">
                                      <p:cBhvr>
                                        <p:cTn id="14" dur="500" fill="hold"/>
                                        <p:tgtEl>
                                          <p:spTgt spid="61"/>
                                        </p:tgtEl>
                                        <p:attrNameLst>
                                          <p:attrName>ppt_h</p:attrName>
                                        </p:attrNameLst>
                                      </p:cBhvr>
                                      <p:tavLst>
                                        <p:tav tm="0">
                                          <p:val>
                                            <p:fltVal val="0"/>
                                          </p:val>
                                        </p:tav>
                                        <p:tav tm="100000">
                                          <p:val>
                                            <p:strVal val="#ppt_h"/>
                                          </p:val>
                                        </p:tav>
                                      </p:tavLst>
                                    </p:anim>
                                    <p:animEffect transition="in" filter="fade">
                                      <p:cBhvr>
                                        <p:cTn id="15" dur="500"/>
                                        <p:tgtEl>
                                          <p:spTgt spid="61"/>
                                        </p:tgtEl>
                                      </p:cBhvr>
                                    </p:animEffect>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92"/>
                                        </p:tgtEl>
                                        <p:attrNameLst>
                                          <p:attrName>style.visibility</p:attrName>
                                        </p:attrNameLst>
                                      </p:cBhvr>
                                      <p:to>
                                        <p:strVal val="visible"/>
                                      </p:to>
                                    </p:set>
                                    <p:anim calcmode="lin" valueType="num">
                                      <p:cBhvr>
                                        <p:cTn id="19" dur="500" fill="hold"/>
                                        <p:tgtEl>
                                          <p:spTgt spid="92"/>
                                        </p:tgtEl>
                                        <p:attrNameLst>
                                          <p:attrName>ppt_w</p:attrName>
                                        </p:attrNameLst>
                                      </p:cBhvr>
                                      <p:tavLst>
                                        <p:tav tm="0">
                                          <p:val>
                                            <p:fltVal val="0"/>
                                          </p:val>
                                        </p:tav>
                                        <p:tav tm="100000">
                                          <p:val>
                                            <p:strVal val="#ppt_w"/>
                                          </p:val>
                                        </p:tav>
                                      </p:tavLst>
                                    </p:anim>
                                    <p:anim calcmode="lin" valueType="num">
                                      <p:cBhvr>
                                        <p:cTn id="20" dur="500" fill="hold"/>
                                        <p:tgtEl>
                                          <p:spTgt spid="92"/>
                                        </p:tgtEl>
                                        <p:attrNameLst>
                                          <p:attrName>ppt_h</p:attrName>
                                        </p:attrNameLst>
                                      </p:cBhvr>
                                      <p:tavLst>
                                        <p:tav tm="0">
                                          <p:val>
                                            <p:fltVal val="0"/>
                                          </p:val>
                                        </p:tav>
                                        <p:tav tm="100000">
                                          <p:val>
                                            <p:strVal val="#ppt_h"/>
                                          </p:val>
                                        </p:tav>
                                      </p:tavLst>
                                    </p:anim>
                                    <p:animEffect transition="in" filter="fade">
                                      <p:cBhvr>
                                        <p:cTn id="21" dur="500"/>
                                        <p:tgtEl>
                                          <p:spTgt spid="92"/>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86"/>
                                        </p:tgtEl>
                                        <p:attrNameLst>
                                          <p:attrName>style.visibility</p:attrName>
                                        </p:attrNameLst>
                                      </p:cBhvr>
                                      <p:to>
                                        <p:strVal val="visible"/>
                                      </p:to>
                                    </p:set>
                                    <p:anim calcmode="lin" valueType="num">
                                      <p:cBhvr>
                                        <p:cTn id="25" dur="500" fill="hold"/>
                                        <p:tgtEl>
                                          <p:spTgt spid="86"/>
                                        </p:tgtEl>
                                        <p:attrNameLst>
                                          <p:attrName>ppt_w</p:attrName>
                                        </p:attrNameLst>
                                      </p:cBhvr>
                                      <p:tavLst>
                                        <p:tav tm="0">
                                          <p:val>
                                            <p:fltVal val="0"/>
                                          </p:val>
                                        </p:tav>
                                        <p:tav tm="100000">
                                          <p:val>
                                            <p:strVal val="#ppt_w"/>
                                          </p:val>
                                        </p:tav>
                                      </p:tavLst>
                                    </p:anim>
                                    <p:anim calcmode="lin" valueType="num">
                                      <p:cBhvr>
                                        <p:cTn id="26" dur="500" fill="hold"/>
                                        <p:tgtEl>
                                          <p:spTgt spid="86"/>
                                        </p:tgtEl>
                                        <p:attrNameLst>
                                          <p:attrName>ppt_h</p:attrName>
                                        </p:attrNameLst>
                                      </p:cBhvr>
                                      <p:tavLst>
                                        <p:tav tm="0">
                                          <p:val>
                                            <p:fltVal val="0"/>
                                          </p:val>
                                        </p:tav>
                                        <p:tav tm="100000">
                                          <p:val>
                                            <p:strVal val="#ppt_h"/>
                                          </p:val>
                                        </p:tav>
                                      </p:tavLst>
                                    </p:anim>
                                    <p:animEffect transition="in" filter="fade">
                                      <p:cBhvr>
                                        <p:cTn id="27" dur="500"/>
                                        <p:tgtEl>
                                          <p:spTgt spid="86"/>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89"/>
                                        </p:tgtEl>
                                        <p:attrNameLst>
                                          <p:attrName>style.visibility</p:attrName>
                                        </p:attrNameLst>
                                      </p:cBhvr>
                                      <p:to>
                                        <p:strVal val="visible"/>
                                      </p:to>
                                    </p:set>
                                    <p:anim calcmode="lin" valueType="num">
                                      <p:cBhvr>
                                        <p:cTn id="31" dur="500" fill="hold"/>
                                        <p:tgtEl>
                                          <p:spTgt spid="89"/>
                                        </p:tgtEl>
                                        <p:attrNameLst>
                                          <p:attrName>ppt_w</p:attrName>
                                        </p:attrNameLst>
                                      </p:cBhvr>
                                      <p:tavLst>
                                        <p:tav tm="0">
                                          <p:val>
                                            <p:fltVal val="0"/>
                                          </p:val>
                                        </p:tav>
                                        <p:tav tm="100000">
                                          <p:val>
                                            <p:strVal val="#ppt_w"/>
                                          </p:val>
                                        </p:tav>
                                      </p:tavLst>
                                    </p:anim>
                                    <p:anim calcmode="lin" valueType="num">
                                      <p:cBhvr>
                                        <p:cTn id="32" dur="500" fill="hold"/>
                                        <p:tgtEl>
                                          <p:spTgt spid="89"/>
                                        </p:tgtEl>
                                        <p:attrNameLst>
                                          <p:attrName>ppt_h</p:attrName>
                                        </p:attrNameLst>
                                      </p:cBhvr>
                                      <p:tavLst>
                                        <p:tav tm="0">
                                          <p:val>
                                            <p:fltVal val="0"/>
                                          </p:val>
                                        </p:tav>
                                        <p:tav tm="100000">
                                          <p:val>
                                            <p:strVal val="#ppt_h"/>
                                          </p:val>
                                        </p:tav>
                                      </p:tavLst>
                                    </p:anim>
                                    <p:animEffect transition="in" filter="fade">
                                      <p:cBhvr>
                                        <p:cTn id="33" dur="500"/>
                                        <p:tgtEl>
                                          <p:spTgt spid="89"/>
                                        </p:tgtEl>
                                      </p:cBhvr>
                                    </p:animEffect>
                                  </p:childTnLst>
                                </p:cTn>
                              </p:par>
                            </p:childTnLst>
                          </p:cTn>
                        </p:par>
                        <p:par>
                          <p:cTn id="34" fill="hold">
                            <p:stCondLst>
                              <p:cond delay="3000"/>
                            </p:stCondLst>
                            <p:childTnLst>
                              <p:par>
                                <p:cTn id="35" presetID="10" presetClass="entr" presetSubtype="0" fill="hold" grpId="0" nodeType="afterEffect">
                                  <p:stCondLst>
                                    <p:cond delay="2000"/>
                                  </p:stCondLst>
                                  <p:childTnLst>
                                    <p:set>
                                      <p:cBhvr>
                                        <p:cTn id="36" dur="1" fill="hold">
                                          <p:stCondLst>
                                            <p:cond delay="0"/>
                                          </p:stCondLst>
                                        </p:cTn>
                                        <p:tgtEl>
                                          <p:spTgt spid="99"/>
                                        </p:tgtEl>
                                        <p:attrNameLst>
                                          <p:attrName>style.visibility</p:attrName>
                                        </p:attrNameLst>
                                      </p:cBhvr>
                                      <p:to>
                                        <p:strVal val="visible"/>
                                      </p:to>
                                    </p:set>
                                    <p:animEffect transition="in" filter="fade">
                                      <p:cBhvr>
                                        <p:cTn id="37" dur="500"/>
                                        <p:tgtEl>
                                          <p:spTgt spid="99"/>
                                        </p:tgtEl>
                                      </p:cBhvr>
                                    </p:animEffect>
                                  </p:childTnLst>
                                </p:cTn>
                              </p:par>
                            </p:childTnLst>
                          </p:cTn>
                        </p:par>
                        <p:par>
                          <p:cTn id="38" fill="hold">
                            <p:stCondLst>
                              <p:cond delay="5500"/>
                            </p:stCondLst>
                            <p:childTnLst>
                              <p:par>
                                <p:cTn id="39" presetID="10" presetClass="entr" presetSubtype="0" fill="hold" grpId="0" nodeType="afterEffect">
                                  <p:stCondLst>
                                    <p:cond delay="0"/>
                                  </p:stCondLst>
                                  <p:childTnLst>
                                    <p:set>
                                      <p:cBhvr>
                                        <p:cTn id="40" dur="1" fill="hold">
                                          <p:stCondLst>
                                            <p:cond delay="0"/>
                                          </p:stCondLst>
                                        </p:cTn>
                                        <p:tgtEl>
                                          <p:spTgt spid="100"/>
                                        </p:tgtEl>
                                        <p:attrNameLst>
                                          <p:attrName>style.visibility</p:attrName>
                                        </p:attrNameLst>
                                      </p:cBhvr>
                                      <p:to>
                                        <p:strVal val="visible"/>
                                      </p:to>
                                    </p:set>
                                    <p:animEffect transition="in" filter="fade">
                                      <p:cBhvr>
                                        <p:cTn id="41" dur="500"/>
                                        <p:tgtEl>
                                          <p:spTgt spid="100"/>
                                        </p:tgtEl>
                                      </p:cBhvr>
                                    </p:animEffect>
                                  </p:childTnLst>
                                </p:cTn>
                              </p:par>
                            </p:childTnLst>
                          </p:cTn>
                        </p:par>
                        <p:par>
                          <p:cTn id="42" fill="hold">
                            <p:stCondLst>
                              <p:cond delay="6000"/>
                            </p:stCondLst>
                            <p:childTnLst>
                              <p:par>
                                <p:cTn id="43" presetID="10" presetClass="entr" presetSubtype="0" fill="hold" grpId="0" nodeType="afterEffect">
                                  <p:stCondLst>
                                    <p:cond delay="0"/>
                                  </p:stCondLst>
                                  <p:childTnLst>
                                    <p:set>
                                      <p:cBhvr>
                                        <p:cTn id="44" dur="1" fill="hold">
                                          <p:stCondLst>
                                            <p:cond delay="0"/>
                                          </p:stCondLst>
                                        </p:cTn>
                                        <p:tgtEl>
                                          <p:spTgt spid="101"/>
                                        </p:tgtEl>
                                        <p:attrNameLst>
                                          <p:attrName>style.visibility</p:attrName>
                                        </p:attrNameLst>
                                      </p:cBhvr>
                                      <p:to>
                                        <p:strVal val="visible"/>
                                      </p:to>
                                    </p:set>
                                    <p:animEffect transition="in" filter="fade">
                                      <p:cBhvr>
                                        <p:cTn id="45" dur="500"/>
                                        <p:tgtEl>
                                          <p:spTgt spid="101"/>
                                        </p:tgtEl>
                                      </p:cBhvr>
                                    </p:animEffect>
                                  </p:childTnLst>
                                </p:cTn>
                              </p:par>
                            </p:childTnLst>
                          </p:cTn>
                        </p:par>
                        <p:par>
                          <p:cTn id="46" fill="hold">
                            <p:stCondLst>
                              <p:cond delay="6500"/>
                            </p:stCondLst>
                            <p:childTnLst>
                              <p:par>
                                <p:cTn id="47" presetID="10" presetClass="entr" presetSubtype="0" fill="hold" grpId="0" nodeType="afterEffect">
                                  <p:stCondLst>
                                    <p:cond delay="0"/>
                                  </p:stCondLst>
                                  <p:childTnLst>
                                    <p:set>
                                      <p:cBhvr>
                                        <p:cTn id="48" dur="1" fill="hold">
                                          <p:stCondLst>
                                            <p:cond delay="0"/>
                                          </p:stCondLst>
                                        </p:cTn>
                                        <p:tgtEl>
                                          <p:spTgt spid="108"/>
                                        </p:tgtEl>
                                        <p:attrNameLst>
                                          <p:attrName>style.visibility</p:attrName>
                                        </p:attrNameLst>
                                      </p:cBhvr>
                                      <p:to>
                                        <p:strVal val="visible"/>
                                      </p:to>
                                    </p:set>
                                    <p:animEffect transition="in" filter="fade">
                                      <p:cBhvr>
                                        <p:cTn id="49" dur="500"/>
                                        <p:tgtEl>
                                          <p:spTgt spid="108"/>
                                        </p:tgtEl>
                                      </p:cBhvr>
                                    </p:animEffect>
                                  </p:childTnLst>
                                </p:cTn>
                              </p:par>
                            </p:childTnLst>
                          </p:cTn>
                        </p:par>
                        <p:par>
                          <p:cTn id="50" fill="hold">
                            <p:stCondLst>
                              <p:cond delay="7000"/>
                            </p:stCondLst>
                            <p:childTnLst>
                              <p:par>
                                <p:cTn id="51" presetID="10" presetClass="entr" presetSubtype="0" fill="hold" grpId="0" nodeType="afterEffect">
                                  <p:stCondLst>
                                    <p:cond delay="0"/>
                                  </p:stCondLst>
                                  <p:childTnLst>
                                    <p:set>
                                      <p:cBhvr>
                                        <p:cTn id="52" dur="1" fill="hold">
                                          <p:stCondLst>
                                            <p:cond delay="0"/>
                                          </p:stCondLst>
                                        </p:cTn>
                                        <p:tgtEl>
                                          <p:spTgt spid="110"/>
                                        </p:tgtEl>
                                        <p:attrNameLst>
                                          <p:attrName>style.visibility</p:attrName>
                                        </p:attrNameLst>
                                      </p:cBhvr>
                                      <p:to>
                                        <p:strVal val="visible"/>
                                      </p:to>
                                    </p:set>
                                    <p:animEffect transition="in" filter="fade">
                                      <p:cBhvr>
                                        <p:cTn id="53" dur="500"/>
                                        <p:tgtEl>
                                          <p:spTgt spid="110"/>
                                        </p:tgtEl>
                                      </p:cBhvr>
                                    </p:animEffect>
                                  </p:childTnLst>
                                </p:cTn>
                              </p:par>
                            </p:childTnLst>
                          </p:cTn>
                        </p:par>
                        <p:par>
                          <p:cTn id="54" fill="hold">
                            <p:stCondLst>
                              <p:cond delay="7500"/>
                            </p:stCondLst>
                            <p:childTnLst>
                              <p:par>
                                <p:cTn id="55" presetID="22" presetClass="entr" presetSubtype="2" fill="hold" nodeType="afterEffect">
                                  <p:stCondLst>
                                    <p:cond delay="1500"/>
                                  </p:stCondLst>
                                  <p:childTnLst>
                                    <p:set>
                                      <p:cBhvr>
                                        <p:cTn id="56" dur="1" fill="hold">
                                          <p:stCondLst>
                                            <p:cond delay="0"/>
                                          </p:stCondLst>
                                        </p:cTn>
                                        <p:tgtEl>
                                          <p:spTgt spid="97"/>
                                        </p:tgtEl>
                                        <p:attrNameLst>
                                          <p:attrName>style.visibility</p:attrName>
                                        </p:attrNameLst>
                                      </p:cBhvr>
                                      <p:to>
                                        <p:strVal val="visible"/>
                                      </p:to>
                                    </p:set>
                                    <p:animEffect transition="in" filter="wipe(right)">
                                      <p:cBhvr>
                                        <p:cTn id="57" dur="500"/>
                                        <p:tgtEl>
                                          <p:spTgt spid="97"/>
                                        </p:tgtEl>
                                      </p:cBhvr>
                                    </p:animEffect>
                                  </p:childTnLst>
                                </p:cTn>
                              </p:par>
                            </p:childTnLst>
                          </p:cTn>
                        </p:par>
                        <p:par>
                          <p:cTn id="58" fill="hold">
                            <p:stCondLst>
                              <p:cond delay="9500"/>
                            </p:stCondLst>
                            <p:childTnLst>
                              <p:par>
                                <p:cTn id="59" presetID="22" presetClass="entr" presetSubtype="1" fill="hold" grpId="0" nodeType="after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wipe(up)">
                                      <p:cBhvr>
                                        <p:cTn id="61" dur="500"/>
                                        <p:tgtEl>
                                          <p:spTgt spid="65"/>
                                        </p:tgtEl>
                                      </p:cBhvr>
                                    </p:animEffect>
                                  </p:childTnLst>
                                </p:cTn>
                              </p:par>
                            </p:childTnLst>
                          </p:cTn>
                        </p:par>
                        <p:par>
                          <p:cTn id="62" fill="hold">
                            <p:stCondLst>
                              <p:cond delay="10000"/>
                            </p:stCondLst>
                            <p:childTnLst>
                              <p:par>
                                <p:cTn id="63" presetID="22" presetClass="entr" presetSubtype="1" fill="hold" nodeType="afterEffect">
                                  <p:stCondLst>
                                    <p:cond delay="0"/>
                                  </p:stCondLst>
                                  <p:childTnLst>
                                    <p:set>
                                      <p:cBhvr>
                                        <p:cTn id="64" dur="1" fill="hold">
                                          <p:stCondLst>
                                            <p:cond delay="0"/>
                                          </p:stCondLst>
                                        </p:cTn>
                                        <p:tgtEl>
                                          <p:spTgt spid="111"/>
                                        </p:tgtEl>
                                        <p:attrNameLst>
                                          <p:attrName>style.visibility</p:attrName>
                                        </p:attrNameLst>
                                      </p:cBhvr>
                                      <p:to>
                                        <p:strVal val="visible"/>
                                      </p:to>
                                    </p:set>
                                    <p:animEffect transition="in" filter="wipe(up)">
                                      <p:cBhvr>
                                        <p:cTn id="65" dur="500"/>
                                        <p:tgtEl>
                                          <p:spTgt spid="111"/>
                                        </p:tgtEl>
                                      </p:cBhvr>
                                    </p:animEffect>
                                  </p:childTnLst>
                                </p:cTn>
                              </p:par>
                            </p:childTnLst>
                          </p:cTn>
                        </p:par>
                        <p:par>
                          <p:cTn id="66" fill="hold">
                            <p:stCondLst>
                              <p:cond delay="10500"/>
                            </p:stCondLst>
                            <p:childTnLst>
                              <p:par>
                                <p:cTn id="67" presetID="22" presetClass="entr" presetSubtype="1" fill="hold" grpId="0" nodeType="afterEffect">
                                  <p:stCondLst>
                                    <p:cond delay="0"/>
                                  </p:stCondLst>
                                  <p:childTnLst>
                                    <p:set>
                                      <p:cBhvr>
                                        <p:cTn id="68" dur="1" fill="hold">
                                          <p:stCondLst>
                                            <p:cond delay="0"/>
                                          </p:stCondLst>
                                        </p:cTn>
                                        <p:tgtEl>
                                          <p:spTgt spid="66"/>
                                        </p:tgtEl>
                                        <p:attrNameLst>
                                          <p:attrName>style.visibility</p:attrName>
                                        </p:attrNameLst>
                                      </p:cBhvr>
                                      <p:to>
                                        <p:strVal val="visible"/>
                                      </p:to>
                                    </p:set>
                                    <p:animEffect transition="in" filter="wipe(up)">
                                      <p:cBhvr>
                                        <p:cTn id="69" dur="500"/>
                                        <p:tgtEl>
                                          <p:spTgt spid="66"/>
                                        </p:tgtEl>
                                      </p:cBhvr>
                                    </p:animEffect>
                                  </p:childTnLst>
                                </p:cTn>
                              </p:par>
                            </p:childTnLst>
                          </p:cTn>
                        </p:par>
                        <p:par>
                          <p:cTn id="70" fill="hold">
                            <p:stCondLst>
                              <p:cond delay="11000"/>
                            </p:stCondLst>
                            <p:childTnLst>
                              <p:par>
                                <p:cTn id="71" presetID="22" presetClass="entr" presetSubtype="1" fill="hold" nodeType="afterEffect">
                                  <p:stCondLst>
                                    <p:cond delay="0"/>
                                  </p:stCondLst>
                                  <p:childTnLst>
                                    <p:set>
                                      <p:cBhvr>
                                        <p:cTn id="72" dur="1" fill="hold">
                                          <p:stCondLst>
                                            <p:cond delay="0"/>
                                          </p:stCondLst>
                                        </p:cTn>
                                        <p:tgtEl>
                                          <p:spTgt spid="109"/>
                                        </p:tgtEl>
                                        <p:attrNameLst>
                                          <p:attrName>style.visibility</p:attrName>
                                        </p:attrNameLst>
                                      </p:cBhvr>
                                      <p:to>
                                        <p:strVal val="visible"/>
                                      </p:to>
                                    </p:set>
                                    <p:animEffect transition="in" filter="wipe(up)">
                                      <p:cBhvr>
                                        <p:cTn id="73" dur="500"/>
                                        <p:tgtEl>
                                          <p:spTgt spid="109"/>
                                        </p:tgtEl>
                                      </p:cBhvr>
                                    </p:animEffect>
                                  </p:childTnLst>
                                </p:cTn>
                              </p:par>
                            </p:childTnLst>
                          </p:cTn>
                        </p:par>
                        <p:par>
                          <p:cTn id="74" fill="hold">
                            <p:stCondLst>
                              <p:cond delay="11500"/>
                            </p:stCondLst>
                            <p:childTnLst>
                              <p:par>
                                <p:cTn id="75" presetID="22" presetClass="entr" presetSubtype="1" fill="hold" grpId="0" nodeType="afterEffect">
                                  <p:stCondLst>
                                    <p:cond delay="0"/>
                                  </p:stCondLst>
                                  <p:childTnLst>
                                    <p:set>
                                      <p:cBhvr>
                                        <p:cTn id="76" dur="1" fill="hold">
                                          <p:stCondLst>
                                            <p:cond delay="0"/>
                                          </p:stCondLst>
                                        </p:cTn>
                                        <p:tgtEl>
                                          <p:spTgt spid="93"/>
                                        </p:tgtEl>
                                        <p:attrNameLst>
                                          <p:attrName>style.visibility</p:attrName>
                                        </p:attrNameLst>
                                      </p:cBhvr>
                                      <p:to>
                                        <p:strVal val="visible"/>
                                      </p:to>
                                    </p:set>
                                    <p:animEffect transition="in" filter="wipe(up)">
                                      <p:cBhvr>
                                        <p:cTn id="77" dur="500"/>
                                        <p:tgtEl>
                                          <p:spTgt spid="93"/>
                                        </p:tgtEl>
                                      </p:cBhvr>
                                    </p:animEffect>
                                  </p:childTnLst>
                                </p:cTn>
                              </p:par>
                            </p:childTnLst>
                          </p:cTn>
                        </p:par>
                        <p:par>
                          <p:cTn id="78" fill="hold">
                            <p:stCondLst>
                              <p:cond delay="12000"/>
                            </p:stCondLst>
                            <p:childTnLst>
                              <p:par>
                                <p:cTn id="79" presetID="22" presetClass="entr" presetSubtype="1" fill="hold" nodeType="afterEffect">
                                  <p:stCondLst>
                                    <p:cond delay="0"/>
                                  </p:stCondLst>
                                  <p:childTnLst>
                                    <p:set>
                                      <p:cBhvr>
                                        <p:cTn id="80" dur="1" fill="hold">
                                          <p:stCondLst>
                                            <p:cond delay="0"/>
                                          </p:stCondLst>
                                        </p:cTn>
                                        <p:tgtEl>
                                          <p:spTgt spid="105"/>
                                        </p:tgtEl>
                                        <p:attrNameLst>
                                          <p:attrName>style.visibility</p:attrName>
                                        </p:attrNameLst>
                                      </p:cBhvr>
                                      <p:to>
                                        <p:strVal val="visible"/>
                                      </p:to>
                                    </p:set>
                                    <p:animEffect transition="in" filter="wipe(up)">
                                      <p:cBhvr>
                                        <p:cTn id="81" dur="500"/>
                                        <p:tgtEl>
                                          <p:spTgt spid="105"/>
                                        </p:tgtEl>
                                      </p:cBhvr>
                                    </p:animEffect>
                                  </p:childTnLst>
                                </p:cTn>
                              </p:par>
                            </p:childTnLst>
                          </p:cTn>
                        </p:par>
                        <p:par>
                          <p:cTn id="82" fill="hold">
                            <p:stCondLst>
                              <p:cond delay="12500"/>
                            </p:stCondLst>
                            <p:childTnLst>
                              <p:par>
                                <p:cTn id="83" presetID="22" presetClass="entr" presetSubtype="1" fill="hold" grpId="0" nodeType="after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wipe(up)">
                                      <p:cBhvr>
                                        <p:cTn id="85" dur="500"/>
                                        <p:tgtEl>
                                          <p:spTgt spid="87"/>
                                        </p:tgtEl>
                                      </p:cBhvr>
                                    </p:animEffect>
                                  </p:childTnLst>
                                </p:cTn>
                              </p:par>
                            </p:childTnLst>
                          </p:cTn>
                        </p:par>
                        <p:par>
                          <p:cTn id="86" fill="hold">
                            <p:stCondLst>
                              <p:cond delay="13000"/>
                            </p:stCondLst>
                            <p:childTnLst>
                              <p:par>
                                <p:cTn id="87" presetID="22" presetClass="entr" presetSubtype="8" fill="hold" nodeType="afterEffect">
                                  <p:stCondLst>
                                    <p:cond delay="0"/>
                                  </p:stCondLst>
                                  <p:childTnLst>
                                    <p:set>
                                      <p:cBhvr>
                                        <p:cTn id="88" dur="1" fill="hold">
                                          <p:stCondLst>
                                            <p:cond delay="0"/>
                                          </p:stCondLst>
                                        </p:cTn>
                                        <p:tgtEl>
                                          <p:spTgt spid="102"/>
                                        </p:tgtEl>
                                        <p:attrNameLst>
                                          <p:attrName>style.visibility</p:attrName>
                                        </p:attrNameLst>
                                      </p:cBhvr>
                                      <p:to>
                                        <p:strVal val="visible"/>
                                      </p:to>
                                    </p:set>
                                    <p:animEffect transition="in" filter="wipe(left)">
                                      <p:cBhvr>
                                        <p:cTn id="89" dur="500"/>
                                        <p:tgtEl>
                                          <p:spTgt spid="102"/>
                                        </p:tgtEl>
                                      </p:cBhvr>
                                    </p:animEffect>
                                  </p:childTnLst>
                                </p:cTn>
                              </p:par>
                            </p:childTnLst>
                          </p:cTn>
                        </p:par>
                        <p:par>
                          <p:cTn id="90" fill="hold">
                            <p:stCondLst>
                              <p:cond delay="13500"/>
                            </p:stCondLst>
                            <p:childTnLst>
                              <p:par>
                                <p:cTn id="91" presetID="22" presetClass="entr" presetSubtype="1" fill="hold" grpId="0" nodeType="afterEffect">
                                  <p:stCondLst>
                                    <p:cond delay="0"/>
                                  </p:stCondLst>
                                  <p:childTnLst>
                                    <p:set>
                                      <p:cBhvr>
                                        <p:cTn id="92" dur="1" fill="hold">
                                          <p:stCondLst>
                                            <p:cond delay="0"/>
                                          </p:stCondLst>
                                        </p:cTn>
                                        <p:tgtEl>
                                          <p:spTgt spid="90"/>
                                        </p:tgtEl>
                                        <p:attrNameLst>
                                          <p:attrName>style.visibility</p:attrName>
                                        </p:attrNameLst>
                                      </p:cBhvr>
                                      <p:to>
                                        <p:strVal val="visible"/>
                                      </p:to>
                                    </p:set>
                                    <p:animEffect transition="in" filter="wipe(up)">
                                      <p:cBhvr>
                                        <p:cTn id="93" dur="500"/>
                                        <p:tgtEl>
                                          <p:spTgt spid="90"/>
                                        </p:tgtEl>
                                      </p:cBhvr>
                                    </p:animEffect>
                                  </p:childTnLst>
                                </p:cTn>
                              </p:par>
                            </p:childTnLst>
                          </p:cTn>
                        </p:par>
                        <p:par>
                          <p:cTn id="94" fill="hold">
                            <p:stCondLst>
                              <p:cond delay="14000"/>
                            </p:stCondLst>
                            <p:childTnLst>
                              <p:par>
                                <p:cTn id="95" presetID="42" presetClass="entr" presetSubtype="0" fill="hold" grpId="0" nodeType="afterEffect">
                                  <p:stCondLst>
                                    <p:cond delay="100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1000"/>
                                        <p:tgtEl>
                                          <p:spTgt spid="43"/>
                                        </p:tgtEl>
                                      </p:cBhvr>
                                    </p:animEffect>
                                    <p:anim calcmode="lin" valueType="num">
                                      <p:cBhvr>
                                        <p:cTn id="98" dur="1000" fill="hold"/>
                                        <p:tgtEl>
                                          <p:spTgt spid="43"/>
                                        </p:tgtEl>
                                        <p:attrNameLst>
                                          <p:attrName>ppt_x</p:attrName>
                                        </p:attrNameLst>
                                      </p:cBhvr>
                                      <p:tavLst>
                                        <p:tav tm="0">
                                          <p:val>
                                            <p:strVal val="#ppt_x"/>
                                          </p:val>
                                        </p:tav>
                                        <p:tav tm="100000">
                                          <p:val>
                                            <p:strVal val="#ppt_x"/>
                                          </p:val>
                                        </p:tav>
                                      </p:tavLst>
                                    </p:anim>
                                    <p:anim calcmode="lin" valueType="num">
                                      <p:cBhvr>
                                        <p:cTn id="99" dur="1000" fill="hold"/>
                                        <p:tgtEl>
                                          <p:spTgt spid="43"/>
                                        </p:tgtEl>
                                        <p:attrNameLst>
                                          <p:attrName>ppt_y</p:attrName>
                                        </p:attrNameLst>
                                      </p:cBhvr>
                                      <p:tavLst>
                                        <p:tav tm="0">
                                          <p:val>
                                            <p:strVal val="#ppt_y+.1"/>
                                          </p:val>
                                        </p:tav>
                                        <p:tav tm="100000">
                                          <p:val>
                                            <p:strVal val="#ppt_y"/>
                                          </p:val>
                                        </p:tav>
                                      </p:tavLst>
                                    </p:anim>
                                  </p:childTnLst>
                                </p:cTn>
                              </p:par>
                            </p:childTnLst>
                          </p:cTn>
                        </p:par>
                        <p:par>
                          <p:cTn id="100" fill="hold">
                            <p:stCondLst>
                              <p:cond delay="16000"/>
                            </p:stCondLst>
                            <p:childTnLst>
                              <p:par>
                                <p:cTn id="101" presetID="42" presetClass="entr" presetSubtype="0" fill="hold" grpId="0" nodeType="afterEffect">
                                  <p:stCondLst>
                                    <p:cond delay="0"/>
                                  </p:stCondLst>
                                  <p:childTnLst>
                                    <p:set>
                                      <p:cBhvr>
                                        <p:cTn id="102" dur="1" fill="hold">
                                          <p:stCondLst>
                                            <p:cond delay="0"/>
                                          </p:stCondLst>
                                        </p:cTn>
                                        <p:tgtEl>
                                          <p:spTgt spid="70"/>
                                        </p:tgtEl>
                                        <p:attrNameLst>
                                          <p:attrName>style.visibility</p:attrName>
                                        </p:attrNameLst>
                                      </p:cBhvr>
                                      <p:to>
                                        <p:strVal val="visible"/>
                                      </p:to>
                                    </p:set>
                                    <p:animEffect transition="in" filter="fade">
                                      <p:cBhvr>
                                        <p:cTn id="103" dur="1000"/>
                                        <p:tgtEl>
                                          <p:spTgt spid="70"/>
                                        </p:tgtEl>
                                      </p:cBhvr>
                                    </p:animEffect>
                                    <p:anim calcmode="lin" valueType="num">
                                      <p:cBhvr>
                                        <p:cTn id="104" dur="1000" fill="hold"/>
                                        <p:tgtEl>
                                          <p:spTgt spid="70"/>
                                        </p:tgtEl>
                                        <p:attrNameLst>
                                          <p:attrName>ppt_x</p:attrName>
                                        </p:attrNameLst>
                                      </p:cBhvr>
                                      <p:tavLst>
                                        <p:tav tm="0">
                                          <p:val>
                                            <p:strVal val="#ppt_x"/>
                                          </p:val>
                                        </p:tav>
                                        <p:tav tm="100000">
                                          <p:val>
                                            <p:strVal val="#ppt_x"/>
                                          </p:val>
                                        </p:tav>
                                      </p:tavLst>
                                    </p:anim>
                                    <p:anim calcmode="lin" valueType="num">
                                      <p:cBhvr>
                                        <p:cTn id="105" dur="1000" fill="hold"/>
                                        <p:tgtEl>
                                          <p:spTgt spid="70"/>
                                        </p:tgtEl>
                                        <p:attrNameLst>
                                          <p:attrName>ppt_y</p:attrName>
                                        </p:attrNameLst>
                                      </p:cBhvr>
                                      <p:tavLst>
                                        <p:tav tm="0">
                                          <p:val>
                                            <p:strVal val="#ppt_y+.1"/>
                                          </p:val>
                                        </p:tav>
                                        <p:tav tm="100000">
                                          <p:val>
                                            <p:strVal val="#ppt_y"/>
                                          </p:val>
                                        </p:tav>
                                      </p:tavLst>
                                    </p:anim>
                                  </p:childTnLst>
                                </p:cTn>
                              </p:par>
                              <p:par>
                                <p:cTn id="106" presetID="42" presetClass="entr" presetSubtype="0" fill="hold" nodeType="withEffect">
                                  <p:stCondLst>
                                    <p:cond delay="0"/>
                                  </p:stCondLst>
                                  <p:childTnLst>
                                    <p:set>
                                      <p:cBhvr>
                                        <p:cTn id="107" dur="1" fill="hold">
                                          <p:stCondLst>
                                            <p:cond delay="0"/>
                                          </p:stCondLst>
                                        </p:cTn>
                                        <p:tgtEl>
                                          <p:spTgt spid="52"/>
                                        </p:tgtEl>
                                        <p:attrNameLst>
                                          <p:attrName>style.visibility</p:attrName>
                                        </p:attrNameLst>
                                      </p:cBhvr>
                                      <p:to>
                                        <p:strVal val="visible"/>
                                      </p:to>
                                    </p:set>
                                    <p:animEffect transition="in" filter="fade">
                                      <p:cBhvr>
                                        <p:cTn id="108" dur="1000"/>
                                        <p:tgtEl>
                                          <p:spTgt spid="52"/>
                                        </p:tgtEl>
                                      </p:cBhvr>
                                    </p:animEffect>
                                    <p:anim calcmode="lin" valueType="num">
                                      <p:cBhvr>
                                        <p:cTn id="109" dur="1000" fill="hold"/>
                                        <p:tgtEl>
                                          <p:spTgt spid="52"/>
                                        </p:tgtEl>
                                        <p:attrNameLst>
                                          <p:attrName>ppt_x</p:attrName>
                                        </p:attrNameLst>
                                      </p:cBhvr>
                                      <p:tavLst>
                                        <p:tav tm="0">
                                          <p:val>
                                            <p:strVal val="#ppt_x"/>
                                          </p:val>
                                        </p:tav>
                                        <p:tav tm="100000">
                                          <p:val>
                                            <p:strVal val="#ppt_x"/>
                                          </p:val>
                                        </p:tav>
                                      </p:tavLst>
                                    </p:anim>
                                    <p:anim calcmode="lin" valueType="num">
                                      <p:cBhvr>
                                        <p:cTn id="110" dur="1000" fill="hold"/>
                                        <p:tgtEl>
                                          <p:spTgt spid="52"/>
                                        </p:tgtEl>
                                        <p:attrNameLst>
                                          <p:attrName>ppt_y</p:attrName>
                                        </p:attrNameLst>
                                      </p:cBhvr>
                                      <p:tavLst>
                                        <p:tav tm="0">
                                          <p:val>
                                            <p:strVal val="#ppt_y+.1"/>
                                          </p:val>
                                        </p:tav>
                                        <p:tav tm="100000">
                                          <p:val>
                                            <p:strVal val="#ppt_y"/>
                                          </p:val>
                                        </p:tav>
                                      </p:tavLst>
                                    </p:anim>
                                  </p:childTnLst>
                                </p:cTn>
                              </p:par>
                            </p:childTnLst>
                          </p:cTn>
                        </p:par>
                        <p:par>
                          <p:cTn id="111" fill="hold">
                            <p:stCondLst>
                              <p:cond delay="17000"/>
                            </p:stCondLst>
                            <p:childTnLst>
                              <p:par>
                                <p:cTn id="112" presetID="42" presetClass="entr" presetSubtype="0" fill="hold" grpId="0" nodeType="afterEffect">
                                  <p:stCondLst>
                                    <p:cond delay="0"/>
                                  </p:stCondLst>
                                  <p:childTnLst>
                                    <p:set>
                                      <p:cBhvr>
                                        <p:cTn id="113" dur="1" fill="hold">
                                          <p:stCondLst>
                                            <p:cond delay="0"/>
                                          </p:stCondLst>
                                        </p:cTn>
                                        <p:tgtEl>
                                          <p:spTgt spid="71"/>
                                        </p:tgtEl>
                                        <p:attrNameLst>
                                          <p:attrName>style.visibility</p:attrName>
                                        </p:attrNameLst>
                                      </p:cBhvr>
                                      <p:to>
                                        <p:strVal val="visible"/>
                                      </p:to>
                                    </p:set>
                                    <p:animEffect transition="in" filter="fade">
                                      <p:cBhvr>
                                        <p:cTn id="114" dur="1000"/>
                                        <p:tgtEl>
                                          <p:spTgt spid="71"/>
                                        </p:tgtEl>
                                      </p:cBhvr>
                                    </p:animEffect>
                                    <p:anim calcmode="lin" valueType="num">
                                      <p:cBhvr>
                                        <p:cTn id="115" dur="1000" fill="hold"/>
                                        <p:tgtEl>
                                          <p:spTgt spid="71"/>
                                        </p:tgtEl>
                                        <p:attrNameLst>
                                          <p:attrName>ppt_x</p:attrName>
                                        </p:attrNameLst>
                                      </p:cBhvr>
                                      <p:tavLst>
                                        <p:tav tm="0">
                                          <p:val>
                                            <p:strVal val="#ppt_x"/>
                                          </p:val>
                                        </p:tav>
                                        <p:tav tm="100000">
                                          <p:val>
                                            <p:strVal val="#ppt_x"/>
                                          </p:val>
                                        </p:tav>
                                      </p:tavLst>
                                    </p:anim>
                                    <p:anim calcmode="lin" valueType="num">
                                      <p:cBhvr>
                                        <p:cTn id="116" dur="1000" fill="hold"/>
                                        <p:tgtEl>
                                          <p:spTgt spid="71"/>
                                        </p:tgtEl>
                                        <p:attrNameLst>
                                          <p:attrName>ppt_y</p:attrName>
                                        </p:attrNameLst>
                                      </p:cBhvr>
                                      <p:tavLst>
                                        <p:tav tm="0">
                                          <p:val>
                                            <p:strVal val="#ppt_y+.1"/>
                                          </p:val>
                                        </p:tav>
                                        <p:tav tm="100000">
                                          <p:val>
                                            <p:strVal val="#ppt_y"/>
                                          </p:val>
                                        </p:tav>
                                      </p:tavLst>
                                    </p:anim>
                                  </p:childTnLst>
                                </p:cTn>
                              </p:par>
                              <p:par>
                                <p:cTn id="117" presetID="42" presetClass="entr" presetSubtype="0" fill="hold" nodeType="with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9" dur="1000"/>
                                        <p:tgtEl>
                                          <p:spTgt spid="49"/>
                                        </p:tgtEl>
                                      </p:cBhvr>
                                    </p:animEffect>
                                    <p:anim calcmode="lin" valueType="num">
                                      <p:cBhvr>
                                        <p:cTn id="120" dur="1000" fill="hold"/>
                                        <p:tgtEl>
                                          <p:spTgt spid="49"/>
                                        </p:tgtEl>
                                        <p:attrNameLst>
                                          <p:attrName>ppt_x</p:attrName>
                                        </p:attrNameLst>
                                      </p:cBhvr>
                                      <p:tavLst>
                                        <p:tav tm="0">
                                          <p:val>
                                            <p:strVal val="#ppt_x"/>
                                          </p:val>
                                        </p:tav>
                                        <p:tav tm="100000">
                                          <p:val>
                                            <p:strVal val="#ppt_x"/>
                                          </p:val>
                                        </p:tav>
                                      </p:tavLst>
                                    </p:anim>
                                    <p:anim calcmode="lin" valueType="num">
                                      <p:cBhvr>
                                        <p:cTn id="121" dur="1000" fill="hold"/>
                                        <p:tgtEl>
                                          <p:spTgt spid="49"/>
                                        </p:tgtEl>
                                        <p:attrNameLst>
                                          <p:attrName>ppt_y</p:attrName>
                                        </p:attrNameLst>
                                      </p:cBhvr>
                                      <p:tavLst>
                                        <p:tav tm="0">
                                          <p:val>
                                            <p:strVal val="#ppt_y+.1"/>
                                          </p:val>
                                        </p:tav>
                                        <p:tav tm="100000">
                                          <p:val>
                                            <p:strVal val="#ppt_y"/>
                                          </p:val>
                                        </p:tav>
                                      </p:tavLst>
                                    </p:anim>
                                  </p:childTnLst>
                                </p:cTn>
                              </p:par>
                            </p:childTnLst>
                          </p:cTn>
                        </p:par>
                        <p:par>
                          <p:cTn id="122" fill="hold">
                            <p:stCondLst>
                              <p:cond delay="18000"/>
                            </p:stCondLst>
                            <p:childTnLst>
                              <p:par>
                                <p:cTn id="123" presetID="42" presetClass="entr" presetSubtype="0" fill="hold" grpId="0" nodeType="afterEffect">
                                  <p:stCondLst>
                                    <p:cond delay="0"/>
                                  </p:stCondLst>
                                  <p:childTnLst>
                                    <p:set>
                                      <p:cBhvr>
                                        <p:cTn id="124" dur="1" fill="hold">
                                          <p:stCondLst>
                                            <p:cond delay="0"/>
                                          </p:stCondLst>
                                        </p:cTn>
                                        <p:tgtEl>
                                          <p:spTgt spid="72"/>
                                        </p:tgtEl>
                                        <p:attrNameLst>
                                          <p:attrName>style.visibility</p:attrName>
                                        </p:attrNameLst>
                                      </p:cBhvr>
                                      <p:to>
                                        <p:strVal val="visible"/>
                                      </p:to>
                                    </p:set>
                                    <p:animEffect transition="in" filter="fade">
                                      <p:cBhvr>
                                        <p:cTn id="125" dur="1000"/>
                                        <p:tgtEl>
                                          <p:spTgt spid="72"/>
                                        </p:tgtEl>
                                      </p:cBhvr>
                                    </p:animEffect>
                                    <p:anim calcmode="lin" valueType="num">
                                      <p:cBhvr>
                                        <p:cTn id="126" dur="1000" fill="hold"/>
                                        <p:tgtEl>
                                          <p:spTgt spid="72"/>
                                        </p:tgtEl>
                                        <p:attrNameLst>
                                          <p:attrName>ppt_x</p:attrName>
                                        </p:attrNameLst>
                                      </p:cBhvr>
                                      <p:tavLst>
                                        <p:tav tm="0">
                                          <p:val>
                                            <p:strVal val="#ppt_x"/>
                                          </p:val>
                                        </p:tav>
                                        <p:tav tm="100000">
                                          <p:val>
                                            <p:strVal val="#ppt_x"/>
                                          </p:val>
                                        </p:tav>
                                      </p:tavLst>
                                    </p:anim>
                                    <p:anim calcmode="lin" valueType="num">
                                      <p:cBhvr>
                                        <p:cTn id="127" dur="1000" fill="hold"/>
                                        <p:tgtEl>
                                          <p:spTgt spid="72"/>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9" dur="1" fill="hold">
                                          <p:stCondLst>
                                            <p:cond delay="0"/>
                                          </p:stCondLst>
                                        </p:cTn>
                                        <p:tgtEl>
                                          <p:spTgt spid="64"/>
                                        </p:tgtEl>
                                        <p:attrNameLst>
                                          <p:attrName>style.visibility</p:attrName>
                                        </p:attrNameLst>
                                      </p:cBhvr>
                                      <p:to>
                                        <p:strVal val="visible"/>
                                      </p:to>
                                    </p:set>
                                    <p:animEffect transition="in" filter="fade">
                                      <p:cBhvr>
                                        <p:cTn id="130" dur="1000"/>
                                        <p:tgtEl>
                                          <p:spTgt spid="64"/>
                                        </p:tgtEl>
                                      </p:cBhvr>
                                    </p:animEffect>
                                    <p:anim calcmode="lin" valueType="num">
                                      <p:cBhvr>
                                        <p:cTn id="131" dur="1000" fill="hold"/>
                                        <p:tgtEl>
                                          <p:spTgt spid="64"/>
                                        </p:tgtEl>
                                        <p:attrNameLst>
                                          <p:attrName>ppt_x</p:attrName>
                                        </p:attrNameLst>
                                      </p:cBhvr>
                                      <p:tavLst>
                                        <p:tav tm="0">
                                          <p:val>
                                            <p:strVal val="#ppt_x"/>
                                          </p:val>
                                        </p:tav>
                                        <p:tav tm="100000">
                                          <p:val>
                                            <p:strVal val="#ppt_x"/>
                                          </p:val>
                                        </p:tav>
                                      </p:tavLst>
                                    </p:anim>
                                    <p:anim calcmode="lin" valueType="num">
                                      <p:cBhvr>
                                        <p:cTn id="132" dur="1000" fill="hold"/>
                                        <p:tgtEl>
                                          <p:spTgt spid="64"/>
                                        </p:tgtEl>
                                        <p:attrNameLst>
                                          <p:attrName>ppt_y</p:attrName>
                                        </p:attrNameLst>
                                      </p:cBhvr>
                                      <p:tavLst>
                                        <p:tav tm="0">
                                          <p:val>
                                            <p:strVal val="#ppt_y+.1"/>
                                          </p:val>
                                        </p:tav>
                                        <p:tav tm="100000">
                                          <p:val>
                                            <p:strVal val="#ppt_y"/>
                                          </p:val>
                                        </p:tav>
                                      </p:tavLst>
                                    </p:anim>
                                  </p:childTnLst>
                                </p:cTn>
                              </p:par>
                            </p:childTnLst>
                          </p:cTn>
                        </p:par>
                        <p:par>
                          <p:cTn id="133" fill="hold">
                            <p:stCondLst>
                              <p:cond delay="19000"/>
                            </p:stCondLst>
                            <p:childTnLst>
                              <p:par>
                                <p:cTn id="134" presetID="42" presetClass="entr" presetSubtype="0" fill="hold" grpId="0" nodeType="afterEffect">
                                  <p:stCondLst>
                                    <p:cond delay="0"/>
                                  </p:stCondLst>
                                  <p:childTnLst>
                                    <p:set>
                                      <p:cBhvr>
                                        <p:cTn id="135" dur="1" fill="hold">
                                          <p:stCondLst>
                                            <p:cond delay="0"/>
                                          </p:stCondLst>
                                        </p:cTn>
                                        <p:tgtEl>
                                          <p:spTgt spid="73"/>
                                        </p:tgtEl>
                                        <p:attrNameLst>
                                          <p:attrName>style.visibility</p:attrName>
                                        </p:attrNameLst>
                                      </p:cBhvr>
                                      <p:to>
                                        <p:strVal val="visible"/>
                                      </p:to>
                                    </p:set>
                                    <p:animEffect transition="in" filter="fade">
                                      <p:cBhvr>
                                        <p:cTn id="136" dur="1000"/>
                                        <p:tgtEl>
                                          <p:spTgt spid="73"/>
                                        </p:tgtEl>
                                      </p:cBhvr>
                                    </p:animEffect>
                                    <p:anim calcmode="lin" valueType="num">
                                      <p:cBhvr>
                                        <p:cTn id="137" dur="1000" fill="hold"/>
                                        <p:tgtEl>
                                          <p:spTgt spid="73"/>
                                        </p:tgtEl>
                                        <p:attrNameLst>
                                          <p:attrName>ppt_x</p:attrName>
                                        </p:attrNameLst>
                                      </p:cBhvr>
                                      <p:tavLst>
                                        <p:tav tm="0">
                                          <p:val>
                                            <p:strVal val="#ppt_x"/>
                                          </p:val>
                                        </p:tav>
                                        <p:tav tm="100000">
                                          <p:val>
                                            <p:strVal val="#ppt_x"/>
                                          </p:val>
                                        </p:tav>
                                      </p:tavLst>
                                    </p:anim>
                                    <p:anim calcmode="lin" valueType="num">
                                      <p:cBhvr>
                                        <p:cTn id="138" dur="1000" fill="hold"/>
                                        <p:tgtEl>
                                          <p:spTgt spid="73"/>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77"/>
                                        </p:tgtEl>
                                        <p:attrNameLst>
                                          <p:attrName>style.visibility</p:attrName>
                                        </p:attrNameLst>
                                      </p:cBhvr>
                                      <p:to>
                                        <p:strVal val="visible"/>
                                      </p:to>
                                    </p:set>
                                    <p:animEffect transition="in" filter="fade">
                                      <p:cBhvr>
                                        <p:cTn id="141" dur="1000"/>
                                        <p:tgtEl>
                                          <p:spTgt spid="77"/>
                                        </p:tgtEl>
                                      </p:cBhvr>
                                    </p:animEffect>
                                    <p:anim calcmode="lin" valueType="num">
                                      <p:cBhvr>
                                        <p:cTn id="142" dur="1000" fill="hold"/>
                                        <p:tgtEl>
                                          <p:spTgt spid="77"/>
                                        </p:tgtEl>
                                        <p:attrNameLst>
                                          <p:attrName>ppt_x</p:attrName>
                                        </p:attrNameLst>
                                      </p:cBhvr>
                                      <p:tavLst>
                                        <p:tav tm="0">
                                          <p:val>
                                            <p:strVal val="#ppt_x"/>
                                          </p:val>
                                        </p:tav>
                                        <p:tav tm="100000">
                                          <p:val>
                                            <p:strVal val="#ppt_x"/>
                                          </p:val>
                                        </p:tav>
                                      </p:tavLst>
                                    </p:anim>
                                    <p:anim calcmode="lin" valueType="num">
                                      <p:cBhvr>
                                        <p:cTn id="143" dur="1000" fill="hold"/>
                                        <p:tgtEl>
                                          <p:spTgt spid="77"/>
                                        </p:tgtEl>
                                        <p:attrNameLst>
                                          <p:attrName>ppt_y</p:attrName>
                                        </p:attrNameLst>
                                      </p:cBhvr>
                                      <p:tavLst>
                                        <p:tav tm="0">
                                          <p:val>
                                            <p:strVal val="#ppt_y+.1"/>
                                          </p:val>
                                        </p:tav>
                                        <p:tav tm="100000">
                                          <p:val>
                                            <p:strVal val="#ppt_y"/>
                                          </p:val>
                                        </p:tav>
                                      </p:tavLst>
                                    </p:anim>
                                  </p:childTnLst>
                                </p:cTn>
                              </p:par>
                            </p:childTnLst>
                          </p:cTn>
                        </p:par>
                        <p:par>
                          <p:cTn id="144" fill="hold">
                            <p:stCondLst>
                              <p:cond delay="20000"/>
                            </p:stCondLst>
                            <p:childTnLst>
                              <p:par>
                                <p:cTn id="145" presetID="42" presetClass="entr" presetSubtype="0" fill="hold" grpId="0" nodeType="afterEffect">
                                  <p:stCondLst>
                                    <p:cond delay="0"/>
                                  </p:stCondLst>
                                  <p:childTnLst>
                                    <p:set>
                                      <p:cBhvr>
                                        <p:cTn id="146" dur="1" fill="hold">
                                          <p:stCondLst>
                                            <p:cond delay="0"/>
                                          </p:stCondLst>
                                        </p:cTn>
                                        <p:tgtEl>
                                          <p:spTgt spid="80"/>
                                        </p:tgtEl>
                                        <p:attrNameLst>
                                          <p:attrName>style.visibility</p:attrName>
                                        </p:attrNameLst>
                                      </p:cBhvr>
                                      <p:to>
                                        <p:strVal val="visible"/>
                                      </p:to>
                                    </p:set>
                                    <p:animEffect transition="in" filter="fade">
                                      <p:cBhvr>
                                        <p:cTn id="147" dur="1000"/>
                                        <p:tgtEl>
                                          <p:spTgt spid="80"/>
                                        </p:tgtEl>
                                      </p:cBhvr>
                                    </p:animEffect>
                                    <p:anim calcmode="lin" valueType="num">
                                      <p:cBhvr>
                                        <p:cTn id="148" dur="1000" fill="hold"/>
                                        <p:tgtEl>
                                          <p:spTgt spid="80"/>
                                        </p:tgtEl>
                                        <p:attrNameLst>
                                          <p:attrName>ppt_x</p:attrName>
                                        </p:attrNameLst>
                                      </p:cBhvr>
                                      <p:tavLst>
                                        <p:tav tm="0">
                                          <p:val>
                                            <p:strVal val="#ppt_x"/>
                                          </p:val>
                                        </p:tav>
                                        <p:tav tm="100000">
                                          <p:val>
                                            <p:strVal val="#ppt_x"/>
                                          </p:val>
                                        </p:tav>
                                      </p:tavLst>
                                    </p:anim>
                                    <p:anim calcmode="lin" valueType="num">
                                      <p:cBhvr>
                                        <p:cTn id="149"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5" grpId="0" animBg="1"/>
      <p:bldP spid="61" grpId="0" animBg="1"/>
      <p:bldP spid="66" grpId="0" animBg="1"/>
      <p:bldP spid="43" grpId="0"/>
      <p:bldP spid="70" grpId="0"/>
      <p:bldP spid="71" grpId="0"/>
      <p:bldP spid="72" grpId="0"/>
      <p:bldP spid="73" grpId="0"/>
      <p:bldP spid="86" grpId="0" animBg="1"/>
      <p:bldP spid="87" grpId="0" animBg="1"/>
      <p:bldP spid="89" grpId="0" animBg="1"/>
      <p:bldP spid="90" grpId="0" animBg="1"/>
      <p:bldP spid="92" grpId="0" animBg="1"/>
      <p:bldP spid="93" grpId="0" animBg="1"/>
      <p:bldP spid="80" grpId="0" animBg="1"/>
      <p:bldP spid="99" grpId="0" animBg="1"/>
      <p:bldP spid="100" grpId="0" animBg="1"/>
      <p:bldP spid="101" grpId="0" animBg="1"/>
      <p:bldP spid="108" grpId="0" animBg="1"/>
      <p:bldP spid="1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7B4BAAA4-E141-4851-BB10-EE45E8001EBA}"/>
              </a:ext>
            </a:extLst>
          </p:cNvPr>
          <p:cNvPicPr>
            <a:picLocks noChangeAspect="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t="14702" b="964"/>
          <a:stretch/>
        </p:blipFill>
        <p:spPr>
          <a:xfrm>
            <a:off x="0" y="-1"/>
            <a:ext cx="12192000" cy="6858001"/>
          </a:xfrm>
          <a:prstGeom prst="rect">
            <a:avLst/>
          </a:prstGeom>
        </p:spPr>
      </p:pic>
      <p:sp>
        <p:nvSpPr>
          <p:cNvPr id="43" name="Rectangle 42">
            <a:extLst>
              <a:ext uri="{FF2B5EF4-FFF2-40B4-BE49-F238E27FC236}">
                <a16:creationId xmlns:a16="http://schemas.microsoft.com/office/drawing/2014/main" id="{DCFEEC03-AA73-4324-AA9D-236AC61DB27E}"/>
              </a:ext>
            </a:extLst>
          </p:cNvPr>
          <p:cNvSpPr/>
          <p:nvPr/>
        </p:nvSpPr>
        <p:spPr>
          <a:xfrm>
            <a:off x="0" y="-1"/>
            <a:ext cx="12202235" cy="6858001"/>
          </a:xfrm>
          <a:prstGeom prst="rect">
            <a:avLst/>
          </a:prstGeom>
          <a:gradFill flip="none" rotWithShape="1">
            <a:gsLst>
              <a:gs pos="52000">
                <a:srgbClr val="037106">
                  <a:lumMod val="100000"/>
                  <a:alpha val="73000"/>
                </a:srgbClr>
              </a:gs>
              <a:gs pos="100000">
                <a:srgbClr val="1EC8C3"/>
              </a:gs>
              <a:gs pos="23000">
                <a:srgbClr val="1EC8C3"/>
              </a:gs>
            </a:gsLst>
            <a:lin ang="3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id-ID" dirty="0"/>
          </a:p>
        </p:txBody>
      </p:sp>
      <p:sp>
        <p:nvSpPr>
          <p:cNvPr id="5" name="Freeform 5">
            <a:extLst>
              <a:ext uri="{FF2B5EF4-FFF2-40B4-BE49-F238E27FC236}">
                <a16:creationId xmlns:a16="http://schemas.microsoft.com/office/drawing/2014/main" id="{D71D9100-AD37-405E-9F89-64E1BB358303}"/>
              </a:ext>
            </a:extLst>
          </p:cNvPr>
          <p:cNvSpPr>
            <a:spLocks/>
          </p:cNvSpPr>
          <p:nvPr/>
        </p:nvSpPr>
        <p:spPr bwMode="auto">
          <a:xfrm flipH="1">
            <a:off x="0" y="4880155"/>
            <a:ext cx="3244333" cy="1975339"/>
          </a:xfrm>
          <a:custGeom>
            <a:avLst/>
            <a:gdLst>
              <a:gd name="T0" fmla="*/ 0 w 996"/>
              <a:gd name="T1" fmla="*/ 607 h 607"/>
              <a:gd name="T2" fmla="*/ 92 w 996"/>
              <a:gd name="T3" fmla="*/ 452 h 607"/>
              <a:gd name="T4" fmla="*/ 41 w 996"/>
              <a:gd name="T5" fmla="*/ 343 h 607"/>
              <a:gd name="T6" fmla="*/ 195 w 996"/>
              <a:gd name="T7" fmla="*/ 254 h 607"/>
              <a:gd name="T8" fmla="*/ 653 w 996"/>
              <a:gd name="T9" fmla="*/ 13 h 607"/>
              <a:gd name="T10" fmla="*/ 678 w 996"/>
              <a:gd name="T11" fmla="*/ 0 h 607"/>
              <a:gd name="T12" fmla="*/ 738 w 996"/>
              <a:gd name="T13" fmla="*/ 238 h 607"/>
              <a:gd name="T14" fmla="*/ 996 w 996"/>
              <a:gd name="T15" fmla="*/ 607 h 607"/>
              <a:gd name="T16" fmla="*/ 0 w 996"/>
              <a:gd name="T17" fmla="*/ 607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6" h="607">
                <a:moveTo>
                  <a:pt x="0" y="607"/>
                </a:moveTo>
                <a:cubicBezTo>
                  <a:pt x="92" y="452"/>
                  <a:pt x="92" y="452"/>
                  <a:pt x="92" y="452"/>
                </a:cubicBezTo>
                <a:cubicBezTo>
                  <a:pt x="92" y="452"/>
                  <a:pt x="66" y="400"/>
                  <a:pt x="41" y="343"/>
                </a:cubicBezTo>
                <a:cubicBezTo>
                  <a:pt x="88" y="322"/>
                  <a:pt x="139" y="293"/>
                  <a:pt x="195" y="254"/>
                </a:cubicBezTo>
                <a:cubicBezTo>
                  <a:pt x="653" y="13"/>
                  <a:pt x="653" y="13"/>
                  <a:pt x="653" y="13"/>
                </a:cubicBezTo>
                <a:cubicBezTo>
                  <a:pt x="666" y="8"/>
                  <a:pt x="678" y="0"/>
                  <a:pt x="678" y="0"/>
                </a:cubicBezTo>
                <a:cubicBezTo>
                  <a:pt x="742" y="90"/>
                  <a:pt x="738" y="238"/>
                  <a:pt x="738" y="238"/>
                </a:cubicBezTo>
                <a:cubicBezTo>
                  <a:pt x="966" y="398"/>
                  <a:pt x="996" y="607"/>
                  <a:pt x="996" y="607"/>
                </a:cubicBezTo>
                <a:lnTo>
                  <a:pt x="0" y="607"/>
                </a:lnTo>
                <a:close/>
              </a:path>
            </a:pathLst>
          </a:custGeom>
          <a:solidFill>
            <a:srgbClr val="3811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6" name="Freeform 6">
            <a:extLst>
              <a:ext uri="{FF2B5EF4-FFF2-40B4-BE49-F238E27FC236}">
                <a16:creationId xmlns:a16="http://schemas.microsoft.com/office/drawing/2014/main" id="{0F55BDFC-530E-4494-A37B-222FB09C7FD3}"/>
              </a:ext>
            </a:extLst>
          </p:cNvPr>
          <p:cNvSpPr>
            <a:spLocks/>
          </p:cNvSpPr>
          <p:nvPr/>
        </p:nvSpPr>
        <p:spPr bwMode="auto">
          <a:xfrm flipH="1">
            <a:off x="642287" y="964103"/>
            <a:ext cx="2299079" cy="2236755"/>
          </a:xfrm>
          <a:custGeom>
            <a:avLst/>
            <a:gdLst>
              <a:gd name="T0" fmla="*/ 695 w 706"/>
              <a:gd name="T1" fmla="*/ 688 h 688"/>
              <a:gd name="T2" fmla="*/ 426 w 706"/>
              <a:gd name="T3" fmla="*/ 688 h 688"/>
              <a:gd name="T4" fmla="*/ 415 w 706"/>
              <a:gd name="T5" fmla="*/ 655 h 688"/>
              <a:gd name="T6" fmla="*/ 377 w 706"/>
              <a:gd name="T7" fmla="*/ 586 h 688"/>
              <a:gd name="T8" fmla="*/ 347 w 706"/>
              <a:gd name="T9" fmla="*/ 645 h 688"/>
              <a:gd name="T10" fmla="*/ 347 w 706"/>
              <a:gd name="T11" fmla="*/ 688 h 688"/>
              <a:gd name="T12" fmla="*/ 102 w 706"/>
              <a:gd name="T13" fmla="*/ 688 h 688"/>
              <a:gd name="T14" fmla="*/ 102 w 706"/>
              <a:gd name="T15" fmla="*/ 376 h 688"/>
              <a:gd name="T16" fmla="*/ 60 w 706"/>
              <a:gd name="T17" fmla="*/ 376 h 688"/>
              <a:gd name="T18" fmla="*/ 0 w 706"/>
              <a:gd name="T19" fmla="*/ 347 h 688"/>
              <a:gd name="T20" fmla="*/ 69 w 706"/>
              <a:gd name="T21" fmla="*/ 308 h 688"/>
              <a:gd name="T22" fmla="*/ 102 w 706"/>
              <a:gd name="T23" fmla="*/ 298 h 688"/>
              <a:gd name="T24" fmla="*/ 102 w 706"/>
              <a:gd name="T25" fmla="*/ 23 h 688"/>
              <a:gd name="T26" fmla="*/ 705 w 706"/>
              <a:gd name="T27" fmla="*/ 556 h 688"/>
              <a:gd name="T28" fmla="*/ 695 w 706"/>
              <a:gd name="T29" fmla="*/ 688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6" h="688">
                <a:moveTo>
                  <a:pt x="695" y="688"/>
                </a:moveTo>
                <a:cubicBezTo>
                  <a:pt x="426" y="688"/>
                  <a:pt x="426" y="688"/>
                  <a:pt x="426" y="688"/>
                </a:cubicBezTo>
                <a:cubicBezTo>
                  <a:pt x="426" y="688"/>
                  <a:pt x="393" y="688"/>
                  <a:pt x="415" y="655"/>
                </a:cubicBezTo>
                <a:cubicBezTo>
                  <a:pt x="437" y="621"/>
                  <a:pt x="426" y="586"/>
                  <a:pt x="377" y="586"/>
                </a:cubicBezTo>
                <a:cubicBezTo>
                  <a:pt x="327" y="586"/>
                  <a:pt x="330" y="631"/>
                  <a:pt x="347" y="645"/>
                </a:cubicBezTo>
                <a:cubicBezTo>
                  <a:pt x="365" y="660"/>
                  <a:pt x="347" y="688"/>
                  <a:pt x="347" y="688"/>
                </a:cubicBezTo>
                <a:cubicBezTo>
                  <a:pt x="102" y="688"/>
                  <a:pt x="102" y="688"/>
                  <a:pt x="102" y="688"/>
                </a:cubicBezTo>
                <a:cubicBezTo>
                  <a:pt x="102" y="376"/>
                  <a:pt x="102" y="376"/>
                  <a:pt x="102" y="376"/>
                </a:cubicBezTo>
                <a:cubicBezTo>
                  <a:pt x="102" y="376"/>
                  <a:pt x="74" y="359"/>
                  <a:pt x="60" y="376"/>
                </a:cubicBezTo>
                <a:cubicBezTo>
                  <a:pt x="45" y="394"/>
                  <a:pt x="0" y="396"/>
                  <a:pt x="0" y="347"/>
                </a:cubicBezTo>
                <a:cubicBezTo>
                  <a:pt x="0" y="297"/>
                  <a:pt x="36" y="286"/>
                  <a:pt x="69" y="308"/>
                </a:cubicBezTo>
                <a:cubicBezTo>
                  <a:pt x="102" y="330"/>
                  <a:pt x="102" y="298"/>
                  <a:pt x="102" y="298"/>
                </a:cubicBezTo>
                <a:cubicBezTo>
                  <a:pt x="102" y="23"/>
                  <a:pt x="102" y="23"/>
                  <a:pt x="102" y="23"/>
                </a:cubicBezTo>
                <a:cubicBezTo>
                  <a:pt x="495" y="0"/>
                  <a:pt x="700" y="291"/>
                  <a:pt x="705" y="556"/>
                </a:cubicBezTo>
                <a:cubicBezTo>
                  <a:pt x="706" y="602"/>
                  <a:pt x="702" y="646"/>
                  <a:pt x="695" y="688"/>
                </a:cubicBezTo>
                <a:close/>
              </a:path>
            </a:pathLst>
          </a:custGeom>
          <a:solidFill>
            <a:schemeClr val="bg1">
              <a:alpha val="98000"/>
            </a:schemeClr>
          </a:solidFill>
          <a:ln>
            <a:noFill/>
          </a:ln>
          <a:effectLst>
            <a:outerShdw blurRad="50800" dist="38100" dir="13500000" algn="br"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7" name="Freeform 7">
            <a:extLst>
              <a:ext uri="{FF2B5EF4-FFF2-40B4-BE49-F238E27FC236}">
                <a16:creationId xmlns:a16="http://schemas.microsoft.com/office/drawing/2014/main" id="{BC40D2F9-D513-4710-A77C-38C069AC1AE4}"/>
              </a:ext>
            </a:extLst>
          </p:cNvPr>
          <p:cNvSpPr>
            <a:spLocks/>
          </p:cNvSpPr>
          <p:nvPr/>
        </p:nvSpPr>
        <p:spPr bwMode="auto">
          <a:xfrm flipH="1">
            <a:off x="2608970" y="3200858"/>
            <a:ext cx="2094793" cy="2795944"/>
          </a:xfrm>
          <a:custGeom>
            <a:avLst/>
            <a:gdLst>
              <a:gd name="T0" fmla="*/ 541 w 643"/>
              <a:gd name="T1" fmla="*/ 410 h 859"/>
              <a:gd name="T2" fmla="*/ 601 w 643"/>
              <a:gd name="T3" fmla="*/ 439 h 859"/>
              <a:gd name="T4" fmla="*/ 643 w 643"/>
              <a:gd name="T5" fmla="*/ 439 h 859"/>
              <a:gd name="T6" fmla="*/ 643 w 643"/>
              <a:gd name="T7" fmla="*/ 770 h 859"/>
              <a:gd name="T8" fmla="*/ 489 w 643"/>
              <a:gd name="T9" fmla="*/ 859 h 859"/>
              <a:gd name="T10" fmla="*/ 440 w 643"/>
              <a:gd name="T11" fmla="*/ 708 h 859"/>
              <a:gd name="T12" fmla="*/ 426 w 643"/>
              <a:gd name="T13" fmla="*/ 648 h 859"/>
              <a:gd name="T14" fmla="*/ 190 w 643"/>
              <a:gd name="T15" fmla="*/ 634 h 859"/>
              <a:gd name="T16" fmla="*/ 126 w 643"/>
              <a:gd name="T17" fmla="*/ 498 h 859"/>
              <a:gd name="T18" fmla="*/ 116 w 643"/>
              <a:gd name="T19" fmla="*/ 428 h 859"/>
              <a:gd name="T20" fmla="*/ 116 w 643"/>
              <a:gd name="T21" fmla="*/ 362 h 859"/>
              <a:gd name="T22" fmla="*/ 88 w 643"/>
              <a:gd name="T23" fmla="*/ 294 h 859"/>
              <a:gd name="T24" fmla="*/ 54 w 643"/>
              <a:gd name="T25" fmla="*/ 236 h 859"/>
              <a:gd name="T26" fmla="*/ 8 w 643"/>
              <a:gd name="T27" fmla="*/ 182 h 859"/>
              <a:gd name="T28" fmla="*/ 108 w 643"/>
              <a:gd name="T29" fmla="*/ 74 h 859"/>
              <a:gd name="T30" fmla="*/ 144 w 643"/>
              <a:gd name="T31" fmla="*/ 0 h 859"/>
              <a:gd name="T32" fmla="*/ 239 w 643"/>
              <a:gd name="T33" fmla="*/ 0 h 859"/>
              <a:gd name="T34" fmla="*/ 250 w 643"/>
              <a:gd name="T35" fmla="*/ 33 h 859"/>
              <a:gd name="T36" fmla="*/ 288 w 643"/>
              <a:gd name="T37" fmla="*/ 101 h 859"/>
              <a:gd name="T38" fmla="*/ 318 w 643"/>
              <a:gd name="T39" fmla="*/ 42 h 859"/>
              <a:gd name="T40" fmla="*/ 318 w 643"/>
              <a:gd name="T41" fmla="*/ 0 h 859"/>
              <a:gd name="T42" fmla="*/ 643 w 643"/>
              <a:gd name="T43" fmla="*/ 0 h 859"/>
              <a:gd name="T44" fmla="*/ 643 w 643"/>
              <a:gd name="T45" fmla="*/ 361 h 859"/>
              <a:gd name="T46" fmla="*/ 610 w 643"/>
              <a:gd name="T47" fmla="*/ 372 h 859"/>
              <a:gd name="T48" fmla="*/ 541 w 643"/>
              <a:gd name="T49" fmla="*/ 41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3" h="859">
                <a:moveTo>
                  <a:pt x="541" y="410"/>
                </a:moveTo>
                <a:cubicBezTo>
                  <a:pt x="541" y="460"/>
                  <a:pt x="586" y="457"/>
                  <a:pt x="601" y="439"/>
                </a:cubicBezTo>
                <a:cubicBezTo>
                  <a:pt x="615" y="422"/>
                  <a:pt x="643" y="439"/>
                  <a:pt x="643" y="439"/>
                </a:cubicBezTo>
                <a:cubicBezTo>
                  <a:pt x="643" y="770"/>
                  <a:pt x="643" y="770"/>
                  <a:pt x="643" y="770"/>
                </a:cubicBezTo>
                <a:cubicBezTo>
                  <a:pt x="587" y="809"/>
                  <a:pt x="536" y="838"/>
                  <a:pt x="489" y="859"/>
                </a:cubicBezTo>
                <a:cubicBezTo>
                  <a:pt x="462" y="797"/>
                  <a:pt x="435" y="729"/>
                  <a:pt x="440" y="708"/>
                </a:cubicBezTo>
                <a:cubicBezTo>
                  <a:pt x="450" y="668"/>
                  <a:pt x="438" y="654"/>
                  <a:pt x="426" y="648"/>
                </a:cubicBezTo>
                <a:cubicBezTo>
                  <a:pt x="414" y="642"/>
                  <a:pt x="256" y="658"/>
                  <a:pt x="190" y="634"/>
                </a:cubicBezTo>
                <a:cubicBezTo>
                  <a:pt x="124" y="610"/>
                  <a:pt x="98" y="534"/>
                  <a:pt x="126" y="498"/>
                </a:cubicBezTo>
                <a:cubicBezTo>
                  <a:pt x="154" y="462"/>
                  <a:pt x="134" y="446"/>
                  <a:pt x="116" y="428"/>
                </a:cubicBezTo>
                <a:cubicBezTo>
                  <a:pt x="99" y="410"/>
                  <a:pt x="116" y="362"/>
                  <a:pt x="116" y="362"/>
                </a:cubicBezTo>
                <a:cubicBezTo>
                  <a:pt x="87" y="358"/>
                  <a:pt x="64" y="328"/>
                  <a:pt x="88" y="294"/>
                </a:cubicBezTo>
                <a:cubicBezTo>
                  <a:pt x="112" y="260"/>
                  <a:pt x="104" y="250"/>
                  <a:pt x="54" y="236"/>
                </a:cubicBezTo>
                <a:cubicBezTo>
                  <a:pt x="4" y="222"/>
                  <a:pt x="0" y="196"/>
                  <a:pt x="8" y="182"/>
                </a:cubicBezTo>
                <a:cubicBezTo>
                  <a:pt x="16" y="168"/>
                  <a:pt x="68" y="114"/>
                  <a:pt x="108" y="74"/>
                </a:cubicBezTo>
                <a:cubicBezTo>
                  <a:pt x="133" y="49"/>
                  <a:pt x="144" y="36"/>
                  <a:pt x="144" y="0"/>
                </a:cubicBezTo>
                <a:cubicBezTo>
                  <a:pt x="239" y="0"/>
                  <a:pt x="239" y="0"/>
                  <a:pt x="239" y="0"/>
                </a:cubicBezTo>
                <a:cubicBezTo>
                  <a:pt x="239" y="0"/>
                  <a:pt x="272" y="0"/>
                  <a:pt x="250" y="33"/>
                </a:cubicBezTo>
                <a:cubicBezTo>
                  <a:pt x="228" y="66"/>
                  <a:pt x="239" y="101"/>
                  <a:pt x="288" y="101"/>
                </a:cubicBezTo>
                <a:cubicBezTo>
                  <a:pt x="338" y="101"/>
                  <a:pt x="335" y="56"/>
                  <a:pt x="318" y="42"/>
                </a:cubicBezTo>
                <a:cubicBezTo>
                  <a:pt x="300" y="27"/>
                  <a:pt x="318" y="0"/>
                  <a:pt x="318" y="0"/>
                </a:cubicBezTo>
                <a:cubicBezTo>
                  <a:pt x="643" y="0"/>
                  <a:pt x="643" y="0"/>
                  <a:pt x="643" y="0"/>
                </a:cubicBezTo>
                <a:cubicBezTo>
                  <a:pt x="643" y="361"/>
                  <a:pt x="643" y="361"/>
                  <a:pt x="643" y="361"/>
                </a:cubicBezTo>
                <a:cubicBezTo>
                  <a:pt x="643" y="361"/>
                  <a:pt x="643" y="394"/>
                  <a:pt x="610" y="372"/>
                </a:cubicBezTo>
                <a:cubicBezTo>
                  <a:pt x="577" y="350"/>
                  <a:pt x="541" y="361"/>
                  <a:pt x="541" y="410"/>
                </a:cubicBezTo>
                <a:close/>
              </a:path>
            </a:pathLst>
          </a:custGeom>
          <a:solidFill>
            <a:schemeClr val="bg1">
              <a:alpha val="98000"/>
            </a:schemeClr>
          </a:solidFill>
          <a:ln>
            <a:noFill/>
          </a:ln>
          <a:effectLst>
            <a:outerShdw blurRad="50800" dist="38100" dir="13500000" algn="br"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8" name="Freeform 8">
            <a:extLst>
              <a:ext uri="{FF2B5EF4-FFF2-40B4-BE49-F238E27FC236}">
                <a16:creationId xmlns:a16="http://schemas.microsoft.com/office/drawing/2014/main" id="{14EF6CD3-8BF4-427B-A26A-36E8F767269D}"/>
              </a:ext>
            </a:extLst>
          </p:cNvPr>
          <p:cNvSpPr>
            <a:spLocks/>
          </p:cNvSpPr>
          <p:nvPr/>
        </p:nvSpPr>
        <p:spPr bwMode="auto">
          <a:xfrm flipH="1">
            <a:off x="2608970" y="1038546"/>
            <a:ext cx="1717384" cy="2491247"/>
          </a:xfrm>
          <a:custGeom>
            <a:avLst/>
            <a:gdLst>
              <a:gd name="T0" fmla="*/ 425 w 527"/>
              <a:gd name="T1" fmla="*/ 324 h 766"/>
              <a:gd name="T2" fmla="*/ 485 w 527"/>
              <a:gd name="T3" fmla="*/ 353 h 766"/>
              <a:gd name="T4" fmla="*/ 527 w 527"/>
              <a:gd name="T5" fmla="*/ 353 h 766"/>
              <a:gd name="T6" fmla="*/ 527 w 527"/>
              <a:gd name="T7" fmla="*/ 665 h 766"/>
              <a:gd name="T8" fmla="*/ 202 w 527"/>
              <a:gd name="T9" fmla="*/ 665 h 766"/>
              <a:gd name="T10" fmla="*/ 202 w 527"/>
              <a:gd name="T11" fmla="*/ 707 h 766"/>
              <a:gd name="T12" fmla="*/ 172 w 527"/>
              <a:gd name="T13" fmla="*/ 766 h 766"/>
              <a:gd name="T14" fmla="*/ 134 w 527"/>
              <a:gd name="T15" fmla="*/ 698 h 766"/>
              <a:gd name="T16" fmla="*/ 123 w 527"/>
              <a:gd name="T17" fmla="*/ 665 h 766"/>
              <a:gd name="T18" fmla="*/ 28 w 527"/>
              <a:gd name="T19" fmla="*/ 665 h 766"/>
              <a:gd name="T20" fmla="*/ 18 w 527"/>
              <a:gd name="T21" fmla="*/ 569 h 766"/>
              <a:gd name="T22" fmla="*/ 112 w 527"/>
              <a:gd name="T23" fmla="*/ 305 h 766"/>
              <a:gd name="T24" fmla="*/ 42 w 527"/>
              <a:gd name="T25" fmla="*/ 275 h 766"/>
              <a:gd name="T26" fmla="*/ 62 w 527"/>
              <a:gd name="T27" fmla="*/ 233 h 766"/>
              <a:gd name="T28" fmla="*/ 14 w 527"/>
              <a:gd name="T29" fmla="*/ 247 h 766"/>
              <a:gd name="T30" fmla="*/ 50 w 527"/>
              <a:gd name="T31" fmla="*/ 207 h 766"/>
              <a:gd name="T32" fmla="*/ 46 w 527"/>
              <a:gd name="T33" fmla="*/ 191 h 766"/>
              <a:gd name="T34" fmla="*/ 20 w 527"/>
              <a:gd name="T35" fmla="*/ 173 h 766"/>
              <a:gd name="T36" fmla="*/ 382 w 527"/>
              <a:gd name="T37" fmla="*/ 21 h 766"/>
              <a:gd name="T38" fmla="*/ 527 w 527"/>
              <a:gd name="T39" fmla="*/ 0 h 766"/>
              <a:gd name="T40" fmla="*/ 527 w 527"/>
              <a:gd name="T41" fmla="*/ 275 h 766"/>
              <a:gd name="T42" fmla="*/ 494 w 527"/>
              <a:gd name="T43" fmla="*/ 285 h 766"/>
              <a:gd name="T44" fmla="*/ 425 w 527"/>
              <a:gd name="T45" fmla="*/ 324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7" h="766">
                <a:moveTo>
                  <a:pt x="425" y="324"/>
                </a:moveTo>
                <a:cubicBezTo>
                  <a:pt x="425" y="373"/>
                  <a:pt x="470" y="371"/>
                  <a:pt x="485" y="353"/>
                </a:cubicBezTo>
                <a:cubicBezTo>
                  <a:pt x="499" y="336"/>
                  <a:pt x="527" y="353"/>
                  <a:pt x="527" y="353"/>
                </a:cubicBezTo>
                <a:cubicBezTo>
                  <a:pt x="527" y="665"/>
                  <a:pt x="527" y="665"/>
                  <a:pt x="527" y="665"/>
                </a:cubicBezTo>
                <a:cubicBezTo>
                  <a:pt x="202" y="665"/>
                  <a:pt x="202" y="665"/>
                  <a:pt x="202" y="665"/>
                </a:cubicBezTo>
                <a:cubicBezTo>
                  <a:pt x="202" y="665"/>
                  <a:pt x="184" y="692"/>
                  <a:pt x="202" y="707"/>
                </a:cubicBezTo>
                <a:cubicBezTo>
                  <a:pt x="219" y="721"/>
                  <a:pt x="222" y="766"/>
                  <a:pt x="172" y="766"/>
                </a:cubicBezTo>
                <a:cubicBezTo>
                  <a:pt x="123" y="766"/>
                  <a:pt x="112" y="731"/>
                  <a:pt x="134" y="698"/>
                </a:cubicBezTo>
                <a:cubicBezTo>
                  <a:pt x="156" y="665"/>
                  <a:pt x="123" y="665"/>
                  <a:pt x="123" y="665"/>
                </a:cubicBezTo>
                <a:cubicBezTo>
                  <a:pt x="28" y="665"/>
                  <a:pt x="28" y="665"/>
                  <a:pt x="28" y="665"/>
                </a:cubicBezTo>
                <a:cubicBezTo>
                  <a:pt x="28" y="643"/>
                  <a:pt x="25" y="614"/>
                  <a:pt x="18" y="569"/>
                </a:cubicBezTo>
                <a:cubicBezTo>
                  <a:pt x="0" y="449"/>
                  <a:pt x="112" y="305"/>
                  <a:pt x="112" y="305"/>
                </a:cubicBezTo>
                <a:cubicBezTo>
                  <a:pt x="90" y="267"/>
                  <a:pt x="48" y="275"/>
                  <a:pt x="42" y="275"/>
                </a:cubicBezTo>
                <a:cubicBezTo>
                  <a:pt x="36" y="275"/>
                  <a:pt x="60" y="253"/>
                  <a:pt x="62" y="233"/>
                </a:cubicBezTo>
                <a:cubicBezTo>
                  <a:pt x="64" y="213"/>
                  <a:pt x="14" y="259"/>
                  <a:pt x="14" y="247"/>
                </a:cubicBezTo>
                <a:cubicBezTo>
                  <a:pt x="14" y="235"/>
                  <a:pt x="50" y="207"/>
                  <a:pt x="50" y="207"/>
                </a:cubicBezTo>
                <a:cubicBezTo>
                  <a:pt x="50" y="207"/>
                  <a:pt x="16" y="201"/>
                  <a:pt x="46" y="191"/>
                </a:cubicBezTo>
                <a:cubicBezTo>
                  <a:pt x="76" y="181"/>
                  <a:pt x="20" y="173"/>
                  <a:pt x="20" y="173"/>
                </a:cubicBezTo>
                <a:cubicBezTo>
                  <a:pt x="82" y="111"/>
                  <a:pt x="382" y="21"/>
                  <a:pt x="382" y="21"/>
                </a:cubicBezTo>
                <a:cubicBezTo>
                  <a:pt x="433" y="9"/>
                  <a:pt x="481" y="2"/>
                  <a:pt x="527" y="0"/>
                </a:cubicBezTo>
                <a:cubicBezTo>
                  <a:pt x="527" y="275"/>
                  <a:pt x="527" y="275"/>
                  <a:pt x="527" y="275"/>
                </a:cubicBezTo>
                <a:cubicBezTo>
                  <a:pt x="527" y="275"/>
                  <a:pt x="527" y="307"/>
                  <a:pt x="494" y="285"/>
                </a:cubicBezTo>
                <a:cubicBezTo>
                  <a:pt x="461" y="263"/>
                  <a:pt x="425" y="274"/>
                  <a:pt x="425" y="324"/>
                </a:cubicBezTo>
                <a:close/>
              </a:path>
            </a:pathLst>
          </a:custGeom>
          <a:solidFill>
            <a:schemeClr val="bg1">
              <a:lumMod val="95000"/>
            </a:schemeClr>
          </a:solidFill>
          <a:ln>
            <a:noFill/>
          </a:ln>
          <a:effectLst>
            <a:innerShdw blurRad="304800" dir="10800000">
              <a:prstClr val="black">
                <a:alpha val="18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52F19FE0-8806-44C9-999D-9D36C728F035}"/>
              </a:ext>
            </a:extLst>
          </p:cNvPr>
          <p:cNvSpPr>
            <a:spLocks/>
          </p:cNvSpPr>
          <p:nvPr/>
        </p:nvSpPr>
        <p:spPr bwMode="auto">
          <a:xfrm flipH="1">
            <a:off x="676912" y="2870191"/>
            <a:ext cx="2264454" cy="2835762"/>
          </a:xfrm>
          <a:custGeom>
            <a:avLst/>
            <a:gdLst>
              <a:gd name="T0" fmla="*/ 560 w 695"/>
              <a:gd name="T1" fmla="*/ 631 h 872"/>
              <a:gd name="T2" fmla="*/ 102 w 695"/>
              <a:gd name="T3" fmla="*/ 872 h 872"/>
              <a:gd name="T4" fmla="*/ 102 w 695"/>
              <a:gd name="T5" fmla="*/ 541 h 872"/>
              <a:gd name="T6" fmla="*/ 60 w 695"/>
              <a:gd name="T7" fmla="*/ 541 h 872"/>
              <a:gd name="T8" fmla="*/ 0 w 695"/>
              <a:gd name="T9" fmla="*/ 512 h 872"/>
              <a:gd name="T10" fmla="*/ 69 w 695"/>
              <a:gd name="T11" fmla="*/ 474 h 872"/>
              <a:gd name="T12" fmla="*/ 102 w 695"/>
              <a:gd name="T13" fmla="*/ 463 h 872"/>
              <a:gd name="T14" fmla="*/ 102 w 695"/>
              <a:gd name="T15" fmla="*/ 102 h 872"/>
              <a:gd name="T16" fmla="*/ 347 w 695"/>
              <a:gd name="T17" fmla="*/ 102 h 872"/>
              <a:gd name="T18" fmla="*/ 347 w 695"/>
              <a:gd name="T19" fmla="*/ 59 h 872"/>
              <a:gd name="T20" fmla="*/ 377 w 695"/>
              <a:gd name="T21" fmla="*/ 0 h 872"/>
              <a:gd name="T22" fmla="*/ 415 w 695"/>
              <a:gd name="T23" fmla="*/ 69 h 872"/>
              <a:gd name="T24" fmla="*/ 426 w 695"/>
              <a:gd name="T25" fmla="*/ 102 h 872"/>
              <a:gd name="T26" fmla="*/ 695 w 695"/>
              <a:gd name="T27" fmla="*/ 102 h 872"/>
              <a:gd name="T28" fmla="*/ 533 w 695"/>
              <a:gd name="T29" fmla="*/ 518 h 872"/>
              <a:gd name="T30" fmla="*/ 531 w 695"/>
              <a:gd name="T31" fmla="*/ 590 h 872"/>
              <a:gd name="T32" fmla="*/ 533 w 695"/>
              <a:gd name="T33" fmla="*/ 628 h 872"/>
              <a:gd name="T34" fmla="*/ 560 w 695"/>
              <a:gd name="T35" fmla="*/ 631 h 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5" h="872">
                <a:moveTo>
                  <a:pt x="560" y="631"/>
                </a:moveTo>
                <a:cubicBezTo>
                  <a:pt x="102" y="872"/>
                  <a:pt x="102" y="872"/>
                  <a:pt x="102" y="872"/>
                </a:cubicBezTo>
                <a:cubicBezTo>
                  <a:pt x="102" y="541"/>
                  <a:pt x="102" y="541"/>
                  <a:pt x="102" y="541"/>
                </a:cubicBezTo>
                <a:cubicBezTo>
                  <a:pt x="102" y="541"/>
                  <a:pt x="74" y="524"/>
                  <a:pt x="60" y="541"/>
                </a:cubicBezTo>
                <a:cubicBezTo>
                  <a:pt x="45" y="559"/>
                  <a:pt x="0" y="562"/>
                  <a:pt x="0" y="512"/>
                </a:cubicBezTo>
                <a:cubicBezTo>
                  <a:pt x="0" y="463"/>
                  <a:pt x="36" y="452"/>
                  <a:pt x="69" y="474"/>
                </a:cubicBezTo>
                <a:cubicBezTo>
                  <a:pt x="102" y="496"/>
                  <a:pt x="102" y="463"/>
                  <a:pt x="102" y="463"/>
                </a:cubicBezTo>
                <a:cubicBezTo>
                  <a:pt x="102" y="102"/>
                  <a:pt x="102" y="102"/>
                  <a:pt x="102" y="102"/>
                </a:cubicBezTo>
                <a:cubicBezTo>
                  <a:pt x="347" y="102"/>
                  <a:pt x="347" y="102"/>
                  <a:pt x="347" y="102"/>
                </a:cubicBezTo>
                <a:cubicBezTo>
                  <a:pt x="347" y="102"/>
                  <a:pt x="365" y="74"/>
                  <a:pt x="347" y="59"/>
                </a:cubicBezTo>
                <a:cubicBezTo>
                  <a:pt x="330" y="45"/>
                  <a:pt x="327" y="0"/>
                  <a:pt x="377" y="0"/>
                </a:cubicBezTo>
                <a:cubicBezTo>
                  <a:pt x="426" y="0"/>
                  <a:pt x="437" y="35"/>
                  <a:pt x="415" y="69"/>
                </a:cubicBezTo>
                <a:cubicBezTo>
                  <a:pt x="393" y="102"/>
                  <a:pt x="426" y="102"/>
                  <a:pt x="426" y="102"/>
                </a:cubicBezTo>
                <a:cubicBezTo>
                  <a:pt x="695" y="102"/>
                  <a:pt x="695" y="102"/>
                  <a:pt x="695" y="102"/>
                </a:cubicBezTo>
                <a:cubicBezTo>
                  <a:pt x="657" y="330"/>
                  <a:pt x="523" y="491"/>
                  <a:pt x="533" y="518"/>
                </a:cubicBezTo>
                <a:cubicBezTo>
                  <a:pt x="545" y="550"/>
                  <a:pt x="537" y="580"/>
                  <a:pt x="531" y="590"/>
                </a:cubicBezTo>
                <a:cubicBezTo>
                  <a:pt x="525" y="600"/>
                  <a:pt x="517" y="612"/>
                  <a:pt x="533" y="628"/>
                </a:cubicBezTo>
                <a:cubicBezTo>
                  <a:pt x="540" y="635"/>
                  <a:pt x="550" y="634"/>
                  <a:pt x="560" y="631"/>
                </a:cubicBezTo>
                <a:close/>
              </a:path>
            </a:pathLst>
          </a:custGeom>
          <a:solidFill>
            <a:schemeClr val="bg2">
              <a:lumMod val="90000"/>
            </a:schemeClr>
          </a:solidFill>
          <a:ln>
            <a:noFill/>
          </a:ln>
          <a:effectLst>
            <a:innerShdw blurRad="63500" dist="50800" dir="8100000">
              <a:prstClr val="black">
                <a:alpha val="7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C7E62FC0-D5A0-4F99-BB10-F4CB42683079}"/>
              </a:ext>
            </a:extLst>
          </p:cNvPr>
          <p:cNvSpPr txBox="1"/>
          <p:nvPr/>
        </p:nvSpPr>
        <p:spPr>
          <a:xfrm>
            <a:off x="1979832" y="238771"/>
            <a:ext cx="9975897" cy="1556180"/>
          </a:xfrm>
          <a:prstGeom prst="rect">
            <a:avLst/>
          </a:prstGeom>
          <a:noFill/>
        </p:spPr>
        <p:txBody>
          <a:bodyPr wrap="square" lIns="0" tIns="0" rIns="0" bIns="0" rtlCol="0" anchor="ctr">
            <a:noAutofit/>
          </a:bodyPr>
          <a:lstStyle>
            <a:defPPr>
              <a:defRPr lang="en-US"/>
            </a:defPPr>
            <a:lvl1pPr>
              <a:defRPr sz="1400" b="1"/>
            </a:lvl1pPr>
          </a:lstStyle>
          <a:p>
            <a:r>
              <a:rPr lang="ru-RU" sz="3600" dirty="0">
                <a:solidFill>
                  <a:srgbClr val="FAFAFA"/>
                </a:solidFill>
                <a:latin typeface="Arial" panose="020B0604020202020204" pitchFamily="34" charset="0"/>
                <a:ea typeface="Segoe UI Black" panose="020B0A02040204020203" pitchFamily="34" charset="0"/>
                <a:cs typeface="Arial" panose="020B0604020202020204" pitchFamily="34" charset="0"/>
              </a:rPr>
              <a:t>Специфични фактори в проекта. </a:t>
            </a:r>
            <a:r>
              <a:rPr lang="en-US" sz="3600" dirty="0" smtClean="0">
                <a:solidFill>
                  <a:srgbClr val="FAFAFA"/>
                </a:solidFill>
                <a:latin typeface="Arial" panose="020B0604020202020204" pitchFamily="34" charset="0"/>
                <a:ea typeface="Segoe UI Black" panose="020B0A02040204020203" pitchFamily="34" charset="0"/>
                <a:cs typeface="Arial" panose="020B0604020202020204" pitchFamily="34" charset="0"/>
              </a:rPr>
              <a:t/>
            </a:r>
            <a:br>
              <a:rPr lang="en-US" sz="3600" dirty="0" smtClean="0">
                <a:solidFill>
                  <a:srgbClr val="FAFAFA"/>
                </a:solidFill>
                <a:latin typeface="Arial" panose="020B0604020202020204" pitchFamily="34" charset="0"/>
                <a:ea typeface="Segoe UI Black" panose="020B0A02040204020203" pitchFamily="34" charset="0"/>
                <a:cs typeface="Arial" panose="020B0604020202020204" pitchFamily="34" charset="0"/>
              </a:rPr>
            </a:br>
            <a:r>
              <a:rPr lang="en-US" sz="3600" dirty="0" smtClean="0">
                <a:solidFill>
                  <a:srgbClr val="FAFAFA"/>
                </a:solidFill>
                <a:latin typeface="Arial" panose="020B0604020202020204" pitchFamily="34" charset="0"/>
                <a:ea typeface="Segoe UI Black" panose="020B0A02040204020203" pitchFamily="34" charset="0"/>
                <a:cs typeface="Arial" panose="020B0604020202020204" pitchFamily="34" charset="0"/>
              </a:rPr>
              <a:t>		</a:t>
            </a:r>
            <a:r>
              <a:rPr lang="ru-RU" sz="3600" dirty="0" smtClean="0">
                <a:solidFill>
                  <a:srgbClr val="FAFAFA"/>
                </a:solidFill>
                <a:latin typeface="Arial" panose="020B0604020202020204" pitchFamily="34" charset="0"/>
                <a:ea typeface="Segoe UI Black" panose="020B0A02040204020203" pitchFamily="34" charset="0"/>
                <a:cs typeface="Arial" panose="020B0604020202020204" pitchFamily="34" charset="0"/>
              </a:rPr>
              <a:t>Функции </a:t>
            </a:r>
            <a:r>
              <a:rPr lang="ru-RU" sz="3600" dirty="0">
                <a:solidFill>
                  <a:srgbClr val="FAFAFA"/>
                </a:solidFill>
                <a:latin typeface="Arial" panose="020B0604020202020204" pitchFamily="34" charset="0"/>
                <a:ea typeface="Segoe UI Black" panose="020B0A02040204020203" pitchFamily="34" charset="0"/>
                <a:cs typeface="Arial" panose="020B0604020202020204" pitchFamily="34" charset="0"/>
              </a:rPr>
              <a:t>на управлението на IT </a:t>
            </a:r>
            <a:r>
              <a:rPr lang="en-US" sz="3600" dirty="0" smtClean="0">
                <a:solidFill>
                  <a:srgbClr val="FAFAFA"/>
                </a:solidFill>
                <a:latin typeface="Arial" panose="020B0604020202020204" pitchFamily="34" charset="0"/>
                <a:ea typeface="Segoe UI Black" panose="020B0A02040204020203" pitchFamily="34" charset="0"/>
                <a:cs typeface="Arial" panose="020B0604020202020204" pitchFamily="34" charset="0"/>
              </a:rPr>
              <a:t>				</a:t>
            </a:r>
            <a:r>
              <a:rPr lang="ru-RU" sz="3600" dirty="0" smtClean="0">
                <a:solidFill>
                  <a:srgbClr val="FAFAFA"/>
                </a:solidFill>
                <a:latin typeface="Arial" panose="020B0604020202020204" pitchFamily="34" charset="0"/>
                <a:ea typeface="Segoe UI Black" panose="020B0A02040204020203" pitchFamily="34" charset="0"/>
                <a:cs typeface="Arial" panose="020B0604020202020204" pitchFamily="34" charset="0"/>
              </a:rPr>
              <a:t>проектите</a:t>
            </a:r>
            <a:r>
              <a:rPr lang="ru-RU" sz="3600" dirty="0">
                <a:solidFill>
                  <a:srgbClr val="FAFAFA"/>
                </a:solidFill>
                <a:latin typeface="Arial" panose="020B0604020202020204" pitchFamily="34" charset="0"/>
                <a:ea typeface="Segoe UI Black" panose="020B0A02040204020203" pitchFamily="34" charset="0"/>
                <a:cs typeface="Arial" panose="020B0604020202020204" pitchFamily="34" charset="0"/>
              </a:rPr>
              <a:t>.</a:t>
            </a:r>
            <a:endParaRPr lang="en-US" sz="3600" dirty="0">
              <a:solidFill>
                <a:srgbClr val="FAFAFA"/>
              </a:solidFill>
              <a:latin typeface="Arial" panose="020B0604020202020204" pitchFamily="34" charset="0"/>
              <a:ea typeface="Segoe UI Black" panose="020B0A0204020402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232FC8A0-611B-4EE5-A6C2-6C1611E928EB}"/>
              </a:ext>
            </a:extLst>
          </p:cNvPr>
          <p:cNvSpPr txBox="1"/>
          <p:nvPr/>
        </p:nvSpPr>
        <p:spPr>
          <a:xfrm>
            <a:off x="2983242" y="2286575"/>
            <a:ext cx="968840" cy="306663"/>
          </a:xfrm>
          <a:prstGeom prst="rect">
            <a:avLst/>
          </a:prstGeom>
          <a:noFill/>
        </p:spPr>
        <p:txBody>
          <a:bodyPr wrap="square" lIns="0" tIns="0" rIns="0" bIns="0" rtlCol="0" anchor="ctr">
            <a:noAutofit/>
          </a:bodyPr>
          <a:lstStyle/>
          <a:p>
            <a:pPr algn="ctr"/>
            <a:r>
              <a:rPr lang="id-ID" sz="2000" b="1" dirty="0">
                <a:solidFill>
                  <a:srgbClr val="38116E"/>
                </a:solidFill>
                <a:latin typeface="Segoe UI" panose="020B0502040204020203" pitchFamily="34" charset="0"/>
                <a:cs typeface="Segoe UI" panose="020B0502040204020203" pitchFamily="34" charset="0"/>
              </a:rPr>
              <a:t>Vision</a:t>
            </a:r>
            <a:endParaRPr lang="en-US" sz="2000" b="1" dirty="0">
              <a:solidFill>
                <a:srgbClr val="38116E"/>
              </a:solidFill>
              <a:latin typeface="Segoe UI" panose="020B0502040204020203" pitchFamily="34" charset="0"/>
              <a:cs typeface="Segoe UI" panose="020B0502040204020203" pitchFamily="34" charset="0"/>
            </a:endParaRPr>
          </a:p>
        </p:txBody>
      </p:sp>
      <p:sp>
        <p:nvSpPr>
          <p:cNvPr id="25" name="TextBox 24">
            <a:extLst>
              <a:ext uri="{FF2B5EF4-FFF2-40B4-BE49-F238E27FC236}">
                <a16:creationId xmlns:a16="http://schemas.microsoft.com/office/drawing/2014/main" id="{94FB2474-D16D-4E51-A521-DA8816D7F5EF}"/>
              </a:ext>
            </a:extLst>
          </p:cNvPr>
          <p:cNvSpPr txBox="1"/>
          <p:nvPr/>
        </p:nvSpPr>
        <p:spPr>
          <a:xfrm>
            <a:off x="1324719" y="2286575"/>
            <a:ext cx="968840" cy="306663"/>
          </a:xfrm>
          <a:prstGeom prst="rect">
            <a:avLst/>
          </a:prstGeom>
          <a:noFill/>
        </p:spPr>
        <p:txBody>
          <a:bodyPr wrap="square" lIns="0" tIns="0" rIns="0" bIns="0" rtlCol="0" anchor="ctr">
            <a:noAutofit/>
          </a:bodyPr>
          <a:lstStyle/>
          <a:p>
            <a:pPr algn="ctr"/>
            <a:r>
              <a:rPr lang="id-ID" sz="2000" b="1" dirty="0">
                <a:solidFill>
                  <a:srgbClr val="38116E"/>
                </a:solidFill>
                <a:latin typeface="Segoe UI" panose="020B0502040204020203" pitchFamily="34" charset="0"/>
                <a:cs typeface="Segoe UI" panose="020B0502040204020203" pitchFamily="34" charset="0"/>
              </a:rPr>
              <a:t>Mission</a:t>
            </a:r>
            <a:endParaRPr lang="en-US" sz="2000" b="1" dirty="0">
              <a:solidFill>
                <a:srgbClr val="38116E"/>
              </a:solidFill>
              <a:latin typeface="Segoe UI" panose="020B0502040204020203" pitchFamily="34" charset="0"/>
              <a:cs typeface="Segoe UI" panose="020B0502040204020203" pitchFamily="34" charset="0"/>
            </a:endParaRPr>
          </a:p>
        </p:txBody>
      </p:sp>
      <p:sp>
        <p:nvSpPr>
          <p:cNvPr id="26" name="TextBox 25">
            <a:extLst>
              <a:ext uri="{FF2B5EF4-FFF2-40B4-BE49-F238E27FC236}">
                <a16:creationId xmlns:a16="http://schemas.microsoft.com/office/drawing/2014/main" id="{23C392F6-D263-4C94-907B-1174E84288F9}"/>
              </a:ext>
            </a:extLst>
          </p:cNvPr>
          <p:cNvSpPr txBox="1"/>
          <p:nvPr/>
        </p:nvSpPr>
        <p:spPr>
          <a:xfrm>
            <a:off x="2773327" y="3963000"/>
            <a:ext cx="1388670" cy="306663"/>
          </a:xfrm>
          <a:prstGeom prst="rect">
            <a:avLst/>
          </a:prstGeom>
          <a:noFill/>
        </p:spPr>
        <p:txBody>
          <a:bodyPr wrap="square" lIns="0" tIns="0" rIns="0" bIns="0" rtlCol="0" anchor="ctr">
            <a:noAutofit/>
          </a:bodyPr>
          <a:lstStyle/>
          <a:p>
            <a:pPr algn="ctr"/>
            <a:r>
              <a:rPr lang="id-ID" sz="2000" b="1" dirty="0">
                <a:solidFill>
                  <a:srgbClr val="38116E"/>
                </a:solidFill>
                <a:latin typeface="Segoe UI" panose="020B0502040204020203" pitchFamily="34" charset="0"/>
                <a:cs typeface="Segoe UI" panose="020B0502040204020203" pitchFamily="34" charset="0"/>
              </a:rPr>
              <a:t>Strategy</a:t>
            </a:r>
            <a:endParaRPr lang="en-US" sz="2000" b="1" dirty="0">
              <a:solidFill>
                <a:srgbClr val="38116E"/>
              </a:solidFill>
              <a:latin typeface="Segoe UI" panose="020B0502040204020203" pitchFamily="34" charset="0"/>
              <a:cs typeface="Segoe UI" panose="020B0502040204020203" pitchFamily="34" charset="0"/>
            </a:endParaRPr>
          </a:p>
        </p:txBody>
      </p:sp>
      <p:sp>
        <p:nvSpPr>
          <p:cNvPr id="27" name="TextBox 26">
            <a:extLst>
              <a:ext uri="{FF2B5EF4-FFF2-40B4-BE49-F238E27FC236}">
                <a16:creationId xmlns:a16="http://schemas.microsoft.com/office/drawing/2014/main" id="{07874673-F970-468C-9A67-B63D9D35B382}"/>
              </a:ext>
            </a:extLst>
          </p:cNvPr>
          <p:cNvSpPr txBox="1"/>
          <p:nvPr/>
        </p:nvSpPr>
        <p:spPr>
          <a:xfrm>
            <a:off x="1324719" y="3963000"/>
            <a:ext cx="968840" cy="306663"/>
          </a:xfrm>
          <a:prstGeom prst="rect">
            <a:avLst/>
          </a:prstGeom>
          <a:noFill/>
        </p:spPr>
        <p:txBody>
          <a:bodyPr wrap="square" lIns="0" tIns="0" rIns="0" bIns="0" rtlCol="0" anchor="ctr">
            <a:noAutofit/>
          </a:bodyPr>
          <a:lstStyle/>
          <a:p>
            <a:pPr algn="ctr"/>
            <a:r>
              <a:rPr lang="id-ID" sz="2000" b="1" dirty="0">
                <a:solidFill>
                  <a:srgbClr val="38116E"/>
                </a:solidFill>
                <a:latin typeface="Segoe UI" panose="020B0502040204020203" pitchFamily="34" charset="0"/>
                <a:cs typeface="Segoe UI" panose="020B0502040204020203" pitchFamily="34" charset="0"/>
              </a:rPr>
              <a:t>Goal</a:t>
            </a:r>
            <a:endParaRPr lang="en-US" sz="2000" b="1" dirty="0">
              <a:solidFill>
                <a:srgbClr val="38116E"/>
              </a:solidFill>
              <a:latin typeface="Segoe UI" panose="020B0502040204020203" pitchFamily="34" charset="0"/>
              <a:cs typeface="Segoe UI" panose="020B0502040204020203" pitchFamily="34" charset="0"/>
            </a:endParaRPr>
          </a:p>
        </p:txBody>
      </p:sp>
      <p:sp>
        <p:nvSpPr>
          <p:cNvPr id="50" name="Freeform 22">
            <a:extLst>
              <a:ext uri="{FF2B5EF4-FFF2-40B4-BE49-F238E27FC236}">
                <a16:creationId xmlns:a16="http://schemas.microsoft.com/office/drawing/2014/main" id="{459F97BC-DDDD-4B5F-885D-E61847B4F022}"/>
              </a:ext>
            </a:extLst>
          </p:cNvPr>
          <p:cNvSpPr>
            <a:spLocks/>
          </p:cNvSpPr>
          <p:nvPr/>
        </p:nvSpPr>
        <p:spPr bwMode="auto">
          <a:xfrm>
            <a:off x="5097548" y="2186419"/>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1</a:t>
            </a:r>
            <a:endParaRPr lang="en-US" b="1" dirty="0">
              <a:solidFill>
                <a:schemeClr val="tx1"/>
              </a:solidFill>
            </a:endParaRPr>
          </a:p>
        </p:txBody>
      </p:sp>
      <p:sp>
        <p:nvSpPr>
          <p:cNvPr id="53" name="Oval 52">
            <a:extLst>
              <a:ext uri="{FF2B5EF4-FFF2-40B4-BE49-F238E27FC236}">
                <a16:creationId xmlns:a16="http://schemas.microsoft.com/office/drawing/2014/main" id="{2E98F2EB-630B-4528-8BCF-AFDDEF1CB38F}"/>
              </a:ext>
            </a:extLst>
          </p:cNvPr>
          <p:cNvSpPr/>
          <p:nvPr/>
        </p:nvSpPr>
        <p:spPr>
          <a:xfrm>
            <a:off x="10914959" y="-772505"/>
            <a:ext cx="1929614" cy="1929614"/>
          </a:xfrm>
          <a:prstGeom prst="ellipse">
            <a:avLst/>
          </a:prstGeom>
          <a:gradFill>
            <a:gsLst>
              <a:gs pos="100000">
                <a:srgbClr val="037106"/>
              </a:gs>
              <a:gs pos="30000">
                <a:srgbClr val="1EC8C3"/>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C8A5A2DB-8F1E-432D-B895-83FAE9AFA6C0}"/>
              </a:ext>
            </a:extLst>
          </p:cNvPr>
          <p:cNvSpPr/>
          <p:nvPr/>
        </p:nvSpPr>
        <p:spPr>
          <a:xfrm>
            <a:off x="10348092" y="-475380"/>
            <a:ext cx="1004186" cy="1004186"/>
          </a:xfrm>
          <a:prstGeom prst="ellipse">
            <a:avLst/>
          </a:prstGeom>
          <a:gradFill>
            <a:gsLst>
              <a:gs pos="100000">
                <a:srgbClr val="037106"/>
              </a:gs>
              <a:gs pos="12000">
                <a:srgbClr val="1EC8C3"/>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5526415" y="2033723"/>
            <a:ext cx="6429314" cy="4555093"/>
          </a:xfrm>
          <a:prstGeom prst="rect">
            <a:avLst/>
          </a:prstGeom>
          <a:noFill/>
        </p:spPr>
        <p:txBody>
          <a:bodyPr wrap="square" rtlCol="0">
            <a:spAutoFit/>
          </a:bodyPr>
          <a:lstStyle/>
          <a:p>
            <a:r>
              <a:rPr lang="ru-RU" sz="2900" b="1" dirty="0">
                <a:solidFill>
                  <a:schemeClr val="bg1"/>
                </a:solidFill>
              </a:rPr>
              <a:t>Управление на </a:t>
            </a:r>
            <a:r>
              <a:rPr lang="ru-RU" sz="2900" b="1" dirty="0" smtClean="0">
                <a:solidFill>
                  <a:schemeClr val="bg1"/>
                </a:solidFill>
              </a:rPr>
              <a:t>обхвата</a:t>
            </a:r>
            <a:endParaRPr lang="en-US" sz="2900" b="1" dirty="0" smtClean="0">
              <a:solidFill>
                <a:schemeClr val="bg1"/>
              </a:solidFill>
            </a:endParaRPr>
          </a:p>
          <a:p>
            <a:r>
              <a:rPr lang="ru-RU" sz="2900" b="1" dirty="0">
                <a:solidFill>
                  <a:schemeClr val="bg1"/>
                </a:solidFill>
              </a:rPr>
              <a:t>Управление на </a:t>
            </a:r>
            <a:r>
              <a:rPr lang="ru-RU" sz="2900" b="1" dirty="0" smtClean="0">
                <a:solidFill>
                  <a:schemeClr val="bg1"/>
                </a:solidFill>
              </a:rPr>
              <a:t>график</a:t>
            </a:r>
            <a:endParaRPr lang="en-US" sz="2900" b="1" dirty="0" smtClean="0">
              <a:solidFill>
                <a:schemeClr val="bg1"/>
              </a:solidFill>
            </a:endParaRPr>
          </a:p>
          <a:p>
            <a:r>
              <a:rPr lang="ru-RU" sz="2900" b="1" dirty="0">
                <a:solidFill>
                  <a:schemeClr val="bg1"/>
                </a:solidFill>
              </a:rPr>
              <a:t>Управление на </a:t>
            </a:r>
            <a:r>
              <a:rPr lang="ru-RU" sz="2900" b="1" dirty="0" smtClean="0">
                <a:solidFill>
                  <a:schemeClr val="bg1"/>
                </a:solidFill>
              </a:rPr>
              <a:t>разходите</a:t>
            </a:r>
            <a:endParaRPr lang="en-US" sz="2900" b="1" dirty="0" smtClean="0">
              <a:solidFill>
                <a:schemeClr val="bg1"/>
              </a:solidFill>
            </a:endParaRPr>
          </a:p>
          <a:p>
            <a:r>
              <a:rPr lang="ru-RU" sz="2900" b="1" dirty="0">
                <a:solidFill>
                  <a:schemeClr val="bg1"/>
                </a:solidFill>
              </a:rPr>
              <a:t>Управление на </a:t>
            </a:r>
            <a:r>
              <a:rPr lang="ru-RU" sz="2900" b="1" dirty="0" smtClean="0">
                <a:solidFill>
                  <a:schemeClr val="bg1"/>
                </a:solidFill>
              </a:rPr>
              <a:t>качеството</a:t>
            </a:r>
            <a:endParaRPr lang="en-US" sz="2900" b="1" dirty="0" smtClean="0">
              <a:solidFill>
                <a:schemeClr val="bg1"/>
              </a:solidFill>
            </a:endParaRPr>
          </a:p>
          <a:p>
            <a:r>
              <a:rPr lang="ru-RU" sz="2900" b="1" dirty="0">
                <a:solidFill>
                  <a:schemeClr val="bg1"/>
                </a:solidFill>
              </a:rPr>
              <a:t>Управление на човешките </a:t>
            </a:r>
            <a:r>
              <a:rPr lang="ru-RU" sz="2900" b="1" dirty="0" smtClean="0">
                <a:solidFill>
                  <a:schemeClr val="bg1"/>
                </a:solidFill>
              </a:rPr>
              <a:t>ресурси</a:t>
            </a:r>
            <a:endParaRPr lang="en-US" sz="2900" b="1" dirty="0" smtClean="0">
              <a:solidFill>
                <a:schemeClr val="bg1"/>
              </a:solidFill>
            </a:endParaRPr>
          </a:p>
          <a:p>
            <a:r>
              <a:rPr lang="ru-RU" sz="2900" b="1" dirty="0">
                <a:solidFill>
                  <a:schemeClr val="bg1"/>
                </a:solidFill>
              </a:rPr>
              <a:t>Управление на </a:t>
            </a:r>
            <a:r>
              <a:rPr lang="ru-RU" sz="2900" b="1" dirty="0" smtClean="0">
                <a:solidFill>
                  <a:schemeClr val="bg1"/>
                </a:solidFill>
              </a:rPr>
              <a:t>комуникациите</a:t>
            </a:r>
            <a:endParaRPr lang="en-US" sz="2900" b="1" dirty="0" smtClean="0">
              <a:solidFill>
                <a:schemeClr val="bg1"/>
              </a:solidFill>
            </a:endParaRPr>
          </a:p>
          <a:p>
            <a:r>
              <a:rPr lang="ru-RU" sz="2900" b="1" dirty="0">
                <a:solidFill>
                  <a:schemeClr val="bg1"/>
                </a:solidFill>
              </a:rPr>
              <a:t>Управление на </a:t>
            </a:r>
            <a:r>
              <a:rPr lang="ru-RU" sz="2900" b="1" dirty="0" smtClean="0">
                <a:solidFill>
                  <a:schemeClr val="bg1"/>
                </a:solidFill>
              </a:rPr>
              <a:t>риска</a:t>
            </a:r>
            <a:endParaRPr lang="en-US" sz="2900" b="1" dirty="0" smtClean="0">
              <a:solidFill>
                <a:schemeClr val="bg1"/>
              </a:solidFill>
            </a:endParaRPr>
          </a:p>
          <a:p>
            <a:r>
              <a:rPr lang="bg-BG" sz="2900" b="1" dirty="0">
                <a:solidFill>
                  <a:schemeClr val="bg1"/>
                </a:solidFill>
              </a:rPr>
              <a:t>Управление </a:t>
            </a:r>
            <a:r>
              <a:rPr lang="bg-BG" sz="2900" b="1" dirty="0" smtClean="0">
                <a:solidFill>
                  <a:schemeClr val="bg1"/>
                </a:solidFill>
              </a:rPr>
              <a:t>на поръчки</a:t>
            </a:r>
            <a:endParaRPr lang="en-US" sz="2900" b="1" dirty="0" smtClean="0">
              <a:solidFill>
                <a:schemeClr val="bg1"/>
              </a:solidFill>
            </a:endParaRPr>
          </a:p>
          <a:p>
            <a:r>
              <a:rPr lang="bg-BG" sz="2900" b="1" dirty="0">
                <a:solidFill>
                  <a:schemeClr val="bg1"/>
                </a:solidFill>
              </a:rPr>
              <a:t>Управление на </a:t>
            </a:r>
            <a:r>
              <a:rPr lang="en-US" sz="2900" b="1" dirty="0" smtClean="0">
                <a:solidFill>
                  <a:schemeClr val="bg1"/>
                </a:solidFill>
              </a:rPr>
              <a:t>stakeholders</a:t>
            </a:r>
          </a:p>
          <a:p>
            <a:r>
              <a:rPr lang="ru-RU" sz="2900" b="1" dirty="0">
                <a:solidFill>
                  <a:schemeClr val="bg1"/>
                </a:solidFill>
              </a:rPr>
              <a:t>Управление на </a:t>
            </a:r>
            <a:r>
              <a:rPr lang="ru-RU" sz="2900" b="1" dirty="0" smtClean="0">
                <a:solidFill>
                  <a:schemeClr val="bg1"/>
                </a:solidFill>
              </a:rPr>
              <a:t>интеграцията</a:t>
            </a:r>
            <a:endParaRPr lang="en-US" sz="2400" b="1" dirty="0">
              <a:solidFill>
                <a:schemeClr val="bg1"/>
              </a:solidFill>
            </a:endParaRPr>
          </a:p>
        </p:txBody>
      </p:sp>
      <p:sp>
        <p:nvSpPr>
          <p:cNvPr id="56" name="Freeform 22">
            <a:extLst>
              <a:ext uri="{FF2B5EF4-FFF2-40B4-BE49-F238E27FC236}">
                <a16:creationId xmlns:a16="http://schemas.microsoft.com/office/drawing/2014/main" id="{459F97BC-DDDD-4B5F-885D-E61847B4F022}"/>
              </a:ext>
            </a:extLst>
          </p:cNvPr>
          <p:cNvSpPr>
            <a:spLocks/>
          </p:cNvSpPr>
          <p:nvPr/>
        </p:nvSpPr>
        <p:spPr bwMode="auto">
          <a:xfrm>
            <a:off x="5097548" y="2619942"/>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2</a:t>
            </a:r>
            <a:endParaRPr lang="en-US" b="1" dirty="0">
              <a:solidFill>
                <a:schemeClr val="tx1"/>
              </a:solidFill>
            </a:endParaRPr>
          </a:p>
        </p:txBody>
      </p:sp>
      <p:sp>
        <p:nvSpPr>
          <p:cNvPr id="57" name="Freeform 22">
            <a:extLst>
              <a:ext uri="{FF2B5EF4-FFF2-40B4-BE49-F238E27FC236}">
                <a16:creationId xmlns:a16="http://schemas.microsoft.com/office/drawing/2014/main" id="{459F97BC-DDDD-4B5F-885D-E61847B4F022}"/>
              </a:ext>
            </a:extLst>
          </p:cNvPr>
          <p:cNvSpPr>
            <a:spLocks/>
          </p:cNvSpPr>
          <p:nvPr/>
        </p:nvSpPr>
        <p:spPr bwMode="auto">
          <a:xfrm>
            <a:off x="5097548" y="3053465"/>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3</a:t>
            </a:r>
            <a:endParaRPr lang="en-US" b="1" dirty="0">
              <a:solidFill>
                <a:schemeClr val="tx1"/>
              </a:solidFill>
            </a:endParaRPr>
          </a:p>
        </p:txBody>
      </p:sp>
      <p:sp>
        <p:nvSpPr>
          <p:cNvPr id="58" name="Freeform 22">
            <a:extLst>
              <a:ext uri="{FF2B5EF4-FFF2-40B4-BE49-F238E27FC236}">
                <a16:creationId xmlns:a16="http://schemas.microsoft.com/office/drawing/2014/main" id="{459F97BC-DDDD-4B5F-885D-E61847B4F022}"/>
              </a:ext>
            </a:extLst>
          </p:cNvPr>
          <p:cNvSpPr>
            <a:spLocks/>
          </p:cNvSpPr>
          <p:nvPr/>
        </p:nvSpPr>
        <p:spPr bwMode="auto">
          <a:xfrm>
            <a:off x="5097548" y="4407068"/>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6</a:t>
            </a:r>
            <a:endParaRPr lang="en-US" b="1" dirty="0">
              <a:solidFill>
                <a:schemeClr val="tx1"/>
              </a:solidFill>
            </a:endParaRPr>
          </a:p>
        </p:txBody>
      </p:sp>
      <p:sp>
        <p:nvSpPr>
          <p:cNvPr id="60" name="Freeform 22">
            <a:extLst>
              <a:ext uri="{FF2B5EF4-FFF2-40B4-BE49-F238E27FC236}">
                <a16:creationId xmlns:a16="http://schemas.microsoft.com/office/drawing/2014/main" id="{459F97BC-DDDD-4B5F-885D-E61847B4F022}"/>
              </a:ext>
            </a:extLst>
          </p:cNvPr>
          <p:cNvSpPr>
            <a:spLocks/>
          </p:cNvSpPr>
          <p:nvPr/>
        </p:nvSpPr>
        <p:spPr bwMode="auto">
          <a:xfrm>
            <a:off x="5097548" y="3519189"/>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4</a:t>
            </a:r>
            <a:endParaRPr lang="en-US" b="1" dirty="0">
              <a:solidFill>
                <a:schemeClr val="tx1"/>
              </a:solidFill>
            </a:endParaRPr>
          </a:p>
        </p:txBody>
      </p:sp>
      <p:sp>
        <p:nvSpPr>
          <p:cNvPr id="61" name="Freeform 22">
            <a:extLst>
              <a:ext uri="{FF2B5EF4-FFF2-40B4-BE49-F238E27FC236}">
                <a16:creationId xmlns:a16="http://schemas.microsoft.com/office/drawing/2014/main" id="{459F97BC-DDDD-4B5F-885D-E61847B4F022}"/>
              </a:ext>
            </a:extLst>
          </p:cNvPr>
          <p:cNvSpPr>
            <a:spLocks/>
          </p:cNvSpPr>
          <p:nvPr/>
        </p:nvSpPr>
        <p:spPr bwMode="auto">
          <a:xfrm>
            <a:off x="5097548" y="3963000"/>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5</a:t>
            </a:r>
            <a:endParaRPr lang="en-US" b="1" dirty="0">
              <a:solidFill>
                <a:schemeClr val="tx1"/>
              </a:solidFill>
            </a:endParaRPr>
          </a:p>
        </p:txBody>
      </p:sp>
      <p:sp>
        <p:nvSpPr>
          <p:cNvPr id="62" name="Freeform 22">
            <a:extLst>
              <a:ext uri="{FF2B5EF4-FFF2-40B4-BE49-F238E27FC236}">
                <a16:creationId xmlns:a16="http://schemas.microsoft.com/office/drawing/2014/main" id="{459F97BC-DDDD-4B5F-885D-E61847B4F022}"/>
              </a:ext>
            </a:extLst>
          </p:cNvPr>
          <p:cNvSpPr>
            <a:spLocks/>
          </p:cNvSpPr>
          <p:nvPr/>
        </p:nvSpPr>
        <p:spPr bwMode="auto">
          <a:xfrm>
            <a:off x="5097548" y="4851136"/>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7</a:t>
            </a:r>
            <a:endParaRPr lang="en-US" b="1" dirty="0">
              <a:solidFill>
                <a:schemeClr val="tx1"/>
              </a:solidFill>
            </a:endParaRPr>
          </a:p>
        </p:txBody>
      </p:sp>
      <p:sp>
        <p:nvSpPr>
          <p:cNvPr id="63" name="Freeform 22">
            <a:extLst>
              <a:ext uri="{FF2B5EF4-FFF2-40B4-BE49-F238E27FC236}">
                <a16:creationId xmlns:a16="http://schemas.microsoft.com/office/drawing/2014/main" id="{459F97BC-DDDD-4B5F-885D-E61847B4F022}"/>
              </a:ext>
            </a:extLst>
          </p:cNvPr>
          <p:cNvSpPr>
            <a:spLocks/>
          </p:cNvSpPr>
          <p:nvPr/>
        </p:nvSpPr>
        <p:spPr bwMode="auto">
          <a:xfrm>
            <a:off x="5097548" y="5295204"/>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8</a:t>
            </a:r>
            <a:endParaRPr lang="en-US" b="1" dirty="0">
              <a:solidFill>
                <a:schemeClr val="tx1"/>
              </a:solidFill>
            </a:endParaRPr>
          </a:p>
        </p:txBody>
      </p:sp>
      <p:sp>
        <p:nvSpPr>
          <p:cNvPr id="64" name="Freeform 22">
            <a:extLst>
              <a:ext uri="{FF2B5EF4-FFF2-40B4-BE49-F238E27FC236}">
                <a16:creationId xmlns:a16="http://schemas.microsoft.com/office/drawing/2014/main" id="{459F97BC-DDDD-4B5F-885D-E61847B4F022}"/>
              </a:ext>
            </a:extLst>
          </p:cNvPr>
          <p:cNvSpPr>
            <a:spLocks/>
          </p:cNvSpPr>
          <p:nvPr/>
        </p:nvSpPr>
        <p:spPr bwMode="auto">
          <a:xfrm>
            <a:off x="5097548" y="5739272"/>
            <a:ext cx="276974"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9</a:t>
            </a:r>
            <a:endParaRPr lang="en-US" b="1" dirty="0">
              <a:solidFill>
                <a:schemeClr val="tx1"/>
              </a:solidFill>
            </a:endParaRPr>
          </a:p>
        </p:txBody>
      </p:sp>
      <p:sp>
        <p:nvSpPr>
          <p:cNvPr id="88" name="Freeform 22">
            <a:extLst>
              <a:ext uri="{FF2B5EF4-FFF2-40B4-BE49-F238E27FC236}">
                <a16:creationId xmlns:a16="http://schemas.microsoft.com/office/drawing/2014/main" id="{459F97BC-DDDD-4B5F-885D-E61847B4F022}"/>
              </a:ext>
            </a:extLst>
          </p:cNvPr>
          <p:cNvSpPr>
            <a:spLocks/>
          </p:cNvSpPr>
          <p:nvPr/>
        </p:nvSpPr>
        <p:spPr bwMode="auto">
          <a:xfrm>
            <a:off x="5019173" y="6171892"/>
            <a:ext cx="442753" cy="253487"/>
          </a:xfrm>
          <a:custGeom>
            <a:avLst/>
            <a:gdLst>
              <a:gd name="T0" fmla="*/ 0 w 346"/>
              <a:gd name="T1" fmla="*/ 272 h 335"/>
              <a:gd name="T2" fmla="*/ 0 w 346"/>
              <a:gd name="T3" fmla="*/ 0 h 335"/>
              <a:gd name="T4" fmla="*/ 346 w 346"/>
              <a:gd name="T5" fmla="*/ 0 h 335"/>
              <a:gd name="T6" fmla="*/ 346 w 346"/>
              <a:gd name="T7" fmla="*/ 272 h 335"/>
              <a:gd name="T8" fmla="*/ 275 w 346"/>
              <a:gd name="T9" fmla="*/ 324 h 335"/>
              <a:gd name="T10" fmla="*/ 190 w 346"/>
              <a:gd name="T11" fmla="*/ 296 h 335"/>
              <a:gd name="T12" fmla="*/ 156 w 346"/>
              <a:gd name="T13" fmla="*/ 296 h 335"/>
              <a:gd name="T14" fmla="*/ 71 w 346"/>
              <a:gd name="T15" fmla="*/ 324 h 335"/>
              <a:gd name="T16" fmla="*/ 0 w 346"/>
              <a:gd name="T17" fmla="*/ 272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6" h="335">
                <a:moveTo>
                  <a:pt x="0" y="272"/>
                </a:moveTo>
                <a:cubicBezTo>
                  <a:pt x="0" y="0"/>
                  <a:pt x="0" y="0"/>
                  <a:pt x="0" y="0"/>
                </a:cubicBezTo>
                <a:cubicBezTo>
                  <a:pt x="346" y="0"/>
                  <a:pt x="346" y="0"/>
                  <a:pt x="346" y="0"/>
                </a:cubicBezTo>
                <a:cubicBezTo>
                  <a:pt x="346" y="272"/>
                  <a:pt x="346" y="272"/>
                  <a:pt x="346" y="272"/>
                </a:cubicBezTo>
                <a:cubicBezTo>
                  <a:pt x="346" y="309"/>
                  <a:pt x="310" y="335"/>
                  <a:pt x="275" y="324"/>
                </a:cubicBezTo>
                <a:cubicBezTo>
                  <a:pt x="190" y="296"/>
                  <a:pt x="190" y="296"/>
                  <a:pt x="190" y="296"/>
                </a:cubicBezTo>
                <a:cubicBezTo>
                  <a:pt x="179" y="293"/>
                  <a:pt x="167" y="293"/>
                  <a:pt x="156" y="296"/>
                </a:cubicBezTo>
                <a:cubicBezTo>
                  <a:pt x="71" y="324"/>
                  <a:pt x="71" y="324"/>
                  <a:pt x="71" y="324"/>
                </a:cubicBezTo>
                <a:cubicBezTo>
                  <a:pt x="35" y="335"/>
                  <a:pt x="0" y="309"/>
                  <a:pt x="0" y="272"/>
                </a:cubicBezTo>
                <a:close/>
              </a:path>
            </a:pathLst>
          </a:custGeom>
          <a:solidFill>
            <a:schemeClr val="bg1"/>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dirty="0" smtClean="0">
                <a:solidFill>
                  <a:schemeClr val="tx1"/>
                </a:solidFill>
              </a:rPr>
              <a:t>10</a:t>
            </a:r>
            <a:endParaRPr lang="en-US" b="1" dirty="0">
              <a:solidFill>
                <a:schemeClr val="tx1"/>
              </a:solidFill>
            </a:endParaRPr>
          </a:p>
        </p:txBody>
      </p:sp>
    </p:spTree>
    <p:extLst>
      <p:ext uri="{BB962C8B-B14F-4D97-AF65-F5344CB8AC3E}">
        <p14:creationId xmlns:p14="http://schemas.microsoft.com/office/powerpoint/2010/main" val="326561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childTnLst>
                          </p:cTn>
                        </p:par>
                        <p:par>
                          <p:cTn id="18" fill="hold">
                            <p:stCondLst>
                              <p:cond delay="1000"/>
                            </p:stCondLst>
                            <p:childTnLst>
                              <p:par>
                                <p:cTn id="19" presetID="22" presetClass="entr" presetSubtype="2"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right)">
                                      <p:cBhvr>
                                        <p:cTn id="21" dur="500"/>
                                        <p:tgtEl>
                                          <p:spTgt spid="8"/>
                                        </p:tgtEl>
                                      </p:cBhvr>
                                    </p:animEffect>
                                  </p:childTnLst>
                                </p:cTn>
                              </p:par>
                            </p:childTnLst>
                          </p:cTn>
                        </p:par>
                        <p:par>
                          <p:cTn id="22" fill="hold">
                            <p:stCondLst>
                              <p:cond delay="1500"/>
                            </p:stCondLst>
                            <p:childTnLst>
                              <p:par>
                                <p:cTn id="23" presetID="1"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par>
                          <p:cTn id="29" fill="hold">
                            <p:stCondLst>
                              <p:cond delay="2000"/>
                            </p:stCondLst>
                            <p:childTnLst>
                              <p:par>
                                <p:cTn id="30" presetID="1" presetClass="entr" presetSubtype="0"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childTnLst>
                          </p:cTn>
                        </p:par>
                        <p:par>
                          <p:cTn id="36" fill="hold">
                            <p:stCondLst>
                              <p:cond delay="2500"/>
                            </p:stCondLst>
                            <p:childTnLst>
                              <p:par>
                                <p:cTn id="37" presetID="22" presetClass="entr" presetSubtype="8" fill="hold" grpId="0" nodeType="afterEffect">
                                  <p:stCondLst>
                                    <p:cond delay="500"/>
                                  </p:stCondLst>
                                  <p:childTnLst>
                                    <p:set>
                                      <p:cBhvr>
                                        <p:cTn id="38" dur="1" fill="hold">
                                          <p:stCondLst>
                                            <p:cond delay="0"/>
                                          </p:stCondLst>
                                        </p:cTn>
                                        <p:tgtEl>
                                          <p:spTgt spid="50"/>
                                        </p:tgtEl>
                                        <p:attrNameLst>
                                          <p:attrName>style.visibility</p:attrName>
                                        </p:attrNameLst>
                                      </p:cBhvr>
                                      <p:to>
                                        <p:strVal val="visible"/>
                                      </p:to>
                                    </p:set>
                                    <p:animEffect transition="in" filter="wipe(left)">
                                      <p:cBhvr>
                                        <p:cTn id="39" dur="1500"/>
                                        <p:tgtEl>
                                          <p:spTgt spid="50"/>
                                        </p:tgtEl>
                                      </p:cBhvr>
                                    </p:animEffect>
                                  </p:childTnLst>
                                </p:cTn>
                              </p:par>
                              <p:par>
                                <p:cTn id="40" presetID="22" presetClass="entr" presetSubtype="8" fill="hold" grpId="0" nodeType="withEffect">
                                  <p:stCondLst>
                                    <p:cond delay="500"/>
                                  </p:stCondLst>
                                  <p:childTnLst>
                                    <p:set>
                                      <p:cBhvr>
                                        <p:cTn id="41" dur="1" fill="hold">
                                          <p:stCondLst>
                                            <p:cond delay="0"/>
                                          </p:stCondLst>
                                        </p:cTn>
                                        <p:tgtEl>
                                          <p:spTgt spid="56"/>
                                        </p:tgtEl>
                                        <p:attrNameLst>
                                          <p:attrName>style.visibility</p:attrName>
                                        </p:attrNameLst>
                                      </p:cBhvr>
                                      <p:to>
                                        <p:strVal val="visible"/>
                                      </p:to>
                                    </p:set>
                                    <p:animEffect transition="in" filter="wipe(left)">
                                      <p:cBhvr>
                                        <p:cTn id="42" dur="1500"/>
                                        <p:tgtEl>
                                          <p:spTgt spid="56"/>
                                        </p:tgtEl>
                                      </p:cBhvr>
                                    </p:animEffect>
                                  </p:childTnLst>
                                </p:cTn>
                              </p:par>
                              <p:par>
                                <p:cTn id="43" presetID="22" presetClass="entr" presetSubtype="8" fill="hold" grpId="0" nodeType="withEffect">
                                  <p:stCondLst>
                                    <p:cond delay="500"/>
                                  </p:stCondLst>
                                  <p:childTnLst>
                                    <p:set>
                                      <p:cBhvr>
                                        <p:cTn id="44" dur="1" fill="hold">
                                          <p:stCondLst>
                                            <p:cond delay="0"/>
                                          </p:stCondLst>
                                        </p:cTn>
                                        <p:tgtEl>
                                          <p:spTgt spid="57"/>
                                        </p:tgtEl>
                                        <p:attrNameLst>
                                          <p:attrName>style.visibility</p:attrName>
                                        </p:attrNameLst>
                                      </p:cBhvr>
                                      <p:to>
                                        <p:strVal val="visible"/>
                                      </p:to>
                                    </p:set>
                                    <p:animEffect transition="in" filter="wipe(left)">
                                      <p:cBhvr>
                                        <p:cTn id="45" dur="1500"/>
                                        <p:tgtEl>
                                          <p:spTgt spid="57"/>
                                        </p:tgtEl>
                                      </p:cBhvr>
                                    </p:animEffect>
                                  </p:childTnLst>
                                </p:cTn>
                              </p:par>
                              <p:par>
                                <p:cTn id="46" presetID="22" presetClass="entr" presetSubtype="8" fill="hold" grpId="0" nodeType="withEffect">
                                  <p:stCondLst>
                                    <p:cond delay="500"/>
                                  </p:stCondLst>
                                  <p:childTnLst>
                                    <p:set>
                                      <p:cBhvr>
                                        <p:cTn id="47" dur="1" fill="hold">
                                          <p:stCondLst>
                                            <p:cond delay="0"/>
                                          </p:stCondLst>
                                        </p:cTn>
                                        <p:tgtEl>
                                          <p:spTgt spid="60"/>
                                        </p:tgtEl>
                                        <p:attrNameLst>
                                          <p:attrName>style.visibility</p:attrName>
                                        </p:attrNameLst>
                                      </p:cBhvr>
                                      <p:to>
                                        <p:strVal val="visible"/>
                                      </p:to>
                                    </p:set>
                                    <p:animEffect transition="in" filter="wipe(left)">
                                      <p:cBhvr>
                                        <p:cTn id="48" dur="1500"/>
                                        <p:tgtEl>
                                          <p:spTgt spid="60"/>
                                        </p:tgtEl>
                                      </p:cBhvr>
                                    </p:animEffect>
                                  </p:childTnLst>
                                </p:cTn>
                              </p:par>
                              <p:par>
                                <p:cTn id="49" presetID="22" presetClass="entr" presetSubtype="8" fill="hold" grpId="0" nodeType="withEffect">
                                  <p:stCondLst>
                                    <p:cond delay="500"/>
                                  </p:stCondLst>
                                  <p:childTnLst>
                                    <p:set>
                                      <p:cBhvr>
                                        <p:cTn id="50" dur="1" fill="hold">
                                          <p:stCondLst>
                                            <p:cond delay="0"/>
                                          </p:stCondLst>
                                        </p:cTn>
                                        <p:tgtEl>
                                          <p:spTgt spid="61"/>
                                        </p:tgtEl>
                                        <p:attrNameLst>
                                          <p:attrName>style.visibility</p:attrName>
                                        </p:attrNameLst>
                                      </p:cBhvr>
                                      <p:to>
                                        <p:strVal val="visible"/>
                                      </p:to>
                                    </p:set>
                                    <p:animEffect transition="in" filter="wipe(left)">
                                      <p:cBhvr>
                                        <p:cTn id="51" dur="1500"/>
                                        <p:tgtEl>
                                          <p:spTgt spid="61"/>
                                        </p:tgtEl>
                                      </p:cBhvr>
                                    </p:animEffect>
                                  </p:childTnLst>
                                </p:cTn>
                              </p:par>
                              <p:par>
                                <p:cTn id="52" presetID="22" presetClass="entr" presetSubtype="8" fill="hold" grpId="0" nodeType="withEffect">
                                  <p:stCondLst>
                                    <p:cond delay="500"/>
                                  </p:stCondLst>
                                  <p:childTnLst>
                                    <p:set>
                                      <p:cBhvr>
                                        <p:cTn id="53" dur="1" fill="hold">
                                          <p:stCondLst>
                                            <p:cond delay="0"/>
                                          </p:stCondLst>
                                        </p:cTn>
                                        <p:tgtEl>
                                          <p:spTgt spid="58"/>
                                        </p:tgtEl>
                                        <p:attrNameLst>
                                          <p:attrName>style.visibility</p:attrName>
                                        </p:attrNameLst>
                                      </p:cBhvr>
                                      <p:to>
                                        <p:strVal val="visible"/>
                                      </p:to>
                                    </p:set>
                                    <p:animEffect transition="in" filter="wipe(left)">
                                      <p:cBhvr>
                                        <p:cTn id="54" dur="1500"/>
                                        <p:tgtEl>
                                          <p:spTgt spid="58"/>
                                        </p:tgtEl>
                                      </p:cBhvr>
                                    </p:animEffect>
                                  </p:childTnLst>
                                </p:cTn>
                              </p:par>
                              <p:par>
                                <p:cTn id="55" presetID="22" presetClass="entr" presetSubtype="8" fill="hold" grpId="0" nodeType="withEffect">
                                  <p:stCondLst>
                                    <p:cond delay="500"/>
                                  </p:stCondLst>
                                  <p:childTnLst>
                                    <p:set>
                                      <p:cBhvr>
                                        <p:cTn id="56" dur="1" fill="hold">
                                          <p:stCondLst>
                                            <p:cond delay="0"/>
                                          </p:stCondLst>
                                        </p:cTn>
                                        <p:tgtEl>
                                          <p:spTgt spid="62"/>
                                        </p:tgtEl>
                                        <p:attrNameLst>
                                          <p:attrName>style.visibility</p:attrName>
                                        </p:attrNameLst>
                                      </p:cBhvr>
                                      <p:to>
                                        <p:strVal val="visible"/>
                                      </p:to>
                                    </p:set>
                                    <p:animEffect transition="in" filter="wipe(left)">
                                      <p:cBhvr>
                                        <p:cTn id="57" dur="1500"/>
                                        <p:tgtEl>
                                          <p:spTgt spid="62"/>
                                        </p:tgtEl>
                                      </p:cBhvr>
                                    </p:animEffect>
                                  </p:childTnLst>
                                </p:cTn>
                              </p:par>
                              <p:par>
                                <p:cTn id="58" presetID="22" presetClass="entr" presetSubtype="8" fill="hold" grpId="0" nodeType="withEffect">
                                  <p:stCondLst>
                                    <p:cond delay="500"/>
                                  </p:stCondLst>
                                  <p:childTnLst>
                                    <p:set>
                                      <p:cBhvr>
                                        <p:cTn id="59" dur="1" fill="hold">
                                          <p:stCondLst>
                                            <p:cond delay="0"/>
                                          </p:stCondLst>
                                        </p:cTn>
                                        <p:tgtEl>
                                          <p:spTgt spid="63"/>
                                        </p:tgtEl>
                                        <p:attrNameLst>
                                          <p:attrName>style.visibility</p:attrName>
                                        </p:attrNameLst>
                                      </p:cBhvr>
                                      <p:to>
                                        <p:strVal val="visible"/>
                                      </p:to>
                                    </p:set>
                                    <p:animEffect transition="in" filter="wipe(left)">
                                      <p:cBhvr>
                                        <p:cTn id="60" dur="1500"/>
                                        <p:tgtEl>
                                          <p:spTgt spid="63"/>
                                        </p:tgtEl>
                                      </p:cBhvr>
                                    </p:animEffect>
                                  </p:childTnLst>
                                </p:cTn>
                              </p:par>
                              <p:par>
                                <p:cTn id="61" presetID="22" presetClass="entr" presetSubtype="8" fill="hold" grpId="0" nodeType="withEffect">
                                  <p:stCondLst>
                                    <p:cond delay="500"/>
                                  </p:stCondLst>
                                  <p:childTnLst>
                                    <p:set>
                                      <p:cBhvr>
                                        <p:cTn id="62" dur="1" fill="hold">
                                          <p:stCondLst>
                                            <p:cond delay="0"/>
                                          </p:stCondLst>
                                        </p:cTn>
                                        <p:tgtEl>
                                          <p:spTgt spid="64"/>
                                        </p:tgtEl>
                                        <p:attrNameLst>
                                          <p:attrName>style.visibility</p:attrName>
                                        </p:attrNameLst>
                                      </p:cBhvr>
                                      <p:to>
                                        <p:strVal val="visible"/>
                                      </p:to>
                                    </p:set>
                                    <p:animEffect transition="in" filter="wipe(left)">
                                      <p:cBhvr>
                                        <p:cTn id="63" dur="1500"/>
                                        <p:tgtEl>
                                          <p:spTgt spid="64"/>
                                        </p:tgtEl>
                                      </p:cBhvr>
                                    </p:animEffect>
                                  </p:childTnLst>
                                </p:cTn>
                              </p:par>
                              <p:par>
                                <p:cTn id="64" presetID="22" presetClass="entr" presetSubtype="8" fill="hold" grpId="0" nodeType="withEffect">
                                  <p:stCondLst>
                                    <p:cond delay="500"/>
                                  </p:stCondLst>
                                  <p:childTnLst>
                                    <p:set>
                                      <p:cBhvr>
                                        <p:cTn id="65" dur="1" fill="hold">
                                          <p:stCondLst>
                                            <p:cond delay="0"/>
                                          </p:stCondLst>
                                        </p:cTn>
                                        <p:tgtEl>
                                          <p:spTgt spid="88"/>
                                        </p:tgtEl>
                                        <p:attrNameLst>
                                          <p:attrName>style.visibility</p:attrName>
                                        </p:attrNameLst>
                                      </p:cBhvr>
                                      <p:to>
                                        <p:strVal val="visible"/>
                                      </p:to>
                                    </p:set>
                                    <p:animEffect transition="in" filter="wipe(left)">
                                      <p:cBhvr>
                                        <p:cTn id="66" dur="1500"/>
                                        <p:tgtEl>
                                          <p:spTgt spid="88"/>
                                        </p:tgtEl>
                                      </p:cBhvr>
                                    </p:animEffect>
                                  </p:childTnLst>
                                </p:cTn>
                              </p:par>
                              <p:par>
                                <p:cTn id="67" presetID="22" presetClass="entr" presetSubtype="8" fill="hold" grpId="0" nodeType="withEffect">
                                  <p:stCondLst>
                                    <p:cond delay="500"/>
                                  </p:stCondLst>
                                  <p:childTnLst>
                                    <p:set>
                                      <p:cBhvr>
                                        <p:cTn id="68" dur="1" fill="hold">
                                          <p:stCondLst>
                                            <p:cond delay="0"/>
                                          </p:stCondLst>
                                        </p:cTn>
                                        <p:tgtEl>
                                          <p:spTgt spid="2"/>
                                        </p:tgtEl>
                                        <p:attrNameLst>
                                          <p:attrName>style.visibility</p:attrName>
                                        </p:attrNameLst>
                                      </p:cBhvr>
                                      <p:to>
                                        <p:strVal val="visible"/>
                                      </p:to>
                                    </p:set>
                                    <p:animEffect transition="in" filter="wipe(left)">
                                      <p:cBhvr>
                                        <p:cTn id="69"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24" grpId="0"/>
      <p:bldP spid="25" grpId="0"/>
      <p:bldP spid="26" grpId="0"/>
      <p:bldP spid="27" grpId="0"/>
      <p:bldP spid="50" grpId="0" animBg="1"/>
      <p:bldP spid="2" grpId="0"/>
      <p:bldP spid="56" grpId="0" animBg="1"/>
      <p:bldP spid="57" grpId="0" animBg="1"/>
      <p:bldP spid="58" grpId="0" animBg="1"/>
      <p:bldP spid="60" grpId="0" animBg="1"/>
      <p:bldP spid="61" grpId="0" animBg="1"/>
      <p:bldP spid="62" grpId="0" animBg="1"/>
      <p:bldP spid="63" grpId="0" animBg="1"/>
      <p:bldP spid="64" grpId="0" animBg="1"/>
      <p:bldP spid="8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Picture 54">
            <a:extLst>
              <a:ext uri="{FF2B5EF4-FFF2-40B4-BE49-F238E27FC236}">
                <a16:creationId xmlns:a16="http://schemas.microsoft.com/office/drawing/2014/main" id="{24024928-9A16-4447-9306-E75A2F93958A}"/>
              </a:ext>
            </a:extLst>
          </p:cNvPr>
          <p:cNvPicPr>
            <a:picLocks noChangeAspect="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t="14702" b="964"/>
          <a:stretch/>
        </p:blipFill>
        <p:spPr>
          <a:xfrm>
            <a:off x="0" y="-1"/>
            <a:ext cx="12192000" cy="6858001"/>
          </a:xfrm>
          <a:prstGeom prst="rect">
            <a:avLst/>
          </a:prstGeom>
        </p:spPr>
      </p:pic>
      <p:sp>
        <p:nvSpPr>
          <p:cNvPr id="140" name="Freeform 36">
            <a:extLst>
              <a:ext uri="{FF2B5EF4-FFF2-40B4-BE49-F238E27FC236}">
                <a16:creationId xmlns:a16="http://schemas.microsoft.com/office/drawing/2014/main" id="{344182D9-62EB-462B-8206-E1A23067F498}"/>
              </a:ext>
            </a:extLst>
          </p:cNvPr>
          <p:cNvSpPr>
            <a:spLocks/>
          </p:cNvSpPr>
          <p:nvPr/>
        </p:nvSpPr>
        <p:spPr bwMode="auto">
          <a:xfrm rot="10800000">
            <a:off x="6350" y="5603760"/>
            <a:ext cx="12185650" cy="1277069"/>
          </a:xfrm>
          <a:custGeom>
            <a:avLst/>
            <a:gdLst>
              <a:gd name="T0" fmla="*/ 5184 w 5184"/>
              <a:gd name="T1" fmla="*/ 732 h 732"/>
              <a:gd name="T2" fmla="*/ 5184 w 5184"/>
              <a:gd name="T3" fmla="*/ 732 h 732"/>
              <a:gd name="T4" fmla="*/ 3361 w 5184"/>
              <a:gd name="T5" fmla="*/ 186 h 732"/>
              <a:gd name="T6" fmla="*/ 0 w 5184"/>
              <a:gd name="T7" fmla="*/ 0 h 732"/>
              <a:gd name="T8" fmla="*/ 5184 w 5184"/>
              <a:gd name="T9" fmla="*/ 0 h 732"/>
              <a:gd name="T10" fmla="*/ 5184 w 5184"/>
              <a:gd name="T11" fmla="*/ 732 h 732"/>
            </a:gdLst>
            <a:ahLst/>
            <a:cxnLst>
              <a:cxn ang="0">
                <a:pos x="T0" y="T1"/>
              </a:cxn>
              <a:cxn ang="0">
                <a:pos x="T2" y="T3"/>
              </a:cxn>
              <a:cxn ang="0">
                <a:pos x="T4" y="T5"/>
              </a:cxn>
              <a:cxn ang="0">
                <a:pos x="T6" y="T7"/>
              </a:cxn>
              <a:cxn ang="0">
                <a:pos x="T8" y="T9"/>
              </a:cxn>
              <a:cxn ang="0">
                <a:pos x="T10" y="T11"/>
              </a:cxn>
            </a:cxnLst>
            <a:rect l="0" t="0" r="r" b="b"/>
            <a:pathLst>
              <a:path w="5184" h="732">
                <a:moveTo>
                  <a:pt x="5184" y="732"/>
                </a:moveTo>
                <a:cubicBezTo>
                  <a:pt x="5184" y="732"/>
                  <a:pt x="5184" y="732"/>
                  <a:pt x="5184" y="732"/>
                </a:cubicBezTo>
                <a:cubicBezTo>
                  <a:pt x="4628" y="409"/>
                  <a:pt x="4004" y="222"/>
                  <a:pt x="3361" y="186"/>
                </a:cubicBezTo>
                <a:cubicBezTo>
                  <a:pt x="0" y="0"/>
                  <a:pt x="0" y="0"/>
                  <a:pt x="0" y="0"/>
                </a:cubicBezTo>
                <a:cubicBezTo>
                  <a:pt x="5184" y="0"/>
                  <a:pt x="5184" y="0"/>
                  <a:pt x="5184" y="0"/>
                </a:cubicBezTo>
                <a:lnTo>
                  <a:pt x="5184" y="732"/>
                </a:lnTo>
                <a:close/>
              </a:path>
            </a:pathLst>
          </a:custGeom>
          <a:gradFill>
            <a:gsLst>
              <a:gs pos="61104">
                <a:srgbClr val="ED1263">
                  <a:alpha val="38000"/>
                </a:srgbClr>
              </a:gs>
              <a:gs pos="97000">
                <a:srgbClr val="FF7437">
                  <a:alpha val="61000"/>
                </a:srgbClr>
              </a:gs>
              <a:gs pos="5310">
                <a:srgbClr val="38116E">
                  <a:alpha val="0"/>
                </a:srgbClr>
              </a:gs>
              <a:gs pos="26000">
                <a:srgbClr val="38116E">
                  <a:alpha val="4200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9" name="Freeform 36">
            <a:extLst>
              <a:ext uri="{FF2B5EF4-FFF2-40B4-BE49-F238E27FC236}">
                <a16:creationId xmlns:a16="http://schemas.microsoft.com/office/drawing/2014/main" id="{7D971109-02A3-4A4C-A529-E7AA2409DF82}"/>
              </a:ext>
            </a:extLst>
          </p:cNvPr>
          <p:cNvSpPr>
            <a:spLocks/>
          </p:cNvSpPr>
          <p:nvPr/>
        </p:nvSpPr>
        <p:spPr bwMode="auto">
          <a:xfrm>
            <a:off x="6350" y="1589"/>
            <a:ext cx="12185650" cy="1277069"/>
          </a:xfrm>
          <a:custGeom>
            <a:avLst/>
            <a:gdLst>
              <a:gd name="T0" fmla="*/ 5184 w 5184"/>
              <a:gd name="T1" fmla="*/ 732 h 732"/>
              <a:gd name="T2" fmla="*/ 5184 w 5184"/>
              <a:gd name="T3" fmla="*/ 732 h 732"/>
              <a:gd name="T4" fmla="*/ 3361 w 5184"/>
              <a:gd name="T5" fmla="*/ 186 h 732"/>
              <a:gd name="T6" fmla="*/ 0 w 5184"/>
              <a:gd name="T7" fmla="*/ 0 h 732"/>
              <a:gd name="T8" fmla="*/ 5184 w 5184"/>
              <a:gd name="T9" fmla="*/ 0 h 732"/>
              <a:gd name="T10" fmla="*/ 5184 w 5184"/>
              <a:gd name="T11" fmla="*/ 732 h 732"/>
            </a:gdLst>
            <a:ahLst/>
            <a:cxnLst>
              <a:cxn ang="0">
                <a:pos x="T0" y="T1"/>
              </a:cxn>
              <a:cxn ang="0">
                <a:pos x="T2" y="T3"/>
              </a:cxn>
              <a:cxn ang="0">
                <a:pos x="T4" y="T5"/>
              </a:cxn>
              <a:cxn ang="0">
                <a:pos x="T6" y="T7"/>
              </a:cxn>
              <a:cxn ang="0">
                <a:pos x="T8" y="T9"/>
              </a:cxn>
              <a:cxn ang="0">
                <a:pos x="T10" y="T11"/>
              </a:cxn>
            </a:cxnLst>
            <a:rect l="0" t="0" r="r" b="b"/>
            <a:pathLst>
              <a:path w="5184" h="732">
                <a:moveTo>
                  <a:pt x="5184" y="732"/>
                </a:moveTo>
                <a:cubicBezTo>
                  <a:pt x="5184" y="732"/>
                  <a:pt x="5184" y="732"/>
                  <a:pt x="5184" y="732"/>
                </a:cubicBezTo>
                <a:cubicBezTo>
                  <a:pt x="4628" y="409"/>
                  <a:pt x="4004" y="222"/>
                  <a:pt x="3361" y="186"/>
                </a:cubicBezTo>
                <a:cubicBezTo>
                  <a:pt x="0" y="0"/>
                  <a:pt x="0" y="0"/>
                  <a:pt x="0" y="0"/>
                </a:cubicBezTo>
                <a:cubicBezTo>
                  <a:pt x="5184" y="0"/>
                  <a:pt x="5184" y="0"/>
                  <a:pt x="5184" y="0"/>
                </a:cubicBezTo>
                <a:lnTo>
                  <a:pt x="5184" y="732"/>
                </a:lnTo>
                <a:close/>
              </a:path>
            </a:pathLst>
          </a:custGeom>
          <a:gradFill>
            <a:gsLst>
              <a:gs pos="61104">
                <a:srgbClr val="ED1263">
                  <a:alpha val="38000"/>
                </a:srgbClr>
              </a:gs>
              <a:gs pos="97000">
                <a:srgbClr val="FF7437">
                  <a:alpha val="61000"/>
                </a:srgbClr>
              </a:gs>
              <a:gs pos="0">
                <a:schemeClr val="bg1">
                  <a:alpha val="0"/>
                </a:schemeClr>
              </a:gs>
              <a:gs pos="32000">
                <a:srgbClr val="38116E">
                  <a:alpha val="4200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6" name="Rectangle 55">
            <a:extLst>
              <a:ext uri="{FF2B5EF4-FFF2-40B4-BE49-F238E27FC236}">
                <a16:creationId xmlns:a16="http://schemas.microsoft.com/office/drawing/2014/main" id="{D4A83B1B-C7B8-4DB8-AD63-F42216D7EF9C}"/>
              </a:ext>
            </a:extLst>
          </p:cNvPr>
          <p:cNvSpPr/>
          <p:nvPr/>
        </p:nvSpPr>
        <p:spPr>
          <a:xfrm>
            <a:off x="257088" y="202133"/>
            <a:ext cx="11744412" cy="6488362"/>
          </a:xfrm>
          <a:prstGeom prst="rect">
            <a:avLst/>
          </a:prstGeom>
          <a:gradFill>
            <a:gsLst>
              <a:gs pos="85000">
                <a:schemeClr val="bg1">
                  <a:alpha val="50000"/>
                </a:schemeClr>
              </a:gs>
              <a:gs pos="65000">
                <a:schemeClr val="bg1">
                  <a:alpha val="98000"/>
                </a:schemeClr>
              </a:gs>
              <a:gs pos="35000">
                <a:schemeClr val="bg1">
                  <a:alpha val="98000"/>
                </a:schemeClr>
              </a:gs>
              <a:gs pos="9000">
                <a:schemeClr val="bg1">
                  <a:alpha val="5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30" name="TextBox 129">
            <a:extLst>
              <a:ext uri="{FF2B5EF4-FFF2-40B4-BE49-F238E27FC236}">
                <a16:creationId xmlns:a16="http://schemas.microsoft.com/office/drawing/2014/main" id="{7A2F8DC7-5C42-4208-ABDC-B5C25C54A72D}"/>
              </a:ext>
            </a:extLst>
          </p:cNvPr>
          <p:cNvSpPr txBox="1"/>
          <p:nvPr/>
        </p:nvSpPr>
        <p:spPr>
          <a:xfrm>
            <a:off x="2267492" y="371206"/>
            <a:ext cx="7828682" cy="1107996"/>
          </a:xfrm>
          <a:prstGeom prst="rect">
            <a:avLst/>
          </a:prstGeom>
          <a:noFill/>
        </p:spPr>
        <p:txBody>
          <a:bodyPr wrap="none" lIns="0" tIns="0" rIns="0" bIns="0" rtlCol="0" anchor="ctr" anchorCtr="0">
            <a:spAutoFit/>
          </a:bodyPr>
          <a:lstStyle/>
          <a:p>
            <a:pPr algn="ctr"/>
            <a:r>
              <a:rPr lang="ru-RU" sz="3600" dirty="0">
                <a:latin typeface="Arial" panose="020B0604020202020204" pitchFamily="34" charset="0"/>
                <a:ea typeface="Segoe UI Black" panose="020B0A02040204020203" pitchFamily="34" charset="0"/>
                <a:cs typeface="Arial" panose="020B0604020202020204" pitchFamily="34" charset="0"/>
              </a:rPr>
              <a:t>Специфични фактори </a:t>
            </a:r>
            <a:r>
              <a:rPr lang="bg-BG" sz="3600" dirty="0" smtClean="0">
                <a:latin typeface="Arial" panose="020B0604020202020204" pitchFamily="34" charset="0"/>
                <a:ea typeface="Segoe UI Black" panose="020B0A02040204020203" pitchFamily="34" charset="0"/>
                <a:cs typeface="Arial" panose="020B0604020202020204" pitchFamily="34" charset="0"/>
              </a:rPr>
              <a:t>и </a:t>
            </a:r>
            <a:r>
              <a:rPr lang="ru-RU" sz="3600" dirty="0">
                <a:latin typeface="Arial" panose="020B0604020202020204" pitchFamily="34" charset="0"/>
                <a:ea typeface="Segoe UI Black" panose="020B0A02040204020203" pitchFamily="34" charset="0"/>
                <a:cs typeface="Arial" panose="020B0604020202020204" pitchFamily="34" charset="0"/>
              </a:rPr>
              <a:t>ф</a:t>
            </a:r>
            <a:r>
              <a:rPr lang="ru-RU" sz="3600" dirty="0" smtClean="0">
                <a:latin typeface="Arial" panose="020B0604020202020204" pitchFamily="34" charset="0"/>
                <a:ea typeface="Segoe UI Black" panose="020B0A02040204020203" pitchFamily="34" charset="0"/>
                <a:cs typeface="Arial" panose="020B0604020202020204" pitchFamily="34" charset="0"/>
              </a:rPr>
              <a:t>ункции </a:t>
            </a:r>
            <a:r>
              <a:rPr lang="ru-RU" sz="3600" dirty="0">
                <a:latin typeface="Arial" panose="020B0604020202020204" pitchFamily="34" charset="0"/>
                <a:ea typeface="Segoe UI Black" panose="020B0A02040204020203" pitchFamily="34" charset="0"/>
                <a:cs typeface="Arial" panose="020B0604020202020204" pitchFamily="34" charset="0"/>
              </a:rPr>
              <a:t>на </a:t>
            </a:r>
            <a:endParaRPr lang="ru-RU" sz="3600" dirty="0" smtClean="0">
              <a:latin typeface="Arial" panose="020B0604020202020204" pitchFamily="34" charset="0"/>
              <a:ea typeface="Segoe UI Black" panose="020B0A02040204020203" pitchFamily="34" charset="0"/>
              <a:cs typeface="Arial" panose="020B0604020202020204" pitchFamily="34" charset="0"/>
            </a:endParaRPr>
          </a:p>
          <a:p>
            <a:pPr algn="ctr"/>
            <a:r>
              <a:rPr lang="ru-RU" sz="3600" dirty="0" smtClean="0">
                <a:latin typeface="Arial" panose="020B0604020202020204" pitchFamily="34" charset="0"/>
                <a:ea typeface="Segoe UI Black" panose="020B0A02040204020203" pitchFamily="34" charset="0"/>
                <a:cs typeface="Arial" panose="020B0604020202020204" pitchFamily="34" charset="0"/>
              </a:rPr>
              <a:t>управлението </a:t>
            </a:r>
            <a:r>
              <a:rPr lang="ru-RU" sz="3600" dirty="0">
                <a:latin typeface="Arial" panose="020B0604020202020204" pitchFamily="34" charset="0"/>
                <a:ea typeface="Segoe UI Black" panose="020B0A02040204020203" pitchFamily="34" charset="0"/>
                <a:cs typeface="Arial" panose="020B0604020202020204" pitchFamily="34" charset="0"/>
              </a:rPr>
              <a:t>на </a:t>
            </a:r>
            <a:r>
              <a:rPr lang="ru-RU" sz="3600" dirty="0" smtClean="0">
                <a:latin typeface="Arial" panose="020B0604020202020204" pitchFamily="34" charset="0"/>
                <a:ea typeface="Segoe UI Black" panose="020B0A02040204020203" pitchFamily="34" charset="0"/>
                <a:cs typeface="Arial" panose="020B0604020202020204" pitchFamily="34" charset="0"/>
              </a:rPr>
              <a:t>IT проектите</a:t>
            </a:r>
            <a:r>
              <a:rPr lang="ru-RU" sz="3600" dirty="0">
                <a:latin typeface="Arial" panose="020B0604020202020204" pitchFamily="34" charset="0"/>
                <a:ea typeface="Segoe UI Black" panose="020B0A02040204020203" pitchFamily="34" charset="0"/>
                <a:cs typeface="Arial" panose="020B0604020202020204" pitchFamily="34" charset="0"/>
              </a:rPr>
              <a:t>.</a:t>
            </a:r>
            <a:endParaRPr lang="en-US" sz="3600" dirty="0">
              <a:latin typeface="Arial" panose="020B0604020202020204" pitchFamily="34" charset="0"/>
              <a:ea typeface="Segoe UI Black" panose="020B0A02040204020203" pitchFamily="34" charset="0"/>
              <a:cs typeface="Arial" panose="020B0604020202020204" pitchFamily="34" charset="0"/>
            </a:endParaRPr>
          </a:p>
        </p:txBody>
      </p:sp>
      <p:sp>
        <p:nvSpPr>
          <p:cNvPr id="107" name="TextBox 106">
            <a:extLst>
              <a:ext uri="{FF2B5EF4-FFF2-40B4-BE49-F238E27FC236}">
                <a16:creationId xmlns:a16="http://schemas.microsoft.com/office/drawing/2014/main" id="{1F3980E6-696B-4B84-A5F0-AE0734F857E5}"/>
              </a:ext>
            </a:extLst>
          </p:cNvPr>
          <p:cNvSpPr txBox="1"/>
          <p:nvPr/>
        </p:nvSpPr>
        <p:spPr>
          <a:xfrm>
            <a:off x="7349589" y="3789915"/>
            <a:ext cx="3607971" cy="430887"/>
          </a:xfrm>
          <a:prstGeom prst="rect">
            <a:avLst/>
          </a:prstGeom>
          <a:noFill/>
        </p:spPr>
        <p:txBody>
          <a:bodyPr wrap="square" lIns="0" tIns="0" rIns="0" bIns="0" rtlCol="0" anchor="ctr" anchorCtr="0">
            <a:spAutoFit/>
          </a:bodyPr>
          <a:lstStyle/>
          <a:p>
            <a:r>
              <a:rPr lang="bg-BG" sz="2800" b="1" dirty="0"/>
              <a:t>Управление на обхвата</a:t>
            </a:r>
          </a:p>
        </p:txBody>
      </p:sp>
      <p:sp>
        <p:nvSpPr>
          <p:cNvPr id="114" name="Oval 113">
            <a:extLst>
              <a:ext uri="{FF2B5EF4-FFF2-40B4-BE49-F238E27FC236}">
                <a16:creationId xmlns:a16="http://schemas.microsoft.com/office/drawing/2014/main" id="{02D136EA-C8A4-4299-A2CD-084C8E5B2166}"/>
              </a:ext>
            </a:extLst>
          </p:cNvPr>
          <p:cNvSpPr>
            <a:spLocks noChangeArrowheads="1"/>
          </p:cNvSpPr>
          <p:nvPr/>
        </p:nvSpPr>
        <p:spPr bwMode="auto">
          <a:xfrm>
            <a:off x="726191" y="2357175"/>
            <a:ext cx="3176413" cy="3169059"/>
          </a:xfrm>
          <a:prstGeom prst="ellipse">
            <a:avLst/>
          </a:prstGeom>
          <a:solidFill>
            <a:schemeClr val="bg1">
              <a:lumMod val="95000"/>
            </a:schemeClr>
          </a:solidFill>
          <a:ln w="9525">
            <a:noFill/>
            <a:round/>
            <a:headEnd/>
            <a:tailEnd/>
          </a:ln>
          <a:effectLst>
            <a:outerShdw blurRad="63500" sx="102000" sy="102000" algn="ctr" rotWithShape="0">
              <a:prstClr val="black">
                <a:alpha val="1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16" name="Freeform 115">
            <a:extLst>
              <a:ext uri="{FF2B5EF4-FFF2-40B4-BE49-F238E27FC236}">
                <a16:creationId xmlns:a16="http://schemas.microsoft.com/office/drawing/2014/main" id="{FA692F02-A177-44D4-AF03-C44054F910AC}"/>
              </a:ext>
            </a:extLst>
          </p:cNvPr>
          <p:cNvSpPr>
            <a:spLocks noEditPoints="1"/>
          </p:cNvSpPr>
          <p:nvPr/>
        </p:nvSpPr>
        <p:spPr bwMode="auto">
          <a:xfrm>
            <a:off x="726191" y="2357175"/>
            <a:ext cx="3110236" cy="3169059"/>
          </a:xfrm>
          <a:custGeom>
            <a:avLst/>
            <a:gdLst>
              <a:gd name="T0" fmla="*/ 990 w 1179"/>
              <a:gd name="T1" fmla="*/ 195 h 1202"/>
              <a:gd name="T2" fmla="*/ 976 w 1179"/>
              <a:gd name="T3" fmla="*/ 237 h 1202"/>
              <a:gd name="T4" fmla="*/ 896 w 1179"/>
              <a:gd name="T5" fmla="*/ 315 h 1202"/>
              <a:gd name="T6" fmla="*/ 930 w 1179"/>
              <a:gd name="T7" fmla="*/ 377 h 1202"/>
              <a:gd name="T8" fmla="*/ 1057 w 1179"/>
              <a:gd name="T9" fmla="*/ 356 h 1202"/>
              <a:gd name="T10" fmla="*/ 1066 w 1179"/>
              <a:gd name="T11" fmla="*/ 351 h 1202"/>
              <a:gd name="T12" fmla="*/ 1062 w 1179"/>
              <a:gd name="T13" fmla="*/ 309 h 1202"/>
              <a:gd name="T14" fmla="*/ 1139 w 1179"/>
              <a:gd name="T15" fmla="*/ 362 h 1202"/>
              <a:gd name="T16" fmla="*/ 1090 w 1179"/>
              <a:gd name="T17" fmla="*/ 412 h 1202"/>
              <a:gd name="T18" fmla="*/ 946 w 1179"/>
              <a:gd name="T19" fmla="*/ 380 h 1202"/>
              <a:gd name="T20" fmla="*/ 782 w 1179"/>
              <a:gd name="T21" fmla="*/ 493 h 1202"/>
              <a:gd name="T22" fmla="*/ 846 w 1179"/>
              <a:gd name="T23" fmla="*/ 656 h 1202"/>
              <a:gd name="T24" fmla="*/ 973 w 1179"/>
              <a:gd name="T25" fmla="*/ 653 h 1202"/>
              <a:gd name="T26" fmla="*/ 1046 w 1179"/>
              <a:gd name="T27" fmla="*/ 867 h 1202"/>
              <a:gd name="T28" fmla="*/ 2 w 1179"/>
              <a:gd name="T29" fmla="*/ 662 h 1202"/>
              <a:gd name="T30" fmla="*/ 0 w 1179"/>
              <a:gd name="T31" fmla="*/ 581 h 1202"/>
              <a:gd name="T32" fmla="*/ 48 w 1179"/>
              <a:gd name="T33" fmla="*/ 396 h 1202"/>
              <a:gd name="T34" fmla="*/ 98 w 1179"/>
              <a:gd name="T35" fmla="*/ 451 h 1202"/>
              <a:gd name="T36" fmla="*/ 159 w 1179"/>
              <a:gd name="T37" fmla="*/ 550 h 1202"/>
              <a:gd name="T38" fmla="*/ 275 w 1179"/>
              <a:gd name="T39" fmla="*/ 584 h 1202"/>
              <a:gd name="T40" fmla="*/ 326 w 1179"/>
              <a:gd name="T41" fmla="*/ 745 h 1202"/>
              <a:gd name="T42" fmla="*/ 445 w 1179"/>
              <a:gd name="T43" fmla="*/ 963 h 1202"/>
              <a:gd name="T44" fmla="*/ 555 w 1179"/>
              <a:gd name="T45" fmla="*/ 1171 h 1202"/>
              <a:gd name="T46" fmla="*/ 520 w 1179"/>
              <a:gd name="T47" fmla="*/ 1097 h 1202"/>
              <a:gd name="T48" fmla="*/ 537 w 1179"/>
              <a:gd name="T49" fmla="*/ 1041 h 1202"/>
              <a:gd name="T50" fmla="*/ 662 w 1179"/>
              <a:gd name="T51" fmla="*/ 895 h 1202"/>
              <a:gd name="T52" fmla="*/ 684 w 1179"/>
              <a:gd name="T53" fmla="*/ 713 h 1202"/>
              <a:gd name="T54" fmla="*/ 510 w 1179"/>
              <a:gd name="T55" fmla="*/ 605 h 1202"/>
              <a:gd name="T56" fmla="*/ 370 w 1179"/>
              <a:gd name="T57" fmla="*/ 618 h 1202"/>
              <a:gd name="T58" fmla="*/ 245 w 1179"/>
              <a:gd name="T59" fmla="*/ 537 h 1202"/>
              <a:gd name="T60" fmla="*/ 339 w 1179"/>
              <a:gd name="T61" fmla="*/ 437 h 1202"/>
              <a:gd name="T62" fmla="*/ 421 w 1179"/>
              <a:gd name="T63" fmla="*/ 373 h 1202"/>
              <a:gd name="T64" fmla="*/ 537 w 1179"/>
              <a:gd name="T65" fmla="*/ 291 h 1202"/>
              <a:gd name="T66" fmla="*/ 533 w 1179"/>
              <a:gd name="T67" fmla="*/ 257 h 1202"/>
              <a:gd name="T68" fmla="*/ 567 w 1179"/>
              <a:gd name="T69" fmla="*/ 269 h 1202"/>
              <a:gd name="T70" fmla="*/ 589 w 1179"/>
              <a:gd name="T71" fmla="*/ 277 h 1202"/>
              <a:gd name="T72" fmla="*/ 606 w 1179"/>
              <a:gd name="T73" fmla="*/ 271 h 1202"/>
              <a:gd name="T74" fmla="*/ 571 w 1179"/>
              <a:gd name="T75" fmla="*/ 200 h 1202"/>
              <a:gd name="T76" fmla="*/ 467 w 1179"/>
              <a:gd name="T77" fmla="*/ 228 h 1202"/>
              <a:gd name="T78" fmla="*/ 389 w 1179"/>
              <a:gd name="T79" fmla="*/ 186 h 1202"/>
              <a:gd name="T80" fmla="*/ 505 w 1179"/>
              <a:gd name="T81" fmla="*/ 151 h 1202"/>
              <a:gd name="T82" fmla="*/ 528 w 1179"/>
              <a:gd name="T83" fmla="*/ 122 h 1202"/>
              <a:gd name="T84" fmla="*/ 602 w 1179"/>
              <a:gd name="T85" fmla="*/ 167 h 1202"/>
              <a:gd name="T86" fmla="*/ 569 w 1179"/>
              <a:gd name="T87" fmla="*/ 78 h 1202"/>
              <a:gd name="T88" fmla="*/ 504 w 1179"/>
              <a:gd name="T89" fmla="*/ 82 h 1202"/>
              <a:gd name="T90" fmla="*/ 433 w 1179"/>
              <a:gd name="T91" fmla="*/ 117 h 1202"/>
              <a:gd name="T92" fmla="*/ 428 w 1179"/>
              <a:gd name="T93" fmla="*/ 78 h 1202"/>
              <a:gd name="T94" fmla="*/ 330 w 1179"/>
              <a:gd name="T95" fmla="*/ 97 h 1202"/>
              <a:gd name="T96" fmla="*/ 323 w 1179"/>
              <a:gd name="T97" fmla="*/ 118 h 1202"/>
              <a:gd name="T98" fmla="*/ 902 w 1179"/>
              <a:gd name="T99" fmla="*/ 197 h 1202"/>
              <a:gd name="T100" fmla="*/ 946 w 1179"/>
              <a:gd name="T101" fmla="*/ 262 h 1202"/>
              <a:gd name="T102" fmla="*/ 906 w 1179"/>
              <a:gd name="T103" fmla="*/ 221 h 1202"/>
              <a:gd name="T104" fmla="*/ 904 w 1179"/>
              <a:gd name="T105" fmla="*/ 225 h 1202"/>
              <a:gd name="T106" fmla="*/ 517 w 1179"/>
              <a:gd name="T107" fmla="*/ 320 h 1202"/>
              <a:gd name="T108" fmla="*/ 574 w 1179"/>
              <a:gd name="T109" fmla="*/ 303 h 1202"/>
              <a:gd name="T110" fmla="*/ 542 w 1179"/>
              <a:gd name="T111" fmla="*/ 312 h 1202"/>
              <a:gd name="T112" fmla="*/ 574 w 1179"/>
              <a:gd name="T113" fmla="*/ 303 h 1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79" h="1202">
                <a:moveTo>
                  <a:pt x="602" y="0"/>
                </a:moveTo>
                <a:cubicBezTo>
                  <a:pt x="757" y="0"/>
                  <a:pt x="899" y="59"/>
                  <a:pt x="1006" y="156"/>
                </a:cubicBezTo>
                <a:cubicBezTo>
                  <a:pt x="984" y="165"/>
                  <a:pt x="984" y="165"/>
                  <a:pt x="984" y="165"/>
                </a:cubicBezTo>
                <a:cubicBezTo>
                  <a:pt x="972" y="178"/>
                  <a:pt x="972" y="178"/>
                  <a:pt x="972" y="178"/>
                </a:cubicBezTo>
                <a:cubicBezTo>
                  <a:pt x="974" y="193"/>
                  <a:pt x="974" y="193"/>
                  <a:pt x="974" y="193"/>
                </a:cubicBezTo>
                <a:cubicBezTo>
                  <a:pt x="990" y="195"/>
                  <a:pt x="990" y="195"/>
                  <a:pt x="990" y="195"/>
                </a:cubicBezTo>
                <a:cubicBezTo>
                  <a:pt x="999" y="217"/>
                  <a:pt x="999" y="217"/>
                  <a:pt x="999" y="217"/>
                </a:cubicBezTo>
                <a:cubicBezTo>
                  <a:pt x="1024" y="206"/>
                  <a:pt x="1024" y="206"/>
                  <a:pt x="1024" y="206"/>
                </a:cubicBezTo>
                <a:cubicBezTo>
                  <a:pt x="1027" y="236"/>
                  <a:pt x="1027" y="236"/>
                  <a:pt x="1027" y="236"/>
                </a:cubicBezTo>
                <a:cubicBezTo>
                  <a:pt x="1020" y="236"/>
                  <a:pt x="1020" y="236"/>
                  <a:pt x="1020" y="236"/>
                </a:cubicBezTo>
                <a:cubicBezTo>
                  <a:pt x="999" y="233"/>
                  <a:pt x="999" y="233"/>
                  <a:pt x="999" y="233"/>
                </a:cubicBezTo>
                <a:cubicBezTo>
                  <a:pt x="976" y="237"/>
                  <a:pt x="976" y="237"/>
                  <a:pt x="976" y="237"/>
                </a:cubicBezTo>
                <a:cubicBezTo>
                  <a:pt x="954" y="268"/>
                  <a:pt x="954" y="268"/>
                  <a:pt x="954" y="268"/>
                </a:cubicBezTo>
                <a:cubicBezTo>
                  <a:pt x="922" y="273"/>
                  <a:pt x="922" y="273"/>
                  <a:pt x="922" y="273"/>
                </a:cubicBezTo>
                <a:cubicBezTo>
                  <a:pt x="918" y="300"/>
                  <a:pt x="918" y="300"/>
                  <a:pt x="918" y="300"/>
                </a:cubicBezTo>
                <a:cubicBezTo>
                  <a:pt x="931" y="303"/>
                  <a:pt x="931" y="303"/>
                  <a:pt x="931" y="303"/>
                </a:cubicBezTo>
                <a:cubicBezTo>
                  <a:pt x="927" y="321"/>
                  <a:pt x="927" y="321"/>
                  <a:pt x="927" y="321"/>
                </a:cubicBezTo>
                <a:cubicBezTo>
                  <a:pt x="896" y="315"/>
                  <a:pt x="896" y="315"/>
                  <a:pt x="896" y="315"/>
                </a:cubicBezTo>
                <a:cubicBezTo>
                  <a:pt x="867" y="321"/>
                  <a:pt x="867" y="321"/>
                  <a:pt x="867" y="321"/>
                </a:cubicBezTo>
                <a:cubicBezTo>
                  <a:pt x="861" y="337"/>
                  <a:pt x="861" y="337"/>
                  <a:pt x="861" y="337"/>
                </a:cubicBezTo>
                <a:cubicBezTo>
                  <a:pt x="866" y="371"/>
                  <a:pt x="866" y="371"/>
                  <a:pt x="866" y="371"/>
                </a:cubicBezTo>
                <a:cubicBezTo>
                  <a:pt x="883" y="379"/>
                  <a:pt x="883" y="379"/>
                  <a:pt x="883" y="379"/>
                </a:cubicBezTo>
                <a:cubicBezTo>
                  <a:pt x="911" y="378"/>
                  <a:pt x="911" y="378"/>
                  <a:pt x="911" y="378"/>
                </a:cubicBezTo>
                <a:cubicBezTo>
                  <a:pt x="930" y="377"/>
                  <a:pt x="930" y="377"/>
                  <a:pt x="930" y="377"/>
                </a:cubicBezTo>
                <a:cubicBezTo>
                  <a:pt x="937" y="362"/>
                  <a:pt x="937" y="362"/>
                  <a:pt x="937" y="362"/>
                </a:cubicBezTo>
                <a:cubicBezTo>
                  <a:pt x="966" y="322"/>
                  <a:pt x="966" y="322"/>
                  <a:pt x="966" y="322"/>
                </a:cubicBezTo>
                <a:cubicBezTo>
                  <a:pt x="986" y="327"/>
                  <a:pt x="986" y="327"/>
                  <a:pt x="986" y="327"/>
                </a:cubicBezTo>
                <a:cubicBezTo>
                  <a:pt x="1005" y="309"/>
                  <a:pt x="1005" y="309"/>
                  <a:pt x="1005" y="309"/>
                </a:cubicBezTo>
                <a:cubicBezTo>
                  <a:pt x="1009" y="323"/>
                  <a:pt x="1009" y="323"/>
                  <a:pt x="1009" y="323"/>
                </a:cubicBezTo>
                <a:cubicBezTo>
                  <a:pt x="1057" y="356"/>
                  <a:pt x="1057" y="356"/>
                  <a:pt x="1057" y="356"/>
                </a:cubicBezTo>
                <a:cubicBezTo>
                  <a:pt x="1052" y="363"/>
                  <a:pt x="1052" y="363"/>
                  <a:pt x="1052" y="363"/>
                </a:cubicBezTo>
                <a:cubicBezTo>
                  <a:pt x="1030" y="362"/>
                  <a:pt x="1030" y="362"/>
                  <a:pt x="1030" y="362"/>
                </a:cubicBezTo>
                <a:cubicBezTo>
                  <a:pt x="1038" y="374"/>
                  <a:pt x="1038" y="374"/>
                  <a:pt x="1038" y="374"/>
                </a:cubicBezTo>
                <a:cubicBezTo>
                  <a:pt x="1052" y="377"/>
                  <a:pt x="1052" y="377"/>
                  <a:pt x="1052" y="377"/>
                </a:cubicBezTo>
                <a:cubicBezTo>
                  <a:pt x="1067" y="370"/>
                  <a:pt x="1067" y="370"/>
                  <a:pt x="1067" y="370"/>
                </a:cubicBezTo>
                <a:cubicBezTo>
                  <a:pt x="1066" y="351"/>
                  <a:pt x="1066" y="351"/>
                  <a:pt x="1066" y="351"/>
                </a:cubicBezTo>
                <a:cubicBezTo>
                  <a:pt x="1074" y="348"/>
                  <a:pt x="1074" y="348"/>
                  <a:pt x="1074" y="348"/>
                </a:cubicBezTo>
                <a:cubicBezTo>
                  <a:pt x="1068" y="342"/>
                  <a:pt x="1068" y="342"/>
                  <a:pt x="1068" y="342"/>
                </a:cubicBezTo>
                <a:cubicBezTo>
                  <a:pt x="1036" y="325"/>
                  <a:pt x="1036" y="325"/>
                  <a:pt x="1036" y="325"/>
                </a:cubicBezTo>
                <a:cubicBezTo>
                  <a:pt x="1027" y="300"/>
                  <a:pt x="1027" y="300"/>
                  <a:pt x="1027" y="300"/>
                </a:cubicBezTo>
                <a:cubicBezTo>
                  <a:pt x="1054" y="300"/>
                  <a:pt x="1054" y="300"/>
                  <a:pt x="1054" y="300"/>
                </a:cubicBezTo>
                <a:cubicBezTo>
                  <a:pt x="1062" y="309"/>
                  <a:pt x="1062" y="309"/>
                  <a:pt x="1062" y="309"/>
                </a:cubicBezTo>
                <a:cubicBezTo>
                  <a:pt x="1086" y="329"/>
                  <a:pt x="1086" y="329"/>
                  <a:pt x="1086" y="329"/>
                </a:cubicBezTo>
                <a:cubicBezTo>
                  <a:pt x="1087" y="353"/>
                  <a:pt x="1087" y="353"/>
                  <a:pt x="1087" y="353"/>
                </a:cubicBezTo>
                <a:cubicBezTo>
                  <a:pt x="1110" y="378"/>
                  <a:pt x="1110" y="378"/>
                  <a:pt x="1110" y="378"/>
                </a:cubicBezTo>
                <a:cubicBezTo>
                  <a:pt x="1119" y="343"/>
                  <a:pt x="1119" y="343"/>
                  <a:pt x="1119" y="343"/>
                </a:cubicBezTo>
                <a:cubicBezTo>
                  <a:pt x="1136" y="334"/>
                  <a:pt x="1136" y="334"/>
                  <a:pt x="1136" y="334"/>
                </a:cubicBezTo>
                <a:cubicBezTo>
                  <a:pt x="1139" y="362"/>
                  <a:pt x="1139" y="362"/>
                  <a:pt x="1139" y="362"/>
                </a:cubicBezTo>
                <a:cubicBezTo>
                  <a:pt x="1155" y="380"/>
                  <a:pt x="1155" y="380"/>
                  <a:pt x="1155" y="380"/>
                </a:cubicBezTo>
                <a:cubicBezTo>
                  <a:pt x="1162" y="380"/>
                  <a:pt x="1162" y="380"/>
                  <a:pt x="1162" y="380"/>
                </a:cubicBezTo>
                <a:cubicBezTo>
                  <a:pt x="1168" y="396"/>
                  <a:pt x="1174" y="414"/>
                  <a:pt x="1179" y="431"/>
                </a:cubicBezTo>
                <a:cubicBezTo>
                  <a:pt x="1151" y="431"/>
                  <a:pt x="1151" y="431"/>
                  <a:pt x="1151" y="431"/>
                </a:cubicBezTo>
                <a:cubicBezTo>
                  <a:pt x="1121" y="409"/>
                  <a:pt x="1121" y="409"/>
                  <a:pt x="1121" y="409"/>
                </a:cubicBezTo>
                <a:cubicBezTo>
                  <a:pt x="1090" y="412"/>
                  <a:pt x="1090" y="412"/>
                  <a:pt x="1090" y="412"/>
                </a:cubicBezTo>
                <a:cubicBezTo>
                  <a:pt x="1090" y="431"/>
                  <a:pt x="1090" y="431"/>
                  <a:pt x="1090" y="431"/>
                </a:cubicBezTo>
                <a:cubicBezTo>
                  <a:pt x="1080" y="431"/>
                  <a:pt x="1080" y="431"/>
                  <a:pt x="1080" y="431"/>
                </a:cubicBezTo>
                <a:cubicBezTo>
                  <a:pt x="1069" y="424"/>
                  <a:pt x="1069" y="424"/>
                  <a:pt x="1069" y="424"/>
                </a:cubicBezTo>
                <a:cubicBezTo>
                  <a:pt x="1015" y="409"/>
                  <a:pt x="1015" y="409"/>
                  <a:pt x="1015" y="409"/>
                </a:cubicBezTo>
                <a:cubicBezTo>
                  <a:pt x="1015" y="375"/>
                  <a:pt x="1015" y="375"/>
                  <a:pt x="1015" y="375"/>
                </a:cubicBezTo>
                <a:cubicBezTo>
                  <a:pt x="946" y="380"/>
                  <a:pt x="946" y="380"/>
                  <a:pt x="946" y="380"/>
                </a:cubicBezTo>
                <a:cubicBezTo>
                  <a:pt x="924" y="391"/>
                  <a:pt x="924" y="391"/>
                  <a:pt x="924" y="391"/>
                </a:cubicBezTo>
                <a:cubicBezTo>
                  <a:pt x="896" y="391"/>
                  <a:pt x="896" y="391"/>
                  <a:pt x="896" y="391"/>
                </a:cubicBezTo>
                <a:cubicBezTo>
                  <a:pt x="883" y="390"/>
                  <a:pt x="883" y="390"/>
                  <a:pt x="883" y="390"/>
                </a:cubicBezTo>
                <a:cubicBezTo>
                  <a:pt x="850" y="409"/>
                  <a:pt x="850" y="409"/>
                  <a:pt x="850" y="409"/>
                </a:cubicBezTo>
                <a:cubicBezTo>
                  <a:pt x="850" y="443"/>
                  <a:pt x="850" y="443"/>
                  <a:pt x="850" y="443"/>
                </a:cubicBezTo>
                <a:cubicBezTo>
                  <a:pt x="782" y="493"/>
                  <a:pt x="782" y="493"/>
                  <a:pt x="782" y="493"/>
                </a:cubicBezTo>
                <a:cubicBezTo>
                  <a:pt x="788" y="513"/>
                  <a:pt x="788" y="513"/>
                  <a:pt x="788" y="513"/>
                </a:cubicBezTo>
                <a:cubicBezTo>
                  <a:pt x="802" y="513"/>
                  <a:pt x="802" y="513"/>
                  <a:pt x="802" y="513"/>
                </a:cubicBezTo>
                <a:cubicBezTo>
                  <a:pt x="798" y="533"/>
                  <a:pt x="798" y="533"/>
                  <a:pt x="798" y="533"/>
                </a:cubicBezTo>
                <a:cubicBezTo>
                  <a:pt x="788" y="537"/>
                  <a:pt x="788" y="537"/>
                  <a:pt x="788" y="537"/>
                </a:cubicBezTo>
                <a:cubicBezTo>
                  <a:pt x="788" y="589"/>
                  <a:pt x="788" y="589"/>
                  <a:pt x="788" y="589"/>
                </a:cubicBezTo>
                <a:cubicBezTo>
                  <a:pt x="846" y="656"/>
                  <a:pt x="846" y="656"/>
                  <a:pt x="846" y="656"/>
                </a:cubicBezTo>
                <a:cubicBezTo>
                  <a:pt x="872" y="656"/>
                  <a:pt x="872" y="656"/>
                  <a:pt x="872" y="656"/>
                </a:cubicBezTo>
                <a:cubicBezTo>
                  <a:pt x="874" y="652"/>
                  <a:pt x="874" y="652"/>
                  <a:pt x="874" y="652"/>
                </a:cubicBezTo>
                <a:cubicBezTo>
                  <a:pt x="919" y="652"/>
                  <a:pt x="919" y="652"/>
                  <a:pt x="919" y="652"/>
                </a:cubicBezTo>
                <a:cubicBezTo>
                  <a:pt x="933" y="639"/>
                  <a:pt x="933" y="639"/>
                  <a:pt x="933" y="639"/>
                </a:cubicBezTo>
                <a:cubicBezTo>
                  <a:pt x="959" y="639"/>
                  <a:pt x="959" y="639"/>
                  <a:pt x="959" y="639"/>
                </a:cubicBezTo>
                <a:cubicBezTo>
                  <a:pt x="973" y="653"/>
                  <a:pt x="973" y="653"/>
                  <a:pt x="973" y="653"/>
                </a:cubicBezTo>
                <a:cubicBezTo>
                  <a:pt x="1012" y="657"/>
                  <a:pt x="1012" y="657"/>
                  <a:pt x="1012" y="657"/>
                </a:cubicBezTo>
                <a:cubicBezTo>
                  <a:pt x="1007" y="709"/>
                  <a:pt x="1007" y="709"/>
                  <a:pt x="1007" y="709"/>
                </a:cubicBezTo>
                <a:cubicBezTo>
                  <a:pt x="1050" y="785"/>
                  <a:pt x="1050" y="785"/>
                  <a:pt x="1050" y="785"/>
                </a:cubicBezTo>
                <a:cubicBezTo>
                  <a:pt x="1027" y="829"/>
                  <a:pt x="1027" y="829"/>
                  <a:pt x="1027" y="829"/>
                </a:cubicBezTo>
                <a:cubicBezTo>
                  <a:pt x="1029" y="849"/>
                  <a:pt x="1029" y="849"/>
                  <a:pt x="1029" y="849"/>
                </a:cubicBezTo>
                <a:cubicBezTo>
                  <a:pt x="1046" y="867"/>
                  <a:pt x="1046" y="867"/>
                  <a:pt x="1046" y="867"/>
                </a:cubicBezTo>
                <a:cubicBezTo>
                  <a:pt x="1046" y="916"/>
                  <a:pt x="1046" y="916"/>
                  <a:pt x="1046" y="916"/>
                </a:cubicBezTo>
                <a:cubicBezTo>
                  <a:pt x="1070" y="947"/>
                  <a:pt x="1070" y="947"/>
                  <a:pt x="1070" y="947"/>
                </a:cubicBezTo>
                <a:cubicBezTo>
                  <a:pt x="1070" y="979"/>
                  <a:pt x="1070" y="979"/>
                  <a:pt x="1070" y="979"/>
                </a:cubicBezTo>
                <a:cubicBezTo>
                  <a:pt x="959" y="1115"/>
                  <a:pt x="790" y="1202"/>
                  <a:pt x="602" y="1202"/>
                </a:cubicBezTo>
                <a:cubicBezTo>
                  <a:pt x="290" y="1202"/>
                  <a:pt x="33" y="966"/>
                  <a:pt x="2" y="662"/>
                </a:cubicBezTo>
                <a:cubicBezTo>
                  <a:pt x="2" y="662"/>
                  <a:pt x="2" y="662"/>
                  <a:pt x="2" y="662"/>
                </a:cubicBezTo>
                <a:cubicBezTo>
                  <a:pt x="2" y="658"/>
                  <a:pt x="2" y="653"/>
                  <a:pt x="1" y="648"/>
                </a:cubicBezTo>
                <a:cubicBezTo>
                  <a:pt x="1" y="648"/>
                  <a:pt x="1" y="648"/>
                  <a:pt x="1" y="648"/>
                </a:cubicBezTo>
                <a:cubicBezTo>
                  <a:pt x="0" y="633"/>
                  <a:pt x="0" y="617"/>
                  <a:pt x="0" y="601"/>
                </a:cubicBezTo>
                <a:cubicBezTo>
                  <a:pt x="0" y="597"/>
                  <a:pt x="0" y="597"/>
                  <a:pt x="0" y="597"/>
                </a:cubicBezTo>
                <a:cubicBezTo>
                  <a:pt x="0" y="590"/>
                  <a:pt x="0" y="590"/>
                  <a:pt x="0" y="590"/>
                </a:cubicBezTo>
                <a:cubicBezTo>
                  <a:pt x="0" y="581"/>
                  <a:pt x="0" y="581"/>
                  <a:pt x="0" y="581"/>
                </a:cubicBezTo>
                <a:cubicBezTo>
                  <a:pt x="0" y="573"/>
                  <a:pt x="0" y="573"/>
                  <a:pt x="0" y="573"/>
                </a:cubicBezTo>
                <a:cubicBezTo>
                  <a:pt x="1" y="568"/>
                  <a:pt x="1" y="568"/>
                  <a:pt x="1" y="568"/>
                </a:cubicBezTo>
                <a:cubicBezTo>
                  <a:pt x="1" y="564"/>
                  <a:pt x="1" y="560"/>
                  <a:pt x="1" y="556"/>
                </a:cubicBezTo>
                <a:cubicBezTo>
                  <a:pt x="1" y="554"/>
                  <a:pt x="1" y="554"/>
                  <a:pt x="1" y="554"/>
                </a:cubicBezTo>
                <a:cubicBezTo>
                  <a:pt x="7" y="487"/>
                  <a:pt x="23" y="422"/>
                  <a:pt x="48" y="363"/>
                </a:cubicBezTo>
                <a:cubicBezTo>
                  <a:pt x="48" y="396"/>
                  <a:pt x="48" y="396"/>
                  <a:pt x="48" y="396"/>
                </a:cubicBezTo>
                <a:cubicBezTo>
                  <a:pt x="74" y="408"/>
                  <a:pt x="74" y="408"/>
                  <a:pt x="74" y="408"/>
                </a:cubicBezTo>
                <a:cubicBezTo>
                  <a:pt x="74" y="457"/>
                  <a:pt x="74" y="457"/>
                  <a:pt x="74" y="457"/>
                </a:cubicBezTo>
                <a:cubicBezTo>
                  <a:pt x="98" y="498"/>
                  <a:pt x="98" y="498"/>
                  <a:pt x="98" y="498"/>
                </a:cubicBezTo>
                <a:cubicBezTo>
                  <a:pt x="118" y="502"/>
                  <a:pt x="118" y="502"/>
                  <a:pt x="118" y="502"/>
                </a:cubicBezTo>
                <a:cubicBezTo>
                  <a:pt x="121" y="487"/>
                  <a:pt x="121" y="487"/>
                  <a:pt x="121" y="487"/>
                </a:cubicBezTo>
                <a:cubicBezTo>
                  <a:pt x="98" y="451"/>
                  <a:pt x="98" y="451"/>
                  <a:pt x="98" y="451"/>
                </a:cubicBezTo>
                <a:cubicBezTo>
                  <a:pt x="93" y="415"/>
                  <a:pt x="93" y="415"/>
                  <a:pt x="93" y="415"/>
                </a:cubicBezTo>
                <a:cubicBezTo>
                  <a:pt x="107" y="415"/>
                  <a:pt x="107" y="415"/>
                  <a:pt x="107" y="415"/>
                </a:cubicBezTo>
                <a:cubicBezTo>
                  <a:pt x="113" y="452"/>
                  <a:pt x="113" y="452"/>
                  <a:pt x="113" y="452"/>
                </a:cubicBezTo>
                <a:cubicBezTo>
                  <a:pt x="147" y="502"/>
                  <a:pt x="147" y="502"/>
                  <a:pt x="147" y="502"/>
                </a:cubicBezTo>
                <a:cubicBezTo>
                  <a:pt x="138" y="518"/>
                  <a:pt x="138" y="518"/>
                  <a:pt x="138" y="518"/>
                </a:cubicBezTo>
                <a:cubicBezTo>
                  <a:pt x="159" y="550"/>
                  <a:pt x="159" y="550"/>
                  <a:pt x="159" y="550"/>
                </a:cubicBezTo>
                <a:cubicBezTo>
                  <a:pt x="213" y="564"/>
                  <a:pt x="213" y="564"/>
                  <a:pt x="213" y="564"/>
                </a:cubicBezTo>
                <a:cubicBezTo>
                  <a:pt x="213" y="555"/>
                  <a:pt x="213" y="555"/>
                  <a:pt x="213" y="555"/>
                </a:cubicBezTo>
                <a:cubicBezTo>
                  <a:pt x="235" y="559"/>
                  <a:pt x="235" y="559"/>
                  <a:pt x="235" y="559"/>
                </a:cubicBezTo>
                <a:cubicBezTo>
                  <a:pt x="233" y="573"/>
                  <a:pt x="233" y="573"/>
                  <a:pt x="233" y="573"/>
                </a:cubicBezTo>
                <a:cubicBezTo>
                  <a:pt x="249" y="577"/>
                  <a:pt x="249" y="577"/>
                  <a:pt x="249" y="577"/>
                </a:cubicBezTo>
                <a:cubicBezTo>
                  <a:pt x="275" y="584"/>
                  <a:pt x="275" y="584"/>
                  <a:pt x="275" y="584"/>
                </a:cubicBezTo>
                <a:cubicBezTo>
                  <a:pt x="312" y="625"/>
                  <a:pt x="312" y="625"/>
                  <a:pt x="312" y="625"/>
                </a:cubicBezTo>
                <a:cubicBezTo>
                  <a:pt x="359" y="629"/>
                  <a:pt x="359" y="629"/>
                  <a:pt x="359" y="629"/>
                </a:cubicBezTo>
                <a:cubicBezTo>
                  <a:pt x="364" y="668"/>
                  <a:pt x="364" y="668"/>
                  <a:pt x="364" y="668"/>
                </a:cubicBezTo>
                <a:cubicBezTo>
                  <a:pt x="331" y="690"/>
                  <a:pt x="331" y="690"/>
                  <a:pt x="331" y="690"/>
                </a:cubicBezTo>
                <a:cubicBezTo>
                  <a:pt x="330" y="724"/>
                  <a:pt x="330" y="724"/>
                  <a:pt x="330" y="724"/>
                </a:cubicBezTo>
                <a:cubicBezTo>
                  <a:pt x="326" y="745"/>
                  <a:pt x="326" y="745"/>
                  <a:pt x="326" y="745"/>
                </a:cubicBezTo>
                <a:cubicBezTo>
                  <a:pt x="372" y="803"/>
                  <a:pt x="372" y="803"/>
                  <a:pt x="372" y="803"/>
                </a:cubicBezTo>
                <a:cubicBezTo>
                  <a:pt x="375" y="823"/>
                  <a:pt x="375" y="823"/>
                  <a:pt x="375" y="823"/>
                </a:cubicBezTo>
                <a:cubicBezTo>
                  <a:pt x="375" y="823"/>
                  <a:pt x="392" y="827"/>
                  <a:pt x="394" y="827"/>
                </a:cubicBezTo>
                <a:cubicBezTo>
                  <a:pt x="396" y="827"/>
                  <a:pt x="432" y="855"/>
                  <a:pt x="432" y="855"/>
                </a:cubicBezTo>
                <a:cubicBezTo>
                  <a:pt x="432" y="960"/>
                  <a:pt x="432" y="960"/>
                  <a:pt x="432" y="960"/>
                </a:cubicBezTo>
                <a:cubicBezTo>
                  <a:pt x="445" y="963"/>
                  <a:pt x="445" y="963"/>
                  <a:pt x="445" y="963"/>
                </a:cubicBezTo>
                <a:cubicBezTo>
                  <a:pt x="436" y="1012"/>
                  <a:pt x="436" y="1012"/>
                  <a:pt x="436" y="1012"/>
                </a:cubicBezTo>
                <a:cubicBezTo>
                  <a:pt x="458" y="1040"/>
                  <a:pt x="458" y="1040"/>
                  <a:pt x="458" y="1040"/>
                </a:cubicBezTo>
                <a:cubicBezTo>
                  <a:pt x="454" y="1089"/>
                  <a:pt x="454" y="1089"/>
                  <a:pt x="454" y="1089"/>
                </a:cubicBezTo>
                <a:cubicBezTo>
                  <a:pt x="482" y="1138"/>
                  <a:pt x="482" y="1138"/>
                  <a:pt x="482" y="1138"/>
                </a:cubicBezTo>
                <a:cubicBezTo>
                  <a:pt x="518" y="1170"/>
                  <a:pt x="518" y="1170"/>
                  <a:pt x="518" y="1170"/>
                </a:cubicBezTo>
                <a:cubicBezTo>
                  <a:pt x="555" y="1171"/>
                  <a:pt x="555" y="1171"/>
                  <a:pt x="555" y="1171"/>
                </a:cubicBezTo>
                <a:cubicBezTo>
                  <a:pt x="558" y="1159"/>
                  <a:pt x="558" y="1159"/>
                  <a:pt x="558" y="1159"/>
                </a:cubicBezTo>
                <a:cubicBezTo>
                  <a:pt x="532" y="1137"/>
                  <a:pt x="532" y="1137"/>
                  <a:pt x="532" y="1137"/>
                </a:cubicBezTo>
                <a:cubicBezTo>
                  <a:pt x="533" y="1125"/>
                  <a:pt x="533" y="1125"/>
                  <a:pt x="533" y="1125"/>
                </a:cubicBezTo>
                <a:cubicBezTo>
                  <a:pt x="538" y="1112"/>
                  <a:pt x="538" y="1112"/>
                  <a:pt x="538" y="1112"/>
                </a:cubicBezTo>
                <a:cubicBezTo>
                  <a:pt x="539" y="1097"/>
                  <a:pt x="539" y="1097"/>
                  <a:pt x="539" y="1097"/>
                </a:cubicBezTo>
                <a:cubicBezTo>
                  <a:pt x="520" y="1097"/>
                  <a:pt x="520" y="1097"/>
                  <a:pt x="520" y="1097"/>
                </a:cubicBezTo>
                <a:cubicBezTo>
                  <a:pt x="511" y="1086"/>
                  <a:pt x="511" y="1086"/>
                  <a:pt x="511" y="1086"/>
                </a:cubicBezTo>
                <a:cubicBezTo>
                  <a:pt x="527" y="1071"/>
                  <a:pt x="527" y="1071"/>
                  <a:pt x="527" y="1071"/>
                </a:cubicBezTo>
                <a:cubicBezTo>
                  <a:pt x="529" y="1059"/>
                  <a:pt x="529" y="1059"/>
                  <a:pt x="529" y="1059"/>
                </a:cubicBezTo>
                <a:cubicBezTo>
                  <a:pt x="511" y="1055"/>
                  <a:pt x="511" y="1055"/>
                  <a:pt x="511" y="1055"/>
                </a:cubicBezTo>
                <a:cubicBezTo>
                  <a:pt x="513" y="1045"/>
                  <a:pt x="513" y="1045"/>
                  <a:pt x="513" y="1045"/>
                </a:cubicBezTo>
                <a:cubicBezTo>
                  <a:pt x="537" y="1041"/>
                  <a:pt x="537" y="1041"/>
                  <a:pt x="537" y="1041"/>
                </a:cubicBezTo>
                <a:cubicBezTo>
                  <a:pt x="574" y="1024"/>
                  <a:pt x="574" y="1024"/>
                  <a:pt x="574" y="1024"/>
                </a:cubicBezTo>
                <a:cubicBezTo>
                  <a:pt x="586" y="1001"/>
                  <a:pt x="586" y="1001"/>
                  <a:pt x="586" y="1001"/>
                </a:cubicBezTo>
                <a:cubicBezTo>
                  <a:pt x="624" y="952"/>
                  <a:pt x="624" y="952"/>
                  <a:pt x="624" y="952"/>
                </a:cubicBezTo>
                <a:cubicBezTo>
                  <a:pt x="615" y="914"/>
                  <a:pt x="615" y="914"/>
                  <a:pt x="615" y="914"/>
                </a:cubicBezTo>
                <a:cubicBezTo>
                  <a:pt x="627" y="893"/>
                  <a:pt x="627" y="893"/>
                  <a:pt x="627" y="893"/>
                </a:cubicBezTo>
                <a:cubicBezTo>
                  <a:pt x="662" y="895"/>
                  <a:pt x="662" y="895"/>
                  <a:pt x="662" y="895"/>
                </a:cubicBezTo>
                <a:cubicBezTo>
                  <a:pt x="686" y="876"/>
                  <a:pt x="686" y="876"/>
                  <a:pt x="686" y="876"/>
                </a:cubicBezTo>
                <a:cubicBezTo>
                  <a:pt x="693" y="802"/>
                  <a:pt x="693" y="802"/>
                  <a:pt x="693" y="802"/>
                </a:cubicBezTo>
                <a:cubicBezTo>
                  <a:pt x="720" y="768"/>
                  <a:pt x="720" y="768"/>
                  <a:pt x="720" y="768"/>
                </a:cubicBezTo>
                <a:cubicBezTo>
                  <a:pt x="724" y="747"/>
                  <a:pt x="724" y="747"/>
                  <a:pt x="724" y="747"/>
                </a:cubicBezTo>
                <a:cubicBezTo>
                  <a:pt x="701" y="740"/>
                  <a:pt x="701" y="740"/>
                  <a:pt x="701" y="740"/>
                </a:cubicBezTo>
                <a:cubicBezTo>
                  <a:pt x="684" y="713"/>
                  <a:pt x="684" y="713"/>
                  <a:pt x="684" y="713"/>
                </a:cubicBezTo>
                <a:cubicBezTo>
                  <a:pt x="630" y="713"/>
                  <a:pt x="630" y="713"/>
                  <a:pt x="630" y="713"/>
                </a:cubicBezTo>
                <a:cubicBezTo>
                  <a:pt x="588" y="696"/>
                  <a:pt x="588" y="696"/>
                  <a:pt x="588" y="696"/>
                </a:cubicBezTo>
                <a:cubicBezTo>
                  <a:pt x="586" y="665"/>
                  <a:pt x="586" y="665"/>
                  <a:pt x="586" y="665"/>
                </a:cubicBezTo>
                <a:cubicBezTo>
                  <a:pt x="571" y="641"/>
                  <a:pt x="571" y="641"/>
                  <a:pt x="571" y="641"/>
                </a:cubicBezTo>
                <a:cubicBezTo>
                  <a:pt x="533" y="640"/>
                  <a:pt x="533" y="640"/>
                  <a:pt x="533" y="640"/>
                </a:cubicBezTo>
                <a:cubicBezTo>
                  <a:pt x="510" y="605"/>
                  <a:pt x="510" y="605"/>
                  <a:pt x="510" y="605"/>
                </a:cubicBezTo>
                <a:cubicBezTo>
                  <a:pt x="490" y="595"/>
                  <a:pt x="490" y="595"/>
                  <a:pt x="490" y="595"/>
                </a:cubicBezTo>
                <a:cubicBezTo>
                  <a:pt x="489" y="606"/>
                  <a:pt x="489" y="606"/>
                  <a:pt x="489" y="606"/>
                </a:cubicBezTo>
                <a:cubicBezTo>
                  <a:pt x="453" y="608"/>
                  <a:pt x="453" y="608"/>
                  <a:pt x="453" y="608"/>
                </a:cubicBezTo>
                <a:cubicBezTo>
                  <a:pt x="439" y="590"/>
                  <a:pt x="439" y="590"/>
                  <a:pt x="439" y="590"/>
                </a:cubicBezTo>
                <a:cubicBezTo>
                  <a:pt x="402" y="582"/>
                  <a:pt x="402" y="582"/>
                  <a:pt x="402" y="582"/>
                </a:cubicBezTo>
                <a:cubicBezTo>
                  <a:pt x="370" y="618"/>
                  <a:pt x="370" y="618"/>
                  <a:pt x="370" y="618"/>
                </a:cubicBezTo>
                <a:cubicBezTo>
                  <a:pt x="321" y="610"/>
                  <a:pt x="321" y="610"/>
                  <a:pt x="321" y="610"/>
                </a:cubicBezTo>
                <a:cubicBezTo>
                  <a:pt x="318" y="555"/>
                  <a:pt x="318" y="555"/>
                  <a:pt x="318" y="555"/>
                </a:cubicBezTo>
                <a:cubicBezTo>
                  <a:pt x="283" y="549"/>
                  <a:pt x="283" y="549"/>
                  <a:pt x="283" y="549"/>
                </a:cubicBezTo>
                <a:cubicBezTo>
                  <a:pt x="297" y="521"/>
                  <a:pt x="297" y="521"/>
                  <a:pt x="297" y="521"/>
                </a:cubicBezTo>
                <a:cubicBezTo>
                  <a:pt x="292" y="506"/>
                  <a:pt x="292" y="506"/>
                  <a:pt x="292" y="506"/>
                </a:cubicBezTo>
                <a:cubicBezTo>
                  <a:pt x="245" y="537"/>
                  <a:pt x="245" y="537"/>
                  <a:pt x="245" y="537"/>
                </a:cubicBezTo>
                <a:cubicBezTo>
                  <a:pt x="216" y="534"/>
                  <a:pt x="216" y="534"/>
                  <a:pt x="216" y="534"/>
                </a:cubicBezTo>
                <a:cubicBezTo>
                  <a:pt x="205" y="510"/>
                  <a:pt x="205" y="510"/>
                  <a:pt x="205" y="510"/>
                </a:cubicBezTo>
                <a:cubicBezTo>
                  <a:pt x="212" y="487"/>
                  <a:pt x="212" y="487"/>
                  <a:pt x="212" y="487"/>
                </a:cubicBezTo>
                <a:cubicBezTo>
                  <a:pt x="228" y="457"/>
                  <a:pt x="228" y="457"/>
                  <a:pt x="228" y="457"/>
                </a:cubicBezTo>
                <a:cubicBezTo>
                  <a:pt x="266" y="437"/>
                  <a:pt x="266" y="437"/>
                  <a:pt x="266" y="437"/>
                </a:cubicBezTo>
                <a:cubicBezTo>
                  <a:pt x="339" y="437"/>
                  <a:pt x="339" y="437"/>
                  <a:pt x="339" y="437"/>
                </a:cubicBezTo>
                <a:cubicBezTo>
                  <a:pt x="338" y="460"/>
                  <a:pt x="338" y="460"/>
                  <a:pt x="338" y="460"/>
                </a:cubicBezTo>
                <a:cubicBezTo>
                  <a:pt x="364" y="471"/>
                  <a:pt x="364" y="471"/>
                  <a:pt x="364" y="471"/>
                </a:cubicBezTo>
                <a:cubicBezTo>
                  <a:pt x="362" y="434"/>
                  <a:pt x="362" y="434"/>
                  <a:pt x="362" y="434"/>
                </a:cubicBezTo>
                <a:cubicBezTo>
                  <a:pt x="381" y="415"/>
                  <a:pt x="381" y="415"/>
                  <a:pt x="381" y="415"/>
                </a:cubicBezTo>
                <a:cubicBezTo>
                  <a:pt x="418" y="390"/>
                  <a:pt x="418" y="390"/>
                  <a:pt x="418" y="390"/>
                </a:cubicBezTo>
                <a:cubicBezTo>
                  <a:pt x="421" y="373"/>
                  <a:pt x="421" y="373"/>
                  <a:pt x="421" y="373"/>
                </a:cubicBezTo>
                <a:cubicBezTo>
                  <a:pt x="459" y="334"/>
                  <a:pt x="459" y="334"/>
                  <a:pt x="459" y="334"/>
                </a:cubicBezTo>
                <a:cubicBezTo>
                  <a:pt x="499" y="311"/>
                  <a:pt x="499" y="311"/>
                  <a:pt x="499" y="311"/>
                </a:cubicBezTo>
                <a:cubicBezTo>
                  <a:pt x="495" y="309"/>
                  <a:pt x="495" y="309"/>
                  <a:pt x="495" y="309"/>
                </a:cubicBezTo>
                <a:cubicBezTo>
                  <a:pt x="523" y="283"/>
                  <a:pt x="523" y="283"/>
                  <a:pt x="523" y="283"/>
                </a:cubicBezTo>
                <a:cubicBezTo>
                  <a:pt x="533" y="285"/>
                  <a:pt x="533" y="285"/>
                  <a:pt x="533" y="285"/>
                </a:cubicBezTo>
                <a:cubicBezTo>
                  <a:pt x="537" y="291"/>
                  <a:pt x="537" y="291"/>
                  <a:pt x="537" y="291"/>
                </a:cubicBezTo>
                <a:cubicBezTo>
                  <a:pt x="548" y="280"/>
                  <a:pt x="548" y="280"/>
                  <a:pt x="548" y="280"/>
                </a:cubicBezTo>
                <a:cubicBezTo>
                  <a:pt x="550" y="278"/>
                  <a:pt x="550" y="278"/>
                  <a:pt x="550" y="278"/>
                </a:cubicBezTo>
                <a:cubicBezTo>
                  <a:pt x="539" y="277"/>
                  <a:pt x="539" y="277"/>
                  <a:pt x="539" y="277"/>
                </a:cubicBezTo>
                <a:cubicBezTo>
                  <a:pt x="527" y="273"/>
                  <a:pt x="527" y="273"/>
                  <a:pt x="527" y="273"/>
                </a:cubicBezTo>
                <a:cubicBezTo>
                  <a:pt x="527" y="262"/>
                  <a:pt x="527" y="262"/>
                  <a:pt x="527" y="262"/>
                </a:cubicBezTo>
                <a:cubicBezTo>
                  <a:pt x="533" y="257"/>
                  <a:pt x="533" y="257"/>
                  <a:pt x="533" y="257"/>
                </a:cubicBezTo>
                <a:cubicBezTo>
                  <a:pt x="547" y="257"/>
                  <a:pt x="547" y="257"/>
                  <a:pt x="547" y="257"/>
                </a:cubicBezTo>
                <a:cubicBezTo>
                  <a:pt x="553" y="259"/>
                  <a:pt x="553" y="259"/>
                  <a:pt x="553" y="259"/>
                </a:cubicBezTo>
                <a:cubicBezTo>
                  <a:pt x="558" y="271"/>
                  <a:pt x="558" y="271"/>
                  <a:pt x="558" y="271"/>
                </a:cubicBezTo>
                <a:cubicBezTo>
                  <a:pt x="564" y="269"/>
                  <a:pt x="564" y="269"/>
                  <a:pt x="564" y="269"/>
                </a:cubicBezTo>
                <a:cubicBezTo>
                  <a:pt x="564" y="268"/>
                  <a:pt x="564" y="268"/>
                  <a:pt x="564" y="268"/>
                </a:cubicBezTo>
                <a:cubicBezTo>
                  <a:pt x="567" y="269"/>
                  <a:pt x="567" y="269"/>
                  <a:pt x="567" y="269"/>
                </a:cubicBezTo>
                <a:cubicBezTo>
                  <a:pt x="586" y="266"/>
                  <a:pt x="586" y="266"/>
                  <a:pt x="586" y="266"/>
                </a:cubicBezTo>
                <a:cubicBezTo>
                  <a:pt x="588" y="257"/>
                  <a:pt x="588" y="257"/>
                  <a:pt x="588" y="257"/>
                </a:cubicBezTo>
                <a:cubicBezTo>
                  <a:pt x="599" y="259"/>
                  <a:pt x="599" y="259"/>
                  <a:pt x="599" y="259"/>
                </a:cubicBezTo>
                <a:cubicBezTo>
                  <a:pt x="599" y="270"/>
                  <a:pt x="599" y="270"/>
                  <a:pt x="599" y="270"/>
                </a:cubicBezTo>
                <a:cubicBezTo>
                  <a:pt x="589" y="277"/>
                  <a:pt x="589" y="277"/>
                  <a:pt x="589" y="277"/>
                </a:cubicBezTo>
                <a:cubicBezTo>
                  <a:pt x="589" y="277"/>
                  <a:pt x="589" y="277"/>
                  <a:pt x="589" y="277"/>
                </a:cubicBezTo>
                <a:cubicBezTo>
                  <a:pt x="591" y="287"/>
                  <a:pt x="591" y="287"/>
                  <a:pt x="591" y="287"/>
                </a:cubicBezTo>
                <a:cubicBezTo>
                  <a:pt x="624" y="298"/>
                  <a:pt x="624" y="298"/>
                  <a:pt x="624" y="298"/>
                </a:cubicBezTo>
                <a:cubicBezTo>
                  <a:pt x="625" y="298"/>
                  <a:pt x="625" y="298"/>
                  <a:pt x="625" y="298"/>
                </a:cubicBezTo>
                <a:cubicBezTo>
                  <a:pt x="633" y="298"/>
                  <a:pt x="633" y="298"/>
                  <a:pt x="633" y="298"/>
                </a:cubicBezTo>
                <a:cubicBezTo>
                  <a:pt x="633" y="283"/>
                  <a:pt x="633" y="283"/>
                  <a:pt x="633" y="283"/>
                </a:cubicBezTo>
                <a:cubicBezTo>
                  <a:pt x="606" y="271"/>
                  <a:pt x="606" y="271"/>
                  <a:pt x="606" y="271"/>
                </a:cubicBezTo>
                <a:cubicBezTo>
                  <a:pt x="605" y="263"/>
                  <a:pt x="605" y="263"/>
                  <a:pt x="605" y="263"/>
                </a:cubicBezTo>
                <a:cubicBezTo>
                  <a:pt x="627" y="256"/>
                  <a:pt x="627" y="256"/>
                  <a:pt x="627" y="256"/>
                </a:cubicBezTo>
                <a:cubicBezTo>
                  <a:pt x="628" y="234"/>
                  <a:pt x="628" y="234"/>
                  <a:pt x="628" y="234"/>
                </a:cubicBezTo>
                <a:cubicBezTo>
                  <a:pt x="605" y="220"/>
                  <a:pt x="605" y="220"/>
                  <a:pt x="605" y="220"/>
                </a:cubicBezTo>
                <a:cubicBezTo>
                  <a:pt x="603" y="184"/>
                  <a:pt x="603" y="184"/>
                  <a:pt x="603" y="184"/>
                </a:cubicBezTo>
                <a:cubicBezTo>
                  <a:pt x="571" y="200"/>
                  <a:pt x="571" y="200"/>
                  <a:pt x="571" y="200"/>
                </a:cubicBezTo>
                <a:cubicBezTo>
                  <a:pt x="559" y="200"/>
                  <a:pt x="559" y="200"/>
                  <a:pt x="559" y="200"/>
                </a:cubicBezTo>
                <a:cubicBezTo>
                  <a:pt x="562" y="172"/>
                  <a:pt x="562" y="172"/>
                  <a:pt x="562" y="172"/>
                </a:cubicBezTo>
                <a:cubicBezTo>
                  <a:pt x="518" y="162"/>
                  <a:pt x="518" y="162"/>
                  <a:pt x="518" y="162"/>
                </a:cubicBezTo>
                <a:cubicBezTo>
                  <a:pt x="500" y="175"/>
                  <a:pt x="500" y="175"/>
                  <a:pt x="500" y="175"/>
                </a:cubicBezTo>
                <a:cubicBezTo>
                  <a:pt x="500" y="218"/>
                  <a:pt x="500" y="218"/>
                  <a:pt x="500" y="218"/>
                </a:cubicBezTo>
                <a:cubicBezTo>
                  <a:pt x="467" y="228"/>
                  <a:pt x="467" y="228"/>
                  <a:pt x="467" y="228"/>
                </a:cubicBezTo>
                <a:cubicBezTo>
                  <a:pt x="455" y="255"/>
                  <a:pt x="455" y="255"/>
                  <a:pt x="455" y="255"/>
                </a:cubicBezTo>
                <a:cubicBezTo>
                  <a:pt x="441" y="257"/>
                  <a:pt x="441" y="257"/>
                  <a:pt x="441" y="257"/>
                </a:cubicBezTo>
                <a:cubicBezTo>
                  <a:pt x="441" y="222"/>
                  <a:pt x="441" y="222"/>
                  <a:pt x="441" y="222"/>
                </a:cubicBezTo>
                <a:cubicBezTo>
                  <a:pt x="410" y="218"/>
                  <a:pt x="410" y="218"/>
                  <a:pt x="410" y="218"/>
                </a:cubicBezTo>
                <a:cubicBezTo>
                  <a:pt x="395" y="208"/>
                  <a:pt x="395" y="208"/>
                  <a:pt x="395" y="208"/>
                </a:cubicBezTo>
                <a:cubicBezTo>
                  <a:pt x="389" y="186"/>
                  <a:pt x="389" y="186"/>
                  <a:pt x="389" y="186"/>
                </a:cubicBezTo>
                <a:cubicBezTo>
                  <a:pt x="443" y="153"/>
                  <a:pt x="443" y="153"/>
                  <a:pt x="443" y="153"/>
                </a:cubicBezTo>
                <a:cubicBezTo>
                  <a:pt x="470" y="145"/>
                  <a:pt x="470" y="145"/>
                  <a:pt x="470" y="145"/>
                </a:cubicBezTo>
                <a:cubicBezTo>
                  <a:pt x="473" y="163"/>
                  <a:pt x="473" y="163"/>
                  <a:pt x="473" y="163"/>
                </a:cubicBezTo>
                <a:cubicBezTo>
                  <a:pt x="488" y="162"/>
                  <a:pt x="488" y="162"/>
                  <a:pt x="488" y="162"/>
                </a:cubicBezTo>
                <a:cubicBezTo>
                  <a:pt x="489" y="153"/>
                  <a:pt x="489" y="153"/>
                  <a:pt x="489" y="153"/>
                </a:cubicBezTo>
                <a:cubicBezTo>
                  <a:pt x="505" y="151"/>
                  <a:pt x="505" y="151"/>
                  <a:pt x="505" y="151"/>
                </a:cubicBezTo>
                <a:cubicBezTo>
                  <a:pt x="505" y="148"/>
                  <a:pt x="505" y="148"/>
                  <a:pt x="505" y="148"/>
                </a:cubicBezTo>
                <a:cubicBezTo>
                  <a:pt x="498" y="145"/>
                  <a:pt x="498" y="145"/>
                  <a:pt x="498" y="145"/>
                </a:cubicBezTo>
                <a:cubicBezTo>
                  <a:pt x="496" y="136"/>
                  <a:pt x="496" y="136"/>
                  <a:pt x="496" y="136"/>
                </a:cubicBezTo>
                <a:cubicBezTo>
                  <a:pt x="516" y="134"/>
                  <a:pt x="516" y="134"/>
                  <a:pt x="516" y="134"/>
                </a:cubicBezTo>
                <a:cubicBezTo>
                  <a:pt x="527" y="122"/>
                  <a:pt x="527" y="122"/>
                  <a:pt x="527" y="122"/>
                </a:cubicBezTo>
                <a:cubicBezTo>
                  <a:pt x="528" y="122"/>
                  <a:pt x="528" y="122"/>
                  <a:pt x="528" y="122"/>
                </a:cubicBezTo>
                <a:cubicBezTo>
                  <a:pt x="528" y="122"/>
                  <a:pt x="528" y="122"/>
                  <a:pt x="528" y="122"/>
                </a:cubicBezTo>
                <a:cubicBezTo>
                  <a:pt x="532" y="118"/>
                  <a:pt x="532" y="118"/>
                  <a:pt x="532" y="118"/>
                </a:cubicBezTo>
                <a:cubicBezTo>
                  <a:pt x="572" y="112"/>
                  <a:pt x="572" y="112"/>
                  <a:pt x="572" y="112"/>
                </a:cubicBezTo>
                <a:cubicBezTo>
                  <a:pt x="589" y="128"/>
                  <a:pt x="589" y="128"/>
                  <a:pt x="589" y="128"/>
                </a:cubicBezTo>
                <a:cubicBezTo>
                  <a:pt x="542" y="153"/>
                  <a:pt x="542" y="153"/>
                  <a:pt x="542" y="153"/>
                </a:cubicBezTo>
                <a:cubicBezTo>
                  <a:pt x="602" y="167"/>
                  <a:pt x="602" y="167"/>
                  <a:pt x="602" y="167"/>
                </a:cubicBezTo>
                <a:cubicBezTo>
                  <a:pt x="610" y="147"/>
                  <a:pt x="610" y="147"/>
                  <a:pt x="610" y="147"/>
                </a:cubicBezTo>
                <a:cubicBezTo>
                  <a:pt x="636" y="147"/>
                  <a:pt x="636" y="147"/>
                  <a:pt x="636" y="147"/>
                </a:cubicBezTo>
                <a:cubicBezTo>
                  <a:pt x="646" y="130"/>
                  <a:pt x="646" y="130"/>
                  <a:pt x="646" y="130"/>
                </a:cubicBezTo>
                <a:cubicBezTo>
                  <a:pt x="627" y="125"/>
                  <a:pt x="627" y="125"/>
                  <a:pt x="627" y="125"/>
                </a:cubicBezTo>
                <a:cubicBezTo>
                  <a:pt x="627" y="103"/>
                  <a:pt x="627" y="103"/>
                  <a:pt x="627" y="103"/>
                </a:cubicBezTo>
                <a:cubicBezTo>
                  <a:pt x="569" y="78"/>
                  <a:pt x="569" y="78"/>
                  <a:pt x="569" y="78"/>
                </a:cubicBezTo>
                <a:cubicBezTo>
                  <a:pt x="530" y="82"/>
                  <a:pt x="530" y="82"/>
                  <a:pt x="530" y="82"/>
                </a:cubicBezTo>
                <a:cubicBezTo>
                  <a:pt x="507" y="94"/>
                  <a:pt x="507" y="94"/>
                  <a:pt x="507" y="94"/>
                </a:cubicBezTo>
                <a:cubicBezTo>
                  <a:pt x="508" y="122"/>
                  <a:pt x="508" y="122"/>
                  <a:pt x="508" y="122"/>
                </a:cubicBezTo>
                <a:cubicBezTo>
                  <a:pt x="485" y="119"/>
                  <a:pt x="485" y="119"/>
                  <a:pt x="485" y="119"/>
                </a:cubicBezTo>
                <a:cubicBezTo>
                  <a:pt x="481" y="103"/>
                  <a:pt x="481" y="103"/>
                  <a:pt x="481" y="103"/>
                </a:cubicBezTo>
                <a:cubicBezTo>
                  <a:pt x="504" y="82"/>
                  <a:pt x="504" y="82"/>
                  <a:pt x="504" y="82"/>
                </a:cubicBezTo>
                <a:cubicBezTo>
                  <a:pt x="463" y="81"/>
                  <a:pt x="463" y="81"/>
                  <a:pt x="463" y="81"/>
                </a:cubicBezTo>
                <a:cubicBezTo>
                  <a:pt x="452" y="84"/>
                  <a:pt x="452" y="84"/>
                  <a:pt x="452" y="84"/>
                </a:cubicBezTo>
                <a:cubicBezTo>
                  <a:pt x="446" y="98"/>
                  <a:pt x="446" y="98"/>
                  <a:pt x="446" y="98"/>
                </a:cubicBezTo>
                <a:cubicBezTo>
                  <a:pt x="461" y="100"/>
                  <a:pt x="461" y="100"/>
                  <a:pt x="461" y="100"/>
                </a:cubicBezTo>
                <a:cubicBezTo>
                  <a:pt x="458" y="115"/>
                  <a:pt x="458" y="115"/>
                  <a:pt x="458" y="115"/>
                </a:cubicBezTo>
                <a:cubicBezTo>
                  <a:pt x="433" y="117"/>
                  <a:pt x="433" y="117"/>
                  <a:pt x="433" y="117"/>
                </a:cubicBezTo>
                <a:cubicBezTo>
                  <a:pt x="428" y="128"/>
                  <a:pt x="428" y="128"/>
                  <a:pt x="428" y="128"/>
                </a:cubicBezTo>
                <a:cubicBezTo>
                  <a:pt x="391" y="128"/>
                  <a:pt x="391" y="128"/>
                  <a:pt x="391" y="128"/>
                </a:cubicBezTo>
                <a:cubicBezTo>
                  <a:pt x="391" y="128"/>
                  <a:pt x="389" y="107"/>
                  <a:pt x="388" y="107"/>
                </a:cubicBezTo>
                <a:cubicBezTo>
                  <a:pt x="386" y="107"/>
                  <a:pt x="417" y="106"/>
                  <a:pt x="417" y="106"/>
                </a:cubicBezTo>
                <a:cubicBezTo>
                  <a:pt x="440" y="84"/>
                  <a:pt x="440" y="84"/>
                  <a:pt x="440" y="84"/>
                </a:cubicBezTo>
                <a:cubicBezTo>
                  <a:pt x="428" y="78"/>
                  <a:pt x="428" y="78"/>
                  <a:pt x="428" y="78"/>
                </a:cubicBezTo>
                <a:cubicBezTo>
                  <a:pt x="411" y="94"/>
                  <a:pt x="411" y="94"/>
                  <a:pt x="411" y="94"/>
                </a:cubicBezTo>
                <a:cubicBezTo>
                  <a:pt x="384" y="93"/>
                  <a:pt x="384" y="93"/>
                  <a:pt x="384" y="93"/>
                </a:cubicBezTo>
                <a:cubicBezTo>
                  <a:pt x="368" y="70"/>
                  <a:pt x="368" y="70"/>
                  <a:pt x="368" y="70"/>
                </a:cubicBezTo>
                <a:cubicBezTo>
                  <a:pt x="333" y="70"/>
                  <a:pt x="333" y="70"/>
                  <a:pt x="333" y="70"/>
                </a:cubicBezTo>
                <a:cubicBezTo>
                  <a:pt x="297" y="97"/>
                  <a:pt x="297" y="97"/>
                  <a:pt x="297" y="97"/>
                </a:cubicBezTo>
                <a:cubicBezTo>
                  <a:pt x="330" y="97"/>
                  <a:pt x="330" y="97"/>
                  <a:pt x="330" y="97"/>
                </a:cubicBezTo>
                <a:cubicBezTo>
                  <a:pt x="333" y="107"/>
                  <a:pt x="333" y="107"/>
                  <a:pt x="333" y="107"/>
                </a:cubicBezTo>
                <a:cubicBezTo>
                  <a:pt x="325" y="115"/>
                  <a:pt x="325" y="115"/>
                  <a:pt x="325" y="115"/>
                </a:cubicBezTo>
                <a:cubicBezTo>
                  <a:pt x="361" y="116"/>
                  <a:pt x="361" y="116"/>
                  <a:pt x="361" y="116"/>
                </a:cubicBezTo>
                <a:cubicBezTo>
                  <a:pt x="367" y="130"/>
                  <a:pt x="367" y="130"/>
                  <a:pt x="367" y="130"/>
                </a:cubicBezTo>
                <a:cubicBezTo>
                  <a:pt x="326" y="128"/>
                  <a:pt x="326" y="128"/>
                  <a:pt x="326" y="128"/>
                </a:cubicBezTo>
                <a:cubicBezTo>
                  <a:pt x="323" y="118"/>
                  <a:pt x="323" y="118"/>
                  <a:pt x="323" y="118"/>
                </a:cubicBezTo>
                <a:cubicBezTo>
                  <a:pt x="298" y="112"/>
                  <a:pt x="298" y="112"/>
                  <a:pt x="298" y="112"/>
                </a:cubicBezTo>
                <a:cubicBezTo>
                  <a:pt x="284" y="104"/>
                  <a:pt x="284" y="104"/>
                  <a:pt x="284" y="104"/>
                </a:cubicBezTo>
                <a:cubicBezTo>
                  <a:pt x="261" y="105"/>
                  <a:pt x="261" y="105"/>
                  <a:pt x="261" y="105"/>
                </a:cubicBezTo>
                <a:cubicBezTo>
                  <a:pt x="358" y="38"/>
                  <a:pt x="475" y="0"/>
                  <a:pt x="602" y="0"/>
                </a:cubicBezTo>
                <a:close/>
                <a:moveTo>
                  <a:pt x="896" y="205"/>
                </a:moveTo>
                <a:cubicBezTo>
                  <a:pt x="902" y="197"/>
                  <a:pt x="902" y="197"/>
                  <a:pt x="902" y="197"/>
                </a:cubicBezTo>
                <a:cubicBezTo>
                  <a:pt x="922" y="192"/>
                  <a:pt x="922" y="192"/>
                  <a:pt x="922" y="192"/>
                </a:cubicBezTo>
                <a:cubicBezTo>
                  <a:pt x="927" y="216"/>
                  <a:pt x="927" y="216"/>
                  <a:pt x="927" y="216"/>
                </a:cubicBezTo>
                <a:cubicBezTo>
                  <a:pt x="938" y="234"/>
                  <a:pt x="938" y="234"/>
                  <a:pt x="938" y="234"/>
                </a:cubicBezTo>
                <a:cubicBezTo>
                  <a:pt x="946" y="242"/>
                  <a:pt x="946" y="242"/>
                  <a:pt x="946" y="242"/>
                </a:cubicBezTo>
                <a:cubicBezTo>
                  <a:pt x="959" y="247"/>
                  <a:pt x="959" y="247"/>
                  <a:pt x="959" y="247"/>
                </a:cubicBezTo>
                <a:cubicBezTo>
                  <a:pt x="946" y="262"/>
                  <a:pt x="946" y="262"/>
                  <a:pt x="946" y="262"/>
                </a:cubicBezTo>
                <a:cubicBezTo>
                  <a:pt x="922" y="264"/>
                  <a:pt x="922" y="264"/>
                  <a:pt x="922" y="264"/>
                </a:cubicBezTo>
                <a:cubicBezTo>
                  <a:pt x="905" y="264"/>
                  <a:pt x="905" y="264"/>
                  <a:pt x="905" y="264"/>
                </a:cubicBezTo>
                <a:cubicBezTo>
                  <a:pt x="906" y="243"/>
                  <a:pt x="906" y="243"/>
                  <a:pt x="906" y="243"/>
                </a:cubicBezTo>
                <a:cubicBezTo>
                  <a:pt x="921" y="240"/>
                  <a:pt x="921" y="240"/>
                  <a:pt x="921" y="240"/>
                </a:cubicBezTo>
                <a:cubicBezTo>
                  <a:pt x="920" y="230"/>
                  <a:pt x="920" y="230"/>
                  <a:pt x="920" y="230"/>
                </a:cubicBezTo>
                <a:cubicBezTo>
                  <a:pt x="906" y="221"/>
                  <a:pt x="906" y="221"/>
                  <a:pt x="906" y="221"/>
                </a:cubicBezTo>
                <a:cubicBezTo>
                  <a:pt x="896" y="214"/>
                  <a:pt x="896" y="214"/>
                  <a:pt x="896" y="214"/>
                </a:cubicBezTo>
                <a:cubicBezTo>
                  <a:pt x="896" y="205"/>
                  <a:pt x="896" y="205"/>
                  <a:pt x="896" y="205"/>
                </a:cubicBezTo>
                <a:close/>
                <a:moveTo>
                  <a:pt x="863" y="243"/>
                </a:moveTo>
                <a:cubicBezTo>
                  <a:pt x="875" y="223"/>
                  <a:pt x="875" y="223"/>
                  <a:pt x="875" y="223"/>
                </a:cubicBezTo>
                <a:cubicBezTo>
                  <a:pt x="893" y="219"/>
                  <a:pt x="893" y="219"/>
                  <a:pt x="893" y="219"/>
                </a:cubicBezTo>
                <a:cubicBezTo>
                  <a:pt x="904" y="225"/>
                  <a:pt x="904" y="225"/>
                  <a:pt x="904" y="225"/>
                </a:cubicBezTo>
                <a:cubicBezTo>
                  <a:pt x="902" y="238"/>
                  <a:pt x="902" y="238"/>
                  <a:pt x="902" y="238"/>
                </a:cubicBezTo>
                <a:cubicBezTo>
                  <a:pt x="877" y="256"/>
                  <a:pt x="877" y="256"/>
                  <a:pt x="877" y="256"/>
                </a:cubicBezTo>
                <a:cubicBezTo>
                  <a:pt x="863" y="256"/>
                  <a:pt x="863" y="256"/>
                  <a:pt x="863" y="256"/>
                </a:cubicBezTo>
                <a:cubicBezTo>
                  <a:pt x="863" y="243"/>
                  <a:pt x="863" y="243"/>
                  <a:pt x="863" y="243"/>
                </a:cubicBezTo>
                <a:close/>
                <a:moveTo>
                  <a:pt x="530" y="318"/>
                </a:moveTo>
                <a:cubicBezTo>
                  <a:pt x="517" y="320"/>
                  <a:pt x="517" y="320"/>
                  <a:pt x="517" y="320"/>
                </a:cubicBezTo>
                <a:cubicBezTo>
                  <a:pt x="517" y="311"/>
                  <a:pt x="517" y="311"/>
                  <a:pt x="517" y="311"/>
                </a:cubicBezTo>
                <a:cubicBezTo>
                  <a:pt x="524" y="303"/>
                  <a:pt x="524" y="303"/>
                  <a:pt x="524" y="303"/>
                </a:cubicBezTo>
                <a:cubicBezTo>
                  <a:pt x="531" y="309"/>
                  <a:pt x="531" y="309"/>
                  <a:pt x="531" y="309"/>
                </a:cubicBezTo>
                <a:cubicBezTo>
                  <a:pt x="530" y="318"/>
                  <a:pt x="530" y="318"/>
                  <a:pt x="530" y="318"/>
                </a:cubicBezTo>
                <a:cubicBezTo>
                  <a:pt x="530" y="318"/>
                  <a:pt x="530" y="318"/>
                  <a:pt x="530" y="318"/>
                </a:cubicBezTo>
                <a:close/>
                <a:moveTo>
                  <a:pt x="574" y="303"/>
                </a:moveTo>
                <a:cubicBezTo>
                  <a:pt x="566" y="303"/>
                  <a:pt x="566" y="303"/>
                  <a:pt x="566" y="303"/>
                </a:cubicBezTo>
                <a:cubicBezTo>
                  <a:pt x="564" y="312"/>
                  <a:pt x="564" y="312"/>
                  <a:pt x="564" y="312"/>
                </a:cubicBezTo>
                <a:cubicBezTo>
                  <a:pt x="557" y="316"/>
                  <a:pt x="557" y="316"/>
                  <a:pt x="557" y="316"/>
                </a:cubicBezTo>
                <a:cubicBezTo>
                  <a:pt x="546" y="317"/>
                  <a:pt x="546" y="317"/>
                  <a:pt x="546" y="317"/>
                </a:cubicBezTo>
                <a:cubicBezTo>
                  <a:pt x="546" y="315"/>
                  <a:pt x="546" y="312"/>
                  <a:pt x="546" y="312"/>
                </a:cubicBezTo>
                <a:cubicBezTo>
                  <a:pt x="542" y="312"/>
                  <a:pt x="542" y="312"/>
                  <a:pt x="542" y="312"/>
                </a:cubicBezTo>
                <a:cubicBezTo>
                  <a:pt x="542" y="303"/>
                  <a:pt x="542" y="303"/>
                  <a:pt x="542" y="303"/>
                </a:cubicBezTo>
                <a:cubicBezTo>
                  <a:pt x="559" y="303"/>
                  <a:pt x="559" y="303"/>
                  <a:pt x="559" y="303"/>
                </a:cubicBezTo>
                <a:cubicBezTo>
                  <a:pt x="563" y="294"/>
                  <a:pt x="563" y="294"/>
                  <a:pt x="563" y="294"/>
                </a:cubicBezTo>
                <a:cubicBezTo>
                  <a:pt x="570" y="294"/>
                  <a:pt x="570" y="294"/>
                  <a:pt x="570" y="294"/>
                </a:cubicBezTo>
                <a:cubicBezTo>
                  <a:pt x="578" y="296"/>
                  <a:pt x="578" y="296"/>
                  <a:pt x="578" y="296"/>
                </a:cubicBezTo>
                <a:cubicBezTo>
                  <a:pt x="574" y="303"/>
                  <a:pt x="574" y="303"/>
                  <a:pt x="574" y="303"/>
                </a:cubicBezTo>
                <a:cubicBezTo>
                  <a:pt x="574" y="303"/>
                  <a:pt x="574" y="303"/>
                  <a:pt x="574" y="303"/>
                </a:cubicBezTo>
                <a:close/>
              </a:path>
            </a:pathLst>
          </a:custGeom>
          <a:solidFill>
            <a:schemeClr val="bg2">
              <a:lumMod val="9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8" name="Freeform 117">
            <a:extLst>
              <a:ext uri="{FF2B5EF4-FFF2-40B4-BE49-F238E27FC236}">
                <a16:creationId xmlns:a16="http://schemas.microsoft.com/office/drawing/2014/main" id="{7303628F-8899-44F7-A1FE-CD942A93CFE7}"/>
              </a:ext>
            </a:extLst>
          </p:cNvPr>
          <p:cNvSpPr>
            <a:spLocks/>
          </p:cNvSpPr>
          <p:nvPr/>
        </p:nvSpPr>
        <p:spPr bwMode="auto">
          <a:xfrm>
            <a:off x="5028528" y="3458796"/>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CE1058"/>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119">
            <a:extLst>
              <a:ext uri="{FF2B5EF4-FFF2-40B4-BE49-F238E27FC236}">
                <a16:creationId xmlns:a16="http://schemas.microsoft.com/office/drawing/2014/main" id="{65F0FBAE-15B8-4F65-8F77-14709E9E7047}"/>
              </a:ext>
            </a:extLst>
          </p:cNvPr>
          <p:cNvSpPr>
            <a:spLocks/>
          </p:cNvSpPr>
          <p:nvPr/>
        </p:nvSpPr>
        <p:spPr bwMode="auto">
          <a:xfrm>
            <a:off x="3704073" y="1962810"/>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ED1263"/>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22" name="Freeform: Shape 67">
            <a:extLst>
              <a:ext uri="{FF2B5EF4-FFF2-40B4-BE49-F238E27FC236}">
                <a16:creationId xmlns:a16="http://schemas.microsoft.com/office/drawing/2014/main" id="{944D7810-FDF1-47CF-B877-715A703E6D23}"/>
              </a:ext>
            </a:extLst>
          </p:cNvPr>
          <p:cNvSpPr/>
          <p:nvPr/>
        </p:nvSpPr>
        <p:spPr>
          <a:xfrm>
            <a:off x="6395420" y="3474229"/>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ED1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B6108009-7C08-4935-B004-6C611C502770}"/>
              </a:ext>
            </a:extLst>
          </p:cNvPr>
          <p:cNvCxnSpPr>
            <a:stCxn id="118" idx="0"/>
            <a:endCxn id="122" idx="4"/>
          </p:cNvCxnSpPr>
          <p:nvPr/>
        </p:nvCxnSpPr>
        <p:spPr>
          <a:xfrm flipV="1">
            <a:off x="5968246" y="4001564"/>
            <a:ext cx="427174" cy="1"/>
          </a:xfrm>
          <a:prstGeom prst="line">
            <a:avLst/>
          </a:prstGeom>
          <a:ln>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3A8E51F2-AEFE-4CAB-B2D6-73DE710630FF}"/>
              </a:ext>
            </a:extLst>
          </p:cNvPr>
          <p:cNvSpPr txBox="1"/>
          <p:nvPr/>
        </p:nvSpPr>
        <p:spPr>
          <a:xfrm>
            <a:off x="3275525" y="2178367"/>
            <a:ext cx="428548" cy="221003"/>
          </a:xfrm>
          <a:prstGeom prst="rect">
            <a:avLst/>
          </a:prstGeom>
          <a:noFill/>
        </p:spPr>
        <p:txBody>
          <a:bodyPr wrap="square" lIns="0" tIns="0" rIns="0" bIns="0" rtlCol="0" anchor="ctr">
            <a:noAutofit/>
          </a:bodyPr>
          <a:lstStyle/>
          <a:p>
            <a:pPr algn="ctr"/>
            <a:r>
              <a:rPr lang="id-ID" sz="1600" b="1" dirty="0">
                <a:solidFill>
                  <a:schemeClr val="bg1">
                    <a:lumMod val="95000"/>
                  </a:schemeClr>
                </a:solidFill>
                <a:latin typeface="Segoe UI" panose="020B0502040204020203" pitchFamily="34" charset="0"/>
                <a:cs typeface="Segoe UI" panose="020B0502040204020203" pitchFamily="34" charset="0"/>
              </a:rPr>
              <a:t>02</a:t>
            </a:r>
          </a:p>
        </p:txBody>
      </p:sp>
      <p:sp>
        <p:nvSpPr>
          <p:cNvPr id="135" name="TextBox 134">
            <a:extLst>
              <a:ext uri="{FF2B5EF4-FFF2-40B4-BE49-F238E27FC236}">
                <a16:creationId xmlns:a16="http://schemas.microsoft.com/office/drawing/2014/main" id="{1F3980E6-696B-4B84-A5F0-AE0734F857E5}"/>
              </a:ext>
            </a:extLst>
          </p:cNvPr>
          <p:cNvSpPr txBox="1"/>
          <p:nvPr/>
        </p:nvSpPr>
        <p:spPr>
          <a:xfrm>
            <a:off x="7357033" y="3789914"/>
            <a:ext cx="3782194" cy="430887"/>
          </a:xfrm>
          <a:prstGeom prst="rect">
            <a:avLst/>
          </a:prstGeom>
          <a:noFill/>
        </p:spPr>
        <p:txBody>
          <a:bodyPr wrap="square" lIns="0" tIns="0" rIns="0" bIns="0" rtlCol="0" anchor="ctr" anchorCtr="0">
            <a:spAutoFit/>
          </a:bodyPr>
          <a:lstStyle/>
          <a:p>
            <a:r>
              <a:rPr lang="bg-BG" sz="2800" b="1" dirty="0"/>
              <a:t>Управление на </a:t>
            </a:r>
            <a:r>
              <a:rPr lang="bg-BG" sz="2800" b="1" dirty="0" smtClean="0"/>
              <a:t>графика</a:t>
            </a:r>
            <a:endParaRPr lang="bg-BG" sz="2800" b="1" dirty="0"/>
          </a:p>
        </p:txBody>
      </p:sp>
      <p:sp>
        <p:nvSpPr>
          <p:cNvPr id="136" name="TextBox 135">
            <a:extLst>
              <a:ext uri="{FF2B5EF4-FFF2-40B4-BE49-F238E27FC236}">
                <a16:creationId xmlns:a16="http://schemas.microsoft.com/office/drawing/2014/main" id="{1F3980E6-696B-4B84-A5F0-AE0734F857E5}"/>
              </a:ext>
            </a:extLst>
          </p:cNvPr>
          <p:cNvSpPr txBox="1"/>
          <p:nvPr/>
        </p:nvSpPr>
        <p:spPr>
          <a:xfrm>
            <a:off x="7349589" y="3789914"/>
            <a:ext cx="4125094" cy="430887"/>
          </a:xfrm>
          <a:prstGeom prst="rect">
            <a:avLst/>
          </a:prstGeom>
          <a:noFill/>
        </p:spPr>
        <p:txBody>
          <a:bodyPr wrap="square" lIns="0" tIns="0" rIns="0" bIns="0" rtlCol="0" anchor="ctr" anchorCtr="0">
            <a:spAutoFit/>
          </a:bodyPr>
          <a:lstStyle/>
          <a:p>
            <a:r>
              <a:rPr lang="bg-BG" sz="2800" b="1" dirty="0"/>
              <a:t>Управление на </a:t>
            </a:r>
            <a:r>
              <a:rPr lang="bg-BG" sz="2800" b="1" dirty="0" smtClean="0"/>
              <a:t>разходите</a:t>
            </a:r>
            <a:endParaRPr lang="bg-BG" sz="2800" b="1" dirty="0"/>
          </a:p>
        </p:txBody>
      </p:sp>
      <p:sp>
        <p:nvSpPr>
          <p:cNvPr id="137" name="Freeform 136">
            <a:extLst>
              <a:ext uri="{FF2B5EF4-FFF2-40B4-BE49-F238E27FC236}">
                <a16:creationId xmlns:a16="http://schemas.microsoft.com/office/drawing/2014/main" id="{7303628F-8899-44F7-A1FE-CD942A93CFE7}"/>
              </a:ext>
            </a:extLst>
          </p:cNvPr>
          <p:cNvSpPr>
            <a:spLocks/>
          </p:cNvSpPr>
          <p:nvPr/>
        </p:nvSpPr>
        <p:spPr bwMode="auto">
          <a:xfrm>
            <a:off x="5028528" y="3458796"/>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39116E"/>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137">
            <a:extLst>
              <a:ext uri="{FF2B5EF4-FFF2-40B4-BE49-F238E27FC236}">
                <a16:creationId xmlns:a16="http://schemas.microsoft.com/office/drawing/2014/main" id="{65F0FBAE-15B8-4F65-8F77-14709E9E7047}"/>
              </a:ext>
            </a:extLst>
          </p:cNvPr>
          <p:cNvSpPr>
            <a:spLocks/>
          </p:cNvSpPr>
          <p:nvPr/>
        </p:nvSpPr>
        <p:spPr bwMode="auto">
          <a:xfrm>
            <a:off x="3704073" y="1962810"/>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39116E"/>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42" name="Freeform: Shape 67">
            <a:extLst>
              <a:ext uri="{FF2B5EF4-FFF2-40B4-BE49-F238E27FC236}">
                <a16:creationId xmlns:a16="http://schemas.microsoft.com/office/drawing/2014/main" id="{944D7810-FDF1-47CF-B877-715A703E6D23}"/>
              </a:ext>
            </a:extLst>
          </p:cNvPr>
          <p:cNvSpPr/>
          <p:nvPr/>
        </p:nvSpPr>
        <p:spPr>
          <a:xfrm>
            <a:off x="6395420" y="3474229"/>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391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Freeform 142">
            <a:extLst>
              <a:ext uri="{FF2B5EF4-FFF2-40B4-BE49-F238E27FC236}">
                <a16:creationId xmlns:a16="http://schemas.microsoft.com/office/drawing/2014/main" id="{7303628F-8899-44F7-A1FE-CD942A93CFE7}"/>
              </a:ext>
            </a:extLst>
          </p:cNvPr>
          <p:cNvSpPr>
            <a:spLocks/>
          </p:cNvSpPr>
          <p:nvPr/>
        </p:nvSpPr>
        <p:spPr bwMode="auto">
          <a:xfrm>
            <a:off x="5028528" y="3459839"/>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0F8CCB"/>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143">
            <a:extLst>
              <a:ext uri="{FF2B5EF4-FFF2-40B4-BE49-F238E27FC236}">
                <a16:creationId xmlns:a16="http://schemas.microsoft.com/office/drawing/2014/main" id="{65F0FBAE-15B8-4F65-8F77-14709E9E7047}"/>
              </a:ext>
            </a:extLst>
          </p:cNvPr>
          <p:cNvSpPr>
            <a:spLocks/>
          </p:cNvSpPr>
          <p:nvPr/>
        </p:nvSpPr>
        <p:spPr bwMode="auto">
          <a:xfrm>
            <a:off x="3704073" y="1963853"/>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0F8CCB"/>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45" name="Freeform: Shape 67">
            <a:extLst>
              <a:ext uri="{FF2B5EF4-FFF2-40B4-BE49-F238E27FC236}">
                <a16:creationId xmlns:a16="http://schemas.microsoft.com/office/drawing/2014/main" id="{944D7810-FDF1-47CF-B877-715A703E6D23}"/>
              </a:ext>
            </a:extLst>
          </p:cNvPr>
          <p:cNvSpPr/>
          <p:nvPr/>
        </p:nvSpPr>
        <p:spPr>
          <a:xfrm>
            <a:off x="6395420" y="3475272"/>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0F8C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TextBox 145">
            <a:extLst>
              <a:ext uri="{FF2B5EF4-FFF2-40B4-BE49-F238E27FC236}">
                <a16:creationId xmlns:a16="http://schemas.microsoft.com/office/drawing/2014/main" id="{1F3980E6-696B-4B84-A5F0-AE0734F857E5}"/>
              </a:ext>
            </a:extLst>
          </p:cNvPr>
          <p:cNvSpPr txBox="1"/>
          <p:nvPr/>
        </p:nvSpPr>
        <p:spPr>
          <a:xfrm>
            <a:off x="7357033" y="3789914"/>
            <a:ext cx="4125094" cy="430887"/>
          </a:xfrm>
          <a:prstGeom prst="rect">
            <a:avLst/>
          </a:prstGeom>
          <a:noFill/>
        </p:spPr>
        <p:txBody>
          <a:bodyPr wrap="square" lIns="0" tIns="0" rIns="0" bIns="0" rtlCol="0" anchor="ctr" anchorCtr="0">
            <a:spAutoFit/>
          </a:bodyPr>
          <a:lstStyle/>
          <a:p>
            <a:r>
              <a:rPr lang="bg-BG" sz="2800" b="1" dirty="0"/>
              <a:t>Управление на </a:t>
            </a:r>
            <a:r>
              <a:rPr lang="bg-BG" sz="2800" b="1" dirty="0" smtClean="0"/>
              <a:t>качеството</a:t>
            </a:r>
            <a:endParaRPr lang="bg-BG" sz="2800" b="1" dirty="0"/>
          </a:p>
        </p:txBody>
      </p:sp>
      <p:sp>
        <p:nvSpPr>
          <p:cNvPr id="148" name="Freeform 147">
            <a:extLst>
              <a:ext uri="{FF2B5EF4-FFF2-40B4-BE49-F238E27FC236}">
                <a16:creationId xmlns:a16="http://schemas.microsoft.com/office/drawing/2014/main" id="{7303628F-8899-44F7-A1FE-CD942A93CFE7}"/>
              </a:ext>
            </a:extLst>
          </p:cNvPr>
          <p:cNvSpPr>
            <a:spLocks/>
          </p:cNvSpPr>
          <p:nvPr/>
        </p:nvSpPr>
        <p:spPr bwMode="auto">
          <a:xfrm>
            <a:off x="5028528" y="3462591"/>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3DD7C1"/>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148">
            <a:extLst>
              <a:ext uri="{FF2B5EF4-FFF2-40B4-BE49-F238E27FC236}">
                <a16:creationId xmlns:a16="http://schemas.microsoft.com/office/drawing/2014/main" id="{65F0FBAE-15B8-4F65-8F77-14709E9E7047}"/>
              </a:ext>
            </a:extLst>
          </p:cNvPr>
          <p:cNvSpPr>
            <a:spLocks/>
          </p:cNvSpPr>
          <p:nvPr/>
        </p:nvSpPr>
        <p:spPr bwMode="auto">
          <a:xfrm>
            <a:off x="3704073" y="1966605"/>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3DD7C1"/>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50" name="Freeform: Shape 67">
            <a:extLst>
              <a:ext uri="{FF2B5EF4-FFF2-40B4-BE49-F238E27FC236}">
                <a16:creationId xmlns:a16="http://schemas.microsoft.com/office/drawing/2014/main" id="{944D7810-FDF1-47CF-B877-715A703E6D23}"/>
              </a:ext>
            </a:extLst>
          </p:cNvPr>
          <p:cNvSpPr/>
          <p:nvPr/>
        </p:nvSpPr>
        <p:spPr>
          <a:xfrm>
            <a:off x="6395420" y="3478024"/>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3DD7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TextBox 150">
            <a:extLst>
              <a:ext uri="{FF2B5EF4-FFF2-40B4-BE49-F238E27FC236}">
                <a16:creationId xmlns:a16="http://schemas.microsoft.com/office/drawing/2014/main" id="{1F3980E6-696B-4B84-A5F0-AE0734F857E5}"/>
              </a:ext>
            </a:extLst>
          </p:cNvPr>
          <p:cNvSpPr txBox="1"/>
          <p:nvPr/>
        </p:nvSpPr>
        <p:spPr>
          <a:xfrm>
            <a:off x="7444839" y="3619620"/>
            <a:ext cx="4125094" cy="861774"/>
          </a:xfrm>
          <a:prstGeom prst="rect">
            <a:avLst/>
          </a:prstGeom>
          <a:noFill/>
        </p:spPr>
        <p:txBody>
          <a:bodyPr wrap="square" lIns="0" tIns="0" rIns="0" bIns="0" rtlCol="0" anchor="ctr" anchorCtr="0">
            <a:spAutoFit/>
          </a:bodyPr>
          <a:lstStyle/>
          <a:p>
            <a:r>
              <a:rPr lang="bg-BG" sz="2800" b="1" dirty="0"/>
              <a:t>Управление на </a:t>
            </a:r>
            <a:br>
              <a:rPr lang="bg-BG" sz="2800" b="1" dirty="0"/>
            </a:br>
            <a:r>
              <a:rPr lang="bg-BG" sz="2800" b="1" dirty="0" smtClean="0"/>
              <a:t>човешките ресурси</a:t>
            </a:r>
            <a:endParaRPr lang="bg-BG" sz="2800" b="1" dirty="0"/>
          </a:p>
        </p:txBody>
      </p:sp>
      <p:sp>
        <p:nvSpPr>
          <p:cNvPr id="152" name="Freeform 151">
            <a:extLst>
              <a:ext uri="{FF2B5EF4-FFF2-40B4-BE49-F238E27FC236}">
                <a16:creationId xmlns:a16="http://schemas.microsoft.com/office/drawing/2014/main" id="{7303628F-8899-44F7-A1FE-CD942A93CFE7}"/>
              </a:ext>
            </a:extLst>
          </p:cNvPr>
          <p:cNvSpPr>
            <a:spLocks/>
          </p:cNvSpPr>
          <p:nvPr/>
        </p:nvSpPr>
        <p:spPr bwMode="auto">
          <a:xfrm>
            <a:off x="5028528" y="3456044"/>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FF7316"/>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152">
            <a:extLst>
              <a:ext uri="{FF2B5EF4-FFF2-40B4-BE49-F238E27FC236}">
                <a16:creationId xmlns:a16="http://schemas.microsoft.com/office/drawing/2014/main" id="{65F0FBAE-15B8-4F65-8F77-14709E9E7047}"/>
              </a:ext>
            </a:extLst>
          </p:cNvPr>
          <p:cNvSpPr>
            <a:spLocks/>
          </p:cNvSpPr>
          <p:nvPr/>
        </p:nvSpPr>
        <p:spPr bwMode="auto">
          <a:xfrm>
            <a:off x="3704073" y="1960058"/>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FF7316"/>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54" name="Freeform: Shape 67">
            <a:extLst>
              <a:ext uri="{FF2B5EF4-FFF2-40B4-BE49-F238E27FC236}">
                <a16:creationId xmlns:a16="http://schemas.microsoft.com/office/drawing/2014/main" id="{944D7810-FDF1-47CF-B877-715A703E6D23}"/>
              </a:ext>
            </a:extLst>
          </p:cNvPr>
          <p:cNvSpPr/>
          <p:nvPr/>
        </p:nvSpPr>
        <p:spPr>
          <a:xfrm>
            <a:off x="6395420" y="3471477"/>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FF7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a:extLst>
              <a:ext uri="{FF2B5EF4-FFF2-40B4-BE49-F238E27FC236}">
                <a16:creationId xmlns:a16="http://schemas.microsoft.com/office/drawing/2014/main" id="{1F3980E6-696B-4B84-A5F0-AE0734F857E5}"/>
              </a:ext>
            </a:extLst>
          </p:cNvPr>
          <p:cNvSpPr txBox="1"/>
          <p:nvPr/>
        </p:nvSpPr>
        <p:spPr>
          <a:xfrm>
            <a:off x="7009689" y="3789914"/>
            <a:ext cx="4907330" cy="430887"/>
          </a:xfrm>
          <a:prstGeom prst="rect">
            <a:avLst/>
          </a:prstGeom>
          <a:noFill/>
        </p:spPr>
        <p:txBody>
          <a:bodyPr wrap="square" lIns="0" tIns="0" rIns="0" bIns="0" rtlCol="0" anchor="ctr" anchorCtr="0">
            <a:spAutoFit/>
          </a:bodyPr>
          <a:lstStyle/>
          <a:p>
            <a:r>
              <a:rPr lang="bg-BG" sz="2800" b="1" dirty="0"/>
              <a:t>Управление на </a:t>
            </a:r>
            <a:r>
              <a:rPr lang="bg-BG" sz="2800" b="1" dirty="0" smtClean="0"/>
              <a:t>комуникацията</a:t>
            </a:r>
            <a:endParaRPr lang="bg-BG" sz="2800" b="1" dirty="0"/>
          </a:p>
        </p:txBody>
      </p:sp>
      <p:sp>
        <p:nvSpPr>
          <p:cNvPr id="156" name="TextBox 155">
            <a:extLst>
              <a:ext uri="{FF2B5EF4-FFF2-40B4-BE49-F238E27FC236}">
                <a16:creationId xmlns:a16="http://schemas.microsoft.com/office/drawing/2014/main" id="{1F3980E6-696B-4B84-A5F0-AE0734F857E5}"/>
              </a:ext>
            </a:extLst>
          </p:cNvPr>
          <p:cNvSpPr txBox="1"/>
          <p:nvPr/>
        </p:nvSpPr>
        <p:spPr>
          <a:xfrm>
            <a:off x="7349589" y="3790146"/>
            <a:ext cx="4907330" cy="430887"/>
          </a:xfrm>
          <a:prstGeom prst="rect">
            <a:avLst/>
          </a:prstGeom>
          <a:noFill/>
        </p:spPr>
        <p:txBody>
          <a:bodyPr wrap="square" lIns="0" tIns="0" rIns="0" bIns="0" rtlCol="0" anchor="ctr" anchorCtr="0">
            <a:spAutoFit/>
          </a:bodyPr>
          <a:lstStyle/>
          <a:p>
            <a:r>
              <a:rPr lang="bg-BG" sz="2800" b="1" dirty="0"/>
              <a:t>Управление на </a:t>
            </a:r>
            <a:r>
              <a:rPr lang="bg-BG" sz="2800" b="1" dirty="0" smtClean="0"/>
              <a:t>риска</a:t>
            </a:r>
            <a:endParaRPr lang="bg-BG" sz="2800" b="1" dirty="0"/>
          </a:p>
        </p:txBody>
      </p:sp>
      <p:sp>
        <p:nvSpPr>
          <p:cNvPr id="157" name="Freeform 156">
            <a:extLst>
              <a:ext uri="{FF2B5EF4-FFF2-40B4-BE49-F238E27FC236}">
                <a16:creationId xmlns:a16="http://schemas.microsoft.com/office/drawing/2014/main" id="{7303628F-8899-44F7-A1FE-CD942A93CFE7}"/>
              </a:ext>
            </a:extLst>
          </p:cNvPr>
          <p:cNvSpPr>
            <a:spLocks/>
          </p:cNvSpPr>
          <p:nvPr/>
        </p:nvSpPr>
        <p:spPr bwMode="auto">
          <a:xfrm>
            <a:off x="5028528" y="3466386"/>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FF0066"/>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157">
            <a:extLst>
              <a:ext uri="{FF2B5EF4-FFF2-40B4-BE49-F238E27FC236}">
                <a16:creationId xmlns:a16="http://schemas.microsoft.com/office/drawing/2014/main" id="{65F0FBAE-15B8-4F65-8F77-14709E9E7047}"/>
              </a:ext>
            </a:extLst>
          </p:cNvPr>
          <p:cNvSpPr>
            <a:spLocks/>
          </p:cNvSpPr>
          <p:nvPr/>
        </p:nvSpPr>
        <p:spPr bwMode="auto">
          <a:xfrm>
            <a:off x="3704073" y="1970400"/>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FF0066"/>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59" name="Freeform: Shape 67">
            <a:extLst>
              <a:ext uri="{FF2B5EF4-FFF2-40B4-BE49-F238E27FC236}">
                <a16:creationId xmlns:a16="http://schemas.microsoft.com/office/drawing/2014/main" id="{944D7810-FDF1-47CF-B877-715A703E6D23}"/>
              </a:ext>
            </a:extLst>
          </p:cNvPr>
          <p:cNvSpPr/>
          <p:nvPr/>
        </p:nvSpPr>
        <p:spPr>
          <a:xfrm>
            <a:off x="6395420" y="3481819"/>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TextBox 159">
            <a:extLst>
              <a:ext uri="{FF2B5EF4-FFF2-40B4-BE49-F238E27FC236}">
                <a16:creationId xmlns:a16="http://schemas.microsoft.com/office/drawing/2014/main" id="{1F3980E6-696B-4B84-A5F0-AE0734F857E5}"/>
              </a:ext>
            </a:extLst>
          </p:cNvPr>
          <p:cNvSpPr txBox="1"/>
          <p:nvPr/>
        </p:nvSpPr>
        <p:spPr>
          <a:xfrm>
            <a:off x="7349589" y="3791929"/>
            <a:ext cx="4907330" cy="430887"/>
          </a:xfrm>
          <a:prstGeom prst="rect">
            <a:avLst/>
          </a:prstGeom>
          <a:noFill/>
        </p:spPr>
        <p:txBody>
          <a:bodyPr wrap="square" lIns="0" tIns="0" rIns="0" bIns="0" rtlCol="0" anchor="ctr" anchorCtr="0">
            <a:spAutoFit/>
          </a:bodyPr>
          <a:lstStyle/>
          <a:p>
            <a:r>
              <a:rPr lang="bg-BG" sz="2800" b="1" dirty="0"/>
              <a:t>Управление на </a:t>
            </a:r>
            <a:r>
              <a:rPr lang="bg-BG" sz="2800" b="1" dirty="0" smtClean="0"/>
              <a:t>риска</a:t>
            </a:r>
            <a:endParaRPr lang="bg-BG" sz="2800" b="1" dirty="0"/>
          </a:p>
        </p:txBody>
      </p:sp>
      <p:sp>
        <p:nvSpPr>
          <p:cNvPr id="161" name="Freeform 160">
            <a:extLst>
              <a:ext uri="{FF2B5EF4-FFF2-40B4-BE49-F238E27FC236}">
                <a16:creationId xmlns:a16="http://schemas.microsoft.com/office/drawing/2014/main" id="{7303628F-8899-44F7-A1FE-CD942A93CFE7}"/>
              </a:ext>
            </a:extLst>
          </p:cNvPr>
          <p:cNvSpPr>
            <a:spLocks/>
          </p:cNvSpPr>
          <p:nvPr/>
        </p:nvSpPr>
        <p:spPr bwMode="auto">
          <a:xfrm>
            <a:off x="5028528" y="3466386"/>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0066FF"/>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161">
            <a:extLst>
              <a:ext uri="{FF2B5EF4-FFF2-40B4-BE49-F238E27FC236}">
                <a16:creationId xmlns:a16="http://schemas.microsoft.com/office/drawing/2014/main" id="{65F0FBAE-15B8-4F65-8F77-14709E9E7047}"/>
              </a:ext>
            </a:extLst>
          </p:cNvPr>
          <p:cNvSpPr>
            <a:spLocks/>
          </p:cNvSpPr>
          <p:nvPr/>
        </p:nvSpPr>
        <p:spPr bwMode="auto">
          <a:xfrm>
            <a:off x="3704073" y="1970400"/>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0066FF"/>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63" name="Freeform: Shape 67">
            <a:extLst>
              <a:ext uri="{FF2B5EF4-FFF2-40B4-BE49-F238E27FC236}">
                <a16:creationId xmlns:a16="http://schemas.microsoft.com/office/drawing/2014/main" id="{944D7810-FDF1-47CF-B877-715A703E6D23}"/>
              </a:ext>
            </a:extLst>
          </p:cNvPr>
          <p:cNvSpPr/>
          <p:nvPr/>
        </p:nvSpPr>
        <p:spPr>
          <a:xfrm>
            <a:off x="6395420" y="3481819"/>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TextBox 163">
            <a:extLst>
              <a:ext uri="{FF2B5EF4-FFF2-40B4-BE49-F238E27FC236}">
                <a16:creationId xmlns:a16="http://schemas.microsoft.com/office/drawing/2014/main" id="{1F3980E6-696B-4B84-A5F0-AE0734F857E5}"/>
              </a:ext>
            </a:extLst>
          </p:cNvPr>
          <p:cNvSpPr txBox="1"/>
          <p:nvPr/>
        </p:nvSpPr>
        <p:spPr>
          <a:xfrm>
            <a:off x="7349589" y="3783368"/>
            <a:ext cx="4907330" cy="430887"/>
          </a:xfrm>
          <a:prstGeom prst="rect">
            <a:avLst/>
          </a:prstGeom>
          <a:noFill/>
        </p:spPr>
        <p:txBody>
          <a:bodyPr wrap="square" lIns="0" tIns="0" rIns="0" bIns="0" rtlCol="0" anchor="ctr" anchorCtr="0">
            <a:spAutoFit/>
          </a:bodyPr>
          <a:lstStyle/>
          <a:p>
            <a:r>
              <a:rPr lang="bg-BG" sz="2800" b="1" dirty="0"/>
              <a:t>Управление на </a:t>
            </a:r>
            <a:r>
              <a:rPr lang="bg-BG" sz="2800" b="1" dirty="0" smtClean="0"/>
              <a:t>поръчки</a:t>
            </a:r>
            <a:endParaRPr lang="bg-BG" sz="2800" b="1" dirty="0"/>
          </a:p>
        </p:txBody>
      </p:sp>
      <p:sp>
        <p:nvSpPr>
          <p:cNvPr id="165" name="Freeform 164">
            <a:extLst>
              <a:ext uri="{FF2B5EF4-FFF2-40B4-BE49-F238E27FC236}">
                <a16:creationId xmlns:a16="http://schemas.microsoft.com/office/drawing/2014/main" id="{7303628F-8899-44F7-A1FE-CD942A93CFE7}"/>
              </a:ext>
            </a:extLst>
          </p:cNvPr>
          <p:cNvSpPr>
            <a:spLocks/>
          </p:cNvSpPr>
          <p:nvPr/>
        </p:nvSpPr>
        <p:spPr bwMode="auto">
          <a:xfrm>
            <a:off x="5028528" y="3466386"/>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00CC00"/>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165">
            <a:extLst>
              <a:ext uri="{FF2B5EF4-FFF2-40B4-BE49-F238E27FC236}">
                <a16:creationId xmlns:a16="http://schemas.microsoft.com/office/drawing/2014/main" id="{65F0FBAE-15B8-4F65-8F77-14709E9E7047}"/>
              </a:ext>
            </a:extLst>
          </p:cNvPr>
          <p:cNvSpPr>
            <a:spLocks/>
          </p:cNvSpPr>
          <p:nvPr/>
        </p:nvSpPr>
        <p:spPr bwMode="auto">
          <a:xfrm>
            <a:off x="3704073" y="1970400"/>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00CC00"/>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67" name="Freeform: Shape 67">
            <a:extLst>
              <a:ext uri="{FF2B5EF4-FFF2-40B4-BE49-F238E27FC236}">
                <a16:creationId xmlns:a16="http://schemas.microsoft.com/office/drawing/2014/main" id="{944D7810-FDF1-47CF-B877-715A703E6D23}"/>
              </a:ext>
            </a:extLst>
          </p:cNvPr>
          <p:cNvSpPr/>
          <p:nvPr/>
        </p:nvSpPr>
        <p:spPr>
          <a:xfrm>
            <a:off x="6395420" y="3481819"/>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TextBox 170">
            <a:extLst>
              <a:ext uri="{FF2B5EF4-FFF2-40B4-BE49-F238E27FC236}">
                <a16:creationId xmlns:a16="http://schemas.microsoft.com/office/drawing/2014/main" id="{1F3980E6-696B-4B84-A5F0-AE0734F857E5}"/>
              </a:ext>
            </a:extLst>
          </p:cNvPr>
          <p:cNvSpPr txBox="1"/>
          <p:nvPr/>
        </p:nvSpPr>
        <p:spPr>
          <a:xfrm>
            <a:off x="7349589" y="3790791"/>
            <a:ext cx="4907330" cy="430887"/>
          </a:xfrm>
          <a:prstGeom prst="rect">
            <a:avLst/>
          </a:prstGeom>
          <a:noFill/>
        </p:spPr>
        <p:txBody>
          <a:bodyPr wrap="square" lIns="0" tIns="0" rIns="0" bIns="0" rtlCol="0" anchor="ctr" anchorCtr="0">
            <a:spAutoFit/>
          </a:bodyPr>
          <a:lstStyle/>
          <a:p>
            <a:r>
              <a:rPr lang="bg-BG" sz="2800" b="1" dirty="0"/>
              <a:t>Управление на </a:t>
            </a:r>
            <a:r>
              <a:rPr lang="en-US" sz="2800" b="1" dirty="0" smtClean="0"/>
              <a:t>stakeholders</a:t>
            </a:r>
            <a:endParaRPr lang="bg-BG" sz="2800" b="1" dirty="0"/>
          </a:p>
        </p:txBody>
      </p:sp>
      <p:sp>
        <p:nvSpPr>
          <p:cNvPr id="172" name="Freeform 171">
            <a:extLst>
              <a:ext uri="{FF2B5EF4-FFF2-40B4-BE49-F238E27FC236}">
                <a16:creationId xmlns:a16="http://schemas.microsoft.com/office/drawing/2014/main" id="{7303628F-8899-44F7-A1FE-CD942A93CFE7}"/>
              </a:ext>
            </a:extLst>
          </p:cNvPr>
          <p:cNvSpPr>
            <a:spLocks/>
          </p:cNvSpPr>
          <p:nvPr/>
        </p:nvSpPr>
        <p:spPr bwMode="auto">
          <a:xfrm>
            <a:off x="5028528" y="3466386"/>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CC0000"/>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72">
            <a:extLst>
              <a:ext uri="{FF2B5EF4-FFF2-40B4-BE49-F238E27FC236}">
                <a16:creationId xmlns:a16="http://schemas.microsoft.com/office/drawing/2014/main" id="{65F0FBAE-15B8-4F65-8F77-14709E9E7047}"/>
              </a:ext>
            </a:extLst>
          </p:cNvPr>
          <p:cNvSpPr>
            <a:spLocks/>
          </p:cNvSpPr>
          <p:nvPr/>
        </p:nvSpPr>
        <p:spPr bwMode="auto">
          <a:xfrm>
            <a:off x="3704073" y="1970400"/>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CC0000"/>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74" name="Freeform: Shape 67">
            <a:extLst>
              <a:ext uri="{FF2B5EF4-FFF2-40B4-BE49-F238E27FC236}">
                <a16:creationId xmlns:a16="http://schemas.microsoft.com/office/drawing/2014/main" id="{944D7810-FDF1-47CF-B877-715A703E6D23}"/>
              </a:ext>
            </a:extLst>
          </p:cNvPr>
          <p:cNvSpPr/>
          <p:nvPr/>
        </p:nvSpPr>
        <p:spPr>
          <a:xfrm>
            <a:off x="6395420" y="3481819"/>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TextBox 174">
            <a:extLst>
              <a:ext uri="{FF2B5EF4-FFF2-40B4-BE49-F238E27FC236}">
                <a16:creationId xmlns:a16="http://schemas.microsoft.com/office/drawing/2014/main" id="{1F3980E6-696B-4B84-A5F0-AE0734F857E5}"/>
              </a:ext>
            </a:extLst>
          </p:cNvPr>
          <p:cNvSpPr txBox="1"/>
          <p:nvPr/>
        </p:nvSpPr>
        <p:spPr>
          <a:xfrm>
            <a:off x="7349589" y="3783368"/>
            <a:ext cx="4907330" cy="430887"/>
          </a:xfrm>
          <a:prstGeom prst="rect">
            <a:avLst/>
          </a:prstGeom>
          <a:noFill/>
        </p:spPr>
        <p:txBody>
          <a:bodyPr wrap="square" lIns="0" tIns="0" rIns="0" bIns="0" rtlCol="0" anchor="ctr" anchorCtr="0">
            <a:spAutoFit/>
          </a:bodyPr>
          <a:lstStyle/>
          <a:p>
            <a:r>
              <a:rPr lang="bg-BG" sz="2800" b="1" dirty="0"/>
              <a:t>Управление на </a:t>
            </a:r>
            <a:r>
              <a:rPr lang="bg-BG" sz="2800" b="1" dirty="0" smtClean="0"/>
              <a:t>интеграцията</a:t>
            </a:r>
            <a:endParaRPr lang="bg-BG" sz="2800" b="1" dirty="0"/>
          </a:p>
        </p:txBody>
      </p:sp>
      <p:sp>
        <p:nvSpPr>
          <p:cNvPr id="176" name="Freeform 175">
            <a:extLst>
              <a:ext uri="{FF2B5EF4-FFF2-40B4-BE49-F238E27FC236}">
                <a16:creationId xmlns:a16="http://schemas.microsoft.com/office/drawing/2014/main" id="{7303628F-8899-44F7-A1FE-CD942A93CFE7}"/>
              </a:ext>
            </a:extLst>
          </p:cNvPr>
          <p:cNvSpPr>
            <a:spLocks/>
          </p:cNvSpPr>
          <p:nvPr/>
        </p:nvSpPr>
        <p:spPr bwMode="auto">
          <a:xfrm>
            <a:off x="5028528" y="3466386"/>
            <a:ext cx="939718" cy="1085537"/>
          </a:xfrm>
          <a:custGeom>
            <a:avLst/>
            <a:gdLst>
              <a:gd name="T0" fmla="*/ 348 w 348"/>
              <a:gd name="T1" fmla="*/ 201 h 402"/>
              <a:gd name="T2" fmla="*/ 0 w 348"/>
              <a:gd name="T3" fmla="*/ 0 h 402"/>
              <a:gd name="T4" fmla="*/ 0 w 348"/>
              <a:gd name="T5" fmla="*/ 402 h 402"/>
              <a:gd name="T6" fmla="*/ 348 w 348"/>
              <a:gd name="T7" fmla="*/ 201 h 402"/>
            </a:gdLst>
            <a:ahLst/>
            <a:cxnLst>
              <a:cxn ang="0">
                <a:pos x="T0" y="T1"/>
              </a:cxn>
              <a:cxn ang="0">
                <a:pos x="T2" y="T3"/>
              </a:cxn>
              <a:cxn ang="0">
                <a:pos x="T4" y="T5"/>
              </a:cxn>
              <a:cxn ang="0">
                <a:pos x="T6" y="T7"/>
              </a:cxn>
            </a:cxnLst>
            <a:rect l="0" t="0" r="r" b="b"/>
            <a:pathLst>
              <a:path w="348" h="402">
                <a:moveTo>
                  <a:pt x="348" y="201"/>
                </a:moveTo>
                <a:lnTo>
                  <a:pt x="0" y="0"/>
                </a:lnTo>
                <a:lnTo>
                  <a:pt x="0" y="402"/>
                </a:lnTo>
                <a:lnTo>
                  <a:pt x="348" y="201"/>
                </a:lnTo>
                <a:close/>
              </a:path>
            </a:pathLst>
          </a:custGeom>
          <a:solidFill>
            <a:srgbClr val="5F5F5F"/>
          </a:solid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176">
            <a:extLst>
              <a:ext uri="{FF2B5EF4-FFF2-40B4-BE49-F238E27FC236}">
                <a16:creationId xmlns:a16="http://schemas.microsoft.com/office/drawing/2014/main" id="{65F0FBAE-15B8-4F65-8F77-14709E9E7047}"/>
              </a:ext>
            </a:extLst>
          </p:cNvPr>
          <p:cNvSpPr>
            <a:spLocks/>
          </p:cNvSpPr>
          <p:nvPr/>
        </p:nvSpPr>
        <p:spPr bwMode="auto">
          <a:xfrm>
            <a:off x="3704073" y="1970400"/>
            <a:ext cx="1460883" cy="4077511"/>
          </a:xfrm>
          <a:custGeom>
            <a:avLst/>
            <a:gdLst>
              <a:gd name="T0" fmla="*/ 377 w 377"/>
              <a:gd name="T1" fmla="*/ 530 h 1053"/>
              <a:gd name="T2" fmla="*/ 238 w 377"/>
              <a:gd name="T3" fmla="*/ 1053 h 1053"/>
              <a:gd name="T4" fmla="*/ 4 w 377"/>
              <a:gd name="T5" fmla="*/ 918 h 1053"/>
              <a:gd name="T6" fmla="*/ 107 w 377"/>
              <a:gd name="T7" fmla="*/ 530 h 1053"/>
              <a:gd name="T8" fmla="*/ 0 w 377"/>
              <a:gd name="T9" fmla="*/ 135 h 1053"/>
              <a:gd name="T10" fmla="*/ 234 w 377"/>
              <a:gd name="T11" fmla="*/ 0 h 1053"/>
              <a:gd name="T12" fmla="*/ 377 w 377"/>
              <a:gd name="T13" fmla="*/ 530 h 1053"/>
            </a:gdLst>
            <a:ahLst/>
            <a:cxnLst>
              <a:cxn ang="0">
                <a:pos x="T0" y="T1"/>
              </a:cxn>
              <a:cxn ang="0">
                <a:pos x="T2" y="T3"/>
              </a:cxn>
              <a:cxn ang="0">
                <a:pos x="T4" y="T5"/>
              </a:cxn>
              <a:cxn ang="0">
                <a:pos x="T6" y="T7"/>
              </a:cxn>
              <a:cxn ang="0">
                <a:pos x="T8" y="T9"/>
              </a:cxn>
              <a:cxn ang="0">
                <a:pos x="T10" y="T11"/>
              </a:cxn>
              <a:cxn ang="0">
                <a:pos x="T12" y="T13"/>
              </a:cxn>
            </a:cxnLst>
            <a:rect l="0" t="0" r="r" b="b"/>
            <a:pathLst>
              <a:path w="377" h="1053">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solidFill>
            <a:srgbClr val="5F5F5F"/>
          </a:solidFill>
          <a:ln w="7938" cap="flat">
            <a:noFill/>
            <a:prstDash val="solid"/>
            <a:miter lim="800000"/>
            <a:headEnd/>
            <a:tailEnd/>
          </a:ln>
          <a:effectLst>
            <a:innerShdw blurRad="114300">
              <a:prstClr val="black">
                <a:alpha val="3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78" name="Freeform: Shape 67">
            <a:extLst>
              <a:ext uri="{FF2B5EF4-FFF2-40B4-BE49-F238E27FC236}">
                <a16:creationId xmlns:a16="http://schemas.microsoft.com/office/drawing/2014/main" id="{944D7810-FDF1-47CF-B877-715A703E6D23}"/>
              </a:ext>
            </a:extLst>
          </p:cNvPr>
          <p:cNvSpPr/>
          <p:nvPr/>
        </p:nvSpPr>
        <p:spPr>
          <a:xfrm>
            <a:off x="6395420" y="3481819"/>
            <a:ext cx="529788" cy="1054670"/>
          </a:xfrm>
          <a:custGeom>
            <a:avLst/>
            <a:gdLst>
              <a:gd name="connsiteX0" fmla="*/ 590880 w 593629"/>
              <a:gd name="connsiteY0" fmla="*/ 0 h 1181760"/>
              <a:gd name="connsiteX1" fmla="*/ 593629 w 593629"/>
              <a:gd name="connsiteY1" fmla="*/ 277 h 1181760"/>
              <a:gd name="connsiteX2" fmla="*/ 593629 w 593629"/>
              <a:gd name="connsiteY2" fmla="*/ 1181483 h 1181760"/>
              <a:gd name="connsiteX3" fmla="*/ 590880 w 593629"/>
              <a:gd name="connsiteY3" fmla="*/ 1181760 h 1181760"/>
              <a:gd name="connsiteX4" fmla="*/ 0 w 593629"/>
              <a:gd name="connsiteY4" fmla="*/ 590880 h 1181760"/>
              <a:gd name="connsiteX5" fmla="*/ 590880 w 593629"/>
              <a:gd name="connsiteY5" fmla="*/ 0 h 118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29" h="118176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65585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1000"/>
                                        <p:tgtEl>
                                          <p:spTgt spid="120"/>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118"/>
                                        </p:tgtEl>
                                        <p:attrNameLst>
                                          <p:attrName>style.visibility</p:attrName>
                                        </p:attrNameLst>
                                      </p:cBhvr>
                                      <p:to>
                                        <p:strVal val="visible"/>
                                      </p:to>
                                    </p:set>
                                    <p:animEffect transition="in" filter="wipe(left)">
                                      <p:cBhvr>
                                        <p:cTn id="11" dur="500"/>
                                        <p:tgtEl>
                                          <p:spTgt spid="118"/>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wipe(left)">
                                      <p:cBhvr>
                                        <p:cTn id="15" dur="1000"/>
                                        <p:tgtEl>
                                          <p:spTgt spid="128"/>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122"/>
                                        </p:tgtEl>
                                        <p:attrNameLst>
                                          <p:attrName>style.visibility</p:attrName>
                                        </p:attrNameLst>
                                      </p:cBhvr>
                                      <p:to>
                                        <p:strVal val="visible"/>
                                      </p:to>
                                    </p:set>
                                    <p:animEffect transition="in" filter="wipe(left)">
                                      <p:cBhvr>
                                        <p:cTn id="19" dur="750"/>
                                        <p:tgtEl>
                                          <p:spTgt spid="122"/>
                                        </p:tgtEl>
                                      </p:cBhvr>
                                    </p:animEffect>
                                  </p:childTnLst>
                                </p:cTn>
                              </p:par>
                            </p:childTnLst>
                          </p:cTn>
                        </p:par>
                        <p:par>
                          <p:cTn id="20" fill="hold">
                            <p:stCondLst>
                              <p:cond delay="3750"/>
                            </p:stCondLst>
                            <p:childTnLst>
                              <p:par>
                                <p:cTn id="21" presetID="26" presetClass="entr" presetSubtype="0" fill="hold" grpId="1" nodeType="afterEffect">
                                  <p:stCondLst>
                                    <p:cond delay="250"/>
                                  </p:stCondLst>
                                  <p:childTnLst>
                                    <p:set>
                                      <p:cBhvr>
                                        <p:cTn id="22" dur="1" fill="hold">
                                          <p:stCondLst>
                                            <p:cond delay="0"/>
                                          </p:stCondLst>
                                        </p:cTn>
                                        <p:tgtEl>
                                          <p:spTgt spid="107"/>
                                        </p:tgtEl>
                                        <p:attrNameLst>
                                          <p:attrName>style.visibility</p:attrName>
                                        </p:attrNameLst>
                                      </p:cBhvr>
                                      <p:to>
                                        <p:strVal val="visible"/>
                                      </p:to>
                                    </p:set>
                                    <p:animEffect transition="in" filter="wipe(down)">
                                      <p:cBhvr>
                                        <p:cTn id="23" dur="580">
                                          <p:stCondLst>
                                            <p:cond delay="0"/>
                                          </p:stCondLst>
                                        </p:cTn>
                                        <p:tgtEl>
                                          <p:spTgt spid="107"/>
                                        </p:tgtEl>
                                      </p:cBhvr>
                                    </p:animEffect>
                                    <p:anim calcmode="lin" valueType="num">
                                      <p:cBhvr>
                                        <p:cTn id="24" dur="1822" tmFilter="0,0; 0.14,0.36; 0.43,0.73; 0.71,0.91; 1.0,1.0">
                                          <p:stCondLst>
                                            <p:cond delay="0"/>
                                          </p:stCondLst>
                                        </p:cTn>
                                        <p:tgtEl>
                                          <p:spTgt spid="107"/>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07"/>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07"/>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07"/>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07"/>
                                        </p:tgtEl>
                                        <p:attrNameLst>
                                          <p:attrName>ppt_y</p:attrName>
                                        </p:attrNameLst>
                                      </p:cBhvr>
                                      <p:tavLst>
                                        <p:tav tm="0" fmla="#ppt_y-sin(pi*$)/81">
                                          <p:val>
                                            <p:fltVal val="0"/>
                                          </p:val>
                                        </p:tav>
                                        <p:tav tm="100000">
                                          <p:val>
                                            <p:fltVal val="1"/>
                                          </p:val>
                                        </p:tav>
                                      </p:tavLst>
                                    </p:anim>
                                    <p:animScale>
                                      <p:cBhvr>
                                        <p:cTn id="29" dur="26">
                                          <p:stCondLst>
                                            <p:cond delay="650"/>
                                          </p:stCondLst>
                                        </p:cTn>
                                        <p:tgtEl>
                                          <p:spTgt spid="107"/>
                                        </p:tgtEl>
                                      </p:cBhvr>
                                      <p:to x="100000" y="60000"/>
                                    </p:animScale>
                                    <p:animScale>
                                      <p:cBhvr>
                                        <p:cTn id="30" dur="166" decel="50000">
                                          <p:stCondLst>
                                            <p:cond delay="676"/>
                                          </p:stCondLst>
                                        </p:cTn>
                                        <p:tgtEl>
                                          <p:spTgt spid="107"/>
                                        </p:tgtEl>
                                      </p:cBhvr>
                                      <p:to x="100000" y="100000"/>
                                    </p:animScale>
                                    <p:animScale>
                                      <p:cBhvr>
                                        <p:cTn id="31" dur="26">
                                          <p:stCondLst>
                                            <p:cond delay="1312"/>
                                          </p:stCondLst>
                                        </p:cTn>
                                        <p:tgtEl>
                                          <p:spTgt spid="107"/>
                                        </p:tgtEl>
                                      </p:cBhvr>
                                      <p:to x="100000" y="80000"/>
                                    </p:animScale>
                                    <p:animScale>
                                      <p:cBhvr>
                                        <p:cTn id="32" dur="166" decel="50000">
                                          <p:stCondLst>
                                            <p:cond delay="1338"/>
                                          </p:stCondLst>
                                        </p:cTn>
                                        <p:tgtEl>
                                          <p:spTgt spid="107"/>
                                        </p:tgtEl>
                                      </p:cBhvr>
                                      <p:to x="100000" y="100000"/>
                                    </p:animScale>
                                    <p:animScale>
                                      <p:cBhvr>
                                        <p:cTn id="33" dur="26">
                                          <p:stCondLst>
                                            <p:cond delay="1642"/>
                                          </p:stCondLst>
                                        </p:cTn>
                                        <p:tgtEl>
                                          <p:spTgt spid="107"/>
                                        </p:tgtEl>
                                      </p:cBhvr>
                                      <p:to x="100000" y="90000"/>
                                    </p:animScale>
                                    <p:animScale>
                                      <p:cBhvr>
                                        <p:cTn id="34" dur="166" decel="50000">
                                          <p:stCondLst>
                                            <p:cond delay="1668"/>
                                          </p:stCondLst>
                                        </p:cTn>
                                        <p:tgtEl>
                                          <p:spTgt spid="107"/>
                                        </p:tgtEl>
                                      </p:cBhvr>
                                      <p:to x="100000" y="100000"/>
                                    </p:animScale>
                                    <p:animScale>
                                      <p:cBhvr>
                                        <p:cTn id="35" dur="26">
                                          <p:stCondLst>
                                            <p:cond delay="1808"/>
                                          </p:stCondLst>
                                        </p:cTn>
                                        <p:tgtEl>
                                          <p:spTgt spid="107"/>
                                        </p:tgtEl>
                                      </p:cBhvr>
                                      <p:to x="100000" y="95000"/>
                                    </p:animScale>
                                    <p:animScale>
                                      <p:cBhvr>
                                        <p:cTn id="36" dur="166" decel="50000">
                                          <p:stCondLst>
                                            <p:cond delay="1834"/>
                                          </p:stCondLst>
                                        </p:cTn>
                                        <p:tgtEl>
                                          <p:spTgt spid="107"/>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107"/>
                                        </p:tgtEl>
                                        <p:attrNameLst>
                                          <p:attrName>style.visibility</p:attrName>
                                        </p:attrNameLst>
                                      </p:cBhvr>
                                      <p:to>
                                        <p:strVal val="hidden"/>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3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37"/>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42"/>
                                        </p:tgtEl>
                                        <p:attrNameLst>
                                          <p:attrName>style.visibility</p:attrName>
                                        </p:attrNameLst>
                                      </p:cBhvr>
                                      <p:to>
                                        <p:strVal val="visible"/>
                                      </p:to>
                                    </p:set>
                                  </p:childTnLst>
                                </p:cTn>
                              </p:par>
                            </p:childTnLst>
                          </p:cTn>
                        </p:par>
                        <p:par>
                          <p:cTn id="48" fill="hold">
                            <p:stCondLst>
                              <p:cond delay="0"/>
                            </p:stCondLst>
                            <p:childTnLst>
                              <p:par>
                                <p:cTn id="49" presetID="22" presetClass="entr" presetSubtype="4" fill="hold" grpId="0" nodeType="afterEffect">
                                  <p:stCondLst>
                                    <p:cond delay="0"/>
                                  </p:stCondLst>
                                  <p:childTnLst>
                                    <p:set>
                                      <p:cBhvr>
                                        <p:cTn id="50" dur="1" fill="hold">
                                          <p:stCondLst>
                                            <p:cond delay="0"/>
                                          </p:stCondLst>
                                        </p:cTn>
                                        <p:tgtEl>
                                          <p:spTgt spid="135"/>
                                        </p:tgtEl>
                                        <p:attrNameLst>
                                          <p:attrName>style.visibility</p:attrName>
                                        </p:attrNameLst>
                                      </p:cBhvr>
                                      <p:to>
                                        <p:strVal val="visible"/>
                                      </p:to>
                                    </p:set>
                                    <p:animEffect transition="in" filter="wipe(down)">
                                      <p:cBhvr>
                                        <p:cTn id="51" dur="500"/>
                                        <p:tgtEl>
                                          <p:spTgt spid="135"/>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135"/>
                                        </p:tgtEl>
                                        <p:attrNameLst>
                                          <p:attrName>style.visibility</p:attrName>
                                        </p:attrNameLst>
                                      </p:cBhvr>
                                      <p:to>
                                        <p:strVal val="hidden"/>
                                      </p:to>
                                    </p:set>
                                  </p:childTnLst>
                                </p:cTn>
                              </p:par>
                              <p:par>
                                <p:cTn id="56" presetID="1" presetClass="entr" presetSubtype="0" fill="hold" grpId="0" nodeType="withEffect">
                                  <p:stCondLst>
                                    <p:cond delay="0"/>
                                  </p:stCondLst>
                                  <p:childTnLst>
                                    <p:set>
                                      <p:cBhvr>
                                        <p:cTn id="57" dur="1" fill="hold">
                                          <p:stCondLst>
                                            <p:cond delay="0"/>
                                          </p:stCondLst>
                                        </p:cTn>
                                        <p:tgtEl>
                                          <p:spTgt spid="14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4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45"/>
                                        </p:tgtEl>
                                        <p:attrNameLst>
                                          <p:attrName>style.visibility</p:attrName>
                                        </p:attrNameLst>
                                      </p:cBhvr>
                                      <p:to>
                                        <p:strVal val="visible"/>
                                      </p:to>
                                    </p:set>
                                  </p:childTnLst>
                                </p:cTn>
                              </p:par>
                            </p:childTnLst>
                          </p:cTn>
                        </p:par>
                        <p:par>
                          <p:cTn id="62" fill="hold">
                            <p:stCondLst>
                              <p:cond delay="0"/>
                            </p:stCondLst>
                            <p:childTnLst>
                              <p:par>
                                <p:cTn id="63" presetID="22" presetClass="entr" presetSubtype="4" fill="hold" grpId="0" nodeType="afterEffect">
                                  <p:stCondLst>
                                    <p:cond delay="0"/>
                                  </p:stCondLst>
                                  <p:childTnLst>
                                    <p:set>
                                      <p:cBhvr>
                                        <p:cTn id="64" dur="1" fill="hold">
                                          <p:stCondLst>
                                            <p:cond delay="0"/>
                                          </p:stCondLst>
                                        </p:cTn>
                                        <p:tgtEl>
                                          <p:spTgt spid="136"/>
                                        </p:tgtEl>
                                        <p:attrNameLst>
                                          <p:attrName>style.visibility</p:attrName>
                                        </p:attrNameLst>
                                      </p:cBhvr>
                                      <p:to>
                                        <p:strVal val="visible"/>
                                      </p:to>
                                    </p:set>
                                    <p:animEffect transition="in" filter="wipe(down)">
                                      <p:cBhvr>
                                        <p:cTn id="65" dur="500"/>
                                        <p:tgtEl>
                                          <p:spTgt spid="136"/>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1" nodeType="clickEffect">
                                  <p:stCondLst>
                                    <p:cond delay="0"/>
                                  </p:stCondLst>
                                  <p:childTnLst>
                                    <p:set>
                                      <p:cBhvr>
                                        <p:cTn id="69" dur="1" fill="hold">
                                          <p:stCondLst>
                                            <p:cond delay="0"/>
                                          </p:stCondLst>
                                        </p:cTn>
                                        <p:tgtEl>
                                          <p:spTgt spid="136"/>
                                        </p:tgtEl>
                                        <p:attrNameLst>
                                          <p:attrName>style.visibility</p:attrName>
                                        </p:attrNameLst>
                                      </p:cBhvr>
                                      <p:to>
                                        <p:strVal val="hidden"/>
                                      </p:to>
                                    </p:set>
                                  </p:childTnLst>
                                </p:cTn>
                              </p:par>
                              <p:par>
                                <p:cTn id="70" presetID="1" presetClass="entr" presetSubtype="0" fill="hold" grpId="0" nodeType="withEffect">
                                  <p:stCondLst>
                                    <p:cond delay="0"/>
                                  </p:stCondLst>
                                  <p:childTnLst>
                                    <p:set>
                                      <p:cBhvr>
                                        <p:cTn id="71" dur="1" fill="hold">
                                          <p:stCondLst>
                                            <p:cond delay="0"/>
                                          </p:stCondLst>
                                        </p:cTn>
                                        <p:tgtEl>
                                          <p:spTgt spid="14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48"/>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150"/>
                                        </p:tgtEl>
                                        <p:attrNameLst>
                                          <p:attrName>style.visibility</p:attrName>
                                        </p:attrNameLst>
                                      </p:cBhvr>
                                      <p:to>
                                        <p:strVal val="visible"/>
                                      </p:to>
                                    </p:set>
                                  </p:childTnLst>
                                </p:cTn>
                              </p:par>
                            </p:childTnLst>
                          </p:cTn>
                        </p:par>
                        <p:par>
                          <p:cTn id="76" fill="hold">
                            <p:stCondLst>
                              <p:cond delay="0"/>
                            </p:stCondLst>
                            <p:childTnLst>
                              <p:par>
                                <p:cTn id="77" presetID="16" presetClass="entr" presetSubtype="21" fill="hold" grpId="0" nodeType="afterEffect">
                                  <p:stCondLst>
                                    <p:cond delay="0"/>
                                  </p:stCondLst>
                                  <p:childTnLst>
                                    <p:set>
                                      <p:cBhvr>
                                        <p:cTn id="78" dur="1" fill="hold">
                                          <p:stCondLst>
                                            <p:cond delay="0"/>
                                          </p:stCondLst>
                                        </p:cTn>
                                        <p:tgtEl>
                                          <p:spTgt spid="146"/>
                                        </p:tgtEl>
                                        <p:attrNameLst>
                                          <p:attrName>style.visibility</p:attrName>
                                        </p:attrNameLst>
                                      </p:cBhvr>
                                      <p:to>
                                        <p:strVal val="visible"/>
                                      </p:to>
                                    </p:set>
                                    <p:animEffect transition="in" filter="barn(inVertical)">
                                      <p:cBhvr>
                                        <p:cTn id="79" dur="500"/>
                                        <p:tgtEl>
                                          <p:spTgt spid="146"/>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1" nodeType="clickEffect">
                                  <p:stCondLst>
                                    <p:cond delay="0"/>
                                  </p:stCondLst>
                                  <p:childTnLst>
                                    <p:set>
                                      <p:cBhvr>
                                        <p:cTn id="83" dur="1" fill="hold">
                                          <p:stCondLst>
                                            <p:cond delay="0"/>
                                          </p:stCondLst>
                                        </p:cTn>
                                        <p:tgtEl>
                                          <p:spTgt spid="146"/>
                                        </p:tgtEl>
                                        <p:attrNameLst>
                                          <p:attrName>style.visibility</p:attrName>
                                        </p:attrNameLst>
                                      </p:cBhvr>
                                      <p:to>
                                        <p:strVal val="hidden"/>
                                      </p:to>
                                    </p:set>
                                  </p:childTnLst>
                                </p:cTn>
                              </p:par>
                            </p:childTnLst>
                          </p:cTn>
                        </p:par>
                        <p:par>
                          <p:cTn id="84" fill="hold">
                            <p:stCondLst>
                              <p:cond delay="0"/>
                            </p:stCondLst>
                            <p:childTnLst>
                              <p:par>
                                <p:cTn id="85" presetID="21" presetClass="entr" presetSubtype="1" fill="hold" grpId="0" nodeType="afterEffect">
                                  <p:stCondLst>
                                    <p:cond delay="0"/>
                                  </p:stCondLst>
                                  <p:childTnLst>
                                    <p:set>
                                      <p:cBhvr>
                                        <p:cTn id="86" dur="1" fill="hold">
                                          <p:stCondLst>
                                            <p:cond delay="0"/>
                                          </p:stCondLst>
                                        </p:cTn>
                                        <p:tgtEl>
                                          <p:spTgt spid="151"/>
                                        </p:tgtEl>
                                        <p:attrNameLst>
                                          <p:attrName>style.visibility</p:attrName>
                                        </p:attrNameLst>
                                      </p:cBhvr>
                                      <p:to>
                                        <p:strVal val="visible"/>
                                      </p:to>
                                    </p:set>
                                    <p:animEffect transition="in" filter="wheel(1)">
                                      <p:cBhvr>
                                        <p:cTn id="87" dur="1500"/>
                                        <p:tgtEl>
                                          <p:spTgt spid="151"/>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1" nodeType="clickEffect">
                                  <p:stCondLst>
                                    <p:cond delay="0"/>
                                  </p:stCondLst>
                                  <p:childTnLst>
                                    <p:set>
                                      <p:cBhvr>
                                        <p:cTn id="91" dur="1" fill="hold">
                                          <p:stCondLst>
                                            <p:cond delay="0"/>
                                          </p:stCondLst>
                                        </p:cTn>
                                        <p:tgtEl>
                                          <p:spTgt spid="151"/>
                                        </p:tgtEl>
                                        <p:attrNameLst>
                                          <p:attrName>style.visibility</p:attrName>
                                        </p:attrNameLst>
                                      </p:cBhvr>
                                      <p:to>
                                        <p:strVal val="hidden"/>
                                      </p:to>
                                    </p:set>
                                  </p:childTnLst>
                                </p:cTn>
                              </p:par>
                              <p:par>
                                <p:cTn id="92" presetID="1" presetClass="entr" presetSubtype="0" fill="hold" grpId="0" nodeType="withEffect">
                                  <p:stCondLst>
                                    <p:cond delay="0"/>
                                  </p:stCondLst>
                                  <p:childTnLst>
                                    <p:set>
                                      <p:cBhvr>
                                        <p:cTn id="93" dur="1" fill="hold">
                                          <p:stCondLst>
                                            <p:cond delay="0"/>
                                          </p:stCondLst>
                                        </p:cTn>
                                        <p:tgtEl>
                                          <p:spTgt spid="153"/>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52"/>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54"/>
                                        </p:tgtEl>
                                        <p:attrNameLst>
                                          <p:attrName>style.visibility</p:attrName>
                                        </p:attrNameLst>
                                      </p:cBhvr>
                                      <p:to>
                                        <p:strVal val="visible"/>
                                      </p:to>
                                    </p:set>
                                  </p:childTnLst>
                                </p:cTn>
                              </p:par>
                            </p:childTnLst>
                          </p:cTn>
                        </p:par>
                        <p:par>
                          <p:cTn id="98" fill="hold">
                            <p:stCondLst>
                              <p:cond delay="0"/>
                            </p:stCondLst>
                            <p:childTnLst>
                              <p:par>
                                <p:cTn id="99" presetID="42" presetClass="entr" presetSubtype="0" fill="hold" grpId="0" nodeType="afterEffect">
                                  <p:stCondLst>
                                    <p:cond delay="0"/>
                                  </p:stCondLst>
                                  <p:childTnLst>
                                    <p:set>
                                      <p:cBhvr>
                                        <p:cTn id="100" dur="1" fill="hold">
                                          <p:stCondLst>
                                            <p:cond delay="0"/>
                                          </p:stCondLst>
                                        </p:cTn>
                                        <p:tgtEl>
                                          <p:spTgt spid="155"/>
                                        </p:tgtEl>
                                        <p:attrNameLst>
                                          <p:attrName>style.visibility</p:attrName>
                                        </p:attrNameLst>
                                      </p:cBhvr>
                                      <p:to>
                                        <p:strVal val="visible"/>
                                      </p:to>
                                    </p:set>
                                    <p:animEffect transition="in" filter="fade">
                                      <p:cBhvr>
                                        <p:cTn id="101" dur="1000"/>
                                        <p:tgtEl>
                                          <p:spTgt spid="155"/>
                                        </p:tgtEl>
                                      </p:cBhvr>
                                    </p:animEffect>
                                    <p:anim calcmode="lin" valueType="num">
                                      <p:cBhvr>
                                        <p:cTn id="102" dur="1000" fill="hold"/>
                                        <p:tgtEl>
                                          <p:spTgt spid="155"/>
                                        </p:tgtEl>
                                        <p:attrNameLst>
                                          <p:attrName>ppt_x</p:attrName>
                                        </p:attrNameLst>
                                      </p:cBhvr>
                                      <p:tavLst>
                                        <p:tav tm="0">
                                          <p:val>
                                            <p:strVal val="#ppt_x"/>
                                          </p:val>
                                        </p:tav>
                                        <p:tav tm="100000">
                                          <p:val>
                                            <p:strVal val="#ppt_x"/>
                                          </p:val>
                                        </p:tav>
                                      </p:tavLst>
                                    </p:anim>
                                    <p:anim calcmode="lin" valueType="num">
                                      <p:cBhvr>
                                        <p:cTn id="103" dur="1000" fill="hold"/>
                                        <p:tgtEl>
                                          <p:spTgt spid="155"/>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1" nodeType="clickEffect">
                                  <p:stCondLst>
                                    <p:cond delay="0"/>
                                  </p:stCondLst>
                                  <p:childTnLst>
                                    <p:set>
                                      <p:cBhvr>
                                        <p:cTn id="107" dur="1" fill="hold">
                                          <p:stCondLst>
                                            <p:cond delay="0"/>
                                          </p:stCondLst>
                                        </p:cTn>
                                        <p:tgtEl>
                                          <p:spTgt spid="155"/>
                                        </p:tgtEl>
                                        <p:attrNameLst>
                                          <p:attrName>style.visibility</p:attrName>
                                        </p:attrNameLst>
                                      </p:cBhvr>
                                      <p:to>
                                        <p:strVal val="hidden"/>
                                      </p:to>
                                    </p:set>
                                  </p:childTnLst>
                                </p:cTn>
                              </p:par>
                              <p:par>
                                <p:cTn id="108" presetID="1" presetClass="entr" presetSubtype="0" fill="hold" grpId="0" nodeType="withEffect">
                                  <p:stCondLst>
                                    <p:cond delay="0"/>
                                  </p:stCondLst>
                                  <p:childTnLst>
                                    <p:set>
                                      <p:cBhvr>
                                        <p:cTn id="109" dur="1" fill="hold">
                                          <p:stCondLst>
                                            <p:cond delay="0"/>
                                          </p:stCondLst>
                                        </p:cTn>
                                        <p:tgtEl>
                                          <p:spTgt spid="158"/>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157"/>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159"/>
                                        </p:tgtEl>
                                        <p:attrNameLst>
                                          <p:attrName>style.visibility</p:attrName>
                                        </p:attrNameLst>
                                      </p:cBhvr>
                                      <p:to>
                                        <p:strVal val="visible"/>
                                      </p:to>
                                    </p:set>
                                  </p:childTnLst>
                                </p:cTn>
                              </p:par>
                            </p:childTnLst>
                          </p:cTn>
                        </p:par>
                        <p:par>
                          <p:cTn id="114" fill="hold">
                            <p:stCondLst>
                              <p:cond delay="0"/>
                            </p:stCondLst>
                            <p:childTnLst>
                              <p:par>
                                <p:cTn id="115" presetID="47" presetClass="entr" presetSubtype="0" fill="hold" grpId="0" nodeType="afterEffect">
                                  <p:stCondLst>
                                    <p:cond delay="0"/>
                                  </p:stCondLst>
                                  <p:childTnLst>
                                    <p:set>
                                      <p:cBhvr>
                                        <p:cTn id="116" dur="1" fill="hold">
                                          <p:stCondLst>
                                            <p:cond delay="0"/>
                                          </p:stCondLst>
                                        </p:cTn>
                                        <p:tgtEl>
                                          <p:spTgt spid="156"/>
                                        </p:tgtEl>
                                        <p:attrNameLst>
                                          <p:attrName>style.visibility</p:attrName>
                                        </p:attrNameLst>
                                      </p:cBhvr>
                                      <p:to>
                                        <p:strVal val="visible"/>
                                      </p:to>
                                    </p:set>
                                    <p:animEffect transition="in" filter="fade">
                                      <p:cBhvr>
                                        <p:cTn id="117" dur="1000"/>
                                        <p:tgtEl>
                                          <p:spTgt spid="156"/>
                                        </p:tgtEl>
                                      </p:cBhvr>
                                    </p:animEffect>
                                    <p:anim calcmode="lin" valueType="num">
                                      <p:cBhvr>
                                        <p:cTn id="118" dur="1000" fill="hold"/>
                                        <p:tgtEl>
                                          <p:spTgt spid="156"/>
                                        </p:tgtEl>
                                        <p:attrNameLst>
                                          <p:attrName>ppt_x</p:attrName>
                                        </p:attrNameLst>
                                      </p:cBhvr>
                                      <p:tavLst>
                                        <p:tav tm="0">
                                          <p:val>
                                            <p:strVal val="#ppt_x"/>
                                          </p:val>
                                        </p:tav>
                                        <p:tav tm="100000">
                                          <p:val>
                                            <p:strVal val="#ppt_x"/>
                                          </p:val>
                                        </p:tav>
                                      </p:tavLst>
                                    </p:anim>
                                    <p:anim calcmode="lin" valueType="num">
                                      <p:cBhvr>
                                        <p:cTn id="119" dur="1000" fill="hold"/>
                                        <p:tgtEl>
                                          <p:spTgt spid="156"/>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xit" presetSubtype="0" fill="hold" grpId="1" nodeType="clickEffect">
                                  <p:stCondLst>
                                    <p:cond delay="0"/>
                                  </p:stCondLst>
                                  <p:childTnLst>
                                    <p:set>
                                      <p:cBhvr>
                                        <p:cTn id="123" dur="1" fill="hold">
                                          <p:stCondLst>
                                            <p:cond delay="0"/>
                                          </p:stCondLst>
                                        </p:cTn>
                                        <p:tgtEl>
                                          <p:spTgt spid="156"/>
                                        </p:tgtEl>
                                        <p:attrNameLst>
                                          <p:attrName>style.visibility</p:attrName>
                                        </p:attrNameLst>
                                      </p:cBhvr>
                                      <p:to>
                                        <p:strVal val="hidden"/>
                                      </p:to>
                                    </p:set>
                                  </p:childTnLst>
                                </p:cTn>
                              </p:par>
                              <p:par>
                                <p:cTn id="124" presetID="1" presetClass="entr" presetSubtype="0" fill="hold" grpId="0" nodeType="withEffect">
                                  <p:stCondLst>
                                    <p:cond delay="0"/>
                                  </p:stCondLst>
                                  <p:childTnLst>
                                    <p:set>
                                      <p:cBhvr>
                                        <p:cTn id="125" dur="1" fill="hold">
                                          <p:stCondLst>
                                            <p:cond delay="0"/>
                                          </p:stCondLst>
                                        </p:cTn>
                                        <p:tgtEl>
                                          <p:spTgt spid="162"/>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161"/>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163"/>
                                        </p:tgtEl>
                                        <p:attrNameLst>
                                          <p:attrName>style.visibility</p:attrName>
                                        </p:attrNameLst>
                                      </p:cBhvr>
                                      <p:to>
                                        <p:strVal val="visible"/>
                                      </p:to>
                                    </p:set>
                                  </p:childTnLst>
                                </p:cTn>
                              </p:par>
                            </p:childTnLst>
                          </p:cTn>
                        </p:par>
                        <p:par>
                          <p:cTn id="130" fill="hold">
                            <p:stCondLst>
                              <p:cond delay="0"/>
                            </p:stCondLst>
                            <p:childTnLst>
                              <p:par>
                                <p:cTn id="131" presetID="16" presetClass="entr" presetSubtype="21" fill="hold" grpId="0" nodeType="afterEffect">
                                  <p:stCondLst>
                                    <p:cond delay="0"/>
                                  </p:stCondLst>
                                  <p:childTnLst>
                                    <p:set>
                                      <p:cBhvr>
                                        <p:cTn id="132" dur="1" fill="hold">
                                          <p:stCondLst>
                                            <p:cond delay="0"/>
                                          </p:stCondLst>
                                        </p:cTn>
                                        <p:tgtEl>
                                          <p:spTgt spid="160"/>
                                        </p:tgtEl>
                                        <p:attrNameLst>
                                          <p:attrName>style.visibility</p:attrName>
                                        </p:attrNameLst>
                                      </p:cBhvr>
                                      <p:to>
                                        <p:strVal val="visible"/>
                                      </p:to>
                                    </p:set>
                                    <p:animEffect transition="in" filter="barn(inVertical)">
                                      <p:cBhvr>
                                        <p:cTn id="133" dur="500"/>
                                        <p:tgtEl>
                                          <p:spTgt spid="160"/>
                                        </p:tgtEl>
                                      </p:cBhvr>
                                    </p:animEffect>
                                  </p:childTnLst>
                                </p:cTn>
                              </p:par>
                            </p:childTnLst>
                          </p:cTn>
                        </p:par>
                      </p:childTnLst>
                    </p:cTn>
                  </p:par>
                  <p:par>
                    <p:cTn id="134" fill="hold">
                      <p:stCondLst>
                        <p:cond delay="indefinite"/>
                      </p:stCondLst>
                      <p:childTnLst>
                        <p:par>
                          <p:cTn id="135" fill="hold">
                            <p:stCondLst>
                              <p:cond delay="0"/>
                            </p:stCondLst>
                            <p:childTnLst>
                              <p:par>
                                <p:cTn id="136" presetID="1" presetClass="exit" presetSubtype="0" fill="hold" grpId="1" nodeType="clickEffect">
                                  <p:stCondLst>
                                    <p:cond delay="0"/>
                                  </p:stCondLst>
                                  <p:childTnLst>
                                    <p:set>
                                      <p:cBhvr>
                                        <p:cTn id="137" dur="1" fill="hold">
                                          <p:stCondLst>
                                            <p:cond delay="0"/>
                                          </p:stCondLst>
                                        </p:cTn>
                                        <p:tgtEl>
                                          <p:spTgt spid="160"/>
                                        </p:tgtEl>
                                        <p:attrNameLst>
                                          <p:attrName>style.visibility</p:attrName>
                                        </p:attrNameLst>
                                      </p:cBhvr>
                                      <p:to>
                                        <p:strVal val="hidden"/>
                                      </p:to>
                                    </p:set>
                                  </p:childTnLst>
                                </p:cTn>
                              </p:par>
                              <p:par>
                                <p:cTn id="138" presetID="1" presetClass="entr" presetSubtype="0" fill="hold" grpId="0" nodeType="withEffect">
                                  <p:stCondLst>
                                    <p:cond delay="0"/>
                                  </p:stCondLst>
                                  <p:childTnLst>
                                    <p:set>
                                      <p:cBhvr>
                                        <p:cTn id="139" dur="1" fill="hold">
                                          <p:stCondLst>
                                            <p:cond delay="0"/>
                                          </p:stCondLst>
                                        </p:cTn>
                                        <p:tgtEl>
                                          <p:spTgt spid="166"/>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165"/>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167"/>
                                        </p:tgtEl>
                                        <p:attrNameLst>
                                          <p:attrName>style.visibility</p:attrName>
                                        </p:attrNameLst>
                                      </p:cBhvr>
                                      <p:to>
                                        <p:strVal val="visible"/>
                                      </p:to>
                                    </p:set>
                                  </p:childTnLst>
                                </p:cTn>
                              </p:par>
                            </p:childTnLst>
                          </p:cTn>
                        </p:par>
                        <p:par>
                          <p:cTn id="144" fill="hold">
                            <p:stCondLst>
                              <p:cond delay="0"/>
                            </p:stCondLst>
                            <p:childTnLst>
                              <p:par>
                                <p:cTn id="145" presetID="16" presetClass="entr" presetSubtype="21" fill="hold" grpId="0" nodeType="afterEffect">
                                  <p:stCondLst>
                                    <p:cond delay="0"/>
                                  </p:stCondLst>
                                  <p:childTnLst>
                                    <p:set>
                                      <p:cBhvr>
                                        <p:cTn id="146" dur="1" fill="hold">
                                          <p:stCondLst>
                                            <p:cond delay="0"/>
                                          </p:stCondLst>
                                        </p:cTn>
                                        <p:tgtEl>
                                          <p:spTgt spid="164"/>
                                        </p:tgtEl>
                                        <p:attrNameLst>
                                          <p:attrName>style.visibility</p:attrName>
                                        </p:attrNameLst>
                                      </p:cBhvr>
                                      <p:to>
                                        <p:strVal val="visible"/>
                                      </p:to>
                                    </p:set>
                                    <p:animEffect transition="in" filter="barn(inVertical)">
                                      <p:cBhvr>
                                        <p:cTn id="147" dur="500"/>
                                        <p:tgtEl>
                                          <p:spTgt spid="164"/>
                                        </p:tgtEl>
                                      </p:cBhvr>
                                    </p:animEffect>
                                  </p:childTnLst>
                                </p:cTn>
                              </p:par>
                            </p:childTnLst>
                          </p:cTn>
                        </p:par>
                      </p:childTnLst>
                    </p:cTn>
                  </p:par>
                  <p:par>
                    <p:cTn id="148" fill="hold">
                      <p:stCondLst>
                        <p:cond delay="indefinite"/>
                      </p:stCondLst>
                      <p:childTnLst>
                        <p:par>
                          <p:cTn id="149" fill="hold">
                            <p:stCondLst>
                              <p:cond delay="0"/>
                            </p:stCondLst>
                            <p:childTnLst>
                              <p:par>
                                <p:cTn id="150" presetID="1" presetClass="exit" presetSubtype="0" fill="hold" grpId="1" nodeType="clickEffect">
                                  <p:stCondLst>
                                    <p:cond delay="0"/>
                                  </p:stCondLst>
                                  <p:childTnLst>
                                    <p:set>
                                      <p:cBhvr>
                                        <p:cTn id="151" dur="1" fill="hold">
                                          <p:stCondLst>
                                            <p:cond delay="0"/>
                                          </p:stCondLst>
                                        </p:cTn>
                                        <p:tgtEl>
                                          <p:spTgt spid="164"/>
                                        </p:tgtEl>
                                        <p:attrNameLst>
                                          <p:attrName>style.visibility</p:attrName>
                                        </p:attrNameLst>
                                      </p:cBhvr>
                                      <p:to>
                                        <p:strVal val="hidden"/>
                                      </p:to>
                                    </p:set>
                                  </p:childTnLst>
                                </p:cTn>
                              </p:par>
                              <p:par>
                                <p:cTn id="152" presetID="1" presetClass="entr" presetSubtype="0" fill="hold" grpId="0" nodeType="withEffect">
                                  <p:stCondLst>
                                    <p:cond delay="0"/>
                                  </p:stCondLst>
                                  <p:childTnLst>
                                    <p:set>
                                      <p:cBhvr>
                                        <p:cTn id="153" dur="1" fill="hold">
                                          <p:stCondLst>
                                            <p:cond delay="0"/>
                                          </p:stCondLst>
                                        </p:cTn>
                                        <p:tgtEl>
                                          <p:spTgt spid="173"/>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172"/>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174"/>
                                        </p:tgtEl>
                                        <p:attrNameLst>
                                          <p:attrName>style.visibility</p:attrName>
                                        </p:attrNameLst>
                                      </p:cBhvr>
                                      <p:to>
                                        <p:strVal val="visible"/>
                                      </p:to>
                                    </p:set>
                                  </p:childTnLst>
                                </p:cTn>
                              </p:par>
                            </p:childTnLst>
                          </p:cTn>
                        </p:par>
                        <p:par>
                          <p:cTn id="158" fill="hold">
                            <p:stCondLst>
                              <p:cond delay="0"/>
                            </p:stCondLst>
                            <p:childTnLst>
                              <p:par>
                                <p:cTn id="159" presetID="16" presetClass="entr" presetSubtype="21" fill="hold" grpId="0" nodeType="afterEffect">
                                  <p:stCondLst>
                                    <p:cond delay="0"/>
                                  </p:stCondLst>
                                  <p:childTnLst>
                                    <p:set>
                                      <p:cBhvr>
                                        <p:cTn id="160" dur="1" fill="hold">
                                          <p:stCondLst>
                                            <p:cond delay="0"/>
                                          </p:stCondLst>
                                        </p:cTn>
                                        <p:tgtEl>
                                          <p:spTgt spid="171"/>
                                        </p:tgtEl>
                                        <p:attrNameLst>
                                          <p:attrName>style.visibility</p:attrName>
                                        </p:attrNameLst>
                                      </p:cBhvr>
                                      <p:to>
                                        <p:strVal val="visible"/>
                                      </p:to>
                                    </p:set>
                                    <p:animEffect transition="in" filter="barn(inVertical)">
                                      <p:cBhvr>
                                        <p:cTn id="161" dur="500"/>
                                        <p:tgtEl>
                                          <p:spTgt spid="171"/>
                                        </p:tgtEl>
                                      </p:cBhvr>
                                    </p:animEffec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1" nodeType="clickEffect">
                                  <p:stCondLst>
                                    <p:cond delay="0"/>
                                  </p:stCondLst>
                                  <p:childTnLst>
                                    <p:set>
                                      <p:cBhvr>
                                        <p:cTn id="165" dur="1" fill="hold">
                                          <p:stCondLst>
                                            <p:cond delay="0"/>
                                          </p:stCondLst>
                                        </p:cTn>
                                        <p:tgtEl>
                                          <p:spTgt spid="171"/>
                                        </p:tgtEl>
                                        <p:attrNameLst>
                                          <p:attrName>style.visibility</p:attrName>
                                        </p:attrNameLst>
                                      </p:cBhvr>
                                      <p:to>
                                        <p:strVal val="hidden"/>
                                      </p:to>
                                    </p:set>
                                  </p:childTnLst>
                                </p:cTn>
                              </p:par>
                              <p:par>
                                <p:cTn id="166" presetID="1" presetClass="entr" presetSubtype="0" fill="hold" grpId="0" nodeType="withEffect">
                                  <p:stCondLst>
                                    <p:cond delay="0"/>
                                  </p:stCondLst>
                                  <p:childTnLst>
                                    <p:set>
                                      <p:cBhvr>
                                        <p:cTn id="167" dur="1" fill="hold">
                                          <p:stCondLst>
                                            <p:cond delay="0"/>
                                          </p:stCondLst>
                                        </p:cTn>
                                        <p:tgtEl>
                                          <p:spTgt spid="177"/>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176"/>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178"/>
                                        </p:tgtEl>
                                        <p:attrNameLst>
                                          <p:attrName>style.visibility</p:attrName>
                                        </p:attrNameLst>
                                      </p:cBhvr>
                                      <p:to>
                                        <p:strVal val="visible"/>
                                      </p:to>
                                    </p:set>
                                  </p:childTnLst>
                                </p:cTn>
                              </p:par>
                            </p:childTnLst>
                          </p:cTn>
                        </p:par>
                        <p:par>
                          <p:cTn id="172" fill="hold">
                            <p:stCondLst>
                              <p:cond delay="0"/>
                            </p:stCondLst>
                            <p:childTnLst>
                              <p:par>
                                <p:cTn id="173" presetID="16" presetClass="entr" presetSubtype="21" fill="hold" grpId="0" nodeType="afterEffect">
                                  <p:stCondLst>
                                    <p:cond delay="0"/>
                                  </p:stCondLst>
                                  <p:childTnLst>
                                    <p:set>
                                      <p:cBhvr>
                                        <p:cTn id="174" dur="1" fill="hold">
                                          <p:stCondLst>
                                            <p:cond delay="0"/>
                                          </p:stCondLst>
                                        </p:cTn>
                                        <p:tgtEl>
                                          <p:spTgt spid="175"/>
                                        </p:tgtEl>
                                        <p:attrNameLst>
                                          <p:attrName>style.visibility</p:attrName>
                                        </p:attrNameLst>
                                      </p:cBhvr>
                                      <p:to>
                                        <p:strVal val="visible"/>
                                      </p:to>
                                    </p:set>
                                    <p:animEffect transition="in" filter="barn(inVertical)">
                                      <p:cBhvr>
                                        <p:cTn id="175"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7" grpId="1"/>
      <p:bldP spid="118" grpId="0" animBg="1"/>
      <p:bldP spid="120" grpId="0" animBg="1"/>
      <p:bldP spid="122" grpId="0" animBg="1"/>
      <p:bldP spid="135" grpId="0"/>
      <p:bldP spid="135" grpId="1"/>
      <p:bldP spid="136" grpId="0"/>
      <p:bldP spid="136" grpId="1"/>
      <p:bldP spid="137" grpId="0" animBg="1"/>
      <p:bldP spid="138" grpId="0" animBg="1"/>
      <p:bldP spid="142" grpId="0" animBg="1"/>
      <p:bldP spid="143" grpId="0" animBg="1"/>
      <p:bldP spid="144" grpId="0" animBg="1"/>
      <p:bldP spid="145" grpId="0" animBg="1"/>
      <p:bldP spid="146" grpId="0"/>
      <p:bldP spid="146" grpId="1"/>
      <p:bldP spid="148" grpId="0" animBg="1"/>
      <p:bldP spid="149" grpId="0" animBg="1"/>
      <p:bldP spid="150" grpId="0" animBg="1"/>
      <p:bldP spid="151" grpId="0"/>
      <p:bldP spid="151" grpId="1"/>
      <p:bldP spid="152" grpId="0" animBg="1"/>
      <p:bldP spid="153" grpId="0" animBg="1"/>
      <p:bldP spid="154" grpId="0" animBg="1"/>
      <p:bldP spid="155" grpId="0"/>
      <p:bldP spid="155" grpId="1"/>
      <p:bldP spid="156" grpId="0"/>
      <p:bldP spid="156" grpId="1"/>
      <p:bldP spid="157" grpId="0" animBg="1"/>
      <p:bldP spid="158" grpId="0" animBg="1"/>
      <p:bldP spid="159" grpId="0" animBg="1"/>
      <p:bldP spid="160" grpId="0"/>
      <p:bldP spid="160" grpId="1"/>
      <p:bldP spid="161" grpId="0" animBg="1"/>
      <p:bldP spid="162" grpId="0" animBg="1"/>
      <p:bldP spid="163" grpId="0" animBg="1"/>
      <p:bldP spid="164" grpId="0"/>
      <p:bldP spid="164" grpId="1"/>
      <p:bldP spid="165" grpId="0" animBg="1"/>
      <p:bldP spid="166" grpId="0" animBg="1"/>
      <p:bldP spid="167" grpId="0" animBg="1"/>
      <p:bldP spid="171" grpId="0"/>
      <p:bldP spid="171" grpId="1"/>
      <p:bldP spid="172" grpId="0" animBg="1"/>
      <p:bldP spid="173" grpId="0" animBg="1"/>
      <p:bldP spid="174" grpId="0" animBg="1"/>
      <p:bldP spid="175" grpId="0"/>
      <p:bldP spid="176" grpId="0" animBg="1"/>
      <p:bldP spid="177" grpId="0" animBg="1"/>
      <p:bldP spid="17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DF79DDEC-496F-4492-8CD3-C890452AAE7C}"/>
              </a:ext>
            </a:extLst>
          </p:cNvPr>
          <p:cNvGrpSpPr/>
          <p:nvPr/>
        </p:nvGrpSpPr>
        <p:grpSpPr>
          <a:xfrm>
            <a:off x="713351" y="1297665"/>
            <a:ext cx="4415041" cy="4959331"/>
            <a:chOff x="713351" y="1250056"/>
            <a:chExt cx="4415041" cy="4959331"/>
          </a:xfrm>
          <a:gradFill>
            <a:gsLst>
              <a:gs pos="0">
                <a:srgbClr val="00B0F0"/>
              </a:gs>
              <a:gs pos="95000">
                <a:srgbClr val="00B050"/>
              </a:gs>
            </a:gsLst>
            <a:lin ang="0" scaled="1"/>
          </a:gradFill>
        </p:grpSpPr>
        <p:sp>
          <p:nvSpPr>
            <p:cNvPr id="11" name="Freeform 5">
              <a:extLst>
                <a:ext uri="{FF2B5EF4-FFF2-40B4-BE49-F238E27FC236}">
                  <a16:creationId xmlns:a16="http://schemas.microsoft.com/office/drawing/2014/main" id="{558A0827-5314-4A45-BECF-7A96A2BF8E1C}"/>
                </a:ext>
              </a:extLst>
            </p:cNvPr>
            <p:cNvSpPr>
              <a:spLocks/>
            </p:cNvSpPr>
            <p:nvPr/>
          </p:nvSpPr>
          <p:spPr bwMode="auto">
            <a:xfrm rot="19612097" flipH="1">
              <a:off x="2225545" y="2116861"/>
              <a:ext cx="1006475" cy="1016000"/>
            </a:xfrm>
            <a:custGeom>
              <a:avLst/>
              <a:gdLst>
                <a:gd name="T0" fmla="*/ 337 w 337"/>
                <a:gd name="T1" fmla="*/ 187 h 340"/>
                <a:gd name="T2" fmla="*/ 127 w 337"/>
                <a:gd name="T3" fmla="*/ 340 h 340"/>
                <a:gd name="T4" fmla="*/ 0 w 337"/>
                <a:gd name="T5" fmla="*/ 248 h 340"/>
                <a:gd name="T6" fmla="*/ 81 w 337"/>
                <a:gd name="T7" fmla="*/ 0 h 340"/>
                <a:gd name="T8" fmla="*/ 337 w 337"/>
                <a:gd name="T9" fmla="*/ 187 h 340"/>
              </a:gdLst>
              <a:ahLst/>
              <a:cxnLst>
                <a:cxn ang="0">
                  <a:pos x="T0" y="T1"/>
                </a:cxn>
                <a:cxn ang="0">
                  <a:pos x="T2" y="T3"/>
                </a:cxn>
                <a:cxn ang="0">
                  <a:pos x="T4" y="T5"/>
                </a:cxn>
                <a:cxn ang="0">
                  <a:pos x="T6" y="T7"/>
                </a:cxn>
                <a:cxn ang="0">
                  <a:pos x="T8" y="T9"/>
                </a:cxn>
              </a:cxnLst>
              <a:rect l="0" t="0" r="r" b="b"/>
              <a:pathLst>
                <a:path w="337" h="340">
                  <a:moveTo>
                    <a:pt x="337" y="187"/>
                  </a:moveTo>
                  <a:cubicBezTo>
                    <a:pt x="127" y="340"/>
                    <a:pt x="127" y="340"/>
                    <a:pt x="127" y="340"/>
                  </a:cubicBezTo>
                  <a:cubicBezTo>
                    <a:pt x="94" y="299"/>
                    <a:pt x="51" y="266"/>
                    <a:pt x="0" y="248"/>
                  </a:cubicBezTo>
                  <a:cubicBezTo>
                    <a:pt x="81" y="0"/>
                    <a:pt x="81" y="0"/>
                    <a:pt x="81" y="0"/>
                  </a:cubicBezTo>
                  <a:cubicBezTo>
                    <a:pt x="184" y="36"/>
                    <a:pt x="273" y="102"/>
                    <a:pt x="337" y="187"/>
                  </a:cubicBez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12" name="Freeform 6">
              <a:extLst>
                <a:ext uri="{FF2B5EF4-FFF2-40B4-BE49-F238E27FC236}">
                  <a16:creationId xmlns:a16="http://schemas.microsoft.com/office/drawing/2014/main" id="{4B170314-1DF8-4E8C-BA8C-32B3B31CD956}"/>
                </a:ext>
              </a:extLst>
            </p:cNvPr>
            <p:cNvSpPr>
              <a:spLocks/>
            </p:cNvSpPr>
            <p:nvPr/>
          </p:nvSpPr>
          <p:spPr bwMode="auto">
            <a:xfrm rot="19612097" flipH="1">
              <a:off x="2815566" y="1628014"/>
              <a:ext cx="949325" cy="809625"/>
            </a:xfrm>
            <a:custGeom>
              <a:avLst/>
              <a:gdLst>
                <a:gd name="T0" fmla="*/ 318 w 318"/>
                <a:gd name="T1" fmla="*/ 23 h 271"/>
                <a:gd name="T2" fmla="*/ 237 w 318"/>
                <a:gd name="T3" fmla="*/ 271 h 271"/>
                <a:gd name="T4" fmla="*/ 159 w 318"/>
                <a:gd name="T5" fmla="*/ 260 h 271"/>
                <a:gd name="T6" fmla="*/ 81 w 318"/>
                <a:gd name="T7" fmla="*/ 271 h 271"/>
                <a:gd name="T8" fmla="*/ 81 w 318"/>
                <a:gd name="T9" fmla="*/ 271 h 271"/>
                <a:gd name="T10" fmla="*/ 0 w 318"/>
                <a:gd name="T11" fmla="*/ 23 h 271"/>
                <a:gd name="T12" fmla="*/ 159 w 318"/>
                <a:gd name="T13" fmla="*/ 0 h 271"/>
                <a:gd name="T14" fmla="*/ 318 w 318"/>
                <a:gd name="T15" fmla="*/ 23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8" h="271">
                  <a:moveTo>
                    <a:pt x="318" y="23"/>
                  </a:moveTo>
                  <a:cubicBezTo>
                    <a:pt x="237" y="271"/>
                    <a:pt x="237" y="271"/>
                    <a:pt x="237" y="271"/>
                  </a:cubicBezTo>
                  <a:cubicBezTo>
                    <a:pt x="212" y="264"/>
                    <a:pt x="186" y="260"/>
                    <a:pt x="159" y="260"/>
                  </a:cubicBezTo>
                  <a:cubicBezTo>
                    <a:pt x="132" y="260"/>
                    <a:pt x="106" y="264"/>
                    <a:pt x="81" y="271"/>
                  </a:cubicBezTo>
                  <a:cubicBezTo>
                    <a:pt x="81" y="271"/>
                    <a:pt x="81" y="271"/>
                    <a:pt x="81" y="271"/>
                  </a:cubicBezTo>
                  <a:cubicBezTo>
                    <a:pt x="0" y="23"/>
                    <a:pt x="0" y="23"/>
                    <a:pt x="0" y="23"/>
                  </a:cubicBezTo>
                  <a:cubicBezTo>
                    <a:pt x="51" y="8"/>
                    <a:pt x="104" y="0"/>
                    <a:pt x="159" y="0"/>
                  </a:cubicBezTo>
                  <a:cubicBezTo>
                    <a:pt x="214" y="0"/>
                    <a:pt x="267" y="8"/>
                    <a:pt x="318" y="23"/>
                  </a:cubicBez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13" name="Freeform 7">
              <a:extLst>
                <a:ext uri="{FF2B5EF4-FFF2-40B4-BE49-F238E27FC236}">
                  <a16:creationId xmlns:a16="http://schemas.microsoft.com/office/drawing/2014/main" id="{4C8E16AA-62D4-467A-B32C-C6A04EEA8D64}"/>
                </a:ext>
              </a:extLst>
            </p:cNvPr>
            <p:cNvSpPr>
              <a:spLocks/>
            </p:cNvSpPr>
            <p:nvPr/>
          </p:nvSpPr>
          <p:spPr bwMode="auto">
            <a:xfrm rot="19612097" flipH="1">
              <a:off x="3553614" y="1250056"/>
              <a:ext cx="1006475" cy="1016000"/>
            </a:xfrm>
            <a:custGeom>
              <a:avLst/>
              <a:gdLst>
                <a:gd name="T0" fmla="*/ 337 w 337"/>
                <a:gd name="T1" fmla="*/ 248 h 340"/>
                <a:gd name="T2" fmla="*/ 210 w 337"/>
                <a:gd name="T3" fmla="*/ 340 h 340"/>
                <a:gd name="T4" fmla="*/ 0 w 337"/>
                <a:gd name="T5" fmla="*/ 187 h 340"/>
                <a:gd name="T6" fmla="*/ 256 w 337"/>
                <a:gd name="T7" fmla="*/ 0 h 340"/>
                <a:gd name="T8" fmla="*/ 337 w 337"/>
                <a:gd name="T9" fmla="*/ 248 h 340"/>
              </a:gdLst>
              <a:ahLst/>
              <a:cxnLst>
                <a:cxn ang="0">
                  <a:pos x="T0" y="T1"/>
                </a:cxn>
                <a:cxn ang="0">
                  <a:pos x="T2" y="T3"/>
                </a:cxn>
                <a:cxn ang="0">
                  <a:pos x="T4" y="T5"/>
                </a:cxn>
                <a:cxn ang="0">
                  <a:pos x="T6" y="T7"/>
                </a:cxn>
                <a:cxn ang="0">
                  <a:pos x="T8" y="T9"/>
                </a:cxn>
              </a:cxnLst>
              <a:rect l="0" t="0" r="r" b="b"/>
              <a:pathLst>
                <a:path w="337" h="340">
                  <a:moveTo>
                    <a:pt x="337" y="248"/>
                  </a:moveTo>
                  <a:cubicBezTo>
                    <a:pt x="286" y="266"/>
                    <a:pt x="243" y="299"/>
                    <a:pt x="210" y="340"/>
                  </a:cubicBezTo>
                  <a:cubicBezTo>
                    <a:pt x="0" y="187"/>
                    <a:pt x="0" y="187"/>
                    <a:pt x="0" y="187"/>
                  </a:cubicBezTo>
                  <a:cubicBezTo>
                    <a:pt x="64" y="102"/>
                    <a:pt x="153" y="36"/>
                    <a:pt x="256" y="0"/>
                  </a:cubicBezTo>
                  <a:lnTo>
                    <a:pt x="337" y="248"/>
                  </a:ln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14" name="Freeform 8">
              <a:extLst>
                <a:ext uri="{FF2B5EF4-FFF2-40B4-BE49-F238E27FC236}">
                  <a16:creationId xmlns:a16="http://schemas.microsoft.com/office/drawing/2014/main" id="{8C485784-A464-4017-9504-AE73C700E43E}"/>
                </a:ext>
              </a:extLst>
            </p:cNvPr>
            <p:cNvSpPr>
              <a:spLocks/>
            </p:cNvSpPr>
            <p:nvPr/>
          </p:nvSpPr>
          <p:spPr bwMode="auto">
            <a:xfrm rot="19612097" flipH="1">
              <a:off x="4209229" y="1563709"/>
              <a:ext cx="919163" cy="901700"/>
            </a:xfrm>
            <a:custGeom>
              <a:avLst/>
              <a:gdLst>
                <a:gd name="T0" fmla="*/ 308 w 308"/>
                <a:gd name="T1" fmla="*/ 153 h 302"/>
                <a:gd name="T2" fmla="*/ 260 w 308"/>
                <a:gd name="T3" fmla="*/ 302 h 302"/>
                <a:gd name="T4" fmla="*/ 0 w 308"/>
                <a:gd name="T5" fmla="*/ 302 h 302"/>
                <a:gd name="T6" fmla="*/ 98 w 308"/>
                <a:gd name="T7" fmla="*/ 0 h 302"/>
                <a:gd name="T8" fmla="*/ 308 w 308"/>
                <a:gd name="T9" fmla="*/ 153 h 302"/>
              </a:gdLst>
              <a:ahLst/>
              <a:cxnLst>
                <a:cxn ang="0">
                  <a:pos x="T0" y="T1"/>
                </a:cxn>
                <a:cxn ang="0">
                  <a:pos x="T2" y="T3"/>
                </a:cxn>
                <a:cxn ang="0">
                  <a:pos x="T4" y="T5"/>
                </a:cxn>
                <a:cxn ang="0">
                  <a:pos x="T6" y="T7"/>
                </a:cxn>
                <a:cxn ang="0">
                  <a:pos x="T8" y="T9"/>
                </a:cxn>
              </a:cxnLst>
              <a:rect l="0" t="0" r="r" b="b"/>
              <a:pathLst>
                <a:path w="308" h="302">
                  <a:moveTo>
                    <a:pt x="308" y="153"/>
                  </a:moveTo>
                  <a:cubicBezTo>
                    <a:pt x="280" y="196"/>
                    <a:pt x="262" y="247"/>
                    <a:pt x="260" y="302"/>
                  </a:cubicBezTo>
                  <a:cubicBezTo>
                    <a:pt x="0" y="302"/>
                    <a:pt x="0" y="302"/>
                    <a:pt x="0" y="302"/>
                  </a:cubicBezTo>
                  <a:cubicBezTo>
                    <a:pt x="2" y="190"/>
                    <a:pt x="38" y="86"/>
                    <a:pt x="98" y="0"/>
                  </a:cubicBezTo>
                  <a:lnTo>
                    <a:pt x="308" y="153"/>
                  </a:ln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15" name="Freeform 9">
              <a:extLst>
                <a:ext uri="{FF2B5EF4-FFF2-40B4-BE49-F238E27FC236}">
                  <a16:creationId xmlns:a16="http://schemas.microsoft.com/office/drawing/2014/main" id="{293C0BB4-ED6C-4265-A6C0-0CA3151FFEEA}"/>
                </a:ext>
              </a:extLst>
            </p:cNvPr>
            <p:cNvSpPr>
              <a:spLocks/>
            </p:cNvSpPr>
            <p:nvPr/>
          </p:nvSpPr>
          <p:spPr bwMode="auto">
            <a:xfrm rot="19612097" flipH="1">
              <a:off x="2257543" y="2837019"/>
              <a:ext cx="920750" cy="901700"/>
            </a:xfrm>
            <a:custGeom>
              <a:avLst/>
              <a:gdLst>
                <a:gd name="T0" fmla="*/ 308 w 308"/>
                <a:gd name="T1" fmla="*/ 302 h 302"/>
                <a:gd name="T2" fmla="*/ 48 w 308"/>
                <a:gd name="T3" fmla="*/ 302 h 302"/>
                <a:gd name="T4" fmla="*/ 0 w 308"/>
                <a:gd name="T5" fmla="*/ 153 h 302"/>
                <a:gd name="T6" fmla="*/ 210 w 308"/>
                <a:gd name="T7" fmla="*/ 0 h 302"/>
                <a:gd name="T8" fmla="*/ 308 w 308"/>
                <a:gd name="T9" fmla="*/ 302 h 302"/>
              </a:gdLst>
              <a:ahLst/>
              <a:cxnLst>
                <a:cxn ang="0">
                  <a:pos x="T0" y="T1"/>
                </a:cxn>
                <a:cxn ang="0">
                  <a:pos x="T2" y="T3"/>
                </a:cxn>
                <a:cxn ang="0">
                  <a:pos x="T4" y="T5"/>
                </a:cxn>
                <a:cxn ang="0">
                  <a:pos x="T6" y="T7"/>
                </a:cxn>
                <a:cxn ang="0">
                  <a:pos x="T8" y="T9"/>
                </a:cxn>
              </a:cxnLst>
              <a:rect l="0" t="0" r="r" b="b"/>
              <a:pathLst>
                <a:path w="308" h="302">
                  <a:moveTo>
                    <a:pt x="308" y="302"/>
                  </a:moveTo>
                  <a:cubicBezTo>
                    <a:pt x="48" y="302"/>
                    <a:pt x="48" y="302"/>
                    <a:pt x="48" y="302"/>
                  </a:cubicBezTo>
                  <a:cubicBezTo>
                    <a:pt x="46" y="247"/>
                    <a:pt x="28" y="196"/>
                    <a:pt x="0" y="153"/>
                  </a:cubicBezTo>
                  <a:cubicBezTo>
                    <a:pt x="210" y="0"/>
                    <a:pt x="210" y="0"/>
                    <a:pt x="210" y="0"/>
                  </a:cubicBezTo>
                  <a:cubicBezTo>
                    <a:pt x="270" y="86"/>
                    <a:pt x="306" y="190"/>
                    <a:pt x="308" y="302"/>
                  </a:cubicBez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16" name="Freeform 10">
              <a:extLst>
                <a:ext uri="{FF2B5EF4-FFF2-40B4-BE49-F238E27FC236}">
                  <a16:creationId xmlns:a16="http://schemas.microsoft.com/office/drawing/2014/main" id="{7694DE94-30EE-4BB4-9303-5A684E67B60A}"/>
                </a:ext>
              </a:extLst>
            </p:cNvPr>
            <p:cNvSpPr>
              <a:spLocks/>
            </p:cNvSpPr>
            <p:nvPr/>
          </p:nvSpPr>
          <p:spPr bwMode="auto">
            <a:xfrm rot="19612097" flipH="1">
              <a:off x="2663707" y="3720724"/>
              <a:ext cx="920750" cy="901700"/>
            </a:xfrm>
            <a:custGeom>
              <a:avLst/>
              <a:gdLst>
                <a:gd name="T0" fmla="*/ 308 w 308"/>
                <a:gd name="T1" fmla="*/ 149 h 302"/>
                <a:gd name="T2" fmla="*/ 98 w 308"/>
                <a:gd name="T3" fmla="*/ 302 h 302"/>
                <a:gd name="T4" fmla="*/ 0 w 308"/>
                <a:gd name="T5" fmla="*/ 0 h 302"/>
                <a:gd name="T6" fmla="*/ 260 w 308"/>
                <a:gd name="T7" fmla="*/ 0 h 302"/>
                <a:gd name="T8" fmla="*/ 308 w 308"/>
                <a:gd name="T9" fmla="*/ 149 h 302"/>
              </a:gdLst>
              <a:ahLst/>
              <a:cxnLst>
                <a:cxn ang="0">
                  <a:pos x="T0" y="T1"/>
                </a:cxn>
                <a:cxn ang="0">
                  <a:pos x="T2" y="T3"/>
                </a:cxn>
                <a:cxn ang="0">
                  <a:pos x="T4" y="T5"/>
                </a:cxn>
                <a:cxn ang="0">
                  <a:pos x="T6" y="T7"/>
                </a:cxn>
                <a:cxn ang="0">
                  <a:pos x="T8" y="T9"/>
                </a:cxn>
              </a:cxnLst>
              <a:rect l="0" t="0" r="r" b="b"/>
              <a:pathLst>
                <a:path w="308" h="302">
                  <a:moveTo>
                    <a:pt x="308" y="149"/>
                  </a:moveTo>
                  <a:cubicBezTo>
                    <a:pt x="98" y="302"/>
                    <a:pt x="98" y="302"/>
                    <a:pt x="98" y="302"/>
                  </a:cubicBezTo>
                  <a:cubicBezTo>
                    <a:pt x="38" y="216"/>
                    <a:pt x="2" y="112"/>
                    <a:pt x="0" y="0"/>
                  </a:cubicBezTo>
                  <a:cubicBezTo>
                    <a:pt x="260" y="0"/>
                    <a:pt x="260" y="0"/>
                    <a:pt x="260" y="0"/>
                  </a:cubicBezTo>
                  <a:cubicBezTo>
                    <a:pt x="262" y="55"/>
                    <a:pt x="280" y="106"/>
                    <a:pt x="308" y="149"/>
                  </a:cubicBez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17" name="Freeform 11">
              <a:extLst>
                <a:ext uri="{FF2B5EF4-FFF2-40B4-BE49-F238E27FC236}">
                  <a16:creationId xmlns:a16="http://schemas.microsoft.com/office/drawing/2014/main" id="{E7C7D1EA-7CAE-4451-86A7-55F850C24471}"/>
                </a:ext>
              </a:extLst>
            </p:cNvPr>
            <p:cNvSpPr>
              <a:spLocks/>
            </p:cNvSpPr>
            <p:nvPr/>
          </p:nvSpPr>
          <p:spPr bwMode="auto">
            <a:xfrm rot="19612097" flipH="1">
              <a:off x="2609980" y="4326582"/>
              <a:ext cx="1006475" cy="1016000"/>
            </a:xfrm>
            <a:custGeom>
              <a:avLst/>
              <a:gdLst>
                <a:gd name="T0" fmla="*/ 337 w 337"/>
                <a:gd name="T1" fmla="*/ 92 h 340"/>
                <a:gd name="T2" fmla="*/ 256 w 337"/>
                <a:gd name="T3" fmla="*/ 340 h 340"/>
                <a:gd name="T4" fmla="*/ 0 w 337"/>
                <a:gd name="T5" fmla="*/ 153 h 340"/>
                <a:gd name="T6" fmla="*/ 210 w 337"/>
                <a:gd name="T7" fmla="*/ 0 h 340"/>
                <a:gd name="T8" fmla="*/ 337 w 337"/>
                <a:gd name="T9" fmla="*/ 92 h 340"/>
              </a:gdLst>
              <a:ahLst/>
              <a:cxnLst>
                <a:cxn ang="0">
                  <a:pos x="T0" y="T1"/>
                </a:cxn>
                <a:cxn ang="0">
                  <a:pos x="T2" y="T3"/>
                </a:cxn>
                <a:cxn ang="0">
                  <a:pos x="T4" y="T5"/>
                </a:cxn>
                <a:cxn ang="0">
                  <a:pos x="T6" y="T7"/>
                </a:cxn>
                <a:cxn ang="0">
                  <a:pos x="T8" y="T9"/>
                </a:cxn>
              </a:cxnLst>
              <a:rect l="0" t="0" r="r" b="b"/>
              <a:pathLst>
                <a:path w="337" h="340">
                  <a:moveTo>
                    <a:pt x="337" y="92"/>
                  </a:moveTo>
                  <a:cubicBezTo>
                    <a:pt x="256" y="340"/>
                    <a:pt x="256" y="340"/>
                    <a:pt x="256" y="340"/>
                  </a:cubicBezTo>
                  <a:cubicBezTo>
                    <a:pt x="153" y="304"/>
                    <a:pt x="64" y="238"/>
                    <a:pt x="0" y="153"/>
                  </a:cubicBezTo>
                  <a:cubicBezTo>
                    <a:pt x="210" y="0"/>
                    <a:pt x="210" y="0"/>
                    <a:pt x="210" y="0"/>
                  </a:cubicBezTo>
                  <a:cubicBezTo>
                    <a:pt x="243" y="41"/>
                    <a:pt x="286" y="74"/>
                    <a:pt x="337" y="92"/>
                  </a:cubicBez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18" name="Freeform 12">
              <a:extLst>
                <a:ext uri="{FF2B5EF4-FFF2-40B4-BE49-F238E27FC236}">
                  <a16:creationId xmlns:a16="http://schemas.microsoft.com/office/drawing/2014/main" id="{39EEB61E-F0C2-4F6E-96A0-C2EF3BC52C4D}"/>
                </a:ext>
              </a:extLst>
            </p:cNvPr>
            <p:cNvSpPr>
              <a:spLocks/>
            </p:cNvSpPr>
            <p:nvPr/>
          </p:nvSpPr>
          <p:spPr bwMode="auto">
            <a:xfrm rot="19612097" flipH="1">
              <a:off x="2077543" y="5023263"/>
              <a:ext cx="949325" cy="808038"/>
            </a:xfrm>
            <a:custGeom>
              <a:avLst/>
              <a:gdLst>
                <a:gd name="T0" fmla="*/ 318 w 318"/>
                <a:gd name="T1" fmla="*/ 248 h 271"/>
                <a:gd name="T2" fmla="*/ 159 w 318"/>
                <a:gd name="T3" fmla="*/ 271 h 271"/>
                <a:gd name="T4" fmla="*/ 0 w 318"/>
                <a:gd name="T5" fmla="*/ 248 h 271"/>
                <a:gd name="T6" fmla="*/ 81 w 318"/>
                <a:gd name="T7" fmla="*/ 0 h 271"/>
                <a:gd name="T8" fmla="*/ 81 w 318"/>
                <a:gd name="T9" fmla="*/ 0 h 271"/>
                <a:gd name="T10" fmla="*/ 159 w 318"/>
                <a:gd name="T11" fmla="*/ 11 h 271"/>
                <a:gd name="T12" fmla="*/ 237 w 318"/>
                <a:gd name="T13" fmla="*/ 0 h 271"/>
                <a:gd name="T14" fmla="*/ 318 w 318"/>
                <a:gd name="T15" fmla="*/ 248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8" h="271">
                  <a:moveTo>
                    <a:pt x="318" y="248"/>
                  </a:moveTo>
                  <a:cubicBezTo>
                    <a:pt x="267" y="263"/>
                    <a:pt x="214" y="271"/>
                    <a:pt x="159" y="271"/>
                  </a:cubicBezTo>
                  <a:cubicBezTo>
                    <a:pt x="104" y="271"/>
                    <a:pt x="50" y="263"/>
                    <a:pt x="0" y="248"/>
                  </a:cubicBezTo>
                  <a:cubicBezTo>
                    <a:pt x="81" y="0"/>
                    <a:pt x="81" y="0"/>
                    <a:pt x="81" y="0"/>
                  </a:cubicBezTo>
                  <a:cubicBezTo>
                    <a:pt x="81" y="0"/>
                    <a:pt x="81" y="0"/>
                    <a:pt x="81" y="0"/>
                  </a:cubicBezTo>
                  <a:cubicBezTo>
                    <a:pt x="106" y="7"/>
                    <a:pt x="132" y="11"/>
                    <a:pt x="159" y="11"/>
                  </a:cubicBezTo>
                  <a:cubicBezTo>
                    <a:pt x="186" y="11"/>
                    <a:pt x="212" y="7"/>
                    <a:pt x="237" y="0"/>
                  </a:cubicBezTo>
                  <a:lnTo>
                    <a:pt x="318" y="248"/>
                  </a:ln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19" name="Freeform 13">
              <a:extLst>
                <a:ext uri="{FF2B5EF4-FFF2-40B4-BE49-F238E27FC236}">
                  <a16:creationId xmlns:a16="http://schemas.microsoft.com/office/drawing/2014/main" id="{24D0A83B-F472-4023-869F-C8AC1B56EA8E}"/>
                </a:ext>
              </a:extLst>
            </p:cNvPr>
            <p:cNvSpPr>
              <a:spLocks/>
            </p:cNvSpPr>
            <p:nvPr/>
          </p:nvSpPr>
          <p:spPr bwMode="auto">
            <a:xfrm rot="19612097" flipH="1">
              <a:off x="1281911" y="5193387"/>
              <a:ext cx="1006475" cy="1016000"/>
            </a:xfrm>
            <a:custGeom>
              <a:avLst/>
              <a:gdLst>
                <a:gd name="T0" fmla="*/ 337 w 337"/>
                <a:gd name="T1" fmla="*/ 153 h 340"/>
                <a:gd name="T2" fmla="*/ 81 w 337"/>
                <a:gd name="T3" fmla="*/ 340 h 340"/>
                <a:gd name="T4" fmla="*/ 0 w 337"/>
                <a:gd name="T5" fmla="*/ 92 h 340"/>
                <a:gd name="T6" fmla="*/ 127 w 337"/>
                <a:gd name="T7" fmla="*/ 0 h 340"/>
                <a:gd name="T8" fmla="*/ 337 w 337"/>
                <a:gd name="T9" fmla="*/ 153 h 340"/>
              </a:gdLst>
              <a:ahLst/>
              <a:cxnLst>
                <a:cxn ang="0">
                  <a:pos x="T0" y="T1"/>
                </a:cxn>
                <a:cxn ang="0">
                  <a:pos x="T2" y="T3"/>
                </a:cxn>
                <a:cxn ang="0">
                  <a:pos x="T4" y="T5"/>
                </a:cxn>
                <a:cxn ang="0">
                  <a:pos x="T6" y="T7"/>
                </a:cxn>
                <a:cxn ang="0">
                  <a:pos x="T8" y="T9"/>
                </a:cxn>
              </a:cxnLst>
              <a:rect l="0" t="0" r="r" b="b"/>
              <a:pathLst>
                <a:path w="337" h="340">
                  <a:moveTo>
                    <a:pt x="337" y="153"/>
                  </a:moveTo>
                  <a:cubicBezTo>
                    <a:pt x="273" y="238"/>
                    <a:pt x="184" y="304"/>
                    <a:pt x="81" y="340"/>
                  </a:cubicBezTo>
                  <a:cubicBezTo>
                    <a:pt x="0" y="92"/>
                    <a:pt x="0" y="92"/>
                    <a:pt x="0" y="92"/>
                  </a:cubicBezTo>
                  <a:cubicBezTo>
                    <a:pt x="51" y="74"/>
                    <a:pt x="94" y="41"/>
                    <a:pt x="127" y="0"/>
                  </a:cubicBezTo>
                  <a:lnTo>
                    <a:pt x="337" y="153"/>
                  </a:ln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a:p>
          </p:txBody>
        </p:sp>
        <p:sp>
          <p:nvSpPr>
            <p:cNvPr id="20" name="Freeform 14">
              <a:extLst>
                <a:ext uri="{FF2B5EF4-FFF2-40B4-BE49-F238E27FC236}">
                  <a16:creationId xmlns:a16="http://schemas.microsoft.com/office/drawing/2014/main" id="{C88394C7-D3D2-4390-9B7D-BB98764D7E91}"/>
                </a:ext>
              </a:extLst>
            </p:cNvPr>
            <p:cNvSpPr>
              <a:spLocks/>
            </p:cNvSpPr>
            <p:nvPr/>
          </p:nvSpPr>
          <p:spPr bwMode="auto">
            <a:xfrm rot="19612097" flipH="1">
              <a:off x="713351" y="4993167"/>
              <a:ext cx="922338" cy="901700"/>
            </a:xfrm>
            <a:custGeom>
              <a:avLst/>
              <a:gdLst>
                <a:gd name="T0" fmla="*/ 309 w 309"/>
                <a:gd name="T1" fmla="*/ 0 h 302"/>
                <a:gd name="T2" fmla="*/ 211 w 309"/>
                <a:gd name="T3" fmla="*/ 302 h 302"/>
                <a:gd name="T4" fmla="*/ 0 w 309"/>
                <a:gd name="T5" fmla="*/ 149 h 302"/>
                <a:gd name="T6" fmla="*/ 49 w 309"/>
                <a:gd name="T7" fmla="*/ 0 h 302"/>
                <a:gd name="T8" fmla="*/ 309 w 309"/>
                <a:gd name="T9" fmla="*/ 0 h 302"/>
              </a:gdLst>
              <a:ahLst/>
              <a:cxnLst>
                <a:cxn ang="0">
                  <a:pos x="T0" y="T1"/>
                </a:cxn>
                <a:cxn ang="0">
                  <a:pos x="T2" y="T3"/>
                </a:cxn>
                <a:cxn ang="0">
                  <a:pos x="T4" y="T5"/>
                </a:cxn>
                <a:cxn ang="0">
                  <a:pos x="T6" y="T7"/>
                </a:cxn>
                <a:cxn ang="0">
                  <a:pos x="T8" y="T9"/>
                </a:cxn>
              </a:cxnLst>
              <a:rect l="0" t="0" r="r" b="b"/>
              <a:pathLst>
                <a:path w="309" h="302">
                  <a:moveTo>
                    <a:pt x="309" y="0"/>
                  </a:moveTo>
                  <a:cubicBezTo>
                    <a:pt x="307" y="112"/>
                    <a:pt x="271" y="216"/>
                    <a:pt x="211" y="302"/>
                  </a:cubicBezTo>
                  <a:cubicBezTo>
                    <a:pt x="0" y="149"/>
                    <a:pt x="0" y="149"/>
                    <a:pt x="0" y="149"/>
                  </a:cubicBezTo>
                  <a:cubicBezTo>
                    <a:pt x="29" y="106"/>
                    <a:pt x="47" y="55"/>
                    <a:pt x="49" y="0"/>
                  </a:cubicBezTo>
                  <a:lnTo>
                    <a:pt x="309" y="0"/>
                  </a:lnTo>
                  <a:close/>
                </a:path>
              </a:pathLst>
            </a:custGeom>
            <a:grpFill/>
            <a:ln w="111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ID" dirty="0"/>
            </a:p>
          </p:txBody>
        </p:sp>
      </p:grpSp>
      <p:sp>
        <p:nvSpPr>
          <p:cNvPr id="24" name="TextBox 23">
            <a:extLst>
              <a:ext uri="{FF2B5EF4-FFF2-40B4-BE49-F238E27FC236}">
                <a16:creationId xmlns:a16="http://schemas.microsoft.com/office/drawing/2014/main" id="{58F528F4-06AE-4F0A-920A-C6EC05D909DF}"/>
              </a:ext>
            </a:extLst>
          </p:cNvPr>
          <p:cNvSpPr txBox="1"/>
          <p:nvPr/>
        </p:nvSpPr>
        <p:spPr>
          <a:xfrm>
            <a:off x="822761" y="5322624"/>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01</a:t>
            </a:r>
            <a:endParaRPr lang="en-ID" b="1" dirty="0">
              <a:solidFill>
                <a:schemeClr val="bg1"/>
              </a:solidFill>
            </a:endParaRPr>
          </a:p>
        </p:txBody>
      </p:sp>
      <p:sp>
        <p:nvSpPr>
          <p:cNvPr id="25" name="TextBox 24">
            <a:extLst>
              <a:ext uri="{FF2B5EF4-FFF2-40B4-BE49-F238E27FC236}">
                <a16:creationId xmlns:a16="http://schemas.microsoft.com/office/drawing/2014/main" id="{0D70928E-45BD-4D49-A9C6-4001B4B91FBE}"/>
              </a:ext>
            </a:extLst>
          </p:cNvPr>
          <p:cNvSpPr txBox="1"/>
          <p:nvPr/>
        </p:nvSpPr>
        <p:spPr>
          <a:xfrm>
            <a:off x="1511722" y="5579732"/>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02</a:t>
            </a:r>
            <a:endParaRPr lang="en-ID" b="1" dirty="0">
              <a:solidFill>
                <a:schemeClr val="bg1"/>
              </a:solidFill>
            </a:endParaRPr>
          </a:p>
        </p:txBody>
      </p:sp>
      <p:sp>
        <p:nvSpPr>
          <p:cNvPr id="27" name="TextBox 26">
            <a:extLst>
              <a:ext uri="{FF2B5EF4-FFF2-40B4-BE49-F238E27FC236}">
                <a16:creationId xmlns:a16="http://schemas.microsoft.com/office/drawing/2014/main" id="{EFCD2D44-5645-4C4F-BF3B-DF7CB0D60AD2}"/>
              </a:ext>
            </a:extLst>
          </p:cNvPr>
          <p:cNvSpPr txBox="1"/>
          <p:nvPr/>
        </p:nvSpPr>
        <p:spPr>
          <a:xfrm>
            <a:off x="2278283" y="5322624"/>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03</a:t>
            </a:r>
            <a:endParaRPr lang="en-ID" b="1" dirty="0">
              <a:solidFill>
                <a:schemeClr val="bg1"/>
              </a:solidFill>
            </a:endParaRPr>
          </a:p>
        </p:txBody>
      </p:sp>
      <p:sp>
        <p:nvSpPr>
          <p:cNvPr id="28" name="TextBox 27">
            <a:extLst>
              <a:ext uri="{FF2B5EF4-FFF2-40B4-BE49-F238E27FC236}">
                <a16:creationId xmlns:a16="http://schemas.microsoft.com/office/drawing/2014/main" id="{5185493B-FA7B-44AE-BBFE-0CAF48C3C5E3}"/>
              </a:ext>
            </a:extLst>
          </p:cNvPr>
          <p:cNvSpPr txBox="1"/>
          <p:nvPr/>
        </p:nvSpPr>
        <p:spPr>
          <a:xfrm>
            <a:off x="2771658" y="4781710"/>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04</a:t>
            </a:r>
            <a:endParaRPr lang="en-ID" b="1" dirty="0">
              <a:solidFill>
                <a:schemeClr val="bg1"/>
              </a:solidFill>
            </a:endParaRPr>
          </a:p>
        </p:txBody>
      </p:sp>
      <p:sp>
        <p:nvSpPr>
          <p:cNvPr id="29" name="TextBox 28">
            <a:extLst>
              <a:ext uri="{FF2B5EF4-FFF2-40B4-BE49-F238E27FC236}">
                <a16:creationId xmlns:a16="http://schemas.microsoft.com/office/drawing/2014/main" id="{D4925C90-1A49-41A9-975C-5D8907B884D0}"/>
              </a:ext>
            </a:extLst>
          </p:cNvPr>
          <p:cNvSpPr txBox="1"/>
          <p:nvPr/>
        </p:nvSpPr>
        <p:spPr>
          <a:xfrm>
            <a:off x="2817378" y="4027740"/>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05</a:t>
            </a:r>
            <a:endParaRPr lang="en-ID" b="1" dirty="0">
              <a:solidFill>
                <a:schemeClr val="bg1"/>
              </a:solidFill>
            </a:endParaRPr>
          </a:p>
        </p:txBody>
      </p:sp>
      <p:sp>
        <p:nvSpPr>
          <p:cNvPr id="30" name="TextBox 29">
            <a:extLst>
              <a:ext uri="{FF2B5EF4-FFF2-40B4-BE49-F238E27FC236}">
                <a16:creationId xmlns:a16="http://schemas.microsoft.com/office/drawing/2014/main" id="{CF8D8594-FD92-4A9B-BEF6-14F2FD300423}"/>
              </a:ext>
            </a:extLst>
          </p:cNvPr>
          <p:cNvSpPr txBox="1"/>
          <p:nvPr/>
        </p:nvSpPr>
        <p:spPr>
          <a:xfrm>
            <a:off x="2484224" y="3288677"/>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06</a:t>
            </a:r>
            <a:endParaRPr lang="en-ID" b="1" dirty="0">
              <a:solidFill>
                <a:schemeClr val="bg1"/>
              </a:solidFill>
            </a:endParaRPr>
          </a:p>
        </p:txBody>
      </p:sp>
      <p:sp>
        <p:nvSpPr>
          <p:cNvPr id="31" name="TextBox 30">
            <a:extLst>
              <a:ext uri="{FF2B5EF4-FFF2-40B4-BE49-F238E27FC236}">
                <a16:creationId xmlns:a16="http://schemas.microsoft.com/office/drawing/2014/main" id="{6C0C60ED-FE00-430F-99CC-0BBE083F2000}"/>
              </a:ext>
            </a:extLst>
          </p:cNvPr>
          <p:cNvSpPr txBox="1"/>
          <p:nvPr/>
        </p:nvSpPr>
        <p:spPr>
          <a:xfrm>
            <a:off x="2492137" y="2542360"/>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07</a:t>
            </a:r>
            <a:endParaRPr lang="en-ID" b="1" dirty="0">
              <a:solidFill>
                <a:schemeClr val="bg1"/>
              </a:solidFill>
            </a:endParaRPr>
          </a:p>
        </p:txBody>
      </p:sp>
      <p:sp>
        <p:nvSpPr>
          <p:cNvPr id="43" name="TextBox 42">
            <a:extLst>
              <a:ext uri="{FF2B5EF4-FFF2-40B4-BE49-F238E27FC236}">
                <a16:creationId xmlns:a16="http://schemas.microsoft.com/office/drawing/2014/main" id="{64E8F17A-86D1-4ED8-A929-336BFA42E850}"/>
              </a:ext>
            </a:extLst>
          </p:cNvPr>
          <p:cNvSpPr txBox="1"/>
          <p:nvPr/>
        </p:nvSpPr>
        <p:spPr>
          <a:xfrm>
            <a:off x="2982251" y="1926902"/>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08</a:t>
            </a:r>
            <a:endParaRPr lang="en-ID" b="1" dirty="0">
              <a:solidFill>
                <a:schemeClr val="bg1"/>
              </a:solidFill>
            </a:endParaRPr>
          </a:p>
        </p:txBody>
      </p:sp>
      <p:sp>
        <p:nvSpPr>
          <p:cNvPr id="44" name="TextBox 43">
            <a:extLst>
              <a:ext uri="{FF2B5EF4-FFF2-40B4-BE49-F238E27FC236}">
                <a16:creationId xmlns:a16="http://schemas.microsoft.com/office/drawing/2014/main" id="{5A78109F-87A4-45A9-9D22-F7CF775F9A46}"/>
              </a:ext>
            </a:extLst>
          </p:cNvPr>
          <p:cNvSpPr txBox="1"/>
          <p:nvPr/>
        </p:nvSpPr>
        <p:spPr>
          <a:xfrm>
            <a:off x="4481157" y="1926902"/>
            <a:ext cx="546852" cy="276999"/>
          </a:xfrm>
          <a:prstGeom prst="rect">
            <a:avLst/>
          </a:prstGeom>
          <a:noFill/>
        </p:spPr>
        <p:txBody>
          <a:bodyPr wrap="square" lIns="0" tIns="0" rIns="0" bIns="0" rtlCol="0" anchor="ctr" anchorCtr="0">
            <a:spAutoFit/>
          </a:bodyPr>
          <a:lstStyle/>
          <a:p>
            <a:pPr algn="ctr"/>
            <a:r>
              <a:rPr lang="id-ID" b="1" dirty="0">
                <a:solidFill>
                  <a:schemeClr val="bg1"/>
                </a:solidFill>
              </a:rPr>
              <a:t>10</a:t>
            </a:r>
            <a:endParaRPr lang="en-ID" b="1" dirty="0">
              <a:solidFill>
                <a:schemeClr val="bg1"/>
              </a:solidFill>
            </a:endParaRPr>
          </a:p>
        </p:txBody>
      </p:sp>
      <p:sp>
        <p:nvSpPr>
          <p:cNvPr id="45" name="TextBox 44">
            <a:extLst>
              <a:ext uri="{FF2B5EF4-FFF2-40B4-BE49-F238E27FC236}">
                <a16:creationId xmlns:a16="http://schemas.microsoft.com/office/drawing/2014/main" id="{9945EDA9-3E0C-4055-BB7A-506AA1FB5CB4}"/>
              </a:ext>
            </a:extLst>
          </p:cNvPr>
          <p:cNvSpPr txBox="1"/>
          <p:nvPr/>
        </p:nvSpPr>
        <p:spPr>
          <a:xfrm>
            <a:off x="3753167" y="1682786"/>
            <a:ext cx="546852" cy="276999"/>
          </a:xfrm>
          <a:prstGeom prst="rect">
            <a:avLst/>
          </a:prstGeom>
          <a:noFill/>
        </p:spPr>
        <p:txBody>
          <a:bodyPr wrap="square" lIns="0" tIns="0" rIns="0" bIns="0" rtlCol="0" anchor="ctr" anchorCtr="0">
            <a:spAutoFit/>
          </a:bodyPr>
          <a:lstStyle/>
          <a:p>
            <a:pPr algn="ctr"/>
            <a:r>
              <a:rPr lang="id-ID" b="1" dirty="0">
                <a:solidFill>
                  <a:schemeClr val="bg1"/>
                </a:solidFill>
              </a:rPr>
              <a:t>09</a:t>
            </a:r>
            <a:endParaRPr lang="en-ID" b="1" dirty="0">
              <a:solidFill>
                <a:schemeClr val="bg1"/>
              </a:solidFill>
            </a:endParaRPr>
          </a:p>
        </p:txBody>
      </p:sp>
      <p:sp>
        <p:nvSpPr>
          <p:cNvPr id="137" name="Title 1">
            <a:extLst>
              <a:ext uri="{FF2B5EF4-FFF2-40B4-BE49-F238E27FC236}">
                <a16:creationId xmlns:a16="http://schemas.microsoft.com/office/drawing/2014/main" id="{E527A75C-6BA4-42B6-AAEE-34C38BBAF415}"/>
              </a:ext>
            </a:extLst>
          </p:cNvPr>
          <p:cNvSpPr txBox="1">
            <a:spLocks/>
          </p:cNvSpPr>
          <p:nvPr/>
        </p:nvSpPr>
        <p:spPr>
          <a:xfrm>
            <a:off x="228600" y="521098"/>
            <a:ext cx="5285141" cy="844550"/>
          </a:xfrm>
          <a:prstGeom prst="rect">
            <a:avLst/>
          </a:prstGeom>
        </p:spPr>
        <p:txBody>
          <a:bodyPr vert="horz" lIns="91440" tIns="45720" rIns="91440" bIns="45720" rtlCol="0" anchor="t" anchorCtr="0">
            <a:normAutofit fontScale="925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ru-RU"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Е</a:t>
            </a:r>
            <a:r>
              <a:rPr lang="ru-RU" dirty="0" smtClean="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фективност при </a:t>
            </a:r>
            <a:r>
              <a:rPr lang="ru-RU"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IT </a:t>
            </a:r>
            <a:r>
              <a:rPr lang="ru-RU" dirty="0" smtClean="0">
                <a:solidFill>
                  <a:srgbClr val="404040"/>
                </a:solidFill>
                <a:latin typeface="Segoe UI Light" panose="020B0502040204020203" pitchFamily="34" charset="0"/>
                <a:ea typeface="Segoe UI Black" panose="020B0A02040204020203" pitchFamily="34" charset="0"/>
                <a:cs typeface="Segoe UI Light" panose="020B0502040204020203" pitchFamily="34" charset="0"/>
              </a:rPr>
              <a:t>проекта</a:t>
            </a:r>
            <a:endParaRPr lang="en-US" dirty="0">
              <a:solidFill>
                <a:srgbClr val="404040"/>
              </a:solidFill>
              <a:latin typeface="Segoe UI Light" panose="020B0502040204020203" pitchFamily="34" charset="0"/>
              <a:ea typeface="Segoe UI Black" panose="020B0A02040204020203" pitchFamily="34" charset="0"/>
              <a:cs typeface="Segoe UI Light" panose="020B0502040204020203" pitchFamily="34" charset="0"/>
            </a:endParaRPr>
          </a:p>
        </p:txBody>
      </p:sp>
      <p:grpSp>
        <p:nvGrpSpPr>
          <p:cNvPr id="26" name="Group 25">
            <a:extLst>
              <a:ext uri="{FF2B5EF4-FFF2-40B4-BE49-F238E27FC236}">
                <a16:creationId xmlns:a16="http://schemas.microsoft.com/office/drawing/2014/main" id="{B5EA5B69-46E4-46C4-8C7B-6801EE0878D7}"/>
              </a:ext>
            </a:extLst>
          </p:cNvPr>
          <p:cNvGrpSpPr/>
          <p:nvPr/>
        </p:nvGrpSpPr>
        <p:grpSpPr>
          <a:xfrm>
            <a:off x="5621724" y="521098"/>
            <a:ext cx="2827569" cy="615553"/>
            <a:chOff x="5621724" y="521098"/>
            <a:chExt cx="2827569" cy="615553"/>
          </a:xfrm>
        </p:grpSpPr>
        <p:sp>
          <p:nvSpPr>
            <p:cNvPr id="49" name="TextBox 48">
              <a:extLst>
                <a:ext uri="{FF2B5EF4-FFF2-40B4-BE49-F238E27FC236}">
                  <a16:creationId xmlns:a16="http://schemas.microsoft.com/office/drawing/2014/main" id="{04240F81-AEF7-461A-8297-D722C1DC40B5}"/>
                </a:ext>
              </a:extLst>
            </p:cNvPr>
            <p:cNvSpPr txBox="1"/>
            <p:nvPr/>
          </p:nvSpPr>
          <p:spPr>
            <a:xfrm>
              <a:off x="5621724" y="521098"/>
              <a:ext cx="293793" cy="276999"/>
            </a:xfrm>
            <a:prstGeom prst="rect">
              <a:avLst/>
            </a:prstGeom>
            <a:noFill/>
          </p:spPr>
          <p:txBody>
            <a:bodyPr wrap="square" lIns="0" tIns="0" rIns="0" bIns="0" rtlCol="0">
              <a:spAutoFit/>
            </a:bodyPr>
            <a:lstStyle/>
            <a:p>
              <a:r>
                <a:rPr lang="id-ID" b="1" dirty="0">
                  <a:solidFill>
                    <a:srgbClr val="06C25B"/>
                  </a:solidFill>
                </a:rPr>
                <a:t>01</a:t>
              </a:r>
              <a:endParaRPr lang="en-ID" dirty="0">
                <a:solidFill>
                  <a:srgbClr val="06C25B"/>
                </a:solidFill>
              </a:endParaRPr>
            </a:p>
          </p:txBody>
        </p:sp>
        <p:sp>
          <p:nvSpPr>
            <p:cNvPr id="109" name="TextBox 108">
              <a:extLst>
                <a:ext uri="{FF2B5EF4-FFF2-40B4-BE49-F238E27FC236}">
                  <a16:creationId xmlns:a16="http://schemas.microsoft.com/office/drawing/2014/main" id="{7053356F-66F8-45EC-AE36-CE5D0C3675D5}"/>
                </a:ext>
              </a:extLst>
            </p:cNvPr>
            <p:cNvSpPr txBox="1"/>
            <p:nvPr/>
          </p:nvSpPr>
          <p:spPr>
            <a:xfrm>
              <a:off x="6000442" y="521098"/>
              <a:ext cx="2448851" cy="615553"/>
            </a:xfrm>
            <a:prstGeom prst="rect">
              <a:avLst/>
            </a:prstGeom>
            <a:noFill/>
          </p:spPr>
          <p:txBody>
            <a:bodyPr wrap="square" lIns="0" tIns="0" rIns="0" bIns="0" rtlCol="0">
              <a:spAutoFit/>
            </a:bodyPr>
            <a:lstStyle>
              <a:defPPr>
                <a:defRPr lang="en-US"/>
              </a:defPPr>
              <a:lvl1pPr algn="ctr">
                <a:defRPr sz="1600" b="1"/>
              </a:lvl1pPr>
            </a:lstStyle>
            <a:p>
              <a:pPr algn="l"/>
              <a:r>
                <a:rPr lang="ru-RU" sz="2000" dirty="0"/>
                <a:t>Присъствайте на етапите на планиране</a:t>
              </a:r>
              <a:endParaRPr lang="en-ID" sz="2000" dirty="0"/>
            </a:p>
          </p:txBody>
        </p:sp>
      </p:grpSp>
      <p:grpSp>
        <p:nvGrpSpPr>
          <p:cNvPr id="32" name="Group 31">
            <a:extLst>
              <a:ext uri="{FF2B5EF4-FFF2-40B4-BE49-F238E27FC236}">
                <a16:creationId xmlns:a16="http://schemas.microsoft.com/office/drawing/2014/main" id="{881E5E46-9B3D-478C-BE10-6DA5B34B6A12}"/>
              </a:ext>
            </a:extLst>
          </p:cNvPr>
          <p:cNvGrpSpPr/>
          <p:nvPr/>
        </p:nvGrpSpPr>
        <p:grpSpPr>
          <a:xfrm>
            <a:off x="5610195" y="1762501"/>
            <a:ext cx="2839098" cy="615553"/>
            <a:chOff x="5610195" y="1762501"/>
            <a:chExt cx="2839098" cy="615553"/>
          </a:xfrm>
        </p:grpSpPr>
        <p:sp>
          <p:nvSpPr>
            <p:cNvPr id="83" name="TextBox 82">
              <a:extLst>
                <a:ext uri="{FF2B5EF4-FFF2-40B4-BE49-F238E27FC236}">
                  <a16:creationId xmlns:a16="http://schemas.microsoft.com/office/drawing/2014/main" id="{74E219A7-D997-4EB1-B275-17A2FD9533BA}"/>
                </a:ext>
              </a:extLst>
            </p:cNvPr>
            <p:cNvSpPr txBox="1"/>
            <p:nvPr/>
          </p:nvSpPr>
          <p:spPr>
            <a:xfrm>
              <a:off x="5610195" y="1762501"/>
              <a:ext cx="293793" cy="276999"/>
            </a:xfrm>
            <a:prstGeom prst="rect">
              <a:avLst/>
            </a:prstGeom>
            <a:noFill/>
          </p:spPr>
          <p:txBody>
            <a:bodyPr wrap="square" lIns="0" tIns="0" rIns="0" bIns="0" rtlCol="0">
              <a:spAutoFit/>
            </a:bodyPr>
            <a:lstStyle/>
            <a:p>
              <a:r>
                <a:rPr lang="id-ID" b="1" dirty="0">
                  <a:solidFill>
                    <a:srgbClr val="06C25B"/>
                  </a:solidFill>
                </a:rPr>
                <a:t>02</a:t>
              </a:r>
              <a:endParaRPr lang="en-ID" dirty="0">
                <a:solidFill>
                  <a:srgbClr val="06C25B"/>
                </a:solidFill>
              </a:endParaRPr>
            </a:p>
          </p:txBody>
        </p:sp>
        <p:sp>
          <p:nvSpPr>
            <p:cNvPr id="112" name="TextBox 111">
              <a:extLst>
                <a:ext uri="{FF2B5EF4-FFF2-40B4-BE49-F238E27FC236}">
                  <a16:creationId xmlns:a16="http://schemas.microsoft.com/office/drawing/2014/main" id="{31253DA6-F059-4461-A5E8-3B87864F07DB}"/>
                </a:ext>
              </a:extLst>
            </p:cNvPr>
            <p:cNvSpPr txBox="1"/>
            <p:nvPr/>
          </p:nvSpPr>
          <p:spPr>
            <a:xfrm>
              <a:off x="6000442" y="1762501"/>
              <a:ext cx="2448851" cy="615553"/>
            </a:xfrm>
            <a:prstGeom prst="rect">
              <a:avLst/>
            </a:prstGeom>
            <a:noFill/>
          </p:spPr>
          <p:txBody>
            <a:bodyPr wrap="square" lIns="0" tIns="0" rIns="0" bIns="0" rtlCol="0">
              <a:spAutoFit/>
            </a:bodyPr>
            <a:lstStyle>
              <a:defPPr>
                <a:defRPr lang="en-US"/>
              </a:defPPr>
              <a:lvl1pPr algn="ctr">
                <a:defRPr sz="1600" b="1"/>
              </a:lvl1pPr>
            </a:lstStyle>
            <a:p>
              <a:pPr algn="l"/>
              <a:r>
                <a:rPr lang="bg-BG" sz="2000" dirty="0"/>
                <a:t>Управлявайте </a:t>
              </a:r>
              <a:r>
                <a:rPr lang="bg-BG" sz="2000" dirty="0" smtClean="0"/>
                <a:t>времето</a:t>
              </a:r>
              <a:r>
                <a:rPr lang="en-US" sz="2000" dirty="0" smtClean="0"/>
                <a:t> </a:t>
              </a:r>
              <a:r>
                <a:rPr lang="bg-BG" sz="2000" dirty="0" smtClean="0"/>
                <a:t>си </a:t>
              </a:r>
              <a:r>
                <a:rPr lang="bg-BG" sz="2000" dirty="0"/>
                <a:t>разумно</a:t>
              </a:r>
              <a:endParaRPr lang="en-ID" sz="2000" dirty="0"/>
            </a:p>
          </p:txBody>
        </p:sp>
      </p:grpSp>
      <p:grpSp>
        <p:nvGrpSpPr>
          <p:cNvPr id="33" name="Group 32">
            <a:extLst>
              <a:ext uri="{FF2B5EF4-FFF2-40B4-BE49-F238E27FC236}">
                <a16:creationId xmlns:a16="http://schemas.microsoft.com/office/drawing/2014/main" id="{7FC03C6A-7C7E-4294-85AA-D895E7E899D0}"/>
              </a:ext>
            </a:extLst>
          </p:cNvPr>
          <p:cNvGrpSpPr/>
          <p:nvPr/>
        </p:nvGrpSpPr>
        <p:grpSpPr>
          <a:xfrm>
            <a:off x="5610195" y="3003904"/>
            <a:ext cx="2839098" cy="615553"/>
            <a:chOff x="5610195" y="3003904"/>
            <a:chExt cx="2839098" cy="615553"/>
          </a:xfrm>
        </p:grpSpPr>
        <p:sp>
          <p:nvSpPr>
            <p:cNvPr id="87" name="TextBox 86">
              <a:extLst>
                <a:ext uri="{FF2B5EF4-FFF2-40B4-BE49-F238E27FC236}">
                  <a16:creationId xmlns:a16="http://schemas.microsoft.com/office/drawing/2014/main" id="{77EB554E-65E7-40FE-8359-25F966A5CCBB}"/>
                </a:ext>
              </a:extLst>
            </p:cNvPr>
            <p:cNvSpPr txBox="1"/>
            <p:nvPr/>
          </p:nvSpPr>
          <p:spPr>
            <a:xfrm>
              <a:off x="5610195" y="3003904"/>
              <a:ext cx="293793" cy="276999"/>
            </a:xfrm>
            <a:prstGeom prst="rect">
              <a:avLst/>
            </a:prstGeom>
            <a:noFill/>
          </p:spPr>
          <p:txBody>
            <a:bodyPr wrap="square" lIns="0" tIns="0" rIns="0" bIns="0" rtlCol="0">
              <a:spAutoFit/>
            </a:bodyPr>
            <a:lstStyle/>
            <a:p>
              <a:r>
                <a:rPr lang="id-ID" b="1" dirty="0">
                  <a:solidFill>
                    <a:srgbClr val="06C25B"/>
                  </a:solidFill>
                </a:rPr>
                <a:t>03</a:t>
              </a:r>
              <a:endParaRPr lang="en-ID" dirty="0">
                <a:solidFill>
                  <a:srgbClr val="06C25B"/>
                </a:solidFill>
              </a:endParaRPr>
            </a:p>
          </p:txBody>
        </p:sp>
        <p:sp>
          <p:nvSpPr>
            <p:cNvPr id="115" name="TextBox 114">
              <a:extLst>
                <a:ext uri="{FF2B5EF4-FFF2-40B4-BE49-F238E27FC236}">
                  <a16:creationId xmlns:a16="http://schemas.microsoft.com/office/drawing/2014/main" id="{0D42BDB0-DF06-40F1-B3F7-5EA518802F0B}"/>
                </a:ext>
              </a:extLst>
            </p:cNvPr>
            <p:cNvSpPr txBox="1"/>
            <p:nvPr/>
          </p:nvSpPr>
          <p:spPr>
            <a:xfrm>
              <a:off x="6000442" y="3003904"/>
              <a:ext cx="2448851" cy="615553"/>
            </a:xfrm>
            <a:prstGeom prst="rect">
              <a:avLst/>
            </a:prstGeom>
            <a:noFill/>
          </p:spPr>
          <p:txBody>
            <a:bodyPr wrap="square" lIns="0" tIns="0" rIns="0" bIns="0" rtlCol="0">
              <a:spAutoFit/>
            </a:bodyPr>
            <a:lstStyle>
              <a:defPPr>
                <a:defRPr lang="en-US"/>
              </a:defPPr>
              <a:lvl1pPr algn="ctr">
                <a:defRPr sz="1600" b="1"/>
              </a:lvl1pPr>
            </a:lstStyle>
            <a:p>
              <a:pPr algn="l"/>
              <a:r>
                <a:rPr lang="bg-BG" sz="2000" dirty="0"/>
                <a:t>Провеждайте редовни срещи</a:t>
              </a:r>
              <a:endParaRPr lang="en-ID" sz="2000" dirty="0"/>
            </a:p>
          </p:txBody>
        </p:sp>
      </p:grpSp>
      <p:grpSp>
        <p:nvGrpSpPr>
          <p:cNvPr id="34" name="Group 33">
            <a:extLst>
              <a:ext uri="{FF2B5EF4-FFF2-40B4-BE49-F238E27FC236}">
                <a16:creationId xmlns:a16="http://schemas.microsoft.com/office/drawing/2014/main" id="{06016269-3548-4799-A6C2-6A977B95AFBA}"/>
              </a:ext>
            </a:extLst>
          </p:cNvPr>
          <p:cNvGrpSpPr/>
          <p:nvPr/>
        </p:nvGrpSpPr>
        <p:grpSpPr>
          <a:xfrm>
            <a:off x="5610194" y="4245307"/>
            <a:ext cx="2939445" cy="923330"/>
            <a:chOff x="5610195" y="4245307"/>
            <a:chExt cx="2839098" cy="923330"/>
          </a:xfrm>
        </p:grpSpPr>
        <p:sp>
          <p:nvSpPr>
            <p:cNvPr id="91" name="TextBox 90">
              <a:extLst>
                <a:ext uri="{FF2B5EF4-FFF2-40B4-BE49-F238E27FC236}">
                  <a16:creationId xmlns:a16="http://schemas.microsoft.com/office/drawing/2014/main" id="{90CA2C32-B32F-4E8A-B8D7-3A33D623B76E}"/>
                </a:ext>
              </a:extLst>
            </p:cNvPr>
            <p:cNvSpPr txBox="1"/>
            <p:nvPr/>
          </p:nvSpPr>
          <p:spPr>
            <a:xfrm>
              <a:off x="5610195" y="4245307"/>
              <a:ext cx="293793" cy="276999"/>
            </a:xfrm>
            <a:prstGeom prst="rect">
              <a:avLst/>
            </a:prstGeom>
            <a:noFill/>
          </p:spPr>
          <p:txBody>
            <a:bodyPr wrap="square" lIns="0" tIns="0" rIns="0" bIns="0" rtlCol="0">
              <a:spAutoFit/>
            </a:bodyPr>
            <a:lstStyle/>
            <a:p>
              <a:r>
                <a:rPr lang="id-ID" b="1" dirty="0">
                  <a:solidFill>
                    <a:srgbClr val="06C25B"/>
                  </a:solidFill>
                </a:rPr>
                <a:t>04</a:t>
              </a:r>
              <a:endParaRPr lang="en-ID" dirty="0">
                <a:solidFill>
                  <a:srgbClr val="06C25B"/>
                </a:solidFill>
              </a:endParaRPr>
            </a:p>
          </p:txBody>
        </p:sp>
        <p:sp>
          <p:nvSpPr>
            <p:cNvPr id="139" name="TextBox 138">
              <a:extLst>
                <a:ext uri="{FF2B5EF4-FFF2-40B4-BE49-F238E27FC236}">
                  <a16:creationId xmlns:a16="http://schemas.microsoft.com/office/drawing/2014/main" id="{5F3349A0-8239-4241-A8A2-7A244471E06C}"/>
                </a:ext>
              </a:extLst>
            </p:cNvPr>
            <p:cNvSpPr txBox="1"/>
            <p:nvPr/>
          </p:nvSpPr>
          <p:spPr>
            <a:xfrm>
              <a:off x="6000442" y="4245307"/>
              <a:ext cx="2448851" cy="923330"/>
            </a:xfrm>
            <a:prstGeom prst="rect">
              <a:avLst/>
            </a:prstGeom>
            <a:noFill/>
          </p:spPr>
          <p:txBody>
            <a:bodyPr wrap="square" lIns="0" tIns="0" rIns="0" bIns="0" rtlCol="0">
              <a:spAutoFit/>
            </a:bodyPr>
            <a:lstStyle>
              <a:defPPr>
                <a:defRPr lang="en-US"/>
              </a:defPPr>
              <a:lvl1pPr algn="ctr">
                <a:defRPr sz="1600" b="1"/>
              </a:lvl1pPr>
            </a:lstStyle>
            <a:p>
              <a:pPr algn="l"/>
              <a:r>
                <a:rPr lang="bg-BG" sz="2000" dirty="0"/>
                <a:t>Внедрете мобилни </a:t>
              </a:r>
              <a:r>
                <a:rPr lang="bg-BG" sz="2000" dirty="0" smtClean="0"/>
                <a:t>технологии</a:t>
              </a:r>
              <a:r>
                <a:rPr lang="en-US" sz="2000" dirty="0" smtClean="0"/>
                <a:t>(</a:t>
              </a:r>
              <a:r>
                <a:rPr lang="bg-BG" sz="2000" dirty="0" smtClean="0"/>
                <a:t>социални</a:t>
              </a:r>
              <a:r>
                <a:rPr lang="en-US" sz="2000" dirty="0" smtClean="0"/>
                <a:t>)</a:t>
              </a:r>
              <a:endParaRPr lang="en-ID" sz="2000" dirty="0"/>
            </a:p>
          </p:txBody>
        </p:sp>
      </p:grpSp>
      <p:grpSp>
        <p:nvGrpSpPr>
          <p:cNvPr id="35" name="Group 34">
            <a:extLst>
              <a:ext uri="{FF2B5EF4-FFF2-40B4-BE49-F238E27FC236}">
                <a16:creationId xmlns:a16="http://schemas.microsoft.com/office/drawing/2014/main" id="{148B5D84-E635-4DCE-9FCD-64C7A4AEB885}"/>
              </a:ext>
            </a:extLst>
          </p:cNvPr>
          <p:cNvGrpSpPr/>
          <p:nvPr/>
        </p:nvGrpSpPr>
        <p:grpSpPr>
          <a:xfrm>
            <a:off x="5610195" y="5486710"/>
            <a:ext cx="2839098" cy="615553"/>
            <a:chOff x="5610195" y="5486710"/>
            <a:chExt cx="2839098" cy="615553"/>
          </a:xfrm>
        </p:grpSpPr>
        <p:sp>
          <p:nvSpPr>
            <p:cNvPr id="95" name="TextBox 94">
              <a:extLst>
                <a:ext uri="{FF2B5EF4-FFF2-40B4-BE49-F238E27FC236}">
                  <a16:creationId xmlns:a16="http://schemas.microsoft.com/office/drawing/2014/main" id="{8A352A73-C601-4042-9945-568951722B6E}"/>
                </a:ext>
              </a:extLst>
            </p:cNvPr>
            <p:cNvSpPr txBox="1"/>
            <p:nvPr/>
          </p:nvSpPr>
          <p:spPr>
            <a:xfrm>
              <a:off x="5610195" y="5486710"/>
              <a:ext cx="293793" cy="276999"/>
            </a:xfrm>
            <a:prstGeom prst="rect">
              <a:avLst/>
            </a:prstGeom>
            <a:noFill/>
          </p:spPr>
          <p:txBody>
            <a:bodyPr wrap="square" lIns="0" tIns="0" rIns="0" bIns="0" rtlCol="0">
              <a:spAutoFit/>
            </a:bodyPr>
            <a:lstStyle/>
            <a:p>
              <a:r>
                <a:rPr lang="id-ID" b="1" dirty="0">
                  <a:solidFill>
                    <a:srgbClr val="06C25B"/>
                  </a:solidFill>
                </a:rPr>
                <a:t>05</a:t>
              </a:r>
              <a:endParaRPr lang="en-ID" dirty="0">
                <a:solidFill>
                  <a:srgbClr val="06C25B"/>
                </a:solidFill>
              </a:endParaRPr>
            </a:p>
          </p:txBody>
        </p:sp>
        <p:sp>
          <p:nvSpPr>
            <p:cNvPr id="142" name="TextBox 141">
              <a:extLst>
                <a:ext uri="{FF2B5EF4-FFF2-40B4-BE49-F238E27FC236}">
                  <a16:creationId xmlns:a16="http://schemas.microsoft.com/office/drawing/2014/main" id="{694A40A1-E828-4DB5-866A-AF935D2D4635}"/>
                </a:ext>
              </a:extLst>
            </p:cNvPr>
            <p:cNvSpPr txBox="1"/>
            <p:nvPr/>
          </p:nvSpPr>
          <p:spPr>
            <a:xfrm>
              <a:off x="6000442" y="5486710"/>
              <a:ext cx="2448851" cy="615553"/>
            </a:xfrm>
            <a:prstGeom prst="rect">
              <a:avLst/>
            </a:prstGeom>
            <a:noFill/>
          </p:spPr>
          <p:txBody>
            <a:bodyPr wrap="square" lIns="0" tIns="0" rIns="0" bIns="0" rtlCol="0">
              <a:spAutoFit/>
            </a:bodyPr>
            <a:lstStyle>
              <a:defPPr>
                <a:defRPr lang="en-US"/>
              </a:defPPr>
              <a:lvl1pPr algn="ctr">
                <a:defRPr sz="1600" b="1"/>
              </a:lvl1pPr>
            </a:lstStyle>
            <a:p>
              <a:pPr algn="l"/>
              <a:r>
                <a:rPr lang="bg-BG" sz="2000" dirty="0" smtClean="0"/>
                <a:t>Изхвърлете хартията, преминете дигитално</a:t>
              </a:r>
              <a:endParaRPr lang="en-ID" sz="2000" dirty="0"/>
            </a:p>
          </p:txBody>
        </p:sp>
      </p:grpSp>
      <p:grpSp>
        <p:nvGrpSpPr>
          <p:cNvPr id="36" name="Group 35">
            <a:extLst>
              <a:ext uri="{FF2B5EF4-FFF2-40B4-BE49-F238E27FC236}">
                <a16:creationId xmlns:a16="http://schemas.microsoft.com/office/drawing/2014/main" id="{B4C39502-0A91-4925-AA49-18C7C6540E77}"/>
              </a:ext>
            </a:extLst>
          </p:cNvPr>
          <p:cNvGrpSpPr/>
          <p:nvPr/>
        </p:nvGrpSpPr>
        <p:grpSpPr>
          <a:xfrm>
            <a:off x="8828011" y="521098"/>
            <a:ext cx="2830589" cy="307777"/>
            <a:chOff x="8828011" y="521098"/>
            <a:chExt cx="2830589" cy="307777"/>
          </a:xfrm>
        </p:grpSpPr>
        <p:sp>
          <p:nvSpPr>
            <p:cNvPr id="120" name="TextBox 119">
              <a:extLst>
                <a:ext uri="{FF2B5EF4-FFF2-40B4-BE49-F238E27FC236}">
                  <a16:creationId xmlns:a16="http://schemas.microsoft.com/office/drawing/2014/main" id="{BBC1C7F3-8C0B-41FD-8DB7-4726DF4209B6}"/>
                </a:ext>
              </a:extLst>
            </p:cNvPr>
            <p:cNvSpPr txBox="1"/>
            <p:nvPr/>
          </p:nvSpPr>
          <p:spPr>
            <a:xfrm>
              <a:off x="8828011" y="521098"/>
              <a:ext cx="293793" cy="276999"/>
            </a:xfrm>
            <a:prstGeom prst="rect">
              <a:avLst/>
            </a:prstGeom>
            <a:noFill/>
          </p:spPr>
          <p:txBody>
            <a:bodyPr wrap="square" lIns="0" tIns="0" rIns="0" bIns="0" rtlCol="0">
              <a:spAutoFit/>
            </a:bodyPr>
            <a:lstStyle/>
            <a:p>
              <a:r>
                <a:rPr lang="id-ID" b="1" dirty="0">
                  <a:solidFill>
                    <a:srgbClr val="06C25B"/>
                  </a:solidFill>
                </a:rPr>
                <a:t>06</a:t>
              </a:r>
              <a:endParaRPr lang="en-ID" dirty="0">
                <a:solidFill>
                  <a:srgbClr val="06C25B"/>
                </a:solidFill>
              </a:endParaRPr>
            </a:p>
          </p:txBody>
        </p:sp>
        <p:sp>
          <p:nvSpPr>
            <p:cNvPr id="145" name="TextBox 144">
              <a:extLst>
                <a:ext uri="{FF2B5EF4-FFF2-40B4-BE49-F238E27FC236}">
                  <a16:creationId xmlns:a16="http://schemas.microsoft.com/office/drawing/2014/main" id="{194D7269-99B0-4494-9C1A-37199A0823D1}"/>
                </a:ext>
              </a:extLst>
            </p:cNvPr>
            <p:cNvSpPr txBox="1"/>
            <p:nvPr/>
          </p:nvSpPr>
          <p:spPr>
            <a:xfrm>
              <a:off x="9209749" y="521098"/>
              <a:ext cx="2448851" cy="307777"/>
            </a:xfrm>
            <a:prstGeom prst="rect">
              <a:avLst/>
            </a:prstGeom>
            <a:noFill/>
          </p:spPr>
          <p:txBody>
            <a:bodyPr wrap="square" lIns="0" tIns="0" rIns="0" bIns="0" rtlCol="0">
              <a:spAutoFit/>
            </a:bodyPr>
            <a:lstStyle>
              <a:defPPr>
                <a:defRPr lang="en-US"/>
              </a:defPPr>
              <a:lvl1pPr algn="ctr">
                <a:defRPr sz="1600" b="1"/>
              </a:lvl1pPr>
            </a:lstStyle>
            <a:p>
              <a:pPr algn="l"/>
              <a:r>
                <a:rPr lang="bg-BG" sz="2000" dirty="0"/>
                <a:t>Осигурете </a:t>
              </a:r>
              <a:r>
                <a:rPr lang="bg-BG" sz="2000" dirty="0" smtClean="0"/>
                <a:t>стимул</a:t>
              </a:r>
              <a:endParaRPr lang="en-ID" sz="2000" dirty="0"/>
            </a:p>
          </p:txBody>
        </p:sp>
      </p:grpSp>
      <p:grpSp>
        <p:nvGrpSpPr>
          <p:cNvPr id="37" name="Group 36">
            <a:extLst>
              <a:ext uri="{FF2B5EF4-FFF2-40B4-BE49-F238E27FC236}">
                <a16:creationId xmlns:a16="http://schemas.microsoft.com/office/drawing/2014/main" id="{45135BFB-48D2-4BDC-B969-F63C30B285D2}"/>
              </a:ext>
            </a:extLst>
          </p:cNvPr>
          <p:cNvGrpSpPr/>
          <p:nvPr/>
        </p:nvGrpSpPr>
        <p:grpSpPr>
          <a:xfrm>
            <a:off x="8816309" y="1482004"/>
            <a:ext cx="2830589" cy="615553"/>
            <a:chOff x="8828011" y="1762501"/>
            <a:chExt cx="2830589" cy="615553"/>
          </a:xfrm>
        </p:grpSpPr>
        <p:sp>
          <p:nvSpPr>
            <p:cNvPr id="124" name="TextBox 123">
              <a:extLst>
                <a:ext uri="{FF2B5EF4-FFF2-40B4-BE49-F238E27FC236}">
                  <a16:creationId xmlns:a16="http://schemas.microsoft.com/office/drawing/2014/main" id="{A165A1C2-0B22-4473-9B94-22D6EA6E6C01}"/>
                </a:ext>
              </a:extLst>
            </p:cNvPr>
            <p:cNvSpPr txBox="1"/>
            <p:nvPr/>
          </p:nvSpPr>
          <p:spPr>
            <a:xfrm>
              <a:off x="8828011" y="1762501"/>
              <a:ext cx="293793" cy="276999"/>
            </a:xfrm>
            <a:prstGeom prst="rect">
              <a:avLst/>
            </a:prstGeom>
            <a:noFill/>
          </p:spPr>
          <p:txBody>
            <a:bodyPr wrap="square" lIns="0" tIns="0" rIns="0" bIns="0" rtlCol="0">
              <a:spAutoFit/>
            </a:bodyPr>
            <a:lstStyle/>
            <a:p>
              <a:r>
                <a:rPr lang="id-ID" b="1" dirty="0">
                  <a:solidFill>
                    <a:srgbClr val="06C25B"/>
                  </a:solidFill>
                </a:rPr>
                <a:t>07</a:t>
              </a:r>
              <a:endParaRPr lang="en-ID" dirty="0">
                <a:solidFill>
                  <a:srgbClr val="06C25B"/>
                </a:solidFill>
              </a:endParaRPr>
            </a:p>
          </p:txBody>
        </p:sp>
        <p:sp>
          <p:nvSpPr>
            <p:cNvPr id="154" name="TextBox 153">
              <a:extLst>
                <a:ext uri="{FF2B5EF4-FFF2-40B4-BE49-F238E27FC236}">
                  <a16:creationId xmlns:a16="http://schemas.microsoft.com/office/drawing/2014/main" id="{683DF147-CE2B-4EB0-880F-3B2AD165928E}"/>
                </a:ext>
              </a:extLst>
            </p:cNvPr>
            <p:cNvSpPr txBox="1"/>
            <p:nvPr/>
          </p:nvSpPr>
          <p:spPr>
            <a:xfrm>
              <a:off x="9209749" y="1762501"/>
              <a:ext cx="2448851" cy="615553"/>
            </a:xfrm>
            <a:prstGeom prst="rect">
              <a:avLst/>
            </a:prstGeom>
            <a:noFill/>
          </p:spPr>
          <p:txBody>
            <a:bodyPr wrap="square" lIns="0" tIns="0" rIns="0" bIns="0" rtlCol="0">
              <a:spAutoFit/>
            </a:bodyPr>
            <a:lstStyle>
              <a:defPPr>
                <a:defRPr lang="en-US"/>
              </a:defPPr>
              <a:lvl1pPr algn="ctr">
                <a:defRPr sz="1600" b="1"/>
              </a:lvl1pPr>
            </a:lstStyle>
            <a:p>
              <a:pPr algn="l"/>
              <a:r>
                <a:rPr lang="bg-BG" sz="2000" dirty="0" smtClean="0"/>
                <a:t>Срещайте се редовно с работниците</a:t>
              </a:r>
              <a:endParaRPr lang="en-ID" sz="2000" dirty="0"/>
            </a:p>
          </p:txBody>
        </p:sp>
      </p:grpSp>
      <p:grpSp>
        <p:nvGrpSpPr>
          <p:cNvPr id="38" name="Group 37">
            <a:extLst>
              <a:ext uri="{FF2B5EF4-FFF2-40B4-BE49-F238E27FC236}">
                <a16:creationId xmlns:a16="http://schemas.microsoft.com/office/drawing/2014/main" id="{5905CDB9-CE29-45AB-B990-E71BA0E97615}"/>
              </a:ext>
            </a:extLst>
          </p:cNvPr>
          <p:cNvGrpSpPr/>
          <p:nvPr/>
        </p:nvGrpSpPr>
        <p:grpSpPr>
          <a:xfrm>
            <a:off x="8816309" y="2723407"/>
            <a:ext cx="2830589" cy="615553"/>
            <a:chOff x="8828011" y="3003904"/>
            <a:chExt cx="2830589" cy="615553"/>
          </a:xfrm>
        </p:grpSpPr>
        <p:sp>
          <p:nvSpPr>
            <p:cNvPr id="128" name="TextBox 127">
              <a:extLst>
                <a:ext uri="{FF2B5EF4-FFF2-40B4-BE49-F238E27FC236}">
                  <a16:creationId xmlns:a16="http://schemas.microsoft.com/office/drawing/2014/main" id="{DEA2CF15-FFD9-4A1C-B09D-C04737C004CC}"/>
                </a:ext>
              </a:extLst>
            </p:cNvPr>
            <p:cNvSpPr txBox="1"/>
            <p:nvPr/>
          </p:nvSpPr>
          <p:spPr>
            <a:xfrm>
              <a:off x="8828011" y="3003904"/>
              <a:ext cx="293793" cy="276999"/>
            </a:xfrm>
            <a:prstGeom prst="rect">
              <a:avLst/>
            </a:prstGeom>
            <a:noFill/>
          </p:spPr>
          <p:txBody>
            <a:bodyPr wrap="square" lIns="0" tIns="0" rIns="0" bIns="0" rtlCol="0">
              <a:spAutoFit/>
            </a:bodyPr>
            <a:lstStyle/>
            <a:p>
              <a:r>
                <a:rPr lang="id-ID" b="1" dirty="0">
                  <a:solidFill>
                    <a:srgbClr val="06C25B"/>
                  </a:solidFill>
                </a:rPr>
                <a:t>08</a:t>
              </a:r>
              <a:endParaRPr lang="en-ID" dirty="0">
                <a:solidFill>
                  <a:srgbClr val="06C25B"/>
                </a:solidFill>
              </a:endParaRPr>
            </a:p>
          </p:txBody>
        </p:sp>
        <p:sp>
          <p:nvSpPr>
            <p:cNvPr id="165" name="TextBox 164">
              <a:extLst>
                <a:ext uri="{FF2B5EF4-FFF2-40B4-BE49-F238E27FC236}">
                  <a16:creationId xmlns:a16="http://schemas.microsoft.com/office/drawing/2014/main" id="{21F48538-6578-4234-8D68-F4E72DF09C79}"/>
                </a:ext>
              </a:extLst>
            </p:cNvPr>
            <p:cNvSpPr txBox="1"/>
            <p:nvPr/>
          </p:nvSpPr>
          <p:spPr>
            <a:xfrm>
              <a:off x="9209749" y="3003904"/>
              <a:ext cx="2448851" cy="615553"/>
            </a:xfrm>
            <a:prstGeom prst="rect">
              <a:avLst/>
            </a:prstGeom>
            <a:noFill/>
          </p:spPr>
          <p:txBody>
            <a:bodyPr wrap="square" lIns="0" tIns="0" rIns="0" bIns="0" rtlCol="0">
              <a:spAutoFit/>
            </a:bodyPr>
            <a:lstStyle>
              <a:defPPr>
                <a:defRPr lang="en-US"/>
              </a:defPPr>
              <a:lvl1pPr algn="ctr">
                <a:defRPr sz="1600" b="1"/>
              </a:lvl1pPr>
            </a:lstStyle>
            <a:p>
              <a:pPr algn="l"/>
              <a:r>
                <a:rPr lang="bg-BG" sz="2000" dirty="0" smtClean="0"/>
                <a:t>Следете продуктивността</a:t>
              </a:r>
              <a:endParaRPr lang="en-ID" sz="2000" dirty="0"/>
            </a:p>
          </p:txBody>
        </p:sp>
      </p:grpSp>
      <p:grpSp>
        <p:nvGrpSpPr>
          <p:cNvPr id="39" name="Group 38">
            <a:extLst>
              <a:ext uri="{FF2B5EF4-FFF2-40B4-BE49-F238E27FC236}">
                <a16:creationId xmlns:a16="http://schemas.microsoft.com/office/drawing/2014/main" id="{83D33F9B-23D8-42CF-B939-F73E382B320D}"/>
              </a:ext>
            </a:extLst>
          </p:cNvPr>
          <p:cNvGrpSpPr/>
          <p:nvPr/>
        </p:nvGrpSpPr>
        <p:grpSpPr>
          <a:xfrm>
            <a:off x="8816309" y="3964810"/>
            <a:ext cx="3112529" cy="923330"/>
            <a:chOff x="8828011" y="4245307"/>
            <a:chExt cx="2830589" cy="923330"/>
          </a:xfrm>
        </p:grpSpPr>
        <p:sp>
          <p:nvSpPr>
            <p:cNvPr id="132" name="TextBox 131">
              <a:extLst>
                <a:ext uri="{FF2B5EF4-FFF2-40B4-BE49-F238E27FC236}">
                  <a16:creationId xmlns:a16="http://schemas.microsoft.com/office/drawing/2014/main" id="{B45BE87F-6E4E-48BD-AF68-8195D3339EF8}"/>
                </a:ext>
              </a:extLst>
            </p:cNvPr>
            <p:cNvSpPr txBox="1"/>
            <p:nvPr/>
          </p:nvSpPr>
          <p:spPr>
            <a:xfrm>
              <a:off x="8828011" y="4245307"/>
              <a:ext cx="293793" cy="276999"/>
            </a:xfrm>
            <a:prstGeom prst="rect">
              <a:avLst/>
            </a:prstGeom>
            <a:noFill/>
          </p:spPr>
          <p:txBody>
            <a:bodyPr wrap="square" lIns="0" tIns="0" rIns="0" bIns="0" rtlCol="0">
              <a:spAutoFit/>
            </a:bodyPr>
            <a:lstStyle/>
            <a:p>
              <a:r>
                <a:rPr lang="id-ID" b="1" dirty="0">
                  <a:solidFill>
                    <a:srgbClr val="06C25B"/>
                  </a:solidFill>
                </a:rPr>
                <a:t>09</a:t>
              </a:r>
              <a:endParaRPr lang="en-ID" dirty="0">
                <a:solidFill>
                  <a:srgbClr val="06C25B"/>
                </a:solidFill>
              </a:endParaRPr>
            </a:p>
          </p:txBody>
        </p:sp>
        <p:sp>
          <p:nvSpPr>
            <p:cNvPr id="168" name="TextBox 167">
              <a:extLst>
                <a:ext uri="{FF2B5EF4-FFF2-40B4-BE49-F238E27FC236}">
                  <a16:creationId xmlns:a16="http://schemas.microsoft.com/office/drawing/2014/main" id="{E4AA789B-4E5F-4B25-9DA7-7519B6A4C33D}"/>
                </a:ext>
              </a:extLst>
            </p:cNvPr>
            <p:cNvSpPr txBox="1"/>
            <p:nvPr/>
          </p:nvSpPr>
          <p:spPr>
            <a:xfrm>
              <a:off x="9209749" y="4245307"/>
              <a:ext cx="2448851" cy="923330"/>
            </a:xfrm>
            <a:prstGeom prst="rect">
              <a:avLst/>
            </a:prstGeom>
            <a:noFill/>
          </p:spPr>
          <p:txBody>
            <a:bodyPr wrap="square" lIns="0" tIns="0" rIns="0" bIns="0" rtlCol="0">
              <a:spAutoFit/>
            </a:bodyPr>
            <a:lstStyle>
              <a:defPPr>
                <a:defRPr lang="en-US"/>
              </a:defPPr>
              <a:lvl1pPr algn="ctr">
                <a:defRPr sz="1600" b="1"/>
              </a:lvl1pPr>
            </a:lstStyle>
            <a:p>
              <a:pPr algn="l"/>
              <a:r>
                <a:rPr lang="ru-RU" sz="2000" dirty="0"/>
                <a:t>Поддържайте </a:t>
              </a:r>
              <a:r>
                <a:rPr lang="ru-RU" sz="2000" dirty="0" smtClean="0"/>
                <a:t>постоянна комуникация</a:t>
              </a:r>
              <a:endParaRPr lang="en-ID" sz="2000" dirty="0"/>
            </a:p>
          </p:txBody>
        </p:sp>
      </p:grpSp>
      <p:grpSp>
        <p:nvGrpSpPr>
          <p:cNvPr id="40" name="Group 39">
            <a:extLst>
              <a:ext uri="{FF2B5EF4-FFF2-40B4-BE49-F238E27FC236}">
                <a16:creationId xmlns:a16="http://schemas.microsoft.com/office/drawing/2014/main" id="{A94A01CD-EAB4-4A54-897C-9A56AE043DDF}"/>
              </a:ext>
            </a:extLst>
          </p:cNvPr>
          <p:cNvGrpSpPr/>
          <p:nvPr/>
        </p:nvGrpSpPr>
        <p:grpSpPr>
          <a:xfrm>
            <a:off x="8816309" y="5206213"/>
            <a:ext cx="2830589" cy="923330"/>
            <a:chOff x="8828011" y="5486710"/>
            <a:chExt cx="2830589" cy="923330"/>
          </a:xfrm>
        </p:grpSpPr>
        <p:sp>
          <p:nvSpPr>
            <p:cNvPr id="136" name="TextBox 135">
              <a:extLst>
                <a:ext uri="{FF2B5EF4-FFF2-40B4-BE49-F238E27FC236}">
                  <a16:creationId xmlns:a16="http://schemas.microsoft.com/office/drawing/2014/main" id="{6D16536F-92BF-41D5-A7FA-7E2F34D7F37E}"/>
                </a:ext>
              </a:extLst>
            </p:cNvPr>
            <p:cNvSpPr txBox="1"/>
            <p:nvPr/>
          </p:nvSpPr>
          <p:spPr>
            <a:xfrm>
              <a:off x="8828011" y="5486710"/>
              <a:ext cx="293793" cy="276999"/>
            </a:xfrm>
            <a:prstGeom prst="rect">
              <a:avLst/>
            </a:prstGeom>
            <a:noFill/>
          </p:spPr>
          <p:txBody>
            <a:bodyPr wrap="square" lIns="0" tIns="0" rIns="0" bIns="0" rtlCol="0">
              <a:spAutoFit/>
            </a:bodyPr>
            <a:lstStyle/>
            <a:p>
              <a:r>
                <a:rPr lang="id-ID" b="1" dirty="0">
                  <a:solidFill>
                    <a:srgbClr val="06C25B"/>
                  </a:solidFill>
                </a:rPr>
                <a:t>10</a:t>
              </a:r>
              <a:endParaRPr lang="en-ID" dirty="0">
                <a:solidFill>
                  <a:srgbClr val="06C25B"/>
                </a:solidFill>
              </a:endParaRPr>
            </a:p>
          </p:txBody>
        </p:sp>
        <p:sp>
          <p:nvSpPr>
            <p:cNvPr id="171" name="TextBox 170">
              <a:extLst>
                <a:ext uri="{FF2B5EF4-FFF2-40B4-BE49-F238E27FC236}">
                  <a16:creationId xmlns:a16="http://schemas.microsoft.com/office/drawing/2014/main" id="{B60BD348-8A36-453B-81D5-237A0972E588}"/>
                </a:ext>
              </a:extLst>
            </p:cNvPr>
            <p:cNvSpPr txBox="1"/>
            <p:nvPr/>
          </p:nvSpPr>
          <p:spPr>
            <a:xfrm>
              <a:off x="9209749" y="5486710"/>
              <a:ext cx="2448851" cy="923330"/>
            </a:xfrm>
            <a:prstGeom prst="rect">
              <a:avLst/>
            </a:prstGeom>
            <a:noFill/>
          </p:spPr>
          <p:txBody>
            <a:bodyPr wrap="square" lIns="0" tIns="0" rIns="0" bIns="0" rtlCol="0">
              <a:spAutoFit/>
            </a:bodyPr>
            <a:lstStyle>
              <a:defPPr>
                <a:defRPr lang="en-US"/>
              </a:defPPr>
              <a:lvl1pPr algn="ctr">
                <a:defRPr sz="1600" b="1"/>
              </a:lvl1pPr>
            </a:lstStyle>
            <a:p>
              <a:pPr algn="l"/>
              <a:r>
                <a:rPr lang="bg-BG" sz="2000" dirty="0" smtClean="0"/>
                <a:t>Подобрете удовлетвореността на служителите си</a:t>
              </a:r>
              <a:endParaRPr lang="en-ID" sz="2000" dirty="0"/>
            </a:p>
          </p:txBody>
        </p:sp>
      </p:grpSp>
      <p:sp>
        <p:nvSpPr>
          <p:cNvPr id="96" name="Freeform 95">
            <a:extLst>
              <a:ext uri="{FF2B5EF4-FFF2-40B4-BE49-F238E27FC236}">
                <a16:creationId xmlns:a16="http://schemas.microsoft.com/office/drawing/2014/main" id="{78033E4A-8048-4C3E-BFCD-790BD1D9E0FD}"/>
              </a:ext>
            </a:extLst>
          </p:cNvPr>
          <p:cNvSpPr>
            <a:spLocks/>
          </p:cNvSpPr>
          <p:nvPr/>
        </p:nvSpPr>
        <p:spPr bwMode="auto">
          <a:xfrm>
            <a:off x="1373169" y="3838329"/>
            <a:ext cx="1043811" cy="1188434"/>
          </a:xfrm>
          <a:custGeom>
            <a:avLst/>
            <a:gdLst>
              <a:gd name="T0" fmla="*/ 697 w 697"/>
              <a:gd name="T1" fmla="*/ 570 h 795"/>
              <a:gd name="T2" fmla="*/ 697 w 697"/>
              <a:gd name="T3" fmla="*/ 225 h 795"/>
              <a:gd name="T4" fmla="*/ 672 w 697"/>
              <a:gd name="T5" fmla="*/ 181 h 795"/>
              <a:gd name="T6" fmla="*/ 374 w 697"/>
              <a:gd name="T7" fmla="*/ 9 h 795"/>
              <a:gd name="T8" fmla="*/ 323 w 697"/>
              <a:gd name="T9" fmla="*/ 9 h 795"/>
              <a:gd name="T10" fmla="*/ 25 w 697"/>
              <a:gd name="T11" fmla="*/ 181 h 795"/>
              <a:gd name="T12" fmla="*/ 0 w 697"/>
              <a:gd name="T13" fmla="*/ 225 h 795"/>
              <a:gd name="T14" fmla="*/ 0 w 697"/>
              <a:gd name="T15" fmla="*/ 570 h 795"/>
              <a:gd name="T16" fmla="*/ 25 w 697"/>
              <a:gd name="T17" fmla="*/ 614 h 795"/>
              <a:gd name="T18" fmla="*/ 323 w 697"/>
              <a:gd name="T19" fmla="*/ 786 h 795"/>
              <a:gd name="T20" fmla="*/ 374 w 697"/>
              <a:gd name="T21" fmla="*/ 786 h 795"/>
              <a:gd name="T22" fmla="*/ 672 w 697"/>
              <a:gd name="T23" fmla="*/ 614 h 795"/>
              <a:gd name="T24" fmla="*/ 697 w 697"/>
              <a:gd name="T25" fmla="*/ 57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7" h="795">
                <a:moveTo>
                  <a:pt x="697" y="570"/>
                </a:moveTo>
                <a:cubicBezTo>
                  <a:pt x="697" y="225"/>
                  <a:pt x="697" y="225"/>
                  <a:pt x="697" y="225"/>
                </a:cubicBezTo>
                <a:cubicBezTo>
                  <a:pt x="697" y="207"/>
                  <a:pt x="688" y="190"/>
                  <a:pt x="672" y="181"/>
                </a:cubicBezTo>
                <a:cubicBezTo>
                  <a:pt x="374" y="9"/>
                  <a:pt x="374" y="9"/>
                  <a:pt x="374" y="9"/>
                </a:cubicBezTo>
                <a:cubicBezTo>
                  <a:pt x="358" y="0"/>
                  <a:pt x="339" y="0"/>
                  <a:pt x="323" y="9"/>
                </a:cubicBezTo>
                <a:cubicBezTo>
                  <a:pt x="25" y="181"/>
                  <a:pt x="25" y="181"/>
                  <a:pt x="25" y="181"/>
                </a:cubicBezTo>
                <a:cubicBezTo>
                  <a:pt x="9" y="190"/>
                  <a:pt x="0" y="207"/>
                  <a:pt x="0" y="225"/>
                </a:cubicBezTo>
                <a:cubicBezTo>
                  <a:pt x="0" y="570"/>
                  <a:pt x="0" y="570"/>
                  <a:pt x="0" y="570"/>
                </a:cubicBezTo>
                <a:cubicBezTo>
                  <a:pt x="0" y="588"/>
                  <a:pt x="9" y="604"/>
                  <a:pt x="25" y="614"/>
                </a:cubicBezTo>
                <a:cubicBezTo>
                  <a:pt x="323" y="786"/>
                  <a:pt x="323" y="786"/>
                  <a:pt x="323" y="786"/>
                </a:cubicBezTo>
                <a:cubicBezTo>
                  <a:pt x="339" y="795"/>
                  <a:pt x="358" y="795"/>
                  <a:pt x="374" y="786"/>
                </a:cubicBezTo>
                <a:cubicBezTo>
                  <a:pt x="672" y="614"/>
                  <a:pt x="672" y="614"/>
                  <a:pt x="672" y="614"/>
                </a:cubicBezTo>
                <a:cubicBezTo>
                  <a:pt x="688" y="604"/>
                  <a:pt x="697" y="588"/>
                  <a:pt x="697" y="570"/>
                </a:cubicBezTo>
                <a:close/>
              </a:path>
            </a:pathLst>
          </a:custGeom>
          <a:solidFill>
            <a:schemeClr val="bg1"/>
          </a:solidFill>
          <a:ln w="12700" cap="flat">
            <a:solidFill>
              <a:schemeClr val="bg1">
                <a:lumMod val="85000"/>
              </a:schemeClr>
            </a:solidFill>
            <a:prstDash val="solid"/>
            <a:miter lim="800000"/>
            <a:headEnd/>
            <a:tailEnd/>
          </a:ln>
          <a:effectLst>
            <a:innerShdw blurRad="63500" dist="50800" dir="18900000">
              <a:prstClr val="black">
                <a:alpha val="25000"/>
              </a:prstClr>
            </a:innerShdw>
          </a:effectLst>
        </p:spPr>
        <p:txBody>
          <a:bodyPr vert="horz" wrap="square" lIns="91440" tIns="45720" rIns="91440" bIns="45720" numCol="1" anchor="t" anchorCtr="0" compatLnSpc="1">
            <a:prstTxWarp prst="textNoShape">
              <a:avLst/>
            </a:prstTxWarp>
          </a:bodyPr>
          <a:lstStyle/>
          <a:p>
            <a:endParaRPr lang="en-ID"/>
          </a:p>
        </p:txBody>
      </p:sp>
      <p:grpSp>
        <p:nvGrpSpPr>
          <p:cNvPr id="97" name="Group 84">
            <a:extLst>
              <a:ext uri="{FF2B5EF4-FFF2-40B4-BE49-F238E27FC236}">
                <a16:creationId xmlns:a16="http://schemas.microsoft.com/office/drawing/2014/main" id="{2E244A15-6926-4F98-B03D-F79DFC7511B2}"/>
              </a:ext>
            </a:extLst>
          </p:cNvPr>
          <p:cNvGrpSpPr>
            <a:grpSpLocks noChangeAspect="1"/>
          </p:cNvGrpSpPr>
          <p:nvPr/>
        </p:nvGrpSpPr>
        <p:grpSpPr bwMode="auto">
          <a:xfrm>
            <a:off x="1501612" y="4044052"/>
            <a:ext cx="786924" cy="786924"/>
            <a:chOff x="954" y="2253"/>
            <a:chExt cx="170" cy="170"/>
          </a:xfrm>
          <a:noFill/>
        </p:grpSpPr>
        <p:sp>
          <p:nvSpPr>
            <p:cNvPr id="98" name="Oval 85">
              <a:extLst>
                <a:ext uri="{FF2B5EF4-FFF2-40B4-BE49-F238E27FC236}">
                  <a16:creationId xmlns:a16="http://schemas.microsoft.com/office/drawing/2014/main" id="{D5D0330D-B0AB-44F6-B4B8-DB15D434EDA7}"/>
                </a:ext>
              </a:extLst>
            </p:cNvPr>
            <p:cNvSpPr>
              <a:spLocks noChangeArrowheads="1"/>
            </p:cNvSpPr>
            <p:nvPr/>
          </p:nvSpPr>
          <p:spPr bwMode="auto">
            <a:xfrm>
              <a:off x="969" y="2268"/>
              <a:ext cx="140" cy="140"/>
            </a:xfrm>
            <a:prstGeom prst="ellipse">
              <a:avLst/>
            </a:pr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sp>
          <p:nvSpPr>
            <p:cNvPr id="99" name="Oval 86">
              <a:extLst>
                <a:ext uri="{FF2B5EF4-FFF2-40B4-BE49-F238E27FC236}">
                  <a16:creationId xmlns:a16="http://schemas.microsoft.com/office/drawing/2014/main" id="{F5CFB29C-65AE-4B22-819D-F0859D923F51}"/>
                </a:ext>
              </a:extLst>
            </p:cNvPr>
            <p:cNvSpPr>
              <a:spLocks noChangeArrowheads="1"/>
            </p:cNvSpPr>
            <p:nvPr/>
          </p:nvSpPr>
          <p:spPr bwMode="auto">
            <a:xfrm>
              <a:off x="1006" y="2305"/>
              <a:ext cx="66" cy="66"/>
            </a:xfrm>
            <a:prstGeom prst="ellipse">
              <a:avLst/>
            </a:pr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sp>
          <p:nvSpPr>
            <p:cNvPr id="100" name="Line 87">
              <a:extLst>
                <a:ext uri="{FF2B5EF4-FFF2-40B4-BE49-F238E27FC236}">
                  <a16:creationId xmlns:a16="http://schemas.microsoft.com/office/drawing/2014/main" id="{3A9003B1-70B3-422F-93AC-934726AB4B22}"/>
                </a:ext>
              </a:extLst>
            </p:cNvPr>
            <p:cNvSpPr>
              <a:spLocks noChangeShapeType="1"/>
            </p:cNvSpPr>
            <p:nvPr/>
          </p:nvSpPr>
          <p:spPr bwMode="auto">
            <a:xfrm>
              <a:off x="1039" y="2253"/>
              <a:ext cx="0" cy="170"/>
            </a:xfrm>
            <a:prstGeom prst="line">
              <a:avLst/>
            </a:pr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sp>
          <p:nvSpPr>
            <p:cNvPr id="101" name="Line 88">
              <a:extLst>
                <a:ext uri="{FF2B5EF4-FFF2-40B4-BE49-F238E27FC236}">
                  <a16:creationId xmlns:a16="http://schemas.microsoft.com/office/drawing/2014/main" id="{F5DC87EB-1B0D-46CC-9EDF-673B26F70FC7}"/>
                </a:ext>
              </a:extLst>
            </p:cNvPr>
            <p:cNvSpPr>
              <a:spLocks noChangeShapeType="1"/>
            </p:cNvSpPr>
            <p:nvPr/>
          </p:nvSpPr>
          <p:spPr bwMode="auto">
            <a:xfrm flipH="1">
              <a:off x="954" y="2338"/>
              <a:ext cx="170" cy="0"/>
            </a:xfrm>
            <a:prstGeom prst="line">
              <a:avLst/>
            </a:pr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grpSp>
      <p:sp>
        <p:nvSpPr>
          <p:cNvPr id="102" name="Freeform 5">
            <a:extLst>
              <a:ext uri="{FF2B5EF4-FFF2-40B4-BE49-F238E27FC236}">
                <a16:creationId xmlns:a16="http://schemas.microsoft.com/office/drawing/2014/main" id="{2DB45C2F-6346-48DC-BE82-1099473438AE}"/>
              </a:ext>
            </a:extLst>
          </p:cNvPr>
          <p:cNvSpPr>
            <a:spLocks/>
          </p:cNvSpPr>
          <p:nvPr/>
        </p:nvSpPr>
        <p:spPr bwMode="auto">
          <a:xfrm>
            <a:off x="3344758" y="2500623"/>
            <a:ext cx="1094621" cy="1246284"/>
          </a:xfrm>
          <a:custGeom>
            <a:avLst/>
            <a:gdLst>
              <a:gd name="T0" fmla="*/ 697 w 697"/>
              <a:gd name="T1" fmla="*/ 570 h 795"/>
              <a:gd name="T2" fmla="*/ 697 w 697"/>
              <a:gd name="T3" fmla="*/ 225 h 795"/>
              <a:gd name="T4" fmla="*/ 672 w 697"/>
              <a:gd name="T5" fmla="*/ 181 h 795"/>
              <a:gd name="T6" fmla="*/ 374 w 697"/>
              <a:gd name="T7" fmla="*/ 9 h 795"/>
              <a:gd name="T8" fmla="*/ 323 w 697"/>
              <a:gd name="T9" fmla="*/ 9 h 795"/>
              <a:gd name="T10" fmla="*/ 25 w 697"/>
              <a:gd name="T11" fmla="*/ 181 h 795"/>
              <a:gd name="T12" fmla="*/ 0 w 697"/>
              <a:gd name="T13" fmla="*/ 225 h 795"/>
              <a:gd name="T14" fmla="*/ 0 w 697"/>
              <a:gd name="T15" fmla="*/ 570 h 795"/>
              <a:gd name="T16" fmla="*/ 25 w 697"/>
              <a:gd name="T17" fmla="*/ 614 h 795"/>
              <a:gd name="T18" fmla="*/ 323 w 697"/>
              <a:gd name="T19" fmla="*/ 786 h 795"/>
              <a:gd name="T20" fmla="*/ 374 w 697"/>
              <a:gd name="T21" fmla="*/ 786 h 795"/>
              <a:gd name="T22" fmla="*/ 672 w 697"/>
              <a:gd name="T23" fmla="*/ 614 h 795"/>
              <a:gd name="T24" fmla="*/ 697 w 697"/>
              <a:gd name="T25" fmla="*/ 57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7" h="795">
                <a:moveTo>
                  <a:pt x="697" y="570"/>
                </a:moveTo>
                <a:cubicBezTo>
                  <a:pt x="697" y="225"/>
                  <a:pt x="697" y="225"/>
                  <a:pt x="697" y="225"/>
                </a:cubicBezTo>
                <a:cubicBezTo>
                  <a:pt x="697" y="207"/>
                  <a:pt x="688" y="190"/>
                  <a:pt x="672" y="181"/>
                </a:cubicBezTo>
                <a:cubicBezTo>
                  <a:pt x="374" y="9"/>
                  <a:pt x="374" y="9"/>
                  <a:pt x="374" y="9"/>
                </a:cubicBezTo>
                <a:cubicBezTo>
                  <a:pt x="358" y="0"/>
                  <a:pt x="339" y="0"/>
                  <a:pt x="323" y="9"/>
                </a:cubicBezTo>
                <a:cubicBezTo>
                  <a:pt x="25" y="181"/>
                  <a:pt x="25" y="181"/>
                  <a:pt x="25" y="181"/>
                </a:cubicBezTo>
                <a:cubicBezTo>
                  <a:pt x="9" y="190"/>
                  <a:pt x="0" y="207"/>
                  <a:pt x="0" y="225"/>
                </a:cubicBezTo>
                <a:cubicBezTo>
                  <a:pt x="0" y="570"/>
                  <a:pt x="0" y="570"/>
                  <a:pt x="0" y="570"/>
                </a:cubicBezTo>
                <a:cubicBezTo>
                  <a:pt x="0" y="588"/>
                  <a:pt x="9" y="604"/>
                  <a:pt x="25" y="614"/>
                </a:cubicBezTo>
                <a:cubicBezTo>
                  <a:pt x="323" y="786"/>
                  <a:pt x="323" y="786"/>
                  <a:pt x="323" y="786"/>
                </a:cubicBezTo>
                <a:cubicBezTo>
                  <a:pt x="339" y="795"/>
                  <a:pt x="358" y="795"/>
                  <a:pt x="374" y="786"/>
                </a:cubicBezTo>
                <a:cubicBezTo>
                  <a:pt x="672" y="614"/>
                  <a:pt x="672" y="614"/>
                  <a:pt x="672" y="614"/>
                </a:cubicBezTo>
                <a:cubicBezTo>
                  <a:pt x="688" y="604"/>
                  <a:pt x="697" y="588"/>
                  <a:pt x="697" y="570"/>
                </a:cubicBezTo>
                <a:close/>
              </a:path>
            </a:pathLst>
          </a:custGeom>
          <a:solidFill>
            <a:schemeClr val="bg1"/>
          </a:solidFill>
          <a:ln w="12700" cap="flat">
            <a:solidFill>
              <a:schemeClr val="bg1">
                <a:lumMod val="85000"/>
              </a:schemeClr>
            </a:solidFill>
            <a:prstDash val="solid"/>
            <a:miter lim="800000"/>
            <a:headEnd/>
            <a:tailEnd/>
          </a:ln>
          <a:effectLst>
            <a:innerShdw blurRad="63500" dist="50800" dir="18900000">
              <a:prstClr val="black">
                <a:alpha val="25000"/>
              </a:prstClr>
            </a:innerShdw>
          </a:effectLst>
        </p:spPr>
        <p:txBody>
          <a:bodyPr vert="horz" wrap="square" lIns="91440" tIns="45720" rIns="91440" bIns="45720" numCol="1" anchor="t" anchorCtr="0" compatLnSpc="1">
            <a:prstTxWarp prst="textNoShape">
              <a:avLst/>
            </a:prstTxWarp>
          </a:bodyPr>
          <a:lstStyle/>
          <a:p>
            <a:endParaRPr lang="en-ID"/>
          </a:p>
        </p:txBody>
      </p:sp>
      <p:grpSp>
        <p:nvGrpSpPr>
          <p:cNvPr id="117" name="Group 75">
            <a:extLst>
              <a:ext uri="{FF2B5EF4-FFF2-40B4-BE49-F238E27FC236}">
                <a16:creationId xmlns:a16="http://schemas.microsoft.com/office/drawing/2014/main" id="{EE8E2116-8051-49AB-A109-406FB4926E6F}"/>
              </a:ext>
            </a:extLst>
          </p:cNvPr>
          <p:cNvGrpSpPr>
            <a:grpSpLocks noChangeAspect="1"/>
          </p:cNvGrpSpPr>
          <p:nvPr/>
        </p:nvGrpSpPr>
        <p:grpSpPr bwMode="auto">
          <a:xfrm>
            <a:off x="3607781" y="2765285"/>
            <a:ext cx="571438" cy="722462"/>
            <a:chOff x="1669" y="2244"/>
            <a:chExt cx="140" cy="177"/>
          </a:xfrm>
          <a:noFill/>
        </p:grpSpPr>
        <p:sp>
          <p:nvSpPr>
            <p:cNvPr id="118" name="Freeform 76">
              <a:extLst>
                <a:ext uri="{FF2B5EF4-FFF2-40B4-BE49-F238E27FC236}">
                  <a16:creationId xmlns:a16="http://schemas.microsoft.com/office/drawing/2014/main" id="{321B6056-EDF4-4F61-9BCA-1538860F3568}"/>
                </a:ext>
              </a:extLst>
            </p:cNvPr>
            <p:cNvSpPr>
              <a:spLocks/>
            </p:cNvSpPr>
            <p:nvPr/>
          </p:nvSpPr>
          <p:spPr bwMode="auto">
            <a:xfrm>
              <a:off x="1669" y="2259"/>
              <a:ext cx="140" cy="162"/>
            </a:xfrm>
            <a:custGeom>
              <a:avLst/>
              <a:gdLst>
                <a:gd name="T0" fmla="*/ 125 w 140"/>
                <a:gd name="T1" fmla="*/ 0 h 162"/>
                <a:gd name="T2" fmla="*/ 140 w 140"/>
                <a:gd name="T3" fmla="*/ 0 h 162"/>
                <a:gd name="T4" fmla="*/ 140 w 140"/>
                <a:gd name="T5" fmla="*/ 162 h 162"/>
                <a:gd name="T6" fmla="*/ 0 w 140"/>
                <a:gd name="T7" fmla="*/ 162 h 162"/>
                <a:gd name="T8" fmla="*/ 0 w 140"/>
                <a:gd name="T9" fmla="*/ 0 h 162"/>
                <a:gd name="T10" fmla="*/ 15 w 140"/>
                <a:gd name="T11" fmla="*/ 0 h 162"/>
              </a:gdLst>
              <a:ahLst/>
              <a:cxnLst>
                <a:cxn ang="0">
                  <a:pos x="T0" y="T1"/>
                </a:cxn>
                <a:cxn ang="0">
                  <a:pos x="T2" y="T3"/>
                </a:cxn>
                <a:cxn ang="0">
                  <a:pos x="T4" y="T5"/>
                </a:cxn>
                <a:cxn ang="0">
                  <a:pos x="T6" y="T7"/>
                </a:cxn>
                <a:cxn ang="0">
                  <a:pos x="T8" y="T9"/>
                </a:cxn>
                <a:cxn ang="0">
                  <a:pos x="T10" y="T11"/>
                </a:cxn>
              </a:cxnLst>
              <a:rect l="0" t="0" r="r" b="b"/>
              <a:pathLst>
                <a:path w="140" h="162">
                  <a:moveTo>
                    <a:pt x="125" y="0"/>
                  </a:moveTo>
                  <a:lnTo>
                    <a:pt x="140" y="0"/>
                  </a:lnTo>
                  <a:lnTo>
                    <a:pt x="140" y="162"/>
                  </a:lnTo>
                  <a:lnTo>
                    <a:pt x="0" y="162"/>
                  </a:lnTo>
                  <a:lnTo>
                    <a:pt x="0" y="0"/>
                  </a:lnTo>
                  <a:lnTo>
                    <a:pt x="15" y="0"/>
                  </a:lnTo>
                </a:path>
              </a:pathLst>
            </a:cu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sp>
          <p:nvSpPr>
            <p:cNvPr id="119" name="Freeform 77">
              <a:extLst>
                <a:ext uri="{FF2B5EF4-FFF2-40B4-BE49-F238E27FC236}">
                  <a16:creationId xmlns:a16="http://schemas.microsoft.com/office/drawing/2014/main" id="{E87B4BC3-B6A7-4B19-BF1D-6FB50335600F}"/>
                </a:ext>
              </a:extLst>
            </p:cNvPr>
            <p:cNvSpPr>
              <a:spLocks/>
            </p:cNvSpPr>
            <p:nvPr/>
          </p:nvSpPr>
          <p:spPr bwMode="auto">
            <a:xfrm>
              <a:off x="1700" y="2244"/>
              <a:ext cx="78" cy="38"/>
            </a:xfrm>
            <a:custGeom>
              <a:avLst/>
              <a:gdLst>
                <a:gd name="T0" fmla="*/ 28 w 40"/>
                <a:gd name="T1" fmla="*/ 8 h 20"/>
                <a:gd name="T2" fmla="*/ 20 w 40"/>
                <a:gd name="T3" fmla="*/ 0 h 20"/>
                <a:gd name="T4" fmla="*/ 12 w 40"/>
                <a:gd name="T5" fmla="*/ 8 h 20"/>
                <a:gd name="T6" fmla="*/ 0 w 40"/>
                <a:gd name="T7" fmla="*/ 8 h 20"/>
                <a:gd name="T8" fmla="*/ 0 w 40"/>
                <a:gd name="T9" fmla="*/ 20 h 20"/>
                <a:gd name="T10" fmla="*/ 40 w 40"/>
                <a:gd name="T11" fmla="*/ 20 h 20"/>
                <a:gd name="T12" fmla="*/ 40 w 40"/>
                <a:gd name="T13" fmla="*/ 8 h 20"/>
                <a:gd name="T14" fmla="*/ 28 w 40"/>
                <a:gd name="T15" fmla="*/ 8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20">
                  <a:moveTo>
                    <a:pt x="28" y="8"/>
                  </a:moveTo>
                  <a:cubicBezTo>
                    <a:pt x="28" y="4"/>
                    <a:pt x="24" y="0"/>
                    <a:pt x="20" y="0"/>
                  </a:cubicBezTo>
                  <a:cubicBezTo>
                    <a:pt x="16" y="0"/>
                    <a:pt x="12" y="4"/>
                    <a:pt x="12" y="8"/>
                  </a:cubicBezTo>
                  <a:cubicBezTo>
                    <a:pt x="0" y="8"/>
                    <a:pt x="0" y="8"/>
                    <a:pt x="0" y="8"/>
                  </a:cubicBezTo>
                  <a:cubicBezTo>
                    <a:pt x="0" y="20"/>
                    <a:pt x="0" y="20"/>
                    <a:pt x="0" y="20"/>
                  </a:cubicBezTo>
                  <a:cubicBezTo>
                    <a:pt x="40" y="20"/>
                    <a:pt x="40" y="20"/>
                    <a:pt x="40" y="20"/>
                  </a:cubicBezTo>
                  <a:cubicBezTo>
                    <a:pt x="40" y="8"/>
                    <a:pt x="40" y="8"/>
                    <a:pt x="40" y="8"/>
                  </a:cubicBezTo>
                  <a:lnTo>
                    <a:pt x="28" y="8"/>
                  </a:lnTo>
                  <a:close/>
                </a:path>
              </a:pathLst>
            </a:cu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sp>
          <p:nvSpPr>
            <p:cNvPr id="121" name="Freeform 78">
              <a:extLst>
                <a:ext uri="{FF2B5EF4-FFF2-40B4-BE49-F238E27FC236}">
                  <a16:creationId xmlns:a16="http://schemas.microsoft.com/office/drawing/2014/main" id="{7D8EE81E-9B7C-43BC-B088-A527B8D15754}"/>
                </a:ext>
              </a:extLst>
            </p:cNvPr>
            <p:cNvSpPr>
              <a:spLocks/>
            </p:cNvSpPr>
            <p:nvPr/>
          </p:nvSpPr>
          <p:spPr bwMode="auto">
            <a:xfrm>
              <a:off x="1684" y="2275"/>
              <a:ext cx="110" cy="131"/>
            </a:xfrm>
            <a:custGeom>
              <a:avLst/>
              <a:gdLst>
                <a:gd name="T0" fmla="*/ 16 w 110"/>
                <a:gd name="T1" fmla="*/ 0 h 131"/>
                <a:gd name="T2" fmla="*/ 0 w 110"/>
                <a:gd name="T3" fmla="*/ 0 h 131"/>
                <a:gd name="T4" fmla="*/ 0 w 110"/>
                <a:gd name="T5" fmla="*/ 131 h 131"/>
                <a:gd name="T6" fmla="*/ 78 w 110"/>
                <a:gd name="T7" fmla="*/ 131 h 131"/>
                <a:gd name="T8" fmla="*/ 78 w 110"/>
                <a:gd name="T9" fmla="*/ 100 h 131"/>
                <a:gd name="T10" fmla="*/ 110 w 110"/>
                <a:gd name="T11" fmla="*/ 100 h 131"/>
                <a:gd name="T12" fmla="*/ 110 w 110"/>
                <a:gd name="T13" fmla="*/ 0 h 131"/>
                <a:gd name="T14" fmla="*/ 94 w 110"/>
                <a:gd name="T15" fmla="*/ 0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131">
                  <a:moveTo>
                    <a:pt x="16" y="0"/>
                  </a:moveTo>
                  <a:lnTo>
                    <a:pt x="0" y="0"/>
                  </a:lnTo>
                  <a:lnTo>
                    <a:pt x="0" y="131"/>
                  </a:lnTo>
                  <a:lnTo>
                    <a:pt x="78" y="131"/>
                  </a:lnTo>
                  <a:lnTo>
                    <a:pt x="78" y="100"/>
                  </a:lnTo>
                  <a:lnTo>
                    <a:pt x="110" y="100"/>
                  </a:lnTo>
                  <a:lnTo>
                    <a:pt x="110" y="0"/>
                  </a:lnTo>
                  <a:lnTo>
                    <a:pt x="94" y="0"/>
                  </a:lnTo>
                </a:path>
              </a:pathLst>
            </a:cu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sp>
          <p:nvSpPr>
            <p:cNvPr id="122" name="Line 79">
              <a:extLst>
                <a:ext uri="{FF2B5EF4-FFF2-40B4-BE49-F238E27FC236}">
                  <a16:creationId xmlns:a16="http://schemas.microsoft.com/office/drawing/2014/main" id="{95366D07-B90F-4141-A635-03F554862F93}"/>
                </a:ext>
              </a:extLst>
            </p:cNvPr>
            <p:cNvSpPr>
              <a:spLocks noChangeShapeType="1"/>
            </p:cNvSpPr>
            <p:nvPr/>
          </p:nvSpPr>
          <p:spPr bwMode="auto">
            <a:xfrm flipH="1">
              <a:off x="1762" y="2375"/>
              <a:ext cx="32" cy="31"/>
            </a:xfrm>
            <a:prstGeom prst="line">
              <a:avLst/>
            </a:pr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sp>
          <p:nvSpPr>
            <p:cNvPr id="123" name="Freeform 80">
              <a:extLst>
                <a:ext uri="{FF2B5EF4-FFF2-40B4-BE49-F238E27FC236}">
                  <a16:creationId xmlns:a16="http://schemas.microsoft.com/office/drawing/2014/main" id="{3AC42F72-9F31-4151-AA6D-D5A760DAFF7E}"/>
                </a:ext>
              </a:extLst>
            </p:cNvPr>
            <p:cNvSpPr>
              <a:spLocks/>
            </p:cNvSpPr>
            <p:nvPr/>
          </p:nvSpPr>
          <p:spPr bwMode="auto">
            <a:xfrm>
              <a:off x="1708" y="2313"/>
              <a:ext cx="58" cy="12"/>
            </a:xfrm>
            <a:custGeom>
              <a:avLst/>
              <a:gdLst>
                <a:gd name="T0" fmla="*/ 0 w 30"/>
                <a:gd name="T1" fmla="*/ 6 h 6"/>
                <a:gd name="T2" fmla="*/ 3 w 30"/>
                <a:gd name="T3" fmla="*/ 3 h 6"/>
                <a:gd name="T4" fmla="*/ 9 w 30"/>
                <a:gd name="T5" fmla="*/ 3 h 6"/>
                <a:gd name="T6" fmla="*/ 9 w 30"/>
                <a:gd name="T7" fmla="*/ 3 h 6"/>
                <a:gd name="T8" fmla="*/ 15 w 30"/>
                <a:gd name="T9" fmla="*/ 3 h 6"/>
                <a:gd name="T10" fmla="*/ 15 w 30"/>
                <a:gd name="T11" fmla="*/ 3 h 6"/>
                <a:gd name="T12" fmla="*/ 21 w 30"/>
                <a:gd name="T13" fmla="*/ 3 h 6"/>
                <a:gd name="T14" fmla="*/ 21 w 30"/>
                <a:gd name="T15" fmla="*/ 3 h 6"/>
                <a:gd name="T16" fmla="*/ 27 w 30"/>
                <a:gd name="T17" fmla="*/ 3 h 6"/>
                <a:gd name="T18" fmla="*/ 30 w 30"/>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6">
                  <a:moveTo>
                    <a:pt x="0" y="6"/>
                  </a:moveTo>
                  <a:cubicBezTo>
                    <a:pt x="3" y="3"/>
                    <a:pt x="3" y="3"/>
                    <a:pt x="3" y="3"/>
                  </a:cubicBezTo>
                  <a:cubicBezTo>
                    <a:pt x="5" y="1"/>
                    <a:pt x="7" y="1"/>
                    <a:pt x="9" y="3"/>
                  </a:cubicBezTo>
                  <a:cubicBezTo>
                    <a:pt x="9" y="3"/>
                    <a:pt x="9" y="3"/>
                    <a:pt x="9" y="3"/>
                  </a:cubicBezTo>
                  <a:cubicBezTo>
                    <a:pt x="11" y="5"/>
                    <a:pt x="13" y="5"/>
                    <a:pt x="15" y="3"/>
                  </a:cubicBezTo>
                  <a:cubicBezTo>
                    <a:pt x="15" y="3"/>
                    <a:pt x="15" y="3"/>
                    <a:pt x="15" y="3"/>
                  </a:cubicBezTo>
                  <a:cubicBezTo>
                    <a:pt x="17" y="1"/>
                    <a:pt x="19" y="1"/>
                    <a:pt x="21" y="3"/>
                  </a:cubicBezTo>
                  <a:cubicBezTo>
                    <a:pt x="21" y="3"/>
                    <a:pt x="21" y="3"/>
                    <a:pt x="21" y="3"/>
                  </a:cubicBezTo>
                  <a:cubicBezTo>
                    <a:pt x="23" y="5"/>
                    <a:pt x="25" y="5"/>
                    <a:pt x="27" y="3"/>
                  </a:cubicBezTo>
                  <a:cubicBezTo>
                    <a:pt x="30" y="0"/>
                    <a:pt x="30" y="0"/>
                    <a:pt x="30" y="0"/>
                  </a:cubicBezTo>
                </a:path>
              </a:pathLst>
            </a:cu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sp>
          <p:nvSpPr>
            <p:cNvPr id="125" name="Freeform 81">
              <a:extLst>
                <a:ext uri="{FF2B5EF4-FFF2-40B4-BE49-F238E27FC236}">
                  <a16:creationId xmlns:a16="http://schemas.microsoft.com/office/drawing/2014/main" id="{9339B3D6-EBA1-4CD3-B02D-005F0460ED04}"/>
                </a:ext>
              </a:extLst>
            </p:cNvPr>
            <p:cNvSpPr>
              <a:spLocks/>
            </p:cNvSpPr>
            <p:nvPr/>
          </p:nvSpPr>
          <p:spPr bwMode="auto">
            <a:xfrm>
              <a:off x="1708" y="2344"/>
              <a:ext cx="58" cy="12"/>
            </a:xfrm>
            <a:custGeom>
              <a:avLst/>
              <a:gdLst>
                <a:gd name="T0" fmla="*/ 0 w 30"/>
                <a:gd name="T1" fmla="*/ 6 h 6"/>
                <a:gd name="T2" fmla="*/ 3 w 30"/>
                <a:gd name="T3" fmla="*/ 3 h 6"/>
                <a:gd name="T4" fmla="*/ 9 w 30"/>
                <a:gd name="T5" fmla="*/ 3 h 6"/>
                <a:gd name="T6" fmla="*/ 9 w 30"/>
                <a:gd name="T7" fmla="*/ 3 h 6"/>
                <a:gd name="T8" fmla="*/ 15 w 30"/>
                <a:gd name="T9" fmla="*/ 3 h 6"/>
                <a:gd name="T10" fmla="*/ 15 w 30"/>
                <a:gd name="T11" fmla="*/ 3 h 6"/>
                <a:gd name="T12" fmla="*/ 21 w 30"/>
                <a:gd name="T13" fmla="*/ 3 h 6"/>
                <a:gd name="T14" fmla="*/ 21 w 30"/>
                <a:gd name="T15" fmla="*/ 3 h 6"/>
                <a:gd name="T16" fmla="*/ 27 w 30"/>
                <a:gd name="T17" fmla="*/ 3 h 6"/>
                <a:gd name="T18" fmla="*/ 30 w 30"/>
                <a:gd name="T1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6">
                  <a:moveTo>
                    <a:pt x="0" y="6"/>
                  </a:moveTo>
                  <a:cubicBezTo>
                    <a:pt x="3" y="3"/>
                    <a:pt x="3" y="3"/>
                    <a:pt x="3" y="3"/>
                  </a:cubicBezTo>
                  <a:cubicBezTo>
                    <a:pt x="5" y="1"/>
                    <a:pt x="7" y="1"/>
                    <a:pt x="9" y="3"/>
                  </a:cubicBezTo>
                  <a:cubicBezTo>
                    <a:pt x="9" y="3"/>
                    <a:pt x="9" y="3"/>
                    <a:pt x="9" y="3"/>
                  </a:cubicBezTo>
                  <a:cubicBezTo>
                    <a:pt x="11" y="5"/>
                    <a:pt x="13" y="5"/>
                    <a:pt x="15" y="3"/>
                  </a:cubicBezTo>
                  <a:cubicBezTo>
                    <a:pt x="15" y="3"/>
                    <a:pt x="15" y="3"/>
                    <a:pt x="15" y="3"/>
                  </a:cubicBezTo>
                  <a:cubicBezTo>
                    <a:pt x="17" y="1"/>
                    <a:pt x="19" y="1"/>
                    <a:pt x="21" y="3"/>
                  </a:cubicBezTo>
                  <a:cubicBezTo>
                    <a:pt x="21" y="3"/>
                    <a:pt x="21" y="3"/>
                    <a:pt x="21" y="3"/>
                  </a:cubicBezTo>
                  <a:cubicBezTo>
                    <a:pt x="23" y="5"/>
                    <a:pt x="25" y="5"/>
                    <a:pt x="27" y="3"/>
                  </a:cubicBezTo>
                  <a:cubicBezTo>
                    <a:pt x="30" y="0"/>
                    <a:pt x="30" y="0"/>
                    <a:pt x="30" y="0"/>
                  </a:cubicBezTo>
                </a:path>
              </a:pathLst>
            </a:custGeom>
            <a:grpFill/>
            <a:ln w="15875" cap="rnd">
              <a:solidFill>
                <a:srgbClr val="0CD2CD"/>
              </a:solidFill>
              <a:prstDash val="solid"/>
              <a:round/>
              <a:headEnd/>
              <a:tailEnd/>
            </a:ln>
            <a:extLst/>
          </p:spPr>
          <p:txBody>
            <a:bodyPr vert="horz" wrap="square" lIns="91440" tIns="45720" rIns="91440" bIns="45720" numCol="1" anchor="t" anchorCtr="0" compatLnSpc="1">
              <a:prstTxWarp prst="textNoShape">
                <a:avLst/>
              </a:prstTxWarp>
            </a:bodyPr>
            <a:lstStyle/>
            <a:p>
              <a:endParaRPr lang="en-ID"/>
            </a:p>
          </p:txBody>
        </p:sp>
      </p:grpSp>
    </p:spTree>
    <p:extLst>
      <p:ext uri="{BB962C8B-B14F-4D97-AF65-F5344CB8AC3E}">
        <p14:creationId xmlns:p14="http://schemas.microsoft.com/office/powerpoint/2010/main" val="272048707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1000"/>
                                        <p:tgtEl>
                                          <p:spTgt spid="96"/>
                                        </p:tgtEl>
                                      </p:cBhvr>
                                    </p:animEffect>
                                    <p:anim calcmode="lin" valueType="num">
                                      <p:cBhvr>
                                        <p:cTn id="8" dur="1000" fill="hold"/>
                                        <p:tgtEl>
                                          <p:spTgt spid="96"/>
                                        </p:tgtEl>
                                        <p:attrNameLst>
                                          <p:attrName>ppt_x</p:attrName>
                                        </p:attrNameLst>
                                      </p:cBhvr>
                                      <p:tavLst>
                                        <p:tav tm="0">
                                          <p:val>
                                            <p:strVal val="#ppt_x"/>
                                          </p:val>
                                        </p:tav>
                                        <p:tav tm="100000">
                                          <p:val>
                                            <p:strVal val="#ppt_x"/>
                                          </p:val>
                                        </p:tav>
                                      </p:tavLst>
                                    </p:anim>
                                    <p:anim calcmode="lin" valueType="num">
                                      <p:cBhvr>
                                        <p:cTn id="9" dur="1000" fill="hold"/>
                                        <p:tgtEl>
                                          <p:spTgt spid="9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7"/>
                                        </p:tgtEl>
                                        <p:attrNameLst>
                                          <p:attrName>style.visibility</p:attrName>
                                        </p:attrNameLst>
                                      </p:cBhvr>
                                      <p:to>
                                        <p:strVal val="visible"/>
                                      </p:to>
                                    </p:set>
                                    <p:animEffect transition="in" filter="fade">
                                      <p:cBhvr>
                                        <p:cTn id="12" dur="1000"/>
                                        <p:tgtEl>
                                          <p:spTgt spid="97"/>
                                        </p:tgtEl>
                                      </p:cBhvr>
                                    </p:animEffect>
                                    <p:anim calcmode="lin" valueType="num">
                                      <p:cBhvr>
                                        <p:cTn id="13" dur="1000" fill="hold"/>
                                        <p:tgtEl>
                                          <p:spTgt spid="97"/>
                                        </p:tgtEl>
                                        <p:attrNameLst>
                                          <p:attrName>ppt_x</p:attrName>
                                        </p:attrNameLst>
                                      </p:cBhvr>
                                      <p:tavLst>
                                        <p:tav tm="0">
                                          <p:val>
                                            <p:strVal val="#ppt_x"/>
                                          </p:val>
                                        </p:tav>
                                        <p:tav tm="100000">
                                          <p:val>
                                            <p:strVal val="#ppt_x"/>
                                          </p:val>
                                        </p:tav>
                                      </p:tavLst>
                                    </p:anim>
                                    <p:anim calcmode="lin" valueType="num">
                                      <p:cBhvr>
                                        <p:cTn id="14" dur="1000" fill="hold"/>
                                        <p:tgtEl>
                                          <p:spTgt spid="97"/>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250"/>
                                  </p:stCondLst>
                                  <p:childTnLst>
                                    <p:set>
                                      <p:cBhvr>
                                        <p:cTn id="16" dur="1" fill="hold">
                                          <p:stCondLst>
                                            <p:cond delay="0"/>
                                          </p:stCondLst>
                                        </p:cTn>
                                        <p:tgtEl>
                                          <p:spTgt spid="117"/>
                                        </p:tgtEl>
                                        <p:attrNameLst>
                                          <p:attrName>style.visibility</p:attrName>
                                        </p:attrNameLst>
                                      </p:cBhvr>
                                      <p:to>
                                        <p:strVal val="visible"/>
                                      </p:to>
                                    </p:set>
                                    <p:animEffect transition="in" filter="fade">
                                      <p:cBhvr>
                                        <p:cTn id="17" dur="1000"/>
                                        <p:tgtEl>
                                          <p:spTgt spid="117"/>
                                        </p:tgtEl>
                                      </p:cBhvr>
                                    </p:animEffect>
                                    <p:anim calcmode="lin" valueType="num">
                                      <p:cBhvr>
                                        <p:cTn id="18" dur="1000" fill="hold"/>
                                        <p:tgtEl>
                                          <p:spTgt spid="117"/>
                                        </p:tgtEl>
                                        <p:attrNameLst>
                                          <p:attrName>ppt_x</p:attrName>
                                        </p:attrNameLst>
                                      </p:cBhvr>
                                      <p:tavLst>
                                        <p:tav tm="0">
                                          <p:val>
                                            <p:strVal val="#ppt_x"/>
                                          </p:val>
                                        </p:tav>
                                        <p:tav tm="100000">
                                          <p:val>
                                            <p:strVal val="#ppt_x"/>
                                          </p:val>
                                        </p:tav>
                                      </p:tavLst>
                                    </p:anim>
                                    <p:anim calcmode="lin" valueType="num">
                                      <p:cBhvr>
                                        <p:cTn id="19" dur="1000" fill="hold"/>
                                        <p:tgtEl>
                                          <p:spTgt spid="117"/>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250"/>
                                  </p:stCondLst>
                                  <p:childTnLst>
                                    <p:set>
                                      <p:cBhvr>
                                        <p:cTn id="21" dur="1" fill="hold">
                                          <p:stCondLst>
                                            <p:cond delay="0"/>
                                          </p:stCondLst>
                                        </p:cTn>
                                        <p:tgtEl>
                                          <p:spTgt spid="102"/>
                                        </p:tgtEl>
                                        <p:attrNameLst>
                                          <p:attrName>style.visibility</p:attrName>
                                        </p:attrNameLst>
                                      </p:cBhvr>
                                      <p:to>
                                        <p:strVal val="visible"/>
                                      </p:to>
                                    </p:set>
                                    <p:animEffect transition="in" filter="fade">
                                      <p:cBhvr>
                                        <p:cTn id="22" dur="1000"/>
                                        <p:tgtEl>
                                          <p:spTgt spid="102"/>
                                        </p:tgtEl>
                                      </p:cBhvr>
                                    </p:animEffect>
                                    <p:anim calcmode="lin" valueType="num">
                                      <p:cBhvr>
                                        <p:cTn id="23" dur="1000" fill="hold"/>
                                        <p:tgtEl>
                                          <p:spTgt spid="102"/>
                                        </p:tgtEl>
                                        <p:attrNameLst>
                                          <p:attrName>ppt_x</p:attrName>
                                        </p:attrNameLst>
                                      </p:cBhvr>
                                      <p:tavLst>
                                        <p:tav tm="0">
                                          <p:val>
                                            <p:strVal val="#ppt_x"/>
                                          </p:val>
                                        </p:tav>
                                        <p:tav tm="100000">
                                          <p:val>
                                            <p:strVal val="#ppt_x"/>
                                          </p:val>
                                        </p:tav>
                                      </p:tavLst>
                                    </p:anim>
                                    <p:anim calcmode="lin" valueType="num">
                                      <p:cBhvr>
                                        <p:cTn id="24" dur="1000" fill="hold"/>
                                        <p:tgtEl>
                                          <p:spTgt spid="102"/>
                                        </p:tgtEl>
                                        <p:attrNameLst>
                                          <p:attrName>ppt_y</p:attrName>
                                        </p:attrNameLst>
                                      </p:cBhvr>
                                      <p:tavLst>
                                        <p:tav tm="0">
                                          <p:val>
                                            <p:strVal val="#ppt_y-.1"/>
                                          </p:val>
                                        </p:tav>
                                        <p:tav tm="100000">
                                          <p:val>
                                            <p:strVal val="#ppt_y"/>
                                          </p:val>
                                        </p:tav>
                                      </p:tavLst>
                                    </p:anim>
                                  </p:childTnLst>
                                </p:cTn>
                              </p:par>
                            </p:childTnLst>
                          </p:cTn>
                        </p:par>
                        <p:par>
                          <p:cTn id="25" fill="hold">
                            <p:stCondLst>
                              <p:cond delay="1250"/>
                            </p:stCondLst>
                            <p:childTnLst>
                              <p:par>
                                <p:cTn id="26" presetID="10" presetClass="entr" presetSubtype="0" fill="hold" nodeType="afterEffect">
                                  <p:stCondLst>
                                    <p:cond delay="50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childTnLst>
                          </p:cTn>
                        </p:par>
                        <p:par>
                          <p:cTn id="29" fill="hold">
                            <p:stCondLst>
                              <p:cond delay="2250"/>
                            </p:stCondLst>
                            <p:childTnLst>
                              <p:par>
                                <p:cTn id="30" presetID="42" presetClass="entr" presetSubtype="0" fill="hold" nodeType="after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par>
                          <p:cTn id="35" fill="hold">
                            <p:stCondLst>
                              <p:cond delay="3250"/>
                            </p:stCondLst>
                            <p:childTnLst>
                              <p:par>
                                <p:cTn id="36" presetID="42" presetClass="entr" presetSubtype="0" fill="hold" nodeType="after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1000"/>
                                        <p:tgtEl>
                                          <p:spTgt spid="32"/>
                                        </p:tgtEl>
                                      </p:cBhvr>
                                    </p:animEffect>
                                    <p:anim calcmode="lin" valueType="num">
                                      <p:cBhvr>
                                        <p:cTn id="39" dur="1000" fill="hold"/>
                                        <p:tgtEl>
                                          <p:spTgt spid="32"/>
                                        </p:tgtEl>
                                        <p:attrNameLst>
                                          <p:attrName>ppt_x</p:attrName>
                                        </p:attrNameLst>
                                      </p:cBhvr>
                                      <p:tavLst>
                                        <p:tav tm="0">
                                          <p:val>
                                            <p:strVal val="#ppt_x"/>
                                          </p:val>
                                        </p:tav>
                                        <p:tav tm="100000">
                                          <p:val>
                                            <p:strVal val="#ppt_x"/>
                                          </p:val>
                                        </p:tav>
                                      </p:tavLst>
                                    </p:anim>
                                    <p:anim calcmode="lin" valueType="num">
                                      <p:cBhvr>
                                        <p:cTn id="40" dur="1000" fill="hold"/>
                                        <p:tgtEl>
                                          <p:spTgt spid="32"/>
                                        </p:tgtEl>
                                        <p:attrNameLst>
                                          <p:attrName>ppt_y</p:attrName>
                                        </p:attrNameLst>
                                      </p:cBhvr>
                                      <p:tavLst>
                                        <p:tav tm="0">
                                          <p:val>
                                            <p:strVal val="#ppt_y+.1"/>
                                          </p:val>
                                        </p:tav>
                                        <p:tav tm="100000">
                                          <p:val>
                                            <p:strVal val="#ppt_y"/>
                                          </p:val>
                                        </p:tav>
                                      </p:tavLst>
                                    </p:anim>
                                  </p:childTnLst>
                                </p:cTn>
                              </p:par>
                            </p:childTnLst>
                          </p:cTn>
                        </p:par>
                        <p:par>
                          <p:cTn id="41" fill="hold">
                            <p:stCondLst>
                              <p:cond delay="4250"/>
                            </p:stCondLst>
                            <p:childTnLst>
                              <p:par>
                                <p:cTn id="42" presetID="42" presetClass="entr" presetSubtype="0" fill="hold" nodeType="after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1000"/>
                                        <p:tgtEl>
                                          <p:spTgt spid="33"/>
                                        </p:tgtEl>
                                      </p:cBhvr>
                                    </p:animEffect>
                                    <p:anim calcmode="lin" valueType="num">
                                      <p:cBhvr>
                                        <p:cTn id="45" dur="1000" fill="hold"/>
                                        <p:tgtEl>
                                          <p:spTgt spid="33"/>
                                        </p:tgtEl>
                                        <p:attrNameLst>
                                          <p:attrName>ppt_x</p:attrName>
                                        </p:attrNameLst>
                                      </p:cBhvr>
                                      <p:tavLst>
                                        <p:tav tm="0">
                                          <p:val>
                                            <p:strVal val="#ppt_x"/>
                                          </p:val>
                                        </p:tav>
                                        <p:tav tm="100000">
                                          <p:val>
                                            <p:strVal val="#ppt_x"/>
                                          </p:val>
                                        </p:tav>
                                      </p:tavLst>
                                    </p:anim>
                                    <p:anim calcmode="lin" valueType="num">
                                      <p:cBhvr>
                                        <p:cTn id="46" dur="1000" fill="hold"/>
                                        <p:tgtEl>
                                          <p:spTgt spid="33"/>
                                        </p:tgtEl>
                                        <p:attrNameLst>
                                          <p:attrName>ppt_y</p:attrName>
                                        </p:attrNameLst>
                                      </p:cBhvr>
                                      <p:tavLst>
                                        <p:tav tm="0">
                                          <p:val>
                                            <p:strVal val="#ppt_y+.1"/>
                                          </p:val>
                                        </p:tav>
                                        <p:tav tm="100000">
                                          <p:val>
                                            <p:strVal val="#ppt_y"/>
                                          </p:val>
                                        </p:tav>
                                      </p:tavLst>
                                    </p:anim>
                                  </p:childTnLst>
                                </p:cTn>
                              </p:par>
                            </p:childTnLst>
                          </p:cTn>
                        </p:par>
                        <p:par>
                          <p:cTn id="47" fill="hold">
                            <p:stCondLst>
                              <p:cond delay="5250"/>
                            </p:stCondLst>
                            <p:childTnLst>
                              <p:par>
                                <p:cTn id="48" presetID="42" presetClass="entr" presetSubtype="0" fill="hold" nodeType="after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1000"/>
                                        <p:tgtEl>
                                          <p:spTgt spid="34"/>
                                        </p:tgtEl>
                                      </p:cBhvr>
                                    </p:animEffect>
                                    <p:anim calcmode="lin" valueType="num">
                                      <p:cBhvr>
                                        <p:cTn id="51" dur="1000" fill="hold"/>
                                        <p:tgtEl>
                                          <p:spTgt spid="34"/>
                                        </p:tgtEl>
                                        <p:attrNameLst>
                                          <p:attrName>ppt_x</p:attrName>
                                        </p:attrNameLst>
                                      </p:cBhvr>
                                      <p:tavLst>
                                        <p:tav tm="0">
                                          <p:val>
                                            <p:strVal val="#ppt_x"/>
                                          </p:val>
                                        </p:tav>
                                        <p:tav tm="100000">
                                          <p:val>
                                            <p:strVal val="#ppt_x"/>
                                          </p:val>
                                        </p:tav>
                                      </p:tavLst>
                                    </p:anim>
                                    <p:anim calcmode="lin" valueType="num">
                                      <p:cBhvr>
                                        <p:cTn id="52" dur="1000" fill="hold"/>
                                        <p:tgtEl>
                                          <p:spTgt spid="34"/>
                                        </p:tgtEl>
                                        <p:attrNameLst>
                                          <p:attrName>ppt_y</p:attrName>
                                        </p:attrNameLst>
                                      </p:cBhvr>
                                      <p:tavLst>
                                        <p:tav tm="0">
                                          <p:val>
                                            <p:strVal val="#ppt_y+.1"/>
                                          </p:val>
                                        </p:tav>
                                        <p:tav tm="100000">
                                          <p:val>
                                            <p:strVal val="#ppt_y"/>
                                          </p:val>
                                        </p:tav>
                                      </p:tavLst>
                                    </p:anim>
                                  </p:childTnLst>
                                </p:cTn>
                              </p:par>
                            </p:childTnLst>
                          </p:cTn>
                        </p:par>
                        <p:par>
                          <p:cTn id="53" fill="hold">
                            <p:stCondLst>
                              <p:cond delay="6250"/>
                            </p:stCondLst>
                            <p:childTnLst>
                              <p:par>
                                <p:cTn id="54" presetID="42" presetClass="entr" presetSubtype="0" fill="hold" nodeType="after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1000"/>
                                        <p:tgtEl>
                                          <p:spTgt spid="35"/>
                                        </p:tgtEl>
                                      </p:cBhvr>
                                    </p:animEffect>
                                    <p:anim calcmode="lin" valueType="num">
                                      <p:cBhvr>
                                        <p:cTn id="57" dur="1000" fill="hold"/>
                                        <p:tgtEl>
                                          <p:spTgt spid="35"/>
                                        </p:tgtEl>
                                        <p:attrNameLst>
                                          <p:attrName>ppt_x</p:attrName>
                                        </p:attrNameLst>
                                      </p:cBhvr>
                                      <p:tavLst>
                                        <p:tav tm="0">
                                          <p:val>
                                            <p:strVal val="#ppt_x"/>
                                          </p:val>
                                        </p:tav>
                                        <p:tav tm="100000">
                                          <p:val>
                                            <p:strVal val="#ppt_x"/>
                                          </p:val>
                                        </p:tav>
                                      </p:tavLst>
                                    </p:anim>
                                    <p:anim calcmode="lin" valueType="num">
                                      <p:cBhvr>
                                        <p:cTn id="58" dur="1000" fill="hold"/>
                                        <p:tgtEl>
                                          <p:spTgt spid="35"/>
                                        </p:tgtEl>
                                        <p:attrNameLst>
                                          <p:attrName>ppt_y</p:attrName>
                                        </p:attrNameLst>
                                      </p:cBhvr>
                                      <p:tavLst>
                                        <p:tav tm="0">
                                          <p:val>
                                            <p:strVal val="#ppt_y+.1"/>
                                          </p:val>
                                        </p:tav>
                                        <p:tav tm="100000">
                                          <p:val>
                                            <p:strVal val="#ppt_y"/>
                                          </p:val>
                                        </p:tav>
                                      </p:tavLst>
                                    </p:anim>
                                  </p:childTnLst>
                                </p:cTn>
                              </p:par>
                            </p:childTnLst>
                          </p:cTn>
                        </p:par>
                        <p:par>
                          <p:cTn id="59" fill="hold">
                            <p:stCondLst>
                              <p:cond delay="7250"/>
                            </p:stCondLst>
                            <p:childTnLst>
                              <p:par>
                                <p:cTn id="60" presetID="42" presetClass="entr" presetSubtype="0" fill="hold" nodeType="after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1000"/>
                                        <p:tgtEl>
                                          <p:spTgt spid="36"/>
                                        </p:tgtEl>
                                      </p:cBhvr>
                                    </p:animEffect>
                                    <p:anim calcmode="lin" valueType="num">
                                      <p:cBhvr>
                                        <p:cTn id="63" dur="1000" fill="hold"/>
                                        <p:tgtEl>
                                          <p:spTgt spid="36"/>
                                        </p:tgtEl>
                                        <p:attrNameLst>
                                          <p:attrName>ppt_x</p:attrName>
                                        </p:attrNameLst>
                                      </p:cBhvr>
                                      <p:tavLst>
                                        <p:tav tm="0">
                                          <p:val>
                                            <p:strVal val="#ppt_x"/>
                                          </p:val>
                                        </p:tav>
                                        <p:tav tm="100000">
                                          <p:val>
                                            <p:strVal val="#ppt_x"/>
                                          </p:val>
                                        </p:tav>
                                      </p:tavLst>
                                    </p:anim>
                                    <p:anim calcmode="lin" valueType="num">
                                      <p:cBhvr>
                                        <p:cTn id="64" dur="1000" fill="hold"/>
                                        <p:tgtEl>
                                          <p:spTgt spid="36"/>
                                        </p:tgtEl>
                                        <p:attrNameLst>
                                          <p:attrName>ppt_y</p:attrName>
                                        </p:attrNameLst>
                                      </p:cBhvr>
                                      <p:tavLst>
                                        <p:tav tm="0">
                                          <p:val>
                                            <p:strVal val="#ppt_y+.1"/>
                                          </p:val>
                                        </p:tav>
                                        <p:tav tm="100000">
                                          <p:val>
                                            <p:strVal val="#ppt_y"/>
                                          </p:val>
                                        </p:tav>
                                      </p:tavLst>
                                    </p:anim>
                                  </p:childTnLst>
                                </p:cTn>
                              </p:par>
                            </p:childTnLst>
                          </p:cTn>
                        </p:par>
                        <p:par>
                          <p:cTn id="65" fill="hold">
                            <p:stCondLst>
                              <p:cond delay="8250"/>
                            </p:stCondLst>
                            <p:childTnLst>
                              <p:par>
                                <p:cTn id="66" presetID="42" presetClass="entr" presetSubtype="0" fill="hold" nodeType="after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1000"/>
                                        <p:tgtEl>
                                          <p:spTgt spid="37"/>
                                        </p:tgtEl>
                                      </p:cBhvr>
                                    </p:animEffect>
                                    <p:anim calcmode="lin" valueType="num">
                                      <p:cBhvr>
                                        <p:cTn id="69" dur="1000" fill="hold"/>
                                        <p:tgtEl>
                                          <p:spTgt spid="37"/>
                                        </p:tgtEl>
                                        <p:attrNameLst>
                                          <p:attrName>ppt_x</p:attrName>
                                        </p:attrNameLst>
                                      </p:cBhvr>
                                      <p:tavLst>
                                        <p:tav tm="0">
                                          <p:val>
                                            <p:strVal val="#ppt_x"/>
                                          </p:val>
                                        </p:tav>
                                        <p:tav tm="100000">
                                          <p:val>
                                            <p:strVal val="#ppt_x"/>
                                          </p:val>
                                        </p:tav>
                                      </p:tavLst>
                                    </p:anim>
                                    <p:anim calcmode="lin" valueType="num">
                                      <p:cBhvr>
                                        <p:cTn id="70" dur="1000" fill="hold"/>
                                        <p:tgtEl>
                                          <p:spTgt spid="37"/>
                                        </p:tgtEl>
                                        <p:attrNameLst>
                                          <p:attrName>ppt_y</p:attrName>
                                        </p:attrNameLst>
                                      </p:cBhvr>
                                      <p:tavLst>
                                        <p:tav tm="0">
                                          <p:val>
                                            <p:strVal val="#ppt_y+.1"/>
                                          </p:val>
                                        </p:tav>
                                        <p:tav tm="100000">
                                          <p:val>
                                            <p:strVal val="#ppt_y"/>
                                          </p:val>
                                        </p:tav>
                                      </p:tavLst>
                                    </p:anim>
                                  </p:childTnLst>
                                </p:cTn>
                              </p:par>
                            </p:childTnLst>
                          </p:cTn>
                        </p:par>
                        <p:par>
                          <p:cTn id="71" fill="hold">
                            <p:stCondLst>
                              <p:cond delay="9250"/>
                            </p:stCondLst>
                            <p:childTnLst>
                              <p:par>
                                <p:cTn id="72" presetID="42" presetClass="entr" presetSubtype="0" fill="hold" nodeType="after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1000"/>
                                        <p:tgtEl>
                                          <p:spTgt spid="38"/>
                                        </p:tgtEl>
                                      </p:cBhvr>
                                    </p:animEffect>
                                    <p:anim calcmode="lin" valueType="num">
                                      <p:cBhvr>
                                        <p:cTn id="75" dur="1000" fill="hold"/>
                                        <p:tgtEl>
                                          <p:spTgt spid="38"/>
                                        </p:tgtEl>
                                        <p:attrNameLst>
                                          <p:attrName>ppt_x</p:attrName>
                                        </p:attrNameLst>
                                      </p:cBhvr>
                                      <p:tavLst>
                                        <p:tav tm="0">
                                          <p:val>
                                            <p:strVal val="#ppt_x"/>
                                          </p:val>
                                        </p:tav>
                                        <p:tav tm="100000">
                                          <p:val>
                                            <p:strVal val="#ppt_x"/>
                                          </p:val>
                                        </p:tav>
                                      </p:tavLst>
                                    </p:anim>
                                    <p:anim calcmode="lin" valueType="num">
                                      <p:cBhvr>
                                        <p:cTn id="76" dur="1000" fill="hold"/>
                                        <p:tgtEl>
                                          <p:spTgt spid="38"/>
                                        </p:tgtEl>
                                        <p:attrNameLst>
                                          <p:attrName>ppt_y</p:attrName>
                                        </p:attrNameLst>
                                      </p:cBhvr>
                                      <p:tavLst>
                                        <p:tav tm="0">
                                          <p:val>
                                            <p:strVal val="#ppt_y+.1"/>
                                          </p:val>
                                        </p:tav>
                                        <p:tav tm="100000">
                                          <p:val>
                                            <p:strVal val="#ppt_y"/>
                                          </p:val>
                                        </p:tav>
                                      </p:tavLst>
                                    </p:anim>
                                  </p:childTnLst>
                                </p:cTn>
                              </p:par>
                            </p:childTnLst>
                          </p:cTn>
                        </p:par>
                        <p:par>
                          <p:cTn id="77" fill="hold">
                            <p:stCondLst>
                              <p:cond delay="10250"/>
                            </p:stCondLst>
                            <p:childTnLst>
                              <p:par>
                                <p:cTn id="78" presetID="42" presetClass="entr" presetSubtype="0" fill="hold" nodeType="after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1000"/>
                                        <p:tgtEl>
                                          <p:spTgt spid="39"/>
                                        </p:tgtEl>
                                      </p:cBhvr>
                                    </p:animEffect>
                                    <p:anim calcmode="lin" valueType="num">
                                      <p:cBhvr>
                                        <p:cTn id="81" dur="1000" fill="hold"/>
                                        <p:tgtEl>
                                          <p:spTgt spid="39"/>
                                        </p:tgtEl>
                                        <p:attrNameLst>
                                          <p:attrName>ppt_x</p:attrName>
                                        </p:attrNameLst>
                                      </p:cBhvr>
                                      <p:tavLst>
                                        <p:tav tm="0">
                                          <p:val>
                                            <p:strVal val="#ppt_x"/>
                                          </p:val>
                                        </p:tav>
                                        <p:tav tm="100000">
                                          <p:val>
                                            <p:strVal val="#ppt_x"/>
                                          </p:val>
                                        </p:tav>
                                      </p:tavLst>
                                    </p:anim>
                                    <p:anim calcmode="lin" valueType="num">
                                      <p:cBhvr>
                                        <p:cTn id="82" dur="1000" fill="hold"/>
                                        <p:tgtEl>
                                          <p:spTgt spid="39"/>
                                        </p:tgtEl>
                                        <p:attrNameLst>
                                          <p:attrName>ppt_y</p:attrName>
                                        </p:attrNameLst>
                                      </p:cBhvr>
                                      <p:tavLst>
                                        <p:tav tm="0">
                                          <p:val>
                                            <p:strVal val="#ppt_y+.1"/>
                                          </p:val>
                                        </p:tav>
                                        <p:tav tm="100000">
                                          <p:val>
                                            <p:strVal val="#ppt_y"/>
                                          </p:val>
                                        </p:tav>
                                      </p:tavLst>
                                    </p:anim>
                                  </p:childTnLst>
                                </p:cTn>
                              </p:par>
                            </p:childTnLst>
                          </p:cTn>
                        </p:par>
                        <p:par>
                          <p:cTn id="83" fill="hold">
                            <p:stCondLst>
                              <p:cond delay="11250"/>
                            </p:stCondLst>
                            <p:childTnLst>
                              <p:par>
                                <p:cTn id="84" presetID="42" presetClass="entr" presetSubtype="0" fill="hold" nodeType="after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1000"/>
                                        <p:tgtEl>
                                          <p:spTgt spid="40"/>
                                        </p:tgtEl>
                                      </p:cBhvr>
                                    </p:animEffect>
                                    <p:anim calcmode="lin" valueType="num">
                                      <p:cBhvr>
                                        <p:cTn id="87" dur="1000" fill="hold"/>
                                        <p:tgtEl>
                                          <p:spTgt spid="40"/>
                                        </p:tgtEl>
                                        <p:attrNameLst>
                                          <p:attrName>ppt_x</p:attrName>
                                        </p:attrNameLst>
                                      </p:cBhvr>
                                      <p:tavLst>
                                        <p:tav tm="0">
                                          <p:val>
                                            <p:strVal val="#ppt_x"/>
                                          </p:val>
                                        </p:tav>
                                        <p:tav tm="100000">
                                          <p:val>
                                            <p:strVal val="#ppt_x"/>
                                          </p:val>
                                        </p:tav>
                                      </p:tavLst>
                                    </p:anim>
                                    <p:anim calcmode="lin" valueType="num">
                                      <p:cBhvr>
                                        <p:cTn id="88"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10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4549F43-E105-43E2-8DB7-98E8E524607F}"/>
              </a:ext>
            </a:extLst>
          </p:cNvPr>
          <p:cNvGrpSpPr/>
          <p:nvPr/>
        </p:nvGrpSpPr>
        <p:grpSpPr>
          <a:xfrm>
            <a:off x="4102445" y="2152477"/>
            <a:ext cx="3982061" cy="3063548"/>
            <a:chOff x="3374197" y="1073149"/>
            <a:chExt cx="1783591" cy="1372182"/>
          </a:xfrm>
        </p:grpSpPr>
        <p:sp>
          <p:nvSpPr>
            <p:cNvPr id="41" name="Parallelogram 40">
              <a:extLst>
                <a:ext uri="{FF2B5EF4-FFF2-40B4-BE49-F238E27FC236}">
                  <a16:creationId xmlns:a16="http://schemas.microsoft.com/office/drawing/2014/main" id="{F080E9C1-B892-4F69-8AA5-809B613E0194}"/>
                </a:ext>
              </a:extLst>
            </p:cNvPr>
            <p:cNvSpPr/>
            <p:nvPr/>
          </p:nvSpPr>
          <p:spPr>
            <a:xfrm>
              <a:off x="3393281" y="1951328"/>
              <a:ext cx="1443039" cy="494003"/>
            </a:xfrm>
            <a:prstGeom prst="parallelogram">
              <a:avLst>
                <a:gd name="adj" fmla="val 125829"/>
              </a:avLst>
            </a:prstGeom>
            <a:solidFill>
              <a:srgbClr val="024E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Parallelogram 41">
              <a:extLst>
                <a:ext uri="{FF2B5EF4-FFF2-40B4-BE49-F238E27FC236}">
                  <a16:creationId xmlns:a16="http://schemas.microsoft.com/office/drawing/2014/main" id="{2732C86E-BB5E-42DA-8FF0-AA9A4051C9D8}"/>
                </a:ext>
              </a:extLst>
            </p:cNvPr>
            <p:cNvSpPr/>
            <p:nvPr/>
          </p:nvSpPr>
          <p:spPr>
            <a:xfrm>
              <a:off x="3840939" y="1451769"/>
              <a:ext cx="692628" cy="293688"/>
            </a:xfrm>
            <a:prstGeom prst="parallelogram">
              <a:avLst>
                <a:gd name="adj" fmla="val 125829"/>
              </a:avLst>
            </a:prstGeom>
            <a:solidFill>
              <a:srgbClr val="0599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Isosceles Triangle 42">
              <a:extLst>
                <a:ext uri="{FF2B5EF4-FFF2-40B4-BE49-F238E27FC236}">
                  <a16:creationId xmlns:a16="http://schemas.microsoft.com/office/drawing/2014/main" id="{C76F8489-10D9-4D7D-945A-53A134361274}"/>
                </a:ext>
              </a:extLst>
            </p:cNvPr>
            <p:cNvSpPr/>
            <p:nvPr/>
          </p:nvSpPr>
          <p:spPr>
            <a:xfrm>
              <a:off x="4003216" y="1073149"/>
              <a:ext cx="530352" cy="378619"/>
            </a:xfrm>
            <a:prstGeom prst="triangle">
              <a:avLst/>
            </a:prstGeom>
            <a:solidFill>
              <a:srgbClr val="06C2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Trapezoid 43">
              <a:extLst>
                <a:ext uri="{FF2B5EF4-FFF2-40B4-BE49-F238E27FC236}">
                  <a16:creationId xmlns:a16="http://schemas.microsoft.com/office/drawing/2014/main" id="{FD9662BB-8006-4490-B524-7ED48B48CEBD}"/>
                </a:ext>
              </a:extLst>
            </p:cNvPr>
            <p:cNvSpPr/>
            <p:nvPr/>
          </p:nvSpPr>
          <p:spPr>
            <a:xfrm>
              <a:off x="3700464" y="1572709"/>
              <a:ext cx="1135856" cy="378619"/>
            </a:xfrm>
            <a:prstGeom prst="trapezoid">
              <a:avLst>
                <a:gd name="adj" fmla="val 67139"/>
              </a:avLst>
            </a:prstGeom>
            <a:solidFill>
              <a:srgbClr val="037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Trapezoid 44">
              <a:extLst>
                <a:ext uri="{FF2B5EF4-FFF2-40B4-BE49-F238E27FC236}">
                  <a16:creationId xmlns:a16="http://schemas.microsoft.com/office/drawing/2014/main" id="{60880CBD-34CE-41EC-A1EC-DF5570BD6005}"/>
                </a:ext>
              </a:extLst>
            </p:cNvPr>
            <p:cNvSpPr/>
            <p:nvPr/>
          </p:nvSpPr>
          <p:spPr>
            <a:xfrm>
              <a:off x="3374197" y="2066712"/>
              <a:ext cx="1783591" cy="378619"/>
            </a:xfrm>
            <a:prstGeom prst="trapezoid">
              <a:avLst>
                <a:gd name="adj" fmla="val 67139"/>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7" name="Rectangle 46">
            <a:extLst>
              <a:ext uri="{FF2B5EF4-FFF2-40B4-BE49-F238E27FC236}">
                <a16:creationId xmlns:a16="http://schemas.microsoft.com/office/drawing/2014/main" id="{ADF68CB6-0BD4-486B-9F64-33950155E1A2}"/>
              </a:ext>
            </a:extLst>
          </p:cNvPr>
          <p:cNvSpPr/>
          <p:nvPr/>
        </p:nvSpPr>
        <p:spPr>
          <a:xfrm>
            <a:off x="442941" y="2359379"/>
            <a:ext cx="3378292" cy="28689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540000" rtlCol="0" anchor="t"/>
          <a:lstStyle/>
          <a:p>
            <a:pPr marL="0" marR="0" lvl="0" indent="0" algn="l" defTabSz="711182" rtl="0" eaLnBrk="1" fontAlgn="auto" latinLnBrk="0" hangingPunct="1">
              <a:lnSpc>
                <a:spcPct val="100000"/>
              </a:lnSpc>
              <a:spcBef>
                <a:spcPct val="0"/>
              </a:spcBef>
              <a:spcAft>
                <a:spcPts val="400"/>
              </a:spcAft>
              <a:buClrTx/>
              <a:buSzTx/>
              <a:buFontTx/>
              <a:buNone/>
              <a:tabLst/>
              <a:defRPr/>
            </a:pPr>
            <a:endParaRPr kumimoji="0" lang="en-US" sz="1050" b="0" i="0" u="none" strike="noStrike" kern="1200" cap="none" spc="0" normalizeH="0" baseline="0" noProof="0" dirty="0">
              <a:ln>
                <a:noFill/>
              </a:ln>
              <a:solidFill>
                <a:srgbClr val="000000">
                  <a:hueOff val="0"/>
                  <a:satOff val="0"/>
                  <a:lumOff val="0"/>
                  <a:alphaOff val="0"/>
                </a:srgbClr>
              </a:solidFill>
              <a:effectLst/>
              <a:uLnTx/>
              <a:uFillTx/>
              <a:latin typeface="+mj-lt"/>
              <a:ea typeface="Wingdings"/>
              <a:cs typeface="Sofia Pro Light"/>
              <a:sym typeface="Wingdings"/>
            </a:endParaRPr>
          </a:p>
        </p:txBody>
      </p:sp>
      <p:sp>
        <p:nvSpPr>
          <p:cNvPr id="49" name="Rectangle 48">
            <a:extLst>
              <a:ext uri="{FF2B5EF4-FFF2-40B4-BE49-F238E27FC236}">
                <a16:creationId xmlns:a16="http://schemas.microsoft.com/office/drawing/2014/main" id="{381F07DD-E994-4C53-A7A2-39FBE2862ABC}"/>
              </a:ext>
            </a:extLst>
          </p:cNvPr>
          <p:cNvSpPr/>
          <p:nvPr/>
        </p:nvSpPr>
        <p:spPr>
          <a:xfrm>
            <a:off x="8370768" y="2362287"/>
            <a:ext cx="3378319" cy="1442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540000" rtlCol="0" anchor="t"/>
          <a:lstStyle/>
          <a:p>
            <a:pPr marL="0" marR="0" lvl="0" indent="0" algn="l" defTabSz="711182" rtl="0" eaLnBrk="1" fontAlgn="auto" latinLnBrk="0" hangingPunct="1">
              <a:lnSpc>
                <a:spcPct val="100000"/>
              </a:lnSpc>
              <a:spcBef>
                <a:spcPct val="0"/>
              </a:spcBef>
              <a:spcAft>
                <a:spcPts val="400"/>
              </a:spcAft>
              <a:buClrTx/>
              <a:buSzTx/>
              <a:buFontTx/>
              <a:buNone/>
              <a:tabLst/>
              <a:defRPr/>
            </a:pPr>
            <a:endParaRPr kumimoji="0" lang="en-US" sz="1050" b="0" i="0" u="none" strike="noStrike" kern="1200" cap="none" spc="0" normalizeH="0" baseline="0" noProof="0" dirty="0">
              <a:ln>
                <a:noFill/>
              </a:ln>
              <a:solidFill>
                <a:srgbClr val="000000">
                  <a:hueOff val="0"/>
                  <a:satOff val="0"/>
                  <a:lumOff val="0"/>
                  <a:alphaOff val="0"/>
                </a:srgbClr>
              </a:solidFill>
              <a:effectLst/>
              <a:uLnTx/>
              <a:uFillTx/>
              <a:latin typeface="+mj-lt"/>
              <a:ea typeface="Wingdings"/>
              <a:cs typeface="Sofia Pro Light"/>
              <a:sym typeface="Wingdings"/>
            </a:endParaRPr>
          </a:p>
        </p:txBody>
      </p:sp>
      <p:sp>
        <p:nvSpPr>
          <p:cNvPr id="51" name="Rectangle 50">
            <a:extLst>
              <a:ext uri="{FF2B5EF4-FFF2-40B4-BE49-F238E27FC236}">
                <a16:creationId xmlns:a16="http://schemas.microsoft.com/office/drawing/2014/main" id="{030DA4E6-8693-4A00-AFED-67AF2FB50B1C}"/>
              </a:ext>
            </a:extLst>
          </p:cNvPr>
          <p:cNvSpPr/>
          <p:nvPr/>
        </p:nvSpPr>
        <p:spPr>
          <a:xfrm>
            <a:off x="8370768" y="3781145"/>
            <a:ext cx="3378319" cy="1442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540000" rtlCol="0" anchor="t"/>
          <a:lstStyle/>
          <a:p>
            <a:pPr marL="0" marR="0" lvl="0" indent="0" algn="l" defTabSz="711182" rtl="0" eaLnBrk="1" fontAlgn="auto" latinLnBrk="0" hangingPunct="1">
              <a:lnSpc>
                <a:spcPct val="100000"/>
              </a:lnSpc>
              <a:spcBef>
                <a:spcPct val="0"/>
              </a:spcBef>
              <a:spcAft>
                <a:spcPts val="400"/>
              </a:spcAft>
              <a:buClrTx/>
              <a:buSzTx/>
              <a:buFontTx/>
              <a:buNone/>
              <a:tabLst/>
              <a:defRPr/>
            </a:pPr>
            <a:endParaRPr kumimoji="0" lang="en-US" sz="1050" b="0" i="0" u="none" strike="noStrike" kern="1200" cap="none" spc="0" normalizeH="0" baseline="0" noProof="0" dirty="0">
              <a:ln>
                <a:noFill/>
              </a:ln>
              <a:solidFill>
                <a:srgbClr val="000000">
                  <a:hueOff val="0"/>
                  <a:satOff val="0"/>
                  <a:lumOff val="0"/>
                  <a:alphaOff val="0"/>
                </a:srgbClr>
              </a:solidFill>
              <a:effectLst/>
              <a:uLnTx/>
              <a:uFillTx/>
              <a:latin typeface="+mj-lt"/>
              <a:ea typeface="Wingdings"/>
              <a:cs typeface="Sofia Pro Light"/>
              <a:sym typeface="Wingdings"/>
            </a:endParaRPr>
          </a:p>
        </p:txBody>
      </p:sp>
      <p:cxnSp>
        <p:nvCxnSpPr>
          <p:cNvPr id="54" name="Connector: Elbow 53">
            <a:extLst>
              <a:ext uri="{FF2B5EF4-FFF2-40B4-BE49-F238E27FC236}">
                <a16:creationId xmlns:a16="http://schemas.microsoft.com/office/drawing/2014/main" id="{455519D1-224A-4BAC-9DEF-1260B401150A}"/>
              </a:ext>
            </a:extLst>
          </p:cNvPr>
          <p:cNvCxnSpPr>
            <a:cxnSpLocks/>
            <a:stCxn id="43" idx="5"/>
          </p:cNvCxnSpPr>
          <p:nvPr/>
        </p:nvCxnSpPr>
        <p:spPr>
          <a:xfrm flipV="1">
            <a:off x="6394850" y="2574926"/>
            <a:ext cx="1968100" cy="206"/>
          </a:xfrm>
          <a:prstGeom prst="bentConnector3">
            <a:avLst>
              <a:gd name="adj1" fmla="val 50000"/>
            </a:avLst>
          </a:prstGeom>
          <a:ln w="63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704D66F0-1FC6-482F-BB7F-955305B28832}"/>
              </a:ext>
            </a:extLst>
          </p:cNvPr>
          <p:cNvCxnSpPr>
            <a:cxnSpLocks/>
            <a:stCxn id="44" idx="1"/>
            <a:endCxn id="3" idx="1"/>
          </p:cNvCxnSpPr>
          <p:nvPr/>
        </p:nvCxnSpPr>
        <p:spPr>
          <a:xfrm rot="10800000">
            <a:off x="3728376" y="2559227"/>
            <a:ext cx="1386262" cy="1131228"/>
          </a:xfrm>
          <a:prstGeom prst="bentConnector3">
            <a:avLst/>
          </a:prstGeom>
          <a:ln w="63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D392E7FF-D3F6-4F72-A52B-820F1A53AC0E}"/>
              </a:ext>
            </a:extLst>
          </p:cNvPr>
          <p:cNvCxnSpPr>
            <a:cxnSpLocks/>
            <a:stCxn id="45" idx="3"/>
            <a:endCxn id="61" idx="3"/>
          </p:cNvCxnSpPr>
          <p:nvPr/>
        </p:nvCxnSpPr>
        <p:spPr>
          <a:xfrm flipV="1">
            <a:off x="7800740" y="3999334"/>
            <a:ext cx="667872" cy="794037"/>
          </a:xfrm>
          <a:prstGeom prst="bentConnector3">
            <a:avLst>
              <a:gd name="adj1" fmla="val 50000"/>
            </a:avLst>
          </a:prstGeom>
          <a:ln w="63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rapezoid 2">
            <a:extLst>
              <a:ext uri="{FF2B5EF4-FFF2-40B4-BE49-F238E27FC236}">
                <a16:creationId xmlns:a16="http://schemas.microsoft.com/office/drawing/2014/main" id="{5224BBFF-E97B-4794-9CFA-F1F63B1B1347}"/>
              </a:ext>
            </a:extLst>
          </p:cNvPr>
          <p:cNvSpPr/>
          <p:nvPr/>
        </p:nvSpPr>
        <p:spPr>
          <a:xfrm rot="10800000">
            <a:off x="442911" y="2359379"/>
            <a:ext cx="3378290" cy="399696"/>
          </a:xfrm>
          <a:prstGeom prst="trapezoid">
            <a:avLst>
              <a:gd name="adj" fmla="val 46448"/>
            </a:avLst>
          </a:prstGeom>
          <a:solidFill>
            <a:srgbClr val="037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rapezoid 58">
            <a:extLst>
              <a:ext uri="{FF2B5EF4-FFF2-40B4-BE49-F238E27FC236}">
                <a16:creationId xmlns:a16="http://schemas.microsoft.com/office/drawing/2014/main" id="{A2C6E55F-F894-4B7D-A84E-8B3CE1992F11}"/>
              </a:ext>
            </a:extLst>
          </p:cNvPr>
          <p:cNvSpPr/>
          <p:nvPr/>
        </p:nvSpPr>
        <p:spPr>
          <a:xfrm rot="10800000">
            <a:off x="8375787" y="2359379"/>
            <a:ext cx="3378290" cy="399696"/>
          </a:xfrm>
          <a:prstGeom prst="trapezoid">
            <a:avLst>
              <a:gd name="adj" fmla="val 46448"/>
            </a:avLst>
          </a:prstGeom>
          <a:solidFill>
            <a:srgbClr val="06C2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rapezoid 60">
            <a:extLst>
              <a:ext uri="{FF2B5EF4-FFF2-40B4-BE49-F238E27FC236}">
                <a16:creationId xmlns:a16="http://schemas.microsoft.com/office/drawing/2014/main" id="{D009C5DC-F6E8-41A1-B14A-5F94136A54EF}"/>
              </a:ext>
            </a:extLst>
          </p:cNvPr>
          <p:cNvSpPr/>
          <p:nvPr/>
        </p:nvSpPr>
        <p:spPr>
          <a:xfrm rot="10800000">
            <a:off x="8375787" y="3799486"/>
            <a:ext cx="3378290" cy="399696"/>
          </a:xfrm>
          <a:prstGeom prst="trapezoid">
            <a:avLst>
              <a:gd name="adj" fmla="val 46448"/>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998560B6-783E-472A-9417-E832BA955785}"/>
              </a:ext>
            </a:extLst>
          </p:cNvPr>
          <p:cNvSpPr txBox="1"/>
          <p:nvPr/>
        </p:nvSpPr>
        <p:spPr>
          <a:xfrm>
            <a:off x="563176" y="2374871"/>
            <a:ext cx="3140964" cy="400110"/>
          </a:xfrm>
          <a:prstGeom prst="rect">
            <a:avLst/>
          </a:prstGeom>
          <a:noFill/>
        </p:spPr>
        <p:txBody>
          <a:bodyPr wrap="square" rtlCol="0">
            <a:spAutoFit/>
          </a:bodyPr>
          <a:lstStyle/>
          <a:p>
            <a:pPr algn="ctr"/>
            <a:r>
              <a:rPr lang="bg-BG" sz="2000" b="1" dirty="0" smtClean="0">
                <a:solidFill>
                  <a:schemeClr val="bg1"/>
                </a:solidFill>
                <a:latin typeface="Segoe UI" panose="020B0502040204020203" pitchFamily="34" charset="0"/>
                <a:cs typeface="Segoe UI" panose="020B0502040204020203" pitchFamily="34" charset="0"/>
              </a:rPr>
              <a:t>ФАКТОРИ И ФУНКЦИИ</a:t>
            </a:r>
            <a:endParaRPr lang="en-US" sz="2000" b="1" dirty="0">
              <a:solidFill>
                <a:schemeClr val="bg1"/>
              </a:solidFill>
              <a:latin typeface="Segoe UI" panose="020B0502040204020203" pitchFamily="34" charset="0"/>
              <a:cs typeface="Segoe UI" panose="020B0502040204020203" pitchFamily="34" charset="0"/>
            </a:endParaRPr>
          </a:p>
        </p:txBody>
      </p:sp>
      <p:sp>
        <p:nvSpPr>
          <p:cNvPr id="69" name="TextBox 68">
            <a:extLst>
              <a:ext uri="{FF2B5EF4-FFF2-40B4-BE49-F238E27FC236}">
                <a16:creationId xmlns:a16="http://schemas.microsoft.com/office/drawing/2014/main" id="{55E79866-0D96-4795-AD0A-41011316662A}"/>
              </a:ext>
            </a:extLst>
          </p:cNvPr>
          <p:cNvSpPr txBox="1"/>
          <p:nvPr/>
        </p:nvSpPr>
        <p:spPr>
          <a:xfrm>
            <a:off x="8647120" y="2389950"/>
            <a:ext cx="2791461" cy="400110"/>
          </a:xfrm>
          <a:prstGeom prst="rect">
            <a:avLst/>
          </a:prstGeom>
          <a:noFill/>
        </p:spPr>
        <p:txBody>
          <a:bodyPr wrap="square" rtlCol="0">
            <a:spAutoFit/>
          </a:bodyPr>
          <a:lstStyle/>
          <a:p>
            <a:pPr algn="ctr"/>
            <a:r>
              <a:rPr lang="bg-BG" sz="2000" b="1" dirty="0" smtClean="0">
                <a:solidFill>
                  <a:schemeClr val="bg1"/>
                </a:solidFill>
                <a:latin typeface="Segoe UI" panose="020B0502040204020203" pitchFamily="34" charset="0"/>
                <a:cs typeface="Segoe UI" panose="020B0502040204020203" pitchFamily="34" charset="0"/>
              </a:rPr>
              <a:t>ЗАДАЧИ И ФАЗИ</a:t>
            </a:r>
            <a:endParaRPr lang="en-US" sz="2000" b="1" dirty="0">
              <a:solidFill>
                <a:schemeClr val="bg1"/>
              </a:solidFill>
              <a:latin typeface="Segoe UI" panose="020B0502040204020203" pitchFamily="34" charset="0"/>
              <a:cs typeface="Segoe UI" panose="020B0502040204020203" pitchFamily="34" charset="0"/>
            </a:endParaRPr>
          </a:p>
        </p:txBody>
      </p:sp>
      <p:sp>
        <p:nvSpPr>
          <p:cNvPr id="70" name="TextBox 69">
            <a:extLst>
              <a:ext uri="{FF2B5EF4-FFF2-40B4-BE49-F238E27FC236}">
                <a16:creationId xmlns:a16="http://schemas.microsoft.com/office/drawing/2014/main" id="{3D2658D1-D71D-4CA7-A4A4-11EF11F82B26}"/>
              </a:ext>
            </a:extLst>
          </p:cNvPr>
          <p:cNvSpPr txBox="1"/>
          <p:nvPr/>
        </p:nvSpPr>
        <p:spPr>
          <a:xfrm>
            <a:off x="8612931" y="3808808"/>
            <a:ext cx="2893991" cy="400110"/>
          </a:xfrm>
          <a:prstGeom prst="rect">
            <a:avLst/>
          </a:prstGeom>
          <a:noFill/>
        </p:spPr>
        <p:txBody>
          <a:bodyPr wrap="square" rtlCol="0">
            <a:spAutoFit/>
          </a:bodyPr>
          <a:lstStyle/>
          <a:p>
            <a:pPr algn="ctr"/>
            <a:r>
              <a:rPr lang="bg-BG" sz="2000" b="1" dirty="0" smtClean="0">
                <a:solidFill>
                  <a:schemeClr val="bg1"/>
                </a:solidFill>
                <a:latin typeface="Segoe UI" panose="020B0502040204020203" pitchFamily="34" charset="0"/>
                <a:cs typeface="Segoe UI" panose="020B0502040204020203" pitchFamily="34" charset="0"/>
              </a:rPr>
              <a:t>ЕФЕКТИВНОСТ</a:t>
            </a:r>
            <a:endParaRPr lang="en-US" sz="2000" b="1" dirty="0">
              <a:solidFill>
                <a:schemeClr val="bg1"/>
              </a:solidFill>
              <a:latin typeface="Segoe UI" panose="020B0502040204020203" pitchFamily="34" charset="0"/>
              <a:cs typeface="Segoe UI" panose="020B0502040204020203" pitchFamily="34" charset="0"/>
            </a:endParaRPr>
          </a:p>
        </p:txBody>
      </p:sp>
      <p:sp>
        <p:nvSpPr>
          <p:cNvPr id="71" name="TextBox 70">
            <a:extLst>
              <a:ext uri="{FF2B5EF4-FFF2-40B4-BE49-F238E27FC236}">
                <a16:creationId xmlns:a16="http://schemas.microsoft.com/office/drawing/2014/main" id="{63356910-89F1-4121-8BB4-C358F48026DF}"/>
              </a:ext>
            </a:extLst>
          </p:cNvPr>
          <p:cNvSpPr txBox="1"/>
          <p:nvPr/>
        </p:nvSpPr>
        <p:spPr>
          <a:xfrm>
            <a:off x="650900" y="3128178"/>
            <a:ext cx="2962310" cy="1600438"/>
          </a:xfrm>
          <a:prstGeom prst="rect">
            <a:avLst/>
          </a:prstGeom>
          <a:noFill/>
        </p:spPr>
        <p:txBody>
          <a:bodyPr wrap="square" rtlCol="0">
            <a:spAutoFit/>
          </a:bodyPr>
          <a:lstStyle/>
          <a:p>
            <a:r>
              <a:rPr lang="bg-BG" sz="1400" dirty="0" smtClean="0">
                <a:solidFill>
                  <a:srgbClr val="404040"/>
                </a:solidFill>
                <a:latin typeface="Segoe UI Light" panose="020B0502040204020203" pitchFamily="34" charset="0"/>
                <a:cs typeface="Segoe UI Light" panose="020B0502040204020203" pitchFamily="34" charset="0"/>
              </a:rPr>
              <a:t>Спазвайки специфичните фактори в проекта и 10-те функции на управление на ИТ проектите можете да затвърдите успешният проект и да не позволявате на потенциални заплахи или проблеми да станат реални такива.</a:t>
            </a:r>
            <a:endParaRPr lang="en-US" sz="1400" dirty="0">
              <a:solidFill>
                <a:srgbClr val="404040"/>
              </a:solidFill>
              <a:latin typeface="Segoe UI Light" panose="020B0502040204020203" pitchFamily="34" charset="0"/>
              <a:cs typeface="Segoe UI Light" panose="020B0502040204020203" pitchFamily="34" charset="0"/>
            </a:endParaRPr>
          </a:p>
        </p:txBody>
      </p:sp>
      <p:sp>
        <p:nvSpPr>
          <p:cNvPr id="72" name="TextBox 71">
            <a:extLst>
              <a:ext uri="{FF2B5EF4-FFF2-40B4-BE49-F238E27FC236}">
                <a16:creationId xmlns:a16="http://schemas.microsoft.com/office/drawing/2014/main" id="{0C695C05-472E-462B-A44C-BAB9190A5803}"/>
              </a:ext>
            </a:extLst>
          </p:cNvPr>
          <p:cNvSpPr txBox="1"/>
          <p:nvPr/>
        </p:nvSpPr>
        <p:spPr>
          <a:xfrm>
            <a:off x="8578801" y="2845144"/>
            <a:ext cx="2962310" cy="738664"/>
          </a:xfrm>
          <a:prstGeom prst="rect">
            <a:avLst/>
          </a:prstGeom>
          <a:noFill/>
        </p:spPr>
        <p:txBody>
          <a:bodyPr wrap="square" rtlCol="0">
            <a:spAutoFit/>
          </a:bodyPr>
          <a:lstStyle/>
          <a:p>
            <a:r>
              <a:rPr lang="bg-BG" sz="1400" dirty="0" smtClean="0">
                <a:solidFill>
                  <a:srgbClr val="404040"/>
                </a:solidFill>
                <a:latin typeface="Segoe UI Light" panose="020B0502040204020203" pitchFamily="34" charset="0"/>
                <a:cs typeface="Segoe UI Light" panose="020B0502040204020203" pitchFamily="34" charset="0"/>
              </a:rPr>
              <a:t>Това е критична част, тъй като от това зависи един проект да се състои и изпълни до края успешно.</a:t>
            </a:r>
            <a:endParaRPr lang="en-US" sz="1400" dirty="0">
              <a:solidFill>
                <a:srgbClr val="404040"/>
              </a:solidFill>
              <a:latin typeface="Segoe UI Light" panose="020B0502040204020203" pitchFamily="34" charset="0"/>
              <a:cs typeface="Segoe UI Light" panose="020B0502040204020203" pitchFamily="34" charset="0"/>
            </a:endParaRPr>
          </a:p>
        </p:txBody>
      </p:sp>
      <p:sp>
        <p:nvSpPr>
          <p:cNvPr id="73" name="TextBox 72">
            <a:extLst>
              <a:ext uri="{FF2B5EF4-FFF2-40B4-BE49-F238E27FC236}">
                <a16:creationId xmlns:a16="http://schemas.microsoft.com/office/drawing/2014/main" id="{228A3713-7E9D-4E6C-A7D2-DC6DC160A32C}"/>
              </a:ext>
            </a:extLst>
          </p:cNvPr>
          <p:cNvSpPr txBox="1"/>
          <p:nvPr/>
        </p:nvSpPr>
        <p:spPr>
          <a:xfrm>
            <a:off x="8578801" y="4282712"/>
            <a:ext cx="2962310" cy="954107"/>
          </a:xfrm>
          <a:prstGeom prst="rect">
            <a:avLst/>
          </a:prstGeom>
          <a:noFill/>
        </p:spPr>
        <p:txBody>
          <a:bodyPr wrap="square" rtlCol="0">
            <a:spAutoFit/>
          </a:bodyPr>
          <a:lstStyle/>
          <a:p>
            <a:r>
              <a:rPr lang="bg-BG" sz="1400" dirty="0" smtClean="0">
                <a:solidFill>
                  <a:srgbClr val="404040"/>
                </a:solidFill>
                <a:latin typeface="Segoe UI Light" panose="020B0502040204020203" pitchFamily="34" charset="0"/>
                <a:cs typeface="Segoe UI Light" panose="020B0502040204020203" pitchFamily="34" charset="0"/>
              </a:rPr>
              <a:t>Увеличаването на ефективността на работа може да гарантира намаляване на разходите и протичането на проекта по-гладко.</a:t>
            </a:r>
            <a:endParaRPr lang="en-US" sz="1400" dirty="0">
              <a:solidFill>
                <a:srgbClr val="404040"/>
              </a:solidFill>
              <a:latin typeface="Segoe UI Light" panose="020B0502040204020203" pitchFamily="34" charset="0"/>
              <a:cs typeface="Segoe UI Light" panose="020B0502040204020203" pitchFamily="34" charset="0"/>
            </a:endParaRPr>
          </a:p>
        </p:txBody>
      </p:sp>
      <p:grpSp>
        <p:nvGrpSpPr>
          <p:cNvPr id="74" name="Group 73">
            <a:extLst>
              <a:ext uri="{FF2B5EF4-FFF2-40B4-BE49-F238E27FC236}">
                <a16:creationId xmlns:a16="http://schemas.microsoft.com/office/drawing/2014/main" id="{100A79A9-890B-4F79-A6B9-FF3B8E2AA0E7}"/>
              </a:ext>
            </a:extLst>
          </p:cNvPr>
          <p:cNvGrpSpPr/>
          <p:nvPr/>
        </p:nvGrpSpPr>
        <p:grpSpPr>
          <a:xfrm>
            <a:off x="5951362" y="3526703"/>
            <a:ext cx="290892" cy="310012"/>
            <a:chOff x="6283325" y="4332288"/>
            <a:chExt cx="338138" cy="360363"/>
          </a:xfrm>
          <a:solidFill>
            <a:schemeClr val="bg1"/>
          </a:solidFill>
        </p:grpSpPr>
        <p:sp>
          <p:nvSpPr>
            <p:cNvPr id="75" name="Oval 76">
              <a:extLst>
                <a:ext uri="{FF2B5EF4-FFF2-40B4-BE49-F238E27FC236}">
                  <a16:creationId xmlns:a16="http://schemas.microsoft.com/office/drawing/2014/main" id="{14173B93-5A8C-4651-9A95-275F84FB919C}"/>
                </a:ext>
              </a:extLst>
            </p:cNvPr>
            <p:cNvSpPr>
              <a:spLocks noChangeArrowheads="1"/>
            </p:cNvSpPr>
            <p:nvPr/>
          </p:nvSpPr>
          <p:spPr bwMode="auto">
            <a:xfrm>
              <a:off x="6313488" y="4332288"/>
              <a:ext cx="120650" cy="1206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6" name="Oval 77">
              <a:extLst>
                <a:ext uri="{FF2B5EF4-FFF2-40B4-BE49-F238E27FC236}">
                  <a16:creationId xmlns:a16="http://schemas.microsoft.com/office/drawing/2014/main" id="{622C1C67-AEB6-41E2-8021-3804CB0F4490}"/>
                </a:ext>
              </a:extLst>
            </p:cNvPr>
            <p:cNvSpPr>
              <a:spLocks noChangeArrowheads="1"/>
            </p:cNvSpPr>
            <p:nvPr/>
          </p:nvSpPr>
          <p:spPr bwMode="auto">
            <a:xfrm>
              <a:off x="6502400" y="4338638"/>
              <a:ext cx="44450" cy="46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7" name="Freeform 78">
              <a:extLst>
                <a:ext uri="{FF2B5EF4-FFF2-40B4-BE49-F238E27FC236}">
                  <a16:creationId xmlns:a16="http://schemas.microsoft.com/office/drawing/2014/main" id="{616DA492-A8AA-4741-8305-AF818263E933}"/>
                </a:ext>
              </a:extLst>
            </p:cNvPr>
            <p:cNvSpPr>
              <a:spLocks/>
            </p:cNvSpPr>
            <p:nvPr/>
          </p:nvSpPr>
          <p:spPr bwMode="auto">
            <a:xfrm>
              <a:off x="6486525" y="4398963"/>
              <a:ext cx="74613" cy="57150"/>
            </a:xfrm>
            <a:custGeom>
              <a:avLst/>
              <a:gdLst>
                <a:gd name="T0" fmla="*/ 14 w 20"/>
                <a:gd name="T1" fmla="*/ 14 h 15"/>
                <a:gd name="T2" fmla="*/ 20 w 20"/>
                <a:gd name="T3" fmla="*/ 0 h 15"/>
                <a:gd name="T4" fmla="*/ 0 w 20"/>
                <a:gd name="T5" fmla="*/ 0 h 15"/>
                <a:gd name="T6" fmla="*/ 6 w 20"/>
                <a:gd name="T7" fmla="*/ 14 h 15"/>
                <a:gd name="T8" fmla="*/ 14 w 20"/>
                <a:gd name="T9" fmla="*/ 14 h 15"/>
              </a:gdLst>
              <a:ahLst/>
              <a:cxnLst>
                <a:cxn ang="0">
                  <a:pos x="T0" y="T1"/>
                </a:cxn>
                <a:cxn ang="0">
                  <a:pos x="T2" y="T3"/>
                </a:cxn>
                <a:cxn ang="0">
                  <a:pos x="T4" y="T5"/>
                </a:cxn>
                <a:cxn ang="0">
                  <a:pos x="T6" y="T7"/>
                </a:cxn>
                <a:cxn ang="0">
                  <a:pos x="T8" y="T9"/>
                </a:cxn>
              </a:cxnLst>
              <a:rect l="0" t="0" r="r" b="b"/>
              <a:pathLst>
                <a:path w="20" h="15">
                  <a:moveTo>
                    <a:pt x="14" y="14"/>
                  </a:moveTo>
                  <a:cubicBezTo>
                    <a:pt x="17" y="12"/>
                    <a:pt x="20" y="7"/>
                    <a:pt x="20" y="0"/>
                  </a:cubicBezTo>
                  <a:cubicBezTo>
                    <a:pt x="0" y="0"/>
                    <a:pt x="0" y="0"/>
                    <a:pt x="0" y="0"/>
                  </a:cubicBezTo>
                  <a:cubicBezTo>
                    <a:pt x="0" y="7"/>
                    <a:pt x="3" y="12"/>
                    <a:pt x="6" y="14"/>
                  </a:cubicBezTo>
                  <a:cubicBezTo>
                    <a:pt x="10" y="15"/>
                    <a:pt x="14" y="14"/>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8" name="Freeform 79">
              <a:extLst>
                <a:ext uri="{FF2B5EF4-FFF2-40B4-BE49-F238E27FC236}">
                  <a16:creationId xmlns:a16="http://schemas.microsoft.com/office/drawing/2014/main" id="{3370888B-0BC8-48BD-A68F-46B303A9D2B8}"/>
                </a:ext>
              </a:extLst>
            </p:cNvPr>
            <p:cNvSpPr>
              <a:spLocks/>
            </p:cNvSpPr>
            <p:nvPr/>
          </p:nvSpPr>
          <p:spPr bwMode="auto">
            <a:xfrm>
              <a:off x="6283325" y="4467226"/>
              <a:ext cx="180975" cy="142875"/>
            </a:xfrm>
            <a:custGeom>
              <a:avLst/>
              <a:gdLst>
                <a:gd name="T0" fmla="*/ 14 w 48"/>
                <a:gd name="T1" fmla="*/ 33 h 38"/>
                <a:gd name="T2" fmla="*/ 14 w 48"/>
                <a:gd name="T3" fmla="*/ 38 h 38"/>
                <a:gd name="T4" fmla="*/ 34 w 48"/>
                <a:gd name="T5" fmla="*/ 18 h 38"/>
                <a:gd name="T6" fmla="*/ 42 w 48"/>
                <a:gd name="T7" fmla="*/ 17 h 38"/>
                <a:gd name="T8" fmla="*/ 45 w 48"/>
                <a:gd name="T9" fmla="*/ 20 h 38"/>
                <a:gd name="T10" fmla="*/ 48 w 48"/>
                <a:gd name="T11" fmla="*/ 2 h 38"/>
                <a:gd name="T12" fmla="*/ 48 w 48"/>
                <a:gd name="T13" fmla="*/ 0 h 38"/>
                <a:gd name="T14" fmla="*/ 0 w 48"/>
                <a:gd name="T15" fmla="*/ 0 h 38"/>
                <a:gd name="T16" fmla="*/ 0 w 48"/>
                <a:gd name="T17" fmla="*/ 2 h 38"/>
                <a:gd name="T18" fmla="*/ 14 w 48"/>
                <a:gd name="T19" fmla="*/ 3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38">
                  <a:moveTo>
                    <a:pt x="14" y="33"/>
                  </a:moveTo>
                  <a:cubicBezTo>
                    <a:pt x="14" y="38"/>
                    <a:pt x="14" y="38"/>
                    <a:pt x="14" y="38"/>
                  </a:cubicBezTo>
                  <a:cubicBezTo>
                    <a:pt x="34" y="18"/>
                    <a:pt x="34" y="18"/>
                    <a:pt x="34" y="18"/>
                  </a:cubicBezTo>
                  <a:cubicBezTo>
                    <a:pt x="36" y="16"/>
                    <a:pt x="39" y="15"/>
                    <a:pt x="42" y="17"/>
                  </a:cubicBezTo>
                  <a:cubicBezTo>
                    <a:pt x="45" y="20"/>
                    <a:pt x="45" y="20"/>
                    <a:pt x="45" y="20"/>
                  </a:cubicBezTo>
                  <a:cubicBezTo>
                    <a:pt x="47" y="15"/>
                    <a:pt x="48" y="9"/>
                    <a:pt x="48" y="2"/>
                  </a:cubicBezTo>
                  <a:cubicBezTo>
                    <a:pt x="48" y="0"/>
                    <a:pt x="48" y="0"/>
                    <a:pt x="48" y="0"/>
                  </a:cubicBezTo>
                  <a:cubicBezTo>
                    <a:pt x="0" y="0"/>
                    <a:pt x="0" y="0"/>
                    <a:pt x="0" y="0"/>
                  </a:cubicBezTo>
                  <a:cubicBezTo>
                    <a:pt x="0" y="2"/>
                    <a:pt x="0" y="2"/>
                    <a:pt x="0" y="2"/>
                  </a:cubicBezTo>
                  <a:cubicBezTo>
                    <a:pt x="0" y="16"/>
                    <a:pt x="5" y="27"/>
                    <a:pt x="14"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9" name="Freeform 80">
              <a:extLst>
                <a:ext uri="{FF2B5EF4-FFF2-40B4-BE49-F238E27FC236}">
                  <a16:creationId xmlns:a16="http://schemas.microsoft.com/office/drawing/2014/main" id="{9944C3E8-C82B-49A3-8F5F-33E2261EE414}"/>
                </a:ext>
              </a:extLst>
            </p:cNvPr>
            <p:cNvSpPr>
              <a:spLocks/>
            </p:cNvSpPr>
            <p:nvPr/>
          </p:nvSpPr>
          <p:spPr bwMode="auto">
            <a:xfrm>
              <a:off x="6337300" y="4595813"/>
              <a:ext cx="74613" cy="96838"/>
            </a:xfrm>
            <a:custGeom>
              <a:avLst/>
              <a:gdLst>
                <a:gd name="T0" fmla="*/ 0 w 47"/>
                <a:gd name="T1" fmla="*/ 47 h 61"/>
                <a:gd name="T2" fmla="*/ 0 w 47"/>
                <a:gd name="T3" fmla="*/ 61 h 61"/>
                <a:gd name="T4" fmla="*/ 47 w 47"/>
                <a:gd name="T5" fmla="*/ 61 h 61"/>
                <a:gd name="T6" fmla="*/ 47 w 47"/>
                <a:gd name="T7" fmla="*/ 0 h 61"/>
                <a:gd name="T8" fmla="*/ 0 w 47"/>
                <a:gd name="T9" fmla="*/ 47 h 61"/>
              </a:gdLst>
              <a:ahLst/>
              <a:cxnLst>
                <a:cxn ang="0">
                  <a:pos x="T0" y="T1"/>
                </a:cxn>
                <a:cxn ang="0">
                  <a:pos x="T2" y="T3"/>
                </a:cxn>
                <a:cxn ang="0">
                  <a:pos x="T4" y="T5"/>
                </a:cxn>
                <a:cxn ang="0">
                  <a:pos x="T6" y="T7"/>
                </a:cxn>
                <a:cxn ang="0">
                  <a:pos x="T8" y="T9"/>
                </a:cxn>
              </a:cxnLst>
              <a:rect l="0" t="0" r="r" b="b"/>
              <a:pathLst>
                <a:path w="47" h="61">
                  <a:moveTo>
                    <a:pt x="0" y="47"/>
                  </a:moveTo>
                  <a:lnTo>
                    <a:pt x="0" y="61"/>
                  </a:lnTo>
                  <a:lnTo>
                    <a:pt x="47" y="61"/>
                  </a:lnTo>
                  <a:lnTo>
                    <a:pt x="47" y="0"/>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80" name="Freeform 81">
              <a:extLst>
                <a:ext uri="{FF2B5EF4-FFF2-40B4-BE49-F238E27FC236}">
                  <a16:creationId xmlns:a16="http://schemas.microsoft.com/office/drawing/2014/main" id="{A41711F2-3A46-4B90-8F31-88192599C041}"/>
                </a:ext>
              </a:extLst>
            </p:cNvPr>
            <p:cNvSpPr>
              <a:spLocks/>
            </p:cNvSpPr>
            <p:nvPr/>
          </p:nvSpPr>
          <p:spPr bwMode="auto">
            <a:xfrm>
              <a:off x="6283325" y="4481513"/>
              <a:ext cx="338138" cy="211138"/>
            </a:xfrm>
            <a:custGeom>
              <a:avLst/>
              <a:gdLst>
                <a:gd name="T0" fmla="*/ 90 w 90"/>
                <a:gd name="T1" fmla="*/ 2 h 56"/>
                <a:gd name="T2" fmla="*/ 90 w 90"/>
                <a:gd name="T3" fmla="*/ 2 h 56"/>
                <a:gd name="T4" fmla="*/ 90 w 90"/>
                <a:gd name="T5" fmla="*/ 1 h 56"/>
                <a:gd name="T6" fmla="*/ 90 w 90"/>
                <a:gd name="T7" fmla="*/ 1 h 56"/>
                <a:gd name="T8" fmla="*/ 89 w 90"/>
                <a:gd name="T9" fmla="*/ 1 h 56"/>
                <a:gd name="T10" fmla="*/ 89 w 90"/>
                <a:gd name="T11" fmla="*/ 1 h 56"/>
                <a:gd name="T12" fmla="*/ 89 w 90"/>
                <a:gd name="T13" fmla="*/ 1 h 56"/>
                <a:gd name="T14" fmla="*/ 89 w 90"/>
                <a:gd name="T15" fmla="*/ 0 h 56"/>
                <a:gd name="T16" fmla="*/ 88 w 90"/>
                <a:gd name="T17" fmla="*/ 0 h 56"/>
                <a:gd name="T18" fmla="*/ 88 w 90"/>
                <a:gd name="T19" fmla="*/ 0 h 56"/>
                <a:gd name="T20" fmla="*/ 60 w 90"/>
                <a:gd name="T21" fmla="*/ 0 h 56"/>
                <a:gd name="T22" fmla="*/ 58 w 90"/>
                <a:gd name="T23" fmla="*/ 2 h 56"/>
                <a:gd name="T24" fmla="*/ 60 w 90"/>
                <a:gd name="T25" fmla="*/ 4 h 56"/>
                <a:gd name="T26" fmla="*/ 83 w 90"/>
                <a:gd name="T27" fmla="*/ 4 h 56"/>
                <a:gd name="T28" fmla="*/ 58 w 90"/>
                <a:gd name="T29" fmla="*/ 31 h 56"/>
                <a:gd name="T30" fmla="*/ 39 w 90"/>
                <a:gd name="T31" fmla="*/ 16 h 56"/>
                <a:gd name="T32" fmla="*/ 37 w 90"/>
                <a:gd name="T33" fmla="*/ 17 h 56"/>
                <a:gd name="T34" fmla="*/ 1 w 90"/>
                <a:gd name="T35" fmla="*/ 53 h 56"/>
                <a:gd name="T36" fmla="*/ 1 w 90"/>
                <a:gd name="T37" fmla="*/ 55 h 56"/>
                <a:gd name="T38" fmla="*/ 2 w 90"/>
                <a:gd name="T39" fmla="*/ 56 h 56"/>
                <a:gd name="T40" fmla="*/ 3 w 90"/>
                <a:gd name="T41" fmla="*/ 55 h 56"/>
                <a:gd name="T42" fmla="*/ 38 w 90"/>
                <a:gd name="T43" fmla="*/ 21 h 56"/>
                <a:gd name="T44" fmla="*/ 57 w 90"/>
                <a:gd name="T45" fmla="*/ 36 h 56"/>
                <a:gd name="T46" fmla="*/ 59 w 90"/>
                <a:gd name="T47" fmla="*/ 35 h 56"/>
                <a:gd name="T48" fmla="*/ 86 w 90"/>
                <a:gd name="T49" fmla="*/ 7 h 56"/>
                <a:gd name="T50" fmla="*/ 86 w 90"/>
                <a:gd name="T51" fmla="*/ 28 h 56"/>
                <a:gd name="T52" fmla="*/ 88 w 90"/>
                <a:gd name="T53" fmla="*/ 30 h 56"/>
                <a:gd name="T54" fmla="*/ 90 w 90"/>
                <a:gd name="T55" fmla="*/ 28 h 56"/>
                <a:gd name="T56" fmla="*/ 90 w 90"/>
                <a:gd name="T57" fmla="*/ 2 h 56"/>
                <a:gd name="T58" fmla="*/ 90 w 90"/>
                <a:gd name="T59"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0" h="56">
                  <a:moveTo>
                    <a:pt x="90" y="2"/>
                  </a:moveTo>
                  <a:cubicBezTo>
                    <a:pt x="90" y="2"/>
                    <a:pt x="90" y="2"/>
                    <a:pt x="90" y="2"/>
                  </a:cubicBezTo>
                  <a:cubicBezTo>
                    <a:pt x="90" y="2"/>
                    <a:pt x="90" y="1"/>
                    <a:pt x="90" y="1"/>
                  </a:cubicBezTo>
                  <a:cubicBezTo>
                    <a:pt x="90" y="1"/>
                    <a:pt x="90" y="1"/>
                    <a:pt x="90" y="1"/>
                  </a:cubicBezTo>
                  <a:cubicBezTo>
                    <a:pt x="90" y="1"/>
                    <a:pt x="90" y="1"/>
                    <a:pt x="89" y="1"/>
                  </a:cubicBezTo>
                  <a:cubicBezTo>
                    <a:pt x="89" y="1"/>
                    <a:pt x="89" y="1"/>
                    <a:pt x="89" y="1"/>
                  </a:cubicBezTo>
                  <a:cubicBezTo>
                    <a:pt x="89" y="1"/>
                    <a:pt x="89" y="1"/>
                    <a:pt x="89" y="1"/>
                  </a:cubicBezTo>
                  <a:cubicBezTo>
                    <a:pt x="89" y="0"/>
                    <a:pt x="89" y="0"/>
                    <a:pt x="89" y="0"/>
                  </a:cubicBezTo>
                  <a:cubicBezTo>
                    <a:pt x="89" y="0"/>
                    <a:pt x="88" y="0"/>
                    <a:pt x="88" y="0"/>
                  </a:cubicBezTo>
                  <a:cubicBezTo>
                    <a:pt x="88" y="0"/>
                    <a:pt x="88" y="0"/>
                    <a:pt x="88" y="0"/>
                  </a:cubicBezTo>
                  <a:cubicBezTo>
                    <a:pt x="60" y="0"/>
                    <a:pt x="60" y="0"/>
                    <a:pt x="60" y="0"/>
                  </a:cubicBezTo>
                  <a:cubicBezTo>
                    <a:pt x="59" y="0"/>
                    <a:pt x="58" y="1"/>
                    <a:pt x="58" y="2"/>
                  </a:cubicBezTo>
                  <a:cubicBezTo>
                    <a:pt x="58" y="3"/>
                    <a:pt x="59" y="4"/>
                    <a:pt x="60" y="4"/>
                  </a:cubicBezTo>
                  <a:cubicBezTo>
                    <a:pt x="83" y="4"/>
                    <a:pt x="83" y="4"/>
                    <a:pt x="83" y="4"/>
                  </a:cubicBezTo>
                  <a:cubicBezTo>
                    <a:pt x="58" y="31"/>
                    <a:pt x="58" y="31"/>
                    <a:pt x="58" y="31"/>
                  </a:cubicBezTo>
                  <a:cubicBezTo>
                    <a:pt x="39" y="16"/>
                    <a:pt x="39" y="16"/>
                    <a:pt x="39" y="16"/>
                  </a:cubicBezTo>
                  <a:cubicBezTo>
                    <a:pt x="38" y="16"/>
                    <a:pt x="37" y="16"/>
                    <a:pt x="37" y="17"/>
                  </a:cubicBezTo>
                  <a:cubicBezTo>
                    <a:pt x="1" y="53"/>
                    <a:pt x="1" y="53"/>
                    <a:pt x="1" y="53"/>
                  </a:cubicBezTo>
                  <a:cubicBezTo>
                    <a:pt x="0" y="53"/>
                    <a:pt x="0" y="55"/>
                    <a:pt x="1" y="55"/>
                  </a:cubicBezTo>
                  <a:cubicBezTo>
                    <a:pt x="1" y="56"/>
                    <a:pt x="1" y="56"/>
                    <a:pt x="2" y="56"/>
                  </a:cubicBezTo>
                  <a:cubicBezTo>
                    <a:pt x="3" y="56"/>
                    <a:pt x="3" y="56"/>
                    <a:pt x="3" y="55"/>
                  </a:cubicBezTo>
                  <a:cubicBezTo>
                    <a:pt x="38" y="21"/>
                    <a:pt x="38" y="21"/>
                    <a:pt x="38" y="21"/>
                  </a:cubicBezTo>
                  <a:cubicBezTo>
                    <a:pt x="57" y="36"/>
                    <a:pt x="57" y="36"/>
                    <a:pt x="57" y="36"/>
                  </a:cubicBezTo>
                  <a:cubicBezTo>
                    <a:pt x="58" y="36"/>
                    <a:pt x="59" y="36"/>
                    <a:pt x="59" y="35"/>
                  </a:cubicBezTo>
                  <a:cubicBezTo>
                    <a:pt x="86" y="7"/>
                    <a:pt x="86" y="7"/>
                    <a:pt x="86" y="7"/>
                  </a:cubicBezTo>
                  <a:cubicBezTo>
                    <a:pt x="86" y="28"/>
                    <a:pt x="86" y="28"/>
                    <a:pt x="86" y="28"/>
                  </a:cubicBezTo>
                  <a:cubicBezTo>
                    <a:pt x="86" y="29"/>
                    <a:pt x="87" y="30"/>
                    <a:pt x="88" y="30"/>
                  </a:cubicBezTo>
                  <a:cubicBezTo>
                    <a:pt x="89" y="30"/>
                    <a:pt x="90" y="29"/>
                    <a:pt x="90" y="28"/>
                  </a:cubicBezTo>
                  <a:cubicBezTo>
                    <a:pt x="90" y="2"/>
                    <a:pt x="90" y="2"/>
                    <a:pt x="90" y="2"/>
                  </a:cubicBezTo>
                  <a:cubicBezTo>
                    <a:pt x="90" y="2"/>
                    <a:pt x="90" y="2"/>
                    <a:pt x="9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81" name="Group 80">
            <a:extLst>
              <a:ext uri="{FF2B5EF4-FFF2-40B4-BE49-F238E27FC236}">
                <a16:creationId xmlns:a16="http://schemas.microsoft.com/office/drawing/2014/main" id="{992ABB60-7C94-42E3-B247-19E3646612C1}"/>
              </a:ext>
            </a:extLst>
          </p:cNvPr>
          <p:cNvGrpSpPr/>
          <p:nvPr/>
        </p:nvGrpSpPr>
        <p:grpSpPr>
          <a:xfrm>
            <a:off x="5945216" y="4650771"/>
            <a:ext cx="303184" cy="310012"/>
            <a:chOff x="5562600" y="4332288"/>
            <a:chExt cx="352426" cy="360363"/>
          </a:xfrm>
          <a:solidFill>
            <a:schemeClr val="bg1"/>
          </a:solidFill>
        </p:grpSpPr>
        <p:sp>
          <p:nvSpPr>
            <p:cNvPr id="82" name="Oval 127">
              <a:extLst>
                <a:ext uri="{FF2B5EF4-FFF2-40B4-BE49-F238E27FC236}">
                  <a16:creationId xmlns:a16="http://schemas.microsoft.com/office/drawing/2014/main" id="{2391ECF3-7F2E-47EB-9979-F331764903EA}"/>
                </a:ext>
              </a:extLst>
            </p:cNvPr>
            <p:cNvSpPr>
              <a:spLocks noChangeArrowheads="1"/>
            </p:cNvSpPr>
            <p:nvPr/>
          </p:nvSpPr>
          <p:spPr bwMode="auto">
            <a:xfrm>
              <a:off x="5592763" y="4332288"/>
              <a:ext cx="120650" cy="1206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83" name="Freeform 128">
              <a:extLst>
                <a:ext uri="{FF2B5EF4-FFF2-40B4-BE49-F238E27FC236}">
                  <a16:creationId xmlns:a16="http://schemas.microsoft.com/office/drawing/2014/main" id="{F3548B94-B2A0-4FFC-8C22-06E560D590E4}"/>
                </a:ext>
              </a:extLst>
            </p:cNvPr>
            <p:cNvSpPr>
              <a:spLocks/>
            </p:cNvSpPr>
            <p:nvPr/>
          </p:nvSpPr>
          <p:spPr bwMode="auto">
            <a:xfrm>
              <a:off x="5562600" y="4467226"/>
              <a:ext cx="180975" cy="225425"/>
            </a:xfrm>
            <a:custGeom>
              <a:avLst/>
              <a:gdLst>
                <a:gd name="T0" fmla="*/ 28 w 48"/>
                <a:gd name="T1" fmla="*/ 0 h 60"/>
                <a:gd name="T2" fmla="*/ 30 w 48"/>
                <a:gd name="T3" fmla="*/ 27 h 60"/>
                <a:gd name="T4" fmla="*/ 24 w 48"/>
                <a:gd name="T5" fmla="*/ 33 h 60"/>
                <a:gd name="T6" fmla="*/ 18 w 48"/>
                <a:gd name="T7" fmla="*/ 27 h 60"/>
                <a:gd name="T8" fmla="*/ 20 w 48"/>
                <a:gd name="T9" fmla="*/ 0 h 60"/>
                <a:gd name="T10" fmla="*/ 0 w 48"/>
                <a:gd name="T11" fmla="*/ 0 h 60"/>
                <a:gd name="T12" fmla="*/ 0 w 48"/>
                <a:gd name="T13" fmla="*/ 2 h 60"/>
                <a:gd name="T14" fmla="*/ 14 w 48"/>
                <a:gd name="T15" fmla="*/ 33 h 60"/>
                <a:gd name="T16" fmla="*/ 14 w 48"/>
                <a:gd name="T17" fmla="*/ 60 h 60"/>
                <a:gd name="T18" fmla="*/ 34 w 48"/>
                <a:gd name="T19" fmla="*/ 60 h 60"/>
                <a:gd name="T20" fmla="*/ 34 w 48"/>
                <a:gd name="T21" fmla="*/ 33 h 60"/>
                <a:gd name="T22" fmla="*/ 48 w 48"/>
                <a:gd name="T23" fmla="*/ 2 h 60"/>
                <a:gd name="T24" fmla="*/ 48 w 48"/>
                <a:gd name="T25" fmla="*/ 0 h 60"/>
                <a:gd name="T26" fmla="*/ 28 w 48"/>
                <a:gd name="T2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28" y="0"/>
                  </a:moveTo>
                  <a:cubicBezTo>
                    <a:pt x="30" y="27"/>
                    <a:pt x="30" y="27"/>
                    <a:pt x="30" y="27"/>
                  </a:cubicBezTo>
                  <a:cubicBezTo>
                    <a:pt x="24" y="33"/>
                    <a:pt x="24" y="33"/>
                    <a:pt x="24" y="33"/>
                  </a:cubicBezTo>
                  <a:cubicBezTo>
                    <a:pt x="18" y="27"/>
                    <a:pt x="18" y="27"/>
                    <a:pt x="18" y="27"/>
                  </a:cubicBezTo>
                  <a:cubicBezTo>
                    <a:pt x="20" y="0"/>
                    <a:pt x="20" y="0"/>
                    <a:pt x="20" y="0"/>
                  </a:cubicBezTo>
                  <a:cubicBezTo>
                    <a:pt x="0" y="0"/>
                    <a:pt x="0" y="0"/>
                    <a:pt x="0" y="0"/>
                  </a:cubicBezTo>
                  <a:cubicBezTo>
                    <a:pt x="0" y="2"/>
                    <a:pt x="0" y="2"/>
                    <a:pt x="0" y="2"/>
                  </a:cubicBezTo>
                  <a:cubicBezTo>
                    <a:pt x="0" y="16"/>
                    <a:pt x="5" y="27"/>
                    <a:pt x="14" y="33"/>
                  </a:cubicBezTo>
                  <a:cubicBezTo>
                    <a:pt x="14" y="60"/>
                    <a:pt x="14" y="60"/>
                    <a:pt x="14" y="60"/>
                  </a:cubicBezTo>
                  <a:cubicBezTo>
                    <a:pt x="34" y="60"/>
                    <a:pt x="34" y="60"/>
                    <a:pt x="34" y="60"/>
                  </a:cubicBezTo>
                  <a:cubicBezTo>
                    <a:pt x="34" y="33"/>
                    <a:pt x="34" y="33"/>
                    <a:pt x="34" y="33"/>
                  </a:cubicBezTo>
                  <a:cubicBezTo>
                    <a:pt x="43" y="27"/>
                    <a:pt x="48" y="16"/>
                    <a:pt x="48" y="2"/>
                  </a:cubicBezTo>
                  <a:cubicBezTo>
                    <a:pt x="48" y="0"/>
                    <a:pt x="48" y="0"/>
                    <a:pt x="48" y="0"/>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84" name="Freeform 129">
              <a:extLst>
                <a:ext uri="{FF2B5EF4-FFF2-40B4-BE49-F238E27FC236}">
                  <a16:creationId xmlns:a16="http://schemas.microsoft.com/office/drawing/2014/main" id="{4A1C13BD-FE07-4DCF-98E1-CE9669E65824}"/>
                </a:ext>
              </a:extLst>
            </p:cNvPr>
            <p:cNvSpPr>
              <a:spLocks noEditPoints="1"/>
            </p:cNvSpPr>
            <p:nvPr/>
          </p:nvSpPr>
          <p:spPr bwMode="auto">
            <a:xfrm>
              <a:off x="5697538" y="4346576"/>
              <a:ext cx="217488" cy="225425"/>
            </a:xfrm>
            <a:custGeom>
              <a:avLst/>
              <a:gdLst>
                <a:gd name="T0" fmla="*/ 4 w 58"/>
                <a:gd name="T1" fmla="*/ 0 h 60"/>
                <a:gd name="T2" fmla="*/ 8 w 58"/>
                <a:gd name="T3" fmla="*/ 12 h 60"/>
                <a:gd name="T4" fmla="*/ 0 w 58"/>
                <a:gd name="T5" fmla="*/ 28 h 60"/>
                <a:gd name="T6" fmla="*/ 16 w 58"/>
                <a:gd name="T7" fmla="*/ 28 h 60"/>
                <a:gd name="T8" fmla="*/ 16 w 58"/>
                <a:gd name="T9" fmla="*/ 34 h 60"/>
                <a:gd name="T10" fmla="*/ 9 w 58"/>
                <a:gd name="T11" fmla="*/ 60 h 60"/>
                <a:gd name="T12" fmla="*/ 58 w 58"/>
                <a:gd name="T13" fmla="*/ 60 h 60"/>
                <a:gd name="T14" fmla="*/ 58 w 58"/>
                <a:gd name="T15" fmla="*/ 0 h 60"/>
                <a:gd name="T16" fmla="*/ 4 w 58"/>
                <a:gd name="T17" fmla="*/ 0 h 60"/>
                <a:gd name="T18" fmla="*/ 45 w 58"/>
                <a:gd name="T19" fmla="*/ 44 h 60"/>
                <a:gd name="T20" fmla="*/ 44 w 58"/>
                <a:gd name="T21" fmla="*/ 44 h 60"/>
                <a:gd name="T22" fmla="*/ 43 w 58"/>
                <a:gd name="T23" fmla="*/ 43 h 60"/>
                <a:gd name="T24" fmla="*/ 40 w 58"/>
                <a:gd name="T25" fmla="*/ 36 h 60"/>
                <a:gd name="T26" fmla="*/ 28 w 58"/>
                <a:gd name="T27" fmla="*/ 36 h 60"/>
                <a:gd name="T28" fmla="*/ 25 w 58"/>
                <a:gd name="T29" fmla="*/ 43 h 60"/>
                <a:gd name="T30" fmla="*/ 23 w 58"/>
                <a:gd name="T31" fmla="*/ 44 h 60"/>
                <a:gd name="T32" fmla="*/ 22 w 58"/>
                <a:gd name="T33" fmla="*/ 41 h 60"/>
                <a:gd name="T34" fmla="*/ 32 w 58"/>
                <a:gd name="T35" fmla="*/ 14 h 60"/>
                <a:gd name="T36" fmla="*/ 34 w 58"/>
                <a:gd name="T37" fmla="*/ 12 h 60"/>
                <a:gd name="T38" fmla="*/ 36 w 58"/>
                <a:gd name="T39" fmla="*/ 14 h 60"/>
                <a:gd name="T40" fmla="*/ 46 w 58"/>
                <a:gd name="T41" fmla="*/ 41 h 60"/>
                <a:gd name="T42" fmla="*/ 45 w 58"/>
                <a:gd name="T43" fmla="*/ 4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8" h="60">
                  <a:moveTo>
                    <a:pt x="4" y="0"/>
                  </a:moveTo>
                  <a:cubicBezTo>
                    <a:pt x="6" y="3"/>
                    <a:pt x="8" y="7"/>
                    <a:pt x="8" y="12"/>
                  </a:cubicBezTo>
                  <a:cubicBezTo>
                    <a:pt x="8" y="19"/>
                    <a:pt x="5" y="24"/>
                    <a:pt x="0" y="28"/>
                  </a:cubicBezTo>
                  <a:cubicBezTo>
                    <a:pt x="16" y="28"/>
                    <a:pt x="16" y="28"/>
                    <a:pt x="16" y="28"/>
                  </a:cubicBezTo>
                  <a:cubicBezTo>
                    <a:pt x="16" y="34"/>
                    <a:pt x="16" y="34"/>
                    <a:pt x="16" y="34"/>
                  </a:cubicBezTo>
                  <a:cubicBezTo>
                    <a:pt x="16" y="44"/>
                    <a:pt x="13" y="53"/>
                    <a:pt x="9" y="60"/>
                  </a:cubicBezTo>
                  <a:cubicBezTo>
                    <a:pt x="58" y="60"/>
                    <a:pt x="58" y="60"/>
                    <a:pt x="58" y="60"/>
                  </a:cubicBezTo>
                  <a:cubicBezTo>
                    <a:pt x="58" y="0"/>
                    <a:pt x="58" y="0"/>
                    <a:pt x="58" y="0"/>
                  </a:cubicBezTo>
                  <a:lnTo>
                    <a:pt x="4" y="0"/>
                  </a:lnTo>
                  <a:close/>
                  <a:moveTo>
                    <a:pt x="45" y="44"/>
                  </a:moveTo>
                  <a:cubicBezTo>
                    <a:pt x="45" y="44"/>
                    <a:pt x="45" y="44"/>
                    <a:pt x="44" y="44"/>
                  </a:cubicBezTo>
                  <a:cubicBezTo>
                    <a:pt x="44" y="44"/>
                    <a:pt x="43" y="44"/>
                    <a:pt x="43" y="43"/>
                  </a:cubicBezTo>
                  <a:cubicBezTo>
                    <a:pt x="40" y="36"/>
                    <a:pt x="40" y="36"/>
                    <a:pt x="40" y="36"/>
                  </a:cubicBezTo>
                  <a:cubicBezTo>
                    <a:pt x="28" y="36"/>
                    <a:pt x="28" y="36"/>
                    <a:pt x="28" y="36"/>
                  </a:cubicBezTo>
                  <a:cubicBezTo>
                    <a:pt x="25" y="43"/>
                    <a:pt x="25" y="43"/>
                    <a:pt x="25" y="43"/>
                  </a:cubicBezTo>
                  <a:cubicBezTo>
                    <a:pt x="25" y="44"/>
                    <a:pt x="24" y="44"/>
                    <a:pt x="23" y="44"/>
                  </a:cubicBezTo>
                  <a:cubicBezTo>
                    <a:pt x="22" y="43"/>
                    <a:pt x="21" y="42"/>
                    <a:pt x="22" y="41"/>
                  </a:cubicBezTo>
                  <a:cubicBezTo>
                    <a:pt x="32" y="14"/>
                    <a:pt x="32" y="14"/>
                    <a:pt x="32" y="14"/>
                  </a:cubicBezTo>
                  <a:cubicBezTo>
                    <a:pt x="32" y="13"/>
                    <a:pt x="33" y="12"/>
                    <a:pt x="34" y="12"/>
                  </a:cubicBezTo>
                  <a:cubicBezTo>
                    <a:pt x="35" y="12"/>
                    <a:pt x="36" y="13"/>
                    <a:pt x="36" y="14"/>
                  </a:cubicBezTo>
                  <a:cubicBezTo>
                    <a:pt x="46" y="41"/>
                    <a:pt x="46" y="41"/>
                    <a:pt x="46" y="41"/>
                  </a:cubicBezTo>
                  <a:cubicBezTo>
                    <a:pt x="47" y="42"/>
                    <a:pt x="46" y="44"/>
                    <a:pt x="45"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85" name="Freeform 130">
              <a:extLst>
                <a:ext uri="{FF2B5EF4-FFF2-40B4-BE49-F238E27FC236}">
                  <a16:creationId xmlns:a16="http://schemas.microsoft.com/office/drawing/2014/main" id="{ED32348F-AF5E-4ADD-9944-2881A5414ACA}"/>
                </a:ext>
              </a:extLst>
            </p:cNvPr>
            <p:cNvSpPr>
              <a:spLocks/>
            </p:cNvSpPr>
            <p:nvPr/>
          </p:nvSpPr>
          <p:spPr bwMode="auto">
            <a:xfrm>
              <a:off x="5810250" y="4422776"/>
              <a:ext cx="34925" cy="44450"/>
            </a:xfrm>
            <a:custGeom>
              <a:avLst/>
              <a:gdLst>
                <a:gd name="T0" fmla="*/ 0 w 22"/>
                <a:gd name="T1" fmla="*/ 28 h 28"/>
                <a:gd name="T2" fmla="*/ 22 w 22"/>
                <a:gd name="T3" fmla="*/ 28 h 28"/>
                <a:gd name="T4" fmla="*/ 10 w 22"/>
                <a:gd name="T5" fmla="*/ 0 h 28"/>
                <a:gd name="T6" fmla="*/ 0 w 22"/>
                <a:gd name="T7" fmla="*/ 28 h 28"/>
              </a:gdLst>
              <a:ahLst/>
              <a:cxnLst>
                <a:cxn ang="0">
                  <a:pos x="T0" y="T1"/>
                </a:cxn>
                <a:cxn ang="0">
                  <a:pos x="T2" y="T3"/>
                </a:cxn>
                <a:cxn ang="0">
                  <a:pos x="T4" y="T5"/>
                </a:cxn>
                <a:cxn ang="0">
                  <a:pos x="T6" y="T7"/>
                </a:cxn>
              </a:cxnLst>
              <a:rect l="0" t="0" r="r" b="b"/>
              <a:pathLst>
                <a:path w="22" h="28">
                  <a:moveTo>
                    <a:pt x="0" y="28"/>
                  </a:moveTo>
                  <a:lnTo>
                    <a:pt x="22" y="28"/>
                  </a:lnTo>
                  <a:lnTo>
                    <a:pt x="10" y="0"/>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86" name="Group 85">
            <a:extLst>
              <a:ext uri="{FF2B5EF4-FFF2-40B4-BE49-F238E27FC236}">
                <a16:creationId xmlns:a16="http://schemas.microsoft.com/office/drawing/2014/main" id="{B8D7FBEA-3963-491F-99BE-0479C35C3F7A}"/>
              </a:ext>
            </a:extLst>
          </p:cNvPr>
          <p:cNvGrpSpPr/>
          <p:nvPr/>
        </p:nvGrpSpPr>
        <p:grpSpPr>
          <a:xfrm>
            <a:off x="5945217" y="2516293"/>
            <a:ext cx="303184" cy="310012"/>
            <a:chOff x="7726363" y="4332288"/>
            <a:chExt cx="352425" cy="360363"/>
          </a:xfrm>
          <a:solidFill>
            <a:schemeClr val="bg1"/>
          </a:solidFill>
        </p:grpSpPr>
        <p:sp>
          <p:nvSpPr>
            <p:cNvPr id="87" name="Oval 132">
              <a:extLst>
                <a:ext uri="{FF2B5EF4-FFF2-40B4-BE49-F238E27FC236}">
                  <a16:creationId xmlns:a16="http://schemas.microsoft.com/office/drawing/2014/main" id="{645BF694-9DFF-4223-986F-7798BC638420}"/>
                </a:ext>
              </a:extLst>
            </p:cNvPr>
            <p:cNvSpPr>
              <a:spLocks noChangeArrowheads="1"/>
            </p:cNvSpPr>
            <p:nvPr/>
          </p:nvSpPr>
          <p:spPr bwMode="auto">
            <a:xfrm>
              <a:off x="7756525" y="4332288"/>
              <a:ext cx="120650" cy="1206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88" name="Freeform 133">
              <a:extLst>
                <a:ext uri="{FF2B5EF4-FFF2-40B4-BE49-F238E27FC236}">
                  <a16:creationId xmlns:a16="http://schemas.microsoft.com/office/drawing/2014/main" id="{368ED360-42CD-4034-A6E7-373F2C742C26}"/>
                </a:ext>
              </a:extLst>
            </p:cNvPr>
            <p:cNvSpPr>
              <a:spLocks/>
            </p:cNvSpPr>
            <p:nvPr/>
          </p:nvSpPr>
          <p:spPr bwMode="auto">
            <a:xfrm>
              <a:off x="7726363" y="4467226"/>
              <a:ext cx="180975" cy="225425"/>
            </a:xfrm>
            <a:custGeom>
              <a:avLst/>
              <a:gdLst>
                <a:gd name="T0" fmla="*/ 28 w 48"/>
                <a:gd name="T1" fmla="*/ 0 h 60"/>
                <a:gd name="T2" fmla="*/ 30 w 48"/>
                <a:gd name="T3" fmla="*/ 27 h 60"/>
                <a:gd name="T4" fmla="*/ 24 w 48"/>
                <a:gd name="T5" fmla="*/ 33 h 60"/>
                <a:gd name="T6" fmla="*/ 18 w 48"/>
                <a:gd name="T7" fmla="*/ 27 h 60"/>
                <a:gd name="T8" fmla="*/ 20 w 48"/>
                <a:gd name="T9" fmla="*/ 0 h 60"/>
                <a:gd name="T10" fmla="*/ 0 w 48"/>
                <a:gd name="T11" fmla="*/ 0 h 60"/>
                <a:gd name="T12" fmla="*/ 0 w 48"/>
                <a:gd name="T13" fmla="*/ 2 h 60"/>
                <a:gd name="T14" fmla="*/ 14 w 48"/>
                <a:gd name="T15" fmla="*/ 33 h 60"/>
                <a:gd name="T16" fmla="*/ 14 w 48"/>
                <a:gd name="T17" fmla="*/ 60 h 60"/>
                <a:gd name="T18" fmla="*/ 34 w 48"/>
                <a:gd name="T19" fmla="*/ 60 h 60"/>
                <a:gd name="T20" fmla="*/ 34 w 48"/>
                <a:gd name="T21" fmla="*/ 33 h 60"/>
                <a:gd name="T22" fmla="*/ 48 w 48"/>
                <a:gd name="T23" fmla="*/ 2 h 60"/>
                <a:gd name="T24" fmla="*/ 48 w 48"/>
                <a:gd name="T25" fmla="*/ 0 h 60"/>
                <a:gd name="T26" fmla="*/ 28 w 48"/>
                <a:gd name="T27"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28" y="0"/>
                  </a:moveTo>
                  <a:cubicBezTo>
                    <a:pt x="30" y="27"/>
                    <a:pt x="30" y="27"/>
                    <a:pt x="30" y="27"/>
                  </a:cubicBezTo>
                  <a:cubicBezTo>
                    <a:pt x="24" y="33"/>
                    <a:pt x="24" y="33"/>
                    <a:pt x="24" y="33"/>
                  </a:cubicBezTo>
                  <a:cubicBezTo>
                    <a:pt x="18" y="27"/>
                    <a:pt x="18" y="27"/>
                    <a:pt x="18" y="27"/>
                  </a:cubicBezTo>
                  <a:cubicBezTo>
                    <a:pt x="20" y="0"/>
                    <a:pt x="20" y="0"/>
                    <a:pt x="20" y="0"/>
                  </a:cubicBezTo>
                  <a:cubicBezTo>
                    <a:pt x="0" y="0"/>
                    <a:pt x="0" y="0"/>
                    <a:pt x="0" y="0"/>
                  </a:cubicBezTo>
                  <a:cubicBezTo>
                    <a:pt x="0" y="2"/>
                    <a:pt x="0" y="2"/>
                    <a:pt x="0" y="2"/>
                  </a:cubicBezTo>
                  <a:cubicBezTo>
                    <a:pt x="0" y="16"/>
                    <a:pt x="5" y="27"/>
                    <a:pt x="14" y="33"/>
                  </a:cubicBezTo>
                  <a:cubicBezTo>
                    <a:pt x="14" y="60"/>
                    <a:pt x="14" y="60"/>
                    <a:pt x="14" y="60"/>
                  </a:cubicBezTo>
                  <a:cubicBezTo>
                    <a:pt x="34" y="60"/>
                    <a:pt x="34" y="60"/>
                    <a:pt x="34" y="60"/>
                  </a:cubicBezTo>
                  <a:cubicBezTo>
                    <a:pt x="34" y="33"/>
                    <a:pt x="34" y="33"/>
                    <a:pt x="34" y="33"/>
                  </a:cubicBezTo>
                  <a:cubicBezTo>
                    <a:pt x="43" y="27"/>
                    <a:pt x="48" y="16"/>
                    <a:pt x="48" y="2"/>
                  </a:cubicBezTo>
                  <a:cubicBezTo>
                    <a:pt x="48" y="0"/>
                    <a:pt x="48" y="0"/>
                    <a:pt x="48" y="0"/>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89" name="Freeform 134">
              <a:extLst>
                <a:ext uri="{FF2B5EF4-FFF2-40B4-BE49-F238E27FC236}">
                  <a16:creationId xmlns:a16="http://schemas.microsoft.com/office/drawing/2014/main" id="{B4537E50-046B-4741-82CD-B1D2AF8CB1D7}"/>
                </a:ext>
              </a:extLst>
            </p:cNvPr>
            <p:cNvSpPr>
              <a:spLocks noEditPoints="1"/>
            </p:cNvSpPr>
            <p:nvPr/>
          </p:nvSpPr>
          <p:spPr bwMode="auto">
            <a:xfrm>
              <a:off x="7943850" y="4362451"/>
              <a:ext cx="106363" cy="134938"/>
            </a:xfrm>
            <a:custGeom>
              <a:avLst/>
              <a:gdLst>
                <a:gd name="T0" fmla="*/ 28 w 28"/>
                <a:gd name="T1" fmla="*/ 14 h 36"/>
                <a:gd name="T2" fmla="*/ 14 w 28"/>
                <a:gd name="T3" fmla="*/ 0 h 36"/>
                <a:gd name="T4" fmla="*/ 0 w 28"/>
                <a:gd name="T5" fmla="*/ 14 h 36"/>
                <a:gd name="T6" fmla="*/ 8 w 28"/>
                <a:gd name="T7" fmla="*/ 27 h 36"/>
                <a:gd name="T8" fmla="*/ 8 w 28"/>
                <a:gd name="T9" fmla="*/ 34 h 36"/>
                <a:gd name="T10" fmla="*/ 10 w 28"/>
                <a:gd name="T11" fmla="*/ 36 h 36"/>
                <a:gd name="T12" fmla="*/ 18 w 28"/>
                <a:gd name="T13" fmla="*/ 36 h 36"/>
                <a:gd name="T14" fmla="*/ 20 w 28"/>
                <a:gd name="T15" fmla="*/ 34 h 36"/>
                <a:gd name="T16" fmla="*/ 20 w 28"/>
                <a:gd name="T17" fmla="*/ 27 h 36"/>
                <a:gd name="T18" fmla="*/ 28 w 28"/>
                <a:gd name="T19" fmla="*/ 14 h 36"/>
                <a:gd name="T20" fmla="*/ 14 w 28"/>
                <a:gd name="T21" fmla="*/ 24 h 36"/>
                <a:gd name="T22" fmla="*/ 4 w 28"/>
                <a:gd name="T23" fmla="*/ 14 h 36"/>
                <a:gd name="T24" fmla="*/ 14 w 28"/>
                <a:gd name="T25" fmla="*/ 4 h 36"/>
                <a:gd name="T26" fmla="*/ 24 w 28"/>
                <a:gd name="T27" fmla="*/ 14 h 36"/>
                <a:gd name="T28" fmla="*/ 14 w 28"/>
                <a:gd name="T29"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6">
                  <a:moveTo>
                    <a:pt x="28" y="14"/>
                  </a:moveTo>
                  <a:cubicBezTo>
                    <a:pt x="28" y="6"/>
                    <a:pt x="22" y="0"/>
                    <a:pt x="14" y="0"/>
                  </a:cubicBezTo>
                  <a:cubicBezTo>
                    <a:pt x="6" y="0"/>
                    <a:pt x="0" y="6"/>
                    <a:pt x="0" y="14"/>
                  </a:cubicBezTo>
                  <a:cubicBezTo>
                    <a:pt x="0" y="20"/>
                    <a:pt x="3" y="24"/>
                    <a:pt x="8" y="27"/>
                  </a:cubicBezTo>
                  <a:cubicBezTo>
                    <a:pt x="8" y="34"/>
                    <a:pt x="8" y="34"/>
                    <a:pt x="8" y="34"/>
                  </a:cubicBezTo>
                  <a:cubicBezTo>
                    <a:pt x="8" y="35"/>
                    <a:pt x="9" y="36"/>
                    <a:pt x="10" y="36"/>
                  </a:cubicBezTo>
                  <a:cubicBezTo>
                    <a:pt x="18" y="36"/>
                    <a:pt x="18" y="36"/>
                    <a:pt x="18" y="36"/>
                  </a:cubicBezTo>
                  <a:cubicBezTo>
                    <a:pt x="19" y="36"/>
                    <a:pt x="20" y="35"/>
                    <a:pt x="20" y="34"/>
                  </a:cubicBezTo>
                  <a:cubicBezTo>
                    <a:pt x="20" y="27"/>
                    <a:pt x="20" y="27"/>
                    <a:pt x="20" y="27"/>
                  </a:cubicBezTo>
                  <a:cubicBezTo>
                    <a:pt x="25" y="24"/>
                    <a:pt x="28" y="20"/>
                    <a:pt x="28" y="14"/>
                  </a:cubicBezTo>
                  <a:close/>
                  <a:moveTo>
                    <a:pt x="14" y="24"/>
                  </a:moveTo>
                  <a:cubicBezTo>
                    <a:pt x="9" y="24"/>
                    <a:pt x="4" y="20"/>
                    <a:pt x="4" y="14"/>
                  </a:cubicBezTo>
                  <a:cubicBezTo>
                    <a:pt x="4" y="8"/>
                    <a:pt x="9" y="4"/>
                    <a:pt x="14" y="4"/>
                  </a:cubicBezTo>
                  <a:cubicBezTo>
                    <a:pt x="20" y="4"/>
                    <a:pt x="24" y="8"/>
                    <a:pt x="24" y="14"/>
                  </a:cubicBezTo>
                  <a:cubicBezTo>
                    <a:pt x="24" y="20"/>
                    <a:pt x="20" y="24"/>
                    <a:pt x="14"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0" name="Rectangle 135">
              <a:extLst>
                <a:ext uri="{FF2B5EF4-FFF2-40B4-BE49-F238E27FC236}">
                  <a16:creationId xmlns:a16="http://schemas.microsoft.com/office/drawing/2014/main" id="{697A09A7-149A-4AE2-9225-37C237114AD6}"/>
                </a:ext>
              </a:extLst>
            </p:cNvPr>
            <p:cNvSpPr>
              <a:spLocks noChangeArrowheads="1"/>
            </p:cNvSpPr>
            <p:nvPr/>
          </p:nvSpPr>
          <p:spPr bwMode="auto">
            <a:xfrm>
              <a:off x="7989888" y="4332288"/>
              <a:ext cx="14288" cy="142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1" name="Freeform 136">
              <a:extLst>
                <a:ext uri="{FF2B5EF4-FFF2-40B4-BE49-F238E27FC236}">
                  <a16:creationId xmlns:a16="http://schemas.microsoft.com/office/drawing/2014/main" id="{92BD0E49-8DBC-46F3-B752-B3D4222407FC}"/>
                </a:ext>
              </a:extLst>
            </p:cNvPr>
            <p:cNvSpPr>
              <a:spLocks/>
            </p:cNvSpPr>
            <p:nvPr/>
          </p:nvSpPr>
          <p:spPr bwMode="auto">
            <a:xfrm>
              <a:off x="8037513" y="4351338"/>
              <a:ext cx="23813" cy="22225"/>
            </a:xfrm>
            <a:custGeom>
              <a:avLst/>
              <a:gdLst>
                <a:gd name="T0" fmla="*/ 8 w 15"/>
                <a:gd name="T1" fmla="*/ 14 h 14"/>
                <a:gd name="T2" fmla="*/ 0 w 15"/>
                <a:gd name="T3" fmla="*/ 7 h 14"/>
                <a:gd name="T4" fmla="*/ 8 w 15"/>
                <a:gd name="T5" fmla="*/ 0 h 14"/>
                <a:gd name="T6" fmla="*/ 15 w 15"/>
                <a:gd name="T7" fmla="*/ 7 h 14"/>
                <a:gd name="T8" fmla="*/ 8 w 15"/>
                <a:gd name="T9" fmla="*/ 14 h 14"/>
              </a:gdLst>
              <a:ahLst/>
              <a:cxnLst>
                <a:cxn ang="0">
                  <a:pos x="T0" y="T1"/>
                </a:cxn>
                <a:cxn ang="0">
                  <a:pos x="T2" y="T3"/>
                </a:cxn>
                <a:cxn ang="0">
                  <a:pos x="T4" y="T5"/>
                </a:cxn>
                <a:cxn ang="0">
                  <a:pos x="T6" y="T7"/>
                </a:cxn>
                <a:cxn ang="0">
                  <a:pos x="T8" y="T9"/>
                </a:cxn>
              </a:cxnLst>
              <a:rect l="0" t="0" r="r" b="b"/>
              <a:pathLst>
                <a:path w="15" h="14">
                  <a:moveTo>
                    <a:pt x="8" y="14"/>
                  </a:moveTo>
                  <a:lnTo>
                    <a:pt x="0" y="7"/>
                  </a:lnTo>
                  <a:lnTo>
                    <a:pt x="8" y="0"/>
                  </a:lnTo>
                  <a:lnTo>
                    <a:pt x="15" y="7"/>
                  </a:lnTo>
                  <a:lnTo>
                    <a:pt x="8"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2" name="Rectangle 137">
              <a:extLst>
                <a:ext uri="{FF2B5EF4-FFF2-40B4-BE49-F238E27FC236}">
                  <a16:creationId xmlns:a16="http://schemas.microsoft.com/office/drawing/2014/main" id="{CB9359C4-2DE1-4BC7-A11E-AF8F36680B45}"/>
                </a:ext>
              </a:extLst>
            </p:cNvPr>
            <p:cNvSpPr>
              <a:spLocks noChangeArrowheads="1"/>
            </p:cNvSpPr>
            <p:nvPr/>
          </p:nvSpPr>
          <p:spPr bwMode="auto">
            <a:xfrm>
              <a:off x="8064500" y="4406901"/>
              <a:ext cx="14288"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3" name="Freeform 138">
              <a:extLst>
                <a:ext uri="{FF2B5EF4-FFF2-40B4-BE49-F238E27FC236}">
                  <a16:creationId xmlns:a16="http://schemas.microsoft.com/office/drawing/2014/main" id="{E270BB26-FEC0-451C-9569-A8E1CEF0761C}"/>
                </a:ext>
              </a:extLst>
            </p:cNvPr>
            <p:cNvSpPr>
              <a:spLocks/>
            </p:cNvSpPr>
            <p:nvPr/>
          </p:nvSpPr>
          <p:spPr bwMode="auto">
            <a:xfrm>
              <a:off x="8037513" y="4456113"/>
              <a:ext cx="23813" cy="22225"/>
            </a:xfrm>
            <a:custGeom>
              <a:avLst/>
              <a:gdLst>
                <a:gd name="T0" fmla="*/ 8 w 15"/>
                <a:gd name="T1" fmla="*/ 14 h 14"/>
                <a:gd name="T2" fmla="*/ 0 w 15"/>
                <a:gd name="T3" fmla="*/ 7 h 14"/>
                <a:gd name="T4" fmla="*/ 8 w 15"/>
                <a:gd name="T5" fmla="*/ 0 h 14"/>
                <a:gd name="T6" fmla="*/ 15 w 15"/>
                <a:gd name="T7" fmla="*/ 7 h 14"/>
                <a:gd name="T8" fmla="*/ 8 w 15"/>
                <a:gd name="T9" fmla="*/ 14 h 14"/>
              </a:gdLst>
              <a:ahLst/>
              <a:cxnLst>
                <a:cxn ang="0">
                  <a:pos x="T0" y="T1"/>
                </a:cxn>
                <a:cxn ang="0">
                  <a:pos x="T2" y="T3"/>
                </a:cxn>
                <a:cxn ang="0">
                  <a:pos x="T4" y="T5"/>
                </a:cxn>
                <a:cxn ang="0">
                  <a:pos x="T6" y="T7"/>
                </a:cxn>
                <a:cxn ang="0">
                  <a:pos x="T8" y="T9"/>
                </a:cxn>
              </a:cxnLst>
              <a:rect l="0" t="0" r="r" b="b"/>
              <a:pathLst>
                <a:path w="15" h="14">
                  <a:moveTo>
                    <a:pt x="8" y="14"/>
                  </a:moveTo>
                  <a:lnTo>
                    <a:pt x="0" y="7"/>
                  </a:lnTo>
                  <a:lnTo>
                    <a:pt x="8" y="0"/>
                  </a:lnTo>
                  <a:lnTo>
                    <a:pt x="15" y="7"/>
                  </a:lnTo>
                  <a:lnTo>
                    <a:pt x="8"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4" name="Freeform 139">
              <a:extLst>
                <a:ext uri="{FF2B5EF4-FFF2-40B4-BE49-F238E27FC236}">
                  <a16:creationId xmlns:a16="http://schemas.microsoft.com/office/drawing/2014/main" id="{AE4929B2-6251-411F-BE9C-7FFF552D4D3D}"/>
                </a:ext>
              </a:extLst>
            </p:cNvPr>
            <p:cNvSpPr>
              <a:spLocks/>
            </p:cNvSpPr>
            <p:nvPr/>
          </p:nvSpPr>
          <p:spPr bwMode="auto">
            <a:xfrm>
              <a:off x="7932738" y="4456113"/>
              <a:ext cx="22225" cy="22225"/>
            </a:xfrm>
            <a:custGeom>
              <a:avLst/>
              <a:gdLst>
                <a:gd name="T0" fmla="*/ 7 w 14"/>
                <a:gd name="T1" fmla="*/ 14 h 14"/>
                <a:gd name="T2" fmla="*/ 0 w 14"/>
                <a:gd name="T3" fmla="*/ 7 h 14"/>
                <a:gd name="T4" fmla="*/ 7 w 14"/>
                <a:gd name="T5" fmla="*/ 0 h 14"/>
                <a:gd name="T6" fmla="*/ 14 w 14"/>
                <a:gd name="T7" fmla="*/ 7 h 14"/>
                <a:gd name="T8" fmla="*/ 7 w 14"/>
                <a:gd name="T9" fmla="*/ 14 h 14"/>
              </a:gdLst>
              <a:ahLst/>
              <a:cxnLst>
                <a:cxn ang="0">
                  <a:pos x="T0" y="T1"/>
                </a:cxn>
                <a:cxn ang="0">
                  <a:pos x="T2" y="T3"/>
                </a:cxn>
                <a:cxn ang="0">
                  <a:pos x="T4" y="T5"/>
                </a:cxn>
                <a:cxn ang="0">
                  <a:pos x="T6" y="T7"/>
                </a:cxn>
                <a:cxn ang="0">
                  <a:pos x="T8" y="T9"/>
                </a:cxn>
              </a:cxnLst>
              <a:rect l="0" t="0" r="r" b="b"/>
              <a:pathLst>
                <a:path w="14" h="14">
                  <a:moveTo>
                    <a:pt x="7" y="14"/>
                  </a:moveTo>
                  <a:lnTo>
                    <a:pt x="0" y="7"/>
                  </a:lnTo>
                  <a:lnTo>
                    <a:pt x="7" y="0"/>
                  </a:lnTo>
                  <a:lnTo>
                    <a:pt x="14" y="7"/>
                  </a:lnTo>
                  <a:lnTo>
                    <a:pt x="7"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5" name="Rectangle 140">
              <a:extLst>
                <a:ext uri="{FF2B5EF4-FFF2-40B4-BE49-F238E27FC236}">
                  <a16:creationId xmlns:a16="http://schemas.microsoft.com/office/drawing/2014/main" id="{7C98D621-D915-4C9F-9947-3B7A07E34E89}"/>
                </a:ext>
              </a:extLst>
            </p:cNvPr>
            <p:cNvSpPr>
              <a:spLocks noChangeArrowheads="1"/>
            </p:cNvSpPr>
            <p:nvPr/>
          </p:nvSpPr>
          <p:spPr bwMode="auto">
            <a:xfrm>
              <a:off x="7913688" y="4406901"/>
              <a:ext cx="15875"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6" name="Freeform 141">
              <a:extLst>
                <a:ext uri="{FF2B5EF4-FFF2-40B4-BE49-F238E27FC236}">
                  <a16:creationId xmlns:a16="http://schemas.microsoft.com/office/drawing/2014/main" id="{FC9CA71F-5024-4DDE-926C-ECF438233108}"/>
                </a:ext>
              </a:extLst>
            </p:cNvPr>
            <p:cNvSpPr>
              <a:spLocks/>
            </p:cNvSpPr>
            <p:nvPr/>
          </p:nvSpPr>
          <p:spPr bwMode="auto">
            <a:xfrm>
              <a:off x="7932738" y="4351338"/>
              <a:ext cx="22225" cy="22225"/>
            </a:xfrm>
            <a:custGeom>
              <a:avLst/>
              <a:gdLst>
                <a:gd name="T0" fmla="*/ 7 w 14"/>
                <a:gd name="T1" fmla="*/ 14 h 14"/>
                <a:gd name="T2" fmla="*/ 0 w 14"/>
                <a:gd name="T3" fmla="*/ 7 h 14"/>
                <a:gd name="T4" fmla="*/ 7 w 14"/>
                <a:gd name="T5" fmla="*/ 0 h 14"/>
                <a:gd name="T6" fmla="*/ 14 w 14"/>
                <a:gd name="T7" fmla="*/ 7 h 14"/>
                <a:gd name="T8" fmla="*/ 7 w 14"/>
                <a:gd name="T9" fmla="*/ 14 h 14"/>
              </a:gdLst>
              <a:ahLst/>
              <a:cxnLst>
                <a:cxn ang="0">
                  <a:pos x="T0" y="T1"/>
                </a:cxn>
                <a:cxn ang="0">
                  <a:pos x="T2" y="T3"/>
                </a:cxn>
                <a:cxn ang="0">
                  <a:pos x="T4" y="T5"/>
                </a:cxn>
                <a:cxn ang="0">
                  <a:pos x="T6" y="T7"/>
                </a:cxn>
                <a:cxn ang="0">
                  <a:pos x="T8" y="T9"/>
                </a:cxn>
              </a:cxnLst>
              <a:rect l="0" t="0" r="r" b="b"/>
              <a:pathLst>
                <a:path w="14" h="14">
                  <a:moveTo>
                    <a:pt x="7" y="14"/>
                  </a:moveTo>
                  <a:lnTo>
                    <a:pt x="0" y="7"/>
                  </a:lnTo>
                  <a:lnTo>
                    <a:pt x="7" y="0"/>
                  </a:lnTo>
                  <a:lnTo>
                    <a:pt x="14" y="7"/>
                  </a:lnTo>
                  <a:lnTo>
                    <a:pt x="7"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50" name="TextBox 49">
            <a:extLst>
              <a:ext uri="{FF2B5EF4-FFF2-40B4-BE49-F238E27FC236}">
                <a16:creationId xmlns:a16="http://schemas.microsoft.com/office/drawing/2014/main" id="{1867C736-0E08-44F7-8AAC-8BD934E56231}"/>
              </a:ext>
            </a:extLst>
          </p:cNvPr>
          <p:cNvSpPr txBox="1"/>
          <p:nvPr/>
        </p:nvSpPr>
        <p:spPr>
          <a:xfrm>
            <a:off x="736613" y="361808"/>
            <a:ext cx="10718788" cy="677108"/>
          </a:xfrm>
          <a:prstGeom prst="rect">
            <a:avLst/>
          </a:prstGeom>
          <a:noFill/>
        </p:spPr>
        <p:txBody>
          <a:bodyPr wrap="square" lIns="0" tIns="0" rIns="0" bIns="0" rtlCol="0" anchor="ctr">
            <a:spAutoFit/>
          </a:bodyPr>
          <a:lstStyle/>
          <a:p>
            <a:pPr algn="ctr"/>
            <a:r>
              <a:rPr lang="bg-BG" sz="4400" b="1" dirty="0" smtClean="0">
                <a:solidFill>
                  <a:srgbClr val="404040"/>
                </a:solidFill>
                <a:latin typeface="Segoe UI" panose="020B0502040204020203" pitchFamily="34" charset="0"/>
                <a:ea typeface="Segoe UI Black" panose="020B0A02040204020203" pitchFamily="34" charset="0"/>
                <a:cs typeface="Segoe UI" panose="020B0502040204020203" pitchFamily="34" charset="0"/>
              </a:rPr>
              <a:t>ЗАКЛЮЧЕНИЕ</a:t>
            </a:r>
            <a:endParaRPr lang="en-US" sz="4400" b="1" dirty="0">
              <a:solidFill>
                <a:srgbClr val="404040"/>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52" name="Rectangle 51">
            <a:extLst>
              <a:ext uri="{FF2B5EF4-FFF2-40B4-BE49-F238E27FC236}">
                <a16:creationId xmlns:a16="http://schemas.microsoft.com/office/drawing/2014/main" id="{5F95D532-DCAF-444A-94B5-C2FA0D478241}"/>
              </a:ext>
            </a:extLst>
          </p:cNvPr>
          <p:cNvSpPr/>
          <p:nvPr/>
        </p:nvSpPr>
        <p:spPr>
          <a:xfrm>
            <a:off x="5862000" y="1067399"/>
            <a:ext cx="468000" cy="50948"/>
          </a:xfrm>
          <a:prstGeom prst="rect">
            <a:avLst/>
          </a:prstGeom>
          <a:solidFill>
            <a:srgbClr val="06C2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42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500"/>
                                        <p:tgtEl>
                                          <p:spTgt spid="69"/>
                                        </p:tgtEl>
                                      </p:cBhvr>
                                    </p:animEffect>
                                  </p:childTnLst>
                                </p:cTn>
                              </p:par>
                              <p:par>
                                <p:cTn id="14" presetID="10" presetClass="entr" presetSubtype="0" fill="hold" nodeType="withEffect">
                                  <p:stCondLst>
                                    <p:cond delay="100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childTnLst>
                          </p:cTn>
                        </p:par>
                        <p:par>
                          <p:cTn id="20" fill="hold">
                            <p:stCondLst>
                              <p:cond delay="1500"/>
                            </p:stCondLst>
                            <p:childTnLst>
                              <p:par>
                                <p:cTn id="21" presetID="10" presetClass="entr" presetSubtype="0"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500"/>
                                        <p:tgtEl>
                                          <p:spTgt spid="5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8"/>
                                        </p:tgtEl>
                                        <p:attrNameLst>
                                          <p:attrName>style.visibility</p:attrName>
                                        </p:attrNameLst>
                                      </p:cBhvr>
                                      <p:to>
                                        <p:strVal val="visible"/>
                                      </p:to>
                                    </p:set>
                                    <p:animEffect transition="in" filter="fade">
                                      <p:cBhvr>
                                        <p:cTn id="26" dur="500"/>
                                        <p:tgtEl>
                                          <p:spTgt spid="6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500"/>
                                        <p:tgtEl>
                                          <p:spTgt spid="7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500"/>
                                        <p:tgtEl>
                                          <p:spTgt spid="47"/>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500"/>
                                        <p:tgtEl>
                                          <p:spTgt spid="5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500"/>
                                        <p:tgtEl>
                                          <p:spTgt spid="5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3"/>
                                        </p:tgtEl>
                                        <p:attrNameLst>
                                          <p:attrName>style.visibility</p:attrName>
                                        </p:attrNameLst>
                                      </p:cBhvr>
                                      <p:to>
                                        <p:strVal val="visible"/>
                                      </p:to>
                                    </p:set>
                                    <p:animEffect transition="in" filter="fade">
                                      <p:cBhvr>
                                        <p:cTn id="45" dur="500"/>
                                        <p:tgtEl>
                                          <p:spTgt spid="7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fade">
                                      <p:cBhvr>
                                        <p:cTn id="48" dur="500"/>
                                        <p:tgtEl>
                                          <p:spTgt spid="6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fade">
                                      <p:cBhvr>
                                        <p:cTn id="51"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9" grpId="0" animBg="1"/>
      <p:bldP spid="51" grpId="0" animBg="1"/>
      <p:bldP spid="3" grpId="0" animBg="1"/>
      <p:bldP spid="59" grpId="0" animBg="1"/>
      <p:bldP spid="61" grpId="0" animBg="1"/>
      <p:bldP spid="68" grpId="0"/>
      <p:bldP spid="69" grpId="0"/>
      <p:bldP spid="70" grpId="0"/>
      <p:bldP spid="71" grpId="0"/>
      <p:bldP spid="72" grpId="0"/>
      <p:bldP spid="7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E58058C2-FF87-4CCB-B9FE-554475A92E42}"/>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a14:imgEffect>
                    <a14:imgEffect>
                      <a14:colorTemperature colorTemp="5300"/>
                    </a14:imgEffect>
                    <a14:imgEffect>
                      <a14:saturation sat="33000"/>
                    </a14:imgEffect>
                  </a14:imgLayer>
                </a14:imgProps>
              </a:ext>
              <a:ext uri="{28A0092B-C50C-407E-A947-70E740481C1C}">
                <a14:useLocalDpi xmlns:a14="http://schemas.microsoft.com/office/drawing/2010/main" val="0"/>
              </a:ext>
            </a:extLst>
          </a:blip>
          <a:srcRect l="10739" t="11615"/>
          <a:stretch/>
        </p:blipFill>
        <p:spPr>
          <a:xfrm>
            <a:off x="0" y="1"/>
            <a:ext cx="12192000" cy="6858000"/>
          </a:xfrm>
          <a:prstGeom prst="rect">
            <a:avLst/>
          </a:prstGeom>
        </p:spPr>
      </p:pic>
      <p:sp>
        <p:nvSpPr>
          <p:cNvPr id="2" name="Rectangle 1">
            <a:extLst>
              <a:ext uri="{FF2B5EF4-FFF2-40B4-BE49-F238E27FC236}">
                <a16:creationId xmlns:a16="http://schemas.microsoft.com/office/drawing/2014/main" id="{088B5CB0-2E02-47F9-BF12-DD97E6656C63}"/>
              </a:ext>
            </a:extLst>
          </p:cNvPr>
          <p:cNvSpPr/>
          <p:nvPr/>
        </p:nvSpPr>
        <p:spPr>
          <a:xfrm>
            <a:off x="0" y="4540566"/>
            <a:ext cx="12192000" cy="1624082"/>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Parallelogram 48">
            <a:extLst>
              <a:ext uri="{FF2B5EF4-FFF2-40B4-BE49-F238E27FC236}">
                <a16:creationId xmlns:a16="http://schemas.microsoft.com/office/drawing/2014/main" id="{C04E5819-C15C-4FD1-A011-9D4D39C96A11}"/>
              </a:ext>
            </a:extLst>
          </p:cNvPr>
          <p:cNvSpPr/>
          <p:nvPr/>
        </p:nvSpPr>
        <p:spPr>
          <a:xfrm>
            <a:off x="978308" y="4400550"/>
            <a:ext cx="6286091" cy="1904114"/>
          </a:xfrm>
          <a:prstGeom prst="parallelogram">
            <a:avLst>
              <a:gd name="adj" fmla="val 19878"/>
            </a:avLst>
          </a:prstGeom>
          <a:solidFill>
            <a:srgbClr val="06C2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84801F7-3528-4F15-864B-DB436413EC4C}"/>
              </a:ext>
            </a:extLst>
          </p:cNvPr>
          <p:cNvSpPr txBox="1"/>
          <p:nvPr/>
        </p:nvSpPr>
        <p:spPr>
          <a:xfrm>
            <a:off x="1194206" y="4844776"/>
            <a:ext cx="5854294" cy="1015663"/>
          </a:xfrm>
          <a:prstGeom prst="rect">
            <a:avLst/>
          </a:prstGeom>
          <a:noFill/>
        </p:spPr>
        <p:txBody>
          <a:bodyPr wrap="square" lIns="0" tIns="0" rIns="0" bIns="0" rtlCol="0" anchor="ctr">
            <a:spAutoFit/>
          </a:bodyPr>
          <a:lstStyle/>
          <a:p>
            <a:pPr algn="ctr"/>
            <a:r>
              <a:rPr lang="bg-BG" sz="6600" b="1" dirty="0" smtClean="0">
                <a:solidFill>
                  <a:schemeClr val="bg1"/>
                </a:solidFill>
                <a:latin typeface="Segoe UI" panose="020B0502040204020203" pitchFamily="34" charset="0"/>
                <a:ea typeface="Segoe UI Black" panose="020B0A02040204020203" pitchFamily="34" charset="0"/>
                <a:cs typeface="Segoe UI" panose="020B0502040204020203" pitchFamily="34" charset="0"/>
              </a:rPr>
              <a:t>ВЪПРОСИ?</a:t>
            </a:r>
            <a:endParaRPr lang="en-US" sz="6600" b="1" dirty="0">
              <a:solidFill>
                <a:schemeClr val="bg1"/>
              </a:solidFill>
              <a:latin typeface="Segoe UI" panose="020B0502040204020203" pitchFamily="34" charset="0"/>
              <a:ea typeface="Segoe UI Black" panose="020B0A02040204020203" pitchFamily="34" charset="0"/>
              <a:cs typeface="Segoe UI" panose="020B0502040204020203" pitchFamily="34" charset="0"/>
            </a:endParaRPr>
          </a:p>
        </p:txBody>
      </p:sp>
    </p:spTree>
    <p:extLst>
      <p:ext uri="{BB962C8B-B14F-4D97-AF65-F5344CB8AC3E}">
        <p14:creationId xmlns:p14="http://schemas.microsoft.com/office/powerpoint/2010/main" val="8024736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00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82653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1065</TotalTime>
  <Words>3139</Words>
  <Application>Microsoft Office PowerPoint</Application>
  <PresentationFormat>Widescreen</PresentationFormat>
  <Paragraphs>241</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Calibri Light</vt:lpstr>
      <vt:lpstr>Segoe UI</vt:lpstr>
      <vt:lpstr>Segoe UI Black</vt:lpstr>
      <vt:lpstr>Segoe UI Light</vt:lpstr>
      <vt:lpstr>Sofia Pro Light</vt:lpstr>
      <vt:lpstr>Wingdings</vt:lpstr>
      <vt:lpstr>Office Theme</vt:lpstr>
      <vt:lpstr>PowerPoint Presentation</vt:lpstr>
      <vt:lpstr>PowerPoint Presentation</vt:lpstr>
      <vt:lpstr>PowerPoint Presentation</vt:lpstr>
      <vt:lpstr>PowerPoint Presentation</vt:lpstr>
      <vt:lpstr>ЗАДАЧИ И ФАЗИ</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RYZEN-B450</dc:creator>
  <cp:lastModifiedBy>RYZEN-B450</cp:lastModifiedBy>
  <cp:revision>110</cp:revision>
  <dcterms:created xsi:type="dcterms:W3CDTF">2020-02-22T16:07:07Z</dcterms:created>
  <dcterms:modified xsi:type="dcterms:W3CDTF">2020-02-27T00:27:57Z</dcterms:modified>
</cp:coreProperties>
</file>
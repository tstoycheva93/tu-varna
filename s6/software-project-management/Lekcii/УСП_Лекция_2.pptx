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96" y="-6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D233A-B4CD-4EC7-8487-8D59C1BD0FFD}" type="datetimeFigureOut">
              <a:rPr lang="bg-BG" smtClean="0"/>
              <a:t>13.2.2019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6414-8F4F-41BF-A5E9-BF8B36A967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69783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D233A-B4CD-4EC7-8487-8D59C1BD0FFD}" type="datetimeFigureOut">
              <a:rPr lang="bg-BG" smtClean="0"/>
              <a:t>13.2.2019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6414-8F4F-41BF-A5E9-BF8B36A967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04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D233A-B4CD-4EC7-8487-8D59C1BD0FFD}" type="datetimeFigureOut">
              <a:rPr lang="bg-BG" smtClean="0"/>
              <a:t>13.2.2019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6414-8F4F-41BF-A5E9-BF8B36A967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789889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D233A-B4CD-4EC7-8487-8D59C1BD0FFD}" type="datetimeFigureOut">
              <a:rPr lang="bg-BG" smtClean="0"/>
              <a:t>13.2.2019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6414-8F4F-41BF-A5E9-BF8B36A967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988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D233A-B4CD-4EC7-8487-8D59C1BD0FFD}" type="datetimeFigureOut">
              <a:rPr lang="bg-BG" smtClean="0"/>
              <a:t>13.2.2019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6414-8F4F-41BF-A5E9-BF8B36A967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53431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D233A-B4CD-4EC7-8487-8D59C1BD0FFD}" type="datetimeFigureOut">
              <a:rPr lang="bg-BG" smtClean="0"/>
              <a:t>13.2.2019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6414-8F4F-41BF-A5E9-BF8B36A967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08588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D233A-B4CD-4EC7-8487-8D59C1BD0FFD}" type="datetimeFigureOut">
              <a:rPr lang="bg-BG" smtClean="0"/>
              <a:t>13.2.2019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6414-8F4F-41BF-A5E9-BF8B36A967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15741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D233A-B4CD-4EC7-8487-8D59C1BD0FFD}" type="datetimeFigureOut">
              <a:rPr lang="bg-BG" smtClean="0"/>
              <a:t>13.2.2019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6414-8F4F-41BF-A5E9-BF8B36A967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7143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bg-B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D233A-B4CD-4EC7-8487-8D59C1BD0FFD}" type="datetimeFigureOut">
              <a:rPr lang="bg-BG" smtClean="0"/>
              <a:t>13.2.2019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6414-8F4F-41BF-A5E9-BF8B36A967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050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D233A-B4CD-4EC7-8487-8D59C1BD0FFD}" type="datetimeFigureOut">
              <a:rPr lang="bg-BG" smtClean="0"/>
              <a:t>13.2.2019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6414-8F4F-41BF-A5E9-BF8B36A967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13844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D233A-B4CD-4EC7-8487-8D59C1BD0FFD}" type="datetimeFigureOut">
              <a:rPr lang="bg-BG" smtClean="0"/>
              <a:t>13.2.2019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96414-8F4F-41BF-A5E9-BF8B36A967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47349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bg-B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0D233A-B4CD-4EC7-8487-8D59C1BD0FFD}" type="datetimeFigureOut">
              <a:rPr lang="bg-BG" smtClean="0"/>
              <a:t>13.2.2019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96414-8F4F-41BF-A5E9-BF8B36A96793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339788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bg-B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552" y="476672"/>
            <a:ext cx="7772400" cy="3240360"/>
          </a:xfrm>
        </p:spPr>
        <p:txBody>
          <a:bodyPr>
            <a:noAutofit/>
          </a:bodyPr>
          <a:lstStyle/>
          <a:p>
            <a:r>
              <a:rPr lang="bg-BG" sz="2800" dirty="0"/>
              <a:t>Същност и специфика на проектите в областта на информационните технологии. Структура и характерни черти на IT проекта. Последователност от задачи, асоциирани с всяка фаза от IT  проекта. Специфични фактори в проекта. Осигуряване на ефективност при IT проекта. Функции на управлението на IT проектите.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bg-BG" dirty="0" smtClean="0"/>
              <a:t>Милена Карова</a:t>
            </a:r>
          </a:p>
          <a:p>
            <a:r>
              <a:rPr lang="bg-BG" dirty="0"/>
              <a:t>к</a:t>
            </a:r>
            <a:r>
              <a:rPr lang="bg-BG" dirty="0" smtClean="0"/>
              <a:t>ат. Компютърни науки и технологии</a:t>
            </a:r>
          </a:p>
          <a:p>
            <a:r>
              <a:rPr lang="bg-BG" dirty="0" smtClean="0"/>
              <a:t>ТУ-Варна 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5850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3200" b="1" dirty="0"/>
              <a:t>Същност и специфика на проектите в областта на информационните 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 smtClean="0"/>
              <a:t>-Определяне на целите, които да бъдат постигнати</a:t>
            </a:r>
          </a:p>
          <a:p>
            <a:pPr marL="0" indent="0">
              <a:buNone/>
            </a:pPr>
            <a:r>
              <a:rPr lang="ru-RU" dirty="0" smtClean="0"/>
              <a:t>-Проектиране</a:t>
            </a:r>
          </a:p>
          <a:p>
            <a:pPr marL="0" indent="0">
              <a:buNone/>
            </a:pPr>
            <a:r>
              <a:rPr lang="ru-RU" dirty="0" smtClean="0"/>
              <a:t>-Разпределяне на ресурсите</a:t>
            </a:r>
          </a:p>
          <a:p>
            <a:pPr marL="0" indent="0">
              <a:buNone/>
            </a:pPr>
            <a:r>
              <a:rPr lang="ru-RU" dirty="0" smtClean="0"/>
              <a:t>-Разпределение на отговорностите </a:t>
            </a:r>
          </a:p>
          <a:p>
            <a:pPr marL="0" indent="0">
              <a:buNone/>
            </a:pPr>
            <a:r>
              <a:rPr lang="ru-RU" dirty="0" smtClean="0"/>
              <a:t>-Координиране на работните дейности</a:t>
            </a:r>
          </a:p>
          <a:p>
            <a:pPr marL="0" indent="0">
              <a:buNone/>
            </a:pPr>
            <a:r>
              <a:rPr lang="ru-RU" dirty="0" smtClean="0"/>
              <a:t>-Следене на прогреса</a:t>
            </a:r>
          </a:p>
          <a:p>
            <a:pPr marL="0" indent="0">
              <a:buNone/>
            </a:pPr>
            <a:r>
              <a:rPr lang="ru-RU" dirty="0" smtClean="0"/>
              <a:t>-Определяне на рисковите фактори и предприемане на адекватни действия, ако се налага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62126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Структура и характерни черти на IT проекта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Основни характеристики на софтуерните проекти, което ги различава от другите проекти са:</a:t>
            </a:r>
          </a:p>
          <a:p>
            <a:pPr marL="0" indent="0">
              <a:buNone/>
            </a:pPr>
            <a:r>
              <a:rPr lang="ru-RU" dirty="0" smtClean="0"/>
              <a:t>-Комплексност</a:t>
            </a:r>
          </a:p>
          <a:p>
            <a:pPr marL="0" indent="0">
              <a:buNone/>
            </a:pPr>
            <a:r>
              <a:rPr lang="ru-RU" dirty="0" smtClean="0"/>
              <a:t>-Съвместимост</a:t>
            </a:r>
          </a:p>
          <a:p>
            <a:pPr marL="0" indent="0">
              <a:buNone/>
            </a:pPr>
            <a:r>
              <a:rPr lang="ru-RU" dirty="0" smtClean="0"/>
              <a:t>-Променливост</a:t>
            </a:r>
          </a:p>
          <a:p>
            <a:pPr marL="0" indent="0">
              <a:buNone/>
            </a:pPr>
            <a:r>
              <a:rPr lang="ru-RU" dirty="0" smtClean="0"/>
              <a:t>-Невидимост</a:t>
            </a:r>
          </a:p>
          <a:p>
            <a:pPr marL="0" indent="0">
              <a:buNone/>
            </a:pPr>
            <a:r>
              <a:rPr lang="ru-RU" dirty="0"/>
              <a:t>С</a:t>
            </a:r>
            <a:r>
              <a:rPr lang="ru-RU" dirty="0" smtClean="0"/>
              <a:t>офтуерните проекти са екипно-ориентирани.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01762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smtClean="0"/>
              <a:t>Последователност от задачи, асоциирани с всяка фаза от IT проекта</a:t>
            </a:r>
            <a:endParaRPr lang="bg-B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bg-BG" b="1" dirty="0" smtClean="0"/>
              <a:t>Начална фаза </a:t>
            </a:r>
            <a:endParaRPr lang="en-US" b="1" dirty="0" smtClean="0"/>
          </a:p>
          <a:p>
            <a:pPr marL="0" indent="0">
              <a:buNone/>
            </a:pPr>
            <a:r>
              <a:rPr lang="ru-RU" dirty="0" smtClean="0"/>
              <a:t>-Защо този проект?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-Приложим ли е проектът?</a:t>
            </a:r>
          </a:p>
          <a:p>
            <a:pPr marL="0" indent="0">
              <a:buNone/>
            </a:pPr>
            <a:r>
              <a:rPr lang="ru-RU" dirty="0" smtClean="0"/>
              <a:t>-Какви са възможните партньорства в този проект?</a:t>
            </a:r>
          </a:p>
          <a:p>
            <a:pPr marL="0" indent="0">
              <a:buNone/>
            </a:pPr>
            <a:r>
              <a:rPr lang="ru-RU" dirty="0" smtClean="0"/>
              <a:t>-Какви трябва да са резултатите от проекта?</a:t>
            </a:r>
          </a:p>
          <a:p>
            <a:pPr marL="0" indent="0">
              <a:buNone/>
            </a:pPr>
            <a:r>
              <a:rPr lang="ru-RU" dirty="0" smtClean="0"/>
              <a:t>-Какъв е обхватът на проекта и какво е извън обхватът</a:t>
            </a:r>
            <a:r>
              <a:rPr lang="en-US" smtClean="0"/>
              <a:t>?</a:t>
            </a:r>
            <a:endParaRPr lang="ru-RU" dirty="0" smtClean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17546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3600" dirty="0" smtClean="0"/>
              <a:t>Последователност от задачи, асоциирани с всяка фаза от IT проекта</a:t>
            </a:r>
            <a:endParaRPr lang="bg-B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bg-BG" b="1" dirty="0" smtClean="0"/>
              <a:t>Фаза на планиране </a:t>
            </a:r>
            <a:endParaRPr lang="en-US" b="1" dirty="0" smtClean="0"/>
          </a:p>
          <a:p>
            <a:pPr marL="0" indent="0">
              <a:buNone/>
            </a:pPr>
            <a:r>
              <a:rPr lang="ru-RU" dirty="0" smtClean="0"/>
              <a:t>Определяне на обхватът и целта на проекта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Определяне на инфраструктурата на проекта и анализиране на характеристиките му</a:t>
            </a:r>
            <a:endParaRPr lang="en-US" dirty="0" smtClean="0"/>
          </a:p>
          <a:p>
            <a:pPr marL="0" indent="0">
              <a:buNone/>
            </a:pPr>
            <a:r>
              <a:rPr lang="bg-BG" dirty="0" smtClean="0"/>
              <a:t>Определяне на рисковете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Определяне на задачите и график за изпълнението им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Определяне на нужните ресурси за изпълнение</a:t>
            </a:r>
            <a:endParaRPr lang="en-US" dirty="0" smtClean="0"/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464856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229600" cy="1143000"/>
          </a:xfrm>
        </p:spPr>
        <p:txBody>
          <a:bodyPr>
            <a:noAutofit/>
          </a:bodyPr>
          <a:lstStyle/>
          <a:p>
            <a:r>
              <a:rPr lang="ru-RU" sz="3600" dirty="0" smtClean="0"/>
              <a:t>Последователност от задачи, асоциирани с всяка фаза от IT проекта</a:t>
            </a:r>
            <a:endParaRPr lang="bg-BG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 smtClean="0"/>
              <a:t>Фаза на изпълнение </a:t>
            </a:r>
            <a:endParaRPr lang="en-US" dirty="0" smtClean="0"/>
          </a:p>
          <a:p>
            <a:pPr marL="0" indent="0">
              <a:buNone/>
            </a:pPr>
            <a:r>
              <a:rPr lang="en-US" sz="2400" dirty="0" smtClean="0"/>
              <a:t>K</a:t>
            </a:r>
            <a:r>
              <a:rPr lang="ru-RU" sz="2400" dirty="0" smtClean="0"/>
              <a:t>ласическият жизнен цикъл на изпълнение на </a:t>
            </a:r>
            <a:r>
              <a:rPr lang="en-US" sz="2400" dirty="0" smtClean="0"/>
              <a:t>IT </a:t>
            </a:r>
            <a:r>
              <a:rPr lang="ru-RU" sz="2400" dirty="0" smtClean="0"/>
              <a:t>проект</a:t>
            </a:r>
            <a:endParaRPr lang="en-US" sz="2400" dirty="0" smtClean="0"/>
          </a:p>
          <a:p>
            <a:pPr marL="0" indent="0">
              <a:buNone/>
            </a:pPr>
            <a:endParaRPr lang="bg-BG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3" y="2924944"/>
            <a:ext cx="4219575" cy="3714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574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 smtClean="0"/>
              <a:t>Специфични фактори в проекта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O</a:t>
            </a:r>
            <a:r>
              <a:rPr lang="ru-RU" dirty="0" smtClean="0"/>
              <a:t>сновните ограничения при изпълнението на проекти са</a:t>
            </a:r>
            <a:r>
              <a:rPr lang="en-US" dirty="0" smtClean="0"/>
              <a:t>: </a:t>
            </a:r>
            <a:r>
              <a:rPr lang="bg-BG" dirty="0" smtClean="0"/>
              <a:t>обхват, качество, цена, време, ресурси</a:t>
            </a:r>
          </a:p>
          <a:p>
            <a:pPr marL="0" indent="0">
              <a:buNone/>
            </a:pPr>
            <a:r>
              <a:rPr lang="ru-RU" dirty="0" smtClean="0"/>
              <a:t>Ограниченията, които са специфични за софтуерните проекти са:</a:t>
            </a:r>
          </a:p>
          <a:p>
            <a:pPr marL="0" indent="0">
              <a:buNone/>
            </a:pPr>
            <a:r>
              <a:rPr lang="ru-RU" dirty="0" smtClean="0"/>
              <a:t>-Операционна среда </a:t>
            </a:r>
          </a:p>
          <a:p>
            <a:pPr marL="0" indent="0">
              <a:buNone/>
            </a:pPr>
            <a:r>
              <a:rPr lang="ru-RU" dirty="0" smtClean="0"/>
              <a:t>-Изисквания на продукта </a:t>
            </a:r>
          </a:p>
          <a:p>
            <a:pPr marL="0" indent="0">
              <a:buNone/>
            </a:pPr>
            <a:r>
              <a:rPr lang="ru-RU" dirty="0" smtClean="0"/>
              <a:t>-Квалификация.</a:t>
            </a:r>
          </a:p>
          <a:p>
            <a:pPr marL="0" indent="0">
              <a:buNone/>
            </a:pPr>
            <a:r>
              <a:rPr lang="ru-RU" dirty="0" smtClean="0"/>
              <a:t>-Стандарти на изпълнение. </a:t>
            </a:r>
          </a:p>
          <a:p>
            <a:pPr marL="0" indent="0">
              <a:buNone/>
            </a:pPr>
            <a:r>
              <a:rPr lang="ru-RU" dirty="0" smtClean="0"/>
              <a:t>-Технологична среда.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29573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Осигуряване на ефективност при IT проекта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bg-BG" dirty="0" smtClean="0"/>
              <a:t>Планиране</a:t>
            </a:r>
          </a:p>
          <a:p>
            <a:pPr marL="0" indent="0">
              <a:buNone/>
            </a:pPr>
            <a:r>
              <a:rPr lang="bg-BG" dirty="0" smtClean="0"/>
              <a:t>Работен план</a:t>
            </a:r>
          </a:p>
          <a:p>
            <a:pPr marL="0" indent="0">
              <a:buNone/>
            </a:pPr>
            <a:r>
              <a:rPr lang="ru-RU" dirty="0" smtClean="0"/>
              <a:t>Управление и мониторинг на прогреса</a:t>
            </a:r>
          </a:p>
          <a:p>
            <a:pPr marL="0" indent="0">
              <a:buNone/>
            </a:pPr>
            <a:r>
              <a:rPr lang="bg-BG" dirty="0" smtClean="0"/>
              <a:t>Следене за опасности</a:t>
            </a:r>
          </a:p>
          <a:p>
            <a:pPr marL="0" indent="0">
              <a:buNone/>
            </a:pPr>
            <a:r>
              <a:rPr lang="ru-RU" dirty="0" smtClean="0"/>
              <a:t>Съгласуване на промени в обхвата</a:t>
            </a:r>
          </a:p>
          <a:p>
            <a:pPr marL="0" indent="0">
              <a:buNone/>
            </a:pPr>
            <a:r>
              <a:rPr lang="bg-BG" dirty="0" smtClean="0"/>
              <a:t>Защита от „</a:t>
            </a:r>
            <a:r>
              <a:rPr lang="en-US" dirty="0" smtClean="0"/>
              <a:t>scope creep”</a:t>
            </a:r>
            <a:endParaRPr lang="bg-BG" dirty="0" smtClean="0"/>
          </a:p>
          <a:p>
            <a:pPr marL="0" indent="0">
              <a:buNone/>
            </a:pPr>
            <a:r>
              <a:rPr lang="bg-BG" dirty="0" smtClean="0"/>
              <a:t>Ранно определяне на рисковете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31015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Топ 10 причини за забавяне в IT проектите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bg-BG" dirty="0" smtClean="0"/>
              <a:t>Разширяване на функционалност</a:t>
            </a:r>
          </a:p>
          <a:p>
            <a:pPr marL="0" indent="0">
              <a:buNone/>
            </a:pPr>
            <a:r>
              <a:rPr lang="bg-BG" dirty="0" smtClean="0"/>
              <a:t>“Позлатяване“</a:t>
            </a:r>
          </a:p>
          <a:p>
            <a:pPr marL="0" indent="0">
              <a:buNone/>
            </a:pPr>
            <a:r>
              <a:rPr lang="ru-RU" dirty="0" smtClean="0"/>
              <a:t>Пренебрегване на контрола и качеството</a:t>
            </a:r>
          </a:p>
          <a:p>
            <a:pPr marL="0" indent="0">
              <a:buNone/>
            </a:pPr>
            <a:r>
              <a:rPr lang="bg-BG" dirty="0" smtClean="0"/>
              <a:t>Прекалено оптимистичен график</a:t>
            </a:r>
          </a:p>
          <a:p>
            <a:pPr marL="0" indent="0">
              <a:buNone/>
            </a:pPr>
            <a:r>
              <a:rPr lang="ru-RU" dirty="0" smtClean="0"/>
              <a:t>Работа по много проекти по едно и също време</a:t>
            </a:r>
          </a:p>
          <a:p>
            <a:pPr marL="0" indent="0">
              <a:buNone/>
            </a:pPr>
            <a:r>
              <a:rPr lang="bg-BG" dirty="0" smtClean="0"/>
              <a:t>Лош интерфейс</a:t>
            </a:r>
          </a:p>
          <a:p>
            <a:pPr marL="0" indent="0">
              <a:buNone/>
            </a:pPr>
            <a:r>
              <a:rPr lang="ru-RU" dirty="0" smtClean="0"/>
              <a:t>Синдромът на "едно и също решение за всички проекти“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Неквалифициран персонал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Клиентите не участват в процеса на изпълнение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Напрежение между клиенти и разработчици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001769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7300" dirty="0" smtClean="0"/>
              <a:t/>
            </a:r>
            <a:br>
              <a:rPr lang="en-US" sz="7300" dirty="0" smtClean="0"/>
            </a:br>
            <a:r>
              <a:rPr lang="ru-RU" dirty="0" smtClean="0"/>
              <a:t>Задача</a:t>
            </a:r>
            <a:r>
              <a:rPr lang="ru-RU" sz="7300" dirty="0" smtClean="0"/>
              <a:t/>
            </a:r>
            <a:br>
              <a:rPr lang="ru-RU" sz="7300" dirty="0" smtClean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 smtClean="0"/>
              <a:t>Опишете случай, при който увеличаването на софтуерният екип няма да повлияе отрицателно при изпълнение на проект, който вече закъснява. Основните причини да се избягва увеличаването на екипа в хода на проекта са:</a:t>
            </a:r>
          </a:p>
          <a:p>
            <a:pPr marL="0" indent="0">
              <a:buNone/>
            </a:pPr>
            <a:r>
              <a:rPr lang="ru-RU" dirty="0" smtClean="0"/>
              <a:t>-	Нужно е време на членовете на екипа да координират действията си с нов член на екипа</a:t>
            </a:r>
          </a:p>
          <a:p>
            <a:pPr marL="0" indent="0">
              <a:buNone/>
            </a:pPr>
            <a:r>
              <a:rPr lang="ru-RU" dirty="0" smtClean="0"/>
              <a:t>-	Нужно е време за обучение</a:t>
            </a:r>
          </a:p>
          <a:p>
            <a:pPr marL="0" indent="0">
              <a:buNone/>
            </a:pPr>
            <a:r>
              <a:rPr lang="ru-RU" dirty="0" smtClean="0"/>
              <a:t>-	Увеличава се нужната комуникация между членовете на екипа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59128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Отговори</a:t>
            </a:r>
            <a:br>
              <a:rPr lang="ru-RU" dirty="0" smtClean="0"/>
            </a:b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 smtClean="0"/>
              <a:t>Увеличаването на екипа е ефективно в случаите, при които:</a:t>
            </a:r>
          </a:p>
          <a:p>
            <a:pPr marL="0" indent="0">
              <a:buNone/>
            </a:pPr>
            <a:r>
              <a:rPr lang="ru-RU" dirty="0" smtClean="0"/>
              <a:t>-не се изисква особенна квалификация за извършване на работните дейности</a:t>
            </a:r>
          </a:p>
          <a:p>
            <a:pPr marL="0" indent="0">
              <a:buNone/>
            </a:pPr>
            <a:r>
              <a:rPr lang="ru-RU" dirty="0" smtClean="0"/>
              <a:t>-работните дейности позволяват разбиване на много малки и слабо свързани помежду си задачи</a:t>
            </a:r>
          </a:p>
          <a:p>
            <a:pPr marL="0" indent="0">
              <a:buNone/>
            </a:pPr>
            <a:r>
              <a:rPr lang="ru-RU" dirty="0" smtClean="0"/>
              <a:t>-се добавят повече от необходимия брой хора, с цел да се избегнат забавянията от комуникацията </a:t>
            </a:r>
          </a:p>
          <a:p>
            <a:pPr marL="0" indent="0">
              <a:buNone/>
            </a:pPr>
            <a:r>
              <a:rPr lang="ru-RU" dirty="0" smtClean="0"/>
              <a:t>-се добавят опитни разработчици, които нямат или имат малка нужда от запознаване с проекта</a:t>
            </a:r>
          </a:p>
          <a:p>
            <a:pPr marL="0" indent="0">
              <a:buNone/>
            </a:pP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27533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517</Words>
  <Application>Microsoft Office PowerPoint</Application>
  <PresentationFormat>On-screen Show (4:3)</PresentationFormat>
  <Paragraphs>74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Същност и специфика на проектите в областта на информационните технологии. Структура и характерни черти на IT проекта. Последователност от задачи, асоциирани с всяка фаза от IT  проекта. Специфични фактори в проекта. Осигуряване на ефективност при IT проекта. Функции на управлението на IT проектите.</vt:lpstr>
      <vt:lpstr>Същност и специфика на проектите в областта на информационните технологии</vt:lpstr>
      <vt:lpstr>Структура и характерни черти на IT проекта</vt:lpstr>
      <vt:lpstr>Последователност от задачи, асоциирани с всяка фаза от IT проекта</vt:lpstr>
      <vt:lpstr>Последователност от задачи, асоциирани с всяка фаза от IT проекта</vt:lpstr>
      <vt:lpstr>Последователност от задачи, асоциирани с всяка фаза от IT проекта</vt:lpstr>
      <vt:lpstr>Специфични фактори в проекта</vt:lpstr>
      <vt:lpstr>Осигуряване на ефективност при IT проекта</vt:lpstr>
      <vt:lpstr>Топ 10 причини за забавяне в IT проектите</vt:lpstr>
      <vt:lpstr> Задача </vt:lpstr>
      <vt:lpstr> Отговори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Същност и специфика на проектите в областта на информационните технологии. Структура и характерни черти на IT проекта. Последователност от задачи, асоциирани с всяка фаза от IT  проекта. Специфични фактори в проекта. Осигуряване на ефективност при IT проекта. Функции на управлението на IT проектите.</dc:title>
  <dc:creator>Milena</dc:creator>
  <cp:lastModifiedBy>Milena</cp:lastModifiedBy>
  <cp:revision>9</cp:revision>
  <dcterms:created xsi:type="dcterms:W3CDTF">2019-02-13T21:09:58Z</dcterms:created>
  <dcterms:modified xsi:type="dcterms:W3CDTF">2019-02-13T21:40:47Z</dcterms:modified>
</cp:coreProperties>
</file>
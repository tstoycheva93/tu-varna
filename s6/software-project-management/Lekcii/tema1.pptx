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4" name="Shape 144"/>
          <p:cNvSpPr/>
          <p:nvPr>
            <p:ph type="sldImg"/>
          </p:nvPr>
        </p:nvSpPr>
        <p:spPr>
          <a:xfrm>
            <a:off x="1143000" y="685800"/>
            <a:ext cx="4572000" cy="3429000"/>
          </a:xfrm>
          <a:prstGeom prst="rect">
            <a:avLst/>
          </a:prstGeom>
        </p:spPr>
        <p:txBody>
          <a:bodyPr/>
          <a:lstStyle/>
          <a:p>
            <a:pPr/>
          </a:p>
        </p:txBody>
      </p:sp>
      <p:sp>
        <p:nvSpPr>
          <p:cNvPr id="145" name="Shape 14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13"/>
          </p:nvPr>
        </p:nvSpPr>
        <p:spPr>
          <a:xfrm>
            <a:off x="3125968" y="673100"/>
            <a:ext cx="18135601" cy="8737600"/>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nchor="b"/>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Image"/>
          <p:cNvSpPr/>
          <p:nvPr>
            <p:ph type="pic" sz="half" idx="13"/>
          </p:nvPr>
        </p:nvSpPr>
        <p:spPr>
          <a:xfrm>
            <a:off x="13165980" y="952500"/>
            <a:ext cx="9525001"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a:defRPr sz="8400"/>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sz="half" idx="13"/>
          </p:nvPr>
        </p:nvSpPr>
        <p:spPr>
          <a:xfrm>
            <a:off x="13169900" y="3149600"/>
            <a:ext cx="95250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13"/>
          </p:nvPr>
        </p:nvSpPr>
        <p:spPr>
          <a:xfrm>
            <a:off x="15760700" y="7048500"/>
            <a:ext cx="7404100" cy="5549900"/>
          </a:xfrm>
          <a:prstGeom prst="rect">
            <a:avLst/>
          </a:prstGeom>
        </p:spPr>
        <p:txBody>
          <a:bodyPr lIns="91439" tIns="45719" rIns="91439" bIns="45719" anchor="t">
            <a:noAutofit/>
          </a:bodyPr>
          <a:lstStyle/>
          <a:p>
            <a:pPr/>
          </a:p>
        </p:txBody>
      </p:sp>
      <p:sp>
        <p:nvSpPr>
          <p:cNvPr id="84" name="Image"/>
          <p:cNvSpPr/>
          <p:nvPr>
            <p:ph type="pic" sz="quarter" idx="14"/>
          </p:nvPr>
        </p:nvSpPr>
        <p:spPr>
          <a:xfrm>
            <a:off x="15760700" y="1130300"/>
            <a:ext cx="7404100" cy="5549900"/>
          </a:xfrm>
          <a:prstGeom prst="rect">
            <a:avLst/>
          </a:prstGeom>
        </p:spPr>
        <p:txBody>
          <a:bodyPr lIns="91439" tIns="45719" rIns="91439" bIns="45719" anchor="t">
            <a:noAutofit/>
          </a:bodyPr>
          <a:lstStyle/>
          <a:p>
            <a:pPr/>
          </a:p>
        </p:txBody>
      </p:sp>
      <p:sp>
        <p:nvSpPr>
          <p:cNvPr id="85" name="Image"/>
          <p:cNvSpPr/>
          <p:nvPr>
            <p:ph type="pic" idx="15"/>
          </p:nvPr>
        </p:nvSpPr>
        <p:spPr>
          <a:xfrm>
            <a:off x="1206500" y="1130300"/>
            <a:ext cx="14173200" cy="114681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13"/>
          </p:nvPr>
        </p:nvSpPr>
        <p:spPr>
          <a:xfrm>
            <a:off x="2387600" y="8953500"/>
            <a:ext cx="19621500" cy="585521"/>
          </a:xfrm>
          <a:prstGeom prst="rect">
            <a:avLst/>
          </a:prstGeom>
        </p:spPr>
        <p:txBody>
          <a:bodyPr anchor="t">
            <a:spAutoFit/>
          </a:bodyPr>
          <a:lstStyle>
            <a:lvl1pPr marL="0" indent="0" algn="ctr">
              <a:spcBef>
                <a:spcPts val="0"/>
              </a:spcBef>
              <a:buSzTx/>
              <a:buNone/>
              <a:defRPr i="1" sz="3200"/>
            </a:lvl1pPr>
          </a:lstStyle>
          <a:p>
            <a:pPr/>
            <a:r>
              <a:t>–Johnny Appleseed</a:t>
            </a:r>
          </a:p>
        </p:txBody>
      </p:sp>
      <p:sp>
        <p:nvSpPr>
          <p:cNvPr id="94" name="“Type a quote here.”"/>
          <p:cNvSpPr txBox="1"/>
          <p:nvPr>
            <p:ph type="body" sz="quarter" idx="14"/>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Image"/>
          <p:cNvSpPr/>
          <p:nvPr>
            <p:ph type="pic" idx="13"/>
          </p:nvPr>
        </p:nvSpPr>
        <p:spPr>
          <a:xfrm>
            <a:off x="0" y="0"/>
            <a:ext cx="24384000" cy="137160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with photo">
    <p:spTree>
      <p:nvGrpSpPr>
        <p:cNvPr id="1" name=""/>
        <p:cNvGrpSpPr/>
        <p:nvPr/>
      </p:nvGrpSpPr>
      <p:grpSpPr>
        <a:xfrm>
          <a:off x="0" y="0"/>
          <a:ext cx="0" cy="0"/>
          <a:chOff x="0" y="0"/>
          <a:chExt cx="0" cy="0"/>
        </a:xfrm>
      </p:grpSpPr>
      <p:sp>
        <p:nvSpPr>
          <p:cNvPr id="117" name="Рисунок 2"/>
          <p:cNvSpPr/>
          <p:nvPr>
            <p:ph type="pic" sz="quarter" idx="13"/>
          </p:nvPr>
        </p:nvSpPr>
        <p:spPr>
          <a:xfrm>
            <a:off x="1175358" y="1588754"/>
            <a:ext cx="2646364" cy="2477922"/>
          </a:xfrm>
          <a:prstGeom prst="rect">
            <a:avLst/>
          </a:prstGeom>
        </p:spPr>
        <p:txBody>
          <a:bodyPr lIns="91439" tIns="45719" rIns="91439" bIns="45719" anchor="t">
            <a:noAutofit/>
          </a:bodyPr>
          <a:lstStyle/>
          <a:p>
            <a:pPr/>
          </a:p>
        </p:txBody>
      </p:sp>
      <p:sp>
        <p:nvSpPr>
          <p:cNvPr id="118" name="Рисунок 2"/>
          <p:cNvSpPr/>
          <p:nvPr>
            <p:ph type="pic" sz="quarter" idx="14"/>
          </p:nvPr>
        </p:nvSpPr>
        <p:spPr>
          <a:xfrm>
            <a:off x="4411853" y="1588754"/>
            <a:ext cx="2646364" cy="2477922"/>
          </a:xfrm>
          <a:prstGeom prst="rect">
            <a:avLst/>
          </a:prstGeom>
        </p:spPr>
        <p:txBody>
          <a:bodyPr lIns="91439" tIns="45719" rIns="91439" bIns="45719" anchor="t">
            <a:noAutofit/>
          </a:bodyPr>
          <a:lstStyle/>
          <a:p>
            <a:pPr/>
          </a:p>
        </p:txBody>
      </p:sp>
      <p:sp>
        <p:nvSpPr>
          <p:cNvPr id="119" name="Рисунок 2"/>
          <p:cNvSpPr/>
          <p:nvPr>
            <p:ph type="pic" sz="quarter" idx="15"/>
          </p:nvPr>
        </p:nvSpPr>
        <p:spPr>
          <a:xfrm>
            <a:off x="7648347" y="1588754"/>
            <a:ext cx="2646364" cy="2477922"/>
          </a:xfrm>
          <a:prstGeom prst="rect">
            <a:avLst/>
          </a:prstGeom>
        </p:spPr>
        <p:txBody>
          <a:bodyPr lIns="91439" tIns="45719" rIns="91439" bIns="45719" anchor="t">
            <a:noAutofit/>
          </a:bodyPr>
          <a:lstStyle/>
          <a:p>
            <a:pPr/>
          </a:p>
        </p:txBody>
      </p:sp>
      <p:sp>
        <p:nvSpPr>
          <p:cNvPr id="120" name="Рисунок 2"/>
          <p:cNvSpPr/>
          <p:nvPr>
            <p:ph type="pic" sz="quarter" idx="16"/>
          </p:nvPr>
        </p:nvSpPr>
        <p:spPr>
          <a:xfrm>
            <a:off x="10884843" y="1588754"/>
            <a:ext cx="2646364" cy="2477922"/>
          </a:xfrm>
          <a:prstGeom prst="rect">
            <a:avLst/>
          </a:prstGeom>
        </p:spPr>
        <p:txBody>
          <a:bodyPr lIns="91439" tIns="45719" rIns="91439" bIns="45719" anchor="t">
            <a:noAutofit/>
          </a:bodyPr>
          <a:lstStyle/>
          <a:p>
            <a:pPr/>
          </a:p>
        </p:txBody>
      </p:sp>
      <p:sp>
        <p:nvSpPr>
          <p:cNvPr id="121" name="Рисунок 2"/>
          <p:cNvSpPr/>
          <p:nvPr>
            <p:ph type="pic" sz="quarter" idx="17"/>
          </p:nvPr>
        </p:nvSpPr>
        <p:spPr>
          <a:xfrm>
            <a:off x="14121338" y="1588754"/>
            <a:ext cx="2646364" cy="2477922"/>
          </a:xfrm>
          <a:prstGeom prst="rect">
            <a:avLst/>
          </a:prstGeom>
        </p:spPr>
        <p:txBody>
          <a:bodyPr lIns="91439" tIns="45719" rIns="91439" bIns="45719" anchor="t">
            <a:noAutofit/>
          </a:bodyPr>
          <a:lstStyle/>
          <a:p>
            <a:pPr/>
          </a:p>
        </p:txBody>
      </p:sp>
      <p:sp>
        <p:nvSpPr>
          <p:cNvPr id="122" name="Рисунок 2"/>
          <p:cNvSpPr/>
          <p:nvPr>
            <p:ph type="pic" sz="quarter" idx="18"/>
          </p:nvPr>
        </p:nvSpPr>
        <p:spPr>
          <a:xfrm>
            <a:off x="17357833" y="1588754"/>
            <a:ext cx="2646364" cy="2477922"/>
          </a:xfrm>
          <a:prstGeom prst="rect">
            <a:avLst/>
          </a:prstGeom>
        </p:spPr>
        <p:txBody>
          <a:bodyPr lIns="91439" tIns="45719" rIns="91439" bIns="45719" anchor="t">
            <a:noAutofit/>
          </a:bodyPr>
          <a:lstStyle/>
          <a:p>
            <a:pPr/>
          </a:p>
        </p:txBody>
      </p:sp>
      <p:sp>
        <p:nvSpPr>
          <p:cNvPr id="123" name="Рисунок 2"/>
          <p:cNvSpPr/>
          <p:nvPr>
            <p:ph type="pic" sz="quarter" idx="19"/>
          </p:nvPr>
        </p:nvSpPr>
        <p:spPr>
          <a:xfrm>
            <a:off x="20594325" y="1588754"/>
            <a:ext cx="2646364" cy="2477922"/>
          </a:xfrm>
          <a:prstGeom prst="rect">
            <a:avLst/>
          </a:prstGeom>
        </p:spPr>
        <p:txBody>
          <a:bodyPr lIns="91439" tIns="45719" rIns="91439" bIns="45719" anchor="t">
            <a:noAutofit/>
          </a:bodyPr>
          <a:lstStyle/>
          <a:p>
            <a:pPr/>
          </a:p>
        </p:txBody>
      </p:sp>
      <p:sp>
        <p:nvSpPr>
          <p:cNvPr id="124" name="Рисунок 2"/>
          <p:cNvSpPr/>
          <p:nvPr>
            <p:ph type="pic" sz="quarter" idx="20"/>
          </p:nvPr>
        </p:nvSpPr>
        <p:spPr>
          <a:xfrm>
            <a:off x="1175358" y="7941427"/>
            <a:ext cx="2646364" cy="2477921"/>
          </a:xfrm>
          <a:prstGeom prst="rect">
            <a:avLst/>
          </a:prstGeom>
        </p:spPr>
        <p:txBody>
          <a:bodyPr lIns="91439" tIns="45719" rIns="91439" bIns="45719" anchor="t">
            <a:noAutofit/>
          </a:bodyPr>
          <a:lstStyle/>
          <a:p>
            <a:pPr/>
          </a:p>
        </p:txBody>
      </p:sp>
      <p:sp>
        <p:nvSpPr>
          <p:cNvPr id="125" name="Рисунок 2"/>
          <p:cNvSpPr/>
          <p:nvPr>
            <p:ph type="pic" sz="quarter" idx="21"/>
          </p:nvPr>
        </p:nvSpPr>
        <p:spPr>
          <a:xfrm>
            <a:off x="4411853" y="7941427"/>
            <a:ext cx="2646364" cy="2477921"/>
          </a:xfrm>
          <a:prstGeom prst="rect">
            <a:avLst/>
          </a:prstGeom>
        </p:spPr>
        <p:txBody>
          <a:bodyPr lIns="91439" tIns="45719" rIns="91439" bIns="45719" anchor="t">
            <a:noAutofit/>
          </a:bodyPr>
          <a:lstStyle/>
          <a:p>
            <a:pPr/>
          </a:p>
        </p:txBody>
      </p:sp>
      <p:sp>
        <p:nvSpPr>
          <p:cNvPr id="126" name="Рисунок 2"/>
          <p:cNvSpPr/>
          <p:nvPr>
            <p:ph type="pic" sz="quarter" idx="22"/>
          </p:nvPr>
        </p:nvSpPr>
        <p:spPr>
          <a:xfrm>
            <a:off x="7648347" y="7941427"/>
            <a:ext cx="2646364" cy="2477921"/>
          </a:xfrm>
          <a:prstGeom prst="rect">
            <a:avLst/>
          </a:prstGeom>
        </p:spPr>
        <p:txBody>
          <a:bodyPr lIns="91439" tIns="45719" rIns="91439" bIns="45719" anchor="t">
            <a:noAutofit/>
          </a:bodyPr>
          <a:lstStyle/>
          <a:p>
            <a:pPr/>
          </a:p>
        </p:txBody>
      </p:sp>
      <p:sp>
        <p:nvSpPr>
          <p:cNvPr id="127" name="Рисунок 2"/>
          <p:cNvSpPr/>
          <p:nvPr>
            <p:ph type="pic" sz="quarter" idx="23"/>
          </p:nvPr>
        </p:nvSpPr>
        <p:spPr>
          <a:xfrm>
            <a:off x="10884843" y="7941427"/>
            <a:ext cx="2646364" cy="2477921"/>
          </a:xfrm>
          <a:prstGeom prst="rect">
            <a:avLst/>
          </a:prstGeom>
        </p:spPr>
        <p:txBody>
          <a:bodyPr lIns="91439" tIns="45719" rIns="91439" bIns="45719" anchor="t">
            <a:noAutofit/>
          </a:bodyPr>
          <a:lstStyle/>
          <a:p>
            <a:pPr/>
          </a:p>
        </p:txBody>
      </p:sp>
      <p:sp>
        <p:nvSpPr>
          <p:cNvPr id="128" name="Рисунок 2"/>
          <p:cNvSpPr/>
          <p:nvPr>
            <p:ph type="pic" sz="quarter" idx="24"/>
          </p:nvPr>
        </p:nvSpPr>
        <p:spPr>
          <a:xfrm>
            <a:off x="14121338" y="7941427"/>
            <a:ext cx="2646364" cy="2477921"/>
          </a:xfrm>
          <a:prstGeom prst="rect">
            <a:avLst/>
          </a:prstGeom>
        </p:spPr>
        <p:txBody>
          <a:bodyPr lIns="91439" tIns="45719" rIns="91439" bIns="45719" anchor="t">
            <a:noAutofit/>
          </a:bodyPr>
          <a:lstStyle/>
          <a:p>
            <a:pPr/>
          </a:p>
        </p:txBody>
      </p:sp>
      <p:sp>
        <p:nvSpPr>
          <p:cNvPr id="129" name="Рисунок 2"/>
          <p:cNvSpPr/>
          <p:nvPr>
            <p:ph type="pic" sz="quarter" idx="25"/>
          </p:nvPr>
        </p:nvSpPr>
        <p:spPr>
          <a:xfrm>
            <a:off x="17357833" y="7941427"/>
            <a:ext cx="2646364" cy="2477921"/>
          </a:xfrm>
          <a:prstGeom prst="rect">
            <a:avLst/>
          </a:prstGeom>
        </p:spPr>
        <p:txBody>
          <a:bodyPr lIns="91439" tIns="45719" rIns="91439" bIns="45719" anchor="t">
            <a:noAutofit/>
          </a:bodyPr>
          <a:lstStyle/>
          <a:p>
            <a:pPr/>
          </a:p>
        </p:txBody>
      </p:sp>
      <p:sp>
        <p:nvSpPr>
          <p:cNvPr id="130" name="Рисунок 2"/>
          <p:cNvSpPr/>
          <p:nvPr>
            <p:ph type="pic" sz="quarter" idx="26"/>
          </p:nvPr>
        </p:nvSpPr>
        <p:spPr>
          <a:xfrm>
            <a:off x="20594325" y="7941427"/>
            <a:ext cx="2646364" cy="2477921"/>
          </a:xfrm>
          <a:prstGeom prst="rect">
            <a:avLst/>
          </a:prstGeom>
        </p:spPr>
        <p:txBody>
          <a:bodyPr lIns="91439" tIns="45719" rIns="91439" bIns="45719" anchor="t">
            <a:noAutofit/>
          </a:bodyPr>
          <a:lstStyle/>
          <a:p>
            <a:pPr/>
          </a:p>
        </p:txBody>
      </p:sp>
      <p:sp>
        <p:nvSpPr>
          <p:cNvPr id="131" name="Рисунок 2"/>
          <p:cNvSpPr/>
          <p:nvPr>
            <p:ph type="pic" sz="quarter" idx="27"/>
          </p:nvPr>
        </p:nvSpPr>
        <p:spPr>
          <a:xfrm>
            <a:off x="1175358" y="4765090"/>
            <a:ext cx="2646364" cy="2477921"/>
          </a:xfrm>
          <a:prstGeom prst="rect">
            <a:avLst/>
          </a:prstGeom>
        </p:spPr>
        <p:txBody>
          <a:bodyPr lIns="91439" tIns="45719" rIns="91439" bIns="45719" anchor="t">
            <a:noAutofit/>
          </a:bodyPr>
          <a:lstStyle/>
          <a:p>
            <a:pPr/>
          </a:p>
        </p:txBody>
      </p:sp>
      <p:sp>
        <p:nvSpPr>
          <p:cNvPr id="132" name="Рисунок 2"/>
          <p:cNvSpPr/>
          <p:nvPr>
            <p:ph type="pic" sz="quarter" idx="28"/>
          </p:nvPr>
        </p:nvSpPr>
        <p:spPr>
          <a:xfrm>
            <a:off x="4411853" y="4765090"/>
            <a:ext cx="2646364" cy="2477921"/>
          </a:xfrm>
          <a:prstGeom prst="rect">
            <a:avLst/>
          </a:prstGeom>
        </p:spPr>
        <p:txBody>
          <a:bodyPr lIns="91439" tIns="45719" rIns="91439" bIns="45719" anchor="t">
            <a:noAutofit/>
          </a:bodyPr>
          <a:lstStyle/>
          <a:p>
            <a:pPr/>
          </a:p>
        </p:txBody>
      </p:sp>
      <p:sp>
        <p:nvSpPr>
          <p:cNvPr id="133" name="Рисунок 2"/>
          <p:cNvSpPr/>
          <p:nvPr>
            <p:ph type="pic" sz="quarter" idx="29"/>
          </p:nvPr>
        </p:nvSpPr>
        <p:spPr>
          <a:xfrm>
            <a:off x="7648347" y="4765090"/>
            <a:ext cx="2646364" cy="2477921"/>
          </a:xfrm>
          <a:prstGeom prst="rect">
            <a:avLst/>
          </a:prstGeom>
        </p:spPr>
        <p:txBody>
          <a:bodyPr lIns="91439" tIns="45719" rIns="91439" bIns="45719" anchor="t">
            <a:noAutofit/>
          </a:bodyPr>
          <a:lstStyle/>
          <a:p>
            <a:pPr/>
          </a:p>
        </p:txBody>
      </p:sp>
      <p:sp>
        <p:nvSpPr>
          <p:cNvPr id="134" name="Рисунок 2"/>
          <p:cNvSpPr/>
          <p:nvPr>
            <p:ph type="pic" sz="quarter" idx="30"/>
          </p:nvPr>
        </p:nvSpPr>
        <p:spPr>
          <a:xfrm>
            <a:off x="10884843" y="4765090"/>
            <a:ext cx="2646364" cy="2477921"/>
          </a:xfrm>
          <a:prstGeom prst="rect">
            <a:avLst/>
          </a:prstGeom>
        </p:spPr>
        <p:txBody>
          <a:bodyPr lIns="91439" tIns="45719" rIns="91439" bIns="45719" anchor="t">
            <a:noAutofit/>
          </a:bodyPr>
          <a:lstStyle/>
          <a:p>
            <a:pPr/>
          </a:p>
        </p:txBody>
      </p:sp>
      <p:sp>
        <p:nvSpPr>
          <p:cNvPr id="135" name="Рисунок 2"/>
          <p:cNvSpPr/>
          <p:nvPr>
            <p:ph type="pic" sz="quarter" idx="31"/>
          </p:nvPr>
        </p:nvSpPr>
        <p:spPr>
          <a:xfrm>
            <a:off x="14121338" y="4765090"/>
            <a:ext cx="2646364" cy="2477921"/>
          </a:xfrm>
          <a:prstGeom prst="rect">
            <a:avLst/>
          </a:prstGeom>
        </p:spPr>
        <p:txBody>
          <a:bodyPr lIns="91439" tIns="45719" rIns="91439" bIns="45719" anchor="t">
            <a:noAutofit/>
          </a:bodyPr>
          <a:lstStyle/>
          <a:p>
            <a:pPr/>
          </a:p>
        </p:txBody>
      </p:sp>
      <p:sp>
        <p:nvSpPr>
          <p:cNvPr id="136" name="Рисунок 2"/>
          <p:cNvSpPr/>
          <p:nvPr>
            <p:ph type="pic" sz="quarter" idx="32"/>
          </p:nvPr>
        </p:nvSpPr>
        <p:spPr>
          <a:xfrm>
            <a:off x="17357833" y="4765090"/>
            <a:ext cx="2646364" cy="2477921"/>
          </a:xfrm>
          <a:prstGeom prst="rect">
            <a:avLst/>
          </a:prstGeom>
        </p:spPr>
        <p:txBody>
          <a:bodyPr lIns="91439" tIns="45719" rIns="91439" bIns="45719" anchor="t">
            <a:noAutofit/>
          </a:bodyPr>
          <a:lstStyle/>
          <a:p>
            <a:pPr/>
          </a:p>
        </p:txBody>
      </p:sp>
      <p:sp>
        <p:nvSpPr>
          <p:cNvPr id="137" name="Рисунок 2"/>
          <p:cNvSpPr/>
          <p:nvPr>
            <p:ph type="pic" sz="quarter" idx="33"/>
          </p:nvPr>
        </p:nvSpPr>
        <p:spPr>
          <a:xfrm>
            <a:off x="20594325" y="4765090"/>
            <a:ext cx="2646364" cy="2477921"/>
          </a:xfrm>
          <a:prstGeom prst="rect">
            <a:avLst/>
          </a:prstGeom>
        </p:spPr>
        <p:txBody>
          <a:bodyPr lIns="91439" tIns="45719" rIns="91439" bIns="45719" anchor="t">
            <a:noAutofit/>
          </a:bodyPr>
          <a:lstStyle/>
          <a:p>
            <a:pPr/>
          </a:p>
        </p:txBody>
      </p:sp>
      <p:sp>
        <p:nvSpPr>
          <p:cNvPr id="1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b="0"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tabLst/>
        <a:defRPr b="0" baseline="0" cap="none" i="0" spc="0" strike="noStrike" sz="11200" u="none">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b="0" baseline="0" cap="none" i="0" spc="0" strike="noStrike" sz="5200" u="none">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ln>
            <a:noFill/>
          </a:ln>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49" name="Группа 1"/>
          <p:cNvGrpSpPr/>
          <p:nvPr/>
        </p:nvGrpSpPr>
        <p:grpSpPr>
          <a:xfrm>
            <a:off x="3195684" y="3425483"/>
            <a:ext cx="1844672" cy="2388675"/>
            <a:chOff x="0" y="-2"/>
            <a:chExt cx="1844670" cy="2388674"/>
          </a:xfrm>
        </p:grpSpPr>
        <p:sp>
          <p:nvSpPr>
            <p:cNvPr id="147" name="Кружок"/>
            <p:cNvSpPr/>
            <p:nvPr/>
          </p:nvSpPr>
          <p:spPr>
            <a:xfrm>
              <a:off x="547029" y="1088401"/>
              <a:ext cx="207783" cy="207783"/>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48" name="Фигура"/>
            <p:cNvSpPr/>
            <p:nvPr/>
          </p:nvSpPr>
          <p:spPr>
            <a:xfrm>
              <a:off x="-1" y="-3"/>
              <a:ext cx="1844672" cy="2388676"/>
            </a:xfrm>
            <a:custGeom>
              <a:avLst/>
              <a:gdLst/>
              <a:ahLst/>
              <a:cxnLst>
                <a:cxn ang="0">
                  <a:pos x="wd2" y="hd2"/>
                </a:cxn>
                <a:cxn ang="5400000">
                  <a:pos x="wd2" y="hd2"/>
                </a:cxn>
                <a:cxn ang="10800000">
                  <a:pos x="wd2" y="hd2"/>
                </a:cxn>
                <a:cxn ang="16200000">
                  <a:pos x="wd2" y="hd2"/>
                </a:cxn>
              </a:cxnLst>
              <a:rect l="0" t="0" r="r" b="b"/>
              <a:pathLst>
                <a:path w="21470" h="21594" fill="norm" stroke="1" extrusionOk="0">
                  <a:moveTo>
                    <a:pt x="7586" y="0"/>
                  </a:moveTo>
                  <a:lnTo>
                    <a:pt x="7586" y="2413"/>
                  </a:lnTo>
                  <a:cubicBezTo>
                    <a:pt x="10501" y="2424"/>
                    <a:pt x="13145" y="3330"/>
                    <a:pt x="15084" y="4797"/>
                  </a:cubicBezTo>
                  <a:cubicBezTo>
                    <a:pt x="17047" y="6283"/>
                    <a:pt x="18288" y="8346"/>
                    <a:pt x="18338" y="10639"/>
                  </a:cubicBezTo>
                  <a:cubicBezTo>
                    <a:pt x="18441" y="15308"/>
                    <a:pt x="13593" y="19136"/>
                    <a:pt x="7580" y="19132"/>
                  </a:cubicBezTo>
                  <a:lnTo>
                    <a:pt x="7573" y="21580"/>
                  </a:lnTo>
                  <a:cubicBezTo>
                    <a:pt x="15345" y="21568"/>
                    <a:pt x="21600" y="16617"/>
                    <a:pt x="21468" y="10581"/>
                  </a:cubicBezTo>
                  <a:cubicBezTo>
                    <a:pt x="21403" y="7644"/>
                    <a:pt x="19829" y="4999"/>
                    <a:pt x="17326" y="3087"/>
                  </a:cubicBezTo>
                  <a:cubicBezTo>
                    <a:pt x="14817" y="1172"/>
                    <a:pt x="11376" y="-6"/>
                    <a:pt x="7586" y="0"/>
                  </a:cubicBezTo>
                  <a:close/>
                  <a:moveTo>
                    <a:pt x="7592" y="4930"/>
                  </a:moveTo>
                  <a:cubicBezTo>
                    <a:pt x="3452" y="4919"/>
                    <a:pt x="75" y="7500"/>
                    <a:pt x="24" y="10716"/>
                  </a:cubicBezTo>
                  <a:lnTo>
                    <a:pt x="0" y="21587"/>
                  </a:lnTo>
                  <a:lnTo>
                    <a:pt x="3159" y="21594"/>
                  </a:lnTo>
                  <a:lnTo>
                    <a:pt x="3164" y="10690"/>
                  </a:lnTo>
                  <a:cubicBezTo>
                    <a:pt x="3206" y="9780"/>
                    <a:pt x="3706" y="8920"/>
                    <a:pt x="4558" y="8294"/>
                  </a:cubicBezTo>
                  <a:cubicBezTo>
                    <a:pt x="5372" y="7696"/>
                    <a:pt x="6447" y="7358"/>
                    <a:pt x="7567" y="7366"/>
                  </a:cubicBezTo>
                  <a:cubicBezTo>
                    <a:pt x="9948" y="7383"/>
                    <a:pt x="11906" y="8837"/>
                    <a:pt x="11981" y="10679"/>
                  </a:cubicBezTo>
                  <a:cubicBezTo>
                    <a:pt x="12059" y="12609"/>
                    <a:pt x="10053" y="14202"/>
                    <a:pt x="7567" y="14186"/>
                  </a:cubicBezTo>
                  <a:lnTo>
                    <a:pt x="7567" y="16634"/>
                  </a:lnTo>
                  <a:cubicBezTo>
                    <a:pt x="9320" y="16630"/>
                    <a:pt x="11018" y="16156"/>
                    <a:pt x="12373" y="15292"/>
                  </a:cubicBezTo>
                  <a:cubicBezTo>
                    <a:pt x="13977" y="14268"/>
                    <a:pt x="14981" y="12778"/>
                    <a:pt x="15098" y="11169"/>
                  </a:cubicBezTo>
                  <a:cubicBezTo>
                    <a:pt x="15221" y="9490"/>
                    <a:pt x="14451" y="7934"/>
                    <a:pt x="13094" y="6796"/>
                  </a:cubicBezTo>
                  <a:cubicBezTo>
                    <a:pt x="11726" y="5649"/>
                    <a:pt x="9770" y="4935"/>
                    <a:pt x="7592" y="4930"/>
                  </a:cubicBezTo>
                  <a:close/>
                </a:path>
              </a:pathLst>
            </a:custGeom>
            <a:solidFill>
              <a:srgbClr val="D5D2D8"/>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sp>
        <p:nvSpPr>
          <p:cNvPr id="150" name="Группа 2"/>
          <p:cNvSpPr txBox="1"/>
          <p:nvPr/>
        </p:nvSpPr>
        <p:spPr>
          <a:xfrm>
            <a:off x="3061872" y="6300660"/>
            <a:ext cx="9547616" cy="2565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8000">
                <a:solidFill>
                  <a:srgbClr val="252625"/>
                </a:solidFill>
                <a:latin typeface="Montserrat Bold"/>
                <a:ea typeface="Montserrat Bold"/>
                <a:cs typeface="Montserrat Bold"/>
                <a:sym typeface="Montserrat Bold"/>
              </a:defRPr>
            </a:pPr>
            <a:r>
              <a:t>УСП</a:t>
            </a:r>
            <a:r>
              <a:rPr>
                <a:solidFill>
                  <a:srgbClr val="454745"/>
                </a:solidFill>
              </a:rPr>
              <a:t> </a:t>
            </a:r>
            <a:r>
              <a:rPr>
                <a:solidFill>
                  <a:srgbClr val="141413"/>
                </a:solidFill>
              </a:rPr>
              <a:t> </a:t>
            </a:r>
            <a:endParaRPr>
              <a:solidFill>
                <a:srgbClr val="141413"/>
              </a:solidFill>
            </a:endParaRPr>
          </a:p>
          <a:p>
            <a:pPr algn="l">
              <a:defRPr b="0" cap="all" sz="8000">
                <a:solidFill>
                  <a:srgbClr val="3F57D1"/>
                </a:solidFill>
                <a:latin typeface="Montserrat Bold"/>
                <a:ea typeface="Montserrat Bold"/>
                <a:cs typeface="Montserrat Bold"/>
                <a:sym typeface="Montserrat Bold"/>
              </a:defRPr>
            </a:pPr>
            <a:r>
              <a:t>Тема първа</a:t>
            </a:r>
          </a:p>
        </p:txBody>
      </p:sp>
      <p:sp>
        <p:nvSpPr>
          <p:cNvPr id="151" name="Прямоугольный треугольник 13"/>
          <p:cNvSpPr/>
          <p:nvPr/>
        </p:nvSpPr>
        <p:spPr>
          <a:xfrm rot="2700000">
            <a:off x="16083063" y="461646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ECB7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2" name="Прямоугольный треугольник 14"/>
          <p:cNvSpPr/>
          <p:nvPr/>
        </p:nvSpPr>
        <p:spPr>
          <a:xfrm rot="13500000">
            <a:off x="12647421" y="8270346"/>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3" name="Прямоугольный треугольник 15"/>
          <p:cNvSpPr/>
          <p:nvPr/>
        </p:nvSpPr>
        <p:spPr>
          <a:xfrm rot="13500000">
            <a:off x="10929597" y="962576"/>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4" name="Прямоугольный треугольник 16"/>
          <p:cNvSpPr/>
          <p:nvPr/>
        </p:nvSpPr>
        <p:spPr>
          <a:xfrm rot="2700000">
            <a:off x="18759352" y="-2691309"/>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5" name="Прямоугольный треугольник 17"/>
          <p:cNvSpPr/>
          <p:nvPr/>
        </p:nvSpPr>
        <p:spPr>
          <a:xfrm rot="2700000">
            <a:off x="17800879" y="11924231"/>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6" name="Прямоугольный треугольник 18"/>
          <p:cNvSpPr/>
          <p:nvPr/>
        </p:nvSpPr>
        <p:spPr>
          <a:xfrm rot="13500000">
            <a:off x="18892761" y="639940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7" name="Прямоугольный треугольник 19"/>
          <p:cNvSpPr/>
          <p:nvPr/>
        </p:nvSpPr>
        <p:spPr>
          <a:xfrm rot="2700000">
            <a:off x="9927598" y="1174571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8" name="Прямоугольный треугольник 21"/>
          <p:cNvSpPr/>
          <p:nvPr/>
        </p:nvSpPr>
        <p:spPr>
          <a:xfrm rot="13500000">
            <a:off x="18892763" y="-820364"/>
            <a:ext cx="4858730" cy="4858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159" name="Прямоугольный треугольник 22"/>
          <p:cNvSpPr/>
          <p:nvPr/>
        </p:nvSpPr>
        <p:spPr>
          <a:xfrm rot="2700000">
            <a:off x="10796188" y="-3106205"/>
            <a:ext cx="4858730" cy="4858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 presetID="2" grpId="1" fill="hold">
                                  <p:stCondLst>
                                    <p:cond delay="0"/>
                                  </p:stCondLst>
                                  <p:iterate type="el" backwards="0">
                                    <p:tmAbs val="0"/>
                                  </p:iterate>
                                  <p:childTnLst>
                                    <p:set>
                                      <p:cBhvr>
                                        <p:cTn id="6" fill="hold"/>
                                        <p:tgtEl>
                                          <p:spTgt spid="149"/>
                                        </p:tgtEl>
                                        <p:attrNameLst>
                                          <p:attrName>style.visibility</p:attrName>
                                        </p:attrNameLst>
                                      </p:cBhvr>
                                      <p:to>
                                        <p:strVal val="visible"/>
                                      </p:to>
                                    </p:set>
                                    <p:anim calcmode="lin" valueType="num">
                                      <p:cBhvr>
                                        <p:cTn id="7" dur="1500" fill="hold"/>
                                        <p:tgtEl>
                                          <p:spTgt spid="149"/>
                                        </p:tgtEl>
                                        <p:attrNameLst>
                                          <p:attrName>ppt_x</p:attrName>
                                        </p:attrNameLst>
                                      </p:cBhvr>
                                      <p:tavLst>
                                        <p:tav tm="0">
                                          <p:val>
                                            <p:strVal val="#ppt_x"/>
                                          </p:val>
                                        </p:tav>
                                        <p:tav tm="100000">
                                          <p:val>
                                            <p:strVal val="#ppt_x"/>
                                          </p:val>
                                        </p:tav>
                                      </p:tavLst>
                                    </p:anim>
                                    <p:anim calcmode="lin" valueType="num">
                                      <p:cBhvr>
                                        <p:cTn id="8" dur="1500" fill="hold"/>
                                        <p:tgtEl>
                                          <p:spTgt spid="1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150"/>
                                        </p:tgtEl>
                                        <p:attrNameLst>
                                          <p:attrName>style.visibility</p:attrName>
                                        </p:attrNameLst>
                                      </p:cBhvr>
                                      <p:to>
                                        <p:strVal val="visible"/>
                                      </p:to>
                                    </p:set>
                                    <p:animEffect filter="fade" transition="in">
                                      <p:cBhvr>
                                        <p:cTn id="13" dur="1130"/>
                                        <p:tgtEl>
                                          <p:spTgt spid="150"/>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153"/>
                                        </p:tgtEl>
                                        <p:attrNameLst>
                                          <p:attrName>style.visibility</p:attrName>
                                        </p:attrNameLst>
                                      </p:cBhvr>
                                      <p:to>
                                        <p:strVal val="visible"/>
                                      </p:to>
                                    </p:set>
                                    <p:animEffect filter="dissolve" transition="in">
                                      <p:cBhvr>
                                        <p:cTn id="18" dur="500"/>
                                        <p:tgtEl>
                                          <p:spTgt spid="153"/>
                                        </p:tgtEl>
                                      </p:cBhvr>
                                    </p:animEffect>
                                  </p:childTnLst>
                                </p:cTn>
                              </p:par>
                            </p:childTnLst>
                          </p:cTn>
                        </p:par>
                        <p:par>
                          <p:cTn id="19" fill="hold">
                            <p:stCondLst>
                              <p:cond delay="500"/>
                            </p:stCondLst>
                            <p:childTnLst>
                              <p:par>
                                <p:cTn id="20" presetClass="entr" nodeType="afterEffect" presetID="9" grpId="4" fill="hold">
                                  <p:stCondLst>
                                    <p:cond delay="0"/>
                                  </p:stCondLst>
                                  <p:iterate type="el" backwards="0">
                                    <p:tmAbs val="0"/>
                                  </p:iterate>
                                  <p:childTnLst>
                                    <p:set>
                                      <p:cBhvr>
                                        <p:cTn id="21" fill="hold"/>
                                        <p:tgtEl>
                                          <p:spTgt spid="155"/>
                                        </p:tgtEl>
                                        <p:attrNameLst>
                                          <p:attrName>style.visibility</p:attrName>
                                        </p:attrNameLst>
                                      </p:cBhvr>
                                      <p:to>
                                        <p:strVal val="visible"/>
                                      </p:to>
                                    </p:set>
                                    <p:animEffect filter="dissolve" transition="in">
                                      <p:cBhvr>
                                        <p:cTn id="22" dur="500"/>
                                        <p:tgtEl>
                                          <p:spTgt spid="15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152"/>
                                        </p:tgtEl>
                                        <p:attrNameLst>
                                          <p:attrName>style.visibility</p:attrName>
                                        </p:attrNameLst>
                                      </p:cBhvr>
                                      <p:to>
                                        <p:strVal val="visible"/>
                                      </p:to>
                                    </p:set>
                                    <p:animEffect filter="dissolve" transition="in">
                                      <p:cBhvr>
                                        <p:cTn id="27" dur="500"/>
                                        <p:tgtEl>
                                          <p:spTgt spid="152"/>
                                        </p:tgtEl>
                                      </p:cBhvr>
                                    </p:animEffect>
                                  </p:childTnLst>
                                </p:cTn>
                              </p:par>
                            </p:childTnLst>
                          </p:cTn>
                        </p:par>
                        <p:par>
                          <p:cTn id="28" fill="hold">
                            <p:stCondLst>
                              <p:cond delay="500"/>
                            </p:stCondLst>
                            <p:childTnLst>
                              <p:par>
                                <p:cTn id="29" presetClass="entr" nodeType="afterEffect" presetID="9" grpId="6" fill="hold">
                                  <p:stCondLst>
                                    <p:cond delay="0"/>
                                  </p:stCondLst>
                                  <p:iterate type="el" backwards="0">
                                    <p:tmAbs val="0"/>
                                  </p:iterate>
                                  <p:childTnLst>
                                    <p:set>
                                      <p:cBhvr>
                                        <p:cTn id="30" fill="hold"/>
                                        <p:tgtEl>
                                          <p:spTgt spid="154"/>
                                        </p:tgtEl>
                                        <p:attrNameLst>
                                          <p:attrName>style.visibility</p:attrName>
                                        </p:attrNameLst>
                                      </p:cBhvr>
                                      <p:to>
                                        <p:strVal val="visible"/>
                                      </p:to>
                                    </p:set>
                                    <p:animEffect filter="dissolve" transition="in">
                                      <p:cBhvr>
                                        <p:cTn id="31" dur="500"/>
                                        <p:tgtEl>
                                          <p:spTgt spid="154"/>
                                        </p:tgtEl>
                                      </p:cBhvr>
                                    </p:animEffect>
                                  </p:childTnLst>
                                </p:cTn>
                              </p:par>
                            </p:childTnLst>
                          </p:cTn>
                        </p:par>
                        <p:par>
                          <p:cTn id="32" fill="hold">
                            <p:stCondLst>
                              <p:cond delay="1000"/>
                            </p:stCondLst>
                            <p:childTnLst>
                              <p:par>
                                <p:cTn id="33" presetClass="entr" nodeType="afterEffect" presetID="9" grpId="7" fill="hold">
                                  <p:stCondLst>
                                    <p:cond delay="0"/>
                                  </p:stCondLst>
                                  <p:iterate type="el" backwards="0">
                                    <p:tmAbs val="0"/>
                                  </p:iterate>
                                  <p:childTnLst>
                                    <p:set>
                                      <p:cBhvr>
                                        <p:cTn id="34" fill="hold"/>
                                        <p:tgtEl>
                                          <p:spTgt spid="156"/>
                                        </p:tgtEl>
                                        <p:attrNameLst>
                                          <p:attrName>style.visibility</p:attrName>
                                        </p:attrNameLst>
                                      </p:cBhvr>
                                      <p:to>
                                        <p:strVal val="visible"/>
                                      </p:to>
                                    </p:set>
                                    <p:animEffect filter="dissolve" transition="in">
                                      <p:cBhvr>
                                        <p:cTn id="35" dur="500"/>
                                        <p:tgtEl>
                                          <p:spTgt spid="156"/>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ID="9" grpId="8" fill="hold">
                                  <p:stCondLst>
                                    <p:cond delay="0"/>
                                  </p:stCondLst>
                                  <p:iterate type="el" backwards="0">
                                    <p:tmAbs val="0"/>
                                  </p:iterate>
                                  <p:childTnLst>
                                    <p:set>
                                      <p:cBhvr>
                                        <p:cTn id="39" fill="hold"/>
                                        <p:tgtEl>
                                          <p:spTgt spid="151"/>
                                        </p:tgtEl>
                                        <p:attrNameLst>
                                          <p:attrName>style.visibility</p:attrName>
                                        </p:attrNameLst>
                                      </p:cBhvr>
                                      <p:to>
                                        <p:strVal val="visible"/>
                                      </p:to>
                                    </p:set>
                                    <p:animEffect filter="dissolve" transition="in">
                                      <p:cBhvr>
                                        <p:cTn id="40" dur="5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4" grpId="6"/>
      <p:bldP build="whole" bldLvl="1" animBg="1" rev="0" advAuto="0" spid="156" grpId="7"/>
      <p:bldP build="whole" bldLvl="1" animBg="1" rev="0" advAuto="0" spid="152" grpId="5"/>
      <p:bldP build="whole" bldLvl="1" animBg="1" rev="0" advAuto="0" spid="150" grpId="2"/>
      <p:bldP build="whole" bldLvl="1" animBg="1" rev="0" advAuto="0" spid="153" grpId="3"/>
      <p:bldP build="whole" bldLvl="1" animBg="1" rev="0" advAuto="0" spid="151" grpId="8"/>
      <p:bldP build="whole" bldLvl="1" animBg="1" rev="0" advAuto="0" spid="155" grpId="4"/>
      <p:bldP build="whole" bldLvl="1" animBg="1" rev="0" advAuto="0" spid="149"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82" name="Группа 3"/>
          <p:cNvGrpSpPr/>
          <p:nvPr/>
        </p:nvGrpSpPr>
        <p:grpSpPr>
          <a:xfrm>
            <a:off x="9170058" y="2125559"/>
            <a:ext cx="13821089" cy="9461445"/>
            <a:chOff x="0" y="0"/>
            <a:chExt cx="13821088" cy="9461443"/>
          </a:xfrm>
        </p:grpSpPr>
        <p:sp>
          <p:nvSpPr>
            <p:cNvPr id="161" name="Фигура"/>
            <p:cNvSpPr/>
            <p:nvPr/>
          </p:nvSpPr>
          <p:spPr>
            <a:xfrm>
              <a:off x="0" y="-1"/>
              <a:ext cx="2457978" cy="2033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4387" y="828"/>
                    <a:pt x="7179" y="6024"/>
                    <a:pt x="0" y="15668"/>
                  </a:cubicBezTo>
                  <a:cubicBezTo>
                    <a:pt x="6967" y="14532"/>
                    <a:pt x="13889" y="16652"/>
                    <a:pt x="20761" y="21600"/>
                  </a:cubicBezTo>
                  <a:lnTo>
                    <a:pt x="21600" y="0"/>
                  </a:ln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2" name="Фигура"/>
            <p:cNvSpPr/>
            <p:nvPr/>
          </p:nvSpPr>
          <p:spPr>
            <a:xfrm>
              <a:off x="2866351" y="1403"/>
              <a:ext cx="1741653" cy="3929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67" y="0"/>
                  </a:moveTo>
                  <a:lnTo>
                    <a:pt x="0" y="12952"/>
                  </a:lnTo>
                  <a:cubicBezTo>
                    <a:pt x="6538" y="15133"/>
                    <a:pt x="13037" y="18030"/>
                    <a:pt x="19501" y="21600"/>
                  </a:cubicBezTo>
                  <a:lnTo>
                    <a:pt x="21600" y="4092"/>
                  </a:lnTo>
                  <a:cubicBezTo>
                    <a:pt x="14865" y="1734"/>
                    <a:pt x="8117" y="353"/>
                    <a:pt x="1367" y="0"/>
                  </a:cubicBez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3" name="Фигура"/>
            <p:cNvSpPr/>
            <p:nvPr/>
          </p:nvSpPr>
          <p:spPr>
            <a:xfrm>
              <a:off x="4936318" y="120791"/>
              <a:ext cx="2155296" cy="6780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09" y="0"/>
                  </a:moveTo>
                  <a:lnTo>
                    <a:pt x="0" y="10806"/>
                  </a:lnTo>
                  <a:cubicBezTo>
                    <a:pt x="1363" y="11414"/>
                    <a:pt x="2727" y="12000"/>
                    <a:pt x="4086" y="12662"/>
                  </a:cubicBezTo>
                  <a:cubicBezTo>
                    <a:pt x="9057" y="15086"/>
                    <a:pt x="14070" y="17937"/>
                    <a:pt x="19017" y="21600"/>
                  </a:cubicBezTo>
                  <a:lnTo>
                    <a:pt x="21600" y="8904"/>
                  </a:lnTo>
                  <a:cubicBezTo>
                    <a:pt x="15048" y="5057"/>
                    <a:pt x="8444" y="2113"/>
                    <a:pt x="1809" y="0"/>
                  </a:cubicBez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4" name="Фигура"/>
            <p:cNvSpPr/>
            <p:nvPr/>
          </p:nvSpPr>
          <p:spPr>
            <a:xfrm>
              <a:off x="7315286" y="497915"/>
              <a:ext cx="2461840" cy="11570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lnTo>
                    <a:pt x="0" y="7893"/>
                  </a:lnTo>
                  <a:cubicBezTo>
                    <a:pt x="1366" y="8687"/>
                    <a:pt x="2725" y="9524"/>
                    <a:pt x="4070" y="10443"/>
                  </a:cubicBezTo>
                  <a:cubicBezTo>
                    <a:pt x="8385" y="13390"/>
                    <a:pt x="12628" y="17101"/>
                    <a:pt x="16603" y="21600"/>
                  </a:cubicBezTo>
                  <a:lnTo>
                    <a:pt x="21600" y="10659"/>
                  </a:lnTo>
                  <a:cubicBezTo>
                    <a:pt x="19934" y="9469"/>
                    <a:pt x="18260" y="8332"/>
                    <a:pt x="16578" y="7329"/>
                  </a:cubicBezTo>
                  <a:cubicBezTo>
                    <a:pt x="11890" y="4532"/>
                    <a:pt x="7160" y="2094"/>
                    <a:pt x="2397" y="0"/>
                  </a:cubicBez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5" name="Фигура"/>
            <p:cNvSpPr/>
            <p:nvPr/>
          </p:nvSpPr>
          <p:spPr>
            <a:xfrm>
              <a:off x="9627540" y="1243383"/>
              <a:ext cx="3006106" cy="1899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564" y="0"/>
                  </a:moveTo>
                  <a:lnTo>
                    <a:pt x="0" y="7434"/>
                  </a:lnTo>
                  <a:cubicBezTo>
                    <a:pt x="1053" y="8471"/>
                    <a:pt x="2083" y="9561"/>
                    <a:pt x="3078" y="10720"/>
                  </a:cubicBezTo>
                  <a:cubicBezTo>
                    <a:pt x="4680" y="12587"/>
                    <a:pt x="6211" y="14625"/>
                    <a:pt x="7491" y="17172"/>
                  </a:cubicBezTo>
                  <a:cubicBezTo>
                    <a:pt x="8181" y="18544"/>
                    <a:pt x="8789" y="20035"/>
                    <a:pt x="9295" y="21600"/>
                  </a:cubicBezTo>
                  <a:lnTo>
                    <a:pt x="21600" y="14757"/>
                  </a:lnTo>
                  <a:cubicBezTo>
                    <a:pt x="20651" y="13545"/>
                    <a:pt x="19658" y="12387"/>
                    <a:pt x="18620" y="11291"/>
                  </a:cubicBezTo>
                  <a:cubicBezTo>
                    <a:pt x="14479" y="6916"/>
                    <a:pt x="9643" y="3094"/>
                    <a:pt x="4564" y="0"/>
                  </a:cubicBez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6" name="Фигура"/>
            <p:cNvSpPr/>
            <p:nvPr/>
          </p:nvSpPr>
          <p:spPr>
            <a:xfrm>
              <a:off x="10637766" y="2900410"/>
              <a:ext cx="3183323" cy="3489978"/>
            </a:xfrm>
            <a:custGeom>
              <a:avLst/>
              <a:gdLst/>
              <a:ahLst/>
              <a:cxnLst>
                <a:cxn ang="0">
                  <a:pos x="wd2" y="hd2"/>
                </a:cxn>
                <a:cxn ang="5400000">
                  <a:pos x="wd2" y="hd2"/>
                </a:cxn>
                <a:cxn ang="10800000">
                  <a:pos x="wd2" y="hd2"/>
                </a:cxn>
                <a:cxn ang="16200000">
                  <a:pos x="wd2" y="hd2"/>
                </a:cxn>
              </a:cxnLst>
              <a:rect l="0" t="0" r="r" b="b"/>
              <a:pathLst>
                <a:path w="21444" h="21600" fill="norm" stroke="1" extrusionOk="0">
                  <a:moveTo>
                    <a:pt x="16113" y="0"/>
                  </a:moveTo>
                  <a:lnTo>
                    <a:pt x="3028" y="4225"/>
                  </a:lnTo>
                  <a:cubicBezTo>
                    <a:pt x="3567" y="6210"/>
                    <a:pt x="3532" y="8277"/>
                    <a:pt x="2663" y="10188"/>
                  </a:cubicBezTo>
                  <a:cubicBezTo>
                    <a:pt x="1940" y="11781"/>
                    <a:pt x="1047" y="13182"/>
                    <a:pt x="0" y="14430"/>
                  </a:cubicBezTo>
                  <a:lnTo>
                    <a:pt x="16742" y="21600"/>
                  </a:lnTo>
                  <a:cubicBezTo>
                    <a:pt x="19447" y="18793"/>
                    <a:pt x="21302" y="15499"/>
                    <a:pt x="21435" y="11710"/>
                  </a:cubicBezTo>
                  <a:cubicBezTo>
                    <a:pt x="21600" y="7002"/>
                    <a:pt x="19448" y="3170"/>
                    <a:pt x="16113" y="0"/>
                  </a:cubicBezTo>
                  <a:close/>
                </a:path>
              </a:pathLst>
            </a:cu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7" name="Фигура"/>
            <p:cNvSpPr/>
            <p:nvPr/>
          </p:nvSpPr>
          <p:spPr>
            <a:xfrm>
              <a:off x="7259456" y="5595405"/>
              <a:ext cx="5509729" cy="32785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938" y="0"/>
                  </a:moveTo>
                  <a:cubicBezTo>
                    <a:pt x="10878" y="1651"/>
                    <a:pt x="9634" y="3006"/>
                    <a:pt x="8220" y="4173"/>
                  </a:cubicBezTo>
                  <a:cubicBezTo>
                    <a:pt x="5751" y="6211"/>
                    <a:pt x="2921" y="8083"/>
                    <a:pt x="0" y="9455"/>
                  </a:cubicBezTo>
                  <a:lnTo>
                    <a:pt x="3246" y="21600"/>
                  </a:lnTo>
                  <a:cubicBezTo>
                    <a:pt x="5442" y="20691"/>
                    <a:pt x="7611" y="19607"/>
                    <a:pt x="9731" y="18345"/>
                  </a:cubicBezTo>
                  <a:cubicBezTo>
                    <a:pt x="12985" y="16409"/>
                    <a:pt x="16140" y="14053"/>
                    <a:pt x="19041" y="10845"/>
                  </a:cubicBezTo>
                  <a:cubicBezTo>
                    <a:pt x="19936" y="9855"/>
                    <a:pt x="20802" y="8762"/>
                    <a:pt x="21600" y="7569"/>
                  </a:cubicBezTo>
                  <a:lnTo>
                    <a:pt x="11938" y="0"/>
                  </a:lnTo>
                  <a:close/>
                </a:path>
              </a:pathLst>
            </a:cu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8" name="Фигура"/>
            <p:cNvSpPr/>
            <p:nvPr/>
          </p:nvSpPr>
          <p:spPr>
            <a:xfrm>
              <a:off x="632050" y="7148496"/>
              <a:ext cx="6988730" cy="2312948"/>
            </a:xfrm>
            <a:custGeom>
              <a:avLst/>
              <a:gdLst/>
              <a:ahLst/>
              <a:cxnLst>
                <a:cxn ang="0">
                  <a:pos x="wd2" y="hd2"/>
                </a:cxn>
                <a:cxn ang="5400000">
                  <a:pos x="wd2" y="hd2"/>
                </a:cxn>
                <a:cxn ang="10800000">
                  <a:pos x="wd2" y="hd2"/>
                </a:cxn>
                <a:cxn ang="16200000">
                  <a:pos x="wd2" y="hd2"/>
                </a:cxn>
              </a:cxnLst>
              <a:rect l="0" t="0" r="r" b="b"/>
              <a:pathLst>
                <a:path w="21600" h="21588" fill="norm" stroke="1" extrusionOk="0">
                  <a:moveTo>
                    <a:pt x="19053" y="0"/>
                  </a:moveTo>
                  <a:cubicBezTo>
                    <a:pt x="18888" y="115"/>
                    <a:pt x="18724" y="241"/>
                    <a:pt x="18559" y="347"/>
                  </a:cubicBezTo>
                  <a:cubicBezTo>
                    <a:pt x="14027" y="3280"/>
                    <a:pt x="9416" y="4677"/>
                    <a:pt x="4782" y="4487"/>
                  </a:cubicBezTo>
                  <a:lnTo>
                    <a:pt x="0" y="13192"/>
                  </a:lnTo>
                  <a:lnTo>
                    <a:pt x="4498" y="21500"/>
                  </a:lnTo>
                  <a:cubicBezTo>
                    <a:pt x="5172" y="21555"/>
                    <a:pt x="5845" y="21584"/>
                    <a:pt x="6518" y="21588"/>
                  </a:cubicBezTo>
                  <a:cubicBezTo>
                    <a:pt x="8537" y="21600"/>
                    <a:pt x="10553" y="21382"/>
                    <a:pt x="12563" y="20939"/>
                  </a:cubicBezTo>
                  <a:cubicBezTo>
                    <a:pt x="15210" y="20356"/>
                    <a:pt x="17850" y="19380"/>
                    <a:pt x="20460" y="17836"/>
                  </a:cubicBezTo>
                  <a:cubicBezTo>
                    <a:pt x="20841" y="17610"/>
                    <a:pt x="21221" y="17371"/>
                    <a:pt x="21600" y="17121"/>
                  </a:cubicBezTo>
                  <a:lnTo>
                    <a:pt x="19053" y="0"/>
                  </a:lnTo>
                  <a:close/>
                </a:path>
              </a:pathLst>
            </a:cu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69" name="Фигура"/>
            <p:cNvSpPr/>
            <p:nvPr/>
          </p:nvSpPr>
          <p:spPr>
            <a:xfrm>
              <a:off x="2052402" y="437481"/>
              <a:ext cx="8767171" cy="6914340"/>
            </a:xfrm>
            <a:custGeom>
              <a:avLst/>
              <a:gdLst/>
              <a:ahLst/>
              <a:cxnLst>
                <a:cxn ang="0">
                  <a:pos x="wd2" y="hd2"/>
                </a:cxn>
                <a:cxn ang="5400000">
                  <a:pos x="wd2" y="hd2"/>
                </a:cxn>
                <a:cxn ang="10800000">
                  <a:pos x="wd2" y="hd2"/>
                </a:cxn>
                <a:cxn ang="16200000">
                  <a:pos x="wd2" y="hd2"/>
                </a:cxn>
              </a:cxnLst>
              <a:rect l="0" t="0" r="r" b="b"/>
              <a:pathLst>
                <a:path w="21482" h="21496" fill="norm" stroke="1" extrusionOk="0">
                  <a:moveTo>
                    <a:pt x="1635" y="0"/>
                  </a:moveTo>
                  <a:cubicBezTo>
                    <a:pt x="3709" y="118"/>
                    <a:pt x="5775" y="379"/>
                    <a:pt x="7822" y="781"/>
                  </a:cubicBezTo>
                  <a:cubicBezTo>
                    <a:pt x="9961" y="1201"/>
                    <a:pt x="12086" y="1776"/>
                    <a:pt x="14138" y="2670"/>
                  </a:cubicBezTo>
                  <a:cubicBezTo>
                    <a:pt x="15887" y="3432"/>
                    <a:pt x="17645" y="4593"/>
                    <a:pt x="19048" y="5900"/>
                  </a:cubicBezTo>
                  <a:cubicBezTo>
                    <a:pt x="19739" y="6544"/>
                    <a:pt x="20351" y="7252"/>
                    <a:pt x="20790" y="8073"/>
                  </a:cubicBezTo>
                  <a:cubicBezTo>
                    <a:pt x="21249" y="8933"/>
                    <a:pt x="21521" y="9921"/>
                    <a:pt x="21477" y="11061"/>
                  </a:cubicBezTo>
                  <a:cubicBezTo>
                    <a:pt x="21409" y="12793"/>
                    <a:pt x="20641" y="14265"/>
                    <a:pt x="19528" y="15445"/>
                  </a:cubicBezTo>
                  <a:cubicBezTo>
                    <a:pt x="18278" y="16770"/>
                    <a:pt x="16624" y="17688"/>
                    <a:pt x="14962" y="18500"/>
                  </a:cubicBezTo>
                  <a:cubicBezTo>
                    <a:pt x="13937" y="19001"/>
                    <a:pt x="12900" y="19463"/>
                    <a:pt x="11839" y="19825"/>
                  </a:cubicBezTo>
                  <a:cubicBezTo>
                    <a:pt x="10735" y="20201"/>
                    <a:pt x="9608" y="20467"/>
                    <a:pt x="8474" y="20683"/>
                  </a:cubicBezTo>
                  <a:cubicBezTo>
                    <a:pt x="6252" y="21106"/>
                    <a:pt x="4001" y="21333"/>
                    <a:pt x="1764" y="21486"/>
                  </a:cubicBezTo>
                  <a:cubicBezTo>
                    <a:pt x="875" y="21600"/>
                    <a:pt x="84" y="20769"/>
                    <a:pt x="6" y="19639"/>
                  </a:cubicBezTo>
                  <a:cubicBezTo>
                    <a:pt x="-79" y="18413"/>
                    <a:pt x="696" y="17366"/>
                    <a:pt x="1667" y="17396"/>
                  </a:cubicBezTo>
                  <a:cubicBezTo>
                    <a:pt x="4139" y="17460"/>
                    <a:pt x="6539" y="17145"/>
                    <a:pt x="8864" y="16483"/>
                  </a:cubicBezTo>
                  <a:cubicBezTo>
                    <a:pt x="10992" y="15877"/>
                    <a:pt x="13149" y="14962"/>
                    <a:pt x="14925" y="13039"/>
                  </a:cubicBezTo>
                  <a:cubicBezTo>
                    <a:pt x="15979" y="11897"/>
                    <a:pt x="16783" y="10443"/>
                    <a:pt x="16638" y="8752"/>
                  </a:cubicBezTo>
                  <a:cubicBezTo>
                    <a:pt x="16542" y="7623"/>
                    <a:pt x="16048" y="6700"/>
                    <a:pt x="15404" y="5890"/>
                  </a:cubicBezTo>
                  <a:cubicBezTo>
                    <a:pt x="14751" y="5068"/>
                    <a:pt x="13937" y="4331"/>
                    <a:pt x="13065" y="3776"/>
                  </a:cubicBezTo>
                  <a:cubicBezTo>
                    <a:pt x="11301" y="2652"/>
                    <a:pt x="9384" y="2046"/>
                    <a:pt x="7460" y="1614"/>
                  </a:cubicBezTo>
                  <a:cubicBezTo>
                    <a:pt x="5543" y="1184"/>
                    <a:pt x="3597" y="920"/>
                    <a:pt x="1633" y="828"/>
                  </a:cubicBezTo>
                  <a:cubicBezTo>
                    <a:pt x="1457" y="825"/>
                    <a:pt x="1315" y="644"/>
                    <a:pt x="1312" y="421"/>
                  </a:cubicBezTo>
                  <a:cubicBezTo>
                    <a:pt x="1309" y="191"/>
                    <a:pt x="1454" y="3"/>
                    <a:pt x="1635" y="0"/>
                  </a:cubicBez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nvGrpSpPr>
            <p:cNvPr id="172" name="Группа 7"/>
            <p:cNvGrpSpPr/>
            <p:nvPr/>
          </p:nvGrpSpPr>
          <p:grpSpPr>
            <a:xfrm>
              <a:off x="2732456" y="7997146"/>
              <a:ext cx="1030253" cy="1030253"/>
              <a:chOff x="0" y="0"/>
              <a:chExt cx="1030252" cy="1030252"/>
            </a:xfrm>
          </p:grpSpPr>
          <p:sp>
            <p:nvSpPr>
              <p:cNvPr id="170" name="Кружок"/>
              <p:cNvSpPr/>
              <p:nvPr/>
            </p:nvSpPr>
            <p:spPr>
              <a:xfrm>
                <a:off x="-1" y="-1"/>
                <a:ext cx="1030254" cy="1030254"/>
              </a:xfrm>
              <a:prstGeom prst="ellipse">
                <a:avLst/>
              </a:prstGeom>
              <a:solidFill>
                <a:srgbClr val="FFFFFF"/>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71"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01</a:t>
                </a:r>
              </a:p>
            </p:txBody>
          </p:sp>
        </p:grpSp>
        <p:grpSp>
          <p:nvGrpSpPr>
            <p:cNvPr id="175" name="Группа 115"/>
            <p:cNvGrpSpPr/>
            <p:nvPr/>
          </p:nvGrpSpPr>
          <p:grpSpPr>
            <a:xfrm>
              <a:off x="9258863" y="6644319"/>
              <a:ext cx="1030253" cy="1030253"/>
              <a:chOff x="0" y="0"/>
              <a:chExt cx="1030252" cy="1030252"/>
            </a:xfrm>
          </p:grpSpPr>
          <p:sp>
            <p:nvSpPr>
              <p:cNvPr id="173" name="Кружок"/>
              <p:cNvSpPr/>
              <p:nvPr/>
            </p:nvSpPr>
            <p:spPr>
              <a:xfrm>
                <a:off x="-1" y="-1"/>
                <a:ext cx="1030254" cy="1030254"/>
              </a:xfrm>
              <a:prstGeom prst="ellipse">
                <a:avLst/>
              </a:prstGeom>
              <a:solidFill>
                <a:srgbClr val="FFFFFF"/>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74"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02</a:t>
                </a:r>
              </a:p>
            </p:txBody>
          </p:sp>
        </p:grpSp>
        <p:grpSp>
          <p:nvGrpSpPr>
            <p:cNvPr id="178" name="Группа 118"/>
            <p:cNvGrpSpPr/>
            <p:nvPr/>
          </p:nvGrpSpPr>
          <p:grpSpPr>
            <a:xfrm>
              <a:off x="11984555" y="3977649"/>
              <a:ext cx="1030253" cy="1030253"/>
              <a:chOff x="0" y="0"/>
              <a:chExt cx="1030252" cy="1030252"/>
            </a:xfrm>
          </p:grpSpPr>
          <p:sp>
            <p:nvSpPr>
              <p:cNvPr id="176" name="Кружок"/>
              <p:cNvSpPr/>
              <p:nvPr/>
            </p:nvSpPr>
            <p:spPr>
              <a:xfrm>
                <a:off x="-1" y="-1"/>
                <a:ext cx="1030254" cy="1030254"/>
              </a:xfrm>
              <a:prstGeom prst="ellipse">
                <a:avLst/>
              </a:prstGeom>
              <a:solidFill>
                <a:srgbClr val="FFFFFF"/>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77"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03</a:t>
                </a:r>
              </a:p>
            </p:txBody>
          </p:sp>
        </p:grpSp>
        <p:grpSp>
          <p:nvGrpSpPr>
            <p:cNvPr id="181" name="Группа 121"/>
            <p:cNvGrpSpPr/>
            <p:nvPr/>
          </p:nvGrpSpPr>
          <p:grpSpPr>
            <a:xfrm>
              <a:off x="11356109" y="526520"/>
              <a:ext cx="1030253" cy="1030253"/>
              <a:chOff x="0" y="0"/>
              <a:chExt cx="1030252" cy="1030252"/>
            </a:xfrm>
          </p:grpSpPr>
          <p:sp>
            <p:nvSpPr>
              <p:cNvPr id="179" name="Кружок"/>
              <p:cNvSpPr/>
              <p:nvPr/>
            </p:nvSpPr>
            <p:spPr>
              <a:xfrm>
                <a:off x="-1" y="-1"/>
                <a:ext cx="1030254" cy="1030254"/>
              </a:xfrm>
              <a:prstGeom prst="ellipse">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180"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04</a:t>
                </a:r>
              </a:p>
            </p:txBody>
          </p:sp>
        </p:grpSp>
      </p:grpSp>
      <p:grpSp>
        <p:nvGrpSpPr>
          <p:cNvPr id="185" name="Группа 2"/>
          <p:cNvGrpSpPr/>
          <p:nvPr/>
        </p:nvGrpSpPr>
        <p:grpSpPr>
          <a:xfrm>
            <a:off x="2096589" y="2302889"/>
            <a:ext cx="11112090" cy="5149122"/>
            <a:chOff x="0" y="463550"/>
            <a:chExt cx="11112089" cy="5149121"/>
          </a:xfrm>
        </p:grpSpPr>
        <p:sp>
          <p:nvSpPr>
            <p:cNvPr id="183" name="Project…"/>
            <p:cNvSpPr txBox="1"/>
            <p:nvPr/>
          </p:nvSpPr>
          <p:spPr>
            <a:xfrm>
              <a:off x="0" y="463550"/>
              <a:ext cx="8921802" cy="1955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6000">
                  <a:solidFill>
                    <a:srgbClr val="252625"/>
                  </a:solidFill>
                  <a:latin typeface="Montserrat Bold"/>
                  <a:ea typeface="Montserrat Bold"/>
                  <a:cs typeface="Montserrat Bold"/>
                  <a:sym typeface="Montserrat Bold"/>
                </a:defRPr>
              </a:pPr>
              <a:r>
                <a:t>Стойност на</a:t>
              </a:r>
              <a:endParaRPr>
                <a:solidFill>
                  <a:srgbClr val="141413"/>
                </a:solidFill>
              </a:endParaRPr>
            </a:p>
            <a:p>
              <a:pPr algn="l">
                <a:defRPr b="0" cap="all" sz="6000">
                  <a:solidFill>
                    <a:srgbClr val="3F57D1"/>
                  </a:solidFill>
                  <a:latin typeface="Montserrat Bold"/>
                  <a:ea typeface="Montserrat Bold"/>
                  <a:cs typeface="Montserrat Bold"/>
                  <a:sym typeface="Montserrat Bold"/>
                </a:defRPr>
              </a:pPr>
              <a:r>
                <a:t>Проекта</a:t>
              </a:r>
            </a:p>
          </p:txBody>
        </p:sp>
        <p:sp>
          <p:nvSpPr>
            <p:cNvPr id="184" name="Profesional Template for PowerPoint, Keynote, Google Slides"/>
            <p:cNvSpPr txBox="1"/>
            <p:nvPr/>
          </p:nvSpPr>
          <p:spPr>
            <a:xfrm>
              <a:off x="17488" y="3006631"/>
              <a:ext cx="11094602"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lgn="l">
                <a:lnSpc>
                  <a:spcPct val="120000"/>
                </a:lnSpc>
                <a:defRPr b="0" sz="2600">
                  <a:solidFill>
                    <a:srgbClr val="646977"/>
                  </a:solidFill>
                  <a:latin typeface="Roboto Regular"/>
                  <a:ea typeface="Roboto Regular"/>
                  <a:cs typeface="Roboto Regular"/>
                  <a:sym typeface="Roboto Regular"/>
                </a:defRPr>
              </a:pPr>
              <a:r>
                <a:t>Планирането на стойността на проекта е важна част от началото на всеки проект. То се прави след като даден проект е спечелен от фирма и е сключен договор.</a:t>
              </a:r>
            </a:p>
            <a:p>
              <a:pPr algn="l">
                <a:lnSpc>
                  <a:spcPct val="120000"/>
                </a:lnSpc>
                <a:defRPr b="0" sz="2600">
                  <a:solidFill>
                    <a:srgbClr val="646977"/>
                  </a:solidFill>
                  <a:latin typeface="Roboto Regular"/>
                  <a:ea typeface="Roboto Regular"/>
                  <a:cs typeface="Roboto Regular"/>
                  <a:sym typeface="Roboto Regular"/>
                </a:defRPr>
              </a:pPr>
            </a:p>
            <a:p>
              <a:pPr algn="l">
                <a:lnSpc>
                  <a:spcPct val="120000"/>
                </a:lnSpc>
                <a:defRPr b="0" sz="2600">
                  <a:solidFill>
                    <a:srgbClr val="646977"/>
                  </a:solidFill>
                  <a:latin typeface="Roboto Regular"/>
                  <a:ea typeface="Roboto Regular"/>
                  <a:cs typeface="Roboto Regular"/>
                  <a:sym typeface="Roboto Regular"/>
                </a:defRPr>
              </a:pPr>
              <a:r>
                <a:t> Но какво всъщност означава стойността на проекта?</a:t>
              </a:r>
            </a:p>
          </p:txBody>
        </p:sp>
      </p:grpSp>
      <p:grpSp>
        <p:nvGrpSpPr>
          <p:cNvPr id="202" name="Группа 1"/>
          <p:cNvGrpSpPr/>
          <p:nvPr/>
        </p:nvGrpSpPr>
        <p:grpSpPr>
          <a:xfrm>
            <a:off x="1803399" y="7440385"/>
            <a:ext cx="7972241" cy="4375842"/>
            <a:chOff x="0" y="0"/>
            <a:chExt cx="7972240" cy="4375841"/>
          </a:xfrm>
        </p:grpSpPr>
        <p:grpSp>
          <p:nvGrpSpPr>
            <p:cNvPr id="189" name="Группа 8"/>
            <p:cNvGrpSpPr/>
            <p:nvPr/>
          </p:nvGrpSpPr>
          <p:grpSpPr>
            <a:xfrm>
              <a:off x="0" y="0"/>
              <a:ext cx="3862194" cy="2253800"/>
              <a:chOff x="0" y="0"/>
              <a:chExt cx="3862193" cy="2253799"/>
            </a:xfrm>
          </p:grpSpPr>
          <p:sp>
            <p:nvSpPr>
              <p:cNvPr id="186" name="Profesional Template for PowerPoint, Keynote, Google Slides"/>
              <p:cNvSpPr txBox="1"/>
              <p:nvPr/>
            </p:nvSpPr>
            <p:spPr>
              <a:xfrm>
                <a:off x="293189" y="1202239"/>
                <a:ext cx="3569004"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Какъв проблем решаваме?</a:t>
                </a:r>
              </a:p>
            </p:txBody>
          </p:sp>
          <p:sp>
            <p:nvSpPr>
              <p:cNvPr id="187" name="Project…"/>
              <p:cNvSpPr txBox="1"/>
              <p:nvPr/>
            </p:nvSpPr>
            <p:spPr>
              <a:xfrm>
                <a:off x="0" y="0"/>
                <a:ext cx="1972573"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01</a:t>
                </a:r>
              </a:p>
            </p:txBody>
          </p:sp>
          <p:sp>
            <p:nvSpPr>
              <p:cNvPr id="188" name="Project…"/>
              <p:cNvSpPr txBox="1"/>
              <p:nvPr/>
            </p:nvSpPr>
            <p:spPr>
              <a:xfrm>
                <a:off x="307045" y="733852"/>
                <a:ext cx="3555149"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Проблем</a:t>
                </a:r>
              </a:p>
            </p:txBody>
          </p:sp>
        </p:grpSp>
        <p:grpSp>
          <p:nvGrpSpPr>
            <p:cNvPr id="193" name="Группа 129"/>
            <p:cNvGrpSpPr/>
            <p:nvPr/>
          </p:nvGrpSpPr>
          <p:grpSpPr>
            <a:xfrm>
              <a:off x="4110046" y="0"/>
              <a:ext cx="3862194" cy="2253800"/>
              <a:chOff x="0" y="0"/>
              <a:chExt cx="3862193" cy="2253799"/>
            </a:xfrm>
          </p:grpSpPr>
          <p:sp>
            <p:nvSpPr>
              <p:cNvPr id="190" name="Profesional Template for PowerPoint, Keynote, Google Slides"/>
              <p:cNvSpPr txBox="1"/>
              <p:nvPr/>
            </p:nvSpPr>
            <p:spPr>
              <a:xfrm>
                <a:off x="293189" y="1202239"/>
                <a:ext cx="3569004"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За кого решаваме даденият проблем?</a:t>
                </a:r>
              </a:p>
            </p:txBody>
          </p:sp>
          <p:sp>
            <p:nvSpPr>
              <p:cNvPr id="191" name="Project…"/>
              <p:cNvSpPr txBox="1"/>
              <p:nvPr/>
            </p:nvSpPr>
            <p:spPr>
              <a:xfrm>
                <a:off x="0" y="0"/>
                <a:ext cx="1972573"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02</a:t>
                </a:r>
              </a:p>
            </p:txBody>
          </p:sp>
          <p:sp>
            <p:nvSpPr>
              <p:cNvPr id="192" name="Project…"/>
              <p:cNvSpPr txBox="1"/>
              <p:nvPr/>
            </p:nvSpPr>
            <p:spPr>
              <a:xfrm>
                <a:off x="307045" y="733852"/>
                <a:ext cx="3555149"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Target група</a:t>
                </a:r>
              </a:p>
            </p:txBody>
          </p:sp>
        </p:grpSp>
        <p:grpSp>
          <p:nvGrpSpPr>
            <p:cNvPr id="197" name="Группа 133"/>
            <p:cNvGrpSpPr/>
            <p:nvPr/>
          </p:nvGrpSpPr>
          <p:grpSpPr>
            <a:xfrm>
              <a:off x="0" y="2122041"/>
              <a:ext cx="3862194" cy="2253801"/>
              <a:chOff x="0" y="0"/>
              <a:chExt cx="3862193" cy="2253799"/>
            </a:xfrm>
          </p:grpSpPr>
          <p:sp>
            <p:nvSpPr>
              <p:cNvPr id="194" name="Profesional Template for PowerPoint, Keynote, Google Slides"/>
              <p:cNvSpPr txBox="1"/>
              <p:nvPr/>
            </p:nvSpPr>
            <p:spPr>
              <a:xfrm>
                <a:off x="293189" y="1202239"/>
                <a:ext cx="3569004"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Количеството конкуренция</a:t>
                </a:r>
              </a:p>
            </p:txBody>
          </p:sp>
          <p:sp>
            <p:nvSpPr>
              <p:cNvPr id="195" name="Project…"/>
              <p:cNvSpPr txBox="1"/>
              <p:nvPr/>
            </p:nvSpPr>
            <p:spPr>
              <a:xfrm>
                <a:off x="0" y="0"/>
                <a:ext cx="1972573"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03</a:t>
                </a:r>
              </a:p>
            </p:txBody>
          </p:sp>
          <p:sp>
            <p:nvSpPr>
              <p:cNvPr id="196" name="Project…"/>
              <p:cNvSpPr txBox="1"/>
              <p:nvPr/>
            </p:nvSpPr>
            <p:spPr>
              <a:xfrm>
                <a:off x="307045" y="733852"/>
                <a:ext cx="3555149"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Конкуренция</a:t>
                </a:r>
              </a:p>
            </p:txBody>
          </p:sp>
        </p:grpSp>
        <p:grpSp>
          <p:nvGrpSpPr>
            <p:cNvPr id="201" name="Группа 137"/>
            <p:cNvGrpSpPr/>
            <p:nvPr/>
          </p:nvGrpSpPr>
          <p:grpSpPr>
            <a:xfrm>
              <a:off x="4110046" y="2122041"/>
              <a:ext cx="3862194" cy="2253801"/>
              <a:chOff x="0" y="0"/>
              <a:chExt cx="3862193" cy="2253799"/>
            </a:xfrm>
          </p:grpSpPr>
          <p:sp>
            <p:nvSpPr>
              <p:cNvPr id="198" name="Profesional Template for PowerPoint, Keynote, Google Slides"/>
              <p:cNvSpPr txBox="1"/>
              <p:nvPr/>
            </p:nvSpPr>
            <p:spPr>
              <a:xfrm>
                <a:off x="293189" y="1202239"/>
                <a:ext cx="3569004"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Какво можем да подобрим?</a:t>
                </a:r>
              </a:p>
            </p:txBody>
          </p:sp>
          <p:sp>
            <p:nvSpPr>
              <p:cNvPr id="199" name="Project…"/>
              <p:cNvSpPr txBox="1"/>
              <p:nvPr/>
            </p:nvSpPr>
            <p:spPr>
              <a:xfrm>
                <a:off x="0" y="0"/>
                <a:ext cx="1972573"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04</a:t>
                </a:r>
              </a:p>
            </p:txBody>
          </p:sp>
          <p:sp>
            <p:nvSpPr>
              <p:cNvPr id="200" name="Project…"/>
              <p:cNvSpPr txBox="1"/>
              <p:nvPr/>
            </p:nvSpPr>
            <p:spPr>
              <a:xfrm>
                <a:off x="307045" y="733852"/>
                <a:ext cx="3555149"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Подобрение</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185"/>
                                        </p:tgtEl>
                                        <p:attrNameLst>
                                          <p:attrName>style.visibility</p:attrName>
                                        </p:attrNameLst>
                                      </p:cBhvr>
                                      <p:to>
                                        <p:strVal val="visible"/>
                                      </p:to>
                                    </p:set>
                                    <p:anim calcmode="lin" valueType="num">
                                      <p:cBhvr>
                                        <p:cTn id="7" dur="500" fill="hold"/>
                                        <p:tgtEl>
                                          <p:spTgt spid="185"/>
                                        </p:tgtEl>
                                        <p:attrNameLst>
                                          <p:attrName>ppt_x</p:attrName>
                                        </p:attrNameLst>
                                      </p:cBhvr>
                                      <p:tavLst>
                                        <p:tav tm="0">
                                          <p:val>
                                            <p:strVal val="#ppt_x"/>
                                          </p:val>
                                        </p:tav>
                                        <p:tav tm="100000">
                                          <p:val>
                                            <p:strVal val="#ppt_x"/>
                                          </p:val>
                                        </p:tav>
                                      </p:tavLst>
                                    </p:anim>
                                    <p:anim calcmode="lin" valueType="num">
                                      <p:cBhvr>
                                        <p:cTn id="8" dur="500" fill="hold"/>
                                        <p:tgtEl>
                                          <p:spTgt spid="1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202"/>
                                        </p:tgtEl>
                                        <p:attrNameLst>
                                          <p:attrName>style.visibility</p:attrName>
                                        </p:attrNameLst>
                                      </p:cBhvr>
                                      <p:to>
                                        <p:strVal val="visible"/>
                                      </p:to>
                                    </p:set>
                                    <p:animEffect filter="dissolve" transition="in">
                                      <p:cBhvr>
                                        <p:cTn id="13" dur="500"/>
                                        <p:tgtEl>
                                          <p:spTgt spid="202"/>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182"/>
                                        </p:tgtEl>
                                        <p:attrNameLst>
                                          <p:attrName>style.visibility</p:attrName>
                                        </p:attrNameLst>
                                      </p:cBhvr>
                                      <p:to>
                                        <p:strVal val="visible"/>
                                      </p:to>
                                    </p:set>
                                    <p:animEffect filter="dissolve" transition="in">
                                      <p:cBhvr>
                                        <p:cTn id="18" dur="5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2" grpId="2"/>
      <p:bldP build="whole" bldLvl="1" animBg="1" rev="0" advAuto="0" spid="182" grpId="3"/>
      <p:bldP build="whole" bldLvl="1" animBg="1" rev="0" advAuto="0" spid="185"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4" name="data_analytic-01.png" descr="data_analytic-01.png"/>
          <p:cNvPicPr>
            <a:picLocks noChangeAspect="1"/>
          </p:cNvPicPr>
          <p:nvPr>
            <p:ph type="pic" idx="13"/>
          </p:nvPr>
        </p:nvPicPr>
        <p:blipFill>
          <a:blip r:embed="rId2">
            <a:extLst/>
          </a:blip>
          <a:srcRect l="0" t="0" r="0" b="0"/>
          <a:stretch>
            <a:fillRect/>
          </a:stretch>
        </p:blipFill>
        <p:spPr>
          <a:xfrm>
            <a:off x="10284991" y="0"/>
            <a:ext cx="19286487" cy="13716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57" y="0"/>
                </a:moveTo>
                <a:lnTo>
                  <a:pt x="0" y="15396"/>
                </a:lnTo>
                <a:lnTo>
                  <a:pt x="0" y="21600"/>
                </a:lnTo>
                <a:lnTo>
                  <a:pt x="10644" y="21600"/>
                </a:lnTo>
                <a:lnTo>
                  <a:pt x="21600" y="6204"/>
                </a:lnTo>
                <a:lnTo>
                  <a:pt x="21600" y="0"/>
                </a:lnTo>
                <a:lnTo>
                  <a:pt x="10957" y="0"/>
                </a:lnTo>
                <a:close/>
              </a:path>
            </a:pathLst>
          </a:custGeom>
        </p:spPr>
      </p:pic>
      <p:grpSp>
        <p:nvGrpSpPr>
          <p:cNvPr id="207" name="Группа 2"/>
          <p:cNvGrpSpPr/>
          <p:nvPr/>
        </p:nvGrpSpPr>
        <p:grpSpPr>
          <a:xfrm>
            <a:off x="2050997" y="3218284"/>
            <a:ext cx="8999779" cy="4957147"/>
            <a:chOff x="0" y="0"/>
            <a:chExt cx="8999777" cy="4957146"/>
          </a:xfrm>
        </p:grpSpPr>
        <p:sp>
          <p:nvSpPr>
            <p:cNvPr id="205" name="Project…"/>
            <p:cNvSpPr txBox="1"/>
            <p:nvPr/>
          </p:nvSpPr>
          <p:spPr>
            <a:xfrm>
              <a:off x="0" y="0"/>
              <a:ext cx="8999778" cy="1955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6000">
                  <a:solidFill>
                    <a:srgbClr val="252625"/>
                  </a:solidFill>
                  <a:latin typeface="Montserrat Bold"/>
                  <a:ea typeface="Montserrat Bold"/>
                  <a:cs typeface="Montserrat Bold"/>
                  <a:sym typeface="Montserrat Bold"/>
                </a:defRPr>
              </a:pPr>
              <a:r>
                <a:t>Анализ и </a:t>
              </a:r>
              <a:r>
                <a:rPr>
                  <a:solidFill>
                    <a:srgbClr val="3F57D1"/>
                  </a:solidFill>
                </a:rPr>
                <a:t>оптимизация</a:t>
              </a:r>
            </a:p>
          </p:txBody>
        </p:sp>
        <p:sp>
          <p:nvSpPr>
            <p:cNvPr id="206" name="Profesional Template for PowerPoint, Keynote, Google Slides"/>
            <p:cNvSpPr txBox="1"/>
            <p:nvPr/>
          </p:nvSpPr>
          <p:spPr>
            <a:xfrm>
              <a:off x="17489" y="2351106"/>
              <a:ext cx="7798529"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При започване на нов проект се прави първоначален план на проекта. В зависимост от типа на работа, коята извършва дадената фирма анализът и оптимизацията на проекта може да се раздели на два типа.</a:t>
              </a:r>
            </a:p>
          </p:txBody>
        </p:sp>
      </p:grpSp>
      <p:sp>
        <p:nvSpPr>
          <p:cNvPr id="208" name="Рисунок 1"/>
          <p:cNvSpPr/>
          <p:nvPr/>
        </p:nvSpPr>
        <p:spPr>
          <a:xfrm>
            <a:off x="11050775" y="-1076175"/>
            <a:ext cx="9099144" cy="45932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chemeClr val="accent2"/>
          </a:solidFill>
          <a:ln w="12700">
            <a:miter lim="400000"/>
          </a:ln>
        </p:spPr>
        <p:txBody>
          <a:bodyPr lIns="0" tIns="0" rIns="0" bIns="0"/>
          <a:lstStyle/>
          <a:p>
            <a:pPr/>
          </a:p>
        </p:txBody>
      </p:sp>
      <p:sp>
        <p:nvSpPr>
          <p:cNvPr id="209" name="Рисунок 1"/>
          <p:cNvSpPr/>
          <p:nvPr/>
        </p:nvSpPr>
        <p:spPr>
          <a:xfrm>
            <a:off x="18713302" y="10482604"/>
            <a:ext cx="5267882" cy="265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3F57D1"/>
          </a:solidFill>
          <a:ln w="12700">
            <a:miter lim="400000"/>
          </a:ln>
        </p:spPr>
        <p:txBody>
          <a:bodyPr lIns="0" tIns="0" rIns="0" bIns="0"/>
          <a:lstStyle/>
          <a:p>
            <a:pPr/>
          </a:p>
        </p:txBody>
      </p:sp>
      <p:sp>
        <p:nvSpPr>
          <p:cNvPr id="210" name="Рисунок 1"/>
          <p:cNvSpPr/>
          <p:nvPr/>
        </p:nvSpPr>
        <p:spPr>
          <a:xfrm>
            <a:off x="12691127" y="3983880"/>
            <a:ext cx="5267882" cy="265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FECB70"/>
          </a:solidFill>
          <a:ln w="12700">
            <a:miter lim="400000"/>
          </a:ln>
        </p:spPr>
        <p:txBody>
          <a:bodyPr lIns="0" tIns="0" rIns="0" bIns="0"/>
          <a:lstStyle/>
          <a:p>
            <a:pPr/>
          </a:p>
        </p:txBody>
      </p:sp>
      <p:sp>
        <p:nvSpPr>
          <p:cNvPr id="211" name="Рисунок 1"/>
          <p:cNvSpPr/>
          <p:nvPr/>
        </p:nvSpPr>
        <p:spPr>
          <a:xfrm>
            <a:off x="18227769" y="-1"/>
            <a:ext cx="3119474" cy="15747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3F57D1"/>
          </a:solidFill>
          <a:ln w="12700">
            <a:miter lim="400000"/>
          </a:ln>
        </p:spPr>
        <p:txBody>
          <a:bodyPr lIns="0" tIns="0" rIns="0" bIns="0"/>
          <a:lstStyle/>
          <a:p>
            <a:pPr/>
          </a:p>
        </p:txBody>
      </p:sp>
      <p:sp>
        <p:nvSpPr>
          <p:cNvPr id="212" name="Рисунок 1"/>
          <p:cNvSpPr/>
          <p:nvPr/>
        </p:nvSpPr>
        <p:spPr>
          <a:xfrm>
            <a:off x="15593829" y="12428363"/>
            <a:ext cx="3119474" cy="15747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chemeClr val="accent2"/>
          </a:solidFill>
          <a:ln w="12700">
            <a:miter lim="400000"/>
          </a:ln>
        </p:spPr>
        <p:txBody>
          <a:bodyPr lIns="0" tIns="0" rIns="0" bIns="0"/>
          <a:lstStyle/>
          <a:p>
            <a:pPr/>
          </a:p>
        </p:txBody>
      </p:sp>
      <p:sp>
        <p:nvSpPr>
          <p:cNvPr id="213" name="Рисунок 1"/>
          <p:cNvSpPr/>
          <p:nvPr/>
        </p:nvSpPr>
        <p:spPr>
          <a:xfrm>
            <a:off x="19521375" y="9163183"/>
            <a:ext cx="2190308" cy="1105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FECB70"/>
          </a:solidFill>
          <a:ln w="12700">
            <a:miter lim="400000"/>
          </a:ln>
        </p:spPr>
        <p:txBody>
          <a:bodyPr lIns="0" tIns="0" rIns="0" bIns="0"/>
          <a:lstStyle/>
          <a:p>
            <a:pPr/>
          </a:p>
        </p:txBody>
      </p:sp>
      <p:sp>
        <p:nvSpPr>
          <p:cNvPr id="214" name="Рисунок 1"/>
          <p:cNvSpPr/>
          <p:nvPr/>
        </p:nvSpPr>
        <p:spPr>
          <a:xfrm>
            <a:off x="12166065" y="-1"/>
            <a:ext cx="1050127" cy="530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3F57D1"/>
          </a:solidFill>
          <a:ln w="12700">
            <a:miter lim="400000"/>
          </a:ln>
        </p:spPr>
        <p:txBody>
          <a:bodyPr lIns="0" tIns="0" rIns="0" bIns="0"/>
          <a:lstStyle/>
          <a:p>
            <a:pPr/>
          </a:p>
        </p:txBody>
      </p:sp>
      <p:sp>
        <p:nvSpPr>
          <p:cNvPr id="215" name="Рисунок 1"/>
          <p:cNvSpPr/>
          <p:nvPr/>
        </p:nvSpPr>
        <p:spPr>
          <a:xfrm>
            <a:off x="14516986" y="7072882"/>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chemeClr val="accent2"/>
          </a:solidFill>
          <a:ln w="12700">
            <a:miter lim="400000"/>
          </a:ln>
        </p:spPr>
        <p:txBody>
          <a:bodyPr lIns="0" tIns="0" rIns="0" bIns="0"/>
          <a:lstStyle/>
          <a:p>
            <a:pPr/>
          </a:p>
        </p:txBody>
      </p:sp>
      <p:sp>
        <p:nvSpPr>
          <p:cNvPr id="216" name="Рисунок 1"/>
          <p:cNvSpPr/>
          <p:nvPr/>
        </p:nvSpPr>
        <p:spPr>
          <a:xfrm>
            <a:off x="23456120" y="8607966"/>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chemeClr val="accent2"/>
          </a:solidFill>
          <a:ln w="12700">
            <a:miter lim="400000"/>
          </a:ln>
        </p:spPr>
        <p:txBody>
          <a:bodyPr lIns="0" tIns="0" rIns="0" bIns="0"/>
          <a:lstStyle/>
          <a:p>
            <a:pPr/>
          </a:p>
        </p:txBody>
      </p:sp>
      <p:sp>
        <p:nvSpPr>
          <p:cNvPr id="217" name="Рисунок 1"/>
          <p:cNvSpPr/>
          <p:nvPr/>
        </p:nvSpPr>
        <p:spPr>
          <a:xfrm>
            <a:off x="16103440" y="11058052"/>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FECB70"/>
          </a:solidFill>
          <a:ln w="12700">
            <a:miter lim="400000"/>
          </a:ln>
        </p:spPr>
        <p:txBody>
          <a:bodyPr lIns="0" tIns="0" rIns="0" bIns="0"/>
          <a:lstStyle/>
          <a:p>
            <a:pPr/>
          </a:p>
        </p:txBody>
      </p:sp>
      <p:sp>
        <p:nvSpPr>
          <p:cNvPr id="218" name="Рисунок 1"/>
          <p:cNvSpPr/>
          <p:nvPr/>
        </p:nvSpPr>
        <p:spPr>
          <a:xfrm>
            <a:off x="10439642" y="8873018"/>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3F57D1"/>
          </a:solidFill>
          <a:ln w="12700">
            <a:miter lim="400000"/>
          </a:ln>
        </p:spPr>
        <p:txBody>
          <a:bodyPr lIns="0" tIns="0" rIns="0" bIns="0"/>
          <a:lstStyle/>
          <a:p>
            <a:pPr/>
          </a:p>
        </p:txBody>
      </p:sp>
      <p:sp>
        <p:nvSpPr>
          <p:cNvPr id="219" name="Profesional Template for PowerPoint, Keynote, Google Slides"/>
          <p:cNvSpPr txBox="1"/>
          <p:nvPr/>
        </p:nvSpPr>
        <p:spPr>
          <a:xfrm>
            <a:off x="2087937" y="8747832"/>
            <a:ext cx="4265010" cy="10515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457200" indent="-457200" algn="l">
              <a:lnSpc>
                <a:spcPct val="120000"/>
              </a:lnSpc>
              <a:buClr>
                <a:srgbClr val="3F57D1"/>
              </a:buClr>
              <a:buSzPct val="100000"/>
              <a:buChar char="▪"/>
              <a:defRPr b="0" sz="2600">
                <a:solidFill>
                  <a:srgbClr val="646977"/>
                </a:solidFill>
                <a:latin typeface="Roboto Regular"/>
                <a:ea typeface="Roboto Regular"/>
                <a:cs typeface="Roboto Regular"/>
                <a:sym typeface="Roboto Regular"/>
              </a:defRPr>
            </a:pPr>
            <a:r>
              <a:t>Service Company</a:t>
            </a:r>
          </a:p>
          <a:p>
            <a:pPr marL="457200" indent="-457200" algn="l">
              <a:lnSpc>
                <a:spcPct val="120000"/>
              </a:lnSpc>
              <a:buClr>
                <a:srgbClr val="3F57D1"/>
              </a:buClr>
              <a:buSzPct val="100000"/>
              <a:buChar char="▪"/>
              <a:defRPr b="0" sz="2600">
                <a:solidFill>
                  <a:srgbClr val="6F706E"/>
                </a:solidFill>
                <a:latin typeface="Roboto Regular"/>
                <a:ea typeface="Roboto Regular"/>
                <a:cs typeface="Roboto Regular"/>
                <a:sym typeface="Roboto Regular"/>
              </a:defRPr>
            </a:pPr>
            <a:r>
              <a:rPr>
                <a:solidFill>
                  <a:srgbClr val="646977"/>
                </a:solidFill>
              </a:rPr>
              <a:t>Продуктови фирми</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07"/>
                                        </p:tgtEl>
                                        <p:attrNameLst>
                                          <p:attrName>style.visibility</p:attrName>
                                        </p:attrNameLst>
                                      </p:cBhvr>
                                      <p:to>
                                        <p:strVal val="visible"/>
                                      </p:to>
                                    </p:set>
                                    <p:anim calcmode="lin" valueType="num">
                                      <p:cBhvr>
                                        <p:cTn id="7" dur="500" fill="hold"/>
                                        <p:tgtEl>
                                          <p:spTgt spid="207"/>
                                        </p:tgtEl>
                                        <p:attrNameLst>
                                          <p:attrName>ppt_x</p:attrName>
                                        </p:attrNameLst>
                                      </p:cBhvr>
                                      <p:tavLst>
                                        <p:tav tm="0">
                                          <p:val>
                                            <p:strVal val="0-#ppt_w/2"/>
                                          </p:val>
                                        </p:tav>
                                        <p:tav tm="100000">
                                          <p:val>
                                            <p:strVal val="#ppt_x"/>
                                          </p:val>
                                        </p:tav>
                                      </p:tavLst>
                                    </p:anim>
                                    <p:anim calcmode="lin" valueType="num">
                                      <p:cBhvr>
                                        <p:cTn id="8"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204"/>
                                        </p:tgtEl>
                                        <p:attrNameLst>
                                          <p:attrName>style.visibility</p:attrName>
                                        </p:attrNameLst>
                                      </p:cBhvr>
                                      <p:to>
                                        <p:strVal val="visible"/>
                                      </p:to>
                                    </p:set>
                                    <p:animEffect filter="dissolve" transition="in">
                                      <p:cBhvr>
                                        <p:cTn id="13" dur="500"/>
                                        <p:tgtEl>
                                          <p:spTgt spid="204"/>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219"/>
                                        </p:tgtEl>
                                        <p:attrNameLst>
                                          <p:attrName>style.visibility</p:attrName>
                                        </p:attrNameLst>
                                      </p:cBhvr>
                                      <p:to>
                                        <p:strVal val="visible"/>
                                      </p:to>
                                    </p:set>
                                    <p:animEffect filter="dissolve" transition="in">
                                      <p:cBhvr>
                                        <p:cTn id="18" dur="1000"/>
                                        <p:tgtEl>
                                          <p:spTgt spid="219"/>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 presetID="2" grpId="4" fill="hold">
                                  <p:stCondLst>
                                    <p:cond delay="0"/>
                                  </p:stCondLst>
                                  <p:iterate type="el" backwards="0">
                                    <p:tmAbs val="0"/>
                                  </p:iterate>
                                  <p:childTnLst>
                                    <p:set>
                                      <p:cBhvr>
                                        <p:cTn id="22" fill="hold"/>
                                        <p:tgtEl>
                                          <p:spTgt spid="208"/>
                                        </p:tgtEl>
                                        <p:attrNameLst>
                                          <p:attrName>style.visibility</p:attrName>
                                        </p:attrNameLst>
                                      </p:cBhvr>
                                      <p:to>
                                        <p:strVal val="visible"/>
                                      </p:to>
                                    </p:set>
                                    <p:anim calcmode="lin" valueType="num">
                                      <p:cBhvr>
                                        <p:cTn id="23" dur="500" fill="hold"/>
                                        <p:tgtEl>
                                          <p:spTgt spid="208"/>
                                        </p:tgtEl>
                                        <p:attrNameLst>
                                          <p:attrName>ppt_x</p:attrName>
                                        </p:attrNameLst>
                                      </p:cBhvr>
                                      <p:tavLst>
                                        <p:tav tm="0">
                                          <p:val>
                                            <p:strVal val="#ppt_x"/>
                                          </p:val>
                                        </p:tav>
                                        <p:tav tm="100000">
                                          <p:val>
                                            <p:strVal val="#ppt_x"/>
                                          </p:val>
                                        </p:tav>
                                      </p:tavLst>
                                    </p:anim>
                                    <p:anim calcmode="lin" valueType="num">
                                      <p:cBhvr>
                                        <p:cTn id="24" dur="500" fill="hold"/>
                                        <p:tgtEl>
                                          <p:spTgt spid="208"/>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 presetID="2" grpId="5" fill="hold">
                                  <p:stCondLst>
                                    <p:cond delay="0"/>
                                  </p:stCondLst>
                                  <p:iterate type="el" backwards="0">
                                    <p:tmAbs val="0"/>
                                  </p:iterate>
                                  <p:childTnLst>
                                    <p:set>
                                      <p:cBhvr>
                                        <p:cTn id="28" fill="hold"/>
                                        <p:tgtEl>
                                          <p:spTgt spid="211"/>
                                        </p:tgtEl>
                                        <p:attrNameLst>
                                          <p:attrName>style.visibility</p:attrName>
                                        </p:attrNameLst>
                                      </p:cBhvr>
                                      <p:to>
                                        <p:strVal val="visible"/>
                                      </p:to>
                                    </p:set>
                                    <p:anim calcmode="lin" valueType="num">
                                      <p:cBhvr>
                                        <p:cTn id="29" dur="500" fill="hold"/>
                                        <p:tgtEl>
                                          <p:spTgt spid="211"/>
                                        </p:tgtEl>
                                        <p:attrNameLst>
                                          <p:attrName>ppt_x</p:attrName>
                                        </p:attrNameLst>
                                      </p:cBhvr>
                                      <p:tavLst>
                                        <p:tav tm="0">
                                          <p:val>
                                            <p:strVal val="#ppt_x"/>
                                          </p:val>
                                        </p:tav>
                                        <p:tav tm="100000">
                                          <p:val>
                                            <p:strVal val="#ppt_x"/>
                                          </p:val>
                                        </p:tav>
                                      </p:tavLst>
                                    </p:anim>
                                    <p:anim calcmode="lin" valueType="num">
                                      <p:cBhvr>
                                        <p:cTn id="30" dur="500" fill="hold"/>
                                        <p:tgtEl>
                                          <p:spTgt spid="211"/>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1" presetID="2" grpId="6" fill="hold">
                                  <p:stCondLst>
                                    <p:cond delay="0"/>
                                  </p:stCondLst>
                                  <p:iterate type="el" backwards="0">
                                    <p:tmAbs val="0"/>
                                  </p:iterate>
                                  <p:childTnLst>
                                    <p:set>
                                      <p:cBhvr>
                                        <p:cTn id="34" fill="hold"/>
                                        <p:tgtEl>
                                          <p:spTgt spid="214"/>
                                        </p:tgtEl>
                                        <p:attrNameLst>
                                          <p:attrName>style.visibility</p:attrName>
                                        </p:attrNameLst>
                                      </p:cBhvr>
                                      <p:to>
                                        <p:strVal val="visible"/>
                                      </p:to>
                                    </p:set>
                                    <p:anim calcmode="lin" valueType="num">
                                      <p:cBhvr>
                                        <p:cTn id="35" dur="500" fill="hold"/>
                                        <p:tgtEl>
                                          <p:spTgt spid="214"/>
                                        </p:tgtEl>
                                        <p:attrNameLst>
                                          <p:attrName>ppt_x</p:attrName>
                                        </p:attrNameLst>
                                      </p:cBhvr>
                                      <p:tavLst>
                                        <p:tav tm="0">
                                          <p:val>
                                            <p:strVal val="#ppt_x"/>
                                          </p:val>
                                        </p:tav>
                                        <p:tav tm="100000">
                                          <p:val>
                                            <p:strVal val="#ppt_x"/>
                                          </p:val>
                                        </p:tav>
                                      </p:tavLst>
                                    </p:anim>
                                    <p:anim calcmode="lin" valueType="num">
                                      <p:cBhvr>
                                        <p:cTn id="36" dur="500" fill="hold"/>
                                        <p:tgtEl>
                                          <p:spTgt spid="214"/>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1" presetID="2" grpId="7" fill="hold">
                                  <p:stCondLst>
                                    <p:cond delay="0"/>
                                  </p:stCondLst>
                                  <p:iterate type="el" backwards="0">
                                    <p:tmAbs val="0"/>
                                  </p:iterate>
                                  <p:childTnLst>
                                    <p:set>
                                      <p:cBhvr>
                                        <p:cTn id="40" fill="hold"/>
                                        <p:tgtEl>
                                          <p:spTgt spid="210"/>
                                        </p:tgtEl>
                                        <p:attrNameLst>
                                          <p:attrName>style.visibility</p:attrName>
                                        </p:attrNameLst>
                                      </p:cBhvr>
                                      <p:to>
                                        <p:strVal val="visible"/>
                                      </p:to>
                                    </p:set>
                                    <p:anim calcmode="lin" valueType="num">
                                      <p:cBhvr>
                                        <p:cTn id="41" dur="500" fill="hold"/>
                                        <p:tgtEl>
                                          <p:spTgt spid="210"/>
                                        </p:tgtEl>
                                        <p:attrNameLst>
                                          <p:attrName>ppt_x</p:attrName>
                                        </p:attrNameLst>
                                      </p:cBhvr>
                                      <p:tavLst>
                                        <p:tav tm="0">
                                          <p:val>
                                            <p:strVal val="#ppt_x"/>
                                          </p:val>
                                        </p:tav>
                                        <p:tav tm="100000">
                                          <p:val>
                                            <p:strVal val="#ppt_x"/>
                                          </p:val>
                                        </p:tav>
                                      </p:tavLst>
                                    </p:anim>
                                    <p:anim calcmode="lin" valueType="num">
                                      <p:cBhvr>
                                        <p:cTn id="42" dur="500" fill="hold"/>
                                        <p:tgtEl>
                                          <p:spTgt spid="210"/>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Class="entr" nodeType="clickEffect" presetSubtype="1" presetID="2" grpId="8" fill="hold">
                                  <p:stCondLst>
                                    <p:cond delay="0"/>
                                  </p:stCondLst>
                                  <p:iterate type="el" backwards="0">
                                    <p:tmAbs val="0"/>
                                  </p:iterate>
                                  <p:childTnLst>
                                    <p:set>
                                      <p:cBhvr>
                                        <p:cTn id="46" fill="hold"/>
                                        <p:tgtEl>
                                          <p:spTgt spid="215"/>
                                        </p:tgtEl>
                                        <p:attrNameLst>
                                          <p:attrName>style.visibility</p:attrName>
                                        </p:attrNameLst>
                                      </p:cBhvr>
                                      <p:to>
                                        <p:strVal val="visible"/>
                                      </p:to>
                                    </p:set>
                                    <p:anim calcmode="lin" valueType="num">
                                      <p:cBhvr>
                                        <p:cTn id="47" dur="500" fill="hold"/>
                                        <p:tgtEl>
                                          <p:spTgt spid="215"/>
                                        </p:tgtEl>
                                        <p:attrNameLst>
                                          <p:attrName>ppt_x</p:attrName>
                                        </p:attrNameLst>
                                      </p:cBhvr>
                                      <p:tavLst>
                                        <p:tav tm="0">
                                          <p:val>
                                            <p:strVal val="#ppt_x"/>
                                          </p:val>
                                        </p:tav>
                                        <p:tav tm="100000">
                                          <p:val>
                                            <p:strVal val="#ppt_x"/>
                                          </p:val>
                                        </p:tav>
                                      </p:tavLst>
                                    </p:anim>
                                    <p:anim calcmode="lin" valueType="num">
                                      <p:cBhvr>
                                        <p:cTn id="48" dur="500" fill="hold"/>
                                        <p:tgtEl>
                                          <p:spTgt spid="215"/>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Class="entr" nodeType="clickEffect" presetSubtype="1" presetID="2" grpId="9" fill="hold">
                                  <p:stCondLst>
                                    <p:cond delay="0"/>
                                  </p:stCondLst>
                                  <p:iterate type="el" backwards="0">
                                    <p:tmAbs val="0"/>
                                  </p:iterate>
                                  <p:childTnLst>
                                    <p:set>
                                      <p:cBhvr>
                                        <p:cTn id="52" fill="hold"/>
                                        <p:tgtEl>
                                          <p:spTgt spid="216"/>
                                        </p:tgtEl>
                                        <p:attrNameLst>
                                          <p:attrName>style.visibility</p:attrName>
                                        </p:attrNameLst>
                                      </p:cBhvr>
                                      <p:to>
                                        <p:strVal val="visible"/>
                                      </p:to>
                                    </p:set>
                                    <p:anim calcmode="lin" valueType="num">
                                      <p:cBhvr>
                                        <p:cTn id="53" dur="500" fill="hold"/>
                                        <p:tgtEl>
                                          <p:spTgt spid="216"/>
                                        </p:tgtEl>
                                        <p:attrNameLst>
                                          <p:attrName>ppt_x</p:attrName>
                                        </p:attrNameLst>
                                      </p:cBhvr>
                                      <p:tavLst>
                                        <p:tav tm="0">
                                          <p:val>
                                            <p:strVal val="#ppt_x"/>
                                          </p:val>
                                        </p:tav>
                                        <p:tav tm="100000">
                                          <p:val>
                                            <p:strVal val="#ppt_x"/>
                                          </p:val>
                                        </p:tav>
                                      </p:tavLst>
                                    </p:anim>
                                    <p:anim calcmode="lin" valueType="num">
                                      <p:cBhvr>
                                        <p:cTn id="54" dur="500" fill="hold"/>
                                        <p:tgtEl>
                                          <p:spTgt spid="216"/>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Class="entr" nodeType="clickEffect" presetSubtype="1" presetID="2" grpId="10" fill="hold">
                                  <p:stCondLst>
                                    <p:cond delay="0"/>
                                  </p:stCondLst>
                                  <p:iterate type="el" backwards="0">
                                    <p:tmAbs val="0"/>
                                  </p:iterate>
                                  <p:childTnLst>
                                    <p:set>
                                      <p:cBhvr>
                                        <p:cTn id="58" fill="hold"/>
                                        <p:tgtEl>
                                          <p:spTgt spid="218"/>
                                        </p:tgtEl>
                                        <p:attrNameLst>
                                          <p:attrName>style.visibility</p:attrName>
                                        </p:attrNameLst>
                                      </p:cBhvr>
                                      <p:to>
                                        <p:strVal val="visible"/>
                                      </p:to>
                                    </p:set>
                                    <p:anim calcmode="lin" valueType="num">
                                      <p:cBhvr>
                                        <p:cTn id="59" dur="500" fill="hold"/>
                                        <p:tgtEl>
                                          <p:spTgt spid="218"/>
                                        </p:tgtEl>
                                        <p:attrNameLst>
                                          <p:attrName>ppt_x</p:attrName>
                                        </p:attrNameLst>
                                      </p:cBhvr>
                                      <p:tavLst>
                                        <p:tav tm="0">
                                          <p:val>
                                            <p:strVal val="#ppt_x"/>
                                          </p:val>
                                        </p:tav>
                                        <p:tav tm="100000">
                                          <p:val>
                                            <p:strVal val="#ppt_x"/>
                                          </p:val>
                                        </p:tav>
                                      </p:tavLst>
                                    </p:anim>
                                    <p:anim calcmode="lin" valueType="num">
                                      <p:cBhvr>
                                        <p:cTn id="60" dur="500" fill="hold"/>
                                        <p:tgtEl>
                                          <p:spTgt spid="218"/>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Class="entr" nodeType="clickEffect" presetSubtype="1" presetID="2" grpId="11" fill="hold">
                                  <p:stCondLst>
                                    <p:cond delay="0"/>
                                  </p:stCondLst>
                                  <p:iterate type="el" backwards="0">
                                    <p:tmAbs val="0"/>
                                  </p:iterate>
                                  <p:childTnLst>
                                    <p:set>
                                      <p:cBhvr>
                                        <p:cTn id="64" fill="hold"/>
                                        <p:tgtEl>
                                          <p:spTgt spid="209"/>
                                        </p:tgtEl>
                                        <p:attrNameLst>
                                          <p:attrName>style.visibility</p:attrName>
                                        </p:attrNameLst>
                                      </p:cBhvr>
                                      <p:to>
                                        <p:strVal val="visible"/>
                                      </p:to>
                                    </p:set>
                                    <p:anim calcmode="lin" valueType="num">
                                      <p:cBhvr>
                                        <p:cTn id="65" dur="500" fill="hold"/>
                                        <p:tgtEl>
                                          <p:spTgt spid="209"/>
                                        </p:tgtEl>
                                        <p:attrNameLst>
                                          <p:attrName>ppt_x</p:attrName>
                                        </p:attrNameLst>
                                      </p:cBhvr>
                                      <p:tavLst>
                                        <p:tav tm="0">
                                          <p:val>
                                            <p:strVal val="#ppt_x"/>
                                          </p:val>
                                        </p:tav>
                                        <p:tav tm="100000">
                                          <p:val>
                                            <p:strVal val="#ppt_x"/>
                                          </p:val>
                                        </p:tav>
                                      </p:tavLst>
                                    </p:anim>
                                    <p:anim calcmode="lin" valueType="num">
                                      <p:cBhvr>
                                        <p:cTn id="66" dur="500" fill="hold"/>
                                        <p:tgtEl>
                                          <p:spTgt spid="209"/>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Class="entr" nodeType="clickEffect" presetSubtype="1" presetID="2" grpId="12" fill="hold">
                                  <p:stCondLst>
                                    <p:cond delay="0"/>
                                  </p:stCondLst>
                                  <p:iterate type="el" backwards="0">
                                    <p:tmAbs val="0"/>
                                  </p:iterate>
                                  <p:childTnLst>
                                    <p:set>
                                      <p:cBhvr>
                                        <p:cTn id="70" fill="hold"/>
                                        <p:tgtEl>
                                          <p:spTgt spid="212"/>
                                        </p:tgtEl>
                                        <p:attrNameLst>
                                          <p:attrName>style.visibility</p:attrName>
                                        </p:attrNameLst>
                                      </p:cBhvr>
                                      <p:to>
                                        <p:strVal val="visible"/>
                                      </p:to>
                                    </p:set>
                                    <p:anim calcmode="lin" valueType="num">
                                      <p:cBhvr>
                                        <p:cTn id="71" dur="500" fill="hold"/>
                                        <p:tgtEl>
                                          <p:spTgt spid="212"/>
                                        </p:tgtEl>
                                        <p:attrNameLst>
                                          <p:attrName>ppt_x</p:attrName>
                                        </p:attrNameLst>
                                      </p:cBhvr>
                                      <p:tavLst>
                                        <p:tav tm="0">
                                          <p:val>
                                            <p:strVal val="#ppt_x"/>
                                          </p:val>
                                        </p:tav>
                                        <p:tav tm="100000">
                                          <p:val>
                                            <p:strVal val="#ppt_x"/>
                                          </p:val>
                                        </p:tav>
                                      </p:tavLst>
                                    </p:anim>
                                    <p:anim calcmode="lin" valueType="num">
                                      <p:cBhvr>
                                        <p:cTn id="72" dur="500" fill="hold"/>
                                        <p:tgtEl>
                                          <p:spTgt spid="212"/>
                                        </p:tgtEl>
                                        <p:attrNameLst>
                                          <p:attrName>ppt_y</p:attrName>
                                        </p:attrNameLst>
                                      </p:cBhvr>
                                      <p:tavLst>
                                        <p:tav tm="0">
                                          <p:val>
                                            <p:strVal val="0-#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Class="entr" nodeType="clickEffect" presetSubtype="1" presetID="2" grpId="13" fill="hold">
                                  <p:stCondLst>
                                    <p:cond delay="0"/>
                                  </p:stCondLst>
                                  <p:iterate type="el" backwards="0">
                                    <p:tmAbs val="0"/>
                                  </p:iterate>
                                  <p:childTnLst>
                                    <p:set>
                                      <p:cBhvr>
                                        <p:cTn id="76" fill="hold"/>
                                        <p:tgtEl>
                                          <p:spTgt spid="213"/>
                                        </p:tgtEl>
                                        <p:attrNameLst>
                                          <p:attrName>style.visibility</p:attrName>
                                        </p:attrNameLst>
                                      </p:cBhvr>
                                      <p:to>
                                        <p:strVal val="visible"/>
                                      </p:to>
                                    </p:set>
                                    <p:anim calcmode="lin" valueType="num">
                                      <p:cBhvr>
                                        <p:cTn id="77" dur="1000" fill="hold"/>
                                        <p:tgtEl>
                                          <p:spTgt spid="213"/>
                                        </p:tgtEl>
                                        <p:attrNameLst>
                                          <p:attrName>ppt_x</p:attrName>
                                        </p:attrNameLst>
                                      </p:cBhvr>
                                      <p:tavLst>
                                        <p:tav tm="0">
                                          <p:val>
                                            <p:strVal val="#ppt_x"/>
                                          </p:val>
                                        </p:tav>
                                        <p:tav tm="100000">
                                          <p:val>
                                            <p:strVal val="#ppt_x"/>
                                          </p:val>
                                        </p:tav>
                                      </p:tavLst>
                                    </p:anim>
                                    <p:anim calcmode="lin" valueType="num">
                                      <p:cBhvr>
                                        <p:cTn id="78" dur="1000" fill="hold"/>
                                        <p:tgtEl>
                                          <p:spTgt spid="213"/>
                                        </p:tgtEl>
                                        <p:attrNameLst>
                                          <p:attrName>ppt_y</p:attrName>
                                        </p:attrNameLst>
                                      </p:cBhvr>
                                      <p:tavLst>
                                        <p:tav tm="0">
                                          <p:val>
                                            <p:strVal val="0-#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Class="entr" nodeType="clickEffect" presetSubtype="1" presetID="2" grpId="14" fill="hold">
                                  <p:stCondLst>
                                    <p:cond delay="0"/>
                                  </p:stCondLst>
                                  <p:iterate type="el" backwards="0">
                                    <p:tmAbs val="0"/>
                                  </p:iterate>
                                  <p:childTnLst>
                                    <p:set>
                                      <p:cBhvr>
                                        <p:cTn id="82" fill="hold"/>
                                        <p:tgtEl>
                                          <p:spTgt spid="217"/>
                                        </p:tgtEl>
                                        <p:attrNameLst>
                                          <p:attrName>style.visibility</p:attrName>
                                        </p:attrNameLst>
                                      </p:cBhvr>
                                      <p:to>
                                        <p:strVal val="visible"/>
                                      </p:to>
                                    </p:set>
                                    <p:anim calcmode="lin" valueType="num">
                                      <p:cBhvr>
                                        <p:cTn id="83" dur="1000" fill="hold"/>
                                        <p:tgtEl>
                                          <p:spTgt spid="217"/>
                                        </p:tgtEl>
                                        <p:attrNameLst>
                                          <p:attrName>ppt_x</p:attrName>
                                        </p:attrNameLst>
                                      </p:cBhvr>
                                      <p:tavLst>
                                        <p:tav tm="0">
                                          <p:val>
                                            <p:strVal val="#ppt_x"/>
                                          </p:val>
                                        </p:tav>
                                        <p:tav tm="100000">
                                          <p:val>
                                            <p:strVal val="#ppt_x"/>
                                          </p:val>
                                        </p:tav>
                                      </p:tavLst>
                                    </p:anim>
                                    <p:anim calcmode="lin" valueType="num">
                                      <p:cBhvr>
                                        <p:cTn id="84" dur="1000" fill="hold"/>
                                        <p:tgtEl>
                                          <p:spTgt spid="21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2" grpId="12"/>
      <p:bldP build="whole" bldLvl="1" animBg="1" rev="0" advAuto="0" spid="204" grpId="2"/>
      <p:bldP build="whole" bldLvl="1" animBg="1" rev="0" advAuto="0" spid="218" grpId="10"/>
      <p:bldP build="whole" bldLvl="1" animBg="1" rev="0" advAuto="0" spid="209" grpId="11"/>
      <p:bldP build="whole" bldLvl="1" animBg="1" rev="0" advAuto="0" spid="217" grpId="14"/>
      <p:bldP build="whole" bldLvl="1" animBg="1" rev="0" advAuto="0" spid="208" grpId="4"/>
      <p:bldP build="whole" bldLvl="1" animBg="1" rev="0" advAuto="0" spid="219" grpId="3"/>
      <p:bldP build="whole" bldLvl="1" animBg="1" rev="0" advAuto="0" spid="214" grpId="6"/>
      <p:bldP build="whole" bldLvl="1" animBg="1" rev="0" advAuto="0" spid="210" grpId="7"/>
      <p:bldP build="whole" bldLvl="1" animBg="1" rev="0" advAuto="0" spid="211" grpId="5"/>
      <p:bldP build="whole" bldLvl="1" animBg="1" rev="0" advAuto="0" spid="207" grpId="1"/>
      <p:bldP build="whole" bldLvl="1" animBg="1" rev="0" advAuto="0" spid="213" grpId="13"/>
      <p:bldP build="whole" bldLvl="1" animBg="1" rev="0" advAuto="0" spid="215" grpId="8"/>
      <p:bldP build="whole" bldLvl="1" animBg="1" rev="0" advAuto="0" spid="216" grpId="9"/>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51" name="Группа 10"/>
          <p:cNvGrpSpPr/>
          <p:nvPr/>
        </p:nvGrpSpPr>
        <p:grpSpPr>
          <a:xfrm>
            <a:off x="2133793" y="2430301"/>
            <a:ext cx="20116604" cy="4458924"/>
            <a:chOff x="0" y="0"/>
            <a:chExt cx="20116603" cy="4458922"/>
          </a:xfrm>
        </p:grpSpPr>
        <p:sp>
          <p:nvSpPr>
            <p:cNvPr id="221" name="Фигура"/>
            <p:cNvSpPr/>
            <p:nvPr/>
          </p:nvSpPr>
          <p:spPr>
            <a:xfrm>
              <a:off x="15608307" y="1904773"/>
              <a:ext cx="4508297" cy="2554150"/>
            </a:xfrm>
            <a:custGeom>
              <a:avLst/>
              <a:gdLst/>
              <a:ahLst/>
              <a:cxnLst>
                <a:cxn ang="0">
                  <a:pos x="wd2" y="hd2"/>
                </a:cxn>
                <a:cxn ang="5400000">
                  <a:pos x="wd2" y="hd2"/>
                </a:cxn>
                <a:cxn ang="10800000">
                  <a:pos x="wd2" y="hd2"/>
                </a:cxn>
                <a:cxn ang="16200000">
                  <a:pos x="wd2" y="hd2"/>
                </a:cxn>
              </a:cxnLst>
              <a:rect l="0" t="0" r="r" b="b"/>
              <a:pathLst>
                <a:path w="21580" h="21352" fill="norm" stroke="1" extrusionOk="0">
                  <a:moveTo>
                    <a:pt x="2856" y="2531"/>
                  </a:moveTo>
                  <a:cubicBezTo>
                    <a:pt x="2875" y="10172"/>
                    <a:pt x="6435" y="16342"/>
                    <a:pt x="10810" y="16314"/>
                  </a:cubicBezTo>
                  <a:cubicBezTo>
                    <a:pt x="15156" y="16286"/>
                    <a:pt x="18677" y="10147"/>
                    <a:pt x="18699" y="2557"/>
                  </a:cubicBezTo>
                  <a:cubicBezTo>
                    <a:pt x="18695" y="1314"/>
                    <a:pt x="19221" y="259"/>
                    <a:pt x="19927" y="95"/>
                  </a:cubicBezTo>
                  <a:cubicBezTo>
                    <a:pt x="20788" y="-105"/>
                    <a:pt x="21558" y="1042"/>
                    <a:pt x="21580" y="2557"/>
                  </a:cubicBezTo>
                  <a:cubicBezTo>
                    <a:pt x="21556" y="13052"/>
                    <a:pt x="16634" y="21495"/>
                    <a:pt x="10625" y="21350"/>
                  </a:cubicBezTo>
                  <a:cubicBezTo>
                    <a:pt x="4719" y="21207"/>
                    <a:pt x="-20" y="12787"/>
                    <a:pt x="0" y="2471"/>
                  </a:cubicBezTo>
                  <a:cubicBezTo>
                    <a:pt x="10" y="1062"/>
                    <a:pt x="684" y="-55"/>
                    <a:pt x="1490" y="2"/>
                  </a:cubicBezTo>
                  <a:cubicBezTo>
                    <a:pt x="2264" y="57"/>
                    <a:pt x="2870" y="1180"/>
                    <a:pt x="2856" y="2531"/>
                  </a:cubicBezTo>
                  <a:close/>
                </a:path>
              </a:pathLst>
            </a:cu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2" name="Фигура"/>
            <p:cNvSpPr/>
            <p:nvPr/>
          </p:nvSpPr>
          <p:spPr>
            <a:xfrm rot="10800000">
              <a:off x="11698402" y="0"/>
              <a:ext cx="4508296" cy="2554150"/>
            </a:xfrm>
            <a:custGeom>
              <a:avLst/>
              <a:gdLst/>
              <a:ahLst/>
              <a:cxnLst>
                <a:cxn ang="0">
                  <a:pos x="wd2" y="hd2"/>
                </a:cxn>
                <a:cxn ang="5400000">
                  <a:pos x="wd2" y="hd2"/>
                </a:cxn>
                <a:cxn ang="10800000">
                  <a:pos x="wd2" y="hd2"/>
                </a:cxn>
                <a:cxn ang="16200000">
                  <a:pos x="wd2" y="hd2"/>
                </a:cxn>
              </a:cxnLst>
              <a:rect l="0" t="0" r="r" b="b"/>
              <a:pathLst>
                <a:path w="21580" h="21352" fill="norm" stroke="1" extrusionOk="0">
                  <a:moveTo>
                    <a:pt x="2856" y="2531"/>
                  </a:moveTo>
                  <a:cubicBezTo>
                    <a:pt x="2875" y="10172"/>
                    <a:pt x="6435" y="16342"/>
                    <a:pt x="10810" y="16314"/>
                  </a:cubicBezTo>
                  <a:cubicBezTo>
                    <a:pt x="15156" y="16286"/>
                    <a:pt x="18677" y="10147"/>
                    <a:pt x="18699" y="2557"/>
                  </a:cubicBezTo>
                  <a:cubicBezTo>
                    <a:pt x="18695" y="1314"/>
                    <a:pt x="19221" y="259"/>
                    <a:pt x="19927" y="95"/>
                  </a:cubicBezTo>
                  <a:cubicBezTo>
                    <a:pt x="20788" y="-105"/>
                    <a:pt x="21558" y="1042"/>
                    <a:pt x="21580" y="2557"/>
                  </a:cubicBezTo>
                  <a:cubicBezTo>
                    <a:pt x="21556" y="13052"/>
                    <a:pt x="16634" y="21495"/>
                    <a:pt x="10625" y="21350"/>
                  </a:cubicBezTo>
                  <a:cubicBezTo>
                    <a:pt x="4719" y="21207"/>
                    <a:pt x="-20" y="12787"/>
                    <a:pt x="0" y="2471"/>
                  </a:cubicBezTo>
                  <a:cubicBezTo>
                    <a:pt x="10" y="1062"/>
                    <a:pt x="684" y="-55"/>
                    <a:pt x="1490" y="2"/>
                  </a:cubicBezTo>
                  <a:cubicBezTo>
                    <a:pt x="2264" y="57"/>
                    <a:pt x="2870" y="1180"/>
                    <a:pt x="2856" y="2531"/>
                  </a:cubicBezTo>
                  <a:close/>
                </a:path>
              </a:pathLst>
            </a:cu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3" name="Фигура"/>
            <p:cNvSpPr/>
            <p:nvPr/>
          </p:nvSpPr>
          <p:spPr>
            <a:xfrm>
              <a:off x="7799065" y="1904773"/>
              <a:ext cx="4508296" cy="2554150"/>
            </a:xfrm>
            <a:custGeom>
              <a:avLst/>
              <a:gdLst/>
              <a:ahLst/>
              <a:cxnLst>
                <a:cxn ang="0">
                  <a:pos x="wd2" y="hd2"/>
                </a:cxn>
                <a:cxn ang="5400000">
                  <a:pos x="wd2" y="hd2"/>
                </a:cxn>
                <a:cxn ang="10800000">
                  <a:pos x="wd2" y="hd2"/>
                </a:cxn>
                <a:cxn ang="16200000">
                  <a:pos x="wd2" y="hd2"/>
                </a:cxn>
              </a:cxnLst>
              <a:rect l="0" t="0" r="r" b="b"/>
              <a:pathLst>
                <a:path w="21580" h="21352" fill="norm" stroke="1" extrusionOk="0">
                  <a:moveTo>
                    <a:pt x="2856" y="2531"/>
                  </a:moveTo>
                  <a:cubicBezTo>
                    <a:pt x="2875" y="10172"/>
                    <a:pt x="6435" y="16342"/>
                    <a:pt x="10810" y="16314"/>
                  </a:cubicBezTo>
                  <a:cubicBezTo>
                    <a:pt x="15156" y="16286"/>
                    <a:pt x="18677" y="10147"/>
                    <a:pt x="18699" y="2557"/>
                  </a:cubicBezTo>
                  <a:cubicBezTo>
                    <a:pt x="18695" y="1314"/>
                    <a:pt x="19221" y="259"/>
                    <a:pt x="19927" y="95"/>
                  </a:cubicBezTo>
                  <a:cubicBezTo>
                    <a:pt x="20788" y="-105"/>
                    <a:pt x="21558" y="1042"/>
                    <a:pt x="21580" y="2557"/>
                  </a:cubicBezTo>
                  <a:cubicBezTo>
                    <a:pt x="21556" y="13052"/>
                    <a:pt x="16634" y="21495"/>
                    <a:pt x="10625" y="21350"/>
                  </a:cubicBezTo>
                  <a:cubicBezTo>
                    <a:pt x="4719" y="21207"/>
                    <a:pt x="-20" y="12787"/>
                    <a:pt x="0" y="2471"/>
                  </a:cubicBezTo>
                  <a:cubicBezTo>
                    <a:pt x="10" y="1062"/>
                    <a:pt x="684" y="-55"/>
                    <a:pt x="1490" y="2"/>
                  </a:cubicBezTo>
                  <a:cubicBezTo>
                    <a:pt x="2264" y="57"/>
                    <a:pt x="2870" y="1180"/>
                    <a:pt x="2856" y="2531"/>
                  </a:cubicBezTo>
                  <a:close/>
                </a:path>
              </a:pathLst>
            </a:cu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4" name="Фигура"/>
            <p:cNvSpPr/>
            <p:nvPr/>
          </p:nvSpPr>
          <p:spPr>
            <a:xfrm rot="10800000">
              <a:off x="3899337" y="0"/>
              <a:ext cx="4508296" cy="2554150"/>
            </a:xfrm>
            <a:custGeom>
              <a:avLst/>
              <a:gdLst/>
              <a:ahLst/>
              <a:cxnLst>
                <a:cxn ang="0">
                  <a:pos x="wd2" y="hd2"/>
                </a:cxn>
                <a:cxn ang="5400000">
                  <a:pos x="wd2" y="hd2"/>
                </a:cxn>
                <a:cxn ang="10800000">
                  <a:pos x="wd2" y="hd2"/>
                </a:cxn>
                <a:cxn ang="16200000">
                  <a:pos x="wd2" y="hd2"/>
                </a:cxn>
              </a:cxnLst>
              <a:rect l="0" t="0" r="r" b="b"/>
              <a:pathLst>
                <a:path w="21580" h="21352" fill="norm" stroke="1" extrusionOk="0">
                  <a:moveTo>
                    <a:pt x="2856" y="2531"/>
                  </a:moveTo>
                  <a:cubicBezTo>
                    <a:pt x="2875" y="10172"/>
                    <a:pt x="6435" y="16342"/>
                    <a:pt x="10810" y="16314"/>
                  </a:cubicBezTo>
                  <a:cubicBezTo>
                    <a:pt x="15156" y="16286"/>
                    <a:pt x="18677" y="10147"/>
                    <a:pt x="18699" y="2557"/>
                  </a:cubicBezTo>
                  <a:cubicBezTo>
                    <a:pt x="18695" y="1314"/>
                    <a:pt x="19221" y="259"/>
                    <a:pt x="19927" y="95"/>
                  </a:cubicBezTo>
                  <a:cubicBezTo>
                    <a:pt x="20788" y="-105"/>
                    <a:pt x="21558" y="1042"/>
                    <a:pt x="21580" y="2557"/>
                  </a:cubicBezTo>
                  <a:cubicBezTo>
                    <a:pt x="21556" y="13052"/>
                    <a:pt x="16634" y="21495"/>
                    <a:pt x="10625" y="21350"/>
                  </a:cubicBezTo>
                  <a:cubicBezTo>
                    <a:pt x="4719" y="21207"/>
                    <a:pt x="-20" y="12787"/>
                    <a:pt x="0" y="2471"/>
                  </a:cubicBezTo>
                  <a:cubicBezTo>
                    <a:pt x="10" y="1062"/>
                    <a:pt x="684" y="-55"/>
                    <a:pt x="1490" y="2"/>
                  </a:cubicBezTo>
                  <a:cubicBezTo>
                    <a:pt x="2264" y="57"/>
                    <a:pt x="2870" y="1180"/>
                    <a:pt x="2856" y="2531"/>
                  </a:cubicBezTo>
                  <a:close/>
                </a:path>
              </a:pathLst>
            </a:cu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5" name="Кружок"/>
            <p:cNvSpPr/>
            <p:nvPr/>
          </p:nvSpPr>
          <p:spPr>
            <a:xfrm>
              <a:off x="4804719" y="906665"/>
              <a:ext cx="2697727" cy="2697728"/>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6" name="Кружок"/>
            <p:cNvSpPr/>
            <p:nvPr/>
          </p:nvSpPr>
          <p:spPr>
            <a:xfrm>
              <a:off x="905186" y="869875"/>
              <a:ext cx="2697729" cy="2697729"/>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7" name="Кружок"/>
            <p:cNvSpPr/>
            <p:nvPr/>
          </p:nvSpPr>
          <p:spPr>
            <a:xfrm>
              <a:off x="12603784" y="906665"/>
              <a:ext cx="2697729" cy="2697728"/>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8" name="Кружок"/>
            <p:cNvSpPr/>
            <p:nvPr/>
          </p:nvSpPr>
          <p:spPr>
            <a:xfrm>
              <a:off x="8704251" y="869875"/>
              <a:ext cx="2697729" cy="2697729"/>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29" name="Кружок"/>
            <p:cNvSpPr/>
            <p:nvPr/>
          </p:nvSpPr>
          <p:spPr>
            <a:xfrm>
              <a:off x="16513494" y="869875"/>
              <a:ext cx="2697729" cy="2697729"/>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30" name="Фигура"/>
            <p:cNvSpPr/>
            <p:nvPr/>
          </p:nvSpPr>
          <p:spPr>
            <a:xfrm>
              <a:off x="0" y="1904773"/>
              <a:ext cx="4508296" cy="2554150"/>
            </a:xfrm>
            <a:custGeom>
              <a:avLst/>
              <a:gdLst/>
              <a:ahLst/>
              <a:cxnLst>
                <a:cxn ang="0">
                  <a:pos x="wd2" y="hd2"/>
                </a:cxn>
                <a:cxn ang="5400000">
                  <a:pos x="wd2" y="hd2"/>
                </a:cxn>
                <a:cxn ang="10800000">
                  <a:pos x="wd2" y="hd2"/>
                </a:cxn>
                <a:cxn ang="16200000">
                  <a:pos x="wd2" y="hd2"/>
                </a:cxn>
              </a:cxnLst>
              <a:rect l="0" t="0" r="r" b="b"/>
              <a:pathLst>
                <a:path w="21580" h="21352" fill="norm" stroke="1" extrusionOk="0">
                  <a:moveTo>
                    <a:pt x="2856" y="2531"/>
                  </a:moveTo>
                  <a:cubicBezTo>
                    <a:pt x="2875" y="10172"/>
                    <a:pt x="6435" y="16342"/>
                    <a:pt x="10810" y="16314"/>
                  </a:cubicBezTo>
                  <a:cubicBezTo>
                    <a:pt x="15156" y="16286"/>
                    <a:pt x="18677" y="10147"/>
                    <a:pt x="18699" y="2557"/>
                  </a:cubicBezTo>
                  <a:cubicBezTo>
                    <a:pt x="18695" y="1314"/>
                    <a:pt x="19221" y="259"/>
                    <a:pt x="19927" y="95"/>
                  </a:cubicBezTo>
                  <a:cubicBezTo>
                    <a:pt x="20788" y="-105"/>
                    <a:pt x="21558" y="1042"/>
                    <a:pt x="21580" y="2557"/>
                  </a:cubicBezTo>
                  <a:cubicBezTo>
                    <a:pt x="21556" y="13052"/>
                    <a:pt x="16634" y="21495"/>
                    <a:pt x="10625" y="21350"/>
                  </a:cubicBezTo>
                  <a:cubicBezTo>
                    <a:pt x="4719" y="21207"/>
                    <a:pt x="-20" y="12787"/>
                    <a:pt x="0" y="2471"/>
                  </a:cubicBezTo>
                  <a:cubicBezTo>
                    <a:pt x="10" y="1062"/>
                    <a:pt x="684" y="-55"/>
                    <a:pt x="1490" y="2"/>
                  </a:cubicBezTo>
                  <a:cubicBezTo>
                    <a:pt x="2264" y="57"/>
                    <a:pt x="2870" y="1180"/>
                    <a:pt x="2856" y="2531"/>
                  </a:cubicBezTo>
                  <a:close/>
                </a:path>
              </a:pathLst>
            </a:cu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31" name="Project…"/>
            <p:cNvSpPr txBox="1"/>
            <p:nvPr/>
          </p:nvSpPr>
          <p:spPr>
            <a:xfrm>
              <a:off x="1197224" y="2021228"/>
              <a:ext cx="2131945"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Концепция </a:t>
              </a:r>
            </a:p>
          </p:txBody>
        </p:sp>
        <p:grpSp>
          <p:nvGrpSpPr>
            <p:cNvPr id="234" name="Группа 9"/>
            <p:cNvGrpSpPr/>
            <p:nvPr/>
          </p:nvGrpSpPr>
          <p:grpSpPr>
            <a:xfrm>
              <a:off x="1732568" y="128644"/>
              <a:ext cx="1030253" cy="1030253"/>
              <a:chOff x="0" y="0"/>
              <a:chExt cx="1030252" cy="1030252"/>
            </a:xfrm>
          </p:grpSpPr>
          <p:sp>
            <p:nvSpPr>
              <p:cNvPr id="232" name="Кружок"/>
              <p:cNvSpPr/>
              <p:nvPr/>
            </p:nvSpPr>
            <p:spPr>
              <a:xfrm>
                <a:off x="-1" y="-1"/>
                <a:ext cx="1030254" cy="1030254"/>
              </a:xfrm>
              <a:prstGeom prst="ellipse">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33"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01</a:t>
                </a:r>
              </a:p>
            </p:txBody>
          </p:sp>
        </p:grpSp>
        <p:grpSp>
          <p:nvGrpSpPr>
            <p:cNvPr id="237" name="Группа 118"/>
            <p:cNvGrpSpPr/>
            <p:nvPr/>
          </p:nvGrpSpPr>
          <p:grpSpPr>
            <a:xfrm>
              <a:off x="9537988" y="128644"/>
              <a:ext cx="1030253" cy="1030253"/>
              <a:chOff x="0" y="0"/>
              <a:chExt cx="1030252" cy="1030252"/>
            </a:xfrm>
          </p:grpSpPr>
          <p:sp>
            <p:nvSpPr>
              <p:cNvPr id="235" name="Кружок"/>
              <p:cNvSpPr/>
              <p:nvPr/>
            </p:nvSpPr>
            <p:spPr>
              <a:xfrm>
                <a:off x="-1" y="-1"/>
                <a:ext cx="1030254" cy="1030254"/>
              </a:xfrm>
              <a:prstGeom prst="ellipse">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36"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03</a:t>
                </a:r>
              </a:p>
            </p:txBody>
          </p:sp>
        </p:grpSp>
        <p:grpSp>
          <p:nvGrpSpPr>
            <p:cNvPr id="240" name="Группа 151"/>
            <p:cNvGrpSpPr/>
            <p:nvPr/>
          </p:nvGrpSpPr>
          <p:grpSpPr>
            <a:xfrm>
              <a:off x="17337056" y="128644"/>
              <a:ext cx="1030253" cy="1030253"/>
              <a:chOff x="0" y="0"/>
              <a:chExt cx="1030252" cy="1030252"/>
            </a:xfrm>
          </p:grpSpPr>
          <p:sp>
            <p:nvSpPr>
              <p:cNvPr id="238" name="Кружок"/>
              <p:cNvSpPr/>
              <p:nvPr/>
            </p:nvSpPr>
            <p:spPr>
              <a:xfrm>
                <a:off x="-1" y="-1"/>
                <a:ext cx="1030254" cy="1030254"/>
              </a:xfrm>
              <a:prstGeom prst="ellipse">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39"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05</a:t>
                </a:r>
              </a:p>
            </p:txBody>
          </p:sp>
        </p:grpSp>
        <p:grpSp>
          <p:nvGrpSpPr>
            <p:cNvPr id="243" name="Группа 154"/>
            <p:cNvGrpSpPr/>
            <p:nvPr/>
          </p:nvGrpSpPr>
          <p:grpSpPr>
            <a:xfrm>
              <a:off x="5633368" y="3348918"/>
              <a:ext cx="1030253" cy="1030253"/>
              <a:chOff x="0" y="0"/>
              <a:chExt cx="1030252" cy="1030252"/>
            </a:xfrm>
          </p:grpSpPr>
          <p:sp>
            <p:nvSpPr>
              <p:cNvPr id="241" name="Кружок"/>
              <p:cNvSpPr/>
              <p:nvPr/>
            </p:nvSpPr>
            <p:spPr>
              <a:xfrm>
                <a:off x="-1" y="-1"/>
                <a:ext cx="1030254" cy="1030254"/>
              </a:xfrm>
              <a:prstGeom prst="ellipse">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42"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02</a:t>
                </a:r>
              </a:p>
            </p:txBody>
          </p:sp>
        </p:grpSp>
        <p:grpSp>
          <p:nvGrpSpPr>
            <p:cNvPr id="246" name="Группа 157"/>
            <p:cNvGrpSpPr/>
            <p:nvPr/>
          </p:nvGrpSpPr>
          <p:grpSpPr>
            <a:xfrm>
              <a:off x="13437522" y="3348918"/>
              <a:ext cx="1030253" cy="1030253"/>
              <a:chOff x="0" y="0"/>
              <a:chExt cx="1030252" cy="1030252"/>
            </a:xfrm>
          </p:grpSpPr>
          <p:sp>
            <p:nvSpPr>
              <p:cNvPr id="244" name="Кружок"/>
              <p:cNvSpPr/>
              <p:nvPr/>
            </p:nvSpPr>
            <p:spPr>
              <a:xfrm>
                <a:off x="-1" y="-1"/>
                <a:ext cx="1030254" cy="1030254"/>
              </a:xfrm>
              <a:prstGeom prst="ellipse">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245" name="Project…"/>
              <p:cNvSpPr txBox="1"/>
              <p:nvPr/>
            </p:nvSpPr>
            <p:spPr>
              <a:xfrm>
                <a:off x="112220" y="296065"/>
                <a:ext cx="81852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04</a:t>
                </a:r>
              </a:p>
            </p:txBody>
          </p:sp>
        </p:grpSp>
        <p:sp>
          <p:nvSpPr>
            <p:cNvPr id="247" name="Project…"/>
            <p:cNvSpPr txBox="1"/>
            <p:nvPr/>
          </p:nvSpPr>
          <p:spPr>
            <a:xfrm>
              <a:off x="8982055" y="1849778"/>
              <a:ext cx="2131945" cy="787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Стартиране на проекта</a:t>
              </a:r>
            </a:p>
          </p:txBody>
        </p:sp>
        <p:sp>
          <p:nvSpPr>
            <p:cNvPr id="248" name="Project…"/>
            <p:cNvSpPr txBox="1"/>
            <p:nvPr/>
          </p:nvSpPr>
          <p:spPr>
            <a:xfrm>
              <a:off x="16805536" y="1849778"/>
              <a:ext cx="2131946" cy="787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Край на проекта</a:t>
              </a:r>
            </a:p>
          </p:txBody>
        </p:sp>
        <p:sp>
          <p:nvSpPr>
            <p:cNvPr id="249" name="Project…"/>
            <p:cNvSpPr txBox="1"/>
            <p:nvPr/>
          </p:nvSpPr>
          <p:spPr>
            <a:xfrm>
              <a:off x="12603784" y="1849778"/>
              <a:ext cx="2661641" cy="787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Контрол и оптимизация</a:t>
              </a:r>
            </a:p>
          </p:txBody>
        </p:sp>
        <p:sp>
          <p:nvSpPr>
            <p:cNvPr id="250" name="Project…"/>
            <p:cNvSpPr txBox="1"/>
            <p:nvPr/>
          </p:nvSpPr>
          <p:spPr>
            <a:xfrm>
              <a:off x="5092698" y="2021228"/>
              <a:ext cx="2131945"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Планиране</a:t>
              </a:r>
            </a:p>
          </p:txBody>
        </p:sp>
      </p:grpSp>
      <p:grpSp>
        <p:nvGrpSpPr>
          <p:cNvPr id="257" name="Группа 1"/>
          <p:cNvGrpSpPr/>
          <p:nvPr/>
        </p:nvGrpSpPr>
        <p:grpSpPr>
          <a:xfrm>
            <a:off x="2621337" y="7884232"/>
            <a:ext cx="19616059" cy="3642361"/>
            <a:chOff x="0" y="0"/>
            <a:chExt cx="19616058" cy="3642360"/>
          </a:xfrm>
        </p:grpSpPr>
        <p:sp>
          <p:nvSpPr>
            <p:cNvPr id="252" name="Profesional Template for PowerPoint, Keynote, Google Slides"/>
            <p:cNvSpPr txBox="1"/>
            <p:nvPr/>
          </p:nvSpPr>
          <p:spPr>
            <a:xfrm>
              <a:off x="0" y="0"/>
              <a:ext cx="3504895"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marL="457200" indent="-457200" algn="l">
                <a:lnSpc>
                  <a:spcPct val="120000"/>
                </a:lnSpc>
                <a:buClr>
                  <a:srgbClr val="3F57D1"/>
                </a:buClr>
                <a:buSzPct val="100000"/>
                <a:buChar char="▪"/>
                <a:defRPr b="0" sz="2600">
                  <a:solidFill>
                    <a:srgbClr val="646977"/>
                  </a:solidFill>
                  <a:latin typeface="Roboto Regular"/>
                  <a:ea typeface="Roboto Regular"/>
                  <a:cs typeface="Roboto Regular"/>
                  <a:sym typeface="Roboto Regular"/>
                </a:defRPr>
              </a:pPr>
              <a:r>
                <a:t>Харта на проекта</a:t>
              </a:r>
            </a:p>
            <a:p>
              <a:pPr marL="457200" indent="-457200" algn="l">
                <a:lnSpc>
                  <a:spcPct val="120000"/>
                </a:lnSpc>
                <a:buClr>
                  <a:srgbClr val="3F57D1"/>
                </a:buClr>
                <a:buSzPct val="100000"/>
                <a:buChar char="▪"/>
                <a:defRPr b="0" sz="2600">
                  <a:solidFill>
                    <a:srgbClr val="6F706E"/>
                  </a:solidFill>
                  <a:latin typeface="Roboto Regular"/>
                  <a:ea typeface="Roboto Regular"/>
                  <a:cs typeface="Roboto Regular"/>
                  <a:sym typeface="Roboto Regular"/>
                </a:defRPr>
              </a:pPr>
              <a:r>
                <a:t>Начало на проекта</a:t>
              </a:r>
            </a:p>
          </p:txBody>
        </p:sp>
        <p:sp>
          <p:nvSpPr>
            <p:cNvPr id="253" name="Profesional Template for PowerPoint, Keynote, Google Slides"/>
            <p:cNvSpPr txBox="1"/>
            <p:nvPr/>
          </p:nvSpPr>
          <p:spPr>
            <a:xfrm>
              <a:off x="4027790" y="0"/>
              <a:ext cx="3504896" cy="36423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marL="457200" indent="-457200" algn="l">
                <a:lnSpc>
                  <a:spcPct val="120000"/>
                </a:lnSpc>
                <a:buClr>
                  <a:srgbClr val="C851C0"/>
                </a:buClr>
                <a:buSzPct val="100000"/>
                <a:buChar char="▪"/>
                <a:defRPr b="0" sz="2600">
                  <a:solidFill>
                    <a:srgbClr val="646977"/>
                  </a:solidFill>
                  <a:latin typeface="Roboto Regular"/>
                  <a:ea typeface="Roboto Regular"/>
                  <a:cs typeface="Roboto Regular"/>
                  <a:sym typeface="Roboto Regular"/>
                </a:defRPr>
              </a:pPr>
              <a:r>
                <a:t>Scope и бюджет</a:t>
              </a: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t>Разпределяне на работата</a:t>
              </a:r>
              <a:endParaRPr>
                <a:solidFill>
                  <a:srgbClr val="646977"/>
                </a:solidFill>
              </a:endParaRP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rPr>
                  <a:solidFill>
                    <a:srgbClr val="646977"/>
                  </a:solidFill>
                </a:rPr>
                <a:t>План на комуникация</a:t>
              </a:r>
              <a:endParaRPr>
                <a:solidFill>
                  <a:srgbClr val="646977"/>
                </a:solidFill>
              </a:endParaRP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rPr>
                  <a:solidFill>
                    <a:srgbClr val="646977"/>
                  </a:solidFill>
                </a:rPr>
                <a:t>Управление на риска</a:t>
              </a:r>
            </a:p>
          </p:txBody>
        </p:sp>
        <p:sp>
          <p:nvSpPr>
            <p:cNvPr id="254" name="Profesional Template for PowerPoint, Keynote, Google Slides"/>
            <p:cNvSpPr txBox="1"/>
            <p:nvPr/>
          </p:nvSpPr>
          <p:spPr>
            <a:xfrm>
              <a:off x="8055581" y="0"/>
              <a:ext cx="350489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marL="457200" indent="-457200" algn="l">
                <a:lnSpc>
                  <a:spcPct val="120000"/>
                </a:lnSpc>
                <a:buClr>
                  <a:srgbClr val="FECB70"/>
                </a:buClr>
                <a:buSzPct val="100000"/>
                <a:buChar char="▪"/>
                <a:defRPr b="0" sz="2600">
                  <a:solidFill>
                    <a:srgbClr val="646977"/>
                  </a:solidFill>
                  <a:latin typeface="Roboto Regular"/>
                  <a:ea typeface="Roboto Regular"/>
                  <a:cs typeface="Roboto Regular"/>
                  <a:sym typeface="Roboto Regular"/>
                </a:defRPr>
              </a:pPr>
              <a:r>
                <a:t>Статус и проследяване</a:t>
              </a:r>
            </a:p>
            <a:p>
              <a:pPr marL="457200" indent="-457200" algn="l">
                <a:lnSpc>
                  <a:spcPct val="120000"/>
                </a:lnSpc>
                <a:buClr>
                  <a:srgbClr val="FECB70"/>
                </a:buClr>
                <a:buSzPct val="100000"/>
                <a:buChar char="▪"/>
                <a:defRPr b="0" sz="2600">
                  <a:solidFill>
                    <a:srgbClr val="6F706E"/>
                  </a:solidFill>
                  <a:latin typeface="Roboto Regular"/>
                  <a:ea typeface="Roboto Regular"/>
                  <a:cs typeface="Roboto Regular"/>
                  <a:sym typeface="Roboto Regular"/>
                </a:defRPr>
              </a:pPr>
              <a:r>
                <a:t>KPI-ове</a:t>
              </a:r>
              <a:endParaRPr>
                <a:solidFill>
                  <a:srgbClr val="646977"/>
                </a:solidFill>
              </a:endParaRPr>
            </a:p>
            <a:p>
              <a:pPr marL="457200" indent="-457200" algn="l">
                <a:lnSpc>
                  <a:spcPct val="120000"/>
                </a:lnSpc>
                <a:buClr>
                  <a:srgbClr val="FECB70"/>
                </a:buClr>
                <a:buSzPct val="100000"/>
                <a:buChar char="▪"/>
                <a:defRPr b="0" sz="2600">
                  <a:solidFill>
                    <a:srgbClr val="6F706E"/>
                  </a:solidFill>
                  <a:latin typeface="Roboto Regular"/>
                  <a:ea typeface="Roboto Regular"/>
                  <a:cs typeface="Roboto Regular"/>
                  <a:sym typeface="Roboto Regular"/>
                </a:defRPr>
              </a:pPr>
              <a:r>
                <a:t>Качество</a:t>
              </a:r>
              <a:endParaRPr>
                <a:solidFill>
                  <a:srgbClr val="646977"/>
                </a:solidFill>
              </a:endParaRPr>
            </a:p>
            <a:p>
              <a:pPr marL="457200" indent="-457200" algn="l">
                <a:lnSpc>
                  <a:spcPct val="120000"/>
                </a:lnSpc>
                <a:buClr>
                  <a:srgbClr val="FECB70"/>
                </a:buClr>
                <a:buSzPct val="100000"/>
                <a:buChar char="▪"/>
                <a:defRPr b="0" sz="2600">
                  <a:solidFill>
                    <a:srgbClr val="6F706E"/>
                  </a:solidFill>
                  <a:latin typeface="Roboto Regular"/>
                  <a:ea typeface="Roboto Regular"/>
                  <a:cs typeface="Roboto Regular"/>
                  <a:sym typeface="Roboto Regular"/>
                </a:defRPr>
              </a:pPr>
              <a:r>
                <a:t>Прогнози</a:t>
              </a:r>
            </a:p>
          </p:txBody>
        </p:sp>
        <p:sp>
          <p:nvSpPr>
            <p:cNvPr id="255" name="Profesional Template for PowerPoint, Keynote, Google Slides"/>
            <p:cNvSpPr txBox="1"/>
            <p:nvPr/>
          </p:nvSpPr>
          <p:spPr>
            <a:xfrm>
              <a:off x="12083373" y="0"/>
              <a:ext cx="3504895" cy="36423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marL="457200" indent="-457200" algn="l">
                <a:lnSpc>
                  <a:spcPct val="120000"/>
                </a:lnSpc>
                <a:buClr>
                  <a:srgbClr val="C851C0"/>
                </a:buClr>
                <a:buSzPct val="100000"/>
                <a:buChar char="▪"/>
                <a:defRPr b="0" sz="2600">
                  <a:solidFill>
                    <a:srgbClr val="646977"/>
                  </a:solidFill>
                  <a:latin typeface="Roboto Regular"/>
                  <a:ea typeface="Roboto Regular"/>
                  <a:cs typeface="Roboto Regular"/>
                  <a:sym typeface="Roboto Regular"/>
                </a:defRPr>
              </a:pPr>
              <a:r>
                <a:t>Цели</a:t>
              </a: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rPr>
                  <a:solidFill>
                    <a:srgbClr val="646977"/>
                  </a:solidFill>
                </a:rPr>
                <a:t>Качествени резултати</a:t>
              </a:r>
              <a:endParaRPr>
                <a:solidFill>
                  <a:srgbClr val="646977"/>
                </a:solidFill>
              </a:endParaRP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rPr>
                  <a:solidFill>
                    <a:srgbClr val="646977"/>
                  </a:solidFill>
                </a:rPr>
                <a:t>Проследяване на усилията и разходите</a:t>
              </a:r>
              <a:endParaRPr>
                <a:solidFill>
                  <a:srgbClr val="646977"/>
                </a:solidFill>
              </a:endParaRPr>
            </a:p>
            <a:p>
              <a:pPr marL="457200" indent="-457200" algn="l">
                <a:lnSpc>
                  <a:spcPct val="120000"/>
                </a:lnSpc>
                <a:buClr>
                  <a:srgbClr val="C851C0"/>
                </a:buClr>
                <a:buSzPct val="100000"/>
                <a:buChar char="▪"/>
                <a:defRPr b="0" sz="2600">
                  <a:solidFill>
                    <a:srgbClr val="6F706E"/>
                  </a:solidFill>
                  <a:latin typeface="Roboto Regular"/>
                  <a:ea typeface="Roboto Regular"/>
                  <a:cs typeface="Roboto Regular"/>
                  <a:sym typeface="Roboto Regular"/>
                </a:defRPr>
              </a:pPr>
              <a:r>
                <a:t>Оптимизация</a:t>
              </a:r>
            </a:p>
          </p:txBody>
        </p:sp>
        <p:sp>
          <p:nvSpPr>
            <p:cNvPr id="256" name="Profesional Template for PowerPoint, Keynote, Google Slides"/>
            <p:cNvSpPr txBox="1"/>
            <p:nvPr/>
          </p:nvSpPr>
          <p:spPr>
            <a:xfrm>
              <a:off x="16111163" y="0"/>
              <a:ext cx="3504896" cy="20878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marL="457200" indent="-457200" algn="l">
                <a:lnSpc>
                  <a:spcPct val="120000"/>
                </a:lnSpc>
                <a:buClr>
                  <a:srgbClr val="3F57D1"/>
                </a:buClr>
                <a:buSzPct val="100000"/>
                <a:buChar char="▪"/>
                <a:defRPr b="0" sz="2600">
                  <a:solidFill>
                    <a:srgbClr val="646977"/>
                  </a:solidFill>
                  <a:latin typeface="Roboto Regular"/>
                  <a:ea typeface="Roboto Regular"/>
                  <a:cs typeface="Roboto Regular"/>
                  <a:sym typeface="Roboto Regular"/>
                </a:defRPr>
              </a:pPr>
              <a:r>
                <a:t>Край на проекта</a:t>
              </a:r>
            </a:p>
            <a:p>
              <a:pPr marL="457200" indent="-457200" algn="l">
                <a:lnSpc>
                  <a:spcPct val="120000"/>
                </a:lnSpc>
                <a:buClr>
                  <a:srgbClr val="3F57D1"/>
                </a:buClr>
                <a:buSzPct val="100000"/>
                <a:buChar char="▪"/>
                <a:defRPr b="0" sz="2600">
                  <a:solidFill>
                    <a:srgbClr val="6F706E"/>
                  </a:solidFill>
                  <a:latin typeface="Roboto Regular"/>
                  <a:ea typeface="Roboto Regular"/>
                  <a:cs typeface="Roboto Regular"/>
                  <a:sym typeface="Roboto Regular"/>
                </a:defRPr>
              </a:pPr>
              <a:r>
                <a:t>Punchlist документ</a:t>
              </a:r>
              <a:endParaRPr>
                <a:solidFill>
                  <a:srgbClr val="646977"/>
                </a:solidFill>
              </a:endParaRPr>
            </a:p>
            <a:p>
              <a:pPr marL="457200" indent="-457200" algn="l">
                <a:lnSpc>
                  <a:spcPct val="120000"/>
                </a:lnSpc>
                <a:buClr>
                  <a:srgbClr val="3F57D1"/>
                </a:buClr>
                <a:buSzPct val="100000"/>
                <a:buChar char="▪"/>
                <a:defRPr b="0" sz="2600">
                  <a:solidFill>
                    <a:srgbClr val="6F706E"/>
                  </a:solidFill>
                  <a:latin typeface="Roboto Regular"/>
                  <a:ea typeface="Roboto Regular"/>
                  <a:cs typeface="Roboto Regular"/>
                  <a:sym typeface="Roboto Regular"/>
                </a:defRPr>
              </a:pPr>
              <a:r>
                <a:t>Доклади</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251"/>
                                        </p:tgtEl>
                                        <p:attrNameLst>
                                          <p:attrName>style.visibility</p:attrName>
                                        </p:attrNameLst>
                                      </p:cBhvr>
                                      <p:to>
                                        <p:strVal val="visible"/>
                                      </p:to>
                                    </p:set>
                                    <p:anim calcmode="lin" valueType="num">
                                      <p:cBhvr>
                                        <p:cTn id="7" dur="500" fill="hold"/>
                                        <p:tgtEl>
                                          <p:spTgt spid="251"/>
                                        </p:tgtEl>
                                        <p:attrNameLst>
                                          <p:attrName>ppt_x</p:attrName>
                                        </p:attrNameLst>
                                      </p:cBhvr>
                                      <p:tavLst>
                                        <p:tav tm="0">
                                          <p:val>
                                            <p:strVal val="#ppt_x"/>
                                          </p:val>
                                        </p:tav>
                                        <p:tav tm="100000">
                                          <p:val>
                                            <p:strVal val="#ppt_x"/>
                                          </p:val>
                                        </p:tav>
                                      </p:tavLst>
                                    </p:anim>
                                    <p:anim calcmode="lin" valueType="num">
                                      <p:cBhvr>
                                        <p:cTn id="8" dur="500" fill="hold"/>
                                        <p:tgtEl>
                                          <p:spTgt spid="2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257"/>
                                        </p:tgtEl>
                                        <p:attrNameLst>
                                          <p:attrName>style.visibility</p:attrName>
                                        </p:attrNameLst>
                                      </p:cBhvr>
                                      <p:to>
                                        <p:strVal val="visible"/>
                                      </p:to>
                                    </p:set>
                                    <p:animEffect filter="dissolve" transition="in">
                                      <p:cBhvr>
                                        <p:cTn id="13" dur="5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1" grpId="1"/>
      <p:bldP build="whole" bldLvl="1" animBg="1" rev="0" advAuto="0" spid="257"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9" name="pm-04.png" descr="pm-04.png"/>
          <p:cNvPicPr>
            <a:picLocks noChangeAspect="1"/>
          </p:cNvPicPr>
          <p:nvPr>
            <p:ph type="pic" idx="13"/>
          </p:nvPr>
        </p:nvPicPr>
        <p:blipFill>
          <a:blip r:embed="rId2">
            <a:extLst/>
          </a:blip>
          <a:srcRect l="0" t="2308" r="787" b="24368"/>
          <a:stretch>
            <a:fillRect/>
          </a:stretch>
        </p:blipFill>
        <p:spPr>
          <a:xfrm>
            <a:off x="-5161592" y="0"/>
            <a:ext cx="24742776" cy="13716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59" y="0"/>
                </a:moveTo>
                <a:lnTo>
                  <a:pt x="0" y="7678"/>
                </a:lnTo>
                <a:lnTo>
                  <a:pt x="0" y="21600"/>
                </a:lnTo>
                <a:lnTo>
                  <a:pt x="9618" y="21600"/>
                </a:lnTo>
                <a:lnTo>
                  <a:pt x="21600" y="0"/>
                </a:lnTo>
                <a:lnTo>
                  <a:pt x="4259" y="0"/>
                </a:lnTo>
                <a:close/>
              </a:path>
            </a:pathLst>
          </a:custGeom>
        </p:spPr>
      </p:pic>
      <p:sp>
        <p:nvSpPr>
          <p:cNvPr id="260" name="Рисунок 1"/>
          <p:cNvSpPr/>
          <p:nvPr/>
        </p:nvSpPr>
        <p:spPr>
          <a:xfrm>
            <a:off x="18956407" y="11069655"/>
            <a:ext cx="5267882" cy="265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61" name="Рисунок 1"/>
          <p:cNvSpPr/>
          <p:nvPr/>
        </p:nvSpPr>
        <p:spPr>
          <a:xfrm>
            <a:off x="15836934" y="13015413"/>
            <a:ext cx="3119474" cy="15747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62" name="Рисунок 1"/>
          <p:cNvSpPr/>
          <p:nvPr/>
        </p:nvSpPr>
        <p:spPr>
          <a:xfrm>
            <a:off x="19764480" y="9750234"/>
            <a:ext cx="2190308" cy="1105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63" name="Рисунок 1"/>
          <p:cNvSpPr/>
          <p:nvPr/>
        </p:nvSpPr>
        <p:spPr>
          <a:xfrm>
            <a:off x="23699224" y="9195017"/>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64" name="Рисунок 1"/>
          <p:cNvSpPr/>
          <p:nvPr/>
        </p:nvSpPr>
        <p:spPr>
          <a:xfrm>
            <a:off x="16346544" y="11645103"/>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grpSp>
        <p:nvGrpSpPr>
          <p:cNvPr id="267" name="Группа 2"/>
          <p:cNvGrpSpPr/>
          <p:nvPr/>
        </p:nvGrpSpPr>
        <p:grpSpPr>
          <a:xfrm>
            <a:off x="14699446" y="5847331"/>
            <a:ext cx="8999779" cy="5560397"/>
            <a:chOff x="0" y="-603249"/>
            <a:chExt cx="8999777" cy="5560396"/>
          </a:xfrm>
        </p:grpSpPr>
        <p:sp>
          <p:nvSpPr>
            <p:cNvPr id="265" name="Project…"/>
            <p:cNvSpPr txBox="1"/>
            <p:nvPr/>
          </p:nvSpPr>
          <p:spPr>
            <a:xfrm>
              <a:off x="0" y="-603250"/>
              <a:ext cx="8999778" cy="288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6000">
                  <a:solidFill>
                    <a:srgbClr val="252625"/>
                  </a:solidFill>
                  <a:latin typeface="Montserrat Bold"/>
                  <a:ea typeface="Montserrat Bold"/>
                  <a:cs typeface="Montserrat Bold"/>
                  <a:sym typeface="Montserrat Bold"/>
                </a:defRPr>
              </a:pPr>
              <a:r>
                <a:t>Ресурси, назначения и </a:t>
              </a:r>
              <a:r>
                <a:rPr>
                  <a:solidFill>
                    <a:srgbClr val="3F57D1"/>
                  </a:solidFill>
                </a:rPr>
                <a:t>Задачи</a:t>
              </a:r>
            </a:p>
          </p:txBody>
        </p:sp>
        <p:sp>
          <p:nvSpPr>
            <p:cNvPr id="266" name="Profesional Template for PowerPoint, Keynote, Google Slides"/>
            <p:cNvSpPr txBox="1"/>
            <p:nvPr/>
          </p:nvSpPr>
          <p:spPr>
            <a:xfrm>
              <a:off x="17489" y="2351106"/>
              <a:ext cx="7798529"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Отново при планирането на стойността на проекта се разглеждат същите два случая. Причината за което е, че жизненият цикъл и 3 бюджета на софтуера се планира различно при service company и product company.</a:t>
              </a:r>
            </a:p>
          </p:txBody>
        </p:sp>
      </p:grpSp>
      <p:sp>
        <p:nvSpPr>
          <p:cNvPr id="268" name="Рисунок 1"/>
          <p:cNvSpPr/>
          <p:nvPr/>
        </p:nvSpPr>
        <p:spPr>
          <a:xfrm>
            <a:off x="11153461" y="11360371"/>
            <a:ext cx="3119474" cy="15747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69" name="Рисунок 1"/>
          <p:cNvSpPr/>
          <p:nvPr/>
        </p:nvSpPr>
        <p:spPr>
          <a:xfrm>
            <a:off x="8547066" y="13369121"/>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
        <p:nvSpPr>
          <p:cNvPr id="270" name="Рисунок 1"/>
          <p:cNvSpPr/>
          <p:nvPr/>
        </p:nvSpPr>
        <p:spPr>
          <a:xfrm>
            <a:off x="22798064" y="2791477"/>
            <a:ext cx="1050127" cy="530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911" y="0"/>
                </a:lnTo>
                <a:lnTo>
                  <a:pt x="21600" y="0"/>
                </a:lnTo>
                <a:lnTo>
                  <a:pt x="10689" y="21600"/>
                </a:lnTo>
                <a:close/>
              </a:path>
            </a:pathLst>
          </a:custGeom>
          <a:solidFill>
            <a:srgbClr val="EBECEB"/>
          </a:solidFill>
          <a:ln w="12700">
            <a:miter lim="400000"/>
          </a:ln>
        </p:spPr>
        <p:txBody>
          <a:bodyPr lIns="0" tIns="0" rIns="0" bIns="0"/>
          <a:lstStyle/>
          <a:p>
            <a:pPr/>
          </a:p>
        </p:txBody>
      </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267"/>
                                        </p:tgtEl>
                                        <p:attrNameLst>
                                          <p:attrName>style.visibility</p:attrName>
                                        </p:attrNameLst>
                                      </p:cBhvr>
                                      <p:to>
                                        <p:strVal val="visible"/>
                                      </p:to>
                                    </p:set>
                                    <p:anim calcmode="lin" valueType="num">
                                      <p:cBhvr>
                                        <p:cTn id="7" dur="500" fill="hold"/>
                                        <p:tgtEl>
                                          <p:spTgt spid="267"/>
                                        </p:tgtEl>
                                        <p:attrNameLst>
                                          <p:attrName>ppt_x</p:attrName>
                                        </p:attrNameLst>
                                      </p:cBhvr>
                                      <p:tavLst>
                                        <p:tav tm="0">
                                          <p:val>
                                            <p:strVal val="#ppt_x"/>
                                          </p:val>
                                        </p:tav>
                                        <p:tav tm="100000">
                                          <p:val>
                                            <p:strVal val="#ppt_x"/>
                                          </p:val>
                                        </p:tav>
                                      </p:tavLst>
                                    </p:anim>
                                    <p:anim calcmode="lin" valueType="num">
                                      <p:cBhvr>
                                        <p:cTn id="8" dur="500" fill="hold"/>
                                        <p:tgtEl>
                                          <p:spTgt spid="2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259"/>
                                        </p:tgtEl>
                                        <p:attrNameLst>
                                          <p:attrName>style.visibility</p:attrName>
                                        </p:attrNameLst>
                                      </p:cBhvr>
                                      <p:to>
                                        <p:strVal val="visible"/>
                                      </p:to>
                                    </p:set>
                                    <p:animEffect filter="dissolve" transition="in">
                                      <p:cBhvr>
                                        <p:cTn id="13"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9" grpId="2"/>
      <p:bldP build="whole" bldLvl="1" animBg="1" rev="0" advAuto="0" spid="267"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Project…"/>
          <p:cNvSpPr txBox="1"/>
          <p:nvPr/>
        </p:nvSpPr>
        <p:spPr>
          <a:xfrm>
            <a:off x="2105023" y="1904241"/>
            <a:ext cx="6540883"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Методи за </a:t>
            </a:r>
            <a:r>
              <a:rPr>
                <a:solidFill>
                  <a:srgbClr val="3F57D1"/>
                </a:solidFill>
              </a:rPr>
              <a:t>Планиране</a:t>
            </a:r>
          </a:p>
        </p:txBody>
      </p:sp>
      <p:grpSp>
        <p:nvGrpSpPr>
          <p:cNvPr id="276" name="Группа 22"/>
          <p:cNvGrpSpPr/>
          <p:nvPr/>
        </p:nvGrpSpPr>
        <p:grpSpPr>
          <a:xfrm>
            <a:off x="2151080" y="5071914"/>
            <a:ext cx="9146176" cy="3950417"/>
            <a:chOff x="0" y="0"/>
            <a:chExt cx="9146175" cy="3950416"/>
          </a:xfrm>
        </p:grpSpPr>
        <p:sp>
          <p:nvSpPr>
            <p:cNvPr id="273" name="Profesional Template for PowerPoint, Keynote, Google Slides"/>
            <p:cNvSpPr txBox="1"/>
            <p:nvPr/>
          </p:nvSpPr>
          <p:spPr>
            <a:xfrm>
              <a:off x="0" y="826216"/>
              <a:ext cx="9146176" cy="3124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При метода отгоре-надолу се преценя стойността на проекта на базата стари разработки на фирмата, като не се взима под внимание толкова малките задачи по проекта, а той се разглежда от страната на големите задачи в него. Получава се сравнително точна оценка на стойността на проекта.</a:t>
              </a:r>
            </a:p>
          </p:txBody>
        </p:sp>
        <p:sp>
          <p:nvSpPr>
            <p:cNvPr id="274" name="Project…"/>
            <p:cNvSpPr txBox="1"/>
            <p:nvPr/>
          </p:nvSpPr>
          <p:spPr>
            <a:xfrm>
              <a:off x="821940" y="0"/>
              <a:ext cx="4885094" cy="533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Отгоре-надолу</a:t>
              </a:r>
            </a:p>
          </p:txBody>
        </p:sp>
        <p:sp>
          <p:nvSpPr>
            <p:cNvPr id="275" name="Freeform 5"/>
            <p:cNvSpPr/>
            <p:nvPr/>
          </p:nvSpPr>
          <p:spPr>
            <a:xfrm>
              <a:off x="0" y="15733"/>
              <a:ext cx="520470" cy="5169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3" y="0"/>
                  </a:moveTo>
                  <a:cubicBezTo>
                    <a:pt x="4929" y="0"/>
                    <a:pt x="0" y="4800"/>
                    <a:pt x="0" y="10800"/>
                  </a:cubicBezTo>
                  <a:cubicBezTo>
                    <a:pt x="0" y="16833"/>
                    <a:pt x="5028" y="21600"/>
                    <a:pt x="10883" y="21600"/>
                  </a:cubicBezTo>
                  <a:cubicBezTo>
                    <a:pt x="16771" y="21600"/>
                    <a:pt x="21600" y="16833"/>
                    <a:pt x="21600" y="10800"/>
                  </a:cubicBezTo>
                  <a:cubicBezTo>
                    <a:pt x="21600" y="4800"/>
                    <a:pt x="16671" y="0"/>
                    <a:pt x="10883" y="0"/>
                  </a:cubicBezTo>
                  <a:close/>
                  <a:moveTo>
                    <a:pt x="8633" y="16200"/>
                  </a:moveTo>
                  <a:lnTo>
                    <a:pt x="3275" y="10800"/>
                  </a:lnTo>
                  <a:lnTo>
                    <a:pt x="4730" y="9367"/>
                  </a:lnTo>
                  <a:lnTo>
                    <a:pt x="8633" y="13300"/>
                  </a:lnTo>
                  <a:lnTo>
                    <a:pt x="16870" y="5000"/>
                  </a:lnTo>
                  <a:lnTo>
                    <a:pt x="18325" y="6433"/>
                  </a:lnTo>
                  <a:lnTo>
                    <a:pt x="8633" y="16200"/>
                  </a:lnTo>
                  <a:close/>
                </a:path>
              </a:pathLst>
            </a:custGeom>
            <a:solidFill>
              <a:srgbClr val="3F57D1"/>
            </a:solidFill>
            <a:ln w="12700" cap="flat">
              <a:noFill/>
              <a:miter lim="400000"/>
            </a:ln>
            <a:effectLst/>
          </p:spPr>
          <p:txBody>
            <a:bodyPr wrap="square" lIns="0" tIns="0" rIns="0" bIns="0" numCol="1" anchor="ctr">
              <a:noAutofit/>
            </a:bodyPr>
            <a:lstStyle/>
            <a:p>
              <a:pPr/>
            </a:p>
          </p:txBody>
        </p:sp>
      </p:grpSp>
      <p:grpSp>
        <p:nvGrpSpPr>
          <p:cNvPr id="280" name="Группа 24"/>
          <p:cNvGrpSpPr/>
          <p:nvPr/>
        </p:nvGrpSpPr>
        <p:grpSpPr>
          <a:xfrm>
            <a:off x="13229975" y="5071914"/>
            <a:ext cx="9146176" cy="5504897"/>
            <a:chOff x="0" y="0"/>
            <a:chExt cx="9146175" cy="5504896"/>
          </a:xfrm>
        </p:grpSpPr>
        <p:sp>
          <p:nvSpPr>
            <p:cNvPr id="277" name="Profesional Template for PowerPoint, Keynote, Google Slides"/>
            <p:cNvSpPr txBox="1"/>
            <p:nvPr/>
          </p:nvSpPr>
          <p:spPr>
            <a:xfrm>
              <a:off x="0" y="826216"/>
              <a:ext cx="9146176" cy="4678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При метода отдолу-нагоре се използва структурата WBS(work breakdown structure). При него се идентифицират простите задачи от страната на хората, които ще ги изпълняват. Като така може да се даде много точна оценка. Ресурси като труд и материали се преобразуват в цена и се натрупват към всяко от нивата в проекта. Към получената стойност, project manager-ът начислява и допълнителни средства за извънредни разходи (тип резерв).</a:t>
              </a:r>
            </a:p>
          </p:txBody>
        </p:sp>
        <p:sp>
          <p:nvSpPr>
            <p:cNvPr id="278" name="Project…"/>
            <p:cNvSpPr txBox="1"/>
            <p:nvPr/>
          </p:nvSpPr>
          <p:spPr>
            <a:xfrm>
              <a:off x="821940" y="0"/>
              <a:ext cx="4885094" cy="533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Отдолу-нагоре</a:t>
              </a:r>
            </a:p>
          </p:txBody>
        </p:sp>
        <p:sp>
          <p:nvSpPr>
            <p:cNvPr id="279" name="Freeform 5"/>
            <p:cNvSpPr/>
            <p:nvPr/>
          </p:nvSpPr>
          <p:spPr>
            <a:xfrm>
              <a:off x="0" y="15733"/>
              <a:ext cx="520470" cy="5169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3" y="0"/>
                  </a:moveTo>
                  <a:cubicBezTo>
                    <a:pt x="4929" y="0"/>
                    <a:pt x="0" y="4800"/>
                    <a:pt x="0" y="10800"/>
                  </a:cubicBezTo>
                  <a:cubicBezTo>
                    <a:pt x="0" y="16833"/>
                    <a:pt x="5028" y="21600"/>
                    <a:pt x="10883" y="21600"/>
                  </a:cubicBezTo>
                  <a:cubicBezTo>
                    <a:pt x="16771" y="21600"/>
                    <a:pt x="21600" y="16833"/>
                    <a:pt x="21600" y="10800"/>
                  </a:cubicBezTo>
                  <a:cubicBezTo>
                    <a:pt x="21600" y="4800"/>
                    <a:pt x="16671" y="0"/>
                    <a:pt x="10883" y="0"/>
                  </a:cubicBezTo>
                  <a:close/>
                  <a:moveTo>
                    <a:pt x="8633" y="16200"/>
                  </a:moveTo>
                  <a:lnTo>
                    <a:pt x="3275" y="10800"/>
                  </a:lnTo>
                  <a:lnTo>
                    <a:pt x="4730" y="9367"/>
                  </a:lnTo>
                  <a:lnTo>
                    <a:pt x="8633" y="13300"/>
                  </a:lnTo>
                  <a:lnTo>
                    <a:pt x="16870" y="5000"/>
                  </a:lnTo>
                  <a:lnTo>
                    <a:pt x="18325" y="6433"/>
                  </a:lnTo>
                  <a:lnTo>
                    <a:pt x="8633" y="16200"/>
                  </a:lnTo>
                  <a:close/>
                </a:path>
              </a:pathLst>
            </a:custGeom>
            <a:solidFill>
              <a:srgbClr val="3F57D1"/>
            </a:solidFill>
            <a:ln w="12700" cap="flat">
              <a:noFill/>
              <a:miter lim="400000"/>
            </a:ln>
            <a:effectLst/>
          </p:spPr>
          <p:txBody>
            <a:bodyPr wrap="square" lIns="0" tIns="0" rIns="0" bIns="0" numCol="1" anchor="ctr">
              <a:noAutofit/>
            </a:bodyPr>
            <a:lstStyle/>
            <a:p>
              <a:pP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72"/>
                                        </p:tgtEl>
                                        <p:attrNameLst>
                                          <p:attrName>style.visibility</p:attrName>
                                        </p:attrNameLst>
                                      </p:cBhvr>
                                      <p:to>
                                        <p:strVal val="visible"/>
                                      </p:to>
                                    </p:set>
                                    <p:animEffect filter="dissolve" transition="in">
                                      <p:cBhvr>
                                        <p:cTn id="7" dur="500"/>
                                        <p:tgtEl>
                                          <p:spTgt spid="27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276"/>
                                        </p:tgtEl>
                                        <p:attrNameLst>
                                          <p:attrName>style.visibility</p:attrName>
                                        </p:attrNameLst>
                                      </p:cBhvr>
                                      <p:to>
                                        <p:strVal val="visible"/>
                                      </p:to>
                                    </p:set>
                                    <p:anim calcmode="lin" valueType="num">
                                      <p:cBhvr>
                                        <p:cTn id="12" dur="500" fill="hold"/>
                                        <p:tgtEl>
                                          <p:spTgt spid="276"/>
                                        </p:tgtEl>
                                        <p:attrNameLst>
                                          <p:attrName>ppt_x</p:attrName>
                                        </p:attrNameLst>
                                      </p:cBhvr>
                                      <p:tavLst>
                                        <p:tav tm="0">
                                          <p:val>
                                            <p:strVal val="#ppt_x"/>
                                          </p:val>
                                        </p:tav>
                                        <p:tav tm="100000">
                                          <p:val>
                                            <p:strVal val="#ppt_x"/>
                                          </p:val>
                                        </p:tav>
                                      </p:tavLst>
                                    </p:anim>
                                    <p:anim calcmode="lin" valueType="num">
                                      <p:cBhvr>
                                        <p:cTn id="13" dur="500" fill="hold"/>
                                        <p:tgtEl>
                                          <p:spTgt spid="27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4" presetID="2" grpId="3" fill="hold">
                                  <p:stCondLst>
                                    <p:cond delay="0"/>
                                  </p:stCondLst>
                                  <p:iterate type="el" backwards="0">
                                    <p:tmAbs val="0"/>
                                  </p:iterate>
                                  <p:childTnLst>
                                    <p:set>
                                      <p:cBhvr>
                                        <p:cTn id="17" fill="hold"/>
                                        <p:tgtEl>
                                          <p:spTgt spid="280"/>
                                        </p:tgtEl>
                                        <p:attrNameLst>
                                          <p:attrName>style.visibility</p:attrName>
                                        </p:attrNameLst>
                                      </p:cBhvr>
                                      <p:to>
                                        <p:strVal val="visible"/>
                                      </p:to>
                                    </p:set>
                                    <p:anim calcmode="lin" valueType="num">
                                      <p:cBhvr>
                                        <p:cTn id="18" dur="500" fill="hold"/>
                                        <p:tgtEl>
                                          <p:spTgt spid="280"/>
                                        </p:tgtEl>
                                        <p:attrNameLst>
                                          <p:attrName>ppt_x</p:attrName>
                                        </p:attrNameLst>
                                      </p:cBhvr>
                                      <p:tavLst>
                                        <p:tav tm="0">
                                          <p:val>
                                            <p:strVal val="#ppt_x"/>
                                          </p:val>
                                        </p:tav>
                                        <p:tav tm="100000">
                                          <p:val>
                                            <p:strVal val="#ppt_x"/>
                                          </p:val>
                                        </p:tav>
                                      </p:tavLst>
                                    </p:anim>
                                    <p:anim calcmode="lin" valueType="num">
                                      <p:cBhvr>
                                        <p:cTn id="19" dur="500" fill="hold"/>
                                        <p:tgtEl>
                                          <p:spTgt spid="2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6" grpId="2"/>
      <p:bldP build="whole" bldLvl="1" animBg="1" rev="0" advAuto="0" spid="272" grpId="1"/>
      <p:bldP build="whole" bldLvl="1" animBg="1" rev="0" advAuto="0" spid="280"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Project…"/>
          <p:cNvSpPr txBox="1"/>
          <p:nvPr/>
        </p:nvSpPr>
        <p:spPr>
          <a:xfrm>
            <a:off x="2096589" y="1873569"/>
            <a:ext cx="10370475"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Roadmap на</a:t>
            </a:r>
            <a:endParaRPr>
              <a:solidFill>
                <a:srgbClr val="141413"/>
              </a:solidFill>
            </a:endParaRPr>
          </a:p>
          <a:p>
            <a:pPr algn="l">
              <a:defRPr b="0" cap="all" sz="6000">
                <a:solidFill>
                  <a:srgbClr val="3F57D1"/>
                </a:solidFill>
                <a:latin typeface="Montserrat Bold"/>
                <a:ea typeface="Montserrat Bold"/>
                <a:cs typeface="Montserrat Bold"/>
                <a:sym typeface="Montserrat Bold"/>
              </a:defRPr>
            </a:pPr>
            <a:r>
              <a:t>проекта</a:t>
            </a:r>
          </a:p>
        </p:txBody>
      </p:sp>
      <p:grpSp>
        <p:nvGrpSpPr>
          <p:cNvPr id="318" name="Группа 13"/>
          <p:cNvGrpSpPr/>
          <p:nvPr/>
        </p:nvGrpSpPr>
        <p:grpSpPr>
          <a:xfrm>
            <a:off x="2133598" y="10350197"/>
            <a:ext cx="20116804" cy="1653731"/>
            <a:chOff x="0" y="0"/>
            <a:chExt cx="20116803" cy="1653729"/>
          </a:xfrm>
        </p:grpSpPr>
        <p:sp>
          <p:nvSpPr>
            <p:cNvPr id="283" name="Прямая соединительная линия 69"/>
            <p:cNvSpPr/>
            <p:nvPr/>
          </p:nvSpPr>
          <p:spPr>
            <a:xfrm>
              <a:off x="0" y="265769"/>
              <a:ext cx="20116804" cy="1"/>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4" name="Прямая соединительная линия 77"/>
            <p:cNvSpPr/>
            <p:nvPr/>
          </p:nvSpPr>
          <p:spPr>
            <a:xfrm flipH="1">
              <a:off x="832626" y="0"/>
              <a:ext cx="1" cy="512956"/>
            </a:xfrm>
            <a:prstGeom prst="line">
              <a:avLst/>
            </a:prstGeom>
            <a:noFill/>
            <a:ln w="38100" cap="flat">
              <a:solidFill>
                <a:srgbClr val="6F706E"/>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5" name="Прямая соединительная линия 104"/>
            <p:cNvSpPr/>
            <p:nvPr/>
          </p:nvSpPr>
          <p:spPr>
            <a:xfrm>
              <a:off x="1986080"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6" name="Прямая соединительная линия 105"/>
            <p:cNvSpPr/>
            <p:nvPr/>
          </p:nvSpPr>
          <p:spPr>
            <a:xfrm>
              <a:off x="3139534"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7" name="Прямая соединительная линия 106"/>
            <p:cNvSpPr/>
            <p:nvPr/>
          </p:nvSpPr>
          <p:spPr>
            <a:xfrm>
              <a:off x="4292988"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8" name="Прямая соединительная линия 120"/>
            <p:cNvSpPr/>
            <p:nvPr/>
          </p:nvSpPr>
          <p:spPr>
            <a:xfrm>
              <a:off x="5446441" y="0"/>
              <a:ext cx="1" cy="512956"/>
            </a:xfrm>
            <a:prstGeom prst="line">
              <a:avLst/>
            </a:prstGeom>
            <a:noFill/>
            <a:ln w="38100" cap="flat">
              <a:solidFill>
                <a:srgbClr val="6F706E"/>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89" name="Прямая соединительная линия 121"/>
            <p:cNvSpPr/>
            <p:nvPr/>
          </p:nvSpPr>
          <p:spPr>
            <a:xfrm>
              <a:off x="6599895"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0" name="Прямая соединительная линия 122"/>
            <p:cNvSpPr/>
            <p:nvPr/>
          </p:nvSpPr>
          <p:spPr>
            <a:xfrm>
              <a:off x="7753349"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1" name="Прямая соединительная линия 123"/>
            <p:cNvSpPr/>
            <p:nvPr/>
          </p:nvSpPr>
          <p:spPr>
            <a:xfrm>
              <a:off x="8906803"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2" name="Прямая соединительная линия 124"/>
            <p:cNvSpPr/>
            <p:nvPr/>
          </p:nvSpPr>
          <p:spPr>
            <a:xfrm>
              <a:off x="10060257" y="0"/>
              <a:ext cx="1" cy="512956"/>
            </a:xfrm>
            <a:prstGeom prst="line">
              <a:avLst/>
            </a:prstGeom>
            <a:noFill/>
            <a:ln w="38100" cap="flat">
              <a:solidFill>
                <a:srgbClr val="6F706E"/>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3" name="Прямая соединительная линия 125"/>
            <p:cNvSpPr/>
            <p:nvPr/>
          </p:nvSpPr>
          <p:spPr>
            <a:xfrm>
              <a:off x="11213711"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4" name="Прямая соединительная линия 126"/>
            <p:cNvSpPr/>
            <p:nvPr/>
          </p:nvSpPr>
          <p:spPr>
            <a:xfrm>
              <a:off x="12367165"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5" name="Прямая соединительная линия 127"/>
            <p:cNvSpPr/>
            <p:nvPr/>
          </p:nvSpPr>
          <p:spPr>
            <a:xfrm>
              <a:off x="13520619"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6" name="Прямая соединительная линия 128"/>
            <p:cNvSpPr/>
            <p:nvPr/>
          </p:nvSpPr>
          <p:spPr>
            <a:xfrm>
              <a:off x="14674073" y="0"/>
              <a:ext cx="1" cy="512956"/>
            </a:xfrm>
            <a:prstGeom prst="line">
              <a:avLst/>
            </a:prstGeom>
            <a:noFill/>
            <a:ln w="38100" cap="flat">
              <a:solidFill>
                <a:srgbClr val="6F706E"/>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7" name="Прямая соединительная линия 129"/>
            <p:cNvSpPr/>
            <p:nvPr/>
          </p:nvSpPr>
          <p:spPr>
            <a:xfrm>
              <a:off x="15827527"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8" name="Прямая соединительная линия 130"/>
            <p:cNvSpPr/>
            <p:nvPr/>
          </p:nvSpPr>
          <p:spPr>
            <a:xfrm>
              <a:off x="16980980"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299" name="Прямая соединительная линия 131"/>
            <p:cNvSpPr/>
            <p:nvPr/>
          </p:nvSpPr>
          <p:spPr>
            <a:xfrm>
              <a:off x="18134434" y="146823"/>
              <a:ext cx="1" cy="219310"/>
            </a:xfrm>
            <a:prstGeom prst="line">
              <a:avLst/>
            </a:prstGeom>
            <a:noFill/>
            <a:ln w="38100" cap="flat">
              <a:solidFill>
                <a:srgbClr val="EBECEB"/>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00" name="Прямая соединительная линия 132"/>
            <p:cNvSpPr/>
            <p:nvPr/>
          </p:nvSpPr>
          <p:spPr>
            <a:xfrm>
              <a:off x="19287893" y="0"/>
              <a:ext cx="1" cy="512956"/>
            </a:xfrm>
            <a:prstGeom prst="line">
              <a:avLst/>
            </a:prstGeom>
            <a:noFill/>
            <a:ln w="38100" cap="flat">
              <a:solidFill>
                <a:srgbClr val="6F706E"/>
              </a:solidFill>
              <a:prstDash val="solid"/>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01" name="Profesional Template for PowerPoint, Keynote, Google Slides"/>
            <p:cNvSpPr txBox="1"/>
            <p:nvPr/>
          </p:nvSpPr>
          <p:spPr>
            <a:xfrm>
              <a:off x="128097" y="602169"/>
              <a:ext cx="1401626"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nSpc>
                  <a:spcPct val="120000"/>
                </a:lnSpc>
                <a:defRPr b="0" sz="2600">
                  <a:solidFill>
                    <a:srgbClr val="252625"/>
                  </a:solidFill>
                  <a:latin typeface="Roboto Bold"/>
                  <a:ea typeface="Roboto Bold"/>
                  <a:cs typeface="Roboto Bold"/>
                  <a:sym typeface="Roboto Bold"/>
                </a:defRPr>
              </a:pPr>
              <a:r>
                <a:t>Q1</a:t>
              </a:r>
              <a:endParaRPr>
                <a:solidFill>
                  <a:srgbClr val="646977"/>
                </a:solidFill>
              </a:endParaRPr>
            </a:p>
            <a:p>
              <a:pPr>
                <a:lnSpc>
                  <a:spcPct val="120000"/>
                </a:lnSpc>
                <a:defRPr b="0" sz="2600">
                  <a:solidFill>
                    <a:srgbClr val="252625"/>
                  </a:solidFill>
                  <a:latin typeface="Roboto Bold"/>
                  <a:ea typeface="Roboto Bold"/>
                  <a:cs typeface="Roboto Bold"/>
                  <a:sym typeface="Roboto Bold"/>
                </a:defRPr>
              </a:pPr>
              <a:r>
                <a:t>20YY</a:t>
              </a:r>
            </a:p>
          </p:txBody>
        </p:sp>
        <p:sp>
          <p:nvSpPr>
            <p:cNvPr id="302" name="Profesional Template for PowerPoint, Keynote, Google Slides"/>
            <p:cNvSpPr txBox="1"/>
            <p:nvPr/>
          </p:nvSpPr>
          <p:spPr>
            <a:xfrm>
              <a:off x="1568164" y="615925"/>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Q2</a:t>
              </a:r>
            </a:p>
          </p:txBody>
        </p:sp>
        <p:sp>
          <p:nvSpPr>
            <p:cNvPr id="303" name="Profesional Template for PowerPoint, Keynote, Google Slides"/>
            <p:cNvSpPr txBox="1"/>
            <p:nvPr/>
          </p:nvSpPr>
          <p:spPr>
            <a:xfrm>
              <a:off x="2718175" y="615925"/>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Q3</a:t>
              </a:r>
            </a:p>
          </p:txBody>
        </p:sp>
        <p:sp>
          <p:nvSpPr>
            <p:cNvPr id="304" name="Profesional Template for PowerPoint, Keynote, Google Slides"/>
            <p:cNvSpPr txBox="1"/>
            <p:nvPr/>
          </p:nvSpPr>
          <p:spPr>
            <a:xfrm>
              <a:off x="3868185" y="615925"/>
              <a:ext cx="866118"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Q4</a:t>
              </a:r>
            </a:p>
          </p:txBody>
        </p:sp>
        <p:sp>
          <p:nvSpPr>
            <p:cNvPr id="305" name="Profesional Template for PowerPoint, Keynote, Google Slides"/>
            <p:cNvSpPr txBox="1"/>
            <p:nvPr/>
          </p:nvSpPr>
          <p:spPr>
            <a:xfrm>
              <a:off x="6195754" y="638225"/>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Q2</a:t>
              </a:r>
            </a:p>
          </p:txBody>
        </p:sp>
        <p:sp>
          <p:nvSpPr>
            <p:cNvPr id="306" name="Profesional Template for PowerPoint, Keynote, Google Slides"/>
            <p:cNvSpPr txBox="1"/>
            <p:nvPr/>
          </p:nvSpPr>
          <p:spPr>
            <a:xfrm>
              <a:off x="7345765" y="638225"/>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Q3</a:t>
              </a:r>
            </a:p>
          </p:txBody>
        </p:sp>
        <p:sp>
          <p:nvSpPr>
            <p:cNvPr id="307" name="Profesional Template for PowerPoint, Keynote, Google Slides"/>
            <p:cNvSpPr txBox="1"/>
            <p:nvPr/>
          </p:nvSpPr>
          <p:spPr>
            <a:xfrm>
              <a:off x="8495776" y="638225"/>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Q4</a:t>
              </a:r>
            </a:p>
          </p:txBody>
        </p:sp>
        <p:sp>
          <p:nvSpPr>
            <p:cNvPr id="308" name="Profesional Template for PowerPoint, Keynote, Google Slides"/>
            <p:cNvSpPr txBox="1"/>
            <p:nvPr/>
          </p:nvSpPr>
          <p:spPr>
            <a:xfrm>
              <a:off x="10779659"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Q2</a:t>
              </a:r>
            </a:p>
          </p:txBody>
        </p:sp>
        <p:sp>
          <p:nvSpPr>
            <p:cNvPr id="309" name="Profesional Template for PowerPoint, Keynote, Google Slides"/>
            <p:cNvSpPr txBox="1"/>
            <p:nvPr/>
          </p:nvSpPr>
          <p:spPr>
            <a:xfrm>
              <a:off x="11929670"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Q3</a:t>
              </a:r>
            </a:p>
          </p:txBody>
        </p:sp>
        <p:sp>
          <p:nvSpPr>
            <p:cNvPr id="310" name="Profesional Template for PowerPoint, Keynote, Google Slides"/>
            <p:cNvSpPr txBox="1"/>
            <p:nvPr/>
          </p:nvSpPr>
          <p:spPr>
            <a:xfrm>
              <a:off x="13079680"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Q4</a:t>
              </a:r>
            </a:p>
          </p:txBody>
        </p:sp>
        <p:sp>
          <p:nvSpPr>
            <p:cNvPr id="311" name="Profesional Template for PowerPoint, Keynote, Google Slides"/>
            <p:cNvSpPr txBox="1"/>
            <p:nvPr/>
          </p:nvSpPr>
          <p:spPr>
            <a:xfrm>
              <a:off x="15404800"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Q2</a:t>
              </a:r>
            </a:p>
          </p:txBody>
        </p:sp>
        <p:sp>
          <p:nvSpPr>
            <p:cNvPr id="312" name="Profesional Template for PowerPoint, Keynote, Google Slides"/>
            <p:cNvSpPr txBox="1"/>
            <p:nvPr/>
          </p:nvSpPr>
          <p:spPr>
            <a:xfrm>
              <a:off x="16554812"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Q3</a:t>
              </a:r>
            </a:p>
          </p:txBody>
        </p:sp>
        <p:sp>
          <p:nvSpPr>
            <p:cNvPr id="313" name="Profesional Template for PowerPoint, Keynote, Google Slides"/>
            <p:cNvSpPr txBox="1"/>
            <p:nvPr/>
          </p:nvSpPr>
          <p:spPr>
            <a:xfrm>
              <a:off x="17704823" y="638228"/>
              <a:ext cx="866117"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nSpc>
                  <a:spcPct val="120000"/>
                </a:lnSpc>
                <a:defRPr b="0" sz="2600">
                  <a:solidFill>
                    <a:srgbClr val="6F706E"/>
                  </a:solidFill>
                  <a:latin typeface="Roboto Regular"/>
                  <a:ea typeface="Roboto Regular"/>
                  <a:cs typeface="Roboto Regular"/>
                  <a:sym typeface="Roboto Regular"/>
                </a:defRPr>
              </a:lvl1pPr>
            </a:lstStyle>
            <a:p>
              <a:pPr/>
              <a:r>
                <a:t>Q4</a:t>
              </a:r>
            </a:p>
          </p:txBody>
        </p:sp>
        <p:sp>
          <p:nvSpPr>
            <p:cNvPr id="314" name="Profesional Template for PowerPoint, Keynote, Google Slides"/>
            <p:cNvSpPr txBox="1"/>
            <p:nvPr/>
          </p:nvSpPr>
          <p:spPr>
            <a:xfrm>
              <a:off x="4764673" y="596910"/>
              <a:ext cx="1401626"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nSpc>
                  <a:spcPct val="120000"/>
                </a:lnSpc>
                <a:defRPr b="0" sz="2600">
                  <a:solidFill>
                    <a:srgbClr val="252625"/>
                  </a:solidFill>
                  <a:latin typeface="Roboto Bold"/>
                  <a:ea typeface="Roboto Bold"/>
                  <a:cs typeface="Roboto Bold"/>
                  <a:sym typeface="Roboto Bold"/>
                </a:defRPr>
              </a:pPr>
              <a:r>
                <a:t>Q1</a:t>
              </a:r>
              <a:endParaRPr>
                <a:solidFill>
                  <a:srgbClr val="646977"/>
                </a:solidFill>
              </a:endParaRPr>
            </a:p>
            <a:p>
              <a:pPr>
                <a:lnSpc>
                  <a:spcPct val="120000"/>
                </a:lnSpc>
                <a:defRPr b="0" sz="2600">
                  <a:solidFill>
                    <a:srgbClr val="252625"/>
                  </a:solidFill>
                  <a:latin typeface="Roboto Bold"/>
                  <a:ea typeface="Roboto Bold"/>
                  <a:cs typeface="Roboto Bold"/>
                  <a:sym typeface="Roboto Bold"/>
                </a:defRPr>
              </a:pPr>
              <a:r>
                <a:t>20YY</a:t>
              </a:r>
            </a:p>
          </p:txBody>
        </p:sp>
        <p:sp>
          <p:nvSpPr>
            <p:cNvPr id="315" name="Profesional Template for PowerPoint, Keynote, Google Slides"/>
            <p:cNvSpPr txBox="1"/>
            <p:nvPr/>
          </p:nvSpPr>
          <p:spPr>
            <a:xfrm>
              <a:off x="9378033" y="596908"/>
              <a:ext cx="1401626"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nSpc>
                  <a:spcPct val="120000"/>
                </a:lnSpc>
                <a:defRPr b="0" sz="2600">
                  <a:solidFill>
                    <a:srgbClr val="252625"/>
                  </a:solidFill>
                  <a:latin typeface="Roboto Bold"/>
                  <a:ea typeface="Roboto Bold"/>
                  <a:cs typeface="Roboto Bold"/>
                  <a:sym typeface="Roboto Bold"/>
                </a:defRPr>
              </a:pPr>
              <a:r>
                <a:t>Q1</a:t>
              </a:r>
              <a:endParaRPr>
                <a:solidFill>
                  <a:srgbClr val="646977"/>
                </a:solidFill>
              </a:endParaRPr>
            </a:p>
            <a:p>
              <a:pPr>
                <a:lnSpc>
                  <a:spcPct val="120000"/>
                </a:lnSpc>
                <a:defRPr b="0" sz="2600">
                  <a:solidFill>
                    <a:srgbClr val="252625"/>
                  </a:solidFill>
                  <a:latin typeface="Roboto Bold"/>
                  <a:ea typeface="Roboto Bold"/>
                  <a:cs typeface="Roboto Bold"/>
                  <a:sym typeface="Roboto Bold"/>
                </a:defRPr>
              </a:pPr>
              <a:r>
                <a:t>20YY</a:t>
              </a:r>
            </a:p>
          </p:txBody>
        </p:sp>
        <p:sp>
          <p:nvSpPr>
            <p:cNvPr id="316" name="Profesional Template for PowerPoint, Keynote, Google Slides"/>
            <p:cNvSpPr txBox="1"/>
            <p:nvPr/>
          </p:nvSpPr>
          <p:spPr>
            <a:xfrm>
              <a:off x="13978849" y="596908"/>
              <a:ext cx="1401626"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nSpc>
                  <a:spcPct val="120000"/>
                </a:lnSpc>
                <a:defRPr b="0" sz="2600">
                  <a:solidFill>
                    <a:srgbClr val="252625"/>
                  </a:solidFill>
                  <a:latin typeface="Roboto Bold"/>
                  <a:ea typeface="Roboto Bold"/>
                  <a:cs typeface="Roboto Bold"/>
                  <a:sym typeface="Roboto Bold"/>
                </a:defRPr>
              </a:pPr>
              <a:r>
                <a:t>Q1</a:t>
              </a:r>
              <a:endParaRPr>
                <a:solidFill>
                  <a:srgbClr val="646977"/>
                </a:solidFill>
              </a:endParaRPr>
            </a:p>
            <a:p>
              <a:pPr>
                <a:lnSpc>
                  <a:spcPct val="120000"/>
                </a:lnSpc>
                <a:defRPr b="0" sz="2600">
                  <a:solidFill>
                    <a:srgbClr val="252625"/>
                  </a:solidFill>
                  <a:latin typeface="Roboto Bold"/>
                  <a:ea typeface="Roboto Bold"/>
                  <a:cs typeface="Roboto Bold"/>
                  <a:sym typeface="Roboto Bold"/>
                </a:defRPr>
              </a:pPr>
              <a:r>
                <a:t>20YY</a:t>
              </a:r>
            </a:p>
          </p:txBody>
        </p:sp>
        <p:sp>
          <p:nvSpPr>
            <p:cNvPr id="317" name="Profesional Template for PowerPoint, Keynote, Google Slides"/>
            <p:cNvSpPr txBox="1"/>
            <p:nvPr/>
          </p:nvSpPr>
          <p:spPr>
            <a:xfrm>
              <a:off x="18584505" y="596908"/>
              <a:ext cx="1401626"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nSpc>
                  <a:spcPct val="120000"/>
                </a:lnSpc>
                <a:defRPr b="0" sz="2600">
                  <a:solidFill>
                    <a:srgbClr val="252625"/>
                  </a:solidFill>
                  <a:latin typeface="Roboto Bold"/>
                  <a:ea typeface="Roboto Bold"/>
                  <a:cs typeface="Roboto Bold"/>
                  <a:sym typeface="Roboto Bold"/>
                </a:defRPr>
              </a:pPr>
              <a:r>
                <a:t>Q1</a:t>
              </a:r>
              <a:endParaRPr>
                <a:solidFill>
                  <a:srgbClr val="646977"/>
                </a:solidFill>
              </a:endParaRPr>
            </a:p>
            <a:p>
              <a:pPr>
                <a:lnSpc>
                  <a:spcPct val="120000"/>
                </a:lnSpc>
                <a:defRPr b="0" sz="2600">
                  <a:solidFill>
                    <a:srgbClr val="252625"/>
                  </a:solidFill>
                  <a:latin typeface="Roboto Bold"/>
                  <a:ea typeface="Roboto Bold"/>
                  <a:cs typeface="Roboto Bold"/>
                  <a:sym typeface="Roboto Bold"/>
                </a:defRPr>
              </a:pPr>
              <a:r>
                <a:t>20YY</a:t>
              </a:r>
            </a:p>
          </p:txBody>
        </p:sp>
      </p:grpSp>
      <p:grpSp>
        <p:nvGrpSpPr>
          <p:cNvPr id="329" name="Группа 10"/>
          <p:cNvGrpSpPr/>
          <p:nvPr/>
        </p:nvGrpSpPr>
        <p:grpSpPr>
          <a:xfrm>
            <a:off x="15631588" y="3061541"/>
            <a:ext cx="2349009" cy="6922524"/>
            <a:chOff x="0" y="0"/>
            <a:chExt cx="2349007" cy="6922523"/>
          </a:xfrm>
        </p:grpSpPr>
        <p:grpSp>
          <p:nvGrpSpPr>
            <p:cNvPr id="325" name="Группа 5"/>
            <p:cNvGrpSpPr/>
            <p:nvPr/>
          </p:nvGrpSpPr>
          <p:grpSpPr>
            <a:xfrm>
              <a:off x="0" y="0"/>
              <a:ext cx="2349008" cy="6922524"/>
              <a:chOff x="0" y="0"/>
              <a:chExt cx="2349007" cy="6922523"/>
            </a:xfrm>
          </p:grpSpPr>
          <p:sp>
            <p:nvSpPr>
              <p:cNvPr id="319" name="Овал 217"/>
              <p:cNvSpPr/>
              <p:nvPr/>
            </p:nvSpPr>
            <p:spPr>
              <a:xfrm>
                <a:off x="920503" y="6414523"/>
                <a:ext cx="508001" cy="508001"/>
              </a:xfrm>
              <a:prstGeom prst="ellipse">
                <a:avLst/>
              </a:prstGeom>
              <a:solidFill>
                <a:srgbClr val="3F57D1">
                  <a:alpha val="2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20" name="Овал 218"/>
              <p:cNvSpPr/>
              <p:nvPr/>
            </p:nvSpPr>
            <p:spPr>
              <a:xfrm>
                <a:off x="747799" y="5319035"/>
                <a:ext cx="853407" cy="853407"/>
              </a:xfrm>
              <a:prstGeom prst="ellipse">
                <a:avLst/>
              </a:prstGeom>
              <a:solidFill>
                <a:srgbClr val="3F57D1">
                  <a:alpha val="3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21" name="Овал 219"/>
              <p:cNvSpPr/>
              <p:nvPr/>
            </p:nvSpPr>
            <p:spPr>
              <a:xfrm>
                <a:off x="509192" y="3272206"/>
                <a:ext cx="1330623" cy="1330623"/>
              </a:xfrm>
              <a:prstGeom prst="ellipse">
                <a:avLst/>
              </a:prstGeom>
              <a:solidFill>
                <a:srgbClr val="3F57D1">
                  <a:alpha val="64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22" name="Овал 220"/>
              <p:cNvSpPr/>
              <p:nvPr/>
            </p:nvSpPr>
            <p:spPr>
              <a:xfrm>
                <a:off x="0" y="0"/>
                <a:ext cx="2349008" cy="2349009"/>
              </a:xfrm>
              <a:prstGeom prst="ellipse">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23" name="Овал 222"/>
              <p:cNvSpPr/>
              <p:nvPr/>
            </p:nvSpPr>
            <p:spPr>
              <a:xfrm>
                <a:off x="336117" y="1689235"/>
                <a:ext cx="1676772" cy="1676771"/>
              </a:xfrm>
              <a:prstGeom prst="ellipse">
                <a:avLst/>
              </a:prstGeom>
              <a:solidFill>
                <a:srgbClr val="3F57D1">
                  <a:alpha val="83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24" name="Овал 223"/>
              <p:cNvSpPr/>
              <p:nvPr/>
            </p:nvSpPr>
            <p:spPr>
              <a:xfrm>
                <a:off x="641956" y="4395468"/>
                <a:ext cx="1065094" cy="1065093"/>
              </a:xfrm>
              <a:prstGeom prst="ellipse">
                <a:avLst/>
              </a:prstGeom>
              <a:solidFill>
                <a:srgbClr val="3F57D1">
                  <a:alpha val="42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grpSp>
          <p:nvGrpSpPr>
            <p:cNvPr id="328" name="Группа 6"/>
            <p:cNvGrpSpPr/>
            <p:nvPr/>
          </p:nvGrpSpPr>
          <p:grpSpPr>
            <a:xfrm>
              <a:off x="160683" y="441886"/>
              <a:ext cx="1972574" cy="1364773"/>
              <a:chOff x="0" y="0"/>
              <a:chExt cx="1972573" cy="1364772"/>
            </a:xfrm>
          </p:grpSpPr>
          <p:sp>
            <p:nvSpPr>
              <p:cNvPr id="326" name="Project…"/>
              <p:cNvSpPr txBox="1"/>
              <p:nvPr/>
            </p:nvSpPr>
            <p:spPr>
              <a:xfrm>
                <a:off x="0" y="-1"/>
                <a:ext cx="1972574" cy="1028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6000">
                    <a:solidFill>
                      <a:srgbClr val="FFFFFF"/>
                    </a:solidFill>
                    <a:latin typeface="Montserrat Bold"/>
                    <a:ea typeface="Montserrat Bold"/>
                    <a:cs typeface="Montserrat Bold"/>
                    <a:sym typeface="Montserrat Bold"/>
                  </a:defRPr>
                </a:lvl1pPr>
              </a:lstStyle>
              <a:p>
                <a:pPr/>
                <a:r>
                  <a:t>04</a:t>
                </a:r>
              </a:p>
            </p:txBody>
          </p:sp>
          <p:sp>
            <p:nvSpPr>
              <p:cNvPr id="327" name="Project…"/>
              <p:cNvSpPr txBox="1"/>
              <p:nvPr/>
            </p:nvSpPr>
            <p:spPr>
              <a:xfrm>
                <a:off x="239878" y="920272"/>
                <a:ext cx="1586927"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стъпка</a:t>
                </a:r>
              </a:p>
            </p:txBody>
          </p:sp>
        </p:grpSp>
      </p:grpSp>
      <p:grpSp>
        <p:nvGrpSpPr>
          <p:cNvPr id="338" name="Группа 11"/>
          <p:cNvGrpSpPr/>
          <p:nvPr/>
        </p:nvGrpSpPr>
        <p:grpSpPr>
          <a:xfrm>
            <a:off x="20404673" y="4469941"/>
            <a:ext cx="2038584" cy="5489463"/>
            <a:chOff x="0" y="0"/>
            <a:chExt cx="2038582" cy="5489462"/>
          </a:xfrm>
        </p:grpSpPr>
        <p:grpSp>
          <p:nvGrpSpPr>
            <p:cNvPr id="334" name="Группа 224"/>
            <p:cNvGrpSpPr/>
            <p:nvPr/>
          </p:nvGrpSpPr>
          <p:grpSpPr>
            <a:xfrm>
              <a:off x="3849" y="-1"/>
              <a:ext cx="2034734" cy="5489464"/>
              <a:chOff x="0" y="0"/>
              <a:chExt cx="2034733" cy="5489462"/>
            </a:xfrm>
          </p:grpSpPr>
          <p:sp>
            <p:nvSpPr>
              <p:cNvPr id="330" name="Овал 225"/>
              <p:cNvSpPr/>
              <p:nvPr/>
            </p:nvSpPr>
            <p:spPr>
              <a:xfrm>
                <a:off x="763366" y="4981462"/>
                <a:ext cx="508001" cy="508001"/>
              </a:xfrm>
              <a:prstGeom prst="ellipse">
                <a:avLst/>
              </a:prstGeom>
              <a:solidFill>
                <a:srgbClr val="C851C0">
                  <a:alpha val="2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31" name="Овал 226"/>
              <p:cNvSpPr/>
              <p:nvPr/>
            </p:nvSpPr>
            <p:spPr>
              <a:xfrm>
                <a:off x="590662" y="3559624"/>
                <a:ext cx="853407" cy="853408"/>
              </a:xfrm>
              <a:prstGeom prst="ellipse">
                <a:avLst/>
              </a:prstGeom>
              <a:solidFill>
                <a:srgbClr val="C851C0">
                  <a:alpha val="46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32" name="Овал 227"/>
              <p:cNvSpPr/>
              <p:nvPr/>
            </p:nvSpPr>
            <p:spPr>
              <a:xfrm>
                <a:off x="352055" y="1866746"/>
                <a:ext cx="1330623" cy="1330623"/>
              </a:xfrm>
              <a:prstGeom prst="ellipse">
                <a:avLst/>
              </a:prstGeom>
              <a:solidFill>
                <a:srgbClr val="C851C0">
                  <a:alpha val="75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33" name="Овал 228"/>
              <p:cNvSpPr/>
              <p:nvPr/>
            </p:nvSpPr>
            <p:spPr>
              <a:xfrm>
                <a:off x="0" y="0"/>
                <a:ext cx="2034734" cy="2034735"/>
              </a:xfrm>
              <a:prstGeom prst="ellipse">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grpSp>
          <p:nvGrpSpPr>
            <p:cNvPr id="337" name="Группа 231"/>
            <p:cNvGrpSpPr/>
            <p:nvPr/>
          </p:nvGrpSpPr>
          <p:grpSpPr>
            <a:xfrm>
              <a:off x="-1" y="308253"/>
              <a:ext cx="1972574" cy="1364773"/>
              <a:chOff x="0" y="0"/>
              <a:chExt cx="1972573" cy="1364772"/>
            </a:xfrm>
          </p:grpSpPr>
          <p:sp>
            <p:nvSpPr>
              <p:cNvPr id="335" name="Project…"/>
              <p:cNvSpPr txBox="1"/>
              <p:nvPr/>
            </p:nvSpPr>
            <p:spPr>
              <a:xfrm>
                <a:off x="0" y="-1"/>
                <a:ext cx="1972574" cy="1028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6000">
                    <a:solidFill>
                      <a:srgbClr val="FFFFFF"/>
                    </a:solidFill>
                    <a:latin typeface="Montserrat Bold"/>
                    <a:ea typeface="Montserrat Bold"/>
                    <a:cs typeface="Montserrat Bold"/>
                    <a:sym typeface="Montserrat Bold"/>
                  </a:defRPr>
                </a:lvl1pPr>
              </a:lstStyle>
              <a:p>
                <a:pPr/>
                <a:r>
                  <a:t>05</a:t>
                </a:r>
              </a:p>
            </p:txBody>
          </p:sp>
          <p:sp>
            <p:nvSpPr>
              <p:cNvPr id="336" name="Project…"/>
              <p:cNvSpPr txBox="1"/>
              <p:nvPr/>
            </p:nvSpPr>
            <p:spPr>
              <a:xfrm>
                <a:off x="239878" y="920272"/>
                <a:ext cx="1586927"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стъпка</a:t>
                </a:r>
              </a:p>
            </p:txBody>
          </p:sp>
        </p:grpSp>
      </p:grpSp>
      <p:grpSp>
        <p:nvGrpSpPr>
          <p:cNvPr id="347" name="Группа 9"/>
          <p:cNvGrpSpPr/>
          <p:nvPr/>
        </p:nvGrpSpPr>
        <p:grpSpPr>
          <a:xfrm>
            <a:off x="11172776" y="6348802"/>
            <a:ext cx="2034735" cy="3635262"/>
            <a:chOff x="0" y="0"/>
            <a:chExt cx="2034733" cy="3635261"/>
          </a:xfrm>
        </p:grpSpPr>
        <p:grpSp>
          <p:nvGrpSpPr>
            <p:cNvPr id="343" name="Группа 211"/>
            <p:cNvGrpSpPr/>
            <p:nvPr/>
          </p:nvGrpSpPr>
          <p:grpSpPr>
            <a:xfrm>
              <a:off x="0" y="0"/>
              <a:ext cx="2034734" cy="3635262"/>
              <a:chOff x="0" y="0"/>
              <a:chExt cx="2034733" cy="3635261"/>
            </a:xfrm>
          </p:grpSpPr>
          <p:sp>
            <p:nvSpPr>
              <p:cNvPr id="339" name="Овал 212"/>
              <p:cNvSpPr/>
              <p:nvPr/>
            </p:nvSpPr>
            <p:spPr>
              <a:xfrm>
                <a:off x="763366" y="3127261"/>
                <a:ext cx="508001" cy="508001"/>
              </a:xfrm>
              <a:prstGeom prst="ellipse">
                <a:avLst/>
              </a:prstGeom>
              <a:solidFill>
                <a:srgbClr val="FECB70">
                  <a:alpha val="2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40" name="Овал 213"/>
              <p:cNvSpPr/>
              <p:nvPr/>
            </p:nvSpPr>
            <p:spPr>
              <a:xfrm>
                <a:off x="590662" y="2391224"/>
                <a:ext cx="853407" cy="853407"/>
              </a:xfrm>
              <a:prstGeom prst="ellipse">
                <a:avLst/>
              </a:prstGeom>
              <a:solidFill>
                <a:srgbClr val="FECB70">
                  <a:alpha val="46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41" name="Овал 214"/>
              <p:cNvSpPr/>
              <p:nvPr/>
            </p:nvSpPr>
            <p:spPr>
              <a:xfrm>
                <a:off x="352055" y="1382816"/>
                <a:ext cx="1330623" cy="1330621"/>
              </a:xfrm>
              <a:prstGeom prst="ellipse">
                <a:avLst/>
              </a:prstGeom>
              <a:solidFill>
                <a:srgbClr val="FECB70">
                  <a:alpha val="75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42" name="Овал 215"/>
              <p:cNvSpPr/>
              <p:nvPr/>
            </p:nvSpPr>
            <p:spPr>
              <a:xfrm>
                <a:off x="0" y="0"/>
                <a:ext cx="2034734" cy="2034733"/>
              </a:xfrm>
              <a:prstGeom prst="ellipse">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grpSp>
          <p:nvGrpSpPr>
            <p:cNvPr id="346" name="Группа 234"/>
            <p:cNvGrpSpPr/>
            <p:nvPr/>
          </p:nvGrpSpPr>
          <p:grpSpPr>
            <a:xfrm>
              <a:off x="7006" y="286750"/>
              <a:ext cx="1972574" cy="1364773"/>
              <a:chOff x="0" y="0"/>
              <a:chExt cx="1972573" cy="1364772"/>
            </a:xfrm>
          </p:grpSpPr>
          <p:sp>
            <p:nvSpPr>
              <p:cNvPr id="344" name="Project…"/>
              <p:cNvSpPr txBox="1"/>
              <p:nvPr/>
            </p:nvSpPr>
            <p:spPr>
              <a:xfrm>
                <a:off x="0" y="-1"/>
                <a:ext cx="1972574" cy="1028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6000">
                    <a:solidFill>
                      <a:srgbClr val="FFFFFF"/>
                    </a:solidFill>
                    <a:latin typeface="Montserrat Bold"/>
                    <a:ea typeface="Montserrat Bold"/>
                    <a:cs typeface="Montserrat Bold"/>
                    <a:sym typeface="Montserrat Bold"/>
                  </a:defRPr>
                </a:lvl1pPr>
              </a:lstStyle>
              <a:p>
                <a:pPr/>
                <a:r>
                  <a:t>03</a:t>
                </a:r>
              </a:p>
            </p:txBody>
          </p:sp>
          <p:sp>
            <p:nvSpPr>
              <p:cNvPr id="345" name="Project…"/>
              <p:cNvSpPr txBox="1"/>
              <p:nvPr/>
            </p:nvSpPr>
            <p:spPr>
              <a:xfrm>
                <a:off x="239878" y="920272"/>
                <a:ext cx="1586927"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стъпка</a:t>
                </a:r>
              </a:p>
            </p:txBody>
          </p:sp>
        </p:grpSp>
      </p:grpSp>
      <p:grpSp>
        <p:nvGrpSpPr>
          <p:cNvPr id="356" name="Группа 2"/>
          <p:cNvGrpSpPr/>
          <p:nvPr/>
        </p:nvGrpSpPr>
        <p:grpSpPr>
          <a:xfrm>
            <a:off x="6522316" y="4469941"/>
            <a:ext cx="2034735" cy="5489463"/>
            <a:chOff x="0" y="0"/>
            <a:chExt cx="2034733" cy="5489462"/>
          </a:xfrm>
        </p:grpSpPr>
        <p:grpSp>
          <p:nvGrpSpPr>
            <p:cNvPr id="352" name="Группа 206"/>
            <p:cNvGrpSpPr/>
            <p:nvPr/>
          </p:nvGrpSpPr>
          <p:grpSpPr>
            <a:xfrm>
              <a:off x="0" y="-1"/>
              <a:ext cx="2034734" cy="5489464"/>
              <a:chOff x="0" y="0"/>
              <a:chExt cx="2034733" cy="5489462"/>
            </a:xfrm>
          </p:grpSpPr>
          <p:sp>
            <p:nvSpPr>
              <p:cNvPr id="348" name="Овал 207"/>
              <p:cNvSpPr/>
              <p:nvPr/>
            </p:nvSpPr>
            <p:spPr>
              <a:xfrm>
                <a:off x="763366" y="4981462"/>
                <a:ext cx="508001" cy="508001"/>
              </a:xfrm>
              <a:prstGeom prst="ellipse">
                <a:avLst/>
              </a:prstGeom>
              <a:solidFill>
                <a:srgbClr val="C851C0">
                  <a:alpha val="2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49" name="Овал 208"/>
              <p:cNvSpPr/>
              <p:nvPr/>
            </p:nvSpPr>
            <p:spPr>
              <a:xfrm>
                <a:off x="590662" y="3559624"/>
                <a:ext cx="853407" cy="853408"/>
              </a:xfrm>
              <a:prstGeom prst="ellipse">
                <a:avLst/>
              </a:prstGeom>
              <a:solidFill>
                <a:srgbClr val="C851C0">
                  <a:alpha val="46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50" name="Овал 209"/>
              <p:cNvSpPr/>
              <p:nvPr/>
            </p:nvSpPr>
            <p:spPr>
              <a:xfrm>
                <a:off x="352055" y="1866746"/>
                <a:ext cx="1330623" cy="1330623"/>
              </a:xfrm>
              <a:prstGeom prst="ellipse">
                <a:avLst/>
              </a:prstGeom>
              <a:solidFill>
                <a:srgbClr val="C851C0">
                  <a:alpha val="75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51" name="Овал 210"/>
              <p:cNvSpPr/>
              <p:nvPr/>
            </p:nvSpPr>
            <p:spPr>
              <a:xfrm>
                <a:off x="0" y="0"/>
                <a:ext cx="2034734" cy="2034735"/>
              </a:xfrm>
              <a:prstGeom prst="ellipse">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grpSp>
          <p:nvGrpSpPr>
            <p:cNvPr id="355" name="Группа 237"/>
            <p:cNvGrpSpPr/>
            <p:nvPr/>
          </p:nvGrpSpPr>
          <p:grpSpPr>
            <a:xfrm>
              <a:off x="-1" y="275000"/>
              <a:ext cx="1972574" cy="1364773"/>
              <a:chOff x="0" y="0"/>
              <a:chExt cx="1972573" cy="1364772"/>
            </a:xfrm>
          </p:grpSpPr>
          <p:sp>
            <p:nvSpPr>
              <p:cNvPr id="353" name="Project…"/>
              <p:cNvSpPr txBox="1"/>
              <p:nvPr/>
            </p:nvSpPr>
            <p:spPr>
              <a:xfrm>
                <a:off x="0" y="-1"/>
                <a:ext cx="1972574" cy="1028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6000">
                    <a:solidFill>
                      <a:srgbClr val="FFFFFF"/>
                    </a:solidFill>
                    <a:latin typeface="Montserrat Bold"/>
                    <a:ea typeface="Montserrat Bold"/>
                    <a:cs typeface="Montserrat Bold"/>
                    <a:sym typeface="Montserrat Bold"/>
                  </a:defRPr>
                </a:lvl1pPr>
              </a:lstStyle>
              <a:p>
                <a:pPr/>
                <a:r>
                  <a:t>02</a:t>
                </a:r>
              </a:p>
            </p:txBody>
          </p:sp>
          <p:sp>
            <p:nvSpPr>
              <p:cNvPr id="354" name="Project…"/>
              <p:cNvSpPr txBox="1"/>
              <p:nvPr/>
            </p:nvSpPr>
            <p:spPr>
              <a:xfrm>
                <a:off x="239878" y="920272"/>
                <a:ext cx="1586927"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стъпка</a:t>
                </a:r>
              </a:p>
            </p:txBody>
          </p:sp>
        </p:grpSp>
      </p:grpSp>
      <p:grpSp>
        <p:nvGrpSpPr>
          <p:cNvPr id="365" name="Группа 1"/>
          <p:cNvGrpSpPr/>
          <p:nvPr/>
        </p:nvGrpSpPr>
        <p:grpSpPr>
          <a:xfrm>
            <a:off x="1950044" y="5612202"/>
            <a:ext cx="2049561" cy="4371862"/>
            <a:chOff x="0" y="0"/>
            <a:chExt cx="2049559" cy="4371861"/>
          </a:xfrm>
        </p:grpSpPr>
        <p:grpSp>
          <p:nvGrpSpPr>
            <p:cNvPr id="361" name="Группа 4"/>
            <p:cNvGrpSpPr/>
            <p:nvPr/>
          </p:nvGrpSpPr>
          <p:grpSpPr>
            <a:xfrm>
              <a:off x="14826" y="0"/>
              <a:ext cx="2034734" cy="4371862"/>
              <a:chOff x="0" y="0"/>
              <a:chExt cx="2034733" cy="4371861"/>
            </a:xfrm>
          </p:grpSpPr>
          <p:sp>
            <p:nvSpPr>
              <p:cNvPr id="357" name="Овал 3"/>
              <p:cNvSpPr/>
              <p:nvPr/>
            </p:nvSpPr>
            <p:spPr>
              <a:xfrm>
                <a:off x="763366" y="3863861"/>
                <a:ext cx="508001" cy="508001"/>
              </a:xfrm>
              <a:prstGeom prst="ellipse">
                <a:avLst/>
              </a:prstGeom>
              <a:solidFill>
                <a:srgbClr val="3F57D1">
                  <a:alpha val="21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58" name="Овал 203"/>
              <p:cNvSpPr/>
              <p:nvPr/>
            </p:nvSpPr>
            <p:spPr>
              <a:xfrm>
                <a:off x="590662" y="2873824"/>
                <a:ext cx="853407" cy="853407"/>
              </a:xfrm>
              <a:prstGeom prst="ellipse">
                <a:avLst/>
              </a:prstGeom>
              <a:solidFill>
                <a:srgbClr val="3F57D1">
                  <a:alpha val="46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59" name="Овал 204"/>
              <p:cNvSpPr/>
              <p:nvPr/>
            </p:nvSpPr>
            <p:spPr>
              <a:xfrm>
                <a:off x="352055" y="1636816"/>
                <a:ext cx="1330623" cy="1330621"/>
              </a:xfrm>
              <a:prstGeom prst="ellipse">
                <a:avLst/>
              </a:prstGeom>
              <a:solidFill>
                <a:srgbClr val="3F57D1">
                  <a:alpha val="75000"/>
                </a:srgbClr>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60" name="Овал 205"/>
              <p:cNvSpPr/>
              <p:nvPr/>
            </p:nvSpPr>
            <p:spPr>
              <a:xfrm>
                <a:off x="0" y="0"/>
                <a:ext cx="2034734" cy="2034733"/>
              </a:xfrm>
              <a:prstGeom prst="ellipse">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grpSp>
          <p:nvGrpSpPr>
            <p:cNvPr id="364" name="Группа 240"/>
            <p:cNvGrpSpPr/>
            <p:nvPr/>
          </p:nvGrpSpPr>
          <p:grpSpPr>
            <a:xfrm>
              <a:off x="-1" y="275289"/>
              <a:ext cx="1972575" cy="1364774"/>
              <a:chOff x="0" y="0"/>
              <a:chExt cx="1972573" cy="1364772"/>
            </a:xfrm>
          </p:grpSpPr>
          <p:sp>
            <p:nvSpPr>
              <p:cNvPr id="362" name="Project…"/>
              <p:cNvSpPr txBox="1"/>
              <p:nvPr/>
            </p:nvSpPr>
            <p:spPr>
              <a:xfrm>
                <a:off x="0" y="-1"/>
                <a:ext cx="1972574" cy="1028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6000">
                    <a:solidFill>
                      <a:srgbClr val="FFFFFF"/>
                    </a:solidFill>
                    <a:latin typeface="Montserrat Bold"/>
                    <a:ea typeface="Montserrat Bold"/>
                    <a:cs typeface="Montserrat Bold"/>
                    <a:sym typeface="Montserrat Bold"/>
                  </a:defRPr>
                </a:lvl1pPr>
              </a:lstStyle>
              <a:p>
                <a:pPr/>
                <a:r>
                  <a:t>01</a:t>
                </a:r>
              </a:p>
            </p:txBody>
          </p:sp>
          <p:sp>
            <p:nvSpPr>
              <p:cNvPr id="363" name="Project…"/>
              <p:cNvSpPr txBox="1"/>
              <p:nvPr/>
            </p:nvSpPr>
            <p:spPr>
              <a:xfrm>
                <a:off x="239878" y="920272"/>
                <a:ext cx="1586927"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FFFFFF"/>
                    </a:solidFill>
                    <a:latin typeface="Montserrat Bold"/>
                    <a:ea typeface="Montserrat Bold"/>
                    <a:cs typeface="Montserrat Bold"/>
                    <a:sym typeface="Montserrat Bold"/>
                  </a:defRPr>
                </a:lvl1pPr>
              </a:lstStyle>
              <a:p>
                <a:pPr/>
                <a:r>
                  <a:t>стъпка</a:t>
                </a:r>
              </a:p>
            </p:txBody>
          </p:sp>
        </p:grpSp>
      </p:grpSp>
      <p:grpSp>
        <p:nvGrpSpPr>
          <p:cNvPr id="375" name="Группа 12"/>
          <p:cNvGrpSpPr/>
          <p:nvPr/>
        </p:nvGrpSpPr>
        <p:grpSpPr>
          <a:xfrm>
            <a:off x="8620022" y="2302915"/>
            <a:ext cx="12913596" cy="3956878"/>
            <a:chOff x="0" y="-25400"/>
            <a:chExt cx="12913594" cy="3956877"/>
          </a:xfrm>
        </p:grpSpPr>
        <p:grpSp>
          <p:nvGrpSpPr>
            <p:cNvPr id="368" name="Группа 7"/>
            <p:cNvGrpSpPr/>
            <p:nvPr/>
          </p:nvGrpSpPr>
          <p:grpSpPr>
            <a:xfrm>
              <a:off x="0" y="810726"/>
              <a:ext cx="3261201" cy="1619982"/>
              <a:chOff x="0" y="-25400"/>
              <a:chExt cx="3261200" cy="1619980"/>
            </a:xfrm>
          </p:grpSpPr>
          <p:sp>
            <p:nvSpPr>
              <p:cNvPr id="366" name="Profesional Template for PowerPoint, Keynote, Google Slides"/>
              <p:cNvSpPr txBox="1"/>
              <p:nvPr/>
            </p:nvSpPr>
            <p:spPr>
              <a:xfrm>
                <a:off x="0" y="-25401"/>
                <a:ext cx="326120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252625"/>
                    </a:solidFill>
                    <a:latin typeface="Roboto Bold"/>
                    <a:ea typeface="Roboto Bold"/>
                    <a:cs typeface="Roboto Bold"/>
                    <a:sym typeface="Roboto Bold"/>
                  </a:defRPr>
                </a:lvl1pPr>
              </a:lstStyle>
              <a:p>
                <a:pPr/>
                <a:r>
                  <a:t>Разходи</a:t>
                </a:r>
              </a:p>
            </p:txBody>
          </p:sp>
          <p:sp>
            <p:nvSpPr>
              <p:cNvPr id="367" name="Profesional Template for PowerPoint, Keynote, Google Slides"/>
              <p:cNvSpPr txBox="1"/>
              <p:nvPr/>
            </p:nvSpPr>
            <p:spPr>
              <a:xfrm>
                <a:off x="4004" y="543020"/>
                <a:ext cx="3232535"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Правят се груби сметки</a:t>
                </a:r>
              </a:p>
            </p:txBody>
          </p:sp>
        </p:grpSp>
        <p:grpSp>
          <p:nvGrpSpPr>
            <p:cNvPr id="371" name="Группа 245"/>
            <p:cNvGrpSpPr/>
            <p:nvPr/>
          </p:nvGrpSpPr>
          <p:grpSpPr>
            <a:xfrm>
              <a:off x="4165658" y="2311497"/>
              <a:ext cx="3261202" cy="1619981"/>
              <a:chOff x="0" y="-25400"/>
              <a:chExt cx="3261200" cy="1619980"/>
            </a:xfrm>
          </p:grpSpPr>
          <p:sp>
            <p:nvSpPr>
              <p:cNvPr id="369" name="Profesional Template for PowerPoint, Keynote, Google Slides"/>
              <p:cNvSpPr txBox="1"/>
              <p:nvPr/>
            </p:nvSpPr>
            <p:spPr>
              <a:xfrm>
                <a:off x="0" y="-25401"/>
                <a:ext cx="326120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252625"/>
                    </a:solidFill>
                    <a:latin typeface="Roboto Bold"/>
                    <a:ea typeface="Roboto Bold"/>
                    <a:cs typeface="Roboto Bold"/>
                    <a:sym typeface="Roboto Bold"/>
                  </a:defRPr>
                </a:lvl1pPr>
              </a:lstStyle>
              <a:p>
                <a:pPr/>
                <a:r>
                  <a:t>Време</a:t>
                </a:r>
              </a:p>
            </p:txBody>
          </p:sp>
          <p:sp>
            <p:nvSpPr>
              <p:cNvPr id="370" name="Profesional Template for PowerPoint, Keynote, Google Slides"/>
              <p:cNvSpPr txBox="1"/>
              <p:nvPr/>
            </p:nvSpPr>
            <p:spPr>
              <a:xfrm>
                <a:off x="4004" y="543020"/>
                <a:ext cx="3232535"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Нужно време за изпълнение</a:t>
                </a:r>
              </a:p>
            </p:txBody>
          </p:sp>
        </p:grpSp>
        <p:grpSp>
          <p:nvGrpSpPr>
            <p:cNvPr id="374" name="Группа 248"/>
            <p:cNvGrpSpPr/>
            <p:nvPr/>
          </p:nvGrpSpPr>
          <p:grpSpPr>
            <a:xfrm>
              <a:off x="9652393" y="-25401"/>
              <a:ext cx="3261202" cy="1619982"/>
              <a:chOff x="0" y="-25400"/>
              <a:chExt cx="3261200" cy="1619980"/>
            </a:xfrm>
          </p:grpSpPr>
          <p:sp>
            <p:nvSpPr>
              <p:cNvPr id="372" name="Profesional Template for PowerPoint, Keynote, Google Slides"/>
              <p:cNvSpPr txBox="1"/>
              <p:nvPr/>
            </p:nvSpPr>
            <p:spPr>
              <a:xfrm>
                <a:off x="0" y="-25401"/>
                <a:ext cx="326120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252625"/>
                    </a:solidFill>
                    <a:latin typeface="Roboto Bold"/>
                    <a:ea typeface="Roboto Bold"/>
                    <a:cs typeface="Roboto Bold"/>
                    <a:sym typeface="Roboto Bold"/>
                  </a:defRPr>
                </a:lvl1pPr>
              </a:lstStyle>
              <a:p>
                <a:pPr/>
                <a:r>
                  <a:t>Оптимизация</a:t>
                </a:r>
              </a:p>
            </p:txBody>
          </p:sp>
          <p:sp>
            <p:nvSpPr>
              <p:cNvPr id="373" name="Profesional Template for PowerPoint, Keynote, Google Slides"/>
              <p:cNvSpPr txBox="1"/>
              <p:nvPr/>
            </p:nvSpPr>
            <p:spPr>
              <a:xfrm>
                <a:off x="4004" y="543020"/>
                <a:ext cx="3232535"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Оптимизиране на плана на проекта</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82"/>
                                        </p:tgtEl>
                                        <p:attrNameLst>
                                          <p:attrName>style.visibility</p:attrName>
                                        </p:attrNameLst>
                                      </p:cBhvr>
                                      <p:to>
                                        <p:strVal val="visible"/>
                                      </p:to>
                                    </p:set>
                                    <p:animEffect filter="dissolve" transition="in">
                                      <p:cBhvr>
                                        <p:cTn id="7" dur="500"/>
                                        <p:tgtEl>
                                          <p:spTgt spid="282"/>
                                        </p:tgtEl>
                                      </p:cBhvr>
                                    </p:animEffect>
                                  </p:childTnLst>
                                </p:cTn>
                              </p:par>
                            </p:childTnLst>
                          </p:cTn>
                        </p:par>
                        <p:par>
                          <p:cTn id="8" fill="hold">
                            <p:stCondLst>
                              <p:cond delay="500"/>
                            </p:stCondLst>
                            <p:childTnLst>
                              <p:par>
                                <p:cTn id="9" presetClass="entr" nodeType="afterEffect" presetID="9" grpId="2" fill="hold">
                                  <p:stCondLst>
                                    <p:cond delay="0"/>
                                  </p:stCondLst>
                                  <p:iterate type="el" backwards="0">
                                    <p:tmAbs val="0"/>
                                  </p:iterate>
                                  <p:childTnLst>
                                    <p:set>
                                      <p:cBhvr>
                                        <p:cTn id="10" fill="hold"/>
                                        <p:tgtEl>
                                          <p:spTgt spid="318"/>
                                        </p:tgtEl>
                                        <p:attrNameLst>
                                          <p:attrName>style.visibility</p:attrName>
                                        </p:attrNameLst>
                                      </p:cBhvr>
                                      <p:to>
                                        <p:strVal val="visible"/>
                                      </p:to>
                                    </p:set>
                                    <p:animEffect filter="dissolve" transition="in">
                                      <p:cBhvr>
                                        <p:cTn id="11" dur="500"/>
                                        <p:tgtEl>
                                          <p:spTgt spid="31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4" presetID="2" grpId="3" fill="hold">
                                  <p:stCondLst>
                                    <p:cond delay="0"/>
                                  </p:stCondLst>
                                  <p:iterate type="el" backwards="0">
                                    <p:tmAbs val="0"/>
                                  </p:iterate>
                                  <p:childTnLst>
                                    <p:set>
                                      <p:cBhvr>
                                        <p:cTn id="15" fill="hold"/>
                                        <p:tgtEl>
                                          <p:spTgt spid="365"/>
                                        </p:tgtEl>
                                        <p:attrNameLst>
                                          <p:attrName>style.visibility</p:attrName>
                                        </p:attrNameLst>
                                      </p:cBhvr>
                                      <p:to>
                                        <p:strVal val="visible"/>
                                      </p:to>
                                    </p:set>
                                    <p:anim calcmode="lin" valueType="num">
                                      <p:cBhvr>
                                        <p:cTn id="16" dur="500" fill="hold"/>
                                        <p:tgtEl>
                                          <p:spTgt spid="365"/>
                                        </p:tgtEl>
                                        <p:attrNameLst>
                                          <p:attrName>ppt_x</p:attrName>
                                        </p:attrNameLst>
                                      </p:cBhvr>
                                      <p:tavLst>
                                        <p:tav tm="0">
                                          <p:val>
                                            <p:strVal val="#ppt_x"/>
                                          </p:val>
                                        </p:tav>
                                        <p:tav tm="100000">
                                          <p:val>
                                            <p:strVal val="#ppt_x"/>
                                          </p:val>
                                        </p:tav>
                                      </p:tavLst>
                                    </p:anim>
                                    <p:anim calcmode="lin" valueType="num">
                                      <p:cBhvr>
                                        <p:cTn id="17" dur="500" fill="hold"/>
                                        <p:tgtEl>
                                          <p:spTgt spid="36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4" presetID="2" grpId="4" fill="hold">
                                  <p:stCondLst>
                                    <p:cond delay="0"/>
                                  </p:stCondLst>
                                  <p:iterate type="el" backwards="0">
                                    <p:tmAbs val="0"/>
                                  </p:iterate>
                                  <p:childTnLst>
                                    <p:set>
                                      <p:cBhvr>
                                        <p:cTn id="21" fill="hold"/>
                                        <p:tgtEl>
                                          <p:spTgt spid="356"/>
                                        </p:tgtEl>
                                        <p:attrNameLst>
                                          <p:attrName>style.visibility</p:attrName>
                                        </p:attrNameLst>
                                      </p:cBhvr>
                                      <p:to>
                                        <p:strVal val="visible"/>
                                      </p:to>
                                    </p:set>
                                    <p:anim calcmode="lin" valueType="num">
                                      <p:cBhvr>
                                        <p:cTn id="22" dur="500" fill="hold"/>
                                        <p:tgtEl>
                                          <p:spTgt spid="356"/>
                                        </p:tgtEl>
                                        <p:attrNameLst>
                                          <p:attrName>ppt_x</p:attrName>
                                        </p:attrNameLst>
                                      </p:cBhvr>
                                      <p:tavLst>
                                        <p:tav tm="0">
                                          <p:val>
                                            <p:strVal val="#ppt_x"/>
                                          </p:val>
                                        </p:tav>
                                        <p:tav tm="100000">
                                          <p:val>
                                            <p:strVal val="#ppt_x"/>
                                          </p:val>
                                        </p:tav>
                                      </p:tavLst>
                                    </p:anim>
                                    <p:anim calcmode="lin" valueType="num">
                                      <p:cBhvr>
                                        <p:cTn id="23" dur="500" fill="hold"/>
                                        <p:tgtEl>
                                          <p:spTgt spid="35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4" presetID="2" grpId="5" fill="hold">
                                  <p:stCondLst>
                                    <p:cond delay="0"/>
                                  </p:stCondLst>
                                  <p:iterate type="el" backwards="0">
                                    <p:tmAbs val="0"/>
                                  </p:iterate>
                                  <p:childTnLst>
                                    <p:set>
                                      <p:cBhvr>
                                        <p:cTn id="27" fill="hold"/>
                                        <p:tgtEl>
                                          <p:spTgt spid="347"/>
                                        </p:tgtEl>
                                        <p:attrNameLst>
                                          <p:attrName>style.visibility</p:attrName>
                                        </p:attrNameLst>
                                      </p:cBhvr>
                                      <p:to>
                                        <p:strVal val="visible"/>
                                      </p:to>
                                    </p:set>
                                    <p:anim calcmode="lin" valueType="num">
                                      <p:cBhvr>
                                        <p:cTn id="28" dur="500" fill="hold"/>
                                        <p:tgtEl>
                                          <p:spTgt spid="347"/>
                                        </p:tgtEl>
                                        <p:attrNameLst>
                                          <p:attrName>ppt_x</p:attrName>
                                        </p:attrNameLst>
                                      </p:cBhvr>
                                      <p:tavLst>
                                        <p:tav tm="0">
                                          <p:val>
                                            <p:strVal val="#ppt_x"/>
                                          </p:val>
                                        </p:tav>
                                        <p:tav tm="100000">
                                          <p:val>
                                            <p:strVal val="#ppt_x"/>
                                          </p:val>
                                        </p:tav>
                                      </p:tavLst>
                                    </p:anim>
                                    <p:anim calcmode="lin" valueType="num">
                                      <p:cBhvr>
                                        <p:cTn id="29" dur="500" fill="hold"/>
                                        <p:tgtEl>
                                          <p:spTgt spid="34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4" presetID="2" grpId="6" fill="hold">
                                  <p:stCondLst>
                                    <p:cond delay="0"/>
                                  </p:stCondLst>
                                  <p:iterate type="el" backwards="0">
                                    <p:tmAbs val="0"/>
                                  </p:iterate>
                                  <p:childTnLst>
                                    <p:set>
                                      <p:cBhvr>
                                        <p:cTn id="33" fill="hold"/>
                                        <p:tgtEl>
                                          <p:spTgt spid="329"/>
                                        </p:tgtEl>
                                        <p:attrNameLst>
                                          <p:attrName>style.visibility</p:attrName>
                                        </p:attrNameLst>
                                      </p:cBhvr>
                                      <p:to>
                                        <p:strVal val="visible"/>
                                      </p:to>
                                    </p:set>
                                    <p:anim calcmode="lin" valueType="num">
                                      <p:cBhvr>
                                        <p:cTn id="34" dur="500" fill="hold"/>
                                        <p:tgtEl>
                                          <p:spTgt spid="329"/>
                                        </p:tgtEl>
                                        <p:attrNameLst>
                                          <p:attrName>ppt_x</p:attrName>
                                        </p:attrNameLst>
                                      </p:cBhvr>
                                      <p:tavLst>
                                        <p:tav tm="0">
                                          <p:val>
                                            <p:strVal val="#ppt_x"/>
                                          </p:val>
                                        </p:tav>
                                        <p:tav tm="100000">
                                          <p:val>
                                            <p:strVal val="#ppt_x"/>
                                          </p:val>
                                        </p:tav>
                                      </p:tavLst>
                                    </p:anim>
                                    <p:anim calcmode="lin" valueType="num">
                                      <p:cBhvr>
                                        <p:cTn id="35" dur="500" fill="hold"/>
                                        <p:tgtEl>
                                          <p:spTgt spid="32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4" presetID="2" grpId="7" fill="hold">
                                  <p:stCondLst>
                                    <p:cond delay="0"/>
                                  </p:stCondLst>
                                  <p:iterate type="el" backwards="0">
                                    <p:tmAbs val="0"/>
                                  </p:iterate>
                                  <p:childTnLst>
                                    <p:set>
                                      <p:cBhvr>
                                        <p:cTn id="39" fill="hold"/>
                                        <p:tgtEl>
                                          <p:spTgt spid="338"/>
                                        </p:tgtEl>
                                        <p:attrNameLst>
                                          <p:attrName>style.visibility</p:attrName>
                                        </p:attrNameLst>
                                      </p:cBhvr>
                                      <p:to>
                                        <p:strVal val="visible"/>
                                      </p:to>
                                    </p:set>
                                    <p:anim calcmode="lin" valueType="num">
                                      <p:cBhvr>
                                        <p:cTn id="40" dur="500" fill="hold"/>
                                        <p:tgtEl>
                                          <p:spTgt spid="338"/>
                                        </p:tgtEl>
                                        <p:attrNameLst>
                                          <p:attrName>ppt_x</p:attrName>
                                        </p:attrNameLst>
                                      </p:cBhvr>
                                      <p:tavLst>
                                        <p:tav tm="0">
                                          <p:val>
                                            <p:strVal val="#ppt_x"/>
                                          </p:val>
                                        </p:tav>
                                        <p:tav tm="100000">
                                          <p:val>
                                            <p:strVal val="#ppt_x"/>
                                          </p:val>
                                        </p:tav>
                                      </p:tavLst>
                                    </p:anim>
                                    <p:anim calcmode="lin" valueType="num">
                                      <p:cBhvr>
                                        <p:cTn id="41" dur="500" fill="hold"/>
                                        <p:tgtEl>
                                          <p:spTgt spid="33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Class="entr" nodeType="clickEffect" presetID="9" grpId="8" fill="hold">
                                  <p:stCondLst>
                                    <p:cond delay="0"/>
                                  </p:stCondLst>
                                  <p:iterate type="el" backwards="0">
                                    <p:tmAbs val="0"/>
                                  </p:iterate>
                                  <p:childTnLst>
                                    <p:set>
                                      <p:cBhvr>
                                        <p:cTn id="45" fill="hold"/>
                                        <p:tgtEl>
                                          <p:spTgt spid="375"/>
                                        </p:tgtEl>
                                        <p:attrNameLst>
                                          <p:attrName>style.visibility</p:attrName>
                                        </p:attrNameLst>
                                      </p:cBhvr>
                                      <p:to>
                                        <p:strVal val="visible"/>
                                      </p:to>
                                    </p:set>
                                    <p:animEffect filter="dissolve" transition="in">
                                      <p:cBhvr>
                                        <p:cTn id="46" dur="5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5" grpId="8"/>
      <p:bldP build="whole" bldLvl="1" animBg="1" rev="0" advAuto="0" spid="365" grpId="3"/>
      <p:bldP build="whole" bldLvl="1" animBg="1" rev="0" advAuto="0" spid="318" grpId="2"/>
      <p:bldP build="whole" bldLvl="1" animBg="1" rev="0" advAuto="0" spid="347" grpId="5"/>
      <p:bldP build="whole" bldLvl="1" animBg="1" rev="0" advAuto="0" spid="282" grpId="1"/>
      <p:bldP build="whole" bldLvl="1" animBg="1" rev="0" advAuto="0" spid="356" grpId="4"/>
      <p:bldP build="whole" bldLvl="1" animBg="1" rev="0" advAuto="0" spid="338" grpId="7"/>
      <p:bldP build="whole" bldLvl="1" animBg="1" rev="0" advAuto="0" spid="329" grpId="6"/>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Project…"/>
          <p:cNvSpPr txBox="1"/>
          <p:nvPr/>
        </p:nvSpPr>
        <p:spPr>
          <a:xfrm>
            <a:off x="10034541" y="2922189"/>
            <a:ext cx="11762203" cy="2565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8000">
                <a:solidFill>
                  <a:srgbClr val="252625"/>
                </a:solidFill>
                <a:latin typeface="Montserrat Bold"/>
                <a:ea typeface="Montserrat Bold"/>
                <a:cs typeface="Montserrat Bold"/>
                <a:sym typeface="Montserrat Bold"/>
              </a:defRPr>
            </a:pPr>
            <a:r>
              <a:t>Календарен план </a:t>
            </a:r>
            <a:r>
              <a:rPr>
                <a:solidFill>
                  <a:srgbClr val="3F57D1"/>
                </a:solidFill>
              </a:rPr>
              <a:t>на проекта</a:t>
            </a:r>
          </a:p>
        </p:txBody>
      </p:sp>
      <p:sp>
        <p:nvSpPr>
          <p:cNvPr id="378" name="Profesional Template for PowerPoint, Keynote, Google Slides"/>
          <p:cNvSpPr txBox="1"/>
          <p:nvPr/>
        </p:nvSpPr>
        <p:spPr>
          <a:xfrm>
            <a:off x="13401346" y="6166783"/>
            <a:ext cx="8145988" cy="41605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lnSpc>
                <a:spcPct val="120000"/>
              </a:lnSpc>
              <a:defRPr b="0" sz="2600">
                <a:solidFill>
                  <a:srgbClr val="646977"/>
                </a:solidFill>
                <a:latin typeface="Roboto Regular"/>
                <a:ea typeface="Roboto Regular"/>
                <a:cs typeface="Roboto Regular"/>
                <a:sym typeface="Roboto Regular"/>
              </a:defRPr>
            </a:pPr>
            <a:r>
              <a:t>Lorem Ipsum is simply dummy text of the printing and typesetting industry. Lorem Ipsum has been the industry standard dummy text ever since the 1500s, when an unknown printer took a galley of type and scrambled it to make a type specimen book. It has survived not only five centuries, but also the leap into electronic typesetting</a:t>
            </a:r>
            <a:r>
              <a:t> </a:t>
            </a:r>
            <a:r>
              <a:t>dummy text ever since the 1500s, when an unknown printer took a galley of type </a:t>
            </a:r>
          </a:p>
        </p:txBody>
      </p:sp>
      <p:pic>
        <p:nvPicPr>
          <p:cNvPr id="379" name="image_processing20190903-12987-80vt4r.png" descr="image_processing20190903-12987-80vt4r.png"/>
          <p:cNvPicPr>
            <a:picLocks noChangeAspect="1"/>
          </p:cNvPicPr>
          <p:nvPr>
            <p:ph type="pic" idx="13"/>
          </p:nvPr>
        </p:nvPicPr>
        <p:blipFill>
          <a:blip r:embed="rId2">
            <a:extLst/>
          </a:blip>
          <a:srcRect l="9330" t="1" r="9331" b="0"/>
          <a:stretch>
            <a:fillRect/>
          </a:stretch>
        </p:blipFill>
        <p:spPr>
          <a:xfrm rot="10800000">
            <a:off x="1095471" y="27098"/>
            <a:ext cx="9123760" cy="84443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76" y="0"/>
                </a:moveTo>
                <a:lnTo>
                  <a:pt x="0" y="21600"/>
                </a:lnTo>
                <a:lnTo>
                  <a:pt x="21600" y="21600"/>
                </a:lnTo>
                <a:lnTo>
                  <a:pt x="10924" y="0"/>
                </a:lnTo>
                <a:lnTo>
                  <a:pt x="10676" y="0"/>
                </a:lnTo>
                <a:close/>
              </a:path>
            </a:pathLst>
          </a:custGeom>
        </p:spPr>
      </p:pic>
      <p:pic>
        <p:nvPicPr>
          <p:cNvPr id="380" name="project-management.png" descr="project-management.png"/>
          <p:cNvPicPr>
            <a:picLocks noChangeAspect="1"/>
          </p:cNvPicPr>
          <p:nvPr>
            <p:ph type="pic" idx="28"/>
          </p:nvPr>
        </p:nvPicPr>
        <p:blipFill>
          <a:blip r:embed="rId3">
            <a:extLst/>
          </a:blip>
          <a:srcRect l="4978" t="0" r="4979" b="2"/>
          <a:stretch>
            <a:fillRect/>
          </a:stretch>
        </p:blipFill>
        <p:spPr>
          <a:xfrm>
            <a:off x="3722465" y="7357532"/>
            <a:ext cx="6790136" cy="565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08" y="0"/>
                </a:moveTo>
                <a:lnTo>
                  <a:pt x="0" y="21600"/>
                </a:lnTo>
                <a:lnTo>
                  <a:pt x="21600" y="21600"/>
                </a:lnTo>
                <a:lnTo>
                  <a:pt x="11994" y="0"/>
                </a:lnTo>
                <a:lnTo>
                  <a:pt x="9608" y="0"/>
                </a:lnTo>
                <a:close/>
              </a:path>
            </a:pathLst>
          </a:custGeom>
        </p:spPr>
      </p:pic>
      <p:pic>
        <p:nvPicPr>
          <p:cNvPr id="381" name="a_lksdfj-02.png" descr="a_lksdfj-02.png"/>
          <p:cNvPicPr>
            <a:picLocks noChangeAspect="1"/>
          </p:cNvPicPr>
          <p:nvPr>
            <p:ph type="pic" idx="30"/>
          </p:nvPr>
        </p:nvPicPr>
        <p:blipFill>
          <a:blip r:embed="rId4">
            <a:extLst/>
          </a:blip>
          <a:srcRect l="0" t="0" r="10865" b="0"/>
          <a:stretch>
            <a:fillRect/>
          </a:stretch>
        </p:blipFill>
        <p:spPr>
          <a:xfrm rot="10800000">
            <a:off x="7458665" y="6505850"/>
            <a:ext cx="4226323" cy="35561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06" y="0"/>
                </a:moveTo>
                <a:lnTo>
                  <a:pt x="0" y="16480"/>
                </a:lnTo>
                <a:lnTo>
                  <a:pt x="0" y="21600"/>
                </a:lnTo>
                <a:lnTo>
                  <a:pt x="21600" y="21600"/>
                </a:lnTo>
                <a:lnTo>
                  <a:pt x="11896" y="0"/>
                </a:lnTo>
                <a:lnTo>
                  <a:pt x="7406" y="0"/>
                </a:lnTo>
                <a:close/>
              </a:path>
            </a:pathLst>
          </a:custGeom>
        </p:spPr>
      </p:pic>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77"/>
                                        </p:tgtEl>
                                        <p:attrNameLst>
                                          <p:attrName>style.visibility</p:attrName>
                                        </p:attrNameLst>
                                      </p:cBhvr>
                                      <p:to>
                                        <p:strVal val="visible"/>
                                      </p:to>
                                    </p:set>
                                    <p:animEffect filter="dissolve" transition="in">
                                      <p:cBhvr>
                                        <p:cTn id="7" dur="500"/>
                                        <p:tgtEl>
                                          <p:spTgt spid="377"/>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378"/>
                                        </p:tgtEl>
                                        <p:attrNameLst>
                                          <p:attrName>style.visibility</p:attrName>
                                        </p:attrNameLst>
                                      </p:cBhvr>
                                      <p:to>
                                        <p:strVal val="visible"/>
                                      </p:to>
                                    </p:set>
                                    <p:animEffect filter="dissolve" transition="in">
                                      <p:cBhvr>
                                        <p:cTn id="12" dur="500"/>
                                        <p:tgtEl>
                                          <p:spTgt spid="37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 presetID="2" grpId="3" fill="hold">
                                  <p:stCondLst>
                                    <p:cond delay="0"/>
                                  </p:stCondLst>
                                  <p:iterate type="el" backwards="0">
                                    <p:tmAbs val="0"/>
                                  </p:iterate>
                                  <p:childTnLst>
                                    <p:set>
                                      <p:cBhvr>
                                        <p:cTn id="16" fill="hold"/>
                                        <p:tgtEl>
                                          <p:spTgt spid="379"/>
                                        </p:tgtEl>
                                        <p:attrNameLst>
                                          <p:attrName>style.visibility</p:attrName>
                                        </p:attrNameLst>
                                      </p:cBhvr>
                                      <p:to>
                                        <p:strVal val="visible"/>
                                      </p:to>
                                    </p:set>
                                    <p:anim calcmode="lin" valueType="num">
                                      <p:cBhvr>
                                        <p:cTn id="17" dur="1000" fill="hold"/>
                                        <p:tgtEl>
                                          <p:spTgt spid="379"/>
                                        </p:tgtEl>
                                        <p:attrNameLst>
                                          <p:attrName>ppt_x</p:attrName>
                                        </p:attrNameLst>
                                      </p:cBhvr>
                                      <p:tavLst>
                                        <p:tav tm="0">
                                          <p:val>
                                            <p:strVal val="#ppt_x"/>
                                          </p:val>
                                        </p:tav>
                                        <p:tav tm="100000">
                                          <p:val>
                                            <p:strVal val="#ppt_x"/>
                                          </p:val>
                                        </p:tav>
                                      </p:tavLst>
                                    </p:anim>
                                    <p:anim calcmode="lin" valueType="num">
                                      <p:cBhvr>
                                        <p:cTn id="18" dur="1000" fill="hold"/>
                                        <p:tgtEl>
                                          <p:spTgt spid="379"/>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2" presetID="2" grpId="4" fill="hold">
                                  <p:stCondLst>
                                    <p:cond delay="0"/>
                                  </p:stCondLst>
                                  <p:iterate type="el" backwards="0">
                                    <p:tmAbs val="0"/>
                                  </p:iterate>
                                  <p:childTnLst>
                                    <p:set>
                                      <p:cBhvr>
                                        <p:cTn id="22" fill="hold"/>
                                        <p:tgtEl>
                                          <p:spTgt spid="381"/>
                                        </p:tgtEl>
                                        <p:attrNameLst>
                                          <p:attrName>style.visibility</p:attrName>
                                        </p:attrNameLst>
                                      </p:cBhvr>
                                      <p:to>
                                        <p:strVal val="visible"/>
                                      </p:to>
                                    </p:set>
                                    <p:anim calcmode="lin" valueType="num">
                                      <p:cBhvr>
                                        <p:cTn id="23" dur="1000" fill="hold"/>
                                        <p:tgtEl>
                                          <p:spTgt spid="381"/>
                                        </p:tgtEl>
                                        <p:attrNameLst>
                                          <p:attrName>ppt_x</p:attrName>
                                        </p:attrNameLst>
                                      </p:cBhvr>
                                      <p:tavLst>
                                        <p:tav tm="0">
                                          <p:val>
                                            <p:strVal val="1+#ppt_w/2"/>
                                          </p:val>
                                        </p:tav>
                                        <p:tav tm="100000">
                                          <p:val>
                                            <p:strVal val="#ppt_x"/>
                                          </p:val>
                                        </p:tav>
                                      </p:tavLst>
                                    </p:anim>
                                    <p:anim calcmode="lin" valueType="num">
                                      <p:cBhvr>
                                        <p:cTn id="24" dur="1000" fill="hold"/>
                                        <p:tgtEl>
                                          <p:spTgt spid="38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5" fill="hold">
                                  <p:stCondLst>
                                    <p:cond delay="0"/>
                                  </p:stCondLst>
                                  <p:iterate type="el" backwards="0">
                                    <p:tmAbs val="0"/>
                                  </p:iterate>
                                  <p:childTnLst>
                                    <p:set>
                                      <p:cBhvr>
                                        <p:cTn id="28" fill="hold"/>
                                        <p:tgtEl>
                                          <p:spTgt spid="380"/>
                                        </p:tgtEl>
                                        <p:attrNameLst>
                                          <p:attrName>style.visibility</p:attrName>
                                        </p:attrNameLst>
                                      </p:cBhvr>
                                      <p:to>
                                        <p:strVal val="visible"/>
                                      </p:to>
                                    </p:set>
                                    <p:anim calcmode="lin" valueType="num">
                                      <p:cBhvr>
                                        <p:cTn id="29" dur="1000" fill="hold"/>
                                        <p:tgtEl>
                                          <p:spTgt spid="380"/>
                                        </p:tgtEl>
                                        <p:attrNameLst>
                                          <p:attrName>ppt_x</p:attrName>
                                        </p:attrNameLst>
                                      </p:cBhvr>
                                      <p:tavLst>
                                        <p:tav tm="0">
                                          <p:val>
                                            <p:strVal val="#ppt_x"/>
                                          </p:val>
                                        </p:tav>
                                        <p:tav tm="100000">
                                          <p:val>
                                            <p:strVal val="#ppt_x"/>
                                          </p:val>
                                        </p:tav>
                                      </p:tavLst>
                                    </p:anim>
                                    <p:anim calcmode="lin" valueType="num">
                                      <p:cBhvr>
                                        <p:cTn id="30" dur="1000" fill="hold"/>
                                        <p:tgtEl>
                                          <p:spTgt spid="3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9" grpId="3"/>
      <p:bldP build="whole" bldLvl="1" animBg="1" rev="0" advAuto="0" spid="378" grpId="2"/>
      <p:bldP build="whole" bldLvl="1" animBg="1" rev="0" advAuto="0" spid="381" grpId="4"/>
      <p:bldP build="whole" bldLvl="1" animBg="1" rev="0" advAuto="0" spid="377" grpId="1"/>
      <p:bldP build="whole" bldLvl="1" animBg="1" rev="0" advAuto="0" spid="380" grpId="5"/>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41" name="Группа 15"/>
          <p:cNvGrpSpPr/>
          <p:nvPr/>
        </p:nvGrpSpPr>
        <p:grpSpPr>
          <a:xfrm>
            <a:off x="1987387" y="2560761"/>
            <a:ext cx="20263011" cy="8842599"/>
            <a:chOff x="0" y="0"/>
            <a:chExt cx="20263010" cy="8842598"/>
          </a:xfrm>
        </p:grpSpPr>
        <p:sp>
          <p:nvSpPr>
            <p:cNvPr id="383" name="Project…"/>
            <p:cNvSpPr txBox="1"/>
            <p:nvPr/>
          </p:nvSpPr>
          <p:spPr>
            <a:xfrm>
              <a:off x="0" y="585946"/>
              <a:ext cx="1972574"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01</a:t>
              </a:r>
            </a:p>
          </p:txBody>
        </p:sp>
        <p:sp>
          <p:nvSpPr>
            <p:cNvPr id="384" name="Project…"/>
            <p:cNvSpPr txBox="1"/>
            <p:nvPr/>
          </p:nvSpPr>
          <p:spPr>
            <a:xfrm>
              <a:off x="0" y="2704417"/>
              <a:ext cx="1972574"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02</a:t>
              </a:r>
            </a:p>
          </p:txBody>
        </p:sp>
        <p:sp>
          <p:nvSpPr>
            <p:cNvPr id="385" name="Project…"/>
            <p:cNvSpPr txBox="1"/>
            <p:nvPr/>
          </p:nvSpPr>
          <p:spPr>
            <a:xfrm>
              <a:off x="0" y="4714041"/>
              <a:ext cx="1972574"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03</a:t>
              </a:r>
            </a:p>
          </p:txBody>
        </p:sp>
        <p:sp>
          <p:nvSpPr>
            <p:cNvPr id="386" name="Project…"/>
            <p:cNvSpPr txBox="1"/>
            <p:nvPr/>
          </p:nvSpPr>
          <p:spPr>
            <a:xfrm>
              <a:off x="0" y="6647299"/>
              <a:ext cx="1972574" cy="1498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9000">
                  <a:solidFill>
                    <a:srgbClr val="EBECEB"/>
                  </a:solidFill>
                  <a:latin typeface="Montserrat Bold"/>
                  <a:ea typeface="Montserrat Bold"/>
                  <a:cs typeface="Montserrat Bold"/>
                  <a:sym typeface="Montserrat Bold"/>
                </a:defRPr>
              </a:lvl1pPr>
            </a:lstStyle>
            <a:p>
              <a:pPr/>
              <a:r>
                <a:t>04</a:t>
              </a:r>
            </a:p>
          </p:txBody>
        </p:sp>
        <p:sp>
          <p:nvSpPr>
            <p:cNvPr id="387" name="Прямая соединительная линия 10"/>
            <p:cNvSpPr/>
            <p:nvPr/>
          </p:nvSpPr>
          <p:spPr>
            <a:xfrm flipH="1">
              <a:off x="3141666"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88" name="Прямая соединительная линия 72"/>
            <p:cNvSpPr/>
            <p:nvPr/>
          </p:nvSpPr>
          <p:spPr>
            <a:xfrm flipH="1">
              <a:off x="14216067"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89" name="Прямая соединительная линия 73"/>
            <p:cNvSpPr/>
            <p:nvPr/>
          </p:nvSpPr>
          <p:spPr>
            <a:xfrm flipH="1">
              <a:off x="16984667"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90" name="Прямая соединительная линия 74"/>
            <p:cNvSpPr/>
            <p:nvPr/>
          </p:nvSpPr>
          <p:spPr>
            <a:xfrm flipH="1">
              <a:off x="11447467"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91" name="Прямая соединительная линия 75"/>
            <p:cNvSpPr/>
            <p:nvPr/>
          </p:nvSpPr>
          <p:spPr>
            <a:xfrm flipH="1">
              <a:off x="8678866"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92" name="Прямая соединительная линия 76"/>
            <p:cNvSpPr/>
            <p:nvPr/>
          </p:nvSpPr>
          <p:spPr>
            <a:xfrm flipH="1">
              <a:off x="5910266" y="91222"/>
              <a:ext cx="1" cy="8748001"/>
            </a:xfrm>
            <a:prstGeom prst="line">
              <a:avLst/>
            </a:prstGeom>
            <a:noFill/>
            <a:ln w="38100" cap="flat">
              <a:solidFill>
                <a:srgbClr val="EBECEB"/>
              </a:solidFill>
              <a:prstDash val="dash"/>
              <a:miter lim="400000"/>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393" name="Project…"/>
            <p:cNvSpPr txBox="1"/>
            <p:nvPr/>
          </p:nvSpPr>
          <p:spPr>
            <a:xfrm>
              <a:off x="3421066"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Януари</a:t>
              </a:r>
            </a:p>
          </p:txBody>
        </p:sp>
        <p:sp>
          <p:nvSpPr>
            <p:cNvPr id="394" name="Прямоугольник 31"/>
            <p:cNvSpPr/>
            <p:nvPr/>
          </p:nvSpPr>
          <p:spPr>
            <a:xfrm>
              <a:off x="2708761" y="1236593"/>
              <a:ext cx="17554247"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95" name="Прямоугольник 44"/>
            <p:cNvSpPr/>
            <p:nvPr/>
          </p:nvSpPr>
          <p:spPr>
            <a:xfrm>
              <a:off x="2708761" y="3205083"/>
              <a:ext cx="17554247" cy="1700536"/>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96" name="Прямоугольник 47"/>
            <p:cNvSpPr/>
            <p:nvPr/>
          </p:nvSpPr>
          <p:spPr>
            <a:xfrm>
              <a:off x="2708764" y="5173572"/>
              <a:ext cx="17554247" cy="1700536"/>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97" name="Прямоугольник 48"/>
            <p:cNvSpPr/>
            <p:nvPr/>
          </p:nvSpPr>
          <p:spPr>
            <a:xfrm>
              <a:off x="4384518" y="5603811"/>
              <a:ext cx="3027569" cy="864001"/>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98" name="Прямоугольник 70"/>
            <p:cNvSpPr/>
            <p:nvPr/>
          </p:nvSpPr>
          <p:spPr>
            <a:xfrm>
              <a:off x="2708764" y="7142063"/>
              <a:ext cx="17554247" cy="1700536"/>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399" name="Project…"/>
            <p:cNvSpPr txBox="1"/>
            <p:nvPr/>
          </p:nvSpPr>
          <p:spPr>
            <a:xfrm>
              <a:off x="6189665"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февруари</a:t>
              </a:r>
            </a:p>
          </p:txBody>
        </p:sp>
        <p:sp>
          <p:nvSpPr>
            <p:cNvPr id="400" name="Project…"/>
            <p:cNvSpPr txBox="1"/>
            <p:nvPr/>
          </p:nvSpPr>
          <p:spPr>
            <a:xfrm>
              <a:off x="8958264"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март</a:t>
              </a:r>
            </a:p>
          </p:txBody>
        </p:sp>
        <p:sp>
          <p:nvSpPr>
            <p:cNvPr id="401" name="Project…"/>
            <p:cNvSpPr txBox="1"/>
            <p:nvPr/>
          </p:nvSpPr>
          <p:spPr>
            <a:xfrm>
              <a:off x="11703628"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април</a:t>
              </a:r>
            </a:p>
          </p:txBody>
        </p:sp>
        <p:sp>
          <p:nvSpPr>
            <p:cNvPr id="402" name="Project…"/>
            <p:cNvSpPr txBox="1"/>
            <p:nvPr/>
          </p:nvSpPr>
          <p:spPr>
            <a:xfrm>
              <a:off x="1444899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май</a:t>
              </a:r>
            </a:p>
          </p:txBody>
        </p:sp>
        <p:sp>
          <p:nvSpPr>
            <p:cNvPr id="403" name="Project…"/>
            <p:cNvSpPr txBox="1"/>
            <p:nvPr/>
          </p:nvSpPr>
          <p:spPr>
            <a:xfrm>
              <a:off x="1721759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юни</a:t>
              </a:r>
            </a:p>
          </p:txBody>
        </p:sp>
        <p:grpSp>
          <p:nvGrpSpPr>
            <p:cNvPr id="406" name="Группа 14"/>
            <p:cNvGrpSpPr/>
            <p:nvPr/>
          </p:nvGrpSpPr>
          <p:grpSpPr>
            <a:xfrm>
              <a:off x="121342" y="1264701"/>
              <a:ext cx="2412589" cy="1539533"/>
              <a:chOff x="0" y="0"/>
              <a:chExt cx="2412587" cy="1539532"/>
            </a:xfrm>
          </p:grpSpPr>
          <p:sp>
            <p:nvSpPr>
              <p:cNvPr id="404" name="Project…"/>
              <p:cNvSpPr txBox="1"/>
              <p:nvPr/>
            </p:nvSpPr>
            <p:spPr>
              <a:xfrm>
                <a:off x="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Задача</a:t>
                </a:r>
              </a:p>
            </p:txBody>
          </p:sp>
          <p:sp>
            <p:nvSpPr>
              <p:cNvPr id="405" name="Profesional Template for PowerPoint, Keynote, Google Slides"/>
              <p:cNvSpPr txBox="1"/>
              <p:nvPr/>
            </p:nvSpPr>
            <p:spPr>
              <a:xfrm>
                <a:off x="17230" y="487972"/>
                <a:ext cx="2395358"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Lorem Ipsum is simply dummy</a:t>
                </a:r>
              </a:p>
            </p:txBody>
          </p:sp>
        </p:grpSp>
        <p:grpSp>
          <p:nvGrpSpPr>
            <p:cNvPr id="409" name="Группа 11"/>
            <p:cNvGrpSpPr/>
            <p:nvPr/>
          </p:nvGrpSpPr>
          <p:grpSpPr>
            <a:xfrm>
              <a:off x="3116267" y="1666831"/>
              <a:ext cx="6298790" cy="864000"/>
              <a:chOff x="0" y="0"/>
              <a:chExt cx="6298788" cy="863999"/>
            </a:xfrm>
          </p:grpSpPr>
          <p:sp>
            <p:nvSpPr>
              <p:cNvPr id="407" name="Прямоугольник 41"/>
              <p:cNvSpPr/>
              <p:nvPr/>
            </p:nvSpPr>
            <p:spPr>
              <a:xfrm>
                <a:off x="0" y="0"/>
                <a:ext cx="6298789" cy="864000"/>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08" name="Profesional Template for PowerPoint, Keynote, Google Slides"/>
              <p:cNvSpPr txBox="1"/>
              <p:nvPr/>
            </p:nvSpPr>
            <p:spPr>
              <a:xfrm>
                <a:off x="71849" y="131476"/>
                <a:ext cx="6226939"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 dummy</a:t>
                </a:r>
              </a:p>
            </p:txBody>
          </p:sp>
        </p:grpSp>
        <p:grpSp>
          <p:nvGrpSpPr>
            <p:cNvPr id="412" name="Группа 86"/>
            <p:cNvGrpSpPr/>
            <p:nvPr/>
          </p:nvGrpSpPr>
          <p:grpSpPr>
            <a:xfrm>
              <a:off x="9945649" y="1666831"/>
              <a:ext cx="3365176" cy="864000"/>
              <a:chOff x="0" y="0"/>
              <a:chExt cx="3365175" cy="863999"/>
            </a:xfrm>
          </p:grpSpPr>
          <p:sp>
            <p:nvSpPr>
              <p:cNvPr id="410" name="Прямоугольник 87"/>
              <p:cNvSpPr/>
              <p:nvPr/>
            </p:nvSpPr>
            <p:spPr>
              <a:xfrm>
                <a:off x="-1" y="0"/>
                <a:ext cx="3365177" cy="864000"/>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11" name="Profesional Template for PowerPoint, Keynote, Google Slides"/>
              <p:cNvSpPr txBox="1"/>
              <p:nvPr/>
            </p:nvSpPr>
            <p:spPr>
              <a:xfrm>
                <a:off x="71848" y="131476"/>
                <a:ext cx="3293326"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a:t>
                </a:r>
              </a:p>
            </p:txBody>
          </p:sp>
        </p:grpSp>
        <p:grpSp>
          <p:nvGrpSpPr>
            <p:cNvPr id="415" name="Группа 89"/>
            <p:cNvGrpSpPr/>
            <p:nvPr/>
          </p:nvGrpSpPr>
          <p:grpSpPr>
            <a:xfrm>
              <a:off x="16599544" y="1666831"/>
              <a:ext cx="3365177" cy="864000"/>
              <a:chOff x="0" y="0"/>
              <a:chExt cx="3365175" cy="863999"/>
            </a:xfrm>
          </p:grpSpPr>
          <p:sp>
            <p:nvSpPr>
              <p:cNvPr id="413" name="Прямоугольник 90"/>
              <p:cNvSpPr/>
              <p:nvPr/>
            </p:nvSpPr>
            <p:spPr>
              <a:xfrm>
                <a:off x="-1" y="0"/>
                <a:ext cx="3365177" cy="864000"/>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14" name="Profesional Template for PowerPoint, Keynote, Google Slides"/>
              <p:cNvSpPr txBox="1"/>
              <p:nvPr/>
            </p:nvSpPr>
            <p:spPr>
              <a:xfrm>
                <a:off x="71848" y="131476"/>
                <a:ext cx="3293326"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a:t>
                </a:r>
              </a:p>
            </p:txBody>
          </p:sp>
        </p:grpSp>
        <p:grpSp>
          <p:nvGrpSpPr>
            <p:cNvPr id="418" name="Группа 12"/>
            <p:cNvGrpSpPr/>
            <p:nvPr/>
          </p:nvGrpSpPr>
          <p:grpSpPr>
            <a:xfrm>
              <a:off x="5870078" y="3635321"/>
              <a:ext cx="5833544" cy="864001"/>
              <a:chOff x="0" y="0"/>
              <a:chExt cx="5833543" cy="863999"/>
            </a:xfrm>
          </p:grpSpPr>
          <p:sp>
            <p:nvSpPr>
              <p:cNvPr id="416" name="Прямоугольник 45"/>
              <p:cNvSpPr/>
              <p:nvPr/>
            </p:nvSpPr>
            <p:spPr>
              <a:xfrm>
                <a:off x="-1" y="0"/>
                <a:ext cx="5833545" cy="864000"/>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17" name="Profesional Template for PowerPoint, Keynote, Google Slides"/>
              <p:cNvSpPr txBox="1"/>
              <p:nvPr/>
            </p:nvSpPr>
            <p:spPr>
              <a:xfrm>
                <a:off x="-1" y="118376"/>
                <a:ext cx="583354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 dummy</a:t>
                </a:r>
              </a:p>
            </p:txBody>
          </p:sp>
        </p:grpSp>
        <p:grpSp>
          <p:nvGrpSpPr>
            <p:cNvPr id="421" name="Группа 93"/>
            <p:cNvGrpSpPr/>
            <p:nvPr/>
          </p:nvGrpSpPr>
          <p:grpSpPr>
            <a:xfrm>
              <a:off x="12975231" y="3635321"/>
              <a:ext cx="4519184" cy="864001"/>
              <a:chOff x="0" y="0"/>
              <a:chExt cx="4519183" cy="863999"/>
            </a:xfrm>
          </p:grpSpPr>
          <p:sp>
            <p:nvSpPr>
              <p:cNvPr id="419" name="Прямоугольник 94"/>
              <p:cNvSpPr/>
              <p:nvPr/>
            </p:nvSpPr>
            <p:spPr>
              <a:xfrm>
                <a:off x="-1" y="0"/>
                <a:ext cx="4519185" cy="864000"/>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20" name="Profesional Template for PowerPoint, Keynote, Google Slides"/>
              <p:cNvSpPr txBox="1"/>
              <p:nvPr/>
            </p:nvSpPr>
            <p:spPr>
              <a:xfrm>
                <a:off x="-1" y="118376"/>
                <a:ext cx="451918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a:t>
                </a:r>
              </a:p>
            </p:txBody>
          </p:sp>
        </p:grpSp>
        <p:sp>
          <p:nvSpPr>
            <p:cNvPr id="422" name="Profesional Template for PowerPoint, Keynote, Google Slides"/>
            <p:cNvSpPr txBox="1"/>
            <p:nvPr/>
          </p:nvSpPr>
          <p:spPr>
            <a:xfrm>
              <a:off x="4382504" y="5731143"/>
              <a:ext cx="3027569"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a:t>
              </a:r>
            </a:p>
          </p:txBody>
        </p:sp>
        <p:grpSp>
          <p:nvGrpSpPr>
            <p:cNvPr id="425" name="Группа 97"/>
            <p:cNvGrpSpPr/>
            <p:nvPr/>
          </p:nvGrpSpPr>
          <p:grpSpPr>
            <a:xfrm>
              <a:off x="9026511" y="5603811"/>
              <a:ext cx="6298789" cy="864001"/>
              <a:chOff x="0" y="0"/>
              <a:chExt cx="6298788" cy="863999"/>
            </a:xfrm>
          </p:grpSpPr>
          <p:sp>
            <p:nvSpPr>
              <p:cNvPr id="423" name="Прямоугольник 98"/>
              <p:cNvSpPr/>
              <p:nvPr/>
            </p:nvSpPr>
            <p:spPr>
              <a:xfrm>
                <a:off x="0" y="0"/>
                <a:ext cx="6298789" cy="864000"/>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24" name="Profesional Template for PowerPoint, Keynote, Google Slides"/>
              <p:cNvSpPr txBox="1"/>
              <p:nvPr/>
            </p:nvSpPr>
            <p:spPr>
              <a:xfrm>
                <a:off x="71849" y="131476"/>
                <a:ext cx="6226939"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 dummy</a:t>
                </a:r>
              </a:p>
            </p:txBody>
          </p:sp>
        </p:grpSp>
        <p:grpSp>
          <p:nvGrpSpPr>
            <p:cNvPr id="428" name="Группа 13"/>
            <p:cNvGrpSpPr/>
            <p:nvPr/>
          </p:nvGrpSpPr>
          <p:grpSpPr>
            <a:xfrm>
              <a:off x="3116269" y="7572301"/>
              <a:ext cx="7062946" cy="864001"/>
              <a:chOff x="0" y="0"/>
              <a:chExt cx="7062944" cy="863999"/>
            </a:xfrm>
          </p:grpSpPr>
          <p:sp>
            <p:nvSpPr>
              <p:cNvPr id="426" name="Прямоугольник 71"/>
              <p:cNvSpPr/>
              <p:nvPr/>
            </p:nvSpPr>
            <p:spPr>
              <a:xfrm>
                <a:off x="0" y="0"/>
                <a:ext cx="7062945" cy="864000"/>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27" name="Profesional Template for PowerPoint, Keynote, Google Slides"/>
              <p:cNvSpPr txBox="1"/>
              <p:nvPr/>
            </p:nvSpPr>
            <p:spPr>
              <a:xfrm>
                <a:off x="515917" y="147004"/>
                <a:ext cx="583354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 dummy</a:t>
                </a:r>
              </a:p>
            </p:txBody>
          </p:sp>
        </p:grpSp>
        <p:grpSp>
          <p:nvGrpSpPr>
            <p:cNvPr id="431" name="Группа 101"/>
            <p:cNvGrpSpPr/>
            <p:nvPr/>
          </p:nvGrpSpPr>
          <p:grpSpPr>
            <a:xfrm>
              <a:off x="12440694" y="7572301"/>
              <a:ext cx="7062946" cy="864001"/>
              <a:chOff x="0" y="0"/>
              <a:chExt cx="7062944" cy="863999"/>
            </a:xfrm>
          </p:grpSpPr>
          <p:sp>
            <p:nvSpPr>
              <p:cNvPr id="429" name="Прямоугольник 102"/>
              <p:cNvSpPr/>
              <p:nvPr/>
            </p:nvSpPr>
            <p:spPr>
              <a:xfrm>
                <a:off x="0" y="0"/>
                <a:ext cx="7062945" cy="864000"/>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430" name="Profesional Template for PowerPoint, Keynote, Google Slides"/>
              <p:cNvSpPr txBox="1"/>
              <p:nvPr/>
            </p:nvSpPr>
            <p:spPr>
              <a:xfrm>
                <a:off x="515917" y="147004"/>
                <a:ext cx="583354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600">
                    <a:solidFill>
                      <a:srgbClr val="FFFFFF"/>
                    </a:solidFill>
                    <a:latin typeface="Roboto Regular"/>
                    <a:ea typeface="Roboto Regular"/>
                    <a:cs typeface="Roboto Regular"/>
                    <a:sym typeface="Roboto Regular"/>
                  </a:defRPr>
                </a:lvl1pPr>
              </a:lstStyle>
              <a:p>
                <a:pPr/>
                <a:r>
                  <a:t>Lorem Ipsum is simply dummy</a:t>
                </a:r>
              </a:p>
            </p:txBody>
          </p:sp>
        </p:grpSp>
        <p:grpSp>
          <p:nvGrpSpPr>
            <p:cNvPr id="434" name="Группа 107"/>
            <p:cNvGrpSpPr/>
            <p:nvPr/>
          </p:nvGrpSpPr>
          <p:grpSpPr>
            <a:xfrm>
              <a:off x="121342" y="3258596"/>
              <a:ext cx="2412589" cy="1539534"/>
              <a:chOff x="0" y="0"/>
              <a:chExt cx="2412587" cy="1539532"/>
            </a:xfrm>
          </p:grpSpPr>
          <p:sp>
            <p:nvSpPr>
              <p:cNvPr id="432" name="Project…"/>
              <p:cNvSpPr txBox="1"/>
              <p:nvPr/>
            </p:nvSpPr>
            <p:spPr>
              <a:xfrm>
                <a:off x="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Задача</a:t>
                </a:r>
              </a:p>
            </p:txBody>
          </p:sp>
          <p:sp>
            <p:nvSpPr>
              <p:cNvPr id="433" name="Profesional Template for PowerPoint, Keynote, Google Slides"/>
              <p:cNvSpPr txBox="1"/>
              <p:nvPr/>
            </p:nvSpPr>
            <p:spPr>
              <a:xfrm>
                <a:off x="17230" y="487972"/>
                <a:ext cx="2395358"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Lorem Ipsum is simply dummy</a:t>
                </a:r>
              </a:p>
            </p:txBody>
          </p:sp>
        </p:grpSp>
        <p:grpSp>
          <p:nvGrpSpPr>
            <p:cNvPr id="437" name="Группа 110"/>
            <p:cNvGrpSpPr/>
            <p:nvPr/>
          </p:nvGrpSpPr>
          <p:grpSpPr>
            <a:xfrm>
              <a:off x="121342" y="5252491"/>
              <a:ext cx="2412589" cy="1539533"/>
              <a:chOff x="0" y="0"/>
              <a:chExt cx="2412587" cy="1539532"/>
            </a:xfrm>
          </p:grpSpPr>
          <p:sp>
            <p:nvSpPr>
              <p:cNvPr id="435" name="Project…"/>
              <p:cNvSpPr txBox="1"/>
              <p:nvPr/>
            </p:nvSpPr>
            <p:spPr>
              <a:xfrm>
                <a:off x="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Задача</a:t>
                </a:r>
              </a:p>
            </p:txBody>
          </p:sp>
          <p:sp>
            <p:nvSpPr>
              <p:cNvPr id="436" name="Profesional Template for PowerPoint, Keynote, Google Slides"/>
              <p:cNvSpPr txBox="1"/>
              <p:nvPr/>
            </p:nvSpPr>
            <p:spPr>
              <a:xfrm>
                <a:off x="17230" y="487972"/>
                <a:ext cx="2395358"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Lorem Ipsum is simply dummy</a:t>
                </a:r>
              </a:p>
            </p:txBody>
          </p:sp>
        </p:grpSp>
        <p:grpSp>
          <p:nvGrpSpPr>
            <p:cNvPr id="440" name="Группа 113"/>
            <p:cNvGrpSpPr/>
            <p:nvPr/>
          </p:nvGrpSpPr>
          <p:grpSpPr>
            <a:xfrm>
              <a:off x="121342" y="7246387"/>
              <a:ext cx="2412589" cy="1539534"/>
              <a:chOff x="0" y="0"/>
              <a:chExt cx="2412587" cy="1539532"/>
            </a:xfrm>
          </p:grpSpPr>
          <p:sp>
            <p:nvSpPr>
              <p:cNvPr id="438" name="Project…"/>
              <p:cNvSpPr txBox="1"/>
              <p:nvPr/>
            </p:nvSpPr>
            <p:spPr>
              <a:xfrm>
                <a:off x="0" y="0"/>
                <a:ext cx="2005083"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200">
                    <a:solidFill>
                      <a:srgbClr val="252625"/>
                    </a:solidFill>
                    <a:latin typeface="Montserrat Bold"/>
                    <a:ea typeface="Montserrat Bold"/>
                    <a:cs typeface="Montserrat Bold"/>
                    <a:sym typeface="Montserrat Bold"/>
                  </a:defRPr>
                </a:lvl1pPr>
              </a:lstStyle>
              <a:p>
                <a:pPr/>
                <a:r>
                  <a:t>Задача</a:t>
                </a:r>
              </a:p>
            </p:txBody>
          </p:sp>
          <p:sp>
            <p:nvSpPr>
              <p:cNvPr id="439" name="Profesional Template for PowerPoint, Keynote, Google Slides"/>
              <p:cNvSpPr txBox="1"/>
              <p:nvPr/>
            </p:nvSpPr>
            <p:spPr>
              <a:xfrm>
                <a:off x="17230" y="487972"/>
                <a:ext cx="2395358"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Lorem Ipsum is simply dummy</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41"/>
                                        </p:tgtEl>
                                        <p:attrNameLst>
                                          <p:attrName>style.visibility</p:attrName>
                                        </p:attrNameLst>
                                      </p:cBhvr>
                                      <p:to>
                                        <p:strVal val="visible"/>
                                      </p:to>
                                    </p:set>
                                    <p:animEffect filter="dissolve" transition="in">
                                      <p:cBhvr>
                                        <p:cTn id="7" dur="5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1"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45" name="Группа 1"/>
          <p:cNvGrpSpPr/>
          <p:nvPr/>
        </p:nvGrpSpPr>
        <p:grpSpPr>
          <a:xfrm>
            <a:off x="2056153" y="4287899"/>
            <a:ext cx="8467112" cy="6146135"/>
            <a:chOff x="0" y="0"/>
            <a:chExt cx="8467110" cy="6146134"/>
          </a:xfrm>
        </p:grpSpPr>
        <p:sp>
          <p:nvSpPr>
            <p:cNvPr id="443" name="Project…"/>
            <p:cNvSpPr txBox="1"/>
            <p:nvPr/>
          </p:nvSpPr>
          <p:spPr>
            <a:xfrm>
              <a:off x="0" y="-1"/>
              <a:ext cx="8183229" cy="1955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6000">
                  <a:solidFill>
                    <a:srgbClr val="252625"/>
                  </a:solidFill>
                  <a:latin typeface="Montserrat Bold"/>
                  <a:ea typeface="Montserrat Bold"/>
                  <a:cs typeface="Montserrat Bold"/>
                  <a:sym typeface="Montserrat Bold"/>
                </a:defRPr>
              </a:pPr>
              <a:r>
                <a:t>натоварване на </a:t>
              </a:r>
              <a:r>
                <a:rPr>
                  <a:solidFill>
                    <a:srgbClr val="3F57D1"/>
                  </a:solidFill>
                </a:rPr>
                <a:t>ресурсите</a:t>
              </a:r>
            </a:p>
          </p:txBody>
        </p:sp>
        <p:sp>
          <p:nvSpPr>
            <p:cNvPr id="444" name="Profesional Template for PowerPoint, Keynote, Google Slides"/>
            <p:cNvSpPr txBox="1"/>
            <p:nvPr/>
          </p:nvSpPr>
          <p:spPr>
            <a:xfrm>
              <a:off x="17484" y="1985613"/>
              <a:ext cx="8449627" cy="41605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Това е работа на ръководителя на проекта, мениджъра, директният човек, който работи с инженерите. Хубаво е да е организират срещи и служителите, инженерите, хората, които работя по продукта да дават обратна връзка. Много е ключово в този процес да има постоянна обратна връзка от всяка една от страните, защото този път по този начин работата се върши за по-кратко време.</a:t>
              </a:r>
            </a:p>
          </p:txBody>
        </p:sp>
      </p:grpSp>
      <p:pic>
        <p:nvPicPr>
          <p:cNvPr id="446" name="isometric_data.jpg" descr="isometric_data.jpg"/>
          <p:cNvPicPr>
            <a:picLocks noChangeAspect="1"/>
          </p:cNvPicPr>
          <p:nvPr>
            <p:ph type="pic" idx="19"/>
          </p:nvPr>
        </p:nvPicPr>
        <p:blipFill>
          <a:blip r:embed="rId2">
            <a:extLst/>
          </a:blip>
          <a:srcRect l="6006" t="0" r="6006" b="0"/>
          <a:stretch>
            <a:fillRect/>
          </a:stretch>
        </p:blipFill>
        <p:spPr>
          <a:xfrm>
            <a:off x="12844156" y="1957114"/>
            <a:ext cx="11539845" cy="98364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45"/>
                                        </p:tgtEl>
                                        <p:attrNameLst>
                                          <p:attrName>style.visibility</p:attrName>
                                        </p:attrNameLst>
                                      </p:cBhvr>
                                      <p:to>
                                        <p:strVal val="visible"/>
                                      </p:to>
                                    </p:set>
                                    <p:anim calcmode="lin" valueType="num">
                                      <p:cBhvr>
                                        <p:cTn id="7" dur="500" fill="hold"/>
                                        <p:tgtEl>
                                          <p:spTgt spid="445"/>
                                        </p:tgtEl>
                                        <p:attrNameLst>
                                          <p:attrName>ppt_x</p:attrName>
                                        </p:attrNameLst>
                                      </p:cBhvr>
                                      <p:tavLst>
                                        <p:tav tm="0">
                                          <p:val>
                                            <p:strVal val="0-#ppt_w/2"/>
                                          </p:val>
                                        </p:tav>
                                        <p:tav tm="100000">
                                          <p:val>
                                            <p:strVal val="#ppt_x"/>
                                          </p:val>
                                        </p:tav>
                                      </p:tavLst>
                                    </p:anim>
                                    <p:anim calcmode="lin" valueType="num">
                                      <p:cBhvr>
                                        <p:cTn id="8" dur="500" fill="hold"/>
                                        <p:tgtEl>
                                          <p:spTgt spid="4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2" presetID="2" grpId="2" fill="hold">
                                  <p:stCondLst>
                                    <p:cond delay="0"/>
                                  </p:stCondLst>
                                  <p:iterate type="el" backwards="0">
                                    <p:tmAbs val="0"/>
                                  </p:iterate>
                                  <p:childTnLst>
                                    <p:set>
                                      <p:cBhvr>
                                        <p:cTn id="12" fill="hold"/>
                                        <p:tgtEl>
                                          <p:spTgt spid="446"/>
                                        </p:tgtEl>
                                        <p:attrNameLst>
                                          <p:attrName>style.visibility</p:attrName>
                                        </p:attrNameLst>
                                      </p:cBhvr>
                                      <p:to>
                                        <p:strVal val="visible"/>
                                      </p:to>
                                    </p:set>
                                    <p:anim calcmode="lin" valueType="num">
                                      <p:cBhvr>
                                        <p:cTn id="13" dur="1000" fill="hold"/>
                                        <p:tgtEl>
                                          <p:spTgt spid="446"/>
                                        </p:tgtEl>
                                        <p:attrNameLst>
                                          <p:attrName>ppt_x</p:attrName>
                                        </p:attrNameLst>
                                      </p:cBhvr>
                                      <p:tavLst>
                                        <p:tav tm="0">
                                          <p:val>
                                            <p:strVal val="1+#ppt_w/2"/>
                                          </p:val>
                                        </p:tav>
                                        <p:tav tm="100000">
                                          <p:val>
                                            <p:strVal val="#ppt_x"/>
                                          </p:val>
                                        </p:tav>
                                      </p:tavLst>
                                    </p:anim>
                                    <p:anim calcmode="lin" valueType="num">
                                      <p:cBhvr>
                                        <p:cTn id="14" dur="1000" fill="hold"/>
                                        <p:tgtEl>
                                          <p:spTgt spid="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6" grpId="2"/>
      <p:bldP build="whole" bldLvl="1" animBg="1" rev="0" advAuto="0" spid="445"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48" name="1.png" descr="1.png"/>
          <p:cNvPicPr>
            <a:picLocks noChangeAspect="1"/>
          </p:cNvPicPr>
          <p:nvPr>
            <p:ph type="pic" idx="13"/>
          </p:nvPr>
        </p:nvPicPr>
        <p:blipFill>
          <a:blip r:embed="rId2">
            <a:extLst/>
          </a:blip>
          <a:srcRect l="0" t="9692" r="0" b="9692"/>
          <a:stretch>
            <a:fillRect/>
          </a:stretch>
        </p:blipFill>
        <p:spPr>
          <a:xfrm>
            <a:off x="15301732" y="2411648"/>
            <a:ext cx="11269656" cy="6813845"/>
          </a:xfrm>
          <a:prstGeom prst="rect">
            <a:avLst/>
          </a:prstGeom>
        </p:spPr>
      </p:pic>
      <p:sp>
        <p:nvSpPr>
          <p:cNvPr id="449" name="Полилиния 25"/>
          <p:cNvSpPr/>
          <p:nvPr/>
        </p:nvSpPr>
        <p:spPr>
          <a:xfrm rot="18900000">
            <a:off x="-8991965" y="-4215355"/>
            <a:ext cx="25449019" cy="113292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5903"/>
                </a:moveTo>
                <a:lnTo>
                  <a:pt x="21600" y="21600"/>
                </a:lnTo>
                <a:lnTo>
                  <a:pt x="7080" y="21600"/>
                </a:lnTo>
                <a:lnTo>
                  <a:pt x="7080" y="15903"/>
                </a:lnTo>
                <a:close/>
                <a:moveTo>
                  <a:pt x="18060" y="7952"/>
                </a:moveTo>
                <a:lnTo>
                  <a:pt x="18060" y="13648"/>
                </a:lnTo>
                <a:lnTo>
                  <a:pt x="3540" y="13648"/>
                </a:lnTo>
                <a:lnTo>
                  <a:pt x="3540" y="7952"/>
                </a:lnTo>
                <a:close/>
                <a:moveTo>
                  <a:pt x="14520" y="0"/>
                </a:moveTo>
                <a:lnTo>
                  <a:pt x="14520" y="5697"/>
                </a:lnTo>
                <a:lnTo>
                  <a:pt x="0" y="5697"/>
                </a:lnTo>
                <a:lnTo>
                  <a:pt x="0" y="0"/>
                </a:lnTo>
                <a:close/>
              </a:path>
            </a:pathLst>
          </a:custGeom>
          <a:gradFill>
            <a:gsLst>
              <a:gs pos="0">
                <a:srgbClr val="EBECEB"/>
              </a:gs>
              <a:gs pos="79000">
                <a:srgbClr val="FFFFFF"/>
              </a:gs>
            </a:gsLst>
            <a:lin ang="7799999"/>
          </a:gra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grpSp>
        <p:nvGrpSpPr>
          <p:cNvPr id="452" name="Группа 1"/>
          <p:cNvGrpSpPr/>
          <p:nvPr/>
        </p:nvGrpSpPr>
        <p:grpSpPr>
          <a:xfrm>
            <a:off x="2027875" y="3573445"/>
            <a:ext cx="11643430" cy="7769528"/>
            <a:chOff x="0" y="0"/>
            <a:chExt cx="11643428" cy="7769526"/>
          </a:xfrm>
        </p:grpSpPr>
        <p:sp>
          <p:nvSpPr>
            <p:cNvPr id="450" name="Profesional Template for PowerPoint, Keynote, Google Slides"/>
            <p:cNvSpPr txBox="1"/>
            <p:nvPr/>
          </p:nvSpPr>
          <p:spPr>
            <a:xfrm>
              <a:off x="123205" y="3609006"/>
              <a:ext cx="11520224" cy="41605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Извършването на анализ на ползите и разходите е задължително условие, за да бъдат одобрени големите инфраструктурни проекти, които финансира Европейският съюз. Този анализ изисква специализирани познания и последователното прилагане на редица концепции, за да се докаже, че проектът е целесъобразен от икономическа гледна точка и допринася за целите на регионалната политика на Европейския съюз и приносът от Фондовете на ЕС е необходим за да бъде проектът осъществим.</a:t>
              </a:r>
            </a:p>
          </p:txBody>
        </p:sp>
        <p:sp>
          <p:nvSpPr>
            <p:cNvPr id="451" name="Project…"/>
            <p:cNvSpPr txBox="1"/>
            <p:nvPr/>
          </p:nvSpPr>
          <p:spPr>
            <a:xfrm>
              <a:off x="0" y="-1"/>
              <a:ext cx="11643428" cy="320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10000">
                  <a:solidFill>
                    <a:srgbClr val="252625"/>
                  </a:solidFill>
                  <a:latin typeface="Montserrat Bold"/>
                  <a:ea typeface="Montserrat Bold"/>
                  <a:cs typeface="Montserrat Bold"/>
                  <a:sym typeface="Montserrat Bold"/>
                </a:defRPr>
              </a:pPr>
              <a:r>
                <a:t>Анализ на </a:t>
              </a:r>
              <a:r>
                <a:rPr>
                  <a:solidFill>
                    <a:srgbClr val="3F57D1"/>
                  </a:solidFill>
                </a:rPr>
                <a:t>разходите</a:t>
              </a:r>
            </a:p>
          </p:txBody>
        </p:sp>
      </p:grpSp>
      <p:grpSp>
        <p:nvGrpSpPr>
          <p:cNvPr id="459" name="Группа"/>
          <p:cNvGrpSpPr/>
          <p:nvPr/>
        </p:nvGrpSpPr>
        <p:grpSpPr>
          <a:xfrm>
            <a:off x="14883767" y="2141034"/>
            <a:ext cx="12042845" cy="9631712"/>
            <a:chOff x="0" y="0"/>
            <a:chExt cx="12042843" cy="9631711"/>
          </a:xfrm>
        </p:grpSpPr>
        <p:sp>
          <p:nvSpPr>
            <p:cNvPr id="453" name="Фигура"/>
            <p:cNvSpPr/>
            <p:nvPr/>
          </p:nvSpPr>
          <p:spPr>
            <a:xfrm>
              <a:off x="4207829" y="9577664"/>
              <a:ext cx="3636029" cy="54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 y="0"/>
                  </a:moveTo>
                  <a:lnTo>
                    <a:pt x="0" y="5478"/>
                  </a:lnTo>
                  <a:cubicBezTo>
                    <a:pt x="21" y="8389"/>
                    <a:pt x="49" y="11036"/>
                    <a:pt x="84" y="13304"/>
                  </a:cubicBezTo>
                  <a:cubicBezTo>
                    <a:pt x="164" y="18597"/>
                    <a:pt x="272" y="21500"/>
                    <a:pt x="384" y="21600"/>
                  </a:cubicBezTo>
                  <a:lnTo>
                    <a:pt x="21216" y="21600"/>
                  </a:lnTo>
                  <a:cubicBezTo>
                    <a:pt x="21327" y="21457"/>
                    <a:pt x="21434" y="18545"/>
                    <a:pt x="21514" y="13304"/>
                  </a:cubicBezTo>
                  <a:cubicBezTo>
                    <a:pt x="21549" y="11028"/>
                    <a:pt x="21578" y="8393"/>
                    <a:pt x="21600" y="5478"/>
                  </a:cubicBezTo>
                  <a:lnTo>
                    <a:pt x="21502" y="0"/>
                  </a:lnTo>
                  <a:lnTo>
                    <a:pt x="98" y="0"/>
                  </a:lnTo>
                  <a:close/>
                </a:path>
              </a:pathLst>
            </a:custGeom>
            <a:solidFill>
              <a:srgbClr val="919191"/>
            </a:solidFill>
            <a:ln w="12700" cap="flat">
              <a:noFill/>
              <a:miter lim="400000"/>
            </a:ln>
            <a:effectLst/>
          </p:spPr>
          <p:txBody>
            <a:bodyPr wrap="square" lIns="0" tIns="0" rIns="0" bIns="0" numCol="1" anchor="ctr">
              <a:noAutofit/>
            </a:bodyPr>
            <a:lstStyle/>
            <a:p>
              <a:pPr>
                <a:defRPr sz="3200">
                  <a:solidFill>
                    <a:srgbClr val="B58D72"/>
                  </a:solidFill>
                </a:defRPr>
              </a:pPr>
            </a:p>
          </p:txBody>
        </p:sp>
        <p:sp>
          <p:nvSpPr>
            <p:cNvPr id="454" name="Фигура"/>
            <p:cNvSpPr/>
            <p:nvPr/>
          </p:nvSpPr>
          <p:spPr>
            <a:xfrm>
              <a:off x="4206312" y="8118006"/>
              <a:ext cx="3641074" cy="1481984"/>
            </a:xfrm>
            <a:custGeom>
              <a:avLst/>
              <a:gdLst/>
              <a:ahLst/>
              <a:cxnLst>
                <a:cxn ang="0">
                  <a:pos x="wd2" y="hd2"/>
                </a:cxn>
                <a:cxn ang="5400000">
                  <a:pos x="wd2" y="hd2"/>
                </a:cxn>
                <a:cxn ang="10800000">
                  <a:pos x="wd2" y="hd2"/>
                </a:cxn>
                <a:cxn ang="16200000">
                  <a:pos x="wd2" y="hd2"/>
                </a:cxn>
              </a:cxnLst>
              <a:rect l="0" t="0" r="r" b="b"/>
              <a:pathLst>
                <a:path w="21567" h="21600" fill="norm" stroke="1" extrusionOk="0">
                  <a:moveTo>
                    <a:pt x="3643" y="0"/>
                  </a:moveTo>
                  <a:lnTo>
                    <a:pt x="3371" y="14510"/>
                  </a:lnTo>
                  <a:cubicBezTo>
                    <a:pt x="3361" y="15415"/>
                    <a:pt x="3288" y="16304"/>
                    <a:pt x="3160" y="17142"/>
                  </a:cubicBezTo>
                  <a:cubicBezTo>
                    <a:pt x="3074" y="17707"/>
                    <a:pt x="2963" y="18253"/>
                    <a:pt x="2798" y="18712"/>
                  </a:cubicBezTo>
                  <a:cubicBezTo>
                    <a:pt x="2623" y="19200"/>
                    <a:pt x="2397" y="19566"/>
                    <a:pt x="2144" y="19762"/>
                  </a:cubicBezTo>
                  <a:cubicBezTo>
                    <a:pt x="1813" y="20018"/>
                    <a:pt x="1481" y="20260"/>
                    <a:pt x="1147" y="20493"/>
                  </a:cubicBezTo>
                  <a:cubicBezTo>
                    <a:pt x="785" y="20744"/>
                    <a:pt x="423" y="20985"/>
                    <a:pt x="59" y="21212"/>
                  </a:cubicBezTo>
                  <a:cubicBezTo>
                    <a:pt x="7" y="21232"/>
                    <a:pt x="-17" y="21374"/>
                    <a:pt x="12" y="21480"/>
                  </a:cubicBezTo>
                  <a:cubicBezTo>
                    <a:pt x="25" y="21527"/>
                    <a:pt x="47" y="21554"/>
                    <a:pt x="70" y="21549"/>
                  </a:cubicBezTo>
                  <a:lnTo>
                    <a:pt x="10096" y="21594"/>
                  </a:lnTo>
                  <a:lnTo>
                    <a:pt x="10096" y="21600"/>
                  </a:lnTo>
                  <a:lnTo>
                    <a:pt x="10783" y="21594"/>
                  </a:lnTo>
                  <a:lnTo>
                    <a:pt x="11470" y="21600"/>
                  </a:lnTo>
                  <a:lnTo>
                    <a:pt x="11470" y="21594"/>
                  </a:lnTo>
                  <a:lnTo>
                    <a:pt x="21496" y="21549"/>
                  </a:lnTo>
                  <a:cubicBezTo>
                    <a:pt x="21519" y="21554"/>
                    <a:pt x="21541" y="21527"/>
                    <a:pt x="21554" y="21480"/>
                  </a:cubicBezTo>
                  <a:cubicBezTo>
                    <a:pt x="21583" y="21374"/>
                    <a:pt x="21559" y="21232"/>
                    <a:pt x="21507" y="21212"/>
                  </a:cubicBezTo>
                  <a:cubicBezTo>
                    <a:pt x="21143" y="20985"/>
                    <a:pt x="20778" y="20744"/>
                    <a:pt x="20417" y="20493"/>
                  </a:cubicBezTo>
                  <a:cubicBezTo>
                    <a:pt x="20083" y="20260"/>
                    <a:pt x="19750" y="20018"/>
                    <a:pt x="19419" y="19762"/>
                  </a:cubicBezTo>
                  <a:cubicBezTo>
                    <a:pt x="19167" y="19566"/>
                    <a:pt x="18943" y="19200"/>
                    <a:pt x="18768" y="18712"/>
                  </a:cubicBezTo>
                  <a:cubicBezTo>
                    <a:pt x="18603" y="18253"/>
                    <a:pt x="18489" y="17707"/>
                    <a:pt x="18403" y="17142"/>
                  </a:cubicBezTo>
                  <a:cubicBezTo>
                    <a:pt x="18276" y="16304"/>
                    <a:pt x="18205" y="15415"/>
                    <a:pt x="18195" y="14510"/>
                  </a:cubicBezTo>
                  <a:lnTo>
                    <a:pt x="17921" y="0"/>
                  </a:lnTo>
                  <a:lnTo>
                    <a:pt x="3643" y="0"/>
                  </a:lnTo>
                  <a:close/>
                </a:path>
              </a:pathLst>
            </a:custGeom>
            <a:solidFill>
              <a:srgbClr val="C6C7CA"/>
            </a:solidFill>
            <a:ln w="12700" cap="flat">
              <a:noFill/>
              <a:miter lim="400000"/>
            </a:ln>
            <a:effectLst/>
          </p:spPr>
          <p:txBody>
            <a:bodyPr wrap="square" lIns="0" tIns="0" rIns="0" bIns="0" numCol="1" anchor="ctr">
              <a:noAutofit/>
            </a:bodyPr>
            <a:lstStyle/>
            <a:p>
              <a:pPr>
                <a:defRPr sz="3200">
                  <a:solidFill>
                    <a:srgbClr val="B58D72"/>
                  </a:solidFill>
                </a:defRPr>
              </a:pPr>
            </a:p>
          </p:txBody>
        </p:sp>
        <p:sp>
          <p:nvSpPr>
            <p:cNvPr id="455" name="Фигура"/>
            <p:cNvSpPr/>
            <p:nvPr/>
          </p:nvSpPr>
          <p:spPr>
            <a:xfrm>
              <a:off x="4801953" y="8118006"/>
              <a:ext cx="2450131" cy="4261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3" y="0"/>
                  </a:moveTo>
                  <a:lnTo>
                    <a:pt x="0" y="21600"/>
                  </a:lnTo>
                  <a:lnTo>
                    <a:pt x="21600" y="21600"/>
                  </a:lnTo>
                  <a:lnTo>
                    <a:pt x="21424" y="0"/>
                  </a:lnTo>
                  <a:lnTo>
                    <a:pt x="173" y="0"/>
                  </a:lnTo>
                  <a:close/>
                </a:path>
              </a:pathLst>
            </a:custGeom>
            <a:solidFill>
              <a:srgbClr val="A9A9A9"/>
            </a:solidFill>
            <a:ln w="12700" cap="flat">
              <a:noFill/>
              <a:miter lim="400000"/>
            </a:ln>
            <a:effectLst/>
          </p:spPr>
          <p:txBody>
            <a:bodyPr wrap="square" lIns="0" tIns="0" rIns="0" bIns="0" numCol="1" anchor="ctr">
              <a:noAutofit/>
            </a:bodyPr>
            <a:lstStyle/>
            <a:p>
              <a:pPr>
                <a:defRPr sz="3200">
                  <a:solidFill>
                    <a:srgbClr val="B58D72"/>
                  </a:solidFill>
                </a:defRPr>
              </a:pPr>
            </a:p>
          </p:txBody>
        </p:sp>
        <p:sp>
          <p:nvSpPr>
            <p:cNvPr id="456" name="Фигура"/>
            <p:cNvSpPr/>
            <p:nvPr/>
          </p:nvSpPr>
          <p:spPr>
            <a:xfrm>
              <a:off x="-1" y="0"/>
              <a:ext cx="12042845" cy="72035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68" y="0"/>
                  </a:moveTo>
                  <a:cubicBezTo>
                    <a:pt x="547" y="0"/>
                    <a:pt x="436" y="1"/>
                    <a:pt x="318" y="63"/>
                  </a:cubicBezTo>
                  <a:cubicBezTo>
                    <a:pt x="188" y="143"/>
                    <a:pt x="85" y="314"/>
                    <a:pt x="38" y="531"/>
                  </a:cubicBezTo>
                  <a:cubicBezTo>
                    <a:pt x="0" y="729"/>
                    <a:pt x="0" y="917"/>
                    <a:pt x="0" y="1285"/>
                  </a:cubicBezTo>
                  <a:lnTo>
                    <a:pt x="0" y="21600"/>
                  </a:lnTo>
                  <a:lnTo>
                    <a:pt x="21600" y="21600"/>
                  </a:lnTo>
                  <a:lnTo>
                    <a:pt x="21600" y="1291"/>
                  </a:lnTo>
                  <a:cubicBezTo>
                    <a:pt x="21600" y="917"/>
                    <a:pt x="21600" y="729"/>
                    <a:pt x="21562" y="531"/>
                  </a:cubicBezTo>
                  <a:cubicBezTo>
                    <a:pt x="21515" y="314"/>
                    <a:pt x="21412" y="143"/>
                    <a:pt x="21282" y="63"/>
                  </a:cubicBezTo>
                  <a:cubicBezTo>
                    <a:pt x="21163" y="0"/>
                    <a:pt x="21052" y="0"/>
                    <a:pt x="20832" y="0"/>
                  </a:cubicBezTo>
                  <a:lnTo>
                    <a:pt x="768" y="0"/>
                  </a:lnTo>
                  <a:close/>
                  <a:moveTo>
                    <a:pt x="930" y="1457"/>
                  </a:moveTo>
                  <a:lnTo>
                    <a:pt x="20670" y="1457"/>
                  </a:lnTo>
                  <a:cubicBezTo>
                    <a:pt x="20685" y="1457"/>
                    <a:pt x="20693" y="1458"/>
                    <a:pt x="20700" y="1462"/>
                  </a:cubicBezTo>
                  <a:cubicBezTo>
                    <a:pt x="20709" y="1467"/>
                    <a:pt x="20716" y="1479"/>
                    <a:pt x="20719" y="1494"/>
                  </a:cubicBezTo>
                  <a:cubicBezTo>
                    <a:pt x="20722" y="1507"/>
                    <a:pt x="20722" y="1519"/>
                    <a:pt x="20722" y="1544"/>
                  </a:cubicBezTo>
                  <a:lnTo>
                    <a:pt x="20722" y="20006"/>
                  </a:lnTo>
                  <a:cubicBezTo>
                    <a:pt x="20722" y="20031"/>
                    <a:pt x="20722" y="20044"/>
                    <a:pt x="20719" y="20057"/>
                  </a:cubicBezTo>
                  <a:cubicBezTo>
                    <a:pt x="20716" y="20071"/>
                    <a:pt x="20709" y="20083"/>
                    <a:pt x="20700" y="20089"/>
                  </a:cubicBezTo>
                  <a:cubicBezTo>
                    <a:pt x="20693" y="20093"/>
                    <a:pt x="20685" y="20092"/>
                    <a:pt x="20670" y="20092"/>
                  </a:cubicBezTo>
                  <a:lnTo>
                    <a:pt x="930" y="20092"/>
                  </a:lnTo>
                  <a:cubicBezTo>
                    <a:pt x="915" y="20092"/>
                    <a:pt x="907" y="20093"/>
                    <a:pt x="900" y="20089"/>
                  </a:cubicBezTo>
                  <a:cubicBezTo>
                    <a:pt x="891" y="20083"/>
                    <a:pt x="884" y="20071"/>
                    <a:pt x="881" y="20057"/>
                  </a:cubicBezTo>
                  <a:cubicBezTo>
                    <a:pt x="878" y="20044"/>
                    <a:pt x="878" y="20031"/>
                    <a:pt x="878" y="20006"/>
                  </a:cubicBezTo>
                  <a:lnTo>
                    <a:pt x="878" y="1543"/>
                  </a:lnTo>
                  <a:cubicBezTo>
                    <a:pt x="878" y="1518"/>
                    <a:pt x="878" y="1507"/>
                    <a:pt x="881" y="1494"/>
                  </a:cubicBezTo>
                  <a:cubicBezTo>
                    <a:pt x="884" y="1479"/>
                    <a:pt x="891" y="1467"/>
                    <a:pt x="900" y="1462"/>
                  </a:cubicBezTo>
                  <a:cubicBezTo>
                    <a:pt x="907" y="1458"/>
                    <a:pt x="915" y="1457"/>
                    <a:pt x="930" y="1457"/>
                  </a:cubicBezTo>
                  <a:close/>
                </a:path>
              </a:pathLst>
            </a:custGeom>
            <a:solidFill>
              <a:srgbClr val="131313"/>
            </a:solidFill>
            <a:ln w="12700" cap="flat">
              <a:noFill/>
              <a:miter lim="400000"/>
            </a:ln>
            <a:effectLst/>
          </p:spPr>
          <p:txBody>
            <a:bodyPr wrap="square" lIns="0" tIns="0" rIns="0" bIns="0" numCol="1" anchor="ctr">
              <a:noAutofit/>
            </a:bodyPr>
            <a:lstStyle/>
            <a:p>
              <a:pPr>
                <a:defRPr sz="3200">
                  <a:solidFill>
                    <a:srgbClr val="B58D72"/>
                  </a:solidFill>
                </a:defRPr>
              </a:pPr>
            </a:p>
          </p:txBody>
        </p:sp>
        <p:sp>
          <p:nvSpPr>
            <p:cNvPr id="457" name="Кружок"/>
            <p:cNvSpPr/>
            <p:nvPr/>
          </p:nvSpPr>
          <p:spPr>
            <a:xfrm>
              <a:off x="5965541" y="152360"/>
              <a:ext cx="118255" cy="118257"/>
            </a:xfrm>
            <a:prstGeom prst="ellipse">
              <a:avLst/>
            </a:prstGeom>
            <a:solidFill>
              <a:srgbClr val="414041"/>
            </a:solidFill>
            <a:ln w="12700" cap="flat">
              <a:noFill/>
              <a:miter lim="400000"/>
            </a:ln>
            <a:effectLst/>
          </p:spPr>
          <p:txBody>
            <a:bodyPr wrap="square" lIns="0" tIns="0" rIns="0" bIns="0" numCol="1" anchor="ctr">
              <a:noAutofit/>
            </a:bodyPr>
            <a:lstStyle/>
            <a:p>
              <a:pPr>
                <a:defRPr sz="3200">
                  <a:solidFill>
                    <a:srgbClr val="B58D72"/>
                  </a:solidFill>
                </a:defRPr>
              </a:pPr>
            </a:p>
          </p:txBody>
        </p:sp>
        <p:sp>
          <p:nvSpPr>
            <p:cNvPr id="458" name="Фигура"/>
            <p:cNvSpPr/>
            <p:nvPr/>
          </p:nvSpPr>
          <p:spPr>
            <a:xfrm>
              <a:off x="1" y="7153385"/>
              <a:ext cx="12042286" cy="1122456"/>
            </a:xfrm>
            <a:custGeom>
              <a:avLst/>
              <a:gdLst/>
              <a:ahLst/>
              <a:cxnLst>
                <a:cxn ang="0">
                  <a:pos x="wd2" y="hd2"/>
                </a:cxn>
                <a:cxn ang="5400000">
                  <a:pos x="wd2" y="hd2"/>
                </a:cxn>
                <a:cxn ang="10800000">
                  <a:pos x="wd2" y="hd2"/>
                </a:cxn>
                <a:cxn ang="16200000">
                  <a:pos x="wd2" y="hd2"/>
                </a:cxn>
              </a:cxnLst>
              <a:rect l="0" t="0" r="r" b="b"/>
              <a:pathLst>
                <a:path w="21600" h="21596" fill="norm" stroke="1" extrusionOk="0">
                  <a:moveTo>
                    <a:pt x="0" y="0"/>
                  </a:moveTo>
                  <a:lnTo>
                    <a:pt x="0" y="13322"/>
                  </a:lnTo>
                  <a:cubicBezTo>
                    <a:pt x="0" y="15721"/>
                    <a:pt x="0" y="16916"/>
                    <a:pt x="38" y="18190"/>
                  </a:cubicBezTo>
                  <a:cubicBezTo>
                    <a:pt x="85" y="19584"/>
                    <a:pt x="188" y="20689"/>
                    <a:pt x="318" y="21196"/>
                  </a:cubicBezTo>
                  <a:cubicBezTo>
                    <a:pt x="436" y="21600"/>
                    <a:pt x="548" y="21596"/>
                    <a:pt x="769" y="21596"/>
                  </a:cubicBezTo>
                  <a:lnTo>
                    <a:pt x="20828" y="21596"/>
                  </a:lnTo>
                  <a:cubicBezTo>
                    <a:pt x="21052" y="21596"/>
                    <a:pt x="21164" y="21600"/>
                    <a:pt x="21283" y="21196"/>
                  </a:cubicBezTo>
                  <a:cubicBezTo>
                    <a:pt x="21413" y="20689"/>
                    <a:pt x="21515" y="19584"/>
                    <a:pt x="21562" y="18190"/>
                  </a:cubicBezTo>
                  <a:cubicBezTo>
                    <a:pt x="21600" y="16916"/>
                    <a:pt x="21600" y="15722"/>
                    <a:pt x="21600" y="13360"/>
                  </a:cubicBezTo>
                  <a:lnTo>
                    <a:pt x="21600" y="0"/>
                  </a:lnTo>
                  <a:lnTo>
                    <a:pt x="0" y="0"/>
                  </a:lnTo>
                  <a:close/>
                </a:path>
              </a:pathLst>
            </a:custGeom>
            <a:solidFill>
              <a:srgbClr val="C6C7CA"/>
            </a:solidFill>
            <a:ln w="12700" cap="flat">
              <a:noFill/>
              <a:miter lim="400000"/>
            </a:ln>
            <a:effectLst/>
          </p:spPr>
          <p:txBody>
            <a:bodyPr wrap="square" lIns="0" tIns="0" rIns="0" bIns="0" numCol="1" anchor="ctr">
              <a:noAutofit/>
            </a:bodyPr>
            <a:lstStyle/>
            <a:p>
              <a:pPr>
                <a:defRPr sz="3200">
                  <a:solidFill>
                    <a:srgbClr val="B58D72"/>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459"/>
                                        </p:tgtEl>
                                        <p:attrNameLst>
                                          <p:attrName>style.visibility</p:attrName>
                                        </p:attrNameLst>
                                      </p:cBhvr>
                                      <p:to>
                                        <p:strVal val="visible"/>
                                      </p:to>
                                    </p:set>
                                    <p:animEffect filter="dissolve" transition="in">
                                      <p:cBhvr>
                                        <p:cTn id="7" dur="500"/>
                                        <p:tgtEl>
                                          <p:spTgt spid="45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448"/>
                                        </p:tgtEl>
                                        <p:attrNameLst>
                                          <p:attrName>style.visibility</p:attrName>
                                        </p:attrNameLst>
                                      </p:cBhvr>
                                      <p:to>
                                        <p:strVal val="visible"/>
                                      </p:to>
                                    </p:set>
                                    <p:animEffect filter="dissolve" transition="in">
                                      <p:cBhvr>
                                        <p:cTn id="12" dur="500"/>
                                        <p:tgtEl>
                                          <p:spTgt spid="44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452"/>
                                        </p:tgtEl>
                                        <p:attrNameLst>
                                          <p:attrName>style.visibility</p:attrName>
                                        </p:attrNameLst>
                                      </p:cBhvr>
                                      <p:to>
                                        <p:strVal val="visible"/>
                                      </p:to>
                                    </p:set>
                                    <p:anim calcmode="lin" valueType="num">
                                      <p:cBhvr>
                                        <p:cTn id="17" dur="500" fill="hold"/>
                                        <p:tgtEl>
                                          <p:spTgt spid="452"/>
                                        </p:tgtEl>
                                        <p:attrNameLst>
                                          <p:attrName>ppt_x</p:attrName>
                                        </p:attrNameLst>
                                      </p:cBhvr>
                                      <p:tavLst>
                                        <p:tav tm="0">
                                          <p:val>
                                            <p:strVal val="0-#ppt_w/2"/>
                                          </p:val>
                                        </p:tav>
                                        <p:tav tm="100000">
                                          <p:val>
                                            <p:strVal val="#ppt_x"/>
                                          </p:val>
                                        </p:tav>
                                      </p:tavLst>
                                    </p:anim>
                                    <p:anim calcmode="lin" valueType="num">
                                      <p:cBhvr>
                                        <p:cTn id="18" dur="500" fill="hold"/>
                                        <p:tgtEl>
                                          <p:spTgt spid="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2" grpId="3"/>
      <p:bldP build="whole" bldLvl="1" animBg="1" rev="0" advAuto="0" spid="448" grpId="2"/>
      <p:bldP build="whole" bldLvl="1" animBg="1" rev="0" advAuto="0" spid="459"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63" name="Группа 1"/>
          <p:cNvGrpSpPr/>
          <p:nvPr/>
        </p:nvGrpSpPr>
        <p:grpSpPr>
          <a:xfrm>
            <a:off x="13964618" y="4287899"/>
            <a:ext cx="8467112" cy="5633056"/>
            <a:chOff x="0" y="0"/>
            <a:chExt cx="8467110" cy="5633054"/>
          </a:xfrm>
        </p:grpSpPr>
        <p:sp>
          <p:nvSpPr>
            <p:cNvPr id="461" name="Project…"/>
            <p:cNvSpPr txBox="1"/>
            <p:nvPr/>
          </p:nvSpPr>
          <p:spPr>
            <a:xfrm>
              <a:off x="0" y="0"/>
              <a:ext cx="7631176" cy="1955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6000">
                  <a:solidFill>
                    <a:srgbClr val="252625"/>
                  </a:solidFill>
                  <a:latin typeface="Montserrat Bold"/>
                  <a:ea typeface="Montserrat Bold"/>
                  <a:cs typeface="Montserrat Bold"/>
                  <a:sym typeface="Montserrat Bold"/>
                </a:defRPr>
              </a:pPr>
              <a:r>
                <a:t>оценка и </a:t>
              </a:r>
              <a:r>
                <a:rPr>
                  <a:solidFill>
                    <a:srgbClr val="3F57D1"/>
                  </a:solidFill>
                </a:rPr>
                <a:t>ефективност</a:t>
              </a:r>
            </a:p>
          </p:txBody>
        </p:sp>
        <p:sp>
          <p:nvSpPr>
            <p:cNvPr id="462" name="Profesional Template for PowerPoint, Keynote, Google Slides"/>
            <p:cNvSpPr txBox="1"/>
            <p:nvPr/>
          </p:nvSpPr>
          <p:spPr>
            <a:xfrm>
              <a:off x="17484" y="1990693"/>
              <a:ext cx="8449627" cy="36423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В тази област се оценява до колко даденият проект е в съответствие с бизнес целите на организация и ще доведе ли неговото изпълнение до ползи. Тази оценка се извършва от ръководителя или екипа, в чиито задължения влиза взимането на решение дали организацията ще продължи да работи по даден проект или не.</a:t>
              </a:r>
            </a:p>
          </p:txBody>
        </p:sp>
      </p:grpSp>
      <p:pic>
        <p:nvPicPr>
          <p:cNvPr id="464" name="certificate_management.jpg" descr="certificate_management.jpg"/>
          <p:cNvPicPr>
            <a:picLocks noChangeAspect="1"/>
          </p:cNvPicPr>
          <p:nvPr>
            <p:ph type="pic" idx="19"/>
          </p:nvPr>
        </p:nvPicPr>
        <p:blipFill>
          <a:blip r:embed="rId2">
            <a:extLst/>
          </a:blip>
          <a:srcRect l="11650" t="0" r="0" b="0"/>
          <a:stretch>
            <a:fillRect/>
          </a:stretch>
        </p:blipFill>
        <p:spPr>
          <a:xfrm>
            <a:off x="-150403" y="1243443"/>
            <a:ext cx="13234255" cy="112291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2" presetID="2" grpId="1" fill="hold">
                                  <p:stCondLst>
                                    <p:cond delay="0"/>
                                  </p:stCondLst>
                                  <p:iterate type="el" backwards="0">
                                    <p:tmAbs val="0"/>
                                  </p:iterate>
                                  <p:childTnLst>
                                    <p:set>
                                      <p:cBhvr>
                                        <p:cTn id="6" fill="hold"/>
                                        <p:tgtEl>
                                          <p:spTgt spid="463"/>
                                        </p:tgtEl>
                                        <p:attrNameLst>
                                          <p:attrName>style.visibility</p:attrName>
                                        </p:attrNameLst>
                                      </p:cBhvr>
                                      <p:to>
                                        <p:strVal val="visible"/>
                                      </p:to>
                                    </p:set>
                                    <p:anim calcmode="lin" valueType="num">
                                      <p:cBhvr>
                                        <p:cTn id="7" dur="500" fill="hold"/>
                                        <p:tgtEl>
                                          <p:spTgt spid="463"/>
                                        </p:tgtEl>
                                        <p:attrNameLst>
                                          <p:attrName>ppt_x</p:attrName>
                                        </p:attrNameLst>
                                      </p:cBhvr>
                                      <p:tavLst>
                                        <p:tav tm="0">
                                          <p:val>
                                            <p:strVal val="1+#ppt_w/2"/>
                                          </p:val>
                                        </p:tav>
                                        <p:tav tm="100000">
                                          <p:val>
                                            <p:strVal val="#ppt_x"/>
                                          </p:val>
                                        </p:tav>
                                      </p:tavLst>
                                    </p:anim>
                                    <p:anim calcmode="lin" valueType="num">
                                      <p:cBhvr>
                                        <p:cTn id="8" dur="500" fill="hold"/>
                                        <p:tgtEl>
                                          <p:spTgt spid="4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64"/>
                                        </p:tgtEl>
                                        <p:attrNameLst>
                                          <p:attrName>style.visibility</p:attrName>
                                        </p:attrNameLst>
                                      </p:cBhvr>
                                      <p:to>
                                        <p:strVal val="visible"/>
                                      </p:to>
                                    </p:set>
                                    <p:anim calcmode="lin" valueType="num">
                                      <p:cBhvr>
                                        <p:cTn id="13" dur="1000" fill="hold"/>
                                        <p:tgtEl>
                                          <p:spTgt spid="464"/>
                                        </p:tgtEl>
                                        <p:attrNameLst>
                                          <p:attrName>ppt_x</p:attrName>
                                        </p:attrNameLst>
                                      </p:cBhvr>
                                      <p:tavLst>
                                        <p:tav tm="0">
                                          <p:val>
                                            <p:strVal val="0-#ppt_w/2"/>
                                          </p:val>
                                        </p:tav>
                                        <p:tav tm="100000">
                                          <p:val>
                                            <p:strVal val="#ppt_x"/>
                                          </p:val>
                                        </p:tav>
                                      </p:tavLst>
                                    </p:anim>
                                    <p:anim calcmode="lin" valueType="num">
                                      <p:cBhvr>
                                        <p:cTn id="14" dur="1000" fill="hold"/>
                                        <p:tgtEl>
                                          <p:spTgt spid="4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4" grpId="2"/>
      <p:bldP build="whole" bldLvl="1" animBg="1" rev="0" advAuto="0" spid="463" grpId="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Project…"/>
          <p:cNvSpPr txBox="1"/>
          <p:nvPr/>
        </p:nvSpPr>
        <p:spPr>
          <a:xfrm>
            <a:off x="2096587" y="1873569"/>
            <a:ext cx="15232407"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SQERT management</a:t>
            </a:r>
            <a:endParaRPr>
              <a:solidFill>
                <a:srgbClr val="141413"/>
              </a:solidFill>
            </a:endParaRPr>
          </a:p>
          <a:p>
            <a:pPr algn="l">
              <a:defRPr b="0" cap="all" sz="6000">
                <a:solidFill>
                  <a:srgbClr val="3F57D1"/>
                </a:solidFill>
                <a:latin typeface="Montserrat Bold"/>
                <a:ea typeface="Montserrat Bold"/>
                <a:cs typeface="Montserrat Bold"/>
                <a:sym typeface="Montserrat Bold"/>
              </a:defRPr>
            </a:pPr>
            <a:r>
              <a:t>модел</a:t>
            </a:r>
          </a:p>
        </p:txBody>
      </p:sp>
      <p:grpSp>
        <p:nvGrpSpPr>
          <p:cNvPr id="477" name="Группа 1"/>
          <p:cNvGrpSpPr/>
          <p:nvPr/>
        </p:nvGrpSpPr>
        <p:grpSpPr>
          <a:xfrm>
            <a:off x="2125960" y="2949948"/>
            <a:ext cx="20306289" cy="8388361"/>
            <a:chOff x="0" y="0"/>
            <a:chExt cx="20306288" cy="8388360"/>
          </a:xfrm>
        </p:grpSpPr>
        <p:sp>
          <p:nvSpPr>
            <p:cNvPr id="467" name="Project…"/>
            <p:cNvSpPr txBox="1"/>
            <p:nvPr/>
          </p:nvSpPr>
          <p:spPr>
            <a:xfrm>
              <a:off x="14135103" y="0"/>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Scope</a:t>
              </a:r>
            </a:p>
          </p:txBody>
        </p:sp>
        <p:sp>
          <p:nvSpPr>
            <p:cNvPr id="468" name="Profesional Template for PowerPoint, Keynote, Google Slides"/>
            <p:cNvSpPr txBox="1"/>
            <p:nvPr/>
          </p:nvSpPr>
          <p:spPr>
            <a:xfrm>
              <a:off x="14159069" y="716202"/>
              <a:ext cx="6147220"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Дефиниция на продукта, който е доставен</a:t>
              </a:r>
            </a:p>
          </p:txBody>
        </p:sp>
        <p:sp>
          <p:nvSpPr>
            <p:cNvPr id="469" name="Project…"/>
            <p:cNvSpPr txBox="1"/>
            <p:nvPr/>
          </p:nvSpPr>
          <p:spPr>
            <a:xfrm>
              <a:off x="15781766" y="2557601"/>
              <a:ext cx="4101812"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quality</a:t>
              </a:r>
            </a:p>
          </p:txBody>
        </p:sp>
        <p:sp>
          <p:nvSpPr>
            <p:cNvPr id="470" name="Profesional Template for PowerPoint, Keynote, Google Slides"/>
            <p:cNvSpPr txBox="1"/>
            <p:nvPr/>
          </p:nvSpPr>
          <p:spPr>
            <a:xfrm>
              <a:off x="15805732" y="3273802"/>
              <a:ext cx="4314890"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Степента на качеството на продукта</a:t>
              </a:r>
            </a:p>
          </p:txBody>
        </p:sp>
        <p:sp>
          <p:nvSpPr>
            <p:cNvPr id="471" name="Project…"/>
            <p:cNvSpPr txBox="1"/>
            <p:nvPr/>
          </p:nvSpPr>
          <p:spPr>
            <a:xfrm>
              <a:off x="1191214" y="5180203"/>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r">
                <a:defRPr b="0" cap="all" sz="3600">
                  <a:solidFill>
                    <a:srgbClr val="252625"/>
                  </a:solidFill>
                  <a:latin typeface="Montserrat Bold"/>
                  <a:ea typeface="Montserrat Bold"/>
                  <a:cs typeface="Montserrat Bold"/>
                  <a:sym typeface="Montserrat Bold"/>
                </a:defRPr>
              </a:lvl1pPr>
            </a:lstStyle>
            <a:p>
              <a:pPr/>
              <a:r>
                <a:t>RISK</a:t>
              </a:r>
            </a:p>
          </p:txBody>
        </p:sp>
        <p:sp>
          <p:nvSpPr>
            <p:cNvPr id="472" name="Profesional Template for PowerPoint, Keynote, Google Slides"/>
            <p:cNvSpPr txBox="1"/>
            <p:nvPr/>
          </p:nvSpPr>
          <p:spPr>
            <a:xfrm>
              <a:off x="3819" y="5896405"/>
              <a:ext cx="5236515" cy="2087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r">
                <a:lnSpc>
                  <a:spcPct val="120000"/>
                </a:lnSpc>
                <a:defRPr b="0" sz="2600">
                  <a:solidFill>
                    <a:srgbClr val="646977"/>
                  </a:solidFill>
                  <a:latin typeface="Roboto Regular"/>
                  <a:ea typeface="Roboto Regular"/>
                  <a:cs typeface="Roboto Regular"/>
                  <a:sym typeface="Roboto Regular"/>
                </a:defRPr>
              </a:lvl1pPr>
            </a:lstStyle>
            <a:p>
              <a:pPr/>
              <a:r>
                <a:t>Нивото на толеранс за отклонения от очакваните резултати по другите четири променливи</a:t>
              </a:r>
            </a:p>
          </p:txBody>
        </p:sp>
        <p:sp>
          <p:nvSpPr>
            <p:cNvPr id="473" name="Project…"/>
            <p:cNvSpPr txBox="1"/>
            <p:nvPr/>
          </p:nvSpPr>
          <p:spPr>
            <a:xfrm>
              <a:off x="273407" y="2474379"/>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r">
                <a:defRPr b="0" cap="all" sz="3600">
                  <a:solidFill>
                    <a:srgbClr val="252625"/>
                  </a:solidFill>
                  <a:latin typeface="Montserrat Bold"/>
                  <a:ea typeface="Montserrat Bold"/>
                  <a:cs typeface="Montserrat Bold"/>
                  <a:sym typeface="Montserrat Bold"/>
                </a:defRPr>
              </a:lvl1pPr>
            </a:lstStyle>
            <a:p>
              <a:pPr/>
              <a:r>
                <a:t>TIME</a:t>
              </a:r>
            </a:p>
          </p:txBody>
        </p:sp>
        <p:sp>
          <p:nvSpPr>
            <p:cNvPr id="474" name="Profesional Template for PowerPoint, Keynote, Google Slides"/>
            <p:cNvSpPr txBox="1"/>
            <p:nvPr/>
          </p:nvSpPr>
          <p:spPr>
            <a:xfrm>
              <a:off x="0" y="3190581"/>
              <a:ext cx="4322528" cy="1051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r">
                <a:lnSpc>
                  <a:spcPct val="120000"/>
                </a:lnSpc>
                <a:defRPr b="0" sz="2600">
                  <a:solidFill>
                    <a:srgbClr val="646977"/>
                  </a:solidFill>
                  <a:latin typeface="Roboto Regular"/>
                  <a:ea typeface="Roboto Regular"/>
                  <a:cs typeface="Roboto Regular"/>
                  <a:sym typeface="Roboto Regular"/>
                </a:defRPr>
              </a:lvl1pPr>
            </a:lstStyle>
            <a:p>
              <a:pPr/>
              <a:r>
                <a:t>Времето, което отнема за доставянето на продукта</a:t>
              </a:r>
            </a:p>
          </p:txBody>
        </p:sp>
        <p:sp>
          <p:nvSpPr>
            <p:cNvPr id="475" name="Project…"/>
            <p:cNvSpPr txBox="1"/>
            <p:nvPr/>
          </p:nvSpPr>
          <p:spPr>
            <a:xfrm>
              <a:off x="14135103" y="662059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Effort</a:t>
              </a:r>
            </a:p>
          </p:txBody>
        </p:sp>
        <p:sp>
          <p:nvSpPr>
            <p:cNvPr id="476" name="Profesional Template for PowerPoint, Keynote, Google Slides"/>
            <p:cNvSpPr txBox="1"/>
            <p:nvPr/>
          </p:nvSpPr>
          <p:spPr>
            <a:xfrm>
              <a:off x="14159069" y="7336800"/>
              <a:ext cx="6147220" cy="1051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Инвестицията, която е направена, за да бъде доставен продукта</a:t>
              </a:r>
            </a:p>
          </p:txBody>
        </p:sp>
      </p:grpSp>
      <p:grpSp>
        <p:nvGrpSpPr>
          <p:cNvPr id="506" name="Группа 2"/>
          <p:cNvGrpSpPr/>
          <p:nvPr/>
        </p:nvGrpSpPr>
        <p:grpSpPr>
          <a:xfrm>
            <a:off x="6802079" y="3331691"/>
            <a:ext cx="10812136" cy="8321885"/>
            <a:chOff x="0" y="0"/>
            <a:chExt cx="10812134" cy="8321883"/>
          </a:xfrm>
        </p:grpSpPr>
        <p:sp>
          <p:nvSpPr>
            <p:cNvPr id="478" name="Фигура"/>
            <p:cNvSpPr/>
            <p:nvPr/>
          </p:nvSpPr>
          <p:spPr>
            <a:xfrm>
              <a:off x="7486799" y="1826918"/>
              <a:ext cx="1403676" cy="3544691"/>
            </a:xfrm>
            <a:custGeom>
              <a:avLst/>
              <a:gdLst/>
              <a:ahLst/>
              <a:cxnLst>
                <a:cxn ang="0">
                  <a:pos x="wd2" y="hd2"/>
                </a:cxn>
                <a:cxn ang="5400000">
                  <a:pos x="wd2" y="hd2"/>
                </a:cxn>
                <a:cxn ang="10800000">
                  <a:pos x="wd2" y="hd2"/>
                </a:cxn>
                <a:cxn ang="16200000">
                  <a:pos x="wd2" y="hd2"/>
                </a:cxn>
              </a:cxnLst>
              <a:rect l="0" t="0" r="r" b="b"/>
              <a:pathLst>
                <a:path w="18896" h="21600" fill="norm" stroke="1" extrusionOk="0">
                  <a:moveTo>
                    <a:pt x="1981" y="0"/>
                  </a:moveTo>
                  <a:cubicBezTo>
                    <a:pt x="-2678" y="6738"/>
                    <a:pt x="878" y="14388"/>
                    <a:pt x="12671" y="19726"/>
                  </a:cubicBezTo>
                  <a:cubicBezTo>
                    <a:pt x="14189" y="20413"/>
                    <a:pt x="15797" y="21036"/>
                    <a:pt x="17469" y="21600"/>
                  </a:cubicBezTo>
                  <a:cubicBezTo>
                    <a:pt x="18446" y="19840"/>
                    <a:pt x="18922" y="18034"/>
                    <a:pt x="18895" y="16229"/>
                  </a:cubicBezTo>
                  <a:cubicBezTo>
                    <a:pt x="18815" y="10815"/>
                    <a:pt x="14216" y="5412"/>
                    <a:pt x="5090" y="1282"/>
                  </a:cubicBezTo>
                  <a:cubicBezTo>
                    <a:pt x="4088" y="828"/>
                    <a:pt x="3047" y="404"/>
                    <a:pt x="1981" y="0"/>
                  </a:cubicBezTo>
                  <a:close/>
                </a:path>
              </a:pathLst>
            </a:custGeom>
            <a:solidFill>
              <a:srgbClr val="C851C0"/>
            </a:solidFill>
            <a:ln w="12700" cap="flat">
              <a:noFill/>
              <a:miter lim="400000"/>
            </a:ln>
            <a:effectLst/>
          </p:spPr>
          <p:txBody>
            <a:bodyPr wrap="square" lIns="0" tIns="0" rIns="0" bIns="0" numCol="1" anchor="ctr">
              <a:noAutofit/>
            </a:bodyPr>
            <a:lstStyle/>
            <a:p>
              <a:pPr/>
            </a:p>
          </p:txBody>
        </p:sp>
        <p:sp>
          <p:nvSpPr>
            <p:cNvPr id="479" name="Фигура"/>
            <p:cNvSpPr/>
            <p:nvPr/>
          </p:nvSpPr>
          <p:spPr>
            <a:xfrm>
              <a:off x="5594707" y="5814280"/>
              <a:ext cx="3046413" cy="2197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5773" y="8"/>
                    <a:pt x="9948" y="3093"/>
                    <a:pt x="5503" y="9259"/>
                  </a:cubicBezTo>
                  <a:cubicBezTo>
                    <a:pt x="2914" y="12849"/>
                    <a:pt x="1083" y="17090"/>
                    <a:pt x="0" y="21600"/>
                  </a:cubicBezTo>
                  <a:cubicBezTo>
                    <a:pt x="5859" y="21123"/>
                    <a:pt x="11618" y="17789"/>
                    <a:pt x="16095" y="11580"/>
                  </a:cubicBezTo>
                  <a:cubicBezTo>
                    <a:pt x="18555" y="8168"/>
                    <a:pt x="20388" y="4216"/>
                    <a:pt x="21600" y="0"/>
                  </a:cubicBezTo>
                  <a:close/>
                </a:path>
              </a:pathLst>
            </a:custGeom>
            <a:solidFill>
              <a:srgbClr val="FECB70"/>
            </a:solidFill>
            <a:ln w="12700" cap="flat">
              <a:noFill/>
              <a:miter lim="400000"/>
            </a:ln>
            <a:effectLst/>
          </p:spPr>
          <p:txBody>
            <a:bodyPr wrap="square" lIns="0" tIns="0" rIns="0" bIns="0" numCol="1" anchor="ctr">
              <a:noAutofit/>
            </a:bodyPr>
            <a:lstStyle/>
            <a:p>
              <a:pPr>
                <a:defRPr>
                  <a:latin typeface="Arial"/>
                  <a:ea typeface="Arial"/>
                  <a:cs typeface="Arial"/>
                  <a:sym typeface="Arial"/>
                </a:defRPr>
              </a:pPr>
            </a:p>
          </p:txBody>
        </p:sp>
        <p:sp>
          <p:nvSpPr>
            <p:cNvPr id="480" name="Фигура"/>
            <p:cNvSpPr/>
            <p:nvPr/>
          </p:nvSpPr>
          <p:spPr>
            <a:xfrm>
              <a:off x="1884692" y="1840767"/>
              <a:ext cx="1381143" cy="3516314"/>
            </a:xfrm>
            <a:custGeom>
              <a:avLst/>
              <a:gdLst/>
              <a:ahLst/>
              <a:cxnLst>
                <a:cxn ang="0">
                  <a:pos x="wd2" y="hd2"/>
                </a:cxn>
                <a:cxn ang="5400000">
                  <a:pos x="wd2" y="hd2"/>
                </a:cxn>
                <a:cxn ang="10800000">
                  <a:pos x="wd2" y="hd2"/>
                </a:cxn>
                <a:cxn ang="16200000">
                  <a:pos x="wd2" y="hd2"/>
                </a:cxn>
              </a:cxnLst>
              <a:rect l="0" t="0" r="r" b="b"/>
              <a:pathLst>
                <a:path w="18877" h="21600" fill="norm" stroke="1" extrusionOk="0">
                  <a:moveTo>
                    <a:pt x="16930" y="0"/>
                  </a:moveTo>
                  <a:cubicBezTo>
                    <a:pt x="15932" y="381"/>
                    <a:pt x="14956" y="778"/>
                    <a:pt x="14014" y="1202"/>
                  </a:cubicBezTo>
                  <a:cubicBezTo>
                    <a:pt x="4793" y="5349"/>
                    <a:pt x="121" y="10769"/>
                    <a:pt x="2" y="16205"/>
                  </a:cubicBezTo>
                  <a:cubicBezTo>
                    <a:pt x="-38" y="18017"/>
                    <a:pt x="429" y="19831"/>
                    <a:pt x="1400" y="21600"/>
                  </a:cubicBezTo>
                  <a:cubicBezTo>
                    <a:pt x="3007" y="21054"/>
                    <a:pt x="4554" y="20455"/>
                    <a:pt x="6019" y="19796"/>
                  </a:cubicBezTo>
                  <a:cubicBezTo>
                    <a:pt x="17930" y="14438"/>
                    <a:pt x="21562" y="6770"/>
                    <a:pt x="16930" y="0"/>
                  </a:cubicBezTo>
                  <a:close/>
                </a:path>
              </a:pathLst>
            </a:custGeom>
            <a:solidFill>
              <a:srgbClr val="C851C0"/>
            </a:solidFill>
            <a:ln w="12700" cap="flat">
              <a:noFill/>
              <a:miter lim="400000"/>
            </a:ln>
            <a:effectLst/>
          </p:spPr>
          <p:txBody>
            <a:bodyPr wrap="square" lIns="0" tIns="0" rIns="0" bIns="0" numCol="1" anchor="ctr">
              <a:noAutofit/>
            </a:bodyPr>
            <a:lstStyle/>
            <a:p>
              <a:pPr>
                <a:defRPr>
                  <a:latin typeface="Arial"/>
                  <a:ea typeface="Arial"/>
                  <a:cs typeface="Arial"/>
                  <a:sym typeface="Arial"/>
                </a:defRPr>
              </a:pPr>
            </a:p>
          </p:txBody>
        </p:sp>
        <p:sp>
          <p:nvSpPr>
            <p:cNvPr id="481" name="Фигура"/>
            <p:cNvSpPr/>
            <p:nvPr/>
          </p:nvSpPr>
          <p:spPr>
            <a:xfrm>
              <a:off x="2133957" y="5814280"/>
              <a:ext cx="2989264" cy="219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235" y="4221"/>
                    <a:pt x="3103" y="8178"/>
                    <a:pt x="5609" y="11596"/>
                  </a:cubicBezTo>
                  <a:cubicBezTo>
                    <a:pt x="10066" y="17674"/>
                    <a:pt x="15772" y="21002"/>
                    <a:pt x="21600" y="21600"/>
                  </a:cubicBezTo>
                  <a:cubicBezTo>
                    <a:pt x="20495" y="17093"/>
                    <a:pt x="18631" y="12857"/>
                    <a:pt x="15999" y="9269"/>
                  </a:cubicBezTo>
                  <a:cubicBezTo>
                    <a:pt x="11571" y="3230"/>
                    <a:pt x="5803" y="145"/>
                    <a:pt x="0" y="0"/>
                  </a:cubicBezTo>
                  <a:close/>
                </a:path>
              </a:pathLst>
            </a:custGeom>
            <a:solidFill>
              <a:srgbClr val="FEF5AD"/>
            </a:solidFill>
            <a:ln w="12700" cap="flat">
              <a:noFill/>
              <a:miter lim="400000"/>
            </a:ln>
            <a:effectLst/>
          </p:spPr>
          <p:txBody>
            <a:bodyPr wrap="square" lIns="0" tIns="0" rIns="0" bIns="0" numCol="1" anchor="ctr">
              <a:noAutofit/>
            </a:bodyPr>
            <a:lstStyle/>
            <a:p>
              <a:pPr>
                <a:defRPr>
                  <a:latin typeface="Arial"/>
                  <a:ea typeface="Arial"/>
                  <a:cs typeface="Arial"/>
                  <a:sym typeface="Arial"/>
                </a:defRPr>
              </a:pPr>
            </a:p>
          </p:txBody>
        </p:sp>
        <p:sp>
          <p:nvSpPr>
            <p:cNvPr id="482" name="Кружок"/>
            <p:cNvSpPr/>
            <p:nvPr/>
          </p:nvSpPr>
          <p:spPr>
            <a:xfrm>
              <a:off x="1612104" y="738654"/>
              <a:ext cx="7551813" cy="7551505"/>
            </a:xfrm>
            <a:prstGeom prst="ellipse">
              <a:avLst/>
            </a:prstGeom>
            <a:noFill/>
            <a:ln w="38100" cap="flat">
              <a:solidFill>
                <a:srgbClr val="EBECEB"/>
              </a:solidFill>
              <a:prstDash val="dash"/>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83" name="Фигура"/>
            <p:cNvSpPr/>
            <p:nvPr/>
          </p:nvSpPr>
          <p:spPr>
            <a:xfrm>
              <a:off x="3523208" y="1011386"/>
              <a:ext cx="3729380" cy="1133320"/>
            </a:xfrm>
            <a:custGeom>
              <a:avLst/>
              <a:gdLst/>
              <a:ahLst/>
              <a:cxnLst>
                <a:cxn ang="0">
                  <a:pos x="wd2" y="hd2"/>
                </a:cxn>
                <a:cxn ang="5400000">
                  <a:pos x="wd2" y="hd2"/>
                </a:cxn>
                <a:cxn ang="10800000">
                  <a:pos x="wd2" y="hd2"/>
                </a:cxn>
                <a:cxn ang="16200000">
                  <a:pos x="wd2" y="hd2"/>
                </a:cxn>
              </a:cxnLst>
              <a:rect l="0" t="0" r="r" b="b"/>
              <a:pathLst>
                <a:path w="21600" h="18380" fill="norm" stroke="1" extrusionOk="0">
                  <a:moveTo>
                    <a:pt x="10801" y="0"/>
                  </a:moveTo>
                  <a:cubicBezTo>
                    <a:pt x="7045" y="0"/>
                    <a:pt x="3290" y="2916"/>
                    <a:pt x="0" y="8721"/>
                  </a:cubicBezTo>
                  <a:cubicBezTo>
                    <a:pt x="6445" y="21600"/>
                    <a:pt x="15155" y="21600"/>
                    <a:pt x="21600" y="8721"/>
                  </a:cubicBezTo>
                  <a:cubicBezTo>
                    <a:pt x="18310" y="2917"/>
                    <a:pt x="14557" y="0"/>
                    <a:pt x="10801" y="0"/>
                  </a:cubicBezTo>
                  <a:close/>
                </a:path>
              </a:pathLst>
            </a:custGeom>
            <a:solidFill>
              <a:srgbClr val="3F57D1"/>
            </a:solidFill>
            <a:ln w="12700" cap="flat">
              <a:noFill/>
              <a:miter lim="400000"/>
            </a:ln>
            <a:effectLst/>
          </p:spPr>
          <p:txBody>
            <a:bodyPr wrap="square" lIns="0" tIns="0" rIns="0" bIns="0" numCol="1" anchor="ctr">
              <a:noAutofit/>
            </a:bodyPr>
            <a:lstStyle/>
            <a:p>
              <a:pPr/>
            </a:p>
          </p:txBody>
        </p:sp>
        <p:sp>
          <p:nvSpPr>
            <p:cNvPr id="484" name="Фигура"/>
            <p:cNvSpPr/>
            <p:nvPr/>
          </p:nvSpPr>
          <p:spPr>
            <a:xfrm>
              <a:off x="3523605" y="1014561"/>
              <a:ext cx="3729380" cy="709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0"/>
                  </a:moveTo>
                  <a:cubicBezTo>
                    <a:pt x="7045" y="0"/>
                    <a:pt x="3290" y="5477"/>
                    <a:pt x="0" y="16378"/>
                  </a:cubicBezTo>
                  <a:cubicBezTo>
                    <a:pt x="508" y="18287"/>
                    <a:pt x="1033" y="19993"/>
                    <a:pt x="1568" y="21600"/>
                  </a:cubicBezTo>
                  <a:cubicBezTo>
                    <a:pt x="7270" y="4453"/>
                    <a:pt x="14325" y="4453"/>
                    <a:pt x="20028" y="21600"/>
                  </a:cubicBezTo>
                  <a:cubicBezTo>
                    <a:pt x="20563" y="19991"/>
                    <a:pt x="21091" y="18289"/>
                    <a:pt x="21600" y="16378"/>
                  </a:cubicBezTo>
                  <a:cubicBezTo>
                    <a:pt x="18310" y="5479"/>
                    <a:pt x="14557" y="0"/>
                    <a:pt x="10801" y="0"/>
                  </a:cubicBezTo>
                  <a:close/>
                </a:path>
              </a:pathLst>
            </a:custGeom>
            <a:solidFill>
              <a:srgbClr val="000000">
                <a:alpha val="5098"/>
              </a:srgbClr>
            </a:solidFill>
            <a:ln w="12700" cap="flat">
              <a:noFill/>
              <a:miter lim="400000"/>
            </a:ln>
            <a:effectLst/>
          </p:spPr>
          <p:txBody>
            <a:bodyPr wrap="square" lIns="0" tIns="0" rIns="0" bIns="0" numCol="1" anchor="ctr">
              <a:noAutofit/>
            </a:bodyPr>
            <a:lstStyle/>
            <a:p>
              <a:pPr/>
            </a:p>
          </p:txBody>
        </p:sp>
        <p:sp>
          <p:nvSpPr>
            <p:cNvPr id="485" name="Фигура"/>
            <p:cNvSpPr/>
            <p:nvPr/>
          </p:nvSpPr>
          <p:spPr>
            <a:xfrm>
              <a:off x="7555396" y="1830093"/>
              <a:ext cx="1335562" cy="3544691"/>
            </a:xfrm>
            <a:custGeom>
              <a:avLst/>
              <a:gdLst/>
              <a:ahLst/>
              <a:cxnLst>
                <a:cxn ang="0">
                  <a:pos x="wd2" y="hd2"/>
                </a:cxn>
                <a:cxn ang="5400000">
                  <a:pos x="wd2" y="hd2"/>
                </a:cxn>
                <a:cxn ang="10800000">
                  <a:pos x="wd2" y="hd2"/>
                </a:cxn>
                <a:cxn ang="16200000">
                  <a:pos x="wd2" y="hd2"/>
                </a:cxn>
              </a:cxnLst>
              <a:rect l="0" t="0" r="r" b="b"/>
              <a:pathLst>
                <a:path w="21569" h="21600" fill="norm" stroke="1" extrusionOk="0">
                  <a:moveTo>
                    <a:pt x="1275" y="0"/>
                  </a:moveTo>
                  <a:cubicBezTo>
                    <a:pt x="755" y="627"/>
                    <a:pt x="349" y="1263"/>
                    <a:pt x="0" y="1903"/>
                  </a:cubicBezTo>
                  <a:cubicBezTo>
                    <a:pt x="572" y="2101"/>
                    <a:pt x="1138" y="2301"/>
                    <a:pt x="1692" y="2510"/>
                  </a:cubicBezTo>
                  <a:cubicBezTo>
                    <a:pt x="14516" y="7349"/>
                    <a:pt x="19216" y="14090"/>
                    <a:pt x="15812" y="20326"/>
                  </a:cubicBezTo>
                  <a:cubicBezTo>
                    <a:pt x="17121" y="20776"/>
                    <a:pt x="18463" y="21208"/>
                    <a:pt x="19857" y="21600"/>
                  </a:cubicBezTo>
                  <a:cubicBezTo>
                    <a:pt x="21029" y="19840"/>
                    <a:pt x="21600" y="18034"/>
                    <a:pt x="21568" y="16229"/>
                  </a:cubicBezTo>
                  <a:cubicBezTo>
                    <a:pt x="21472" y="10815"/>
                    <a:pt x="15954" y="5412"/>
                    <a:pt x="5006" y="1282"/>
                  </a:cubicBezTo>
                  <a:cubicBezTo>
                    <a:pt x="3803" y="828"/>
                    <a:pt x="2555" y="404"/>
                    <a:pt x="1275" y="0"/>
                  </a:cubicBezTo>
                  <a:close/>
                </a:path>
              </a:pathLst>
            </a:custGeom>
            <a:solidFill>
              <a:srgbClr val="000000">
                <a:alpha val="5098"/>
              </a:srgbClr>
            </a:solidFill>
            <a:ln w="12700" cap="flat">
              <a:noFill/>
              <a:miter lim="400000"/>
            </a:ln>
            <a:effectLst/>
          </p:spPr>
          <p:txBody>
            <a:bodyPr wrap="square" lIns="0" tIns="0" rIns="0" bIns="0" numCol="1" anchor="ctr">
              <a:noAutofit/>
            </a:bodyPr>
            <a:lstStyle/>
            <a:p>
              <a:pPr/>
            </a:p>
          </p:txBody>
        </p:sp>
        <p:sp>
          <p:nvSpPr>
            <p:cNvPr id="486" name="Фигура"/>
            <p:cNvSpPr/>
            <p:nvPr/>
          </p:nvSpPr>
          <p:spPr>
            <a:xfrm>
              <a:off x="1885167" y="1844777"/>
              <a:ext cx="1317373" cy="3516116"/>
            </a:xfrm>
            <a:custGeom>
              <a:avLst/>
              <a:gdLst/>
              <a:ahLst/>
              <a:cxnLst>
                <a:cxn ang="0">
                  <a:pos x="wd2" y="hd2"/>
                </a:cxn>
                <a:cxn ang="5400000">
                  <a:pos x="wd2" y="hd2"/>
                </a:cxn>
                <a:cxn ang="10800000">
                  <a:pos x="wd2" y="hd2"/>
                </a:cxn>
                <a:cxn ang="16200000">
                  <a:pos x="wd2" y="hd2"/>
                </a:cxn>
              </a:cxnLst>
              <a:rect l="0" t="0" r="r" b="b"/>
              <a:pathLst>
                <a:path w="21555" h="21600" fill="norm" stroke="1" extrusionOk="0">
                  <a:moveTo>
                    <a:pt x="20282" y="0"/>
                  </a:moveTo>
                  <a:cubicBezTo>
                    <a:pt x="19086" y="381"/>
                    <a:pt x="17917" y="778"/>
                    <a:pt x="16789" y="1202"/>
                  </a:cubicBezTo>
                  <a:cubicBezTo>
                    <a:pt x="5742" y="5349"/>
                    <a:pt x="146" y="10769"/>
                    <a:pt x="3" y="16205"/>
                  </a:cubicBezTo>
                  <a:cubicBezTo>
                    <a:pt x="-45" y="18017"/>
                    <a:pt x="515" y="19831"/>
                    <a:pt x="1678" y="21600"/>
                  </a:cubicBezTo>
                  <a:cubicBezTo>
                    <a:pt x="3090" y="21199"/>
                    <a:pt x="4444" y="20759"/>
                    <a:pt x="5769" y="20298"/>
                  </a:cubicBezTo>
                  <a:cubicBezTo>
                    <a:pt x="2428" y="14040"/>
                    <a:pt x="7211" y="7292"/>
                    <a:pt x="20133" y="2440"/>
                  </a:cubicBezTo>
                  <a:cubicBezTo>
                    <a:pt x="20598" y="2266"/>
                    <a:pt x="21077" y="2100"/>
                    <a:pt x="21555" y="1933"/>
                  </a:cubicBezTo>
                  <a:cubicBezTo>
                    <a:pt x="21208" y="1283"/>
                    <a:pt x="20804" y="637"/>
                    <a:pt x="20282" y="0"/>
                  </a:cubicBezTo>
                  <a:close/>
                </a:path>
              </a:pathLst>
            </a:custGeom>
            <a:solidFill>
              <a:srgbClr val="000000">
                <a:alpha val="5098"/>
              </a:srgbClr>
            </a:solidFill>
            <a:ln w="12700" cap="flat">
              <a:noFill/>
              <a:miter lim="400000"/>
            </a:ln>
            <a:effectLst/>
          </p:spPr>
          <p:txBody>
            <a:bodyPr wrap="square" lIns="0" tIns="0" rIns="0" bIns="0" numCol="1" anchor="ctr">
              <a:noAutofit/>
            </a:bodyPr>
            <a:lstStyle/>
            <a:p>
              <a:pPr/>
            </a:p>
          </p:txBody>
        </p:sp>
        <p:sp>
          <p:nvSpPr>
            <p:cNvPr id="487" name="Фигура"/>
            <p:cNvSpPr/>
            <p:nvPr/>
          </p:nvSpPr>
          <p:spPr>
            <a:xfrm>
              <a:off x="5594863" y="5816875"/>
              <a:ext cx="3047162" cy="21969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0835" y="1"/>
                    <a:pt x="20069" y="61"/>
                    <a:pt x="19307" y="168"/>
                  </a:cubicBezTo>
                  <a:cubicBezTo>
                    <a:pt x="18205" y="3564"/>
                    <a:pt x="16651" y="6746"/>
                    <a:pt x="14640" y="9536"/>
                  </a:cubicBezTo>
                  <a:cubicBezTo>
                    <a:pt x="10780" y="14890"/>
                    <a:pt x="5880" y="17916"/>
                    <a:pt x="841" y="18623"/>
                  </a:cubicBezTo>
                  <a:cubicBezTo>
                    <a:pt x="524" y="19599"/>
                    <a:pt x="242" y="20592"/>
                    <a:pt x="0" y="21600"/>
                  </a:cubicBezTo>
                  <a:cubicBezTo>
                    <a:pt x="5859" y="21123"/>
                    <a:pt x="11618" y="17789"/>
                    <a:pt x="16095" y="11580"/>
                  </a:cubicBezTo>
                  <a:cubicBezTo>
                    <a:pt x="18555" y="8168"/>
                    <a:pt x="20388" y="4216"/>
                    <a:pt x="21600" y="0"/>
                  </a:cubicBezTo>
                  <a:close/>
                </a:path>
              </a:pathLst>
            </a:custGeom>
            <a:solidFill>
              <a:srgbClr val="000000">
                <a:alpha val="5098"/>
              </a:srgbClr>
            </a:solidFill>
            <a:ln w="12700" cap="flat">
              <a:noFill/>
              <a:miter lim="400000"/>
            </a:ln>
            <a:effectLst/>
          </p:spPr>
          <p:txBody>
            <a:bodyPr wrap="square" lIns="0" tIns="0" rIns="0" bIns="0" numCol="1" anchor="ctr">
              <a:noAutofit/>
            </a:bodyPr>
            <a:lstStyle/>
            <a:p>
              <a:pPr/>
            </a:p>
          </p:txBody>
        </p:sp>
        <p:sp>
          <p:nvSpPr>
            <p:cNvPr id="488" name="Фигура"/>
            <p:cNvSpPr/>
            <p:nvPr/>
          </p:nvSpPr>
          <p:spPr>
            <a:xfrm>
              <a:off x="2134960" y="5818066"/>
              <a:ext cx="2989219" cy="21918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235" y="4221"/>
                    <a:pt x="3103" y="8178"/>
                    <a:pt x="5609" y="11596"/>
                  </a:cubicBezTo>
                  <a:cubicBezTo>
                    <a:pt x="10066" y="17674"/>
                    <a:pt x="15772" y="21002"/>
                    <a:pt x="21600" y="21600"/>
                  </a:cubicBezTo>
                  <a:cubicBezTo>
                    <a:pt x="21350" y="20579"/>
                    <a:pt x="21054" y="19574"/>
                    <a:pt x="20725" y="18585"/>
                  </a:cubicBezTo>
                  <a:cubicBezTo>
                    <a:pt x="15740" y="17769"/>
                    <a:pt x="10912" y="14764"/>
                    <a:pt x="7086" y="9547"/>
                  </a:cubicBezTo>
                  <a:cubicBezTo>
                    <a:pt x="5050" y="6770"/>
                    <a:pt x="3476" y="3604"/>
                    <a:pt x="2354" y="227"/>
                  </a:cubicBezTo>
                  <a:cubicBezTo>
                    <a:pt x="1572" y="99"/>
                    <a:pt x="787" y="20"/>
                    <a:pt x="0" y="0"/>
                  </a:cubicBezTo>
                  <a:close/>
                </a:path>
              </a:pathLst>
            </a:custGeom>
            <a:solidFill>
              <a:srgbClr val="000000">
                <a:alpha val="5098"/>
              </a:srgbClr>
            </a:solidFill>
            <a:ln w="12700" cap="flat">
              <a:noFill/>
              <a:miter lim="400000"/>
            </a:ln>
            <a:effectLst/>
          </p:spPr>
          <p:txBody>
            <a:bodyPr wrap="square" lIns="0" tIns="0" rIns="0" bIns="0" numCol="1" anchor="ctr">
              <a:noAutofit/>
            </a:bodyPr>
            <a:lstStyle/>
            <a:p>
              <a:pPr/>
            </a:p>
          </p:txBody>
        </p:sp>
        <p:sp>
          <p:nvSpPr>
            <p:cNvPr id="489" name="Кружок"/>
            <p:cNvSpPr/>
            <p:nvPr/>
          </p:nvSpPr>
          <p:spPr>
            <a:xfrm>
              <a:off x="8842178" y="3187574"/>
              <a:ext cx="239115" cy="239107"/>
            </a:xfrm>
            <a:prstGeom prst="ellipse">
              <a:avLst/>
            </a:prstGeom>
            <a:solidFill>
              <a:srgbClr val="EBECEB"/>
            </a:solidFill>
            <a:ln w="12700" cap="flat">
              <a:noFill/>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90" name="Кружок"/>
            <p:cNvSpPr/>
            <p:nvPr/>
          </p:nvSpPr>
          <p:spPr>
            <a:xfrm>
              <a:off x="5257500" y="619141"/>
              <a:ext cx="239115" cy="239107"/>
            </a:xfrm>
            <a:prstGeom prst="ellipse">
              <a:avLst/>
            </a:prstGeom>
            <a:solidFill>
              <a:srgbClr val="EBECEB"/>
            </a:solidFill>
            <a:ln w="12700" cap="flat">
              <a:noFill/>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91" name="Кружок"/>
            <p:cNvSpPr/>
            <p:nvPr/>
          </p:nvSpPr>
          <p:spPr>
            <a:xfrm>
              <a:off x="1692187" y="3187574"/>
              <a:ext cx="239115" cy="239107"/>
            </a:xfrm>
            <a:prstGeom prst="ellipse">
              <a:avLst/>
            </a:prstGeom>
            <a:solidFill>
              <a:srgbClr val="EBECEB"/>
            </a:solidFill>
            <a:ln w="12700" cap="flat">
              <a:noFill/>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92" name="Кружок"/>
            <p:cNvSpPr/>
            <p:nvPr/>
          </p:nvSpPr>
          <p:spPr>
            <a:xfrm>
              <a:off x="3004500" y="7429138"/>
              <a:ext cx="239115" cy="239107"/>
            </a:xfrm>
            <a:prstGeom prst="ellipse">
              <a:avLst/>
            </a:prstGeom>
            <a:solidFill>
              <a:srgbClr val="EBECEB"/>
            </a:solidFill>
            <a:ln w="12700" cap="flat">
              <a:noFill/>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93" name="Кружок"/>
            <p:cNvSpPr/>
            <p:nvPr/>
          </p:nvSpPr>
          <p:spPr>
            <a:xfrm>
              <a:off x="7525632" y="7429137"/>
              <a:ext cx="239115" cy="239107"/>
            </a:xfrm>
            <a:prstGeom prst="ellipse">
              <a:avLst/>
            </a:prstGeom>
            <a:solidFill>
              <a:srgbClr val="EBECEB"/>
            </a:solidFill>
            <a:ln w="12700" cap="flat">
              <a:noFill/>
              <a:miter lim="400000"/>
            </a:ln>
            <a:effectLst/>
          </p:spPr>
          <p:txBody>
            <a:bodyPr wrap="square" lIns="0" tIns="0" rIns="0" bIns="0" numCol="1" anchor="ctr">
              <a:noAutofit/>
            </a:bodyPr>
            <a:lstStyle/>
            <a:p>
              <a:pPr>
                <a:defRPr sz="2000">
                  <a:solidFill>
                    <a:srgbClr val="252D30"/>
                  </a:solidFill>
                  <a:latin typeface="Arial"/>
                  <a:ea typeface="Arial"/>
                  <a:cs typeface="Arial"/>
                  <a:sym typeface="Arial"/>
                </a:defRPr>
              </a:pPr>
            </a:p>
          </p:txBody>
        </p:sp>
        <p:sp>
          <p:nvSpPr>
            <p:cNvPr id="494" name="Линия"/>
            <p:cNvSpPr/>
            <p:nvPr/>
          </p:nvSpPr>
          <p:spPr>
            <a:xfrm>
              <a:off x="9028614" y="2463661"/>
              <a:ext cx="1783521" cy="808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8757" y="2132"/>
                  </a:lnTo>
                  <a:cubicBezTo>
                    <a:pt x="9041" y="1409"/>
                    <a:pt x="9396" y="841"/>
                    <a:pt x="9795" y="469"/>
                  </a:cubicBezTo>
                  <a:cubicBezTo>
                    <a:pt x="10073" y="210"/>
                    <a:pt x="10369" y="52"/>
                    <a:pt x="10670" y="0"/>
                  </a:cubicBezTo>
                  <a:lnTo>
                    <a:pt x="21600" y="0"/>
                  </a:lnTo>
                </a:path>
              </a:pathLst>
            </a:custGeom>
            <a:noFill/>
            <a:ln w="38100" cap="flat">
              <a:solidFill>
                <a:srgbClr val="EBECEB"/>
              </a:solidFill>
              <a:prstDash val="solid"/>
              <a:miter lim="800000"/>
            </a:ln>
            <a:effectLst/>
          </p:spPr>
          <p:txBody>
            <a:bodyPr wrap="square" lIns="0" tIns="0" rIns="0" bIns="0" numCol="1" anchor="ctr">
              <a:noAutofit/>
            </a:bodyPr>
            <a:lstStyle/>
            <a:p>
              <a:pPr/>
            </a:p>
          </p:txBody>
        </p:sp>
        <p:sp>
          <p:nvSpPr>
            <p:cNvPr id="495" name="Линия"/>
            <p:cNvSpPr/>
            <p:nvPr/>
          </p:nvSpPr>
          <p:spPr>
            <a:xfrm>
              <a:off x="-1" y="2463661"/>
              <a:ext cx="1783488" cy="808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2843" y="2132"/>
                  </a:lnTo>
                  <a:cubicBezTo>
                    <a:pt x="12559" y="1409"/>
                    <a:pt x="12204" y="841"/>
                    <a:pt x="11805" y="469"/>
                  </a:cubicBezTo>
                  <a:cubicBezTo>
                    <a:pt x="11527" y="210"/>
                    <a:pt x="11231" y="52"/>
                    <a:pt x="10930" y="0"/>
                  </a:cubicBezTo>
                  <a:lnTo>
                    <a:pt x="0" y="0"/>
                  </a:lnTo>
                </a:path>
              </a:pathLst>
            </a:custGeom>
            <a:noFill/>
            <a:ln w="38100" cap="flat">
              <a:solidFill>
                <a:srgbClr val="EBECEB"/>
              </a:solidFill>
              <a:prstDash val="solid"/>
              <a:miter lim="800000"/>
            </a:ln>
            <a:effectLst/>
          </p:spPr>
          <p:txBody>
            <a:bodyPr wrap="square" lIns="0" tIns="0" rIns="0" bIns="0" numCol="1" anchor="ctr">
              <a:noAutofit/>
            </a:bodyPr>
            <a:lstStyle/>
            <a:p>
              <a:pPr/>
            </a:p>
          </p:txBody>
        </p:sp>
        <p:sp>
          <p:nvSpPr>
            <p:cNvPr id="496" name="Линия"/>
            <p:cNvSpPr/>
            <p:nvPr/>
          </p:nvSpPr>
          <p:spPr>
            <a:xfrm>
              <a:off x="1336842" y="7513521"/>
              <a:ext cx="1783487" cy="808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2843" y="19468"/>
                  </a:lnTo>
                  <a:cubicBezTo>
                    <a:pt x="12559" y="20191"/>
                    <a:pt x="12204" y="20759"/>
                    <a:pt x="11805" y="21131"/>
                  </a:cubicBezTo>
                  <a:cubicBezTo>
                    <a:pt x="11527" y="21390"/>
                    <a:pt x="11231" y="21548"/>
                    <a:pt x="10930" y="21600"/>
                  </a:cubicBezTo>
                  <a:lnTo>
                    <a:pt x="0" y="21600"/>
                  </a:lnTo>
                </a:path>
              </a:pathLst>
            </a:custGeom>
            <a:noFill/>
            <a:ln w="38100" cap="flat">
              <a:solidFill>
                <a:srgbClr val="EBECEB"/>
              </a:solidFill>
              <a:prstDash val="solid"/>
              <a:miter lim="800000"/>
            </a:ln>
            <a:effectLst/>
          </p:spPr>
          <p:txBody>
            <a:bodyPr wrap="square" lIns="0" tIns="0" rIns="0" bIns="0" numCol="1" anchor="ctr">
              <a:noAutofit/>
            </a:bodyPr>
            <a:lstStyle/>
            <a:p>
              <a:pPr/>
            </a:p>
          </p:txBody>
        </p:sp>
        <p:sp>
          <p:nvSpPr>
            <p:cNvPr id="497" name="Линия"/>
            <p:cNvSpPr/>
            <p:nvPr/>
          </p:nvSpPr>
          <p:spPr>
            <a:xfrm>
              <a:off x="7606236" y="7513521"/>
              <a:ext cx="1783520" cy="808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8757" y="19468"/>
                  </a:lnTo>
                  <a:cubicBezTo>
                    <a:pt x="9041" y="20191"/>
                    <a:pt x="9396" y="20759"/>
                    <a:pt x="9795" y="21131"/>
                  </a:cubicBezTo>
                  <a:cubicBezTo>
                    <a:pt x="10073" y="21390"/>
                    <a:pt x="10369" y="21548"/>
                    <a:pt x="10670" y="21600"/>
                  </a:cubicBezTo>
                  <a:lnTo>
                    <a:pt x="21600" y="21600"/>
                  </a:lnTo>
                </a:path>
              </a:pathLst>
            </a:custGeom>
            <a:noFill/>
            <a:ln w="38100" cap="flat">
              <a:solidFill>
                <a:srgbClr val="EBECEB"/>
              </a:solidFill>
              <a:prstDash val="solid"/>
              <a:miter lim="800000"/>
            </a:ln>
            <a:effectLst/>
          </p:spPr>
          <p:txBody>
            <a:bodyPr wrap="square" lIns="0" tIns="0" rIns="0" bIns="0" numCol="1" anchor="ctr">
              <a:noAutofit/>
            </a:bodyPr>
            <a:lstStyle/>
            <a:p>
              <a:pPr/>
            </a:p>
          </p:txBody>
        </p:sp>
        <p:sp>
          <p:nvSpPr>
            <p:cNvPr id="498" name="Линия"/>
            <p:cNvSpPr/>
            <p:nvPr/>
          </p:nvSpPr>
          <p:spPr>
            <a:xfrm>
              <a:off x="5307572" y="-1"/>
              <a:ext cx="3724269" cy="808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4194" y="2132"/>
                  </a:lnTo>
                  <a:cubicBezTo>
                    <a:pt x="4329" y="1409"/>
                    <a:pt x="4500" y="841"/>
                    <a:pt x="4691" y="469"/>
                  </a:cubicBezTo>
                  <a:cubicBezTo>
                    <a:pt x="4824" y="210"/>
                    <a:pt x="4966" y="52"/>
                    <a:pt x="5110" y="0"/>
                  </a:cubicBezTo>
                  <a:lnTo>
                    <a:pt x="21600" y="170"/>
                  </a:lnTo>
                </a:path>
              </a:pathLst>
            </a:custGeom>
            <a:noFill/>
            <a:ln w="38100" cap="flat">
              <a:solidFill>
                <a:srgbClr val="EBECEB"/>
              </a:solidFill>
              <a:prstDash val="solid"/>
              <a:miter lim="800000"/>
            </a:ln>
            <a:effectLst/>
          </p:spPr>
          <p:txBody>
            <a:bodyPr wrap="square" lIns="0" tIns="0" rIns="0" bIns="0" numCol="1" anchor="ctr">
              <a:noAutofit/>
            </a:bodyPr>
            <a:lstStyle/>
            <a:p>
              <a:pPr/>
            </a:p>
          </p:txBody>
        </p:sp>
        <p:sp>
          <p:nvSpPr>
            <p:cNvPr id="499" name="Project…"/>
            <p:cNvSpPr txBox="1"/>
            <p:nvPr/>
          </p:nvSpPr>
          <p:spPr>
            <a:xfrm>
              <a:off x="3004500" y="4541295"/>
              <a:ext cx="476024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модел</a:t>
              </a:r>
            </a:p>
          </p:txBody>
        </p:sp>
        <p:sp>
          <p:nvSpPr>
            <p:cNvPr id="500" name="Project…"/>
            <p:cNvSpPr txBox="1"/>
            <p:nvPr/>
          </p:nvSpPr>
          <p:spPr>
            <a:xfrm>
              <a:off x="4904952" y="1329582"/>
              <a:ext cx="95719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FFFFFF"/>
                  </a:solidFill>
                  <a:latin typeface="Montserrat Bold"/>
                  <a:ea typeface="Montserrat Bold"/>
                  <a:cs typeface="Montserrat Bold"/>
                  <a:sym typeface="Montserrat Bold"/>
                </a:defRPr>
              </a:lvl1pPr>
            </a:lstStyle>
            <a:p>
              <a:pPr/>
              <a:r>
                <a:t>S</a:t>
              </a:r>
            </a:p>
          </p:txBody>
        </p:sp>
        <p:sp>
          <p:nvSpPr>
            <p:cNvPr id="501" name="Project…"/>
            <p:cNvSpPr txBox="1"/>
            <p:nvPr/>
          </p:nvSpPr>
          <p:spPr>
            <a:xfrm>
              <a:off x="7645189" y="3219627"/>
              <a:ext cx="95719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FFFFFF"/>
                  </a:solidFill>
                  <a:latin typeface="Montserrat Bold"/>
                  <a:ea typeface="Montserrat Bold"/>
                  <a:cs typeface="Montserrat Bold"/>
                  <a:sym typeface="Montserrat Bold"/>
                </a:defRPr>
              </a:lvl1pPr>
            </a:lstStyle>
            <a:p>
              <a:pPr/>
              <a:r>
                <a:t>Q</a:t>
              </a:r>
            </a:p>
          </p:txBody>
        </p:sp>
        <p:sp>
          <p:nvSpPr>
            <p:cNvPr id="502" name="Project…"/>
            <p:cNvSpPr txBox="1"/>
            <p:nvPr/>
          </p:nvSpPr>
          <p:spPr>
            <a:xfrm>
              <a:off x="2139353" y="3216452"/>
              <a:ext cx="95719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FFFFFF"/>
                  </a:solidFill>
                  <a:latin typeface="Montserrat Bold"/>
                  <a:ea typeface="Montserrat Bold"/>
                  <a:cs typeface="Montserrat Bold"/>
                  <a:sym typeface="Montserrat Bold"/>
                </a:defRPr>
              </a:lvl1pPr>
            </a:lstStyle>
            <a:p>
              <a:pPr/>
              <a:r>
                <a:t>T</a:t>
              </a:r>
            </a:p>
          </p:txBody>
        </p:sp>
        <p:sp>
          <p:nvSpPr>
            <p:cNvPr id="503" name="Project…"/>
            <p:cNvSpPr txBox="1"/>
            <p:nvPr/>
          </p:nvSpPr>
          <p:spPr>
            <a:xfrm>
              <a:off x="6568436" y="6418403"/>
              <a:ext cx="95719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FFFFFF"/>
                  </a:solidFill>
                  <a:latin typeface="Montserrat Bold"/>
                  <a:ea typeface="Montserrat Bold"/>
                  <a:cs typeface="Montserrat Bold"/>
                  <a:sym typeface="Montserrat Bold"/>
                </a:defRPr>
              </a:lvl1pPr>
            </a:lstStyle>
            <a:p>
              <a:pPr/>
              <a:r>
                <a:t>E</a:t>
              </a:r>
            </a:p>
          </p:txBody>
        </p:sp>
        <p:sp>
          <p:nvSpPr>
            <p:cNvPr id="504" name="Project…"/>
            <p:cNvSpPr txBox="1"/>
            <p:nvPr/>
          </p:nvSpPr>
          <p:spPr>
            <a:xfrm>
              <a:off x="3140955" y="6414393"/>
              <a:ext cx="957197"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R</a:t>
              </a:r>
            </a:p>
          </p:txBody>
        </p:sp>
        <p:sp>
          <p:nvSpPr>
            <p:cNvPr id="505" name="Project…"/>
            <p:cNvSpPr txBox="1"/>
            <p:nvPr/>
          </p:nvSpPr>
          <p:spPr>
            <a:xfrm>
              <a:off x="4151140" y="3824631"/>
              <a:ext cx="2416349" cy="838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4800">
                  <a:solidFill>
                    <a:srgbClr val="3F57D1"/>
                  </a:solidFill>
                  <a:latin typeface="Montserrat Bold"/>
                  <a:ea typeface="Montserrat Bold"/>
                  <a:cs typeface="Montserrat Bold"/>
                  <a:sym typeface="Montserrat Bold"/>
                </a:defRPr>
              </a:lvl1pPr>
            </a:lstStyle>
            <a:p>
              <a:pPr/>
              <a:r>
                <a:t>SQERT</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66"/>
                                        </p:tgtEl>
                                        <p:attrNameLst>
                                          <p:attrName>style.visibility</p:attrName>
                                        </p:attrNameLst>
                                      </p:cBhvr>
                                      <p:to>
                                        <p:strVal val="visible"/>
                                      </p:to>
                                    </p:set>
                                    <p:animEffect filter="dissolve" transition="in">
                                      <p:cBhvr>
                                        <p:cTn id="7" dur="500"/>
                                        <p:tgtEl>
                                          <p:spTgt spid="46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506"/>
                                        </p:tgtEl>
                                        <p:attrNameLst>
                                          <p:attrName>style.visibility</p:attrName>
                                        </p:attrNameLst>
                                      </p:cBhvr>
                                      <p:to>
                                        <p:strVal val="visible"/>
                                      </p:to>
                                    </p:set>
                                    <p:animEffect filter="dissolve" transition="in">
                                      <p:cBhvr>
                                        <p:cTn id="12" dur="500"/>
                                        <p:tgtEl>
                                          <p:spTgt spid="50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477"/>
                                        </p:tgtEl>
                                        <p:attrNameLst>
                                          <p:attrName>style.visibility</p:attrName>
                                        </p:attrNameLst>
                                      </p:cBhvr>
                                      <p:to>
                                        <p:strVal val="visible"/>
                                      </p:to>
                                    </p:set>
                                    <p:animEffect filter="dissolve" transition="in">
                                      <p:cBhvr>
                                        <p:cTn id="17"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6" grpId="1"/>
      <p:bldP build="whole" bldLvl="1" animBg="1" rev="0" advAuto="0" spid="506" grpId="2"/>
      <p:bldP build="whole" bldLvl="1" animBg="1" rev="0" advAuto="0" spid="477" grpId="3"/>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13" name="Группа 52"/>
          <p:cNvGrpSpPr/>
          <p:nvPr/>
        </p:nvGrpSpPr>
        <p:grpSpPr>
          <a:xfrm>
            <a:off x="2155897" y="2125560"/>
            <a:ext cx="20116792" cy="1724844"/>
            <a:chOff x="0" y="0"/>
            <a:chExt cx="20116791" cy="1724843"/>
          </a:xfrm>
        </p:grpSpPr>
        <p:sp>
          <p:nvSpPr>
            <p:cNvPr id="508" name="Шестиугольник 43"/>
            <p:cNvSpPr/>
            <p:nvPr/>
          </p:nvSpPr>
          <p:spPr>
            <a:xfrm rot="5400000">
              <a:off x="-118955" y="118954"/>
              <a:ext cx="1724845" cy="1486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noFill/>
            <a:ln w="76200" cap="flat">
              <a:solidFill>
                <a:srgbClr val="3F57D1"/>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09" name="Пятиугольник 48"/>
            <p:cNvSpPr/>
            <p:nvPr/>
          </p:nvSpPr>
          <p:spPr>
            <a:xfrm rot="10800000">
              <a:off x="5984490" y="333078"/>
              <a:ext cx="14132302" cy="1137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731" y="0"/>
                  </a:lnTo>
                  <a:lnTo>
                    <a:pt x="21600" y="10800"/>
                  </a:lnTo>
                  <a:lnTo>
                    <a:pt x="20731" y="21600"/>
                  </a:lnTo>
                  <a:lnTo>
                    <a:pt x="0" y="21600"/>
                  </a:ln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10" name="Project…"/>
            <p:cNvSpPr txBox="1"/>
            <p:nvPr/>
          </p:nvSpPr>
          <p:spPr>
            <a:xfrm>
              <a:off x="83003" y="532221"/>
              <a:ext cx="1365533"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S</a:t>
              </a:r>
            </a:p>
          </p:txBody>
        </p:sp>
        <p:sp>
          <p:nvSpPr>
            <p:cNvPr id="511" name="Project…"/>
            <p:cNvSpPr txBox="1"/>
            <p:nvPr/>
          </p:nvSpPr>
          <p:spPr>
            <a:xfrm>
              <a:off x="1882668" y="55284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Specific</a:t>
              </a:r>
            </a:p>
          </p:txBody>
        </p:sp>
        <p:sp>
          <p:nvSpPr>
            <p:cNvPr id="512" name="Profesional Template for PowerPoint, Keynote, Google Slides"/>
            <p:cNvSpPr txBox="1"/>
            <p:nvPr/>
          </p:nvSpPr>
          <p:spPr>
            <a:xfrm>
              <a:off x="6898888" y="606671"/>
              <a:ext cx="867395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F706E"/>
                  </a:solidFill>
                  <a:latin typeface="Roboto Regular"/>
                  <a:ea typeface="Roboto Regular"/>
                  <a:cs typeface="Roboto Regular"/>
                  <a:sym typeface="Roboto Regular"/>
                </a:defRPr>
              </a:lvl1pPr>
            </a:lstStyle>
            <a:p>
              <a:pPr/>
              <a:r>
                <a:t>Подробности какво точно трябва да бъде свършено</a:t>
              </a:r>
            </a:p>
          </p:txBody>
        </p:sp>
      </p:grpSp>
      <p:grpSp>
        <p:nvGrpSpPr>
          <p:cNvPr id="519" name="Группа 59"/>
          <p:cNvGrpSpPr/>
          <p:nvPr/>
        </p:nvGrpSpPr>
        <p:grpSpPr>
          <a:xfrm>
            <a:off x="2155897" y="4094512"/>
            <a:ext cx="20116792" cy="1724845"/>
            <a:chOff x="0" y="0"/>
            <a:chExt cx="20116791" cy="1724843"/>
          </a:xfrm>
        </p:grpSpPr>
        <p:sp>
          <p:nvSpPr>
            <p:cNvPr id="514" name="Шестиугольник 54"/>
            <p:cNvSpPr/>
            <p:nvPr/>
          </p:nvSpPr>
          <p:spPr>
            <a:xfrm rot="5400000">
              <a:off x="-118955" y="118954"/>
              <a:ext cx="1724845" cy="1486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noFill/>
            <a:ln w="76200" cap="flat">
              <a:solidFill>
                <a:srgbClr val="C851C0"/>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15" name="Пятиугольник 55"/>
            <p:cNvSpPr/>
            <p:nvPr/>
          </p:nvSpPr>
          <p:spPr>
            <a:xfrm rot="10800000">
              <a:off x="5984490" y="333078"/>
              <a:ext cx="14132302" cy="1137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731" y="0"/>
                  </a:lnTo>
                  <a:lnTo>
                    <a:pt x="21600" y="10800"/>
                  </a:lnTo>
                  <a:lnTo>
                    <a:pt x="20731" y="21600"/>
                  </a:lnTo>
                  <a:lnTo>
                    <a:pt x="0" y="21600"/>
                  </a:ln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16" name="Project…"/>
            <p:cNvSpPr txBox="1"/>
            <p:nvPr/>
          </p:nvSpPr>
          <p:spPr>
            <a:xfrm>
              <a:off x="83003" y="532221"/>
              <a:ext cx="1365533"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M</a:t>
              </a:r>
            </a:p>
          </p:txBody>
        </p:sp>
        <p:sp>
          <p:nvSpPr>
            <p:cNvPr id="517" name="Project…"/>
            <p:cNvSpPr txBox="1"/>
            <p:nvPr/>
          </p:nvSpPr>
          <p:spPr>
            <a:xfrm>
              <a:off x="1882668" y="55284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Measurable</a:t>
              </a:r>
            </a:p>
          </p:txBody>
        </p:sp>
        <p:sp>
          <p:nvSpPr>
            <p:cNvPr id="518" name="Profesional Template for PowerPoint, Keynote, Google Slides"/>
            <p:cNvSpPr txBox="1"/>
            <p:nvPr/>
          </p:nvSpPr>
          <p:spPr>
            <a:xfrm>
              <a:off x="6898888" y="606671"/>
              <a:ext cx="867395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F706E"/>
                  </a:solidFill>
                  <a:latin typeface="Roboto Regular"/>
                  <a:ea typeface="Roboto Regular"/>
                  <a:cs typeface="Roboto Regular"/>
                  <a:sym typeface="Roboto Regular"/>
                </a:defRPr>
              </a:lvl1pPr>
            </a:lstStyle>
            <a:p>
              <a:pPr/>
              <a:r>
                <a:t>Постижението или прогреса могат да бъдат измерени</a:t>
              </a:r>
            </a:p>
          </p:txBody>
        </p:sp>
      </p:grpSp>
      <p:grpSp>
        <p:nvGrpSpPr>
          <p:cNvPr id="525" name="Группа 60"/>
          <p:cNvGrpSpPr/>
          <p:nvPr/>
        </p:nvGrpSpPr>
        <p:grpSpPr>
          <a:xfrm>
            <a:off x="2155897" y="6063464"/>
            <a:ext cx="20116792" cy="1724844"/>
            <a:chOff x="0" y="0"/>
            <a:chExt cx="20116791" cy="1724843"/>
          </a:xfrm>
        </p:grpSpPr>
        <p:sp>
          <p:nvSpPr>
            <p:cNvPr id="520" name="Шестиугольник 61"/>
            <p:cNvSpPr/>
            <p:nvPr/>
          </p:nvSpPr>
          <p:spPr>
            <a:xfrm rot="5400000">
              <a:off x="-118955" y="118954"/>
              <a:ext cx="1724845" cy="1486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noFill/>
            <a:ln w="76200" cap="flat">
              <a:solidFill>
                <a:srgbClr val="FECB70"/>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21" name="Пятиугольник 62"/>
            <p:cNvSpPr/>
            <p:nvPr/>
          </p:nvSpPr>
          <p:spPr>
            <a:xfrm rot="10800000">
              <a:off x="5984490" y="333078"/>
              <a:ext cx="14132302" cy="1137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731" y="0"/>
                  </a:lnTo>
                  <a:lnTo>
                    <a:pt x="21600" y="10800"/>
                  </a:lnTo>
                  <a:lnTo>
                    <a:pt x="20731" y="21600"/>
                  </a:lnTo>
                  <a:lnTo>
                    <a:pt x="0" y="21600"/>
                  </a:ln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22" name="Project…"/>
            <p:cNvSpPr txBox="1"/>
            <p:nvPr/>
          </p:nvSpPr>
          <p:spPr>
            <a:xfrm>
              <a:off x="83003" y="532221"/>
              <a:ext cx="1365533"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A</a:t>
              </a:r>
            </a:p>
          </p:txBody>
        </p:sp>
        <p:sp>
          <p:nvSpPr>
            <p:cNvPr id="523" name="Project…"/>
            <p:cNvSpPr txBox="1"/>
            <p:nvPr/>
          </p:nvSpPr>
          <p:spPr>
            <a:xfrm>
              <a:off x="1882668" y="55284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Achievable</a:t>
              </a:r>
            </a:p>
          </p:txBody>
        </p:sp>
        <p:sp>
          <p:nvSpPr>
            <p:cNvPr id="524" name="Profesional Template for PowerPoint, Keynote, Google Slides"/>
            <p:cNvSpPr txBox="1"/>
            <p:nvPr/>
          </p:nvSpPr>
          <p:spPr>
            <a:xfrm>
              <a:off x="6898888" y="606671"/>
              <a:ext cx="1173097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F706E"/>
                  </a:solidFill>
                  <a:latin typeface="Roboto Regular"/>
                  <a:ea typeface="Roboto Regular"/>
                  <a:cs typeface="Roboto Regular"/>
                  <a:sym typeface="Roboto Regular"/>
                </a:defRPr>
              </a:lvl1pPr>
            </a:lstStyle>
            <a:p>
              <a:pPr/>
              <a:r>
                <a:t>Целите са приети от тези, които са отговорни за постигането им</a:t>
              </a:r>
            </a:p>
          </p:txBody>
        </p:sp>
      </p:grpSp>
      <p:grpSp>
        <p:nvGrpSpPr>
          <p:cNvPr id="531" name="Группа 66"/>
          <p:cNvGrpSpPr/>
          <p:nvPr/>
        </p:nvGrpSpPr>
        <p:grpSpPr>
          <a:xfrm>
            <a:off x="2155897" y="8032415"/>
            <a:ext cx="20116792" cy="1724845"/>
            <a:chOff x="0" y="0"/>
            <a:chExt cx="20116791" cy="1724843"/>
          </a:xfrm>
        </p:grpSpPr>
        <p:sp>
          <p:nvSpPr>
            <p:cNvPr id="526" name="Шестиугольник 67"/>
            <p:cNvSpPr/>
            <p:nvPr/>
          </p:nvSpPr>
          <p:spPr>
            <a:xfrm rot="5400000">
              <a:off x="-118955" y="118954"/>
              <a:ext cx="1724845" cy="1486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noFill/>
            <a:ln w="76200" cap="flat">
              <a:solidFill>
                <a:srgbClr val="FEF5AD"/>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27" name="Пятиугольник 68"/>
            <p:cNvSpPr/>
            <p:nvPr/>
          </p:nvSpPr>
          <p:spPr>
            <a:xfrm rot="10800000">
              <a:off x="5984490" y="333078"/>
              <a:ext cx="14132302" cy="1137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731" y="0"/>
                  </a:lnTo>
                  <a:lnTo>
                    <a:pt x="21600" y="10800"/>
                  </a:lnTo>
                  <a:lnTo>
                    <a:pt x="20731" y="21600"/>
                  </a:lnTo>
                  <a:lnTo>
                    <a:pt x="0" y="21600"/>
                  </a:ln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28" name="Project…"/>
            <p:cNvSpPr txBox="1"/>
            <p:nvPr/>
          </p:nvSpPr>
          <p:spPr>
            <a:xfrm>
              <a:off x="83003" y="532221"/>
              <a:ext cx="1365533"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R</a:t>
              </a:r>
            </a:p>
          </p:txBody>
        </p:sp>
        <p:sp>
          <p:nvSpPr>
            <p:cNvPr id="529" name="Project…"/>
            <p:cNvSpPr txBox="1"/>
            <p:nvPr/>
          </p:nvSpPr>
          <p:spPr>
            <a:xfrm>
              <a:off x="1882668" y="55284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Realistic</a:t>
              </a:r>
            </a:p>
          </p:txBody>
        </p:sp>
        <p:sp>
          <p:nvSpPr>
            <p:cNvPr id="530" name="Profesional Template for PowerPoint, Keynote, Google Slides"/>
            <p:cNvSpPr txBox="1"/>
            <p:nvPr/>
          </p:nvSpPr>
          <p:spPr>
            <a:xfrm>
              <a:off x="6898888" y="606671"/>
              <a:ext cx="1173097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F706E"/>
                  </a:solidFill>
                  <a:latin typeface="Roboto Regular"/>
                  <a:ea typeface="Roboto Regular"/>
                  <a:cs typeface="Roboto Regular"/>
                  <a:sym typeface="Roboto Regular"/>
                </a:defRPr>
              </a:lvl1pPr>
            </a:lstStyle>
            <a:p>
              <a:pPr/>
              <a:r>
                <a:t>Целта да е възможна да се постигне</a:t>
              </a:r>
            </a:p>
          </p:txBody>
        </p:sp>
      </p:grpSp>
      <p:grpSp>
        <p:nvGrpSpPr>
          <p:cNvPr id="537" name="Группа 72"/>
          <p:cNvGrpSpPr/>
          <p:nvPr/>
        </p:nvGrpSpPr>
        <p:grpSpPr>
          <a:xfrm>
            <a:off x="2155897" y="10001369"/>
            <a:ext cx="20116792" cy="1724845"/>
            <a:chOff x="0" y="0"/>
            <a:chExt cx="20116791" cy="1724843"/>
          </a:xfrm>
        </p:grpSpPr>
        <p:sp>
          <p:nvSpPr>
            <p:cNvPr id="532" name="Шестиугольник 73"/>
            <p:cNvSpPr/>
            <p:nvPr/>
          </p:nvSpPr>
          <p:spPr>
            <a:xfrm rot="5400000">
              <a:off x="-118955" y="118954"/>
              <a:ext cx="1724845" cy="14869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4655" y="0"/>
                  </a:lnTo>
                  <a:lnTo>
                    <a:pt x="16945" y="0"/>
                  </a:lnTo>
                  <a:lnTo>
                    <a:pt x="21600" y="10800"/>
                  </a:lnTo>
                  <a:lnTo>
                    <a:pt x="16945" y="21600"/>
                  </a:lnTo>
                  <a:lnTo>
                    <a:pt x="4655" y="21600"/>
                  </a:lnTo>
                  <a:close/>
                </a:path>
              </a:pathLst>
            </a:custGeom>
            <a:noFill/>
            <a:ln w="76200" cap="flat">
              <a:solidFill>
                <a:srgbClr val="3F57D1"/>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33" name="Пятиугольник 74"/>
            <p:cNvSpPr/>
            <p:nvPr/>
          </p:nvSpPr>
          <p:spPr>
            <a:xfrm rot="10800000">
              <a:off x="5984490" y="333078"/>
              <a:ext cx="14132302" cy="1137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731" y="0"/>
                  </a:lnTo>
                  <a:lnTo>
                    <a:pt x="21600" y="10800"/>
                  </a:lnTo>
                  <a:lnTo>
                    <a:pt x="20731" y="21600"/>
                  </a:lnTo>
                  <a:lnTo>
                    <a:pt x="0" y="21600"/>
                  </a:lnTo>
                  <a:close/>
                </a:path>
              </a:pathLst>
            </a:cu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34" name="Project…"/>
            <p:cNvSpPr txBox="1"/>
            <p:nvPr/>
          </p:nvSpPr>
          <p:spPr>
            <a:xfrm>
              <a:off x="83003" y="532221"/>
              <a:ext cx="1365533"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3600">
                  <a:solidFill>
                    <a:srgbClr val="252625"/>
                  </a:solidFill>
                  <a:latin typeface="Montserrat Bold"/>
                  <a:ea typeface="Montserrat Bold"/>
                  <a:cs typeface="Montserrat Bold"/>
                  <a:sym typeface="Montserrat Bold"/>
                </a:defRPr>
              </a:lvl1pPr>
            </a:lstStyle>
            <a:p>
              <a:pPr/>
              <a:r>
                <a:t>T</a:t>
              </a:r>
            </a:p>
          </p:txBody>
        </p:sp>
        <p:sp>
          <p:nvSpPr>
            <p:cNvPr id="535" name="Project…"/>
            <p:cNvSpPr txBox="1"/>
            <p:nvPr/>
          </p:nvSpPr>
          <p:spPr>
            <a:xfrm>
              <a:off x="1882668" y="552848"/>
              <a:ext cx="4101811" cy="660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3600">
                  <a:solidFill>
                    <a:srgbClr val="252625"/>
                  </a:solidFill>
                  <a:latin typeface="Montserrat Bold"/>
                  <a:ea typeface="Montserrat Bold"/>
                  <a:cs typeface="Montserrat Bold"/>
                  <a:sym typeface="Montserrat Bold"/>
                </a:defRPr>
              </a:lvl1pPr>
            </a:lstStyle>
            <a:p>
              <a:pPr/>
              <a:r>
                <a:t>Timed</a:t>
              </a:r>
            </a:p>
          </p:txBody>
        </p:sp>
        <p:sp>
          <p:nvSpPr>
            <p:cNvPr id="536" name="Profesional Template for PowerPoint, Keynote, Google Slides"/>
            <p:cNvSpPr txBox="1"/>
            <p:nvPr/>
          </p:nvSpPr>
          <p:spPr>
            <a:xfrm>
              <a:off x="6898888" y="606671"/>
              <a:ext cx="1173097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lnSpc>
                  <a:spcPct val="120000"/>
                </a:lnSpc>
                <a:defRPr b="0" sz="2600">
                  <a:solidFill>
                    <a:srgbClr val="6F706E"/>
                  </a:solidFill>
                  <a:latin typeface="Roboto Regular"/>
                  <a:ea typeface="Roboto Regular"/>
                  <a:cs typeface="Roboto Regular"/>
                  <a:sym typeface="Roboto Regular"/>
                </a:defRPr>
              </a:lvl1pPr>
            </a:lstStyle>
            <a:p>
              <a:pPr/>
              <a:r>
                <a:t>Времевият период за постигане да е ясно изразен</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513"/>
                                        </p:tgtEl>
                                        <p:attrNameLst>
                                          <p:attrName>style.visibility</p:attrName>
                                        </p:attrNameLst>
                                      </p:cBhvr>
                                      <p:to>
                                        <p:strVal val="visible"/>
                                      </p:to>
                                    </p:set>
                                    <p:anim calcmode="lin" valueType="num">
                                      <p:cBhvr>
                                        <p:cTn id="7" dur="500" fill="hold"/>
                                        <p:tgtEl>
                                          <p:spTgt spid="513"/>
                                        </p:tgtEl>
                                        <p:attrNameLst>
                                          <p:attrName>ppt_x</p:attrName>
                                        </p:attrNameLst>
                                      </p:cBhvr>
                                      <p:tavLst>
                                        <p:tav tm="0">
                                          <p:val>
                                            <p:strVal val="#ppt_x"/>
                                          </p:val>
                                        </p:tav>
                                        <p:tav tm="100000">
                                          <p:val>
                                            <p:strVal val="#ppt_x"/>
                                          </p:val>
                                        </p:tav>
                                      </p:tavLst>
                                    </p:anim>
                                    <p:anim calcmode="lin" valueType="num">
                                      <p:cBhvr>
                                        <p:cTn id="8" dur="500" fill="hold"/>
                                        <p:tgtEl>
                                          <p:spTgt spid="5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4" presetID="2" grpId="2" fill="hold">
                                  <p:stCondLst>
                                    <p:cond delay="0"/>
                                  </p:stCondLst>
                                  <p:iterate type="el" backwards="0">
                                    <p:tmAbs val="0"/>
                                  </p:iterate>
                                  <p:childTnLst>
                                    <p:set>
                                      <p:cBhvr>
                                        <p:cTn id="12" fill="hold"/>
                                        <p:tgtEl>
                                          <p:spTgt spid="519"/>
                                        </p:tgtEl>
                                        <p:attrNameLst>
                                          <p:attrName>style.visibility</p:attrName>
                                        </p:attrNameLst>
                                      </p:cBhvr>
                                      <p:to>
                                        <p:strVal val="visible"/>
                                      </p:to>
                                    </p:set>
                                    <p:anim calcmode="lin" valueType="num">
                                      <p:cBhvr>
                                        <p:cTn id="13" dur="500" fill="hold"/>
                                        <p:tgtEl>
                                          <p:spTgt spid="519"/>
                                        </p:tgtEl>
                                        <p:attrNameLst>
                                          <p:attrName>ppt_x</p:attrName>
                                        </p:attrNameLst>
                                      </p:cBhvr>
                                      <p:tavLst>
                                        <p:tav tm="0">
                                          <p:val>
                                            <p:strVal val="#ppt_x"/>
                                          </p:val>
                                        </p:tav>
                                        <p:tav tm="100000">
                                          <p:val>
                                            <p:strVal val="#ppt_x"/>
                                          </p:val>
                                        </p:tav>
                                      </p:tavLst>
                                    </p:anim>
                                    <p:anim calcmode="lin" valueType="num">
                                      <p:cBhvr>
                                        <p:cTn id="14" dur="500" fill="hold"/>
                                        <p:tgtEl>
                                          <p:spTgt spid="5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4" presetID="2" grpId="3" fill="hold">
                                  <p:stCondLst>
                                    <p:cond delay="0"/>
                                  </p:stCondLst>
                                  <p:iterate type="el" backwards="0">
                                    <p:tmAbs val="0"/>
                                  </p:iterate>
                                  <p:childTnLst>
                                    <p:set>
                                      <p:cBhvr>
                                        <p:cTn id="18" fill="hold"/>
                                        <p:tgtEl>
                                          <p:spTgt spid="525"/>
                                        </p:tgtEl>
                                        <p:attrNameLst>
                                          <p:attrName>style.visibility</p:attrName>
                                        </p:attrNameLst>
                                      </p:cBhvr>
                                      <p:to>
                                        <p:strVal val="visible"/>
                                      </p:to>
                                    </p:set>
                                    <p:anim calcmode="lin" valueType="num">
                                      <p:cBhvr>
                                        <p:cTn id="19" dur="500" fill="hold"/>
                                        <p:tgtEl>
                                          <p:spTgt spid="525"/>
                                        </p:tgtEl>
                                        <p:attrNameLst>
                                          <p:attrName>ppt_x</p:attrName>
                                        </p:attrNameLst>
                                      </p:cBhvr>
                                      <p:tavLst>
                                        <p:tav tm="0">
                                          <p:val>
                                            <p:strVal val="#ppt_x"/>
                                          </p:val>
                                        </p:tav>
                                        <p:tav tm="100000">
                                          <p:val>
                                            <p:strVal val="#ppt_x"/>
                                          </p:val>
                                        </p:tav>
                                      </p:tavLst>
                                    </p:anim>
                                    <p:anim calcmode="lin" valueType="num">
                                      <p:cBhvr>
                                        <p:cTn id="20" dur="500" fill="hold"/>
                                        <p:tgtEl>
                                          <p:spTgt spid="5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4" presetID="2" grpId="4" fill="hold">
                                  <p:stCondLst>
                                    <p:cond delay="0"/>
                                  </p:stCondLst>
                                  <p:iterate type="el" backwards="0">
                                    <p:tmAbs val="0"/>
                                  </p:iterate>
                                  <p:childTnLst>
                                    <p:set>
                                      <p:cBhvr>
                                        <p:cTn id="24" fill="hold"/>
                                        <p:tgtEl>
                                          <p:spTgt spid="531"/>
                                        </p:tgtEl>
                                        <p:attrNameLst>
                                          <p:attrName>style.visibility</p:attrName>
                                        </p:attrNameLst>
                                      </p:cBhvr>
                                      <p:to>
                                        <p:strVal val="visible"/>
                                      </p:to>
                                    </p:set>
                                    <p:anim calcmode="lin" valueType="num">
                                      <p:cBhvr>
                                        <p:cTn id="25" dur="500" fill="hold"/>
                                        <p:tgtEl>
                                          <p:spTgt spid="531"/>
                                        </p:tgtEl>
                                        <p:attrNameLst>
                                          <p:attrName>ppt_x</p:attrName>
                                        </p:attrNameLst>
                                      </p:cBhvr>
                                      <p:tavLst>
                                        <p:tav tm="0">
                                          <p:val>
                                            <p:strVal val="#ppt_x"/>
                                          </p:val>
                                        </p:tav>
                                        <p:tav tm="100000">
                                          <p:val>
                                            <p:strVal val="#ppt_x"/>
                                          </p:val>
                                        </p:tav>
                                      </p:tavLst>
                                    </p:anim>
                                    <p:anim calcmode="lin" valueType="num">
                                      <p:cBhvr>
                                        <p:cTn id="26" dur="500" fill="hold"/>
                                        <p:tgtEl>
                                          <p:spTgt spid="53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4" presetID="2" grpId="5" fill="hold">
                                  <p:stCondLst>
                                    <p:cond delay="0"/>
                                  </p:stCondLst>
                                  <p:iterate type="el" backwards="0">
                                    <p:tmAbs val="0"/>
                                  </p:iterate>
                                  <p:childTnLst>
                                    <p:set>
                                      <p:cBhvr>
                                        <p:cTn id="30" fill="hold"/>
                                        <p:tgtEl>
                                          <p:spTgt spid="537"/>
                                        </p:tgtEl>
                                        <p:attrNameLst>
                                          <p:attrName>style.visibility</p:attrName>
                                        </p:attrNameLst>
                                      </p:cBhvr>
                                      <p:to>
                                        <p:strVal val="visible"/>
                                      </p:to>
                                    </p:set>
                                    <p:anim calcmode="lin" valueType="num">
                                      <p:cBhvr>
                                        <p:cTn id="31" dur="500" fill="hold"/>
                                        <p:tgtEl>
                                          <p:spTgt spid="537"/>
                                        </p:tgtEl>
                                        <p:attrNameLst>
                                          <p:attrName>ppt_x</p:attrName>
                                        </p:attrNameLst>
                                      </p:cBhvr>
                                      <p:tavLst>
                                        <p:tav tm="0">
                                          <p:val>
                                            <p:strVal val="#ppt_x"/>
                                          </p:val>
                                        </p:tav>
                                        <p:tav tm="100000">
                                          <p:val>
                                            <p:strVal val="#ppt_x"/>
                                          </p:val>
                                        </p:tav>
                                      </p:tavLst>
                                    </p:anim>
                                    <p:anim calcmode="lin" valueType="num">
                                      <p:cBhvr>
                                        <p:cTn id="32" dur="500" fill="hold"/>
                                        <p:tgtEl>
                                          <p:spTgt spid="5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5" grpId="3"/>
      <p:bldP build="whole" bldLvl="1" animBg="1" rev="0" advAuto="0" spid="537" grpId="5"/>
      <p:bldP build="whole" bldLvl="1" animBg="1" rev="0" advAuto="0" spid="519" grpId="2"/>
      <p:bldP build="whole" bldLvl="1" animBg="1" rev="0" advAuto="0" spid="531" grpId="4"/>
      <p:bldP build="whole" bldLvl="1" animBg="1" rev="0" advAuto="0" spid="513"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9" name="Project…"/>
          <p:cNvSpPr txBox="1"/>
          <p:nvPr/>
        </p:nvSpPr>
        <p:spPr>
          <a:xfrm>
            <a:off x="2096588" y="1898282"/>
            <a:ext cx="6009445"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PERT</a:t>
            </a:r>
            <a:r>
              <a:rPr>
                <a:solidFill>
                  <a:srgbClr val="141413"/>
                </a:solidFill>
              </a:rPr>
              <a:t> </a:t>
            </a:r>
            <a:r>
              <a:rPr>
                <a:solidFill>
                  <a:srgbClr val="3F57D1"/>
                </a:solidFill>
              </a:rPr>
              <a:t>диаграма</a:t>
            </a:r>
          </a:p>
        </p:txBody>
      </p:sp>
      <p:grpSp>
        <p:nvGrpSpPr>
          <p:cNvPr id="543" name="Группа 20"/>
          <p:cNvGrpSpPr/>
          <p:nvPr/>
        </p:nvGrpSpPr>
        <p:grpSpPr>
          <a:xfrm>
            <a:off x="2200169" y="6985127"/>
            <a:ext cx="3612995" cy="1700536"/>
            <a:chOff x="0" y="0"/>
            <a:chExt cx="3612994" cy="1700534"/>
          </a:xfrm>
        </p:grpSpPr>
        <p:sp>
          <p:nvSpPr>
            <p:cNvPr id="540" name="Прямоугольник 40"/>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1" name="Прямоугольник 41"/>
            <p:cNvSpPr/>
            <p:nvPr/>
          </p:nvSpPr>
          <p:spPr>
            <a:xfrm>
              <a:off x="56104" y="59250"/>
              <a:ext cx="3500785" cy="1591200"/>
            </a:xfrm>
            <a:prstGeom prst="rect">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2" name="Project…"/>
            <p:cNvSpPr txBox="1"/>
            <p:nvPr/>
          </p:nvSpPr>
          <p:spPr>
            <a:xfrm>
              <a:off x="60958" y="668250"/>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3F57D1"/>
                  </a:solidFill>
                  <a:latin typeface="Montserrat Bold"/>
                  <a:ea typeface="Montserrat Bold"/>
                  <a:cs typeface="Montserrat Bold"/>
                  <a:sym typeface="Montserrat Bold"/>
                </a:defRPr>
              </a:lvl1pPr>
            </a:lstStyle>
            <a:p>
              <a:pPr/>
              <a:r>
                <a:t>Начална дата</a:t>
              </a:r>
            </a:p>
          </p:txBody>
        </p:sp>
      </p:grpSp>
      <p:grpSp>
        <p:nvGrpSpPr>
          <p:cNvPr id="609" name="Группа 2"/>
          <p:cNvGrpSpPr/>
          <p:nvPr/>
        </p:nvGrpSpPr>
        <p:grpSpPr>
          <a:xfrm>
            <a:off x="5813163" y="4009537"/>
            <a:ext cx="16437239" cy="7635678"/>
            <a:chOff x="0" y="0"/>
            <a:chExt cx="16437238" cy="7635677"/>
          </a:xfrm>
        </p:grpSpPr>
        <p:grpSp>
          <p:nvGrpSpPr>
            <p:cNvPr id="571" name="Группа 72"/>
            <p:cNvGrpSpPr/>
            <p:nvPr/>
          </p:nvGrpSpPr>
          <p:grpSpPr>
            <a:xfrm>
              <a:off x="1865908" y="255293"/>
              <a:ext cx="3612996" cy="7149234"/>
              <a:chOff x="0" y="0"/>
              <a:chExt cx="3612994" cy="7149233"/>
            </a:xfrm>
          </p:grpSpPr>
          <p:grpSp>
            <p:nvGrpSpPr>
              <p:cNvPr id="552" name="Группа 15"/>
              <p:cNvGrpSpPr/>
              <p:nvPr/>
            </p:nvGrpSpPr>
            <p:grpSpPr>
              <a:xfrm>
                <a:off x="0" y="0"/>
                <a:ext cx="3612995" cy="1700536"/>
                <a:chOff x="0" y="0"/>
                <a:chExt cx="3612994" cy="1700534"/>
              </a:xfrm>
            </p:grpSpPr>
            <p:sp>
              <p:nvSpPr>
                <p:cNvPr id="544" name="Прямоугольник 9"/>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5" name="Прямоугольник 10"/>
                <p:cNvSpPr/>
                <p:nvPr/>
              </p:nvSpPr>
              <p:spPr>
                <a:xfrm>
                  <a:off x="60959" y="799480"/>
                  <a:ext cx="1138227" cy="840059"/>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6" name="Прямоугольник 13"/>
                <p:cNvSpPr/>
                <p:nvPr/>
              </p:nvSpPr>
              <p:spPr>
                <a:xfrm>
                  <a:off x="1236858" y="799480"/>
                  <a:ext cx="1138227" cy="840059"/>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7" name="Прямоугольник 14"/>
                <p:cNvSpPr/>
                <p:nvPr/>
              </p:nvSpPr>
              <p:spPr>
                <a:xfrm>
                  <a:off x="2412757" y="799480"/>
                  <a:ext cx="1138227" cy="840059"/>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48" name="Project…"/>
                <p:cNvSpPr txBox="1"/>
                <p:nvPr/>
              </p:nvSpPr>
              <p:spPr>
                <a:xfrm>
                  <a:off x="60958" y="183193"/>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Подзадача</a:t>
                  </a:r>
                </a:p>
              </p:txBody>
            </p:sp>
            <p:sp>
              <p:nvSpPr>
                <p:cNvPr id="549" name="Profesional Template for PowerPoint, Keynote, Google Slides"/>
                <p:cNvSpPr txBox="1"/>
                <p:nvPr/>
              </p:nvSpPr>
              <p:spPr>
                <a:xfrm>
                  <a:off x="116423"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50" name="Profesional Template for PowerPoint, Keynote, Google Slides"/>
                <p:cNvSpPr txBox="1"/>
                <p:nvPr/>
              </p:nvSpPr>
              <p:spPr>
                <a:xfrm>
                  <a:off x="2471326"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51" name="Profesional Template for PowerPoint, Keynote, Google Slides"/>
                <p:cNvSpPr txBox="1"/>
                <p:nvPr/>
              </p:nvSpPr>
              <p:spPr>
                <a:xfrm>
                  <a:off x="1296607" y="839485"/>
                  <a:ext cx="1021090" cy="762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defRPr b="0" sz="2000">
                      <a:solidFill>
                        <a:srgbClr val="FFFFFF"/>
                      </a:solidFill>
                      <a:latin typeface="Roboto Regular"/>
                      <a:ea typeface="Roboto Regular"/>
                      <a:cs typeface="Roboto Regular"/>
                      <a:sym typeface="Roboto Regular"/>
                    </a:defRPr>
                  </a:pPr>
                  <a:r>
                    <a:t>Период</a:t>
                  </a:r>
                </a:p>
                <a:p>
                  <a:pPr>
                    <a:defRPr b="0" sz="2000">
                      <a:solidFill>
                        <a:srgbClr val="FFFFFF"/>
                      </a:solidFill>
                      <a:latin typeface="Roboto Regular"/>
                      <a:ea typeface="Roboto Regular"/>
                      <a:cs typeface="Roboto Regular"/>
                      <a:sym typeface="Roboto Regular"/>
                    </a:defRPr>
                  </a:pPr>
                  <a:r>
                    <a:t>време</a:t>
                  </a:r>
                </a:p>
              </p:txBody>
            </p:sp>
          </p:grpSp>
          <p:grpSp>
            <p:nvGrpSpPr>
              <p:cNvPr id="561" name="Группа 21"/>
              <p:cNvGrpSpPr/>
              <p:nvPr/>
            </p:nvGrpSpPr>
            <p:grpSpPr>
              <a:xfrm>
                <a:off x="0" y="2724349"/>
                <a:ext cx="3612995" cy="1700536"/>
                <a:chOff x="0" y="0"/>
                <a:chExt cx="3612994" cy="1700534"/>
              </a:xfrm>
            </p:grpSpPr>
            <p:sp>
              <p:nvSpPr>
                <p:cNvPr id="553" name="Прямоугольник 22"/>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54" name="Прямоугольник 23"/>
                <p:cNvSpPr/>
                <p:nvPr/>
              </p:nvSpPr>
              <p:spPr>
                <a:xfrm>
                  <a:off x="60959" y="799480"/>
                  <a:ext cx="1138227" cy="840059"/>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55" name="Прямоугольник 24"/>
                <p:cNvSpPr/>
                <p:nvPr/>
              </p:nvSpPr>
              <p:spPr>
                <a:xfrm>
                  <a:off x="1236858" y="799480"/>
                  <a:ext cx="1138227" cy="840059"/>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56" name="Прямоугольник 25"/>
                <p:cNvSpPr/>
                <p:nvPr/>
              </p:nvSpPr>
              <p:spPr>
                <a:xfrm>
                  <a:off x="2412757" y="799480"/>
                  <a:ext cx="1138227" cy="840059"/>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57" name="Project…"/>
                <p:cNvSpPr txBox="1"/>
                <p:nvPr/>
              </p:nvSpPr>
              <p:spPr>
                <a:xfrm>
                  <a:off x="60958" y="183193"/>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Подзадача</a:t>
                  </a:r>
                </a:p>
              </p:txBody>
            </p:sp>
            <p:sp>
              <p:nvSpPr>
                <p:cNvPr id="558" name="Profesional Template for PowerPoint, Keynote, Google Slides"/>
                <p:cNvSpPr txBox="1"/>
                <p:nvPr/>
              </p:nvSpPr>
              <p:spPr>
                <a:xfrm>
                  <a:off x="116423"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59" name="Profesional Template for PowerPoint, Keynote, Google Slides"/>
                <p:cNvSpPr txBox="1"/>
                <p:nvPr/>
              </p:nvSpPr>
              <p:spPr>
                <a:xfrm>
                  <a:off x="2471326"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60" name="Profesional Template for PowerPoint, Keynote, Google Slides"/>
                <p:cNvSpPr txBox="1"/>
                <p:nvPr/>
              </p:nvSpPr>
              <p:spPr>
                <a:xfrm>
                  <a:off x="1296607" y="839485"/>
                  <a:ext cx="1021090" cy="762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defRPr b="0" sz="2000">
                      <a:solidFill>
                        <a:srgbClr val="FFFFFF"/>
                      </a:solidFill>
                      <a:latin typeface="Roboto Regular"/>
                      <a:ea typeface="Roboto Regular"/>
                      <a:cs typeface="Roboto Regular"/>
                      <a:sym typeface="Roboto Regular"/>
                    </a:defRPr>
                  </a:pPr>
                  <a:r>
                    <a:t>Период</a:t>
                  </a:r>
                </a:p>
                <a:p>
                  <a:pPr>
                    <a:defRPr b="0" sz="2000">
                      <a:solidFill>
                        <a:srgbClr val="FFFFFF"/>
                      </a:solidFill>
                      <a:latin typeface="Roboto Regular"/>
                      <a:ea typeface="Roboto Regular"/>
                      <a:cs typeface="Roboto Regular"/>
                      <a:sym typeface="Roboto Regular"/>
                    </a:defRPr>
                  </a:pPr>
                  <a:r>
                    <a:t>време</a:t>
                  </a:r>
                </a:p>
              </p:txBody>
            </p:sp>
          </p:grpSp>
          <p:grpSp>
            <p:nvGrpSpPr>
              <p:cNvPr id="570" name="Группа 30"/>
              <p:cNvGrpSpPr/>
              <p:nvPr/>
            </p:nvGrpSpPr>
            <p:grpSpPr>
              <a:xfrm>
                <a:off x="0" y="5448698"/>
                <a:ext cx="3612995" cy="1700536"/>
                <a:chOff x="0" y="0"/>
                <a:chExt cx="3612994" cy="1700534"/>
              </a:xfrm>
            </p:grpSpPr>
            <p:sp>
              <p:nvSpPr>
                <p:cNvPr id="562" name="Прямоугольник 31"/>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63" name="Прямоугольник 32"/>
                <p:cNvSpPr/>
                <p:nvPr/>
              </p:nvSpPr>
              <p:spPr>
                <a:xfrm>
                  <a:off x="60959" y="799480"/>
                  <a:ext cx="1138227" cy="840059"/>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64" name="Прямоугольник 33"/>
                <p:cNvSpPr/>
                <p:nvPr/>
              </p:nvSpPr>
              <p:spPr>
                <a:xfrm>
                  <a:off x="1236858" y="799480"/>
                  <a:ext cx="1138227" cy="840059"/>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65" name="Прямоугольник 34"/>
                <p:cNvSpPr/>
                <p:nvPr/>
              </p:nvSpPr>
              <p:spPr>
                <a:xfrm>
                  <a:off x="2412757" y="799480"/>
                  <a:ext cx="1138227" cy="840059"/>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66" name="Project…"/>
                <p:cNvSpPr txBox="1"/>
                <p:nvPr/>
              </p:nvSpPr>
              <p:spPr>
                <a:xfrm>
                  <a:off x="60958" y="183193"/>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Подзадача</a:t>
                  </a:r>
                </a:p>
              </p:txBody>
            </p:sp>
            <p:sp>
              <p:nvSpPr>
                <p:cNvPr id="567" name="Profesional Template for PowerPoint, Keynote, Google Slides"/>
                <p:cNvSpPr txBox="1"/>
                <p:nvPr/>
              </p:nvSpPr>
              <p:spPr>
                <a:xfrm>
                  <a:off x="116423"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68" name="Profesional Template for PowerPoint, Keynote, Google Slides"/>
                <p:cNvSpPr txBox="1"/>
                <p:nvPr/>
              </p:nvSpPr>
              <p:spPr>
                <a:xfrm>
                  <a:off x="2471326"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69" name="Profesional Template for PowerPoint, Keynote, Google Slides"/>
                <p:cNvSpPr txBox="1"/>
                <p:nvPr/>
              </p:nvSpPr>
              <p:spPr>
                <a:xfrm>
                  <a:off x="1296607" y="839485"/>
                  <a:ext cx="1021090" cy="762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defRPr b="0" sz="2000">
                      <a:solidFill>
                        <a:srgbClr val="FFFFFF"/>
                      </a:solidFill>
                      <a:latin typeface="Roboto Regular"/>
                      <a:ea typeface="Roboto Regular"/>
                      <a:cs typeface="Roboto Regular"/>
                      <a:sym typeface="Roboto Regular"/>
                    </a:defRPr>
                  </a:pPr>
                  <a:r>
                    <a:t>Период</a:t>
                  </a:r>
                </a:p>
                <a:p>
                  <a:pPr>
                    <a:defRPr b="0" sz="2000">
                      <a:solidFill>
                        <a:srgbClr val="FFFFFF"/>
                      </a:solidFill>
                      <a:latin typeface="Roboto Regular"/>
                      <a:ea typeface="Roboto Regular"/>
                      <a:cs typeface="Roboto Regular"/>
                      <a:sym typeface="Roboto Regular"/>
                    </a:defRPr>
                  </a:pPr>
                  <a:r>
                    <a:t>време</a:t>
                  </a:r>
                </a:p>
              </p:txBody>
            </p:sp>
          </p:grpSp>
        </p:grpSp>
        <p:grpSp>
          <p:nvGrpSpPr>
            <p:cNvPr id="575" name="Группа 49"/>
            <p:cNvGrpSpPr/>
            <p:nvPr/>
          </p:nvGrpSpPr>
          <p:grpSpPr>
            <a:xfrm>
              <a:off x="12824243" y="2975589"/>
              <a:ext cx="3612996" cy="1700536"/>
              <a:chOff x="0" y="0"/>
              <a:chExt cx="3612994" cy="1700534"/>
            </a:xfrm>
          </p:grpSpPr>
          <p:sp>
            <p:nvSpPr>
              <p:cNvPr id="572" name="Прямоугольник 50"/>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73" name="Прямоугольник 51"/>
              <p:cNvSpPr/>
              <p:nvPr/>
            </p:nvSpPr>
            <p:spPr>
              <a:xfrm>
                <a:off x="56104" y="59250"/>
                <a:ext cx="3500785" cy="1591200"/>
              </a:xfrm>
              <a:prstGeom prst="rect">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74" name="Project…"/>
              <p:cNvSpPr txBox="1"/>
              <p:nvPr/>
            </p:nvSpPr>
            <p:spPr>
              <a:xfrm>
                <a:off x="60958" y="668250"/>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3F57D1"/>
                    </a:solidFill>
                    <a:latin typeface="Montserrat Bold"/>
                    <a:ea typeface="Montserrat Bold"/>
                    <a:cs typeface="Montserrat Bold"/>
                    <a:sym typeface="Montserrat Bold"/>
                  </a:defRPr>
                </a:lvl1pPr>
              </a:lstStyle>
              <a:p>
                <a:pPr/>
                <a:r>
                  <a:t>Крайна дата</a:t>
                </a:r>
              </a:p>
            </p:txBody>
          </p:sp>
        </p:grpSp>
        <p:grpSp>
          <p:nvGrpSpPr>
            <p:cNvPr id="594" name="Группа 71"/>
            <p:cNvGrpSpPr/>
            <p:nvPr/>
          </p:nvGrpSpPr>
          <p:grpSpPr>
            <a:xfrm>
              <a:off x="7344809" y="2988230"/>
              <a:ext cx="3613526" cy="4647448"/>
              <a:chOff x="0" y="0"/>
              <a:chExt cx="3613524" cy="4647446"/>
            </a:xfrm>
          </p:grpSpPr>
          <p:grpSp>
            <p:nvGrpSpPr>
              <p:cNvPr id="584" name="Группа 53"/>
              <p:cNvGrpSpPr/>
              <p:nvPr/>
            </p:nvGrpSpPr>
            <p:grpSpPr>
              <a:xfrm>
                <a:off x="530" y="2715760"/>
                <a:ext cx="3612996" cy="1931687"/>
                <a:chOff x="0" y="0"/>
                <a:chExt cx="3612994" cy="1931685"/>
              </a:xfrm>
            </p:grpSpPr>
            <p:sp>
              <p:nvSpPr>
                <p:cNvPr id="576" name="Прямоугольник 54"/>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77" name="Прямоугольник 55"/>
                <p:cNvSpPr/>
                <p:nvPr/>
              </p:nvSpPr>
              <p:spPr>
                <a:xfrm>
                  <a:off x="60959" y="799480"/>
                  <a:ext cx="1138227" cy="840059"/>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78" name="Прямоугольник 56"/>
                <p:cNvSpPr/>
                <p:nvPr/>
              </p:nvSpPr>
              <p:spPr>
                <a:xfrm>
                  <a:off x="1236858" y="799480"/>
                  <a:ext cx="1138227" cy="840059"/>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79" name="Прямоугольник 57"/>
                <p:cNvSpPr/>
                <p:nvPr/>
              </p:nvSpPr>
              <p:spPr>
                <a:xfrm>
                  <a:off x="2412757" y="799480"/>
                  <a:ext cx="1138227" cy="840059"/>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80" name="Project…"/>
                <p:cNvSpPr txBox="1"/>
                <p:nvPr/>
              </p:nvSpPr>
              <p:spPr>
                <a:xfrm>
                  <a:off x="60958" y="183193"/>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Подзадача</a:t>
                  </a:r>
                </a:p>
              </p:txBody>
            </p:sp>
            <p:sp>
              <p:nvSpPr>
                <p:cNvPr id="581" name="Profesional Template for PowerPoint, Keynote, Google Slides"/>
                <p:cNvSpPr txBox="1"/>
                <p:nvPr/>
              </p:nvSpPr>
              <p:spPr>
                <a:xfrm>
                  <a:off x="116423"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82" name="Profesional Template for PowerPoint, Keynote, Google Slides"/>
                <p:cNvSpPr txBox="1"/>
                <p:nvPr/>
              </p:nvSpPr>
              <p:spPr>
                <a:xfrm>
                  <a:off x="2471326"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83" name="Profesional Template for PowerPoint, Keynote, Google Slides"/>
                <p:cNvSpPr txBox="1"/>
                <p:nvPr/>
              </p:nvSpPr>
              <p:spPr>
                <a:xfrm>
                  <a:off x="1296607" y="839485"/>
                  <a:ext cx="1021090" cy="1092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defRPr b="0" sz="2000">
                      <a:solidFill>
                        <a:srgbClr val="FFFFFF"/>
                      </a:solidFill>
                      <a:latin typeface="Roboto Regular"/>
                      <a:ea typeface="Roboto Regular"/>
                      <a:cs typeface="Roboto Regular"/>
                      <a:sym typeface="Roboto Regular"/>
                    </a:defRPr>
                  </a:pPr>
                  <a:r>
                    <a:t>Период</a:t>
                  </a:r>
                </a:p>
                <a:p>
                  <a:pPr>
                    <a:defRPr b="0" sz="2000">
                      <a:solidFill>
                        <a:srgbClr val="FFFFFF"/>
                      </a:solidFill>
                      <a:latin typeface="Roboto Regular"/>
                      <a:ea typeface="Roboto Regular"/>
                      <a:cs typeface="Roboto Regular"/>
                      <a:sym typeface="Roboto Regular"/>
                    </a:defRPr>
                  </a:pPr>
                  <a:r>
                    <a:t>време</a:t>
                  </a:r>
                </a:p>
              </p:txBody>
            </p:sp>
          </p:grpSp>
          <p:grpSp>
            <p:nvGrpSpPr>
              <p:cNvPr id="593" name="Группа 62"/>
              <p:cNvGrpSpPr/>
              <p:nvPr/>
            </p:nvGrpSpPr>
            <p:grpSpPr>
              <a:xfrm>
                <a:off x="0" y="-1"/>
                <a:ext cx="3612996" cy="1700536"/>
                <a:chOff x="0" y="0"/>
                <a:chExt cx="3612994" cy="1700534"/>
              </a:xfrm>
            </p:grpSpPr>
            <p:sp>
              <p:nvSpPr>
                <p:cNvPr id="585" name="Прямоугольник 63"/>
                <p:cNvSpPr/>
                <p:nvPr/>
              </p:nvSpPr>
              <p:spPr>
                <a:xfrm>
                  <a:off x="0" y="0"/>
                  <a:ext cx="3612995" cy="1700535"/>
                </a:xfrm>
                <a:prstGeom prst="rect">
                  <a:avLst/>
                </a:prstGeom>
                <a:noFill/>
                <a:ln w="38100" cap="flat">
                  <a:solidFill>
                    <a:srgbClr val="EBECEB"/>
                  </a:solidFill>
                  <a:prstDash val="solid"/>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86" name="Прямоугольник 64"/>
                <p:cNvSpPr/>
                <p:nvPr/>
              </p:nvSpPr>
              <p:spPr>
                <a:xfrm>
                  <a:off x="60959" y="799480"/>
                  <a:ext cx="1138227" cy="840059"/>
                </a:xfrm>
                <a:prstGeom prst="rect">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87" name="Прямоугольник 65"/>
                <p:cNvSpPr/>
                <p:nvPr/>
              </p:nvSpPr>
              <p:spPr>
                <a:xfrm>
                  <a:off x="1236858" y="799480"/>
                  <a:ext cx="1138227" cy="840059"/>
                </a:xfrm>
                <a:prstGeom prst="rect">
                  <a:avLst/>
                </a:prstGeom>
                <a:solidFill>
                  <a:srgbClr val="C851C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88" name="Прямоугольник 66"/>
                <p:cNvSpPr/>
                <p:nvPr/>
              </p:nvSpPr>
              <p:spPr>
                <a:xfrm>
                  <a:off x="2412757" y="799480"/>
                  <a:ext cx="1138227" cy="840059"/>
                </a:xfrm>
                <a:prstGeom prst="rect">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589" name="Project…"/>
                <p:cNvSpPr txBox="1"/>
                <p:nvPr/>
              </p:nvSpPr>
              <p:spPr>
                <a:xfrm>
                  <a:off x="60958" y="183193"/>
                  <a:ext cx="349002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2200">
                      <a:solidFill>
                        <a:srgbClr val="252625"/>
                      </a:solidFill>
                      <a:latin typeface="Montserrat Bold"/>
                      <a:ea typeface="Montserrat Bold"/>
                      <a:cs typeface="Montserrat Bold"/>
                      <a:sym typeface="Montserrat Bold"/>
                    </a:defRPr>
                  </a:lvl1pPr>
                </a:lstStyle>
                <a:p>
                  <a:pPr/>
                  <a:r>
                    <a:t>Подзадача</a:t>
                  </a:r>
                </a:p>
              </p:txBody>
            </p:sp>
            <p:sp>
              <p:nvSpPr>
                <p:cNvPr id="590" name="Profesional Template for PowerPoint, Keynote, Google Slides"/>
                <p:cNvSpPr txBox="1"/>
                <p:nvPr/>
              </p:nvSpPr>
              <p:spPr>
                <a:xfrm>
                  <a:off x="116423"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91" name="Profesional Template for PowerPoint, Keynote, Google Slides"/>
                <p:cNvSpPr txBox="1"/>
                <p:nvPr/>
              </p:nvSpPr>
              <p:spPr>
                <a:xfrm>
                  <a:off x="2471326" y="991866"/>
                  <a:ext cx="1021089"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nSpc>
                      <a:spcPct val="120000"/>
                    </a:lnSpc>
                    <a:defRPr b="0" sz="2000">
                      <a:solidFill>
                        <a:srgbClr val="FFFFFF"/>
                      </a:solidFill>
                      <a:latin typeface="Roboto Regular"/>
                      <a:ea typeface="Roboto Regular"/>
                      <a:cs typeface="Roboto Regular"/>
                      <a:sym typeface="Roboto Regular"/>
                    </a:defRPr>
                  </a:lvl1pPr>
                </a:lstStyle>
                <a:p>
                  <a:pPr/>
                  <a:r>
                    <a:t>Дата</a:t>
                  </a:r>
                </a:p>
              </p:txBody>
            </p:sp>
            <p:sp>
              <p:nvSpPr>
                <p:cNvPr id="592" name="Profesional Template for PowerPoint, Keynote, Google Slides"/>
                <p:cNvSpPr txBox="1"/>
                <p:nvPr/>
              </p:nvSpPr>
              <p:spPr>
                <a:xfrm>
                  <a:off x="1296607" y="839485"/>
                  <a:ext cx="1021090" cy="762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p>
                  <a:pPr>
                    <a:defRPr b="0" sz="2000">
                      <a:solidFill>
                        <a:srgbClr val="FFFFFF"/>
                      </a:solidFill>
                      <a:latin typeface="Roboto Regular"/>
                      <a:ea typeface="Roboto Regular"/>
                      <a:cs typeface="Roboto Regular"/>
                      <a:sym typeface="Roboto Regular"/>
                    </a:defRPr>
                  </a:pPr>
                  <a:r>
                    <a:t>Период</a:t>
                  </a:r>
                </a:p>
                <a:p>
                  <a:pPr>
                    <a:defRPr b="0" sz="2000">
                      <a:solidFill>
                        <a:srgbClr val="FFFFFF"/>
                      </a:solidFill>
                      <a:latin typeface="Roboto Regular"/>
                      <a:ea typeface="Roboto Regular"/>
                      <a:cs typeface="Roboto Regular"/>
                      <a:sym typeface="Roboto Regular"/>
                    </a:defRPr>
                  </a:pPr>
                  <a:r>
                    <a:t>време</a:t>
                  </a:r>
                </a:p>
              </p:txBody>
            </p:sp>
          </p:grpSp>
        </p:grpSp>
        <p:sp>
          <p:nvSpPr>
            <p:cNvPr id="595" name="Прямая со стрелкой 74"/>
            <p:cNvSpPr/>
            <p:nvPr/>
          </p:nvSpPr>
          <p:spPr>
            <a:xfrm flipV="1">
              <a:off x="1" y="1094779"/>
              <a:ext cx="1865908" cy="2731079"/>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596" name="Прямая со стрелкой 80"/>
            <p:cNvSpPr/>
            <p:nvPr/>
          </p:nvSpPr>
          <p:spPr>
            <a:xfrm>
              <a:off x="1" y="3825857"/>
              <a:ext cx="1865907" cy="2728402"/>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597" name="Прямая со стрелкой 82"/>
            <p:cNvSpPr/>
            <p:nvPr/>
          </p:nvSpPr>
          <p:spPr>
            <a:xfrm>
              <a:off x="5478903" y="3842027"/>
              <a:ext cx="1865908" cy="1"/>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598" name="Прямая со стрелкой 84"/>
            <p:cNvSpPr/>
            <p:nvPr/>
          </p:nvSpPr>
          <p:spPr>
            <a:xfrm>
              <a:off x="5416886" y="6501621"/>
              <a:ext cx="1865908" cy="1"/>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599" name="Прямая со стрелкой 85"/>
            <p:cNvSpPr/>
            <p:nvPr/>
          </p:nvSpPr>
          <p:spPr>
            <a:xfrm>
              <a:off x="10957805" y="3825856"/>
              <a:ext cx="1865908" cy="1"/>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600" name="Прямая со стрелкой 87"/>
            <p:cNvSpPr/>
            <p:nvPr/>
          </p:nvSpPr>
          <p:spPr>
            <a:xfrm>
              <a:off x="5487648" y="1054773"/>
              <a:ext cx="1857162" cy="2783726"/>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601" name="Прямая со стрелкой 91"/>
            <p:cNvSpPr/>
            <p:nvPr/>
          </p:nvSpPr>
          <p:spPr>
            <a:xfrm flipV="1">
              <a:off x="10958335" y="3886995"/>
              <a:ext cx="1865378" cy="2667264"/>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sp>
          <p:nvSpPr>
            <p:cNvPr id="602" name="Прямая со стрелкой 94"/>
            <p:cNvSpPr/>
            <p:nvPr/>
          </p:nvSpPr>
          <p:spPr>
            <a:xfrm>
              <a:off x="0" y="3825856"/>
              <a:ext cx="1865908" cy="1"/>
            </a:xfrm>
            <a:prstGeom prst="line">
              <a:avLst/>
            </a:prstGeom>
            <a:noFill/>
            <a:ln w="38100" cap="flat">
              <a:solidFill>
                <a:srgbClr val="EBECEB"/>
              </a:solidFill>
              <a:prstDash val="solid"/>
              <a:miter lim="400000"/>
              <a:tailEnd type="triangle" w="med" len="med"/>
            </a:ln>
            <a:effectLst/>
          </p:spPr>
          <p:txBody>
            <a:bodyPr wrap="square" lIns="45718" tIns="45718" rIns="45718" bIns="45718" numCol="1" anchor="t">
              <a:noAutofit/>
            </a:bodyPr>
            <a:lstStyle/>
            <a:p>
              <a:pPr>
                <a:defRPr b="0">
                  <a:solidFill>
                    <a:srgbClr val="252625"/>
                  </a:solidFill>
                  <a:latin typeface="+mn-lt"/>
                  <a:ea typeface="+mn-ea"/>
                  <a:cs typeface="+mn-cs"/>
                  <a:sym typeface="Helvetica Neue Medium"/>
                </a:defRPr>
              </a:pPr>
            </a:p>
          </p:txBody>
        </p:sp>
        <p:grpSp>
          <p:nvGrpSpPr>
            <p:cNvPr id="605" name="Группа 121"/>
            <p:cNvGrpSpPr/>
            <p:nvPr/>
          </p:nvGrpSpPr>
          <p:grpSpPr>
            <a:xfrm>
              <a:off x="5213214" y="0"/>
              <a:ext cx="533401" cy="533401"/>
              <a:chOff x="0" y="0"/>
              <a:chExt cx="533400" cy="533400"/>
            </a:xfrm>
          </p:grpSpPr>
          <p:sp>
            <p:nvSpPr>
              <p:cNvPr id="603" name="Овал 122"/>
              <p:cNvSpPr/>
              <p:nvPr/>
            </p:nvSpPr>
            <p:spPr>
              <a:xfrm>
                <a:off x="0" y="0"/>
                <a:ext cx="533400" cy="533400"/>
              </a:xfrm>
              <a:prstGeom prst="ellipse">
                <a:avLst/>
              </a:prstGeom>
              <a:solidFill>
                <a:srgbClr val="3F57D1"/>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604" name="Project…"/>
              <p:cNvSpPr txBox="1"/>
              <p:nvPr/>
            </p:nvSpPr>
            <p:spPr>
              <a:xfrm>
                <a:off x="82663" y="78207"/>
                <a:ext cx="393473"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1800">
                    <a:solidFill>
                      <a:srgbClr val="FFFFFF"/>
                    </a:solidFill>
                    <a:latin typeface="Montserrat Bold"/>
                    <a:ea typeface="Montserrat Bold"/>
                    <a:cs typeface="Montserrat Bold"/>
                    <a:sym typeface="Montserrat Bold"/>
                  </a:defRPr>
                </a:lvl1pPr>
              </a:lstStyle>
              <a:p>
                <a:pPr/>
                <a:r>
                  <a:t>1</a:t>
                </a:r>
              </a:p>
            </p:txBody>
          </p:sp>
        </p:grpSp>
        <p:grpSp>
          <p:nvGrpSpPr>
            <p:cNvPr id="608" name="Группа 124"/>
            <p:cNvGrpSpPr/>
            <p:nvPr/>
          </p:nvGrpSpPr>
          <p:grpSpPr>
            <a:xfrm>
              <a:off x="10698098" y="5446918"/>
              <a:ext cx="533401" cy="533401"/>
              <a:chOff x="0" y="0"/>
              <a:chExt cx="533400" cy="533400"/>
            </a:xfrm>
          </p:grpSpPr>
          <p:sp>
            <p:nvSpPr>
              <p:cNvPr id="606" name="Овал 125"/>
              <p:cNvSpPr/>
              <p:nvPr/>
            </p:nvSpPr>
            <p:spPr>
              <a:xfrm>
                <a:off x="0" y="0"/>
                <a:ext cx="533400" cy="533400"/>
              </a:xfrm>
              <a:prstGeom prst="ellipse">
                <a:avLst/>
              </a:prstGeom>
              <a:solidFill>
                <a:srgbClr val="FECB70"/>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607" name="Project…"/>
              <p:cNvSpPr txBox="1"/>
              <p:nvPr/>
            </p:nvSpPr>
            <p:spPr>
              <a:xfrm>
                <a:off x="82663" y="78207"/>
                <a:ext cx="393473"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b="0" cap="all" sz="1800">
                    <a:solidFill>
                      <a:srgbClr val="FFFFFF"/>
                    </a:solidFill>
                    <a:latin typeface="Montserrat Bold"/>
                    <a:ea typeface="Montserrat Bold"/>
                    <a:cs typeface="Montserrat Bold"/>
                    <a:sym typeface="Montserrat Bold"/>
                  </a:defRPr>
                </a:lvl1pPr>
              </a:lstStyle>
              <a:p>
                <a:pPr/>
                <a:r>
                  <a:t>3</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39"/>
                                        </p:tgtEl>
                                        <p:attrNameLst>
                                          <p:attrName>style.visibility</p:attrName>
                                        </p:attrNameLst>
                                      </p:cBhvr>
                                      <p:to>
                                        <p:strVal val="visible"/>
                                      </p:to>
                                    </p:set>
                                    <p:animEffect filter="dissolve" transition="in">
                                      <p:cBhvr>
                                        <p:cTn id="7" dur="500"/>
                                        <p:tgtEl>
                                          <p:spTgt spid="53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543"/>
                                        </p:tgtEl>
                                        <p:attrNameLst>
                                          <p:attrName>style.visibility</p:attrName>
                                        </p:attrNameLst>
                                      </p:cBhvr>
                                      <p:to>
                                        <p:strVal val="visible"/>
                                      </p:to>
                                    </p:set>
                                    <p:anim calcmode="lin" valueType="num">
                                      <p:cBhvr>
                                        <p:cTn id="12" dur="500" fill="hold"/>
                                        <p:tgtEl>
                                          <p:spTgt spid="543"/>
                                        </p:tgtEl>
                                        <p:attrNameLst>
                                          <p:attrName>ppt_x</p:attrName>
                                        </p:attrNameLst>
                                      </p:cBhvr>
                                      <p:tavLst>
                                        <p:tav tm="0">
                                          <p:val>
                                            <p:strVal val="0-#ppt_w/2"/>
                                          </p:val>
                                        </p:tav>
                                        <p:tav tm="100000">
                                          <p:val>
                                            <p:strVal val="#ppt_x"/>
                                          </p:val>
                                        </p:tav>
                                      </p:tavLst>
                                    </p:anim>
                                    <p:anim calcmode="lin" valueType="num">
                                      <p:cBhvr>
                                        <p:cTn id="13" dur="500" fill="hold"/>
                                        <p:tgtEl>
                                          <p:spTgt spid="54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609"/>
                                        </p:tgtEl>
                                        <p:attrNameLst>
                                          <p:attrName>style.visibility</p:attrName>
                                        </p:attrNameLst>
                                      </p:cBhvr>
                                      <p:to>
                                        <p:strVal val="visible"/>
                                      </p:to>
                                    </p:set>
                                    <p:animEffect filter="dissolve" transition="in">
                                      <p:cBhvr>
                                        <p:cTn id="18" dur="500"/>
                                        <p:tgtEl>
                                          <p:spTgt spid="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9" grpId="1"/>
      <p:bldP build="whole" bldLvl="1" animBg="1" rev="0" advAuto="0" spid="543" grpId="2"/>
      <p:bldP build="whole" bldLvl="1" animBg="1" rev="0" advAuto="0" spid="609" grpId="3"/>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1" name="Project…"/>
          <p:cNvSpPr txBox="1"/>
          <p:nvPr/>
        </p:nvSpPr>
        <p:spPr>
          <a:xfrm>
            <a:off x="2105023" y="1904241"/>
            <a:ext cx="6540883"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The </a:t>
            </a:r>
            <a:r>
              <a:rPr>
                <a:solidFill>
                  <a:srgbClr val="3F57D1"/>
                </a:solidFill>
              </a:rPr>
              <a:t>Toyota</a:t>
            </a:r>
            <a:r>
              <a:t> way</a:t>
            </a:r>
          </a:p>
        </p:txBody>
      </p:sp>
      <p:grpSp>
        <p:nvGrpSpPr>
          <p:cNvPr id="620" name="Группа 1"/>
          <p:cNvGrpSpPr/>
          <p:nvPr/>
        </p:nvGrpSpPr>
        <p:grpSpPr>
          <a:xfrm>
            <a:off x="2122505" y="5064657"/>
            <a:ext cx="9185846" cy="7272011"/>
            <a:chOff x="0" y="0"/>
            <a:chExt cx="9185845" cy="7272010"/>
          </a:xfrm>
        </p:grpSpPr>
        <p:sp>
          <p:nvSpPr>
            <p:cNvPr id="612" name="Profesional Template for PowerPoint, Keynote, Google Slides"/>
            <p:cNvSpPr txBox="1"/>
            <p:nvPr/>
          </p:nvSpPr>
          <p:spPr>
            <a:xfrm>
              <a:off x="28574" y="833472"/>
              <a:ext cx="9146177" cy="15697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Базирайте своите управленски решения на дългосрочна философия, дори за сметка на краткосрочни финансови цели.</a:t>
              </a:r>
            </a:p>
          </p:txBody>
        </p:sp>
        <p:sp>
          <p:nvSpPr>
            <p:cNvPr id="613" name="Profesional Template for PowerPoint, Keynote, Google Slides"/>
            <p:cNvSpPr txBox="1"/>
            <p:nvPr/>
          </p:nvSpPr>
          <p:spPr>
            <a:xfrm>
              <a:off x="39669" y="4665970"/>
              <a:ext cx="9146177"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Създайте непрекъснат процес на потока, за да изведете проблеми на повърхността. Работните процеси са преработени за елиминиране на отпадъците чрез процеса на непрекъснатото подобряване, наречен kaizen.</a:t>
              </a:r>
            </a:p>
          </p:txBody>
        </p:sp>
        <p:grpSp>
          <p:nvGrpSpPr>
            <p:cNvPr id="616" name="Группа 45"/>
            <p:cNvGrpSpPr/>
            <p:nvPr/>
          </p:nvGrpSpPr>
          <p:grpSpPr>
            <a:xfrm>
              <a:off x="0" y="-1"/>
              <a:ext cx="5546926" cy="540659"/>
              <a:chOff x="0" y="0"/>
              <a:chExt cx="5546925" cy="540657"/>
            </a:xfrm>
          </p:grpSpPr>
          <p:sp>
            <p:nvSpPr>
              <p:cNvPr id="614"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Първи принцип</a:t>
                </a:r>
              </a:p>
            </p:txBody>
          </p:sp>
          <p:sp>
            <p:nvSpPr>
              <p:cNvPr id="615"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3F57D1"/>
                    </a:solidFill>
                    <a:latin typeface="Montserrat Bold"/>
                    <a:ea typeface="Montserrat Bold"/>
                    <a:cs typeface="Montserrat Bold"/>
                    <a:sym typeface="Montserrat Bold"/>
                  </a:defRPr>
                </a:lvl1pPr>
              </a:lstStyle>
              <a:p>
                <a:pPr/>
                <a:r>
                  <a:t>01</a:t>
                </a:r>
              </a:p>
            </p:txBody>
          </p:sp>
        </p:grpSp>
        <p:grpSp>
          <p:nvGrpSpPr>
            <p:cNvPr id="619" name="Группа 46"/>
            <p:cNvGrpSpPr/>
            <p:nvPr/>
          </p:nvGrpSpPr>
          <p:grpSpPr>
            <a:xfrm>
              <a:off x="39670" y="3832497"/>
              <a:ext cx="5546926" cy="540658"/>
              <a:chOff x="0" y="0"/>
              <a:chExt cx="5546925" cy="540657"/>
            </a:xfrm>
          </p:grpSpPr>
          <p:sp>
            <p:nvSpPr>
              <p:cNvPr id="617"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втори принцип</a:t>
                </a:r>
              </a:p>
            </p:txBody>
          </p:sp>
          <p:sp>
            <p:nvSpPr>
              <p:cNvPr id="618"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02</a:t>
                </a:r>
              </a:p>
            </p:txBody>
          </p:sp>
        </p:grpSp>
      </p:grpSp>
      <p:grpSp>
        <p:nvGrpSpPr>
          <p:cNvPr id="629" name="Группа 2"/>
          <p:cNvGrpSpPr/>
          <p:nvPr/>
        </p:nvGrpSpPr>
        <p:grpSpPr>
          <a:xfrm>
            <a:off x="13229975" y="5071914"/>
            <a:ext cx="9157271" cy="7264755"/>
            <a:chOff x="0" y="0"/>
            <a:chExt cx="9157270" cy="7264754"/>
          </a:xfrm>
        </p:grpSpPr>
        <p:sp>
          <p:nvSpPr>
            <p:cNvPr id="621" name="Profesional Template for PowerPoint, Keynote, Google Slides"/>
            <p:cNvSpPr txBox="1"/>
            <p:nvPr/>
          </p:nvSpPr>
          <p:spPr>
            <a:xfrm>
              <a:off x="0" y="826216"/>
              <a:ext cx="914617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Използвайте pull системи, за да предотвратите свръхпроизводство. Метод, при който процес сигнализира на своя предшественик, че е необходимо повече материал. Този процес е необходим за намаляване на свръхпроизводството.</a:t>
              </a:r>
            </a:p>
          </p:txBody>
        </p:sp>
        <p:sp>
          <p:nvSpPr>
            <p:cNvPr id="622" name="Profesional Template for PowerPoint, Keynote, Google Slides"/>
            <p:cNvSpPr txBox="1"/>
            <p:nvPr/>
          </p:nvSpPr>
          <p:spPr>
            <a:xfrm>
              <a:off x="11095" y="4658714"/>
              <a:ext cx="914617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Изравнете работното натоварване. Работете като костенурката, а не като заека. Това помага да се постигне целта за минимизиране на отпадъците, да не се пренатоварват хората или оборудването и да не се създават неравномерни нива на производство.</a:t>
              </a:r>
            </a:p>
          </p:txBody>
        </p:sp>
        <p:grpSp>
          <p:nvGrpSpPr>
            <p:cNvPr id="625" name="Группа 49"/>
            <p:cNvGrpSpPr/>
            <p:nvPr/>
          </p:nvGrpSpPr>
          <p:grpSpPr>
            <a:xfrm>
              <a:off x="0" y="-1"/>
              <a:ext cx="5546926" cy="540658"/>
              <a:chOff x="0" y="0"/>
              <a:chExt cx="5546925" cy="540656"/>
            </a:xfrm>
          </p:grpSpPr>
          <p:sp>
            <p:nvSpPr>
              <p:cNvPr id="623"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трети принцип</a:t>
                </a:r>
              </a:p>
            </p:txBody>
          </p:sp>
          <p:sp>
            <p:nvSpPr>
              <p:cNvPr id="624"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03</a:t>
                </a:r>
              </a:p>
            </p:txBody>
          </p:sp>
        </p:grpSp>
        <p:grpSp>
          <p:nvGrpSpPr>
            <p:cNvPr id="628" name="Группа 52"/>
            <p:cNvGrpSpPr/>
            <p:nvPr/>
          </p:nvGrpSpPr>
          <p:grpSpPr>
            <a:xfrm>
              <a:off x="39668" y="3832498"/>
              <a:ext cx="5546928" cy="540658"/>
              <a:chOff x="0" y="0"/>
              <a:chExt cx="5546926" cy="540656"/>
            </a:xfrm>
          </p:grpSpPr>
          <p:sp>
            <p:nvSpPr>
              <p:cNvPr id="626" name="Project…"/>
              <p:cNvSpPr txBox="1"/>
              <p:nvPr/>
            </p:nvSpPr>
            <p:spPr>
              <a:xfrm>
                <a:off x="661833" y="-1"/>
                <a:ext cx="4885094"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четвърти принцип</a:t>
                </a:r>
              </a:p>
            </p:txBody>
          </p:sp>
          <p:sp>
            <p:nvSpPr>
              <p:cNvPr id="627" name="Project…"/>
              <p:cNvSpPr txBox="1"/>
              <p:nvPr/>
            </p:nvSpPr>
            <p:spPr>
              <a:xfrm>
                <a:off x="0" y="7256"/>
                <a:ext cx="661826"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FECB70"/>
                    </a:solidFill>
                    <a:latin typeface="Montserrat Bold"/>
                    <a:ea typeface="Montserrat Bold"/>
                    <a:cs typeface="Montserrat Bold"/>
                    <a:sym typeface="Montserrat Bold"/>
                  </a:defRPr>
                </a:lvl1pPr>
              </a:lstStyle>
              <a:p>
                <a:pPr/>
                <a:r>
                  <a:t>04</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611"/>
                                        </p:tgtEl>
                                        <p:attrNameLst>
                                          <p:attrName>style.visibility</p:attrName>
                                        </p:attrNameLst>
                                      </p:cBhvr>
                                      <p:to>
                                        <p:strVal val="visible"/>
                                      </p:to>
                                    </p:set>
                                    <p:animEffect filter="dissolve" transition="in">
                                      <p:cBhvr>
                                        <p:cTn id="7" dur="500"/>
                                        <p:tgtEl>
                                          <p:spTgt spid="61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620"/>
                                        </p:tgtEl>
                                        <p:attrNameLst>
                                          <p:attrName>style.visibility</p:attrName>
                                        </p:attrNameLst>
                                      </p:cBhvr>
                                      <p:to>
                                        <p:strVal val="visible"/>
                                      </p:to>
                                    </p:set>
                                    <p:anim calcmode="lin" valueType="num">
                                      <p:cBhvr>
                                        <p:cTn id="12" dur="500" fill="hold"/>
                                        <p:tgtEl>
                                          <p:spTgt spid="620"/>
                                        </p:tgtEl>
                                        <p:attrNameLst>
                                          <p:attrName>ppt_x</p:attrName>
                                        </p:attrNameLst>
                                      </p:cBhvr>
                                      <p:tavLst>
                                        <p:tav tm="0">
                                          <p:val>
                                            <p:strVal val="#ppt_x"/>
                                          </p:val>
                                        </p:tav>
                                        <p:tav tm="100000">
                                          <p:val>
                                            <p:strVal val="#ppt_x"/>
                                          </p:val>
                                        </p:tav>
                                      </p:tavLst>
                                    </p:anim>
                                    <p:anim calcmode="lin" valueType="num">
                                      <p:cBhvr>
                                        <p:cTn id="13" dur="500" fill="hold"/>
                                        <p:tgtEl>
                                          <p:spTgt spid="62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4" presetID="2" grpId="3" fill="hold">
                                  <p:stCondLst>
                                    <p:cond delay="0"/>
                                  </p:stCondLst>
                                  <p:iterate type="el" backwards="0">
                                    <p:tmAbs val="0"/>
                                  </p:iterate>
                                  <p:childTnLst>
                                    <p:set>
                                      <p:cBhvr>
                                        <p:cTn id="17" fill="hold"/>
                                        <p:tgtEl>
                                          <p:spTgt spid="629"/>
                                        </p:tgtEl>
                                        <p:attrNameLst>
                                          <p:attrName>style.visibility</p:attrName>
                                        </p:attrNameLst>
                                      </p:cBhvr>
                                      <p:to>
                                        <p:strVal val="visible"/>
                                      </p:to>
                                    </p:set>
                                    <p:anim calcmode="lin" valueType="num">
                                      <p:cBhvr>
                                        <p:cTn id="18" dur="500" fill="hold"/>
                                        <p:tgtEl>
                                          <p:spTgt spid="629"/>
                                        </p:tgtEl>
                                        <p:attrNameLst>
                                          <p:attrName>ppt_x</p:attrName>
                                        </p:attrNameLst>
                                      </p:cBhvr>
                                      <p:tavLst>
                                        <p:tav tm="0">
                                          <p:val>
                                            <p:strVal val="#ppt_x"/>
                                          </p:val>
                                        </p:tav>
                                        <p:tav tm="100000">
                                          <p:val>
                                            <p:strVal val="#ppt_x"/>
                                          </p:val>
                                        </p:tav>
                                      </p:tavLst>
                                    </p:anim>
                                    <p:anim calcmode="lin" valueType="num">
                                      <p:cBhvr>
                                        <p:cTn id="19" dur="500" fill="hold"/>
                                        <p:tgtEl>
                                          <p:spTgt spid="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20" grpId="2"/>
      <p:bldP build="whole" bldLvl="1" animBg="1" rev="0" advAuto="0" spid="629" grpId="3"/>
      <p:bldP build="whole" bldLvl="1" animBg="1" rev="0" advAuto="0" spid="611"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1" name="Project…"/>
          <p:cNvSpPr txBox="1"/>
          <p:nvPr/>
        </p:nvSpPr>
        <p:spPr>
          <a:xfrm>
            <a:off x="2105023" y="1904241"/>
            <a:ext cx="6540883"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The </a:t>
            </a:r>
            <a:r>
              <a:rPr>
                <a:solidFill>
                  <a:srgbClr val="3F57D1"/>
                </a:solidFill>
              </a:rPr>
              <a:t>Toyota</a:t>
            </a:r>
            <a:r>
              <a:t> way</a:t>
            </a:r>
          </a:p>
        </p:txBody>
      </p:sp>
      <p:grpSp>
        <p:nvGrpSpPr>
          <p:cNvPr id="640" name="Группа 1"/>
          <p:cNvGrpSpPr/>
          <p:nvPr/>
        </p:nvGrpSpPr>
        <p:grpSpPr>
          <a:xfrm>
            <a:off x="2122505" y="5064657"/>
            <a:ext cx="9185846" cy="7790171"/>
            <a:chOff x="0" y="0"/>
            <a:chExt cx="9185845" cy="7790170"/>
          </a:xfrm>
        </p:grpSpPr>
        <p:sp>
          <p:nvSpPr>
            <p:cNvPr id="632" name="Profesional Template for PowerPoint, Keynote, Google Slides"/>
            <p:cNvSpPr txBox="1"/>
            <p:nvPr/>
          </p:nvSpPr>
          <p:spPr>
            <a:xfrm>
              <a:off x="28574" y="833472"/>
              <a:ext cx="9146177" cy="2606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Изградете култура на спиране, за да коригирате проблеми, за да получите желаното качество от първия път. Качеството има предимство. Всеки служител в производствената система на Toyota има право да спира процеса, за да сигнализира за проблем с качеството.</a:t>
              </a:r>
            </a:p>
          </p:txBody>
        </p:sp>
        <p:sp>
          <p:nvSpPr>
            <p:cNvPr id="633" name="Profesional Template for PowerPoint, Keynote, Google Slides"/>
            <p:cNvSpPr txBox="1"/>
            <p:nvPr/>
          </p:nvSpPr>
          <p:spPr>
            <a:xfrm>
              <a:off x="39669" y="4665970"/>
              <a:ext cx="9146177" cy="3124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Стандартизираните задачи и процеси са основа за непрекъснато усъвършенстване и овластяване на служителите. Въпреки че Toyota има бюрократична система, начинът, по който се прилага, позволява непрекъснато подобряване от хората, засегнати от тази система.</a:t>
              </a:r>
            </a:p>
          </p:txBody>
        </p:sp>
        <p:grpSp>
          <p:nvGrpSpPr>
            <p:cNvPr id="636" name="Группа 45"/>
            <p:cNvGrpSpPr/>
            <p:nvPr/>
          </p:nvGrpSpPr>
          <p:grpSpPr>
            <a:xfrm>
              <a:off x="0" y="-1"/>
              <a:ext cx="5546926" cy="540659"/>
              <a:chOff x="0" y="0"/>
              <a:chExt cx="5546925" cy="540657"/>
            </a:xfrm>
          </p:grpSpPr>
          <p:sp>
            <p:nvSpPr>
              <p:cNvPr id="634"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пети принцип</a:t>
                </a:r>
              </a:p>
            </p:txBody>
          </p:sp>
          <p:sp>
            <p:nvSpPr>
              <p:cNvPr id="635"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3F57D1"/>
                    </a:solidFill>
                    <a:latin typeface="Montserrat Bold"/>
                    <a:ea typeface="Montserrat Bold"/>
                    <a:cs typeface="Montserrat Bold"/>
                    <a:sym typeface="Montserrat Bold"/>
                  </a:defRPr>
                </a:lvl1pPr>
              </a:lstStyle>
              <a:p>
                <a:pPr/>
                <a:r>
                  <a:t>05</a:t>
                </a:r>
              </a:p>
            </p:txBody>
          </p:sp>
        </p:grpSp>
        <p:grpSp>
          <p:nvGrpSpPr>
            <p:cNvPr id="639" name="Группа 46"/>
            <p:cNvGrpSpPr/>
            <p:nvPr/>
          </p:nvGrpSpPr>
          <p:grpSpPr>
            <a:xfrm>
              <a:off x="39670" y="3832497"/>
              <a:ext cx="5546926" cy="540658"/>
              <a:chOff x="0" y="0"/>
              <a:chExt cx="5546925" cy="540657"/>
            </a:xfrm>
          </p:grpSpPr>
          <p:sp>
            <p:nvSpPr>
              <p:cNvPr id="637"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шести принцип</a:t>
                </a:r>
              </a:p>
            </p:txBody>
          </p:sp>
          <p:sp>
            <p:nvSpPr>
              <p:cNvPr id="638"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06</a:t>
                </a:r>
              </a:p>
            </p:txBody>
          </p:sp>
        </p:grpSp>
      </p:grpSp>
      <p:grpSp>
        <p:nvGrpSpPr>
          <p:cNvPr id="649" name="Группа 2"/>
          <p:cNvGrpSpPr/>
          <p:nvPr/>
        </p:nvGrpSpPr>
        <p:grpSpPr>
          <a:xfrm>
            <a:off x="13229975" y="5071914"/>
            <a:ext cx="9157271" cy="6746595"/>
            <a:chOff x="0" y="0"/>
            <a:chExt cx="9157270" cy="6746594"/>
          </a:xfrm>
        </p:grpSpPr>
        <p:sp>
          <p:nvSpPr>
            <p:cNvPr id="641" name="Profesional Template for PowerPoint, Keynote, Google Slides"/>
            <p:cNvSpPr txBox="1"/>
            <p:nvPr/>
          </p:nvSpPr>
          <p:spPr>
            <a:xfrm>
              <a:off x="0" y="826216"/>
              <a:ext cx="914617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В този принцип е включена схемата 5S - стъпки, които се използват, за да направят всички работни пространства ефективни и продуктивни, да намалят времето за търсене на необходимите инструменти и да подобрят работната среда.</a:t>
              </a:r>
            </a:p>
          </p:txBody>
        </p:sp>
        <p:sp>
          <p:nvSpPr>
            <p:cNvPr id="642" name="Profesional Template for PowerPoint, Keynote, Google Slides"/>
            <p:cNvSpPr txBox="1"/>
            <p:nvPr/>
          </p:nvSpPr>
          <p:spPr>
            <a:xfrm>
              <a:off x="11095" y="4658714"/>
              <a:ext cx="9146176" cy="20878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Използвайте само надеждна, щателно тествана технология, която служи на вашите хора и процеси. Технологиите се изтеглят от производството, а не се изтласкват към производството.</a:t>
              </a:r>
            </a:p>
          </p:txBody>
        </p:sp>
        <p:grpSp>
          <p:nvGrpSpPr>
            <p:cNvPr id="645" name="Группа 49"/>
            <p:cNvGrpSpPr/>
            <p:nvPr/>
          </p:nvGrpSpPr>
          <p:grpSpPr>
            <a:xfrm>
              <a:off x="0" y="-1"/>
              <a:ext cx="5546926" cy="540658"/>
              <a:chOff x="0" y="0"/>
              <a:chExt cx="5546925" cy="540656"/>
            </a:xfrm>
          </p:grpSpPr>
          <p:sp>
            <p:nvSpPr>
              <p:cNvPr id="643"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седми принцип</a:t>
                </a:r>
              </a:p>
            </p:txBody>
          </p:sp>
          <p:sp>
            <p:nvSpPr>
              <p:cNvPr id="644"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07</a:t>
                </a:r>
              </a:p>
            </p:txBody>
          </p:sp>
        </p:grpSp>
        <p:grpSp>
          <p:nvGrpSpPr>
            <p:cNvPr id="648" name="Группа 52"/>
            <p:cNvGrpSpPr/>
            <p:nvPr/>
          </p:nvGrpSpPr>
          <p:grpSpPr>
            <a:xfrm>
              <a:off x="39668" y="3832498"/>
              <a:ext cx="5546928" cy="540658"/>
              <a:chOff x="0" y="0"/>
              <a:chExt cx="5546926" cy="540656"/>
            </a:xfrm>
          </p:grpSpPr>
          <p:sp>
            <p:nvSpPr>
              <p:cNvPr id="646" name="Project…"/>
              <p:cNvSpPr txBox="1"/>
              <p:nvPr/>
            </p:nvSpPr>
            <p:spPr>
              <a:xfrm>
                <a:off x="661833" y="-1"/>
                <a:ext cx="4885094"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осми принцип</a:t>
                </a:r>
              </a:p>
            </p:txBody>
          </p:sp>
          <p:sp>
            <p:nvSpPr>
              <p:cNvPr id="647" name="Project…"/>
              <p:cNvSpPr txBox="1"/>
              <p:nvPr/>
            </p:nvSpPr>
            <p:spPr>
              <a:xfrm>
                <a:off x="0" y="7256"/>
                <a:ext cx="661826"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FECB70"/>
                    </a:solidFill>
                    <a:latin typeface="Montserrat Bold"/>
                    <a:ea typeface="Montserrat Bold"/>
                    <a:cs typeface="Montserrat Bold"/>
                    <a:sym typeface="Montserrat Bold"/>
                  </a:defRPr>
                </a:lvl1pPr>
              </a:lstStyle>
              <a:p>
                <a:pPr/>
                <a:r>
                  <a:t>08</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631"/>
                                        </p:tgtEl>
                                        <p:attrNameLst>
                                          <p:attrName>style.visibility</p:attrName>
                                        </p:attrNameLst>
                                      </p:cBhvr>
                                      <p:to>
                                        <p:strVal val="visible"/>
                                      </p:to>
                                    </p:set>
                                    <p:animEffect filter="dissolve" transition="in">
                                      <p:cBhvr>
                                        <p:cTn id="7" dur="500"/>
                                        <p:tgtEl>
                                          <p:spTgt spid="63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640"/>
                                        </p:tgtEl>
                                        <p:attrNameLst>
                                          <p:attrName>style.visibility</p:attrName>
                                        </p:attrNameLst>
                                      </p:cBhvr>
                                      <p:to>
                                        <p:strVal val="visible"/>
                                      </p:to>
                                    </p:set>
                                    <p:anim calcmode="lin" valueType="num">
                                      <p:cBhvr>
                                        <p:cTn id="12" dur="500" fill="hold"/>
                                        <p:tgtEl>
                                          <p:spTgt spid="640"/>
                                        </p:tgtEl>
                                        <p:attrNameLst>
                                          <p:attrName>ppt_x</p:attrName>
                                        </p:attrNameLst>
                                      </p:cBhvr>
                                      <p:tavLst>
                                        <p:tav tm="0">
                                          <p:val>
                                            <p:strVal val="#ppt_x"/>
                                          </p:val>
                                        </p:tav>
                                        <p:tav tm="100000">
                                          <p:val>
                                            <p:strVal val="#ppt_x"/>
                                          </p:val>
                                        </p:tav>
                                      </p:tavLst>
                                    </p:anim>
                                    <p:anim calcmode="lin" valueType="num">
                                      <p:cBhvr>
                                        <p:cTn id="13" dur="500" fill="hold"/>
                                        <p:tgtEl>
                                          <p:spTgt spid="64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4" presetID="2" grpId="3" fill="hold">
                                  <p:stCondLst>
                                    <p:cond delay="0"/>
                                  </p:stCondLst>
                                  <p:iterate type="el" backwards="0">
                                    <p:tmAbs val="0"/>
                                  </p:iterate>
                                  <p:childTnLst>
                                    <p:set>
                                      <p:cBhvr>
                                        <p:cTn id="17" fill="hold"/>
                                        <p:tgtEl>
                                          <p:spTgt spid="649"/>
                                        </p:tgtEl>
                                        <p:attrNameLst>
                                          <p:attrName>style.visibility</p:attrName>
                                        </p:attrNameLst>
                                      </p:cBhvr>
                                      <p:to>
                                        <p:strVal val="visible"/>
                                      </p:to>
                                    </p:set>
                                    <p:anim calcmode="lin" valueType="num">
                                      <p:cBhvr>
                                        <p:cTn id="18" dur="500" fill="hold"/>
                                        <p:tgtEl>
                                          <p:spTgt spid="649"/>
                                        </p:tgtEl>
                                        <p:attrNameLst>
                                          <p:attrName>ppt_x</p:attrName>
                                        </p:attrNameLst>
                                      </p:cBhvr>
                                      <p:tavLst>
                                        <p:tav tm="0">
                                          <p:val>
                                            <p:strVal val="#ppt_x"/>
                                          </p:val>
                                        </p:tav>
                                        <p:tav tm="100000">
                                          <p:val>
                                            <p:strVal val="#ppt_x"/>
                                          </p:val>
                                        </p:tav>
                                      </p:tavLst>
                                    </p:anim>
                                    <p:anim calcmode="lin" valueType="num">
                                      <p:cBhvr>
                                        <p:cTn id="19" dur="500" fill="hold"/>
                                        <p:tgtEl>
                                          <p:spTgt spid="6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40" grpId="2"/>
      <p:bldP build="whole" bldLvl="1" animBg="1" rev="0" advAuto="0" spid="631" grpId="1"/>
      <p:bldP build="whole" bldLvl="1" animBg="1" rev="0" advAuto="0" spid="649" grpId="3"/>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1" name="Project…"/>
          <p:cNvSpPr txBox="1"/>
          <p:nvPr/>
        </p:nvSpPr>
        <p:spPr>
          <a:xfrm>
            <a:off x="2105023" y="1904241"/>
            <a:ext cx="6540883"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The </a:t>
            </a:r>
            <a:r>
              <a:rPr>
                <a:solidFill>
                  <a:srgbClr val="3F57D1"/>
                </a:solidFill>
              </a:rPr>
              <a:t>Toyota</a:t>
            </a:r>
            <a:r>
              <a:t> way</a:t>
            </a:r>
          </a:p>
        </p:txBody>
      </p:sp>
      <p:grpSp>
        <p:nvGrpSpPr>
          <p:cNvPr id="660" name="Группа 1"/>
          <p:cNvGrpSpPr/>
          <p:nvPr/>
        </p:nvGrpSpPr>
        <p:grpSpPr>
          <a:xfrm>
            <a:off x="2122505" y="5064657"/>
            <a:ext cx="9185846" cy="6753851"/>
            <a:chOff x="0" y="0"/>
            <a:chExt cx="9185845" cy="6753850"/>
          </a:xfrm>
        </p:grpSpPr>
        <p:sp>
          <p:nvSpPr>
            <p:cNvPr id="652" name="Profesional Template for PowerPoint, Keynote, Google Slides"/>
            <p:cNvSpPr txBox="1"/>
            <p:nvPr/>
          </p:nvSpPr>
          <p:spPr>
            <a:xfrm>
              <a:off x="28574" y="833472"/>
              <a:ext cx="9146177" cy="2606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Отглеждайте лидери, които разбират задълбочено работата, живеят философията и я преподават на другите. Без постоянно внимание принципите ще избледнеят. Принципите трябва да бъдат вкоренени, трябва да е така, както човек мисли.</a:t>
              </a:r>
            </a:p>
          </p:txBody>
        </p:sp>
        <p:sp>
          <p:nvSpPr>
            <p:cNvPr id="653" name="Profesional Template for PowerPoint, Keynote, Google Slides"/>
            <p:cNvSpPr txBox="1"/>
            <p:nvPr/>
          </p:nvSpPr>
          <p:spPr>
            <a:xfrm>
              <a:off x="39669" y="4665970"/>
              <a:ext cx="9146177" cy="20878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Разработете изключителни хора и екипи, които следват философията на вашата компания. Екипите трябва да се състоят от 4-5 души и многобройни управленски нива. Успехът се основава на екипа, а не на индивида.</a:t>
              </a:r>
            </a:p>
          </p:txBody>
        </p:sp>
        <p:grpSp>
          <p:nvGrpSpPr>
            <p:cNvPr id="656" name="Группа 45"/>
            <p:cNvGrpSpPr/>
            <p:nvPr/>
          </p:nvGrpSpPr>
          <p:grpSpPr>
            <a:xfrm>
              <a:off x="0" y="-1"/>
              <a:ext cx="5546926" cy="540659"/>
              <a:chOff x="0" y="0"/>
              <a:chExt cx="5546925" cy="540657"/>
            </a:xfrm>
          </p:grpSpPr>
          <p:sp>
            <p:nvSpPr>
              <p:cNvPr id="654"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девети принцип</a:t>
                </a:r>
              </a:p>
            </p:txBody>
          </p:sp>
          <p:sp>
            <p:nvSpPr>
              <p:cNvPr id="655"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3F57D1"/>
                    </a:solidFill>
                    <a:latin typeface="Montserrat Bold"/>
                    <a:ea typeface="Montserrat Bold"/>
                    <a:cs typeface="Montserrat Bold"/>
                    <a:sym typeface="Montserrat Bold"/>
                  </a:defRPr>
                </a:lvl1pPr>
              </a:lstStyle>
              <a:p>
                <a:pPr/>
                <a:r>
                  <a:t>09</a:t>
                </a:r>
              </a:p>
            </p:txBody>
          </p:sp>
        </p:grpSp>
        <p:grpSp>
          <p:nvGrpSpPr>
            <p:cNvPr id="659" name="Группа 46"/>
            <p:cNvGrpSpPr/>
            <p:nvPr/>
          </p:nvGrpSpPr>
          <p:grpSpPr>
            <a:xfrm>
              <a:off x="39670" y="3832497"/>
              <a:ext cx="5546926" cy="540658"/>
              <a:chOff x="0" y="0"/>
              <a:chExt cx="5546925" cy="540657"/>
            </a:xfrm>
          </p:grpSpPr>
          <p:sp>
            <p:nvSpPr>
              <p:cNvPr id="657" name="Project…"/>
              <p:cNvSpPr txBox="1"/>
              <p:nvPr/>
            </p:nvSpPr>
            <p:spPr>
              <a:xfrm>
                <a:off x="661832" y="-1"/>
                <a:ext cx="4885093"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десети принцип</a:t>
                </a:r>
              </a:p>
            </p:txBody>
          </p:sp>
          <p:sp>
            <p:nvSpPr>
              <p:cNvPr id="658"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10</a:t>
                </a:r>
              </a:p>
            </p:txBody>
          </p:sp>
        </p:grpSp>
      </p:grpSp>
      <p:grpSp>
        <p:nvGrpSpPr>
          <p:cNvPr id="669" name="Группа 2"/>
          <p:cNvGrpSpPr/>
          <p:nvPr/>
        </p:nvGrpSpPr>
        <p:grpSpPr>
          <a:xfrm>
            <a:off x="13229975" y="5071953"/>
            <a:ext cx="9157271" cy="7391716"/>
            <a:chOff x="0" y="39"/>
            <a:chExt cx="9157270" cy="7391714"/>
          </a:xfrm>
        </p:grpSpPr>
        <p:sp>
          <p:nvSpPr>
            <p:cNvPr id="661" name="Profesional Template for PowerPoint, Keynote, Google Slides"/>
            <p:cNvSpPr txBox="1"/>
            <p:nvPr/>
          </p:nvSpPr>
          <p:spPr>
            <a:xfrm>
              <a:off x="0" y="953216"/>
              <a:ext cx="914617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Уважавайте разширената си мрежа от партньори и доставчици, като ги предизвиквате и им помагате да се подобрят. Toyota третира доставчиците много, както се отнасят към служителите си, предизвиквайки ги да правят по-добре и им помага да го постигнат.</a:t>
              </a:r>
            </a:p>
          </p:txBody>
        </p:sp>
        <p:sp>
          <p:nvSpPr>
            <p:cNvPr id="662" name="Profesional Template for PowerPoint, Keynote, Google Slides"/>
            <p:cNvSpPr txBox="1"/>
            <p:nvPr/>
          </p:nvSpPr>
          <p:spPr>
            <a:xfrm>
              <a:off x="11095" y="4785714"/>
              <a:ext cx="9146176" cy="2606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sp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Отидете и се уверете сами, за да разберете подробно ситуацията. Очаква се мениджърите на Toyota да провеждат операции. Без да изпитват ситуацията от първа ръка, мениджърите няма да имат разбиране за това как тя може да бъде подобрена.</a:t>
              </a:r>
            </a:p>
          </p:txBody>
        </p:sp>
        <p:grpSp>
          <p:nvGrpSpPr>
            <p:cNvPr id="665" name="Группа 49"/>
            <p:cNvGrpSpPr/>
            <p:nvPr/>
          </p:nvGrpSpPr>
          <p:grpSpPr>
            <a:xfrm>
              <a:off x="0" y="39"/>
              <a:ext cx="5930803" cy="540618"/>
              <a:chOff x="0" y="39"/>
              <a:chExt cx="5930802" cy="540617"/>
            </a:xfrm>
          </p:grpSpPr>
          <p:sp>
            <p:nvSpPr>
              <p:cNvPr id="663" name="Project…"/>
              <p:cNvSpPr txBox="1"/>
              <p:nvPr/>
            </p:nvSpPr>
            <p:spPr>
              <a:xfrm>
                <a:off x="661832" y="39"/>
                <a:ext cx="526897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единадесети принцип</a:t>
                </a:r>
              </a:p>
            </p:txBody>
          </p:sp>
          <p:sp>
            <p:nvSpPr>
              <p:cNvPr id="664" name="Project…"/>
              <p:cNvSpPr txBox="1"/>
              <p:nvPr/>
            </p:nvSpPr>
            <p:spPr>
              <a:xfrm>
                <a:off x="-1" y="7256"/>
                <a:ext cx="569895"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C851C0"/>
                    </a:solidFill>
                    <a:latin typeface="Montserrat Bold"/>
                    <a:ea typeface="Montserrat Bold"/>
                    <a:cs typeface="Montserrat Bold"/>
                    <a:sym typeface="Montserrat Bold"/>
                  </a:defRPr>
                </a:lvl1pPr>
              </a:lstStyle>
              <a:p>
                <a:pPr/>
                <a:r>
                  <a:t>11</a:t>
                </a:r>
              </a:p>
            </p:txBody>
          </p:sp>
        </p:grpSp>
        <p:grpSp>
          <p:nvGrpSpPr>
            <p:cNvPr id="668" name="Группа 52"/>
            <p:cNvGrpSpPr/>
            <p:nvPr/>
          </p:nvGrpSpPr>
          <p:grpSpPr>
            <a:xfrm>
              <a:off x="39668" y="3832537"/>
              <a:ext cx="6496054" cy="540619"/>
              <a:chOff x="0" y="39"/>
              <a:chExt cx="6496052" cy="540617"/>
            </a:xfrm>
          </p:grpSpPr>
          <p:sp>
            <p:nvSpPr>
              <p:cNvPr id="666" name="Project…"/>
              <p:cNvSpPr txBox="1"/>
              <p:nvPr/>
            </p:nvSpPr>
            <p:spPr>
              <a:xfrm>
                <a:off x="661833" y="39"/>
                <a:ext cx="5834220"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252625"/>
                    </a:solidFill>
                    <a:latin typeface="Montserrat Bold"/>
                    <a:ea typeface="Montserrat Bold"/>
                    <a:cs typeface="Montserrat Bold"/>
                    <a:sym typeface="Montserrat Bold"/>
                  </a:defRPr>
                </a:lvl1pPr>
              </a:lstStyle>
              <a:p>
                <a:pPr/>
                <a:r>
                  <a:t>дванадесети принцип</a:t>
                </a:r>
              </a:p>
            </p:txBody>
          </p:sp>
          <p:sp>
            <p:nvSpPr>
              <p:cNvPr id="667" name="Project…"/>
              <p:cNvSpPr txBox="1"/>
              <p:nvPr/>
            </p:nvSpPr>
            <p:spPr>
              <a:xfrm>
                <a:off x="0" y="7256"/>
                <a:ext cx="661826"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l">
                  <a:defRPr b="0" cap="all" sz="2800">
                    <a:solidFill>
                      <a:srgbClr val="FECB70"/>
                    </a:solidFill>
                    <a:latin typeface="Montserrat Bold"/>
                    <a:ea typeface="Montserrat Bold"/>
                    <a:cs typeface="Montserrat Bold"/>
                    <a:sym typeface="Montserrat Bold"/>
                  </a:defRPr>
                </a:lvl1pPr>
              </a:lstStyle>
              <a:p>
                <a:pPr/>
                <a:r>
                  <a:t>12</a:t>
                </a:r>
              </a:p>
            </p:txBody>
          </p:sp>
        </p:gr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651"/>
                                        </p:tgtEl>
                                        <p:attrNameLst>
                                          <p:attrName>style.visibility</p:attrName>
                                        </p:attrNameLst>
                                      </p:cBhvr>
                                      <p:to>
                                        <p:strVal val="visible"/>
                                      </p:to>
                                    </p:set>
                                    <p:animEffect filter="dissolve" transition="in">
                                      <p:cBhvr>
                                        <p:cTn id="7" dur="500"/>
                                        <p:tgtEl>
                                          <p:spTgt spid="65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660"/>
                                        </p:tgtEl>
                                        <p:attrNameLst>
                                          <p:attrName>style.visibility</p:attrName>
                                        </p:attrNameLst>
                                      </p:cBhvr>
                                      <p:to>
                                        <p:strVal val="visible"/>
                                      </p:to>
                                    </p:set>
                                    <p:anim calcmode="lin" valueType="num">
                                      <p:cBhvr>
                                        <p:cTn id="12" dur="500" fill="hold"/>
                                        <p:tgtEl>
                                          <p:spTgt spid="660"/>
                                        </p:tgtEl>
                                        <p:attrNameLst>
                                          <p:attrName>ppt_x</p:attrName>
                                        </p:attrNameLst>
                                      </p:cBhvr>
                                      <p:tavLst>
                                        <p:tav tm="0">
                                          <p:val>
                                            <p:strVal val="#ppt_x"/>
                                          </p:val>
                                        </p:tav>
                                        <p:tav tm="100000">
                                          <p:val>
                                            <p:strVal val="#ppt_x"/>
                                          </p:val>
                                        </p:tav>
                                      </p:tavLst>
                                    </p:anim>
                                    <p:anim calcmode="lin" valueType="num">
                                      <p:cBhvr>
                                        <p:cTn id="13" dur="500" fill="hold"/>
                                        <p:tgtEl>
                                          <p:spTgt spid="66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4" presetID="2" grpId="3" fill="hold">
                                  <p:stCondLst>
                                    <p:cond delay="0"/>
                                  </p:stCondLst>
                                  <p:iterate type="el" backwards="0">
                                    <p:tmAbs val="0"/>
                                  </p:iterate>
                                  <p:childTnLst>
                                    <p:set>
                                      <p:cBhvr>
                                        <p:cTn id="17" fill="hold"/>
                                        <p:tgtEl>
                                          <p:spTgt spid="669"/>
                                        </p:tgtEl>
                                        <p:attrNameLst>
                                          <p:attrName>style.visibility</p:attrName>
                                        </p:attrNameLst>
                                      </p:cBhvr>
                                      <p:to>
                                        <p:strVal val="visible"/>
                                      </p:to>
                                    </p:set>
                                    <p:anim calcmode="lin" valueType="num">
                                      <p:cBhvr>
                                        <p:cTn id="18" dur="500" fill="hold"/>
                                        <p:tgtEl>
                                          <p:spTgt spid="669"/>
                                        </p:tgtEl>
                                        <p:attrNameLst>
                                          <p:attrName>ppt_x</p:attrName>
                                        </p:attrNameLst>
                                      </p:cBhvr>
                                      <p:tavLst>
                                        <p:tav tm="0">
                                          <p:val>
                                            <p:strVal val="#ppt_x"/>
                                          </p:val>
                                        </p:tav>
                                        <p:tav tm="100000">
                                          <p:val>
                                            <p:strVal val="#ppt_x"/>
                                          </p:val>
                                        </p:tav>
                                      </p:tavLst>
                                    </p:anim>
                                    <p:anim calcmode="lin" valueType="num">
                                      <p:cBhvr>
                                        <p:cTn id="19" dur="500" fill="hold"/>
                                        <p:tgtEl>
                                          <p:spTgt spid="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69" grpId="3"/>
      <p:bldP build="whole" bldLvl="1" animBg="1" rev="0" advAuto="0" spid="651" grpId="1"/>
      <p:bldP build="whole" bldLvl="1" animBg="1" rev="0" advAuto="0" spid="660" grpId="2"/>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1" name="Прямоугольный треугольник 18"/>
          <p:cNvSpPr/>
          <p:nvPr/>
        </p:nvSpPr>
        <p:spPr>
          <a:xfrm rot="13500000">
            <a:off x="-880787" y="2997970"/>
            <a:ext cx="1761574" cy="17615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72" name="Прямоугольный треугольник 20"/>
          <p:cNvSpPr/>
          <p:nvPr/>
        </p:nvSpPr>
        <p:spPr>
          <a:xfrm rot="2700000">
            <a:off x="1338617" y="-1558488"/>
            <a:ext cx="3096893" cy="30968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73" name="Прямоугольный треугольник 21"/>
          <p:cNvSpPr/>
          <p:nvPr/>
        </p:nvSpPr>
        <p:spPr>
          <a:xfrm rot="13500000">
            <a:off x="22389464" y="11377021"/>
            <a:ext cx="786532" cy="7865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ECB7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74" name="Project…"/>
          <p:cNvSpPr txBox="1"/>
          <p:nvPr/>
        </p:nvSpPr>
        <p:spPr>
          <a:xfrm>
            <a:off x="2867023" y="2265856"/>
            <a:ext cx="6540883" cy="1955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0" cap="all" sz="6000">
                <a:solidFill>
                  <a:srgbClr val="252625"/>
                </a:solidFill>
                <a:latin typeface="Montserrat Bold"/>
                <a:ea typeface="Montserrat Bold"/>
                <a:cs typeface="Montserrat Bold"/>
                <a:sym typeface="Montserrat Bold"/>
              </a:defRPr>
            </a:pPr>
            <a:r>
              <a:t>The </a:t>
            </a:r>
            <a:r>
              <a:rPr>
                <a:solidFill>
                  <a:srgbClr val="3F57D1"/>
                </a:solidFill>
              </a:rPr>
              <a:t>Toyota</a:t>
            </a:r>
            <a:r>
              <a:t> way</a:t>
            </a:r>
          </a:p>
        </p:txBody>
      </p:sp>
      <p:grpSp>
        <p:nvGrpSpPr>
          <p:cNvPr id="678" name="Группа 3"/>
          <p:cNvGrpSpPr/>
          <p:nvPr/>
        </p:nvGrpSpPr>
        <p:grpSpPr>
          <a:xfrm>
            <a:off x="5132454" y="4825999"/>
            <a:ext cx="7226301" cy="9281995"/>
            <a:chOff x="0" y="0"/>
            <a:chExt cx="7226300" cy="9281993"/>
          </a:xfrm>
        </p:grpSpPr>
        <p:sp>
          <p:nvSpPr>
            <p:cNvPr id="675" name="Profesional Template for PowerPoint, Keynote, Google Slides"/>
            <p:cNvSpPr txBox="1"/>
            <p:nvPr/>
          </p:nvSpPr>
          <p:spPr>
            <a:xfrm>
              <a:off x="98982" y="3323552"/>
              <a:ext cx="7127319" cy="59584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Вземете решения бавно с консенсус, като внимателно обмислите всички варианти; изпълнявайте решения бързо.</a:t>
              </a:r>
            </a:p>
          </p:txBody>
        </p:sp>
        <p:sp>
          <p:nvSpPr>
            <p:cNvPr id="676" name="Project…"/>
            <p:cNvSpPr txBox="1"/>
            <p:nvPr/>
          </p:nvSpPr>
          <p:spPr>
            <a:xfrm>
              <a:off x="26194" y="2262150"/>
              <a:ext cx="6660209" cy="679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l">
                <a:defRPr b="0" cap="all" sz="2800">
                  <a:solidFill>
                    <a:srgbClr val="252625"/>
                  </a:solidFill>
                  <a:latin typeface="Montserrat Bold"/>
                  <a:ea typeface="Montserrat Bold"/>
                  <a:cs typeface="Montserrat Bold"/>
                  <a:sym typeface="Montserrat Bold"/>
                </a:defRPr>
              </a:lvl1pPr>
            </a:lstStyle>
            <a:p>
              <a:pPr/>
              <a:r>
                <a:t>тринадесети принцип</a:t>
              </a:r>
            </a:p>
          </p:txBody>
        </p:sp>
        <p:sp>
          <p:nvSpPr>
            <p:cNvPr id="677" name="Project…"/>
            <p:cNvSpPr txBox="1"/>
            <p:nvPr/>
          </p:nvSpPr>
          <p:spPr>
            <a:xfrm>
              <a:off x="0" y="-1"/>
              <a:ext cx="3199120" cy="21026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l">
                <a:defRPr b="0" cap="all" sz="10000">
                  <a:solidFill>
                    <a:srgbClr val="3F57D1"/>
                  </a:solidFill>
                  <a:latin typeface="Montserrat Bold"/>
                  <a:ea typeface="Montserrat Bold"/>
                  <a:cs typeface="Montserrat Bold"/>
                  <a:sym typeface="Montserrat Bold"/>
                </a:defRPr>
              </a:lvl1pPr>
            </a:lstStyle>
            <a:p>
              <a:pPr/>
              <a:r>
                <a:t>13</a:t>
              </a:r>
            </a:p>
          </p:txBody>
        </p:sp>
      </p:grpSp>
      <p:grpSp>
        <p:nvGrpSpPr>
          <p:cNvPr id="682" name="Группа 56"/>
          <p:cNvGrpSpPr/>
          <p:nvPr/>
        </p:nvGrpSpPr>
        <p:grpSpPr>
          <a:xfrm>
            <a:off x="13610714" y="4825999"/>
            <a:ext cx="7227977" cy="8817469"/>
            <a:chOff x="0" y="0"/>
            <a:chExt cx="7227975" cy="8817467"/>
          </a:xfrm>
        </p:grpSpPr>
        <p:sp>
          <p:nvSpPr>
            <p:cNvPr id="679" name="Profesional Template for PowerPoint, Keynote, Google Slides"/>
            <p:cNvSpPr txBox="1"/>
            <p:nvPr/>
          </p:nvSpPr>
          <p:spPr>
            <a:xfrm>
              <a:off x="94028" y="3157222"/>
              <a:ext cx="6770625" cy="56602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l">
                <a:lnSpc>
                  <a:spcPct val="120000"/>
                </a:lnSpc>
                <a:defRPr b="0" sz="2600">
                  <a:solidFill>
                    <a:srgbClr val="646977"/>
                  </a:solidFill>
                  <a:latin typeface="Roboto Regular"/>
                  <a:ea typeface="Roboto Regular"/>
                  <a:cs typeface="Roboto Regular"/>
                  <a:sym typeface="Roboto Regular"/>
                </a:defRPr>
              </a:lvl1pPr>
            </a:lstStyle>
            <a:p>
              <a:pPr/>
              <a:r>
                <a:t>Станете учеща организация чрез неумолима размисъл и непрекъснато усъвършенстване. Процесът на превръщането в учебна организация включва критикуване на всеки аспект от това, което човек прави. </a:t>
              </a:r>
            </a:p>
          </p:txBody>
        </p:sp>
        <p:sp>
          <p:nvSpPr>
            <p:cNvPr id="680" name="Project…"/>
            <p:cNvSpPr txBox="1"/>
            <p:nvPr/>
          </p:nvSpPr>
          <p:spPr>
            <a:xfrm>
              <a:off x="24883" y="2148938"/>
              <a:ext cx="7203093" cy="645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l">
                <a:defRPr b="0" cap="all" sz="2800">
                  <a:solidFill>
                    <a:srgbClr val="252625"/>
                  </a:solidFill>
                  <a:latin typeface="Montserrat Bold"/>
                  <a:ea typeface="Montserrat Bold"/>
                  <a:cs typeface="Montserrat Bold"/>
                  <a:sym typeface="Montserrat Bold"/>
                </a:defRPr>
              </a:lvl1pPr>
            </a:lstStyle>
            <a:p>
              <a:pPr/>
              <a:r>
                <a:t>четиринадесети принцип</a:t>
              </a:r>
            </a:p>
          </p:txBody>
        </p:sp>
        <p:sp>
          <p:nvSpPr>
            <p:cNvPr id="681" name="Project…"/>
            <p:cNvSpPr txBox="1"/>
            <p:nvPr/>
          </p:nvSpPr>
          <p:spPr>
            <a:xfrm>
              <a:off x="0" y="-1"/>
              <a:ext cx="3039017" cy="199737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l">
                <a:defRPr b="0" cap="all" sz="10000">
                  <a:solidFill>
                    <a:srgbClr val="C851C0"/>
                  </a:solidFill>
                  <a:latin typeface="Montserrat Bold"/>
                  <a:ea typeface="Montserrat Bold"/>
                  <a:cs typeface="Montserrat Bold"/>
                  <a:sym typeface="Montserrat Bold"/>
                </a:defRPr>
              </a:lvl1pPr>
            </a:lstStyle>
            <a:p>
              <a:pPr/>
              <a:r>
                <a:t>14</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671"/>
                                        </p:tgtEl>
                                        <p:attrNameLst>
                                          <p:attrName>style.visibility</p:attrName>
                                        </p:attrNameLst>
                                      </p:cBhvr>
                                      <p:to>
                                        <p:strVal val="visible"/>
                                      </p:to>
                                    </p:set>
                                    <p:anim calcmode="lin" valueType="num">
                                      <p:cBhvr>
                                        <p:cTn id="7" dur="500" fill="hold"/>
                                        <p:tgtEl>
                                          <p:spTgt spid="671"/>
                                        </p:tgtEl>
                                        <p:attrNameLst>
                                          <p:attrName>ppt_x</p:attrName>
                                        </p:attrNameLst>
                                      </p:cBhvr>
                                      <p:tavLst>
                                        <p:tav tm="0">
                                          <p:val>
                                            <p:strVal val="0-#ppt_w/2"/>
                                          </p:val>
                                        </p:tav>
                                        <p:tav tm="100000">
                                          <p:val>
                                            <p:strVal val="#ppt_x"/>
                                          </p:val>
                                        </p:tav>
                                      </p:tavLst>
                                    </p:anim>
                                    <p:anim calcmode="lin" valueType="num">
                                      <p:cBhvr>
                                        <p:cTn id="8" dur="500" fill="hold"/>
                                        <p:tgtEl>
                                          <p:spTgt spid="67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Class="entr" nodeType="afterEffect" presetSubtype="8" presetID="2" grpId="2" fill="hold">
                                  <p:stCondLst>
                                    <p:cond delay="0"/>
                                  </p:stCondLst>
                                  <p:iterate type="el" backwards="0">
                                    <p:tmAbs val="0"/>
                                  </p:iterate>
                                  <p:childTnLst>
                                    <p:set>
                                      <p:cBhvr>
                                        <p:cTn id="11" fill="hold"/>
                                        <p:tgtEl>
                                          <p:spTgt spid="673"/>
                                        </p:tgtEl>
                                        <p:attrNameLst>
                                          <p:attrName>style.visibility</p:attrName>
                                        </p:attrNameLst>
                                      </p:cBhvr>
                                      <p:to>
                                        <p:strVal val="visible"/>
                                      </p:to>
                                    </p:set>
                                    <p:anim calcmode="lin" valueType="num">
                                      <p:cBhvr>
                                        <p:cTn id="12" dur="500" fill="hold"/>
                                        <p:tgtEl>
                                          <p:spTgt spid="673"/>
                                        </p:tgtEl>
                                        <p:attrNameLst>
                                          <p:attrName>ppt_x</p:attrName>
                                        </p:attrNameLst>
                                      </p:cBhvr>
                                      <p:tavLst>
                                        <p:tav tm="0">
                                          <p:val>
                                            <p:strVal val="0-#ppt_w/2"/>
                                          </p:val>
                                        </p:tav>
                                        <p:tav tm="100000">
                                          <p:val>
                                            <p:strVal val="#ppt_x"/>
                                          </p:val>
                                        </p:tav>
                                      </p:tavLst>
                                    </p:anim>
                                    <p:anim calcmode="lin" valueType="num">
                                      <p:cBhvr>
                                        <p:cTn id="13" dur="500" fill="hold"/>
                                        <p:tgtEl>
                                          <p:spTgt spid="67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2" presetID="2" grpId="3" fill="hold">
                                  <p:stCondLst>
                                    <p:cond delay="0"/>
                                  </p:stCondLst>
                                  <p:iterate type="el" backwards="0">
                                    <p:tmAbs val="0"/>
                                  </p:iterate>
                                  <p:childTnLst>
                                    <p:set>
                                      <p:cBhvr>
                                        <p:cTn id="17" fill="hold"/>
                                        <p:tgtEl>
                                          <p:spTgt spid="672"/>
                                        </p:tgtEl>
                                        <p:attrNameLst>
                                          <p:attrName>style.visibility</p:attrName>
                                        </p:attrNameLst>
                                      </p:cBhvr>
                                      <p:to>
                                        <p:strVal val="visible"/>
                                      </p:to>
                                    </p:set>
                                    <p:anim calcmode="lin" valueType="num">
                                      <p:cBhvr>
                                        <p:cTn id="18" dur="500" fill="hold"/>
                                        <p:tgtEl>
                                          <p:spTgt spid="672"/>
                                        </p:tgtEl>
                                        <p:attrNameLst>
                                          <p:attrName>ppt_x</p:attrName>
                                        </p:attrNameLst>
                                      </p:cBhvr>
                                      <p:tavLst>
                                        <p:tav tm="0">
                                          <p:val>
                                            <p:strVal val="1+#ppt_w/2"/>
                                          </p:val>
                                        </p:tav>
                                        <p:tav tm="100000">
                                          <p:val>
                                            <p:strVal val="#ppt_x"/>
                                          </p:val>
                                        </p:tav>
                                      </p:tavLst>
                                    </p:anim>
                                    <p:anim calcmode="lin" valueType="num">
                                      <p:cBhvr>
                                        <p:cTn id="19" dur="500" fill="hold"/>
                                        <p:tgtEl>
                                          <p:spTgt spid="67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ID="9" grpId="4" fill="hold">
                                  <p:stCondLst>
                                    <p:cond delay="0"/>
                                  </p:stCondLst>
                                  <p:iterate type="el" backwards="0">
                                    <p:tmAbs val="0"/>
                                  </p:iterate>
                                  <p:childTnLst>
                                    <p:set>
                                      <p:cBhvr>
                                        <p:cTn id="23" fill="hold"/>
                                        <p:tgtEl>
                                          <p:spTgt spid="674"/>
                                        </p:tgtEl>
                                        <p:attrNameLst>
                                          <p:attrName>style.visibility</p:attrName>
                                        </p:attrNameLst>
                                      </p:cBhvr>
                                      <p:to>
                                        <p:strVal val="visible"/>
                                      </p:to>
                                    </p:set>
                                    <p:animEffect filter="dissolve" transition="in">
                                      <p:cBhvr>
                                        <p:cTn id="24" dur="500"/>
                                        <p:tgtEl>
                                          <p:spTgt spid="674"/>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4" presetID="2" grpId="5" fill="hold">
                                  <p:stCondLst>
                                    <p:cond delay="0"/>
                                  </p:stCondLst>
                                  <p:iterate type="el" backwards="0">
                                    <p:tmAbs val="0"/>
                                  </p:iterate>
                                  <p:childTnLst>
                                    <p:set>
                                      <p:cBhvr>
                                        <p:cTn id="28" fill="hold"/>
                                        <p:tgtEl>
                                          <p:spTgt spid="678"/>
                                        </p:tgtEl>
                                        <p:attrNameLst>
                                          <p:attrName>style.visibility</p:attrName>
                                        </p:attrNameLst>
                                      </p:cBhvr>
                                      <p:to>
                                        <p:strVal val="visible"/>
                                      </p:to>
                                    </p:set>
                                    <p:anim calcmode="lin" valueType="num">
                                      <p:cBhvr>
                                        <p:cTn id="29" dur="500" fill="hold"/>
                                        <p:tgtEl>
                                          <p:spTgt spid="678"/>
                                        </p:tgtEl>
                                        <p:attrNameLst>
                                          <p:attrName>ppt_x</p:attrName>
                                        </p:attrNameLst>
                                      </p:cBhvr>
                                      <p:tavLst>
                                        <p:tav tm="0">
                                          <p:val>
                                            <p:strVal val="#ppt_x"/>
                                          </p:val>
                                        </p:tav>
                                        <p:tav tm="100000">
                                          <p:val>
                                            <p:strVal val="#ppt_x"/>
                                          </p:val>
                                        </p:tav>
                                      </p:tavLst>
                                    </p:anim>
                                    <p:anim calcmode="lin" valueType="num">
                                      <p:cBhvr>
                                        <p:cTn id="30" dur="500" fill="hold"/>
                                        <p:tgtEl>
                                          <p:spTgt spid="67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Subtype="4" presetID="2" grpId="6" fill="hold">
                                  <p:stCondLst>
                                    <p:cond delay="0"/>
                                  </p:stCondLst>
                                  <p:iterate type="el" backwards="0">
                                    <p:tmAbs val="0"/>
                                  </p:iterate>
                                  <p:childTnLst>
                                    <p:set>
                                      <p:cBhvr>
                                        <p:cTn id="34" fill="hold"/>
                                        <p:tgtEl>
                                          <p:spTgt spid="682"/>
                                        </p:tgtEl>
                                        <p:attrNameLst>
                                          <p:attrName>style.visibility</p:attrName>
                                        </p:attrNameLst>
                                      </p:cBhvr>
                                      <p:to>
                                        <p:strVal val="visible"/>
                                      </p:to>
                                    </p:set>
                                    <p:anim calcmode="lin" valueType="num">
                                      <p:cBhvr>
                                        <p:cTn id="35" dur="500" fill="hold"/>
                                        <p:tgtEl>
                                          <p:spTgt spid="682"/>
                                        </p:tgtEl>
                                        <p:attrNameLst>
                                          <p:attrName>ppt_x</p:attrName>
                                        </p:attrNameLst>
                                      </p:cBhvr>
                                      <p:tavLst>
                                        <p:tav tm="0">
                                          <p:val>
                                            <p:strVal val="#ppt_x"/>
                                          </p:val>
                                        </p:tav>
                                        <p:tav tm="100000">
                                          <p:val>
                                            <p:strVal val="#ppt_x"/>
                                          </p:val>
                                        </p:tav>
                                      </p:tavLst>
                                    </p:anim>
                                    <p:anim calcmode="lin" valueType="num">
                                      <p:cBhvr>
                                        <p:cTn id="36" dur="500" fill="hold"/>
                                        <p:tgtEl>
                                          <p:spTgt spid="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74" grpId="4"/>
      <p:bldP build="whole" bldLvl="1" animBg="1" rev="0" advAuto="0" spid="678" grpId="5"/>
      <p:bldP build="whole" bldLvl="1" animBg="1" rev="0" advAuto="0" spid="682" grpId="6"/>
      <p:bldP build="whole" bldLvl="1" animBg="1" rev="0" advAuto="0" spid="671" grpId="1"/>
      <p:bldP build="whole" bldLvl="1" animBg="1" rev="0" advAuto="0" spid="672" grpId="3"/>
      <p:bldP build="whole" bldLvl="1" animBg="1" rev="0" advAuto="0" spid="673" grpId="2"/>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4" name="Полилиния 27"/>
          <p:cNvSpPr/>
          <p:nvPr/>
        </p:nvSpPr>
        <p:spPr>
          <a:xfrm rot="18900000">
            <a:off x="-8991965" y="-4215355"/>
            <a:ext cx="25449019" cy="113292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5903"/>
                </a:moveTo>
                <a:lnTo>
                  <a:pt x="21600" y="21600"/>
                </a:lnTo>
                <a:lnTo>
                  <a:pt x="7080" y="21600"/>
                </a:lnTo>
                <a:lnTo>
                  <a:pt x="7080" y="15903"/>
                </a:lnTo>
                <a:close/>
                <a:moveTo>
                  <a:pt x="18060" y="7952"/>
                </a:moveTo>
                <a:lnTo>
                  <a:pt x="18060" y="13648"/>
                </a:lnTo>
                <a:lnTo>
                  <a:pt x="3540" y="13648"/>
                </a:lnTo>
                <a:lnTo>
                  <a:pt x="3540" y="7952"/>
                </a:lnTo>
                <a:close/>
                <a:moveTo>
                  <a:pt x="14520" y="0"/>
                </a:moveTo>
                <a:lnTo>
                  <a:pt x="14520" y="5697"/>
                </a:lnTo>
                <a:lnTo>
                  <a:pt x="0" y="5697"/>
                </a:lnTo>
                <a:lnTo>
                  <a:pt x="0" y="0"/>
                </a:lnTo>
                <a:close/>
              </a:path>
            </a:pathLst>
          </a:custGeom>
          <a:gradFill>
            <a:gsLst>
              <a:gs pos="0">
                <a:srgbClr val="EBECEB"/>
              </a:gs>
              <a:gs pos="79000">
                <a:srgbClr val="FFFFFF"/>
              </a:gs>
            </a:gsLst>
            <a:lin ang="7799999"/>
          </a:gra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85" name="Прямоугольный треугольник 43"/>
          <p:cNvSpPr/>
          <p:nvPr/>
        </p:nvSpPr>
        <p:spPr>
          <a:xfrm rot="13500000">
            <a:off x="-1750551" y="7944564"/>
            <a:ext cx="3248528" cy="32485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grpSp>
        <p:nvGrpSpPr>
          <p:cNvPr id="690" name="Группа 2"/>
          <p:cNvGrpSpPr/>
          <p:nvPr/>
        </p:nvGrpSpPr>
        <p:grpSpPr>
          <a:xfrm>
            <a:off x="9946886" y="5485245"/>
            <a:ext cx="12400158" cy="6306083"/>
            <a:chOff x="0" y="0"/>
            <a:chExt cx="12400157" cy="6306082"/>
          </a:xfrm>
        </p:grpSpPr>
        <p:grpSp>
          <p:nvGrpSpPr>
            <p:cNvPr id="688" name="Группа 1"/>
            <p:cNvGrpSpPr/>
            <p:nvPr/>
          </p:nvGrpSpPr>
          <p:grpSpPr>
            <a:xfrm>
              <a:off x="22301" y="0"/>
              <a:ext cx="1844672" cy="2388675"/>
              <a:chOff x="0" y="-2"/>
              <a:chExt cx="1844670" cy="2388674"/>
            </a:xfrm>
          </p:grpSpPr>
          <p:sp>
            <p:nvSpPr>
              <p:cNvPr id="686" name="Кружок"/>
              <p:cNvSpPr/>
              <p:nvPr/>
            </p:nvSpPr>
            <p:spPr>
              <a:xfrm>
                <a:off x="547029" y="1088401"/>
                <a:ext cx="207783" cy="207783"/>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687" name="Фигура"/>
              <p:cNvSpPr/>
              <p:nvPr/>
            </p:nvSpPr>
            <p:spPr>
              <a:xfrm>
                <a:off x="-1" y="-3"/>
                <a:ext cx="1844672" cy="2388676"/>
              </a:xfrm>
              <a:custGeom>
                <a:avLst/>
                <a:gdLst/>
                <a:ahLst/>
                <a:cxnLst>
                  <a:cxn ang="0">
                    <a:pos x="wd2" y="hd2"/>
                  </a:cxn>
                  <a:cxn ang="5400000">
                    <a:pos x="wd2" y="hd2"/>
                  </a:cxn>
                  <a:cxn ang="10800000">
                    <a:pos x="wd2" y="hd2"/>
                  </a:cxn>
                  <a:cxn ang="16200000">
                    <a:pos x="wd2" y="hd2"/>
                  </a:cxn>
                </a:cxnLst>
                <a:rect l="0" t="0" r="r" b="b"/>
                <a:pathLst>
                  <a:path w="21470" h="21594" fill="norm" stroke="1" extrusionOk="0">
                    <a:moveTo>
                      <a:pt x="7586" y="0"/>
                    </a:moveTo>
                    <a:lnTo>
                      <a:pt x="7586" y="2413"/>
                    </a:lnTo>
                    <a:cubicBezTo>
                      <a:pt x="10501" y="2424"/>
                      <a:pt x="13145" y="3330"/>
                      <a:pt x="15084" y="4797"/>
                    </a:cubicBezTo>
                    <a:cubicBezTo>
                      <a:pt x="17047" y="6283"/>
                      <a:pt x="18288" y="8346"/>
                      <a:pt x="18338" y="10639"/>
                    </a:cubicBezTo>
                    <a:cubicBezTo>
                      <a:pt x="18441" y="15308"/>
                      <a:pt x="13593" y="19136"/>
                      <a:pt x="7580" y="19132"/>
                    </a:cubicBezTo>
                    <a:lnTo>
                      <a:pt x="7573" y="21580"/>
                    </a:lnTo>
                    <a:cubicBezTo>
                      <a:pt x="15345" y="21568"/>
                      <a:pt x="21600" y="16617"/>
                      <a:pt x="21468" y="10581"/>
                    </a:cubicBezTo>
                    <a:cubicBezTo>
                      <a:pt x="21403" y="7644"/>
                      <a:pt x="19829" y="4999"/>
                      <a:pt x="17326" y="3087"/>
                    </a:cubicBezTo>
                    <a:cubicBezTo>
                      <a:pt x="14817" y="1172"/>
                      <a:pt x="11376" y="-6"/>
                      <a:pt x="7586" y="0"/>
                    </a:cubicBezTo>
                    <a:close/>
                    <a:moveTo>
                      <a:pt x="7592" y="4930"/>
                    </a:moveTo>
                    <a:cubicBezTo>
                      <a:pt x="3452" y="4919"/>
                      <a:pt x="75" y="7500"/>
                      <a:pt x="24" y="10716"/>
                    </a:cubicBezTo>
                    <a:lnTo>
                      <a:pt x="0" y="21587"/>
                    </a:lnTo>
                    <a:lnTo>
                      <a:pt x="3159" y="21594"/>
                    </a:lnTo>
                    <a:lnTo>
                      <a:pt x="3164" y="10690"/>
                    </a:lnTo>
                    <a:cubicBezTo>
                      <a:pt x="3206" y="9780"/>
                      <a:pt x="3706" y="8920"/>
                      <a:pt x="4558" y="8294"/>
                    </a:cubicBezTo>
                    <a:cubicBezTo>
                      <a:pt x="5372" y="7696"/>
                      <a:pt x="6447" y="7358"/>
                      <a:pt x="7567" y="7366"/>
                    </a:cubicBezTo>
                    <a:cubicBezTo>
                      <a:pt x="9948" y="7383"/>
                      <a:pt x="11906" y="8837"/>
                      <a:pt x="11981" y="10679"/>
                    </a:cubicBezTo>
                    <a:cubicBezTo>
                      <a:pt x="12059" y="12609"/>
                      <a:pt x="10053" y="14202"/>
                      <a:pt x="7567" y="14186"/>
                    </a:cubicBezTo>
                    <a:lnTo>
                      <a:pt x="7567" y="16634"/>
                    </a:lnTo>
                    <a:cubicBezTo>
                      <a:pt x="9320" y="16630"/>
                      <a:pt x="11018" y="16156"/>
                      <a:pt x="12373" y="15292"/>
                    </a:cubicBezTo>
                    <a:cubicBezTo>
                      <a:pt x="13977" y="14268"/>
                      <a:pt x="14981" y="12778"/>
                      <a:pt x="15098" y="11169"/>
                    </a:cubicBezTo>
                    <a:cubicBezTo>
                      <a:pt x="15221" y="9490"/>
                      <a:pt x="14451" y="7934"/>
                      <a:pt x="13094" y="6796"/>
                    </a:cubicBezTo>
                    <a:cubicBezTo>
                      <a:pt x="11726" y="5649"/>
                      <a:pt x="9770" y="4935"/>
                      <a:pt x="7592" y="4930"/>
                    </a:cubicBezTo>
                    <a:close/>
                  </a:path>
                </a:pathLst>
              </a:custGeom>
              <a:solidFill>
                <a:srgbClr val="D5D2D8"/>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sp>
          <p:nvSpPr>
            <p:cNvPr id="689" name="Project…"/>
            <p:cNvSpPr txBox="1"/>
            <p:nvPr/>
          </p:nvSpPr>
          <p:spPr>
            <a:xfrm>
              <a:off x="0" y="1861082"/>
              <a:ext cx="12400158" cy="4445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14000">
                  <a:solidFill>
                    <a:srgbClr val="252625"/>
                  </a:solidFill>
                  <a:latin typeface="Montserrat Bold"/>
                  <a:ea typeface="Montserrat Bold"/>
                  <a:cs typeface="Montserrat Bold"/>
                  <a:sym typeface="Montserrat Bold"/>
                </a:defRPr>
              </a:pPr>
              <a:r>
                <a:rPr sz="12000"/>
                <a:t>Благодарим</a:t>
              </a:r>
              <a:r>
                <a:t> </a:t>
              </a:r>
              <a:r>
                <a:rPr>
                  <a:solidFill>
                    <a:srgbClr val="3F57D1"/>
                  </a:solidFill>
                </a:rPr>
                <a:t>ви!</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690"/>
                                        </p:tgtEl>
                                        <p:attrNameLst>
                                          <p:attrName>style.visibility</p:attrName>
                                        </p:attrNameLst>
                                      </p:cBhvr>
                                      <p:to>
                                        <p:strVal val="visible"/>
                                      </p:to>
                                    </p:set>
                                    <p:animEffect filter="dissolve" transition="in">
                                      <p:cBhvr>
                                        <p:cTn id="7" dur="500"/>
                                        <p:tgtEl>
                                          <p:spTgt spid="69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685"/>
                                        </p:tgtEl>
                                        <p:attrNameLst>
                                          <p:attrName>style.visibility</p:attrName>
                                        </p:attrNameLst>
                                      </p:cBhvr>
                                      <p:to>
                                        <p:strVal val="visible"/>
                                      </p:to>
                                    </p:set>
                                    <p:anim calcmode="lin" valueType="num">
                                      <p:cBhvr>
                                        <p:cTn id="12" dur="500" fill="hold"/>
                                        <p:tgtEl>
                                          <p:spTgt spid="685"/>
                                        </p:tgtEl>
                                        <p:attrNameLst>
                                          <p:attrName>ppt_x</p:attrName>
                                        </p:attrNameLst>
                                      </p:cBhvr>
                                      <p:tavLst>
                                        <p:tav tm="0">
                                          <p:val>
                                            <p:strVal val="0-#ppt_w/2"/>
                                          </p:val>
                                        </p:tav>
                                        <p:tav tm="100000">
                                          <p:val>
                                            <p:strVal val="#ppt_x"/>
                                          </p:val>
                                        </p:tav>
                                      </p:tavLst>
                                    </p:anim>
                                    <p:anim calcmode="lin" valueType="num">
                                      <p:cBhvr>
                                        <p:cTn id="13" dur="500" fill="hold"/>
                                        <p:tgtEl>
                                          <p:spTgt spid="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85" grpId="2"/>
      <p:bldP build="whole" bldLvl="1" animBg="1" rev="0" advAuto="0" spid="690"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2" name="Прямоугольный треугольник 13"/>
          <p:cNvSpPr/>
          <p:nvPr/>
        </p:nvSpPr>
        <p:spPr>
          <a:xfrm rot="2700000">
            <a:off x="16083063" y="461646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ECB7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3" name="Прямоугольный треугольник 14"/>
          <p:cNvSpPr/>
          <p:nvPr/>
        </p:nvSpPr>
        <p:spPr>
          <a:xfrm rot="13500000">
            <a:off x="12647421" y="8270346"/>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4" name="Прямоугольный треугольник 15"/>
          <p:cNvSpPr/>
          <p:nvPr/>
        </p:nvSpPr>
        <p:spPr>
          <a:xfrm rot="13500000">
            <a:off x="10929597" y="962576"/>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5" name="Прямоугольный треугольник 16"/>
          <p:cNvSpPr/>
          <p:nvPr/>
        </p:nvSpPr>
        <p:spPr>
          <a:xfrm rot="2700000">
            <a:off x="18759352" y="-2691309"/>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6" name="Прямоугольный треугольник 17"/>
          <p:cNvSpPr/>
          <p:nvPr/>
        </p:nvSpPr>
        <p:spPr>
          <a:xfrm rot="2700000">
            <a:off x="17800879" y="11924231"/>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3F57D1"/>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7" name="Прямоугольный треугольник 18"/>
          <p:cNvSpPr/>
          <p:nvPr/>
        </p:nvSpPr>
        <p:spPr>
          <a:xfrm rot="13500000">
            <a:off x="18892761" y="639940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C851C0"/>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8" name="Прямоугольный треугольник 19"/>
          <p:cNvSpPr/>
          <p:nvPr/>
        </p:nvSpPr>
        <p:spPr>
          <a:xfrm rot="2700000">
            <a:off x="9927598" y="11745710"/>
            <a:ext cx="4858730" cy="48587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699" name="Прямоугольный треугольник 21"/>
          <p:cNvSpPr/>
          <p:nvPr/>
        </p:nvSpPr>
        <p:spPr>
          <a:xfrm rot="13500000">
            <a:off x="18892763" y="-820364"/>
            <a:ext cx="4858730" cy="4858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sp>
        <p:nvSpPr>
          <p:cNvPr id="700" name="Прямоугольный треугольник 22"/>
          <p:cNvSpPr/>
          <p:nvPr/>
        </p:nvSpPr>
        <p:spPr>
          <a:xfrm rot="2700000">
            <a:off x="10796188" y="-3106205"/>
            <a:ext cx="4858730" cy="4858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EBECEB"/>
          </a:solidFill>
          <a:ln w="12700">
            <a:miter lim="400000"/>
          </a:ln>
        </p:spPr>
        <p:txBody>
          <a:bodyPr lIns="0" tIns="0" rIns="0" bIns="0" anchor="ctr"/>
          <a:lstStyle/>
          <a:p>
            <a:pPr>
              <a:defRPr b="0" sz="3200">
                <a:solidFill>
                  <a:srgbClr val="FFFFFF"/>
                </a:solidFill>
                <a:latin typeface="+mn-lt"/>
                <a:ea typeface="+mn-ea"/>
                <a:cs typeface="+mn-cs"/>
                <a:sym typeface="Helvetica Neue Medium"/>
              </a:defRPr>
            </a:pPr>
          </a:p>
        </p:txBody>
      </p:sp>
      <p:grpSp>
        <p:nvGrpSpPr>
          <p:cNvPr id="705" name="Группа 3"/>
          <p:cNvGrpSpPr/>
          <p:nvPr/>
        </p:nvGrpSpPr>
        <p:grpSpPr>
          <a:xfrm>
            <a:off x="2109054" y="4302180"/>
            <a:ext cx="10646276" cy="6020718"/>
            <a:chOff x="659" y="0"/>
            <a:chExt cx="10646274" cy="6020716"/>
          </a:xfrm>
        </p:grpSpPr>
        <p:grpSp>
          <p:nvGrpSpPr>
            <p:cNvPr id="703" name="Группа 1"/>
            <p:cNvGrpSpPr/>
            <p:nvPr/>
          </p:nvGrpSpPr>
          <p:grpSpPr>
            <a:xfrm>
              <a:off x="89209" y="0"/>
              <a:ext cx="1844671" cy="2388675"/>
              <a:chOff x="0" y="-2"/>
              <a:chExt cx="1844670" cy="2388674"/>
            </a:xfrm>
          </p:grpSpPr>
          <p:sp>
            <p:nvSpPr>
              <p:cNvPr id="701" name="Кружок"/>
              <p:cNvSpPr/>
              <p:nvPr/>
            </p:nvSpPr>
            <p:spPr>
              <a:xfrm>
                <a:off x="547029" y="1088401"/>
                <a:ext cx="207783" cy="207783"/>
              </a:xfrm>
              <a:prstGeom prst="ellipse">
                <a:avLst/>
              </a:prstGeom>
              <a:solidFill>
                <a:srgbClr val="EBECEB"/>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sp>
            <p:nvSpPr>
              <p:cNvPr id="702" name="Фигура"/>
              <p:cNvSpPr/>
              <p:nvPr/>
            </p:nvSpPr>
            <p:spPr>
              <a:xfrm>
                <a:off x="-1" y="-3"/>
                <a:ext cx="1844672" cy="2388676"/>
              </a:xfrm>
              <a:custGeom>
                <a:avLst/>
                <a:gdLst/>
                <a:ahLst/>
                <a:cxnLst>
                  <a:cxn ang="0">
                    <a:pos x="wd2" y="hd2"/>
                  </a:cxn>
                  <a:cxn ang="5400000">
                    <a:pos x="wd2" y="hd2"/>
                  </a:cxn>
                  <a:cxn ang="10800000">
                    <a:pos x="wd2" y="hd2"/>
                  </a:cxn>
                  <a:cxn ang="16200000">
                    <a:pos x="wd2" y="hd2"/>
                  </a:cxn>
                </a:cxnLst>
                <a:rect l="0" t="0" r="r" b="b"/>
                <a:pathLst>
                  <a:path w="21470" h="21594" fill="norm" stroke="1" extrusionOk="0">
                    <a:moveTo>
                      <a:pt x="7586" y="0"/>
                    </a:moveTo>
                    <a:lnTo>
                      <a:pt x="7586" y="2413"/>
                    </a:lnTo>
                    <a:cubicBezTo>
                      <a:pt x="10501" y="2424"/>
                      <a:pt x="13145" y="3330"/>
                      <a:pt x="15084" y="4797"/>
                    </a:cubicBezTo>
                    <a:cubicBezTo>
                      <a:pt x="17047" y="6283"/>
                      <a:pt x="18288" y="8346"/>
                      <a:pt x="18338" y="10639"/>
                    </a:cubicBezTo>
                    <a:cubicBezTo>
                      <a:pt x="18441" y="15308"/>
                      <a:pt x="13593" y="19136"/>
                      <a:pt x="7580" y="19132"/>
                    </a:cubicBezTo>
                    <a:lnTo>
                      <a:pt x="7573" y="21580"/>
                    </a:lnTo>
                    <a:cubicBezTo>
                      <a:pt x="15345" y="21568"/>
                      <a:pt x="21600" y="16617"/>
                      <a:pt x="21468" y="10581"/>
                    </a:cubicBezTo>
                    <a:cubicBezTo>
                      <a:pt x="21403" y="7644"/>
                      <a:pt x="19829" y="4999"/>
                      <a:pt x="17326" y="3087"/>
                    </a:cubicBezTo>
                    <a:cubicBezTo>
                      <a:pt x="14817" y="1172"/>
                      <a:pt x="11376" y="-6"/>
                      <a:pt x="7586" y="0"/>
                    </a:cubicBezTo>
                    <a:close/>
                    <a:moveTo>
                      <a:pt x="7592" y="4930"/>
                    </a:moveTo>
                    <a:cubicBezTo>
                      <a:pt x="3452" y="4919"/>
                      <a:pt x="75" y="7500"/>
                      <a:pt x="24" y="10716"/>
                    </a:cubicBezTo>
                    <a:lnTo>
                      <a:pt x="0" y="21587"/>
                    </a:lnTo>
                    <a:lnTo>
                      <a:pt x="3159" y="21594"/>
                    </a:lnTo>
                    <a:lnTo>
                      <a:pt x="3164" y="10690"/>
                    </a:lnTo>
                    <a:cubicBezTo>
                      <a:pt x="3206" y="9780"/>
                      <a:pt x="3706" y="8920"/>
                      <a:pt x="4558" y="8294"/>
                    </a:cubicBezTo>
                    <a:cubicBezTo>
                      <a:pt x="5372" y="7696"/>
                      <a:pt x="6447" y="7358"/>
                      <a:pt x="7567" y="7366"/>
                    </a:cubicBezTo>
                    <a:cubicBezTo>
                      <a:pt x="9948" y="7383"/>
                      <a:pt x="11906" y="8837"/>
                      <a:pt x="11981" y="10679"/>
                    </a:cubicBezTo>
                    <a:cubicBezTo>
                      <a:pt x="12059" y="12609"/>
                      <a:pt x="10053" y="14202"/>
                      <a:pt x="7567" y="14186"/>
                    </a:cubicBezTo>
                    <a:lnTo>
                      <a:pt x="7567" y="16634"/>
                    </a:lnTo>
                    <a:cubicBezTo>
                      <a:pt x="9320" y="16630"/>
                      <a:pt x="11018" y="16156"/>
                      <a:pt x="12373" y="15292"/>
                    </a:cubicBezTo>
                    <a:cubicBezTo>
                      <a:pt x="13977" y="14268"/>
                      <a:pt x="14981" y="12778"/>
                      <a:pt x="15098" y="11169"/>
                    </a:cubicBezTo>
                    <a:cubicBezTo>
                      <a:pt x="15221" y="9490"/>
                      <a:pt x="14451" y="7934"/>
                      <a:pt x="13094" y="6796"/>
                    </a:cubicBezTo>
                    <a:cubicBezTo>
                      <a:pt x="11726" y="5649"/>
                      <a:pt x="9770" y="4935"/>
                      <a:pt x="7592" y="4930"/>
                    </a:cubicBezTo>
                    <a:close/>
                  </a:path>
                </a:pathLst>
              </a:custGeom>
              <a:solidFill>
                <a:srgbClr val="D5D2D8"/>
              </a:solidFill>
              <a:ln w="12700" cap="flat">
                <a:noFill/>
                <a:miter lim="400000"/>
              </a:ln>
              <a:effectLst/>
            </p:spPr>
            <p:txBody>
              <a:bodyPr wrap="square" lIns="0" tIns="0" rIns="0" bIns="0" numCol="1" anchor="ctr">
                <a:noAutofit/>
              </a:bodyPr>
              <a:lstStyle/>
              <a:p>
                <a:pPr>
                  <a:defRPr b="0" sz="3200">
                    <a:solidFill>
                      <a:srgbClr val="FFFFFF"/>
                    </a:solidFill>
                    <a:latin typeface="+mn-lt"/>
                    <a:ea typeface="+mn-ea"/>
                    <a:cs typeface="+mn-cs"/>
                    <a:sym typeface="Helvetica Neue Medium"/>
                  </a:defRPr>
                </a:pPr>
              </a:p>
            </p:txBody>
          </p:sp>
        </p:grpSp>
        <p:sp>
          <p:nvSpPr>
            <p:cNvPr id="704" name="Группа 2"/>
            <p:cNvSpPr txBox="1"/>
            <p:nvPr/>
          </p:nvSpPr>
          <p:spPr>
            <a:xfrm>
              <a:off x="659" y="2210716"/>
              <a:ext cx="10646276" cy="3810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l">
                <a:defRPr b="0" cap="all" sz="12000">
                  <a:solidFill>
                    <a:srgbClr val="252625"/>
                  </a:solidFill>
                  <a:latin typeface="Montserrat Bold"/>
                  <a:ea typeface="Montserrat Bold"/>
                  <a:cs typeface="Montserrat Bold"/>
                  <a:sym typeface="Montserrat Bold"/>
                </a:defRPr>
              </a:pPr>
              <a:r>
                <a:t>Дани и </a:t>
              </a:r>
              <a:r>
                <a:rPr>
                  <a:solidFill>
                    <a:srgbClr val="3F57D1"/>
                  </a:solidFill>
                </a:rPr>
                <a:t>Стеф!</a:t>
              </a:r>
            </a:p>
          </p:txBody>
        </p:sp>
      </p:grpSp>
    </p:spTree>
  </p:cSld>
  <p:clrMapOvr>
    <a:masterClrMapping/>
  </p:clrMapOvr>
  <mc:AlternateContent xmlns:mc="http://schemas.openxmlformats.org/markup-compatibility/2006">
    <mc:Choice xmlns:p14="http://schemas.microsoft.com/office/powerpoint/2010/main" Requires="p14">
      <p:transition spd="slow" advClick="1"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05"/>
                                        </p:tgtEl>
                                        <p:attrNameLst>
                                          <p:attrName>style.visibility</p:attrName>
                                        </p:attrNameLst>
                                      </p:cBhvr>
                                      <p:to>
                                        <p:strVal val="visible"/>
                                      </p:to>
                                    </p:set>
                                    <p:anim calcmode="lin" valueType="num">
                                      <p:cBhvr>
                                        <p:cTn id="7" dur="500" fill="hold"/>
                                        <p:tgtEl>
                                          <p:spTgt spid="705"/>
                                        </p:tgtEl>
                                        <p:attrNameLst>
                                          <p:attrName>ppt_x</p:attrName>
                                        </p:attrNameLst>
                                      </p:cBhvr>
                                      <p:tavLst>
                                        <p:tav tm="0">
                                          <p:val>
                                            <p:strVal val="0-#ppt_w/2"/>
                                          </p:val>
                                        </p:tav>
                                        <p:tav tm="100000">
                                          <p:val>
                                            <p:strVal val="#ppt_x"/>
                                          </p:val>
                                        </p:tav>
                                      </p:tavLst>
                                    </p:anim>
                                    <p:anim calcmode="lin" valueType="num">
                                      <p:cBhvr>
                                        <p:cTn id="8" dur="500" fill="hold"/>
                                        <p:tgtEl>
                                          <p:spTgt spid="7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694"/>
                                        </p:tgtEl>
                                        <p:attrNameLst>
                                          <p:attrName>style.visibility</p:attrName>
                                        </p:attrNameLst>
                                      </p:cBhvr>
                                      <p:to>
                                        <p:strVal val="visible"/>
                                      </p:to>
                                    </p:set>
                                    <p:animEffect filter="dissolve" transition="in">
                                      <p:cBhvr>
                                        <p:cTn id="13" dur="500"/>
                                        <p:tgtEl>
                                          <p:spTgt spid="694"/>
                                        </p:tgtEl>
                                      </p:cBhvr>
                                    </p:animEffect>
                                  </p:childTnLst>
                                </p:cTn>
                              </p:par>
                            </p:childTnLst>
                          </p:cTn>
                        </p:par>
                        <p:par>
                          <p:cTn id="14" fill="hold">
                            <p:stCondLst>
                              <p:cond delay="500"/>
                            </p:stCondLst>
                            <p:childTnLst>
                              <p:par>
                                <p:cTn id="15" presetClass="entr" nodeType="afterEffect" presetID="9" grpId="3" fill="hold">
                                  <p:stCondLst>
                                    <p:cond delay="0"/>
                                  </p:stCondLst>
                                  <p:iterate type="el" backwards="0">
                                    <p:tmAbs val="0"/>
                                  </p:iterate>
                                  <p:childTnLst>
                                    <p:set>
                                      <p:cBhvr>
                                        <p:cTn id="16" fill="hold"/>
                                        <p:tgtEl>
                                          <p:spTgt spid="697"/>
                                        </p:tgtEl>
                                        <p:attrNameLst>
                                          <p:attrName>style.visibility</p:attrName>
                                        </p:attrNameLst>
                                      </p:cBhvr>
                                      <p:to>
                                        <p:strVal val="visible"/>
                                      </p:to>
                                    </p:set>
                                    <p:animEffect filter="dissolve" transition="in">
                                      <p:cBhvr>
                                        <p:cTn id="17" dur="500"/>
                                        <p:tgtEl>
                                          <p:spTgt spid="697"/>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9" grpId="4" fill="hold">
                                  <p:stCondLst>
                                    <p:cond delay="0"/>
                                  </p:stCondLst>
                                  <p:iterate type="el" backwards="0">
                                    <p:tmAbs val="0"/>
                                  </p:iterate>
                                  <p:childTnLst>
                                    <p:set>
                                      <p:cBhvr>
                                        <p:cTn id="21" fill="hold"/>
                                        <p:tgtEl>
                                          <p:spTgt spid="693"/>
                                        </p:tgtEl>
                                        <p:attrNameLst>
                                          <p:attrName>style.visibility</p:attrName>
                                        </p:attrNameLst>
                                      </p:cBhvr>
                                      <p:to>
                                        <p:strVal val="visible"/>
                                      </p:to>
                                    </p:set>
                                    <p:animEffect filter="dissolve" transition="in">
                                      <p:cBhvr>
                                        <p:cTn id="22" dur="500"/>
                                        <p:tgtEl>
                                          <p:spTgt spid="693"/>
                                        </p:tgtEl>
                                      </p:cBhvr>
                                    </p:animEffect>
                                  </p:childTnLst>
                                </p:cTn>
                              </p:par>
                            </p:childTnLst>
                          </p:cTn>
                        </p:par>
                        <p:par>
                          <p:cTn id="23" fill="hold">
                            <p:stCondLst>
                              <p:cond delay="500"/>
                            </p:stCondLst>
                            <p:childTnLst>
                              <p:par>
                                <p:cTn id="24" presetClass="entr" nodeType="afterEffect" presetID="9" grpId="5" fill="hold">
                                  <p:stCondLst>
                                    <p:cond delay="0"/>
                                  </p:stCondLst>
                                  <p:iterate type="el" backwards="0">
                                    <p:tmAbs val="0"/>
                                  </p:iterate>
                                  <p:childTnLst>
                                    <p:set>
                                      <p:cBhvr>
                                        <p:cTn id="25" fill="hold"/>
                                        <p:tgtEl>
                                          <p:spTgt spid="695"/>
                                        </p:tgtEl>
                                        <p:attrNameLst>
                                          <p:attrName>style.visibility</p:attrName>
                                        </p:attrNameLst>
                                      </p:cBhvr>
                                      <p:to>
                                        <p:strVal val="visible"/>
                                      </p:to>
                                    </p:set>
                                    <p:animEffect filter="dissolve" transition="in">
                                      <p:cBhvr>
                                        <p:cTn id="26" dur="500"/>
                                        <p:tgtEl>
                                          <p:spTgt spid="695"/>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9" grpId="6" fill="hold">
                                  <p:stCondLst>
                                    <p:cond delay="0"/>
                                  </p:stCondLst>
                                  <p:iterate type="el" backwards="0">
                                    <p:tmAbs val="0"/>
                                  </p:iterate>
                                  <p:childTnLst>
                                    <p:set>
                                      <p:cBhvr>
                                        <p:cTn id="30" fill="hold"/>
                                        <p:tgtEl>
                                          <p:spTgt spid="692"/>
                                        </p:tgtEl>
                                        <p:attrNameLst>
                                          <p:attrName>style.visibility</p:attrName>
                                        </p:attrNameLst>
                                      </p:cBhvr>
                                      <p:to>
                                        <p:strVal val="visible"/>
                                      </p:to>
                                    </p:set>
                                    <p:animEffect filter="dissolve" transition="in">
                                      <p:cBhvr>
                                        <p:cTn id="31" dur="500"/>
                                        <p:tgtEl>
                                          <p:spTgt spid="692"/>
                                        </p:tgtEl>
                                      </p:cBhvr>
                                    </p:animEffect>
                                  </p:childTnLst>
                                </p:cTn>
                              </p:par>
                            </p:childTnLst>
                          </p:cTn>
                        </p:par>
                        <p:par>
                          <p:cTn id="32" fill="hold">
                            <p:stCondLst>
                              <p:cond delay="500"/>
                            </p:stCondLst>
                            <p:childTnLst>
                              <p:par>
                                <p:cTn id="33" presetClass="entr" nodeType="afterEffect" presetID="9" grpId="7" fill="hold">
                                  <p:stCondLst>
                                    <p:cond delay="0"/>
                                  </p:stCondLst>
                                  <p:iterate type="el" backwards="0">
                                    <p:tmAbs val="0"/>
                                  </p:iterate>
                                  <p:childTnLst>
                                    <p:set>
                                      <p:cBhvr>
                                        <p:cTn id="34" fill="hold"/>
                                        <p:tgtEl>
                                          <p:spTgt spid="696"/>
                                        </p:tgtEl>
                                        <p:attrNameLst>
                                          <p:attrName>style.visibility</p:attrName>
                                        </p:attrNameLst>
                                      </p:cBhvr>
                                      <p:to>
                                        <p:strVal val="visible"/>
                                      </p:to>
                                    </p:set>
                                    <p:animEffect filter="dissolve" transition="in">
                                      <p:cBhvr>
                                        <p:cTn id="35" dur="500"/>
                                        <p:tgtEl>
                                          <p:spTgt spid="6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93" grpId="4"/>
      <p:bldP build="whole" bldLvl="1" animBg="1" rev="0" advAuto="0" spid="695" grpId="5"/>
      <p:bldP build="whole" bldLvl="1" animBg="1" rev="0" advAuto="0" spid="694" grpId="2"/>
      <p:bldP build="whole" bldLvl="1" animBg="1" rev="0" advAuto="0" spid="697" grpId="3"/>
      <p:bldP build="whole" bldLvl="1" animBg="1" rev="0" advAuto="0" spid="692" grpId="6"/>
      <p:bldP build="whole" bldLvl="1" animBg="1" rev="0" advAuto="0" spid="705" grpId="1"/>
      <p:bldP build="whole" bldLvl="1" animBg="1" rev="0" advAuto="0" spid="696" grpId="7"/>
    </p:bldLst>
  </p:timing>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
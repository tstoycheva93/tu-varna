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8" r:id="rId3"/>
    <p:sldId id="259" r:id="rId4"/>
    <p:sldId id="260" r:id="rId5"/>
    <p:sldId id="261" r:id="rId6"/>
    <p:sldId id="262" r:id="rId7"/>
    <p:sldId id="271" r:id="rId8"/>
    <p:sldId id="263" r:id="rId9"/>
    <p:sldId id="273" r:id="rId10"/>
    <p:sldId id="264" r:id="rId11"/>
    <p:sldId id="265" r:id="rId12"/>
    <p:sldId id="266" r:id="rId13"/>
    <p:sldId id="267" r:id="rId14"/>
    <p:sldId id="268" r:id="rId15"/>
    <p:sldId id="275" r:id="rId16"/>
    <p:sldId id="274" r:id="rId17"/>
    <p:sldId id="276" r:id="rId18"/>
    <p:sldId id="277" r:id="rId19"/>
    <p:sldId id="278" r:id="rId20"/>
    <p:sldId id="279" r:id="rId21"/>
    <p:sldId id="280" r:id="rId22"/>
    <p:sldId id="28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B09DE3C-FD18-4CA7-B5FB-377D77B325B8}" type="datetimeFigureOut">
              <a:rPr lang="en-US" smtClean="0"/>
              <a:t>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09DE3C-FD18-4CA7-B5FB-377D77B325B8}" type="datetimeFigureOut">
              <a:rPr lang="en-US" smtClean="0"/>
              <a:t>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09DE3C-FD18-4CA7-B5FB-377D77B325B8}" type="datetimeFigureOut">
              <a:rPr lang="en-US" smtClean="0"/>
              <a:t>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09DE3C-FD18-4CA7-B5FB-377D77B325B8}" type="datetimeFigureOut">
              <a:rPr lang="en-US" smtClean="0"/>
              <a:t>2/22/2019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B09DE3C-FD18-4CA7-B5FB-377D77B325B8}" type="datetimeFigureOut">
              <a:rPr lang="en-US" smtClean="0"/>
              <a:t>2/22/2019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B09DE3C-FD18-4CA7-B5FB-377D77B325B8}" type="datetimeFigureOut">
              <a:rPr lang="en-US" smtClean="0"/>
              <a:t>2/22/2019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09DE3C-FD18-4CA7-B5FB-377D77B325B8}" type="datetimeFigureOut">
              <a:rPr lang="en-US" smtClean="0"/>
              <a:t>2/22/2019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09DE3C-FD18-4CA7-B5FB-377D77B325B8}" type="datetimeFigureOut">
              <a:rPr lang="en-US" smtClean="0"/>
              <a:t>2/22/2019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14E61A-92AD-4D12-8898-5C2DC0D53FEF}"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0B09DE3C-FD18-4CA7-B5FB-377D77B325B8}" type="datetimeFigureOut">
              <a:rPr lang="en-US" smtClean="0"/>
              <a:t>2/22/2019</a:t>
            </a:fld>
            <a:endParaRPr lang="en-US"/>
          </a:p>
        </p:txBody>
      </p:sp>
      <p:sp>
        <p:nvSpPr>
          <p:cNvPr id="9" name="Slide Number Placeholder 8"/>
          <p:cNvSpPr>
            <a:spLocks noGrp="1"/>
          </p:cNvSpPr>
          <p:nvPr>
            <p:ph type="sldNum" sz="quarter" idx="11"/>
          </p:nvPr>
        </p:nvSpPr>
        <p:spPr/>
        <p:txBody>
          <a:bodyPr/>
          <a:lstStyle/>
          <a:p>
            <a:fld id="{0C14E61A-92AD-4D12-8898-5C2DC0D53FE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09DE3C-FD18-4CA7-B5FB-377D77B325B8}" type="datetimeFigureOut">
              <a:rPr lang="en-US" smtClean="0"/>
              <a:t>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09DE3C-FD18-4CA7-B5FB-377D77B325B8}" type="datetimeFigureOut">
              <a:rPr lang="en-US" smtClean="0"/>
              <a:t>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14E61A-92AD-4D12-8898-5C2DC0D53FE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0C14E61A-92AD-4D12-8898-5C2DC0D53FEF}"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0B09DE3C-FD18-4CA7-B5FB-377D77B325B8}" type="datetimeFigureOut">
              <a:rPr lang="en-US" smtClean="0"/>
              <a:t>2/22/2019</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295400"/>
            <a:ext cx="7162800" cy="3505200"/>
          </a:xfrm>
        </p:spPr>
        <p:txBody>
          <a:bodyPr>
            <a:noAutofit/>
          </a:bodyPr>
          <a:lstStyle/>
          <a:p>
            <a:pPr algn="ctr"/>
            <a:r>
              <a:rPr lang="bg-BG" sz="2400" b="1" dirty="0" smtClean="0">
                <a:latin typeface="Times New Roman" panose="02020603050405020304" pitchFamily="18" charset="0"/>
                <a:cs typeface="Times New Roman" panose="02020603050405020304" pitchFamily="18" charset="0"/>
              </a:rPr>
              <a:t>Тема </a:t>
            </a:r>
            <a:r>
              <a:rPr lang="en-US" sz="2400" b="1" dirty="0" smtClean="0">
                <a:latin typeface="Times New Roman" panose="02020603050405020304" pitchFamily="18" charset="0"/>
                <a:cs typeface="Times New Roman" panose="02020603050405020304" pitchFamily="18" charset="0"/>
              </a:rPr>
              <a:t>4</a:t>
            </a:r>
            <a:r>
              <a:rPr lang="bg-BG" sz="2400" b="1" dirty="0" smtClean="0">
                <a:latin typeface="Times New Roman" panose="02020603050405020304" pitchFamily="18" charset="0"/>
                <a:cs typeface="Times New Roman" panose="02020603050405020304" pitchFamily="18" charset="0"/>
              </a:rPr>
              <a:t> - Планиране на софтуерен проект. Планиране и балансиране на AGILE проект. Използване на минимален проектен план. Използване на готови образци за управление на проекти. Средства за планиране на софтуерния проект. Rolling wave планиране. Проектиране на WBS (Work Breakdown Structure) структура. Развитие на графика на софтуерния проект: метод на критичния път, PERT метод, диаграми на Gantt.</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52600" y="4800600"/>
            <a:ext cx="5712179" cy="1066800"/>
          </a:xfrm>
        </p:spPr>
        <p:txBody>
          <a:bodyPr>
            <a:normAutofit fontScale="92500" lnSpcReduction="10000"/>
          </a:bodyPr>
          <a:lstStyle/>
          <a:p>
            <a:pPr algn="ctr"/>
            <a:r>
              <a:rPr lang="bg-BG" dirty="0" smtClean="0"/>
              <a:t>Милена Карова</a:t>
            </a:r>
          </a:p>
          <a:p>
            <a:pPr algn="ctr"/>
            <a:r>
              <a:rPr lang="bg-BG" dirty="0" smtClean="0"/>
              <a:t>Катед</a:t>
            </a:r>
            <a:r>
              <a:rPr lang="bg-BG" dirty="0" smtClean="0"/>
              <a:t>ра</a:t>
            </a:r>
            <a:r>
              <a:rPr lang="bg-BG" dirty="0" smtClean="0"/>
              <a:t> </a:t>
            </a:r>
            <a:r>
              <a:rPr lang="bg-BG" dirty="0" smtClean="0"/>
              <a:t>„КНТ“</a:t>
            </a:r>
          </a:p>
          <a:p>
            <a:pPr algn="ctr"/>
            <a:r>
              <a:rPr lang="bg-BG" dirty="0" smtClean="0"/>
              <a:t>ТУ-Варна</a:t>
            </a:r>
          </a:p>
        </p:txBody>
      </p:sp>
    </p:spTree>
    <p:extLst>
      <p:ext uri="{BB962C8B-B14F-4D97-AF65-F5344CB8AC3E}">
        <p14:creationId xmlns:p14="http://schemas.microsoft.com/office/powerpoint/2010/main" val="31818710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ctr"/>
            <a:r>
              <a:rPr lang="bg-BG" dirty="0" smtClean="0">
                <a:latin typeface="Times New Roman" panose="02020603050405020304" pitchFamily="18" charset="0"/>
                <a:cs typeface="Times New Roman" panose="02020603050405020304" pitchFamily="18" charset="0"/>
              </a:rPr>
              <a:t>Планиране </a:t>
            </a:r>
            <a:r>
              <a:rPr lang="bg-BG" dirty="0">
                <a:latin typeface="Times New Roman" panose="02020603050405020304" pitchFamily="18" charset="0"/>
                <a:cs typeface="Times New Roman" panose="02020603050405020304" pitchFamily="18" charset="0"/>
              </a:rPr>
              <a:t>на софтуерен </a:t>
            </a:r>
            <a:r>
              <a:rPr lang="bg-BG" dirty="0" smtClean="0">
                <a:latin typeface="Times New Roman" panose="02020603050405020304" pitchFamily="18" charset="0"/>
                <a:cs typeface="Times New Roman" panose="02020603050405020304" pitchFamily="18" charset="0"/>
              </a:rPr>
              <a:t>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lvl="0" algn="just"/>
            <a:r>
              <a:rPr lang="bg-BG" dirty="0">
                <a:latin typeface="Times New Roman" panose="02020603050405020304" pitchFamily="18" charset="0"/>
                <a:cs typeface="Times New Roman" panose="02020603050405020304" pitchFamily="18" charset="0"/>
              </a:rPr>
              <a:t>Установяване на работни отношения с клиента и другите страни от договора.</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Разработване и изясняване на операционните изисквания и ограниченията относно разработката на проекта.</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Даване на приоритети на операционните изисквания.</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Установяване на начална база за операционните изисквания</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Разработване на системните изисквания и системната архитектура както е подходящо.</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Разработване на технически спецификации за софтуерните изисвания.</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Получаване на одобрение за представените на клиента изисквания.</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Установяване на начална база за операционните изисквания и техническите спецификации.</a:t>
            </a:r>
            <a:endParaRPr lang="en-US" dirty="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Определяне на нужните ресурси и на графика за разработване на начална версия на проектния план.</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0652672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2"/>
            <a:ext cx="7467600" cy="1202485"/>
          </a:xfrm>
        </p:spPr>
        <p:txBody>
          <a:bodyPr>
            <a:normAutofit fontScale="90000"/>
          </a:bodyPr>
          <a:lstStyle/>
          <a:p>
            <a:pPr lvl="0" algn="ctr"/>
            <a:r>
              <a:rPr lang="bg-BG" dirty="0" smtClean="0">
                <a:latin typeface="Times New Roman" panose="02020603050405020304" pitchFamily="18" charset="0"/>
                <a:cs typeface="Times New Roman" panose="02020603050405020304" pitchFamily="18" charset="0"/>
              </a:rPr>
              <a:t>Планиране </a:t>
            </a:r>
            <a:r>
              <a:rPr lang="bg-BG" dirty="0">
                <a:latin typeface="Times New Roman" panose="02020603050405020304" pitchFamily="18" charset="0"/>
                <a:cs typeface="Times New Roman" panose="02020603050405020304" pitchFamily="18" charset="0"/>
              </a:rPr>
              <a:t>и балансиране на AGILE </a:t>
            </a:r>
            <a:r>
              <a:rPr lang="bg-BG" dirty="0" smtClean="0">
                <a:latin typeface="Times New Roman" panose="02020603050405020304" pitchFamily="18" charset="0"/>
                <a:cs typeface="Times New Roman" panose="02020603050405020304" pitchFamily="18" charset="0"/>
              </a:rPr>
              <a:t>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05000"/>
            <a:ext cx="7620000" cy="4800600"/>
          </a:xfrm>
        </p:spPr>
        <p:txBody>
          <a:bodyPr>
            <a:normAutofit/>
          </a:bodyPr>
          <a:lstStyle/>
          <a:p>
            <a:pPr lvl="0" algn="just"/>
            <a:r>
              <a:rPr lang="bg-BG" dirty="0">
                <a:latin typeface="Times New Roman" panose="02020603050405020304" pitchFamily="18" charset="0"/>
                <a:cs typeface="Times New Roman" panose="02020603050405020304" pitchFamily="18" charset="0"/>
              </a:rPr>
              <a:t>Р</a:t>
            </a:r>
            <a:r>
              <a:rPr lang="bg-BG" dirty="0" smtClean="0">
                <a:latin typeface="Times New Roman" panose="02020603050405020304" pitchFamily="18" charset="0"/>
                <a:cs typeface="Times New Roman" panose="02020603050405020304" pitchFamily="18" charset="0"/>
              </a:rPr>
              <a:t>абота </a:t>
            </a:r>
            <a:r>
              <a:rPr lang="bg-BG" dirty="0">
                <a:latin typeface="Times New Roman" panose="02020603050405020304" pitchFamily="18" charset="0"/>
                <a:cs typeface="Times New Roman" panose="02020603050405020304" pitchFamily="18" charset="0"/>
              </a:rPr>
              <a:t>с клиента, за да се разработи визията на продукта </a:t>
            </a:r>
            <a:endParaRPr lang="en-US" dirty="0">
              <a:latin typeface="Times New Roman" panose="02020603050405020304" pitchFamily="18" charset="0"/>
              <a:cs typeface="Times New Roman" panose="02020603050405020304" pitchFamily="18" charset="0"/>
            </a:endParaRPr>
          </a:p>
          <a:p>
            <a:pPr lvl="0" algn="just"/>
            <a:r>
              <a:rPr lang="bg-BG" dirty="0" smtClean="0">
                <a:latin typeface="Times New Roman" panose="02020603050405020304" pitchFamily="18" charset="0"/>
                <a:cs typeface="Times New Roman" panose="02020603050405020304" pitchFamily="18" charset="0"/>
              </a:rPr>
              <a:t>Определяне </a:t>
            </a:r>
            <a:r>
              <a:rPr lang="bg-BG" dirty="0">
                <a:latin typeface="Times New Roman" panose="02020603050405020304" pitchFamily="18" charset="0"/>
                <a:cs typeface="Times New Roman" panose="02020603050405020304" pitchFamily="18" charset="0"/>
              </a:rPr>
              <a:t>продължителността на проекта и нивото на положените усилия да се прилага</a:t>
            </a:r>
            <a:endParaRPr lang="en-US" dirty="0">
              <a:latin typeface="Times New Roman" panose="02020603050405020304" pitchFamily="18" charset="0"/>
              <a:cs typeface="Times New Roman" panose="02020603050405020304" pitchFamily="18" charset="0"/>
            </a:endParaRPr>
          </a:p>
          <a:p>
            <a:pPr lvl="0" algn="just"/>
            <a:r>
              <a:rPr lang="bg-BG" dirty="0" smtClean="0">
                <a:latin typeface="Times New Roman" panose="02020603050405020304" pitchFamily="18" charset="0"/>
                <a:cs typeface="Times New Roman" panose="02020603050405020304" pitchFamily="18" charset="0"/>
              </a:rPr>
              <a:t>Получаване </a:t>
            </a:r>
            <a:r>
              <a:rPr lang="bg-BG" dirty="0">
                <a:latin typeface="Times New Roman" panose="02020603050405020304" pitchFamily="18" charset="0"/>
                <a:cs typeface="Times New Roman" panose="02020603050405020304" pitchFamily="18" charset="0"/>
              </a:rPr>
              <a:t>на ангажимента на опитен представител клиент за текущо участие в проекта</a:t>
            </a:r>
            <a:endParaRPr lang="en-US" dirty="0">
              <a:latin typeface="Times New Roman" panose="02020603050405020304" pitchFamily="18" charset="0"/>
              <a:cs typeface="Times New Roman" panose="02020603050405020304" pitchFamily="18" charset="0"/>
            </a:endParaRPr>
          </a:p>
          <a:p>
            <a:pPr lvl="0" algn="just"/>
            <a:r>
              <a:rPr lang="bg-BG" dirty="0" smtClean="0">
                <a:latin typeface="Times New Roman" panose="02020603050405020304" pitchFamily="18" charset="0"/>
                <a:cs typeface="Times New Roman" panose="02020603050405020304" pitchFamily="18" charset="0"/>
              </a:rPr>
              <a:t>Създаване </a:t>
            </a:r>
            <a:r>
              <a:rPr lang="bg-BG" dirty="0">
                <a:latin typeface="Times New Roman" panose="02020603050405020304" pitchFamily="18" charset="0"/>
                <a:cs typeface="Times New Roman" panose="02020603050405020304" pitchFamily="18" charset="0"/>
              </a:rPr>
              <a:t>на среда за разработка</a:t>
            </a:r>
            <a:endParaRPr lang="en-US" dirty="0">
              <a:latin typeface="Times New Roman" panose="02020603050405020304" pitchFamily="18" charset="0"/>
              <a:cs typeface="Times New Roman" panose="02020603050405020304" pitchFamily="18" charset="0"/>
            </a:endParaRPr>
          </a:p>
          <a:p>
            <a:pPr lvl="0" algn="just"/>
            <a:r>
              <a:rPr lang="bg-BG" dirty="0" smtClean="0">
                <a:latin typeface="Times New Roman" panose="02020603050405020304" pitchFamily="18" charset="0"/>
                <a:cs typeface="Times New Roman" panose="02020603050405020304" pitchFamily="18" charset="0"/>
              </a:rPr>
              <a:t>Планиране </a:t>
            </a:r>
            <a:r>
              <a:rPr lang="bg-BG" dirty="0">
                <a:latin typeface="Times New Roman" panose="02020603050405020304" pitchFamily="18" charset="0"/>
                <a:cs typeface="Times New Roman" panose="02020603050405020304" pitchFamily="18" charset="0"/>
              </a:rPr>
              <a:t>на честотата на повторенията</a:t>
            </a:r>
            <a:endParaRPr lang="en-US" dirty="0">
              <a:latin typeface="Times New Roman" panose="02020603050405020304" pitchFamily="18" charset="0"/>
              <a:cs typeface="Times New Roman" panose="02020603050405020304" pitchFamily="18" charset="0"/>
            </a:endParaRPr>
          </a:p>
          <a:p>
            <a:pPr lvl="0" algn="just"/>
            <a:r>
              <a:rPr lang="bg-BG" dirty="0" smtClean="0">
                <a:latin typeface="Times New Roman" panose="02020603050405020304" pitchFamily="18" charset="0"/>
                <a:cs typeface="Times New Roman" panose="02020603050405020304" pitchFamily="18" charset="0"/>
              </a:rPr>
              <a:t>Планиране </a:t>
            </a:r>
            <a:r>
              <a:rPr lang="bg-BG" dirty="0">
                <a:latin typeface="Times New Roman" panose="02020603050405020304" pitchFamily="18" charset="0"/>
                <a:cs typeface="Times New Roman" panose="02020603050405020304" pitchFamily="18" charset="0"/>
              </a:rPr>
              <a:t>на честотата на доставката на развиващите се способности до </a:t>
            </a:r>
            <a:r>
              <a:rPr lang="bg-BG" dirty="0" smtClean="0">
                <a:latin typeface="Times New Roman" panose="02020603050405020304" pitchFamily="18" charset="0"/>
                <a:cs typeface="Times New Roman" panose="02020603050405020304" pitchFamily="18" charset="0"/>
              </a:rPr>
              <a:t>потребителите</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476845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bg-BG" dirty="0" smtClean="0">
                <a:latin typeface="Times New Roman" panose="02020603050405020304" pitchFamily="18" charset="0"/>
                <a:cs typeface="Times New Roman" panose="02020603050405020304" pitchFamily="18" charset="0"/>
              </a:rPr>
              <a:t>Използване </a:t>
            </a:r>
            <a:r>
              <a:rPr lang="bg-BG" dirty="0">
                <a:latin typeface="Times New Roman" panose="02020603050405020304" pitchFamily="18" charset="0"/>
                <a:cs typeface="Times New Roman" panose="02020603050405020304" pitchFamily="18" charset="0"/>
              </a:rPr>
              <a:t>на минимален проектен план</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bg-BG" b="1" dirty="0">
                <a:latin typeface="Times New Roman" panose="02020603050405020304" pitchFamily="18" charset="0"/>
                <a:cs typeface="Times New Roman" panose="02020603050405020304" pitchFamily="18" charset="0"/>
              </a:rPr>
              <a:t>Защо?</a:t>
            </a:r>
            <a:r>
              <a:rPr lang="bg-BG" dirty="0">
                <a:latin typeface="Times New Roman" panose="02020603050405020304" pitchFamily="18" charset="0"/>
                <a:cs typeface="Times New Roman" panose="02020603050405020304" pitchFamily="18" charset="0"/>
              </a:rPr>
              <a:t> - Какъв е проблемът или стойност предложение, адресирано от проекта? Защо е спонсориран? </a:t>
            </a:r>
            <a:endParaRPr lang="en-US" dirty="0">
              <a:latin typeface="Times New Roman" panose="02020603050405020304" pitchFamily="18" charset="0"/>
              <a:cs typeface="Times New Roman" panose="02020603050405020304" pitchFamily="18" charset="0"/>
            </a:endParaRPr>
          </a:p>
          <a:p>
            <a:pPr algn="just"/>
            <a:r>
              <a:rPr lang="bg-BG" b="1" dirty="0">
                <a:latin typeface="Times New Roman" panose="02020603050405020304" pitchFamily="18" charset="0"/>
                <a:cs typeface="Times New Roman" panose="02020603050405020304" pitchFamily="18" charset="0"/>
              </a:rPr>
              <a:t>Какво?</a:t>
            </a:r>
            <a:r>
              <a:rPr lang="bg-BG" dirty="0">
                <a:latin typeface="Times New Roman" panose="02020603050405020304" pitchFamily="18" charset="0"/>
                <a:cs typeface="Times New Roman" panose="02020603050405020304" pitchFamily="18" charset="0"/>
              </a:rPr>
              <a:t> - Каква е работата, която ще бъде извършена по проекта? Какви са основните </a:t>
            </a:r>
            <a:r>
              <a:rPr lang="bg-BG" dirty="0" smtClean="0">
                <a:latin typeface="Times New Roman" panose="02020603050405020304" pitchFamily="18" charset="0"/>
                <a:cs typeface="Times New Roman" panose="02020603050405020304" pitchFamily="18" charset="0"/>
              </a:rPr>
              <a:t>продукти/документите</a:t>
            </a:r>
            <a:r>
              <a:rPr lang="bg-BG"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bg-BG" b="1" dirty="0">
                <a:latin typeface="Times New Roman" panose="02020603050405020304" pitchFamily="18" charset="0"/>
                <a:cs typeface="Times New Roman" panose="02020603050405020304" pitchFamily="18" charset="0"/>
              </a:rPr>
              <a:t>Кой?</a:t>
            </a:r>
            <a:r>
              <a:rPr lang="bg-BG" dirty="0">
                <a:latin typeface="Times New Roman" panose="02020603050405020304" pitchFamily="18" charset="0"/>
                <a:cs typeface="Times New Roman" panose="02020603050405020304" pitchFamily="18" charset="0"/>
              </a:rPr>
              <a:t> - Кой ще бъде ангажиран и какви ще бъдат техните отговорности в рамките на проекта? Как ще се организира? </a:t>
            </a:r>
            <a:endParaRPr lang="en-US" dirty="0">
              <a:latin typeface="Times New Roman" panose="02020603050405020304" pitchFamily="18" charset="0"/>
              <a:cs typeface="Times New Roman" panose="02020603050405020304" pitchFamily="18" charset="0"/>
            </a:endParaRPr>
          </a:p>
          <a:p>
            <a:pPr algn="just"/>
            <a:r>
              <a:rPr lang="bg-BG" b="1" dirty="0">
                <a:latin typeface="Times New Roman" panose="02020603050405020304" pitchFamily="18" charset="0"/>
                <a:cs typeface="Times New Roman" panose="02020603050405020304" pitchFamily="18" charset="0"/>
              </a:rPr>
              <a:t>Кога?</a:t>
            </a:r>
            <a:r>
              <a:rPr lang="bg-BG" dirty="0">
                <a:latin typeface="Times New Roman" panose="02020603050405020304" pitchFamily="18" charset="0"/>
                <a:cs typeface="Times New Roman" panose="02020603050405020304" pitchFamily="18" charset="0"/>
              </a:rPr>
              <a:t> - Каква е времевата линия на проекта и кога ще бъдат завършени смислените точки, наричани milestones?</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2945649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17582"/>
            <a:ext cx="7239000" cy="1202485"/>
          </a:xfrm>
        </p:spPr>
        <p:txBody>
          <a:bodyPr>
            <a:normAutofit fontScale="90000"/>
          </a:bodyPr>
          <a:lstStyle/>
          <a:p>
            <a:pPr algn="ctr"/>
            <a:r>
              <a:rPr lang="en-US" dirty="0" smtClean="0">
                <a:latin typeface="Times New Roman" panose="02020603050405020304" pitchFamily="18" charset="0"/>
                <a:cs typeface="Times New Roman" panose="02020603050405020304" pitchFamily="18" charset="0"/>
              </a:rPr>
              <a:t> </a:t>
            </a:r>
            <a:r>
              <a:rPr lang="bg-BG" dirty="0" smtClean="0">
                <a:latin typeface="Times New Roman" panose="02020603050405020304" pitchFamily="18" charset="0"/>
                <a:cs typeface="Times New Roman" panose="02020603050405020304" pitchFamily="18" charset="0"/>
              </a:rPr>
              <a:t>Използване </a:t>
            </a:r>
            <a:r>
              <a:rPr lang="bg-BG" dirty="0">
                <a:latin typeface="Times New Roman" panose="02020603050405020304" pitchFamily="18" charset="0"/>
                <a:cs typeface="Times New Roman" panose="02020603050405020304" pitchFamily="18" charset="0"/>
              </a:rPr>
              <a:t>на готови образци за управление на проекти</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63040" y="2362199"/>
            <a:ext cx="6196405" cy="3360869"/>
          </a:xfrm>
        </p:spPr>
        <p:txBody>
          <a:bodyPr>
            <a:normAutofit/>
          </a:bodyPr>
          <a:lstStyle/>
          <a:p>
            <a:pPr algn="just"/>
            <a:r>
              <a:rPr lang="bg-BG" dirty="0">
                <a:latin typeface="Times New Roman" panose="02020603050405020304" pitchFamily="18" charset="0"/>
                <a:cs typeface="Times New Roman" panose="02020603050405020304" pitchFamily="18" charset="0"/>
              </a:rPr>
              <a:t>„Front Matter</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„Project Summary</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 </a:t>
            </a:r>
            <a:r>
              <a:rPr lang="bg-BG" dirty="0" smtClean="0">
                <a:latin typeface="Times New Roman" panose="02020603050405020304" pitchFamily="18" charset="0"/>
                <a:cs typeface="Times New Roman" panose="02020603050405020304" pitchFamily="18" charset="0"/>
              </a:rPr>
              <a:t>Evolution</a:t>
            </a:r>
            <a:r>
              <a:rPr lang="bg-BG" dirty="0">
                <a:latin typeface="Times New Roman" panose="02020603050405020304" pitchFamily="18" charset="0"/>
                <a:cs typeface="Times New Roman" panose="02020603050405020304" pitchFamily="18" charset="0"/>
              </a:rPr>
              <a:t>, Deﬁnitions, and References</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„Project Organization“ </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„Managerial Processes“ </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„Technical Processes</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„Supporting Processes</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„Additional Plans, Appendixes, Index</a:t>
            </a:r>
            <a:r>
              <a:rPr lang="bg-BG"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137230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t>
            </a:r>
            <a:r>
              <a:rPr lang="bg-BG" dirty="0"/>
              <a:t>Средства за управление на софтуерния проект</a:t>
            </a:r>
            <a:endParaRPr lang="en-US" dirty="0"/>
          </a:p>
        </p:txBody>
      </p:sp>
      <p:sp>
        <p:nvSpPr>
          <p:cNvPr id="3" name="Content Placeholder 2"/>
          <p:cNvSpPr>
            <a:spLocks noGrp="1"/>
          </p:cNvSpPr>
          <p:nvPr>
            <p:ph idx="1"/>
          </p:nvPr>
        </p:nvSpPr>
        <p:spPr/>
        <p:txBody>
          <a:bodyPr>
            <a:normAutofit lnSpcReduction="10000"/>
          </a:bodyPr>
          <a:lstStyle/>
          <a:p>
            <a:pPr algn="just"/>
            <a:r>
              <a:rPr lang="bg-BG" dirty="0">
                <a:latin typeface="Times New Roman" panose="02020603050405020304" pitchFamily="18" charset="0"/>
                <a:cs typeface="Times New Roman" panose="02020603050405020304" pitchFamily="18" charset="0"/>
              </a:rPr>
              <a:t>Основна </a:t>
            </a:r>
            <a:r>
              <a:rPr lang="bg-BG" dirty="0" smtClean="0">
                <a:latin typeface="Times New Roman" panose="02020603050405020304" pitchFamily="18" charset="0"/>
                <a:cs typeface="Times New Roman" panose="02020603050405020304" pitchFamily="18" charset="0"/>
              </a:rPr>
              <a:t>информация</a:t>
            </a:r>
            <a:endParaRPr lang="en-US" dirty="0" smtClean="0">
              <a:latin typeface="Times New Roman" panose="02020603050405020304" pitchFamily="18" charset="0"/>
              <a:cs typeface="Times New Roman" panose="02020603050405020304" pitchFamily="18" charset="0"/>
            </a:endParaRPr>
          </a:p>
          <a:p>
            <a:pPr lvl="0" algn="just"/>
            <a:r>
              <a:rPr lang="bg-BG" dirty="0">
                <a:latin typeface="Times New Roman" panose="02020603050405020304" pitchFamily="18" charset="0"/>
                <a:cs typeface="Times New Roman" panose="02020603050405020304" pitchFamily="18" charset="0"/>
              </a:rPr>
              <a:t>Видове софтуерни </a:t>
            </a:r>
            <a:r>
              <a:rPr lang="bg-BG" dirty="0" smtClean="0">
                <a:latin typeface="Times New Roman" panose="02020603050405020304" pitchFamily="18" charset="0"/>
                <a:cs typeface="Times New Roman" panose="02020603050405020304" pitchFamily="18" charset="0"/>
              </a:rPr>
              <a:t>приложения</a:t>
            </a:r>
            <a:r>
              <a:rPr lang="en-US" dirty="0" smtClean="0">
                <a:latin typeface="Times New Roman" panose="02020603050405020304" pitchFamily="18" charset="0"/>
                <a:cs typeface="Times New Roman" panose="02020603050405020304" pitchFamily="18" charset="0"/>
              </a:rPr>
              <a:t>:</a:t>
            </a:r>
            <a:r>
              <a:rPr lang="bg-BG" dirty="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д</a:t>
            </a:r>
            <a:r>
              <a:rPr lang="bg-BG" i="1" dirty="0" smtClean="0">
                <a:latin typeface="Times New Roman" panose="02020603050405020304" pitchFamily="18" charset="0"/>
                <a:cs typeface="Times New Roman" panose="02020603050405020304" pitchFamily="18" charset="0"/>
              </a:rPr>
              <a:t>есктоп</a:t>
            </a:r>
            <a:r>
              <a:rPr lang="en-US" i="1" dirty="0" smtClean="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у</a:t>
            </a:r>
            <a:r>
              <a:rPr lang="bg-BG" i="1" dirty="0" smtClean="0">
                <a:latin typeface="Times New Roman" panose="02020603050405020304" pitchFamily="18" charset="0"/>
                <a:cs typeface="Times New Roman" panose="02020603050405020304" pitchFamily="18" charset="0"/>
              </a:rPr>
              <a:t>еб базирани</a:t>
            </a:r>
            <a:r>
              <a:rPr lang="en-US" i="1" dirty="0" smtClean="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л</a:t>
            </a:r>
            <a:r>
              <a:rPr lang="bg-BG" i="1" dirty="0" smtClean="0">
                <a:latin typeface="Times New Roman" panose="02020603050405020304" pitchFamily="18" charset="0"/>
                <a:cs typeface="Times New Roman" panose="02020603050405020304" pitchFamily="18" charset="0"/>
              </a:rPr>
              <a:t>ични</a:t>
            </a:r>
            <a:r>
              <a:rPr lang="en-US" i="1" dirty="0" smtClean="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з</a:t>
            </a:r>
            <a:r>
              <a:rPr lang="bg-BG" i="1" dirty="0" smtClean="0">
                <a:latin typeface="Times New Roman" panose="02020603050405020304" pitchFamily="18" charset="0"/>
                <a:cs typeface="Times New Roman" panose="02020603050405020304" pitchFamily="18" charset="0"/>
              </a:rPr>
              <a:t>а </a:t>
            </a:r>
            <a:r>
              <a:rPr lang="bg-BG" i="1" dirty="0">
                <a:latin typeface="Times New Roman" panose="02020603050405020304" pitchFamily="18" charset="0"/>
                <a:cs typeface="Times New Roman" panose="02020603050405020304" pitchFamily="18" charset="0"/>
              </a:rPr>
              <a:t>единични </a:t>
            </a:r>
            <a:r>
              <a:rPr lang="bg-BG" i="1" dirty="0" smtClean="0">
                <a:latin typeface="Times New Roman" panose="02020603050405020304" pitchFamily="18" charset="0"/>
                <a:cs typeface="Times New Roman" panose="02020603050405020304" pitchFamily="18" charset="0"/>
              </a:rPr>
              <a:t>потребители</a:t>
            </a:r>
            <a:r>
              <a:rPr lang="en-US" i="1" dirty="0" smtClean="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з</a:t>
            </a:r>
            <a:r>
              <a:rPr lang="bg-BG" i="1" dirty="0" smtClean="0">
                <a:latin typeface="Times New Roman" panose="02020603050405020304" pitchFamily="18" charset="0"/>
                <a:cs typeface="Times New Roman" panose="02020603050405020304" pitchFamily="18" charset="0"/>
              </a:rPr>
              <a:t>а </a:t>
            </a:r>
            <a:r>
              <a:rPr lang="bg-BG" i="1" dirty="0">
                <a:latin typeface="Times New Roman" panose="02020603050405020304" pitchFamily="18" charset="0"/>
                <a:cs typeface="Times New Roman" panose="02020603050405020304" pitchFamily="18" charset="0"/>
              </a:rPr>
              <a:t>множество </a:t>
            </a:r>
            <a:r>
              <a:rPr lang="bg-BG" i="1" dirty="0" smtClean="0">
                <a:latin typeface="Times New Roman" panose="02020603050405020304" pitchFamily="18" charset="0"/>
                <a:cs typeface="Times New Roman" panose="02020603050405020304" pitchFamily="18" charset="0"/>
              </a:rPr>
              <a:t>потребители</a:t>
            </a:r>
            <a:r>
              <a:rPr lang="en-US" i="1" dirty="0" smtClean="0">
                <a:latin typeface="Times New Roman" panose="02020603050405020304" pitchFamily="18" charset="0"/>
                <a:cs typeface="Times New Roman" panose="02020603050405020304" pitchFamily="18" charset="0"/>
              </a:rPr>
              <a:t>, </a:t>
            </a:r>
            <a:r>
              <a:rPr lang="bg-BG" i="1" dirty="0">
                <a:latin typeface="Times New Roman" panose="02020603050405020304" pitchFamily="18" charset="0"/>
                <a:cs typeface="Times New Roman" panose="02020603050405020304" pitchFamily="18" charset="0"/>
              </a:rPr>
              <a:t>в</a:t>
            </a:r>
            <a:r>
              <a:rPr lang="bg-BG" i="1" dirty="0" smtClean="0">
                <a:latin typeface="Times New Roman" panose="02020603050405020304" pitchFamily="18" charset="0"/>
                <a:cs typeface="Times New Roman" panose="02020603050405020304" pitchFamily="18" charset="0"/>
              </a:rPr>
              <a:t>градени</a:t>
            </a:r>
            <a:r>
              <a:rPr lang="en-US" i="1" dirty="0" smtClean="0">
                <a:latin typeface="Times New Roman" panose="02020603050405020304" pitchFamily="18" charset="0"/>
                <a:cs typeface="Times New Roman" panose="02020603050405020304" pitchFamily="18" charset="0"/>
              </a:rPr>
              <a:t> </a:t>
            </a:r>
            <a:r>
              <a:rPr lang="bg-BG" i="1" dirty="0" smtClean="0">
                <a:latin typeface="Times New Roman" panose="02020603050405020304" pitchFamily="18" charset="0"/>
                <a:cs typeface="Times New Roman" panose="02020603050405020304" pitchFamily="18" charset="0"/>
              </a:rPr>
              <a:t>и</a:t>
            </a:r>
            <a:r>
              <a:rPr lang="bg-BG" i="1" dirty="0">
                <a:latin typeface="Times New Roman" panose="02020603050405020304" pitchFamily="18" charset="0"/>
                <a:cs typeface="Times New Roman" panose="02020603050405020304" pitchFamily="18" charset="0"/>
              </a:rPr>
              <a:t> н</a:t>
            </a:r>
            <a:r>
              <a:rPr lang="bg-BG" i="1" dirty="0" smtClean="0">
                <a:latin typeface="Times New Roman" panose="02020603050405020304" pitchFamily="18" charset="0"/>
                <a:cs typeface="Times New Roman" panose="02020603050405020304" pitchFamily="18" charset="0"/>
              </a:rPr>
              <a:t>е </a:t>
            </a:r>
            <a:r>
              <a:rPr lang="bg-BG" i="1" dirty="0">
                <a:latin typeface="Times New Roman" panose="02020603050405020304" pitchFamily="18" charset="0"/>
                <a:cs typeface="Times New Roman" panose="02020603050405020304" pitchFamily="18" charset="0"/>
              </a:rPr>
              <a:t>специализирани инструменти</a:t>
            </a:r>
            <a:endParaRPr lang="en-US" i="1" dirty="0">
              <a:latin typeface="Times New Roman" panose="02020603050405020304" pitchFamily="18" charset="0"/>
              <a:cs typeface="Times New Roman" panose="02020603050405020304" pitchFamily="18" charset="0"/>
            </a:endParaRPr>
          </a:p>
          <a:p>
            <a:pPr marL="274320" lvl="1" algn="just"/>
            <a:r>
              <a:rPr lang="bg-BG" sz="2400" dirty="0" smtClean="0">
                <a:latin typeface="Times New Roman" panose="02020603050405020304" pitchFamily="18" charset="0"/>
                <a:cs typeface="Times New Roman" panose="02020603050405020304" pitchFamily="18" charset="0"/>
              </a:rPr>
              <a:t>Средства </a:t>
            </a:r>
            <a:r>
              <a:rPr lang="bg-BG" sz="2400" dirty="0">
                <a:latin typeface="Times New Roman" panose="02020603050405020304" pitchFamily="18" charset="0"/>
                <a:cs typeface="Times New Roman" panose="02020603050405020304" pitchFamily="18" charset="0"/>
              </a:rPr>
              <a:t>и </a:t>
            </a:r>
            <a:r>
              <a:rPr lang="bg-BG" sz="2400" dirty="0" smtClean="0">
                <a:latin typeface="Times New Roman" panose="02020603050405020304" pitchFamily="18" charset="0"/>
                <a:cs typeface="Times New Roman" panose="02020603050405020304" pitchFamily="18" charset="0"/>
              </a:rPr>
              <a:t>техните характеристики:</a:t>
            </a:r>
          </a:p>
          <a:p>
            <a:pPr marL="45720" lvl="1" indent="0" algn="just">
              <a:buNone/>
            </a:pPr>
            <a:r>
              <a:rPr lang="ru-RU" dirty="0" err="1">
                <a:latin typeface="Times New Roman" panose="02020603050405020304" pitchFamily="18" charset="0"/>
                <a:cs typeface="Times New Roman" panose="02020603050405020304" pitchFamily="18" charset="0"/>
              </a:rPr>
              <a:t>Софтуер</a:t>
            </a:r>
            <a:r>
              <a:rPr lang="ru-RU" dirty="0">
                <a:latin typeface="Times New Roman" panose="02020603050405020304" pitchFamily="18" charset="0"/>
                <a:cs typeface="Times New Roman" panose="02020603050405020304" pitchFamily="18" charset="0"/>
              </a:rPr>
              <a:t> за управление на проекта </a:t>
            </a:r>
            <a:r>
              <a:rPr lang="ru-RU" dirty="0" err="1">
                <a:latin typeface="Times New Roman" panose="02020603050405020304" pitchFamily="18" charset="0"/>
                <a:cs typeface="Times New Roman" panose="02020603050405020304" pitchFamily="18" charset="0"/>
              </a:rPr>
              <a:t>има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възможност</a:t>
            </a:r>
            <a:r>
              <a:rPr lang="ru-RU" dirty="0">
                <a:latin typeface="Times New Roman" panose="02020603050405020304" pitchFamily="18" charset="0"/>
                <a:cs typeface="Times New Roman" panose="02020603050405020304" pitchFamily="18" charset="0"/>
              </a:rPr>
              <a:t> да </a:t>
            </a:r>
            <a:r>
              <a:rPr lang="ru-RU" dirty="0" err="1">
                <a:latin typeface="Times New Roman" panose="02020603050405020304" pitchFamily="18" charset="0"/>
                <a:cs typeface="Times New Roman" panose="02020603050405020304" pitchFamily="18" charset="0"/>
              </a:rPr>
              <a:t>помогне</a:t>
            </a:r>
            <a:r>
              <a:rPr lang="ru-RU" dirty="0">
                <a:latin typeface="Times New Roman" panose="02020603050405020304" pitchFamily="18" charset="0"/>
                <a:cs typeface="Times New Roman" panose="02020603050405020304" pitchFamily="18" charset="0"/>
              </a:rPr>
              <a:t> в </a:t>
            </a:r>
            <a:r>
              <a:rPr lang="ru-RU" dirty="0" err="1">
                <a:latin typeface="Times New Roman" panose="02020603050405020304" pitchFamily="18" charset="0"/>
                <a:cs typeface="Times New Roman" panose="02020603050405020304" pitchFamily="18" charset="0"/>
              </a:rPr>
              <a:t>изграждането</a:t>
            </a:r>
            <a:r>
              <a:rPr lang="ru-RU" dirty="0">
                <a:latin typeface="Times New Roman" panose="02020603050405020304" pitchFamily="18" charset="0"/>
                <a:cs typeface="Times New Roman" panose="02020603050405020304" pitchFamily="18" charset="0"/>
              </a:rPr>
              <a:t> на план, </a:t>
            </a:r>
            <a:r>
              <a:rPr lang="ru-RU" dirty="0" err="1">
                <a:latin typeface="Times New Roman" panose="02020603050405020304" pitchFamily="18" charset="0"/>
                <a:cs typeface="Times New Roman" panose="02020603050405020304" pitchFamily="18" charset="0"/>
              </a:rPr>
              <a:t>организиране</a:t>
            </a:r>
            <a:r>
              <a:rPr lang="ru-RU" dirty="0">
                <a:latin typeface="Times New Roman" panose="02020603050405020304" pitchFamily="18" charset="0"/>
                <a:cs typeface="Times New Roman" panose="02020603050405020304" pitchFamily="18" charset="0"/>
              </a:rPr>
              <a:t> и управление на </a:t>
            </a:r>
            <a:r>
              <a:rPr lang="ru-RU" dirty="0" err="1">
                <a:latin typeface="Times New Roman" panose="02020603050405020304" pitchFamily="18" charset="0"/>
                <a:cs typeface="Times New Roman" panose="02020603050405020304" pitchFamily="18" charset="0"/>
              </a:rPr>
              <a:t>ресурсите</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създаването</a:t>
            </a:r>
            <a:r>
              <a:rPr lang="ru-RU" dirty="0">
                <a:latin typeface="Times New Roman" panose="02020603050405020304" pitchFamily="18" charset="0"/>
                <a:cs typeface="Times New Roman" panose="02020603050405020304" pitchFamily="18" charset="0"/>
              </a:rPr>
              <a:t> на оценка на </a:t>
            </a:r>
            <a:r>
              <a:rPr lang="ru-RU" dirty="0" err="1">
                <a:latin typeface="Times New Roman" panose="02020603050405020304" pitchFamily="18" charset="0"/>
                <a:cs typeface="Times New Roman" panose="02020603050405020304" pitchFamily="18" charset="0"/>
              </a:rPr>
              <a:t>ресурсите</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В </a:t>
            </a:r>
            <a:r>
              <a:rPr lang="ru-RU" dirty="0" err="1">
                <a:latin typeface="Times New Roman" panose="02020603050405020304" pitchFamily="18" charset="0"/>
                <a:cs typeface="Times New Roman" panose="02020603050405020304" pitchFamily="18" charset="0"/>
              </a:rPr>
              <a:t>зависимост</a:t>
            </a:r>
            <a:r>
              <a:rPr lang="ru-RU" dirty="0">
                <a:latin typeface="Times New Roman" panose="02020603050405020304" pitchFamily="18" charset="0"/>
                <a:cs typeface="Times New Roman" panose="02020603050405020304" pitchFamily="18" charset="0"/>
              </a:rPr>
              <a:t> от </a:t>
            </a:r>
            <a:r>
              <a:rPr lang="ru-RU" dirty="0" err="1">
                <a:latin typeface="Times New Roman" panose="02020603050405020304" pitchFamily="18" charset="0"/>
                <a:cs typeface="Times New Roman" panose="02020603050405020304" pitchFamily="18" charset="0"/>
              </a:rPr>
              <a:t>сложността</a:t>
            </a:r>
            <a:r>
              <a:rPr lang="ru-RU" dirty="0">
                <a:latin typeface="Times New Roman" panose="02020603050405020304" pitchFamily="18" charset="0"/>
                <a:cs typeface="Times New Roman" panose="02020603050405020304" pitchFamily="18" charset="0"/>
              </a:rPr>
              <a:t> на </a:t>
            </a:r>
            <a:r>
              <a:rPr lang="ru-RU" dirty="0" err="1">
                <a:latin typeface="Times New Roman" panose="02020603050405020304" pitchFamily="18" charset="0"/>
                <a:cs typeface="Times New Roman" panose="02020603050405020304" pitchFamily="18" charset="0"/>
              </a:rPr>
              <a:t>софтуера</a:t>
            </a:r>
            <a:r>
              <a:rPr lang="ru-RU" dirty="0">
                <a:latin typeface="Times New Roman" panose="02020603050405020304" pitchFamily="18" charset="0"/>
                <a:cs typeface="Times New Roman" panose="02020603050405020304" pitchFamily="18" charset="0"/>
              </a:rPr>
              <a:t>, той </a:t>
            </a:r>
            <a:r>
              <a:rPr lang="ru-RU" dirty="0" err="1">
                <a:latin typeface="Times New Roman" panose="02020603050405020304" pitchFamily="18" charset="0"/>
                <a:cs typeface="Times New Roman" panose="02020603050405020304" pitchFamily="18" charset="0"/>
              </a:rPr>
              <a:t>може</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да </a:t>
            </a:r>
            <a:r>
              <a:rPr lang="ru-RU" dirty="0" err="1" smtClean="0">
                <a:latin typeface="Times New Roman" panose="02020603050405020304" pitchFamily="18" charset="0"/>
                <a:cs typeface="Times New Roman" panose="02020603050405020304" pitchFamily="18" charset="0"/>
              </a:rPr>
              <a:t>управлява</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оценява</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планира</a:t>
            </a:r>
            <a:r>
              <a:rPr lang="ru-RU" dirty="0" smtClean="0">
                <a:latin typeface="Times New Roman" panose="02020603050405020304" pitchFamily="18" charset="0"/>
                <a:cs typeface="Times New Roman" panose="02020603050405020304" pitchFamily="18" charset="0"/>
              </a:rPr>
              <a:t> и </a:t>
            </a:r>
            <a:r>
              <a:rPr lang="ru-RU" dirty="0" err="1" smtClean="0">
                <a:latin typeface="Times New Roman" panose="02020603050405020304" pitchFamily="18" charset="0"/>
                <a:cs typeface="Times New Roman" panose="02020603050405020304" pitchFamily="18" charset="0"/>
              </a:rPr>
              <a:t>създава</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разписания</a:t>
            </a:r>
            <a:r>
              <a:rPr lang="ru-RU" dirty="0" smtClean="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да </a:t>
            </a:r>
            <a:r>
              <a:rPr lang="ru-RU" dirty="0" err="1">
                <a:latin typeface="Times New Roman" panose="02020603050405020304" pitchFamily="18" charset="0"/>
                <a:cs typeface="Times New Roman" panose="02020603050405020304" pitchFamily="18" charset="0"/>
              </a:rPr>
              <a:t>контролира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разходите</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управлява</a:t>
            </a:r>
            <a:r>
              <a:rPr lang="ru-RU" dirty="0">
                <a:latin typeface="Times New Roman" panose="02020603050405020304" pitchFamily="18" charset="0"/>
                <a:cs typeface="Times New Roman" panose="02020603050405020304" pitchFamily="18" charset="0"/>
              </a:rPr>
              <a:t> бюджета, </a:t>
            </a:r>
            <a:r>
              <a:rPr lang="ru-RU" dirty="0" err="1">
                <a:latin typeface="Times New Roman" panose="02020603050405020304" pitchFamily="18" charset="0"/>
                <a:cs typeface="Times New Roman" panose="02020603050405020304" pitchFamily="18" charset="0"/>
              </a:rPr>
              <a:t>разпределението</a:t>
            </a:r>
            <a:r>
              <a:rPr lang="ru-RU" dirty="0">
                <a:latin typeface="Times New Roman" panose="02020603050405020304" pitchFamily="18" charset="0"/>
                <a:cs typeface="Times New Roman" panose="02020603050405020304" pitchFamily="18" charset="0"/>
              </a:rPr>
              <a:t> на </a:t>
            </a:r>
            <a:r>
              <a:rPr lang="ru-RU" dirty="0" err="1">
                <a:latin typeface="Times New Roman" panose="02020603050405020304" pitchFamily="18" charset="0"/>
                <a:cs typeface="Times New Roman" panose="02020603050405020304" pitchFamily="18" charset="0"/>
              </a:rPr>
              <a:t>ресурсите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софтуера</a:t>
            </a:r>
            <a:r>
              <a:rPr lang="ru-RU" dirty="0">
                <a:latin typeface="Times New Roman" panose="02020603050405020304" pitchFamily="18" charset="0"/>
                <a:cs typeface="Times New Roman" panose="02020603050405020304" pitchFamily="18" charset="0"/>
              </a:rPr>
              <a:t> за </a:t>
            </a:r>
            <a:r>
              <a:rPr lang="ru-RU" dirty="0" err="1">
                <a:latin typeface="Times New Roman" panose="02020603050405020304" pitchFamily="18" charset="0"/>
                <a:cs typeface="Times New Roman" panose="02020603050405020304" pitchFamily="18" charset="0"/>
              </a:rPr>
              <a:t>съвместна</a:t>
            </a:r>
            <a:r>
              <a:rPr lang="ru-RU" dirty="0">
                <a:latin typeface="Times New Roman" panose="02020603050405020304" pitchFamily="18" charset="0"/>
                <a:cs typeface="Times New Roman" panose="02020603050405020304" pitchFamily="18" charset="0"/>
              </a:rPr>
              <a:t> работа, </a:t>
            </a:r>
            <a:r>
              <a:rPr lang="ru-RU" dirty="0" err="1">
                <a:latin typeface="Times New Roman" panose="02020603050405020304" pitchFamily="18" charset="0"/>
                <a:cs typeface="Times New Roman" panose="02020603050405020304" pitchFamily="18" charset="0"/>
              </a:rPr>
              <a:t>комуникацията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вземането</a:t>
            </a:r>
            <a:r>
              <a:rPr lang="ru-RU" dirty="0">
                <a:latin typeface="Times New Roman" panose="02020603050405020304" pitchFamily="18" charset="0"/>
                <a:cs typeface="Times New Roman" panose="02020603050405020304" pitchFamily="18" charset="0"/>
              </a:rPr>
              <a:t> на решения, управление на </a:t>
            </a:r>
            <a:r>
              <a:rPr lang="ru-RU" dirty="0" err="1">
                <a:latin typeface="Times New Roman" panose="02020603050405020304" pitchFamily="18" charset="0"/>
                <a:cs typeface="Times New Roman" panose="02020603050405020304" pitchFamily="18" charset="0"/>
              </a:rPr>
              <a:t>качеството</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документиране</a:t>
            </a:r>
            <a:r>
              <a:rPr lang="ru-RU" dirty="0">
                <a:latin typeface="Times New Roman" panose="02020603050405020304" pitchFamily="18" charset="0"/>
                <a:cs typeface="Times New Roman" panose="02020603050405020304" pitchFamily="18" charset="0"/>
              </a:rPr>
              <a:t> или </a:t>
            </a:r>
            <a:r>
              <a:rPr lang="ru-RU" dirty="0" err="1">
                <a:latin typeface="Times New Roman" panose="02020603050405020304" pitchFamily="18" charset="0"/>
                <a:cs typeface="Times New Roman" panose="02020603050405020304" pitchFamily="18" charset="0"/>
              </a:rPr>
              <a:t>административните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системи</a:t>
            </a:r>
            <a:r>
              <a:rPr lang="ru-RU"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1260933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bg-BG" dirty="0" smtClean="0">
                <a:latin typeface="Times New Roman" panose="02020603050405020304" pitchFamily="18" charset="0"/>
                <a:cs typeface="Times New Roman" panose="02020603050405020304" pitchFamily="18" charset="0"/>
              </a:rPr>
              <a:t>Софтуер за управление на проекти</a:t>
            </a:r>
            <a:endParaRPr lang="bg-BG"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4800" dirty="0" smtClean="0">
                <a:latin typeface="Times New Roman" panose="02020603050405020304" pitchFamily="18" charset="0"/>
                <a:cs typeface="Times New Roman" panose="02020603050405020304" pitchFamily="18" charset="0"/>
              </a:rPr>
              <a:t>Microsoft Project</a:t>
            </a:r>
          </a:p>
          <a:p>
            <a:r>
              <a:rPr lang="en-US" sz="4800" dirty="0" smtClean="0">
                <a:latin typeface="Times New Roman" panose="02020603050405020304" pitchFamily="18" charset="0"/>
                <a:cs typeface="Times New Roman" panose="02020603050405020304" pitchFamily="18" charset="0"/>
              </a:rPr>
              <a:t>Trello</a:t>
            </a:r>
          </a:p>
          <a:p>
            <a:r>
              <a:rPr lang="en-US" sz="4800" dirty="0" smtClean="0">
                <a:latin typeface="Times New Roman" panose="02020603050405020304" pitchFamily="18" charset="0"/>
                <a:cs typeface="Times New Roman" panose="02020603050405020304" pitchFamily="18" charset="0"/>
              </a:rPr>
              <a:t>Jira</a:t>
            </a:r>
          </a:p>
          <a:p>
            <a:r>
              <a:rPr lang="en-US" sz="4800" dirty="0" smtClean="0">
                <a:latin typeface="Times New Roman" panose="02020603050405020304" pitchFamily="18" charset="0"/>
                <a:cs typeface="Times New Roman" panose="02020603050405020304" pitchFamily="18" charset="0"/>
              </a:rPr>
              <a:t>Asana</a:t>
            </a:r>
            <a:endParaRPr lang="bg-B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150610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bg-BG" b="1" dirty="0" smtClean="0"/>
              <a:t> </a:t>
            </a:r>
            <a:r>
              <a:rPr lang="en-US" dirty="0">
                <a:latin typeface="Times New Roman" panose="02020603050405020304" pitchFamily="18" charset="0"/>
                <a:cs typeface="Times New Roman" panose="02020603050405020304" pitchFamily="18" charset="0"/>
              </a:rPr>
              <a:t>ROLLING WAVE </a:t>
            </a:r>
            <a:r>
              <a:rPr lang="bg-BG" dirty="0">
                <a:latin typeface="Times New Roman" panose="02020603050405020304" pitchFamily="18" charset="0"/>
                <a:cs typeface="Times New Roman" panose="02020603050405020304" pitchFamily="18" charset="0"/>
              </a:rPr>
              <a:t>планиране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96291" y="1981200"/>
            <a:ext cx="6196405" cy="3603812"/>
          </a:xfrm>
        </p:spPr>
        <p:txBody>
          <a:bodyPr>
            <a:normAutofit/>
          </a:bodyPr>
          <a:lstStyle/>
          <a:p>
            <a:pPr marL="274320" lvl="1"/>
            <a:r>
              <a:rPr lang="bg-BG" sz="2400" dirty="0" smtClean="0">
                <a:latin typeface="Times New Roman" panose="02020603050405020304" pitchFamily="18" charset="0"/>
                <a:cs typeface="Times New Roman" panose="02020603050405020304" pitchFamily="18" charset="0"/>
              </a:rPr>
              <a:t>Същност  </a:t>
            </a:r>
            <a:r>
              <a:rPr lang="bg-BG" sz="2000" dirty="0" smtClean="0">
                <a:latin typeface="Times New Roman" panose="02020603050405020304" pitchFamily="18" charset="0"/>
                <a:cs typeface="Times New Roman" panose="02020603050405020304" pitchFamily="18" charset="0"/>
              </a:rPr>
              <a:t>	</a:t>
            </a:r>
            <a:r>
              <a:rPr lang="bg-BG" sz="2000" dirty="0" smtClean="0">
                <a:latin typeface="Times New Roman" panose="02020603050405020304" pitchFamily="18" charset="0"/>
                <a:cs typeface="Times New Roman" panose="02020603050405020304" pitchFamily="18" charset="0"/>
              </a:rPr>
              <a:t> </a:t>
            </a:r>
            <a:r>
              <a:rPr lang="bg-BG" sz="1800" dirty="0" smtClean="0">
                <a:latin typeface="Times New Roman" panose="02020603050405020304" pitchFamily="18" charset="0"/>
                <a:cs typeface="Times New Roman" panose="02020603050405020304" pitchFamily="18" charset="0"/>
              </a:rPr>
              <a:t>препоръчителен </a:t>
            </a:r>
            <a:r>
              <a:rPr lang="bg-BG" sz="1800" dirty="0">
                <a:latin typeface="Times New Roman" panose="02020603050405020304" pitchFamily="18" charset="0"/>
                <a:cs typeface="Times New Roman" panose="02020603050405020304" pitchFamily="18" charset="0"/>
              </a:rPr>
              <a:t>подход е да се надгради схемата от високо ниво с подробности за следващия месец, за последвания месец и така за обхват от три месеца</a:t>
            </a:r>
            <a:r>
              <a:rPr lang="bg-BG" sz="1800" dirty="0" smtClean="0">
                <a:latin typeface="Times New Roman" panose="02020603050405020304" pitchFamily="18" charset="0"/>
                <a:cs typeface="Times New Roman" panose="02020603050405020304" pitchFamily="18" charset="0"/>
              </a:rPr>
              <a:t>.</a:t>
            </a:r>
          </a:p>
          <a:p>
            <a:pPr marL="0" lvl="1" indent="0">
              <a:buNone/>
            </a:pPr>
            <a:endParaRPr lang="en-US" sz="2000" dirty="0">
              <a:latin typeface="Times New Roman" panose="02020603050405020304" pitchFamily="18" charset="0"/>
              <a:cs typeface="Times New Roman" panose="02020603050405020304" pitchFamily="18" charset="0"/>
            </a:endParaRPr>
          </a:p>
          <a:p>
            <a:pPr marL="274320" lvl="1"/>
            <a:r>
              <a:rPr lang="bg-BG" sz="2400" dirty="0">
                <a:latin typeface="Times New Roman" panose="02020603050405020304" pitchFamily="18" charset="0"/>
                <a:cs typeface="Times New Roman" panose="02020603050405020304" pitchFamily="18" charset="0"/>
              </a:rPr>
              <a:t>Възможности който предоставя </a:t>
            </a:r>
            <a:endParaRPr lang="en-US" sz="2000" dirty="0">
              <a:latin typeface="Times New Roman" panose="02020603050405020304" pitchFamily="18" charset="0"/>
              <a:cs typeface="Times New Roman" panose="02020603050405020304" pitchFamily="18" charset="0"/>
            </a:endParaRPr>
          </a:p>
          <a:p>
            <a:pPr lvl="1" algn="just"/>
            <a:r>
              <a:rPr lang="bg-BG" sz="1800" dirty="0">
                <a:latin typeface="Times New Roman" panose="02020603050405020304" pitchFamily="18" charset="0"/>
                <a:cs typeface="Times New Roman" panose="02020603050405020304" pitchFamily="18" charset="0"/>
              </a:rPr>
              <a:t>наличност на ресурси когато са необходими</a:t>
            </a:r>
            <a:endParaRPr lang="en-US" sz="1400" dirty="0">
              <a:latin typeface="Times New Roman" panose="02020603050405020304" pitchFamily="18" charset="0"/>
              <a:cs typeface="Times New Roman" panose="02020603050405020304" pitchFamily="18" charset="0"/>
            </a:endParaRPr>
          </a:p>
          <a:p>
            <a:pPr lvl="1" algn="just"/>
            <a:r>
              <a:rPr lang="bg-BG" sz="1800" dirty="0">
                <a:latin typeface="Times New Roman" panose="02020603050405020304" pitchFamily="18" charset="0"/>
                <a:cs typeface="Times New Roman" panose="02020603050405020304" pitchFamily="18" charset="0"/>
              </a:rPr>
              <a:t>премахване на пречки и координирана работа</a:t>
            </a:r>
            <a:endParaRPr lang="en-US" sz="1400" dirty="0">
              <a:latin typeface="Times New Roman" panose="02020603050405020304" pitchFamily="18" charset="0"/>
              <a:cs typeface="Times New Roman" panose="02020603050405020304" pitchFamily="18" charset="0"/>
            </a:endParaRPr>
          </a:p>
          <a:p>
            <a:pPr lvl="1" algn="just"/>
            <a:r>
              <a:rPr lang="bg-BG" sz="1800" dirty="0">
                <a:latin typeface="Times New Roman" panose="02020603050405020304" pitchFamily="18" charset="0"/>
                <a:cs typeface="Times New Roman" panose="02020603050405020304" pitchFamily="18" charset="0"/>
              </a:rPr>
              <a:t>разпознаване и справяне с рискови фактори преди те да са станали </a:t>
            </a:r>
            <a:r>
              <a:rPr lang="bg-BG" sz="1800" dirty="0" smtClean="0">
                <a:latin typeface="Times New Roman" panose="02020603050405020304" pitchFamily="18" charset="0"/>
                <a:cs typeface="Times New Roman" panose="02020603050405020304" pitchFamily="18" charset="0"/>
              </a:rPr>
              <a:t>проблемни</a:t>
            </a:r>
          </a:p>
        </p:txBody>
      </p:sp>
    </p:spTree>
    <p:extLst>
      <p:ext uri="{BB962C8B-B14F-4D97-AF65-F5344CB8AC3E}">
        <p14:creationId xmlns:p14="http://schemas.microsoft.com/office/powerpoint/2010/main" val="187424425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6291" y="1981200"/>
            <a:ext cx="6196405" cy="3603812"/>
          </a:xfrm>
        </p:spPr>
        <p:txBody>
          <a:bodyPr>
            <a:normAutofit/>
          </a:bodyPr>
          <a:lstStyle/>
          <a:p>
            <a:pPr marL="274320" lvl="1" algn="just"/>
            <a:r>
              <a:rPr lang="bg-BG" sz="2400" dirty="0" smtClean="0">
                <a:latin typeface="Times New Roman" panose="02020603050405020304" pitchFamily="18" charset="0"/>
                <a:cs typeface="Times New Roman" panose="02020603050405020304" pitchFamily="18" charset="0"/>
              </a:rPr>
              <a:t>Схема </a:t>
            </a:r>
            <a:r>
              <a:rPr lang="bg-BG" sz="2400" dirty="0">
                <a:latin typeface="Times New Roman" panose="02020603050405020304" pitchFamily="18" charset="0"/>
                <a:cs typeface="Times New Roman" panose="02020603050405020304" pitchFamily="18" charset="0"/>
              </a:rPr>
              <a:t>на </a:t>
            </a:r>
            <a:r>
              <a:rPr lang="en-US" sz="2400" dirty="0">
                <a:latin typeface="Times New Roman" panose="02020603050405020304" pitchFamily="18" charset="0"/>
                <a:cs typeface="Times New Roman" panose="02020603050405020304" pitchFamily="18" charset="0"/>
              </a:rPr>
              <a:t>ROLLING WAVE PLAN</a:t>
            </a:r>
            <a:endParaRPr lang="en-US" sz="2000" dirty="0">
              <a:latin typeface="Times New Roman" panose="02020603050405020304" pitchFamily="18" charset="0"/>
              <a:cs typeface="Times New Roman" panose="02020603050405020304" pitchFamily="18" charset="0"/>
            </a:endParaRPr>
          </a:p>
          <a:p>
            <a:pPr algn="just"/>
            <a:endParaRPr lang="bg-BG" dirty="0" smtClean="0"/>
          </a:p>
        </p:txBody>
      </p:sp>
      <p:pic>
        <p:nvPicPr>
          <p:cNvPr id="4" name="Картина 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667000"/>
            <a:ext cx="7010400" cy="2133600"/>
          </a:xfrm>
          <a:prstGeom prst="rect">
            <a:avLst/>
          </a:prstGeom>
          <a:noFill/>
          <a:ln>
            <a:noFill/>
          </a:ln>
        </p:spPr>
      </p:pic>
    </p:spTree>
    <p:extLst>
      <p:ext uri="{BB962C8B-B14F-4D97-AF65-F5344CB8AC3E}">
        <p14:creationId xmlns:p14="http://schemas.microsoft.com/office/powerpoint/2010/main" val="1086719393"/>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ctr"/>
            <a:r>
              <a:rPr lang="bg-BG" dirty="0" smtClean="0">
                <a:latin typeface="Times New Roman" panose="02020603050405020304" pitchFamily="18" charset="0"/>
                <a:cs typeface="Times New Roman" panose="02020603050405020304" pitchFamily="18" charset="0"/>
              </a:rPr>
              <a:t>Техника </a:t>
            </a:r>
            <a:r>
              <a:rPr lang="bg-BG" dirty="0">
                <a:latin typeface="Times New Roman" panose="02020603050405020304" pitchFamily="18" charset="0"/>
                <a:cs typeface="Times New Roman" panose="02020603050405020304" pitchFamily="18" charset="0"/>
              </a:rPr>
              <a:t>за плануване на </a:t>
            </a:r>
            <a:r>
              <a:rPr lang="bg-BG" dirty="0" smtClean="0">
                <a:latin typeface="Times New Roman" panose="02020603050405020304" pitchFamily="18" charset="0"/>
                <a:cs typeface="Times New Roman" panose="02020603050405020304" pitchFamily="18" charset="0"/>
              </a:rPr>
              <a:t>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274320" lvl="1"/>
            <a:r>
              <a:rPr lang="bg-BG" sz="4400" dirty="0">
                <a:latin typeface="Times New Roman" panose="02020603050405020304" pitchFamily="18" charset="0"/>
                <a:cs typeface="Times New Roman" panose="02020603050405020304" pitchFamily="18" charset="0"/>
              </a:rPr>
              <a:t>Сценарии за изграждане на проектен </a:t>
            </a:r>
            <a:r>
              <a:rPr lang="bg-BG" sz="4400" dirty="0" smtClean="0">
                <a:latin typeface="Times New Roman" panose="02020603050405020304" pitchFamily="18" charset="0"/>
                <a:cs typeface="Times New Roman" panose="02020603050405020304" pitchFamily="18" charset="0"/>
              </a:rPr>
              <a:t>план</a:t>
            </a:r>
            <a:endParaRPr lang="bg-BG" sz="4000" dirty="0">
              <a:latin typeface="Times New Roman" panose="02020603050405020304" pitchFamily="18" charset="0"/>
              <a:cs typeface="Times New Roman" panose="02020603050405020304" pitchFamily="18" charset="0"/>
            </a:endParaRPr>
          </a:p>
          <a:p>
            <a:pPr marL="274320" lvl="1"/>
            <a:r>
              <a:rPr lang="en-US" sz="4400" dirty="0" smtClean="0">
                <a:latin typeface="Times New Roman" panose="02020603050405020304" pitchFamily="18" charset="0"/>
                <a:cs typeface="Times New Roman" panose="02020603050405020304" pitchFamily="18" charset="0"/>
              </a:rPr>
              <a:t>ADV (Architecture Decomposition View)</a:t>
            </a:r>
            <a:endParaRPr lang="en-US" sz="4400" dirty="0">
              <a:latin typeface="Times New Roman" panose="02020603050405020304" pitchFamily="18" charset="0"/>
              <a:cs typeface="Times New Roman" panose="02020603050405020304" pitchFamily="18" charset="0"/>
            </a:endParaRPr>
          </a:p>
          <a:p>
            <a:pPr marL="274320" lvl="1"/>
            <a:r>
              <a:rPr lang="en-US" sz="4400" dirty="0" smtClean="0">
                <a:latin typeface="Times New Roman" panose="02020603050405020304" pitchFamily="18" charset="0"/>
                <a:cs typeface="Times New Roman" panose="02020603050405020304" pitchFamily="18" charset="0"/>
              </a:rPr>
              <a:t>WBS (Work </a:t>
            </a:r>
            <a:r>
              <a:rPr lang="en-US" sz="4400" dirty="0" err="1" smtClean="0">
                <a:latin typeface="Times New Roman" panose="02020603050405020304" pitchFamily="18" charset="0"/>
                <a:cs typeface="Times New Roman" panose="02020603050405020304" pitchFamily="18" charset="0"/>
              </a:rPr>
              <a:t>BreakDown</a:t>
            </a:r>
            <a:r>
              <a:rPr lang="en-US" sz="4400" dirty="0" smtClean="0">
                <a:latin typeface="Times New Roman" panose="02020603050405020304" pitchFamily="18" charset="0"/>
                <a:cs typeface="Times New Roman" panose="02020603050405020304" pitchFamily="18" charset="0"/>
              </a:rPr>
              <a:t> Structure)</a:t>
            </a:r>
            <a:endParaRPr lang="en-US" sz="4400" dirty="0">
              <a:latin typeface="Times New Roman" panose="02020603050405020304" pitchFamily="18" charset="0"/>
              <a:cs typeface="Times New Roman" panose="02020603050405020304" pitchFamily="18" charset="0"/>
            </a:endParaRPr>
          </a:p>
          <a:p>
            <a:pPr marL="274320" lvl="1"/>
            <a:endParaRPr lang="en-US" sz="2400" dirty="0"/>
          </a:p>
        </p:txBody>
      </p:sp>
    </p:spTree>
    <p:extLst>
      <p:ext uri="{BB962C8B-B14F-4D97-AF65-F5344CB8AC3E}">
        <p14:creationId xmlns:p14="http://schemas.microsoft.com/office/powerpoint/2010/main" val="299652357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ADV</a:t>
            </a:r>
            <a:endParaRPr lang="en-US" b="1" dirty="0">
              <a:latin typeface="Times New Roman" panose="02020603050405020304" pitchFamily="18" charset="0"/>
              <a:cs typeface="Times New Roman" panose="02020603050405020304" pitchFamily="18" charset="0"/>
            </a:endParaRPr>
          </a:p>
        </p:txBody>
      </p:sp>
      <p:pic>
        <p:nvPicPr>
          <p:cNvPr id="4" name="Картина 5"/>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676400"/>
            <a:ext cx="7239000" cy="4114800"/>
          </a:xfrm>
          <a:prstGeom prst="rect">
            <a:avLst/>
          </a:prstGeom>
          <a:noFill/>
          <a:ln>
            <a:noFill/>
          </a:ln>
        </p:spPr>
      </p:pic>
    </p:spTree>
    <p:extLst>
      <p:ext uri="{BB962C8B-B14F-4D97-AF65-F5344CB8AC3E}">
        <p14:creationId xmlns:p14="http://schemas.microsoft.com/office/powerpoint/2010/main" val="19160838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WBS</a:t>
            </a:r>
            <a:endParaRPr lang="en-US" b="1" dirty="0">
              <a:latin typeface="Times New Roman" panose="02020603050405020304" pitchFamily="18" charset="0"/>
              <a:cs typeface="Times New Roman" panose="02020603050405020304" pitchFamily="18" charset="0"/>
            </a:endParaRPr>
          </a:p>
        </p:txBody>
      </p:sp>
      <p:pic>
        <p:nvPicPr>
          <p:cNvPr id="6" name="Картина 9"/>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7162800" cy="4495800"/>
          </a:xfrm>
          <a:prstGeom prst="rect">
            <a:avLst/>
          </a:prstGeom>
          <a:noFill/>
          <a:ln>
            <a:noFill/>
          </a:ln>
        </p:spPr>
      </p:pic>
    </p:spTree>
    <p:extLst>
      <p:ext uri="{BB962C8B-B14F-4D97-AF65-F5344CB8AC3E}">
        <p14:creationId xmlns:p14="http://schemas.microsoft.com/office/powerpoint/2010/main" val="122595359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latin typeface="Times New Roman" panose="02020603050405020304" pitchFamily="18" charset="0"/>
                <a:cs typeface="Times New Roman" panose="02020603050405020304" pitchFamily="18" charset="0"/>
              </a:rPr>
              <a:t>ADV &amp; WBS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63040" y="2119257"/>
            <a:ext cx="6196405" cy="3595744"/>
          </a:xfrm>
        </p:spPr>
        <p:txBody>
          <a:bodyPr>
            <a:normAutofit fontScale="85000" lnSpcReduction="20000"/>
          </a:bodyPr>
          <a:lstStyle/>
          <a:p>
            <a:pPr marL="274320" lvl="3" indent="-274320" algn="just"/>
            <a:r>
              <a:rPr lang="bg-BG" sz="3100" dirty="0">
                <a:latin typeface="Times New Roman" panose="02020603050405020304" pitchFamily="18" charset="0"/>
                <a:cs typeface="Times New Roman" panose="02020603050405020304" pitchFamily="18" charset="0"/>
              </a:rPr>
              <a:t>Разлики между </a:t>
            </a:r>
            <a:r>
              <a:rPr lang="en-US" sz="3100" dirty="0">
                <a:latin typeface="Times New Roman" panose="02020603050405020304" pitchFamily="18" charset="0"/>
                <a:cs typeface="Times New Roman" panose="02020603050405020304" pitchFamily="18" charset="0"/>
              </a:rPr>
              <a:t>ADV </a:t>
            </a:r>
            <a:r>
              <a:rPr lang="bg-BG" sz="3100" dirty="0">
                <a:latin typeface="Times New Roman" panose="02020603050405020304" pitchFamily="18" charset="0"/>
                <a:cs typeface="Times New Roman" panose="02020603050405020304" pitchFamily="18" charset="0"/>
              </a:rPr>
              <a:t>и </a:t>
            </a:r>
            <a:r>
              <a:rPr lang="en-US" sz="3100" dirty="0" smtClean="0">
                <a:latin typeface="Times New Roman" panose="02020603050405020304" pitchFamily="18" charset="0"/>
                <a:cs typeface="Times New Roman" panose="02020603050405020304" pitchFamily="18" charset="0"/>
              </a:rPr>
              <a:t>WBS</a:t>
            </a:r>
          </a:p>
          <a:p>
            <a:pPr marL="274320" lvl="3" indent="-274320" algn="just"/>
            <a:r>
              <a:rPr lang="bg-BG" sz="3100" dirty="0">
                <a:latin typeface="Times New Roman" panose="02020603050405020304" pitchFamily="18" charset="0"/>
                <a:cs typeface="Times New Roman" panose="02020603050405020304" pitchFamily="18" charset="0"/>
              </a:rPr>
              <a:t>Основни насоки</a:t>
            </a:r>
            <a:endParaRPr lang="en-US" sz="3100" dirty="0">
              <a:latin typeface="Times New Roman" panose="02020603050405020304" pitchFamily="18" charset="0"/>
              <a:cs typeface="Times New Roman" panose="02020603050405020304" pitchFamily="18" charset="0"/>
            </a:endParaRPr>
          </a:p>
          <a:p>
            <a:pPr lvl="1" algn="just"/>
            <a:r>
              <a:rPr lang="bg-BG" sz="2100" dirty="0">
                <a:latin typeface="Times New Roman" panose="02020603050405020304" pitchFamily="18" charset="0"/>
                <a:cs typeface="Times New Roman" panose="02020603050405020304" pitchFamily="18" charset="0"/>
              </a:rPr>
              <a:t>скрити усложнения са изложени (т.е. задачата за изпъление да се разбира); </a:t>
            </a:r>
            <a:endParaRPr lang="en-US" sz="2100" dirty="0">
              <a:latin typeface="Times New Roman" panose="02020603050405020304" pitchFamily="18" charset="0"/>
              <a:cs typeface="Times New Roman" panose="02020603050405020304" pitchFamily="18" charset="0"/>
            </a:endParaRPr>
          </a:p>
          <a:p>
            <a:pPr lvl="1" algn="just"/>
            <a:r>
              <a:rPr lang="bg-BG" sz="2100" dirty="0">
                <a:latin typeface="Times New Roman" panose="02020603050405020304" pitchFamily="18" charset="0"/>
                <a:cs typeface="Times New Roman" panose="02020603050405020304" pitchFamily="18" charset="0"/>
              </a:rPr>
              <a:t>възможности за повторно използване на съществуващи софтуерни компоненти могат да бъдат идентифициран; </a:t>
            </a:r>
            <a:endParaRPr lang="en-US" sz="2100" dirty="0">
              <a:latin typeface="Times New Roman" panose="02020603050405020304" pitchFamily="18" charset="0"/>
              <a:cs typeface="Times New Roman" panose="02020603050405020304" pitchFamily="18" charset="0"/>
            </a:endParaRPr>
          </a:p>
          <a:p>
            <a:pPr lvl="1" algn="just"/>
            <a:r>
              <a:rPr lang="bg-BG" sz="2100" dirty="0">
                <a:latin typeface="Times New Roman" panose="02020603050405020304" pitchFamily="18" charset="0"/>
                <a:cs typeface="Times New Roman" panose="02020603050405020304" pitchFamily="18" charset="0"/>
              </a:rPr>
              <a:t>необходимите хардуерни ресурси, като например </a:t>
            </a:r>
            <a:r>
              <a:rPr lang="en-US" sz="2100" dirty="0">
                <a:latin typeface="Times New Roman" panose="02020603050405020304" pitchFamily="18" charset="0"/>
                <a:cs typeface="Times New Roman" panose="02020603050405020304" pitchFamily="18" charset="0"/>
              </a:rPr>
              <a:t>RAM</a:t>
            </a:r>
            <a:r>
              <a:rPr lang="bg-BG" sz="2100" dirty="0">
                <a:latin typeface="Times New Roman" panose="02020603050405020304" pitchFamily="18" charset="0"/>
                <a:cs typeface="Times New Roman" panose="02020603050405020304" pitchFamily="18" charset="0"/>
              </a:rPr>
              <a:t> и </a:t>
            </a:r>
            <a:r>
              <a:rPr lang="en-US" sz="2100" dirty="0">
                <a:latin typeface="Times New Roman" panose="02020603050405020304" pitchFamily="18" charset="0"/>
                <a:cs typeface="Times New Roman" panose="02020603050405020304" pitchFamily="18" charset="0"/>
              </a:rPr>
              <a:t>CPU</a:t>
            </a:r>
            <a:r>
              <a:rPr lang="bg-BG" sz="2100" dirty="0">
                <a:latin typeface="Times New Roman" panose="02020603050405020304" pitchFamily="18" charset="0"/>
                <a:cs typeface="Times New Roman" panose="02020603050405020304" pitchFamily="18" charset="0"/>
              </a:rPr>
              <a:t>, може да бъдат определени (което може да доведе до преразглеждане на изискванията за хардуер);</a:t>
            </a:r>
            <a:endParaRPr lang="en-US" sz="2100" dirty="0">
              <a:latin typeface="Times New Roman" panose="02020603050405020304" pitchFamily="18" charset="0"/>
              <a:cs typeface="Times New Roman" panose="02020603050405020304" pitchFamily="18" charset="0"/>
            </a:endParaRPr>
          </a:p>
          <a:p>
            <a:pPr lvl="1" algn="just"/>
            <a:r>
              <a:rPr lang="bg-BG" sz="2100" dirty="0">
                <a:latin typeface="Times New Roman" panose="02020603050405020304" pitchFamily="18" charset="0"/>
                <a:cs typeface="Times New Roman" panose="02020603050405020304" pitchFamily="18" charset="0"/>
              </a:rPr>
              <a:t>оценки на усилията, необходими за разработване на софтуер могат да бъдат направени.</a:t>
            </a:r>
            <a:endParaRPr lang="en-US" sz="2100" dirty="0">
              <a:latin typeface="Times New Roman" panose="02020603050405020304" pitchFamily="18" charset="0"/>
              <a:cs typeface="Times New Roman" panose="02020603050405020304" pitchFamily="18" charset="0"/>
            </a:endParaRPr>
          </a:p>
          <a:p>
            <a:pPr marL="640080" lvl="4" indent="-274320"/>
            <a:endParaRPr lang="en-US" sz="2200" dirty="0"/>
          </a:p>
          <a:p>
            <a:endParaRPr lang="en-US" sz="3600" dirty="0"/>
          </a:p>
        </p:txBody>
      </p:sp>
    </p:spTree>
    <p:extLst>
      <p:ext uri="{BB962C8B-B14F-4D97-AF65-F5344CB8AC3E}">
        <p14:creationId xmlns:p14="http://schemas.microsoft.com/office/powerpoint/2010/main" val="71723676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t>
            </a:r>
            <a:r>
              <a:rPr lang="bg-BG" dirty="0">
                <a:latin typeface="Times New Roman" panose="02020603050405020304" pitchFamily="18" charset="0"/>
                <a:cs typeface="Times New Roman" panose="02020603050405020304" pitchFamily="18" charset="0"/>
              </a:rPr>
              <a:t>Развитие на  графика за софтуерния 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63040" y="1981200"/>
            <a:ext cx="6196405" cy="4114799"/>
          </a:xfrm>
        </p:spPr>
        <p:txBody>
          <a:bodyPr>
            <a:normAutofit/>
          </a:bodyPr>
          <a:lstStyle/>
          <a:p>
            <a:pPr marL="274320" lvl="1" algn="just"/>
            <a:r>
              <a:rPr lang="bg-BG" sz="2800" dirty="0">
                <a:latin typeface="Times New Roman" panose="02020603050405020304" pitchFamily="18" charset="0"/>
                <a:cs typeface="Times New Roman" panose="02020603050405020304" pitchFamily="18" charset="0"/>
              </a:rPr>
              <a:t>Увод</a:t>
            </a:r>
            <a:endParaRPr lang="en-US" sz="2800" dirty="0">
              <a:latin typeface="Times New Roman" panose="02020603050405020304" pitchFamily="18" charset="0"/>
              <a:cs typeface="Times New Roman" panose="02020603050405020304" pitchFamily="18" charset="0"/>
            </a:endParaRPr>
          </a:p>
          <a:p>
            <a:pPr algn="just"/>
            <a:r>
              <a:rPr lang="bg-BG" sz="2400" dirty="0">
                <a:latin typeface="Times New Roman" panose="02020603050405020304" pitchFamily="18" charset="0"/>
                <a:cs typeface="Times New Roman" panose="02020603050405020304" pitchFamily="18" charset="0"/>
              </a:rPr>
              <a:t>Метод на </a:t>
            </a:r>
            <a:r>
              <a:rPr lang="bg-BG" sz="2400" dirty="0" smtClean="0">
                <a:latin typeface="Times New Roman" panose="02020603050405020304" pitchFamily="18" charset="0"/>
                <a:cs typeface="Times New Roman" panose="02020603050405020304" pitchFamily="18" charset="0"/>
              </a:rPr>
              <a:t>критичния път</a:t>
            </a:r>
            <a:endParaRPr lang="en-US" sz="2400" dirty="0" smtClean="0">
              <a:latin typeface="Times New Roman" panose="02020603050405020304" pitchFamily="18" charset="0"/>
              <a:cs typeface="Times New Roman" panose="02020603050405020304" pitchFamily="18" charset="0"/>
            </a:endParaRPr>
          </a:p>
          <a:p>
            <a:pPr marL="640080" lvl="3" indent="-274320" algn="just"/>
            <a:r>
              <a:rPr lang="bg-BG" sz="1800" dirty="0">
                <a:latin typeface="Times New Roman" panose="02020603050405020304" pitchFamily="18" charset="0"/>
                <a:cs typeface="Times New Roman" panose="02020603050405020304" pitchFamily="18" charset="0"/>
              </a:rPr>
              <a:t>Изчисляване на критични пътища и Свободно </a:t>
            </a:r>
            <a:r>
              <a:rPr lang="bg-BG" sz="1800" dirty="0" smtClean="0">
                <a:latin typeface="Times New Roman" panose="02020603050405020304" pitchFamily="18" charset="0"/>
                <a:cs typeface="Times New Roman" panose="02020603050405020304" pitchFamily="18" charset="0"/>
              </a:rPr>
              <a:t>време</a:t>
            </a:r>
            <a:endParaRPr lang="en-US" sz="1800" dirty="0" smtClean="0">
              <a:latin typeface="Times New Roman" panose="02020603050405020304" pitchFamily="18" charset="0"/>
              <a:cs typeface="Times New Roman" panose="02020603050405020304" pitchFamily="18" charset="0"/>
            </a:endParaRPr>
          </a:p>
          <a:p>
            <a:pPr marL="274320" lvl="1" algn="just"/>
            <a:r>
              <a:rPr lang="bg-BG" sz="2800" dirty="0" smtClean="0">
                <a:latin typeface="Times New Roman" panose="02020603050405020304" pitchFamily="18" charset="0"/>
                <a:cs typeface="Times New Roman" panose="02020603050405020304" pitchFamily="18" charset="0"/>
              </a:rPr>
              <a:t>ПЕРТ </a:t>
            </a:r>
            <a:r>
              <a:rPr lang="bg-BG" sz="2800" dirty="0">
                <a:latin typeface="Times New Roman" panose="02020603050405020304" pitchFamily="18" charset="0"/>
                <a:cs typeface="Times New Roman" panose="02020603050405020304" pitchFamily="18" charset="0"/>
              </a:rPr>
              <a:t>метод</a:t>
            </a:r>
            <a:endParaRPr lang="en-US" sz="2400" dirty="0">
              <a:latin typeface="Times New Roman" panose="02020603050405020304" pitchFamily="18" charset="0"/>
              <a:cs typeface="Times New Roman" panose="02020603050405020304" pitchFamily="18" charset="0"/>
            </a:endParaRPr>
          </a:p>
          <a:p>
            <a:pPr lvl="1" algn="just"/>
            <a:r>
              <a:rPr lang="bg-BG" sz="1800" dirty="0" smtClean="0">
                <a:latin typeface="Times New Roman" panose="02020603050405020304" pitchFamily="18" charset="0"/>
                <a:cs typeface="Times New Roman" panose="02020603050405020304" pitchFamily="18" charset="0"/>
              </a:rPr>
              <a:t>Увод</a:t>
            </a:r>
          </a:p>
          <a:p>
            <a:pPr lvl="1" algn="just"/>
            <a:r>
              <a:rPr lang="bg-BG" sz="1800" dirty="0" smtClean="0">
                <a:latin typeface="Times New Roman" panose="02020603050405020304" pitchFamily="18" charset="0"/>
                <a:cs typeface="Times New Roman" panose="02020603050405020304" pitchFamily="18" charset="0"/>
              </a:rPr>
              <a:t>Предимства</a:t>
            </a:r>
            <a:endParaRPr lang="en-US" sz="1800" dirty="0">
              <a:latin typeface="Times New Roman" panose="02020603050405020304" pitchFamily="18" charset="0"/>
              <a:cs typeface="Times New Roman" panose="02020603050405020304" pitchFamily="18" charset="0"/>
            </a:endParaRPr>
          </a:p>
          <a:p>
            <a:pPr lvl="1" algn="just"/>
            <a:r>
              <a:rPr lang="bg-BG" sz="1800" dirty="0">
                <a:latin typeface="Times New Roman" panose="02020603050405020304" pitchFamily="18" charset="0"/>
                <a:cs typeface="Times New Roman" panose="02020603050405020304" pitchFamily="18" charset="0"/>
              </a:rPr>
              <a:t>Недостатъци</a:t>
            </a:r>
            <a:endParaRPr lang="en-US" sz="1800" dirty="0" smtClean="0">
              <a:latin typeface="Times New Roman" panose="02020603050405020304" pitchFamily="18" charset="0"/>
              <a:cs typeface="Times New Roman" panose="02020603050405020304" pitchFamily="18" charset="0"/>
            </a:endParaRPr>
          </a:p>
          <a:p>
            <a:pPr marL="274320" lvl="1" algn="just"/>
            <a:r>
              <a:rPr lang="bg-BG" sz="2800" dirty="0" smtClean="0">
                <a:latin typeface="Times New Roman" panose="02020603050405020304" pitchFamily="18" charset="0"/>
                <a:cs typeface="Times New Roman" panose="02020603050405020304" pitchFamily="18" charset="0"/>
              </a:rPr>
              <a:t>Диаграми </a:t>
            </a:r>
            <a:r>
              <a:rPr lang="bg-BG" sz="2800" dirty="0">
                <a:latin typeface="Times New Roman" panose="02020603050405020304" pitchFamily="18" charset="0"/>
                <a:cs typeface="Times New Roman" panose="02020603050405020304" pitchFamily="18" charset="0"/>
              </a:rPr>
              <a:t>на Гант:</a:t>
            </a:r>
            <a:endParaRPr lang="en-US" sz="2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Task</a:t>
            </a:r>
            <a:r>
              <a:rPr lang="bg-BG" sz="1800" dirty="0">
                <a:latin typeface="Times New Roman" panose="02020603050405020304" pitchFamily="18" charset="0"/>
                <a:cs typeface="Times New Roman" panose="02020603050405020304" pitchFamily="18" charset="0"/>
              </a:rPr>
              <a:t> Gantts </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Resource</a:t>
            </a:r>
            <a:r>
              <a:rPr lang="bg-BG" sz="1800" dirty="0">
                <a:latin typeface="Times New Roman" panose="02020603050405020304" pitchFamily="18" charset="0"/>
                <a:cs typeface="Times New Roman" panose="02020603050405020304" pitchFamily="18" charset="0"/>
              </a:rPr>
              <a:t> Gantts </a:t>
            </a:r>
            <a:endParaRPr lang="en-US" sz="1800" dirty="0" smtClean="0">
              <a:latin typeface="Times New Roman" panose="02020603050405020304" pitchFamily="18" charset="0"/>
              <a:cs typeface="Times New Roman" panose="02020603050405020304" pitchFamily="18" charset="0"/>
            </a:endParaRPr>
          </a:p>
          <a:p>
            <a:endParaRPr lang="en-US" dirty="0"/>
          </a:p>
          <a:p>
            <a:endParaRPr lang="en-US" dirty="0" smtClean="0"/>
          </a:p>
          <a:p>
            <a:endParaRPr lang="en-US" dirty="0"/>
          </a:p>
        </p:txBody>
      </p:sp>
    </p:spTree>
    <p:extLst>
      <p:ext uri="{BB962C8B-B14F-4D97-AF65-F5344CB8AC3E}">
        <p14:creationId xmlns:p14="http://schemas.microsoft.com/office/powerpoint/2010/main" val="129086563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bg-BG" dirty="0" smtClean="0">
                <a:latin typeface="Times New Roman" panose="02020603050405020304" pitchFamily="18" charset="0"/>
                <a:cs typeface="Times New Roman" panose="02020603050405020304" pitchFamily="18" charset="0"/>
              </a:rPr>
              <a:t>Развитие </a:t>
            </a:r>
            <a:r>
              <a:rPr lang="bg-BG" dirty="0">
                <a:latin typeface="Times New Roman" panose="02020603050405020304" pitchFamily="18" charset="0"/>
                <a:cs typeface="Times New Roman" panose="02020603050405020304" pitchFamily="18" charset="0"/>
              </a:rPr>
              <a:t>на  графика за софтуерния 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63040" y="1981200"/>
            <a:ext cx="6196405" cy="4114799"/>
          </a:xfrm>
        </p:spPr>
        <p:txBody>
          <a:bodyPr>
            <a:normAutofit/>
          </a:bodyPr>
          <a:lstStyle/>
          <a:p>
            <a:pPr marL="45720" lvl="1" indent="0" algn="just">
              <a:buNone/>
            </a:pPr>
            <a:endParaRPr lang="en-US" sz="2400" dirty="0">
              <a:latin typeface="Times New Roman" panose="02020603050405020304" pitchFamily="18" charset="0"/>
              <a:cs typeface="Times New Roman" panose="02020603050405020304" pitchFamily="18" charset="0"/>
            </a:endParaRPr>
          </a:p>
          <a:p>
            <a:endParaRPr lang="en-US" dirty="0"/>
          </a:p>
          <a:p>
            <a:endParaRPr lang="en-US" dirty="0" smtClean="0"/>
          </a:p>
          <a:p>
            <a:endParaRPr lang="en-US" dirty="0"/>
          </a:p>
        </p:txBody>
      </p:sp>
      <p:pic>
        <p:nvPicPr>
          <p:cNvPr id="4" name="Картина 3"/>
          <p:cNvPicPr/>
          <p:nvPr/>
        </p:nvPicPr>
        <p:blipFill>
          <a:blip r:embed="rId2">
            <a:extLst>
              <a:ext uri="{28A0092B-C50C-407E-A947-70E740481C1C}">
                <a14:useLocalDpi xmlns:a14="http://schemas.microsoft.com/office/drawing/2010/main" val="0"/>
              </a:ext>
            </a:extLst>
          </a:blip>
          <a:srcRect/>
          <a:stretch>
            <a:fillRect/>
          </a:stretch>
        </p:blipFill>
        <p:spPr bwMode="auto">
          <a:xfrm>
            <a:off x="1695450" y="2590800"/>
            <a:ext cx="5753100" cy="3302000"/>
          </a:xfrm>
          <a:prstGeom prst="rect">
            <a:avLst/>
          </a:prstGeom>
          <a:noFill/>
          <a:ln>
            <a:noFill/>
          </a:ln>
        </p:spPr>
      </p:pic>
    </p:spTree>
    <p:extLst>
      <p:ext uri="{BB962C8B-B14F-4D97-AF65-F5344CB8AC3E}">
        <p14:creationId xmlns:p14="http://schemas.microsoft.com/office/powerpoint/2010/main" val="29329851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t>
            </a:r>
            <a:r>
              <a:rPr lang="bg-BG" dirty="0">
                <a:latin typeface="Times New Roman" panose="02020603050405020304" pitchFamily="18" charset="0"/>
                <a:cs typeface="Times New Roman" panose="02020603050405020304" pitchFamily="18" charset="0"/>
              </a:rPr>
              <a:t>Развитие на  графика за </a:t>
            </a:r>
            <a:r>
              <a:rPr lang="bg-BG" dirty="0" smtClean="0">
                <a:latin typeface="Times New Roman" panose="02020603050405020304" pitchFamily="18" charset="0"/>
                <a:cs typeface="Times New Roman" panose="02020603050405020304" pitchFamily="18" charset="0"/>
              </a:rPr>
              <a:t>софтуерен </a:t>
            </a:r>
            <a:r>
              <a:rPr lang="bg-BG" dirty="0">
                <a:latin typeface="Times New Roman" panose="02020603050405020304" pitchFamily="18" charset="0"/>
                <a:cs typeface="Times New Roman" panose="02020603050405020304" pitchFamily="18" charset="0"/>
              </a:rPr>
              <a:t>проект</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63040" y="1981200"/>
            <a:ext cx="6196405" cy="4114799"/>
          </a:xfrm>
        </p:spPr>
        <p:txBody>
          <a:bodyPr>
            <a:normAutofit/>
          </a:bodyPr>
          <a:lstStyle/>
          <a:p>
            <a:pPr algn="just"/>
            <a:r>
              <a:rPr lang="bg-BG" dirty="0" smtClean="0">
                <a:latin typeface="Times New Roman" panose="02020603050405020304" pitchFamily="18" charset="0"/>
                <a:cs typeface="Times New Roman" panose="02020603050405020304" pitchFamily="18" charset="0"/>
              </a:rPr>
              <a:t>Метод </a:t>
            </a:r>
            <a:r>
              <a:rPr lang="bg-BG" dirty="0">
                <a:latin typeface="Times New Roman" panose="02020603050405020304" pitchFamily="18" charset="0"/>
                <a:cs typeface="Times New Roman" panose="02020603050405020304" pitchFamily="18" charset="0"/>
              </a:rPr>
              <a:t>на </a:t>
            </a:r>
            <a:r>
              <a:rPr lang="bg-BG" dirty="0" smtClean="0">
                <a:latin typeface="Times New Roman" panose="02020603050405020304" pitchFamily="18" charset="0"/>
                <a:cs typeface="Times New Roman" panose="02020603050405020304" pitchFamily="18" charset="0"/>
              </a:rPr>
              <a:t>критичния път</a:t>
            </a:r>
            <a:endParaRPr lang="en-US" dirty="0" smtClean="0">
              <a:latin typeface="Times New Roman" panose="02020603050405020304" pitchFamily="18" charset="0"/>
              <a:cs typeface="Times New Roman" panose="02020603050405020304" pitchFamily="18" charset="0"/>
            </a:endParaRPr>
          </a:p>
          <a:p>
            <a:endParaRPr lang="en-US" dirty="0"/>
          </a:p>
          <a:p>
            <a:endParaRPr lang="en-US" dirty="0" smtClean="0"/>
          </a:p>
          <a:p>
            <a:endParaRPr lang="en-US" dirty="0"/>
          </a:p>
        </p:txBody>
      </p:sp>
      <p:pic>
        <p:nvPicPr>
          <p:cNvPr id="5" name="Картина 4"/>
          <p:cNvPicPr/>
          <p:nvPr/>
        </p:nvPicPr>
        <p:blipFill rotWithShape="1">
          <a:blip r:embed="rId2">
            <a:extLst>
              <a:ext uri="{28A0092B-C50C-407E-A947-70E740481C1C}">
                <a14:useLocalDpi xmlns:a14="http://schemas.microsoft.com/office/drawing/2010/main" val="0"/>
              </a:ext>
            </a:extLst>
          </a:blip>
          <a:srcRect r="4001"/>
          <a:stretch/>
        </p:blipFill>
        <p:spPr bwMode="auto">
          <a:xfrm>
            <a:off x="1905000" y="2514600"/>
            <a:ext cx="5334000" cy="329738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3894787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0"/>
            <a:ext cx="7239000" cy="5333999"/>
          </a:xfrm>
        </p:spPr>
        <p:txBody>
          <a:bodyPr>
            <a:normAutofit/>
          </a:bodyPr>
          <a:lstStyle/>
          <a:p>
            <a:pPr lvl="0"/>
            <a:r>
              <a:rPr lang="en-US" sz="1800" dirty="0"/>
              <a:t>EST (Earliest Start Time) -  </a:t>
            </a:r>
            <a:r>
              <a:rPr lang="bg-BG" sz="1800" dirty="0"/>
              <a:t>най ранния момент когато дадена задача може да бъде започната. </a:t>
            </a:r>
            <a:endParaRPr lang="bg-BG" sz="1800" dirty="0" smtClean="0"/>
          </a:p>
          <a:p>
            <a:pPr lvl="0"/>
            <a:endParaRPr lang="bg-BG" sz="1800" dirty="0"/>
          </a:p>
          <a:p>
            <a:pPr lvl="0"/>
            <a:r>
              <a:rPr lang="en-US" sz="1800" dirty="0"/>
              <a:t>EFT (Earliest Finish Time) – </a:t>
            </a:r>
            <a:r>
              <a:rPr lang="bg-BG" sz="1800" dirty="0"/>
              <a:t>най-ранното време на приключване на задача. То е равно на </a:t>
            </a:r>
            <a:r>
              <a:rPr lang="en-US" sz="1800" dirty="0"/>
              <a:t>EST + </a:t>
            </a:r>
            <a:r>
              <a:rPr lang="bg-BG" sz="1800" dirty="0"/>
              <a:t>времето за изпълнение на задачата</a:t>
            </a:r>
            <a:r>
              <a:rPr lang="bg-BG" sz="1800" dirty="0" smtClean="0"/>
              <a:t>.</a:t>
            </a:r>
          </a:p>
          <a:p>
            <a:pPr lvl="0"/>
            <a:endParaRPr lang="bg-BG" sz="1800" dirty="0"/>
          </a:p>
          <a:p>
            <a:pPr lvl="0"/>
            <a:r>
              <a:rPr lang="en-US" sz="1800" dirty="0"/>
              <a:t>LST (Latest Start Time) – </a:t>
            </a:r>
            <a:r>
              <a:rPr lang="bg-BG" sz="1800" dirty="0"/>
              <a:t>най-късното време когато дадена задача може да бъде започната без да се забави края на проекта. </a:t>
            </a:r>
            <a:endParaRPr lang="bg-BG" sz="1800" dirty="0" smtClean="0"/>
          </a:p>
          <a:p>
            <a:pPr lvl="0"/>
            <a:endParaRPr lang="bg-BG" sz="1800" dirty="0"/>
          </a:p>
          <a:p>
            <a:pPr lvl="0"/>
            <a:r>
              <a:rPr lang="en-US" sz="1800" dirty="0"/>
              <a:t>LFT (Latest Finish Time) – </a:t>
            </a:r>
            <a:r>
              <a:rPr lang="bg-BG" sz="1800" dirty="0"/>
              <a:t>най-късното време когато задача може да се завърши без да се забавя завършването на проекта. </a:t>
            </a:r>
            <a:r>
              <a:rPr lang="en-US" sz="1800" dirty="0"/>
              <a:t>LST </a:t>
            </a:r>
            <a:r>
              <a:rPr lang="bg-BG" sz="1800" dirty="0"/>
              <a:t>за всяка задача е </a:t>
            </a:r>
            <a:r>
              <a:rPr lang="en-US" sz="1800" dirty="0"/>
              <a:t>LST </a:t>
            </a:r>
            <a:r>
              <a:rPr lang="bg-BG" sz="1800" dirty="0"/>
              <a:t>+ продължителността на задачата</a:t>
            </a:r>
            <a:r>
              <a:rPr lang="bg-BG" sz="1800" dirty="0" smtClean="0"/>
              <a:t>.</a:t>
            </a:r>
            <a:endParaRPr lang="en-US" dirty="0"/>
          </a:p>
          <a:p>
            <a:endParaRPr lang="en-US" dirty="0" smtClean="0"/>
          </a:p>
          <a:p>
            <a:endParaRPr lang="en-US" dirty="0"/>
          </a:p>
        </p:txBody>
      </p:sp>
    </p:spTree>
    <p:extLst>
      <p:ext uri="{BB962C8B-B14F-4D97-AF65-F5344CB8AC3E}">
        <p14:creationId xmlns:p14="http://schemas.microsoft.com/office/powerpoint/2010/main" val="239395297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762000"/>
            <a:ext cx="6196405" cy="4114799"/>
          </a:xfrm>
        </p:spPr>
        <p:txBody>
          <a:bodyPr>
            <a:normAutofit/>
          </a:bodyPr>
          <a:lstStyle/>
          <a:p>
            <a:pPr marL="274320" lvl="1" algn="just"/>
            <a:r>
              <a:rPr lang="bg-BG" sz="2400" dirty="0" smtClean="0">
                <a:latin typeface="Times New Roman" panose="02020603050405020304" pitchFamily="18" charset="0"/>
                <a:cs typeface="Times New Roman" panose="02020603050405020304" pitchFamily="18" charset="0"/>
              </a:rPr>
              <a:t>ПЕРТ </a:t>
            </a:r>
            <a:r>
              <a:rPr lang="bg-BG" sz="2400" dirty="0">
                <a:latin typeface="Times New Roman" panose="02020603050405020304" pitchFamily="18" charset="0"/>
                <a:cs typeface="Times New Roman" panose="02020603050405020304" pitchFamily="18" charset="0"/>
              </a:rPr>
              <a:t>метод</a:t>
            </a:r>
            <a:endParaRPr lang="en-US" sz="2000" dirty="0">
              <a:latin typeface="Times New Roman" panose="02020603050405020304" pitchFamily="18" charset="0"/>
              <a:cs typeface="Times New Roman" panose="02020603050405020304" pitchFamily="18" charset="0"/>
            </a:endParaRPr>
          </a:p>
          <a:p>
            <a:pPr marL="0" indent="0">
              <a:buNone/>
            </a:pPr>
            <a:r>
              <a:rPr lang="bg-BG" dirty="0" smtClean="0">
                <a:latin typeface="Times New Roman" panose="02020603050405020304" pitchFamily="18" charset="0"/>
                <a:cs typeface="Times New Roman" panose="02020603050405020304" pitchFamily="18" charset="0"/>
              </a:rPr>
              <a:t>	</a:t>
            </a:r>
            <a:r>
              <a:rPr lang="bg-BG" sz="1800" dirty="0" smtClean="0">
                <a:latin typeface="Times New Roman" panose="02020603050405020304" pitchFamily="18" charset="0"/>
                <a:cs typeface="Times New Roman" panose="02020603050405020304" pitchFamily="18" charset="0"/>
              </a:rPr>
              <a:t>Методът </a:t>
            </a:r>
            <a:r>
              <a:rPr lang="bg-BG" sz="1800" dirty="0">
                <a:latin typeface="Times New Roman" panose="02020603050405020304" pitchFamily="18" charset="0"/>
                <a:cs typeface="Times New Roman" panose="02020603050405020304" pitchFamily="18" charset="0"/>
              </a:rPr>
              <a:t>на PERT предвижда разпределението на вероятността за постигане на основните етапи на проекта по график, въз основа на вероятността за завършване на всяка задача по пътя до този етап.</a:t>
            </a:r>
            <a:endParaRPr lang="en-US" sz="1800"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p>
        </p:txBody>
      </p:sp>
      <p:pic>
        <p:nvPicPr>
          <p:cNvPr id="5" name="Картина 4"/>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590800"/>
            <a:ext cx="5029836" cy="3581400"/>
          </a:xfrm>
          <a:prstGeom prst="rect">
            <a:avLst/>
          </a:prstGeom>
          <a:noFill/>
          <a:ln>
            <a:noFill/>
          </a:ln>
        </p:spPr>
      </p:pic>
    </p:spTree>
    <p:extLst>
      <p:ext uri="{BB962C8B-B14F-4D97-AF65-F5344CB8AC3E}">
        <p14:creationId xmlns:p14="http://schemas.microsoft.com/office/powerpoint/2010/main" val="90238380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bg-BG" sz="4800" dirty="0">
                <a:latin typeface="Times New Roman" panose="02020603050405020304" pitchFamily="18" charset="0"/>
                <a:cs typeface="Times New Roman" panose="02020603050405020304" pitchFamily="18" charset="0"/>
              </a:rPr>
              <a:t>Предимства</a:t>
            </a:r>
            <a:br>
              <a:rPr lang="bg-BG" sz="4800" dirty="0">
                <a:latin typeface="Times New Roman" panose="02020603050405020304" pitchFamily="18" charset="0"/>
                <a:cs typeface="Times New Roman" panose="02020603050405020304" pitchFamily="18" charset="0"/>
              </a:rPr>
            </a:br>
            <a:endParaRPr lang="bg-B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lvl="1" algn="just"/>
            <a:endParaRPr lang="bg-BG" sz="2000" dirty="0"/>
          </a:p>
          <a:p>
            <a:pPr lvl="0"/>
            <a:r>
              <a:rPr lang="bg-BG" dirty="0">
                <a:latin typeface="Times New Roman" panose="02020603050405020304" pitchFamily="18" charset="0"/>
                <a:cs typeface="Times New Roman" panose="02020603050405020304" pitchFamily="18" charset="0"/>
              </a:rPr>
              <a:t>PERT диаграма изрично определя и прави видими зависимости  между WBS елементи. </a:t>
            </a:r>
            <a:endParaRPr lang="bg-BG" dirty="0" smtClean="0">
              <a:latin typeface="Times New Roman" panose="02020603050405020304" pitchFamily="18" charset="0"/>
              <a:cs typeface="Times New Roman" panose="02020603050405020304" pitchFamily="18" charset="0"/>
            </a:endParaRPr>
          </a:p>
          <a:p>
            <a:pPr lvl="0"/>
            <a:endParaRPr lang="bg-BG" sz="2000" dirty="0">
              <a:latin typeface="Times New Roman" panose="02020603050405020304" pitchFamily="18" charset="0"/>
              <a:cs typeface="Times New Roman" panose="02020603050405020304" pitchFamily="18" charset="0"/>
            </a:endParaRPr>
          </a:p>
          <a:p>
            <a:pPr lvl="0"/>
            <a:r>
              <a:rPr lang="bg-BG" dirty="0">
                <a:latin typeface="Times New Roman" panose="02020603050405020304" pitchFamily="18" charset="0"/>
                <a:cs typeface="Times New Roman" panose="02020603050405020304" pitchFamily="18" charset="0"/>
              </a:rPr>
              <a:t>PERT улеснява идентификацията на критичния път и го прави видим. </a:t>
            </a:r>
            <a:endParaRPr lang="bg-BG" dirty="0" smtClean="0">
              <a:latin typeface="Times New Roman" panose="02020603050405020304" pitchFamily="18" charset="0"/>
              <a:cs typeface="Times New Roman" panose="02020603050405020304" pitchFamily="18" charset="0"/>
            </a:endParaRPr>
          </a:p>
          <a:p>
            <a:pPr lvl="0"/>
            <a:endParaRPr lang="bg-BG" sz="2000" dirty="0">
              <a:latin typeface="Times New Roman" panose="02020603050405020304" pitchFamily="18" charset="0"/>
              <a:cs typeface="Times New Roman" panose="02020603050405020304" pitchFamily="18" charset="0"/>
            </a:endParaRPr>
          </a:p>
          <a:p>
            <a:pPr lvl="0"/>
            <a:r>
              <a:rPr lang="bg-BG" dirty="0">
                <a:latin typeface="Times New Roman" panose="02020603050405020304" pitchFamily="18" charset="0"/>
                <a:cs typeface="Times New Roman" panose="02020603050405020304" pitchFamily="18" charset="0"/>
              </a:rPr>
              <a:t>PERT улеснява идентифицирането на ранен старт, късен старт, и свободно време за всяка дейност. </a:t>
            </a:r>
            <a:endParaRPr lang="bg-BG" dirty="0" smtClean="0">
              <a:latin typeface="Times New Roman" panose="02020603050405020304" pitchFamily="18" charset="0"/>
              <a:cs typeface="Times New Roman" panose="02020603050405020304" pitchFamily="18" charset="0"/>
            </a:endParaRPr>
          </a:p>
          <a:p>
            <a:pPr lvl="0"/>
            <a:endParaRPr lang="bg-BG" sz="2000" dirty="0">
              <a:latin typeface="Times New Roman" panose="02020603050405020304" pitchFamily="18" charset="0"/>
              <a:cs typeface="Times New Roman" panose="02020603050405020304" pitchFamily="18" charset="0"/>
            </a:endParaRPr>
          </a:p>
          <a:p>
            <a:pPr lvl="0"/>
            <a:r>
              <a:rPr lang="bg-BG" dirty="0">
                <a:latin typeface="Times New Roman" panose="02020603050405020304" pitchFamily="18" charset="0"/>
                <a:cs typeface="Times New Roman" panose="02020603050405020304" pitchFamily="18" charset="0"/>
              </a:rPr>
              <a:t>PERT предоставя възможност за намаляване на продължителността на проекта което се дължи на по-добро разбиране на зависимости, водещи до подобряване на припокриване на дейности и задачи, когато това е осъществимо. </a:t>
            </a:r>
            <a:endParaRPr lang="bg-BG" dirty="0" smtClean="0">
              <a:latin typeface="Times New Roman" panose="02020603050405020304" pitchFamily="18" charset="0"/>
              <a:cs typeface="Times New Roman" panose="02020603050405020304" pitchFamily="18" charset="0"/>
            </a:endParaRPr>
          </a:p>
          <a:p>
            <a:pPr lvl="0"/>
            <a:endParaRPr lang="bg-BG" sz="2000" dirty="0">
              <a:latin typeface="Times New Roman" panose="02020603050405020304" pitchFamily="18" charset="0"/>
              <a:cs typeface="Times New Roman" panose="02020603050405020304" pitchFamily="18" charset="0"/>
            </a:endParaRPr>
          </a:p>
          <a:p>
            <a:pPr lvl="0"/>
            <a:r>
              <a:rPr lang="bg-BG" dirty="0">
                <a:latin typeface="Times New Roman" panose="02020603050405020304" pitchFamily="18" charset="0"/>
                <a:cs typeface="Times New Roman" panose="02020603050405020304" pitchFamily="18" charset="0"/>
              </a:rPr>
              <a:t>Голяма част от данните по проекта могат да бъдат организирани и представени в диаграма за използване в процеса на вземане на решение.</a:t>
            </a:r>
            <a:endParaRPr lang="bg-BG" sz="2000" dirty="0">
              <a:latin typeface="Times New Roman" panose="02020603050405020304" pitchFamily="18" charset="0"/>
              <a:cs typeface="Times New Roman" panose="02020603050405020304" pitchFamily="18" charset="0"/>
            </a:endParaRPr>
          </a:p>
          <a:p>
            <a:pPr lvl="1" algn="just"/>
            <a:endParaRPr lang="en-US" sz="2000" dirty="0"/>
          </a:p>
          <a:p>
            <a:endParaRPr lang="en-US" dirty="0"/>
          </a:p>
          <a:p>
            <a:endParaRPr lang="en-US" dirty="0" smtClean="0"/>
          </a:p>
          <a:p>
            <a:endParaRPr lang="en-US" dirty="0"/>
          </a:p>
        </p:txBody>
      </p:sp>
    </p:spTree>
    <p:extLst>
      <p:ext uri="{BB962C8B-B14F-4D97-AF65-F5344CB8AC3E}">
        <p14:creationId xmlns:p14="http://schemas.microsoft.com/office/powerpoint/2010/main" val="82133472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bg-BG" dirty="0">
                <a:latin typeface="Times New Roman" panose="02020603050405020304" pitchFamily="18" charset="0"/>
                <a:cs typeface="Times New Roman" panose="02020603050405020304" pitchFamily="18" charset="0"/>
              </a:rPr>
              <a:t>Недостатъци</a:t>
            </a:r>
            <a:br>
              <a:rPr lang="bg-BG" dirty="0">
                <a:latin typeface="Times New Roman" panose="02020603050405020304" pitchFamily="18" charset="0"/>
                <a:cs typeface="Times New Roman" panose="02020603050405020304" pitchFamily="18" charset="0"/>
              </a:rPr>
            </a:br>
            <a:endParaRPr lang="bg-B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lvl="1" algn="just"/>
            <a:endParaRPr lang="en-US" dirty="0" smtClean="0"/>
          </a:p>
          <a:p>
            <a:pPr lvl="0"/>
            <a:r>
              <a:rPr lang="bg-BG" sz="1800" dirty="0">
                <a:latin typeface="Times New Roman" panose="02020603050405020304" pitchFamily="18" charset="0"/>
                <a:cs typeface="Times New Roman" panose="02020603050405020304" pitchFamily="18" charset="0"/>
              </a:rPr>
              <a:t>Може да има потенциално стотици или хиляди дейности и индивидуални зависими взаимоотношения. </a:t>
            </a:r>
            <a:endParaRPr lang="bg-BG" sz="1800" dirty="0" smtClean="0">
              <a:latin typeface="Times New Roman" panose="02020603050405020304" pitchFamily="18" charset="0"/>
              <a:cs typeface="Times New Roman" panose="02020603050405020304" pitchFamily="18" charset="0"/>
            </a:endParaRPr>
          </a:p>
          <a:p>
            <a:pPr lvl="0"/>
            <a:endParaRPr lang="bg-BG" sz="1800" dirty="0">
              <a:latin typeface="Times New Roman" panose="02020603050405020304" pitchFamily="18" charset="0"/>
              <a:cs typeface="Times New Roman" panose="02020603050405020304" pitchFamily="18" charset="0"/>
            </a:endParaRPr>
          </a:p>
          <a:p>
            <a:pPr lvl="0"/>
            <a:r>
              <a:rPr lang="bg-BG" sz="1800" dirty="0">
                <a:latin typeface="Times New Roman" panose="02020603050405020304" pitchFamily="18" charset="0"/>
                <a:cs typeface="Times New Roman" panose="02020603050405020304" pitchFamily="18" charset="0"/>
              </a:rPr>
              <a:t>PERT не е лесно </a:t>
            </a:r>
            <a:r>
              <a:rPr lang="bg-BG" sz="1800" dirty="0" err="1">
                <a:latin typeface="Times New Roman" panose="02020603050405020304" pitchFamily="18" charset="0"/>
                <a:cs typeface="Times New Roman" panose="02020603050405020304" pitchFamily="18" charset="0"/>
              </a:rPr>
              <a:t>мащабируема</a:t>
            </a:r>
            <a:r>
              <a:rPr lang="bg-BG" sz="1800" dirty="0">
                <a:latin typeface="Times New Roman" panose="02020603050405020304" pitchFamily="18" charset="0"/>
                <a:cs typeface="Times New Roman" panose="02020603050405020304" pitchFamily="18" charset="0"/>
              </a:rPr>
              <a:t> за малки </a:t>
            </a:r>
            <a:r>
              <a:rPr lang="bg-BG" sz="1800" dirty="0" smtClean="0">
                <a:latin typeface="Times New Roman" panose="02020603050405020304" pitchFamily="18" charset="0"/>
                <a:cs typeface="Times New Roman" panose="02020603050405020304" pitchFamily="18" charset="0"/>
              </a:rPr>
              <a:t>проекти</a:t>
            </a:r>
            <a:r>
              <a:rPr lang="bg-BG" sz="1800" dirty="0">
                <a:latin typeface="Times New Roman" panose="02020603050405020304" pitchFamily="18" charset="0"/>
                <a:cs typeface="Times New Roman" panose="02020603050405020304" pitchFamily="18" charset="0"/>
              </a:rPr>
              <a:t>. </a:t>
            </a:r>
            <a:endParaRPr lang="bg-BG" sz="1800" dirty="0" smtClean="0">
              <a:latin typeface="Times New Roman" panose="02020603050405020304" pitchFamily="18" charset="0"/>
              <a:cs typeface="Times New Roman" panose="02020603050405020304" pitchFamily="18" charset="0"/>
            </a:endParaRPr>
          </a:p>
          <a:p>
            <a:pPr lvl="0"/>
            <a:endParaRPr lang="bg-BG" sz="1800" dirty="0">
              <a:latin typeface="Times New Roman" panose="02020603050405020304" pitchFamily="18" charset="0"/>
              <a:cs typeface="Times New Roman" panose="02020603050405020304" pitchFamily="18" charset="0"/>
            </a:endParaRPr>
          </a:p>
          <a:p>
            <a:pPr lvl="0"/>
            <a:r>
              <a:rPr lang="bg-BG" sz="1800" dirty="0">
                <a:latin typeface="Times New Roman" panose="02020603050405020304" pitchFamily="18" charset="0"/>
                <a:cs typeface="Times New Roman" panose="02020603050405020304" pitchFamily="18" charset="0"/>
              </a:rPr>
              <a:t>Диаграмите на мрежата са склонни да бъдат големи и тромави, изискващи няколко страници за да могат да бъдат отпечатани и изискващи специален размер хартия. </a:t>
            </a:r>
            <a:endParaRPr lang="bg-BG" sz="1800" dirty="0" smtClean="0">
              <a:latin typeface="Times New Roman" panose="02020603050405020304" pitchFamily="18" charset="0"/>
              <a:cs typeface="Times New Roman" panose="02020603050405020304" pitchFamily="18" charset="0"/>
            </a:endParaRPr>
          </a:p>
          <a:p>
            <a:pPr lvl="0"/>
            <a:endParaRPr lang="bg-BG" sz="1800" dirty="0">
              <a:latin typeface="Times New Roman" panose="02020603050405020304" pitchFamily="18" charset="0"/>
              <a:cs typeface="Times New Roman" panose="02020603050405020304" pitchFamily="18" charset="0"/>
            </a:endParaRPr>
          </a:p>
          <a:p>
            <a:pPr lvl="0"/>
            <a:r>
              <a:rPr lang="bg-BG" sz="1800" dirty="0">
                <a:latin typeface="Times New Roman" panose="02020603050405020304" pitchFamily="18" charset="0"/>
                <a:cs typeface="Times New Roman" panose="02020603050405020304" pitchFamily="18" charset="0"/>
              </a:rPr>
              <a:t>Липсата на времева рамка за повечето диаграми PERT/CPM ги прави по-трудни за визуализация на състоянието, въпреки че цветовете могат да помогнат (например, специфичен цвят за завършени възли). </a:t>
            </a:r>
            <a:endParaRPr lang="bg-BG" sz="1800" dirty="0" smtClean="0">
              <a:latin typeface="Times New Roman" panose="02020603050405020304" pitchFamily="18" charset="0"/>
              <a:cs typeface="Times New Roman" panose="02020603050405020304" pitchFamily="18" charset="0"/>
            </a:endParaRPr>
          </a:p>
          <a:p>
            <a:pPr lvl="0"/>
            <a:endParaRPr lang="bg-BG" sz="1800" dirty="0">
              <a:latin typeface="Times New Roman" panose="02020603050405020304" pitchFamily="18" charset="0"/>
              <a:cs typeface="Times New Roman" panose="02020603050405020304" pitchFamily="18" charset="0"/>
            </a:endParaRPr>
          </a:p>
          <a:p>
            <a:pPr lvl="0"/>
            <a:r>
              <a:rPr lang="bg-BG" sz="1800" dirty="0">
                <a:latin typeface="Times New Roman" panose="02020603050405020304" pitchFamily="18" charset="0"/>
                <a:cs typeface="Times New Roman" panose="02020603050405020304" pitchFamily="18" charset="0"/>
              </a:rPr>
              <a:t>Когато класациите PERT / CPM станат тромави, те вече не се използват за управление на проекта.</a:t>
            </a:r>
          </a:p>
          <a:p>
            <a:endParaRPr lang="en-US" dirty="0"/>
          </a:p>
          <a:p>
            <a:endParaRPr lang="en-US" dirty="0" smtClean="0"/>
          </a:p>
          <a:p>
            <a:endParaRPr lang="en-US" dirty="0"/>
          </a:p>
        </p:txBody>
      </p:sp>
    </p:spTree>
    <p:extLst>
      <p:ext uri="{BB962C8B-B14F-4D97-AF65-F5344CB8AC3E}">
        <p14:creationId xmlns:p14="http://schemas.microsoft.com/office/powerpoint/2010/main" val="392685033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71500"/>
            <a:ext cx="7620000" cy="1143000"/>
          </a:xfrm>
        </p:spPr>
        <p:txBody>
          <a:bodyPr/>
          <a:lstStyle/>
          <a:p>
            <a:pPr algn="ctr"/>
            <a:r>
              <a:rPr lang="en-US" sz="3600" dirty="0" smtClean="0">
                <a:latin typeface="Times New Roman" panose="02020603050405020304" pitchFamily="18" charset="0"/>
                <a:cs typeface="Times New Roman" panose="02020603050405020304" pitchFamily="18" charset="0"/>
              </a:rPr>
              <a:t/>
            </a:r>
            <a:br>
              <a:rPr lang="en-US" sz="3600" dirty="0" smtClean="0">
                <a:latin typeface="Times New Roman" panose="02020603050405020304" pitchFamily="18" charset="0"/>
                <a:cs typeface="Times New Roman" panose="02020603050405020304" pitchFamily="18" charset="0"/>
              </a:rPr>
            </a:br>
            <a:r>
              <a:rPr lang="bg-BG" sz="3600" dirty="0" smtClean="0">
                <a:latin typeface="Times New Roman" panose="02020603050405020304" pitchFamily="18" charset="0"/>
                <a:cs typeface="Times New Roman" panose="02020603050405020304" pitchFamily="18" charset="0"/>
              </a:rPr>
              <a:t>Диаграми на </a:t>
            </a:r>
            <a:r>
              <a:rPr lang="en-US" sz="3600" dirty="0" smtClean="0">
                <a:latin typeface="Times New Roman" panose="02020603050405020304" pitchFamily="18" charset="0"/>
                <a:cs typeface="Times New Roman" panose="02020603050405020304" pitchFamily="18" charset="0"/>
              </a:rPr>
              <a:t>Gantt</a:t>
            </a:r>
            <a:br>
              <a:rPr lang="en-US" sz="3600" dirty="0" smtClean="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(Tasks</a:t>
            </a:r>
            <a:r>
              <a:rPr lang="bg-BG" sz="3600" dirty="0" smtClean="0">
                <a:latin typeface="Times New Roman" panose="02020603050405020304" pitchFamily="18" charset="0"/>
                <a:cs typeface="Times New Roman" panose="02020603050405020304" pitchFamily="18" charset="0"/>
              </a:rPr>
              <a:t> Gantt</a:t>
            </a:r>
            <a:r>
              <a:rPr lang="en-US" sz="3600" dirty="0" smtClean="0">
                <a:latin typeface="Times New Roman" panose="02020603050405020304" pitchFamily="18" charset="0"/>
                <a:cs typeface="Times New Roman" panose="02020603050405020304" pitchFamily="18" charset="0"/>
              </a:rPr>
              <a:t>)</a:t>
            </a:r>
            <a:r>
              <a:rPr lang="bg-BG"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dirty="0"/>
          </a:p>
          <a:p>
            <a:endParaRPr lang="en-US" dirty="0" smtClean="0"/>
          </a:p>
          <a:p>
            <a:endParaRPr lang="en-US" dirty="0"/>
          </a:p>
        </p:txBody>
      </p:sp>
      <p:pic>
        <p:nvPicPr>
          <p:cNvPr id="4" name="Картина 3"/>
          <p:cNvPicPr/>
          <p:nvPr/>
        </p:nvPicPr>
        <p:blipFill>
          <a:blip r:embed="rId2">
            <a:extLst>
              <a:ext uri="{28A0092B-C50C-407E-A947-70E740481C1C}">
                <a14:useLocalDpi xmlns:a14="http://schemas.microsoft.com/office/drawing/2010/main" val="0"/>
              </a:ext>
            </a:extLst>
          </a:blip>
          <a:srcRect/>
          <a:stretch>
            <a:fillRect/>
          </a:stretch>
        </p:blipFill>
        <p:spPr bwMode="auto">
          <a:xfrm>
            <a:off x="1600199" y="1828800"/>
            <a:ext cx="6352309" cy="3581400"/>
          </a:xfrm>
          <a:prstGeom prst="rect">
            <a:avLst/>
          </a:prstGeom>
          <a:noFill/>
          <a:ln>
            <a:noFill/>
          </a:ln>
        </p:spPr>
      </p:pic>
    </p:spTree>
    <p:extLst>
      <p:ext uri="{BB962C8B-B14F-4D97-AF65-F5344CB8AC3E}">
        <p14:creationId xmlns:p14="http://schemas.microsoft.com/office/powerpoint/2010/main" val="220613595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r>
              <a:rPr lang="bg-BG" sz="3200" dirty="0" smtClean="0">
                <a:latin typeface="Times New Roman" panose="02020603050405020304" pitchFamily="18" charset="0"/>
                <a:cs typeface="Times New Roman" panose="02020603050405020304" pitchFamily="18" charset="0"/>
              </a:rPr>
              <a:t>Диаграми на </a:t>
            </a:r>
            <a:r>
              <a:rPr lang="en-US" sz="3200" dirty="0" smtClean="0">
                <a:latin typeface="Times New Roman" panose="02020603050405020304" pitchFamily="18" charset="0"/>
                <a:cs typeface="Times New Roman" panose="02020603050405020304" pitchFamily="18" charset="0"/>
              </a:rPr>
              <a:t>Gantt</a:t>
            </a:r>
            <a:br>
              <a:rPr lang="en-US" sz="3200" dirty="0" smtClean="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 (Resources</a:t>
            </a:r>
            <a:r>
              <a:rPr lang="bg-BG" sz="3200" dirty="0" smtClean="0">
                <a:latin typeface="Times New Roman" panose="02020603050405020304" pitchFamily="18" charset="0"/>
                <a:cs typeface="Times New Roman" panose="02020603050405020304" pitchFamily="18" charset="0"/>
              </a:rPr>
              <a:t> Gantt</a:t>
            </a:r>
            <a:r>
              <a:rPr lang="en-US" sz="3200" dirty="0" smtClean="0">
                <a:latin typeface="Times New Roman" panose="02020603050405020304" pitchFamily="18" charset="0"/>
                <a:cs typeface="Times New Roman" panose="02020603050405020304" pitchFamily="18" charset="0"/>
              </a:rPr>
              <a:t>)</a:t>
            </a:r>
            <a:r>
              <a:rPr lang="bg-BG" sz="3200" dirty="0" smtClean="0">
                <a:latin typeface="Times New Roman" panose="02020603050405020304" pitchFamily="18" charset="0"/>
                <a:cs typeface="Times New Roman" panose="02020603050405020304" pitchFamily="18" charset="0"/>
              </a:rPr>
              <a:t> </a:t>
            </a:r>
            <a:r>
              <a:rPr lang="en-US" sz="4800" dirty="0"/>
              <a:t/>
            </a:r>
            <a:br>
              <a:rPr lang="en-US" sz="4800" dirty="0"/>
            </a:br>
            <a:endParaRPr lang="bg-B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dirty="0"/>
          </a:p>
          <a:p>
            <a:endParaRPr lang="en-US" dirty="0" smtClean="0"/>
          </a:p>
          <a:p>
            <a:endParaRPr lang="en-US" dirty="0"/>
          </a:p>
        </p:txBody>
      </p:sp>
      <p:pic>
        <p:nvPicPr>
          <p:cNvPr id="5" name="Картина 4"/>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37855"/>
            <a:ext cx="5181600" cy="3886200"/>
          </a:xfrm>
          <a:prstGeom prst="rect">
            <a:avLst/>
          </a:prstGeom>
          <a:noFill/>
          <a:ln>
            <a:noFill/>
          </a:ln>
        </p:spPr>
      </p:pic>
    </p:spTree>
    <p:extLst>
      <p:ext uri="{BB962C8B-B14F-4D97-AF65-F5344CB8AC3E}">
        <p14:creationId xmlns:p14="http://schemas.microsoft.com/office/powerpoint/2010/main" val="290203962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TotalTime>
  <Words>905</Words>
  <Application>Microsoft Office PowerPoint</Application>
  <PresentationFormat>On-screen Show (4:3)</PresentationFormat>
  <Paragraphs>122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Times New Roman</vt:lpstr>
      <vt:lpstr>Adjacency</vt:lpstr>
      <vt:lpstr>Тема 4 - Планиране на софтуерен проект. Планиране и балансиране на AGILE проект. Използване на минимален проектен план. Използване на готови образци за управление на проекти. Средства за планиране на софтуерния проект. Rolling wave планиране. Проектиране на WBS (Work Breakdown Structure) структура. Развитие на графика на софтуерния проект: метод на критичния път, PERT метод, диаграми на Gantt.</vt:lpstr>
      <vt:lpstr>Планиране на софтуерен проект</vt:lpstr>
      <vt:lpstr>Планиране и балансиране на AGILE проект</vt:lpstr>
      <vt:lpstr>Използване на минимален проектен план</vt:lpstr>
      <vt:lpstr> Използване на готови образци за управление на проекти</vt:lpstr>
      <vt:lpstr> Средства за управление на софтуерния проект</vt:lpstr>
      <vt:lpstr>Софтуер за управление на проекти</vt:lpstr>
      <vt:lpstr> ROLLING WAVE планиране </vt:lpstr>
      <vt:lpstr>PowerPoint Presentation</vt:lpstr>
      <vt:lpstr>Техника за плануване на проект</vt:lpstr>
      <vt:lpstr>ADV</vt:lpstr>
      <vt:lpstr>WBS</vt:lpstr>
      <vt:lpstr>ADV &amp; WBS</vt:lpstr>
      <vt:lpstr> Развитие на  графика за софтуерния проект</vt:lpstr>
      <vt:lpstr>Развитие на  графика за софтуерния проект</vt:lpstr>
      <vt:lpstr> Развитие на  графика за софтуерен проект</vt:lpstr>
      <vt:lpstr>PowerPoint Presentation</vt:lpstr>
      <vt:lpstr>PowerPoint Presentation</vt:lpstr>
      <vt:lpstr>Предимства </vt:lpstr>
      <vt:lpstr>Недостатъци </vt:lpstr>
      <vt:lpstr> Диаграми на Gantt (Tasks Gantt)  </vt:lpstr>
      <vt:lpstr> Диаграми на Gantt  (Resources Gantt)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4 - Планиране на софтуерен проект. Планиране и балансиране на AGILE проект. Използване на минимален проектен план. Използване на готови образци за управление на проекти. Средства за планиране на софтуерния проект. Rolling wave планиране. Проектиране на WBS (Work Breakdown Structure) структура. Развитие на графика на софтуерния проект: метод на критичния път, PERT метод, диаграми на Gantt.</dc:title>
  <dc:creator>Sunay Gyultekin</dc:creator>
  <cp:lastModifiedBy>Teacher</cp:lastModifiedBy>
  <cp:revision>29</cp:revision>
  <dcterms:created xsi:type="dcterms:W3CDTF">2014-04-06T17:29:21Z</dcterms:created>
  <dcterms:modified xsi:type="dcterms:W3CDTF">2019-02-22T10:53:40Z</dcterms:modified>
</cp:coreProperties>
</file>
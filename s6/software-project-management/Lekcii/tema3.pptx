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0" r:id="rId3"/>
    <p:sldId id="271" r:id="rId4"/>
    <p:sldId id="257" r:id="rId5"/>
    <p:sldId id="272" r:id="rId6"/>
    <p:sldId id="258" r:id="rId7"/>
    <p:sldId id="280" r:id="rId8"/>
    <p:sldId id="261" r:id="rId9"/>
    <p:sldId id="259" r:id="rId10"/>
    <p:sldId id="262" r:id="rId11"/>
    <p:sldId id="263" r:id="rId12"/>
    <p:sldId id="264" r:id="rId13"/>
    <p:sldId id="265" r:id="rId14"/>
    <p:sldId id="273" r:id="rId15"/>
    <p:sldId id="274" r:id="rId16"/>
    <p:sldId id="275" r:id="rId17"/>
    <p:sldId id="276" r:id="rId18"/>
    <p:sldId id="277" r:id="rId19"/>
    <p:sldId id="266" r:id="rId20"/>
    <p:sldId id="267" r:id="rId21"/>
    <p:sldId id="268" r:id="rId22"/>
    <p:sldId id="269" r:id="rId23"/>
    <p:sldId id="281" r:id="rId24"/>
    <p:sldId id="270" r:id="rId25"/>
    <p:sldId id="278" r:id="rId26"/>
    <p:sldId id="279" r:id="rId27"/>
  </p:sldIdLst>
  <p:sldSz cx="9144000" cy="6858000" type="screen4x3"/>
  <p:notesSz cx="6858000" cy="9144000"/>
  <p:defaultTextStyle>
    <a:defPPr>
      <a:defRPr lang="bg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D9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0" autoAdjust="0"/>
    <p:restoredTop sz="94660"/>
  </p:normalViewPr>
  <p:slideViewPr>
    <p:cSldViewPr>
      <p:cViewPr varScale="1">
        <p:scale>
          <a:sx n="81" d="100"/>
          <a:sy n="81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bg-BG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  <a:prstGeom prst="rect">
            <a:avLst/>
          </a:prstGeo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/>
          <a:lstStyle>
            <a:lvl1pPr marL="0" algn="l"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  <a:prstGeom prst="rect">
            <a:avLst/>
          </a:prstGeo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/>
          <a:lstStyle>
            <a:lvl1pPr>
              <a:defRPr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  <a:prstGeom prst="rect">
            <a:avLst/>
          </a:prstGeo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  <a:prstGeom prst="rect">
            <a:avLst/>
          </a:prstGeo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  <a:prstGeom prst="rect">
            <a:avLst/>
          </a:prstGeo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D37020B-1304-4D6B-8DFB-B57794188641}" type="datetimeFigureOut">
              <a:rPr lang="bg-BG" smtClean="0"/>
              <a:t>4.3.2020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bg-BG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A32965C3-2F85-41DA-8D65-1D2785C071C0}" type="slidenum">
              <a:rPr lang="bg-BG" smtClean="0"/>
              <a:t>‹#›</a:t>
            </a:fld>
            <a:endParaRPr lang="bg-BG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3429000"/>
            <a:ext cx="8062912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екип. Жизнен цикъл. Управление на изпълнението на проекта, контрол и ефикасност на проекта.Рамка, стандарти и насоки при работа със софтуерни проекти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5776" y="5013176"/>
            <a:ext cx="6400800" cy="1752600"/>
          </a:xfrm>
        </p:spPr>
        <p:txBody>
          <a:bodyPr/>
          <a:lstStyle/>
          <a:p>
            <a:r>
              <a:rPr lang="bg-BG" b="1" dirty="0">
                <a:solidFill>
                  <a:srgbClr val="E2D96A"/>
                </a:solidFill>
              </a:rPr>
              <a:t>Златин Златев</a:t>
            </a:r>
          </a:p>
          <a:p>
            <a:r>
              <a:rPr lang="bg-BG" b="1" dirty="0">
                <a:solidFill>
                  <a:srgbClr val="E2D96A"/>
                </a:solidFill>
              </a:rPr>
              <a:t>Теодор Минев</a:t>
            </a:r>
          </a:p>
        </p:txBody>
      </p:sp>
    </p:spTree>
    <p:extLst>
      <p:ext uri="{BB962C8B-B14F-4D97-AF65-F5344CB8AC3E}">
        <p14:creationId xmlns:p14="http://schemas.microsoft.com/office/powerpoint/2010/main" val="1529413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Жизнен цикъл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5 фази: </a:t>
            </a:r>
            <a:endParaRPr lang="en-US" dirty="0">
              <a:solidFill>
                <a:srgbClr val="E2D96A"/>
              </a:solidFill>
            </a:endParaRPr>
          </a:p>
          <a:p>
            <a:r>
              <a:rPr lang="en-US" dirty="0">
                <a:solidFill>
                  <a:srgbClr val="E2D96A"/>
                </a:solidFill>
              </a:rPr>
              <a:t>-</a:t>
            </a:r>
            <a:r>
              <a:rPr lang="bg-BG" dirty="0">
                <a:solidFill>
                  <a:srgbClr val="E2D96A"/>
                </a:solidFill>
              </a:rPr>
              <a:t>иницииране</a:t>
            </a:r>
            <a:r>
              <a:rPr lang="en-US" dirty="0">
                <a:solidFill>
                  <a:srgbClr val="E2D96A"/>
                </a:solidFill>
              </a:rPr>
              <a:t> </a:t>
            </a:r>
          </a:p>
          <a:p>
            <a:r>
              <a:rPr lang="en-US" dirty="0">
                <a:solidFill>
                  <a:srgbClr val="E2D96A"/>
                </a:solidFill>
              </a:rPr>
              <a:t>-</a:t>
            </a:r>
            <a:r>
              <a:rPr lang="bg-BG" dirty="0">
                <a:solidFill>
                  <a:srgbClr val="E2D96A"/>
                </a:solidFill>
              </a:rPr>
              <a:t>планиране</a:t>
            </a:r>
            <a:endParaRPr lang="en-US" dirty="0">
              <a:solidFill>
                <a:srgbClr val="E2D96A"/>
              </a:solidFill>
            </a:endParaRPr>
          </a:p>
          <a:p>
            <a:r>
              <a:rPr lang="en-US" dirty="0">
                <a:solidFill>
                  <a:srgbClr val="E2D96A"/>
                </a:solidFill>
              </a:rPr>
              <a:t>-</a:t>
            </a:r>
            <a:r>
              <a:rPr lang="bg-BG" dirty="0">
                <a:solidFill>
                  <a:srgbClr val="E2D96A"/>
                </a:solidFill>
              </a:rPr>
              <a:t>изпълнение</a:t>
            </a:r>
            <a:endParaRPr lang="en-US" dirty="0">
              <a:solidFill>
                <a:srgbClr val="E2D96A"/>
              </a:solidFill>
            </a:endParaRPr>
          </a:p>
          <a:p>
            <a:r>
              <a:rPr lang="en-US" dirty="0">
                <a:solidFill>
                  <a:srgbClr val="E2D96A"/>
                </a:solidFill>
              </a:rPr>
              <a:t>-</a:t>
            </a:r>
            <a:r>
              <a:rPr lang="bg-BG" dirty="0">
                <a:solidFill>
                  <a:srgbClr val="E2D96A"/>
                </a:solidFill>
              </a:rPr>
              <a:t>контролиране</a:t>
            </a:r>
            <a:endParaRPr lang="en-US" dirty="0">
              <a:solidFill>
                <a:srgbClr val="E2D96A"/>
              </a:solidFill>
            </a:endParaRPr>
          </a:p>
          <a:p>
            <a:r>
              <a:rPr lang="en-US" dirty="0">
                <a:solidFill>
                  <a:srgbClr val="E2D96A"/>
                </a:solidFill>
              </a:rPr>
              <a:t>-</a:t>
            </a:r>
            <a:r>
              <a:rPr lang="bg-BG" dirty="0">
                <a:solidFill>
                  <a:srgbClr val="E2D96A"/>
                </a:solidFill>
              </a:rPr>
              <a:t>закриване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271" y="1857374"/>
            <a:ext cx="4530177" cy="4271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120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bg-BG" dirty="0">
                <a:solidFill>
                  <a:srgbClr val="E2D96A"/>
                </a:solidFill>
              </a:rPr>
              <a:t>Ефективното управление на софтуерните проекти се основава на управлението на 4 неща:</a:t>
            </a:r>
          </a:p>
          <a:p>
            <a:r>
              <a:rPr lang="bg-BG" dirty="0">
                <a:solidFill>
                  <a:srgbClr val="E2D96A"/>
                </a:solidFill>
              </a:rPr>
              <a:t>–</a:t>
            </a:r>
            <a:r>
              <a:rPr lang="bg-BG" b="1" dirty="0">
                <a:solidFill>
                  <a:srgbClr val="E2D96A"/>
                </a:solidFill>
              </a:rPr>
              <a:t>хората, </a:t>
            </a:r>
            <a:endParaRPr lang="bg-BG" dirty="0">
              <a:solidFill>
                <a:srgbClr val="E2D96A"/>
              </a:solidFill>
            </a:endParaRPr>
          </a:p>
          <a:p>
            <a:r>
              <a:rPr lang="bg-BG" dirty="0">
                <a:solidFill>
                  <a:srgbClr val="E2D96A"/>
                </a:solidFill>
              </a:rPr>
              <a:t>–</a:t>
            </a:r>
            <a:r>
              <a:rPr lang="bg-BG" b="1" dirty="0">
                <a:solidFill>
                  <a:srgbClr val="E2D96A"/>
                </a:solidFill>
              </a:rPr>
              <a:t>продукта, </a:t>
            </a:r>
            <a:endParaRPr lang="bg-BG" dirty="0">
              <a:solidFill>
                <a:srgbClr val="E2D96A"/>
              </a:solidFill>
            </a:endParaRPr>
          </a:p>
          <a:p>
            <a:r>
              <a:rPr lang="bg-BG" dirty="0">
                <a:solidFill>
                  <a:srgbClr val="E2D96A"/>
                </a:solidFill>
              </a:rPr>
              <a:t>–</a:t>
            </a:r>
            <a:r>
              <a:rPr lang="bg-BG" b="1" dirty="0">
                <a:solidFill>
                  <a:srgbClr val="E2D96A"/>
                </a:solidFill>
              </a:rPr>
              <a:t>процеса и </a:t>
            </a:r>
            <a:endParaRPr lang="bg-BG" dirty="0">
              <a:solidFill>
                <a:srgbClr val="E2D96A"/>
              </a:solidFill>
            </a:endParaRPr>
          </a:p>
          <a:p>
            <a:r>
              <a:rPr lang="bg-BG" dirty="0">
                <a:solidFill>
                  <a:srgbClr val="E2D96A"/>
                </a:solidFill>
              </a:rPr>
              <a:t>–</a:t>
            </a:r>
            <a:r>
              <a:rPr lang="bg-BG" b="1" dirty="0">
                <a:solidFill>
                  <a:srgbClr val="E2D96A"/>
                </a:solidFill>
              </a:rPr>
              <a:t>проекта </a:t>
            </a:r>
            <a:endParaRPr lang="bg-BG" dirty="0">
              <a:solidFill>
                <a:srgbClr val="E2D96A"/>
              </a:solidFill>
            </a:endParaRPr>
          </a:p>
          <a:p>
            <a:r>
              <a:rPr lang="bg-BG" dirty="0">
                <a:solidFill>
                  <a:srgbClr val="E2D96A"/>
                </a:solidFill>
              </a:rPr>
              <a:t>(тоест, т. нар. четири P's —people, product, process and project).</a:t>
            </a:r>
          </a:p>
          <a:p>
            <a:r>
              <a:rPr lang="bg-BG" dirty="0">
                <a:solidFill>
                  <a:srgbClr val="E2D96A"/>
                </a:solidFill>
              </a:rPr>
              <a:t>СММ и РМСММ  модел</a:t>
            </a:r>
          </a:p>
        </p:txBody>
      </p:sp>
    </p:spTree>
    <p:extLst>
      <p:ext uri="{BB962C8B-B14F-4D97-AF65-F5344CB8AC3E}">
        <p14:creationId xmlns:p14="http://schemas.microsoft.com/office/powerpoint/2010/main" val="354849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2153394"/>
          </a:xfrm>
        </p:spPr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  <a:br>
              <a:rPr lang="bg-BG" i="1" dirty="0">
                <a:solidFill>
                  <a:srgbClr val="E2D96A"/>
                </a:solidFill>
              </a:rPr>
            </a:br>
            <a:r>
              <a:rPr lang="bg-BG" sz="2800" i="1" dirty="0">
                <a:solidFill>
                  <a:srgbClr val="E2D96A"/>
                </a:solidFill>
              </a:rPr>
              <a:t>Иницииране- Първа фаза от жизнения цикъл на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2708920"/>
            <a:ext cx="8229600" cy="3851920"/>
          </a:xfrm>
        </p:spPr>
        <p:txBody>
          <a:bodyPr>
            <a:normAutofit/>
          </a:bodyPr>
          <a:lstStyle/>
          <a:p>
            <a:r>
              <a:rPr lang="bg-BG" sz="2400" dirty="0">
                <a:solidFill>
                  <a:srgbClr val="E2D96A"/>
                </a:solidFill>
              </a:rPr>
              <a:t>Иницииране - дефиниране на проекта</a:t>
            </a:r>
          </a:p>
          <a:p>
            <a:r>
              <a:rPr lang="bg-BG" sz="2400" dirty="0">
                <a:solidFill>
                  <a:srgbClr val="E2D96A"/>
                </a:solidFill>
              </a:rPr>
              <a:t>Анализ – определяне на комплексността на проекта</a:t>
            </a:r>
          </a:p>
          <a:p>
            <a:r>
              <a:rPr lang="bg-BG" sz="2400" dirty="0">
                <a:solidFill>
                  <a:srgbClr val="E2D96A"/>
                </a:solidFill>
              </a:rPr>
              <a:t>Времево разграничаване – дефиниране на началото и края на проекта</a:t>
            </a:r>
          </a:p>
          <a:p>
            <a:r>
              <a:rPr lang="bg-BG" sz="2400" dirty="0">
                <a:solidFill>
                  <a:srgbClr val="E2D96A"/>
                </a:solidFill>
              </a:rPr>
              <a:t>Съдържателно разграничаване – дефиниране на целите на проекта</a:t>
            </a:r>
          </a:p>
          <a:p>
            <a:r>
              <a:rPr lang="bg-BG" sz="2400" dirty="0">
                <a:solidFill>
                  <a:srgbClr val="E2D96A"/>
                </a:solidFill>
              </a:rPr>
              <a:t>Социално разграничаване – дефиниране на ролите на участниците на проекта</a:t>
            </a:r>
          </a:p>
          <a:p>
            <a:endParaRPr lang="bg-BG" dirty="0">
              <a:solidFill>
                <a:srgbClr val="E2D96A"/>
              </a:solidFill>
            </a:endParaRPr>
          </a:p>
        </p:txBody>
      </p:sp>
      <p:sp>
        <p:nvSpPr>
          <p:cNvPr id="4" name="Title Placeholder 21"/>
          <p:cNvSpPr txBox="1">
            <a:spLocks/>
          </p:cNvSpPr>
          <p:nvPr/>
        </p:nvSpPr>
        <p:spPr>
          <a:xfrm>
            <a:off x="609600" y="1412776"/>
            <a:ext cx="8138864" cy="792088"/>
          </a:xfrm>
          <a:prstGeom prst="rect">
            <a:avLst/>
          </a:prstGeom>
        </p:spPr>
        <p:txBody>
          <a:bodyPr vert="horz" anchor="ctr">
            <a:normAutofit/>
          </a:bodyPr>
          <a:lstStyle>
            <a:lvl1pPr marL="484632" algn="l" rtl="0" eaLnBrk="1" latinLnBrk="0" hangingPunct="1">
              <a:spcBef>
                <a:spcPct val="0"/>
              </a:spcBef>
              <a:buNone/>
              <a:defRPr kumimoji="0" sz="4200" kern="1200">
                <a:ln w="6350">
                  <a:solidFill>
                    <a:schemeClr val="accent1">
                      <a:shade val="43000"/>
                    </a:schemeClr>
                  </a:solidFill>
                </a:ln>
                <a:solidFill>
                  <a:schemeClr val="accent1">
                    <a:tint val="83000"/>
                    <a:satMod val="150000"/>
                  </a:schemeClr>
                </a:solidFill>
                <a:effectLst>
                  <a:outerShdw blurRad="26000" dist="26000" dir="145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907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Stakeholders(</a:t>
            </a:r>
            <a:r>
              <a:rPr lang="bg-BG" dirty="0">
                <a:solidFill>
                  <a:srgbClr val="E2D96A"/>
                </a:solidFill>
              </a:rPr>
              <a:t>заинтересовани страни):</a:t>
            </a:r>
          </a:p>
          <a:p>
            <a:r>
              <a:rPr lang="bg-BG" dirty="0">
                <a:solidFill>
                  <a:srgbClr val="E2D96A"/>
                </a:solidFill>
              </a:rPr>
              <a:t>Крайни потрбители</a:t>
            </a:r>
          </a:p>
          <a:p>
            <a:r>
              <a:rPr lang="bg-BG" dirty="0">
                <a:solidFill>
                  <a:srgbClr val="E2D96A"/>
                </a:solidFill>
              </a:rPr>
              <a:t>Ръководител на проекта</a:t>
            </a:r>
          </a:p>
          <a:p>
            <a:r>
              <a:rPr lang="bg-BG" dirty="0">
                <a:solidFill>
                  <a:srgbClr val="E2D96A"/>
                </a:solidFill>
              </a:rPr>
              <a:t>Покровител на проекта</a:t>
            </a:r>
          </a:p>
          <a:p>
            <a:r>
              <a:rPr lang="bg-BG" dirty="0">
                <a:solidFill>
                  <a:srgbClr val="E2D96A"/>
                </a:solidFill>
              </a:rPr>
              <a:t>Други заинтересовани(кредитори, инвеститори, екип и др.)</a:t>
            </a:r>
          </a:p>
        </p:txBody>
      </p:sp>
    </p:spTree>
    <p:extLst>
      <p:ext uri="{BB962C8B-B14F-4D97-AF65-F5344CB8AC3E}">
        <p14:creationId xmlns:p14="http://schemas.microsoft.com/office/powerpoint/2010/main" val="818023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Съставяне на екип: подбор на кадрите и организация на екипа</a:t>
            </a:r>
          </a:p>
          <a:p>
            <a:r>
              <a:rPr lang="bg-BG" dirty="0">
                <a:solidFill>
                  <a:srgbClr val="E2D96A"/>
                </a:solidFill>
              </a:rPr>
              <a:t>-</a:t>
            </a:r>
            <a:r>
              <a:rPr lang="en-US" dirty="0">
                <a:solidFill>
                  <a:srgbClr val="E2D96A"/>
                </a:solidFill>
              </a:rPr>
              <a:t>internal and external recruitment</a:t>
            </a:r>
          </a:p>
          <a:p>
            <a:r>
              <a:rPr lang="en-US" dirty="0">
                <a:solidFill>
                  <a:srgbClr val="E2D96A"/>
                </a:solidFill>
              </a:rPr>
              <a:t>-</a:t>
            </a:r>
            <a:r>
              <a:rPr lang="bg-BG" dirty="0">
                <a:solidFill>
                  <a:srgbClr val="E2D96A"/>
                </a:solidFill>
              </a:rPr>
              <a:t>вътрешни конкурси и </a:t>
            </a:r>
            <a:r>
              <a:rPr lang="en-US" dirty="0">
                <a:solidFill>
                  <a:srgbClr val="E2D96A"/>
                </a:solidFill>
              </a:rPr>
              <a:t>head-hunting</a:t>
            </a:r>
            <a:endParaRPr lang="bg-BG" dirty="0">
              <a:solidFill>
                <a:srgbClr val="E2D96A"/>
              </a:solidFill>
            </a:endParaRPr>
          </a:p>
          <a:p>
            <a:r>
              <a:rPr lang="bg-BG" dirty="0">
                <a:solidFill>
                  <a:srgbClr val="E2D96A"/>
                </a:solidFill>
              </a:rPr>
              <a:t>-видове организации на екипа</a:t>
            </a:r>
          </a:p>
        </p:txBody>
      </p:sp>
    </p:spTree>
    <p:extLst>
      <p:ext uri="{BB962C8B-B14F-4D97-AF65-F5344CB8AC3E}">
        <p14:creationId xmlns:p14="http://schemas.microsoft.com/office/powerpoint/2010/main" val="259121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артина 6">
            <a:extLst>
              <a:ext uri="{FF2B5EF4-FFF2-40B4-BE49-F238E27FC236}">
                <a16:creationId xmlns:a16="http://schemas.microsoft.com/office/drawing/2014/main" id="{85792E1A-AC54-4F1D-9A48-98DC03323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7" y="836712"/>
            <a:ext cx="8564265" cy="482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884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  <a:endParaRPr lang="bg-BG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2D96A"/>
                </a:solidFill>
              </a:rPr>
              <a:t>Democratic team 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Organization</a:t>
            </a:r>
            <a:endParaRPr lang="bg-BG" dirty="0">
              <a:solidFill>
                <a:srgbClr val="E2D96A"/>
              </a:solidFill>
            </a:endParaRP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(демократична</a:t>
            </a: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организация на</a:t>
            </a: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Екипа)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2492896"/>
            <a:ext cx="4077997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5800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2D96A"/>
                </a:solidFill>
              </a:rPr>
              <a:t>Chief Programmer 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Team(</a:t>
            </a:r>
            <a:r>
              <a:rPr lang="bg-BG" dirty="0">
                <a:solidFill>
                  <a:srgbClr val="E2D96A"/>
                </a:solidFill>
              </a:rPr>
              <a:t>екип с</a:t>
            </a: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главен </a:t>
            </a: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програмист)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904" y="2624025"/>
            <a:ext cx="4752527" cy="4056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42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Иницииране и съставяне на екип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2D96A"/>
                </a:solidFill>
              </a:rPr>
              <a:t>Strict hierarchy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(</a:t>
            </a:r>
            <a:r>
              <a:rPr lang="bg-BG" dirty="0">
                <a:solidFill>
                  <a:srgbClr val="E2D96A"/>
                </a:solidFill>
              </a:rPr>
              <a:t>стриктна </a:t>
            </a: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йерархия)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5936" y="2132856"/>
            <a:ext cx="4536504" cy="414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074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Планиране</a:t>
            </a:r>
            <a:br>
              <a:rPr lang="en-US" i="1" dirty="0">
                <a:solidFill>
                  <a:srgbClr val="E2D96A"/>
                </a:solidFill>
              </a:rPr>
            </a:br>
            <a:r>
              <a:rPr lang="bg-BG" sz="2800" i="1" dirty="0">
                <a:solidFill>
                  <a:srgbClr val="E2D96A"/>
                </a:solidFill>
              </a:rPr>
              <a:t>Втора фаза от жизнения цикъл на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8840"/>
            <a:ext cx="8229600" cy="4465968"/>
          </a:xfrm>
        </p:spPr>
        <p:txBody>
          <a:bodyPr>
            <a:normAutofit lnSpcReduction="10000"/>
          </a:bodyPr>
          <a:lstStyle/>
          <a:p>
            <a:r>
              <a:rPr lang="bg-BG" dirty="0">
                <a:solidFill>
                  <a:srgbClr val="E2D96A"/>
                </a:solidFill>
              </a:rPr>
              <a:t>Процеси за определяне на всички дейности и ресурси за изпълнение на проекта:</a:t>
            </a:r>
          </a:p>
          <a:p>
            <a:r>
              <a:rPr lang="bg-BG" dirty="0">
                <a:solidFill>
                  <a:srgbClr val="E2D96A"/>
                </a:solidFill>
              </a:rPr>
              <a:t>Дефиниране на обхвата на проекта</a:t>
            </a:r>
          </a:p>
          <a:p>
            <a:r>
              <a:rPr lang="bg-BG" dirty="0">
                <a:solidFill>
                  <a:srgbClr val="E2D96A"/>
                </a:solidFill>
              </a:rPr>
              <a:t>Планиране на ресурсите</a:t>
            </a:r>
          </a:p>
          <a:p>
            <a:r>
              <a:rPr lang="bg-BG" dirty="0">
                <a:solidFill>
                  <a:srgbClr val="E2D96A"/>
                </a:solidFill>
              </a:rPr>
              <a:t>Планиране управлението на риска на проекта</a:t>
            </a:r>
          </a:p>
          <a:p>
            <a:r>
              <a:rPr lang="bg-BG" dirty="0">
                <a:solidFill>
                  <a:srgbClr val="E2D96A"/>
                </a:solidFill>
              </a:rPr>
              <a:t>Планиране на качество</a:t>
            </a:r>
          </a:p>
          <a:p>
            <a:r>
              <a:rPr lang="bg-BG" dirty="0">
                <a:solidFill>
                  <a:srgbClr val="E2D96A"/>
                </a:solidFill>
              </a:rPr>
              <a:t>Планиране на комуникациите</a:t>
            </a:r>
          </a:p>
        </p:txBody>
      </p:sp>
    </p:spTree>
    <p:extLst>
      <p:ext uri="{BB962C8B-B14F-4D97-AF65-F5344CB8AC3E}">
        <p14:creationId xmlns:p14="http://schemas.microsoft.com/office/powerpoint/2010/main" val="3652859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Планиране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Планиране</a:t>
            </a:r>
            <a:endParaRPr lang="en-US" dirty="0">
              <a:solidFill>
                <a:srgbClr val="E2D96A"/>
              </a:solidFill>
            </a:endParaRP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 на организацията</a:t>
            </a:r>
            <a:endParaRPr lang="en-US" dirty="0">
              <a:solidFill>
                <a:srgbClr val="E2D96A"/>
              </a:solidFill>
            </a:endParaRP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 и хората</a:t>
            </a:r>
          </a:p>
          <a:p>
            <a:r>
              <a:rPr lang="bg-BG" dirty="0">
                <a:solidFill>
                  <a:srgbClr val="E2D96A"/>
                </a:solidFill>
              </a:rPr>
              <a:t>Планиране </a:t>
            </a:r>
            <a:endParaRPr lang="en-US" dirty="0">
              <a:solidFill>
                <a:srgbClr val="E2D96A"/>
              </a:solidFill>
            </a:endParaRP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на доставките</a:t>
            </a:r>
          </a:p>
          <a:p>
            <a:r>
              <a:rPr lang="bg-BG" dirty="0">
                <a:solidFill>
                  <a:srgbClr val="E2D96A"/>
                </a:solidFill>
              </a:rPr>
              <a:t>Разработване на </a:t>
            </a:r>
            <a:endParaRPr lang="en-US" dirty="0">
              <a:solidFill>
                <a:srgbClr val="E2D96A"/>
              </a:solidFill>
            </a:endParaRP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план за </a:t>
            </a:r>
            <a:endParaRPr lang="en-US" dirty="0">
              <a:solidFill>
                <a:srgbClr val="E2D96A"/>
              </a:solidFill>
            </a:endParaRPr>
          </a:p>
          <a:p>
            <a:pPr marL="64008" indent="0">
              <a:buNone/>
            </a:pPr>
            <a:r>
              <a:rPr lang="bg-BG" dirty="0">
                <a:solidFill>
                  <a:srgbClr val="E2D96A"/>
                </a:solidFill>
              </a:rPr>
              <a:t>управление на проекта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809614"/>
            <a:ext cx="4572000" cy="3793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113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Изпълнение</a:t>
            </a:r>
            <a:br>
              <a:rPr lang="bg-BG" i="1" dirty="0">
                <a:solidFill>
                  <a:srgbClr val="E2D96A"/>
                </a:solidFill>
              </a:rPr>
            </a:br>
            <a:r>
              <a:rPr lang="bg-BG" sz="2800" i="1" dirty="0">
                <a:solidFill>
                  <a:srgbClr val="E2D96A"/>
                </a:solidFill>
              </a:rPr>
              <a:t>Трета фаза от жизнения цикъл на проект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Реализира се технически конкретния продукт или услуга, като се следват поставените в предния етап планове</a:t>
            </a:r>
            <a:endParaRPr lang="en-US" dirty="0">
              <a:solidFill>
                <a:srgbClr val="E2D96A"/>
              </a:solidFill>
            </a:endParaRPr>
          </a:p>
          <a:p>
            <a:r>
              <a:rPr lang="bg-BG" dirty="0">
                <a:solidFill>
                  <a:srgbClr val="E2D96A"/>
                </a:solidFill>
              </a:rPr>
              <a:t>П</a:t>
            </a:r>
            <a:r>
              <a:rPr lang="ru-RU" dirty="0">
                <a:solidFill>
                  <a:srgbClr val="E2D96A"/>
                </a:solidFill>
              </a:rPr>
              <a:t>роцеси за изпълнение на планираните дейности за постигане на очакваните резултати</a:t>
            </a:r>
            <a:r>
              <a:rPr lang="en-US" dirty="0">
                <a:solidFill>
                  <a:srgbClr val="E2D96A"/>
                </a:solidFill>
              </a:rPr>
              <a:t>:</a:t>
            </a:r>
            <a:endParaRPr lang="bg-BG" dirty="0">
              <a:solidFill>
                <a:srgbClr val="E2D96A"/>
              </a:solidFill>
            </a:endParaRPr>
          </a:p>
          <a:p>
            <a:r>
              <a:rPr lang="ru-RU" dirty="0">
                <a:solidFill>
                  <a:srgbClr val="E2D96A"/>
                </a:solidFill>
              </a:rPr>
              <a:t>Координиране на усилията на хората и използването на ресурсите</a:t>
            </a:r>
          </a:p>
          <a:p>
            <a:endParaRPr lang="bg-BG" dirty="0">
              <a:solidFill>
                <a:srgbClr val="E2D9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7068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Изпълнение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>
                <a:solidFill>
                  <a:srgbClr val="E2D96A"/>
                </a:solidFill>
              </a:rPr>
              <a:t>Подобряване на </a:t>
            </a:r>
          </a:p>
          <a:p>
            <a:pPr marL="64008" indent="0">
              <a:buNone/>
            </a:pPr>
            <a:r>
              <a:rPr lang="ru-RU" sz="2400" dirty="0">
                <a:solidFill>
                  <a:srgbClr val="E2D96A"/>
                </a:solidFill>
              </a:rPr>
              <a:t>взаимодействието между </a:t>
            </a:r>
          </a:p>
          <a:p>
            <a:pPr marL="64008" indent="0">
              <a:buNone/>
            </a:pPr>
            <a:r>
              <a:rPr lang="ru-RU" sz="2400" dirty="0">
                <a:solidFill>
                  <a:srgbClr val="E2D96A"/>
                </a:solidFill>
              </a:rPr>
              <a:t>членовете на проектния екип</a:t>
            </a:r>
          </a:p>
          <a:p>
            <a:r>
              <a:rPr lang="ru-RU" sz="2400" dirty="0">
                <a:solidFill>
                  <a:srgbClr val="E2D96A"/>
                </a:solidFill>
              </a:rPr>
              <a:t>Разпространяване навреме</a:t>
            </a:r>
          </a:p>
          <a:p>
            <a:pPr marL="64008" indent="0">
              <a:buNone/>
            </a:pPr>
            <a:r>
              <a:rPr lang="ru-RU" sz="2400" dirty="0">
                <a:solidFill>
                  <a:srgbClr val="E2D96A"/>
                </a:solidFill>
              </a:rPr>
              <a:t>на необходимата </a:t>
            </a:r>
          </a:p>
          <a:p>
            <a:pPr marL="64008" indent="0">
              <a:buNone/>
            </a:pPr>
            <a:r>
              <a:rPr lang="ru-RU" sz="2400" dirty="0">
                <a:solidFill>
                  <a:srgbClr val="E2D96A"/>
                </a:solidFill>
              </a:rPr>
              <a:t>информация до </a:t>
            </a:r>
          </a:p>
          <a:p>
            <a:pPr marL="64008" indent="0">
              <a:buNone/>
            </a:pPr>
            <a:r>
              <a:rPr lang="ru-RU" sz="2400" dirty="0">
                <a:solidFill>
                  <a:srgbClr val="E2D96A"/>
                </a:solidFill>
              </a:rPr>
              <a:t>всички участници в проекта</a:t>
            </a:r>
          </a:p>
          <a:p>
            <a:r>
              <a:rPr lang="bg-BG" sz="2400" dirty="0">
                <a:solidFill>
                  <a:srgbClr val="E2D96A"/>
                </a:solidFill>
              </a:rPr>
              <a:t>Идентифициране на промени</a:t>
            </a:r>
          </a:p>
          <a:p>
            <a:r>
              <a:rPr lang="bg-BG" sz="2400" dirty="0">
                <a:solidFill>
                  <a:srgbClr val="E2D96A"/>
                </a:solidFill>
              </a:rPr>
              <a:t>Осигуряване на качеството</a:t>
            </a:r>
          </a:p>
        </p:txBody>
      </p:sp>
    </p:spTree>
    <p:extLst>
      <p:ext uri="{BB962C8B-B14F-4D97-AF65-F5344CB8AC3E}">
        <p14:creationId xmlns:p14="http://schemas.microsoft.com/office/powerpoint/2010/main" val="215665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Изпълнение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052736"/>
            <a:ext cx="7576904" cy="5662947"/>
          </a:xfrm>
        </p:spPr>
      </p:pic>
    </p:spTree>
    <p:extLst>
      <p:ext uri="{BB962C8B-B14F-4D97-AF65-F5344CB8AC3E}">
        <p14:creationId xmlns:p14="http://schemas.microsoft.com/office/powerpoint/2010/main" val="3900627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Контролиране</a:t>
            </a:r>
            <a:br>
              <a:rPr lang="bg-BG" i="1" dirty="0">
                <a:solidFill>
                  <a:srgbClr val="E2D96A"/>
                </a:solidFill>
              </a:rPr>
            </a:br>
            <a:r>
              <a:rPr lang="bg-BG" sz="2800" i="1" dirty="0">
                <a:solidFill>
                  <a:srgbClr val="E2D96A"/>
                </a:solidFill>
              </a:rPr>
              <a:t>Четвърта фаза от жизнения цикъл на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92896"/>
            <a:ext cx="8229600" cy="3961912"/>
          </a:xfrm>
        </p:spPr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Същност-  процеси за следене и измерване на изпълнението спрямо плана</a:t>
            </a:r>
          </a:p>
          <a:p>
            <a:r>
              <a:rPr lang="bg-BG" dirty="0">
                <a:solidFill>
                  <a:srgbClr val="E2D96A"/>
                </a:solidFill>
              </a:rPr>
              <a:t>Включва също така вземане на превантивни мерки за отстраняване на проблемите преди те да са оказали негативно влияние</a:t>
            </a:r>
          </a:p>
        </p:txBody>
      </p:sp>
    </p:spTree>
    <p:extLst>
      <p:ext uri="{BB962C8B-B14F-4D97-AF65-F5344CB8AC3E}">
        <p14:creationId xmlns:p14="http://schemas.microsoft.com/office/powerpoint/2010/main" val="28536449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Контролиране</a:t>
            </a:r>
            <a:br>
              <a:rPr lang="bg-BG" i="1" dirty="0">
                <a:solidFill>
                  <a:srgbClr val="E2D96A"/>
                </a:solidFill>
              </a:rPr>
            </a:br>
            <a:r>
              <a:rPr lang="bg-BG" sz="2800" i="1" dirty="0">
                <a:solidFill>
                  <a:srgbClr val="E2D96A"/>
                </a:solidFill>
              </a:rPr>
              <a:t>Четвърта фаза от жизнения цикъл на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05928"/>
          </a:xfrm>
        </p:spPr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Отчитане на изпълнението</a:t>
            </a:r>
          </a:p>
          <a:p>
            <a:r>
              <a:rPr lang="bg-BG" dirty="0">
                <a:solidFill>
                  <a:srgbClr val="E2D96A"/>
                </a:solidFill>
              </a:rPr>
              <a:t>Интегриран контрол на промени</a:t>
            </a:r>
          </a:p>
          <a:p>
            <a:r>
              <a:rPr lang="bg-BG" dirty="0">
                <a:solidFill>
                  <a:srgbClr val="E2D96A"/>
                </a:solidFill>
              </a:rPr>
              <a:t>Контрол на качеството</a:t>
            </a:r>
          </a:p>
          <a:p>
            <a:r>
              <a:rPr lang="bg-BG" dirty="0">
                <a:solidFill>
                  <a:srgbClr val="E2D96A"/>
                </a:solidFill>
              </a:rPr>
              <a:t>Контрол на риска</a:t>
            </a:r>
          </a:p>
        </p:txBody>
      </p:sp>
    </p:spTree>
    <p:extLst>
      <p:ext uri="{BB962C8B-B14F-4D97-AF65-F5344CB8AC3E}">
        <p14:creationId xmlns:p14="http://schemas.microsoft.com/office/powerpoint/2010/main" val="13477310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Закриване</a:t>
            </a:r>
            <a:br>
              <a:rPr lang="bg-BG" i="1" dirty="0">
                <a:solidFill>
                  <a:srgbClr val="E2D96A"/>
                </a:solidFill>
              </a:rPr>
            </a:br>
            <a:r>
              <a:rPr lang="bg-BG" sz="2800" i="1" dirty="0">
                <a:solidFill>
                  <a:srgbClr val="E2D96A"/>
                </a:solidFill>
              </a:rPr>
              <a:t>Пета и последна фаза от жизнения цикъл на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177936"/>
          </a:xfrm>
        </p:spPr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Същност- процеси за одобряване и приемане на резултатите от проекта</a:t>
            </a:r>
          </a:p>
          <a:p>
            <a:r>
              <a:rPr lang="bg-BG" dirty="0">
                <a:solidFill>
                  <a:srgbClr val="E2D96A"/>
                </a:solidFill>
              </a:rPr>
              <a:t>Приключване на проекта</a:t>
            </a:r>
          </a:p>
          <a:p>
            <a:r>
              <a:rPr lang="bg-BG" dirty="0">
                <a:solidFill>
                  <a:srgbClr val="E2D96A"/>
                </a:solidFill>
              </a:rPr>
              <a:t>Приключване на договори</a:t>
            </a:r>
          </a:p>
        </p:txBody>
      </p:sp>
    </p:spTree>
    <p:extLst>
      <p:ext uri="{BB962C8B-B14F-4D97-AF65-F5344CB8AC3E}">
        <p14:creationId xmlns:p14="http://schemas.microsoft.com/office/powerpoint/2010/main" val="8875753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7494"/>
            <a:ext cx="8640960" cy="1399032"/>
          </a:xfrm>
        </p:spPr>
        <p:txBody>
          <a:bodyPr>
            <a:normAutofit fontScale="90000"/>
          </a:bodyPr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Управление на изпълнението, контрол и ефикасност на проекта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6872"/>
            <a:ext cx="8229600" cy="4177936"/>
          </a:xfrm>
        </p:spPr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-основно предизвикателство при управлението- постигането на всички цели на проекта в рамките на поставените ограничения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интеграцията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обхвата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времето</a:t>
            </a:r>
          </a:p>
        </p:txBody>
      </p:sp>
    </p:spTree>
    <p:extLst>
      <p:ext uri="{BB962C8B-B14F-4D97-AF65-F5344CB8AC3E}">
        <p14:creationId xmlns:p14="http://schemas.microsoft.com/office/powerpoint/2010/main" val="9488756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800" i="1" dirty="0">
                <a:ln w="6350">
                  <a:solidFill>
                    <a:srgbClr val="7E97AD">
                      <a:shade val="43000"/>
                    </a:srgbClr>
                  </a:solidFill>
                </a:ln>
                <a:solidFill>
                  <a:srgbClr val="E2D96A"/>
                </a:solidFill>
              </a:rPr>
              <a:t>Управление на изпълнението, контрол и ефикасност на проекта</a:t>
            </a:r>
            <a:endParaRPr lang="bg-BG" dirty="0">
              <a:solidFill>
                <a:srgbClr val="E2D96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420888"/>
            <a:ext cx="8229600" cy="4033920"/>
          </a:xfrm>
        </p:spPr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Управление на качеството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човешките ресурси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комуникациите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риска</a:t>
            </a:r>
          </a:p>
          <a:p>
            <a:r>
              <a:rPr lang="bg-BG" dirty="0">
                <a:solidFill>
                  <a:srgbClr val="E2D96A"/>
                </a:solidFill>
              </a:rPr>
              <a:t>Управление на промените</a:t>
            </a:r>
          </a:p>
        </p:txBody>
      </p:sp>
    </p:spTree>
    <p:extLst>
      <p:ext uri="{BB962C8B-B14F-4D97-AF65-F5344CB8AC3E}">
        <p14:creationId xmlns:p14="http://schemas.microsoft.com/office/powerpoint/2010/main" val="208961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800" i="1" dirty="0">
                <a:ln w="6350">
                  <a:solidFill>
                    <a:srgbClr val="7E97AD">
                      <a:shade val="43000"/>
                    </a:srgbClr>
                  </a:solidFill>
                </a:ln>
                <a:solidFill>
                  <a:srgbClr val="E2D96A"/>
                </a:solidFill>
              </a:rPr>
              <a:t>Управление на изпълнението, контрол и ефикасност на проекта</a:t>
            </a:r>
            <a:endParaRPr lang="bg-BG" dirty="0">
              <a:solidFill>
                <a:srgbClr val="E2D96A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916832"/>
            <a:ext cx="8229600" cy="4537976"/>
          </a:xfrm>
        </p:spPr>
        <p:txBody>
          <a:bodyPr/>
          <a:lstStyle/>
          <a:p>
            <a:r>
              <a:rPr lang="bg-BG" b="1" i="1" u="sng" dirty="0">
                <a:solidFill>
                  <a:srgbClr val="E2D96A"/>
                </a:solidFill>
              </a:rPr>
              <a:t>ЕФИКАСНОСТ?!?!</a:t>
            </a:r>
          </a:p>
        </p:txBody>
      </p:sp>
      <p:pic>
        <p:nvPicPr>
          <p:cNvPr id="6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20" y="2420888"/>
            <a:ext cx="6814225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8968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800" i="1" dirty="0">
                <a:ln w="6350">
                  <a:solidFill>
                    <a:srgbClr val="7E97AD">
                      <a:shade val="43000"/>
                    </a:srgbClr>
                  </a:solidFill>
                </a:ln>
                <a:solidFill>
                  <a:srgbClr val="E2D96A"/>
                </a:solidFill>
              </a:rPr>
              <a:t>Управление на изпълнението, контрол и ефикасност на проекта</a:t>
            </a:r>
            <a:endParaRPr lang="bg-BG" dirty="0">
              <a:solidFill>
                <a:srgbClr val="E2D96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780928"/>
            <a:ext cx="8229600" cy="3673880"/>
          </a:xfrm>
        </p:spPr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Ефикасност- отношението на постигнатия резултат спрямо вложените разходи(енергия, труд, финансови средства)</a:t>
            </a:r>
          </a:p>
        </p:txBody>
      </p:sp>
    </p:spTree>
    <p:extLst>
      <p:ext uri="{BB962C8B-B14F-4D97-AF65-F5344CB8AC3E}">
        <p14:creationId xmlns:p14="http://schemas.microsoft.com/office/powerpoint/2010/main" val="35953419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C8D2364-D03C-4837-823E-BA75AE4160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g-BG" sz="3800" i="1" dirty="0">
                <a:ln w="6350">
                  <a:solidFill>
                    <a:srgbClr val="7E97AD">
                      <a:shade val="43000"/>
                    </a:srgbClr>
                  </a:solidFill>
                </a:ln>
                <a:solidFill>
                  <a:srgbClr val="E2D96A"/>
                </a:solidFill>
              </a:rPr>
              <a:t>Управление на изпълнението, контрол и ефикасност на проекта</a:t>
            </a:r>
            <a:endParaRPr lang="en-US" dirty="0"/>
          </a:p>
        </p:txBody>
      </p:sp>
      <p:sp>
        <p:nvSpPr>
          <p:cNvPr id="3" name="Подзаглавие 2">
            <a:extLst>
              <a:ext uri="{FF2B5EF4-FFF2-40B4-BE49-F238E27FC236}">
                <a16:creationId xmlns:a16="http://schemas.microsoft.com/office/drawing/2014/main" id="{42B3DD50-BC40-45B8-980D-C119F4904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544" y="2636912"/>
            <a:ext cx="8062912" cy="3672408"/>
          </a:xfrm>
        </p:spPr>
        <p:txBody>
          <a:bodyPr/>
          <a:lstStyle/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bg-BG" dirty="0">
                <a:solidFill>
                  <a:srgbClr val="E2D96A"/>
                </a:solidFill>
              </a:rPr>
              <a:t>Софтуер за управление на проект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bg-BG" dirty="0">
                <a:solidFill>
                  <a:srgbClr val="E2D96A"/>
                </a:solidFill>
              </a:rPr>
              <a:t>Дефиниране на жизнения цикъл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bg-BG" dirty="0">
                <a:solidFill>
                  <a:srgbClr val="E2D96A"/>
                </a:solidFill>
              </a:rPr>
              <a:t>Дефиниране на обхвата на проекта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bg-BG" dirty="0">
                <a:solidFill>
                  <a:srgbClr val="E2D96A"/>
                </a:solidFill>
              </a:rPr>
              <a:t>Определяне на ролите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bg-BG" dirty="0">
                <a:solidFill>
                  <a:srgbClr val="E2D96A"/>
                </a:solidFill>
              </a:rPr>
              <a:t>Комуникация</a:t>
            </a:r>
          </a:p>
          <a:p>
            <a:pPr marL="457200" indent="-457200" algn="l">
              <a:buFont typeface="Wingdings" panose="05000000000000000000" pitchFamily="2" charset="2"/>
              <a:buChar char="§"/>
            </a:pPr>
            <a:r>
              <a:rPr lang="bg-BG" dirty="0">
                <a:solidFill>
                  <a:srgbClr val="E2D96A"/>
                </a:solidFill>
              </a:rPr>
              <a:t>Гъвкавост</a:t>
            </a:r>
          </a:p>
        </p:txBody>
      </p:sp>
    </p:spTree>
    <p:extLst>
      <p:ext uri="{BB962C8B-B14F-4D97-AF65-F5344CB8AC3E}">
        <p14:creationId xmlns:p14="http://schemas.microsoft.com/office/powerpoint/2010/main" val="1860536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g-BG" i="1" dirty="0">
                <a:solidFill>
                  <a:srgbClr val="E2D96A"/>
                </a:solidFill>
              </a:rPr>
              <a:t>Рамка, стандарти и насоки при работа със софтуерни проекти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48880"/>
            <a:ext cx="8229600" cy="4105928"/>
          </a:xfrm>
        </p:spPr>
        <p:txBody>
          <a:bodyPr>
            <a:normAutofit lnSpcReduction="10000"/>
          </a:bodyPr>
          <a:lstStyle/>
          <a:p>
            <a:r>
              <a:rPr lang="bg-BG" dirty="0">
                <a:solidFill>
                  <a:srgbClr val="E2D96A"/>
                </a:solidFill>
              </a:rPr>
              <a:t>Рамка на проект- съвкупност от процесите, задачите и инструментите, използвани, за да бъде доведен един проект от началото до неговия край</a:t>
            </a:r>
          </a:p>
          <a:p>
            <a:r>
              <a:rPr lang="bg-BG" dirty="0">
                <a:solidFill>
                  <a:srgbClr val="E2D96A"/>
                </a:solidFill>
              </a:rPr>
              <a:t>Състои се от 3 части: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    -</a:t>
            </a:r>
            <a:r>
              <a:rPr lang="bg-BG" dirty="0">
                <a:solidFill>
                  <a:srgbClr val="E2D96A"/>
                </a:solidFill>
              </a:rPr>
              <a:t>Жизнен цикъл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    -</a:t>
            </a:r>
            <a:r>
              <a:rPr lang="bg-BG" dirty="0">
                <a:solidFill>
                  <a:srgbClr val="E2D96A"/>
                </a:solidFill>
              </a:rPr>
              <a:t>Управление 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    -</a:t>
            </a:r>
            <a:r>
              <a:rPr lang="bg-BG" dirty="0">
                <a:solidFill>
                  <a:srgbClr val="E2D96A"/>
                </a:solidFill>
              </a:rPr>
              <a:t>Инструменти и шаблони</a:t>
            </a:r>
          </a:p>
        </p:txBody>
      </p:sp>
    </p:spTree>
    <p:extLst>
      <p:ext uri="{BB962C8B-B14F-4D97-AF65-F5344CB8AC3E}">
        <p14:creationId xmlns:p14="http://schemas.microsoft.com/office/powerpoint/2010/main" val="22001269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sz="3800" i="1" dirty="0">
                <a:ln w="6350">
                  <a:solidFill>
                    <a:srgbClr val="7E97AD">
                      <a:shade val="43000"/>
                    </a:srgbClr>
                  </a:solidFill>
                </a:ln>
                <a:solidFill>
                  <a:srgbClr val="E2D96A"/>
                </a:solidFill>
              </a:rPr>
              <a:t>Рамка, стандарти и насоки при работа със софтуерни проекти</a:t>
            </a:r>
            <a:endParaRPr lang="bg-BG" dirty="0">
              <a:solidFill>
                <a:srgbClr val="E2D96A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>
                <a:solidFill>
                  <a:srgbClr val="E2D96A"/>
                </a:solidFill>
              </a:rPr>
              <a:t>Стандарти за рамка: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-PRINCE2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-CCPM(critical chain project management)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-XPM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-Lean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-Scrum</a:t>
            </a:r>
          </a:p>
          <a:p>
            <a:pPr marL="64008" indent="0">
              <a:buNone/>
            </a:pPr>
            <a:r>
              <a:rPr lang="en-US" dirty="0">
                <a:solidFill>
                  <a:srgbClr val="E2D96A"/>
                </a:solidFill>
              </a:rPr>
              <a:t>-Waterfall</a:t>
            </a:r>
            <a:endParaRPr lang="bg-BG" dirty="0">
              <a:solidFill>
                <a:srgbClr val="E2D9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1583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53" y="476672"/>
            <a:ext cx="7909395" cy="5951820"/>
          </a:xfrm>
        </p:spPr>
      </p:pic>
    </p:spTree>
    <p:extLst>
      <p:ext uri="{BB962C8B-B14F-4D97-AF65-F5344CB8AC3E}">
        <p14:creationId xmlns:p14="http://schemas.microsoft.com/office/powerpoint/2010/main" val="1796960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Horizon">
      <a:dk1>
        <a:srgbClr val="000000"/>
      </a:dk1>
      <a:lt1>
        <a:srgbClr val="FFFFFF"/>
      </a:lt1>
      <a:dk2>
        <a:srgbClr val="1F2123"/>
      </a:dk2>
      <a:lt2>
        <a:srgbClr val="DC9E1F"/>
      </a:lt2>
      <a:accent1>
        <a:srgbClr val="7E97AD"/>
      </a:accent1>
      <a:accent2>
        <a:srgbClr val="CC8E60"/>
      </a:accent2>
      <a:accent3>
        <a:srgbClr val="7A6A60"/>
      </a:accent3>
      <a:accent4>
        <a:srgbClr val="B4936D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8783</TotalTime>
  <Words>680</Words>
  <Application>Microsoft Office PowerPoint</Application>
  <PresentationFormat>Презентация на цял екран (4:3)</PresentationFormat>
  <Paragraphs>129</Paragraphs>
  <Slides>26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26</vt:i4>
      </vt:variant>
    </vt:vector>
  </HeadingPairs>
  <TitlesOfParts>
    <vt:vector size="31" baseType="lpstr">
      <vt:lpstr>Century Gothic</vt:lpstr>
      <vt:lpstr>Verdana</vt:lpstr>
      <vt:lpstr>Wingdings</vt:lpstr>
      <vt:lpstr>Wingdings 2</vt:lpstr>
      <vt:lpstr>Verve</vt:lpstr>
      <vt:lpstr>Иницииране и съставяне на екип. Жизнен цикъл. Управление на изпълнението на проекта, контрол и ефикасност на проекта.Рамка, стандарти и насоки при работа със софтуерни проекти</vt:lpstr>
      <vt:lpstr>Жизнен цикъл</vt:lpstr>
      <vt:lpstr>Иницииране и съставяне на екип</vt:lpstr>
      <vt:lpstr>Иницииране и съставяне на екип Иницииране- Първа фаза от жизнения цикъл на проекта</vt:lpstr>
      <vt:lpstr>Иницииране и съставяне на екип</vt:lpstr>
      <vt:lpstr>Иницииране и съставяне на екип</vt:lpstr>
      <vt:lpstr>Презентация на PowerPoint</vt:lpstr>
      <vt:lpstr>Иницииране и съставяне на екип</vt:lpstr>
      <vt:lpstr>Иницииране и съставяне на екип</vt:lpstr>
      <vt:lpstr>Иницииране и съставяне на екип</vt:lpstr>
      <vt:lpstr>Планиране Втора фаза от жизнения цикъл на проекта</vt:lpstr>
      <vt:lpstr>Планиране</vt:lpstr>
      <vt:lpstr>Изпълнение Трета фаза от жизнения цикъл на проект</vt:lpstr>
      <vt:lpstr>Изпълнение</vt:lpstr>
      <vt:lpstr>Изпълнение</vt:lpstr>
      <vt:lpstr>Контролиране Четвърта фаза от жизнения цикъл на проекта</vt:lpstr>
      <vt:lpstr>Контролиране Четвърта фаза от жизнения цикъл на проекта</vt:lpstr>
      <vt:lpstr>Закриване Пета и последна фаза от жизнения цикъл на проекта</vt:lpstr>
      <vt:lpstr>Управление на изпълнението, контрол и ефикасност на проекта</vt:lpstr>
      <vt:lpstr>Управление на изпълнението, контрол и ефикасност на проекта</vt:lpstr>
      <vt:lpstr>Управление на изпълнението, контрол и ефикасност на проекта</vt:lpstr>
      <vt:lpstr>Управление на изпълнението, контрол и ефикасност на проекта</vt:lpstr>
      <vt:lpstr>Управление на изпълнението, контрол и ефикасност на проекта</vt:lpstr>
      <vt:lpstr>Рамка, стандарти и насоки при работа със софтуерни проекти</vt:lpstr>
      <vt:lpstr>Рамка, стандарти и насоки при работа със софтуерни проекти</vt:lpstr>
      <vt:lpstr>Презентация на PowerPoint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Иницииране и съставяне на екип. Жизнен цикъл. Управление на изпълнението на проекта, контрол и ефикасност на проекта.Рамка, стандарти и насоки при работа със софтуерни проекти</dc:title>
  <dc:creator>Златин Златев</dc:creator>
  <cp:lastModifiedBy>TEO</cp:lastModifiedBy>
  <cp:revision>32</cp:revision>
  <dcterms:created xsi:type="dcterms:W3CDTF">2020-02-26T14:32:55Z</dcterms:created>
  <dcterms:modified xsi:type="dcterms:W3CDTF">2020-03-04T18:24:29Z</dcterms:modified>
</cp:coreProperties>
</file>
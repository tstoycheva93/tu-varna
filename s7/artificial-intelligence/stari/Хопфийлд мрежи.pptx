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00EBC14-9B13-0C88-1E17-B9F866E07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b="0" i="0" dirty="0" err="1">
                <a:solidFill>
                  <a:srgbClr val="E8E8E6"/>
                </a:solidFill>
                <a:effectLst/>
                <a:latin typeface="__fkGroteskNeue_532e43"/>
              </a:rPr>
              <a:t>Хопфийлд</a:t>
            </a:r>
            <a:r>
              <a:rPr lang="bg-BG" b="0" i="0" dirty="0">
                <a:solidFill>
                  <a:srgbClr val="E8E8E6"/>
                </a:solidFill>
                <a:effectLst/>
                <a:latin typeface="__fkGroteskNeue_532e43"/>
              </a:rPr>
              <a:t> мрежи</a:t>
            </a:r>
            <a:endParaRPr lang="en-US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FD7CE97E-D7A0-3D57-B59C-28A55EB3F7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Изработил: Цветелин </a:t>
            </a:r>
            <a:r>
              <a:rPr lang="bg-BG" dirty="0" err="1"/>
              <a:t>георгиев</a:t>
            </a:r>
            <a:r>
              <a:rPr lang="bg-BG" dirty="0"/>
              <a:t> </a:t>
            </a:r>
            <a:r>
              <a:rPr lang="bg-BG" dirty="0" err="1"/>
              <a:t>ганев</a:t>
            </a:r>
            <a:endParaRPr lang="bg-BG" dirty="0"/>
          </a:p>
          <a:p>
            <a:r>
              <a:rPr lang="bg-BG" dirty="0"/>
              <a:t>Сит, Фак.№20611617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2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02F1CAD-E81F-A968-81BD-8D0ADF19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921" y="876299"/>
            <a:ext cx="4648199" cy="1456267"/>
          </a:xfrm>
        </p:spPr>
        <p:txBody>
          <a:bodyPr/>
          <a:lstStyle/>
          <a:p>
            <a:r>
              <a:rPr lang="bg-BG" dirty="0"/>
              <a:t>Дефиниция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27CFF8B-1359-C5F9-2BCD-AD9D62E0D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5" y="1604433"/>
            <a:ext cx="6409265" cy="3649133"/>
          </a:xfrm>
        </p:spPr>
        <p:txBody>
          <a:bodyPr/>
          <a:lstStyle/>
          <a:p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Хопфийлд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мрежите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рекурентни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невронни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мрежи,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въведени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от Джон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Хопфийлд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през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1982 г.,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използвани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за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моделиране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на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асоциативна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памет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74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6875F89-8263-2A3F-A094-5972C9C6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120" y="609600"/>
            <a:ext cx="3888106" cy="1456267"/>
          </a:xfrm>
        </p:spPr>
        <p:txBody>
          <a:bodyPr/>
          <a:lstStyle/>
          <a:p>
            <a:r>
              <a:rPr lang="bg-BG" dirty="0"/>
              <a:t>Архитектура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191935F-1BB4-F7EC-CC7F-90FEC0B8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42067"/>
            <a:ext cx="4721226" cy="3649133"/>
          </a:xfrm>
        </p:spPr>
        <p:txBody>
          <a:bodyPr/>
          <a:lstStyle/>
          <a:p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Те се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състоят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от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бинарни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неврони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които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взаимно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свързани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с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тежести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(весели),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формирайки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симетрична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матрица на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теглата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en-US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A44BE22-97AC-4C14-4AFD-A2D6B2E8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55" y="-86362"/>
            <a:ext cx="4340226" cy="694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00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42FD834-672A-B29D-E10E-B0CC664D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i="0" dirty="0">
                <a:effectLst/>
                <a:latin typeface="Söhne"/>
              </a:rPr>
              <a:t>Асоциативна памет, Запомняне и възстановяване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FE5596D-0A03-7489-9B3C-B40EAD101A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Те се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използват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за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съхранение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и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асоциативно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възстановяване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на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образи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като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могат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да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бъдат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приложени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в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различни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области,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като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разпознаване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на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образи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и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оптимизационни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задачи.</a:t>
            </a:r>
            <a:endParaRPr lang="en-US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7686EA4E-7C58-040C-DBED-93E584887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7975" y="2142067"/>
            <a:ext cx="4995332" cy="3649133"/>
          </a:xfrm>
        </p:spPr>
        <p:txBody>
          <a:bodyPr/>
          <a:lstStyle/>
          <a:p>
            <a:r>
              <a:rPr lang="ru-RU" dirty="0" err="1">
                <a:solidFill>
                  <a:srgbClr val="D1D5DB"/>
                </a:solidFill>
                <a:latin typeface="Söhne"/>
              </a:rPr>
              <a:t>М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режите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способни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да запомнят и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възстановяват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шаблони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Когато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им се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предостави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частично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изкривен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или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зашумен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вход,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мрежата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може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да го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възстанови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към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най-</a:t>
            </a:r>
            <a:r>
              <a:rPr lang="ru-RU" b="0" i="0" dirty="0" err="1">
                <a:solidFill>
                  <a:srgbClr val="D1D5DB"/>
                </a:solidFill>
                <a:effectLst/>
                <a:latin typeface="Söhne"/>
              </a:rPr>
              <a:t>близкия</a:t>
            </a:r>
            <a:r>
              <a:rPr lang="ru-RU" b="0" i="0" dirty="0">
                <a:solidFill>
                  <a:srgbClr val="D1D5DB"/>
                </a:solidFill>
                <a:effectLst/>
                <a:latin typeface="Söhne"/>
              </a:rPr>
              <a:t> запомнен образ.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18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AA2BEAA-62E4-7D50-AC31-64FD9AE9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i="0" dirty="0">
                <a:effectLst/>
                <a:latin typeface="Söhne"/>
              </a:rPr>
              <a:t>Енергийна функция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Контейнер за съдържание 2">
                <a:extLst>
                  <a:ext uri="{FF2B5EF4-FFF2-40B4-BE49-F238E27FC236}">
                    <a16:creationId xmlns:a16="http://schemas.microsoft.com/office/drawing/2014/main" id="{C850102E-AFF4-CE35-343D-20941D2B6DA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l"/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Енергийната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функция в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Hopfield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мрежите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е важен аспект,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който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определя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състоянието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на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мрежата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и се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използва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при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процеса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на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възстановяване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на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образите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. За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Hopfield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мрежите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,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енергийната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функция (E) се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дефинира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по </a:t>
                </a:r>
                <a:r>
                  <a:rPr lang="ru-RU" b="0" i="0" dirty="0" err="1">
                    <a:solidFill>
                      <a:srgbClr val="D1D5DB"/>
                    </a:solidFill>
                    <a:effectLst/>
                    <a:latin typeface="Söhne"/>
                  </a:rPr>
                  <a:t>следния</a:t>
                </a:r>
                <a:r>
                  <a:rPr lang="ru-RU" b="0" i="0" dirty="0">
                    <a:solidFill>
                      <a:srgbClr val="D1D5DB"/>
                    </a:solidFill>
                    <a:effectLst/>
                    <a:latin typeface="Söhne"/>
                  </a:rPr>
                  <a:t> начин:</a:t>
                </a:r>
              </a:p>
              <a:p>
                <a:br>
                  <a:rPr lang="ru-RU" b="0" i="0" dirty="0">
                    <a:solidFill>
                      <a:srgbClr val="D1D5DB"/>
                    </a:solidFill>
                    <a:effectLst/>
                    <a:latin typeface="KaTeX_Main"/>
                  </a:rPr>
                </a:br>
                <a14:m>
                  <m:oMath xmlns:m="http://schemas.openxmlformats.org/officeDocument/2006/math">
                    <m:r>
                      <a:rPr lang="en-US" sz="24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sz="2400" i="1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grow m:val="on"/>
                        <m:ctrlP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400" i="1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Контейнер за съдържание 2">
                <a:extLst>
                  <a:ext uri="{FF2B5EF4-FFF2-40B4-BE49-F238E27FC236}">
                    <a16:creationId xmlns:a16="http://schemas.microsoft.com/office/drawing/2014/main" id="{C850102E-AFF4-CE35-343D-20941D2B6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855" r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Контейнер за съдържание 5">
            <a:extLst>
              <a:ext uri="{FF2B5EF4-FFF2-40B4-BE49-F238E27FC236}">
                <a16:creationId xmlns:a16="http://schemas.microsoft.com/office/drawing/2014/main" id="{C8940DF9-3165-3050-8775-7D2417E2C3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13843" y="2084494"/>
            <a:ext cx="5180894" cy="3413761"/>
          </a:xfrm>
        </p:spPr>
      </p:pic>
    </p:spTree>
    <p:extLst>
      <p:ext uri="{BB962C8B-B14F-4D97-AF65-F5344CB8AC3E}">
        <p14:creationId xmlns:p14="http://schemas.microsoft.com/office/powerpoint/2010/main" val="142894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0B7F7B2-B92F-844D-769E-F6E2DE82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Плюсове и минуси на </a:t>
            </a:r>
            <a:r>
              <a:rPr lang="bg-BG" dirty="0" err="1"/>
              <a:t>хопфийлд</a:t>
            </a:r>
            <a:r>
              <a:rPr lang="bg-BG" dirty="0"/>
              <a:t> мрежите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7EE054A-02EB-5714-2066-B81B796D5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6"/>
            <a:ext cx="4995334" cy="4350173"/>
          </a:xfrm>
        </p:spPr>
        <p:txBody>
          <a:bodyPr>
            <a:normAutofit fontScale="92500" lnSpcReduction="20000"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bg-BG" sz="2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Плюсове: 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Асоциативно споменаване: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мрежите са добри за асоциативно споменаване, което означава, че те могат да възстановяват цял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паттерн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когато им се предостави част от него. Това ги прави подходящи за задачи като разпознаване на лица.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Простота: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мрежите са относително прости и лесни за реализация. Те се базират на принципа на свързаност между невроните и не изискват сложни обучаващи алгоритми.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Рекурентност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Фактът, че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мрежите са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рекурентни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ги прави способни за обработка на последователни данни и времеви редове.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6E79F76B-FB5A-F865-DC9C-F3AB3B30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7975" y="2160692"/>
            <a:ext cx="4995332" cy="4331547"/>
          </a:xfrm>
        </p:spPr>
        <p:txBody>
          <a:bodyPr>
            <a:normAutofit fontScale="92500" lnSpcReduction="20000"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bg-BG" sz="2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Минуси: 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Ограничена капацитет за запомняне: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мрежите имат ограничен капацитет за запомняне на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паттерни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Този капацитет намалява с увеличаването на броя на запаметяваните образи.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Намаляване на стабилността: При увеличаване на броя на запаметените образи се увеличава вероятността от грешки и намалява стабилността на мрежата.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Необразуване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нови образи: </a:t>
            </a:r>
            <a:r>
              <a:rPr lang="bg-BG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bg-BG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мрежите не могат да обучават или създават нови образи, което ги прави по-неподходящи за задачи, включващи непрекъснато обучение.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56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73EF964-CBBF-FEDF-2981-8C585912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969" y="149014"/>
            <a:ext cx="4294502" cy="1456267"/>
          </a:xfrm>
        </p:spPr>
        <p:txBody>
          <a:bodyPr>
            <a:normAutofit/>
          </a:bodyPr>
          <a:lstStyle/>
          <a:p>
            <a:r>
              <a:rPr lang="bg-BG" sz="4000" b="1" i="0" dirty="0">
                <a:effectLst/>
                <a:latin typeface="Söhne"/>
              </a:rPr>
              <a:t>Приложения</a:t>
            </a:r>
            <a:endParaRPr lang="en-US" sz="40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F1855D3-BA63-6555-6ED2-30FB6699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05281"/>
            <a:ext cx="5196839" cy="4572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900" dirty="0" err="1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Хопфийлд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мрежите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разнообразни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приложения в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области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поради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своите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умения за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асоциативно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запомняне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решаване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b="0" i="0" dirty="0" err="1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оптимизационни</a:t>
            </a:r>
            <a:r>
              <a:rPr lang="ru-RU" sz="1900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</a:t>
            </a:r>
            <a:endParaRPr lang="bg-BG" sz="1900" b="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Асоциативна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памет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Комбинаторика: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Оптимизация: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Разпознаване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 на </a:t>
            </a: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образи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Хардуерни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 решения: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Невронални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ru-RU" b="1" i="0" dirty="0" err="1">
                <a:solidFill>
                  <a:srgbClr val="D1D5DB"/>
                </a:solidFill>
                <a:effectLst/>
                <a:latin typeface="Söhne"/>
              </a:rPr>
              <a:t>изчисления</a:t>
            </a:r>
            <a:r>
              <a:rPr lang="ru-RU" b="1" i="0" dirty="0">
                <a:solidFill>
                  <a:srgbClr val="D1D5DB"/>
                </a:solidFill>
                <a:effectLst/>
                <a:latin typeface="Söhne"/>
              </a:rPr>
              <a:t>:</a:t>
            </a:r>
            <a:endParaRPr lang="ru-RU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0" indent="0" algn="l">
              <a:buNone/>
            </a:pPr>
            <a:endParaRPr lang="ru-RU" sz="1900" b="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0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DCD8ECE-ABBB-75B7-ED07-46452AF9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129941"/>
            <a:ext cx="10131427" cy="1468800"/>
          </a:xfrm>
        </p:spPr>
        <p:txBody>
          <a:bodyPr/>
          <a:lstStyle/>
          <a:p>
            <a:pPr algn="ctr"/>
            <a:r>
              <a:rPr lang="bg-BG" dirty="0"/>
              <a:t>Заключение</a:t>
            </a:r>
            <a:endParaRPr lang="en-US" dirty="0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ABCB4554-0BB0-1C5E-8A03-F508E9C1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3027680"/>
            <a:ext cx="10131428" cy="2214880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Хопфийлд</a:t>
            </a:r>
            <a:r>
              <a:rPr lang="ru-RU" dirty="0"/>
              <a:t> </a:t>
            </a:r>
            <a:r>
              <a:rPr lang="ru-RU" dirty="0" err="1"/>
              <a:t>мрежите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</a:t>
            </a:r>
            <a:r>
              <a:rPr lang="ru-RU" dirty="0" err="1"/>
              <a:t>обект</a:t>
            </a:r>
            <a:r>
              <a:rPr lang="ru-RU" dirty="0"/>
              <a:t> на интерес за </a:t>
            </a:r>
            <a:r>
              <a:rPr lang="ru-RU" dirty="0" err="1"/>
              <a:t>изследователи</a:t>
            </a:r>
            <a:r>
              <a:rPr lang="ru-RU" dirty="0"/>
              <a:t> в </a:t>
            </a:r>
            <a:r>
              <a:rPr lang="ru-RU" dirty="0" err="1"/>
              <a:t>областта</a:t>
            </a:r>
            <a:r>
              <a:rPr lang="ru-RU" dirty="0"/>
              <a:t> на </a:t>
            </a:r>
            <a:r>
              <a:rPr lang="ru-RU" dirty="0" err="1"/>
              <a:t>машинното</a:t>
            </a:r>
            <a:r>
              <a:rPr lang="ru-RU" dirty="0"/>
              <a:t> обучение,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били </a:t>
            </a:r>
            <a:r>
              <a:rPr lang="ru-RU" dirty="0" err="1"/>
              <a:t>предложени</a:t>
            </a:r>
            <a:r>
              <a:rPr lang="ru-RU" dirty="0"/>
              <a:t> нови </a:t>
            </a:r>
            <a:r>
              <a:rPr lang="ru-RU" dirty="0" err="1"/>
              <a:t>подобрения</a:t>
            </a:r>
            <a:r>
              <a:rPr lang="ru-RU" dirty="0"/>
              <a:t> и приложения на </a:t>
            </a:r>
            <a:r>
              <a:rPr lang="ru-RU" dirty="0" err="1"/>
              <a:t>тази</a:t>
            </a:r>
            <a:r>
              <a:rPr lang="ru-RU" dirty="0"/>
              <a:t> технология. Например, </a:t>
            </a:r>
            <a:r>
              <a:rPr lang="ru-RU" dirty="0" err="1"/>
              <a:t>съвременните</a:t>
            </a:r>
            <a:r>
              <a:rPr lang="ru-RU" dirty="0"/>
              <a:t> </a:t>
            </a:r>
            <a:r>
              <a:rPr lang="ru-RU" dirty="0" err="1"/>
              <a:t>Хопфийлд</a:t>
            </a:r>
            <a:r>
              <a:rPr lang="ru-RU" dirty="0"/>
              <a:t> мрежи с </a:t>
            </a:r>
            <a:r>
              <a:rPr lang="ru-RU" dirty="0" err="1"/>
              <a:t>непрекъснати</a:t>
            </a:r>
            <a:r>
              <a:rPr lang="ru-RU" dirty="0"/>
              <a:t> </a:t>
            </a:r>
            <a:r>
              <a:rPr lang="ru-RU" dirty="0" err="1"/>
              <a:t>състояния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били </a:t>
            </a:r>
            <a:r>
              <a:rPr lang="ru-RU" dirty="0" err="1"/>
              <a:t>формулирани</a:t>
            </a:r>
            <a:r>
              <a:rPr lang="ru-RU" dirty="0"/>
              <a:t> в </a:t>
            </a:r>
            <a:r>
              <a:rPr lang="ru-RU" dirty="0" err="1"/>
              <a:t>редица</a:t>
            </a:r>
            <a:r>
              <a:rPr lang="ru-RU" dirty="0"/>
              <a:t> </a:t>
            </a:r>
            <a:r>
              <a:rPr lang="ru-RU" dirty="0" err="1"/>
              <a:t>статии</a:t>
            </a:r>
            <a:r>
              <a:rPr lang="ru-RU" dirty="0"/>
              <a:t>, </a:t>
            </a:r>
            <a:r>
              <a:rPr lang="ru-RU" dirty="0" err="1"/>
              <a:t>като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били </a:t>
            </a:r>
            <a:r>
              <a:rPr lang="ru-RU" dirty="0" err="1"/>
              <a:t>показани</a:t>
            </a:r>
            <a:r>
              <a:rPr lang="ru-RU" dirty="0"/>
              <a:t> </a:t>
            </a:r>
            <a:r>
              <a:rPr lang="ru-RU" dirty="0" err="1"/>
              <a:t>връзките</a:t>
            </a:r>
            <a:r>
              <a:rPr lang="ru-RU" dirty="0"/>
              <a:t> между </a:t>
            </a:r>
            <a:r>
              <a:rPr lang="ru-RU" dirty="0" err="1"/>
              <a:t>тази</a:t>
            </a:r>
            <a:r>
              <a:rPr lang="ru-RU" dirty="0"/>
              <a:t> технология и механизма на </a:t>
            </a:r>
            <a:r>
              <a:rPr lang="ru-RU" dirty="0" err="1"/>
              <a:t>вниманието</a:t>
            </a:r>
            <a:r>
              <a:rPr lang="ru-RU" dirty="0"/>
              <a:t>. Те </a:t>
            </a:r>
            <a:r>
              <a:rPr lang="ru-RU" dirty="0" err="1"/>
              <a:t>са</a:t>
            </a:r>
            <a:r>
              <a:rPr lang="ru-RU" dirty="0"/>
              <a:t> полезен инструмент за </a:t>
            </a:r>
            <a:r>
              <a:rPr lang="ru-RU" dirty="0" err="1"/>
              <a:t>решаване</a:t>
            </a:r>
            <a:r>
              <a:rPr lang="ru-RU" dirty="0"/>
              <a:t> на </a:t>
            </a:r>
            <a:r>
              <a:rPr lang="ru-RU" dirty="0" err="1"/>
              <a:t>проблеми</a:t>
            </a:r>
            <a:r>
              <a:rPr lang="ru-RU" dirty="0"/>
              <a:t> в </a:t>
            </a:r>
            <a:r>
              <a:rPr lang="ru-RU" dirty="0" err="1"/>
              <a:t>различни</a:t>
            </a:r>
            <a:r>
              <a:rPr lang="ru-RU" dirty="0"/>
              <a:t> области, </a:t>
            </a:r>
            <a:r>
              <a:rPr lang="ru-RU" dirty="0" err="1"/>
              <a:t>като</a:t>
            </a:r>
            <a:r>
              <a:rPr lang="ru-RU" dirty="0"/>
              <a:t> физика, биология, </a:t>
            </a:r>
            <a:r>
              <a:rPr lang="ru-RU" dirty="0" err="1"/>
              <a:t>икономика</a:t>
            </a:r>
            <a:r>
              <a:rPr lang="ru-RU" dirty="0"/>
              <a:t> и </a:t>
            </a:r>
            <a:r>
              <a:rPr lang="ru-RU" dirty="0" err="1"/>
              <a:t>компютърни</a:t>
            </a:r>
            <a:r>
              <a:rPr lang="ru-RU" dirty="0"/>
              <a:t> науки.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7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0052560-BE2C-E635-EBB5-3D999BB67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811867"/>
            <a:ext cx="7197726" cy="2421464"/>
          </a:xfrm>
        </p:spPr>
        <p:txBody>
          <a:bodyPr/>
          <a:lstStyle/>
          <a:p>
            <a:pPr algn="ctr"/>
            <a:r>
              <a:rPr lang="bg-BG" dirty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6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ен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TM03457452[[fn=Небесен]]</Template>
  <TotalTime>75</TotalTime>
  <Words>465</Words>
  <Application>Microsoft Office PowerPoint</Application>
  <PresentationFormat>Широк екран</PresentationFormat>
  <Paragraphs>37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9" baseType="lpstr">
      <vt:lpstr>__fkGroteskNeue_532e43</vt:lpstr>
      <vt:lpstr>Arial</vt:lpstr>
      <vt:lpstr>Calibri</vt:lpstr>
      <vt:lpstr>Calibri Light</vt:lpstr>
      <vt:lpstr>Cambria Math</vt:lpstr>
      <vt:lpstr>KaTeX_Main</vt:lpstr>
      <vt:lpstr>Söhne</vt:lpstr>
      <vt:lpstr>Symbol</vt:lpstr>
      <vt:lpstr>Times New Roman</vt:lpstr>
      <vt:lpstr>Небесен</vt:lpstr>
      <vt:lpstr>Хопфийлд мрежи</vt:lpstr>
      <vt:lpstr>Дефиниция</vt:lpstr>
      <vt:lpstr>Архитектура</vt:lpstr>
      <vt:lpstr>Асоциативна памет, Запомняне и възстановяване</vt:lpstr>
      <vt:lpstr>Енергийна функция</vt:lpstr>
      <vt:lpstr>Плюсове и минуси на хопфийлд мрежите</vt:lpstr>
      <vt:lpstr>Приложения</vt:lpstr>
      <vt:lpstr>Заключение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Хопфийлд мрежи</dc:title>
  <dc:creator>Tsvetelin Ganev</dc:creator>
  <cp:lastModifiedBy>Tsvetelin Ganev</cp:lastModifiedBy>
  <cp:revision>2</cp:revision>
  <dcterms:created xsi:type="dcterms:W3CDTF">2023-12-11T02:29:37Z</dcterms:created>
  <dcterms:modified xsi:type="dcterms:W3CDTF">2023-12-11T15:26:58Z</dcterms:modified>
</cp:coreProperties>
</file>
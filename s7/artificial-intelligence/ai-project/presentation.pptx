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74" r:id="rId6"/>
    <p:sldId id="275" r:id="rId7"/>
    <p:sldId id="278" r:id="rId8"/>
    <p:sldId id="262" r:id="rId9"/>
    <p:sldId id="279" r:id="rId10"/>
    <p:sldId id="264" r:id="rId11"/>
    <p:sldId id="265" r:id="rId12"/>
    <p:sldId id="273" r:id="rId13"/>
    <p:sldId id="280" r:id="rId14"/>
    <p:sldId id="266" r:id="rId15"/>
    <p:sldId id="267" r:id="rId16"/>
    <p:sldId id="268" r:id="rId17"/>
    <p:sldId id="269" r:id="rId18"/>
    <p:sldId id="272" r:id="rId19"/>
    <p:sldId id="271" r:id="rId20"/>
    <p:sldId id="270" r:id="rId21"/>
    <p:sldId id="26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8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802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F951A3-A0BE-439A-8B91-D47D862B48B0}" type="doc">
      <dgm:prSet loTypeId="urn:microsoft.com/office/officeart/2005/8/layout/vList2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5EB25B3-E81F-4B37-9FBB-91DD8164593D}">
      <dgm:prSet/>
      <dgm:spPr/>
      <dgm:t>
        <a:bodyPr/>
        <a:lstStyle/>
        <a:p>
          <a:r>
            <a:rPr lang="bg-BG"/>
            <a:t>Въведение</a:t>
          </a:r>
          <a:endParaRPr lang="en-US"/>
        </a:p>
      </dgm:t>
    </dgm:pt>
    <dgm:pt modelId="{0FD220E3-16A4-4040-9386-12307A73C420}" type="parTrans" cxnId="{C9EC1C54-D98E-4C03-8D20-B09AF3D23C47}">
      <dgm:prSet/>
      <dgm:spPr/>
      <dgm:t>
        <a:bodyPr/>
        <a:lstStyle/>
        <a:p>
          <a:endParaRPr lang="en-US"/>
        </a:p>
      </dgm:t>
    </dgm:pt>
    <dgm:pt modelId="{880892DA-BDFE-4241-A2D6-F74917FD06B5}" type="sibTrans" cxnId="{C9EC1C54-D98E-4C03-8D20-B09AF3D23C47}">
      <dgm:prSet/>
      <dgm:spPr/>
      <dgm:t>
        <a:bodyPr/>
        <a:lstStyle/>
        <a:p>
          <a:endParaRPr lang="en-US"/>
        </a:p>
      </dgm:t>
    </dgm:pt>
    <dgm:pt modelId="{39ED8559-524B-4A76-B296-E5F5C20CD219}">
      <dgm:prSet/>
      <dgm:spPr/>
      <dgm:t>
        <a:bodyPr/>
        <a:lstStyle/>
        <a:p>
          <a:r>
            <a:rPr lang="bg-BG" dirty="0"/>
            <a:t>Жестове</a:t>
          </a:r>
          <a:endParaRPr lang="en-US" dirty="0"/>
        </a:p>
      </dgm:t>
    </dgm:pt>
    <dgm:pt modelId="{79ACE858-1F15-4F0D-9B51-2BB3084A256E}" type="parTrans" cxnId="{9C711E62-F020-402C-ABFD-9782539E22FE}">
      <dgm:prSet/>
      <dgm:spPr/>
      <dgm:t>
        <a:bodyPr/>
        <a:lstStyle/>
        <a:p>
          <a:endParaRPr lang="en-US"/>
        </a:p>
      </dgm:t>
    </dgm:pt>
    <dgm:pt modelId="{79663566-E189-47FE-AF2D-EE61D6C7A458}" type="sibTrans" cxnId="{9C711E62-F020-402C-ABFD-9782539E22FE}">
      <dgm:prSet/>
      <dgm:spPr/>
      <dgm:t>
        <a:bodyPr/>
        <a:lstStyle/>
        <a:p>
          <a:endParaRPr lang="en-US"/>
        </a:p>
      </dgm:t>
    </dgm:pt>
    <dgm:pt modelId="{C72304D2-5CA6-4115-B00A-964C2473AE02}">
      <dgm:prSet/>
      <dgm:spPr/>
      <dgm:t>
        <a:bodyPr/>
        <a:lstStyle/>
        <a:p>
          <a:r>
            <a:rPr lang="bg-BG" dirty="0"/>
            <a:t>Машинно обучение</a:t>
          </a:r>
          <a:endParaRPr lang="en-US" dirty="0"/>
        </a:p>
      </dgm:t>
    </dgm:pt>
    <dgm:pt modelId="{478B74DE-8C3F-4C25-8F6F-704D539E57F7}" type="parTrans" cxnId="{C7D7B9BF-579A-4E58-A2FA-588DD8B6DDE0}">
      <dgm:prSet/>
      <dgm:spPr/>
      <dgm:t>
        <a:bodyPr/>
        <a:lstStyle/>
        <a:p>
          <a:endParaRPr lang="en-US"/>
        </a:p>
      </dgm:t>
    </dgm:pt>
    <dgm:pt modelId="{F094E495-41E6-4530-9958-F81B8775D761}" type="sibTrans" cxnId="{C7D7B9BF-579A-4E58-A2FA-588DD8B6DDE0}">
      <dgm:prSet/>
      <dgm:spPr/>
      <dgm:t>
        <a:bodyPr/>
        <a:lstStyle/>
        <a:p>
          <a:endParaRPr lang="en-US"/>
        </a:p>
      </dgm:t>
    </dgm:pt>
    <dgm:pt modelId="{ED737201-E60E-4CFA-9094-C04EC84437D4}">
      <dgm:prSet/>
      <dgm:spPr/>
      <dgm:t>
        <a:bodyPr/>
        <a:lstStyle/>
        <a:p>
          <a:r>
            <a:rPr lang="en-US"/>
            <a:t>Deep Learning </a:t>
          </a:r>
          <a:r>
            <a:rPr lang="bg-BG"/>
            <a:t>подходи</a:t>
          </a:r>
          <a:endParaRPr lang="en-US"/>
        </a:p>
      </dgm:t>
    </dgm:pt>
    <dgm:pt modelId="{8E0B6DD4-EA7B-4EF4-BD51-3CC800D69D64}" type="parTrans" cxnId="{AAE222E7-1552-43AC-9CE3-BC3B3A08F5BC}">
      <dgm:prSet/>
      <dgm:spPr/>
      <dgm:t>
        <a:bodyPr/>
        <a:lstStyle/>
        <a:p>
          <a:endParaRPr lang="en-US"/>
        </a:p>
      </dgm:t>
    </dgm:pt>
    <dgm:pt modelId="{34D8ECD0-105D-4B28-A252-EBB501A1FE8C}" type="sibTrans" cxnId="{AAE222E7-1552-43AC-9CE3-BC3B3A08F5BC}">
      <dgm:prSet/>
      <dgm:spPr/>
      <dgm:t>
        <a:bodyPr/>
        <a:lstStyle/>
        <a:p>
          <a:endParaRPr lang="en-US"/>
        </a:p>
      </dgm:t>
    </dgm:pt>
    <dgm:pt modelId="{2F74CD98-1B63-4FD9-A75D-8AB92A9ABAEA}">
      <dgm:prSet/>
      <dgm:spPr/>
      <dgm:t>
        <a:bodyPr/>
        <a:lstStyle/>
        <a:p>
          <a:r>
            <a:rPr lang="en-US"/>
            <a:t>Pose Estimation </a:t>
          </a:r>
          <a:r>
            <a:rPr lang="bg-BG"/>
            <a:t>модели</a:t>
          </a:r>
          <a:endParaRPr lang="en-US"/>
        </a:p>
      </dgm:t>
    </dgm:pt>
    <dgm:pt modelId="{11DE5599-D2E5-41A1-9270-D73E4D90036B}" type="parTrans" cxnId="{35D5969D-E8F2-4978-A6B0-03A91336A715}">
      <dgm:prSet/>
      <dgm:spPr/>
      <dgm:t>
        <a:bodyPr/>
        <a:lstStyle/>
        <a:p>
          <a:endParaRPr lang="en-US"/>
        </a:p>
      </dgm:t>
    </dgm:pt>
    <dgm:pt modelId="{EF5C2465-E519-4418-AB86-F8C5B4443CE3}" type="sibTrans" cxnId="{35D5969D-E8F2-4978-A6B0-03A91336A715}">
      <dgm:prSet/>
      <dgm:spPr/>
      <dgm:t>
        <a:bodyPr/>
        <a:lstStyle/>
        <a:p>
          <a:endParaRPr lang="en-US"/>
        </a:p>
      </dgm:t>
    </dgm:pt>
    <dgm:pt modelId="{8BE16F50-6F17-4731-BFC0-EF03A4C2FB76}">
      <dgm:prSet/>
      <dgm:spPr/>
      <dgm:t>
        <a:bodyPr/>
        <a:lstStyle/>
        <a:p>
          <a:r>
            <a:rPr lang="bg-BG"/>
            <a:t>Съвременни системи</a:t>
          </a:r>
          <a:endParaRPr lang="en-US"/>
        </a:p>
      </dgm:t>
    </dgm:pt>
    <dgm:pt modelId="{31D65BB3-C107-4D05-8376-D625AE712EC5}" type="parTrans" cxnId="{0F924359-BB58-409A-AA23-A49DC71660D6}">
      <dgm:prSet/>
      <dgm:spPr/>
      <dgm:t>
        <a:bodyPr/>
        <a:lstStyle/>
        <a:p>
          <a:endParaRPr lang="en-US"/>
        </a:p>
      </dgm:t>
    </dgm:pt>
    <dgm:pt modelId="{282366E9-0973-42AB-B7D1-B239708E03CF}" type="sibTrans" cxnId="{0F924359-BB58-409A-AA23-A49DC71660D6}">
      <dgm:prSet/>
      <dgm:spPr/>
      <dgm:t>
        <a:bodyPr/>
        <a:lstStyle/>
        <a:p>
          <a:endParaRPr lang="en-US"/>
        </a:p>
      </dgm:t>
    </dgm:pt>
    <dgm:pt modelId="{E5323120-EB1E-4E71-B325-0BBD0922A556}">
      <dgm:prSet/>
      <dgm:spPr/>
      <dgm:t>
        <a:bodyPr/>
        <a:lstStyle/>
        <a:p>
          <a:r>
            <a:rPr lang="bg-BG"/>
            <a:t>Предизвикателства</a:t>
          </a:r>
          <a:endParaRPr lang="en-US"/>
        </a:p>
      </dgm:t>
    </dgm:pt>
    <dgm:pt modelId="{B6DD9059-1C62-4679-9F23-51C33466A3DA}" type="parTrans" cxnId="{396DE77B-FEE8-41CC-9F85-AD82F0AE44A6}">
      <dgm:prSet/>
      <dgm:spPr/>
      <dgm:t>
        <a:bodyPr/>
        <a:lstStyle/>
        <a:p>
          <a:endParaRPr lang="en-US"/>
        </a:p>
      </dgm:t>
    </dgm:pt>
    <dgm:pt modelId="{D65B68C1-ED87-48E7-916C-796B7A68587F}" type="sibTrans" cxnId="{396DE77B-FEE8-41CC-9F85-AD82F0AE44A6}">
      <dgm:prSet/>
      <dgm:spPr/>
      <dgm:t>
        <a:bodyPr/>
        <a:lstStyle/>
        <a:p>
          <a:endParaRPr lang="en-US"/>
        </a:p>
      </dgm:t>
    </dgm:pt>
    <dgm:pt modelId="{C46293F6-6047-412A-BF53-BF72E2C12844}">
      <dgm:prSet/>
      <dgm:spPr/>
      <dgm:t>
        <a:bodyPr/>
        <a:lstStyle/>
        <a:p>
          <a:r>
            <a:rPr lang="bg-BG"/>
            <a:t>Тенденции</a:t>
          </a:r>
          <a:endParaRPr lang="en-US"/>
        </a:p>
      </dgm:t>
    </dgm:pt>
    <dgm:pt modelId="{BE59D2F8-5080-4464-BAE3-75BA786B7D92}" type="parTrans" cxnId="{7C41130D-BA4E-45AE-96FB-687C7B5E25F7}">
      <dgm:prSet/>
      <dgm:spPr/>
      <dgm:t>
        <a:bodyPr/>
        <a:lstStyle/>
        <a:p>
          <a:endParaRPr lang="en-US"/>
        </a:p>
      </dgm:t>
    </dgm:pt>
    <dgm:pt modelId="{B6B6E7D1-27C4-48B0-B448-44D8210AC853}" type="sibTrans" cxnId="{7C41130D-BA4E-45AE-96FB-687C7B5E25F7}">
      <dgm:prSet/>
      <dgm:spPr/>
      <dgm:t>
        <a:bodyPr/>
        <a:lstStyle/>
        <a:p>
          <a:endParaRPr lang="en-US"/>
        </a:p>
      </dgm:t>
    </dgm:pt>
    <dgm:pt modelId="{1600B61A-F921-4029-AD52-9F99739E16AA}">
      <dgm:prSet/>
      <dgm:spPr/>
      <dgm:t>
        <a:bodyPr/>
        <a:lstStyle/>
        <a:p>
          <a:r>
            <a:rPr lang="bg-BG"/>
            <a:t>Практическо приложение</a:t>
          </a:r>
          <a:endParaRPr lang="en-US"/>
        </a:p>
      </dgm:t>
    </dgm:pt>
    <dgm:pt modelId="{0375EDA5-1236-4EF3-8F46-9451FD9A5833}" type="parTrans" cxnId="{E0D70620-4DBB-460E-BC86-E43FC4AD0444}">
      <dgm:prSet/>
      <dgm:spPr/>
      <dgm:t>
        <a:bodyPr/>
        <a:lstStyle/>
        <a:p>
          <a:endParaRPr lang="en-US"/>
        </a:p>
      </dgm:t>
    </dgm:pt>
    <dgm:pt modelId="{34EC5567-4489-4757-AAF0-E1BF81A89C34}" type="sibTrans" cxnId="{E0D70620-4DBB-460E-BC86-E43FC4AD0444}">
      <dgm:prSet/>
      <dgm:spPr/>
      <dgm:t>
        <a:bodyPr/>
        <a:lstStyle/>
        <a:p>
          <a:endParaRPr lang="en-US"/>
        </a:p>
      </dgm:t>
    </dgm:pt>
    <dgm:pt modelId="{5124DA04-D75D-480F-86F4-64F0A69A0306}">
      <dgm:prSet/>
      <dgm:spPr/>
      <dgm:t>
        <a:bodyPr/>
        <a:lstStyle/>
        <a:p>
          <a:r>
            <a:rPr lang="bg-BG"/>
            <a:t>Заключение</a:t>
          </a:r>
          <a:endParaRPr lang="en-US"/>
        </a:p>
      </dgm:t>
    </dgm:pt>
    <dgm:pt modelId="{DA2511D4-A09E-4A11-A5A1-9D929AB25315}" type="parTrans" cxnId="{EA7CD6C0-B454-4AD5-AFE7-67721D56BF70}">
      <dgm:prSet/>
      <dgm:spPr/>
      <dgm:t>
        <a:bodyPr/>
        <a:lstStyle/>
        <a:p>
          <a:endParaRPr lang="en-US"/>
        </a:p>
      </dgm:t>
    </dgm:pt>
    <dgm:pt modelId="{CBD96E55-6F02-4985-A926-1E0CA12ACC1B}" type="sibTrans" cxnId="{EA7CD6C0-B454-4AD5-AFE7-67721D56BF70}">
      <dgm:prSet/>
      <dgm:spPr/>
      <dgm:t>
        <a:bodyPr/>
        <a:lstStyle/>
        <a:p>
          <a:endParaRPr lang="en-US"/>
        </a:p>
      </dgm:t>
    </dgm:pt>
    <dgm:pt modelId="{BB3E118F-D859-423B-8591-51080E4027B9}" type="pres">
      <dgm:prSet presAssocID="{9FF951A3-A0BE-439A-8B91-D47D862B48B0}" presName="linear" presStyleCnt="0">
        <dgm:presLayoutVars>
          <dgm:animLvl val="lvl"/>
          <dgm:resizeHandles val="exact"/>
        </dgm:presLayoutVars>
      </dgm:prSet>
      <dgm:spPr/>
    </dgm:pt>
    <dgm:pt modelId="{DEB240F8-AA93-4622-8FA6-D6309D76BCEF}" type="pres">
      <dgm:prSet presAssocID="{55EB25B3-E81F-4B37-9FBB-91DD8164593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3A0DFFF2-3D1B-4C1A-AC98-175DD97C3BC5}" type="pres">
      <dgm:prSet presAssocID="{880892DA-BDFE-4241-A2D6-F74917FD06B5}" presName="spacer" presStyleCnt="0"/>
      <dgm:spPr/>
    </dgm:pt>
    <dgm:pt modelId="{7425F76B-E8EA-4201-9F55-8FD5ABD17912}" type="pres">
      <dgm:prSet presAssocID="{39ED8559-524B-4A76-B296-E5F5C20CD219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3E56BB3-E532-400D-8D1D-5E4AC5E084C2}" type="pres">
      <dgm:prSet presAssocID="{79663566-E189-47FE-AF2D-EE61D6C7A458}" presName="spacer" presStyleCnt="0"/>
      <dgm:spPr/>
    </dgm:pt>
    <dgm:pt modelId="{8D61BC0B-9452-4DEA-A7C0-8F439F1758DE}" type="pres">
      <dgm:prSet presAssocID="{C72304D2-5CA6-4115-B00A-964C2473AE02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71A4CD2A-E1CA-4A29-91A7-3AB077D473CB}" type="pres">
      <dgm:prSet presAssocID="{F094E495-41E6-4530-9958-F81B8775D761}" presName="spacer" presStyleCnt="0"/>
      <dgm:spPr/>
    </dgm:pt>
    <dgm:pt modelId="{92B9A337-B11E-4F0B-A008-99E09EB2F9E9}" type="pres">
      <dgm:prSet presAssocID="{ED737201-E60E-4CFA-9094-C04EC84437D4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DB89462-952F-4BBD-A75E-6B787835071D}" type="pres">
      <dgm:prSet presAssocID="{34D8ECD0-105D-4B28-A252-EBB501A1FE8C}" presName="spacer" presStyleCnt="0"/>
      <dgm:spPr/>
    </dgm:pt>
    <dgm:pt modelId="{D38445FF-82C5-4BA0-9B12-B6622BEA4AA9}" type="pres">
      <dgm:prSet presAssocID="{2F74CD98-1B63-4FD9-A75D-8AB92A9ABAEA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AF315E6-2084-4EAF-B10B-14239CE428EC}" type="pres">
      <dgm:prSet presAssocID="{EF5C2465-E519-4418-AB86-F8C5B4443CE3}" presName="spacer" presStyleCnt="0"/>
      <dgm:spPr/>
    </dgm:pt>
    <dgm:pt modelId="{2B521AC4-6353-4AF0-B02B-D834850EFDCD}" type="pres">
      <dgm:prSet presAssocID="{8BE16F50-6F17-4731-BFC0-EF03A4C2FB7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D5411E83-64C7-48E1-9B4A-F5060A826E5A}" type="pres">
      <dgm:prSet presAssocID="{282366E9-0973-42AB-B7D1-B239708E03CF}" presName="spacer" presStyleCnt="0"/>
      <dgm:spPr/>
    </dgm:pt>
    <dgm:pt modelId="{E128BA57-B7ED-4150-9235-5B1AD8618819}" type="pres">
      <dgm:prSet presAssocID="{E5323120-EB1E-4E71-B325-0BBD0922A556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254BEF4-10B4-46C9-B949-669B7B387BD5}" type="pres">
      <dgm:prSet presAssocID="{D65B68C1-ED87-48E7-916C-796B7A68587F}" presName="spacer" presStyleCnt="0"/>
      <dgm:spPr/>
    </dgm:pt>
    <dgm:pt modelId="{1634FAEC-93CD-422B-A99F-6C88CD74F2C5}" type="pres">
      <dgm:prSet presAssocID="{C46293F6-6047-412A-BF53-BF72E2C12844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CB58B1A3-0B49-43B1-BE0D-4E6BA35A99B8}" type="pres">
      <dgm:prSet presAssocID="{B6B6E7D1-27C4-48B0-B448-44D8210AC853}" presName="spacer" presStyleCnt="0"/>
      <dgm:spPr/>
    </dgm:pt>
    <dgm:pt modelId="{FF2EB26B-CB62-4073-A23C-FF469CA4CEF5}" type="pres">
      <dgm:prSet presAssocID="{1600B61A-F921-4029-AD52-9F99739E16AA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D617D7A7-FA7E-427D-9203-635244012CFB}" type="pres">
      <dgm:prSet presAssocID="{34EC5567-4489-4757-AAF0-E1BF81A89C34}" presName="spacer" presStyleCnt="0"/>
      <dgm:spPr/>
    </dgm:pt>
    <dgm:pt modelId="{262D963A-934B-49E8-B68F-3BCB61055D42}" type="pres">
      <dgm:prSet presAssocID="{5124DA04-D75D-480F-86F4-64F0A69A0306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7C41130D-BA4E-45AE-96FB-687C7B5E25F7}" srcId="{9FF951A3-A0BE-439A-8B91-D47D862B48B0}" destId="{C46293F6-6047-412A-BF53-BF72E2C12844}" srcOrd="7" destOrd="0" parTransId="{BE59D2F8-5080-4464-BAE3-75BA786B7D92}" sibTransId="{B6B6E7D1-27C4-48B0-B448-44D8210AC853}"/>
    <dgm:cxn modelId="{E0D70620-4DBB-460E-BC86-E43FC4AD0444}" srcId="{9FF951A3-A0BE-439A-8B91-D47D862B48B0}" destId="{1600B61A-F921-4029-AD52-9F99739E16AA}" srcOrd="8" destOrd="0" parTransId="{0375EDA5-1236-4EF3-8F46-9451FD9A5833}" sibTransId="{34EC5567-4489-4757-AAF0-E1BF81A89C34}"/>
    <dgm:cxn modelId="{C4B68723-9B69-4F44-9129-76E27F17703F}" type="presOf" srcId="{ED737201-E60E-4CFA-9094-C04EC84437D4}" destId="{92B9A337-B11E-4F0B-A008-99E09EB2F9E9}" srcOrd="0" destOrd="0" presId="urn:microsoft.com/office/officeart/2005/8/layout/vList2"/>
    <dgm:cxn modelId="{96397429-9B17-4152-AC94-9293D86690D2}" type="presOf" srcId="{C46293F6-6047-412A-BF53-BF72E2C12844}" destId="{1634FAEC-93CD-422B-A99F-6C88CD74F2C5}" srcOrd="0" destOrd="0" presId="urn:microsoft.com/office/officeart/2005/8/layout/vList2"/>
    <dgm:cxn modelId="{326A0F33-4361-44E7-A411-252529B77D0D}" type="presOf" srcId="{1600B61A-F921-4029-AD52-9F99739E16AA}" destId="{FF2EB26B-CB62-4073-A23C-FF469CA4CEF5}" srcOrd="0" destOrd="0" presId="urn:microsoft.com/office/officeart/2005/8/layout/vList2"/>
    <dgm:cxn modelId="{8B8C2440-2EA6-4F46-A7E1-43FC390A7F40}" type="presOf" srcId="{E5323120-EB1E-4E71-B325-0BBD0922A556}" destId="{E128BA57-B7ED-4150-9235-5B1AD8618819}" srcOrd="0" destOrd="0" presId="urn:microsoft.com/office/officeart/2005/8/layout/vList2"/>
    <dgm:cxn modelId="{9C711E62-F020-402C-ABFD-9782539E22FE}" srcId="{9FF951A3-A0BE-439A-8B91-D47D862B48B0}" destId="{39ED8559-524B-4A76-B296-E5F5C20CD219}" srcOrd="1" destOrd="0" parTransId="{79ACE858-1F15-4F0D-9B51-2BB3084A256E}" sibTransId="{79663566-E189-47FE-AF2D-EE61D6C7A458}"/>
    <dgm:cxn modelId="{D25DC84B-53F5-4279-9BDE-D31CDFBF601D}" type="presOf" srcId="{55EB25B3-E81F-4B37-9FBB-91DD8164593D}" destId="{DEB240F8-AA93-4622-8FA6-D6309D76BCEF}" srcOrd="0" destOrd="0" presId="urn:microsoft.com/office/officeart/2005/8/layout/vList2"/>
    <dgm:cxn modelId="{C9EC1C54-D98E-4C03-8D20-B09AF3D23C47}" srcId="{9FF951A3-A0BE-439A-8B91-D47D862B48B0}" destId="{55EB25B3-E81F-4B37-9FBB-91DD8164593D}" srcOrd="0" destOrd="0" parTransId="{0FD220E3-16A4-4040-9386-12307A73C420}" sibTransId="{880892DA-BDFE-4241-A2D6-F74917FD06B5}"/>
    <dgm:cxn modelId="{0F924359-BB58-409A-AA23-A49DC71660D6}" srcId="{9FF951A3-A0BE-439A-8B91-D47D862B48B0}" destId="{8BE16F50-6F17-4731-BFC0-EF03A4C2FB76}" srcOrd="5" destOrd="0" parTransId="{31D65BB3-C107-4D05-8376-D625AE712EC5}" sibTransId="{282366E9-0973-42AB-B7D1-B239708E03CF}"/>
    <dgm:cxn modelId="{396DE77B-FEE8-41CC-9F85-AD82F0AE44A6}" srcId="{9FF951A3-A0BE-439A-8B91-D47D862B48B0}" destId="{E5323120-EB1E-4E71-B325-0BBD0922A556}" srcOrd="6" destOrd="0" parTransId="{B6DD9059-1C62-4679-9F23-51C33466A3DA}" sibTransId="{D65B68C1-ED87-48E7-916C-796B7A68587F}"/>
    <dgm:cxn modelId="{AFC9B38D-BE33-473C-8692-23BFD747BAA3}" type="presOf" srcId="{2F74CD98-1B63-4FD9-A75D-8AB92A9ABAEA}" destId="{D38445FF-82C5-4BA0-9B12-B6622BEA4AA9}" srcOrd="0" destOrd="0" presId="urn:microsoft.com/office/officeart/2005/8/layout/vList2"/>
    <dgm:cxn modelId="{8450D18E-F1DD-468A-9292-4C9736B8C7B5}" type="presOf" srcId="{5124DA04-D75D-480F-86F4-64F0A69A0306}" destId="{262D963A-934B-49E8-B68F-3BCB61055D42}" srcOrd="0" destOrd="0" presId="urn:microsoft.com/office/officeart/2005/8/layout/vList2"/>
    <dgm:cxn modelId="{35D5969D-E8F2-4978-A6B0-03A91336A715}" srcId="{9FF951A3-A0BE-439A-8B91-D47D862B48B0}" destId="{2F74CD98-1B63-4FD9-A75D-8AB92A9ABAEA}" srcOrd="4" destOrd="0" parTransId="{11DE5599-D2E5-41A1-9270-D73E4D90036B}" sibTransId="{EF5C2465-E519-4418-AB86-F8C5B4443CE3}"/>
    <dgm:cxn modelId="{C7D7B9BF-579A-4E58-A2FA-588DD8B6DDE0}" srcId="{9FF951A3-A0BE-439A-8B91-D47D862B48B0}" destId="{C72304D2-5CA6-4115-B00A-964C2473AE02}" srcOrd="2" destOrd="0" parTransId="{478B74DE-8C3F-4C25-8F6F-704D539E57F7}" sibTransId="{F094E495-41E6-4530-9958-F81B8775D761}"/>
    <dgm:cxn modelId="{6A6B0EC0-484E-4F29-9766-9098B2D2FD4A}" type="presOf" srcId="{8BE16F50-6F17-4731-BFC0-EF03A4C2FB76}" destId="{2B521AC4-6353-4AF0-B02B-D834850EFDCD}" srcOrd="0" destOrd="0" presId="urn:microsoft.com/office/officeart/2005/8/layout/vList2"/>
    <dgm:cxn modelId="{EA7CD6C0-B454-4AD5-AFE7-67721D56BF70}" srcId="{9FF951A3-A0BE-439A-8B91-D47D862B48B0}" destId="{5124DA04-D75D-480F-86F4-64F0A69A0306}" srcOrd="9" destOrd="0" parTransId="{DA2511D4-A09E-4A11-A5A1-9D929AB25315}" sibTransId="{CBD96E55-6F02-4985-A926-1E0CA12ACC1B}"/>
    <dgm:cxn modelId="{F00489C1-A93D-4F14-BD2E-82308DDE45EF}" type="presOf" srcId="{9FF951A3-A0BE-439A-8B91-D47D862B48B0}" destId="{BB3E118F-D859-423B-8591-51080E4027B9}" srcOrd="0" destOrd="0" presId="urn:microsoft.com/office/officeart/2005/8/layout/vList2"/>
    <dgm:cxn modelId="{553D6FDF-D637-4EBD-A0DD-785D1A881896}" type="presOf" srcId="{39ED8559-524B-4A76-B296-E5F5C20CD219}" destId="{7425F76B-E8EA-4201-9F55-8FD5ABD17912}" srcOrd="0" destOrd="0" presId="urn:microsoft.com/office/officeart/2005/8/layout/vList2"/>
    <dgm:cxn modelId="{AAE222E7-1552-43AC-9CE3-BC3B3A08F5BC}" srcId="{9FF951A3-A0BE-439A-8B91-D47D862B48B0}" destId="{ED737201-E60E-4CFA-9094-C04EC84437D4}" srcOrd="3" destOrd="0" parTransId="{8E0B6DD4-EA7B-4EF4-BD51-3CC800D69D64}" sibTransId="{34D8ECD0-105D-4B28-A252-EBB501A1FE8C}"/>
    <dgm:cxn modelId="{54B5EBF2-3256-43E4-9FC8-D440455DB846}" type="presOf" srcId="{C72304D2-5CA6-4115-B00A-964C2473AE02}" destId="{8D61BC0B-9452-4DEA-A7C0-8F439F1758DE}" srcOrd="0" destOrd="0" presId="urn:microsoft.com/office/officeart/2005/8/layout/vList2"/>
    <dgm:cxn modelId="{8D60BA7E-0274-4048-8B5B-DF23F174CEFF}" type="presParOf" srcId="{BB3E118F-D859-423B-8591-51080E4027B9}" destId="{DEB240F8-AA93-4622-8FA6-D6309D76BCEF}" srcOrd="0" destOrd="0" presId="urn:microsoft.com/office/officeart/2005/8/layout/vList2"/>
    <dgm:cxn modelId="{84F8D13F-D5FA-42E9-9870-560540E2BD37}" type="presParOf" srcId="{BB3E118F-D859-423B-8591-51080E4027B9}" destId="{3A0DFFF2-3D1B-4C1A-AC98-175DD97C3BC5}" srcOrd="1" destOrd="0" presId="urn:microsoft.com/office/officeart/2005/8/layout/vList2"/>
    <dgm:cxn modelId="{5DB23D9C-8C9D-486C-B534-7A8BF5C03591}" type="presParOf" srcId="{BB3E118F-D859-423B-8591-51080E4027B9}" destId="{7425F76B-E8EA-4201-9F55-8FD5ABD17912}" srcOrd="2" destOrd="0" presId="urn:microsoft.com/office/officeart/2005/8/layout/vList2"/>
    <dgm:cxn modelId="{1881E32A-6492-4D12-982C-6F30C0E4CE17}" type="presParOf" srcId="{BB3E118F-D859-423B-8591-51080E4027B9}" destId="{B3E56BB3-E532-400D-8D1D-5E4AC5E084C2}" srcOrd="3" destOrd="0" presId="urn:microsoft.com/office/officeart/2005/8/layout/vList2"/>
    <dgm:cxn modelId="{738FAC32-B0EE-4C7D-8BF2-489F144B4DFD}" type="presParOf" srcId="{BB3E118F-D859-423B-8591-51080E4027B9}" destId="{8D61BC0B-9452-4DEA-A7C0-8F439F1758DE}" srcOrd="4" destOrd="0" presId="urn:microsoft.com/office/officeart/2005/8/layout/vList2"/>
    <dgm:cxn modelId="{59627673-2F2D-4E22-B67C-2FF135D196AD}" type="presParOf" srcId="{BB3E118F-D859-423B-8591-51080E4027B9}" destId="{71A4CD2A-E1CA-4A29-91A7-3AB077D473CB}" srcOrd="5" destOrd="0" presId="urn:microsoft.com/office/officeart/2005/8/layout/vList2"/>
    <dgm:cxn modelId="{5F5444EB-667D-4CD9-A2F1-1309AA207600}" type="presParOf" srcId="{BB3E118F-D859-423B-8591-51080E4027B9}" destId="{92B9A337-B11E-4F0B-A008-99E09EB2F9E9}" srcOrd="6" destOrd="0" presId="urn:microsoft.com/office/officeart/2005/8/layout/vList2"/>
    <dgm:cxn modelId="{30676071-59C7-49A2-85EC-1F688532A88E}" type="presParOf" srcId="{BB3E118F-D859-423B-8591-51080E4027B9}" destId="{9DB89462-952F-4BBD-A75E-6B787835071D}" srcOrd="7" destOrd="0" presId="urn:microsoft.com/office/officeart/2005/8/layout/vList2"/>
    <dgm:cxn modelId="{FCD61D92-DCDD-40A9-B568-F992C8521BF3}" type="presParOf" srcId="{BB3E118F-D859-423B-8591-51080E4027B9}" destId="{D38445FF-82C5-4BA0-9B12-B6622BEA4AA9}" srcOrd="8" destOrd="0" presId="urn:microsoft.com/office/officeart/2005/8/layout/vList2"/>
    <dgm:cxn modelId="{DDCD0DE8-0852-4408-920B-A235D5D7CF90}" type="presParOf" srcId="{BB3E118F-D859-423B-8591-51080E4027B9}" destId="{9AF315E6-2084-4EAF-B10B-14239CE428EC}" srcOrd="9" destOrd="0" presId="urn:microsoft.com/office/officeart/2005/8/layout/vList2"/>
    <dgm:cxn modelId="{C26ABB70-93FC-4946-967A-64A68C649936}" type="presParOf" srcId="{BB3E118F-D859-423B-8591-51080E4027B9}" destId="{2B521AC4-6353-4AF0-B02B-D834850EFDCD}" srcOrd="10" destOrd="0" presId="urn:microsoft.com/office/officeart/2005/8/layout/vList2"/>
    <dgm:cxn modelId="{E7AA022C-9D6B-46A8-AB2F-2C0E0344A80B}" type="presParOf" srcId="{BB3E118F-D859-423B-8591-51080E4027B9}" destId="{D5411E83-64C7-48E1-9B4A-F5060A826E5A}" srcOrd="11" destOrd="0" presId="urn:microsoft.com/office/officeart/2005/8/layout/vList2"/>
    <dgm:cxn modelId="{C3B3A9BC-C113-47B9-A5A7-6413E8F3B09E}" type="presParOf" srcId="{BB3E118F-D859-423B-8591-51080E4027B9}" destId="{E128BA57-B7ED-4150-9235-5B1AD8618819}" srcOrd="12" destOrd="0" presId="urn:microsoft.com/office/officeart/2005/8/layout/vList2"/>
    <dgm:cxn modelId="{F012D846-FE00-4057-9419-8EF723B728CC}" type="presParOf" srcId="{BB3E118F-D859-423B-8591-51080E4027B9}" destId="{3254BEF4-10B4-46C9-B949-669B7B387BD5}" srcOrd="13" destOrd="0" presId="urn:microsoft.com/office/officeart/2005/8/layout/vList2"/>
    <dgm:cxn modelId="{73545F76-38DA-419D-AE64-DC39E3FDA176}" type="presParOf" srcId="{BB3E118F-D859-423B-8591-51080E4027B9}" destId="{1634FAEC-93CD-422B-A99F-6C88CD74F2C5}" srcOrd="14" destOrd="0" presId="urn:microsoft.com/office/officeart/2005/8/layout/vList2"/>
    <dgm:cxn modelId="{CEF5CAFC-B84A-4EA7-92C5-D93D62E8D90D}" type="presParOf" srcId="{BB3E118F-D859-423B-8591-51080E4027B9}" destId="{CB58B1A3-0B49-43B1-BE0D-4E6BA35A99B8}" srcOrd="15" destOrd="0" presId="urn:microsoft.com/office/officeart/2005/8/layout/vList2"/>
    <dgm:cxn modelId="{CEAE5283-73D1-4E91-A02C-BCF3D7A1C45B}" type="presParOf" srcId="{BB3E118F-D859-423B-8591-51080E4027B9}" destId="{FF2EB26B-CB62-4073-A23C-FF469CA4CEF5}" srcOrd="16" destOrd="0" presId="urn:microsoft.com/office/officeart/2005/8/layout/vList2"/>
    <dgm:cxn modelId="{DC213D9A-EE89-461C-8A25-DF7CFEAE137B}" type="presParOf" srcId="{BB3E118F-D859-423B-8591-51080E4027B9}" destId="{D617D7A7-FA7E-427D-9203-635244012CFB}" srcOrd="17" destOrd="0" presId="urn:microsoft.com/office/officeart/2005/8/layout/vList2"/>
    <dgm:cxn modelId="{2F0ED21F-CBEB-4569-9545-6CF9D48902A3}" type="presParOf" srcId="{BB3E118F-D859-423B-8591-51080E4027B9}" destId="{262D963A-934B-49E8-B68F-3BCB61055D42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0B1375-A2DF-4CBA-B977-F18693D31079}" type="doc">
      <dgm:prSet loTypeId="urn:microsoft.com/office/officeart/2005/8/layout/vList2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FFE16F0-68B0-4C85-94CB-9F11D84E309E}">
      <dgm:prSet custT="1"/>
      <dgm:spPr/>
      <dgm:t>
        <a:bodyPr/>
        <a:lstStyle/>
        <a:p>
          <a:r>
            <a:rPr lang="bg-BG" sz="3600" dirty="0"/>
            <a:t>Какво е жестово разпознаване?</a:t>
          </a:r>
          <a:endParaRPr lang="en-US" sz="3600" dirty="0"/>
        </a:p>
      </dgm:t>
    </dgm:pt>
    <dgm:pt modelId="{7002CA39-0539-4DD6-BCBC-B9971CA120C3}" type="parTrans" cxnId="{48D496AE-5BDE-479A-99E2-8ACF52CA8D2D}">
      <dgm:prSet/>
      <dgm:spPr/>
      <dgm:t>
        <a:bodyPr/>
        <a:lstStyle/>
        <a:p>
          <a:endParaRPr lang="en-US"/>
        </a:p>
      </dgm:t>
    </dgm:pt>
    <dgm:pt modelId="{014ECE46-8CC4-4D26-919C-F9E45616C01A}" type="sibTrans" cxnId="{48D496AE-5BDE-479A-99E2-8ACF52CA8D2D}">
      <dgm:prSet/>
      <dgm:spPr/>
      <dgm:t>
        <a:bodyPr/>
        <a:lstStyle/>
        <a:p>
          <a:endParaRPr lang="en-US"/>
        </a:p>
      </dgm:t>
    </dgm:pt>
    <dgm:pt modelId="{0D8220FF-D640-4AC3-9CF6-A1F140568619}" type="pres">
      <dgm:prSet presAssocID="{200B1375-A2DF-4CBA-B977-F18693D31079}" presName="linear" presStyleCnt="0">
        <dgm:presLayoutVars>
          <dgm:animLvl val="lvl"/>
          <dgm:resizeHandles val="exact"/>
        </dgm:presLayoutVars>
      </dgm:prSet>
      <dgm:spPr/>
    </dgm:pt>
    <dgm:pt modelId="{9A3FF854-E3DB-43E8-A8E2-C03DFD9D12D9}" type="pres">
      <dgm:prSet presAssocID="{1FFE16F0-68B0-4C85-94CB-9F11D84E309E}" presName="parentText" presStyleLbl="node1" presStyleIdx="0" presStyleCnt="1" custLinFactNeighborX="-6703" custLinFactNeighborY="-781">
        <dgm:presLayoutVars>
          <dgm:chMax val="0"/>
          <dgm:bulletEnabled val="1"/>
        </dgm:presLayoutVars>
      </dgm:prSet>
      <dgm:spPr/>
    </dgm:pt>
  </dgm:ptLst>
  <dgm:cxnLst>
    <dgm:cxn modelId="{74355650-5706-4BD8-B24C-369E829564D5}" type="presOf" srcId="{1FFE16F0-68B0-4C85-94CB-9F11D84E309E}" destId="{9A3FF854-E3DB-43E8-A8E2-C03DFD9D12D9}" srcOrd="0" destOrd="0" presId="urn:microsoft.com/office/officeart/2005/8/layout/vList2"/>
    <dgm:cxn modelId="{92BA9087-E199-467B-BB64-60AF285B67E1}" type="presOf" srcId="{200B1375-A2DF-4CBA-B977-F18693D31079}" destId="{0D8220FF-D640-4AC3-9CF6-A1F140568619}" srcOrd="0" destOrd="0" presId="urn:microsoft.com/office/officeart/2005/8/layout/vList2"/>
    <dgm:cxn modelId="{48D496AE-5BDE-479A-99E2-8ACF52CA8D2D}" srcId="{200B1375-A2DF-4CBA-B977-F18693D31079}" destId="{1FFE16F0-68B0-4C85-94CB-9F11D84E309E}" srcOrd="0" destOrd="0" parTransId="{7002CA39-0539-4DD6-BCBC-B9971CA120C3}" sibTransId="{014ECE46-8CC4-4D26-919C-F9E45616C01A}"/>
    <dgm:cxn modelId="{9199F2C5-591D-4DA0-8466-F0B5DD486999}" type="presParOf" srcId="{0D8220FF-D640-4AC3-9CF6-A1F140568619}" destId="{9A3FF854-E3DB-43E8-A8E2-C03DFD9D12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0B1375-A2DF-4CBA-B977-F18693D31079}" type="doc">
      <dgm:prSet loTypeId="urn:microsoft.com/office/officeart/2005/8/layout/vList2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FFE16F0-68B0-4C85-94CB-9F11D84E309E}">
      <dgm:prSet custT="1"/>
      <dgm:spPr/>
      <dgm:t>
        <a:bodyPr/>
        <a:lstStyle/>
        <a:p>
          <a:pPr algn="just"/>
          <a:r>
            <a:rPr lang="bg-BG" sz="3600" dirty="0"/>
            <a:t>Значение,  актуалност</a:t>
          </a:r>
          <a:endParaRPr lang="en-US" sz="3600" dirty="0"/>
        </a:p>
      </dgm:t>
    </dgm:pt>
    <dgm:pt modelId="{7002CA39-0539-4DD6-BCBC-B9971CA120C3}" type="parTrans" cxnId="{48D496AE-5BDE-479A-99E2-8ACF52CA8D2D}">
      <dgm:prSet/>
      <dgm:spPr/>
      <dgm:t>
        <a:bodyPr/>
        <a:lstStyle/>
        <a:p>
          <a:endParaRPr lang="en-US"/>
        </a:p>
      </dgm:t>
    </dgm:pt>
    <dgm:pt modelId="{014ECE46-8CC4-4D26-919C-F9E45616C01A}" type="sibTrans" cxnId="{48D496AE-5BDE-479A-99E2-8ACF52CA8D2D}">
      <dgm:prSet/>
      <dgm:spPr/>
      <dgm:t>
        <a:bodyPr/>
        <a:lstStyle/>
        <a:p>
          <a:endParaRPr lang="en-US"/>
        </a:p>
      </dgm:t>
    </dgm:pt>
    <dgm:pt modelId="{0D8220FF-D640-4AC3-9CF6-A1F140568619}" type="pres">
      <dgm:prSet presAssocID="{200B1375-A2DF-4CBA-B977-F18693D31079}" presName="linear" presStyleCnt="0">
        <dgm:presLayoutVars>
          <dgm:animLvl val="lvl"/>
          <dgm:resizeHandles val="exact"/>
        </dgm:presLayoutVars>
      </dgm:prSet>
      <dgm:spPr/>
    </dgm:pt>
    <dgm:pt modelId="{9A3FF854-E3DB-43E8-A8E2-C03DFD9D12D9}" type="pres">
      <dgm:prSet presAssocID="{1FFE16F0-68B0-4C85-94CB-9F11D84E309E}" presName="parentText" presStyleLbl="node1" presStyleIdx="0" presStyleCnt="1" custLinFactNeighborX="-5445" custLinFactNeighborY="2967">
        <dgm:presLayoutVars>
          <dgm:chMax val="0"/>
          <dgm:bulletEnabled val="1"/>
        </dgm:presLayoutVars>
      </dgm:prSet>
      <dgm:spPr/>
    </dgm:pt>
  </dgm:ptLst>
  <dgm:cxnLst>
    <dgm:cxn modelId="{74355650-5706-4BD8-B24C-369E829564D5}" type="presOf" srcId="{1FFE16F0-68B0-4C85-94CB-9F11D84E309E}" destId="{9A3FF854-E3DB-43E8-A8E2-C03DFD9D12D9}" srcOrd="0" destOrd="0" presId="urn:microsoft.com/office/officeart/2005/8/layout/vList2"/>
    <dgm:cxn modelId="{92BA9087-E199-467B-BB64-60AF285B67E1}" type="presOf" srcId="{200B1375-A2DF-4CBA-B977-F18693D31079}" destId="{0D8220FF-D640-4AC3-9CF6-A1F140568619}" srcOrd="0" destOrd="0" presId="urn:microsoft.com/office/officeart/2005/8/layout/vList2"/>
    <dgm:cxn modelId="{48D496AE-5BDE-479A-99E2-8ACF52CA8D2D}" srcId="{200B1375-A2DF-4CBA-B977-F18693D31079}" destId="{1FFE16F0-68B0-4C85-94CB-9F11D84E309E}" srcOrd="0" destOrd="0" parTransId="{7002CA39-0539-4DD6-BCBC-B9971CA120C3}" sibTransId="{014ECE46-8CC4-4D26-919C-F9E45616C01A}"/>
    <dgm:cxn modelId="{9199F2C5-591D-4DA0-8466-F0B5DD486999}" type="presParOf" srcId="{0D8220FF-D640-4AC3-9CF6-A1F140568619}" destId="{9A3FF854-E3DB-43E8-A8E2-C03DFD9D12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240F8-AA93-4622-8FA6-D6309D76BCEF}">
      <dsp:nvSpPr>
        <dsp:cNvPr id="0" name=""/>
        <dsp:cNvSpPr/>
      </dsp:nvSpPr>
      <dsp:spPr>
        <a:xfrm>
          <a:off x="0" y="107667"/>
          <a:ext cx="6291714" cy="4797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Въведение</a:t>
          </a:r>
          <a:endParaRPr lang="en-US" sz="2000" kern="1200"/>
        </a:p>
      </dsp:txBody>
      <dsp:txXfrm>
        <a:off x="23417" y="131084"/>
        <a:ext cx="6244880" cy="432866"/>
      </dsp:txXfrm>
    </dsp:sp>
    <dsp:sp modelId="{7425F76B-E8EA-4201-9F55-8FD5ABD17912}">
      <dsp:nvSpPr>
        <dsp:cNvPr id="0" name=""/>
        <dsp:cNvSpPr/>
      </dsp:nvSpPr>
      <dsp:spPr>
        <a:xfrm>
          <a:off x="0" y="644967"/>
          <a:ext cx="6291714" cy="479700"/>
        </a:xfrm>
        <a:prstGeom prst="roundRect">
          <a:avLst/>
        </a:prstGeom>
        <a:solidFill>
          <a:schemeClr val="accent4">
            <a:hueOff val="-75888"/>
            <a:satOff val="-6603"/>
            <a:lumOff val="-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 dirty="0"/>
            <a:t>Жестове</a:t>
          </a:r>
          <a:endParaRPr lang="en-US" sz="2000" kern="1200" dirty="0"/>
        </a:p>
      </dsp:txBody>
      <dsp:txXfrm>
        <a:off x="23417" y="668384"/>
        <a:ext cx="6244880" cy="432866"/>
      </dsp:txXfrm>
    </dsp:sp>
    <dsp:sp modelId="{8D61BC0B-9452-4DEA-A7C0-8F439F1758DE}">
      <dsp:nvSpPr>
        <dsp:cNvPr id="0" name=""/>
        <dsp:cNvSpPr/>
      </dsp:nvSpPr>
      <dsp:spPr>
        <a:xfrm>
          <a:off x="0" y="1182267"/>
          <a:ext cx="6291714" cy="479700"/>
        </a:xfrm>
        <a:prstGeom prst="roundRect">
          <a:avLst/>
        </a:prstGeom>
        <a:solidFill>
          <a:schemeClr val="accent4">
            <a:hueOff val="-151777"/>
            <a:satOff val="-13207"/>
            <a:lumOff val="-1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 dirty="0"/>
            <a:t>Машинно обучение</a:t>
          </a:r>
          <a:endParaRPr lang="en-US" sz="2000" kern="1200" dirty="0"/>
        </a:p>
      </dsp:txBody>
      <dsp:txXfrm>
        <a:off x="23417" y="1205684"/>
        <a:ext cx="6244880" cy="432866"/>
      </dsp:txXfrm>
    </dsp:sp>
    <dsp:sp modelId="{92B9A337-B11E-4F0B-A008-99E09EB2F9E9}">
      <dsp:nvSpPr>
        <dsp:cNvPr id="0" name=""/>
        <dsp:cNvSpPr/>
      </dsp:nvSpPr>
      <dsp:spPr>
        <a:xfrm>
          <a:off x="0" y="1719567"/>
          <a:ext cx="6291714" cy="479700"/>
        </a:xfrm>
        <a:prstGeom prst="roundRect">
          <a:avLst/>
        </a:prstGeom>
        <a:solidFill>
          <a:schemeClr val="accent4">
            <a:hueOff val="-227665"/>
            <a:satOff val="-19810"/>
            <a:lumOff val="-1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Deep Learning </a:t>
          </a:r>
          <a:r>
            <a:rPr lang="bg-BG" sz="2000" kern="1200"/>
            <a:t>подходи</a:t>
          </a:r>
          <a:endParaRPr lang="en-US" sz="2000" kern="1200"/>
        </a:p>
      </dsp:txBody>
      <dsp:txXfrm>
        <a:off x="23417" y="1742984"/>
        <a:ext cx="6244880" cy="432866"/>
      </dsp:txXfrm>
    </dsp:sp>
    <dsp:sp modelId="{D38445FF-82C5-4BA0-9B12-B6622BEA4AA9}">
      <dsp:nvSpPr>
        <dsp:cNvPr id="0" name=""/>
        <dsp:cNvSpPr/>
      </dsp:nvSpPr>
      <dsp:spPr>
        <a:xfrm>
          <a:off x="0" y="2256867"/>
          <a:ext cx="6291714" cy="479700"/>
        </a:xfrm>
        <a:prstGeom prst="roundRect">
          <a:avLst/>
        </a:prstGeom>
        <a:solidFill>
          <a:schemeClr val="accent4">
            <a:hueOff val="-303553"/>
            <a:satOff val="-26414"/>
            <a:lumOff val="-2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Pose Estimation </a:t>
          </a:r>
          <a:r>
            <a:rPr lang="bg-BG" sz="2000" kern="1200"/>
            <a:t>модели</a:t>
          </a:r>
          <a:endParaRPr lang="en-US" sz="2000" kern="1200"/>
        </a:p>
      </dsp:txBody>
      <dsp:txXfrm>
        <a:off x="23417" y="2280284"/>
        <a:ext cx="6244880" cy="432866"/>
      </dsp:txXfrm>
    </dsp:sp>
    <dsp:sp modelId="{2B521AC4-6353-4AF0-B02B-D834850EFDCD}">
      <dsp:nvSpPr>
        <dsp:cNvPr id="0" name=""/>
        <dsp:cNvSpPr/>
      </dsp:nvSpPr>
      <dsp:spPr>
        <a:xfrm>
          <a:off x="0" y="2794167"/>
          <a:ext cx="6291714" cy="479700"/>
        </a:xfrm>
        <a:prstGeom prst="roundRect">
          <a:avLst/>
        </a:prstGeom>
        <a:solidFill>
          <a:schemeClr val="accent4">
            <a:hueOff val="-379442"/>
            <a:satOff val="-33017"/>
            <a:lumOff val="-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Съвременни системи</a:t>
          </a:r>
          <a:endParaRPr lang="en-US" sz="2000" kern="1200"/>
        </a:p>
      </dsp:txBody>
      <dsp:txXfrm>
        <a:off x="23417" y="2817584"/>
        <a:ext cx="6244880" cy="432866"/>
      </dsp:txXfrm>
    </dsp:sp>
    <dsp:sp modelId="{E128BA57-B7ED-4150-9235-5B1AD8618819}">
      <dsp:nvSpPr>
        <dsp:cNvPr id="0" name=""/>
        <dsp:cNvSpPr/>
      </dsp:nvSpPr>
      <dsp:spPr>
        <a:xfrm>
          <a:off x="0" y="3331467"/>
          <a:ext cx="6291714" cy="479700"/>
        </a:xfrm>
        <a:prstGeom prst="roundRect">
          <a:avLst/>
        </a:prstGeom>
        <a:solidFill>
          <a:schemeClr val="accent4">
            <a:hueOff val="-455330"/>
            <a:satOff val="-39621"/>
            <a:lumOff val="-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Предизвикателства</a:t>
          </a:r>
          <a:endParaRPr lang="en-US" sz="2000" kern="1200"/>
        </a:p>
      </dsp:txBody>
      <dsp:txXfrm>
        <a:off x="23417" y="3354884"/>
        <a:ext cx="6244880" cy="432866"/>
      </dsp:txXfrm>
    </dsp:sp>
    <dsp:sp modelId="{1634FAEC-93CD-422B-A99F-6C88CD74F2C5}">
      <dsp:nvSpPr>
        <dsp:cNvPr id="0" name=""/>
        <dsp:cNvSpPr/>
      </dsp:nvSpPr>
      <dsp:spPr>
        <a:xfrm>
          <a:off x="0" y="3868767"/>
          <a:ext cx="6291714" cy="479700"/>
        </a:xfrm>
        <a:prstGeom prst="roundRect">
          <a:avLst/>
        </a:prstGeom>
        <a:solidFill>
          <a:schemeClr val="accent4">
            <a:hueOff val="-531218"/>
            <a:satOff val="-46224"/>
            <a:lumOff val="-4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Тенденции</a:t>
          </a:r>
          <a:endParaRPr lang="en-US" sz="2000" kern="1200"/>
        </a:p>
      </dsp:txBody>
      <dsp:txXfrm>
        <a:off x="23417" y="3892184"/>
        <a:ext cx="6244880" cy="432866"/>
      </dsp:txXfrm>
    </dsp:sp>
    <dsp:sp modelId="{FF2EB26B-CB62-4073-A23C-FF469CA4CEF5}">
      <dsp:nvSpPr>
        <dsp:cNvPr id="0" name=""/>
        <dsp:cNvSpPr/>
      </dsp:nvSpPr>
      <dsp:spPr>
        <a:xfrm>
          <a:off x="0" y="4406067"/>
          <a:ext cx="6291714" cy="479700"/>
        </a:xfrm>
        <a:prstGeom prst="roundRect">
          <a:avLst/>
        </a:prstGeom>
        <a:solidFill>
          <a:schemeClr val="accent4">
            <a:hueOff val="-607107"/>
            <a:satOff val="-52828"/>
            <a:lumOff val="-52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Практическо приложение</a:t>
          </a:r>
          <a:endParaRPr lang="en-US" sz="2000" kern="1200"/>
        </a:p>
      </dsp:txBody>
      <dsp:txXfrm>
        <a:off x="23417" y="4429484"/>
        <a:ext cx="6244880" cy="432866"/>
      </dsp:txXfrm>
    </dsp:sp>
    <dsp:sp modelId="{262D963A-934B-49E8-B68F-3BCB61055D42}">
      <dsp:nvSpPr>
        <dsp:cNvPr id="0" name=""/>
        <dsp:cNvSpPr/>
      </dsp:nvSpPr>
      <dsp:spPr>
        <a:xfrm>
          <a:off x="0" y="4943367"/>
          <a:ext cx="6291714" cy="479700"/>
        </a:xfrm>
        <a:prstGeom prst="roundRect">
          <a:avLst/>
        </a:prstGeom>
        <a:solidFill>
          <a:schemeClr val="accent4">
            <a:hueOff val="-682995"/>
            <a:satOff val="-59431"/>
            <a:lumOff val="-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000" kern="1200"/>
            <a:t>Заключение</a:t>
          </a:r>
          <a:endParaRPr lang="en-US" sz="2000" kern="1200"/>
        </a:p>
      </dsp:txBody>
      <dsp:txXfrm>
        <a:off x="23417" y="4966784"/>
        <a:ext cx="6244880" cy="432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FF854-E3DB-43E8-A8E2-C03DFD9D12D9}">
      <dsp:nvSpPr>
        <dsp:cNvPr id="0" name=""/>
        <dsp:cNvSpPr/>
      </dsp:nvSpPr>
      <dsp:spPr>
        <a:xfrm>
          <a:off x="0" y="1441908"/>
          <a:ext cx="5807396" cy="14449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600" kern="1200" dirty="0"/>
            <a:t>Какво е жестово разпознаване?</a:t>
          </a:r>
          <a:endParaRPr lang="en-US" sz="3600" kern="1200" dirty="0"/>
        </a:p>
      </dsp:txBody>
      <dsp:txXfrm>
        <a:off x="70537" y="1512445"/>
        <a:ext cx="5666322" cy="13038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FF854-E3DB-43E8-A8E2-C03DFD9D12D9}">
      <dsp:nvSpPr>
        <dsp:cNvPr id="0" name=""/>
        <dsp:cNvSpPr/>
      </dsp:nvSpPr>
      <dsp:spPr>
        <a:xfrm>
          <a:off x="0" y="1603371"/>
          <a:ext cx="5805251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600" kern="1200" dirty="0"/>
            <a:t>Значение,  актуалност</a:t>
          </a:r>
          <a:endParaRPr lang="en-US" sz="3600" kern="1200" dirty="0"/>
        </a:p>
      </dsp:txBody>
      <dsp:txXfrm>
        <a:off x="59399" y="1662770"/>
        <a:ext cx="5686453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65276-BC30-4E2D-BD1E-266B6AC4B6A4}" type="datetimeFigureOut">
              <a:rPr lang="en-150" smtClean="0"/>
              <a:t>04/12/2025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EB576-65FB-41B0-BC3D-9AF71ECD1EB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5913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EB576-65FB-41B0-BC3D-9AF71ECD1EB2}" type="slidenum">
              <a:rPr lang="en-150" smtClean="0"/>
              <a:t>8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03987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43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90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05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45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78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83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31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34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69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0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11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7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44" r:id="rId4"/>
    <p:sldLayoutId id="2147483745" r:id="rId5"/>
    <p:sldLayoutId id="2147483750" r:id="rId6"/>
    <p:sldLayoutId id="2147483746" r:id="rId7"/>
    <p:sldLayoutId id="2147483747" r:id="rId8"/>
    <p:sldLayoutId id="2147483748" r:id="rId9"/>
    <p:sldLayoutId id="2147483749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DBC94989-C3CB-CE7A-8444-646C888726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5730"/>
          <a:stretch>
            <a:fillRect/>
          </a:stretch>
        </p:blipFill>
        <p:spPr>
          <a:xfrm>
            <a:off x="9164" y="9154"/>
            <a:ext cx="12191980" cy="685799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C3FB2-DB44-61C8-722C-AAD2FEA35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7896" y="2248139"/>
            <a:ext cx="4576208" cy="2257163"/>
          </a:xfrm>
        </p:spPr>
        <p:txBody>
          <a:bodyPr>
            <a:noAutofit/>
          </a:bodyPr>
          <a:lstStyle/>
          <a:p>
            <a:r>
              <a:rPr lang="bg-BG" sz="4400" dirty="0"/>
              <a:t>ИИ – базирани похвати за жестово разпознаване</a:t>
            </a:r>
            <a:endParaRPr lang="en-150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68A30-3CE8-DB56-4565-9F55B176C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5459210"/>
            <a:ext cx="5037616" cy="715641"/>
          </a:xfrm>
        </p:spPr>
        <p:txBody>
          <a:bodyPr>
            <a:normAutofit/>
          </a:bodyPr>
          <a:lstStyle/>
          <a:p>
            <a:r>
              <a:rPr lang="bg-BG" dirty="0"/>
              <a:t>Теодора Стойчева</a:t>
            </a:r>
            <a:endParaRPr lang="en-150" dirty="0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70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CFBFD-3E6E-44C8-5C05-9A5CE13B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bg-BG" dirty="0">
                <a:solidFill>
                  <a:srgbClr val="FFFFFF"/>
                </a:solidFill>
              </a:rPr>
              <a:t>Съдържание</a:t>
            </a:r>
            <a:endParaRPr lang="en-150" dirty="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8C89072-2802-3E6D-EDBB-C1E76034D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28899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857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3E7D0-855D-7B30-2271-C338853A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bg-BG" sz="4800" b="1" dirty="0"/>
              <a:t>Въведение</a:t>
            </a:r>
            <a:endParaRPr lang="en-150" b="1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1A1B9B31-AA91-3217-A0D5-511CE5DFA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71764"/>
              </p:ext>
            </p:extLst>
          </p:nvPr>
        </p:nvGraphicFramePr>
        <p:xfrm>
          <a:off x="288604" y="1253331"/>
          <a:ext cx="580739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hand with points and lines on it&#10;&#10;AI-generated content may be incorrect.">
            <a:extLst>
              <a:ext uri="{FF2B5EF4-FFF2-40B4-BE49-F238E27FC236}">
                <a16:creationId xmlns:a16="http://schemas.microsoft.com/office/drawing/2014/main" id="{280B5177-3280-15B6-0C2E-7A7513F7BB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0" r="21841" b="-10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54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9A632-52F9-DB75-BECA-2343B986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FD00BD-35AD-787E-D5AC-E4683B807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4C914-BE92-C69F-717D-D86CA84D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bg-BG" sz="4800" b="1" dirty="0"/>
              <a:t>Въведение</a:t>
            </a:r>
            <a:endParaRPr lang="en-150" b="1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26B5AE3-3D75-C351-E6D1-900A67F2D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829440"/>
              </p:ext>
            </p:extLst>
          </p:nvPr>
        </p:nvGraphicFramePr>
        <p:xfrm>
          <a:off x="510821" y="1253331"/>
          <a:ext cx="580525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AC6701-08FF-8629-D426-3A7DC47633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4" r="21834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7ED5EDF1-82D9-E1CD-FF29-2A60A288C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CD66ADF2-CAD5-562B-E35D-BC209A0BC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13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34DF8-246C-8D01-0F88-10276CC6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27E3B8-65C5-49E8-9E81-B200699EC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82C70-24DE-86F5-4755-A424389A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bg-BG" sz="4800" b="1" dirty="0"/>
              <a:t>Жестове</a:t>
            </a:r>
            <a:endParaRPr lang="en-150" b="1" dirty="0"/>
          </a:p>
        </p:txBody>
      </p:sp>
      <p:sp>
        <p:nvSpPr>
          <p:cNvPr id="12" name="!!Oval">
            <a:extLst>
              <a:ext uri="{FF2B5EF4-FFF2-40B4-BE49-F238E27FC236}">
                <a16:creationId xmlns:a16="http://schemas.microsoft.com/office/drawing/2014/main" id="{9AEB2EB6-72CB-0FDB-A7FC-AFC94EE69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59B52644-AC80-EDBE-205F-EB6924C94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9A36A5E-81A9-359C-FC07-EB4BB9C88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956" y="1797245"/>
            <a:ext cx="5226746" cy="4121352"/>
          </a:xfrm>
        </p:spPr>
        <p:txBody>
          <a:bodyPr>
            <a:normAutofit/>
          </a:bodyPr>
          <a:lstStyle/>
          <a:p>
            <a:r>
              <a:rPr lang="bg-BG" sz="2800" dirty="0"/>
              <a:t>Похват на </a:t>
            </a:r>
            <a:r>
              <a:rPr lang="bg-BG" sz="2800" b="1" dirty="0"/>
              <a:t>невербалната</a:t>
            </a:r>
            <a:r>
              <a:rPr lang="bg-BG" sz="2800" dirty="0"/>
              <a:t> </a:t>
            </a:r>
            <a:r>
              <a:rPr lang="bg-BG" sz="2800" b="1" dirty="0"/>
              <a:t>комуникация</a:t>
            </a:r>
          </a:p>
          <a:p>
            <a:r>
              <a:rPr lang="bg-BG" sz="2800" dirty="0"/>
              <a:t>Движение на тялото, което предава </a:t>
            </a:r>
            <a:r>
              <a:rPr lang="bg-BG" sz="2800" b="1" dirty="0"/>
              <a:t>информация</a:t>
            </a:r>
          </a:p>
          <a:p>
            <a:r>
              <a:rPr lang="bg-BG" sz="2800" b="1" dirty="0"/>
              <a:t>Разпознаване</a:t>
            </a:r>
            <a:r>
              <a:rPr lang="bg-BG" sz="2800" dirty="0"/>
              <a:t> – идентифициране и интерпретиране чрез алгоритми и ИИ</a:t>
            </a:r>
            <a:endParaRPr lang="en-150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DE3748-D5B6-1C8A-932A-7ABAC3931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08" y="870022"/>
            <a:ext cx="2143125" cy="2085975"/>
          </a:xfrm>
          <a:prstGeom prst="rect">
            <a:avLst/>
          </a:prstGeom>
        </p:spPr>
      </p:pic>
      <p:pic>
        <p:nvPicPr>
          <p:cNvPr id="3074" name="Picture 2" descr="Sign language Detailed Rounded Lineal icon | Freepik">
            <a:extLst>
              <a:ext uri="{FF2B5EF4-FFF2-40B4-BE49-F238E27FC236}">
                <a16:creationId xmlns:a16="http://schemas.microsoft.com/office/drawing/2014/main" id="{4C0476A3-B371-D740-FAE2-B01393DC0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80935" y="3857921"/>
            <a:ext cx="1603242" cy="160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2439FC-2E48-986B-6A51-819E40D40B1B}"/>
              </a:ext>
            </a:extLst>
          </p:cNvPr>
          <p:cNvSpPr txBox="1"/>
          <p:nvPr/>
        </p:nvSpPr>
        <p:spPr>
          <a:xfrm>
            <a:off x="8557363" y="2884443"/>
            <a:ext cx="181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Статични</a:t>
            </a:r>
            <a:endParaRPr lang="en-150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61CD7D-B4B8-85E3-E65C-46F719869C00}"/>
              </a:ext>
            </a:extLst>
          </p:cNvPr>
          <p:cNvSpPr txBox="1"/>
          <p:nvPr/>
        </p:nvSpPr>
        <p:spPr>
          <a:xfrm>
            <a:off x="8401008" y="5423757"/>
            <a:ext cx="2273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Динамични</a:t>
            </a:r>
            <a:endParaRPr lang="en-150" sz="2800" dirty="0"/>
          </a:p>
        </p:txBody>
      </p:sp>
    </p:spTree>
    <p:extLst>
      <p:ext uri="{BB962C8B-B14F-4D97-AF65-F5344CB8AC3E}">
        <p14:creationId xmlns:p14="http://schemas.microsoft.com/office/powerpoint/2010/main" val="118192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46D1F-DF32-F911-C95A-1A28811E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0729D4-8E68-BB9C-624E-29135288C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87C6D-0C78-564B-D9E4-1D437A73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7447845" cy="1325563"/>
          </a:xfrm>
        </p:spPr>
        <p:txBody>
          <a:bodyPr>
            <a:normAutofit/>
          </a:bodyPr>
          <a:lstStyle/>
          <a:p>
            <a:r>
              <a:rPr lang="bg-BG" sz="4800" b="1" dirty="0"/>
              <a:t>Жестове – извличане</a:t>
            </a:r>
            <a:endParaRPr lang="en-150" b="1" dirty="0"/>
          </a:p>
        </p:txBody>
      </p:sp>
      <p:sp>
        <p:nvSpPr>
          <p:cNvPr id="12" name="!!Oval">
            <a:extLst>
              <a:ext uri="{FF2B5EF4-FFF2-40B4-BE49-F238E27FC236}">
                <a16:creationId xmlns:a16="http://schemas.microsoft.com/office/drawing/2014/main" id="{37450FDB-D1BE-9F57-96B6-165CCAA62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00B4D0B5-F3A6-FC77-59EE-463B0383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0B9A9E8-05D8-01A3-C73B-A4FA73FE1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015"/>
            <a:ext cx="5226746" cy="4121352"/>
          </a:xfrm>
        </p:spPr>
        <p:txBody>
          <a:bodyPr>
            <a:normAutofit/>
          </a:bodyPr>
          <a:lstStyle/>
          <a:p>
            <a:r>
              <a:rPr lang="bg-BG" sz="2800" dirty="0"/>
              <a:t>Визуални или електронни похвати</a:t>
            </a:r>
          </a:p>
          <a:p>
            <a:r>
              <a:rPr lang="bg-BG" sz="2800" dirty="0"/>
              <a:t>2</a:t>
            </a:r>
            <a:r>
              <a:rPr lang="en-US" sz="2800" dirty="0"/>
              <a:t>D </a:t>
            </a:r>
            <a:r>
              <a:rPr lang="bg-BG" sz="2800" dirty="0"/>
              <a:t>камери</a:t>
            </a:r>
          </a:p>
          <a:p>
            <a:r>
              <a:rPr lang="bg-BG" sz="2800" dirty="0"/>
              <a:t>Сензори за дълбочина</a:t>
            </a:r>
          </a:p>
          <a:p>
            <a:r>
              <a:rPr lang="bg-BG" sz="2800" dirty="0"/>
              <a:t>Електронни ръкавици</a:t>
            </a:r>
          </a:p>
          <a:p>
            <a:r>
              <a:rPr lang="bg-BG" sz="2800" dirty="0"/>
              <a:t>Контролери</a:t>
            </a:r>
          </a:p>
          <a:p>
            <a:r>
              <a:rPr lang="bg-BG" sz="2800" dirty="0"/>
              <a:t>Тракери, писалки</a:t>
            </a:r>
          </a:p>
          <a:p>
            <a:r>
              <a:rPr lang="bg-BG" sz="2800" dirty="0"/>
              <a:t>Маркери</a:t>
            </a:r>
            <a:endParaRPr lang="en-150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09B870-6050-7F31-1ADA-7575699B182F}"/>
              </a:ext>
            </a:extLst>
          </p:cNvPr>
          <p:cNvSpPr txBox="1"/>
          <p:nvPr/>
        </p:nvSpPr>
        <p:spPr>
          <a:xfrm>
            <a:off x="8425442" y="2824851"/>
            <a:ext cx="1837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Визуални</a:t>
            </a:r>
            <a:endParaRPr lang="en-150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5A8C5-A2D2-2560-423E-E9C7A31A2FC3}"/>
              </a:ext>
            </a:extLst>
          </p:cNvPr>
          <p:cNvSpPr txBox="1"/>
          <p:nvPr/>
        </p:nvSpPr>
        <p:spPr>
          <a:xfrm>
            <a:off x="8324599" y="5457880"/>
            <a:ext cx="2258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Електронни</a:t>
            </a:r>
            <a:endParaRPr lang="en-150" sz="2800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C6FBE75-D5B5-FF30-9C70-5CDCB97E3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123" y="1270963"/>
            <a:ext cx="1621003" cy="1621003"/>
          </a:xfrm>
          <a:prstGeom prst="rect">
            <a:avLst/>
          </a:prstGeom>
        </p:spPr>
      </p:pic>
      <p:pic>
        <p:nvPicPr>
          <p:cNvPr id="6" name="Picture 5" descr="A black and white drawing of a person standing on a wall&#10;&#10;AI-generated content may be incorrect.">
            <a:extLst>
              <a:ext uri="{FF2B5EF4-FFF2-40B4-BE49-F238E27FC236}">
                <a16:creationId xmlns:a16="http://schemas.microsoft.com/office/drawing/2014/main" id="{6EA95E99-A828-461A-A228-E98A8230E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647" y="1004507"/>
            <a:ext cx="1832428" cy="1832428"/>
          </a:xfrm>
          <a:prstGeom prst="rect">
            <a:avLst/>
          </a:prstGeom>
        </p:spPr>
      </p:pic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B45346D5-EEB3-2560-A455-8122818F1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493" y="3797806"/>
            <a:ext cx="1340556" cy="1660867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67480E-CCF9-BD84-799A-CE79A16146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653" y="3575415"/>
            <a:ext cx="1882465" cy="188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0CE9E-DCB8-AE5E-050C-D478D766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13A341-A664-9F4B-6047-4B93322AF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D904A-E13C-29BB-6F10-4C5904D6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47" y="481806"/>
            <a:ext cx="6724004" cy="1325563"/>
          </a:xfrm>
        </p:spPr>
        <p:txBody>
          <a:bodyPr>
            <a:noAutofit/>
          </a:bodyPr>
          <a:lstStyle/>
          <a:p>
            <a:r>
              <a:rPr lang="bg-BG" sz="4800" b="1" dirty="0"/>
              <a:t>Машинно обучение</a:t>
            </a:r>
            <a:endParaRPr lang="en-150" sz="3600" b="1" dirty="0"/>
          </a:p>
        </p:txBody>
      </p:sp>
      <p:sp>
        <p:nvSpPr>
          <p:cNvPr id="12" name="!!Oval">
            <a:extLst>
              <a:ext uri="{FF2B5EF4-FFF2-40B4-BE49-F238E27FC236}">
                <a16:creationId xmlns:a16="http://schemas.microsoft.com/office/drawing/2014/main" id="{8D425083-0A98-92C9-0F06-C18DF9EAE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4FBF5B8B-17F9-2378-32F5-CB8E7C051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28F2C-CC1F-2F05-587E-CC45CD35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26" y="1785938"/>
            <a:ext cx="5805251" cy="44448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периода 1990–2010 г</a:t>
            </a:r>
            <a:r>
              <a:rPr lang="ru-RU" b="1" dirty="0"/>
              <a:t>.</a:t>
            </a:r>
            <a:r>
              <a:rPr lang="ru-RU" dirty="0"/>
              <a:t> системите преминават от ръчни алгоритми към модели, които се </a:t>
            </a:r>
            <a:r>
              <a:rPr lang="ru-RU" b="1" dirty="0"/>
              <a:t>обучават върху примери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Основен подход: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Извличане на </a:t>
            </a:r>
            <a:r>
              <a:rPr lang="ru-RU" sz="2400" b="1" dirty="0"/>
              <a:t>характеристики</a:t>
            </a:r>
            <a:r>
              <a:rPr lang="ru-RU" sz="2400" dirty="0"/>
              <a:t> от изображението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Класификация</a:t>
            </a:r>
            <a:r>
              <a:rPr lang="ru-RU" sz="2400" dirty="0"/>
              <a:t> чрез ML модел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Позволяват автоматично обучение, адаптивност и стабилни системи за статични и динамични жестове</a:t>
            </a:r>
          </a:p>
        </p:txBody>
      </p:sp>
      <p:pic>
        <p:nvPicPr>
          <p:cNvPr id="5" name="Picture 4" descr="A brain in a blue square&#10;&#10;AI-generated content may be incorrect.">
            <a:extLst>
              <a:ext uri="{FF2B5EF4-FFF2-40B4-BE49-F238E27FC236}">
                <a16:creationId xmlns:a16="http://schemas.microsoft.com/office/drawing/2014/main" id="{0CE70F8C-1F9B-077E-DE41-8B2E16631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454" y="2202247"/>
            <a:ext cx="3350318" cy="335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5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308E9-0ACA-C1BB-AF73-D3E9B8D8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949792-3520-5A2C-4597-105E8A263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83E4F-8718-2695-79FD-D84792AD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47" y="481806"/>
            <a:ext cx="6724004" cy="974461"/>
          </a:xfrm>
        </p:spPr>
        <p:txBody>
          <a:bodyPr>
            <a:noAutofit/>
          </a:bodyPr>
          <a:lstStyle/>
          <a:p>
            <a:r>
              <a:rPr lang="bg-BG" sz="4800" b="1"/>
              <a:t>Извличане на данни</a:t>
            </a:r>
            <a:endParaRPr lang="en-150" sz="3600" b="1" dirty="0"/>
          </a:p>
        </p:txBody>
      </p:sp>
      <p:sp>
        <p:nvSpPr>
          <p:cNvPr id="12" name="!!Oval">
            <a:extLst>
              <a:ext uri="{FF2B5EF4-FFF2-40B4-BE49-F238E27FC236}">
                <a16:creationId xmlns:a16="http://schemas.microsoft.com/office/drawing/2014/main" id="{A0D977B4-CC9E-E41F-A2DB-3B0503D1A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476DBD27-BD89-281C-1D2F-A38DB882D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25766-AA2E-0161-1854-F455512E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37" y="1456267"/>
            <a:ext cx="4814671" cy="50687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/>
              <a:t>П</a:t>
            </a:r>
            <a:r>
              <a:rPr lang="ru-RU"/>
              <a:t>реобразува се изображението в компактно представяне, което се подава на машинните класификатори.</a:t>
            </a:r>
            <a:endParaRPr lang="bg-BG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r>
              <a:rPr lang="ru-RU" b="1"/>
              <a:t>Histogram of Oriented Gradients (HOG)</a:t>
            </a:r>
          </a:p>
          <a:p>
            <a:pPr marL="0" indent="0">
              <a:buNone/>
            </a:pPr>
            <a:r>
              <a:rPr lang="ru-RU"/>
              <a:t>Описва формата на ръката като хистограма на локалните градиенти.</a:t>
            </a:r>
          </a:p>
          <a:p>
            <a:pPr marL="0" indent="0">
              <a:buNone/>
            </a:pPr>
            <a:r>
              <a:rPr lang="ru-RU"/>
              <a:t>Устойчив на промени в осветлението и позицията.</a:t>
            </a:r>
          </a:p>
          <a:p>
            <a:pPr marL="0" indent="0">
              <a:buNone/>
            </a:pPr>
            <a:r>
              <a:rPr lang="ru-RU"/>
              <a:t>Подходящ за статични жестове и детекция на ръка.</a:t>
            </a:r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r>
              <a:rPr lang="ru-RU" b="1"/>
              <a:t>Optical Flow</a:t>
            </a:r>
          </a:p>
          <a:p>
            <a:pPr marL="0" indent="0">
              <a:buNone/>
            </a:pPr>
            <a:r>
              <a:rPr lang="ru-RU"/>
              <a:t>Измерва движението между два последователни кадъра.</a:t>
            </a:r>
          </a:p>
          <a:p>
            <a:pPr marL="0" indent="0">
              <a:buNone/>
            </a:pPr>
            <a:r>
              <a:rPr lang="ru-RU"/>
              <a:t>Извлича посока и скорост на движение — идеално за динамични жестове.</a:t>
            </a:r>
          </a:p>
          <a:p>
            <a:pPr marL="0" indent="0">
              <a:buNone/>
            </a:pPr>
            <a:r>
              <a:rPr lang="ru-RU"/>
              <a:t>Позволява проследяване и анализ на траекторията на ръката.</a:t>
            </a:r>
            <a:endParaRPr lang="en-150" dirty="0"/>
          </a:p>
        </p:txBody>
      </p:sp>
      <p:pic>
        <p:nvPicPr>
          <p:cNvPr id="5" name="Picture 4" descr="A diagram of different stages of development">
            <a:extLst>
              <a:ext uri="{FF2B5EF4-FFF2-40B4-BE49-F238E27FC236}">
                <a16:creationId xmlns:a16="http://schemas.microsoft.com/office/drawing/2014/main" id="{E1003CF2-9942-281B-FF67-C7CDBAE56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78" y="1482615"/>
            <a:ext cx="5922675" cy="2238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grid with a grid and a picture of a face&#10;&#10;AI-generated content may be incorrect.">
            <a:extLst>
              <a:ext uri="{FF2B5EF4-FFF2-40B4-BE49-F238E27FC236}">
                <a16:creationId xmlns:a16="http://schemas.microsoft.com/office/drawing/2014/main" id="{AAE85EA4-C40B-9867-FEFF-40DAECFB7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73"/>
          <a:stretch/>
        </p:blipFill>
        <p:spPr>
          <a:xfrm>
            <a:off x="6643452" y="3954839"/>
            <a:ext cx="5041412" cy="269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01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F3A4D-506F-CE76-4BFE-40DDDAD9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5E65EF-874B-C6C5-16BA-032CA84AB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D35D2-CE26-DA70-749A-DDF296569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47" y="481806"/>
            <a:ext cx="6724004" cy="974461"/>
          </a:xfrm>
        </p:spPr>
        <p:txBody>
          <a:bodyPr>
            <a:noAutofit/>
          </a:bodyPr>
          <a:lstStyle/>
          <a:p>
            <a:r>
              <a:rPr lang="bg-BG" sz="4800" b="1" dirty="0"/>
              <a:t>Класификация</a:t>
            </a:r>
            <a:endParaRPr lang="en-150" sz="3600" b="1" dirty="0"/>
          </a:p>
        </p:txBody>
      </p:sp>
      <p:sp>
        <p:nvSpPr>
          <p:cNvPr id="12" name="!!Oval">
            <a:extLst>
              <a:ext uri="{FF2B5EF4-FFF2-40B4-BE49-F238E27FC236}">
                <a16:creationId xmlns:a16="http://schemas.microsoft.com/office/drawing/2014/main" id="{63CBDDEA-C70B-4AE1-E8F9-22F5BB4AA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510DF3EB-61D9-60AD-56C4-F131ACC02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124AE-629E-229E-0B5C-FCF6FC0AE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36" y="1456267"/>
            <a:ext cx="5471633" cy="50687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След извличане на характеристики ML модели разделят жестовете на категории.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Support Vector Machines (SVM)</a:t>
            </a:r>
          </a:p>
          <a:p>
            <a:pPr marL="0" indent="0">
              <a:buNone/>
            </a:pPr>
            <a:r>
              <a:rPr lang="ru-RU" dirty="0"/>
              <a:t>Намира оптималната разделителна граница между различни жестове.</a:t>
            </a:r>
          </a:p>
          <a:p>
            <a:pPr marL="0" indent="0">
              <a:buNone/>
            </a:pPr>
            <a:r>
              <a:rPr lang="ru-RU" dirty="0"/>
              <a:t>Използва kernel trick за нелинейни случаи.</a:t>
            </a:r>
          </a:p>
          <a:p>
            <a:pPr marL="0" indent="0">
              <a:buNone/>
            </a:pPr>
            <a:r>
              <a:rPr lang="ru-RU" dirty="0"/>
              <a:t>Подходящ за статични жестове с добре дефинирани характеристики.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Hidden Markov Models (HMM)</a:t>
            </a:r>
          </a:p>
          <a:p>
            <a:pPr marL="0" indent="0">
              <a:buNone/>
            </a:pPr>
            <a:r>
              <a:rPr lang="ru-RU" dirty="0"/>
              <a:t>Моделира последователности и времеви преходи — перфектен за динамични жестове.</a:t>
            </a:r>
          </a:p>
          <a:p>
            <a:pPr marL="0" indent="0">
              <a:buNone/>
            </a:pPr>
            <a:r>
              <a:rPr lang="ru-RU" dirty="0"/>
              <a:t>Представя жеста като серия от състояния (фази).</a:t>
            </a:r>
          </a:p>
          <a:p>
            <a:pPr marL="0" indent="0">
              <a:buNone/>
            </a:pPr>
            <a:r>
              <a:rPr lang="ru-RU" dirty="0"/>
              <a:t>Използван за разпознаване на жестомимически език и сложни движения.</a:t>
            </a:r>
            <a:endParaRPr lang="en-150" dirty="0"/>
          </a:p>
        </p:txBody>
      </p:sp>
      <p:pic>
        <p:nvPicPr>
          <p:cNvPr id="7" name="Picture 6" descr="A diagram of a data transformation&#10;&#10;AI-generated content may be incorrect.">
            <a:extLst>
              <a:ext uri="{FF2B5EF4-FFF2-40B4-BE49-F238E27FC236}">
                <a16:creationId xmlns:a16="http://schemas.microsoft.com/office/drawing/2014/main" id="{271E1C94-1817-A935-870C-48E225571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4" b="8568"/>
          <a:stretch/>
        </p:blipFill>
        <p:spPr>
          <a:xfrm>
            <a:off x="5875634" y="481805"/>
            <a:ext cx="6210277" cy="2454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diagram of a algorithm&#10;&#10;AI-generated content may be incorrect.">
            <a:extLst>
              <a:ext uri="{FF2B5EF4-FFF2-40B4-BE49-F238E27FC236}">
                <a16:creationId xmlns:a16="http://schemas.microsoft.com/office/drawing/2014/main" id="{0A6E8E77-D0FA-1D0B-7CDF-C04775585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5" t="19149" r="28165" b="3688"/>
          <a:stretch/>
        </p:blipFill>
        <p:spPr>
          <a:xfrm>
            <a:off x="8074873" y="3156067"/>
            <a:ext cx="4011038" cy="3481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544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F6DB-CA06-8F8A-CFF3-54B99E1B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249379"/>
            <a:ext cx="10515600" cy="1035412"/>
          </a:xfrm>
        </p:spPr>
        <p:txBody>
          <a:bodyPr>
            <a:normAutofit/>
          </a:bodyPr>
          <a:lstStyle/>
          <a:p>
            <a:r>
              <a:rPr lang="en-US" sz="4800" b="1" dirty="0"/>
              <a:t>Deep Learning </a:t>
            </a:r>
            <a:r>
              <a:rPr lang="bg-BG" sz="4800" b="1" dirty="0"/>
              <a:t>подходи</a:t>
            </a:r>
            <a:endParaRPr lang="en-150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7216-0FB0-665C-7BA7-71A5F5B5E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89" y="853351"/>
            <a:ext cx="5755511" cy="575527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Автоматично извличане на характеристики от изображения</a:t>
            </a:r>
            <a:r>
              <a:rPr lang="en-US" dirty="0"/>
              <a:t> </a:t>
            </a:r>
            <a:r>
              <a:rPr lang="bg-BG" dirty="0"/>
              <a:t>с висока </a:t>
            </a:r>
            <a:r>
              <a:rPr lang="ru-RU" dirty="0"/>
              <a:t>точност в реално време. 90–97% точност при разпознаване на жестове.</a:t>
            </a:r>
            <a:endParaRPr lang="bg-BG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en-US" b="1" dirty="0"/>
              <a:t>Convolutional Neural Networks (CNN)</a:t>
            </a:r>
          </a:p>
          <a:p>
            <a:pPr marL="0" indent="0">
              <a:buNone/>
            </a:pPr>
            <a:r>
              <a:rPr lang="ru-RU" dirty="0"/>
              <a:t>Специализирани за визуални задачи.</a:t>
            </a:r>
          </a:p>
          <a:p>
            <a:pPr marL="0" indent="0">
              <a:buNone/>
            </a:pPr>
            <a:r>
              <a:rPr lang="ru-RU" dirty="0"/>
              <a:t>Извличат по нива: ръбове → текстури → форми → обекти</a:t>
            </a:r>
          </a:p>
          <a:p>
            <a:pPr marL="0" indent="0">
              <a:buNone/>
            </a:pPr>
            <a:r>
              <a:rPr lang="en-US" dirty="0"/>
              <a:t>Backpropagation </a:t>
            </a:r>
            <a:r>
              <a:rPr lang="ru-RU" dirty="0"/>
              <a:t>върху големи набори от примери.</a:t>
            </a:r>
          </a:p>
          <a:p>
            <a:pPr marL="0" indent="0">
              <a:buNone/>
            </a:pPr>
            <a:r>
              <a:rPr lang="ru-RU" dirty="0"/>
              <a:t>Компоненти: </a:t>
            </a:r>
            <a:r>
              <a:rPr lang="en-US" dirty="0"/>
              <a:t>Convolutional Layer</a:t>
            </a:r>
            <a:r>
              <a:rPr lang="bg-BG" dirty="0"/>
              <a:t> - </a:t>
            </a:r>
            <a:r>
              <a:rPr lang="en-US" dirty="0"/>
              <a:t>Activation Function </a:t>
            </a:r>
            <a:r>
              <a:rPr lang="bg-BG" dirty="0"/>
              <a:t>- </a:t>
            </a:r>
            <a:r>
              <a:rPr lang="en-US" dirty="0"/>
              <a:t>Pooling </a:t>
            </a:r>
            <a:r>
              <a:rPr lang="bg-BG" dirty="0"/>
              <a:t>- </a:t>
            </a:r>
            <a:r>
              <a:rPr lang="en-US" dirty="0"/>
              <a:t>Connected Layer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Long Short-Term Memory (LSTM)</a:t>
            </a:r>
          </a:p>
          <a:p>
            <a:pPr marL="0" indent="0">
              <a:buNone/>
            </a:pPr>
            <a:r>
              <a:rPr lang="ru-RU" dirty="0"/>
              <a:t>Подходящи за динамични жестове и видео.</a:t>
            </a:r>
          </a:p>
          <a:p>
            <a:pPr marL="0" indent="0">
              <a:buNone/>
            </a:pPr>
            <a:r>
              <a:rPr lang="ru-RU" dirty="0"/>
              <a:t>Запазват информация за предишни кадри → разбират последователност от движения.</a:t>
            </a:r>
          </a:p>
          <a:p>
            <a:pPr marL="0" indent="0">
              <a:buNone/>
            </a:pPr>
            <a:r>
              <a:rPr lang="ru-RU" dirty="0"/>
              <a:t>Комбинацията </a:t>
            </a:r>
            <a:r>
              <a:rPr lang="en-US" dirty="0"/>
              <a:t>CNN+LSTM </a:t>
            </a:r>
            <a:r>
              <a:rPr lang="ru-RU" dirty="0"/>
              <a:t>достига 90–95% точност в разпознаване на динамични жестове.</a:t>
            </a:r>
            <a:endParaRPr lang="en-150" dirty="0"/>
          </a:p>
        </p:txBody>
      </p:sp>
      <p:pic>
        <p:nvPicPr>
          <p:cNvPr id="5" name="Picture 4" descr="A diagram of a diagram of a network&#10;&#10;AI-generated content may be incorrect.">
            <a:extLst>
              <a:ext uri="{FF2B5EF4-FFF2-40B4-BE49-F238E27FC236}">
                <a16:creationId xmlns:a16="http://schemas.microsoft.com/office/drawing/2014/main" id="{2463E4AC-4EDA-5A5D-C9EC-B0A844635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" t="23961" r="4335" b="8146"/>
          <a:stretch/>
        </p:blipFill>
        <p:spPr>
          <a:xfrm>
            <a:off x="6167336" y="1284791"/>
            <a:ext cx="5904689" cy="2130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2A157CB-6D0B-3A83-C4C4-91FA1A77C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90029"/>
            <a:ext cx="5976026" cy="2100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4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289F-0241-D8E0-2F01-C98B9890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7EA0A-286F-C5E3-44DF-5E17E1B2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91" y="210076"/>
            <a:ext cx="10515600" cy="977538"/>
          </a:xfrm>
        </p:spPr>
        <p:txBody>
          <a:bodyPr>
            <a:normAutofit/>
          </a:bodyPr>
          <a:lstStyle/>
          <a:p>
            <a:r>
              <a:rPr lang="en-US" sz="4800" b="1" dirty="0"/>
              <a:t>Pose Estimation</a:t>
            </a:r>
            <a:endParaRPr lang="en-150" sz="4800" b="1" dirty="0"/>
          </a:p>
        </p:txBody>
      </p:sp>
      <p:pic>
        <p:nvPicPr>
          <p:cNvPr id="5" name="Content Placeholder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3B98E82-3DE4-D185-180E-04D77744A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922" y="4761922"/>
            <a:ext cx="2096078" cy="209607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526C60-0A26-7D1E-AA01-11EEE868BC16}"/>
              </a:ext>
            </a:extLst>
          </p:cNvPr>
          <p:cNvSpPr txBox="1"/>
          <p:nvPr/>
        </p:nvSpPr>
        <p:spPr>
          <a:xfrm>
            <a:off x="507091" y="1187614"/>
            <a:ext cx="5280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Вместо да обработват изображението като пиксели, моделите извличат </a:t>
            </a:r>
            <a:r>
              <a:rPr lang="ru-RU" sz="2000" b="1" dirty="0"/>
              <a:t>ключови точки </a:t>
            </a:r>
            <a:r>
              <a:rPr lang="ru-RU" sz="2000" dirty="0"/>
              <a:t>(landmarks) на тялото или ръцете.</a:t>
            </a:r>
            <a:endParaRPr lang="en-150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9F8EB-8A6F-7ADF-FA8C-AE1A8DF162CE}"/>
              </a:ext>
            </a:extLst>
          </p:cNvPr>
          <p:cNvSpPr txBox="1"/>
          <p:nvPr/>
        </p:nvSpPr>
        <p:spPr>
          <a:xfrm>
            <a:off x="507091" y="2786307"/>
            <a:ext cx="47166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/>
              <a:t>OpenPose</a:t>
            </a:r>
          </a:p>
          <a:p>
            <a:r>
              <a:rPr lang="ru-RU" sz="2000" dirty="0"/>
              <a:t>Открива 2D поза на цялото тяло и 20+ ключови точки на ръцете.</a:t>
            </a:r>
          </a:p>
          <a:p>
            <a:r>
              <a:rPr lang="ru-RU" sz="2000" dirty="0"/>
              <a:t>Подходящ за сцени с </a:t>
            </a:r>
            <a:r>
              <a:rPr lang="bg-BG" sz="2000" dirty="0"/>
              <a:t>голям брой</a:t>
            </a:r>
            <a:r>
              <a:rPr lang="ru-RU" sz="2000" dirty="0"/>
              <a:t> хора.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6056D-3291-F9C1-AC89-C1430ED5818A}"/>
              </a:ext>
            </a:extLst>
          </p:cNvPr>
          <p:cNvSpPr txBox="1"/>
          <p:nvPr/>
        </p:nvSpPr>
        <p:spPr>
          <a:xfrm>
            <a:off x="507091" y="4692778"/>
            <a:ext cx="5144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/>
              <a:t>Предимства</a:t>
            </a:r>
          </a:p>
          <a:p>
            <a:r>
              <a:rPr lang="ru-RU" sz="2000" dirty="0"/>
              <a:t>Много добра точност.</a:t>
            </a:r>
          </a:p>
          <a:p>
            <a:r>
              <a:rPr lang="ru-RU" sz="2000" dirty="0"/>
              <a:t>3D реконструкция, анализ на множество хора.</a:t>
            </a:r>
          </a:p>
          <a:p>
            <a:r>
              <a:rPr lang="bg-BG" sz="2000" dirty="0"/>
              <a:t>Разпознаване на комплексни жестове</a:t>
            </a:r>
            <a:r>
              <a:rPr lang="ru-RU" sz="2000" dirty="0"/>
              <a:t>.</a:t>
            </a:r>
          </a:p>
        </p:txBody>
      </p:sp>
      <p:pic>
        <p:nvPicPr>
          <p:cNvPr id="10" name="Picture 9" descr="A group of people running&#10;&#10;AI-generated content may be incorrect.">
            <a:extLst>
              <a:ext uri="{FF2B5EF4-FFF2-40B4-BE49-F238E27FC236}">
                <a16:creationId xmlns:a16="http://schemas.microsoft.com/office/drawing/2014/main" id="{7AF9F253-6CEC-A50A-86A4-991AD7A2C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8" b="22224"/>
          <a:stretch/>
        </p:blipFill>
        <p:spPr>
          <a:xfrm>
            <a:off x="5787958" y="424125"/>
            <a:ext cx="6284879" cy="2908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diagram of a person with a list of points&#10;&#10;AI-generated content may be incorrect.">
            <a:extLst>
              <a:ext uri="{FF2B5EF4-FFF2-40B4-BE49-F238E27FC236}">
                <a16:creationId xmlns:a16="http://schemas.microsoft.com/office/drawing/2014/main" id="{0E746AC4-8179-36C0-C9C7-42C0933ED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958" y="3978156"/>
            <a:ext cx="3891064" cy="2742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70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3172-6584-3B10-E281-48168B0F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A028-C00E-EF67-67CB-563A1F66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3" y="365126"/>
            <a:ext cx="10515600" cy="838642"/>
          </a:xfrm>
        </p:spPr>
        <p:txBody>
          <a:bodyPr>
            <a:normAutofit/>
          </a:bodyPr>
          <a:lstStyle/>
          <a:p>
            <a:r>
              <a:rPr lang="bg-BG" sz="4800" b="1" dirty="0"/>
              <a:t>Съвременни системи</a:t>
            </a:r>
            <a:endParaRPr lang="en-150" sz="4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BD695-12B8-1307-F674-B9AF081C6C60}"/>
              </a:ext>
            </a:extLst>
          </p:cNvPr>
          <p:cNvSpPr txBox="1"/>
          <p:nvPr/>
        </p:nvSpPr>
        <p:spPr>
          <a:xfrm>
            <a:off x="375213" y="1203768"/>
            <a:ext cx="5099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MediaPipe Hands</a:t>
            </a:r>
          </a:p>
          <a:p>
            <a:pPr>
              <a:buNone/>
            </a:pPr>
            <a:endParaRPr lang="ru-RU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Платформа за on-device обработка.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Открива 21 триизмерни ключови точки на ръката в реално време.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Оптимизиран за мобилни устройства, лаптопи и AR/VR интерфейси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DDBA9-13E5-82C1-C448-2EE3841D0427}"/>
              </a:ext>
            </a:extLst>
          </p:cNvPr>
          <p:cNvSpPr txBox="1"/>
          <p:nvPr/>
        </p:nvSpPr>
        <p:spPr>
          <a:xfrm>
            <a:off x="273746" y="3484409"/>
            <a:ext cx="4953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Предимства</a:t>
            </a:r>
          </a:p>
          <a:p>
            <a:pPr>
              <a:buNone/>
            </a:pPr>
            <a:endParaRPr lang="ru-RU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30+ FPS дори на мобилни устройства.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Не работи с цели изображения, а само с изрязани области → много висока скорост.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Поддържа дясна и лява ръка - handedness.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F3ADD1-A218-A108-0B7F-A642D0758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52" y="1495285"/>
            <a:ext cx="6558987" cy="2286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computer with a screen and a text&#10;&#10;AI-generated content may be incorrect.">
            <a:extLst>
              <a:ext uri="{FF2B5EF4-FFF2-40B4-BE49-F238E27FC236}">
                <a16:creationId xmlns:a16="http://schemas.microsoft.com/office/drawing/2014/main" id="{5BC8ED8A-DFBA-6E3A-368E-D01FD4B9A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67163"/>
            <a:ext cx="5937339" cy="2637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032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BE2C-158E-FF41-E995-E4772282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20D4-E5EA-0A98-4DDF-B1B6DFE9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3" y="365126"/>
            <a:ext cx="10515600" cy="838642"/>
          </a:xfrm>
        </p:spPr>
        <p:txBody>
          <a:bodyPr>
            <a:normAutofit/>
          </a:bodyPr>
          <a:lstStyle/>
          <a:p>
            <a:r>
              <a:rPr lang="bg-BG" sz="4800" b="1" dirty="0"/>
              <a:t>Съвременни системи</a:t>
            </a:r>
            <a:endParaRPr lang="en-150" sz="4800" b="1" dirty="0"/>
          </a:p>
        </p:txBody>
      </p:sp>
      <p:pic>
        <p:nvPicPr>
          <p:cNvPr id="7" name="Content Placeholder 6" descr="A black background with grey letters&#10;&#10;AI-generated content may be incorrect.">
            <a:extLst>
              <a:ext uri="{FF2B5EF4-FFF2-40B4-BE49-F238E27FC236}">
                <a16:creationId xmlns:a16="http://schemas.microsoft.com/office/drawing/2014/main" id="{86CC05EE-DD5D-BD5C-CE91-B9C1BE49F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872" y="5870818"/>
            <a:ext cx="4078808" cy="1107105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08F40F-DA87-B9A1-D456-06E2E2558A08}"/>
              </a:ext>
            </a:extLst>
          </p:cNvPr>
          <p:cNvSpPr txBox="1"/>
          <p:nvPr/>
        </p:nvSpPr>
        <p:spPr>
          <a:xfrm>
            <a:off x="375213" y="1264910"/>
            <a:ext cx="46345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/>
              <a:t>Архитектура на модела</a:t>
            </a:r>
          </a:p>
          <a:p>
            <a:pPr>
              <a:buNone/>
            </a:pPr>
            <a:endParaRPr lang="ru-RU" sz="2000" dirty="0"/>
          </a:p>
          <a:p>
            <a:r>
              <a:rPr lang="en-US" sz="2000" b="1" dirty="0"/>
              <a:t>Palm Detection</a:t>
            </a:r>
            <a:endParaRPr lang="bg-BG" sz="2000" b="1" dirty="0"/>
          </a:p>
          <a:p>
            <a:r>
              <a:rPr lang="ru-RU" sz="2000" dirty="0"/>
              <a:t>Моделът първо търси длан, защото е по-лесна за засичане.</a:t>
            </a:r>
          </a:p>
          <a:p>
            <a:endParaRPr lang="ru-RU" sz="2000" dirty="0"/>
          </a:p>
          <a:p>
            <a:r>
              <a:rPr lang="en-US" sz="2000" b="1" dirty="0"/>
              <a:t>Hand Landmark Regression</a:t>
            </a:r>
            <a:endParaRPr lang="bg-BG" sz="2000" b="1" dirty="0"/>
          </a:p>
          <a:p>
            <a:r>
              <a:rPr lang="ru-RU" sz="2000" dirty="0"/>
              <a:t>Втори модел предсказва точните 21 ключови точки (</a:t>
            </a:r>
            <a:r>
              <a:rPr lang="en-US" sz="2000" dirty="0"/>
              <a:t>x, y, z).</a:t>
            </a:r>
            <a:endParaRPr lang="bg-BG" sz="2000" dirty="0"/>
          </a:p>
          <a:p>
            <a:endParaRPr lang="bg-BG" sz="2000" dirty="0"/>
          </a:p>
          <a:p>
            <a:r>
              <a:rPr lang="en-US" sz="2000" b="1" dirty="0"/>
              <a:t>Hand Tracking</a:t>
            </a:r>
            <a:endParaRPr lang="bg-BG" sz="2000" b="1" dirty="0"/>
          </a:p>
          <a:p>
            <a:r>
              <a:rPr lang="ru-RU" sz="2000" dirty="0"/>
              <a:t>След първоначална детекция се използва бърз тракер, което увеличава </a:t>
            </a:r>
            <a:r>
              <a:rPr lang="en-US" sz="2000" dirty="0"/>
              <a:t>FPS.</a:t>
            </a:r>
          </a:p>
        </p:txBody>
      </p:sp>
      <p:pic>
        <p:nvPicPr>
          <p:cNvPr id="4" name="Picture 3" descr="A close-up of a hand&#10;&#10;AI-generated content may be incorrect.">
            <a:extLst>
              <a:ext uri="{FF2B5EF4-FFF2-40B4-BE49-F238E27FC236}">
                <a16:creationId xmlns:a16="http://schemas.microsoft.com/office/drawing/2014/main" id="{87F53DDC-929F-1426-E4C7-2CC119749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18"/>
          <a:stretch/>
        </p:blipFill>
        <p:spPr>
          <a:xfrm>
            <a:off x="4804871" y="1203768"/>
            <a:ext cx="4378040" cy="2131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close-up of a hand&#10;&#10;AI-generated content may be incorrect.">
            <a:extLst>
              <a:ext uri="{FF2B5EF4-FFF2-40B4-BE49-F238E27FC236}">
                <a16:creationId xmlns:a16="http://schemas.microsoft.com/office/drawing/2014/main" id="{3B2F3BF4-3FE5-FB28-4FF4-0A03B1F7A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18"/>
          <a:stretch/>
        </p:blipFill>
        <p:spPr>
          <a:xfrm>
            <a:off x="6529540" y="3523041"/>
            <a:ext cx="4835940" cy="23540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473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DA68-51C0-C7D2-4BAA-8BF5E06D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DEC2-8A6B-00BC-37B3-518F09F7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330402"/>
            <a:ext cx="10515600" cy="896516"/>
          </a:xfrm>
        </p:spPr>
        <p:txBody>
          <a:bodyPr>
            <a:normAutofit/>
          </a:bodyPr>
          <a:lstStyle/>
          <a:p>
            <a:r>
              <a:rPr lang="bg-BG" sz="4800" b="1" dirty="0"/>
              <a:t>Съвременни системи</a:t>
            </a:r>
            <a:endParaRPr lang="en-150" sz="4800" b="1" dirty="0"/>
          </a:p>
        </p:txBody>
      </p:sp>
      <p:pic>
        <p:nvPicPr>
          <p:cNvPr id="9" name="Content Placeholder 8" descr="A logo of a company&#10;&#10;AI-generated content may be incorrect.">
            <a:extLst>
              <a:ext uri="{FF2B5EF4-FFF2-40B4-BE49-F238E27FC236}">
                <a16:creationId xmlns:a16="http://schemas.microsoft.com/office/drawing/2014/main" id="{CB6A463D-5AC1-7ED2-D815-53B7E9E0B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60" b="25775"/>
          <a:stretch/>
        </p:blipFill>
        <p:spPr>
          <a:xfrm>
            <a:off x="8897112" y="5916139"/>
            <a:ext cx="3294888" cy="8577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DC41EC-7BEF-E724-AFF7-5E20D5D3C4C0}"/>
              </a:ext>
            </a:extLst>
          </p:cNvPr>
          <p:cNvSpPr txBox="1"/>
          <p:nvPr/>
        </p:nvSpPr>
        <p:spPr>
          <a:xfrm>
            <a:off x="340489" y="1226918"/>
            <a:ext cx="58225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MoveNet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Оптимизиран модел на Google TensorFlow за оценка на човешката поза в реално време.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Предсказва 17 ключови точки на тялото.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Създаден за мобилни устройства, IoT и edge системи.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3C17AF-8DC0-36ED-3BE3-D0A3661F52D0}"/>
              </a:ext>
            </a:extLst>
          </p:cNvPr>
          <p:cNvSpPr txBox="1"/>
          <p:nvPr/>
        </p:nvSpPr>
        <p:spPr>
          <a:xfrm>
            <a:off x="6163056" y="3599758"/>
            <a:ext cx="60940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Предимства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Силно оптимизиран за мобилен хардуер.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Работи без GPU и без интернет връзка.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Изключително подходящ за спортни анализи, проследяване на динамични жестове на тялото.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49D448-4289-9A5A-B3BC-80418DC6458A}"/>
              </a:ext>
            </a:extLst>
          </p:cNvPr>
          <p:cNvSpPr txBox="1"/>
          <p:nvPr/>
        </p:nvSpPr>
        <p:spPr>
          <a:xfrm>
            <a:off x="6236208" y="1257567"/>
            <a:ext cx="6215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bg-BG" b="1" dirty="0"/>
              <a:t>Модел</a:t>
            </a:r>
            <a:endParaRPr lang="ru-RU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Обработва цялото изображение наведнъж,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Извлича характеристики чрез последователни слоеве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Прогнозира позиции на ключови точки без допълнително пост-обработване.</a:t>
            </a:r>
          </a:p>
        </p:txBody>
      </p:sp>
      <p:pic>
        <p:nvPicPr>
          <p:cNvPr id="4" name="Picture 3" descr="A diagram of a person with points&#10;&#10;AI-generated content may be incorrect.">
            <a:extLst>
              <a:ext uri="{FF2B5EF4-FFF2-40B4-BE49-F238E27FC236}">
                <a16:creationId xmlns:a16="http://schemas.microsoft.com/office/drawing/2014/main" id="{F07F972A-9529-1E30-1E91-D1B4340CF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1340" r="1017" b="2104"/>
          <a:stretch/>
        </p:blipFill>
        <p:spPr>
          <a:xfrm>
            <a:off x="536004" y="3294457"/>
            <a:ext cx="5431536" cy="3380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804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6B37-018B-106C-A77F-3E2AA070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0BCA-C6A2-4A70-0CE4-E5FF12DB7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880"/>
            <a:ext cx="10515600" cy="837248"/>
          </a:xfrm>
        </p:spPr>
        <p:txBody>
          <a:bodyPr>
            <a:normAutofit/>
          </a:bodyPr>
          <a:lstStyle/>
          <a:p>
            <a:r>
              <a:rPr lang="bg-BG" sz="4800" b="1" dirty="0"/>
              <a:t>Предизвикателства</a:t>
            </a:r>
            <a:endParaRPr lang="en-150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A4A7-05AE-4D74-4C1E-F81BC6789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7350760" cy="45110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Непостоянни условия на средата</a:t>
            </a:r>
          </a:p>
          <a:p>
            <a:pPr marL="0" indent="0">
              <a:buNone/>
            </a:pPr>
            <a:r>
              <a:rPr lang="ru-RU" dirty="0"/>
              <a:t>Промени в светлина, фон, ъгъл и шум затрудняват стабилността на модела.</a:t>
            </a:r>
          </a:p>
          <a:p>
            <a:pPr marL="0" indent="0">
              <a:buNone/>
            </a:pPr>
            <a:r>
              <a:rPr lang="ru-RU" b="1" dirty="0"/>
              <a:t>Вариации между различни хора</a:t>
            </a:r>
          </a:p>
          <a:p>
            <a:pPr marL="0" indent="0">
              <a:buNone/>
            </a:pPr>
            <a:r>
              <a:rPr lang="ru-RU" dirty="0"/>
              <a:t>Различни размери на ръцете, тон на кожата, индивидуален стил на жестовете.</a:t>
            </a:r>
          </a:p>
          <a:p>
            <a:pPr marL="0" indent="0">
              <a:buNone/>
            </a:pPr>
            <a:r>
              <a:rPr lang="ru-RU" b="1" dirty="0"/>
              <a:t>Недостатъчни и трудни за събиране тренировъчни данни</a:t>
            </a:r>
          </a:p>
          <a:p>
            <a:pPr marL="0" indent="0">
              <a:buNone/>
            </a:pPr>
            <a:r>
              <a:rPr lang="ru-RU" dirty="0"/>
              <a:t>Голяма нужда от анотирани видеа, особено за нови или редки жестове.</a:t>
            </a:r>
          </a:p>
          <a:p>
            <a:pPr marL="0" indent="0">
              <a:buNone/>
            </a:pPr>
            <a:r>
              <a:rPr lang="ru-RU" b="1" dirty="0"/>
              <a:t>Непрекъснат поток от движения</a:t>
            </a:r>
          </a:p>
          <a:p>
            <a:pPr marL="0" indent="0">
              <a:buNone/>
            </a:pPr>
            <a:r>
              <a:rPr lang="ru-RU" dirty="0"/>
              <a:t>Трудност при откриването на начало/край на жест и филтриране на случайни движения.</a:t>
            </a:r>
          </a:p>
          <a:p>
            <a:pPr marL="0" indent="0">
              <a:buNone/>
            </a:pPr>
            <a:r>
              <a:rPr lang="ru-RU" b="1" dirty="0"/>
              <a:t>Културни и контекстуални различия</a:t>
            </a:r>
          </a:p>
          <a:p>
            <a:pPr marL="0" indent="0">
              <a:buNone/>
            </a:pPr>
            <a:r>
              <a:rPr lang="ru-RU" dirty="0"/>
              <a:t>Жестовете имат различно значение в различни среди и региони.</a:t>
            </a:r>
          </a:p>
          <a:p>
            <a:pPr marL="0" indent="0">
              <a:buNone/>
            </a:pPr>
            <a:r>
              <a:rPr lang="ru-RU" b="1" dirty="0"/>
              <a:t>Ниска латентност</a:t>
            </a:r>
          </a:p>
          <a:p>
            <a:pPr marL="0" indent="0">
              <a:buNone/>
            </a:pPr>
            <a:r>
              <a:rPr lang="bg-BG" dirty="0"/>
              <a:t>П</a:t>
            </a:r>
            <a:r>
              <a:rPr lang="ru-RU" dirty="0"/>
              <a:t>риложения като AR/VR изискват под 30–50 ms забавяне.</a:t>
            </a:r>
            <a:endParaRPr lang="en-150" dirty="0"/>
          </a:p>
        </p:txBody>
      </p:sp>
      <p:pic>
        <p:nvPicPr>
          <p:cNvPr id="5" name="Picture 4" descr="A red triangle with a white exclamation mark&#10;&#10;AI-generated content may be incorrect.">
            <a:extLst>
              <a:ext uri="{FF2B5EF4-FFF2-40B4-BE49-F238E27FC236}">
                <a16:creationId xmlns:a16="http://schemas.microsoft.com/office/drawing/2014/main" id="{ED555334-0F81-C3CB-A222-51F0496E7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440" y="1764426"/>
            <a:ext cx="3154681" cy="3154681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8ABFFF-644C-F449-B6A6-0EBACB1E9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721" y="4490720"/>
            <a:ext cx="1209040" cy="1209040"/>
          </a:xfrm>
          <a:prstGeom prst="rect">
            <a:avLst/>
          </a:prstGeom>
        </p:spPr>
      </p:pic>
      <p:pic>
        <p:nvPicPr>
          <p:cNvPr id="9" name="Picture 8" descr="A black and white image of a person with a question mark&#10;&#10;AI-generated content may be incorrect.">
            <a:extLst>
              <a:ext uri="{FF2B5EF4-FFF2-40B4-BE49-F238E27FC236}">
                <a16:creationId xmlns:a16="http://schemas.microsoft.com/office/drawing/2014/main" id="{C292856D-C525-E557-E5DB-09D2912D1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660" y="2076689"/>
            <a:ext cx="1082380" cy="1082380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E7EE062-FB53-E736-4BFD-6AAEEB8A5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420" y="927178"/>
            <a:ext cx="1605121" cy="1605121"/>
          </a:xfrm>
          <a:prstGeom prst="rect">
            <a:avLst/>
          </a:prstGeom>
        </p:spPr>
      </p:pic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1B8E43-1A5D-763E-43B9-7444E48032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0" y="4919107"/>
            <a:ext cx="1209041" cy="120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33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1FA8-A3B8-6258-40DE-03062B80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5C34-F28E-D944-E7FD-F681069C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40"/>
            <a:ext cx="10515600" cy="857568"/>
          </a:xfrm>
        </p:spPr>
        <p:txBody>
          <a:bodyPr>
            <a:normAutofit/>
          </a:bodyPr>
          <a:lstStyle/>
          <a:p>
            <a:r>
              <a:rPr lang="bg-BG" sz="4800" b="1" dirty="0"/>
              <a:t>Тенденции</a:t>
            </a:r>
            <a:endParaRPr lang="en-150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47BC-803E-D881-E787-B78256BEC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480"/>
            <a:ext cx="7452360" cy="5049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On-device </a:t>
            </a:r>
            <a:r>
              <a:rPr lang="ru-RU" sz="1700" b="1" dirty="0"/>
              <a:t>AI</a:t>
            </a:r>
          </a:p>
          <a:p>
            <a:pPr marL="0" indent="0">
              <a:buNone/>
            </a:pPr>
            <a:r>
              <a:rPr lang="ru-RU" sz="1700" dirty="0"/>
              <a:t>Директна работа на мобилни устройства без интернет, с по-ниска латентност и подобрена поверителност.</a:t>
            </a:r>
          </a:p>
          <a:p>
            <a:pPr marL="0" indent="0">
              <a:buNone/>
            </a:pPr>
            <a:r>
              <a:rPr lang="ru-RU" sz="1700" b="1" dirty="0"/>
              <a:t>Оптимизация и компресия на модели</a:t>
            </a:r>
          </a:p>
          <a:p>
            <a:pPr marL="0" indent="0">
              <a:buNone/>
            </a:pPr>
            <a:r>
              <a:rPr lang="ru-RU" sz="1700" dirty="0"/>
              <a:t>Квантизация, pruning и леки архитектури за работа в реално време.</a:t>
            </a:r>
          </a:p>
          <a:p>
            <a:pPr marL="0" indent="0">
              <a:buNone/>
            </a:pPr>
            <a:r>
              <a:rPr lang="ru-RU" sz="1700" b="1" dirty="0"/>
              <a:t>Мултимодални системи</a:t>
            </a:r>
          </a:p>
          <a:p>
            <a:pPr marL="0" indent="0">
              <a:buNone/>
            </a:pPr>
            <a:r>
              <a:rPr lang="ru-RU" sz="1700" dirty="0"/>
              <a:t>Комбиниране на камера + звук + IMU/EMG сензори за по-висока точност.</a:t>
            </a:r>
          </a:p>
          <a:p>
            <a:pPr marL="0" indent="0">
              <a:buNone/>
            </a:pPr>
            <a:r>
              <a:rPr lang="ru-RU" sz="1700" b="1" dirty="0"/>
              <a:t>Демократизация на технологията</a:t>
            </a:r>
          </a:p>
          <a:p>
            <a:pPr marL="0" indent="0">
              <a:buNone/>
            </a:pPr>
            <a:r>
              <a:rPr lang="ru-RU" sz="1700" dirty="0"/>
              <a:t>Лесни за използване платформи като MediaPipe, TensorFlow Lite, Ope</a:t>
            </a:r>
            <a:r>
              <a:rPr lang="en-US" sz="1700" dirty="0" err="1"/>
              <a:t>nCV</a:t>
            </a:r>
            <a:r>
              <a:rPr lang="ru-RU" sz="1700" dirty="0"/>
              <a:t>, които позволяват</a:t>
            </a:r>
            <a:r>
              <a:rPr lang="en-US" sz="1700" dirty="0"/>
              <a:t> </a:t>
            </a:r>
            <a:r>
              <a:rPr lang="bg-BG" sz="1700" dirty="0"/>
              <a:t>лесно създаване на</a:t>
            </a:r>
            <a:r>
              <a:rPr lang="ru-RU" sz="1700" dirty="0"/>
              <a:t> жестови интерфейси.</a:t>
            </a:r>
          </a:p>
          <a:p>
            <a:pPr marL="0" indent="0">
              <a:buNone/>
            </a:pPr>
            <a:r>
              <a:rPr lang="ru-RU" sz="1700" b="1" dirty="0"/>
              <a:t>Използване на foundation модели за компютърно зрение</a:t>
            </a:r>
          </a:p>
          <a:p>
            <a:pPr marL="0" indent="0">
              <a:buNone/>
            </a:pPr>
            <a:r>
              <a:rPr lang="ru-RU" sz="1700" dirty="0"/>
              <a:t>Разпознаване без допълнително обучение (zero-shot</a:t>
            </a:r>
            <a:r>
              <a:rPr lang="en-US" sz="1700" dirty="0"/>
              <a:t>).</a:t>
            </a:r>
            <a:endParaRPr lang="ru-RU" sz="1700" dirty="0"/>
          </a:p>
        </p:txBody>
      </p:sp>
      <p:pic>
        <p:nvPicPr>
          <p:cNvPr id="5" name="Picture 4" descr="A cloud computing diagram with laptops&#10;&#10;AI-generated content may be incorrect.">
            <a:extLst>
              <a:ext uri="{FF2B5EF4-FFF2-40B4-BE49-F238E27FC236}">
                <a16:creationId xmlns:a16="http://schemas.microsoft.com/office/drawing/2014/main" id="{07928516-7A85-19D5-BA5B-D3FB7A5C9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0" y="523240"/>
            <a:ext cx="2240280" cy="2240280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0423349-44ED-A6DD-0A61-54DE27744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118" y="2918143"/>
            <a:ext cx="1462722" cy="1462722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11BB14-E7FA-9E5D-BEE4-082B9F3DD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118" y="2941320"/>
            <a:ext cx="3245815" cy="324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2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6537-C5B9-1F6F-C81A-41177B4E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4E97-0617-43DE-B90C-7C324B2D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800" b="1" dirty="0"/>
              <a:t>Практическо приложение</a:t>
            </a:r>
            <a:endParaRPr lang="en-150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1FAD-C2E7-148B-C4B3-E90211A53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bg-BG" dirty="0"/>
              <a:t>Безконтактно управление на операционна система чрез компютърно зрение и разпознаване на жестове</a:t>
            </a:r>
          </a:p>
          <a:p>
            <a:r>
              <a:rPr lang="en-US" dirty="0"/>
              <a:t>Google MediaPipe Hands – </a:t>
            </a:r>
            <a:r>
              <a:rPr lang="bg-BG" dirty="0"/>
              <a:t>обучена дълбока невронна мрежа за жестово разпознаване в реално време</a:t>
            </a:r>
            <a:endParaRPr lang="en-150" dirty="0"/>
          </a:p>
        </p:txBody>
      </p:sp>
      <p:pic>
        <p:nvPicPr>
          <p:cNvPr id="10" name="Picture 9" descr="A hand with red dots and green lines&#10;&#10;AI-generated content may be incorrect.">
            <a:extLst>
              <a:ext uri="{FF2B5EF4-FFF2-40B4-BE49-F238E27FC236}">
                <a16:creationId xmlns:a16="http://schemas.microsoft.com/office/drawing/2014/main" id="{F1B6A4AC-1584-2157-C592-9C6E06887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260" y="3657600"/>
            <a:ext cx="3169920" cy="2886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DFC9F2-57C0-A67C-7B96-F1499B6C3D3A}"/>
              </a:ext>
            </a:extLst>
          </p:cNvPr>
          <p:cNvSpPr/>
          <p:nvPr/>
        </p:nvSpPr>
        <p:spPr>
          <a:xfrm>
            <a:off x="2781300" y="4114800"/>
            <a:ext cx="2171701" cy="914400"/>
          </a:xfrm>
          <a:prstGeom prst="roundRect">
            <a:avLst/>
          </a:prstGeom>
          <a:noFill/>
          <a:ln w="76200">
            <a:solidFill>
              <a:srgbClr val="E64823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findPosition()</a:t>
            </a:r>
            <a:endParaRPr lang="en-150" sz="2400" b="1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928338-C3A3-D34A-D1D1-E66ACF54CBC0}"/>
              </a:ext>
            </a:extLst>
          </p:cNvPr>
          <p:cNvSpPr/>
          <p:nvPr/>
        </p:nvSpPr>
        <p:spPr>
          <a:xfrm>
            <a:off x="464820" y="4114800"/>
            <a:ext cx="2171701" cy="914400"/>
          </a:xfrm>
          <a:prstGeom prst="roundRect">
            <a:avLst/>
          </a:prstGeom>
          <a:noFill/>
          <a:ln w="76200">
            <a:solidFill>
              <a:srgbClr val="E64823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findHands()</a:t>
            </a:r>
            <a:endParaRPr lang="en-150" sz="2400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7C47C4-80B6-75E9-2BA5-C86B7B988DA0}"/>
              </a:ext>
            </a:extLst>
          </p:cNvPr>
          <p:cNvSpPr/>
          <p:nvPr/>
        </p:nvSpPr>
        <p:spPr>
          <a:xfrm>
            <a:off x="5097780" y="4114800"/>
            <a:ext cx="3169920" cy="914400"/>
          </a:xfrm>
          <a:prstGeom prst="roundRect">
            <a:avLst/>
          </a:prstGeom>
          <a:noFill/>
          <a:ln w="76200">
            <a:solidFill>
              <a:srgbClr val="E64823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findDistance(p1,p2)</a:t>
            </a:r>
            <a:endParaRPr lang="en-150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68B2-B9C3-CFAA-CE9E-AD120108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5549-1A84-BF06-7D39-262CBAE8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800" b="1" dirty="0"/>
              <a:t>Практическо приложение</a:t>
            </a:r>
            <a:endParaRPr lang="en-150" sz="48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9EBD0E-E36C-5306-5BEF-DAD493764264}"/>
              </a:ext>
            </a:extLst>
          </p:cNvPr>
          <p:cNvSpPr/>
          <p:nvPr/>
        </p:nvSpPr>
        <p:spPr>
          <a:xfrm>
            <a:off x="838200" y="1528475"/>
            <a:ext cx="6648451" cy="2129125"/>
          </a:xfrm>
          <a:prstGeom prst="roundRect">
            <a:avLst/>
          </a:prstGeom>
          <a:noFill/>
          <a:ln w="76200">
            <a:solidFill>
              <a:srgbClr val="E64823"/>
            </a:solidFill>
          </a:ln>
          <a:effectLst>
            <a:reflection blurRad="50800" stA="48000" endPos="11000" dist="127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noProof="1">
                <a:solidFill>
                  <a:schemeClr val="tx1"/>
                </a:solidFill>
              </a:rPr>
              <a:t> self.mpHands = mp.solutions.hands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    self.hands = self.mpHands.Hands(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        static_image_mode=self.mode,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        max_num_hands=self.maxHands,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        min_detection_confidence=self.detectionCon,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        min_tracking_confidence=self.trackCon)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B57742-C061-1BEF-2599-C531255AF33A}"/>
              </a:ext>
            </a:extLst>
          </p:cNvPr>
          <p:cNvSpPr/>
          <p:nvPr/>
        </p:nvSpPr>
        <p:spPr>
          <a:xfrm>
            <a:off x="838200" y="4158168"/>
            <a:ext cx="6648451" cy="1325563"/>
          </a:xfrm>
          <a:prstGeom prst="roundRect">
            <a:avLst/>
          </a:prstGeom>
          <a:noFill/>
          <a:ln w="76200">
            <a:solidFill>
              <a:srgbClr val="E64823"/>
            </a:solidFill>
          </a:ln>
          <a:effectLst>
            <a:reflection blurRad="50800" stA="48000" endPos="25000" dist="127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noProof="1">
                <a:solidFill>
                  <a:schemeClr val="tx1"/>
                </a:solidFill>
              </a:rPr>
              <a:t>def press_key(vk_code):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user32.keybd_event(vk_code, 0, 0, 0)  # key down</a:t>
            </a:r>
          </a:p>
          <a:p>
            <a:pPr algn="just"/>
            <a:r>
              <a:rPr lang="en-US" b="1" noProof="1">
                <a:solidFill>
                  <a:schemeClr val="tx1"/>
                </a:solidFill>
              </a:rPr>
              <a:t>    user32.keybd_event(vk_code, 0, 2, 0) </a:t>
            </a:r>
          </a:p>
        </p:txBody>
      </p:sp>
      <p:pic>
        <p:nvPicPr>
          <p:cNvPr id="8" name="Picture 7" descr="A logo of a microsoft company&#10;&#10;AI-generated content may be incorrect.">
            <a:extLst>
              <a:ext uri="{FF2B5EF4-FFF2-40B4-BE49-F238E27FC236}">
                <a16:creationId xmlns:a16="http://schemas.microsoft.com/office/drawing/2014/main" id="{E2FD4509-F815-49F1-1809-602CD28D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3" t="2597" r="20758" b="8857"/>
          <a:stretch/>
        </p:blipFill>
        <p:spPr>
          <a:xfrm>
            <a:off x="8293025" y="1528475"/>
            <a:ext cx="1492366" cy="1458565"/>
          </a:xfrm>
          <a:prstGeom prst="rect">
            <a:avLst/>
          </a:prstGeom>
        </p:spPr>
      </p:pic>
      <p:pic>
        <p:nvPicPr>
          <p:cNvPr id="11" name="Picture 10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D190541B-3248-6F5C-732F-CC2DC8333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024" y="2987040"/>
            <a:ext cx="1458565" cy="1458565"/>
          </a:xfrm>
          <a:prstGeom prst="rect">
            <a:avLst/>
          </a:prstGeom>
        </p:spPr>
      </p:pic>
      <p:pic>
        <p:nvPicPr>
          <p:cNvPr id="14" name="Picture 1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37F07BAF-84DC-502C-C2A5-DBEBE138F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361" y="4468427"/>
            <a:ext cx="1179421" cy="11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2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03860-AA4E-A86A-A0CA-8550969A9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demo-recording">
            <a:hlinkClick r:id="" action="ppaction://media"/>
            <a:extLst>
              <a:ext uri="{FF2B5EF4-FFF2-40B4-BE49-F238E27FC236}">
                <a16:creationId xmlns:a16="http://schemas.microsoft.com/office/drawing/2014/main" id="{195F6837-5A97-D2AC-0DAA-68CD900E2A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046" y="467110"/>
            <a:ext cx="10758492" cy="605164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7157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20000" mute="1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BBC09-7015-6DC8-C73C-41CED75F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F8529-A5B7-EC25-A491-EAB8ED6F9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bg-BG" sz="4800" b="1" dirty="0"/>
              <a:t>Заключение</a:t>
            </a:r>
            <a:endParaRPr lang="en-150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5912-7433-F257-0C16-6BAE9F97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92" y="1650946"/>
            <a:ext cx="6272718" cy="479532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Разпознаването на жестове е преминало от ръчни алгоритми към </a:t>
            </a:r>
            <a:r>
              <a:rPr lang="ru-RU" b="1" dirty="0"/>
              <a:t>deep learning </a:t>
            </a:r>
            <a:r>
              <a:rPr lang="ru-RU" dirty="0"/>
              <a:t>модели, които работят в реално време.</a:t>
            </a:r>
          </a:p>
          <a:p>
            <a:r>
              <a:rPr lang="ru-RU" dirty="0"/>
              <a:t>По-бързи, по-точни и оптимизирани за </a:t>
            </a:r>
            <a:r>
              <a:rPr lang="ru-RU" b="1" dirty="0"/>
              <a:t>мобилни устройства </a:t>
            </a:r>
            <a:r>
              <a:rPr lang="ru-RU" dirty="0"/>
              <a:t>системи.</a:t>
            </a:r>
          </a:p>
          <a:p>
            <a:r>
              <a:rPr lang="ru-RU" b="1" dirty="0"/>
              <a:t>MediaPipe</a:t>
            </a:r>
            <a:r>
              <a:rPr lang="ru-RU" dirty="0"/>
              <a:t> и подобни технологии - бърза разработка на практични приложения.</a:t>
            </a:r>
          </a:p>
          <a:p>
            <a:r>
              <a:rPr lang="ru-RU" dirty="0"/>
              <a:t>Естествен интерфейс за </a:t>
            </a:r>
            <a:r>
              <a:rPr lang="ru-RU" b="1" dirty="0"/>
              <a:t>взаимодействие</a:t>
            </a:r>
            <a:r>
              <a:rPr lang="ru-RU" dirty="0"/>
              <a:t> между човек и машина, особено в AR/VR, автомобилостроене, медицина и достъпност.</a:t>
            </a:r>
          </a:p>
          <a:p>
            <a:r>
              <a:rPr lang="ru-RU" dirty="0"/>
              <a:t>Очаква се бъдещето да бъде определяно от </a:t>
            </a:r>
            <a:r>
              <a:rPr lang="ru-RU" b="1" dirty="0"/>
              <a:t>foundation</a:t>
            </a:r>
            <a:r>
              <a:rPr lang="ru-RU" dirty="0"/>
              <a:t> модели, нови типове </a:t>
            </a:r>
            <a:r>
              <a:rPr lang="ru-RU" b="1" dirty="0"/>
              <a:t>сензори</a:t>
            </a:r>
            <a:r>
              <a:rPr lang="ru-RU" dirty="0"/>
              <a:t> и по-дълбока </a:t>
            </a:r>
            <a:r>
              <a:rPr lang="ru-RU" b="1" dirty="0"/>
              <a:t>интеграция</a:t>
            </a:r>
            <a:r>
              <a:rPr lang="ru-RU" dirty="0"/>
              <a:t> между AI и реалния свят.</a:t>
            </a:r>
            <a:endParaRPr lang="en-150" dirty="0"/>
          </a:p>
        </p:txBody>
      </p:sp>
      <p:pic>
        <p:nvPicPr>
          <p:cNvPr id="7" name="Picture 6" descr="A handshake with a blue and yellow hand&#10;&#10;AI-generated content may be incorrect.">
            <a:extLst>
              <a:ext uri="{FF2B5EF4-FFF2-40B4-BE49-F238E27FC236}">
                <a16:creationId xmlns:a16="http://schemas.microsoft.com/office/drawing/2014/main" id="{8072D762-C75E-31F5-57B0-A906552E7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5" t="-814" r="23904" b="14610"/>
          <a:stretch/>
        </p:blipFill>
        <p:spPr>
          <a:xfrm>
            <a:off x="7189551" y="1285987"/>
            <a:ext cx="4386904" cy="479532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4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761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615BA-02C6-60DE-B95B-8DC1F567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440" y="3310593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Благодаря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за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вниманието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906501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Celestial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1081</Words>
  <Application>Microsoft Office PowerPoint</Application>
  <PresentationFormat>Widescreen</PresentationFormat>
  <Paragraphs>169</Paragraphs>
  <Slides>21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Courier New</vt:lpstr>
      <vt:lpstr>ShapesVTI</vt:lpstr>
      <vt:lpstr>ИИ – базирани похвати за жестово разпознаване</vt:lpstr>
      <vt:lpstr>Съдържание</vt:lpstr>
      <vt:lpstr>Въведение</vt:lpstr>
      <vt:lpstr>Въведение</vt:lpstr>
      <vt:lpstr>Жестове</vt:lpstr>
      <vt:lpstr>Жестове – извличане</vt:lpstr>
      <vt:lpstr>Машинно обучение</vt:lpstr>
      <vt:lpstr>Извличане на данни</vt:lpstr>
      <vt:lpstr>Класификация</vt:lpstr>
      <vt:lpstr>Deep Learning подходи</vt:lpstr>
      <vt:lpstr>Pose Estimation</vt:lpstr>
      <vt:lpstr>Съвременни системи</vt:lpstr>
      <vt:lpstr>Съвременни системи</vt:lpstr>
      <vt:lpstr>Съвременни системи</vt:lpstr>
      <vt:lpstr>Предизвикателства</vt:lpstr>
      <vt:lpstr>Тенденции</vt:lpstr>
      <vt:lpstr>Практическо приложение</vt:lpstr>
      <vt:lpstr>Практическо приложение</vt:lpstr>
      <vt:lpstr>PowerPoint Presentation</vt:lpstr>
      <vt:lpstr>Заключение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Stoycheva</dc:creator>
  <cp:lastModifiedBy>Teodora Stoycheva</cp:lastModifiedBy>
  <cp:revision>78</cp:revision>
  <dcterms:created xsi:type="dcterms:W3CDTF">2025-12-03T09:16:25Z</dcterms:created>
  <dcterms:modified xsi:type="dcterms:W3CDTF">2025-12-03T23:42:30Z</dcterms:modified>
</cp:coreProperties>
</file>
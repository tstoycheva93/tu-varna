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4"/>
  </p:sldMasterIdLst>
  <p:notesMasterIdLst>
    <p:notesMasterId r:id="rId38"/>
  </p:notesMasterIdLst>
  <p:handoutMasterIdLst>
    <p:handoutMasterId r:id="rId39"/>
  </p:handoutMasterIdLst>
  <p:sldIdLst>
    <p:sldId id="256" r:id="rId5"/>
    <p:sldId id="258" r:id="rId6"/>
    <p:sldId id="259" r:id="rId7"/>
    <p:sldId id="311" r:id="rId8"/>
    <p:sldId id="261" r:id="rId9"/>
    <p:sldId id="324" r:id="rId10"/>
    <p:sldId id="263" r:id="rId11"/>
    <p:sldId id="264" r:id="rId12"/>
    <p:sldId id="265" r:id="rId13"/>
    <p:sldId id="295" r:id="rId14"/>
    <p:sldId id="266" r:id="rId15"/>
    <p:sldId id="267" r:id="rId16"/>
    <p:sldId id="268" r:id="rId17"/>
    <p:sldId id="296" r:id="rId18"/>
    <p:sldId id="325" r:id="rId19"/>
    <p:sldId id="297" r:id="rId20"/>
    <p:sldId id="326" r:id="rId21"/>
    <p:sldId id="269" r:id="rId22"/>
    <p:sldId id="272" r:id="rId23"/>
    <p:sldId id="299" r:id="rId24"/>
    <p:sldId id="271" r:id="rId25"/>
    <p:sldId id="327" r:id="rId26"/>
    <p:sldId id="328" r:id="rId27"/>
    <p:sldId id="329" r:id="rId28"/>
    <p:sldId id="330" r:id="rId29"/>
    <p:sldId id="331" r:id="rId30"/>
    <p:sldId id="274" r:id="rId31"/>
    <p:sldId id="332" r:id="rId32"/>
    <p:sldId id="333" r:id="rId33"/>
    <p:sldId id="334" r:id="rId34"/>
    <p:sldId id="273" r:id="rId35"/>
    <p:sldId id="318" r:id="rId36"/>
    <p:sldId id="320" r:id="rId37"/>
  </p:sldIdLst>
  <p:sldSz cx="12192000" cy="6858000"/>
  <p:notesSz cx="6954838" cy="93091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76540" autoAdjust="0"/>
  </p:normalViewPr>
  <p:slideViewPr>
    <p:cSldViewPr snapToGrid="0">
      <p:cViewPr varScale="1">
        <p:scale>
          <a:sx n="62" d="100"/>
          <a:sy n="62" d="100"/>
        </p:scale>
        <p:origin x="143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23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7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2DAF501-497E-4319-B484-C5A85BB3EFD3}" type="datetimeFigureOut">
              <a:rPr lang="bg-BG" smtClean="0"/>
              <a:t>3.11.2023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7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35249C7-B5B2-4541-A187-B12F42083CB5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7324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7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2A934B3-15CF-49D7-9C90-2FBDF446DA56}" type="datetimeFigureOut">
              <a:rPr lang="bg-BG" smtClean="0"/>
              <a:t>3.11.2023 г.</a:t>
            </a:fld>
            <a:endParaRPr lang="bg-B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63638"/>
            <a:ext cx="5586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bg-B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5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7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617F9B7-5110-4225-A395-C002DCB96977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7276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baseline="0" dirty="0"/>
              <a:t>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44478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61992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65832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15215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10823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7178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bg-BG" altLang="bg-BG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06913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0014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579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94622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71731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44923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24618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9305">
              <a:defRPr/>
            </a:pP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20302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9305">
              <a:defRPr/>
            </a:pP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45280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55371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18949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60298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48209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127589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61065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2440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66B-2F7D-4199-A5CF-D1399F06B5CC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3164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F8BD3-AC58-47F1-B591-69906B5D74CE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1844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6564442-4F9C-4117-9AC9-3C912B6DAF6E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bg-BG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454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2E6C9-D462-4DF8-8A5B-084EF99FCB92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60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004C-1449-4E25-B641-5BE18784B024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890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1725-AB21-4845-BE49-CE8C42164743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353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940C-92A6-42D4-A0AE-8AE229120CFF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30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04CA-5B7E-4437-926E-A34999B7E6C0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8340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FBA-50AA-4558-ADC7-8C8BF6C03621}" type="datetime1">
              <a:rPr lang="bg-BG" smtClean="0"/>
              <a:t>3.11.2023 г.</a:t>
            </a:fld>
            <a:endParaRPr lang="bg-BG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8754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01CF-14B7-42BE-8693-1C6A365ED97B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275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A9374-CC8C-4027-8C9C-D37ED427A6AE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9953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C22829-1A03-43BA-AD1C-84AE46C99B1D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bg-BG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3482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4189" y="971490"/>
            <a:ext cx="10507579" cy="3957924"/>
          </a:xfrm>
        </p:spPr>
        <p:txBody>
          <a:bodyPr/>
          <a:lstStyle/>
          <a:p>
            <a:pPr algn="ctr"/>
            <a:r>
              <a:rPr lang="bg-BG" sz="5000" b="1" i="1" dirty="0"/>
              <a:t>Симплекс метод за решаване на линеен оптимизационен модел</a:t>
            </a:r>
            <a:endParaRPr lang="ru-RU" altLang="bg-BG" sz="5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3229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311402"/>
            <a:ext cx="10029371" cy="6336139"/>
          </a:xfrm>
        </p:spPr>
        <p:txBody>
          <a:bodyPr>
            <a:no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През 1947 г. Джордж Данциг създават изчислителната схема на симплекс метода, с който разрешава проблема за рационалното проверяване на базисните решения в задачите на линейното програмиране, за което получава Нобелова награда по икономика.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Областта на допустимите решения на един линеен оптимизационен модел е многостен. Симплекс метода е процедура, при която се изследват целенасочено върховете на този многостен и притежава следните характеристики: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Универсалност;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Приложим е за всеки линеен оптимизационен модел, независимо от неговите конкретни особености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36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31999" y="508000"/>
            <a:ext cx="9913257" cy="5849257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Алгоритмичност и итеративност;</a:t>
            </a:r>
          </a:p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bg-BG" sz="2400" dirty="0"/>
              <a:t>Реализира се като последователност от отделни стъпки (итерации), които са краен брой;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Точност;</a:t>
            </a:r>
          </a:p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bg-BG" sz="2400" dirty="0"/>
              <a:t>Ако съществува оптимално решение се достига теоретически с абсолютна точност.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Пълнота;</a:t>
            </a:r>
          </a:p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bg-BG" sz="2400" dirty="0"/>
              <a:t>Чрез симплекс метода се разкриват всички особености на модела (неразрешимост и причини за това, наличие на алтернативен оптимум и неговия вид).</a:t>
            </a:r>
          </a:p>
          <a:p>
            <a:pPr marL="0" lvl="0" indent="0" algn="just">
              <a:lnSpc>
                <a:spcPct val="150000"/>
              </a:lnSpc>
              <a:buNone/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5331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4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32000" y="428296"/>
            <a:ext cx="9949924" cy="61466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536575" algn="just">
              <a:lnSpc>
                <a:spcPct val="150000"/>
              </a:lnSpc>
            </a:pPr>
            <a:r>
              <a:rPr lang="bg-BG" sz="2400" dirty="0"/>
              <a:t>При симплекс метода се изучават аналитично върховете на многостена, като за целта се използва стандартна форма на модела и се изследват нейните допустими базисни решения. Алгоритъмът на метода започва от конкретен връх – начален или изходен план. Проверява се дали началния план е оптимален. Ако плана е оптимален, работата приключва и се извежда оптималното решение. Ако плана не е оптимален се изследва възможността за подобряване на плана (преминаване към по-добър план). Трябва да се даде отговор на въпроса дали целевата функция е ограничена или неограничена.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73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331666"/>
            <a:ext cx="9927772" cy="6522705"/>
          </a:xfrm>
        </p:spPr>
        <p:txBody>
          <a:bodyPr>
            <a:noAutofit/>
          </a:bodyPr>
          <a:lstStyle/>
          <a:p>
            <a:pPr indent="536575" algn="just">
              <a:lnSpc>
                <a:spcPct val="150000"/>
              </a:lnSpc>
            </a:pPr>
            <a:r>
              <a:rPr lang="bg-BG" sz="2400" dirty="0"/>
              <a:t>Ако целевата функция е неограничена, моделът е неразрешим и процедурата завършва. Ако целевата функция е ограничена за изходния план (началния връх) се осъществява преход към съседен връх, в който целевата функция има по-добра (по-голяма или по-малка в зависимост от оптимума) стойност. За този връх се повтаря същата процедура и т.н. 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altLang="bg-BG" sz="2400" dirty="0">
                <a:sym typeface="Symbol" panose="05050102010706020507" pitchFamily="18" charset="2"/>
              </a:rPr>
              <a:t>Работата при решаване на д</a:t>
            </a:r>
            <a:r>
              <a:rPr lang="bg-BG" altLang="bg-BG" sz="2400" dirty="0">
                <a:cs typeface="Calibri" panose="020F0502020204030204" pitchFamily="34" charset="0"/>
              </a:rPr>
              <a:t>аден линеен оптимизационен модел приключва с достигане до оптимален план или с установяване неразрешимостта на модела. Не съществува способ за предварително определяне точния брой на необходимите процедури. </a:t>
            </a:r>
          </a:p>
          <a:p>
            <a:pPr algn="just"/>
            <a:endParaRPr lang="bg-B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5</a:t>
            </a:fld>
            <a:endParaRPr lang="bg-BG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228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kumimoji="0" lang="bg-BG" altLang="bg-BG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0" y="114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11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6</a:t>
            </a:fld>
            <a:endParaRPr lang="bg-BG" dirty="0"/>
          </a:p>
        </p:txBody>
      </p:sp>
      <p:sp>
        <p:nvSpPr>
          <p:cNvPr id="5" name="Oval 4"/>
          <p:cNvSpPr/>
          <p:nvPr/>
        </p:nvSpPr>
        <p:spPr>
          <a:xfrm>
            <a:off x="4241993" y="115162"/>
            <a:ext cx="2514600" cy="5334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/>
              <a:t>Начало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455749" y="648562"/>
            <a:ext cx="0" cy="2520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9816" y="917078"/>
            <a:ext cx="6357258" cy="707886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Определяне на начално допустимо базисно решение</a:t>
            </a:r>
          </a:p>
          <a:p>
            <a:pPr algn="ctr"/>
            <a:r>
              <a:rPr lang="bg-BG" sz="2000" dirty="0"/>
              <a:t>/построяване на начален план/</a:t>
            </a:r>
            <a:endParaRPr lang="bg-BG" sz="12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488397" y="1548100"/>
            <a:ext cx="0" cy="4680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Decision 8"/>
          <p:cNvSpPr/>
          <p:nvPr/>
        </p:nvSpPr>
        <p:spPr>
          <a:xfrm>
            <a:off x="3479983" y="2014233"/>
            <a:ext cx="4038600" cy="1267879"/>
          </a:xfrm>
          <a:prstGeom prst="flowChartDecision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/>
              <a:t>Планът е оптимален? </a:t>
            </a:r>
            <a:endParaRPr lang="bg-BG" sz="12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499283" y="3238808"/>
            <a:ext cx="0" cy="37011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12839" y="5249825"/>
            <a:ext cx="3396344" cy="707886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Преминаване към подобрен план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991" y="2371801"/>
            <a:ext cx="2939143" cy="707886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Извеждане на оптималното решение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994639" y="3085989"/>
            <a:ext cx="0" cy="19440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>
            <a:off x="7964905" y="2181456"/>
            <a:ext cx="0" cy="9144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043078" y="1738954"/>
            <a:ext cx="3456000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750343" y="5063017"/>
            <a:ext cx="2514600" cy="5334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/>
              <a:t>Край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6823" y="3207574"/>
            <a:ext cx="664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НЕ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2242" y="2223073"/>
            <a:ext cx="664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702" y="6418378"/>
            <a:ext cx="10914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Фигура 1. Схема на основните етапи на алгоритъма на симплекс метода</a:t>
            </a:r>
          </a:p>
        </p:txBody>
      </p:sp>
      <p:sp>
        <p:nvSpPr>
          <p:cNvPr id="22" name="Flowchart: Decision 21"/>
          <p:cNvSpPr/>
          <p:nvPr/>
        </p:nvSpPr>
        <p:spPr>
          <a:xfrm>
            <a:off x="3479983" y="3608667"/>
            <a:ext cx="4038600" cy="1298130"/>
          </a:xfrm>
          <a:prstGeom prst="flowChartDecision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100"/>
              </a:lnSpc>
            </a:pPr>
            <a:r>
              <a:rPr lang="bg-BG" sz="2000" dirty="0"/>
              <a:t>Целевата функция е неограничена? </a:t>
            </a:r>
            <a:endParaRPr lang="bg-BG" sz="1200" dirty="0"/>
          </a:p>
        </p:txBody>
      </p:sp>
      <p:cxnSp>
        <p:nvCxnSpPr>
          <p:cNvPr id="23" name="Straight Arrow Connector 22"/>
          <p:cNvCxnSpPr/>
          <p:nvPr/>
        </p:nvCxnSpPr>
        <p:spPr>
          <a:xfrm rot="16200000">
            <a:off x="8749705" y="3024705"/>
            <a:ext cx="0" cy="24840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03994" y="4824990"/>
            <a:ext cx="664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НЕ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499283" y="4879711"/>
            <a:ext cx="0" cy="37011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998990" y="6175321"/>
            <a:ext cx="3524400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511011" y="5925505"/>
            <a:ext cx="0" cy="252000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-156408" y="3952954"/>
            <a:ext cx="4428000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97360" y="3857622"/>
            <a:ext cx="664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ДА</a:t>
            </a:r>
          </a:p>
        </p:txBody>
      </p:sp>
    </p:spTree>
    <p:extLst>
      <p:ext uri="{BB962C8B-B14F-4D97-AF65-F5344CB8AC3E}">
        <p14:creationId xmlns:p14="http://schemas.microsoft.com/office/powerpoint/2010/main" val="626784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657" y="0"/>
            <a:ext cx="9811657" cy="6573844"/>
          </a:xfrm>
        </p:spPr>
        <p:txBody>
          <a:bodyPr>
            <a:no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Симплекс методът изследва стандартната форма на линейния оптимизационен модел. Един линеен оптимизационен модел е в стандартна форма, ако ограниченията му са уравнения с неотрицателни десни страни и неотрицателни променливи. За да стартира, симплекс метода изисква да разполагаме с начален връх на многостена (начален план на модела).  Началният връх на многостена се осигурява с помощта на симплекс-каноничната форма.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Ако система линейни уравнения от стандартна форма на модела е в каноничен вид (всяко уравнение съдържа единична базисна променлива), ще казваме, че линейният оптимизационен модел е в симплекс-канонична форма.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4196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0"/>
            <a:ext cx="10029368" cy="6858000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Ако един ЛОМ е в симплекс-канонична форма, съответното базисно решение е допустимо, защото по предположение десните страни са неотрицателни. Тогава е налице начален връх на многостена (начален план на модела). 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Съществуват два случая: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Стандартната форма е едновременно с това и симплекс-канонична форма т.е. във всяко от получените уравнения фигурира единична базисна променлива. </a:t>
            </a:r>
            <a:r>
              <a:rPr lang="bg-BG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(Симплекс метод със собствен базис)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Стандартната форма не е симплекс-канонична форма т.е. след стандартизиране на модела съществуват уравнения без единична базисна променлива. </a:t>
            </a:r>
            <a:r>
              <a:rPr lang="bg-BG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(Симплекс метод с изкуствен базис)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endParaRPr lang="bg-BG" sz="2400" dirty="0"/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4568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9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814285" y="134779"/>
            <a:ext cx="1031965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dirty="0"/>
              <a:t>Практиката показва, че за болшинството от приложните задачи симплекс методът позволява намирането на оптимално решение за малък брой стъпки.</a:t>
            </a:r>
          </a:p>
          <a:p>
            <a:pPr indent="536575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dirty="0"/>
              <a:t>За да бъде приложен симплекс методът е необходимо предварително да бъдат изпълнени следните етапи:</a:t>
            </a:r>
          </a:p>
          <a:p>
            <a:pPr marL="457200" lvl="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bg-BG" sz="2400" dirty="0"/>
              <a:t>Свободните членове на ограничителните условия да са неотрицателни, в противен случай съответните условия се умножават с (-1).</a:t>
            </a:r>
          </a:p>
          <a:p>
            <a:pPr marL="457200" lvl="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bg-BG" sz="2400" dirty="0"/>
              <a:t>Всички ограниителни условия да са равенства и всички променливи да имат условия за неотрицателност.</a:t>
            </a:r>
            <a:r>
              <a:rPr lang="ru-RU" sz="2400" dirty="0"/>
              <a:t> </a:t>
            </a:r>
          </a:p>
          <a:p>
            <a:pPr marL="457200" lvl="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bg-BG" sz="2400" dirty="0"/>
              <a:t>Всяко уравнение съдържа неизвестна с коефициент 1, която липсва в останалите уравнения.</a:t>
            </a:r>
          </a:p>
        </p:txBody>
      </p:sp>
    </p:spTree>
    <p:extLst>
      <p:ext uri="{BB962C8B-B14F-4D97-AF65-F5344CB8AC3E}">
        <p14:creationId xmlns:p14="http://schemas.microsoft.com/office/powerpoint/2010/main" val="2949907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10</a:t>
            </a:fld>
            <a:endParaRPr lang="bg-BG" dirty="0"/>
          </a:p>
        </p:txBody>
      </p:sp>
      <p:sp>
        <p:nvSpPr>
          <p:cNvPr id="7" name="AutoShape 2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067050" y="-90488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11" name="AutoShape 6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371850" y="214312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0" y="752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41177" y="323849"/>
            <a:ext cx="981165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 startAt="4"/>
            </a:pPr>
            <a:r>
              <a:rPr lang="bg-BG" sz="2400" dirty="0"/>
              <a:t>Определяне на начално допустимо базисно решение на задачата.</a:t>
            </a:r>
          </a:p>
          <a:p>
            <a:pPr indent="536575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dirty="0"/>
              <a:t>Всяка задача на линейното програмиране може да бъде приведена към каноничен модел, където се минимизира (максимизира) целева функция с линейни ограничения от тип равенства. Тъй като броя на променливите </a:t>
            </a:r>
            <a:r>
              <a:rPr lang="en-US" sz="2400" dirty="0"/>
              <a:t>n</a:t>
            </a:r>
            <a:r>
              <a:rPr lang="bg-BG" sz="2400" dirty="0"/>
              <a:t> в задачите на линейното програмиране е по-голям от броя на ограниченията </a:t>
            </a:r>
            <a:r>
              <a:rPr lang="en-US" sz="2400" dirty="0"/>
              <a:t>m</a:t>
            </a:r>
            <a:r>
              <a:rPr lang="bg-BG" sz="2400" dirty="0"/>
              <a:t> (</a:t>
            </a:r>
            <a:r>
              <a:rPr lang="en-US" sz="2400" dirty="0"/>
              <a:t>n</a:t>
            </a:r>
            <a:r>
              <a:rPr lang="bg-BG" sz="2400" dirty="0"/>
              <a:t> &gt; </a:t>
            </a:r>
            <a:r>
              <a:rPr lang="en-US" sz="2400" dirty="0"/>
              <a:t>m</a:t>
            </a:r>
            <a:r>
              <a:rPr lang="bg-BG" sz="2400" dirty="0"/>
              <a:t>), то за получаване на  начално решение (</a:t>
            </a:r>
            <a:r>
              <a:rPr lang="en-US" sz="2400" dirty="0"/>
              <a:t>n</a:t>
            </a:r>
            <a:r>
              <a:rPr lang="bg-BG" sz="2400" dirty="0"/>
              <a:t>-</a:t>
            </a:r>
            <a:r>
              <a:rPr lang="en-US" sz="2400" dirty="0"/>
              <a:t>m</a:t>
            </a:r>
            <a:r>
              <a:rPr lang="bg-BG" sz="2400" dirty="0"/>
              <a:t>) на брой променливи могат да се приравнят на 0 (свободни променливи). Останалите </a:t>
            </a:r>
            <a:r>
              <a:rPr lang="en-US" sz="2400" dirty="0"/>
              <a:t>m</a:t>
            </a:r>
            <a:r>
              <a:rPr lang="bg-BG" sz="2400" dirty="0"/>
              <a:t> на брой променливи се наричат базисни и лесно могат да бъдат определени от системата ограничения от тип равенства. Ако решението съществува, то се нарича базисно. </a:t>
            </a:r>
          </a:p>
        </p:txBody>
      </p:sp>
    </p:spTree>
    <p:extLst>
      <p:ext uri="{BB962C8B-B14F-4D97-AF65-F5344CB8AC3E}">
        <p14:creationId xmlns:p14="http://schemas.microsoft.com/office/powerpoint/2010/main" val="141717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11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903664" y="0"/>
            <a:ext cx="10020370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</p:txBody>
      </p:sp>
      <p:sp>
        <p:nvSpPr>
          <p:cNvPr id="6" name="Rectangle 5"/>
          <p:cNvSpPr/>
          <p:nvPr/>
        </p:nvSpPr>
        <p:spPr>
          <a:xfrm>
            <a:off x="1903664" y="228600"/>
            <a:ext cx="10160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dirty="0"/>
              <a:t>При търсене на оптимално решение на задачите на линейното програмиране е достатъчно да се изчисли целевата функция за всеки от върховете и да се избере онзи връх, за който стойността на целевата функция е оптимална (т.е. да се претърсят всички базисни решения). Тъй като свободните променливи могат да се избират произволно, то броят на вариантите е: 			</a:t>
            </a:r>
          </a:p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400" dirty="0"/>
              <a:t>и той може е много голям, ако n и m са големи числа. Това, че някои базисни решения са недопустими, не води до ускоряване на търсенето на оптималното решение.</a:t>
            </a:r>
          </a:p>
          <a:p>
            <a:pPr indent="536575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endParaRPr lang="bg-BG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922799"/>
              </p:ext>
            </p:extLst>
          </p:nvPr>
        </p:nvGraphicFramePr>
        <p:xfrm>
          <a:off x="5522969" y="3010249"/>
          <a:ext cx="2781760" cy="77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91726" imgH="418918" progId="Equation.3">
                  <p:embed/>
                </p:oleObj>
              </mc:Choice>
              <mc:Fallback>
                <p:oleObj r:id="rId3" imgW="1091726" imgH="418918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969" y="3010249"/>
                        <a:ext cx="2781760" cy="779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7978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032000" y="471488"/>
            <a:ext cx="10159999" cy="6386512"/>
            <a:chOff x="2032000" y="471488"/>
            <a:chExt cx="10159999" cy="6386512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2000" y="471488"/>
              <a:ext cx="10159999" cy="638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8682592" y="6425168"/>
              <a:ext cx="67180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bg-BG" dirty="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12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997250" y="129698"/>
            <a:ext cx="10197500" cy="577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r>
              <a:rPr lang="bg-BG" sz="2400" dirty="0"/>
              <a:t>Данните на модела се нанасят в сиплекс таблица 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7765143" y="483769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5" name="Oval 4"/>
          <p:cNvSpPr/>
          <p:nvPr/>
        </p:nvSpPr>
        <p:spPr>
          <a:xfrm>
            <a:off x="2205318" y="1330027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2838824" y="1344708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472330" y="1330027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1576834" y="1805158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5647765" y="2363463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1213734" y="5885093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4474245" y="5940140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8</a:t>
            </a:r>
          </a:p>
        </p:txBody>
      </p:sp>
      <p:sp>
        <p:nvSpPr>
          <p:cNvPr id="24" name="Oval 23"/>
          <p:cNvSpPr/>
          <p:nvPr/>
        </p:nvSpPr>
        <p:spPr>
          <a:xfrm>
            <a:off x="3601682" y="5867164"/>
            <a:ext cx="448235" cy="409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/>
              <a:t>7</a:t>
            </a:r>
          </a:p>
        </p:txBody>
      </p:sp>
      <p:sp>
        <p:nvSpPr>
          <p:cNvPr id="25" name="Left Brace 24"/>
          <p:cNvSpPr/>
          <p:nvPr/>
        </p:nvSpPr>
        <p:spPr>
          <a:xfrm>
            <a:off x="1724623" y="5867164"/>
            <a:ext cx="307377" cy="5348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9018494" y="932329"/>
            <a:ext cx="0" cy="412379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72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13</a:t>
            </a:fld>
            <a:endParaRPr lang="bg-BG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946400" y="1858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946399" y="655934"/>
            <a:ext cx="872564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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базисен стълб, съдържащ базисните променливи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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целеви стълб, съдържащ коефициентите на базисните променливи в целевата функция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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съдържа стойностите на базисните променливи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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 целеви коефициенти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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коефициенти пред променливите в ограниченията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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индексен ред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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стойност на целевата функция във върха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200000"/>
              <a:buFont typeface="Wingdings" panose="05000000000000000000" pitchFamily="2" charset="2"/>
              <a:buChar char="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индексни оценки на променливите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01204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14</a:t>
            </a:fld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8842" y="449975"/>
            <a:ext cx="9867232" cy="4546560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814029" y="449975"/>
                <a:ext cx="9934074" cy="6275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719138" algn="just">
                  <a:lnSpc>
                    <a:spcPct val="150000"/>
                  </a:lnSpc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Решаване на ЛОМ в каноничен вид:</a:t>
                </a:r>
              </a:p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+mj-lt"/>
                  <a:buAutoNum type="arabicPeriod"/>
                </a:pPr>
                <a:r>
                  <a:rPr lang="bg-BG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Попълва се първата симплекс таблица и се пресмята</a:t>
                </a:r>
                <a:r>
                  <a:rPr lang="en-US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стойността на целевата функция и индексните оценки по следните правила:</a:t>
                </a:r>
              </a:p>
              <a:p>
                <a:pPr marL="900000" indent="-457200" algn="just">
                  <a:lnSpc>
                    <a:spcPct val="150000"/>
                  </a:lnSpc>
                  <a:buClr>
                    <a:schemeClr val="accent2">
                      <a:lumMod val="75000"/>
                    </a:schemeClr>
                  </a:buClr>
                  <a:buFont typeface="Wingdings" panose="05000000000000000000" pitchFamily="2" charset="2"/>
                  <a:buChar char="q"/>
                </a:pPr>
                <a:r>
                  <a:rPr lang="bg-BG" sz="24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Правило  1.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Стойността на целевата функция се пресмята, като се умножат поелементно стълбовете С</a:t>
                </a:r>
                <a:r>
                  <a:rPr lang="bg-BG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 β и се съберат получение произведения.</a:t>
                </a:r>
              </a:p>
              <a:p>
                <a:pPr marL="900000" indent="-457200" algn="just">
                  <a:lnSpc>
                    <a:spcPct val="150000"/>
                  </a:lnSpc>
                  <a:buClr>
                    <a:schemeClr val="accent2">
                      <a:lumMod val="75000"/>
                    </a:schemeClr>
                  </a:buClr>
                  <a:buFont typeface="Wingdings" panose="05000000000000000000" pitchFamily="2" charset="2"/>
                  <a:buChar char="q"/>
                </a:pPr>
                <a:r>
                  <a:rPr lang="bg-BG" sz="24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Правило  2.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Индексната оценка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 всяка променлива се пресмята, като се умножат поелементно стълб  С</a:t>
                </a:r>
                <a:r>
                  <a:rPr lang="bg-BG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със стълба на променливата, съберат се получените  произведения и се извади нейния целеви коефициент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029" y="449975"/>
                <a:ext cx="9934074" cy="6275564"/>
              </a:xfrm>
              <a:prstGeom prst="rect">
                <a:avLst/>
              </a:prstGeom>
              <a:blipFill>
                <a:blip r:embed="rId3"/>
                <a:stretch>
                  <a:fillRect l="-921" r="-92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-1" y="-1"/>
            <a:ext cx="269111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77534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15</a:t>
            </a:fld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8842" y="449975"/>
            <a:ext cx="9867232" cy="4546560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9" name="Rectangle 8"/>
          <p:cNvSpPr/>
          <p:nvPr/>
        </p:nvSpPr>
        <p:spPr>
          <a:xfrm>
            <a:off x="2825691" y="117693"/>
            <a:ext cx="936630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Индексните оценки на базисните променливи са винаги 0. С помощта на индексните оценки на свободните променливи може да се оцени как ще се измени стойността на целевата функция, ако се насочим от конкретен връх към всеки от неговите съседни. </a:t>
            </a:r>
          </a:p>
          <a:p>
            <a:pPr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</a:pPr>
            <a:r>
              <a:rPr lang="bg-BG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Твърдение 1.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Ако индексната оценка на една свободна променлива е:</a:t>
            </a:r>
          </a:p>
          <a:p>
            <a:pPr marL="576000" indent="-342900"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положителна, движението по нейния ръб води до намаляване на целевата функция;</a:t>
            </a:r>
          </a:p>
          <a:p>
            <a:pPr marL="576000" indent="-342900"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отрицателна, движението по нейния ръб води до увеличаване на целевата функция;</a:t>
            </a:r>
          </a:p>
          <a:p>
            <a:pPr marL="576000" indent="-342900"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нула, движението по нейния ръб не променя (запазва) стойността на целевата функция;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-1" y="-1"/>
            <a:ext cx="269111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0" y="45718"/>
            <a:ext cx="2825691" cy="3898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62732" y="3190607"/>
            <a:ext cx="1823356" cy="13890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62732" y="3181642"/>
            <a:ext cx="2232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63107" y="2994213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80661" y="1408283"/>
            <a:ext cx="1662994" cy="17472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01353" y="1318567"/>
                <a:ext cx="976798" cy="461665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bg-B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53" y="1318567"/>
                <a:ext cx="97679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1269425" y="1796147"/>
            <a:ext cx="0" cy="485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524292" y="2232803"/>
                <a:ext cx="976798" cy="461665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bg-B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292" y="2232803"/>
                <a:ext cx="97679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1992364" y="2710383"/>
            <a:ext cx="0" cy="485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434793" y="3338429"/>
                <a:ext cx="976798" cy="461665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bg-B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793" y="3338429"/>
                <a:ext cx="97679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1902865" y="3816009"/>
            <a:ext cx="0" cy="485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02857" y="2841983"/>
            <a:ext cx="193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</a:t>
            </a:r>
            <a:r>
              <a:rPr lang="bg-BG" dirty="0"/>
              <a:t>не се променя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2296" y="1107632"/>
            <a:ext cx="997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</a:t>
            </a:r>
            <a:r>
              <a:rPr lang="bg-BG" dirty="0"/>
              <a:t>расте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026" y="4487570"/>
            <a:ext cx="146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</a:t>
            </a:r>
            <a:r>
              <a:rPr lang="bg-BG" dirty="0"/>
              <a:t>намалява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80617" y="2495909"/>
            <a:ext cx="1499371" cy="11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bg-BG" dirty="0"/>
              <a:t>Връх на многостена</a:t>
            </a:r>
          </a:p>
        </p:txBody>
      </p:sp>
    </p:spTree>
    <p:extLst>
      <p:ext uri="{BB962C8B-B14F-4D97-AF65-F5344CB8AC3E}">
        <p14:creationId xmlns:p14="http://schemas.microsoft.com/office/powerpoint/2010/main" val="1940414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16</a:t>
            </a:fld>
            <a:endParaRPr lang="bg-B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84422" y="534197"/>
            <a:ext cx="10379242" cy="51489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just">
              <a:lnSpc>
                <a:spcPct val="130000"/>
              </a:lnSpc>
              <a:spcBef>
                <a:spcPts val="0"/>
              </a:spcBef>
            </a:pPr>
            <a:endParaRPr lang="bg-B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03664" y="0"/>
                <a:ext cx="10160000" cy="70157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+mj-lt"/>
                  <a:buAutoNum type="arabicPeriod" startAt="2"/>
                </a:pPr>
                <a:r>
                  <a:rPr lang="bg-BG" sz="24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Проверяват се знаците на индексните оценки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bg-BG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bg-BG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Ако индексните оценки на всички променливи са неотрицателни т.е.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bg-BG" sz="24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, тогава планът е оптимален при търсене на максимум (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Z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max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 и се преминава към точка 5.</a:t>
                </a: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Ако индексните оценки на всички променливи са по-малки или равни на нула т.е.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bg-BG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≤0,    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bg-BG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, тогава планът е оптимален при търсене на минимум (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Z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min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 и се преминава към точка 5.</a:t>
                </a: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Ако има неблагоприятна индексна оценка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 чийто стълб липсва положителна стойност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𝑖𝑞</m:t>
                        </m:r>
                      </m:sub>
                    </m:sSub>
                    <m:r>
                      <a:rPr lang="bg-BG" sz="24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0,  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– целеват функция е неограничена в множеството от плановете (налице е неограничен ръб) и задачата няма решение т.е. моделът е неразрешим. Преминава се към точка 5.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664" y="0"/>
                <a:ext cx="10160000" cy="7015703"/>
              </a:xfrm>
              <a:prstGeom prst="rect">
                <a:avLst/>
              </a:prstGeom>
              <a:blipFill>
                <a:blip r:embed="rId3"/>
                <a:stretch>
                  <a:fillRect l="-900" r="-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51980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17</a:t>
            </a:fld>
            <a:endParaRPr lang="bg-B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14215" y="534197"/>
            <a:ext cx="10379242" cy="51489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just">
              <a:lnSpc>
                <a:spcPct val="130000"/>
              </a:lnSpc>
              <a:spcBef>
                <a:spcPts val="0"/>
              </a:spcBef>
            </a:pPr>
            <a:endParaRPr lang="bg-B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33457" y="170152"/>
                <a:ext cx="10160000" cy="6418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Ако за всяко </a:t>
                </a:r>
                <a:r>
                  <a:rPr lang="bg-BG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j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bg-BG" sz="24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rPr>
                          <m:t>което</m:t>
                        </m:r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има неблагоприятна индексна оценка 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има поне едно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0,  </m:t>
                    </m:r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то планът не е оптимален и се преминава към точка 3. </a:t>
                </a:r>
              </a:p>
              <a:p>
                <a:pPr marL="5400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+mj-lt"/>
                  <a:buAutoNum type="arabicPeriod" startAt="3"/>
                </a:pPr>
                <a:r>
                  <a:rPr lang="bg-BG" sz="24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Преминаване към следващ опорен план</a:t>
                </a: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Определя се ключов стълб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– стълб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q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в който индексната оценка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е неблагоприятна. Ако има повече от една неблагоприятни индексни оценки се избира по-неблагоприятната. Променливата на този стълб става новата базисна променлива. (Ако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е неблагоприятна и съществува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𝑖𝑞</m:t>
                        </m:r>
                      </m:sub>
                    </m:sSub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bg-BG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тогава в новия план променливата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ще стане базисна променлива)</a:t>
                </a: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Определя се ключов ред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– формират се отношенията на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457" y="170152"/>
                <a:ext cx="10160000" cy="6418039"/>
              </a:xfrm>
              <a:prstGeom prst="rect">
                <a:avLst/>
              </a:prstGeom>
              <a:blipFill>
                <a:blip r:embed="rId3"/>
                <a:stretch>
                  <a:fillRect l="-60" r="-900" b="-76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31752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18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32000" y="326533"/>
                <a:ext cx="9751683" cy="6137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771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елементите от базисния стълб и ключовия стълб, но само за елементите от ключовия стълб, които са положителни и от тях се избира минималното. Минималото отношение определя ключовия ред. 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bg-BG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bg-BG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bg-BG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bg-BG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</m:den>
                    </m:f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𝑖𝑞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&gt;0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bg-BG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𝑖𝑞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)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Ключово число –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пресичането на ключов ред с ключов стълб определят ключовото число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</m:oMath>
                </a14:m>
                <a:r>
                  <a:rPr lang="bg-BG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</a:p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+mj-lt"/>
                  <a:buAutoNum type="arabicPeriod" startAt="4"/>
                </a:pPr>
                <a:r>
                  <a:rPr lang="bg-BG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Построява се нова симплекс таблица, в която:</a:t>
                </a: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 стълбовете В и С</a:t>
                </a:r>
                <a:r>
                  <a:rPr lang="bg-BG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В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се прави само по една промяна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𝑘𝑝</m:t>
                        </m:r>
                      </m:sub>
                    </m:sSub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 и </m:t>
                    </m:r>
                    <m:sSub>
                      <m:sSubPr>
                        <m:ctrlP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𝑘𝑝</m:t>
                        </m:r>
                      </m:sub>
                    </m:sSub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720000" indent="-3429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Останалата част се попълва както следва:</a:t>
                </a:r>
              </a:p>
              <a:p>
                <a:pPr marL="3771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</a:pPr>
                <a:endParaRPr lang="bg-BG" sz="2400" i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326533"/>
                <a:ext cx="9751683" cy="6137321"/>
              </a:xfrm>
              <a:prstGeom prst="rect">
                <a:avLst/>
              </a:prstGeom>
              <a:blipFill>
                <a:blip r:embed="rId2"/>
                <a:stretch>
                  <a:fillRect l="-938" r="-1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893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2083" y="692435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19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959682" y="173090"/>
                <a:ext cx="8117727" cy="66943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40000" indent="-342900" algn="just">
                  <a:lnSpc>
                    <a:spcPct val="130000"/>
                  </a:lnSpc>
                  <a:buClr>
                    <a:schemeClr val="accent1">
                      <a:lumMod val="75000"/>
                    </a:schemeClr>
                  </a:buClr>
                  <a:buFont typeface="Symbol" panose="05050102010706020507" pitchFamily="18" charset="2"/>
                  <a:buChar char="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Елементите от ключовия ред се делят на ключовото число.</a:t>
                </a:r>
              </a:p>
              <a:p>
                <a:pPr marL="197100" algn="just">
                  <a:lnSpc>
                    <a:spcPct val="130000"/>
                  </a:lnSpc>
                  <a:buClr>
                    <a:schemeClr val="accent1">
                      <a:lumMod val="75000"/>
                    </a:scheme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bg-BG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</m:den>
                    </m:f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bg-BG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𝑝𝑗</m:t>
                        </m:r>
                      </m:sub>
                    </m:sSub>
                    <m:r>
                      <a:rPr lang="bg-BG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bg-BG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bg-BG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𝑝𝑞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540000" indent="-342900" algn="just">
                  <a:lnSpc>
                    <a:spcPct val="130000"/>
                  </a:lnSpc>
                  <a:buClr>
                    <a:schemeClr val="accent1">
                      <a:lumMod val="75000"/>
                    </a:schemeClr>
                  </a:buClr>
                  <a:buFont typeface="Symbol" panose="05050102010706020507" pitchFamily="18" charset="2"/>
                  <a:buChar char="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Останалите стойности се получават по правилото на правоъгълника – от произведението на  съответния елемент на старата таблица с ключовото число се изважда произведението на елемента от същия ред в ключовия стълб с елемента от същия стълб в ключовия ред и се разделя на ключовото число.</a:t>
                </a:r>
              </a:p>
              <a:p>
                <a:pPr marL="540000" indent="-342900" algn="just">
                  <a:lnSpc>
                    <a:spcPct val="130000"/>
                  </a:lnSpc>
                  <a:buClr>
                    <a:schemeClr val="accent1">
                      <a:lumMod val="75000"/>
                    </a:schemeClr>
                  </a:buClr>
                  <a:buFont typeface="Symbol" panose="05050102010706020507" pitchFamily="18" charset="2"/>
                  <a:buChar char="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Стойността на целевата функция и индексните оценки се пресмятат по правилата от точка 1. Преминава към точка 2.</a:t>
                </a:r>
              </a:p>
              <a:p>
                <a:pPr marL="654300" indent="-457200" algn="just">
                  <a:lnSpc>
                    <a:spcPct val="130000"/>
                  </a:lnSpc>
                  <a:buClr>
                    <a:schemeClr val="accent1">
                      <a:lumMod val="75000"/>
                    </a:schemeClr>
                  </a:buClr>
                  <a:buFont typeface="+mj-lt"/>
                  <a:buAutoNum type="arabicPeriod" startAt="5"/>
                </a:pPr>
                <a:r>
                  <a:rPr lang="bg-BG" sz="24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Край.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682" y="173090"/>
                <a:ext cx="8117727" cy="6694397"/>
              </a:xfrm>
              <a:prstGeom prst="rect">
                <a:avLst/>
              </a:prstGeom>
              <a:blipFill>
                <a:blip r:embed="rId2"/>
                <a:stretch>
                  <a:fillRect r="-1202" b="-27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" y="591240"/>
            <a:ext cx="3682060" cy="420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401" y="2857133"/>
            <a:ext cx="70415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bg-BG" dirty="0"/>
          </a:p>
        </p:txBody>
      </p:sp>
      <p:sp>
        <p:nvSpPr>
          <p:cNvPr id="8" name="TextBox 7"/>
          <p:cNvSpPr txBox="1"/>
          <p:nvPr/>
        </p:nvSpPr>
        <p:spPr>
          <a:xfrm>
            <a:off x="384401" y="1690776"/>
            <a:ext cx="3307705" cy="154800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0" y="5290967"/>
                <a:ext cx="4329134" cy="1054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bg-BG" sz="31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bg-BG" sz="31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31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1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31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31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1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bg-BG" sz="310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310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31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31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bg-BG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1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sz="31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1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1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90967"/>
                <a:ext cx="4329134" cy="1054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843702" y="1966823"/>
            <a:ext cx="2225928" cy="1074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898595" y="1918048"/>
            <a:ext cx="2171035" cy="112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943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20</a:t>
            </a:fld>
            <a:endParaRPr lang="bg-BG" dirty="0"/>
          </a:p>
        </p:txBody>
      </p:sp>
      <p:sp>
        <p:nvSpPr>
          <p:cNvPr id="3" name="Rectangle 2"/>
          <p:cNvSpPr/>
          <p:nvPr/>
        </p:nvSpPr>
        <p:spPr>
          <a:xfrm>
            <a:off x="401610" y="28531"/>
            <a:ext cx="143821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600" b="1" dirty="0">
                <a:ea typeface="Times New Roman" panose="02020603050405020304" pitchFamily="18" charset="0"/>
              </a:rPr>
              <a:t>Пример</a:t>
            </a:r>
            <a:endParaRPr lang="bg-BG" sz="2600" dirty="0"/>
          </a:p>
        </p:txBody>
      </p:sp>
      <p:sp>
        <p:nvSpPr>
          <p:cNvPr id="11" name="Rectangle 10"/>
          <p:cNvSpPr/>
          <p:nvPr/>
        </p:nvSpPr>
        <p:spPr>
          <a:xfrm>
            <a:off x="2290793" y="0"/>
            <a:ext cx="92686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Фирма планира производство на три продукта – А, В и С. Предварителните разчети показват, че ресурсите Р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Р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Р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са с ограничени количества и производствената дейност трябва да бъде съобразена главно с тях. За оценка на плановите решения ръководството на фирмата се ориентира да използва печалбата. Разходните норми, осигурените количества ресурси и печалбата от единица продукция са дадени в следната таблица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543617"/>
              </p:ext>
            </p:extLst>
          </p:nvPr>
        </p:nvGraphicFramePr>
        <p:xfrm>
          <a:off x="0" y="3970318"/>
          <a:ext cx="5372101" cy="2933700"/>
        </p:xfrm>
        <a:graphic>
          <a:graphicData uri="http://schemas.openxmlformats.org/drawingml/2006/table">
            <a:tbl>
              <a:tblPr/>
              <a:tblGrid>
                <a:gridCol w="1875672">
                  <a:extLst>
                    <a:ext uri="{9D8B030D-6E8A-4147-A177-3AD203B41FA5}">
                      <a16:colId xmlns:a16="http://schemas.microsoft.com/office/drawing/2014/main" val="2556229390"/>
                    </a:ext>
                  </a:extLst>
                </a:gridCol>
                <a:gridCol w="629420">
                  <a:extLst>
                    <a:ext uri="{9D8B030D-6E8A-4147-A177-3AD203B41FA5}">
                      <a16:colId xmlns:a16="http://schemas.microsoft.com/office/drawing/2014/main" val="90940789"/>
                    </a:ext>
                  </a:extLst>
                </a:gridCol>
                <a:gridCol w="654597">
                  <a:extLst>
                    <a:ext uri="{9D8B030D-6E8A-4147-A177-3AD203B41FA5}">
                      <a16:colId xmlns:a16="http://schemas.microsoft.com/office/drawing/2014/main" val="2401129450"/>
                    </a:ext>
                  </a:extLst>
                </a:gridCol>
                <a:gridCol w="651450">
                  <a:extLst>
                    <a:ext uri="{9D8B030D-6E8A-4147-A177-3AD203B41FA5}">
                      <a16:colId xmlns:a16="http://schemas.microsoft.com/office/drawing/2014/main" val="2128760727"/>
                    </a:ext>
                  </a:extLst>
                </a:gridCol>
                <a:gridCol w="1560962">
                  <a:extLst>
                    <a:ext uri="{9D8B030D-6E8A-4147-A177-3AD203B41FA5}">
                      <a16:colId xmlns:a16="http://schemas.microsoft.com/office/drawing/2014/main" val="879859901"/>
                    </a:ext>
                  </a:extLst>
                </a:gridCol>
              </a:tblGrid>
              <a:tr h="762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Лимитиращи ресурси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Продукция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Осигурени количества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655677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662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bg-BG" sz="2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81363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bg-BG" sz="2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368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</a:t>
                      </a:r>
                      <a:r>
                        <a:rPr lang="bg-BG" sz="2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8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b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Печалба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877170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512759" y="3608237"/>
            <a:ext cx="649760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  <a:buClr>
                <a:schemeClr val="accent2">
                  <a:lumMod val="75000"/>
                </a:schemeClr>
              </a:buClr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се определят количествата от трите продукта, които трябва да бъдат произведени така, че при наличната ресурсна осигуреност размерът на реализираната печалба за цялата продукция да е най-голям.</a:t>
            </a:r>
          </a:p>
        </p:txBody>
      </p:sp>
    </p:spTree>
    <p:extLst>
      <p:ext uri="{BB962C8B-B14F-4D97-AF65-F5344CB8AC3E}">
        <p14:creationId xmlns:p14="http://schemas.microsoft.com/office/powerpoint/2010/main" val="1716919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21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872343" y="33712"/>
            <a:ext cx="1031965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Математическо описание на проблема</a:t>
            </a:r>
          </a:p>
          <a:p>
            <a:pPr marL="342900" indent="-3429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са неизвестни количества съответно от продуктите А, В и С. 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– производствена програма (план) на фирмата и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≥0, 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,≥0,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≥0.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Z –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печалбата за цялата продукция. Общият размер на печалбата за цялата произведена продукция ще бъде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Z= 4X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+2X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+5X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като се стремим да максимизираме тази величина 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Z= 4X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+2X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+5X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-&gt; max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342900" indent="-3429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Потребленията на трите ресурса при търсена производствена програма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са: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8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+2X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≤430</a:t>
            </a:r>
          </a:p>
          <a:p>
            <a:pPr lvl="8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+2X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≤460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8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+4X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≤450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30548"/>
            <a:ext cx="3715657" cy="209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15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22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0" y="33712"/>
            <a:ext cx="12192001" cy="6814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3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Задачата за намиране на производствена програма на фирмата, за която общият размер на печалбата е максимален при дадената ресурсна осигуреност, се свежда до следния оптимизационен математически модел:</a:t>
            </a:r>
          </a:p>
          <a:p>
            <a:pPr indent="540000" algn="just">
              <a:lnSpc>
                <a:spcPct val="13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Z= 4X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+2X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+5X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-&gt; max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6" algn="just">
              <a:lnSpc>
                <a:spcPct val="130000"/>
              </a:lnSpc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+2X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≤430</a:t>
            </a:r>
          </a:p>
          <a:p>
            <a:pPr lvl="6" algn="just">
              <a:lnSpc>
                <a:spcPct val="130000"/>
              </a:lnSpc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+2X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≤460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6" algn="just">
              <a:lnSpc>
                <a:spcPct val="130000"/>
              </a:lnSpc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+4X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≤450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5" indent="540000" algn="just">
              <a:lnSpc>
                <a:spcPct val="13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≥0,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j=1,2,3</a:t>
            </a:r>
          </a:p>
          <a:p>
            <a:pPr indent="540000" algn="just">
              <a:lnSpc>
                <a:spcPct val="13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Величината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Z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се нарича целева функция или критерий и служи за сравняване на отделните производствени програми (планове). Неравенствата, отразяващи потреблението на ресурси, се наричат ограничения на модела. Моделът завършва с изисквания за неотрицателност на променливите, което е свързано с тяхната природа. Целевата функция и ограниченията са линейни, следователно имаме линеен оптимизационен модел.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115" y="1488082"/>
            <a:ext cx="4029979" cy="23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50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5113" y="7959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23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872343" y="0"/>
            <a:ext cx="103196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Преобразуване на неравенствата в равенства</a:t>
            </a:r>
          </a:p>
          <a:p>
            <a:pPr indent="540000" algn="just">
              <a:lnSpc>
                <a:spcPct val="150000"/>
              </a:lnSpc>
            </a:pP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75" y="594755"/>
            <a:ext cx="5482999" cy="62632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04714" y="795987"/>
            <a:ext cx="399134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5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Посоката на неравенствата е ≤, то за да се получат ограничения от тип равенства към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всяко от неравенствата трябва да се прибави по едно допълнително неизвестно.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се наричат допълнителни (балансови променливи)</a:t>
            </a:r>
          </a:p>
          <a:p>
            <a:pPr indent="540000" algn="just">
              <a:lnSpc>
                <a:spcPct val="150000"/>
              </a:lnSpc>
            </a:pP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480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5113" y="7959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24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02279" y="0"/>
            <a:ext cx="12089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bg-BG" sz="2400" dirty="0">
                <a:solidFill>
                  <a:schemeClr val="accent1">
                    <a:lumMod val="75000"/>
                  </a:schemeClr>
                </a:solidFill>
              </a:rPr>
              <a:t>2.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Определяне на базисни променливи. Определяне на начално допустимо базисно решение.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84571" y="924645"/>
            <a:ext cx="4766346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30000"/>
              </a:lnSpc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Променливите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са единични базисни променливи – всяка от тях е с коефициент +1 точно в едно уравнение и липсва в останалите две. Следователно стандартната форма е и симплекс-канонична форма.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031" y="5697758"/>
            <a:ext cx="119670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/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 определяне на начално допустимо базисно решение 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n-m)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 брой променливи се приравняват на нула (т.е. свободни променливи), а базисните променливи се определят от системата ограничения.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5987"/>
            <a:ext cx="6661378" cy="490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65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25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02279" y="0"/>
            <a:ext cx="12089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/>
            <a:r>
              <a:rPr lang="bg-BG" sz="2400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Проверка за оптималност. Създаване на първа симплекс таблица.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665"/>
            <a:ext cx="12191999" cy="639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57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26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09294" y="0"/>
            <a:ext cx="12089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/>
            <a:r>
              <a:rPr lang="bg-BG" sz="2400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Създаване на подобрен план. Създаване на нова симплекс таблица. Проверка за оптималност.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151813" y="21753513"/>
            <a:ext cx="450850" cy="1190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70350" y="24992013"/>
            <a:ext cx="323850" cy="276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bg-BG" sz="1100" dirty="0"/>
          </a:p>
        </p:txBody>
      </p:sp>
      <p:sp>
        <p:nvSpPr>
          <p:cNvPr id="21" name="Oval 20"/>
          <p:cNvSpPr/>
          <p:nvPr/>
        </p:nvSpPr>
        <p:spPr>
          <a:xfrm>
            <a:off x="5127625" y="25020588"/>
            <a:ext cx="400050" cy="276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bg-BG" sz="1100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5956300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6583363" y="26839863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256463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8142288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8859838" y="268303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9628188" y="26839863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10206038" y="2684938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4"/>
              <p:cNvSpPr txBox="1"/>
              <p:nvPr/>
            </p:nvSpPr>
            <p:spPr>
              <a:xfrm>
                <a:off x="11077575" y="23394988"/>
                <a:ext cx="2014538" cy="33020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bg-BG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bg-BG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430</m:t>
                            </m:r>
                          </m:num>
                          <m:den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460</m:t>
                            </m:r>
                          </m:num>
                          <m:den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400" dirty="0"/>
                  <a:t> 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bg-BG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460</m:t>
                        </m:r>
                      </m:num>
                      <m:den>
                        <m:r>
                          <a:rPr lang="bg-BG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endParaRPr lang="bg-BG" sz="1400" dirty="0"/>
              </a:p>
            </p:txBody>
          </p:sp>
        </mc:Choice>
        <mc:Fallback xmlns="">
          <p:sp>
            <p:nvSpPr>
              <p:cNvPr id="29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575" y="23394988"/>
                <a:ext cx="2014538" cy="330200"/>
              </a:xfrm>
              <a:prstGeom prst="rect">
                <a:avLst/>
              </a:prstGeom>
              <a:blipFill>
                <a:blip r:embed="rId5"/>
                <a:stretch>
                  <a:fillRect l="-3021" b="-1481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Групиране 4"/>
          <p:cNvGrpSpPr/>
          <p:nvPr/>
        </p:nvGrpSpPr>
        <p:grpSpPr>
          <a:xfrm>
            <a:off x="210064" y="830997"/>
            <a:ext cx="12199015" cy="6027003"/>
            <a:chOff x="843702" y="830996"/>
            <a:chExt cx="11194596" cy="6027003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3702" y="830996"/>
              <a:ext cx="11194596" cy="6027003"/>
            </a:xfrm>
            <a:prstGeom prst="rect">
              <a:avLst/>
            </a:prstGeom>
          </p:spPr>
        </p:pic>
        <p:sp>
          <p:nvSpPr>
            <p:cNvPr id="3" name="Текстово поле 2"/>
            <p:cNvSpPr txBox="1"/>
            <p:nvPr/>
          </p:nvSpPr>
          <p:spPr>
            <a:xfrm>
              <a:off x="3725984" y="6484259"/>
              <a:ext cx="6682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bg-BG" sz="1200" dirty="0"/>
                <a:t>460:2</a:t>
              </a:r>
              <a:endParaRPr lang="en-GB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59351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27</a:t>
            </a:fld>
            <a:endParaRPr lang="bg-B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70" y="2506133"/>
            <a:ext cx="9303657" cy="3329941"/>
          </a:xfrm>
          <a:prstGeom prst="rect">
            <a:avLst/>
          </a:pr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2AA417D4-489A-A38E-D9CD-234DB5621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55696" cy="217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46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28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936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35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29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14"/>
            <a:ext cx="12192000" cy="674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6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30</a:t>
            </a:fld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061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78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657"/>
            <a:ext cx="12192000" cy="61903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31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232228" y="64353"/>
            <a:ext cx="11727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/>
            <a:r>
              <a:rPr lang="bg-BG" sz="2400" dirty="0">
                <a:solidFill>
                  <a:schemeClr val="accent1">
                    <a:lumMod val="75000"/>
                  </a:schemeClr>
                </a:solidFill>
              </a:rPr>
              <a:t>5.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Създаване на подобрен план. Създаване на нова симплекс таблица. Проверка за оптималност.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392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32</a:t>
            </a:fld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743" y="-1"/>
            <a:ext cx="6357257" cy="2264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49030" y="769257"/>
            <a:ext cx="1756228" cy="7112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bg-BG" dirty="0"/>
          </a:p>
        </p:txBody>
      </p:sp>
      <p:sp>
        <p:nvSpPr>
          <p:cNvPr id="7" name="Oval 6"/>
          <p:cNvSpPr/>
          <p:nvPr/>
        </p:nvSpPr>
        <p:spPr>
          <a:xfrm>
            <a:off x="8876913" y="776793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8098971" y="956793"/>
            <a:ext cx="899886" cy="308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8026401" y="956793"/>
            <a:ext cx="1030512" cy="40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9326"/>
            <a:ext cx="9956799" cy="463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38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33</a:t>
            </a:fld>
            <a:endParaRPr lang="bg-BG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095129" y="5606684"/>
            <a:ext cx="2034173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0" y="4651006"/>
            <a:ext cx="120323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/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Фирмата трябва да произвежда 100 единици от продукт В, 230 единици от продукт С и да не произвежда от продукт А.  При това ще реализира максимална печалба в размер на 1350. В оптималното решение променливите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=0, 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=50.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Допълнителните променливи отразяват неизползваните количества ресурси. Следователно ресурс Р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Р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са изцяло използвани и има излишък от 50 единици  от ресурс Р</a:t>
            </a:r>
            <a:r>
              <a:rPr lang="bg-BG" sz="2400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bg-BG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032344" cy="465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76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52FE0A421B3E24B9DDFC266E10EBE04" ma:contentTypeVersion="3" ma:contentTypeDescription="Създаване на нов документ" ma:contentTypeScope="" ma:versionID="f38fa733cd6769631e002a4dea7fc2ba">
  <xsd:schema xmlns:xsd="http://www.w3.org/2001/XMLSchema" xmlns:xs="http://www.w3.org/2001/XMLSchema" xmlns:p="http://schemas.microsoft.com/office/2006/metadata/properties" xmlns:ns2="410f8adb-773f-4384-aa9e-8e184e0fd10d" targetNamespace="http://schemas.microsoft.com/office/2006/metadata/properties" ma:root="true" ma:fieldsID="91cf59770634e4cf72f9d8d766704a06" ns2:_="">
    <xsd:import namespace="410f8adb-773f-4384-aa9e-8e184e0fd1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f8adb-773f-4384-aa9e-8e184e0fd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86739D-6093-4111-A65F-A23945114D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7CCBCA-CB24-4660-8AAF-F8B4E1111A77}"/>
</file>

<file path=customXml/itemProps3.xml><?xml version="1.0" encoding="utf-8"?>
<ds:datastoreItem xmlns:ds="http://schemas.openxmlformats.org/officeDocument/2006/customXml" ds:itemID="{AF3329F4-8E82-4FEA-A244-91980ED2FA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8311</TotalTime>
  <Words>2258</Words>
  <Application>Microsoft Office PowerPoint</Application>
  <PresentationFormat>Широк екран</PresentationFormat>
  <Paragraphs>208</Paragraphs>
  <Slides>33</Slides>
  <Notes>22</Notes>
  <HiddenSlides>0</HiddenSlides>
  <MMClips>0</MMClips>
  <ScaleCrop>false</ScaleCrop>
  <HeadingPairs>
    <vt:vector size="8" baseType="variant">
      <vt:variant>
        <vt:lpstr>Използвани шрифтове</vt:lpstr>
      </vt:variant>
      <vt:variant>
        <vt:i4>8</vt:i4>
      </vt:variant>
      <vt:variant>
        <vt:lpstr>Тема</vt:lpstr>
      </vt:variant>
      <vt:variant>
        <vt:i4>1</vt:i4>
      </vt:variant>
      <vt:variant>
        <vt:lpstr>Вградени OLE сървъри</vt:lpstr>
      </vt:variant>
      <vt:variant>
        <vt:i4>1</vt:i4>
      </vt:variant>
      <vt:variant>
        <vt:lpstr>Заглавия на слайдовете</vt:lpstr>
      </vt:variant>
      <vt:variant>
        <vt:i4>33</vt:i4>
      </vt:variant>
    </vt:vector>
  </HeadingPairs>
  <TitlesOfParts>
    <vt:vector size="43" baseType="lpstr">
      <vt:lpstr>Arial</vt:lpstr>
      <vt:lpstr>Calibri</vt:lpstr>
      <vt:lpstr>Cambria</vt:lpstr>
      <vt:lpstr>Cambria Math</vt:lpstr>
      <vt:lpstr>Rockwell</vt:lpstr>
      <vt:lpstr>Rockwell Condensed</vt:lpstr>
      <vt:lpstr>Symbol</vt:lpstr>
      <vt:lpstr>Wingdings</vt:lpstr>
      <vt:lpstr>Wood Type</vt:lpstr>
      <vt:lpstr>Equation.3</vt:lpstr>
      <vt:lpstr>Симплекс метод за решаване на линеен оптимизационен модел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СИСТЕМЕН АНАЛИЗ</dc:title>
  <dc:creator>Windows User</dc:creator>
  <cp:lastModifiedBy>Maya</cp:lastModifiedBy>
  <cp:revision>254</cp:revision>
  <cp:lastPrinted>2022-10-19T07:33:47Z</cp:lastPrinted>
  <dcterms:created xsi:type="dcterms:W3CDTF">2022-08-03T05:13:19Z</dcterms:created>
  <dcterms:modified xsi:type="dcterms:W3CDTF">2023-11-03T07:59:11Z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0x010100452FE0A421B3E24B9DDFC266E10EBE04</vt:lpwstr>
  </property>
</Properties>
</file>
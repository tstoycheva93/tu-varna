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34"/>
  </p:notesMasterIdLst>
  <p:handoutMasterIdLst>
    <p:handoutMasterId r:id="rId35"/>
  </p:handoutMasterIdLst>
  <p:sldIdLst>
    <p:sldId id="256" r:id="rId5"/>
    <p:sldId id="258" r:id="rId6"/>
    <p:sldId id="259" r:id="rId7"/>
    <p:sldId id="311" r:id="rId8"/>
    <p:sldId id="261" r:id="rId9"/>
    <p:sldId id="263" r:id="rId10"/>
    <p:sldId id="264" r:id="rId11"/>
    <p:sldId id="265" r:id="rId12"/>
    <p:sldId id="295" r:id="rId13"/>
    <p:sldId id="266" r:id="rId14"/>
    <p:sldId id="267" r:id="rId15"/>
    <p:sldId id="268" r:id="rId16"/>
    <p:sldId id="314" r:id="rId17"/>
    <p:sldId id="316" r:id="rId18"/>
    <p:sldId id="315" r:id="rId19"/>
    <p:sldId id="296" r:id="rId20"/>
    <p:sldId id="297" r:id="rId21"/>
    <p:sldId id="298" r:id="rId22"/>
    <p:sldId id="269" r:id="rId23"/>
    <p:sldId id="299" r:id="rId24"/>
    <p:sldId id="271" r:id="rId25"/>
    <p:sldId id="272" r:id="rId26"/>
    <p:sldId id="317" r:id="rId27"/>
    <p:sldId id="274" r:id="rId28"/>
    <p:sldId id="273" r:id="rId29"/>
    <p:sldId id="319" r:id="rId30"/>
    <p:sldId id="320" r:id="rId31"/>
    <p:sldId id="321" r:id="rId32"/>
    <p:sldId id="322" r:id="rId33"/>
  </p:sldIdLst>
  <p:sldSz cx="12192000" cy="6858000"/>
  <p:notesSz cx="6761163" cy="9942513"/>
  <p:defaultTextStyle>
    <a:defPPr>
      <a:defRPr lang="bg-BG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/>
    </p:ext>
    <p:ext uri="{2D200454-40CA-4A62-9FC3-DE9A4176ACB9}">
      <p15:notes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013" autoAdjust="0"/>
    <p:restoredTop sz="76825" autoAdjust="0"/>
  </p:normalViewPr>
  <p:slideViewPr>
    <p:cSldViewPr snapToGrid="0">
      <p:cViewPr varScale="1">
        <p:scale>
          <a:sx n="76" d="100"/>
          <a:sy n="76" d="100"/>
        </p:scale>
        <p:origin x="-84" y="-15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66" d="100"/>
          <a:sy n="66" d="100"/>
        </p:scale>
        <p:origin x="3234" y="4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tableStyles" Target="tableStyle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929837" cy="498853"/>
          </a:xfrm>
          <a:prstGeom prst="rect">
            <a:avLst/>
          </a:prstGeom>
        </p:spPr>
        <p:txBody>
          <a:bodyPr vert="horz" lIns="92930" tIns="46465" rIns="92930" bIns="46465" rtlCol="0"/>
          <a:lstStyle>
            <a:lvl1pPr algn="l">
              <a:defRPr sz="1200"/>
            </a:lvl1pPr>
          </a:lstStyle>
          <a:p>
            <a:endParaRPr lang="bg-BG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29762" y="0"/>
            <a:ext cx="2929837" cy="498853"/>
          </a:xfrm>
          <a:prstGeom prst="rect">
            <a:avLst/>
          </a:prstGeom>
        </p:spPr>
        <p:txBody>
          <a:bodyPr vert="horz" lIns="92930" tIns="46465" rIns="92930" bIns="46465" rtlCol="0"/>
          <a:lstStyle>
            <a:lvl1pPr algn="r">
              <a:defRPr sz="1200"/>
            </a:lvl1pPr>
          </a:lstStyle>
          <a:p>
            <a:fld id="{62DAF501-497E-4319-B484-C5A85BB3EFD3}" type="datetimeFigureOut">
              <a:rPr lang="bg-BG" smtClean="0"/>
              <a:t>23.10.2023 г.</a:t>
            </a:fld>
            <a:endParaRPr lang="bg-BG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1" y="9443663"/>
            <a:ext cx="2929837" cy="498852"/>
          </a:xfrm>
          <a:prstGeom prst="rect">
            <a:avLst/>
          </a:prstGeom>
        </p:spPr>
        <p:txBody>
          <a:bodyPr vert="horz" lIns="92930" tIns="46465" rIns="92930" bIns="46465" rtlCol="0" anchor="b"/>
          <a:lstStyle>
            <a:lvl1pPr algn="l">
              <a:defRPr sz="1200"/>
            </a:lvl1pPr>
          </a:lstStyle>
          <a:p>
            <a:endParaRPr lang="bg-BG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29762" y="9443663"/>
            <a:ext cx="2929837" cy="498852"/>
          </a:xfrm>
          <a:prstGeom prst="rect">
            <a:avLst/>
          </a:prstGeom>
        </p:spPr>
        <p:txBody>
          <a:bodyPr vert="horz" lIns="92930" tIns="46465" rIns="92930" bIns="46465" rtlCol="0" anchor="b"/>
          <a:lstStyle>
            <a:lvl1pPr algn="r">
              <a:defRPr sz="1200"/>
            </a:lvl1pPr>
          </a:lstStyle>
          <a:p>
            <a:fld id="{335249C7-B5B2-4541-A187-B12F42083CB5}" type="slidenum">
              <a:rPr lang="bg-BG" smtClean="0"/>
              <a:t>‹#›</a:t>
            </a:fld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387324890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929837" cy="498853"/>
          </a:xfrm>
          <a:prstGeom prst="rect">
            <a:avLst/>
          </a:prstGeom>
        </p:spPr>
        <p:txBody>
          <a:bodyPr vert="horz" lIns="92930" tIns="46465" rIns="92930" bIns="46465" rtlCol="0"/>
          <a:lstStyle>
            <a:lvl1pPr algn="l">
              <a:defRPr sz="1200"/>
            </a:lvl1pPr>
          </a:lstStyle>
          <a:p>
            <a:endParaRPr lang="bg-BG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29762" y="0"/>
            <a:ext cx="2929837" cy="498853"/>
          </a:xfrm>
          <a:prstGeom prst="rect">
            <a:avLst/>
          </a:prstGeom>
        </p:spPr>
        <p:txBody>
          <a:bodyPr vert="horz" lIns="92930" tIns="46465" rIns="92930" bIns="46465" rtlCol="0"/>
          <a:lstStyle>
            <a:lvl1pPr algn="r">
              <a:defRPr sz="1200"/>
            </a:lvl1pPr>
          </a:lstStyle>
          <a:p>
            <a:fld id="{72A934B3-15CF-49D7-9C90-2FBDF446DA56}" type="datetimeFigureOut">
              <a:rPr lang="bg-BG" smtClean="0"/>
              <a:t>23.10.2023 г.</a:t>
            </a:fld>
            <a:endParaRPr lang="bg-BG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98463" y="1243013"/>
            <a:ext cx="5964237" cy="33559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2930" tIns="46465" rIns="92930" bIns="46465" rtlCol="0" anchor="ctr"/>
          <a:lstStyle/>
          <a:p>
            <a:endParaRPr lang="bg-BG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6117" y="4784834"/>
            <a:ext cx="5408930" cy="3914864"/>
          </a:xfrm>
          <a:prstGeom prst="rect">
            <a:avLst/>
          </a:prstGeom>
        </p:spPr>
        <p:txBody>
          <a:bodyPr vert="horz" lIns="92930" tIns="46465" rIns="92930" bIns="46465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bg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9443663"/>
            <a:ext cx="2929837" cy="498852"/>
          </a:xfrm>
          <a:prstGeom prst="rect">
            <a:avLst/>
          </a:prstGeom>
        </p:spPr>
        <p:txBody>
          <a:bodyPr vert="horz" lIns="92930" tIns="46465" rIns="92930" bIns="46465" rtlCol="0" anchor="b"/>
          <a:lstStyle>
            <a:lvl1pPr algn="l">
              <a:defRPr sz="1200"/>
            </a:lvl1pPr>
          </a:lstStyle>
          <a:p>
            <a:endParaRPr lang="bg-BG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29762" y="9443663"/>
            <a:ext cx="2929837" cy="498852"/>
          </a:xfrm>
          <a:prstGeom prst="rect">
            <a:avLst/>
          </a:prstGeom>
        </p:spPr>
        <p:txBody>
          <a:bodyPr vert="horz" lIns="92930" tIns="46465" rIns="92930" bIns="46465" rtlCol="0" anchor="b"/>
          <a:lstStyle>
            <a:lvl1pPr algn="r">
              <a:defRPr sz="1200"/>
            </a:lvl1pPr>
          </a:lstStyle>
          <a:p>
            <a:fld id="{5617F9B7-5110-4225-A395-C002DCB96977}" type="slidenum">
              <a:rPr lang="bg-BG" smtClean="0"/>
              <a:t>‹#›</a:t>
            </a:fld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17727614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bg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17F9B7-5110-4225-A395-C002DCB96977}" type="slidenum">
              <a:rPr lang="bg-BG" smtClean="0"/>
              <a:t>3</a:t>
            </a:fld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186199207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80000"/>
              </a:lnSpc>
              <a:defRPr/>
            </a:pPr>
            <a:endParaRPr lang="bg-BG" altLang="bg-BG" sz="1100" dirty="0"/>
          </a:p>
          <a:p>
            <a:endParaRPr lang="bg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17F9B7-5110-4225-A395-C002DCB96977}" type="slidenum">
              <a:rPr lang="bg-BG" smtClean="0"/>
              <a:t>4</a:t>
            </a:fld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66583259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bg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17F9B7-5110-4225-A395-C002DCB96977}" type="slidenum">
              <a:rPr lang="bg-BG" smtClean="0"/>
              <a:t>5</a:t>
            </a:fld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291521512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bg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17F9B7-5110-4225-A395-C002DCB96977}" type="slidenum">
              <a:rPr lang="bg-BG" smtClean="0"/>
              <a:t>6</a:t>
            </a:fld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111082300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bg-BG" dirty="0"/>
          </a:p>
          <a:p>
            <a:endParaRPr lang="bg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17F9B7-5110-4225-A395-C002DCB96977}" type="slidenum">
              <a:rPr lang="bg-BG" smtClean="0"/>
              <a:t>7</a:t>
            </a:fld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221717848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  <a:defRPr/>
            </a:pPr>
            <a:endParaRPr lang="bg-BG" altLang="bg-BG" sz="12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17F9B7-5110-4225-A395-C002DCB96977}" type="slidenum">
              <a:rPr lang="bg-BG" smtClean="0"/>
              <a:t>8</a:t>
            </a:fld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180691323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bg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17F9B7-5110-4225-A395-C002DCB96977}" type="slidenum">
              <a:rPr lang="bg-BG" smtClean="0"/>
              <a:t>9</a:t>
            </a:fld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299001431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bg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17F9B7-5110-4225-A395-C002DCB96977}" type="slidenum">
              <a:rPr lang="bg-BG" smtClean="0"/>
              <a:t>10</a:t>
            </a:fld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381457968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bg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17F9B7-5110-4225-A395-C002DCB96977}" type="slidenum">
              <a:rPr lang="bg-BG" smtClean="0"/>
              <a:t>12</a:t>
            </a:fld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237173119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80000"/>
              </a:lnSpc>
              <a:defRPr/>
            </a:pPr>
            <a:endParaRPr lang="bg-BG" altLang="bg-BG" sz="1100" dirty="0"/>
          </a:p>
          <a:p>
            <a:endParaRPr lang="bg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17F9B7-5110-4225-A395-C002DCB96977}" type="slidenum">
              <a:rPr lang="bg-BG" smtClean="0"/>
              <a:t>16</a:t>
            </a:fld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234492355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defTabSz="929305">
              <a:defRPr/>
            </a:pPr>
            <a:endParaRPr lang="bg-BG" dirty="0"/>
          </a:p>
          <a:p>
            <a:endParaRPr lang="bg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17F9B7-5110-4225-A395-C002DCB96977}" type="slidenum">
              <a:rPr lang="bg-BG" smtClean="0"/>
              <a:t>17</a:t>
            </a:fld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52030262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80000"/>
              </a:lnSpc>
              <a:defRPr/>
            </a:pPr>
            <a:endParaRPr lang="bg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17F9B7-5110-4225-A395-C002DCB96977}" type="slidenum">
              <a:rPr lang="bg-BG" smtClean="0"/>
              <a:t>18</a:t>
            </a:fld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239039284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80000"/>
              </a:lnSpc>
              <a:defRPr/>
            </a:pPr>
            <a:endParaRPr lang="bg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17F9B7-5110-4225-A395-C002DCB96977}" type="slidenum">
              <a:rPr lang="bg-BG" smtClean="0"/>
              <a:t>20</a:t>
            </a:fld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205537142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bg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17F9B7-5110-4225-A395-C002DCB96977}" type="slidenum">
              <a:rPr lang="bg-BG" smtClean="0"/>
              <a:t>21</a:t>
            </a:fld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391894986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bg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17F9B7-5110-4225-A395-C002DCB96977}" type="slidenum">
              <a:rPr lang="bg-BG" smtClean="0"/>
              <a:t>23</a:t>
            </a:fld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15183900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920834" y="134694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920834" y="429969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920834" y="1484779"/>
            <a:ext cx="10222992" cy="274320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10" name="Group 9"/>
          <p:cNvGrpSpPr/>
          <p:nvPr/>
        </p:nvGrpSpPr>
        <p:grpSpPr>
          <a:xfrm>
            <a:off x="9649215" y="4068923"/>
            <a:ext cx="1080904" cy="1080902"/>
            <a:chOff x="9685338" y="4460675"/>
            <a:chExt cx="1080904" cy="1080902"/>
          </a:xfrm>
        </p:grpSpPr>
        <p:sp>
          <p:nvSpPr>
            <p:cNvPr id="11" name="Oval 10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2" name="Oval 11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51560" y="1432223"/>
            <a:ext cx="9966960" cy="3035808"/>
          </a:xfrm>
        </p:spPr>
        <p:txBody>
          <a:bodyPr anchor="ctr">
            <a:noAutofit/>
          </a:bodyPr>
          <a:lstStyle>
            <a:lvl1pPr algn="l">
              <a:lnSpc>
                <a:spcPct val="80000"/>
              </a:lnSpc>
              <a:defRPr sz="9600" cap="all" baseline="0">
                <a:blipFill dpi="0" rotWithShape="1">
                  <a:blip r:embed="rId4"/>
                  <a:srcRect/>
                  <a:tile tx="6350" ty="-127000" sx="65000" sy="64000" flip="none" algn="tl"/>
                </a:blip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9848" y="4389120"/>
            <a:ext cx="7891272" cy="1069848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chemeClr val="tx1"/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6A666B-2F7D-4199-A5CF-D1399F06B5CC}" type="datetime1">
              <a:rPr lang="bg-BG" smtClean="0"/>
              <a:t>23.10.2023 г.</a:t>
            </a:fld>
            <a:endParaRPr lang="bg-BG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592733" y="4289334"/>
            <a:ext cx="1193868" cy="640080"/>
          </a:xfrm>
        </p:spPr>
        <p:txBody>
          <a:bodyPr/>
          <a:lstStyle>
            <a:lvl1pPr>
              <a:defRPr sz="2800"/>
            </a:lvl1pPr>
          </a:lstStyle>
          <a:p>
            <a:fld id="{081674E5-CD74-4638-A238-012A517DC16A}" type="slidenum">
              <a:rPr lang="bg-BG" smtClean="0"/>
              <a:t>‹#›</a:t>
            </a:fld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21316487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EF8BD3-AC58-47F1-B591-69906B5D74CE}" type="datetime1">
              <a:rPr lang="bg-BG" smtClean="0"/>
              <a:t>23.10.2023 г.</a:t>
            </a:fld>
            <a:endParaRPr lang="bg-BG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1674E5-CD74-4638-A238-012A517DC16A}" type="slidenum">
              <a:rPr lang="bg-BG" smtClean="0"/>
              <a:t>‹#›</a:t>
            </a:fld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35184416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4917989"/>
            <a:ext cx="12192000" cy="194001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67128" y="1225296"/>
            <a:ext cx="9281160" cy="3520440"/>
          </a:xfrm>
        </p:spPr>
        <p:txBody>
          <a:bodyPr anchor="ctr">
            <a:normAutofit/>
          </a:bodyPr>
          <a:lstStyle>
            <a:lvl1pPr>
              <a:lnSpc>
                <a:spcPct val="80000"/>
              </a:lnSpc>
              <a:defRPr sz="8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65774" y="5020056"/>
            <a:ext cx="9052560" cy="1066800"/>
          </a:xfrm>
        </p:spPr>
        <p:txBody>
          <a:bodyPr anchor="t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93667" y="6272784"/>
            <a:ext cx="2644309" cy="365125"/>
          </a:xfrm>
        </p:spPr>
        <p:txBody>
          <a:bodyPr/>
          <a:lstStyle/>
          <a:p>
            <a:fld id="{46564442-4F9C-4117-9AC9-3C912B6DAF6E}" type="datetime1">
              <a:rPr lang="bg-BG" smtClean="0"/>
              <a:t>23.10.2023 г.</a:t>
            </a:fld>
            <a:endParaRPr lang="bg-BG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182708" y="6272784"/>
            <a:ext cx="6327648" cy="365125"/>
          </a:xfrm>
        </p:spPr>
        <p:txBody>
          <a:bodyPr/>
          <a:lstStyle/>
          <a:p>
            <a:endParaRPr lang="bg-BG" dirty="0"/>
          </a:p>
        </p:txBody>
      </p:sp>
      <p:grpSp>
        <p:nvGrpSpPr>
          <p:cNvPr id="8" name="Group 7"/>
          <p:cNvGrpSpPr/>
          <p:nvPr/>
        </p:nvGrpSpPr>
        <p:grpSpPr>
          <a:xfrm>
            <a:off x="897399" y="2325848"/>
            <a:ext cx="1080904" cy="1080902"/>
            <a:chOff x="9685338" y="4460675"/>
            <a:chExt cx="1080904" cy="1080902"/>
          </a:xfrm>
        </p:grpSpPr>
        <p:sp>
          <p:nvSpPr>
            <p:cNvPr id="9" name="Oval 8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3702" y="2506133"/>
            <a:ext cx="1188298" cy="720332"/>
          </a:xfrm>
        </p:spPr>
        <p:txBody>
          <a:bodyPr/>
          <a:lstStyle>
            <a:lvl1pPr>
              <a:defRPr sz="2800"/>
            </a:lvl1pPr>
          </a:lstStyle>
          <a:p>
            <a:fld id="{081674E5-CD74-4638-A238-012A517DC16A}" type="slidenum">
              <a:rPr lang="bg-BG" smtClean="0"/>
              <a:t>‹#›</a:t>
            </a:fld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17454765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9848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64224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72E6C9-D462-4DF8-8A5B-084EF99FCB92}" type="datetime1">
              <a:rPr lang="bg-BG" smtClean="0"/>
              <a:t>23.10.2023 г.</a:t>
            </a:fld>
            <a:endParaRPr lang="bg-BG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1674E5-CD74-4638-A238-012A517DC16A}" type="slidenum">
              <a:rPr lang="bg-BG" smtClean="0"/>
              <a:t>‹#›</a:t>
            </a:fld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3060918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64224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64224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EB004C-1449-4E25-B641-5BE18784B024}" type="datetime1">
              <a:rPr lang="bg-BG" smtClean="0"/>
              <a:t>23.10.2023 г.</a:t>
            </a:fld>
            <a:endParaRPr lang="bg-BG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1674E5-CD74-4638-A238-012A517DC16A}" type="slidenum">
              <a:rPr lang="bg-BG" smtClean="0"/>
              <a:t>‹#›</a:t>
            </a:fld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5989079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BC1725-AB21-4845-BE49-CE8C42164743}" type="datetime1">
              <a:rPr lang="bg-BG" smtClean="0"/>
              <a:t>23.10.2023 г.</a:t>
            </a:fld>
            <a:endParaRPr lang="bg-BG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1674E5-CD74-4638-A238-012A517DC16A}" type="slidenum">
              <a:rPr lang="bg-BG" smtClean="0"/>
              <a:t>‹#›</a:t>
            </a:fld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40535369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87940C-92A6-42D4-A0AE-8AE229120CFF}" type="datetime1">
              <a:rPr lang="bg-BG" smtClean="0"/>
              <a:t>23.10.2023 г.</a:t>
            </a:fld>
            <a:endParaRPr lang="bg-BG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1674E5-CD74-4638-A238-012A517DC16A}" type="slidenum">
              <a:rPr lang="bg-BG" smtClean="0"/>
              <a:t>‹#›</a:t>
            </a:fld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4130514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85800"/>
            <a:ext cx="6711696" cy="5020056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4F04CA-5B7E-4437-926E-A34999B7E6C0}" type="datetime1">
              <a:rPr lang="bg-BG" smtClean="0"/>
              <a:t>23.10.2023 г.</a:t>
            </a:fld>
            <a:endParaRPr lang="bg-BG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 dirty="0"/>
          </a:p>
        </p:txBody>
      </p:sp>
      <p:grpSp>
        <p:nvGrpSpPr>
          <p:cNvPr id="9" name="Group 8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10" name="Oval 9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1" name="Oval 10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1674E5-CD74-4638-A238-012A517DC16A}" type="slidenum">
              <a:rPr lang="bg-BG" smtClean="0"/>
              <a:t>‹#›</a:t>
            </a:fld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32834096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8303740" cy="6858000"/>
          </a:xfrm>
          <a:solidFill>
            <a:schemeClr val="tx2">
              <a:lumMod val="20000"/>
              <a:lumOff val="80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DBFFBA-50AA-4558-ADC7-8C8BF6C03621}" type="datetime1">
              <a:rPr lang="bg-BG" smtClean="0"/>
              <a:t>23.10.2023 г.</a:t>
            </a:fld>
            <a:endParaRPr lang="bg-BG" dirty="0"/>
          </a:p>
        </p:txBody>
      </p:sp>
      <p:grpSp>
        <p:nvGrpSpPr>
          <p:cNvPr id="8" name="Group 7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9" name="Oval 8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1674E5-CD74-4638-A238-012A517DC16A}" type="slidenum">
              <a:rPr lang="bg-BG" smtClean="0"/>
              <a:t>‹#›</a:t>
            </a:fld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12875460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C901CF-14B7-42BE-8693-1C6A365ED97B}" type="datetime1">
              <a:rPr lang="bg-BG" smtClean="0"/>
              <a:t>23.10.2023 г.</a:t>
            </a:fld>
            <a:endParaRPr lang="bg-BG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1674E5-CD74-4638-A238-012A517DC16A}" type="slidenum">
              <a:rPr lang="bg-BG" smtClean="0"/>
              <a:t>‹#›</a:t>
            </a:fld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42827579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533400"/>
            <a:ext cx="2552700" cy="56388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66800" y="533400"/>
            <a:ext cx="7505700" cy="5638800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1A9374-CC8C-4027-8C9C-D37ED427A6AE}" type="datetime1">
              <a:rPr lang="bg-BG" smtClean="0"/>
              <a:t>23.10.2023 г.</a:t>
            </a:fld>
            <a:endParaRPr lang="bg-BG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1674E5-CD74-4638-A238-012A517DC16A}" type="slidenum">
              <a:rPr lang="bg-BG" smtClean="0"/>
              <a:t>‹#›</a:t>
            </a:fld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12995348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121408"/>
            <a:ext cx="10058400" cy="40507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2"/>
                </a:solidFill>
              </a:defRPr>
            </a:lvl1pPr>
          </a:lstStyle>
          <a:p>
            <a:fld id="{6DC22829-1A03-43BA-AD1C-84AE46C99B1D}" type="datetime1">
              <a:rPr lang="bg-BG" smtClean="0"/>
              <a:t>23.10.2023 г.</a:t>
            </a:fld>
            <a:endParaRPr lang="bg-BG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88136" y="6272784"/>
            <a:ext cx="63276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2"/>
                </a:solidFill>
              </a:defRPr>
            </a:lvl1pPr>
          </a:lstStyle>
          <a:p>
            <a:endParaRPr lang="bg-BG" dirty="0"/>
          </a:p>
        </p:txBody>
      </p:sp>
      <p:grpSp>
        <p:nvGrpSpPr>
          <p:cNvPr id="7" name="Group 6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8" name="Oval 7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13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14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9" name="Oval 8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 b="1">
                <a:solidFill>
                  <a:srgbClr val="FFFFFF"/>
                </a:solidFill>
                <a:latin typeface="+mj-lt"/>
              </a:defRPr>
            </a:lvl1pPr>
          </a:lstStyle>
          <a:p>
            <a:fld id="{081674E5-CD74-4638-A238-012A517DC16A}" type="slidenum">
              <a:rPr lang="bg-BG" smtClean="0"/>
              <a:t>‹#›</a:t>
            </a:fld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36348257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kern="1200" cap="all" baseline="0">
          <a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tile tx="6350" ty="-127000" sx="65000" sy="64000" flip="none" algn="tl"/>
          </a:blip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13" Type="http://schemas.openxmlformats.org/officeDocument/2006/relationships/image" Target="../media/image28.png"/><Relationship Id="rId18" Type="http://schemas.openxmlformats.org/officeDocument/2006/relationships/image" Target="../media/image33.png"/><Relationship Id="rId3" Type="http://schemas.openxmlformats.org/officeDocument/2006/relationships/image" Target="../media/image18.png"/><Relationship Id="rId21" Type="http://schemas.openxmlformats.org/officeDocument/2006/relationships/image" Target="../media/image120.png"/><Relationship Id="rId7" Type="http://schemas.openxmlformats.org/officeDocument/2006/relationships/image" Target="../media/image22.png"/><Relationship Id="rId12" Type="http://schemas.openxmlformats.org/officeDocument/2006/relationships/image" Target="../media/image27.png"/><Relationship Id="rId17" Type="http://schemas.openxmlformats.org/officeDocument/2006/relationships/image" Target="../media/image32.png"/><Relationship Id="rId25" Type="http://schemas.openxmlformats.org/officeDocument/2006/relationships/image" Target="../media/image40.png"/><Relationship Id="rId2" Type="http://schemas.openxmlformats.org/officeDocument/2006/relationships/image" Target="../media/image17.png"/><Relationship Id="rId16" Type="http://schemas.openxmlformats.org/officeDocument/2006/relationships/image" Target="../media/image31.png"/><Relationship Id="rId20" Type="http://schemas.openxmlformats.org/officeDocument/2006/relationships/image" Target="../media/image3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png"/><Relationship Id="rId11" Type="http://schemas.openxmlformats.org/officeDocument/2006/relationships/image" Target="../media/image26.png"/><Relationship Id="rId24" Type="http://schemas.openxmlformats.org/officeDocument/2006/relationships/image" Target="../media/image37.png"/><Relationship Id="rId5" Type="http://schemas.openxmlformats.org/officeDocument/2006/relationships/image" Target="../media/image20.png"/><Relationship Id="rId15" Type="http://schemas.openxmlformats.org/officeDocument/2006/relationships/image" Target="../media/image7.png"/><Relationship Id="rId23" Type="http://schemas.openxmlformats.org/officeDocument/2006/relationships/image" Target="../media/image36.png"/><Relationship Id="rId10" Type="http://schemas.openxmlformats.org/officeDocument/2006/relationships/image" Target="../media/image25.png"/><Relationship Id="rId19" Type="http://schemas.openxmlformats.org/officeDocument/2006/relationships/image" Target="../media/image34.png"/><Relationship Id="rId4" Type="http://schemas.openxmlformats.org/officeDocument/2006/relationships/image" Target="../media/image19.png"/><Relationship Id="rId9" Type="http://schemas.openxmlformats.org/officeDocument/2006/relationships/image" Target="../media/image24.png"/><Relationship Id="rId14" Type="http://schemas.openxmlformats.org/officeDocument/2006/relationships/image" Target="../media/image29.png"/><Relationship Id="rId22" Type="http://schemas.openxmlformats.org/officeDocument/2006/relationships/image" Target="../media/image30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.png"/><Relationship Id="rId13" Type="http://schemas.openxmlformats.org/officeDocument/2006/relationships/image" Target="../media/image52.png"/><Relationship Id="rId18" Type="http://schemas.openxmlformats.org/officeDocument/2006/relationships/image" Target="../media/image55.png"/><Relationship Id="rId3" Type="http://schemas.openxmlformats.org/officeDocument/2006/relationships/image" Target="../media/image42.png"/><Relationship Id="rId21" Type="http://schemas.openxmlformats.org/officeDocument/2006/relationships/image" Target="../media/image58.png"/><Relationship Id="rId7" Type="http://schemas.openxmlformats.org/officeDocument/2006/relationships/image" Target="../media/image46.png"/><Relationship Id="rId12" Type="http://schemas.openxmlformats.org/officeDocument/2006/relationships/image" Target="../media/image9.png"/><Relationship Id="rId17" Type="http://schemas.openxmlformats.org/officeDocument/2006/relationships/image" Target="../media/image39.png"/><Relationship Id="rId2" Type="http://schemas.openxmlformats.org/officeDocument/2006/relationships/image" Target="../media/image41.png"/><Relationship Id="rId16" Type="http://schemas.openxmlformats.org/officeDocument/2006/relationships/image" Target="../media/image38.png"/><Relationship Id="rId20" Type="http://schemas.openxmlformats.org/officeDocument/2006/relationships/image" Target="../media/image5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5.png"/><Relationship Id="rId11" Type="http://schemas.openxmlformats.org/officeDocument/2006/relationships/image" Target="../media/image8.png"/><Relationship Id="rId24" Type="http://schemas.openxmlformats.org/officeDocument/2006/relationships/image" Target="../media/image61.png"/><Relationship Id="rId5" Type="http://schemas.openxmlformats.org/officeDocument/2006/relationships/image" Target="../media/image44.png"/><Relationship Id="rId15" Type="http://schemas.openxmlformats.org/officeDocument/2006/relationships/image" Target="../media/image54.png"/><Relationship Id="rId23" Type="http://schemas.openxmlformats.org/officeDocument/2006/relationships/image" Target="../media/image60.png"/><Relationship Id="rId10" Type="http://schemas.openxmlformats.org/officeDocument/2006/relationships/image" Target="../media/image710.png"/><Relationship Id="rId19" Type="http://schemas.openxmlformats.org/officeDocument/2006/relationships/image" Target="../media/image56.png"/><Relationship Id="rId4" Type="http://schemas.openxmlformats.org/officeDocument/2006/relationships/image" Target="../media/image43.png"/><Relationship Id="rId9" Type="http://schemas.openxmlformats.org/officeDocument/2006/relationships/image" Target="../media/image48.png"/><Relationship Id="rId14" Type="http://schemas.openxmlformats.org/officeDocument/2006/relationships/image" Target="../media/image53.png"/><Relationship Id="rId22" Type="http://schemas.openxmlformats.org/officeDocument/2006/relationships/image" Target="../media/image59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50.png"/><Relationship Id="rId4" Type="http://schemas.openxmlformats.org/officeDocument/2006/relationships/image" Target="../media/image49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64.png"/><Relationship Id="rId4" Type="http://schemas.openxmlformats.org/officeDocument/2006/relationships/image" Target="../media/image63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65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1.png"/><Relationship Id="rId4" Type="http://schemas.openxmlformats.org/officeDocument/2006/relationships/image" Target="../media/image70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76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png"/><Relationship Id="rId7" Type="http://schemas.openxmlformats.org/officeDocument/2006/relationships/image" Target="../media/image82.png"/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81.png"/><Relationship Id="rId5" Type="http://schemas.openxmlformats.org/officeDocument/2006/relationships/image" Target="../media/image80.png"/><Relationship Id="rId4" Type="http://schemas.openxmlformats.org/officeDocument/2006/relationships/image" Target="../media/image7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34189" y="971490"/>
            <a:ext cx="10507579" cy="3957924"/>
          </a:xfrm>
        </p:spPr>
        <p:txBody>
          <a:bodyPr/>
          <a:lstStyle/>
          <a:p>
            <a:pPr algn="ctr"/>
            <a:r>
              <a:rPr lang="bg-BG" altLang="bg-BG" sz="4800" b="1" dirty="0"/>
              <a:t>Транспортна задача. Метод на потенциали. разпределителен метод</a:t>
            </a:r>
            <a:endParaRPr lang="bg-BG" sz="4800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1674E5-CD74-4638-A238-012A517DC16A}" type="slidenum">
              <a:rPr lang="bg-BG" smtClean="0"/>
              <a:t>1</a:t>
            </a:fld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24322936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32000" y="674260"/>
            <a:ext cx="9774988" cy="5618256"/>
          </a:xfrm>
        </p:spPr>
        <p:txBody>
          <a:bodyPr>
            <a:noAutofit/>
          </a:bodyPr>
          <a:lstStyle/>
          <a:p>
            <a:pPr indent="457200" algn="just">
              <a:lnSpc>
                <a:spcPct val="170000"/>
              </a:lnSpc>
              <a:defRPr/>
            </a:pPr>
            <a:r>
              <a:rPr lang="bg-BG" sz="2400" dirty="0"/>
              <a:t>Решението на една транспортна задача протича в следната последователност:</a:t>
            </a:r>
          </a:p>
          <a:p>
            <a:pPr marL="514350" indent="-514350" algn="just">
              <a:lnSpc>
                <a:spcPct val="170000"/>
              </a:lnSpc>
              <a:buFont typeface="+mj-lt"/>
              <a:buAutoNum type="arabicPeriod"/>
              <a:defRPr/>
            </a:pPr>
            <a:r>
              <a:rPr lang="bg-BG" sz="2400" dirty="0"/>
              <a:t>Построяване на начален опорен план (начално допустимо базисно решение)</a:t>
            </a:r>
          </a:p>
          <a:p>
            <a:pPr marL="514350" indent="-514350" algn="just">
              <a:lnSpc>
                <a:spcPct val="170000"/>
              </a:lnSpc>
              <a:buFont typeface="+mj-lt"/>
              <a:buAutoNum type="arabicPeriod"/>
              <a:defRPr/>
            </a:pPr>
            <a:r>
              <a:rPr lang="bg-BG" sz="2400" dirty="0"/>
              <a:t>Проверка за оптималност на плана. (Оценка на началния опорен план.)</a:t>
            </a:r>
          </a:p>
          <a:p>
            <a:pPr marL="514350" indent="-514350" algn="just">
              <a:lnSpc>
                <a:spcPct val="170000"/>
              </a:lnSpc>
              <a:buFont typeface="+mj-lt"/>
              <a:buAutoNum type="arabicPeriod"/>
              <a:defRPr/>
            </a:pPr>
            <a:r>
              <a:rPr lang="bg-BG" sz="2400" dirty="0"/>
              <a:t>Преход към следващ подобрен опорен план, ако полученият до момента не удовлетворява условието за оптималност.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1674E5-CD74-4638-A238-012A517DC16A}" type="slidenum">
              <a:rPr lang="bg-BG" smtClean="0"/>
              <a:t>2</a:t>
            </a:fld>
            <a:endParaRPr lang="bg-BG" dirty="0"/>
          </a:p>
        </p:txBody>
      </p:sp>
      <p:sp>
        <p:nvSpPr>
          <p:cNvPr id="6" name="Rectangle 5"/>
          <p:cNvSpPr/>
          <p:nvPr/>
        </p:nvSpPr>
        <p:spPr>
          <a:xfrm>
            <a:off x="216569" y="360546"/>
            <a:ext cx="8652690" cy="4124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80000"/>
              </a:lnSpc>
              <a:spcBef>
                <a:spcPct val="0"/>
              </a:spcBef>
            </a:pPr>
            <a:r>
              <a:rPr lang="ru-RU" sz="2600" b="1" cap="all" dirty="0">
                <a:blipFill>
                  <a:blip r:embed="rId2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tile tx="6350" ty="-127000" sx="65000" sy="64000" flip="none" algn="tl"/>
                </a:blipFill>
                <a:latin typeface="+mj-lt"/>
                <a:ea typeface="+mj-ea"/>
                <a:cs typeface="+mj-cs"/>
              </a:rPr>
              <a:t>Етапи при решаване на транспортната задача </a:t>
            </a:r>
            <a:endParaRPr lang="bg-BG" sz="2600" b="1" cap="all" dirty="0">
              <a:blipFill>
                <a:blip r:embed="rId2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tile tx="6350" ty="-127000" sx="65000" sy="64000" flip="none" algn="tl"/>
              </a:blipFill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736817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1674E5-CD74-4638-A238-012A517DC16A}" type="slidenum">
              <a:rPr lang="bg-BG" smtClean="0"/>
              <a:t>3</a:t>
            </a:fld>
            <a:endParaRPr lang="bg-BG" dirty="0"/>
          </a:p>
        </p:txBody>
      </p:sp>
      <p:sp>
        <p:nvSpPr>
          <p:cNvPr id="2" name="Rectangle 1"/>
          <p:cNvSpPr/>
          <p:nvPr/>
        </p:nvSpPr>
        <p:spPr>
          <a:xfrm>
            <a:off x="431026" y="242054"/>
            <a:ext cx="4532908" cy="3877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80000"/>
              </a:lnSpc>
              <a:spcBef>
                <a:spcPct val="0"/>
              </a:spcBef>
            </a:pPr>
            <a:r>
              <a:rPr lang="ru-RU" sz="2400" b="1" i="1" cap="all" dirty="0">
                <a:blipFill>
                  <a:blip r:embed="rId3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tile tx="6350" ty="-127000" sx="65000" sy="64000" flip="none" algn="tl"/>
                </a:blipFill>
                <a:latin typeface="+mj-lt"/>
                <a:ea typeface="+mj-ea"/>
                <a:cs typeface="+mj-cs"/>
              </a:rPr>
              <a:t>Проверка за оптималност </a:t>
            </a:r>
            <a:endParaRPr lang="bg-BG" sz="2400" b="1" i="1" cap="all" dirty="0">
              <a:blipFill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tile tx="6350" ty="-127000" sx="65000" sy="64000" flip="none" algn="tl"/>
              </a:blipFill>
              <a:latin typeface="+mj-lt"/>
              <a:ea typeface="+mj-ea"/>
              <a:cs typeface="+mj-c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4403402" y="762550"/>
            <a:ext cx="4604402" cy="4124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80000"/>
              </a:lnSpc>
              <a:spcBef>
                <a:spcPct val="0"/>
              </a:spcBef>
            </a:pPr>
            <a:r>
              <a:rPr lang="ru-RU" sz="2600" b="1" cap="all" dirty="0">
                <a:blipFill>
                  <a:blip r:embed="rId3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tile tx="6350" ty="-127000" sx="65000" sy="64000" flip="none" algn="tl"/>
                </a:blipFill>
                <a:latin typeface="+mj-lt"/>
                <a:ea typeface="+mj-ea"/>
                <a:cs typeface="+mj-cs"/>
              </a:rPr>
              <a:t>Метод на потенциалите</a:t>
            </a:r>
            <a:endParaRPr lang="bg-BG" sz="2600" b="1" cap="all" dirty="0">
              <a:blipFill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tile tx="6350" ty="-127000" sx="65000" sy="64000" flip="none" algn="tl"/>
              </a:blipFill>
              <a:latin typeface="+mj-lt"/>
              <a:ea typeface="+mj-ea"/>
              <a:cs typeface="+mj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2"/>
              <p:cNvSpPr txBox="1">
                <a:spLocks/>
              </p:cNvSpPr>
              <p:nvPr/>
            </p:nvSpPr>
            <p:spPr>
              <a:xfrm>
                <a:off x="2032000" y="141849"/>
                <a:ext cx="9919208" cy="6583804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182880" indent="-182880" algn="l" defTabSz="914400" rtl="0" eaLnBrk="1" latinLnBrk="0" hangingPunct="1">
                  <a:lnSpc>
                    <a:spcPct val="90000"/>
                  </a:lnSpc>
                  <a:spcBef>
                    <a:spcPts val="1200"/>
                  </a:spcBef>
                  <a:buClr>
                    <a:schemeClr val="accent1">
                      <a:lumMod val="75000"/>
                    </a:schemeClr>
                  </a:buClr>
                  <a:buSzPct val="85000"/>
                  <a:buFont typeface="Wingdings" pitchFamily="2" charset="2"/>
                  <a:buChar char="§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-182880" algn="l" defTabSz="914400" rtl="0" eaLnBrk="1" latinLnBrk="0" hangingPunct="1">
                  <a:lnSpc>
                    <a:spcPct val="90000"/>
                  </a:lnSpc>
                  <a:spcBef>
                    <a:spcPts val="400"/>
                  </a:spcBef>
                  <a:spcAft>
                    <a:spcPts val="200"/>
                  </a:spcAft>
                  <a:buClr>
                    <a:schemeClr val="accent1">
                      <a:lumMod val="75000"/>
                    </a:schemeClr>
                  </a:buClr>
                  <a:buSzPct val="85000"/>
                  <a:buFont typeface="Wingdings" pitchFamily="2" charset="2"/>
                  <a:buChar char="§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731520" indent="-182880" algn="l" defTabSz="914400" rtl="0" eaLnBrk="1" latinLnBrk="0" hangingPunct="1">
                  <a:lnSpc>
                    <a:spcPct val="90000"/>
                  </a:lnSpc>
                  <a:spcBef>
                    <a:spcPts val="400"/>
                  </a:spcBef>
                  <a:spcAft>
                    <a:spcPts val="200"/>
                  </a:spcAft>
                  <a:buClr>
                    <a:schemeClr val="accent1">
                      <a:lumMod val="75000"/>
                    </a:schemeClr>
                  </a:buClr>
                  <a:buSzPct val="85000"/>
                  <a:buFont typeface="Wingdings" pitchFamily="2" charset="2"/>
                  <a:buChar char="§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005840" indent="-182880" algn="l" defTabSz="914400" rtl="0" eaLnBrk="1" latinLnBrk="0" hangingPunct="1">
                  <a:lnSpc>
                    <a:spcPct val="90000"/>
                  </a:lnSpc>
                  <a:spcBef>
                    <a:spcPts val="400"/>
                  </a:spcBef>
                  <a:spcAft>
                    <a:spcPts val="200"/>
                  </a:spcAft>
                  <a:buClr>
                    <a:schemeClr val="accent1">
                      <a:lumMod val="75000"/>
                    </a:schemeClr>
                  </a:buClr>
                  <a:buSzPct val="85000"/>
                  <a:buFont typeface="Wingdings" pitchFamily="2" charset="2"/>
                  <a:buChar char="§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280160" indent="-182880" algn="l" defTabSz="914400" rtl="0" eaLnBrk="1" latinLnBrk="0" hangingPunct="1">
                  <a:lnSpc>
                    <a:spcPct val="90000"/>
                  </a:lnSpc>
                  <a:spcBef>
                    <a:spcPts val="400"/>
                  </a:spcBef>
                  <a:spcAft>
                    <a:spcPts val="200"/>
                  </a:spcAft>
                  <a:buClr>
                    <a:schemeClr val="accent1">
                      <a:lumMod val="75000"/>
                    </a:schemeClr>
                  </a:buClr>
                  <a:buSzPct val="85000"/>
                  <a:buFont typeface="Wingdings" pitchFamily="2" charset="2"/>
                  <a:buChar char="§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600000" indent="-228600" algn="l" defTabSz="914400" rtl="0" eaLnBrk="1" latinLnBrk="0" hangingPunct="1">
                  <a:lnSpc>
                    <a:spcPct val="90000"/>
                  </a:lnSpc>
                  <a:spcBef>
                    <a:spcPts val="400"/>
                  </a:spcBef>
                  <a:spcAft>
                    <a:spcPts val="200"/>
                  </a:spcAft>
                  <a:buClr>
                    <a:schemeClr val="accent1">
                      <a:lumMod val="75000"/>
                    </a:schemeClr>
                  </a:buClr>
                  <a:buSzPct val="85000"/>
                  <a:buFont typeface="Wingdings" pitchFamily="2" charset="2"/>
                  <a:buChar char="§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1900000" indent="-228600" algn="l" defTabSz="914400" rtl="0" eaLnBrk="1" latinLnBrk="0" hangingPunct="1">
                  <a:lnSpc>
                    <a:spcPct val="90000"/>
                  </a:lnSpc>
                  <a:spcBef>
                    <a:spcPts val="400"/>
                  </a:spcBef>
                  <a:spcAft>
                    <a:spcPts val="200"/>
                  </a:spcAft>
                  <a:buClr>
                    <a:schemeClr val="accent1">
                      <a:lumMod val="75000"/>
                    </a:schemeClr>
                  </a:buClr>
                  <a:buSzPct val="85000"/>
                  <a:buFont typeface="Wingdings" pitchFamily="2" charset="2"/>
                  <a:buChar char="§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200000" indent="-228600" algn="l" defTabSz="914400" rtl="0" eaLnBrk="1" latinLnBrk="0" hangingPunct="1">
                  <a:lnSpc>
                    <a:spcPct val="90000"/>
                  </a:lnSpc>
                  <a:spcBef>
                    <a:spcPts val="400"/>
                  </a:spcBef>
                  <a:spcAft>
                    <a:spcPts val="200"/>
                  </a:spcAft>
                  <a:buClr>
                    <a:schemeClr val="accent1">
                      <a:lumMod val="75000"/>
                    </a:schemeClr>
                  </a:buClr>
                  <a:buSzPct val="85000"/>
                  <a:buFont typeface="Wingdings" pitchFamily="2" charset="2"/>
                  <a:buChar char="§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500000" indent="-228600" algn="l" defTabSz="914400" rtl="0" eaLnBrk="1" latinLnBrk="0" hangingPunct="1">
                  <a:lnSpc>
                    <a:spcPct val="90000"/>
                  </a:lnSpc>
                  <a:spcBef>
                    <a:spcPts val="400"/>
                  </a:spcBef>
                  <a:spcAft>
                    <a:spcPts val="200"/>
                  </a:spcAft>
                  <a:buClr>
                    <a:schemeClr val="accent1">
                      <a:lumMod val="75000"/>
                    </a:schemeClr>
                  </a:buClr>
                  <a:buSzPct val="85000"/>
                  <a:buFont typeface="Wingdings" pitchFamily="2" charset="2"/>
                  <a:buChar char="§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457200" algn="just">
                  <a:lnSpc>
                    <a:spcPct val="100000"/>
                  </a:lnSpc>
                  <a:spcBef>
                    <a:spcPts val="600"/>
                  </a:spcBef>
                  <a:buNone/>
                </a:pPr>
                <a:endParaRPr lang="bg-BG" sz="2400" dirty="0">
                  <a:solidFill>
                    <a:schemeClr val="tx1">
                      <a:lumMod val="95000"/>
                      <a:lumOff val="5000"/>
                    </a:schemeClr>
                  </a:solidFill>
                </a:endParaRPr>
              </a:p>
              <a:p>
                <a:pPr marL="0" indent="457200" algn="just">
                  <a:lnSpc>
                    <a:spcPct val="100000"/>
                  </a:lnSpc>
                  <a:spcBef>
                    <a:spcPts val="600"/>
                  </a:spcBef>
                  <a:buNone/>
                </a:pPr>
                <a:endParaRPr lang="bg-BG" sz="2400" dirty="0">
                  <a:solidFill>
                    <a:schemeClr val="tx1">
                      <a:lumMod val="95000"/>
                      <a:lumOff val="5000"/>
                    </a:schemeClr>
                  </a:solidFill>
                </a:endParaRPr>
              </a:p>
              <a:p>
                <a:pPr marL="0" indent="457200" algn="just">
                  <a:lnSpc>
                    <a:spcPct val="150000"/>
                  </a:lnSpc>
                  <a:spcBef>
                    <a:spcPts val="600"/>
                  </a:spcBef>
                  <a:buNone/>
                </a:pPr>
                <a:r>
                  <a:rPr lang="bg-BG" sz="24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За всички пунктове се въвеждат специални променливи, наречени потенциали. За производителите </a:t>
                </a:r>
                <a:r>
                  <a:rPr lang="en-US" sz="24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A</a:t>
                </a:r>
                <a:r>
                  <a:rPr lang="en-US" sz="2400" baseline="-250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1</a:t>
                </a:r>
                <a:r>
                  <a:rPr lang="en-US" sz="24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, A</a:t>
                </a:r>
                <a:r>
                  <a:rPr lang="en-US" sz="2400" baseline="-250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2</a:t>
                </a:r>
                <a:r>
                  <a:rPr lang="en-US" sz="24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,.., A</a:t>
                </a:r>
                <a:r>
                  <a:rPr lang="en-US" sz="2400" baseline="-250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m</a:t>
                </a:r>
                <a:r>
                  <a:rPr lang="en-US" sz="24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 </a:t>
                </a:r>
                <a:r>
                  <a:rPr lang="bg-BG" sz="24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потенциалите се обозначават с </a:t>
                </a:r>
                <a:r>
                  <a:rPr lang="en-US" sz="24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u</a:t>
                </a:r>
                <a:r>
                  <a:rPr lang="en-US" sz="2400" baseline="-250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1</a:t>
                </a:r>
                <a:r>
                  <a:rPr lang="en-US" sz="24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, u</a:t>
                </a:r>
                <a:r>
                  <a:rPr lang="en-US" sz="2400" baseline="-250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2</a:t>
                </a:r>
                <a:r>
                  <a:rPr lang="en-US" sz="24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,…, u</a:t>
                </a:r>
                <a:r>
                  <a:rPr lang="en-US" sz="2400" baseline="-250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m</a:t>
                </a:r>
                <a:r>
                  <a:rPr lang="en-US" sz="24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 , </a:t>
                </a:r>
                <a:r>
                  <a:rPr lang="bg-BG" sz="24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а за потребителите </a:t>
                </a:r>
                <a:r>
                  <a:rPr lang="en-US" sz="24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B</a:t>
                </a:r>
                <a:r>
                  <a:rPr lang="en-US" sz="2400" baseline="-250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1</a:t>
                </a:r>
                <a:r>
                  <a:rPr lang="en-US" sz="24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, B</a:t>
                </a:r>
                <a:r>
                  <a:rPr lang="en-US" sz="2400" baseline="-250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2</a:t>
                </a:r>
                <a:r>
                  <a:rPr lang="en-US" sz="24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,…, B</a:t>
                </a:r>
                <a:r>
                  <a:rPr lang="en-US" sz="2400" baseline="-250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n</a:t>
                </a:r>
                <a:r>
                  <a:rPr lang="bg-BG" sz="24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  - с </a:t>
                </a:r>
                <a:r>
                  <a:rPr lang="en-US" sz="24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v</a:t>
                </a:r>
                <a:r>
                  <a:rPr lang="en-US" sz="2400" baseline="-250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1</a:t>
                </a:r>
                <a:r>
                  <a:rPr lang="en-US" sz="24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, v</a:t>
                </a:r>
                <a:r>
                  <a:rPr lang="en-US" sz="2400" baseline="-250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2</a:t>
                </a:r>
                <a:r>
                  <a:rPr lang="en-US" sz="24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,…, v</a:t>
                </a:r>
                <a:r>
                  <a:rPr lang="en-US" sz="2400" baseline="-250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n</a:t>
                </a:r>
                <a:r>
                  <a:rPr lang="bg-BG" sz="24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 </a:t>
                </a:r>
                <a:r>
                  <a:rPr lang="ru-RU" sz="2400" dirty="0"/>
                  <a:t>и стойностите им подлежат на определяне. </a:t>
                </a:r>
              </a:p>
              <a:p>
                <a:pPr marL="0" indent="457200" algn="just">
                  <a:lnSpc>
                    <a:spcPct val="150000"/>
                  </a:lnSpc>
                  <a:spcBef>
                    <a:spcPts val="600"/>
                  </a:spcBef>
                  <a:buNone/>
                </a:pPr>
                <a:r>
                  <a:rPr lang="bg-BG" sz="24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Методът се реализира в следната последователност:</a:t>
                </a:r>
              </a:p>
              <a:p>
                <a:pPr marL="914400" indent="-457200" algn="just">
                  <a:lnSpc>
                    <a:spcPct val="150000"/>
                  </a:lnSpc>
                  <a:spcBef>
                    <a:spcPts val="0"/>
                  </a:spcBef>
                  <a:buFont typeface="+mj-lt"/>
                  <a:buAutoNum type="arabicPeriod"/>
                </a:pPr>
                <a:r>
                  <a:rPr lang="bg-BG" sz="24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Определят се потенциалите </a:t>
                </a:r>
                <a:r>
                  <a:rPr lang="en-US" sz="24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u</a:t>
                </a:r>
                <a:r>
                  <a:rPr lang="en-US" sz="2400" baseline="-250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1</a:t>
                </a:r>
                <a:r>
                  <a:rPr lang="en-US" sz="24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, u</a:t>
                </a:r>
                <a:r>
                  <a:rPr lang="en-US" sz="2400" baseline="-250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2</a:t>
                </a:r>
                <a:r>
                  <a:rPr lang="en-US" sz="24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,…, u</a:t>
                </a:r>
                <a:r>
                  <a:rPr lang="en-US" sz="2400" baseline="-250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m</a:t>
                </a:r>
                <a:r>
                  <a:rPr lang="en-US" sz="24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 </a:t>
                </a:r>
                <a:r>
                  <a:rPr lang="bg-BG" sz="24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и </a:t>
                </a:r>
                <a:r>
                  <a:rPr lang="en-US" sz="24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v</a:t>
                </a:r>
                <a:r>
                  <a:rPr lang="en-US" sz="2400" baseline="-250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1</a:t>
                </a:r>
                <a:r>
                  <a:rPr lang="en-US" sz="24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, v</a:t>
                </a:r>
                <a:r>
                  <a:rPr lang="en-US" sz="2400" baseline="-250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2</a:t>
                </a:r>
                <a:r>
                  <a:rPr lang="en-US" sz="24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,…, v</a:t>
                </a:r>
                <a:r>
                  <a:rPr lang="en-US" sz="2400" baseline="-250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n</a:t>
                </a:r>
                <a:r>
                  <a:rPr lang="bg-BG" sz="2400" baseline="-250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 </a:t>
                </a:r>
                <a:r>
                  <a:rPr lang="bg-BG" sz="24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от пълните клетки (базисните променливи) посредством равенството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bg-BG" sz="24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US" sz="24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400" i="1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24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sz="24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sz="2400" i="1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4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sz="24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  <m:r>
                      <a:rPr lang="bg-BG" sz="2400" i="1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bg-BG" sz="2400" i="1">
                        <a:latin typeface="Cambria Math" panose="02040503050406030204" pitchFamily="18" charset="0"/>
                      </a:rPr>
                      <m:t>𝑖</m:t>
                    </m:r>
                    <m:r>
                      <a:rPr lang="bg-BG" sz="2400" i="1">
                        <a:latin typeface="Cambria Math" panose="02040503050406030204" pitchFamily="18" charset="0"/>
                      </a:rPr>
                      <m:t>=1,…..,</m:t>
                    </m:r>
                    <m:r>
                      <a:rPr lang="bg-BG" sz="2400" i="1">
                        <a:latin typeface="Cambria Math" panose="02040503050406030204" pitchFamily="18" charset="0"/>
                      </a:rPr>
                      <m:t>𝑚</m:t>
                    </m:r>
                    <m:r>
                      <a:rPr lang="bg-BG" sz="2400" i="1">
                        <a:latin typeface="Cambria Math" panose="02040503050406030204" pitchFamily="18" charset="0"/>
                      </a:rPr>
                      <m:t>,  </m:t>
                    </m:r>
                    <m:r>
                      <a:rPr lang="bg-BG" sz="2400" i="1">
                        <a:latin typeface="Cambria Math" panose="02040503050406030204" pitchFamily="18" charset="0"/>
                      </a:rPr>
                      <m:t>𝑗</m:t>
                    </m:r>
                    <m:r>
                      <a:rPr lang="bg-BG" sz="2400" i="1">
                        <a:latin typeface="Cambria Math" panose="02040503050406030204" pitchFamily="18" charset="0"/>
                      </a:rPr>
                      <m:t>=1,…….,</m:t>
                    </m:r>
                    <m:r>
                      <a:rPr lang="bg-BG" sz="2400" i="1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bg-BG" sz="24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. </a:t>
                </a:r>
                <a:endParaRPr lang="en-US" sz="2400" dirty="0">
                  <a:solidFill>
                    <a:schemeClr val="tx1">
                      <a:lumMod val="95000"/>
                      <a:lumOff val="5000"/>
                    </a:schemeClr>
                  </a:solidFill>
                </a:endParaRPr>
              </a:p>
              <a:p>
                <a:pPr marL="914400" indent="-457200" algn="just">
                  <a:lnSpc>
                    <a:spcPct val="150000"/>
                  </a:lnSpc>
                  <a:spcBef>
                    <a:spcPts val="0"/>
                  </a:spcBef>
                  <a:buFont typeface="+mj-lt"/>
                  <a:buAutoNum type="arabicPeriod"/>
                </a:pPr>
                <a:r>
                  <a:rPr lang="bg-BG" sz="24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Изчислява се индексна оценка за празните клетки (свободните променливи) чрез равенството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bg-BG" sz="24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sz="24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  <m:r>
                      <a:rPr lang="en-US" sz="2400" i="1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4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US" sz="24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400" i="1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24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sz="24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sz="2400" i="1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sz="24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sz="24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</m:oMath>
                </a14:m>
                <a:endParaRPr lang="en-US" sz="2400" dirty="0">
                  <a:solidFill>
                    <a:schemeClr val="tx1">
                      <a:lumMod val="95000"/>
                      <a:lumOff val="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7" name="Content Placeholder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32000" y="141849"/>
                <a:ext cx="9919208" cy="6583804"/>
              </a:xfrm>
              <a:prstGeom prst="rect">
                <a:avLst/>
              </a:prstGeom>
              <a:blipFill>
                <a:blip r:embed="rId4"/>
                <a:stretch>
                  <a:fillRect l="-921" r="-921" b="-1481"/>
                </a:stretch>
              </a:blipFill>
            </p:spPr>
            <p:txBody>
              <a:bodyPr/>
              <a:lstStyle/>
              <a:p>
                <a:r>
                  <a:rPr lang="bg-BG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33148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1674E5-CD74-4638-A238-012A517DC16A}" type="slidenum">
              <a:rPr lang="bg-BG" smtClean="0"/>
              <a:t>4</a:t>
            </a:fld>
            <a:endParaRPr lang="bg-BG" dirty="0"/>
          </a:p>
        </p:txBody>
      </p:sp>
      <p:sp>
        <p:nvSpPr>
          <p:cNvPr id="7" name="Content Placeholder 2"/>
          <p:cNvSpPr txBox="1">
            <a:spLocks/>
          </p:cNvSpPr>
          <p:nvPr/>
        </p:nvSpPr>
        <p:spPr>
          <a:xfrm>
            <a:off x="1695117" y="916402"/>
            <a:ext cx="10240210" cy="4620126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algn="just">
              <a:lnSpc>
                <a:spcPct val="150000"/>
              </a:lnSpc>
              <a:spcBef>
                <a:spcPts val="0"/>
              </a:spcBef>
            </a:pPr>
            <a:r>
              <a:rPr lang="bg-BG" sz="2400" b="1" i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Критерий за оптималност </a:t>
            </a:r>
            <a:r>
              <a:rPr lang="bg-BG" sz="2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– Всички индексни оценки на празните клетки (свободните променливи) са отрицателни или нули. Ако съществува една или повече положителни индексни оценки, планът не е оптимален и може да бъде подобрен. </a:t>
            </a:r>
          </a:p>
          <a:p>
            <a:pPr marL="457200" indent="360000" algn="just">
              <a:lnSpc>
                <a:spcPct val="150000"/>
              </a:lnSpc>
              <a:spcBef>
                <a:spcPts val="0"/>
              </a:spcBef>
            </a:pPr>
            <a:r>
              <a:rPr lang="ru-RU" sz="2400" dirty="0"/>
              <a:t>Алгоритъмът на метода на потенциалите се състои от предварителен и общ етап, който се повтаря, докато се получи оптималния план. </a:t>
            </a:r>
            <a:endParaRPr lang="bg-BG" sz="24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457200" algn="just">
              <a:lnSpc>
                <a:spcPct val="150000"/>
              </a:lnSpc>
              <a:spcBef>
                <a:spcPts val="0"/>
              </a:spcBef>
            </a:pPr>
            <a:endParaRPr lang="ru-RU" sz="24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457200" algn="just">
              <a:lnSpc>
                <a:spcPct val="150000"/>
              </a:lnSpc>
              <a:spcBef>
                <a:spcPts val="0"/>
              </a:spcBef>
            </a:pPr>
            <a:endParaRPr lang="bg-BG" altLang="bg-BG" sz="2400" baseline="-25000" dirty="0">
              <a:sym typeface="Symbol" panose="05050102010706020507" pitchFamily="18" charset="2"/>
            </a:endParaRPr>
          </a:p>
          <a:p>
            <a:pPr marL="457200" algn="just">
              <a:lnSpc>
                <a:spcPct val="150000"/>
              </a:lnSpc>
              <a:spcBef>
                <a:spcPts val="0"/>
              </a:spcBef>
            </a:pPr>
            <a:endParaRPr lang="en-US" sz="24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007379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12652" y="94661"/>
            <a:ext cx="9278292" cy="6522705"/>
          </a:xfrm>
        </p:spPr>
        <p:txBody>
          <a:bodyPr>
            <a:noAutofit/>
          </a:bodyPr>
          <a:lstStyle/>
          <a:p>
            <a:pPr indent="457200" algn="just">
              <a:lnSpc>
                <a:spcPct val="150000"/>
              </a:lnSpc>
              <a:defRPr/>
            </a:pPr>
            <a:r>
              <a:rPr lang="ru-RU" sz="2400" b="1" i="1" dirty="0"/>
              <a:t>Предварителен етап </a:t>
            </a:r>
          </a:p>
          <a:p>
            <a:pPr indent="457200" algn="just">
              <a:lnSpc>
                <a:spcPct val="150000"/>
              </a:lnSpc>
              <a:defRPr/>
            </a:pPr>
            <a:r>
              <a:rPr lang="ru-RU" sz="2400" dirty="0"/>
              <a:t>На този етап последователно се извършват следните действия: </a:t>
            </a:r>
          </a:p>
          <a:p>
            <a:pPr marL="457200" indent="-457200" algn="just">
              <a:lnSpc>
                <a:spcPct val="150000"/>
              </a:lnSpc>
              <a:buFont typeface="+mj-lt"/>
              <a:buAutoNum type="arabicPeriod"/>
              <a:defRPr/>
            </a:pPr>
            <a:r>
              <a:rPr lang="ru-RU" sz="2400" dirty="0"/>
              <a:t>Построява се начален опорен план по правилото на северозападния ъгъл или по правилото на минималния елемент в транспортната матрица. </a:t>
            </a:r>
          </a:p>
          <a:p>
            <a:pPr marL="457200" indent="-457200" algn="just">
              <a:lnSpc>
                <a:spcPct val="150000"/>
              </a:lnSpc>
              <a:buFont typeface="+mj-lt"/>
              <a:buAutoNum type="arabicPeriod"/>
              <a:defRPr/>
            </a:pPr>
            <a:r>
              <a:rPr lang="ru-RU" sz="2400" dirty="0"/>
              <a:t>Определят се потенциалите </a:t>
            </a:r>
            <a:r>
              <a:rPr lang="en-US" sz="2400" dirty="0"/>
              <a:t>u</a:t>
            </a:r>
            <a:r>
              <a:rPr lang="en-US" sz="2400" baseline="-25000" dirty="0"/>
              <a:t>i</a:t>
            </a:r>
            <a:r>
              <a:rPr lang="ru-RU" sz="2400" dirty="0"/>
              <a:t> и v</a:t>
            </a:r>
            <a:r>
              <a:rPr lang="en-US" sz="2400" baseline="-25000" dirty="0"/>
              <a:t>j</a:t>
            </a:r>
            <a:r>
              <a:rPr lang="ru-RU" sz="2400" dirty="0"/>
              <a:t> за всеки ред и всеки стълб.</a:t>
            </a:r>
            <a:r>
              <a:rPr lang="bg-BG" altLang="bg-BG" sz="2400" dirty="0"/>
              <a:t> </a:t>
            </a:r>
            <a:r>
              <a:rPr lang="ru-RU" sz="2400" dirty="0"/>
              <a:t>Числата </a:t>
            </a:r>
            <a:r>
              <a:rPr lang="en-US" sz="2400" dirty="0"/>
              <a:t>u</a:t>
            </a:r>
            <a:r>
              <a:rPr lang="en-US" sz="2400" baseline="-25000" dirty="0"/>
              <a:t>1</a:t>
            </a:r>
            <a:r>
              <a:rPr lang="en-US" sz="2400" dirty="0"/>
              <a:t>,u</a:t>
            </a:r>
            <a:r>
              <a:rPr lang="en-US" sz="2400" baseline="-25000" dirty="0"/>
              <a:t>2</a:t>
            </a:r>
            <a:r>
              <a:rPr lang="en-US" sz="2400" dirty="0"/>
              <a:t>,…,v</a:t>
            </a:r>
            <a:r>
              <a:rPr lang="en-US" sz="2400" baseline="-25000" dirty="0"/>
              <a:t>1</a:t>
            </a:r>
            <a:r>
              <a:rPr lang="en-US" sz="2400" dirty="0"/>
              <a:t>,…,v</a:t>
            </a:r>
            <a:r>
              <a:rPr lang="en-US" sz="2400" baseline="-25000" dirty="0"/>
              <a:t>n</a:t>
            </a:r>
            <a:r>
              <a:rPr lang="ru-RU" sz="2400" dirty="0"/>
              <a:t> се определят от уловието: </a:t>
            </a:r>
            <a:endParaRPr lang="en-US" sz="2400" dirty="0"/>
          </a:p>
          <a:p>
            <a:pPr algn="ctr">
              <a:lnSpc>
                <a:spcPct val="100000"/>
              </a:lnSpc>
              <a:defRPr/>
            </a:pPr>
            <a:r>
              <a:rPr lang="en-US" altLang="bg-BG" sz="2400" dirty="0"/>
              <a:t>u</a:t>
            </a:r>
            <a:r>
              <a:rPr lang="en-US" altLang="bg-BG" sz="2400" baseline="-25000" dirty="0"/>
              <a:t>i</a:t>
            </a:r>
            <a:r>
              <a:rPr lang="en-US" altLang="bg-BG" sz="2400" dirty="0"/>
              <a:t> </a:t>
            </a:r>
            <a:r>
              <a:rPr lang="bg-BG" altLang="bg-BG" sz="2400" dirty="0"/>
              <a:t>+</a:t>
            </a:r>
            <a:r>
              <a:rPr lang="en-US" altLang="bg-BG" sz="2400" dirty="0"/>
              <a:t> v</a:t>
            </a:r>
            <a:r>
              <a:rPr lang="en-US" altLang="bg-BG" sz="2400" baseline="-25000" dirty="0"/>
              <a:t>j</a:t>
            </a:r>
            <a:r>
              <a:rPr lang="en-US" altLang="bg-BG" sz="2400" dirty="0"/>
              <a:t> </a:t>
            </a:r>
            <a:r>
              <a:rPr lang="en-US" altLang="bg-BG" sz="2400" dirty="0">
                <a:sym typeface="Symbol" panose="05050102010706020507" pitchFamily="18" charset="2"/>
              </a:rPr>
              <a:t>= c</a:t>
            </a:r>
            <a:r>
              <a:rPr lang="en-US" altLang="bg-BG" sz="2400" baseline="-25000" dirty="0">
                <a:sym typeface="Symbol" panose="05050102010706020507" pitchFamily="18" charset="2"/>
              </a:rPr>
              <a:t>ij  </a:t>
            </a:r>
            <a:r>
              <a:rPr lang="bg-BG" altLang="bg-BG" sz="2400" dirty="0">
                <a:sym typeface="Symbol" panose="05050102010706020507" pitchFamily="18" charset="2"/>
              </a:rPr>
              <a:t>за </a:t>
            </a:r>
            <a:r>
              <a:rPr lang="en-US" altLang="bg-BG" sz="2400" dirty="0">
                <a:sym typeface="Symbol" panose="05050102010706020507" pitchFamily="18" charset="2"/>
              </a:rPr>
              <a:t>x</a:t>
            </a:r>
            <a:r>
              <a:rPr lang="en-US" altLang="bg-BG" sz="2400" baseline="-25000" dirty="0">
                <a:sym typeface="Symbol" panose="05050102010706020507" pitchFamily="18" charset="2"/>
              </a:rPr>
              <a:t>ij&gt;</a:t>
            </a:r>
            <a:r>
              <a:rPr lang="en-US" altLang="bg-BG" sz="2400" dirty="0">
                <a:sym typeface="Symbol" panose="05050102010706020507" pitchFamily="18" charset="2"/>
              </a:rPr>
              <a:t>0</a:t>
            </a:r>
            <a:r>
              <a:rPr lang="bg-BG" altLang="bg-BG" sz="2400" dirty="0">
                <a:sym typeface="Symbol" panose="05050102010706020507" pitchFamily="18" charset="2"/>
              </a:rPr>
              <a:t>, </a:t>
            </a:r>
          </a:p>
          <a:p>
            <a:pPr algn="ctr">
              <a:lnSpc>
                <a:spcPct val="100000"/>
              </a:lnSpc>
              <a:defRPr/>
            </a:pPr>
            <a:r>
              <a:rPr lang="bg-BG" altLang="bg-BG" sz="2400" dirty="0">
                <a:sym typeface="Symbol" panose="05050102010706020507" pitchFamily="18" charset="2"/>
              </a:rPr>
              <a:t>което е изпълнено за всички запълнени клетки.</a:t>
            </a:r>
            <a:endParaRPr lang="bg-BG" altLang="bg-BG" sz="2400" dirty="0"/>
          </a:p>
          <a:p>
            <a:pPr algn="just">
              <a:lnSpc>
                <a:spcPct val="150000"/>
              </a:lnSpc>
              <a:defRPr/>
            </a:pPr>
            <a:endParaRPr lang="bg-BG" altLang="bg-BG" sz="2400" dirty="0"/>
          </a:p>
          <a:p>
            <a:pPr algn="just"/>
            <a:endParaRPr lang="bg-BG" sz="2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1674E5-CD74-4638-A238-012A517DC16A}" type="slidenum">
              <a:rPr lang="bg-BG" smtClean="0"/>
              <a:t>5</a:t>
            </a:fld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38141116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32000" y="258674"/>
            <a:ext cx="9711870" cy="6599325"/>
          </a:xfrm>
        </p:spPr>
        <p:txBody>
          <a:bodyPr>
            <a:noAutofit/>
          </a:bodyPr>
          <a:lstStyle/>
          <a:p>
            <a:pPr indent="465138" algn="just">
              <a:lnSpc>
                <a:spcPct val="150000"/>
              </a:lnSpc>
              <a:defRPr/>
            </a:pPr>
            <a:r>
              <a:rPr lang="ru-RU" sz="2400" dirty="0"/>
              <a:t>Броят на уравненията в тази ситема е m + n −1 , а броят на неизвестните е m + </a:t>
            </a:r>
            <a:r>
              <a:rPr lang="en-US" sz="2400" dirty="0"/>
              <a:t>n</a:t>
            </a:r>
            <a:r>
              <a:rPr lang="ru-RU" sz="2400" dirty="0"/>
              <a:t> . Такава система уравнения има безбройно много решения, всяко от които служи на поставената цел. Необходимо е да бъде намерено едно, което да е решение на системата от по-горните уравнения. За целта избираме един от потенциалите произволно и му задаваме нулева стойност. Обикновено се избира потенциалът, в чиито ред или стълб има най-много пълни клетки след построяването на началния опорен план. Останалите потенциали се определят съвсем лесно от уравненията </a:t>
            </a:r>
            <a:r>
              <a:rPr lang="en-US" altLang="bg-BG" sz="2400" dirty="0"/>
              <a:t>u</a:t>
            </a:r>
            <a:r>
              <a:rPr lang="en-US" altLang="bg-BG" sz="2400" baseline="-25000" dirty="0"/>
              <a:t>i</a:t>
            </a:r>
            <a:r>
              <a:rPr lang="en-US" altLang="bg-BG" sz="2400" dirty="0"/>
              <a:t> </a:t>
            </a:r>
            <a:r>
              <a:rPr lang="bg-BG" altLang="bg-BG" sz="2400" dirty="0"/>
              <a:t>+</a:t>
            </a:r>
            <a:r>
              <a:rPr lang="en-US" altLang="bg-BG" sz="2400" dirty="0"/>
              <a:t> v</a:t>
            </a:r>
            <a:r>
              <a:rPr lang="en-US" altLang="bg-BG" sz="2400" baseline="-25000" dirty="0"/>
              <a:t>j</a:t>
            </a:r>
            <a:r>
              <a:rPr lang="en-US" altLang="bg-BG" sz="2400" dirty="0"/>
              <a:t> </a:t>
            </a:r>
            <a:r>
              <a:rPr lang="en-US" altLang="bg-BG" sz="2400" dirty="0">
                <a:sym typeface="Symbol" panose="05050102010706020507" pitchFamily="18" charset="2"/>
              </a:rPr>
              <a:t>= </a:t>
            </a:r>
            <a:r>
              <a:rPr lang="en-US" altLang="bg-BG" sz="2400" dirty="0" err="1">
                <a:sym typeface="Symbol" panose="05050102010706020507" pitchFamily="18" charset="2"/>
              </a:rPr>
              <a:t>c</a:t>
            </a:r>
            <a:r>
              <a:rPr lang="en-US" altLang="bg-BG" sz="2400" baseline="-25000" dirty="0" err="1">
                <a:sym typeface="Symbol" panose="05050102010706020507" pitchFamily="18" charset="2"/>
              </a:rPr>
              <a:t>ij</a:t>
            </a:r>
            <a:r>
              <a:rPr lang="bg-BG" altLang="bg-BG" sz="2400" dirty="0">
                <a:sym typeface="Symbol" panose="05050102010706020507" pitchFamily="18" charset="2"/>
              </a:rPr>
              <a:t>, за </a:t>
            </a:r>
            <a:r>
              <a:rPr lang="en-US" altLang="bg-BG" sz="2400" dirty="0">
                <a:sym typeface="Symbol" panose="05050102010706020507" pitchFamily="18" charset="2"/>
              </a:rPr>
              <a:t>x</a:t>
            </a:r>
            <a:r>
              <a:rPr lang="en-US" altLang="bg-BG" sz="2400" baseline="-25000" dirty="0">
                <a:sym typeface="Symbol" panose="05050102010706020507" pitchFamily="18" charset="2"/>
              </a:rPr>
              <a:t>ij&gt;</a:t>
            </a:r>
            <a:r>
              <a:rPr lang="en-US" altLang="bg-BG" sz="2400" dirty="0">
                <a:sym typeface="Symbol" panose="05050102010706020507" pitchFamily="18" charset="2"/>
              </a:rPr>
              <a:t>0</a:t>
            </a:r>
            <a:r>
              <a:rPr lang="ru-RU" sz="2400" dirty="0"/>
              <a:t>, всяко от които е с две неизвестни. Получениете значения на потенциалите се нанасят в транспортната таблица при съответните пунктове.</a:t>
            </a:r>
            <a:endParaRPr lang="bg-BG" sz="2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1674E5-CD74-4638-A238-012A517DC16A}" type="slidenum">
              <a:rPr lang="bg-BG" smtClean="0"/>
              <a:t>6</a:t>
            </a:fld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7419630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32000" y="256674"/>
            <a:ext cx="9706574" cy="6079958"/>
          </a:xfrm>
        </p:spPr>
        <p:txBody>
          <a:bodyPr>
            <a:noAutofit/>
          </a:bodyPr>
          <a:lstStyle/>
          <a:p>
            <a:pPr indent="465138" algn="just">
              <a:lnSpc>
                <a:spcPct val="150000"/>
              </a:lnSpc>
              <a:defRPr/>
            </a:pPr>
            <a:r>
              <a:rPr lang="ru-RU" sz="2400" dirty="0"/>
              <a:t>Изследва се построената система </a:t>
            </a:r>
            <a:r>
              <a:rPr lang="en-US" sz="2400" dirty="0"/>
              <a:t>u</a:t>
            </a:r>
            <a:r>
              <a:rPr lang="en-US" sz="2400" baseline="-25000" dirty="0"/>
              <a:t>i</a:t>
            </a:r>
            <a:r>
              <a:rPr lang="bg-BG" sz="2400" baseline="-25000" dirty="0"/>
              <a:t> </a:t>
            </a:r>
            <a:r>
              <a:rPr lang="ru-RU" sz="2400" dirty="0"/>
              <a:t>, v</a:t>
            </a:r>
            <a:r>
              <a:rPr lang="en-US" sz="2400" baseline="-25000" dirty="0"/>
              <a:t>j</a:t>
            </a:r>
            <a:r>
              <a:rPr lang="ru-RU" sz="2400" dirty="0"/>
              <a:t> за потенциалност, т.е. изследва се планът за оптималност. Числата </a:t>
            </a:r>
            <a:r>
              <a:rPr lang="en-US" sz="2400" dirty="0"/>
              <a:t>u</a:t>
            </a:r>
            <a:r>
              <a:rPr lang="en-US" sz="2400" baseline="-25000" dirty="0"/>
              <a:t>i</a:t>
            </a:r>
            <a:r>
              <a:rPr lang="ru-RU" sz="2400" dirty="0"/>
              <a:t> и v</a:t>
            </a:r>
            <a:r>
              <a:rPr lang="en-US" sz="2400" baseline="-25000" dirty="0"/>
              <a:t>j</a:t>
            </a:r>
            <a:r>
              <a:rPr lang="ru-RU" sz="2400" dirty="0"/>
              <a:t> трябва да удовлетворяват условието </a:t>
            </a:r>
            <a:r>
              <a:rPr lang="en-US" altLang="bg-BG" sz="2400" dirty="0"/>
              <a:t>u</a:t>
            </a:r>
            <a:r>
              <a:rPr lang="en-US" altLang="bg-BG" sz="2400" baseline="-25000" dirty="0"/>
              <a:t>i</a:t>
            </a:r>
            <a:r>
              <a:rPr lang="en-US" altLang="bg-BG" sz="2400" dirty="0"/>
              <a:t> </a:t>
            </a:r>
            <a:r>
              <a:rPr lang="bg-BG" altLang="bg-BG" sz="2400" dirty="0"/>
              <a:t>+</a:t>
            </a:r>
            <a:r>
              <a:rPr lang="en-US" altLang="bg-BG" sz="2400" dirty="0"/>
              <a:t> v</a:t>
            </a:r>
            <a:r>
              <a:rPr lang="en-US" altLang="bg-BG" sz="2400" baseline="-25000" dirty="0"/>
              <a:t>j</a:t>
            </a:r>
            <a:r>
              <a:rPr lang="en-US" altLang="bg-BG" sz="2400" dirty="0"/>
              <a:t> </a:t>
            </a:r>
            <a:r>
              <a:rPr lang="en-US" altLang="bg-BG" sz="2400" dirty="0">
                <a:sym typeface="Symbol" panose="05050102010706020507" pitchFamily="18" charset="2"/>
              </a:rPr>
              <a:t>= </a:t>
            </a:r>
            <a:r>
              <a:rPr lang="en-US" altLang="bg-BG" sz="2400" dirty="0" err="1">
                <a:sym typeface="Symbol" panose="05050102010706020507" pitchFamily="18" charset="2"/>
              </a:rPr>
              <a:t>c</a:t>
            </a:r>
            <a:r>
              <a:rPr lang="en-US" altLang="bg-BG" sz="2400" baseline="-25000" dirty="0" err="1">
                <a:sym typeface="Symbol" panose="05050102010706020507" pitchFamily="18" charset="2"/>
              </a:rPr>
              <a:t>ij</a:t>
            </a:r>
            <a:r>
              <a:rPr lang="bg-BG" altLang="bg-BG" sz="2400" dirty="0">
                <a:sym typeface="Symbol" panose="05050102010706020507" pitchFamily="18" charset="2"/>
              </a:rPr>
              <a:t>, </a:t>
            </a:r>
            <a:r>
              <a:rPr lang="en-US" altLang="bg-BG" sz="2400" baseline="-25000" dirty="0">
                <a:sym typeface="Symbol" panose="05050102010706020507" pitchFamily="18" charset="2"/>
              </a:rPr>
              <a:t> </a:t>
            </a:r>
            <a:r>
              <a:rPr lang="bg-BG" altLang="bg-BG" sz="2400" dirty="0">
                <a:sym typeface="Symbol" panose="05050102010706020507" pitchFamily="18" charset="2"/>
              </a:rPr>
              <a:t>за </a:t>
            </a:r>
            <a:r>
              <a:rPr lang="en-US" altLang="bg-BG" sz="2400" dirty="0">
                <a:sym typeface="Symbol" panose="05050102010706020507" pitchFamily="18" charset="2"/>
              </a:rPr>
              <a:t>x</a:t>
            </a:r>
            <a:r>
              <a:rPr lang="en-US" altLang="bg-BG" sz="2400" baseline="-25000" dirty="0">
                <a:sym typeface="Symbol" panose="05050102010706020507" pitchFamily="18" charset="2"/>
              </a:rPr>
              <a:t>ij</a:t>
            </a:r>
            <a:r>
              <a:rPr lang="en-US" altLang="bg-BG" sz="2400" dirty="0">
                <a:sym typeface="Symbol" panose="05050102010706020507" pitchFamily="18" charset="2"/>
              </a:rPr>
              <a:t>&gt;0</a:t>
            </a:r>
            <a:r>
              <a:rPr lang="bg-BG" altLang="bg-BG" sz="2400" dirty="0">
                <a:sym typeface="Symbol" panose="05050102010706020507" pitchFamily="18" charset="2"/>
              </a:rPr>
              <a:t>.</a:t>
            </a:r>
            <a:r>
              <a:rPr lang="ru-RU" sz="2400" dirty="0"/>
              <a:t> Следователно, за да бъде системата потенциална, следва за всяка празна клетка да бъде изпълнено </a:t>
            </a:r>
            <a:r>
              <a:rPr lang="en-US" altLang="bg-BG" sz="2400" dirty="0"/>
              <a:t>u</a:t>
            </a:r>
            <a:r>
              <a:rPr lang="en-US" altLang="bg-BG" sz="2400" baseline="-25000" dirty="0"/>
              <a:t>i</a:t>
            </a:r>
            <a:r>
              <a:rPr lang="en-US" altLang="bg-BG" sz="2400" dirty="0"/>
              <a:t> </a:t>
            </a:r>
            <a:r>
              <a:rPr lang="bg-BG" altLang="bg-BG" sz="2400" dirty="0"/>
              <a:t>+</a:t>
            </a:r>
            <a:r>
              <a:rPr lang="en-US" altLang="bg-BG" sz="2400" dirty="0"/>
              <a:t> v</a:t>
            </a:r>
            <a:r>
              <a:rPr lang="en-US" altLang="bg-BG" sz="2400" baseline="-25000" dirty="0"/>
              <a:t>j</a:t>
            </a:r>
            <a:r>
              <a:rPr lang="en-US" altLang="bg-BG" sz="2400" dirty="0"/>
              <a:t> </a:t>
            </a:r>
            <a:r>
              <a:rPr lang="en-US" altLang="bg-BG" sz="2400" dirty="0">
                <a:sym typeface="Symbol" panose="05050102010706020507" pitchFamily="18" charset="2"/>
              </a:rPr>
              <a:t></a:t>
            </a:r>
            <a:r>
              <a:rPr lang="bg-BG" altLang="bg-BG" sz="2400" dirty="0">
                <a:sym typeface="Symbol" panose="05050102010706020507" pitchFamily="18" charset="2"/>
              </a:rPr>
              <a:t> </a:t>
            </a:r>
            <a:r>
              <a:rPr lang="en-US" altLang="bg-BG" sz="2400" dirty="0">
                <a:sym typeface="Symbol" panose="05050102010706020507" pitchFamily="18" charset="2"/>
              </a:rPr>
              <a:t>c</a:t>
            </a:r>
            <a:r>
              <a:rPr lang="en-US" altLang="bg-BG" sz="2400" baseline="-25000" dirty="0">
                <a:sym typeface="Symbol" panose="05050102010706020507" pitchFamily="18" charset="2"/>
              </a:rPr>
              <a:t>ij </a:t>
            </a:r>
            <a:r>
              <a:rPr lang="bg-BG" altLang="bg-BG" sz="2400" baseline="-25000" dirty="0">
                <a:sym typeface="Symbol" panose="05050102010706020507" pitchFamily="18" charset="2"/>
              </a:rPr>
              <a:t>. </a:t>
            </a:r>
            <a:r>
              <a:rPr lang="ru-RU" sz="2400" dirty="0"/>
              <a:t>Обикновено за удобство условието </a:t>
            </a:r>
            <a:r>
              <a:rPr lang="en-US" altLang="bg-BG" sz="2400" dirty="0"/>
              <a:t>u</a:t>
            </a:r>
            <a:r>
              <a:rPr lang="en-US" altLang="bg-BG" sz="2400" baseline="-25000" dirty="0"/>
              <a:t>i</a:t>
            </a:r>
            <a:r>
              <a:rPr lang="en-US" altLang="bg-BG" sz="2400" dirty="0"/>
              <a:t> </a:t>
            </a:r>
            <a:r>
              <a:rPr lang="bg-BG" altLang="bg-BG" sz="2400" dirty="0"/>
              <a:t>+</a:t>
            </a:r>
            <a:r>
              <a:rPr lang="en-US" altLang="bg-BG" sz="2400" dirty="0"/>
              <a:t> v</a:t>
            </a:r>
            <a:r>
              <a:rPr lang="en-US" altLang="bg-BG" sz="2400" baseline="-25000" dirty="0"/>
              <a:t>j</a:t>
            </a:r>
            <a:r>
              <a:rPr lang="en-US" altLang="bg-BG" sz="2400" dirty="0"/>
              <a:t> </a:t>
            </a:r>
            <a:r>
              <a:rPr lang="en-US" altLang="bg-BG" sz="2400" dirty="0">
                <a:sym typeface="Symbol" panose="05050102010706020507" pitchFamily="18" charset="2"/>
              </a:rPr>
              <a:t></a:t>
            </a:r>
            <a:r>
              <a:rPr lang="bg-BG" altLang="bg-BG" sz="2400" dirty="0">
                <a:sym typeface="Symbol" panose="05050102010706020507" pitchFamily="18" charset="2"/>
              </a:rPr>
              <a:t> </a:t>
            </a:r>
            <a:r>
              <a:rPr lang="en-US" altLang="bg-BG" sz="2400" dirty="0">
                <a:sym typeface="Symbol" panose="05050102010706020507" pitchFamily="18" charset="2"/>
              </a:rPr>
              <a:t>c</a:t>
            </a:r>
            <a:r>
              <a:rPr lang="en-US" altLang="bg-BG" sz="2400" baseline="-25000" dirty="0">
                <a:sym typeface="Symbol" panose="05050102010706020507" pitchFamily="18" charset="2"/>
              </a:rPr>
              <a:t>ij </a:t>
            </a:r>
            <a:r>
              <a:rPr lang="bg-BG" altLang="bg-BG" sz="2400" baseline="-25000" dirty="0">
                <a:sym typeface="Symbol" panose="05050102010706020507" pitchFamily="18" charset="2"/>
              </a:rPr>
              <a:t> </a:t>
            </a:r>
            <a:r>
              <a:rPr lang="ru-RU" sz="2400" dirty="0"/>
              <a:t>се представя във вида </a:t>
            </a:r>
            <a:r>
              <a:rPr lang="en-US" altLang="bg-BG" sz="2400" dirty="0"/>
              <a:t>u</a:t>
            </a:r>
            <a:r>
              <a:rPr lang="en-US" altLang="bg-BG" sz="2400" baseline="-25000" dirty="0"/>
              <a:t>i</a:t>
            </a:r>
            <a:r>
              <a:rPr lang="en-US" altLang="bg-BG" sz="2400" dirty="0"/>
              <a:t> </a:t>
            </a:r>
            <a:r>
              <a:rPr lang="bg-BG" altLang="bg-BG" sz="2400" dirty="0"/>
              <a:t>+</a:t>
            </a:r>
            <a:r>
              <a:rPr lang="en-US" altLang="bg-BG" sz="2400" dirty="0"/>
              <a:t> v</a:t>
            </a:r>
            <a:r>
              <a:rPr lang="en-US" altLang="bg-BG" sz="2400" baseline="-25000" dirty="0"/>
              <a:t>j</a:t>
            </a:r>
            <a:r>
              <a:rPr lang="en-US" altLang="bg-BG" sz="2400" dirty="0"/>
              <a:t> </a:t>
            </a:r>
            <a:r>
              <a:rPr lang="bg-BG" altLang="bg-BG" sz="2400" dirty="0">
                <a:sym typeface="Symbol" panose="05050102010706020507" pitchFamily="18" charset="2"/>
              </a:rPr>
              <a:t>- </a:t>
            </a:r>
            <a:r>
              <a:rPr lang="en-US" altLang="bg-BG" sz="2400" dirty="0">
                <a:sym typeface="Symbol" panose="05050102010706020507" pitchFamily="18" charset="2"/>
              </a:rPr>
              <a:t>c</a:t>
            </a:r>
            <a:r>
              <a:rPr lang="en-US" altLang="bg-BG" sz="2400" baseline="-25000" dirty="0">
                <a:sym typeface="Symbol" panose="05050102010706020507" pitchFamily="18" charset="2"/>
              </a:rPr>
              <a:t>ij </a:t>
            </a:r>
            <a:r>
              <a:rPr lang="bg-BG" altLang="bg-BG" sz="2400" baseline="-25000" dirty="0">
                <a:sym typeface="Symbol" panose="05050102010706020507" pitchFamily="18" charset="2"/>
              </a:rPr>
              <a:t> </a:t>
            </a:r>
            <a:r>
              <a:rPr lang="en-US" altLang="bg-BG" sz="2400" dirty="0">
                <a:sym typeface="Symbol" panose="05050102010706020507" pitchFamily="18" charset="2"/>
              </a:rPr>
              <a:t> </a:t>
            </a:r>
            <a:r>
              <a:rPr lang="ru-RU" sz="2400" dirty="0"/>
              <a:t>0 и лявата част се осначава с </a:t>
            </a:r>
            <a:r>
              <a:rPr lang="en-US" sz="2400" dirty="0"/>
              <a:t>D</a:t>
            </a:r>
            <a:r>
              <a:rPr lang="ru-RU" sz="2400" baseline="-25000" dirty="0"/>
              <a:t>ij</a:t>
            </a:r>
            <a:r>
              <a:rPr lang="en-US" sz="2400" dirty="0"/>
              <a:t>.</a:t>
            </a:r>
            <a:endParaRPr lang="bg-BG" altLang="bg-BG" sz="2400" baseline="-25000" dirty="0"/>
          </a:p>
          <a:p>
            <a:pPr algn="just">
              <a:lnSpc>
                <a:spcPct val="150000"/>
              </a:lnSpc>
              <a:defRPr/>
            </a:pPr>
            <a:r>
              <a:rPr lang="en-US" sz="2400" dirty="0"/>
              <a:t>	</a:t>
            </a:r>
            <a:r>
              <a:rPr lang="bg-BG" sz="2400" dirty="0"/>
              <a:t>Ако    </a:t>
            </a:r>
            <a:r>
              <a:rPr lang="en-US" sz="2400" dirty="0"/>
              <a:t>D</a:t>
            </a:r>
            <a:r>
              <a:rPr lang="ru-RU" sz="2400" baseline="-25000" dirty="0"/>
              <a:t>ij</a:t>
            </a:r>
            <a:r>
              <a:rPr lang="en-US" sz="2400" dirty="0"/>
              <a:t>=</a:t>
            </a:r>
            <a:r>
              <a:rPr lang="en-US" altLang="bg-BG" sz="2400" dirty="0"/>
              <a:t> u</a:t>
            </a:r>
            <a:r>
              <a:rPr lang="en-US" altLang="bg-BG" sz="2400" baseline="-25000" dirty="0"/>
              <a:t>i</a:t>
            </a:r>
            <a:r>
              <a:rPr lang="en-US" altLang="bg-BG" sz="2400" dirty="0"/>
              <a:t> </a:t>
            </a:r>
            <a:r>
              <a:rPr lang="bg-BG" altLang="bg-BG" sz="2400" dirty="0"/>
              <a:t>+</a:t>
            </a:r>
            <a:r>
              <a:rPr lang="en-US" altLang="bg-BG" sz="2400" dirty="0"/>
              <a:t> v</a:t>
            </a:r>
            <a:r>
              <a:rPr lang="en-US" altLang="bg-BG" sz="2400" baseline="-25000" dirty="0"/>
              <a:t>j</a:t>
            </a:r>
            <a:r>
              <a:rPr lang="en-US" altLang="bg-BG" sz="2400" dirty="0"/>
              <a:t> </a:t>
            </a:r>
            <a:r>
              <a:rPr lang="bg-BG" altLang="bg-BG" sz="2400" dirty="0">
                <a:sym typeface="Symbol" panose="05050102010706020507" pitchFamily="18" charset="2"/>
              </a:rPr>
              <a:t>- </a:t>
            </a:r>
            <a:r>
              <a:rPr lang="en-US" altLang="bg-BG" sz="2400" dirty="0">
                <a:sym typeface="Symbol" panose="05050102010706020507" pitchFamily="18" charset="2"/>
              </a:rPr>
              <a:t>c</a:t>
            </a:r>
            <a:r>
              <a:rPr lang="en-US" altLang="bg-BG" sz="2400" baseline="-25000" dirty="0">
                <a:sym typeface="Symbol" panose="05050102010706020507" pitchFamily="18" charset="2"/>
              </a:rPr>
              <a:t>ij </a:t>
            </a:r>
            <a:r>
              <a:rPr lang="en-US" altLang="bg-BG" sz="2400" dirty="0">
                <a:sym typeface="Symbol" panose="05050102010706020507" pitchFamily="18" charset="2"/>
              </a:rPr>
              <a:t></a:t>
            </a:r>
            <a:r>
              <a:rPr lang="bg-BG" altLang="bg-BG" sz="2400" dirty="0">
                <a:sym typeface="Symbol" panose="05050102010706020507" pitchFamily="18" charset="2"/>
              </a:rPr>
              <a:t>0,</a:t>
            </a:r>
          </a:p>
          <a:p>
            <a:pPr algn="just">
              <a:lnSpc>
                <a:spcPct val="150000"/>
              </a:lnSpc>
              <a:defRPr/>
            </a:pPr>
            <a:r>
              <a:rPr lang="ru-RU" sz="2400" dirty="0"/>
              <a:t>за всяка празна клетка от плана, то планът е оптимален. </a:t>
            </a:r>
            <a:r>
              <a:rPr lang="en-US" sz="2400" dirty="0"/>
              <a:t>D</a:t>
            </a:r>
            <a:r>
              <a:rPr lang="ru-RU" sz="2400" baseline="-25000" dirty="0"/>
              <a:t>ij </a:t>
            </a:r>
            <a:r>
              <a:rPr lang="ru-RU" sz="2400" dirty="0"/>
              <a:t>се нарича индексна оценка на свободните клетки. Ако съществува поне една индексна оценка </a:t>
            </a:r>
            <a:r>
              <a:rPr lang="en-US" sz="2400" dirty="0"/>
              <a:t>D</a:t>
            </a:r>
            <a:r>
              <a:rPr lang="ru-RU" sz="2400" baseline="-25000" dirty="0"/>
              <a:t>ij </a:t>
            </a:r>
            <a:r>
              <a:rPr lang="ru-RU" sz="2400" dirty="0"/>
              <a:t> &gt;0 за </a:t>
            </a:r>
            <a:r>
              <a:rPr lang="en-US" altLang="bg-BG" sz="2400" dirty="0">
                <a:sym typeface="Symbol" panose="05050102010706020507" pitchFamily="18" charset="2"/>
              </a:rPr>
              <a:t>x</a:t>
            </a:r>
            <a:r>
              <a:rPr lang="en-US" altLang="bg-BG" sz="2400" baseline="-25000" dirty="0">
                <a:sym typeface="Symbol" panose="05050102010706020507" pitchFamily="18" charset="2"/>
              </a:rPr>
              <a:t>ij</a:t>
            </a:r>
            <a:r>
              <a:rPr lang="bg-BG" altLang="bg-BG" sz="2400" dirty="0">
                <a:sym typeface="Symbol" panose="05050102010706020507" pitchFamily="18" charset="2"/>
              </a:rPr>
              <a:t>=</a:t>
            </a:r>
            <a:r>
              <a:rPr lang="en-US" altLang="bg-BG" sz="2400" dirty="0">
                <a:sym typeface="Symbol" panose="05050102010706020507" pitchFamily="18" charset="2"/>
              </a:rPr>
              <a:t>0</a:t>
            </a:r>
            <a:r>
              <a:rPr lang="ru-RU" sz="2400" dirty="0"/>
              <a:t>, то планът не е оптимален и трябва да се премине към по-добър план.</a:t>
            </a:r>
            <a:endParaRPr lang="bg-BG" altLang="bg-BG" sz="2400" dirty="0"/>
          </a:p>
          <a:p>
            <a:pPr algn="just"/>
            <a:endParaRPr lang="bg-BG" sz="2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1674E5-CD74-4638-A238-012A517DC16A}" type="slidenum">
              <a:rPr lang="bg-BG" smtClean="0"/>
              <a:t>7</a:t>
            </a:fld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4745680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36370" y="1913587"/>
            <a:ext cx="8541803" cy="2963214"/>
          </a:xfrm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  <a:defRPr/>
            </a:pPr>
            <a:endParaRPr lang="bg-BG" altLang="bg-BG" sz="2400" dirty="0"/>
          </a:p>
          <a:p>
            <a:pPr algn="just"/>
            <a:endParaRPr lang="bg-BG" sz="2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1674E5-CD74-4638-A238-012A517DC16A}" type="slidenum">
              <a:rPr lang="bg-BG" smtClean="0"/>
              <a:t>8</a:t>
            </a:fld>
            <a:endParaRPr lang="bg-BG" dirty="0"/>
          </a:p>
        </p:txBody>
      </p:sp>
      <p:sp>
        <p:nvSpPr>
          <p:cNvPr id="2" name="Rectangle 1"/>
          <p:cNvSpPr/>
          <p:nvPr/>
        </p:nvSpPr>
        <p:spPr>
          <a:xfrm>
            <a:off x="2224506" y="352486"/>
            <a:ext cx="9423400" cy="523220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defRPr/>
            </a:pPr>
            <a:r>
              <a:rPr lang="ru-RU" sz="2400" b="1" i="1" dirty="0"/>
              <a:t>Общ етап</a:t>
            </a:r>
            <a:endParaRPr lang="ru-RU" sz="2400" dirty="0"/>
          </a:p>
          <a:p>
            <a:pPr indent="457200" algn="just">
              <a:lnSpc>
                <a:spcPct val="150000"/>
              </a:lnSpc>
              <a:defRPr/>
            </a:pPr>
            <a:r>
              <a:rPr lang="ru-RU" sz="2400" dirty="0"/>
              <a:t>На този етап се извършват следните действия: </a:t>
            </a:r>
          </a:p>
          <a:p>
            <a:pPr marL="457200" indent="-457200" algn="just">
              <a:lnSpc>
                <a:spcPct val="150000"/>
              </a:lnSpc>
              <a:spcBef>
                <a:spcPts val="1200"/>
              </a:spcBef>
              <a:buClr>
                <a:schemeClr val="accent1">
                  <a:lumMod val="75000"/>
                </a:schemeClr>
              </a:buClr>
              <a:buSzPct val="85000"/>
              <a:buFont typeface="+mj-lt"/>
              <a:buAutoNum type="arabicPeriod"/>
              <a:defRPr/>
            </a:pPr>
            <a:r>
              <a:rPr lang="ru-RU" sz="2400" dirty="0"/>
              <a:t>Подобрява се плана, ако той не е оптимален. </a:t>
            </a:r>
          </a:p>
          <a:p>
            <a:pPr indent="360000" algn="just">
              <a:lnSpc>
                <a:spcPct val="150000"/>
              </a:lnSpc>
              <a:defRPr/>
            </a:pPr>
            <a:r>
              <a:rPr lang="ru-RU" sz="2400" dirty="0"/>
              <a:t>За тази цел се избира най-голямата положителна</a:t>
            </a:r>
            <a:r>
              <a:rPr lang="en-US" sz="2400" dirty="0"/>
              <a:t> D</a:t>
            </a:r>
            <a:r>
              <a:rPr lang="ru-RU" sz="2400" baseline="-25000" dirty="0"/>
              <a:t>ij</a:t>
            </a:r>
            <a:r>
              <a:rPr lang="ru-RU" sz="2400" dirty="0"/>
              <a:t>, т.е. например max(</a:t>
            </a:r>
            <a:r>
              <a:rPr lang="en-US" sz="2400" dirty="0"/>
              <a:t>D</a:t>
            </a:r>
            <a:r>
              <a:rPr lang="ru-RU" sz="2400" baseline="-25000" dirty="0"/>
              <a:t>ij</a:t>
            </a:r>
            <a:r>
              <a:rPr lang="ru-RU" sz="2400" dirty="0"/>
              <a:t> &gt; 0)= </a:t>
            </a:r>
            <a:r>
              <a:rPr lang="en-US" sz="2400" dirty="0"/>
              <a:t>D</a:t>
            </a:r>
            <a:r>
              <a:rPr lang="en-US" sz="2400" baseline="-25000" dirty="0"/>
              <a:t>kl</a:t>
            </a:r>
            <a:r>
              <a:rPr lang="ru-RU" sz="2400" baseline="-25000" dirty="0"/>
              <a:t> </a:t>
            </a:r>
            <a:r>
              <a:rPr lang="ru-RU" sz="2400" dirty="0"/>
              <a:t>. Това означава, че за съответната клетка (</a:t>
            </a:r>
            <a:r>
              <a:rPr lang="en-US" sz="2400" dirty="0"/>
              <a:t>k</a:t>
            </a:r>
            <a:r>
              <a:rPr lang="ru-RU" sz="2400" dirty="0"/>
              <a:t>,</a:t>
            </a:r>
            <a:r>
              <a:rPr lang="en-US" sz="2400" dirty="0"/>
              <a:t> l</a:t>
            </a:r>
            <a:r>
              <a:rPr lang="ru-RU" sz="2400" dirty="0"/>
              <a:t>) е налице най-голямо нарушение на условието за оптималност. Тази клетка се включва като връх на затворен контур за разтоварване, на който всички други върхове са в запълнени клетки т.е построява се цикъл за дадената клетка.</a:t>
            </a:r>
            <a:endParaRPr lang="bg-BG" altLang="bg-BG" sz="2400" dirty="0"/>
          </a:p>
        </p:txBody>
      </p:sp>
    </p:spTree>
    <p:extLst>
      <p:ext uri="{BB962C8B-B14F-4D97-AF65-F5344CB8AC3E}">
        <p14:creationId xmlns:p14="http://schemas.microsoft.com/office/powerpoint/2010/main" val="29499075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32000" y="0"/>
            <a:ext cx="9999579" cy="6748462"/>
          </a:xfrm>
        </p:spPr>
        <p:txBody>
          <a:bodyPr>
            <a:noAutofit/>
          </a:bodyPr>
          <a:lstStyle/>
          <a:p>
            <a:pPr indent="457200" algn="just">
              <a:lnSpc>
                <a:spcPct val="150000"/>
              </a:lnSpc>
              <a:spcBef>
                <a:spcPts val="0"/>
              </a:spcBef>
              <a:defRPr/>
            </a:pPr>
            <a:r>
              <a:rPr lang="bg-BG" sz="2400" dirty="0"/>
              <a:t>Контурът</a:t>
            </a:r>
            <a:r>
              <a:rPr lang="en-US" sz="2400" dirty="0"/>
              <a:t> </a:t>
            </a:r>
            <a:r>
              <a:rPr lang="ru-RU" sz="2400" dirty="0"/>
              <a:t>представлява затворена начупена линия от последователно редуващи се хоризонтални и вертикални отсечки </a:t>
            </a:r>
            <a:r>
              <a:rPr lang="bg-BG" altLang="bg-BG" sz="2400" dirty="0"/>
              <a:t>с начало и край в свободната (празната) клетка , а останалите върхове са само в пълни  (базисни) клетки</a:t>
            </a:r>
            <a:r>
              <a:rPr lang="ru-RU" sz="2400" dirty="0"/>
              <a:t>, т.е. извършва се движение по затворена линия, като се правят стъпки до запълнени клетки, при което преходът от една към друга клетка се извършва под прав ъгъл. Движението продължава, докато се </a:t>
            </a:r>
            <a:r>
              <a:rPr lang="bg-BG" sz="2400" dirty="0"/>
              <a:t>достигне</a:t>
            </a:r>
            <a:r>
              <a:rPr lang="ru-RU" sz="2400" dirty="0"/>
              <a:t> отново в изходната празна клетка. </a:t>
            </a:r>
          </a:p>
          <a:p>
            <a:pPr indent="457200" algn="just">
              <a:lnSpc>
                <a:spcPct val="150000"/>
              </a:lnSpc>
              <a:spcBef>
                <a:spcPts val="0"/>
              </a:spcBef>
              <a:defRPr/>
            </a:pPr>
            <a:r>
              <a:rPr lang="ru-RU" sz="2400" dirty="0"/>
              <a:t>Цикълът на всяка такава клетка е еднозначно определен и има четен брой върхове. Той може да пресича, както пълни, така и празни клетки. </a:t>
            </a:r>
            <a:endParaRPr lang="bg-BG" sz="2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1674E5-CD74-4638-A238-012A517DC16A}" type="slidenum">
              <a:rPr lang="bg-BG" smtClean="0"/>
              <a:t>9</a:t>
            </a:fld>
            <a:endParaRPr lang="bg-BG" dirty="0"/>
          </a:p>
        </p:txBody>
      </p:sp>
      <p:sp>
        <p:nvSpPr>
          <p:cNvPr id="7" name="AutoShape 2" descr="http://mitko.villaverde-bansko.com/Matematika/images/single-lesson-08-5_clip_image002_0034.png"/>
          <p:cNvSpPr>
            <a:spLocks noChangeAspect="1" noChangeArrowheads="1"/>
          </p:cNvSpPr>
          <p:nvPr/>
        </p:nvSpPr>
        <p:spPr bwMode="auto">
          <a:xfrm>
            <a:off x="3067050" y="-90488"/>
            <a:ext cx="333375" cy="2000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bg-BG" dirty="0"/>
          </a:p>
        </p:txBody>
      </p:sp>
      <p:sp>
        <p:nvSpPr>
          <p:cNvPr id="9" name="AutoShape 4" descr="http://mitko.villaverde-bansko.com/Matematika/images/single-lesson-08-5_clip_image002_0034.png"/>
          <p:cNvSpPr>
            <a:spLocks noChangeAspect="1" noChangeArrowheads="1"/>
          </p:cNvSpPr>
          <p:nvPr/>
        </p:nvSpPr>
        <p:spPr bwMode="auto">
          <a:xfrm>
            <a:off x="3219450" y="61912"/>
            <a:ext cx="333375" cy="2000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bg-BG" dirty="0"/>
          </a:p>
        </p:txBody>
      </p:sp>
      <p:sp>
        <p:nvSpPr>
          <p:cNvPr id="11" name="AutoShape 6" descr="http://mitko.villaverde-bansko.com/Matematika/images/single-lesson-08-5_clip_image002_0034.png"/>
          <p:cNvSpPr>
            <a:spLocks noChangeAspect="1" noChangeArrowheads="1"/>
          </p:cNvSpPr>
          <p:nvPr/>
        </p:nvSpPr>
        <p:spPr bwMode="auto">
          <a:xfrm>
            <a:off x="3371850" y="214312"/>
            <a:ext cx="333375" cy="2000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1417176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36370" y="1913587"/>
            <a:ext cx="8541803" cy="2963214"/>
          </a:xfrm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  <a:defRPr/>
            </a:pPr>
            <a:endParaRPr lang="bg-BG" altLang="bg-BG" sz="2400" dirty="0"/>
          </a:p>
          <a:p>
            <a:pPr algn="just"/>
            <a:endParaRPr lang="bg-BG" sz="2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1674E5-CD74-4638-A238-012A517DC16A}" type="slidenum">
              <a:rPr lang="bg-BG" smtClean="0"/>
              <a:t>10</a:t>
            </a:fld>
            <a:endParaRPr lang="bg-BG" dirty="0"/>
          </a:p>
        </p:txBody>
      </p:sp>
      <p:sp>
        <p:nvSpPr>
          <p:cNvPr id="2" name="Rectangle 1"/>
          <p:cNvSpPr/>
          <p:nvPr/>
        </p:nvSpPr>
        <p:spPr>
          <a:xfrm>
            <a:off x="1903664" y="0"/>
            <a:ext cx="10020370" cy="11317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buClr>
                <a:schemeClr val="accent1">
                  <a:lumMod val="75000"/>
                </a:schemeClr>
              </a:buClr>
              <a:buSzPct val="85000"/>
              <a:defRPr/>
            </a:pPr>
            <a:endParaRPr lang="bg-BG" sz="2400" dirty="0"/>
          </a:p>
          <a:p>
            <a:pPr algn="just">
              <a:lnSpc>
                <a:spcPct val="150000"/>
              </a:lnSpc>
              <a:buClr>
                <a:schemeClr val="accent1">
                  <a:lumMod val="75000"/>
                </a:schemeClr>
              </a:buClr>
              <a:buSzPct val="85000"/>
              <a:defRPr/>
            </a:pPr>
            <a:endParaRPr lang="bg-BG" sz="2400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86262" y="3307488"/>
            <a:ext cx="8442159" cy="2215991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2584485" y="136163"/>
            <a:ext cx="8827169" cy="37804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57200" algn="just">
              <a:lnSpc>
                <a:spcPct val="150000"/>
              </a:lnSpc>
              <a:spcBef>
                <a:spcPts val="0"/>
              </a:spcBef>
              <a:defRPr/>
            </a:pPr>
            <a:r>
              <a:rPr lang="ru-RU" sz="2400" dirty="0"/>
              <a:t>Във всеки цикъл две последователни (съседни) клетки имат равни първи или втори индекси, т. е. съседните клетки лежат в един и същи ред или стълб на транспортната таблица. Примери на цикли са дадени на Фиг. 1.</a:t>
            </a:r>
          </a:p>
          <a:p>
            <a:pPr indent="457200" algn="just">
              <a:lnSpc>
                <a:spcPct val="150000"/>
              </a:lnSpc>
              <a:spcBef>
                <a:spcPts val="0"/>
              </a:spcBef>
              <a:defRPr/>
            </a:pPr>
            <a:r>
              <a:rPr lang="ru-RU" sz="2400" dirty="0"/>
              <a:t>За всеки неизползван маршрут е налице единствен път за разпределение на товара. </a:t>
            </a:r>
          </a:p>
          <a:p>
            <a:pPr indent="457200" algn="just">
              <a:lnSpc>
                <a:spcPct val="150000"/>
              </a:lnSpc>
              <a:spcBef>
                <a:spcPts val="0"/>
              </a:spcBef>
              <a:defRPr/>
            </a:pPr>
            <a:endParaRPr lang="bg-BG" dirty="0"/>
          </a:p>
        </p:txBody>
      </p:sp>
      <p:sp>
        <p:nvSpPr>
          <p:cNvPr id="7" name="Rectangle 6"/>
          <p:cNvSpPr/>
          <p:nvPr/>
        </p:nvSpPr>
        <p:spPr>
          <a:xfrm>
            <a:off x="5351594" y="5523479"/>
            <a:ext cx="164647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bg-BG" dirty="0"/>
              <a:t>Фиг. 1. Цикли</a:t>
            </a:r>
          </a:p>
        </p:txBody>
      </p:sp>
    </p:spTree>
    <p:extLst>
      <p:ext uri="{BB962C8B-B14F-4D97-AF65-F5344CB8AC3E}">
        <p14:creationId xmlns:p14="http://schemas.microsoft.com/office/powerpoint/2010/main" val="38979785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36370" y="1913587"/>
            <a:ext cx="8541803" cy="2963214"/>
          </a:xfrm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  <a:defRPr/>
            </a:pPr>
            <a:endParaRPr lang="bg-BG" altLang="bg-BG" sz="2400" dirty="0"/>
          </a:p>
          <a:p>
            <a:pPr algn="just"/>
            <a:endParaRPr lang="bg-BG" sz="2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1674E5-CD74-4638-A238-012A517DC16A}" type="slidenum">
              <a:rPr lang="bg-BG" smtClean="0"/>
              <a:t>11</a:t>
            </a:fld>
            <a:endParaRPr lang="bg-BG" dirty="0"/>
          </a:p>
        </p:txBody>
      </p:sp>
      <p:sp>
        <p:nvSpPr>
          <p:cNvPr id="2" name="Rectangle 1"/>
          <p:cNvSpPr/>
          <p:nvPr/>
        </p:nvSpPr>
        <p:spPr>
          <a:xfrm>
            <a:off x="2032000" y="146083"/>
            <a:ext cx="10160000" cy="67403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57200" algn="just">
              <a:lnSpc>
                <a:spcPct val="150000"/>
              </a:lnSpc>
            </a:pPr>
            <a:r>
              <a:rPr lang="ru-RU" sz="2400" dirty="0"/>
              <a:t>В свободната клетка (</a:t>
            </a:r>
            <a:r>
              <a:rPr lang="en-US" sz="2400" dirty="0"/>
              <a:t>k</a:t>
            </a:r>
            <a:r>
              <a:rPr lang="ru-RU" sz="2400" dirty="0"/>
              <a:t>, </a:t>
            </a:r>
            <a:r>
              <a:rPr lang="en-US" sz="2400" dirty="0"/>
              <a:t>l</a:t>
            </a:r>
            <a:r>
              <a:rPr lang="ru-RU" sz="2400" dirty="0"/>
              <a:t>) се поставя знака (+), след което по линията на движение в запълнените клетки, в които има върхове на контура, се поставя последователно знаците (-) и (+). Тъй като контурът има четен брой върхове, не е от значение посоката, в която ще се обходи, за да се поставят съответните знаци. </a:t>
            </a:r>
            <a:r>
              <a:rPr lang="bg-BG" sz="2400" dirty="0"/>
              <a:t>От</a:t>
            </a:r>
            <a:r>
              <a:rPr lang="ru-RU" sz="2400" dirty="0"/>
              <a:t> клетките със знак (-) избираме най-малкото число, изразяващо обема на товара, изваждаме го от всички числа, намиращи се в клетки със знак (-), и го прибавяме към числата, намиращи се в клетки със знак (+). Празната клетка, включена в контура се запълва, а клетките със знак (-), в която се намира минималното положително число остава празна. Получава се нов план на транспортната задача, за който целевата функция има по-малка стойност. </a:t>
            </a:r>
            <a:endParaRPr lang="bg-BG" sz="2400" dirty="0"/>
          </a:p>
        </p:txBody>
      </p:sp>
    </p:spTree>
    <p:extLst>
      <p:ext uri="{BB962C8B-B14F-4D97-AF65-F5344CB8AC3E}">
        <p14:creationId xmlns:p14="http://schemas.microsoft.com/office/powerpoint/2010/main" val="175387279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36370" y="1913587"/>
            <a:ext cx="8541803" cy="2963214"/>
          </a:xfrm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  <a:defRPr/>
            </a:pPr>
            <a:endParaRPr lang="bg-BG" altLang="bg-BG" sz="2400" dirty="0"/>
          </a:p>
          <a:p>
            <a:pPr algn="just"/>
            <a:endParaRPr lang="bg-BG" sz="2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1674E5-CD74-4638-A238-012A517DC16A}" type="slidenum">
              <a:rPr lang="bg-BG" smtClean="0"/>
              <a:t>12</a:t>
            </a:fld>
            <a:endParaRPr lang="bg-BG" dirty="0"/>
          </a:p>
        </p:txBody>
      </p:sp>
      <p:sp>
        <p:nvSpPr>
          <p:cNvPr id="5" name="Rectangle 4"/>
          <p:cNvSpPr/>
          <p:nvPr/>
        </p:nvSpPr>
        <p:spPr>
          <a:xfrm>
            <a:off x="2396001" y="831168"/>
            <a:ext cx="9310725" cy="51636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 algn="just">
              <a:lnSpc>
                <a:spcPct val="150000"/>
              </a:lnSpc>
              <a:spcBef>
                <a:spcPts val="1200"/>
              </a:spcBef>
              <a:buClr>
                <a:schemeClr val="accent1">
                  <a:lumMod val="75000"/>
                </a:schemeClr>
              </a:buClr>
              <a:buSzPct val="85000"/>
              <a:buFont typeface="+mj-lt"/>
              <a:buAutoNum type="arabicPeriod" startAt="2"/>
              <a:defRPr/>
            </a:pPr>
            <a:r>
              <a:rPr lang="ru-RU" sz="2400" dirty="0"/>
              <a:t>За получения подобрен план се построява система потенциали </a:t>
            </a:r>
            <a:r>
              <a:rPr lang="en-US" sz="2400" dirty="0"/>
              <a:t>u</a:t>
            </a:r>
            <a:r>
              <a:rPr lang="en-US" sz="2400" baseline="-25000" dirty="0"/>
              <a:t>i</a:t>
            </a:r>
            <a:r>
              <a:rPr lang="ru-RU" sz="2400" dirty="0"/>
              <a:t> , v</a:t>
            </a:r>
            <a:r>
              <a:rPr lang="en-US" sz="2400" baseline="-25000" dirty="0"/>
              <a:t>j</a:t>
            </a:r>
            <a:r>
              <a:rPr lang="ru-RU" sz="2400" dirty="0"/>
              <a:t> . </a:t>
            </a:r>
          </a:p>
          <a:p>
            <a:pPr indent="360000" algn="just">
              <a:lnSpc>
                <a:spcPct val="150000"/>
              </a:lnSpc>
            </a:pPr>
            <a:r>
              <a:rPr lang="ru-RU" sz="2400" dirty="0"/>
              <a:t>Това се извършва по същия начин както в т. 2 на предварителния етап. </a:t>
            </a:r>
          </a:p>
          <a:p>
            <a:pPr marL="457200" indent="-457200" algn="just">
              <a:lnSpc>
                <a:spcPct val="150000"/>
              </a:lnSpc>
              <a:spcBef>
                <a:spcPts val="1200"/>
              </a:spcBef>
              <a:buClr>
                <a:schemeClr val="accent1">
                  <a:lumMod val="75000"/>
                </a:schemeClr>
              </a:buClr>
              <a:buSzPct val="85000"/>
              <a:buFont typeface="+mj-lt"/>
              <a:buAutoNum type="arabicPeriod" startAt="3"/>
              <a:defRPr/>
            </a:pPr>
            <a:r>
              <a:rPr lang="ru-RU" sz="2400" dirty="0"/>
              <a:t>Проверява се </a:t>
            </a:r>
            <a:r>
              <a:rPr lang="en-US" sz="2400" dirty="0"/>
              <a:t>u</a:t>
            </a:r>
            <a:r>
              <a:rPr lang="en-US" sz="2400" baseline="-25000" dirty="0"/>
              <a:t>i</a:t>
            </a:r>
            <a:r>
              <a:rPr lang="ru-RU" sz="2400" dirty="0"/>
              <a:t> и v</a:t>
            </a:r>
            <a:r>
              <a:rPr lang="en-US" sz="2400" baseline="-25000" dirty="0"/>
              <a:t>j</a:t>
            </a:r>
            <a:r>
              <a:rPr lang="ru-RU" sz="2400" dirty="0"/>
              <a:t> за потенциалност. Това действие се извършва, както в т. 3 на предварителния етап. Ако </a:t>
            </a:r>
            <a:r>
              <a:rPr lang="ru-RU" sz="2400" dirty="0" err="1"/>
              <a:t>системата</a:t>
            </a:r>
            <a:r>
              <a:rPr lang="ru-RU" sz="2400" dirty="0"/>
              <a:t> е потенциална, планът е оптимален. </a:t>
            </a:r>
            <a:r>
              <a:rPr lang="ru-RU" sz="2400" dirty="0" err="1"/>
              <a:t>Ако</a:t>
            </a:r>
            <a:r>
              <a:rPr lang="ru-RU" sz="2400" dirty="0"/>
              <a:t> построеният план не е оптимален описаните действия в общия етап се повтарят, докато се получи оптимален план.</a:t>
            </a:r>
            <a:endParaRPr lang="bg-BG" sz="2400" dirty="0"/>
          </a:p>
        </p:txBody>
      </p:sp>
    </p:spTree>
    <p:extLst>
      <p:ext uri="{BB962C8B-B14F-4D97-AF65-F5344CB8AC3E}">
        <p14:creationId xmlns:p14="http://schemas.microsoft.com/office/powerpoint/2010/main" val="30120464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96F670-2033-414C-8E6B-3DB4A3EC2EBC}" type="slidenum">
              <a:rPr lang="bg-BG" smtClean="0"/>
              <a:t>13</a:t>
            </a:fld>
            <a:endParaRPr lang="bg-BG" dirty="0"/>
          </a:p>
        </p:txBody>
      </p:sp>
      <p:sp>
        <p:nvSpPr>
          <p:cNvPr id="7" name="Rectangle 6"/>
          <p:cNvSpPr/>
          <p:nvPr/>
        </p:nvSpPr>
        <p:spPr>
          <a:xfrm>
            <a:off x="1178227" y="294869"/>
            <a:ext cx="9898321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57200" algn="ctr"/>
            <a:r>
              <a:rPr lang="ru-RU" sz="2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Проверка за оптималност</a:t>
            </a:r>
            <a:r>
              <a:rPr lang="ru-RU" sz="2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на </a:t>
            </a:r>
            <a:r>
              <a:rPr lang="bg-BG" sz="2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П</a:t>
            </a:r>
            <a:r>
              <a:rPr lang="ru-RU" sz="2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лан1 (Пример</a:t>
            </a:r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1</a:t>
            </a:r>
            <a:r>
              <a:rPr lang="ru-RU" sz="2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от Тема 2)</a:t>
            </a:r>
          </a:p>
          <a:p>
            <a:pPr indent="457200" algn="ctr"/>
            <a:r>
              <a:rPr lang="ru-RU" sz="2400" b="1" i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Метод на потенциалите</a:t>
            </a:r>
            <a:endParaRPr lang="bg-BG" sz="2400" b="1" i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2718660" y="1080493"/>
          <a:ext cx="7296197" cy="3360420"/>
        </p:xfrm>
        <a:graphic>
          <a:graphicData uri="http://schemas.openxmlformats.org/drawingml/2006/table">
            <a:tbl>
              <a:tblPr/>
              <a:tblGrid>
                <a:gridCol w="1517809">
                  <a:extLst>
                    <a:ext uri="{9D8B030D-6E8A-4147-A177-3AD203B41FA5}">
                      <a16:colId xmlns:a16="http://schemas.microsoft.com/office/drawing/2014/main" xmlns="" val="244167917"/>
                    </a:ext>
                  </a:extLst>
                </a:gridCol>
                <a:gridCol w="1772185">
                  <a:extLst>
                    <a:ext uri="{9D8B030D-6E8A-4147-A177-3AD203B41FA5}">
                      <a16:colId xmlns:a16="http://schemas.microsoft.com/office/drawing/2014/main" xmlns="" val="651320687"/>
                    </a:ext>
                  </a:extLst>
                </a:gridCol>
                <a:gridCol w="1303646">
                  <a:extLst>
                    <a:ext uri="{9D8B030D-6E8A-4147-A177-3AD203B41FA5}">
                      <a16:colId xmlns:a16="http://schemas.microsoft.com/office/drawing/2014/main" xmlns="" val="821006073"/>
                    </a:ext>
                  </a:extLst>
                </a:gridCol>
                <a:gridCol w="1237637">
                  <a:extLst>
                    <a:ext uri="{9D8B030D-6E8A-4147-A177-3AD203B41FA5}">
                      <a16:colId xmlns:a16="http://schemas.microsoft.com/office/drawing/2014/main" xmlns="" val="1722343244"/>
                    </a:ext>
                  </a:extLst>
                </a:gridCol>
                <a:gridCol w="1464920">
                  <a:extLst>
                    <a:ext uri="{9D8B030D-6E8A-4147-A177-3AD203B41FA5}">
                      <a16:colId xmlns:a16="http://schemas.microsoft.com/office/drawing/2014/main" xmlns="" val="2466229698"/>
                    </a:ext>
                  </a:extLst>
                </a:gridCol>
              </a:tblGrid>
              <a:tr h="379554">
                <a:tc>
                  <a:txBody>
                    <a:bodyPr/>
                    <a:lstStyle/>
                    <a:p>
                      <a:pPr algn="ctr" fontAlgn="b"/>
                      <a:r>
                        <a:rPr lang="bg-BG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План</a:t>
                      </a:r>
                      <a:r>
                        <a:rPr lang="bg-BG" sz="2000" b="1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1</a:t>
                      </a:r>
                      <a:endParaRPr lang="bg-BG" sz="2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91440" anchor="ctr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bg-BG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Склад 1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  <a:p>
                      <a:pPr algn="ctr" fontAlgn="b"/>
                      <a:r>
                        <a:rPr lang="en-US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</a:t>
                      </a:r>
                      <a:r>
                        <a:rPr lang="en-US" sz="2000" b="1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  <a:r>
                        <a:rPr lang="en-US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=</a:t>
                      </a:r>
                      <a:r>
                        <a:rPr lang="en-US" sz="2000" b="1" i="0" u="none" strike="noStrike" dirty="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-1</a:t>
                      </a:r>
                      <a:endParaRPr lang="bg-BG" sz="2000" b="1" i="0" u="none" strike="noStrike" dirty="0">
                        <a:solidFill>
                          <a:srgbClr val="C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91440" anchor="b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bg-BG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Склад 2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</a:t>
                      </a:r>
                      <a:r>
                        <a:rPr lang="en-US" sz="2000" b="1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  <a:r>
                        <a:rPr lang="en-US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=</a:t>
                      </a:r>
                      <a:r>
                        <a:rPr lang="bg-BG" sz="2000" b="1" i="0" u="none" strike="noStrike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9525" marR="9525" marT="9525" marB="91440" anchor="b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bg-BG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Склад 3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</a:t>
                      </a:r>
                      <a:r>
                        <a:rPr lang="en-US" sz="2000" b="1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  <a:r>
                        <a:rPr lang="en-US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=</a:t>
                      </a:r>
                      <a:r>
                        <a:rPr lang="en-US" sz="2000" b="1" i="0" u="none" strike="noStrike" dirty="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-</a:t>
                      </a:r>
                      <a:r>
                        <a:rPr lang="bg-BG" sz="2000" b="1" i="0" u="none" strike="noStrike" dirty="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  <a:endParaRPr lang="bg-BG" sz="2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91440" anchor="b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968375" algn="l"/>
                        </a:tabLst>
                        <a:defRPr/>
                      </a:pPr>
                      <a:r>
                        <a:rPr lang="bg-BG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Производство</a:t>
                      </a:r>
                    </a:p>
                  </a:txBody>
                  <a:tcPr marL="9525" marR="9525" marT="9525" marB="91440" anchor="ctr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2787115035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algn="ctr" fontAlgn="b"/>
                      <a:r>
                        <a:rPr lang="bg-BG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Завод 1</a:t>
                      </a:r>
                    </a:p>
                    <a:p>
                      <a:pPr algn="ctr" fontAlgn="b"/>
                      <a:r>
                        <a:rPr lang="en-US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U</a:t>
                      </a:r>
                      <a:r>
                        <a:rPr lang="en-US" sz="2000" b="1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  <a:r>
                        <a:rPr lang="en-US" sz="2000" b="1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=</a:t>
                      </a:r>
                      <a:r>
                        <a:rPr lang="en-US" sz="2000" b="1" i="0" u="none" strike="noStrike" baseline="0" dirty="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  <a:endParaRPr lang="bg-BG" sz="2000" b="1" i="0" u="none" strike="noStrike" baseline="-250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91440" anchor="b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bg-BG" sz="3000" b="1" i="0" u="none" strike="noStrike" baseline="30000" dirty="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0" marR="0" marT="91440" marB="91440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bg-BG" sz="3000" b="1" i="0" u="none" strike="noStrike" baseline="30000" dirty="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0" marR="0" marT="91440" marB="91440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bg-BG" sz="3000" b="1" i="0" u="none" strike="noStrike" baseline="30000" dirty="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8</a:t>
                      </a:r>
                    </a:p>
                  </a:txBody>
                  <a:tcPr marL="0" marR="0" marT="91440" marB="91440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bg-BG" sz="2200" b="1" i="0" u="none" strike="noStrike" kern="1200" baseline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50</a:t>
                      </a:r>
                    </a:p>
                  </a:txBody>
                  <a:tcPr marL="0" marR="0" marT="91440" marB="91440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2960545891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algn="ctr" fontAlgn="b"/>
                      <a:r>
                        <a:rPr lang="bg-BG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Завод 2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U</a:t>
                      </a:r>
                      <a:r>
                        <a:rPr lang="en-US" sz="2000" b="1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  <a:r>
                        <a:rPr lang="en-US" sz="2000" b="1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=</a:t>
                      </a:r>
                      <a:r>
                        <a:rPr lang="en-US" sz="2000" b="1" i="0" u="none" strike="noStrike" baseline="0" dirty="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  <a:endParaRPr lang="bg-BG" sz="2000" b="1" i="0" u="none" strike="noStrike" baseline="0" dirty="0">
                        <a:solidFill>
                          <a:srgbClr val="C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91440" anchor="b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bg-BG" sz="3000" b="1" i="0" u="none" strike="noStrike" baseline="30000" dirty="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5</a:t>
                      </a:r>
                    </a:p>
                  </a:txBody>
                  <a:tcPr marL="0" marR="0" marT="91440" marB="91440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bg-BG" sz="3000" b="1" i="0" u="none" strike="noStrike" baseline="30000" dirty="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0" marR="0" marT="91440" marB="91440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bg-BG" sz="3000" b="1" i="0" u="none" strike="noStrike" baseline="30000" dirty="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6</a:t>
                      </a:r>
                    </a:p>
                  </a:txBody>
                  <a:tcPr marL="0" marR="0" marT="91440" marB="91440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bg-BG" sz="2200" b="1" i="0" u="none" strike="noStrike" kern="1200" baseline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40</a:t>
                      </a:r>
                    </a:p>
                  </a:txBody>
                  <a:tcPr marL="0" marR="0" marT="91440" marB="91440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4125746062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algn="ctr" fontAlgn="b"/>
                      <a:r>
                        <a:rPr lang="bg-BG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Завод 3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U</a:t>
                      </a:r>
                      <a:r>
                        <a:rPr lang="en-US" sz="2000" b="1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  <a:r>
                        <a:rPr lang="en-US" sz="2000" b="1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=</a:t>
                      </a:r>
                      <a:r>
                        <a:rPr lang="en-US" sz="2000" b="1" i="0" u="none" strike="noStrike" baseline="0" dirty="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5</a:t>
                      </a:r>
                      <a:endParaRPr lang="bg-BG" sz="2000" b="1" i="0" u="none" strike="noStrike" baseline="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91440" anchor="b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bg-BG" sz="3000" b="1" i="0" u="none" strike="noStrike" baseline="30000" dirty="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0" marR="0" marT="91440" marB="91440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bg-BG" sz="3000" b="1" i="0" u="none" strike="noStrike" baseline="30000" dirty="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5</a:t>
                      </a:r>
                    </a:p>
                  </a:txBody>
                  <a:tcPr marL="0" marR="0" marT="91440" marB="91440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bg-BG" sz="3000" b="1" i="0" u="none" strike="noStrike" baseline="30000" dirty="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0" marR="0" marT="91440" marB="91440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bg-BG" sz="2200" b="1" i="0" u="none" strike="noStrike" kern="1200" baseline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30</a:t>
                      </a:r>
                    </a:p>
                  </a:txBody>
                  <a:tcPr marL="0" marR="0" marT="91440" marB="91440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286858662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bg-BG" sz="1800" b="1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Потребление</a:t>
                      </a:r>
                    </a:p>
                  </a:txBody>
                  <a:tcPr marL="9525" marR="9525" marT="9525" marB="91440" anchor="b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bg-BG" sz="2200" b="1" i="0" u="none" strike="noStrike" baseline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30</a:t>
                      </a:r>
                    </a:p>
                  </a:txBody>
                  <a:tcPr marL="0" marR="0" marT="91440" marB="91440" anchor="ctr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bg-BG" sz="2200" b="1" i="0" u="none" strike="noStrike" baseline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70</a:t>
                      </a:r>
                    </a:p>
                  </a:txBody>
                  <a:tcPr marL="0" marR="0" marT="91440" marB="91440" anchor="ctr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bg-BG" sz="2200" b="1" i="0" u="none" strike="noStrike" baseline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20</a:t>
                      </a:r>
                    </a:p>
                  </a:txBody>
                  <a:tcPr marL="0" marR="0" marT="91440" marB="91440" anchor="ctr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2200" b="1" i="0" u="none" strike="noStrike" kern="1200" baseline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Z=290</a:t>
                      </a:r>
                      <a:endParaRPr lang="bg-BG" sz="2200" b="1" i="0" u="none" strike="noStrike" kern="1200" baseline="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0" marR="0" marT="91440" marB="91440" anchor="ctr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3864348785"/>
                  </a:ext>
                </a:extLst>
              </a:tr>
            </a:tbl>
          </a:graphicData>
        </a:graphic>
      </p:graphicFrame>
      <p:sp>
        <p:nvSpPr>
          <p:cNvPr id="48" name="TextBox 47"/>
          <p:cNvSpPr txBox="1"/>
          <p:nvPr/>
        </p:nvSpPr>
        <p:spPr>
          <a:xfrm>
            <a:off x="4049535" y="2075559"/>
            <a:ext cx="70064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fontAlgn="b"/>
            <a:r>
              <a:rPr lang="bg-BG" sz="2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anose="020F0502020204030204" pitchFamily="34" charset="0"/>
              </a:rPr>
              <a:t>30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252266" y="3471447"/>
            <a:ext cx="70064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fontAlgn="b"/>
            <a:r>
              <a:rPr lang="bg-BG" sz="2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anose="020F0502020204030204" pitchFamily="34" charset="0"/>
              </a:rPr>
              <a:t>20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902795" y="2075558"/>
            <a:ext cx="70064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fontAlgn="b"/>
            <a:r>
              <a:rPr lang="bg-BG" sz="2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anose="020F0502020204030204" pitchFamily="34" charset="0"/>
              </a:rPr>
              <a:t>20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902795" y="3462884"/>
            <a:ext cx="70064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fontAlgn="b"/>
            <a:r>
              <a:rPr lang="bg-BG" sz="2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anose="020F0502020204030204" pitchFamily="34" charset="0"/>
              </a:rPr>
              <a:t>10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902795" y="2769221"/>
            <a:ext cx="70064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fontAlgn="b"/>
            <a:r>
              <a:rPr lang="bg-BG" sz="2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anose="020F0502020204030204" pitchFamily="34" charset="0"/>
              </a:rPr>
              <a:t>40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349250" y="4434370"/>
                <a:ext cx="1644874" cy="429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bg-BG" sz="2000" b="1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2000" b="1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𝒖</m:t>
                          </m:r>
                        </m:e>
                        <m:sub>
                          <m:r>
                            <a:rPr lang="en-US" sz="2000" b="1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𝒊</m:t>
                          </m:r>
                        </m:sub>
                      </m:sSub>
                      <m:r>
                        <a:rPr lang="en-US" sz="2000" b="1" i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000" b="1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2000" b="1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en-US" sz="2000" b="1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𝒋</m:t>
                          </m:r>
                        </m:sub>
                      </m:sSub>
                      <m:r>
                        <a:rPr lang="en-US" sz="2000" b="1" i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000" b="1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2000" b="1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𝒄</m:t>
                          </m:r>
                        </m:e>
                        <m:sub>
                          <m:r>
                            <a:rPr lang="en-US" sz="2000" b="1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𝒊𝒋</m:t>
                          </m:r>
                        </m:sub>
                      </m:sSub>
                    </m:oMath>
                  </m:oMathPara>
                </a14:m>
                <a:endParaRPr lang="bg-BG" sz="2000" b="1" dirty="0"/>
              </a:p>
            </p:txBody>
          </p:sp>
        </mc:Choice>
        <mc:Fallback xmlns="">
          <p:sp>
            <p:nvSpPr>
              <p:cNvPr id="6" name="Rectangle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9250" y="4434370"/>
                <a:ext cx="1644874" cy="429220"/>
              </a:xfrm>
              <a:prstGeom prst="rect">
                <a:avLst/>
              </a:prstGeom>
              <a:blipFill>
                <a:blip r:embed="rId2"/>
                <a:stretch>
                  <a:fillRect b="-9859"/>
                </a:stretch>
              </a:blipFill>
            </p:spPr>
            <p:txBody>
              <a:bodyPr/>
              <a:lstStyle/>
              <a:p>
                <a:r>
                  <a:rPr lang="bg-B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3" name="Rectangle 52"/>
              <p:cNvSpPr/>
              <p:nvPr/>
            </p:nvSpPr>
            <p:spPr>
              <a:xfrm>
                <a:off x="233994" y="5146259"/>
                <a:ext cx="1881925" cy="43088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bg-BG" sz="2200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bg-BG" sz="2200" b="0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200" i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bg-BG" sz="2200" b="0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200" i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bg-BG" sz="2200" b="0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12</m:t>
                          </m:r>
                        </m:sub>
                      </m:sSub>
                    </m:oMath>
                  </m:oMathPara>
                </a14:m>
                <a:endParaRPr lang="bg-BG" sz="2200" dirty="0"/>
              </a:p>
            </p:txBody>
          </p:sp>
        </mc:Choice>
        <mc:Fallback xmlns="">
          <p:sp>
            <p:nvSpPr>
              <p:cNvPr id="53" name="Rectangle 5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3994" y="5146259"/>
                <a:ext cx="1881925" cy="430887"/>
              </a:xfrm>
              <a:prstGeom prst="rect">
                <a:avLst/>
              </a:prstGeom>
              <a:blipFill>
                <a:blip r:embed="rId3"/>
                <a:stretch>
                  <a:fillRect b="-2817"/>
                </a:stretch>
              </a:blipFill>
            </p:spPr>
            <p:txBody>
              <a:bodyPr/>
              <a:lstStyle/>
              <a:p>
                <a:r>
                  <a:rPr lang="bg-B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" name="Rectangle 53"/>
              <p:cNvSpPr/>
              <p:nvPr/>
            </p:nvSpPr>
            <p:spPr>
              <a:xfrm>
                <a:off x="233994" y="4863590"/>
                <a:ext cx="1875385" cy="43088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bg-BG" sz="2200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bg-BG" sz="2200" b="0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200" i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bg-BG" sz="2200" b="0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200" i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bg-BG" sz="2200" b="0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11</m:t>
                          </m:r>
                        </m:sub>
                      </m:sSub>
                    </m:oMath>
                  </m:oMathPara>
                </a14:m>
                <a:endParaRPr lang="bg-BG" sz="2200" dirty="0"/>
              </a:p>
            </p:txBody>
          </p:sp>
        </mc:Choice>
        <mc:Fallback xmlns="">
          <p:sp>
            <p:nvSpPr>
              <p:cNvPr id="54" name="Rectangle 5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3994" y="4863590"/>
                <a:ext cx="1875385" cy="430887"/>
              </a:xfrm>
              <a:prstGeom prst="rect">
                <a:avLst/>
              </a:prstGeom>
              <a:blipFill>
                <a:blip r:embed="rId4"/>
                <a:stretch>
                  <a:fillRect b="-1408"/>
                </a:stretch>
              </a:blipFill>
            </p:spPr>
            <p:txBody>
              <a:bodyPr/>
              <a:lstStyle/>
              <a:p>
                <a:r>
                  <a:rPr lang="bg-B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5" name="Rectangle 54"/>
              <p:cNvSpPr/>
              <p:nvPr/>
            </p:nvSpPr>
            <p:spPr>
              <a:xfrm>
                <a:off x="233994" y="5490825"/>
                <a:ext cx="1895006" cy="43088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bg-BG" sz="2200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bg-BG" sz="2200" b="0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200" i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bg-BG" sz="2200" b="0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200" i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bg-BG" sz="2200" b="0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22</m:t>
                          </m:r>
                        </m:sub>
                      </m:sSub>
                    </m:oMath>
                  </m:oMathPara>
                </a14:m>
                <a:endParaRPr lang="bg-BG" sz="2200" dirty="0"/>
              </a:p>
            </p:txBody>
          </p:sp>
        </mc:Choice>
        <mc:Fallback xmlns="">
          <p:sp>
            <p:nvSpPr>
              <p:cNvPr id="55" name="Rectangle 5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3994" y="5490825"/>
                <a:ext cx="1895006" cy="430887"/>
              </a:xfrm>
              <a:prstGeom prst="rect">
                <a:avLst/>
              </a:prstGeom>
              <a:blipFill>
                <a:blip r:embed="rId5"/>
                <a:stretch>
                  <a:fillRect b="-4286"/>
                </a:stretch>
              </a:blipFill>
            </p:spPr>
            <p:txBody>
              <a:bodyPr/>
              <a:lstStyle/>
              <a:p>
                <a:r>
                  <a:rPr lang="bg-B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6" name="Rectangle 55"/>
              <p:cNvSpPr/>
              <p:nvPr/>
            </p:nvSpPr>
            <p:spPr>
              <a:xfrm>
                <a:off x="233994" y="5860157"/>
                <a:ext cx="1888466" cy="43088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bg-BG" sz="2200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bg-BG" sz="2200" b="0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sz="2200" i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bg-BG" sz="2200" b="0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200" i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bg-BG" sz="2200" b="0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32</m:t>
                          </m:r>
                        </m:sub>
                      </m:sSub>
                    </m:oMath>
                  </m:oMathPara>
                </a14:m>
                <a:endParaRPr lang="bg-BG" sz="2200" dirty="0"/>
              </a:p>
            </p:txBody>
          </p:sp>
        </mc:Choice>
        <mc:Fallback xmlns="">
          <p:sp>
            <p:nvSpPr>
              <p:cNvPr id="56" name="Rectangle 5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3994" y="5860157"/>
                <a:ext cx="1888466" cy="430887"/>
              </a:xfrm>
              <a:prstGeom prst="rect">
                <a:avLst/>
              </a:prstGeom>
              <a:blipFill>
                <a:blip r:embed="rId6"/>
                <a:stretch>
                  <a:fillRect b="-2817"/>
                </a:stretch>
              </a:blipFill>
            </p:spPr>
            <p:txBody>
              <a:bodyPr/>
              <a:lstStyle/>
              <a:p>
                <a:r>
                  <a:rPr lang="bg-B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7" name="Rectangle 56"/>
              <p:cNvSpPr/>
              <p:nvPr/>
            </p:nvSpPr>
            <p:spPr>
              <a:xfrm>
                <a:off x="236655" y="6229489"/>
                <a:ext cx="1895006" cy="43088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bg-BG" sz="2200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bg-BG" sz="2200" b="0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sz="2200" i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bg-BG" sz="2200" b="0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sz="2200" i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bg-BG" sz="2200" b="0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33</m:t>
                          </m:r>
                        </m:sub>
                      </m:sSub>
                    </m:oMath>
                  </m:oMathPara>
                </a14:m>
                <a:endParaRPr lang="bg-BG" sz="2200" dirty="0"/>
              </a:p>
            </p:txBody>
          </p:sp>
        </mc:Choice>
        <mc:Fallback xmlns="">
          <p:sp>
            <p:nvSpPr>
              <p:cNvPr id="57" name="Rectangle 5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6655" y="6229489"/>
                <a:ext cx="1895006" cy="430887"/>
              </a:xfrm>
              <a:prstGeom prst="rect">
                <a:avLst/>
              </a:prstGeom>
              <a:blipFill>
                <a:blip r:embed="rId7"/>
                <a:stretch>
                  <a:fillRect b="-2817"/>
                </a:stretch>
              </a:blipFill>
            </p:spPr>
            <p:txBody>
              <a:bodyPr/>
              <a:lstStyle/>
              <a:p>
                <a:r>
                  <a:rPr lang="bg-B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8" name="Rectangle 57"/>
              <p:cNvSpPr/>
              <p:nvPr/>
            </p:nvSpPr>
            <p:spPr>
              <a:xfrm>
                <a:off x="2345822" y="5146259"/>
                <a:ext cx="1546000" cy="43088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bg-BG" sz="2200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bg-BG" sz="2200" b="0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200" i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bg-BG" sz="2200" i="1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sz="2200" i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bg-BG" sz="2200" i="1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</m:oMath>
                  </m:oMathPara>
                </a14:m>
                <a:endParaRPr lang="bg-BG" sz="2200" dirty="0"/>
              </a:p>
            </p:txBody>
          </p:sp>
        </mc:Choice>
        <mc:Fallback xmlns="">
          <p:sp>
            <p:nvSpPr>
              <p:cNvPr id="58" name="Rectangle 5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45822" y="5146259"/>
                <a:ext cx="1546000" cy="430887"/>
              </a:xfrm>
              <a:prstGeom prst="rect">
                <a:avLst/>
              </a:prstGeom>
              <a:blipFill>
                <a:blip r:embed="rId8"/>
                <a:stretch>
                  <a:fillRect b="-2817"/>
                </a:stretch>
              </a:blipFill>
            </p:spPr>
            <p:txBody>
              <a:bodyPr/>
              <a:lstStyle/>
              <a:p>
                <a:r>
                  <a:rPr lang="bg-B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9" name="Rectangle 58"/>
              <p:cNvSpPr/>
              <p:nvPr/>
            </p:nvSpPr>
            <p:spPr>
              <a:xfrm>
                <a:off x="2345822" y="4863590"/>
                <a:ext cx="1665456" cy="43088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bg-BG" sz="2200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bg-BG" sz="2200" b="0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200" i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bg-BG" sz="2200" b="0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200" i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bg-BG" sz="2200" i="1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bg-BG" sz="2200" dirty="0"/>
              </a:p>
            </p:txBody>
          </p:sp>
        </mc:Choice>
        <mc:Fallback xmlns="">
          <p:sp>
            <p:nvSpPr>
              <p:cNvPr id="59" name="Rectangle 5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45822" y="4863590"/>
                <a:ext cx="1665456" cy="430887"/>
              </a:xfrm>
              <a:prstGeom prst="rect">
                <a:avLst/>
              </a:prstGeom>
              <a:blipFill>
                <a:blip r:embed="rId9"/>
                <a:stretch>
                  <a:fillRect b="-1408"/>
                </a:stretch>
              </a:blipFill>
            </p:spPr>
            <p:txBody>
              <a:bodyPr/>
              <a:lstStyle/>
              <a:p>
                <a:r>
                  <a:rPr lang="bg-B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0" name="Rectangle 59"/>
              <p:cNvSpPr/>
              <p:nvPr/>
            </p:nvSpPr>
            <p:spPr>
              <a:xfrm>
                <a:off x="2345822" y="5490825"/>
                <a:ext cx="1411669" cy="43088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bg-BG" sz="2200" i="1" smtClean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sz="22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bg-BG" sz="2200" b="0" i="1" smtClean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200" i="1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bg-BG" sz="2200" i="1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sz="2200" i="1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bg-BG" sz="2200" dirty="0"/>
                  <a:t>2</a:t>
                </a:r>
              </a:p>
            </p:txBody>
          </p:sp>
        </mc:Choice>
        <mc:Fallback xmlns="">
          <p:sp>
            <p:nvSpPr>
              <p:cNvPr id="60" name="Rectangle 5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45822" y="5490825"/>
                <a:ext cx="1411669" cy="430887"/>
              </a:xfrm>
              <a:prstGeom prst="rect">
                <a:avLst/>
              </a:prstGeom>
              <a:blipFill>
                <a:blip r:embed="rId10"/>
                <a:stretch>
                  <a:fillRect t="-10000" r="-4762" b="-28571"/>
                </a:stretch>
              </a:blipFill>
            </p:spPr>
            <p:txBody>
              <a:bodyPr/>
              <a:lstStyle/>
              <a:p>
                <a:r>
                  <a:rPr lang="bg-B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1" name="Rectangle 60"/>
              <p:cNvSpPr/>
              <p:nvPr/>
            </p:nvSpPr>
            <p:spPr>
              <a:xfrm>
                <a:off x="2345822" y="5860157"/>
                <a:ext cx="1552541" cy="43088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bg-BG" sz="2200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bg-BG" sz="2200" b="0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sz="2200" i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bg-BG" sz="2200" b="0" i="1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sz="2200" i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bg-BG" sz="2200" i="1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5</m:t>
                      </m:r>
                    </m:oMath>
                  </m:oMathPara>
                </a14:m>
                <a:endParaRPr lang="bg-BG" sz="2200" dirty="0"/>
              </a:p>
            </p:txBody>
          </p:sp>
        </mc:Choice>
        <mc:Fallback xmlns="">
          <p:sp>
            <p:nvSpPr>
              <p:cNvPr id="61" name="Rectangle 6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45822" y="5860157"/>
                <a:ext cx="1552541" cy="430887"/>
              </a:xfrm>
              <a:prstGeom prst="rect">
                <a:avLst/>
              </a:prstGeom>
              <a:blipFill>
                <a:blip r:embed="rId11"/>
                <a:stretch>
                  <a:fillRect b="-2817"/>
                </a:stretch>
              </a:blipFill>
            </p:spPr>
            <p:txBody>
              <a:bodyPr/>
              <a:lstStyle/>
              <a:p>
                <a:r>
                  <a:rPr lang="bg-B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2" name="Rectangle 61"/>
              <p:cNvSpPr/>
              <p:nvPr/>
            </p:nvSpPr>
            <p:spPr>
              <a:xfrm>
                <a:off x="2348483" y="6229489"/>
                <a:ext cx="1678536" cy="43088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bg-BG" sz="2200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bg-BG" sz="2200" b="0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sz="2200" i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bg-BG" sz="2200" b="0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sz="2200" i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bg-BG" sz="2200" i="1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bg-BG" sz="2200" dirty="0"/>
              </a:p>
            </p:txBody>
          </p:sp>
        </mc:Choice>
        <mc:Fallback xmlns="">
          <p:sp>
            <p:nvSpPr>
              <p:cNvPr id="62" name="Rectangle 6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48483" y="6229489"/>
                <a:ext cx="1678536" cy="430887"/>
              </a:xfrm>
              <a:prstGeom prst="rect">
                <a:avLst/>
              </a:prstGeom>
              <a:blipFill>
                <a:blip r:embed="rId12"/>
                <a:stretch>
                  <a:fillRect b="-2817"/>
                </a:stretch>
              </a:blipFill>
            </p:spPr>
            <p:txBody>
              <a:bodyPr/>
              <a:lstStyle/>
              <a:p>
                <a:r>
                  <a:rPr lang="bg-B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Rectangle 14"/>
              <p:cNvSpPr/>
              <p:nvPr/>
            </p:nvSpPr>
            <p:spPr>
              <a:xfrm>
                <a:off x="2718660" y="4514348"/>
                <a:ext cx="823174" cy="43088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200" b="1" i="1" smtClean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sz="2200" b="1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𝒗</m:t>
                        </m:r>
                      </m:e>
                      <m:sub>
                        <m:r>
                          <a:rPr lang="bg-BG" sz="2200" b="1" i="1" smtClean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bg-BG" sz="2200" b="1" dirty="0"/>
                  <a:t>=0</a:t>
                </a:r>
              </a:p>
            </p:txBody>
          </p:sp>
        </mc:Choice>
        <mc:Fallback xmlns="">
          <p:sp>
            <p:nvSpPr>
              <p:cNvPr id="15" name="Rectangle 1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18660" y="4514348"/>
                <a:ext cx="823174" cy="430887"/>
              </a:xfrm>
              <a:prstGeom prst="rect">
                <a:avLst/>
              </a:prstGeom>
              <a:blipFill>
                <a:blip r:embed="rId13"/>
                <a:stretch>
                  <a:fillRect t="-10000" r="-8889" b="-28571"/>
                </a:stretch>
              </a:blipFill>
            </p:spPr>
            <p:txBody>
              <a:bodyPr/>
              <a:lstStyle/>
              <a:p>
                <a:r>
                  <a:rPr lang="bg-B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/>
              <p:cNvSpPr txBox="1"/>
              <p:nvPr/>
            </p:nvSpPr>
            <p:spPr>
              <a:xfrm>
                <a:off x="3860463" y="5520016"/>
                <a:ext cx="581891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bg-BG" sz="28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⟹</m:t>
                      </m:r>
                    </m:oMath>
                  </m:oMathPara>
                </a14:m>
                <a:endParaRPr lang="bg-BG" sz="2800" dirty="0"/>
              </a:p>
            </p:txBody>
          </p:sp>
        </mc:Choice>
        <mc:Fallback xmlns="">
          <p:sp>
            <p:nvSpPr>
              <p:cNvPr id="18" name="TextBox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60463" y="5520016"/>
                <a:ext cx="581891" cy="523220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bg-B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/>
              <p:cNvSpPr txBox="1"/>
              <p:nvPr/>
            </p:nvSpPr>
            <p:spPr>
              <a:xfrm>
                <a:off x="4399857" y="4942582"/>
                <a:ext cx="1076192" cy="165064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m>
                        <m:mPr>
                          <m:mcs>
                            <m:mc>
                              <m:mcPr>
                                <m:count m:val="1"/>
                                <m:mcJc m:val="center"/>
                              </m:mcPr>
                            </m:mc>
                          </m:mcs>
                          <m:ctrlPr>
                            <a:rPr lang="bg-BG" sz="2200" i="1" smtClean="0">
                              <a:latin typeface="Cambria Math"/>
                            </a:rPr>
                          </m:ctrlPr>
                        </m:mPr>
                        <m:mr>
                          <m:e>
                            <m:sSub>
                              <m:sSubPr>
                                <m:ctrlPr>
                                  <a:rPr lang="bg-BG" sz="2200" i="1" smtClean="0">
                                    <a:latin typeface="Cambria Math"/>
                                  </a:rPr>
                                </m:ctrlPr>
                              </m:sSubPr>
                              <m:e>
                                <m:r>
                                  <a:rPr lang="en-US" sz="2200" b="0" i="1" smtClean="0">
                                    <a:latin typeface="Cambria Math" panose="02040503050406030204" pitchFamily="18" charset="0"/>
                                  </a:rPr>
                                  <m:t>𝑣</m:t>
                                </m:r>
                              </m:e>
                              <m:sub>
                                <m:r>
                                  <a:rPr lang="en-US" sz="22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m:rPr>
                                <m:brk m:alnAt="7"/>
                              </m:rP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e>
                        </m:mr>
                        <m:mr>
                          <m:e>
                            <m:sSub>
                              <m:sSubPr>
                                <m:ctrlPr>
                                  <a:rPr lang="bg-BG" sz="2200" i="1" smtClean="0">
                                    <a:latin typeface="Cambria Math"/>
                                  </a:rPr>
                                </m:ctrlPr>
                              </m:sSubPr>
                              <m:e>
                                <m:r>
                                  <a:rPr lang="en-US" sz="2200" b="0" i="1" smtClean="0"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</m:e>
                              <m:sub>
                                <m:r>
                                  <a:rPr lang="en-US" sz="22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  <m:t>=3</m:t>
                            </m:r>
                          </m:e>
                        </m:mr>
                        <m:mr>
                          <m:e>
                            <m:eqArr>
                              <m:eqArrPr>
                                <m:ctrlPr>
                                  <a:rPr lang="bg-BG" sz="2200" i="1" smtClean="0">
                                    <a:latin typeface="Cambria Math"/>
                                  </a:rPr>
                                </m:ctrlPr>
                              </m:eqArrPr>
                              <m:e>
                                <m:sSub>
                                  <m:sSubPr>
                                    <m:ctrlPr>
                                      <a:rPr lang="bg-BG" sz="2200" i="1" smtClean="0">
                                        <a:latin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200" b="0" i="1" smtClean="0">
                                        <a:latin typeface="Cambria Math" panose="02040503050406030204" pitchFamily="18" charset="0"/>
                                      </a:rPr>
                                      <m:t>𝑢</m:t>
                                    </m:r>
                                  </m:e>
                                  <m:sub>
                                    <m:r>
                                      <a:rPr lang="en-US" sz="22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en-US" sz="2200" b="0" i="1" smtClean="0">
                                    <a:latin typeface="Cambria Math" panose="02040503050406030204" pitchFamily="18" charset="0"/>
                                  </a:rPr>
                                  <m:t>=2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en-US" sz="2200" b="0" i="1" smtClean="0">
                                        <a:latin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200" b="0" i="1" smtClean="0">
                                        <a:latin typeface="Cambria Math" panose="02040503050406030204" pitchFamily="18" charset="0"/>
                                      </a:rPr>
                                      <m:t>𝑢</m:t>
                                    </m:r>
                                  </m:e>
                                  <m:sub>
                                    <m:r>
                                      <a:rPr lang="en-US" sz="2200" b="0" i="1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  <m:r>
                                  <a:rPr lang="en-US" sz="2200" b="0" i="1" smtClean="0">
                                    <a:latin typeface="Cambria Math" panose="02040503050406030204" pitchFamily="18" charset="0"/>
                                  </a:rPr>
                                  <m:t>=5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bg-BG" sz="2200" i="1" smtClean="0">
                                        <a:latin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200" b="0" i="1" smtClean="0">
                                        <a:latin typeface="Cambria Math" panose="02040503050406030204" pitchFamily="18" charset="0"/>
                                      </a:rPr>
                                      <m:t>𝑣</m:t>
                                    </m:r>
                                  </m:e>
                                  <m:sub>
                                    <m:r>
                                      <a:rPr lang="en-US" sz="2200" b="0" i="1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  <m:r>
                                  <a:rPr lang="en-US" sz="2200" b="0" i="1" smtClean="0">
                                    <a:latin typeface="Cambria Math" panose="02040503050406030204" pitchFamily="18" charset="0"/>
                                  </a:rPr>
                                  <m:t>=−</m:t>
                                </m:r>
                                <m:r>
                                  <a:rPr lang="bg-BG" sz="2200" b="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eqArr>
                          </m:e>
                        </m:mr>
                      </m:m>
                    </m:oMath>
                  </m:oMathPara>
                </a14:m>
                <a:endParaRPr lang="bg-BG" sz="2200" dirty="0"/>
              </a:p>
            </p:txBody>
          </p:sp>
        </mc:Choice>
        <mc:Fallback xmlns="">
          <p:sp>
            <p:nvSpPr>
              <p:cNvPr id="25" name="TextBox 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99857" y="4942582"/>
                <a:ext cx="1076192" cy="1650645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bg-B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3" name="Rectangle 62"/>
              <p:cNvSpPr/>
              <p:nvPr/>
            </p:nvSpPr>
            <p:spPr>
              <a:xfrm>
                <a:off x="5749963" y="4514348"/>
                <a:ext cx="2509854" cy="46288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bg-BG" sz="2200" b="1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2200" b="1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𝑫</m:t>
                          </m:r>
                        </m:e>
                        <m:sub>
                          <m:r>
                            <a:rPr lang="en-US" sz="2200" b="1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𝒊𝒋</m:t>
                          </m:r>
                        </m:sub>
                      </m:sSub>
                      <m:r>
                        <a:rPr lang="en-US" sz="2200" b="1" i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200" b="1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2200" b="1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𝒖</m:t>
                          </m:r>
                        </m:e>
                        <m:sub>
                          <m:r>
                            <a:rPr lang="en-US" sz="2200" b="1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𝒊</m:t>
                          </m:r>
                        </m:sub>
                      </m:sSub>
                      <m:r>
                        <a:rPr lang="en-US" sz="2200" b="1" i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200" b="1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2200" b="1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en-US" sz="2200" b="1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𝒋</m:t>
                          </m:r>
                        </m:sub>
                      </m:sSub>
                      <m:r>
                        <a:rPr lang="en-US" sz="2200" b="1" i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sz="2200" b="1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2200" b="1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𝒄</m:t>
                          </m:r>
                        </m:e>
                        <m:sub>
                          <m:r>
                            <a:rPr lang="en-US" sz="2200" b="1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𝒊𝒋</m:t>
                          </m:r>
                        </m:sub>
                      </m:sSub>
                    </m:oMath>
                  </m:oMathPara>
                </a14:m>
                <a:endParaRPr lang="bg-BG" sz="2200" b="1" dirty="0"/>
              </a:p>
            </p:txBody>
          </p:sp>
        </mc:Choice>
        <mc:Fallback xmlns="">
          <p:sp>
            <p:nvSpPr>
              <p:cNvPr id="63" name="Rectangle 6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49963" y="4514348"/>
                <a:ext cx="2509854" cy="462884"/>
              </a:xfrm>
              <a:prstGeom prst="rect">
                <a:avLst/>
              </a:prstGeom>
              <a:blipFill>
                <a:blip r:embed="rId16"/>
                <a:stretch>
                  <a:fillRect b="-10667"/>
                </a:stretch>
              </a:blipFill>
            </p:spPr>
            <p:txBody>
              <a:bodyPr/>
              <a:lstStyle/>
              <a:p>
                <a:r>
                  <a:rPr lang="bg-B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4" name="Rectangle 63"/>
              <p:cNvSpPr/>
              <p:nvPr/>
            </p:nvSpPr>
            <p:spPr>
              <a:xfrm>
                <a:off x="5749963" y="4831593"/>
                <a:ext cx="2638799" cy="43088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bg-BG" sz="2200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2200" b="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US" sz="2200" b="0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13</m:t>
                          </m:r>
                        </m:sub>
                      </m:sSub>
                      <m:r>
                        <a:rPr lang="en-US" sz="2200" b="0" i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2200" b="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sz="2200" b="0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200" b="0" i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2200" b="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2200" b="0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sz="2200" b="0" i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2200" b="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sz="2200" b="0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13</m:t>
                          </m:r>
                        </m:sub>
                      </m:sSub>
                    </m:oMath>
                  </m:oMathPara>
                </a14:m>
                <a:endParaRPr lang="bg-BG" sz="2200" dirty="0"/>
              </a:p>
            </p:txBody>
          </p:sp>
        </mc:Choice>
        <mc:Fallback xmlns="">
          <p:sp>
            <p:nvSpPr>
              <p:cNvPr id="64" name="Rectangle 6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49963" y="4831593"/>
                <a:ext cx="2638799" cy="430887"/>
              </a:xfrm>
              <a:prstGeom prst="rect">
                <a:avLst/>
              </a:prstGeom>
              <a:blipFill>
                <a:blip r:embed="rId17"/>
                <a:stretch>
                  <a:fillRect b="-4286"/>
                </a:stretch>
              </a:blipFill>
            </p:spPr>
            <p:txBody>
              <a:bodyPr/>
              <a:lstStyle/>
              <a:p>
                <a:r>
                  <a:rPr lang="bg-B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5" name="Rectangle 64"/>
              <p:cNvSpPr/>
              <p:nvPr/>
            </p:nvSpPr>
            <p:spPr>
              <a:xfrm>
                <a:off x="5724653" y="5203574"/>
                <a:ext cx="2651880" cy="43088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bg-BG" sz="2200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2200" b="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US" sz="2200" b="0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21</m:t>
                          </m:r>
                        </m:sub>
                      </m:sSub>
                      <m:r>
                        <a:rPr lang="en-US" sz="2200" b="0" i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2200" b="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sz="2200" b="0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200" b="0" i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2200" b="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2200" b="0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200" b="0" i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2200" b="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sz="2200" b="0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21</m:t>
                          </m:r>
                        </m:sub>
                      </m:sSub>
                    </m:oMath>
                  </m:oMathPara>
                </a14:m>
                <a:endParaRPr lang="bg-BG" sz="2200" dirty="0"/>
              </a:p>
            </p:txBody>
          </p:sp>
        </mc:Choice>
        <mc:Fallback xmlns="">
          <p:sp>
            <p:nvSpPr>
              <p:cNvPr id="65" name="Rectangle 6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24653" y="5203574"/>
                <a:ext cx="2651880" cy="430887"/>
              </a:xfrm>
              <a:prstGeom prst="rect">
                <a:avLst/>
              </a:prstGeom>
              <a:blipFill>
                <a:blip r:embed="rId18"/>
                <a:stretch>
                  <a:fillRect b="-4286"/>
                </a:stretch>
              </a:blipFill>
            </p:spPr>
            <p:txBody>
              <a:bodyPr/>
              <a:lstStyle/>
              <a:p>
                <a:r>
                  <a:rPr lang="bg-B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6" name="Rectangle 65"/>
              <p:cNvSpPr/>
              <p:nvPr/>
            </p:nvSpPr>
            <p:spPr>
              <a:xfrm>
                <a:off x="5748403" y="5624644"/>
                <a:ext cx="2658420" cy="43088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bg-BG" sz="2200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2200" b="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US" sz="2200" b="0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23</m:t>
                          </m:r>
                        </m:sub>
                      </m:sSub>
                      <m:r>
                        <a:rPr lang="en-US" sz="2200" b="0" i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2200" b="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sz="2200" b="0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200" b="0" i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2200" b="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2200" b="0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sz="2200" b="0" i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2200" b="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sz="2200" b="0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23</m:t>
                          </m:r>
                        </m:sub>
                      </m:sSub>
                    </m:oMath>
                  </m:oMathPara>
                </a14:m>
                <a:endParaRPr lang="bg-BG" sz="2200" dirty="0"/>
              </a:p>
            </p:txBody>
          </p:sp>
        </mc:Choice>
        <mc:Fallback xmlns="">
          <p:sp>
            <p:nvSpPr>
              <p:cNvPr id="66" name="Rectangle 6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48403" y="5624644"/>
                <a:ext cx="2658420" cy="430887"/>
              </a:xfrm>
              <a:prstGeom prst="rect">
                <a:avLst/>
              </a:prstGeom>
              <a:blipFill>
                <a:blip r:embed="rId19"/>
                <a:stretch>
                  <a:fillRect b="-4286"/>
                </a:stretch>
              </a:blipFill>
            </p:spPr>
            <p:txBody>
              <a:bodyPr/>
              <a:lstStyle/>
              <a:p>
                <a:r>
                  <a:rPr lang="bg-B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7" name="Rectangle 66"/>
              <p:cNvSpPr/>
              <p:nvPr/>
            </p:nvSpPr>
            <p:spPr>
              <a:xfrm>
                <a:off x="5760278" y="6082428"/>
                <a:ext cx="2651880" cy="43088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bg-BG" sz="2200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2200" b="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US" sz="2200" b="0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31</m:t>
                          </m:r>
                        </m:sub>
                      </m:sSub>
                      <m:r>
                        <a:rPr lang="en-US" sz="2200" b="0" i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2200" b="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sz="2200" b="0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sz="2200" b="0" i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2200" b="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2200" b="0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200" b="0" i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2200" b="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sz="2200" b="0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31</m:t>
                          </m:r>
                        </m:sub>
                      </m:sSub>
                    </m:oMath>
                  </m:oMathPara>
                </a14:m>
                <a:endParaRPr lang="bg-BG" sz="2200" dirty="0"/>
              </a:p>
            </p:txBody>
          </p:sp>
        </mc:Choice>
        <mc:Fallback xmlns="">
          <p:sp>
            <p:nvSpPr>
              <p:cNvPr id="67" name="Rectangle 6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60278" y="6082428"/>
                <a:ext cx="2651880" cy="430887"/>
              </a:xfrm>
              <a:prstGeom prst="rect">
                <a:avLst/>
              </a:prstGeom>
              <a:blipFill>
                <a:blip r:embed="rId20"/>
                <a:stretch>
                  <a:fillRect b="-4286"/>
                </a:stretch>
              </a:blipFill>
            </p:spPr>
            <p:txBody>
              <a:bodyPr/>
              <a:lstStyle/>
              <a:p>
                <a:r>
                  <a:rPr lang="bg-B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8" name="Rectangle 67"/>
              <p:cNvSpPr/>
              <p:nvPr/>
            </p:nvSpPr>
            <p:spPr>
              <a:xfrm>
                <a:off x="8376533" y="4884656"/>
                <a:ext cx="1995739" cy="43088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bg-BG" sz="22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sz="22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sz="22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</m:sub>
                    </m:sSub>
                    <m:r>
                      <a:rPr lang="en-US" sz="2200" i="1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2200" dirty="0"/>
                  <a:t>3-</a:t>
                </a:r>
                <a:r>
                  <a:rPr lang="bg-BG" sz="2200" dirty="0"/>
                  <a:t>3</a:t>
                </a:r>
                <a:r>
                  <a:rPr lang="en-US" sz="2200" dirty="0"/>
                  <a:t>-8=-</a:t>
                </a:r>
                <a:r>
                  <a:rPr lang="bg-BG" sz="2200" dirty="0"/>
                  <a:t>8</a:t>
                </a:r>
              </a:p>
            </p:txBody>
          </p:sp>
        </mc:Choice>
        <mc:Fallback xmlns="">
          <p:sp>
            <p:nvSpPr>
              <p:cNvPr id="68" name="Rectangle 6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76533" y="4884656"/>
                <a:ext cx="1995739" cy="430887"/>
              </a:xfrm>
              <a:prstGeom prst="rect">
                <a:avLst/>
              </a:prstGeom>
              <a:blipFill>
                <a:blip r:embed="rId21"/>
                <a:stretch>
                  <a:fillRect l="-306" t="-9859" r="-3058" b="-28169"/>
                </a:stretch>
              </a:blipFill>
            </p:spPr>
            <p:txBody>
              <a:bodyPr/>
              <a:lstStyle/>
              <a:p>
                <a:r>
                  <a:rPr lang="bg-B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9" name="Rectangle 68"/>
              <p:cNvSpPr/>
              <p:nvPr/>
            </p:nvSpPr>
            <p:spPr>
              <a:xfrm>
                <a:off x="8376533" y="5307051"/>
                <a:ext cx="1999073" cy="43088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bg-BG" sz="2200" i="1" smtClean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sz="22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sz="2200" b="0" i="1" smtClean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21</m:t>
                        </m:r>
                      </m:sub>
                    </m:sSub>
                    <m:r>
                      <a:rPr lang="en-US" sz="2200" i="1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2200" dirty="0"/>
                  <a:t>2-1-5=-</a:t>
                </a:r>
                <a:r>
                  <a:rPr lang="bg-BG" sz="2200" dirty="0"/>
                  <a:t>4</a:t>
                </a:r>
              </a:p>
            </p:txBody>
          </p:sp>
        </mc:Choice>
        <mc:Fallback xmlns="">
          <p:sp>
            <p:nvSpPr>
              <p:cNvPr id="69" name="Rectangle 6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76533" y="5307051"/>
                <a:ext cx="1999073" cy="430887"/>
              </a:xfrm>
              <a:prstGeom prst="rect">
                <a:avLst/>
              </a:prstGeom>
              <a:blipFill>
                <a:blip r:embed="rId22"/>
                <a:stretch>
                  <a:fillRect l="-305" t="-11429" r="-3049" b="-28571"/>
                </a:stretch>
              </a:blipFill>
            </p:spPr>
            <p:txBody>
              <a:bodyPr/>
              <a:lstStyle/>
              <a:p>
                <a:r>
                  <a:rPr lang="bg-B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0" name="Rectangle 69"/>
              <p:cNvSpPr/>
              <p:nvPr/>
            </p:nvSpPr>
            <p:spPr>
              <a:xfrm>
                <a:off x="8406823" y="6071720"/>
                <a:ext cx="1899687" cy="43088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bg-BG" sz="2200" i="1" smtClean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sz="22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sz="2200" b="0" i="1" smtClean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31</m:t>
                        </m:r>
                      </m:sub>
                    </m:sSub>
                    <m:r>
                      <a:rPr lang="en-US" sz="2200" i="1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2200" dirty="0"/>
                  <a:t>5-1-3=</a:t>
                </a:r>
                <a:r>
                  <a:rPr lang="bg-BG" sz="2200" dirty="0"/>
                  <a:t>1</a:t>
                </a:r>
              </a:p>
            </p:txBody>
          </p:sp>
        </mc:Choice>
        <mc:Fallback xmlns="">
          <p:sp>
            <p:nvSpPr>
              <p:cNvPr id="70" name="Rectangle 6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06823" y="6071720"/>
                <a:ext cx="1899687" cy="430887"/>
              </a:xfrm>
              <a:prstGeom prst="rect">
                <a:avLst/>
              </a:prstGeom>
              <a:blipFill>
                <a:blip r:embed="rId23"/>
                <a:stretch>
                  <a:fillRect l="-321" t="-11268" r="-3205" b="-28169"/>
                </a:stretch>
              </a:blipFill>
            </p:spPr>
            <p:txBody>
              <a:bodyPr/>
              <a:lstStyle/>
              <a:p>
                <a:r>
                  <a:rPr lang="bg-B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1" name="Rectangle 70"/>
              <p:cNvSpPr/>
              <p:nvPr/>
            </p:nvSpPr>
            <p:spPr>
              <a:xfrm>
                <a:off x="8388762" y="5675491"/>
                <a:ext cx="2002279" cy="43088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bg-BG" sz="2200" i="1" smtClean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sz="22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sz="2200" b="0" i="1" smtClean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sz="22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sz="2200" i="1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2200" dirty="0"/>
                  <a:t>2-</a:t>
                </a:r>
                <a:r>
                  <a:rPr lang="bg-BG" sz="2200" dirty="0"/>
                  <a:t>3</a:t>
                </a:r>
                <a:r>
                  <a:rPr lang="en-US" sz="2200" dirty="0"/>
                  <a:t>-6=-</a:t>
                </a:r>
                <a:r>
                  <a:rPr lang="bg-BG" sz="2200" dirty="0"/>
                  <a:t>7</a:t>
                </a:r>
              </a:p>
            </p:txBody>
          </p:sp>
        </mc:Choice>
        <mc:Fallback xmlns="">
          <p:sp>
            <p:nvSpPr>
              <p:cNvPr id="71" name="Rectangle 7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8762" y="5675491"/>
                <a:ext cx="2002279" cy="430887"/>
              </a:xfrm>
              <a:prstGeom prst="rect">
                <a:avLst/>
              </a:prstGeom>
              <a:blipFill>
                <a:blip r:embed="rId24"/>
                <a:stretch>
                  <a:fillRect l="-304" t="-11268" r="-2736" b="-28169"/>
                </a:stretch>
              </a:blipFill>
            </p:spPr>
            <p:txBody>
              <a:bodyPr/>
              <a:lstStyle/>
              <a:p>
                <a:r>
                  <a:rPr lang="bg-B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2" name="Rectangle 71"/>
              <p:cNvSpPr/>
              <p:nvPr/>
            </p:nvSpPr>
            <p:spPr>
              <a:xfrm>
                <a:off x="10719681" y="4884656"/>
                <a:ext cx="1198983" cy="43088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bg-BG" sz="2200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31</m:t>
                          </m:r>
                        </m:sub>
                      </m:sSub>
                      <m:r>
                        <a:rPr lang="en-US" sz="2200" b="0" i="1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&gt;0</m:t>
                      </m:r>
                    </m:oMath>
                  </m:oMathPara>
                </a14:m>
                <a:endParaRPr lang="bg-BG" sz="2200" dirty="0"/>
              </a:p>
            </p:txBody>
          </p:sp>
        </mc:Choice>
        <mc:Fallback xmlns="">
          <p:sp>
            <p:nvSpPr>
              <p:cNvPr id="72" name="Rectangle 7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19681" y="4884656"/>
                <a:ext cx="1198983" cy="430887"/>
              </a:xfrm>
              <a:prstGeom prst="rect">
                <a:avLst/>
              </a:prstGeom>
              <a:blipFill>
                <a:blip r:embed="rId25"/>
                <a:stretch>
                  <a:fillRect b="-2817"/>
                </a:stretch>
              </a:blipFill>
            </p:spPr>
            <p:txBody>
              <a:bodyPr/>
              <a:lstStyle/>
              <a:p>
                <a:r>
                  <a:rPr lang="bg-B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3" name="TextBox 72"/>
          <p:cNvSpPr txBox="1"/>
          <p:nvPr/>
        </p:nvSpPr>
        <p:spPr>
          <a:xfrm>
            <a:off x="10676843" y="5305832"/>
            <a:ext cx="155965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bg-BG" sz="2000" dirty="0"/>
              <a:t>Планът не е оптимален</a:t>
            </a:r>
          </a:p>
        </p:txBody>
      </p:sp>
    </p:spTree>
    <p:extLst>
      <p:ext uri="{BB962C8B-B14F-4D97-AF65-F5344CB8AC3E}">
        <p14:creationId xmlns:p14="http://schemas.microsoft.com/office/powerpoint/2010/main" val="58381717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96F670-2033-414C-8E6B-3DB4A3EC2EBC}" type="slidenum">
              <a:rPr lang="bg-BG" smtClean="0"/>
              <a:t>14</a:t>
            </a:fld>
            <a:endParaRPr lang="bg-BG" dirty="0"/>
          </a:p>
        </p:txBody>
      </p:sp>
      <p:sp>
        <p:nvSpPr>
          <p:cNvPr id="3" name="Content Placeholder 2"/>
          <p:cNvSpPr txBox="1">
            <a:spLocks/>
          </p:cNvSpPr>
          <p:nvPr/>
        </p:nvSpPr>
        <p:spPr>
          <a:xfrm>
            <a:off x="106877" y="190065"/>
            <a:ext cx="11844331" cy="6169231"/>
          </a:xfrm>
          <a:prstGeom prst="rect">
            <a:avLst/>
          </a:prstGeom>
        </p:spPr>
        <p:txBody>
          <a:bodyPr>
            <a:noAutofit/>
          </a:bodyPr>
          <a:lstStyle>
            <a:lvl1pPr marL="182880" indent="-18288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457200"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Wingdings" pitchFamily="2" charset="2"/>
              <a:buNone/>
            </a:pPr>
            <a:r>
              <a:rPr lang="ru-RU" sz="2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Създаване на подобрен план</a:t>
            </a:r>
            <a:endParaRPr lang="ru-RU" sz="24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0" indent="457200" algn="just">
              <a:buFont typeface="Wingdings" pitchFamily="2" charset="2"/>
              <a:buNone/>
            </a:pPr>
            <a:endParaRPr lang="bg-BG" sz="22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618715" y="675310"/>
          <a:ext cx="7405322" cy="3718560"/>
        </p:xfrm>
        <a:graphic>
          <a:graphicData uri="http://schemas.openxmlformats.org/drawingml/2006/table">
            <a:tbl>
              <a:tblPr/>
              <a:tblGrid>
                <a:gridCol w="1645920">
                  <a:extLst>
                    <a:ext uri="{9D8B030D-6E8A-4147-A177-3AD203B41FA5}">
                      <a16:colId xmlns:a16="http://schemas.microsoft.com/office/drawing/2014/main" xmlns="" val="2207440946"/>
                    </a:ext>
                  </a:extLst>
                </a:gridCol>
                <a:gridCol w="1591879">
                  <a:extLst>
                    <a:ext uri="{9D8B030D-6E8A-4147-A177-3AD203B41FA5}">
                      <a16:colId xmlns:a16="http://schemas.microsoft.com/office/drawing/2014/main" xmlns="" val="2415257785"/>
                    </a:ext>
                  </a:extLst>
                </a:gridCol>
                <a:gridCol w="1471754">
                  <a:extLst>
                    <a:ext uri="{9D8B030D-6E8A-4147-A177-3AD203B41FA5}">
                      <a16:colId xmlns:a16="http://schemas.microsoft.com/office/drawing/2014/main" xmlns="" val="1706536627"/>
                    </a:ext>
                  </a:extLst>
                </a:gridCol>
                <a:gridCol w="1232729">
                  <a:extLst>
                    <a:ext uri="{9D8B030D-6E8A-4147-A177-3AD203B41FA5}">
                      <a16:colId xmlns:a16="http://schemas.microsoft.com/office/drawing/2014/main" xmlns="" val="2193725761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xmlns="" val="3437759595"/>
                    </a:ext>
                  </a:extLst>
                </a:gridCol>
              </a:tblGrid>
              <a:tr h="731520">
                <a:tc>
                  <a:txBody>
                    <a:bodyPr/>
                    <a:lstStyle/>
                    <a:p>
                      <a:pPr algn="ctr" fontAlgn="b"/>
                      <a:r>
                        <a:rPr lang="bg-BG" sz="2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План</a:t>
                      </a:r>
                      <a:r>
                        <a:rPr lang="bg-BG" sz="2200" b="1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2</a:t>
                      </a:r>
                      <a:endParaRPr lang="bg-BG" sz="22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91440" anchor="ctr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spcBef>
                          <a:spcPts val="1800"/>
                        </a:spcBef>
                      </a:pPr>
                      <a:r>
                        <a:rPr lang="bg-BG" sz="2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Склад 1</a:t>
                      </a:r>
                    </a:p>
                  </a:txBody>
                  <a:tcPr marL="9525" marR="9525" marT="9525" marB="91440" anchor="ctr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spcBef>
                          <a:spcPts val="1800"/>
                        </a:spcBef>
                      </a:pPr>
                      <a:r>
                        <a:rPr lang="bg-BG" sz="2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Склад 2</a:t>
                      </a:r>
                    </a:p>
                  </a:txBody>
                  <a:tcPr marL="9525" marR="9525" marT="9525" marB="91440" anchor="ctr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spcBef>
                          <a:spcPts val="1800"/>
                        </a:spcBef>
                      </a:pPr>
                      <a:r>
                        <a:rPr lang="bg-BG" sz="2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Склад 3</a:t>
                      </a:r>
                    </a:p>
                  </a:txBody>
                  <a:tcPr marL="9525" marR="9525" marT="9525" marB="91440" anchor="ctr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968375" algn="l"/>
                        </a:tabLst>
                        <a:defRPr/>
                      </a:pPr>
                      <a:r>
                        <a:rPr lang="bg-BG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Производство</a:t>
                      </a:r>
                    </a:p>
                  </a:txBody>
                  <a:tcPr marL="9525" marR="9525" marT="9525" marB="91440" anchor="ctr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3861937628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algn="ctr" fontAlgn="b"/>
                      <a:r>
                        <a:rPr lang="bg-BG" sz="2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Завод 1</a:t>
                      </a:r>
                    </a:p>
                  </a:txBody>
                  <a:tcPr marL="9525" marR="9525" marT="9525" marB="91440" anchor="ctr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bg-BG" sz="2800" b="1" i="0" u="none" strike="noStrike" baseline="30000" dirty="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0" marR="0" marT="91440" marB="91440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bg-BG" sz="2800" b="1" i="0" u="none" strike="noStrike" baseline="30000" dirty="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0" marR="0" marT="91440" marB="91440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bg-BG" sz="2800" b="1" i="0" u="none" strike="noStrike" baseline="30000" dirty="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8</a:t>
                      </a:r>
                    </a:p>
                  </a:txBody>
                  <a:tcPr marL="0" marR="0" marT="91440" marB="91440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bg-BG" sz="2200" b="1" i="0" u="none" strike="noStrike" kern="1200" baseline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50</a:t>
                      </a:r>
                    </a:p>
                  </a:txBody>
                  <a:tcPr marL="0" marR="0" marT="91440" marB="91440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2232085029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algn="ctr" fontAlgn="b"/>
                      <a:r>
                        <a:rPr lang="bg-BG" sz="2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Завод 2</a:t>
                      </a:r>
                    </a:p>
                  </a:txBody>
                  <a:tcPr marL="9525" marR="9525" marT="9525" marB="91440" anchor="ctr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bg-BG" sz="2800" b="1" i="0" u="none" strike="noStrike" baseline="30000" dirty="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5</a:t>
                      </a:r>
                    </a:p>
                  </a:txBody>
                  <a:tcPr marL="0" marR="0" marT="91440" marB="91440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bg-BG" sz="2800" b="1" i="0" u="none" strike="noStrike" baseline="30000" dirty="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0" marR="0" marT="91440" marB="91440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bg-BG" sz="2800" b="1" i="0" u="none" strike="noStrike" baseline="30000" dirty="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6</a:t>
                      </a:r>
                    </a:p>
                  </a:txBody>
                  <a:tcPr marL="0" marR="0" marT="91440" marB="91440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bg-BG" sz="2200" b="1" i="0" u="none" strike="noStrike" kern="1200" baseline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40</a:t>
                      </a:r>
                    </a:p>
                  </a:txBody>
                  <a:tcPr marL="0" marR="0" marT="91440" marB="91440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843425682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algn="ctr" fontAlgn="b"/>
                      <a:r>
                        <a:rPr lang="bg-BG" sz="2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Завод 3</a:t>
                      </a:r>
                    </a:p>
                  </a:txBody>
                  <a:tcPr marL="9525" marR="9525" marT="9525" marB="91440" anchor="ctr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bg-BG" sz="2800" b="1" i="0" u="none" strike="noStrike" baseline="30000" dirty="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0" marR="0" marT="91440" marB="91440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bg-BG" sz="2800" b="1" i="0" u="none" strike="noStrike" baseline="30000" dirty="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5</a:t>
                      </a:r>
                    </a:p>
                  </a:txBody>
                  <a:tcPr marL="0" marR="0" marT="91440" marB="91440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bg-BG" sz="2800" b="1" i="0" u="none" strike="noStrike" baseline="30000" dirty="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0" marR="0" marT="91440" marB="91440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bg-BG" sz="2200" b="1" i="0" u="none" strike="noStrike" kern="1200" baseline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30</a:t>
                      </a:r>
                    </a:p>
                  </a:txBody>
                  <a:tcPr marL="0" marR="0" marT="91440" marB="91440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256097766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bg-BG" sz="1800" b="1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Потребление</a:t>
                      </a:r>
                    </a:p>
                  </a:txBody>
                  <a:tcPr marL="9525" marR="9525" marT="9525" marB="91440" anchor="b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bg-BG" sz="2200" b="1" i="0" u="none" strike="noStrike" baseline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30</a:t>
                      </a:r>
                    </a:p>
                  </a:txBody>
                  <a:tcPr marL="0" marR="0" marT="91440" marB="91440" anchor="ctr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bg-BG" sz="2200" b="1" i="0" u="none" strike="noStrike" baseline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70</a:t>
                      </a:r>
                    </a:p>
                  </a:txBody>
                  <a:tcPr marL="0" marR="0" marT="91440" marB="91440" anchor="ctr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bg-BG" sz="2200" b="1" i="0" u="none" strike="noStrike" baseline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20</a:t>
                      </a:r>
                    </a:p>
                  </a:txBody>
                  <a:tcPr marL="0" marR="0" marT="91440" marB="91440" anchor="ctr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2200" b="1" i="0" u="none" strike="noStrike" kern="1200" baseline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Z=290</a:t>
                      </a:r>
                      <a:endParaRPr lang="bg-BG" sz="2200" b="1" i="0" u="none" strike="noStrike" kern="1200" baseline="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0" marR="0" marT="91440" marB="91440" anchor="ctr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913378174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139807" y="1853773"/>
            <a:ext cx="70064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fontAlgn="b"/>
            <a:r>
              <a:rPr lang="bg-BG" sz="2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anose="020F0502020204030204" pitchFamily="34" charset="0"/>
              </a:rPr>
              <a:t>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64308" y="3416309"/>
            <a:ext cx="70064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fontAlgn="b"/>
            <a:r>
              <a:rPr lang="bg-BG" sz="2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anose="020F0502020204030204" pitchFamily="34" charset="0"/>
              </a:rPr>
              <a:t>20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4388" y="1881312"/>
            <a:ext cx="70064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fontAlgn="b"/>
            <a:r>
              <a:rPr lang="bg-BG" sz="2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anose="020F0502020204030204" pitchFamily="34" charset="0"/>
              </a:rPr>
              <a:t>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09985" y="3416309"/>
            <a:ext cx="70064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fontAlgn="b"/>
            <a:r>
              <a:rPr lang="bg-BG" sz="2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anose="020F0502020204030204" pitchFamily="34" charset="0"/>
              </a:rPr>
              <a:t>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25909" y="2626608"/>
            <a:ext cx="70064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fontAlgn="b"/>
            <a:r>
              <a:rPr lang="bg-BG" sz="2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anose="020F0502020204030204" pitchFamily="34" charset="0"/>
              </a:rPr>
              <a:t>40</a:t>
            </a:r>
          </a:p>
        </p:txBody>
      </p:sp>
      <p:cxnSp>
        <p:nvCxnSpPr>
          <p:cNvPr id="11" name="Straight Connector 10"/>
          <p:cNvCxnSpPr/>
          <p:nvPr/>
        </p:nvCxnSpPr>
        <p:spPr>
          <a:xfrm flipV="1">
            <a:off x="5371274" y="1711630"/>
            <a:ext cx="0" cy="164592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 flipV="1">
            <a:off x="6438074" y="1723505"/>
            <a:ext cx="0" cy="164592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 rot="5400000" flipV="1">
            <a:off x="5908039" y="1167589"/>
            <a:ext cx="0" cy="109728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 rot="5400000" flipV="1">
            <a:off x="5908711" y="2856331"/>
            <a:ext cx="0" cy="1060704"/>
          </a:xfrm>
          <a:prstGeom prst="line">
            <a:avLst/>
          </a:prstGeom>
          <a:ln w="38100"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5028161" y="3208041"/>
            <a:ext cx="4357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bg-BG" sz="2400" dirty="0"/>
              <a:t>+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38074" y="1419647"/>
            <a:ext cx="4357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bg-BG" sz="2400" dirty="0"/>
              <a:t>+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8161" y="1468019"/>
            <a:ext cx="4357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bg-BG" sz="2400" dirty="0"/>
              <a:t>-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10610" y="3166435"/>
            <a:ext cx="4357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bg-BG" sz="2400" dirty="0"/>
              <a:t>-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13148" y="4286476"/>
            <a:ext cx="11204251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63550" algn="just"/>
            <a:r>
              <a:rPr lang="ru-RU" sz="2400" dirty="0"/>
              <a:t>Построява се цикъл за клетка (3,1). Тя ще влезе в базиса със стойност определена от минималното количество (от клетките с знак минус), което ще се размести по контура ѝ.</a:t>
            </a:r>
          </a:p>
          <a:p>
            <a:pPr algn="just"/>
            <a:r>
              <a:rPr lang="ru-RU" sz="2400" dirty="0"/>
              <a:t>min(30,10)=10</a:t>
            </a:r>
          </a:p>
          <a:p>
            <a:pPr indent="463550" algn="just"/>
            <a:r>
              <a:rPr lang="ru-RU" sz="2400" dirty="0"/>
              <a:t>Извършват се операциите по цикъла. Новите стойностите за клетките са: (3,1)=10, (1,1)=30-10=20 (1,2)=20+10=30 (3,2)=10-10=0 (свободна променлива)</a:t>
            </a:r>
            <a:endParaRPr lang="bg-BG" sz="2400" dirty="0"/>
          </a:p>
        </p:txBody>
      </p:sp>
    </p:spTree>
    <p:extLst>
      <p:ext uri="{BB962C8B-B14F-4D97-AF65-F5344CB8AC3E}">
        <p14:creationId xmlns:p14="http://schemas.microsoft.com/office/powerpoint/2010/main" val="214804911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96F670-2033-414C-8E6B-3DB4A3EC2EBC}" type="slidenum">
              <a:rPr lang="bg-BG" smtClean="0"/>
              <a:t>15</a:t>
            </a:fld>
            <a:endParaRPr lang="bg-BG" dirty="0"/>
          </a:p>
        </p:txBody>
      </p:sp>
      <p:sp>
        <p:nvSpPr>
          <p:cNvPr id="7" name="Rectangle 6"/>
          <p:cNvSpPr/>
          <p:nvPr/>
        </p:nvSpPr>
        <p:spPr>
          <a:xfrm>
            <a:off x="921826" y="47258"/>
            <a:ext cx="989832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57200" algn="ctr"/>
            <a:r>
              <a:rPr lang="ru-RU" sz="2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Проверка за оптималност на План 2</a:t>
            </a:r>
            <a:endParaRPr lang="bg-BG" sz="24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2471725" y="438052"/>
          <a:ext cx="7294317" cy="3360420"/>
        </p:xfrm>
        <a:graphic>
          <a:graphicData uri="http://schemas.openxmlformats.org/drawingml/2006/table">
            <a:tbl>
              <a:tblPr/>
              <a:tblGrid>
                <a:gridCol w="1517809">
                  <a:extLst>
                    <a:ext uri="{9D8B030D-6E8A-4147-A177-3AD203B41FA5}">
                      <a16:colId xmlns:a16="http://schemas.microsoft.com/office/drawing/2014/main" xmlns="" val="244167917"/>
                    </a:ext>
                  </a:extLst>
                </a:gridCol>
                <a:gridCol w="1772185">
                  <a:extLst>
                    <a:ext uri="{9D8B030D-6E8A-4147-A177-3AD203B41FA5}">
                      <a16:colId xmlns:a16="http://schemas.microsoft.com/office/drawing/2014/main" xmlns="" val="651320687"/>
                    </a:ext>
                  </a:extLst>
                </a:gridCol>
                <a:gridCol w="1303646">
                  <a:extLst>
                    <a:ext uri="{9D8B030D-6E8A-4147-A177-3AD203B41FA5}">
                      <a16:colId xmlns:a16="http://schemas.microsoft.com/office/drawing/2014/main" xmlns="" val="821006073"/>
                    </a:ext>
                  </a:extLst>
                </a:gridCol>
                <a:gridCol w="1237637">
                  <a:extLst>
                    <a:ext uri="{9D8B030D-6E8A-4147-A177-3AD203B41FA5}">
                      <a16:colId xmlns:a16="http://schemas.microsoft.com/office/drawing/2014/main" xmlns="" val="1722343244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xmlns="" val="3280834195"/>
                    </a:ext>
                  </a:extLst>
                </a:gridCol>
              </a:tblGrid>
              <a:tr h="379554">
                <a:tc>
                  <a:txBody>
                    <a:bodyPr/>
                    <a:lstStyle/>
                    <a:p>
                      <a:pPr algn="ctr" fontAlgn="b"/>
                      <a:r>
                        <a:rPr lang="bg-BG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План</a:t>
                      </a:r>
                      <a:r>
                        <a:rPr lang="bg-BG" sz="2000" b="1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  <a:r>
                        <a:rPr lang="en-US" sz="2000" b="1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  <a:endParaRPr lang="bg-BG" sz="2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91440" anchor="ctr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bg-BG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Склад 1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  <a:p>
                      <a:pPr algn="ctr" fontAlgn="b"/>
                      <a:r>
                        <a:rPr lang="en-US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</a:t>
                      </a:r>
                      <a:r>
                        <a:rPr lang="en-US" sz="2000" b="1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  <a:r>
                        <a:rPr lang="en-US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=</a:t>
                      </a:r>
                      <a:r>
                        <a:rPr lang="en-US" sz="2000" b="1" i="0" u="none" strike="noStrike" dirty="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  <a:endParaRPr lang="bg-BG" sz="2000" b="1" i="0" u="none" strike="noStrike" dirty="0">
                        <a:solidFill>
                          <a:srgbClr val="C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91440" anchor="b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bg-BG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Склад 2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</a:t>
                      </a:r>
                      <a:r>
                        <a:rPr lang="en-US" sz="2000" b="1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  <a:r>
                        <a:rPr lang="en-US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=</a:t>
                      </a:r>
                      <a:r>
                        <a:rPr lang="en-US" sz="2000" b="1" i="0" u="none" strike="noStrike" dirty="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  <a:endParaRPr lang="bg-BG" sz="2000" b="1" i="0" u="none" strike="noStrike" dirty="0">
                        <a:solidFill>
                          <a:srgbClr val="C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91440" anchor="b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bg-BG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Склад 3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</a:t>
                      </a:r>
                      <a:r>
                        <a:rPr lang="en-US" sz="2000" b="1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  <a:r>
                        <a:rPr lang="en-US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=</a:t>
                      </a:r>
                      <a:r>
                        <a:rPr lang="en-US" sz="2000" b="1" i="0" u="none" strike="noStrike" dirty="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  <a:endParaRPr lang="bg-BG" sz="2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91440" anchor="b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968375" algn="l"/>
                        </a:tabLst>
                        <a:defRPr/>
                      </a:pPr>
                      <a:r>
                        <a:rPr lang="bg-BG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Производство</a:t>
                      </a:r>
                    </a:p>
                  </a:txBody>
                  <a:tcPr marL="9525" marR="9525" marT="9525" marB="91440" anchor="ctr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2787115035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algn="ctr" fontAlgn="b"/>
                      <a:r>
                        <a:rPr lang="bg-BG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Завод 1</a:t>
                      </a:r>
                    </a:p>
                    <a:p>
                      <a:pPr algn="ctr" fontAlgn="b"/>
                      <a:r>
                        <a:rPr lang="en-US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U</a:t>
                      </a:r>
                      <a:r>
                        <a:rPr lang="en-US" sz="2000" b="1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  <a:r>
                        <a:rPr lang="en-US" sz="2000" b="1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=</a:t>
                      </a:r>
                      <a:r>
                        <a:rPr lang="bg-BG" sz="2000" b="1" i="0" u="none" strike="noStrike" baseline="0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  <a:endParaRPr lang="bg-BG" sz="2000" b="1" i="0" u="none" strike="noStrike" baseline="-25000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91440" anchor="b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bg-BG" sz="3000" b="1" i="0" u="none" strike="noStrike" baseline="30000" dirty="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0" marR="0" marT="91440" marB="91440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bg-BG" sz="3000" b="1" i="0" u="none" strike="noStrike" baseline="30000" dirty="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0" marR="0" marT="91440" marB="91440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bg-BG" sz="3000" b="1" i="0" u="none" strike="noStrike" baseline="30000" dirty="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8</a:t>
                      </a:r>
                    </a:p>
                  </a:txBody>
                  <a:tcPr marL="0" marR="0" marT="91440" marB="91440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bg-BG" sz="2200" b="1" i="0" u="none" strike="noStrike" kern="1200" baseline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50</a:t>
                      </a:r>
                    </a:p>
                  </a:txBody>
                  <a:tcPr marL="0" marR="0" marT="91440" marB="91440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2960545891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algn="ctr" fontAlgn="b"/>
                      <a:r>
                        <a:rPr lang="bg-BG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Завод 2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U</a:t>
                      </a:r>
                      <a:r>
                        <a:rPr lang="en-US" sz="2000" b="1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  <a:r>
                        <a:rPr lang="en-US" sz="2000" b="1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=</a:t>
                      </a:r>
                      <a:r>
                        <a:rPr lang="en-US" sz="2000" b="1" i="0" u="none" strike="noStrike" baseline="0" dirty="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-1</a:t>
                      </a:r>
                      <a:endParaRPr lang="bg-BG" sz="2000" b="1" i="0" u="none" strike="noStrike" baseline="0" dirty="0">
                        <a:solidFill>
                          <a:srgbClr val="C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91440" anchor="b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bg-BG" sz="3000" b="1" i="0" u="none" strike="noStrike" baseline="30000" dirty="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5</a:t>
                      </a:r>
                    </a:p>
                  </a:txBody>
                  <a:tcPr marL="0" marR="0" marT="91440" marB="91440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bg-BG" sz="3000" b="1" i="0" u="none" strike="noStrike" baseline="30000" dirty="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0" marR="0" marT="91440" marB="91440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bg-BG" sz="3000" b="1" i="0" u="none" strike="noStrike" baseline="30000" dirty="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6</a:t>
                      </a:r>
                    </a:p>
                  </a:txBody>
                  <a:tcPr marL="0" marR="0" marT="91440" marB="91440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bg-BG" sz="2200" b="1" i="0" u="none" strike="noStrike" kern="1200" baseline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40</a:t>
                      </a:r>
                    </a:p>
                  </a:txBody>
                  <a:tcPr marL="0" marR="0" marT="91440" marB="91440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4125746062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algn="ctr" fontAlgn="b"/>
                      <a:r>
                        <a:rPr lang="bg-BG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Завод 3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U</a:t>
                      </a:r>
                      <a:r>
                        <a:rPr lang="en-US" sz="2000" b="1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  <a:r>
                        <a:rPr lang="en-US" sz="2000" b="1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=</a:t>
                      </a:r>
                      <a:r>
                        <a:rPr lang="en-US" sz="2000" b="1" i="0" u="none" strike="noStrike" baseline="0" dirty="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  <a:endParaRPr lang="bg-BG" sz="2000" b="1" i="0" u="none" strike="noStrike" baseline="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91440" anchor="b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bg-BG" sz="3000" b="1" i="0" u="none" strike="noStrike" baseline="30000" dirty="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0" marR="0" marT="91440" marB="91440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bg-BG" sz="3000" b="1" i="0" u="none" strike="noStrike" baseline="30000" dirty="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5</a:t>
                      </a:r>
                    </a:p>
                  </a:txBody>
                  <a:tcPr marL="0" marR="0" marT="91440" marB="91440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bg-BG" sz="3000" b="1" i="0" u="none" strike="noStrike" baseline="30000" dirty="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0" marR="0" marT="91440" marB="91440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bg-BG" sz="2200" b="1" i="0" u="none" strike="noStrike" kern="1200" baseline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30</a:t>
                      </a:r>
                    </a:p>
                  </a:txBody>
                  <a:tcPr marL="0" marR="0" marT="91440" marB="91440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286858662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bg-BG" sz="1800" b="1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Потребление</a:t>
                      </a:r>
                    </a:p>
                  </a:txBody>
                  <a:tcPr marL="9525" marR="9525" marT="9525" marB="91440" anchor="b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bg-BG" sz="2200" b="1" i="0" u="none" strike="noStrike" baseline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30</a:t>
                      </a:r>
                    </a:p>
                  </a:txBody>
                  <a:tcPr marL="0" marR="0" marT="91440" marB="91440" anchor="ctr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bg-BG" sz="2200" b="1" i="0" u="none" strike="noStrike" baseline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70</a:t>
                      </a:r>
                    </a:p>
                  </a:txBody>
                  <a:tcPr marL="0" marR="0" marT="91440" marB="91440" anchor="ctr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bg-BG" sz="2200" b="1" i="0" u="none" strike="noStrike" baseline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20</a:t>
                      </a:r>
                    </a:p>
                  </a:txBody>
                  <a:tcPr marL="0" marR="0" marT="91440" marB="91440" anchor="ctr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2200" b="1" i="0" u="none" strike="noStrike" kern="1200" baseline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Z=2</a:t>
                      </a:r>
                      <a:r>
                        <a:rPr lang="bg-BG" sz="2200" b="1" i="0" u="none" strike="noStrike" kern="1200" baseline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8</a:t>
                      </a:r>
                      <a:r>
                        <a:rPr lang="en-US" sz="2200" b="1" i="0" u="none" strike="noStrike" kern="1200" baseline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0</a:t>
                      </a:r>
                      <a:endParaRPr lang="bg-BG" sz="2200" b="1" i="0" u="none" strike="noStrike" kern="1200" baseline="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0" marR="0" marT="91440" marB="91440" anchor="ctr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3025847581"/>
                  </a:ext>
                </a:extLst>
              </a:tr>
            </a:tbl>
          </a:graphicData>
        </a:graphic>
      </p:graphicFrame>
      <p:sp>
        <p:nvSpPr>
          <p:cNvPr id="48" name="TextBox 47"/>
          <p:cNvSpPr txBox="1"/>
          <p:nvPr/>
        </p:nvSpPr>
        <p:spPr>
          <a:xfrm>
            <a:off x="3804406" y="1393741"/>
            <a:ext cx="70064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fontAlgn="b"/>
            <a:r>
              <a:rPr lang="bg-BG" sz="2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anose="020F0502020204030204" pitchFamily="34" charset="0"/>
              </a:rPr>
              <a:t>20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923587" y="2836930"/>
            <a:ext cx="70064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fontAlgn="b"/>
            <a:r>
              <a:rPr lang="bg-BG" sz="2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anose="020F0502020204030204" pitchFamily="34" charset="0"/>
              </a:rPr>
              <a:t>20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520664" y="1398458"/>
            <a:ext cx="70064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fontAlgn="b"/>
            <a:r>
              <a:rPr lang="bg-BG" sz="2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anose="020F0502020204030204" pitchFamily="34" charset="0"/>
              </a:rPr>
              <a:t>30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920631" y="2795274"/>
            <a:ext cx="70064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fontAlgn="b"/>
            <a:r>
              <a:rPr lang="bg-BG" sz="2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anose="020F0502020204030204" pitchFamily="34" charset="0"/>
              </a:rPr>
              <a:t>10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561047" y="2114983"/>
            <a:ext cx="70064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fontAlgn="b"/>
            <a:r>
              <a:rPr lang="bg-BG" sz="2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anose="020F0502020204030204" pitchFamily="34" charset="0"/>
              </a:rPr>
              <a:t>40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409417" y="3658630"/>
                <a:ext cx="1794017" cy="46288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bg-BG" sz="2200" b="1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2200" b="1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𝒖</m:t>
                          </m:r>
                        </m:e>
                        <m:sub>
                          <m:r>
                            <a:rPr lang="en-US" sz="2200" b="1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𝒊</m:t>
                          </m:r>
                        </m:sub>
                      </m:sSub>
                      <m:r>
                        <a:rPr lang="en-US" sz="2200" b="1" i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200" b="1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2200" b="1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en-US" sz="2200" b="1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𝒋</m:t>
                          </m:r>
                        </m:sub>
                      </m:sSub>
                      <m:r>
                        <a:rPr lang="en-US" sz="2200" b="1" i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200" b="1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2200" b="1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𝒄</m:t>
                          </m:r>
                        </m:e>
                        <m:sub>
                          <m:r>
                            <a:rPr lang="en-US" sz="2200" b="1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𝒊𝒋</m:t>
                          </m:r>
                        </m:sub>
                      </m:sSub>
                    </m:oMath>
                  </m:oMathPara>
                </a14:m>
                <a:endParaRPr lang="bg-BG" sz="2200" b="1" dirty="0"/>
              </a:p>
            </p:txBody>
          </p:sp>
        </mc:Choice>
        <mc:Fallback xmlns="">
          <p:sp>
            <p:nvSpPr>
              <p:cNvPr id="6" name="Rectangle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9417" y="3658630"/>
                <a:ext cx="1794017" cy="462884"/>
              </a:xfrm>
              <a:prstGeom prst="rect">
                <a:avLst/>
              </a:prstGeom>
              <a:blipFill>
                <a:blip r:embed="rId2"/>
                <a:stretch>
                  <a:fillRect b="-9211"/>
                </a:stretch>
              </a:blipFill>
            </p:spPr>
            <p:txBody>
              <a:bodyPr/>
              <a:lstStyle/>
              <a:p>
                <a:r>
                  <a:rPr lang="bg-B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3" name="Rectangle 52"/>
              <p:cNvSpPr/>
              <p:nvPr/>
            </p:nvSpPr>
            <p:spPr>
              <a:xfrm>
                <a:off x="294162" y="4227901"/>
                <a:ext cx="1881925" cy="43088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bg-BG" sz="2200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bg-BG" sz="2200" b="0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200" i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bg-BG" sz="2200" b="0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200" i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bg-BG" sz="2200" b="0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12</m:t>
                          </m:r>
                        </m:sub>
                      </m:sSub>
                    </m:oMath>
                  </m:oMathPara>
                </a14:m>
                <a:endParaRPr lang="bg-BG" sz="2200" dirty="0"/>
              </a:p>
            </p:txBody>
          </p:sp>
        </mc:Choice>
        <mc:Fallback xmlns="">
          <p:sp>
            <p:nvSpPr>
              <p:cNvPr id="53" name="Rectangle 5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4162" y="4227901"/>
                <a:ext cx="1881925" cy="430887"/>
              </a:xfrm>
              <a:prstGeom prst="rect">
                <a:avLst/>
              </a:prstGeom>
              <a:blipFill>
                <a:blip r:embed="rId3"/>
                <a:stretch>
                  <a:fillRect b="-4286"/>
                </a:stretch>
              </a:blipFill>
            </p:spPr>
            <p:txBody>
              <a:bodyPr/>
              <a:lstStyle/>
              <a:p>
                <a:r>
                  <a:rPr lang="bg-B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" name="Rectangle 53"/>
              <p:cNvSpPr/>
              <p:nvPr/>
            </p:nvSpPr>
            <p:spPr>
              <a:xfrm>
                <a:off x="294162" y="3945232"/>
                <a:ext cx="1875385" cy="43088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bg-BG" sz="2200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bg-BG" sz="2200" b="0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200" i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bg-BG" sz="2200" b="0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200" i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bg-BG" sz="2200" b="0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11</m:t>
                          </m:r>
                        </m:sub>
                      </m:sSub>
                    </m:oMath>
                  </m:oMathPara>
                </a14:m>
                <a:endParaRPr lang="bg-BG" sz="2200" dirty="0"/>
              </a:p>
            </p:txBody>
          </p:sp>
        </mc:Choice>
        <mc:Fallback xmlns="">
          <p:sp>
            <p:nvSpPr>
              <p:cNvPr id="54" name="Rectangle 5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4162" y="3945232"/>
                <a:ext cx="1875385" cy="430887"/>
              </a:xfrm>
              <a:prstGeom prst="rect">
                <a:avLst/>
              </a:prstGeom>
              <a:blipFill>
                <a:blip r:embed="rId4"/>
                <a:stretch>
                  <a:fillRect b="-2817"/>
                </a:stretch>
              </a:blipFill>
            </p:spPr>
            <p:txBody>
              <a:bodyPr/>
              <a:lstStyle/>
              <a:p>
                <a:r>
                  <a:rPr lang="bg-B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5" name="Rectangle 54"/>
              <p:cNvSpPr/>
              <p:nvPr/>
            </p:nvSpPr>
            <p:spPr>
              <a:xfrm>
                <a:off x="294162" y="4572467"/>
                <a:ext cx="1895006" cy="43088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bg-BG" sz="2200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bg-BG" sz="2200" b="0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200" i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bg-BG" sz="2200" b="0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200" i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bg-BG" sz="2200" b="0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22</m:t>
                          </m:r>
                        </m:sub>
                      </m:sSub>
                    </m:oMath>
                  </m:oMathPara>
                </a14:m>
                <a:endParaRPr lang="bg-BG" sz="2200" dirty="0"/>
              </a:p>
            </p:txBody>
          </p:sp>
        </mc:Choice>
        <mc:Fallback xmlns="">
          <p:sp>
            <p:nvSpPr>
              <p:cNvPr id="55" name="Rectangle 5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4162" y="4572467"/>
                <a:ext cx="1895006" cy="430887"/>
              </a:xfrm>
              <a:prstGeom prst="rect">
                <a:avLst/>
              </a:prstGeom>
              <a:blipFill>
                <a:blip r:embed="rId5"/>
                <a:stretch>
                  <a:fillRect b="-2817"/>
                </a:stretch>
              </a:blipFill>
            </p:spPr>
            <p:txBody>
              <a:bodyPr/>
              <a:lstStyle/>
              <a:p>
                <a:r>
                  <a:rPr lang="bg-B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6" name="Rectangle 55"/>
              <p:cNvSpPr/>
              <p:nvPr/>
            </p:nvSpPr>
            <p:spPr>
              <a:xfrm>
                <a:off x="294162" y="4941799"/>
                <a:ext cx="1888466" cy="43088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bg-BG" sz="2200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bg-BG" sz="2200" b="0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sz="2200" i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2200" b="0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200" i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bg-BG" sz="2200" b="0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n-US" sz="2200" b="0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bg-BG" sz="2200" dirty="0"/>
              </a:p>
            </p:txBody>
          </p:sp>
        </mc:Choice>
        <mc:Fallback xmlns="">
          <p:sp>
            <p:nvSpPr>
              <p:cNvPr id="56" name="Rectangle 5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4162" y="4941799"/>
                <a:ext cx="1888466" cy="430887"/>
              </a:xfrm>
              <a:prstGeom prst="rect">
                <a:avLst/>
              </a:prstGeom>
              <a:blipFill>
                <a:blip r:embed="rId6"/>
                <a:stretch>
                  <a:fillRect b="-4286"/>
                </a:stretch>
              </a:blipFill>
            </p:spPr>
            <p:txBody>
              <a:bodyPr/>
              <a:lstStyle/>
              <a:p>
                <a:r>
                  <a:rPr lang="bg-B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7" name="Rectangle 56"/>
              <p:cNvSpPr/>
              <p:nvPr/>
            </p:nvSpPr>
            <p:spPr>
              <a:xfrm>
                <a:off x="284351" y="5254022"/>
                <a:ext cx="1895006" cy="43088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bg-BG" sz="2200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bg-BG" sz="2200" b="0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sz="2200" i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bg-BG" sz="2200" b="0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sz="2200" i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bg-BG" sz="2200" b="0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33</m:t>
                          </m:r>
                        </m:sub>
                      </m:sSub>
                    </m:oMath>
                  </m:oMathPara>
                </a14:m>
                <a:endParaRPr lang="bg-BG" sz="2200" dirty="0"/>
              </a:p>
            </p:txBody>
          </p:sp>
        </mc:Choice>
        <mc:Fallback xmlns="">
          <p:sp>
            <p:nvSpPr>
              <p:cNvPr id="57" name="Rectangle 5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4351" y="5254022"/>
                <a:ext cx="1895006" cy="430887"/>
              </a:xfrm>
              <a:prstGeom prst="rect">
                <a:avLst/>
              </a:prstGeom>
              <a:blipFill>
                <a:blip r:embed="rId7"/>
                <a:stretch>
                  <a:fillRect b="-2817"/>
                </a:stretch>
              </a:blipFill>
            </p:spPr>
            <p:txBody>
              <a:bodyPr/>
              <a:lstStyle/>
              <a:p>
                <a:r>
                  <a:rPr lang="bg-B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8" name="Rectangle 57"/>
              <p:cNvSpPr/>
              <p:nvPr/>
            </p:nvSpPr>
            <p:spPr>
              <a:xfrm>
                <a:off x="2405990" y="4227901"/>
                <a:ext cx="1541769" cy="43088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200" i="1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sz="2200" i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200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2200" b="0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bg-BG" sz="2200" b="0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200" i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bg-BG" sz="2200" i="1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</m:oMath>
                  </m:oMathPara>
                </a14:m>
                <a:endParaRPr lang="bg-BG" sz="2200" dirty="0"/>
              </a:p>
            </p:txBody>
          </p:sp>
        </mc:Choice>
        <mc:Fallback xmlns="">
          <p:sp>
            <p:nvSpPr>
              <p:cNvPr id="58" name="Rectangle 5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05990" y="4227901"/>
                <a:ext cx="1541769" cy="430887"/>
              </a:xfrm>
              <a:prstGeom prst="rect">
                <a:avLst/>
              </a:prstGeom>
              <a:blipFill>
                <a:blip r:embed="rId8"/>
                <a:stretch>
                  <a:fillRect b="-4286"/>
                </a:stretch>
              </a:blipFill>
            </p:spPr>
            <p:txBody>
              <a:bodyPr/>
              <a:lstStyle/>
              <a:p>
                <a:r>
                  <a:rPr lang="bg-B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9" name="Rectangle 58"/>
              <p:cNvSpPr/>
              <p:nvPr/>
            </p:nvSpPr>
            <p:spPr>
              <a:xfrm>
                <a:off x="2405990" y="3945232"/>
                <a:ext cx="1535228" cy="43088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bg-BG" sz="2200" i="1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sz="2200" i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bg-BG" sz="2200" b="0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200" i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bg-BG" sz="2200" i="1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bg-BG" sz="2200" dirty="0"/>
              </a:p>
            </p:txBody>
          </p:sp>
        </mc:Choice>
        <mc:Fallback xmlns="">
          <p:sp>
            <p:nvSpPr>
              <p:cNvPr id="59" name="Rectangle 5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05990" y="3945232"/>
                <a:ext cx="1535228" cy="430887"/>
              </a:xfrm>
              <a:prstGeom prst="rect">
                <a:avLst/>
              </a:prstGeom>
              <a:blipFill>
                <a:blip r:embed="rId9"/>
                <a:stretch>
                  <a:fillRect b="-2817"/>
                </a:stretch>
              </a:blipFill>
            </p:spPr>
            <p:txBody>
              <a:bodyPr/>
              <a:lstStyle/>
              <a:p>
                <a:r>
                  <a:rPr lang="bg-B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0" name="Rectangle 59"/>
              <p:cNvSpPr/>
              <p:nvPr/>
            </p:nvSpPr>
            <p:spPr>
              <a:xfrm>
                <a:off x="2405990" y="4572467"/>
                <a:ext cx="1411669" cy="43088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bg-BG" sz="2200" i="1" smtClean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sz="22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bg-BG" sz="2200" b="0" i="1" smtClean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200" i="1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bg-BG" sz="2200" b="0" i="1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US" sz="2200" i="1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bg-BG" sz="2200" dirty="0"/>
                  <a:t>2</a:t>
                </a:r>
              </a:p>
            </p:txBody>
          </p:sp>
        </mc:Choice>
        <mc:Fallback xmlns="">
          <p:sp>
            <p:nvSpPr>
              <p:cNvPr id="60" name="Rectangle 5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05990" y="4572467"/>
                <a:ext cx="1411669" cy="430887"/>
              </a:xfrm>
              <a:prstGeom prst="rect">
                <a:avLst/>
              </a:prstGeom>
              <a:blipFill>
                <a:blip r:embed="rId10"/>
                <a:stretch>
                  <a:fillRect t="-9859" r="-4762" b="-28169"/>
                </a:stretch>
              </a:blipFill>
            </p:spPr>
            <p:txBody>
              <a:bodyPr/>
              <a:lstStyle/>
              <a:p>
                <a:r>
                  <a:rPr lang="bg-B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1" name="Rectangle 60"/>
              <p:cNvSpPr/>
              <p:nvPr/>
            </p:nvSpPr>
            <p:spPr>
              <a:xfrm>
                <a:off x="2405990" y="4941799"/>
                <a:ext cx="1552541" cy="43088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bg-BG" sz="2200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bg-BG" sz="2200" b="0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sz="2200" i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bg-BG" sz="2200" i="1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sz="2200" i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200" b="0" i="1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</m:oMath>
                  </m:oMathPara>
                </a14:m>
                <a:endParaRPr lang="bg-BG" sz="2200" dirty="0"/>
              </a:p>
            </p:txBody>
          </p:sp>
        </mc:Choice>
        <mc:Fallback xmlns="">
          <p:sp>
            <p:nvSpPr>
              <p:cNvPr id="61" name="Rectangle 6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05990" y="4941799"/>
                <a:ext cx="1552541" cy="430887"/>
              </a:xfrm>
              <a:prstGeom prst="rect">
                <a:avLst/>
              </a:prstGeom>
              <a:blipFill>
                <a:blip r:embed="rId11"/>
                <a:stretch>
                  <a:fillRect b="-4286"/>
                </a:stretch>
              </a:blipFill>
            </p:spPr>
            <p:txBody>
              <a:bodyPr/>
              <a:lstStyle/>
              <a:p>
                <a:r>
                  <a:rPr lang="bg-B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2" name="Rectangle 61"/>
              <p:cNvSpPr/>
              <p:nvPr/>
            </p:nvSpPr>
            <p:spPr>
              <a:xfrm>
                <a:off x="2396179" y="5286365"/>
                <a:ext cx="1541769" cy="43088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bg-BG" sz="2200" i="1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sz="2200" i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bg-BG" sz="2200" b="0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sz="2200" i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bg-BG" sz="2200" i="1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bg-BG" sz="2200" dirty="0"/>
              </a:p>
            </p:txBody>
          </p:sp>
        </mc:Choice>
        <mc:Fallback xmlns="">
          <p:sp>
            <p:nvSpPr>
              <p:cNvPr id="62" name="Rectangle 6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96179" y="5286365"/>
                <a:ext cx="1541769" cy="430887"/>
              </a:xfrm>
              <a:prstGeom prst="rect">
                <a:avLst/>
              </a:prstGeom>
              <a:blipFill>
                <a:blip r:embed="rId12"/>
                <a:stretch>
                  <a:fillRect b="-2817"/>
                </a:stretch>
              </a:blipFill>
            </p:spPr>
            <p:txBody>
              <a:bodyPr/>
              <a:lstStyle/>
              <a:p>
                <a:r>
                  <a:rPr lang="bg-B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Rectangle 14"/>
              <p:cNvSpPr/>
              <p:nvPr/>
            </p:nvSpPr>
            <p:spPr>
              <a:xfrm>
                <a:off x="2778828" y="3667240"/>
                <a:ext cx="835998" cy="43088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200" b="1" i="1" smtClean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sz="2200" b="1" i="1" smtClean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𝒖</m:t>
                        </m:r>
                      </m:e>
                      <m:sub>
                        <m:r>
                          <a:rPr lang="en-US" sz="2200" b="1" i="1" smtClean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bg-BG" sz="2200" b="1" dirty="0"/>
                  <a:t>=0</a:t>
                </a:r>
              </a:p>
            </p:txBody>
          </p:sp>
        </mc:Choice>
        <mc:Fallback xmlns="">
          <p:sp>
            <p:nvSpPr>
              <p:cNvPr id="15" name="Rectangle 1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78828" y="3667240"/>
                <a:ext cx="835998" cy="430887"/>
              </a:xfrm>
              <a:prstGeom prst="rect">
                <a:avLst/>
              </a:prstGeom>
              <a:blipFill>
                <a:blip r:embed="rId13"/>
                <a:stretch>
                  <a:fillRect t="-10000" r="-8759" b="-28571"/>
                </a:stretch>
              </a:blipFill>
            </p:spPr>
            <p:txBody>
              <a:bodyPr/>
              <a:lstStyle/>
              <a:p>
                <a:r>
                  <a:rPr lang="bg-B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/>
              <p:cNvSpPr txBox="1"/>
              <p:nvPr/>
            </p:nvSpPr>
            <p:spPr>
              <a:xfrm>
                <a:off x="3920631" y="4601658"/>
                <a:ext cx="581891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bg-BG" sz="28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⟹</m:t>
                      </m:r>
                    </m:oMath>
                  </m:oMathPara>
                </a14:m>
                <a:endParaRPr lang="bg-BG" sz="2800" dirty="0"/>
              </a:p>
            </p:txBody>
          </p:sp>
        </mc:Choice>
        <mc:Fallback xmlns="">
          <p:sp>
            <p:nvSpPr>
              <p:cNvPr id="18" name="TextBox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20631" y="4601658"/>
                <a:ext cx="581891" cy="523220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bg-B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/>
              <p:cNvSpPr txBox="1"/>
              <p:nvPr/>
            </p:nvSpPr>
            <p:spPr>
              <a:xfrm>
                <a:off x="4474083" y="3978527"/>
                <a:ext cx="1086964" cy="164378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m>
                        <m:mPr>
                          <m:mcs>
                            <m:mc>
                              <m:mcPr>
                                <m:count m:val="1"/>
                                <m:mcJc m:val="center"/>
                              </m:mcPr>
                            </m:mc>
                          </m:mcs>
                          <m:ctrlPr>
                            <a:rPr lang="bg-BG" sz="2200" i="1" smtClean="0">
                              <a:latin typeface="Cambria Math"/>
                            </a:rPr>
                          </m:ctrlPr>
                        </m:mPr>
                        <m:mr>
                          <m:e>
                            <m:sSub>
                              <m:sSubPr>
                                <m:ctrlPr>
                                  <a:rPr lang="bg-BG" sz="2200" i="1" smtClean="0">
                                    <a:latin typeface="Cambria Math"/>
                                  </a:rPr>
                                </m:ctrlPr>
                              </m:sSubPr>
                              <m:e>
                                <m:r>
                                  <a:rPr lang="en-US" sz="2200" b="0" i="1" smtClean="0">
                                    <a:latin typeface="Cambria Math" panose="02040503050406030204" pitchFamily="18" charset="0"/>
                                  </a:rPr>
                                  <m:t>𝑣</m:t>
                                </m:r>
                              </m:e>
                              <m:sub>
                                <m:r>
                                  <a:rPr lang="en-US" sz="22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m:rPr>
                                <m:brk m:alnAt="7"/>
                              </m:rP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mr>
                        <m:mr>
                          <m:e>
                            <m:sSub>
                              <m:sSubPr>
                                <m:ctrlPr>
                                  <a:rPr lang="bg-BG" sz="2200" i="1" smtClean="0">
                                    <a:latin typeface="Cambria Math"/>
                                  </a:rPr>
                                </m:ctrlPr>
                              </m:sSubPr>
                              <m:e>
                                <m:r>
                                  <a:rPr lang="en-US" sz="2200" b="0" i="1" smtClean="0">
                                    <a:latin typeface="Cambria Math" panose="02040503050406030204" pitchFamily="18" charset="0"/>
                                  </a:rPr>
                                  <m:t>𝑣</m:t>
                                </m:r>
                              </m:e>
                              <m:sub>
                                <m:r>
                                  <a:rPr lang="en-US" sz="22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  <m:t>=3</m:t>
                            </m:r>
                          </m:e>
                        </m:mr>
                        <m:mr>
                          <m:e>
                            <m:eqArr>
                              <m:eqArrPr>
                                <m:ctrlPr>
                                  <a:rPr lang="bg-BG" sz="2200" i="1" smtClean="0">
                                    <a:latin typeface="Cambria Math"/>
                                  </a:rPr>
                                </m:ctrlPr>
                              </m:eqArrPr>
                              <m:e>
                                <m:sSub>
                                  <m:sSubPr>
                                    <m:ctrlPr>
                                      <a:rPr lang="bg-BG" sz="2200" i="1" smtClean="0">
                                        <a:latin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200" b="0" i="1" smtClean="0">
                                        <a:latin typeface="Cambria Math" panose="02040503050406030204" pitchFamily="18" charset="0"/>
                                      </a:rPr>
                                      <m:t>𝑢</m:t>
                                    </m:r>
                                  </m:e>
                                  <m:sub>
                                    <m:r>
                                      <a:rPr lang="en-US" sz="22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en-US" sz="2200" b="0" i="1" smtClean="0">
                                    <a:latin typeface="Cambria Math" panose="02040503050406030204" pitchFamily="18" charset="0"/>
                                  </a:rPr>
                                  <m:t>=−1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bg-BG" sz="2200" i="1" smtClean="0">
                                        <a:latin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200" b="0" i="1" smtClean="0">
                                        <a:latin typeface="Cambria Math" panose="02040503050406030204" pitchFamily="18" charset="0"/>
                                      </a:rPr>
                                      <m:t>𝑢</m:t>
                                    </m:r>
                                  </m:e>
                                  <m:sub>
                                    <m:r>
                                      <a:rPr lang="en-US" sz="2200" b="0" i="1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  <m:r>
                                  <a:rPr lang="en-US" sz="2200" b="0" i="1" smtClean="0">
                                    <a:latin typeface="Cambria Math" panose="02040503050406030204" pitchFamily="18" charset="0"/>
                                  </a:rPr>
                                  <m:t>=1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bg-BG" sz="2200" i="1" smtClean="0">
                                        <a:latin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200" b="0" i="1" smtClean="0">
                                        <a:latin typeface="Cambria Math" panose="02040503050406030204" pitchFamily="18" charset="0"/>
                                      </a:rPr>
                                      <m:t>𝑣</m:t>
                                    </m:r>
                                  </m:e>
                                  <m:sub>
                                    <m:r>
                                      <a:rPr lang="en-US" sz="2200" b="0" i="1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  <m:r>
                                  <a:rPr lang="en-US" sz="2200" b="0" i="1" smtClean="0">
                                    <a:latin typeface="Cambria Math" panose="02040503050406030204" pitchFamily="18" charset="0"/>
                                  </a:rPr>
                                  <m:t>=1</m:t>
                                </m:r>
                              </m:e>
                            </m:eqArr>
                          </m:e>
                        </m:mr>
                      </m:m>
                    </m:oMath>
                  </m:oMathPara>
                </a14:m>
                <a:endParaRPr lang="bg-BG" sz="2200" dirty="0"/>
              </a:p>
            </p:txBody>
          </p:sp>
        </mc:Choice>
        <mc:Fallback xmlns="">
          <p:sp>
            <p:nvSpPr>
              <p:cNvPr id="25" name="TextBox 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74083" y="3978527"/>
                <a:ext cx="1086964" cy="1643783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bg-B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3" name="Rectangle 62"/>
              <p:cNvSpPr/>
              <p:nvPr/>
            </p:nvSpPr>
            <p:spPr>
              <a:xfrm>
                <a:off x="5810131" y="3717714"/>
                <a:ext cx="2509854" cy="46288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bg-BG" sz="2200" b="1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2200" b="1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𝑫</m:t>
                          </m:r>
                        </m:e>
                        <m:sub>
                          <m:r>
                            <a:rPr lang="en-US" sz="2200" b="1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𝒊𝒋</m:t>
                          </m:r>
                        </m:sub>
                      </m:sSub>
                      <m:r>
                        <a:rPr lang="en-US" sz="2200" b="1" i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200" b="1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2200" b="1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𝒖</m:t>
                          </m:r>
                        </m:e>
                        <m:sub>
                          <m:r>
                            <a:rPr lang="en-US" sz="2200" b="1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𝒊</m:t>
                          </m:r>
                        </m:sub>
                      </m:sSub>
                      <m:r>
                        <a:rPr lang="en-US" sz="2200" b="1" i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200" b="1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2200" b="1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en-US" sz="2200" b="1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𝒋</m:t>
                          </m:r>
                        </m:sub>
                      </m:sSub>
                      <m:r>
                        <a:rPr lang="en-US" sz="2200" b="1" i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sz="2200" b="1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2200" b="1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𝒄</m:t>
                          </m:r>
                        </m:e>
                        <m:sub>
                          <m:r>
                            <a:rPr lang="en-US" sz="2200" b="1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𝒊𝒋</m:t>
                          </m:r>
                        </m:sub>
                      </m:sSub>
                    </m:oMath>
                  </m:oMathPara>
                </a14:m>
                <a:endParaRPr lang="bg-BG" sz="2200" b="1" dirty="0"/>
              </a:p>
            </p:txBody>
          </p:sp>
        </mc:Choice>
        <mc:Fallback xmlns="">
          <p:sp>
            <p:nvSpPr>
              <p:cNvPr id="63" name="Rectangle 6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10131" y="3717714"/>
                <a:ext cx="2509854" cy="462884"/>
              </a:xfrm>
              <a:prstGeom prst="rect">
                <a:avLst/>
              </a:prstGeom>
              <a:blipFill>
                <a:blip r:embed="rId16"/>
                <a:stretch>
                  <a:fillRect b="-9211"/>
                </a:stretch>
              </a:blipFill>
            </p:spPr>
            <p:txBody>
              <a:bodyPr/>
              <a:lstStyle/>
              <a:p>
                <a:r>
                  <a:rPr lang="bg-B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4" name="Rectangle 63"/>
              <p:cNvSpPr/>
              <p:nvPr/>
            </p:nvSpPr>
            <p:spPr>
              <a:xfrm>
                <a:off x="5810131" y="4011209"/>
                <a:ext cx="2638799" cy="43088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bg-BG" sz="2200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2200" b="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US" sz="2200" b="0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13</m:t>
                          </m:r>
                        </m:sub>
                      </m:sSub>
                      <m:r>
                        <a:rPr lang="en-US" sz="2200" b="0" i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2200" b="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sz="2200" b="0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200" b="0" i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2200" b="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2200" b="0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sz="2200" b="0" i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2200" b="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sz="2200" b="0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13</m:t>
                          </m:r>
                        </m:sub>
                      </m:sSub>
                    </m:oMath>
                  </m:oMathPara>
                </a14:m>
                <a:endParaRPr lang="bg-BG" sz="2200" dirty="0"/>
              </a:p>
            </p:txBody>
          </p:sp>
        </mc:Choice>
        <mc:Fallback xmlns="">
          <p:sp>
            <p:nvSpPr>
              <p:cNvPr id="64" name="Rectangle 6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10131" y="4011209"/>
                <a:ext cx="2638799" cy="430887"/>
              </a:xfrm>
              <a:prstGeom prst="rect">
                <a:avLst/>
              </a:prstGeom>
              <a:blipFill>
                <a:blip r:embed="rId17"/>
                <a:stretch>
                  <a:fillRect b="-2817"/>
                </a:stretch>
              </a:blipFill>
            </p:spPr>
            <p:txBody>
              <a:bodyPr/>
              <a:lstStyle/>
              <a:p>
                <a:r>
                  <a:rPr lang="bg-B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5" name="Rectangle 64"/>
              <p:cNvSpPr/>
              <p:nvPr/>
            </p:nvSpPr>
            <p:spPr>
              <a:xfrm>
                <a:off x="5784821" y="4383190"/>
                <a:ext cx="2651880" cy="43088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bg-BG" sz="2200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2200" b="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US" sz="2200" b="0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21</m:t>
                          </m:r>
                        </m:sub>
                      </m:sSub>
                      <m:r>
                        <a:rPr lang="en-US" sz="2200" b="0" i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2200" b="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sz="2200" b="0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200" b="0" i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2200" b="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2200" b="0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200" b="0" i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2200" b="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sz="2200" b="0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21</m:t>
                          </m:r>
                        </m:sub>
                      </m:sSub>
                    </m:oMath>
                  </m:oMathPara>
                </a14:m>
                <a:endParaRPr lang="bg-BG" sz="2200" dirty="0"/>
              </a:p>
            </p:txBody>
          </p:sp>
        </mc:Choice>
        <mc:Fallback xmlns="">
          <p:sp>
            <p:nvSpPr>
              <p:cNvPr id="65" name="Rectangle 6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84821" y="4383190"/>
                <a:ext cx="2651880" cy="430887"/>
              </a:xfrm>
              <a:prstGeom prst="rect">
                <a:avLst/>
              </a:prstGeom>
              <a:blipFill>
                <a:blip r:embed="rId18"/>
                <a:stretch>
                  <a:fillRect b="-2817"/>
                </a:stretch>
              </a:blipFill>
            </p:spPr>
            <p:txBody>
              <a:bodyPr/>
              <a:lstStyle/>
              <a:p>
                <a:r>
                  <a:rPr lang="bg-B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6" name="Rectangle 65"/>
              <p:cNvSpPr/>
              <p:nvPr/>
            </p:nvSpPr>
            <p:spPr>
              <a:xfrm>
                <a:off x="5808571" y="4804260"/>
                <a:ext cx="2658420" cy="43088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bg-BG" sz="2200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2200" b="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US" sz="2200" b="0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23</m:t>
                          </m:r>
                        </m:sub>
                      </m:sSub>
                      <m:r>
                        <a:rPr lang="en-US" sz="2200" b="0" i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2200" b="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sz="2200" b="0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200" b="0" i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2200" b="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2200" b="0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sz="2200" b="0" i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2200" b="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sz="2200" b="0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23</m:t>
                          </m:r>
                        </m:sub>
                      </m:sSub>
                    </m:oMath>
                  </m:oMathPara>
                </a14:m>
                <a:endParaRPr lang="bg-BG" sz="2200" dirty="0"/>
              </a:p>
            </p:txBody>
          </p:sp>
        </mc:Choice>
        <mc:Fallback xmlns="">
          <p:sp>
            <p:nvSpPr>
              <p:cNvPr id="66" name="Rectangle 6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08571" y="4804260"/>
                <a:ext cx="2658420" cy="430887"/>
              </a:xfrm>
              <a:prstGeom prst="rect">
                <a:avLst/>
              </a:prstGeom>
              <a:blipFill>
                <a:blip r:embed="rId19"/>
                <a:stretch>
                  <a:fillRect b="-2817"/>
                </a:stretch>
              </a:blipFill>
            </p:spPr>
            <p:txBody>
              <a:bodyPr/>
              <a:lstStyle/>
              <a:p>
                <a:r>
                  <a:rPr lang="bg-B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7" name="Rectangle 66"/>
              <p:cNvSpPr/>
              <p:nvPr/>
            </p:nvSpPr>
            <p:spPr>
              <a:xfrm>
                <a:off x="5820446" y="5262044"/>
                <a:ext cx="2651880" cy="43088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bg-BG" sz="2200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2200" b="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US" sz="2200" b="0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bg-BG" sz="2200" b="0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200" b="0" i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2200" b="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sz="2200" b="0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sz="2200" b="0" i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2200" b="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bg-BG" sz="2200" b="0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200" b="0" i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2200" b="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sz="2200" b="0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bg-BG" sz="2200" b="0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bg-BG" sz="2200" dirty="0"/>
              </a:p>
            </p:txBody>
          </p:sp>
        </mc:Choice>
        <mc:Fallback xmlns="">
          <p:sp>
            <p:nvSpPr>
              <p:cNvPr id="67" name="Rectangle 6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20446" y="5262044"/>
                <a:ext cx="2651880" cy="430887"/>
              </a:xfrm>
              <a:prstGeom prst="rect">
                <a:avLst/>
              </a:prstGeom>
              <a:blipFill>
                <a:blip r:embed="rId20"/>
                <a:stretch>
                  <a:fillRect b="-2817"/>
                </a:stretch>
              </a:blipFill>
            </p:spPr>
            <p:txBody>
              <a:bodyPr/>
              <a:lstStyle/>
              <a:p>
                <a:r>
                  <a:rPr lang="bg-B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8" name="Rectangle 67"/>
              <p:cNvSpPr/>
              <p:nvPr/>
            </p:nvSpPr>
            <p:spPr>
              <a:xfrm>
                <a:off x="8436701" y="4064272"/>
                <a:ext cx="2077492" cy="43088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bg-BG" sz="22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sz="22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sz="22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</m:sub>
                    </m:sSub>
                    <m:r>
                      <a:rPr lang="en-US" sz="2200" i="1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2200" dirty="0"/>
                  <a:t>0+1-8=-7</a:t>
                </a:r>
                <a:endParaRPr lang="bg-BG" sz="2200" dirty="0"/>
              </a:p>
            </p:txBody>
          </p:sp>
        </mc:Choice>
        <mc:Fallback xmlns="">
          <p:sp>
            <p:nvSpPr>
              <p:cNvPr id="68" name="Rectangle 6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36701" y="4064272"/>
                <a:ext cx="2077492" cy="430887"/>
              </a:xfrm>
              <a:prstGeom prst="rect">
                <a:avLst/>
              </a:prstGeom>
              <a:blipFill>
                <a:blip r:embed="rId21"/>
                <a:stretch>
                  <a:fillRect l="-293" t="-10000" r="-3226" b="-28571"/>
                </a:stretch>
              </a:blipFill>
            </p:spPr>
            <p:txBody>
              <a:bodyPr/>
              <a:lstStyle/>
              <a:p>
                <a:r>
                  <a:rPr lang="bg-B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9" name="Rectangle 68"/>
              <p:cNvSpPr/>
              <p:nvPr/>
            </p:nvSpPr>
            <p:spPr>
              <a:xfrm>
                <a:off x="8436701" y="4486667"/>
                <a:ext cx="2183418" cy="43088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bg-BG" sz="2200" i="1" smtClean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sz="22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sz="2200" b="0" i="1" smtClean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21</m:t>
                        </m:r>
                      </m:sub>
                    </m:sSub>
                    <m:r>
                      <a:rPr lang="en-US" sz="2200" i="1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2200" dirty="0"/>
                  <a:t>-1+2-5=-4</a:t>
                </a:r>
                <a:endParaRPr lang="bg-BG" sz="2200" dirty="0"/>
              </a:p>
            </p:txBody>
          </p:sp>
        </mc:Choice>
        <mc:Fallback xmlns="">
          <p:sp>
            <p:nvSpPr>
              <p:cNvPr id="69" name="Rectangle 6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36701" y="4486667"/>
                <a:ext cx="2183418" cy="430887"/>
              </a:xfrm>
              <a:prstGeom prst="rect">
                <a:avLst/>
              </a:prstGeom>
              <a:blipFill>
                <a:blip r:embed="rId22"/>
                <a:stretch>
                  <a:fillRect l="-279" t="-9859" r="-3073" b="-28169"/>
                </a:stretch>
              </a:blipFill>
            </p:spPr>
            <p:txBody>
              <a:bodyPr/>
              <a:lstStyle/>
              <a:p>
                <a:r>
                  <a:rPr lang="bg-B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0" name="Rectangle 69"/>
              <p:cNvSpPr/>
              <p:nvPr/>
            </p:nvSpPr>
            <p:spPr>
              <a:xfrm>
                <a:off x="8466991" y="5251336"/>
                <a:ext cx="2084032" cy="43088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bg-BG" sz="2200" i="1" smtClean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sz="22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sz="2200" b="0" i="1" smtClean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31</m:t>
                        </m:r>
                      </m:sub>
                    </m:sSub>
                    <m:r>
                      <a:rPr lang="en-US" sz="2200" i="1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2200" dirty="0"/>
                  <a:t>1+3-5=-1</a:t>
                </a:r>
                <a:endParaRPr lang="bg-BG" sz="2200" dirty="0"/>
              </a:p>
            </p:txBody>
          </p:sp>
        </mc:Choice>
        <mc:Fallback xmlns="">
          <p:sp>
            <p:nvSpPr>
              <p:cNvPr id="70" name="Rectangle 6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66991" y="5251336"/>
                <a:ext cx="2084032" cy="430887"/>
              </a:xfrm>
              <a:prstGeom prst="rect">
                <a:avLst/>
              </a:prstGeom>
              <a:blipFill>
                <a:blip r:embed="rId23"/>
                <a:stretch>
                  <a:fillRect l="-292" t="-8451" r="-3216" b="-28169"/>
                </a:stretch>
              </a:blipFill>
            </p:spPr>
            <p:txBody>
              <a:bodyPr/>
              <a:lstStyle/>
              <a:p>
                <a:r>
                  <a:rPr lang="bg-B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1" name="Rectangle 70"/>
              <p:cNvSpPr/>
              <p:nvPr/>
            </p:nvSpPr>
            <p:spPr>
              <a:xfrm>
                <a:off x="8448930" y="4855107"/>
                <a:ext cx="2183418" cy="43088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bg-BG" sz="2200" i="1" smtClean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sz="22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sz="2200" b="0" i="1" smtClean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sz="22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sz="2200" i="1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2200" dirty="0"/>
                  <a:t>-1+1-6=-6</a:t>
                </a:r>
                <a:endParaRPr lang="bg-BG" sz="2200" dirty="0"/>
              </a:p>
            </p:txBody>
          </p:sp>
        </mc:Choice>
        <mc:Fallback xmlns="">
          <p:sp>
            <p:nvSpPr>
              <p:cNvPr id="71" name="Rectangle 7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48930" y="4855107"/>
                <a:ext cx="2183418" cy="430887"/>
              </a:xfrm>
              <a:prstGeom prst="rect">
                <a:avLst/>
              </a:prstGeom>
              <a:blipFill>
                <a:blip r:embed="rId24"/>
                <a:stretch>
                  <a:fillRect l="-279" t="-8451" r="-3073" b="-28169"/>
                </a:stretch>
              </a:blipFill>
            </p:spPr>
            <p:txBody>
              <a:bodyPr/>
              <a:lstStyle/>
              <a:p>
                <a:r>
                  <a:rPr lang="bg-B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3" name="TextBox 72"/>
          <p:cNvSpPr txBox="1"/>
          <p:nvPr/>
        </p:nvSpPr>
        <p:spPr>
          <a:xfrm>
            <a:off x="294162" y="5666881"/>
            <a:ext cx="1115365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bg-BG" sz="2400" dirty="0"/>
              <a:t>Критерият за оптималност е изпълнен. Планът е оптимален</a:t>
            </a:r>
            <a:r>
              <a:rPr lang="en-US" sz="2400" dirty="0"/>
              <a:t>.</a:t>
            </a:r>
            <a:endParaRPr lang="bg-BG" sz="2400" dirty="0"/>
          </a:p>
          <a:p>
            <a:r>
              <a:rPr lang="en-US" sz="2400" dirty="0"/>
              <a:t>Z</a:t>
            </a:r>
            <a:r>
              <a:rPr lang="en-US" sz="2400" baseline="-25000" dirty="0"/>
              <a:t>min</a:t>
            </a:r>
            <a:r>
              <a:rPr lang="en-US" sz="2400" dirty="0"/>
              <a:t>=2.</a:t>
            </a:r>
            <a:r>
              <a:rPr lang="bg-BG" sz="2400" dirty="0"/>
              <a:t>2</a:t>
            </a:r>
            <a:r>
              <a:rPr lang="en-US" sz="2400" dirty="0"/>
              <a:t>0+3.</a:t>
            </a:r>
            <a:r>
              <a:rPr lang="bg-BG" sz="2400" dirty="0"/>
              <a:t>3</a:t>
            </a:r>
            <a:r>
              <a:rPr lang="en-US" sz="2400" dirty="0"/>
              <a:t>0+2.</a:t>
            </a:r>
            <a:r>
              <a:rPr lang="bg-BG" sz="2400" dirty="0"/>
              <a:t>4</a:t>
            </a:r>
            <a:r>
              <a:rPr lang="en-US" sz="2400" dirty="0"/>
              <a:t>0+3.</a:t>
            </a:r>
            <a:r>
              <a:rPr lang="bg-BG" sz="2400" dirty="0"/>
              <a:t>1</a:t>
            </a:r>
            <a:r>
              <a:rPr lang="en-US" sz="2400" dirty="0"/>
              <a:t>0+2.20=</a:t>
            </a:r>
            <a:r>
              <a:rPr lang="bg-BG" sz="2400" dirty="0"/>
              <a:t>28</a:t>
            </a:r>
            <a:r>
              <a:rPr lang="en-US" sz="2400" dirty="0"/>
              <a:t>0</a:t>
            </a:r>
          </a:p>
          <a:p>
            <a:r>
              <a:rPr lang="en-US" sz="2400" dirty="0"/>
              <a:t>X</a:t>
            </a:r>
            <a:r>
              <a:rPr lang="en-US" sz="2400" baseline="-25000" dirty="0"/>
              <a:t>11</a:t>
            </a:r>
            <a:r>
              <a:rPr lang="en-US" sz="2400" dirty="0"/>
              <a:t>=</a:t>
            </a:r>
            <a:r>
              <a:rPr lang="bg-BG" sz="2400" dirty="0"/>
              <a:t>2</a:t>
            </a:r>
            <a:r>
              <a:rPr lang="en-US" sz="2400" dirty="0"/>
              <a:t>0, X</a:t>
            </a:r>
            <a:r>
              <a:rPr lang="en-US" sz="2400" baseline="-25000" dirty="0"/>
              <a:t>12</a:t>
            </a:r>
            <a:r>
              <a:rPr lang="en-US" sz="2400" dirty="0"/>
              <a:t>=</a:t>
            </a:r>
            <a:r>
              <a:rPr lang="bg-BG" sz="2400" dirty="0"/>
              <a:t>3</a:t>
            </a:r>
            <a:r>
              <a:rPr lang="en-US" sz="2400" dirty="0"/>
              <a:t>0, X</a:t>
            </a:r>
            <a:r>
              <a:rPr lang="en-US" sz="2400" baseline="-25000" dirty="0"/>
              <a:t>13</a:t>
            </a:r>
            <a:r>
              <a:rPr lang="en-US" sz="2400" dirty="0"/>
              <a:t>=0, X</a:t>
            </a:r>
            <a:r>
              <a:rPr lang="en-US" sz="2400" baseline="-25000" dirty="0"/>
              <a:t>21</a:t>
            </a:r>
            <a:r>
              <a:rPr lang="en-US" sz="2400" dirty="0"/>
              <a:t>=0, X</a:t>
            </a:r>
            <a:r>
              <a:rPr lang="en-US" sz="2400" baseline="-25000" dirty="0"/>
              <a:t>22</a:t>
            </a:r>
            <a:r>
              <a:rPr lang="en-US" sz="2400" dirty="0"/>
              <a:t>=</a:t>
            </a:r>
            <a:r>
              <a:rPr lang="bg-BG" sz="2400" dirty="0"/>
              <a:t>4</a:t>
            </a:r>
            <a:r>
              <a:rPr lang="en-US" sz="2400" dirty="0"/>
              <a:t>0, X</a:t>
            </a:r>
            <a:r>
              <a:rPr lang="en-US" sz="2400" baseline="-25000" dirty="0"/>
              <a:t>23</a:t>
            </a:r>
            <a:r>
              <a:rPr lang="en-US" sz="2400" dirty="0"/>
              <a:t>=0, X</a:t>
            </a:r>
            <a:r>
              <a:rPr lang="en-US" sz="2400" baseline="-25000" dirty="0"/>
              <a:t>31</a:t>
            </a:r>
            <a:r>
              <a:rPr lang="en-US" sz="2400" dirty="0"/>
              <a:t>=</a:t>
            </a:r>
            <a:r>
              <a:rPr lang="bg-BG" sz="2400" dirty="0"/>
              <a:t>1</a:t>
            </a:r>
            <a:r>
              <a:rPr lang="en-US" sz="2400" dirty="0"/>
              <a:t>0, X</a:t>
            </a:r>
            <a:r>
              <a:rPr lang="en-US" sz="2400" baseline="-25000" dirty="0"/>
              <a:t>32</a:t>
            </a:r>
            <a:r>
              <a:rPr lang="en-US" sz="2400" dirty="0"/>
              <a:t>=0, X</a:t>
            </a:r>
            <a:r>
              <a:rPr lang="en-US" sz="2400" baseline="-25000" dirty="0"/>
              <a:t>33</a:t>
            </a:r>
            <a:r>
              <a:rPr lang="en-US" sz="2400" dirty="0"/>
              <a:t>=20</a:t>
            </a:r>
            <a:endParaRPr lang="bg-BG" sz="2400" dirty="0"/>
          </a:p>
        </p:txBody>
      </p:sp>
    </p:spTree>
    <p:extLst>
      <p:ext uri="{BB962C8B-B14F-4D97-AF65-F5344CB8AC3E}">
        <p14:creationId xmlns:p14="http://schemas.microsoft.com/office/powerpoint/2010/main" val="168801546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1674E5-CD74-4638-A238-012A517DC16A}" type="slidenum">
              <a:rPr lang="bg-BG" smtClean="0"/>
              <a:t>16</a:t>
            </a:fld>
            <a:endParaRPr lang="bg-BG" dirty="0"/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2098842" y="449975"/>
            <a:ext cx="9867232" cy="5540278"/>
          </a:xfrm>
          <a:prstGeom prst="rect">
            <a:avLst/>
          </a:prstGeom>
        </p:spPr>
        <p:txBody>
          <a:bodyPr>
            <a:noAutofit/>
          </a:bodyPr>
          <a:lstStyle>
            <a:lvl1pPr marL="182880" indent="-18288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457200" algn="just">
              <a:lnSpc>
                <a:spcPct val="15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ru-RU" sz="22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Пример</a:t>
            </a:r>
            <a:r>
              <a:rPr lang="en-US" sz="22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 2</a:t>
            </a:r>
            <a:r>
              <a:rPr lang="ru-RU" sz="22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:</a:t>
            </a:r>
          </a:p>
          <a:p>
            <a:pPr marL="0" indent="457200" algn="just">
              <a:lnSpc>
                <a:spcPct val="15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bg-BG" sz="2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Фирма за производство на мебели има два завода и три склада за готова продукция. Данните за единичните транспортни разходи,</a:t>
            </a:r>
            <a:r>
              <a:rPr lang="en-US" sz="2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bg-BG" sz="2200">
                <a:solidFill>
                  <a:schemeClr val="tx1">
                    <a:lumMod val="95000"/>
                    <a:lumOff val="5000"/>
                  </a:schemeClr>
                </a:solidFill>
              </a:rPr>
              <a:t>производството и потреблението </a:t>
            </a:r>
            <a:r>
              <a:rPr lang="bg-BG" sz="2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са представени в</a:t>
            </a:r>
            <a:r>
              <a:rPr lang="en-US" sz="2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bg-BG" sz="2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следната таблицата:</a:t>
            </a:r>
          </a:p>
          <a:p>
            <a:pPr marL="0" indent="457200" algn="just">
              <a:lnSpc>
                <a:spcPct val="150000"/>
              </a:lnSpc>
              <a:spcBef>
                <a:spcPts val="0"/>
              </a:spcBef>
              <a:buFont typeface="Wingdings" pitchFamily="2" charset="2"/>
              <a:buNone/>
            </a:pPr>
            <a:endParaRPr lang="bg-BG" sz="22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0" indent="457200" algn="just">
              <a:buFont typeface="Wingdings" pitchFamily="2" charset="2"/>
              <a:buNone/>
            </a:pPr>
            <a:endParaRPr lang="bg-BG" sz="22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0" indent="457200" algn="just">
              <a:buFont typeface="Wingdings" pitchFamily="2" charset="2"/>
              <a:buNone/>
            </a:pPr>
            <a:endParaRPr lang="bg-BG" sz="22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0" indent="457200" algn="just">
              <a:buFont typeface="Wingdings" pitchFamily="2" charset="2"/>
              <a:buNone/>
            </a:pPr>
            <a:endParaRPr lang="bg-BG" sz="22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0" indent="457200" algn="just">
              <a:buFont typeface="Wingdings" pitchFamily="2" charset="2"/>
              <a:buNone/>
            </a:pPr>
            <a:endParaRPr lang="bg-BG" sz="22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47800116"/>
              </p:ext>
            </p:extLst>
          </p:nvPr>
        </p:nvGraphicFramePr>
        <p:xfrm>
          <a:off x="3549925" y="3049078"/>
          <a:ext cx="5823322" cy="1380490"/>
        </p:xfrm>
        <a:graphic>
          <a:graphicData uri="http://schemas.openxmlformats.org/drawingml/2006/table">
            <a:tbl>
              <a:tblPr/>
              <a:tblGrid>
                <a:gridCol w="1497311">
                  <a:extLst>
                    <a:ext uri="{9D8B030D-6E8A-4147-A177-3AD203B41FA5}">
                      <a16:colId xmlns:a16="http://schemas.microsoft.com/office/drawing/2014/main" xmlns="" val="244167917"/>
                    </a:ext>
                  </a:extLst>
                </a:gridCol>
                <a:gridCol w="919577">
                  <a:extLst>
                    <a:ext uri="{9D8B030D-6E8A-4147-A177-3AD203B41FA5}">
                      <a16:colId xmlns:a16="http://schemas.microsoft.com/office/drawing/2014/main" xmlns="" val="651320687"/>
                    </a:ext>
                  </a:extLst>
                </a:gridCol>
                <a:gridCol w="957681">
                  <a:extLst>
                    <a:ext uri="{9D8B030D-6E8A-4147-A177-3AD203B41FA5}">
                      <a16:colId xmlns:a16="http://schemas.microsoft.com/office/drawing/2014/main" xmlns="" val="821006073"/>
                    </a:ext>
                  </a:extLst>
                </a:gridCol>
                <a:gridCol w="909190">
                  <a:extLst>
                    <a:ext uri="{9D8B030D-6E8A-4147-A177-3AD203B41FA5}">
                      <a16:colId xmlns:a16="http://schemas.microsoft.com/office/drawing/2014/main" xmlns="" val="1722343244"/>
                    </a:ext>
                  </a:extLst>
                </a:gridCol>
                <a:gridCol w="1539563">
                  <a:extLst>
                    <a:ext uri="{9D8B030D-6E8A-4147-A177-3AD203B41FA5}">
                      <a16:colId xmlns:a16="http://schemas.microsoft.com/office/drawing/2014/main" xmlns="" val="2301729582"/>
                    </a:ext>
                  </a:extLst>
                </a:gridCol>
              </a:tblGrid>
              <a:tr h="152865">
                <a:tc>
                  <a:txBody>
                    <a:bodyPr/>
                    <a:lstStyle/>
                    <a:p>
                      <a:pPr algn="l" fontAlgn="b"/>
                      <a:r>
                        <a:rPr lang="bg-BG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bg-BG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Склад 1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bg-BG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Склад 2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bg-BG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Склад 3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bg-BG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Производство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2787115035"/>
                  </a:ext>
                </a:extLst>
              </a:tr>
              <a:tr h="257175">
                <a:tc>
                  <a:txBody>
                    <a:bodyPr/>
                    <a:lstStyle/>
                    <a:p>
                      <a:pPr algn="l" fontAlgn="b"/>
                      <a:r>
                        <a:rPr lang="bg-BG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Завод 1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bg-BG" sz="2800" b="1" i="0" u="none" strike="noStrike" baseline="30000" dirty="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9525" marT="91440" marB="0" anchor="b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800" b="1" i="0" u="none" strike="noStrike" baseline="30000" dirty="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4</a:t>
                      </a:r>
                      <a:endParaRPr lang="bg-BG" sz="2800" b="1" i="0" u="none" strike="noStrike" baseline="30000" dirty="0">
                        <a:solidFill>
                          <a:srgbClr val="C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T="91440" marB="0" anchor="b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800" b="1" i="0" u="none" strike="noStrike" baseline="30000" dirty="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6</a:t>
                      </a:r>
                      <a:endParaRPr lang="bg-BG" sz="2800" b="1" i="0" u="none" strike="noStrike" baseline="30000" dirty="0">
                        <a:solidFill>
                          <a:srgbClr val="C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T="91440" marB="0" anchor="b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</a:t>
                      </a:r>
                      <a:r>
                        <a:rPr lang="bg-BG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2960545891"/>
                  </a:ext>
                </a:extLst>
              </a:tr>
              <a:tr h="257175">
                <a:tc>
                  <a:txBody>
                    <a:bodyPr/>
                    <a:lstStyle/>
                    <a:p>
                      <a:pPr algn="l" fontAlgn="b"/>
                      <a:r>
                        <a:rPr lang="bg-BG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Завод 2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bg-BG" sz="2800" b="1" i="0" u="none" strike="noStrike" baseline="30000" dirty="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5</a:t>
                      </a:r>
                    </a:p>
                  </a:txBody>
                  <a:tcPr marL="9525" marT="91440" marB="0" anchor="b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800" b="1" i="0" u="none" strike="noStrike" baseline="30000" dirty="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  <a:endParaRPr lang="bg-BG" sz="2800" b="1" i="0" u="none" strike="noStrike" baseline="30000" dirty="0">
                        <a:solidFill>
                          <a:srgbClr val="C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T="91440" marB="0" anchor="b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800" b="1" i="0" u="none" strike="noStrike" baseline="30000" dirty="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  <a:endParaRPr lang="bg-BG" sz="2800" b="1" i="0" u="none" strike="noStrike" baseline="30000" dirty="0">
                        <a:solidFill>
                          <a:srgbClr val="C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T="91440" marB="0" anchor="b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bg-BG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40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4125746062"/>
                  </a:ext>
                </a:extLst>
              </a:tr>
              <a:tr h="257175">
                <a:tc>
                  <a:txBody>
                    <a:bodyPr/>
                    <a:lstStyle/>
                    <a:p>
                      <a:pPr algn="l" fontAlgn="b"/>
                      <a:r>
                        <a:rPr lang="bg-BG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Потребление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</a:t>
                      </a:r>
                      <a:r>
                        <a:rPr lang="bg-BG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  <a:r>
                        <a:rPr lang="bg-BG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bg-BG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bg-BG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254563396"/>
                  </a:ext>
                </a:extLst>
              </a:tr>
            </a:tbl>
          </a:graphicData>
        </a:graphic>
      </p:graphicFrame>
      <p:sp>
        <p:nvSpPr>
          <p:cNvPr id="2" name="Rectangle 1"/>
          <p:cNvSpPr/>
          <p:nvPr/>
        </p:nvSpPr>
        <p:spPr>
          <a:xfrm>
            <a:off x="1885765" y="4252180"/>
            <a:ext cx="9733548" cy="20608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buClr>
                <a:schemeClr val="accent1">
                  <a:lumMod val="75000"/>
                </a:schemeClr>
              </a:buClr>
              <a:buSzPct val="85000"/>
            </a:pPr>
            <a:endParaRPr lang="bg-BG" sz="22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algn="just">
              <a:lnSpc>
                <a:spcPct val="150000"/>
              </a:lnSpc>
              <a:buClr>
                <a:schemeClr val="accent1">
                  <a:lumMod val="75000"/>
                </a:schemeClr>
              </a:buClr>
              <a:buSzPct val="85000"/>
            </a:pPr>
            <a:r>
              <a:rPr lang="bg-BG" sz="2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Да се състави математически модел на задачата. Да се определи начално базисно решение по метод на северозападния ъгъл. </a:t>
            </a:r>
            <a:r>
              <a:rPr lang="ru-RU" sz="2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Да се направи проверка за оптималност чрез метода на потенциалите. </a:t>
            </a:r>
            <a:endParaRPr lang="bg-BG" sz="22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38156" y="19088"/>
            <a:ext cx="4526496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200" i="1" dirty="0">
                <a:solidFill>
                  <a:schemeClr val="accent1">
                    <a:lumMod val="50000"/>
                  </a:schemeClr>
                </a:solidFill>
              </a:rPr>
              <a:t>Транспортна задача </a:t>
            </a:r>
            <a:r>
              <a:rPr lang="bg-BG" sz="2200" i="1" dirty="0">
                <a:solidFill>
                  <a:schemeClr val="accent1">
                    <a:lumMod val="50000"/>
                  </a:schemeClr>
                </a:solidFill>
              </a:rPr>
              <a:t>отворен</a:t>
            </a:r>
            <a:r>
              <a:rPr lang="ru-RU" sz="2200" i="1" dirty="0">
                <a:solidFill>
                  <a:schemeClr val="accent1">
                    <a:lumMod val="50000"/>
                  </a:schemeClr>
                </a:solidFill>
              </a:rPr>
              <a:t> тип</a:t>
            </a:r>
            <a:endParaRPr lang="bg-BG" sz="2200" i="1" dirty="0">
              <a:solidFill>
                <a:schemeClr val="accent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7753437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1674E5-CD74-4638-A238-012A517DC16A}" type="slidenum">
              <a:rPr lang="bg-BG" smtClean="0"/>
              <a:t>17</a:t>
            </a:fld>
            <a:endParaRPr lang="bg-BG" dirty="0"/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1684422" y="534197"/>
            <a:ext cx="10379242" cy="5148943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457200" algn="just">
              <a:lnSpc>
                <a:spcPct val="130000"/>
              </a:lnSpc>
              <a:spcBef>
                <a:spcPts val="0"/>
              </a:spcBef>
            </a:pPr>
            <a:endParaRPr lang="bg-BG" sz="2400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97811" y="157162"/>
            <a:ext cx="10294189" cy="67008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198084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1674E5-CD74-4638-A238-012A517DC16A}" type="slidenum">
              <a:rPr lang="bg-BG" smtClean="0"/>
              <a:t>18</a:t>
            </a:fld>
            <a:endParaRPr lang="bg-BG" dirty="0"/>
          </a:p>
        </p:txBody>
      </p:sp>
      <p:sp>
        <p:nvSpPr>
          <p:cNvPr id="8" name="Rectangle 7"/>
          <p:cNvSpPr/>
          <p:nvPr/>
        </p:nvSpPr>
        <p:spPr>
          <a:xfrm>
            <a:off x="131788" y="81386"/>
            <a:ext cx="3145926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bg-BG" sz="2200" i="1" dirty="0">
                <a:solidFill>
                  <a:schemeClr val="accent1">
                    <a:lumMod val="50000"/>
                  </a:schemeClr>
                </a:solidFill>
              </a:rPr>
              <a:t>Математически модел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56604" y="709864"/>
            <a:ext cx="10035396" cy="61481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18264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36370" y="1913587"/>
            <a:ext cx="8541803" cy="2963214"/>
          </a:xfrm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  <a:defRPr/>
            </a:pPr>
            <a:endParaRPr lang="bg-BG" altLang="bg-BG" sz="2400" dirty="0"/>
          </a:p>
          <a:p>
            <a:pPr algn="just"/>
            <a:endParaRPr lang="bg-BG" sz="2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1674E5-CD74-4638-A238-012A517DC16A}" type="slidenum">
              <a:rPr lang="bg-BG" smtClean="0"/>
              <a:t>19</a:t>
            </a:fld>
            <a:endParaRPr lang="bg-BG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2000" y="144378"/>
            <a:ext cx="10160000" cy="67136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789356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1674E5-CD74-4638-A238-012A517DC16A}" type="slidenum">
              <a:rPr lang="bg-BG" smtClean="0"/>
              <a:t>20</a:t>
            </a:fld>
            <a:endParaRPr lang="bg-BG" dirty="0"/>
          </a:p>
        </p:txBody>
      </p:sp>
      <p:sp>
        <p:nvSpPr>
          <p:cNvPr id="7" name="Rectangle 6"/>
          <p:cNvSpPr/>
          <p:nvPr/>
        </p:nvSpPr>
        <p:spPr>
          <a:xfrm>
            <a:off x="2032000" y="410827"/>
            <a:ext cx="9710821" cy="5777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57200" algn="just">
              <a:lnSpc>
                <a:spcPct val="150000"/>
              </a:lnSpc>
              <a:buClr>
                <a:srgbClr val="D34817">
                  <a:lumMod val="75000"/>
                </a:srgbClr>
              </a:buClr>
              <a:buSzPct val="85000"/>
            </a:pPr>
            <a:endParaRPr lang="bg-BG" sz="2400" dirty="0">
              <a:solidFill>
                <a:prstClr val="black"/>
              </a:solidFill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29820" y="648810"/>
            <a:ext cx="4138864" cy="3318693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86701" y="4116605"/>
            <a:ext cx="7570120" cy="2717331"/>
          </a:xfrm>
          <a:prstGeom prst="rect">
            <a:avLst/>
          </a:prstGeom>
        </p:spPr>
      </p:pic>
      <p:pic>
        <p:nvPicPr>
          <p:cNvPr id="2" name="Картина 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30402" y="499710"/>
            <a:ext cx="5897820" cy="3616895"/>
          </a:xfrm>
          <a:prstGeom prst="rect">
            <a:avLst/>
          </a:prstGeom>
        </p:spPr>
      </p:pic>
      <p:sp>
        <p:nvSpPr>
          <p:cNvPr id="3" name="Правоъгълник 2"/>
          <p:cNvSpPr/>
          <p:nvPr/>
        </p:nvSpPr>
        <p:spPr>
          <a:xfrm>
            <a:off x="804614" y="105643"/>
            <a:ext cx="4512774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indent="457200" algn="ctr">
              <a:spcAft>
                <a:spcPts val="600"/>
              </a:spcAft>
            </a:pPr>
            <a:r>
              <a:rPr lang="ru-RU" sz="2200" b="1" noProof="1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4) Проверка за оптималност</a:t>
            </a:r>
            <a:endParaRPr lang="ru-RU" sz="2200" noProof="1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1691932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Групиране 10"/>
          <p:cNvGrpSpPr/>
          <p:nvPr/>
        </p:nvGrpSpPr>
        <p:grpSpPr>
          <a:xfrm>
            <a:off x="193123" y="0"/>
            <a:ext cx="6366990" cy="4780493"/>
            <a:chOff x="82220" y="115886"/>
            <a:chExt cx="6366990" cy="4780493"/>
          </a:xfrm>
        </p:grpSpPr>
        <p:pic>
          <p:nvPicPr>
            <p:cNvPr id="8" name="Картина 7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11248" y="115886"/>
              <a:ext cx="6337962" cy="4780493"/>
            </a:xfrm>
            <a:prstGeom prst="rect">
              <a:avLst/>
            </a:prstGeom>
          </p:spPr>
        </p:pic>
        <p:sp>
          <p:nvSpPr>
            <p:cNvPr id="9" name="Текстово поле 8"/>
            <p:cNvSpPr txBox="1"/>
            <p:nvPr/>
          </p:nvSpPr>
          <p:spPr>
            <a:xfrm>
              <a:off x="3265713" y="3512458"/>
              <a:ext cx="246743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bg-BG" sz="2000" dirty="0"/>
                <a:t>0</a:t>
              </a:r>
              <a:endParaRPr lang="en-GB" sz="2000" dirty="0"/>
            </a:p>
          </p:txBody>
        </p:sp>
        <p:sp>
          <p:nvSpPr>
            <p:cNvPr id="10" name="Текстово поле 9"/>
            <p:cNvSpPr txBox="1"/>
            <p:nvPr/>
          </p:nvSpPr>
          <p:spPr>
            <a:xfrm>
              <a:off x="82220" y="159428"/>
              <a:ext cx="73245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bg-BG" b="1" dirty="0"/>
                <a:t>5)</a:t>
              </a:r>
              <a:endParaRPr lang="en-GB" b="1" dirty="0"/>
            </a:p>
          </p:txBody>
        </p:sp>
      </p:grp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36370" y="1913587"/>
            <a:ext cx="8541803" cy="2963214"/>
          </a:xfrm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  <a:defRPr/>
            </a:pPr>
            <a:endParaRPr lang="bg-BG" altLang="bg-BG" sz="2400" dirty="0"/>
          </a:p>
          <a:p>
            <a:pPr algn="just"/>
            <a:endParaRPr lang="bg-BG" sz="2400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34642" y="1236453"/>
            <a:ext cx="6666946" cy="3640348"/>
          </a:xfrm>
          <a:prstGeom prst="rect">
            <a:avLst/>
          </a:prstGeom>
        </p:spPr>
      </p:pic>
      <p:grpSp>
        <p:nvGrpSpPr>
          <p:cNvPr id="4" name="Групиране 3"/>
          <p:cNvGrpSpPr/>
          <p:nvPr/>
        </p:nvGrpSpPr>
        <p:grpSpPr>
          <a:xfrm>
            <a:off x="-1" y="4710022"/>
            <a:ext cx="6560114" cy="2147977"/>
            <a:chOff x="-1" y="4710022"/>
            <a:chExt cx="6560114" cy="2147977"/>
          </a:xfrm>
        </p:grpSpPr>
        <p:pic>
          <p:nvPicPr>
            <p:cNvPr id="5" name="Picture 4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-1" y="4710022"/>
              <a:ext cx="6560114" cy="2147977"/>
            </a:xfrm>
            <a:prstGeom prst="rect">
              <a:avLst/>
            </a:prstGeom>
          </p:spPr>
        </p:pic>
        <p:sp>
          <p:nvSpPr>
            <p:cNvPr id="2" name="Текстово поле 1"/>
            <p:cNvSpPr txBox="1"/>
            <p:nvPr/>
          </p:nvSpPr>
          <p:spPr>
            <a:xfrm>
              <a:off x="5833610" y="5265248"/>
              <a:ext cx="712330" cy="369332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bg-BG" dirty="0"/>
                <a:t>(3,3)</a:t>
              </a:r>
              <a:endParaRPr lang="en-GB" dirty="0"/>
            </a:p>
          </p:txBody>
        </p:sp>
      </p:grpSp>
    </p:spTree>
    <p:extLst>
      <p:ext uri="{BB962C8B-B14F-4D97-AF65-F5344CB8AC3E}">
        <p14:creationId xmlns:p14="http://schemas.microsoft.com/office/powerpoint/2010/main" val="397391568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36370" y="1913587"/>
            <a:ext cx="8541803" cy="2963214"/>
          </a:xfrm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  <a:defRPr/>
            </a:pPr>
            <a:endParaRPr lang="bg-BG" altLang="bg-BG" sz="2400" dirty="0"/>
          </a:p>
          <a:p>
            <a:pPr algn="just"/>
            <a:endParaRPr lang="bg-BG" sz="2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1674E5-CD74-4638-A238-012A517DC16A}" type="slidenum">
              <a:rPr lang="bg-BG" smtClean="0"/>
              <a:t>22</a:t>
            </a:fld>
            <a:endParaRPr lang="bg-BG" dirty="0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732" y="0"/>
            <a:ext cx="6540801" cy="4367463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732" y="4367463"/>
            <a:ext cx="6657975" cy="2422925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47603" y="4874310"/>
            <a:ext cx="6543675" cy="1409231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60707" y="839258"/>
            <a:ext cx="5181600" cy="3333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494395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1674E5-CD74-4638-A238-012A517DC16A}" type="slidenum">
              <a:rPr lang="bg-BG" smtClean="0"/>
              <a:t>23</a:t>
            </a:fld>
            <a:endParaRPr lang="bg-BG" dirty="0"/>
          </a:p>
        </p:txBody>
      </p:sp>
      <p:sp>
        <p:nvSpPr>
          <p:cNvPr id="2" name="Rectangle 1"/>
          <p:cNvSpPr/>
          <p:nvPr/>
        </p:nvSpPr>
        <p:spPr>
          <a:xfrm>
            <a:off x="0" y="121592"/>
            <a:ext cx="4532908" cy="3877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80000"/>
              </a:lnSpc>
              <a:spcBef>
                <a:spcPct val="0"/>
              </a:spcBef>
            </a:pPr>
            <a:r>
              <a:rPr lang="ru-RU" sz="2400" b="1" i="1" cap="all" dirty="0">
                <a:blipFill>
                  <a:blip r:embed="rId3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tile tx="6350" ty="-127000" sx="65000" sy="64000" flip="none" algn="tl"/>
                </a:blipFill>
                <a:latin typeface="+mj-lt"/>
                <a:ea typeface="+mj-ea"/>
                <a:cs typeface="+mj-cs"/>
              </a:rPr>
              <a:t>Проверка за оптималност </a:t>
            </a:r>
            <a:endParaRPr lang="bg-BG" sz="2400" b="1" i="1" cap="all" dirty="0">
              <a:blipFill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tile tx="6350" ty="-127000" sx="65000" sy="64000" flip="none" algn="tl"/>
              </a:blipFill>
              <a:latin typeface="+mj-lt"/>
              <a:ea typeface="+mj-ea"/>
              <a:cs typeface="+mj-c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4417018" y="429759"/>
            <a:ext cx="4551053" cy="4124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80000"/>
              </a:lnSpc>
              <a:spcBef>
                <a:spcPct val="0"/>
              </a:spcBef>
            </a:pPr>
            <a:r>
              <a:rPr lang="bg-BG" sz="2600" b="1" cap="all" dirty="0">
                <a:blipFill>
                  <a:blip r:embed="rId3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tile tx="6350" ty="-127000" sx="65000" sy="64000" flip="none" algn="tl"/>
                </a:blipFill>
                <a:latin typeface="+mj-lt"/>
                <a:ea typeface="+mj-ea"/>
                <a:cs typeface="+mj-cs"/>
              </a:rPr>
              <a:t>Разпределителен </a:t>
            </a:r>
            <a:r>
              <a:rPr lang="ru-RU" sz="2600" b="1" cap="all" dirty="0">
                <a:blipFill>
                  <a:blip r:embed="rId3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tile tx="6350" ty="-127000" sx="65000" sy="64000" flip="none" algn="tl"/>
                </a:blipFill>
                <a:latin typeface="+mj-lt"/>
                <a:ea typeface="+mj-ea"/>
                <a:cs typeface="+mj-cs"/>
              </a:rPr>
              <a:t>Метод</a:t>
            </a:r>
            <a:endParaRPr lang="bg-BG" sz="2600" b="1" cap="all" dirty="0">
              <a:blipFill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tile tx="6350" ty="-127000" sx="65000" sy="64000" flip="none" algn="tl"/>
              </a:blipFill>
              <a:latin typeface="+mj-lt"/>
              <a:ea typeface="+mj-ea"/>
              <a:cs typeface="+mj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/>
              <p:cNvSpPr/>
              <p:nvPr/>
            </p:nvSpPr>
            <p:spPr>
              <a:xfrm>
                <a:off x="1875245" y="655189"/>
                <a:ext cx="10316755" cy="618630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indent="360000" algn="just">
                  <a:lnSpc>
                    <a:spcPct val="150000"/>
                  </a:lnSpc>
                  <a:spcBef>
                    <a:spcPts val="0"/>
                  </a:spcBef>
                </a:pPr>
                <a:r>
                  <a:rPr lang="ru-RU" sz="2400" dirty="0"/>
                  <a:t>Разпределителният метод е вариант на симплекс метода за решаване на каноничната задача на линейното оптимиране и може да се опише с помощта на следния алгоритъм:</a:t>
                </a:r>
              </a:p>
              <a:p>
                <a:pPr marL="457200" indent="-457200" algn="just">
                  <a:lnSpc>
                    <a:spcPct val="150000"/>
                  </a:lnSpc>
                  <a:buClr>
                    <a:schemeClr val="accent1">
                      <a:lumMod val="75000"/>
                    </a:schemeClr>
                  </a:buClr>
                  <a:buSzPct val="85000"/>
                  <a:buFont typeface="+mj-lt"/>
                  <a:buAutoNum type="arabicPeriod"/>
                  <a:defRPr/>
                </a:pPr>
                <a:r>
                  <a:rPr lang="ru-RU" sz="2400" dirty="0"/>
                  <a:t>Построваме начално базисно допустимо решение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ru-RU" sz="2400" i="1" smtClean="0">
                            <a:latin typeface="Cambria Math"/>
                          </a:rPr>
                        </m:ctrlPr>
                      </m:acc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</m:oMath>
                </a14:m>
                <a:r>
                  <a:rPr lang="ru-RU" sz="2400" dirty="0"/>
                  <a:t> по метода на северозападния ъгъл или по метода на минималния елемент.</a:t>
                </a:r>
              </a:p>
              <a:p>
                <a:pPr marL="457200" indent="-457200" algn="just">
                  <a:lnSpc>
                    <a:spcPct val="150000"/>
                  </a:lnSpc>
                  <a:buClr>
                    <a:schemeClr val="accent1">
                      <a:lumMod val="75000"/>
                    </a:schemeClr>
                  </a:buClr>
                  <a:buSzPct val="85000"/>
                  <a:buFont typeface="+mj-lt"/>
                  <a:buAutoNum type="arabicPeriod"/>
                  <a:defRPr/>
                </a:pPr>
                <a:r>
                  <a:rPr lang="ru-RU" sz="2400" dirty="0"/>
                  <a:t>За всяка празна клетка (</a:t>
                </a:r>
                <a:r>
                  <a:rPr lang="en-US" sz="2400" dirty="0"/>
                  <a:t>i,</a:t>
                </a:r>
                <a:r>
                  <a:rPr lang="bg-BG" sz="2400" dirty="0"/>
                  <a:t> </a:t>
                </a:r>
                <a:r>
                  <a:rPr lang="en-US" sz="2400" dirty="0"/>
                  <a:t>j)</a:t>
                </a:r>
                <a:r>
                  <a:rPr lang="bg-BG" sz="2400" dirty="0"/>
                  <a:t> на базисното решение построяваме цикъл и пресмятаме относителна оценка (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bg-BG" sz="2400" i="1">
                            <a:latin typeface="Cambria Math"/>
                          </a:rPr>
                        </m:ctrlPr>
                      </m:accPr>
                      <m:e>
                        <m:r>
                          <a:rPr lang="en-US" sz="240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</m:oMath>
                </a14:m>
                <a:r>
                  <a:rPr lang="en-US" sz="2400" baseline="-25000" dirty="0"/>
                  <a:t>ij</a:t>
                </a:r>
                <a:r>
                  <a:rPr lang="en-US" sz="2400" dirty="0"/>
                  <a:t>). </a:t>
                </a:r>
                <a:r>
                  <a:rPr lang="bg-BG" sz="2400" dirty="0"/>
                  <a:t>Проверяваме критерия за оптималност. Ако той е изпълнен, то </a:t>
                </a:r>
                <a:r>
                  <a:rPr lang="ru-RU" sz="2400" dirty="0"/>
                  <a:t>базисното допустимо решение е оптимално и задачата е решена. Край.</a:t>
                </a:r>
              </a:p>
              <a:p>
                <a:pPr marL="432000" algn="just">
                  <a:lnSpc>
                    <a:spcPct val="150000"/>
                  </a:lnSpc>
                  <a:buClr>
                    <a:schemeClr val="accent1">
                      <a:lumMod val="75000"/>
                    </a:schemeClr>
                  </a:buClr>
                  <a:buSzPct val="85000"/>
                  <a:defRPr/>
                </a:pPr>
                <a:r>
                  <a:rPr lang="ru-RU" sz="2400" dirty="0"/>
                  <a:t>Ако критерият за оптималност не е изпълнен, преминаваме към точка 3. </a:t>
                </a:r>
                <a:endParaRPr lang="bg-BG" sz="2400" dirty="0">
                  <a:solidFill>
                    <a:schemeClr val="tx1">
                      <a:lumMod val="95000"/>
                      <a:lumOff val="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3" name="Rectangle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75245" y="655189"/>
                <a:ext cx="10316755" cy="6186309"/>
              </a:xfrm>
              <a:prstGeom prst="rect">
                <a:avLst/>
              </a:prstGeom>
              <a:blipFill>
                <a:blip r:embed="rId4"/>
                <a:stretch>
                  <a:fillRect l="-946" r="-887" b="-197"/>
                </a:stretch>
              </a:blipFill>
            </p:spPr>
            <p:txBody>
              <a:bodyPr/>
              <a:lstStyle/>
              <a:p>
                <a:r>
                  <a:rPr lang="bg-BG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160383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36370" y="1913587"/>
            <a:ext cx="8541803" cy="2963214"/>
          </a:xfrm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  <a:defRPr/>
            </a:pPr>
            <a:endParaRPr lang="bg-BG" altLang="bg-BG" sz="2400" dirty="0"/>
          </a:p>
          <a:p>
            <a:pPr algn="just"/>
            <a:endParaRPr lang="bg-BG" sz="2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1674E5-CD74-4638-A238-012A517DC16A}" type="slidenum">
              <a:rPr lang="bg-BG" smtClean="0"/>
              <a:t>24</a:t>
            </a:fld>
            <a:endParaRPr lang="bg-B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2"/>
              <p:cNvSpPr txBox="1">
                <a:spLocks/>
              </p:cNvSpPr>
              <p:nvPr/>
            </p:nvSpPr>
            <p:spPr>
              <a:xfrm>
                <a:off x="1616738" y="603849"/>
                <a:ext cx="10496883" cy="6124755"/>
              </a:xfrm>
              <a:prstGeom prst="rect">
                <a:avLst/>
              </a:prstGeom>
            </p:spPr>
            <p:txBody>
              <a:bodyPr vert="horz" lIns="91440" tIns="45720" rIns="91440" bIns="45720" rtlCol="0" anchor="t">
                <a:noAutofit/>
              </a:bodyPr>
              <a:lstStyle>
                <a:lvl1pPr marL="0" indent="0" algn="l" defTabSz="914400" rtl="0" eaLnBrk="1" latinLnBrk="0" hangingPunct="1">
                  <a:lnSpc>
                    <a:spcPct val="90000"/>
                  </a:lnSpc>
                  <a:spcBef>
                    <a:spcPts val="1200"/>
                  </a:spcBef>
                  <a:buClr>
                    <a:schemeClr val="accent1">
                      <a:lumMod val="75000"/>
                    </a:schemeClr>
                  </a:buClr>
                  <a:buSzPct val="85000"/>
                  <a:buFont typeface="Wingdings" pitchFamily="2" charset="2"/>
                  <a:buNone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 algn="l" defTabSz="914400" rtl="0" eaLnBrk="1" latinLnBrk="0" hangingPunct="1">
                  <a:lnSpc>
                    <a:spcPct val="90000"/>
                  </a:lnSpc>
                  <a:spcBef>
                    <a:spcPts val="400"/>
                  </a:spcBef>
                  <a:spcAft>
                    <a:spcPts val="200"/>
                  </a:spcAft>
                  <a:buClr>
                    <a:schemeClr val="accent1">
                      <a:lumMod val="75000"/>
                    </a:schemeClr>
                  </a:buClr>
                  <a:buSzPct val="85000"/>
                  <a:buFont typeface="Wingdings" pitchFamily="2" charset="2"/>
                  <a:buNone/>
                  <a:defRPr sz="1800" kern="1200">
                    <a:solidFill>
                      <a:schemeClr val="tx1">
                        <a:tint val="75000"/>
                      </a:schemeClr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 algn="l" defTabSz="914400" rtl="0" eaLnBrk="1" latinLnBrk="0" hangingPunct="1">
                  <a:lnSpc>
                    <a:spcPct val="90000"/>
                  </a:lnSpc>
                  <a:spcBef>
                    <a:spcPts val="400"/>
                  </a:spcBef>
                  <a:spcAft>
                    <a:spcPts val="200"/>
                  </a:spcAft>
                  <a:buClr>
                    <a:schemeClr val="accent1">
                      <a:lumMod val="75000"/>
                    </a:schemeClr>
                  </a:buClr>
                  <a:buSzPct val="85000"/>
                  <a:buFont typeface="Wingdings" pitchFamily="2" charset="2"/>
                  <a:buNone/>
                  <a:defRPr sz="1600" kern="1200">
                    <a:solidFill>
                      <a:schemeClr val="tx1">
                        <a:tint val="75000"/>
                      </a:schemeClr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 algn="l" defTabSz="914400" rtl="0" eaLnBrk="1" latinLnBrk="0" hangingPunct="1">
                  <a:lnSpc>
                    <a:spcPct val="90000"/>
                  </a:lnSpc>
                  <a:spcBef>
                    <a:spcPts val="400"/>
                  </a:spcBef>
                  <a:spcAft>
                    <a:spcPts val="200"/>
                  </a:spcAft>
                  <a:buClr>
                    <a:schemeClr val="accent1">
                      <a:lumMod val="75000"/>
                    </a:schemeClr>
                  </a:buClr>
                  <a:buSzPct val="85000"/>
                  <a:buFont typeface="Wingdings" pitchFamily="2" charset="2"/>
                  <a:buNone/>
                  <a:defRPr sz="1400" kern="1200">
                    <a:solidFill>
                      <a:schemeClr val="tx1">
                        <a:tint val="75000"/>
                      </a:schemeClr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 algn="l" defTabSz="914400" rtl="0" eaLnBrk="1" latinLnBrk="0" hangingPunct="1">
                  <a:lnSpc>
                    <a:spcPct val="90000"/>
                  </a:lnSpc>
                  <a:spcBef>
                    <a:spcPts val="400"/>
                  </a:spcBef>
                  <a:spcAft>
                    <a:spcPts val="200"/>
                  </a:spcAft>
                  <a:buClr>
                    <a:schemeClr val="accent1">
                      <a:lumMod val="75000"/>
                    </a:schemeClr>
                  </a:buClr>
                  <a:buSzPct val="85000"/>
                  <a:buFont typeface="Wingdings" pitchFamily="2" charset="2"/>
                  <a:buNone/>
                  <a:defRPr sz="1400" kern="1200">
                    <a:solidFill>
                      <a:schemeClr val="tx1">
                        <a:tint val="75000"/>
                      </a:schemeClr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 algn="l" defTabSz="914400" rtl="0" eaLnBrk="1" latinLnBrk="0" hangingPunct="1">
                  <a:lnSpc>
                    <a:spcPct val="90000"/>
                  </a:lnSpc>
                  <a:spcBef>
                    <a:spcPts val="400"/>
                  </a:spcBef>
                  <a:spcAft>
                    <a:spcPts val="200"/>
                  </a:spcAft>
                  <a:buClr>
                    <a:schemeClr val="accent1">
                      <a:lumMod val="75000"/>
                    </a:schemeClr>
                  </a:buClr>
                  <a:buSzPct val="85000"/>
                  <a:buFont typeface="Wingdings" pitchFamily="2" charset="2"/>
                  <a:buNone/>
                  <a:defRPr sz="1400" kern="1200">
                    <a:solidFill>
                      <a:schemeClr val="tx1">
                        <a:tint val="75000"/>
                      </a:schemeClr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 algn="l" defTabSz="914400" rtl="0" eaLnBrk="1" latinLnBrk="0" hangingPunct="1">
                  <a:lnSpc>
                    <a:spcPct val="90000"/>
                  </a:lnSpc>
                  <a:spcBef>
                    <a:spcPts val="400"/>
                  </a:spcBef>
                  <a:spcAft>
                    <a:spcPts val="200"/>
                  </a:spcAft>
                  <a:buClr>
                    <a:schemeClr val="accent1">
                      <a:lumMod val="75000"/>
                    </a:schemeClr>
                  </a:buClr>
                  <a:buSzPct val="85000"/>
                  <a:buFont typeface="Wingdings" pitchFamily="2" charset="2"/>
                  <a:buNone/>
                  <a:defRPr sz="1400" kern="1200">
                    <a:solidFill>
                      <a:schemeClr val="tx1">
                        <a:tint val="75000"/>
                      </a:schemeClr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 algn="l" defTabSz="914400" rtl="0" eaLnBrk="1" latinLnBrk="0" hangingPunct="1">
                  <a:lnSpc>
                    <a:spcPct val="90000"/>
                  </a:lnSpc>
                  <a:spcBef>
                    <a:spcPts val="400"/>
                  </a:spcBef>
                  <a:spcAft>
                    <a:spcPts val="200"/>
                  </a:spcAft>
                  <a:buClr>
                    <a:schemeClr val="accent1">
                      <a:lumMod val="75000"/>
                    </a:schemeClr>
                  </a:buClr>
                  <a:buSzPct val="85000"/>
                  <a:buFont typeface="Wingdings" pitchFamily="2" charset="2"/>
                  <a:buNone/>
                  <a:defRPr sz="1400" kern="1200">
                    <a:solidFill>
                      <a:schemeClr val="tx1">
                        <a:tint val="75000"/>
                      </a:schemeClr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 algn="l" defTabSz="914400" rtl="0" eaLnBrk="1" latinLnBrk="0" hangingPunct="1">
                  <a:lnSpc>
                    <a:spcPct val="90000"/>
                  </a:lnSpc>
                  <a:spcBef>
                    <a:spcPts val="400"/>
                  </a:spcBef>
                  <a:spcAft>
                    <a:spcPts val="200"/>
                  </a:spcAft>
                  <a:buClr>
                    <a:schemeClr val="accent1">
                      <a:lumMod val="75000"/>
                    </a:schemeClr>
                  </a:buClr>
                  <a:buSzPct val="85000"/>
                  <a:buFont typeface="Wingdings" pitchFamily="2" charset="2"/>
                  <a:buNone/>
                  <a:defRPr sz="1400" kern="1200">
                    <a:solidFill>
                      <a:schemeClr val="tx1">
                        <a:tint val="75000"/>
                      </a:schemeClr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914400" indent="-457200" algn="just">
                  <a:lnSpc>
                    <a:spcPct val="150000"/>
                  </a:lnSpc>
                  <a:spcBef>
                    <a:spcPts val="0"/>
                  </a:spcBef>
                  <a:buFont typeface="+mj-lt"/>
                  <a:buAutoNum type="arabicPeriod" startAt="3"/>
                </a:pPr>
                <a:r>
                  <a:rPr lang="bg-BG" sz="24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Намираме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bg-BG" sz="2400" i="1">
                            <a:latin typeface="Cambria Math"/>
                          </a:rPr>
                        </m:ctrlPr>
                      </m:acc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  <m:r>
                      <m:rPr>
                        <m:sty m:val="p"/>
                      </m:rPr>
                      <a:rPr lang="en-US" sz="2400" b="0" i="0" baseline="-25000" smtClean="0">
                        <a:latin typeface="Cambria Math" panose="02040503050406030204" pitchFamily="18" charset="0"/>
                      </a:rPr>
                      <m:t>i</m:t>
                    </m:r>
                  </m:oMath>
                </a14:m>
                <a:r>
                  <a:rPr lang="en-US" sz="2400" baseline="-50000" dirty="0"/>
                  <a:t>0</a:t>
                </a:r>
                <a:r>
                  <a:rPr lang="en-US" sz="2400" baseline="-25000" dirty="0"/>
                  <a:t>j</a:t>
                </a:r>
                <a:r>
                  <a:rPr lang="en-US" sz="2400" baseline="-50000" dirty="0"/>
                  <a:t>0</a:t>
                </a:r>
                <a:r>
                  <a:rPr lang="en-US" sz="2400" dirty="0"/>
                  <a:t>= min{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bg-BG" sz="2400" i="1">
                            <a:latin typeface="Cambria Math"/>
                          </a:rPr>
                        </m:ctrlPr>
                      </m:accPr>
                      <m:e>
                        <m:r>
                          <a:rPr lang="en-US" sz="240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</m:oMath>
                </a14:m>
                <a:r>
                  <a:rPr lang="en-US" sz="2400" baseline="-25000" dirty="0"/>
                  <a:t>ij </a:t>
                </a:r>
                <a:r>
                  <a:rPr lang="en-US" sz="2400" dirty="0"/>
                  <a:t>: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bg-BG" sz="2400" i="1">
                            <a:latin typeface="Cambria Math"/>
                          </a:rPr>
                        </m:ctrlPr>
                      </m:accPr>
                      <m:e>
                        <m:r>
                          <a:rPr lang="en-US" sz="240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</m:oMath>
                </a14:m>
                <a:r>
                  <a:rPr lang="en-US" sz="2400" baseline="-25000" dirty="0"/>
                  <a:t>ij</a:t>
                </a:r>
                <a:r>
                  <a:rPr lang="en-US" sz="2400" dirty="0"/>
                  <a:t>&lt;0}. </a:t>
                </a:r>
                <a:r>
                  <a:rPr lang="bg-BG" sz="2400" dirty="0"/>
                  <a:t>Построяваме новo базисно допустимо решение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ru-RU" sz="2400" i="1">
                            <a:latin typeface="Cambria Math"/>
                          </a:rPr>
                        </m:ctrlPr>
                      </m:accPr>
                      <m:e>
                        <m:r>
                          <a:rPr lang="en-US" sz="240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  <m:r>
                      <a:rPr lang="en-US" sz="2400" b="0" i="0" baseline="30000" smtClean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bg-BG" sz="2400" dirty="0"/>
                  <a:t> с помощта на цикъла, свързващ клетка </a:t>
                </a:r>
                <a:r>
                  <a:rPr lang="ru-RU" sz="2400" dirty="0"/>
                  <a:t>(</a:t>
                </a:r>
                <a:r>
                  <a:rPr lang="en-US" sz="2400" dirty="0"/>
                  <a:t>i</a:t>
                </a:r>
                <a:r>
                  <a:rPr lang="bg-BG" sz="2400" baseline="-25000" dirty="0"/>
                  <a:t>0</a:t>
                </a:r>
                <a:r>
                  <a:rPr lang="en-US" sz="2400" dirty="0"/>
                  <a:t>,</a:t>
                </a:r>
                <a:r>
                  <a:rPr lang="bg-BG" sz="2400" dirty="0"/>
                  <a:t> </a:t>
                </a:r>
                <a:r>
                  <a:rPr lang="en-US" sz="2400" dirty="0"/>
                  <a:t>j</a:t>
                </a:r>
                <a:r>
                  <a:rPr lang="bg-BG" sz="2400" baseline="-25000" dirty="0"/>
                  <a:t>0</a:t>
                </a:r>
                <a:r>
                  <a:rPr lang="en-US" sz="2400" dirty="0"/>
                  <a:t>)</a:t>
                </a:r>
                <a:r>
                  <a:rPr lang="bg-BG" sz="2400" dirty="0"/>
                  <a:t> с базисните клетки на базисното допустимо решение. Преминаваме към точка 2, но</a:t>
                </a:r>
                <a:r>
                  <a:rPr lang="en-US" sz="2400" dirty="0"/>
                  <a:t> </a:t>
                </a:r>
                <a:r>
                  <a:rPr lang="bg-BG" sz="2400" dirty="0"/>
                  <a:t>вместо с</a:t>
                </a:r>
                <a14:m>
                  <m:oMath xmlns:m="http://schemas.openxmlformats.org/officeDocument/2006/math">
                    <m:r>
                      <a:rPr lang="bg-BG" sz="2400" b="0" i="0" smtClean="0">
                        <a:latin typeface="Cambria Math" panose="02040503050406030204" pitchFamily="18" charset="0"/>
                      </a:rPr>
                      <m:t> </m:t>
                    </m:r>
                    <m:acc>
                      <m:accPr>
                        <m:chr m:val="̅"/>
                        <m:ctrlPr>
                          <a:rPr lang="bg-BG" sz="2400" b="0" i="1" smtClean="0">
                            <a:latin typeface="Cambria Math"/>
                          </a:rPr>
                        </m:ctrlPr>
                      </m:acc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</m:oMath>
                </a14:m>
                <a:r>
                  <a:rPr lang="en-US" sz="2400" dirty="0"/>
                  <a:t> </a:t>
                </a:r>
                <a:r>
                  <a:rPr lang="bg-BG" sz="2400" dirty="0"/>
                  <a:t>заместваме с нов б</a:t>
                </a:r>
                <a14:m>
                  <m:oMath xmlns:m="http://schemas.openxmlformats.org/officeDocument/2006/math">
                    <m:r>
                      <a:rPr lang="bg-BG" sz="2400" b="0" i="0" smtClean="0">
                        <a:latin typeface="Cambria Math" panose="02040503050406030204" pitchFamily="18" charset="0"/>
                      </a:rPr>
                      <m:t>др </m:t>
                    </m:r>
                    <m:acc>
                      <m:accPr>
                        <m:chr m:val="̅"/>
                        <m:ctrlPr>
                          <a:rPr lang="ru-RU" sz="2400" i="1">
                            <a:latin typeface="Cambria Math"/>
                          </a:rPr>
                        </m:ctrlPr>
                      </m:acc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  <m:r>
                      <a:rPr lang="en-US" sz="2400" baseline="3000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ru-RU" sz="2400" dirty="0"/>
                  <a:t>.</a:t>
                </a:r>
              </a:p>
              <a:p>
                <a:pPr marL="457200" algn="just">
                  <a:lnSpc>
                    <a:spcPct val="150000"/>
                  </a:lnSpc>
                  <a:spcBef>
                    <a:spcPts val="0"/>
                  </a:spcBef>
                </a:pPr>
                <a:endParaRPr lang="bg-BG" altLang="bg-BG" sz="2400" baseline="-25000" dirty="0">
                  <a:sym typeface="Symbol" panose="05050102010706020507" pitchFamily="18" charset="2"/>
                </a:endParaRPr>
              </a:p>
              <a:p>
                <a:pPr marL="457200" algn="just">
                  <a:lnSpc>
                    <a:spcPct val="150000"/>
                  </a:lnSpc>
                  <a:spcBef>
                    <a:spcPts val="0"/>
                  </a:spcBef>
                </a:pPr>
                <a:r>
                  <a:rPr lang="bg-BG" sz="2400" b="1" i="1" dirty="0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Критерий за оптималност </a:t>
                </a:r>
                <a:r>
                  <a:rPr lang="bg-BG" sz="24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– Базисното допустимо решени е оптимално тогава и само тогава, когато относителните оценки на празните клетки са по-големи или равни на нула. Ако съществува една или повече отрицателни относителни оценки, планът не е оптимален и може да бъде подобрен. </a:t>
                </a:r>
              </a:p>
              <a:p>
                <a:pPr marL="457200" algn="just">
                  <a:lnSpc>
                    <a:spcPct val="150000"/>
                  </a:lnSpc>
                  <a:spcBef>
                    <a:spcPts val="0"/>
                  </a:spcBef>
                </a:pPr>
                <a:endParaRPr lang="en-US" sz="2400" dirty="0">
                  <a:solidFill>
                    <a:schemeClr val="tx1">
                      <a:lumMod val="95000"/>
                      <a:lumOff val="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5" name="Content Placeholder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16738" y="603849"/>
                <a:ext cx="10496883" cy="6124755"/>
              </a:xfrm>
              <a:prstGeom prst="rect">
                <a:avLst/>
              </a:prstGeom>
              <a:blipFill>
                <a:blip r:embed="rId2"/>
                <a:stretch>
                  <a:fillRect r="-929"/>
                </a:stretch>
              </a:blipFill>
            </p:spPr>
            <p:txBody>
              <a:bodyPr/>
              <a:lstStyle/>
              <a:p>
                <a:r>
                  <a:rPr lang="bg-BG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7044636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36370" y="1913587"/>
            <a:ext cx="8541803" cy="2963214"/>
          </a:xfrm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  <a:defRPr/>
            </a:pPr>
            <a:endParaRPr lang="bg-BG" altLang="bg-BG" sz="2400" dirty="0"/>
          </a:p>
          <a:p>
            <a:pPr algn="just"/>
            <a:endParaRPr lang="bg-BG" sz="2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1674E5-CD74-4638-A238-012A517DC16A}" type="slidenum">
              <a:rPr lang="bg-BG" smtClean="0"/>
              <a:t>25</a:t>
            </a:fld>
            <a:endParaRPr lang="bg-BG" dirty="0"/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1558829" y="0"/>
            <a:ext cx="10496883" cy="5053325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algn="just">
              <a:lnSpc>
                <a:spcPct val="150000"/>
              </a:lnSpc>
              <a:spcBef>
                <a:spcPts val="0"/>
              </a:spcBef>
            </a:pPr>
            <a:r>
              <a:rPr lang="bg-BG" b="1" i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Изчисляване на относителна оценка</a:t>
            </a:r>
          </a:p>
          <a:p>
            <a:pPr marL="457200" algn="just">
              <a:lnSpc>
                <a:spcPct val="150000"/>
              </a:lnSpc>
              <a:spcBef>
                <a:spcPts val="0"/>
              </a:spcBef>
            </a:pPr>
            <a:endParaRPr lang="en-US" sz="24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7964" y="526535"/>
            <a:ext cx="9954035" cy="5053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439248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156" y="595865"/>
            <a:ext cx="5718130" cy="3584249"/>
          </a:xfrm>
          <a:prstGeom prst="rect">
            <a:avLst/>
          </a:prstGeom>
        </p:spPr>
      </p:pic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96F670-2033-414C-8E6B-3DB4A3EC2EBC}" type="slidenum">
              <a:rPr lang="bg-BG" smtClean="0"/>
              <a:t>26</a:t>
            </a:fld>
            <a:endParaRPr lang="bg-BG" dirty="0"/>
          </a:p>
        </p:txBody>
      </p:sp>
      <p:sp>
        <p:nvSpPr>
          <p:cNvPr id="7" name="Rectangle 6"/>
          <p:cNvSpPr/>
          <p:nvPr/>
        </p:nvSpPr>
        <p:spPr>
          <a:xfrm>
            <a:off x="1191289" y="0"/>
            <a:ext cx="9898321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57200" algn="ctr"/>
            <a:r>
              <a:rPr lang="ru-RU" sz="2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Проверка за оптималност</a:t>
            </a:r>
            <a:r>
              <a:rPr lang="ru-RU" sz="2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на </a:t>
            </a:r>
            <a:r>
              <a:rPr lang="bg-BG" sz="2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П</a:t>
            </a:r>
            <a:r>
              <a:rPr lang="ru-RU" sz="2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лан1 (Пример</a:t>
            </a:r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1</a:t>
            </a:r>
            <a:r>
              <a:rPr lang="ru-RU" sz="2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от Тема 2)</a:t>
            </a:r>
          </a:p>
          <a:p>
            <a:pPr indent="457200" algn="ctr"/>
            <a:r>
              <a:rPr lang="ru-RU" sz="2400" b="1" i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Разпределителен метод</a:t>
            </a:r>
            <a:endParaRPr lang="bg-BG" sz="2400" b="1" i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2625" y="865160"/>
            <a:ext cx="6429375" cy="2705100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9634" y="4180114"/>
            <a:ext cx="6226356" cy="2677886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17208" y="3400425"/>
            <a:ext cx="5334000" cy="3457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836317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36370" y="1913587"/>
            <a:ext cx="8541803" cy="2963214"/>
          </a:xfrm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  <a:defRPr/>
            </a:pPr>
            <a:endParaRPr lang="bg-BG" altLang="bg-BG" sz="2400" dirty="0"/>
          </a:p>
          <a:p>
            <a:pPr algn="just"/>
            <a:endParaRPr lang="bg-BG" sz="2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1674E5-CD74-4638-A238-012A517DC16A}" type="slidenum">
              <a:rPr lang="bg-BG" smtClean="0"/>
              <a:t>27</a:t>
            </a:fld>
            <a:endParaRPr lang="bg-BG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104" y="171941"/>
            <a:ext cx="7236823" cy="4451774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7943" y="3226465"/>
            <a:ext cx="7285427" cy="36315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927692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36370" y="1913587"/>
            <a:ext cx="8541803" cy="2963214"/>
          </a:xfrm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  <a:defRPr/>
            </a:pPr>
            <a:endParaRPr lang="bg-BG" altLang="bg-BG" sz="2400" dirty="0"/>
          </a:p>
          <a:p>
            <a:pPr algn="just"/>
            <a:endParaRPr lang="bg-BG" sz="2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1674E5-CD74-4638-A238-012A517DC16A}" type="slidenum">
              <a:rPr lang="bg-BG" smtClean="0"/>
              <a:t>28</a:t>
            </a:fld>
            <a:endParaRPr lang="bg-BG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28307" y="223369"/>
            <a:ext cx="7354389" cy="4653432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463317"/>
            <a:ext cx="4833043" cy="142070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35027"/>
            <a:ext cx="4328673" cy="45630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186425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36370" y="1913587"/>
            <a:ext cx="8541803" cy="2963214"/>
          </a:xfrm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  <a:defRPr/>
            </a:pPr>
            <a:endParaRPr lang="bg-BG" altLang="bg-BG" sz="2400" dirty="0"/>
          </a:p>
          <a:p>
            <a:pPr algn="just"/>
            <a:endParaRPr lang="bg-BG" sz="2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1674E5-CD74-4638-A238-012A517DC16A}" type="slidenum">
              <a:rPr lang="bg-BG" smtClean="0"/>
              <a:t>29</a:t>
            </a:fld>
            <a:endParaRPr lang="bg-BG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021" y="-1"/>
            <a:ext cx="4419601" cy="3788229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952876"/>
            <a:ext cx="6296297" cy="1442084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7119" y="77378"/>
            <a:ext cx="5041719" cy="3372335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46794" y="3226465"/>
            <a:ext cx="4878978" cy="1206969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5357359"/>
            <a:ext cx="7001691" cy="83232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191794" y="4876801"/>
            <a:ext cx="6000206" cy="51815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bg-BG" dirty="0"/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01690" y="4611190"/>
            <a:ext cx="5190309" cy="15632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650856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Wood Type">
  <a:themeElements>
    <a:clrScheme name="Wood Type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Wood Type">
      <a:majorFont>
        <a:latin typeface="Rockwell Condensed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微軟正黑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Rockwell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標楷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Wood Type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70000"/>
                <a:shade val="63000"/>
              </a:schemeClr>
              <a:schemeClr val="phClr">
                <a:tint val="10000"/>
                <a:satMod val="150000"/>
              </a:schemeClr>
            </a:duotone>
          </a:blip>
          <a:tile tx="0" ty="0" sx="60000" sy="59000" flip="none" algn="tl"/>
        </a:blipFill>
        <a:blipFill rotWithShape="1">
          <a:blip xmlns:r="http://schemas.openxmlformats.org/officeDocument/2006/relationships" r:embed="rId1">
            <a:duotone>
              <a:schemeClr val="phClr">
                <a:shade val="36000"/>
                <a:satMod val="120000"/>
              </a:schemeClr>
              <a:schemeClr val="phClr">
                <a:tint val="40000"/>
              </a:schemeClr>
            </a:duotone>
          </a:blip>
          <a:tile tx="0" ty="0" sx="60000" sy="59000" flip="none" algn="tl"/>
        </a:blip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softEdge rad="12700"/>
          </a:effectLst>
        </a:effectStyle>
        <a:effectStyle>
          <a:effectLst>
            <a:outerShdw blurRad="50800" dist="19050" dir="5400000" algn="tl" rotWithShape="0">
              <a:srgbClr val="000000">
                <a:alpha val="60000"/>
              </a:srgbClr>
            </a:outerShdw>
            <a:softEdge rad="12700"/>
          </a:effectLst>
        </a:effectStyle>
      </a:effectStyleLst>
      <a:bgFillStyleLst>
        <a:solidFill>
          <a:schemeClr val="phClr"/>
        </a:solidFill>
        <a:solidFill>
          <a:schemeClr val="phClr">
            <a:shade val="97000"/>
            <a:satMod val="15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75000"/>
                <a:shade val="58000"/>
                <a:satMod val="120000"/>
              </a:schemeClr>
              <a:schemeClr val="phClr">
                <a:tint val="50000"/>
                <a:shade val="96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Wood Type" id="{7ACABC62-BF99-48CF-A9DC-4DB89C7B13DC}" vid="{142A1326-48AB-42A9-8428-CB14AA30176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Документ" ma:contentTypeID="0x010100452FE0A421B3E24B9DDFC266E10EBE04" ma:contentTypeVersion="3" ma:contentTypeDescription="Създаване на нов документ" ma:contentTypeScope="" ma:versionID="f38fa733cd6769631e002a4dea7fc2ba">
  <xsd:schema xmlns:xsd="http://www.w3.org/2001/XMLSchema" xmlns:xs="http://www.w3.org/2001/XMLSchema" xmlns:p="http://schemas.microsoft.com/office/2006/metadata/properties" xmlns:ns2="410f8adb-773f-4384-aa9e-8e184e0fd10d" targetNamespace="http://schemas.microsoft.com/office/2006/metadata/properties" ma:root="true" ma:fieldsID="91cf59770634e4cf72f9d8d766704a06" ns2:_="">
    <xsd:import namespace="410f8adb-773f-4384-aa9e-8e184e0fd10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10f8adb-773f-4384-aa9e-8e184e0fd10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Тип съдържание"/>
        <xsd:element ref="dc:title" minOccurs="0" maxOccurs="1" ma:index="4" ma:displayName="Заглавие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FC50407F-FD34-4812-B6BA-05C05B074C8C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F39ECDAF-7DCA-43BA-8ED8-46DEA269D2E1}"/>
</file>

<file path=customXml/itemProps3.xml><?xml version="1.0" encoding="utf-8"?>
<ds:datastoreItem xmlns:ds="http://schemas.openxmlformats.org/officeDocument/2006/customXml" ds:itemID="{A42F0AF8-4579-4BF6-B80B-5F97DE0F9DFD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Wood Type</Template>
  <TotalTime>5711</TotalTime>
  <Words>2238</Words>
  <Application>Microsoft Office PowerPoint</Application>
  <PresentationFormat>Custom</PresentationFormat>
  <Paragraphs>292</Paragraphs>
  <Slides>29</Slides>
  <Notes>15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0" baseType="lpstr">
      <vt:lpstr>Wood Type</vt:lpstr>
      <vt:lpstr>Транспортна задача. Метод на потенциали. разпределителен метод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Organization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СИСТЕМЕН АНАЛИЗ</dc:title>
  <dc:creator>Windows User</dc:creator>
  <cp:lastModifiedBy>teacher</cp:lastModifiedBy>
  <cp:revision>165</cp:revision>
  <cp:lastPrinted>2022-10-12T07:31:50Z</cp:lastPrinted>
  <dcterms:created xsi:type="dcterms:W3CDTF">2022-08-03T05:13:19Z</dcterms:created>
  <dcterms:modified xsi:type="dcterms:W3CDTF">2023-10-23T06:18:23Z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0x010100452FE0A421B3E24B9DDFC266E10EBE04</vt:lpwstr>
  </property>
</Properties>
</file>
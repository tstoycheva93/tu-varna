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4"/>
  </p:sldMasterIdLst>
  <p:notesMasterIdLst>
    <p:notesMasterId r:id="rId34"/>
  </p:notesMasterIdLst>
  <p:handoutMasterIdLst>
    <p:handoutMasterId r:id="rId35"/>
  </p:handoutMasterIdLst>
  <p:sldIdLst>
    <p:sldId id="256" r:id="rId5"/>
    <p:sldId id="258" r:id="rId6"/>
    <p:sldId id="374" r:id="rId7"/>
    <p:sldId id="259" r:id="rId8"/>
    <p:sldId id="311" r:id="rId9"/>
    <p:sldId id="261" r:id="rId10"/>
    <p:sldId id="263" r:id="rId11"/>
    <p:sldId id="264" r:id="rId12"/>
    <p:sldId id="265" r:id="rId13"/>
    <p:sldId id="266" r:id="rId14"/>
    <p:sldId id="267" r:id="rId15"/>
    <p:sldId id="268" r:id="rId16"/>
    <p:sldId id="296"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Lst>
  <p:sldSz cx="12192000" cy="6858000"/>
  <p:notesSz cx="6761163" cy="9942513"/>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5D901-5627-4863-B179-9AED01891D2A}" v="16" dt="2023-05-19T09:31:12.8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332" autoAdjust="0"/>
  </p:normalViewPr>
  <p:slideViewPr>
    <p:cSldViewPr snapToGrid="0">
      <p:cViewPr varScale="1">
        <p:scale>
          <a:sx n="78" d="100"/>
          <a:sy n="78" d="100"/>
        </p:scale>
        <p:origin x="43"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9.xml" Id="rId13" /><Relationship Type="http://schemas.openxmlformats.org/officeDocument/2006/relationships/slide" Target="slides/slide14.xml" Id="rId18" /><Relationship Type="http://schemas.openxmlformats.org/officeDocument/2006/relationships/slide" Target="slides/slide22.xml" Id="rId26" /><Relationship Type="http://schemas.openxmlformats.org/officeDocument/2006/relationships/tableStyles" Target="tableStyles.xml" Id="rId39" /><Relationship Type="http://schemas.openxmlformats.org/officeDocument/2006/relationships/slide" Target="slides/slide17.xml" Id="rId21" /><Relationship Type="http://schemas.openxmlformats.org/officeDocument/2006/relationships/notesMaster" Target="notesMasters/notesMaster1.xml" Id="rId34" /><Relationship Type="http://schemas.openxmlformats.org/officeDocument/2006/relationships/slide" Target="slides/slide3.xml" Id="rId7" /><Relationship Type="http://schemas.openxmlformats.org/officeDocument/2006/relationships/customXml" Target="../customXml/item2.xml" Id="rId2" /><Relationship Type="http://schemas.openxmlformats.org/officeDocument/2006/relationships/slide" Target="slides/slide12.xml" Id="rId16" /><Relationship Type="http://schemas.openxmlformats.org/officeDocument/2006/relationships/slide" Target="slides/slide16.xml" Id="rId20" /><Relationship Type="http://schemas.openxmlformats.org/officeDocument/2006/relationships/slide" Target="slides/slide25.xml" Id="rId29" /><Relationship Type="http://schemas.microsoft.com/office/2015/10/relationships/revisionInfo" Target="revisionInfo.xml" Id="rId41" /><Relationship Type="http://schemas.openxmlformats.org/officeDocument/2006/relationships/customXml" Target="../customXml/item1.xml" Id="rId1" /><Relationship Type="http://schemas.openxmlformats.org/officeDocument/2006/relationships/slide" Target="slides/slide2.xml" Id="rId6" /><Relationship Type="http://schemas.openxmlformats.org/officeDocument/2006/relationships/slide" Target="slides/slide7.xml" Id="rId11" /><Relationship Type="http://schemas.openxmlformats.org/officeDocument/2006/relationships/slide" Target="slides/slide20.xml" Id="rId24" /><Relationship Type="http://schemas.openxmlformats.org/officeDocument/2006/relationships/slide" Target="slides/slide28.xml" Id="rId32" /><Relationship Type="http://schemas.openxmlformats.org/officeDocument/2006/relationships/viewProps" Target="viewProps.xml" Id="rId37" /><Relationship Type="http://schemas.openxmlformats.org/officeDocument/2006/relationships/slide" Target="slides/slide1.xml" Id="rId5" /><Relationship Type="http://schemas.openxmlformats.org/officeDocument/2006/relationships/slide" Target="slides/slide11.xml" Id="rId15" /><Relationship Type="http://schemas.openxmlformats.org/officeDocument/2006/relationships/slide" Target="slides/slide19.xml" Id="rId23" /><Relationship Type="http://schemas.openxmlformats.org/officeDocument/2006/relationships/slide" Target="slides/slide24.xml" Id="rId28" /><Relationship Type="http://schemas.openxmlformats.org/officeDocument/2006/relationships/presProps" Target="presProps.xml" Id="rId36" /><Relationship Type="http://schemas.openxmlformats.org/officeDocument/2006/relationships/slide" Target="slides/slide6.xml" Id="rId10" /><Relationship Type="http://schemas.openxmlformats.org/officeDocument/2006/relationships/slide" Target="slides/slide15.xml" Id="rId19" /><Relationship Type="http://schemas.openxmlformats.org/officeDocument/2006/relationships/slide" Target="slides/slide27.xml" Id="rId31"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10.xml" Id="rId14" /><Relationship Type="http://schemas.openxmlformats.org/officeDocument/2006/relationships/slide" Target="slides/slide18.xml" Id="rId22" /><Relationship Type="http://schemas.openxmlformats.org/officeDocument/2006/relationships/slide" Target="slides/slide23.xml" Id="rId27" /><Relationship Type="http://schemas.openxmlformats.org/officeDocument/2006/relationships/slide" Target="slides/slide26.xml" Id="rId30" /><Relationship Type="http://schemas.openxmlformats.org/officeDocument/2006/relationships/handoutMaster" Target="handoutMasters/handoutMaster1.xml" Id="rId35" /><Relationship Type="http://schemas.openxmlformats.org/officeDocument/2006/relationships/slide" Target="slides/slide4.xml" Id="rId8" /><Relationship Type="http://schemas.openxmlformats.org/officeDocument/2006/relationships/customXml" Target="../customXml/item3.xml" Id="rId3" /><Relationship Type="http://schemas.openxmlformats.org/officeDocument/2006/relationships/slide" Target="slides/slide8.xml" Id="rId12" /><Relationship Type="http://schemas.openxmlformats.org/officeDocument/2006/relationships/slide" Target="slides/slide13.xml" Id="rId17" /><Relationship Type="http://schemas.openxmlformats.org/officeDocument/2006/relationships/slide" Target="slides/slide21.xml" Id="rId25" /><Relationship Type="http://schemas.openxmlformats.org/officeDocument/2006/relationships/slide" Target="slides/slide29.xml" Id="rId33" /><Relationship Type="http://schemas.openxmlformats.org/officeDocument/2006/relationships/theme" Target="theme/theme1.xml" Id="rId38"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829762" y="0"/>
            <a:ext cx="2929837" cy="498853"/>
          </a:xfrm>
          <a:prstGeom prst="rect">
            <a:avLst/>
          </a:prstGeom>
        </p:spPr>
        <p:txBody>
          <a:bodyPr vert="horz" lIns="92930" tIns="46465" rIns="92930" bIns="46465" rtlCol="0"/>
          <a:lstStyle>
            <a:lvl1pPr algn="r">
              <a:defRPr sz="1200"/>
            </a:lvl1pPr>
          </a:lstStyle>
          <a:p>
            <a:fld id="{62DAF501-497E-4319-B484-C5A85BB3EFD3}" type="datetimeFigureOut">
              <a:rPr lang="bg-BG" smtClean="0"/>
              <a:t>19.5.2023 г.</a:t>
            </a:fld>
            <a:endParaRPr lang="bg-BG" dirty="0"/>
          </a:p>
        </p:txBody>
      </p:sp>
      <p:sp>
        <p:nvSpPr>
          <p:cNvPr id="4" name="Footer Placeholder 3"/>
          <p:cNvSpPr>
            <a:spLocks noGrp="1"/>
          </p:cNvSpPr>
          <p:nvPr>
            <p:ph type="ftr" sz="quarter" idx="2"/>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829762" y="9443663"/>
            <a:ext cx="2929837" cy="498852"/>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829762" y="0"/>
            <a:ext cx="2929837" cy="498853"/>
          </a:xfrm>
          <a:prstGeom prst="rect">
            <a:avLst/>
          </a:prstGeom>
        </p:spPr>
        <p:txBody>
          <a:bodyPr vert="horz" lIns="92930" tIns="46465" rIns="92930" bIns="46465" rtlCol="0"/>
          <a:lstStyle>
            <a:lvl1pPr algn="r">
              <a:defRPr sz="1200"/>
            </a:lvl1pPr>
          </a:lstStyle>
          <a:p>
            <a:fld id="{72A934B3-15CF-49D7-9C90-2FBDF446DA56}" type="datetimeFigureOut">
              <a:rPr lang="bg-BG" smtClean="0"/>
              <a:t>19.5.2023 г.</a:t>
            </a:fld>
            <a:endParaRPr lang="bg-BG"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76117" y="4784834"/>
            <a:ext cx="5408930" cy="3914864"/>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829762" y="9443663"/>
            <a:ext cx="2929837" cy="498852"/>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a:t>
            </a:fld>
            <a:endParaRPr lang="bg-BG" dirty="0"/>
          </a:p>
        </p:txBody>
      </p:sp>
    </p:spTree>
    <p:extLst>
      <p:ext uri="{BB962C8B-B14F-4D97-AF65-F5344CB8AC3E}">
        <p14:creationId xmlns:p14="http://schemas.microsoft.com/office/powerpoint/2010/main" val="1861992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a:t>
            </a:fld>
            <a:endParaRPr lang="bg-BG" dirty="0"/>
          </a:p>
        </p:txBody>
      </p:sp>
    </p:spTree>
    <p:extLst>
      <p:ext uri="{BB962C8B-B14F-4D97-AF65-F5344CB8AC3E}">
        <p14:creationId xmlns:p14="http://schemas.microsoft.com/office/powerpoint/2010/main" val="665832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a:t>
            </a:fld>
            <a:endParaRPr lang="bg-BG" dirty="0"/>
          </a:p>
        </p:txBody>
      </p:sp>
    </p:spTree>
    <p:extLst>
      <p:ext uri="{BB962C8B-B14F-4D97-AF65-F5344CB8AC3E}">
        <p14:creationId xmlns:p14="http://schemas.microsoft.com/office/powerpoint/2010/main" val="2915215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7</a:t>
            </a:fld>
            <a:endParaRPr lang="bg-BG" dirty="0"/>
          </a:p>
        </p:txBody>
      </p:sp>
    </p:spTree>
    <p:extLst>
      <p:ext uri="{BB962C8B-B14F-4D97-AF65-F5344CB8AC3E}">
        <p14:creationId xmlns:p14="http://schemas.microsoft.com/office/powerpoint/2010/main" val="1110823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8</a:t>
            </a:fld>
            <a:endParaRPr lang="bg-BG" dirty="0"/>
          </a:p>
        </p:txBody>
      </p:sp>
    </p:spTree>
    <p:extLst>
      <p:ext uri="{BB962C8B-B14F-4D97-AF65-F5344CB8AC3E}">
        <p14:creationId xmlns:p14="http://schemas.microsoft.com/office/powerpoint/2010/main" val="2217178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defRPr/>
            </a:pPr>
            <a:endParaRPr lang="bg-BG" altLang="bg-BG" sz="1200" dirty="0"/>
          </a:p>
        </p:txBody>
      </p:sp>
      <p:sp>
        <p:nvSpPr>
          <p:cNvPr id="4" name="Slide Number Placeholder 3"/>
          <p:cNvSpPr>
            <a:spLocks noGrp="1"/>
          </p:cNvSpPr>
          <p:nvPr>
            <p:ph type="sldNum" sz="quarter" idx="10"/>
          </p:nvPr>
        </p:nvSpPr>
        <p:spPr/>
        <p:txBody>
          <a:bodyPr/>
          <a:lstStyle/>
          <a:p>
            <a:fld id="{5617F9B7-5110-4225-A395-C002DCB96977}" type="slidenum">
              <a:rPr lang="bg-BG" smtClean="0"/>
              <a:t>9</a:t>
            </a:fld>
            <a:endParaRPr lang="bg-BG" dirty="0"/>
          </a:p>
        </p:txBody>
      </p:sp>
    </p:spTree>
    <p:extLst>
      <p:ext uri="{BB962C8B-B14F-4D97-AF65-F5344CB8AC3E}">
        <p14:creationId xmlns:p14="http://schemas.microsoft.com/office/powerpoint/2010/main" val="1806913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10</a:t>
            </a:fld>
            <a:endParaRPr lang="bg-BG" dirty="0"/>
          </a:p>
        </p:txBody>
      </p:sp>
    </p:spTree>
    <p:extLst>
      <p:ext uri="{BB962C8B-B14F-4D97-AF65-F5344CB8AC3E}">
        <p14:creationId xmlns:p14="http://schemas.microsoft.com/office/powerpoint/2010/main" val="3814579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11</a:t>
            </a:fld>
            <a:endParaRPr lang="bg-BG" dirty="0"/>
          </a:p>
        </p:txBody>
      </p:sp>
    </p:spTree>
    <p:extLst>
      <p:ext uri="{BB962C8B-B14F-4D97-AF65-F5344CB8AC3E}">
        <p14:creationId xmlns:p14="http://schemas.microsoft.com/office/powerpoint/2010/main" val="3194622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12</a:t>
            </a:fld>
            <a:endParaRPr lang="bg-BG" dirty="0"/>
          </a:p>
        </p:txBody>
      </p:sp>
    </p:spTree>
    <p:extLst>
      <p:ext uri="{BB962C8B-B14F-4D97-AF65-F5344CB8AC3E}">
        <p14:creationId xmlns:p14="http://schemas.microsoft.com/office/powerpoint/2010/main" val="2371731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13</a:t>
            </a:fld>
            <a:endParaRPr lang="bg-BG" dirty="0"/>
          </a:p>
        </p:txBody>
      </p:sp>
    </p:spTree>
    <p:extLst>
      <p:ext uri="{BB962C8B-B14F-4D97-AF65-F5344CB8AC3E}">
        <p14:creationId xmlns:p14="http://schemas.microsoft.com/office/powerpoint/2010/main" val="2344923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14</a:t>
            </a:fld>
            <a:endParaRPr lang="bg-BG" dirty="0"/>
          </a:p>
        </p:txBody>
      </p:sp>
    </p:spTree>
    <p:extLst>
      <p:ext uri="{BB962C8B-B14F-4D97-AF65-F5344CB8AC3E}">
        <p14:creationId xmlns:p14="http://schemas.microsoft.com/office/powerpoint/2010/main" val="1491962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15</a:t>
            </a:fld>
            <a:endParaRPr lang="bg-BG" dirty="0"/>
          </a:p>
        </p:txBody>
      </p:sp>
    </p:spTree>
    <p:extLst>
      <p:ext uri="{BB962C8B-B14F-4D97-AF65-F5344CB8AC3E}">
        <p14:creationId xmlns:p14="http://schemas.microsoft.com/office/powerpoint/2010/main" val="1133986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16</a:t>
            </a:fld>
            <a:endParaRPr lang="bg-BG" dirty="0"/>
          </a:p>
        </p:txBody>
      </p:sp>
    </p:spTree>
    <p:extLst>
      <p:ext uri="{BB962C8B-B14F-4D97-AF65-F5344CB8AC3E}">
        <p14:creationId xmlns:p14="http://schemas.microsoft.com/office/powerpoint/2010/main" val="655658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17</a:t>
            </a:fld>
            <a:endParaRPr lang="bg-BG" dirty="0"/>
          </a:p>
        </p:txBody>
      </p:sp>
    </p:spTree>
    <p:extLst>
      <p:ext uri="{BB962C8B-B14F-4D97-AF65-F5344CB8AC3E}">
        <p14:creationId xmlns:p14="http://schemas.microsoft.com/office/powerpoint/2010/main" val="940536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18</a:t>
            </a:fld>
            <a:endParaRPr lang="bg-BG" dirty="0"/>
          </a:p>
        </p:txBody>
      </p:sp>
    </p:spTree>
    <p:extLst>
      <p:ext uri="{BB962C8B-B14F-4D97-AF65-F5344CB8AC3E}">
        <p14:creationId xmlns:p14="http://schemas.microsoft.com/office/powerpoint/2010/main" val="1369074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19</a:t>
            </a:fld>
            <a:endParaRPr lang="bg-BG" dirty="0"/>
          </a:p>
        </p:txBody>
      </p:sp>
    </p:spTree>
    <p:extLst>
      <p:ext uri="{BB962C8B-B14F-4D97-AF65-F5344CB8AC3E}">
        <p14:creationId xmlns:p14="http://schemas.microsoft.com/office/powerpoint/2010/main" val="1574090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20</a:t>
            </a:fld>
            <a:endParaRPr lang="bg-BG" dirty="0"/>
          </a:p>
        </p:txBody>
      </p:sp>
    </p:spTree>
    <p:extLst>
      <p:ext uri="{BB962C8B-B14F-4D97-AF65-F5344CB8AC3E}">
        <p14:creationId xmlns:p14="http://schemas.microsoft.com/office/powerpoint/2010/main" val="421527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21</a:t>
            </a:fld>
            <a:endParaRPr lang="bg-BG" dirty="0"/>
          </a:p>
        </p:txBody>
      </p:sp>
    </p:spTree>
    <p:extLst>
      <p:ext uri="{BB962C8B-B14F-4D97-AF65-F5344CB8AC3E}">
        <p14:creationId xmlns:p14="http://schemas.microsoft.com/office/powerpoint/2010/main" val="3269684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22</a:t>
            </a:fld>
            <a:endParaRPr lang="bg-BG" dirty="0"/>
          </a:p>
        </p:txBody>
      </p:sp>
    </p:spTree>
    <p:extLst>
      <p:ext uri="{BB962C8B-B14F-4D97-AF65-F5344CB8AC3E}">
        <p14:creationId xmlns:p14="http://schemas.microsoft.com/office/powerpoint/2010/main" val="3604768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23</a:t>
            </a:fld>
            <a:endParaRPr lang="bg-BG" dirty="0"/>
          </a:p>
        </p:txBody>
      </p:sp>
    </p:spTree>
    <p:extLst>
      <p:ext uri="{BB962C8B-B14F-4D97-AF65-F5344CB8AC3E}">
        <p14:creationId xmlns:p14="http://schemas.microsoft.com/office/powerpoint/2010/main" val="699083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24</a:t>
            </a:fld>
            <a:endParaRPr lang="bg-BG" dirty="0"/>
          </a:p>
        </p:txBody>
      </p:sp>
    </p:spTree>
    <p:extLst>
      <p:ext uri="{BB962C8B-B14F-4D97-AF65-F5344CB8AC3E}">
        <p14:creationId xmlns:p14="http://schemas.microsoft.com/office/powerpoint/2010/main" val="2511196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25</a:t>
            </a:fld>
            <a:endParaRPr lang="bg-BG" dirty="0"/>
          </a:p>
        </p:txBody>
      </p:sp>
    </p:spTree>
    <p:extLst>
      <p:ext uri="{BB962C8B-B14F-4D97-AF65-F5344CB8AC3E}">
        <p14:creationId xmlns:p14="http://schemas.microsoft.com/office/powerpoint/2010/main" val="2777719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26</a:t>
            </a:fld>
            <a:endParaRPr lang="bg-BG" dirty="0"/>
          </a:p>
        </p:txBody>
      </p:sp>
    </p:spTree>
    <p:extLst>
      <p:ext uri="{BB962C8B-B14F-4D97-AF65-F5344CB8AC3E}">
        <p14:creationId xmlns:p14="http://schemas.microsoft.com/office/powerpoint/2010/main" val="3999847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27</a:t>
            </a:fld>
            <a:endParaRPr lang="bg-BG" dirty="0"/>
          </a:p>
        </p:txBody>
      </p:sp>
    </p:spTree>
    <p:extLst>
      <p:ext uri="{BB962C8B-B14F-4D97-AF65-F5344CB8AC3E}">
        <p14:creationId xmlns:p14="http://schemas.microsoft.com/office/powerpoint/2010/main" val="35409743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28</a:t>
            </a:fld>
            <a:endParaRPr lang="bg-BG" dirty="0"/>
          </a:p>
        </p:txBody>
      </p:sp>
    </p:spTree>
    <p:extLst>
      <p:ext uri="{BB962C8B-B14F-4D97-AF65-F5344CB8AC3E}">
        <p14:creationId xmlns:p14="http://schemas.microsoft.com/office/powerpoint/2010/main" val="4253000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29</a:t>
            </a:fld>
            <a:endParaRPr lang="bg-BG" dirty="0"/>
          </a:p>
        </p:txBody>
      </p:sp>
    </p:spTree>
    <p:extLst>
      <p:ext uri="{BB962C8B-B14F-4D97-AF65-F5344CB8AC3E}">
        <p14:creationId xmlns:p14="http://schemas.microsoft.com/office/powerpoint/2010/main" val="46777227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19.5.2023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19.5.2023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19.5.2023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19.5.2023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19.5.2023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19.5.2023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19.5.2023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19.5.2023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19.5.2023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19.5.2023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19.5.2023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19.5.2023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wmf"/></Relationships>
</file>

<file path=ppt/slides/_rels/slide1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4189" y="971490"/>
            <a:ext cx="10507579" cy="3957924"/>
          </a:xfrm>
        </p:spPr>
        <p:txBody>
          <a:bodyPr/>
          <a:lstStyle/>
          <a:p>
            <a:pPr algn="ctr"/>
            <a:r>
              <a:rPr lang="bg-BG" sz="3000" b="1" i="1" dirty="0"/>
              <a:t>Елементи от теорията на автоматичното регулиране и управление. Устойчивост, управляемост и наблюдаемост. Фундаментални принципи на управление. Видове алгоритми за управление. Понятие за оптимално управление. </a:t>
            </a:r>
            <a:r>
              <a:rPr lang="bg-BG" sz="3000" b="1" i="1"/>
              <a:t>Адаптивни системи </a:t>
            </a:r>
            <a:endParaRPr lang="bg-BG" sz="3000" dirty="0"/>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Tree>
    <p:extLst>
      <p:ext uri="{BB962C8B-B14F-4D97-AF65-F5344CB8AC3E}">
        <p14:creationId xmlns:p14="http://schemas.microsoft.com/office/powerpoint/2010/main" val="2432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2032000" y="57170"/>
                <a:ext cx="10010183" cy="6673829"/>
              </a:xfrm>
            </p:spPr>
            <p:txBody>
              <a:bodyPr>
                <a:noAutofit/>
              </a:bodyPr>
              <a:lstStyle/>
              <a:p>
                <a:pPr algn="just">
                  <a:lnSpc>
                    <a:spcPct val="120000"/>
                  </a:lnSpc>
                  <a:spcBef>
                    <a:spcPts val="0"/>
                  </a:spcBef>
                </a:pPr>
                <a:r>
                  <a:rPr lang="bg-BG" sz="2400" b="1" i="1" dirty="0"/>
                  <a:t>Устойчивост и управляемост на линейни динамични системи</a:t>
                </a:r>
              </a:p>
              <a:p>
                <a:pPr indent="533400" algn="just">
                  <a:lnSpc>
                    <a:spcPct val="120000"/>
                  </a:lnSpc>
                  <a:spcBef>
                    <a:spcPts val="0"/>
                  </a:spcBef>
                </a:pPr>
                <a:r>
                  <a:rPr lang="bg-BG" sz="2400" dirty="0"/>
                  <a:t>При анализа и синтеза на линейни динамични системи се използват понятия като достижимост, управляемост, наблюдаемост и регулируемост. Те дават възможност да се отговори на въпроса дали съществува решение на една или друга задача.</a:t>
                </a:r>
              </a:p>
              <a:p>
                <a:pPr indent="533400" algn="just">
                  <a:lnSpc>
                    <a:spcPct val="120000"/>
                  </a:lnSpc>
                  <a:spcBef>
                    <a:spcPts val="0"/>
                  </a:spcBef>
                </a:pPr>
                <a:r>
                  <a:rPr lang="ru-RU" sz="2400" dirty="0"/>
                  <a:t>Понятието </a:t>
                </a:r>
                <a:r>
                  <a:rPr lang="ru-RU" sz="2400" i="1" dirty="0"/>
                  <a:t>управляемост</a:t>
                </a:r>
                <a:r>
                  <a:rPr lang="ru-RU" sz="2400" dirty="0"/>
                  <a:t> на динамични системи, които се описват с помощта на линейни диференциални уравнения с постоянни коефициенти</a:t>
                </a:r>
                <a:r>
                  <a:rPr lang="en-US" sz="2400" dirty="0"/>
                  <a:t> </a:t>
                </a:r>
                <a:r>
                  <a:rPr lang="ru-RU" sz="2400" dirty="0"/>
                  <a:t>се формулира по следния начин:</a:t>
                </a:r>
              </a:p>
              <a:p>
                <a:pPr indent="533400" algn="just">
                  <a:lnSpc>
                    <a:spcPct val="120000"/>
                  </a:lnSpc>
                  <a:spcBef>
                    <a:spcPts val="0"/>
                  </a:spcBef>
                </a:pPr>
                <a:r>
                  <a:rPr lang="ru-RU" sz="2400" i="1" dirty="0"/>
                  <a:t>Дефиниция1:</a:t>
                </a:r>
                <a:r>
                  <a:rPr lang="en-US" sz="2400" i="1" dirty="0"/>
                  <a:t> </a:t>
                </a:r>
                <a:r>
                  <a:rPr lang="ru-RU" sz="2400" dirty="0"/>
                  <a:t>Линейната динамична система се нарича управляема в момента </a:t>
                </a:r>
                <a14:m>
                  <m:oMath xmlns:m="http://schemas.openxmlformats.org/officeDocument/2006/math">
                    <m:sSub>
                      <m:sSubPr>
                        <m:ctrlPr>
                          <a:rPr lang="ru-RU"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0</m:t>
                        </m:r>
                      </m:sub>
                    </m:sSub>
                  </m:oMath>
                </a14:m>
                <a:r>
                  <a:rPr lang="ru-RU" sz="2400" dirty="0"/>
                  <a:t> само  в случая, когато за всяко начално състояние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0</m:t>
                        </m:r>
                      </m:sub>
                    </m:sSub>
                    <m:r>
                      <a:rPr lang="en-US" sz="2400" i="1">
                        <a:latin typeface="Cambria Math" panose="02040503050406030204" pitchFamily="18" charset="0"/>
                      </a:rPr>
                      <m:t>)</m:t>
                    </m:r>
                  </m:oMath>
                </a14:m>
                <a:r>
                  <a:rPr lang="ru-RU" sz="2400" dirty="0"/>
                  <a:t> и определено време </a:t>
                </a:r>
                <a:r>
                  <a:rPr lang="ru-RU" sz="2400" i="1" dirty="0"/>
                  <a:t>Т</a:t>
                </a:r>
                <a:r>
                  <a:rPr lang="ru-RU" sz="2400" dirty="0"/>
                  <a:t> се намери такъв вектор на управление </a:t>
                </a:r>
                <a:r>
                  <a:rPr lang="en-US" sz="2400" dirty="0"/>
                  <a:t> </a:t>
                </a:r>
                <a14:m>
                  <m:oMath xmlns:m="http://schemas.openxmlformats.org/officeDocument/2006/math">
                    <m:r>
                      <a:rPr lang="en-US" sz="2400" i="1">
                        <a:latin typeface="Cambria Math" panose="02040503050406030204" pitchFamily="18" charset="0"/>
                      </a:rPr>
                      <m:t>𝑢</m:t>
                    </m:r>
                    <m:d>
                      <m:dPr>
                        <m:ctrlPr>
                          <a:rPr lang="en-US" sz="2400" i="1">
                            <a:latin typeface="Cambria Math" panose="02040503050406030204" pitchFamily="18" charset="0"/>
                          </a:rPr>
                        </m:ctrlPr>
                      </m:dPr>
                      <m:e>
                        <m:r>
                          <a:rPr lang="en-US" sz="2400" i="1">
                            <a:latin typeface="Cambria Math" panose="02040503050406030204" pitchFamily="18" charset="0"/>
                          </a:rPr>
                          <m:t>𝑡</m:t>
                        </m:r>
                      </m:e>
                    </m:d>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0</m:t>
                        </m:r>
                      </m:sub>
                    </m:sSub>
                    <m:r>
                      <a:rPr lang="en-US" sz="2400" i="1">
                        <a:latin typeface="Cambria Math" panose="02040503050406030204" pitchFamily="18" charset="0"/>
                      </a:rPr>
                      <m:t>&lt;</m:t>
                    </m:r>
                    <m:r>
                      <a:rPr lang="en-US" sz="2400" i="1">
                        <a:latin typeface="Cambria Math" panose="02040503050406030204" pitchFamily="18" charset="0"/>
                      </a:rPr>
                      <m:t>𝑡</m:t>
                    </m:r>
                    <m:r>
                      <a:rPr lang="en-US" sz="2400" i="1">
                        <a:latin typeface="Cambria Math" panose="02040503050406030204" pitchFamily="18" charset="0"/>
                      </a:rPr>
                      <m:t>&lt;</m:t>
                    </m:r>
                    <m:r>
                      <a:rPr lang="en-US" sz="2400" i="1">
                        <a:latin typeface="Cambria Math" panose="02040503050406030204" pitchFamily="18" charset="0"/>
                      </a:rPr>
                      <m:t>𝑇</m:t>
                    </m:r>
                    <m:r>
                      <a:rPr lang="en-US" sz="2400" i="1">
                        <a:latin typeface="Cambria Math" panose="02040503050406030204" pitchFamily="18" charset="0"/>
                      </a:rPr>
                      <m:t>)</m:t>
                    </m:r>
                  </m:oMath>
                </a14:m>
                <a:r>
                  <a:rPr lang="ru-RU" sz="2400" dirty="0"/>
                  <a:t> , при което </a:t>
                </a:r>
                <a14:m>
                  <m:oMath xmlns:m="http://schemas.openxmlformats.org/officeDocument/2006/math">
                    <m:r>
                      <a:rPr lang="en-US" sz="2400" i="1">
                        <a:latin typeface="Cambria Math" panose="02040503050406030204" pitchFamily="18" charset="0"/>
                      </a:rPr>
                      <m:t>𝑥</m:t>
                    </m:r>
                    <m:d>
                      <m:dPr>
                        <m:ctrlPr>
                          <a:rPr lang="en-US" sz="2400" i="1">
                            <a:latin typeface="Cambria Math" panose="02040503050406030204" pitchFamily="18" charset="0"/>
                          </a:rPr>
                        </m:ctrlPr>
                      </m:dPr>
                      <m:e>
                        <m:r>
                          <a:rPr lang="en-US" sz="2400" i="1">
                            <a:latin typeface="Cambria Math" panose="02040503050406030204" pitchFamily="18" charset="0"/>
                          </a:rPr>
                          <m:t>𝑇</m:t>
                        </m:r>
                      </m:e>
                    </m:d>
                    <m:r>
                      <a:rPr lang="en-US" sz="2400" i="1">
                        <a:latin typeface="Cambria Math" panose="02040503050406030204" pitchFamily="18" charset="0"/>
                      </a:rPr>
                      <m:t>=0</m:t>
                    </m:r>
                  </m:oMath>
                </a14:m>
                <a:r>
                  <a:rPr lang="ru-RU" sz="2400" dirty="0"/>
                  <a:t> .</a:t>
                </a:r>
                <a:endParaRPr lang="en-GB" sz="2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2032000" y="57170"/>
                <a:ext cx="10010183" cy="6673829"/>
              </a:xfrm>
              <a:blipFill>
                <a:blip r:embed="rId2"/>
                <a:stretch>
                  <a:fillRect l="-914" t="-274" r="-974"/>
                </a:stretch>
              </a:blipFill>
            </p:spPr>
            <p:txBody>
              <a:bodyPr/>
              <a:lstStyle/>
              <a:p>
                <a:r>
                  <a:rPr lang="bg-BG">
                    <a:noFill/>
                  </a:rPr>
                  <a:t> </a:t>
                </a:r>
              </a:p>
            </p:txBody>
          </p:sp>
        </mc:Fallback>
      </mc:AlternateContent>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7368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00301" y="895371"/>
            <a:ext cx="9334500" cy="4324330"/>
          </a:xfrm>
        </p:spPr>
        <p:txBody>
          <a:bodyPr>
            <a:noAutofit/>
          </a:bodyPr>
          <a:lstStyle/>
          <a:p>
            <a:pPr indent="533400" algn="just">
              <a:lnSpc>
                <a:spcPct val="130000"/>
              </a:lnSpc>
            </a:pPr>
            <a:endParaRPr lang="en-GB" sz="2400" dirty="0"/>
          </a:p>
          <a:p>
            <a:pPr indent="533400" algn="just">
              <a:lnSpc>
                <a:spcPct val="130000"/>
              </a:lnSpc>
            </a:pPr>
            <a:endParaRPr lang="en-GB"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6" name="Rectangle 5"/>
              <p:cNvSpPr/>
              <p:nvPr/>
            </p:nvSpPr>
            <p:spPr>
              <a:xfrm>
                <a:off x="2228851" y="643129"/>
                <a:ext cx="9677400" cy="5166671"/>
              </a:xfrm>
              <a:prstGeom prst="rect">
                <a:avLst/>
              </a:prstGeom>
            </p:spPr>
            <p:txBody>
              <a:bodyPr wrap="square">
                <a:spAutoFit/>
              </a:bodyPr>
              <a:lstStyle/>
              <a:p>
                <a:pPr indent="533400" algn="just">
                  <a:lnSpc>
                    <a:spcPct val="114000"/>
                  </a:lnSpc>
                  <a:buClr>
                    <a:schemeClr val="accent1">
                      <a:lumMod val="75000"/>
                    </a:schemeClr>
                  </a:buClr>
                  <a:buSzPct val="85000"/>
                </a:pPr>
                <a:r>
                  <a:rPr lang="ru-RU" sz="2400" dirty="0"/>
                  <a:t>Ако всяко състояние</a:t>
                </a:r>
                <a:r>
                  <a:rPr lang="en-US" sz="2400" dirty="0"/>
                  <a:t>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0</m:t>
                        </m:r>
                      </m:sub>
                    </m:sSub>
                    <m:r>
                      <a:rPr lang="en-US" sz="2400" i="1">
                        <a:latin typeface="Cambria Math" panose="02040503050406030204" pitchFamily="18" charset="0"/>
                      </a:rPr>
                      <m:t>)</m:t>
                    </m:r>
                  </m:oMath>
                </a14:m>
                <a:r>
                  <a:rPr lang="ru-RU" sz="2400" dirty="0"/>
                  <a:t> е управляемо във всеки момент от време</a:t>
                </a:r>
                <a14:m>
                  <m:oMath xmlns:m="http://schemas.openxmlformats.org/officeDocument/2006/math">
                    <m:sSub>
                      <m:sSubPr>
                        <m:ctrlPr>
                          <a:rPr lang="ru-RU" sz="2400" i="1">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𝑡</m:t>
                        </m:r>
                      </m:e>
                      <m:sub>
                        <m:r>
                          <a:rPr lang="en-US" sz="2400" i="1">
                            <a:latin typeface="Cambria Math" panose="02040503050406030204" pitchFamily="18" charset="0"/>
                          </a:rPr>
                          <m:t>0</m:t>
                        </m:r>
                      </m:sub>
                    </m:sSub>
                    <m:r>
                      <a:rPr lang="en-US" sz="2400" b="0" i="1" smtClean="0">
                        <a:latin typeface="Cambria Math" panose="02040503050406030204" pitchFamily="18" charset="0"/>
                      </a:rPr>
                      <m:t> </m:t>
                    </m:r>
                  </m:oMath>
                </a14:m>
                <a:r>
                  <a:rPr lang="ru-RU" sz="2400" dirty="0"/>
                  <a:t>на интервала, на който е дефинирана системата, то тя се нарича напълно управляема или просто управляема.</a:t>
                </a:r>
                <a:endParaRPr lang="en-US" sz="2400" dirty="0"/>
              </a:p>
              <a:p>
                <a:pPr indent="533400" algn="just">
                  <a:lnSpc>
                    <a:spcPct val="114000"/>
                  </a:lnSpc>
                  <a:buClr>
                    <a:schemeClr val="accent1">
                      <a:lumMod val="75000"/>
                    </a:schemeClr>
                  </a:buClr>
                  <a:buSzPct val="85000"/>
                </a:pPr>
                <a:r>
                  <a:rPr lang="ru-RU" sz="2400" i="1" dirty="0"/>
                  <a:t>Дефиниция 2: </a:t>
                </a:r>
                <a:r>
                  <a:rPr lang="en-US" sz="2400" i="1" dirty="0"/>
                  <a:t> </a:t>
                </a:r>
                <a:r>
                  <a:rPr lang="ru-RU" sz="2400" dirty="0"/>
                  <a:t>Линейна динамична система е напълно управляема, когато всяко състояние</a:t>
                </a:r>
                <a:r>
                  <a:rPr lang="en-US" sz="2400" dirty="0"/>
                  <a:t>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b="0" i="1" smtClean="0">
                        <a:latin typeface="Cambria Math" panose="02040503050406030204" pitchFamily="18" charset="0"/>
                      </a:rPr>
                      <m:t>𝑡</m:t>
                    </m:r>
                    <m:r>
                      <a:rPr lang="en-US" sz="2400" i="1">
                        <a:latin typeface="Cambria Math" panose="02040503050406030204" pitchFamily="18" charset="0"/>
                      </a:rPr>
                      <m:t>)</m:t>
                    </m:r>
                  </m:oMath>
                </a14:m>
                <a:r>
                  <a:rPr lang="ru-RU" sz="2400" dirty="0"/>
                  <a:t> е достижимо от произволно начално състояние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(0)</m:t>
                    </m:r>
                  </m:oMath>
                </a14:m>
                <a:r>
                  <a:rPr lang="ru-RU" sz="2400" dirty="0"/>
                  <a:t>.</a:t>
                </a:r>
                <a:endParaRPr lang="en-US" sz="2400" dirty="0"/>
              </a:p>
              <a:p>
                <a:pPr indent="533400" algn="just">
                  <a:lnSpc>
                    <a:spcPct val="120000"/>
                  </a:lnSpc>
                  <a:buClr>
                    <a:schemeClr val="accent1">
                      <a:lumMod val="75000"/>
                    </a:schemeClr>
                  </a:buClr>
                  <a:buSzPct val="85000"/>
                </a:pPr>
                <a:r>
                  <a:rPr lang="bg-BG" sz="2400" b="1" i="1" dirty="0"/>
                  <a:t>Фундаментални принципи на управлението</a:t>
                </a:r>
              </a:p>
              <a:p>
                <a:pPr indent="533400" algn="just">
                  <a:lnSpc>
                    <a:spcPct val="114000"/>
                  </a:lnSpc>
                  <a:buClr>
                    <a:schemeClr val="accent1">
                      <a:lumMod val="75000"/>
                    </a:schemeClr>
                  </a:buClr>
                  <a:buSzPct val="85000"/>
                </a:pPr>
                <a:r>
                  <a:rPr lang="bg-BG" sz="2400" dirty="0"/>
                  <a:t>Познавайки статичните и динамичните характеристики на системата за управление, може да се построи математическия модел на системата и да се търси такъв алгоритъм за управление, който да осигури зададен алгоритъм на функциониране при известни въздействия. </a:t>
                </a:r>
                <a:endParaRPr lang="ru-RU" sz="2400" dirty="0"/>
              </a:p>
            </p:txBody>
          </p:sp>
        </mc:Choice>
        <mc:Fallback xmlns="">
          <p:sp>
            <p:nvSpPr>
              <p:cNvPr id="6" name="Rectangle 5"/>
              <p:cNvSpPr>
                <a:spLocks noRot="1" noChangeAspect="1" noMove="1" noResize="1" noEditPoints="1" noAdjustHandles="1" noChangeArrowheads="1" noChangeShapeType="1" noTextEdit="1"/>
              </p:cNvSpPr>
              <p:nvPr/>
            </p:nvSpPr>
            <p:spPr>
              <a:xfrm>
                <a:off x="2228851" y="643129"/>
                <a:ext cx="9677400" cy="5166671"/>
              </a:xfrm>
              <a:prstGeom prst="rect">
                <a:avLst/>
              </a:prstGeom>
              <a:blipFill>
                <a:blip r:embed="rId2"/>
                <a:stretch>
                  <a:fillRect l="-1008" t="-708" r="-945" b="-945"/>
                </a:stretch>
              </a:blipFill>
            </p:spPr>
            <p:txBody>
              <a:bodyPr/>
              <a:lstStyle/>
              <a:p>
                <a:r>
                  <a:rPr lang="bg-BG">
                    <a:noFill/>
                  </a:rPr>
                  <a:t> </a:t>
                </a:r>
              </a:p>
            </p:txBody>
          </p:sp>
        </mc:Fallback>
      </mc:AlternateContent>
    </p:spTree>
    <p:extLst>
      <p:ext uri="{BB962C8B-B14F-4D97-AF65-F5344CB8AC3E}">
        <p14:creationId xmlns:p14="http://schemas.microsoft.com/office/powerpoint/2010/main" val="84662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p:sp>
        <p:nvSpPr>
          <p:cNvPr id="7" name="Content Placeholder 2"/>
          <p:cNvSpPr txBox="1">
            <a:spLocks/>
          </p:cNvSpPr>
          <p:nvPr/>
        </p:nvSpPr>
        <p:spPr>
          <a:xfrm>
            <a:off x="2057400" y="50800"/>
            <a:ext cx="10045700" cy="680720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33400" algn="just">
              <a:lnSpc>
                <a:spcPct val="120000"/>
              </a:lnSpc>
              <a:spcBef>
                <a:spcPts val="0"/>
              </a:spcBef>
              <a:buClr>
                <a:srgbClr val="D34817">
                  <a:lumMod val="75000"/>
                </a:srgbClr>
              </a:buClr>
              <a:buNone/>
            </a:pPr>
            <a:r>
              <a:rPr lang="bg-BG" sz="2400" dirty="0">
                <a:solidFill>
                  <a:prstClr val="black"/>
                </a:solidFill>
              </a:rPr>
              <a:t>Моделът винаги приблизително отразява свойствата на оригинала, а смущенията могат да се променят по неизвестен от по-рано начин. Тогава поведението на системата ще се отличава от желаното функциониране. За да се доближи поведението на системата към желаното състояние, алгоритъмът за управление трябва да е съобразен не само със свойствата на системата и алгоритъма на функциониране, но и с реалното състояние на системата. В основата на синтеза на системи за автоматично управление лежат общи фундаментални принципи за управление. Могат да бъдат формулирани три основни принципа: на отвореното управление, на компенсацията и на обратната връзка.</a:t>
            </a:r>
          </a:p>
          <a:p>
            <a:pPr marL="0" indent="533400" algn="just">
              <a:lnSpc>
                <a:spcPct val="120000"/>
              </a:lnSpc>
              <a:spcBef>
                <a:spcPts val="0"/>
              </a:spcBef>
              <a:buClr>
                <a:srgbClr val="D34817">
                  <a:lumMod val="75000"/>
                </a:srgbClr>
              </a:buClr>
              <a:buNone/>
            </a:pPr>
            <a:r>
              <a:rPr lang="bg-BG" sz="2400" i="1" dirty="0">
                <a:solidFill>
                  <a:prstClr val="black"/>
                </a:solidFill>
              </a:rPr>
              <a:t>Принцип на отвореното управление</a:t>
            </a:r>
          </a:p>
          <a:p>
            <a:pPr marL="0" indent="533400" algn="just">
              <a:lnSpc>
                <a:spcPct val="120000"/>
              </a:lnSpc>
              <a:spcBef>
                <a:spcPts val="0"/>
              </a:spcBef>
              <a:buClr>
                <a:srgbClr val="D34817">
                  <a:lumMod val="75000"/>
                </a:srgbClr>
              </a:buClr>
              <a:buNone/>
            </a:pPr>
            <a:r>
              <a:rPr lang="bg-BG" sz="2400" dirty="0">
                <a:solidFill>
                  <a:prstClr val="black"/>
                </a:solidFill>
              </a:rPr>
              <a:t>Същността на алгоритъма се състои в това, че управлението се изработва само на базата на зададен алгоритъм и не се променя от други фактори (смущения). </a:t>
            </a:r>
            <a:endParaRPr lang="ru-RU" sz="2400" dirty="0">
              <a:solidFill>
                <a:prstClr val="black"/>
              </a:solidFill>
            </a:endParaRPr>
          </a:p>
        </p:txBody>
      </p:sp>
    </p:spTree>
    <p:extLst>
      <p:ext uri="{BB962C8B-B14F-4D97-AF65-F5344CB8AC3E}">
        <p14:creationId xmlns:p14="http://schemas.microsoft.com/office/powerpoint/2010/main" val="53314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
        <p:nvSpPr>
          <p:cNvPr id="7" name="Content Placeholder 2"/>
          <p:cNvSpPr txBox="1">
            <a:spLocks/>
          </p:cNvSpPr>
          <p:nvPr/>
        </p:nvSpPr>
        <p:spPr>
          <a:xfrm>
            <a:off x="1968500" y="64228"/>
            <a:ext cx="10160000" cy="670487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algn="just">
              <a:lnSpc>
                <a:spcPct val="120000"/>
              </a:lnSpc>
              <a:spcBef>
                <a:spcPts val="0"/>
              </a:spcBef>
              <a:buClr>
                <a:srgbClr val="D34817">
                  <a:lumMod val="75000"/>
                </a:srgbClr>
              </a:buClr>
            </a:pPr>
            <a:r>
              <a:rPr lang="bg-BG" sz="2400" dirty="0">
                <a:solidFill>
                  <a:prstClr val="black"/>
                </a:solidFill>
              </a:rPr>
              <a:t>Този принцип широко се използва в практиката. Основните действия на управляващото въздействие се изпълняват от различни типове елементи. Например операциите включване, изключване и превключване се изпълняват от логически елементи. Друг тип елементи са датчици, програматори, линейни и нелинейни преобразуватели. Към елементите на управление от отворен тип са много изчислителни и решаващи устройства, които реализират операциите диференциране, интегриране и формиране на диференциално-интегриращи оператори.</a:t>
            </a:r>
          </a:p>
          <a:p>
            <a:pPr lvl="0" indent="533400" algn="just">
              <a:lnSpc>
                <a:spcPct val="120000"/>
              </a:lnSpc>
              <a:spcBef>
                <a:spcPts val="0"/>
              </a:spcBef>
              <a:buClr>
                <a:srgbClr val="D34817">
                  <a:lumMod val="75000"/>
                </a:srgbClr>
              </a:buClr>
            </a:pPr>
            <a:r>
              <a:rPr lang="ru-RU" sz="2400" i="1" dirty="0">
                <a:solidFill>
                  <a:prstClr val="black"/>
                </a:solidFill>
              </a:rPr>
              <a:t>Принцип на компенсацията (управление по смущение)</a:t>
            </a:r>
          </a:p>
          <a:p>
            <a:pPr lvl="0" indent="533400" algn="just">
              <a:lnSpc>
                <a:spcPct val="120000"/>
              </a:lnSpc>
              <a:spcBef>
                <a:spcPts val="0"/>
              </a:spcBef>
              <a:buClr>
                <a:srgbClr val="D34817">
                  <a:lumMod val="75000"/>
                </a:srgbClr>
              </a:buClr>
            </a:pPr>
            <a:r>
              <a:rPr lang="ru-RU" sz="2400" dirty="0">
                <a:solidFill>
                  <a:prstClr val="black"/>
                </a:solidFill>
              </a:rPr>
              <a:t>Ако смущаващите въздействия са толкова големи, че отворената верига не осигурява точността на алгоритъма на функциониране, за повишаване на точността се предлага измерване на смущаващото въздействие и въвеждане на корекция за компенсиране влиянието на това въздействие.</a:t>
            </a:r>
            <a:endParaRPr lang="bg-BG" sz="2400" dirty="0">
              <a:solidFill>
                <a:prstClr val="black"/>
              </a:solidFill>
            </a:endParaRPr>
          </a:p>
          <a:p>
            <a:pPr lvl="0" indent="533400" algn="just">
              <a:lnSpc>
                <a:spcPct val="120000"/>
              </a:lnSpc>
              <a:spcBef>
                <a:spcPts val="0"/>
              </a:spcBef>
              <a:buClr>
                <a:srgbClr val="D34817">
                  <a:lumMod val="75000"/>
                </a:srgbClr>
              </a:buClr>
            </a:pPr>
            <a:endParaRPr lang="ru-RU" sz="2400" dirty="0">
              <a:solidFill>
                <a:prstClr val="black"/>
              </a:solidFill>
            </a:endParaRPr>
          </a:p>
          <a:p>
            <a:pPr marL="457200" algn="just">
              <a:lnSpc>
                <a:spcPct val="150000"/>
              </a:lnSpc>
              <a:spcBef>
                <a:spcPts val="0"/>
              </a:spcBef>
            </a:pPr>
            <a:endParaRPr lang="en-US" sz="2400" dirty="0">
              <a:solidFill>
                <a:schemeClr val="tx1">
                  <a:lumMod val="95000"/>
                  <a:lumOff val="5000"/>
                </a:schemeClr>
              </a:solidFill>
            </a:endParaRPr>
          </a:p>
        </p:txBody>
      </p:sp>
    </p:spTree>
    <p:extLst>
      <p:ext uri="{BB962C8B-B14F-4D97-AF65-F5344CB8AC3E}">
        <p14:creationId xmlns:p14="http://schemas.microsoft.com/office/powerpoint/2010/main" val="700737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17700" y="38100"/>
            <a:ext cx="10274300" cy="6819900"/>
          </a:xfrm>
        </p:spPr>
        <p:txBody>
          <a:bodyPr vert="horz" lIns="91440" tIns="45720" rIns="91440" bIns="45720" rtlCol="0" anchor="t">
            <a:noAutofit/>
          </a:bodyPr>
          <a:lstStyle/>
          <a:p>
            <a:pPr lvl="0" indent="533400" algn="just">
              <a:lnSpc>
                <a:spcPct val="120000"/>
              </a:lnSpc>
              <a:spcBef>
                <a:spcPts val="0"/>
              </a:spcBef>
              <a:buClr>
                <a:srgbClr val="D34817">
                  <a:lumMod val="75000"/>
                </a:srgbClr>
              </a:buClr>
            </a:pPr>
            <a:r>
              <a:rPr lang="ru-RU" sz="2400" dirty="0">
                <a:solidFill>
                  <a:prstClr val="black"/>
                </a:solidFill>
              </a:rPr>
              <a:t>Компенсацията е възможна само, ако смущаващото въздействие може да се измери.</a:t>
            </a:r>
          </a:p>
          <a:p>
            <a:pPr indent="533400" algn="just">
              <a:lnSpc>
                <a:spcPct val="120000"/>
              </a:lnSpc>
              <a:spcBef>
                <a:spcPts val="0"/>
              </a:spcBef>
              <a:buClr>
                <a:srgbClr val="D34817">
                  <a:lumMod val="75000"/>
                </a:srgbClr>
              </a:buClr>
            </a:pPr>
            <a:r>
              <a:rPr lang="bg-BG" sz="2400" i="1" dirty="0">
                <a:solidFill>
                  <a:prstClr val="black"/>
                </a:solidFill>
              </a:rPr>
              <a:t>Принцип на обратната връзка (регулиране по отклонение)</a:t>
            </a:r>
          </a:p>
          <a:p>
            <a:pPr indent="533400" algn="just">
              <a:lnSpc>
                <a:spcPct val="120000"/>
              </a:lnSpc>
              <a:spcBef>
                <a:spcPts val="0"/>
              </a:spcBef>
              <a:buClr>
                <a:srgbClr val="D34817">
                  <a:lumMod val="75000"/>
                </a:srgbClr>
              </a:buClr>
            </a:pPr>
            <a:r>
              <a:rPr lang="bg-BG" sz="2400" dirty="0">
                <a:solidFill>
                  <a:prstClr val="black"/>
                </a:solidFill>
              </a:rPr>
              <a:t>Системата за управление може да се синтезира и без измерване на смущаващото въздействие. Управлението във функция на отклонението се нарича регулиране, а управляващото устройство се нарича автоматичен регулатор. Разгледахме системи за автоматично регулиране, които включват регулатор в обратната връзка от изхода към входа. </a:t>
            </a:r>
          </a:p>
          <a:p>
            <a:pPr indent="533400" algn="just">
              <a:lnSpc>
                <a:spcPct val="120000"/>
              </a:lnSpc>
              <a:spcBef>
                <a:spcPts val="0"/>
              </a:spcBef>
              <a:buClr>
                <a:srgbClr val="D34817">
                  <a:lumMod val="75000"/>
                </a:srgbClr>
              </a:buClr>
            </a:pPr>
            <a:r>
              <a:rPr lang="bg-BG" sz="2400" dirty="0">
                <a:solidFill>
                  <a:prstClr val="black"/>
                </a:solidFill>
              </a:rPr>
              <a:t>Принципът на обратната връзка е широко разпространен не само в техниката, но и в процесите на управление в живите организми (регулиране на температурата, кръвното налягане и т.н.). При управление в обществени организации този принцип се реализира във вид на проверки и заповеди, които играят ролята на управляващи въздействия.</a:t>
            </a:r>
          </a:p>
          <a:p>
            <a:pPr indent="533400" algn="just">
              <a:lnSpc>
                <a:spcPct val="120000"/>
              </a:lnSpc>
              <a:spcBef>
                <a:spcPts val="0"/>
              </a:spcBef>
              <a:buClr>
                <a:srgbClr val="D34817">
                  <a:lumMod val="75000"/>
                </a:srgbClr>
              </a:buClr>
            </a:pPr>
            <a:endParaRPr lang="en-GB" sz="2400" dirty="0">
              <a:solidFill>
                <a:prstClr val="black"/>
              </a:solidFill>
            </a:endParaRPr>
          </a:p>
        </p:txBody>
      </p:sp>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9" name="Rectangle 6"/>
          <p:cNvSpPr>
            <a:spLocks noChangeArrowheads="1"/>
          </p:cNvSpPr>
          <p:nvPr/>
        </p:nvSpPr>
        <p:spPr bwMode="auto">
          <a:xfrm>
            <a:off x="0" y="228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r>
              <a:rPr kumimoji="0" lang="bg-BG" altLang="bg-BG" sz="900" b="0" i="0" u="none" strike="noStrike" cap="none" normalizeH="0" baseline="0">
                <a:ln>
                  <a:noFill/>
                </a:ln>
                <a:solidFill>
                  <a:schemeClr val="tx1"/>
                </a:solidFill>
                <a:effectLst/>
              </a:rPr>
              <a:t> </a:t>
            </a:r>
            <a:endParaRPr kumimoji="0" lang="bg-BG" altLang="bg-BG" sz="1800" b="0" i="0" u="none" strike="noStrike" cap="none" normalizeH="0" baseline="0">
              <a:ln>
                <a:noFill/>
              </a:ln>
              <a:solidFill>
                <a:schemeClr val="tx1"/>
              </a:solidFill>
              <a:effectLst/>
              <a:latin typeface="Arial" panose="020B0604020202020204" pitchFamily="34" charset="0"/>
            </a:endParaRPr>
          </a:p>
        </p:txBody>
      </p:sp>
      <p:sp>
        <p:nvSpPr>
          <p:cNvPr id="2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8" name="Rectangle 2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814111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2032001" y="14790"/>
                <a:ext cx="9994900" cy="6779709"/>
              </a:xfrm>
            </p:spPr>
            <p:txBody>
              <a:bodyPr>
                <a:noAutofit/>
              </a:bodyPr>
              <a:lstStyle/>
              <a:p>
                <a:pPr indent="533400" algn="just">
                  <a:lnSpc>
                    <a:spcPct val="120000"/>
                  </a:lnSpc>
                  <a:spcBef>
                    <a:spcPts val="0"/>
                  </a:spcBef>
                  <a:buClr>
                    <a:srgbClr val="D34817">
                      <a:lumMod val="75000"/>
                    </a:srgbClr>
                  </a:buClr>
                </a:pPr>
                <a:r>
                  <a:rPr lang="ru-RU" sz="2400" b="1" i="1" dirty="0">
                    <a:solidFill>
                      <a:prstClr val="black"/>
                    </a:solidFill>
                  </a:rPr>
                  <a:t>Основни алгоритми за управление</a:t>
                </a:r>
              </a:p>
              <a:p>
                <a:pPr indent="533400" algn="just">
                  <a:lnSpc>
                    <a:spcPct val="120000"/>
                  </a:lnSpc>
                  <a:spcBef>
                    <a:spcPts val="0"/>
                  </a:spcBef>
                  <a:buClr>
                    <a:srgbClr val="D34817">
                      <a:lumMod val="75000"/>
                    </a:srgbClr>
                  </a:buClr>
                </a:pPr>
                <a:r>
                  <a:rPr lang="ru-RU" sz="2400" dirty="0">
                    <a:solidFill>
                      <a:prstClr val="black"/>
                    </a:solidFill>
                  </a:rPr>
                  <a:t>Алгоритмите за формиране на управляващо въздействие могат да бъдат групирани в следните шест групи:</a:t>
                </a:r>
              </a:p>
              <a:p>
                <a:pPr marL="901700" indent="-342900" algn="just">
                  <a:lnSpc>
                    <a:spcPct val="120000"/>
                  </a:lnSpc>
                  <a:spcBef>
                    <a:spcPts val="0"/>
                  </a:spcBef>
                  <a:buClr>
                    <a:srgbClr val="D34817">
                      <a:lumMod val="75000"/>
                    </a:srgbClr>
                  </a:buClr>
                  <a:buFont typeface="Wingdings" panose="05000000000000000000" pitchFamily="2" charset="2"/>
                  <a:buChar char="q"/>
                </a:pPr>
                <a:r>
                  <a:rPr lang="ru-RU" sz="2400" dirty="0">
                    <a:solidFill>
                      <a:prstClr val="black"/>
                    </a:solidFill>
                  </a:rPr>
                  <a:t>Стабилизация</a:t>
                </a:r>
                <a:r>
                  <a:rPr lang="en-GB" sz="2400" dirty="0">
                    <a:solidFill>
                      <a:prstClr val="black"/>
                    </a:solidFill>
                  </a:rPr>
                  <a:t>;</a:t>
                </a:r>
                <a:endParaRPr lang="ru-RU" sz="2400" dirty="0">
                  <a:solidFill>
                    <a:prstClr val="black"/>
                  </a:solidFill>
                </a:endParaRPr>
              </a:p>
              <a:p>
                <a:pPr indent="533400" algn="just">
                  <a:lnSpc>
                    <a:spcPct val="120000"/>
                  </a:lnSpc>
                  <a:spcBef>
                    <a:spcPts val="0"/>
                  </a:spcBef>
                  <a:buClr>
                    <a:srgbClr val="D34817">
                      <a:lumMod val="75000"/>
                    </a:srgbClr>
                  </a:buClr>
                </a:pPr>
                <a:r>
                  <a:rPr lang="ru-RU" sz="2400" dirty="0">
                    <a:solidFill>
                      <a:prstClr val="black"/>
                    </a:solidFill>
                  </a:rPr>
                  <a:t>Системата поддържа постоянна управляваната величина. Алгоритъмът на управление е от вида </a:t>
                </a:r>
                <a14:m>
                  <m:oMath xmlns:m="http://schemas.openxmlformats.org/officeDocument/2006/math">
                    <m:r>
                      <a:rPr lang="en-GB" sz="2400" b="0" i="1" smtClean="0">
                        <a:solidFill>
                          <a:prstClr val="black"/>
                        </a:solidFill>
                        <a:latin typeface="Cambria Math" panose="02040503050406030204" pitchFamily="18" charset="0"/>
                      </a:rPr>
                      <m:t>𝑦</m:t>
                    </m:r>
                    <m:r>
                      <a:rPr lang="en-GB" sz="2400" b="0" i="1" smtClean="0">
                        <a:solidFill>
                          <a:prstClr val="black"/>
                        </a:solidFill>
                        <a:latin typeface="Cambria Math" panose="02040503050406030204" pitchFamily="18" charset="0"/>
                      </a:rPr>
                      <m:t>=</m:t>
                    </m:r>
                    <m:sSub>
                      <m:sSubPr>
                        <m:ctrlPr>
                          <a:rPr lang="en-GB" sz="2400" b="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𝑦</m:t>
                        </m:r>
                      </m:e>
                      <m:sub>
                        <m:r>
                          <a:rPr lang="en-GB" sz="2400" b="0" i="1" smtClean="0">
                            <a:solidFill>
                              <a:prstClr val="black"/>
                            </a:solidFill>
                            <a:latin typeface="Cambria Math" panose="02040503050406030204" pitchFamily="18" charset="0"/>
                          </a:rPr>
                          <m:t>0</m:t>
                        </m:r>
                      </m:sub>
                    </m:sSub>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𝑐𝑜𝑛𝑠𝑡</m:t>
                    </m:r>
                  </m:oMath>
                </a14:m>
                <a:r>
                  <a:rPr lang="ru-RU" sz="2400" dirty="0">
                    <a:solidFill>
                      <a:prstClr val="black"/>
                    </a:solidFill>
                  </a:rPr>
                  <a:t>.</a:t>
                </a:r>
              </a:p>
              <a:p>
                <a:pPr marL="901700" indent="-342900" algn="just">
                  <a:lnSpc>
                    <a:spcPct val="120000"/>
                  </a:lnSpc>
                  <a:spcBef>
                    <a:spcPts val="0"/>
                  </a:spcBef>
                  <a:buClr>
                    <a:srgbClr val="D34817">
                      <a:lumMod val="75000"/>
                    </a:srgbClr>
                  </a:buClr>
                  <a:buFont typeface="Wingdings" panose="05000000000000000000" pitchFamily="2" charset="2"/>
                  <a:buChar char="q"/>
                </a:pPr>
                <a:r>
                  <a:rPr lang="ru-RU" sz="2400" dirty="0">
                    <a:solidFill>
                      <a:prstClr val="black"/>
                    </a:solidFill>
                  </a:rPr>
                  <a:t>Програмно управление</a:t>
                </a:r>
                <a:r>
                  <a:rPr lang="en-GB" sz="2400" dirty="0">
                    <a:solidFill>
                      <a:prstClr val="black"/>
                    </a:solidFill>
                  </a:rPr>
                  <a:t>;</a:t>
                </a:r>
              </a:p>
              <a:p>
                <a:pPr indent="533400" algn="just">
                  <a:lnSpc>
                    <a:spcPct val="120000"/>
                  </a:lnSpc>
                  <a:spcBef>
                    <a:spcPts val="0"/>
                  </a:spcBef>
                  <a:buClr>
                    <a:srgbClr val="D34817">
                      <a:lumMod val="75000"/>
                    </a:srgbClr>
                  </a:buClr>
                </a:pPr>
                <a:r>
                  <a:rPr lang="ru-RU" sz="2400" dirty="0">
                    <a:solidFill>
                      <a:prstClr val="black"/>
                    </a:solidFill>
                  </a:rPr>
                  <a:t>Алгоритъмът на функциониране се задава и може да се построи специализирано устройство, което да изработва управляващото въздействие. В практиката се използват два вида системи за програмно управление: с времева програма и с пространствена програма. В първия вид директно се изработва управляващото въздействие като функция на времето. Управление от втория вид може да се използва при обработка на материали от устройства с програмно управление.</a:t>
                </a: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2032001" y="14790"/>
                <a:ext cx="9994900" cy="6779709"/>
              </a:xfrm>
              <a:blipFill>
                <a:blip r:embed="rId3"/>
                <a:stretch>
                  <a:fillRect l="-915" t="-270" r="-915"/>
                </a:stretch>
              </a:blipFill>
            </p:spPr>
            <p:txBody>
              <a:bodyPr/>
              <a:lstStyle/>
              <a:p>
                <a:r>
                  <a:rPr lang="bg-BG">
                    <a:noFill/>
                  </a:rPr>
                  <a:t> </a:t>
                </a:r>
              </a:p>
            </p:txBody>
          </p:sp>
        </mc:Fallback>
      </mc:AlternateContent>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32"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5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741963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47800" y="72030"/>
            <a:ext cx="10744200" cy="6735170"/>
          </a:xfrm>
        </p:spPr>
        <p:txBody>
          <a:bodyPr>
            <a:noAutofit/>
          </a:bodyPr>
          <a:lstStyle/>
          <a:p>
            <a:pPr indent="533400" algn="just">
              <a:lnSpc>
                <a:spcPct val="130000"/>
              </a:lnSpc>
              <a:spcBef>
                <a:spcPts val="0"/>
              </a:spcBef>
            </a:pPr>
            <a:r>
              <a:rPr lang="ru-RU" sz="2400" dirty="0">
                <a:solidFill>
                  <a:prstClr val="black"/>
                </a:solidFill>
              </a:rPr>
              <a:t>При пространственото програмно управление се прилагат два способа. Първият се състои в това движението по всяка координатна ос да е равномерно (или произволно), а останалите се изчисляват така, че движението на инструмента за обработка да бъде по зададена траектория. Вторият способ се свежда до параметрично описание на движението</a:t>
            </a:r>
            <a:r>
              <a:rPr lang="en-GB" sz="2400" dirty="0">
                <a:solidFill>
                  <a:prstClr val="black"/>
                </a:solidFill>
              </a:rPr>
              <a:t>.</a:t>
            </a:r>
          </a:p>
          <a:p>
            <a:pPr marL="901700" indent="-342900" algn="just">
              <a:lnSpc>
                <a:spcPct val="120000"/>
              </a:lnSpc>
              <a:spcBef>
                <a:spcPts val="0"/>
              </a:spcBef>
              <a:buClr>
                <a:srgbClr val="D34817">
                  <a:lumMod val="75000"/>
                </a:srgbClr>
              </a:buClr>
              <a:buFont typeface="Wingdings" panose="05000000000000000000" pitchFamily="2" charset="2"/>
              <a:buChar char="q"/>
            </a:pPr>
            <a:r>
              <a:rPr lang="bg-BG" sz="2400" dirty="0">
                <a:solidFill>
                  <a:prstClr val="black"/>
                </a:solidFill>
              </a:rPr>
              <a:t>Следящи системи</a:t>
            </a:r>
            <a:r>
              <a:rPr lang="en-GB" sz="2400" dirty="0">
                <a:solidFill>
                  <a:prstClr val="black"/>
                </a:solidFill>
              </a:rPr>
              <a:t>;</a:t>
            </a:r>
          </a:p>
          <a:p>
            <a:pPr indent="533400" algn="just">
              <a:lnSpc>
                <a:spcPct val="130000"/>
              </a:lnSpc>
              <a:spcBef>
                <a:spcPts val="0"/>
              </a:spcBef>
            </a:pPr>
            <a:r>
              <a:rPr lang="bg-BG" sz="2400" dirty="0">
                <a:solidFill>
                  <a:prstClr val="black"/>
                </a:solidFill>
              </a:rPr>
              <a:t>В следящите системи алгоритъмът на изработване на управляващото въздействие предварително не е известен. Обикновено регулируемата величина трябва да възпроизвежда изменението на външен фактор, т.е. да го следи. </a:t>
            </a:r>
          </a:p>
          <a:p>
            <a:pPr marL="901700" indent="-342900" algn="just">
              <a:lnSpc>
                <a:spcPct val="120000"/>
              </a:lnSpc>
              <a:spcBef>
                <a:spcPts val="0"/>
              </a:spcBef>
              <a:buClr>
                <a:srgbClr val="D34817">
                  <a:lumMod val="75000"/>
                </a:srgbClr>
              </a:buClr>
              <a:buFont typeface="Wingdings" panose="05000000000000000000" pitchFamily="2" charset="2"/>
              <a:buChar char="q"/>
            </a:pPr>
            <a:r>
              <a:rPr lang="bg-BG" sz="2400" dirty="0">
                <a:solidFill>
                  <a:prstClr val="black"/>
                </a:solidFill>
              </a:rPr>
              <a:t> Екстремални системи</a:t>
            </a:r>
            <a:r>
              <a:rPr lang="en-GB" sz="2400" dirty="0">
                <a:solidFill>
                  <a:prstClr val="black"/>
                </a:solidFill>
              </a:rPr>
              <a:t>;</a:t>
            </a:r>
          </a:p>
          <a:p>
            <a:pPr indent="533400" algn="just">
              <a:lnSpc>
                <a:spcPct val="130000"/>
              </a:lnSpc>
              <a:spcBef>
                <a:spcPts val="0"/>
              </a:spcBef>
            </a:pPr>
            <a:r>
              <a:rPr lang="bg-BG" sz="2400" dirty="0">
                <a:solidFill>
                  <a:prstClr val="black"/>
                </a:solidFill>
              </a:rPr>
              <a:t>В много системи показателят за качество или ефективност на функциониране на системата може да бъде изразен за всеки момент от времето. </a:t>
            </a:r>
            <a:endParaRPr lang="en-GB" sz="2400" dirty="0">
              <a:solidFill>
                <a:prstClr val="black"/>
              </a:solidFill>
            </a:endParaRPr>
          </a:p>
        </p:txBody>
      </p:sp>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474568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2" name="Rectangle 1"/>
          <p:cNvSpPr/>
          <p:nvPr/>
        </p:nvSpPr>
        <p:spPr>
          <a:xfrm>
            <a:off x="2166448" y="89993"/>
            <a:ext cx="9923952" cy="6777240"/>
          </a:xfrm>
          <a:prstGeom prst="rect">
            <a:avLst/>
          </a:prstGeom>
        </p:spPr>
        <p:txBody>
          <a:bodyPr wrap="square">
            <a:spAutoFit/>
          </a:bodyPr>
          <a:lstStyle/>
          <a:p>
            <a:pPr lvl="0" algn="just">
              <a:lnSpc>
                <a:spcPct val="130000"/>
              </a:lnSpc>
              <a:buClr>
                <a:srgbClr val="D34817">
                  <a:lumMod val="75000"/>
                </a:srgbClr>
              </a:buClr>
              <a:buSzPct val="85000"/>
            </a:pPr>
            <a:r>
              <a:rPr lang="bg-BG" sz="2400" dirty="0">
                <a:solidFill>
                  <a:prstClr val="black"/>
                </a:solidFill>
              </a:rPr>
              <a:t>Управлението е оптимално, ако то осигурява поддържане стойността на този показател в точката на екстремум. При търсене на екстремум е известно, че първата частната производна на функцията, описваща показателя на качеството, трябва да е равна на нула в точката на екстремума. Това изисква изчисляване на първата производна. На практика това става като се изчисли отношението в две близки точки на разликите в изменението на функцията към нейната координата. </a:t>
            </a:r>
            <a:endParaRPr lang="en-GB" sz="2400" dirty="0">
              <a:solidFill>
                <a:prstClr val="black"/>
              </a:solidFill>
            </a:endParaRPr>
          </a:p>
          <a:p>
            <a:pPr marL="901700" indent="-342900" algn="just">
              <a:lnSpc>
                <a:spcPct val="120000"/>
              </a:lnSpc>
              <a:buClr>
                <a:srgbClr val="D34817">
                  <a:lumMod val="75000"/>
                </a:srgbClr>
              </a:buClr>
              <a:buSzPct val="85000"/>
              <a:buFont typeface="Wingdings" panose="05000000000000000000" pitchFamily="2" charset="2"/>
              <a:buChar char="q"/>
            </a:pPr>
            <a:r>
              <a:rPr lang="bg-BG" sz="2400" dirty="0">
                <a:solidFill>
                  <a:prstClr val="black"/>
                </a:solidFill>
              </a:rPr>
              <a:t>Принцип на оптималното управление</a:t>
            </a:r>
            <a:r>
              <a:rPr lang="en-GB" sz="2400" dirty="0">
                <a:solidFill>
                  <a:prstClr val="black"/>
                </a:solidFill>
              </a:rPr>
              <a:t>;</a:t>
            </a:r>
            <a:r>
              <a:rPr lang="bg-BG" sz="2400" dirty="0">
                <a:solidFill>
                  <a:prstClr val="black"/>
                </a:solidFill>
              </a:rPr>
              <a:t> </a:t>
            </a:r>
            <a:endParaRPr lang="en-GB" sz="2400" dirty="0">
              <a:solidFill>
                <a:prstClr val="black"/>
              </a:solidFill>
            </a:endParaRPr>
          </a:p>
          <a:p>
            <a:pPr indent="533400" algn="just">
              <a:lnSpc>
                <a:spcPct val="130000"/>
              </a:lnSpc>
              <a:buClr>
                <a:srgbClr val="D34817">
                  <a:lumMod val="75000"/>
                </a:srgbClr>
              </a:buClr>
              <a:buSzPct val="85000"/>
            </a:pPr>
            <a:r>
              <a:rPr lang="bg-BG" sz="2400" dirty="0">
                <a:solidFill>
                  <a:prstClr val="black"/>
                </a:solidFill>
              </a:rPr>
              <a:t>При управление на дейността във фирма обикновено се интересуваме от крайния ефект при изпълнение на дадена производствена програма. И не се изследва ефективността по време на самото производство (преходния процес). При управление на технически системи оптимизацията е съществена и в преходен режим.  </a:t>
            </a:r>
            <a:endParaRPr lang="en-GB" sz="2400" dirty="0">
              <a:solidFill>
                <a:prstClr val="black"/>
              </a:solidFill>
            </a:endParaRPr>
          </a:p>
        </p:txBody>
      </p:sp>
    </p:spTree>
    <p:extLst>
      <p:ext uri="{BB962C8B-B14F-4D97-AF65-F5344CB8AC3E}">
        <p14:creationId xmlns:p14="http://schemas.microsoft.com/office/powerpoint/2010/main" val="2949907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2" name="Rectangle 1"/>
          <p:cNvSpPr/>
          <p:nvPr/>
        </p:nvSpPr>
        <p:spPr>
          <a:xfrm>
            <a:off x="1903664" y="0"/>
            <a:ext cx="10020370" cy="1131785"/>
          </a:xfrm>
          <a:prstGeom prst="rect">
            <a:avLst/>
          </a:prstGeom>
        </p:spPr>
        <p:txBody>
          <a:bodyPr wrap="square">
            <a:spAutoFit/>
          </a:bodyPr>
          <a:lstStyle/>
          <a:p>
            <a:pPr algn="just">
              <a:lnSpc>
                <a:spcPct val="150000"/>
              </a:lnSpc>
              <a:buClr>
                <a:schemeClr val="accent1">
                  <a:lumMod val="75000"/>
                </a:schemeClr>
              </a:buClr>
              <a:buSzPct val="85000"/>
              <a:defRPr/>
            </a:pPr>
            <a:endParaRPr lang="bg-BG" sz="2400" dirty="0"/>
          </a:p>
          <a:p>
            <a:pPr algn="just">
              <a:lnSpc>
                <a:spcPct val="150000"/>
              </a:lnSpc>
              <a:buClr>
                <a:schemeClr val="accent1">
                  <a:lumMod val="75000"/>
                </a:schemeClr>
              </a:buClr>
              <a:buSzPct val="85000"/>
              <a:defRPr/>
            </a:pPr>
            <a:endParaRPr lang="bg-BG" sz="2400" dirty="0"/>
          </a:p>
        </p:txBody>
      </p:sp>
      <p:sp>
        <p:nvSpPr>
          <p:cNvPr id="6" name="Rectangle 5"/>
          <p:cNvSpPr/>
          <p:nvPr/>
        </p:nvSpPr>
        <p:spPr>
          <a:xfrm>
            <a:off x="1638300" y="38480"/>
            <a:ext cx="10553700" cy="6777240"/>
          </a:xfrm>
          <a:prstGeom prst="rect">
            <a:avLst/>
          </a:prstGeom>
        </p:spPr>
        <p:txBody>
          <a:bodyPr wrap="square">
            <a:spAutoFit/>
          </a:bodyPr>
          <a:lstStyle/>
          <a:p>
            <a:pPr algn="just">
              <a:lnSpc>
                <a:spcPct val="130000"/>
              </a:lnSpc>
              <a:buClr>
                <a:srgbClr val="D34817">
                  <a:lumMod val="75000"/>
                </a:srgbClr>
              </a:buClr>
              <a:buSzPct val="85000"/>
            </a:pPr>
            <a:r>
              <a:rPr lang="bg-BG" sz="2400" dirty="0">
                <a:solidFill>
                  <a:prstClr val="black"/>
                </a:solidFill>
              </a:rPr>
              <a:t>Намирането на оптимално управление в такива задачи изисква решаване на достатъчно сложни математически задачи с методите на вариационното смятане или динамичното математическо програмиране в зависимост от вида на математическия модел на системата. Неразделна част от система, в която е заложен принципът на оптималното управление е компютърът. Принципът на работа на такава система се състои в постъпване на информация за текущото състояние на системата, входните, изходните и смущаващите въздействия и задаване стойност на критерия за оптималност. По заложен алгоритъм компютърът изчислява оптималното управление.</a:t>
            </a:r>
            <a:endParaRPr lang="en-GB" sz="2400" dirty="0">
              <a:solidFill>
                <a:prstClr val="black"/>
              </a:solidFill>
            </a:endParaRPr>
          </a:p>
          <a:p>
            <a:pPr marL="901700" indent="-342900" algn="just">
              <a:lnSpc>
                <a:spcPct val="120000"/>
              </a:lnSpc>
              <a:buClr>
                <a:srgbClr val="D34817">
                  <a:lumMod val="75000"/>
                </a:srgbClr>
              </a:buClr>
              <a:buSzPct val="85000"/>
              <a:buFont typeface="Wingdings" panose="05000000000000000000" pitchFamily="2" charset="2"/>
              <a:buChar char="q"/>
            </a:pPr>
            <a:r>
              <a:rPr lang="bg-BG" sz="2400" dirty="0">
                <a:solidFill>
                  <a:prstClr val="black"/>
                </a:solidFill>
              </a:rPr>
              <a:t>Адаптивни системи</a:t>
            </a:r>
            <a:r>
              <a:rPr lang="en-GB" sz="2400" dirty="0">
                <a:solidFill>
                  <a:prstClr val="black"/>
                </a:solidFill>
              </a:rPr>
              <a:t>;</a:t>
            </a:r>
          </a:p>
          <a:p>
            <a:pPr indent="533400" algn="just">
              <a:lnSpc>
                <a:spcPct val="130000"/>
              </a:lnSpc>
              <a:buClr>
                <a:srgbClr val="D34817">
                  <a:lumMod val="75000"/>
                </a:srgbClr>
              </a:buClr>
              <a:buSzPct val="85000"/>
            </a:pPr>
            <a:r>
              <a:rPr lang="bg-BG" sz="2400" dirty="0">
                <a:solidFill>
                  <a:prstClr val="black"/>
                </a:solidFill>
              </a:rPr>
              <a:t>В реалните системи външните смущаващи въздействия водят не само до промяна на координатите (състоянието) на системата, но и на нейните параметри, които в математическия модел се приемат за постоянни. </a:t>
            </a:r>
            <a:endParaRPr lang="en-GB" sz="2400" dirty="0">
              <a:solidFill>
                <a:prstClr val="black"/>
              </a:solidFill>
            </a:endParaRPr>
          </a:p>
        </p:txBody>
      </p:sp>
    </p:spTree>
    <p:extLst>
      <p:ext uri="{BB962C8B-B14F-4D97-AF65-F5344CB8AC3E}">
        <p14:creationId xmlns:p14="http://schemas.microsoft.com/office/powerpoint/2010/main" val="3897978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3" name="Rectangle 9"/>
          <p:cNvSpPr>
            <a:spLocks noChangeArrowheads="1"/>
          </p:cNvSpPr>
          <p:nvPr/>
        </p:nvSpPr>
        <p:spPr bwMode="auto">
          <a:xfrm>
            <a:off x="7765143" y="483769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5" name="Rectangle 4"/>
          <p:cNvSpPr/>
          <p:nvPr/>
        </p:nvSpPr>
        <p:spPr>
          <a:xfrm>
            <a:off x="1934818" y="71789"/>
            <a:ext cx="10166050" cy="6814173"/>
          </a:xfrm>
          <a:prstGeom prst="rect">
            <a:avLst/>
          </a:prstGeom>
        </p:spPr>
        <p:txBody>
          <a:bodyPr wrap="square">
            <a:spAutoFit/>
          </a:bodyPr>
          <a:lstStyle/>
          <a:p>
            <a:pPr indent="533400" algn="just">
              <a:lnSpc>
                <a:spcPct val="130000"/>
              </a:lnSpc>
              <a:buClr>
                <a:srgbClr val="D34817">
                  <a:lumMod val="75000"/>
                </a:srgbClr>
              </a:buClr>
              <a:buSzPct val="85000"/>
            </a:pPr>
            <a:r>
              <a:rPr lang="bg-BG" sz="2400" dirty="0">
                <a:solidFill>
                  <a:prstClr val="black"/>
                </a:solidFill>
              </a:rPr>
              <a:t>Изменението на параметри извън определени граници води до количествени грешки и влошаване на други показатели за качество на системата, а в някои случаи и до загуба на работоспособността на системата. Ако се изхожда от приетите принципи за управление, то е невъзможно да бъдат отстранени посочените промени в изменението на параметрите на системата. Необходими са промени в математическото описание на системата вследствие на направените промени.</a:t>
            </a:r>
          </a:p>
          <a:p>
            <a:pPr indent="533400" algn="just">
              <a:lnSpc>
                <a:spcPct val="130000"/>
              </a:lnSpc>
              <a:buClr>
                <a:srgbClr val="D34817">
                  <a:lumMod val="75000"/>
                </a:srgbClr>
              </a:buClr>
              <a:buSzPct val="85000"/>
            </a:pPr>
            <a:r>
              <a:rPr lang="bg-BG" sz="2400" dirty="0">
                <a:solidFill>
                  <a:prstClr val="black"/>
                </a:solidFill>
              </a:rPr>
              <a:t>Системи, които автоматично променят стойностите на своите параметри или структура при непредвидени промени във външните условия на базата на анализ състоянието и поведението на системата, се наричат адаптивни системи. Терминът е заимстван от биологията, където адаптация се нарича приспособяване на организма към изменящата се среда с цел съхраняване жизнеспособността. </a:t>
            </a:r>
            <a:endParaRPr lang="en-GB" sz="2400" dirty="0">
              <a:solidFill>
                <a:prstClr val="black"/>
              </a:solidFill>
            </a:endParaRPr>
          </a:p>
        </p:txBody>
      </p:sp>
      <p:sp>
        <p:nvSpPr>
          <p:cNvPr id="12" name="Rectangle 7"/>
          <p:cNvSpPr>
            <a:spLocks noChangeArrowheads="1"/>
          </p:cNvSpPr>
          <p:nvPr/>
        </p:nvSpPr>
        <p:spPr bwMode="auto">
          <a:xfrm>
            <a:off x="3154016" y="2506132"/>
            <a:ext cx="192993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15"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753872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9" name="Rectangle 5"/>
          <p:cNvSpPr>
            <a:spLocks noChangeArrowheads="1"/>
          </p:cNvSpPr>
          <p:nvPr/>
        </p:nvSpPr>
        <p:spPr bwMode="auto">
          <a:xfrm>
            <a:off x="2946400" y="1858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5"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9"/>
          <p:cNvSpPr/>
          <p:nvPr/>
        </p:nvSpPr>
        <p:spPr>
          <a:xfrm>
            <a:off x="2032000" y="0"/>
            <a:ext cx="10160000" cy="6777240"/>
          </a:xfrm>
          <a:prstGeom prst="rect">
            <a:avLst/>
          </a:prstGeom>
        </p:spPr>
        <p:txBody>
          <a:bodyPr wrap="square">
            <a:spAutoFit/>
          </a:bodyPr>
          <a:lstStyle/>
          <a:p>
            <a:pPr indent="533400" algn="just">
              <a:lnSpc>
                <a:spcPct val="130000"/>
              </a:lnSpc>
              <a:buClr>
                <a:srgbClr val="D34817">
                  <a:lumMod val="75000"/>
                </a:srgbClr>
              </a:buClr>
              <a:buSzPct val="85000"/>
            </a:pPr>
            <a:r>
              <a:rPr lang="bg-BG" sz="2400" dirty="0">
                <a:solidFill>
                  <a:prstClr val="black"/>
                </a:solidFill>
              </a:rPr>
              <a:t>Адаптивните системи, в които се изменят само стойностите на параметрите се наричат самонастройващи се.</a:t>
            </a:r>
            <a:endParaRPr lang="bg-BG" sz="2400" dirty="0">
              <a:solidFill>
                <a:srgbClr val="FF0000"/>
              </a:solidFill>
            </a:endParaRPr>
          </a:p>
          <a:p>
            <a:pPr indent="533400" algn="just">
              <a:lnSpc>
                <a:spcPct val="130000"/>
              </a:lnSpc>
              <a:buClr>
                <a:srgbClr val="D34817">
                  <a:lumMod val="75000"/>
                </a:srgbClr>
              </a:buClr>
              <a:buSzPct val="85000"/>
            </a:pPr>
            <a:r>
              <a:rPr lang="bg-BG" sz="2400" dirty="0">
                <a:solidFill>
                  <a:prstClr val="black"/>
                </a:solidFill>
              </a:rPr>
              <a:t>В адаптивните системи също се задават изисквания към качеството. Тя съдържа един контур, наречен ядро, който реализира един от по-горе изброените принципи на управление, и друг контур за реализация на адаптацията.</a:t>
            </a:r>
          </a:p>
          <a:p>
            <a:pPr indent="533400" algn="just">
              <a:lnSpc>
                <a:spcPct val="130000"/>
              </a:lnSpc>
              <a:buClr>
                <a:srgbClr val="D34817">
                  <a:lumMod val="75000"/>
                </a:srgbClr>
              </a:buClr>
              <a:buSzPct val="85000"/>
            </a:pPr>
            <a:r>
              <a:rPr lang="bg-BG" sz="2400" dirty="0">
                <a:solidFill>
                  <a:prstClr val="black"/>
                </a:solidFill>
              </a:rPr>
              <a:t>Изчисляването на управляващото въздействие за корекция на параметрите е трудна математическа задача, което означава, че в адаптивните системи широко се използват съвременни изчислителни системи.</a:t>
            </a:r>
          </a:p>
          <a:p>
            <a:pPr marL="901700" indent="-342900" algn="just">
              <a:lnSpc>
                <a:spcPct val="120000"/>
              </a:lnSpc>
              <a:buClr>
                <a:srgbClr val="D34817">
                  <a:lumMod val="75000"/>
                </a:srgbClr>
              </a:buClr>
              <a:buSzPct val="85000"/>
              <a:buFont typeface="Wingdings" panose="05000000000000000000" pitchFamily="2" charset="2"/>
              <a:buChar char="q"/>
            </a:pPr>
            <a:r>
              <a:rPr lang="ru-RU" sz="2400" dirty="0">
                <a:solidFill>
                  <a:prstClr val="black"/>
                </a:solidFill>
              </a:rPr>
              <a:t>Системи за оптимално управление;</a:t>
            </a:r>
          </a:p>
          <a:p>
            <a:pPr indent="533400" algn="just">
              <a:lnSpc>
                <a:spcPct val="130000"/>
              </a:lnSpc>
              <a:buClr>
                <a:srgbClr val="D34817">
                  <a:lumMod val="75000"/>
                </a:srgbClr>
              </a:buClr>
              <a:buSzPct val="85000"/>
            </a:pPr>
            <a:r>
              <a:rPr lang="ru-RU" sz="2400" dirty="0">
                <a:solidFill>
                  <a:prstClr val="black"/>
                </a:solidFill>
              </a:rPr>
              <a:t>В преобладаващата част от техническите системи възниква задачата за оптимално (намиране най-доброто) управление по отношение на някакъв показател или критерий. </a:t>
            </a:r>
            <a:endParaRPr lang="bg-BG" sz="2400" dirty="0">
              <a:solidFill>
                <a:prstClr val="black"/>
              </a:solidFill>
            </a:endParaRPr>
          </a:p>
        </p:txBody>
      </p:sp>
    </p:spTree>
    <p:extLst>
      <p:ext uri="{BB962C8B-B14F-4D97-AF65-F5344CB8AC3E}">
        <p14:creationId xmlns:p14="http://schemas.microsoft.com/office/powerpoint/2010/main" val="301204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3" name="Rectangle 22"/>
              <p:cNvSpPr/>
              <p:nvPr/>
            </p:nvSpPr>
            <p:spPr>
              <a:xfrm>
                <a:off x="2071756" y="45424"/>
                <a:ext cx="9934074" cy="6822830"/>
              </a:xfrm>
              <a:prstGeom prst="rect">
                <a:avLst/>
              </a:prstGeom>
            </p:spPr>
            <p:txBody>
              <a:bodyPr wrap="square">
                <a:spAutoFit/>
              </a:bodyPr>
              <a:lstStyle/>
              <a:p>
                <a:pPr indent="533400" algn="just">
                  <a:lnSpc>
                    <a:spcPct val="130000"/>
                  </a:lnSpc>
                  <a:buClr>
                    <a:srgbClr val="D34817">
                      <a:lumMod val="75000"/>
                    </a:srgbClr>
                  </a:buClr>
                  <a:buSzPct val="85000"/>
                </a:pPr>
                <a:r>
                  <a:rPr lang="ru-RU" sz="2400" dirty="0">
                    <a:solidFill>
                      <a:prstClr val="black"/>
                    </a:solidFill>
                  </a:rPr>
                  <a:t>За да се реши такава задача, трябва от наличието на множество решения да се определи най-доброто.</a:t>
                </a:r>
              </a:p>
              <a:p>
                <a:pPr indent="533400" algn="just">
                  <a:lnSpc>
                    <a:spcPct val="130000"/>
                  </a:lnSpc>
                  <a:buClr>
                    <a:srgbClr val="D34817">
                      <a:lumMod val="75000"/>
                    </a:srgbClr>
                  </a:buClr>
                  <a:buSzPct val="85000"/>
                </a:pPr>
                <a:r>
                  <a:rPr lang="ru-RU" sz="2400" i="1" dirty="0">
                    <a:solidFill>
                      <a:prstClr val="black"/>
                    </a:solidFill>
                  </a:rPr>
                  <a:t>Постановка на задачата</a:t>
                </a:r>
              </a:p>
              <a:p>
                <a:pPr indent="533400" algn="just">
                  <a:lnSpc>
                    <a:spcPct val="130000"/>
                  </a:lnSpc>
                  <a:buClr>
                    <a:srgbClr val="D34817">
                      <a:lumMod val="75000"/>
                    </a:srgbClr>
                  </a:buClr>
                  <a:buSzPct val="85000"/>
                </a:pPr>
                <a:r>
                  <a:rPr lang="ru-RU" sz="2400" dirty="0">
                    <a:solidFill>
                      <a:prstClr val="black"/>
                    </a:solidFill>
                  </a:rPr>
                  <a:t>Нека състоянието на система или обект се описва с вектор на състоянието </a:t>
                </a:r>
                <a14:m>
                  <m:oMath xmlns:m="http://schemas.openxmlformats.org/officeDocument/2006/math">
                    <m:r>
                      <a:rPr lang="en-US" sz="2400" i="1">
                        <a:latin typeface="Cambria Math" panose="02040503050406030204" pitchFamily="18" charset="0"/>
                      </a:rPr>
                      <m:t>𝑥</m:t>
                    </m:r>
                    <m:r>
                      <a:rPr lang="bg-BG" sz="2400" b="0" i="1" smtClean="0">
                        <a:latin typeface="Cambria Math" panose="02040503050406030204" pitchFamily="18" charset="0"/>
                      </a:rPr>
                      <m:t>=</m:t>
                    </m:r>
                  </m:oMath>
                </a14:m>
                <a:r>
                  <a:rPr lang="ru-RU" sz="2400" dirty="0">
                    <a:solidFill>
                      <a:prstClr val="black"/>
                    </a:solidFill>
                  </a:rPr>
                  <a:t>(</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bg-BG" sz="2400" b="0" i="1" smtClean="0">
                            <a:latin typeface="Cambria Math" panose="02040503050406030204" pitchFamily="18" charset="0"/>
                          </a:rPr>
                          <m:t>,</m:t>
                        </m:r>
                        <m:r>
                          <a:rPr lang="en-US" sz="2400" i="1">
                            <a:latin typeface="Cambria Math" panose="02040503050406030204" pitchFamily="18" charset="0"/>
                          </a:rPr>
                          <m:t>𝑥</m:t>
                        </m:r>
                      </m:e>
                      <m:sub>
                        <m:r>
                          <a:rPr lang="en-US" sz="2400" i="1">
                            <a:latin typeface="Cambria Math" panose="02040503050406030204" pitchFamily="18" charset="0"/>
                          </a:rPr>
                          <m:t>2</m:t>
                        </m:r>
                      </m:sub>
                    </m:sSub>
                    <m:r>
                      <a:rPr lang="bg-BG" sz="2400" b="0" i="1" smtClean="0">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bg-BG" sz="2400" b="0" i="1" smtClean="0">
                            <a:latin typeface="Cambria Math" panose="02040503050406030204" pitchFamily="18" charset="0"/>
                          </a:rPr>
                          <m:t>,</m:t>
                        </m:r>
                        <m:r>
                          <a:rPr lang="en-US" sz="2400" i="1">
                            <a:latin typeface="Cambria Math" panose="02040503050406030204" pitchFamily="18" charset="0"/>
                          </a:rPr>
                          <m:t>𝑥</m:t>
                        </m:r>
                      </m:e>
                      <m:sub>
                        <m:r>
                          <a:rPr lang="en-US" sz="2400" i="1">
                            <a:latin typeface="Cambria Math" panose="02040503050406030204" pitchFamily="18" charset="0"/>
                          </a:rPr>
                          <m:t>𝑛</m:t>
                        </m:r>
                      </m:sub>
                    </m:sSub>
                  </m:oMath>
                </a14:m>
                <a:r>
                  <a:rPr lang="ru-RU" sz="2400" dirty="0">
                    <a:solidFill>
                      <a:prstClr val="black"/>
                    </a:solidFill>
                  </a:rPr>
                  <a:t>). Изменението на вектора на състоянието в пространството на състоянията се изобразява с траекторията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a14:m>
                <a:r>
                  <a:rPr lang="ru-RU" sz="2400" dirty="0">
                    <a:solidFill>
                      <a:prstClr val="black"/>
                    </a:solidFill>
                  </a:rPr>
                  <a:t>. За преминаване на системата от едно състояние в друго или от една траектория в друга към нея трябва да приложи управляващо въздействие (или кратко - управление), което се изразява с вектора на управлението </a:t>
                </a:r>
                <a:r>
                  <a:rPr lang="en-GB" sz="2400" dirty="0">
                    <a:solidFill>
                      <a:prstClr val="black"/>
                    </a:solidFill>
                  </a:rPr>
                  <a:t>u</a:t>
                </a:r>
                <a14:m>
                  <m:oMath xmlns:m="http://schemas.openxmlformats.org/officeDocument/2006/math">
                    <m:r>
                      <a:rPr lang="en-US" sz="2400" i="1">
                        <a:latin typeface="Cambria Math" panose="02040503050406030204" pitchFamily="18" charset="0"/>
                      </a:rPr>
                      <m:t>=</m:t>
                    </m:r>
                  </m:oMath>
                </a14:m>
                <a:r>
                  <a:rPr lang="ru-RU" sz="2400" dirty="0">
                    <a:solidFill>
                      <a:prstClr val="black"/>
                    </a:solidFill>
                  </a:rPr>
                  <a:t>(</a:t>
                </a:r>
                <a14:m>
                  <m:oMath xmlns:m="http://schemas.openxmlformats.org/officeDocument/2006/math">
                    <m:sSub>
                      <m:sSubPr>
                        <m:ctrlPr>
                          <a:rPr lang="en-US" sz="2400" i="1">
                            <a:latin typeface="Cambria Math" panose="02040503050406030204" pitchFamily="18" charset="0"/>
                          </a:rPr>
                        </m:ctrlPr>
                      </m:sSubPr>
                      <m:e>
                        <m:r>
                          <a:rPr lang="en-GB" sz="2400" b="0" i="1" smtClean="0">
                            <a:latin typeface="Cambria Math" panose="02040503050406030204" pitchFamily="18" charset="0"/>
                          </a:rPr>
                          <m:t>𝑢</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bg-BG" sz="2400" i="1">
                            <a:latin typeface="Cambria Math" panose="02040503050406030204" pitchFamily="18" charset="0"/>
                          </a:rPr>
                          <m:t>,</m:t>
                        </m:r>
                        <m:r>
                          <a:rPr lang="en-GB" sz="2400" b="0" i="1" smtClean="0">
                            <a:latin typeface="Cambria Math" panose="02040503050406030204" pitchFamily="18" charset="0"/>
                          </a:rPr>
                          <m:t>𝑢</m:t>
                        </m:r>
                      </m:e>
                      <m:sub>
                        <m:r>
                          <a:rPr lang="en-US" sz="2400" i="1">
                            <a:latin typeface="Cambria Math" panose="02040503050406030204" pitchFamily="18" charset="0"/>
                          </a:rPr>
                          <m:t>2</m:t>
                        </m:r>
                      </m:sub>
                    </m:sSub>
                    <m:r>
                      <a:rPr lang="bg-BG" sz="2400" i="1">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bg-BG" sz="2400" i="1">
                            <a:latin typeface="Cambria Math" panose="02040503050406030204" pitchFamily="18" charset="0"/>
                          </a:rPr>
                          <m:t>,</m:t>
                        </m:r>
                        <m:r>
                          <a:rPr lang="en-GB" sz="2400" b="0" i="1" smtClean="0">
                            <a:latin typeface="Cambria Math" panose="02040503050406030204" pitchFamily="18" charset="0"/>
                          </a:rPr>
                          <m:t>𝑢</m:t>
                        </m:r>
                      </m:e>
                      <m:sub>
                        <m:r>
                          <a:rPr lang="en-GB" sz="2400" b="0" i="1" smtClean="0">
                            <a:latin typeface="Cambria Math" panose="02040503050406030204" pitchFamily="18" charset="0"/>
                          </a:rPr>
                          <m:t>𝑚</m:t>
                        </m:r>
                      </m:sub>
                    </m:sSub>
                  </m:oMath>
                </a14:m>
                <a:r>
                  <a:rPr lang="ru-RU" sz="2400" dirty="0">
                    <a:solidFill>
                      <a:prstClr val="black"/>
                    </a:solidFill>
                  </a:rPr>
                  <a:t>). </a:t>
                </a:r>
                <a:endParaRPr lang="bg-BG" sz="2400" dirty="0">
                  <a:solidFill>
                    <a:prstClr val="black"/>
                  </a:solidFill>
                </a:endParaRPr>
              </a:p>
              <a:p>
                <a:pPr indent="533400" algn="just">
                  <a:lnSpc>
                    <a:spcPct val="130000"/>
                  </a:lnSpc>
                  <a:buClr>
                    <a:srgbClr val="D34817">
                      <a:lumMod val="75000"/>
                    </a:srgbClr>
                  </a:buClr>
                  <a:buSzPct val="85000"/>
                </a:pPr>
                <a:r>
                  <a:rPr lang="ru-RU" sz="2400" i="1" dirty="0">
                    <a:solidFill>
                      <a:prstClr val="black"/>
                    </a:solidFill>
                  </a:rPr>
                  <a:t>Краеви задачи. </a:t>
                </a:r>
                <a:r>
                  <a:rPr lang="ru-RU" sz="2400" dirty="0">
                    <a:solidFill>
                      <a:prstClr val="black"/>
                    </a:solidFill>
                  </a:rPr>
                  <a:t>Основна цел на управлението  често се задава с краеви или гранични условия, които се определят от началния вектор на състоянието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GB" sz="2400" b="0" i="1" smtClean="0">
                            <a:latin typeface="Cambria Math" panose="02040503050406030204" pitchFamily="18" charset="0"/>
                          </a:rPr>
                          <m:t>𝑡</m:t>
                        </m:r>
                      </m:e>
                      <m:sub>
                        <m:r>
                          <a:rPr lang="en-GB" sz="2400" b="0" i="1" smtClean="0">
                            <a:latin typeface="Cambria Math" panose="02040503050406030204" pitchFamily="18" charset="0"/>
                          </a:rPr>
                          <m:t>0</m:t>
                        </m:r>
                      </m:sub>
                    </m:sSub>
                    <m:r>
                      <a:rPr lang="en-US" sz="2400" i="1">
                        <a:latin typeface="Cambria Math" panose="02040503050406030204" pitchFamily="18" charset="0"/>
                      </a:rPr>
                      <m:t>)</m:t>
                    </m:r>
                  </m:oMath>
                </a14:m>
                <a:r>
                  <a:rPr lang="ru-RU" sz="2400" dirty="0">
                    <a:solidFill>
                      <a:prstClr val="black"/>
                    </a:solidFill>
                  </a:rPr>
                  <a:t> в момента </a:t>
                </a:r>
                <a14:m>
                  <m:oMath xmlns:m="http://schemas.openxmlformats.org/officeDocument/2006/math">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sSub>
                      <m:sSubPr>
                        <m:ctrlPr>
                          <a:rPr lang="en-GB" sz="2400" b="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𝑡</m:t>
                        </m:r>
                      </m:e>
                      <m:sub>
                        <m:r>
                          <a:rPr lang="en-GB" sz="2400" b="0" i="1" smtClean="0">
                            <a:solidFill>
                              <a:prstClr val="black"/>
                            </a:solidFill>
                            <a:latin typeface="Cambria Math" panose="02040503050406030204" pitchFamily="18" charset="0"/>
                          </a:rPr>
                          <m:t>0</m:t>
                        </m:r>
                      </m:sub>
                    </m:sSub>
                  </m:oMath>
                </a14:m>
                <a:r>
                  <a:rPr lang="ru-RU" sz="2400" dirty="0">
                    <a:solidFill>
                      <a:prstClr val="black"/>
                    </a:solidFill>
                  </a:rPr>
                  <a:t> и крайно състояние</a:t>
                </a:r>
                <a:r>
                  <a:rPr lang="en-GB" sz="2400" dirty="0">
                    <a:solidFill>
                      <a:prstClr val="black"/>
                    </a:solidFill>
                  </a:rPr>
                  <a:t> </a:t>
                </a:r>
                <a14:m>
                  <m:oMath xmlns:m="http://schemas.openxmlformats.org/officeDocument/2006/math">
                    <m:r>
                      <a:rPr lang="en-GB" sz="2400" b="0" i="1" smtClean="0">
                        <a:solidFill>
                          <a:prstClr val="black"/>
                        </a:solidFill>
                        <a:latin typeface="Cambria Math" panose="02040503050406030204" pitchFamily="18" charset="0"/>
                      </a:rPr>
                      <m:t>𝑥</m:t>
                    </m:r>
                    <m:r>
                      <a:rPr lang="en-GB" sz="2400" b="0" i="1" smtClean="0">
                        <a:solidFill>
                          <a:prstClr val="black"/>
                        </a:solidFill>
                        <a:latin typeface="Cambria Math" panose="02040503050406030204" pitchFamily="18" charset="0"/>
                      </a:rPr>
                      <m:t>(</m:t>
                    </m:r>
                    <m:sSub>
                      <m:sSubPr>
                        <m:ctrlPr>
                          <a:rPr lang="en-GB" sz="2400" b="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𝑡</m:t>
                        </m:r>
                      </m:e>
                      <m:sub>
                        <m:r>
                          <a:rPr lang="en-GB" sz="2400" b="0" i="1" smtClean="0">
                            <a:solidFill>
                              <a:prstClr val="black"/>
                            </a:solidFill>
                            <a:latin typeface="Cambria Math" panose="02040503050406030204" pitchFamily="18" charset="0"/>
                          </a:rPr>
                          <m:t>𝑓</m:t>
                        </m:r>
                      </m:sub>
                    </m:sSub>
                    <m:r>
                      <a:rPr lang="en-GB" sz="2400" b="0" i="1" smtClean="0">
                        <a:solidFill>
                          <a:prstClr val="black"/>
                        </a:solidFill>
                        <a:latin typeface="Cambria Math" panose="02040503050406030204" pitchFamily="18" charset="0"/>
                      </a:rPr>
                      <m:t>)</m:t>
                    </m:r>
                  </m:oMath>
                </a14:m>
                <a:r>
                  <a:rPr lang="en-GB" sz="2400" dirty="0">
                    <a:solidFill>
                      <a:prstClr val="black"/>
                    </a:solidFill>
                  </a:rPr>
                  <a:t> </a:t>
                </a:r>
                <a:r>
                  <a:rPr lang="ru-RU" sz="2400" dirty="0">
                    <a:solidFill>
                      <a:prstClr val="black"/>
                    </a:solidFill>
                  </a:rPr>
                  <a:t>в момента  </a:t>
                </a:r>
                <a14:m>
                  <m:oMath xmlns:m="http://schemas.openxmlformats.org/officeDocument/2006/math">
                    <m:r>
                      <a:rPr lang="en-GB" sz="2400" i="1">
                        <a:solidFill>
                          <a:prstClr val="black"/>
                        </a:solidFill>
                        <a:latin typeface="Cambria Math" panose="02040503050406030204" pitchFamily="18" charset="0"/>
                      </a:rPr>
                      <m:t>𝑡</m:t>
                    </m:r>
                    <m:r>
                      <a:rPr lang="en-GB" sz="2400" i="1">
                        <a:solidFill>
                          <a:prstClr val="black"/>
                        </a:solidFill>
                        <a:latin typeface="Cambria Math" panose="02040503050406030204" pitchFamily="18" charset="0"/>
                      </a:rPr>
                      <m:t>=</m:t>
                    </m:r>
                    <m:sSub>
                      <m:sSubPr>
                        <m:ctrlPr>
                          <a:rPr lang="en-GB" sz="2400" i="1">
                            <a:solidFill>
                              <a:prstClr val="black"/>
                            </a:solidFill>
                            <a:latin typeface="Cambria Math" panose="02040503050406030204" pitchFamily="18" charset="0"/>
                          </a:rPr>
                        </m:ctrlPr>
                      </m:sSubPr>
                      <m:e>
                        <m:r>
                          <a:rPr lang="en-GB" sz="2400" i="1">
                            <a:solidFill>
                              <a:prstClr val="black"/>
                            </a:solidFill>
                            <a:latin typeface="Cambria Math" panose="02040503050406030204" pitchFamily="18" charset="0"/>
                          </a:rPr>
                          <m:t>𝑡</m:t>
                        </m:r>
                      </m:e>
                      <m:sub>
                        <m:r>
                          <a:rPr lang="en-GB" sz="2400" b="0" i="1" smtClean="0">
                            <a:solidFill>
                              <a:prstClr val="black"/>
                            </a:solidFill>
                            <a:latin typeface="Cambria Math" panose="02040503050406030204" pitchFamily="18" charset="0"/>
                          </a:rPr>
                          <m:t>𝑓</m:t>
                        </m:r>
                      </m:sub>
                    </m:sSub>
                  </m:oMath>
                </a14:m>
                <a:r>
                  <a:rPr lang="ru-RU" sz="2400" dirty="0">
                    <a:solidFill>
                      <a:prstClr val="black"/>
                    </a:solidFill>
                  </a:rPr>
                  <a:t>. </a:t>
                </a:r>
                <a:endParaRPr lang="bg-BG" sz="2400" dirty="0">
                  <a:solidFill>
                    <a:prstClr val="black"/>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2071756" y="45424"/>
                <a:ext cx="9934074" cy="6822830"/>
              </a:xfrm>
              <a:prstGeom prst="rect">
                <a:avLst/>
              </a:prstGeom>
              <a:blipFill>
                <a:blip r:embed="rId3"/>
                <a:stretch>
                  <a:fillRect l="-982" r="-921" b="-446"/>
                </a:stretch>
              </a:blipFill>
            </p:spPr>
            <p:txBody>
              <a:bodyPr/>
              <a:lstStyle/>
              <a:p>
                <a:r>
                  <a:rPr lang="bg-BG">
                    <a:noFill/>
                  </a:rPr>
                  <a:t> </a:t>
                </a:r>
              </a:p>
            </p:txBody>
          </p:sp>
        </mc:Fallback>
      </mc:AlternateContent>
    </p:spTree>
    <p:extLst>
      <p:ext uri="{BB962C8B-B14F-4D97-AF65-F5344CB8AC3E}">
        <p14:creationId xmlns:p14="http://schemas.microsoft.com/office/powerpoint/2010/main" val="877534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5" name="Content Placeholder 2"/>
          <p:cNvSpPr txBox="1">
            <a:spLocks/>
          </p:cNvSpPr>
          <p:nvPr/>
        </p:nvSpPr>
        <p:spPr>
          <a:xfrm>
            <a:off x="2125346" y="45718"/>
            <a:ext cx="9947383" cy="6673134"/>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42925" algn="just">
              <a:lnSpc>
                <a:spcPct val="120000"/>
              </a:lnSpc>
              <a:spcBef>
                <a:spcPts val="0"/>
              </a:spcBef>
              <a:buNone/>
            </a:pPr>
            <a:r>
              <a:rPr lang="ru-RU" sz="2400" dirty="0"/>
              <a:t>Числовите стойности на тези вектори съответстват в пространството на състоянията на краеви точки или краища на траекторията. В литературата е прието да се казва, че началните стойности определят левия край на траекторията и се наричат леви условия, а</a:t>
            </a:r>
            <a:r>
              <a:rPr lang="en-GB" sz="2400" dirty="0"/>
              <a:t> </a:t>
            </a:r>
            <a:r>
              <a:rPr lang="bg-BG" sz="2400" dirty="0"/>
              <a:t>крайните </a:t>
            </a:r>
            <a:r>
              <a:rPr lang="ru-RU" sz="2400" dirty="0"/>
              <a:t>стойности определят десния край на траекторията и се наричат десни условия.</a:t>
            </a:r>
          </a:p>
          <a:p>
            <a:pPr marL="0" indent="542925" algn="just">
              <a:lnSpc>
                <a:spcPct val="120000"/>
              </a:lnSpc>
              <a:spcBef>
                <a:spcPts val="0"/>
              </a:spcBef>
              <a:buNone/>
            </a:pPr>
            <a:r>
              <a:rPr lang="ru-RU" sz="2400" dirty="0"/>
              <a:t>Най-често се срещат задачи с фиксирани краища на траекторията. Другия вид задачи се наричат с подвижни краища, когато едното или другото (или и двете) условие не е фиксирано, а е разположено върху някаква повърхност. Възможна е и задача със свободен край, при която не се налага ограничение върху едното от двете условия.</a:t>
            </a:r>
          </a:p>
          <a:p>
            <a:pPr marL="0" indent="542925" algn="just">
              <a:lnSpc>
                <a:spcPct val="120000"/>
              </a:lnSpc>
              <a:spcBef>
                <a:spcPts val="0"/>
              </a:spcBef>
              <a:buNone/>
            </a:pPr>
            <a:r>
              <a:rPr lang="ru-RU" sz="2400" i="1" dirty="0"/>
              <a:t>Критерий за оптималност. </a:t>
            </a:r>
            <a:r>
              <a:rPr lang="ru-RU" sz="2400" dirty="0"/>
              <a:t>В задачите за оптимално управление към основната технологична цел се добавя и оптимизационна цел, която се изразява в изискване да се осигурява екстремум на някакъв показател на качество. </a:t>
            </a:r>
            <a:endParaRPr lang="en-GB" sz="2400"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1824350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7" name="Rectangle 16"/>
          <p:cNvSpPr/>
          <p:nvPr/>
        </p:nvSpPr>
        <p:spPr>
          <a:xfrm>
            <a:off x="1930400" y="160018"/>
            <a:ext cx="10261600" cy="5780044"/>
          </a:xfrm>
          <a:prstGeom prst="rect">
            <a:avLst/>
          </a:prstGeom>
        </p:spPr>
        <p:txBody>
          <a:bodyPr wrap="square">
            <a:spAutoFit/>
          </a:bodyPr>
          <a:lstStyle/>
          <a:p>
            <a:pPr indent="542925" algn="just">
              <a:lnSpc>
                <a:spcPct val="110000"/>
              </a:lnSpc>
            </a:pPr>
            <a:r>
              <a:rPr lang="ru-RU" sz="2400" dirty="0"/>
              <a:t>Той се изразява обикновено с функционал. В практическите задачи за управление системите се описват със система диференциални уравнения от първи ред, а функционалите зависят от вектора на състоянието, неговата първа производна, управлението, начални и крайните стойности на вектора на състоянието, времето и др. В конкретни задачи участват само някои от тези променливи. Функционалът се нарича показател на качество, критерий за оптималност, целева функция и др. Счита се, че функционалът трябва да се минимизира, но ако е необходимо да се максимизира, той се взема с обратен знак. В някой задачи критерият за оптималност се определя лесно. Но в други задачи определянето на функционала е сложна задача. Често изискванията при проектиране на системи са противоречиви. Необходимо е да се получи най-просто, най-евтино, най-точно и най-бързо изделие или устройство.</a:t>
            </a:r>
            <a:endParaRPr lang="en-GB" sz="2400" dirty="0"/>
          </a:p>
        </p:txBody>
      </p:sp>
      <p:sp>
        <p:nvSpPr>
          <p:cNvPr id="18"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4167004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8"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3" name="Rectangle 12"/>
          <p:cNvSpPr/>
          <p:nvPr/>
        </p:nvSpPr>
        <p:spPr>
          <a:xfrm>
            <a:off x="1930400" y="45718"/>
            <a:ext cx="10172699" cy="6740307"/>
          </a:xfrm>
          <a:prstGeom prst="rect">
            <a:avLst/>
          </a:prstGeom>
        </p:spPr>
        <p:txBody>
          <a:bodyPr wrap="square">
            <a:spAutoFit/>
          </a:bodyPr>
          <a:lstStyle/>
          <a:p>
            <a:pPr indent="542925" algn="just">
              <a:lnSpc>
                <a:spcPct val="120000"/>
              </a:lnSpc>
              <a:buClr>
                <a:schemeClr val="accent1">
                  <a:lumMod val="75000"/>
                </a:schemeClr>
              </a:buClr>
              <a:buSzPct val="85000"/>
            </a:pPr>
            <a:r>
              <a:rPr lang="ru-RU" sz="2400" dirty="0"/>
              <a:t>При такава постановка задачата няма решение. В такива случай или се предпочита един от критериите, или се въвеждат тегловни коефициенти, които определят значимостта на всеки функционал. </a:t>
            </a:r>
          </a:p>
          <a:p>
            <a:pPr indent="542925" algn="just">
              <a:lnSpc>
                <a:spcPct val="120000"/>
              </a:lnSpc>
              <a:buClr>
                <a:schemeClr val="accent1">
                  <a:lumMod val="75000"/>
                </a:schemeClr>
              </a:buClr>
              <a:buSzPct val="85000"/>
            </a:pPr>
            <a:r>
              <a:rPr lang="ru-RU" sz="2400" dirty="0"/>
              <a:t>Като критерии за оптималност често се използват линейни зависимости (най-често в икономическите задачи) или квадратични зависимости (в задачите на динамичното програмиране).</a:t>
            </a:r>
          </a:p>
          <a:p>
            <a:pPr indent="542925" algn="just">
              <a:lnSpc>
                <a:spcPct val="120000"/>
              </a:lnSpc>
              <a:buClr>
                <a:schemeClr val="accent1">
                  <a:lumMod val="75000"/>
                </a:schemeClr>
              </a:buClr>
              <a:buSzPct val="85000"/>
            </a:pPr>
            <a:r>
              <a:rPr lang="ru-RU" sz="2400" dirty="0"/>
              <a:t>Ако по някакви причини не може достатъчно убедително да се състави критерий за оптималност, то се обезмисля задачата за оптимално управление.</a:t>
            </a:r>
          </a:p>
          <a:p>
            <a:pPr indent="542925" algn="just">
              <a:lnSpc>
                <a:spcPct val="120000"/>
              </a:lnSpc>
              <a:buClr>
                <a:schemeClr val="accent1">
                  <a:lumMod val="75000"/>
                </a:schemeClr>
              </a:buClr>
              <a:buSzPct val="85000"/>
            </a:pPr>
            <a:r>
              <a:rPr lang="ru-RU" sz="2400" i="1" dirty="0"/>
              <a:t>Уравнения на системата. </a:t>
            </a:r>
            <a:r>
              <a:rPr lang="ru-RU" sz="2400" dirty="0"/>
              <a:t>Определянето на основните цели на управлението и целите на оптимизация във вид на начални и крайни условия и критерий за оптималност е недостатъчно за пълната постановка на задачата за оптимално управление. Необходимо е въвеждане на ограничения, налагани върху координатите на векторите на състоянието и управлението. </a:t>
            </a:r>
            <a:endParaRPr lang="bg-BG" sz="2400" dirty="0"/>
          </a:p>
        </p:txBody>
      </p:sp>
    </p:spTree>
    <p:extLst>
      <p:ext uri="{BB962C8B-B14F-4D97-AF65-F5344CB8AC3E}">
        <p14:creationId xmlns:p14="http://schemas.microsoft.com/office/powerpoint/2010/main" val="3703088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032000" y="45718"/>
            <a:ext cx="10027478" cy="4967514"/>
          </a:xfrm>
          <a:prstGeom prst="rect">
            <a:avLst/>
          </a:prstGeom>
        </p:spPr>
        <p:txBody>
          <a:bodyPr wrap="square">
            <a:spAutoFit/>
          </a:bodyPr>
          <a:lstStyle/>
          <a:p>
            <a:pPr indent="542925" algn="just">
              <a:lnSpc>
                <a:spcPct val="120000"/>
              </a:lnSpc>
              <a:buClr>
                <a:schemeClr val="accent1">
                  <a:lumMod val="75000"/>
                </a:schemeClr>
              </a:buClr>
              <a:buSzPct val="85000"/>
            </a:pPr>
            <a:r>
              <a:rPr lang="ru-RU" sz="2400" dirty="0"/>
              <a:t>Тези ограничения се налагат от самите свойства на системата и се представят със системи диференциални уравнения от вида:</a:t>
            </a:r>
          </a:p>
          <a:p>
            <a:pPr indent="542925" algn="just">
              <a:lnSpc>
                <a:spcPct val="120000"/>
              </a:lnSpc>
              <a:buClr>
                <a:schemeClr val="accent1">
                  <a:lumMod val="75000"/>
                </a:schemeClr>
              </a:buClr>
              <a:buSzPct val="85000"/>
            </a:pPr>
            <a:endParaRPr lang="ru-RU" sz="2400" dirty="0"/>
          </a:p>
          <a:p>
            <a:pPr indent="542925" algn="just">
              <a:lnSpc>
                <a:spcPct val="120000"/>
              </a:lnSpc>
              <a:buClr>
                <a:schemeClr val="accent1">
                  <a:lumMod val="75000"/>
                </a:schemeClr>
              </a:buClr>
              <a:buSzPct val="85000"/>
            </a:pPr>
            <a:r>
              <a:rPr lang="ru-RU" sz="2400" dirty="0"/>
              <a:t> </a:t>
            </a:r>
            <a:r>
              <a:rPr lang="bg-BG" sz="2400" dirty="0"/>
              <a:t>Такива ограничения се наричат нехолономно свързани. </a:t>
            </a:r>
            <a:r>
              <a:rPr lang="bg-BG" sz="2400" i="1" dirty="0"/>
              <a:t>Ограничения. </a:t>
            </a:r>
            <a:r>
              <a:rPr lang="bg-BG" sz="2400" dirty="0"/>
              <a:t>Върху векторите на състоянието и управлението се налагат и други (недиференциални) ограничения, като принадлежност към някакво множество например. Основния тип ограничения от този характер са от тип равенства и от тип неравенства.</a:t>
            </a:r>
          </a:p>
          <a:p>
            <a:pPr indent="542925" algn="just">
              <a:lnSpc>
                <a:spcPct val="120000"/>
              </a:lnSpc>
              <a:buClr>
                <a:schemeClr val="accent1">
                  <a:lumMod val="75000"/>
                </a:schemeClr>
              </a:buClr>
              <a:buSzPct val="85000"/>
            </a:pPr>
            <a:r>
              <a:rPr lang="bg-BG" sz="2400" dirty="0"/>
              <a:t>Задача за намиране на екстремум на функционал се разглежда във вариационното смятане и се нарича вариационна задача. </a:t>
            </a:r>
            <a:endParaRPr lang="en-GB" sz="2400" dirty="0"/>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9" name="Rectangle 2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1" name="Object 10"/>
          <p:cNvGraphicFramePr>
            <a:graphicFrameLocks noChangeAspect="1"/>
          </p:cNvGraphicFramePr>
          <p:nvPr>
            <p:extLst>
              <p:ext uri="{D42A27DB-BD31-4B8C-83A1-F6EECF244321}">
                <p14:modId xmlns:p14="http://schemas.microsoft.com/office/powerpoint/2010/main" val="3140280796"/>
              </p:ext>
            </p:extLst>
          </p:nvPr>
        </p:nvGraphicFramePr>
        <p:xfrm>
          <a:off x="3898806" y="951929"/>
          <a:ext cx="5471583" cy="571793"/>
        </p:xfrm>
        <a:graphic>
          <a:graphicData uri="http://schemas.openxmlformats.org/presentationml/2006/ole">
            <mc:AlternateContent xmlns:mc="http://schemas.openxmlformats.org/markup-compatibility/2006">
              <mc:Choice xmlns:v="urn:schemas-microsoft-com:vml" Requires="v">
                <p:oleObj name="Equation" r:id="rId3" imgW="1790700" imgH="228600" progId="Equation.3">
                  <p:embed/>
                </p:oleObj>
              </mc:Choice>
              <mc:Fallback>
                <p:oleObj name="Equation" r:id="rId3" imgW="1790700" imgH="22860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8806" y="951929"/>
                        <a:ext cx="5471583" cy="571793"/>
                      </a:xfrm>
                      <a:prstGeom prst="rect">
                        <a:avLst/>
                      </a:prstGeom>
                      <a:noFill/>
                    </p:spPr>
                  </p:pic>
                </p:oleObj>
              </mc:Fallback>
            </mc:AlternateContent>
          </a:graphicData>
        </a:graphic>
      </p:graphicFrame>
    </p:spTree>
    <p:extLst>
      <p:ext uri="{BB962C8B-B14F-4D97-AF65-F5344CB8AC3E}">
        <p14:creationId xmlns:p14="http://schemas.microsoft.com/office/powerpoint/2010/main" val="2536518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p:sp>
        <p:nvSpPr>
          <p:cNvPr id="5" name="Content Placeholder 2"/>
          <p:cNvSpPr txBox="1">
            <a:spLocks/>
          </p:cNvSpPr>
          <p:nvPr/>
        </p:nvSpPr>
        <p:spPr>
          <a:xfrm>
            <a:off x="2273300" y="32466"/>
            <a:ext cx="9918700" cy="6896817"/>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42925" algn="just">
              <a:lnSpc>
                <a:spcPct val="120000"/>
              </a:lnSpc>
              <a:spcBef>
                <a:spcPts val="0"/>
              </a:spcBef>
              <a:buClr>
                <a:srgbClr val="D34817">
                  <a:lumMod val="75000"/>
                </a:srgbClr>
              </a:buClr>
              <a:buNone/>
            </a:pPr>
            <a:r>
              <a:rPr lang="bg-BG" sz="2400" dirty="0">
                <a:solidFill>
                  <a:prstClr val="black"/>
                </a:solidFill>
              </a:rPr>
              <a:t>Вариационната задача се нарича задача от класически тип, ако съдържа само ограничения от тип равенства. В противен случай тя е некласическа. </a:t>
            </a:r>
          </a:p>
          <a:p>
            <a:pPr marL="0" lvl="0" indent="542925" algn="just">
              <a:lnSpc>
                <a:spcPct val="120000"/>
              </a:lnSpc>
              <a:spcBef>
                <a:spcPts val="0"/>
              </a:spcBef>
              <a:buClr>
                <a:srgbClr val="D34817">
                  <a:lumMod val="75000"/>
                </a:srgbClr>
              </a:buClr>
              <a:buNone/>
            </a:pPr>
            <a:r>
              <a:rPr lang="bg-BG" sz="2400" dirty="0">
                <a:solidFill>
                  <a:prstClr val="black"/>
                </a:solidFill>
              </a:rPr>
              <a:t>Възможен е и трети тип ограничения – изопериметрични – във вид на определени интеграли. Тези ограничения са получили своето наименование от задачи за намиране на най-голямо лице при зададен периметър. </a:t>
            </a:r>
          </a:p>
          <a:p>
            <a:pPr marL="0" indent="542925" algn="just">
              <a:lnSpc>
                <a:spcPct val="120000"/>
              </a:lnSpc>
              <a:spcBef>
                <a:spcPts val="0"/>
              </a:spcBef>
              <a:buClr>
                <a:srgbClr val="D34817">
                  <a:lumMod val="75000"/>
                </a:srgbClr>
              </a:buClr>
              <a:buNone/>
            </a:pPr>
            <a:r>
              <a:rPr lang="bg-BG" sz="2400" dirty="0">
                <a:solidFill>
                  <a:prstClr val="black"/>
                </a:solidFill>
              </a:rPr>
              <a:t>Изопериметричната задача е една от най-древните екстремални задачи.</a:t>
            </a:r>
          </a:p>
          <a:p>
            <a:pPr marL="558800" lvl="0" indent="0" algn="just">
              <a:lnSpc>
                <a:spcPct val="130000"/>
              </a:lnSpc>
              <a:spcBef>
                <a:spcPts val="0"/>
              </a:spcBef>
              <a:buNone/>
            </a:pPr>
            <a:endParaRPr lang="en-US" sz="2400" dirty="0"/>
          </a:p>
          <a:p>
            <a:pPr marL="901700" lvl="0" indent="-342900" algn="just">
              <a:lnSpc>
                <a:spcPct val="130000"/>
              </a:lnSpc>
              <a:spcBef>
                <a:spcPts val="0"/>
              </a:spcBef>
              <a:buFont typeface="Wingdings" panose="05000000000000000000" pitchFamily="2" charset="2"/>
              <a:buChar char="q"/>
            </a:pPr>
            <a:endParaRPr lang="en-US" sz="2400" dirty="0"/>
          </a:p>
          <a:p>
            <a:pPr marL="558800" lvl="0" indent="0" algn="just">
              <a:lnSpc>
                <a:spcPct val="130000"/>
              </a:lnSpc>
              <a:spcBef>
                <a:spcPts val="0"/>
              </a:spcBef>
              <a:buNone/>
            </a:pPr>
            <a:r>
              <a:rPr lang="ru-RU" sz="2400" dirty="0"/>
              <a:t>Достатъчно е въвеждането на полагане от вида:</a:t>
            </a:r>
          </a:p>
          <a:p>
            <a:pPr marL="558800" lvl="0" indent="0" algn="just">
              <a:lnSpc>
                <a:spcPct val="130000"/>
              </a:lnSpc>
              <a:spcBef>
                <a:spcPts val="0"/>
              </a:spcBef>
              <a:buNone/>
            </a:pPr>
            <a:r>
              <a:rPr lang="ru-RU" sz="2400" dirty="0"/>
              <a:t>	  	    при гранични условия  				и </a:t>
            </a:r>
          </a:p>
          <a:p>
            <a:pPr marL="0" lvl="0" indent="0" algn="just">
              <a:lnSpc>
                <a:spcPct val="130000"/>
              </a:lnSpc>
              <a:spcBef>
                <a:spcPts val="0"/>
              </a:spcBef>
              <a:buNone/>
            </a:pPr>
            <a:r>
              <a:rPr lang="ru-RU" sz="2400" dirty="0"/>
              <a:t>интегралните ограничения се превръщат в диференциални.</a:t>
            </a:r>
          </a:p>
          <a:p>
            <a:pPr marL="558800" lvl="0" indent="0" algn="just">
              <a:lnSpc>
                <a:spcPct val="130000"/>
              </a:lnSpc>
              <a:spcBef>
                <a:spcPts val="0"/>
              </a:spcBef>
              <a:buNone/>
            </a:pPr>
            <a:endParaRPr lang="en-GB" sz="2400"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7" name="Object 6"/>
          <p:cNvGraphicFramePr>
            <a:graphicFrameLocks noChangeAspect="1"/>
          </p:cNvGraphicFramePr>
          <p:nvPr>
            <p:extLst>
              <p:ext uri="{D42A27DB-BD31-4B8C-83A1-F6EECF244321}">
                <p14:modId xmlns:p14="http://schemas.microsoft.com/office/powerpoint/2010/main" val="2088467892"/>
              </p:ext>
            </p:extLst>
          </p:nvPr>
        </p:nvGraphicFramePr>
        <p:xfrm>
          <a:off x="3547998" y="3911600"/>
          <a:ext cx="4275202" cy="1206500"/>
        </p:xfrm>
        <a:graphic>
          <a:graphicData uri="http://schemas.openxmlformats.org/presentationml/2006/ole">
            <mc:AlternateContent xmlns:mc="http://schemas.openxmlformats.org/markup-compatibility/2006">
              <mc:Choice xmlns:v="urn:schemas-microsoft-com:vml" Requires="v">
                <p:oleObj name="Equation" r:id="rId3" imgW="2057400" imgH="520700" progId="Equation.3">
                  <p:embed/>
                </p:oleObj>
              </mc:Choice>
              <mc:Fallback>
                <p:oleObj name="Equation" r:id="rId3" imgW="2057400" imgH="5207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7998" y="3911600"/>
                        <a:ext cx="4275202" cy="1206500"/>
                      </a:xfrm>
                      <a:prstGeom prst="rect">
                        <a:avLst/>
                      </a:prstGeom>
                      <a:noFill/>
                    </p:spPr>
                  </p:pic>
                </p:oleObj>
              </mc:Fallback>
            </mc:AlternateContent>
          </a:graphicData>
        </a:graphic>
      </p:graphicFrame>
      <p:sp>
        <p:nvSpPr>
          <p:cNvPr id="8"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9" name="Object 8"/>
          <p:cNvGraphicFramePr>
            <a:graphicFrameLocks noChangeAspect="1"/>
          </p:cNvGraphicFramePr>
          <p:nvPr>
            <p:extLst>
              <p:ext uri="{D42A27DB-BD31-4B8C-83A1-F6EECF244321}">
                <p14:modId xmlns:p14="http://schemas.microsoft.com/office/powerpoint/2010/main" val="3199783120"/>
              </p:ext>
            </p:extLst>
          </p:nvPr>
        </p:nvGraphicFramePr>
        <p:xfrm>
          <a:off x="2374900" y="5491297"/>
          <a:ext cx="2039257" cy="558800"/>
        </p:xfrm>
        <a:graphic>
          <a:graphicData uri="http://schemas.openxmlformats.org/presentationml/2006/ole">
            <mc:AlternateContent xmlns:mc="http://schemas.openxmlformats.org/markup-compatibility/2006">
              <mc:Choice xmlns:v="urn:schemas-microsoft-com:vml" Requires="v">
                <p:oleObj name="Equation" r:id="rId5" imgW="888614" imgH="241195" progId="Equation.3">
                  <p:embed/>
                </p:oleObj>
              </mc:Choice>
              <mc:Fallback>
                <p:oleObj name="Equation" r:id="rId5" imgW="888614" imgH="24119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4900" y="5491297"/>
                        <a:ext cx="2039257" cy="558800"/>
                      </a:xfrm>
                      <a:prstGeom prst="rect">
                        <a:avLst/>
                      </a:prstGeom>
                      <a:noFill/>
                    </p:spPr>
                  </p:pic>
                </p:oleObj>
              </mc:Fallback>
            </mc:AlternateContent>
          </a:graphicData>
        </a:graphic>
      </p:graphicFrame>
      <p:sp>
        <p:nvSpPr>
          <p:cNvPr id="11"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3" name="Object 12"/>
          <p:cNvGraphicFramePr>
            <a:graphicFrameLocks noChangeAspect="1"/>
          </p:cNvGraphicFramePr>
          <p:nvPr>
            <p:extLst>
              <p:ext uri="{D42A27DB-BD31-4B8C-83A1-F6EECF244321}">
                <p14:modId xmlns:p14="http://schemas.microsoft.com/office/powerpoint/2010/main" val="1626439866"/>
              </p:ext>
            </p:extLst>
          </p:nvPr>
        </p:nvGraphicFramePr>
        <p:xfrm>
          <a:off x="7728525" y="5491297"/>
          <a:ext cx="2696818" cy="475183"/>
        </p:xfrm>
        <a:graphic>
          <a:graphicData uri="http://schemas.openxmlformats.org/presentationml/2006/ole">
            <mc:AlternateContent xmlns:mc="http://schemas.openxmlformats.org/markup-compatibility/2006">
              <mc:Choice xmlns:v="urn:schemas-microsoft-com:vml" Requires="v">
                <p:oleObj name="Equation" r:id="rId7" imgW="1384300" imgH="241300" progId="Equation.3">
                  <p:embed/>
                </p:oleObj>
              </mc:Choice>
              <mc:Fallback>
                <p:oleObj name="Equation" r:id="rId7" imgW="1384300" imgH="2413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28525" y="5491297"/>
                        <a:ext cx="2696818" cy="475183"/>
                      </a:xfrm>
                      <a:prstGeom prst="rect">
                        <a:avLst/>
                      </a:prstGeom>
                      <a:noFill/>
                    </p:spPr>
                  </p:pic>
                </p:oleObj>
              </mc:Fallback>
            </mc:AlternateContent>
          </a:graphicData>
        </a:graphic>
      </p:graphicFrame>
    </p:spTree>
    <p:extLst>
      <p:ext uri="{BB962C8B-B14F-4D97-AF65-F5344CB8AC3E}">
        <p14:creationId xmlns:p14="http://schemas.microsoft.com/office/powerpoint/2010/main" val="1554510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917700" y="45717"/>
                <a:ext cx="10274300" cy="6697983"/>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42925" algn="just">
                  <a:lnSpc>
                    <a:spcPct val="120000"/>
                  </a:lnSpc>
                  <a:spcBef>
                    <a:spcPts val="0"/>
                  </a:spcBef>
                  <a:buClrTx/>
                  <a:buSzTx/>
                  <a:buNone/>
                </a:pPr>
                <a:r>
                  <a:rPr lang="ru-RU" sz="2400" i="1" dirty="0">
                    <a:solidFill>
                      <a:prstClr val="black"/>
                    </a:solidFill>
                  </a:rPr>
                  <a:t>Принцип на максимума</a:t>
                </a:r>
              </a:p>
              <a:p>
                <a:pPr marL="0" lvl="0" indent="542925" algn="just">
                  <a:lnSpc>
                    <a:spcPct val="120000"/>
                  </a:lnSpc>
                  <a:spcBef>
                    <a:spcPts val="0"/>
                  </a:spcBef>
                  <a:buClrTx/>
                  <a:buSzTx/>
                  <a:buNone/>
                </a:pPr>
                <a:r>
                  <a:rPr lang="ru-RU" sz="2400" dirty="0">
                    <a:solidFill>
                      <a:prstClr val="black"/>
                    </a:solidFill>
                  </a:rPr>
                  <a:t>Принципът на максимума дава необходимите условия за оптималност и е удобен за прилагане при решаване на задачи, в които управлението е по части постоянна функция. Намирането на моментите на превключване със средствата на класическото вариационно смятане е трудно, поради необходимостта от въвеждане на голям брой гранични условия. Най-често принципът на максимума се използва в задачи, в които на управлението са наложени ограничения от тип неравенства (</a:t>
                </a:r>
                <a14:m>
                  <m:oMath xmlns:m="http://schemas.openxmlformats.org/officeDocument/2006/math">
                    <m:sSub>
                      <m:sSubPr>
                        <m:ctrlPr>
                          <a:rPr lang="ru-RU" sz="240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𝑢</m:t>
                        </m:r>
                      </m:e>
                      <m:sub>
                        <m:r>
                          <a:rPr lang="en-GB" sz="2400" b="0" i="1" smtClean="0">
                            <a:solidFill>
                              <a:prstClr val="black"/>
                            </a:solidFill>
                            <a:latin typeface="Cambria Math" panose="02040503050406030204" pitchFamily="18" charset="0"/>
                          </a:rPr>
                          <m:t>𝑖</m:t>
                        </m:r>
                      </m:sub>
                    </m:sSub>
                    <m:r>
                      <a:rPr lang="ru-RU" sz="2400" i="1" smtClean="0">
                        <a:solidFill>
                          <a:prstClr val="black"/>
                        </a:solidFill>
                        <a:latin typeface="Cambria Math" panose="02040503050406030204" pitchFamily="18" charset="0"/>
                        <a:ea typeface="Cambria Math" panose="02040503050406030204" pitchFamily="18" charset="0"/>
                      </a:rPr>
                      <m:t>≤</m:t>
                    </m:r>
                    <m:sSub>
                      <m:sSubPr>
                        <m:ctrlPr>
                          <a:rPr lang="ru-RU" sz="2400" i="1" smtClean="0">
                            <a:solidFill>
                              <a:prstClr val="black"/>
                            </a:solidFill>
                            <a:latin typeface="Cambria Math" panose="02040503050406030204" pitchFamily="18" charset="0"/>
                            <a:ea typeface="Cambria Math" panose="02040503050406030204" pitchFamily="18" charset="0"/>
                          </a:rPr>
                        </m:ctrlPr>
                      </m:sSubPr>
                      <m:e>
                        <m:r>
                          <a:rPr lang="en-GB" sz="2400" b="0" i="1" smtClean="0">
                            <a:solidFill>
                              <a:prstClr val="black"/>
                            </a:solidFill>
                            <a:latin typeface="Cambria Math" panose="02040503050406030204" pitchFamily="18" charset="0"/>
                            <a:ea typeface="Cambria Math" panose="02040503050406030204" pitchFamily="18" charset="0"/>
                          </a:rPr>
                          <m:t>𝑎</m:t>
                        </m:r>
                      </m:e>
                      <m:sub>
                        <m:r>
                          <a:rPr lang="en-GB" sz="2400" b="0" i="1" smtClean="0">
                            <a:solidFill>
                              <a:prstClr val="black"/>
                            </a:solidFill>
                            <a:latin typeface="Cambria Math" panose="02040503050406030204" pitchFamily="18" charset="0"/>
                            <a:ea typeface="Cambria Math" panose="02040503050406030204" pitchFamily="18" charset="0"/>
                          </a:rPr>
                          <m:t>𝑖</m:t>
                        </m:r>
                      </m:sub>
                    </m:sSub>
                  </m:oMath>
                </a14:m>
                <a:r>
                  <a:rPr lang="ru-RU" sz="2400" dirty="0">
                    <a:solidFill>
                      <a:prstClr val="black"/>
                    </a:solidFill>
                  </a:rPr>
                  <a:t>), а функционалите са линейни относно управлението.</a:t>
                </a:r>
                <a:endParaRPr lang="en-GB" sz="2400" dirty="0">
                  <a:solidFill>
                    <a:prstClr val="black"/>
                  </a:solidFill>
                </a:endParaRPr>
              </a:p>
              <a:p>
                <a:pPr marL="0" indent="542925" algn="just">
                  <a:lnSpc>
                    <a:spcPct val="120000"/>
                  </a:lnSpc>
                  <a:spcBef>
                    <a:spcPts val="0"/>
                  </a:spcBef>
                  <a:buClrTx/>
                  <a:buSzTx/>
                  <a:buNone/>
                </a:pPr>
                <a:r>
                  <a:rPr lang="bg-BG" sz="2400" i="1" dirty="0">
                    <a:solidFill>
                      <a:prstClr val="black"/>
                    </a:solidFill>
                  </a:rPr>
                  <a:t>Динамично програмиране</a:t>
                </a:r>
              </a:p>
              <a:p>
                <a:pPr marL="0" indent="542925" algn="just">
                  <a:lnSpc>
                    <a:spcPct val="120000"/>
                  </a:lnSpc>
                  <a:spcBef>
                    <a:spcPts val="0"/>
                  </a:spcBef>
                  <a:buClrTx/>
                  <a:buSzTx/>
                  <a:buNone/>
                </a:pPr>
                <a:r>
                  <a:rPr lang="bg-BG" sz="2400" dirty="0">
                    <a:solidFill>
                      <a:prstClr val="black"/>
                    </a:solidFill>
                  </a:rPr>
                  <a:t>В началото на 50</a:t>
                </a:r>
                <a:r>
                  <a:rPr lang="bg-BG" sz="2400" baseline="30000" dirty="0">
                    <a:solidFill>
                      <a:prstClr val="black"/>
                    </a:solidFill>
                  </a:rPr>
                  <a:t>-те</a:t>
                </a:r>
                <a:r>
                  <a:rPr lang="bg-BG" sz="2400" dirty="0">
                    <a:solidFill>
                      <a:prstClr val="black"/>
                    </a:solidFill>
                  </a:rPr>
                  <a:t> години на миналия век Р. Белман публикува метод за динамично програмиране за решаване на широк кръг оптимизационни задачи в различни области на техниката и икономиката. </a:t>
                </a:r>
                <a:endParaRPr lang="ru-RU" sz="2400" dirty="0">
                  <a:solidFill>
                    <a:prstClr val="black"/>
                  </a:solidFill>
                </a:endParaRP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917700" y="45717"/>
                <a:ext cx="10274300" cy="6697983"/>
              </a:xfrm>
              <a:prstGeom prst="rect">
                <a:avLst/>
              </a:prstGeom>
              <a:blipFill>
                <a:blip r:embed="rId3"/>
                <a:stretch>
                  <a:fillRect l="-950" t="-182" r="-890"/>
                </a:stretch>
              </a:blipFill>
            </p:spPr>
            <p:txBody>
              <a:bodyPr/>
              <a:lstStyle/>
              <a:p>
                <a:r>
                  <a:rPr lang="bg-BG">
                    <a:noFill/>
                  </a:rPr>
                  <a:t> </a:t>
                </a:r>
              </a:p>
            </p:txBody>
          </p:sp>
        </mc:Fallback>
      </mc:AlternateContent>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100138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1881809" y="-5620"/>
                <a:ext cx="10283627" cy="6297108"/>
              </a:xfrm>
              <a:prstGeom prst="rect">
                <a:avLst/>
              </a:prstGeom>
            </p:spPr>
            <p:txBody>
              <a:bodyPr wrap="square">
                <a:spAutoFit/>
              </a:bodyPr>
              <a:lstStyle/>
              <a:p>
                <a:pPr indent="542925" algn="just">
                  <a:lnSpc>
                    <a:spcPct val="120000"/>
                  </a:lnSpc>
                </a:pPr>
                <a:r>
                  <a:rPr lang="bg-BG" sz="2400" dirty="0">
                    <a:solidFill>
                      <a:prstClr val="black"/>
                    </a:solidFill>
                  </a:rPr>
                  <a:t>Той формулира следния принцип за оптималност: оптималното поведение притежава такива свойства, че каквито и да са били началните стойности на вектора на състоянието и решенията в началния момент от време, последващите решения трябва да представляват оптимално поведение относно началното състояние.</a:t>
                </a:r>
              </a:p>
              <a:p>
                <a:pPr indent="542925" algn="just">
                  <a:lnSpc>
                    <a:spcPct val="120000"/>
                  </a:lnSpc>
                </a:pPr>
                <a:r>
                  <a:rPr lang="ru-RU" sz="2400" dirty="0">
                    <a:solidFill>
                      <a:prstClr val="black"/>
                    </a:solidFill>
                  </a:rPr>
                  <a:t>Тази формулировка се отнася за широк клас системи, поради което в нея присъстват понятия като поведение и решение (не в смисъл решение на уравнения, а вземане на решения за бъдещи действия). В динамичните системи описанието е с помощта на диференциални уравнения и състоянието се характеризира със стойности на вектора на състоянието </a:t>
                </a:r>
                <a14:m>
                  <m:oMath xmlns:m="http://schemas.openxmlformats.org/officeDocument/2006/math">
                    <m:r>
                      <a:rPr lang="en-US" sz="2400" i="1">
                        <a:latin typeface="Cambria Math" panose="02040503050406030204" pitchFamily="18" charset="0"/>
                      </a:rPr>
                      <m:t>𝑥</m:t>
                    </m:r>
                    <m:r>
                      <a:rPr lang="bg-BG" sz="2400" i="1">
                        <a:latin typeface="Cambria Math" panose="02040503050406030204" pitchFamily="18" charset="0"/>
                      </a:rPr>
                      <m:t>=</m:t>
                    </m:r>
                  </m:oMath>
                </a14:m>
                <a:r>
                  <a:rPr lang="ru-RU" sz="2400" dirty="0">
                    <a:solidFill>
                      <a:prstClr val="black"/>
                    </a:solidFill>
                  </a:rPr>
                  <a:t>(</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bg-BG" sz="2400" i="1">
                            <a:latin typeface="Cambria Math" panose="02040503050406030204" pitchFamily="18" charset="0"/>
                          </a:rPr>
                          <m:t>,</m:t>
                        </m:r>
                        <m:r>
                          <a:rPr lang="en-US" sz="2400" i="1">
                            <a:latin typeface="Cambria Math" panose="02040503050406030204" pitchFamily="18" charset="0"/>
                          </a:rPr>
                          <m:t>𝑥</m:t>
                        </m:r>
                      </m:e>
                      <m:sub>
                        <m:r>
                          <a:rPr lang="en-US" sz="2400" i="1">
                            <a:latin typeface="Cambria Math" panose="02040503050406030204" pitchFamily="18" charset="0"/>
                          </a:rPr>
                          <m:t>2</m:t>
                        </m:r>
                      </m:sub>
                    </m:sSub>
                    <m:r>
                      <a:rPr lang="bg-BG" sz="2400" i="1">
                        <a:latin typeface="Cambria Math" panose="02040503050406030204" pitchFamily="18" charset="0"/>
                      </a:rPr>
                      <m:t>,</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bg-BG" sz="2400" i="1">
                            <a:latin typeface="Cambria Math" panose="02040503050406030204" pitchFamily="18" charset="0"/>
                          </a:rPr>
                          <m:t>,</m:t>
                        </m:r>
                        <m:r>
                          <a:rPr lang="en-US" sz="2400" i="1">
                            <a:latin typeface="Cambria Math" panose="02040503050406030204" pitchFamily="18" charset="0"/>
                          </a:rPr>
                          <m:t>𝑥</m:t>
                        </m:r>
                      </m:e>
                      <m:sub>
                        <m:r>
                          <a:rPr lang="en-US" sz="2400" i="1">
                            <a:latin typeface="Cambria Math" panose="02040503050406030204" pitchFamily="18" charset="0"/>
                          </a:rPr>
                          <m:t>𝑛</m:t>
                        </m:r>
                      </m:sub>
                    </m:sSub>
                  </m:oMath>
                </a14:m>
                <a:r>
                  <a:rPr lang="ru-RU" sz="2400" dirty="0">
                    <a:solidFill>
                      <a:prstClr val="black"/>
                    </a:solidFill>
                  </a:rPr>
                  <a:t>), във всеки момент от времето. Поведението на системата съответства на изменението на координатите на вектора на състоянието във времето</a:t>
                </a:r>
                <a14:m>
                  <m:oMath xmlns:m="http://schemas.openxmlformats.org/officeDocument/2006/math">
                    <m:r>
                      <a:rPr lang="en-GB" sz="2400" b="0" i="0" smtClean="0">
                        <a:latin typeface="Cambria Math" panose="02040503050406030204" pitchFamily="18" charset="0"/>
                      </a:rPr>
                      <m:t> </m:t>
                    </m:r>
                    <m:r>
                      <a:rPr lang="en-US" sz="2400" i="1">
                        <a:latin typeface="Cambria Math" panose="02040503050406030204" pitchFamily="18" charset="0"/>
                      </a:rPr>
                      <m:t>𝑥</m:t>
                    </m:r>
                    <m:d>
                      <m:dPr>
                        <m:ctrlPr>
                          <a:rPr lang="en-US" sz="2400" i="1">
                            <a:latin typeface="Cambria Math" panose="02040503050406030204" pitchFamily="18" charset="0"/>
                          </a:rPr>
                        </m:ctrlPr>
                      </m:dPr>
                      <m:e>
                        <m:r>
                          <a:rPr lang="en-US" sz="2400" i="1">
                            <a:latin typeface="Cambria Math" panose="02040503050406030204" pitchFamily="18" charset="0"/>
                          </a:rPr>
                          <m:t>𝑡</m:t>
                        </m:r>
                      </m:e>
                    </m:d>
                    <m:r>
                      <a:rPr lang="en-GB" sz="2400" b="0" i="0" smtClean="0">
                        <a:latin typeface="Cambria Math" panose="02040503050406030204" pitchFamily="18" charset="0"/>
                      </a:rPr>
                      <m:t>, </m:t>
                    </m:r>
                  </m:oMath>
                </a14:m>
                <a:r>
                  <a:rPr lang="ru-RU" sz="2400" dirty="0">
                    <a:solidFill>
                      <a:prstClr val="black"/>
                    </a:solidFill>
                  </a:rPr>
                  <a:t>а решението – избор на оптимално управление </a:t>
                </a:r>
                <a14:m>
                  <m:oMath xmlns:m="http://schemas.openxmlformats.org/officeDocument/2006/math">
                    <m:sSup>
                      <m:sSupPr>
                        <m:ctrlPr>
                          <a:rPr lang="ru-RU" sz="2400" i="1" smtClean="0">
                            <a:solidFill>
                              <a:prstClr val="black"/>
                            </a:solidFill>
                            <a:latin typeface="Cambria Math" panose="02040503050406030204" pitchFamily="18" charset="0"/>
                          </a:rPr>
                        </m:ctrlPr>
                      </m:sSupPr>
                      <m:e>
                        <m:r>
                          <a:rPr lang="en-GB" sz="2400" b="0" i="1" smtClean="0">
                            <a:solidFill>
                              <a:prstClr val="black"/>
                            </a:solidFill>
                            <a:latin typeface="Cambria Math" panose="02040503050406030204" pitchFamily="18" charset="0"/>
                          </a:rPr>
                          <m:t>𝑢</m:t>
                        </m:r>
                      </m:e>
                      <m:sup>
                        <m:r>
                          <a:rPr lang="en-GB" sz="2400" b="0" i="1" smtClean="0">
                            <a:solidFill>
                              <a:prstClr val="black"/>
                            </a:solidFill>
                            <a:latin typeface="Cambria Math" panose="02040503050406030204" pitchFamily="18" charset="0"/>
                          </a:rPr>
                          <m:t>∗</m:t>
                        </m:r>
                      </m:sup>
                    </m:sSup>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 .</a:t>
                </a:r>
              </a:p>
            </p:txBody>
          </p:sp>
        </mc:Choice>
        <mc:Fallback xmlns="">
          <p:sp>
            <p:nvSpPr>
              <p:cNvPr id="2" name="Rectangle 1"/>
              <p:cNvSpPr>
                <a:spLocks noRot="1" noChangeAspect="1" noMove="1" noResize="1" noEditPoints="1" noAdjustHandles="1" noChangeArrowheads="1" noChangeShapeType="1" noTextEdit="1"/>
              </p:cNvSpPr>
              <p:nvPr/>
            </p:nvSpPr>
            <p:spPr>
              <a:xfrm>
                <a:off x="1881809" y="-5620"/>
                <a:ext cx="10283627" cy="6297108"/>
              </a:xfrm>
              <a:prstGeom prst="rect">
                <a:avLst/>
              </a:prstGeom>
              <a:blipFill>
                <a:blip r:embed="rId3"/>
                <a:stretch>
                  <a:fillRect l="-948" t="-290" r="-889" b="-581"/>
                </a:stretch>
              </a:blipFill>
            </p:spPr>
            <p:txBody>
              <a:bodyPr/>
              <a:lstStyle/>
              <a:p>
                <a:r>
                  <a:rPr lang="bg-BG">
                    <a:noFill/>
                  </a:rPr>
                  <a:t> </a:t>
                </a:r>
              </a:p>
            </p:txBody>
          </p:sp>
        </mc:Fallback>
      </mc:AlternateContent>
    </p:spTree>
    <p:extLst>
      <p:ext uri="{BB962C8B-B14F-4D97-AF65-F5344CB8AC3E}">
        <p14:creationId xmlns:p14="http://schemas.microsoft.com/office/powerpoint/2010/main" val="891262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1714500" y="45718"/>
                <a:ext cx="10477500" cy="6812282"/>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42925" algn="just">
                  <a:lnSpc>
                    <a:spcPct val="120000"/>
                  </a:lnSpc>
                  <a:spcBef>
                    <a:spcPts val="0"/>
                  </a:spcBef>
                  <a:buNone/>
                  <a:tabLst>
                    <a:tab pos="228600" algn="l"/>
                  </a:tabLst>
                </a:pPr>
                <a:r>
                  <a:rPr lang="ru-RU" sz="2400" dirty="0">
                    <a:solidFill>
                      <a:prstClr val="black"/>
                    </a:solidFill>
                  </a:rPr>
                  <a:t>Системата удовлетворява принципа за оптималност, ако тя притежава марковски свойства: нейното поведение в произволен краен интервал от време </a:t>
                </a:r>
                <a14:m>
                  <m:oMath xmlns:m="http://schemas.openxmlformats.org/officeDocument/2006/math">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0</m:t>
                        </m:r>
                      </m:sub>
                    </m:sSub>
                    <m:r>
                      <a:rPr lang="en-US" sz="2400" i="1">
                        <a:latin typeface="Cambria Math" panose="02040503050406030204" pitchFamily="18" charset="0"/>
                      </a:rPr>
                      <m:t>&lt;</m:t>
                    </m:r>
                    <m:r>
                      <a:rPr lang="en-US" sz="2400" i="1">
                        <a:latin typeface="Cambria Math" panose="02040503050406030204" pitchFamily="18" charset="0"/>
                      </a:rPr>
                      <m:t>𝑡</m:t>
                    </m:r>
                    <m:r>
                      <a:rPr lang="en-US" sz="2400" i="1">
                        <a:latin typeface="Cambria Math" panose="02040503050406030204" pitchFamily="18" charset="0"/>
                      </a:rPr>
                      <m:t>&lt;</m:t>
                    </m:r>
                    <m:sSub>
                      <m:sSubPr>
                        <m:ctrlPr>
                          <a:rPr lang="en-US" sz="2400" i="1" smtClean="0">
                            <a:latin typeface="Cambria Math" panose="02040503050406030204" pitchFamily="18" charset="0"/>
                          </a:rPr>
                        </m:ctrlPr>
                      </m:sSubPr>
                      <m:e>
                        <m:r>
                          <a:rPr lang="en-GB" sz="2400" b="0" i="1" smtClean="0">
                            <a:latin typeface="Cambria Math" panose="02040503050406030204" pitchFamily="18" charset="0"/>
                          </a:rPr>
                          <m:t>𝑡</m:t>
                        </m:r>
                      </m:e>
                      <m:sub>
                        <m:r>
                          <a:rPr lang="en-GB" sz="2400" b="0" i="1" smtClean="0">
                            <a:latin typeface="Cambria Math" panose="02040503050406030204" pitchFamily="18" charset="0"/>
                          </a:rPr>
                          <m:t>𝑓</m:t>
                        </m:r>
                      </m:sub>
                    </m:sSub>
                    <m:r>
                      <a:rPr lang="en-US" sz="2400" i="1">
                        <a:latin typeface="Cambria Math" panose="02040503050406030204" pitchFamily="18" charset="0"/>
                      </a:rPr>
                      <m:t>)</m:t>
                    </m:r>
                  </m:oMath>
                </a14:m>
                <a:r>
                  <a:rPr lang="ru-RU" sz="2400" dirty="0">
                    <a:solidFill>
                      <a:prstClr val="black"/>
                    </a:solidFill>
                  </a:rPr>
                  <a:t> напълно се определя от управлението в този отрязък и състоянието на системата в началния момент от време  </a:t>
                </a:r>
                <a14:m>
                  <m:oMath xmlns:m="http://schemas.openxmlformats.org/officeDocument/2006/math">
                    <m:sSub>
                      <m:sSubPr>
                        <m:ctrlPr>
                          <a:rPr lang="ru-RU" sz="240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𝑡</m:t>
                        </m:r>
                      </m:e>
                      <m:sub>
                        <m:r>
                          <a:rPr lang="en-GB" sz="2400" b="0" i="1" smtClean="0">
                            <a:solidFill>
                              <a:prstClr val="black"/>
                            </a:solidFill>
                            <a:latin typeface="Cambria Math" panose="02040503050406030204" pitchFamily="18" charset="0"/>
                          </a:rPr>
                          <m:t>1</m:t>
                        </m:r>
                      </m:sub>
                    </m:sSub>
                  </m:oMath>
                </a14:m>
                <a:r>
                  <a:rPr lang="ru-RU" sz="2400" dirty="0">
                    <a:solidFill>
                      <a:prstClr val="black"/>
                    </a:solidFill>
                  </a:rPr>
                  <a:t>.</a:t>
                </a:r>
                <a:endParaRPr lang="en-GB" sz="2400" dirty="0">
                  <a:solidFill>
                    <a:prstClr val="black"/>
                  </a:solidFill>
                </a:endParaRPr>
              </a:p>
              <a:p>
                <a:pPr marL="0" indent="542925" algn="just">
                  <a:lnSpc>
                    <a:spcPct val="120000"/>
                  </a:lnSpc>
                  <a:spcBef>
                    <a:spcPts val="0"/>
                  </a:spcBef>
                  <a:buNone/>
                  <a:tabLst>
                    <a:tab pos="228600" algn="l"/>
                  </a:tabLst>
                </a:pPr>
                <a:r>
                  <a:rPr lang="ru-RU" sz="2400" b="1" i="1" dirty="0">
                    <a:solidFill>
                      <a:prstClr val="black"/>
                    </a:solidFill>
                  </a:rPr>
                  <a:t>Синтез на оптимални управляващи устройства</a:t>
                </a:r>
              </a:p>
              <a:p>
                <a:pPr marL="0" indent="542925" algn="just">
                  <a:lnSpc>
                    <a:spcPct val="120000"/>
                  </a:lnSpc>
                  <a:spcBef>
                    <a:spcPts val="0"/>
                  </a:spcBef>
                  <a:buNone/>
                  <a:tabLst>
                    <a:tab pos="228600" algn="l"/>
                  </a:tabLst>
                </a:pPr>
                <a:r>
                  <a:rPr lang="ru-RU" sz="2400" dirty="0">
                    <a:solidFill>
                      <a:prstClr val="black"/>
                    </a:solidFill>
                  </a:rPr>
                  <a:t>Под синтез на оптимални управляващи устройства се разбира намирането на структурата и параметрите на автоматичната управляваща част на системата. Синтезът предхожда намирането на самото оптимално управление или уравненията, чието решение се явява то. Оптималното управление се намира в резултат на решаването на вариационна задача и представлява или функция на времето, или на координатите на вектора на състоянието. Управляващото устройство е или програматор, който изработва непосредствено оптималното управление  </a:t>
                </a:r>
                <a14:m>
                  <m:oMath xmlns:m="http://schemas.openxmlformats.org/officeDocument/2006/math">
                    <m:sSup>
                      <m:sSupPr>
                        <m:ctrlPr>
                          <a:rPr lang="ru-RU" sz="2400" i="1">
                            <a:solidFill>
                              <a:prstClr val="black"/>
                            </a:solidFill>
                            <a:latin typeface="Cambria Math" panose="02040503050406030204" pitchFamily="18" charset="0"/>
                          </a:rPr>
                        </m:ctrlPr>
                      </m:sSupPr>
                      <m:e>
                        <m:r>
                          <a:rPr lang="en-GB" sz="2400" i="1">
                            <a:solidFill>
                              <a:prstClr val="black"/>
                            </a:solidFill>
                            <a:latin typeface="Cambria Math" panose="02040503050406030204" pitchFamily="18" charset="0"/>
                          </a:rPr>
                          <m:t>𝑢</m:t>
                        </m:r>
                      </m:e>
                      <m:sup>
                        <m:r>
                          <a:rPr lang="en-GB" sz="2400" i="1">
                            <a:solidFill>
                              <a:prstClr val="black"/>
                            </a:solidFill>
                            <a:latin typeface="Cambria Math" panose="02040503050406030204" pitchFamily="18" charset="0"/>
                          </a:rPr>
                          <m:t>∗</m:t>
                        </m:r>
                      </m:sup>
                    </m:sSup>
                    <m:r>
                      <a:rPr lang="en-GB" sz="2400" i="1">
                        <a:solidFill>
                          <a:prstClr val="black"/>
                        </a:solidFill>
                        <a:latin typeface="Cambria Math" panose="02040503050406030204" pitchFamily="18" charset="0"/>
                      </a:rPr>
                      <m:t>(</m:t>
                    </m:r>
                    <m:r>
                      <a:rPr lang="en-GB" sz="2400" i="1">
                        <a:solidFill>
                          <a:prstClr val="black"/>
                        </a:solidFill>
                        <a:latin typeface="Cambria Math" panose="02040503050406030204" pitchFamily="18" charset="0"/>
                      </a:rPr>
                      <m:t>𝑡</m:t>
                    </m:r>
                    <m:r>
                      <a:rPr lang="en-GB" sz="2400" i="1">
                        <a:solidFill>
                          <a:prstClr val="black"/>
                        </a:solidFill>
                        <a:latin typeface="Cambria Math" panose="02040503050406030204" pitchFamily="18" charset="0"/>
                      </a:rPr>
                      <m:t>)</m:t>
                    </m:r>
                  </m:oMath>
                </a14:m>
                <a:r>
                  <a:rPr lang="ru-RU" sz="2400" dirty="0">
                    <a:solidFill>
                      <a:prstClr val="black"/>
                    </a:solidFill>
                  </a:rPr>
                  <a:t>, или оптимален регулатор с обратни връзки по координатите на вектора на състоянието.</a:t>
                </a:r>
              </a:p>
              <a:p>
                <a:pPr marL="0" indent="542925" algn="just">
                  <a:lnSpc>
                    <a:spcPct val="120000"/>
                  </a:lnSpc>
                  <a:spcBef>
                    <a:spcPts val="0"/>
                  </a:spcBef>
                  <a:buNone/>
                  <a:tabLst>
                    <a:tab pos="228600" algn="l"/>
                  </a:tabLst>
                </a:pPr>
                <a:endParaRPr lang="ru-RU" sz="2400" dirty="0">
                  <a:solidFill>
                    <a:prstClr val="black"/>
                  </a:solidFill>
                </a:endParaRP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1714500" y="45718"/>
                <a:ext cx="10477500" cy="6812282"/>
              </a:xfrm>
              <a:prstGeom prst="rect">
                <a:avLst/>
              </a:prstGeom>
              <a:blipFill>
                <a:blip r:embed="rId3"/>
                <a:stretch>
                  <a:fillRect l="-873" t="-179" r="-931"/>
                </a:stretch>
              </a:blipFill>
            </p:spPr>
            <p:txBody>
              <a:bodyPr/>
              <a:lstStyle/>
              <a:p>
                <a:r>
                  <a:rPr lang="bg-BG">
                    <a:noFill/>
                  </a:rPr>
                  <a:t> </a:t>
                </a:r>
              </a:p>
            </p:txBody>
          </p:sp>
        </mc:Fallback>
      </mc:AlternateContent>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2413045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p:sp>
        <p:nvSpPr>
          <p:cNvPr id="5" name="Content Placeholder 2"/>
          <p:cNvSpPr txBox="1">
            <a:spLocks/>
          </p:cNvSpPr>
          <p:nvPr/>
        </p:nvSpPr>
        <p:spPr>
          <a:xfrm>
            <a:off x="2032001" y="45718"/>
            <a:ext cx="10160000" cy="6812282"/>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33400" algn="just">
              <a:lnSpc>
                <a:spcPct val="120000"/>
              </a:lnSpc>
              <a:spcBef>
                <a:spcPts val="0"/>
              </a:spcBef>
              <a:buClrTx/>
              <a:buSzTx/>
              <a:buNone/>
              <a:tabLst>
                <a:tab pos="228600" algn="l"/>
              </a:tabLst>
            </a:pPr>
            <a:r>
              <a:rPr lang="ru-RU" sz="2400" dirty="0">
                <a:solidFill>
                  <a:prstClr val="black"/>
                </a:solidFill>
              </a:rPr>
              <a:t>В общия случай централна част на програматора е компютърна система (специализирана или универсална), създадена за решаване на вариационна задача от определен клас или има софтуер за решаване на вариационни задачи. За решаване на вариационни задачи са необходими голям брой входни данни. Една част от тях са постоянни – уравненията на системата, критерия за оптималност, ограниченията; друга част се въвежда от оператора (краевите условия) или от датчици. Ако смущаващите въздействия са постоянни или се изменят по предварително известни закони, задачата се нарича детерминирана. За такива задачи е достатъчно да бъде известно началното състояние на системата.</a:t>
            </a:r>
            <a:endParaRPr lang="en-GB" sz="2400" dirty="0">
              <a:solidFill>
                <a:prstClr val="black"/>
              </a:solidFill>
            </a:endParaRPr>
          </a:p>
          <a:p>
            <a:pPr marL="0" indent="533400" algn="just">
              <a:lnSpc>
                <a:spcPct val="120000"/>
              </a:lnSpc>
              <a:spcBef>
                <a:spcPts val="0"/>
              </a:spcBef>
              <a:buClrTx/>
              <a:buSzTx/>
              <a:buNone/>
              <a:tabLst>
                <a:tab pos="228600" algn="l"/>
              </a:tabLst>
            </a:pPr>
            <a:r>
              <a:rPr lang="bg-BG" sz="2400" dirty="0">
                <a:solidFill>
                  <a:prstClr val="black"/>
                </a:solidFill>
              </a:rPr>
              <a:t>Общите методи за построяване на изчислителни алгоритми за изчисляване на оптимални управления се оказват доста сложни за реализация. Поради това се прилагат методи, които отчитат особеностите на обектите и задачите, които трябва се решават.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785777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23</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6"/>
          <p:cNvSpPr/>
          <p:nvPr/>
        </p:nvSpPr>
        <p:spPr>
          <a:xfrm>
            <a:off x="2025983" y="404258"/>
            <a:ext cx="9934075" cy="5853910"/>
          </a:xfrm>
          <a:prstGeom prst="rect">
            <a:avLst/>
          </a:prstGeom>
        </p:spPr>
        <p:txBody>
          <a:bodyPr wrap="square">
            <a:spAutoFit/>
          </a:bodyPr>
          <a:lstStyle/>
          <a:p>
            <a:pPr indent="533400" algn="just">
              <a:lnSpc>
                <a:spcPct val="120000"/>
              </a:lnSpc>
              <a:tabLst>
                <a:tab pos="228600" algn="l"/>
              </a:tabLst>
            </a:pPr>
            <a:r>
              <a:rPr lang="bg-BG" sz="2400" dirty="0">
                <a:solidFill>
                  <a:prstClr val="black"/>
                </a:solidFill>
              </a:rPr>
              <a:t>Една от най-разпространените оптимални системи е тази по бързодействие. </a:t>
            </a:r>
          </a:p>
          <a:p>
            <a:pPr indent="533400" algn="just">
              <a:lnSpc>
                <a:spcPct val="120000"/>
              </a:lnSpc>
              <a:tabLst>
                <a:tab pos="228600" algn="l"/>
              </a:tabLst>
            </a:pPr>
            <a:r>
              <a:rPr lang="bg-BG" sz="2400" b="1" i="1" dirty="0">
                <a:solidFill>
                  <a:prstClr val="black"/>
                </a:solidFill>
              </a:rPr>
              <a:t>Адаптивни системи за автоматично управление</a:t>
            </a:r>
          </a:p>
          <a:p>
            <a:pPr indent="533400" algn="just">
              <a:lnSpc>
                <a:spcPct val="120000"/>
              </a:lnSpc>
              <a:tabLst>
                <a:tab pos="228600" algn="l"/>
              </a:tabLst>
            </a:pPr>
            <a:r>
              <a:rPr lang="bg-BG" sz="2400" dirty="0">
                <a:solidFill>
                  <a:prstClr val="black"/>
                </a:solidFill>
              </a:rPr>
              <a:t>Терминът „адаптация” е взаимстван от теорията на управлението от биологията, където той означава свойство на организма да се приспособява към измененията на околната среда. Необходимостта от прилагане на подобни идеи в оптималното управления е свързана с усложняването на задачите. Специфична особеност на това усложняване идва от липсата на практически възможности за подробно изучаване и описание на процесите, протичащи в самите обекти. Примери могат да бъдат посочени в различни области на химическата промишленост, термодинамиката, метеорологията, управление на подвижни обекти и др.</a:t>
            </a:r>
          </a:p>
        </p:txBody>
      </p:sp>
    </p:spTree>
    <p:extLst>
      <p:ext uri="{BB962C8B-B14F-4D97-AF65-F5344CB8AC3E}">
        <p14:creationId xmlns:p14="http://schemas.microsoft.com/office/powerpoint/2010/main" val="3925865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24</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181058" y="774440"/>
            <a:ext cx="9702800" cy="4040273"/>
          </a:xfrm>
          <a:prstGeom prst="rect">
            <a:avLst/>
          </a:prstGeom>
        </p:spPr>
        <p:txBody>
          <a:bodyPr wrap="square">
            <a:spAutoFit/>
          </a:bodyPr>
          <a:lstStyle/>
          <a:p>
            <a:pPr indent="540000" algn="just">
              <a:lnSpc>
                <a:spcPct val="120000"/>
              </a:lnSpc>
              <a:buClr>
                <a:srgbClr val="D34817">
                  <a:lumMod val="75000"/>
                </a:srgbClr>
              </a:buClr>
              <a:buSzPct val="85000"/>
              <a:tabLst>
                <a:tab pos="228600" algn="l"/>
              </a:tabLst>
            </a:pPr>
            <a:r>
              <a:rPr lang="ru-RU" sz="2400" dirty="0">
                <a:solidFill>
                  <a:prstClr val="black"/>
                </a:solidFill>
              </a:rPr>
              <a:t>Неадаптивните методи предполагат наличие на достатъчен обем априорни сведения за вътрешните и външни условия на работа на системата още при предварителното ѝ изучаване. Колкото по-пълна е априорната информация, толкова качеството на управлението  е по-високо. </a:t>
            </a:r>
          </a:p>
          <a:p>
            <a:pPr indent="540000" algn="just">
              <a:lnSpc>
                <a:spcPct val="120000"/>
              </a:lnSpc>
              <a:buClr>
                <a:srgbClr val="D34817">
                  <a:lumMod val="75000"/>
                </a:srgbClr>
              </a:buClr>
              <a:buSzPct val="85000"/>
              <a:tabLst>
                <a:tab pos="228600" algn="l"/>
              </a:tabLst>
            </a:pPr>
            <a:r>
              <a:rPr lang="ru-RU" sz="2400" dirty="0">
                <a:solidFill>
                  <a:prstClr val="black"/>
                </a:solidFill>
              </a:rPr>
              <a:t>Ефектът от приспособяване към изменящите се условия в адаптивните системи се достига за сметка получаването на математическия модел, анализа и обработката не в процеса на проектиране, а в процеса на нормална експлоатация на системата. </a:t>
            </a:r>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250287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25</a:t>
            </a:fld>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9"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3"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8"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2" name="Rectangle 21"/>
          <p:cNvSpPr/>
          <p:nvPr/>
        </p:nvSpPr>
        <p:spPr>
          <a:xfrm>
            <a:off x="1930400" y="96518"/>
            <a:ext cx="10248900" cy="6740307"/>
          </a:xfrm>
          <a:prstGeom prst="rect">
            <a:avLst/>
          </a:prstGeom>
        </p:spPr>
        <p:txBody>
          <a:bodyPr wrap="square">
            <a:spAutoFit/>
          </a:bodyPr>
          <a:lstStyle/>
          <a:p>
            <a:pPr indent="540000" algn="just">
              <a:lnSpc>
                <a:spcPct val="120000"/>
              </a:lnSpc>
              <a:buClr>
                <a:srgbClr val="D34817">
                  <a:lumMod val="75000"/>
                </a:srgbClr>
              </a:buClr>
              <a:buSzPct val="85000"/>
              <a:tabLst>
                <a:tab pos="228600" algn="l"/>
              </a:tabLst>
            </a:pPr>
            <a:r>
              <a:rPr lang="ru-RU" sz="2400" dirty="0">
                <a:solidFill>
                  <a:prstClr val="black"/>
                </a:solidFill>
              </a:rPr>
              <a:t>Следователно към адаптивно управление се налага да се обръщаме в случаите, когато сложността на управляемия процес достига такова ниво, при което влиянието на неопределеността или непълнотата на априорната информация в работен режим става съществена за обезпечаване на зададеното  качество на управление.</a:t>
            </a:r>
          </a:p>
          <a:p>
            <a:pPr indent="540000" algn="just">
              <a:lnSpc>
                <a:spcPct val="120000"/>
              </a:lnSpc>
              <a:buClr>
                <a:srgbClr val="D34817">
                  <a:lumMod val="75000"/>
                </a:srgbClr>
              </a:buClr>
              <a:buSzPct val="85000"/>
              <a:tabLst>
                <a:tab pos="228600" algn="l"/>
              </a:tabLst>
            </a:pPr>
            <a:r>
              <a:rPr lang="ru-RU" sz="2400" dirty="0">
                <a:solidFill>
                  <a:prstClr val="black"/>
                </a:solidFill>
              </a:rPr>
              <a:t>Адаптивните системи използват активно работна информация за анализ динамичното състояние на системата за управление и изменение свойствата на управляващата система. В зависимост от това адаптивните системи се делят на самонастройващи се и обучаващи се.</a:t>
            </a:r>
          </a:p>
          <a:p>
            <a:pPr indent="540000" algn="just">
              <a:lnSpc>
                <a:spcPct val="120000"/>
              </a:lnSpc>
              <a:buClr>
                <a:srgbClr val="D34817">
                  <a:lumMod val="75000"/>
                </a:srgbClr>
              </a:buClr>
              <a:buSzPct val="85000"/>
              <a:tabLst>
                <a:tab pos="228600" algn="l"/>
              </a:tabLst>
            </a:pPr>
            <a:r>
              <a:rPr lang="bg-BG" sz="2400" i="1" dirty="0">
                <a:solidFill>
                  <a:prstClr val="black"/>
                </a:solidFill>
              </a:rPr>
              <a:t>Самонастройващите</a:t>
            </a:r>
            <a:r>
              <a:rPr lang="bg-BG" sz="2400" dirty="0">
                <a:solidFill>
                  <a:prstClr val="black"/>
                </a:solidFill>
              </a:rPr>
              <a:t> се системи се характеризират с наличие на специални контури за самонастройка. С тяхна помощ се оценяват динамичните и статични свойства на системата и се формират управляващи въздействия, които да приближават системата към  определен еталон, често задаван във вид на критерий за качество на функциониране.</a:t>
            </a:r>
            <a:endParaRPr lang="ru-RU" sz="2400" dirty="0">
              <a:solidFill>
                <a:prstClr val="black"/>
              </a:solidFill>
            </a:endParaRPr>
          </a:p>
        </p:txBody>
      </p:sp>
    </p:spTree>
    <p:extLst>
      <p:ext uri="{BB962C8B-B14F-4D97-AF65-F5344CB8AC3E}">
        <p14:creationId xmlns:p14="http://schemas.microsoft.com/office/powerpoint/2010/main" val="1143129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26</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0" name="Rectangle 19"/>
          <p:cNvSpPr/>
          <p:nvPr/>
        </p:nvSpPr>
        <p:spPr>
          <a:xfrm>
            <a:off x="2318550" y="45719"/>
            <a:ext cx="9647524" cy="6812282"/>
          </a:xfrm>
          <a:prstGeom prst="rect">
            <a:avLst/>
          </a:prstGeom>
        </p:spPr>
        <p:txBody>
          <a:bodyPr>
            <a:noAutofit/>
          </a:bodyPr>
          <a:lstStyle/>
          <a:p>
            <a:pPr indent="542925" algn="just">
              <a:lnSpc>
                <a:spcPct val="130000"/>
              </a:lnSpc>
              <a:spcBef>
                <a:spcPts val="1200"/>
              </a:spcBef>
              <a:buClr>
                <a:schemeClr val="accent1">
                  <a:lumMod val="75000"/>
                </a:schemeClr>
              </a:buClr>
              <a:buSzPct val="85000"/>
              <a:buFont typeface="Wingdings" pitchFamily="2" charset="2"/>
              <a:buNone/>
              <a:tabLst>
                <a:tab pos="228600" algn="l"/>
              </a:tabLst>
            </a:pPr>
            <a:endParaRPr lang="bg-BG" sz="2400" dirty="0">
              <a:solidFill>
                <a:prstClr val="black"/>
              </a:solidFill>
            </a:endParaRPr>
          </a:p>
        </p:txBody>
      </p:sp>
      <p:sp>
        <p:nvSpPr>
          <p:cNvPr id="22"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6"/>
          <p:cNvSpPr/>
          <p:nvPr/>
        </p:nvSpPr>
        <p:spPr>
          <a:xfrm>
            <a:off x="1061884" y="45718"/>
            <a:ext cx="11028515" cy="6740307"/>
          </a:xfrm>
          <a:prstGeom prst="rect">
            <a:avLst/>
          </a:prstGeom>
        </p:spPr>
        <p:txBody>
          <a:bodyPr wrap="square">
            <a:spAutoFit/>
          </a:bodyPr>
          <a:lstStyle/>
          <a:p>
            <a:pPr algn="just">
              <a:lnSpc>
                <a:spcPct val="120000"/>
              </a:lnSpc>
              <a:spcAft>
                <a:spcPts val="0"/>
              </a:spcAft>
              <a:buClr>
                <a:srgbClr val="D34817">
                  <a:lumMod val="75000"/>
                </a:srgbClr>
              </a:buClr>
              <a:buSzPct val="85000"/>
              <a:tabLst>
                <a:tab pos="228600" algn="l"/>
              </a:tabLst>
            </a:pPr>
            <a:r>
              <a:rPr lang="bg-BG" sz="2400" dirty="0">
                <a:solidFill>
                  <a:prstClr val="black"/>
                </a:solidFill>
              </a:rPr>
              <a:t>Контурът за самонастройка служи за промяна параметрите или структурата на основния контур. Обикновено критерият за качество на управление се изразява във вид на функционал или е функция на параметрите и измерваните координати на вектора на състоянието. В процеса на работа стойността на функционала се променя и задачата на контура за самонастройка се свежда до осигуряване на екстремалната му стойност. Намирането и поддържането на екстремална стойност на критерия за качество става или с пробни отклонения на системата, или по пътя на аналитично намиране на екстремума. В зависимост от начина за намиране на екстремума самонастройващите се системи се делят на търсещи и нетърсещи.</a:t>
            </a:r>
          </a:p>
          <a:p>
            <a:pPr indent="540000" algn="just">
              <a:lnSpc>
                <a:spcPct val="120000"/>
              </a:lnSpc>
              <a:spcAft>
                <a:spcPts val="0"/>
              </a:spcAft>
              <a:buClr>
                <a:srgbClr val="D34817">
                  <a:lumMod val="75000"/>
                </a:srgbClr>
              </a:buClr>
              <a:buSzPct val="85000"/>
              <a:tabLst>
                <a:tab pos="228600" algn="l"/>
              </a:tabLst>
            </a:pPr>
            <a:r>
              <a:rPr lang="bg-BG" sz="2400" dirty="0">
                <a:solidFill>
                  <a:prstClr val="black"/>
                </a:solidFill>
              </a:rPr>
              <a:t> Обучаващите се системи за управление се характеризират с наличие на специални процеси по обучение, които се свеждат до постепенно натрупване, запомняне и анализ на информация за поведението на системата и промяна законите на функциониране в зависимост от натрупания опит. </a:t>
            </a:r>
          </a:p>
        </p:txBody>
      </p:sp>
    </p:spTree>
    <p:extLst>
      <p:ext uri="{BB962C8B-B14F-4D97-AF65-F5344CB8AC3E}">
        <p14:creationId xmlns:p14="http://schemas.microsoft.com/office/powerpoint/2010/main" val="3453389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27</a:t>
            </a:fld>
            <a:endParaRPr lang="bg-BG"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5" name="Rectangle 14"/>
          <p:cNvSpPr/>
          <p:nvPr/>
        </p:nvSpPr>
        <p:spPr>
          <a:xfrm>
            <a:off x="2238796" y="337818"/>
            <a:ext cx="9762704" cy="6297108"/>
          </a:xfrm>
          <a:prstGeom prst="rect">
            <a:avLst/>
          </a:prstGeom>
        </p:spPr>
        <p:txBody>
          <a:bodyPr wrap="square">
            <a:spAutoFit/>
          </a:bodyPr>
          <a:lstStyle/>
          <a:p>
            <a:pPr lvl="0" algn="just">
              <a:lnSpc>
                <a:spcPct val="120000"/>
              </a:lnSpc>
              <a:buClr>
                <a:srgbClr val="D34817">
                  <a:lumMod val="75000"/>
                </a:srgbClr>
              </a:buClr>
              <a:buSzPct val="85000"/>
              <a:tabLst>
                <a:tab pos="228600" algn="l"/>
              </a:tabLst>
            </a:pPr>
            <a:r>
              <a:rPr lang="bg-BG" sz="2400" dirty="0">
                <a:solidFill>
                  <a:prstClr val="black"/>
                </a:solidFill>
              </a:rPr>
              <a:t>Към обучение се налага да се прибягва в случаите, когато не само е малък обемът от априорна информация за обекта, но и липсва възможност за установяване на подробни причинно-следствени връзки в структурата на самата система поради нейната сложност. </a:t>
            </a:r>
          </a:p>
          <a:p>
            <a:pPr indent="540000" algn="just">
              <a:lnSpc>
                <a:spcPct val="120000"/>
              </a:lnSpc>
              <a:buClr>
                <a:srgbClr val="D34817">
                  <a:lumMod val="75000"/>
                </a:srgbClr>
              </a:buClr>
              <a:buSzPct val="85000"/>
              <a:tabLst>
                <a:tab pos="228600" algn="l"/>
              </a:tabLst>
            </a:pPr>
            <a:r>
              <a:rPr lang="bg-BG" sz="2400" dirty="0">
                <a:solidFill>
                  <a:prstClr val="black"/>
                </a:solidFill>
              </a:rPr>
              <a:t>Натрупването и обобщаването на информация в процеса на обучение може да се осъществи за сметка на „внесен еталонен опит” в системата отвън, или по пътя на формиране на такъв опит отвътре. Например, в първия случай на обучаемата система се предлагат ситуации, образи или режими, които имат предварително известни характеристики. Поведението на системата в отговор на такава обучаваща последователност се формира на базата на принципа  „поощрение – наказание” т.е. правилната реакция на системата се запомня и използва за организация на контролируемите изменения динамичните свойства на системата. </a:t>
            </a:r>
          </a:p>
        </p:txBody>
      </p:sp>
    </p:spTree>
    <p:extLst>
      <p:ext uri="{BB962C8B-B14F-4D97-AF65-F5344CB8AC3E}">
        <p14:creationId xmlns:p14="http://schemas.microsoft.com/office/powerpoint/2010/main" val="2374118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28</a:t>
            </a:fld>
            <a:endParaRPr lang="bg-BG" dirty="0"/>
          </a:p>
        </p:txBody>
      </p:sp>
      <p:sp>
        <p:nvSpPr>
          <p:cNvPr id="5" name="Content Placeholder 2"/>
          <p:cNvSpPr txBox="1">
            <a:spLocks/>
          </p:cNvSpPr>
          <p:nvPr/>
        </p:nvSpPr>
        <p:spPr>
          <a:xfrm>
            <a:off x="2032000" y="26904"/>
            <a:ext cx="9962445" cy="5993837"/>
          </a:xfrm>
          <a:prstGeom prst="rect">
            <a:avLst/>
          </a:prstGeom>
        </p:spPr>
        <p:txBody>
          <a:bodyPr lIns="91440" tIns="45720" rIns="91440" bIns="45720" anchor="t">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33400" algn="just">
              <a:lnSpc>
                <a:spcPct val="120000"/>
              </a:lnSpc>
              <a:spcBef>
                <a:spcPts val="0"/>
              </a:spcBef>
              <a:buClr>
                <a:srgbClr val="D34817">
                  <a:lumMod val="75000"/>
                </a:srgbClr>
              </a:buClr>
              <a:buNone/>
              <a:tabLst>
                <a:tab pos="228600" algn="l"/>
              </a:tabLst>
            </a:pPr>
            <a:r>
              <a:rPr lang="bg-BG" sz="2400" dirty="0">
                <a:solidFill>
                  <a:prstClr val="black"/>
                </a:solidFill>
              </a:rPr>
              <a:t>Обучаващите системи в зависимост от начините по натрупване на опита  се делят на обучаващи се с поощрение и обучаващи се без поощрение. Големият интерес към адаптивните системи за управление води до създаване на разнообразни типове системи, предназначени за решаване на широк кръг задачи за автоматично управление.</a:t>
            </a:r>
          </a:p>
          <a:p>
            <a:pPr marL="0" indent="533400" algn="just">
              <a:lnSpc>
                <a:spcPct val="120000"/>
              </a:lnSpc>
              <a:spcBef>
                <a:spcPts val="0"/>
              </a:spcBef>
              <a:buClr>
                <a:srgbClr val="D34817">
                  <a:lumMod val="75000"/>
                </a:srgbClr>
              </a:buClr>
              <a:buNone/>
              <a:tabLst>
                <a:tab pos="228600" algn="l"/>
              </a:tabLst>
            </a:pPr>
            <a:r>
              <a:rPr lang="bg-BG" sz="2400" dirty="0">
                <a:latin typeface="Cambria"/>
                <a:ea typeface="Cambria"/>
              </a:rPr>
              <a:t>Във всички начини за натрупване на опит (положителен или отрицателен, систематизиран или случаен, собствен или внесен, имитационен (изкуствен) или естествен и т.н.) има обща черта – постепенно отделяне на „област от знанието” от цялата съвкупност на „незнание”. В теорията на обучаващите системи тази особеност е намерила отражение в бързо развиващо се направление, свързано със създаването на автоматизирани системи за класификация или разпознаване на образи. </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524721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29</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809706" y="1796813"/>
            <a:ext cx="8225183" cy="2932278"/>
          </a:xfrm>
          <a:prstGeom prst="rect">
            <a:avLst/>
          </a:prstGeom>
        </p:spPr>
        <p:txBody>
          <a:bodyPr wrap="square" lIns="91440" tIns="45720" rIns="91440" bIns="45720" anchor="t">
            <a:spAutoFit/>
          </a:bodyPr>
          <a:lstStyle/>
          <a:p>
            <a:pPr algn="just">
              <a:tabLst>
                <a:tab pos="228600" algn="l"/>
              </a:tabLst>
            </a:pPr>
            <a:r>
              <a:rPr lang="bg-BG" sz="2400" dirty="0">
                <a:latin typeface="Cambria"/>
                <a:ea typeface="Cambria"/>
              </a:rPr>
              <a:t>Под понятието разпознаване на образи се разбира установяване по резултати от натрупан опит на границите между определени класове сложни ситуации. </a:t>
            </a:r>
          </a:p>
          <a:p>
            <a:pPr indent="533400" algn="just">
              <a:lnSpc>
                <a:spcPct val="120000"/>
              </a:lnSpc>
              <a:tabLst>
                <a:tab pos="228600" algn="l"/>
              </a:tabLst>
            </a:pPr>
            <a:r>
              <a:rPr lang="bg-BG" sz="2400" dirty="0">
                <a:latin typeface="Cambria"/>
                <a:ea typeface="Cambria"/>
              </a:rPr>
              <a:t>Задачите за разпознаване и класификация се срещат често не само в технически системи, а в медицинската диагностика, геологията, прогнозиране на времето и др. </a:t>
            </a:r>
            <a:endParaRPr lang="bg-BG" dirty="0"/>
          </a:p>
          <a:p>
            <a:pPr indent="533400" algn="just">
              <a:lnSpc>
                <a:spcPct val="120000"/>
              </a:lnSpc>
              <a:buClr>
                <a:srgbClr val="D34817">
                  <a:lumMod val="75000"/>
                </a:srgbClr>
              </a:buClr>
              <a:tabLst>
                <a:tab pos="228600" algn="l"/>
              </a:tabLst>
            </a:pPr>
            <a:endParaRPr lang="bg-BG" sz="2400" dirty="0">
              <a:solidFill>
                <a:prstClr val="black"/>
              </a:solidFill>
            </a:endParaRPr>
          </a:p>
        </p:txBody>
      </p:sp>
    </p:spTree>
    <p:extLst>
      <p:ext uri="{BB962C8B-B14F-4D97-AF65-F5344CB8AC3E}">
        <p14:creationId xmlns:p14="http://schemas.microsoft.com/office/powerpoint/2010/main" val="3357239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2FE0A421B3E24B9DDFC266E10EBE04" ma:contentTypeVersion="3" ma:contentTypeDescription="Create a new document." ma:contentTypeScope="" ma:versionID="dcbf987a481103226c3ec987ed9307fb">
  <xsd:schema xmlns:xsd="http://www.w3.org/2001/XMLSchema" xmlns:xs="http://www.w3.org/2001/XMLSchema" xmlns:p="http://schemas.microsoft.com/office/2006/metadata/properties" xmlns:ns2="410f8adb-773f-4384-aa9e-8e184e0fd10d" targetNamespace="http://schemas.microsoft.com/office/2006/metadata/properties" ma:root="true" ma:fieldsID="a897376146d62393c4daa3471ee89d00"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0DF0FD-C127-4DF8-85CD-BC1C2F60829C}">
  <ds:schemaRefs>
    <ds:schemaRef ds:uri="http://schemas.microsoft.com/sharepoint/v3/contenttype/forms"/>
  </ds:schemaRefs>
</ds:datastoreItem>
</file>

<file path=customXml/itemProps2.xml><?xml version="1.0" encoding="utf-8"?>
<ds:datastoreItem xmlns:ds="http://schemas.openxmlformats.org/officeDocument/2006/customXml" ds:itemID="{861EFE70-1C8F-43EF-8FB3-E08849A2736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D5DC462-47F2-4B34-88BB-8B91EBFFAE58}"/>
</file>

<file path=docProps/app.xml><?xml version="1.0" encoding="utf-8"?>
<Properties xmlns="http://schemas.openxmlformats.org/officeDocument/2006/extended-properties" xmlns:vt="http://schemas.openxmlformats.org/officeDocument/2006/docPropsVTypes">
  <Template>Wood Type</Template>
  <TotalTime>11446</TotalTime>
  <Words>2851</Words>
  <Application>Microsoft Office PowerPoint</Application>
  <PresentationFormat>Widescreen</PresentationFormat>
  <Paragraphs>149</Paragraphs>
  <Slides>29</Slides>
  <Notes>26</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Wood Type</vt:lpstr>
      <vt:lpstr>Елементи от теорията на автоматичното регулиране и управление. Устойчивост, управляемост и наблюдаемост. Фундаментални принципи на управление. Видове алгоритми за управление. Понятие за оптимално управление. Адаптивни системи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Maya</cp:lastModifiedBy>
  <cp:revision>301</cp:revision>
  <cp:lastPrinted>2022-12-13T18:36:28Z</cp:lastPrinted>
  <dcterms:created xsi:type="dcterms:W3CDTF">2022-08-03T05:13:19Z</dcterms:created>
  <dcterms:modified xsi:type="dcterms:W3CDTF">2023-05-19T09:31:17Z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
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4"/>
  </p:sldMasterIdLst>
  <p:notesMasterIdLst>
    <p:notesMasterId r:id="rId67"/>
  </p:notesMasterIdLst>
  <p:handoutMasterIdLst>
    <p:handoutMasterId r:id="rId68"/>
  </p:handoutMasterIdLst>
  <p:sldIdLst>
    <p:sldId id="256" r:id="rId5"/>
    <p:sldId id="258" r:id="rId6"/>
    <p:sldId id="259" r:id="rId7"/>
    <p:sldId id="311" r:id="rId8"/>
    <p:sldId id="261" r:id="rId9"/>
    <p:sldId id="263" r:id="rId10"/>
    <p:sldId id="264" r:id="rId11"/>
    <p:sldId id="265" r:id="rId12"/>
    <p:sldId id="348" r:id="rId13"/>
    <p:sldId id="266" r:id="rId14"/>
    <p:sldId id="267" r:id="rId15"/>
    <p:sldId id="268" r:id="rId16"/>
    <p:sldId id="296" r:id="rId17"/>
    <p:sldId id="297" r:id="rId18"/>
    <p:sldId id="298" r:id="rId19"/>
    <p:sldId id="269" r:id="rId20"/>
    <p:sldId id="272" r:id="rId21"/>
    <p:sldId id="299" r:id="rId22"/>
    <p:sldId id="271" r:id="rId23"/>
    <p:sldId id="317" r:id="rId24"/>
    <p:sldId id="274" r:id="rId25"/>
    <p:sldId id="273" r:id="rId26"/>
    <p:sldId id="318" r:id="rId27"/>
    <p:sldId id="324" r:id="rId28"/>
    <p:sldId id="320" r:id="rId29"/>
    <p:sldId id="343" r:id="rId30"/>
    <p:sldId id="344" r:id="rId31"/>
    <p:sldId id="345" r:id="rId32"/>
    <p:sldId id="346" r:id="rId33"/>
    <p:sldId id="347" r:id="rId34"/>
    <p:sldId id="332" r:id="rId35"/>
    <p:sldId id="333" r:id="rId36"/>
    <p:sldId id="334" r:id="rId37"/>
    <p:sldId id="335" r:id="rId38"/>
    <p:sldId id="336" r:id="rId39"/>
    <p:sldId id="337" r:id="rId40"/>
    <p:sldId id="338" r:id="rId41"/>
    <p:sldId id="369" r:id="rId42"/>
    <p:sldId id="349" r:id="rId43"/>
    <p:sldId id="350" r:id="rId44"/>
    <p:sldId id="339" r:id="rId45"/>
    <p:sldId id="340" r:id="rId46"/>
    <p:sldId id="341" r:id="rId47"/>
    <p:sldId id="342" r:id="rId48"/>
    <p:sldId id="351" r:id="rId49"/>
    <p:sldId id="352" r:id="rId50"/>
    <p:sldId id="353" r:id="rId51"/>
    <p:sldId id="354" r:id="rId52"/>
    <p:sldId id="355" r:id="rId53"/>
    <p:sldId id="356" r:id="rId54"/>
    <p:sldId id="357" r:id="rId55"/>
    <p:sldId id="358" r:id="rId56"/>
    <p:sldId id="359" r:id="rId57"/>
    <p:sldId id="360" r:id="rId58"/>
    <p:sldId id="366" r:id="rId59"/>
    <p:sldId id="367" r:id="rId60"/>
    <p:sldId id="368" r:id="rId61"/>
    <p:sldId id="361" r:id="rId62"/>
    <p:sldId id="362" r:id="rId63"/>
    <p:sldId id="372" r:id="rId64"/>
    <p:sldId id="373" r:id="rId65"/>
    <p:sldId id="374" r:id="rId66"/>
  </p:sldIdLst>
  <p:sldSz cx="12192000" cy="6858000"/>
  <p:notesSz cx="6761163" cy="9942513"/>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71B90E-BECE-4B20-81EC-DAF5E2988C65}" v="8" dt="2022-12-10T15:37:25.9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8999" autoAdjust="0"/>
  </p:normalViewPr>
  <p:slideViewPr>
    <p:cSldViewPr snapToGrid="0">
      <p:cViewPr varScale="1">
        <p:scale>
          <a:sx n="78" d="100"/>
          <a:sy n="78" d="100"/>
        </p:scale>
        <p:origin x="-114" y="-16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23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Мая Тодорова" userId="S::maya.todorova@tu-varna.bg::b8f1e6db-b241-4f27-bbb2-32e659472542" providerId="AD" clId="Web-{C271B90E-BECE-4B20-81EC-DAF5E2988C65}"/>
    <pc:docChg chg="modSld">
      <pc:chgData name="Мая Тодорова" userId="S::maya.todorova@tu-varna.bg::b8f1e6db-b241-4f27-bbb2-32e659472542" providerId="AD" clId="Web-{C271B90E-BECE-4B20-81EC-DAF5E2988C65}" dt="2022-12-10T15:37:25.961" v="6" actId="14100"/>
      <pc:docMkLst>
        <pc:docMk/>
      </pc:docMkLst>
      <pc:sldChg chg="addSp delSp modSp">
        <pc:chgData name="Мая Тодорова" userId="S::maya.todorova@tu-varna.bg::b8f1e6db-b241-4f27-bbb2-32e659472542" providerId="AD" clId="Web-{C271B90E-BECE-4B20-81EC-DAF5E2988C65}" dt="2022-12-10T15:37:25.961" v="6" actId="14100"/>
        <pc:sldMkLst>
          <pc:docMk/>
          <pc:sldMk cId="3713217231" sldId="355"/>
        </pc:sldMkLst>
        <pc:picChg chg="del">
          <ac:chgData name="Мая Тодорова" userId="S::maya.todorova@tu-varna.bg::b8f1e6db-b241-4f27-bbb2-32e659472542" providerId="AD" clId="Web-{C271B90E-BECE-4B20-81EC-DAF5E2988C65}" dt="2022-12-10T15:37:04.507" v="0"/>
          <ac:picMkLst>
            <pc:docMk/>
            <pc:sldMk cId="3713217231" sldId="355"/>
            <ac:picMk id="2" creationId="{00000000-0000-0000-0000-000000000000}"/>
          </ac:picMkLst>
        </pc:picChg>
        <pc:picChg chg="add mod">
          <ac:chgData name="Мая Тодорова" userId="S::maya.todorova@tu-varna.bg::b8f1e6db-b241-4f27-bbb2-32e659472542" providerId="AD" clId="Web-{C271B90E-BECE-4B20-81EC-DAF5E2988C65}" dt="2022-12-10T15:37:25.961" v="6" actId="14100"/>
          <ac:picMkLst>
            <pc:docMk/>
            <pc:sldMk cId="3713217231" sldId="355"/>
            <ac:picMk id="6" creationId="{ADC52636-594A-140C-246B-DC393004335B}"/>
          </ac:picMkLst>
        </pc:picChg>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5" Type="http://schemas.openxmlformats.org/officeDocument/2006/relationships/image" Target="../media/image43.wmf"/><Relationship Id="rId4" Type="http://schemas.openxmlformats.org/officeDocument/2006/relationships/image" Target="../media/image4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sz="quarter" idx="1"/>
          </p:nvPr>
        </p:nvSpPr>
        <p:spPr>
          <a:xfrm>
            <a:off x="3829762" y="0"/>
            <a:ext cx="2929837" cy="498853"/>
          </a:xfrm>
          <a:prstGeom prst="rect">
            <a:avLst/>
          </a:prstGeom>
        </p:spPr>
        <p:txBody>
          <a:bodyPr vert="horz" lIns="92930" tIns="46465" rIns="92930" bIns="46465" rtlCol="0"/>
          <a:lstStyle>
            <a:lvl1pPr algn="r">
              <a:defRPr sz="1200"/>
            </a:lvl1pPr>
          </a:lstStyle>
          <a:p>
            <a:fld id="{62DAF501-497E-4319-B484-C5A85BB3EFD3}" type="datetimeFigureOut">
              <a:rPr lang="bg-BG" smtClean="0"/>
              <a:t>2.5.2023 г.</a:t>
            </a:fld>
            <a:endParaRPr lang="bg-BG" dirty="0"/>
          </a:p>
        </p:txBody>
      </p:sp>
      <p:sp>
        <p:nvSpPr>
          <p:cNvPr id="4" name="Footer Placeholder 3"/>
          <p:cNvSpPr>
            <a:spLocks noGrp="1"/>
          </p:cNvSpPr>
          <p:nvPr>
            <p:ph type="ftr" sz="quarter" idx="2"/>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5" name="Slide Number Placeholder 4"/>
          <p:cNvSpPr>
            <a:spLocks noGrp="1"/>
          </p:cNvSpPr>
          <p:nvPr>
            <p:ph type="sldNum" sz="quarter" idx="3"/>
          </p:nvPr>
        </p:nvSpPr>
        <p:spPr>
          <a:xfrm>
            <a:off x="3829762" y="9443663"/>
            <a:ext cx="2929837" cy="498852"/>
          </a:xfrm>
          <a:prstGeom prst="rect">
            <a:avLst/>
          </a:prstGeom>
        </p:spPr>
        <p:txBody>
          <a:bodyPr vert="horz" lIns="92930" tIns="46465" rIns="92930" bIns="46465" rtlCol="0" anchor="b"/>
          <a:lstStyle>
            <a:lvl1pPr algn="r">
              <a:defRPr sz="1200"/>
            </a:lvl1pPr>
          </a:lstStyle>
          <a:p>
            <a:fld id="{335249C7-B5B2-4541-A187-B12F42083CB5}" type="slidenum">
              <a:rPr lang="bg-BG" smtClean="0"/>
              <a:t>‹#›</a:t>
            </a:fld>
            <a:endParaRPr lang="bg-BG" dirty="0"/>
          </a:p>
        </p:txBody>
      </p:sp>
    </p:spTree>
    <p:extLst>
      <p:ext uri="{BB962C8B-B14F-4D97-AF65-F5344CB8AC3E}">
        <p14:creationId xmlns:p14="http://schemas.microsoft.com/office/powerpoint/2010/main" val="3873248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idx="1"/>
          </p:nvPr>
        </p:nvSpPr>
        <p:spPr>
          <a:xfrm>
            <a:off x="3829762" y="0"/>
            <a:ext cx="2929837" cy="498853"/>
          </a:xfrm>
          <a:prstGeom prst="rect">
            <a:avLst/>
          </a:prstGeom>
        </p:spPr>
        <p:txBody>
          <a:bodyPr vert="horz" lIns="92930" tIns="46465" rIns="92930" bIns="46465" rtlCol="0"/>
          <a:lstStyle>
            <a:lvl1pPr algn="r">
              <a:defRPr sz="1200"/>
            </a:lvl1pPr>
          </a:lstStyle>
          <a:p>
            <a:fld id="{72A934B3-15CF-49D7-9C90-2FBDF446DA56}" type="datetimeFigureOut">
              <a:rPr lang="bg-BG" smtClean="0"/>
              <a:t>2.5.2023 г.</a:t>
            </a:fld>
            <a:endParaRPr lang="bg-BG"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2930" tIns="46465" rIns="92930" bIns="46465" rtlCol="0" anchor="ctr"/>
          <a:lstStyle/>
          <a:p>
            <a:endParaRPr lang="bg-BG" dirty="0"/>
          </a:p>
        </p:txBody>
      </p:sp>
      <p:sp>
        <p:nvSpPr>
          <p:cNvPr id="5" name="Notes Placeholder 4"/>
          <p:cNvSpPr>
            <a:spLocks noGrp="1"/>
          </p:cNvSpPr>
          <p:nvPr>
            <p:ph type="body" sz="quarter" idx="3"/>
          </p:nvPr>
        </p:nvSpPr>
        <p:spPr>
          <a:xfrm>
            <a:off x="676117" y="4784834"/>
            <a:ext cx="5408930" cy="3914864"/>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7" name="Slide Number Placeholder 6"/>
          <p:cNvSpPr>
            <a:spLocks noGrp="1"/>
          </p:cNvSpPr>
          <p:nvPr>
            <p:ph type="sldNum" sz="quarter" idx="5"/>
          </p:nvPr>
        </p:nvSpPr>
        <p:spPr>
          <a:xfrm>
            <a:off x="3829762" y="9443663"/>
            <a:ext cx="2929837" cy="498852"/>
          </a:xfrm>
          <a:prstGeom prst="rect">
            <a:avLst/>
          </a:prstGeom>
        </p:spPr>
        <p:txBody>
          <a:bodyPr vert="horz" lIns="92930" tIns="46465" rIns="92930" bIns="46465" rtlCol="0" anchor="b"/>
          <a:lstStyle>
            <a:lvl1pPr algn="r">
              <a:defRPr sz="1200"/>
            </a:lvl1pPr>
          </a:lstStyle>
          <a:p>
            <a:fld id="{5617F9B7-5110-4225-A395-C002DCB96977}" type="slidenum">
              <a:rPr lang="bg-BG" smtClean="0"/>
              <a:t>‹#›</a:t>
            </a:fld>
            <a:endParaRPr lang="bg-BG" dirty="0"/>
          </a:p>
        </p:txBody>
      </p:sp>
    </p:spTree>
    <p:extLst>
      <p:ext uri="{BB962C8B-B14F-4D97-AF65-F5344CB8AC3E}">
        <p14:creationId xmlns:p14="http://schemas.microsoft.com/office/powerpoint/2010/main" val="177276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4" name="Контейнер за номер на слайда 3"/>
          <p:cNvSpPr>
            <a:spLocks noGrp="1"/>
          </p:cNvSpPr>
          <p:nvPr>
            <p:ph type="sldNum" sz="quarter" idx="10"/>
          </p:nvPr>
        </p:nvSpPr>
        <p:spPr/>
        <p:txBody>
          <a:bodyPr/>
          <a:lstStyle/>
          <a:p>
            <a:fld id="{5617F9B7-5110-4225-A395-C002DCB96977}" type="slidenum">
              <a:rPr lang="bg-BG" smtClean="0"/>
              <a:t>2</a:t>
            </a:fld>
            <a:endParaRPr lang="bg-BG" dirty="0"/>
          </a:p>
        </p:txBody>
      </p:sp>
    </p:spTree>
    <p:extLst>
      <p:ext uri="{BB962C8B-B14F-4D97-AF65-F5344CB8AC3E}">
        <p14:creationId xmlns:p14="http://schemas.microsoft.com/office/powerpoint/2010/main" val="2844153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a:t>
            </a:fld>
            <a:endParaRPr lang="bg-BG" dirty="0"/>
          </a:p>
        </p:txBody>
      </p:sp>
    </p:spTree>
    <p:extLst>
      <p:ext uri="{BB962C8B-B14F-4D97-AF65-F5344CB8AC3E}">
        <p14:creationId xmlns:p14="http://schemas.microsoft.com/office/powerpoint/2010/main" val="1861992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a:t>
            </a:fld>
            <a:endParaRPr lang="bg-BG" dirty="0"/>
          </a:p>
        </p:txBody>
      </p:sp>
    </p:spTree>
    <p:extLst>
      <p:ext uri="{BB962C8B-B14F-4D97-AF65-F5344CB8AC3E}">
        <p14:creationId xmlns:p14="http://schemas.microsoft.com/office/powerpoint/2010/main" val="665832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a:t>
            </a:fld>
            <a:endParaRPr lang="bg-BG" dirty="0"/>
          </a:p>
        </p:txBody>
      </p:sp>
    </p:spTree>
    <p:extLst>
      <p:ext uri="{BB962C8B-B14F-4D97-AF65-F5344CB8AC3E}">
        <p14:creationId xmlns:p14="http://schemas.microsoft.com/office/powerpoint/2010/main" val="2915215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6</a:t>
            </a:fld>
            <a:endParaRPr lang="bg-BG" dirty="0"/>
          </a:p>
        </p:txBody>
      </p:sp>
    </p:spTree>
    <p:extLst>
      <p:ext uri="{BB962C8B-B14F-4D97-AF65-F5344CB8AC3E}">
        <p14:creationId xmlns:p14="http://schemas.microsoft.com/office/powerpoint/2010/main" val="1110823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7</a:t>
            </a:fld>
            <a:endParaRPr lang="bg-BG" dirty="0"/>
          </a:p>
        </p:txBody>
      </p:sp>
    </p:spTree>
    <p:extLst>
      <p:ext uri="{BB962C8B-B14F-4D97-AF65-F5344CB8AC3E}">
        <p14:creationId xmlns:p14="http://schemas.microsoft.com/office/powerpoint/2010/main" val="2217178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defRPr/>
            </a:pPr>
            <a:endParaRPr lang="bg-BG" altLang="bg-BG" sz="1200" dirty="0"/>
          </a:p>
        </p:txBody>
      </p:sp>
      <p:sp>
        <p:nvSpPr>
          <p:cNvPr id="4" name="Slide Number Placeholder 3"/>
          <p:cNvSpPr>
            <a:spLocks noGrp="1"/>
          </p:cNvSpPr>
          <p:nvPr>
            <p:ph type="sldNum" sz="quarter" idx="10"/>
          </p:nvPr>
        </p:nvSpPr>
        <p:spPr/>
        <p:txBody>
          <a:bodyPr/>
          <a:lstStyle/>
          <a:p>
            <a:fld id="{5617F9B7-5110-4225-A395-C002DCB96977}" type="slidenum">
              <a:rPr lang="bg-BG" smtClean="0"/>
              <a:t>8</a:t>
            </a:fld>
            <a:endParaRPr lang="bg-BG" dirty="0"/>
          </a:p>
        </p:txBody>
      </p:sp>
    </p:spTree>
    <p:extLst>
      <p:ext uri="{BB962C8B-B14F-4D97-AF65-F5344CB8AC3E}">
        <p14:creationId xmlns:p14="http://schemas.microsoft.com/office/powerpoint/2010/main" val="1806913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9</a:t>
            </a:fld>
            <a:endParaRPr lang="bg-BG" dirty="0"/>
          </a:p>
        </p:txBody>
      </p:sp>
    </p:spTree>
    <p:extLst>
      <p:ext uri="{BB962C8B-B14F-4D97-AF65-F5344CB8AC3E}">
        <p14:creationId xmlns:p14="http://schemas.microsoft.com/office/powerpoint/2010/main" val="4029648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10</a:t>
            </a:fld>
            <a:endParaRPr lang="bg-BG" dirty="0"/>
          </a:p>
        </p:txBody>
      </p:sp>
    </p:spTree>
    <p:extLst>
      <p:ext uri="{BB962C8B-B14F-4D97-AF65-F5344CB8AC3E}">
        <p14:creationId xmlns:p14="http://schemas.microsoft.com/office/powerpoint/2010/main" val="3814579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11</a:t>
            </a:fld>
            <a:endParaRPr lang="bg-BG" dirty="0"/>
          </a:p>
        </p:txBody>
      </p:sp>
    </p:spTree>
    <p:extLst>
      <p:ext uri="{BB962C8B-B14F-4D97-AF65-F5344CB8AC3E}">
        <p14:creationId xmlns:p14="http://schemas.microsoft.com/office/powerpoint/2010/main" val="3194622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12</a:t>
            </a:fld>
            <a:endParaRPr lang="bg-BG" dirty="0"/>
          </a:p>
        </p:txBody>
      </p:sp>
    </p:spTree>
    <p:extLst>
      <p:ext uri="{BB962C8B-B14F-4D97-AF65-F5344CB8AC3E}">
        <p14:creationId xmlns:p14="http://schemas.microsoft.com/office/powerpoint/2010/main" val="2371731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13</a:t>
            </a:fld>
            <a:endParaRPr lang="bg-BG" dirty="0"/>
          </a:p>
        </p:txBody>
      </p:sp>
    </p:spTree>
    <p:extLst>
      <p:ext uri="{BB962C8B-B14F-4D97-AF65-F5344CB8AC3E}">
        <p14:creationId xmlns:p14="http://schemas.microsoft.com/office/powerpoint/2010/main" val="2344923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9305">
              <a:defRPr/>
            </a:pPr>
            <a:endParaRPr lang="bg-BG"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14</a:t>
            </a:fld>
            <a:endParaRPr lang="bg-BG" dirty="0"/>
          </a:p>
        </p:txBody>
      </p:sp>
    </p:spTree>
    <p:extLst>
      <p:ext uri="{BB962C8B-B14F-4D97-AF65-F5344CB8AC3E}">
        <p14:creationId xmlns:p14="http://schemas.microsoft.com/office/powerpoint/2010/main" val="520302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15</a:t>
            </a:fld>
            <a:endParaRPr lang="bg-BG" dirty="0"/>
          </a:p>
        </p:txBody>
      </p:sp>
    </p:spTree>
    <p:extLst>
      <p:ext uri="{BB962C8B-B14F-4D97-AF65-F5344CB8AC3E}">
        <p14:creationId xmlns:p14="http://schemas.microsoft.com/office/powerpoint/2010/main" val="2390392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18</a:t>
            </a:fld>
            <a:endParaRPr lang="bg-BG" dirty="0"/>
          </a:p>
        </p:txBody>
      </p:sp>
    </p:spTree>
    <p:extLst>
      <p:ext uri="{BB962C8B-B14F-4D97-AF65-F5344CB8AC3E}">
        <p14:creationId xmlns:p14="http://schemas.microsoft.com/office/powerpoint/2010/main" val="2055371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19</a:t>
            </a:fld>
            <a:endParaRPr lang="bg-BG" dirty="0"/>
          </a:p>
        </p:txBody>
      </p:sp>
    </p:spTree>
    <p:extLst>
      <p:ext uri="{BB962C8B-B14F-4D97-AF65-F5344CB8AC3E}">
        <p14:creationId xmlns:p14="http://schemas.microsoft.com/office/powerpoint/2010/main" val="3918949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20</a:t>
            </a:fld>
            <a:endParaRPr lang="bg-BG" dirty="0"/>
          </a:p>
        </p:txBody>
      </p:sp>
    </p:spTree>
    <p:extLst>
      <p:ext uri="{BB962C8B-B14F-4D97-AF65-F5344CB8AC3E}">
        <p14:creationId xmlns:p14="http://schemas.microsoft.com/office/powerpoint/2010/main" val="1518390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24</a:t>
            </a:fld>
            <a:endParaRPr lang="bg-BG" dirty="0"/>
          </a:p>
        </p:txBody>
      </p:sp>
    </p:spTree>
    <p:extLst>
      <p:ext uri="{BB962C8B-B14F-4D97-AF65-F5344CB8AC3E}">
        <p14:creationId xmlns:p14="http://schemas.microsoft.com/office/powerpoint/2010/main" val="257892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31</a:t>
            </a:fld>
            <a:endParaRPr lang="bg-BG" dirty="0"/>
          </a:p>
        </p:txBody>
      </p:sp>
    </p:spTree>
    <p:extLst>
      <p:ext uri="{BB962C8B-B14F-4D97-AF65-F5344CB8AC3E}">
        <p14:creationId xmlns:p14="http://schemas.microsoft.com/office/powerpoint/2010/main" val="41266962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33</a:t>
            </a:fld>
            <a:endParaRPr lang="bg-BG" dirty="0"/>
          </a:p>
        </p:txBody>
      </p:sp>
    </p:spTree>
    <p:extLst>
      <p:ext uri="{BB962C8B-B14F-4D97-AF65-F5344CB8AC3E}">
        <p14:creationId xmlns:p14="http://schemas.microsoft.com/office/powerpoint/2010/main" val="4250254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34</a:t>
            </a:fld>
            <a:endParaRPr lang="bg-BG" dirty="0"/>
          </a:p>
        </p:txBody>
      </p:sp>
    </p:spTree>
    <p:extLst>
      <p:ext uri="{BB962C8B-B14F-4D97-AF65-F5344CB8AC3E}">
        <p14:creationId xmlns:p14="http://schemas.microsoft.com/office/powerpoint/2010/main" val="3255001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35</a:t>
            </a:fld>
            <a:endParaRPr lang="bg-BG" dirty="0"/>
          </a:p>
        </p:txBody>
      </p:sp>
    </p:spTree>
    <p:extLst>
      <p:ext uri="{BB962C8B-B14F-4D97-AF65-F5344CB8AC3E}">
        <p14:creationId xmlns:p14="http://schemas.microsoft.com/office/powerpoint/2010/main" val="2602305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36</a:t>
            </a:fld>
            <a:endParaRPr lang="bg-BG" dirty="0"/>
          </a:p>
        </p:txBody>
      </p:sp>
    </p:spTree>
    <p:extLst>
      <p:ext uri="{BB962C8B-B14F-4D97-AF65-F5344CB8AC3E}">
        <p14:creationId xmlns:p14="http://schemas.microsoft.com/office/powerpoint/2010/main" val="2868393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37</a:t>
            </a:fld>
            <a:endParaRPr lang="bg-BG" dirty="0"/>
          </a:p>
        </p:txBody>
      </p:sp>
    </p:spTree>
    <p:extLst>
      <p:ext uri="{BB962C8B-B14F-4D97-AF65-F5344CB8AC3E}">
        <p14:creationId xmlns:p14="http://schemas.microsoft.com/office/powerpoint/2010/main" val="20398730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38</a:t>
            </a:fld>
            <a:endParaRPr lang="bg-BG" dirty="0"/>
          </a:p>
        </p:txBody>
      </p:sp>
    </p:spTree>
    <p:extLst>
      <p:ext uri="{BB962C8B-B14F-4D97-AF65-F5344CB8AC3E}">
        <p14:creationId xmlns:p14="http://schemas.microsoft.com/office/powerpoint/2010/main" val="3127197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39</a:t>
            </a:fld>
            <a:endParaRPr lang="bg-BG" dirty="0"/>
          </a:p>
        </p:txBody>
      </p:sp>
    </p:spTree>
    <p:extLst>
      <p:ext uri="{BB962C8B-B14F-4D97-AF65-F5344CB8AC3E}">
        <p14:creationId xmlns:p14="http://schemas.microsoft.com/office/powerpoint/2010/main" val="1015082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40</a:t>
            </a:fld>
            <a:endParaRPr lang="bg-BG" dirty="0"/>
          </a:p>
        </p:txBody>
      </p:sp>
    </p:spTree>
    <p:extLst>
      <p:ext uri="{BB962C8B-B14F-4D97-AF65-F5344CB8AC3E}">
        <p14:creationId xmlns:p14="http://schemas.microsoft.com/office/powerpoint/2010/main" val="2106812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41</a:t>
            </a:fld>
            <a:endParaRPr lang="bg-BG" dirty="0"/>
          </a:p>
        </p:txBody>
      </p:sp>
    </p:spTree>
    <p:extLst>
      <p:ext uri="{BB962C8B-B14F-4D97-AF65-F5344CB8AC3E}">
        <p14:creationId xmlns:p14="http://schemas.microsoft.com/office/powerpoint/2010/main" val="16185445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42</a:t>
            </a:fld>
            <a:endParaRPr lang="bg-BG" dirty="0"/>
          </a:p>
        </p:txBody>
      </p:sp>
    </p:spTree>
    <p:extLst>
      <p:ext uri="{BB962C8B-B14F-4D97-AF65-F5344CB8AC3E}">
        <p14:creationId xmlns:p14="http://schemas.microsoft.com/office/powerpoint/2010/main" val="693201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43</a:t>
            </a:fld>
            <a:endParaRPr lang="bg-BG" dirty="0"/>
          </a:p>
        </p:txBody>
      </p:sp>
    </p:spTree>
    <p:extLst>
      <p:ext uri="{BB962C8B-B14F-4D97-AF65-F5344CB8AC3E}">
        <p14:creationId xmlns:p14="http://schemas.microsoft.com/office/powerpoint/2010/main" val="21809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44</a:t>
            </a:fld>
            <a:endParaRPr lang="bg-BG" dirty="0"/>
          </a:p>
        </p:txBody>
      </p:sp>
    </p:spTree>
    <p:extLst>
      <p:ext uri="{BB962C8B-B14F-4D97-AF65-F5344CB8AC3E}">
        <p14:creationId xmlns:p14="http://schemas.microsoft.com/office/powerpoint/2010/main" val="36268822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45</a:t>
            </a:fld>
            <a:endParaRPr lang="bg-BG" dirty="0"/>
          </a:p>
        </p:txBody>
      </p:sp>
    </p:spTree>
    <p:extLst>
      <p:ext uri="{BB962C8B-B14F-4D97-AF65-F5344CB8AC3E}">
        <p14:creationId xmlns:p14="http://schemas.microsoft.com/office/powerpoint/2010/main" val="25612492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46</a:t>
            </a:fld>
            <a:endParaRPr lang="bg-BG" dirty="0"/>
          </a:p>
        </p:txBody>
      </p:sp>
    </p:spTree>
    <p:extLst>
      <p:ext uri="{BB962C8B-B14F-4D97-AF65-F5344CB8AC3E}">
        <p14:creationId xmlns:p14="http://schemas.microsoft.com/office/powerpoint/2010/main" val="38750363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47</a:t>
            </a:fld>
            <a:endParaRPr lang="bg-BG" dirty="0"/>
          </a:p>
        </p:txBody>
      </p:sp>
    </p:spTree>
    <p:extLst>
      <p:ext uri="{BB962C8B-B14F-4D97-AF65-F5344CB8AC3E}">
        <p14:creationId xmlns:p14="http://schemas.microsoft.com/office/powerpoint/2010/main" val="15059061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48</a:t>
            </a:fld>
            <a:endParaRPr lang="bg-BG" dirty="0"/>
          </a:p>
        </p:txBody>
      </p:sp>
    </p:spTree>
    <p:extLst>
      <p:ext uri="{BB962C8B-B14F-4D97-AF65-F5344CB8AC3E}">
        <p14:creationId xmlns:p14="http://schemas.microsoft.com/office/powerpoint/2010/main" val="18543552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49</a:t>
            </a:fld>
            <a:endParaRPr lang="bg-BG" dirty="0"/>
          </a:p>
        </p:txBody>
      </p:sp>
    </p:spTree>
    <p:extLst>
      <p:ext uri="{BB962C8B-B14F-4D97-AF65-F5344CB8AC3E}">
        <p14:creationId xmlns:p14="http://schemas.microsoft.com/office/powerpoint/2010/main" val="1717502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50</a:t>
            </a:fld>
            <a:endParaRPr lang="bg-BG" dirty="0"/>
          </a:p>
        </p:txBody>
      </p:sp>
    </p:spTree>
    <p:extLst>
      <p:ext uri="{BB962C8B-B14F-4D97-AF65-F5344CB8AC3E}">
        <p14:creationId xmlns:p14="http://schemas.microsoft.com/office/powerpoint/2010/main" val="29277879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51</a:t>
            </a:fld>
            <a:endParaRPr lang="bg-BG" dirty="0"/>
          </a:p>
        </p:txBody>
      </p:sp>
    </p:spTree>
    <p:extLst>
      <p:ext uri="{BB962C8B-B14F-4D97-AF65-F5344CB8AC3E}">
        <p14:creationId xmlns:p14="http://schemas.microsoft.com/office/powerpoint/2010/main" val="33057047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52</a:t>
            </a:fld>
            <a:endParaRPr lang="bg-BG" dirty="0"/>
          </a:p>
        </p:txBody>
      </p:sp>
    </p:spTree>
    <p:extLst>
      <p:ext uri="{BB962C8B-B14F-4D97-AF65-F5344CB8AC3E}">
        <p14:creationId xmlns:p14="http://schemas.microsoft.com/office/powerpoint/2010/main" val="31866265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53</a:t>
            </a:fld>
            <a:endParaRPr lang="bg-BG" dirty="0"/>
          </a:p>
        </p:txBody>
      </p:sp>
    </p:spTree>
    <p:extLst>
      <p:ext uri="{BB962C8B-B14F-4D97-AF65-F5344CB8AC3E}">
        <p14:creationId xmlns:p14="http://schemas.microsoft.com/office/powerpoint/2010/main" val="2804866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54</a:t>
            </a:fld>
            <a:endParaRPr lang="bg-BG" dirty="0"/>
          </a:p>
        </p:txBody>
      </p:sp>
    </p:spTree>
    <p:extLst>
      <p:ext uri="{BB962C8B-B14F-4D97-AF65-F5344CB8AC3E}">
        <p14:creationId xmlns:p14="http://schemas.microsoft.com/office/powerpoint/2010/main" val="37862857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55</a:t>
            </a:fld>
            <a:endParaRPr lang="bg-BG" dirty="0"/>
          </a:p>
        </p:txBody>
      </p:sp>
    </p:spTree>
    <p:extLst>
      <p:ext uri="{BB962C8B-B14F-4D97-AF65-F5344CB8AC3E}">
        <p14:creationId xmlns:p14="http://schemas.microsoft.com/office/powerpoint/2010/main" val="3305498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56</a:t>
            </a:fld>
            <a:endParaRPr lang="bg-BG" dirty="0"/>
          </a:p>
        </p:txBody>
      </p:sp>
    </p:spTree>
    <p:extLst>
      <p:ext uri="{BB962C8B-B14F-4D97-AF65-F5344CB8AC3E}">
        <p14:creationId xmlns:p14="http://schemas.microsoft.com/office/powerpoint/2010/main" val="8216286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57</a:t>
            </a:fld>
            <a:endParaRPr lang="bg-BG" dirty="0"/>
          </a:p>
        </p:txBody>
      </p:sp>
    </p:spTree>
    <p:extLst>
      <p:ext uri="{BB962C8B-B14F-4D97-AF65-F5344CB8AC3E}">
        <p14:creationId xmlns:p14="http://schemas.microsoft.com/office/powerpoint/2010/main" val="34115896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58</a:t>
            </a:fld>
            <a:endParaRPr lang="bg-BG" dirty="0"/>
          </a:p>
        </p:txBody>
      </p:sp>
    </p:spTree>
    <p:extLst>
      <p:ext uri="{BB962C8B-B14F-4D97-AF65-F5344CB8AC3E}">
        <p14:creationId xmlns:p14="http://schemas.microsoft.com/office/powerpoint/2010/main" val="19344710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59</a:t>
            </a:fld>
            <a:endParaRPr lang="bg-BG" dirty="0"/>
          </a:p>
        </p:txBody>
      </p:sp>
    </p:spTree>
    <p:extLst>
      <p:ext uri="{BB962C8B-B14F-4D97-AF65-F5344CB8AC3E}">
        <p14:creationId xmlns:p14="http://schemas.microsoft.com/office/powerpoint/2010/main" val="39522225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60</a:t>
            </a:fld>
            <a:endParaRPr lang="bg-BG" dirty="0"/>
          </a:p>
        </p:txBody>
      </p:sp>
    </p:spTree>
    <p:extLst>
      <p:ext uri="{BB962C8B-B14F-4D97-AF65-F5344CB8AC3E}">
        <p14:creationId xmlns:p14="http://schemas.microsoft.com/office/powerpoint/2010/main" val="29277879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61</a:t>
            </a:fld>
            <a:endParaRPr lang="bg-BG" dirty="0"/>
          </a:p>
        </p:txBody>
      </p:sp>
    </p:spTree>
    <p:extLst>
      <p:ext uri="{BB962C8B-B14F-4D97-AF65-F5344CB8AC3E}">
        <p14:creationId xmlns:p14="http://schemas.microsoft.com/office/powerpoint/2010/main" val="2927787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62</a:t>
            </a:fld>
            <a:endParaRPr lang="bg-BG" dirty="0"/>
          </a:p>
        </p:txBody>
      </p:sp>
    </p:spTree>
    <p:extLst>
      <p:ext uri="{BB962C8B-B14F-4D97-AF65-F5344CB8AC3E}">
        <p14:creationId xmlns:p14="http://schemas.microsoft.com/office/powerpoint/2010/main" val="292778799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6A666B-2F7D-4199-A5CF-D1399F06B5CC}"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213164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EF8BD3-AC58-47F1-B591-69906B5D74CE}"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518441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46564442-4F9C-4117-9AC9-3C912B6DAF6E}" type="datetime1">
              <a:rPr lang="bg-BG" smtClean="0"/>
              <a:t>2.5.2023 г.</a:t>
            </a:fld>
            <a:endParaRPr lang="bg-BG" dirty="0"/>
          </a:p>
        </p:txBody>
      </p:sp>
      <p:sp>
        <p:nvSpPr>
          <p:cNvPr id="5" name="Footer Placeholder 4"/>
          <p:cNvSpPr>
            <a:spLocks noGrp="1"/>
          </p:cNvSpPr>
          <p:nvPr>
            <p:ph type="ftr" sz="quarter" idx="11"/>
          </p:nvPr>
        </p:nvSpPr>
        <p:spPr>
          <a:xfrm>
            <a:off x="2182708" y="6272784"/>
            <a:ext cx="6327648" cy="365125"/>
          </a:xfrm>
        </p:spPr>
        <p:txBody>
          <a:bodyPr/>
          <a:lstStyle/>
          <a:p>
            <a:endParaRPr lang="bg-BG"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174547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2E6C9-D462-4DF8-8A5B-084EF99FCB92}" type="datetime1">
              <a:rPr lang="bg-BG" smtClean="0"/>
              <a:t>2.5.2023 г.</a:t>
            </a:fld>
            <a:endParaRPr lang="bg-BG" dirty="0"/>
          </a:p>
        </p:txBody>
      </p:sp>
      <p:sp>
        <p:nvSpPr>
          <p:cNvPr id="6" name="Footer Placeholder 5"/>
          <p:cNvSpPr>
            <a:spLocks noGrp="1"/>
          </p:cNvSpPr>
          <p:nvPr>
            <p:ph type="ftr" sz="quarter" idx="11"/>
          </p:nvPr>
        </p:nvSpPr>
        <p:spPr/>
        <p:txBody>
          <a:bodyPr/>
          <a:lstStyle/>
          <a:p>
            <a:endParaRPr lang="bg-BG" dirty="0"/>
          </a:p>
        </p:txBody>
      </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06091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EB004C-1449-4E25-B641-5BE18784B024}" type="datetime1">
              <a:rPr lang="bg-BG" smtClean="0"/>
              <a:t>2.5.2023 г.</a:t>
            </a:fld>
            <a:endParaRPr lang="bg-BG" dirty="0"/>
          </a:p>
        </p:txBody>
      </p:sp>
      <p:sp>
        <p:nvSpPr>
          <p:cNvPr id="8" name="Footer Placeholder 7"/>
          <p:cNvSpPr>
            <a:spLocks noGrp="1"/>
          </p:cNvSpPr>
          <p:nvPr>
            <p:ph type="ftr" sz="quarter" idx="11"/>
          </p:nvPr>
        </p:nvSpPr>
        <p:spPr/>
        <p:txBody>
          <a:bodyPr/>
          <a:lstStyle/>
          <a:p>
            <a:endParaRPr lang="bg-BG" dirty="0"/>
          </a:p>
        </p:txBody>
      </p:sp>
      <p:sp>
        <p:nvSpPr>
          <p:cNvPr id="9" name="Slide Number Placeholder 8"/>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59890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C1725-AB21-4845-BE49-CE8C42164743}" type="datetime1">
              <a:rPr lang="bg-BG" smtClean="0"/>
              <a:t>2.5.2023 г.</a:t>
            </a:fld>
            <a:endParaRPr lang="bg-BG" dirty="0"/>
          </a:p>
        </p:txBody>
      </p:sp>
      <p:sp>
        <p:nvSpPr>
          <p:cNvPr id="4" name="Footer Placeholder 3"/>
          <p:cNvSpPr>
            <a:spLocks noGrp="1"/>
          </p:cNvSpPr>
          <p:nvPr>
            <p:ph type="ftr" sz="quarter" idx="11"/>
          </p:nvPr>
        </p:nvSpPr>
        <p:spPr/>
        <p:txBody>
          <a:bodyPr/>
          <a:lstStyle/>
          <a:p>
            <a:endParaRPr lang="bg-BG" dirty="0"/>
          </a:p>
        </p:txBody>
      </p:sp>
      <p:sp>
        <p:nvSpPr>
          <p:cNvPr id="5" name="Slide Number Placeholder 4"/>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05353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940C-92A6-42D4-A0AE-8AE229120CFF}" type="datetime1">
              <a:rPr lang="bg-BG" smtClean="0"/>
              <a:t>2.5.2023 г.</a:t>
            </a:fld>
            <a:endParaRPr lang="bg-BG" dirty="0"/>
          </a:p>
        </p:txBody>
      </p:sp>
      <p:sp>
        <p:nvSpPr>
          <p:cNvPr id="3" name="Footer Placeholder 2"/>
          <p:cNvSpPr>
            <a:spLocks noGrp="1"/>
          </p:cNvSpPr>
          <p:nvPr>
            <p:ph type="ftr" sz="quarter" idx="11"/>
          </p:nvPr>
        </p:nvSpPr>
        <p:spPr/>
        <p:txBody>
          <a:bodyPr/>
          <a:lstStyle/>
          <a:p>
            <a:endParaRPr lang="bg-BG" dirty="0"/>
          </a:p>
        </p:txBody>
      </p:sp>
      <p:sp>
        <p:nvSpPr>
          <p:cNvPr id="4" name="Slide Number Placeholder 3"/>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1305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4F04CA-5B7E-4437-926E-A34999B7E6C0}" type="datetime1">
              <a:rPr lang="bg-BG" smtClean="0"/>
              <a:t>2.5.2023 г.</a:t>
            </a:fld>
            <a:endParaRPr lang="bg-BG" dirty="0"/>
          </a:p>
        </p:txBody>
      </p:sp>
      <p:sp>
        <p:nvSpPr>
          <p:cNvPr id="6" name="Footer Placeholder 5"/>
          <p:cNvSpPr>
            <a:spLocks noGrp="1"/>
          </p:cNvSpPr>
          <p:nvPr>
            <p:ph type="ftr" sz="quarter" idx="11"/>
          </p:nvPr>
        </p:nvSpPr>
        <p:spPr/>
        <p:txBody>
          <a:bodyPr/>
          <a:lstStyle/>
          <a:p>
            <a:endParaRPr lang="bg-BG"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28340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DBFFBA-50AA-4558-ADC7-8C8BF6C03621}" type="datetime1">
              <a:rPr lang="bg-BG" smtClean="0"/>
              <a:t>2.5.2023 г.</a:t>
            </a:fld>
            <a:endParaRPr lang="bg-BG"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875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C901CF-14B7-42BE-8693-1C6A365ED97B}"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2827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A9374-CC8C-4027-8C9C-D37ED427A6AE}"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9953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C22829-1A03-43BA-AD1C-84AE46C99B1D}" type="datetime1">
              <a:rPr lang="bg-BG" smtClean="0"/>
              <a:t>2.5.2023 г.</a:t>
            </a:fld>
            <a:endParaRPr lang="bg-BG"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bg-BG"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363482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notesSlide" Target="../notesSlides/notesSlide15.xml"/><Relationship Id="rId7"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1.bin"/><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16.xml"/><Relationship Id="rId7"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10" Type="http://schemas.openxmlformats.org/officeDocument/2006/relationships/image" Target="../media/image11.wmf"/><Relationship Id="rId4" Type="http://schemas.openxmlformats.org/officeDocument/2006/relationships/image" Target="../media/image13.png"/><Relationship Id="rId9"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3.wmf"/><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12.wmf"/><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5.wmf"/><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9.bin"/><Relationship Id="rId5" Type="http://schemas.openxmlformats.org/officeDocument/2006/relationships/image" Target="../media/image14.wmf"/><Relationship Id="rId4"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11.bin"/><Relationship Id="rId4" Type="http://schemas.openxmlformats.org/officeDocument/2006/relationships/image" Target="../media/image16.wmf"/></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0.wmf"/><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oleObject" Target="../embeddings/oleObject14.bin"/><Relationship Id="rId5" Type="http://schemas.openxmlformats.org/officeDocument/2006/relationships/image" Target="../media/image19.wmf"/><Relationship Id="rId4"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2.wmf"/><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oleObject" Target="../embeddings/oleObject16.bin"/><Relationship Id="rId5" Type="http://schemas.openxmlformats.org/officeDocument/2006/relationships/image" Target="../media/image21.wmf"/><Relationship Id="rId4" Type="http://schemas.openxmlformats.org/officeDocument/2006/relationships/oleObject" Target="../embeddings/oleObject15.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32.png"/><Relationship Id="rId7" Type="http://schemas.openxmlformats.org/officeDocument/2006/relationships/image" Target="../media/image24.wmf"/><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oleObject" Target="../embeddings/oleObject18.bin"/><Relationship Id="rId5" Type="http://schemas.openxmlformats.org/officeDocument/2006/relationships/image" Target="../media/image23.wmf"/><Relationship Id="rId4" Type="http://schemas.openxmlformats.org/officeDocument/2006/relationships/oleObject" Target="../embeddings/oleObject17.bin"/><Relationship Id="rId9" Type="http://schemas.openxmlformats.org/officeDocument/2006/relationships/image" Target="../media/image25.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oleObject" Target="../embeddings/oleObject24.bin"/><Relationship Id="rId3" Type="http://schemas.openxmlformats.org/officeDocument/2006/relationships/image" Target="../media/image39.png"/><Relationship Id="rId7" Type="http://schemas.openxmlformats.org/officeDocument/2006/relationships/image" Target="../media/image27.wmf"/><Relationship Id="rId12" Type="http://schemas.openxmlformats.org/officeDocument/2006/relationships/image" Target="../media/image40.png"/><Relationship Id="rId2" Type="http://schemas.openxmlformats.org/officeDocument/2006/relationships/slideLayout" Target="../slideLayouts/slideLayout3.xml"/><Relationship Id="rId16" Type="http://schemas.openxmlformats.org/officeDocument/2006/relationships/image" Target="../media/image31.wmf"/><Relationship Id="rId1" Type="http://schemas.openxmlformats.org/officeDocument/2006/relationships/vmlDrawing" Target="../drawings/vmlDrawing9.vml"/><Relationship Id="rId6" Type="http://schemas.openxmlformats.org/officeDocument/2006/relationships/oleObject" Target="../embeddings/oleObject21.bin"/><Relationship Id="rId11" Type="http://schemas.openxmlformats.org/officeDocument/2006/relationships/image" Target="../media/image29.wmf"/><Relationship Id="rId5" Type="http://schemas.openxmlformats.org/officeDocument/2006/relationships/image" Target="../media/image26.wmf"/><Relationship Id="rId15" Type="http://schemas.openxmlformats.org/officeDocument/2006/relationships/oleObject" Target="../embeddings/oleObject25.bin"/><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28.wmf"/><Relationship Id="rId14" Type="http://schemas.openxmlformats.org/officeDocument/2006/relationships/image" Target="../media/image30.wmf"/></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notesSlide" Target="../notesSlides/notesSlide20.xml"/><Relationship Id="rId7" Type="http://schemas.openxmlformats.org/officeDocument/2006/relationships/oleObject" Target="../embeddings/oleObject27.bin"/><Relationship Id="rId12" Type="http://schemas.openxmlformats.org/officeDocument/2006/relationships/image" Target="../media/image38.wmf"/><Relationship Id="rId2" Type="http://schemas.openxmlformats.org/officeDocument/2006/relationships/slideLayout" Target="../slideLayouts/slideLayout3.xml"/><Relationship Id="rId1" Type="http://schemas.openxmlformats.org/officeDocument/2006/relationships/vmlDrawing" Target="../drawings/vmlDrawing10.vml"/><Relationship Id="rId6" Type="http://schemas.openxmlformats.org/officeDocument/2006/relationships/image" Target="../media/image35.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37.wmf"/><Relationship Id="rId4" Type="http://schemas.openxmlformats.org/officeDocument/2006/relationships/image" Target="../media/image47.png"/><Relationship Id="rId9" Type="http://schemas.openxmlformats.org/officeDocument/2006/relationships/oleObject" Target="../embeddings/oleObject28.bin"/></Relationships>
</file>

<file path=ppt/slides/_rels/slide34.x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oleObject" Target="../embeddings/oleObject34.bin"/><Relationship Id="rId3" Type="http://schemas.openxmlformats.org/officeDocument/2006/relationships/notesSlide" Target="../notesSlides/notesSlide21.xml"/><Relationship Id="rId7" Type="http://schemas.openxmlformats.org/officeDocument/2006/relationships/oleObject" Target="../embeddings/oleObject31.bin"/><Relationship Id="rId12" Type="http://schemas.openxmlformats.org/officeDocument/2006/relationships/image" Target="../media/image42.wmf"/><Relationship Id="rId2" Type="http://schemas.openxmlformats.org/officeDocument/2006/relationships/slideLayout" Target="../slideLayouts/slideLayout3.xml"/><Relationship Id="rId1" Type="http://schemas.openxmlformats.org/officeDocument/2006/relationships/vmlDrawing" Target="../drawings/vmlDrawing11.vml"/><Relationship Id="rId6" Type="http://schemas.openxmlformats.org/officeDocument/2006/relationships/image" Target="../media/image39.wmf"/><Relationship Id="rId11" Type="http://schemas.openxmlformats.org/officeDocument/2006/relationships/oleObject" Target="../embeddings/oleObject33.bin"/><Relationship Id="rId5" Type="http://schemas.openxmlformats.org/officeDocument/2006/relationships/oleObject" Target="../embeddings/oleObject30.bin"/><Relationship Id="rId10" Type="http://schemas.openxmlformats.org/officeDocument/2006/relationships/image" Target="../media/image41.wmf"/><Relationship Id="rId4" Type="http://schemas.openxmlformats.org/officeDocument/2006/relationships/image" Target="../media/image53.png"/><Relationship Id="rId9" Type="http://schemas.openxmlformats.org/officeDocument/2006/relationships/oleObject" Target="../embeddings/oleObject32.bin"/><Relationship Id="rId14" Type="http://schemas.openxmlformats.org/officeDocument/2006/relationships/image" Target="../media/image43.wmf"/></Relationships>
</file>

<file path=ppt/slides/_rels/slide35.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notesSlide" Target="../notesSlides/notesSlide22.xml"/><Relationship Id="rId7" Type="http://schemas.openxmlformats.org/officeDocument/2006/relationships/oleObject" Target="../embeddings/oleObject36.bin"/><Relationship Id="rId12" Type="http://schemas.openxmlformats.org/officeDocument/2006/relationships/image" Target="../media/image47.wmf"/><Relationship Id="rId2" Type="http://schemas.openxmlformats.org/officeDocument/2006/relationships/slideLayout" Target="../slideLayouts/slideLayout3.xml"/><Relationship Id="rId1" Type="http://schemas.openxmlformats.org/officeDocument/2006/relationships/vmlDrawing" Target="../drawings/vmlDrawing12.vml"/><Relationship Id="rId6" Type="http://schemas.openxmlformats.org/officeDocument/2006/relationships/image" Target="../media/image44.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46.wmf"/><Relationship Id="rId4" Type="http://schemas.openxmlformats.org/officeDocument/2006/relationships/image" Target="../media/image48.png"/><Relationship Id="rId9" Type="http://schemas.openxmlformats.org/officeDocument/2006/relationships/oleObject" Target="../embeddings/oleObject37.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vmlDrawing" Target="../drawings/vmlDrawing13.vml"/><Relationship Id="rId6" Type="http://schemas.openxmlformats.org/officeDocument/2006/relationships/image" Target="../media/image48.wmf"/><Relationship Id="rId5" Type="http://schemas.openxmlformats.org/officeDocument/2006/relationships/oleObject" Target="../embeddings/oleObject39.bin"/><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0.png"/><Relationship Id="rId7"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2.png"/><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vmlDrawing" Target="../drawings/vmlDrawing14.vml"/><Relationship Id="rId6" Type="http://schemas.openxmlformats.org/officeDocument/2006/relationships/image" Target="../media/image57.wmf"/><Relationship Id="rId5" Type="http://schemas.openxmlformats.org/officeDocument/2006/relationships/oleObject" Target="../embeddings/oleObject40.bin"/><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notesSlide" Target="../notesSlides/notesSlide27.xml"/><Relationship Id="rId7" Type="http://schemas.openxmlformats.org/officeDocument/2006/relationships/oleObject" Target="../embeddings/oleObject42.bin"/><Relationship Id="rId2" Type="http://schemas.openxmlformats.org/officeDocument/2006/relationships/slideLayout" Target="../slideLayouts/slideLayout3.xml"/><Relationship Id="rId1" Type="http://schemas.openxmlformats.org/officeDocument/2006/relationships/vmlDrawing" Target="../drawings/vmlDrawing15.vml"/><Relationship Id="rId6" Type="http://schemas.openxmlformats.org/officeDocument/2006/relationships/image" Target="../media/image59.wmf"/><Relationship Id="rId5" Type="http://schemas.openxmlformats.org/officeDocument/2006/relationships/oleObject" Target="../embeddings/oleObject41.bin"/><Relationship Id="rId4" Type="http://schemas.openxmlformats.org/officeDocument/2006/relationships/image" Target="../media/image6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vmlDrawing" Target="../drawings/vmlDrawing16.vml"/><Relationship Id="rId6" Type="http://schemas.openxmlformats.org/officeDocument/2006/relationships/image" Target="../media/image62.wmf"/><Relationship Id="rId5" Type="http://schemas.openxmlformats.org/officeDocument/2006/relationships/oleObject" Target="../embeddings/oleObject43.bin"/><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vmlDrawing" Target="../drawings/vmlDrawing17.vml"/><Relationship Id="rId6" Type="http://schemas.openxmlformats.org/officeDocument/2006/relationships/image" Target="../media/image69.png"/><Relationship Id="rId5" Type="http://schemas.openxmlformats.org/officeDocument/2006/relationships/image" Target="../media/image64.wmf"/><Relationship Id="rId4" Type="http://schemas.openxmlformats.org/officeDocument/2006/relationships/oleObject" Target="../embeddings/oleObject44.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vmlDrawing" Target="../drawings/vmlDrawing18.vml"/><Relationship Id="rId5" Type="http://schemas.openxmlformats.org/officeDocument/2006/relationships/image" Target="../media/image65.wmf"/><Relationship Id="rId4" Type="http://schemas.openxmlformats.org/officeDocument/2006/relationships/oleObject" Target="../embeddings/oleObject45.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67.wmf"/><Relationship Id="rId2" Type="http://schemas.openxmlformats.org/officeDocument/2006/relationships/slideLayout" Target="../slideLayouts/slideLayout3.xml"/><Relationship Id="rId1" Type="http://schemas.openxmlformats.org/officeDocument/2006/relationships/vmlDrawing" Target="../drawings/vmlDrawing19.vml"/><Relationship Id="rId6" Type="http://schemas.openxmlformats.org/officeDocument/2006/relationships/oleObject" Target="../embeddings/oleObject47.bin"/><Relationship Id="rId5" Type="http://schemas.openxmlformats.org/officeDocument/2006/relationships/image" Target="../media/image66.wmf"/><Relationship Id="rId4" Type="http://schemas.openxmlformats.org/officeDocument/2006/relationships/oleObject" Target="../embeddings/oleObject46.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vmlDrawing" Target="../drawings/vmlDrawing20.vml"/><Relationship Id="rId6" Type="http://schemas.openxmlformats.org/officeDocument/2006/relationships/image" Target="../media/image68.wmf"/><Relationship Id="rId5" Type="http://schemas.openxmlformats.org/officeDocument/2006/relationships/oleObject" Target="../embeddings/oleObject48.bin"/><Relationship Id="rId4" Type="http://schemas.openxmlformats.org/officeDocument/2006/relationships/image" Target="../media/image7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73.png"/></Relationships>
</file>

<file path=ppt/slides/_rels/slide5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9" Type="http://schemas.openxmlformats.org/officeDocument/2006/relationships/image" Target="../media/image80.png"/></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5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86.png"/></Relationships>
</file>

<file path=ppt/slides/_rels/slide5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88.png"/></Relationships>
</file>

<file path=ppt/slides/_rels/slide5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90.png"/></Relationships>
</file>

<file path=ppt/slides/_rels/slide5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92.png"/></Relationships>
</file>

<file path=ppt/slides/_rels/slide5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95.png"/><Relationship Id="rId4" Type="http://schemas.openxmlformats.org/officeDocument/2006/relationships/image" Target="../media/image94.png"/></Relationships>
</file>

<file path=ppt/slides/_rels/slide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97.png"/></Relationships>
</file>

<file path=ppt/slides/_rels/slide5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100.png"/><Relationship Id="rId4" Type="http://schemas.openxmlformats.org/officeDocument/2006/relationships/image" Target="../media/image99.png"/></Relationships>
</file>

<file path=ppt/slides/_rels/slide6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102.png"/></Relationships>
</file>

<file path=ppt/slides/_rels/slide6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104.png"/></Relationships>
</file>

<file path=ppt/slides/_rels/slide6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4190" y="971490"/>
            <a:ext cx="10619058" cy="3957924"/>
          </a:xfrm>
        </p:spPr>
        <p:txBody>
          <a:bodyPr/>
          <a:lstStyle/>
          <a:p>
            <a:pPr algn="ctr"/>
            <a:r>
              <a:rPr lang="bg-BG" sz="3800" b="1" i="1" dirty="0"/>
              <a:t>Елементи от теорията на автоматичното регулиране и управление. Класификация. Функционални елементи. Закони за регулиране. Математическо описание на функционалните звена. Видове обратни връзки</a:t>
            </a:r>
            <a:endParaRPr lang="ru-RU" altLang="bg-BG" sz="3800" b="1" dirty="0"/>
          </a:p>
        </p:txBody>
      </p:sp>
      <p:sp>
        <p:nvSpPr>
          <p:cNvPr id="4" name="Slide Number Placeholder 3"/>
          <p:cNvSpPr>
            <a:spLocks noGrp="1"/>
          </p:cNvSpPr>
          <p:nvPr>
            <p:ph type="sldNum" sz="quarter" idx="12"/>
          </p:nvPr>
        </p:nvSpPr>
        <p:spPr/>
        <p:txBody>
          <a:bodyPr/>
          <a:lstStyle/>
          <a:p>
            <a:fld id="{081674E5-CD74-4638-A238-012A517DC16A}" type="slidenum">
              <a:rPr lang="bg-BG" smtClean="0"/>
              <a:t>1</a:t>
            </a:fld>
            <a:endParaRPr lang="bg-BG" dirty="0"/>
          </a:p>
        </p:txBody>
      </p:sp>
    </p:spTree>
    <p:extLst>
      <p:ext uri="{BB962C8B-B14F-4D97-AF65-F5344CB8AC3E}">
        <p14:creationId xmlns:p14="http://schemas.microsoft.com/office/powerpoint/2010/main" val="24322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47254" y="584114"/>
            <a:ext cx="9810427" cy="5615208"/>
          </a:xfrm>
        </p:spPr>
        <p:txBody>
          <a:bodyPr>
            <a:noAutofit/>
          </a:bodyPr>
          <a:lstStyle/>
          <a:p>
            <a:pPr indent="536575" algn="just">
              <a:lnSpc>
                <a:spcPct val="130000"/>
              </a:lnSpc>
              <a:spcBef>
                <a:spcPts val="0"/>
              </a:spcBef>
            </a:pPr>
            <a:r>
              <a:rPr lang="en-US" sz="2400" b="1" i="1" dirty="0">
                <a:latin typeface="Cambria" panose="02040503050406030204" pitchFamily="18" charset="0"/>
                <a:ea typeface="Cambria" panose="02040503050406030204" pitchFamily="18" charset="0"/>
              </a:rPr>
              <a:t>A</a:t>
            </a:r>
            <a:r>
              <a:rPr lang="bg-BG" sz="2400" b="1" i="1" dirty="0">
                <a:ea typeface="Cambria" panose="02040503050406030204" pitchFamily="18" charset="0"/>
              </a:rPr>
              <a:t>втоматично </a:t>
            </a:r>
            <a:r>
              <a:rPr lang="bg-BG" sz="2400" b="1" i="1" dirty="0"/>
              <a:t>управление</a:t>
            </a:r>
            <a:r>
              <a:rPr lang="en-US" sz="2400" b="1" i="1" dirty="0"/>
              <a:t> </a:t>
            </a:r>
            <a:r>
              <a:rPr lang="en-US" sz="2400" dirty="0"/>
              <a:t>- </a:t>
            </a:r>
            <a:r>
              <a:rPr lang="bg-BG" sz="2400" dirty="0"/>
              <a:t>съвкупност от целенасочени въздействия за осигуряване функционирането на обекта на управление в съответствие с приета програма и цел на управление. В системите за управление могат да се включат алгоритми за самонастройка и адаптация към изменения, които могат да възникнат както вътре в самия обект на управление, така и вън от него.</a:t>
            </a:r>
            <a:endParaRPr lang="en-US" sz="2400" dirty="0"/>
          </a:p>
          <a:p>
            <a:pPr indent="536575" algn="just">
              <a:lnSpc>
                <a:spcPct val="130000"/>
              </a:lnSpc>
              <a:spcBef>
                <a:spcPts val="0"/>
              </a:spcBef>
            </a:pPr>
            <a:r>
              <a:rPr lang="bg-BG" sz="2400" dirty="0"/>
              <a:t>Под понятието „автоматично регулиране” ще разбираме поддържане на дадена величина на определено ниво или осигуряване протичането на определен процес по зададен алгоритъм без участие на оператор. </a:t>
            </a:r>
            <a:endParaRPr lang="en-US"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a:t>
            </a:fld>
            <a:endParaRPr lang="bg-BG" dirty="0"/>
          </a:p>
        </p:txBody>
      </p:sp>
    </p:spTree>
    <p:extLst>
      <p:ext uri="{BB962C8B-B14F-4D97-AF65-F5344CB8AC3E}">
        <p14:creationId xmlns:p14="http://schemas.microsoft.com/office/powerpoint/2010/main" val="17368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a:t>
            </a:fld>
            <a:endParaRPr lang="bg-BG" dirty="0"/>
          </a:p>
        </p:txBody>
      </p:sp>
      <p:sp>
        <p:nvSpPr>
          <p:cNvPr id="7" name="Content Placeholder 2"/>
          <p:cNvSpPr txBox="1">
            <a:spLocks/>
          </p:cNvSpPr>
          <p:nvPr/>
        </p:nvSpPr>
        <p:spPr>
          <a:xfrm>
            <a:off x="2032000" y="356462"/>
            <a:ext cx="9974021" cy="5873858"/>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36575" algn="just">
              <a:lnSpc>
                <a:spcPct val="130000"/>
              </a:lnSpc>
              <a:spcBef>
                <a:spcPts val="0"/>
              </a:spcBef>
              <a:buNone/>
            </a:pPr>
            <a:r>
              <a:rPr lang="bg-BG" sz="2400" dirty="0">
                <a:latin typeface="Cambria" panose="02040503050406030204" pitchFamily="18" charset="0"/>
                <a:ea typeface="Cambria" panose="02040503050406030204" pitchFamily="18" charset="0"/>
              </a:rPr>
              <a:t>От гледна точка на теорията на информацията</a:t>
            </a:r>
            <a:r>
              <a:rPr lang="en-US" sz="2400" dirty="0">
                <a:latin typeface="Cambria" panose="02040503050406030204" pitchFamily="18" charset="0"/>
                <a:ea typeface="Cambria" panose="02040503050406030204" pitchFamily="18" charset="0"/>
              </a:rPr>
              <a:t>,</a:t>
            </a:r>
            <a:r>
              <a:rPr lang="bg-BG" sz="2400" dirty="0">
                <a:latin typeface="Cambria" panose="02040503050406030204" pitchFamily="18" charset="0"/>
                <a:ea typeface="Cambria" panose="02040503050406030204" pitchFamily="18" charset="0"/>
              </a:rPr>
              <a:t> системите за автоматично регулиране са клас информационни системи, които преобразуват съответната информация за постигане на определени цели (регулиране, следене). </a:t>
            </a:r>
            <a:endParaRPr lang="en-US" sz="2400" dirty="0">
              <a:latin typeface="Cambria" panose="02040503050406030204" pitchFamily="18" charset="0"/>
              <a:ea typeface="Cambria" panose="02040503050406030204" pitchFamily="18" charset="0"/>
            </a:endParaRPr>
          </a:p>
          <a:p>
            <a:pPr marL="0" indent="536575" algn="just">
              <a:lnSpc>
                <a:spcPct val="130000"/>
              </a:lnSpc>
              <a:spcBef>
                <a:spcPts val="0"/>
              </a:spcBef>
              <a:buNone/>
            </a:pPr>
            <a:r>
              <a:rPr lang="bg-BG" sz="2400" dirty="0">
                <a:latin typeface="Cambria" panose="02040503050406030204" pitchFamily="18" charset="0"/>
                <a:ea typeface="Cambria" panose="02040503050406030204" pitchFamily="18" charset="0"/>
              </a:rPr>
              <a:t>Основен принцип при изграждане на системи за автоматично регулиране е основният принцип в теорията на управлението – принципът на обратната връзка.</a:t>
            </a:r>
            <a:endParaRPr lang="en-US" sz="2400" dirty="0">
              <a:latin typeface="Cambria" panose="02040503050406030204" pitchFamily="18" charset="0"/>
              <a:ea typeface="Cambria" panose="02040503050406030204" pitchFamily="18" charset="0"/>
            </a:endParaRPr>
          </a:p>
          <a:p>
            <a:pPr marL="0" indent="536575" algn="just">
              <a:lnSpc>
                <a:spcPct val="130000"/>
              </a:lnSpc>
              <a:spcBef>
                <a:spcPts val="0"/>
              </a:spcBef>
              <a:buNone/>
            </a:pPr>
            <a:r>
              <a:rPr lang="bg-BG" sz="2400" dirty="0">
                <a:latin typeface="Cambria" panose="02040503050406030204" pitchFamily="18" charset="0"/>
                <a:ea typeface="Cambria" panose="02040503050406030204" pitchFamily="18" charset="0"/>
              </a:rPr>
              <a:t>Принципите, които се използват за изграждане на системи за автоматично регулиране, са аналогични на принципите на функциониране на системите. За да може операторът при един неавтоматичен процес, да регулира, е необходимо той разполага с  информация за обекта. </a:t>
            </a:r>
          </a:p>
        </p:txBody>
      </p:sp>
    </p:spTree>
    <p:extLst>
      <p:ext uri="{BB962C8B-B14F-4D97-AF65-F5344CB8AC3E}">
        <p14:creationId xmlns:p14="http://schemas.microsoft.com/office/powerpoint/2010/main" val="53314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a:t>
            </a:fld>
            <a:endParaRPr lang="bg-BG" dirty="0"/>
          </a:p>
        </p:txBody>
      </p:sp>
      <p:sp>
        <p:nvSpPr>
          <p:cNvPr id="7" name="Content Placeholder 2"/>
          <p:cNvSpPr txBox="1">
            <a:spLocks/>
          </p:cNvSpPr>
          <p:nvPr/>
        </p:nvSpPr>
        <p:spPr>
          <a:xfrm>
            <a:off x="2032000" y="153128"/>
            <a:ext cx="9949924" cy="5906709"/>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indent="536575" algn="just">
              <a:lnSpc>
                <a:spcPct val="130000"/>
              </a:lnSpc>
              <a:spcBef>
                <a:spcPts val="0"/>
              </a:spcBef>
            </a:pPr>
            <a:r>
              <a:rPr lang="bg-BG" sz="2400" dirty="0">
                <a:ea typeface="Cambria" panose="02040503050406030204" pitchFamily="18" charset="0"/>
              </a:rPr>
              <a:t>Операторът трябва да наблюдава и контролира състоянието на обекта. Отклоненията от нормалния режим могат да възникнат в резултат на различни смущаващи въздействия. Операторът взема необходимите решения и определя характера на необходимите въздействия. </a:t>
            </a:r>
          </a:p>
          <a:p>
            <a:pPr indent="536575" algn="just">
              <a:lnSpc>
                <a:spcPct val="130000"/>
              </a:lnSpc>
              <a:spcBef>
                <a:spcPts val="0"/>
              </a:spcBef>
            </a:pPr>
            <a:r>
              <a:rPr lang="bg-BG" sz="2400" dirty="0">
                <a:ea typeface="Cambria" panose="02040503050406030204" pitchFamily="18" charset="0"/>
              </a:rPr>
              <a:t>Като пример за необходимостта от определена информация за динамичното поведение на обекта за нуждите на неговото управление може да се разгледа от съвместната работа между автомобил и неговия шофьор, който играе ролята на регулатор. В резултат на продължителна работа шофьорът е натрупал в съзнанието си определена информация за динамиката на автомобила. </a:t>
            </a:r>
            <a:endParaRPr lang="en-US" sz="2400" dirty="0">
              <a:solidFill>
                <a:schemeClr val="tx1">
                  <a:lumMod val="95000"/>
                  <a:lumOff val="5000"/>
                </a:schemeClr>
              </a:solidFill>
            </a:endParaRPr>
          </a:p>
        </p:txBody>
      </p:sp>
    </p:spTree>
    <p:extLst>
      <p:ext uri="{BB962C8B-B14F-4D97-AF65-F5344CB8AC3E}">
        <p14:creationId xmlns:p14="http://schemas.microsoft.com/office/powerpoint/2010/main" val="700737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86740" y="427083"/>
            <a:ext cx="9480044" cy="5598763"/>
          </a:xfrm>
        </p:spPr>
        <p:txBody>
          <a:bodyPr>
            <a:noAutofit/>
          </a:bodyPr>
          <a:lstStyle/>
          <a:p>
            <a:pPr indent="536575" algn="just">
              <a:lnSpc>
                <a:spcPct val="130000"/>
              </a:lnSpc>
              <a:spcBef>
                <a:spcPts val="0"/>
              </a:spcBef>
            </a:pPr>
            <a:r>
              <a:rPr lang="bg-BG" sz="2400" dirty="0">
                <a:ea typeface="Cambria" panose="02040503050406030204" pitchFamily="18" charset="0"/>
              </a:rPr>
              <a:t>Той с увереност може да предприема определени действия на тази основа, например изпреварване, паркиране или други маневри. Ако същият шофьор управлява друг автомобил, който със сигурност ще има различна динамика от първия, особено в началото на шофирането до натрупване на необходимата информация, тези действия той би изпълнявал с голяма несигурност. Оптимално управление той може да реализира едва след като разполага с пълна информация за динамичните свойства на обекта на управление. Приетите решения от оператора (шофьора) за характера на въздействието върху обекта означават формиране на т. нар. управляващи сигнали. </a:t>
            </a:r>
          </a:p>
        </p:txBody>
      </p:sp>
      <p:sp>
        <p:nvSpPr>
          <p:cNvPr id="4" name="Slide Number Placeholder 3"/>
          <p:cNvSpPr>
            <a:spLocks noGrp="1"/>
          </p:cNvSpPr>
          <p:nvPr>
            <p:ph type="sldNum" sz="quarter" idx="12"/>
          </p:nvPr>
        </p:nvSpPr>
        <p:spPr/>
        <p:txBody>
          <a:bodyPr/>
          <a:lstStyle/>
          <a:p>
            <a:fld id="{081674E5-CD74-4638-A238-012A517DC16A}" type="slidenum">
              <a:rPr lang="bg-BG" smtClean="0"/>
              <a:t>5</a:t>
            </a:fld>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9" name="Rectangle 6"/>
          <p:cNvSpPr>
            <a:spLocks noChangeArrowheads="1"/>
          </p:cNvSpPr>
          <p:nvPr/>
        </p:nvSpPr>
        <p:spPr bwMode="auto">
          <a:xfrm>
            <a:off x="0" y="228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r>
              <a:rPr kumimoji="0" lang="bg-BG" altLang="bg-BG" sz="900" b="0" i="0" u="none" strike="noStrike" cap="none" normalizeH="0" baseline="0" dirty="0">
                <a:ln>
                  <a:noFill/>
                </a:ln>
                <a:solidFill>
                  <a:schemeClr val="tx1"/>
                </a:solidFill>
                <a:effectLst/>
              </a:rPr>
              <a:t> </a:t>
            </a:r>
            <a:endParaRPr kumimoji="0" lang="bg-BG" altLang="bg-BG" sz="1800" b="0" i="0" u="none" strike="noStrike" cap="none" normalizeH="0" baseline="0" dirty="0">
              <a:ln>
                <a:noFill/>
              </a:ln>
              <a:solidFill>
                <a:schemeClr val="tx1"/>
              </a:solidFill>
              <a:effectLst/>
              <a:latin typeface="Arial" panose="020B0604020202020204" pitchFamily="34" charset="0"/>
            </a:endParaRPr>
          </a:p>
        </p:txBody>
      </p:sp>
      <p:sp>
        <p:nvSpPr>
          <p:cNvPr id="20" name="Rectangle 17"/>
          <p:cNvSpPr>
            <a:spLocks noChangeArrowheads="1"/>
          </p:cNvSpPr>
          <p:nvPr/>
        </p:nvSpPr>
        <p:spPr bwMode="auto">
          <a:xfrm>
            <a:off x="0" y="114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8" name="Rectangle 2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3814111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Картина 10"/>
          <p:cNvPicPr>
            <a:picLocks noChangeAspect="1"/>
          </p:cNvPicPr>
          <p:nvPr/>
        </p:nvPicPr>
        <p:blipFill>
          <a:blip r:embed="rId3"/>
          <a:stretch>
            <a:fillRect/>
          </a:stretch>
        </p:blipFill>
        <p:spPr>
          <a:xfrm>
            <a:off x="2317077" y="1518835"/>
            <a:ext cx="9151669" cy="3053166"/>
          </a:xfrm>
          <a:prstGeom prst="rect">
            <a:avLst/>
          </a:prstGeom>
        </p:spPr>
      </p:pic>
      <p:sp>
        <p:nvSpPr>
          <p:cNvPr id="3" name="Text Placeholder 2"/>
          <p:cNvSpPr>
            <a:spLocks noGrp="1"/>
          </p:cNvSpPr>
          <p:nvPr>
            <p:ph type="body" idx="1"/>
          </p:nvPr>
        </p:nvSpPr>
        <p:spPr>
          <a:xfrm>
            <a:off x="192307" y="129191"/>
            <a:ext cx="11807386" cy="2508234"/>
          </a:xfrm>
        </p:spPr>
        <p:txBody>
          <a:bodyPr vert="horz" lIns="91440" tIns="45720" rIns="91440" bIns="45720" rtlCol="0" anchor="t">
            <a:noAutofit/>
          </a:bodyPr>
          <a:lstStyle/>
          <a:p>
            <a:pPr indent="536575" algn="just">
              <a:lnSpc>
                <a:spcPct val="130000"/>
              </a:lnSpc>
              <a:spcBef>
                <a:spcPts val="0"/>
              </a:spcBef>
            </a:pPr>
            <a:r>
              <a:rPr lang="bg-BG" sz="2400" dirty="0">
                <a:ea typeface="Cambria" panose="02040503050406030204" pitchFamily="18" charset="0"/>
              </a:rPr>
              <a:t>Под система за автоматично регулиране ще разбираме затворена верига, процесът на регулирането в която се извършва без участие на оператор. При такова определение системата за автоматично регулиране може да се илюстрира със следната функционална структура:</a:t>
            </a:r>
          </a:p>
          <a:p>
            <a:pPr indent="536575" algn="just">
              <a:lnSpc>
                <a:spcPct val="130000"/>
              </a:lnSpc>
              <a:spcBef>
                <a:spcPts val="0"/>
              </a:spcBef>
            </a:pPr>
            <a:endParaRPr lang="bg-BG" sz="2400" dirty="0">
              <a:ea typeface="Cambria" panose="02040503050406030204" pitchFamily="18" charset="0"/>
            </a:endParaRPr>
          </a:p>
        </p:txBody>
      </p:sp>
      <p:sp>
        <p:nvSpPr>
          <p:cNvPr id="4" name="Slide Number Placeholder 3"/>
          <p:cNvSpPr>
            <a:spLocks noGrp="1"/>
          </p:cNvSpPr>
          <p:nvPr>
            <p:ph type="sldNum" sz="quarter" idx="12"/>
          </p:nvPr>
        </p:nvSpPr>
        <p:spPr/>
        <p:txBody>
          <a:bodyPr/>
          <a:lstStyle/>
          <a:p>
            <a:fld id="{081674E5-CD74-4638-A238-012A517DC16A}" type="slidenum">
              <a:rPr lang="bg-BG" smtClean="0"/>
              <a:t>6</a:t>
            </a:fld>
            <a:endParaRPr lang="bg-BG" dirty="0"/>
          </a:p>
        </p:txBody>
      </p:sp>
      <p:sp>
        <p:nvSpPr>
          <p:cNvPr id="32"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5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Правоъгълник 9"/>
          <p:cNvSpPr/>
          <p:nvPr/>
        </p:nvSpPr>
        <p:spPr>
          <a:xfrm>
            <a:off x="0" y="4321550"/>
            <a:ext cx="12192000" cy="2594710"/>
          </a:xfrm>
          <a:prstGeom prst="rect">
            <a:avLst/>
          </a:prstGeom>
        </p:spPr>
        <p:txBody>
          <a:bodyPr vert="horz" lIns="91440" tIns="45720" rIns="91440" bIns="45720" rtlCol="0" anchor="t">
            <a:noAutofit/>
          </a:bodyPr>
          <a:lstStyle/>
          <a:p>
            <a:pPr indent="536575" algn="just">
              <a:lnSpc>
                <a:spcPct val="130000"/>
              </a:lnSpc>
              <a:buClr>
                <a:schemeClr val="accent1">
                  <a:lumMod val="75000"/>
                </a:schemeClr>
              </a:buClr>
              <a:buSzPct val="85000"/>
              <a:buFont typeface="Wingdings" pitchFamily="2" charset="2"/>
              <a:buNone/>
            </a:pPr>
            <a:r>
              <a:rPr lang="bg-BG" sz="2400" dirty="0">
                <a:ea typeface="Cambria" panose="02040503050406030204" pitchFamily="18" charset="0"/>
              </a:rPr>
              <a:t>В схемата има два основни елемента: обект на регулиране и устройство, което автоматично поддържа зададената стойност на регулируемите величини. Това устройство се нарича автоматичен регулатор. Под регулируеми величини се разбират физически величини, които трябва да се поддържат постоянни или да се изменят по предварително зададен закон.</a:t>
            </a:r>
          </a:p>
        </p:txBody>
      </p:sp>
    </p:spTree>
    <p:extLst>
      <p:ext uri="{BB962C8B-B14F-4D97-AF65-F5344CB8AC3E}">
        <p14:creationId xmlns:p14="http://schemas.microsoft.com/office/powerpoint/2010/main" val="74196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59044" y="122830"/>
            <a:ext cx="10160000" cy="6735170"/>
          </a:xfrm>
        </p:spPr>
        <p:txBody>
          <a:bodyPr>
            <a:noAutofit/>
          </a:bodyPr>
          <a:lstStyle/>
          <a:p>
            <a:pPr algn="just">
              <a:lnSpc>
                <a:spcPct val="140000"/>
              </a:lnSpc>
              <a:spcBef>
                <a:spcPts val="0"/>
              </a:spcBef>
            </a:pPr>
            <a:r>
              <a:rPr lang="bg-BG" sz="2400" b="1" i="1" dirty="0"/>
              <a:t>Класификация на системите за автоматично регулиране</a:t>
            </a:r>
          </a:p>
          <a:p>
            <a:pPr marL="457200" lvl="0" indent="-457200" algn="just">
              <a:lnSpc>
                <a:spcPct val="140000"/>
              </a:lnSpc>
              <a:spcBef>
                <a:spcPts val="0"/>
              </a:spcBef>
              <a:buFont typeface="+mj-lt"/>
              <a:buAutoNum type="arabicPeriod"/>
            </a:pPr>
            <a:r>
              <a:rPr lang="bg-BG" sz="2400" dirty="0"/>
              <a:t>По принцип на регулиране (управление)</a:t>
            </a:r>
          </a:p>
          <a:p>
            <a:pPr lvl="0" indent="536575" algn="just">
              <a:lnSpc>
                <a:spcPct val="130000"/>
              </a:lnSpc>
              <a:spcBef>
                <a:spcPts val="0"/>
              </a:spcBef>
            </a:pPr>
            <a:r>
              <a:rPr lang="bg-BG" sz="2400" dirty="0">
                <a:ea typeface="Cambria" panose="02040503050406030204" pitchFamily="18" charset="0"/>
              </a:rPr>
              <a:t>Всички системи за автоматично регулиране действат в съответствие със заложения в тях алгоритъм на функциониране, който се нарича принцип на регулиране. </a:t>
            </a:r>
          </a:p>
          <a:p>
            <a:pPr marL="898525" lvl="0" indent="-355600" algn="just">
              <a:lnSpc>
                <a:spcPct val="130000"/>
              </a:lnSpc>
              <a:spcBef>
                <a:spcPts val="0"/>
              </a:spcBef>
              <a:buFont typeface="Cambria" panose="02040503050406030204" pitchFamily="18" charset="0"/>
              <a:buChar char="―"/>
            </a:pPr>
            <a:r>
              <a:rPr lang="bg-BG" sz="2400" dirty="0">
                <a:ea typeface="Cambria" panose="02040503050406030204" pitchFamily="18" charset="0"/>
              </a:rPr>
              <a:t>по отклонение;</a:t>
            </a:r>
          </a:p>
          <a:p>
            <a:pPr indent="536575" algn="just">
              <a:lnSpc>
                <a:spcPct val="130000"/>
              </a:lnSpc>
              <a:spcBef>
                <a:spcPts val="0"/>
              </a:spcBef>
            </a:pPr>
            <a:r>
              <a:rPr lang="bg-BG" sz="2400" dirty="0">
                <a:ea typeface="Cambria" panose="02040503050406030204" pitchFamily="18" charset="0"/>
              </a:rPr>
              <a:t>Системи, в които регулирането се осъществява независимо от характера на смущаващите въздействия, се наричат </a:t>
            </a:r>
            <a:r>
              <a:rPr lang="bg-BG" sz="2400" i="1" dirty="0">
                <a:ea typeface="Cambria" panose="02040503050406030204" pitchFamily="18" charset="0"/>
              </a:rPr>
              <a:t>системи за автоматично регулиране по отклонение</a:t>
            </a:r>
            <a:r>
              <a:rPr lang="bg-BG" sz="2400" dirty="0">
                <a:ea typeface="Cambria" panose="02040503050406030204" pitchFamily="18" charset="0"/>
              </a:rPr>
              <a:t>. Причините за отклонението на регулируемата величина са най-различни смущаващи въздействия. Характерно за принципа на регулиране  по отклонение е това, че с обратната връзка неточността в установения режим се намалява чувствително, но не се отстранява напълно.</a:t>
            </a:r>
          </a:p>
          <a:p>
            <a:pPr indent="536575" algn="just">
              <a:lnSpc>
                <a:spcPct val="130000"/>
              </a:lnSpc>
              <a:spcBef>
                <a:spcPts val="0"/>
              </a:spcBef>
            </a:pPr>
            <a:endParaRPr lang="bg-BG" sz="2400" dirty="0">
              <a:ea typeface="Cambria" panose="02040503050406030204" pitchFamily="18" charset="0"/>
            </a:endParaRPr>
          </a:p>
        </p:txBody>
      </p:sp>
      <p:sp>
        <p:nvSpPr>
          <p:cNvPr id="4" name="Slide Number Placeholder 3"/>
          <p:cNvSpPr>
            <a:spLocks noGrp="1"/>
          </p:cNvSpPr>
          <p:nvPr>
            <p:ph type="sldNum" sz="quarter" idx="12"/>
          </p:nvPr>
        </p:nvSpPr>
        <p:spPr/>
        <p:txBody>
          <a:bodyPr/>
          <a:lstStyle/>
          <a:p>
            <a:fld id="{081674E5-CD74-4638-A238-012A517DC16A}" type="slidenum">
              <a:rPr lang="bg-BG" smtClean="0"/>
              <a:t>7</a:t>
            </a:fld>
            <a:endParaRPr lang="bg-BG"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474568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8</a:t>
            </a:fld>
            <a:endParaRPr lang="bg-BG" dirty="0"/>
          </a:p>
        </p:txBody>
      </p:sp>
      <p:sp>
        <p:nvSpPr>
          <p:cNvPr id="2" name="Rectangle 1"/>
          <p:cNvSpPr/>
          <p:nvPr/>
        </p:nvSpPr>
        <p:spPr>
          <a:xfrm>
            <a:off x="2230163" y="270183"/>
            <a:ext cx="9822352" cy="6370975"/>
          </a:xfrm>
          <a:prstGeom prst="rect">
            <a:avLst/>
          </a:prstGeom>
        </p:spPr>
        <p:txBody>
          <a:bodyPr wrap="square">
            <a:spAutoFit/>
          </a:bodyPr>
          <a:lstStyle/>
          <a:p>
            <a:pPr marL="898525" lvl="0" indent="-355600" algn="just">
              <a:lnSpc>
                <a:spcPct val="130000"/>
              </a:lnSpc>
              <a:spcBef>
                <a:spcPts val="0"/>
              </a:spcBef>
              <a:buFont typeface="Cambria" panose="02040503050406030204" pitchFamily="18" charset="0"/>
              <a:buChar char="―"/>
            </a:pPr>
            <a:r>
              <a:rPr lang="bg-BG" sz="2400" dirty="0">
                <a:ea typeface="Cambria" panose="02040503050406030204" pitchFamily="18" charset="0"/>
              </a:rPr>
              <a:t>по смущение;</a:t>
            </a:r>
          </a:p>
          <a:p>
            <a:pPr indent="536575" algn="just">
              <a:lnSpc>
                <a:spcPct val="130000"/>
              </a:lnSpc>
            </a:pPr>
            <a:r>
              <a:rPr lang="bg-BG" sz="2400" dirty="0">
                <a:ea typeface="Cambria" panose="02040503050406030204" pitchFamily="18" charset="0"/>
              </a:rPr>
              <a:t>В случаите, когато се налага да се компенсира определено смущаващо въздействие, се използва принципът на регулиране по смущение. В основата на този принцип лежи идеята за компенсация на смущаващото въздействие, което се приема за известно и напълно определено по стойност и място на приложение.</a:t>
            </a:r>
          </a:p>
          <a:p>
            <a:pPr marL="898525" indent="-355600" algn="just">
              <a:lnSpc>
                <a:spcPct val="130000"/>
              </a:lnSpc>
              <a:buFont typeface="Cambria" panose="02040503050406030204" pitchFamily="18" charset="0"/>
              <a:buChar char="―"/>
            </a:pPr>
            <a:r>
              <a:rPr lang="bg-BG" altLang="bg-BG" sz="2400" dirty="0">
                <a:ea typeface="Cambria" panose="02040503050406030204" pitchFamily="18" charset="0"/>
              </a:rPr>
              <a:t>комбинация от горните два;</a:t>
            </a:r>
          </a:p>
          <a:p>
            <a:pPr marL="457200" indent="-457200" algn="just">
              <a:lnSpc>
                <a:spcPct val="140000"/>
              </a:lnSpc>
              <a:buClr>
                <a:schemeClr val="accent1">
                  <a:lumMod val="75000"/>
                </a:schemeClr>
              </a:buClr>
              <a:buSzPct val="85000"/>
              <a:buFont typeface="+mj-lt"/>
              <a:buAutoNum type="arabicPeriod" startAt="2"/>
            </a:pPr>
            <a:r>
              <a:rPr lang="bg-BG" sz="2400" dirty="0"/>
              <a:t>По начина на действие</a:t>
            </a:r>
          </a:p>
          <a:p>
            <a:pPr indent="536575" algn="just">
              <a:lnSpc>
                <a:spcPct val="130000"/>
              </a:lnSpc>
              <a:buClr>
                <a:schemeClr val="accent1">
                  <a:lumMod val="75000"/>
                </a:schemeClr>
              </a:buClr>
              <a:buSzPct val="85000"/>
            </a:pPr>
            <a:r>
              <a:rPr lang="bg-BG" sz="2400" dirty="0">
                <a:ea typeface="Cambria" panose="02040503050406030204" pitchFamily="18" charset="0"/>
              </a:rPr>
              <a:t>По начина на действие системите за автоматично регулиране се делят на непрекъснати и дискретни.</a:t>
            </a:r>
          </a:p>
          <a:p>
            <a:pPr marL="898525" indent="-355600" algn="just">
              <a:lnSpc>
                <a:spcPct val="130000"/>
              </a:lnSpc>
              <a:buClr>
                <a:schemeClr val="accent1">
                  <a:lumMod val="75000"/>
                </a:schemeClr>
              </a:buClr>
              <a:buSzPct val="85000"/>
              <a:buFont typeface="Cambria" panose="02040503050406030204" pitchFamily="18" charset="0"/>
              <a:buChar char="―"/>
            </a:pPr>
            <a:r>
              <a:rPr lang="bg-BG" sz="2400" dirty="0">
                <a:ea typeface="Cambria" panose="02040503050406030204" pitchFamily="18" charset="0"/>
              </a:rPr>
              <a:t>непрекъснати;</a:t>
            </a:r>
          </a:p>
          <a:p>
            <a:pPr indent="536575" algn="just">
              <a:lnSpc>
                <a:spcPct val="130000"/>
              </a:lnSpc>
              <a:buClr>
                <a:schemeClr val="accent1">
                  <a:lumMod val="75000"/>
                </a:schemeClr>
              </a:buClr>
              <a:buSzPct val="85000"/>
            </a:pPr>
            <a:r>
              <a:rPr lang="bg-BG" sz="2400" dirty="0">
                <a:ea typeface="Cambria" panose="02040503050406030204" pitchFamily="18" charset="0"/>
              </a:rPr>
              <a:t>В непрекъснатите системи за автоматично регулиране действат аналогови сигнали, които са непрекъснати функции на времето.</a:t>
            </a:r>
          </a:p>
        </p:txBody>
      </p:sp>
    </p:spTree>
    <p:extLst>
      <p:ext uri="{BB962C8B-B14F-4D97-AF65-F5344CB8AC3E}">
        <p14:creationId xmlns:p14="http://schemas.microsoft.com/office/powerpoint/2010/main" val="2949907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9</a:t>
            </a:fld>
            <a:endParaRPr lang="bg-BG" dirty="0"/>
          </a:p>
        </p:txBody>
      </p:sp>
      <p:sp>
        <p:nvSpPr>
          <p:cNvPr id="2" name="Rectangle 1"/>
          <p:cNvSpPr/>
          <p:nvPr/>
        </p:nvSpPr>
        <p:spPr>
          <a:xfrm>
            <a:off x="1903664" y="0"/>
            <a:ext cx="10020370" cy="1131785"/>
          </a:xfrm>
          <a:prstGeom prst="rect">
            <a:avLst/>
          </a:prstGeom>
        </p:spPr>
        <p:txBody>
          <a:bodyPr wrap="square">
            <a:spAutoFit/>
          </a:bodyPr>
          <a:lstStyle/>
          <a:p>
            <a:pPr algn="just">
              <a:lnSpc>
                <a:spcPct val="150000"/>
              </a:lnSpc>
              <a:buClr>
                <a:schemeClr val="accent1">
                  <a:lumMod val="75000"/>
                </a:schemeClr>
              </a:buClr>
              <a:buSzPct val="85000"/>
              <a:defRPr/>
            </a:pPr>
            <a:endParaRPr lang="bg-BG" sz="2400" dirty="0"/>
          </a:p>
          <a:p>
            <a:pPr algn="just">
              <a:lnSpc>
                <a:spcPct val="150000"/>
              </a:lnSpc>
              <a:buClr>
                <a:schemeClr val="accent1">
                  <a:lumMod val="75000"/>
                </a:schemeClr>
              </a:buClr>
              <a:buSzPct val="85000"/>
              <a:defRPr/>
            </a:pPr>
            <a:endParaRPr lang="bg-BG" sz="2400" dirty="0"/>
          </a:p>
        </p:txBody>
      </p:sp>
      <p:sp>
        <p:nvSpPr>
          <p:cNvPr id="6" name="Rectangle 5"/>
          <p:cNvSpPr/>
          <p:nvPr/>
        </p:nvSpPr>
        <p:spPr>
          <a:xfrm>
            <a:off x="2032000" y="261698"/>
            <a:ext cx="10160000" cy="6370975"/>
          </a:xfrm>
          <a:prstGeom prst="rect">
            <a:avLst/>
          </a:prstGeom>
        </p:spPr>
        <p:txBody>
          <a:bodyPr wrap="square">
            <a:spAutoFit/>
          </a:bodyPr>
          <a:lstStyle/>
          <a:p>
            <a:pPr marL="898525" indent="-355600" algn="just">
              <a:lnSpc>
                <a:spcPct val="130000"/>
              </a:lnSpc>
              <a:buClr>
                <a:schemeClr val="accent1">
                  <a:lumMod val="75000"/>
                </a:schemeClr>
              </a:buClr>
              <a:buSzPct val="85000"/>
              <a:buFont typeface="Cambria" panose="02040503050406030204" pitchFamily="18" charset="0"/>
              <a:buChar char="―"/>
            </a:pPr>
            <a:r>
              <a:rPr lang="bg-BG" sz="2400" dirty="0">
                <a:ea typeface="Cambria" panose="02040503050406030204" pitchFamily="18" charset="0"/>
              </a:rPr>
              <a:t>дискретни;</a:t>
            </a:r>
          </a:p>
          <a:p>
            <a:pPr indent="536575" algn="just">
              <a:lnSpc>
                <a:spcPct val="130000"/>
              </a:lnSpc>
              <a:buClr>
                <a:schemeClr val="accent1">
                  <a:lumMod val="75000"/>
                </a:schemeClr>
              </a:buClr>
              <a:buSzPct val="85000"/>
            </a:pPr>
            <a:r>
              <a:rPr lang="bg-BG" sz="2400" dirty="0">
                <a:ea typeface="Cambria" panose="02040503050406030204" pitchFamily="18" charset="0"/>
              </a:rPr>
              <a:t>В дискретните системи освен непрекъснати участват и дискретни (квантови) сигнали. Дискретното действие на такива системи за автоматично регулиране се определя от последователността на импулсите, амплитудата, честотата, времетраенето или поляритета, в които се съдържа информация за „непрекъснатостта” на регулирането. Към дискретните могат да се отнесат и такива сигнали, които се предават в закръглен вид (цифрови данни в компютъра). Преобладаваща част от съвременните системи за автоматично регулиране са от дискретен тип.</a:t>
            </a:r>
          </a:p>
          <a:p>
            <a:pPr marL="457200" indent="-457200" algn="just">
              <a:lnSpc>
                <a:spcPct val="140000"/>
              </a:lnSpc>
              <a:buClr>
                <a:schemeClr val="accent1">
                  <a:lumMod val="75000"/>
                </a:schemeClr>
              </a:buClr>
              <a:buSzPct val="85000"/>
              <a:buFont typeface="+mj-lt"/>
              <a:buAutoNum type="arabicPeriod" startAt="3"/>
            </a:pPr>
            <a:r>
              <a:rPr lang="bg-BG" sz="2400" dirty="0"/>
              <a:t>По предназначение</a:t>
            </a:r>
          </a:p>
          <a:p>
            <a:pPr indent="536575" algn="just">
              <a:lnSpc>
                <a:spcPct val="130000"/>
              </a:lnSpc>
              <a:buClr>
                <a:schemeClr val="accent1">
                  <a:lumMod val="75000"/>
                </a:schemeClr>
              </a:buClr>
              <a:buSzPct val="85000"/>
            </a:pPr>
            <a:r>
              <a:rPr lang="bg-BG" sz="2400" dirty="0">
                <a:ea typeface="Cambria" panose="02040503050406030204" pitchFamily="18" charset="0"/>
              </a:rPr>
              <a:t>По предназначение системите се делят на системи за стабилизация, с програмно регулиране и следящи системи.</a:t>
            </a:r>
            <a:endParaRPr lang="bg-BG" sz="2400" dirty="0"/>
          </a:p>
        </p:txBody>
      </p:sp>
    </p:spTree>
    <p:extLst>
      <p:ext uri="{BB962C8B-B14F-4D97-AF65-F5344CB8AC3E}">
        <p14:creationId xmlns:p14="http://schemas.microsoft.com/office/powerpoint/2010/main" val="76173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10</a:t>
            </a:fld>
            <a:endParaRPr lang="bg-BG" dirty="0"/>
          </a:p>
        </p:txBody>
      </p:sp>
      <p:sp>
        <p:nvSpPr>
          <p:cNvPr id="2" name="Rectangle 1"/>
          <p:cNvSpPr/>
          <p:nvPr/>
        </p:nvSpPr>
        <p:spPr>
          <a:xfrm>
            <a:off x="1903664" y="0"/>
            <a:ext cx="10020370" cy="1131785"/>
          </a:xfrm>
          <a:prstGeom prst="rect">
            <a:avLst/>
          </a:prstGeom>
        </p:spPr>
        <p:txBody>
          <a:bodyPr wrap="square">
            <a:spAutoFit/>
          </a:bodyPr>
          <a:lstStyle/>
          <a:p>
            <a:pPr algn="just">
              <a:lnSpc>
                <a:spcPct val="150000"/>
              </a:lnSpc>
              <a:buClr>
                <a:schemeClr val="accent1">
                  <a:lumMod val="75000"/>
                </a:schemeClr>
              </a:buClr>
              <a:buSzPct val="85000"/>
              <a:defRPr/>
            </a:pPr>
            <a:endParaRPr lang="bg-BG" sz="2400" dirty="0"/>
          </a:p>
          <a:p>
            <a:pPr algn="just">
              <a:lnSpc>
                <a:spcPct val="150000"/>
              </a:lnSpc>
              <a:buClr>
                <a:schemeClr val="accent1">
                  <a:lumMod val="75000"/>
                </a:schemeClr>
              </a:buClr>
              <a:buSzPct val="85000"/>
              <a:defRPr/>
            </a:pPr>
            <a:endParaRPr lang="bg-BG" sz="2400" dirty="0"/>
          </a:p>
        </p:txBody>
      </p:sp>
      <p:sp>
        <p:nvSpPr>
          <p:cNvPr id="6" name="Rectangle 5"/>
          <p:cNvSpPr/>
          <p:nvPr/>
        </p:nvSpPr>
        <p:spPr>
          <a:xfrm>
            <a:off x="2032000" y="0"/>
            <a:ext cx="10160000" cy="6888039"/>
          </a:xfrm>
          <a:prstGeom prst="rect">
            <a:avLst/>
          </a:prstGeom>
        </p:spPr>
        <p:txBody>
          <a:bodyPr wrap="square">
            <a:spAutoFit/>
          </a:bodyPr>
          <a:lstStyle/>
          <a:p>
            <a:pPr marL="898525" indent="-355600" algn="just">
              <a:lnSpc>
                <a:spcPct val="130000"/>
              </a:lnSpc>
              <a:buClr>
                <a:schemeClr val="accent1">
                  <a:lumMod val="75000"/>
                </a:schemeClr>
              </a:buClr>
              <a:buSzPct val="85000"/>
              <a:buFont typeface="Cambria" panose="02040503050406030204" pitchFamily="18" charset="0"/>
              <a:buChar char="―"/>
            </a:pPr>
            <a:r>
              <a:rPr lang="bg-BG" sz="2400" dirty="0">
                <a:ea typeface="Cambria" panose="02040503050406030204" pitchFamily="18" charset="0"/>
              </a:rPr>
              <a:t>системи за стабилизация;</a:t>
            </a:r>
          </a:p>
          <a:p>
            <a:pPr lvl="0" indent="536575" algn="just">
              <a:lnSpc>
                <a:spcPct val="130000"/>
              </a:lnSpc>
              <a:buClr>
                <a:schemeClr val="accent1">
                  <a:lumMod val="75000"/>
                </a:schemeClr>
              </a:buClr>
              <a:buSzPct val="85000"/>
            </a:pPr>
            <a:r>
              <a:rPr lang="bg-BG" sz="2400" dirty="0">
                <a:ea typeface="Cambria" panose="02040503050406030204" pitchFamily="18" charset="0"/>
              </a:rPr>
              <a:t>Когато системата за автоматично регулиране е предназначена за поддържане на определено ниво на регулируемата величина, тя се нарича система за автоматична стабилизация.</a:t>
            </a:r>
          </a:p>
          <a:p>
            <a:pPr marL="898525" indent="-355600" algn="just">
              <a:lnSpc>
                <a:spcPct val="130000"/>
              </a:lnSpc>
              <a:buClr>
                <a:schemeClr val="accent1">
                  <a:lumMod val="75000"/>
                </a:schemeClr>
              </a:buClr>
              <a:buSzPct val="85000"/>
              <a:buFont typeface="Cambria" panose="02040503050406030204" pitchFamily="18" charset="0"/>
              <a:buChar char="―"/>
            </a:pPr>
            <a:r>
              <a:rPr lang="bg-BG" sz="2400" dirty="0">
                <a:ea typeface="Cambria" panose="02040503050406030204" pitchFamily="18" charset="0"/>
              </a:rPr>
              <a:t>системи с програмно регулиране;</a:t>
            </a:r>
          </a:p>
          <a:p>
            <a:pPr indent="536575" algn="just">
              <a:lnSpc>
                <a:spcPct val="130000"/>
              </a:lnSpc>
              <a:buClr>
                <a:schemeClr val="accent1">
                  <a:lumMod val="75000"/>
                </a:schemeClr>
              </a:buClr>
              <a:buSzPct val="85000"/>
            </a:pPr>
            <a:r>
              <a:rPr lang="bg-BG" sz="2400" dirty="0">
                <a:ea typeface="Cambria" panose="02040503050406030204" pitchFamily="18" charset="0"/>
              </a:rPr>
              <a:t>Системите за автоматично програмно регулиране осигуряват изменението на регулируемите величини по определен закон, предварително зададен закон. </a:t>
            </a:r>
          </a:p>
          <a:p>
            <a:pPr marL="898525" indent="-355600" algn="just">
              <a:lnSpc>
                <a:spcPct val="130000"/>
              </a:lnSpc>
              <a:buClr>
                <a:schemeClr val="accent1">
                  <a:lumMod val="75000"/>
                </a:schemeClr>
              </a:buClr>
              <a:buSzPct val="85000"/>
              <a:buFont typeface="Cambria" panose="02040503050406030204" pitchFamily="18" charset="0"/>
              <a:buChar char="―"/>
            </a:pPr>
            <a:r>
              <a:rPr lang="bg-BG" sz="2400" dirty="0">
                <a:ea typeface="Cambria" panose="02040503050406030204" pitchFamily="18" charset="0"/>
              </a:rPr>
              <a:t>следящи системи;</a:t>
            </a:r>
          </a:p>
          <a:p>
            <a:pPr indent="536575" algn="just">
              <a:lnSpc>
                <a:spcPct val="130000"/>
              </a:lnSpc>
              <a:buClr>
                <a:schemeClr val="accent1">
                  <a:lumMod val="75000"/>
                </a:schemeClr>
              </a:buClr>
              <a:buSzPct val="85000"/>
            </a:pPr>
            <a:r>
              <a:rPr lang="bg-BG" sz="2400" dirty="0">
                <a:ea typeface="Cambria" panose="02040503050406030204" pitchFamily="18" charset="0"/>
              </a:rPr>
              <a:t>Ако в системата за автоматично програмно управление зададената величина се изменя в зависимост от друга величина, система се нарича следяща (управление на подвижни обекти);</a:t>
            </a:r>
          </a:p>
          <a:p>
            <a:pPr marL="457200" indent="-457200" algn="just">
              <a:lnSpc>
                <a:spcPct val="140000"/>
              </a:lnSpc>
              <a:buClr>
                <a:schemeClr val="accent1">
                  <a:lumMod val="75000"/>
                </a:schemeClr>
              </a:buClr>
              <a:buSzPct val="85000"/>
              <a:buFont typeface="+mj-lt"/>
              <a:buAutoNum type="arabicPeriod" startAt="4"/>
            </a:pPr>
            <a:r>
              <a:rPr lang="bg-BG" sz="2400" dirty="0"/>
              <a:t>Линейност или нелинейност на динамиката в процеса на регулиране</a:t>
            </a:r>
          </a:p>
        </p:txBody>
      </p:sp>
    </p:spTree>
    <p:extLst>
      <p:ext uri="{BB962C8B-B14F-4D97-AF65-F5344CB8AC3E}">
        <p14:creationId xmlns:p14="http://schemas.microsoft.com/office/powerpoint/2010/main" val="3897978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11</a:t>
            </a:fld>
            <a:endParaRPr lang="bg-BG" dirty="0"/>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3" name="Rectangle 9"/>
          <p:cNvSpPr>
            <a:spLocks noChangeArrowheads="1"/>
          </p:cNvSpPr>
          <p:nvPr/>
        </p:nvSpPr>
        <p:spPr bwMode="auto">
          <a:xfrm>
            <a:off x="7765143" y="483769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5" name="Rectangle 4"/>
          <p:cNvSpPr/>
          <p:nvPr/>
        </p:nvSpPr>
        <p:spPr>
          <a:xfrm>
            <a:off x="2239510" y="456065"/>
            <a:ext cx="9415462" cy="5373779"/>
          </a:xfrm>
          <a:prstGeom prst="rect">
            <a:avLst/>
          </a:prstGeom>
        </p:spPr>
        <p:txBody>
          <a:bodyPr wrap="square">
            <a:spAutoFit/>
          </a:bodyPr>
          <a:lstStyle/>
          <a:p>
            <a:pPr indent="536575" algn="just">
              <a:lnSpc>
                <a:spcPct val="130000"/>
              </a:lnSpc>
              <a:spcAft>
                <a:spcPts val="0"/>
              </a:spcAft>
              <a:buClr>
                <a:schemeClr val="accent1">
                  <a:lumMod val="75000"/>
                </a:schemeClr>
              </a:buClr>
              <a:buSzPct val="85000"/>
            </a:pPr>
            <a:r>
              <a:rPr lang="bg-BG" sz="2400" dirty="0">
                <a:ea typeface="Cambria" panose="02040503050406030204" pitchFamily="18" charset="0"/>
              </a:rPr>
              <a:t>Поведението на всяка система за автоматично регулиране се описва с помощта на системи диференциални или диференчни уравнения. </a:t>
            </a:r>
          </a:p>
          <a:p>
            <a:pPr marL="898525" indent="-355600" algn="just">
              <a:lnSpc>
                <a:spcPct val="130000"/>
              </a:lnSpc>
              <a:buClr>
                <a:schemeClr val="accent1">
                  <a:lumMod val="75000"/>
                </a:schemeClr>
              </a:buClr>
              <a:buSzPct val="85000"/>
              <a:buFont typeface="Cambria" panose="02040503050406030204" pitchFamily="18" charset="0"/>
              <a:buChar char="―"/>
            </a:pPr>
            <a:r>
              <a:rPr lang="bg-BG" sz="2400" dirty="0">
                <a:ea typeface="Cambria" panose="02040503050406030204" pitchFamily="18" charset="0"/>
              </a:rPr>
              <a:t>линейни системи;</a:t>
            </a:r>
          </a:p>
          <a:p>
            <a:pPr indent="536575" algn="just">
              <a:lnSpc>
                <a:spcPct val="130000"/>
              </a:lnSpc>
              <a:buClr>
                <a:schemeClr val="accent1">
                  <a:lumMod val="75000"/>
                </a:schemeClr>
              </a:buClr>
              <a:buSzPct val="85000"/>
            </a:pPr>
            <a:r>
              <a:rPr lang="bg-BG" sz="2400" dirty="0">
                <a:ea typeface="Cambria" panose="02040503050406030204" pitchFamily="18" charset="0"/>
              </a:rPr>
              <a:t>Ако създаденият модел описващ поведението на система за автоматично регулиране е линеен или може да се линеаризира, то и системата се нарича линейна или линеаризирана.</a:t>
            </a:r>
          </a:p>
          <a:p>
            <a:pPr marL="898525" indent="-355600" algn="just">
              <a:lnSpc>
                <a:spcPct val="130000"/>
              </a:lnSpc>
              <a:buClr>
                <a:schemeClr val="accent1">
                  <a:lumMod val="75000"/>
                </a:schemeClr>
              </a:buClr>
              <a:buSzPct val="85000"/>
              <a:buFont typeface="Cambria" panose="02040503050406030204" pitchFamily="18" charset="0"/>
              <a:buChar char="―"/>
            </a:pPr>
            <a:r>
              <a:rPr lang="bg-BG" sz="2400" dirty="0">
                <a:ea typeface="Cambria" panose="02040503050406030204" pitchFamily="18" charset="0"/>
              </a:rPr>
              <a:t>нелинейни системи;</a:t>
            </a:r>
          </a:p>
          <a:p>
            <a:pPr indent="536575" algn="just">
              <a:lnSpc>
                <a:spcPct val="130000"/>
              </a:lnSpc>
              <a:buClr>
                <a:schemeClr val="accent1">
                  <a:lumMod val="75000"/>
                </a:schemeClr>
              </a:buClr>
              <a:buSzPct val="85000"/>
            </a:pPr>
            <a:r>
              <a:rPr lang="bg-BG" sz="2400" dirty="0">
                <a:ea typeface="Cambria" panose="02040503050406030204" pitchFamily="18" charset="0"/>
              </a:rPr>
              <a:t>Ако създаденият модел описващ поведението на система за автоматично регулиране съдържа нелинейни уравнения (диференциални), то и системата се нарича нелинейна.</a:t>
            </a:r>
          </a:p>
        </p:txBody>
      </p:sp>
    </p:spTree>
    <p:extLst>
      <p:ext uri="{BB962C8B-B14F-4D97-AF65-F5344CB8AC3E}">
        <p14:creationId xmlns:p14="http://schemas.microsoft.com/office/powerpoint/2010/main" val="1753872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12</a:t>
            </a:fld>
            <a:endParaRPr lang="bg-BG" dirty="0"/>
          </a:p>
        </p:txBody>
      </p:sp>
      <p:sp>
        <p:nvSpPr>
          <p:cNvPr id="8" name="Rectangle 7"/>
          <p:cNvSpPr/>
          <p:nvPr/>
        </p:nvSpPr>
        <p:spPr>
          <a:xfrm>
            <a:off x="2212814" y="216976"/>
            <a:ext cx="9979186" cy="4893647"/>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ea typeface="Cambria" panose="02040503050406030204" pitchFamily="18" charset="0"/>
              </a:rPr>
              <a:t>Ако изменението на параметрите не зависи от сигналите, действащи на системата, а са зададени функции на времето, такива системи се наричат </a:t>
            </a:r>
            <a:r>
              <a:rPr lang="bg-BG" sz="2400" i="1" dirty="0">
                <a:ea typeface="Cambria" panose="02040503050406030204" pitchFamily="18" charset="0"/>
              </a:rPr>
              <a:t>линейни системи с променливи параметри</a:t>
            </a:r>
            <a:r>
              <a:rPr lang="bg-BG" sz="2400" dirty="0">
                <a:ea typeface="Cambria" panose="02040503050406030204" pitchFamily="18" charset="0"/>
              </a:rPr>
              <a:t>.</a:t>
            </a:r>
          </a:p>
          <a:p>
            <a:pPr indent="536575" algn="just">
              <a:lnSpc>
                <a:spcPct val="130000"/>
              </a:lnSpc>
              <a:buClr>
                <a:schemeClr val="accent1">
                  <a:lumMod val="75000"/>
                </a:schemeClr>
              </a:buClr>
              <a:buSzPct val="85000"/>
            </a:pPr>
            <a:r>
              <a:rPr lang="bg-BG" sz="2400" dirty="0">
                <a:ea typeface="Cambria" panose="02040503050406030204" pitchFamily="18" charset="0"/>
              </a:rPr>
              <a:t>Системите, в които процесите се описват с уравнения с постоянни коефициенти, се наричат </a:t>
            </a:r>
            <a:r>
              <a:rPr lang="bg-BG" sz="2400" i="1" dirty="0">
                <a:ea typeface="Cambria" panose="02040503050406030204" pitchFamily="18" charset="0"/>
              </a:rPr>
              <a:t>стационарни</a:t>
            </a:r>
            <a:r>
              <a:rPr lang="bg-BG" sz="2400" dirty="0">
                <a:ea typeface="Cambria" panose="02040503050406030204" pitchFamily="18" charset="0"/>
              </a:rPr>
              <a:t>. Ако, обаче, коефициентите са променливи, такива системи се наричат </a:t>
            </a:r>
            <a:r>
              <a:rPr lang="bg-BG" sz="2400" i="1" dirty="0">
                <a:ea typeface="Cambria" panose="02040503050406030204" pitchFamily="18" charset="0"/>
              </a:rPr>
              <a:t>нестационарни</a:t>
            </a:r>
            <a:r>
              <a:rPr lang="bg-BG" sz="2400" dirty="0">
                <a:ea typeface="Cambria" panose="02040503050406030204" pitchFamily="18" charset="0"/>
              </a:rPr>
              <a:t>.</a:t>
            </a:r>
          </a:p>
          <a:p>
            <a:pPr indent="536575" algn="just">
              <a:lnSpc>
                <a:spcPct val="130000"/>
              </a:lnSpc>
              <a:buClr>
                <a:schemeClr val="accent1">
                  <a:lumMod val="75000"/>
                </a:schemeClr>
              </a:buClr>
              <a:buSzPct val="85000"/>
            </a:pPr>
            <a:r>
              <a:rPr lang="bg-BG" sz="2400" dirty="0">
                <a:ea typeface="Cambria" panose="02040503050406030204" pitchFamily="18" charset="0"/>
              </a:rPr>
              <a:t>Параметрите на функционалните елементи на системите за автоматично регулиране могат да бъдат съсредоточени и разпределени. В първия случай описанието се дава с обикновени диференциални уравнения, а във втория – с частни.</a:t>
            </a:r>
          </a:p>
        </p:txBody>
      </p:sp>
      <p:sp>
        <p:nvSpPr>
          <p:cNvPr id="9" name="Rectangle 5"/>
          <p:cNvSpPr>
            <a:spLocks noChangeArrowheads="1"/>
          </p:cNvSpPr>
          <p:nvPr/>
        </p:nvSpPr>
        <p:spPr bwMode="auto">
          <a:xfrm>
            <a:off x="2946400" y="1858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5"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2"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301204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13</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2" name="Rectangle 1"/>
          <p:cNvSpPr/>
          <p:nvPr/>
        </p:nvSpPr>
        <p:spPr>
          <a:xfrm>
            <a:off x="2286000" y="170109"/>
            <a:ext cx="9492916" cy="4672048"/>
          </a:xfrm>
          <a:prstGeom prst="rect">
            <a:avLst/>
          </a:prstGeom>
        </p:spPr>
        <p:txBody>
          <a:bodyPr wrap="square">
            <a:spAutoFit/>
          </a:bodyPr>
          <a:lstStyle/>
          <a:p>
            <a:pPr marL="457200" lvl="0" indent="-457200" algn="just">
              <a:lnSpc>
                <a:spcPct val="140000"/>
              </a:lnSpc>
              <a:buClr>
                <a:schemeClr val="accent1">
                  <a:lumMod val="75000"/>
                </a:schemeClr>
              </a:buClr>
              <a:buSzPct val="85000"/>
              <a:buFont typeface="+mj-lt"/>
              <a:buAutoNum type="arabicPeriod" startAt="5"/>
            </a:pPr>
            <a:r>
              <a:rPr lang="bg-BG" sz="2400" dirty="0"/>
              <a:t>По характера на преработка на информацията</a:t>
            </a:r>
          </a:p>
          <a:p>
            <a:pPr marL="898525" lvl="0" indent="-355600" algn="just">
              <a:lnSpc>
                <a:spcPct val="130000"/>
              </a:lnSpc>
              <a:buClr>
                <a:srgbClr val="D34817">
                  <a:lumMod val="75000"/>
                </a:srgbClr>
              </a:buClr>
              <a:buSzPct val="85000"/>
              <a:buFont typeface="Cambria" panose="02040503050406030204" pitchFamily="18" charset="0"/>
              <a:buChar char="―"/>
            </a:pPr>
            <a:r>
              <a:rPr lang="bg-BG" sz="2400" dirty="0">
                <a:solidFill>
                  <a:prstClr val="black"/>
                </a:solidFill>
                <a:ea typeface="Cambria" panose="02040503050406030204" pitchFamily="18" charset="0"/>
              </a:rPr>
              <a:t>системи с твърд алгоритъм;</a:t>
            </a:r>
          </a:p>
          <a:p>
            <a:pPr marL="898525" lvl="0" indent="-355600" algn="just">
              <a:lnSpc>
                <a:spcPct val="130000"/>
              </a:lnSpc>
              <a:buClr>
                <a:srgbClr val="D34817">
                  <a:lumMod val="75000"/>
                </a:srgbClr>
              </a:buClr>
              <a:buSzPct val="85000"/>
              <a:buFont typeface="Cambria" panose="02040503050406030204" pitchFamily="18" charset="0"/>
              <a:buChar char="―"/>
            </a:pPr>
            <a:r>
              <a:rPr lang="bg-BG" sz="2400" dirty="0"/>
              <a:t>системи с изменящ се алгоритъм;</a:t>
            </a:r>
            <a:endParaRPr lang="bg-BG" sz="2400" dirty="0">
              <a:solidFill>
                <a:prstClr val="black"/>
              </a:solidFill>
              <a:ea typeface="Cambria" panose="02040503050406030204" pitchFamily="18" charset="0"/>
            </a:endParaRPr>
          </a:p>
          <a:p>
            <a:pPr indent="536575" algn="just">
              <a:lnSpc>
                <a:spcPct val="140000"/>
              </a:lnSpc>
              <a:buClr>
                <a:schemeClr val="accent1">
                  <a:lumMod val="75000"/>
                </a:schemeClr>
              </a:buClr>
              <a:buSzPct val="85000"/>
              <a:defRPr/>
            </a:pPr>
            <a:r>
              <a:rPr lang="bg-BG" sz="2400" dirty="0"/>
              <a:t>По характера на преработка на информацията автоматичните системи се делят на системи с твърд алгоритъм  за управление и системи с изменящ се алгоритъм за управление. Системите с изменящ се алгоритъм за управление включват системи за автоматична настройка, самообучаващи се системи и самоорганизиращи се системи. </a:t>
            </a:r>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877534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14</a:t>
            </a:fld>
            <a:endParaRPr lang="bg-BG" dirty="0"/>
          </a:p>
        </p:txBody>
      </p:sp>
      <p:sp>
        <p:nvSpPr>
          <p:cNvPr id="6" name="Content Placeholder 2"/>
          <p:cNvSpPr txBox="1">
            <a:spLocks/>
          </p:cNvSpPr>
          <p:nvPr/>
        </p:nvSpPr>
        <p:spPr>
          <a:xfrm>
            <a:off x="1684422" y="534197"/>
            <a:ext cx="10379242" cy="514894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indent="457200" algn="just">
              <a:lnSpc>
                <a:spcPct val="130000"/>
              </a:lnSpc>
              <a:spcBef>
                <a:spcPts val="0"/>
              </a:spcBef>
            </a:pPr>
            <a:endParaRPr lang="bg-BG" sz="2400" dirty="0"/>
          </a:p>
        </p:txBody>
      </p:sp>
      <p:sp>
        <p:nvSpPr>
          <p:cNvPr id="2" name="Rectangle 1"/>
          <p:cNvSpPr/>
          <p:nvPr/>
        </p:nvSpPr>
        <p:spPr>
          <a:xfrm>
            <a:off x="480447" y="0"/>
            <a:ext cx="11583217" cy="1067152"/>
          </a:xfrm>
          <a:prstGeom prst="rect">
            <a:avLst/>
          </a:prstGeom>
        </p:spPr>
        <p:txBody>
          <a:bodyPr wrap="square">
            <a:spAutoFit/>
          </a:bodyPr>
          <a:lstStyle/>
          <a:p>
            <a:pPr algn="ctr">
              <a:lnSpc>
                <a:spcPct val="140000"/>
              </a:lnSpc>
              <a:buClr>
                <a:schemeClr val="accent1">
                  <a:lumMod val="75000"/>
                </a:schemeClr>
              </a:buClr>
              <a:buSzPct val="85000"/>
              <a:defRPr/>
            </a:pPr>
            <a:r>
              <a:rPr lang="bg-BG" sz="2400" b="1" i="1" dirty="0"/>
              <a:t>Функционални елементи на системите за автоматично регулиране. Видове закони за регулиране.</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1" name="Rectangle 34"/>
          <p:cNvSpPr>
            <a:spLocks noChangeArrowheads="1"/>
          </p:cNvSpPr>
          <p:nvPr/>
        </p:nvSpPr>
        <p:spPr bwMode="auto">
          <a:xfrm>
            <a:off x="0" y="-1"/>
            <a:ext cx="1187458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pic>
        <p:nvPicPr>
          <p:cNvPr id="8" name="Картина 7"/>
          <p:cNvPicPr>
            <a:picLocks noChangeAspect="1"/>
          </p:cNvPicPr>
          <p:nvPr/>
        </p:nvPicPr>
        <p:blipFill>
          <a:blip r:embed="rId3"/>
          <a:stretch>
            <a:fillRect/>
          </a:stretch>
        </p:blipFill>
        <p:spPr>
          <a:xfrm>
            <a:off x="2032000" y="1067153"/>
            <a:ext cx="10160000" cy="5104466"/>
          </a:xfrm>
          <a:prstGeom prst="rect">
            <a:avLst/>
          </a:prstGeom>
        </p:spPr>
      </p:pic>
    </p:spTree>
    <p:extLst>
      <p:ext uri="{BB962C8B-B14F-4D97-AF65-F5344CB8AC3E}">
        <p14:creationId xmlns:p14="http://schemas.microsoft.com/office/powerpoint/2010/main" val="3651980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15</a:t>
            </a:fld>
            <a:endParaRPr lang="bg-BG" dirty="0"/>
          </a:p>
        </p:txBody>
      </p:sp>
      <p:sp>
        <p:nvSpPr>
          <p:cNvPr id="8" name="Rectangle 7"/>
          <p:cNvSpPr/>
          <p:nvPr/>
        </p:nvSpPr>
        <p:spPr>
          <a:xfrm>
            <a:off x="2032000" y="295059"/>
            <a:ext cx="9991677" cy="6283964"/>
          </a:xfrm>
          <a:prstGeom prst="rect">
            <a:avLst/>
          </a:prstGeom>
        </p:spPr>
        <p:txBody>
          <a:bodyPr wrap="square">
            <a:spAutoFit/>
          </a:bodyPr>
          <a:lstStyle/>
          <a:p>
            <a:pPr indent="536575" algn="just">
              <a:lnSpc>
                <a:spcPct val="130000"/>
              </a:lnSpc>
              <a:buClr>
                <a:schemeClr val="accent1">
                  <a:lumMod val="75000"/>
                </a:schemeClr>
              </a:buClr>
              <a:buSzPct val="85000"/>
              <a:defRPr/>
            </a:pPr>
            <a:r>
              <a:rPr lang="bg-BG" sz="2400" dirty="0"/>
              <a:t>При разглеждане на функционалната структура на една система за автоматично регулиране отделните блокове изпълняват строго определени функции като измерване, усилване, формиране на управляващото въздействие и т.н. </a:t>
            </a:r>
          </a:p>
          <a:p>
            <a:pPr indent="536575" algn="just">
              <a:lnSpc>
                <a:spcPct val="130000"/>
              </a:lnSpc>
              <a:buClr>
                <a:schemeClr val="accent1">
                  <a:lumMod val="75000"/>
                </a:schemeClr>
              </a:buClr>
              <a:buSzPct val="85000"/>
              <a:defRPr/>
            </a:pPr>
            <a:r>
              <a:rPr lang="bg-BG" sz="2400" i="1" dirty="0"/>
              <a:t>Измервателният блок </a:t>
            </a:r>
            <a:r>
              <a:rPr lang="bg-BG" sz="2400" dirty="0"/>
              <a:t>е един от най-важните функционални елементи на една съвременна система за автоматично регулиране. Измервателните елементи регистрират отклонението на регулируемата величина от нейната зададена стойност. Огромното разнообразие от изходни величини означава, че в практиката има огромно разнообразие от измервателни прибори. Изборът на конкретно измервателно устройство зависи от различни фактори (финансови съображения, наличност на пазара в момента на проектирането, екипа, който проектира системата и др.). </a:t>
            </a:r>
          </a:p>
        </p:txBody>
      </p:sp>
    </p:spTree>
    <p:extLst>
      <p:ext uri="{BB962C8B-B14F-4D97-AF65-F5344CB8AC3E}">
        <p14:creationId xmlns:p14="http://schemas.microsoft.com/office/powerpoint/2010/main" val="174182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16</a:t>
            </a:fld>
            <a:endParaRPr lang="bg-BG" dirty="0"/>
          </a:p>
        </p:txBody>
      </p:sp>
      <p:sp>
        <p:nvSpPr>
          <p:cNvPr id="2" name="Rectangle 1"/>
          <p:cNvSpPr/>
          <p:nvPr/>
        </p:nvSpPr>
        <p:spPr>
          <a:xfrm>
            <a:off x="2171483" y="186632"/>
            <a:ext cx="9751683" cy="6334042"/>
          </a:xfrm>
          <a:prstGeom prst="rect">
            <a:avLst/>
          </a:prstGeom>
        </p:spPr>
        <p:txBody>
          <a:bodyPr wrap="square">
            <a:spAutoFit/>
          </a:bodyPr>
          <a:lstStyle/>
          <a:p>
            <a:pPr indent="536575" algn="just">
              <a:lnSpc>
                <a:spcPct val="130000"/>
              </a:lnSpc>
              <a:buClr>
                <a:schemeClr val="accent1">
                  <a:lumMod val="75000"/>
                </a:schemeClr>
              </a:buClr>
              <a:buSzPct val="85000"/>
              <a:defRPr/>
            </a:pPr>
            <a:r>
              <a:rPr lang="bg-BG" sz="2400" dirty="0"/>
              <a:t>В общия случай може да се приеме, че в резултат на измерването на изходната величина, следва преобразуване на сигнала/сигналите (най-често в цифров вид) и те се предават за анализ в управляващия блок. </a:t>
            </a:r>
          </a:p>
          <a:p>
            <a:pPr indent="536575" algn="just">
              <a:lnSpc>
                <a:spcPct val="130000"/>
              </a:lnSpc>
              <a:buClr>
                <a:schemeClr val="accent1">
                  <a:lumMod val="75000"/>
                </a:schemeClr>
              </a:buClr>
              <a:buSzPct val="85000"/>
              <a:defRPr/>
            </a:pPr>
            <a:r>
              <a:rPr lang="bg-BG" sz="2400" i="1" dirty="0"/>
              <a:t>Изпълнителният блок </a:t>
            </a:r>
            <a:r>
              <a:rPr lang="bg-BG" sz="2400" dirty="0"/>
              <a:t>представлява устройство, което непосредствено въздейства на обекта за регулиране. Изпълнителният блок преобразува управляващия сигнал в подходящ за регулирането.</a:t>
            </a:r>
          </a:p>
          <a:p>
            <a:pPr indent="536575" algn="just">
              <a:lnSpc>
                <a:spcPct val="130000"/>
              </a:lnSpc>
              <a:buClr>
                <a:schemeClr val="accent1">
                  <a:lumMod val="75000"/>
                </a:schemeClr>
              </a:buClr>
              <a:buSzPct val="85000"/>
              <a:defRPr/>
            </a:pPr>
            <a:r>
              <a:rPr lang="bg-BG" sz="2400" i="1" dirty="0"/>
              <a:t>Управляващият блок </a:t>
            </a:r>
            <a:r>
              <a:rPr lang="bg-BG" sz="2400" dirty="0"/>
              <a:t>може да бъде компютърна система, промишлен регулатор и др. В него се формира законът за управление на обекта. Най-често срещаните закони за регулиране са пропорционален (П), интегрален (И), пропорционално-интегрален (ПИ) и пропорционално-интегрален-диференциален (ПИД).</a:t>
            </a: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1257893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17</a:t>
            </a:fld>
            <a:endParaRPr lang="bg-BG" dirty="0"/>
          </a:p>
        </p:txBody>
      </p:sp>
      <p:sp>
        <p:nvSpPr>
          <p:cNvPr id="2" name="Rectangle 1"/>
          <p:cNvSpPr/>
          <p:nvPr/>
        </p:nvSpPr>
        <p:spPr>
          <a:xfrm>
            <a:off x="2231756" y="539575"/>
            <a:ext cx="9564997" cy="5373779"/>
          </a:xfrm>
          <a:prstGeom prst="rect">
            <a:avLst/>
          </a:prstGeom>
        </p:spPr>
        <p:txBody>
          <a:bodyPr wrap="square">
            <a:spAutoFit/>
          </a:bodyPr>
          <a:lstStyle/>
          <a:p>
            <a:pPr algn="just">
              <a:lnSpc>
                <a:spcPct val="130000"/>
              </a:lnSpc>
              <a:buClr>
                <a:schemeClr val="accent1">
                  <a:lumMod val="75000"/>
                </a:schemeClr>
              </a:buClr>
              <a:buSzPct val="85000"/>
              <a:defRPr/>
            </a:pPr>
            <a:r>
              <a:rPr lang="bg-BG" sz="2400" b="1" i="1" dirty="0"/>
              <a:t>Пример:  </a:t>
            </a:r>
          </a:p>
          <a:p>
            <a:pPr indent="536575" algn="just">
              <a:lnSpc>
                <a:spcPct val="130000"/>
              </a:lnSpc>
              <a:buClr>
                <a:schemeClr val="accent1">
                  <a:lumMod val="75000"/>
                </a:schemeClr>
              </a:buClr>
              <a:buSzPct val="85000"/>
              <a:defRPr/>
            </a:pPr>
            <a:r>
              <a:rPr lang="bg-BG" sz="2400" dirty="0"/>
              <a:t>Двама пилоти в рали имат еднакви автомобили и могат да развиват еднаква скорост. Различават се само по своя опит. Ако разгледаме това състезание като система за автоматично регулиране, нека приемем, че първият състезател (водещия) е обекта на регулиране, а втория – на регулатора. Движението със състезателна скорост представлява установения режим на работа. Тактиката на втория състезател трябва да бъде такава, че или не трябва да изостава, или ако изостане така да се мобилизира, че отново да се изравни с първия. Ако това е невъзможно, тогава да бъде на приблизително еднакво разстояние след първия.</a:t>
            </a: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8" name="Rectangle 3"/>
          <p:cNvSpPr>
            <a:spLocks noChangeArrowheads="1"/>
          </p:cNvSpPr>
          <p:nvPr/>
        </p:nvSpPr>
        <p:spPr bwMode="auto">
          <a:xfrm>
            <a:off x="0" y="2000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bg-BG" altLang="bg-BG" sz="1800" b="0" i="0" u="none" strike="noStrike" cap="none" normalizeH="0" baseline="0" dirty="0">
              <a:ln>
                <a:noFill/>
              </a:ln>
              <a:solidFill>
                <a:schemeClr val="tx1"/>
              </a:solidFill>
              <a:effectLst/>
              <a:latin typeface="Arial" panose="020B0604020202020204" pitchFamily="34" charset="0"/>
            </a:endParaRPr>
          </a:p>
        </p:txBody>
      </p:sp>
      <p:sp>
        <p:nvSpPr>
          <p:cNvPr id="10"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2054943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18</a:t>
            </a:fld>
            <a:endParaRPr lang="bg-BG" dirty="0"/>
          </a:p>
        </p:txBody>
      </p:sp>
      <mc:AlternateContent xmlns:mc="http://schemas.openxmlformats.org/markup-compatibility/2006" xmlns:a14="http://schemas.microsoft.com/office/drawing/2010/main">
        <mc:Choice Requires="a14">
          <p:sp>
            <p:nvSpPr>
              <p:cNvPr id="7" name="Rectangle 6"/>
              <p:cNvSpPr/>
              <p:nvPr/>
            </p:nvSpPr>
            <p:spPr>
              <a:xfrm>
                <a:off x="2032000" y="60419"/>
                <a:ext cx="10005325" cy="6564874"/>
              </a:xfrm>
              <a:prstGeom prst="rect">
                <a:avLst/>
              </a:prstGeom>
            </p:spPr>
            <p:txBody>
              <a:bodyPr wrap="square">
                <a:spAutoFit/>
              </a:bodyPr>
              <a:lstStyle/>
              <a:p>
                <a:pPr indent="536575" algn="just">
                  <a:lnSpc>
                    <a:spcPct val="130000"/>
                  </a:lnSpc>
                  <a:buClr>
                    <a:schemeClr val="accent1">
                      <a:lumMod val="75000"/>
                    </a:schemeClr>
                  </a:buClr>
                  <a:buSzPct val="85000"/>
                  <a:defRPr/>
                </a:pPr>
                <a:r>
                  <a:rPr lang="bg-BG" sz="2400" dirty="0"/>
                  <a:t>Нека след известно време първият състезател се отдалечава от втория на известно разстояние с постоянна скорост т.е. има разсъгласуване </a:t>
                </a:r>
                <a14:m>
                  <m:oMath xmlns:m="http://schemas.openxmlformats.org/officeDocument/2006/math">
                    <m:r>
                      <a:rPr lang="bg-BG"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oMath>
                </a14:m>
                <a:r>
                  <a:rPr lang="bg-BG" sz="2400" dirty="0"/>
                  <a:t> между обекта и регулатора. Вторият състезател трябва да избере такава тактика, че да настигне и да се изравни с първия. Възможни са следните четири случая:</a:t>
                </a:r>
              </a:p>
              <a:p>
                <a:pPr indent="536575" algn="just">
                  <a:lnSpc>
                    <a:spcPct val="130000"/>
                  </a:lnSpc>
                  <a:buClr>
                    <a:schemeClr val="accent1">
                      <a:lumMod val="75000"/>
                    </a:schemeClr>
                  </a:buClr>
                  <a:buSzPct val="85000"/>
                  <a:defRPr/>
                </a:pPr>
                <a:r>
                  <a:rPr lang="bg-BG" sz="2400" i="1" dirty="0"/>
                  <a:t>Първи случай (пропорционален закон на регулиране). </a:t>
                </a:r>
                <a:r>
                  <a:rPr lang="bg-BG" sz="2400" dirty="0"/>
                  <a:t>Вторият състезател развива постоянна скорост, пропорционална на разсъгласуването, т.е. ще се движи с нулево ускорение. Следователно той няма да може да настигне първия състезател, но ще го следва на определена дистанция. Математическия запис на възприетата стратегия е от вида:		, където</a:t>
                </a:r>
              </a:p>
              <a:p>
                <a:pPr algn="just">
                  <a:lnSpc>
                    <a:spcPct val="130000"/>
                  </a:lnSpc>
                  <a:spcBef>
                    <a:spcPts val="1800"/>
                  </a:spcBef>
                  <a:buClr>
                    <a:schemeClr val="accent1">
                      <a:lumMod val="75000"/>
                    </a:schemeClr>
                  </a:buClr>
                  <a:buSzPct val="85000"/>
                  <a:defRPr/>
                </a:pPr>
                <a14:m>
                  <m:oMath xmlns:m="http://schemas.openxmlformats.org/officeDocument/2006/math">
                    <m:sSub>
                      <m:sSubPr>
                        <m:ctrlPr>
                          <a:rPr lang="bg-BG" sz="2400" i="1">
                            <a:latin typeface="Cambria Math"/>
                          </a:rPr>
                        </m:ctrlPr>
                      </m:sSubPr>
                      <m:e>
                        <m:r>
                          <a:rPr lang="en-US" sz="2400" i="1">
                            <a:latin typeface="Cambria Math" panose="02040503050406030204" pitchFamily="18" charset="0"/>
                          </a:rPr>
                          <m:t>𝑘</m:t>
                        </m:r>
                      </m:e>
                      <m:sub>
                        <m:r>
                          <a:rPr lang="en-US" sz="2400" i="1">
                            <a:latin typeface="Cambria Math" panose="02040503050406030204" pitchFamily="18" charset="0"/>
                          </a:rPr>
                          <m:t>1</m:t>
                        </m:r>
                      </m:sub>
                    </m:sSub>
                  </m:oMath>
                </a14:m>
                <a:r>
                  <a:rPr lang="bg-BG" sz="2400" dirty="0"/>
                  <a:t> е коефициент на пропорционалност. </a:t>
                </a:r>
              </a:p>
              <a:p>
                <a:pPr algn="just">
                  <a:lnSpc>
                    <a:spcPct val="130000"/>
                  </a:lnSpc>
                  <a:buClr>
                    <a:schemeClr val="accent1">
                      <a:lumMod val="75000"/>
                    </a:schemeClr>
                  </a:buClr>
                  <a:buSzPct val="85000"/>
                  <a:defRPr/>
                </a:pPr>
                <a:r>
                  <a:rPr lang="bg-BG" sz="2400" dirty="0"/>
                  <a:t>След интегриране </a:t>
                </a:r>
              </a:p>
            </p:txBody>
          </p:sp>
        </mc:Choice>
        <mc:Fallback xmlns="">
          <p:sp>
            <p:nvSpPr>
              <p:cNvPr id="7" name="Rectangle 6"/>
              <p:cNvSpPr>
                <a:spLocks noRot="1" noChangeAspect="1" noMove="1" noResize="1" noEditPoints="1" noAdjustHandles="1" noChangeArrowheads="1" noChangeShapeType="1" noTextEdit="1"/>
              </p:cNvSpPr>
              <p:nvPr/>
            </p:nvSpPr>
            <p:spPr>
              <a:xfrm>
                <a:off x="2032000" y="60419"/>
                <a:ext cx="10005325" cy="6564874"/>
              </a:xfrm>
              <a:prstGeom prst="rect">
                <a:avLst/>
              </a:prstGeom>
              <a:blipFill>
                <a:blip r:embed="rId4"/>
                <a:stretch>
                  <a:fillRect l="-914" r="-914" b="-371"/>
                </a:stretch>
              </a:blipFill>
            </p:spPr>
            <p:txBody>
              <a:bodyPr/>
              <a:lstStyle/>
              <a:p>
                <a:r>
                  <a:rPr lang="en-US">
                    <a:noFill/>
                  </a:rPr>
                  <a:t> </a:t>
                </a:r>
              </a:p>
            </p:txBody>
          </p:sp>
        </mc:Fallback>
      </mc:AlternateContent>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9" name="Обект 8"/>
          <p:cNvGraphicFramePr>
            <a:graphicFrameLocks noChangeAspect="1"/>
          </p:cNvGraphicFramePr>
          <p:nvPr>
            <p:extLst>
              <p:ext uri="{D42A27DB-BD31-4B8C-83A1-F6EECF244321}">
                <p14:modId xmlns:p14="http://schemas.microsoft.com/office/powerpoint/2010/main" val="2065951912"/>
              </p:ext>
            </p:extLst>
          </p:nvPr>
        </p:nvGraphicFramePr>
        <p:xfrm>
          <a:off x="4990453" y="4757978"/>
          <a:ext cx="1487839" cy="898902"/>
        </p:xfrm>
        <a:graphic>
          <a:graphicData uri="http://schemas.openxmlformats.org/presentationml/2006/ole">
            <mc:AlternateContent xmlns:mc="http://schemas.openxmlformats.org/markup-compatibility/2006">
              <mc:Choice xmlns:v="urn:schemas-microsoft-com:vml" Requires="v">
                <p:oleObj spid="_x0000_s1030" name="Equation" r:id="rId5" imgW="723586" imgH="393529" progId="Equation.3">
                  <p:embed/>
                </p:oleObj>
              </mc:Choice>
              <mc:Fallback>
                <p:oleObj name="Equation" r:id="rId5" imgW="723586" imgH="393529" progId="Equation.3">
                  <p:embed/>
                  <p:pic>
                    <p:nvPicPr>
                      <p:cNvPr id="0" name="Object 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0453" y="4757978"/>
                        <a:ext cx="1487839" cy="898902"/>
                      </a:xfrm>
                      <a:prstGeom prst="rect">
                        <a:avLst/>
                      </a:prstGeom>
                      <a:noFill/>
                    </p:spPr>
                  </p:pic>
                </p:oleObj>
              </mc:Fallback>
            </mc:AlternateContent>
          </a:graphicData>
        </a:graphic>
      </p:graphicFrame>
      <p:sp>
        <p:nvSpPr>
          <p:cNvPr id="10" name="Rectangle 67"/>
          <p:cNvSpPr>
            <a:spLocks noChangeArrowheads="1"/>
          </p:cNvSpPr>
          <p:nvPr/>
        </p:nvSpPr>
        <p:spPr bwMode="auto">
          <a:xfrm>
            <a:off x="0" y="3905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r>
              <a:rPr kumimoji="0" lang="bg-BG" altLang="bg-BG" sz="900" b="0" i="0" u="none" strike="noStrike" cap="none" normalizeH="0" baseline="0" dirty="0">
                <a:ln>
                  <a:noFill/>
                </a:ln>
                <a:solidFill>
                  <a:schemeClr val="tx1"/>
                </a:solidFill>
                <a:effectLst/>
              </a:rPr>
              <a:t> </a:t>
            </a:r>
            <a:endParaRPr kumimoji="0" lang="bg-BG" altLang="bg-BG" sz="1800" b="0" i="0" u="none" strike="noStrike" cap="none" normalizeH="0" baseline="0" dirty="0">
              <a:ln>
                <a:noFill/>
              </a:ln>
              <a:solidFill>
                <a:schemeClr val="tx1"/>
              </a:solidFill>
              <a:effectLst/>
              <a:latin typeface="Arial" panose="020B0604020202020204" pitchFamily="34" charset="0"/>
            </a:endParaRPr>
          </a:p>
        </p:txBody>
      </p:sp>
      <p:sp>
        <p:nvSpPr>
          <p:cNvPr id="14" name="Rectangle 7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5" name="Обект 14"/>
          <p:cNvGraphicFramePr>
            <a:graphicFrameLocks noChangeAspect="1"/>
          </p:cNvGraphicFramePr>
          <p:nvPr>
            <p:extLst>
              <p:ext uri="{D42A27DB-BD31-4B8C-83A1-F6EECF244321}">
                <p14:modId xmlns:p14="http://schemas.microsoft.com/office/powerpoint/2010/main" val="2154490802"/>
              </p:ext>
            </p:extLst>
          </p:nvPr>
        </p:nvGraphicFramePr>
        <p:xfrm>
          <a:off x="4713287" y="6033186"/>
          <a:ext cx="1501535" cy="575588"/>
        </p:xfrm>
        <a:graphic>
          <a:graphicData uri="http://schemas.openxmlformats.org/presentationml/2006/ole">
            <mc:AlternateContent xmlns:mc="http://schemas.openxmlformats.org/markup-compatibility/2006">
              <mc:Choice xmlns:v="urn:schemas-microsoft-com:vml" Requires="v">
                <p:oleObj spid="_x0000_s1031" name="Equation" r:id="rId7" imgW="571252" imgH="215806" progId="Equation.3">
                  <p:embed/>
                </p:oleObj>
              </mc:Choice>
              <mc:Fallback>
                <p:oleObj name="Equation" r:id="rId7" imgW="571252" imgH="215806" progId="Equation.3">
                  <p:embed/>
                  <p:pic>
                    <p:nvPicPr>
                      <p:cNvPr id="0" name="Object 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3287" y="6033186"/>
                        <a:ext cx="1501535" cy="575588"/>
                      </a:xfrm>
                      <a:prstGeom prst="rect">
                        <a:avLst/>
                      </a:prstGeom>
                      <a:noFill/>
                    </p:spPr>
                  </p:pic>
                </p:oleObj>
              </mc:Fallback>
            </mc:AlternateContent>
          </a:graphicData>
        </a:graphic>
      </p:graphicFrame>
    </p:spTree>
    <p:extLst>
      <p:ext uri="{BB962C8B-B14F-4D97-AF65-F5344CB8AC3E}">
        <p14:creationId xmlns:p14="http://schemas.microsoft.com/office/powerpoint/2010/main" val="1716919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19</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2032000" y="241452"/>
                <a:ext cx="10160000" cy="6466386"/>
              </a:xfrm>
              <a:prstGeom prst="rect">
                <a:avLst/>
              </a:prstGeom>
            </p:spPr>
            <p:txBody>
              <a:bodyPr wrap="square">
                <a:spAutoFit/>
              </a:bodyPr>
              <a:lstStyle/>
              <a:p>
                <a:pPr indent="536575" algn="just">
                  <a:lnSpc>
                    <a:spcPct val="130000"/>
                  </a:lnSpc>
                  <a:buClr>
                    <a:schemeClr val="accent1">
                      <a:lumMod val="75000"/>
                    </a:schemeClr>
                  </a:buClr>
                  <a:buSzPct val="85000"/>
                  <a:defRPr/>
                </a:pPr>
                <a:r>
                  <a:rPr lang="bg-BG" sz="2400" i="1" dirty="0"/>
                  <a:t>Втори случай (интегрален закон на регулиране). </a:t>
                </a:r>
                <a:r>
                  <a:rPr lang="bg-BG" sz="2400" dirty="0"/>
                  <a:t>Вторият състезател оценява разстоянието и започва да развива относителна скорост пропорционална на разсъгласуването. Колкото по-голямо е разстоянието между двамата, толкова по-бързо трябва да кара своя автомобил втория състезател. Математически описанието ще изглежда по следния начин:</a:t>
                </a:r>
              </a:p>
              <a:p>
                <a:pPr indent="536575" algn="just">
                  <a:lnSpc>
                    <a:spcPct val="130000"/>
                  </a:lnSpc>
                  <a:spcBef>
                    <a:spcPts val="600"/>
                  </a:spcBef>
                  <a:buClr>
                    <a:schemeClr val="accent1">
                      <a:lumMod val="75000"/>
                    </a:schemeClr>
                  </a:buClr>
                  <a:buSzPct val="85000"/>
                  <a:defRPr/>
                </a:pPr>
                <a:r>
                  <a:rPr lang="bg-BG" sz="2400" dirty="0"/>
                  <a:t>		, </a:t>
                </a:r>
              </a:p>
              <a:p>
                <a:pPr algn="just">
                  <a:lnSpc>
                    <a:spcPct val="130000"/>
                  </a:lnSpc>
                  <a:spcBef>
                    <a:spcPts val="1200"/>
                  </a:spcBef>
                  <a:buClr>
                    <a:schemeClr val="accent1">
                      <a:lumMod val="75000"/>
                    </a:schemeClr>
                  </a:buClr>
                  <a:buSzPct val="85000"/>
                  <a:defRPr/>
                </a:pPr>
                <a:r>
                  <a:rPr lang="bg-BG" sz="2400" dirty="0"/>
                  <a:t>където       е относителната скорост на движение на втория автомобил;</a:t>
                </a:r>
              </a:p>
              <a:p>
                <a:pPr algn="just">
                  <a:lnSpc>
                    <a:spcPct val="130000"/>
                  </a:lnSpc>
                  <a:spcBef>
                    <a:spcPts val="600"/>
                  </a:spcBef>
                  <a:buClr>
                    <a:schemeClr val="accent1">
                      <a:lumMod val="75000"/>
                    </a:schemeClr>
                  </a:buClr>
                  <a:buSzPct val="85000"/>
                  <a:defRPr/>
                </a:pPr>
                <a14:m>
                  <m:oMath xmlns:m="http://schemas.openxmlformats.org/officeDocument/2006/math">
                    <m:r>
                      <a:rPr lang="bg-BG"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oMath>
                </a14:m>
                <a:r>
                  <a:rPr lang="bg-BG" sz="2400" dirty="0"/>
                  <a:t> - разстоянието между двата автомобила;</a:t>
                </a:r>
              </a:p>
              <a:p>
                <a:pPr algn="just">
                  <a:lnSpc>
                    <a:spcPct val="130000"/>
                  </a:lnSpc>
                  <a:spcBef>
                    <a:spcPts val="600"/>
                  </a:spcBef>
                  <a:buClr>
                    <a:schemeClr val="accent1">
                      <a:lumMod val="75000"/>
                    </a:schemeClr>
                  </a:buClr>
                  <a:buSzPct val="85000"/>
                  <a:defRPr/>
                </a:pPr>
                <a14:m>
                  <m:oMath xmlns:m="http://schemas.openxmlformats.org/officeDocument/2006/math">
                    <m:sSub>
                      <m:sSubPr>
                        <m:ctrlPr>
                          <a:rPr lang="bg-BG" sz="2400" i="1">
                            <a:latin typeface="Cambria Math"/>
                          </a:rPr>
                        </m:ctrlPr>
                      </m:sSubPr>
                      <m:e>
                        <m:r>
                          <a:rPr lang="en-US" sz="2400" i="1">
                            <a:latin typeface="Cambria Math" panose="02040503050406030204" pitchFamily="18" charset="0"/>
                          </a:rPr>
                          <m:t>𝑘</m:t>
                        </m:r>
                      </m:e>
                      <m:sub>
                        <m:r>
                          <a:rPr lang="bg-BG" sz="2400" b="0" i="1" smtClean="0">
                            <a:latin typeface="Cambria Math" panose="02040503050406030204" pitchFamily="18" charset="0"/>
                          </a:rPr>
                          <m:t>2</m:t>
                        </m:r>
                      </m:sub>
                    </m:sSub>
                  </m:oMath>
                </a14:m>
                <a:r>
                  <a:rPr lang="bg-BG" sz="2400" dirty="0"/>
                  <a:t> - коефициент на пропорционалност.</a:t>
                </a:r>
              </a:p>
              <a:p>
                <a:pPr algn="just">
                  <a:lnSpc>
                    <a:spcPct val="130000"/>
                  </a:lnSpc>
                  <a:spcBef>
                    <a:spcPts val="1200"/>
                  </a:spcBef>
                  <a:buClr>
                    <a:schemeClr val="accent1">
                      <a:lumMod val="75000"/>
                    </a:schemeClr>
                  </a:buClr>
                  <a:buSzPct val="85000"/>
                  <a:defRPr/>
                </a:pPr>
                <a:r>
                  <a:rPr lang="bg-BG" sz="2400" dirty="0"/>
                  <a:t>След интегриране 			    , където </a:t>
                </a:r>
                <a14:m>
                  <m:oMath xmlns:m="http://schemas.openxmlformats.org/officeDocument/2006/math">
                    <m:sSub>
                      <m:sSubPr>
                        <m:ctrlPr>
                          <a:rPr lang="bg-BG" sz="2400" i="1" smtClean="0">
                            <a:latin typeface="Cambria Math"/>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0</m:t>
                        </m:r>
                      </m:sub>
                    </m:sSub>
                  </m:oMath>
                </a14:m>
                <a:r>
                  <a:rPr lang="en-US" sz="2400" dirty="0"/>
                  <a:t> - </a:t>
                </a:r>
                <a:r>
                  <a:rPr lang="bg-BG" sz="2400" dirty="0"/>
                  <a:t>началното разстояние.</a:t>
                </a:r>
              </a:p>
              <a:p>
                <a:pPr indent="540000" algn="just">
                  <a:lnSpc>
                    <a:spcPct val="150000"/>
                  </a:lnSpc>
                </a:pPr>
                <a:endParaRPr lang="bg-BG" sz="2400" dirty="0">
                  <a:solidFill>
                    <a:schemeClr val="tx1">
                      <a:lumMod val="95000"/>
                      <a:lumOff val="5000"/>
                    </a:schemeClr>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032000" y="241452"/>
                <a:ext cx="10160000" cy="6466386"/>
              </a:xfrm>
              <a:prstGeom prst="rect">
                <a:avLst/>
              </a:prstGeom>
              <a:blipFill>
                <a:blip r:embed="rId4"/>
                <a:stretch>
                  <a:fillRect l="-900" r="-900"/>
                </a:stretch>
              </a:blipFill>
            </p:spPr>
            <p:txBody>
              <a:bodyPr/>
              <a:lstStyle/>
              <a:p>
                <a:r>
                  <a:rPr lang="en-US">
                    <a:noFill/>
                  </a:rPr>
                  <a:t> </a:t>
                </a:r>
              </a:p>
            </p:txBody>
          </p:sp>
        </mc:Fallback>
      </mc:AlternateContent>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8" name="Обект 7"/>
          <p:cNvGraphicFramePr>
            <a:graphicFrameLocks noChangeAspect="1"/>
          </p:cNvGraphicFramePr>
          <p:nvPr>
            <p:extLst>
              <p:ext uri="{D42A27DB-BD31-4B8C-83A1-F6EECF244321}">
                <p14:modId xmlns:p14="http://schemas.microsoft.com/office/powerpoint/2010/main" val="3696961996"/>
              </p:ext>
            </p:extLst>
          </p:nvPr>
        </p:nvGraphicFramePr>
        <p:xfrm>
          <a:off x="2200759" y="3068665"/>
          <a:ext cx="1611824" cy="839728"/>
        </p:xfrm>
        <a:graphic>
          <a:graphicData uri="http://schemas.openxmlformats.org/presentationml/2006/ole">
            <mc:AlternateContent xmlns:mc="http://schemas.openxmlformats.org/markup-compatibility/2006">
              <mc:Choice xmlns:v="urn:schemas-microsoft-com:vml" Requires="v">
                <p:oleObj spid="_x0000_s2056" name="Equation" r:id="rId5" imgW="698197" imgH="393529" progId="Equation.3">
                  <p:embed/>
                </p:oleObj>
              </mc:Choice>
              <mc:Fallback>
                <p:oleObj name="Equation" r:id="rId5" imgW="698197" imgH="393529" progId="Equation.3">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0759" y="3068665"/>
                        <a:ext cx="1611824" cy="839728"/>
                      </a:xfrm>
                      <a:prstGeom prst="rect">
                        <a:avLst/>
                      </a:prstGeom>
                      <a:noFill/>
                    </p:spPr>
                  </p:pic>
                </p:oleObj>
              </mc:Fallback>
            </mc:AlternateContent>
          </a:graphicData>
        </a:graphic>
      </p:graphicFrame>
      <p:sp>
        <p:nvSpPr>
          <p:cNvPr id="9" name="Rectangle 3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0" name="Обект 9"/>
          <p:cNvGraphicFramePr>
            <a:graphicFrameLocks noChangeAspect="1"/>
          </p:cNvGraphicFramePr>
          <p:nvPr>
            <p:extLst>
              <p:ext uri="{D42A27DB-BD31-4B8C-83A1-F6EECF244321}">
                <p14:modId xmlns:p14="http://schemas.microsoft.com/office/powerpoint/2010/main" val="3016208458"/>
              </p:ext>
            </p:extLst>
          </p:nvPr>
        </p:nvGraphicFramePr>
        <p:xfrm>
          <a:off x="3120622" y="3768585"/>
          <a:ext cx="464949" cy="762516"/>
        </p:xfrm>
        <a:graphic>
          <a:graphicData uri="http://schemas.openxmlformats.org/presentationml/2006/ole">
            <mc:AlternateContent xmlns:mc="http://schemas.openxmlformats.org/markup-compatibility/2006">
              <mc:Choice xmlns:v="urn:schemas-microsoft-com:vml" Requires="v">
                <p:oleObj spid="_x0000_s2057" name="Equation" r:id="rId7" imgW="241195" imgH="393529" progId="Equation.3">
                  <p:embed/>
                </p:oleObj>
              </mc:Choice>
              <mc:Fallback>
                <p:oleObj name="Equation" r:id="rId7" imgW="241195" imgH="393529"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0622" y="3768585"/>
                        <a:ext cx="464949" cy="762516"/>
                      </a:xfrm>
                      <a:prstGeom prst="rect">
                        <a:avLst/>
                      </a:prstGeom>
                      <a:noFill/>
                    </p:spPr>
                  </p:pic>
                </p:oleObj>
              </mc:Fallback>
            </mc:AlternateContent>
          </a:graphicData>
        </a:graphic>
      </p:graphicFrame>
      <p:sp>
        <p:nvSpPr>
          <p:cNvPr id="11" name="Rectangle 3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2" name="Обект 11"/>
          <p:cNvGraphicFramePr>
            <a:graphicFrameLocks noChangeAspect="1"/>
          </p:cNvGraphicFramePr>
          <p:nvPr>
            <p:extLst>
              <p:ext uri="{D42A27DB-BD31-4B8C-83A1-F6EECF244321}">
                <p14:modId xmlns:p14="http://schemas.microsoft.com/office/powerpoint/2010/main" val="1528726100"/>
              </p:ext>
            </p:extLst>
          </p:nvPr>
        </p:nvGraphicFramePr>
        <p:xfrm>
          <a:off x="4711483" y="5284923"/>
          <a:ext cx="2262753" cy="1052722"/>
        </p:xfrm>
        <a:graphic>
          <a:graphicData uri="http://schemas.openxmlformats.org/presentationml/2006/ole">
            <mc:AlternateContent xmlns:mc="http://schemas.openxmlformats.org/markup-compatibility/2006">
              <mc:Choice xmlns:v="urn:schemas-microsoft-com:vml" Requires="v">
                <p:oleObj spid="_x0000_s2058" name="Equation" r:id="rId9" imgW="1143000" imgH="482600" progId="Equation.3">
                  <p:embed/>
                </p:oleObj>
              </mc:Choice>
              <mc:Fallback>
                <p:oleObj name="Equation" r:id="rId9" imgW="1143000" imgH="482600" progId="Equation.3">
                  <p:embed/>
                  <p:pic>
                    <p:nvPicPr>
                      <p:cNvPr id="0"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1483" y="5284923"/>
                        <a:ext cx="2262753" cy="1052722"/>
                      </a:xfrm>
                      <a:prstGeom prst="rect">
                        <a:avLst/>
                      </a:prstGeom>
                      <a:noFill/>
                    </p:spPr>
                  </p:pic>
                </p:oleObj>
              </mc:Fallback>
            </mc:AlternateContent>
          </a:graphicData>
        </a:graphic>
      </p:graphicFrame>
    </p:spTree>
    <p:extLst>
      <p:ext uri="{BB962C8B-B14F-4D97-AF65-F5344CB8AC3E}">
        <p14:creationId xmlns:p14="http://schemas.microsoft.com/office/powerpoint/2010/main" val="3973915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20</a:t>
            </a:fld>
            <a:endParaRPr lang="bg-BG" dirty="0"/>
          </a:p>
        </p:txBody>
      </p:sp>
      <p:sp>
        <p:nvSpPr>
          <p:cNvPr id="17"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3"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7" name="Rectangle 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9"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2" name="Правоъгълник 1"/>
          <p:cNvSpPr/>
          <p:nvPr/>
        </p:nvSpPr>
        <p:spPr>
          <a:xfrm>
            <a:off x="2180094" y="399543"/>
            <a:ext cx="9490129" cy="5373779"/>
          </a:xfrm>
          <a:prstGeom prst="rect">
            <a:avLst/>
          </a:prstGeom>
        </p:spPr>
        <p:txBody>
          <a:bodyPr wrap="square">
            <a:spAutoFit/>
          </a:bodyPr>
          <a:lstStyle/>
          <a:p>
            <a:pPr indent="536575" algn="just">
              <a:lnSpc>
                <a:spcPct val="130000"/>
              </a:lnSpc>
              <a:buClr>
                <a:schemeClr val="accent1">
                  <a:lumMod val="75000"/>
                </a:schemeClr>
              </a:buClr>
              <a:buSzPct val="85000"/>
            </a:pPr>
            <a:r>
              <a:rPr lang="bg-BG" sz="2400" i="1" dirty="0"/>
              <a:t>Трети случай (пропорционално-интегрален закон на регулиране). </a:t>
            </a:r>
            <a:r>
              <a:rPr lang="bg-BG" sz="2400" dirty="0"/>
              <a:t>Вторият състезател оценява своето изоставане (разстоянието) и скоростта на движение на първия и решава да го догони. За тази цел той развива относителна скорост, пропорционална както на скоростта, така и на разстоянието (разсъгласуването) т.е. вземат се предвид и двете оценки. Математически казаното се изразява с </a:t>
            </a:r>
          </a:p>
          <a:p>
            <a:pPr indent="536575" algn="just">
              <a:lnSpc>
                <a:spcPct val="130000"/>
              </a:lnSpc>
              <a:buClr>
                <a:schemeClr val="accent1">
                  <a:lumMod val="75000"/>
                </a:schemeClr>
              </a:buClr>
              <a:buSzPct val="85000"/>
            </a:pPr>
            <a:endParaRPr lang="bg-BG" sz="2400" dirty="0"/>
          </a:p>
          <a:p>
            <a:pPr indent="536575" algn="just">
              <a:lnSpc>
                <a:spcPct val="130000"/>
              </a:lnSpc>
              <a:buClr>
                <a:schemeClr val="accent1">
                  <a:lumMod val="75000"/>
                </a:schemeClr>
              </a:buClr>
              <a:buSzPct val="85000"/>
            </a:pPr>
            <a:endParaRPr lang="bg-BG" sz="2400" dirty="0"/>
          </a:p>
          <a:p>
            <a:pPr algn="just">
              <a:lnSpc>
                <a:spcPct val="130000"/>
              </a:lnSpc>
              <a:spcBef>
                <a:spcPts val="300"/>
              </a:spcBef>
              <a:buClr>
                <a:schemeClr val="accent1">
                  <a:lumMod val="75000"/>
                </a:schemeClr>
              </a:buClr>
              <a:buSzPct val="85000"/>
            </a:pPr>
            <a:r>
              <a:rPr lang="bg-BG" sz="2400" dirty="0"/>
              <a:t>или след интегриране</a:t>
            </a:r>
          </a:p>
          <a:p>
            <a:pPr indent="536575" algn="just">
              <a:lnSpc>
                <a:spcPct val="130000"/>
              </a:lnSpc>
              <a:buClr>
                <a:schemeClr val="accent1">
                  <a:lumMod val="75000"/>
                </a:schemeClr>
              </a:buClr>
              <a:buSzPct val="85000"/>
            </a:pPr>
            <a:endParaRPr lang="bg-BG" sz="2400" dirty="0"/>
          </a:p>
        </p:txBody>
      </p:sp>
      <p:sp>
        <p:nvSpPr>
          <p:cNvPr id="3" name="Rectangle 15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5" name="Обект 4"/>
          <p:cNvGraphicFramePr>
            <a:graphicFrameLocks noChangeAspect="1"/>
          </p:cNvGraphicFramePr>
          <p:nvPr>
            <p:extLst>
              <p:ext uri="{D42A27DB-BD31-4B8C-83A1-F6EECF244321}">
                <p14:modId xmlns:p14="http://schemas.microsoft.com/office/powerpoint/2010/main" val="3609916824"/>
              </p:ext>
            </p:extLst>
          </p:nvPr>
        </p:nvGraphicFramePr>
        <p:xfrm>
          <a:off x="2309246" y="3834461"/>
          <a:ext cx="3006673" cy="994142"/>
        </p:xfrm>
        <a:graphic>
          <a:graphicData uri="http://schemas.openxmlformats.org/presentationml/2006/ole">
            <mc:AlternateContent xmlns:mc="http://schemas.openxmlformats.org/markup-compatibility/2006">
              <mc:Choice xmlns:v="urn:schemas-microsoft-com:vml" Requires="v">
                <p:oleObj spid="_x0000_s3078" name="Equation" r:id="rId4" imgW="1180588" imgH="393529" progId="Equation.3">
                  <p:embed/>
                </p:oleObj>
              </mc:Choice>
              <mc:Fallback>
                <p:oleObj name="Equation" r:id="rId4" imgW="1180588" imgH="393529" progId="Equation.3">
                  <p:embed/>
                  <p:pic>
                    <p:nvPicPr>
                      <p:cNvPr id="0" name="Object 1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9246" y="3834461"/>
                        <a:ext cx="3006673" cy="994142"/>
                      </a:xfrm>
                      <a:prstGeom prst="rect">
                        <a:avLst/>
                      </a:prstGeom>
                      <a:noFill/>
                    </p:spPr>
                  </p:pic>
                </p:oleObj>
              </mc:Fallback>
            </mc:AlternateContent>
          </a:graphicData>
        </a:graphic>
      </p:graphicFrame>
      <p:sp>
        <p:nvSpPr>
          <p:cNvPr id="7" name="Rectangle 15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8" name="Обект 7"/>
          <p:cNvGraphicFramePr>
            <a:graphicFrameLocks noChangeAspect="1"/>
          </p:cNvGraphicFramePr>
          <p:nvPr>
            <p:extLst>
              <p:ext uri="{D42A27DB-BD31-4B8C-83A1-F6EECF244321}">
                <p14:modId xmlns:p14="http://schemas.microsoft.com/office/powerpoint/2010/main" val="4219403886"/>
              </p:ext>
            </p:extLst>
          </p:nvPr>
        </p:nvGraphicFramePr>
        <p:xfrm>
          <a:off x="5501900" y="4512120"/>
          <a:ext cx="3363133" cy="1067270"/>
        </p:xfrm>
        <a:graphic>
          <a:graphicData uri="http://schemas.openxmlformats.org/presentationml/2006/ole">
            <mc:AlternateContent xmlns:mc="http://schemas.openxmlformats.org/markup-compatibility/2006">
              <mc:Choice xmlns:v="urn:schemas-microsoft-com:vml" Requires="v">
                <p:oleObj spid="_x0000_s3079" name="Equation" r:id="rId6" imgW="1600200" imgH="482600" progId="Equation.3">
                  <p:embed/>
                </p:oleObj>
              </mc:Choice>
              <mc:Fallback>
                <p:oleObj name="Equation" r:id="rId6" imgW="1600200" imgH="482600" progId="Equation.3">
                  <p:embed/>
                  <p:pic>
                    <p:nvPicPr>
                      <p:cNvPr id="0" name="Object 1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1900" y="4512120"/>
                        <a:ext cx="3363133" cy="1067270"/>
                      </a:xfrm>
                      <a:prstGeom prst="rect">
                        <a:avLst/>
                      </a:prstGeom>
                      <a:noFill/>
                    </p:spPr>
                  </p:pic>
                </p:oleObj>
              </mc:Fallback>
            </mc:AlternateContent>
          </a:graphicData>
        </a:graphic>
      </p:graphicFrame>
    </p:spTree>
    <p:extLst>
      <p:ext uri="{BB962C8B-B14F-4D97-AF65-F5344CB8AC3E}">
        <p14:creationId xmlns:p14="http://schemas.microsoft.com/office/powerpoint/2010/main" val="91603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21</a:t>
            </a:fld>
            <a:endParaRPr lang="bg-BG" dirty="0"/>
          </a:p>
        </p:txBody>
      </p:sp>
      <mc:AlternateContent xmlns:mc="http://schemas.openxmlformats.org/markup-compatibility/2006" xmlns:a14="http://schemas.microsoft.com/office/drawing/2010/main">
        <mc:Choice Requires="a14">
          <p:sp>
            <p:nvSpPr>
              <p:cNvPr id="7" name="Rectangle 6"/>
              <p:cNvSpPr/>
              <p:nvPr/>
            </p:nvSpPr>
            <p:spPr>
              <a:xfrm>
                <a:off x="1808371" y="32084"/>
                <a:ext cx="10373294" cy="5590761"/>
              </a:xfrm>
              <a:prstGeom prst="rect">
                <a:avLst/>
              </a:prstGeom>
            </p:spPr>
            <p:txBody>
              <a:bodyPr wrap="square">
                <a:spAutoFit/>
              </a:bodyPr>
              <a:lstStyle/>
              <a:p>
                <a:pPr indent="536575" algn="just">
                  <a:lnSpc>
                    <a:spcPct val="114000"/>
                  </a:lnSpc>
                  <a:buClr>
                    <a:schemeClr val="accent1">
                      <a:lumMod val="75000"/>
                    </a:schemeClr>
                  </a:buClr>
                  <a:buSzPct val="85000"/>
                </a:pPr>
                <a:r>
                  <a:rPr lang="bg-BG" sz="2400" i="1" dirty="0"/>
                  <a:t>Четвърти случай (пропорционално-интегрален-диференциален закон за регулиране). </a:t>
                </a:r>
                <a:r>
                  <a:rPr lang="bg-BG" sz="2400" dirty="0"/>
                  <a:t>Ако е приета стратегия втория състезател да не изпреварва първия, то в случаите, когато първия състезател намалява скоростта си в отделни участъци, а в други я увеличава, втория трябва да прилага специална тактика.</a:t>
                </a:r>
              </a:p>
              <a:p>
                <a:pPr indent="536575" algn="just">
                  <a:lnSpc>
                    <a:spcPct val="114000"/>
                  </a:lnSpc>
                  <a:buClr>
                    <a:schemeClr val="accent1">
                      <a:lumMod val="75000"/>
                    </a:schemeClr>
                  </a:buClr>
                  <a:buSzPct val="85000"/>
                </a:pPr>
                <a:r>
                  <a:rPr lang="bg-BG" sz="2400" dirty="0"/>
                  <a:t>Целта е да се настигне първия състезател, но не и да се изпревари. Следователно вторият състезател трябва да развива скорост, която е пропорционална както на стойността на разсъгласуването (разстоянието между тях) и скоростта на изменение на това разсъгласуване, така и на ускорението на разсъгласуването. Математически зависимостта има следния вид:				 ,</a:t>
                </a:r>
              </a:p>
              <a:p>
                <a:pPr algn="just">
                  <a:lnSpc>
                    <a:spcPct val="114000"/>
                  </a:lnSpc>
                  <a:buClr>
                    <a:schemeClr val="accent1">
                      <a:lumMod val="75000"/>
                    </a:schemeClr>
                  </a:buClr>
                  <a:buSzPct val="85000"/>
                </a:pPr>
                <a:r>
                  <a:rPr lang="bg-BG" sz="2400" dirty="0"/>
                  <a:t>където</a:t>
                </a:r>
                <a:r>
                  <a:rPr lang="bg-BG" sz="2400" i="1" dirty="0">
                    <a:latin typeface="Cambria Math" panose="02040503050406030204" pitchFamily="18" charset="0"/>
                  </a:rPr>
                  <a:t> </a:t>
                </a:r>
                <a14:m>
                  <m:oMath xmlns:m="http://schemas.openxmlformats.org/officeDocument/2006/math">
                    <m:sSub>
                      <m:sSubPr>
                        <m:ctrlPr>
                          <a:rPr lang="bg-BG" sz="2400" i="1">
                            <a:latin typeface="Cambria Math"/>
                          </a:rPr>
                        </m:ctrlPr>
                      </m:sSubPr>
                      <m:e>
                        <m:r>
                          <a:rPr lang="en-US" sz="2400" i="1">
                            <a:latin typeface="Cambria Math" panose="02040503050406030204" pitchFamily="18" charset="0"/>
                          </a:rPr>
                          <m:t>𝑘</m:t>
                        </m:r>
                      </m:e>
                      <m:sub>
                        <m:r>
                          <a:rPr lang="bg-BG" sz="2400" b="0" i="1" smtClean="0">
                            <a:latin typeface="Cambria Math" panose="02040503050406030204" pitchFamily="18" charset="0"/>
                          </a:rPr>
                          <m:t>3</m:t>
                        </m:r>
                      </m:sub>
                    </m:sSub>
                  </m:oMath>
                </a14:m>
                <a:r>
                  <a:rPr lang="bg-BG" sz="2400" dirty="0"/>
                  <a:t> - на пропорционалност по ускорение.</a:t>
                </a:r>
              </a:p>
              <a:p>
                <a:pPr algn="just">
                  <a:spcBef>
                    <a:spcPts val="600"/>
                  </a:spcBef>
                  <a:buClr>
                    <a:schemeClr val="accent1">
                      <a:lumMod val="75000"/>
                    </a:schemeClr>
                  </a:buClr>
                  <a:buSzPct val="85000"/>
                </a:pPr>
                <a:r>
                  <a:rPr lang="bg-BG" sz="2400" dirty="0"/>
                  <a:t>След интегриране </a:t>
                </a:r>
              </a:p>
            </p:txBody>
          </p:sp>
        </mc:Choice>
        <mc:Fallback xmlns="">
          <p:sp>
            <p:nvSpPr>
              <p:cNvPr id="7" name="Rectangle 6"/>
              <p:cNvSpPr>
                <a:spLocks noRot="1" noChangeAspect="1" noMove="1" noResize="1" noEditPoints="1" noAdjustHandles="1" noChangeArrowheads="1" noChangeShapeType="1" noTextEdit="1"/>
              </p:cNvSpPr>
              <p:nvPr/>
            </p:nvSpPr>
            <p:spPr>
              <a:xfrm>
                <a:off x="1808371" y="32084"/>
                <a:ext cx="10373294" cy="5590761"/>
              </a:xfrm>
              <a:prstGeom prst="rect">
                <a:avLst/>
              </a:prstGeom>
              <a:blipFill>
                <a:blip r:embed="rId3"/>
                <a:stretch>
                  <a:fillRect l="-941" t="-654" r="-941" b="-1527"/>
                </a:stretch>
              </a:blipFill>
            </p:spPr>
            <p:txBody>
              <a:bodyPr/>
              <a:lstStyle/>
              <a:p>
                <a:r>
                  <a:rPr lang="en-US">
                    <a:noFill/>
                  </a:rPr>
                  <a:t> </a:t>
                </a:r>
              </a:p>
            </p:txBody>
          </p:sp>
        </mc:Fallback>
      </mc:AlternateContent>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5" name="Обект 4"/>
          <p:cNvGraphicFramePr>
            <a:graphicFrameLocks noChangeAspect="1"/>
          </p:cNvGraphicFramePr>
          <p:nvPr>
            <p:extLst>
              <p:ext uri="{D42A27DB-BD31-4B8C-83A1-F6EECF244321}">
                <p14:modId xmlns:p14="http://schemas.microsoft.com/office/powerpoint/2010/main" val="1325556491"/>
              </p:ext>
            </p:extLst>
          </p:nvPr>
        </p:nvGraphicFramePr>
        <p:xfrm>
          <a:off x="8549713" y="4151063"/>
          <a:ext cx="3271957" cy="674753"/>
        </p:xfrm>
        <a:graphic>
          <a:graphicData uri="http://schemas.openxmlformats.org/presentationml/2006/ole">
            <mc:AlternateContent xmlns:mc="http://schemas.openxmlformats.org/markup-compatibility/2006">
              <mc:Choice xmlns:v="urn:schemas-microsoft-com:vml" Requires="v">
                <p:oleObj spid="_x0000_s4102" name="Equation" r:id="rId4" imgW="1778000" imgH="419100" progId="Equation.3">
                  <p:embed/>
                </p:oleObj>
              </mc:Choice>
              <mc:Fallback>
                <p:oleObj name="Equation" r:id="rId4" imgW="1778000" imgH="4191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9713" y="4151063"/>
                        <a:ext cx="3271957" cy="674753"/>
                      </a:xfrm>
                      <a:prstGeom prst="rect">
                        <a:avLst/>
                      </a:prstGeom>
                      <a:noFill/>
                    </p:spPr>
                  </p:pic>
                </p:oleObj>
              </mc:Fallback>
            </mc:AlternateContent>
          </a:graphicData>
        </a:graphic>
      </p:graphicFrame>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8" name="Обект 7"/>
          <p:cNvGraphicFramePr>
            <a:graphicFrameLocks noChangeAspect="1"/>
          </p:cNvGraphicFramePr>
          <p:nvPr>
            <p:extLst>
              <p:ext uri="{D42A27DB-BD31-4B8C-83A1-F6EECF244321}">
                <p14:modId xmlns:p14="http://schemas.microsoft.com/office/powerpoint/2010/main" val="3986357655"/>
              </p:ext>
            </p:extLst>
          </p:nvPr>
        </p:nvGraphicFramePr>
        <p:xfrm>
          <a:off x="4494510" y="5005953"/>
          <a:ext cx="3580108" cy="764885"/>
        </p:xfrm>
        <a:graphic>
          <a:graphicData uri="http://schemas.openxmlformats.org/presentationml/2006/ole">
            <mc:AlternateContent xmlns:mc="http://schemas.openxmlformats.org/markup-compatibility/2006">
              <mc:Choice xmlns:v="urn:schemas-microsoft-com:vml" Requires="v">
                <p:oleObj spid="_x0000_s4103" name="Equation" r:id="rId6" imgW="2108200" imgH="482600" progId="Equation.3">
                  <p:embed/>
                </p:oleObj>
              </mc:Choice>
              <mc:Fallback>
                <p:oleObj name="Equation" r:id="rId6" imgW="2108200" imgH="482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4510" y="5005953"/>
                        <a:ext cx="3580108" cy="764885"/>
                      </a:xfrm>
                      <a:prstGeom prst="rect">
                        <a:avLst/>
                      </a:prstGeom>
                      <a:noFill/>
                    </p:spPr>
                  </p:pic>
                </p:oleObj>
              </mc:Fallback>
            </mc:AlternateContent>
          </a:graphicData>
        </a:graphic>
      </p:graphicFrame>
      <p:sp>
        <p:nvSpPr>
          <p:cNvPr id="9" name="Правоъгълник 8"/>
          <p:cNvSpPr/>
          <p:nvPr/>
        </p:nvSpPr>
        <p:spPr>
          <a:xfrm>
            <a:off x="10335" y="5574766"/>
            <a:ext cx="12181665" cy="1320105"/>
          </a:xfrm>
          <a:prstGeom prst="rect">
            <a:avLst/>
          </a:prstGeom>
        </p:spPr>
        <p:txBody>
          <a:bodyPr wrap="square">
            <a:spAutoFit/>
          </a:bodyPr>
          <a:lstStyle/>
          <a:p>
            <a:pPr indent="536575" algn="just">
              <a:lnSpc>
                <a:spcPct val="114000"/>
              </a:lnSpc>
              <a:buClr>
                <a:schemeClr val="accent1">
                  <a:lumMod val="75000"/>
                </a:schemeClr>
              </a:buClr>
              <a:buSzPct val="85000"/>
            </a:pPr>
            <a:r>
              <a:rPr lang="bg-BG" sz="2400" dirty="0"/>
              <a:t>Тези четири случая представляват и четирите основни закона за регулиране, прилагани в практиката. Готовите регулатори могат да бъдат пуснати в експлоатация при подходяща настройка на трите коефициента.</a:t>
            </a:r>
          </a:p>
        </p:txBody>
      </p:sp>
    </p:spTree>
    <p:extLst>
      <p:ext uri="{BB962C8B-B14F-4D97-AF65-F5344CB8AC3E}">
        <p14:creationId xmlns:p14="http://schemas.microsoft.com/office/powerpoint/2010/main" val="1170446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22</a:t>
            </a:fld>
            <a:endParaRPr lang="bg-BG" dirty="0"/>
          </a:p>
        </p:txBody>
      </p:sp>
      <p:sp>
        <p:nvSpPr>
          <p:cNvPr id="2" name="Rectangle 1"/>
          <p:cNvSpPr/>
          <p:nvPr/>
        </p:nvSpPr>
        <p:spPr>
          <a:xfrm>
            <a:off x="1906292" y="45161"/>
            <a:ext cx="10285708" cy="6814173"/>
          </a:xfrm>
          <a:prstGeom prst="rect">
            <a:avLst/>
          </a:prstGeom>
        </p:spPr>
        <p:txBody>
          <a:bodyPr wrap="square">
            <a:spAutoFit/>
          </a:bodyPr>
          <a:lstStyle/>
          <a:p>
            <a:pPr indent="536575" algn="ctr">
              <a:lnSpc>
                <a:spcPct val="130000"/>
              </a:lnSpc>
              <a:buClr>
                <a:schemeClr val="accent1">
                  <a:lumMod val="75000"/>
                </a:schemeClr>
              </a:buClr>
              <a:buSzPct val="85000"/>
              <a:defRPr/>
            </a:pPr>
            <a:r>
              <a:rPr lang="bg-BG" sz="2400" b="1" i="1" dirty="0"/>
              <a:t>Математическо описание на функционалните звена в системите за автоматично регулиране</a:t>
            </a:r>
          </a:p>
          <a:p>
            <a:pPr indent="536575" algn="just">
              <a:lnSpc>
                <a:spcPct val="130000"/>
              </a:lnSpc>
              <a:buClr>
                <a:schemeClr val="accent1">
                  <a:lumMod val="75000"/>
                </a:schemeClr>
              </a:buClr>
              <a:buSzPct val="85000"/>
            </a:pPr>
            <a:r>
              <a:rPr lang="bg-BG" sz="2400" dirty="0"/>
              <a:t>Елементите в системите за автоматично регулиране са свързани помежду си. Те могат да бъдат разчленени на съставните им части по различни начини. Най-често това става по функционалното им предназначение. Системите за автоматично управление са динамични системи и свойствата на тези системи се определят от динамичните свойства на входящите в тях елементи. Следователно необходима е обща методика за изследване на системите за автоматично регулиране. Това означава да се сведе разнообразието от елементи до елементарни (типови) динамични звена. Ако за описание на поведението на една система в установен режим (статика) са необходими алгебрични уравнения, то в динамичен режим математическото описание ще съдържа диференциални уравнения (обикновени и частни).</a:t>
            </a:r>
          </a:p>
        </p:txBody>
      </p:sp>
      <p:sp>
        <p:nvSpPr>
          <p:cNvPr id="7"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3174392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23</a:t>
            </a:fld>
            <a:endParaRPr lang="bg-BG" dirty="0"/>
          </a:p>
        </p:txBody>
      </p:sp>
      <p:sp>
        <p:nvSpPr>
          <p:cNvPr id="13" name="Rectangle 12"/>
          <p:cNvSpPr/>
          <p:nvPr/>
        </p:nvSpPr>
        <p:spPr>
          <a:xfrm>
            <a:off x="2171485" y="457200"/>
            <a:ext cx="9802905" cy="5853910"/>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t>Диференциалните уравнения на звената в системите за автоматично регулиране са уравнения на материални системи с една степен на свобода и са най-много от втори ред т.е. диференциалните уравнения, с които се описва динамиката на елементарните динамични звена, са от нулев, първи и максимално от втори ред.</a:t>
            </a:r>
          </a:p>
          <a:p>
            <a:pPr indent="536575" algn="just">
              <a:lnSpc>
                <a:spcPct val="130000"/>
              </a:lnSpc>
              <a:buClr>
                <a:schemeClr val="accent1">
                  <a:lumMod val="75000"/>
                </a:schemeClr>
              </a:buClr>
              <a:buSzPct val="85000"/>
            </a:pPr>
            <a:r>
              <a:rPr lang="bg-BG" sz="2400" dirty="0"/>
              <a:t>Физически величини, характеризиращи външните въздействия, които се прилагат към динамичните звена, се наричат входни величини, а величините, които характеризират въздействието на динамичните звена върху следващите след тях звена – изходни величини. В зависимост от свойствата на динамичните звена те могат да се делят на две основни групи: линейни и нелинейни. </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6" name="Rectangle 3"/>
          <p:cNvSpPr>
            <a:spLocks noChangeArrowheads="1"/>
          </p:cNvSpPr>
          <p:nvPr/>
        </p:nvSpPr>
        <p:spPr bwMode="auto">
          <a:xfrm>
            <a:off x="0" y="228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bg-BG" altLang="bg-BG" sz="1100" b="0" i="0" u="none" strike="noStrike" cap="none" normalizeH="0" baseline="0" dirty="0">
                <a:ln>
                  <a:noFill/>
                </a:ln>
                <a:solidFill>
                  <a:schemeClr val="tx1"/>
                </a:solidFill>
                <a:effectLst/>
              </a:rPr>
              <a:t> </a:t>
            </a:r>
            <a:endParaRPr kumimoji="0" lang="bg-BG" altLang="bg-BG" sz="1800" b="0" i="0" u="none" strike="noStrike" cap="none" normalizeH="0" baseline="0" dirty="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1593138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24</a:t>
            </a:fld>
            <a:endParaRPr lang="bg-BG" dirty="0"/>
          </a:p>
        </p:txBody>
      </p:sp>
      <p:sp>
        <p:nvSpPr>
          <p:cNvPr id="7" name="Rectangle 6"/>
          <p:cNvSpPr/>
          <p:nvPr/>
        </p:nvSpPr>
        <p:spPr>
          <a:xfrm>
            <a:off x="2032000" y="43827"/>
            <a:ext cx="10005325" cy="6814173"/>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t>Линейни динамични звена се наричат такива звена, динамичните свойства на които не зависят от стойностите на входните величини. Техните параметри не зависят и от процесите, които протичат в тях. Характерна особеност на линейните динамични звена е възможността да се прилага принципът на суперпозицията при изследване на процесите в тях. Принципът на суперпозицията се свежда до това, че сумарният ефект от въздействието на няколко входни величини е равен на сумата от ефектите, предизвикани поотделно от всяка величина.</a:t>
            </a:r>
          </a:p>
          <a:p>
            <a:pPr indent="536575" algn="just">
              <a:lnSpc>
                <a:spcPct val="130000"/>
              </a:lnSpc>
              <a:buClr>
                <a:schemeClr val="accent1">
                  <a:lumMod val="75000"/>
                </a:schemeClr>
              </a:buClr>
              <a:buSzPct val="85000"/>
            </a:pPr>
            <a:r>
              <a:rPr lang="bg-BG" sz="2400" dirty="0"/>
              <a:t>Нелинейни динамични звена се наричат такива звена, динамичните свойства на които зависят от стойностите на входните величини. Параметрите им зависят от процесите, които протичат в тях. В нелинейните звена описанието е с нелинейни диференциални уравнения.</a:t>
            </a:r>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Tree>
    <p:extLst>
      <p:ext uri="{BB962C8B-B14F-4D97-AF65-F5344CB8AC3E}">
        <p14:creationId xmlns:p14="http://schemas.microsoft.com/office/powerpoint/2010/main" val="393776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25</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5" name="Rectangle 4"/>
          <p:cNvSpPr/>
          <p:nvPr/>
        </p:nvSpPr>
        <p:spPr>
          <a:xfrm>
            <a:off x="2032000" y="84463"/>
            <a:ext cx="9950734" cy="4413516"/>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t>Всяко елементарно динамично звено се характеризира със специфичен преходен процес, който възниква при изменение на въздействията, приложени към неговия вход. Характерът на изменението на изходната величина зависи както от началното състояние на звеното и неговите вътрешни свойства, така и от характера на изменение на входната величина във времето. Следователно уравнението на всяко линейно динамично звено, което описва преходния процес, може да се представи като функционална зависимост между изходната, входната величина и времето:</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6" name="Обект 5"/>
          <p:cNvGraphicFramePr>
            <a:graphicFrameLocks noChangeAspect="1"/>
          </p:cNvGraphicFramePr>
          <p:nvPr>
            <p:extLst>
              <p:ext uri="{D42A27DB-BD31-4B8C-83A1-F6EECF244321}">
                <p14:modId xmlns:p14="http://schemas.microsoft.com/office/powerpoint/2010/main" val="1888533778"/>
              </p:ext>
            </p:extLst>
          </p:nvPr>
        </p:nvGraphicFramePr>
        <p:xfrm>
          <a:off x="10599436" y="4027576"/>
          <a:ext cx="1383298" cy="341756"/>
        </p:xfrm>
        <a:graphic>
          <a:graphicData uri="http://schemas.openxmlformats.org/presentationml/2006/ole">
            <mc:AlternateContent xmlns:mc="http://schemas.openxmlformats.org/markup-compatibility/2006">
              <mc:Choice xmlns:v="urn:schemas-microsoft-com:vml" Requires="v">
                <p:oleObj spid="_x0000_s5128" name="Equation" r:id="rId3" imgW="812447" imgH="203112" progId="Equation.3">
                  <p:embed/>
                </p:oleObj>
              </mc:Choice>
              <mc:Fallback>
                <p:oleObj name="Equation" r:id="rId3" imgW="812447" imgH="203112"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99436" y="4027576"/>
                        <a:ext cx="1383298" cy="341756"/>
                      </a:xfrm>
                      <a:prstGeom prst="rect">
                        <a:avLst/>
                      </a:prstGeom>
                      <a:noFill/>
                    </p:spPr>
                  </p:pic>
                </p:oleObj>
              </mc:Fallback>
            </mc:AlternateContent>
          </a:graphicData>
        </a:graphic>
      </p:graphicFrame>
      <p:sp>
        <p:nvSpPr>
          <p:cNvPr id="7" name="Правоъгълник 6"/>
          <p:cNvSpPr/>
          <p:nvPr/>
        </p:nvSpPr>
        <p:spPr>
          <a:xfrm>
            <a:off x="0" y="4367373"/>
            <a:ext cx="11982734" cy="2166747"/>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t>В най-общия случай диференциалното уравнение на връзката между изходната и входната величина за всяко линейно динамично звено може да се запише в следния вид:</a:t>
            </a:r>
          </a:p>
          <a:p>
            <a:pPr algn="just">
              <a:lnSpc>
                <a:spcPct val="130000"/>
              </a:lnSpc>
              <a:spcBef>
                <a:spcPts val="1200"/>
              </a:spcBef>
              <a:buClr>
                <a:schemeClr val="accent1">
                  <a:lumMod val="75000"/>
                </a:schemeClr>
              </a:buClr>
              <a:buSzPct val="85000"/>
            </a:pPr>
            <a:r>
              <a:rPr lang="bg-BG" sz="2400" dirty="0"/>
              <a:t>или с Лапласово преобразувание: </a:t>
            </a:r>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9" name="Обект 8"/>
          <p:cNvGraphicFramePr>
            <a:graphicFrameLocks noChangeAspect="1"/>
          </p:cNvGraphicFramePr>
          <p:nvPr>
            <p:extLst>
              <p:ext uri="{D42A27DB-BD31-4B8C-83A1-F6EECF244321}">
                <p14:modId xmlns:p14="http://schemas.microsoft.com/office/powerpoint/2010/main" val="2295966513"/>
              </p:ext>
            </p:extLst>
          </p:nvPr>
        </p:nvGraphicFramePr>
        <p:xfrm>
          <a:off x="2032000" y="5245694"/>
          <a:ext cx="4993927" cy="804882"/>
        </p:xfrm>
        <a:graphic>
          <a:graphicData uri="http://schemas.openxmlformats.org/presentationml/2006/ole">
            <mc:AlternateContent xmlns:mc="http://schemas.openxmlformats.org/markup-compatibility/2006">
              <mc:Choice xmlns:v="urn:schemas-microsoft-com:vml" Requires="v">
                <p:oleObj spid="_x0000_s5129" name="Equation" r:id="rId5" imgW="2603500" imgH="419100" progId="Equation.3">
                  <p:embed/>
                </p:oleObj>
              </mc:Choice>
              <mc:Fallback>
                <p:oleObj name="Equation" r:id="rId5" imgW="2603500" imgH="419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000" y="5245694"/>
                        <a:ext cx="4993927" cy="804882"/>
                      </a:xfrm>
                      <a:prstGeom prst="rect">
                        <a:avLst/>
                      </a:prstGeom>
                      <a:noFill/>
                    </p:spPr>
                  </p:pic>
                </p:oleObj>
              </mc:Fallback>
            </mc:AlternateContent>
          </a:graphicData>
        </a:graphic>
      </p:graphicFrame>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1" name="Обект 10"/>
          <p:cNvGraphicFramePr>
            <a:graphicFrameLocks noChangeAspect="1"/>
          </p:cNvGraphicFramePr>
          <p:nvPr>
            <p:extLst>
              <p:ext uri="{D42A27DB-BD31-4B8C-83A1-F6EECF244321}">
                <p14:modId xmlns:p14="http://schemas.microsoft.com/office/powerpoint/2010/main" val="3575402198"/>
              </p:ext>
            </p:extLst>
          </p:nvPr>
        </p:nvGraphicFramePr>
        <p:xfrm>
          <a:off x="4839180" y="6028877"/>
          <a:ext cx="6238993" cy="526942"/>
        </p:xfrm>
        <a:graphic>
          <a:graphicData uri="http://schemas.openxmlformats.org/presentationml/2006/ole">
            <mc:AlternateContent xmlns:mc="http://schemas.openxmlformats.org/markup-compatibility/2006">
              <mc:Choice xmlns:v="urn:schemas-microsoft-com:vml" Requires="v">
                <p:oleObj spid="_x0000_s5130" name="Equation" r:id="rId7" imgW="2819400" imgH="241300" progId="Equation.3">
                  <p:embed/>
                </p:oleObj>
              </mc:Choice>
              <mc:Fallback>
                <p:oleObj name="Equation" r:id="rId7" imgW="2819400" imgH="2413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9180" y="6028877"/>
                        <a:ext cx="6238993" cy="526942"/>
                      </a:xfrm>
                      <a:prstGeom prst="rect">
                        <a:avLst/>
                      </a:prstGeom>
                      <a:noFill/>
                    </p:spPr>
                  </p:pic>
                </p:oleObj>
              </mc:Fallback>
            </mc:AlternateContent>
          </a:graphicData>
        </a:graphic>
      </p:graphicFrame>
    </p:spTree>
    <p:extLst>
      <p:ext uri="{BB962C8B-B14F-4D97-AF65-F5344CB8AC3E}">
        <p14:creationId xmlns:p14="http://schemas.microsoft.com/office/powerpoint/2010/main" val="1939276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26</a:t>
            </a:fld>
            <a:endParaRPr lang="bg-BG" dirty="0"/>
          </a:p>
        </p:txBody>
      </p:sp>
      <p:sp>
        <p:nvSpPr>
          <p:cNvPr id="3" name="Rectangle 2"/>
          <p:cNvSpPr/>
          <p:nvPr/>
        </p:nvSpPr>
        <p:spPr>
          <a:xfrm>
            <a:off x="2031999" y="142476"/>
            <a:ext cx="10010183" cy="6814173"/>
          </a:xfrm>
          <a:prstGeom prst="rect">
            <a:avLst/>
          </a:prstGeom>
        </p:spPr>
        <p:txBody>
          <a:bodyPr wrap="square">
            <a:spAutoFit/>
          </a:bodyPr>
          <a:lstStyle/>
          <a:p>
            <a:pPr indent="536575" algn="just">
              <a:lnSpc>
                <a:spcPct val="130000"/>
              </a:lnSpc>
              <a:buClr>
                <a:schemeClr val="accent1">
                  <a:lumMod val="75000"/>
                </a:schemeClr>
              </a:buClr>
              <a:buSzPct val="85000"/>
            </a:pPr>
            <a:r>
              <a:rPr lang="bg-BG" sz="2400" dirty="0"/>
              <a:t>Математически горното уравнение обхваща голямо разнообразие от устройства и вериги. В зависимост от динамичните свойства на звената и вида на смущаващите въздействия лявата и дясната част на това уравнение се израждат в изрази от първи и нулев ред.</a:t>
            </a:r>
          </a:p>
          <a:p>
            <a:pPr indent="536575" algn="just">
              <a:lnSpc>
                <a:spcPct val="130000"/>
              </a:lnSpc>
              <a:buClr>
                <a:schemeClr val="accent1">
                  <a:lumMod val="75000"/>
                </a:schemeClr>
              </a:buClr>
              <a:buSzPct val="85000"/>
            </a:pPr>
            <a:r>
              <a:rPr lang="bg-BG" sz="2400" dirty="0"/>
              <a:t>В теорията на автоматичното регулиране се разглеждат следните елементарни динамични звена: пропорционално, апериодично от първи ред, интегриращо, диференциращо, колебателно, консервативно, апериодично от втори ред и звено с чисто закъснение.</a:t>
            </a:r>
          </a:p>
          <a:p>
            <a:pPr algn="just">
              <a:lnSpc>
                <a:spcPct val="130000"/>
              </a:lnSpc>
              <a:buClr>
                <a:schemeClr val="accent1">
                  <a:lumMod val="75000"/>
                </a:schemeClr>
              </a:buClr>
              <a:buSzPct val="85000"/>
            </a:pPr>
            <a:r>
              <a:rPr lang="bg-BG" sz="2400" b="1" i="1" dirty="0"/>
              <a:t>Предавателна функция</a:t>
            </a:r>
          </a:p>
          <a:p>
            <a:pPr indent="536575" algn="just">
              <a:lnSpc>
                <a:spcPct val="130000"/>
              </a:lnSpc>
              <a:buClr>
                <a:schemeClr val="accent1">
                  <a:lumMod val="75000"/>
                </a:schemeClr>
              </a:buClr>
              <a:buSzPct val="85000"/>
            </a:pPr>
            <a:r>
              <a:rPr lang="bg-BG" sz="2400" dirty="0"/>
              <a:t>Под понятието предавателна функция на звено  или система ще се разбира отношението на операторните изображения по Лаплас на изходната и входната величина при нулеви начални условия, т.е. системата е в покой в началния момент. </a:t>
            </a:r>
          </a:p>
          <a:p>
            <a:pPr indent="536575" algn="just">
              <a:lnSpc>
                <a:spcPct val="130000"/>
              </a:lnSpc>
              <a:buClr>
                <a:schemeClr val="accent1">
                  <a:lumMod val="75000"/>
                </a:schemeClr>
              </a:buClr>
              <a:buSzPct val="85000"/>
            </a:pPr>
            <a:endParaRPr lang="bg-BG" sz="2400"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mc:AlternateContent xmlns:mc="http://schemas.openxmlformats.org/markup-compatibility/2006" xmlns:a14="http://schemas.microsoft.com/office/drawing/2010/main">
        <mc:Choice Requires="a14">
          <p:sp>
            <p:nvSpPr>
              <p:cNvPr id="5" name="Обект 4"/>
              <p:cNvSpPr txBox="1"/>
              <p:nvPr/>
            </p:nvSpPr>
            <p:spPr bwMode="auto">
              <a:xfrm>
                <a:off x="8059738" y="5788025"/>
                <a:ext cx="3041650" cy="10699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bg-BG" i="1" smtClean="0">
                          <a:solidFill>
                            <a:srgbClr val="000000"/>
                          </a:solidFill>
                          <a:latin typeface="Cambria Math" panose="02040503050406030204" pitchFamily="18" charset="0"/>
                        </a:rPr>
                        <m:t>𝑊</m:t>
                      </m:r>
                      <m:r>
                        <a:rPr lang="bg-BG" i="1" smtClean="0">
                          <a:solidFill>
                            <a:srgbClr val="000000"/>
                          </a:solidFill>
                          <a:latin typeface="Cambria Math" panose="02040503050406030204" pitchFamily="18" charset="0"/>
                        </a:rPr>
                        <m:t>(</m:t>
                      </m:r>
                      <m:r>
                        <a:rPr lang="bg-BG" i="1" smtClean="0">
                          <a:solidFill>
                            <a:srgbClr val="000000"/>
                          </a:solidFill>
                          <a:latin typeface="Cambria Math" panose="02040503050406030204" pitchFamily="18" charset="0"/>
                        </a:rPr>
                        <m:t>𝑝</m:t>
                      </m:r>
                      <m:r>
                        <a:rPr lang="bg-BG" i="1" smtClean="0">
                          <a:solidFill>
                            <a:srgbClr val="000000"/>
                          </a:solidFill>
                          <a:latin typeface="Cambria Math" panose="02040503050406030204" pitchFamily="18" charset="0"/>
                        </a:rPr>
                        <m:t>)=</m:t>
                      </m:r>
                      <m:f>
                        <m:fPr>
                          <m:ctrlPr>
                            <a:rPr lang="bg-BG" i="1">
                              <a:solidFill>
                                <a:srgbClr val="000000"/>
                              </a:solidFill>
                              <a:latin typeface="Cambria Math"/>
                            </a:rPr>
                          </m:ctrlPr>
                        </m:fPr>
                        <m:num>
                          <m:r>
                            <a:rPr lang="en-GB" b="0" i="1" smtClean="0">
                              <a:solidFill>
                                <a:srgbClr val="000000"/>
                              </a:solidFill>
                              <a:latin typeface="Cambria Math" panose="02040503050406030204" pitchFamily="18" charset="0"/>
                            </a:rPr>
                            <m:t>𝑌</m:t>
                          </m:r>
                          <m:r>
                            <a:rPr lang="bg-BG" i="1">
                              <a:solidFill>
                                <a:srgbClr val="000000"/>
                              </a:solidFill>
                              <a:latin typeface="Cambria Math" panose="02040503050406030204" pitchFamily="18" charset="0"/>
                            </a:rPr>
                            <m:t>(</m:t>
                          </m:r>
                          <m:r>
                            <a:rPr lang="bg-BG" i="1">
                              <a:solidFill>
                                <a:srgbClr val="000000"/>
                              </a:solidFill>
                              <a:latin typeface="Cambria Math" panose="02040503050406030204" pitchFamily="18" charset="0"/>
                            </a:rPr>
                            <m:t>𝑝</m:t>
                          </m:r>
                          <m:r>
                            <a:rPr lang="bg-BG" i="1">
                              <a:solidFill>
                                <a:srgbClr val="000000"/>
                              </a:solidFill>
                              <a:latin typeface="Cambria Math" panose="02040503050406030204" pitchFamily="18" charset="0"/>
                            </a:rPr>
                            <m:t>)</m:t>
                          </m:r>
                        </m:num>
                        <m:den>
                          <m:r>
                            <a:rPr lang="en-GB" b="0" i="1" smtClean="0">
                              <a:solidFill>
                                <a:srgbClr val="000000"/>
                              </a:solidFill>
                              <a:latin typeface="Cambria Math" panose="02040503050406030204" pitchFamily="18" charset="0"/>
                            </a:rPr>
                            <m:t>𝑋</m:t>
                          </m:r>
                          <m:r>
                            <a:rPr lang="bg-BG" i="1">
                              <a:solidFill>
                                <a:srgbClr val="000000"/>
                              </a:solidFill>
                              <a:latin typeface="Cambria Math" panose="02040503050406030204" pitchFamily="18" charset="0"/>
                            </a:rPr>
                            <m:t>(</m:t>
                          </m:r>
                          <m:r>
                            <a:rPr lang="bg-BG" i="1">
                              <a:solidFill>
                                <a:srgbClr val="000000"/>
                              </a:solidFill>
                              <a:latin typeface="Cambria Math" panose="02040503050406030204" pitchFamily="18" charset="0"/>
                            </a:rPr>
                            <m:t>𝑝</m:t>
                          </m:r>
                          <m:r>
                            <a:rPr lang="bg-BG" i="1">
                              <a:solidFill>
                                <a:srgbClr val="000000"/>
                              </a:solidFill>
                              <a:latin typeface="Cambria Math" panose="02040503050406030204" pitchFamily="18" charset="0"/>
                            </a:rPr>
                            <m:t>)</m:t>
                          </m:r>
                        </m:den>
                      </m:f>
                    </m:oMath>
                  </m:oMathPara>
                </a14:m>
                <a:endParaRPr lang="bg-BG" dirty="0"/>
              </a:p>
            </p:txBody>
          </p:sp>
        </mc:Choice>
        <mc:Fallback xmlns="">
          <p:sp>
            <p:nvSpPr>
              <p:cNvPr id="5" name="Обект 4"/>
              <p:cNvSpPr txBox="1">
                <a:spLocks noRot="1" noChangeAspect="1" noMove="1" noResize="1" noEditPoints="1" noAdjustHandles="1" noChangeArrowheads="1" noChangeShapeType="1" noTextEdit="1"/>
              </p:cNvSpPr>
              <p:nvPr/>
            </p:nvSpPr>
            <p:spPr bwMode="auto">
              <a:xfrm>
                <a:off x="8059738" y="5788025"/>
                <a:ext cx="3041650" cy="1069975"/>
              </a:xfrm>
              <a:prstGeom prst="rect">
                <a:avLst/>
              </a:prstGeom>
              <a:blipFill>
                <a:blip r:embed="rId2"/>
                <a:stretch>
                  <a:fillRect/>
                </a:stretch>
              </a:blipFill>
            </p:spPr>
            <p:txBody>
              <a:bodyPr/>
              <a:lstStyle/>
              <a:p>
                <a:r>
                  <a:rPr lang="bg-BG">
                    <a:noFill/>
                  </a:rPr>
                  <a:t> </a:t>
                </a:r>
              </a:p>
            </p:txBody>
          </p:sp>
        </mc:Fallback>
      </mc:AlternateContent>
    </p:spTree>
    <p:extLst>
      <p:ext uri="{BB962C8B-B14F-4D97-AF65-F5344CB8AC3E}">
        <p14:creationId xmlns:p14="http://schemas.microsoft.com/office/powerpoint/2010/main" val="3470853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27</a:t>
            </a:fld>
            <a:endParaRPr lang="bg-BG" dirty="0"/>
          </a:p>
        </p:txBody>
      </p:sp>
      <p:sp>
        <p:nvSpPr>
          <p:cNvPr id="19" name="Rectangle 1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47"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49"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51"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mc:AlternateContent xmlns:mc="http://schemas.openxmlformats.org/markup-compatibility/2006" xmlns:a14="http://schemas.microsoft.com/office/drawing/2010/main">
        <mc:Choice Requires="a14">
          <p:sp>
            <p:nvSpPr>
              <p:cNvPr id="2" name="Правоъгълник 1"/>
              <p:cNvSpPr/>
              <p:nvPr/>
            </p:nvSpPr>
            <p:spPr>
              <a:xfrm>
                <a:off x="2031999" y="31780"/>
                <a:ext cx="10113507" cy="5369868"/>
              </a:xfrm>
              <a:prstGeom prst="rect">
                <a:avLst/>
              </a:prstGeom>
            </p:spPr>
            <p:txBody>
              <a:bodyPr wrap="square">
                <a:spAutoFit/>
              </a:bodyPr>
              <a:lstStyle/>
              <a:p>
                <a:pPr indent="536575" algn="just">
                  <a:lnSpc>
                    <a:spcPct val="120000"/>
                  </a:lnSpc>
                  <a:spcAft>
                    <a:spcPts val="0"/>
                  </a:spcAft>
                  <a:buClr>
                    <a:schemeClr val="accent1">
                      <a:lumMod val="75000"/>
                    </a:schemeClr>
                  </a:buClr>
                  <a:buSzPct val="85000"/>
                </a:pPr>
                <a:r>
                  <a:rPr lang="bg-BG" sz="2400" dirty="0"/>
                  <a:t>Предавателната функция не зависи от вида на входния сигнал. Нейният знаменател, приравнен на нула, дава характеристичното уравнение на звеното. Използването на понятието „предавателна функция” е много удобно при анализа на структурата на системите за автоматично регулиране и получаване на общото им диференциално уравнение (модел).</a:t>
                </a:r>
              </a:p>
              <a:p>
                <a:pPr algn="just">
                  <a:lnSpc>
                    <a:spcPct val="120000"/>
                  </a:lnSpc>
                  <a:spcAft>
                    <a:spcPts val="0"/>
                  </a:spcAft>
                  <a:buClr>
                    <a:schemeClr val="accent1">
                      <a:lumMod val="75000"/>
                    </a:schemeClr>
                  </a:buClr>
                  <a:buSzPct val="85000"/>
                </a:pPr>
                <a:r>
                  <a:rPr lang="bg-BG" sz="2400" b="1" i="1" dirty="0"/>
                  <a:t>Пропорционално звено</a:t>
                </a:r>
              </a:p>
              <a:p>
                <a:pPr indent="536575" algn="just">
                  <a:lnSpc>
                    <a:spcPct val="120000"/>
                  </a:lnSpc>
                  <a:buClr>
                    <a:schemeClr val="accent1">
                      <a:lumMod val="75000"/>
                    </a:schemeClr>
                  </a:buClr>
                  <a:buSzPct val="85000"/>
                </a:pPr>
                <a:r>
                  <a:rPr lang="bg-BG" sz="2400" dirty="0"/>
                  <a:t>Математическият модел на пропорционалното звено се дава със следната зависимост:</a:t>
                </a:r>
              </a:p>
              <a:p>
                <a:pPr>
                  <a:lnSpc>
                    <a:spcPct val="120000"/>
                  </a:lnSpc>
                </a:pPr>
                <a:r>
                  <a:rPr lang="bg-BG" sz="2400" dirty="0"/>
                  <a:t>където </a:t>
                </a:r>
                <a14:m>
                  <m:oMath xmlns:m="http://schemas.openxmlformats.org/officeDocument/2006/math">
                    <m:r>
                      <a:rPr lang="en-US" sz="2400" dirty="0">
                        <a:latin typeface="Cambria Math" panose="02040503050406030204" pitchFamily="18" charset="0"/>
                      </a:rPr>
                      <m:t>𝑦</m:t>
                    </m:r>
                  </m:oMath>
                </a14:m>
                <a:r>
                  <a:rPr lang="bg-BG" sz="2400" dirty="0"/>
                  <a:t> и </a:t>
                </a:r>
                <a14:m>
                  <m:oMath xmlns:m="http://schemas.openxmlformats.org/officeDocument/2006/math">
                    <m:r>
                      <a:rPr lang="en-US" sz="2400" dirty="0">
                        <a:latin typeface="Cambria Math" panose="02040503050406030204" pitchFamily="18" charset="0"/>
                      </a:rPr>
                      <m:t>𝑥</m:t>
                    </m:r>
                  </m:oMath>
                </a14:m>
                <a:r>
                  <a:rPr lang="bg-BG" sz="2400" dirty="0"/>
                  <a:t> са съответно входната и изходната величини на пропорционалното звено</a:t>
                </a:r>
                <a:r>
                  <a:rPr lang="en-US" sz="2400" dirty="0">
                    <a:latin typeface="Cambria" panose="02040503050406030204" pitchFamily="18" charset="0"/>
                    <a:ea typeface="Cambria" panose="02040503050406030204" pitchFamily="18" charset="0"/>
                  </a:rPr>
                  <a:t>, a </a:t>
                </a:r>
                <a:r>
                  <a:rPr lang="bg-BG" sz="2400" dirty="0">
                    <a:latin typeface="Cambria" panose="02040503050406030204" pitchFamily="18" charset="0"/>
                    <a:ea typeface="Cambria" panose="02040503050406030204" pitchFamily="18" charset="0"/>
                  </a:rPr>
                  <a:t> </a:t>
                </a:r>
                <a14:m>
                  <m:oMath xmlns:m="http://schemas.openxmlformats.org/officeDocument/2006/math">
                    <m:r>
                      <a:rPr lang="en-US" sz="2400" dirty="0">
                        <a:latin typeface="Cambria Math" panose="02040503050406030204" pitchFamily="18" charset="0"/>
                      </a:rPr>
                      <m:t>𝑘</m:t>
                    </m:r>
                  </m:oMath>
                </a14:m>
                <a:r>
                  <a:rPr lang="en-US" sz="2400" dirty="0"/>
                  <a:t> - </a:t>
                </a:r>
                <a:r>
                  <a:rPr lang="bg-BG" sz="2400" dirty="0"/>
                  <a:t>е коефициент на пропорционалност.</a:t>
                </a:r>
              </a:p>
              <a:p>
                <a:pPr>
                  <a:lnSpc>
                    <a:spcPct val="120000"/>
                  </a:lnSpc>
                </a:pPr>
                <a:r>
                  <a:rPr lang="bg-BG" sz="2400" dirty="0"/>
                  <a:t>Предавателната функция на пропорционалното звено е: </a:t>
                </a:r>
              </a:p>
            </p:txBody>
          </p:sp>
        </mc:Choice>
        <mc:Fallback xmlns="">
          <p:sp>
            <p:nvSpPr>
              <p:cNvPr id="2" name="Правоъгълник 1"/>
              <p:cNvSpPr>
                <a:spLocks noRot="1" noChangeAspect="1" noMove="1" noResize="1" noEditPoints="1" noAdjustHandles="1" noChangeArrowheads="1" noChangeShapeType="1" noTextEdit="1"/>
              </p:cNvSpPr>
              <p:nvPr/>
            </p:nvSpPr>
            <p:spPr>
              <a:xfrm>
                <a:off x="2031999" y="31780"/>
                <a:ext cx="10113507" cy="5369868"/>
              </a:xfrm>
              <a:prstGeom prst="rect">
                <a:avLst/>
              </a:prstGeom>
              <a:blipFill>
                <a:blip r:embed="rId3"/>
                <a:stretch>
                  <a:fillRect l="-904" t="-341" r="-964" b="-1589"/>
                </a:stretch>
              </a:blipFill>
            </p:spPr>
            <p:txBody>
              <a:bodyPr/>
              <a:lstStyle/>
              <a:p>
                <a:r>
                  <a:rPr lang="en-US">
                    <a:noFill/>
                  </a:rPr>
                  <a:t> </a:t>
                </a:r>
              </a:p>
            </p:txBody>
          </p:sp>
        </mc:Fallback>
      </mc:AlternateContent>
      <p:sp>
        <p:nvSpPr>
          <p:cNvPr id="15" name="Rectangle 17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6" name="Обект 15"/>
          <p:cNvGraphicFramePr>
            <a:graphicFrameLocks noChangeAspect="1"/>
          </p:cNvGraphicFramePr>
          <p:nvPr>
            <p:extLst>
              <p:ext uri="{D42A27DB-BD31-4B8C-83A1-F6EECF244321}">
                <p14:modId xmlns:p14="http://schemas.microsoft.com/office/powerpoint/2010/main" val="664962485"/>
              </p:ext>
            </p:extLst>
          </p:nvPr>
        </p:nvGraphicFramePr>
        <p:xfrm>
          <a:off x="5108199" y="3629510"/>
          <a:ext cx="1354594" cy="449451"/>
        </p:xfrm>
        <a:graphic>
          <a:graphicData uri="http://schemas.openxmlformats.org/presentationml/2006/ole">
            <mc:AlternateContent xmlns:mc="http://schemas.openxmlformats.org/markup-compatibility/2006">
              <mc:Choice xmlns:v="urn:schemas-microsoft-com:vml" Requires="v">
                <p:oleObj spid="_x0000_s6150" name="Equation" r:id="rId4" imgW="507780" imgH="203112" progId="Equation.3">
                  <p:embed/>
                </p:oleObj>
              </mc:Choice>
              <mc:Fallback>
                <p:oleObj name="Equation" r:id="rId4" imgW="507780" imgH="203112" progId="Equation.3">
                  <p:embed/>
                  <p:pic>
                    <p:nvPicPr>
                      <p:cNvPr id="0" name="Object 1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8199" y="3629510"/>
                        <a:ext cx="1354594" cy="449451"/>
                      </a:xfrm>
                      <a:prstGeom prst="rect">
                        <a:avLst/>
                      </a:prstGeom>
                      <a:noFill/>
                    </p:spPr>
                  </p:pic>
                </p:oleObj>
              </mc:Fallback>
            </mc:AlternateContent>
          </a:graphicData>
        </a:graphic>
      </p:graphicFrame>
      <p:sp>
        <p:nvSpPr>
          <p:cNvPr id="23" name="Rectangle 17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4" name="Обект 23"/>
          <p:cNvGraphicFramePr>
            <a:graphicFrameLocks noChangeAspect="1"/>
          </p:cNvGraphicFramePr>
          <p:nvPr>
            <p:extLst>
              <p:ext uri="{D42A27DB-BD31-4B8C-83A1-F6EECF244321}">
                <p14:modId xmlns:p14="http://schemas.microsoft.com/office/powerpoint/2010/main" val="1594589647"/>
              </p:ext>
            </p:extLst>
          </p:nvPr>
        </p:nvGraphicFramePr>
        <p:xfrm>
          <a:off x="10027404" y="4988110"/>
          <a:ext cx="1379350" cy="371959"/>
        </p:xfrm>
        <a:graphic>
          <a:graphicData uri="http://schemas.openxmlformats.org/presentationml/2006/ole">
            <mc:AlternateContent xmlns:mc="http://schemas.openxmlformats.org/markup-compatibility/2006">
              <mc:Choice xmlns:v="urn:schemas-microsoft-com:vml" Requires="v">
                <p:oleObj spid="_x0000_s6151" name="Equation" r:id="rId6" imgW="622030" imgH="203112" progId="Equation.3">
                  <p:embed/>
                </p:oleObj>
              </mc:Choice>
              <mc:Fallback>
                <p:oleObj name="Equation" r:id="rId6" imgW="622030" imgH="203112" progId="Equation.3">
                  <p:embed/>
                  <p:pic>
                    <p:nvPicPr>
                      <p:cNvPr id="0" name="Object 17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27404" y="4988110"/>
                        <a:ext cx="1379350" cy="371959"/>
                      </a:xfrm>
                      <a:prstGeom prst="rect">
                        <a:avLst/>
                      </a:prstGeom>
                      <a:noFill/>
                    </p:spPr>
                  </p:pic>
                </p:oleObj>
              </mc:Fallback>
            </mc:AlternateContent>
          </a:graphicData>
        </a:graphic>
      </p:graphicFrame>
      <p:sp>
        <p:nvSpPr>
          <p:cNvPr id="25" name="Правоъгълник 24"/>
          <p:cNvSpPr/>
          <p:nvPr/>
        </p:nvSpPr>
        <p:spPr>
          <a:xfrm>
            <a:off x="0" y="5267861"/>
            <a:ext cx="12145507" cy="1717393"/>
          </a:xfrm>
          <a:prstGeom prst="rect">
            <a:avLst/>
          </a:prstGeom>
        </p:spPr>
        <p:txBody>
          <a:bodyPr wrap="square">
            <a:spAutoFit/>
          </a:bodyPr>
          <a:lstStyle/>
          <a:p>
            <a:pPr indent="536575" algn="just">
              <a:lnSpc>
                <a:spcPct val="110000"/>
              </a:lnSpc>
              <a:buClr>
                <a:schemeClr val="accent1">
                  <a:lumMod val="75000"/>
                </a:schemeClr>
              </a:buClr>
              <a:buSzPct val="85000"/>
            </a:pPr>
            <a:r>
              <a:rPr lang="bg-BG" sz="2400" dirty="0"/>
              <a:t>Пропорционалното звено е безинерционно. Изходната величина за всеки момент от времето е пропорционална на входната. Уравнението е чисто алгебрично и не съществува преходен процес. Поради тази причина то</a:t>
            </a:r>
            <a:r>
              <a:rPr lang="en-US" sz="2400" dirty="0"/>
              <a:t> </a:t>
            </a:r>
            <a:r>
              <a:rPr lang="bg-BG" sz="2400" dirty="0"/>
              <a:t>се нарича безинерционно звено.</a:t>
            </a:r>
          </a:p>
        </p:txBody>
      </p:sp>
    </p:spTree>
    <p:extLst>
      <p:ext uri="{BB962C8B-B14F-4D97-AF65-F5344CB8AC3E}">
        <p14:creationId xmlns:p14="http://schemas.microsoft.com/office/powerpoint/2010/main" val="3569948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28</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mc:AlternateContent xmlns:mc="http://schemas.openxmlformats.org/markup-compatibility/2006" xmlns:a14="http://schemas.microsoft.com/office/drawing/2010/main">
        <mc:Choice Requires="a14">
          <p:sp>
            <p:nvSpPr>
              <p:cNvPr id="11" name="Rectangle 10"/>
              <p:cNvSpPr/>
              <p:nvPr/>
            </p:nvSpPr>
            <p:spPr>
              <a:xfrm>
                <a:off x="2032000" y="218362"/>
                <a:ext cx="10012363" cy="5558445"/>
              </a:xfrm>
              <a:prstGeom prst="rect">
                <a:avLst/>
              </a:prstGeom>
            </p:spPr>
            <p:txBody>
              <a:bodyPr wrap="square">
                <a:spAutoFit/>
              </a:bodyPr>
              <a:lstStyle/>
              <a:p>
                <a:pPr algn="just">
                  <a:lnSpc>
                    <a:spcPct val="120000"/>
                  </a:lnSpc>
                  <a:buClr>
                    <a:schemeClr val="accent1">
                      <a:lumMod val="75000"/>
                    </a:schemeClr>
                  </a:buClr>
                  <a:buSzPct val="85000"/>
                </a:pPr>
                <a:r>
                  <a:rPr lang="bg-BG" sz="2400" b="1" i="1" dirty="0"/>
                  <a:t>Апериодично звено от първи ред</a:t>
                </a:r>
              </a:p>
              <a:p>
                <a:pPr indent="536575" algn="just">
                  <a:lnSpc>
                    <a:spcPct val="130000"/>
                  </a:lnSpc>
                  <a:buClr>
                    <a:schemeClr val="accent1">
                      <a:lumMod val="75000"/>
                    </a:schemeClr>
                  </a:buClr>
                  <a:buSzPct val="85000"/>
                </a:pPr>
                <a:r>
                  <a:rPr lang="bg-BG" sz="2400" dirty="0"/>
                  <a:t>За разлика от пропорционалното звено изходната величина не се изменя „мигновено”, а по апериодичен закон, когато входната величина се изменя със скок. Уравнението на апериодичното звено от първи ред е:</a:t>
                </a:r>
              </a:p>
              <a:p>
                <a:pPr indent="536575" algn="just">
                  <a:lnSpc>
                    <a:spcPct val="120000"/>
                  </a:lnSpc>
                  <a:buClr>
                    <a:schemeClr val="accent1">
                      <a:lumMod val="75000"/>
                    </a:schemeClr>
                  </a:buClr>
                  <a:buSzPct val="85000"/>
                </a:pPr>
                <a:endParaRPr lang="bg-BG" sz="2400" dirty="0"/>
              </a:p>
              <a:p>
                <a:pPr indent="536575" algn="just">
                  <a:lnSpc>
                    <a:spcPct val="120000"/>
                  </a:lnSpc>
                  <a:buClr>
                    <a:schemeClr val="accent1">
                      <a:lumMod val="75000"/>
                    </a:schemeClr>
                  </a:buClr>
                  <a:buSzPct val="85000"/>
                </a:pPr>
                <a:endParaRPr lang="bg-BG" sz="2400" dirty="0"/>
              </a:p>
              <a:p>
                <a:pPr algn="just">
                  <a:lnSpc>
                    <a:spcPct val="120000"/>
                  </a:lnSpc>
                  <a:buClr>
                    <a:schemeClr val="accent1">
                      <a:lumMod val="75000"/>
                    </a:schemeClr>
                  </a:buClr>
                  <a:buSzPct val="85000"/>
                </a:pPr>
                <a:r>
                  <a:rPr lang="bg-BG" sz="2400" dirty="0"/>
                  <a:t>където </a:t>
                </a:r>
                <a14:m>
                  <m:oMath xmlns:m="http://schemas.openxmlformats.org/officeDocument/2006/math">
                    <m:r>
                      <a:rPr lang="bg-BG" sz="2400" dirty="0">
                        <a:latin typeface="Cambria Math" panose="02040503050406030204" pitchFamily="18" charset="0"/>
                      </a:rPr>
                      <m:t>Т</m:t>
                    </m:r>
                  </m:oMath>
                </a14:m>
                <a:r>
                  <a:rPr lang="bg-BG" sz="2400" dirty="0"/>
                  <a:t> е времеконстанта на апериодичното звено, а </a:t>
                </a:r>
                <a14:m>
                  <m:oMath xmlns:m="http://schemas.openxmlformats.org/officeDocument/2006/math">
                    <m:r>
                      <a:rPr lang="en-US" sz="2400" dirty="0">
                        <a:latin typeface="Cambria Math" panose="02040503050406030204" pitchFamily="18" charset="0"/>
                      </a:rPr>
                      <m:t>𝑘</m:t>
                    </m:r>
                  </m:oMath>
                </a14:m>
                <a:r>
                  <a:rPr lang="bg-BG" sz="2400" dirty="0"/>
                  <a:t> - коефициентът на усилване, наричан още статичен коефициент. </a:t>
                </a:r>
              </a:p>
              <a:p>
                <a:pPr indent="542925" algn="just">
                  <a:lnSpc>
                    <a:spcPct val="120000"/>
                  </a:lnSpc>
                  <a:buClr>
                    <a:schemeClr val="accent1">
                      <a:lumMod val="75000"/>
                    </a:schemeClr>
                  </a:buClr>
                  <a:buSzPct val="85000"/>
                </a:pPr>
                <a:r>
                  <a:rPr lang="bg-BG" sz="2400" dirty="0"/>
                  <a:t>Предавателната функция на апериодичното звено от първи ред е:</a:t>
                </a:r>
              </a:p>
              <a:p>
                <a:pPr algn="just">
                  <a:lnSpc>
                    <a:spcPct val="120000"/>
                  </a:lnSpc>
                  <a:buClr>
                    <a:schemeClr val="accent1">
                      <a:lumMod val="75000"/>
                    </a:schemeClr>
                  </a:buClr>
                  <a:buSzPct val="85000"/>
                </a:pPr>
                <a:endParaRPr lang="bg-BG" sz="2400" dirty="0"/>
              </a:p>
              <a:p>
                <a:pPr indent="536575" algn="just">
                  <a:lnSpc>
                    <a:spcPct val="120000"/>
                  </a:lnSpc>
                  <a:buClr>
                    <a:schemeClr val="accent1">
                      <a:lumMod val="75000"/>
                    </a:schemeClr>
                  </a:buClr>
                  <a:buSzPct val="85000"/>
                </a:pPr>
                <a:endParaRPr lang="bg-BG" sz="2400" dirty="0"/>
              </a:p>
            </p:txBody>
          </p:sp>
        </mc:Choice>
        <mc:Fallback xmlns="">
          <p:sp>
            <p:nvSpPr>
              <p:cNvPr id="11" name="Rectangle 10"/>
              <p:cNvSpPr>
                <a:spLocks noRot="1" noChangeAspect="1" noMove="1" noResize="1" noEditPoints="1" noAdjustHandles="1" noChangeArrowheads="1" noChangeShapeType="1" noTextEdit="1"/>
              </p:cNvSpPr>
              <p:nvPr/>
            </p:nvSpPr>
            <p:spPr>
              <a:xfrm>
                <a:off x="2032000" y="218362"/>
                <a:ext cx="10012363" cy="5558445"/>
              </a:xfrm>
              <a:prstGeom prst="rect">
                <a:avLst/>
              </a:prstGeom>
              <a:blipFill>
                <a:blip r:embed="rId3"/>
                <a:stretch>
                  <a:fillRect l="-913" t="-329" r="-913"/>
                </a:stretch>
              </a:blipFill>
            </p:spPr>
            <p:txBody>
              <a:bodyPr/>
              <a:lstStyle/>
              <a:p>
                <a:r>
                  <a:rPr lang="en-US">
                    <a:noFill/>
                  </a:rPr>
                  <a:t> </a:t>
                </a:r>
              </a:p>
            </p:txBody>
          </p:sp>
        </mc:Fallback>
      </mc:AlternateContent>
      <p:sp>
        <p:nvSpPr>
          <p:cNvPr id="21" name="Rectangle 10"/>
          <p:cNvSpPr>
            <a:spLocks noChangeArrowheads="1"/>
          </p:cNvSpPr>
          <p:nvPr/>
        </p:nvSpPr>
        <p:spPr bwMode="auto">
          <a:xfrm>
            <a:off x="0" y="6953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bg-BG" altLang="bg-BG" sz="1800" b="0" i="0" u="none" strike="noStrike" cap="none" normalizeH="0" baseline="0" dirty="0">
              <a:ln>
                <a:noFill/>
              </a:ln>
              <a:solidFill>
                <a:schemeClr val="tx1"/>
              </a:solidFill>
              <a:effectLst/>
              <a:latin typeface="Arial" panose="020B0604020202020204" pitchFamily="34" charset="0"/>
            </a:endParaRPr>
          </a:p>
        </p:txBody>
      </p:sp>
      <p:sp>
        <p:nvSpPr>
          <p:cNvPr id="2"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3" name="Обект 2"/>
          <p:cNvGraphicFramePr>
            <a:graphicFrameLocks noChangeAspect="1"/>
          </p:cNvGraphicFramePr>
          <p:nvPr>
            <p:extLst>
              <p:ext uri="{D42A27DB-BD31-4B8C-83A1-F6EECF244321}">
                <p14:modId xmlns:p14="http://schemas.microsoft.com/office/powerpoint/2010/main" val="3317491628"/>
              </p:ext>
            </p:extLst>
          </p:nvPr>
        </p:nvGraphicFramePr>
        <p:xfrm>
          <a:off x="5106194" y="2396202"/>
          <a:ext cx="1979612" cy="830263"/>
        </p:xfrm>
        <a:graphic>
          <a:graphicData uri="http://schemas.openxmlformats.org/presentationml/2006/ole">
            <mc:AlternateContent xmlns:mc="http://schemas.openxmlformats.org/markup-compatibility/2006">
              <mc:Choice xmlns:v="urn:schemas-microsoft-com:vml" Requires="v">
                <p:oleObj spid="_x0000_s7174" name="Equation" r:id="rId4" imgW="927000" imgH="393480" progId="Equation.3">
                  <p:embed/>
                </p:oleObj>
              </mc:Choice>
              <mc:Fallback>
                <p:oleObj name="Equation" r:id="rId4" imgW="927000" imgH="393480" progId="Equation.3">
                  <p:embed/>
                  <p:pic>
                    <p:nvPicPr>
                      <p:cNvPr id="0" name="Object 42"/>
                      <p:cNvPicPr>
                        <a:picLocks noChangeAspect="1" noChangeArrowheads="1"/>
                      </p:cNvPicPr>
                      <p:nvPr/>
                    </p:nvPicPr>
                    <p:blipFill>
                      <a:blip r:embed="rId5"/>
                      <a:srcRect/>
                      <a:stretch>
                        <a:fillRect/>
                      </a:stretch>
                    </p:blipFill>
                    <p:spPr bwMode="auto">
                      <a:xfrm>
                        <a:off x="5106194" y="2396202"/>
                        <a:ext cx="1979612" cy="830263"/>
                      </a:xfrm>
                      <a:prstGeom prst="rect">
                        <a:avLst/>
                      </a:prstGeom>
                      <a:noFill/>
                    </p:spPr>
                  </p:pic>
                </p:oleObj>
              </mc:Fallback>
            </mc:AlternateContent>
          </a:graphicData>
        </a:graphic>
      </p:graphicFrame>
      <p:sp>
        <p:nvSpPr>
          <p:cNvPr id="5"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6" name="Обект 5"/>
          <p:cNvGraphicFramePr>
            <a:graphicFrameLocks noChangeAspect="1"/>
          </p:cNvGraphicFramePr>
          <p:nvPr>
            <p:extLst>
              <p:ext uri="{D42A27DB-BD31-4B8C-83A1-F6EECF244321}">
                <p14:modId xmlns:p14="http://schemas.microsoft.com/office/powerpoint/2010/main" val="3836120638"/>
              </p:ext>
            </p:extLst>
          </p:nvPr>
        </p:nvGraphicFramePr>
        <p:xfrm>
          <a:off x="5085758" y="4925785"/>
          <a:ext cx="1993371" cy="1069383"/>
        </p:xfrm>
        <a:graphic>
          <a:graphicData uri="http://schemas.openxmlformats.org/presentationml/2006/ole">
            <mc:AlternateContent xmlns:mc="http://schemas.openxmlformats.org/markup-compatibility/2006">
              <mc:Choice xmlns:v="urn:schemas-microsoft-com:vml" Requires="v">
                <p:oleObj spid="_x0000_s7175" name="Equation" r:id="rId6" imgW="927100" imgH="419100" progId="Equation.3">
                  <p:embed/>
                </p:oleObj>
              </mc:Choice>
              <mc:Fallback>
                <p:oleObj name="Equation" r:id="rId6" imgW="927100" imgH="419100" progId="Equation.3">
                  <p:embed/>
                  <p:pic>
                    <p:nvPicPr>
                      <p:cNvPr id="0" name="Object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85758" y="4925785"/>
                        <a:ext cx="1993371" cy="1069383"/>
                      </a:xfrm>
                      <a:prstGeom prst="rect">
                        <a:avLst/>
                      </a:prstGeom>
                      <a:noFill/>
                    </p:spPr>
                  </p:pic>
                </p:oleObj>
              </mc:Fallback>
            </mc:AlternateContent>
          </a:graphicData>
        </a:graphic>
      </p:graphicFrame>
    </p:spTree>
    <p:extLst>
      <p:ext uri="{BB962C8B-B14F-4D97-AF65-F5344CB8AC3E}">
        <p14:creationId xmlns:p14="http://schemas.microsoft.com/office/powerpoint/2010/main" val="3651506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29</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8" name="Rectangle 5"/>
          <p:cNvSpPr>
            <a:spLocks noChangeArrowheads="1"/>
          </p:cNvSpPr>
          <p:nvPr/>
        </p:nvSpPr>
        <p:spPr bwMode="auto">
          <a:xfrm>
            <a:off x="0" y="238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bg-BG" altLang="bg-BG" sz="1100" b="0" i="0" u="none" strike="noStrike" cap="none" normalizeH="0" baseline="0" dirty="0">
                <a:ln>
                  <a:noFill/>
                </a:ln>
                <a:solidFill>
                  <a:schemeClr val="tx1"/>
                </a:solidFill>
                <a:effectLst/>
              </a:rPr>
              <a:t> </a:t>
            </a:r>
            <a:endParaRPr kumimoji="0" lang="bg-BG" altLang="bg-BG"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9" name="Правоъгълник 8"/>
              <p:cNvSpPr/>
              <p:nvPr/>
            </p:nvSpPr>
            <p:spPr>
              <a:xfrm>
                <a:off x="2032001" y="375956"/>
                <a:ext cx="10025680" cy="6272486"/>
              </a:xfrm>
              <a:prstGeom prst="rect">
                <a:avLst/>
              </a:prstGeom>
            </p:spPr>
            <p:txBody>
              <a:bodyPr wrap="square">
                <a:spAutoFit/>
              </a:bodyPr>
              <a:lstStyle/>
              <a:p>
                <a:pPr algn="just">
                  <a:lnSpc>
                    <a:spcPct val="120000"/>
                  </a:lnSpc>
                  <a:buClr>
                    <a:schemeClr val="accent1">
                      <a:lumMod val="75000"/>
                    </a:schemeClr>
                  </a:buClr>
                  <a:buSzPct val="85000"/>
                </a:pPr>
                <a:r>
                  <a:rPr lang="bg-BG" sz="2400" b="1" i="1" dirty="0"/>
                  <a:t>Интегриращо звено</a:t>
                </a:r>
              </a:p>
              <a:p>
                <a:pPr indent="536575" algn="just">
                  <a:lnSpc>
                    <a:spcPct val="130000"/>
                  </a:lnSpc>
                  <a:buClr>
                    <a:schemeClr val="accent1">
                      <a:lumMod val="75000"/>
                    </a:schemeClr>
                  </a:buClr>
                  <a:buSzPct val="85000"/>
                </a:pPr>
                <a:r>
                  <a:rPr lang="bg-BG" sz="2400" dirty="0"/>
                  <a:t>Интегриращо звено е такова елементарно динамично звено, в което изходната величина </a:t>
                </a:r>
                <a14:m>
                  <m:oMath xmlns:m="http://schemas.openxmlformats.org/officeDocument/2006/math">
                    <m:r>
                      <a:rPr lang="en-US" sz="2400" i="1" dirty="0" smtClean="0">
                        <a:latin typeface="Cambria Math" panose="02040503050406030204" pitchFamily="18" charset="0"/>
                      </a:rPr>
                      <m:t>𝑦</m:t>
                    </m:r>
                  </m:oMath>
                </a14:m>
                <a:r>
                  <a:rPr lang="bg-BG" sz="2400" dirty="0"/>
                  <a:t> е пропорционална на интеграла от входната величина </a:t>
                </a:r>
                <a14:m>
                  <m:oMath xmlns:m="http://schemas.openxmlformats.org/officeDocument/2006/math">
                    <m:r>
                      <a:rPr lang="en-US" sz="2400" i="1" dirty="0" smtClean="0">
                        <a:latin typeface="Cambria Math" panose="02040503050406030204" pitchFamily="18" charset="0"/>
                      </a:rPr>
                      <m:t>𝑥</m:t>
                    </m:r>
                  </m:oMath>
                </a14:m>
                <a:r>
                  <a:rPr lang="bg-BG" sz="2400" dirty="0"/>
                  <a:t>. Уравнението на интегриращото звено е от вида:</a:t>
                </a:r>
                <a:endParaRPr lang="en-US" sz="2400" dirty="0"/>
              </a:p>
              <a:p>
                <a:pPr indent="536575" algn="just">
                  <a:lnSpc>
                    <a:spcPct val="120000"/>
                  </a:lnSpc>
                  <a:buClr>
                    <a:schemeClr val="accent1">
                      <a:lumMod val="75000"/>
                    </a:schemeClr>
                  </a:buClr>
                  <a:buSzPct val="85000"/>
                </a:pPr>
                <a:endParaRPr lang="en-US" sz="2400" dirty="0"/>
              </a:p>
              <a:p>
                <a:pPr indent="536575" algn="just">
                  <a:lnSpc>
                    <a:spcPct val="120000"/>
                  </a:lnSpc>
                  <a:buClr>
                    <a:schemeClr val="accent1">
                      <a:lumMod val="75000"/>
                    </a:schemeClr>
                  </a:buClr>
                  <a:buSzPct val="85000"/>
                </a:pPr>
                <a:endParaRPr lang="en-US" sz="2400" dirty="0"/>
              </a:p>
              <a:p>
                <a:pPr algn="just">
                  <a:lnSpc>
                    <a:spcPct val="120000"/>
                  </a:lnSpc>
                  <a:spcBef>
                    <a:spcPts val="600"/>
                  </a:spcBef>
                  <a:buClr>
                    <a:schemeClr val="accent1">
                      <a:lumMod val="75000"/>
                    </a:schemeClr>
                  </a:buClr>
                  <a:buSzPct val="85000"/>
                </a:pPr>
                <a:r>
                  <a:rPr lang="bg-BG" sz="2400" dirty="0"/>
                  <a:t>или след диференциране: </a:t>
                </a:r>
              </a:p>
              <a:p>
                <a:pPr algn="just">
                  <a:lnSpc>
                    <a:spcPct val="120000"/>
                  </a:lnSpc>
                  <a:spcBef>
                    <a:spcPts val="600"/>
                  </a:spcBef>
                  <a:buClr>
                    <a:schemeClr val="accent1">
                      <a:lumMod val="75000"/>
                    </a:schemeClr>
                  </a:buClr>
                  <a:buSzPct val="85000"/>
                </a:pPr>
                <a:r>
                  <a:rPr lang="bg-BG" sz="2400" dirty="0"/>
                  <a:t>където </a:t>
                </a:r>
                <a14:m>
                  <m:oMath xmlns:m="http://schemas.openxmlformats.org/officeDocument/2006/math">
                    <m:r>
                      <a:rPr lang="bg-BG" sz="2400" dirty="0">
                        <a:latin typeface="Cambria Math" panose="02040503050406030204" pitchFamily="18" charset="0"/>
                      </a:rPr>
                      <m:t>Т</m:t>
                    </m:r>
                  </m:oMath>
                </a14:m>
                <a:r>
                  <a:rPr lang="bg-BG" sz="2400" dirty="0"/>
                  <a:t> е времеконстанта, а </a:t>
                </a:r>
                <a14:m>
                  <m:oMath xmlns:m="http://schemas.openxmlformats.org/officeDocument/2006/math">
                    <m:r>
                      <a:rPr lang="en-US" sz="2400" dirty="0">
                        <a:latin typeface="Cambria Math" panose="02040503050406030204" pitchFamily="18" charset="0"/>
                      </a:rPr>
                      <m:t>𝑘</m:t>
                    </m:r>
                  </m:oMath>
                </a14:m>
                <a:r>
                  <a:rPr lang="bg-BG" sz="2400" dirty="0"/>
                  <a:t> -</a:t>
                </a:r>
                <a:r>
                  <a:rPr lang="en-US" sz="2400" dirty="0"/>
                  <a:t> </a:t>
                </a:r>
                <a:r>
                  <a:rPr lang="bg-BG" sz="2400" dirty="0"/>
                  <a:t>коефициентът на пропорционалност</a:t>
                </a:r>
                <a:r>
                  <a:rPr lang="en-US" sz="2400" dirty="0"/>
                  <a:t>.</a:t>
                </a:r>
              </a:p>
              <a:p>
                <a:pPr indent="542925" algn="just">
                  <a:lnSpc>
                    <a:spcPct val="120000"/>
                  </a:lnSpc>
                  <a:spcBef>
                    <a:spcPts val="600"/>
                  </a:spcBef>
                  <a:buClr>
                    <a:schemeClr val="accent1">
                      <a:lumMod val="75000"/>
                    </a:schemeClr>
                  </a:buClr>
                  <a:buSzPct val="85000"/>
                </a:pPr>
                <a:r>
                  <a:rPr lang="bg-BG" sz="2400" dirty="0"/>
                  <a:t>Предавателната функция на интегриращото звено е:</a:t>
                </a:r>
              </a:p>
              <a:p>
                <a:pPr algn="just">
                  <a:lnSpc>
                    <a:spcPct val="120000"/>
                  </a:lnSpc>
                  <a:spcBef>
                    <a:spcPts val="600"/>
                  </a:spcBef>
                  <a:buClr>
                    <a:schemeClr val="accent1">
                      <a:lumMod val="75000"/>
                    </a:schemeClr>
                  </a:buClr>
                  <a:buSzPct val="85000"/>
                </a:pPr>
                <a:endParaRPr lang="en-US" sz="2400" dirty="0"/>
              </a:p>
              <a:p>
                <a:pPr indent="536575" algn="just">
                  <a:lnSpc>
                    <a:spcPct val="120000"/>
                  </a:lnSpc>
                  <a:buClr>
                    <a:schemeClr val="accent1">
                      <a:lumMod val="75000"/>
                    </a:schemeClr>
                  </a:buClr>
                  <a:buSzPct val="85000"/>
                </a:pPr>
                <a:endParaRPr lang="en-US" sz="2400" dirty="0"/>
              </a:p>
              <a:p>
                <a:pPr indent="536575" algn="just">
                  <a:lnSpc>
                    <a:spcPct val="120000"/>
                  </a:lnSpc>
                  <a:buClr>
                    <a:schemeClr val="accent1">
                      <a:lumMod val="75000"/>
                    </a:schemeClr>
                  </a:buClr>
                  <a:buSzPct val="85000"/>
                </a:pPr>
                <a:endParaRPr lang="en-US" sz="2400" dirty="0"/>
              </a:p>
              <a:p>
                <a:pPr indent="536575" algn="just">
                  <a:lnSpc>
                    <a:spcPct val="120000"/>
                  </a:lnSpc>
                  <a:buClr>
                    <a:schemeClr val="accent1">
                      <a:lumMod val="75000"/>
                    </a:schemeClr>
                  </a:buClr>
                  <a:buSzPct val="85000"/>
                </a:pPr>
                <a:endParaRPr lang="bg-BG" sz="2400" dirty="0"/>
              </a:p>
            </p:txBody>
          </p:sp>
        </mc:Choice>
        <mc:Fallback xmlns="">
          <p:sp>
            <p:nvSpPr>
              <p:cNvPr id="9" name="Правоъгълник 8"/>
              <p:cNvSpPr>
                <a:spLocks noRot="1" noChangeAspect="1" noMove="1" noResize="1" noEditPoints="1" noAdjustHandles="1" noChangeArrowheads="1" noChangeShapeType="1" noTextEdit="1"/>
              </p:cNvSpPr>
              <p:nvPr/>
            </p:nvSpPr>
            <p:spPr>
              <a:xfrm>
                <a:off x="2032001" y="375956"/>
                <a:ext cx="10025680" cy="6272486"/>
              </a:xfrm>
              <a:prstGeom prst="rect">
                <a:avLst/>
              </a:prstGeom>
              <a:blipFill>
                <a:blip r:embed="rId3"/>
                <a:stretch>
                  <a:fillRect l="-912" t="-292" r="-973"/>
                </a:stretch>
              </a:blipFill>
            </p:spPr>
            <p:txBody>
              <a:bodyPr/>
              <a:lstStyle/>
              <a:p>
                <a:r>
                  <a:rPr lang="en-US">
                    <a:noFill/>
                  </a:rPr>
                  <a:t> </a:t>
                </a:r>
              </a:p>
            </p:txBody>
          </p:sp>
        </mc:Fallback>
      </mc:AlternateContent>
      <p:sp>
        <p:nvSpPr>
          <p:cNvPr id="10"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1" name="Обект 10"/>
          <p:cNvGraphicFramePr>
            <a:graphicFrameLocks noChangeAspect="1"/>
          </p:cNvGraphicFramePr>
          <p:nvPr>
            <p:extLst>
              <p:ext uri="{D42A27DB-BD31-4B8C-83A1-F6EECF244321}">
                <p14:modId xmlns:p14="http://schemas.microsoft.com/office/powerpoint/2010/main" val="2639073233"/>
              </p:ext>
            </p:extLst>
          </p:nvPr>
        </p:nvGraphicFramePr>
        <p:xfrm>
          <a:off x="4746735" y="2168842"/>
          <a:ext cx="1458665" cy="991892"/>
        </p:xfrm>
        <a:graphic>
          <a:graphicData uri="http://schemas.openxmlformats.org/presentationml/2006/ole">
            <mc:AlternateContent xmlns:mc="http://schemas.openxmlformats.org/markup-compatibility/2006">
              <mc:Choice xmlns:v="urn:schemas-microsoft-com:vml" Requires="v">
                <p:oleObj spid="_x0000_s8200" name="Equation" r:id="rId4" imgW="710891" imgH="482391" progId="Equation.3">
                  <p:embed/>
                </p:oleObj>
              </mc:Choice>
              <mc:Fallback>
                <p:oleObj name="Equation" r:id="rId4" imgW="710891" imgH="482391" progId="Equation.3">
                  <p:embed/>
                  <p:pic>
                    <p:nvPicPr>
                      <p:cNvPr id="0" name="Object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6735" y="2168842"/>
                        <a:ext cx="1458665" cy="991892"/>
                      </a:xfrm>
                      <a:prstGeom prst="rect">
                        <a:avLst/>
                      </a:prstGeom>
                      <a:noFill/>
                    </p:spPr>
                  </p:pic>
                </p:oleObj>
              </mc:Fallback>
            </mc:AlternateContent>
          </a:graphicData>
        </a:graphic>
      </p:graphicFrame>
      <p:sp>
        <p:nvSpPr>
          <p:cNvPr id="13"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4" name="Обект 13"/>
          <p:cNvGraphicFramePr>
            <a:graphicFrameLocks noChangeAspect="1"/>
          </p:cNvGraphicFramePr>
          <p:nvPr>
            <p:extLst>
              <p:ext uri="{D42A27DB-BD31-4B8C-83A1-F6EECF244321}">
                <p14:modId xmlns:p14="http://schemas.microsoft.com/office/powerpoint/2010/main" val="1485091008"/>
              </p:ext>
            </p:extLst>
          </p:nvPr>
        </p:nvGraphicFramePr>
        <p:xfrm>
          <a:off x="5867292" y="2992057"/>
          <a:ext cx="1489075" cy="836612"/>
        </p:xfrm>
        <a:graphic>
          <a:graphicData uri="http://schemas.openxmlformats.org/presentationml/2006/ole">
            <mc:AlternateContent xmlns:mc="http://schemas.openxmlformats.org/markup-compatibility/2006">
              <mc:Choice xmlns:v="urn:schemas-microsoft-com:vml" Requires="v">
                <p:oleObj spid="_x0000_s8201" name="Equation" r:id="rId6" imgW="698400" imgH="393480" progId="Equation.3">
                  <p:embed/>
                </p:oleObj>
              </mc:Choice>
              <mc:Fallback>
                <p:oleObj name="Equation" r:id="rId6" imgW="698400" imgH="393480" progId="Equation.3">
                  <p:embed/>
                  <p:pic>
                    <p:nvPicPr>
                      <p:cNvPr id="0" name="Object 44"/>
                      <p:cNvPicPr>
                        <a:picLocks noChangeAspect="1" noChangeArrowheads="1"/>
                      </p:cNvPicPr>
                      <p:nvPr/>
                    </p:nvPicPr>
                    <p:blipFill>
                      <a:blip r:embed="rId7"/>
                      <a:srcRect/>
                      <a:stretch>
                        <a:fillRect/>
                      </a:stretch>
                    </p:blipFill>
                    <p:spPr bwMode="auto">
                      <a:xfrm>
                        <a:off x="5867292" y="2992057"/>
                        <a:ext cx="1489075" cy="836612"/>
                      </a:xfrm>
                      <a:prstGeom prst="rect">
                        <a:avLst/>
                      </a:prstGeom>
                      <a:noFill/>
                    </p:spPr>
                  </p:pic>
                </p:oleObj>
              </mc:Fallback>
            </mc:AlternateContent>
          </a:graphicData>
        </a:graphic>
      </p:graphicFrame>
      <p:sp>
        <p:nvSpPr>
          <p:cNvPr id="15" name="Rectangle 4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6" name="Обект 15"/>
          <p:cNvGraphicFramePr>
            <a:graphicFrameLocks noChangeAspect="1"/>
          </p:cNvGraphicFramePr>
          <p:nvPr>
            <p:extLst>
              <p:ext uri="{D42A27DB-BD31-4B8C-83A1-F6EECF244321}">
                <p14:modId xmlns:p14="http://schemas.microsoft.com/office/powerpoint/2010/main" val="2021197547"/>
              </p:ext>
            </p:extLst>
          </p:nvPr>
        </p:nvGraphicFramePr>
        <p:xfrm>
          <a:off x="5568352" y="4658160"/>
          <a:ext cx="1638360" cy="948524"/>
        </p:xfrm>
        <a:graphic>
          <a:graphicData uri="http://schemas.openxmlformats.org/presentationml/2006/ole">
            <mc:AlternateContent xmlns:mc="http://schemas.openxmlformats.org/markup-compatibility/2006">
              <mc:Choice xmlns:v="urn:schemas-microsoft-com:vml" Requires="v">
                <p:oleObj spid="_x0000_s8202" name="Equation" r:id="rId8" imgW="723586" imgH="418918" progId="Equation.3">
                  <p:embed/>
                </p:oleObj>
              </mc:Choice>
              <mc:Fallback>
                <p:oleObj name="Equation" r:id="rId8" imgW="723586" imgH="418918" progId="Equation.3">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8352" y="4658160"/>
                        <a:ext cx="1638360" cy="948524"/>
                      </a:xfrm>
                      <a:prstGeom prst="rect">
                        <a:avLst/>
                      </a:prstGeom>
                      <a:noFill/>
                    </p:spPr>
                  </p:pic>
                </p:oleObj>
              </mc:Fallback>
            </mc:AlternateContent>
          </a:graphicData>
        </a:graphic>
      </p:graphicFrame>
    </p:spTree>
    <p:extLst>
      <p:ext uri="{BB962C8B-B14F-4D97-AF65-F5344CB8AC3E}">
        <p14:creationId xmlns:p14="http://schemas.microsoft.com/office/powerpoint/2010/main" val="241764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30</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mc:AlternateContent xmlns:mc="http://schemas.openxmlformats.org/markup-compatibility/2006" xmlns:a14="http://schemas.microsoft.com/office/drawing/2010/main">
        <mc:Choice Requires="a14">
          <p:sp>
            <p:nvSpPr>
              <p:cNvPr id="6" name="Rectangle 5"/>
              <p:cNvSpPr/>
              <p:nvPr/>
            </p:nvSpPr>
            <p:spPr>
              <a:xfrm>
                <a:off x="2174543" y="241321"/>
                <a:ext cx="9671714" cy="5087547"/>
              </a:xfrm>
              <a:prstGeom prst="rect">
                <a:avLst/>
              </a:prstGeom>
            </p:spPr>
            <p:txBody>
              <a:bodyPr wrap="square">
                <a:spAutoFit/>
              </a:bodyPr>
              <a:lstStyle/>
              <a:p>
                <a:pPr algn="just">
                  <a:lnSpc>
                    <a:spcPct val="120000"/>
                  </a:lnSpc>
                  <a:buClr>
                    <a:schemeClr val="accent1">
                      <a:lumMod val="75000"/>
                    </a:schemeClr>
                  </a:buClr>
                  <a:buSzPct val="85000"/>
                </a:pPr>
                <a:r>
                  <a:rPr lang="bg-BG" sz="2400" b="1" i="1" dirty="0"/>
                  <a:t>Колебателно звено</a:t>
                </a:r>
              </a:p>
              <a:p>
                <a:pPr indent="536575" algn="just">
                  <a:lnSpc>
                    <a:spcPct val="130000"/>
                  </a:lnSpc>
                  <a:buClr>
                    <a:schemeClr val="accent1">
                      <a:lumMod val="75000"/>
                    </a:schemeClr>
                  </a:buClr>
                  <a:buSzPct val="85000"/>
                </a:pPr>
                <a:r>
                  <a:rPr lang="bg-BG" sz="2400" dirty="0"/>
                  <a:t>Колебателно звено се нарича такова елементарно звено, за което уравнението на връзката между входната и изходната величина е от вида:</a:t>
                </a:r>
                <a:endParaRPr lang="en-US" sz="2400" dirty="0"/>
              </a:p>
              <a:p>
                <a:pPr indent="536575" algn="just">
                  <a:lnSpc>
                    <a:spcPct val="130000"/>
                  </a:lnSpc>
                  <a:buClr>
                    <a:schemeClr val="accent1">
                      <a:lumMod val="75000"/>
                    </a:schemeClr>
                  </a:buClr>
                  <a:buSzPct val="85000"/>
                </a:pPr>
                <a:endParaRPr lang="en-US" sz="2400" dirty="0"/>
              </a:p>
              <a:p>
                <a:pPr indent="536575" algn="just">
                  <a:lnSpc>
                    <a:spcPct val="130000"/>
                  </a:lnSpc>
                  <a:spcBef>
                    <a:spcPts val="600"/>
                  </a:spcBef>
                  <a:buClr>
                    <a:schemeClr val="accent1">
                      <a:lumMod val="75000"/>
                    </a:schemeClr>
                  </a:buClr>
                  <a:buSzPct val="85000"/>
                </a:pPr>
                <a:r>
                  <a:rPr lang="bg-BG" sz="2400" dirty="0"/>
                  <a:t>Ако се разделят двете страни на </a:t>
                </a:r>
                <a14:m>
                  <m:oMath xmlns:m="http://schemas.openxmlformats.org/officeDocument/2006/math">
                    <m:r>
                      <a:rPr lang="en-US" sz="2400" i="1" dirty="0" smtClean="0">
                        <a:latin typeface="Cambria Math" panose="02040503050406030204" pitchFamily="18" charset="0"/>
                      </a:rPr>
                      <m:t>𝑎</m:t>
                    </m:r>
                    <m:r>
                      <a:rPr lang="en-US" sz="2400" i="1" baseline="-25000" dirty="0">
                        <a:latin typeface="Cambria Math" panose="02040503050406030204" pitchFamily="18" charset="0"/>
                      </a:rPr>
                      <m:t>2</m:t>
                    </m:r>
                  </m:oMath>
                </a14:m>
                <a:r>
                  <a:rPr lang="bg-BG" sz="2400" dirty="0"/>
                  <a:t>, уравнението може да се трансформира във вида:</a:t>
                </a:r>
                <a:endParaRPr lang="en-US" sz="2400" dirty="0"/>
              </a:p>
              <a:p>
                <a:pPr indent="536575" algn="just">
                  <a:lnSpc>
                    <a:spcPct val="130000"/>
                  </a:lnSpc>
                  <a:spcBef>
                    <a:spcPts val="600"/>
                  </a:spcBef>
                  <a:buClr>
                    <a:schemeClr val="accent1">
                      <a:lumMod val="75000"/>
                    </a:schemeClr>
                  </a:buClr>
                  <a:buSzPct val="85000"/>
                </a:pPr>
                <a:endParaRPr lang="en-US" sz="2400" dirty="0"/>
              </a:p>
              <a:p>
                <a:pPr indent="536575" algn="just">
                  <a:lnSpc>
                    <a:spcPct val="130000"/>
                  </a:lnSpc>
                  <a:spcBef>
                    <a:spcPts val="600"/>
                  </a:spcBef>
                  <a:buClr>
                    <a:schemeClr val="accent1">
                      <a:lumMod val="75000"/>
                    </a:schemeClr>
                  </a:buClr>
                  <a:buSzPct val="85000"/>
                </a:pPr>
                <a:r>
                  <a:rPr lang="bg-BG" sz="2400" dirty="0"/>
                  <a:t>Характеристичното уравнение</a:t>
                </a:r>
                <a:r>
                  <a:rPr lang="en-US" sz="2400" dirty="0"/>
                  <a:t>			 </a:t>
                </a:r>
                <a:r>
                  <a:rPr lang="bg-BG" sz="2400" dirty="0"/>
                  <a:t>има корени </a:t>
                </a:r>
                <a:r>
                  <a:rPr lang="en-US" sz="2400" dirty="0"/>
                  <a:t>			</a:t>
                </a:r>
                <a:endParaRPr lang="bg-BG" sz="2400" dirty="0"/>
              </a:p>
            </p:txBody>
          </p:sp>
        </mc:Choice>
        <mc:Fallback xmlns="">
          <p:sp>
            <p:nvSpPr>
              <p:cNvPr id="6" name="Rectangle 5"/>
              <p:cNvSpPr>
                <a:spLocks noRot="1" noChangeAspect="1" noMove="1" noResize="1" noEditPoints="1" noAdjustHandles="1" noChangeArrowheads="1" noChangeShapeType="1" noTextEdit="1"/>
              </p:cNvSpPr>
              <p:nvPr/>
            </p:nvSpPr>
            <p:spPr>
              <a:xfrm>
                <a:off x="2174543" y="241321"/>
                <a:ext cx="9671714" cy="5087547"/>
              </a:xfrm>
              <a:prstGeom prst="rect">
                <a:avLst/>
              </a:prstGeom>
              <a:blipFill>
                <a:blip r:embed="rId3"/>
                <a:stretch>
                  <a:fillRect l="-1009" t="-360" r="-1009"/>
                </a:stretch>
              </a:blipFill>
            </p:spPr>
            <p:txBody>
              <a:bodyPr/>
              <a:lstStyle/>
              <a:p>
                <a:r>
                  <a:rPr lang="en-US">
                    <a:noFill/>
                  </a:rPr>
                  <a:t> </a:t>
                </a:r>
              </a:p>
            </p:txBody>
          </p:sp>
        </mc:Fallback>
      </mc:AlternateContent>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3" name="Обект 2"/>
          <p:cNvGraphicFramePr>
            <a:graphicFrameLocks noChangeAspect="1"/>
          </p:cNvGraphicFramePr>
          <p:nvPr>
            <p:extLst>
              <p:ext uri="{D42A27DB-BD31-4B8C-83A1-F6EECF244321}">
                <p14:modId xmlns:p14="http://schemas.microsoft.com/office/powerpoint/2010/main" val="2017799434"/>
              </p:ext>
            </p:extLst>
          </p:nvPr>
        </p:nvGraphicFramePr>
        <p:xfrm>
          <a:off x="4773478" y="1994690"/>
          <a:ext cx="3266619" cy="840533"/>
        </p:xfrm>
        <a:graphic>
          <a:graphicData uri="http://schemas.openxmlformats.org/presentationml/2006/ole">
            <mc:AlternateContent xmlns:mc="http://schemas.openxmlformats.org/markup-compatibility/2006">
              <mc:Choice xmlns:v="urn:schemas-microsoft-com:vml" Requires="v">
                <p:oleObj spid="_x0000_s9230" name="Equation" r:id="rId4" imgW="1625600" imgH="419100" progId="Equation.3">
                  <p:embed/>
                </p:oleObj>
              </mc:Choice>
              <mc:Fallback>
                <p:oleObj name="Equation" r:id="rId4" imgW="1625600" imgH="419100" progId="Equation.3">
                  <p:embed/>
                  <p:pic>
                    <p:nvPicPr>
                      <p:cNvPr id="0" name="Object 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3478" y="1994690"/>
                        <a:ext cx="3266619" cy="840533"/>
                      </a:xfrm>
                      <a:prstGeom prst="rect">
                        <a:avLst/>
                      </a:prstGeom>
                      <a:noFill/>
                    </p:spPr>
                  </p:pic>
                </p:oleObj>
              </mc:Fallback>
            </mc:AlternateContent>
          </a:graphicData>
        </a:graphic>
      </p:graphicFrame>
      <p:sp>
        <p:nvSpPr>
          <p:cNvPr id="15"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6" name="Обект 15"/>
          <p:cNvGraphicFramePr>
            <a:graphicFrameLocks noChangeAspect="1"/>
          </p:cNvGraphicFramePr>
          <p:nvPr>
            <p:extLst>
              <p:ext uri="{D42A27DB-BD31-4B8C-83A1-F6EECF244321}">
                <p14:modId xmlns:p14="http://schemas.microsoft.com/office/powerpoint/2010/main" val="111469657"/>
              </p:ext>
            </p:extLst>
          </p:nvPr>
        </p:nvGraphicFramePr>
        <p:xfrm>
          <a:off x="5550741" y="3512589"/>
          <a:ext cx="2678859" cy="796417"/>
        </p:xfrm>
        <a:graphic>
          <a:graphicData uri="http://schemas.openxmlformats.org/presentationml/2006/ole">
            <mc:AlternateContent xmlns:mc="http://schemas.openxmlformats.org/markup-compatibility/2006">
              <mc:Choice xmlns:v="urn:schemas-microsoft-com:vml" Requires="v">
                <p:oleObj spid="_x0000_s9231" name="Equation" r:id="rId6" imgW="1409700" imgH="419100" progId="Equation.3">
                  <p:embed/>
                </p:oleObj>
              </mc:Choice>
              <mc:Fallback>
                <p:oleObj name="Equation" r:id="rId6" imgW="1409700" imgH="419100" progId="Equation.3">
                  <p:embed/>
                  <p:pic>
                    <p:nvPicPr>
                      <p:cNvPr id="0" name="Object 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0741" y="3512589"/>
                        <a:ext cx="2678859" cy="796417"/>
                      </a:xfrm>
                      <a:prstGeom prst="rect">
                        <a:avLst/>
                      </a:prstGeom>
                      <a:noFill/>
                    </p:spPr>
                  </p:pic>
                </p:oleObj>
              </mc:Fallback>
            </mc:AlternateContent>
          </a:graphicData>
        </a:graphic>
      </p:graphicFrame>
      <p:sp>
        <p:nvSpPr>
          <p:cNvPr id="17" name="Rectangle 7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8" name="Обект 17"/>
          <p:cNvGraphicFramePr>
            <a:graphicFrameLocks noChangeAspect="1"/>
          </p:cNvGraphicFramePr>
          <p:nvPr>
            <p:extLst>
              <p:ext uri="{D42A27DB-BD31-4B8C-83A1-F6EECF244321}">
                <p14:modId xmlns:p14="http://schemas.microsoft.com/office/powerpoint/2010/main" val="2486945358"/>
              </p:ext>
            </p:extLst>
          </p:nvPr>
        </p:nvGraphicFramePr>
        <p:xfrm>
          <a:off x="7037872" y="4242643"/>
          <a:ext cx="2437107" cy="526942"/>
        </p:xfrm>
        <a:graphic>
          <a:graphicData uri="http://schemas.openxmlformats.org/presentationml/2006/ole">
            <mc:AlternateContent xmlns:mc="http://schemas.openxmlformats.org/markup-compatibility/2006">
              <mc:Choice xmlns:v="urn:schemas-microsoft-com:vml" Requires="v">
                <p:oleObj spid="_x0000_s9232" name="Equation" r:id="rId8" imgW="1054100" imgH="228600" progId="Equation.3">
                  <p:embed/>
                </p:oleObj>
              </mc:Choice>
              <mc:Fallback>
                <p:oleObj name="Equation" r:id="rId8" imgW="1054100" imgH="228600" progId="Equation.3">
                  <p:embed/>
                  <p:pic>
                    <p:nvPicPr>
                      <p:cNvPr id="0" name="Object 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7872" y="4242643"/>
                        <a:ext cx="2437107" cy="526942"/>
                      </a:xfrm>
                      <a:prstGeom prst="rect">
                        <a:avLst/>
                      </a:prstGeom>
                      <a:noFill/>
                    </p:spPr>
                  </p:pic>
                </p:oleObj>
              </mc:Fallback>
            </mc:AlternateContent>
          </a:graphicData>
        </a:graphic>
      </p:graphicFrame>
      <p:sp>
        <p:nvSpPr>
          <p:cNvPr id="19" name="Rectangle 7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0" name="Обект 19"/>
          <p:cNvGraphicFramePr>
            <a:graphicFrameLocks noChangeAspect="1"/>
          </p:cNvGraphicFramePr>
          <p:nvPr>
            <p:extLst>
              <p:ext uri="{D42A27DB-BD31-4B8C-83A1-F6EECF244321}">
                <p14:modId xmlns:p14="http://schemas.microsoft.com/office/powerpoint/2010/main" val="1871074923"/>
              </p:ext>
            </p:extLst>
          </p:nvPr>
        </p:nvGraphicFramePr>
        <p:xfrm>
          <a:off x="2174543" y="4654341"/>
          <a:ext cx="2702312" cy="852407"/>
        </p:xfrm>
        <a:graphic>
          <a:graphicData uri="http://schemas.openxmlformats.org/presentationml/2006/ole">
            <mc:AlternateContent xmlns:mc="http://schemas.openxmlformats.org/markup-compatibility/2006">
              <mc:Choice xmlns:v="urn:schemas-microsoft-com:vml" Requires="v">
                <p:oleObj spid="_x0000_s9233" name="Equation" r:id="rId10" imgW="1422400" imgH="444500" progId="Equation.3">
                  <p:embed/>
                </p:oleObj>
              </mc:Choice>
              <mc:Fallback>
                <p:oleObj name="Equation" r:id="rId10" imgW="1422400" imgH="444500" progId="Equation.3">
                  <p:embed/>
                  <p:pic>
                    <p:nvPicPr>
                      <p:cNvPr id="0" name="Object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4543" y="4654341"/>
                        <a:ext cx="2702312" cy="852407"/>
                      </a:xfrm>
                      <a:prstGeom prst="rect">
                        <a:avLst/>
                      </a:prstGeom>
                      <a:noFill/>
                    </p:spPr>
                  </p:pic>
                </p:oleObj>
              </mc:Fallback>
            </mc:AlternateContent>
          </a:graphicData>
        </a:graphic>
      </p:graphicFrame>
      <p:sp>
        <p:nvSpPr>
          <p:cNvPr id="43" name="Rectangle 10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mc:AlternateContent xmlns:mc="http://schemas.openxmlformats.org/markup-compatibility/2006" xmlns:a14="http://schemas.microsoft.com/office/drawing/2010/main">
        <mc:Choice Requires="a14">
          <p:sp>
            <p:nvSpPr>
              <p:cNvPr id="45" name="Правоъгълник 44"/>
              <p:cNvSpPr/>
              <p:nvPr/>
            </p:nvSpPr>
            <p:spPr>
              <a:xfrm>
                <a:off x="0" y="5194861"/>
                <a:ext cx="12192000" cy="1200329"/>
              </a:xfrm>
              <a:prstGeom prst="rect">
                <a:avLst/>
              </a:prstGeom>
            </p:spPr>
            <p:txBody>
              <a:bodyPr wrap="square">
                <a:spAutoFit/>
              </a:bodyPr>
              <a:lstStyle/>
              <a:p>
                <a:pPr indent="531813" algn="just">
                  <a:lnSpc>
                    <a:spcPct val="150000"/>
                  </a:lnSpc>
                  <a:buClr>
                    <a:schemeClr val="accent1">
                      <a:lumMod val="75000"/>
                    </a:schemeClr>
                  </a:buClr>
                </a:pPr>
                <a:r>
                  <a:rPr lang="ru-RU" sz="2400" dirty="0">
                    <a:solidFill>
                      <a:schemeClr val="tx1">
                        <a:lumMod val="95000"/>
                        <a:lumOff val="5000"/>
                      </a:schemeClr>
                    </a:solidFill>
                  </a:rPr>
                  <a:t>Ако  </a:t>
                </a:r>
                <a14:m>
                  <m:oMath xmlns:m="http://schemas.openxmlformats.org/officeDocument/2006/math">
                    <m:r>
                      <a:rPr lang="ru-RU" sz="2400" i="1">
                        <a:solidFill>
                          <a:schemeClr val="tx1">
                            <a:lumMod val="95000"/>
                            <a:lumOff val="5000"/>
                          </a:schemeClr>
                        </a:solidFill>
                        <a:latin typeface="Cambria Math" panose="02040503050406030204" pitchFamily="18" charset="0"/>
                        <a:ea typeface="Cambria Math" panose="02040503050406030204" pitchFamily="18" charset="0"/>
                      </a:rPr>
                      <m:t>𝛼</m:t>
                    </m:r>
                    <m:r>
                      <a:rPr lang="en-US" sz="2400" i="1">
                        <a:solidFill>
                          <a:schemeClr val="tx1">
                            <a:lumMod val="95000"/>
                            <a:lumOff val="5000"/>
                          </a:schemeClr>
                        </a:solidFill>
                        <a:latin typeface="Cambria Math" panose="02040503050406030204" pitchFamily="18" charset="0"/>
                        <a:ea typeface="Cambria Math" panose="02040503050406030204" pitchFamily="18" charset="0"/>
                      </a:rPr>
                      <m:t>=0</m:t>
                    </m:r>
                  </m:oMath>
                </a14:m>
                <a:r>
                  <a:rPr lang="ru-RU" sz="2400" dirty="0">
                    <a:solidFill>
                      <a:schemeClr val="tx1">
                        <a:lumMod val="95000"/>
                        <a:lumOff val="5000"/>
                      </a:schemeClr>
                    </a:solidFill>
                  </a:rPr>
                  <a:t>, то корените (при </a:t>
                </a:r>
                <a14:m>
                  <m:oMath xmlns:m="http://schemas.openxmlformats.org/officeDocument/2006/math">
                    <m:r>
                      <a:rPr lang="ru-RU" sz="2400" i="1">
                        <a:solidFill>
                          <a:schemeClr val="tx1">
                            <a:lumMod val="95000"/>
                            <a:lumOff val="5000"/>
                          </a:schemeClr>
                        </a:solidFill>
                        <a:latin typeface="Cambria Math" panose="02040503050406030204" pitchFamily="18" charset="0"/>
                        <a:ea typeface="Cambria Math" panose="02040503050406030204" pitchFamily="18" charset="0"/>
                      </a:rPr>
                      <m:t>𝛽</m:t>
                    </m:r>
                    <m:r>
                      <a:rPr lang="en-US" sz="2400" i="1">
                        <a:solidFill>
                          <a:schemeClr val="tx1">
                            <a:lumMod val="95000"/>
                            <a:lumOff val="5000"/>
                          </a:schemeClr>
                        </a:solidFill>
                        <a:latin typeface="Cambria Math" panose="02040503050406030204" pitchFamily="18" charset="0"/>
                        <a:ea typeface="Cambria Math" panose="02040503050406030204" pitchFamily="18" charset="0"/>
                      </a:rPr>
                      <m:t>&gt;0)</m:t>
                    </m:r>
                  </m:oMath>
                </a14:m>
                <a:r>
                  <a:rPr lang="ru-RU" sz="2400" dirty="0">
                    <a:solidFill>
                      <a:schemeClr val="tx1">
                        <a:lumMod val="95000"/>
                        <a:lumOff val="5000"/>
                      </a:schemeClr>
                    </a:solidFill>
                  </a:rPr>
                  <a:t> ще бъдат равни на </a:t>
                </a:r>
                <a:r>
                  <a:rPr lang="en-US" sz="2400" dirty="0">
                    <a:solidFill>
                      <a:schemeClr val="tx1">
                        <a:lumMod val="95000"/>
                        <a:lumOff val="5000"/>
                      </a:schemeClr>
                    </a:solidFill>
                  </a:rPr>
                  <a:t>            </a:t>
                </a:r>
                <a:r>
                  <a:rPr lang="ru-RU" sz="2400" dirty="0">
                    <a:solidFill>
                      <a:schemeClr val="tx1">
                        <a:lumMod val="95000"/>
                        <a:lumOff val="5000"/>
                      </a:schemeClr>
                    </a:solidFill>
                  </a:rPr>
                  <a:t> </a:t>
                </a:r>
                <a:r>
                  <a:rPr lang="en-US" sz="2400" dirty="0">
                    <a:solidFill>
                      <a:schemeClr val="tx1">
                        <a:lumMod val="95000"/>
                        <a:lumOff val="5000"/>
                      </a:schemeClr>
                    </a:solidFill>
                  </a:rPr>
                  <a:t>         </a:t>
                </a:r>
                <a:r>
                  <a:rPr lang="ru-RU" sz="2400" dirty="0">
                    <a:solidFill>
                      <a:schemeClr val="tx1">
                        <a:lumMod val="95000"/>
                        <a:lumOff val="5000"/>
                      </a:schemeClr>
                    </a:solidFill>
                  </a:rPr>
                  <a:t>. Решението на диференциалното уравнение при </a:t>
                </a:r>
                <a14:m>
                  <m:oMath xmlns:m="http://schemas.openxmlformats.org/officeDocument/2006/math">
                    <m:r>
                      <a:rPr lang="ru-RU" sz="2400" i="1">
                        <a:solidFill>
                          <a:schemeClr val="tx1">
                            <a:lumMod val="95000"/>
                            <a:lumOff val="5000"/>
                          </a:schemeClr>
                        </a:solidFill>
                        <a:latin typeface="Cambria Math" panose="02040503050406030204" pitchFamily="18" charset="0"/>
                        <a:ea typeface="Cambria Math" panose="02040503050406030204" pitchFamily="18" charset="0"/>
                      </a:rPr>
                      <m:t>𝛼</m:t>
                    </m:r>
                    <m:r>
                      <a:rPr lang="en-US" sz="2400" i="1">
                        <a:solidFill>
                          <a:schemeClr val="tx1">
                            <a:lumMod val="95000"/>
                            <a:lumOff val="5000"/>
                          </a:schemeClr>
                        </a:solidFill>
                        <a:latin typeface="Cambria Math" panose="02040503050406030204" pitchFamily="18" charset="0"/>
                        <a:ea typeface="Cambria Math" panose="02040503050406030204" pitchFamily="18" charset="0"/>
                      </a:rPr>
                      <m:t>=0</m:t>
                    </m:r>
                  </m:oMath>
                </a14:m>
                <a:r>
                  <a:rPr lang="ru-RU" sz="2400" dirty="0">
                    <a:solidFill>
                      <a:schemeClr val="tx1">
                        <a:lumMod val="95000"/>
                        <a:lumOff val="5000"/>
                      </a:schemeClr>
                    </a:solidFill>
                  </a:rPr>
                  <a:t> и нулеви начални стойност на </a:t>
                </a:r>
                <a14:m>
                  <m:oMath xmlns:m="http://schemas.openxmlformats.org/officeDocument/2006/math">
                    <m:r>
                      <a:rPr lang="en-US" sz="2400" b="0" i="1" smtClean="0">
                        <a:solidFill>
                          <a:schemeClr val="tx1">
                            <a:lumMod val="95000"/>
                            <a:lumOff val="5000"/>
                          </a:schemeClr>
                        </a:solidFill>
                        <a:latin typeface="Cambria Math" panose="02040503050406030204" pitchFamily="18" charset="0"/>
                      </a:rPr>
                      <m:t>𝑥</m:t>
                    </m:r>
                  </m:oMath>
                </a14:m>
                <a:r>
                  <a:rPr lang="ru-RU" sz="2400" dirty="0">
                    <a:solidFill>
                      <a:schemeClr val="tx1">
                        <a:lumMod val="95000"/>
                        <a:lumOff val="5000"/>
                      </a:schemeClr>
                    </a:solidFill>
                  </a:rPr>
                  <a:t>  е от вида:</a:t>
                </a:r>
                <a:endParaRPr lang="bg-BG" sz="2400" dirty="0">
                  <a:solidFill>
                    <a:schemeClr val="tx1">
                      <a:lumMod val="95000"/>
                      <a:lumOff val="5000"/>
                    </a:schemeClr>
                  </a:solidFill>
                </a:endParaRPr>
              </a:p>
            </p:txBody>
          </p:sp>
        </mc:Choice>
        <mc:Fallback xmlns="">
          <p:sp>
            <p:nvSpPr>
              <p:cNvPr id="45" name="Правоъгълник 44"/>
              <p:cNvSpPr>
                <a:spLocks noRot="1" noChangeAspect="1" noMove="1" noResize="1" noEditPoints="1" noAdjustHandles="1" noChangeArrowheads="1" noChangeShapeType="1" noTextEdit="1"/>
              </p:cNvSpPr>
              <p:nvPr/>
            </p:nvSpPr>
            <p:spPr>
              <a:xfrm>
                <a:off x="0" y="5194861"/>
                <a:ext cx="12192000" cy="1200329"/>
              </a:xfrm>
              <a:prstGeom prst="rect">
                <a:avLst/>
              </a:prstGeom>
              <a:blipFill>
                <a:blip r:embed="rId12"/>
                <a:stretch>
                  <a:fillRect l="-750" r="-750" b="-5076"/>
                </a:stretch>
              </a:blipFill>
            </p:spPr>
            <p:txBody>
              <a:bodyPr/>
              <a:lstStyle/>
              <a:p>
                <a:r>
                  <a:rPr lang="en-US">
                    <a:noFill/>
                  </a:rPr>
                  <a:t> </a:t>
                </a:r>
              </a:p>
            </p:txBody>
          </p:sp>
        </mc:Fallback>
      </mc:AlternateContent>
      <p:graphicFrame>
        <p:nvGraphicFramePr>
          <p:cNvPr id="44" name="Обект 43"/>
          <p:cNvGraphicFramePr>
            <a:graphicFrameLocks noChangeAspect="1"/>
          </p:cNvGraphicFramePr>
          <p:nvPr>
            <p:extLst>
              <p:ext uri="{D42A27DB-BD31-4B8C-83A1-F6EECF244321}">
                <p14:modId xmlns:p14="http://schemas.microsoft.com/office/powerpoint/2010/main" val="4070040864"/>
              </p:ext>
            </p:extLst>
          </p:nvPr>
        </p:nvGraphicFramePr>
        <p:xfrm>
          <a:off x="8470058" y="5413800"/>
          <a:ext cx="1507698" cy="538360"/>
        </p:xfrm>
        <a:graphic>
          <a:graphicData uri="http://schemas.openxmlformats.org/presentationml/2006/ole">
            <mc:AlternateContent xmlns:mc="http://schemas.openxmlformats.org/markup-compatibility/2006">
              <mc:Choice xmlns:v="urn:schemas-microsoft-com:vml" Requires="v">
                <p:oleObj spid="_x0000_s9234" name="Equation" r:id="rId13" imgW="787058" imgH="266584" progId="Equation.3">
                  <p:embed/>
                </p:oleObj>
              </mc:Choice>
              <mc:Fallback>
                <p:oleObj name="Equation" r:id="rId13" imgW="787058" imgH="266584" progId="Equation.3">
                  <p:embed/>
                  <p:pic>
                    <p:nvPicPr>
                      <p:cNvPr id="0" name="Object 10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70058" y="5413800"/>
                        <a:ext cx="1507698" cy="538360"/>
                      </a:xfrm>
                      <a:prstGeom prst="rect">
                        <a:avLst/>
                      </a:prstGeom>
                      <a:noFill/>
                    </p:spPr>
                  </p:pic>
                </p:oleObj>
              </mc:Fallback>
            </mc:AlternateContent>
          </a:graphicData>
        </a:graphic>
      </p:graphicFrame>
      <p:sp>
        <p:nvSpPr>
          <p:cNvPr id="46" name="Rectangle 10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47" name="Обект 46"/>
          <p:cNvGraphicFramePr>
            <a:graphicFrameLocks noChangeAspect="1"/>
          </p:cNvGraphicFramePr>
          <p:nvPr>
            <p:extLst>
              <p:ext uri="{D42A27DB-BD31-4B8C-83A1-F6EECF244321}">
                <p14:modId xmlns:p14="http://schemas.microsoft.com/office/powerpoint/2010/main" val="1996078110"/>
              </p:ext>
            </p:extLst>
          </p:nvPr>
        </p:nvGraphicFramePr>
        <p:xfrm>
          <a:off x="3530474" y="6320037"/>
          <a:ext cx="2978814" cy="547129"/>
        </p:xfrm>
        <a:graphic>
          <a:graphicData uri="http://schemas.openxmlformats.org/presentationml/2006/ole">
            <mc:AlternateContent xmlns:mc="http://schemas.openxmlformats.org/markup-compatibility/2006">
              <mc:Choice xmlns:v="urn:schemas-microsoft-com:vml" Requires="v">
                <p:oleObj spid="_x0000_s9235" name="Equation" r:id="rId15" imgW="1396394" imgH="253890" progId="Equation.3">
                  <p:embed/>
                </p:oleObj>
              </mc:Choice>
              <mc:Fallback>
                <p:oleObj name="Equation" r:id="rId15" imgW="1396394" imgH="253890" progId="Equation.3">
                  <p:embed/>
                  <p:pic>
                    <p:nvPicPr>
                      <p:cNvPr id="0" name="Object 10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30474" y="6320037"/>
                        <a:ext cx="2978814" cy="547129"/>
                      </a:xfrm>
                      <a:prstGeom prst="rect">
                        <a:avLst/>
                      </a:prstGeom>
                      <a:noFill/>
                    </p:spPr>
                  </p:pic>
                </p:oleObj>
              </mc:Fallback>
            </mc:AlternateContent>
          </a:graphicData>
        </a:graphic>
      </p:graphicFrame>
    </p:spTree>
    <p:extLst>
      <p:ext uri="{BB962C8B-B14F-4D97-AF65-F5344CB8AC3E}">
        <p14:creationId xmlns:p14="http://schemas.microsoft.com/office/powerpoint/2010/main" val="931119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31</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pic>
        <p:nvPicPr>
          <p:cNvPr id="2" name="Картина 1"/>
          <p:cNvPicPr>
            <a:picLocks noChangeAspect="1"/>
          </p:cNvPicPr>
          <p:nvPr/>
        </p:nvPicPr>
        <p:blipFill>
          <a:blip r:embed="rId3"/>
          <a:stretch>
            <a:fillRect/>
          </a:stretch>
        </p:blipFill>
        <p:spPr>
          <a:xfrm>
            <a:off x="2032000" y="0"/>
            <a:ext cx="10160000" cy="6858000"/>
          </a:xfrm>
          <a:prstGeom prst="rect">
            <a:avLst/>
          </a:prstGeom>
        </p:spPr>
      </p:pic>
    </p:spTree>
    <p:extLst>
      <p:ext uri="{BB962C8B-B14F-4D97-AF65-F5344CB8AC3E}">
        <p14:creationId xmlns:p14="http://schemas.microsoft.com/office/powerpoint/2010/main" val="3835078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32</a:t>
            </a:fld>
            <a:endParaRPr lang="bg-BG" dirty="0"/>
          </a:p>
        </p:txBody>
      </p:sp>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9" name="Rectangle 4"/>
          <p:cNvSpPr>
            <a:spLocks noChangeArrowheads="1"/>
          </p:cNvSpPr>
          <p:nvPr/>
        </p:nvSpPr>
        <p:spPr bwMode="auto">
          <a:xfrm>
            <a:off x="5390866" y="5104304"/>
            <a:ext cx="135045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11"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3"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15"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pic>
        <p:nvPicPr>
          <p:cNvPr id="3" name="Картина 2"/>
          <p:cNvPicPr>
            <a:picLocks noChangeAspect="1"/>
          </p:cNvPicPr>
          <p:nvPr/>
        </p:nvPicPr>
        <p:blipFill>
          <a:blip r:embed="rId2"/>
          <a:stretch>
            <a:fillRect/>
          </a:stretch>
        </p:blipFill>
        <p:spPr>
          <a:xfrm>
            <a:off x="2047590" y="0"/>
            <a:ext cx="10144409" cy="6858000"/>
          </a:xfrm>
          <a:prstGeom prst="rect">
            <a:avLst/>
          </a:prstGeom>
        </p:spPr>
      </p:pic>
    </p:spTree>
    <p:extLst>
      <p:ext uri="{BB962C8B-B14F-4D97-AF65-F5344CB8AC3E}">
        <p14:creationId xmlns:p14="http://schemas.microsoft.com/office/powerpoint/2010/main" val="3547606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33</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6" name="Rectangle 2"/>
          <p:cNvSpPr>
            <a:spLocks noChangeArrowheads="1"/>
          </p:cNvSpPr>
          <p:nvPr/>
        </p:nvSpPr>
        <p:spPr bwMode="auto">
          <a:xfrm>
            <a:off x="-1" y="-1"/>
            <a:ext cx="1389717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mc:AlternateContent xmlns:mc="http://schemas.openxmlformats.org/markup-compatibility/2006" xmlns:a14="http://schemas.microsoft.com/office/drawing/2010/main">
        <mc:Choice Requires="a14">
          <p:sp>
            <p:nvSpPr>
              <p:cNvPr id="3" name="Правоъгълник 2"/>
              <p:cNvSpPr/>
              <p:nvPr/>
            </p:nvSpPr>
            <p:spPr>
              <a:xfrm>
                <a:off x="1766807" y="76714"/>
                <a:ext cx="10425193" cy="4856714"/>
              </a:xfrm>
              <a:prstGeom prst="rect">
                <a:avLst/>
              </a:prstGeom>
            </p:spPr>
            <p:txBody>
              <a:bodyPr wrap="square">
                <a:spAutoFit/>
              </a:bodyPr>
              <a:lstStyle/>
              <a:p>
                <a:pPr algn="just">
                  <a:lnSpc>
                    <a:spcPct val="120000"/>
                  </a:lnSpc>
                  <a:spcAft>
                    <a:spcPts val="0"/>
                  </a:spcAft>
                  <a:buClr>
                    <a:schemeClr val="accent1">
                      <a:lumMod val="75000"/>
                    </a:schemeClr>
                  </a:buClr>
                  <a:buSzPct val="85000"/>
                </a:pPr>
                <a:r>
                  <a:rPr lang="bg-BG" sz="2400" b="1" i="1" dirty="0"/>
                  <a:t>Диференциращи звена</a:t>
                </a:r>
              </a:p>
              <a:p>
                <a:pPr indent="536575" algn="just">
                  <a:lnSpc>
                    <a:spcPct val="130000"/>
                  </a:lnSpc>
                  <a:spcAft>
                    <a:spcPts val="0"/>
                  </a:spcAft>
                  <a:buClr>
                    <a:schemeClr val="accent1">
                      <a:lumMod val="75000"/>
                    </a:schemeClr>
                  </a:buClr>
                  <a:buSzPct val="85000"/>
                </a:pPr>
                <a:r>
                  <a:rPr lang="bg-BG" sz="2400" dirty="0"/>
                  <a:t>В теорията на автоматичното регулиране се разглеждат три модификации на диференциращо звено: елементарно диференциращо звено, форсиращо звено от първи ред и форсиращо звено от втори ред.</a:t>
                </a:r>
              </a:p>
              <a:p>
                <a:pPr indent="536575" algn="just">
                  <a:lnSpc>
                    <a:spcPct val="130000"/>
                  </a:lnSpc>
                  <a:spcAft>
                    <a:spcPts val="0"/>
                  </a:spcAft>
                  <a:buClr>
                    <a:schemeClr val="accent1">
                      <a:lumMod val="75000"/>
                    </a:schemeClr>
                  </a:buClr>
                  <a:buSzPct val="85000"/>
                </a:pPr>
                <a:r>
                  <a:rPr lang="bg-BG" sz="2400" dirty="0"/>
                  <a:t>Математическия модел на елементарното диференциращо звено е:</a:t>
                </a:r>
              </a:p>
              <a:p>
                <a:pPr indent="536575" algn="just">
                  <a:lnSpc>
                    <a:spcPct val="130000"/>
                  </a:lnSpc>
                  <a:spcAft>
                    <a:spcPts val="0"/>
                  </a:spcAft>
                  <a:buClr>
                    <a:schemeClr val="accent1">
                      <a:lumMod val="75000"/>
                    </a:schemeClr>
                  </a:buClr>
                  <a:buSzPct val="85000"/>
                </a:pPr>
                <a:endParaRPr lang="bg-BG" sz="2400" dirty="0"/>
              </a:p>
              <a:p>
                <a:pPr algn="just">
                  <a:lnSpc>
                    <a:spcPct val="130000"/>
                  </a:lnSpc>
                  <a:buClr>
                    <a:schemeClr val="accent1">
                      <a:lumMod val="75000"/>
                    </a:schemeClr>
                  </a:buClr>
                  <a:buSzPct val="85000"/>
                </a:pPr>
                <a:r>
                  <a:rPr lang="bg-BG" sz="2400" dirty="0"/>
                  <a:t>където </a:t>
                </a:r>
                <a14:m>
                  <m:oMath xmlns:m="http://schemas.openxmlformats.org/officeDocument/2006/math">
                    <m:r>
                      <a:rPr lang="bg-BG" sz="2400" dirty="0">
                        <a:latin typeface="Cambria Math" panose="02040503050406030204" pitchFamily="18" charset="0"/>
                      </a:rPr>
                      <m:t>Т</m:t>
                    </m:r>
                  </m:oMath>
                </a14:m>
                <a:r>
                  <a:rPr lang="bg-BG" sz="2400" dirty="0"/>
                  <a:t> и</a:t>
                </a:r>
                <a14:m>
                  <m:oMath xmlns:m="http://schemas.openxmlformats.org/officeDocument/2006/math">
                    <m:r>
                      <a:rPr lang="bg-BG" sz="2400" b="0" i="0" dirty="0" smtClean="0">
                        <a:latin typeface="Cambria Math" panose="02040503050406030204" pitchFamily="18" charset="0"/>
                      </a:rPr>
                      <m:t> </m:t>
                    </m:r>
                    <m:r>
                      <a:rPr lang="en-US" sz="2400" dirty="0">
                        <a:latin typeface="Cambria Math" panose="02040503050406030204" pitchFamily="18" charset="0"/>
                      </a:rPr>
                      <m:t>𝑘</m:t>
                    </m:r>
                  </m:oMath>
                </a14:m>
                <a:r>
                  <a:rPr lang="bg-BG" sz="2400" dirty="0"/>
                  <a:t> са съответно времеконстантата и коефициентът на усилване.</a:t>
                </a:r>
              </a:p>
              <a:p>
                <a:pPr indent="536575" algn="just">
                  <a:lnSpc>
                    <a:spcPct val="130000"/>
                  </a:lnSpc>
                  <a:buClr>
                    <a:schemeClr val="accent1">
                      <a:lumMod val="75000"/>
                    </a:schemeClr>
                  </a:buClr>
                  <a:buSzPct val="85000"/>
                </a:pPr>
                <a:r>
                  <a:rPr lang="bg-BG" sz="2400" dirty="0"/>
                  <a:t>Предавателната функция на елементарното диференциращо звено е:</a:t>
                </a:r>
              </a:p>
              <a:p>
                <a:pPr algn="just">
                  <a:lnSpc>
                    <a:spcPct val="130000"/>
                  </a:lnSpc>
                  <a:buClr>
                    <a:schemeClr val="accent1">
                      <a:lumMod val="75000"/>
                    </a:schemeClr>
                  </a:buClr>
                  <a:buSzPct val="85000"/>
                </a:pPr>
                <a:endParaRPr lang="bg-BG" sz="2400" dirty="0"/>
              </a:p>
            </p:txBody>
          </p:sp>
        </mc:Choice>
        <mc:Fallback xmlns="">
          <p:sp>
            <p:nvSpPr>
              <p:cNvPr id="3" name="Правоъгълник 2"/>
              <p:cNvSpPr>
                <a:spLocks noRot="1" noChangeAspect="1" noMove="1" noResize="1" noEditPoints="1" noAdjustHandles="1" noChangeArrowheads="1" noChangeShapeType="1" noTextEdit="1"/>
              </p:cNvSpPr>
              <p:nvPr/>
            </p:nvSpPr>
            <p:spPr>
              <a:xfrm>
                <a:off x="1766807" y="76714"/>
                <a:ext cx="10425193" cy="4856714"/>
              </a:xfrm>
              <a:prstGeom prst="rect">
                <a:avLst/>
              </a:prstGeom>
              <a:blipFill>
                <a:blip r:embed="rId4"/>
                <a:stretch>
                  <a:fillRect l="-936" t="-377" r="-877"/>
                </a:stretch>
              </a:blipFill>
            </p:spPr>
            <p:txBody>
              <a:bodyPr/>
              <a:lstStyle/>
              <a:p>
                <a:r>
                  <a:rPr lang="en-US">
                    <a:noFill/>
                  </a:rPr>
                  <a:t> </a:t>
                </a:r>
              </a:p>
            </p:txBody>
          </p:sp>
        </mc:Fallback>
      </mc:AlternateContent>
      <p:sp>
        <p:nvSpPr>
          <p:cNvPr id="7" name="Rectangle 5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0" name="Обект 9"/>
          <p:cNvGraphicFramePr>
            <a:graphicFrameLocks noChangeAspect="1"/>
          </p:cNvGraphicFramePr>
          <p:nvPr>
            <p:extLst>
              <p:ext uri="{D42A27DB-BD31-4B8C-83A1-F6EECF244321}">
                <p14:modId xmlns:p14="http://schemas.microsoft.com/office/powerpoint/2010/main" val="1850802425"/>
              </p:ext>
            </p:extLst>
          </p:nvPr>
        </p:nvGraphicFramePr>
        <p:xfrm>
          <a:off x="5603875" y="2421523"/>
          <a:ext cx="1385888" cy="742950"/>
        </p:xfrm>
        <a:graphic>
          <a:graphicData uri="http://schemas.openxmlformats.org/presentationml/2006/ole">
            <mc:AlternateContent xmlns:mc="http://schemas.openxmlformats.org/markup-compatibility/2006">
              <mc:Choice xmlns:v="urn:schemas-microsoft-com:vml" Requires="v">
                <p:oleObj spid="_x0000_s10250" name="Equation" r:id="rId5" imgW="723600" imgH="393480" progId="Equation.3">
                  <p:embed/>
                </p:oleObj>
              </mc:Choice>
              <mc:Fallback>
                <p:oleObj name="Equation" r:id="rId5" imgW="723600" imgH="393480" progId="Equation.3">
                  <p:embed/>
                  <p:pic>
                    <p:nvPicPr>
                      <p:cNvPr id="0" name="Object 53"/>
                      <p:cNvPicPr>
                        <a:picLocks noChangeAspect="1" noChangeArrowheads="1"/>
                      </p:cNvPicPr>
                      <p:nvPr/>
                    </p:nvPicPr>
                    <p:blipFill>
                      <a:blip r:embed="rId6"/>
                      <a:srcRect/>
                      <a:stretch>
                        <a:fillRect/>
                      </a:stretch>
                    </p:blipFill>
                    <p:spPr bwMode="auto">
                      <a:xfrm>
                        <a:off x="5603875" y="2421523"/>
                        <a:ext cx="1385888" cy="742950"/>
                      </a:xfrm>
                      <a:prstGeom prst="rect">
                        <a:avLst/>
                      </a:prstGeom>
                      <a:noFill/>
                    </p:spPr>
                  </p:pic>
                </p:oleObj>
              </mc:Fallback>
            </mc:AlternateContent>
          </a:graphicData>
        </a:graphic>
      </p:graphicFrame>
      <p:sp>
        <p:nvSpPr>
          <p:cNvPr id="11" name="Rectangle 5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2" name="Обект 11"/>
          <p:cNvGraphicFramePr>
            <a:graphicFrameLocks noChangeAspect="1"/>
          </p:cNvGraphicFramePr>
          <p:nvPr>
            <p:extLst>
              <p:ext uri="{D42A27DB-BD31-4B8C-83A1-F6EECF244321}">
                <p14:modId xmlns:p14="http://schemas.microsoft.com/office/powerpoint/2010/main" val="2390715621"/>
              </p:ext>
            </p:extLst>
          </p:nvPr>
        </p:nvGraphicFramePr>
        <p:xfrm>
          <a:off x="5273931" y="4339525"/>
          <a:ext cx="1715832" cy="428958"/>
        </p:xfrm>
        <a:graphic>
          <a:graphicData uri="http://schemas.openxmlformats.org/presentationml/2006/ole">
            <mc:AlternateContent xmlns:mc="http://schemas.openxmlformats.org/markup-compatibility/2006">
              <mc:Choice xmlns:v="urn:schemas-microsoft-com:vml" Requires="v">
                <p:oleObj spid="_x0000_s10251" name="Equation" r:id="rId7" imgW="799753" imgH="203112" progId="Equation.3">
                  <p:embed/>
                </p:oleObj>
              </mc:Choice>
              <mc:Fallback>
                <p:oleObj name="Equation" r:id="rId7" imgW="799753" imgH="203112" progId="Equation.3">
                  <p:embed/>
                  <p:pic>
                    <p:nvPicPr>
                      <p:cNvPr id="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73931" y="4339525"/>
                        <a:ext cx="1715832" cy="428958"/>
                      </a:xfrm>
                      <a:prstGeom prst="rect">
                        <a:avLst/>
                      </a:prstGeom>
                      <a:noFill/>
                    </p:spPr>
                  </p:pic>
                </p:oleObj>
              </mc:Fallback>
            </mc:AlternateContent>
          </a:graphicData>
        </a:graphic>
      </p:graphicFrame>
      <p:sp>
        <p:nvSpPr>
          <p:cNvPr id="13" name="Rectangle 6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6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7" name="Правоъгълник 16"/>
          <p:cNvSpPr/>
          <p:nvPr/>
        </p:nvSpPr>
        <p:spPr>
          <a:xfrm>
            <a:off x="0" y="4501722"/>
            <a:ext cx="12042183" cy="2308324"/>
          </a:xfrm>
          <a:prstGeom prst="rect">
            <a:avLst/>
          </a:prstGeom>
        </p:spPr>
        <p:txBody>
          <a:bodyPr wrap="square">
            <a:spAutoFit/>
          </a:bodyPr>
          <a:lstStyle/>
          <a:p>
            <a:pPr algn="just">
              <a:lnSpc>
                <a:spcPct val="200000"/>
              </a:lnSpc>
              <a:buClr>
                <a:schemeClr val="accent1">
                  <a:lumMod val="75000"/>
                </a:schemeClr>
              </a:buClr>
              <a:buSzPct val="85000"/>
            </a:pPr>
            <a:r>
              <a:rPr lang="bg-BG" sz="2400" dirty="0"/>
              <a:t>Елементарното диференциращо звено се нарича идеално диференциращо звено. </a:t>
            </a:r>
            <a:endParaRPr lang="en-US" sz="2400" dirty="0"/>
          </a:p>
          <a:p>
            <a:pPr algn="just">
              <a:lnSpc>
                <a:spcPct val="200000"/>
              </a:lnSpc>
              <a:buClr>
                <a:schemeClr val="accent1">
                  <a:lumMod val="75000"/>
                </a:schemeClr>
              </a:buClr>
              <a:buSzPct val="85000"/>
            </a:pPr>
            <a:r>
              <a:rPr lang="bg-BG" sz="2400" dirty="0"/>
              <a:t>Реалните диференциращи звена имат модел от вида:</a:t>
            </a:r>
            <a:r>
              <a:rPr lang="en-US" sz="2400" dirty="0"/>
              <a:t>			</a:t>
            </a:r>
          </a:p>
          <a:p>
            <a:pPr algn="just">
              <a:lnSpc>
                <a:spcPct val="200000"/>
              </a:lnSpc>
              <a:buClr>
                <a:schemeClr val="accent1">
                  <a:lumMod val="75000"/>
                </a:schemeClr>
              </a:buClr>
              <a:buSzPct val="85000"/>
            </a:pPr>
            <a:r>
              <a:rPr lang="bg-BG" sz="2400" dirty="0"/>
              <a:t>Предавателната функция на реалното диференциращо звено е:</a:t>
            </a:r>
          </a:p>
        </p:txBody>
      </p:sp>
      <p:graphicFrame>
        <p:nvGraphicFramePr>
          <p:cNvPr id="16" name="Обект 15"/>
          <p:cNvGraphicFramePr>
            <a:graphicFrameLocks noChangeAspect="1"/>
          </p:cNvGraphicFramePr>
          <p:nvPr>
            <p:extLst>
              <p:ext uri="{D42A27DB-BD31-4B8C-83A1-F6EECF244321}">
                <p14:modId xmlns:p14="http://schemas.microsoft.com/office/powerpoint/2010/main" val="2150202194"/>
              </p:ext>
            </p:extLst>
          </p:nvPr>
        </p:nvGraphicFramePr>
        <p:xfrm>
          <a:off x="9246846" y="6056040"/>
          <a:ext cx="1803445" cy="813661"/>
        </p:xfrm>
        <a:graphic>
          <a:graphicData uri="http://schemas.openxmlformats.org/presentationml/2006/ole">
            <mc:AlternateContent xmlns:mc="http://schemas.openxmlformats.org/markup-compatibility/2006">
              <mc:Choice xmlns:v="urn:schemas-microsoft-com:vml" Requires="v">
                <p:oleObj spid="_x0000_s10252" name="Equation" r:id="rId9" imgW="927100" imgH="419100" progId="Equation.3">
                  <p:embed/>
                </p:oleObj>
              </mc:Choice>
              <mc:Fallback>
                <p:oleObj name="Equation" r:id="rId9" imgW="927100" imgH="419100" progId="Equation.3">
                  <p:embed/>
                  <p:pic>
                    <p:nvPicPr>
                      <p:cNvPr id="0" name="Object 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46846" y="6056040"/>
                        <a:ext cx="1803445" cy="813661"/>
                      </a:xfrm>
                      <a:prstGeom prst="rect">
                        <a:avLst/>
                      </a:prstGeom>
                      <a:noFill/>
                    </p:spPr>
                  </p:pic>
                </p:oleObj>
              </mc:Fallback>
            </mc:AlternateContent>
          </a:graphicData>
        </a:graphic>
      </p:graphicFrame>
      <p:graphicFrame>
        <p:nvGraphicFramePr>
          <p:cNvPr id="14" name="Обект 13"/>
          <p:cNvGraphicFramePr>
            <a:graphicFrameLocks noChangeAspect="1"/>
          </p:cNvGraphicFramePr>
          <p:nvPr>
            <p:extLst>
              <p:ext uri="{D42A27DB-BD31-4B8C-83A1-F6EECF244321}">
                <p14:modId xmlns:p14="http://schemas.microsoft.com/office/powerpoint/2010/main" val="2362676016"/>
              </p:ext>
            </p:extLst>
          </p:nvPr>
        </p:nvGraphicFramePr>
        <p:xfrm>
          <a:off x="7547674" y="5298964"/>
          <a:ext cx="2107771" cy="909721"/>
        </p:xfrm>
        <a:graphic>
          <a:graphicData uri="http://schemas.openxmlformats.org/presentationml/2006/ole">
            <mc:AlternateContent xmlns:mc="http://schemas.openxmlformats.org/markup-compatibility/2006">
              <mc:Choice xmlns:v="urn:schemas-microsoft-com:vml" Requires="v">
                <p:oleObj spid="_x0000_s10253" name="Equation" r:id="rId11" imgW="1104900" imgH="393700" progId="Equation.3">
                  <p:embed/>
                </p:oleObj>
              </mc:Choice>
              <mc:Fallback>
                <p:oleObj name="Equation" r:id="rId11" imgW="1104900" imgH="393700" progId="Equation.3">
                  <p:embed/>
                  <p:pic>
                    <p:nvPicPr>
                      <p:cNvPr id="0" name="Object 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47674" y="5298964"/>
                        <a:ext cx="2107771" cy="909721"/>
                      </a:xfrm>
                      <a:prstGeom prst="rect">
                        <a:avLst/>
                      </a:prstGeom>
                      <a:noFill/>
                    </p:spPr>
                  </p:pic>
                </p:oleObj>
              </mc:Fallback>
            </mc:AlternateContent>
          </a:graphicData>
        </a:graphic>
      </p:graphicFrame>
    </p:spTree>
    <p:extLst>
      <p:ext uri="{BB962C8B-B14F-4D97-AF65-F5344CB8AC3E}">
        <p14:creationId xmlns:p14="http://schemas.microsoft.com/office/powerpoint/2010/main" val="958307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34</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mc:AlternateContent xmlns:mc="http://schemas.openxmlformats.org/markup-compatibility/2006" xmlns:a14="http://schemas.microsoft.com/office/drawing/2010/main">
        <mc:Choice Requires="a14">
          <p:sp>
            <p:nvSpPr>
              <p:cNvPr id="3" name="Rectangle 2"/>
              <p:cNvSpPr/>
              <p:nvPr/>
            </p:nvSpPr>
            <p:spPr>
              <a:xfrm>
                <a:off x="1629044" y="0"/>
                <a:ext cx="10562956" cy="6872651"/>
              </a:xfrm>
              <a:prstGeom prst="rect">
                <a:avLst/>
              </a:prstGeom>
            </p:spPr>
            <p:txBody>
              <a:bodyPr wrap="square">
                <a:spAutoFit/>
              </a:bodyPr>
              <a:lstStyle/>
              <a:p>
                <a:pPr indent="536575" algn="just">
                  <a:lnSpc>
                    <a:spcPct val="130000"/>
                  </a:lnSpc>
                  <a:buClr>
                    <a:schemeClr val="accent1">
                      <a:lumMod val="75000"/>
                    </a:schemeClr>
                  </a:buClr>
                  <a:buSzPct val="85000"/>
                </a:pPr>
                <a:r>
                  <a:rPr lang="bg-BG" sz="2400" i="1" u="sng" dirty="0"/>
                  <a:t>Форсиращо звено от първи ред</a:t>
                </a:r>
                <a:endParaRPr lang="en-US" sz="2400" i="1" u="sng" dirty="0"/>
              </a:p>
              <a:p>
                <a:pPr indent="536575" algn="just">
                  <a:lnSpc>
                    <a:spcPct val="130000"/>
                  </a:lnSpc>
                  <a:buClr>
                    <a:schemeClr val="accent1">
                      <a:lumMod val="75000"/>
                    </a:schemeClr>
                  </a:buClr>
                  <a:buSzPct val="85000"/>
                </a:pPr>
                <a:r>
                  <a:rPr lang="bg-BG" sz="2400" dirty="0"/>
                  <a:t>Математически модел на форсиращо звено от първи ред:</a:t>
                </a:r>
                <a:endParaRPr lang="en-US" sz="2400" dirty="0"/>
              </a:p>
              <a:p>
                <a:pPr indent="536575" algn="just">
                  <a:lnSpc>
                    <a:spcPct val="130000"/>
                  </a:lnSpc>
                  <a:buClr>
                    <a:schemeClr val="accent1">
                      <a:lumMod val="75000"/>
                    </a:schemeClr>
                  </a:buClr>
                  <a:buSzPct val="85000"/>
                </a:pPr>
                <a:endParaRPr lang="en-US" sz="2400" dirty="0"/>
              </a:p>
              <a:p>
                <a:pPr indent="536575" algn="just">
                  <a:lnSpc>
                    <a:spcPct val="130000"/>
                  </a:lnSpc>
                  <a:spcBef>
                    <a:spcPts val="600"/>
                  </a:spcBef>
                  <a:buClr>
                    <a:schemeClr val="accent1">
                      <a:lumMod val="75000"/>
                    </a:schemeClr>
                  </a:buClr>
                  <a:buSzPct val="85000"/>
                </a:pPr>
                <a:r>
                  <a:rPr lang="bg-BG" sz="2400" dirty="0"/>
                  <a:t>Реалното форсиращо звено от първи има модел:</a:t>
                </a:r>
              </a:p>
              <a:p>
                <a:pPr indent="536575" algn="just">
                  <a:lnSpc>
                    <a:spcPct val="130000"/>
                  </a:lnSpc>
                  <a:buClr>
                    <a:schemeClr val="accent1">
                      <a:lumMod val="75000"/>
                    </a:schemeClr>
                  </a:buClr>
                  <a:buSzPct val="85000"/>
                </a:pPr>
                <a:endParaRPr lang="en-US" sz="2400" dirty="0"/>
              </a:p>
              <a:p>
                <a:pPr indent="536575" algn="just">
                  <a:lnSpc>
                    <a:spcPct val="130000"/>
                  </a:lnSpc>
                  <a:spcBef>
                    <a:spcPts val="1200"/>
                  </a:spcBef>
                  <a:buClr>
                    <a:schemeClr val="accent1">
                      <a:lumMod val="75000"/>
                    </a:schemeClr>
                  </a:buClr>
                  <a:buSzPct val="85000"/>
                </a:pPr>
                <a:r>
                  <a:rPr lang="bg-BG" sz="2400" dirty="0"/>
                  <a:t>Предавателната функция на реалното форсиращо звено е:</a:t>
                </a:r>
              </a:p>
              <a:p>
                <a:pPr indent="536575" algn="just">
                  <a:lnSpc>
                    <a:spcPct val="130000"/>
                  </a:lnSpc>
                  <a:buClr>
                    <a:schemeClr val="accent1">
                      <a:lumMod val="75000"/>
                    </a:schemeClr>
                  </a:buClr>
                  <a:buSzPct val="85000"/>
                </a:pPr>
                <a:endParaRPr lang="en-US" sz="2400" dirty="0"/>
              </a:p>
              <a:p>
                <a:pPr indent="536575" algn="just">
                  <a:lnSpc>
                    <a:spcPct val="130000"/>
                  </a:lnSpc>
                  <a:spcBef>
                    <a:spcPts val="600"/>
                  </a:spcBef>
                  <a:buClr>
                    <a:schemeClr val="accent1">
                      <a:lumMod val="75000"/>
                    </a:schemeClr>
                  </a:buClr>
                  <a:buSzPct val="85000"/>
                </a:pPr>
                <a:r>
                  <a:rPr lang="bg-BG" sz="2400" i="1" u="sng" dirty="0"/>
                  <a:t>Форсиращо звено от втори ред</a:t>
                </a:r>
              </a:p>
              <a:p>
                <a:pPr indent="536575" algn="just">
                  <a:lnSpc>
                    <a:spcPct val="130000"/>
                  </a:lnSpc>
                  <a:spcBef>
                    <a:spcPts val="600"/>
                  </a:spcBef>
                  <a:buClr>
                    <a:schemeClr val="accent1">
                      <a:lumMod val="75000"/>
                    </a:schemeClr>
                  </a:buClr>
                  <a:buSzPct val="85000"/>
                </a:pPr>
                <a:r>
                  <a:rPr lang="bg-BG" sz="2400" dirty="0">
                    <a:solidFill>
                      <a:prstClr val="black"/>
                    </a:solidFill>
                  </a:rPr>
                  <a:t>Математически модел:				, </a:t>
                </a:r>
              </a:p>
              <a:p>
                <a:pPr marL="541338" indent="-4763" algn="just">
                  <a:lnSpc>
                    <a:spcPct val="130000"/>
                  </a:lnSpc>
                  <a:spcBef>
                    <a:spcPts val="600"/>
                  </a:spcBef>
                  <a:buClr>
                    <a:schemeClr val="accent1">
                      <a:lumMod val="75000"/>
                    </a:schemeClr>
                  </a:buClr>
                  <a:buSzPct val="85000"/>
                </a:pPr>
                <a:r>
                  <a:rPr lang="ru-RU" sz="2400" dirty="0"/>
                  <a:t>където  </a:t>
                </a:r>
                <a14:m>
                  <m:oMath xmlns:m="http://schemas.openxmlformats.org/officeDocument/2006/math">
                    <m:r>
                      <a:rPr lang="en-US" sz="2400">
                        <a:latin typeface="Cambria Math" panose="02040503050406030204" pitchFamily="18" charset="0"/>
                      </a:rPr>
                      <m:t>𝑇</m:t>
                    </m:r>
                  </m:oMath>
                </a14:m>
                <a:r>
                  <a:rPr lang="ru-RU" sz="2400" dirty="0"/>
                  <a:t> и  </a:t>
                </a:r>
                <a14:m>
                  <m:oMath xmlns:m="http://schemas.openxmlformats.org/officeDocument/2006/math">
                    <m:r>
                      <a:rPr lang="en-US" sz="2400">
                        <a:latin typeface="Cambria Math" panose="02040503050406030204" pitchFamily="18" charset="0"/>
                      </a:rPr>
                      <m:t>𝑘</m:t>
                    </m:r>
                  </m:oMath>
                </a14:m>
                <a:r>
                  <a:rPr lang="ru-RU" sz="2400" dirty="0"/>
                  <a:t> са съответно времеконстантата и коефициентът на усилване, а</a:t>
                </a:r>
                <a:r>
                  <a:rPr lang="en-US" sz="2400" dirty="0"/>
                  <a:t>  </a:t>
                </a:r>
                <a:r>
                  <a:rPr lang="el-GR" sz="2400" dirty="0">
                    <a:latin typeface="Arial" panose="020B0604020202020204" pitchFamily="34" charset="0"/>
                    <a:cs typeface="Arial" panose="020B0604020202020204" pitchFamily="34" charset="0"/>
                  </a:rPr>
                  <a:t>ζ</a:t>
                </a:r>
                <a:r>
                  <a:rPr lang="en-US" sz="2400" dirty="0"/>
                  <a:t> </a:t>
                </a:r>
                <a:r>
                  <a:rPr lang="ru-RU" sz="2400" dirty="0"/>
                  <a:t>  - коефициент на затихването.</a:t>
                </a:r>
                <a:endParaRPr lang="en-US" sz="2400" dirty="0"/>
              </a:p>
              <a:p>
                <a:pPr marL="541338" indent="-4763" algn="just">
                  <a:lnSpc>
                    <a:spcPct val="130000"/>
                  </a:lnSpc>
                  <a:spcBef>
                    <a:spcPts val="600"/>
                  </a:spcBef>
                  <a:buClr>
                    <a:schemeClr val="accent1">
                      <a:lumMod val="75000"/>
                    </a:schemeClr>
                  </a:buClr>
                  <a:buSzPct val="85000"/>
                </a:pPr>
                <a:r>
                  <a:rPr lang="bg-BG" sz="2400" dirty="0"/>
                  <a:t>Предавателната функция на форсиращото звено от втори ред е:</a:t>
                </a:r>
              </a:p>
              <a:p>
                <a:pPr indent="531813" algn="just">
                  <a:lnSpc>
                    <a:spcPct val="130000"/>
                  </a:lnSpc>
                </a:pPr>
                <a:endParaRPr lang="bg-BG" sz="2400" dirty="0">
                  <a:solidFill>
                    <a:schemeClr val="tx1">
                      <a:lumMod val="95000"/>
                      <a:lumOff val="5000"/>
                    </a:schemeClr>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1629044" y="0"/>
                <a:ext cx="10562956" cy="6872651"/>
              </a:xfrm>
              <a:prstGeom prst="rect">
                <a:avLst/>
              </a:prstGeom>
              <a:blipFill>
                <a:blip r:embed="rId4"/>
                <a:stretch>
                  <a:fillRect r="-923"/>
                </a:stretch>
              </a:blipFill>
            </p:spPr>
            <p:txBody>
              <a:bodyPr/>
              <a:lstStyle/>
              <a:p>
                <a:r>
                  <a:rPr lang="en-US">
                    <a:noFill/>
                  </a:rPr>
                  <a:t> </a:t>
                </a:r>
              </a:p>
            </p:txBody>
          </p:sp>
        </mc:Fallback>
      </mc:AlternateContent>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8"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9" name="Обект 8"/>
          <p:cNvGraphicFramePr>
            <a:graphicFrameLocks noChangeAspect="1"/>
          </p:cNvGraphicFramePr>
          <p:nvPr>
            <p:extLst>
              <p:ext uri="{D42A27DB-BD31-4B8C-83A1-F6EECF244321}">
                <p14:modId xmlns:p14="http://schemas.microsoft.com/office/powerpoint/2010/main" val="320757257"/>
              </p:ext>
            </p:extLst>
          </p:nvPr>
        </p:nvGraphicFramePr>
        <p:xfrm>
          <a:off x="5103421" y="913781"/>
          <a:ext cx="2008579" cy="738647"/>
        </p:xfrm>
        <a:graphic>
          <a:graphicData uri="http://schemas.openxmlformats.org/presentationml/2006/ole">
            <mc:AlternateContent xmlns:mc="http://schemas.openxmlformats.org/markup-compatibility/2006">
              <mc:Choice xmlns:v="urn:schemas-microsoft-com:vml" Requires="v">
                <p:oleObj spid="_x0000_s11276" name="Equation" r:id="rId5" imgW="1028254" imgH="431613" progId="Equation.3">
                  <p:embed/>
                </p:oleObj>
              </mc:Choice>
              <mc:Fallback>
                <p:oleObj name="Equation" r:id="rId5" imgW="1028254" imgH="431613"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3421" y="913781"/>
                        <a:ext cx="2008579" cy="738647"/>
                      </a:xfrm>
                      <a:prstGeom prst="rect">
                        <a:avLst/>
                      </a:prstGeom>
                      <a:noFill/>
                    </p:spPr>
                  </p:pic>
                </p:oleObj>
              </mc:Fallback>
            </mc:AlternateContent>
          </a:graphicData>
        </a:graphic>
      </p:graphicFrame>
      <p:sp>
        <p:nvSpPr>
          <p:cNvPr id="10" name="Rectangle 3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1" name="Обект 10"/>
          <p:cNvGraphicFramePr>
            <a:graphicFrameLocks noChangeAspect="1"/>
          </p:cNvGraphicFramePr>
          <p:nvPr>
            <p:extLst>
              <p:ext uri="{D42A27DB-BD31-4B8C-83A1-F6EECF244321}">
                <p14:modId xmlns:p14="http://schemas.microsoft.com/office/powerpoint/2010/main" val="4119320228"/>
              </p:ext>
            </p:extLst>
          </p:nvPr>
        </p:nvGraphicFramePr>
        <p:xfrm>
          <a:off x="4838743" y="1962800"/>
          <a:ext cx="2509002" cy="728420"/>
        </p:xfrm>
        <a:graphic>
          <a:graphicData uri="http://schemas.openxmlformats.org/presentationml/2006/ole">
            <mc:AlternateContent xmlns:mc="http://schemas.openxmlformats.org/markup-compatibility/2006">
              <mc:Choice xmlns:v="urn:schemas-microsoft-com:vml" Requires="v">
                <p:oleObj spid="_x0000_s11277" name="Equation" r:id="rId7" imgW="1473200" imgH="431800" progId="Equation.3">
                  <p:embed/>
                </p:oleObj>
              </mc:Choice>
              <mc:Fallback>
                <p:oleObj name="Equation" r:id="rId7" imgW="1473200" imgH="431800" progId="Equation.3">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8743" y="1962800"/>
                        <a:ext cx="2509002" cy="728420"/>
                      </a:xfrm>
                      <a:prstGeom prst="rect">
                        <a:avLst/>
                      </a:prstGeom>
                      <a:noFill/>
                    </p:spPr>
                  </p:pic>
                </p:oleObj>
              </mc:Fallback>
            </mc:AlternateContent>
          </a:graphicData>
        </a:graphic>
      </p:graphicFrame>
      <p:sp>
        <p:nvSpPr>
          <p:cNvPr id="12"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3" name="Обект 12"/>
          <p:cNvGraphicFramePr>
            <a:graphicFrameLocks noChangeAspect="1"/>
          </p:cNvGraphicFramePr>
          <p:nvPr>
            <p:extLst>
              <p:ext uri="{D42A27DB-BD31-4B8C-83A1-F6EECF244321}">
                <p14:modId xmlns:p14="http://schemas.microsoft.com/office/powerpoint/2010/main" val="2482826483"/>
              </p:ext>
            </p:extLst>
          </p:nvPr>
        </p:nvGraphicFramePr>
        <p:xfrm>
          <a:off x="5074488" y="3069266"/>
          <a:ext cx="2037512" cy="790414"/>
        </p:xfrm>
        <a:graphic>
          <a:graphicData uri="http://schemas.openxmlformats.org/presentationml/2006/ole">
            <mc:AlternateContent xmlns:mc="http://schemas.openxmlformats.org/markup-compatibility/2006">
              <mc:Choice xmlns:v="urn:schemas-microsoft-com:vml" Requires="v">
                <p:oleObj spid="_x0000_s11278" name="Equation" r:id="rId9" imgW="1104900" imgH="431800" progId="Equation.3">
                  <p:embed/>
                </p:oleObj>
              </mc:Choice>
              <mc:Fallback>
                <p:oleObj name="Equation" r:id="rId9" imgW="1104900" imgH="431800" progId="Equation.3">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4488" y="3069266"/>
                        <a:ext cx="2037512" cy="790414"/>
                      </a:xfrm>
                      <a:prstGeom prst="rect">
                        <a:avLst/>
                      </a:prstGeom>
                      <a:noFill/>
                    </p:spPr>
                  </p:pic>
                </p:oleObj>
              </mc:Fallback>
            </mc:AlternateContent>
          </a:graphicData>
        </a:graphic>
      </p:graphicFrame>
      <p:sp>
        <p:nvSpPr>
          <p:cNvPr id="14"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5" name="Обект 14"/>
          <p:cNvGraphicFramePr>
            <a:graphicFrameLocks noChangeAspect="1"/>
          </p:cNvGraphicFramePr>
          <p:nvPr>
            <p:extLst>
              <p:ext uri="{D42A27DB-BD31-4B8C-83A1-F6EECF244321}">
                <p14:modId xmlns:p14="http://schemas.microsoft.com/office/powerpoint/2010/main" val="3083392391"/>
              </p:ext>
            </p:extLst>
          </p:nvPr>
        </p:nvGraphicFramePr>
        <p:xfrm>
          <a:off x="5672480" y="4031275"/>
          <a:ext cx="3350530" cy="913781"/>
        </p:xfrm>
        <a:graphic>
          <a:graphicData uri="http://schemas.openxmlformats.org/presentationml/2006/ole">
            <mc:AlternateContent xmlns:mc="http://schemas.openxmlformats.org/markup-compatibility/2006">
              <mc:Choice xmlns:v="urn:schemas-microsoft-com:vml" Requires="v">
                <p:oleObj spid="_x0000_s11279" name="Equation" r:id="rId11" imgW="1777229" imgH="482391" progId="Equation.3">
                  <p:embed/>
                </p:oleObj>
              </mc:Choice>
              <mc:Fallback>
                <p:oleObj name="Equation" r:id="rId11" imgW="1777229" imgH="482391" progId="Equation.3">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72480" y="4031275"/>
                        <a:ext cx="3350530" cy="913781"/>
                      </a:xfrm>
                      <a:prstGeom prst="rect">
                        <a:avLst/>
                      </a:prstGeom>
                      <a:noFill/>
                    </p:spPr>
                  </p:pic>
                </p:oleObj>
              </mc:Fallback>
            </mc:AlternateContent>
          </a:graphicData>
        </a:graphic>
      </p:graphicFrame>
      <p:sp>
        <p:nvSpPr>
          <p:cNvPr id="23" name="Rectangle 5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25" name="Rectangle 5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26" name="Обект 25"/>
          <p:cNvGraphicFramePr>
            <a:graphicFrameLocks noChangeAspect="1"/>
          </p:cNvGraphicFramePr>
          <p:nvPr>
            <p:extLst>
              <p:ext uri="{D42A27DB-BD31-4B8C-83A1-F6EECF244321}">
                <p14:modId xmlns:p14="http://schemas.microsoft.com/office/powerpoint/2010/main" val="2824722101"/>
              </p:ext>
            </p:extLst>
          </p:nvPr>
        </p:nvGraphicFramePr>
        <p:xfrm>
          <a:off x="4506998" y="6242180"/>
          <a:ext cx="4319762" cy="589058"/>
        </p:xfrm>
        <a:graphic>
          <a:graphicData uri="http://schemas.openxmlformats.org/presentationml/2006/ole">
            <mc:AlternateContent xmlns:mc="http://schemas.openxmlformats.org/markup-compatibility/2006">
              <mc:Choice xmlns:v="urn:schemas-microsoft-com:vml" Requires="v">
                <p:oleObj spid="_x0000_s11280" name="Equation" r:id="rId13" imgW="1676400" imgH="228600" progId="Equation.3">
                  <p:embed/>
                </p:oleObj>
              </mc:Choice>
              <mc:Fallback>
                <p:oleObj name="Equation" r:id="rId13" imgW="1676400" imgH="228600" progId="Equation.3">
                  <p:embed/>
                  <p:pic>
                    <p:nvPicPr>
                      <p:cNvPr id="0" name="Object 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06998" y="6242180"/>
                        <a:ext cx="4319762" cy="589058"/>
                      </a:xfrm>
                      <a:prstGeom prst="rect">
                        <a:avLst/>
                      </a:prstGeom>
                      <a:noFill/>
                    </p:spPr>
                  </p:pic>
                </p:oleObj>
              </mc:Fallback>
            </mc:AlternateContent>
          </a:graphicData>
        </a:graphic>
      </p:graphicFrame>
    </p:spTree>
    <p:extLst>
      <p:ext uri="{BB962C8B-B14F-4D97-AF65-F5344CB8AC3E}">
        <p14:creationId xmlns:p14="http://schemas.microsoft.com/office/powerpoint/2010/main" val="185326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35</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1"/>
            <a:ext cx="1902193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dirty="0"/>
          </a:p>
        </p:txBody>
      </p:sp>
      <p:sp>
        <p:nvSpPr>
          <p:cNvPr id="7"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mc:AlternateContent xmlns:mc="http://schemas.openxmlformats.org/markup-compatibility/2006" xmlns:a14="http://schemas.microsoft.com/office/drawing/2010/main">
        <mc:Choice Requires="a14">
          <p:sp>
            <p:nvSpPr>
              <p:cNvPr id="9" name="Правоъгълник 8"/>
              <p:cNvSpPr/>
              <p:nvPr/>
            </p:nvSpPr>
            <p:spPr>
              <a:xfrm>
                <a:off x="2032000" y="45718"/>
                <a:ext cx="10160000" cy="6927217"/>
              </a:xfrm>
              <a:prstGeom prst="rect">
                <a:avLst/>
              </a:prstGeom>
            </p:spPr>
            <p:txBody>
              <a:bodyPr wrap="square">
                <a:spAutoFit/>
              </a:bodyPr>
              <a:lstStyle/>
              <a:p>
                <a:pPr indent="536575" algn="just">
                  <a:lnSpc>
                    <a:spcPct val="130000"/>
                  </a:lnSpc>
                  <a:spcAft>
                    <a:spcPts val="0"/>
                  </a:spcAft>
                  <a:buClr>
                    <a:schemeClr val="accent1">
                      <a:lumMod val="75000"/>
                    </a:schemeClr>
                  </a:buClr>
                  <a:buSzPct val="85000"/>
                </a:pPr>
                <a:r>
                  <a:rPr lang="bg-BG" sz="2400" dirty="0"/>
                  <a:t>Реалното форсиращо звено от втори ред има математическо описание от вида:</a:t>
                </a:r>
                <a:endParaRPr lang="en-US" sz="2400" dirty="0"/>
              </a:p>
              <a:p>
                <a:pPr indent="536575" algn="just">
                  <a:lnSpc>
                    <a:spcPct val="130000"/>
                  </a:lnSpc>
                  <a:spcAft>
                    <a:spcPts val="0"/>
                  </a:spcAft>
                  <a:buClr>
                    <a:schemeClr val="accent1">
                      <a:lumMod val="75000"/>
                    </a:schemeClr>
                  </a:buClr>
                  <a:buSzPct val="85000"/>
                </a:pPr>
                <a:endParaRPr lang="en-US" sz="2400" dirty="0"/>
              </a:p>
              <a:p>
                <a:pPr indent="536575" algn="just">
                  <a:lnSpc>
                    <a:spcPct val="130000"/>
                  </a:lnSpc>
                  <a:spcAft>
                    <a:spcPts val="0"/>
                  </a:spcAft>
                  <a:buClr>
                    <a:schemeClr val="accent1">
                      <a:lumMod val="75000"/>
                    </a:schemeClr>
                  </a:buClr>
                  <a:buSzPct val="85000"/>
                </a:pPr>
                <a:endParaRPr lang="en-US" sz="1000" dirty="0"/>
              </a:p>
              <a:p>
                <a:pPr indent="536575" algn="just">
                  <a:lnSpc>
                    <a:spcPct val="130000"/>
                  </a:lnSpc>
                  <a:buClr>
                    <a:schemeClr val="accent1">
                      <a:lumMod val="75000"/>
                    </a:schemeClr>
                  </a:buClr>
                  <a:buSzPct val="85000"/>
                </a:pPr>
                <a:r>
                  <a:rPr lang="bg-BG" sz="2400" dirty="0"/>
                  <a:t>Предавателната функция на реалното форсиращо звено от втори ред е:</a:t>
                </a:r>
              </a:p>
              <a:p>
                <a:pPr indent="536575" algn="just">
                  <a:lnSpc>
                    <a:spcPct val="130000"/>
                  </a:lnSpc>
                  <a:spcAft>
                    <a:spcPts val="0"/>
                  </a:spcAft>
                  <a:buClr>
                    <a:schemeClr val="accent1">
                      <a:lumMod val="75000"/>
                    </a:schemeClr>
                  </a:buClr>
                  <a:buSzPct val="85000"/>
                </a:pPr>
                <a:endParaRPr lang="en-US" sz="2400" dirty="0"/>
              </a:p>
              <a:p>
                <a:pPr algn="just">
                  <a:lnSpc>
                    <a:spcPct val="120000"/>
                  </a:lnSpc>
                  <a:buClr>
                    <a:schemeClr val="accent1">
                      <a:lumMod val="75000"/>
                    </a:schemeClr>
                  </a:buClr>
                  <a:buSzPct val="85000"/>
                </a:pPr>
                <a:r>
                  <a:rPr lang="bg-BG" sz="2400" b="1" i="1" dirty="0"/>
                  <a:t>Звено със закъснение</a:t>
                </a:r>
              </a:p>
              <a:p>
                <a:pPr indent="536575" algn="just">
                  <a:lnSpc>
                    <a:spcPct val="130000"/>
                  </a:lnSpc>
                  <a:buClr>
                    <a:schemeClr val="accent1">
                      <a:lumMod val="75000"/>
                    </a:schemeClr>
                  </a:buClr>
                  <a:buSzPct val="85000"/>
                </a:pPr>
                <a:r>
                  <a:rPr lang="bg-BG" sz="2400" dirty="0"/>
                  <a:t>В системите за автоматично регулиране се срещат елементи, които забавят предаването на входния сигнал. Изменението на изходния сигнал е автентично повторение на изменението на входната величина. Уравнението за  връзката между изходната и входната величина има следния вид:</a:t>
                </a:r>
                <a:r>
                  <a:rPr lang="en-US" sz="2400" dirty="0"/>
                  <a:t>			</a:t>
                </a:r>
                <a:r>
                  <a:rPr lang="bg-BG" sz="2400" dirty="0"/>
                  <a:t>, където </a:t>
                </a:r>
                <a14:m>
                  <m:oMath xmlns:m="http://schemas.openxmlformats.org/officeDocument/2006/math">
                    <m:r>
                      <a:rPr lang="bg-BG" sz="2400" i="1" smtClean="0">
                        <a:latin typeface="Cambria Math" panose="02040503050406030204" pitchFamily="18" charset="0"/>
                        <a:ea typeface="Cambria Math" panose="02040503050406030204" pitchFamily="18" charset="0"/>
                      </a:rPr>
                      <m:t>𝜏</m:t>
                    </m:r>
                  </m:oMath>
                </a14:m>
                <a:r>
                  <a:rPr lang="bg-BG" sz="2400" dirty="0"/>
                  <a:t> е време на закъснение.</a:t>
                </a:r>
              </a:p>
              <a:p>
                <a:pPr indent="536575" algn="just">
                  <a:lnSpc>
                    <a:spcPct val="130000"/>
                  </a:lnSpc>
                  <a:buClr>
                    <a:schemeClr val="accent1">
                      <a:lumMod val="75000"/>
                    </a:schemeClr>
                  </a:buClr>
                  <a:buSzPct val="85000"/>
                </a:pPr>
                <a:r>
                  <a:rPr lang="bg-BG" sz="2400" dirty="0"/>
                  <a:t>Предавателната функция на звено  със закъснение е: </a:t>
                </a:r>
              </a:p>
            </p:txBody>
          </p:sp>
        </mc:Choice>
        <mc:Fallback xmlns="">
          <p:sp>
            <p:nvSpPr>
              <p:cNvPr id="9" name="Правоъгълник 8"/>
              <p:cNvSpPr>
                <a:spLocks noRot="1" noChangeAspect="1" noMove="1" noResize="1" noEditPoints="1" noAdjustHandles="1" noChangeArrowheads="1" noChangeShapeType="1" noTextEdit="1"/>
              </p:cNvSpPr>
              <p:nvPr/>
            </p:nvSpPr>
            <p:spPr>
              <a:xfrm>
                <a:off x="2032000" y="45718"/>
                <a:ext cx="10160000" cy="6927217"/>
              </a:xfrm>
              <a:prstGeom prst="rect">
                <a:avLst/>
              </a:prstGeom>
              <a:blipFill>
                <a:blip r:embed="rId4"/>
                <a:stretch>
                  <a:fillRect l="-900" r="-900" b="-967"/>
                </a:stretch>
              </a:blipFill>
            </p:spPr>
            <p:txBody>
              <a:bodyPr/>
              <a:lstStyle/>
              <a:p>
                <a:r>
                  <a:rPr lang="bg-BG">
                    <a:noFill/>
                  </a:rPr>
                  <a:t> </a:t>
                </a:r>
              </a:p>
            </p:txBody>
          </p:sp>
        </mc:Fallback>
      </mc:AlternateContent>
      <p:sp>
        <p:nvSpPr>
          <p:cNvPr id="10" name="Rectangle 62"/>
          <p:cNvSpPr>
            <a:spLocks noChangeArrowheads="1"/>
          </p:cNvSpPr>
          <p:nvPr/>
        </p:nvSpPr>
        <p:spPr bwMode="auto">
          <a:xfrm>
            <a:off x="3151762" y="1147863"/>
            <a:ext cx="170786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graphicFrame>
        <p:nvGraphicFramePr>
          <p:cNvPr id="11" name="Обект 10"/>
          <p:cNvGraphicFramePr>
            <a:graphicFrameLocks noChangeAspect="1"/>
          </p:cNvGraphicFramePr>
          <p:nvPr>
            <p:extLst>
              <p:ext uri="{D42A27DB-BD31-4B8C-83A1-F6EECF244321}">
                <p14:modId xmlns:p14="http://schemas.microsoft.com/office/powerpoint/2010/main" val="906313428"/>
              </p:ext>
            </p:extLst>
          </p:nvPr>
        </p:nvGraphicFramePr>
        <p:xfrm>
          <a:off x="3735421" y="984122"/>
          <a:ext cx="5680954" cy="970251"/>
        </p:xfrm>
        <a:graphic>
          <a:graphicData uri="http://schemas.openxmlformats.org/presentationml/2006/ole">
            <mc:AlternateContent xmlns:mc="http://schemas.openxmlformats.org/markup-compatibility/2006">
              <mc:Choice xmlns:v="urn:schemas-microsoft-com:vml" Requires="v">
                <p:oleObj spid="_x0000_s12298" name="Equation" r:id="rId5" imgW="2819400" imgH="482600" progId="Equation.3">
                  <p:embed/>
                </p:oleObj>
              </mc:Choice>
              <mc:Fallback>
                <p:oleObj name="Equation" r:id="rId5" imgW="2819400" imgH="482600" progId="Equation.3">
                  <p:embed/>
                  <p:pic>
                    <p:nvPicPr>
                      <p:cNvPr id="0"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5421" y="984122"/>
                        <a:ext cx="5680954" cy="970251"/>
                      </a:xfrm>
                      <a:prstGeom prst="rect">
                        <a:avLst/>
                      </a:prstGeom>
                      <a:noFill/>
                    </p:spPr>
                  </p:pic>
                </p:oleObj>
              </mc:Fallback>
            </mc:AlternateContent>
          </a:graphicData>
        </a:graphic>
      </p:graphicFrame>
      <p:sp>
        <p:nvSpPr>
          <p:cNvPr id="12" name="Rectangle 6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3" name="Обект 12"/>
          <p:cNvGraphicFramePr>
            <a:graphicFrameLocks noChangeAspect="1"/>
          </p:cNvGraphicFramePr>
          <p:nvPr>
            <p:extLst>
              <p:ext uri="{D42A27DB-BD31-4B8C-83A1-F6EECF244321}">
                <p14:modId xmlns:p14="http://schemas.microsoft.com/office/powerpoint/2010/main" val="1430137664"/>
              </p:ext>
            </p:extLst>
          </p:nvPr>
        </p:nvGraphicFramePr>
        <p:xfrm>
          <a:off x="4052877" y="2128083"/>
          <a:ext cx="4086246" cy="928435"/>
        </p:xfrm>
        <a:graphic>
          <a:graphicData uri="http://schemas.openxmlformats.org/presentationml/2006/ole">
            <mc:AlternateContent xmlns:mc="http://schemas.openxmlformats.org/markup-compatibility/2006">
              <mc:Choice xmlns:v="urn:schemas-microsoft-com:vml" Requires="v">
                <p:oleObj spid="_x0000_s12299" name="Equation" r:id="rId7" imgW="1701800" imgH="457200" progId="Equation.3">
                  <p:embed/>
                </p:oleObj>
              </mc:Choice>
              <mc:Fallback>
                <p:oleObj name="Equation" r:id="rId7" imgW="1701800" imgH="457200" progId="Equation.3">
                  <p:embed/>
                  <p:pic>
                    <p:nvPicPr>
                      <p:cNvPr id="0" name="Object 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2877" y="2128083"/>
                        <a:ext cx="4086246" cy="928435"/>
                      </a:xfrm>
                      <a:prstGeom prst="rect">
                        <a:avLst/>
                      </a:prstGeom>
                      <a:noFill/>
                    </p:spPr>
                  </p:pic>
                </p:oleObj>
              </mc:Fallback>
            </mc:AlternateContent>
          </a:graphicData>
        </a:graphic>
      </p:graphicFrame>
      <p:sp>
        <p:nvSpPr>
          <p:cNvPr id="14" name="Rectangle 6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5" name="Обект 14"/>
          <p:cNvGraphicFramePr>
            <a:graphicFrameLocks noChangeAspect="1"/>
          </p:cNvGraphicFramePr>
          <p:nvPr>
            <p:extLst>
              <p:ext uri="{D42A27DB-BD31-4B8C-83A1-F6EECF244321}">
                <p14:modId xmlns:p14="http://schemas.microsoft.com/office/powerpoint/2010/main" val="1830746143"/>
              </p:ext>
            </p:extLst>
          </p:nvPr>
        </p:nvGraphicFramePr>
        <p:xfrm>
          <a:off x="6096000" y="5486400"/>
          <a:ext cx="2464341" cy="544749"/>
        </p:xfrm>
        <a:graphic>
          <a:graphicData uri="http://schemas.openxmlformats.org/presentationml/2006/ole">
            <mc:AlternateContent xmlns:mc="http://schemas.openxmlformats.org/markup-compatibility/2006">
              <mc:Choice xmlns:v="urn:schemas-microsoft-com:vml" Requires="v">
                <p:oleObj spid="_x0000_s12300" name="Equation" r:id="rId9" imgW="901309" imgH="203112" progId="Equation.3">
                  <p:embed/>
                </p:oleObj>
              </mc:Choice>
              <mc:Fallback>
                <p:oleObj name="Equation" r:id="rId9" imgW="901309" imgH="203112" progId="Equation.3">
                  <p:embed/>
                  <p:pic>
                    <p:nvPicPr>
                      <p:cNvPr id="0" name="Object 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5486400"/>
                        <a:ext cx="2464341" cy="544749"/>
                      </a:xfrm>
                      <a:prstGeom prst="rect">
                        <a:avLst/>
                      </a:prstGeom>
                      <a:noFill/>
                    </p:spPr>
                  </p:pic>
                </p:oleObj>
              </mc:Fallback>
            </mc:AlternateContent>
          </a:graphicData>
        </a:graphic>
      </p:graphicFrame>
      <p:sp>
        <p:nvSpPr>
          <p:cNvPr id="16" name="Rectangle 7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7" name="Обект 16"/>
          <p:cNvGraphicFramePr>
            <a:graphicFrameLocks noChangeAspect="1"/>
          </p:cNvGraphicFramePr>
          <p:nvPr>
            <p:extLst>
              <p:ext uri="{D42A27DB-BD31-4B8C-83A1-F6EECF244321}">
                <p14:modId xmlns:p14="http://schemas.microsoft.com/office/powerpoint/2010/main" val="1954626640"/>
              </p:ext>
            </p:extLst>
          </p:nvPr>
        </p:nvGraphicFramePr>
        <p:xfrm>
          <a:off x="10160000" y="6352162"/>
          <a:ext cx="1749356" cy="505838"/>
        </p:xfrm>
        <a:graphic>
          <a:graphicData uri="http://schemas.openxmlformats.org/presentationml/2006/ole">
            <mc:AlternateContent xmlns:mc="http://schemas.openxmlformats.org/markup-compatibility/2006">
              <mc:Choice xmlns:v="urn:schemas-microsoft-com:vml" Requires="v">
                <p:oleObj spid="_x0000_s12301" name="Equation" r:id="rId11" imgW="787400" imgH="228600" progId="Equation.3">
                  <p:embed/>
                </p:oleObj>
              </mc:Choice>
              <mc:Fallback>
                <p:oleObj name="Equation" r:id="rId11" imgW="787400" imgH="228600" progId="Equation.3">
                  <p:embed/>
                  <p:pic>
                    <p:nvPicPr>
                      <p:cNvPr id="0" name="Object 7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60000" y="6352162"/>
                        <a:ext cx="1749356" cy="505838"/>
                      </a:xfrm>
                      <a:prstGeom prst="rect">
                        <a:avLst/>
                      </a:prstGeom>
                      <a:noFill/>
                    </p:spPr>
                  </p:pic>
                </p:oleObj>
              </mc:Fallback>
            </mc:AlternateContent>
          </a:graphicData>
        </a:graphic>
      </p:graphicFrame>
    </p:spTree>
    <p:extLst>
      <p:ext uri="{BB962C8B-B14F-4D97-AF65-F5344CB8AC3E}">
        <p14:creationId xmlns:p14="http://schemas.microsoft.com/office/powerpoint/2010/main" val="3319321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36</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p:nvPr/>
        </p:nvSpPr>
        <p:spPr>
          <a:xfrm>
            <a:off x="2032000" y="659541"/>
            <a:ext cx="9985829" cy="4413516"/>
          </a:xfrm>
          <a:prstGeom prst="rect">
            <a:avLst/>
          </a:prstGeom>
        </p:spPr>
        <p:txBody>
          <a:bodyPr wrap="square">
            <a:spAutoFit/>
          </a:bodyPr>
          <a:lstStyle/>
          <a:p>
            <a:pPr lvl="0" indent="536575" algn="ctr">
              <a:lnSpc>
                <a:spcPct val="130000"/>
              </a:lnSpc>
              <a:spcAft>
                <a:spcPts val="0"/>
              </a:spcAft>
              <a:buClr>
                <a:schemeClr val="accent1">
                  <a:lumMod val="75000"/>
                </a:schemeClr>
              </a:buClr>
              <a:buSzPct val="85000"/>
              <a:tabLst>
                <a:tab pos="228600" algn="l"/>
              </a:tabLst>
              <a:defRPr/>
            </a:pPr>
            <a:r>
              <a:rPr lang="bg-BG" sz="2400" b="1" i="1" dirty="0"/>
              <a:t>Свързване на елементарните динамични звена. Видове обратни връзки</a:t>
            </a:r>
          </a:p>
          <a:p>
            <a:pPr indent="536575" algn="just">
              <a:lnSpc>
                <a:spcPct val="130000"/>
              </a:lnSpc>
              <a:buClr>
                <a:schemeClr val="accent1">
                  <a:lumMod val="75000"/>
                </a:schemeClr>
              </a:buClr>
              <a:buSzPct val="85000"/>
              <a:tabLst>
                <a:tab pos="228600" algn="l"/>
              </a:tabLst>
              <a:defRPr/>
            </a:pPr>
            <a:r>
              <a:rPr lang="bg-BG" sz="2400" dirty="0"/>
              <a:t>В теорията на автоматичното регулиране се използват следните начини за свързване на елементарните динамични звена: </a:t>
            </a:r>
          </a:p>
          <a:p>
            <a:pPr marL="709613" indent="-342900" algn="just">
              <a:lnSpc>
                <a:spcPct val="130000"/>
              </a:lnSpc>
              <a:buClr>
                <a:schemeClr val="accent1">
                  <a:lumMod val="75000"/>
                </a:schemeClr>
              </a:buClr>
              <a:buSzPct val="85000"/>
              <a:buFont typeface="Wingdings" panose="05000000000000000000" pitchFamily="2" charset="2"/>
              <a:buChar char="q"/>
              <a:tabLst>
                <a:tab pos="228600" algn="l"/>
              </a:tabLst>
              <a:defRPr/>
            </a:pPr>
            <a:r>
              <a:rPr lang="bg-BG" sz="2400" dirty="0"/>
              <a:t>последователно свързване;</a:t>
            </a:r>
          </a:p>
          <a:p>
            <a:pPr marL="709613" indent="-342900" algn="just">
              <a:lnSpc>
                <a:spcPct val="130000"/>
              </a:lnSpc>
              <a:buClr>
                <a:schemeClr val="accent1">
                  <a:lumMod val="75000"/>
                </a:schemeClr>
              </a:buClr>
              <a:buSzPct val="85000"/>
              <a:buFont typeface="Wingdings" panose="05000000000000000000" pitchFamily="2" charset="2"/>
              <a:buChar char="q"/>
              <a:tabLst>
                <a:tab pos="228600" algn="l"/>
              </a:tabLst>
              <a:defRPr/>
            </a:pPr>
            <a:r>
              <a:rPr lang="bg-BG" sz="2400" dirty="0"/>
              <a:t>паралелно свързване; </a:t>
            </a:r>
          </a:p>
          <a:p>
            <a:pPr marL="709613" indent="-342900" algn="just">
              <a:lnSpc>
                <a:spcPct val="130000"/>
              </a:lnSpc>
              <a:buClr>
                <a:schemeClr val="accent1">
                  <a:lumMod val="75000"/>
                </a:schemeClr>
              </a:buClr>
              <a:buSzPct val="85000"/>
              <a:buFont typeface="Wingdings" panose="05000000000000000000" pitchFamily="2" charset="2"/>
              <a:buChar char="q"/>
              <a:tabLst>
                <a:tab pos="228600" algn="l"/>
              </a:tabLst>
              <a:defRPr/>
            </a:pPr>
            <a:r>
              <a:rPr lang="bg-BG" sz="2400" dirty="0"/>
              <a:t>свързване с обикновена обратна връзка;</a:t>
            </a:r>
          </a:p>
          <a:p>
            <a:pPr marL="709613" indent="-342900" algn="just">
              <a:lnSpc>
                <a:spcPct val="130000"/>
              </a:lnSpc>
              <a:buClr>
                <a:schemeClr val="accent1">
                  <a:lumMod val="75000"/>
                </a:schemeClr>
              </a:buClr>
              <a:buSzPct val="85000"/>
              <a:buFont typeface="Wingdings" panose="05000000000000000000" pitchFamily="2" charset="2"/>
              <a:buChar char="q"/>
              <a:tabLst>
                <a:tab pos="228600" algn="l"/>
              </a:tabLst>
              <a:defRPr/>
            </a:pPr>
            <a:r>
              <a:rPr lang="bg-BG" sz="2400" dirty="0"/>
              <a:t>свързване с кръстосани обратни връзки.</a:t>
            </a:r>
          </a:p>
          <a:p>
            <a:pPr lvl="0" indent="536575" algn="just">
              <a:lnSpc>
                <a:spcPct val="130000"/>
              </a:lnSpc>
              <a:spcAft>
                <a:spcPts val="0"/>
              </a:spcAft>
              <a:buClr>
                <a:schemeClr val="accent1">
                  <a:lumMod val="75000"/>
                </a:schemeClr>
              </a:buClr>
              <a:buSzPct val="85000"/>
              <a:tabLst>
                <a:tab pos="228600" algn="l"/>
              </a:tabLst>
              <a:defRPr/>
            </a:pPr>
            <a:endParaRPr lang="bg-BG" sz="2400" dirty="0"/>
          </a:p>
        </p:txBody>
      </p:sp>
    </p:spTree>
    <p:extLst>
      <p:ext uri="{BB962C8B-B14F-4D97-AF65-F5344CB8AC3E}">
        <p14:creationId xmlns:p14="http://schemas.microsoft.com/office/powerpoint/2010/main" val="3875490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37</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1"/>
          <p:cNvSpPr/>
          <p:nvPr/>
        </p:nvSpPr>
        <p:spPr>
          <a:xfrm>
            <a:off x="2137748" y="0"/>
            <a:ext cx="9948506" cy="6777240"/>
          </a:xfrm>
          <a:prstGeom prst="rect">
            <a:avLst/>
          </a:prstGeom>
        </p:spPr>
        <p:txBody>
          <a:bodyPr wrap="square">
            <a:spAutoFit/>
          </a:bodyPr>
          <a:lstStyle/>
          <a:p>
            <a:pPr algn="just">
              <a:lnSpc>
                <a:spcPct val="120000"/>
              </a:lnSpc>
              <a:buClr>
                <a:schemeClr val="accent1">
                  <a:lumMod val="75000"/>
                </a:schemeClr>
              </a:buClr>
              <a:buSzPct val="85000"/>
            </a:pPr>
            <a:r>
              <a:rPr lang="bg-BG" sz="2400" b="1" i="1" dirty="0"/>
              <a:t>Последователно свързване на елементарни динамични звена</a:t>
            </a:r>
          </a:p>
          <a:p>
            <a:pPr indent="531813" algn="just">
              <a:lnSpc>
                <a:spcPct val="130000"/>
              </a:lnSpc>
            </a:pPr>
            <a:r>
              <a:rPr lang="bg-BG" sz="2400" dirty="0">
                <a:solidFill>
                  <a:schemeClr val="tx1">
                    <a:lumMod val="95000"/>
                    <a:lumOff val="5000"/>
                  </a:schemeClr>
                </a:solidFill>
              </a:rPr>
              <a:t>Последователно е такова свързване, при което изходната величина на едно звено се явява входна величина за следващото и т.н.</a:t>
            </a: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r>
              <a:rPr lang="bg-BG" sz="2400" dirty="0">
                <a:solidFill>
                  <a:schemeClr val="tx1">
                    <a:lumMod val="95000"/>
                    <a:lumOff val="5000"/>
                  </a:schemeClr>
                </a:solidFill>
              </a:rPr>
              <a:t>Еквивалентната предавателна функция ще бъде произведение от предавателните функции на елементарните звена:</a:t>
            </a:r>
          </a:p>
          <a:p>
            <a:pPr indent="531813" algn="just">
              <a:lnSpc>
                <a:spcPct val="130000"/>
              </a:lnSpc>
            </a:pPr>
            <a:endParaRPr lang="bg-BG" sz="2400" dirty="0">
              <a:solidFill>
                <a:schemeClr val="tx1">
                  <a:lumMod val="95000"/>
                  <a:lumOff val="5000"/>
                </a:schemeClr>
              </a:solidFill>
            </a:endParaRPr>
          </a:p>
          <a:p>
            <a:pPr algn="just">
              <a:lnSpc>
                <a:spcPct val="130000"/>
              </a:lnSpc>
              <a:buClr>
                <a:schemeClr val="accent1">
                  <a:lumMod val="75000"/>
                </a:schemeClr>
              </a:buClr>
              <a:tabLst>
                <a:tab pos="228600" algn="l"/>
              </a:tabLst>
            </a:pPr>
            <a:endParaRPr lang="bg-BG" sz="2400" dirty="0">
              <a:solidFill>
                <a:schemeClr val="tx1">
                  <a:lumMod val="95000"/>
                  <a:lumOff val="5000"/>
                </a:schemeClr>
              </a:solidFill>
            </a:endParaRPr>
          </a:p>
        </p:txBody>
      </p:sp>
      <p:pic>
        <p:nvPicPr>
          <p:cNvPr id="3" name="Картина 2"/>
          <p:cNvPicPr>
            <a:picLocks noChangeAspect="1"/>
          </p:cNvPicPr>
          <p:nvPr/>
        </p:nvPicPr>
        <p:blipFill>
          <a:blip r:embed="rId4"/>
          <a:stretch>
            <a:fillRect/>
          </a:stretch>
        </p:blipFill>
        <p:spPr>
          <a:xfrm>
            <a:off x="2032001" y="1414318"/>
            <a:ext cx="10160000" cy="3481071"/>
          </a:xfrm>
          <a:prstGeom prst="rect">
            <a:avLst/>
          </a:prstGeom>
        </p:spPr>
      </p:pic>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7" name="Обект 6"/>
          <p:cNvGraphicFramePr>
            <a:graphicFrameLocks noChangeAspect="1"/>
          </p:cNvGraphicFramePr>
          <p:nvPr>
            <p:extLst>
              <p:ext uri="{D42A27DB-BD31-4B8C-83A1-F6EECF244321}">
                <p14:modId xmlns:p14="http://schemas.microsoft.com/office/powerpoint/2010/main" val="682900762"/>
              </p:ext>
            </p:extLst>
          </p:nvPr>
        </p:nvGraphicFramePr>
        <p:xfrm>
          <a:off x="3601615" y="5688948"/>
          <a:ext cx="6134583" cy="972029"/>
        </p:xfrm>
        <a:graphic>
          <a:graphicData uri="http://schemas.openxmlformats.org/presentationml/2006/ole">
            <mc:AlternateContent xmlns:mc="http://schemas.openxmlformats.org/markup-compatibility/2006">
              <mc:Choice xmlns:v="urn:schemas-microsoft-com:vml" Requires="v">
                <p:oleObj spid="_x0000_s13316" name="Equation" r:id="rId5" imgW="2705100" imgH="431800" progId="Equation.3">
                  <p:embed/>
                </p:oleObj>
              </mc:Choice>
              <mc:Fallback>
                <p:oleObj name="Equation" r:id="rId5" imgW="2705100" imgH="4318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1615" y="5688948"/>
                        <a:ext cx="6134583" cy="972029"/>
                      </a:xfrm>
                      <a:prstGeom prst="rect">
                        <a:avLst/>
                      </a:prstGeom>
                      <a:noFill/>
                    </p:spPr>
                  </p:pic>
                </p:oleObj>
              </mc:Fallback>
            </mc:AlternateContent>
          </a:graphicData>
        </a:graphic>
      </p:graphicFrame>
    </p:spTree>
    <p:extLst>
      <p:ext uri="{BB962C8B-B14F-4D97-AF65-F5344CB8AC3E}">
        <p14:creationId xmlns:p14="http://schemas.microsoft.com/office/powerpoint/2010/main" val="1826779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38</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8"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1" name="Picture 10"/>
          <p:cNvPicPr>
            <a:picLocks noChangeAspect="1"/>
          </p:cNvPicPr>
          <p:nvPr/>
        </p:nvPicPr>
        <p:blipFill>
          <a:blip r:embed="rId3"/>
          <a:stretch>
            <a:fillRect/>
          </a:stretch>
        </p:blipFill>
        <p:spPr>
          <a:xfrm>
            <a:off x="-39688" y="72951"/>
            <a:ext cx="9127789" cy="4079088"/>
          </a:xfrm>
          <a:prstGeom prst="rect">
            <a:avLst/>
          </a:prstGeom>
        </p:spPr>
      </p:pic>
      <p:pic>
        <p:nvPicPr>
          <p:cNvPr id="3" name="Picture 2"/>
          <p:cNvPicPr>
            <a:picLocks noChangeAspect="1"/>
          </p:cNvPicPr>
          <p:nvPr/>
        </p:nvPicPr>
        <p:blipFill>
          <a:blip r:embed="rId4"/>
          <a:stretch>
            <a:fillRect/>
          </a:stretch>
        </p:blipFill>
        <p:spPr>
          <a:xfrm>
            <a:off x="6549957" y="40435"/>
            <a:ext cx="5642043" cy="1311681"/>
          </a:xfrm>
          <a:prstGeom prst="rect">
            <a:avLst/>
          </a:prstGeom>
        </p:spPr>
      </p:pic>
      <p:pic>
        <p:nvPicPr>
          <p:cNvPr id="7" name="Picture 6"/>
          <p:cNvPicPr>
            <a:picLocks noChangeAspect="1"/>
          </p:cNvPicPr>
          <p:nvPr/>
        </p:nvPicPr>
        <p:blipFill>
          <a:blip r:embed="rId5"/>
          <a:stretch>
            <a:fillRect/>
          </a:stretch>
        </p:blipFill>
        <p:spPr>
          <a:xfrm>
            <a:off x="9185378" y="1274226"/>
            <a:ext cx="3038274" cy="2435035"/>
          </a:xfrm>
          <a:prstGeom prst="rect">
            <a:avLst/>
          </a:prstGeom>
        </p:spPr>
      </p:pic>
      <p:pic>
        <p:nvPicPr>
          <p:cNvPr id="12" name="Picture 11"/>
          <p:cNvPicPr>
            <a:picLocks noChangeAspect="1"/>
          </p:cNvPicPr>
          <p:nvPr/>
        </p:nvPicPr>
        <p:blipFill>
          <a:blip r:embed="rId6"/>
          <a:stretch>
            <a:fillRect/>
          </a:stretch>
        </p:blipFill>
        <p:spPr>
          <a:xfrm>
            <a:off x="-39689" y="4058075"/>
            <a:ext cx="5446257" cy="2799923"/>
          </a:xfrm>
          <a:prstGeom prst="rect">
            <a:avLst/>
          </a:prstGeom>
        </p:spPr>
      </p:pic>
      <p:pic>
        <p:nvPicPr>
          <p:cNvPr id="13" name="Picture 12"/>
          <p:cNvPicPr>
            <a:picLocks noChangeAspect="1"/>
          </p:cNvPicPr>
          <p:nvPr/>
        </p:nvPicPr>
        <p:blipFill>
          <a:blip r:embed="rId7"/>
          <a:stretch>
            <a:fillRect/>
          </a:stretch>
        </p:blipFill>
        <p:spPr>
          <a:xfrm>
            <a:off x="5406569" y="4058075"/>
            <a:ext cx="6817083" cy="1767149"/>
          </a:xfrm>
          <a:prstGeom prst="rect">
            <a:avLst/>
          </a:prstGeom>
        </p:spPr>
      </p:pic>
      <p:pic>
        <p:nvPicPr>
          <p:cNvPr id="14" name="Picture 13"/>
          <p:cNvPicPr>
            <a:picLocks noChangeAspect="1"/>
          </p:cNvPicPr>
          <p:nvPr/>
        </p:nvPicPr>
        <p:blipFill>
          <a:blip r:embed="rId8"/>
          <a:stretch>
            <a:fillRect/>
          </a:stretch>
        </p:blipFill>
        <p:spPr>
          <a:xfrm>
            <a:off x="5406568" y="5825225"/>
            <a:ext cx="6817084" cy="1032776"/>
          </a:xfrm>
          <a:prstGeom prst="rect">
            <a:avLst/>
          </a:prstGeom>
        </p:spPr>
      </p:pic>
    </p:spTree>
    <p:extLst>
      <p:ext uri="{BB962C8B-B14F-4D97-AF65-F5344CB8AC3E}">
        <p14:creationId xmlns:p14="http://schemas.microsoft.com/office/powerpoint/2010/main" val="336741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976664" y="1595337"/>
            <a:ext cx="7470842" cy="3604642"/>
          </a:xfrm>
          <a:prstGeom prst="rect">
            <a:avLst/>
          </a:prstGeom>
        </p:spPr>
      </p:pic>
      <p:sp>
        <p:nvSpPr>
          <p:cNvPr id="4" name="Slide Number Placeholder 3"/>
          <p:cNvSpPr>
            <a:spLocks noGrp="1"/>
          </p:cNvSpPr>
          <p:nvPr>
            <p:ph type="sldNum" sz="quarter" idx="12"/>
          </p:nvPr>
        </p:nvSpPr>
        <p:spPr/>
        <p:txBody>
          <a:bodyPr/>
          <a:lstStyle/>
          <a:p>
            <a:fld id="{081674E5-CD74-4638-A238-012A517DC16A}" type="slidenum">
              <a:rPr lang="bg-BG" smtClean="0"/>
              <a:t>39</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1"/>
          <p:cNvSpPr/>
          <p:nvPr/>
        </p:nvSpPr>
        <p:spPr>
          <a:xfrm>
            <a:off x="2137748" y="0"/>
            <a:ext cx="9948506" cy="6611041"/>
          </a:xfrm>
          <a:prstGeom prst="rect">
            <a:avLst/>
          </a:prstGeom>
        </p:spPr>
        <p:txBody>
          <a:bodyPr wrap="square">
            <a:spAutoFit/>
          </a:bodyPr>
          <a:lstStyle/>
          <a:p>
            <a:r>
              <a:rPr lang="bg-BG" sz="2200" b="1" i="1" dirty="0"/>
              <a:t>Паралелно свързване на елементарни динамични звена</a:t>
            </a:r>
            <a:endParaRPr lang="bg-BG" sz="2200" b="1" dirty="0"/>
          </a:p>
          <a:p>
            <a:pPr indent="531813" algn="just">
              <a:lnSpc>
                <a:spcPct val="130000"/>
              </a:lnSpc>
            </a:pPr>
            <a:r>
              <a:rPr lang="bg-BG" sz="2400" dirty="0">
                <a:solidFill>
                  <a:schemeClr val="tx1">
                    <a:lumMod val="95000"/>
                    <a:lumOff val="5000"/>
                  </a:schemeClr>
                </a:solidFill>
              </a:rPr>
              <a:t>Паралелно е такова свързване, при което на входовете на всички звена действа една и съща входна величина, а изходните величини се сумират и образуват изходната величина на системата:</a:t>
            </a: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r>
              <a:rPr lang="bg-BG" sz="2400" dirty="0">
                <a:solidFill>
                  <a:schemeClr val="tx1">
                    <a:lumMod val="95000"/>
                    <a:lumOff val="5000"/>
                  </a:schemeClr>
                </a:solidFill>
              </a:rPr>
              <a:t>Еквивалентната предавателна функция ще бъде сума от предавателните функции на елементарните звена:</a:t>
            </a:r>
          </a:p>
          <a:p>
            <a:pPr indent="531813" algn="just">
              <a:lnSpc>
                <a:spcPct val="130000"/>
              </a:lnSpc>
            </a:pPr>
            <a:endParaRPr lang="bg-BG" sz="2400" dirty="0">
              <a:solidFill>
                <a:schemeClr val="tx1">
                  <a:lumMod val="95000"/>
                  <a:lumOff val="5000"/>
                </a:schemeClr>
              </a:solidFill>
            </a:endParaRP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8"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9" name="Обект 8"/>
          <p:cNvGraphicFramePr>
            <a:graphicFrameLocks noChangeAspect="1"/>
          </p:cNvGraphicFramePr>
          <p:nvPr>
            <p:extLst>
              <p:ext uri="{D42A27DB-BD31-4B8C-83A1-F6EECF244321}">
                <p14:modId xmlns:p14="http://schemas.microsoft.com/office/powerpoint/2010/main" val="2688883477"/>
              </p:ext>
            </p:extLst>
          </p:nvPr>
        </p:nvGraphicFramePr>
        <p:xfrm>
          <a:off x="5766319" y="5916213"/>
          <a:ext cx="2264644" cy="802433"/>
        </p:xfrm>
        <a:graphic>
          <a:graphicData uri="http://schemas.openxmlformats.org/presentationml/2006/ole">
            <mc:AlternateContent xmlns:mc="http://schemas.openxmlformats.org/markup-compatibility/2006">
              <mc:Choice xmlns:v="urn:schemas-microsoft-com:vml" Requires="v">
                <p:oleObj spid="_x0000_s14340" name="Equation" r:id="rId5" imgW="1206500" imgH="431800" progId="Equation.3">
                  <p:embed/>
                </p:oleObj>
              </mc:Choice>
              <mc:Fallback>
                <p:oleObj name="Equation" r:id="rId5" imgW="1206500" imgH="431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6319" y="5916213"/>
                        <a:ext cx="2264644" cy="802433"/>
                      </a:xfrm>
                      <a:prstGeom prst="rect">
                        <a:avLst/>
                      </a:prstGeom>
                      <a:noFill/>
                    </p:spPr>
                  </p:pic>
                </p:oleObj>
              </mc:Fallback>
            </mc:AlternateContent>
          </a:graphicData>
        </a:graphic>
      </p:graphicFrame>
    </p:spTree>
    <p:extLst>
      <p:ext uri="{BB962C8B-B14F-4D97-AF65-F5344CB8AC3E}">
        <p14:creationId xmlns:p14="http://schemas.microsoft.com/office/powerpoint/2010/main" val="19695506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Картина 7"/>
          <p:cNvPicPr>
            <a:picLocks noChangeAspect="1"/>
          </p:cNvPicPr>
          <p:nvPr/>
        </p:nvPicPr>
        <p:blipFill>
          <a:blip r:embed="rId4"/>
          <a:stretch>
            <a:fillRect/>
          </a:stretch>
        </p:blipFill>
        <p:spPr>
          <a:xfrm>
            <a:off x="290286" y="2332653"/>
            <a:ext cx="11652898" cy="2284169"/>
          </a:xfrm>
          <a:prstGeom prst="rect">
            <a:avLst/>
          </a:prstGeom>
        </p:spPr>
      </p:pic>
      <p:sp>
        <p:nvSpPr>
          <p:cNvPr id="4" name="Slide Number Placeholder 3"/>
          <p:cNvSpPr>
            <a:spLocks noGrp="1"/>
          </p:cNvSpPr>
          <p:nvPr>
            <p:ph type="sldNum" sz="quarter" idx="12"/>
          </p:nvPr>
        </p:nvSpPr>
        <p:spPr/>
        <p:txBody>
          <a:bodyPr/>
          <a:lstStyle/>
          <a:p>
            <a:fld id="{081674E5-CD74-4638-A238-012A517DC16A}" type="slidenum">
              <a:rPr lang="bg-BG" smtClean="0"/>
              <a:t>40</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1"/>
          <p:cNvSpPr/>
          <p:nvPr/>
        </p:nvSpPr>
        <p:spPr>
          <a:xfrm>
            <a:off x="0" y="0"/>
            <a:ext cx="12086254" cy="4893647"/>
          </a:xfrm>
          <a:prstGeom prst="rect">
            <a:avLst/>
          </a:prstGeom>
        </p:spPr>
        <p:txBody>
          <a:bodyPr wrap="square">
            <a:spAutoFit/>
          </a:bodyPr>
          <a:lstStyle/>
          <a:p>
            <a:pPr indent="531813" algn="just">
              <a:lnSpc>
                <a:spcPct val="130000"/>
              </a:lnSpc>
            </a:pPr>
            <a:endParaRPr lang="bg-BG" sz="2400" dirty="0">
              <a:solidFill>
                <a:schemeClr val="tx1">
                  <a:lumMod val="95000"/>
                  <a:lumOff val="5000"/>
                </a:schemeClr>
              </a:solidFill>
            </a:endParaRPr>
          </a:p>
          <a:p>
            <a:pPr indent="531813" algn="just">
              <a:lnSpc>
                <a:spcPct val="130000"/>
              </a:lnSpc>
            </a:pPr>
            <a:r>
              <a:rPr lang="bg-BG" sz="2400" dirty="0">
                <a:solidFill>
                  <a:schemeClr val="tx1">
                    <a:lumMod val="95000"/>
                    <a:lumOff val="5000"/>
                  </a:schemeClr>
                </a:solidFill>
              </a:rPr>
              <a:t>С помощта на обратна връзка се пренася част от енергията на изхода на дадено звено към входа на същото или някое от предшестващите го звена, за да се усили или отслаби входният сигнал. Другото наименование на обикновената обратна връзка е насрещно-паралелно съединение.</a:t>
            </a: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indent="531813" algn="just">
              <a:lnSpc>
                <a:spcPct val="130000"/>
              </a:lnSpc>
            </a:pPr>
            <a:endParaRPr lang="bg-BG" sz="2400" dirty="0">
              <a:solidFill>
                <a:schemeClr val="tx1">
                  <a:lumMod val="95000"/>
                  <a:lumOff val="5000"/>
                </a:schemeClr>
              </a:solidFill>
            </a:endParaRPr>
          </a:p>
          <a:p>
            <a:pPr algn="just">
              <a:lnSpc>
                <a:spcPct val="130000"/>
              </a:lnSpc>
              <a:buClr>
                <a:schemeClr val="accent1">
                  <a:lumMod val="75000"/>
                </a:schemeClr>
              </a:buClr>
              <a:tabLst>
                <a:tab pos="228600" algn="l"/>
              </a:tabLst>
            </a:pPr>
            <a:endParaRPr lang="bg-BG" sz="2400" dirty="0">
              <a:solidFill>
                <a:schemeClr val="tx1">
                  <a:lumMod val="95000"/>
                  <a:lumOff val="5000"/>
                </a:schemeClr>
              </a:solidFill>
            </a:endParaRP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Правоъгълник 8"/>
          <p:cNvSpPr/>
          <p:nvPr/>
        </p:nvSpPr>
        <p:spPr>
          <a:xfrm>
            <a:off x="-105746" y="4390061"/>
            <a:ext cx="5853403" cy="2012859"/>
          </a:xfrm>
          <a:prstGeom prst="rect">
            <a:avLst/>
          </a:prstGeom>
        </p:spPr>
        <p:txBody>
          <a:bodyPr wrap="square">
            <a:spAutoFit/>
          </a:bodyPr>
          <a:lstStyle/>
          <a:p>
            <a:pPr indent="531813" algn="just">
              <a:lnSpc>
                <a:spcPct val="130000"/>
              </a:lnSpc>
              <a:spcAft>
                <a:spcPts val="0"/>
              </a:spcAft>
            </a:pPr>
            <a:r>
              <a:rPr lang="bg-BG" sz="2400" dirty="0">
                <a:solidFill>
                  <a:schemeClr val="tx1">
                    <a:lumMod val="95000"/>
                    <a:lumOff val="5000"/>
                  </a:schemeClr>
                </a:solidFill>
              </a:rPr>
              <a:t>Еквивалентната предавателна функция на свързването с помощта на обикновена отрицателна обратна връзка е: </a:t>
            </a:r>
          </a:p>
        </p:txBody>
      </p:sp>
      <p:sp>
        <p:nvSpPr>
          <p:cNvPr id="10" name="Правоъгълник 9"/>
          <p:cNvSpPr/>
          <p:nvPr/>
        </p:nvSpPr>
        <p:spPr>
          <a:xfrm>
            <a:off x="0" y="36900"/>
            <a:ext cx="11657045" cy="494687"/>
          </a:xfrm>
          <a:prstGeom prst="rect">
            <a:avLst/>
          </a:prstGeom>
        </p:spPr>
        <p:txBody>
          <a:bodyPr wrap="square">
            <a:spAutoFit/>
          </a:bodyPr>
          <a:lstStyle/>
          <a:p>
            <a:pPr algn="just">
              <a:lnSpc>
                <a:spcPct val="120000"/>
              </a:lnSpc>
              <a:buClr>
                <a:schemeClr val="accent1">
                  <a:lumMod val="75000"/>
                </a:schemeClr>
              </a:buClr>
              <a:buSzPct val="85000"/>
            </a:pPr>
            <a:r>
              <a:rPr lang="bg-BG" sz="2400" b="1" i="1" dirty="0"/>
              <a:t>Свързване на елементарни динамични звена с обикновена обратна връзка</a:t>
            </a:r>
          </a:p>
        </p:txBody>
      </p:sp>
      <p:sp>
        <p:nvSpPr>
          <p:cNvPr id="11" name="Правоъгълник 10"/>
          <p:cNvSpPr/>
          <p:nvPr/>
        </p:nvSpPr>
        <p:spPr>
          <a:xfrm>
            <a:off x="6475444" y="4385270"/>
            <a:ext cx="5901095" cy="2012859"/>
          </a:xfrm>
          <a:prstGeom prst="rect">
            <a:avLst/>
          </a:prstGeom>
        </p:spPr>
        <p:txBody>
          <a:bodyPr wrap="square">
            <a:spAutoFit/>
          </a:bodyPr>
          <a:lstStyle/>
          <a:p>
            <a:pPr indent="531813" algn="just">
              <a:lnSpc>
                <a:spcPct val="130000"/>
              </a:lnSpc>
              <a:spcAft>
                <a:spcPts val="0"/>
              </a:spcAft>
            </a:pPr>
            <a:r>
              <a:rPr lang="bg-BG" sz="2400" dirty="0">
                <a:solidFill>
                  <a:schemeClr val="tx1">
                    <a:lumMod val="95000"/>
                    <a:lumOff val="5000"/>
                  </a:schemeClr>
                </a:solidFill>
              </a:rPr>
              <a:t>Еквивалентната предавателна функция на свързването с помощта на обикновена положителна обратна връзка е:</a:t>
            </a:r>
          </a:p>
        </p:txBody>
      </p:sp>
      <p:sp>
        <p:nvSpPr>
          <p:cNvPr id="12"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3" name="Обект 12"/>
          <p:cNvGraphicFramePr>
            <a:graphicFrameLocks noChangeAspect="1"/>
          </p:cNvGraphicFramePr>
          <p:nvPr>
            <p:extLst>
              <p:ext uri="{D42A27DB-BD31-4B8C-83A1-F6EECF244321}">
                <p14:modId xmlns:p14="http://schemas.microsoft.com/office/powerpoint/2010/main" val="1302347056"/>
              </p:ext>
            </p:extLst>
          </p:nvPr>
        </p:nvGraphicFramePr>
        <p:xfrm>
          <a:off x="1569664" y="5745872"/>
          <a:ext cx="3692801" cy="928358"/>
        </p:xfrm>
        <a:graphic>
          <a:graphicData uri="http://schemas.openxmlformats.org/presentationml/2006/ole">
            <mc:AlternateContent xmlns:mc="http://schemas.openxmlformats.org/markup-compatibility/2006">
              <mc:Choice xmlns:v="urn:schemas-microsoft-com:vml" Requires="v">
                <p:oleObj spid="_x0000_s15366" name="Equation" r:id="rId5" imgW="1701800" imgH="431800" progId="Equation.3">
                  <p:embed/>
                </p:oleObj>
              </mc:Choice>
              <mc:Fallback>
                <p:oleObj name="Equation" r:id="rId5" imgW="1701800" imgH="431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9664" y="5745872"/>
                        <a:ext cx="3692801" cy="928358"/>
                      </a:xfrm>
                      <a:prstGeom prst="rect">
                        <a:avLst/>
                      </a:prstGeom>
                      <a:noFill/>
                    </p:spPr>
                  </p:pic>
                </p:oleObj>
              </mc:Fallback>
            </mc:AlternateContent>
          </a:graphicData>
        </a:graphic>
      </p:graphicFrame>
      <p:sp>
        <p:nvSpPr>
          <p:cNvPr id="14"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5" name="Обект 14"/>
          <p:cNvGraphicFramePr>
            <a:graphicFrameLocks noChangeAspect="1"/>
          </p:cNvGraphicFramePr>
          <p:nvPr>
            <p:extLst>
              <p:ext uri="{D42A27DB-BD31-4B8C-83A1-F6EECF244321}">
                <p14:modId xmlns:p14="http://schemas.microsoft.com/office/powerpoint/2010/main" val="2073042965"/>
              </p:ext>
            </p:extLst>
          </p:nvPr>
        </p:nvGraphicFramePr>
        <p:xfrm>
          <a:off x="8172400" y="5798361"/>
          <a:ext cx="3275223" cy="823380"/>
        </p:xfrm>
        <a:graphic>
          <a:graphicData uri="http://schemas.openxmlformats.org/presentationml/2006/ole">
            <mc:AlternateContent xmlns:mc="http://schemas.openxmlformats.org/markup-compatibility/2006">
              <mc:Choice xmlns:v="urn:schemas-microsoft-com:vml" Requires="v">
                <p:oleObj spid="_x0000_s15367" name="Equation" r:id="rId7" imgW="1701720" imgH="431640" progId="Equation.3">
                  <p:embed/>
                </p:oleObj>
              </mc:Choice>
              <mc:Fallback>
                <p:oleObj name="Equation" r:id="rId7" imgW="1701720" imgH="431640" progId="Equation.3">
                  <p:embed/>
                  <p:pic>
                    <p:nvPicPr>
                      <p:cNvPr id="0" name="Object 5"/>
                      <p:cNvPicPr>
                        <a:picLocks noChangeAspect="1" noChangeArrowheads="1"/>
                      </p:cNvPicPr>
                      <p:nvPr/>
                    </p:nvPicPr>
                    <p:blipFill>
                      <a:blip r:embed="rId8"/>
                      <a:srcRect/>
                      <a:stretch>
                        <a:fillRect/>
                      </a:stretch>
                    </p:blipFill>
                    <p:spPr bwMode="auto">
                      <a:xfrm>
                        <a:off x="8172400" y="5798361"/>
                        <a:ext cx="3275223" cy="823380"/>
                      </a:xfrm>
                      <a:prstGeom prst="rect">
                        <a:avLst/>
                      </a:prstGeom>
                      <a:noFill/>
                    </p:spPr>
                  </p:pic>
                </p:oleObj>
              </mc:Fallback>
            </mc:AlternateContent>
          </a:graphicData>
        </a:graphic>
      </p:graphicFrame>
    </p:spTree>
    <p:extLst>
      <p:ext uri="{BB962C8B-B14F-4D97-AF65-F5344CB8AC3E}">
        <p14:creationId xmlns:p14="http://schemas.microsoft.com/office/powerpoint/2010/main" val="2230964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41</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1"/>
          <p:cNvSpPr/>
          <p:nvPr/>
        </p:nvSpPr>
        <p:spPr>
          <a:xfrm>
            <a:off x="1642188" y="120641"/>
            <a:ext cx="10363200" cy="6484852"/>
          </a:xfrm>
          <a:prstGeom prst="rect">
            <a:avLst/>
          </a:prstGeom>
        </p:spPr>
        <p:txBody>
          <a:bodyPr wrap="square">
            <a:spAutoFit/>
          </a:bodyPr>
          <a:lstStyle/>
          <a:p>
            <a:pPr algn="just">
              <a:lnSpc>
                <a:spcPct val="120000"/>
              </a:lnSpc>
              <a:buClr>
                <a:schemeClr val="accent1">
                  <a:lumMod val="75000"/>
                </a:schemeClr>
              </a:buClr>
              <a:buSzPct val="85000"/>
            </a:pPr>
            <a:r>
              <a:rPr lang="bg-BG" sz="2400" b="1" i="1" dirty="0"/>
              <a:t>Свързване с помощта на кръстосани обратни връзки</a:t>
            </a:r>
          </a:p>
          <a:p>
            <a:pPr indent="531813" algn="just">
              <a:lnSpc>
                <a:spcPct val="130000"/>
              </a:lnSpc>
            </a:pPr>
            <a:r>
              <a:rPr lang="bg-BG" sz="2400" dirty="0">
                <a:solidFill>
                  <a:schemeClr val="tx1">
                    <a:lumMod val="95000"/>
                    <a:lumOff val="5000"/>
                  </a:schemeClr>
                </a:solidFill>
              </a:rPr>
              <a:t>При по-сложни за регулиране се използват т. нар. кръстосани връзки. </a:t>
            </a:r>
          </a:p>
          <a:p>
            <a:pPr algn="just">
              <a:lnSpc>
                <a:spcPct val="130000"/>
              </a:lnSpc>
            </a:pPr>
            <a:r>
              <a:rPr lang="bg-BG" sz="2400" b="1" i="1" dirty="0"/>
              <a:t>Пример:</a:t>
            </a:r>
          </a:p>
          <a:p>
            <a:pPr algn="just">
              <a:lnSpc>
                <a:spcPct val="130000"/>
              </a:lnSpc>
            </a:pPr>
            <a:endParaRPr lang="bg-BG" sz="2400" b="1" i="1" dirty="0"/>
          </a:p>
          <a:p>
            <a:pPr algn="just">
              <a:lnSpc>
                <a:spcPct val="130000"/>
              </a:lnSpc>
            </a:pPr>
            <a:endParaRPr lang="bg-BG" sz="2400" b="1" i="1" dirty="0"/>
          </a:p>
          <a:p>
            <a:pPr algn="just">
              <a:lnSpc>
                <a:spcPct val="130000"/>
              </a:lnSpc>
            </a:pPr>
            <a:endParaRPr lang="bg-BG" sz="2400" b="1" i="1" dirty="0"/>
          </a:p>
          <a:p>
            <a:pPr algn="just">
              <a:lnSpc>
                <a:spcPct val="130000"/>
              </a:lnSpc>
            </a:pPr>
            <a:endParaRPr lang="bg-BG" sz="2400" b="1" i="1" dirty="0"/>
          </a:p>
          <a:p>
            <a:pPr algn="just">
              <a:lnSpc>
                <a:spcPct val="130000"/>
              </a:lnSpc>
            </a:pPr>
            <a:endParaRPr lang="bg-BG" sz="2400" b="1" i="1" dirty="0"/>
          </a:p>
          <a:p>
            <a:pPr algn="just">
              <a:lnSpc>
                <a:spcPct val="130000"/>
              </a:lnSpc>
              <a:spcBef>
                <a:spcPts val="1200"/>
              </a:spcBef>
            </a:pPr>
            <a:endParaRPr lang="bg-BG" dirty="0"/>
          </a:p>
          <a:p>
            <a:pPr indent="531813" algn="just">
              <a:lnSpc>
                <a:spcPct val="130000"/>
              </a:lnSpc>
              <a:spcBef>
                <a:spcPts val="1200"/>
              </a:spcBef>
            </a:pPr>
            <a:r>
              <a:rPr lang="bg-BG" sz="2400" dirty="0">
                <a:solidFill>
                  <a:schemeClr val="tx1">
                    <a:lumMod val="95000"/>
                    <a:lumOff val="5000"/>
                  </a:schemeClr>
                </a:solidFill>
              </a:rPr>
              <a:t>Предавателната функция на представената по-горе система е следната:</a:t>
            </a:r>
            <a:endParaRPr lang="bg-BG" sz="2400" b="1" i="1" dirty="0"/>
          </a:p>
          <a:p>
            <a:pPr indent="531813" algn="just">
              <a:lnSpc>
                <a:spcPct val="130000"/>
              </a:lnSpc>
            </a:pPr>
            <a:endParaRPr lang="bg-BG" sz="2400" dirty="0">
              <a:solidFill>
                <a:schemeClr val="tx1">
                  <a:lumMod val="95000"/>
                  <a:lumOff val="5000"/>
                </a:schemeClr>
              </a:solidFill>
            </a:endParaRPr>
          </a:p>
        </p:txBody>
      </p:sp>
      <p:pic>
        <p:nvPicPr>
          <p:cNvPr id="59" name="Картина 58"/>
          <p:cNvPicPr>
            <a:picLocks noChangeAspect="1"/>
          </p:cNvPicPr>
          <p:nvPr/>
        </p:nvPicPr>
        <p:blipFill>
          <a:blip r:embed="rId4"/>
          <a:stretch>
            <a:fillRect/>
          </a:stretch>
        </p:blipFill>
        <p:spPr>
          <a:xfrm>
            <a:off x="2032000" y="2108718"/>
            <a:ext cx="9974632" cy="2817846"/>
          </a:xfrm>
          <a:prstGeom prst="rect">
            <a:avLst/>
          </a:prstGeom>
        </p:spPr>
      </p:pic>
      <p:sp>
        <p:nvSpPr>
          <p:cNvPr id="61" name="Rectangle 73"/>
          <p:cNvSpPr>
            <a:spLocks noChangeArrowheads="1"/>
          </p:cNvSpPr>
          <p:nvPr/>
        </p:nvSpPr>
        <p:spPr bwMode="auto">
          <a:xfrm>
            <a:off x="3135085" y="5551193"/>
            <a:ext cx="1404308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graphicFrame>
        <p:nvGraphicFramePr>
          <p:cNvPr id="62" name="Обект 61"/>
          <p:cNvGraphicFramePr>
            <a:graphicFrameLocks noChangeAspect="1"/>
          </p:cNvGraphicFramePr>
          <p:nvPr>
            <p:extLst>
              <p:ext uri="{D42A27DB-BD31-4B8C-83A1-F6EECF244321}">
                <p14:modId xmlns:p14="http://schemas.microsoft.com/office/powerpoint/2010/main" val="3641256933"/>
              </p:ext>
            </p:extLst>
          </p:nvPr>
        </p:nvGraphicFramePr>
        <p:xfrm>
          <a:off x="3401318" y="5551193"/>
          <a:ext cx="8604070" cy="907972"/>
        </p:xfrm>
        <a:graphic>
          <a:graphicData uri="http://schemas.openxmlformats.org/presentationml/2006/ole">
            <mc:AlternateContent xmlns:mc="http://schemas.openxmlformats.org/markup-compatibility/2006">
              <mc:Choice xmlns:v="urn:schemas-microsoft-com:vml" Requires="v">
                <p:oleObj spid="_x0000_s16388" name="Equation" r:id="rId5" imgW="3467100" imgH="431800" progId="Equation.3">
                  <p:embed/>
                </p:oleObj>
              </mc:Choice>
              <mc:Fallback>
                <p:oleObj name="Equation" r:id="rId5" imgW="3467100" imgH="431800" progId="Equation.3">
                  <p:embed/>
                  <p:pic>
                    <p:nvPicPr>
                      <p:cNvPr id="0" name="Object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1318" y="5551193"/>
                        <a:ext cx="8604070" cy="907972"/>
                      </a:xfrm>
                      <a:prstGeom prst="rect">
                        <a:avLst/>
                      </a:prstGeom>
                      <a:noFill/>
                    </p:spPr>
                  </p:pic>
                </p:oleObj>
              </mc:Fallback>
            </mc:AlternateContent>
          </a:graphicData>
        </a:graphic>
      </p:graphicFrame>
    </p:spTree>
    <p:extLst>
      <p:ext uri="{BB962C8B-B14F-4D97-AF65-F5344CB8AC3E}">
        <p14:creationId xmlns:p14="http://schemas.microsoft.com/office/powerpoint/2010/main" val="2738392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42</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9" name="Rectangle 8"/>
          <p:cNvSpPr/>
          <p:nvPr/>
        </p:nvSpPr>
        <p:spPr>
          <a:xfrm>
            <a:off x="2276668" y="523570"/>
            <a:ext cx="9498565" cy="5373779"/>
          </a:xfrm>
          <a:prstGeom prst="rect">
            <a:avLst/>
          </a:prstGeom>
        </p:spPr>
        <p:txBody>
          <a:bodyPr wrap="square">
            <a:spAutoFit/>
          </a:bodyPr>
          <a:lstStyle/>
          <a:p>
            <a:pPr algn="ctr">
              <a:lnSpc>
                <a:spcPct val="130000"/>
              </a:lnSpc>
              <a:buClr>
                <a:schemeClr val="accent1">
                  <a:lumMod val="75000"/>
                </a:schemeClr>
              </a:buClr>
              <a:buSzPct val="85000"/>
              <a:tabLst>
                <a:tab pos="228600" algn="l"/>
              </a:tabLst>
              <a:defRPr/>
            </a:pPr>
            <a:r>
              <a:rPr lang="bg-BG" sz="2400" b="1" i="1" dirty="0"/>
              <a:t>Видове обратни връзки</a:t>
            </a:r>
          </a:p>
          <a:p>
            <a:pPr indent="531813" algn="just">
              <a:lnSpc>
                <a:spcPct val="130000"/>
              </a:lnSpc>
              <a:buClr>
                <a:schemeClr val="accent1">
                  <a:lumMod val="75000"/>
                </a:schemeClr>
              </a:buClr>
              <a:buSzPct val="85000"/>
              <a:tabLst>
                <a:tab pos="228600" algn="l"/>
              </a:tabLst>
              <a:defRPr/>
            </a:pPr>
            <a:r>
              <a:rPr lang="bg-BG" sz="2400" dirty="0">
                <a:solidFill>
                  <a:schemeClr val="tx1">
                    <a:lumMod val="95000"/>
                    <a:lumOff val="5000"/>
                  </a:schemeClr>
                </a:solidFill>
              </a:rPr>
              <a:t>Действието на обратните връзки лежи в основата на работния процес и определя най-важните свойства и характеристики на системите за автоматично управление. Обратните връзки се използват за създаване на различни коригиращи вериги, които позволяват да се получи изисквания характер на преходните и установени процеси в отделните елементи и системата като цяло. С използването на обратните връзки могат да се изменят в желаната посока както параметрите на отделните елементарни типови звена, така и техните предавателни функции, което е равносилно на изменението на тяхната структура.</a:t>
            </a:r>
          </a:p>
        </p:txBody>
      </p:sp>
    </p:spTree>
    <p:extLst>
      <p:ext uri="{BB962C8B-B14F-4D97-AF65-F5344CB8AC3E}">
        <p14:creationId xmlns:p14="http://schemas.microsoft.com/office/powerpoint/2010/main" val="679608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43</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1"/>
          <p:cNvSpPr/>
          <p:nvPr/>
        </p:nvSpPr>
        <p:spPr>
          <a:xfrm>
            <a:off x="2206760" y="0"/>
            <a:ext cx="9848391" cy="4893647"/>
          </a:xfrm>
          <a:prstGeom prst="rect">
            <a:avLst/>
          </a:prstGeom>
        </p:spPr>
        <p:txBody>
          <a:bodyPr wrap="square">
            <a:spAutoFit/>
          </a:bodyPr>
          <a:lstStyle/>
          <a:p>
            <a:pPr indent="531813" algn="just">
              <a:lnSpc>
                <a:spcPct val="130000"/>
              </a:lnSpc>
              <a:buClr>
                <a:schemeClr val="accent1">
                  <a:lumMod val="75000"/>
                </a:schemeClr>
              </a:buClr>
              <a:buSzPct val="85000"/>
              <a:tabLst>
                <a:tab pos="228600" algn="l"/>
              </a:tabLst>
              <a:defRPr/>
            </a:pPr>
            <a:r>
              <a:rPr lang="bg-BG" sz="2400" dirty="0">
                <a:solidFill>
                  <a:schemeClr val="tx1">
                    <a:lumMod val="95000"/>
                    <a:lumOff val="5000"/>
                  </a:schemeClr>
                </a:solidFill>
              </a:rPr>
              <a:t>Използваните обратни връзки могат да бъдат разделени на различни видове в зависимост от резултатите от тяхното въздействие на изходната величина и от характера на предавателната функция на звеното, образуващо веригата на обратната връзка. От тази гледна точка обратните връзки се делят на твърди, гъвкави и инерционни. Всяка от тях може да бъде положителна и отрицателна.</a:t>
            </a:r>
          </a:p>
          <a:p>
            <a:pPr indent="531813" algn="just">
              <a:lnSpc>
                <a:spcPct val="120000"/>
              </a:lnSpc>
              <a:buClr>
                <a:schemeClr val="accent1">
                  <a:lumMod val="75000"/>
                </a:schemeClr>
              </a:buClr>
              <a:buSzPct val="85000"/>
              <a:tabLst>
                <a:tab pos="228600" algn="l"/>
              </a:tabLst>
              <a:defRPr/>
            </a:pPr>
            <a:r>
              <a:rPr lang="bg-BG" sz="2400" i="1" dirty="0">
                <a:solidFill>
                  <a:schemeClr val="tx1">
                    <a:lumMod val="95000"/>
                    <a:lumOff val="5000"/>
                  </a:schemeClr>
                </a:solidFill>
              </a:rPr>
              <a:t>Твърда обратна връзка</a:t>
            </a:r>
          </a:p>
          <a:p>
            <a:pPr indent="531813" algn="just">
              <a:lnSpc>
                <a:spcPct val="130000"/>
              </a:lnSpc>
              <a:buClr>
                <a:schemeClr val="accent1">
                  <a:lumMod val="75000"/>
                </a:schemeClr>
              </a:buClr>
              <a:buSzPct val="85000"/>
              <a:tabLst>
                <a:tab pos="228600" algn="l"/>
              </a:tabLst>
              <a:defRPr/>
            </a:pPr>
            <a:r>
              <a:rPr lang="bg-BG" sz="2400" dirty="0">
                <a:solidFill>
                  <a:schemeClr val="tx1">
                    <a:lumMod val="95000"/>
                    <a:lumOff val="5000"/>
                  </a:schemeClr>
                </a:solidFill>
              </a:rPr>
              <a:t>Твърдата обратна връзка се реализира с пропорционални звена. По такъв начин предавателната функция на твърдата обратна</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8" name="Обект 7"/>
          <p:cNvGraphicFramePr>
            <a:graphicFrameLocks noChangeAspect="1"/>
          </p:cNvGraphicFramePr>
          <p:nvPr>
            <p:extLst>
              <p:ext uri="{D42A27DB-BD31-4B8C-83A1-F6EECF244321}">
                <p14:modId xmlns:p14="http://schemas.microsoft.com/office/powerpoint/2010/main" val="564053841"/>
              </p:ext>
            </p:extLst>
          </p:nvPr>
        </p:nvGraphicFramePr>
        <p:xfrm>
          <a:off x="6415593" y="4678717"/>
          <a:ext cx="1784483" cy="503854"/>
        </p:xfrm>
        <a:graphic>
          <a:graphicData uri="http://schemas.openxmlformats.org/presentationml/2006/ole">
            <mc:AlternateContent xmlns:mc="http://schemas.openxmlformats.org/markup-compatibility/2006">
              <mc:Choice xmlns:v="urn:schemas-microsoft-com:vml" Requires="v">
                <p:oleObj spid="_x0000_s17412" name="Equation" r:id="rId4" imgW="812447" imgH="228501" progId="Equation.3">
                  <p:embed/>
                </p:oleObj>
              </mc:Choice>
              <mc:Fallback>
                <p:oleObj name="Equation" r:id="rId4" imgW="812447" imgH="228501" progId="Equation.3">
                  <p:embed/>
                  <p:pic>
                    <p:nvPicPr>
                      <p:cNvPr id="0"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5593" y="4678717"/>
                        <a:ext cx="1784483" cy="50385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6" name="Правоъгълник 15"/>
              <p:cNvSpPr/>
              <p:nvPr/>
            </p:nvSpPr>
            <p:spPr>
              <a:xfrm>
                <a:off x="0" y="4590520"/>
                <a:ext cx="12192000" cy="2308324"/>
              </a:xfrm>
              <a:prstGeom prst="rect">
                <a:avLst/>
              </a:prstGeom>
            </p:spPr>
            <p:txBody>
              <a:bodyPr wrap="square">
                <a:spAutoFit/>
              </a:bodyPr>
              <a:lstStyle/>
              <a:p>
                <a:pPr algn="just">
                  <a:lnSpc>
                    <a:spcPct val="120000"/>
                  </a:lnSpc>
                  <a:buClr>
                    <a:schemeClr val="accent1">
                      <a:lumMod val="75000"/>
                    </a:schemeClr>
                  </a:buClr>
                  <a:buSzPct val="85000"/>
                  <a:tabLst>
                    <a:tab pos="228600" algn="l"/>
                  </a:tabLst>
                  <a:defRPr/>
                </a:pPr>
                <a:r>
                  <a:rPr lang="bg-BG" sz="2400" dirty="0">
                    <a:solidFill>
                      <a:schemeClr val="tx1">
                        <a:lumMod val="95000"/>
                        <a:lumOff val="5000"/>
                      </a:schemeClr>
                    </a:solidFill>
                  </a:rPr>
                  <a:t>връзка може да бъде записана в следния вид:			където </a:t>
                </a:r>
                <a14:m>
                  <m:oMath xmlns:m="http://schemas.openxmlformats.org/officeDocument/2006/math">
                    <m:sSub>
                      <m:sSubPr>
                        <m:ctrlPr>
                          <a:rPr lang="bg-BG" sz="2400" i="1" smtClean="0">
                            <a:solidFill>
                              <a:schemeClr val="tx1">
                                <a:lumMod val="95000"/>
                                <a:lumOff val="5000"/>
                              </a:schemeClr>
                            </a:solidFill>
                            <a:latin typeface="Cambria Math"/>
                          </a:rPr>
                        </m:ctrlPr>
                      </m:sSubPr>
                      <m:e>
                        <m:r>
                          <a:rPr lang="en-US" sz="2400" b="0" i="1" smtClean="0">
                            <a:solidFill>
                              <a:schemeClr val="tx1">
                                <a:lumMod val="95000"/>
                                <a:lumOff val="5000"/>
                              </a:schemeClr>
                            </a:solidFill>
                            <a:latin typeface="Cambria Math" panose="02040503050406030204" pitchFamily="18" charset="0"/>
                          </a:rPr>
                          <m:t>𝑘</m:t>
                        </m:r>
                      </m:e>
                      <m:sub>
                        <m:r>
                          <a:rPr lang="en-US" sz="2400" b="0" i="1" smtClean="0">
                            <a:solidFill>
                              <a:schemeClr val="tx1">
                                <a:lumMod val="95000"/>
                                <a:lumOff val="5000"/>
                              </a:schemeClr>
                            </a:solidFill>
                            <a:latin typeface="Cambria Math" panose="02040503050406030204" pitchFamily="18" charset="0"/>
                          </a:rPr>
                          <m:t>𝑜</m:t>
                        </m:r>
                        <m:r>
                          <a:rPr lang="bg-BG" sz="2400" b="0" i="1" smtClean="0">
                            <a:solidFill>
                              <a:schemeClr val="tx1">
                                <a:lumMod val="95000"/>
                                <a:lumOff val="5000"/>
                              </a:schemeClr>
                            </a:solidFill>
                            <a:latin typeface="Cambria Math" panose="02040503050406030204" pitchFamily="18" charset="0"/>
                          </a:rPr>
                          <m:t>в</m:t>
                        </m:r>
                      </m:sub>
                    </m:sSub>
                  </m:oMath>
                </a14:m>
                <a:r>
                  <a:rPr lang="bg-BG" sz="2400" dirty="0">
                    <a:solidFill>
                      <a:schemeClr val="tx1">
                        <a:lumMod val="95000"/>
                        <a:lumOff val="5000"/>
                      </a:schemeClr>
                    </a:solidFill>
                  </a:rPr>
                  <a:t> е коефициент на твърдата обратна връзка, който числено е равен на коефициента на пропорционалност на звеното. Ако  </a:t>
                </a:r>
                <a14:m>
                  <m:oMath xmlns:m="http://schemas.openxmlformats.org/officeDocument/2006/math">
                    <m:sSub>
                      <m:sSubPr>
                        <m:ctrlPr>
                          <a:rPr lang="bg-BG" sz="2400" i="1">
                            <a:solidFill>
                              <a:schemeClr val="tx1">
                                <a:lumMod val="95000"/>
                                <a:lumOff val="5000"/>
                              </a:schemeClr>
                            </a:solidFill>
                            <a:latin typeface="Cambria Math"/>
                          </a:rPr>
                        </m:ctrlPr>
                      </m:sSubPr>
                      <m:e>
                        <m:r>
                          <a:rPr lang="en-US" sz="2400" i="1">
                            <a:solidFill>
                              <a:schemeClr val="tx1">
                                <a:lumMod val="95000"/>
                                <a:lumOff val="5000"/>
                              </a:schemeClr>
                            </a:solidFill>
                            <a:latin typeface="Cambria Math" panose="02040503050406030204" pitchFamily="18" charset="0"/>
                          </a:rPr>
                          <m:t>𝑘</m:t>
                        </m:r>
                      </m:e>
                      <m:sub>
                        <m:r>
                          <a:rPr lang="en-US" sz="2400" i="1">
                            <a:solidFill>
                              <a:schemeClr val="tx1">
                                <a:lumMod val="95000"/>
                                <a:lumOff val="5000"/>
                              </a:schemeClr>
                            </a:solidFill>
                            <a:latin typeface="Cambria Math" panose="02040503050406030204" pitchFamily="18" charset="0"/>
                          </a:rPr>
                          <m:t>𝑜</m:t>
                        </m:r>
                        <m:r>
                          <a:rPr lang="bg-BG" sz="2400" i="1">
                            <a:solidFill>
                              <a:schemeClr val="tx1">
                                <a:lumMod val="95000"/>
                                <a:lumOff val="5000"/>
                              </a:schemeClr>
                            </a:solidFill>
                            <a:latin typeface="Cambria Math" panose="02040503050406030204" pitchFamily="18" charset="0"/>
                          </a:rPr>
                          <m:t>в</m:t>
                        </m:r>
                      </m:sub>
                    </m:sSub>
                  </m:oMath>
                </a14:m>
                <a:r>
                  <a:rPr lang="bg-BG" sz="2400" dirty="0">
                    <a:solidFill>
                      <a:schemeClr val="tx1">
                        <a:lumMod val="95000"/>
                        <a:lumOff val="5000"/>
                      </a:schemeClr>
                    </a:solidFill>
                  </a:rPr>
                  <a:t> не се променя в процеса на регулиране, твърдата обратна връзка се нарича постоянна. Обратно, ако в процеса на регулирането  </a:t>
                </a:r>
                <a14:m>
                  <m:oMath xmlns:m="http://schemas.openxmlformats.org/officeDocument/2006/math">
                    <m:sSub>
                      <m:sSubPr>
                        <m:ctrlPr>
                          <a:rPr lang="bg-BG" sz="2400" i="1">
                            <a:solidFill>
                              <a:schemeClr val="tx1">
                                <a:lumMod val="95000"/>
                                <a:lumOff val="5000"/>
                              </a:schemeClr>
                            </a:solidFill>
                            <a:latin typeface="Cambria Math"/>
                          </a:rPr>
                        </m:ctrlPr>
                      </m:sSubPr>
                      <m:e>
                        <m:r>
                          <a:rPr lang="en-US" sz="2400" i="1">
                            <a:solidFill>
                              <a:schemeClr val="tx1">
                                <a:lumMod val="95000"/>
                                <a:lumOff val="5000"/>
                              </a:schemeClr>
                            </a:solidFill>
                            <a:latin typeface="Cambria Math" panose="02040503050406030204" pitchFamily="18" charset="0"/>
                          </a:rPr>
                          <m:t>𝑘</m:t>
                        </m:r>
                      </m:e>
                      <m:sub>
                        <m:r>
                          <a:rPr lang="en-US" sz="2400" i="1">
                            <a:solidFill>
                              <a:schemeClr val="tx1">
                                <a:lumMod val="95000"/>
                                <a:lumOff val="5000"/>
                              </a:schemeClr>
                            </a:solidFill>
                            <a:latin typeface="Cambria Math" panose="02040503050406030204" pitchFamily="18" charset="0"/>
                          </a:rPr>
                          <m:t>𝑜</m:t>
                        </m:r>
                        <m:r>
                          <a:rPr lang="bg-BG" sz="2400" i="1">
                            <a:solidFill>
                              <a:schemeClr val="tx1">
                                <a:lumMod val="95000"/>
                                <a:lumOff val="5000"/>
                              </a:schemeClr>
                            </a:solidFill>
                            <a:latin typeface="Cambria Math" panose="02040503050406030204" pitchFamily="18" charset="0"/>
                          </a:rPr>
                          <m:t>в</m:t>
                        </m:r>
                      </m:sub>
                    </m:sSub>
                  </m:oMath>
                </a14:m>
                <a:r>
                  <a:rPr lang="bg-BG" sz="2400" dirty="0">
                    <a:solidFill>
                      <a:schemeClr val="tx1">
                        <a:lumMod val="95000"/>
                        <a:lumOff val="5000"/>
                      </a:schemeClr>
                    </a:solidFill>
                  </a:rPr>
                  <a:t>  се променя, твърдата обратна връзка се нарича променлива.</a:t>
                </a:r>
              </a:p>
            </p:txBody>
          </p:sp>
        </mc:Choice>
        <mc:Fallback xmlns="">
          <p:sp>
            <p:nvSpPr>
              <p:cNvPr id="16" name="Правоъгълник 15"/>
              <p:cNvSpPr>
                <a:spLocks noRot="1" noChangeAspect="1" noMove="1" noResize="1" noEditPoints="1" noAdjustHandles="1" noChangeArrowheads="1" noChangeShapeType="1" noTextEdit="1"/>
              </p:cNvSpPr>
              <p:nvPr/>
            </p:nvSpPr>
            <p:spPr>
              <a:xfrm>
                <a:off x="0" y="4590520"/>
                <a:ext cx="12192000" cy="2308324"/>
              </a:xfrm>
              <a:prstGeom prst="rect">
                <a:avLst/>
              </a:prstGeom>
              <a:blipFill>
                <a:blip r:embed="rId6"/>
                <a:stretch>
                  <a:fillRect l="-750" t="-792" r="-750" b="-3166"/>
                </a:stretch>
              </a:blipFill>
            </p:spPr>
            <p:txBody>
              <a:bodyPr/>
              <a:lstStyle/>
              <a:p>
                <a:r>
                  <a:rPr lang="en-US">
                    <a:noFill/>
                  </a:rPr>
                  <a:t> </a:t>
                </a:r>
              </a:p>
            </p:txBody>
          </p:sp>
        </mc:Fallback>
      </mc:AlternateContent>
    </p:spTree>
    <p:extLst>
      <p:ext uri="{BB962C8B-B14F-4D97-AF65-F5344CB8AC3E}">
        <p14:creationId xmlns:p14="http://schemas.microsoft.com/office/powerpoint/2010/main" val="11634756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44</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2" name="Rectangle 1"/>
          <p:cNvSpPr/>
          <p:nvPr/>
        </p:nvSpPr>
        <p:spPr>
          <a:xfrm>
            <a:off x="2223068" y="33003"/>
            <a:ext cx="9968932" cy="6814173"/>
          </a:xfrm>
          <a:prstGeom prst="rect">
            <a:avLst/>
          </a:prstGeom>
        </p:spPr>
        <p:txBody>
          <a:bodyPr wrap="square">
            <a:spAutoFit/>
          </a:bodyPr>
          <a:lstStyle/>
          <a:p>
            <a:pPr indent="531813" algn="just">
              <a:lnSpc>
                <a:spcPct val="130000"/>
              </a:lnSpc>
              <a:buClr>
                <a:schemeClr val="accent1">
                  <a:lumMod val="75000"/>
                </a:schemeClr>
              </a:buClr>
              <a:buSzPct val="85000"/>
              <a:tabLst>
                <a:tab pos="228600" algn="l"/>
              </a:tabLst>
            </a:pPr>
            <a:r>
              <a:rPr lang="bg-BG" sz="2400" i="1" dirty="0">
                <a:solidFill>
                  <a:schemeClr val="tx1">
                    <a:lumMod val="95000"/>
                    <a:lumOff val="5000"/>
                  </a:schemeClr>
                </a:solidFill>
              </a:rPr>
              <a:t>Гъвкава обратна връзка</a:t>
            </a: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Гъвкава обратна връзка може да бъде реализирана с диференциращи звена. Ако веригата на обратната връзка е изпълнена с помощта на идеално диференциращо звено, неговата предавателна функция има вида:</a:t>
            </a:r>
          </a:p>
          <a:p>
            <a:pPr indent="531813" algn="just">
              <a:lnSpc>
                <a:spcPct val="130000"/>
              </a:lnSpc>
              <a:buClr>
                <a:schemeClr val="accent1">
                  <a:lumMod val="75000"/>
                </a:schemeClr>
              </a:buClr>
              <a:buSzPct val="85000"/>
              <a:tabLst>
                <a:tab pos="228600" algn="l"/>
              </a:tabLst>
            </a:pPr>
            <a:endParaRPr lang="bg-BG" sz="2400" dirty="0">
              <a:solidFill>
                <a:schemeClr val="tx1">
                  <a:lumMod val="95000"/>
                  <a:lumOff val="5000"/>
                </a:schemeClr>
              </a:solidFill>
            </a:endParaRP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Въздействието на гъвкавата обратна връзка е пропорционално на първата производна на регулируемата величина.</a:t>
            </a: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Ако във веригата на обратната връзка са включени няколко идеални диференциращи звена, предавателната функция има същия вид, но се повишава редът на диференцирането.</a:t>
            </a: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Гъвкавите обратни връзки действат само по време на преходния процес. Тяхното въздействие е максимално в началото и минимално в края на преходния процес.</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graphicFrame>
        <p:nvGraphicFramePr>
          <p:cNvPr id="8" name="Обект 7"/>
          <p:cNvGraphicFramePr>
            <a:graphicFrameLocks noChangeAspect="1"/>
          </p:cNvGraphicFramePr>
          <p:nvPr>
            <p:extLst>
              <p:ext uri="{D42A27DB-BD31-4B8C-83A1-F6EECF244321}">
                <p14:modId xmlns:p14="http://schemas.microsoft.com/office/powerpoint/2010/main" val="2305955720"/>
              </p:ext>
            </p:extLst>
          </p:nvPr>
        </p:nvGraphicFramePr>
        <p:xfrm>
          <a:off x="4180115" y="2533618"/>
          <a:ext cx="2551425" cy="561782"/>
        </p:xfrm>
        <a:graphic>
          <a:graphicData uri="http://schemas.openxmlformats.org/presentationml/2006/ole">
            <mc:AlternateContent xmlns:mc="http://schemas.openxmlformats.org/markup-compatibility/2006">
              <mc:Choice xmlns:v="urn:schemas-microsoft-com:vml" Requires="v">
                <p:oleObj spid="_x0000_s18436" name="Equation" r:id="rId4" imgW="1040948" imgH="228501" progId="Equation.3">
                  <p:embed/>
                </p:oleObj>
              </mc:Choice>
              <mc:Fallback>
                <p:oleObj name="Equation" r:id="rId4" imgW="1040948" imgH="228501" progId="Equation.3">
                  <p:embed/>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0115" y="2533618"/>
                        <a:ext cx="2551425" cy="561782"/>
                      </a:xfrm>
                      <a:prstGeom prst="rect">
                        <a:avLst/>
                      </a:prstGeom>
                      <a:noFill/>
                    </p:spPr>
                  </p:pic>
                </p:oleObj>
              </mc:Fallback>
            </mc:AlternateContent>
          </a:graphicData>
        </a:graphic>
      </p:graphicFrame>
    </p:spTree>
    <p:extLst>
      <p:ext uri="{BB962C8B-B14F-4D97-AF65-F5344CB8AC3E}">
        <p14:creationId xmlns:p14="http://schemas.microsoft.com/office/powerpoint/2010/main" val="1675869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45</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6" name="Правоъгълник 5"/>
          <p:cNvSpPr/>
          <p:nvPr/>
        </p:nvSpPr>
        <p:spPr>
          <a:xfrm>
            <a:off x="1712068" y="34466"/>
            <a:ext cx="10350229" cy="6814173"/>
          </a:xfrm>
          <a:prstGeom prst="rect">
            <a:avLst/>
          </a:prstGeom>
        </p:spPr>
        <p:txBody>
          <a:bodyPr wrap="square">
            <a:spAutoFit/>
          </a:bodyPr>
          <a:lstStyle/>
          <a:p>
            <a:pPr indent="531813" algn="just">
              <a:lnSpc>
                <a:spcPct val="130000"/>
              </a:lnSpc>
              <a:buClr>
                <a:schemeClr val="accent1">
                  <a:lumMod val="75000"/>
                </a:schemeClr>
              </a:buClr>
              <a:buSzPct val="85000"/>
              <a:tabLst>
                <a:tab pos="228600" algn="l"/>
              </a:tabLst>
            </a:pPr>
            <a:r>
              <a:rPr lang="bg-BG" sz="2400" i="1" dirty="0">
                <a:solidFill>
                  <a:schemeClr val="tx1">
                    <a:lumMod val="95000"/>
                    <a:lumOff val="5000"/>
                  </a:schemeClr>
                </a:solidFill>
              </a:rPr>
              <a:t>Инерционна обратна връзка</a:t>
            </a: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Инерционната обратна връзка се реализира посредством едно или няколко апериодични елементарни динамични звена. Следователно инерционната обратна връзка има следната предавателна функция:</a:t>
            </a:r>
          </a:p>
          <a:p>
            <a:pPr indent="531813" algn="just">
              <a:lnSpc>
                <a:spcPct val="130000"/>
              </a:lnSpc>
              <a:buClr>
                <a:schemeClr val="accent1">
                  <a:lumMod val="75000"/>
                </a:schemeClr>
              </a:buClr>
              <a:buSzPct val="85000"/>
              <a:tabLst>
                <a:tab pos="228600" algn="l"/>
              </a:tabLst>
            </a:pPr>
            <a:endParaRPr lang="bg-BG" sz="2400" dirty="0">
              <a:solidFill>
                <a:schemeClr val="tx1">
                  <a:lumMod val="95000"/>
                  <a:lumOff val="5000"/>
                </a:schemeClr>
              </a:solidFill>
            </a:endParaRPr>
          </a:p>
          <a:p>
            <a:pPr indent="531813" algn="just">
              <a:lnSpc>
                <a:spcPct val="130000"/>
              </a:lnSpc>
              <a:buClr>
                <a:schemeClr val="accent1">
                  <a:lumMod val="75000"/>
                </a:schemeClr>
              </a:buClr>
              <a:buSzPct val="85000"/>
              <a:tabLst>
                <a:tab pos="228600" algn="l"/>
              </a:tabLst>
            </a:pPr>
            <a:endParaRPr lang="bg-BG" sz="2400" dirty="0">
              <a:solidFill>
                <a:schemeClr val="tx1">
                  <a:lumMod val="95000"/>
                  <a:lumOff val="5000"/>
                </a:schemeClr>
              </a:solidFill>
            </a:endParaRP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а при </a:t>
            </a:r>
            <a:r>
              <a:rPr lang="en-US" sz="2400" dirty="0">
                <a:solidFill>
                  <a:schemeClr val="tx1">
                    <a:lumMod val="95000"/>
                    <a:lumOff val="5000"/>
                  </a:schemeClr>
                </a:solidFill>
              </a:rPr>
              <a:t>m</a:t>
            </a:r>
            <a:r>
              <a:rPr lang="bg-BG" sz="2400" dirty="0">
                <a:solidFill>
                  <a:schemeClr val="tx1">
                    <a:lumMod val="95000"/>
                    <a:lumOff val="5000"/>
                  </a:schemeClr>
                </a:solidFill>
              </a:rPr>
              <a:t> апериодични звена</a:t>
            </a:r>
          </a:p>
          <a:p>
            <a:pPr indent="531813" algn="just">
              <a:lnSpc>
                <a:spcPct val="130000"/>
              </a:lnSpc>
              <a:buClr>
                <a:schemeClr val="accent1">
                  <a:lumMod val="75000"/>
                </a:schemeClr>
              </a:buClr>
              <a:buSzPct val="85000"/>
              <a:tabLst>
                <a:tab pos="228600" algn="l"/>
              </a:tabLst>
            </a:pPr>
            <a:endParaRPr lang="bg-BG" sz="2400" dirty="0">
              <a:solidFill>
                <a:schemeClr val="tx1">
                  <a:lumMod val="95000"/>
                  <a:lumOff val="5000"/>
                </a:schemeClr>
              </a:solidFill>
            </a:endParaRPr>
          </a:p>
          <a:p>
            <a:pPr indent="531813" algn="just">
              <a:lnSpc>
                <a:spcPct val="130000"/>
              </a:lnSpc>
              <a:buClr>
                <a:schemeClr val="accent1">
                  <a:lumMod val="75000"/>
                </a:schemeClr>
              </a:buClr>
              <a:buSzPct val="85000"/>
              <a:tabLst>
                <a:tab pos="228600" algn="l"/>
              </a:tabLst>
            </a:pPr>
            <a:endParaRPr lang="bg-BG" sz="2400" dirty="0">
              <a:solidFill>
                <a:schemeClr val="tx1">
                  <a:lumMod val="95000"/>
                  <a:lumOff val="5000"/>
                </a:schemeClr>
              </a:solidFill>
            </a:endParaRP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Тези предавателни функции показват, че в началния момент на преходния процес, тяхното действие е равно на нула, а в края е адекватно на твърдата обратна връзка. Характерът на „междинното” действие на инерционната обратна връзка се определя от отношението на параметрите на звената, от които е изградена веригата.</a:t>
            </a:r>
          </a:p>
        </p:txBody>
      </p:sp>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0" name="Обект 9"/>
          <p:cNvGraphicFramePr>
            <a:graphicFrameLocks noChangeAspect="1"/>
          </p:cNvGraphicFramePr>
          <p:nvPr>
            <p:extLst>
              <p:ext uri="{D42A27DB-BD31-4B8C-83A1-F6EECF244321}">
                <p14:modId xmlns:p14="http://schemas.microsoft.com/office/powerpoint/2010/main" val="2497357096"/>
              </p:ext>
            </p:extLst>
          </p:nvPr>
        </p:nvGraphicFramePr>
        <p:xfrm>
          <a:off x="4435812" y="2144509"/>
          <a:ext cx="2115325" cy="894945"/>
        </p:xfrm>
        <a:graphic>
          <a:graphicData uri="http://schemas.openxmlformats.org/presentationml/2006/ole">
            <mc:AlternateContent xmlns:mc="http://schemas.openxmlformats.org/markup-compatibility/2006">
              <mc:Choice xmlns:v="urn:schemas-microsoft-com:vml" Requires="v">
                <p:oleObj spid="_x0000_s19462" name="Equation" r:id="rId4" imgW="990600" imgH="419100" progId="Equation.3">
                  <p:embed/>
                </p:oleObj>
              </mc:Choice>
              <mc:Fallback>
                <p:oleObj name="Equation" r:id="rId4" imgW="990600" imgH="4191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5812" y="2144509"/>
                        <a:ext cx="2115325" cy="894945"/>
                      </a:xfrm>
                      <a:prstGeom prst="rect">
                        <a:avLst/>
                      </a:prstGeom>
                      <a:noFill/>
                    </p:spPr>
                  </p:pic>
                </p:oleObj>
              </mc:Fallback>
            </mc:AlternateContent>
          </a:graphicData>
        </a:graphic>
      </p:graphicFrame>
      <p:sp>
        <p:nvSpPr>
          <p:cNvPr id="12"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3" name="Обект 12"/>
          <p:cNvGraphicFramePr>
            <a:graphicFrameLocks noChangeAspect="1"/>
          </p:cNvGraphicFramePr>
          <p:nvPr>
            <p:extLst>
              <p:ext uri="{D42A27DB-BD31-4B8C-83A1-F6EECF244321}">
                <p14:modId xmlns:p14="http://schemas.microsoft.com/office/powerpoint/2010/main" val="515377954"/>
              </p:ext>
            </p:extLst>
          </p:nvPr>
        </p:nvGraphicFramePr>
        <p:xfrm>
          <a:off x="3105796" y="3282822"/>
          <a:ext cx="5980408" cy="1107483"/>
        </p:xfrm>
        <a:graphic>
          <a:graphicData uri="http://schemas.openxmlformats.org/presentationml/2006/ole">
            <mc:AlternateContent xmlns:mc="http://schemas.openxmlformats.org/markup-compatibility/2006">
              <mc:Choice xmlns:v="urn:schemas-microsoft-com:vml" Requires="v">
                <p:oleObj spid="_x0000_s19463" name="Equation" r:id="rId6" imgW="2311400" imgH="431800" progId="Equation.3">
                  <p:embed/>
                </p:oleObj>
              </mc:Choice>
              <mc:Fallback>
                <p:oleObj name="Equation" r:id="rId6" imgW="2311400" imgH="4318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5796" y="3282822"/>
                        <a:ext cx="5980408" cy="1107483"/>
                      </a:xfrm>
                      <a:prstGeom prst="rect">
                        <a:avLst/>
                      </a:prstGeom>
                      <a:noFill/>
                    </p:spPr>
                  </p:pic>
                </p:oleObj>
              </mc:Fallback>
            </mc:AlternateContent>
          </a:graphicData>
        </a:graphic>
      </p:graphicFrame>
    </p:spTree>
    <p:extLst>
      <p:ext uri="{BB962C8B-B14F-4D97-AF65-F5344CB8AC3E}">
        <p14:creationId xmlns:p14="http://schemas.microsoft.com/office/powerpoint/2010/main" val="41853814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46</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mc:AlternateContent xmlns:mc="http://schemas.openxmlformats.org/markup-compatibility/2006" xmlns:a14="http://schemas.microsoft.com/office/drawing/2010/main">
        <mc:Choice Requires="a14">
          <p:sp>
            <p:nvSpPr>
              <p:cNvPr id="2" name="Правоъгълник 1"/>
              <p:cNvSpPr/>
              <p:nvPr/>
            </p:nvSpPr>
            <p:spPr>
              <a:xfrm>
                <a:off x="2032000" y="288925"/>
                <a:ext cx="9796834" cy="6334042"/>
              </a:xfrm>
              <a:prstGeom prst="rect">
                <a:avLst/>
              </a:prstGeom>
            </p:spPr>
            <p:txBody>
              <a:bodyPr wrap="square">
                <a:spAutoFit/>
              </a:bodyPr>
              <a:lstStyle/>
              <a:p>
                <a:pPr indent="531813" algn="just">
                  <a:lnSpc>
                    <a:spcPct val="130000"/>
                  </a:lnSpc>
                  <a:spcAft>
                    <a:spcPts val="0"/>
                  </a:spcAft>
                  <a:buClr>
                    <a:schemeClr val="accent1">
                      <a:lumMod val="75000"/>
                    </a:schemeClr>
                  </a:buClr>
                  <a:buSzPct val="85000"/>
                  <a:tabLst>
                    <a:tab pos="228600" algn="l"/>
                  </a:tabLst>
                </a:pPr>
                <a:r>
                  <a:rPr lang="bg-BG" sz="2400" i="1" dirty="0">
                    <a:solidFill>
                      <a:schemeClr val="tx1">
                        <a:lumMod val="95000"/>
                        <a:lumOff val="5000"/>
                      </a:schemeClr>
                    </a:solidFill>
                  </a:rPr>
                  <a:t>Влияние на обратните връзки върху параметрите и предавателните функции</a:t>
                </a:r>
              </a:p>
              <a:p>
                <a:pPr indent="531813" algn="just">
                  <a:lnSpc>
                    <a:spcPct val="130000"/>
                  </a:lnSpc>
                  <a:spcAft>
                    <a:spcPts val="0"/>
                  </a:spcAft>
                  <a:buClr>
                    <a:schemeClr val="accent1">
                      <a:lumMod val="75000"/>
                    </a:schemeClr>
                  </a:buClr>
                  <a:buSzPct val="85000"/>
                  <a:tabLst>
                    <a:tab pos="228600" algn="l"/>
                  </a:tabLst>
                </a:pPr>
                <a:r>
                  <a:rPr lang="bg-BG" sz="2400" dirty="0">
                    <a:solidFill>
                      <a:schemeClr val="tx1">
                        <a:lumMod val="95000"/>
                        <a:lumOff val="5000"/>
                      </a:schemeClr>
                    </a:solidFill>
                  </a:rPr>
                  <a:t>Като се има предвид еквивалентната предавателна функция при наличие на обратна връзка:</a:t>
                </a:r>
              </a:p>
              <a:p>
                <a:pPr indent="531813" algn="just">
                  <a:lnSpc>
                    <a:spcPct val="130000"/>
                  </a:lnSpc>
                  <a:spcAft>
                    <a:spcPts val="0"/>
                  </a:spcAft>
                  <a:buClr>
                    <a:schemeClr val="accent1">
                      <a:lumMod val="75000"/>
                    </a:schemeClr>
                  </a:buClr>
                  <a:buSzPct val="85000"/>
                  <a:tabLst>
                    <a:tab pos="228600" algn="l"/>
                  </a:tabLst>
                </a:pPr>
                <a:endParaRPr lang="bg-BG" sz="2400" dirty="0">
                  <a:solidFill>
                    <a:schemeClr val="tx1">
                      <a:lumMod val="95000"/>
                      <a:lumOff val="5000"/>
                    </a:schemeClr>
                  </a:solidFill>
                </a:endParaRPr>
              </a:p>
              <a:p>
                <a:pPr indent="531813" algn="just">
                  <a:lnSpc>
                    <a:spcPct val="130000"/>
                  </a:lnSpc>
                  <a:buClr>
                    <a:schemeClr val="accent1">
                      <a:lumMod val="75000"/>
                    </a:schemeClr>
                  </a:buClr>
                  <a:buSzPct val="85000"/>
                  <a:tabLst>
                    <a:tab pos="228600" algn="l"/>
                  </a:tabLst>
                </a:pPr>
                <a:endParaRPr lang="bg-BG" sz="2400" dirty="0">
                  <a:solidFill>
                    <a:schemeClr val="tx1">
                      <a:lumMod val="95000"/>
                      <a:lumOff val="5000"/>
                    </a:schemeClr>
                  </a:solidFill>
                </a:endParaRPr>
              </a:p>
              <a:p>
                <a:pPr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достатъчно е да се замести   </a:t>
                </a:r>
                <a14:m>
                  <m:oMath xmlns:m="http://schemas.openxmlformats.org/officeDocument/2006/math">
                    <m:sSub>
                      <m:sSubPr>
                        <m:ctrlPr>
                          <a:rPr lang="bg-BG" sz="2400" i="1" smtClean="0">
                            <a:solidFill>
                              <a:schemeClr val="tx1">
                                <a:lumMod val="95000"/>
                                <a:lumOff val="5000"/>
                              </a:schemeClr>
                            </a:solidFill>
                            <a:latin typeface="Cambria Math"/>
                          </a:rPr>
                        </m:ctrlPr>
                      </m:sSubPr>
                      <m:e>
                        <m:r>
                          <a:rPr lang="bg-BG" sz="2400" b="0" i="1" smtClean="0">
                            <a:solidFill>
                              <a:schemeClr val="tx1">
                                <a:lumMod val="95000"/>
                                <a:lumOff val="5000"/>
                              </a:schemeClr>
                            </a:solidFill>
                            <a:latin typeface="Cambria Math" panose="02040503050406030204" pitchFamily="18" charset="0"/>
                          </a:rPr>
                          <m:t>𝑊</m:t>
                        </m:r>
                      </m:e>
                      <m:sub>
                        <m:r>
                          <a:rPr lang="bg-BG" sz="2400" b="0" i="1" smtClean="0">
                            <a:solidFill>
                              <a:schemeClr val="tx1">
                                <a:lumMod val="95000"/>
                                <a:lumOff val="5000"/>
                              </a:schemeClr>
                            </a:solidFill>
                            <a:latin typeface="Cambria Math" panose="02040503050406030204" pitchFamily="18" charset="0"/>
                          </a:rPr>
                          <m:t>0</m:t>
                        </m:r>
                      </m:sub>
                    </m:sSub>
                    <m:d>
                      <m:dPr>
                        <m:ctrlPr>
                          <a:rPr lang="bg-BG" sz="2400" b="0" i="1" smtClean="0">
                            <a:solidFill>
                              <a:schemeClr val="tx1">
                                <a:lumMod val="95000"/>
                                <a:lumOff val="5000"/>
                              </a:schemeClr>
                            </a:solidFill>
                            <a:latin typeface="Cambria Math"/>
                          </a:rPr>
                        </m:ctrlPr>
                      </m:dPr>
                      <m:e>
                        <m:r>
                          <a:rPr lang="bg-BG" sz="2400" b="0" i="1" smtClean="0">
                            <a:solidFill>
                              <a:schemeClr val="tx1">
                                <a:lumMod val="95000"/>
                                <a:lumOff val="5000"/>
                              </a:schemeClr>
                            </a:solidFill>
                            <a:latin typeface="Cambria Math" panose="02040503050406030204" pitchFamily="18" charset="0"/>
                          </a:rPr>
                          <m:t>𝑝</m:t>
                        </m:r>
                      </m:e>
                    </m:d>
                    <m:r>
                      <a:rPr lang="bg-BG" sz="2400" b="0" i="1" smtClean="0">
                        <a:solidFill>
                          <a:schemeClr val="tx1">
                            <a:lumMod val="95000"/>
                            <a:lumOff val="5000"/>
                          </a:schemeClr>
                        </a:solidFill>
                        <a:latin typeface="Cambria Math" panose="02040503050406030204" pitchFamily="18" charset="0"/>
                      </a:rPr>
                      <m:t> </m:t>
                    </m:r>
                  </m:oMath>
                </a14:m>
                <a:r>
                  <a:rPr lang="bg-BG" sz="2400" dirty="0">
                    <a:solidFill>
                      <a:schemeClr val="tx1">
                        <a:lumMod val="95000"/>
                        <a:lumOff val="5000"/>
                      </a:schemeClr>
                    </a:solidFill>
                  </a:rPr>
                  <a:t>с предавателната функция на всяко от разгледаните елементарни звена, а  </a:t>
                </a:r>
                <a14:m>
                  <m:oMath xmlns:m="http://schemas.openxmlformats.org/officeDocument/2006/math">
                    <m:sSub>
                      <m:sSubPr>
                        <m:ctrlPr>
                          <a:rPr lang="bg-BG" sz="2400" i="1" smtClean="0">
                            <a:solidFill>
                              <a:schemeClr val="tx1">
                                <a:lumMod val="95000"/>
                                <a:lumOff val="5000"/>
                              </a:schemeClr>
                            </a:solidFill>
                            <a:latin typeface="Cambria Math"/>
                          </a:rPr>
                        </m:ctrlPr>
                      </m:sSubPr>
                      <m:e>
                        <m:r>
                          <a:rPr lang="bg-BG" sz="2400" b="0" i="1" smtClean="0">
                            <a:solidFill>
                              <a:schemeClr val="tx1">
                                <a:lumMod val="95000"/>
                                <a:lumOff val="5000"/>
                              </a:schemeClr>
                            </a:solidFill>
                            <a:latin typeface="Cambria Math" panose="02040503050406030204" pitchFamily="18" charset="0"/>
                          </a:rPr>
                          <m:t>𝑊</m:t>
                        </m:r>
                      </m:e>
                      <m:sub>
                        <m:r>
                          <a:rPr lang="bg-BG" sz="2400" b="0" i="1" smtClean="0">
                            <a:solidFill>
                              <a:schemeClr val="tx1">
                                <a:lumMod val="95000"/>
                                <a:lumOff val="5000"/>
                              </a:schemeClr>
                            </a:solidFill>
                            <a:latin typeface="Cambria Math" panose="02040503050406030204" pitchFamily="18" charset="0"/>
                          </a:rPr>
                          <m:t>𝑜</m:t>
                        </m:r>
                        <m:r>
                          <a:rPr lang="bg-BG" sz="2400" b="0" i="1" smtClean="0">
                            <a:solidFill>
                              <a:schemeClr val="tx1">
                                <a:lumMod val="95000"/>
                                <a:lumOff val="5000"/>
                              </a:schemeClr>
                            </a:solidFill>
                            <a:latin typeface="Cambria Math" panose="02040503050406030204" pitchFamily="18" charset="0"/>
                          </a:rPr>
                          <m:t>в</m:t>
                        </m:r>
                      </m:sub>
                    </m:sSub>
                    <m:r>
                      <a:rPr lang="bg-BG" sz="2400" b="0" i="1" smtClean="0">
                        <a:solidFill>
                          <a:schemeClr val="tx1">
                            <a:lumMod val="95000"/>
                            <a:lumOff val="5000"/>
                          </a:schemeClr>
                        </a:solidFill>
                        <a:latin typeface="Cambria Math" panose="02040503050406030204" pitchFamily="18" charset="0"/>
                      </a:rPr>
                      <m:t>(</m:t>
                    </m:r>
                    <m:r>
                      <a:rPr lang="bg-BG" sz="2400" b="0" i="1" smtClean="0">
                        <a:solidFill>
                          <a:schemeClr val="tx1">
                            <a:lumMod val="95000"/>
                            <a:lumOff val="5000"/>
                          </a:schemeClr>
                        </a:solidFill>
                        <a:latin typeface="Cambria Math" panose="02040503050406030204" pitchFamily="18" charset="0"/>
                      </a:rPr>
                      <m:t>𝑝</m:t>
                    </m:r>
                    <m:r>
                      <a:rPr lang="bg-BG" sz="2400" b="0" i="1" smtClean="0">
                        <a:solidFill>
                          <a:schemeClr val="tx1">
                            <a:lumMod val="95000"/>
                            <a:lumOff val="5000"/>
                          </a:schemeClr>
                        </a:solidFill>
                        <a:latin typeface="Cambria Math" panose="02040503050406030204" pitchFamily="18" charset="0"/>
                      </a:rPr>
                      <m:t>)</m:t>
                    </m:r>
                  </m:oMath>
                </a14:m>
                <a:r>
                  <a:rPr lang="bg-BG" sz="2400" dirty="0">
                    <a:solidFill>
                      <a:schemeClr val="tx1">
                        <a:lumMod val="95000"/>
                        <a:lumOff val="5000"/>
                      </a:schemeClr>
                    </a:solidFill>
                  </a:rPr>
                  <a:t> с предавателната функция на една от трите вида обратни връзки.</a:t>
                </a:r>
              </a:p>
              <a:p>
                <a:pPr indent="531813" algn="just">
                  <a:lnSpc>
                    <a:spcPct val="130000"/>
                  </a:lnSpc>
                  <a:buClr>
                    <a:schemeClr val="accent1">
                      <a:lumMod val="75000"/>
                    </a:schemeClr>
                  </a:buClr>
                  <a:buSzPct val="85000"/>
                  <a:tabLst>
                    <a:tab pos="228600" algn="l"/>
                  </a:tabLst>
                </a:pPr>
                <a:r>
                  <a:rPr lang="bg-BG" sz="2400" dirty="0">
                    <a:solidFill>
                      <a:schemeClr val="tx1">
                        <a:lumMod val="95000"/>
                        <a:lumOff val="5000"/>
                      </a:schemeClr>
                    </a:solidFill>
                  </a:rPr>
                  <a:t>Така може да се изследва влиянието на всяка обратна връзка върху елементарните динамични звена. Извод на база изследване: Отрицателните обратни връзки намаляват коефициента на усилване на звеното и променят динамиката на звеното. </a:t>
                </a:r>
              </a:p>
            </p:txBody>
          </p:sp>
        </mc:Choice>
        <mc:Fallback xmlns="">
          <p:sp>
            <p:nvSpPr>
              <p:cNvPr id="2" name="Правоъгълник 1"/>
              <p:cNvSpPr>
                <a:spLocks noRot="1" noChangeAspect="1" noMove="1" noResize="1" noEditPoints="1" noAdjustHandles="1" noChangeArrowheads="1" noChangeShapeType="1" noTextEdit="1"/>
              </p:cNvSpPr>
              <p:nvPr/>
            </p:nvSpPr>
            <p:spPr>
              <a:xfrm>
                <a:off x="2032000" y="288925"/>
                <a:ext cx="9796834" cy="6334042"/>
              </a:xfrm>
              <a:prstGeom prst="rect">
                <a:avLst/>
              </a:prstGeom>
              <a:blipFill>
                <a:blip r:embed="rId4"/>
                <a:stretch>
                  <a:fillRect l="-933" r="-996" b="-481"/>
                </a:stretch>
              </a:blipFill>
            </p:spPr>
            <p:txBody>
              <a:bodyPr/>
              <a:lstStyle/>
              <a:p>
                <a:r>
                  <a:rPr lang="bg-BG">
                    <a:noFill/>
                  </a:rPr>
                  <a:t> </a:t>
                </a:r>
              </a:p>
            </p:txBody>
          </p:sp>
        </mc:Fallback>
      </mc:AlternateContent>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8" name="Обект 7"/>
          <p:cNvGraphicFramePr>
            <a:graphicFrameLocks noChangeAspect="1"/>
          </p:cNvGraphicFramePr>
          <p:nvPr>
            <p:extLst>
              <p:ext uri="{D42A27DB-BD31-4B8C-83A1-F6EECF244321}">
                <p14:modId xmlns:p14="http://schemas.microsoft.com/office/powerpoint/2010/main" val="1163617102"/>
              </p:ext>
            </p:extLst>
          </p:nvPr>
        </p:nvGraphicFramePr>
        <p:xfrm>
          <a:off x="4470833" y="2287504"/>
          <a:ext cx="3250334" cy="817123"/>
        </p:xfrm>
        <a:graphic>
          <a:graphicData uri="http://schemas.openxmlformats.org/presentationml/2006/ole">
            <mc:AlternateContent xmlns:mc="http://schemas.openxmlformats.org/markup-compatibility/2006">
              <mc:Choice xmlns:v="urn:schemas-microsoft-com:vml" Requires="v">
                <p:oleObj spid="_x0000_s20484" name="Equation" r:id="rId5" imgW="1701720" imgH="431640" progId="Equation.3">
                  <p:embed/>
                </p:oleObj>
              </mc:Choice>
              <mc:Fallback>
                <p:oleObj name="Equation" r:id="rId5" imgW="1701720" imgH="431640" progId="Equation.3">
                  <p:embed/>
                  <p:pic>
                    <p:nvPicPr>
                      <p:cNvPr id="0" name="Object 1"/>
                      <p:cNvPicPr>
                        <a:picLocks noChangeAspect="1" noChangeArrowheads="1"/>
                      </p:cNvPicPr>
                      <p:nvPr/>
                    </p:nvPicPr>
                    <p:blipFill>
                      <a:blip r:embed="rId6"/>
                      <a:srcRect/>
                      <a:stretch>
                        <a:fillRect/>
                      </a:stretch>
                    </p:blipFill>
                    <p:spPr bwMode="auto">
                      <a:xfrm>
                        <a:off x="4470833" y="2287504"/>
                        <a:ext cx="3250334" cy="817123"/>
                      </a:xfrm>
                      <a:prstGeom prst="rect">
                        <a:avLst/>
                      </a:prstGeom>
                      <a:noFill/>
                    </p:spPr>
                  </p:pic>
                </p:oleObj>
              </mc:Fallback>
            </mc:AlternateContent>
          </a:graphicData>
        </a:graphic>
      </p:graphicFrame>
    </p:spTree>
    <p:extLst>
      <p:ext uri="{BB962C8B-B14F-4D97-AF65-F5344CB8AC3E}">
        <p14:creationId xmlns:p14="http://schemas.microsoft.com/office/powerpoint/2010/main" val="5676782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47</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2" name="Правоъгълник 1"/>
          <p:cNvSpPr/>
          <p:nvPr/>
        </p:nvSpPr>
        <p:spPr>
          <a:xfrm>
            <a:off x="2269787" y="286020"/>
            <a:ext cx="9656323" cy="5853910"/>
          </a:xfrm>
          <a:prstGeom prst="rect">
            <a:avLst/>
          </a:prstGeom>
        </p:spPr>
        <p:txBody>
          <a:bodyPr wrap="square">
            <a:spAutoFit/>
          </a:bodyPr>
          <a:lstStyle/>
          <a:p>
            <a:pPr indent="531813" algn="just">
              <a:lnSpc>
                <a:spcPct val="130000"/>
              </a:lnSpc>
              <a:spcAft>
                <a:spcPts val="0"/>
              </a:spcAft>
              <a:buClr>
                <a:schemeClr val="accent1">
                  <a:lumMod val="75000"/>
                </a:schemeClr>
              </a:buClr>
              <a:buSzPct val="85000"/>
              <a:tabLst>
                <a:tab pos="228600" algn="l"/>
              </a:tabLst>
            </a:pPr>
            <a:r>
              <a:rPr lang="bg-BG" sz="2400" dirty="0">
                <a:solidFill>
                  <a:schemeClr val="tx1">
                    <a:lumMod val="95000"/>
                    <a:lumOff val="5000"/>
                  </a:schemeClr>
                </a:solidFill>
              </a:rPr>
              <a:t>Ефектът от влиянието на различните видове обратни връзки е различен. Той е най-голям при въвеждане на инерционните обратни връзки. Те променят както параметрите, така и предавателните функции на звената. Гъвкавите обратни връзки имат частично влияние, и то предимно върху параметрите на звената по време на преходния процес.</a:t>
            </a:r>
          </a:p>
          <a:p>
            <a:pPr indent="531813" algn="just">
              <a:lnSpc>
                <a:spcPct val="130000"/>
              </a:lnSpc>
              <a:spcAft>
                <a:spcPts val="0"/>
              </a:spcAft>
              <a:buClr>
                <a:schemeClr val="accent1">
                  <a:lumMod val="75000"/>
                </a:schemeClr>
              </a:buClr>
              <a:buSzPct val="85000"/>
              <a:tabLst>
                <a:tab pos="228600" algn="l"/>
              </a:tabLst>
            </a:pPr>
            <a:r>
              <a:rPr lang="bg-BG" sz="2400" dirty="0">
                <a:solidFill>
                  <a:schemeClr val="tx1">
                    <a:lumMod val="95000"/>
                    <a:lumOff val="5000"/>
                  </a:schemeClr>
                </a:solidFill>
              </a:rPr>
              <a:t>Използването на обратните връзки е мощно средство за целенасочено активно въздействие върху параметрите и характеристиките на елементарните динамични звена и техните съединения. Многообразието на възможностите е извънредно голямо. Това е съществено при проектиране и настройка на системите за автоматично регулиране.</a:t>
            </a:r>
          </a:p>
        </p:txBody>
      </p:sp>
    </p:spTree>
    <p:extLst>
      <p:ext uri="{BB962C8B-B14F-4D97-AF65-F5344CB8AC3E}">
        <p14:creationId xmlns:p14="http://schemas.microsoft.com/office/powerpoint/2010/main" val="41109578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48</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2" name="Правоъгълник 1"/>
          <p:cNvSpPr/>
          <p:nvPr/>
        </p:nvSpPr>
        <p:spPr>
          <a:xfrm>
            <a:off x="2723744" y="1151140"/>
            <a:ext cx="8560341" cy="2973122"/>
          </a:xfrm>
          <a:prstGeom prst="rect">
            <a:avLst/>
          </a:prstGeom>
        </p:spPr>
        <p:txBody>
          <a:bodyPr wrap="square">
            <a:spAutoFit/>
          </a:bodyPr>
          <a:lstStyle/>
          <a:p>
            <a:pPr indent="531813" algn="just">
              <a:lnSpc>
                <a:spcPct val="130000"/>
              </a:lnSpc>
              <a:spcAft>
                <a:spcPts val="0"/>
              </a:spcAft>
              <a:buClr>
                <a:schemeClr val="accent1">
                  <a:lumMod val="75000"/>
                </a:schemeClr>
              </a:buClr>
              <a:buSzPct val="85000"/>
              <a:tabLst>
                <a:tab pos="228600" algn="l"/>
              </a:tabLst>
            </a:pPr>
            <a:r>
              <a:rPr lang="bg-BG" sz="2400" dirty="0">
                <a:solidFill>
                  <a:schemeClr val="tx1">
                    <a:lumMod val="95000"/>
                    <a:lumOff val="5000"/>
                  </a:schemeClr>
                </a:solidFill>
              </a:rPr>
              <a:t>Правилният подбор на обратните връзки и комбинирането им със звена в подходящи съединения позволява да се получат необходимите параметри и динамични характеристики, осигуряващи изискваните качества на преходния процес на отделните звена и на системата за регулиране като цяло.</a:t>
            </a:r>
          </a:p>
        </p:txBody>
      </p:sp>
    </p:spTree>
    <p:extLst>
      <p:ext uri="{BB962C8B-B14F-4D97-AF65-F5344CB8AC3E}">
        <p14:creationId xmlns:p14="http://schemas.microsoft.com/office/powerpoint/2010/main" val="27019604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49</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6" name="Picture 7" descr="Table&#10;&#10;Description automatically generated">
            <a:extLst>
              <a:ext uri="{FF2B5EF4-FFF2-40B4-BE49-F238E27FC236}">
                <a16:creationId xmlns="" xmlns:a16="http://schemas.microsoft.com/office/drawing/2014/main" id="{ADC52636-594A-140C-246B-DC393004335B}"/>
              </a:ext>
            </a:extLst>
          </p:cNvPr>
          <p:cNvPicPr>
            <a:picLocks noChangeAspect="1"/>
          </p:cNvPicPr>
          <p:nvPr/>
        </p:nvPicPr>
        <p:blipFill>
          <a:blip r:embed="rId3"/>
          <a:stretch>
            <a:fillRect/>
          </a:stretch>
        </p:blipFill>
        <p:spPr>
          <a:xfrm>
            <a:off x="2172305" y="57635"/>
            <a:ext cx="9371390" cy="6815302"/>
          </a:xfrm>
          <a:prstGeom prst="rect">
            <a:avLst/>
          </a:prstGeom>
        </p:spPr>
      </p:pic>
    </p:spTree>
    <p:extLst>
      <p:ext uri="{BB962C8B-B14F-4D97-AF65-F5344CB8AC3E}">
        <p14:creationId xmlns:p14="http://schemas.microsoft.com/office/powerpoint/2010/main" val="3713217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50</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44" name="Картина 43"/>
          <p:cNvPicPr>
            <a:picLocks noChangeAspect="1"/>
          </p:cNvPicPr>
          <p:nvPr/>
        </p:nvPicPr>
        <p:blipFill>
          <a:blip r:embed="rId3"/>
          <a:stretch>
            <a:fillRect/>
          </a:stretch>
        </p:blipFill>
        <p:spPr>
          <a:xfrm>
            <a:off x="-1" y="2092271"/>
            <a:ext cx="8818537" cy="4765729"/>
          </a:xfrm>
          <a:prstGeom prst="rect">
            <a:avLst/>
          </a:prstGeom>
        </p:spPr>
      </p:pic>
      <p:pic>
        <p:nvPicPr>
          <p:cNvPr id="43" name="Картина 42"/>
          <p:cNvPicPr>
            <a:picLocks noChangeAspect="1"/>
          </p:cNvPicPr>
          <p:nvPr/>
        </p:nvPicPr>
        <p:blipFill>
          <a:blip r:embed="rId4"/>
          <a:stretch>
            <a:fillRect/>
          </a:stretch>
        </p:blipFill>
        <p:spPr>
          <a:xfrm>
            <a:off x="4644188" y="98933"/>
            <a:ext cx="7154648" cy="3202300"/>
          </a:xfrm>
          <a:prstGeom prst="rect">
            <a:avLst/>
          </a:prstGeom>
        </p:spPr>
      </p:pic>
      <p:sp>
        <p:nvSpPr>
          <p:cNvPr id="42" name="Правоъгълник 41"/>
          <p:cNvSpPr/>
          <p:nvPr/>
        </p:nvSpPr>
        <p:spPr>
          <a:xfrm>
            <a:off x="464950" y="98933"/>
            <a:ext cx="11515240" cy="1052596"/>
          </a:xfrm>
          <a:prstGeom prst="rect">
            <a:avLst/>
          </a:prstGeom>
        </p:spPr>
        <p:txBody>
          <a:bodyPr wrap="square">
            <a:spAutoFit/>
          </a:bodyPr>
          <a:lstStyle/>
          <a:p>
            <a:pPr indent="531813" algn="just">
              <a:lnSpc>
                <a:spcPct val="130000"/>
              </a:lnSpc>
              <a:buClr>
                <a:schemeClr val="accent1">
                  <a:lumMod val="75000"/>
                </a:schemeClr>
              </a:buClr>
              <a:buSzPct val="85000"/>
              <a:tabLst>
                <a:tab pos="228600" algn="l"/>
              </a:tabLst>
            </a:pPr>
            <a:r>
              <a:rPr lang="bg-BG" sz="2400" b="1" i="1" dirty="0">
                <a:solidFill>
                  <a:schemeClr val="tx1">
                    <a:lumMod val="95000"/>
                    <a:lumOff val="5000"/>
                  </a:schemeClr>
                </a:solidFill>
              </a:rPr>
              <a:t>Пример 1.  </a:t>
            </a:r>
            <a:r>
              <a:rPr lang="bg-BG" sz="2400" dirty="0">
                <a:solidFill>
                  <a:schemeClr val="tx1">
                    <a:lumMod val="95000"/>
                    <a:lumOff val="5000"/>
                  </a:schemeClr>
                </a:solidFill>
              </a:rPr>
              <a:t>Да се определи еквивалентната предавателна функция от следната блокова схема:</a:t>
            </a:r>
          </a:p>
        </p:txBody>
      </p:sp>
    </p:spTree>
    <p:extLst>
      <p:ext uri="{BB962C8B-B14F-4D97-AF65-F5344CB8AC3E}">
        <p14:creationId xmlns:p14="http://schemas.microsoft.com/office/powerpoint/2010/main" val="37815273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Картина 7"/>
          <p:cNvPicPr>
            <a:picLocks noChangeAspect="1"/>
          </p:cNvPicPr>
          <p:nvPr/>
        </p:nvPicPr>
        <p:blipFill>
          <a:blip r:embed="rId3"/>
          <a:stretch>
            <a:fillRect/>
          </a:stretch>
        </p:blipFill>
        <p:spPr>
          <a:xfrm>
            <a:off x="0" y="3409627"/>
            <a:ext cx="7198737" cy="1815125"/>
          </a:xfrm>
          <a:prstGeom prst="rect">
            <a:avLst/>
          </a:prstGeom>
        </p:spPr>
      </p:pic>
      <p:sp>
        <p:nvSpPr>
          <p:cNvPr id="4" name="Slide Number Placeholder 3"/>
          <p:cNvSpPr>
            <a:spLocks noGrp="1"/>
          </p:cNvSpPr>
          <p:nvPr>
            <p:ph type="sldNum" sz="quarter" idx="12"/>
          </p:nvPr>
        </p:nvSpPr>
        <p:spPr/>
        <p:txBody>
          <a:bodyPr/>
          <a:lstStyle/>
          <a:p>
            <a:fld id="{081674E5-CD74-4638-A238-012A517DC16A}" type="slidenum">
              <a:rPr lang="bg-BG" smtClean="0"/>
              <a:t>51</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6" name="Картина 5"/>
          <p:cNvPicPr>
            <a:picLocks noChangeAspect="1"/>
          </p:cNvPicPr>
          <p:nvPr/>
        </p:nvPicPr>
        <p:blipFill>
          <a:blip r:embed="rId4"/>
          <a:stretch>
            <a:fillRect/>
          </a:stretch>
        </p:blipFill>
        <p:spPr>
          <a:xfrm>
            <a:off x="0" y="-4932"/>
            <a:ext cx="6369803" cy="3414559"/>
          </a:xfrm>
          <a:prstGeom prst="rect">
            <a:avLst/>
          </a:prstGeom>
        </p:spPr>
      </p:pic>
      <p:pic>
        <p:nvPicPr>
          <p:cNvPr id="2" name="Картина 1"/>
          <p:cNvPicPr>
            <a:picLocks noChangeAspect="1"/>
          </p:cNvPicPr>
          <p:nvPr/>
        </p:nvPicPr>
        <p:blipFill>
          <a:blip r:embed="rId5"/>
          <a:stretch>
            <a:fillRect/>
          </a:stretch>
        </p:blipFill>
        <p:spPr>
          <a:xfrm>
            <a:off x="6369803" y="4932"/>
            <a:ext cx="5822197" cy="3404695"/>
          </a:xfrm>
          <a:prstGeom prst="rect">
            <a:avLst/>
          </a:prstGeom>
        </p:spPr>
      </p:pic>
      <p:pic>
        <p:nvPicPr>
          <p:cNvPr id="10" name="Картина 9"/>
          <p:cNvPicPr>
            <a:picLocks noChangeAspect="1"/>
          </p:cNvPicPr>
          <p:nvPr/>
        </p:nvPicPr>
        <p:blipFill>
          <a:blip r:embed="rId6"/>
          <a:stretch>
            <a:fillRect/>
          </a:stretch>
        </p:blipFill>
        <p:spPr>
          <a:xfrm>
            <a:off x="7198737" y="3921071"/>
            <a:ext cx="3541587" cy="1303680"/>
          </a:xfrm>
          <a:prstGeom prst="rect">
            <a:avLst/>
          </a:prstGeom>
        </p:spPr>
      </p:pic>
      <p:pic>
        <p:nvPicPr>
          <p:cNvPr id="11" name="Картина 10"/>
          <p:cNvPicPr>
            <a:picLocks noChangeAspect="1"/>
          </p:cNvPicPr>
          <p:nvPr/>
        </p:nvPicPr>
        <p:blipFill>
          <a:blip r:embed="rId7"/>
          <a:stretch>
            <a:fillRect/>
          </a:stretch>
        </p:blipFill>
        <p:spPr>
          <a:xfrm>
            <a:off x="0" y="5191859"/>
            <a:ext cx="3239146" cy="1627394"/>
          </a:xfrm>
          <a:prstGeom prst="rect">
            <a:avLst/>
          </a:prstGeom>
        </p:spPr>
      </p:pic>
      <p:pic>
        <p:nvPicPr>
          <p:cNvPr id="13" name="Картина 12"/>
          <p:cNvPicPr>
            <a:picLocks noChangeAspect="1"/>
          </p:cNvPicPr>
          <p:nvPr/>
        </p:nvPicPr>
        <p:blipFill>
          <a:blip r:embed="rId8"/>
          <a:stretch>
            <a:fillRect/>
          </a:stretch>
        </p:blipFill>
        <p:spPr>
          <a:xfrm>
            <a:off x="3184901" y="5191859"/>
            <a:ext cx="4013836" cy="1627394"/>
          </a:xfrm>
          <a:prstGeom prst="rect">
            <a:avLst/>
          </a:prstGeom>
        </p:spPr>
      </p:pic>
      <p:pic>
        <p:nvPicPr>
          <p:cNvPr id="15" name="Картина 14"/>
          <p:cNvPicPr>
            <a:picLocks noChangeAspect="1"/>
          </p:cNvPicPr>
          <p:nvPr/>
        </p:nvPicPr>
        <p:blipFill>
          <a:blip r:embed="rId9"/>
          <a:stretch>
            <a:fillRect/>
          </a:stretch>
        </p:blipFill>
        <p:spPr>
          <a:xfrm>
            <a:off x="7198737" y="5191859"/>
            <a:ext cx="4993263" cy="1627393"/>
          </a:xfrm>
          <a:prstGeom prst="rect">
            <a:avLst/>
          </a:prstGeom>
        </p:spPr>
      </p:pic>
    </p:spTree>
    <p:extLst>
      <p:ext uri="{BB962C8B-B14F-4D97-AF65-F5344CB8AC3E}">
        <p14:creationId xmlns:p14="http://schemas.microsoft.com/office/powerpoint/2010/main" val="25037858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52</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2" name="Картина 1"/>
          <p:cNvPicPr>
            <a:picLocks noChangeAspect="1"/>
          </p:cNvPicPr>
          <p:nvPr/>
        </p:nvPicPr>
        <p:blipFill>
          <a:blip r:embed="rId3"/>
          <a:stretch>
            <a:fillRect/>
          </a:stretch>
        </p:blipFill>
        <p:spPr>
          <a:xfrm>
            <a:off x="0" y="0"/>
            <a:ext cx="6106332" cy="4262034"/>
          </a:xfrm>
          <a:prstGeom prst="rect">
            <a:avLst/>
          </a:prstGeom>
        </p:spPr>
      </p:pic>
      <p:pic>
        <p:nvPicPr>
          <p:cNvPr id="6" name="Картина 5"/>
          <p:cNvPicPr>
            <a:picLocks noChangeAspect="1"/>
          </p:cNvPicPr>
          <p:nvPr/>
        </p:nvPicPr>
        <p:blipFill>
          <a:blip r:embed="rId4"/>
          <a:stretch>
            <a:fillRect/>
          </a:stretch>
        </p:blipFill>
        <p:spPr>
          <a:xfrm>
            <a:off x="6261314" y="102352"/>
            <a:ext cx="5638800" cy="3958203"/>
          </a:xfrm>
          <a:prstGeom prst="rect">
            <a:avLst/>
          </a:prstGeom>
        </p:spPr>
      </p:pic>
      <p:pic>
        <p:nvPicPr>
          <p:cNvPr id="8" name="Картина 7"/>
          <p:cNvPicPr>
            <a:picLocks noChangeAspect="1"/>
          </p:cNvPicPr>
          <p:nvPr/>
        </p:nvPicPr>
        <p:blipFill>
          <a:blip r:embed="rId5"/>
          <a:stretch>
            <a:fillRect/>
          </a:stretch>
        </p:blipFill>
        <p:spPr>
          <a:xfrm>
            <a:off x="0" y="4906871"/>
            <a:ext cx="6617776" cy="1951129"/>
          </a:xfrm>
          <a:prstGeom prst="rect">
            <a:avLst/>
          </a:prstGeom>
        </p:spPr>
      </p:pic>
      <p:pic>
        <p:nvPicPr>
          <p:cNvPr id="9" name="Картина 8"/>
          <p:cNvPicPr>
            <a:picLocks noChangeAspect="1"/>
          </p:cNvPicPr>
          <p:nvPr/>
        </p:nvPicPr>
        <p:blipFill>
          <a:blip r:embed="rId6"/>
          <a:stretch>
            <a:fillRect/>
          </a:stretch>
        </p:blipFill>
        <p:spPr>
          <a:xfrm>
            <a:off x="6617776" y="4906871"/>
            <a:ext cx="5574224" cy="1951129"/>
          </a:xfrm>
          <a:prstGeom prst="rect">
            <a:avLst/>
          </a:prstGeom>
        </p:spPr>
      </p:pic>
    </p:spTree>
    <p:extLst>
      <p:ext uri="{BB962C8B-B14F-4D97-AF65-F5344CB8AC3E}">
        <p14:creationId xmlns:p14="http://schemas.microsoft.com/office/powerpoint/2010/main" val="10374099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53</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2" name="Правоъгълник 1"/>
          <p:cNvSpPr/>
          <p:nvPr/>
        </p:nvSpPr>
        <p:spPr>
          <a:xfrm>
            <a:off x="578604" y="149010"/>
            <a:ext cx="11034792" cy="1002519"/>
          </a:xfrm>
          <a:prstGeom prst="rect">
            <a:avLst/>
          </a:prstGeom>
        </p:spPr>
        <p:txBody>
          <a:bodyPr wrap="square">
            <a:spAutoFit/>
          </a:bodyPr>
          <a:lstStyle/>
          <a:p>
            <a:pPr indent="531813" algn="just">
              <a:lnSpc>
                <a:spcPct val="130000"/>
              </a:lnSpc>
              <a:buClr>
                <a:schemeClr val="accent1">
                  <a:lumMod val="75000"/>
                </a:schemeClr>
              </a:buClr>
              <a:buSzPct val="85000"/>
              <a:tabLst>
                <a:tab pos="228600" algn="l"/>
              </a:tabLst>
            </a:pPr>
            <a:r>
              <a:rPr lang="bg-BG" sz="2400" b="1" i="1" dirty="0">
                <a:solidFill>
                  <a:schemeClr val="tx1">
                    <a:lumMod val="95000"/>
                    <a:lumOff val="5000"/>
                  </a:schemeClr>
                </a:solidFill>
              </a:rPr>
              <a:t>Пример </a:t>
            </a:r>
            <a:r>
              <a:rPr lang="en-US" sz="2400" b="1" i="1" dirty="0">
                <a:solidFill>
                  <a:schemeClr val="tx1">
                    <a:lumMod val="95000"/>
                    <a:lumOff val="5000"/>
                  </a:schemeClr>
                </a:solidFill>
              </a:rPr>
              <a:t>2</a:t>
            </a:r>
            <a:r>
              <a:rPr lang="bg-BG" sz="2400" b="1" i="1" dirty="0">
                <a:solidFill>
                  <a:schemeClr val="tx1">
                    <a:lumMod val="95000"/>
                    <a:lumOff val="5000"/>
                  </a:schemeClr>
                </a:solidFill>
              </a:rPr>
              <a:t>. </a:t>
            </a:r>
            <a:r>
              <a:rPr lang="bg-BG" sz="2400" dirty="0">
                <a:solidFill>
                  <a:schemeClr val="tx1">
                    <a:lumMod val="95000"/>
                    <a:lumOff val="5000"/>
                  </a:schemeClr>
                </a:solidFill>
              </a:rPr>
              <a:t>Да се определи еквивалентната предавателна функция от следната блокова схема:</a:t>
            </a:r>
          </a:p>
        </p:txBody>
      </p:sp>
      <p:pic>
        <p:nvPicPr>
          <p:cNvPr id="6" name="Картина 5"/>
          <p:cNvPicPr>
            <a:picLocks noChangeAspect="1"/>
          </p:cNvPicPr>
          <p:nvPr/>
        </p:nvPicPr>
        <p:blipFill>
          <a:blip r:embed="rId3"/>
          <a:stretch>
            <a:fillRect/>
          </a:stretch>
        </p:blipFill>
        <p:spPr>
          <a:xfrm>
            <a:off x="2247254" y="1300538"/>
            <a:ext cx="9035512" cy="2853008"/>
          </a:xfrm>
          <a:prstGeom prst="rect">
            <a:avLst/>
          </a:prstGeom>
        </p:spPr>
      </p:pic>
      <p:pic>
        <p:nvPicPr>
          <p:cNvPr id="8" name="Картина 7"/>
          <p:cNvPicPr>
            <a:picLocks noChangeAspect="1"/>
          </p:cNvPicPr>
          <p:nvPr/>
        </p:nvPicPr>
        <p:blipFill>
          <a:blip r:embed="rId4"/>
          <a:stretch>
            <a:fillRect/>
          </a:stretch>
        </p:blipFill>
        <p:spPr>
          <a:xfrm>
            <a:off x="0" y="4032435"/>
            <a:ext cx="12192000" cy="2815584"/>
          </a:xfrm>
          <a:prstGeom prst="rect">
            <a:avLst/>
          </a:prstGeom>
        </p:spPr>
      </p:pic>
    </p:spTree>
    <p:extLst>
      <p:ext uri="{BB962C8B-B14F-4D97-AF65-F5344CB8AC3E}">
        <p14:creationId xmlns:p14="http://schemas.microsoft.com/office/powerpoint/2010/main" val="27067923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54</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2" name="Картина 1"/>
          <p:cNvPicPr>
            <a:picLocks noChangeAspect="1"/>
          </p:cNvPicPr>
          <p:nvPr/>
        </p:nvPicPr>
        <p:blipFill>
          <a:blip r:embed="rId3"/>
          <a:stretch>
            <a:fillRect/>
          </a:stretch>
        </p:blipFill>
        <p:spPr>
          <a:xfrm>
            <a:off x="0" y="46495"/>
            <a:ext cx="5767306" cy="6811505"/>
          </a:xfrm>
          <a:prstGeom prst="rect">
            <a:avLst/>
          </a:prstGeom>
        </p:spPr>
      </p:pic>
      <p:pic>
        <p:nvPicPr>
          <p:cNvPr id="6" name="Картина 5"/>
          <p:cNvPicPr>
            <a:picLocks noChangeAspect="1"/>
          </p:cNvPicPr>
          <p:nvPr/>
        </p:nvPicPr>
        <p:blipFill>
          <a:blip r:embed="rId4"/>
          <a:stretch>
            <a:fillRect/>
          </a:stretch>
        </p:blipFill>
        <p:spPr>
          <a:xfrm>
            <a:off x="5767306" y="0"/>
            <a:ext cx="6424694" cy="6858000"/>
          </a:xfrm>
          <a:prstGeom prst="rect">
            <a:avLst/>
          </a:prstGeom>
        </p:spPr>
      </p:pic>
    </p:spTree>
    <p:extLst>
      <p:ext uri="{BB962C8B-B14F-4D97-AF65-F5344CB8AC3E}">
        <p14:creationId xmlns:p14="http://schemas.microsoft.com/office/powerpoint/2010/main" val="42045179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55</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2" name="Картина 1"/>
          <p:cNvPicPr>
            <a:picLocks noChangeAspect="1"/>
          </p:cNvPicPr>
          <p:nvPr/>
        </p:nvPicPr>
        <p:blipFill>
          <a:blip r:embed="rId3"/>
          <a:stretch>
            <a:fillRect/>
          </a:stretch>
        </p:blipFill>
        <p:spPr>
          <a:xfrm>
            <a:off x="-4429" y="0"/>
            <a:ext cx="11240699" cy="3865370"/>
          </a:xfrm>
          <a:prstGeom prst="rect">
            <a:avLst/>
          </a:prstGeom>
        </p:spPr>
      </p:pic>
      <p:pic>
        <p:nvPicPr>
          <p:cNvPr id="6" name="Картина 5"/>
          <p:cNvPicPr>
            <a:picLocks noChangeAspect="1"/>
          </p:cNvPicPr>
          <p:nvPr/>
        </p:nvPicPr>
        <p:blipFill>
          <a:blip r:embed="rId4"/>
          <a:stretch>
            <a:fillRect/>
          </a:stretch>
        </p:blipFill>
        <p:spPr>
          <a:xfrm>
            <a:off x="-4429" y="3865370"/>
            <a:ext cx="12196429" cy="2992630"/>
          </a:xfrm>
          <a:prstGeom prst="rect">
            <a:avLst/>
          </a:prstGeom>
        </p:spPr>
      </p:pic>
    </p:spTree>
    <p:extLst>
      <p:ext uri="{BB962C8B-B14F-4D97-AF65-F5344CB8AC3E}">
        <p14:creationId xmlns:p14="http://schemas.microsoft.com/office/powerpoint/2010/main" val="28160219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56</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2" name="Картина 1"/>
          <p:cNvPicPr>
            <a:picLocks noChangeAspect="1"/>
          </p:cNvPicPr>
          <p:nvPr/>
        </p:nvPicPr>
        <p:blipFill>
          <a:blip r:embed="rId3"/>
          <a:stretch>
            <a:fillRect/>
          </a:stretch>
        </p:blipFill>
        <p:spPr>
          <a:xfrm>
            <a:off x="0" y="24341"/>
            <a:ext cx="12191999" cy="5205341"/>
          </a:xfrm>
          <a:prstGeom prst="rect">
            <a:avLst/>
          </a:prstGeom>
        </p:spPr>
      </p:pic>
      <p:pic>
        <p:nvPicPr>
          <p:cNvPr id="6" name="Картина 5"/>
          <p:cNvPicPr>
            <a:picLocks noChangeAspect="1"/>
          </p:cNvPicPr>
          <p:nvPr/>
        </p:nvPicPr>
        <p:blipFill>
          <a:blip r:embed="rId4"/>
          <a:stretch>
            <a:fillRect/>
          </a:stretch>
        </p:blipFill>
        <p:spPr>
          <a:xfrm>
            <a:off x="-1" y="5229682"/>
            <a:ext cx="12192000" cy="1628317"/>
          </a:xfrm>
          <a:prstGeom prst="rect">
            <a:avLst/>
          </a:prstGeom>
        </p:spPr>
      </p:pic>
    </p:spTree>
    <p:extLst>
      <p:ext uri="{BB962C8B-B14F-4D97-AF65-F5344CB8AC3E}">
        <p14:creationId xmlns:p14="http://schemas.microsoft.com/office/powerpoint/2010/main" val="34475808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57</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2" name="Картина 1"/>
          <p:cNvPicPr>
            <a:picLocks noChangeAspect="1"/>
          </p:cNvPicPr>
          <p:nvPr/>
        </p:nvPicPr>
        <p:blipFill>
          <a:blip r:embed="rId3"/>
          <a:stretch>
            <a:fillRect/>
          </a:stretch>
        </p:blipFill>
        <p:spPr>
          <a:xfrm>
            <a:off x="987857" y="652504"/>
            <a:ext cx="10573880" cy="1439797"/>
          </a:xfrm>
          <a:prstGeom prst="rect">
            <a:avLst/>
          </a:prstGeom>
        </p:spPr>
      </p:pic>
      <p:pic>
        <p:nvPicPr>
          <p:cNvPr id="6" name="Картина 5"/>
          <p:cNvPicPr>
            <a:picLocks noChangeAspect="1"/>
          </p:cNvPicPr>
          <p:nvPr/>
        </p:nvPicPr>
        <p:blipFill>
          <a:blip r:embed="rId4"/>
          <a:stretch>
            <a:fillRect/>
          </a:stretch>
        </p:blipFill>
        <p:spPr>
          <a:xfrm>
            <a:off x="843701" y="2092301"/>
            <a:ext cx="10718035" cy="2123238"/>
          </a:xfrm>
          <a:prstGeom prst="rect">
            <a:avLst/>
          </a:prstGeom>
        </p:spPr>
      </p:pic>
      <p:pic>
        <p:nvPicPr>
          <p:cNvPr id="9" name="Picture 8">
            <a:extLst>
              <a:ext uri="{FF2B5EF4-FFF2-40B4-BE49-F238E27FC236}">
                <a16:creationId xmlns="" xmlns:a16="http://schemas.microsoft.com/office/drawing/2014/main" id="{9A6BEE94-A0E3-43E3-9C13-ED7F559901F8}"/>
              </a:ext>
            </a:extLst>
          </p:cNvPr>
          <p:cNvPicPr>
            <a:picLocks noChangeAspect="1"/>
          </p:cNvPicPr>
          <p:nvPr/>
        </p:nvPicPr>
        <p:blipFill>
          <a:blip r:embed="rId5"/>
          <a:stretch>
            <a:fillRect/>
          </a:stretch>
        </p:blipFill>
        <p:spPr>
          <a:xfrm>
            <a:off x="0" y="4899157"/>
            <a:ext cx="12192000" cy="1969008"/>
          </a:xfrm>
          <a:prstGeom prst="rect">
            <a:avLst/>
          </a:prstGeom>
          <a:ln w="38100">
            <a:solidFill>
              <a:srgbClr val="FF0000"/>
            </a:solidFill>
          </a:ln>
        </p:spPr>
      </p:pic>
    </p:spTree>
    <p:extLst>
      <p:ext uri="{BB962C8B-B14F-4D97-AF65-F5344CB8AC3E}">
        <p14:creationId xmlns:p14="http://schemas.microsoft.com/office/powerpoint/2010/main" val="2853727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58</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6" name="Картина 5"/>
          <p:cNvPicPr>
            <a:picLocks noChangeAspect="1"/>
          </p:cNvPicPr>
          <p:nvPr/>
        </p:nvPicPr>
        <p:blipFill>
          <a:blip r:embed="rId3"/>
          <a:stretch>
            <a:fillRect/>
          </a:stretch>
        </p:blipFill>
        <p:spPr>
          <a:xfrm>
            <a:off x="0" y="1"/>
            <a:ext cx="12192000" cy="3905572"/>
          </a:xfrm>
          <a:prstGeom prst="rect">
            <a:avLst/>
          </a:prstGeom>
        </p:spPr>
      </p:pic>
      <p:pic>
        <p:nvPicPr>
          <p:cNvPr id="8" name="Картина 7"/>
          <p:cNvPicPr>
            <a:picLocks noChangeAspect="1"/>
          </p:cNvPicPr>
          <p:nvPr/>
        </p:nvPicPr>
        <p:blipFill>
          <a:blip r:embed="rId4"/>
          <a:stretch>
            <a:fillRect/>
          </a:stretch>
        </p:blipFill>
        <p:spPr>
          <a:xfrm>
            <a:off x="0" y="4433889"/>
            <a:ext cx="12192000" cy="2411154"/>
          </a:xfrm>
          <a:prstGeom prst="rect">
            <a:avLst/>
          </a:prstGeom>
        </p:spPr>
      </p:pic>
    </p:spTree>
    <p:extLst>
      <p:ext uri="{BB962C8B-B14F-4D97-AF65-F5344CB8AC3E}">
        <p14:creationId xmlns:p14="http://schemas.microsoft.com/office/powerpoint/2010/main" val="12039479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59</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2" name="Картина 1"/>
          <p:cNvPicPr>
            <a:picLocks noChangeAspect="1"/>
          </p:cNvPicPr>
          <p:nvPr/>
        </p:nvPicPr>
        <p:blipFill>
          <a:blip r:embed="rId3"/>
          <a:stretch>
            <a:fillRect/>
          </a:stretch>
        </p:blipFill>
        <p:spPr>
          <a:xfrm>
            <a:off x="0" y="77492"/>
            <a:ext cx="6323308" cy="4014061"/>
          </a:xfrm>
          <a:prstGeom prst="rect">
            <a:avLst/>
          </a:prstGeom>
        </p:spPr>
      </p:pic>
      <p:pic>
        <p:nvPicPr>
          <p:cNvPr id="8" name="Картина 7"/>
          <p:cNvPicPr>
            <a:picLocks noChangeAspect="1"/>
          </p:cNvPicPr>
          <p:nvPr/>
        </p:nvPicPr>
        <p:blipFill>
          <a:blip r:embed="rId4"/>
          <a:stretch>
            <a:fillRect/>
          </a:stretch>
        </p:blipFill>
        <p:spPr>
          <a:xfrm>
            <a:off x="0" y="4887508"/>
            <a:ext cx="12192000" cy="1970492"/>
          </a:xfrm>
          <a:prstGeom prst="rect">
            <a:avLst/>
          </a:prstGeom>
          <a:ln w="38100">
            <a:solidFill>
              <a:srgbClr val="FF0000"/>
            </a:solidFill>
          </a:ln>
        </p:spPr>
      </p:pic>
      <p:pic>
        <p:nvPicPr>
          <p:cNvPr id="9" name="Картина 8"/>
          <p:cNvPicPr>
            <a:picLocks noChangeAspect="1"/>
          </p:cNvPicPr>
          <p:nvPr/>
        </p:nvPicPr>
        <p:blipFill>
          <a:blip r:embed="rId5"/>
          <a:stretch>
            <a:fillRect/>
          </a:stretch>
        </p:blipFill>
        <p:spPr>
          <a:xfrm>
            <a:off x="6323308" y="650929"/>
            <a:ext cx="5656882" cy="2575536"/>
          </a:xfrm>
          <a:prstGeom prst="rect">
            <a:avLst/>
          </a:prstGeom>
        </p:spPr>
      </p:pic>
    </p:spTree>
    <p:extLst>
      <p:ext uri="{BB962C8B-B14F-4D97-AF65-F5344CB8AC3E}">
        <p14:creationId xmlns:p14="http://schemas.microsoft.com/office/powerpoint/2010/main" val="37977881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60</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2" name="Rectangle 1"/>
          <p:cNvSpPr/>
          <p:nvPr/>
        </p:nvSpPr>
        <p:spPr>
          <a:xfrm>
            <a:off x="0" y="20228"/>
            <a:ext cx="12192000" cy="1004057"/>
          </a:xfrm>
          <a:prstGeom prst="rect">
            <a:avLst/>
          </a:prstGeom>
        </p:spPr>
        <p:txBody>
          <a:bodyPr wrap="square">
            <a:spAutoFit/>
          </a:bodyPr>
          <a:lstStyle/>
          <a:p>
            <a:pPr indent="531813" algn="just">
              <a:lnSpc>
                <a:spcPct val="130000"/>
              </a:lnSpc>
              <a:buClr>
                <a:schemeClr val="accent1">
                  <a:lumMod val="75000"/>
                </a:schemeClr>
              </a:buClr>
              <a:buSzPct val="85000"/>
              <a:tabLst>
                <a:tab pos="228600" algn="l"/>
              </a:tabLst>
            </a:pPr>
            <a:r>
              <a:rPr lang="bg-BG" sz="2400" b="1" i="1" dirty="0">
                <a:solidFill>
                  <a:schemeClr val="tx1">
                    <a:lumMod val="95000"/>
                    <a:lumOff val="5000"/>
                  </a:schemeClr>
                </a:solidFill>
              </a:rPr>
              <a:t>Пример </a:t>
            </a:r>
            <a:r>
              <a:rPr lang="en-GB" sz="2400" b="1" i="1" dirty="0">
                <a:solidFill>
                  <a:schemeClr val="tx1">
                    <a:lumMod val="95000"/>
                    <a:lumOff val="5000"/>
                  </a:schemeClr>
                </a:solidFill>
              </a:rPr>
              <a:t>3</a:t>
            </a:r>
            <a:r>
              <a:rPr lang="bg-BG" sz="2400" b="1" i="1" dirty="0">
                <a:solidFill>
                  <a:schemeClr val="tx1">
                    <a:lumMod val="95000"/>
                    <a:lumOff val="5000"/>
                  </a:schemeClr>
                </a:solidFill>
              </a:rPr>
              <a:t>.  </a:t>
            </a:r>
            <a:r>
              <a:rPr lang="bg-BG" sz="2400" dirty="0">
                <a:solidFill>
                  <a:schemeClr val="tx1">
                    <a:lumMod val="95000"/>
                    <a:lumOff val="5000"/>
                  </a:schemeClr>
                </a:solidFill>
              </a:rPr>
              <a:t>Да се определи еквивалентната предавателна функция от следната блокова схема:</a:t>
            </a:r>
            <a:endParaRPr lang="en-US" sz="2400" dirty="0">
              <a:solidFill>
                <a:schemeClr val="tx1">
                  <a:lumMod val="95000"/>
                  <a:lumOff val="5000"/>
                </a:schemeClr>
              </a:solidFill>
            </a:endParaRPr>
          </a:p>
        </p:txBody>
      </p:sp>
      <p:pic>
        <p:nvPicPr>
          <p:cNvPr id="706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660" y="522256"/>
            <a:ext cx="6656339" cy="2684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065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2408" y="3541594"/>
            <a:ext cx="7432343" cy="33164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15455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61</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716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6346" y="1"/>
            <a:ext cx="8378855" cy="3207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6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3075" y="3357353"/>
            <a:ext cx="7942127" cy="3289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15455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62</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dirty="0"/>
          </a:p>
        </p:txBody>
      </p:sp>
      <p:sp>
        <p:nvSpPr>
          <p:cNvPr id="7" name="Rectangle 34"/>
          <p:cNvSpPr>
            <a:spLocks noChangeArrowheads="1"/>
          </p:cNvSpPr>
          <p:nvPr/>
        </p:nvSpPr>
        <p:spPr bwMode="auto">
          <a:xfrm>
            <a:off x="4180114" y="2591982"/>
            <a:ext cx="1271017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727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462" y="0"/>
            <a:ext cx="6428096" cy="26329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4817660"/>
            <a:ext cx="6318913" cy="20403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0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198" y="2536299"/>
            <a:ext cx="7492621" cy="2376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71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7022" y="5433344"/>
            <a:ext cx="5008728" cy="1139659"/>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215455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2FE0A421B3E24B9DDFC266E10EBE04" ma:contentTypeVersion="3" ma:contentTypeDescription="Create a new document." ma:contentTypeScope="" ma:versionID="dcbf987a481103226c3ec987ed9307fb">
  <xsd:schema xmlns:xsd="http://www.w3.org/2001/XMLSchema" xmlns:xs="http://www.w3.org/2001/XMLSchema" xmlns:p="http://schemas.microsoft.com/office/2006/metadata/properties" xmlns:ns2="410f8adb-773f-4384-aa9e-8e184e0fd10d" targetNamespace="http://schemas.microsoft.com/office/2006/metadata/properties" ma:root="true" ma:fieldsID="a897376146d62393c4daa3471ee89d00" ns2:_="">
    <xsd:import namespace="410f8adb-773f-4384-aa9e-8e184e0fd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0f8adb-773f-4384-aa9e-8e184e0fd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CEA991-B662-4321-8A68-DE6BEA787EC9}"/>
</file>

<file path=customXml/itemProps2.xml><?xml version="1.0" encoding="utf-8"?>
<ds:datastoreItem xmlns:ds="http://schemas.openxmlformats.org/officeDocument/2006/customXml" ds:itemID="{3DA83222-A295-47EE-A082-7B4916BB4B07}">
  <ds:schemaRefs>
    <ds:schemaRef ds:uri="http://schemas.microsoft.com/sharepoint/v3/contenttype/forms"/>
  </ds:schemaRefs>
</ds:datastoreItem>
</file>

<file path=customXml/itemProps3.xml><?xml version="1.0" encoding="utf-8"?>
<ds:datastoreItem xmlns:ds="http://schemas.openxmlformats.org/officeDocument/2006/customXml" ds:itemID="{8A2CA31F-A9B7-4CEE-8337-A44E722F3179}">
  <ds:schemaRefs>
    <ds:schemaRef ds:uri="http://schemas.microsoft.com/office/2006/documentManagement/types"/>
    <ds:schemaRef ds:uri="http://schemas.openxmlformats.org/package/2006/metadata/core-properties"/>
    <ds:schemaRef ds:uri="http://www.w3.org/XML/1998/namespace"/>
    <ds:schemaRef ds:uri="http://purl.org/dc/terms/"/>
    <ds:schemaRef ds:uri="http://schemas.microsoft.com/office/infopath/2007/PartnerControls"/>
    <ds:schemaRef ds:uri="http://purl.org/dc/elements/1.1/"/>
    <ds:schemaRef ds:uri="090397dc-0350-4b28-ad98-bc53fb668546"/>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Wood Type</Template>
  <TotalTime>11766</TotalTime>
  <Words>3916</Words>
  <Application>Microsoft Office PowerPoint</Application>
  <PresentationFormat>Custom</PresentationFormat>
  <Paragraphs>336</Paragraphs>
  <Slides>62</Slides>
  <Notes>49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4" baseType="lpstr">
      <vt:lpstr>Wood Type</vt:lpstr>
      <vt:lpstr>Equation</vt:lpstr>
      <vt:lpstr>Елементи от теорията на автоматичното регулиране и управление. Класификация. Функционални елементи. Закони за регулиране. Математическо описание на функционалните звена. Видове обратни връзки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Organization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СИСТЕМЕН АНАЛИЗ</dc:title>
  <dc:creator>Windows User</dc:creator>
  <cp:lastModifiedBy>teacher</cp:lastModifiedBy>
  <cp:revision>310</cp:revision>
  <cp:lastPrinted>2022-11-16T09:11:13Z</cp:lastPrinted>
  <dcterms:created xsi:type="dcterms:W3CDTF">2022-08-03T05:13:19Z</dcterms:created>
  <dcterms:modified xsi:type="dcterms:W3CDTF">2023-05-02T05:53:08Z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0x010100452FE0A421B3E24B9DDFC266E10EBE04</vt:lpwstr>
  </property>
</Properties>
</file>
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s/slide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3.xml" ContentType="application/vnd.openxmlformats-officedocument.presentationml.slide+xml"/>
  <Override PartName="/ppt/slides/slide19.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notesMasterIdLst>
    <p:notesMasterId r:id="rId24"/>
  </p:notesMasterIdLst>
  <p:handoutMasterIdLst>
    <p:handoutMasterId r:id="rId25"/>
  </p:handoutMasterIdLst>
  <p:sldIdLst>
    <p:sldId id="320" r:id="rId2"/>
    <p:sldId id="375" r:id="rId3"/>
    <p:sldId id="343" r:id="rId4"/>
    <p:sldId id="344" r:id="rId5"/>
    <p:sldId id="345" r:id="rId6"/>
    <p:sldId id="346" r:id="rId7"/>
    <p:sldId id="347" r:id="rId8"/>
    <p:sldId id="377" r:id="rId9"/>
    <p:sldId id="378" r:id="rId10"/>
    <p:sldId id="380" r:id="rId11"/>
    <p:sldId id="381" r:id="rId12"/>
    <p:sldId id="382" r:id="rId13"/>
    <p:sldId id="383" r:id="rId14"/>
    <p:sldId id="404" r:id="rId15"/>
    <p:sldId id="405" r:id="rId16"/>
    <p:sldId id="406" r:id="rId17"/>
    <p:sldId id="384" r:id="rId18"/>
    <p:sldId id="385" r:id="rId19"/>
    <p:sldId id="389" r:id="rId20"/>
    <p:sldId id="390" r:id="rId21"/>
    <p:sldId id="391" r:id="rId22"/>
    <p:sldId id="392" r:id="rId23"/>
  </p:sldIdLst>
  <p:sldSz cx="12192000" cy="6858000"/>
  <p:notesSz cx="6761163" cy="9942513"/>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0" autoAdjust="0"/>
    <p:restoredTop sz="96562" autoAdjust="0"/>
  </p:normalViewPr>
  <p:slideViewPr>
    <p:cSldViewPr snapToGrid="0">
      <p:cViewPr varScale="1">
        <p:scale>
          <a:sx n="80" d="100"/>
          <a:sy n="80" d="100"/>
        </p:scale>
        <p:origin x="710" y="6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23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5" Type="http://schemas.openxmlformats.org/officeDocument/2006/relationships/image" Target="../media/image23.wmf"/><Relationship Id="rId4"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29837" cy="498853"/>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sz="quarter" idx="1"/>
          </p:nvPr>
        </p:nvSpPr>
        <p:spPr>
          <a:xfrm>
            <a:off x="3829762" y="0"/>
            <a:ext cx="2929837" cy="498853"/>
          </a:xfrm>
          <a:prstGeom prst="rect">
            <a:avLst/>
          </a:prstGeom>
        </p:spPr>
        <p:txBody>
          <a:bodyPr vert="horz" lIns="92930" tIns="46465" rIns="92930" bIns="46465" rtlCol="0"/>
          <a:lstStyle>
            <a:lvl1pPr algn="r">
              <a:defRPr sz="1200"/>
            </a:lvl1pPr>
          </a:lstStyle>
          <a:p>
            <a:fld id="{62DAF501-497E-4319-B484-C5A85BB3EFD3}" type="datetimeFigureOut">
              <a:rPr lang="bg-BG" smtClean="0"/>
              <a:t>16.12.2022 г.</a:t>
            </a:fld>
            <a:endParaRPr lang="bg-BG" dirty="0"/>
          </a:p>
        </p:txBody>
      </p:sp>
      <p:sp>
        <p:nvSpPr>
          <p:cNvPr id="4" name="Footer Placeholder 3"/>
          <p:cNvSpPr>
            <a:spLocks noGrp="1"/>
          </p:cNvSpPr>
          <p:nvPr>
            <p:ph type="ftr" sz="quarter" idx="2"/>
          </p:nvPr>
        </p:nvSpPr>
        <p:spPr>
          <a:xfrm>
            <a:off x="1" y="9443663"/>
            <a:ext cx="2929837" cy="498852"/>
          </a:xfrm>
          <a:prstGeom prst="rect">
            <a:avLst/>
          </a:prstGeom>
        </p:spPr>
        <p:txBody>
          <a:bodyPr vert="horz" lIns="92930" tIns="46465" rIns="92930" bIns="46465" rtlCol="0" anchor="b"/>
          <a:lstStyle>
            <a:lvl1pPr algn="l">
              <a:defRPr sz="1200"/>
            </a:lvl1pPr>
          </a:lstStyle>
          <a:p>
            <a:endParaRPr lang="bg-BG" dirty="0"/>
          </a:p>
        </p:txBody>
      </p:sp>
      <p:sp>
        <p:nvSpPr>
          <p:cNvPr id="5" name="Slide Number Placeholder 4"/>
          <p:cNvSpPr>
            <a:spLocks noGrp="1"/>
          </p:cNvSpPr>
          <p:nvPr>
            <p:ph type="sldNum" sz="quarter" idx="3"/>
          </p:nvPr>
        </p:nvSpPr>
        <p:spPr>
          <a:xfrm>
            <a:off x="3829762" y="9443663"/>
            <a:ext cx="2929837" cy="498852"/>
          </a:xfrm>
          <a:prstGeom prst="rect">
            <a:avLst/>
          </a:prstGeom>
        </p:spPr>
        <p:txBody>
          <a:bodyPr vert="horz" lIns="92930" tIns="46465" rIns="92930" bIns="46465" rtlCol="0" anchor="b"/>
          <a:lstStyle>
            <a:lvl1pPr algn="r">
              <a:defRPr sz="1200"/>
            </a:lvl1pPr>
          </a:lstStyle>
          <a:p>
            <a:fld id="{335249C7-B5B2-4541-A187-B12F42083CB5}" type="slidenum">
              <a:rPr lang="bg-BG" smtClean="0"/>
              <a:t>‹#›</a:t>
            </a:fld>
            <a:endParaRPr lang="bg-BG" dirty="0"/>
          </a:p>
        </p:txBody>
      </p:sp>
    </p:spTree>
    <p:extLst>
      <p:ext uri="{BB962C8B-B14F-4D97-AF65-F5344CB8AC3E}">
        <p14:creationId xmlns:p14="http://schemas.microsoft.com/office/powerpoint/2010/main" val="38732489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29837" cy="498853"/>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idx="1"/>
          </p:nvPr>
        </p:nvSpPr>
        <p:spPr>
          <a:xfrm>
            <a:off x="3829762" y="0"/>
            <a:ext cx="2929837" cy="498853"/>
          </a:xfrm>
          <a:prstGeom prst="rect">
            <a:avLst/>
          </a:prstGeom>
        </p:spPr>
        <p:txBody>
          <a:bodyPr vert="horz" lIns="92930" tIns="46465" rIns="92930" bIns="46465" rtlCol="0"/>
          <a:lstStyle>
            <a:lvl1pPr algn="r">
              <a:defRPr sz="1200"/>
            </a:lvl1pPr>
          </a:lstStyle>
          <a:p>
            <a:fld id="{72A934B3-15CF-49D7-9C90-2FBDF446DA56}" type="datetimeFigureOut">
              <a:rPr lang="bg-BG" smtClean="0"/>
              <a:t>16.12.2022 г.</a:t>
            </a:fld>
            <a:endParaRPr lang="bg-BG" dirty="0"/>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2930" tIns="46465" rIns="92930" bIns="46465" rtlCol="0" anchor="ctr"/>
          <a:lstStyle/>
          <a:p>
            <a:endParaRPr lang="bg-BG" dirty="0"/>
          </a:p>
        </p:txBody>
      </p:sp>
      <p:sp>
        <p:nvSpPr>
          <p:cNvPr id="5" name="Notes Placeholder 4"/>
          <p:cNvSpPr>
            <a:spLocks noGrp="1"/>
          </p:cNvSpPr>
          <p:nvPr>
            <p:ph type="body" sz="quarter" idx="3"/>
          </p:nvPr>
        </p:nvSpPr>
        <p:spPr>
          <a:xfrm>
            <a:off x="676117" y="4784834"/>
            <a:ext cx="5408930" cy="3914864"/>
          </a:xfrm>
          <a:prstGeom prst="rect">
            <a:avLst/>
          </a:prstGeom>
        </p:spPr>
        <p:txBody>
          <a:bodyPr vert="horz" lIns="92930" tIns="46465" rIns="92930" bIns="46465"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bg-BG"/>
          </a:p>
        </p:txBody>
      </p:sp>
      <p:sp>
        <p:nvSpPr>
          <p:cNvPr id="6" name="Footer Placeholder 5"/>
          <p:cNvSpPr>
            <a:spLocks noGrp="1"/>
          </p:cNvSpPr>
          <p:nvPr>
            <p:ph type="ftr" sz="quarter" idx="4"/>
          </p:nvPr>
        </p:nvSpPr>
        <p:spPr>
          <a:xfrm>
            <a:off x="1" y="9443663"/>
            <a:ext cx="2929837" cy="498852"/>
          </a:xfrm>
          <a:prstGeom prst="rect">
            <a:avLst/>
          </a:prstGeom>
        </p:spPr>
        <p:txBody>
          <a:bodyPr vert="horz" lIns="92930" tIns="46465" rIns="92930" bIns="46465" rtlCol="0" anchor="b"/>
          <a:lstStyle>
            <a:lvl1pPr algn="l">
              <a:defRPr sz="1200"/>
            </a:lvl1pPr>
          </a:lstStyle>
          <a:p>
            <a:endParaRPr lang="bg-BG" dirty="0"/>
          </a:p>
        </p:txBody>
      </p:sp>
      <p:sp>
        <p:nvSpPr>
          <p:cNvPr id="7" name="Slide Number Placeholder 6"/>
          <p:cNvSpPr>
            <a:spLocks noGrp="1"/>
          </p:cNvSpPr>
          <p:nvPr>
            <p:ph type="sldNum" sz="quarter" idx="5"/>
          </p:nvPr>
        </p:nvSpPr>
        <p:spPr>
          <a:xfrm>
            <a:off x="3829762" y="9443663"/>
            <a:ext cx="2929837" cy="498852"/>
          </a:xfrm>
          <a:prstGeom prst="rect">
            <a:avLst/>
          </a:prstGeom>
        </p:spPr>
        <p:txBody>
          <a:bodyPr vert="horz" lIns="92930" tIns="46465" rIns="92930" bIns="46465" rtlCol="0" anchor="b"/>
          <a:lstStyle>
            <a:lvl1pPr algn="r">
              <a:defRPr sz="1200"/>
            </a:lvl1pPr>
          </a:lstStyle>
          <a:p>
            <a:fld id="{5617F9B7-5110-4225-A395-C002DCB96977}" type="slidenum">
              <a:rPr lang="bg-BG" smtClean="0"/>
              <a:t>‹#›</a:t>
            </a:fld>
            <a:endParaRPr lang="bg-BG" dirty="0"/>
          </a:p>
        </p:txBody>
      </p:sp>
    </p:spTree>
    <p:extLst>
      <p:ext uri="{BB962C8B-B14F-4D97-AF65-F5344CB8AC3E}">
        <p14:creationId xmlns:p14="http://schemas.microsoft.com/office/powerpoint/2010/main" val="1772761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96A666B-2F7D-4199-A5CF-D1399F06B5CC}" type="datetime1">
              <a:rPr lang="bg-BG" smtClean="0"/>
              <a:t>16.12.2022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213164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AEF8BD3-AC58-47F1-B591-69906B5D74CE}" type="datetime1">
              <a:rPr lang="bg-BG" smtClean="0"/>
              <a:t>16.12.2022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518441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46564442-4F9C-4117-9AC9-3C912B6DAF6E}" type="datetime1">
              <a:rPr lang="bg-BG" smtClean="0"/>
              <a:t>16.12.2022 г.</a:t>
            </a:fld>
            <a:endParaRPr lang="bg-BG" dirty="0"/>
          </a:p>
        </p:txBody>
      </p:sp>
      <p:sp>
        <p:nvSpPr>
          <p:cNvPr id="5" name="Footer Placeholder 4"/>
          <p:cNvSpPr>
            <a:spLocks noGrp="1"/>
          </p:cNvSpPr>
          <p:nvPr>
            <p:ph type="ftr" sz="quarter" idx="11"/>
          </p:nvPr>
        </p:nvSpPr>
        <p:spPr>
          <a:xfrm>
            <a:off x="2182708" y="6272784"/>
            <a:ext cx="6327648" cy="365125"/>
          </a:xfrm>
        </p:spPr>
        <p:txBody>
          <a:bodyPr/>
          <a:lstStyle/>
          <a:p>
            <a:endParaRPr lang="bg-BG"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1745476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D72E6C9-D462-4DF8-8A5B-084EF99FCB92}" type="datetime1">
              <a:rPr lang="bg-BG" smtClean="0"/>
              <a:t>16.12.2022 г.</a:t>
            </a:fld>
            <a:endParaRPr lang="bg-BG" dirty="0"/>
          </a:p>
        </p:txBody>
      </p:sp>
      <p:sp>
        <p:nvSpPr>
          <p:cNvPr id="6" name="Footer Placeholder 5"/>
          <p:cNvSpPr>
            <a:spLocks noGrp="1"/>
          </p:cNvSpPr>
          <p:nvPr>
            <p:ph type="ftr" sz="quarter" idx="11"/>
          </p:nvPr>
        </p:nvSpPr>
        <p:spPr/>
        <p:txBody>
          <a:bodyPr/>
          <a:lstStyle/>
          <a:p>
            <a:endParaRPr lang="bg-BG" dirty="0"/>
          </a:p>
        </p:txBody>
      </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06091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EEB004C-1449-4E25-B641-5BE18784B024}" type="datetime1">
              <a:rPr lang="bg-BG" smtClean="0"/>
              <a:t>16.12.2022 г.</a:t>
            </a:fld>
            <a:endParaRPr lang="bg-BG" dirty="0"/>
          </a:p>
        </p:txBody>
      </p:sp>
      <p:sp>
        <p:nvSpPr>
          <p:cNvPr id="8" name="Footer Placeholder 7"/>
          <p:cNvSpPr>
            <a:spLocks noGrp="1"/>
          </p:cNvSpPr>
          <p:nvPr>
            <p:ph type="ftr" sz="quarter" idx="11"/>
          </p:nvPr>
        </p:nvSpPr>
        <p:spPr/>
        <p:txBody>
          <a:bodyPr/>
          <a:lstStyle/>
          <a:p>
            <a:endParaRPr lang="bg-BG" dirty="0"/>
          </a:p>
        </p:txBody>
      </p:sp>
      <p:sp>
        <p:nvSpPr>
          <p:cNvPr id="9" name="Slide Number Placeholder 8"/>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598907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6BC1725-AB21-4845-BE49-CE8C42164743}" type="datetime1">
              <a:rPr lang="bg-BG" smtClean="0"/>
              <a:t>16.12.2022 г.</a:t>
            </a:fld>
            <a:endParaRPr lang="bg-BG" dirty="0"/>
          </a:p>
        </p:txBody>
      </p:sp>
      <p:sp>
        <p:nvSpPr>
          <p:cNvPr id="4" name="Footer Placeholder 3"/>
          <p:cNvSpPr>
            <a:spLocks noGrp="1"/>
          </p:cNvSpPr>
          <p:nvPr>
            <p:ph type="ftr" sz="quarter" idx="11"/>
          </p:nvPr>
        </p:nvSpPr>
        <p:spPr/>
        <p:txBody>
          <a:bodyPr/>
          <a:lstStyle/>
          <a:p>
            <a:endParaRPr lang="bg-BG" dirty="0"/>
          </a:p>
        </p:txBody>
      </p:sp>
      <p:sp>
        <p:nvSpPr>
          <p:cNvPr id="5" name="Slide Number Placeholder 4"/>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053536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87940C-92A6-42D4-A0AE-8AE229120CFF}" type="datetime1">
              <a:rPr lang="bg-BG" smtClean="0"/>
              <a:t>16.12.2022 г.</a:t>
            </a:fld>
            <a:endParaRPr lang="bg-BG" dirty="0"/>
          </a:p>
        </p:txBody>
      </p:sp>
      <p:sp>
        <p:nvSpPr>
          <p:cNvPr id="3" name="Footer Placeholder 2"/>
          <p:cNvSpPr>
            <a:spLocks noGrp="1"/>
          </p:cNvSpPr>
          <p:nvPr>
            <p:ph type="ftr" sz="quarter" idx="11"/>
          </p:nvPr>
        </p:nvSpPr>
        <p:spPr/>
        <p:txBody>
          <a:bodyPr/>
          <a:lstStyle/>
          <a:p>
            <a:endParaRPr lang="bg-BG" dirty="0"/>
          </a:p>
        </p:txBody>
      </p:sp>
      <p:sp>
        <p:nvSpPr>
          <p:cNvPr id="4" name="Slide Number Placeholder 3"/>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13051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64F04CA-5B7E-4437-926E-A34999B7E6C0}" type="datetime1">
              <a:rPr lang="bg-BG" smtClean="0"/>
              <a:t>16.12.2022 г.</a:t>
            </a:fld>
            <a:endParaRPr lang="bg-BG" dirty="0"/>
          </a:p>
        </p:txBody>
      </p:sp>
      <p:sp>
        <p:nvSpPr>
          <p:cNvPr id="6" name="Footer Placeholder 5"/>
          <p:cNvSpPr>
            <a:spLocks noGrp="1"/>
          </p:cNvSpPr>
          <p:nvPr>
            <p:ph type="ftr" sz="quarter" idx="11"/>
          </p:nvPr>
        </p:nvSpPr>
        <p:spPr/>
        <p:txBody>
          <a:bodyPr/>
          <a:lstStyle/>
          <a:p>
            <a:endParaRPr lang="bg-BG"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283409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6DBFFBA-50AA-4558-ADC7-8C8BF6C03621}" type="datetime1">
              <a:rPr lang="bg-BG" smtClean="0"/>
              <a:t>16.12.2022 г.</a:t>
            </a:fld>
            <a:endParaRPr lang="bg-BG"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87546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BC901CF-14B7-42BE-8693-1C6A365ED97B}" type="datetime1">
              <a:rPr lang="bg-BG" smtClean="0"/>
              <a:t>16.12.2022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282757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C1A9374-CC8C-4027-8C9C-D37ED427A6AE}" type="datetime1">
              <a:rPr lang="bg-BG" smtClean="0"/>
              <a:t>16.12.2022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99534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DC22829-1A03-43BA-AD1C-84AE46C99B1D}" type="datetime1">
              <a:rPr lang="bg-BG" smtClean="0"/>
              <a:t>16.12.2022 г.</a:t>
            </a:fld>
            <a:endParaRPr lang="bg-BG"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bg-BG"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36348257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3.png"/><Relationship Id="rId12" Type="http://schemas.openxmlformats.org/officeDocument/2006/relationships/image" Target="../media/image10.wmf"/><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9.wmf"/><Relationship Id="rId11" Type="http://schemas.openxmlformats.org/officeDocument/2006/relationships/oleObject" Target="../embeddings/oleObject3.bin"/><Relationship Id="rId5" Type="http://schemas.openxmlformats.org/officeDocument/2006/relationships/oleObject" Target="../embeddings/oleObject2.bin"/><Relationship Id="rId10" Type="http://schemas.openxmlformats.org/officeDocument/2006/relationships/image" Target="../media/image16.png"/><Relationship Id="rId4" Type="http://schemas.openxmlformats.org/officeDocument/2006/relationships/image" Target="../media/image12.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23.wmf"/><Relationship Id="rId3" Type="http://schemas.openxmlformats.org/officeDocument/2006/relationships/image" Target="../media/image24.png"/><Relationship Id="rId7" Type="http://schemas.openxmlformats.org/officeDocument/2006/relationships/image" Target="../media/image20.wmf"/><Relationship Id="rId12" Type="http://schemas.openxmlformats.org/officeDocument/2006/relationships/oleObject" Target="../embeddings/oleObject8.bin"/><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oleObject" Target="../embeddings/oleObject5.bin"/><Relationship Id="rId11" Type="http://schemas.openxmlformats.org/officeDocument/2006/relationships/image" Target="../media/image22.wmf"/><Relationship Id="rId5" Type="http://schemas.openxmlformats.org/officeDocument/2006/relationships/image" Target="../media/image19.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21.wmf"/><Relationship Id="rId14"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28.png"/><Relationship Id="rId3" Type="http://schemas.openxmlformats.org/officeDocument/2006/relationships/oleObject" Target="../embeddings/oleObject9.bin"/><Relationship Id="rId7" Type="http://schemas.openxmlformats.org/officeDocument/2006/relationships/image" Target="../media/image26.wmf"/><Relationship Id="rId12" Type="http://schemas.openxmlformats.org/officeDocument/2006/relationships/image" Target="../media/image33.png"/><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oleObject" Target="../embeddings/oleObject10.bin"/><Relationship Id="rId11" Type="http://schemas.openxmlformats.org/officeDocument/2006/relationships/image" Target="../media/image32.png"/><Relationship Id="rId5" Type="http://schemas.openxmlformats.org/officeDocument/2006/relationships/image" Target="../media/image30.png"/><Relationship Id="rId10" Type="http://schemas.openxmlformats.org/officeDocument/2006/relationships/image" Target="../media/image27.png"/><Relationship Id="rId4" Type="http://schemas.openxmlformats.org/officeDocument/2006/relationships/image" Target="../media/image23.wmf"/><Relationship Id="rId9" Type="http://schemas.openxmlformats.org/officeDocument/2006/relationships/image" Target="../media/image27.wmf"/></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1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3.xml"/><Relationship Id="rId4" Type="http://schemas.openxmlformats.org/officeDocument/2006/relationships/image" Target="../media/image71.png"/></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2.png"/><Relationship Id="rId1" Type="http://schemas.openxmlformats.org/officeDocument/2006/relationships/slideLayout" Target="../slideLayouts/slideLayout3.xml"/><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1</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5" name="Rectangle 4"/>
          <p:cNvSpPr/>
          <p:nvPr/>
        </p:nvSpPr>
        <p:spPr>
          <a:xfrm>
            <a:off x="2032000" y="84463"/>
            <a:ext cx="9950734" cy="6814173"/>
          </a:xfrm>
          <a:prstGeom prst="rect">
            <a:avLst/>
          </a:prstGeom>
        </p:spPr>
        <p:txBody>
          <a:bodyPr wrap="square">
            <a:spAutoFit/>
          </a:bodyPr>
          <a:lstStyle/>
          <a:p>
            <a:pPr indent="536575" algn="just">
              <a:lnSpc>
                <a:spcPct val="130000"/>
              </a:lnSpc>
              <a:buClr>
                <a:schemeClr val="accent1">
                  <a:lumMod val="75000"/>
                </a:schemeClr>
              </a:buClr>
              <a:buSzPct val="85000"/>
            </a:pPr>
            <a:r>
              <a:rPr lang="bg-BG" sz="2400" dirty="0"/>
              <a:t>Физически величини, характеризиращи външните въздействия, които се прилагат към динамичните звена, се наричат входни величини, а величините, които характеризират въздействието на динамичните звена върху следващите след тях звена – изходни величини.</a:t>
            </a:r>
          </a:p>
          <a:p>
            <a:pPr indent="536575" algn="just">
              <a:lnSpc>
                <a:spcPct val="130000"/>
              </a:lnSpc>
              <a:buClr>
                <a:schemeClr val="accent1">
                  <a:lumMod val="75000"/>
                </a:schemeClr>
              </a:buClr>
              <a:buSzPct val="85000"/>
            </a:pPr>
            <a:r>
              <a:rPr lang="bg-BG" sz="2400" dirty="0" smtClean="0"/>
              <a:t>Всяко </a:t>
            </a:r>
            <a:r>
              <a:rPr lang="bg-BG" sz="2400" dirty="0"/>
              <a:t>елементарно динамично звено се характеризира със специфичен преходен процес, който възниква при изменение на въздействията, приложени към неговия вход. Характерът на изменението на изходната величина зависи както от началното състояние на звеното и неговите вътрешни свойства, така и от характера на изменение на входната величина във времето. </a:t>
            </a:r>
            <a:r>
              <a:rPr lang="bg-BG" sz="2400" dirty="0" smtClean="0"/>
              <a:t>Уравнението </a:t>
            </a:r>
            <a:r>
              <a:rPr lang="bg-BG" sz="2400" dirty="0"/>
              <a:t>на всяко линейно динамично звено, което описва преходния процес, може да се представи като функционална зависимост между изходната, входната величина и времето:</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6" name="Обект 5"/>
          <p:cNvGraphicFramePr>
            <a:graphicFrameLocks noChangeAspect="1"/>
          </p:cNvGraphicFramePr>
          <p:nvPr>
            <p:extLst>
              <p:ext uri="{D42A27DB-BD31-4B8C-83A1-F6EECF244321}">
                <p14:modId xmlns:p14="http://schemas.microsoft.com/office/powerpoint/2010/main" val="3650674580"/>
              </p:ext>
            </p:extLst>
          </p:nvPr>
        </p:nvGraphicFramePr>
        <p:xfrm>
          <a:off x="10599436" y="6415934"/>
          <a:ext cx="1383298" cy="341756"/>
        </p:xfrm>
        <a:graphic>
          <a:graphicData uri="http://schemas.openxmlformats.org/presentationml/2006/ole">
            <mc:AlternateContent xmlns:mc="http://schemas.openxmlformats.org/markup-compatibility/2006">
              <mc:Choice xmlns:v="urn:schemas-microsoft-com:vml" Requires="v">
                <p:oleObj spid="_x0000_s47198" name="Equation" r:id="rId3" imgW="812447" imgH="203112" progId="Equation.3">
                  <p:embed/>
                </p:oleObj>
              </mc:Choice>
              <mc:Fallback>
                <p:oleObj name="Equation" r:id="rId3" imgW="812447" imgH="203112"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99436" y="6415934"/>
                        <a:ext cx="1383298" cy="341756"/>
                      </a:xfrm>
                      <a:prstGeom prst="rect">
                        <a:avLst/>
                      </a:prstGeom>
                      <a:noFill/>
                    </p:spPr>
                  </p:pic>
                </p:oleObj>
              </mc:Fallback>
            </mc:AlternateContent>
          </a:graphicData>
        </a:graphic>
      </p:graphicFrame>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Tree>
    <p:extLst>
      <p:ext uri="{BB962C8B-B14F-4D97-AF65-F5344CB8AC3E}">
        <p14:creationId xmlns:p14="http://schemas.microsoft.com/office/powerpoint/2010/main" val="19392769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9"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1" name="Rectangle 10"/>
          <p:cNvSpPr>
            <a:spLocks noChangeArrowheads="1"/>
          </p:cNvSpPr>
          <p:nvPr/>
        </p:nvSpPr>
        <p:spPr bwMode="auto">
          <a:xfrm>
            <a:off x="0" y="6953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bg-BG" altLang="bg-BG"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4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5" name="Rectangle 4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mc:AlternateContent xmlns:mc="http://schemas.openxmlformats.org/markup-compatibility/2006" xmlns:a14="http://schemas.microsoft.com/office/drawing/2010/main">
        <mc:Choice Requires="a14">
          <p:sp>
            <p:nvSpPr>
              <p:cNvPr id="13" name="Правоъгълник 6"/>
              <p:cNvSpPr/>
              <p:nvPr/>
            </p:nvSpPr>
            <p:spPr>
              <a:xfrm>
                <a:off x="181970" y="40944"/>
                <a:ext cx="11982734" cy="6971460"/>
              </a:xfrm>
              <a:prstGeom prst="rect">
                <a:avLst/>
              </a:prstGeom>
            </p:spPr>
            <p:txBody>
              <a:bodyPr wrap="square">
                <a:spAutoFit/>
              </a:bodyPr>
              <a:lstStyle/>
              <a:p>
                <a:pPr indent="536575" algn="just">
                  <a:lnSpc>
                    <a:spcPct val="130000"/>
                  </a:lnSpc>
                  <a:buClr>
                    <a:schemeClr val="accent1">
                      <a:lumMod val="75000"/>
                    </a:schemeClr>
                  </a:buClr>
                  <a:buSzPct val="85000"/>
                </a:pPr>
                <a:r>
                  <a:rPr lang="bg-BG" sz="2400" dirty="0"/>
                  <a:t>В най-общия случай диференциалното уравнение на връзката между изходната и входната величина за всяко линейно динамично звено може да се запише </a:t>
                </a:r>
                <a:r>
                  <a:rPr lang="bg-BG" sz="2400" dirty="0" smtClean="0"/>
                  <a:t>във вид:</a:t>
                </a:r>
              </a:p>
              <a:p>
                <a:pPr algn="just">
                  <a:lnSpc>
                    <a:spcPct val="130000"/>
                  </a:lnSpc>
                  <a:buClr>
                    <a:schemeClr val="accent1">
                      <a:lumMod val="75000"/>
                    </a:schemeClr>
                  </a:buClr>
                  <a:buSzPct val="85000"/>
                </a:pPr>
                <a:endParaRPr lang="en-US" sz="2400" dirty="0" smtClean="0"/>
              </a:p>
              <a:p>
                <a:pPr algn="just">
                  <a:lnSpc>
                    <a:spcPct val="130000"/>
                  </a:lnSpc>
                  <a:buClr>
                    <a:schemeClr val="accent1">
                      <a:lumMod val="75000"/>
                    </a:schemeClr>
                  </a:buClr>
                  <a:buSzPct val="85000"/>
                </a:pPr>
                <a:r>
                  <a:rPr lang="bg-BG" sz="2400" dirty="0" smtClean="0"/>
                  <a:t>или </a:t>
                </a:r>
                <a:r>
                  <a:rPr lang="bg-BG" sz="2400" dirty="0"/>
                  <a:t>с Лапласово преобразувание</a:t>
                </a:r>
                <a:r>
                  <a:rPr lang="bg-BG" sz="2400" dirty="0" smtClean="0"/>
                  <a:t>:</a:t>
                </a:r>
                <a:r>
                  <a:rPr lang="bg-BG" sz="2400" dirty="0"/>
                  <a:t> </a:t>
                </a:r>
                <a:endParaRPr lang="bg-BG" sz="2400" dirty="0" smtClean="0"/>
              </a:p>
              <a:p>
                <a:pPr marL="1787525" indent="368300" algn="just">
                  <a:lnSpc>
                    <a:spcPct val="130000"/>
                  </a:lnSpc>
                  <a:buClr>
                    <a:schemeClr val="accent1">
                      <a:lumMod val="75000"/>
                    </a:schemeClr>
                  </a:buClr>
                  <a:buSzPct val="85000"/>
                </a:pPr>
                <a:r>
                  <a:rPr lang="bg-BG" sz="2400" dirty="0"/>
                  <a:t>Математически това уравнение обхваща голямо разнообразие от устройства и вериги. В зависимост от динамичните свойства на звената и вида на смущаващите въздействия лявата и дясната част на това уравнение се израждат в изрази от първи и нулев ред</a:t>
                </a:r>
                <a:r>
                  <a:rPr lang="bg-BG" sz="2400" dirty="0" smtClean="0"/>
                  <a:t>.</a:t>
                </a:r>
              </a:p>
              <a:p>
                <a:pPr algn="just">
                  <a:lnSpc>
                    <a:spcPct val="130000"/>
                  </a:lnSpc>
                  <a:buClr>
                    <a:schemeClr val="accent1">
                      <a:lumMod val="75000"/>
                    </a:schemeClr>
                  </a:buClr>
                  <a:buSzPct val="85000"/>
                </a:pPr>
                <a:r>
                  <a:rPr lang="bg-BG" sz="2400" b="1" i="1" dirty="0"/>
                  <a:t>Предавателна функция</a:t>
                </a:r>
              </a:p>
              <a:p>
                <a:pPr indent="536575" algn="just">
                  <a:lnSpc>
                    <a:spcPct val="130000"/>
                  </a:lnSpc>
                  <a:buClr>
                    <a:schemeClr val="accent1">
                      <a:lumMod val="75000"/>
                    </a:schemeClr>
                  </a:buClr>
                  <a:buSzPct val="85000"/>
                </a:pPr>
                <a:r>
                  <a:rPr lang="bg-BG" sz="2400" dirty="0"/>
                  <a:t>Под понятието предавателна функция на звено  или система ще се разбира отношението на операторните изображения по Лаплас на изходната и входната величина при нулеви начални условия, т.е. системата е в покой в началния момент. </a:t>
                </a:r>
                <a14:m>
                  <m:oMath xmlns:m="http://schemas.openxmlformats.org/officeDocument/2006/math">
                    <m:r>
                      <a:rPr lang="en-US" sz="2000" i="1">
                        <a:latin typeface="Cambria Math"/>
                      </a:rPr>
                      <m:t>𝑊</m:t>
                    </m:r>
                    <m:d>
                      <m:dPr>
                        <m:ctrlPr>
                          <a:rPr lang="en-US" sz="2000" i="1">
                            <a:latin typeface="Cambria Math" panose="02040503050406030204" pitchFamily="18" charset="0"/>
                          </a:rPr>
                        </m:ctrlPr>
                      </m:dPr>
                      <m:e>
                        <m:r>
                          <a:rPr lang="en-US" sz="2000" i="1">
                            <a:latin typeface="Cambria Math"/>
                          </a:rPr>
                          <m:t>𝑝</m:t>
                        </m:r>
                      </m:e>
                    </m:d>
                    <m:r>
                      <a:rPr lang="en-US" sz="2000">
                        <a:latin typeface="Cambria Math"/>
                      </a:rPr>
                      <m:t>=</m:t>
                    </m:r>
                    <m:f>
                      <m:fPr>
                        <m:ctrlPr>
                          <a:rPr lang="en-US" sz="2000" i="1">
                            <a:latin typeface="Cambria Math" panose="02040503050406030204" pitchFamily="18" charset="0"/>
                          </a:rPr>
                        </m:ctrlPr>
                      </m:fPr>
                      <m:num>
                        <m:r>
                          <a:rPr lang="en-US" sz="2000" i="1">
                            <a:latin typeface="Cambria Math"/>
                          </a:rPr>
                          <m:t>𝑌</m:t>
                        </m:r>
                        <m:r>
                          <a:rPr lang="en-US" sz="2000" i="1">
                            <a:latin typeface="Cambria Math"/>
                          </a:rPr>
                          <m:t>(</m:t>
                        </m:r>
                        <m:r>
                          <a:rPr lang="en-US" sz="2000" i="1">
                            <a:latin typeface="Cambria Math"/>
                          </a:rPr>
                          <m:t>𝑝</m:t>
                        </m:r>
                        <m:r>
                          <a:rPr lang="en-US" sz="2000" i="1">
                            <a:latin typeface="Cambria Math"/>
                          </a:rPr>
                          <m:t>)</m:t>
                        </m:r>
                      </m:num>
                      <m:den>
                        <m:r>
                          <a:rPr lang="en-US" sz="2000" i="1">
                            <a:latin typeface="Cambria Math"/>
                          </a:rPr>
                          <m:t>𝑋</m:t>
                        </m:r>
                        <m:r>
                          <a:rPr lang="en-US" sz="2000" i="1">
                            <a:latin typeface="Cambria Math"/>
                          </a:rPr>
                          <m:t>(</m:t>
                        </m:r>
                        <m:r>
                          <a:rPr lang="en-US" sz="2000" i="1">
                            <a:latin typeface="Cambria Math"/>
                          </a:rPr>
                          <m:t>𝑝</m:t>
                        </m:r>
                        <m:r>
                          <a:rPr lang="en-US" sz="2000" i="1">
                            <a:latin typeface="Cambria Math"/>
                          </a:rPr>
                          <m:t>)</m:t>
                        </m:r>
                      </m:den>
                    </m:f>
                  </m:oMath>
                </a14:m>
                <a:r>
                  <a:rPr lang="bg-BG" sz="2000" dirty="0"/>
                  <a:t> </a:t>
                </a:r>
                <a:r>
                  <a:rPr lang="bg-BG" sz="2000" dirty="0" smtClean="0"/>
                  <a:t>  </a:t>
                </a:r>
                <a:r>
                  <a:rPr lang="bg-BG" sz="2400" dirty="0" smtClean="0"/>
                  <a:t>Предавателната </a:t>
                </a:r>
                <a:r>
                  <a:rPr lang="bg-BG" sz="2400" dirty="0"/>
                  <a:t>функция не зависи от вида на входния сигнал. Нейният знаменател, приравнен на нула, дава характеристичното уравнение на звеното. </a:t>
                </a:r>
              </a:p>
            </p:txBody>
          </p:sp>
        </mc:Choice>
        <mc:Fallback xmlns="">
          <p:sp>
            <p:nvSpPr>
              <p:cNvPr id="13" name="Правоъгълник 6"/>
              <p:cNvSpPr>
                <a:spLocks noRot="1" noChangeAspect="1" noMove="1" noResize="1" noEditPoints="1" noAdjustHandles="1" noChangeArrowheads="1" noChangeShapeType="1" noTextEdit="1"/>
              </p:cNvSpPr>
              <p:nvPr/>
            </p:nvSpPr>
            <p:spPr>
              <a:xfrm>
                <a:off x="181970" y="40944"/>
                <a:ext cx="11982734" cy="6971460"/>
              </a:xfrm>
              <a:prstGeom prst="rect">
                <a:avLst/>
              </a:prstGeom>
              <a:blipFill rotWithShape="1">
                <a:blip r:embed="rId2"/>
                <a:stretch>
                  <a:fillRect l="-814" r="-712" b="-350"/>
                </a:stretch>
              </a:blipFill>
            </p:spPr>
            <p:txBody>
              <a:bodyPr/>
              <a:lstStyle/>
              <a:p>
                <a:r>
                  <a:rPr lang="bg-BG">
                    <a:noFill/>
                  </a:rPr>
                  <a:t> </a:t>
                </a:r>
              </a:p>
            </p:txBody>
          </p:sp>
        </mc:Fallback>
      </mc:AlternateContent>
      <p:pic>
        <p:nvPicPr>
          <p:cNvPr id="686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970" y="1012257"/>
            <a:ext cx="4673268" cy="639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6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5691" y="1550419"/>
            <a:ext cx="62388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57407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a:t>
            </a:fld>
            <a:endParaRPr lang="bg-BG" dirty="0"/>
          </a:p>
        </p:txBody>
      </p:sp>
      <p:sp>
        <p:nvSpPr>
          <p:cNvPr id="3" name="Rectangle 2"/>
          <p:cNvSpPr/>
          <p:nvPr/>
        </p:nvSpPr>
        <p:spPr>
          <a:xfrm>
            <a:off x="0" y="142476"/>
            <a:ext cx="12042183" cy="7478970"/>
          </a:xfrm>
          <a:prstGeom prst="rect">
            <a:avLst/>
          </a:prstGeom>
        </p:spPr>
        <p:txBody>
          <a:bodyPr wrap="square">
            <a:spAutoFit/>
          </a:bodyPr>
          <a:lstStyle/>
          <a:p>
            <a:pPr>
              <a:lnSpc>
                <a:spcPct val="200000"/>
              </a:lnSpc>
            </a:pPr>
            <a:r>
              <a:rPr lang="bg-BG" sz="2400" dirty="0" smtClean="0"/>
              <a:t>Предавателна </a:t>
            </a:r>
            <a:r>
              <a:rPr lang="bg-BG" sz="2400" dirty="0"/>
              <a:t>функция на пропорционалното звено </a:t>
            </a:r>
            <a:r>
              <a:rPr lang="bg-BG" sz="2400" dirty="0" smtClean="0"/>
              <a:t>-</a:t>
            </a:r>
          </a:p>
          <a:p>
            <a:pPr>
              <a:lnSpc>
                <a:spcPct val="200000"/>
              </a:lnSpc>
            </a:pPr>
            <a:r>
              <a:rPr lang="bg-BG" sz="2400" dirty="0" smtClean="0"/>
              <a:t>Предавателна </a:t>
            </a:r>
            <a:r>
              <a:rPr lang="bg-BG" sz="2400" dirty="0"/>
              <a:t>функция на апериодичното звено от първи </a:t>
            </a:r>
            <a:r>
              <a:rPr lang="bg-BG" sz="2400" dirty="0" smtClean="0"/>
              <a:t>ред –</a:t>
            </a:r>
          </a:p>
          <a:p>
            <a:pPr>
              <a:lnSpc>
                <a:spcPct val="200000"/>
              </a:lnSpc>
            </a:pPr>
            <a:r>
              <a:rPr lang="bg-BG" sz="2400" dirty="0" smtClean="0"/>
              <a:t>Предавателна </a:t>
            </a:r>
            <a:r>
              <a:rPr lang="bg-BG" sz="2400" dirty="0"/>
              <a:t>функция на интегриращото </a:t>
            </a:r>
            <a:r>
              <a:rPr lang="bg-BG" sz="2400" dirty="0" smtClean="0"/>
              <a:t>звено – </a:t>
            </a:r>
          </a:p>
          <a:p>
            <a:pPr marL="1979613">
              <a:lnSpc>
                <a:spcPct val="200000"/>
              </a:lnSpc>
            </a:pPr>
            <a:r>
              <a:rPr lang="bg-BG" sz="2400" dirty="0" smtClean="0"/>
              <a:t>Предавателна </a:t>
            </a:r>
            <a:r>
              <a:rPr lang="bg-BG" sz="2400" dirty="0"/>
              <a:t>функция на колебателното звено </a:t>
            </a:r>
            <a:r>
              <a:rPr lang="bg-BG" sz="2400" dirty="0" smtClean="0"/>
              <a:t>–</a:t>
            </a:r>
          </a:p>
          <a:p>
            <a:pPr marL="1979613">
              <a:lnSpc>
                <a:spcPct val="200000"/>
              </a:lnSpc>
            </a:pPr>
            <a:r>
              <a:rPr lang="bg-BG" sz="2400" dirty="0" smtClean="0"/>
              <a:t>Предавателна </a:t>
            </a:r>
            <a:r>
              <a:rPr lang="bg-BG" sz="2400" dirty="0"/>
              <a:t>функция на </a:t>
            </a:r>
            <a:r>
              <a:rPr lang="bg-BG" sz="2400" dirty="0" smtClean="0"/>
              <a:t>консервативно </a:t>
            </a:r>
            <a:r>
              <a:rPr lang="bg-BG" sz="2400" dirty="0"/>
              <a:t>звено </a:t>
            </a:r>
            <a:r>
              <a:rPr lang="bg-BG" sz="2400" dirty="0" smtClean="0"/>
              <a:t> -  </a:t>
            </a:r>
            <a:endParaRPr lang="bg-BG" sz="2400" dirty="0"/>
          </a:p>
          <a:p>
            <a:pPr>
              <a:lnSpc>
                <a:spcPct val="200000"/>
              </a:lnSpc>
            </a:pPr>
            <a:r>
              <a:rPr lang="bg-BG" sz="2400" dirty="0" smtClean="0"/>
              <a:t>Предавателна </a:t>
            </a:r>
            <a:r>
              <a:rPr lang="bg-BG" sz="2400" dirty="0"/>
              <a:t>функция на </a:t>
            </a:r>
            <a:r>
              <a:rPr lang="bg-BG" sz="2400" dirty="0" smtClean="0"/>
              <a:t>реално </a:t>
            </a:r>
            <a:r>
              <a:rPr lang="bg-BG" sz="2400" dirty="0"/>
              <a:t>диференциращо звено </a:t>
            </a:r>
            <a:r>
              <a:rPr lang="bg-BG" sz="2400" dirty="0" smtClean="0"/>
              <a:t>– </a:t>
            </a:r>
          </a:p>
          <a:p>
            <a:pPr>
              <a:lnSpc>
                <a:spcPct val="200000"/>
              </a:lnSpc>
            </a:pPr>
            <a:r>
              <a:rPr lang="bg-BG" sz="2400" dirty="0"/>
              <a:t>Предавателната функция на </a:t>
            </a:r>
            <a:r>
              <a:rPr lang="bg-BG" sz="2400" dirty="0" smtClean="0"/>
              <a:t>реално </a:t>
            </a:r>
            <a:r>
              <a:rPr lang="bg-BG" sz="2400" dirty="0"/>
              <a:t>форсиращо звено </a:t>
            </a:r>
            <a:r>
              <a:rPr lang="bg-BG" sz="2400" dirty="0" smtClean="0"/>
              <a:t> - </a:t>
            </a:r>
          </a:p>
          <a:p>
            <a:pPr>
              <a:lnSpc>
                <a:spcPct val="200000"/>
              </a:lnSpc>
            </a:pPr>
            <a:r>
              <a:rPr lang="bg-BG" sz="2400" dirty="0"/>
              <a:t>Предавателната функция на звено  със </a:t>
            </a:r>
            <a:r>
              <a:rPr lang="bg-BG" sz="2400" dirty="0" smtClean="0"/>
              <a:t>закъснение - </a:t>
            </a:r>
            <a:endParaRPr lang="bg-BG" sz="2400" dirty="0"/>
          </a:p>
          <a:p>
            <a:pPr>
              <a:lnSpc>
                <a:spcPct val="200000"/>
              </a:lnSpc>
            </a:pPr>
            <a:endParaRPr lang="bg-BG" sz="2400" dirty="0" smtClean="0"/>
          </a:p>
          <a:p>
            <a:pPr>
              <a:lnSpc>
                <a:spcPct val="200000"/>
              </a:lnSpc>
            </a:pPr>
            <a:r>
              <a:rPr lang="bg-BG" sz="2400" dirty="0" smtClean="0"/>
              <a:t>  </a:t>
            </a:r>
            <a:endParaRPr lang="bg-BG" sz="2400" dirty="0"/>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48151"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8042" y="517733"/>
            <a:ext cx="138112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52" name="Picture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4575" y="985722"/>
            <a:ext cx="1609985" cy="862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Object 5"/>
          <p:cNvGraphicFramePr>
            <a:graphicFrameLocks noChangeAspect="1"/>
          </p:cNvGraphicFramePr>
          <p:nvPr>
            <p:extLst>
              <p:ext uri="{D42A27DB-BD31-4B8C-83A1-F6EECF244321}">
                <p14:modId xmlns:p14="http://schemas.microsoft.com/office/powerpoint/2010/main" val="3863907008"/>
              </p:ext>
            </p:extLst>
          </p:nvPr>
        </p:nvGraphicFramePr>
        <p:xfrm>
          <a:off x="7452341" y="1750752"/>
          <a:ext cx="1335876" cy="774083"/>
        </p:xfrm>
        <a:graphic>
          <a:graphicData uri="http://schemas.openxmlformats.org/presentationml/2006/ole">
            <mc:AlternateContent xmlns:mc="http://schemas.openxmlformats.org/markup-compatibility/2006">
              <mc:Choice xmlns:v="urn:schemas-microsoft-com:vml" Requires="v">
                <p:oleObj spid="_x0000_s48205" name="Equation" r:id="rId5" imgW="723586" imgH="418918" progId="Equation.3">
                  <p:embed/>
                </p:oleObj>
              </mc:Choice>
              <mc:Fallback>
                <p:oleObj name="Equation" r:id="rId5" imgW="723586" imgH="418918" progId="Equation.3">
                  <p:embed/>
                  <p:pic>
                    <p:nvPicPr>
                      <p:cNvPr id="0" name="Обект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2341" y="1750752"/>
                        <a:ext cx="1335876" cy="774083"/>
                      </a:xfrm>
                      <a:prstGeom prst="rect">
                        <a:avLst/>
                      </a:prstGeom>
                      <a:noFill/>
                      <a:ln>
                        <a:noFill/>
                      </a:ln>
                    </p:spPr>
                  </p:pic>
                </p:oleObj>
              </mc:Fallback>
            </mc:AlternateContent>
          </a:graphicData>
        </a:graphic>
      </p:graphicFrame>
      <p:pic>
        <p:nvPicPr>
          <p:cNvPr id="48156" name="Picture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94575" y="2377695"/>
            <a:ext cx="2397385" cy="9387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8157" name="Picture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92797" y="3176091"/>
            <a:ext cx="2099163" cy="8139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8158" name="Picture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93361" y="4763851"/>
            <a:ext cx="1806206" cy="6667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8159" name="Picture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84086" y="4041798"/>
            <a:ext cx="1561145" cy="653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7" name="Object 6"/>
          <p:cNvGraphicFramePr>
            <a:graphicFrameLocks noChangeAspect="1"/>
          </p:cNvGraphicFramePr>
          <p:nvPr>
            <p:extLst>
              <p:ext uri="{D42A27DB-BD31-4B8C-83A1-F6EECF244321}">
                <p14:modId xmlns:p14="http://schemas.microsoft.com/office/powerpoint/2010/main" val="2030607114"/>
              </p:ext>
            </p:extLst>
          </p:nvPr>
        </p:nvGraphicFramePr>
        <p:xfrm>
          <a:off x="7419442" y="5532722"/>
          <a:ext cx="1747837" cy="506412"/>
        </p:xfrm>
        <a:graphic>
          <a:graphicData uri="http://schemas.openxmlformats.org/presentationml/2006/ole">
            <mc:AlternateContent xmlns:mc="http://schemas.openxmlformats.org/markup-compatibility/2006">
              <mc:Choice xmlns:v="urn:schemas-microsoft-com:vml" Requires="v">
                <p:oleObj spid="_x0000_s48206" name="Equation" r:id="rId11" imgW="787400" imgH="228600" progId="Equation.3">
                  <p:embed/>
                </p:oleObj>
              </mc:Choice>
              <mc:Fallback>
                <p:oleObj name="Equation" r:id="rId11" imgW="787400" imgH="228600" progId="Equation.3">
                  <p:embed/>
                  <p:pic>
                    <p:nvPicPr>
                      <p:cNvPr id="0" name="Обект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19442" y="5532722"/>
                        <a:ext cx="1747837"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708537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a:t>
            </a:fld>
            <a:endParaRPr lang="bg-BG" dirty="0"/>
          </a:p>
        </p:txBody>
      </p:sp>
      <p:sp>
        <p:nvSpPr>
          <p:cNvPr id="19" name="Rectangle 1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47"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49" name="Rectangle 4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51" name="Rectangle 4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5" name="Rectangle 17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23" name="Rectangle 17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1003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1062" y="1"/>
            <a:ext cx="9830937"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99484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5</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9"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1" name="Rectangle 10"/>
          <p:cNvSpPr>
            <a:spLocks noChangeArrowheads="1"/>
          </p:cNvSpPr>
          <p:nvPr/>
        </p:nvSpPr>
        <p:spPr bwMode="auto">
          <a:xfrm>
            <a:off x="0" y="6953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bg-BG" altLang="bg-BG"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4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5" name="Rectangle 4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13" name="Picture 2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0126" y="0"/>
            <a:ext cx="10151873"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515068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6</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8" name="Rectangle 5"/>
          <p:cNvSpPr>
            <a:spLocks noChangeArrowheads="1"/>
          </p:cNvSpPr>
          <p:nvPr/>
        </p:nvSpPr>
        <p:spPr bwMode="auto">
          <a:xfrm>
            <a:off x="0" y="238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bg-BG" altLang="bg-BG" sz="1100" b="0" i="0" u="none" strike="noStrike" cap="none" normalizeH="0" baseline="0" dirty="0" smtClean="0">
                <a:ln>
                  <a:noFill/>
                </a:ln>
                <a:solidFill>
                  <a:schemeClr val="tx1"/>
                </a:solidFill>
                <a:effectLst/>
              </a:rPr>
              <a:t> </a:t>
            </a:r>
            <a:endParaRPr kumimoji="0" lang="bg-BG" altLang="bg-BG" sz="1800" b="0" i="0" u="none" strike="noStrike" cap="none" normalizeH="0" baseline="0" dirty="0" smtClean="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9" name="Правоъгълник 8"/>
              <p:cNvSpPr/>
              <p:nvPr/>
            </p:nvSpPr>
            <p:spPr>
              <a:xfrm>
                <a:off x="2032001" y="375956"/>
                <a:ext cx="10025680" cy="6635856"/>
              </a:xfrm>
              <a:prstGeom prst="rect">
                <a:avLst/>
              </a:prstGeom>
            </p:spPr>
            <p:txBody>
              <a:bodyPr wrap="square">
                <a:spAutoFit/>
              </a:bodyPr>
              <a:lstStyle/>
              <a:p>
                <a:pPr indent="531813">
                  <a:lnSpc>
                    <a:spcPct val="130000"/>
                  </a:lnSpc>
                </a:pPr>
                <a:r>
                  <a:rPr lang="ru-RU" sz="2400" dirty="0" smtClean="0"/>
                  <a:t>Всеки полином с реални коефициенти </a:t>
                </a:r>
              </a:p>
              <a:p>
                <a:pPr algn="ctr">
                  <a:lnSpc>
                    <a:spcPct val="130000"/>
                  </a:lnSpc>
                </a:pPr>
                <a14:m>
                  <m:oMath xmlns:m="http://schemas.openxmlformats.org/officeDocument/2006/math">
                    <m:r>
                      <a:rPr lang="en-US" sz="2400" b="0" i="1" smtClean="0">
                        <a:latin typeface="Cambria Math"/>
                      </a:rPr>
                      <m:t>𝑓</m:t>
                    </m:r>
                    <m:d>
                      <m:dPr>
                        <m:ctrlPr>
                          <a:rPr lang="en-US" sz="2400" b="0" i="1" smtClean="0">
                            <a:latin typeface="Cambria Math" panose="02040503050406030204" pitchFamily="18" charset="0"/>
                          </a:rPr>
                        </m:ctrlPr>
                      </m:dPr>
                      <m:e>
                        <m:r>
                          <a:rPr lang="en-US" sz="2400" b="0" i="1" smtClean="0">
                            <a:latin typeface="Cambria Math"/>
                          </a:rPr>
                          <m:t>𝑥</m:t>
                        </m:r>
                      </m:e>
                    </m:d>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𝑎</m:t>
                        </m:r>
                      </m:e>
                      <m:sub>
                        <m:r>
                          <a:rPr lang="en-US" sz="2400" b="0" i="1" smtClean="0">
                            <a:latin typeface="Cambria Math"/>
                          </a:rPr>
                          <m:t>𝑛</m:t>
                        </m:r>
                      </m:sub>
                    </m:sSub>
                    <m:sSup>
                      <m:sSupPr>
                        <m:ctrlPr>
                          <a:rPr lang="en-US" sz="2400" b="0" i="1" smtClean="0">
                            <a:latin typeface="Cambria Math" panose="02040503050406030204" pitchFamily="18" charset="0"/>
                          </a:rPr>
                        </m:ctrlPr>
                      </m:sSupPr>
                      <m:e>
                        <m:r>
                          <a:rPr lang="en-US" sz="2400" b="0" i="1" smtClean="0">
                            <a:latin typeface="Cambria Math"/>
                          </a:rPr>
                          <m:t>𝑥</m:t>
                        </m:r>
                      </m:e>
                      <m:sup>
                        <m:r>
                          <a:rPr lang="en-US" sz="2400" b="0" i="1" smtClean="0">
                            <a:latin typeface="Cambria Math"/>
                          </a:rPr>
                          <m:t>𝑛</m:t>
                        </m:r>
                      </m:sup>
                    </m:sSup>
                    <m:r>
                      <a:rPr lang="en-US" sz="2400" b="0" i="1" smtClean="0">
                        <a:latin typeface="Cambria Math"/>
                      </a:rPr>
                      <m:t>+</m:t>
                    </m:r>
                    <m:sSub>
                      <m:sSubPr>
                        <m:ctrlPr>
                          <a:rPr lang="en-US" sz="2400" i="1">
                            <a:latin typeface="Cambria Math" panose="02040503050406030204" pitchFamily="18" charset="0"/>
                          </a:rPr>
                        </m:ctrlPr>
                      </m:sSubPr>
                      <m:e>
                        <m:r>
                          <a:rPr lang="en-US" sz="2400" b="0" i="1" smtClean="0">
                            <a:latin typeface="Cambria Math"/>
                          </a:rPr>
                          <m:t>𝑎</m:t>
                        </m:r>
                      </m:e>
                      <m:sub>
                        <m:r>
                          <a:rPr lang="en-US" sz="2400" b="0" i="1" smtClean="0">
                            <a:latin typeface="Cambria Math"/>
                          </a:rPr>
                          <m:t>𝑛</m:t>
                        </m:r>
                        <m:r>
                          <a:rPr lang="en-US" sz="2400" b="0" i="1" smtClean="0">
                            <a:latin typeface="Cambria Math"/>
                          </a:rPr>
                          <m:t>−1</m:t>
                        </m:r>
                      </m:sub>
                    </m:sSub>
                    <m:sSup>
                      <m:sSupPr>
                        <m:ctrlPr>
                          <a:rPr lang="en-US" sz="2400" i="1">
                            <a:latin typeface="Cambria Math" panose="02040503050406030204" pitchFamily="18" charset="0"/>
                          </a:rPr>
                        </m:ctrlPr>
                      </m:sSupPr>
                      <m:e>
                        <m:r>
                          <a:rPr lang="en-US" sz="2400" b="0" i="1" smtClean="0">
                            <a:latin typeface="Cambria Math"/>
                          </a:rPr>
                          <m:t>𝑥</m:t>
                        </m:r>
                      </m:e>
                      <m:sup>
                        <m:r>
                          <a:rPr lang="en-US" sz="2400" b="0" i="1" smtClean="0">
                            <a:latin typeface="Cambria Math"/>
                          </a:rPr>
                          <m:t>𝑛</m:t>
                        </m:r>
                        <m:r>
                          <a:rPr lang="en-US" sz="2400" b="0" i="1" smtClean="0">
                            <a:latin typeface="Cambria Math"/>
                          </a:rPr>
                          <m:t>−1</m:t>
                        </m:r>
                      </m:sup>
                    </m:sSup>
                  </m:oMath>
                </a14:m>
                <a:r>
                  <a:rPr lang="en-US" sz="2400" dirty="0" smtClean="0"/>
                  <a:t>+…….+</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a:rPr>
                          <m:t>𝑎</m:t>
                        </m:r>
                      </m:e>
                      <m:sub>
                        <m:r>
                          <a:rPr lang="en-US" sz="2400" b="0" i="1" smtClean="0">
                            <a:latin typeface="Cambria Math"/>
                          </a:rPr>
                          <m:t>2</m:t>
                        </m:r>
                      </m:sub>
                    </m:sSub>
                    <m:sSup>
                      <m:sSupPr>
                        <m:ctrlPr>
                          <a:rPr lang="en-US" sz="2400" i="1">
                            <a:latin typeface="Cambria Math" panose="02040503050406030204" pitchFamily="18" charset="0"/>
                          </a:rPr>
                        </m:ctrlPr>
                      </m:sSupPr>
                      <m:e>
                        <m:r>
                          <a:rPr lang="en-US" sz="2400" b="0" i="1" smtClean="0">
                            <a:latin typeface="Cambria Math"/>
                          </a:rPr>
                          <m:t>𝑥</m:t>
                        </m:r>
                      </m:e>
                      <m:sup>
                        <m:r>
                          <a:rPr lang="en-US" sz="2400" b="0" i="1" smtClean="0">
                            <a:latin typeface="Cambria Math"/>
                          </a:rPr>
                          <m:t>2</m:t>
                        </m:r>
                      </m:sup>
                    </m:sSup>
                    <m:r>
                      <a:rPr lang="en-US" sz="2400" b="0" i="1" smtClean="0">
                        <a:latin typeface="Cambria Math"/>
                      </a:rPr>
                      <m:t>+</m:t>
                    </m:r>
                    <m:sSub>
                      <m:sSubPr>
                        <m:ctrlPr>
                          <a:rPr lang="en-US" sz="2400" i="1">
                            <a:latin typeface="Cambria Math" panose="02040503050406030204" pitchFamily="18" charset="0"/>
                          </a:rPr>
                        </m:ctrlPr>
                      </m:sSubPr>
                      <m:e>
                        <m:r>
                          <a:rPr lang="en-US" sz="2400" b="0" i="1" smtClean="0">
                            <a:latin typeface="Cambria Math"/>
                          </a:rPr>
                          <m:t>𝑎</m:t>
                        </m:r>
                      </m:e>
                      <m:sub>
                        <m:r>
                          <a:rPr lang="en-US" sz="2400" b="0" i="1" smtClean="0">
                            <a:latin typeface="Cambria Math"/>
                          </a:rPr>
                          <m:t>1</m:t>
                        </m:r>
                      </m:sub>
                    </m:sSub>
                    <m:r>
                      <a:rPr lang="en-US" sz="2400" i="1" smtClean="0">
                        <a:latin typeface="Cambria Math"/>
                      </a:rPr>
                      <m:t>𝑥</m:t>
                    </m:r>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𝑎</m:t>
                        </m:r>
                      </m:e>
                      <m:sub>
                        <m:r>
                          <a:rPr lang="en-US" sz="2400" b="0" i="1" smtClean="0">
                            <a:latin typeface="Cambria Math"/>
                          </a:rPr>
                          <m:t>0</m:t>
                        </m:r>
                      </m:sub>
                    </m:sSub>
                  </m:oMath>
                </a14:m>
                <a:endParaRPr lang="ru-RU" sz="2400" dirty="0"/>
              </a:p>
              <a:p>
                <a:pPr algn="just">
                  <a:lnSpc>
                    <a:spcPct val="130000"/>
                  </a:lnSpc>
                </a:pPr>
                <a:r>
                  <a:rPr lang="bg-BG" sz="2400" dirty="0"/>
                  <a:t> </a:t>
                </a:r>
                <a:r>
                  <a:rPr lang="bg-BG" sz="2400" dirty="0" smtClean="0"/>
                  <a:t>м</a:t>
                </a:r>
                <a:r>
                  <a:rPr lang="ru-RU" sz="2400" dirty="0" smtClean="0"/>
                  <a:t>оже</a:t>
                </a:r>
                <a:r>
                  <a:rPr lang="en-US" sz="2400" dirty="0" smtClean="0"/>
                  <a:t> </a:t>
                </a:r>
                <a:r>
                  <a:rPr lang="ru-RU" sz="2400" dirty="0" smtClean="0"/>
                  <a:t>да</a:t>
                </a:r>
                <a:r>
                  <a:rPr lang="en-US" sz="2400" dirty="0" smtClean="0"/>
                  <a:t> </a:t>
                </a:r>
                <a:r>
                  <a:rPr lang="ru-RU" sz="2400" dirty="0" smtClean="0"/>
                  <a:t>се</a:t>
                </a:r>
                <a:r>
                  <a:rPr lang="en-US" sz="2400" dirty="0" smtClean="0"/>
                  <a:t> </a:t>
                </a:r>
                <a:r>
                  <a:rPr lang="ru-RU" sz="2400" dirty="0" smtClean="0"/>
                  <a:t>представи</a:t>
                </a:r>
                <a:r>
                  <a:rPr lang="en-US" sz="2400" dirty="0" smtClean="0"/>
                  <a:t> </a:t>
                </a:r>
                <a:r>
                  <a:rPr lang="ru-RU" sz="2400" dirty="0" smtClean="0"/>
                  <a:t>по</a:t>
                </a:r>
                <a:r>
                  <a:rPr lang="en-US" sz="2400" dirty="0" smtClean="0"/>
                  <a:t> </a:t>
                </a:r>
                <a:r>
                  <a:rPr lang="ru-RU" sz="2400" dirty="0" smtClean="0"/>
                  <a:t>единствен</a:t>
                </a:r>
                <a:r>
                  <a:rPr lang="en-US" sz="2400" dirty="0" smtClean="0"/>
                  <a:t> </a:t>
                </a:r>
                <a:r>
                  <a:rPr lang="ru-RU" sz="2400" dirty="0" smtClean="0"/>
                  <a:t>начин</a:t>
                </a:r>
                <a:r>
                  <a:rPr lang="en-US" sz="2400" dirty="0" smtClean="0"/>
                  <a:t> </a:t>
                </a:r>
                <a:r>
                  <a:rPr lang="ru-RU" sz="2400" dirty="0" smtClean="0"/>
                  <a:t>като</a:t>
                </a:r>
                <a:r>
                  <a:rPr lang="en-US" sz="2400" dirty="0" smtClean="0"/>
                  <a:t> </a:t>
                </a:r>
                <a:r>
                  <a:rPr lang="ru-RU" sz="2400" dirty="0" smtClean="0"/>
                  <a:t>произведение</a:t>
                </a:r>
                <a:r>
                  <a:rPr lang="en-US" sz="2400" dirty="0" smtClean="0"/>
                  <a:t> </a:t>
                </a:r>
                <a:r>
                  <a:rPr lang="ru-RU" sz="2400" dirty="0" smtClean="0"/>
                  <a:t>на</a:t>
                </a:r>
                <a:r>
                  <a:rPr lang="ru-RU" sz="2400" dirty="0"/>
                  <a:t> </a:t>
                </a:r>
                <a:r>
                  <a:rPr lang="ru-RU" sz="2400" dirty="0" smtClean="0"/>
                  <a:t>старшия</a:t>
                </a:r>
                <a:r>
                  <a:rPr lang="en-US" sz="2400" dirty="0" smtClean="0"/>
                  <a:t> </a:t>
                </a:r>
                <a:r>
                  <a:rPr lang="ru-RU" sz="2400" dirty="0" smtClean="0"/>
                  <a:t>си коефициент</a:t>
                </a:r>
                <a:r>
                  <a:rPr lang="ru-RU" sz="2400" dirty="0"/>
                  <a:t> </a:t>
                </a:r>
                <a14:m>
                  <m:oMath xmlns:m="http://schemas.openxmlformats.org/officeDocument/2006/math">
                    <m:sSub>
                      <m:sSubPr>
                        <m:ctrlPr>
                          <a:rPr lang="ru-RU" sz="2400" i="1" smtClean="0">
                            <a:latin typeface="Cambria Math" panose="02040503050406030204" pitchFamily="18" charset="0"/>
                          </a:rPr>
                        </m:ctrlPr>
                      </m:sSubPr>
                      <m:e>
                        <m:r>
                          <a:rPr lang="en-US" sz="2400" b="0" i="1" smtClean="0">
                            <a:latin typeface="Cambria Math"/>
                          </a:rPr>
                          <m:t>𝑎</m:t>
                        </m:r>
                      </m:e>
                      <m:sub>
                        <m:r>
                          <a:rPr lang="en-US" sz="2400" b="0" i="1" smtClean="0">
                            <a:latin typeface="Cambria Math"/>
                          </a:rPr>
                          <m:t>𝑛</m:t>
                        </m:r>
                      </m:sub>
                    </m:sSub>
                  </m:oMath>
                </a14:m>
                <a:r>
                  <a:rPr lang="en-US" sz="2400" dirty="0" smtClean="0"/>
                  <a:t> </a:t>
                </a:r>
                <a:r>
                  <a:rPr lang="ru-RU" sz="2400" dirty="0" smtClean="0"/>
                  <a:t>и</a:t>
                </a:r>
                <a:r>
                  <a:rPr lang="en-US" sz="2400" dirty="0" smtClean="0"/>
                  <a:t> </a:t>
                </a:r>
                <a:r>
                  <a:rPr lang="ru-RU" sz="2400" dirty="0" smtClean="0"/>
                  <a:t>на</a:t>
                </a:r>
                <a:r>
                  <a:rPr lang="en-US" sz="2400" dirty="0" smtClean="0"/>
                  <a:t> </a:t>
                </a:r>
                <a:r>
                  <a:rPr lang="ru-RU" sz="2400" dirty="0" smtClean="0"/>
                  <a:t>известен</a:t>
                </a:r>
                <a:r>
                  <a:rPr lang="en-US" sz="2400" dirty="0" smtClean="0"/>
                  <a:t> </a:t>
                </a:r>
                <a:r>
                  <a:rPr lang="ru-RU" sz="2400" dirty="0" smtClean="0"/>
                  <a:t>брой</a:t>
                </a:r>
                <a:r>
                  <a:rPr lang="en-US" sz="2400" dirty="0" smtClean="0"/>
                  <a:t> </a:t>
                </a:r>
                <a:r>
                  <a:rPr lang="bg-BG" sz="2400" dirty="0" smtClean="0"/>
                  <a:t>(различни по между си) елементарни множители от първи вид </a:t>
                </a:r>
                <a14:m>
                  <m:oMath xmlns:m="http://schemas.openxmlformats.org/officeDocument/2006/math">
                    <m:sSup>
                      <m:sSupPr>
                        <m:ctrlPr>
                          <a:rPr lang="bg-BG" sz="2400" i="1" smtClean="0">
                            <a:latin typeface="Cambria Math" panose="02040503050406030204" pitchFamily="18" charset="0"/>
                          </a:rPr>
                        </m:ctrlPr>
                      </m:sSupPr>
                      <m:e>
                        <m:d>
                          <m:dPr>
                            <m:ctrlPr>
                              <a:rPr lang="bg-BG" sz="2400" i="1" smtClean="0">
                                <a:latin typeface="Cambria Math" panose="02040503050406030204" pitchFamily="18" charset="0"/>
                              </a:rPr>
                            </m:ctrlPr>
                          </m:dPr>
                          <m:e>
                            <m:r>
                              <a:rPr lang="en-US" sz="2400" b="0" i="1" smtClean="0">
                                <a:latin typeface="Cambria Math"/>
                              </a:rPr>
                              <m:t>𝑥</m:t>
                            </m:r>
                            <m:r>
                              <a:rPr lang="en-US" sz="2400" b="0" i="1" smtClean="0">
                                <a:latin typeface="Cambria Math"/>
                              </a:rPr>
                              <m:t>−</m:t>
                            </m:r>
                            <m:r>
                              <a:rPr lang="en-US" sz="2400" b="0" i="1" smtClean="0">
                                <a:latin typeface="Cambria Math"/>
                              </a:rPr>
                              <m:t>𝑎</m:t>
                            </m:r>
                          </m:e>
                        </m:d>
                      </m:e>
                      <m:sup>
                        <m:r>
                          <a:rPr lang="en-US" sz="2400" b="0" i="1" smtClean="0">
                            <a:latin typeface="Cambria Math"/>
                          </a:rPr>
                          <m:t>𝑘</m:t>
                        </m:r>
                      </m:sup>
                    </m:sSup>
                  </m:oMath>
                </a14:m>
                <a:r>
                  <a:rPr lang="bg-BG" sz="2400" dirty="0" smtClean="0"/>
                  <a:t> и/или елементарни множители от втори вид</a:t>
                </a:r>
                <a:r>
                  <a:rPr lang="en-US" sz="2400" dirty="0" smtClean="0"/>
                  <a:t> </a:t>
                </a:r>
                <a14:m>
                  <m:oMath xmlns:m="http://schemas.openxmlformats.org/officeDocument/2006/math">
                    <m:sSup>
                      <m:sSupPr>
                        <m:ctrlPr>
                          <a:rPr lang="en-US" sz="2400" i="1" smtClean="0">
                            <a:latin typeface="Cambria Math" panose="02040503050406030204" pitchFamily="18" charset="0"/>
                          </a:rPr>
                        </m:ctrlPr>
                      </m:sSupPr>
                      <m:e>
                        <m:d>
                          <m:dPr>
                            <m:ctrlPr>
                              <a:rPr lang="en-US" sz="2400" i="1" smtClean="0">
                                <a:latin typeface="Cambria Math" panose="02040503050406030204" pitchFamily="18" charset="0"/>
                              </a:rPr>
                            </m:ctrlPr>
                          </m:dPr>
                          <m:e>
                            <m:sSup>
                              <m:sSupPr>
                                <m:ctrlPr>
                                  <a:rPr lang="en-US" sz="2400" i="1" smtClean="0">
                                    <a:latin typeface="Cambria Math" panose="02040503050406030204" pitchFamily="18" charset="0"/>
                                  </a:rPr>
                                </m:ctrlPr>
                              </m:sSupPr>
                              <m:e>
                                <m:r>
                                  <a:rPr lang="en-US" sz="2400" b="0" i="1" smtClean="0">
                                    <a:latin typeface="Cambria Math"/>
                                  </a:rPr>
                                  <m:t>𝑥</m:t>
                                </m:r>
                              </m:e>
                              <m:sup>
                                <m:r>
                                  <a:rPr lang="en-US" sz="2400" b="0" i="1" smtClean="0">
                                    <a:latin typeface="Cambria Math"/>
                                  </a:rPr>
                                  <m:t>2</m:t>
                                </m:r>
                              </m:sup>
                            </m:sSup>
                            <m:r>
                              <a:rPr lang="en-US" sz="2400" b="0" i="1" smtClean="0">
                                <a:latin typeface="Cambria Math"/>
                              </a:rPr>
                              <m:t>+</m:t>
                            </m:r>
                            <m:r>
                              <a:rPr lang="en-US" sz="2400" b="0" i="1" smtClean="0">
                                <a:latin typeface="Cambria Math"/>
                              </a:rPr>
                              <m:t>𝑝𝑥</m:t>
                            </m:r>
                            <m:r>
                              <a:rPr lang="en-US" sz="2400" b="0" i="1" smtClean="0">
                                <a:latin typeface="Cambria Math"/>
                              </a:rPr>
                              <m:t>+</m:t>
                            </m:r>
                            <m:r>
                              <a:rPr lang="en-US" sz="2400" b="0" i="1" smtClean="0">
                                <a:latin typeface="Cambria Math"/>
                              </a:rPr>
                              <m:t>𝑞</m:t>
                            </m:r>
                          </m:e>
                        </m:d>
                      </m:e>
                      <m:sup>
                        <m:r>
                          <a:rPr lang="en-US" sz="2400" b="0" i="1" smtClean="0">
                            <a:latin typeface="Cambria Math"/>
                          </a:rPr>
                          <m:t>𝑠</m:t>
                        </m:r>
                      </m:sup>
                    </m:sSup>
                    <m:r>
                      <a:rPr lang="en-US" sz="2400" b="0" i="1" smtClean="0">
                        <a:latin typeface="Cambria Math"/>
                      </a:rPr>
                      <m:t>,  </m:t>
                    </m:r>
                    <m:sSup>
                      <m:sSupPr>
                        <m:ctrlPr>
                          <a:rPr lang="en-US" sz="2400" b="0" i="1" smtClean="0">
                            <a:latin typeface="Cambria Math" panose="02040503050406030204" pitchFamily="18" charset="0"/>
                          </a:rPr>
                        </m:ctrlPr>
                      </m:sSupPr>
                      <m:e>
                        <m:r>
                          <a:rPr lang="en-US" sz="2400" b="0" i="1" smtClean="0">
                            <a:latin typeface="Cambria Math"/>
                          </a:rPr>
                          <m:t>𝑝</m:t>
                        </m:r>
                      </m:e>
                      <m:sup>
                        <m:r>
                          <a:rPr lang="en-US" sz="2400" b="0" i="1" smtClean="0">
                            <a:latin typeface="Cambria Math"/>
                          </a:rPr>
                          <m:t>2</m:t>
                        </m:r>
                      </m:sup>
                    </m:sSup>
                    <m:r>
                      <a:rPr lang="en-US" sz="2400" b="0" i="1" smtClean="0">
                        <a:latin typeface="Cambria Math"/>
                      </a:rPr>
                      <m:t>−4</m:t>
                    </m:r>
                    <m:r>
                      <a:rPr lang="en-US" sz="2400" b="0" i="1" smtClean="0">
                        <a:latin typeface="Cambria Math"/>
                      </a:rPr>
                      <m:t>𝑞</m:t>
                    </m:r>
                    <m:r>
                      <a:rPr lang="en-US" sz="2400" b="0" i="1" smtClean="0">
                        <a:latin typeface="Cambria Math"/>
                      </a:rPr>
                      <m:t>&lt;0,  </m:t>
                    </m:r>
                  </m:oMath>
                </a14:m>
                <a:r>
                  <a:rPr lang="en-US" sz="2400" dirty="0" smtClean="0"/>
                  <a:t> </a:t>
                </a:r>
              </a:p>
              <a:p>
                <a:pPr algn="just">
                  <a:lnSpc>
                    <a:spcPct val="130000"/>
                  </a:lnSpc>
                </a:pPr>
                <a14:m>
                  <m:oMath xmlns:m="http://schemas.openxmlformats.org/officeDocument/2006/math">
                    <m:r>
                      <a:rPr lang="en-US" sz="2400" b="0" i="1" smtClean="0">
                        <a:latin typeface="Cambria Math"/>
                      </a:rPr>
                      <m:t>𝑓</m:t>
                    </m:r>
                    <m:d>
                      <m:dPr>
                        <m:ctrlPr>
                          <a:rPr lang="en-US" sz="2400" b="0" i="1" smtClean="0">
                            <a:latin typeface="Cambria Math" panose="02040503050406030204" pitchFamily="18" charset="0"/>
                          </a:rPr>
                        </m:ctrlPr>
                      </m:dPr>
                      <m:e>
                        <m:r>
                          <a:rPr lang="en-US" sz="2400" b="0" i="1" smtClean="0">
                            <a:latin typeface="Cambria Math"/>
                          </a:rPr>
                          <m:t>𝑥</m:t>
                        </m:r>
                      </m:e>
                    </m:d>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𝑎</m:t>
                        </m:r>
                      </m:e>
                      <m:sub>
                        <m:r>
                          <a:rPr lang="en-US" sz="2400" b="0" i="1" smtClean="0">
                            <a:latin typeface="Cambria Math"/>
                          </a:rPr>
                          <m:t>𝑛</m:t>
                        </m:r>
                      </m:sub>
                    </m:sSub>
                    <m:r>
                      <a:rPr lang="en-US" sz="2400" b="0" i="1" smtClean="0">
                        <a:latin typeface="Cambria Math"/>
                      </a:rPr>
                      <m:t>…..</m:t>
                    </m:r>
                  </m:oMath>
                </a14:m>
                <a:r>
                  <a:rPr lang="bg-BG" sz="2400" dirty="0"/>
                  <a:t> </a:t>
                </a:r>
                <a14:m>
                  <m:oMath xmlns:m="http://schemas.openxmlformats.org/officeDocument/2006/math">
                    <m:sSup>
                      <m:sSupPr>
                        <m:ctrlPr>
                          <a:rPr lang="bg-BG" sz="2400" i="1">
                            <a:latin typeface="Cambria Math" panose="02040503050406030204" pitchFamily="18" charset="0"/>
                          </a:rPr>
                        </m:ctrlPr>
                      </m:sSupPr>
                      <m:e>
                        <m:d>
                          <m:dPr>
                            <m:ctrlPr>
                              <a:rPr lang="bg-BG" sz="2400" i="1">
                                <a:latin typeface="Cambria Math" panose="02040503050406030204" pitchFamily="18" charset="0"/>
                              </a:rPr>
                            </m:ctrlPr>
                          </m:dPr>
                          <m:e>
                            <m:r>
                              <a:rPr lang="en-US" sz="2400" i="1">
                                <a:latin typeface="Cambria Math"/>
                              </a:rPr>
                              <m:t>𝑥</m:t>
                            </m:r>
                            <m:r>
                              <a:rPr lang="en-US" sz="2400" i="1">
                                <a:latin typeface="Cambria Math"/>
                              </a:rPr>
                              <m:t>−</m:t>
                            </m:r>
                            <m:r>
                              <a:rPr lang="en-US" sz="2400" i="1">
                                <a:latin typeface="Cambria Math"/>
                              </a:rPr>
                              <m:t>𝑎</m:t>
                            </m:r>
                          </m:e>
                        </m:d>
                      </m:e>
                      <m:sup>
                        <m:r>
                          <a:rPr lang="en-US" sz="2400" i="1">
                            <a:latin typeface="Cambria Math"/>
                          </a:rPr>
                          <m:t>𝑘</m:t>
                        </m:r>
                      </m:sup>
                    </m:sSup>
                  </m:oMath>
                </a14:m>
                <a:r>
                  <a:rPr lang="en-US" sz="2400" dirty="0" smtClean="0"/>
                  <a:t>………</a:t>
                </a:r>
                <a14:m>
                  <m:oMath xmlns:m="http://schemas.openxmlformats.org/officeDocument/2006/math">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a:rPr>
                                  <m:t>𝑥</m:t>
                                </m:r>
                              </m:e>
                              <m:sup>
                                <m:r>
                                  <a:rPr lang="en-US" sz="2400" i="1">
                                    <a:latin typeface="Cambria Math"/>
                                  </a:rPr>
                                  <m:t>2</m:t>
                                </m:r>
                              </m:sup>
                            </m:sSup>
                            <m:r>
                              <a:rPr lang="en-US" sz="2400" i="1">
                                <a:latin typeface="Cambria Math"/>
                              </a:rPr>
                              <m:t>+</m:t>
                            </m:r>
                            <m:r>
                              <a:rPr lang="en-US" sz="2400" i="1">
                                <a:latin typeface="Cambria Math"/>
                              </a:rPr>
                              <m:t>𝑝𝑥</m:t>
                            </m:r>
                            <m:r>
                              <a:rPr lang="en-US" sz="2400" i="1">
                                <a:latin typeface="Cambria Math"/>
                              </a:rPr>
                              <m:t>+</m:t>
                            </m:r>
                            <m:r>
                              <a:rPr lang="en-US" sz="2400" i="1">
                                <a:latin typeface="Cambria Math"/>
                              </a:rPr>
                              <m:t>𝑞</m:t>
                            </m:r>
                          </m:e>
                        </m:d>
                      </m:e>
                      <m:sup>
                        <m:r>
                          <a:rPr lang="en-US" sz="2400" i="1">
                            <a:latin typeface="Cambria Math"/>
                          </a:rPr>
                          <m:t>𝑠</m:t>
                        </m:r>
                      </m:sup>
                    </m:sSup>
                  </m:oMath>
                </a14:m>
                <a:r>
                  <a:rPr lang="en-US" sz="2400" dirty="0" smtClean="0"/>
                  <a:t>……</a:t>
                </a:r>
              </a:p>
              <a:p>
                <a:pPr algn="just">
                  <a:lnSpc>
                    <a:spcPct val="130000"/>
                  </a:lnSpc>
                </a:pPr>
                <a:r>
                  <a:rPr lang="ru-RU" sz="2400" dirty="0" smtClean="0"/>
                  <a:t>Това представяне се нарича каноничен вид на полинома </a:t>
                </a:r>
                <a14:m>
                  <m:oMath xmlns:m="http://schemas.openxmlformats.org/officeDocument/2006/math">
                    <m:r>
                      <a:rPr lang="en-US" sz="2400" b="0" i="1" smtClean="0">
                        <a:latin typeface="Cambria Math"/>
                      </a:rPr>
                      <m:t>𝑓</m:t>
                    </m:r>
                    <m:d>
                      <m:dPr>
                        <m:ctrlPr>
                          <a:rPr lang="en-US" sz="2400" b="0" i="1" smtClean="0">
                            <a:latin typeface="Cambria Math" panose="02040503050406030204" pitchFamily="18" charset="0"/>
                          </a:rPr>
                        </m:ctrlPr>
                      </m:dPr>
                      <m:e>
                        <m:r>
                          <a:rPr lang="en-US" sz="2400" b="0" i="1" smtClean="0">
                            <a:latin typeface="Cambria Math"/>
                          </a:rPr>
                          <m:t>𝑥</m:t>
                        </m:r>
                      </m:e>
                    </m:d>
                    <m:r>
                      <a:rPr lang="en-US" sz="2400" b="0" i="1" smtClean="0">
                        <a:latin typeface="Cambria Math"/>
                      </a:rPr>
                      <m:t>.</m:t>
                    </m:r>
                  </m:oMath>
                </a14:m>
                <a:endParaRPr lang="en-US" sz="2400" b="0" dirty="0" smtClean="0"/>
              </a:p>
              <a:p>
                <a:pPr indent="531813" algn="just">
                  <a:lnSpc>
                    <a:spcPct val="130000"/>
                  </a:lnSpc>
                </a:pPr>
                <a:r>
                  <a:rPr lang="bg-BG" sz="2400" b="1" i="1" dirty="0" smtClean="0"/>
                  <a:t>Рационална функция</a:t>
                </a:r>
                <a:endParaRPr lang="bg-BG" sz="2400" b="1" i="1" dirty="0"/>
              </a:p>
              <a:p>
                <a:pPr indent="531813" algn="just">
                  <a:lnSpc>
                    <a:spcPct val="130000"/>
                  </a:lnSpc>
                </a:pPr>
                <a:r>
                  <a:rPr lang="bg-BG" sz="2400" dirty="0" smtClean="0"/>
                  <a:t>Функцията </a:t>
                </a:r>
                <a14:m>
                  <m:oMath xmlns:m="http://schemas.openxmlformats.org/officeDocument/2006/math">
                    <m:r>
                      <a:rPr lang="en-US" sz="2400" i="1">
                        <a:latin typeface="Cambria Math"/>
                      </a:rPr>
                      <m:t>𝑓</m:t>
                    </m:r>
                    <m:d>
                      <m:dPr>
                        <m:ctrlPr>
                          <a:rPr lang="en-US" sz="2400" i="1">
                            <a:latin typeface="Cambria Math" panose="02040503050406030204" pitchFamily="18" charset="0"/>
                          </a:rPr>
                        </m:ctrlPr>
                      </m:dPr>
                      <m:e>
                        <m:r>
                          <a:rPr lang="en-US" sz="2400" i="1">
                            <a:latin typeface="Cambria Math"/>
                          </a:rPr>
                          <m:t>𝑥</m:t>
                        </m:r>
                      </m:e>
                    </m:d>
                  </m:oMath>
                </a14:m>
                <a:r>
                  <a:rPr lang="bg-BG" sz="2400" dirty="0" smtClean="0"/>
                  <a:t> се нарича рационална, когато е частно на два полинома, </a:t>
                </a:r>
                <a14:m>
                  <m:oMath xmlns:m="http://schemas.openxmlformats.org/officeDocument/2006/math">
                    <m:r>
                      <a:rPr lang="en-US" sz="2400" b="0" i="1" smtClean="0">
                        <a:latin typeface="Cambria Math"/>
                      </a:rPr>
                      <m:t>𝑓</m:t>
                    </m:r>
                    <m:d>
                      <m:dPr>
                        <m:ctrlPr>
                          <a:rPr lang="en-US" sz="2400" b="0" i="1" smtClean="0">
                            <a:latin typeface="Cambria Math" panose="02040503050406030204" pitchFamily="18" charset="0"/>
                          </a:rPr>
                        </m:ctrlPr>
                      </m:dPr>
                      <m:e>
                        <m:r>
                          <a:rPr lang="en-US" sz="2400" b="0" i="1" smtClean="0">
                            <a:latin typeface="Cambria Math"/>
                          </a:rPr>
                          <m:t>𝑥</m:t>
                        </m:r>
                      </m:e>
                    </m:d>
                    <m:r>
                      <a:rPr lang="en-US" sz="2400" b="0" i="1" smtClean="0">
                        <a:latin typeface="Cambria Math"/>
                      </a:rPr>
                      <m:t>=</m:t>
                    </m:r>
                    <m:f>
                      <m:fPr>
                        <m:ctrlPr>
                          <a:rPr lang="en-US" sz="2400" b="0" i="1" smtClean="0">
                            <a:latin typeface="Cambria Math" panose="02040503050406030204" pitchFamily="18" charset="0"/>
                          </a:rPr>
                        </m:ctrlPr>
                      </m:fPr>
                      <m:num>
                        <m:r>
                          <a:rPr lang="en-US" sz="2400" b="0" i="1" smtClean="0">
                            <a:latin typeface="Cambria Math"/>
                          </a:rPr>
                          <m:t>𝑃</m:t>
                        </m:r>
                        <m:r>
                          <a:rPr lang="en-US" sz="2400" b="0" i="1" smtClean="0">
                            <a:latin typeface="Cambria Math"/>
                          </a:rPr>
                          <m:t>(</m:t>
                        </m:r>
                        <m:r>
                          <a:rPr lang="en-US" sz="2400" b="0" i="1" smtClean="0">
                            <a:latin typeface="Cambria Math"/>
                          </a:rPr>
                          <m:t>𝑥</m:t>
                        </m:r>
                        <m:r>
                          <a:rPr lang="en-US" sz="2400" b="0" i="1" smtClean="0">
                            <a:latin typeface="Cambria Math"/>
                          </a:rPr>
                          <m:t>)</m:t>
                        </m:r>
                      </m:num>
                      <m:den>
                        <m:r>
                          <a:rPr lang="en-US" sz="2400" b="0" i="1" smtClean="0">
                            <a:latin typeface="Cambria Math"/>
                          </a:rPr>
                          <m:t>𝑄</m:t>
                        </m:r>
                        <m:r>
                          <a:rPr lang="en-US" sz="2400" b="0" i="1" smtClean="0">
                            <a:latin typeface="Cambria Math"/>
                          </a:rPr>
                          <m:t>(</m:t>
                        </m:r>
                        <m:r>
                          <a:rPr lang="en-US" sz="2400" b="0" i="1" smtClean="0">
                            <a:latin typeface="Cambria Math"/>
                          </a:rPr>
                          <m:t>𝑥</m:t>
                        </m:r>
                        <m:r>
                          <a:rPr lang="en-US" sz="2400" b="0" i="1" smtClean="0">
                            <a:latin typeface="Cambria Math"/>
                          </a:rPr>
                          <m:t>)</m:t>
                        </m:r>
                      </m:den>
                    </m:f>
                  </m:oMath>
                </a14:m>
                <a:r>
                  <a:rPr lang="en-US" sz="2400" dirty="0" smtClean="0"/>
                  <a:t>.</a:t>
                </a:r>
              </a:p>
              <a:p>
                <a:pPr indent="531813" algn="just">
                  <a:lnSpc>
                    <a:spcPct val="130000"/>
                  </a:lnSpc>
                </a:pPr>
                <a:r>
                  <a:rPr lang="bg-BG" sz="2400" dirty="0" smtClean="0"/>
                  <a:t>Рационална функцията </a:t>
                </a:r>
                <a14:m>
                  <m:oMath xmlns:m="http://schemas.openxmlformats.org/officeDocument/2006/math">
                    <m:r>
                      <a:rPr lang="en-US" sz="2400" i="1">
                        <a:latin typeface="Cambria Math"/>
                      </a:rPr>
                      <m:t>𝑓</m:t>
                    </m:r>
                    <m:d>
                      <m:dPr>
                        <m:ctrlPr>
                          <a:rPr lang="en-US" sz="2400" i="1">
                            <a:latin typeface="Cambria Math" panose="02040503050406030204" pitchFamily="18" charset="0"/>
                          </a:rPr>
                        </m:ctrlPr>
                      </m:dPr>
                      <m:e>
                        <m:r>
                          <a:rPr lang="en-US" sz="2400" i="1">
                            <a:latin typeface="Cambria Math"/>
                          </a:rPr>
                          <m:t>𝑥</m:t>
                        </m:r>
                      </m:e>
                    </m:d>
                  </m:oMath>
                </a14:m>
                <a:r>
                  <a:rPr lang="bg-BG" sz="2400" dirty="0"/>
                  <a:t> се </a:t>
                </a:r>
                <a:r>
                  <a:rPr lang="bg-BG" sz="2400" dirty="0" smtClean="0"/>
                  <a:t>нарича правилна, когато </a:t>
                </a:r>
                <a14:m>
                  <m:oMath xmlns:m="http://schemas.openxmlformats.org/officeDocument/2006/math">
                    <m:r>
                      <a:rPr lang="en-US" sz="2400" b="0" i="1" smtClean="0">
                        <a:latin typeface="Cambria Math"/>
                      </a:rPr>
                      <m:t>𝑑𝑒𝑔𝑃</m:t>
                    </m:r>
                    <m:d>
                      <m:dPr>
                        <m:ctrlPr>
                          <a:rPr lang="en-US" sz="2400" b="0" i="1" smtClean="0">
                            <a:latin typeface="Cambria Math" panose="02040503050406030204" pitchFamily="18" charset="0"/>
                          </a:rPr>
                        </m:ctrlPr>
                      </m:dPr>
                      <m:e>
                        <m:r>
                          <a:rPr lang="en-US" sz="2400" b="0" i="1" smtClean="0">
                            <a:latin typeface="Cambria Math"/>
                          </a:rPr>
                          <m:t>𝑥</m:t>
                        </m:r>
                      </m:e>
                    </m:d>
                    <m:r>
                      <a:rPr lang="en-US" sz="2400" b="0" i="1" smtClean="0">
                        <a:latin typeface="Cambria Math"/>
                      </a:rPr>
                      <m:t>&lt;</m:t>
                    </m:r>
                    <m:r>
                      <a:rPr lang="en-US" sz="2400" b="0" i="1" smtClean="0">
                        <a:latin typeface="Cambria Math"/>
                      </a:rPr>
                      <m:t>𝑑𝑒𝑔𝑄</m:t>
                    </m:r>
                    <m:d>
                      <m:dPr>
                        <m:ctrlPr>
                          <a:rPr lang="en-US" sz="2400" b="0" i="1" smtClean="0">
                            <a:latin typeface="Cambria Math" panose="02040503050406030204" pitchFamily="18" charset="0"/>
                          </a:rPr>
                        </m:ctrlPr>
                      </m:dPr>
                      <m:e>
                        <m:r>
                          <a:rPr lang="en-US" sz="2400" b="0" i="1" smtClean="0">
                            <a:latin typeface="Cambria Math"/>
                          </a:rPr>
                          <m:t>𝑥</m:t>
                        </m:r>
                      </m:e>
                    </m:d>
                    <m:r>
                      <a:rPr lang="en-US" sz="2400" b="0" i="1" smtClean="0">
                        <a:latin typeface="Cambria Math"/>
                      </a:rPr>
                      <m:t>.</m:t>
                    </m:r>
                  </m:oMath>
                </a14:m>
                <a:endParaRPr lang="ru-RU" sz="2400" dirty="0"/>
              </a:p>
            </p:txBody>
          </p:sp>
        </mc:Choice>
        <mc:Fallback xmlns="">
          <p:sp>
            <p:nvSpPr>
              <p:cNvPr id="9" name="Правоъгълник 8"/>
              <p:cNvSpPr>
                <a:spLocks noRot="1" noChangeAspect="1" noMove="1" noResize="1" noEditPoints="1" noAdjustHandles="1" noChangeArrowheads="1" noChangeShapeType="1" noTextEdit="1"/>
              </p:cNvSpPr>
              <p:nvPr/>
            </p:nvSpPr>
            <p:spPr>
              <a:xfrm>
                <a:off x="2032001" y="375956"/>
                <a:ext cx="10025680" cy="6635856"/>
              </a:xfrm>
              <a:prstGeom prst="rect">
                <a:avLst/>
              </a:prstGeom>
              <a:blipFill rotWithShape="1">
                <a:blip r:embed="rId2"/>
                <a:stretch>
                  <a:fillRect l="-912" r="-973"/>
                </a:stretch>
              </a:blipFill>
            </p:spPr>
            <p:txBody>
              <a:bodyPr/>
              <a:lstStyle/>
              <a:p>
                <a:r>
                  <a:rPr lang="bg-BG">
                    <a:noFill/>
                  </a:rPr>
                  <a:t> </a:t>
                </a:r>
              </a:p>
            </p:txBody>
          </p:sp>
        </mc:Fallback>
      </mc:AlternateContent>
      <p:sp>
        <p:nvSpPr>
          <p:cNvPr id="10" name="Rectangle 4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4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4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Tree>
    <p:extLst>
      <p:ext uri="{BB962C8B-B14F-4D97-AF65-F5344CB8AC3E}">
        <p14:creationId xmlns:p14="http://schemas.microsoft.com/office/powerpoint/2010/main" val="2417643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7</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mc:AlternateContent xmlns:mc="http://schemas.openxmlformats.org/markup-compatibility/2006" xmlns:a14="http://schemas.microsoft.com/office/drawing/2010/main">
        <mc:Choice Requires="a14">
          <p:sp>
            <p:nvSpPr>
              <p:cNvPr id="5" name="Rectangle 4"/>
              <p:cNvSpPr/>
              <p:nvPr/>
            </p:nvSpPr>
            <p:spPr>
              <a:xfrm>
                <a:off x="2088105" y="987231"/>
                <a:ext cx="9976515" cy="4542013"/>
              </a:xfrm>
              <a:prstGeom prst="rect">
                <a:avLst/>
              </a:prstGeom>
            </p:spPr>
            <p:txBody>
              <a:bodyPr wrap="square">
                <a:spAutoFit/>
              </a:bodyPr>
              <a:lstStyle/>
              <a:p>
                <a:pPr indent="531813" algn="just">
                  <a:lnSpc>
                    <a:spcPct val="130000"/>
                  </a:lnSpc>
                </a:pPr>
                <a:r>
                  <a:rPr lang="bg-BG" sz="2400" dirty="0" smtClean="0">
                    <a:solidFill>
                      <a:prstClr val="black"/>
                    </a:solidFill>
                  </a:rPr>
                  <a:t>Нека </a:t>
                </a:r>
                <a14:m>
                  <m:oMath xmlns:m="http://schemas.openxmlformats.org/officeDocument/2006/math">
                    <m:r>
                      <a:rPr lang="en-US" sz="2400" i="1">
                        <a:latin typeface="Cambria Math"/>
                      </a:rPr>
                      <m:t>𝑓</m:t>
                    </m:r>
                    <m:d>
                      <m:dPr>
                        <m:ctrlPr>
                          <a:rPr lang="en-US" sz="2400" i="1">
                            <a:latin typeface="Cambria Math" panose="02040503050406030204" pitchFamily="18" charset="0"/>
                          </a:rPr>
                        </m:ctrlPr>
                      </m:dPr>
                      <m:e>
                        <m:r>
                          <a:rPr lang="en-US" sz="2400" i="1">
                            <a:latin typeface="Cambria Math"/>
                          </a:rPr>
                          <m:t>𝑥</m:t>
                        </m:r>
                      </m:e>
                    </m:d>
                    <m:r>
                      <a:rPr lang="en-US" sz="2400" i="1">
                        <a:latin typeface="Cambria Math"/>
                      </a:rPr>
                      <m:t>=</m:t>
                    </m:r>
                    <m:f>
                      <m:fPr>
                        <m:ctrlPr>
                          <a:rPr lang="en-US" sz="2400" i="1">
                            <a:latin typeface="Cambria Math" panose="02040503050406030204" pitchFamily="18" charset="0"/>
                          </a:rPr>
                        </m:ctrlPr>
                      </m:fPr>
                      <m:num>
                        <m:r>
                          <a:rPr lang="en-US" sz="2400" i="1">
                            <a:latin typeface="Cambria Math"/>
                          </a:rPr>
                          <m:t>𝑃</m:t>
                        </m:r>
                        <m:r>
                          <a:rPr lang="en-US" sz="2400" i="1">
                            <a:latin typeface="Cambria Math"/>
                          </a:rPr>
                          <m:t>(</m:t>
                        </m:r>
                        <m:r>
                          <a:rPr lang="en-US" sz="2400" i="1">
                            <a:latin typeface="Cambria Math"/>
                          </a:rPr>
                          <m:t>𝑥</m:t>
                        </m:r>
                        <m:r>
                          <a:rPr lang="en-US" sz="2400" i="1">
                            <a:latin typeface="Cambria Math"/>
                          </a:rPr>
                          <m:t>)</m:t>
                        </m:r>
                      </m:num>
                      <m:den>
                        <m:r>
                          <a:rPr lang="en-US" sz="2400" i="1">
                            <a:latin typeface="Cambria Math"/>
                          </a:rPr>
                          <m:t>𝑄</m:t>
                        </m:r>
                        <m:r>
                          <a:rPr lang="en-US" sz="2400" i="1">
                            <a:latin typeface="Cambria Math"/>
                          </a:rPr>
                          <m:t>(</m:t>
                        </m:r>
                        <m:r>
                          <a:rPr lang="en-US" sz="2400" i="1">
                            <a:latin typeface="Cambria Math"/>
                          </a:rPr>
                          <m:t>𝑥</m:t>
                        </m:r>
                        <m:r>
                          <a:rPr lang="en-US" sz="2400" i="1">
                            <a:latin typeface="Cambria Math"/>
                          </a:rPr>
                          <m:t>)</m:t>
                        </m:r>
                      </m:den>
                    </m:f>
                  </m:oMath>
                </a14:m>
                <a:r>
                  <a:rPr lang="bg-BG" sz="2400" dirty="0" smtClean="0">
                    <a:solidFill>
                      <a:prstClr val="black"/>
                    </a:solidFill>
                  </a:rPr>
                  <a:t> е правилна рационална функция. Тогава </a:t>
                </a:r>
                <a14:m>
                  <m:oMath xmlns:m="http://schemas.openxmlformats.org/officeDocument/2006/math">
                    <m:r>
                      <a:rPr lang="en-US" sz="2400" b="0" i="1" smtClean="0">
                        <a:solidFill>
                          <a:prstClr val="black"/>
                        </a:solidFill>
                        <a:latin typeface="Cambria Math"/>
                      </a:rPr>
                      <m:t>𝑓</m:t>
                    </m:r>
                    <m:d>
                      <m:dPr>
                        <m:ctrlPr>
                          <a:rPr lang="en-US" sz="2400" b="0" i="1" smtClean="0">
                            <a:solidFill>
                              <a:prstClr val="black"/>
                            </a:solidFill>
                            <a:latin typeface="Cambria Math" panose="02040503050406030204" pitchFamily="18" charset="0"/>
                          </a:rPr>
                        </m:ctrlPr>
                      </m:dPr>
                      <m:e>
                        <m:r>
                          <a:rPr lang="en-US" sz="2400" b="0" i="1" smtClean="0">
                            <a:solidFill>
                              <a:prstClr val="black"/>
                            </a:solidFill>
                            <a:latin typeface="Cambria Math"/>
                          </a:rPr>
                          <m:t>𝑥</m:t>
                        </m:r>
                      </m:e>
                    </m:d>
                  </m:oMath>
                </a14:m>
                <a:r>
                  <a:rPr lang="bg-BG" dirty="0" smtClean="0"/>
                  <a:t> </a:t>
                </a:r>
                <a:r>
                  <a:rPr lang="bg-BG" sz="2400" dirty="0" smtClean="0"/>
                  <a:t>може да се запише като сбор от серии елементарни дроби. Всеки елементарен множител от първи вид </a:t>
                </a:r>
                <a14:m>
                  <m:oMath xmlns:m="http://schemas.openxmlformats.org/officeDocument/2006/math">
                    <m:sSup>
                      <m:sSupPr>
                        <m:ctrlPr>
                          <a:rPr lang="bg-BG" sz="2400" i="1">
                            <a:latin typeface="Cambria Math" panose="02040503050406030204" pitchFamily="18" charset="0"/>
                          </a:rPr>
                        </m:ctrlPr>
                      </m:sSupPr>
                      <m:e>
                        <m:d>
                          <m:dPr>
                            <m:ctrlPr>
                              <a:rPr lang="bg-BG" sz="2400" i="1">
                                <a:latin typeface="Cambria Math" panose="02040503050406030204" pitchFamily="18" charset="0"/>
                              </a:rPr>
                            </m:ctrlPr>
                          </m:dPr>
                          <m:e>
                            <m:r>
                              <a:rPr lang="en-US" sz="2400" i="1">
                                <a:latin typeface="Cambria Math"/>
                              </a:rPr>
                              <m:t>𝑥</m:t>
                            </m:r>
                            <m:r>
                              <a:rPr lang="en-US" sz="2400" i="1">
                                <a:latin typeface="Cambria Math"/>
                              </a:rPr>
                              <m:t>−</m:t>
                            </m:r>
                            <m:r>
                              <a:rPr lang="en-US" sz="2400" i="1">
                                <a:latin typeface="Cambria Math"/>
                              </a:rPr>
                              <m:t>𝑎</m:t>
                            </m:r>
                          </m:e>
                        </m:d>
                      </m:e>
                      <m:sup>
                        <m:r>
                          <a:rPr lang="en-US" sz="2400" i="1">
                            <a:latin typeface="Cambria Math"/>
                          </a:rPr>
                          <m:t>𝑘</m:t>
                        </m:r>
                      </m:sup>
                    </m:sSup>
                  </m:oMath>
                </a14:m>
                <a:r>
                  <a:rPr lang="bg-BG" sz="2400" dirty="0" smtClean="0"/>
                  <a:t> </a:t>
                </a:r>
                <a:r>
                  <a:rPr lang="bg-BG" sz="2400" dirty="0"/>
                  <a:t>на </a:t>
                </a:r>
                <a14:m>
                  <m:oMath xmlns:m="http://schemas.openxmlformats.org/officeDocument/2006/math">
                    <m:r>
                      <a:rPr lang="en-US" sz="2400" i="1">
                        <a:latin typeface="Cambria Math"/>
                      </a:rPr>
                      <m:t>𝑄</m:t>
                    </m:r>
                    <m:r>
                      <a:rPr lang="en-US" sz="2400" i="1">
                        <a:latin typeface="Cambria Math"/>
                      </a:rPr>
                      <m:t>(</m:t>
                    </m:r>
                    <m:r>
                      <a:rPr lang="en-US" sz="2400" i="1">
                        <a:latin typeface="Cambria Math"/>
                      </a:rPr>
                      <m:t>𝑥</m:t>
                    </m:r>
                    <m:r>
                      <a:rPr lang="en-US" sz="2400" i="1">
                        <a:latin typeface="Cambria Math"/>
                      </a:rPr>
                      <m:t>)</m:t>
                    </m:r>
                  </m:oMath>
                </a14:m>
                <a:r>
                  <a:rPr lang="en-US" sz="2400" dirty="0"/>
                  <a:t> </a:t>
                </a:r>
                <a:r>
                  <a:rPr lang="bg-BG" sz="2400" dirty="0"/>
                  <a:t>поражда серия елементарни дроби от </a:t>
                </a:r>
                <a:r>
                  <a:rPr lang="bg-BG" sz="2400" dirty="0" smtClean="0"/>
                  <a:t>първи вид </a:t>
                </a:r>
                <a14:m>
                  <m:oMath xmlns:m="http://schemas.openxmlformats.org/officeDocument/2006/math">
                    <m:f>
                      <m:fPr>
                        <m:ctrlPr>
                          <a:rPr lang="bg-BG" sz="2400" i="1" smtClean="0">
                            <a:latin typeface="Cambria Math" panose="02040503050406030204" pitchFamily="18" charset="0"/>
                          </a:rPr>
                        </m:ctrlPr>
                      </m:fPr>
                      <m:num>
                        <m:sSub>
                          <m:sSubPr>
                            <m:ctrlPr>
                              <a:rPr lang="bg-BG" sz="2400" i="1" smtClean="0">
                                <a:latin typeface="Cambria Math" panose="02040503050406030204" pitchFamily="18" charset="0"/>
                              </a:rPr>
                            </m:ctrlPr>
                          </m:sSubPr>
                          <m:e>
                            <m:r>
                              <a:rPr lang="en-US" sz="2400" b="0" i="1" smtClean="0">
                                <a:latin typeface="Cambria Math"/>
                              </a:rPr>
                              <m:t>𝐴</m:t>
                            </m:r>
                          </m:e>
                          <m:sub>
                            <m:r>
                              <a:rPr lang="en-US" sz="2400" b="0" i="1" smtClean="0">
                                <a:latin typeface="Cambria Math"/>
                              </a:rPr>
                              <m:t>𝑘</m:t>
                            </m:r>
                          </m:sub>
                        </m:sSub>
                      </m:num>
                      <m:den>
                        <m:sSup>
                          <m:sSupPr>
                            <m:ctrlPr>
                              <a:rPr lang="bg-BG" sz="2400" i="1" smtClean="0">
                                <a:latin typeface="Cambria Math" panose="02040503050406030204" pitchFamily="18" charset="0"/>
                              </a:rPr>
                            </m:ctrlPr>
                          </m:sSupPr>
                          <m:e>
                            <m:d>
                              <m:dPr>
                                <m:ctrlPr>
                                  <a:rPr lang="bg-BG" sz="2400" i="1" smtClean="0">
                                    <a:latin typeface="Cambria Math" panose="02040503050406030204" pitchFamily="18" charset="0"/>
                                  </a:rPr>
                                </m:ctrlPr>
                              </m:dPr>
                              <m:e>
                                <m:r>
                                  <a:rPr lang="en-US" sz="2400" b="0" i="1" smtClean="0">
                                    <a:latin typeface="Cambria Math"/>
                                  </a:rPr>
                                  <m:t>𝑥</m:t>
                                </m:r>
                                <m:r>
                                  <a:rPr lang="en-US" sz="2400" b="0" i="1" smtClean="0">
                                    <a:latin typeface="Cambria Math"/>
                                  </a:rPr>
                                  <m:t>−</m:t>
                                </m:r>
                                <m:r>
                                  <a:rPr lang="en-US" sz="2400" b="0" i="1" smtClean="0">
                                    <a:latin typeface="Cambria Math"/>
                                  </a:rPr>
                                  <m:t>𝑎</m:t>
                                </m:r>
                              </m:e>
                            </m:d>
                          </m:e>
                          <m:sup>
                            <m:r>
                              <a:rPr lang="en-US" sz="2400" b="0" i="1" smtClean="0">
                                <a:latin typeface="Cambria Math"/>
                              </a:rPr>
                              <m:t>𝑘</m:t>
                            </m:r>
                          </m:sup>
                        </m:sSup>
                      </m:den>
                    </m:f>
                  </m:oMath>
                </a14:m>
                <a:r>
                  <a:rPr lang="bg-BG" sz="2400" dirty="0" smtClean="0"/>
                  <a:t> , а всеки елементарен множител от втори вид </a:t>
                </a:r>
                <a14:m>
                  <m:oMath xmlns:m="http://schemas.openxmlformats.org/officeDocument/2006/math">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a:rPr>
                                  <m:t>𝑥</m:t>
                                </m:r>
                              </m:e>
                              <m:sup>
                                <m:r>
                                  <a:rPr lang="en-US" sz="2400" i="1">
                                    <a:latin typeface="Cambria Math"/>
                                  </a:rPr>
                                  <m:t>2</m:t>
                                </m:r>
                              </m:sup>
                            </m:sSup>
                            <m:r>
                              <a:rPr lang="en-US" sz="2400" i="1">
                                <a:latin typeface="Cambria Math"/>
                              </a:rPr>
                              <m:t>+</m:t>
                            </m:r>
                            <m:r>
                              <a:rPr lang="en-US" sz="2400" i="1">
                                <a:latin typeface="Cambria Math"/>
                              </a:rPr>
                              <m:t>𝑝𝑥</m:t>
                            </m:r>
                            <m:r>
                              <a:rPr lang="en-US" sz="2400" i="1">
                                <a:latin typeface="Cambria Math"/>
                              </a:rPr>
                              <m:t>+</m:t>
                            </m:r>
                            <m:r>
                              <a:rPr lang="en-US" sz="2400" i="1">
                                <a:latin typeface="Cambria Math"/>
                              </a:rPr>
                              <m:t>𝑞</m:t>
                            </m:r>
                          </m:e>
                        </m:d>
                      </m:e>
                      <m:sup>
                        <m:r>
                          <a:rPr lang="en-US" sz="2400" i="1">
                            <a:latin typeface="Cambria Math"/>
                          </a:rPr>
                          <m:t>𝑠</m:t>
                        </m:r>
                      </m:sup>
                    </m:sSup>
                  </m:oMath>
                </a14:m>
                <a:r>
                  <a:rPr lang="bg-BG" sz="2400" dirty="0" smtClean="0"/>
                  <a:t> на </a:t>
                </a:r>
                <a14:m>
                  <m:oMath xmlns:m="http://schemas.openxmlformats.org/officeDocument/2006/math">
                    <m:r>
                      <a:rPr lang="en-US" sz="2400" b="0" i="1" smtClean="0">
                        <a:latin typeface="Cambria Math"/>
                      </a:rPr>
                      <m:t>𝑄</m:t>
                    </m:r>
                    <m:r>
                      <a:rPr lang="en-US" sz="2400" b="0" i="1" smtClean="0">
                        <a:latin typeface="Cambria Math"/>
                      </a:rPr>
                      <m:t>(</m:t>
                    </m:r>
                    <m:r>
                      <a:rPr lang="en-US" sz="2400" b="0" i="1" smtClean="0">
                        <a:latin typeface="Cambria Math"/>
                      </a:rPr>
                      <m:t>𝑥</m:t>
                    </m:r>
                    <m:r>
                      <a:rPr lang="en-US" sz="2400" b="0" i="1" smtClean="0">
                        <a:latin typeface="Cambria Math"/>
                      </a:rPr>
                      <m:t>)</m:t>
                    </m:r>
                  </m:oMath>
                </a14:m>
                <a:r>
                  <a:rPr lang="en-US" sz="2400" dirty="0" smtClean="0"/>
                  <a:t> </a:t>
                </a:r>
                <a:r>
                  <a:rPr lang="bg-BG" sz="2400" dirty="0" smtClean="0"/>
                  <a:t>поражда серия елементарни дроби от втори вид </a:t>
                </a:r>
                <a14:m>
                  <m:oMath xmlns:m="http://schemas.openxmlformats.org/officeDocument/2006/math">
                    <m:f>
                      <m:fPr>
                        <m:ctrlPr>
                          <a:rPr lang="bg-BG" sz="2400" i="1" smtClean="0">
                            <a:latin typeface="Cambria Math" panose="02040503050406030204" pitchFamily="18" charset="0"/>
                          </a:rPr>
                        </m:ctrlPr>
                      </m:fPr>
                      <m:num>
                        <m:sSub>
                          <m:sSubPr>
                            <m:ctrlPr>
                              <a:rPr lang="bg-BG" sz="2400" i="1" smtClean="0">
                                <a:latin typeface="Cambria Math" panose="02040503050406030204" pitchFamily="18" charset="0"/>
                              </a:rPr>
                            </m:ctrlPr>
                          </m:sSubPr>
                          <m:e>
                            <m:r>
                              <a:rPr lang="en-US" sz="2400" b="0" i="1" smtClean="0">
                                <a:latin typeface="Cambria Math"/>
                              </a:rPr>
                              <m:t>𝐵</m:t>
                            </m:r>
                          </m:e>
                          <m:sub>
                            <m:r>
                              <a:rPr lang="en-US" sz="2400" b="0" i="1" smtClean="0">
                                <a:latin typeface="Cambria Math"/>
                              </a:rPr>
                              <m:t>𝑠</m:t>
                            </m:r>
                          </m:sub>
                        </m:sSub>
                        <m:r>
                          <a:rPr lang="en-US" sz="2400" b="0" i="1" smtClean="0">
                            <a:latin typeface="Cambria Math"/>
                          </a:rPr>
                          <m:t>𝑥</m:t>
                        </m:r>
                        <m:r>
                          <a:rPr lang="bg-BG" sz="2400" b="0" i="1" smtClean="0">
                            <a:latin typeface="Cambria Math"/>
                          </a:rPr>
                          <m:t>+</m:t>
                        </m:r>
                        <m:sSub>
                          <m:sSubPr>
                            <m:ctrlPr>
                              <a:rPr lang="bg-BG" sz="2400" b="0" i="1" smtClean="0">
                                <a:latin typeface="Cambria Math" panose="02040503050406030204" pitchFamily="18" charset="0"/>
                              </a:rPr>
                            </m:ctrlPr>
                          </m:sSubPr>
                          <m:e>
                            <m:r>
                              <a:rPr lang="en-US" sz="2400" b="0" i="1" smtClean="0">
                                <a:latin typeface="Cambria Math"/>
                              </a:rPr>
                              <m:t>𝐶</m:t>
                            </m:r>
                          </m:e>
                          <m:sub>
                            <m:r>
                              <a:rPr lang="en-US" sz="2400" b="0" i="1" smtClean="0">
                                <a:latin typeface="Cambria Math"/>
                              </a:rPr>
                              <m:t>𝑠</m:t>
                            </m:r>
                          </m:sub>
                        </m:sSub>
                      </m:num>
                      <m:den>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a:rPr>
                                      <m:t>𝑥</m:t>
                                    </m:r>
                                  </m:e>
                                  <m:sup>
                                    <m:r>
                                      <a:rPr lang="en-US" sz="2400" i="1">
                                        <a:latin typeface="Cambria Math"/>
                                      </a:rPr>
                                      <m:t>2</m:t>
                                    </m:r>
                                  </m:sup>
                                </m:sSup>
                                <m:r>
                                  <a:rPr lang="en-US" sz="2400" i="1">
                                    <a:latin typeface="Cambria Math"/>
                                  </a:rPr>
                                  <m:t>+</m:t>
                                </m:r>
                                <m:r>
                                  <a:rPr lang="en-US" sz="2400" i="1">
                                    <a:latin typeface="Cambria Math"/>
                                  </a:rPr>
                                  <m:t>𝑝𝑥</m:t>
                                </m:r>
                                <m:r>
                                  <a:rPr lang="en-US" sz="2400" i="1">
                                    <a:latin typeface="Cambria Math"/>
                                  </a:rPr>
                                  <m:t>+</m:t>
                                </m:r>
                                <m:r>
                                  <a:rPr lang="en-US" sz="2400" i="1">
                                    <a:latin typeface="Cambria Math"/>
                                  </a:rPr>
                                  <m:t>𝑞</m:t>
                                </m:r>
                              </m:e>
                            </m:d>
                          </m:e>
                          <m:sup>
                            <m:r>
                              <a:rPr lang="en-US" sz="2400" i="1">
                                <a:latin typeface="Cambria Math"/>
                              </a:rPr>
                              <m:t>𝑠</m:t>
                            </m:r>
                          </m:sup>
                        </m:sSup>
                      </m:den>
                    </m:f>
                  </m:oMath>
                </a14:m>
                <a:r>
                  <a:rPr lang="bg-BG" sz="2400" dirty="0" smtClean="0"/>
                  <a:t> т.е.</a:t>
                </a:r>
              </a:p>
              <a:p>
                <a:pPr algn="just">
                  <a:lnSpc>
                    <a:spcPct val="130000"/>
                  </a:lnSpc>
                </a:pPr>
                <a14:m>
                  <m:oMath xmlns:m="http://schemas.openxmlformats.org/officeDocument/2006/math">
                    <m:f>
                      <m:fPr>
                        <m:ctrlPr>
                          <a:rPr lang="en-US" sz="2400" i="1">
                            <a:latin typeface="Cambria Math" panose="02040503050406030204" pitchFamily="18" charset="0"/>
                          </a:rPr>
                        </m:ctrlPr>
                      </m:fPr>
                      <m:num>
                        <m:r>
                          <a:rPr lang="en-US" sz="2400" i="1">
                            <a:latin typeface="Cambria Math"/>
                          </a:rPr>
                          <m:t>𝑃</m:t>
                        </m:r>
                        <m:r>
                          <a:rPr lang="en-US" sz="2400" i="1">
                            <a:latin typeface="Cambria Math"/>
                          </a:rPr>
                          <m:t>(</m:t>
                        </m:r>
                        <m:r>
                          <a:rPr lang="en-US" sz="2400" i="1">
                            <a:latin typeface="Cambria Math"/>
                          </a:rPr>
                          <m:t>𝑥</m:t>
                        </m:r>
                        <m:r>
                          <a:rPr lang="en-US" sz="2400" i="1">
                            <a:latin typeface="Cambria Math"/>
                          </a:rPr>
                          <m:t>)</m:t>
                        </m:r>
                      </m:num>
                      <m:den>
                        <m:r>
                          <a:rPr lang="en-US" sz="2400" i="1">
                            <a:latin typeface="Cambria Math"/>
                          </a:rPr>
                          <m:t>𝑄</m:t>
                        </m:r>
                        <m:r>
                          <a:rPr lang="en-US" sz="2400" i="1">
                            <a:latin typeface="Cambria Math"/>
                          </a:rPr>
                          <m:t>(</m:t>
                        </m:r>
                        <m:r>
                          <a:rPr lang="en-US" sz="2400" i="1">
                            <a:latin typeface="Cambria Math"/>
                          </a:rPr>
                          <m:t>𝑥</m:t>
                        </m:r>
                        <m:r>
                          <a:rPr lang="en-US" sz="2400" i="1">
                            <a:latin typeface="Cambria Math"/>
                          </a:rPr>
                          <m:t>)</m:t>
                        </m:r>
                      </m:den>
                    </m:f>
                    <m:r>
                      <a:rPr lang="bg-BG" sz="2400" b="0" i="1" smtClean="0">
                        <a:latin typeface="Cambria Math"/>
                      </a:rPr>
                      <m:t>=</m:t>
                    </m:r>
                  </m:oMath>
                </a14:m>
                <a:r>
                  <a:rPr lang="bg-BG" sz="2400" dirty="0"/>
                  <a:t> </a:t>
                </a:r>
                <a14:m>
                  <m:oMath xmlns:m="http://schemas.openxmlformats.org/officeDocument/2006/math">
                    <m:f>
                      <m:fPr>
                        <m:ctrlPr>
                          <a:rPr lang="bg-BG" sz="2400" i="1">
                            <a:latin typeface="Cambria Math" panose="02040503050406030204" pitchFamily="18" charset="0"/>
                          </a:rPr>
                        </m:ctrlPr>
                      </m:fPr>
                      <m:num>
                        <m:sSub>
                          <m:sSubPr>
                            <m:ctrlPr>
                              <a:rPr lang="bg-BG" sz="2400" i="1">
                                <a:latin typeface="Cambria Math" panose="02040503050406030204" pitchFamily="18" charset="0"/>
                              </a:rPr>
                            </m:ctrlPr>
                          </m:sSubPr>
                          <m:e>
                            <m:r>
                              <a:rPr lang="en-US" sz="2400" i="1">
                                <a:latin typeface="Cambria Math"/>
                              </a:rPr>
                              <m:t>𝐴</m:t>
                            </m:r>
                          </m:e>
                          <m:sub>
                            <m:r>
                              <a:rPr lang="bg-BG" sz="2400" b="0" i="1" smtClean="0">
                                <a:latin typeface="Cambria Math"/>
                              </a:rPr>
                              <m:t>1</m:t>
                            </m:r>
                          </m:sub>
                        </m:sSub>
                      </m:num>
                      <m:den>
                        <m:sSup>
                          <m:sSupPr>
                            <m:ctrlPr>
                              <a:rPr lang="bg-BG" sz="2400" i="1">
                                <a:latin typeface="Cambria Math" panose="02040503050406030204" pitchFamily="18" charset="0"/>
                              </a:rPr>
                            </m:ctrlPr>
                          </m:sSupPr>
                          <m:e>
                            <m:d>
                              <m:dPr>
                                <m:ctrlPr>
                                  <a:rPr lang="bg-BG" sz="2400" i="1">
                                    <a:latin typeface="Cambria Math" panose="02040503050406030204" pitchFamily="18" charset="0"/>
                                  </a:rPr>
                                </m:ctrlPr>
                              </m:dPr>
                              <m:e>
                                <m:r>
                                  <a:rPr lang="en-US" sz="2400" i="1">
                                    <a:latin typeface="Cambria Math"/>
                                  </a:rPr>
                                  <m:t>𝑥</m:t>
                                </m:r>
                                <m:r>
                                  <a:rPr lang="en-US" sz="2400" i="1">
                                    <a:latin typeface="Cambria Math"/>
                                  </a:rPr>
                                  <m:t>−</m:t>
                                </m:r>
                                <m:r>
                                  <a:rPr lang="en-US" sz="2400" i="1">
                                    <a:latin typeface="Cambria Math"/>
                                  </a:rPr>
                                  <m:t>𝑎</m:t>
                                </m:r>
                              </m:e>
                            </m:d>
                          </m:e>
                          <m:sup/>
                        </m:sSup>
                      </m:den>
                    </m:f>
                  </m:oMath>
                </a14:m>
                <a:r>
                  <a:rPr lang="bg-BG" sz="2400" dirty="0" smtClean="0"/>
                  <a:t>+</a:t>
                </a:r>
                <a:r>
                  <a:rPr lang="bg-BG" sz="2400" dirty="0"/>
                  <a:t> </a:t>
                </a:r>
                <a14:m>
                  <m:oMath xmlns:m="http://schemas.openxmlformats.org/officeDocument/2006/math">
                    <m:f>
                      <m:fPr>
                        <m:ctrlPr>
                          <a:rPr lang="bg-BG" sz="2400" i="1">
                            <a:latin typeface="Cambria Math" panose="02040503050406030204" pitchFamily="18" charset="0"/>
                          </a:rPr>
                        </m:ctrlPr>
                      </m:fPr>
                      <m:num>
                        <m:sSub>
                          <m:sSubPr>
                            <m:ctrlPr>
                              <a:rPr lang="bg-BG" sz="2400" i="1">
                                <a:latin typeface="Cambria Math" panose="02040503050406030204" pitchFamily="18" charset="0"/>
                              </a:rPr>
                            </m:ctrlPr>
                          </m:sSubPr>
                          <m:e>
                            <m:r>
                              <a:rPr lang="en-US" sz="2400" i="1">
                                <a:latin typeface="Cambria Math"/>
                              </a:rPr>
                              <m:t>𝐴</m:t>
                            </m:r>
                          </m:e>
                          <m:sub>
                            <m:r>
                              <a:rPr lang="bg-BG" sz="2400" b="0" i="1" smtClean="0">
                                <a:latin typeface="Cambria Math"/>
                              </a:rPr>
                              <m:t>2</m:t>
                            </m:r>
                          </m:sub>
                        </m:sSub>
                      </m:num>
                      <m:den>
                        <m:sSup>
                          <m:sSupPr>
                            <m:ctrlPr>
                              <a:rPr lang="bg-BG" sz="2400" i="1">
                                <a:latin typeface="Cambria Math" panose="02040503050406030204" pitchFamily="18" charset="0"/>
                              </a:rPr>
                            </m:ctrlPr>
                          </m:sSupPr>
                          <m:e>
                            <m:d>
                              <m:dPr>
                                <m:ctrlPr>
                                  <a:rPr lang="bg-BG" sz="2400" i="1">
                                    <a:latin typeface="Cambria Math" panose="02040503050406030204" pitchFamily="18" charset="0"/>
                                  </a:rPr>
                                </m:ctrlPr>
                              </m:dPr>
                              <m:e>
                                <m:r>
                                  <a:rPr lang="en-US" sz="2400" i="1">
                                    <a:latin typeface="Cambria Math"/>
                                  </a:rPr>
                                  <m:t>𝑥</m:t>
                                </m:r>
                                <m:r>
                                  <a:rPr lang="en-US" sz="2400" i="1">
                                    <a:latin typeface="Cambria Math"/>
                                  </a:rPr>
                                  <m:t>−</m:t>
                                </m:r>
                                <m:r>
                                  <a:rPr lang="en-US" sz="2400" i="1">
                                    <a:latin typeface="Cambria Math"/>
                                  </a:rPr>
                                  <m:t>𝑎</m:t>
                                </m:r>
                              </m:e>
                            </m:d>
                          </m:e>
                          <m:sup>
                            <m:r>
                              <a:rPr lang="bg-BG" sz="2400" b="0" i="1" smtClean="0">
                                <a:latin typeface="Cambria Math"/>
                              </a:rPr>
                              <m:t>2</m:t>
                            </m:r>
                          </m:sup>
                        </m:sSup>
                      </m:den>
                    </m:f>
                  </m:oMath>
                </a14:m>
                <a:r>
                  <a:rPr lang="bg-BG" sz="2400" dirty="0" smtClean="0"/>
                  <a:t>+.........+</a:t>
                </a:r>
                <a:r>
                  <a:rPr lang="bg-BG" sz="2400" dirty="0"/>
                  <a:t> </a:t>
                </a:r>
                <a14:m>
                  <m:oMath xmlns:m="http://schemas.openxmlformats.org/officeDocument/2006/math">
                    <m:f>
                      <m:fPr>
                        <m:ctrlPr>
                          <a:rPr lang="bg-BG" sz="2400" i="1">
                            <a:latin typeface="Cambria Math" panose="02040503050406030204" pitchFamily="18" charset="0"/>
                          </a:rPr>
                        </m:ctrlPr>
                      </m:fPr>
                      <m:num>
                        <m:sSub>
                          <m:sSubPr>
                            <m:ctrlPr>
                              <a:rPr lang="bg-BG" sz="2400" i="1">
                                <a:latin typeface="Cambria Math" panose="02040503050406030204" pitchFamily="18" charset="0"/>
                              </a:rPr>
                            </m:ctrlPr>
                          </m:sSubPr>
                          <m:e>
                            <m:r>
                              <a:rPr lang="en-US" sz="2400" i="1">
                                <a:latin typeface="Cambria Math"/>
                              </a:rPr>
                              <m:t>𝐴</m:t>
                            </m:r>
                          </m:e>
                          <m:sub>
                            <m:r>
                              <a:rPr lang="en-US" sz="2400" i="1">
                                <a:latin typeface="Cambria Math"/>
                              </a:rPr>
                              <m:t>𝑘</m:t>
                            </m:r>
                          </m:sub>
                        </m:sSub>
                      </m:num>
                      <m:den>
                        <m:sSup>
                          <m:sSupPr>
                            <m:ctrlPr>
                              <a:rPr lang="bg-BG" sz="2400" i="1">
                                <a:latin typeface="Cambria Math" panose="02040503050406030204" pitchFamily="18" charset="0"/>
                              </a:rPr>
                            </m:ctrlPr>
                          </m:sSupPr>
                          <m:e>
                            <m:d>
                              <m:dPr>
                                <m:ctrlPr>
                                  <a:rPr lang="bg-BG" sz="2400" i="1">
                                    <a:latin typeface="Cambria Math" panose="02040503050406030204" pitchFamily="18" charset="0"/>
                                  </a:rPr>
                                </m:ctrlPr>
                              </m:dPr>
                              <m:e>
                                <m:r>
                                  <a:rPr lang="en-US" sz="2400" i="1">
                                    <a:latin typeface="Cambria Math"/>
                                  </a:rPr>
                                  <m:t>𝑥</m:t>
                                </m:r>
                                <m:r>
                                  <a:rPr lang="en-US" sz="2400" i="1">
                                    <a:latin typeface="Cambria Math"/>
                                  </a:rPr>
                                  <m:t>−</m:t>
                                </m:r>
                                <m:r>
                                  <a:rPr lang="en-US" sz="2400" i="1">
                                    <a:latin typeface="Cambria Math"/>
                                  </a:rPr>
                                  <m:t>𝑎</m:t>
                                </m:r>
                              </m:e>
                            </m:d>
                          </m:e>
                          <m:sup>
                            <m:r>
                              <a:rPr lang="en-US" sz="2400" i="1">
                                <a:latin typeface="Cambria Math"/>
                              </a:rPr>
                              <m:t>𝑘</m:t>
                            </m:r>
                          </m:sup>
                        </m:sSup>
                      </m:den>
                    </m:f>
                  </m:oMath>
                </a14:m>
                <a:r>
                  <a:rPr lang="bg-BG" sz="2400" dirty="0" smtClean="0"/>
                  <a:t>+.......+</a:t>
                </a:r>
                <a:r>
                  <a:rPr lang="bg-BG" sz="2400" dirty="0"/>
                  <a:t> </a:t>
                </a:r>
                <a14:m>
                  <m:oMath xmlns:m="http://schemas.openxmlformats.org/officeDocument/2006/math">
                    <m:f>
                      <m:fPr>
                        <m:ctrlPr>
                          <a:rPr lang="bg-BG" sz="2400" i="1">
                            <a:latin typeface="Cambria Math" panose="02040503050406030204" pitchFamily="18" charset="0"/>
                          </a:rPr>
                        </m:ctrlPr>
                      </m:fPr>
                      <m:num>
                        <m:sSub>
                          <m:sSubPr>
                            <m:ctrlPr>
                              <a:rPr lang="bg-BG" sz="2400" i="1">
                                <a:latin typeface="Cambria Math" panose="02040503050406030204" pitchFamily="18" charset="0"/>
                              </a:rPr>
                            </m:ctrlPr>
                          </m:sSubPr>
                          <m:e>
                            <m:r>
                              <a:rPr lang="en-US" sz="2400" i="1">
                                <a:latin typeface="Cambria Math"/>
                              </a:rPr>
                              <m:t>𝐵</m:t>
                            </m:r>
                          </m:e>
                          <m:sub>
                            <m:r>
                              <a:rPr lang="bg-BG" sz="2400" b="0" i="1" smtClean="0">
                                <a:latin typeface="Cambria Math"/>
                              </a:rPr>
                              <m:t>1</m:t>
                            </m:r>
                          </m:sub>
                        </m:sSub>
                        <m:r>
                          <a:rPr lang="en-US" sz="2400" b="0" i="1" smtClean="0">
                            <a:latin typeface="Cambria Math"/>
                          </a:rPr>
                          <m:t>𝑥</m:t>
                        </m:r>
                        <m:r>
                          <a:rPr lang="bg-BG" sz="2400" i="1">
                            <a:latin typeface="Cambria Math"/>
                          </a:rPr>
                          <m:t>+</m:t>
                        </m:r>
                        <m:sSub>
                          <m:sSubPr>
                            <m:ctrlPr>
                              <a:rPr lang="bg-BG" sz="2400" i="1">
                                <a:latin typeface="Cambria Math" panose="02040503050406030204" pitchFamily="18" charset="0"/>
                              </a:rPr>
                            </m:ctrlPr>
                          </m:sSubPr>
                          <m:e>
                            <m:r>
                              <a:rPr lang="en-US" sz="2400" i="1">
                                <a:latin typeface="Cambria Math"/>
                              </a:rPr>
                              <m:t>𝐶</m:t>
                            </m:r>
                          </m:e>
                          <m:sub>
                            <m:r>
                              <a:rPr lang="bg-BG" sz="2400" b="0" i="1" smtClean="0">
                                <a:latin typeface="Cambria Math"/>
                              </a:rPr>
                              <m:t>1</m:t>
                            </m:r>
                          </m:sub>
                        </m:sSub>
                      </m:num>
                      <m:den>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a:rPr>
                                      <m:t>𝑥</m:t>
                                    </m:r>
                                  </m:e>
                                  <m:sup>
                                    <m:r>
                                      <a:rPr lang="en-US" sz="2400" i="1">
                                        <a:latin typeface="Cambria Math"/>
                                      </a:rPr>
                                      <m:t>2</m:t>
                                    </m:r>
                                  </m:sup>
                                </m:sSup>
                                <m:r>
                                  <a:rPr lang="en-US" sz="2400" i="1">
                                    <a:latin typeface="Cambria Math"/>
                                  </a:rPr>
                                  <m:t>+</m:t>
                                </m:r>
                                <m:r>
                                  <a:rPr lang="en-US" sz="2400" i="1">
                                    <a:latin typeface="Cambria Math"/>
                                  </a:rPr>
                                  <m:t>𝑝𝑥</m:t>
                                </m:r>
                                <m:r>
                                  <a:rPr lang="en-US" sz="2400" i="1">
                                    <a:latin typeface="Cambria Math"/>
                                  </a:rPr>
                                  <m:t>+</m:t>
                                </m:r>
                                <m:r>
                                  <a:rPr lang="en-US" sz="2400" i="1">
                                    <a:latin typeface="Cambria Math"/>
                                  </a:rPr>
                                  <m:t>𝑞</m:t>
                                </m:r>
                              </m:e>
                            </m:d>
                          </m:e>
                          <m:sup/>
                        </m:sSup>
                      </m:den>
                    </m:f>
                    <m:r>
                      <a:rPr lang="bg-BG" sz="2400" b="0" i="1" smtClean="0">
                        <a:latin typeface="Cambria Math"/>
                      </a:rPr>
                      <m:t>+…+</m:t>
                    </m:r>
                    <m:f>
                      <m:fPr>
                        <m:ctrlPr>
                          <a:rPr lang="bg-BG" sz="2400" i="1">
                            <a:latin typeface="Cambria Math" panose="02040503050406030204" pitchFamily="18" charset="0"/>
                          </a:rPr>
                        </m:ctrlPr>
                      </m:fPr>
                      <m:num>
                        <m:sSub>
                          <m:sSubPr>
                            <m:ctrlPr>
                              <a:rPr lang="bg-BG" sz="2400" i="1">
                                <a:latin typeface="Cambria Math" panose="02040503050406030204" pitchFamily="18" charset="0"/>
                              </a:rPr>
                            </m:ctrlPr>
                          </m:sSubPr>
                          <m:e>
                            <m:r>
                              <a:rPr lang="en-US" sz="2400" i="1">
                                <a:latin typeface="Cambria Math"/>
                              </a:rPr>
                              <m:t>𝐵</m:t>
                            </m:r>
                          </m:e>
                          <m:sub>
                            <m:r>
                              <a:rPr lang="en-US" sz="2400" i="1">
                                <a:latin typeface="Cambria Math"/>
                              </a:rPr>
                              <m:t>𝑠</m:t>
                            </m:r>
                          </m:sub>
                        </m:sSub>
                        <m:r>
                          <a:rPr lang="en-US" sz="2400" b="0" i="1" smtClean="0">
                            <a:latin typeface="Cambria Math"/>
                          </a:rPr>
                          <m:t>𝑥</m:t>
                        </m:r>
                        <m:r>
                          <a:rPr lang="bg-BG" sz="2400" i="1">
                            <a:latin typeface="Cambria Math"/>
                          </a:rPr>
                          <m:t>+</m:t>
                        </m:r>
                        <m:sSub>
                          <m:sSubPr>
                            <m:ctrlPr>
                              <a:rPr lang="bg-BG" sz="2400" i="1">
                                <a:latin typeface="Cambria Math" panose="02040503050406030204" pitchFamily="18" charset="0"/>
                              </a:rPr>
                            </m:ctrlPr>
                          </m:sSubPr>
                          <m:e>
                            <m:r>
                              <a:rPr lang="en-US" sz="2400" i="1">
                                <a:latin typeface="Cambria Math"/>
                              </a:rPr>
                              <m:t>𝐶</m:t>
                            </m:r>
                          </m:e>
                          <m:sub>
                            <m:r>
                              <a:rPr lang="en-US" sz="2400" i="1">
                                <a:latin typeface="Cambria Math"/>
                              </a:rPr>
                              <m:t>𝑠</m:t>
                            </m:r>
                          </m:sub>
                        </m:sSub>
                      </m:num>
                      <m:den>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a:rPr>
                                      <m:t>𝑥</m:t>
                                    </m:r>
                                  </m:e>
                                  <m:sup>
                                    <m:r>
                                      <a:rPr lang="en-US" sz="2400" i="1">
                                        <a:latin typeface="Cambria Math"/>
                                      </a:rPr>
                                      <m:t>2</m:t>
                                    </m:r>
                                  </m:sup>
                                </m:sSup>
                                <m:r>
                                  <a:rPr lang="en-US" sz="2400" i="1">
                                    <a:latin typeface="Cambria Math"/>
                                  </a:rPr>
                                  <m:t>+</m:t>
                                </m:r>
                                <m:r>
                                  <a:rPr lang="en-US" sz="2400" i="1">
                                    <a:latin typeface="Cambria Math"/>
                                  </a:rPr>
                                  <m:t>𝑝𝑥</m:t>
                                </m:r>
                                <m:r>
                                  <a:rPr lang="en-US" sz="2400" i="1">
                                    <a:latin typeface="Cambria Math"/>
                                  </a:rPr>
                                  <m:t>+</m:t>
                                </m:r>
                                <m:r>
                                  <a:rPr lang="en-US" sz="2400" i="1">
                                    <a:latin typeface="Cambria Math"/>
                                  </a:rPr>
                                  <m:t>𝑞</m:t>
                                </m:r>
                              </m:e>
                            </m:d>
                          </m:e>
                          <m:sup>
                            <m:r>
                              <a:rPr lang="en-US" sz="2400" i="1">
                                <a:latin typeface="Cambria Math"/>
                              </a:rPr>
                              <m:t>𝑠</m:t>
                            </m:r>
                          </m:sup>
                        </m:sSup>
                      </m:den>
                    </m:f>
                  </m:oMath>
                </a14:m>
                <a:r>
                  <a:rPr lang="bg-BG" sz="2400" dirty="0" smtClean="0"/>
                  <a:t>+....</a:t>
                </a:r>
                <a:endParaRPr lang="bg-BG" sz="2400" dirty="0"/>
              </a:p>
            </p:txBody>
          </p:sp>
        </mc:Choice>
        <mc:Fallback xmlns="">
          <p:sp>
            <p:nvSpPr>
              <p:cNvPr id="5" name="Rectangle 4"/>
              <p:cNvSpPr>
                <a:spLocks noRot="1" noChangeAspect="1" noMove="1" noResize="1" noEditPoints="1" noAdjustHandles="1" noChangeArrowheads="1" noChangeShapeType="1" noTextEdit="1"/>
              </p:cNvSpPr>
              <p:nvPr/>
            </p:nvSpPr>
            <p:spPr>
              <a:xfrm>
                <a:off x="2088105" y="987231"/>
                <a:ext cx="9976515" cy="4542013"/>
              </a:xfrm>
              <a:prstGeom prst="rect">
                <a:avLst/>
              </a:prstGeom>
              <a:blipFill rotWithShape="1">
                <a:blip r:embed="rId2"/>
                <a:stretch>
                  <a:fillRect l="-978" r="-978"/>
                </a:stretch>
              </a:blipFill>
            </p:spPr>
            <p:txBody>
              <a:bodyPr/>
              <a:lstStyle/>
              <a:p>
                <a:r>
                  <a:rPr lang="bg-BG">
                    <a:noFill/>
                  </a:rPr>
                  <a:t> </a:t>
                </a:r>
              </a:p>
            </p:txBody>
          </p:sp>
        </mc:Fallback>
      </mc:AlternateContent>
    </p:spTree>
    <p:extLst>
      <p:ext uri="{BB962C8B-B14F-4D97-AF65-F5344CB8AC3E}">
        <p14:creationId xmlns:p14="http://schemas.microsoft.com/office/powerpoint/2010/main" val="9311191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8</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pSp>
        <p:nvGrpSpPr>
          <p:cNvPr id="13" name="Group 12"/>
          <p:cNvGrpSpPr/>
          <p:nvPr/>
        </p:nvGrpSpPr>
        <p:grpSpPr>
          <a:xfrm>
            <a:off x="2797791" y="1234059"/>
            <a:ext cx="4899546" cy="1173071"/>
            <a:chOff x="0" y="104677"/>
            <a:chExt cx="2609849" cy="565149"/>
          </a:xfrm>
        </p:grpSpPr>
        <p:sp>
          <p:nvSpPr>
            <p:cNvPr id="14" name="Text Box 44"/>
            <p:cNvSpPr txBox="1">
              <a:spLocks noChangeArrowheads="1"/>
            </p:cNvSpPr>
            <p:nvPr/>
          </p:nvSpPr>
          <p:spPr bwMode="auto">
            <a:xfrm flipH="1">
              <a:off x="1876192" y="219075"/>
              <a:ext cx="733657"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82800" rIns="91440" bIns="45720" anchor="t" anchorCtr="0" upright="1">
              <a:noAutofit/>
            </a:bodyPr>
            <a:lstStyle/>
            <a:p>
              <a:pPr algn="ctr">
                <a:spcAft>
                  <a:spcPts val="0"/>
                </a:spcAft>
              </a:pPr>
              <a:r>
                <a:rPr lang="en-US" sz="2000" dirty="0">
                  <a:effectLst/>
                  <a:latin typeface="Arial"/>
                  <a:ea typeface="Times New Roman"/>
                </a:rPr>
                <a:t>Y(p)</a:t>
              </a:r>
              <a:endParaRPr lang="bg-BG" sz="2000" dirty="0">
                <a:effectLst/>
                <a:latin typeface="Times New Roman"/>
                <a:ea typeface="Times New Roman"/>
              </a:endParaRPr>
            </a:p>
          </p:txBody>
        </p:sp>
        <p:cxnSp>
          <p:nvCxnSpPr>
            <p:cNvPr id="16" name="Line 42"/>
            <p:cNvCxnSpPr>
              <a:cxnSpLocks noChangeShapeType="1"/>
            </p:cNvCxnSpPr>
            <p:nvPr/>
          </p:nvCxnSpPr>
          <p:spPr bwMode="auto">
            <a:xfrm>
              <a:off x="0" y="447675"/>
              <a:ext cx="10439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8" name="Text Box 47"/>
            <p:cNvSpPr txBox="1">
              <a:spLocks noChangeArrowheads="1"/>
            </p:cNvSpPr>
            <p:nvPr/>
          </p:nvSpPr>
          <p:spPr bwMode="auto">
            <a:xfrm>
              <a:off x="1094996" y="104677"/>
              <a:ext cx="725169" cy="565149"/>
            </a:xfrm>
            <a:prstGeom prst="rect">
              <a:avLst/>
            </a:prstGeom>
            <a:solidFill>
              <a:srgbClr val="FFFFFF"/>
            </a:solidFill>
            <a:ln w="9525">
              <a:solidFill>
                <a:srgbClr val="000000"/>
              </a:solidFill>
              <a:miter lim="800000"/>
              <a:headEnd/>
              <a:tailEnd/>
            </a:ln>
          </p:spPr>
          <p:txBody>
            <a:bodyPr rot="0" vert="horz" wrap="none" lIns="91440" tIns="45720" rIns="91440" bIns="45720" anchor="t" anchorCtr="0" upright="1">
              <a:spAutoFit/>
            </a:bodyPr>
            <a:lstStyle/>
            <a:p>
              <a:pPr>
                <a:spcAft>
                  <a:spcPts val="0"/>
                </a:spcAft>
              </a:pPr>
              <a:endParaRPr lang="en-US" sz="1000">
                <a:effectLst/>
                <a:latin typeface="Times New Roman"/>
                <a:ea typeface="Times New Roman"/>
              </a:endParaRPr>
            </a:p>
          </p:txBody>
        </p:sp>
        <p:cxnSp>
          <p:nvCxnSpPr>
            <p:cNvPr id="20" name="AutoShape 58"/>
            <p:cNvCxnSpPr>
              <a:cxnSpLocks noChangeShapeType="1"/>
            </p:cNvCxnSpPr>
            <p:nvPr/>
          </p:nvCxnSpPr>
          <p:spPr bwMode="auto">
            <a:xfrm flipV="1">
              <a:off x="1839913" y="443127"/>
              <a:ext cx="769936" cy="0"/>
            </a:xfrm>
            <a:prstGeom prst="bentConnector3">
              <a:avLst>
                <a:gd name="adj1" fmla="val 5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grpSp>
      <mc:AlternateContent xmlns:mc="http://schemas.openxmlformats.org/markup-compatibility/2006" xmlns:a14="http://schemas.microsoft.com/office/drawing/2010/main">
        <mc:Choice Requires="a14">
          <p:sp>
            <p:nvSpPr>
              <p:cNvPr id="5" name="Rectangle 7"/>
              <p:cNvSpPr>
                <a:spLocks noChangeArrowheads="1"/>
              </p:cNvSpPr>
              <p:nvPr/>
            </p:nvSpPr>
            <p:spPr bwMode="auto">
              <a:xfrm>
                <a:off x="2120805" y="275281"/>
                <a:ext cx="9952046" cy="536319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30000"/>
                  </a:lnSpc>
                  <a:spcBef>
                    <a:spcPct val="0"/>
                  </a:spcBef>
                  <a:spcAft>
                    <a:spcPct val="0"/>
                  </a:spcAft>
                  <a:buClrTx/>
                  <a:buSzTx/>
                  <a:buFontTx/>
                  <a:buNone/>
                  <a:tabLst/>
                </a:pPr>
                <a:r>
                  <a:rPr kumimoji="0" lang="bg-BG" altLang="bg-BG" sz="2400" b="1" i="0" u="none" strike="noStrike" cap="none" normalizeH="0" baseline="0" dirty="0" smtClean="0">
                    <a:ln>
                      <a:noFill/>
                    </a:ln>
                    <a:solidFill>
                      <a:schemeClr val="tx1"/>
                    </a:solidFill>
                    <a:effectLst/>
                    <a:ea typeface="Times New Roman" pitchFamily="18" charset="0"/>
                    <a:cs typeface="Arial" pitchFamily="34" charset="0"/>
                  </a:rPr>
                  <a:t>Пример 1. </a:t>
                </a:r>
                <a:r>
                  <a:rPr kumimoji="0" lang="bg-BG" altLang="bg-BG" sz="2400" b="0" i="0" u="none" strike="noStrike" cap="none" normalizeH="0" baseline="0" dirty="0" smtClean="0">
                    <a:ln>
                      <a:noFill/>
                    </a:ln>
                    <a:solidFill>
                      <a:schemeClr val="tx1"/>
                    </a:solidFill>
                    <a:effectLst/>
                    <a:ea typeface="Times New Roman" pitchFamily="18" charset="0"/>
                    <a:cs typeface="Arial" pitchFamily="34" charset="0"/>
                  </a:rPr>
                  <a:t>С помощта на обратно Лапласово преобразувание да се определи y(t) от следната блокова схема:</a:t>
                </a:r>
              </a:p>
              <a:p>
                <a:pPr marL="0" marR="0" lvl="0" indent="0" algn="l" defTabSz="914400" rtl="0" eaLnBrk="1" fontAlgn="base" latinLnBrk="0" hangingPunct="1">
                  <a:lnSpc>
                    <a:spcPct val="130000"/>
                  </a:lnSpc>
                  <a:spcBef>
                    <a:spcPct val="0"/>
                  </a:spcBef>
                  <a:spcAft>
                    <a:spcPct val="0"/>
                  </a:spcAft>
                  <a:buClrTx/>
                  <a:buSzTx/>
                  <a:buFontTx/>
                  <a:buNone/>
                  <a:tabLst/>
                </a:pPr>
                <a:endParaRPr lang="bg-BG" altLang="bg-BG" sz="2400" dirty="0">
                  <a:ea typeface="Times New Roman" pitchFamily="18" charset="0"/>
                  <a:cs typeface="Arial" pitchFamily="34" charset="0"/>
                </a:endParaRPr>
              </a:p>
              <a:p>
                <a:pPr marL="0" marR="0" lvl="0" indent="0" algn="l" defTabSz="914400" rtl="0" eaLnBrk="1" fontAlgn="base" latinLnBrk="0" hangingPunct="1">
                  <a:lnSpc>
                    <a:spcPct val="130000"/>
                  </a:lnSpc>
                  <a:spcBef>
                    <a:spcPct val="0"/>
                  </a:spcBef>
                  <a:spcAft>
                    <a:spcPct val="0"/>
                  </a:spcAft>
                  <a:buClrTx/>
                  <a:buSzTx/>
                  <a:buFontTx/>
                  <a:buNone/>
                  <a:tabLst/>
                </a:pPr>
                <a:endParaRPr kumimoji="0" lang="en-US" altLang="bg-BG" sz="2400" b="0" i="0" u="none" strike="noStrike" cap="none" normalizeH="0" baseline="0" dirty="0" smtClean="0">
                  <a:ln>
                    <a:noFill/>
                  </a:ln>
                  <a:solidFill>
                    <a:schemeClr val="tx1"/>
                  </a:solidFill>
                  <a:effectLst/>
                  <a:cs typeface="Arial" pitchFamily="34" charset="0"/>
                </a:endParaRPr>
              </a:p>
              <a:p>
                <a:pPr marL="0" marR="0" lvl="0" indent="0" algn="l" defTabSz="914400" rtl="0" eaLnBrk="1" fontAlgn="base" latinLnBrk="0" hangingPunct="1">
                  <a:spcBef>
                    <a:spcPct val="0"/>
                  </a:spcBef>
                  <a:spcAft>
                    <a:spcPct val="0"/>
                  </a:spcAft>
                  <a:buClrTx/>
                  <a:buSzTx/>
                  <a:buFontTx/>
                  <a:buNone/>
                  <a:tabLst/>
                </a:pPr>
                <a:endParaRPr lang="en-US" altLang="bg-BG" sz="2400" dirty="0" smtClean="0">
                  <a:cs typeface="Arial" pitchFamily="34" charset="0"/>
                </a:endParaRPr>
              </a:p>
              <a:p>
                <a:r>
                  <a:rPr lang="bg-BG" sz="2400" dirty="0" smtClean="0"/>
                  <a:t>X(p</a:t>
                </a:r>
                <a:r>
                  <a:rPr lang="bg-BG" sz="2400" dirty="0"/>
                  <a:t>)=</a:t>
                </a:r>
                <a14:m>
                  <m:oMath xmlns:m="http://schemas.openxmlformats.org/officeDocument/2006/math">
                    <m:f>
                      <m:fPr>
                        <m:ctrlPr>
                          <a:rPr lang="bg-BG" sz="2600" i="1">
                            <a:latin typeface="Cambria Math" panose="02040503050406030204" pitchFamily="18" charset="0"/>
                          </a:rPr>
                        </m:ctrlPr>
                      </m:fPr>
                      <m:num>
                        <m:r>
                          <a:rPr lang="bg-BG" sz="2600" i="1">
                            <a:latin typeface="Cambria Math"/>
                          </a:rPr>
                          <m:t>1</m:t>
                        </m:r>
                      </m:num>
                      <m:den>
                        <m:r>
                          <a:rPr lang="bg-BG" sz="2600" i="1">
                            <a:latin typeface="Cambria Math"/>
                          </a:rPr>
                          <m:t>𝑝</m:t>
                        </m:r>
                      </m:den>
                    </m:f>
                  </m:oMath>
                </a14:m>
                <a:r>
                  <a:rPr lang="bg-BG" sz="2600" dirty="0"/>
                  <a:t> </a:t>
                </a:r>
                <a:r>
                  <a:rPr lang="bg-BG" sz="2400" dirty="0"/>
                  <a:t>, </a:t>
                </a:r>
                <a:r>
                  <a:rPr lang="bg-BG" sz="2400" dirty="0" smtClean="0"/>
                  <a:t> </a:t>
                </a:r>
                <a:r>
                  <a:rPr lang="bg-BG" sz="2400" dirty="0"/>
                  <a:t>		</a:t>
                </a:r>
              </a:p>
              <a:p>
                <a:r>
                  <a:rPr lang="bg-BG" sz="2400" dirty="0"/>
                  <a:t> </a:t>
                </a:r>
                <a:endParaRPr lang="en-US" sz="2400" dirty="0" smtClean="0"/>
              </a:p>
              <a:p>
                <a:r>
                  <a:rPr lang="en-US" sz="2400" dirty="0"/>
                  <a:t>	</a:t>
                </a:r>
                <a:r>
                  <a:rPr lang="en-US" sz="2400" dirty="0" smtClean="0"/>
                  <a:t>	    </a:t>
                </a:r>
                <a:r>
                  <a:rPr lang="bg-BG" sz="2400" dirty="0" smtClean="0"/>
                  <a:t>⇒ </a:t>
                </a:r>
                <a:r>
                  <a:rPr lang="en-US" sz="2400" dirty="0" smtClean="0"/>
                  <a:t>  </a:t>
                </a:r>
                <a:r>
                  <a:rPr lang="bg-BG" sz="2400" i="1" dirty="0" smtClean="0"/>
                  <a:t>Y(p</a:t>
                </a:r>
                <a:r>
                  <a:rPr lang="bg-BG" sz="2400" i="1" dirty="0"/>
                  <a:t>)=X(p).W(p)</a:t>
                </a:r>
                <a:endParaRPr lang="bg-BG" sz="2400" dirty="0"/>
              </a:p>
              <a:p>
                <a:endParaRPr lang="en-US" sz="2400" i="1" dirty="0" smtClean="0"/>
              </a:p>
              <a:p>
                <a:pPr>
                  <a:spcBef>
                    <a:spcPts val="1200"/>
                  </a:spcBef>
                </a:pPr>
                <a:r>
                  <a:rPr lang="bg-BG" sz="2400" i="1" dirty="0" smtClean="0"/>
                  <a:t>Y(p</a:t>
                </a:r>
                <a:r>
                  <a:rPr lang="bg-BG" sz="2400" i="1" dirty="0"/>
                  <a:t>)=</a:t>
                </a:r>
                <a:r>
                  <a:rPr lang="bg-BG" sz="2400" dirty="0"/>
                  <a:t>               </a:t>
                </a:r>
                <a:endParaRPr lang="en-US" sz="2400" dirty="0" smtClean="0"/>
              </a:p>
              <a:p>
                <a:endParaRPr lang="en-US" sz="2400" dirty="0"/>
              </a:p>
              <a:p>
                <a:endParaRPr lang="bg-BG" sz="2400" dirty="0"/>
              </a:p>
            </p:txBody>
          </p:sp>
        </mc:Choice>
        <mc:Fallback xmlns="">
          <p:sp>
            <p:nvSpPr>
              <p:cNvPr id="5" name="Rectangle 7"/>
              <p:cNvSpPr>
                <a:spLocks noRot="1" noChangeAspect="1" noMove="1" noResize="1" noEditPoints="1" noAdjustHandles="1" noChangeArrowheads="1" noChangeShapeType="1" noTextEdit="1"/>
              </p:cNvSpPr>
              <p:nvPr/>
            </p:nvSpPr>
            <p:spPr bwMode="auto">
              <a:xfrm>
                <a:off x="2120805" y="275281"/>
                <a:ext cx="9952046" cy="5363199"/>
              </a:xfrm>
              <a:prstGeom prst="rect">
                <a:avLst/>
              </a:prstGeom>
              <a:blipFill>
                <a:blip r:embed="rId3"/>
                <a:stretch>
                  <a:fillRect l="-98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bg-BG">
                    <a:noFill/>
                  </a:rPr>
                  <a:t> </a:t>
                </a:r>
              </a:p>
            </p:txBody>
          </p:sp>
        </mc:Fallback>
      </mc:AlternateContent>
      <p:sp>
        <p:nvSpPr>
          <p:cNvPr id="6" name="Rectangle 9"/>
          <p:cNvSpPr>
            <a:spLocks noChangeArrowheads="1"/>
          </p:cNvSpPr>
          <p:nvPr/>
        </p:nvSpPr>
        <p:spPr bwMode="auto">
          <a:xfrm>
            <a:off x="0" y="457200"/>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bg-BG"/>
          </a:p>
        </p:txBody>
      </p:sp>
      <p:graphicFrame>
        <p:nvGraphicFramePr>
          <p:cNvPr id="3" name="Object 2"/>
          <p:cNvGraphicFramePr>
            <a:graphicFrameLocks noChangeAspect="1"/>
          </p:cNvGraphicFramePr>
          <p:nvPr>
            <p:extLst>
              <p:ext uri="{D42A27DB-BD31-4B8C-83A1-F6EECF244321}">
                <p14:modId xmlns:p14="http://schemas.microsoft.com/office/powerpoint/2010/main" val="403720044"/>
              </p:ext>
            </p:extLst>
          </p:nvPr>
        </p:nvGraphicFramePr>
        <p:xfrm>
          <a:off x="5027796" y="1302449"/>
          <a:ext cx="1012706" cy="886118"/>
        </p:xfrm>
        <a:graphic>
          <a:graphicData uri="http://schemas.openxmlformats.org/presentationml/2006/ole">
            <mc:AlternateContent xmlns:mc="http://schemas.openxmlformats.org/markup-compatibility/2006">
              <mc:Choice xmlns:v="urn:schemas-microsoft-com:vml" Requires="v">
                <p:oleObj spid="_x0000_s96396" r:id="rId4" imgW="533169" imgH="469696" progId="Equation.3">
                  <p:embed/>
                </p:oleObj>
              </mc:Choice>
              <mc:Fallback>
                <p:oleObj r:id="rId4" imgW="533169" imgH="469696"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7796" y="1302449"/>
                        <a:ext cx="1012706" cy="886118"/>
                      </a:xfrm>
                      <a:prstGeom prst="rect">
                        <a:avLst/>
                      </a:prstGeom>
                      <a:noFill/>
                    </p:spPr>
                  </p:pic>
                </p:oleObj>
              </mc:Fallback>
            </mc:AlternateContent>
          </a:graphicData>
        </a:graphic>
      </p:graphicFrame>
      <p:sp>
        <p:nvSpPr>
          <p:cNvPr id="21" name="Text Box 44"/>
          <p:cNvSpPr txBox="1">
            <a:spLocks noChangeArrowheads="1"/>
          </p:cNvSpPr>
          <p:nvPr/>
        </p:nvSpPr>
        <p:spPr bwMode="auto">
          <a:xfrm flipH="1">
            <a:off x="3089042" y="1365863"/>
            <a:ext cx="1377316" cy="454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82800" rIns="91440" bIns="45720" anchor="t" anchorCtr="0" upright="1">
            <a:noAutofit/>
          </a:bodyPr>
          <a:lstStyle/>
          <a:p>
            <a:pPr algn="ctr">
              <a:spcAft>
                <a:spcPts val="0"/>
              </a:spcAft>
            </a:pPr>
            <a:r>
              <a:rPr lang="en-US" sz="2000" dirty="0">
                <a:latin typeface="Arial"/>
                <a:ea typeface="Times New Roman"/>
              </a:rPr>
              <a:t>X</a:t>
            </a:r>
            <a:r>
              <a:rPr lang="en-US" sz="2000" dirty="0" smtClean="0">
                <a:effectLst/>
                <a:latin typeface="Arial"/>
                <a:ea typeface="Times New Roman"/>
              </a:rPr>
              <a:t>(p)=1/p</a:t>
            </a:r>
            <a:endParaRPr lang="bg-BG" sz="2000" dirty="0">
              <a:effectLst/>
              <a:latin typeface="Times New Roman"/>
              <a:ea typeface="Times New Roman"/>
            </a:endParaRPr>
          </a:p>
        </p:txBody>
      </p:sp>
      <p:sp>
        <p:nvSpPr>
          <p:cNvPr id="11" name="Rectangle 1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2" name="Object 21"/>
          <p:cNvGraphicFramePr>
            <a:graphicFrameLocks noChangeAspect="1"/>
          </p:cNvGraphicFramePr>
          <p:nvPr>
            <p:extLst>
              <p:ext uri="{D42A27DB-BD31-4B8C-83A1-F6EECF244321}">
                <p14:modId xmlns:p14="http://schemas.microsoft.com/office/powerpoint/2010/main" val="2831079656"/>
              </p:ext>
            </p:extLst>
          </p:nvPr>
        </p:nvGraphicFramePr>
        <p:xfrm>
          <a:off x="3341739" y="2634019"/>
          <a:ext cx="1620902" cy="645725"/>
        </p:xfrm>
        <a:graphic>
          <a:graphicData uri="http://schemas.openxmlformats.org/presentationml/2006/ole">
            <mc:AlternateContent xmlns:mc="http://schemas.openxmlformats.org/markup-compatibility/2006">
              <mc:Choice xmlns:v="urn:schemas-microsoft-com:vml" Requires="v">
                <p:oleObj spid="_x0000_s96397" r:id="rId6" imgW="1168400" imgH="469900" progId="Equation.3">
                  <p:embed/>
                </p:oleObj>
              </mc:Choice>
              <mc:Fallback>
                <p:oleObj r:id="rId6" imgW="1168400" imgH="469900"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1739" y="2634019"/>
                        <a:ext cx="1620902" cy="645725"/>
                      </a:xfrm>
                      <a:prstGeom prst="rect">
                        <a:avLst/>
                      </a:prstGeom>
                      <a:noFill/>
                    </p:spPr>
                  </p:pic>
                </p:oleObj>
              </mc:Fallback>
            </mc:AlternateContent>
          </a:graphicData>
        </a:graphic>
      </p:graphicFrame>
      <p:sp>
        <p:nvSpPr>
          <p:cNvPr id="23" name="Rectangle 1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4" name="Object 23"/>
          <p:cNvGraphicFramePr>
            <a:graphicFrameLocks noChangeAspect="1"/>
          </p:cNvGraphicFramePr>
          <p:nvPr>
            <p:extLst>
              <p:ext uri="{D42A27DB-BD31-4B8C-83A1-F6EECF244321}">
                <p14:modId xmlns:p14="http://schemas.microsoft.com/office/powerpoint/2010/main" val="3543306057"/>
              </p:ext>
            </p:extLst>
          </p:nvPr>
        </p:nvGraphicFramePr>
        <p:xfrm>
          <a:off x="2231320" y="3375038"/>
          <a:ext cx="1845350" cy="834419"/>
        </p:xfrm>
        <a:graphic>
          <a:graphicData uri="http://schemas.openxmlformats.org/presentationml/2006/ole">
            <mc:AlternateContent xmlns:mc="http://schemas.openxmlformats.org/markup-compatibility/2006">
              <mc:Choice xmlns:v="urn:schemas-microsoft-com:vml" Requires="v">
                <p:oleObj spid="_x0000_s96398" r:id="rId8" imgW="1091726" imgH="482391" progId="Equation.3">
                  <p:embed/>
                </p:oleObj>
              </mc:Choice>
              <mc:Fallback>
                <p:oleObj r:id="rId8" imgW="1091726" imgH="482391"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31320" y="3375038"/>
                        <a:ext cx="1845350" cy="834419"/>
                      </a:xfrm>
                      <a:prstGeom prst="rect">
                        <a:avLst/>
                      </a:prstGeom>
                      <a:noFill/>
                    </p:spPr>
                  </p:pic>
                </p:oleObj>
              </mc:Fallback>
            </mc:AlternateContent>
          </a:graphicData>
        </a:graphic>
      </p:graphicFrame>
      <p:sp>
        <p:nvSpPr>
          <p:cNvPr id="25"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6" name="Object 25"/>
          <p:cNvGraphicFramePr>
            <a:graphicFrameLocks noChangeAspect="1"/>
          </p:cNvGraphicFramePr>
          <p:nvPr>
            <p:extLst>
              <p:ext uri="{D42A27DB-BD31-4B8C-83A1-F6EECF244321}">
                <p14:modId xmlns:p14="http://schemas.microsoft.com/office/powerpoint/2010/main" val="2517842511"/>
              </p:ext>
            </p:extLst>
          </p:nvPr>
        </p:nvGraphicFramePr>
        <p:xfrm>
          <a:off x="3098179" y="4288984"/>
          <a:ext cx="2736358" cy="839564"/>
        </p:xfrm>
        <a:graphic>
          <a:graphicData uri="http://schemas.openxmlformats.org/presentationml/2006/ole">
            <mc:AlternateContent xmlns:mc="http://schemas.openxmlformats.org/markup-compatibility/2006">
              <mc:Choice xmlns:v="urn:schemas-microsoft-com:vml" Requires="v">
                <p:oleObj spid="_x0000_s96399" r:id="rId10" imgW="1688367" imgH="520474" progId="Equation.3">
                  <p:embed/>
                </p:oleObj>
              </mc:Choice>
              <mc:Fallback>
                <p:oleObj r:id="rId10" imgW="1688367" imgH="520474" progId="Equation.3">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98179" y="4288984"/>
                        <a:ext cx="2736358" cy="839564"/>
                      </a:xfrm>
                      <a:prstGeom prst="rect">
                        <a:avLst/>
                      </a:prstGeom>
                      <a:noFill/>
                    </p:spPr>
                  </p:pic>
                </p:oleObj>
              </mc:Fallback>
            </mc:AlternateContent>
          </a:graphicData>
        </a:graphic>
      </p:graphicFrame>
      <p:sp>
        <p:nvSpPr>
          <p:cNvPr id="27" name="Rectangle 2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9" name="Rectangle 2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30" name="Object 29"/>
          <p:cNvGraphicFramePr>
            <a:graphicFrameLocks noChangeAspect="1"/>
          </p:cNvGraphicFramePr>
          <p:nvPr>
            <p:extLst>
              <p:ext uri="{D42A27DB-BD31-4B8C-83A1-F6EECF244321}">
                <p14:modId xmlns:p14="http://schemas.microsoft.com/office/powerpoint/2010/main" val="4132630609"/>
              </p:ext>
            </p:extLst>
          </p:nvPr>
        </p:nvGraphicFramePr>
        <p:xfrm>
          <a:off x="6135365" y="5192202"/>
          <a:ext cx="3123943" cy="892555"/>
        </p:xfrm>
        <a:graphic>
          <a:graphicData uri="http://schemas.openxmlformats.org/presentationml/2006/ole">
            <mc:AlternateContent xmlns:mc="http://schemas.openxmlformats.org/markup-compatibility/2006">
              <mc:Choice xmlns:v="urn:schemas-microsoft-com:vml" Requires="v">
                <p:oleObj spid="_x0000_s96400" r:id="rId12" imgW="1803400" imgH="520700" progId="Equation.3">
                  <p:embed/>
                </p:oleObj>
              </mc:Choice>
              <mc:Fallback>
                <p:oleObj r:id="rId12" imgW="1803400" imgH="520700" progId="Equation.3">
                  <p:embed/>
                  <p:pic>
                    <p:nvPicPr>
                      <p:cNvPr id="0" name="Object 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35365" y="5192202"/>
                        <a:ext cx="3123943" cy="892555"/>
                      </a:xfrm>
                      <a:prstGeom prst="rect">
                        <a:avLst/>
                      </a:prstGeom>
                      <a:noFill/>
                    </p:spPr>
                  </p:pic>
                </p:oleObj>
              </mc:Fallback>
            </mc:AlternateContent>
          </a:graphicData>
        </a:graphic>
      </p:graphicFrame>
      <p:pic>
        <p:nvPicPr>
          <p:cNvPr id="96295" name="Picture 3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31320" y="5393606"/>
            <a:ext cx="2500671" cy="932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13340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9</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5" name="Object 4"/>
          <p:cNvGraphicFramePr>
            <a:graphicFrameLocks noChangeAspect="1"/>
          </p:cNvGraphicFramePr>
          <p:nvPr>
            <p:extLst>
              <p:ext uri="{D42A27DB-BD31-4B8C-83A1-F6EECF244321}">
                <p14:modId xmlns:p14="http://schemas.microsoft.com/office/powerpoint/2010/main" val="177210017"/>
              </p:ext>
            </p:extLst>
          </p:nvPr>
        </p:nvGraphicFramePr>
        <p:xfrm>
          <a:off x="2129039" y="68236"/>
          <a:ext cx="3152632" cy="900752"/>
        </p:xfrm>
        <a:graphic>
          <a:graphicData uri="http://schemas.openxmlformats.org/presentationml/2006/ole">
            <mc:AlternateContent xmlns:mc="http://schemas.openxmlformats.org/markup-compatibility/2006">
              <mc:Choice xmlns:v="urn:schemas-microsoft-com:vml" Requires="v">
                <p:oleObj spid="_x0000_s95310" r:id="rId3" imgW="1803400" imgH="520700" progId="Equation.3">
                  <p:embed/>
                </p:oleObj>
              </mc:Choice>
              <mc:Fallback>
                <p:oleObj r:id="rId3" imgW="1803400" imgH="5207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9039" y="68236"/>
                        <a:ext cx="3152632" cy="900752"/>
                      </a:xfrm>
                      <a:prstGeom prst="rect">
                        <a:avLst/>
                      </a:prstGeom>
                      <a:noFill/>
                    </p:spPr>
                  </p:pic>
                </p:oleObj>
              </mc:Fallback>
            </mc:AlternateContent>
          </a:graphicData>
        </a:graphic>
      </p:graphicFrame>
      <p:sp>
        <p:nvSpPr>
          <p:cNvPr id="6" name="Left Brace 5"/>
          <p:cNvSpPr/>
          <p:nvPr/>
        </p:nvSpPr>
        <p:spPr>
          <a:xfrm rot="16200000">
            <a:off x="4326328" y="272950"/>
            <a:ext cx="429905" cy="1562669"/>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p>
        </p:txBody>
      </p:sp>
      <mc:AlternateContent xmlns:mc="http://schemas.openxmlformats.org/markup-compatibility/2006" xmlns:a14="http://schemas.microsoft.com/office/drawing/2010/main">
        <mc:Choice Requires="a14">
          <p:sp>
            <p:nvSpPr>
              <p:cNvPr id="8" name="Rectangle 7"/>
              <p:cNvSpPr/>
              <p:nvPr/>
            </p:nvSpPr>
            <p:spPr>
              <a:xfrm>
                <a:off x="3718983" y="1279049"/>
                <a:ext cx="1708265"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bg-BG" sz="2400" i="1">
                          <a:latin typeface="Cambria Math"/>
                        </a:rPr>
                        <m:t>𝑝</m:t>
                      </m:r>
                      <m:r>
                        <a:rPr lang="bg-BG" sz="2400" i="1">
                          <a:latin typeface="Cambria Math"/>
                        </a:rPr>
                        <m:t>(4</m:t>
                      </m:r>
                      <m:r>
                        <a:rPr lang="bg-BG" sz="2400" i="1">
                          <a:latin typeface="Cambria Math"/>
                        </a:rPr>
                        <m:t>𝑝</m:t>
                      </m:r>
                      <m:r>
                        <a:rPr lang="bg-BG" sz="2400" i="1">
                          <a:latin typeface="Cambria Math"/>
                        </a:rPr>
                        <m:t>+1)</m:t>
                      </m:r>
                    </m:oMath>
                  </m:oMathPara>
                </a14:m>
                <a:endParaRPr lang="bg-BG" sz="2400" dirty="0"/>
              </a:p>
            </p:txBody>
          </p:sp>
        </mc:Choice>
        <mc:Fallback xmlns="">
          <p:sp>
            <p:nvSpPr>
              <p:cNvPr id="8" name="Rectangle 7"/>
              <p:cNvSpPr>
                <a:spLocks noRot="1" noChangeAspect="1" noMove="1" noResize="1" noEditPoints="1" noAdjustHandles="1" noChangeArrowheads="1" noChangeShapeType="1" noTextEdit="1"/>
              </p:cNvSpPr>
              <p:nvPr/>
            </p:nvSpPr>
            <p:spPr>
              <a:xfrm>
                <a:off x="3718983" y="1279049"/>
                <a:ext cx="1708265" cy="461665"/>
              </a:xfrm>
              <a:prstGeom prst="rect">
                <a:avLst/>
              </a:prstGeom>
              <a:blipFill rotWithShape="1">
                <a:blip r:embed="rId5"/>
                <a:stretch>
                  <a:fillRect b="-19737"/>
                </a:stretch>
              </a:blipFill>
            </p:spPr>
            <p:txBody>
              <a:bodyPr/>
              <a:lstStyle/>
              <a:p>
                <a:r>
                  <a:rPr lang="bg-BG">
                    <a:noFill/>
                  </a:rPr>
                  <a:t> </a:t>
                </a:r>
              </a:p>
            </p:txBody>
          </p:sp>
        </mc:Fallback>
      </mc:AlternateContent>
      <p:sp>
        <p:nvSpPr>
          <p:cNvPr id="9"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1" name="Object 10"/>
          <p:cNvGraphicFramePr>
            <a:graphicFrameLocks noChangeAspect="1"/>
          </p:cNvGraphicFramePr>
          <p:nvPr>
            <p:extLst>
              <p:ext uri="{D42A27DB-BD31-4B8C-83A1-F6EECF244321}">
                <p14:modId xmlns:p14="http://schemas.microsoft.com/office/powerpoint/2010/main" val="4094861356"/>
              </p:ext>
            </p:extLst>
          </p:nvPr>
        </p:nvGraphicFramePr>
        <p:xfrm>
          <a:off x="2114295" y="2006218"/>
          <a:ext cx="3564257" cy="887104"/>
        </p:xfrm>
        <a:graphic>
          <a:graphicData uri="http://schemas.openxmlformats.org/presentationml/2006/ole">
            <mc:AlternateContent xmlns:mc="http://schemas.openxmlformats.org/markup-compatibility/2006">
              <mc:Choice xmlns:v="urn:schemas-microsoft-com:vml" Requires="v">
                <p:oleObj spid="_x0000_s95311" r:id="rId6" imgW="2146300" imgH="533400" progId="Equation.3">
                  <p:embed/>
                </p:oleObj>
              </mc:Choice>
              <mc:Fallback>
                <p:oleObj r:id="rId6" imgW="2146300" imgH="5334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4295" y="2006218"/>
                        <a:ext cx="3564257" cy="887104"/>
                      </a:xfrm>
                      <a:prstGeom prst="rect">
                        <a:avLst/>
                      </a:prstGeom>
                      <a:noFill/>
                    </p:spPr>
                  </p:pic>
                </p:oleObj>
              </mc:Fallback>
            </mc:AlternateContent>
          </a:graphicData>
        </a:graphic>
      </p:graphicFrame>
      <p:sp>
        <p:nvSpPr>
          <p:cNvPr id="13"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4" name="Object 13"/>
          <p:cNvGraphicFramePr>
            <a:graphicFrameLocks noChangeAspect="1"/>
          </p:cNvGraphicFramePr>
          <p:nvPr>
            <p:extLst>
              <p:ext uri="{D42A27DB-BD31-4B8C-83A1-F6EECF244321}">
                <p14:modId xmlns:p14="http://schemas.microsoft.com/office/powerpoint/2010/main" val="581025229"/>
              </p:ext>
            </p:extLst>
          </p:nvPr>
        </p:nvGraphicFramePr>
        <p:xfrm>
          <a:off x="2121184" y="3220868"/>
          <a:ext cx="3801657" cy="941695"/>
        </p:xfrm>
        <a:graphic>
          <a:graphicData uri="http://schemas.openxmlformats.org/presentationml/2006/ole">
            <mc:AlternateContent xmlns:mc="http://schemas.openxmlformats.org/markup-compatibility/2006">
              <mc:Choice xmlns:v="urn:schemas-microsoft-com:vml" Requires="v">
                <p:oleObj spid="_x0000_s95312" r:id="rId8" imgW="2070100" imgH="520700" progId="Equation.3">
                  <p:embed/>
                </p:oleObj>
              </mc:Choice>
              <mc:Fallback>
                <p:oleObj r:id="rId8" imgW="2070100" imgH="5207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1184" y="3220868"/>
                        <a:ext cx="3801657" cy="941695"/>
                      </a:xfrm>
                      <a:prstGeom prst="rect">
                        <a:avLst/>
                      </a:prstGeom>
                      <a:noFill/>
                    </p:spPr>
                  </p:pic>
                </p:oleObj>
              </mc:Fallback>
            </mc:AlternateContent>
          </a:graphicData>
        </a:graphic>
      </p:graphicFrame>
      <p:sp>
        <p:nvSpPr>
          <p:cNvPr id="18" name="Rectangle 1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21" name="Rectangle 20"/>
              <p:cNvSpPr/>
              <p:nvPr/>
            </p:nvSpPr>
            <p:spPr>
              <a:xfrm>
                <a:off x="1775828" y="4546104"/>
                <a:ext cx="4320172" cy="87459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bg-BG" sz="2400" i="1" smtClean="0">
                              <a:latin typeface="Cambria Math" panose="02040503050406030204" pitchFamily="18" charset="0"/>
                            </a:rPr>
                          </m:ctrlPr>
                        </m:fPr>
                        <m:num>
                          <m:r>
                            <a:rPr lang="bg-BG" sz="2400" i="1">
                              <a:latin typeface="Cambria Math"/>
                            </a:rPr>
                            <m:t>3</m:t>
                          </m:r>
                        </m:num>
                        <m:den>
                          <m:r>
                            <a:rPr lang="en-US" sz="2400" i="1">
                              <a:latin typeface="Cambria Math"/>
                            </a:rPr>
                            <m:t>𝑝</m:t>
                          </m:r>
                          <m:r>
                            <a:rPr lang="en-US" sz="2400" i="1">
                              <a:latin typeface="Cambria Math"/>
                            </a:rPr>
                            <m:t>(4</m:t>
                          </m:r>
                          <m:r>
                            <a:rPr lang="en-US" sz="2400" i="1">
                              <a:latin typeface="Cambria Math"/>
                            </a:rPr>
                            <m:t>𝑝</m:t>
                          </m:r>
                          <m:r>
                            <a:rPr lang="en-US" sz="2400" i="1">
                              <a:latin typeface="Cambria Math"/>
                            </a:rPr>
                            <m:t>+1)</m:t>
                          </m:r>
                        </m:den>
                      </m:f>
                      <m:r>
                        <a:rPr lang="en-US" sz="2400" i="1">
                          <a:latin typeface="Cambria Math"/>
                        </a:rPr>
                        <m:t>=</m:t>
                      </m:r>
                      <m:f>
                        <m:fPr>
                          <m:ctrlPr>
                            <a:rPr lang="en-US" sz="2400" i="1">
                              <a:latin typeface="Cambria Math" panose="02040503050406030204" pitchFamily="18" charset="0"/>
                            </a:rPr>
                          </m:ctrlPr>
                        </m:fPr>
                        <m:num>
                          <m:d>
                            <m:dPr>
                              <m:ctrlPr>
                                <a:rPr lang="en-US" sz="2400" i="1">
                                  <a:latin typeface="Cambria Math" panose="02040503050406030204" pitchFamily="18" charset="0"/>
                                </a:rPr>
                              </m:ctrlPr>
                            </m:dPr>
                            <m:e>
                              <m:r>
                                <a:rPr lang="en-US" sz="2400" i="1">
                                  <a:latin typeface="Cambria Math"/>
                                </a:rPr>
                                <m:t>4</m:t>
                              </m:r>
                              <m:r>
                                <a:rPr lang="en-US" sz="2400" i="1">
                                  <a:latin typeface="Cambria Math"/>
                                </a:rPr>
                                <m:t>𝐴</m:t>
                              </m:r>
                              <m:r>
                                <a:rPr lang="en-US" sz="2400" i="1">
                                  <a:latin typeface="Cambria Math"/>
                                </a:rPr>
                                <m:t>+</m:t>
                              </m:r>
                              <m:r>
                                <a:rPr lang="en-US" sz="2400" i="1">
                                  <a:latin typeface="Cambria Math"/>
                                </a:rPr>
                                <m:t>𝐵</m:t>
                              </m:r>
                            </m:e>
                          </m:d>
                          <m:r>
                            <a:rPr lang="en-US" sz="2400" i="1">
                              <a:latin typeface="Cambria Math"/>
                            </a:rPr>
                            <m:t>𝑝</m:t>
                          </m:r>
                          <m:r>
                            <a:rPr lang="en-US" sz="2400" i="1">
                              <a:latin typeface="Cambria Math"/>
                            </a:rPr>
                            <m:t>+</m:t>
                          </m:r>
                          <m:r>
                            <a:rPr lang="en-US" sz="2400" i="1">
                              <a:latin typeface="Cambria Math"/>
                            </a:rPr>
                            <m:t>𝐴</m:t>
                          </m:r>
                        </m:num>
                        <m:den>
                          <m:r>
                            <a:rPr lang="en-US" sz="2400" i="1">
                              <a:latin typeface="Cambria Math"/>
                            </a:rPr>
                            <m:t>𝑝</m:t>
                          </m:r>
                          <m:r>
                            <a:rPr lang="en-US" sz="2400" i="1">
                              <a:latin typeface="Cambria Math"/>
                            </a:rPr>
                            <m:t>(4</m:t>
                          </m:r>
                          <m:r>
                            <a:rPr lang="en-US" sz="2400" b="0" i="1" smtClean="0">
                              <a:latin typeface="Cambria Math"/>
                            </a:rPr>
                            <m:t>𝑝</m:t>
                          </m:r>
                          <m:r>
                            <a:rPr lang="en-US" sz="2400" i="1">
                              <a:latin typeface="Cambria Math"/>
                            </a:rPr>
                            <m:t>+</m:t>
                          </m:r>
                          <m:r>
                            <a:rPr lang="en-US" sz="2400" b="0" i="1" smtClean="0">
                              <a:latin typeface="Cambria Math"/>
                            </a:rPr>
                            <m:t>1</m:t>
                          </m:r>
                          <m:r>
                            <a:rPr lang="en-US" sz="2400" i="1">
                              <a:latin typeface="Cambria Math"/>
                            </a:rPr>
                            <m:t>)</m:t>
                          </m:r>
                        </m:den>
                      </m:f>
                    </m:oMath>
                  </m:oMathPara>
                </a14:m>
                <a:endParaRPr lang="bg-BG" sz="2400" dirty="0"/>
              </a:p>
            </p:txBody>
          </p:sp>
        </mc:Choice>
        <mc:Fallback xmlns="">
          <p:sp>
            <p:nvSpPr>
              <p:cNvPr id="21" name="Rectangle 20"/>
              <p:cNvSpPr>
                <a:spLocks noRot="1" noChangeAspect="1" noMove="1" noResize="1" noEditPoints="1" noAdjustHandles="1" noChangeArrowheads="1" noChangeShapeType="1" noTextEdit="1"/>
              </p:cNvSpPr>
              <p:nvPr/>
            </p:nvSpPr>
            <p:spPr>
              <a:xfrm>
                <a:off x="1775828" y="4546104"/>
                <a:ext cx="4320172" cy="874598"/>
              </a:xfrm>
              <a:prstGeom prst="rect">
                <a:avLst/>
              </a:prstGeom>
              <a:blipFill rotWithShape="1">
                <a:blip r:embed="rId10"/>
                <a:stretch>
                  <a:fillRect/>
                </a:stretch>
              </a:blipFill>
            </p:spPr>
            <p:txBody>
              <a:bodyPr/>
              <a:lstStyle/>
              <a:p>
                <a:r>
                  <a:rPr lang="bg-BG">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2161386" y="5656683"/>
                <a:ext cx="3557026" cy="492443"/>
              </a:xfrm>
              <a:prstGeom prst="rect">
                <a:avLst/>
              </a:prstGeom>
            </p:spPr>
            <p:txBody>
              <a:bodyPr wrap="square">
                <a:spAutoFit/>
              </a:bodyPr>
              <a:lstStyle/>
              <a:p>
                <a14:m>
                  <m:oMath xmlns:m="http://schemas.openxmlformats.org/officeDocument/2006/math">
                    <m:r>
                      <a:rPr lang="bg-BG" sz="2600" i="1" smtClean="0">
                        <a:latin typeface="Cambria Math"/>
                      </a:rPr>
                      <m:t>𝑝</m:t>
                    </m:r>
                    <m:r>
                      <a:rPr lang="bg-BG" sz="2600" i="1" smtClean="0">
                        <a:latin typeface="Cambria Math"/>
                      </a:rPr>
                      <m:t>(4</m:t>
                    </m:r>
                    <m:r>
                      <a:rPr lang="bg-BG" sz="2600" i="1" smtClean="0">
                        <a:latin typeface="Cambria Math"/>
                      </a:rPr>
                      <m:t>𝐴</m:t>
                    </m:r>
                    <m:r>
                      <a:rPr lang="bg-BG" sz="2600" i="1" smtClean="0">
                        <a:latin typeface="Cambria Math"/>
                      </a:rPr>
                      <m:t>+</m:t>
                    </m:r>
                    <m:r>
                      <a:rPr lang="bg-BG" sz="2600" i="1" smtClean="0">
                        <a:latin typeface="Cambria Math"/>
                      </a:rPr>
                      <m:t>𝐵</m:t>
                    </m:r>
                    <m:r>
                      <a:rPr lang="bg-BG" sz="2600" i="1" smtClean="0">
                        <a:latin typeface="Cambria Math"/>
                      </a:rPr>
                      <m:t>)+</m:t>
                    </m:r>
                    <m:r>
                      <a:rPr lang="bg-BG" sz="2600" i="1" smtClean="0">
                        <a:latin typeface="Cambria Math"/>
                      </a:rPr>
                      <m:t>𝐴</m:t>
                    </m:r>
                    <m:r>
                      <a:rPr lang="bg-BG" sz="2600" i="1" smtClean="0">
                        <a:latin typeface="Cambria Math"/>
                      </a:rPr>
                      <m:t>=3</m:t>
                    </m:r>
                  </m:oMath>
                </a14:m>
                <a:r>
                  <a:rPr lang="bg-BG" sz="2600" i="1" dirty="0"/>
                  <a:t> </a:t>
                </a:r>
                <a:endParaRPr lang="bg-BG" sz="2600" dirty="0"/>
              </a:p>
            </p:txBody>
          </p:sp>
        </mc:Choice>
        <mc:Fallback xmlns="">
          <p:sp>
            <p:nvSpPr>
              <p:cNvPr id="22" name="Rectangle 21"/>
              <p:cNvSpPr>
                <a:spLocks noRot="1" noChangeAspect="1" noMove="1" noResize="1" noEditPoints="1" noAdjustHandles="1" noChangeArrowheads="1" noChangeShapeType="1" noTextEdit="1"/>
              </p:cNvSpPr>
              <p:nvPr/>
            </p:nvSpPr>
            <p:spPr>
              <a:xfrm>
                <a:off x="2161386" y="5656683"/>
                <a:ext cx="3557026" cy="492443"/>
              </a:xfrm>
              <a:prstGeom prst="rect">
                <a:avLst/>
              </a:prstGeom>
              <a:blipFill rotWithShape="1">
                <a:blip r:embed="rId11"/>
                <a:stretch>
                  <a:fillRect/>
                </a:stretch>
              </a:blipFill>
            </p:spPr>
            <p:txBody>
              <a:bodyPr/>
              <a:lstStyle/>
              <a:p>
                <a:r>
                  <a:rPr lang="bg-BG">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2014820" y="6242446"/>
                <a:ext cx="3850157" cy="4924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bg-BG" sz="2600" i="1">
                          <a:latin typeface="Cambria Math"/>
                        </a:rPr>
                        <m:t>𝑝</m:t>
                      </m:r>
                      <m:r>
                        <a:rPr lang="bg-BG" sz="2600" i="1">
                          <a:latin typeface="Cambria Math"/>
                        </a:rPr>
                        <m:t>(4</m:t>
                      </m:r>
                      <m:r>
                        <a:rPr lang="bg-BG" sz="2600" i="1">
                          <a:latin typeface="Cambria Math"/>
                        </a:rPr>
                        <m:t>𝐴</m:t>
                      </m:r>
                      <m:r>
                        <a:rPr lang="bg-BG" sz="2600" i="1">
                          <a:latin typeface="Cambria Math"/>
                        </a:rPr>
                        <m:t>+</m:t>
                      </m:r>
                      <m:r>
                        <a:rPr lang="bg-BG" sz="2600" i="1">
                          <a:latin typeface="Cambria Math"/>
                        </a:rPr>
                        <m:t>𝐵</m:t>
                      </m:r>
                      <m:r>
                        <a:rPr lang="bg-BG" sz="2600" i="1">
                          <a:latin typeface="Cambria Math"/>
                        </a:rPr>
                        <m:t>)+</m:t>
                      </m:r>
                      <m:r>
                        <a:rPr lang="bg-BG" sz="2600" i="1">
                          <a:latin typeface="Cambria Math"/>
                        </a:rPr>
                        <m:t>𝐴</m:t>
                      </m:r>
                      <m:r>
                        <a:rPr lang="bg-BG" sz="2600" i="1">
                          <a:latin typeface="Cambria Math"/>
                        </a:rPr>
                        <m:t>=0.</m:t>
                      </m:r>
                      <m:r>
                        <a:rPr lang="bg-BG" sz="2600" i="1">
                          <a:latin typeface="Cambria Math"/>
                        </a:rPr>
                        <m:t>𝑝</m:t>
                      </m:r>
                      <m:r>
                        <a:rPr lang="bg-BG" sz="2600" i="1">
                          <a:latin typeface="Cambria Math"/>
                        </a:rPr>
                        <m:t>+3</m:t>
                      </m:r>
                    </m:oMath>
                  </m:oMathPara>
                </a14:m>
                <a:endParaRPr lang="bg-BG" sz="2600" dirty="0"/>
              </a:p>
            </p:txBody>
          </p:sp>
        </mc:Choice>
        <mc:Fallback xmlns="">
          <p:sp>
            <p:nvSpPr>
              <p:cNvPr id="23" name="Rectangle 22"/>
              <p:cNvSpPr>
                <a:spLocks noRot="1" noChangeAspect="1" noMove="1" noResize="1" noEditPoints="1" noAdjustHandles="1" noChangeArrowheads="1" noChangeShapeType="1" noTextEdit="1"/>
              </p:cNvSpPr>
              <p:nvPr/>
            </p:nvSpPr>
            <p:spPr>
              <a:xfrm>
                <a:off x="2014820" y="6242446"/>
                <a:ext cx="3850157" cy="492443"/>
              </a:xfrm>
              <a:prstGeom prst="rect">
                <a:avLst/>
              </a:prstGeom>
              <a:blipFill rotWithShape="1">
                <a:blip r:embed="rId12"/>
                <a:stretch>
                  <a:fillRect/>
                </a:stretch>
              </a:blipFill>
            </p:spPr>
            <p:txBody>
              <a:bodyPr/>
              <a:lstStyle/>
              <a:p>
                <a:r>
                  <a:rPr lang="bg-BG">
                    <a:noFill/>
                  </a:rPr>
                  <a:t> </a:t>
                </a:r>
              </a:p>
            </p:txBody>
          </p:sp>
        </mc:Fallback>
      </mc:AlternateContent>
      <p:pic>
        <p:nvPicPr>
          <p:cNvPr id="20" name="Picture 19"/>
          <p:cNvPicPr>
            <a:picLocks noChangeAspect="1"/>
          </p:cNvPicPr>
          <p:nvPr/>
        </p:nvPicPr>
        <p:blipFill>
          <a:blip r:embed="rId13"/>
          <a:stretch>
            <a:fillRect/>
          </a:stretch>
        </p:blipFill>
        <p:spPr>
          <a:xfrm>
            <a:off x="7495884" y="123825"/>
            <a:ext cx="5267325" cy="6734175"/>
          </a:xfrm>
          <a:prstGeom prst="rect">
            <a:avLst/>
          </a:prstGeom>
        </p:spPr>
      </p:pic>
      <p:sp>
        <p:nvSpPr>
          <p:cNvPr id="27" name="Right Arrow 26"/>
          <p:cNvSpPr/>
          <p:nvPr/>
        </p:nvSpPr>
        <p:spPr>
          <a:xfrm rot="17943067">
            <a:off x="6203383" y="3709639"/>
            <a:ext cx="1293570" cy="4192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20813340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10</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 name="Rectangle 2"/>
          <p:cNvSpPr/>
          <p:nvPr/>
        </p:nvSpPr>
        <p:spPr>
          <a:xfrm>
            <a:off x="2220036" y="1731441"/>
            <a:ext cx="9476096" cy="830997"/>
          </a:xfrm>
          <a:prstGeom prst="rect">
            <a:avLst/>
          </a:prstGeom>
        </p:spPr>
        <p:txBody>
          <a:bodyPr wrap="square">
            <a:spAutoFit/>
          </a:bodyPr>
          <a:lstStyle/>
          <a:p>
            <a:pPr indent="531813"/>
            <a:r>
              <a:rPr lang="bg-BG" sz="2400" dirty="0"/>
              <a:t>За първото събираемо се прилага първия ред от таблицата, а за второто – втория ред. </a:t>
            </a:r>
          </a:p>
        </p:txBody>
      </p:sp>
      <p:pic>
        <p:nvPicPr>
          <p:cNvPr id="931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9630" y="2586723"/>
            <a:ext cx="3129886" cy="14493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31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37" y="161783"/>
            <a:ext cx="3114390" cy="11893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9951" y="2586722"/>
            <a:ext cx="4535052" cy="1332933"/>
          </a:xfrm>
          <a:prstGeom prst="rect">
            <a:avLst/>
          </a:prstGeom>
          <a:noFill/>
          <a:ln w="38100">
            <a:solidFill>
              <a:schemeClr val="accent2">
                <a:lumMod val="60000"/>
                <a:lumOff val="40000"/>
              </a:schemeClr>
            </a:solidFill>
            <a:miter lim="800000"/>
            <a:headEnd/>
            <a:tailEnd/>
          </a:ln>
          <a:extLst>
            <a:ext uri="{909E8E84-426E-40DD-AFC4-6F175D3DCCD1}">
              <a14:hiddenFill xmlns:a14="http://schemas.microsoft.com/office/drawing/2010/main">
                <a:solidFill>
                  <a:schemeClr val="accent1"/>
                </a:solidFill>
              </a14:hiddenFill>
            </a:ext>
          </a:extLst>
        </p:spPr>
      </p:pic>
      <p:pic>
        <p:nvPicPr>
          <p:cNvPr id="9728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9023" y="4036030"/>
            <a:ext cx="5210245" cy="281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Rectangle 17"/>
          <p:cNvSpPr/>
          <p:nvPr/>
        </p:nvSpPr>
        <p:spPr>
          <a:xfrm>
            <a:off x="19797" y="4773805"/>
            <a:ext cx="5969226" cy="1938992"/>
          </a:xfrm>
          <a:prstGeom prst="rect">
            <a:avLst/>
          </a:prstGeom>
        </p:spPr>
        <p:txBody>
          <a:bodyPr wrap="square">
            <a:spAutoFit/>
          </a:bodyPr>
          <a:lstStyle/>
          <a:p>
            <a:pPr algn="just"/>
            <a:r>
              <a:rPr lang="bg-BG" sz="2400" i="1" dirty="0" smtClean="0"/>
              <a:t>Тази графика представлява поведението на системата във времето</a:t>
            </a:r>
            <a:r>
              <a:rPr lang="en-GB" sz="2400" i="1" dirty="0" smtClean="0"/>
              <a:t>. </a:t>
            </a:r>
            <a:r>
              <a:rPr lang="bg-BG" sz="2400" i="1" dirty="0"/>
              <a:t>Реакцията на звеното се получава след известно закъснение.</a:t>
            </a:r>
            <a:endParaRPr lang="bg-BG" sz="2400" dirty="0"/>
          </a:p>
          <a:p>
            <a:pPr algn="just"/>
            <a:endParaRPr lang="bg-BG" sz="2400" dirty="0"/>
          </a:p>
        </p:txBody>
      </p:sp>
      <p:sp>
        <p:nvSpPr>
          <p:cNvPr id="20" name="Rectangle 19"/>
          <p:cNvSpPr/>
          <p:nvPr/>
        </p:nvSpPr>
        <p:spPr>
          <a:xfrm>
            <a:off x="3879164" y="161781"/>
            <a:ext cx="7816968" cy="1200329"/>
          </a:xfrm>
          <a:prstGeom prst="rect">
            <a:avLst/>
          </a:prstGeom>
        </p:spPr>
        <p:txBody>
          <a:bodyPr wrap="square">
            <a:spAutoFit/>
          </a:bodyPr>
          <a:lstStyle/>
          <a:p>
            <a:pPr algn="just"/>
            <a:r>
              <a:rPr lang="bg-BG" sz="2400" i="1" dirty="0" smtClean="0"/>
              <a:t>За определяне на реакцията на звеното </a:t>
            </a:r>
            <a:r>
              <a:rPr lang="en-US" sz="2400" i="1" dirty="0" smtClean="0"/>
              <a:t>y(t) </a:t>
            </a:r>
            <a:r>
              <a:rPr lang="bg-BG" sz="2400" i="1" dirty="0" smtClean="0"/>
              <a:t>се използва таблицата съдържаща съответствия между оригинал и неговия Лапласов образ.</a:t>
            </a:r>
            <a:endParaRPr lang="bg-BG" sz="2400" dirty="0"/>
          </a:p>
        </p:txBody>
      </p:sp>
    </p:spTree>
    <p:extLst>
      <p:ext uri="{BB962C8B-B14F-4D97-AF65-F5344CB8AC3E}">
        <p14:creationId xmlns:p14="http://schemas.microsoft.com/office/powerpoint/2010/main" val="20813340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11</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 name="Rectangle 2"/>
          <p:cNvSpPr/>
          <p:nvPr/>
        </p:nvSpPr>
        <p:spPr>
          <a:xfrm>
            <a:off x="2188190" y="154077"/>
            <a:ext cx="9821839" cy="1052596"/>
          </a:xfrm>
          <a:prstGeom prst="rect">
            <a:avLst/>
          </a:prstGeom>
        </p:spPr>
        <p:txBody>
          <a:bodyPr wrap="square">
            <a:spAutoFit/>
          </a:bodyPr>
          <a:lstStyle/>
          <a:p>
            <a:pPr lvl="0" fontAlgn="base">
              <a:lnSpc>
                <a:spcPct val="130000"/>
              </a:lnSpc>
              <a:spcBef>
                <a:spcPct val="0"/>
              </a:spcBef>
              <a:spcAft>
                <a:spcPct val="0"/>
              </a:spcAft>
            </a:pPr>
            <a:r>
              <a:rPr lang="bg-BG" altLang="bg-BG" sz="2400" b="1" dirty="0">
                <a:ea typeface="Times New Roman" pitchFamily="18" charset="0"/>
                <a:cs typeface="Arial" pitchFamily="34" charset="0"/>
              </a:rPr>
              <a:t>Пример </a:t>
            </a:r>
            <a:r>
              <a:rPr lang="bg-BG" altLang="bg-BG" sz="2400" b="1" dirty="0" smtClean="0">
                <a:ea typeface="Times New Roman" pitchFamily="18" charset="0"/>
                <a:cs typeface="Arial" pitchFamily="34" charset="0"/>
              </a:rPr>
              <a:t>2. </a:t>
            </a:r>
            <a:r>
              <a:rPr lang="bg-BG" altLang="bg-BG" sz="2400" dirty="0">
                <a:ea typeface="Times New Roman" pitchFamily="18" charset="0"/>
                <a:cs typeface="Arial" pitchFamily="34" charset="0"/>
              </a:rPr>
              <a:t>С помощта на обратно Лапласово преобразувание</a:t>
            </a:r>
            <a:r>
              <a:rPr lang="bg-BG" altLang="bg-BG" sz="2400" dirty="0" smtClean="0">
                <a:ea typeface="Times New Roman" pitchFamily="18" charset="0"/>
                <a:cs typeface="Arial" pitchFamily="34" charset="0"/>
              </a:rPr>
              <a:t> </a:t>
            </a:r>
            <a:r>
              <a:rPr lang="bg-BG" altLang="bg-BG" sz="2400" dirty="0">
                <a:ea typeface="Times New Roman" pitchFamily="18" charset="0"/>
                <a:cs typeface="Arial" pitchFamily="34" charset="0"/>
              </a:rPr>
              <a:t>да се определи y(t) от следната блокова схема:</a:t>
            </a:r>
            <a:endParaRPr lang="en-US" altLang="bg-BG" sz="2400" dirty="0">
              <a:ea typeface="Times New Roman" pitchFamily="18" charset="0"/>
              <a:cs typeface="Arial" pitchFamily="34" charset="0"/>
            </a:endParaRPr>
          </a:p>
        </p:txBody>
      </p:sp>
      <p:pic>
        <p:nvPicPr>
          <p:cNvPr id="9216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3585" y="1103266"/>
            <a:ext cx="4642869" cy="16466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9072" y="2640325"/>
            <a:ext cx="4740037" cy="26126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67875" y="3263534"/>
            <a:ext cx="2524125" cy="234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6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9072" y="5117778"/>
            <a:ext cx="4740037" cy="9557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66"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9071" y="5950424"/>
            <a:ext cx="4740037" cy="895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13340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12</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9113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4750" y="14642"/>
            <a:ext cx="6568055" cy="37111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11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4751" y="3564198"/>
            <a:ext cx="6881953" cy="22224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11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4750" y="5786650"/>
            <a:ext cx="6881954" cy="1071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13340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13</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9011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133940" cy="21426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01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56346"/>
            <a:ext cx="7387846" cy="47016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Rectangle 15"/>
          <p:cNvSpPr/>
          <p:nvPr/>
        </p:nvSpPr>
        <p:spPr>
          <a:xfrm>
            <a:off x="6946710" y="3054170"/>
            <a:ext cx="5245290" cy="830997"/>
          </a:xfrm>
          <a:prstGeom prst="rect">
            <a:avLst/>
          </a:prstGeom>
        </p:spPr>
        <p:txBody>
          <a:bodyPr wrap="square">
            <a:spAutoFit/>
          </a:bodyPr>
          <a:lstStyle/>
          <a:p>
            <a:pPr algn="just"/>
            <a:r>
              <a:rPr lang="bg-BG" sz="2400" i="1" dirty="0"/>
              <a:t>Реакцията на звеното се получава след известно закъснение.</a:t>
            </a:r>
            <a:endParaRPr lang="bg-BG" sz="2400" dirty="0"/>
          </a:p>
        </p:txBody>
      </p:sp>
      <p:pic>
        <p:nvPicPr>
          <p:cNvPr id="1044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9872" y="1045863"/>
            <a:ext cx="4680102" cy="1856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30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7846" y="3885167"/>
            <a:ext cx="4804154" cy="2972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13340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9125" y="1068516"/>
            <a:ext cx="4954078" cy="1456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p:txBody>
          <a:bodyPr/>
          <a:lstStyle/>
          <a:p>
            <a:fld id="{081674E5-CD74-4638-A238-012A517DC16A}" type="slidenum">
              <a:rPr lang="bg-BG" smtClean="0"/>
              <a:t>14</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 name="Rectangle 2"/>
          <p:cNvSpPr/>
          <p:nvPr/>
        </p:nvSpPr>
        <p:spPr>
          <a:xfrm>
            <a:off x="1997122" y="191069"/>
            <a:ext cx="9739952" cy="1052596"/>
          </a:xfrm>
          <a:prstGeom prst="rect">
            <a:avLst/>
          </a:prstGeom>
        </p:spPr>
        <p:txBody>
          <a:bodyPr wrap="square">
            <a:spAutoFit/>
          </a:bodyPr>
          <a:lstStyle/>
          <a:p>
            <a:pPr lvl="0" fontAlgn="base">
              <a:lnSpc>
                <a:spcPct val="130000"/>
              </a:lnSpc>
              <a:spcBef>
                <a:spcPct val="0"/>
              </a:spcBef>
              <a:spcAft>
                <a:spcPct val="0"/>
              </a:spcAft>
            </a:pPr>
            <a:r>
              <a:rPr lang="bg-BG" altLang="bg-BG" sz="2400" b="1" dirty="0">
                <a:solidFill>
                  <a:prstClr val="black"/>
                </a:solidFill>
                <a:ea typeface="Times New Roman" pitchFamily="18" charset="0"/>
                <a:cs typeface="Arial" pitchFamily="34" charset="0"/>
              </a:rPr>
              <a:t>Пример 3. </a:t>
            </a:r>
            <a:r>
              <a:rPr lang="bg-BG" altLang="bg-BG" sz="2400" dirty="0">
                <a:solidFill>
                  <a:prstClr val="black"/>
                </a:solidFill>
                <a:ea typeface="Times New Roman" pitchFamily="18" charset="0"/>
                <a:cs typeface="Arial" pitchFamily="34" charset="0"/>
              </a:rPr>
              <a:t>С помощта на обратно Лапласово </a:t>
            </a:r>
            <a:r>
              <a:rPr lang="bg-BG" altLang="bg-BG" sz="2400" dirty="0">
                <a:ea typeface="Times New Roman" pitchFamily="18" charset="0"/>
                <a:cs typeface="Arial" pitchFamily="34" charset="0"/>
              </a:rPr>
              <a:t>преобразувание</a:t>
            </a:r>
            <a:r>
              <a:rPr lang="bg-BG" altLang="bg-BG" sz="2400" dirty="0" smtClean="0">
                <a:solidFill>
                  <a:prstClr val="black"/>
                </a:solidFill>
                <a:ea typeface="Times New Roman" pitchFamily="18" charset="0"/>
                <a:cs typeface="Arial" pitchFamily="34" charset="0"/>
              </a:rPr>
              <a:t> </a:t>
            </a:r>
            <a:r>
              <a:rPr lang="bg-BG" altLang="bg-BG" sz="2400" dirty="0">
                <a:solidFill>
                  <a:prstClr val="black"/>
                </a:solidFill>
                <a:ea typeface="Times New Roman" pitchFamily="18" charset="0"/>
                <a:cs typeface="Arial" pitchFamily="34" charset="0"/>
              </a:rPr>
              <a:t>да се определи y(t) от следната блокова схема:</a:t>
            </a:r>
            <a:endParaRPr lang="en-US" altLang="bg-BG" sz="2400" dirty="0">
              <a:solidFill>
                <a:prstClr val="black"/>
              </a:solidFill>
              <a:ea typeface="Times New Roman" pitchFamily="18" charset="0"/>
              <a:cs typeface="Arial" pitchFamily="34" charset="0"/>
            </a:endParaRPr>
          </a:p>
        </p:txBody>
      </p:sp>
      <p:pic>
        <p:nvPicPr>
          <p:cNvPr id="972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2408" y="4499951"/>
            <a:ext cx="2735736" cy="2302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28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1914" y="2674959"/>
            <a:ext cx="5001776" cy="41500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52225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15</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983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4907" y="330673"/>
            <a:ext cx="6059148" cy="4794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83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4907" y="5124734"/>
            <a:ext cx="6059148" cy="1733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4831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16</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993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3047" y="0"/>
            <a:ext cx="5221335" cy="34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93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9605" y="3491281"/>
            <a:ext cx="4681822" cy="3352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933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6352" y="4186606"/>
            <a:ext cx="4572000"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33731" y="900054"/>
            <a:ext cx="4317242" cy="2573455"/>
          </a:xfrm>
          <a:prstGeom prst="rect">
            <a:avLst/>
          </a:prstGeom>
          <a:noFill/>
          <a:ln w="38100">
            <a:solidFill>
              <a:schemeClr val="accent2">
                <a:lumMod val="60000"/>
                <a:lumOff val="40000"/>
              </a:schemeClr>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7752609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17</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12"/>
          <p:cNvSpPr/>
          <p:nvPr/>
        </p:nvSpPr>
        <p:spPr>
          <a:xfrm>
            <a:off x="2188190" y="154077"/>
            <a:ext cx="9821839" cy="1052596"/>
          </a:xfrm>
          <a:prstGeom prst="rect">
            <a:avLst/>
          </a:prstGeom>
        </p:spPr>
        <p:txBody>
          <a:bodyPr wrap="square">
            <a:spAutoFit/>
          </a:bodyPr>
          <a:lstStyle/>
          <a:p>
            <a:pPr lvl="0" fontAlgn="base">
              <a:lnSpc>
                <a:spcPct val="130000"/>
              </a:lnSpc>
              <a:spcBef>
                <a:spcPct val="0"/>
              </a:spcBef>
              <a:spcAft>
                <a:spcPct val="0"/>
              </a:spcAft>
            </a:pPr>
            <a:r>
              <a:rPr lang="bg-BG" altLang="bg-BG" sz="2400" b="1" dirty="0">
                <a:ea typeface="Times New Roman" pitchFamily="18" charset="0"/>
                <a:cs typeface="Arial" pitchFamily="34" charset="0"/>
              </a:rPr>
              <a:t>Пример 4</a:t>
            </a:r>
            <a:r>
              <a:rPr lang="bg-BG" altLang="bg-BG" sz="2400" b="1" dirty="0" smtClean="0">
                <a:ea typeface="Times New Roman" pitchFamily="18" charset="0"/>
                <a:cs typeface="Arial" pitchFamily="34" charset="0"/>
              </a:rPr>
              <a:t>. </a:t>
            </a:r>
            <a:r>
              <a:rPr lang="bg-BG" altLang="bg-BG" sz="2400" dirty="0">
                <a:ea typeface="Times New Roman" pitchFamily="18" charset="0"/>
                <a:cs typeface="Arial" pitchFamily="34" charset="0"/>
              </a:rPr>
              <a:t>С помощта на обратно Лапласово преобразувание</a:t>
            </a:r>
            <a:r>
              <a:rPr lang="bg-BG" altLang="bg-BG" sz="2400" dirty="0" smtClean="0">
                <a:ea typeface="Times New Roman" pitchFamily="18" charset="0"/>
                <a:cs typeface="Arial" pitchFamily="34" charset="0"/>
              </a:rPr>
              <a:t> </a:t>
            </a:r>
            <a:r>
              <a:rPr lang="bg-BG" altLang="bg-BG" sz="2400" dirty="0">
                <a:ea typeface="Times New Roman" pitchFamily="18" charset="0"/>
                <a:cs typeface="Arial" pitchFamily="34" charset="0"/>
              </a:rPr>
              <a:t>да се определи y(t) от следната блокова схема:</a:t>
            </a:r>
            <a:endParaRPr lang="en-US" altLang="bg-BG" sz="2400" dirty="0">
              <a:ea typeface="Times New Roman" pitchFamily="18" charset="0"/>
              <a:cs typeface="Arial" pitchFamily="34" charset="0"/>
            </a:endParaRPr>
          </a:p>
        </p:txBody>
      </p:sp>
      <p:pic>
        <p:nvPicPr>
          <p:cNvPr id="8908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6024" y="1171399"/>
            <a:ext cx="3507474" cy="13670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90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4731" y="2419350"/>
            <a:ext cx="3829335" cy="443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90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1195" y="3877244"/>
            <a:ext cx="1413934" cy="9388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13340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18</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8806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882" y="0"/>
            <a:ext cx="3776378" cy="23044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80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96" y="2005368"/>
            <a:ext cx="5545538" cy="48526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80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2834" y="133705"/>
            <a:ext cx="2838735" cy="3743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64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1737" y="614044"/>
            <a:ext cx="3266363" cy="1727721"/>
          </a:xfrm>
          <a:prstGeom prst="rect">
            <a:avLst/>
          </a:prstGeom>
          <a:noFill/>
          <a:ln w="38100">
            <a:solidFill>
              <a:schemeClr val="accent2">
                <a:lumMod val="60000"/>
                <a:lumOff val="40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3" name="Right Arrow 2"/>
          <p:cNvSpPr/>
          <p:nvPr/>
        </p:nvSpPr>
        <p:spPr>
          <a:xfrm rot="18644567">
            <a:off x="4872252" y="3481536"/>
            <a:ext cx="862082" cy="4192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9933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6208" y="4057650"/>
            <a:ext cx="5845792" cy="275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Rectangle 17"/>
          <p:cNvSpPr/>
          <p:nvPr/>
        </p:nvSpPr>
        <p:spPr>
          <a:xfrm>
            <a:off x="8292017" y="2911058"/>
            <a:ext cx="3905802" cy="1200329"/>
          </a:xfrm>
          <a:prstGeom prst="rect">
            <a:avLst/>
          </a:prstGeom>
        </p:spPr>
        <p:txBody>
          <a:bodyPr wrap="square">
            <a:spAutoFit/>
          </a:bodyPr>
          <a:lstStyle/>
          <a:p>
            <a:pPr algn="just"/>
            <a:r>
              <a:rPr lang="bg-BG" i="1" dirty="0" smtClean="0"/>
              <a:t>Системата не се установява към стойност, а се колебае. За тези системи се казва, че са изпаднали в състояние на резонанс.</a:t>
            </a:r>
            <a:endParaRPr lang="bg-BG" dirty="0"/>
          </a:p>
        </p:txBody>
      </p:sp>
    </p:spTree>
    <p:extLst>
      <p:ext uri="{BB962C8B-B14F-4D97-AF65-F5344CB8AC3E}">
        <p14:creationId xmlns:p14="http://schemas.microsoft.com/office/powerpoint/2010/main" val="20813340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4736" y="785885"/>
            <a:ext cx="4830895" cy="16618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p:txBody>
          <a:bodyPr/>
          <a:lstStyle/>
          <a:p>
            <a:fld id="{081674E5-CD74-4638-A238-012A517DC16A}" type="slidenum">
              <a:rPr lang="bg-BG" smtClean="0"/>
              <a:t>19</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12"/>
          <p:cNvSpPr/>
          <p:nvPr/>
        </p:nvSpPr>
        <p:spPr>
          <a:xfrm>
            <a:off x="2188190" y="154077"/>
            <a:ext cx="9821839" cy="1052596"/>
          </a:xfrm>
          <a:prstGeom prst="rect">
            <a:avLst/>
          </a:prstGeom>
        </p:spPr>
        <p:txBody>
          <a:bodyPr wrap="square">
            <a:spAutoFit/>
          </a:bodyPr>
          <a:lstStyle/>
          <a:p>
            <a:pPr lvl="0" fontAlgn="base">
              <a:lnSpc>
                <a:spcPct val="130000"/>
              </a:lnSpc>
              <a:spcBef>
                <a:spcPct val="0"/>
              </a:spcBef>
              <a:spcAft>
                <a:spcPct val="0"/>
              </a:spcAft>
            </a:pPr>
            <a:r>
              <a:rPr lang="bg-BG" altLang="bg-BG" sz="2400" b="1" dirty="0">
                <a:ea typeface="Times New Roman" pitchFamily="18" charset="0"/>
                <a:cs typeface="Arial" pitchFamily="34" charset="0"/>
              </a:rPr>
              <a:t>Пример </a:t>
            </a:r>
            <a:r>
              <a:rPr lang="bg-BG" altLang="bg-BG" sz="2400" b="1" dirty="0" smtClean="0">
                <a:ea typeface="Times New Roman" pitchFamily="18" charset="0"/>
                <a:cs typeface="Arial" pitchFamily="34" charset="0"/>
              </a:rPr>
              <a:t>5. </a:t>
            </a:r>
            <a:r>
              <a:rPr lang="bg-BG" altLang="bg-BG" sz="2400" dirty="0">
                <a:ea typeface="Times New Roman" pitchFamily="18" charset="0"/>
                <a:cs typeface="Arial" pitchFamily="34" charset="0"/>
              </a:rPr>
              <a:t>С помощта на обратно Лапласово преобразувание</a:t>
            </a:r>
            <a:r>
              <a:rPr lang="bg-BG" altLang="bg-BG" sz="2400" dirty="0" smtClean="0">
                <a:ea typeface="Times New Roman" pitchFamily="18" charset="0"/>
                <a:cs typeface="Arial" pitchFamily="34" charset="0"/>
              </a:rPr>
              <a:t> </a:t>
            </a:r>
            <a:r>
              <a:rPr lang="bg-BG" altLang="bg-BG" sz="2400" dirty="0">
                <a:ea typeface="Times New Roman" pitchFamily="18" charset="0"/>
                <a:cs typeface="Arial" pitchFamily="34" charset="0"/>
              </a:rPr>
              <a:t>да се определи y(t) от следната блокова схема:</a:t>
            </a:r>
            <a:endParaRPr lang="en-US" altLang="bg-BG" sz="2400" dirty="0">
              <a:ea typeface="Times New Roman" pitchFamily="18" charset="0"/>
              <a:cs typeface="Arial" pitchFamily="34" charset="0"/>
            </a:endParaRPr>
          </a:p>
        </p:txBody>
      </p:sp>
      <p:pic>
        <p:nvPicPr>
          <p:cNvPr id="1003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7" y="2267090"/>
            <a:ext cx="8827664" cy="45909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858983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20</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1013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9052" y="0"/>
            <a:ext cx="5162550" cy="42990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13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7403" y="3807725"/>
            <a:ext cx="5504597" cy="3050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ight Arrow 2"/>
          <p:cNvSpPr/>
          <p:nvPr/>
        </p:nvSpPr>
        <p:spPr>
          <a:xfrm>
            <a:off x="6346209" y="3807723"/>
            <a:ext cx="504967" cy="3411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10858983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21</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1024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9011" y="0"/>
            <a:ext cx="8212470" cy="4230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3832" y="4333164"/>
            <a:ext cx="3981414" cy="25248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0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1110" y="4278572"/>
            <a:ext cx="3952876" cy="2579427"/>
          </a:xfrm>
          <a:prstGeom prst="rect">
            <a:avLst/>
          </a:prstGeom>
          <a:noFill/>
          <a:ln w="28575">
            <a:solidFill>
              <a:schemeClr val="accent2">
                <a:lumMod val="60000"/>
                <a:lumOff val="40000"/>
              </a:schemeClr>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0858983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22</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1034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586" y="263999"/>
            <a:ext cx="5870544" cy="26975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5129" y="156948"/>
            <a:ext cx="3952876" cy="2579427"/>
          </a:xfrm>
          <a:prstGeom prst="rect">
            <a:avLst/>
          </a:prstGeom>
          <a:noFill/>
          <a:ln w="28575">
            <a:solidFill>
              <a:schemeClr val="accent2">
                <a:lumMod val="60000"/>
                <a:lumOff val="40000"/>
              </a:schemeClr>
            </a:solidFill>
            <a:miter lim="800000"/>
            <a:headEnd/>
            <a:tailEnd/>
          </a:ln>
          <a:extLst>
            <a:ext uri="{909E8E84-426E-40DD-AFC4-6F175D3DCCD1}">
              <a14:hiddenFill xmlns:a14="http://schemas.microsoft.com/office/drawing/2010/main">
                <a:solidFill>
                  <a:schemeClr val="accent1"/>
                </a:solidFill>
              </a14:hiddenFill>
            </a:ext>
          </a:extLst>
        </p:spPr>
      </p:pic>
      <p:pic>
        <p:nvPicPr>
          <p:cNvPr id="1034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8108" y="3616657"/>
            <a:ext cx="6007022" cy="3241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589830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2FE0A421B3E24B9DDFC266E10EBE04" ma:contentTypeVersion="3" ma:contentTypeDescription="Create a new document." ma:contentTypeScope="" ma:versionID="dcbf987a481103226c3ec987ed9307fb">
  <xsd:schema xmlns:xsd="http://www.w3.org/2001/XMLSchema" xmlns:xs="http://www.w3.org/2001/XMLSchema" xmlns:p="http://schemas.microsoft.com/office/2006/metadata/properties" xmlns:ns2="410f8adb-773f-4384-aa9e-8e184e0fd10d" targetNamespace="http://schemas.microsoft.com/office/2006/metadata/properties" ma:root="true" ma:fieldsID="a897376146d62393c4daa3471ee89d00" ns2:_="">
    <xsd:import namespace="410f8adb-773f-4384-aa9e-8e184e0fd10d"/>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0f8adb-773f-4384-aa9e-8e184e0fd1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5B7EB6F-5D02-4895-A6CE-F17123BD97B6}"/>
</file>

<file path=customXml/itemProps2.xml><?xml version="1.0" encoding="utf-8"?>
<ds:datastoreItem xmlns:ds="http://schemas.openxmlformats.org/officeDocument/2006/customXml" ds:itemID="{9DA1CDC3-672F-4CC6-8644-CFC92C45E643}"/>
</file>

<file path=customXml/itemProps3.xml><?xml version="1.0" encoding="utf-8"?>
<ds:datastoreItem xmlns:ds="http://schemas.openxmlformats.org/officeDocument/2006/customXml" ds:itemID="{1BD0B720-A909-4CE8-9737-A962DC908AE7}"/>
</file>

<file path=docProps/app.xml><?xml version="1.0" encoding="utf-8"?>
<Properties xmlns="http://schemas.openxmlformats.org/officeDocument/2006/extended-properties" xmlns:vt="http://schemas.openxmlformats.org/officeDocument/2006/docPropsVTypes">
  <Template>Wood Type</Template>
  <TotalTime>12603</TotalTime>
  <Words>538</Words>
  <Application>Microsoft Office PowerPoint</Application>
  <PresentationFormat>Widescreen</PresentationFormat>
  <Paragraphs>77</Paragraphs>
  <Slides>22</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22</vt:i4>
      </vt:variant>
    </vt:vector>
  </HeadingPairs>
  <TitlesOfParts>
    <vt:vector size="33" baseType="lpstr">
      <vt:lpstr>Arial</vt:lpstr>
      <vt:lpstr>Calibri</vt:lpstr>
      <vt:lpstr>Cambria</vt:lpstr>
      <vt:lpstr>Cambria Math</vt:lpstr>
      <vt:lpstr>Rockwell</vt:lpstr>
      <vt:lpstr>Rockwell Condensed</vt:lpstr>
      <vt:lpstr>Times New Roman</vt:lpstr>
      <vt:lpstr>Wingdings</vt:lpstr>
      <vt:lpstr>Wood Type</vt:lpstr>
      <vt:lpstr>Equation</vt:lpstr>
      <vt:lpstr>Microsoft Equation 3.0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Organization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СИСТЕМЕН АНАЛИЗ</dc:title>
  <dc:creator>Windows User</dc:creator>
  <cp:lastModifiedBy>Maya</cp:lastModifiedBy>
  <cp:revision>351</cp:revision>
  <cp:lastPrinted>2022-11-16T09:11:13Z</cp:lastPrinted>
  <dcterms:created xsi:type="dcterms:W3CDTF">2022-08-03T05:13:19Z</dcterms:created>
  <dcterms:modified xsi:type="dcterms:W3CDTF">2022-12-16T14:34:34Z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0x010100452FE0A421B3E24B9DDFC266E10EBE04</vt:lpwstr>
  </property>
</Properties>
</file>
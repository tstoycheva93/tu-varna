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5"/>
  </p:notesMasterIdLst>
  <p:handoutMasterIdLst>
    <p:handoutMasterId r:id="rId46"/>
  </p:handoutMasterIdLst>
  <p:sldIdLst>
    <p:sldId id="256" r:id="rId5"/>
    <p:sldId id="305" r:id="rId6"/>
    <p:sldId id="306" r:id="rId7"/>
    <p:sldId id="261" r:id="rId8"/>
    <p:sldId id="263" r:id="rId9"/>
    <p:sldId id="262" r:id="rId10"/>
    <p:sldId id="265" r:id="rId11"/>
    <p:sldId id="295" r:id="rId12"/>
    <p:sldId id="266" r:id="rId13"/>
    <p:sldId id="267" r:id="rId14"/>
    <p:sldId id="296" r:id="rId15"/>
    <p:sldId id="297" r:id="rId16"/>
    <p:sldId id="298" r:id="rId17"/>
    <p:sldId id="269" r:id="rId18"/>
    <p:sldId id="299" r:id="rId19"/>
    <p:sldId id="270" r:id="rId20"/>
    <p:sldId id="271" r:id="rId21"/>
    <p:sldId id="272" r:id="rId22"/>
    <p:sldId id="273" r:id="rId23"/>
    <p:sldId id="274" r:id="rId24"/>
    <p:sldId id="300" r:id="rId25"/>
    <p:sldId id="275" r:id="rId26"/>
    <p:sldId id="276" r:id="rId27"/>
    <p:sldId id="277" r:id="rId28"/>
    <p:sldId id="278" r:id="rId29"/>
    <p:sldId id="279" r:id="rId30"/>
    <p:sldId id="280" r:id="rId31"/>
    <p:sldId id="301" r:id="rId32"/>
    <p:sldId id="281" r:id="rId33"/>
    <p:sldId id="282" r:id="rId34"/>
    <p:sldId id="283" r:id="rId35"/>
    <p:sldId id="284" r:id="rId36"/>
    <p:sldId id="285" r:id="rId37"/>
    <p:sldId id="286" r:id="rId38"/>
    <p:sldId id="288" r:id="rId39"/>
    <p:sldId id="289" r:id="rId40"/>
    <p:sldId id="302" r:id="rId41"/>
    <p:sldId id="303" r:id="rId42"/>
    <p:sldId id="291" r:id="rId43"/>
    <p:sldId id="292" r:id="rId44"/>
  </p:sldIdLst>
  <p:sldSz cx="12192000" cy="6858000"/>
  <p:notesSz cx="6954838" cy="93091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40" autoAdjust="0"/>
    <p:restoredTop sz="78133" autoAdjust="0"/>
  </p:normalViewPr>
  <p:slideViewPr>
    <p:cSldViewPr snapToGrid="0">
      <p:cViewPr varScale="1">
        <p:scale>
          <a:sx n="76" d="100"/>
          <a:sy n="76" d="100"/>
        </p:scale>
        <p:origin x="-120" y="-192"/>
      </p:cViewPr>
      <p:guideLst>
        <p:guide orient="horz" pos="2160"/>
        <p:guide pos="3840"/>
      </p:guideLst>
    </p:cSldViewPr>
  </p:slideViewPr>
  <p:notesTextViewPr>
    <p:cViewPr>
      <p:scale>
        <a:sx n="75" d="100"/>
        <a:sy n="75" d="100"/>
      </p:scale>
      <p:origin x="0" y="0"/>
    </p:cViewPr>
  </p:notesTextViewPr>
  <p:sorterViewPr>
    <p:cViewPr>
      <p:scale>
        <a:sx n="100" d="100"/>
        <a:sy n="100" d="100"/>
      </p:scale>
      <p:origin x="0" y="0"/>
    </p:cViewPr>
  </p:sorterViewPr>
  <p:notesViewPr>
    <p:cSldViewPr snapToGrid="0">
      <p:cViewPr varScale="1">
        <p:scale>
          <a:sx n="66" d="100"/>
          <a:sy n="66" d="100"/>
        </p:scale>
        <p:origin x="323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Мая Тодорова" userId="S::maya.todorova@tu-varna.bg::b8f1e6db-b241-4f27-bbb2-32e659472542" providerId="AD" clId="Web-{6479BB82-5AA8-3A5F-7FC6-C62C2B4B34AC}"/>
    <pc:docChg chg="modSld">
      <pc:chgData name="Мая Тодорова" userId="S::maya.todorova@tu-varna.bg::b8f1e6db-b241-4f27-bbb2-32e659472542" providerId="AD" clId="Web-{6479BB82-5AA8-3A5F-7FC6-C62C2B4B34AC}" dt="2024-01-08T06:38:05.537" v="11"/>
      <pc:docMkLst>
        <pc:docMk/>
      </pc:docMkLst>
      <pc:sldChg chg="modNotes">
        <pc:chgData name="Мая Тодорова" userId="S::maya.todorova@tu-varna.bg::b8f1e6db-b241-4f27-bbb2-32e659472542" providerId="AD" clId="Web-{6479BB82-5AA8-3A5F-7FC6-C62C2B4B34AC}" dt="2024-01-08T06:38:05.537" v="11"/>
        <pc:sldMkLst>
          <pc:docMk/>
          <pc:sldMk cId="2432293669" sldId="25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bg-BG" dirty="0"/>
          </a:p>
        </p:txBody>
      </p:sp>
      <p:sp>
        <p:nvSpPr>
          <p:cNvPr id="3" name="Date Placeholder 2"/>
          <p:cNvSpPr>
            <a:spLocks noGrp="1"/>
          </p:cNvSpPr>
          <p:nvPr>
            <p:ph type="dt" sz="quarter" idx="1"/>
          </p:nvPr>
        </p:nvSpPr>
        <p:spPr>
          <a:xfrm>
            <a:off x="3939466" y="0"/>
            <a:ext cx="3013763" cy="467072"/>
          </a:xfrm>
          <a:prstGeom prst="rect">
            <a:avLst/>
          </a:prstGeom>
        </p:spPr>
        <p:txBody>
          <a:bodyPr vert="horz" lIns="92930" tIns="46465" rIns="92930" bIns="46465" rtlCol="0"/>
          <a:lstStyle>
            <a:lvl1pPr algn="r">
              <a:defRPr sz="1200"/>
            </a:lvl1pPr>
          </a:lstStyle>
          <a:p>
            <a:fld id="{62DAF501-497E-4319-B484-C5A85BB3EFD3}" type="datetimeFigureOut">
              <a:rPr lang="bg-BG" smtClean="0"/>
              <a:t>7.1.2024 г.</a:t>
            </a:fld>
            <a:endParaRPr lang="bg-BG" dirty="0"/>
          </a:p>
        </p:txBody>
      </p:sp>
      <p:sp>
        <p:nvSpPr>
          <p:cNvPr id="4" name="Footer Placeholder 3"/>
          <p:cNvSpPr>
            <a:spLocks noGrp="1"/>
          </p:cNvSpPr>
          <p:nvPr>
            <p:ph type="ftr" sz="quarter" idx="2"/>
          </p:nvPr>
        </p:nvSpPr>
        <p:spPr>
          <a:xfrm>
            <a:off x="0" y="8842030"/>
            <a:ext cx="3013763" cy="467071"/>
          </a:xfrm>
          <a:prstGeom prst="rect">
            <a:avLst/>
          </a:prstGeom>
        </p:spPr>
        <p:txBody>
          <a:bodyPr vert="horz" lIns="92930" tIns="46465" rIns="92930" bIns="46465" rtlCol="0" anchor="b"/>
          <a:lstStyle>
            <a:lvl1pPr algn="l">
              <a:defRPr sz="1200"/>
            </a:lvl1pPr>
          </a:lstStyle>
          <a:p>
            <a:endParaRPr lang="bg-BG" dirty="0"/>
          </a:p>
        </p:txBody>
      </p:sp>
      <p:sp>
        <p:nvSpPr>
          <p:cNvPr id="5" name="Slide Number Placeholder 4"/>
          <p:cNvSpPr>
            <a:spLocks noGrp="1"/>
          </p:cNvSpPr>
          <p:nvPr>
            <p:ph type="sldNum" sz="quarter" idx="3"/>
          </p:nvPr>
        </p:nvSpPr>
        <p:spPr>
          <a:xfrm>
            <a:off x="3939466" y="8842030"/>
            <a:ext cx="3013763" cy="467071"/>
          </a:xfrm>
          <a:prstGeom prst="rect">
            <a:avLst/>
          </a:prstGeom>
        </p:spPr>
        <p:txBody>
          <a:bodyPr vert="horz" lIns="92930" tIns="46465" rIns="92930" bIns="46465" rtlCol="0" anchor="b"/>
          <a:lstStyle>
            <a:lvl1pPr algn="r">
              <a:defRPr sz="1200"/>
            </a:lvl1pPr>
          </a:lstStyle>
          <a:p>
            <a:fld id="{335249C7-B5B2-4541-A187-B12F42083CB5}" type="slidenum">
              <a:rPr lang="bg-BG" smtClean="0"/>
              <a:t>‹#›</a:t>
            </a:fld>
            <a:endParaRPr lang="bg-BG" dirty="0"/>
          </a:p>
        </p:txBody>
      </p:sp>
    </p:spTree>
    <p:extLst>
      <p:ext uri="{BB962C8B-B14F-4D97-AF65-F5344CB8AC3E}">
        <p14:creationId xmlns:p14="http://schemas.microsoft.com/office/powerpoint/2010/main" val="38732489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bg-BG" dirty="0"/>
          </a:p>
        </p:txBody>
      </p:sp>
      <p:sp>
        <p:nvSpPr>
          <p:cNvPr id="3" name="Date Placeholder 2"/>
          <p:cNvSpPr>
            <a:spLocks noGrp="1"/>
          </p:cNvSpPr>
          <p:nvPr>
            <p:ph type="dt" idx="1"/>
          </p:nvPr>
        </p:nvSpPr>
        <p:spPr>
          <a:xfrm>
            <a:off x="3939466" y="0"/>
            <a:ext cx="3013763" cy="467072"/>
          </a:xfrm>
          <a:prstGeom prst="rect">
            <a:avLst/>
          </a:prstGeom>
        </p:spPr>
        <p:txBody>
          <a:bodyPr vert="horz" lIns="92930" tIns="46465" rIns="92930" bIns="46465" rtlCol="0"/>
          <a:lstStyle>
            <a:lvl1pPr algn="r">
              <a:defRPr sz="1200"/>
            </a:lvl1pPr>
          </a:lstStyle>
          <a:p>
            <a:fld id="{72A934B3-15CF-49D7-9C90-2FBDF446DA56}" type="datetimeFigureOut">
              <a:rPr lang="bg-BG" smtClean="0"/>
              <a:t>7.1.2024 г.</a:t>
            </a:fld>
            <a:endParaRPr lang="bg-BG" dirty="0"/>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endParaRPr lang="bg-BG" dirty="0"/>
          </a:p>
        </p:txBody>
      </p:sp>
      <p:sp>
        <p:nvSpPr>
          <p:cNvPr id="5" name="Notes Placeholder 4"/>
          <p:cNvSpPr>
            <a:spLocks noGrp="1"/>
          </p:cNvSpPr>
          <p:nvPr>
            <p:ph type="body" sz="quarter" idx="3"/>
          </p:nvPr>
        </p:nvSpPr>
        <p:spPr>
          <a:xfrm>
            <a:off x="695484" y="4480004"/>
            <a:ext cx="5563870" cy="3665458"/>
          </a:xfrm>
          <a:prstGeom prst="rect">
            <a:avLst/>
          </a:prstGeom>
        </p:spPr>
        <p:txBody>
          <a:bodyPr vert="horz" lIns="92930" tIns="46465" rIns="92930" bIns="4646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842030"/>
            <a:ext cx="3013763" cy="467071"/>
          </a:xfrm>
          <a:prstGeom prst="rect">
            <a:avLst/>
          </a:prstGeom>
        </p:spPr>
        <p:txBody>
          <a:bodyPr vert="horz" lIns="92930" tIns="46465" rIns="92930" bIns="46465" rtlCol="0" anchor="b"/>
          <a:lstStyle>
            <a:lvl1pPr algn="l">
              <a:defRPr sz="1200"/>
            </a:lvl1pPr>
          </a:lstStyle>
          <a:p>
            <a:endParaRPr lang="bg-BG" dirty="0"/>
          </a:p>
        </p:txBody>
      </p:sp>
      <p:sp>
        <p:nvSpPr>
          <p:cNvPr id="7" name="Slide Number Placeholder 6"/>
          <p:cNvSpPr>
            <a:spLocks noGrp="1"/>
          </p:cNvSpPr>
          <p:nvPr>
            <p:ph type="sldNum" sz="quarter" idx="5"/>
          </p:nvPr>
        </p:nvSpPr>
        <p:spPr>
          <a:xfrm>
            <a:off x="3939466" y="8842030"/>
            <a:ext cx="3013763" cy="467071"/>
          </a:xfrm>
          <a:prstGeom prst="rect">
            <a:avLst/>
          </a:prstGeom>
        </p:spPr>
        <p:txBody>
          <a:bodyPr vert="horz" lIns="92930" tIns="46465" rIns="92930" bIns="46465" rtlCol="0" anchor="b"/>
          <a:lstStyle>
            <a:lvl1pPr algn="r">
              <a:defRPr sz="1200"/>
            </a:lvl1pPr>
          </a:lstStyle>
          <a:p>
            <a:fld id="{5617F9B7-5110-4225-A395-C002DCB96977}" type="slidenum">
              <a:rPr lang="bg-BG" smtClean="0"/>
              <a:t>‹#›</a:t>
            </a:fld>
            <a:endParaRPr lang="bg-BG" dirty="0"/>
          </a:p>
        </p:txBody>
      </p:sp>
    </p:spTree>
    <p:extLst>
      <p:ext uri="{BB962C8B-B14F-4D97-AF65-F5344CB8AC3E}">
        <p14:creationId xmlns:p14="http://schemas.microsoft.com/office/powerpoint/2010/main" val="1772761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spcAft>
                <a:spcPts val="0"/>
              </a:spcAft>
            </a:pPr>
            <a:r>
              <a:rPr lang="bg-BG" sz="1200" dirty="0">
                <a:effectLst/>
                <a:latin typeface="+mn-lt"/>
                <a:ea typeface="Times New Roman"/>
                <a:cs typeface="Calibri"/>
              </a:rPr>
              <a:t>Литература</a:t>
            </a:r>
            <a:endParaRPr lang="bg-BG" sz="1200" dirty="0">
              <a:effectLst/>
              <a:latin typeface="Times New Roman"/>
              <a:ea typeface="Times New Roman"/>
            </a:endParaRPr>
          </a:p>
          <a:p>
            <a:pPr marL="342900" lvl="0" indent="-342900" algn="just">
              <a:lnSpc>
                <a:spcPct val="150000"/>
              </a:lnSpc>
              <a:spcAft>
                <a:spcPts val="0"/>
              </a:spcAft>
              <a:buSzPts val="1000"/>
              <a:buFont typeface="Times New Roman"/>
              <a:buAutoNum type="arabicPeriod"/>
            </a:pPr>
            <a:r>
              <a:rPr lang="bg-BG" sz="1200" u="none" strike="noStrike" dirty="0">
                <a:effectLst/>
                <a:latin typeface="+mn-lt"/>
                <a:ea typeface="Times New Roman"/>
                <a:cs typeface="Calibri"/>
              </a:rPr>
              <a:t>Николов Н., Генов Д., Системен анализ, Технически университет -Варна, 2009 г.</a:t>
            </a:r>
            <a:endParaRPr lang="bg-BG" sz="1200" u="none" strike="noStrike" dirty="0">
              <a:effectLst/>
              <a:latin typeface="Times New Roman"/>
              <a:ea typeface="Times New Roman"/>
            </a:endParaRPr>
          </a:p>
          <a:p>
            <a:pPr marL="342900" indent="-342900" algn="just">
              <a:lnSpc>
                <a:spcPct val="150000"/>
              </a:lnSpc>
              <a:buSzPts val="1000"/>
              <a:buFont typeface="Times New Roman"/>
              <a:buAutoNum type="arabicPeriod"/>
            </a:pPr>
            <a:r>
              <a:rPr lang="bg-BG" sz="1200" u="none" strike="noStrike">
                <a:effectLst/>
                <a:latin typeface="+mn-lt"/>
                <a:ea typeface="Times New Roman"/>
                <a:cs typeface="Calibri"/>
              </a:rPr>
              <a:t>Николов Н., Генов Д., Тодорова М., Иванова А., Системен анализ – ръководство за лабораторни упражнения, Технически университет -Варна, 2009 г.</a:t>
            </a:r>
            <a:endParaRPr lang="bg-BG"/>
          </a:p>
          <a:p>
            <a:pPr marL="342900" indent="-342900" algn="just">
              <a:lnSpc>
                <a:spcPct val="150000"/>
              </a:lnSpc>
              <a:buSzPts val="1000"/>
              <a:buAutoNum type="arabicPeriod"/>
            </a:pPr>
            <a:r>
              <a:rPr lang="bg-BG" dirty="0"/>
              <a:t>Иванова </a:t>
            </a:r>
            <a:r>
              <a:rPr lang="bg-BG" dirty="0" err="1"/>
              <a:t>Кр</a:t>
            </a:r>
            <a:r>
              <a:rPr lang="bg-BG" dirty="0"/>
              <a:t>., Атанасова Т., Линейно </a:t>
            </a:r>
            <a:r>
              <a:rPr lang="bg-BG" dirty="0" err="1"/>
              <a:t>оптимиране</a:t>
            </a:r>
            <a:r>
              <a:rPr lang="bg-BG" dirty="0"/>
              <a:t>, ВУТП – Издател, София, 2015</a:t>
            </a:r>
          </a:p>
          <a:p>
            <a:pPr marL="342900" indent="-342900" algn="just">
              <a:lnSpc>
                <a:spcPct val="150000"/>
              </a:lnSpc>
              <a:buSzPts val="1000"/>
              <a:buAutoNum type="arabicPeriod"/>
            </a:pPr>
            <a:r>
              <a:rPr lang="bg-BG" dirty="0"/>
              <a:t>Сотиров Л. Н., Теория на автоматичното управление, Част 1 /Теория на непрекъснатите  системи за автоматично управление/, Технически университет -Варна, 2000 г.</a:t>
            </a:r>
            <a:endParaRPr lang="bg-BG" dirty="0">
              <a:ea typeface="Calibri"/>
              <a:cs typeface="Calibri"/>
            </a:endParaRPr>
          </a:p>
          <a:p>
            <a:pPr marL="342900" lvl="0" indent="-342900" algn="just">
              <a:lnSpc>
                <a:spcPct val="150000"/>
              </a:lnSpc>
              <a:spcAft>
                <a:spcPts val="0"/>
              </a:spcAft>
              <a:buSzPts val="1000"/>
              <a:buAutoNum type="arabicPeriod"/>
            </a:pPr>
            <a:r>
              <a:rPr lang="bg-BG" dirty="0"/>
              <a:t>Сотиров Л. Н., Теория на автоматичното управление, Част 2 /Теория на дискретните системи за автоматично управление/, Технически университет -Варна, 2000 г.</a:t>
            </a:r>
            <a:endParaRPr lang="bg-BG" dirty="0">
              <a:ea typeface="Calibri"/>
              <a:cs typeface="Calibri"/>
            </a:endParaRPr>
          </a:p>
          <a:p>
            <a:pPr marL="342900" indent="-342900" algn="just">
              <a:lnSpc>
                <a:spcPct val="150000"/>
              </a:lnSpc>
              <a:buSzPts val="1000"/>
              <a:buAutoNum type="arabicPeriod"/>
            </a:pPr>
            <a:endParaRPr lang="bg-BG" dirty="0">
              <a:latin typeface="Calibri"/>
              <a:ea typeface="Times New Roman"/>
              <a:cs typeface="Calibri"/>
            </a:endParaRPr>
          </a:p>
        </p:txBody>
      </p:sp>
      <p:sp>
        <p:nvSpPr>
          <p:cNvPr id="4" name="Slide Number Placeholder 3"/>
          <p:cNvSpPr>
            <a:spLocks noGrp="1"/>
          </p:cNvSpPr>
          <p:nvPr>
            <p:ph type="sldNum" sz="quarter" idx="10"/>
          </p:nvPr>
        </p:nvSpPr>
        <p:spPr/>
        <p:txBody>
          <a:bodyPr/>
          <a:lstStyle/>
          <a:p>
            <a:fld id="{5617F9B7-5110-4225-A395-C002DCB96977}" type="slidenum">
              <a:rPr lang="bg-BG" smtClean="0"/>
              <a:t>1</a:t>
            </a:fld>
            <a:endParaRPr lang="bg-BG" dirty="0"/>
          </a:p>
        </p:txBody>
      </p:sp>
    </p:spTree>
    <p:extLst>
      <p:ext uri="{BB962C8B-B14F-4D97-AF65-F5344CB8AC3E}">
        <p14:creationId xmlns:p14="http://schemas.microsoft.com/office/powerpoint/2010/main" val="3899418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a:t>
            </a:fld>
            <a:endParaRPr lang="bg-BG" dirty="0"/>
          </a:p>
        </p:txBody>
      </p:sp>
    </p:spTree>
    <p:extLst>
      <p:ext uri="{BB962C8B-B14F-4D97-AF65-F5344CB8AC3E}">
        <p14:creationId xmlns:p14="http://schemas.microsoft.com/office/powerpoint/2010/main" val="908648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a:t>
            </a:fld>
            <a:endParaRPr lang="bg-BG" dirty="0"/>
          </a:p>
        </p:txBody>
      </p:sp>
    </p:spTree>
    <p:extLst>
      <p:ext uri="{BB962C8B-B14F-4D97-AF65-F5344CB8AC3E}">
        <p14:creationId xmlns:p14="http://schemas.microsoft.com/office/powerpoint/2010/main" val="1110823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bg-BG" sz="1600" kern="1200" dirty="0">
                <a:solidFill>
                  <a:schemeClr val="tx1"/>
                </a:solidFill>
                <a:effectLst/>
                <a:latin typeface="+mn-lt"/>
                <a:ea typeface="+mn-ea"/>
                <a:cs typeface="+mn-cs"/>
              </a:rPr>
              <a:t>. </a:t>
            </a:r>
          </a:p>
          <a:p>
            <a:endParaRPr lang="bg-BG" sz="1600" dirty="0"/>
          </a:p>
        </p:txBody>
      </p:sp>
      <p:sp>
        <p:nvSpPr>
          <p:cNvPr id="4" name="Slide Number Placeholder 3"/>
          <p:cNvSpPr>
            <a:spLocks noGrp="1"/>
          </p:cNvSpPr>
          <p:nvPr>
            <p:ph type="sldNum" sz="quarter" idx="10"/>
          </p:nvPr>
        </p:nvSpPr>
        <p:spPr/>
        <p:txBody>
          <a:bodyPr/>
          <a:lstStyle/>
          <a:p>
            <a:fld id="{5617F9B7-5110-4225-A395-C002DCB96977}" type="slidenum">
              <a:rPr lang="bg-BG" smtClean="0"/>
              <a:t>7</a:t>
            </a:fld>
            <a:endParaRPr lang="bg-BG" dirty="0"/>
          </a:p>
        </p:txBody>
      </p:sp>
    </p:spTree>
    <p:extLst>
      <p:ext uri="{BB962C8B-B14F-4D97-AF65-F5344CB8AC3E}">
        <p14:creationId xmlns:p14="http://schemas.microsoft.com/office/powerpoint/2010/main" val="1806913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8</a:t>
            </a:fld>
            <a:endParaRPr lang="bg-BG" dirty="0"/>
          </a:p>
        </p:txBody>
      </p:sp>
    </p:spTree>
    <p:extLst>
      <p:ext uri="{BB962C8B-B14F-4D97-AF65-F5344CB8AC3E}">
        <p14:creationId xmlns:p14="http://schemas.microsoft.com/office/powerpoint/2010/main" val="2990014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9</a:t>
            </a:fld>
            <a:endParaRPr lang="bg-BG" dirty="0"/>
          </a:p>
        </p:txBody>
      </p:sp>
    </p:spTree>
    <p:extLst>
      <p:ext uri="{BB962C8B-B14F-4D97-AF65-F5344CB8AC3E}">
        <p14:creationId xmlns:p14="http://schemas.microsoft.com/office/powerpoint/2010/main" val="3814579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11</a:t>
            </a:fld>
            <a:endParaRPr lang="bg-BG" dirty="0"/>
          </a:p>
        </p:txBody>
      </p:sp>
    </p:spTree>
    <p:extLst>
      <p:ext uri="{BB962C8B-B14F-4D97-AF65-F5344CB8AC3E}">
        <p14:creationId xmlns:p14="http://schemas.microsoft.com/office/powerpoint/2010/main" val="2344923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12</a:t>
            </a:fld>
            <a:endParaRPr lang="bg-BG" dirty="0"/>
          </a:p>
        </p:txBody>
      </p:sp>
    </p:spTree>
    <p:extLst>
      <p:ext uri="{BB962C8B-B14F-4D97-AF65-F5344CB8AC3E}">
        <p14:creationId xmlns:p14="http://schemas.microsoft.com/office/powerpoint/2010/main" val="520302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13</a:t>
            </a:fld>
            <a:endParaRPr lang="bg-BG" dirty="0"/>
          </a:p>
        </p:txBody>
      </p:sp>
    </p:spTree>
    <p:extLst>
      <p:ext uri="{BB962C8B-B14F-4D97-AF65-F5344CB8AC3E}">
        <p14:creationId xmlns:p14="http://schemas.microsoft.com/office/powerpoint/2010/main" val="2390392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15</a:t>
            </a:fld>
            <a:endParaRPr lang="bg-BG" dirty="0"/>
          </a:p>
        </p:txBody>
      </p:sp>
    </p:spTree>
    <p:extLst>
      <p:ext uri="{BB962C8B-B14F-4D97-AF65-F5344CB8AC3E}">
        <p14:creationId xmlns:p14="http://schemas.microsoft.com/office/powerpoint/2010/main" val="20553714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17</a:t>
            </a:fld>
            <a:endParaRPr lang="bg-BG" dirty="0"/>
          </a:p>
        </p:txBody>
      </p:sp>
    </p:spTree>
    <p:extLst>
      <p:ext uri="{BB962C8B-B14F-4D97-AF65-F5344CB8AC3E}">
        <p14:creationId xmlns:p14="http://schemas.microsoft.com/office/powerpoint/2010/main" val="39189498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21</a:t>
            </a:fld>
            <a:endParaRPr lang="bg-BG" dirty="0"/>
          </a:p>
        </p:txBody>
      </p:sp>
    </p:spTree>
    <p:extLst>
      <p:ext uri="{BB962C8B-B14F-4D97-AF65-F5344CB8AC3E}">
        <p14:creationId xmlns:p14="http://schemas.microsoft.com/office/powerpoint/2010/main" val="2011493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28</a:t>
            </a:fld>
            <a:endParaRPr lang="bg-BG" dirty="0"/>
          </a:p>
        </p:txBody>
      </p:sp>
    </p:spTree>
    <p:extLst>
      <p:ext uri="{BB962C8B-B14F-4D97-AF65-F5344CB8AC3E}">
        <p14:creationId xmlns:p14="http://schemas.microsoft.com/office/powerpoint/2010/main" val="226118500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6A666B-2F7D-4199-A5CF-D1399F06B5CC}" type="datetime1">
              <a:rPr lang="bg-BG" smtClean="0"/>
              <a:t>7.1.2024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213164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EF8BD3-AC58-47F1-B591-69906B5D74CE}" type="datetime1">
              <a:rPr lang="bg-BG" smtClean="0"/>
              <a:t>7.1.2024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518441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46564442-4F9C-4117-9AC9-3C912B6DAF6E}" type="datetime1">
              <a:rPr lang="bg-BG" smtClean="0"/>
              <a:t>7.1.2024 г.</a:t>
            </a:fld>
            <a:endParaRPr lang="bg-BG" dirty="0"/>
          </a:p>
        </p:txBody>
      </p:sp>
      <p:sp>
        <p:nvSpPr>
          <p:cNvPr id="5" name="Footer Placeholder 4"/>
          <p:cNvSpPr>
            <a:spLocks noGrp="1"/>
          </p:cNvSpPr>
          <p:nvPr>
            <p:ph type="ftr" sz="quarter" idx="11"/>
          </p:nvPr>
        </p:nvSpPr>
        <p:spPr>
          <a:xfrm>
            <a:off x="2182708" y="6272784"/>
            <a:ext cx="6327648" cy="365125"/>
          </a:xfrm>
        </p:spPr>
        <p:txBody>
          <a:bodyPr/>
          <a:lstStyle/>
          <a:p>
            <a:endParaRPr lang="bg-BG"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1745476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72E6C9-D462-4DF8-8A5B-084EF99FCB92}" type="datetime1">
              <a:rPr lang="bg-BG" smtClean="0"/>
              <a:t>7.1.2024 г.</a:t>
            </a:fld>
            <a:endParaRPr lang="bg-BG" dirty="0"/>
          </a:p>
        </p:txBody>
      </p:sp>
      <p:sp>
        <p:nvSpPr>
          <p:cNvPr id="6" name="Footer Placeholder 5"/>
          <p:cNvSpPr>
            <a:spLocks noGrp="1"/>
          </p:cNvSpPr>
          <p:nvPr>
            <p:ph type="ftr" sz="quarter" idx="11"/>
          </p:nvPr>
        </p:nvSpPr>
        <p:spPr/>
        <p:txBody>
          <a:bodyPr/>
          <a:lstStyle/>
          <a:p>
            <a:endParaRPr lang="bg-BG" dirty="0"/>
          </a:p>
        </p:txBody>
      </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06091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EB004C-1449-4E25-B641-5BE18784B024}" type="datetime1">
              <a:rPr lang="bg-BG" smtClean="0"/>
              <a:t>7.1.2024 г.</a:t>
            </a:fld>
            <a:endParaRPr lang="bg-BG" dirty="0"/>
          </a:p>
        </p:txBody>
      </p:sp>
      <p:sp>
        <p:nvSpPr>
          <p:cNvPr id="8" name="Footer Placeholder 7"/>
          <p:cNvSpPr>
            <a:spLocks noGrp="1"/>
          </p:cNvSpPr>
          <p:nvPr>
            <p:ph type="ftr" sz="quarter" idx="11"/>
          </p:nvPr>
        </p:nvSpPr>
        <p:spPr/>
        <p:txBody>
          <a:bodyPr/>
          <a:lstStyle/>
          <a:p>
            <a:endParaRPr lang="bg-BG" dirty="0"/>
          </a:p>
        </p:txBody>
      </p:sp>
      <p:sp>
        <p:nvSpPr>
          <p:cNvPr id="9" name="Slide Number Placeholder 8"/>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598907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BC1725-AB21-4845-BE49-CE8C42164743}" type="datetime1">
              <a:rPr lang="bg-BG" smtClean="0"/>
              <a:t>7.1.2024 г.</a:t>
            </a:fld>
            <a:endParaRPr lang="bg-BG" dirty="0"/>
          </a:p>
        </p:txBody>
      </p:sp>
      <p:sp>
        <p:nvSpPr>
          <p:cNvPr id="4" name="Footer Placeholder 3"/>
          <p:cNvSpPr>
            <a:spLocks noGrp="1"/>
          </p:cNvSpPr>
          <p:nvPr>
            <p:ph type="ftr" sz="quarter" idx="11"/>
          </p:nvPr>
        </p:nvSpPr>
        <p:spPr/>
        <p:txBody>
          <a:bodyPr/>
          <a:lstStyle/>
          <a:p>
            <a:endParaRPr lang="bg-BG" dirty="0"/>
          </a:p>
        </p:txBody>
      </p:sp>
      <p:sp>
        <p:nvSpPr>
          <p:cNvPr id="5" name="Slide Number Placeholder 4"/>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053536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87940C-92A6-42D4-A0AE-8AE229120CFF}" type="datetime1">
              <a:rPr lang="bg-BG" smtClean="0"/>
              <a:t>7.1.2024 г.</a:t>
            </a:fld>
            <a:endParaRPr lang="bg-BG" dirty="0"/>
          </a:p>
        </p:txBody>
      </p:sp>
      <p:sp>
        <p:nvSpPr>
          <p:cNvPr id="3" name="Footer Placeholder 2"/>
          <p:cNvSpPr>
            <a:spLocks noGrp="1"/>
          </p:cNvSpPr>
          <p:nvPr>
            <p:ph type="ftr" sz="quarter" idx="11"/>
          </p:nvPr>
        </p:nvSpPr>
        <p:spPr/>
        <p:txBody>
          <a:bodyPr/>
          <a:lstStyle/>
          <a:p>
            <a:endParaRPr lang="bg-BG" dirty="0"/>
          </a:p>
        </p:txBody>
      </p:sp>
      <p:sp>
        <p:nvSpPr>
          <p:cNvPr id="4" name="Slide Number Placeholder 3"/>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13051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64F04CA-5B7E-4437-926E-A34999B7E6C0}" type="datetime1">
              <a:rPr lang="bg-BG" smtClean="0"/>
              <a:t>7.1.2024 г.</a:t>
            </a:fld>
            <a:endParaRPr lang="bg-BG" dirty="0"/>
          </a:p>
        </p:txBody>
      </p:sp>
      <p:sp>
        <p:nvSpPr>
          <p:cNvPr id="6" name="Footer Placeholder 5"/>
          <p:cNvSpPr>
            <a:spLocks noGrp="1"/>
          </p:cNvSpPr>
          <p:nvPr>
            <p:ph type="ftr" sz="quarter" idx="11"/>
          </p:nvPr>
        </p:nvSpPr>
        <p:spPr/>
        <p:txBody>
          <a:bodyPr/>
          <a:lstStyle/>
          <a:p>
            <a:endParaRPr lang="bg-BG"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283409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6DBFFBA-50AA-4558-ADC7-8C8BF6C03621}" type="datetime1">
              <a:rPr lang="bg-BG" smtClean="0"/>
              <a:t>7.1.2024 г.</a:t>
            </a:fld>
            <a:endParaRPr lang="bg-BG"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1287546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C901CF-14B7-42BE-8693-1C6A365ED97B}" type="datetime1">
              <a:rPr lang="bg-BG" smtClean="0"/>
              <a:t>7.1.2024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282757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1A9374-CC8C-4027-8C9C-D37ED427A6AE}" type="datetime1">
              <a:rPr lang="bg-BG" smtClean="0"/>
              <a:t>7.1.2024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1299534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DC22829-1A03-43BA-AD1C-84AE46C99B1D}" type="datetime1">
              <a:rPr lang="bg-BG" smtClean="0"/>
              <a:t>7.1.2024 г.</a:t>
            </a:fld>
            <a:endParaRPr lang="bg-BG"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bg-BG"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36348257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bg-BG" altLang="bg-BG" sz="8000" b="1" dirty="0"/>
              <a:t>СИСТЕМЕН АНАЛИЗ</a:t>
            </a:r>
            <a:endParaRPr lang="bg-BG" sz="8000" b="1" dirty="0"/>
          </a:p>
        </p:txBody>
      </p:sp>
      <p:sp>
        <p:nvSpPr>
          <p:cNvPr id="3" name="Subtitle 2"/>
          <p:cNvSpPr>
            <a:spLocks noGrp="1"/>
          </p:cNvSpPr>
          <p:nvPr>
            <p:ph type="subTitle" idx="1"/>
          </p:nvPr>
        </p:nvSpPr>
        <p:spPr>
          <a:xfrm>
            <a:off x="842682" y="5701554"/>
            <a:ext cx="11134165" cy="903514"/>
          </a:xfrm>
        </p:spPr>
        <p:txBody>
          <a:bodyPr>
            <a:noAutofit/>
          </a:bodyPr>
          <a:lstStyle/>
          <a:p>
            <a:r>
              <a:rPr lang="bg-BG" sz="2400" dirty="0"/>
              <a:t>Лекции – гл. ас. д-р Мая Тодорова</a:t>
            </a:r>
          </a:p>
          <a:p>
            <a:r>
              <a:rPr lang="bg-BG" sz="2400" dirty="0"/>
              <a:t>Семинарни упражнения - гл. ас. д-р Мая Тодорова</a:t>
            </a:r>
          </a:p>
        </p:txBody>
      </p:sp>
      <p:sp>
        <p:nvSpPr>
          <p:cNvPr id="4" name="Slide Number Placeholder 3"/>
          <p:cNvSpPr>
            <a:spLocks noGrp="1"/>
          </p:cNvSpPr>
          <p:nvPr>
            <p:ph type="sldNum" sz="quarter" idx="12"/>
          </p:nvPr>
        </p:nvSpPr>
        <p:spPr/>
        <p:txBody>
          <a:bodyPr/>
          <a:lstStyle/>
          <a:p>
            <a:fld id="{081674E5-CD74-4638-A238-012A517DC16A}" type="slidenum">
              <a:rPr lang="bg-BG" smtClean="0"/>
              <a:t>1</a:t>
            </a:fld>
            <a:endParaRPr lang="bg-BG" dirty="0"/>
          </a:p>
        </p:txBody>
      </p:sp>
    </p:spTree>
    <p:extLst>
      <p:ext uri="{BB962C8B-B14F-4D97-AF65-F5344CB8AC3E}">
        <p14:creationId xmlns:p14="http://schemas.microsoft.com/office/powerpoint/2010/main" val="2432293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7128" y="1225296"/>
            <a:ext cx="9281160" cy="647047"/>
          </a:xfrm>
        </p:spPr>
        <p:txBody>
          <a:bodyPr>
            <a:normAutofit/>
          </a:bodyPr>
          <a:lstStyle/>
          <a:p>
            <a:pPr algn="ctr"/>
            <a:r>
              <a:rPr lang="bg-BG" altLang="bg-BG" sz="4000" b="1" dirty="0"/>
              <a:t>Семестриален контрол</a:t>
            </a:r>
            <a:endParaRPr lang="bg-BG" sz="4000" b="1" dirty="0"/>
          </a:p>
        </p:txBody>
      </p:sp>
      <p:sp>
        <p:nvSpPr>
          <p:cNvPr id="3" name="Text Placeholder 2"/>
          <p:cNvSpPr>
            <a:spLocks noGrp="1"/>
          </p:cNvSpPr>
          <p:nvPr>
            <p:ph type="body" idx="1"/>
          </p:nvPr>
        </p:nvSpPr>
        <p:spPr>
          <a:xfrm>
            <a:off x="2395728" y="2279407"/>
            <a:ext cx="9052560" cy="2025893"/>
          </a:xfrm>
        </p:spPr>
        <p:txBody>
          <a:bodyPr>
            <a:normAutofit/>
          </a:bodyPr>
          <a:lstStyle/>
          <a:p>
            <a:pPr algn="just">
              <a:lnSpc>
                <a:spcPct val="150000"/>
              </a:lnSpc>
              <a:defRPr/>
            </a:pPr>
            <a:r>
              <a:rPr lang="bg-BG" altLang="bg-BG" sz="2400" b="1" dirty="0"/>
              <a:t>6, </a:t>
            </a:r>
            <a:r>
              <a:rPr lang="en-US" altLang="bg-BG" sz="2400" b="1" dirty="0"/>
              <a:t>7</a:t>
            </a:r>
            <a:r>
              <a:rPr lang="bg-BG" altLang="bg-BG" sz="2400" dirty="0"/>
              <a:t>седмица </a:t>
            </a:r>
            <a:r>
              <a:rPr lang="bg-BG" altLang="bg-BG" sz="2400" b="1" dirty="0"/>
              <a:t>– </a:t>
            </a:r>
            <a:r>
              <a:rPr lang="en-US" altLang="bg-BG" sz="2400" b="1" dirty="0"/>
              <a:t>I </a:t>
            </a:r>
            <a:r>
              <a:rPr lang="bg-BG" altLang="bg-BG" sz="2400" b="1" dirty="0"/>
              <a:t>контролна работа </a:t>
            </a:r>
            <a:r>
              <a:rPr lang="bg-BG" altLang="bg-BG" sz="2400" dirty="0"/>
              <a:t>на семинарни упражнения</a:t>
            </a:r>
          </a:p>
          <a:p>
            <a:pPr algn="just">
              <a:lnSpc>
                <a:spcPct val="150000"/>
              </a:lnSpc>
              <a:defRPr/>
            </a:pPr>
            <a:r>
              <a:rPr lang="bg-BG" altLang="bg-BG" sz="2400" b="1" dirty="0"/>
              <a:t>14</a:t>
            </a:r>
            <a:r>
              <a:rPr lang="bg-BG" altLang="bg-BG" sz="2400" dirty="0"/>
              <a:t> седмица – </a:t>
            </a:r>
            <a:r>
              <a:rPr lang="en-US" altLang="bg-BG" sz="2400" b="1" dirty="0"/>
              <a:t>II </a:t>
            </a:r>
            <a:r>
              <a:rPr lang="bg-BG" altLang="bg-BG" sz="2400" b="1" dirty="0"/>
              <a:t>контролна работа </a:t>
            </a:r>
            <a:r>
              <a:rPr lang="bg-BG" altLang="bg-BG" sz="2400" dirty="0"/>
              <a:t>на семинарни  упражнения</a:t>
            </a:r>
          </a:p>
          <a:p>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a:t>
            </a:fld>
            <a:endParaRPr lang="bg-BG" dirty="0"/>
          </a:p>
        </p:txBody>
      </p:sp>
    </p:spTree>
    <p:extLst>
      <p:ext uri="{BB962C8B-B14F-4D97-AF65-F5344CB8AC3E}">
        <p14:creationId xmlns:p14="http://schemas.microsoft.com/office/powerpoint/2010/main" val="359056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8057" y="1225296"/>
            <a:ext cx="10580913" cy="647047"/>
          </a:xfrm>
        </p:spPr>
        <p:txBody>
          <a:bodyPr>
            <a:noAutofit/>
          </a:bodyPr>
          <a:lstStyle/>
          <a:p>
            <a:pPr algn="ctr"/>
            <a:r>
              <a:rPr lang="bg-BG" altLang="bg-BG" sz="4000" b="1" dirty="0"/>
              <a:t>Съдържание на контролните работи</a:t>
            </a:r>
            <a:endParaRPr lang="bg-BG" sz="4000" b="1" dirty="0"/>
          </a:p>
        </p:txBody>
      </p:sp>
      <p:sp>
        <p:nvSpPr>
          <p:cNvPr id="3" name="Text Placeholder 2"/>
          <p:cNvSpPr>
            <a:spLocks noGrp="1"/>
          </p:cNvSpPr>
          <p:nvPr>
            <p:ph type="body" idx="1"/>
          </p:nvPr>
        </p:nvSpPr>
        <p:spPr>
          <a:xfrm>
            <a:off x="2928256" y="2105235"/>
            <a:ext cx="8541803" cy="2793336"/>
          </a:xfrm>
        </p:spPr>
        <p:txBody>
          <a:bodyPr>
            <a:normAutofit/>
          </a:bodyPr>
          <a:lstStyle/>
          <a:p>
            <a:pPr algn="just">
              <a:lnSpc>
                <a:spcPct val="150000"/>
              </a:lnSpc>
              <a:defRPr/>
            </a:pPr>
            <a:r>
              <a:rPr lang="en-US" altLang="bg-BG" sz="2400" b="1" dirty="0"/>
              <a:t>I </a:t>
            </a:r>
            <a:r>
              <a:rPr lang="bg-BG" altLang="bg-BG" sz="2400" b="1" dirty="0"/>
              <a:t>контролна работа </a:t>
            </a:r>
            <a:r>
              <a:rPr lang="bg-BG" altLang="bg-BG" sz="2400" dirty="0"/>
              <a:t> - задачи</a:t>
            </a:r>
          </a:p>
          <a:p>
            <a:pPr algn="just">
              <a:lnSpc>
                <a:spcPct val="150000"/>
              </a:lnSpc>
              <a:defRPr/>
            </a:pPr>
            <a:r>
              <a:rPr lang="bg-BG" altLang="bg-BG" sz="2400" dirty="0"/>
              <a:t>Максимален брой точки - </a:t>
            </a:r>
            <a:r>
              <a:rPr lang="bg-BG" altLang="bg-BG" sz="2400" b="1" dirty="0"/>
              <a:t>50</a:t>
            </a:r>
          </a:p>
          <a:p>
            <a:pPr algn="just">
              <a:lnSpc>
                <a:spcPct val="150000"/>
              </a:lnSpc>
              <a:defRPr/>
            </a:pPr>
            <a:r>
              <a:rPr lang="en-US" altLang="bg-BG" sz="2400" b="1" dirty="0"/>
              <a:t>II </a:t>
            </a:r>
            <a:r>
              <a:rPr lang="bg-BG" altLang="bg-BG" sz="2400" b="1" dirty="0"/>
              <a:t>контролна работа </a:t>
            </a:r>
            <a:r>
              <a:rPr lang="bg-BG" altLang="bg-BG" sz="2400" dirty="0"/>
              <a:t>– задачи</a:t>
            </a:r>
          </a:p>
          <a:p>
            <a:pPr algn="just">
              <a:lnSpc>
                <a:spcPct val="150000"/>
              </a:lnSpc>
              <a:defRPr/>
            </a:pPr>
            <a:r>
              <a:rPr lang="bg-BG" altLang="bg-BG" sz="2400" dirty="0"/>
              <a:t>Максимален брой точки - </a:t>
            </a:r>
            <a:r>
              <a:rPr lang="bg-BG" altLang="bg-BG" sz="2400" b="1" dirty="0"/>
              <a:t>50</a:t>
            </a:r>
          </a:p>
          <a:p>
            <a:pPr algn="just">
              <a:lnSpc>
                <a:spcPct val="150000"/>
              </a:lnSpc>
              <a:defRPr/>
            </a:pPr>
            <a:endParaRPr lang="bg-BG" altLang="bg-BG" sz="2400" dirty="0"/>
          </a:p>
          <a:p>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3</a:t>
            </a:fld>
            <a:endParaRPr lang="bg-BG" dirty="0"/>
          </a:p>
        </p:txBody>
      </p:sp>
    </p:spTree>
    <p:extLst>
      <p:ext uri="{BB962C8B-B14F-4D97-AF65-F5344CB8AC3E}">
        <p14:creationId xmlns:p14="http://schemas.microsoft.com/office/powerpoint/2010/main" val="4254601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88770" y="870342"/>
            <a:ext cx="8541803" cy="3991913"/>
          </a:xfrm>
        </p:spPr>
        <p:txBody>
          <a:bodyPr>
            <a:noAutofit/>
          </a:bodyPr>
          <a:lstStyle/>
          <a:p>
            <a:pPr indent="457200" algn="just">
              <a:lnSpc>
                <a:spcPct val="150000"/>
              </a:lnSpc>
              <a:defRPr/>
            </a:pPr>
            <a:r>
              <a:rPr lang="bg-BG" altLang="bg-BG" sz="2400" dirty="0"/>
              <a:t>Целта на дисциплината „Системен анализ” е да бъдат разгледани различни реални технически, икономически и др. системи, за чието описание  се използват математически модели, включващи понякога стотици и хиляди зависимости и числови параметри. Анализът и синтезът на такива системи изисква надеждни изчислителни алгоритми и компютърни програми. </a:t>
            </a:r>
          </a:p>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4</a:t>
            </a:fld>
            <a:endParaRPr lang="bg-BG" dirty="0"/>
          </a:p>
        </p:txBody>
      </p:sp>
    </p:spTree>
    <p:extLst>
      <p:ext uri="{BB962C8B-B14F-4D97-AF65-F5344CB8AC3E}">
        <p14:creationId xmlns:p14="http://schemas.microsoft.com/office/powerpoint/2010/main" val="3814111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851" y="187525"/>
            <a:ext cx="10580913" cy="647047"/>
          </a:xfrm>
        </p:spPr>
        <p:txBody>
          <a:bodyPr>
            <a:noAutofit/>
          </a:bodyPr>
          <a:lstStyle/>
          <a:p>
            <a:pPr algn="ctr"/>
            <a:r>
              <a:rPr lang="bg-BG" altLang="bg-BG" sz="3000" b="1" dirty="0"/>
              <a:t>Основни раздели</a:t>
            </a:r>
            <a:endParaRPr lang="bg-BG" sz="3000" b="1" dirty="0"/>
          </a:p>
        </p:txBody>
      </p:sp>
      <p:sp>
        <p:nvSpPr>
          <p:cNvPr id="3" name="Text Placeholder 2"/>
          <p:cNvSpPr>
            <a:spLocks noGrp="1"/>
          </p:cNvSpPr>
          <p:nvPr>
            <p:ph type="body" idx="1"/>
          </p:nvPr>
        </p:nvSpPr>
        <p:spPr>
          <a:xfrm>
            <a:off x="2309585" y="605972"/>
            <a:ext cx="9709179" cy="6023428"/>
          </a:xfrm>
        </p:spPr>
        <p:txBody>
          <a:bodyPr>
            <a:noAutofit/>
          </a:bodyPr>
          <a:lstStyle/>
          <a:p>
            <a:pPr marL="514350" indent="-514350" algn="just">
              <a:lnSpc>
                <a:spcPct val="150000"/>
              </a:lnSpc>
              <a:spcBef>
                <a:spcPts val="0"/>
              </a:spcBef>
              <a:buFont typeface="Wingdings" panose="05000000000000000000" pitchFamily="2" charset="2"/>
              <a:buChar char="q"/>
              <a:defRPr/>
            </a:pPr>
            <a:r>
              <a:rPr lang="bg-BG" altLang="bg-BG" sz="2400" dirty="0"/>
              <a:t>Анализ на данни. Създаване на математически модели.  Изследване на алгоритми. Методи за създаване на модели.</a:t>
            </a:r>
          </a:p>
          <a:p>
            <a:pPr marL="514350" indent="-514350" algn="just">
              <a:lnSpc>
                <a:spcPct val="150000"/>
              </a:lnSpc>
              <a:spcBef>
                <a:spcPts val="0"/>
              </a:spcBef>
              <a:buFont typeface="Wingdings" panose="05000000000000000000" pitchFamily="2" charset="2"/>
              <a:buChar char="q"/>
              <a:defRPr/>
            </a:pPr>
            <a:r>
              <a:rPr lang="bg-BG" altLang="bg-BG" sz="2400" dirty="0"/>
              <a:t>Математическо моделиране.  Оптимизационни задачи. Симплекс метод. Транспортна задача. Методи за оптимизация с и без ограничения. Линейно и нелинейно математическо програмиране</a:t>
            </a:r>
            <a:r>
              <a:rPr lang="en-US" altLang="bg-BG" sz="2400" dirty="0"/>
              <a:t>.</a:t>
            </a:r>
            <a:endParaRPr lang="bg-BG" altLang="bg-BG" sz="2400" dirty="0"/>
          </a:p>
          <a:p>
            <a:pPr marL="342900" indent="-342900" algn="just">
              <a:lnSpc>
                <a:spcPct val="150000"/>
              </a:lnSpc>
              <a:spcBef>
                <a:spcPts val="0"/>
              </a:spcBef>
              <a:buFont typeface="Wingdings" panose="05000000000000000000" pitchFamily="2" charset="2"/>
              <a:buChar char="q"/>
              <a:defRPr/>
            </a:pPr>
            <a:r>
              <a:rPr lang="bg-BG" altLang="bg-BG" sz="2400" dirty="0"/>
              <a:t>Теория на управлението</a:t>
            </a:r>
          </a:p>
          <a:p>
            <a:pPr marL="406400" algn="just">
              <a:lnSpc>
                <a:spcPct val="150000"/>
              </a:lnSpc>
              <a:spcBef>
                <a:spcPts val="0"/>
              </a:spcBef>
              <a:defRPr/>
            </a:pPr>
            <a:r>
              <a:rPr lang="bg-BG" altLang="bg-BG" sz="2400" dirty="0"/>
              <a:t>Описание на динамични системи.</a:t>
            </a:r>
          </a:p>
          <a:p>
            <a:pPr marL="406400" algn="just">
              <a:lnSpc>
                <a:spcPct val="150000"/>
              </a:lnSpc>
              <a:spcBef>
                <a:spcPts val="0"/>
              </a:spcBef>
              <a:defRPr/>
            </a:pPr>
            <a:r>
              <a:rPr lang="bg-BG" altLang="bg-BG" sz="2400" dirty="0"/>
              <a:t>Идентификация.</a:t>
            </a:r>
          </a:p>
          <a:p>
            <a:pPr marL="406400" algn="just">
              <a:lnSpc>
                <a:spcPct val="150000"/>
              </a:lnSpc>
              <a:spcBef>
                <a:spcPts val="0"/>
              </a:spcBef>
              <a:defRPr/>
            </a:pPr>
            <a:r>
              <a:rPr lang="bg-BG" altLang="bg-BG" sz="2400" dirty="0"/>
              <a:t>Оптимално управление.</a:t>
            </a:r>
          </a:p>
          <a:p>
            <a:pPr marL="342900" indent="-342900" algn="just">
              <a:lnSpc>
                <a:spcPct val="150000"/>
              </a:lnSpc>
              <a:spcBef>
                <a:spcPts val="0"/>
              </a:spcBef>
              <a:buFont typeface="Wingdings" panose="05000000000000000000" pitchFamily="2" charset="2"/>
              <a:buChar char="q"/>
              <a:defRPr/>
            </a:pPr>
            <a:r>
              <a:rPr lang="bg-BG" altLang="bg-BG" sz="2400" dirty="0"/>
              <a:t>Финансови изчисления.</a:t>
            </a:r>
          </a:p>
          <a:p>
            <a:pPr algn="just">
              <a:lnSpc>
                <a:spcPct val="150000"/>
              </a:lnSpc>
              <a:defRPr/>
            </a:pPr>
            <a:endParaRPr lang="bg-BG" altLang="bg-BG" sz="2400" dirty="0"/>
          </a:p>
          <a:p>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5</a:t>
            </a:fld>
            <a:endParaRPr lang="bg-BG" dirty="0"/>
          </a:p>
        </p:txBody>
      </p:sp>
    </p:spTree>
    <p:extLst>
      <p:ext uri="{BB962C8B-B14F-4D97-AF65-F5344CB8AC3E}">
        <p14:creationId xmlns:p14="http://schemas.microsoft.com/office/powerpoint/2010/main" val="741963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2031999" y="1181100"/>
            <a:ext cx="9974943" cy="3524915"/>
          </a:xfrm>
        </p:spPr>
        <p:txBody>
          <a:bodyPr>
            <a:noAutofit/>
          </a:bodyPr>
          <a:lstStyle/>
          <a:p>
            <a:pPr algn="ctr">
              <a:defRPr/>
            </a:pPr>
            <a:r>
              <a:rPr lang="bg-BG" altLang="bg-BG" sz="3000" b="1" i="1" dirty="0"/>
              <a:t>Въведение в теорията на системите. Основни понятия и определения. Класификация и основни принципи. Математическо моделиране. </a:t>
            </a:r>
            <a:r>
              <a:rPr lang="bg-BG" sz="3000" b="1" i="1" dirty="0"/>
              <a:t>Анализ и синтез на структурата на сложни системи за управление. </a:t>
            </a:r>
            <a:r>
              <a:rPr lang="bg-BG" altLang="bg-BG" sz="3000" b="1" i="1" dirty="0"/>
              <a:t>Примери </a:t>
            </a:r>
          </a:p>
        </p:txBody>
      </p:sp>
      <p:sp>
        <p:nvSpPr>
          <p:cNvPr id="4" name="Slide Number Placeholder 3"/>
          <p:cNvSpPr>
            <a:spLocks noGrp="1"/>
          </p:cNvSpPr>
          <p:nvPr>
            <p:ph type="sldNum" sz="quarter" idx="12"/>
          </p:nvPr>
        </p:nvSpPr>
        <p:spPr/>
        <p:txBody>
          <a:bodyPr/>
          <a:lstStyle/>
          <a:p>
            <a:fld id="{081674E5-CD74-4638-A238-012A517DC16A}" type="slidenum">
              <a:rPr lang="bg-BG" smtClean="0"/>
              <a:t>6</a:t>
            </a:fld>
            <a:endParaRPr lang="bg-BG" dirty="0"/>
          </a:p>
        </p:txBody>
      </p:sp>
    </p:spTree>
    <p:extLst>
      <p:ext uri="{BB962C8B-B14F-4D97-AF65-F5344CB8AC3E}">
        <p14:creationId xmlns:p14="http://schemas.microsoft.com/office/powerpoint/2010/main" val="3888507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7</a:t>
            </a:fld>
            <a:endParaRPr lang="bg-BG" dirty="0"/>
          </a:p>
        </p:txBody>
      </p:sp>
      <p:sp>
        <p:nvSpPr>
          <p:cNvPr id="2" name="Rectangle 1"/>
          <p:cNvSpPr/>
          <p:nvPr/>
        </p:nvSpPr>
        <p:spPr>
          <a:xfrm>
            <a:off x="2358572" y="372779"/>
            <a:ext cx="9423400" cy="6198620"/>
          </a:xfrm>
          <a:prstGeom prst="rect">
            <a:avLst/>
          </a:prstGeom>
        </p:spPr>
        <p:txBody>
          <a:bodyPr wrap="square">
            <a:spAutoFit/>
          </a:bodyPr>
          <a:lstStyle/>
          <a:p>
            <a:pPr indent="457200" algn="just">
              <a:lnSpc>
                <a:spcPct val="150000"/>
              </a:lnSpc>
              <a:defRPr/>
            </a:pPr>
            <a:r>
              <a:rPr lang="bg-BG" altLang="bg-BG" sz="2400" dirty="0"/>
              <a:t>Развитието на теорията на системите е в тясна връзка с възможностите на компютърните технологии. Теорията на системите е самостоятелно направление в науката. В понятието система могат да се включат всички обекти от естествените и хуманитарните науки. В настоящата дисциплина ще се разбира приложно-математическия аспект на понятието т.е. ще бъдат поставени две основни задачи: </a:t>
            </a:r>
          </a:p>
          <a:p>
            <a:pPr marL="514350" indent="-514350" algn="just">
              <a:lnSpc>
                <a:spcPct val="130000"/>
              </a:lnSpc>
              <a:spcBef>
                <a:spcPts val="1200"/>
              </a:spcBef>
              <a:buClr>
                <a:schemeClr val="accent1">
                  <a:lumMod val="75000"/>
                </a:schemeClr>
              </a:buClr>
              <a:buSzPct val="85000"/>
              <a:buFont typeface="Wingdings" panose="05000000000000000000" pitchFamily="2" charset="2"/>
              <a:buChar char="q"/>
              <a:defRPr/>
            </a:pPr>
            <a:r>
              <a:rPr lang="bg-BG" altLang="bg-BG" sz="2400" dirty="0"/>
              <a:t>Създаване на единна методология при конструиране на математически модели на технически, икономически, биологически и др. системи;</a:t>
            </a:r>
          </a:p>
          <a:p>
            <a:pPr marL="514350" indent="-514350" algn="just">
              <a:lnSpc>
                <a:spcPct val="130000"/>
              </a:lnSpc>
              <a:spcBef>
                <a:spcPts val="1200"/>
              </a:spcBef>
              <a:buClr>
                <a:schemeClr val="accent1">
                  <a:lumMod val="75000"/>
                </a:schemeClr>
              </a:buClr>
              <a:buSzPct val="85000"/>
              <a:buFont typeface="Wingdings" panose="05000000000000000000" pitchFamily="2" charset="2"/>
              <a:buChar char="q"/>
              <a:defRPr/>
            </a:pPr>
            <a:r>
              <a:rPr lang="bg-BG" altLang="bg-BG" sz="2400" dirty="0"/>
              <a:t>Управление на системата по най-добрия начин.</a:t>
            </a:r>
          </a:p>
        </p:txBody>
      </p:sp>
    </p:spTree>
    <p:extLst>
      <p:ext uri="{BB962C8B-B14F-4D97-AF65-F5344CB8AC3E}">
        <p14:creationId xmlns:p14="http://schemas.microsoft.com/office/powerpoint/2010/main" val="2949907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357" y="285496"/>
            <a:ext cx="10580913" cy="647047"/>
          </a:xfrm>
        </p:spPr>
        <p:txBody>
          <a:bodyPr>
            <a:noAutofit/>
          </a:bodyPr>
          <a:lstStyle/>
          <a:p>
            <a:pPr algn="ctr"/>
            <a:r>
              <a:rPr lang="bg-BG" altLang="bg-BG" sz="4000" b="1" dirty="0"/>
              <a:t>Определение</a:t>
            </a:r>
            <a:endParaRPr lang="bg-BG" sz="4000" b="1" dirty="0"/>
          </a:p>
        </p:txBody>
      </p:sp>
      <p:sp>
        <p:nvSpPr>
          <p:cNvPr id="3" name="Text Placeholder 2"/>
          <p:cNvSpPr>
            <a:spLocks noGrp="1"/>
          </p:cNvSpPr>
          <p:nvPr>
            <p:ph type="body" idx="1"/>
          </p:nvPr>
        </p:nvSpPr>
        <p:spPr>
          <a:xfrm>
            <a:off x="2202542" y="1103086"/>
            <a:ext cx="9798958" cy="5602514"/>
          </a:xfrm>
        </p:spPr>
        <p:txBody>
          <a:bodyPr>
            <a:noAutofit/>
          </a:bodyPr>
          <a:lstStyle/>
          <a:p>
            <a:pPr marL="514350" indent="-514350" algn="just">
              <a:lnSpc>
                <a:spcPct val="150000"/>
              </a:lnSpc>
              <a:spcBef>
                <a:spcPts val="0"/>
              </a:spcBef>
              <a:buFont typeface="Wingdings" panose="05000000000000000000" pitchFamily="2" charset="2"/>
              <a:buChar char="q"/>
              <a:defRPr/>
            </a:pPr>
            <a:r>
              <a:rPr lang="bg-BG" altLang="bg-BG" sz="2400" b="1" dirty="0"/>
              <a:t>Система</a:t>
            </a:r>
          </a:p>
          <a:p>
            <a:pPr indent="457200" algn="just">
              <a:lnSpc>
                <a:spcPct val="150000"/>
              </a:lnSpc>
              <a:spcBef>
                <a:spcPts val="0"/>
              </a:spcBef>
              <a:defRPr/>
            </a:pPr>
            <a:r>
              <a:rPr lang="bg-BG" altLang="bg-BG" sz="2400" dirty="0"/>
              <a:t>Понятието система от гръцки и латински означава реално или абстрактно съществуващи единици/обекти, включващи всички компоненти/елементи, които си взаимодействат или са свързани помежду си. Всеки обект, който няма връзка с други елементи на системата не е компонент на тази система. </a:t>
            </a:r>
          </a:p>
          <a:p>
            <a:pPr marL="457200" indent="-457200" algn="just">
              <a:lnSpc>
                <a:spcPct val="150000"/>
              </a:lnSpc>
              <a:spcBef>
                <a:spcPts val="0"/>
              </a:spcBef>
              <a:buFont typeface="Wingdings" panose="05000000000000000000" pitchFamily="2" charset="2"/>
              <a:buChar char="q"/>
              <a:defRPr/>
            </a:pPr>
            <a:r>
              <a:rPr lang="bg-BG" altLang="bg-BG" sz="2400" b="1" dirty="0"/>
              <a:t>Подсистема</a:t>
            </a:r>
          </a:p>
          <a:p>
            <a:pPr indent="457200" algn="just">
              <a:lnSpc>
                <a:spcPct val="150000"/>
              </a:lnSpc>
              <a:spcBef>
                <a:spcPts val="0"/>
              </a:spcBef>
              <a:defRPr/>
            </a:pPr>
            <a:r>
              <a:rPr lang="bg-BG" altLang="bg-BG" sz="2400" dirty="0"/>
              <a:t>Подсистема е множество от елементи, които представляват система сами по себе си и са част от цялата система.</a:t>
            </a:r>
          </a:p>
          <a:p>
            <a:pPr algn="just">
              <a:lnSpc>
                <a:spcPct val="150000"/>
              </a:lnSpc>
              <a:defRPr/>
            </a:pPr>
            <a:endParaRPr lang="bg-BG" altLang="bg-BG" sz="2400" dirty="0"/>
          </a:p>
          <a:p>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8</a:t>
            </a:fld>
            <a:endParaRPr lang="bg-BG" dirty="0"/>
          </a:p>
        </p:txBody>
      </p:sp>
    </p:spTree>
    <p:extLst>
      <p:ext uri="{BB962C8B-B14F-4D97-AF65-F5344CB8AC3E}">
        <p14:creationId xmlns:p14="http://schemas.microsoft.com/office/powerpoint/2010/main" val="141717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9</a:t>
            </a:fld>
            <a:endParaRPr lang="bg-BG" dirty="0"/>
          </a:p>
        </p:txBody>
      </p:sp>
      <p:sp>
        <p:nvSpPr>
          <p:cNvPr id="2" name="Rectangle 1"/>
          <p:cNvSpPr/>
          <p:nvPr/>
        </p:nvSpPr>
        <p:spPr>
          <a:xfrm>
            <a:off x="1562171" y="0"/>
            <a:ext cx="10490199" cy="6924973"/>
          </a:xfrm>
          <a:prstGeom prst="rect">
            <a:avLst/>
          </a:prstGeom>
        </p:spPr>
        <p:txBody>
          <a:bodyPr wrap="square">
            <a:spAutoFit/>
          </a:bodyPr>
          <a:lstStyle/>
          <a:p>
            <a:pPr marL="514350" indent="-514350" algn="just">
              <a:lnSpc>
                <a:spcPct val="140000"/>
              </a:lnSpc>
              <a:buClr>
                <a:schemeClr val="accent1">
                  <a:lumMod val="75000"/>
                </a:schemeClr>
              </a:buClr>
              <a:buSzPct val="85000"/>
              <a:buFont typeface="Wingdings" panose="05000000000000000000" pitchFamily="2" charset="2"/>
              <a:buChar char="q"/>
              <a:defRPr/>
            </a:pPr>
            <a:r>
              <a:rPr lang="bg-BG" sz="2400" b="1" dirty="0"/>
              <a:t>Сложна система</a:t>
            </a:r>
          </a:p>
          <a:p>
            <a:pPr indent="457200" algn="just">
              <a:lnSpc>
                <a:spcPct val="150000"/>
              </a:lnSpc>
              <a:buClr>
                <a:schemeClr val="accent1">
                  <a:lumMod val="75000"/>
                </a:schemeClr>
              </a:buClr>
              <a:buSzPct val="85000"/>
              <a:defRPr/>
            </a:pPr>
            <a:r>
              <a:rPr lang="bg-BG" sz="2400" dirty="0"/>
              <a:t>За сложна ще се счита система, която се състои от голям брой взаимодействащи и взаимно свързани елементи. В понятието сложна система се влага следния смисъл:</a:t>
            </a:r>
          </a:p>
          <a:p>
            <a:pPr marL="863600" indent="-342900" algn="just">
              <a:lnSpc>
                <a:spcPct val="140000"/>
              </a:lnSpc>
              <a:buClr>
                <a:schemeClr val="accent1">
                  <a:lumMod val="75000"/>
                </a:schemeClr>
              </a:buClr>
              <a:buSzPct val="85000"/>
              <a:buFont typeface="Cambria" panose="02040503050406030204" pitchFamily="18" charset="0"/>
              <a:buChar char="—"/>
              <a:defRPr/>
            </a:pPr>
            <a:r>
              <a:rPr lang="bg-BG" sz="2400" dirty="0"/>
              <a:t>сложната система може да се разчлени на краен брой подсистеми, които от своя страна също могат да се разчленят на по-прости подсистеми и т.н., докато не се получат елементи, неподлежащи на по-нататъшно разчленяване;</a:t>
            </a:r>
          </a:p>
          <a:p>
            <a:pPr marL="863600" indent="-342900" algn="just">
              <a:lnSpc>
                <a:spcPct val="140000"/>
              </a:lnSpc>
              <a:buClr>
                <a:schemeClr val="accent1">
                  <a:lumMod val="75000"/>
                </a:schemeClr>
              </a:buClr>
              <a:buSzPct val="85000"/>
              <a:buFont typeface="Cambria" panose="02040503050406030204" pitchFamily="18" charset="0"/>
              <a:buChar char="—"/>
              <a:defRPr/>
            </a:pPr>
            <a:r>
              <a:rPr lang="bg-BG" sz="2400" dirty="0"/>
              <a:t>елементите на сложната система функционират във взаимодействие една с друга;</a:t>
            </a:r>
          </a:p>
          <a:p>
            <a:pPr marL="863600" indent="-342900" algn="just">
              <a:lnSpc>
                <a:spcPct val="140000"/>
              </a:lnSpc>
              <a:buClr>
                <a:schemeClr val="accent1">
                  <a:lumMod val="75000"/>
                </a:schemeClr>
              </a:buClr>
              <a:buSzPct val="85000"/>
              <a:buFont typeface="Cambria" panose="02040503050406030204" pitchFamily="18" charset="0"/>
              <a:buChar char="—"/>
              <a:defRPr/>
            </a:pPr>
            <a:r>
              <a:rPr lang="bg-BG" sz="2400" dirty="0"/>
              <a:t>свойствата на сложната система се определят не само от свойствата на отделните елементи, но и от взаимодействията между тях.</a:t>
            </a:r>
          </a:p>
        </p:txBody>
      </p:sp>
    </p:spTree>
    <p:extLst>
      <p:ext uri="{BB962C8B-B14F-4D97-AF65-F5344CB8AC3E}">
        <p14:creationId xmlns:p14="http://schemas.microsoft.com/office/powerpoint/2010/main" val="3897978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10</a:t>
            </a:fld>
            <a:endParaRPr lang="bg-BG" dirty="0"/>
          </a:p>
        </p:txBody>
      </p:sp>
      <p:sp>
        <p:nvSpPr>
          <p:cNvPr id="2" name="Rectangle 1"/>
          <p:cNvSpPr/>
          <p:nvPr/>
        </p:nvSpPr>
        <p:spPr>
          <a:xfrm>
            <a:off x="2730500" y="421029"/>
            <a:ext cx="8763000" cy="4455772"/>
          </a:xfrm>
          <a:prstGeom prst="rect">
            <a:avLst/>
          </a:prstGeom>
        </p:spPr>
        <p:txBody>
          <a:bodyPr wrap="square">
            <a:spAutoFit/>
          </a:bodyPr>
          <a:lstStyle/>
          <a:p>
            <a:pPr indent="457200" algn="just">
              <a:lnSpc>
                <a:spcPct val="150000"/>
              </a:lnSpc>
              <a:defRPr/>
            </a:pPr>
            <a:r>
              <a:rPr lang="bg-BG" altLang="bg-BG" sz="2400" dirty="0"/>
              <a:t>Системата действа сред други обекти извън самата нея. Тези външни обекти са обединени под понятието околна среда. Околната среда се определя като множество съществуващи в пространството и времето обекти, които влияят върху системата. Тези връзки са значително по-слаби от вътрешните връзки между елементите на системата. Връзките на системата с околната среда се осъществяват чрез входовете и изходите на системата. </a:t>
            </a:r>
          </a:p>
        </p:txBody>
      </p:sp>
    </p:spTree>
    <p:extLst>
      <p:ext uri="{BB962C8B-B14F-4D97-AF65-F5344CB8AC3E}">
        <p14:creationId xmlns:p14="http://schemas.microsoft.com/office/powerpoint/2010/main" val="1753872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2032000" y="239183"/>
            <a:ext cx="9864270" cy="4533900"/>
          </a:xfrm>
          <a:prstGeom prst="rect">
            <a:avLst/>
          </a:prstGeom>
        </p:spPr>
      </p:pic>
      <p:sp>
        <p:nvSpPr>
          <p:cNvPr id="4" name="Slide Number Placeholder 3"/>
          <p:cNvSpPr>
            <a:spLocks noGrp="1"/>
          </p:cNvSpPr>
          <p:nvPr>
            <p:ph type="sldNum" sz="quarter" idx="12"/>
          </p:nvPr>
        </p:nvSpPr>
        <p:spPr/>
        <p:txBody>
          <a:bodyPr/>
          <a:lstStyle/>
          <a:p>
            <a:fld id="{081674E5-CD74-4638-A238-012A517DC16A}" type="slidenum">
              <a:rPr lang="bg-BG" smtClean="0"/>
              <a:t>11</a:t>
            </a:fld>
            <a:endParaRPr lang="bg-BG" dirty="0"/>
          </a:p>
        </p:txBody>
      </p:sp>
      <p:sp>
        <p:nvSpPr>
          <p:cNvPr id="2" name="Title 1"/>
          <p:cNvSpPr>
            <a:spLocks noGrp="1"/>
          </p:cNvSpPr>
          <p:nvPr>
            <p:ph type="title"/>
          </p:nvPr>
        </p:nvSpPr>
        <p:spPr>
          <a:xfrm>
            <a:off x="1315357" y="154867"/>
            <a:ext cx="10580913" cy="647047"/>
          </a:xfrm>
        </p:spPr>
        <p:txBody>
          <a:bodyPr>
            <a:noAutofit/>
          </a:bodyPr>
          <a:lstStyle/>
          <a:p>
            <a:pPr algn="ctr"/>
            <a:r>
              <a:rPr lang="bg-BG" altLang="bg-BG" sz="3000" b="1" dirty="0"/>
              <a:t>Класификация</a:t>
            </a:r>
            <a:endParaRPr lang="bg-BG" sz="3000" b="1" dirty="0"/>
          </a:p>
        </p:txBody>
      </p:sp>
    </p:spTree>
    <p:extLst>
      <p:ext uri="{BB962C8B-B14F-4D97-AF65-F5344CB8AC3E}">
        <p14:creationId xmlns:p14="http://schemas.microsoft.com/office/powerpoint/2010/main" val="877534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12</a:t>
            </a:fld>
            <a:endParaRPr lang="bg-BG" dirty="0"/>
          </a:p>
        </p:txBody>
      </p:sp>
      <p:sp>
        <p:nvSpPr>
          <p:cNvPr id="2" name="Rectangle 1"/>
          <p:cNvSpPr/>
          <p:nvPr/>
        </p:nvSpPr>
        <p:spPr>
          <a:xfrm>
            <a:off x="2237012" y="0"/>
            <a:ext cx="9613970" cy="6740307"/>
          </a:xfrm>
          <a:prstGeom prst="rect">
            <a:avLst/>
          </a:prstGeom>
        </p:spPr>
        <p:txBody>
          <a:bodyPr wrap="square">
            <a:spAutoFit/>
          </a:bodyPr>
          <a:lstStyle/>
          <a:p>
            <a:pPr marL="514350" indent="-514350" algn="just">
              <a:lnSpc>
                <a:spcPct val="150000"/>
              </a:lnSpc>
              <a:buClr>
                <a:schemeClr val="accent1">
                  <a:lumMod val="75000"/>
                </a:schemeClr>
              </a:buClr>
              <a:buSzPct val="85000"/>
              <a:buFont typeface="Wingdings" panose="05000000000000000000" pitchFamily="2" charset="2"/>
              <a:buChar char="q"/>
              <a:defRPr/>
            </a:pPr>
            <a:r>
              <a:rPr lang="bg-BG" sz="2400" dirty="0"/>
              <a:t>По сложност</a:t>
            </a:r>
          </a:p>
          <a:p>
            <a:pPr indent="457200" algn="just">
              <a:lnSpc>
                <a:spcPct val="150000"/>
              </a:lnSpc>
              <a:buClr>
                <a:schemeClr val="accent1">
                  <a:lumMod val="75000"/>
                </a:schemeClr>
              </a:buClr>
              <a:buSzPct val="85000"/>
              <a:defRPr/>
            </a:pPr>
            <a:r>
              <a:rPr lang="bg-BG" sz="2400" dirty="0"/>
              <a:t>По сложност системите се разделят на елементарни (прости) и сложни. Елементарните системи са съвкупност от краен брой обекти, обединени за изпълнението на единични задачи. Характерна особеност за тези системи е пълната детерминираност на елементите и връзките и възможността за пълно описание на тяхното поведение. Някои автори определят една система като сложна, ако нейното описание се реализира с помощта на различни математически апарати. Например диференциални уравнения и булева алгебра.</a:t>
            </a:r>
          </a:p>
          <a:p>
            <a:pPr marL="514350" indent="-514350" algn="just">
              <a:lnSpc>
                <a:spcPct val="150000"/>
              </a:lnSpc>
              <a:buClr>
                <a:schemeClr val="accent1">
                  <a:lumMod val="75000"/>
                </a:schemeClr>
              </a:buClr>
              <a:buSzPct val="85000"/>
              <a:buFont typeface="Wingdings" panose="05000000000000000000" pitchFamily="2" charset="2"/>
              <a:buChar char="q"/>
              <a:defRPr/>
            </a:pPr>
            <a:r>
              <a:rPr lang="bg-BG" altLang="bg-BG" sz="2400" dirty="0"/>
              <a:t>Според други автори системите могат да се разделят на динамични, линейни, дискретни и др.</a:t>
            </a:r>
            <a:endParaRPr lang="bg-BG" sz="2400" dirty="0"/>
          </a:p>
        </p:txBody>
      </p:sp>
    </p:spTree>
    <p:extLst>
      <p:ext uri="{BB962C8B-B14F-4D97-AF65-F5344CB8AC3E}">
        <p14:creationId xmlns:p14="http://schemas.microsoft.com/office/powerpoint/2010/main" val="3651980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2542" y="285496"/>
            <a:ext cx="9693728" cy="647047"/>
          </a:xfrm>
        </p:spPr>
        <p:txBody>
          <a:bodyPr>
            <a:noAutofit/>
          </a:bodyPr>
          <a:lstStyle/>
          <a:p>
            <a:pPr algn="ctr"/>
            <a:r>
              <a:rPr lang="bg-BG" altLang="bg-BG" sz="3000" b="1" dirty="0"/>
              <a:t>Математическо моделиране</a:t>
            </a:r>
            <a:r>
              <a:rPr lang="bg-BG" altLang="bg-BG" sz="3000" dirty="0"/>
              <a:t> </a:t>
            </a:r>
            <a:endParaRPr lang="bg-BG" sz="3000" b="1" dirty="0"/>
          </a:p>
        </p:txBody>
      </p:sp>
      <p:sp>
        <p:nvSpPr>
          <p:cNvPr id="3" name="Text Placeholder 2"/>
          <p:cNvSpPr>
            <a:spLocks noGrp="1"/>
          </p:cNvSpPr>
          <p:nvPr>
            <p:ph type="body" idx="1"/>
          </p:nvPr>
        </p:nvSpPr>
        <p:spPr>
          <a:xfrm>
            <a:off x="2202542" y="932543"/>
            <a:ext cx="9798958" cy="5158014"/>
          </a:xfrm>
        </p:spPr>
        <p:txBody>
          <a:bodyPr>
            <a:noAutofit/>
          </a:bodyPr>
          <a:lstStyle/>
          <a:p>
            <a:pPr indent="457200" algn="just">
              <a:lnSpc>
                <a:spcPct val="150000"/>
              </a:lnSpc>
              <a:spcBef>
                <a:spcPts val="0"/>
              </a:spcBef>
              <a:defRPr/>
            </a:pPr>
            <a:r>
              <a:rPr lang="bg-BG" altLang="bg-BG" sz="2400" dirty="0"/>
              <a:t>Практиката на техническите и икономическите изследвания за анализ и синтез на системи в различни области показва, че успешното решаване на проблема е възможно само с помощта на съответстващи математически модели. </a:t>
            </a:r>
            <a:r>
              <a:rPr lang="bg-BG" sz="2400" dirty="0"/>
              <a:t>Техните предимства са бързото, точно и многократно решаване на задачата при различни начални условия, промяна на алгоритмите (подмяна на едно устройство в друго в реалната система) и т.н. Използването на математическото моделиране е най-ефективния инструмент при решаване на задачата за синтез на сложни системи. </a:t>
            </a:r>
          </a:p>
        </p:txBody>
      </p:sp>
      <p:sp>
        <p:nvSpPr>
          <p:cNvPr id="4" name="Slide Number Placeholder 3"/>
          <p:cNvSpPr>
            <a:spLocks noGrp="1"/>
          </p:cNvSpPr>
          <p:nvPr>
            <p:ph type="sldNum" sz="quarter" idx="12"/>
          </p:nvPr>
        </p:nvSpPr>
        <p:spPr/>
        <p:txBody>
          <a:bodyPr/>
          <a:lstStyle/>
          <a:p>
            <a:fld id="{081674E5-CD74-4638-A238-012A517DC16A}" type="slidenum">
              <a:rPr lang="bg-BG" smtClean="0"/>
              <a:t>13</a:t>
            </a:fld>
            <a:endParaRPr lang="bg-BG" dirty="0"/>
          </a:p>
        </p:txBody>
      </p:sp>
    </p:spTree>
    <p:extLst>
      <p:ext uri="{BB962C8B-B14F-4D97-AF65-F5344CB8AC3E}">
        <p14:creationId xmlns:p14="http://schemas.microsoft.com/office/powerpoint/2010/main" val="174182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14</a:t>
            </a:fld>
            <a:endParaRPr lang="bg-BG" dirty="0"/>
          </a:p>
        </p:txBody>
      </p:sp>
      <p:sp>
        <p:nvSpPr>
          <p:cNvPr id="2" name="Rectangle 1"/>
          <p:cNvSpPr/>
          <p:nvPr/>
        </p:nvSpPr>
        <p:spPr>
          <a:xfrm>
            <a:off x="2032000" y="63263"/>
            <a:ext cx="10160000" cy="6740307"/>
          </a:xfrm>
          <a:prstGeom prst="rect">
            <a:avLst/>
          </a:prstGeom>
        </p:spPr>
        <p:txBody>
          <a:bodyPr wrap="square">
            <a:spAutoFit/>
          </a:bodyPr>
          <a:lstStyle/>
          <a:p>
            <a:pPr indent="457200" algn="just">
              <a:lnSpc>
                <a:spcPct val="150000"/>
              </a:lnSpc>
              <a:buClr>
                <a:schemeClr val="accent1">
                  <a:lumMod val="75000"/>
                </a:schemeClr>
              </a:buClr>
              <a:buSzPct val="85000"/>
              <a:defRPr/>
            </a:pPr>
            <a:r>
              <a:rPr lang="bg-BG" altLang="bg-BG" sz="2400" dirty="0"/>
              <a:t>Математическите модели най-често се изразяват с линейни</a:t>
            </a:r>
            <a:r>
              <a:rPr lang="en-US" altLang="bg-BG" sz="2400" dirty="0"/>
              <a:t> </a:t>
            </a:r>
            <a:r>
              <a:rPr lang="bg-BG" altLang="bg-BG" sz="2400" dirty="0"/>
              <a:t>и нелинейни алгебрични уравнения при описание поведението на системата в статика (параметърът време не участва) или обикновени и частни диференциални уравнения при описание поведението на системата в динамика. </a:t>
            </a:r>
            <a:endParaRPr lang="bg-BG" sz="2400" dirty="0"/>
          </a:p>
          <a:p>
            <a:pPr indent="457200" algn="just">
              <a:lnSpc>
                <a:spcPct val="150000"/>
              </a:lnSpc>
              <a:spcAft>
                <a:spcPts val="0"/>
              </a:spcAft>
              <a:buClr>
                <a:schemeClr val="accent1">
                  <a:lumMod val="75000"/>
                </a:schemeClr>
              </a:buClr>
              <a:buSzPct val="85000"/>
              <a:defRPr/>
            </a:pPr>
            <a:r>
              <a:rPr lang="bg-BG" sz="2400" dirty="0"/>
              <a:t>За математически модел на отделен обект от системата се счита съвкупността от отношения (уравнения, неравенства и логически функции) между променливите, характеризиращи състоянието на обекта. Математическия модел на сложната система се съставя от математическите модели на нейните обекти и също представлява система от отношения. Като правило синтезът на сложната система се свежда до решаването на съответната система отношения.</a:t>
            </a:r>
          </a:p>
        </p:txBody>
      </p:sp>
    </p:spTree>
    <p:extLst>
      <p:ext uri="{BB962C8B-B14F-4D97-AF65-F5344CB8AC3E}">
        <p14:creationId xmlns:p14="http://schemas.microsoft.com/office/powerpoint/2010/main" val="1257893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851" y="286657"/>
            <a:ext cx="10580913" cy="1123043"/>
          </a:xfrm>
        </p:spPr>
        <p:txBody>
          <a:bodyPr>
            <a:noAutofit/>
          </a:bodyPr>
          <a:lstStyle/>
          <a:p>
            <a:pPr algn="ctr">
              <a:lnSpc>
                <a:spcPct val="100000"/>
              </a:lnSpc>
            </a:pPr>
            <a:r>
              <a:rPr lang="bg-BG" sz="3000" b="1" dirty="0">
                <a:ea typeface="Times New Roman" panose="02020603050405020304" pitchFamily="18" charset="0"/>
              </a:rPr>
              <a:t>Анализ и синтез на структурата на сложни системи за управление</a:t>
            </a:r>
            <a:r>
              <a:rPr lang="bg-BG" altLang="bg-BG" sz="3000" dirty="0"/>
              <a:t> </a:t>
            </a:r>
            <a:endParaRPr lang="bg-BG" sz="3000" b="1" dirty="0"/>
          </a:p>
        </p:txBody>
      </p:sp>
      <p:sp>
        <p:nvSpPr>
          <p:cNvPr id="3" name="Text Placeholder 2"/>
          <p:cNvSpPr>
            <a:spLocks noGrp="1"/>
          </p:cNvSpPr>
          <p:nvPr>
            <p:ph type="body" idx="1"/>
          </p:nvPr>
        </p:nvSpPr>
        <p:spPr>
          <a:xfrm>
            <a:off x="2202542" y="1137557"/>
            <a:ext cx="9798958" cy="4827814"/>
          </a:xfrm>
        </p:spPr>
        <p:txBody>
          <a:bodyPr>
            <a:noAutofit/>
          </a:bodyPr>
          <a:lstStyle/>
          <a:p>
            <a:pPr indent="457200" algn="just">
              <a:lnSpc>
                <a:spcPct val="150000"/>
              </a:lnSpc>
              <a:spcBef>
                <a:spcPts val="0"/>
              </a:spcBef>
              <a:defRPr/>
            </a:pPr>
            <a:r>
              <a:rPr lang="bg-BG" sz="2400" dirty="0">
                <a:ea typeface="Times New Roman" panose="02020603050405020304" pitchFamily="18" charset="0"/>
              </a:rPr>
              <a:t>Структурата на системата представлява съвкупност от елементите и връзките между тях, които се определят от разпределението на функциите и поставените пред системата цели. Структурата е начин за организация на цялото (системата) от съставните му части. Ефективността на структурата зависи от броя, значимостта, формата и съдържанието на съставните й части, мястото, което те заемат в цялата система, и съществуващите отношения между тях.</a:t>
            </a:r>
            <a:endParaRPr lang="bg-BG" alt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15</a:t>
            </a:fld>
            <a:endParaRPr lang="bg-BG" dirty="0"/>
          </a:p>
        </p:txBody>
      </p:sp>
    </p:spTree>
    <p:extLst>
      <p:ext uri="{BB962C8B-B14F-4D97-AF65-F5344CB8AC3E}">
        <p14:creationId xmlns:p14="http://schemas.microsoft.com/office/powerpoint/2010/main" val="1716919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58570" y="389587"/>
            <a:ext cx="9642930" cy="5566714"/>
          </a:xfrm>
        </p:spPr>
        <p:txBody>
          <a:bodyPr>
            <a:noAutofit/>
          </a:bodyPr>
          <a:lstStyle/>
          <a:p>
            <a:pPr indent="457200" algn="just">
              <a:lnSpc>
                <a:spcPct val="150000"/>
              </a:lnSpc>
              <a:spcBef>
                <a:spcPts val="0"/>
              </a:spcBef>
              <a:spcAft>
                <a:spcPts val="0"/>
              </a:spcAft>
              <a:defRPr/>
            </a:pPr>
            <a:r>
              <a:rPr lang="bg-BG" sz="2400" dirty="0">
                <a:ea typeface="Times New Roman" panose="02020603050405020304" pitchFamily="18" charset="0"/>
              </a:rPr>
              <a:t>Една от главните задачи на структурния анализ е построяването на нагледен модел, който да изобразява съществуващите отношения (връзки), както между елементите, така и с околната среда.</a:t>
            </a:r>
          </a:p>
          <a:p>
            <a:pPr indent="457200" algn="just">
              <a:lnSpc>
                <a:spcPct val="150000"/>
              </a:lnSpc>
              <a:spcBef>
                <a:spcPts val="0"/>
              </a:spcBef>
              <a:spcAft>
                <a:spcPts val="0"/>
              </a:spcAft>
              <a:defRPr/>
            </a:pPr>
            <a:r>
              <a:rPr lang="bg-BG" sz="2400" dirty="0">
                <a:ea typeface="Times New Roman" panose="02020603050405020304" pitchFamily="18" charset="0"/>
              </a:rPr>
              <a:t>Често структурата е начин за описание на системата като цяло. При това отделните подсистеми не винаги съответстват на реални физически обекти. Описанието на структурата на сложните системи много често се задава във вид на структурни схеми, т.е. съвкупност от блокове със зададени входове, изходи и връзки между блоковете. </a:t>
            </a:r>
          </a:p>
        </p:txBody>
      </p:sp>
      <p:sp>
        <p:nvSpPr>
          <p:cNvPr id="4" name="Slide Number Placeholder 3"/>
          <p:cNvSpPr>
            <a:spLocks noGrp="1"/>
          </p:cNvSpPr>
          <p:nvPr>
            <p:ph type="sldNum" sz="quarter" idx="12"/>
          </p:nvPr>
        </p:nvSpPr>
        <p:spPr/>
        <p:txBody>
          <a:bodyPr/>
          <a:lstStyle/>
          <a:p>
            <a:fld id="{081674E5-CD74-4638-A238-012A517DC16A}" type="slidenum">
              <a:rPr lang="bg-BG" smtClean="0"/>
              <a:t>16</a:t>
            </a:fld>
            <a:endParaRPr lang="bg-BG" dirty="0"/>
          </a:p>
        </p:txBody>
      </p:sp>
    </p:spTree>
    <p:extLst>
      <p:ext uri="{BB962C8B-B14F-4D97-AF65-F5344CB8AC3E}">
        <p14:creationId xmlns:p14="http://schemas.microsoft.com/office/powerpoint/2010/main" val="1379324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17</a:t>
            </a:fld>
            <a:endParaRPr lang="bg-BG" dirty="0"/>
          </a:p>
        </p:txBody>
      </p:sp>
      <p:sp>
        <p:nvSpPr>
          <p:cNvPr id="2" name="Rectangle 1"/>
          <p:cNvSpPr/>
          <p:nvPr/>
        </p:nvSpPr>
        <p:spPr>
          <a:xfrm>
            <a:off x="1930400" y="47170"/>
            <a:ext cx="10261600" cy="6802311"/>
          </a:xfrm>
          <a:prstGeom prst="rect">
            <a:avLst/>
          </a:prstGeom>
        </p:spPr>
        <p:txBody>
          <a:bodyPr wrap="square">
            <a:spAutoFit/>
          </a:bodyPr>
          <a:lstStyle/>
          <a:p>
            <a:pPr indent="457200" algn="just">
              <a:lnSpc>
                <a:spcPct val="141000"/>
              </a:lnSpc>
              <a:buClr>
                <a:schemeClr val="accent1">
                  <a:lumMod val="75000"/>
                </a:schemeClr>
              </a:buClr>
              <a:buSzPct val="85000"/>
              <a:defRPr/>
            </a:pPr>
            <a:r>
              <a:rPr lang="bg-BG" sz="2400" dirty="0">
                <a:ea typeface="Times New Roman" panose="02020603050405020304" pitchFamily="18" charset="0"/>
              </a:rPr>
              <a:t>Общата задача за структурен анализ се свежда до определяне на структурните свойства на цялата система и отделните ѝ подсистеми, като се използват наличната информация и описанието на елементите от системата и взаимните им връзки.</a:t>
            </a:r>
          </a:p>
          <a:p>
            <a:pPr indent="457200" algn="just">
              <a:lnSpc>
                <a:spcPct val="141000"/>
              </a:lnSpc>
              <a:buClr>
                <a:schemeClr val="accent1">
                  <a:lumMod val="75000"/>
                </a:schemeClr>
              </a:buClr>
              <a:buSzPct val="85000"/>
              <a:defRPr/>
            </a:pPr>
            <a:r>
              <a:rPr lang="bg-BG" sz="2400" dirty="0">
                <a:ea typeface="Times New Roman" panose="02020603050405020304" pitchFamily="18" charset="0"/>
              </a:rPr>
              <a:t>При синтеза на структурата на сложни системи за управление се решават следните задачи:</a:t>
            </a:r>
          </a:p>
          <a:p>
            <a:pPr marL="685800" indent="-457200" algn="just">
              <a:lnSpc>
                <a:spcPct val="141000"/>
              </a:lnSpc>
              <a:buClr>
                <a:schemeClr val="accent1">
                  <a:lumMod val="75000"/>
                </a:schemeClr>
              </a:buClr>
              <a:buSzPct val="100000"/>
              <a:buFont typeface="+mj-lt"/>
              <a:buAutoNum type="arabicPeriod"/>
              <a:defRPr/>
            </a:pPr>
            <a:r>
              <a:rPr lang="bg-BG" sz="2400" dirty="0">
                <a:ea typeface="Times New Roman" panose="02020603050405020304" pitchFamily="18" charset="0"/>
              </a:rPr>
              <a:t>Синтез на структурата на управляваната система т.е. определяне на състава и взаимните връзки между елементите на системата, оптималната декомпозиция на множеството от управляваните обекти на отделни подмножества.</a:t>
            </a:r>
          </a:p>
          <a:p>
            <a:pPr marL="685800" lvl="0" indent="-457200" algn="just">
              <a:lnSpc>
                <a:spcPct val="141000"/>
              </a:lnSpc>
              <a:buClr>
                <a:schemeClr val="accent1">
                  <a:lumMod val="75000"/>
                </a:schemeClr>
              </a:buClr>
              <a:buSzPct val="100000"/>
              <a:buFont typeface="+mj-lt"/>
              <a:buAutoNum type="arabicPeriod"/>
              <a:defRPr/>
            </a:pPr>
            <a:r>
              <a:rPr lang="bg-BG" sz="2400" dirty="0">
                <a:ea typeface="Times New Roman" panose="02020603050405020304" pitchFamily="18" charset="0"/>
              </a:rPr>
              <a:t>Синтез на структурата на управляващата система:</a:t>
            </a:r>
          </a:p>
          <a:p>
            <a:pPr marL="863600" lvl="0" indent="-514350" algn="just">
              <a:lnSpc>
                <a:spcPct val="141000"/>
              </a:lnSpc>
              <a:buClr>
                <a:schemeClr val="accent1">
                  <a:lumMod val="75000"/>
                </a:schemeClr>
              </a:buClr>
              <a:buSzPct val="85000"/>
              <a:buFont typeface="Cambria" panose="02040503050406030204" pitchFamily="18" charset="0"/>
              <a:buChar char="―"/>
              <a:defRPr/>
            </a:pPr>
            <a:r>
              <a:rPr lang="bg-BG" sz="2400" dirty="0"/>
              <a:t>избор на броя на нивата и подсистемите (йерархията на системата);</a:t>
            </a:r>
          </a:p>
        </p:txBody>
      </p:sp>
    </p:spTree>
    <p:extLst>
      <p:ext uri="{BB962C8B-B14F-4D97-AF65-F5344CB8AC3E}">
        <p14:creationId xmlns:p14="http://schemas.microsoft.com/office/powerpoint/2010/main" val="3973915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18</a:t>
            </a:fld>
            <a:endParaRPr lang="bg-BG" dirty="0"/>
          </a:p>
        </p:txBody>
      </p:sp>
      <p:sp>
        <p:nvSpPr>
          <p:cNvPr id="2" name="Rectangle 1"/>
          <p:cNvSpPr/>
          <p:nvPr/>
        </p:nvSpPr>
        <p:spPr>
          <a:xfrm>
            <a:off x="1930400" y="335846"/>
            <a:ext cx="9994900" cy="6186309"/>
          </a:xfrm>
          <a:prstGeom prst="rect">
            <a:avLst/>
          </a:prstGeom>
        </p:spPr>
        <p:txBody>
          <a:bodyPr wrap="square">
            <a:spAutoFit/>
          </a:bodyPr>
          <a:lstStyle/>
          <a:p>
            <a:pPr marL="863600" lvl="0" indent="-514350" algn="just">
              <a:lnSpc>
                <a:spcPct val="150000"/>
              </a:lnSpc>
              <a:buClr>
                <a:srgbClr val="D34817">
                  <a:lumMod val="75000"/>
                </a:srgbClr>
              </a:buClr>
              <a:buSzPct val="85000"/>
              <a:buFont typeface="Cambria" panose="02040503050406030204" pitchFamily="18" charset="0"/>
              <a:buChar char="―"/>
              <a:defRPr/>
            </a:pPr>
            <a:r>
              <a:rPr lang="bg-BG" sz="2400" dirty="0">
                <a:solidFill>
                  <a:prstClr val="black"/>
                </a:solidFill>
              </a:rPr>
              <a:t>избор на принципа на организация на управлението, т.е. установяване на правилни взаимоотношения между нивата (съгласуване на целите между отделните подсистеми на различните нива, оптимално стимулиране, разпределяне на правата и отговорностите, създаване на условия за вземане на решения и т.н.)</a:t>
            </a:r>
          </a:p>
          <a:p>
            <a:pPr marL="863600" lvl="0" indent="-514350" algn="just">
              <a:lnSpc>
                <a:spcPct val="150000"/>
              </a:lnSpc>
              <a:buClr>
                <a:schemeClr val="accent1">
                  <a:lumMod val="75000"/>
                </a:schemeClr>
              </a:buClr>
              <a:buSzPct val="85000"/>
              <a:buFont typeface="Cambria" panose="02040503050406030204" pitchFamily="18" charset="0"/>
              <a:buChar char="―"/>
              <a:defRPr/>
            </a:pPr>
            <a:r>
              <a:rPr lang="bg-BG" sz="2400" dirty="0"/>
              <a:t>оптимално разпределяне на функциите между хората и техниката;</a:t>
            </a:r>
          </a:p>
          <a:p>
            <a:pPr marL="863600" lvl="0" indent="-514350" algn="just">
              <a:lnSpc>
                <a:spcPct val="150000"/>
              </a:lnSpc>
              <a:buClr>
                <a:schemeClr val="accent1">
                  <a:lumMod val="75000"/>
                </a:schemeClr>
              </a:buClr>
              <a:buSzPct val="85000"/>
              <a:buFont typeface="Cambria" panose="02040503050406030204" pitchFamily="18" charset="0"/>
              <a:buChar char="―"/>
              <a:defRPr/>
            </a:pPr>
            <a:r>
              <a:rPr lang="bg-BG" sz="2400" dirty="0"/>
              <a:t>избор на организационна йерархия.</a:t>
            </a:r>
          </a:p>
          <a:p>
            <a:pPr marL="685800" indent="-457200" algn="just">
              <a:lnSpc>
                <a:spcPct val="150000"/>
              </a:lnSpc>
              <a:buClr>
                <a:schemeClr val="accent1">
                  <a:lumMod val="75000"/>
                </a:schemeClr>
              </a:buClr>
              <a:buSzPct val="100000"/>
              <a:buFont typeface="+mj-lt"/>
              <a:buAutoNum type="arabicPeriod" startAt="3"/>
              <a:defRPr/>
            </a:pPr>
            <a:r>
              <a:rPr lang="bg-BG" sz="2400" dirty="0">
                <a:ea typeface="Times New Roman" panose="02020603050405020304" pitchFamily="18" charset="0"/>
              </a:rPr>
              <a:t>Синтез на структурата на системата за обработване и предаване на информация.</a:t>
            </a:r>
          </a:p>
        </p:txBody>
      </p:sp>
    </p:spTree>
    <p:extLst>
      <p:ext uri="{BB962C8B-B14F-4D97-AF65-F5344CB8AC3E}">
        <p14:creationId xmlns:p14="http://schemas.microsoft.com/office/powerpoint/2010/main" val="2054943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19</a:t>
            </a:fld>
            <a:endParaRPr lang="bg-BG" dirty="0"/>
          </a:p>
        </p:txBody>
      </p:sp>
      <p:sp>
        <p:nvSpPr>
          <p:cNvPr id="2" name="Rectangle 1"/>
          <p:cNvSpPr/>
          <p:nvPr/>
        </p:nvSpPr>
        <p:spPr>
          <a:xfrm>
            <a:off x="2032001" y="465259"/>
            <a:ext cx="9944100" cy="4524315"/>
          </a:xfrm>
          <a:prstGeom prst="rect">
            <a:avLst/>
          </a:prstGeom>
        </p:spPr>
        <p:txBody>
          <a:bodyPr wrap="square">
            <a:spAutoFit/>
          </a:bodyPr>
          <a:lstStyle/>
          <a:p>
            <a:pPr indent="457200" algn="just">
              <a:lnSpc>
                <a:spcPct val="150000"/>
              </a:lnSpc>
              <a:spcAft>
                <a:spcPts val="0"/>
              </a:spcAft>
              <a:buClr>
                <a:schemeClr val="accent1">
                  <a:lumMod val="75000"/>
                </a:schemeClr>
              </a:buClr>
              <a:buSzPct val="85000"/>
              <a:defRPr/>
            </a:pPr>
            <a:r>
              <a:rPr lang="bg-BG" sz="2400" dirty="0">
                <a:ea typeface="Times New Roman" panose="02020603050405020304" pitchFamily="18" charset="0"/>
              </a:rPr>
              <a:t>Възможни са три класа задачи за структурен анализ на сложни системи за управление:</a:t>
            </a:r>
          </a:p>
          <a:p>
            <a:pPr marL="685800" lvl="0" indent="-457200" algn="just">
              <a:lnSpc>
                <a:spcPct val="150000"/>
              </a:lnSpc>
              <a:spcAft>
                <a:spcPts val="0"/>
              </a:spcAft>
              <a:buClr>
                <a:schemeClr val="accent1">
                  <a:lumMod val="75000"/>
                </a:schemeClr>
              </a:buClr>
              <a:buSzPct val="100000"/>
              <a:buFont typeface="+mj-lt"/>
              <a:buAutoNum type="arabicPeriod"/>
              <a:tabLst>
                <a:tab pos="457200" algn="l"/>
              </a:tabLst>
              <a:defRPr/>
            </a:pPr>
            <a:r>
              <a:rPr lang="bg-BG" sz="2400" dirty="0">
                <a:ea typeface="Times New Roman" panose="02020603050405020304" pitchFamily="18" charset="0"/>
              </a:rPr>
              <a:t>Структурен анализ при зададени функции и алгоритми за функционирането на системата.</a:t>
            </a:r>
          </a:p>
          <a:p>
            <a:pPr marL="685800" lvl="0" indent="-457200" algn="just">
              <a:lnSpc>
                <a:spcPct val="150000"/>
              </a:lnSpc>
              <a:spcAft>
                <a:spcPts val="0"/>
              </a:spcAft>
              <a:buClr>
                <a:schemeClr val="accent1">
                  <a:lumMod val="75000"/>
                </a:schemeClr>
              </a:buClr>
              <a:buSzPct val="100000"/>
              <a:buFont typeface="+mj-lt"/>
              <a:buAutoNum type="arabicPeriod"/>
              <a:tabLst>
                <a:tab pos="457200" algn="l"/>
              </a:tabLst>
              <a:defRPr/>
            </a:pPr>
            <a:r>
              <a:rPr lang="bg-BG" sz="2400" dirty="0">
                <a:ea typeface="Times New Roman" panose="02020603050405020304" pitchFamily="18" charset="0"/>
              </a:rPr>
              <a:t>Синтез на функции, алгоритми за функциониране и правила за поведението на елементите при зададена йерархия в системата.</a:t>
            </a:r>
          </a:p>
          <a:p>
            <a:pPr marL="685800" lvl="0" indent="-457200" algn="just">
              <a:lnSpc>
                <a:spcPct val="150000"/>
              </a:lnSpc>
              <a:spcAft>
                <a:spcPts val="0"/>
              </a:spcAft>
              <a:buClr>
                <a:schemeClr val="accent1">
                  <a:lumMod val="75000"/>
                </a:schemeClr>
              </a:buClr>
              <a:buSzPct val="100000"/>
              <a:buFont typeface="+mj-lt"/>
              <a:buAutoNum type="arabicPeriod"/>
              <a:tabLst>
                <a:tab pos="457200" algn="l"/>
              </a:tabLst>
              <a:defRPr/>
            </a:pPr>
            <a:r>
              <a:rPr lang="bg-BG" sz="2400" dirty="0">
                <a:ea typeface="Times New Roman" panose="02020603050405020304" pitchFamily="18" charset="0"/>
              </a:rPr>
              <a:t>Оптимизация на системата, разпределянето на функциите между подсистемите и определянето на техния състав.</a:t>
            </a:r>
          </a:p>
        </p:txBody>
      </p:sp>
    </p:spTree>
    <p:extLst>
      <p:ext uri="{BB962C8B-B14F-4D97-AF65-F5344CB8AC3E}">
        <p14:creationId xmlns:p14="http://schemas.microsoft.com/office/powerpoint/2010/main" val="3174392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20</a:t>
            </a:fld>
            <a:endParaRPr lang="bg-BG" dirty="0"/>
          </a:p>
        </p:txBody>
      </p:sp>
      <p:sp>
        <p:nvSpPr>
          <p:cNvPr id="2" name="Rectangle 1"/>
          <p:cNvSpPr/>
          <p:nvPr/>
        </p:nvSpPr>
        <p:spPr>
          <a:xfrm>
            <a:off x="1905000" y="25040"/>
            <a:ext cx="10198100" cy="6740307"/>
          </a:xfrm>
          <a:prstGeom prst="rect">
            <a:avLst/>
          </a:prstGeom>
        </p:spPr>
        <p:txBody>
          <a:bodyPr wrap="square">
            <a:spAutoFit/>
          </a:bodyPr>
          <a:lstStyle/>
          <a:p>
            <a:pPr indent="457200" algn="just">
              <a:lnSpc>
                <a:spcPct val="150000"/>
              </a:lnSpc>
              <a:buClr>
                <a:schemeClr val="accent1">
                  <a:lumMod val="75000"/>
                </a:schemeClr>
              </a:buClr>
              <a:buSzPct val="85000"/>
              <a:defRPr/>
            </a:pPr>
            <a:r>
              <a:rPr lang="bg-BG" sz="2400" dirty="0">
                <a:ea typeface="Times New Roman" panose="02020603050405020304" pitchFamily="18" charset="0"/>
              </a:rPr>
              <a:t>В зависимост от структурите сложните системи за управление се класифицират според:</a:t>
            </a:r>
          </a:p>
          <a:p>
            <a:pPr marL="685800" indent="-457200" algn="just">
              <a:lnSpc>
                <a:spcPct val="150000"/>
              </a:lnSpc>
              <a:buClr>
                <a:schemeClr val="accent1">
                  <a:lumMod val="75000"/>
                </a:schemeClr>
              </a:buClr>
              <a:buSzPct val="100000"/>
              <a:buFont typeface="+mj-lt"/>
              <a:buAutoNum type="arabicPeriod"/>
              <a:tabLst>
                <a:tab pos="457200" algn="l"/>
              </a:tabLst>
              <a:defRPr/>
            </a:pPr>
            <a:r>
              <a:rPr lang="bg-BG" sz="2400" b="1" i="1" dirty="0">
                <a:ea typeface="Times New Roman" panose="02020603050405020304" pitchFamily="18" charset="0"/>
              </a:rPr>
              <a:t>броя на нивата в йерархията: </a:t>
            </a:r>
            <a:r>
              <a:rPr lang="bg-BG" sz="2400" dirty="0">
                <a:ea typeface="Times New Roman" panose="02020603050405020304" pitchFamily="18" charset="0"/>
              </a:rPr>
              <a:t>с едно или с много нива. Системите с много нива биват еднородни (функциите и характеристиките  на елементите са идентични) и нееднородни.</a:t>
            </a:r>
          </a:p>
          <a:p>
            <a:pPr marL="685800" indent="-457200" algn="just">
              <a:lnSpc>
                <a:spcPct val="150000"/>
              </a:lnSpc>
              <a:buClr>
                <a:schemeClr val="accent1">
                  <a:lumMod val="75000"/>
                </a:schemeClr>
              </a:buClr>
              <a:buSzPct val="100000"/>
              <a:buFont typeface="+mj-lt"/>
              <a:buAutoNum type="arabicPeriod"/>
              <a:tabLst>
                <a:tab pos="457200" algn="l"/>
              </a:tabLst>
              <a:defRPr/>
            </a:pPr>
            <a:r>
              <a:rPr lang="bg-BG" sz="2400" b="1" i="1" dirty="0">
                <a:ea typeface="Times New Roman" panose="02020603050405020304" pitchFamily="18" charset="0"/>
              </a:rPr>
              <a:t>принципа на управление и подчиненост: </a:t>
            </a:r>
            <a:r>
              <a:rPr lang="bg-BG" sz="2400" dirty="0">
                <a:ea typeface="Times New Roman" panose="02020603050405020304" pitchFamily="18" charset="0"/>
              </a:rPr>
              <a:t>децентрализирани, централизирани и смесени.</a:t>
            </a:r>
          </a:p>
          <a:p>
            <a:pPr marL="685800" indent="-457200" algn="just">
              <a:lnSpc>
                <a:spcPct val="150000"/>
              </a:lnSpc>
              <a:buClr>
                <a:schemeClr val="accent1">
                  <a:lumMod val="75000"/>
                </a:schemeClr>
              </a:buClr>
              <a:buSzPct val="100000"/>
              <a:buFont typeface="+mj-lt"/>
              <a:buAutoNum type="arabicPeriod"/>
              <a:tabLst>
                <a:tab pos="457200" algn="l"/>
              </a:tabLst>
              <a:defRPr/>
            </a:pPr>
            <a:r>
              <a:rPr lang="bg-BG" sz="2400" b="1" i="1" dirty="0">
                <a:ea typeface="Times New Roman" panose="02020603050405020304" pitchFamily="18" charset="0"/>
              </a:rPr>
              <a:t>изпълняваните функции и целевото им предназначение: </a:t>
            </a:r>
            <a:r>
              <a:rPr lang="bg-BG" sz="2400" dirty="0">
                <a:ea typeface="Times New Roman" panose="02020603050405020304" pitchFamily="18" charset="0"/>
              </a:rPr>
              <a:t>структури за оперативно управление, планиране и др.</a:t>
            </a:r>
          </a:p>
          <a:p>
            <a:pPr marL="685800" indent="-457200" algn="just">
              <a:lnSpc>
                <a:spcPct val="150000"/>
              </a:lnSpc>
              <a:buClr>
                <a:schemeClr val="accent1">
                  <a:lumMod val="75000"/>
                </a:schemeClr>
              </a:buClr>
              <a:buSzPct val="100000"/>
              <a:buFont typeface="+mj-lt"/>
              <a:buAutoNum type="arabicPeriod"/>
              <a:tabLst>
                <a:tab pos="457200" algn="l"/>
              </a:tabLst>
              <a:defRPr/>
            </a:pPr>
            <a:r>
              <a:rPr lang="bg-BG" sz="2400" b="1" i="1" dirty="0">
                <a:ea typeface="Times New Roman" panose="02020603050405020304" pitchFamily="18" charset="0"/>
              </a:rPr>
              <a:t>принципа на декомпозиция на елементите на системата на подсистеми:</a:t>
            </a:r>
            <a:r>
              <a:rPr lang="bg-BG" sz="2400" dirty="0">
                <a:ea typeface="Times New Roman" panose="02020603050405020304" pitchFamily="18" charset="0"/>
              </a:rPr>
              <a:t> обединение по функционален признак, по разположение на обекта и т.н.</a:t>
            </a:r>
          </a:p>
        </p:txBody>
      </p:sp>
    </p:spTree>
    <p:extLst>
      <p:ext uri="{BB962C8B-B14F-4D97-AF65-F5344CB8AC3E}">
        <p14:creationId xmlns:p14="http://schemas.microsoft.com/office/powerpoint/2010/main" val="1170446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0" y="228600"/>
            <a:ext cx="10160000" cy="1008743"/>
          </a:xfrm>
        </p:spPr>
        <p:txBody>
          <a:bodyPr>
            <a:noAutofit/>
          </a:bodyPr>
          <a:lstStyle/>
          <a:p>
            <a:pPr algn="ctr">
              <a:lnSpc>
                <a:spcPct val="100000"/>
              </a:lnSpc>
              <a:spcAft>
                <a:spcPts val="0"/>
              </a:spcAft>
            </a:pPr>
            <a:r>
              <a:rPr lang="bg-BG" sz="3000" b="1" dirty="0">
                <a:ea typeface="Times New Roman" panose="02020603050405020304" pitchFamily="18" charset="0"/>
              </a:rPr>
              <a:t>Описание на структурата на сложни системи за управление</a:t>
            </a:r>
            <a:endParaRPr lang="bg-BG" sz="3000" dirty="0">
              <a:effectLst/>
              <a:ea typeface="Times New Roman" panose="02020603050405020304" pitchFamily="18" charset="0"/>
            </a:endParaRPr>
          </a:p>
        </p:txBody>
      </p:sp>
      <p:sp>
        <p:nvSpPr>
          <p:cNvPr id="3" name="Text Placeholder 2"/>
          <p:cNvSpPr>
            <a:spLocks noGrp="1"/>
          </p:cNvSpPr>
          <p:nvPr>
            <p:ph type="body" idx="1"/>
          </p:nvPr>
        </p:nvSpPr>
        <p:spPr>
          <a:xfrm>
            <a:off x="2202542" y="1103086"/>
            <a:ext cx="9798958" cy="5158014"/>
          </a:xfrm>
        </p:spPr>
        <p:txBody>
          <a:bodyPr>
            <a:noAutofit/>
          </a:bodyPr>
          <a:lstStyle/>
          <a:p>
            <a:pPr indent="457200" algn="just">
              <a:lnSpc>
                <a:spcPct val="150000"/>
              </a:lnSpc>
              <a:spcBef>
                <a:spcPts val="0"/>
              </a:spcBef>
              <a:spcAft>
                <a:spcPts val="0"/>
              </a:spcAft>
              <a:defRPr/>
            </a:pPr>
            <a:r>
              <a:rPr lang="bg-BG" sz="2400" dirty="0"/>
              <a:t>Конфигурирането на мрежата, по която се обменя информация между подсистемите в сложната система, има важно значение за нормалната работа. В голяма степен тя определя топологията на системата, пространственото разположение на източниците и потребителите на информация. </a:t>
            </a:r>
          </a:p>
          <a:p>
            <a:pPr indent="457200" algn="just">
              <a:lnSpc>
                <a:spcPct val="150000"/>
              </a:lnSpc>
              <a:spcBef>
                <a:spcPts val="0"/>
              </a:spcBef>
              <a:defRPr/>
            </a:pPr>
            <a:r>
              <a:rPr lang="bg-BG" sz="2400" dirty="0"/>
              <a:t>Най-често използваният математически апарат за изследване каналите за връзка в йерархичните системи е теорията на графите, елементи на която са изучавани в дисциплина „Синтез и анализ на алгоритми”. </a:t>
            </a:r>
            <a:endParaRPr lang="bg-BG" alt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21</a:t>
            </a:fld>
            <a:endParaRPr lang="bg-BG" dirty="0"/>
          </a:p>
        </p:txBody>
      </p:sp>
    </p:spTree>
    <p:extLst>
      <p:ext uri="{BB962C8B-B14F-4D97-AF65-F5344CB8AC3E}">
        <p14:creationId xmlns:p14="http://schemas.microsoft.com/office/powerpoint/2010/main" val="112468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22</a:t>
            </a:fld>
            <a:endParaRPr lang="bg-BG" dirty="0"/>
          </a:p>
        </p:txBody>
      </p:sp>
      <p:sp>
        <p:nvSpPr>
          <p:cNvPr id="2" name="Rectangle 1"/>
          <p:cNvSpPr/>
          <p:nvPr/>
        </p:nvSpPr>
        <p:spPr>
          <a:xfrm>
            <a:off x="2120970" y="25400"/>
            <a:ext cx="9791629" cy="6740307"/>
          </a:xfrm>
          <a:prstGeom prst="rect">
            <a:avLst/>
          </a:prstGeom>
        </p:spPr>
        <p:txBody>
          <a:bodyPr wrap="square">
            <a:spAutoFit/>
          </a:bodyPr>
          <a:lstStyle/>
          <a:p>
            <a:pPr indent="457200" algn="just">
              <a:lnSpc>
                <a:spcPct val="150000"/>
              </a:lnSpc>
              <a:spcBef>
                <a:spcPts val="0"/>
              </a:spcBef>
              <a:defRPr/>
            </a:pPr>
            <a:r>
              <a:rPr lang="bg-BG" sz="2400" dirty="0"/>
              <a:t>Графът е съвкупност от множеството на върховете (възли) и множеството на ребрата. За структурата на системата върховете са източници и потребители на информация, а ребрата – канали за връзка, които свързват източниците и потребителите на информация.</a:t>
            </a:r>
          </a:p>
          <a:p>
            <a:pPr indent="457200" algn="just">
              <a:lnSpc>
                <a:spcPct val="150000"/>
              </a:lnSpc>
              <a:defRPr/>
            </a:pPr>
            <a:r>
              <a:rPr lang="bg-BG" sz="2400" dirty="0"/>
              <a:t>Ако не се отчита ориентацията на графа, а само ребрата, съединяващи върховете, той се нарича неориентиран. Последователността от ребра, които съединяват върхове, образуват верига. Затворена верига се нарича цикъл. Граф, на който всички ребрата са ориентирани, се нарича ориентиран. Граф, част от ребрата на който са ориентирани, а друга част неориентирани, се нарича смесен.</a:t>
            </a:r>
            <a:endParaRPr lang="bg-BG" altLang="bg-BG" sz="2400" dirty="0"/>
          </a:p>
        </p:txBody>
      </p:sp>
    </p:spTree>
    <p:extLst>
      <p:ext uri="{BB962C8B-B14F-4D97-AF65-F5344CB8AC3E}">
        <p14:creationId xmlns:p14="http://schemas.microsoft.com/office/powerpoint/2010/main" val="10272692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23</a:t>
            </a:fld>
            <a:endParaRPr lang="bg-BG" dirty="0"/>
          </a:p>
        </p:txBody>
      </p:sp>
      <p:sp>
        <p:nvSpPr>
          <p:cNvPr id="2" name="Rectangle 1"/>
          <p:cNvSpPr/>
          <p:nvPr/>
        </p:nvSpPr>
        <p:spPr>
          <a:xfrm>
            <a:off x="2444821" y="502414"/>
            <a:ext cx="8724900" cy="6355586"/>
          </a:xfrm>
          <a:prstGeom prst="rect">
            <a:avLst/>
          </a:prstGeom>
        </p:spPr>
        <p:txBody>
          <a:bodyPr wrap="square">
            <a:spAutoFit/>
          </a:bodyPr>
          <a:lstStyle/>
          <a:p>
            <a:pPr indent="457200" algn="just">
              <a:lnSpc>
                <a:spcPct val="150000"/>
              </a:lnSpc>
              <a:spcAft>
                <a:spcPts val="0"/>
              </a:spcAft>
              <a:defRPr/>
            </a:pPr>
            <a:r>
              <a:rPr lang="bg-BG" sz="2400" dirty="0"/>
              <a:t>Структурата на сложна система може да се задава по следните начини:</a:t>
            </a:r>
          </a:p>
          <a:p>
            <a:pPr algn="just">
              <a:spcAft>
                <a:spcPts val="0"/>
              </a:spcAft>
            </a:pPr>
            <a:r>
              <a:rPr lang="bg-BG" sz="1100" dirty="0">
                <a:latin typeface="Arial" panose="020B0604020202020204" pitchFamily="34" charset="0"/>
                <a:ea typeface="Times New Roman" panose="02020603050405020304" pitchFamily="18" charset="0"/>
              </a:rPr>
              <a:t> </a:t>
            </a:r>
            <a:endParaRPr lang="bg-BG" sz="1000" dirty="0">
              <a:latin typeface="Times New Roman" panose="02020603050405020304" pitchFamily="18" charset="0"/>
              <a:ea typeface="Times New Roman" panose="02020603050405020304" pitchFamily="18" charset="0"/>
            </a:endParaRPr>
          </a:p>
          <a:p>
            <a:pPr marL="685800" lvl="0" indent="-457200" algn="just">
              <a:lnSpc>
                <a:spcPct val="150000"/>
              </a:lnSpc>
              <a:buClr>
                <a:schemeClr val="accent1">
                  <a:lumMod val="75000"/>
                </a:schemeClr>
              </a:buClr>
              <a:buSzPct val="100000"/>
              <a:buFont typeface="+mj-lt"/>
              <a:buAutoNum type="arabicPeriod"/>
              <a:tabLst>
                <a:tab pos="457200" algn="l"/>
              </a:tabLst>
              <a:defRPr/>
            </a:pPr>
            <a:r>
              <a:rPr lang="bg-BG" sz="2400" b="1" i="1" dirty="0">
                <a:ea typeface="Times New Roman" panose="02020603050405020304" pitchFamily="18" charset="0"/>
              </a:rPr>
              <a:t>Представяне с помощта на блокови схеми (структурно описание).</a:t>
            </a:r>
            <a:endParaRPr lang="en-US" sz="2400" b="1" i="1" dirty="0">
              <a:ea typeface="Times New Roman" panose="02020603050405020304" pitchFamily="18" charset="0"/>
            </a:endParaRPr>
          </a:p>
          <a:p>
            <a:pPr lvl="0" indent="465138" algn="just">
              <a:lnSpc>
                <a:spcPct val="150000"/>
              </a:lnSpc>
              <a:buClr>
                <a:schemeClr val="accent1">
                  <a:lumMod val="75000"/>
                </a:schemeClr>
              </a:buClr>
              <a:buSzPct val="100000"/>
              <a:tabLst>
                <a:tab pos="457200" algn="l"/>
              </a:tabLst>
              <a:defRPr/>
            </a:pPr>
            <a:r>
              <a:rPr lang="bg-BG" sz="2400" dirty="0">
                <a:ea typeface="Times New Roman" panose="02020603050405020304" pitchFamily="18" charset="0"/>
              </a:rPr>
              <a:t>Структурната схема е съвкупност от блокове със зададени входове, изходи и връзки между блоковете.</a:t>
            </a:r>
            <a:endParaRPr lang="bg-BG" sz="2400" b="1" i="1" dirty="0">
              <a:ea typeface="Times New Roman" panose="02020603050405020304" pitchFamily="18" charset="0"/>
            </a:endParaRPr>
          </a:p>
          <a:p>
            <a:pPr marL="685800" indent="-457200" algn="just">
              <a:lnSpc>
                <a:spcPct val="150000"/>
              </a:lnSpc>
              <a:buClr>
                <a:schemeClr val="accent1">
                  <a:lumMod val="75000"/>
                </a:schemeClr>
              </a:buClr>
              <a:buSzPct val="100000"/>
              <a:buFont typeface="+mj-lt"/>
              <a:buAutoNum type="arabicPeriod" startAt="2"/>
              <a:tabLst>
                <a:tab pos="457200" algn="l"/>
              </a:tabLst>
              <a:defRPr/>
            </a:pPr>
            <a:r>
              <a:rPr lang="bg-BG" sz="2400" b="1" i="1" dirty="0">
                <a:ea typeface="Times New Roman" panose="02020603050405020304" pitchFamily="18" charset="0"/>
              </a:rPr>
              <a:t>Графично представяне.</a:t>
            </a:r>
          </a:p>
          <a:p>
            <a:pPr indent="457200" algn="just">
              <a:lnSpc>
                <a:spcPct val="150000"/>
              </a:lnSpc>
              <a:defRPr/>
            </a:pPr>
            <a:r>
              <a:rPr lang="bg-BG" sz="2400" dirty="0"/>
              <a:t>Този начин дава възможност за нагледно показване на връзките между елементите, но не се използва в задачите за структурен анализ поради трудности при използване на компютърна техника.</a:t>
            </a:r>
          </a:p>
        </p:txBody>
      </p:sp>
    </p:spTree>
    <p:extLst>
      <p:ext uri="{BB962C8B-B14F-4D97-AF65-F5344CB8AC3E}">
        <p14:creationId xmlns:p14="http://schemas.microsoft.com/office/powerpoint/2010/main" val="3351623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24</a:t>
            </a:fld>
            <a:endParaRPr lang="bg-BG" dirty="0"/>
          </a:p>
        </p:txBody>
      </p:sp>
      <mc:AlternateContent xmlns:mc="http://schemas.openxmlformats.org/markup-compatibility/2006" xmlns:a14="http://schemas.microsoft.com/office/drawing/2010/main">
        <mc:Choice Requires="a14">
          <p:sp>
            <p:nvSpPr>
              <p:cNvPr id="18" name="Rectangle 17"/>
              <p:cNvSpPr/>
              <p:nvPr/>
            </p:nvSpPr>
            <p:spPr>
              <a:xfrm>
                <a:off x="1943100" y="-71589"/>
                <a:ext cx="10045700" cy="6929589"/>
              </a:xfrm>
              <a:prstGeom prst="rect">
                <a:avLst/>
              </a:prstGeom>
            </p:spPr>
            <p:txBody>
              <a:bodyPr wrap="square">
                <a:spAutoFit/>
              </a:bodyPr>
              <a:lstStyle/>
              <a:p>
                <a:pPr marL="685800" lvl="0" indent="-457200" algn="just">
                  <a:lnSpc>
                    <a:spcPct val="150000"/>
                  </a:lnSpc>
                  <a:spcAft>
                    <a:spcPts val="0"/>
                  </a:spcAft>
                  <a:buClr>
                    <a:schemeClr val="accent1">
                      <a:lumMod val="75000"/>
                    </a:schemeClr>
                  </a:buClr>
                  <a:buSzPct val="100000"/>
                  <a:buFont typeface="+mj-lt"/>
                  <a:buAutoNum type="arabicPeriod" startAt="3"/>
                  <a:tabLst>
                    <a:tab pos="457200" algn="l"/>
                  </a:tabLst>
                  <a:defRPr/>
                </a:pPr>
                <a:r>
                  <a:rPr lang="bg-BG" sz="2400" b="1" i="1" dirty="0">
                    <a:ea typeface="Times New Roman" panose="02020603050405020304" pitchFamily="18" charset="0"/>
                  </a:rPr>
                  <a:t>Матрично представяне.</a:t>
                </a:r>
              </a:p>
              <a:p>
                <a:pPr indent="457200" algn="just">
                  <a:lnSpc>
                    <a:spcPct val="150000"/>
                  </a:lnSpc>
                  <a:buClr>
                    <a:schemeClr val="accent1">
                      <a:lumMod val="75000"/>
                    </a:schemeClr>
                  </a:buClr>
                  <a:buSzPct val="85000"/>
                  <a:defRPr/>
                </a:pPr>
                <a:r>
                  <a:rPr lang="bg-BG" sz="2400" dirty="0"/>
                  <a:t>Съществуват различни форми за матрично представяне на граф.</a:t>
                </a:r>
              </a:p>
              <a:p>
                <a:pPr marL="685800" indent="-342900" algn="just">
                  <a:lnSpc>
                    <a:spcPct val="150000"/>
                  </a:lnSpc>
                  <a:buClr>
                    <a:schemeClr val="accent1">
                      <a:lumMod val="75000"/>
                    </a:schemeClr>
                  </a:buClr>
                  <a:buSzPct val="85000"/>
                  <a:buFont typeface="Wingdings" panose="05000000000000000000" pitchFamily="2" charset="2"/>
                  <a:buChar char="q"/>
                  <a:defRPr/>
                </a:pPr>
                <a:r>
                  <a:rPr lang="bg-BG" sz="2400" dirty="0"/>
                  <a:t>Матрица на върховете (</a:t>
                </a:r>
                <a:r>
                  <a:rPr lang="bg-BG" sz="2400" b="1" dirty="0"/>
                  <a:t>А</a:t>
                </a:r>
                <a:r>
                  <a:rPr lang="bg-BG" sz="2400" dirty="0"/>
                  <a:t>)</a:t>
                </a:r>
              </a:p>
              <a:p>
                <a:pPr indent="457200" algn="just">
                  <a:lnSpc>
                    <a:spcPct val="150000"/>
                  </a:lnSpc>
                  <a:buClr>
                    <a:schemeClr val="accent1">
                      <a:lumMod val="75000"/>
                    </a:schemeClr>
                  </a:buClr>
                  <a:buSzPct val="85000"/>
                  <a:defRPr/>
                </a:pPr>
                <a:r>
                  <a:rPr lang="bg-BG" sz="2400" dirty="0"/>
                  <a:t> Матрицата на върховете на неориентирания граф има вида </a:t>
                </a:r>
                <a14:m>
                  <m:oMath xmlns:m="http://schemas.openxmlformats.org/officeDocument/2006/math">
                    <m:r>
                      <a:rPr lang="en-US" sz="2400" b="0" i="1">
                        <a:latin typeface="Cambria Math" panose="02040503050406030204" pitchFamily="18" charset="0"/>
                      </a:rPr>
                      <m:t>𝐴</m:t>
                    </m:r>
                    <m:r>
                      <a:rPr lang="en-US" sz="2400" b="0">
                        <a:latin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a:latin typeface="Cambria Math" panose="02040503050406030204" pitchFamily="18" charset="0"/>
                              </a:rPr>
                              <m:t>𝑎</m:t>
                            </m:r>
                          </m:e>
                          <m:sub>
                            <m:r>
                              <a:rPr lang="en-US" sz="2400">
                                <a:latin typeface="Cambria Math" panose="02040503050406030204" pitchFamily="18" charset="0"/>
                              </a:rPr>
                              <m:t>𝑖𝑗</m:t>
                            </m:r>
                          </m:sub>
                        </m:sSub>
                      </m:e>
                    </m:d>
                  </m:oMath>
                </a14:m>
                <a:r>
                  <a:rPr lang="en-US" sz="2400" dirty="0"/>
                  <a:t>, </a:t>
                </a:r>
                <a:r>
                  <a:rPr lang="bg-BG" sz="2400" dirty="0"/>
                  <a:t>където</a:t>
                </a: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𝑎</m:t>
                        </m:r>
                      </m:e>
                      <m:sub>
                        <m:r>
                          <a:rPr lang="en-US" sz="2400">
                            <a:latin typeface="Cambria Math" panose="02040503050406030204" pitchFamily="18" charset="0"/>
                          </a:rPr>
                          <m:t>𝑖𝑗</m:t>
                        </m:r>
                      </m:sub>
                    </m:sSub>
                  </m:oMath>
                </a14:m>
                <a:r>
                  <a:rPr lang="en-US" sz="2400" dirty="0">
                    <a:latin typeface="Cambria" panose="02040503050406030204" pitchFamily="18" charset="0"/>
                    <a:ea typeface="Cambria" panose="02040503050406030204" pitchFamily="18" charset="0"/>
                  </a:rPr>
                  <a:t>=1 </a:t>
                </a:r>
                <a:r>
                  <a:rPr lang="bg-BG" sz="2400" dirty="0"/>
                  <a:t>при наличие на връзка </a:t>
                </a:r>
                <a:r>
                  <a:rPr lang="bg-BG" sz="2400" dirty="0">
                    <a:latin typeface="Cambria" panose="02040503050406030204" pitchFamily="18" charset="0"/>
                    <a:ea typeface="Cambria" panose="02040503050406030204" pitchFamily="18" charset="0"/>
                  </a:rPr>
                  <a:t>и </a:t>
                </a: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𝑎</m:t>
                        </m:r>
                      </m:e>
                      <m:sub>
                        <m:r>
                          <a:rPr lang="en-US" sz="2400">
                            <a:latin typeface="Cambria Math" panose="02040503050406030204" pitchFamily="18" charset="0"/>
                          </a:rPr>
                          <m:t>𝑖𝑗</m:t>
                        </m:r>
                      </m:sub>
                    </m:sSub>
                  </m:oMath>
                </a14:m>
                <a:r>
                  <a:rPr lang="en-US" sz="2400" dirty="0">
                    <a:latin typeface="Cambria" panose="02040503050406030204" pitchFamily="18" charset="0"/>
                    <a:ea typeface="Cambria" panose="02040503050406030204" pitchFamily="18" charset="0"/>
                  </a:rPr>
                  <a:t>=0 </a:t>
                </a:r>
                <a:r>
                  <a:rPr lang="bg-BG" sz="2400" dirty="0">
                    <a:latin typeface="Cambria" panose="02040503050406030204" pitchFamily="18" charset="0"/>
                    <a:ea typeface="Cambria" panose="02040503050406030204" pitchFamily="18" charset="0"/>
                  </a:rPr>
                  <a:t>- при </a:t>
                </a:r>
                <a:r>
                  <a:rPr lang="bg-BG" sz="2400" dirty="0"/>
                  <a:t>отсъствие на връзка. При неориентирани графи тази матрица е симетрична.</a:t>
                </a:r>
              </a:p>
              <a:p>
                <a:pPr indent="457200" algn="just">
                  <a:lnSpc>
                    <a:spcPct val="150000"/>
                  </a:lnSpc>
                  <a:buClr>
                    <a:schemeClr val="accent1">
                      <a:lumMod val="75000"/>
                    </a:schemeClr>
                  </a:buClr>
                  <a:buSzPct val="85000"/>
                  <a:defRPr/>
                </a:pPr>
                <a:r>
                  <a:rPr lang="bg-BG" sz="2400" dirty="0"/>
                  <a:t>Матрицата на върховете (матрица на съседство) е квадратна матрица </a:t>
                </a:r>
                <a:r>
                  <a:rPr lang="ru-RU" sz="2400" dirty="0"/>
                  <a:t>с размер, равен на броя на върховете. Номерата на редовете, както и номерата на стълбовете, са номера на върхове. </a:t>
                </a:r>
                <a:r>
                  <a:rPr lang="bg-BG" sz="2400" dirty="0"/>
                  <a:t>При ориентирани графи матрицата А се определя по следния начин:</a:t>
                </a:r>
              </a:p>
              <a:p>
                <a:pPr indent="457200" algn="just">
                  <a:lnSpc>
                    <a:spcPct val="150000"/>
                  </a:lnSpc>
                  <a:buClr>
                    <a:schemeClr val="accent1">
                      <a:lumMod val="75000"/>
                    </a:schemeClr>
                  </a:buClr>
                  <a:buSzPct val="85000"/>
                  <a:defRPr/>
                </a:pP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𝑎</m:t>
                        </m:r>
                      </m:e>
                      <m:sub>
                        <m:r>
                          <a:rPr lang="en-US" sz="2400">
                            <a:latin typeface="Cambria Math" panose="02040503050406030204" pitchFamily="18" charset="0"/>
                          </a:rPr>
                          <m:t>𝑖𝑗</m:t>
                        </m:r>
                      </m:sub>
                    </m:sSub>
                  </m:oMath>
                </a14:m>
                <a:r>
                  <a:rPr lang="en-US" sz="2400" dirty="0"/>
                  <a:t>=1, </a:t>
                </a:r>
                <a:r>
                  <a:rPr lang="bg-BG" sz="2400" dirty="0"/>
                  <a:t>ако от върха </a:t>
                </a:r>
                <a:r>
                  <a:rPr lang="en-US" sz="2400" dirty="0">
                    <a:latin typeface="Cambria" panose="02040503050406030204" pitchFamily="18" charset="0"/>
                    <a:ea typeface="Cambria" panose="02040503050406030204" pitchFamily="18" charset="0"/>
                  </a:rPr>
                  <a:t>O</a:t>
                </a:r>
                <a:r>
                  <a:rPr lang="en-US" sz="2400" baseline="-25000" dirty="0">
                    <a:latin typeface="Cambria" panose="02040503050406030204" pitchFamily="18" charset="0"/>
                    <a:ea typeface="Cambria" panose="02040503050406030204" pitchFamily="18" charset="0"/>
                  </a:rPr>
                  <a:t>i</a:t>
                </a:r>
                <a:r>
                  <a:rPr lang="en-US" sz="2400" dirty="0">
                    <a:latin typeface="Cambria" panose="02040503050406030204" pitchFamily="18" charset="0"/>
                    <a:ea typeface="Cambria" panose="02040503050406030204" pitchFamily="18" charset="0"/>
                  </a:rPr>
                  <a:t> </a:t>
                </a:r>
                <a:r>
                  <a:rPr lang="bg-BG" sz="2400" dirty="0">
                    <a:latin typeface="Cambria" panose="02040503050406030204" pitchFamily="18" charset="0"/>
                    <a:ea typeface="Cambria" panose="02040503050406030204" pitchFamily="18" charset="0"/>
                  </a:rPr>
                  <a:t>може да се достигне директно до върха </a:t>
                </a:r>
                <a:r>
                  <a:rPr lang="en-US" sz="2400" dirty="0">
                    <a:latin typeface="Cambria" panose="02040503050406030204" pitchFamily="18" charset="0"/>
                    <a:ea typeface="Cambria" panose="02040503050406030204" pitchFamily="18" charset="0"/>
                  </a:rPr>
                  <a:t>O</a:t>
                </a:r>
                <a:r>
                  <a:rPr lang="en-US" sz="2400" baseline="-25000" dirty="0">
                    <a:latin typeface="Cambria" panose="02040503050406030204" pitchFamily="18" charset="0"/>
                    <a:ea typeface="Cambria" panose="02040503050406030204" pitchFamily="18" charset="0"/>
                  </a:rPr>
                  <a:t>j</a:t>
                </a:r>
                <a:r>
                  <a:rPr lang="ru-RU" sz="2400" dirty="0">
                    <a:latin typeface="Cambria" panose="02040503050406030204" pitchFamily="18" charset="0"/>
                    <a:ea typeface="Cambria" panose="02040503050406030204" pitchFamily="18" charset="0"/>
                  </a:rPr>
                  <a:t>;</a:t>
                </a:r>
                <a:endParaRPr lang="en-US" sz="2400" dirty="0">
                  <a:latin typeface="Cambria" panose="02040503050406030204" pitchFamily="18" charset="0"/>
                  <a:ea typeface="Cambria" panose="02040503050406030204" pitchFamily="18" charset="0"/>
                </a:endParaRPr>
              </a:p>
              <a:p>
                <a:pPr indent="457200" algn="just">
                  <a:lnSpc>
                    <a:spcPct val="150000"/>
                  </a:lnSpc>
                  <a:buClr>
                    <a:schemeClr val="accent1">
                      <a:lumMod val="75000"/>
                    </a:schemeClr>
                  </a:buClr>
                  <a:buSzPct val="85000"/>
                  <a:defRPr/>
                </a:pP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𝑎</m:t>
                        </m:r>
                      </m:e>
                      <m:sub>
                        <m:r>
                          <a:rPr lang="en-US" sz="2400">
                            <a:latin typeface="Cambria Math" panose="02040503050406030204" pitchFamily="18" charset="0"/>
                          </a:rPr>
                          <m:t>𝑖𝑗</m:t>
                        </m:r>
                      </m:sub>
                    </m:sSub>
                  </m:oMath>
                </a14:m>
                <a:r>
                  <a:rPr lang="en-US" sz="2400" dirty="0">
                    <a:latin typeface="Cambria" panose="02040503050406030204" pitchFamily="18" charset="0"/>
                    <a:ea typeface="Cambria" panose="02040503050406030204" pitchFamily="18" charset="0"/>
                  </a:rPr>
                  <a:t>=0, </a:t>
                </a:r>
                <a:r>
                  <a:rPr lang="bg-BG" sz="2400" dirty="0"/>
                  <a:t>ако от върха </a:t>
                </a:r>
                <a:r>
                  <a:rPr lang="en-US" sz="2400" dirty="0">
                    <a:latin typeface="Cambria" panose="02040503050406030204" pitchFamily="18" charset="0"/>
                    <a:ea typeface="Cambria" panose="02040503050406030204" pitchFamily="18" charset="0"/>
                  </a:rPr>
                  <a:t>O</a:t>
                </a:r>
                <a:r>
                  <a:rPr lang="en-US" sz="2400" baseline="-25000" dirty="0">
                    <a:latin typeface="Cambria" panose="02040503050406030204" pitchFamily="18" charset="0"/>
                    <a:ea typeface="Cambria" panose="02040503050406030204" pitchFamily="18" charset="0"/>
                  </a:rPr>
                  <a:t>i</a:t>
                </a:r>
                <a:r>
                  <a:rPr lang="en-US" sz="2400" dirty="0">
                    <a:latin typeface="Cambria" panose="02040503050406030204" pitchFamily="18" charset="0"/>
                    <a:ea typeface="Cambria" panose="02040503050406030204" pitchFamily="18" charset="0"/>
                  </a:rPr>
                  <a:t> </a:t>
                </a:r>
                <a:r>
                  <a:rPr lang="bg-BG" sz="2400" dirty="0">
                    <a:latin typeface="Cambria" panose="02040503050406030204" pitchFamily="18" charset="0"/>
                    <a:ea typeface="Cambria" panose="02040503050406030204" pitchFamily="18" charset="0"/>
                  </a:rPr>
                  <a:t>не </a:t>
                </a:r>
                <a:r>
                  <a:rPr lang="bg-BG" sz="2400" dirty="0">
                    <a:ea typeface="Cambria" panose="02040503050406030204" pitchFamily="18" charset="0"/>
                  </a:rPr>
                  <a:t>може да се достигне директно до върха </a:t>
                </a:r>
                <a:r>
                  <a:rPr lang="en-US" sz="2400" dirty="0">
                    <a:latin typeface="Cambria" panose="02040503050406030204" pitchFamily="18" charset="0"/>
                    <a:ea typeface="Cambria" panose="02040503050406030204" pitchFamily="18" charset="0"/>
                  </a:rPr>
                  <a:t>O</a:t>
                </a:r>
                <a:r>
                  <a:rPr lang="en-US" sz="2400" baseline="-25000" dirty="0">
                    <a:latin typeface="Cambria" panose="02040503050406030204" pitchFamily="18" charset="0"/>
                    <a:ea typeface="Cambria" panose="02040503050406030204" pitchFamily="18" charset="0"/>
                  </a:rPr>
                  <a:t>j</a:t>
                </a:r>
                <a:r>
                  <a:rPr lang="ru-RU" sz="2400" dirty="0">
                    <a:ea typeface="Cambria" panose="02040503050406030204" pitchFamily="18" charset="0"/>
                  </a:rPr>
                  <a:t>;</a:t>
                </a:r>
                <a:endParaRPr lang="bg-BG" sz="2400" dirty="0">
                  <a:latin typeface="Cambria" panose="02040503050406030204" pitchFamily="18" charset="0"/>
                  <a:ea typeface="Cambria" panose="02040503050406030204" pitchFamily="18" charset="0"/>
                </a:endParaRPr>
              </a:p>
            </p:txBody>
          </p:sp>
        </mc:Choice>
        <mc:Fallback xmlns="">
          <p:sp>
            <p:nvSpPr>
              <p:cNvPr id="18" name="Rectangle 17"/>
              <p:cNvSpPr>
                <a:spLocks noRot="1" noChangeAspect="1" noMove="1" noResize="1" noEditPoints="1" noAdjustHandles="1" noChangeArrowheads="1" noChangeShapeType="1" noTextEdit="1"/>
              </p:cNvSpPr>
              <p:nvPr/>
            </p:nvSpPr>
            <p:spPr>
              <a:xfrm>
                <a:off x="1943100" y="-71589"/>
                <a:ext cx="10045700" cy="6929589"/>
              </a:xfrm>
              <a:prstGeom prst="rect">
                <a:avLst/>
              </a:prstGeom>
              <a:blipFill>
                <a:blip r:embed="rId2"/>
                <a:stretch>
                  <a:fillRect l="-971" r="-910"/>
                </a:stretch>
              </a:blipFill>
            </p:spPr>
            <p:txBody>
              <a:bodyPr/>
              <a:lstStyle/>
              <a:p>
                <a:r>
                  <a:rPr lang="bg-BG">
                    <a:noFill/>
                  </a:rPr>
                  <a:t> </a:t>
                </a:r>
              </a:p>
            </p:txBody>
          </p:sp>
        </mc:Fallback>
      </mc:AlternateContent>
    </p:spTree>
    <p:extLst>
      <p:ext uri="{BB962C8B-B14F-4D97-AF65-F5344CB8AC3E}">
        <p14:creationId xmlns:p14="http://schemas.microsoft.com/office/powerpoint/2010/main" val="3082691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25</a:t>
            </a:fld>
            <a:endParaRPr lang="bg-BG" dirty="0"/>
          </a:p>
        </p:txBody>
      </p:sp>
      <p:sp>
        <p:nvSpPr>
          <p:cNvPr id="5" name="Rectangle 4"/>
          <p:cNvSpPr/>
          <p:nvPr/>
        </p:nvSpPr>
        <p:spPr>
          <a:xfrm>
            <a:off x="2032000" y="327142"/>
            <a:ext cx="10045700" cy="5078313"/>
          </a:xfrm>
          <a:prstGeom prst="rect">
            <a:avLst/>
          </a:prstGeom>
        </p:spPr>
        <p:txBody>
          <a:bodyPr wrap="square">
            <a:spAutoFit/>
          </a:bodyPr>
          <a:lstStyle/>
          <a:p>
            <a:pPr marL="685800" indent="-342900" algn="just">
              <a:lnSpc>
                <a:spcPct val="150000"/>
              </a:lnSpc>
              <a:buClr>
                <a:schemeClr val="accent1">
                  <a:lumMod val="75000"/>
                </a:schemeClr>
              </a:buClr>
              <a:buSzPct val="85000"/>
              <a:buFont typeface="Wingdings" panose="05000000000000000000" pitchFamily="2" charset="2"/>
              <a:buChar char="q"/>
              <a:defRPr/>
            </a:pPr>
            <a:r>
              <a:rPr lang="bg-BG" sz="2400" dirty="0"/>
              <a:t>Матрицата на инциденциите (</a:t>
            </a:r>
            <a:r>
              <a:rPr lang="en-US" sz="2400" b="1" dirty="0"/>
              <a:t>B</a:t>
            </a:r>
            <a:r>
              <a:rPr lang="bg-BG" sz="2400" dirty="0"/>
              <a:t>)</a:t>
            </a:r>
          </a:p>
          <a:p>
            <a:pPr indent="457200" algn="just">
              <a:lnSpc>
                <a:spcPct val="150000"/>
              </a:lnSpc>
              <a:buClr>
                <a:schemeClr val="accent1">
                  <a:lumMod val="75000"/>
                </a:schemeClr>
              </a:buClr>
              <a:buSzPct val="85000"/>
              <a:defRPr/>
            </a:pPr>
            <a:r>
              <a:rPr lang="bg-BG" sz="2400" dirty="0"/>
              <a:t>Матрицата на инциденциите</a:t>
            </a:r>
            <a:r>
              <a:rPr lang="en-US" sz="2400" dirty="0"/>
              <a:t> </a:t>
            </a:r>
            <a:r>
              <a:rPr lang="bg-BG" sz="2400" dirty="0"/>
              <a:t>характеризира връзката връх, ребро. Размерността на матрицата е </a:t>
            </a:r>
            <a:r>
              <a:rPr lang="en-US" sz="2400" dirty="0"/>
              <a:t>m</a:t>
            </a:r>
            <a:r>
              <a:rPr lang="ru-RU" sz="2400" dirty="0"/>
              <a:t> x </a:t>
            </a:r>
            <a:r>
              <a:rPr lang="en-US" sz="2400" dirty="0"/>
              <a:t>n</a:t>
            </a:r>
            <a:r>
              <a:rPr lang="bg-BG" sz="2400" dirty="0"/>
              <a:t>, където:</a:t>
            </a:r>
          </a:p>
          <a:p>
            <a:pPr indent="457200" algn="just">
              <a:lnSpc>
                <a:spcPct val="150000"/>
              </a:lnSpc>
              <a:buClr>
                <a:schemeClr val="accent1">
                  <a:lumMod val="75000"/>
                </a:schemeClr>
              </a:buClr>
              <a:buSzPct val="85000"/>
              <a:defRPr/>
            </a:pPr>
            <a:r>
              <a:rPr lang="en-US" sz="2400" dirty="0"/>
              <a:t>m</a:t>
            </a:r>
            <a:r>
              <a:rPr lang="ru-RU" sz="2400" dirty="0"/>
              <a:t> – брой върхове в графа</a:t>
            </a:r>
          </a:p>
          <a:p>
            <a:pPr indent="457200" algn="just">
              <a:lnSpc>
                <a:spcPct val="150000"/>
              </a:lnSpc>
              <a:buClr>
                <a:schemeClr val="accent1">
                  <a:lumMod val="75000"/>
                </a:schemeClr>
              </a:buClr>
              <a:buSzPct val="85000"/>
              <a:defRPr/>
            </a:pPr>
            <a:r>
              <a:rPr lang="en-US" sz="2400" dirty="0"/>
              <a:t>n</a:t>
            </a:r>
            <a:r>
              <a:rPr lang="ru-RU" sz="2400" dirty="0"/>
              <a:t> – брой ребра в графа</a:t>
            </a:r>
          </a:p>
          <a:p>
            <a:pPr indent="457200" algn="just">
              <a:lnSpc>
                <a:spcPct val="150000"/>
              </a:lnSpc>
              <a:buClr>
                <a:schemeClr val="accent1">
                  <a:lumMod val="75000"/>
                </a:schemeClr>
              </a:buClr>
              <a:buSzPct val="85000"/>
              <a:defRPr/>
            </a:pPr>
            <a:r>
              <a:rPr lang="ru-RU" sz="2400" dirty="0"/>
              <a:t>Матрицата </a:t>
            </a:r>
            <a:r>
              <a:rPr lang="ru-RU" sz="2400" b="1" dirty="0"/>
              <a:t>В</a:t>
            </a:r>
            <a:r>
              <a:rPr lang="ru-RU" sz="2400" dirty="0"/>
              <a:t> има толкова реда, колкото са върховете на графа и толкова стълба, колкото са ребрата на графа. Номерата на ребрата се избират произволно. Не трябва да се повтарят.</a:t>
            </a:r>
          </a:p>
          <a:p>
            <a:pPr indent="457200" algn="just">
              <a:lnSpc>
                <a:spcPct val="150000"/>
              </a:lnSpc>
              <a:buClr>
                <a:schemeClr val="accent1">
                  <a:lumMod val="75000"/>
                </a:schemeClr>
              </a:buClr>
              <a:buSzPct val="85000"/>
              <a:defRPr/>
            </a:pPr>
            <a:endParaRPr lang="bg-BG"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607948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26</a:t>
            </a:fld>
            <a:endParaRPr lang="bg-BG" dirty="0"/>
          </a:p>
        </p:txBody>
      </p:sp>
      <mc:AlternateContent xmlns:mc="http://schemas.openxmlformats.org/markup-compatibility/2006" xmlns:a14="http://schemas.microsoft.com/office/drawing/2010/main">
        <mc:Choice Requires="a14">
          <p:sp>
            <p:nvSpPr>
              <p:cNvPr id="2" name="Rectangle 1"/>
              <p:cNvSpPr/>
              <p:nvPr/>
            </p:nvSpPr>
            <p:spPr>
              <a:xfrm>
                <a:off x="1968500" y="299135"/>
                <a:ext cx="10223500" cy="5578194"/>
              </a:xfrm>
              <a:prstGeom prst="rect">
                <a:avLst/>
              </a:prstGeom>
            </p:spPr>
            <p:txBody>
              <a:bodyPr wrap="square">
                <a:spAutoFit/>
              </a:bodyPr>
              <a:lstStyle/>
              <a:p>
                <a:pPr indent="457200" algn="just">
                  <a:lnSpc>
                    <a:spcPct val="150000"/>
                  </a:lnSpc>
                  <a:spcAft>
                    <a:spcPts val="0"/>
                  </a:spcAft>
                  <a:buClr>
                    <a:schemeClr val="accent1">
                      <a:lumMod val="75000"/>
                    </a:schemeClr>
                  </a:buClr>
                  <a:buSzPct val="85000"/>
                  <a:defRPr/>
                </a:pPr>
                <a:r>
                  <a:rPr lang="bg-BG" sz="2400" dirty="0"/>
                  <a:t>Матрицата на инциденциите </a:t>
                </a:r>
                <a:r>
                  <a:rPr lang="en-US" sz="2400" dirty="0"/>
                  <a:t>B </a:t>
                </a:r>
                <a:r>
                  <a:rPr lang="bg-BG" sz="2400" dirty="0"/>
                  <a:t>при неориентираните графи се определя по следния начин:</a:t>
                </a:r>
              </a:p>
              <a:p>
                <a:pPr marL="457200">
                  <a:lnSpc>
                    <a:spcPct val="150000"/>
                  </a:lnSpc>
                  <a:spcAft>
                    <a:spcPts val="0"/>
                  </a:spcAft>
                  <a:buClr>
                    <a:schemeClr val="accent1">
                      <a:lumMod val="75000"/>
                    </a:schemeClr>
                  </a:buClr>
                  <a:buSzPct val="85000"/>
                  <a:defRPr/>
                </a:pPr>
                <a14:m>
                  <m:oMathPara xmlns:m="http://schemas.openxmlformats.org/officeDocument/2006/math">
                    <m:oMathParaPr>
                      <m:jc m:val="left"/>
                    </m:oMathParaPr>
                    <m:oMath xmlns:m="http://schemas.openxmlformats.org/officeDocument/2006/math">
                      <m:sSub>
                        <m:sSubPr>
                          <m:ctrlPr>
                            <a:rPr lang="bg-BG" sz="2400" i="1" smtClean="0">
                              <a:latin typeface="Cambria Math" panose="02040503050406030204" pitchFamily="18" charset="0"/>
                            </a:rPr>
                          </m:ctrlPr>
                        </m:sSubPr>
                        <m:e>
                          <m:r>
                            <m:rPr>
                              <m:nor/>
                            </m:rPr>
                            <a:rPr lang="en-US" sz="2400" b="0" i="0" smtClean="0">
                              <a:latin typeface="Cambria Math" panose="02040503050406030204" pitchFamily="18" charset="0"/>
                            </a:rPr>
                            <m:t>b</m:t>
                          </m:r>
                        </m:e>
                        <m:sub>
                          <m:r>
                            <m:rPr>
                              <m:nor/>
                            </m:rPr>
                            <a:rPr lang="en-US" sz="2400" b="0" i="0" smtClean="0">
                              <a:latin typeface="Cambria Math" panose="02040503050406030204" pitchFamily="18" charset="0"/>
                            </a:rPr>
                            <m:t>ij</m:t>
                          </m:r>
                        </m:sub>
                      </m:sSub>
                      <m:r>
                        <m:rPr>
                          <m:nor/>
                        </m:rPr>
                        <a:rPr lang="en-US" sz="2400" b="0" i="0"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m>
                            <m:mPr>
                              <m:mcs>
                                <m:mc>
                                  <m:mcPr>
                                    <m:count m:val="1"/>
                                    <m:mcJc m:val="center"/>
                                  </m:mcPr>
                                </m:mc>
                              </m:mcs>
                              <m:ctrlPr>
                                <a:rPr lang="en-US" sz="2400" b="0" i="1" smtClean="0">
                                  <a:latin typeface="Cambria Math" panose="02040503050406030204" pitchFamily="18" charset="0"/>
                                </a:rPr>
                              </m:ctrlPr>
                            </m:mPr>
                            <m:mr>
                              <m:e>
                                <m:r>
                                  <m:rPr>
                                    <m:brk m:alnAt="7"/>
                                  </m:rPr>
                                  <a:rPr lang="bg-BG" sz="2400" b="0" i="1" smtClean="0">
                                    <a:latin typeface="Cambria Math" panose="02040503050406030204" pitchFamily="18" charset="0"/>
                                  </a:rPr>
                                  <m:t>1</m:t>
                                </m:r>
                                <m:r>
                                  <a:rPr lang="bg-BG" sz="2400" b="0" i="1" smtClean="0">
                                    <a:latin typeface="Cambria Math" panose="02040503050406030204" pitchFamily="18" charset="0"/>
                                  </a:rPr>
                                  <m:t>,</m:t>
                                </m:r>
                              </m:e>
                            </m:mr>
                            <m:mr>
                              <m:e>
                                <m:r>
                                  <a:rPr lang="bg-BG" sz="2400" b="0" i="1" smtClean="0">
                                    <a:latin typeface="Cambria Math" panose="02040503050406030204" pitchFamily="18" charset="0"/>
                                  </a:rPr>
                                  <m:t>0,</m:t>
                                </m:r>
                              </m:e>
                            </m:mr>
                          </m:m>
                          <m:m>
                            <m:mPr>
                              <m:mcs>
                                <m:mc>
                                  <m:mcPr>
                                    <m:count m:val="1"/>
                                    <m:mcJc m:val="center"/>
                                  </m:mcPr>
                                </m:mc>
                              </m:mcs>
                              <m:ctrlPr>
                                <a:rPr lang="en-US" sz="2400" b="0" i="1" smtClean="0">
                                  <a:latin typeface="Cambria Math" panose="02040503050406030204" pitchFamily="18" charset="0"/>
                                </a:rPr>
                              </m:ctrlPr>
                            </m:mPr>
                            <m:mr>
                              <m:e>
                                <m:r>
                                  <m:rPr>
                                    <m:nor/>
                                  </m:rPr>
                                  <a:rPr lang="bg-BG" sz="2400">
                                    <a:solidFill>
                                      <a:prstClr val="black"/>
                                    </a:solidFill>
                                    <a:latin typeface="Cambria Math" panose="02040503050406030204" pitchFamily="18" charset="0"/>
                                  </a:rPr>
                                  <m:t>ако върхът </m:t>
                                </m:r>
                                <m:r>
                                  <m:rPr>
                                    <m:nor/>
                                  </m:rPr>
                                  <a:rPr lang="en-US" sz="2400">
                                    <a:solidFill>
                                      <a:prstClr val="black"/>
                                    </a:solidFill>
                                    <a:latin typeface="Cambria Math" panose="02040503050406030204" pitchFamily="18" charset="0"/>
                                  </a:rPr>
                                  <m:t>i</m:t>
                                </m:r>
                                <m:r>
                                  <m:rPr>
                                    <m:nor/>
                                  </m:rPr>
                                  <a:rPr lang="bg-BG" sz="2400">
                                    <a:solidFill>
                                      <a:prstClr val="black"/>
                                    </a:solidFill>
                                    <a:latin typeface="Cambria Math" panose="02040503050406030204" pitchFamily="18" charset="0"/>
                                  </a:rPr>
                                  <m:t> е инцидентен на </m:t>
                                </m:r>
                                <m:r>
                                  <m:rPr>
                                    <m:nor/>
                                  </m:rPr>
                                  <a:rPr lang="en-US" sz="2400">
                                    <a:solidFill>
                                      <a:prstClr val="black"/>
                                    </a:solidFill>
                                    <a:latin typeface="Cambria Math" panose="02040503050406030204" pitchFamily="18" charset="0"/>
                                  </a:rPr>
                                  <m:t>j</m:t>
                                </m:r>
                                <m:r>
                                  <m:rPr>
                                    <m:nor/>
                                  </m:rPr>
                                  <a:rPr lang="en-US" sz="2400">
                                    <a:solidFill>
                                      <a:prstClr val="black"/>
                                    </a:solidFill>
                                    <a:latin typeface="Cambria Math" panose="02040503050406030204" pitchFamily="18" charset="0"/>
                                  </a:rPr>
                                  <m:t> −</m:t>
                                </m:r>
                                <m:r>
                                  <m:rPr>
                                    <m:nor/>
                                  </m:rPr>
                                  <a:rPr lang="bg-BG" sz="2400" baseline="24000">
                                    <a:solidFill>
                                      <a:prstClr val="black"/>
                                    </a:solidFill>
                                    <a:latin typeface="Cambria Math" panose="02040503050406030204" pitchFamily="18" charset="0"/>
                                  </a:rPr>
                                  <m:t>тото</m:t>
                                </m:r>
                                <m:r>
                                  <m:rPr>
                                    <m:nor/>
                                  </m:rPr>
                                  <a:rPr lang="bg-BG" sz="2400" baseline="30000">
                                    <a:solidFill>
                                      <a:prstClr val="black"/>
                                    </a:solidFill>
                                    <a:latin typeface="Cambria Math" panose="02040503050406030204" pitchFamily="18" charset="0"/>
                                  </a:rPr>
                                  <m:t> </m:t>
                                </m:r>
                                <m:r>
                                  <m:rPr>
                                    <m:nor/>
                                  </m:rPr>
                                  <a:rPr lang="bg-BG" sz="2400">
                                    <a:solidFill>
                                      <a:prstClr val="black"/>
                                    </a:solidFill>
                                    <a:latin typeface="Cambria Math" panose="02040503050406030204" pitchFamily="18" charset="0"/>
                                  </a:rPr>
                                  <m:t>ребро(т.е. има връзка)</m:t>
                                </m:r>
                                <m:r>
                                  <m:rPr>
                                    <m:nor/>
                                  </m:rPr>
                                  <a:rPr lang="bg-BG" sz="2400" b="0" i="0" smtClean="0">
                                    <a:solidFill>
                                      <a:prstClr val="black"/>
                                    </a:solidFill>
                                    <a:latin typeface="Cambria Math" panose="02040503050406030204" pitchFamily="18" charset="0"/>
                                  </a:rPr>
                                  <m:t>    </m:t>
                                </m:r>
                              </m:e>
                            </m:mr>
                            <m:mr>
                              <m:e>
                                <m:r>
                                  <m:rPr>
                                    <m:nor/>
                                  </m:rPr>
                                  <a:rPr lang="bg-BG" sz="2400" b="0" i="0" smtClean="0">
                                    <a:latin typeface="Cambria Math" panose="02040503050406030204" pitchFamily="18" charset="0"/>
                                  </a:rPr>
                                  <m:t> </m:t>
                                </m:r>
                                <m:r>
                                  <m:rPr>
                                    <m:nor/>
                                  </m:rPr>
                                  <a:rPr lang="bg-BG" sz="2400">
                                    <a:latin typeface="Cambria Math" panose="02040503050406030204" pitchFamily="18" charset="0"/>
                                  </a:rPr>
                                  <m:t>ако няма връзка</m:t>
                                </m:r>
                                <m:r>
                                  <m:rPr>
                                    <m:nor/>
                                  </m:rPr>
                                  <a:rPr lang="bg-BG" sz="2400" b="0" i="0" smtClean="0">
                                    <a:latin typeface="Cambria Math" panose="02040503050406030204" pitchFamily="18" charset="0"/>
                                  </a:rPr>
                                  <m:t>                                                                                             </m:t>
                                </m:r>
                              </m:e>
                            </m:mr>
                          </m:m>
                        </m:e>
                      </m:d>
                    </m:oMath>
                  </m:oMathPara>
                </a14:m>
                <a:endParaRPr lang="bg-BG" sz="2400" dirty="0"/>
              </a:p>
              <a:p>
                <a:pPr indent="457200" algn="just">
                  <a:buClr>
                    <a:schemeClr val="accent1">
                      <a:lumMod val="75000"/>
                    </a:schemeClr>
                  </a:buClr>
                  <a:buSzPct val="85000"/>
                  <a:defRPr/>
                </a:pPr>
                <a:r>
                  <a:rPr lang="bg-BG" sz="2400" dirty="0"/>
                  <a:t>За ориентиран граф:</a:t>
                </a:r>
              </a:p>
              <a:p>
                <a:pPr marL="457200" indent="457200" algn="just">
                  <a:buClr>
                    <a:schemeClr val="accent1">
                      <a:lumMod val="75000"/>
                    </a:schemeClr>
                  </a:buClr>
                  <a:buSzPct val="85000"/>
                  <a:defRPr/>
                </a:pPr>
                <a14:m>
                  <m:oMathPara xmlns:m="http://schemas.openxmlformats.org/officeDocument/2006/math">
                    <m:oMathParaPr>
                      <m:jc m:val="left"/>
                    </m:oMathParaPr>
                    <m:oMath xmlns:m="http://schemas.openxmlformats.org/officeDocument/2006/math">
                      <m:sSub>
                        <m:sSubPr>
                          <m:ctrlPr>
                            <a:rPr lang="bg-BG" sz="2400" i="1">
                              <a:latin typeface="Cambria Math" panose="02040503050406030204" pitchFamily="18" charset="0"/>
                            </a:rPr>
                          </m:ctrlPr>
                        </m:sSubPr>
                        <m:e>
                          <m:r>
                            <m:rPr>
                              <m:nor/>
                            </m:rPr>
                            <a:rPr lang="en-US" sz="2400">
                              <a:latin typeface="Cambria Math" panose="02040503050406030204" pitchFamily="18" charset="0"/>
                            </a:rPr>
                            <m:t>b</m:t>
                          </m:r>
                        </m:e>
                        <m:sub>
                          <m:r>
                            <m:rPr>
                              <m:nor/>
                            </m:rPr>
                            <a:rPr lang="en-US" sz="2400">
                              <a:latin typeface="Cambria Math" panose="02040503050406030204" pitchFamily="18" charset="0"/>
                            </a:rPr>
                            <m:t>ij</m:t>
                          </m:r>
                        </m:sub>
                      </m:sSub>
                      <m:r>
                        <a:rPr lang="bg-BG" sz="2400" i="1">
                          <a:latin typeface="Cambria Math" panose="02040503050406030204" pitchFamily="18" charset="0"/>
                        </a:rPr>
                        <m:t>=</m:t>
                      </m:r>
                      <m:d>
                        <m:dPr>
                          <m:begChr m:val="{"/>
                          <m:endChr m:val=""/>
                          <m:ctrlPr>
                            <a:rPr lang="bg-BG" sz="2400" i="1">
                              <a:latin typeface="Cambria Math" panose="02040503050406030204" pitchFamily="18" charset="0"/>
                            </a:rPr>
                          </m:ctrlPr>
                        </m:dPr>
                        <m:e>
                          <m:m>
                            <m:mPr>
                              <m:mcs>
                                <m:mc>
                                  <m:mcPr>
                                    <m:count m:val="2"/>
                                    <m:mcJc m:val="center"/>
                                  </m:mcPr>
                                </m:mc>
                              </m:mcs>
                              <m:ctrlPr>
                                <a:rPr lang="bg-BG" sz="2400" i="1">
                                  <a:latin typeface="Cambria Math" panose="02040503050406030204" pitchFamily="18" charset="0"/>
                                </a:rPr>
                              </m:ctrlPr>
                            </m:mPr>
                            <m:mr>
                              <m:e>
                                <m:r>
                                  <m:rPr>
                                    <m:brk m:alnAt="7"/>
                                  </m:rPr>
                                  <a:rPr lang="bg-BG" sz="2400" i="1">
                                    <a:latin typeface="Cambria Math" panose="02040503050406030204" pitchFamily="18" charset="0"/>
                                  </a:rPr>
                                  <m:t> </m:t>
                                </m:r>
                                <m:r>
                                  <a:rPr lang="bg-BG" sz="2400" i="1">
                                    <a:latin typeface="Cambria Math" panose="02040503050406030204" pitchFamily="18" charset="0"/>
                                  </a:rPr>
                                  <m:t>  1,</m:t>
                                </m:r>
                              </m:e>
                              <m:e>
                                <m:r>
                                  <a:rPr lang="bg-BG" sz="2400" b="0" i="1" smtClean="0">
                                    <a:latin typeface="Cambria Math" panose="02040503050406030204" pitchFamily="18" charset="0"/>
                                  </a:rPr>
                                  <m:t>ако </m:t>
                                </m:r>
                                <m:r>
                                  <a:rPr lang="en-US" sz="2400" b="0" i="1" smtClean="0">
                                    <a:latin typeface="Cambria Math" panose="02040503050406030204" pitchFamily="18" charset="0"/>
                                  </a:rPr>
                                  <m:t>𝑖</m:t>
                                </m:r>
                                <m:r>
                                  <a:rPr lang="en-US" sz="2400" b="0" i="1" smtClean="0">
                                    <a:latin typeface="Cambria Math" panose="02040503050406030204" pitchFamily="18" charset="0"/>
                                  </a:rPr>
                                  <m:t> −я връх е начало на </m:t>
                                </m:r>
                                <m:r>
                                  <a:rPr lang="en-US" sz="2400" b="0" i="1" smtClean="0">
                                    <a:latin typeface="Cambria Math" panose="02040503050406030204" pitchFamily="18" charset="0"/>
                                  </a:rPr>
                                  <m:t>𝑗</m:t>
                                </m:r>
                                <m:r>
                                  <a:rPr lang="bg-BG" sz="2400" b="0" i="1" smtClean="0">
                                    <a:latin typeface="Cambria Math" panose="02040503050406030204" pitchFamily="18" charset="0"/>
                                  </a:rPr>
                                  <m:t> </m:t>
                                </m:r>
                                <m:r>
                                  <a:rPr lang="bg-BG" sz="2400" b="0" i="1" baseline="15000" smtClean="0">
                                    <a:latin typeface="Cambria Math" panose="02040503050406030204" pitchFamily="18" charset="0"/>
                                  </a:rPr>
                                  <m:t>−</m:t>
                                </m:r>
                                <m:r>
                                  <a:rPr lang="bg-BG" sz="2400" b="0" i="1" baseline="38000" smtClean="0">
                                    <a:latin typeface="Cambria Math" panose="02040503050406030204" pitchFamily="18" charset="0"/>
                                  </a:rPr>
                                  <m:t>тото </m:t>
                                </m:r>
                                <m:r>
                                  <a:rPr lang="bg-BG" sz="2400" b="0" i="1" smtClean="0">
                                    <a:latin typeface="Cambria Math" panose="02040503050406030204" pitchFamily="18" charset="0"/>
                                  </a:rPr>
                                  <m:t>ребро                  </m:t>
                                </m:r>
                              </m:e>
                            </m:mr>
                            <m:mr>
                              <m:e>
                                <m:r>
                                  <a:rPr lang="bg-BG" sz="2400" i="1">
                                    <a:latin typeface="Cambria Math" panose="02040503050406030204" pitchFamily="18" charset="0"/>
                                  </a:rPr>
                                  <m:t>−1,</m:t>
                                </m:r>
                              </m:e>
                              <m:e>
                                <m:r>
                                  <a:rPr lang="bg-BG" sz="2400" i="1">
                                    <a:latin typeface="Cambria Math" panose="02040503050406030204" pitchFamily="18" charset="0"/>
                                  </a:rPr>
                                  <m:t>ако</m:t>
                                </m:r>
                                <m:r>
                                  <a:rPr lang="bg-BG" sz="2400" i="1" smtClean="0">
                                    <a:latin typeface="Cambria Math" panose="02040503050406030204" pitchFamily="18" charset="0"/>
                                  </a:rPr>
                                  <m:t> </m:t>
                                </m:r>
                                <m:r>
                                  <a:rPr lang="en-US" sz="2400" i="1">
                                    <a:latin typeface="Cambria Math" panose="02040503050406030204" pitchFamily="18" charset="0"/>
                                  </a:rPr>
                                  <m:t>𝑖</m:t>
                                </m:r>
                                <m:r>
                                  <a:rPr lang="en-US" sz="2400" i="1">
                                    <a:latin typeface="Cambria Math" panose="02040503050406030204" pitchFamily="18" charset="0"/>
                                  </a:rPr>
                                  <m:t> −я връх е край на </m:t>
                                </m:r>
                                <m:r>
                                  <a:rPr lang="en-US" sz="2400" i="1">
                                    <a:latin typeface="Cambria Math" panose="02040503050406030204" pitchFamily="18" charset="0"/>
                                  </a:rPr>
                                  <m:t>𝑗</m:t>
                                </m:r>
                                <m:r>
                                  <a:rPr lang="bg-BG" sz="2400" i="1">
                                    <a:latin typeface="Cambria Math" panose="02040503050406030204" pitchFamily="18" charset="0"/>
                                  </a:rPr>
                                  <m:t> </m:t>
                                </m:r>
                                <m:r>
                                  <a:rPr lang="bg-BG" sz="2400" i="1" baseline="15000">
                                    <a:latin typeface="Cambria Math" panose="02040503050406030204" pitchFamily="18" charset="0"/>
                                  </a:rPr>
                                  <m:t>−</m:t>
                                </m:r>
                                <m:r>
                                  <a:rPr lang="bg-BG" sz="2400" i="1" baseline="38000">
                                    <a:latin typeface="Cambria Math" panose="02040503050406030204" pitchFamily="18" charset="0"/>
                                  </a:rPr>
                                  <m:t>тото </m:t>
                                </m:r>
                                <m:r>
                                  <a:rPr lang="bg-BG" sz="2400" i="1">
                                    <a:latin typeface="Cambria Math" panose="02040503050406030204" pitchFamily="18" charset="0"/>
                                  </a:rPr>
                                  <m:t>ребро</m:t>
                                </m:r>
                                <m:r>
                                  <a:rPr lang="bg-BG" sz="2400" b="0" i="1" smtClean="0">
                                    <a:latin typeface="Cambria Math" panose="02040503050406030204" pitchFamily="18" charset="0"/>
                                  </a:rPr>
                                  <m:t>                      </m:t>
                                </m:r>
                              </m:e>
                            </m:mr>
                            <m:mr>
                              <m:e>
                                <m:r>
                                  <a:rPr lang="bg-BG" sz="2400" i="1">
                                    <a:latin typeface="Cambria Math" panose="02040503050406030204" pitchFamily="18" charset="0"/>
                                  </a:rPr>
                                  <m:t>   </m:t>
                                </m:r>
                                <m:m>
                                  <m:mPr>
                                    <m:mcs>
                                      <m:mc>
                                        <m:mcPr>
                                          <m:count m:val="1"/>
                                          <m:mcJc m:val="center"/>
                                        </m:mcPr>
                                      </m:mc>
                                    </m:mcs>
                                    <m:ctrlPr>
                                      <a:rPr lang="bg-BG" sz="2400" i="1">
                                        <a:latin typeface="Cambria Math" panose="02040503050406030204" pitchFamily="18" charset="0"/>
                                      </a:rPr>
                                    </m:ctrlPr>
                                  </m:mPr>
                                  <m:mr>
                                    <m:e>
                                      <m:r>
                                        <m:rPr>
                                          <m:brk m:alnAt="7"/>
                                        </m:rPr>
                                        <a:rPr lang="bg-BG" sz="2400" i="1">
                                          <a:latin typeface="Cambria Math" panose="02040503050406030204" pitchFamily="18" charset="0"/>
                                        </a:rPr>
                                        <m:t>0</m:t>
                                      </m:r>
                                      <m:r>
                                        <a:rPr lang="bg-BG" sz="2400" i="1">
                                          <a:latin typeface="Cambria Math" panose="02040503050406030204" pitchFamily="18" charset="0"/>
                                        </a:rPr>
                                        <m:t>,</m:t>
                                      </m:r>
                                    </m:e>
                                  </m:mr>
                                  <m:mr>
                                    <m:e>
                                      <m:r>
                                        <a:rPr lang="bg-BG" sz="2400" i="1">
                                          <a:latin typeface="Cambria Math" panose="02040503050406030204" pitchFamily="18" charset="0"/>
                                        </a:rPr>
                                        <m:t>2,</m:t>
                                      </m:r>
                                    </m:e>
                                  </m:mr>
                                </m:m>
                              </m:e>
                              <m:e>
                                <m:m>
                                  <m:mPr>
                                    <m:mcs>
                                      <m:mc>
                                        <m:mcPr>
                                          <m:count m:val="1"/>
                                          <m:mcJc m:val="center"/>
                                        </m:mcPr>
                                      </m:mc>
                                    </m:mcs>
                                    <m:ctrlPr>
                                      <a:rPr lang="bg-BG" sz="2400" i="1">
                                        <a:latin typeface="Cambria Math" panose="02040503050406030204" pitchFamily="18" charset="0"/>
                                      </a:rPr>
                                    </m:ctrlPr>
                                  </m:mPr>
                                  <m:mr>
                                    <m:e>
                                      <m:r>
                                        <a:rPr lang="bg-BG" sz="2400" i="1">
                                          <a:latin typeface="Cambria Math" panose="02040503050406030204" pitchFamily="18" charset="0"/>
                                        </a:rPr>
                                        <m:t>ако </m:t>
                                      </m:r>
                                      <m:r>
                                        <a:rPr lang="en-US" sz="2400" i="1">
                                          <a:latin typeface="Cambria Math" panose="02040503050406030204" pitchFamily="18" charset="0"/>
                                        </a:rPr>
                                        <m:t>𝑖</m:t>
                                      </m:r>
                                      <m:r>
                                        <a:rPr lang="en-US" sz="2400" i="1">
                                          <a:latin typeface="Cambria Math" panose="02040503050406030204" pitchFamily="18" charset="0"/>
                                        </a:rPr>
                                        <m:t> −я  връх не е инцидентен на </m:t>
                                      </m:r>
                                      <m:r>
                                        <a:rPr lang="en-US" sz="2400" i="1">
                                          <a:latin typeface="Cambria Math" panose="02040503050406030204" pitchFamily="18" charset="0"/>
                                        </a:rPr>
                                        <m:t>𝑗</m:t>
                                      </m:r>
                                      <m:r>
                                        <a:rPr lang="bg-BG" sz="2400" i="1">
                                          <a:latin typeface="Cambria Math" panose="02040503050406030204" pitchFamily="18" charset="0"/>
                                        </a:rPr>
                                        <m:t> </m:t>
                                      </m:r>
                                      <m:r>
                                        <a:rPr lang="bg-BG" sz="2400" i="1" baseline="15000">
                                          <a:latin typeface="Cambria Math" panose="02040503050406030204" pitchFamily="18" charset="0"/>
                                        </a:rPr>
                                        <m:t>−</m:t>
                                      </m:r>
                                      <m:r>
                                        <a:rPr lang="bg-BG" sz="2400" i="1" baseline="38000">
                                          <a:latin typeface="Cambria Math" panose="02040503050406030204" pitchFamily="18" charset="0"/>
                                        </a:rPr>
                                        <m:t>тото </m:t>
                                      </m:r>
                                      <m:r>
                                        <a:rPr lang="bg-BG" sz="2400" i="1">
                                          <a:latin typeface="Cambria Math" panose="02040503050406030204" pitchFamily="18" charset="0"/>
                                        </a:rPr>
                                        <m:t>ребро</m:t>
                                      </m:r>
                                    </m:e>
                                  </m:mr>
                                  <m:mr>
                                    <m:e>
                                      <m:r>
                                        <a:rPr lang="bg-BG" sz="2400" b="0" i="1" smtClean="0">
                                          <a:latin typeface="Cambria Math" panose="02040503050406030204" pitchFamily="18" charset="0"/>
                                        </a:rPr>
                                        <m:t>ако има примка                                                               </m:t>
                                      </m:r>
                                    </m:e>
                                  </m:mr>
                                </m:m>
                              </m:e>
                            </m:mr>
                          </m:m>
                        </m:e>
                      </m:d>
                    </m:oMath>
                  </m:oMathPara>
                </a14:m>
                <a:endParaRPr lang="bg-BG" sz="2400" dirty="0"/>
              </a:p>
              <a:p>
                <a:pPr>
                  <a:lnSpc>
                    <a:spcPct val="150000"/>
                  </a:lnSpc>
                  <a:spcAft>
                    <a:spcPts val="0"/>
                  </a:spcAft>
                  <a:buClr>
                    <a:schemeClr val="accent1">
                      <a:lumMod val="75000"/>
                    </a:schemeClr>
                  </a:buClr>
                  <a:buSzPct val="85000"/>
                  <a:defRPr/>
                </a:pPr>
                <a:endParaRPr lang="bg-BG" sz="2400" dirty="0"/>
              </a:p>
              <a:p>
                <a:pPr>
                  <a:lnSpc>
                    <a:spcPct val="150000"/>
                  </a:lnSpc>
                  <a:spcAft>
                    <a:spcPts val="0"/>
                  </a:spcAft>
                  <a:buClr>
                    <a:schemeClr val="accent1">
                      <a:lumMod val="75000"/>
                    </a:schemeClr>
                  </a:buClr>
                  <a:buSzPct val="85000"/>
                  <a:defRPr/>
                </a:pPr>
                <a:endParaRPr lang="bg-BG" sz="2400" dirty="0"/>
              </a:p>
            </p:txBody>
          </p:sp>
        </mc:Choice>
        <mc:Fallback xmlns="">
          <p:sp>
            <p:nvSpPr>
              <p:cNvPr id="2" name="Rectangle 1"/>
              <p:cNvSpPr>
                <a:spLocks noRot="1" noChangeAspect="1" noMove="1" noResize="1" noEditPoints="1" noAdjustHandles="1" noChangeArrowheads="1" noChangeShapeType="1" noTextEdit="1"/>
              </p:cNvSpPr>
              <p:nvPr/>
            </p:nvSpPr>
            <p:spPr>
              <a:xfrm>
                <a:off x="1968500" y="299135"/>
                <a:ext cx="10223500" cy="5578194"/>
              </a:xfrm>
              <a:prstGeom prst="rect">
                <a:avLst/>
              </a:prstGeom>
              <a:blipFill>
                <a:blip r:embed="rId2"/>
                <a:stretch>
                  <a:fillRect l="-954" r="-894"/>
                </a:stretch>
              </a:blipFill>
            </p:spPr>
            <p:txBody>
              <a:bodyPr/>
              <a:lstStyle/>
              <a:p>
                <a:r>
                  <a:rPr lang="en-GB">
                    <a:noFill/>
                  </a:rPr>
                  <a:t> </a:t>
                </a:r>
              </a:p>
            </p:txBody>
          </p:sp>
        </mc:Fallback>
      </mc:AlternateContent>
    </p:spTree>
    <p:extLst>
      <p:ext uri="{BB962C8B-B14F-4D97-AF65-F5344CB8AC3E}">
        <p14:creationId xmlns:p14="http://schemas.microsoft.com/office/powerpoint/2010/main" val="1838376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27</a:t>
            </a:fld>
            <a:endParaRPr lang="bg-BG" dirty="0"/>
          </a:p>
        </p:txBody>
      </p:sp>
      <p:sp>
        <p:nvSpPr>
          <p:cNvPr id="2" name="Rectangle 1"/>
          <p:cNvSpPr/>
          <p:nvPr/>
        </p:nvSpPr>
        <p:spPr>
          <a:xfrm>
            <a:off x="2032000" y="410309"/>
            <a:ext cx="9944100" cy="5632311"/>
          </a:xfrm>
          <a:prstGeom prst="rect">
            <a:avLst/>
          </a:prstGeom>
        </p:spPr>
        <p:txBody>
          <a:bodyPr wrap="square">
            <a:spAutoFit/>
          </a:bodyPr>
          <a:lstStyle/>
          <a:p>
            <a:pPr marL="685800" indent="-457200" algn="just">
              <a:lnSpc>
                <a:spcPct val="150000"/>
              </a:lnSpc>
              <a:buClr>
                <a:schemeClr val="accent1">
                  <a:lumMod val="75000"/>
                </a:schemeClr>
              </a:buClr>
              <a:buSzPct val="100000"/>
              <a:buFont typeface="+mj-lt"/>
              <a:buAutoNum type="arabicPeriod" startAt="4"/>
              <a:tabLst>
                <a:tab pos="457200" algn="l"/>
              </a:tabLst>
              <a:defRPr/>
            </a:pPr>
            <a:r>
              <a:rPr lang="bg-BG" sz="2400" b="1" i="1" dirty="0">
                <a:ea typeface="Times New Roman" panose="02020603050405020304" pitchFamily="18" charset="0"/>
              </a:rPr>
              <a:t>Представяне на графи с помощта на множества.</a:t>
            </a:r>
          </a:p>
          <a:p>
            <a:pPr indent="457200" algn="just">
              <a:lnSpc>
                <a:spcPct val="150000"/>
              </a:lnSpc>
              <a:buClr>
                <a:schemeClr val="accent1">
                  <a:lumMod val="75000"/>
                </a:schemeClr>
              </a:buClr>
              <a:buSzPct val="85000"/>
              <a:defRPr/>
            </a:pPr>
            <a:r>
              <a:rPr lang="bg-BG" sz="2400" dirty="0"/>
              <a:t>При решаване на практически задачи, свързани със структурата на сложни системи, голяма част от елементите на матриците А и В са нулеви. В тези случаи е целесъобразно да се използва множественото представяне за формализация на структурата. Графът се задава с множеството върхове. За всеки връх се описват върховете, в които може да се попадне пряко от върха. Това описание се нарича множество на десните инциденции. В други случаи описанието може да се даде с множество на левите инциденции, където се описва от кои върхове се попада директно в текущия</a:t>
            </a:r>
            <a:r>
              <a:rPr lang="ru-RU" sz="2400" dirty="0"/>
              <a:t>.</a:t>
            </a:r>
            <a:endParaRPr lang="bg-BG" sz="2400" dirty="0"/>
          </a:p>
        </p:txBody>
      </p:sp>
    </p:spTree>
    <p:extLst>
      <p:ext uri="{BB962C8B-B14F-4D97-AF65-F5344CB8AC3E}">
        <p14:creationId xmlns:p14="http://schemas.microsoft.com/office/powerpoint/2010/main" val="42631547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0" y="228600"/>
            <a:ext cx="10160000" cy="1008743"/>
          </a:xfrm>
        </p:spPr>
        <p:txBody>
          <a:bodyPr>
            <a:noAutofit/>
          </a:bodyPr>
          <a:lstStyle/>
          <a:p>
            <a:pPr algn="ctr">
              <a:spcAft>
                <a:spcPts val="0"/>
              </a:spcAft>
            </a:pPr>
            <a:r>
              <a:rPr lang="bg-BG" sz="4000" b="1" dirty="0">
                <a:ea typeface="Times New Roman" panose="02020603050405020304" pitchFamily="18" charset="0"/>
              </a:rPr>
              <a:t>Примери</a:t>
            </a:r>
            <a:endParaRPr lang="bg-BG" sz="2800" dirty="0">
              <a:effectLst/>
              <a:ea typeface="Times New Roman" panose="02020603050405020304" pitchFamily="18" charset="0"/>
            </a:endParaRPr>
          </a:p>
        </p:txBody>
      </p:sp>
      <p:sp>
        <p:nvSpPr>
          <p:cNvPr id="3" name="Text Placeholder 2"/>
          <p:cNvSpPr>
            <a:spLocks noGrp="1"/>
          </p:cNvSpPr>
          <p:nvPr>
            <p:ph type="body" idx="1"/>
          </p:nvPr>
        </p:nvSpPr>
        <p:spPr>
          <a:xfrm>
            <a:off x="2120900" y="950686"/>
            <a:ext cx="9890579" cy="5158014"/>
          </a:xfrm>
        </p:spPr>
        <p:txBody>
          <a:bodyPr>
            <a:noAutofit/>
          </a:bodyPr>
          <a:lstStyle/>
          <a:p>
            <a:pPr algn="just">
              <a:lnSpc>
                <a:spcPct val="150000"/>
              </a:lnSpc>
              <a:spcBef>
                <a:spcPts val="0"/>
              </a:spcBef>
              <a:spcAft>
                <a:spcPts val="0"/>
              </a:spcAft>
              <a:defRPr/>
            </a:pPr>
            <a:r>
              <a:rPr lang="bg-BG" altLang="bg-BG" sz="2400" b="1" dirty="0"/>
              <a:t>Пример 1.  </a:t>
            </a:r>
            <a:r>
              <a:rPr lang="bg-BG" sz="2400" dirty="0"/>
              <a:t>Дадено е описание на система със структурна схема:</a:t>
            </a:r>
          </a:p>
          <a:p>
            <a:pPr algn="just">
              <a:lnSpc>
                <a:spcPct val="150000"/>
              </a:lnSpc>
              <a:spcBef>
                <a:spcPts val="0"/>
              </a:spcBef>
              <a:spcAft>
                <a:spcPts val="0"/>
              </a:spcAft>
              <a:defRPr/>
            </a:pPr>
            <a:endParaRPr lang="bg-BG" altLang="bg-BG" sz="2400" dirty="0"/>
          </a:p>
          <a:p>
            <a:pPr algn="just">
              <a:lnSpc>
                <a:spcPct val="150000"/>
              </a:lnSpc>
              <a:spcBef>
                <a:spcPts val="0"/>
              </a:spcBef>
              <a:spcAft>
                <a:spcPts val="0"/>
              </a:spcAft>
              <a:defRPr/>
            </a:pPr>
            <a:endParaRPr lang="bg-BG" altLang="bg-BG" sz="2400" dirty="0"/>
          </a:p>
          <a:p>
            <a:pPr algn="just">
              <a:lnSpc>
                <a:spcPct val="150000"/>
              </a:lnSpc>
              <a:spcBef>
                <a:spcPts val="0"/>
              </a:spcBef>
              <a:spcAft>
                <a:spcPts val="0"/>
              </a:spcAft>
              <a:defRPr/>
            </a:pPr>
            <a:endParaRPr lang="bg-BG" altLang="bg-BG" sz="2400" dirty="0"/>
          </a:p>
          <a:p>
            <a:pPr algn="just">
              <a:lnSpc>
                <a:spcPct val="150000"/>
              </a:lnSpc>
              <a:spcBef>
                <a:spcPts val="0"/>
              </a:spcBef>
              <a:spcAft>
                <a:spcPts val="0"/>
              </a:spcAft>
              <a:defRPr/>
            </a:pPr>
            <a:endParaRPr lang="bg-BG" altLang="bg-BG" sz="2400" dirty="0"/>
          </a:p>
          <a:p>
            <a:pPr algn="just">
              <a:lnSpc>
                <a:spcPct val="150000"/>
              </a:lnSpc>
              <a:spcBef>
                <a:spcPts val="0"/>
              </a:spcBef>
              <a:spcAft>
                <a:spcPts val="0"/>
              </a:spcAft>
              <a:defRPr/>
            </a:pPr>
            <a:endParaRPr lang="bg-BG" altLang="bg-BG" sz="2400" dirty="0"/>
          </a:p>
          <a:p>
            <a:pPr algn="just">
              <a:lnSpc>
                <a:spcPct val="150000"/>
              </a:lnSpc>
              <a:spcBef>
                <a:spcPts val="0"/>
              </a:spcBef>
              <a:spcAft>
                <a:spcPts val="0"/>
              </a:spcAft>
              <a:defRPr/>
            </a:pPr>
            <a:endParaRPr lang="bg-BG" altLang="bg-BG" sz="2400" dirty="0"/>
          </a:p>
          <a:p>
            <a:pPr algn="just">
              <a:lnSpc>
                <a:spcPct val="150000"/>
              </a:lnSpc>
              <a:spcBef>
                <a:spcPts val="0"/>
              </a:spcBef>
              <a:spcAft>
                <a:spcPts val="0"/>
              </a:spcAft>
              <a:defRPr/>
            </a:pPr>
            <a:r>
              <a:rPr lang="bg-BG" sz="2400" dirty="0"/>
              <a:t>Да се опише системата с граф, матрица на съседство А, матрица на инцидентност В, множество на десни инциденции и множество на леви инциденции.</a:t>
            </a:r>
            <a:endParaRPr lang="bg-BG" alt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28</a:t>
            </a:fld>
            <a:endParaRPr lang="bg-BG"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5671" y="1581266"/>
            <a:ext cx="7065729" cy="3257434"/>
          </a:xfrm>
          <a:prstGeom prst="rect">
            <a:avLst/>
          </a:prstGeom>
        </p:spPr>
      </p:pic>
    </p:spTree>
    <p:extLst>
      <p:ext uri="{BB962C8B-B14F-4D97-AF65-F5344CB8AC3E}">
        <p14:creationId xmlns:p14="http://schemas.microsoft.com/office/powerpoint/2010/main" val="23792037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29</a:t>
            </a:fld>
            <a:endParaRPr lang="bg-BG"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801" y="114300"/>
            <a:ext cx="3793206" cy="2124012"/>
          </a:xfrm>
          <a:prstGeom prst="rect">
            <a:avLst/>
          </a:prstGeom>
        </p:spPr>
      </p:pic>
      <p:sp>
        <p:nvSpPr>
          <p:cNvPr id="2" name="Rectangle 1"/>
          <p:cNvSpPr/>
          <p:nvPr/>
        </p:nvSpPr>
        <p:spPr>
          <a:xfrm>
            <a:off x="5005335" y="5009381"/>
            <a:ext cx="3549626" cy="461665"/>
          </a:xfrm>
          <a:prstGeom prst="rect">
            <a:avLst/>
          </a:prstGeom>
        </p:spPr>
        <p:txBody>
          <a:bodyPr wrap="none">
            <a:spAutoFit/>
          </a:bodyPr>
          <a:lstStyle/>
          <a:p>
            <a:pPr algn="ctr">
              <a:spcAft>
                <a:spcPts val="0"/>
              </a:spcAft>
            </a:pPr>
            <a:r>
              <a:rPr lang="bg-BG" sz="2400" b="1" i="1" dirty="0">
                <a:ea typeface="Times New Roman" panose="02020603050405020304" pitchFamily="18" charset="0"/>
              </a:rPr>
              <a:t>Граф на структурата</a:t>
            </a:r>
            <a:endParaRPr lang="bg-BG" sz="2400" b="1" i="1" dirty="0">
              <a:effectLst/>
              <a:ea typeface="Times New Roman" panose="02020603050405020304" pitchFamily="18" charset="0"/>
            </a:endParaRPr>
          </a:p>
        </p:txBody>
      </p:sp>
      <p:grpSp>
        <p:nvGrpSpPr>
          <p:cNvPr id="55" name="Group 54"/>
          <p:cNvGrpSpPr/>
          <p:nvPr/>
        </p:nvGrpSpPr>
        <p:grpSpPr>
          <a:xfrm>
            <a:off x="5119195" y="1760406"/>
            <a:ext cx="4008957" cy="2736769"/>
            <a:chOff x="5119195" y="1760406"/>
            <a:chExt cx="4008957" cy="2736769"/>
          </a:xfrm>
        </p:grpSpPr>
        <p:sp>
          <p:nvSpPr>
            <p:cNvPr id="7" name="Oval 6"/>
            <p:cNvSpPr/>
            <p:nvPr/>
          </p:nvSpPr>
          <p:spPr>
            <a:xfrm>
              <a:off x="5580626" y="1955186"/>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1</a:t>
              </a:r>
            </a:p>
          </p:txBody>
        </p:sp>
        <p:sp>
          <p:nvSpPr>
            <p:cNvPr id="8" name="Oval 7"/>
            <p:cNvSpPr/>
            <p:nvPr/>
          </p:nvSpPr>
          <p:spPr>
            <a:xfrm>
              <a:off x="5119195" y="3138752"/>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2</a:t>
              </a:r>
            </a:p>
          </p:txBody>
        </p:sp>
        <p:sp>
          <p:nvSpPr>
            <p:cNvPr id="9" name="Oval 8"/>
            <p:cNvSpPr/>
            <p:nvPr/>
          </p:nvSpPr>
          <p:spPr>
            <a:xfrm>
              <a:off x="6981992" y="2353240"/>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3</a:t>
              </a:r>
            </a:p>
          </p:txBody>
        </p:sp>
        <p:sp>
          <p:nvSpPr>
            <p:cNvPr id="10" name="Oval 9"/>
            <p:cNvSpPr/>
            <p:nvPr/>
          </p:nvSpPr>
          <p:spPr>
            <a:xfrm>
              <a:off x="6585218" y="3568296"/>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4</a:t>
              </a:r>
            </a:p>
          </p:txBody>
        </p:sp>
        <p:sp>
          <p:nvSpPr>
            <p:cNvPr id="11" name="Oval 10"/>
            <p:cNvSpPr/>
            <p:nvPr/>
          </p:nvSpPr>
          <p:spPr>
            <a:xfrm>
              <a:off x="8383358" y="1760406"/>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5</a:t>
              </a:r>
            </a:p>
          </p:txBody>
        </p:sp>
        <p:cxnSp>
          <p:nvCxnSpPr>
            <p:cNvPr id="13" name="Straight Arrow Connector 12"/>
            <p:cNvCxnSpPr>
              <a:stCxn id="7" idx="3"/>
              <a:endCxn id="8" idx="0"/>
            </p:cNvCxnSpPr>
            <p:nvPr/>
          </p:nvCxnSpPr>
          <p:spPr>
            <a:xfrm flipH="1">
              <a:off x="5491592" y="2537406"/>
              <a:ext cx="198107" cy="601346"/>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9" idx="1"/>
            </p:cNvCxnSpPr>
            <p:nvPr/>
          </p:nvCxnSpPr>
          <p:spPr>
            <a:xfrm>
              <a:off x="6325420" y="2270450"/>
              <a:ext cx="765645" cy="182683"/>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6963416" y="3024822"/>
              <a:ext cx="295678" cy="544348"/>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6"/>
              <a:endCxn id="11" idx="3"/>
            </p:cNvCxnSpPr>
            <p:nvPr/>
          </p:nvCxnSpPr>
          <p:spPr>
            <a:xfrm flipV="1">
              <a:off x="7726786" y="2342626"/>
              <a:ext cx="765645" cy="351671"/>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0" idx="2"/>
              <a:endCxn id="8" idx="6"/>
            </p:cNvCxnSpPr>
            <p:nvPr/>
          </p:nvCxnSpPr>
          <p:spPr>
            <a:xfrm flipH="1" flipV="1">
              <a:off x="5863989" y="3479809"/>
              <a:ext cx="721229" cy="429544"/>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1"/>
              <a:endCxn id="7" idx="7"/>
            </p:cNvCxnSpPr>
            <p:nvPr/>
          </p:nvCxnSpPr>
          <p:spPr>
            <a:xfrm flipH="1">
              <a:off x="6216347" y="1860299"/>
              <a:ext cx="2276084" cy="194780"/>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54" name="Group 53"/>
            <p:cNvGrpSpPr/>
            <p:nvPr/>
          </p:nvGrpSpPr>
          <p:grpSpPr>
            <a:xfrm>
              <a:off x="5458983" y="2442519"/>
              <a:ext cx="3264163" cy="2054656"/>
              <a:chOff x="5491593" y="2442519"/>
              <a:chExt cx="3264163" cy="2054656"/>
            </a:xfrm>
          </p:grpSpPr>
          <p:cxnSp>
            <p:nvCxnSpPr>
              <p:cNvPr id="45" name="Curved Connector 44"/>
              <p:cNvCxnSpPr>
                <a:stCxn id="11" idx="4"/>
              </p:cNvCxnSpPr>
              <p:nvPr/>
            </p:nvCxnSpPr>
            <p:spPr>
              <a:xfrm rot="5400000">
                <a:off x="6468744" y="2210162"/>
                <a:ext cx="2054655" cy="2519369"/>
              </a:xfrm>
              <a:prstGeom prst="curvedConnector2">
                <a:avLst/>
              </a:prstGeom>
              <a:ln w="38100">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Curved Connector 52"/>
              <p:cNvCxnSpPr>
                <a:endCxn id="8" idx="4"/>
              </p:cNvCxnSpPr>
              <p:nvPr/>
            </p:nvCxnSpPr>
            <p:spPr>
              <a:xfrm rot="10800000">
                <a:off x="5491593" y="3820866"/>
                <a:ext cx="744795" cy="676309"/>
              </a:xfrm>
              <a:prstGeom prst="curvedConnector2">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2021914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087104" y="2020872"/>
            <a:ext cx="7255081" cy="3220842"/>
          </a:xfrm>
        </p:spPr>
        <p:txBody>
          <a:bodyPr>
            <a:noAutofit/>
          </a:bodyPr>
          <a:lstStyle/>
          <a:p>
            <a:pPr algn="just">
              <a:lnSpc>
                <a:spcPct val="150000"/>
              </a:lnSpc>
              <a:defRPr/>
            </a:pPr>
            <a:endParaRPr lang="bg-BG" altLang="bg-BG" sz="2400" dirty="0"/>
          </a:p>
          <a:p>
            <a:pPr algn="just"/>
            <a:endParaRPr lang="en-US" sz="2400" dirty="0"/>
          </a:p>
          <a:p>
            <a:pPr algn="just"/>
            <a:endParaRPr lang="en-US" sz="2400" dirty="0"/>
          </a:p>
          <a:p>
            <a:pPr algn="just">
              <a:lnSpc>
                <a:spcPct val="100000"/>
              </a:lnSpc>
              <a:spcBef>
                <a:spcPts val="0"/>
              </a:spcBef>
            </a:pPr>
            <a:r>
              <a:rPr lang="en-US" sz="2400" dirty="0"/>
              <a:t>A=						B=</a:t>
            </a:r>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30</a:t>
            </a:fld>
            <a:endParaRPr lang="bg-BG"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1" y="63500"/>
            <a:ext cx="3793206" cy="2124012"/>
          </a:xfrm>
          <a:prstGeom prst="rect">
            <a:avLst/>
          </a:prstGeom>
        </p:spPr>
      </p:pic>
      <p:sp>
        <p:nvSpPr>
          <p:cNvPr id="6" name="Text Placeholder 2"/>
          <p:cNvSpPr txBox="1">
            <a:spLocks/>
          </p:cNvSpPr>
          <p:nvPr/>
        </p:nvSpPr>
        <p:spPr>
          <a:xfrm>
            <a:off x="2120900" y="950686"/>
            <a:ext cx="9890579" cy="515801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9pPr>
          </a:lstStyle>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p:txBody>
      </p:sp>
      <p:graphicFrame>
        <p:nvGraphicFramePr>
          <p:cNvPr id="2" name="Table 1"/>
          <p:cNvGraphicFramePr>
            <a:graphicFrameLocks noGrp="1"/>
          </p:cNvGraphicFramePr>
          <p:nvPr>
            <p:extLst>
              <p:ext uri="{D42A27DB-BD31-4B8C-83A1-F6EECF244321}">
                <p14:modId xmlns:p14="http://schemas.microsoft.com/office/powerpoint/2010/main" val="3902975639"/>
              </p:ext>
            </p:extLst>
          </p:nvPr>
        </p:nvGraphicFramePr>
        <p:xfrm>
          <a:off x="2517279" y="2132693"/>
          <a:ext cx="3288456" cy="2743200"/>
        </p:xfrm>
        <a:graphic>
          <a:graphicData uri="http://schemas.openxmlformats.org/drawingml/2006/table">
            <a:tbl>
              <a:tblPr bandRow="1">
                <a:tableStyleId>{5940675A-B579-460E-94D1-54222C63F5DA}</a:tableStyleId>
              </a:tblPr>
              <a:tblGrid>
                <a:gridCol w="609076">
                  <a:extLst>
                    <a:ext uri="{9D8B030D-6E8A-4147-A177-3AD203B41FA5}">
                      <a16:colId xmlns:a16="http://schemas.microsoft.com/office/drawing/2014/main" val="3287842762"/>
                    </a:ext>
                  </a:extLst>
                </a:gridCol>
                <a:gridCol w="482600">
                  <a:extLst>
                    <a:ext uri="{9D8B030D-6E8A-4147-A177-3AD203B41FA5}">
                      <a16:colId xmlns:a16="http://schemas.microsoft.com/office/drawing/2014/main" val="3386938356"/>
                    </a:ext>
                  </a:extLst>
                </a:gridCol>
                <a:gridCol w="558800">
                  <a:extLst>
                    <a:ext uri="{9D8B030D-6E8A-4147-A177-3AD203B41FA5}">
                      <a16:colId xmlns:a16="http://schemas.microsoft.com/office/drawing/2014/main" val="3352063990"/>
                    </a:ext>
                  </a:extLst>
                </a:gridCol>
                <a:gridCol w="482600">
                  <a:extLst>
                    <a:ext uri="{9D8B030D-6E8A-4147-A177-3AD203B41FA5}">
                      <a16:colId xmlns:a16="http://schemas.microsoft.com/office/drawing/2014/main" val="138904030"/>
                    </a:ext>
                  </a:extLst>
                </a:gridCol>
                <a:gridCol w="584200">
                  <a:extLst>
                    <a:ext uri="{9D8B030D-6E8A-4147-A177-3AD203B41FA5}">
                      <a16:colId xmlns:a16="http://schemas.microsoft.com/office/drawing/2014/main" val="259226367"/>
                    </a:ext>
                  </a:extLst>
                </a:gridCol>
                <a:gridCol w="571180">
                  <a:extLst>
                    <a:ext uri="{9D8B030D-6E8A-4147-A177-3AD203B41FA5}">
                      <a16:colId xmlns:a16="http://schemas.microsoft.com/office/drawing/2014/main" val="1809530826"/>
                    </a:ext>
                  </a:extLst>
                </a:gridCol>
              </a:tblGrid>
              <a:tr h="370840">
                <a:tc>
                  <a:txBody>
                    <a:bodyPr/>
                    <a:lstStyle/>
                    <a:p>
                      <a:endParaRPr lang="bg-BG"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1</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2</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3</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4</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5</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7506916"/>
                  </a:ext>
                </a:extLst>
              </a:tr>
              <a:tr h="370840">
                <a:tc>
                  <a:txBody>
                    <a:bodyPr/>
                    <a:lstStyle/>
                    <a:p>
                      <a:pPr algn="ctr"/>
                      <a:r>
                        <a:rPr lang="en-US" sz="2400" b="1" dirty="0">
                          <a:solidFill>
                            <a:schemeClr val="tx1"/>
                          </a:solidFill>
                        </a:rPr>
                        <a:t>1</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1834570"/>
                  </a:ext>
                </a:extLst>
              </a:tr>
              <a:tr h="370840">
                <a:tc>
                  <a:txBody>
                    <a:bodyPr/>
                    <a:lstStyle/>
                    <a:p>
                      <a:pPr algn="ctr"/>
                      <a:r>
                        <a:rPr lang="en-US" sz="2400" b="1" dirty="0">
                          <a:solidFill>
                            <a:schemeClr val="tx1"/>
                          </a:solidFill>
                        </a:rPr>
                        <a:t>2</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46848106"/>
                  </a:ext>
                </a:extLst>
              </a:tr>
              <a:tr h="370840">
                <a:tc>
                  <a:txBody>
                    <a:bodyPr/>
                    <a:lstStyle/>
                    <a:p>
                      <a:pPr algn="ctr"/>
                      <a:r>
                        <a:rPr lang="en-US" sz="2400" b="1" dirty="0">
                          <a:solidFill>
                            <a:schemeClr val="tx1"/>
                          </a:solidFill>
                        </a:rPr>
                        <a:t>3</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63359582"/>
                  </a:ext>
                </a:extLst>
              </a:tr>
              <a:tr h="370840">
                <a:tc>
                  <a:txBody>
                    <a:bodyPr/>
                    <a:lstStyle/>
                    <a:p>
                      <a:pPr algn="ctr"/>
                      <a:r>
                        <a:rPr lang="en-US" sz="2400" b="1" dirty="0">
                          <a:solidFill>
                            <a:schemeClr val="tx1"/>
                          </a:solidFill>
                        </a:rPr>
                        <a:t>4</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56042853"/>
                  </a:ext>
                </a:extLst>
              </a:tr>
              <a:tr h="370840">
                <a:tc>
                  <a:txBody>
                    <a:bodyPr/>
                    <a:lstStyle/>
                    <a:p>
                      <a:pPr algn="ctr"/>
                      <a:r>
                        <a:rPr lang="en-US" sz="2400" b="1" dirty="0">
                          <a:solidFill>
                            <a:schemeClr val="tx1"/>
                          </a:solidFill>
                        </a:rPr>
                        <a:t>5</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744282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71760027"/>
              </p:ext>
            </p:extLst>
          </p:nvPr>
        </p:nvGraphicFramePr>
        <p:xfrm>
          <a:off x="7911944" y="2146238"/>
          <a:ext cx="4133331" cy="2743200"/>
        </p:xfrm>
        <a:graphic>
          <a:graphicData uri="http://schemas.openxmlformats.org/drawingml/2006/table">
            <a:tbl>
              <a:tblPr bandRow="1">
                <a:tableStyleId>{5940675A-B579-460E-94D1-54222C63F5DA}</a:tableStyleId>
              </a:tblPr>
              <a:tblGrid>
                <a:gridCol w="568183">
                  <a:extLst>
                    <a:ext uri="{9D8B030D-6E8A-4147-A177-3AD203B41FA5}">
                      <a16:colId xmlns:a16="http://schemas.microsoft.com/office/drawing/2014/main" val="3287842762"/>
                    </a:ext>
                  </a:extLst>
                </a:gridCol>
                <a:gridCol w="479390">
                  <a:extLst>
                    <a:ext uri="{9D8B030D-6E8A-4147-A177-3AD203B41FA5}">
                      <a16:colId xmlns:a16="http://schemas.microsoft.com/office/drawing/2014/main" val="3386938356"/>
                    </a:ext>
                  </a:extLst>
                </a:gridCol>
                <a:gridCol w="492091">
                  <a:extLst>
                    <a:ext uri="{9D8B030D-6E8A-4147-A177-3AD203B41FA5}">
                      <a16:colId xmlns:a16="http://schemas.microsoft.com/office/drawing/2014/main" val="3352063990"/>
                    </a:ext>
                  </a:extLst>
                </a:gridCol>
                <a:gridCol w="523909">
                  <a:extLst>
                    <a:ext uri="{9D8B030D-6E8A-4147-A177-3AD203B41FA5}">
                      <a16:colId xmlns:a16="http://schemas.microsoft.com/office/drawing/2014/main" val="138904030"/>
                    </a:ext>
                  </a:extLst>
                </a:gridCol>
                <a:gridCol w="471265">
                  <a:extLst>
                    <a:ext uri="{9D8B030D-6E8A-4147-A177-3AD203B41FA5}">
                      <a16:colId xmlns:a16="http://schemas.microsoft.com/office/drawing/2014/main" val="259226367"/>
                    </a:ext>
                  </a:extLst>
                </a:gridCol>
                <a:gridCol w="532831">
                  <a:extLst>
                    <a:ext uri="{9D8B030D-6E8A-4147-A177-3AD203B41FA5}">
                      <a16:colId xmlns:a16="http://schemas.microsoft.com/office/drawing/2014/main" val="2873288003"/>
                    </a:ext>
                  </a:extLst>
                </a:gridCol>
                <a:gridCol w="463936">
                  <a:extLst>
                    <a:ext uri="{9D8B030D-6E8A-4147-A177-3AD203B41FA5}">
                      <a16:colId xmlns:a16="http://schemas.microsoft.com/office/drawing/2014/main" val="3846771949"/>
                    </a:ext>
                  </a:extLst>
                </a:gridCol>
                <a:gridCol w="601726">
                  <a:extLst>
                    <a:ext uri="{9D8B030D-6E8A-4147-A177-3AD203B41FA5}">
                      <a16:colId xmlns:a16="http://schemas.microsoft.com/office/drawing/2014/main" val="1809530826"/>
                    </a:ext>
                  </a:extLst>
                </a:gridCol>
              </a:tblGrid>
              <a:tr h="370840">
                <a:tc>
                  <a:txBody>
                    <a:bodyPr/>
                    <a:lstStyle/>
                    <a:p>
                      <a:endParaRPr lang="bg-BG"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1</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2</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3</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4</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5</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6</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7</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7506916"/>
                  </a:ext>
                </a:extLst>
              </a:tr>
              <a:tr h="370840">
                <a:tc>
                  <a:txBody>
                    <a:bodyPr/>
                    <a:lstStyle/>
                    <a:p>
                      <a:pPr algn="ctr"/>
                      <a:r>
                        <a:rPr lang="en-US" sz="2400" b="1" dirty="0">
                          <a:solidFill>
                            <a:schemeClr val="tx1"/>
                          </a:solidFill>
                        </a:rPr>
                        <a:t>1</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1834570"/>
                  </a:ext>
                </a:extLst>
              </a:tr>
              <a:tr h="370840">
                <a:tc>
                  <a:txBody>
                    <a:bodyPr/>
                    <a:lstStyle/>
                    <a:p>
                      <a:pPr algn="ctr"/>
                      <a:r>
                        <a:rPr lang="en-US" sz="2400" b="1" dirty="0">
                          <a:solidFill>
                            <a:schemeClr val="tx1"/>
                          </a:solidFill>
                        </a:rPr>
                        <a:t>2</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46848106"/>
                  </a:ext>
                </a:extLst>
              </a:tr>
              <a:tr h="370840">
                <a:tc>
                  <a:txBody>
                    <a:bodyPr/>
                    <a:lstStyle/>
                    <a:p>
                      <a:pPr algn="ctr"/>
                      <a:r>
                        <a:rPr lang="en-US" sz="2400" b="1" dirty="0">
                          <a:solidFill>
                            <a:schemeClr val="tx1"/>
                          </a:solidFill>
                        </a:rPr>
                        <a:t>3</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63359582"/>
                  </a:ext>
                </a:extLst>
              </a:tr>
              <a:tr h="370840">
                <a:tc>
                  <a:txBody>
                    <a:bodyPr/>
                    <a:lstStyle/>
                    <a:p>
                      <a:pPr algn="ctr"/>
                      <a:r>
                        <a:rPr lang="en-US" sz="2400" b="1" dirty="0">
                          <a:solidFill>
                            <a:schemeClr val="tx1"/>
                          </a:solidFill>
                        </a:rPr>
                        <a:t>4</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56042853"/>
                  </a:ext>
                </a:extLst>
              </a:tr>
              <a:tr h="370840">
                <a:tc>
                  <a:txBody>
                    <a:bodyPr/>
                    <a:lstStyle/>
                    <a:p>
                      <a:pPr algn="ctr"/>
                      <a:r>
                        <a:rPr lang="en-US" sz="2400" b="1" dirty="0">
                          <a:solidFill>
                            <a:schemeClr val="tx1"/>
                          </a:solidFill>
                        </a:rPr>
                        <a:t>5</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7442825"/>
                  </a:ext>
                </a:extLst>
              </a:tr>
            </a:tbl>
          </a:graphicData>
        </a:graphic>
      </p:graphicFrame>
      <p:grpSp>
        <p:nvGrpSpPr>
          <p:cNvPr id="9" name="Group 8"/>
          <p:cNvGrpSpPr/>
          <p:nvPr/>
        </p:nvGrpSpPr>
        <p:grpSpPr>
          <a:xfrm>
            <a:off x="5745902" y="117395"/>
            <a:ext cx="4008957" cy="2736769"/>
            <a:chOff x="5119195" y="1760406"/>
            <a:chExt cx="4008957" cy="2736769"/>
          </a:xfrm>
        </p:grpSpPr>
        <p:sp>
          <p:nvSpPr>
            <p:cNvPr id="10" name="Oval 9"/>
            <p:cNvSpPr/>
            <p:nvPr/>
          </p:nvSpPr>
          <p:spPr>
            <a:xfrm>
              <a:off x="5580626" y="1955186"/>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1</a:t>
              </a:r>
            </a:p>
          </p:txBody>
        </p:sp>
        <p:sp>
          <p:nvSpPr>
            <p:cNvPr id="11" name="Oval 10"/>
            <p:cNvSpPr/>
            <p:nvPr/>
          </p:nvSpPr>
          <p:spPr>
            <a:xfrm>
              <a:off x="5119195" y="3138752"/>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2</a:t>
              </a:r>
            </a:p>
          </p:txBody>
        </p:sp>
        <p:sp>
          <p:nvSpPr>
            <p:cNvPr id="12" name="Oval 11"/>
            <p:cNvSpPr/>
            <p:nvPr/>
          </p:nvSpPr>
          <p:spPr>
            <a:xfrm>
              <a:off x="6981992" y="2353240"/>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3</a:t>
              </a:r>
            </a:p>
          </p:txBody>
        </p:sp>
        <p:sp>
          <p:nvSpPr>
            <p:cNvPr id="13" name="Oval 12"/>
            <p:cNvSpPr/>
            <p:nvPr/>
          </p:nvSpPr>
          <p:spPr>
            <a:xfrm>
              <a:off x="6585218" y="3568296"/>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4</a:t>
              </a:r>
            </a:p>
          </p:txBody>
        </p:sp>
        <p:sp>
          <p:nvSpPr>
            <p:cNvPr id="14" name="Oval 13"/>
            <p:cNvSpPr/>
            <p:nvPr/>
          </p:nvSpPr>
          <p:spPr>
            <a:xfrm>
              <a:off x="8383358" y="1760406"/>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5</a:t>
              </a:r>
            </a:p>
          </p:txBody>
        </p:sp>
        <p:cxnSp>
          <p:nvCxnSpPr>
            <p:cNvPr id="15" name="Straight Arrow Connector 14"/>
            <p:cNvCxnSpPr>
              <a:stCxn id="10" idx="3"/>
              <a:endCxn id="11" idx="0"/>
            </p:cNvCxnSpPr>
            <p:nvPr/>
          </p:nvCxnSpPr>
          <p:spPr>
            <a:xfrm flipH="1">
              <a:off x="5491592" y="2537406"/>
              <a:ext cx="198107" cy="601346"/>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2" idx="1"/>
            </p:cNvCxnSpPr>
            <p:nvPr/>
          </p:nvCxnSpPr>
          <p:spPr>
            <a:xfrm>
              <a:off x="6325420" y="2270450"/>
              <a:ext cx="765645" cy="182683"/>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6963416" y="3024822"/>
              <a:ext cx="295678" cy="544348"/>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6"/>
              <a:endCxn id="14" idx="3"/>
            </p:cNvCxnSpPr>
            <p:nvPr/>
          </p:nvCxnSpPr>
          <p:spPr>
            <a:xfrm flipV="1">
              <a:off x="7726786" y="2342626"/>
              <a:ext cx="765645" cy="351671"/>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3" idx="2"/>
              <a:endCxn id="11" idx="6"/>
            </p:cNvCxnSpPr>
            <p:nvPr/>
          </p:nvCxnSpPr>
          <p:spPr>
            <a:xfrm flipH="1" flipV="1">
              <a:off x="5863989" y="3479809"/>
              <a:ext cx="721229" cy="429544"/>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4" idx="1"/>
              <a:endCxn id="10" idx="7"/>
            </p:cNvCxnSpPr>
            <p:nvPr/>
          </p:nvCxnSpPr>
          <p:spPr>
            <a:xfrm flipH="1">
              <a:off x="6216347" y="1860299"/>
              <a:ext cx="2276084" cy="194780"/>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1" name="Group 20"/>
            <p:cNvGrpSpPr/>
            <p:nvPr/>
          </p:nvGrpSpPr>
          <p:grpSpPr>
            <a:xfrm>
              <a:off x="5458983" y="2442519"/>
              <a:ext cx="3264163" cy="2054656"/>
              <a:chOff x="5491593" y="2442519"/>
              <a:chExt cx="3264163" cy="2054656"/>
            </a:xfrm>
          </p:grpSpPr>
          <p:cxnSp>
            <p:nvCxnSpPr>
              <p:cNvPr id="22" name="Curved Connector 21"/>
              <p:cNvCxnSpPr>
                <a:stCxn id="14" idx="4"/>
              </p:cNvCxnSpPr>
              <p:nvPr/>
            </p:nvCxnSpPr>
            <p:spPr>
              <a:xfrm rot="5400000">
                <a:off x="6468744" y="2210162"/>
                <a:ext cx="2054655" cy="2519369"/>
              </a:xfrm>
              <a:prstGeom prst="curvedConnector2">
                <a:avLst/>
              </a:prstGeom>
              <a:ln w="38100">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Curved Connector 22"/>
              <p:cNvCxnSpPr>
                <a:endCxn id="11" idx="4"/>
              </p:cNvCxnSpPr>
              <p:nvPr/>
            </p:nvCxnSpPr>
            <p:spPr>
              <a:xfrm rot="10800000">
                <a:off x="5491593" y="3820866"/>
                <a:ext cx="744795" cy="676309"/>
              </a:xfrm>
              <a:prstGeom prst="curvedConnector2">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24" name="Oval 23"/>
          <p:cNvSpPr/>
          <p:nvPr/>
        </p:nvSpPr>
        <p:spPr>
          <a:xfrm>
            <a:off x="5884279" y="887515"/>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1</a:t>
            </a:r>
            <a:endParaRPr lang="bg-BG" sz="2400" b="1" dirty="0">
              <a:solidFill>
                <a:srgbClr val="FF0000"/>
              </a:solidFill>
            </a:endParaRPr>
          </a:p>
        </p:txBody>
      </p:sp>
      <p:sp>
        <p:nvSpPr>
          <p:cNvPr id="25" name="Oval 24"/>
          <p:cNvSpPr/>
          <p:nvPr/>
        </p:nvSpPr>
        <p:spPr>
          <a:xfrm>
            <a:off x="7219610" y="354102"/>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2</a:t>
            </a:r>
            <a:endParaRPr lang="bg-BG" sz="2400" b="1" dirty="0">
              <a:solidFill>
                <a:srgbClr val="FF0000"/>
              </a:solidFill>
            </a:endParaRPr>
          </a:p>
        </p:txBody>
      </p:sp>
      <p:sp>
        <p:nvSpPr>
          <p:cNvPr id="26" name="Oval 25"/>
          <p:cNvSpPr/>
          <p:nvPr/>
        </p:nvSpPr>
        <p:spPr>
          <a:xfrm>
            <a:off x="7679478" y="1433084"/>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3</a:t>
            </a:r>
            <a:endParaRPr lang="bg-BG" sz="2400" b="1" dirty="0">
              <a:solidFill>
                <a:srgbClr val="FF0000"/>
              </a:solidFill>
            </a:endParaRPr>
          </a:p>
        </p:txBody>
      </p:sp>
      <p:sp>
        <p:nvSpPr>
          <p:cNvPr id="27" name="Oval 26"/>
          <p:cNvSpPr/>
          <p:nvPr/>
        </p:nvSpPr>
        <p:spPr>
          <a:xfrm>
            <a:off x="8523333" y="468081"/>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4</a:t>
            </a:r>
            <a:endParaRPr lang="bg-BG" sz="2400" b="1" dirty="0">
              <a:solidFill>
                <a:srgbClr val="FF0000"/>
              </a:solidFill>
            </a:endParaRPr>
          </a:p>
        </p:txBody>
      </p:sp>
      <p:sp>
        <p:nvSpPr>
          <p:cNvPr id="28" name="Oval 27"/>
          <p:cNvSpPr/>
          <p:nvPr/>
        </p:nvSpPr>
        <p:spPr>
          <a:xfrm>
            <a:off x="6758479" y="1701830"/>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5</a:t>
            </a:r>
            <a:endParaRPr lang="bg-BG" sz="2400" b="1" dirty="0">
              <a:solidFill>
                <a:srgbClr val="FF0000"/>
              </a:solidFill>
            </a:endParaRPr>
          </a:p>
        </p:txBody>
      </p:sp>
      <p:sp>
        <p:nvSpPr>
          <p:cNvPr id="29" name="Oval 28"/>
          <p:cNvSpPr/>
          <p:nvPr/>
        </p:nvSpPr>
        <p:spPr>
          <a:xfrm>
            <a:off x="7627814" y="-51683"/>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6</a:t>
            </a:r>
            <a:endParaRPr lang="bg-BG" sz="2400" b="1" dirty="0">
              <a:solidFill>
                <a:srgbClr val="FF0000"/>
              </a:solidFill>
            </a:endParaRPr>
          </a:p>
        </p:txBody>
      </p:sp>
      <p:sp>
        <p:nvSpPr>
          <p:cNvPr id="30" name="Oval 29"/>
          <p:cNvSpPr/>
          <p:nvPr/>
        </p:nvSpPr>
        <p:spPr>
          <a:xfrm>
            <a:off x="9212915" y="1053751"/>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7</a:t>
            </a:r>
            <a:endParaRPr lang="bg-BG" sz="2400" b="1" dirty="0">
              <a:solidFill>
                <a:srgbClr val="FF0000"/>
              </a:solidFill>
            </a:endParaRPr>
          </a:p>
        </p:txBody>
      </p:sp>
      <p:sp>
        <p:nvSpPr>
          <p:cNvPr id="31" name="Rectangle 30"/>
          <p:cNvSpPr/>
          <p:nvPr/>
        </p:nvSpPr>
        <p:spPr>
          <a:xfrm>
            <a:off x="2686554" y="5052739"/>
            <a:ext cx="3721724" cy="461665"/>
          </a:xfrm>
          <a:prstGeom prst="rect">
            <a:avLst/>
          </a:prstGeom>
        </p:spPr>
        <p:txBody>
          <a:bodyPr wrap="none">
            <a:spAutoFit/>
          </a:bodyPr>
          <a:lstStyle/>
          <a:p>
            <a:r>
              <a:rPr lang="bg-BG" sz="2400" b="1" i="1" dirty="0"/>
              <a:t>Матрица на върховете </a:t>
            </a:r>
          </a:p>
        </p:txBody>
      </p:sp>
      <p:sp>
        <p:nvSpPr>
          <p:cNvPr id="32" name="Rectangle 31"/>
          <p:cNvSpPr/>
          <p:nvPr/>
        </p:nvSpPr>
        <p:spPr>
          <a:xfrm>
            <a:off x="7911944" y="5052739"/>
            <a:ext cx="4330032" cy="461665"/>
          </a:xfrm>
          <a:prstGeom prst="rect">
            <a:avLst/>
          </a:prstGeom>
        </p:spPr>
        <p:txBody>
          <a:bodyPr wrap="none">
            <a:spAutoFit/>
          </a:bodyPr>
          <a:lstStyle/>
          <a:p>
            <a:r>
              <a:rPr lang="bg-BG" sz="2400" b="1" i="1" dirty="0"/>
              <a:t>Матрица на инциденциите </a:t>
            </a:r>
          </a:p>
        </p:txBody>
      </p:sp>
    </p:spTree>
    <p:extLst>
      <p:ext uri="{BB962C8B-B14F-4D97-AF65-F5344CB8AC3E}">
        <p14:creationId xmlns:p14="http://schemas.microsoft.com/office/powerpoint/2010/main" val="2035122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31</a:t>
            </a:fld>
            <a:endParaRPr lang="bg-BG"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897" y="154464"/>
            <a:ext cx="3793206" cy="2124012"/>
          </a:xfrm>
          <a:prstGeom prst="rect">
            <a:avLst/>
          </a:prstGeom>
        </p:spPr>
      </p:pic>
      <p:grpSp>
        <p:nvGrpSpPr>
          <p:cNvPr id="6" name="Group 5"/>
          <p:cNvGrpSpPr/>
          <p:nvPr/>
        </p:nvGrpSpPr>
        <p:grpSpPr>
          <a:xfrm>
            <a:off x="4230195" y="129530"/>
            <a:ext cx="4008957" cy="2736769"/>
            <a:chOff x="5119195" y="1760406"/>
            <a:chExt cx="4008957" cy="2736769"/>
          </a:xfrm>
        </p:grpSpPr>
        <p:sp>
          <p:nvSpPr>
            <p:cNvPr id="7" name="Oval 6"/>
            <p:cNvSpPr/>
            <p:nvPr/>
          </p:nvSpPr>
          <p:spPr>
            <a:xfrm>
              <a:off x="5580626" y="1955186"/>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1</a:t>
              </a:r>
            </a:p>
          </p:txBody>
        </p:sp>
        <p:sp>
          <p:nvSpPr>
            <p:cNvPr id="8" name="Oval 7"/>
            <p:cNvSpPr/>
            <p:nvPr/>
          </p:nvSpPr>
          <p:spPr>
            <a:xfrm>
              <a:off x="5119195" y="3138752"/>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2</a:t>
              </a:r>
            </a:p>
          </p:txBody>
        </p:sp>
        <p:sp>
          <p:nvSpPr>
            <p:cNvPr id="9" name="Oval 8"/>
            <p:cNvSpPr/>
            <p:nvPr/>
          </p:nvSpPr>
          <p:spPr>
            <a:xfrm>
              <a:off x="6981992" y="2353240"/>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3</a:t>
              </a:r>
            </a:p>
          </p:txBody>
        </p:sp>
        <p:sp>
          <p:nvSpPr>
            <p:cNvPr id="10" name="Oval 9"/>
            <p:cNvSpPr/>
            <p:nvPr/>
          </p:nvSpPr>
          <p:spPr>
            <a:xfrm>
              <a:off x="6585218" y="3568296"/>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4</a:t>
              </a:r>
            </a:p>
          </p:txBody>
        </p:sp>
        <p:sp>
          <p:nvSpPr>
            <p:cNvPr id="11" name="Oval 10"/>
            <p:cNvSpPr/>
            <p:nvPr/>
          </p:nvSpPr>
          <p:spPr>
            <a:xfrm>
              <a:off x="8383358" y="1760406"/>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5</a:t>
              </a:r>
            </a:p>
          </p:txBody>
        </p:sp>
        <p:cxnSp>
          <p:nvCxnSpPr>
            <p:cNvPr id="12" name="Straight Arrow Connector 11"/>
            <p:cNvCxnSpPr>
              <a:stCxn id="7" idx="3"/>
              <a:endCxn id="8" idx="0"/>
            </p:cNvCxnSpPr>
            <p:nvPr/>
          </p:nvCxnSpPr>
          <p:spPr>
            <a:xfrm flipH="1">
              <a:off x="5491592" y="2537406"/>
              <a:ext cx="198107" cy="601346"/>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endCxn id="9" idx="1"/>
            </p:cNvCxnSpPr>
            <p:nvPr/>
          </p:nvCxnSpPr>
          <p:spPr>
            <a:xfrm>
              <a:off x="6325420" y="2270450"/>
              <a:ext cx="765645" cy="182683"/>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6963416" y="3024822"/>
              <a:ext cx="295678" cy="544348"/>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9" idx="6"/>
              <a:endCxn id="11" idx="3"/>
            </p:cNvCxnSpPr>
            <p:nvPr/>
          </p:nvCxnSpPr>
          <p:spPr>
            <a:xfrm flipV="1">
              <a:off x="7726786" y="2342626"/>
              <a:ext cx="765645" cy="351671"/>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0" idx="2"/>
              <a:endCxn id="8" idx="6"/>
            </p:cNvCxnSpPr>
            <p:nvPr/>
          </p:nvCxnSpPr>
          <p:spPr>
            <a:xfrm flipH="1" flipV="1">
              <a:off x="5863989" y="3479809"/>
              <a:ext cx="721229" cy="429544"/>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1" idx="1"/>
              <a:endCxn id="7" idx="7"/>
            </p:cNvCxnSpPr>
            <p:nvPr/>
          </p:nvCxnSpPr>
          <p:spPr>
            <a:xfrm flipH="1">
              <a:off x="6216347" y="1860299"/>
              <a:ext cx="2276084" cy="194780"/>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5458983" y="2442519"/>
              <a:ext cx="3264163" cy="2054656"/>
              <a:chOff x="5491593" y="2442519"/>
              <a:chExt cx="3264163" cy="2054656"/>
            </a:xfrm>
          </p:grpSpPr>
          <p:cxnSp>
            <p:nvCxnSpPr>
              <p:cNvPr id="19" name="Curved Connector 18"/>
              <p:cNvCxnSpPr>
                <a:stCxn id="11" idx="4"/>
              </p:cNvCxnSpPr>
              <p:nvPr/>
            </p:nvCxnSpPr>
            <p:spPr>
              <a:xfrm rot="5400000">
                <a:off x="6468744" y="2210162"/>
                <a:ext cx="2054655" cy="2519369"/>
              </a:xfrm>
              <a:prstGeom prst="curvedConnector2">
                <a:avLst/>
              </a:prstGeom>
              <a:ln w="38100">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Curved Connector 19"/>
              <p:cNvCxnSpPr>
                <a:endCxn id="8" idx="4"/>
              </p:cNvCxnSpPr>
              <p:nvPr/>
            </p:nvCxnSpPr>
            <p:spPr>
              <a:xfrm rot="10800000">
                <a:off x="5491593" y="3820866"/>
                <a:ext cx="744795" cy="676309"/>
              </a:xfrm>
              <a:prstGeom prst="curvedConnector2">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graphicFrame>
        <p:nvGraphicFramePr>
          <p:cNvPr id="21" name="Table 20"/>
          <p:cNvGraphicFramePr>
            <a:graphicFrameLocks noGrp="1"/>
          </p:cNvGraphicFramePr>
          <p:nvPr>
            <p:extLst>
              <p:ext uri="{D42A27DB-BD31-4B8C-83A1-F6EECF244321}">
                <p14:modId xmlns:p14="http://schemas.microsoft.com/office/powerpoint/2010/main" val="3576964084"/>
              </p:ext>
            </p:extLst>
          </p:nvPr>
        </p:nvGraphicFramePr>
        <p:xfrm>
          <a:off x="8311349" y="136276"/>
          <a:ext cx="3556046" cy="2743200"/>
        </p:xfrm>
        <a:graphic>
          <a:graphicData uri="http://schemas.openxmlformats.org/drawingml/2006/table">
            <a:tbl>
              <a:tblPr bandRow="1">
                <a:tableStyleId>{5940675A-B579-460E-94D1-54222C63F5DA}</a:tableStyleId>
              </a:tblPr>
              <a:tblGrid>
                <a:gridCol w="616751">
                  <a:extLst>
                    <a:ext uri="{9D8B030D-6E8A-4147-A177-3AD203B41FA5}">
                      <a16:colId xmlns:a16="http://schemas.microsoft.com/office/drawing/2014/main" val="3200499150"/>
                    </a:ext>
                  </a:extLst>
                </a:gridCol>
                <a:gridCol w="494671">
                  <a:extLst>
                    <a:ext uri="{9D8B030D-6E8A-4147-A177-3AD203B41FA5}">
                      <a16:colId xmlns:a16="http://schemas.microsoft.com/office/drawing/2014/main" val="3287842762"/>
                    </a:ext>
                  </a:extLst>
                </a:gridCol>
                <a:gridCol w="440317">
                  <a:extLst>
                    <a:ext uri="{9D8B030D-6E8A-4147-A177-3AD203B41FA5}">
                      <a16:colId xmlns:a16="http://schemas.microsoft.com/office/drawing/2014/main" val="3386938356"/>
                    </a:ext>
                  </a:extLst>
                </a:gridCol>
                <a:gridCol w="509840">
                  <a:extLst>
                    <a:ext uri="{9D8B030D-6E8A-4147-A177-3AD203B41FA5}">
                      <a16:colId xmlns:a16="http://schemas.microsoft.com/office/drawing/2014/main" val="3352063990"/>
                    </a:ext>
                  </a:extLst>
                </a:gridCol>
                <a:gridCol w="440317">
                  <a:extLst>
                    <a:ext uri="{9D8B030D-6E8A-4147-A177-3AD203B41FA5}">
                      <a16:colId xmlns:a16="http://schemas.microsoft.com/office/drawing/2014/main" val="138904030"/>
                    </a:ext>
                  </a:extLst>
                </a:gridCol>
                <a:gridCol w="533015">
                  <a:extLst>
                    <a:ext uri="{9D8B030D-6E8A-4147-A177-3AD203B41FA5}">
                      <a16:colId xmlns:a16="http://schemas.microsoft.com/office/drawing/2014/main" val="259226367"/>
                    </a:ext>
                  </a:extLst>
                </a:gridCol>
                <a:gridCol w="521135">
                  <a:extLst>
                    <a:ext uri="{9D8B030D-6E8A-4147-A177-3AD203B41FA5}">
                      <a16:colId xmlns:a16="http://schemas.microsoft.com/office/drawing/2014/main" val="1809530826"/>
                    </a:ext>
                  </a:extLst>
                </a:gridCol>
              </a:tblGrid>
              <a:tr h="370840">
                <a:tc>
                  <a:txBody>
                    <a:bodyPr/>
                    <a:lstStyle/>
                    <a:p>
                      <a:endParaRPr lang="bg-BG"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bg-BG"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1</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2</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3</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4</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5</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7506916"/>
                  </a:ext>
                </a:extLst>
              </a:tr>
              <a:tr h="370840">
                <a:tc>
                  <a:txBody>
                    <a:bodyPr/>
                    <a:lstStyle/>
                    <a:p>
                      <a:pPr algn="ctr"/>
                      <a:endParaRPr lang="bg-BG" sz="2400"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1</a:t>
                      </a:r>
                      <a:endParaRPr lang="bg-BG" sz="24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1834570"/>
                  </a:ext>
                </a:extLst>
              </a:tr>
              <a:tr h="370840">
                <a:tc>
                  <a:txBody>
                    <a:bodyPr/>
                    <a:lstStyle/>
                    <a:p>
                      <a:pPr algn="ctr"/>
                      <a:endParaRPr lang="bg-BG" sz="2400"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2</a:t>
                      </a:r>
                      <a:endParaRPr lang="bg-BG" sz="24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46848106"/>
                  </a:ext>
                </a:extLst>
              </a:tr>
              <a:tr h="370840">
                <a:tc>
                  <a:txBody>
                    <a:bodyPr/>
                    <a:lstStyle/>
                    <a:p>
                      <a:pPr algn="ctr"/>
                      <a:r>
                        <a:rPr lang="en-US" sz="2400" b="1" dirty="0">
                          <a:solidFill>
                            <a:schemeClr val="tx1"/>
                          </a:solidFill>
                        </a:rPr>
                        <a:t>A=</a:t>
                      </a:r>
                      <a:endParaRPr lang="bg-BG" sz="2400"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3</a:t>
                      </a:r>
                      <a:endParaRPr lang="bg-BG" sz="24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63359582"/>
                  </a:ext>
                </a:extLst>
              </a:tr>
              <a:tr h="370840">
                <a:tc>
                  <a:txBody>
                    <a:bodyPr/>
                    <a:lstStyle/>
                    <a:p>
                      <a:pPr algn="ctr"/>
                      <a:endParaRPr lang="bg-BG" sz="2400"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4</a:t>
                      </a:r>
                      <a:endParaRPr lang="bg-BG" sz="24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56042853"/>
                  </a:ext>
                </a:extLst>
              </a:tr>
              <a:tr h="370840">
                <a:tc>
                  <a:txBody>
                    <a:bodyPr/>
                    <a:lstStyle/>
                    <a:p>
                      <a:pPr algn="ctr"/>
                      <a:endParaRPr lang="bg-BG" sz="2400"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5</a:t>
                      </a:r>
                      <a:endParaRPr lang="bg-BG" sz="24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7442825"/>
                  </a:ext>
                </a:extLst>
              </a:tr>
            </a:tbl>
          </a:graphicData>
        </a:graphic>
      </p:graphicFrame>
      <p:sp>
        <p:nvSpPr>
          <p:cNvPr id="22" name="Text Placeholder 2"/>
          <p:cNvSpPr txBox="1">
            <a:spLocks/>
          </p:cNvSpPr>
          <p:nvPr/>
        </p:nvSpPr>
        <p:spPr>
          <a:xfrm>
            <a:off x="619990" y="3414481"/>
            <a:ext cx="11470410" cy="356188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9pPr>
          </a:lstStyle>
          <a:p>
            <a:pPr algn="just">
              <a:lnSpc>
                <a:spcPct val="150000"/>
              </a:lnSpc>
              <a:spcBef>
                <a:spcPts val="0"/>
              </a:spcBef>
              <a:defRPr/>
            </a:pPr>
            <a:r>
              <a:rPr lang="bg-BG" altLang="bg-BG" sz="2400" b="1" i="1" dirty="0"/>
              <a:t>Множество на десни инциденции</a:t>
            </a:r>
            <a:r>
              <a:rPr lang="bg-BG" altLang="bg-BG" sz="2400" dirty="0"/>
              <a:t>		</a:t>
            </a:r>
            <a:r>
              <a:rPr lang="bg-BG" altLang="bg-BG" sz="2400" b="1" i="1" dirty="0"/>
              <a:t>Множество на леви инциденции</a:t>
            </a:r>
            <a:endParaRPr lang="en-US" altLang="bg-BG" sz="2400" b="1" i="1" dirty="0"/>
          </a:p>
          <a:p>
            <a:pPr marL="1828800" algn="just">
              <a:lnSpc>
                <a:spcPct val="150000"/>
              </a:lnSpc>
              <a:spcBef>
                <a:spcPts val="0"/>
              </a:spcBef>
              <a:defRPr/>
            </a:pPr>
            <a:r>
              <a:rPr lang="en-US" altLang="bg-BG" sz="2400" dirty="0"/>
              <a:t>G(1)={2,3}</a:t>
            </a:r>
            <a:r>
              <a:rPr lang="bg-BG" altLang="bg-BG" sz="2400" dirty="0"/>
              <a:t>						</a:t>
            </a:r>
            <a:r>
              <a:rPr lang="en-US" altLang="bg-BG" sz="2400" dirty="0"/>
              <a:t>G</a:t>
            </a:r>
            <a:r>
              <a:rPr lang="en-US" altLang="bg-BG" sz="2400" baseline="30000" dirty="0"/>
              <a:t>-1</a:t>
            </a:r>
            <a:r>
              <a:rPr lang="en-US" altLang="bg-BG" sz="2400" dirty="0"/>
              <a:t>(1)={5}</a:t>
            </a:r>
          </a:p>
          <a:p>
            <a:pPr marL="1828800" algn="just">
              <a:lnSpc>
                <a:spcPct val="150000"/>
              </a:lnSpc>
              <a:spcBef>
                <a:spcPts val="0"/>
              </a:spcBef>
              <a:defRPr/>
            </a:pPr>
            <a:r>
              <a:rPr lang="en-US" altLang="bg-BG" sz="2400" dirty="0"/>
              <a:t>G(2)={</a:t>
            </a:r>
            <a:r>
              <a:rPr lang="en-US" altLang="bg-BG" sz="2400" dirty="0">
                <a:latin typeface="Yu Gothic Medium" panose="020B0500000000000000" pitchFamily="34" charset="-128"/>
                <a:ea typeface="Yu Gothic Medium" panose="020B0500000000000000" pitchFamily="34" charset="-128"/>
              </a:rPr>
              <a:t>Ø</a:t>
            </a:r>
            <a:r>
              <a:rPr lang="en-US" altLang="bg-BG" sz="2400" dirty="0"/>
              <a:t>}</a:t>
            </a:r>
            <a:r>
              <a:rPr lang="bg-BG" altLang="bg-BG" sz="2400" dirty="0"/>
              <a:t>						</a:t>
            </a:r>
            <a:r>
              <a:rPr lang="en-US" altLang="bg-BG" sz="2400" dirty="0"/>
              <a:t>G</a:t>
            </a:r>
            <a:r>
              <a:rPr lang="en-US" altLang="bg-BG" sz="2400" baseline="30000" dirty="0"/>
              <a:t>-1</a:t>
            </a:r>
            <a:r>
              <a:rPr lang="en-US" altLang="bg-BG" sz="2400" dirty="0"/>
              <a:t>(2)={1,4,5}</a:t>
            </a:r>
            <a:endParaRPr lang="bg-BG" altLang="bg-BG" sz="2400" dirty="0"/>
          </a:p>
          <a:p>
            <a:pPr marL="1828800" algn="just">
              <a:lnSpc>
                <a:spcPct val="150000"/>
              </a:lnSpc>
              <a:spcBef>
                <a:spcPts val="0"/>
              </a:spcBef>
              <a:defRPr/>
            </a:pPr>
            <a:r>
              <a:rPr lang="en-US" altLang="bg-BG" sz="2400" dirty="0"/>
              <a:t>G(3)={4,5}</a:t>
            </a:r>
            <a:r>
              <a:rPr lang="bg-BG" altLang="bg-BG" sz="2400" dirty="0"/>
              <a:t>						</a:t>
            </a:r>
            <a:r>
              <a:rPr lang="en-US" altLang="bg-BG" sz="2400" dirty="0"/>
              <a:t>G</a:t>
            </a:r>
            <a:r>
              <a:rPr lang="en-US" altLang="bg-BG" sz="2400" baseline="30000" dirty="0"/>
              <a:t>-1</a:t>
            </a:r>
            <a:r>
              <a:rPr lang="en-US" altLang="bg-BG" sz="2400" dirty="0"/>
              <a:t>(3)={1}</a:t>
            </a:r>
            <a:endParaRPr lang="bg-BG" altLang="bg-BG" sz="2400" dirty="0"/>
          </a:p>
          <a:p>
            <a:pPr marL="1828800" algn="just">
              <a:lnSpc>
                <a:spcPct val="150000"/>
              </a:lnSpc>
              <a:spcBef>
                <a:spcPts val="0"/>
              </a:spcBef>
              <a:defRPr/>
            </a:pPr>
            <a:r>
              <a:rPr lang="en-US" altLang="bg-BG" sz="2400" dirty="0"/>
              <a:t>G(4)={</a:t>
            </a:r>
            <a:r>
              <a:rPr lang="bg-BG" altLang="bg-BG" sz="2400" dirty="0"/>
              <a:t>2</a:t>
            </a:r>
            <a:r>
              <a:rPr lang="en-US" altLang="bg-BG" sz="2400" dirty="0"/>
              <a:t>}</a:t>
            </a:r>
            <a:r>
              <a:rPr lang="bg-BG" altLang="bg-BG" sz="2400" dirty="0"/>
              <a:t>						</a:t>
            </a:r>
            <a:r>
              <a:rPr lang="en-US" altLang="bg-BG" sz="2400" dirty="0"/>
              <a:t>G</a:t>
            </a:r>
            <a:r>
              <a:rPr lang="en-US" altLang="bg-BG" sz="2400" baseline="30000" dirty="0"/>
              <a:t>-1</a:t>
            </a:r>
            <a:r>
              <a:rPr lang="en-US" altLang="bg-BG" sz="2400" dirty="0"/>
              <a:t>(4)={3}</a:t>
            </a:r>
            <a:endParaRPr lang="bg-BG" altLang="bg-BG" sz="2400" dirty="0"/>
          </a:p>
          <a:p>
            <a:pPr marL="1828800" algn="just">
              <a:lnSpc>
                <a:spcPct val="150000"/>
              </a:lnSpc>
              <a:spcBef>
                <a:spcPts val="0"/>
              </a:spcBef>
              <a:defRPr/>
            </a:pPr>
            <a:r>
              <a:rPr lang="en-US" altLang="bg-BG" sz="2400" dirty="0"/>
              <a:t>G(</a:t>
            </a:r>
            <a:r>
              <a:rPr lang="bg-BG" altLang="bg-BG" sz="2400" dirty="0"/>
              <a:t>5</a:t>
            </a:r>
            <a:r>
              <a:rPr lang="en-US" altLang="bg-BG" sz="2400" dirty="0"/>
              <a:t>)={1,2}</a:t>
            </a:r>
            <a:r>
              <a:rPr lang="bg-BG" altLang="bg-BG" sz="2400" dirty="0"/>
              <a:t>						</a:t>
            </a:r>
            <a:r>
              <a:rPr lang="en-US" altLang="bg-BG" sz="2400" dirty="0"/>
              <a:t>G</a:t>
            </a:r>
            <a:r>
              <a:rPr lang="en-US" altLang="bg-BG" sz="2400" baseline="30000" dirty="0"/>
              <a:t>-1</a:t>
            </a:r>
            <a:r>
              <a:rPr lang="en-US" altLang="bg-BG" sz="2400" dirty="0"/>
              <a:t>(5)={3}</a:t>
            </a:r>
            <a:endParaRPr lang="bg-BG" altLang="bg-BG" sz="2400" dirty="0"/>
          </a:p>
          <a:p>
            <a:pPr algn="just">
              <a:lnSpc>
                <a:spcPct val="150000"/>
              </a:lnSpc>
              <a:spcBef>
                <a:spcPts val="0"/>
              </a:spcBef>
              <a:defRPr/>
            </a:pPr>
            <a:endParaRPr lang="bg-BG" altLang="bg-BG" sz="2400" dirty="0"/>
          </a:p>
        </p:txBody>
      </p:sp>
    </p:spTree>
    <p:extLst>
      <p:ext uri="{BB962C8B-B14F-4D97-AF65-F5344CB8AC3E}">
        <p14:creationId xmlns:p14="http://schemas.microsoft.com/office/powerpoint/2010/main" val="19356211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32</a:t>
            </a:fld>
            <a:endParaRPr lang="bg-BG" dirty="0"/>
          </a:p>
        </p:txBody>
      </p:sp>
      <p:sp>
        <p:nvSpPr>
          <p:cNvPr id="2" name="Rectangle 1"/>
          <p:cNvSpPr/>
          <p:nvPr/>
        </p:nvSpPr>
        <p:spPr>
          <a:xfrm>
            <a:off x="2305121" y="410309"/>
            <a:ext cx="9004300" cy="5632311"/>
          </a:xfrm>
          <a:prstGeom prst="rect">
            <a:avLst/>
          </a:prstGeom>
        </p:spPr>
        <p:txBody>
          <a:bodyPr wrap="square">
            <a:spAutoFit/>
          </a:bodyPr>
          <a:lstStyle/>
          <a:p>
            <a:pPr algn="just">
              <a:lnSpc>
                <a:spcPct val="150000"/>
              </a:lnSpc>
              <a:spcBef>
                <a:spcPts val="0"/>
              </a:spcBef>
              <a:spcAft>
                <a:spcPts val="0"/>
              </a:spcAft>
              <a:defRPr/>
            </a:pPr>
            <a:r>
              <a:rPr lang="bg-BG" altLang="bg-BG" sz="2400" b="1" dirty="0"/>
              <a:t>Пример 2.  </a:t>
            </a:r>
            <a:r>
              <a:rPr lang="bg-BG" altLang="bg-BG" sz="2400" dirty="0"/>
              <a:t>Зададена</a:t>
            </a:r>
            <a:r>
              <a:rPr lang="bg-BG" sz="2400" dirty="0"/>
              <a:t> е система представена чрез матрица  на върховете </a:t>
            </a:r>
            <a:r>
              <a:rPr lang="en-US" sz="2400" dirty="0"/>
              <a:t>A</a:t>
            </a:r>
            <a:r>
              <a:rPr lang="bg-BG" sz="2400" dirty="0"/>
              <a:t>.</a:t>
            </a:r>
          </a:p>
          <a:p>
            <a:pPr algn="just">
              <a:lnSpc>
                <a:spcPct val="150000"/>
              </a:lnSpc>
              <a:spcBef>
                <a:spcPts val="0"/>
              </a:spcBef>
              <a:spcAft>
                <a:spcPts val="0"/>
              </a:spcAft>
              <a:defRPr/>
            </a:pPr>
            <a:endParaRPr lang="bg-BG" sz="2400" dirty="0"/>
          </a:p>
          <a:p>
            <a:pPr algn="just">
              <a:lnSpc>
                <a:spcPct val="150000"/>
              </a:lnSpc>
              <a:spcBef>
                <a:spcPts val="0"/>
              </a:spcBef>
              <a:spcAft>
                <a:spcPts val="0"/>
              </a:spcAft>
              <a:defRPr/>
            </a:pPr>
            <a:endParaRPr lang="bg-BG" sz="2400" dirty="0"/>
          </a:p>
          <a:p>
            <a:pPr>
              <a:lnSpc>
                <a:spcPct val="150000"/>
              </a:lnSpc>
              <a:spcBef>
                <a:spcPts val="0"/>
              </a:spcBef>
              <a:spcAft>
                <a:spcPts val="0"/>
              </a:spcAft>
              <a:defRPr/>
            </a:pPr>
            <a:r>
              <a:rPr lang="en-US" sz="2400" dirty="0"/>
              <a:t>			</a:t>
            </a:r>
            <a:r>
              <a:rPr lang="bg-BG" sz="2400" dirty="0"/>
              <a:t>А=</a:t>
            </a:r>
          </a:p>
          <a:p>
            <a:pPr algn="just">
              <a:lnSpc>
                <a:spcPct val="150000"/>
              </a:lnSpc>
              <a:spcBef>
                <a:spcPts val="0"/>
              </a:spcBef>
              <a:spcAft>
                <a:spcPts val="0"/>
              </a:spcAft>
              <a:defRPr/>
            </a:pPr>
            <a:endParaRPr lang="bg-BG" altLang="bg-BG" sz="2400" dirty="0"/>
          </a:p>
          <a:p>
            <a:pPr algn="just">
              <a:lnSpc>
                <a:spcPct val="150000"/>
              </a:lnSpc>
              <a:spcBef>
                <a:spcPts val="0"/>
              </a:spcBef>
              <a:spcAft>
                <a:spcPts val="0"/>
              </a:spcAft>
              <a:defRPr/>
            </a:pPr>
            <a:endParaRPr lang="bg-BG" altLang="bg-BG" sz="2400" dirty="0"/>
          </a:p>
          <a:p>
            <a:pPr algn="just">
              <a:lnSpc>
                <a:spcPct val="150000"/>
              </a:lnSpc>
              <a:spcBef>
                <a:spcPts val="0"/>
              </a:spcBef>
              <a:spcAft>
                <a:spcPts val="0"/>
              </a:spcAft>
              <a:defRPr/>
            </a:pPr>
            <a:endParaRPr lang="bg-BG" altLang="bg-BG" sz="2400" dirty="0"/>
          </a:p>
          <a:p>
            <a:pPr algn="just">
              <a:lnSpc>
                <a:spcPct val="150000"/>
              </a:lnSpc>
              <a:spcBef>
                <a:spcPts val="0"/>
              </a:spcBef>
              <a:spcAft>
                <a:spcPts val="0"/>
              </a:spcAft>
              <a:defRPr/>
            </a:pPr>
            <a:r>
              <a:rPr lang="bg-BG" sz="2400" dirty="0"/>
              <a:t>Да се представи системата с граф, матрица на инцидентност В и структурна схема.</a:t>
            </a:r>
            <a:endParaRPr lang="bg-BG" altLang="bg-BG" sz="2400" dirty="0"/>
          </a:p>
        </p:txBody>
      </p:sp>
      <p:graphicFrame>
        <p:nvGraphicFramePr>
          <p:cNvPr id="5" name="Table 4"/>
          <p:cNvGraphicFramePr>
            <a:graphicFrameLocks noGrp="1"/>
          </p:cNvGraphicFramePr>
          <p:nvPr>
            <p:extLst>
              <p:ext uri="{D42A27DB-BD31-4B8C-83A1-F6EECF244321}">
                <p14:modId xmlns:p14="http://schemas.microsoft.com/office/powerpoint/2010/main" val="1807879534"/>
              </p:ext>
            </p:extLst>
          </p:nvPr>
        </p:nvGraphicFramePr>
        <p:xfrm>
          <a:off x="5063670" y="1139099"/>
          <a:ext cx="3288455" cy="3200400"/>
        </p:xfrm>
        <a:graphic>
          <a:graphicData uri="http://schemas.openxmlformats.org/drawingml/2006/table">
            <a:tbl>
              <a:tblPr bandRow="1">
                <a:tableStyleId>{5940675A-B579-460E-94D1-54222C63F5DA}</a:tableStyleId>
              </a:tblPr>
              <a:tblGrid>
                <a:gridCol w="518940">
                  <a:extLst>
                    <a:ext uri="{9D8B030D-6E8A-4147-A177-3AD203B41FA5}">
                      <a16:colId xmlns:a16="http://schemas.microsoft.com/office/drawing/2014/main" val="3287842762"/>
                    </a:ext>
                  </a:extLst>
                </a:gridCol>
                <a:gridCol w="411181">
                  <a:extLst>
                    <a:ext uri="{9D8B030D-6E8A-4147-A177-3AD203B41FA5}">
                      <a16:colId xmlns:a16="http://schemas.microsoft.com/office/drawing/2014/main" val="3386938356"/>
                    </a:ext>
                  </a:extLst>
                </a:gridCol>
                <a:gridCol w="476104">
                  <a:extLst>
                    <a:ext uri="{9D8B030D-6E8A-4147-A177-3AD203B41FA5}">
                      <a16:colId xmlns:a16="http://schemas.microsoft.com/office/drawing/2014/main" val="3352063990"/>
                    </a:ext>
                  </a:extLst>
                </a:gridCol>
                <a:gridCol w="411181">
                  <a:extLst>
                    <a:ext uri="{9D8B030D-6E8A-4147-A177-3AD203B41FA5}">
                      <a16:colId xmlns:a16="http://schemas.microsoft.com/office/drawing/2014/main" val="138904030"/>
                    </a:ext>
                  </a:extLst>
                </a:gridCol>
                <a:gridCol w="497745">
                  <a:extLst>
                    <a:ext uri="{9D8B030D-6E8A-4147-A177-3AD203B41FA5}">
                      <a16:colId xmlns:a16="http://schemas.microsoft.com/office/drawing/2014/main" val="259226367"/>
                    </a:ext>
                  </a:extLst>
                </a:gridCol>
                <a:gridCol w="486652">
                  <a:extLst>
                    <a:ext uri="{9D8B030D-6E8A-4147-A177-3AD203B41FA5}">
                      <a16:colId xmlns:a16="http://schemas.microsoft.com/office/drawing/2014/main" val="1809530826"/>
                    </a:ext>
                  </a:extLst>
                </a:gridCol>
                <a:gridCol w="486652">
                  <a:extLst>
                    <a:ext uri="{9D8B030D-6E8A-4147-A177-3AD203B41FA5}">
                      <a16:colId xmlns:a16="http://schemas.microsoft.com/office/drawing/2014/main" val="2966456543"/>
                    </a:ext>
                  </a:extLst>
                </a:gridCol>
              </a:tblGrid>
              <a:tr h="370840">
                <a:tc>
                  <a:txBody>
                    <a:bodyPr/>
                    <a:lstStyle/>
                    <a:p>
                      <a:endParaRPr lang="bg-BG"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7506916"/>
                  </a:ext>
                </a:extLst>
              </a:tr>
              <a:tr h="370840">
                <a:tc>
                  <a:txBody>
                    <a:bodyPr/>
                    <a:lstStyle/>
                    <a:p>
                      <a:pPr algn="ct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1834570"/>
                  </a:ext>
                </a:extLst>
              </a:tr>
              <a:tr h="370840">
                <a:tc>
                  <a:txBody>
                    <a:bodyPr/>
                    <a:lstStyle/>
                    <a:p>
                      <a:pPr algn="ct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1</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46848106"/>
                  </a:ext>
                </a:extLst>
              </a:tr>
              <a:tr h="370840">
                <a:tc>
                  <a:txBody>
                    <a:bodyPr/>
                    <a:lstStyle/>
                    <a:p>
                      <a:pPr algn="ct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63359582"/>
                  </a:ext>
                </a:extLst>
              </a:tr>
              <a:tr h="370840">
                <a:tc>
                  <a:txBody>
                    <a:bodyPr/>
                    <a:lstStyle/>
                    <a:p>
                      <a:pPr algn="ct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56042853"/>
                  </a:ext>
                </a:extLst>
              </a:tr>
              <a:tr h="370840">
                <a:tc>
                  <a:txBody>
                    <a:bodyPr/>
                    <a:lstStyle/>
                    <a:p>
                      <a:pPr algn="ct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7442825"/>
                  </a:ext>
                </a:extLst>
              </a:tr>
              <a:tr h="370840">
                <a:tc>
                  <a:txBody>
                    <a:bodyPr/>
                    <a:lstStyle/>
                    <a:p>
                      <a:pPr algn="ct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76439691"/>
                  </a:ext>
                </a:extLst>
              </a:tr>
            </a:tbl>
          </a:graphicData>
        </a:graphic>
      </p:graphicFrame>
    </p:spTree>
    <p:extLst>
      <p:ext uri="{BB962C8B-B14F-4D97-AF65-F5344CB8AC3E}">
        <p14:creationId xmlns:p14="http://schemas.microsoft.com/office/powerpoint/2010/main" val="12449303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1" y="1913587"/>
            <a:ext cx="3161852"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33</a:t>
            </a:fld>
            <a:endParaRPr lang="bg-BG" dirty="0"/>
          </a:p>
        </p:txBody>
      </p:sp>
      <p:sp>
        <p:nvSpPr>
          <p:cNvPr id="5" name="Rectangle 4"/>
          <p:cNvSpPr/>
          <p:nvPr/>
        </p:nvSpPr>
        <p:spPr>
          <a:xfrm>
            <a:off x="2029717" y="420024"/>
            <a:ext cx="10049212" cy="5078313"/>
          </a:xfrm>
          <a:prstGeom prst="rect">
            <a:avLst/>
          </a:prstGeom>
        </p:spPr>
        <p:txBody>
          <a:bodyPr wrap="square">
            <a:spAutoFit/>
          </a:bodyPr>
          <a:lstStyle/>
          <a:p>
            <a:pPr algn="just">
              <a:lnSpc>
                <a:spcPct val="150000"/>
              </a:lnSpc>
              <a:spcBef>
                <a:spcPts val="0"/>
              </a:spcBef>
              <a:spcAft>
                <a:spcPts val="0"/>
              </a:spcAft>
              <a:defRPr/>
            </a:pPr>
            <a:r>
              <a:rPr lang="bg-BG" sz="2400" dirty="0"/>
              <a:t>Обозначаваме върховете</a:t>
            </a:r>
            <a:r>
              <a:rPr lang="en-US" sz="2400" dirty="0"/>
              <a:t> </a:t>
            </a:r>
            <a:r>
              <a:rPr lang="bg-BG" sz="2400" dirty="0"/>
              <a:t>и представяме системата с граф</a:t>
            </a:r>
          </a:p>
          <a:p>
            <a:pPr algn="just">
              <a:lnSpc>
                <a:spcPct val="150000"/>
              </a:lnSpc>
              <a:spcBef>
                <a:spcPts val="0"/>
              </a:spcBef>
              <a:spcAft>
                <a:spcPts val="0"/>
              </a:spcAft>
              <a:defRPr/>
            </a:pPr>
            <a:endParaRPr lang="bg-BG" sz="2400" dirty="0"/>
          </a:p>
          <a:p>
            <a:pPr algn="just">
              <a:lnSpc>
                <a:spcPct val="150000"/>
              </a:lnSpc>
              <a:spcBef>
                <a:spcPts val="0"/>
              </a:spcBef>
              <a:spcAft>
                <a:spcPts val="0"/>
              </a:spcAft>
              <a:defRPr/>
            </a:pPr>
            <a:endParaRPr lang="bg-BG" sz="2400" dirty="0"/>
          </a:p>
          <a:p>
            <a:pPr algn="just">
              <a:lnSpc>
                <a:spcPct val="150000"/>
              </a:lnSpc>
              <a:spcBef>
                <a:spcPts val="0"/>
              </a:spcBef>
              <a:spcAft>
                <a:spcPts val="0"/>
              </a:spcAft>
              <a:defRPr/>
            </a:pPr>
            <a:endParaRPr lang="en-US" sz="2400" dirty="0"/>
          </a:p>
          <a:p>
            <a:pPr algn="just">
              <a:spcBef>
                <a:spcPts val="0"/>
              </a:spcBef>
              <a:spcAft>
                <a:spcPts val="0"/>
              </a:spcAft>
              <a:defRPr/>
            </a:pPr>
            <a:endParaRPr lang="bg-BG" sz="2400" dirty="0"/>
          </a:p>
          <a:p>
            <a:pPr>
              <a:lnSpc>
                <a:spcPct val="150000"/>
              </a:lnSpc>
              <a:spcBef>
                <a:spcPts val="0"/>
              </a:spcBef>
              <a:spcAft>
                <a:spcPts val="0"/>
              </a:spcAft>
              <a:defRPr/>
            </a:pPr>
            <a:r>
              <a:rPr lang="bg-BG" sz="2400" dirty="0"/>
              <a:t>А=</a:t>
            </a:r>
          </a:p>
          <a:p>
            <a:pPr algn="just">
              <a:lnSpc>
                <a:spcPct val="150000"/>
              </a:lnSpc>
              <a:spcBef>
                <a:spcPts val="0"/>
              </a:spcBef>
              <a:spcAft>
                <a:spcPts val="0"/>
              </a:spcAft>
              <a:defRPr/>
            </a:pPr>
            <a:endParaRPr lang="bg-BG" altLang="bg-BG" sz="2400" dirty="0"/>
          </a:p>
          <a:p>
            <a:pPr algn="just">
              <a:lnSpc>
                <a:spcPct val="150000"/>
              </a:lnSpc>
              <a:spcBef>
                <a:spcPts val="0"/>
              </a:spcBef>
              <a:spcAft>
                <a:spcPts val="0"/>
              </a:spcAft>
              <a:defRPr/>
            </a:pPr>
            <a:endParaRPr lang="bg-BG" altLang="bg-BG" sz="2400" dirty="0"/>
          </a:p>
          <a:p>
            <a:pPr algn="just">
              <a:lnSpc>
                <a:spcPct val="150000"/>
              </a:lnSpc>
              <a:spcBef>
                <a:spcPts val="0"/>
              </a:spcBef>
              <a:spcAft>
                <a:spcPts val="0"/>
              </a:spcAft>
              <a:defRPr/>
            </a:pPr>
            <a:endParaRPr lang="bg-BG" altLang="bg-BG" sz="2400" dirty="0"/>
          </a:p>
        </p:txBody>
      </p:sp>
      <p:graphicFrame>
        <p:nvGraphicFramePr>
          <p:cNvPr id="6" name="Table 5"/>
          <p:cNvGraphicFramePr>
            <a:graphicFrameLocks noGrp="1"/>
          </p:cNvGraphicFramePr>
          <p:nvPr>
            <p:extLst>
              <p:ext uri="{D42A27DB-BD31-4B8C-83A1-F6EECF244321}">
                <p14:modId xmlns:p14="http://schemas.microsoft.com/office/powerpoint/2010/main" val="612564675"/>
              </p:ext>
            </p:extLst>
          </p:nvPr>
        </p:nvGraphicFramePr>
        <p:xfrm>
          <a:off x="2477767" y="1537303"/>
          <a:ext cx="3288455" cy="3200400"/>
        </p:xfrm>
        <a:graphic>
          <a:graphicData uri="http://schemas.openxmlformats.org/drawingml/2006/table">
            <a:tbl>
              <a:tblPr bandRow="1">
                <a:tableStyleId>{5940675A-B579-460E-94D1-54222C63F5DA}</a:tableStyleId>
              </a:tblPr>
              <a:tblGrid>
                <a:gridCol w="518940">
                  <a:extLst>
                    <a:ext uri="{9D8B030D-6E8A-4147-A177-3AD203B41FA5}">
                      <a16:colId xmlns:a16="http://schemas.microsoft.com/office/drawing/2014/main" val="3287842762"/>
                    </a:ext>
                  </a:extLst>
                </a:gridCol>
                <a:gridCol w="411181">
                  <a:extLst>
                    <a:ext uri="{9D8B030D-6E8A-4147-A177-3AD203B41FA5}">
                      <a16:colId xmlns:a16="http://schemas.microsoft.com/office/drawing/2014/main" val="3386938356"/>
                    </a:ext>
                  </a:extLst>
                </a:gridCol>
                <a:gridCol w="476104">
                  <a:extLst>
                    <a:ext uri="{9D8B030D-6E8A-4147-A177-3AD203B41FA5}">
                      <a16:colId xmlns:a16="http://schemas.microsoft.com/office/drawing/2014/main" val="3352063990"/>
                    </a:ext>
                  </a:extLst>
                </a:gridCol>
                <a:gridCol w="411181">
                  <a:extLst>
                    <a:ext uri="{9D8B030D-6E8A-4147-A177-3AD203B41FA5}">
                      <a16:colId xmlns:a16="http://schemas.microsoft.com/office/drawing/2014/main" val="138904030"/>
                    </a:ext>
                  </a:extLst>
                </a:gridCol>
                <a:gridCol w="497745">
                  <a:extLst>
                    <a:ext uri="{9D8B030D-6E8A-4147-A177-3AD203B41FA5}">
                      <a16:colId xmlns:a16="http://schemas.microsoft.com/office/drawing/2014/main" val="259226367"/>
                    </a:ext>
                  </a:extLst>
                </a:gridCol>
                <a:gridCol w="486652">
                  <a:extLst>
                    <a:ext uri="{9D8B030D-6E8A-4147-A177-3AD203B41FA5}">
                      <a16:colId xmlns:a16="http://schemas.microsoft.com/office/drawing/2014/main" val="1809530826"/>
                    </a:ext>
                  </a:extLst>
                </a:gridCol>
                <a:gridCol w="486652">
                  <a:extLst>
                    <a:ext uri="{9D8B030D-6E8A-4147-A177-3AD203B41FA5}">
                      <a16:colId xmlns:a16="http://schemas.microsoft.com/office/drawing/2014/main" val="2966456543"/>
                    </a:ext>
                  </a:extLst>
                </a:gridCol>
              </a:tblGrid>
              <a:tr h="424232">
                <a:tc>
                  <a:txBody>
                    <a:bodyPr/>
                    <a:lstStyle/>
                    <a:p>
                      <a:endParaRPr lang="bg-BG"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A</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B</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C</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D</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E</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F</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7506916"/>
                  </a:ext>
                </a:extLst>
              </a:tr>
              <a:tr h="370840">
                <a:tc>
                  <a:txBody>
                    <a:bodyPr/>
                    <a:lstStyle/>
                    <a:p>
                      <a:pPr algn="ctr"/>
                      <a:r>
                        <a:rPr lang="en-US" sz="2400" b="1" dirty="0">
                          <a:solidFill>
                            <a:schemeClr val="tx1"/>
                          </a:solidFill>
                        </a:rPr>
                        <a:t>A</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1834570"/>
                  </a:ext>
                </a:extLst>
              </a:tr>
              <a:tr h="370840">
                <a:tc>
                  <a:txBody>
                    <a:bodyPr/>
                    <a:lstStyle/>
                    <a:p>
                      <a:pPr algn="ctr"/>
                      <a:r>
                        <a:rPr lang="en-US" sz="2400" b="1" dirty="0">
                          <a:solidFill>
                            <a:schemeClr val="tx1"/>
                          </a:solidFill>
                        </a:rPr>
                        <a:t>B</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1</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46848106"/>
                  </a:ext>
                </a:extLst>
              </a:tr>
              <a:tr h="370840">
                <a:tc>
                  <a:txBody>
                    <a:bodyPr/>
                    <a:lstStyle/>
                    <a:p>
                      <a:pPr algn="ctr"/>
                      <a:r>
                        <a:rPr lang="en-US" sz="2400" b="1" dirty="0">
                          <a:solidFill>
                            <a:schemeClr val="tx1"/>
                          </a:solidFill>
                        </a:rPr>
                        <a:t>C</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63359582"/>
                  </a:ext>
                </a:extLst>
              </a:tr>
              <a:tr h="370840">
                <a:tc>
                  <a:txBody>
                    <a:bodyPr/>
                    <a:lstStyle/>
                    <a:p>
                      <a:pPr algn="ctr"/>
                      <a:r>
                        <a:rPr lang="en-US" sz="2400" b="1" dirty="0">
                          <a:solidFill>
                            <a:schemeClr val="tx1"/>
                          </a:solidFill>
                        </a:rPr>
                        <a:t>D</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56042853"/>
                  </a:ext>
                </a:extLst>
              </a:tr>
              <a:tr h="370840">
                <a:tc>
                  <a:txBody>
                    <a:bodyPr/>
                    <a:lstStyle/>
                    <a:p>
                      <a:pPr algn="ctr"/>
                      <a:r>
                        <a:rPr lang="en-US" sz="2400" b="1" dirty="0">
                          <a:solidFill>
                            <a:schemeClr val="tx1"/>
                          </a:solidFill>
                        </a:rPr>
                        <a:t>E</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7442825"/>
                  </a:ext>
                </a:extLst>
              </a:tr>
              <a:tr h="370840">
                <a:tc>
                  <a:txBody>
                    <a:bodyPr/>
                    <a:lstStyle/>
                    <a:p>
                      <a:pPr algn="ctr"/>
                      <a:r>
                        <a:rPr lang="en-US" sz="2400" b="1" dirty="0">
                          <a:solidFill>
                            <a:schemeClr val="tx1"/>
                          </a:solidFill>
                        </a:rPr>
                        <a:t>F</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76439691"/>
                  </a:ext>
                </a:extLst>
              </a:tr>
            </a:tbl>
          </a:graphicData>
        </a:graphic>
      </p:graphicFrame>
      <p:grpSp>
        <p:nvGrpSpPr>
          <p:cNvPr id="67" name="Group 66"/>
          <p:cNvGrpSpPr/>
          <p:nvPr/>
        </p:nvGrpSpPr>
        <p:grpSpPr>
          <a:xfrm>
            <a:off x="7431519" y="1493059"/>
            <a:ext cx="3868732" cy="3195986"/>
            <a:chOff x="6531867" y="1226167"/>
            <a:chExt cx="3868732" cy="3195986"/>
          </a:xfrm>
        </p:grpSpPr>
        <p:sp>
          <p:nvSpPr>
            <p:cNvPr id="69" name="Oval 68"/>
            <p:cNvSpPr/>
            <p:nvPr/>
          </p:nvSpPr>
          <p:spPr>
            <a:xfrm>
              <a:off x="6797587" y="1583403"/>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А</a:t>
              </a:r>
            </a:p>
          </p:txBody>
        </p:sp>
        <p:sp>
          <p:nvSpPr>
            <p:cNvPr id="70" name="Oval 69"/>
            <p:cNvSpPr/>
            <p:nvPr/>
          </p:nvSpPr>
          <p:spPr>
            <a:xfrm>
              <a:off x="6531867" y="3052023"/>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a:t>
              </a:r>
              <a:endParaRPr lang="bg-BG" sz="2400" b="1" dirty="0">
                <a:solidFill>
                  <a:schemeClr val="tx1"/>
                </a:solidFill>
              </a:endParaRPr>
            </a:p>
          </p:txBody>
        </p:sp>
        <p:sp>
          <p:nvSpPr>
            <p:cNvPr id="71" name="Oval 70"/>
            <p:cNvSpPr/>
            <p:nvPr/>
          </p:nvSpPr>
          <p:spPr>
            <a:xfrm>
              <a:off x="8661968" y="2210278"/>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a:t>
              </a:r>
              <a:endParaRPr lang="bg-BG" sz="2400" b="1" dirty="0">
                <a:solidFill>
                  <a:schemeClr val="tx1"/>
                </a:solidFill>
              </a:endParaRPr>
            </a:p>
          </p:txBody>
        </p:sp>
        <p:sp>
          <p:nvSpPr>
            <p:cNvPr id="72" name="Oval 71"/>
            <p:cNvSpPr/>
            <p:nvPr/>
          </p:nvSpPr>
          <p:spPr>
            <a:xfrm>
              <a:off x="7959494" y="3740040"/>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a:t>
              </a:r>
              <a:endParaRPr lang="bg-BG" sz="2400" b="1" dirty="0">
                <a:solidFill>
                  <a:schemeClr val="tx1"/>
                </a:solidFill>
              </a:endParaRPr>
            </a:p>
          </p:txBody>
        </p:sp>
        <p:sp>
          <p:nvSpPr>
            <p:cNvPr id="73" name="Oval 72"/>
            <p:cNvSpPr/>
            <p:nvPr/>
          </p:nvSpPr>
          <p:spPr>
            <a:xfrm>
              <a:off x="9655805" y="3156417"/>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F</a:t>
              </a:r>
              <a:endParaRPr lang="bg-BG" sz="2400" b="1" dirty="0">
                <a:solidFill>
                  <a:schemeClr val="tx1"/>
                </a:solidFill>
              </a:endParaRPr>
            </a:p>
          </p:txBody>
        </p:sp>
        <p:cxnSp>
          <p:nvCxnSpPr>
            <p:cNvPr id="74" name="Straight Arrow Connector 73"/>
            <p:cNvCxnSpPr>
              <a:stCxn id="69" idx="4"/>
              <a:endCxn id="70" idx="0"/>
            </p:cNvCxnSpPr>
            <p:nvPr/>
          </p:nvCxnSpPr>
          <p:spPr>
            <a:xfrm flipH="1">
              <a:off x="6904264" y="2265516"/>
              <a:ext cx="265720" cy="786507"/>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71" idx="1"/>
            </p:cNvCxnSpPr>
            <p:nvPr/>
          </p:nvCxnSpPr>
          <p:spPr>
            <a:xfrm>
              <a:off x="7487845" y="2034645"/>
              <a:ext cx="1283196" cy="275526"/>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H="1">
              <a:off x="8431895" y="2892391"/>
              <a:ext cx="496608" cy="860349"/>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69" idx="5"/>
            </p:cNvCxnSpPr>
            <p:nvPr/>
          </p:nvCxnSpPr>
          <p:spPr>
            <a:xfrm flipH="1" flipV="1">
              <a:off x="7433308" y="2165623"/>
              <a:ext cx="713593" cy="1587117"/>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flipV="1">
              <a:off x="6769298" y="2210279"/>
              <a:ext cx="267826" cy="841744"/>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73" idx="0"/>
            </p:cNvCxnSpPr>
            <p:nvPr/>
          </p:nvCxnSpPr>
          <p:spPr>
            <a:xfrm>
              <a:off x="9678223" y="1836695"/>
              <a:ext cx="349979" cy="1319722"/>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Oval 79"/>
            <p:cNvSpPr/>
            <p:nvPr/>
          </p:nvSpPr>
          <p:spPr>
            <a:xfrm>
              <a:off x="9123762" y="1226167"/>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D</a:t>
              </a:r>
              <a:endParaRPr lang="bg-BG" sz="2400" b="1" dirty="0">
                <a:solidFill>
                  <a:schemeClr val="tx1"/>
                </a:solidFill>
              </a:endParaRPr>
            </a:p>
          </p:txBody>
        </p:sp>
        <p:cxnSp>
          <p:nvCxnSpPr>
            <p:cNvPr id="81" name="Straight Arrow Connector 80"/>
            <p:cNvCxnSpPr>
              <a:endCxn id="80" idx="2"/>
            </p:cNvCxnSpPr>
            <p:nvPr/>
          </p:nvCxnSpPr>
          <p:spPr>
            <a:xfrm flipV="1">
              <a:off x="7487845" y="1567224"/>
              <a:ext cx="1635917" cy="239687"/>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2" name="Curved Connector 81"/>
            <p:cNvCxnSpPr>
              <a:stCxn id="70" idx="3"/>
              <a:endCxn id="70" idx="2"/>
            </p:cNvCxnSpPr>
            <p:nvPr/>
          </p:nvCxnSpPr>
          <p:spPr>
            <a:xfrm rot="5400000" flipH="1">
              <a:off x="6465822" y="3459126"/>
              <a:ext cx="241163" cy="109073"/>
            </a:xfrm>
            <a:prstGeom prst="curvedConnector4">
              <a:avLst>
                <a:gd name="adj1" fmla="val -136212"/>
                <a:gd name="adj2" fmla="val 554100"/>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flipH="1" flipV="1">
              <a:off x="7240385" y="3498139"/>
              <a:ext cx="731520" cy="457200"/>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flipH="1" flipV="1">
              <a:off x="9340843" y="2726443"/>
              <a:ext cx="424035" cy="517167"/>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5" name="Rectangle 84"/>
          <p:cNvSpPr/>
          <p:nvPr/>
        </p:nvSpPr>
        <p:spPr>
          <a:xfrm>
            <a:off x="8729025" y="1055071"/>
            <a:ext cx="941668" cy="461665"/>
          </a:xfrm>
          <a:prstGeom prst="rect">
            <a:avLst/>
          </a:prstGeom>
        </p:spPr>
        <p:txBody>
          <a:bodyPr wrap="none">
            <a:spAutoFit/>
          </a:bodyPr>
          <a:lstStyle/>
          <a:p>
            <a:r>
              <a:rPr lang="bg-BG" sz="2400" b="1" i="1" dirty="0"/>
              <a:t>Граф</a:t>
            </a:r>
          </a:p>
        </p:txBody>
      </p:sp>
    </p:spTree>
    <p:extLst>
      <p:ext uri="{BB962C8B-B14F-4D97-AF65-F5344CB8AC3E}">
        <p14:creationId xmlns:p14="http://schemas.microsoft.com/office/powerpoint/2010/main" val="15173613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04136" y="4627196"/>
            <a:ext cx="1027864" cy="583623"/>
          </a:xfrm>
        </p:spPr>
        <p:txBody>
          <a:bodyPr>
            <a:noAutofit/>
          </a:bodyPr>
          <a:lstStyle/>
          <a:p>
            <a:pPr algn="just"/>
            <a:r>
              <a:rPr lang="en-US" sz="2400" dirty="0"/>
              <a:t>B=</a:t>
            </a:r>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34</a:t>
            </a:fld>
            <a:endParaRPr lang="bg-BG" dirty="0"/>
          </a:p>
        </p:txBody>
      </p:sp>
      <p:graphicFrame>
        <p:nvGraphicFramePr>
          <p:cNvPr id="58" name="Table 57"/>
          <p:cNvGraphicFramePr>
            <a:graphicFrameLocks noGrp="1"/>
          </p:cNvGraphicFramePr>
          <p:nvPr>
            <p:extLst>
              <p:ext uri="{D42A27DB-BD31-4B8C-83A1-F6EECF244321}">
                <p14:modId xmlns:p14="http://schemas.microsoft.com/office/powerpoint/2010/main" val="4070746507"/>
              </p:ext>
            </p:extLst>
          </p:nvPr>
        </p:nvGraphicFramePr>
        <p:xfrm>
          <a:off x="1608964" y="3026996"/>
          <a:ext cx="5889399" cy="3200400"/>
        </p:xfrm>
        <a:graphic>
          <a:graphicData uri="http://schemas.openxmlformats.org/drawingml/2006/table">
            <a:tbl>
              <a:tblPr bandRow="1">
                <a:tableStyleId>{5940675A-B579-460E-94D1-54222C63F5DA}</a:tableStyleId>
              </a:tblPr>
              <a:tblGrid>
                <a:gridCol w="563484">
                  <a:extLst>
                    <a:ext uri="{9D8B030D-6E8A-4147-A177-3AD203B41FA5}">
                      <a16:colId xmlns:a16="http://schemas.microsoft.com/office/drawing/2014/main" val="3287842762"/>
                    </a:ext>
                  </a:extLst>
                </a:gridCol>
                <a:gridCol w="475426">
                  <a:extLst>
                    <a:ext uri="{9D8B030D-6E8A-4147-A177-3AD203B41FA5}">
                      <a16:colId xmlns:a16="http://schemas.microsoft.com/office/drawing/2014/main" val="3386938356"/>
                    </a:ext>
                  </a:extLst>
                </a:gridCol>
                <a:gridCol w="488022">
                  <a:extLst>
                    <a:ext uri="{9D8B030D-6E8A-4147-A177-3AD203B41FA5}">
                      <a16:colId xmlns:a16="http://schemas.microsoft.com/office/drawing/2014/main" val="3352063990"/>
                    </a:ext>
                  </a:extLst>
                </a:gridCol>
                <a:gridCol w="519575">
                  <a:extLst>
                    <a:ext uri="{9D8B030D-6E8A-4147-A177-3AD203B41FA5}">
                      <a16:colId xmlns:a16="http://schemas.microsoft.com/office/drawing/2014/main" val="138904030"/>
                    </a:ext>
                  </a:extLst>
                </a:gridCol>
                <a:gridCol w="467367">
                  <a:extLst>
                    <a:ext uri="{9D8B030D-6E8A-4147-A177-3AD203B41FA5}">
                      <a16:colId xmlns:a16="http://schemas.microsoft.com/office/drawing/2014/main" val="259226367"/>
                    </a:ext>
                  </a:extLst>
                </a:gridCol>
                <a:gridCol w="528425">
                  <a:extLst>
                    <a:ext uri="{9D8B030D-6E8A-4147-A177-3AD203B41FA5}">
                      <a16:colId xmlns:a16="http://schemas.microsoft.com/office/drawing/2014/main" val="2873288003"/>
                    </a:ext>
                  </a:extLst>
                </a:gridCol>
                <a:gridCol w="460100">
                  <a:extLst>
                    <a:ext uri="{9D8B030D-6E8A-4147-A177-3AD203B41FA5}">
                      <a16:colId xmlns:a16="http://schemas.microsoft.com/office/drawing/2014/main" val="3846771949"/>
                    </a:ext>
                  </a:extLst>
                </a:gridCol>
                <a:gridCol w="596750">
                  <a:extLst>
                    <a:ext uri="{9D8B030D-6E8A-4147-A177-3AD203B41FA5}">
                      <a16:colId xmlns:a16="http://schemas.microsoft.com/office/drawing/2014/main" val="1170447124"/>
                    </a:ext>
                  </a:extLst>
                </a:gridCol>
                <a:gridCol w="596750">
                  <a:extLst>
                    <a:ext uri="{9D8B030D-6E8A-4147-A177-3AD203B41FA5}">
                      <a16:colId xmlns:a16="http://schemas.microsoft.com/office/drawing/2014/main" val="1677949976"/>
                    </a:ext>
                  </a:extLst>
                </a:gridCol>
                <a:gridCol w="596750">
                  <a:extLst>
                    <a:ext uri="{9D8B030D-6E8A-4147-A177-3AD203B41FA5}">
                      <a16:colId xmlns:a16="http://schemas.microsoft.com/office/drawing/2014/main" val="2840585163"/>
                    </a:ext>
                  </a:extLst>
                </a:gridCol>
                <a:gridCol w="596750">
                  <a:extLst>
                    <a:ext uri="{9D8B030D-6E8A-4147-A177-3AD203B41FA5}">
                      <a16:colId xmlns:a16="http://schemas.microsoft.com/office/drawing/2014/main" val="659138713"/>
                    </a:ext>
                  </a:extLst>
                </a:gridCol>
              </a:tblGrid>
              <a:tr h="370840">
                <a:tc>
                  <a:txBody>
                    <a:bodyPr/>
                    <a:lstStyle/>
                    <a:p>
                      <a:endParaRPr lang="bg-BG"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1</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2</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3</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4</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5</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6</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7</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8</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9</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10</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7506916"/>
                  </a:ext>
                </a:extLst>
              </a:tr>
              <a:tr h="370840">
                <a:tc>
                  <a:txBody>
                    <a:bodyPr/>
                    <a:lstStyle/>
                    <a:p>
                      <a:pPr algn="ctr"/>
                      <a:r>
                        <a:rPr lang="en-US" sz="2400" b="1" dirty="0">
                          <a:solidFill>
                            <a:schemeClr val="tx1"/>
                          </a:solidFill>
                        </a:rPr>
                        <a:t>A</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1834570"/>
                  </a:ext>
                </a:extLst>
              </a:tr>
              <a:tr h="370840">
                <a:tc>
                  <a:txBody>
                    <a:bodyPr/>
                    <a:lstStyle/>
                    <a:p>
                      <a:pPr algn="ctr"/>
                      <a:r>
                        <a:rPr lang="en-US" sz="2400" b="1" dirty="0">
                          <a:solidFill>
                            <a:schemeClr val="tx1"/>
                          </a:solidFill>
                        </a:rPr>
                        <a:t>B</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2</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46848106"/>
                  </a:ext>
                </a:extLst>
              </a:tr>
              <a:tr h="370840">
                <a:tc>
                  <a:txBody>
                    <a:bodyPr/>
                    <a:lstStyle/>
                    <a:p>
                      <a:pPr algn="ctr"/>
                      <a:r>
                        <a:rPr lang="en-US" sz="2400" b="1" dirty="0">
                          <a:solidFill>
                            <a:schemeClr val="tx1"/>
                          </a:solidFill>
                        </a:rPr>
                        <a:t>C</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63359582"/>
                  </a:ext>
                </a:extLst>
              </a:tr>
              <a:tr h="370840">
                <a:tc>
                  <a:txBody>
                    <a:bodyPr/>
                    <a:lstStyle/>
                    <a:p>
                      <a:pPr algn="ctr"/>
                      <a:r>
                        <a:rPr lang="en-US" sz="2400" b="1" dirty="0">
                          <a:solidFill>
                            <a:schemeClr val="tx1"/>
                          </a:solidFill>
                        </a:rPr>
                        <a:t>D</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56042853"/>
                  </a:ext>
                </a:extLst>
              </a:tr>
              <a:tr h="370840">
                <a:tc>
                  <a:txBody>
                    <a:bodyPr/>
                    <a:lstStyle/>
                    <a:p>
                      <a:pPr algn="ctr"/>
                      <a:r>
                        <a:rPr lang="en-US" sz="2400" b="1" dirty="0">
                          <a:solidFill>
                            <a:schemeClr val="tx1"/>
                          </a:solidFill>
                        </a:rPr>
                        <a:t>E</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739073"/>
                  </a:ext>
                </a:extLst>
              </a:tr>
              <a:tr h="370840">
                <a:tc>
                  <a:txBody>
                    <a:bodyPr/>
                    <a:lstStyle/>
                    <a:p>
                      <a:pPr algn="ctr"/>
                      <a:r>
                        <a:rPr lang="en-US" sz="2400" b="1" dirty="0">
                          <a:solidFill>
                            <a:schemeClr val="tx1"/>
                          </a:solidFill>
                        </a:rPr>
                        <a:t>F</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7442825"/>
                  </a:ext>
                </a:extLst>
              </a:tr>
            </a:tbl>
          </a:graphicData>
        </a:graphic>
      </p:graphicFrame>
      <p:grpSp>
        <p:nvGrpSpPr>
          <p:cNvPr id="5" name="Group 4"/>
          <p:cNvGrpSpPr/>
          <p:nvPr/>
        </p:nvGrpSpPr>
        <p:grpSpPr>
          <a:xfrm>
            <a:off x="8132067" y="172067"/>
            <a:ext cx="3868732" cy="3195986"/>
            <a:chOff x="6531867" y="1226167"/>
            <a:chExt cx="3868732" cy="3195986"/>
          </a:xfrm>
        </p:grpSpPr>
        <p:sp>
          <p:nvSpPr>
            <p:cNvPr id="6" name="Oval 5"/>
            <p:cNvSpPr/>
            <p:nvPr/>
          </p:nvSpPr>
          <p:spPr>
            <a:xfrm>
              <a:off x="6797587" y="1583403"/>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bg-BG" sz="2400" b="1" dirty="0">
                  <a:solidFill>
                    <a:schemeClr val="tx1"/>
                  </a:solidFill>
                </a:rPr>
                <a:t>А</a:t>
              </a:r>
            </a:p>
          </p:txBody>
        </p:sp>
        <p:sp>
          <p:nvSpPr>
            <p:cNvPr id="7" name="Oval 6"/>
            <p:cNvSpPr/>
            <p:nvPr/>
          </p:nvSpPr>
          <p:spPr>
            <a:xfrm>
              <a:off x="6531867" y="3052023"/>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a:t>
              </a:r>
              <a:endParaRPr lang="bg-BG" sz="2400" b="1" dirty="0">
                <a:solidFill>
                  <a:schemeClr val="tx1"/>
                </a:solidFill>
              </a:endParaRPr>
            </a:p>
          </p:txBody>
        </p:sp>
        <p:sp>
          <p:nvSpPr>
            <p:cNvPr id="8" name="Oval 7"/>
            <p:cNvSpPr/>
            <p:nvPr/>
          </p:nvSpPr>
          <p:spPr>
            <a:xfrm>
              <a:off x="8661968" y="2210278"/>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a:t>
              </a:r>
              <a:endParaRPr lang="bg-BG" sz="2400" b="1" dirty="0">
                <a:solidFill>
                  <a:schemeClr val="tx1"/>
                </a:solidFill>
              </a:endParaRPr>
            </a:p>
          </p:txBody>
        </p:sp>
        <p:sp>
          <p:nvSpPr>
            <p:cNvPr id="9" name="Oval 8"/>
            <p:cNvSpPr/>
            <p:nvPr/>
          </p:nvSpPr>
          <p:spPr>
            <a:xfrm>
              <a:off x="7959494" y="3740040"/>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a:t>
              </a:r>
              <a:endParaRPr lang="bg-BG" sz="2400" b="1" dirty="0">
                <a:solidFill>
                  <a:schemeClr val="tx1"/>
                </a:solidFill>
              </a:endParaRPr>
            </a:p>
          </p:txBody>
        </p:sp>
        <p:sp>
          <p:nvSpPr>
            <p:cNvPr id="10" name="Oval 9"/>
            <p:cNvSpPr/>
            <p:nvPr/>
          </p:nvSpPr>
          <p:spPr>
            <a:xfrm>
              <a:off x="9655805" y="3156417"/>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F</a:t>
              </a:r>
              <a:endParaRPr lang="bg-BG" sz="2400" b="1" dirty="0">
                <a:solidFill>
                  <a:schemeClr val="tx1"/>
                </a:solidFill>
              </a:endParaRPr>
            </a:p>
          </p:txBody>
        </p:sp>
        <p:cxnSp>
          <p:nvCxnSpPr>
            <p:cNvPr id="11" name="Straight Arrow Connector 10"/>
            <p:cNvCxnSpPr>
              <a:stCxn id="6" idx="4"/>
              <a:endCxn id="7" idx="0"/>
            </p:cNvCxnSpPr>
            <p:nvPr/>
          </p:nvCxnSpPr>
          <p:spPr>
            <a:xfrm flipH="1">
              <a:off x="6904264" y="2265516"/>
              <a:ext cx="265720" cy="786507"/>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endCxn id="8" idx="1"/>
            </p:cNvCxnSpPr>
            <p:nvPr/>
          </p:nvCxnSpPr>
          <p:spPr>
            <a:xfrm>
              <a:off x="7487845" y="2034645"/>
              <a:ext cx="1283196" cy="275526"/>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8431895" y="2892391"/>
              <a:ext cx="496608" cy="860349"/>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6" idx="5"/>
            </p:cNvCxnSpPr>
            <p:nvPr/>
          </p:nvCxnSpPr>
          <p:spPr>
            <a:xfrm flipH="1" flipV="1">
              <a:off x="7433308" y="2165623"/>
              <a:ext cx="713593" cy="1587117"/>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6769298" y="2210279"/>
              <a:ext cx="267826" cy="841744"/>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0" idx="0"/>
            </p:cNvCxnSpPr>
            <p:nvPr/>
          </p:nvCxnSpPr>
          <p:spPr>
            <a:xfrm>
              <a:off x="9678223" y="1836695"/>
              <a:ext cx="349979" cy="1319722"/>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9123762" y="1226167"/>
              <a:ext cx="744794" cy="682113"/>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D</a:t>
              </a:r>
              <a:endParaRPr lang="bg-BG" sz="2400" b="1" dirty="0">
                <a:solidFill>
                  <a:schemeClr val="tx1"/>
                </a:solidFill>
              </a:endParaRPr>
            </a:p>
          </p:txBody>
        </p:sp>
        <p:cxnSp>
          <p:nvCxnSpPr>
            <p:cNvPr id="18" name="Straight Arrow Connector 17"/>
            <p:cNvCxnSpPr>
              <a:endCxn id="17" idx="2"/>
            </p:cNvCxnSpPr>
            <p:nvPr/>
          </p:nvCxnSpPr>
          <p:spPr>
            <a:xfrm flipV="1">
              <a:off x="7487845" y="1567224"/>
              <a:ext cx="1635917" cy="239687"/>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urved Connector 18"/>
            <p:cNvCxnSpPr>
              <a:stCxn id="7" idx="3"/>
              <a:endCxn id="7" idx="2"/>
            </p:cNvCxnSpPr>
            <p:nvPr/>
          </p:nvCxnSpPr>
          <p:spPr>
            <a:xfrm rot="5400000" flipH="1">
              <a:off x="6465822" y="3459126"/>
              <a:ext cx="241163" cy="109073"/>
            </a:xfrm>
            <a:prstGeom prst="curvedConnector4">
              <a:avLst>
                <a:gd name="adj1" fmla="val -136212"/>
                <a:gd name="adj2" fmla="val 554100"/>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7240385" y="3498139"/>
              <a:ext cx="731520" cy="457200"/>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9340843" y="2726443"/>
              <a:ext cx="424035" cy="517167"/>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0" name="Group 59"/>
          <p:cNvGrpSpPr/>
          <p:nvPr/>
        </p:nvGrpSpPr>
        <p:grpSpPr>
          <a:xfrm>
            <a:off x="7672077" y="307083"/>
            <a:ext cx="4133022" cy="2779472"/>
            <a:chOff x="2274577" y="611883"/>
            <a:chExt cx="4133022" cy="2779472"/>
          </a:xfrm>
        </p:grpSpPr>
        <p:sp>
          <p:nvSpPr>
            <p:cNvPr id="22" name="Oval 21"/>
            <p:cNvSpPr/>
            <p:nvPr/>
          </p:nvSpPr>
          <p:spPr>
            <a:xfrm>
              <a:off x="3216596" y="1687249"/>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1</a:t>
              </a:r>
              <a:endParaRPr lang="bg-BG" sz="2400" b="1" dirty="0">
                <a:solidFill>
                  <a:srgbClr val="FF0000"/>
                </a:solidFill>
              </a:endParaRPr>
            </a:p>
          </p:txBody>
        </p:sp>
        <p:sp>
          <p:nvSpPr>
            <p:cNvPr id="23" name="Oval 22"/>
            <p:cNvSpPr/>
            <p:nvPr/>
          </p:nvSpPr>
          <p:spPr>
            <a:xfrm>
              <a:off x="3906961" y="991504"/>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2</a:t>
              </a:r>
              <a:endParaRPr lang="bg-BG" sz="2400" b="1" dirty="0">
                <a:solidFill>
                  <a:srgbClr val="FF0000"/>
                </a:solidFill>
              </a:endParaRPr>
            </a:p>
          </p:txBody>
        </p:sp>
        <p:sp>
          <p:nvSpPr>
            <p:cNvPr id="24" name="Oval 23"/>
            <p:cNvSpPr/>
            <p:nvPr/>
          </p:nvSpPr>
          <p:spPr>
            <a:xfrm>
              <a:off x="3841248" y="611883"/>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3</a:t>
              </a:r>
              <a:endParaRPr lang="bg-BG" sz="2400" b="1" dirty="0">
                <a:solidFill>
                  <a:srgbClr val="FF0000"/>
                </a:solidFill>
              </a:endParaRPr>
            </a:p>
          </p:txBody>
        </p:sp>
        <p:sp>
          <p:nvSpPr>
            <p:cNvPr id="25" name="Oval 24"/>
            <p:cNvSpPr/>
            <p:nvPr/>
          </p:nvSpPr>
          <p:spPr>
            <a:xfrm>
              <a:off x="2274577" y="2784483"/>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5</a:t>
              </a:r>
              <a:endParaRPr lang="bg-BG" sz="2400" b="1" dirty="0">
                <a:solidFill>
                  <a:srgbClr val="FF0000"/>
                </a:solidFill>
              </a:endParaRPr>
            </a:p>
          </p:txBody>
        </p:sp>
        <p:sp>
          <p:nvSpPr>
            <p:cNvPr id="26" name="Oval 25"/>
            <p:cNvSpPr/>
            <p:nvPr/>
          </p:nvSpPr>
          <p:spPr>
            <a:xfrm>
              <a:off x="2734567" y="1687249"/>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4</a:t>
              </a:r>
              <a:endParaRPr lang="bg-BG" sz="2400" b="1" dirty="0">
                <a:solidFill>
                  <a:srgbClr val="FF0000"/>
                </a:solidFill>
              </a:endParaRPr>
            </a:p>
          </p:txBody>
        </p:sp>
        <p:sp>
          <p:nvSpPr>
            <p:cNvPr id="27" name="Oval 26"/>
            <p:cNvSpPr/>
            <p:nvPr/>
          </p:nvSpPr>
          <p:spPr>
            <a:xfrm>
              <a:off x="4604111" y="2145548"/>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6</a:t>
              </a:r>
              <a:endParaRPr lang="bg-BG" sz="2400" b="1" dirty="0">
                <a:solidFill>
                  <a:srgbClr val="FF0000"/>
                </a:solidFill>
              </a:endParaRPr>
            </a:p>
          </p:txBody>
        </p:sp>
        <p:sp>
          <p:nvSpPr>
            <p:cNvPr id="28" name="Oval 27"/>
            <p:cNvSpPr/>
            <p:nvPr/>
          </p:nvSpPr>
          <p:spPr>
            <a:xfrm>
              <a:off x="5964959" y="1278707"/>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7</a:t>
              </a:r>
              <a:endParaRPr lang="bg-BG" sz="2400" b="1" dirty="0">
                <a:solidFill>
                  <a:srgbClr val="FF0000"/>
                </a:solidFill>
              </a:endParaRPr>
            </a:p>
          </p:txBody>
        </p:sp>
        <p:sp>
          <p:nvSpPr>
            <p:cNvPr id="29" name="Oval 28"/>
            <p:cNvSpPr/>
            <p:nvPr/>
          </p:nvSpPr>
          <p:spPr>
            <a:xfrm>
              <a:off x="3903117" y="1916485"/>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8</a:t>
              </a:r>
              <a:endParaRPr lang="bg-BG" sz="2400" b="1" dirty="0">
                <a:solidFill>
                  <a:srgbClr val="FF0000"/>
                </a:solidFill>
              </a:endParaRPr>
            </a:p>
          </p:txBody>
        </p:sp>
        <p:sp>
          <p:nvSpPr>
            <p:cNvPr id="30" name="Oval 29"/>
            <p:cNvSpPr/>
            <p:nvPr/>
          </p:nvSpPr>
          <p:spPr>
            <a:xfrm>
              <a:off x="3538054" y="2946916"/>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9</a:t>
              </a:r>
              <a:endParaRPr lang="bg-BG" sz="2400" b="1" dirty="0">
                <a:solidFill>
                  <a:srgbClr val="FF0000"/>
                </a:solidFill>
              </a:endParaRPr>
            </a:p>
          </p:txBody>
        </p:sp>
        <p:sp>
          <p:nvSpPr>
            <p:cNvPr id="31" name="Oval 30"/>
            <p:cNvSpPr/>
            <p:nvPr/>
          </p:nvSpPr>
          <p:spPr>
            <a:xfrm>
              <a:off x="5245044" y="2196033"/>
              <a:ext cx="762712"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10</a:t>
              </a:r>
              <a:endParaRPr lang="bg-BG" sz="2400" b="1" dirty="0">
                <a:solidFill>
                  <a:srgbClr val="FF0000"/>
                </a:solidFill>
              </a:endParaRPr>
            </a:p>
          </p:txBody>
        </p:sp>
      </p:grpSp>
      <p:sp>
        <p:nvSpPr>
          <p:cNvPr id="62" name="Rectangle 61"/>
          <p:cNvSpPr/>
          <p:nvPr/>
        </p:nvSpPr>
        <p:spPr>
          <a:xfrm>
            <a:off x="2872441" y="2257868"/>
            <a:ext cx="4330032" cy="461665"/>
          </a:xfrm>
          <a:prstGeom prst="rect">
            <a:avLst/>
          </a:prstGeom>
        </p:spPr>
        <p:txBody>
          <a:bodyPr wrap="none">
            <a:spAutoFit/>
          </a:bodyPr>
          <a:lstStyle/>
          <a:p>
            <a:r>
              <a:rPr lang="bg-BG" sz="2400" b="1" i="1" dirty="0"/>
              <a:t>Матрица на инциденциите </a:t>
            </a:r>
          </a:p>
        </p:txBody>
      </p:sp>
    </p:spTree>
    <p:extLst>
      <p:ext uri="{BB962C8B-B14F-4D97-AF65-F5344CB8AC3E}">
        <p14:creationId xmlns:p14="http://schemas.microsoft.com/office/powerpoint/2010/main" val="3317256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35</a:t>
            </a:fld>
            <a:endParaRPr lang="bg-BG" dirty="0"/>
          </a:p>
        </p:txBody>
      </p:sp>
      <p:graphicFrame>
        <p:nvGraphicFramePr>
          <p:cNvPr id="5" name="Table 4"/>
          <p:cNvGraphicFramePr>
            <a:graphicFrameLocks noGrp="1"/>
          </p:cNvGraphicFramePr>
          <p:nvPr>
            <p:extLst>
              <p:ext uri="{D42A27DB-BD31-4B8C-83A1-F6EECF244321}">
                <p14:modId xmlns:p14="http://schemas.microsoft.com/office/powerpoint/2010/main" val="1991944608"/>
              </p:ext>
            </p:extLst>
          </p:nvPr>
        </p:nvGraphicFramePr>
        <p:xfrm>
          <a:off x="8745832" y="26065"/>
          <a:ext cx="3288455" cy="3200400"/>
        </p:xfrm>
        <a:graphic>
          <a:graphicData uri="http://schemas.openxmlformats.org/drawingml/2006/table">
            <a:tbl>
              <a:tblPr bandRow="1">
                <a:tableStyleId>{5940675A-B579-460E-94D1-54222C63F5DA}</a:tableStyleId>
              </a:tblPr>
              <a:tblGrid>
                <a:gridCol w="518940">
                  <a:extLst>
                    <a:ext uri="{9D8B030D-6E8A-4147-A177-3AD203B41FA5}">
                      <a16:colId xmlns:a16="http://schemas.microsoft.com/office/drawing/2014/main" val="3287842762"/>
                    </a:ext>
                  </a:extLst>
                </a:gridCol>
                <a:gridCol w="411181">
                  <a:extLst>
                    <a:ext uri="{9D8B030D-6E8A-4147-A177-3AD203B41FA5}">
                      <a16:colId xmlns:a16="http://schemas.microsoft.com/office/drawing/2014/main" val="3386938356"/>
                    </a:ext>
                  </a:extLst>
                </a:gridCol>
                <a:gridCol w="476104">
                  <a:extLst>
                    <a:ext uri="{9D8B030D-6E8A-4147-A177-3AD203B41FA5}">
                      <a16:colId xmlns:a16="http://schemas.microsoft.com/office/drawing/2014/main" val="3352063990"/>
                    </a:ext>
                  </a:extLst>
                </a:gridCol>
                <a:gridCol w="411181">
                  <a:extLst>
                    <a:ext uri="{9D8B030D-6E8A-4147-A177-3AD203B41FA5}">
                      <a16:colId xmlns:a16="http://schemas.microsoft.com/office/drawing/2014/main" val="138904030"/>
                    </a:ext>
                  </a:extLst>
                </a:gridCol>
                <a:gridCol w="468555">
                  <a:extLst>
                    <a:ext uri="{9D8B030D-6E8A-4147-A177-3AD203B41FA5}">
                      <a16:colId xmlns:a16="http://schemas.microsoft.com/office/drawing/2014/main" val="259226367"/>
                    </a:ext>
                  </a:extLst>
                </a:gridCol>
                <a:gridCol w="515842">
                  <a:extLst>
                    <a:ext uri="{9D8B030D-6E8A-4147-A177-3AD203B41FA5}">
                      <a16:colId xmlns:a16="http://schemas.microsoft.com/office/drawing/2014/main" val="1809530826"/>
                    </a:ext>
                  </a:extLst>
                </a:gridCol>
                <a:gridCol w="486652">
                  <a:extLst>
                    <a:ext uri="{9D8B030D-6E8A-4147-A177-3AD203B41FA5}">
                      <a16:colId xmlns:a16="http://schemas.microsoft.com/office/drawing/2014/main" val="2966456543"/>
                    </a:ext>
                  </a:extLst>
                </a:gridCol>
              </a:tblGrid>
              <a:tr h="424232">
                <a:tc>
                  <a:txBody>
                    <a:bodyPr/>
                    <a:lstStyle/>
                    <a:p>
                      <a:endParaRPr lang="bg-BG"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A</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B</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C</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D</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E</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F</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7506916"/>
                  </a:ext>
                </a:extLst>
              </a:tr>
              <a:tr h="370840">
                <a:tc>
                  <a:txBody>
                    <a:bodyPr/>
                    <a:lstStyle/>
                    <a:p>
                      <a:pPr algn="ctr"/>
                      <a:r>
                        <a:rPr lang="en-US" sz="2400" b="1" dirty="0">
                          <a:solidFill>
                            <a:schemeClr val="tx1"/>
                          </a:solidFill>
                        </a:rPr>
                        <a:t>A</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1834570"/>
                  </a:ext>
                </a:extLst>
              </a:tr>
              <a:tr h="370840">
                <a:tc>
                  <a:txBody>
                    <a:bodyPr/>
                    <a:lstStyle/>
                    <a:p>
                      <a:pPr algn="ctr"/>
                      <a:r>
                        <a:rPr lang="en-US" sz="2400" b="1" dirty="0">
                          <a:solidFill>
                            <a:schemeClr val="tx1"/>
                          </a:solidFill>
                        </a:rPr>
                        <a:t>B</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1</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46848106"/>
                  </a:ext>
                </a:extLst>
              </a:tr>
              <a:tr h="370840">
                <a:tc>
                  <a:txBody>
                    <a:bodyPr/>
                    <a:lstStyle/>
                    <a:p>
                      <a:pPr algn="ctr"/>
                      <a:r>
                        <a:rPr lang="en-US" sz="2400" b="1" dirty="0">
                          <a:solidFill>
                            <a:schemeClr val="tx1"/>
                          </a:solidFill>
                        </a:rPr>
                        <a:t>C</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63359582"/>
                  </a:ext>
                </a:extLst>
              </a:tr>
              <a:tr h="370840">
                <a:tc>
                  <a:txBody>
                    <a:bodyPr/>
                    <a:lstStyle/>
                    <a:p>
                      <a:pPr algn="ctr"/>
                      <a:r>
                        <a:rPr lang="en-US" sz="2400" b="1" dirty="0">
                          <a:solidFill>
                            <a:schemeClr val="tx1"/>
                          </a:solidFill>
                        </a:rPr>
                        <a:t>D</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56042853"/>
                  </a:ext>
                </a:extLst>
              </a:tr>
              <a:tr h="370840">
                <a:tc>
                  <a:txBody>
                    <a:bodyPr/>
                    <a:lstStyle/>
                    <a:p>
                      <a:pPr algn="ctr"/>
                      <a:r>
                        <a:rPr lang="en-US" sz="2400" b="1" dirty="0">
                          <a:solidFill>
                            <a:schemeClr val="tx1"/>
                          </a:solidFill>
                        </a:rPr>
                        <a:t>E</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1</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0</a:t>
                      </a:r>
                      <a:endParaRPr lang="bg-BG" sz="240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7442825"/>
                  </a:ext>
                </a:extLst>
              </a:tr>
              <a:tr h="370840">
                <a:tc>
                  <a:txBody>
                    <a:bodyPr/>
                    <a:lstStyle/>
                    <a:p>
                      <a:pPr algn="ctr"/>
                      <a:r>
                        <a:rPr lang="en-US" sz="2400" b="1" dirty="0">
                          <a:solidFill>
                            <a:schemeClr val="tx1"/>
                          </a:solidFill>
                        </a:rPr>
                        <a:t>F</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bg-BG" sz="2400"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76439691"/>
                  </a:ext>
                </a:extLst>
              </a:tr>
            </a:tbl>
          </a:graphicData>
        </a:graphic>
      </p:graphicFrame>
      <p:sp>
        <p:nvSpPr>
          <p:cNvPr id="8" name="Rectangle 7"/>
          <p:cNvSpPr/>
          <p:nvPr/>
        </p:nvSpPr>
        <p:spPr>
          <a:xfrm>
            <a:off x="3705762" y="738994"/>
            <a:ext cx="3001399" cy="461665"/>
          </a:xfrm>
          <a:prstGeom prst="rect">
            <a:avLst/>
          </a:prstGeom>
        </p:spPr>
        <p:txBody>
          <a:bodyPr wrap="none">
            <a:spAutoFit/>
          </a:bodyPr>
          <a:lstStyle/>
          <a:p>
            <a:r>
              <a:rPr lang="bg-BG" sz="2400" b="1" i="1" dirty="0"/>
              <a:t>Структурна схема</a:t>
            </a:r>
          </a:p>
        </p:txBody>
      </p:sp>
      <p:pic>
        <p:nvPicPr>
          <p:cNvPr id="6" name="Picture 5"/>
          <p:cNvPicPr>
            <a:picLocks noChangeAspect="1"/>
          </p:cNvPicPr>
          <p:nvPr/>
        </p:nvPicPr>
        <p:blipFill>
          <a:blip r:embed="rId2"/>
          <a:stretch>
            <a:fillRect/>
          </a:stretch>
        </p:blipFill>
        <p:spPr>
          <a:xfrm>
            <a:off x="2478464" y="1404629"/>
            <a:ext cx="6325275" cy="3472172"/>
          </a:xfrm>
          <a:prstGeom prst="rect">
            <a:avLst/>
          </a:prstGeom>
        </p:spPr>
      </p:pic>
    </p:spTree>
    <p:extLst>
      <p:ext uri="{BB962C8B-B14F-4D97-AF65-F5344CB8AC3E}">
        <p14:creationId xmlns:p14="http://schemas.microsoft.com/office/powerpoint/2010/main" val="32413537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36</a:t>
            </a:fld>
            <a:endParaRPr lang="bg-BG" dirty="0"/>
          </a:p>
        </p:txBody>
      </p:sp>
      <p:sp>
        <p:nvSpPr>
          <p:cNvPr id="5" name="Rectangle 4"/>
          <p:cNvSpPr/>
          <p:nvPr/>
        </p:nvSpPr>
        <p:spPr>
          <a:xfrm>
            <a:off x="2305121" y="410309"/>
            <a:ext cx="9004300" cy="6186309"/>
          </a:xfrm>
          <a:prstGeom prst="rect">
            <a:avLst/>
          </a:prstGeom>
        </p:spPr>
        <p:txBody>
          <a:bodyPr wrap="square">
            <a:spAutoFit/>
          </a:bodyPr>
          <a:lstStyle/>
          <a:p>
            <a:pPr algn="just">
              <a:lnSpc>
                <a:spcPct val="150000"/>
              </a:lnSpc>
              <a:spcBef>
                <a:spcPts val="0"/>
              </a:spcBef>
              <a:spcAft>
                <a:spcPts val="0"/>
              </a:spcAft>
              <a:defRPr/>
            </a:pPr>
            <a:r>
              <a:rPr lang="bg-BG" altLang="bg-BG" sz="2400" b="1" dirty="0"/>
              <a:t>Пример 3.  </a:t>
            </a:r>
            <a:r>
              <a:rPr lang="bg-BG" altLang="bg-BG" sz="2400" dirty="0"/>
              <a:t>Зададена</a:t>
            </a:r>
            <a:r>
              <a:rPr lang="bg-BG" sz="2400" dirty="0"/>
              <a:t> е система представена чрез множеството на десните инциденции:</a:t>
            </a:r>
          </a:p>
          <a:p>
            <a:pPr>
              <a:lnSpc>
                <a:spcPct val="150000"/>
              </a:lnSpc>
              <a:spcBef>
                <a:spcPts val="0"/>
              </a:spcBef>
              <a:spcAft>
                <a:spcPts val="0"/>
              </a:spcAft>
              <a:defRPr/>
            </a:pPr>
            <a:r>
              <a:rPr lang="en-US" sz="2400" dirty="0"/>
              <a:t>G(I)={II}</a:t>
            </a:r>
          </a:p>
          <a:p>
            <a:pPr>
              <a:lnSpc>
                <a:spcPct val="150000"/>
              </a:lnSpc>
              <a:spcBef>
                <a:spcPts val="0"/>
              </a:spcBef>
              <a:spcAft>
                <a:spcPts val="0"/>
              </a:spcAft>
              <a:defRPr/>
            </a:pPr>
            <a:r>
              <a:rPr lang="en-US" sz="2400" dirty="0"/>
              <a:t>G(II)={III, IV}</a:t>
            </a:r>
          </a:p>
          <a:p>
            <a:pPr>
              <a:lnSpc>
                <a:spcPct val="150000"/>
              </a:lnSpc>
              <a:spcBef>
                <a:spcPts val="0"/>
              </a:spcBef>
              <a:spcAft>
                <a:spcPts val="0"/>
              </a:spcAft>
              <a:defRPr/>
            </a:pPr>
            <a:r>
              <a:rPr lang="en-US" sz="2400" dirty="0"/>
              <a:t>G(III)={V}</a:t>
            </a:r>
            <a:endParaRPr lang="bg-BG" sz="2400" dirty="0"/>
          </a:p>
          <a:p>
            <a:pPr>
              <a:lnSpc>
                <a:spcPct val="150000"/>
              </a:lnSpc>
              <a:defRPr/>
            </a:pPr>
            <a:r>
              <a:rPr lang="en-US" sz="2400" dirty="0"/>
              <a:t>G(IV)={VI}</a:t>
            </a:r>
          </a:p>
          <a:p>
            <a:pPr>
              <a:lnSpc>
                <a:spcPct val="150000"/>
              </a:lnSpc>
              <a:defRPr/>
            </a:pPr>
            <a:r>
              <a:rPr lang="en-US" sz="2400" dirty="0"/>
              <a:t>G(V)={I}</a:t>
            </a:r>
          </a:p>
          <a:p>
            <a:pPr>
              <a:lnSpc>
                <a:spcPct val="150000"/>
              </a:lnSpc>
              <a:defRPr/>
            </a:pPr>
            <a:r>
              <a:rPr lang="en-US" sz="2400" dirty="0"/>
              <a:t>G(VI)={V}</a:t>
            </a:r>
          </a:p>
          <a:p>
            <a:pPr algn="just">
              <a:lnSpc>
                <a:spcPct val="150000"/>
              </a:lnSpc>
              <a:spcBef>
                <a:spcPts val="0"/>
              </a:spcBef>
              <a:spcAft>
                <a:spcPts val="0"/>
              </a:spcAft>
              <a:defRPr/>
            </a:pPr>
            <a:r>
              <a:rPr lang="bg-BG" sz="2400" dirty="0"/>
              <a:t>Да се представи системата с граф, матрица на съседство, матрица на инцидентност В и множество на леви инциденции. Да се състави структурна схема.</a:t>
            </a:r>
            <a:endParaRPr lang="bg-BG" altLang="bg-BG" sz="2400" dirty="0"/>
          </a:p>
        </p:txBody>
      </p:sp>
    </p:spTree>
    <p:extLst>
      <p:ext uri="{BB962C8B-B14F-4D97-AF65-F5344CB8AC3E}">
        <p14:creationId xmlns:p14="http://schemas.microsoft.com/office/powerpoint/2010/main" val="33987035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37</a:t>
            </a:fld>
            <a:endParaRPr lang="bg-BG" dirty="0"/>
          </a:p>
        </p:txBody>
      </p:sp>
      <p:sp>
        <p:nvSpPr>
          <p:cNvPr id="5" name="Rectangle 4"/>
          <p:cNvSpPr/>
          <p:nvPr/>
        </p:nvSpPr>
        <p:spPr>
          <a:xfrm>
            <a:off x="2029717" y="420024"/>
            <a:ext cx="10049212" cy="6555641"/>
          </a:xfrm>
          <a:prstGeom prst="rect">
            <a:avLst/>
          </a:prstGeom>
        </p:spPr>
        <p:txBody>
          <a:bodyPr wrap="square">
            <a:spAutoFit/>
          </a:bodyPr>
          <a:lstStyle/>
          <a:p>
            <a:pPr algn="just">
              <a:lnSpc>
                <a:spcPct val="150000"/>
              </a:lnSpc>
              <a:spcBef>
                <a:spcPts val="0"/>
              </a:spcBef>
              <a:spcAft>
                <a:spcPts val="0"/>
              </a:spcAft>
              <a:defRPr/>
            </a:pPr>
            <a:endParaRPr lang="bg-BG" sz="2400" dirty="0"/>
          </a:p>
          <a:p>
            <a:pPr algn="just">
              <a:spcBef>
                <a:spcPts val="0"/>
              </a:spcBef>
              <a:spcAft>
                <a:spcPts val="0"/>
              </a:spcAft>
              <a:defRPr/>
            </a:pPr>
            <a:endParaRPr lang="bg-BG" sz="2400" dirty="0"/>
          </a:p>
          <a:p>
            <a:pPr>
              <a:lnSpc>
                <a:spcPct val="150000"/>
              </a:lnSpc>
              <a:spcBef>
                <a:spcPts val="0"/>
              </a:spcBef>
              <a:spcAft>
                <a:spcPts val="0"/>
              </a:spcAft>
              <a:defRPr/>
            </a:pPr>
            <a:r>
              <a:rPr lang="en-US" sz="2400" dirty="0"/>
              <a:t>G(I)={II}</a:t>
            </a:r>
          </a:p>
          <a:p>
            <a:pPr>
              <a:lnSpc>
                <a:spcPct val="150000"/>
              </a:lnSpc>
              <a:spcBef>
                <a:spcPts val="0"/>
              </a:spcBef>
              <a:spcAft>
                <a:spcPts val="0"/>
              </a:spcAft>
              <a:defRPr/>
            </a:pPr>
            <a:r>
              <a:rPr lang="en-US" sz="2400" dirty="0"/>
              <a:t>G(II)={III, IV}</a:t>
            </a:r>
          </a:p>
          <a:p>
            <a:pPr>
              <a:lnSpc>
                <a:spcPct val="150000"/>
              </a:lnSpc>
              <a:spcBef>
                <a:spcPts val="0"/>
              </a:spcBef>
              <a:spcAft>
                <a:spcPts val="0"/>
              </a:spcAft>
              <a:defRPr/>
            </a:pPr>
            <a:r>
              <a:rPr lang="en-US" sz="2400" dirty="0"/>
              <a:t>G(III)={V}</a:t>
            </a:r>
            <a:endParaRPr lang="bg-BG" sz="2400" dirty="0"/>
          </a:p>
          <a:p>
            <a:pPr>
              <a:lnSpc>
                <a:spcPct val="150000"/>
              </a:lnSpc>
              <a:defRPr/>
            </a:pPr>
            <a:r>
              <a:rPr lang="en-US" sz="2400" dirty="0"/>
              <a:t>G(IV)={VI}</a:t>
            </a:r>
          </a:p>
          <a:p>
            <a:pPr>
              <a:lnSpc>
                <a:spcPct val="150000"/>
              </a:lnSpc>
              <a:defRPr/>
            </a:pPr>
            <a:r>
              <a:rPr lang="en-US" sz="2400" dirty="0"/>
              <a:t>G(V)={I}</a:t>
            </a:r>
          </a:p>
          <a:p>
            <a:pPr>
              <a:lnSpc>
                <a:spcPct val="150000"/>
              </a:lnSpc>
              <a:defRPr/>
            </a:pPr>
            <a:r>
              <a:rPr lang="en-US" sz="2400" dirty="0"/>
              <a:t>G(VI)={V}</a:t>
            </a:r>
          </a:p>
          <a:p>
            <a:pPr>
              <a:lnSpc>
                <a:spcPct val="150000"/>
              </a:lnSpc>
              <a:spcBef>
                <a:spcPts val="0"/>
              </a:spcBef>
              <a:spcAft>
                <a:spcPts val="0"/>
              </a:spcAft>
              <a:defRPr/>
            </a:pPr>
            <a:endParaRPr lang="bg-BG" sz="2400" dirty="0"/>
          </a:p>
          <a:p>
            <a:pPr algn="just">
              <a:lnSpc>
                <a:spcPct val="150000"/>
              </a:lnSpc>
              <a:spcBef>
                <a:spcPts val="0"/>
              </a:spcBef>
              <a:spcAft>
                <a:spcPts val="0"/>
              </a:spcAft>
              <a:defRPr/>
            </a:pPr>
            <a:endParaRPr lang="bg-BG" altLang="bg-BG" sz="2400" dirty="0"/>
          </a:p>
          <a:p>
            <a:pPr algn="just">
              <a:lnSpc>
                <a:spcPct val="150000"/>
              </a:lnSpc>
              <a:spcBef>
                <a:spcPts val="0"/>
              </a:spcBef>
              <a:spcAft>
                <a:spcPts val="0"/>
              </a:spcAft>
              <a:defRPr/>
            </a:pPr>
            <a:endParaRPr lang="bg-BG" altLang="bg-BG" sz="2400" dirty="0"/>
          </a:p>
          <a:p>
            <a:pPr algn="just">
              <a:lnSpc>
                <a:spcPct val="150000"/>
              </a:lnSpc>
              <a:spcBef>
                <a:spcPts val="0"/>
              </a:spcBef>
              <a:spcAft>
                <a:spcPts val="0"/>
              </a:spcAft>
              <a:defRPr/>
            </a:pPr>
            <a:endParaRPr lang="bg-BG" altLang="bg-BG" sz="2400" dirty="0"/>
          </a:p>
        </p:txBody>
      </p:sp>
      <p:grpSp>
        <p:nvGrpSpPr>
          <p:cNvPr id="18" name="Group 17"/>
          <p:cNvGrpSpPr/>
          <p:nvPr/>
        </p:nvGrpSpPr>
        <p:grpSpPr>
          <a:xfrm>
            <a:off x="6562073" y="650856"/>
            <a:ext cx="3991841" cy="4226260"/>
            <a:chOff x="7697239" y="1493058"/>
            <a:chExt cx="3681178" cy="4226260"/>
          </a:xfrm>
        </p:grpSpPr>
        <p:sp>
          <p:nvSpPr>
            <p:cNvPr id="69" name="Oval 68"/>
            <p:cNvSpPr/>
            <p:nvPr/>
          </p:nvSpPr>
          <p:spPr>
            <a:xfrm>
              <a:off x="7697239" y="1850294"/>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I</a:t>
              </a:r>
              <a:endParaRPr lang="bg-BG" sz="2400" b="1" dirty="0">
                <a:solidFill>
                  <a:schemeClr val="tx1"/>
                </a:solidFill>
              </a:endParaRPr>
            </a:p>
          </p:txBody>
        </p:sp>
        <p:sp>
          <p:nvSpPr>
            <p:cNvPr id="70" name="Oval 69"/>
            <p:cNvSpPr/>
            <p:nvPr/>
          </p:nvSpPr>
          <p:spPr>
            <a:xfrm>
              <a:off x="9945144" y="4896358"/>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VI</a:t>
              </a:r>
              <a:endParaRPr lang="bg-BG" sz="2400" b="1" dirty="0">
                <a:solidFill>
                  <a:schemeClr val="tx1"/>
                </a:solidFill>
              </a:endParaRPr>
            </a:p>
          </p:txBody>
        </p:sp>
        <p:sp>
          <p:nvSpPr>
            <p:cNvPr id="71" name="Oval 70"/>
            <p:cNvSpPr/>
            <p:nvPr/>
          </p:nvSpPr>
          <p:spPr>
            <a:xfrm>
              <a:off x="9561620" y="2477171"/>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III</a:t>
              </a:r>
              <a:endParaRPr lang="bg-BG" sz="2200" b="1" dirty="0">
                <a:solidFill>
                  <a:schemeClr val="tx1"/>
                </a:solidFill>
              </a:endParaRPr>
            </a:p>
          </p:txBody>
        </p:sp>
        <p:sp>
          <p:nvSpPr>
            <p:cNvPr id="72" name="Oval 71"/>
            <p:cNvSpPr/>
            <p:nvPr/>
          </p:nvSpPr>
          <p:spPr>
            <a:xfrm>
              <a:off x="8859146" y="4006931"/>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V</a:t>
              </a:r>
              <a:endParaRPr lang="bg-BG" sz="2400" b="1" dirty="0">
                <a:solidFill>
                  <a:schemeClr val="tx1"/>
                </a:solidFill>
              </a:endParaRPr>
            </a:p>
          </p:txBody>
        </p:sp>
        <p:sp>
          <p:nvSpPr>
            <p:cNvPr id="73" name="Oval 72"/>
            <p:cNvSpPr/>
            <p:nvPr/>
          </p:nvSpPr>
          <p:spPr>
            <a:xfrm>
              <a:off x="10555457" y="3423308"/>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IV</a:t>
              </a:r>
              <a:endParaRPr lang="bg-BG" sz="2400" b="1" dirty="0">
                <a:solidFill>
                  <a:schemeClr val="tx1"/>
                </a:solidFill>
              </a:endParaRPr>
            </a:p>
          </p:txBody>
        </p:sp>
        <p:cxnSp>
          <p:nvCxnSpPr>
            <p:cNvPr id="75" name="Straight Arrow Connector 74"/>
            <p:cNvCxnSpPr/>
            <p:nvPr/>
          </p:nvCxnSpPr>
          <p:spPr>
            <a:xfrm flipH="1">
              <a:off x="10099632" y="2224460"/>
              <a:ext cx="170834" cy="281673"/>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H="1">
              <a:off x="9378008" y="3300131"/>
              <a:ext cx="414214" cy="718084"/>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H="1" flipV="1">
              <a:off x="8225119" y="2629749"/>
              <a:ext cx="713593" cy="1587117"/>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73" idx="0"/>
            </p:cNvCxnSpPr>
            <p:nvPr/>
          </p:nvCxnSpPr>
          <p:spPr>
            <a:xfrm>
              <a:off x="10577875" y="2103587"/>
              <a:ext cx="349979" cy="1319722"/>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Oval 79"/>
            <p:cNvSpPr/>
            <p:nvPr/>
          </p:nvSpPr>
          <p:spPr>
            <a:xfrm>
              <a:off x="10023414" y="1493058"/>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II</a:t>
              </a:r>
              <a:endParaRPr lang="bg-BG" sz="2400" b="1" dirty="0">
                <a:solidFill>
                  <a:schemeClr val="tx1"/>
                </a:solidFill>
              </a:endParaRPr>
            </a:p>
          </p:txBody>
        </p:sp>
        <p:cxnSp>
          <p:nvCxnSpPr>
            <p:cNvPr id="81" name="Straight Arrow Connector 80"/>
            <p:cNvCxnSpPr>
              <a:endCxn id="80" idx="1"/>
            </p:cNvCxnSpPr>
            <p:nvPr/>
          </p:nvCxnSpPr>
          <p:spPr>
            <a:xfrm flipV="1">
              <a:off x="8381345" y="1613578"/>
              <a:ext cx="1762589" cy="342676"/>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70" idx="2"/>
            </p:cNvCxnSpPr>
            <p:nvPr/>
          </p:nvCxnSpPr>
          <p:spPr>
            <a:xfrm flipH="1" flipV="1">
              <a:off x="9518782" y="4690302"/>
              <a:ext cx="426362" cy="617536"/>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flipH="1">
              <a:off x="10555457" y="4256756"/>
              <a:ext cx="437146" cy="685322"/>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5" name="Rectangle 84"/>
          <p:cNvSpPr/>
          <p:nvPr/>
        </p:nvSpPr>
        <p:spPr>
          <a:xfrm>
            <a:off x="8087160" y="189191"/>
            <a:ext cx="941668" cy="461665"/>
          </a:xfrm>
          <a:prstGeom prst="rect">
            <a:avLst/>
          </a:prstGeom>
        </p:spPr>
        <p:txBody>
          <a:bodyPr wrap="none">
            <a:spAutoFit/>
          </a:bodyPr>
          <a:lstStyle/>
          <a:p>
            <a:r>
              <a:rPr lang="bg-BG" sz="2400" b="1" i="1" dirty="0"/>
              <a:t>Граф</a:t>
            </a:r>
          </a:p>
        </p:txBody>
      </p:sp>
    </p:spTree>
    <p:extLst>
      <p:ext uri="{BB962C8B-B14F-4D97-AF65-F5344CB8AC3E}">
        <p14:creationId xmlns:p14="http://schemas.microsoft.com/office/powerpoint/2010/main" val="31334546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54487" y="1205364"/>
            <a:ext cx="7255081" cy="3220842"/>
          </a:xfrm>
        </p:spPr>
        <p:txBody>
          <a:bodyPr>
            <a:noAutofit/>
          </a:bodyPr>
          <a:lstStyle/>
          <a:p>
            <a:pPr algn="just">
              <a:lnSpc>
                <a:spcPct val="150000"/>
              </a:lnSpc>
              <a:defRPr/>
            </a:pPr>
            <a:endParaRPr lang="bg-BG" altLang="bg-BG" sz="2400" dirty="0"/>
          </a:p>
          <a:p>
            <a:pPr algn="just"/>
            <a:endParaRPr lang="en-US" sz="2400" dirty="0"/>
          </a:p>
          <a:p>
            <a:pPr algn="just"/>
            <a:endParaRPr lang="en-US" sz="2400" dirty="0"/>
          </a:p>
          <a:p>
            <a:pPr algn="just">
              <a:lnSpc>
                <a:spcPct val="100000"/>
              </a:lnSpc>
              <a:spcBef>
                <a:spcPts val="0"/>
              </a:spcBef>
            </a:pPr>
            <a:r>
              <a:rPr lang="en-US" sz="2400" dirty="0"/>
              <a:t>A=						</a:t>
            </a:r>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38</a:t>
            </a:fld>
            <a:endParaRPr lang="bg-BG" dirty="0"/>
          </a:p>
        </p:txBody>
      </p:sp>
      <p:sp>
        <p:nvSpPr>
          <p:cNvPr id="6" name="Text Placeholder 2"/>
          <p:cNvSpPr txBox="1">
            <a:spLocks/>
          </p:cNvSpPr>
          <p:nvPr/>
        </p:nvSpPr>
        <p:spPr>
          <a:xfrm>
            <a:off x="2120900" y="950686"/>
            <a:ext cx="9890579" cy="515801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9pPr>
          </a:lstStyle>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p:txBody>
      </p:sp>
      <p:graphicFrame>
        <p:nvGraphicFramePr>
          <p:cNvPr id="2" name="Table 1"/>
          <p:cNvGraphicFramePr>
            <a:graphicFrameLocks noGrp="1"/>
          </p:cNvGraphicFramePr>
          <p:nvPr>
            <p:extLst>
              <p:ext uri="{D42A27DB-BD31-4B8C-83A1-F6EECF244321}">
                <p14:modId xmlns:p14="http://schemas.microsoft.com/office/powerpoint/2010/main" val="1412842558"/>
              </p:ext>
            </p:extLst>
          </p:nvPr>
        </p:nvGraphicFramePr>
        <p:xfrm>
          <a:off x="2820320" y="1152654"/>
          <a:ext cx="4683842" cy="3200400"/>
        </p:xfrm>
        <a:graphic>
          <a:graphicData uri="http://schemas.openxmlformats.org/drawingml/2006/table">
            <a:tbl>
              <a:tblPr bandRow="1">
                <a:tableStyleId>{5940675A-B579-460E-94D1-54222C63F5DA}</a:tableStyleId>
              </a:tblPr>
              <a:tblGrid>
                <a:gridCol w="739141">
                  <a:extLst>
                    <a:ext uri="{9D8B030D-6E8A-4147-A177-3AD203B41FA5}">
                      <a16:colId xmlns:a16="http://schemas.microsoft.com/office/drawing/2014/main" val="3287842762"/>
                    </a:ext>
                  </a:extLst>
                </a:gridCol>
                <a:gridCol w="585657">
                  <a:extLst>
                    <a:ext uri="{9D8B030D-6E8A-4147-A177-3AD203B41FA5}">
                      <a16:colId xmlns:a16="http://schemas.microsoft.com/office/drawing/2014/main" val="3386938356"/>
                    </a:ext>
                  </a:extLst>
                </a:gridCol>
                <a:gridCol w="678129">
                  <a:extLst>
                    <a:ext uri="{9D8B030D-6E8A-4147-A177-3AD203B41FA5}">
                      <a16:colId xmlns:a16="http://schemas.microsoft.com/office/drawing/2014/main" val="3352063990"/>
                    </a:ext>
                  </a:extLst>
                </a:gridCol>
                <a:gridCol w="585657">
                  <a:extLst>
                    <a:ext uri="{9D8B030D-6E8A-4147-A177-3AD203B41FA5}">
                      <a16:colId xmlns:a16="http://schemas.microsoft.com/office/drawing/2014/main" val="138904030"/>
                    </a:ext>
                  </a:extLst>
                </a:gridCol>
                <a:gridCol w="708952">
                  <a:extLst>
                    <a:ext uri="{9D8B030D-6E8A-4147-A177-3AD203B41FA5}">
                      <a16:colId xmlns:a16="http://schemas.microsoft.com/office/drawing/2014/main" val="259226367"/>
                    </a:ext>
                  </a:extLst>
                </a:gridCol>
                <a:gridCol w="693153">
                  <a:extLst>
                    <a:ext uri="{9D8B030D-6E8A-4147-A177-3AD203B41FA5}">
                      <a16:colId xmlns:a16="http://schemas.microsoft.com/office/drawing/2014/main" val="1395468701"/>
                    </a:ext>
                  </a:extLst>
                </a:gridCol>
                <a:gridCol w="693153">
                  <a:extLst>
                    <a:ext uri="{9D8B030D-6E8A-4147-A177-3AD203B41FA5}">
                      <a16:colId xmlns:a16="http://schemas.microsoft.com/office/drawing/2014/main" val="1809530826"/>
                    </a:ext>
                  </a:extLst>
                </a:gridCol>
              </a:tblGrid>
              <a:tr h="370840">
                <a:tc>
                  <a:txBody>
                    <a:bodyPr/>
                    <a:lstStyle/>
                    <a:p>
                      <a:endParaRPr lang="bg-BG"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I</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II</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III</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IV</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V</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chemeClr val="tx1"/>
                          </a:solidFill>
                        </a:rPr>
                        <a:t>VI</a:t>
                      </a:r>
                      <a:endParaRPr lang="bg-BG" sz="24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7506916"/>
                  </a:ext>
                </a:extLst>
              </a:tr>
              <a:tr h="370840">
                <a:tc>
                  <a:txBody>
                    <a:bodyPr/>
                    <a:lstStyle/>
                    <a:p>
                      <a:pPr algn="ctr"/>
                      <a:r>
                        <a:rPr lang="en-US" sz="2400" b="1" dirty="0">
                          <a:solidFill>
                            <a:schemeClr val="tx1"/>
                          </a:solidFill>
                        </a:rPr>
                        <a:t>I</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1834570"/>
                  </a:ext>
                </a:extLst>
              </a:tr>
              <a:tr h="370840">
                <a:tc>
                  <a:txBody>
                    <a:bodyPr/>
                    <a:lstStyle/>
                    <a:p>
                      <a:pPr algn="ctr"/>
                      <a:r>
                        <a:rPr lang="en-US" sz="2400" b="1" dirty="0">
                          <a:solidFill>
                            <a:schemeClr val="tx1"/>
                          </a:solidFill>
                        </a:rPr>
                        <a:t>II</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46848106"/>
                  </a:ext>
                </a:extLst>
              </a:tr>
              <a:tr h="370840">
                <a:tc>
                  <a:txBody>
                    <a:bodyPr/>
                    <a:lstStyle/>
                    <a:p>
                      <a:pPr algn="ctr"/>
                      <a:r>
                        <a:rPr lang="en-US" sz="2400" b="1" dirty="0">
                          <a:solidFill>
                            <a:schemeClr val="tx1"/>
                          </a:solidFill>
                        </a:rPr>
                        <a:t>III</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63359582"/>
                  </a:ext>
                </a:extLst>
              </a:tr>
              <a:tr h="370840">
                <a:tc>
                  <a:txBody>
                    <a:bodyPr/>
                    <a:lstStyle/>
                    <a:p>
                      <a:pPr algn="ctr"/>
                      <a:r>
                        <a:rPr lang="en-US" sz="2400" b="1" dirty="0">
                          <a:solidFill>
                            <a:schemeClr val="tx1"/>
                          </a:solidFill>
                        </a:rPr>
                        <a:t>IV</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56042853"/>
                  </a:ext>
                </a:extLst>
              </a:tr>
              <a:tr h="370840">
                <a:tc>
                  <a:txBody>
                    <a:bodyPr/>
                    <a:lstStyle/>
                    <a:p>
                      <a:pPr algn="ctr"/>
                      <a:r>
                        <a:rPr lang="en-US" sz="2400" b="1" dirty="0">
                          <a:solidFill>
                            <a:schemeClr val="tx1"/>
                          </a:solidFill>
                        </a:rPr>
                        <a:t>V</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47463676"/>
                  </a:ext>
                </a:extLst>
              </a:tr>
              <a:tr h="370840">
                <a:tc>
                  <a:txBody>
                    <a:bodyPr/>
                    <a:lstStyle/>
                    <a:p>
                      <a:pPr algn="ctr"/>
                      <a:r>
                        <a:rPr lang="en-US" sz="2400" b="1" dirty="0">
                          <a:solidFill>
                            <a:schemeClr val="tx1"/>
                          </a:solidFill>
                        </a:rPr>
                        <a:t>VI</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7442825"/>
                  </a:ext>
                </a:extLst>
              </a:tr>
            </a:tbl>
          </a:graphicData>
        </a:graphic>
      </p:graphicFrame>
      <p:sp>
        <p:nvSpPr>
          <p:cNvPr id="31" name="Rectangle 30"/>
          <p:cNvSpPr/>
          <p:nvPr/>
        </p:nvSpPr>
        <p:spPr>
          <a:xfrm>
            <a:off x="3688165" y="433802"/>
            <a:ext cx="3721724" cy="461665"/>
          </a:xfrm>
          <a:prstGeom prst="rect">
            <a:avLst/>
          </a:prstGeom>
        </p:spPr>
        <p:txBody>
          <a:bodyPr wrap="none">
            <a:spAutoFit/>
          </a:bodyPr>
          <a:lstStyle/>
          <a:p>
            <a:r>
              <a:rPr lang="bg-BG" sz="2400" b="1" i="1" dirty="0"/>
              <a:t>Матрица на върховете </a:t>
            </a:r>
          </a:p>
        </p:txBody>
      </p:sp>
      <p:grpSp>
        <p:nvGrpSpPr>
          <p:cNvPr id="33" name="Group 32"/>
          <p:cNvGrpSpPr/>
          <p:nvPr/>
        </p:nvGrpSpPr>
        <p:grpSpPr>
          <a:xfrm>
            <a:off x="7832696" y="512263"/>
            <a:ext cx="3991841" cy="4226260"/>
            <a:chOff x="7697239" y="1493058"/>
            <a:chExt cx="3681178" cy="4226260"/>
          </a:xfrm>
        </p:grpSpPr>
        <p:sp>
          <p:nvSpPr>
            <p:cNvPr id="34" name="Oval 33"/>
            <p:cNvSpPr/>
            <p:nvPr/>
          </p:nvSpPr>
          <p:spPr>
            <a:xfrm>
              <a:off x="7697239" y="1850294"/>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I</a:t>
              </a:r>
              <a:endParaRPr lang="bg-BG" sz="2400" b="1" dirty="0">
                <a:solidFill>
                  <a:schemeClr val="tx1"/>
                </a:solidFill>
              </a:endParaRPr>
            </a:p>
          </p:txBody>
        </p:sp>
        <p:sp>
          <p:nvSpPr>
            <p:cNvPr id="35" name="Oval 34"/>
            <p:cNvSpPr/>
            <p:nvPr/>
          </p:nvSpPr>
          <p:spPr>
            <a:xfrm>
              <a:off x="9945144" y="4896358"/>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VI</a:t>
              </a:r>
              <a:endParaRPr lang="bg-BG" sz="2400" b="1" dirty="0">
                <a:solidFill>
                  <a:schemeClr val="tx1"/>
                </a:solidFill>
              </a:endParaRPr>
            </a:p>
          </p:txBody>
        </p:sp>
        <p:sp>
          <p:nvSpPr>
            <p:cNvPr id="36" name="Oval 35"/>
            <p:cNvSpPr/>
            <p:nvPr/>
          </p:nvSpPr>
          <p:spPr>
            <a:xfrm>
              <a:off x="9561620" y="2477171"/>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III</a:t>
              </a:r>
              <a:endParaRPr lang="bg-BG" sz="2200" b="1" dirty="0">
                <a:solidFill>
                  <a:schemeClr val="tx1"/>
                </a:solidFill>
              </a:endParaRPr>
            </a:p>
          </p:txBody>
        </p:sp>
        <p:sp>
          <p:nvSpPr>
            <p:cNvPr id="37" name="Oval 36"/>
            <p:cNvSpPr/>
            <p:nvPr/>
          </p:nvSpPr>
          <p:spPr>
            <a:xfrm>
              <a:off x="8859146" y="4006931"/>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V</a:t>
              </a:r>
              <a:endParaRPr lang="bg-BG" sz="2400" b="1" dirty="0">
                <a:solidFill>
                  <a:schemeClr val="tx1"/>
                </a:solidFill>
              </a:endParaRPr>
            </a:p>
          </p:txBody>
        </p:sp>
        <p:sp>
          <p:nvSpPr>
            <p:cNvPr id="38" name="Oval 37"/>
            <p:cNvSpPr/>
            <p:nvPr/>
          </p:nvSpPr>
          <p:spPr>
            <a:xfrm>
              <a:off x="10555457" y="3423308"/>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IV</a:t>
              </a:r>
              <a:endParaRPr lang="bg-BG" sz="2400" b="1" dirty="0">
                <a:solidFill>
                  <a:schemeClr val="tx1"/>
                </a:solidFill>
              </a:endParaRPr>
            </a:p>
          </p:txBody>
        </p:sp>
        <p:cxnSp>
          <p:nvCxnSpPr>
            <p:cNvPr id="39" name="Straight Arrow Connector 38"/>
            <p:cNvCxnSpPr/>
            <p:nvPr/>
          </p:nvCxnSpPr>
          <p:spPr>
            <a:xfrm flipH="1">
              <a:off x="10099632" y="2224460"/>
              <a:ext cx="170834" cy="281673"/>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H="1">
              <a:off x="9378008" y="3300131"/>
              <a:ext cx="414214" cy="718084"/>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flipV="1">
              <a:off x="8225119" y="2629749"/>
              <a:ext cx="713593" cy="1587117"/>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endCxn id="38" idx="0"/>
            </p:cNvCxnSpPr>
            <p:nvPr/>
          </p:nvCxnSpPr>
          <p:spPr>
            <a:xfrm>
              <a:off x="10577875" y="2103587"/>
              <a:ext cx="349979" cy="1319722"/>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Oval 43"/>
            <p:cNvSpPr/>
            <p:nvPr/>
          </p:nvSpPr>
          <p:spPr>
            <a:xfrm>
              <a:off x="10023414" y="1493058"/>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II</a:t>
              </a:r>
              <a:endParaRPr lang="bg-BG" sz="2400" b="1" dirty="0">
                <a:solidFill>
                  <a:schemeClr val="tx1"/>
                </a:solidFill>
              </a:endParaRPr>
            </a:p>
          </p:txBody>
        </p:sp>
        <p:cxnSp>
          <p:nvCxnSpPr>
            <p:cNvPr id="45" name="Straight Arrow Connector 44"/>
            <p:cNvCxnSpPr>
              <a:endCxn id="44" idx="1"/>
            </p:cNvCxnSpPr>
            <p:nvPr/>
          </p:nvCxnSpPr>
          <p:spPr>
            <a:xfrm flipV="1">
              <a:off x="8381345" y="1613578"/>
              <a:ext cx="1762589" cy="342676"/>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35" idx="2"/>
            </p:cNvCxnSpPr>
            <p:nvPr/>
          </p:nvCxnSpPr>
          <p:spPr>
            <a:xfrm flipH="1" flipV="1">
              <a:off x="9518782" y="4690302"/>
              <a:ext cx="426362" cy="617536"/>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H="1">
              <a:off x="10555457" y="4256756"/>
              <a:ext cx="437146" cy="685322"/>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10695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39</a:t>
            </a:fld>
            <a:endParaRPr lang="bg-BG" dirty="0"/>
          </a:p>
        </p:txBody>
      </p:sp>
      <p:sp>
        <p:nvSpPr>
          <p:cNvPr id="5" name="Text Placeholder 2"/>
          <p:cNvSpPr txBox="1">
            <a:spLocks/>
          </p:cNvSpPr>
          <p:nvPr/>
        </p:nvSpPr>
        <p:spPr>
          <a:xfrm>
            <a:off x="1994020" y="908721"/>
            <a:ext cx="7255081" cy="322084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9pPr>
          </a:lstStyle>
          <a:p>
            <a:pPr algn="just">
              <a:lnSpc>
                <a:spcPct val="150000"/>
              </a:lnSpc>
              <a:defRPr/>
            </a:pPr>
            <a:endParaRPr lang="bg-BG" altLang="bg-BG" sz="2400" dirty="0"/>
          </a:p>
          <a:p>
            <a:pPr algn="just"/>
            <a:endParaRPr lang="en-US" sz="2400" dirty="0"/>
          </a:p>
          <a:p>
            <a:pPr algn="just"/>
            <a:endParaRPr lang="en-US" sz="2400" dirty="0"/>
          </a:p>
          <a:p>
            <a:pPr algn="just">
              <a:lnSpc>
                <a:spcPct val="100000"/>
              </a:lnSpc>
              <a:spcBef>
                <a:spcPts val="0"/>
              </a:spcBef>
            </a:pPr>
            <a:r>
              <a:rPr lang="en-US" sz="2400" dirty="0"/>
              <a:t>B=						</a:t>
            </a:r>
            <a:endParaRPr lang="bg-BG" sz="2400" dirty="0"/>
          </a:p>
        </p:txBody>
      </p:sp>
      <p:sp>
        <p:nvSpPr>
          <p:cNvPr id="6" name="Text Placeholder 2"/>
          <p:cNvSpPr txBox="1">
            <a:spLocks/>
          </p:cNvSpPr>
          <p:nvPr/>
        </p:nvSpPr>
        <p:spPr>
          <a:xfrm>
            <a:off x="2120900" y="950686"/>
            <a:ext cx="9890579" cy="515801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9pPr>
          </a:lstStyle>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a:p>
            <a:pPr algn="just">
              <a:lnSpc>
                <a:spcPct val="150000"/>
              </a:lnSpc>
              <a:spcBef>
                <a:spcPts val="0"/>
              </a:spcBef>
              <a:defRPr/>
            </a:pPr>
            <a:endParaRPr lang="bg-BG" altLang="bg-BG" sz="2400" dirty="0"/>
          </a:p>
        </p:txBody>
      </p:sp>
      <p:graphicFrame>
        <p:nvGraphicFramePr>
          <p:cNvPr id="8" name="Table 7"/>
          <p:cNvGraphicFramePr>
            <a:graphicFrameLocks noGrp="1"/>
          </p:cNvGraphicFramePr>
          <p:nvPr>
            <p:extLst>
              <p:ext uri="{D42A27DB-BD31-4B8C-83A1-F6EECF244321}">
                <p14:modId xmlns:p14="http://schemas.microsoft.com/office/powerpoint/2010/main" val="2420540838"/>
              </p:ext>
            </p:extLst>
          </p:nvPr>
        </p:nvGraphicFramePr>
        <p:xfrm>
          <a:off x="2648648" y="1041508"/>
          <a:ext cx="4382506" cy="3666418"/>
        </p:xfrm>
        <a:graphic>
          <a:graphicData uri="http://schemas.openxmlformats.org/drawingml/2006/table">
            <a:tbl>
              <a:tblPr bandRow="1">
                <a:tableStyleId>{5940675A-B579-460E-94D1-54222C63F5DA}</a:tableStyleId>
              </a:tblPr>
              <a:tblGrid>
                <a:gridCol w="602436">
                  <a:extLst>
                    <a:ext uri="{9D8B030D-6E8A-4147-A177-3AD203B41FA5}">
                      <a16:colId xmlns:a16="http://schemas.microsoft.com/office/drawing/2014/main" val="3287842762"/>
                    </a:ext>
                  </a:extLst>
                </a:gridCol>
                <a:gridCol w="508289">
                  <a:extLst>
                    <a:ext uri="{9D8B030D-6E8A-4147-A177-3AD203B41FA5}">
                      <a16:colId xmlns:a16="http://schemas.microsoft.com/office/drawing/2014/main" val="3386938356"/>
                    </a:ext>
                  </a:extLst>
                </a:gridCol>
                <a:gridCol w="521756">
                  <a:extLst>
                    <a:ext uri="{9D8B030D-6E8A-4147-A177-3AD203B41FA5}">
                      <a16:colId xmlns:a16="http://schemas.microsoft.com/office/drawing/2014/main" val="3352063990"/>
                    </a:ext>
                  </a:extLst>
                </a:gridCol>
                <a:gridCol w="555492">
                  <a:extLst>
                    <a:ext uri="{9D8B030D-6E8A-4147-A177-3AD203B41FA5}">
                      <a16:colId xmlns:a16="http://schemas.microsoft.com/office/drawing/2014/main" val="138904030"/>
                    </a:ext>
                  </a:extLst>
                </a:gridCol>
                <a:gridCol w="499675">
                  <a:extLst>
                    <a:ext uri="{9D8B030D-6E8A-4147-A177-3AD203B41FA5}">
                      <a16:colId xmlns:a16="http://schemas.microsoft.com/office/drawing/2014/main" val="259226367"/>
                    </a:ext>
                  </a:extLst>
                </a:gridCol>
                <a:gridCol w="564952">
                  <a:extLst>
                    <a:ext uri="{9D8B030D-6E8A-4147-A177-3AD203B41FA5}">
                      <a16:colId xmlns:a16="http://schemas.microsoft.com/office/drawing/2014/main" val="2873288003"/>
                    </a:ext>
                  </a:extLst>
                </a:gridCol>
                <a:gridCol w="491904">
                  <a:extLst>
                    <a:ext uri="{9D8B030D-6E8A-4147-A177-3AD203B41FA5}">
                      <a16:colId xmlns:a16="http://schemas.microsoft.com/office/drawing/2014/main" val="3846771949"/>
                    </a:ext>
                  </a:extLst>
                </a:gridCol>
                <a:gridCol w="638002">
                  <a:extLst>
                    <a:ext uri="{9D8B030D-6E8A-4147-A177-3AD203B41FA5}">
                      <a16:colId xmlns:a16="http://schemas.microsoft.com/office/drawing/2014/main" val="4294820231"/>
                    </a:ext>
                  </a:extLst>
                </a:gridCol>
              </a:tblGrid>
              <a:tr h="523774">
                <a:tc>
                  <a:txBody>
                    <a:bodyPr/>
                    <a:lstStyle/>
                    <a:p>
                      <a:endParaRPr lang="bg-BG"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1</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2</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3</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4</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5</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6</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b="1" dirty="0">
                          <a:solidFill>
                            <a:srgbClr val="FF0000"/>
                          </a:solidFill>
                        </a:rPr>
                        <a:t>7</a:t>
                      </a:r>
                      <a:endParaRPr lang="bg-BG" sz="2400" b="1"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7506916"/>
                  </a:ext>
                </a:extLst>
              </a:tr>
              <a:tr h="523774">
                <a:tc>
                  <a:txBody>
                    <a:bodyPr/>
                    <a:lstStyle/>
                    <a:p>
                      <a:pPr algn="ctr"/>
                      <a:r>
                        <a:rPr lang="en-US" sz="2400" b="1" dirty="0">
                          <a:solidFill>
                            <a:schemeClr val="tx1"/>
                          </a:solidFill>
                        </a:rPr>
                        <a:t>I</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1834570"/>
                  </a:ext>
                </a:extLst>
              </a:tr>
              <a:tr h="523774">
                <a:tc>
                  <a:txBody>
                    <a:bodyPr/>
                    <a:lstStyle/>
                    <a:p>
                      <a:pPr algn="ctr"/>
                      <a:r>
                        <a:rPr lang="en-US" sz="2400" b="1" dirty="0">
                          <a:solidFill>
                            <a:schemeClr val="tx1"/>
                          </a:solidFill>
                        </a:rPr>
                        <a:t>II</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46848106"/>
                  </a:ext>
                </a:extLst>
              </a:tr>
              <a:tr h="523774">
                <a:tc>
                  <a:txBody>
                    <a:bodyPr/>
                    <a:lstStyle/>
                    <a:p>
                      <a:pPr algn="ctr"/>
                      <a:r>
                        <a:rPr lang="en-US" sz="2400" b="1" dirty="0">
                          <a:solidFill>
                            <a:schemeClr val="tx1"/>
                          </a:solidFill>
                        </a:rPr>
                        <a:t>III</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63359582"/>
                  </a:ext>
                </a:extLst>
              </a:tr>
              <a:tr h="523774">
                <a:tc>
                  <a:txBody>
                    <a:bodyPr/>
                    <a:lstStyle/>
                    <a:p>
                      <a:pPr algn="ctr"/>
                      <a:r>
                        <a:rPr lang="en-US" sz="2400" b="1" dirty="0">
                          <a:solidFill>
                            <a:schemeClr val="tx1"/>
                          </a:solidFill>
                        </a:rPr>
                        <a:t>IV</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56042853"/>
                  </a:ext>
                </a:extLst>
              </a:tr>
              <a:tr h="523774">
                <a:tc>
                  <a:txBody>
                    <a:bodyPr/>
                    <a:lstStyle/>
                    <a:p>
                      <a:pPr algn="ctr"/>
                      <a:r>
                        <a:rPr lang="en-US" sz="2400" b="1" dirty="0">
                          <a:solidFill>
                            <a:schemeClr val="tx1"/>
                          </a:solidFill>
                        </a:rPr>
                        <a:t>V</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rPr>
                        <a:t>1</a:t>
                      </a: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38353270"/>
                  </a:ext>
                </a:extLst>
              </a:tr>
              <a:tr h="523774">
                <a:tc>
                  <a:txBody>
                    <a:bodyPr/>
                    <a:lstStyle/>
                    <a:p>
                      <a:pPr algn="ctr"/>
                      <a:r>
                        <a:rPr lang="en-US" sz="2400" b="1" dirty="0">
                          <a:solidFill>
                            <a:schemeClr val="tx1"/>
                          </a:solidFill>
                        </a:rPr>
                        <a:t>VI</a:t>
                      </a:r>
                      <a:endParaRPr lang="bg-BG" sz="2400"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0</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rPr>
                        <a:t>0</a:t>
                      </a: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a:ea typeface="+mn-ea"/>
                          <a:cs typeface="+mn-cs"/>
                        </a:rPr>
                        <a:t>1</a:t>
                      </a:r>
                      <a:endParaRPr kumimoji="0" lang="bg-BG" sz="2400" b="0" i="0" u="none" strike="noStrike" kern="1200" cap="none" spc="0" normalizeH="0" baseline="0" noProof="0" dirty="0">
                        <a:ln>
                          <a:noFill/>
                        </a:ln>
                        <a:solidFill>
                          <a:prstClr val="black"/>
                        </a:solidFill>
                        <a:effectLst/>
                        <a:uLnTx/>
                        <a:uFillTx/>
                        <a:latin typeface="Rockwell" panose="02060603020205020403"/>
                        <a:ea typeface="+mn-ea"/>
                        <a:cs typeface="+mn-cs"/>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7442825"/>
                  </a:ext>
                </a:extLst>
              </a:tr>
            </a:tbl>
          </a:graphicData>
        </a:graphic>
      </p:graphicFrame>
      <p:sp>
        <p:nvSpPr>
          <p:cNvPr id="9" name="Oval 8"/>
          <p:cNvSpPr/>
          <p:nvPr/>
        </p:nvSpPr>
        <p:spPr>
          <a:xfrm>
            <a:off x="9148656" y="381320"/>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1</a:t>
            </a:r>
            <a:endParaRPr lang="bg-BG" sz="2400" b="1" dirty="0">
              <a:solidFill>
                <a:srgbClr val="FF0000"/>
              </a:solidFill>
            </a:endParaRPr>
          </a:p>
        </p:txBody>
      </p:sp>
      <p:sp>
        <p:nvSpPr>
          <p:cNvPr id="10" name="Oval 9"/>
          <p:cNvSpPr/>
          <p:nvPr/>
        </p:nvSpPr>
        <p:spPr>
          <a:xfrm>
            <a:off x="11316693" y="1611934"/>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3</a:t>
            </a:r>
            <a:endParaRPr lang="bg-BG" sz="2400" b="1" dirty="0">
              <a:solidFill>
                <a:srgbClr val="FF0000"/>
              </a:solidFill>
            </a:endParaRPr>
          </a:p>
        </p:txBody>
      </p:sp>
      <p:sp>
        <p:nvSpPr>
          <p:cNvPr id="11" name="Oval 10"/>
          <p:cNvSpPr/>
          <p:nvPr/>
        </p:nvSpPr>
        <p:spPr>
          <a:xfrm>
            <a:off x="10703552" y="3294003"/>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5</a:t>
            </a:r>
            <a:endParaRPr lang="bg-BG" sz="2400" b="1" dirty="0">
              <a:solidFill>
                <a:srgbClr val="FF0000"/>
              </a:solidFill>
            </a:endParaRPr>
          </a:p>
        </p:txBody>
      </p:sp>
      <p:sp>
        <p:nvSpPr>
          <p:cNvPr id="12" name="Oval 11"/>
          <p:cNvSpPr/>
          <p:nvPr/>
        </p:nvSpPr>
        <p:spPr>
          <a:xfrm>
            <a:off x="9788916" y="3547313"/>
            <a:ext cx="698013" cy="60265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7</a:t>
            </a:r>
            <a:endParaRPr lang="bg-BG" sz="2400" b="1" dirty="0">
              <a:solidFill>
                <a:srgbClr val="FF0000"/>
              </a:solidFill>
            </a:endParaRPr>
          </a:p>
        </p:txBody>
      </p:sp>
      <p:sp>
        <p:nvSpPr>
          <p:cNvPr id="14" name="Rectangle 13"/>
          <p:cNvSpPr/>
          <p:nvPr/>
        </p:nvSpPr>
        <p:spPr>
          <a:xfrm>
            <a:off x="3223806" y="312839"/>
            <a:ext cx="4330032" cy="461665"/>
          </a:xfrm>
          <a:prstGeom prst="rect">
            <a:avLst/>
          </a:prstGeom>
        </p:spPr>
        <p:txBody>
          <a:bodyPr wrap="none">
            <a:spAutoFit/>
          </a:bodyPr>
          <a:lstStyle/>
          <a:p>
            <a:r>
              <a:rPr lang="bg-BG" sz="2400" b="1" i="1" dirty="0"/>
              <a:t>Матрица на инциденциите </a:t>
            </a:r>
          </a:p>
        </p:txBody>
      </p:sp>
      <p:grpSp>
        <p:nvGrpSpPr>
          <p:cNvPr id="15" name="Group 14"/>
          <p:cNvGrpSpPr/>
          <p:nvPr/>
        </p:nvGrpSpPr>
        <p:grpSpPr>
          <a:xfrm>
            <a:off x="7832696" y="512263"/>
            <a:ext cx="3991841" cy="4226260"/>
            <a:chOff x="7697239" y="1493058"/>
            <a:chExt cx="3681178" cy="4226260"/>
          </a:xfrm>
        </p:grpSpPr>
        <p:sp>
          <p:nvSpPr>
            <p:cNvPr id="16" name="Oval 15"/>
            <p:cNvSpPr/>
            <p:nvPr/>
          </p:nvSpPr>
          <p:spPr>
            <a:xfrm>
              <a:off x="7697239" y="1850294"/>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I</a:t>
              </a:r>
              <a:endParaRPr lang="bg-BG" sz="2400" b="1" dirty="0">
                <a:solidFill>
                  <a:schemeClr val="tx1"/>
                </a:solidFill>
              </a:endParaRPr>
            </a:p>
          </p:txBody>
        </p:sp>
        <p:sp>
          <p:nvSpPr>
            <p:cNvPr id="17" name="Oval 16"/>
            <p:cNvSpPr/>
            <p:nvPr/>
          </p:nvSpPr>
          <p:spPr>
            <a:xfrm>
              <a:off x="9945144" y="4896358"/>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VI</a:t>
              </a:r>
              <a:endParaRPr lang="bg-BG" sz="2400" b="1" dirty="0">
                <a:solidFill>
                  <a:schemeClr val="tx1"/>
                </a:solidFill>
              </a:endParaRPr>
            </a:p>
          </p:txBody>
        </p:sp>
        <p:sp>
          <p:nvSpPr>
            <p:cNvPr id="18" name="Oval 17"/>
            <p:cNvSpPr/>
            <p:nvPr/>
          </p:nvSpPr>
          <p:spPr>
            <a:xfrm>
              <a:off x="9561620" y="2477171"/>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III</a:t>
              </a:r>
              <a:endParaRPr lang="bg-BG" sz="2200" b="1" dirty="0">
                <a:solidFill>
                  <a:schemeClr val="tx1"/>
                </a:solidFill>
              </a:endParaRPr>
            </a:p>
          </p:txBody>
        </p:sp>
        <p:sp>
          <p:nvSpPr>
            <p:cNvPr id="19" name="Oval 18"/>
            <p:cNvSpPr/>
            <p:nvPr/>
          </p:nvSpPr>
          <p:spPr>
            <a:xfrm>
              <a:off x="8859146" y="4006931"/>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V</a:t>
              </a:r>
              <a:endParaRPr lang="bg-BG" sz="2400" b="1" dirty="0">
                <a:solidFill>
                  <a:schemeClr val="tx1"/>
                </a:solidFill>
              </a:endParaRPr>
            </a:p>
          </p:txBody>
        </p:sp>
        <p:sp>
          <p:nvSpPr>
            <p:cNvPr id="20" name="Oval 19"/>
            <p:cNvSpPr/>
            <p:nvPr/>
          </p:nvSpPr>
          <p:spPr>
            <a:xfrm>
              <a:off x="10555457" y="3423308"/>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IV</a:t>
              </a:r>
              <a:endParaRPr lang="bg-BG" sz="2400" b="1" dirty="0">
                <a:solidFill>
                  <a:schemeClr val="tx1"/>
                </a:solidFill>
              </a:endParaRPr>
            </a:p>
          </p:txBody>
        </p:sp>
        <p:cxnSp>
          <p:nvCxnSpPr>
            <p:cNvPr id="21" name="Straight Arrow Connector 20"/>
            <p:cNvCxnSpPr/>
            <p:nvPr/>
          </p:nvCxnSpPr>
          <p:spPr>
            <a:xfrm flipH="1">
              <a:off x="10099632" y="2224460"/>
              <a:ext cx="170834" cy="281673"/>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9378008" y="3300131"/>
              <a:ext cx="414214" cy="718084"/>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flipV="1">
              <a:off x="8225119" y="2629749"/>
              <a:ext cx="713593" cy="1587117"/>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20" idx="0"/>
            </p:cNvCxnSpPr>
            <p:nvPr/>
          </p:nvCxnSpPr>
          <p:spPr>
            <a:xfrm>
              <a:off x="10577875" y="2103587"/>
              <a:ext cx="349979" cy="1319722"/>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10023414" y="1493058"/>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II</a:t>
              </a:r>
              <a:endParaRPr lang="bg-BG" sz="2400" b="1" dirty="0">
                <a:solidFill>
                  <a:schemeClr val="tx1"/>
                </a:solidFill>
              </a:endParaRPr>
            </a:p>
          </p:txBody>
        </p:sp>
        <p:cxnSp>
          <p:nvCxnSpPr>
            <p:cNvPr id="27" name="Straight Arrow Connector 26"/>
            <p:cNvCxnSpPr>
              <a:endCxn id="26" idx="1"/>
            </p:cNvCxnSpPr>
            <p:nvPr/>
          </p:nvCxnSpPr>
          <p:spPr>
            <a:xfrm flipV="1">
              <a:off x="8381345" y="1613578"/>
              <a:ext cx="1762589" cy="342676"/>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7" idx="2"/>
            </p:cNvCxnSpPr>
            <p:nvPr/>
          </p:nvCxnSpPr>
          <p:spPr>
            <a:xfrm flipH="1" flipV="1">
              <a:off x="9518782" y="4690302"/>
              <a:ext cx="426362" cy="617536"/>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10555457" y="4256756"/>
              <a:ext cx="437146" cy="685322"/>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Oval 29"/>
          <p:cNvSpPr/>
          <p:nvPr/>
        </p:nvSpPr>
        <p:spPr>
          <a:xfrm>
            <a:off x="10013687" y="1066663"/>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2</a:t>
            </a:r>
            <a:endParaRPr lang="bg-BG" sz="2400" b="1" dirty="0">
              <a:solidFill>
                <a:srgbClr val="FF0000"/>
              </a:solidFill>
            </a:endParaRPr>
          </a:p>
        </p:txBody>
      </p:sp>
      <p:sp>
        <p:nvSpPr>
          <p:cNvPr id="31" name="Oval 30"/>
          <p:cNvSpPr/>
          <p:nvPr/>
        </p:nvSpPr>
        <p:spPr>
          <a:xfrm>
            <a:off x="9437254" y="2349108"/>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4</a:t>
            </a:r>
            <a:endParaRPr lang="bg-BG" sz="2400" b="1" dirty="0">
              <a:solidFill>
                <a:srgbClr val="FF0000"/>
              </a:solidFill>
            </a:endParaRPr>
          </a:p>
        </p:txBody>
      </p:sp>
      <p:sp>
        <p:nvSpPr>
          <p:cNvPr id="32" name="Oval 31"/>
          <p:cNvSpPr/>
          <p:nvPr/>
        </p:nvSpPr>
        <p:spPr>
          <a:xfrm>
            <a:off x="8411499" y="2652497"/>
            <a:ext cx="442640" cy="44443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6</a:t>
            </a:r>
            <a:endParaRPr lang="bg-BG" sz="2400" b="1" dirty="0">
              <a:solidFill>
                <a:srgbClr val="FF0000"/>
              </a:solidFill>
            </a:endParaRPr>
          </a:p>
        </p:txBody>
      </p:sp>
    </p:spTree>
    <p:extLst>
      <p:ext uri="{BB962C8B-B14F-4D97-AF65-F5344CB8AC3E}">
        <p14:creationId xmlns:p14="http://schemas.microsoft.com/office/powerpoint/2010/main" val="25145171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40</a:t>
            </a:fld>
            <a:endParaRPr lang="bg-BG" dirty="0"/>
          </a:p>
        </p:txBody>
      </p:sp>
      <p:sp>
        <p:nvSpPr>
          <p:cNvPr id="2" name="Rectangle 1"/>
          <p:cNvSpPr/>
          <p:nvPr/>
        </p:nvSpPr>
        <p:spPr>
          <a:xfrm>
            <a:off x="557099" y="57133"/>
            <a:ext cx="7571248" cy="1754326"/>
          </a:xfrm>
          <a:prstGeom prst="rect">
            <a:avLst/>
          </a:prstGeom>
        </p:spPr>
        <p:txBody>
          <a:bodyPr wrap="square">
            <a:spAutoFit/>
          </a:bodyPr>
          <a:lstStyle/>
          <a:p>
            <a:pPr algn="just">
              <a:lnSpc>
                <a:spcPct val="150000"/>
              </a:lnSpc>
              <a:spcBef>
                <a:spcPts val="0"/>
              </a:spcBef>
              <a:defRPr/>
            </a:pPr>
            <a:r>
              <a:rPr lang="bg-BG" altLang="bg-BG" sz="2400" b="1" i="1" dirty="0"/>
              <a:t>Множество на леви инциденции</a:t>
            </a:r>
            <a:endParaRPr lang="en-US" altLang="bg-BG" sz="2400" b="1" i="1" dirty="0"/>
          </a:p>
          <a:p>
            <a:pPr algn="just">
              <a:lnSpc>
                <a:spcPct val="150000"/>
              </a:lnSpc>
              <a:spcBef>
                <a:spcPts val="0"/>
              </a:spcBef>
              <a:defRPr/>
            </a:pPr>
            <a:r>
              <a:rPr lang="en-US" altLang="bg-BG" sz="2400" dirty="0"/>
              <a:t>G</a:t>
            </a:r>
            <a:r>
              <a:rPr lang="en-US" altLang="bg-BG" sz="2400" baseline="30000" dirty="0"/>
              <a:t>-1</a:t>
            </a:r>
            <a:r>
              <a:rPr lang="en-US" altLang="bg-BG" sz="2400" dirty="0"/>
              <a:t>(I)={V}; G</a:t>
            </a:r>
            <a:r>
              <a:rPr lang="en-US" altLang="bg-BG" sz="2400" baseline="30000" dirty="0"/>
              <a:t>-1</a:t>
            </a:r>
            <a:r>
              <a:rPr lang="en-US" altLang="bg-BG" sz="2400" dirty="0"/>
              <a:t>(II)={I}; G</a:t>
            </a:r>
            <a:r>
              <a:rPr lang="en-US" altLang="bg-BG" sz="2400" baseline="30000" dirty="0"/>
              <a:t>-1</a:t>
            </a:r>
            <a:r>
              <a:rPr lang="en-US" altLang="bg-BG" sz="2400" dirty="0"/>
              <a:t>(III)={II}; G</a:t>
            </a:r>
            <a:r>
              <a:rPr lang="en-US" altLang="bg-BG" sz="2400" baseline="30000" dirty="0"/>
              <a:t>-1</a:t>
            </a:r>
            <a:r>
              <a:rPr lang="en-US" altLang="bg-BG" sz="2400" dirty="0"/>
              <a:t>(IV)={II};</a:t>
            </a:r>
          </a:p>
          <a:p>
            <a:pPr algn="just">
              <a:lnSpc>
                <a:spcPct val="150000"/>
              </a:lnSpc>
              <a:spcBef>
                <a:spcPts val="0"/>
              </a:spcBef>
              <a:defRPr/>
            </a:pPr>
            <a:r>
              <a:rPr lang="en-US" altLang="bg-BG" sz="2400" dirty="0"/>
              <a:t>G</a:t>
            </a:r>
            <a:r>
              <a:rPr lang="en-US" altLang="bg-BG" sz="2400" baseline="30000" dirty="0"/>
              <a:t>-1</a:t>
            </a:r>
            <a:r>
              <a:rPr lang="en-US" altLang="bg-BG" sz="2400" dirty="0"/>
              <a:t>(V)={III, VI}; G</a:t>
            </a:r>
            <a:r>
              <a:rPr lang="en-US" altLang="bg-BG" sz="2400" baseline="30000" dirty="0"/>
              <a:t>-1</a:t>
            </a:r>
            <a:r>
              <a:rPr lang="en-US" altLang="bg-BG" sz="2400" dirty="0"/>
              <a:t>(VI)={IV}</a:t>
            </a:r>
            <a:endParaRPr lang="bg-BG" altLang="bg-BG" sz="2400" dirty="0"/>
          </a:p>
        </p:txBody>
      </p:sp>
      <p:grpSp>
        <p:nvGrpSpPr>
          <p:cNvPr id="5" name="Group 4"/>
          <p:cNvGrpSpPr/>
          <p:nvPr/>
        </p:nvGrpSpPr>
        <p:grpSpPr>
          <a:xfrm>
            <a:off x="7997639" y="242726"/>
            <a:ext cx="3991841" cy="4226260"/>
            <a:chOff x="7697239" y="1493058"/>
            <a:chExt cx="3681178" cy="4226260"/>
          </a:xfrm>
        </p:grpSpPr>
        <p:sp>
          <p:nvSpPr>
            <p:cNvPr id="6" name="Oval 5"/>
            <p:cNvSpPr/>
            <p:nvPr/>
          </p:nvSpPr>
          <p:spPr>
            <a:xfrm>
              <a:off x="7697239" y="1850294"/>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I</a:t>
              </a:r>
              <a:endParaRPr lang="bg-BG" sz="2400" b="1" dirty="0">
                <a:solidFill>
                  <a:schemeClr val="tx1"/>
                </a:solidFill>
              </a:endParaRPr>
            </a:p>
          </p:txBody>
        </p:sp>
        <p:sp>
          <p:nvSpPr>
            <p:cNvPr id="7" name="Oval 6"/>
            <p:cNvSpPr/>
            <p:nvPr/>
          </p:nvSpPr>
          <p:spPr>
            <a:xfrm>
              <a:off x="9945144" y="4896358"/>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VI</a:t>
              </a:r>
              <a:endParaRPr lang="bg-BG" sz="2400" b="1" dirty="0">
                <a:solidFill>
                  <a:schemeClr val="tx1"/>
                </a:solidFill>
              </a:endParaRPr>
            </a:p>
          </p:txBody>
        </p:sp>
        <p:sp>
          <p:nvSpPr>
            <p:cNvPr id="8" name="Oval 7"/>
            <p:cNvSpPr/>
            <p:nvPr/>
          </p:nvSpPr>
          <p:spPr>
            <a:xfrm>
              <a:off x="9561620" y="2477171"/>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III</a:t>
              </a:r>
              <a:endParaRPr lang="bg-BG" sz="2200" b="1" dirty="0">
                <a:solidFill>
                  <a:schemeClr val="tx1"/>
                </a:solidFill>
              </a:endParaRPr>
            </a:p>
          </p:txBody>
        </p:sp>
        <p:sp>
          <p:nvSpPr>
            <p:cNvPr id="9" name="Oval 8"/>
            <p:cNvSpPr/>
            <p:nvPr/>
          </p:nvSpPr>
          <p:spPr>
            <a:xfrm>
              <a:off x="8859146" y="4006931"/>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V</a:t>
              </a:r>
              <a:endParaRPr lang="bg-BG" sz="2400" b="1" dirty="0">
                <a:solidFill>
                  <a:schemeClr val="tx1"/>
                </a:solidFill>
              </a:endParaRPr>
            </a:p>
          </p:txBody>
        </p:sp>
        <p:sp>
          <p:nvSpPr>
            <p:cNvPr id="10" name="Oval 9"/>
            <p:cNvSpPr/>
            <p:nvPr/>
          </p:nvSpPr>
          <p:spPr>
            <a:xfrm>
              <a:off x="10555457" y="3423308"/>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IV</a:t>
              </a:r>
              <a:endParaRPr lang="bg-BG" sz="2400" b="1" dirty="0">
                <a:solidFill>
                  <a:schemeClr val="tx1"/>
                </a:solidFill>
              </a:endParaRPr>
            </a:p>
          </p:txBody>
        </p:sp>
        <p:cxnSp>
          <p:nvCxnSpPr>
            <p:cNvPr id="11" name="Straight Arrow Connector 10"/>
            <p:cNvCxnSpPr/>
            <p:nvPr/>
          </p:nvCxnSpPr>
          <p:spPr>
            <a:xfrm flipH="1">
              <a:off x="10099632" y="2224460"/>
              <a:ext cx="170834" cy="281673"/>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9378008" y="3300131"/>
              <a:ext cx="414214" cy="718084"/>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8225119" y="2629749"/>
              <a:ext cx="713593" cy="1587117"/>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10" idx="0"/>
            </p:cNvCxnSpPr>
            <p:nvPr/>
          </p:nvCxnSpPr>
          <p:spPr>
            <a:xfrm>
              <a:off x="10577875" y="2103587"/>
              <a:ext cx="349979" cy="1319722"/>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10023414" y="1493058"/>
              <a:ext cx="822960" cy="822960"/>
            </a:xfrm>
            <a:prstGeom prst="ellipse">
              <a:avLst/>
            </a:prstGeom>
            <a:gradFill flip="none" rotWithShape="1">
              <a:gsLst>
                <a:gs pos="52000">
                  <a:schemeClr val="bg1">
                    <a:lumMod val="95000"/>
                  </a:schemeClr>
                </a:gs>
                <a:gs pos="80000">
                  <a:schemeClr val="bg1">
                    <a:lumMod val="85000"/>
                  </a:schemeClr>
                </a:gs>
                <a:gs pos="100000">
                  <a:schemeClr val="accent5">
                    <a:lumMod val="60000"/>
                    <a:lumOff val="40000"/>
                  </a:schemeClr>
                </a:gs>
              </a:gsLst>
              <a:path path="rect">
                <a:fillToRect l="100000" t="100000"/>
              </a:path>
              <a:tileRect r="-100000" b="-100000"/>
            </a:gra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II</a:t>
              </a:r>
              <a:endParaRPr lang="bg-BG" sz="2400" b="1" dirty="0">
                <a:solidFill>
                  <a:schemeClr val="tx1"/>
                </a:solidFill>
              </a:endParaRPr>
            </a:p>
          </p:txBody>
        </p:sp>
        <p:cxnSp>
          <p:nvCxnSpPr>
            <p:cNvPr id="17" name="Straight Arrow Connector 16"/>
            <p:cNvCxnSpPr>
              <a:endCxn id="16" idx="1"/>
            </p:cNvCxnSpPr>
            <p:nvPr/>
          </p:nvCxnSpPr>
          <p:spPr>
            <a:xfrm flipV="1">
              <a:off x="8381345" y="1613578"/>
              <a:ext cx="1762589" cy="342676"/>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2"/>
            </p:cNvCxnSpPr>
            <p:nvPr/>
          </p:nvCxnSpPr>
          <p:spPr>
            <a:xfrm flipH="1" flipV="1">
              <a:off x="9518782" y="4690302"/>
              <a:ext cx="426362" cy="617536"/>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10555457" y="4256756"/>
              <a:ext cx="437146" cy="685322"/>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21" name="Picture 20"/>
          <p:cNvPicPr>
            <a:picLocks noChangeAspect="1"/>
          </p:cNvPicPr>
          <p:nvPr/>
        </p:nvPicPr>
        <p:blipFill>
          <a:blip r:embed="rId2"/>
          <a:stretch>
            <a:fillRect/>
          </a:stretch>
        </p:blipFill>
        <p:spPr>
          <a:xfrm>
            <a:off x="2186443" y="2195282"/>
            <a:ext cx="6722502" cy="2783647"/>
          </a:xfrm>
          <a:prstGeom prst="rect">
            <a:avLst/>
          </a:prstGeom>
        </p:spPr>
      </p:pic>
      <p:sp>
        <p:nvSpPr>
          <p:cNvPr id="20" name="Rectangle 19"/>
          <p:cNvSpPr/>
          <p:nvPr/>
        </p:nvSpPr>
        <p:spPr>
          <a:xfrm>
            <a:off x="3767343" y="1772538"/>
            <a:ext cx="3001399" cy="461665"/>
          </a:xfrm>
          <a:prstGeom prst="rect">
            <a:avLst/>
          </a:prstGeom>
        </p:spPr>
        <p:txBody>
          <a:bodyPr wrap="none">
            <a:spAutoFit/>
          </a:bodyPr>
          <a:lstStyle/>
          <a:p>
            <a:r>
              <a:rPr lang="bg-BG" sz="2400" b="1" i="1" dirty="0"/>
              <a:t>Структурна схема</a:t>
            </a:r>
          </a:p>
        </p:txBody>
      </p:sp>
    </p:spTree>
    <p:extLst>
      <p:ext uri="{BB962C8B-B14F-4D97-AF65-F5344CB8AC3E}">
        <p14:creationId xmlns:p14="http://schemas.microsoft.com/office/powerpoint/2010/main" val="37916743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Документ" ma:contentTypeID="0x010100452FE0A421B3E24B9DDFC266E10EBE04" ma:contentTypeVersion="3" ma:contentTypeDescription="Създаване на нов документ" ma:contentTypeScope="" ma:versionID="f38fa733cd6769631e002a4dea7fc2ba">
  <xsd:schema xmlns:xsd="http://www.w3.org/2001/XMLSchema" xmlns:xs="http://www.w3.org/2001/XMLSchema" xmlns:p="http://schemas.microsoft.com/office/2006/metadata/properties" xmlns:ns2="410f8adb-773f-4384-aa9e-8e184e0fd10d" targetNamespace="http://schemas.microsoft.com/office/2006/metadata/properties" ma:root="true" ma:fieldsID="91cf59770634e4cf72f9d8d766704a06" ns2:_="">
    <xsd:import namespace="410f8adb-773f-4384-aa9e-8e184e0fd10d"/>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0f8adb-773f-4384-aa9e-8e184e0fd1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съдържание"/>
        <xsd:element ref="dc:title" minOccurs="0" maxOccurs="1" ma:index="4" ma:displayName="Заглав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6222F8B-D955-4ED6-840C-07A528DC41F7}">
  <ds:schemaRefs>
    <ds:schemaRef ds:uri="http://purl.org/dc/elements/1.1/"/>
    <ds:schemaRef ds:uri="http://schemas.microsoft.com/office/2006/metadata/properties"/>
    <ds:schemaRef ds:uri="http://schemas.microsoft.com/office/2006/documentManagement/types"/>
    <ds:schemaRef ds:uri="http://schemas.microsoft.com/office/infopath/2007/PartnerControls"/>
    <ds:schemaRef ds:uri="090397dc-0350-4b28-ad98-bc53fb668546"/>
    <ds:schemaRef ds:uri="http://purl.org/dc/term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A2201449-1DA4-4B6F-8EF6-534AB67836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10f8adb-773f-4384-aa9e-8e184e0fd1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4C69501-2433-45F8-99A6-70B0E9A9FCB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Wood Type</Template>
  <TotalTime>4229</TotalTime>
  <Words>2791</Words>
  <Application>Microsoft Office PowerPoint</Application>
  <PresentationFormat>Widescreen</PresentationFormat>
  <Paragraphs>741</Paragraphs>
  <Slides>40</Slides>
  <Notes>13</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Wood Type</vt:lpstr>
      <vt:lpstr>СИСТЕМЕН АНАЛИЗ</vt:lpstr>
      <vt:lpstr>Семестриален контрол</vt:lpstr>
      <vt:lpstr>Съдържание на контролните работи</vt:lpstr>
      <vt:lpstr>PowerPoint Presentation</vt:lpstr>
      <vt:lpstr>Основни раздели</vt:lpstr>
      <vt:lpstr>Въведение в теорията на системите. Основни понятия и определения. Класификация и основни принципи. Математическо моделиране. Анализ и синтез на структурата на сложни системи за управление. Примери </vt:lpstr>
      <vt:lpstr>PowerPoint Presentation</vt:lpstr>
      <vt:lpstr>Определение</vt:lpstr>
      <vt:lpstr>PowerPoint Presentation</vt:lpstr>
      <vt:lpstr>PowerPoint Presentation</vt:lpstr>
      <vt:lpstr>Класификация</vt:lpstr>
      <vt:lpstr>PowerPoint Presentation</vt:lpstr>
      <vt:lpstr>Математическо моделиране </vt:lpstr>
      <vt:lpstr>PowerPoint Presentation</vt:lpstr>
      <vt:lpstr>Анализ и синтез на структурата на сложни системи за управление </vt:lpstr>
      <vt:lpstr>PowerPoint Presentation</vt:lpstr>
      <vt:lpstr>PowerPoint Presentation</vt:lpstr>
      <vt:lpstr>PowerPoint Presentation</vt:lpstr>
      <vt:lpstr>PowerPoint Presentation</vt:lpstr>
      <vt:lpstr>PowerPoint Presentation</vt:lpstr>
      <vt:lpstr>Описание на структурата на сложни системи за управление</vt:lpstr>
      <vt:lpstr>PowerPoint Presentation</vt:lpstr>
      <vt:lpstr>PowerPoint Presentation</vt:lpstr>
      <vt:lpstr>PowerPoint Presentation</vt:lpstr>
      <vt:lpstr>PowerPoint Presentation</vt:lpstr>
      <vt:lpstr>PowerPoint Presentation</vt:lpstr>
      <vt:lpstr>PowerPoint Presentation</vt:lpstr>
      <vt:lpstr>Примери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Organization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СИСТЕМЕН АНАЛИЗ</dc:title>
  <dc:creator>Windows User</dc:creator>
  <cp:lastModifiedBy>teacher</cp:lastModifiedBy>
  <cp:revision>102</cp:revision>
  <cp:lastPrinted>2022-09-27T03:52:14Z</cp:lastPrinted>
  <dcterms:created xsi:type="dcterms:W3CDTF">2022-08-03T05:13:19Z</dcterms:created>
  <dcterms:modified xsi:type="dcterms:W3CDTF">2024-01-08T06:38:08Z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0x010100452FE0A421B3E24B9DDFC266E10EBE04</vt:lpwstr>
  </property>
</Properties>
</file>
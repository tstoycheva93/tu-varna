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8" r:id="rId6"/>
    <p:sldId id="259" r:id="rId7"/>
    <p:sldId id="311" r:id="rId8"/>
    <p:sldId id="263" r:id="rId9"/>
    <p:sldId id="264" r:id="rId10"/>
    <p:sldId id="265" r:id="rId11"/>
    <p:sldId id="295" r:id="rId12"/>
    <p:sldId id="267" r:id="rId13"/>
    <p:sldId id="268" r:id="rId14"/>
    <p:sldId id="296" r:id="rId15"/>
    <p:sldId id="297" r:id="rId16"/>
    <p:sldId id="298" r:id="rId17"/>
    <p:sldId id="269" r:id="rId18"/>
    <p:sldId id="272" r:id="rId19"/>
    <p:sldId id="299" r:id="rId20"/>
    <p:sldId id="271" r:id="rId21"/>
    <p:sldId id="317" r:id="rId22"/>
    <p:sldId id="274" r:id="rId23"/>
    <p:sldId id="273" r:id="rId24"/>
    <p:sldId id="318" r:id="rId25"/>
    <p:sldId id="320" r:id="rId26"/>
    <p:sldId id="321" r:id="rId27"/>
    <p:sldId id="322" r:id="rId28"/>
    <p:sldId id="324" r:id="rId29"/>
    <p:sldId id="325" r:id="rId30"/>
    <p:sldId id="326" r:id="rId31"/>
    <p:sldId id="323" r:id="rId32"/>
    <p:sldId id="327" r:id="rId33"/>
  </p:sldIdLst>
  <p:sldSz cx="12192000" cy="6858000"/>
  <p:notesSz cx="6761163" cy="9942513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84409-1A64-4E05-8964-2408779EEDC7}" v="1" dt="2022-12-04T17:48:18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76825" autoAdjust="0"/>
  </p:normalViewPr>
  <p:slideViewPr>
    <p:cSldViewPr snapToGrid="0">
      <p:cViewPr varScale="1">
        <p:scale>
          <a:sx n="83" d="100"/>
          <a:sy n="83" d="100"/>
        </p:scale>
        <p:origin x="6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23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9837" cy="498853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9762" y="0"/>
            <a:ext cx="2929837" cy="498853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62DAF501-497E-4319-B484-C5A85BB3EFD3}" type="datetimeFigureOut">
              <a:rPr lang="bg-BG" smtClean="0"/>
              <a:t>18.11.2023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3663"/>
            <a:ext cx="2929837" cy="49885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9762" y="9443663"/>
            <a:ext cx="2929837" cy="49885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335249C7-B5B2-4541-A187-B12F42083CB5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7324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9837" cy="498853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2" y="0"/>
            <a:ext cx="2929837" cy="498853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2A934B3-15CF-49D7-9C90-2FBDF446DA56}" type="datetimeFigureOut">
              <a:rPr lang="bg-BG" smtClean="0"/>
              <a:t>18.11.2023 г.</a:t>
            </a:fld>
            <a:endParaRPr lang="bg-B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bg-B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4"/>
            <a:ext cx="5408930" cy="3914864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3"/>
            <a:ext cx="2929837" cy="49885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2" y="9443663"/>
            <a:ext cx="2929837" cy="49885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617F9B7-5110-4225-A395-C002DCB96977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7276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6199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65832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10823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17178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bg-BG" altLang="bg-BG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06913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Ако координатите на вектора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са разликите от стойностите на действителната функция и нейната апроксимация в точките на измерване, то минимизирането на коя да е от трите норми на вектора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ще доведе до получаване в общия случай на различни апроксимиращи функции.</a:t>
            </a:r>
          </a:p>
          <a:p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90014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Функцията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w(x)</a:t>
            </a:r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се нарича тегловна функция, за която се предполага, че е неотрицателна за всяко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Величината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sz="120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 нарича остатък в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bg-B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94622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71731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44923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9305">
              <a:defRPr/>
            </a:pP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20302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90392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55371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18949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След като разполагаме с един план на транспортната задача,</a:t>
            </a:r>
            <a:r>
              <a:rPr lang="bg-BG" baseline="0" dirty="0"/>
              <a:t> трябва да проверим дали той е оптимален. т.е да проверим дали съществува друг план, за който целевата функция има по-малка стойност.</a:t>
            </a:r>
          </a:p>
          <a:p>
            <a:r>
              <a:rPr lang="ru-RU" dirty="0"/>
              <a:t>За оценка на началния или поредния опорен план се ползва т.н. „метод на потенциалите”. Методът за потенциалите е предложен от математиците Л. В. Канторович и М. К. Гавурин. Той се основава на доказаната от Л. В. Канторович теорема. Тази теорема, наречена основна теорема за транспортната задача, дава условието за оптималност на построен опорен план.</a:t>
            </a:r>
          </a:p>
          <a:p>
            <a:r>
              <a:rPr lang="ru-RU" dirty="0"/>
              <a:t>Теорема 2.4 (на Канторович). Планът X  = ( </a:t>
            </a:r>
            <a:r>
              <a:rPr lang="en-US" dirty="0"/>
              <a:t>X</a:t>
            </a:r>
            <a:r>
              <a:rPr lang="ru-RU" dirty="0"/>
              <a:t>ij) е оптимален тогава и само тогава, когато могат да се намерят за всеки ред i =1, 2, , L , .., m и за всеки стълб j =1, 2, , L ,.. n  числа-потенциали </a:t>
            </a:r>
            <a:r>
              <a:rPr lang="ru-RU" baseline="0" dirty="0"/>
              <a:t> такива, че </a:t>
            </a:r>
            <a:endParaRPr lang="bg-BG" baseline="0" dirty="0"/>
          </a:p>
          <a:p>
            <a:r>
              <a:rPr lang="ru-RU" dirty="0"/>
              <a:t>Условията (2.5) и (2.6) се наричат условия за потенциалност на плана.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18390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032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66B-2F7D-4199-A5CF-D1399F06B5CC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3164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F8BD3-AC58-47F1-B591-69906B5D74CE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1844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6564442-4F9C-4117-9AC9-3C912B6DAF6E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bg-BG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4547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2E6C9-D462-4DF8-8A5B-084EF99FCB92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60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004C-1449-4E25-B641-5BE18784B024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9890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1725-AB21-4845-BE49-CE8C42164743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353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940C-92A6-42D4-A0AE-8AE229120CFF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30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04CA-5B7E-4437-926E-A34999B7E6C0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8340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FBA-50AA-4558-ADC7-8C8BF6C03621}" type="datetime1">
              <a:rPr lang="bg-BG" smtClean="0"/>
              <a:t>18.11.2023 г.</a:t>
            </a:fld>
            <a:endParaRPr lang="bg-BG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8754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01CF-14B7-42BE-8693-1C6A365ED97B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275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A9374-CC8C-4027-8C9C-D37ED427A6AE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9953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C22829-1A03-43BA-AD1C-84AE46C99B1D}" type="datetime1">
              <a:rPr lang="bg-BG" smtClean="0"/>
              <a:t>18.11.2023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bg-BG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3482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1.wmf"/><Relationship Id="rId4" Type="http://schemas.openxmlformats.org/officeDocument/2006/relationships/image" Target="../media/image17.png"/><Relationship Id="rId9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4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6582" y="971490"/>
            <a:ext cx="10599174" cy="3957924"/>
          </a:xfrm>
        </p:spPr>
        <p:txBody>
          <a:bodyPr/>
          <a:lstStyle/>
          <a:p>
            <a:pPr algn="ctr"/>
            <a:r>
              <a:rPr lang="ru-RU" altLang="bg-BG" sz="3200" b="1" dirty="0" err="1"/>
              <a:t>Апроксимиране</a:t>
            </a:r>
            <a:r>
              <a:rPr lang="ru-RU" altLang="bg-BG" sz="3200" b="1" dirty="0"/>
              <a:t> на функции. </a:t>
            </a:r>
            <a:br>
              <a:rPr lang="ru-RU" altLang="bg-BG" sz="3200" b="1" dirty="0"/>
            </a:br>
            <a:r>
              <a:rPr lang="ru-RU" altLang="bg-BG" sz="3200" b="1" dirty="0" err="1"/>
              <a:t>Основни</a:t>
            </a:r>
            <a:r>
              <a:rPr lang="ru-RU" altLang="bg-BG" sz="3200" b="1" dirty="0"/>
              <a:t> </a:t>
            </a:r>
            <a:r>
              <a:rPr lang="ru-RU" altLang="bg-BG" sz="3200" b="1" dirty="0" err="1"/>
              <a:t>класове</a:t>
            </a:r>
            <a:r>
              <a:rPr lang="ru-RU" altLang="bg-BG" sz="3200" b="1" dirty="0"/>
              <a:t> </a:t>
            </a:r>
            <a:r>
              <a:rPr lang="ru-RU" altLang="bg-BG" sz="3200" b="1" dirty="0" err="1"/>
              <a:t>апроксимиращи</a:t>
            </a:r>
            <a:r>
              <a:rPr lang="ru-RU" altLang="bg-BG" sz="3200" b="1" dirty="0"/>
              <a:t> функции. </a:t>
            </a:r>
            <a:br>
              <a:rPr lang="ru-RU" altLang="bg-BG" sz="3200" b="1" dirty="0"/>
            </a:br>
            <a:r>
              <a:rPr lang="ru-RU" altLang="bg-BG" sz="3200" b="1" dirty="0"/>
              <a:t>Метод на най-малките квадрати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3229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1999" y="674260"/>
            <a:ext cx="10029371" cy="4512103"/>
          </a:xfrm>
        </p:spPr>
        <p:txBody>
          <a:bodyPr>
            <a:noAutofit/>
          </a:bodyPr>
          <a:lstStyle/>
          <a:p>
            <a:pPr indent="457200" algn="just">
              <a:lnSpc>
                <a:spcPct val="170000"/>
              </a:lnSpc>
              <a:defRPr/>
            </a:pPr>
            <a:r>
              <a:rPr lang="bg-BG" sz="2400" dirty="0"/>
              <a:t>Анализът на числови данни е обект на числения анализ. Численият анализ е раздел от математиката, който се занимава с решаването на математически задачи чрез аритметични процедури. В дадена ситуация обикновено съществуват няколко възможни метода за получаване на търсената апроксимация. Изборът на един от тях зависи от това, какви критерии се използват, за да се прецени  колко ефективна е дадената апроксимация.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381901" y="286462"/>
            <a:ext cx="4780539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bg-BG" sz="2400" b="1" i="1" cap="all" dirty="0"/>
              <a:t>Апроксимиране на функции</a:t>
            </a:r>
            <a:endParaRPr lang="bg-BG" sz="2400" b="1" cap="all" dirty="0">
              <a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368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32000" y="0"/>
            <a:ext cx="10160000" cy="6728604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365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bg-BG" sz="2400" dirty="0"/>
              <a:t>Наличието на различни методи показва, че в едни случаи някои методи са за предпочитане пред останалите. Основните въпроси, на които трябва да се отговори са: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bg-BG" sz="2400" dirty="0"/>
              <a:t>Каква грешка можем да допуснем в крайния резултат?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bg-BG" sz="2400" dirty="0"/>
              <a:t>За колко време може  да се пресметне решението при използване на даден метод?</a:t>
            </a:r>
          </a:p>
          <a:p>
            <a:pPr marL="0" indent="5365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bg-BG" sz="2400" dirty="0"/>
              <a:t>След като се имат предвид тези евристични съображения, може да се пристъпи към общата задача за апроксимация.</a:t>
            </a:r>
            <a:endParaRPr lang="en-US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b="1" i="1" dirty="0"/>
              <a:t>Апроксимиране </a:t>
            </a:r>
            <a:endParaRPr lang="bg-BG" sz="2400" b="1" i="1" dirty="0"/>
          </a:p>
          <a:p>
            <a:pPr marL="0" indent="5365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/>
              <a:t>При провеждане на физически експеримент по таблични данни се създава функция, която с достатъчна за инженерната практика точност описва съответния процес. </a:t>
            </a:r>
            <a:endParaRPr lang="bg-BG" sz="2400" dirty="0"/>
          </a:p>
          <a:p>
            <a:pPr marL="0" indent="536575" algn="just">
              <a:lnSpc>
                <a:spcPct val="150000"/>
              </a:lnSpc>
              <a:buNone/>
            </a:pPr>
            <a:endParaRPr lang="bg-BG" sz="2400" dirty="0"/>
          </a:p>
          <a:p>
            <a:pPr marL="0" lvl="0" indent="0" algn="just">
              <a:lnSpc>
                <a:spcPct val="150000"/>
              </a:lnSpc>
              <a:buNone/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5331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4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38874" y="283154"/>
            <a:ext cx="9949924" cy="61466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536575" algn="just">
              <a:lnSpc>
                <a:spcPct val="150000"/>
              </a:lnSpc>
            </a:pPr>
            <a:r>
              <a:rPr lang="bg-BG" sz="2400" dirty="0"/>
              <a:t>По-голяма част от апроксимациите, които се правят на практика, се състоят в приближаване на някоя функция чрез комбинация на функции (най-често линейна комбинация), взети от някой специален клас функции. В курса по висша математика е известно разлагането на функцията в ред на </a:t>
            </a:r>
            <a:r>
              <a:rPr lang="bg-BG" sz="2400" dirty="0" err="1"/>
              <a:t>Тейлор</a:t>
            </a:r>
            <a:r>
              <a:rPr lang="bg-BG" sz="2400" dirty="0"/>
              <a:t> или </a:t>
            </a:r>
            <a:r>
              <a:rPr lang="bg-BG" sz="2400" dirty="0" err="1"/>
              <a:t>Маклорен</a:t>
            </a:r>
            <a:r>
              <a:rPr lang="bg-BG" sz="2400" dirty="0"/>
              <a:t> (</a:t>
            </a:r>
            <a:r>
              <a:rPr lang="bg-BG" sz="2400" dirty="0" err="1"/>
              <a:t>полиномно</a:t>
            </a:r>
            <a:r>
              <a:rPr lang="bg-BG" sz="2400" dirty="0"/>
              <a:t> разложение). Друг клас функции, който широко се използва, е класът на тригонометричните функции (</a:t>
            </a:r>
            <a:r>
              <a:rPr lang="bg-BG" sz="2400" dirty="0" err="1"/>
              <a:t>Фурие</a:t>
            </a:r>
            <a:r>
              <a:rPr lang="bg-BG" sz="2400" dirty="0"/>
              <a:t> разложение). В други случай подходящи могат да се окажат логаритмичните или показателните функции. Може да се прави апроксимация и с комбинация от изброените класове, което е по-трудно да се анализа, но не е невъзможна програмна реализация. 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algn="just">
              <a:lnSpc>
                <a:spcPct val="150000"/>
              </a:lnSpc>
              <a:spcBef>
                <a:spcPts val="0"/>
              </a:spcBef>
            </a:pPr>
            <a:endParaRPr lang="bg-BG" altLang="bg-BG" sz="2400" baseline="-25000" dirty="0">
              <a:sym typeface="Symbol" panose="05050102010706020507" pitchFamily="18" charset="2"/>
            </a:endParaRPr>
          </a:p>
          <a:p>
            <a:pPr marL="457200" algn="just">
              <a:lnSpc>
                <a:spcPct val="150000"/>
              </a:lnSpc>
              <a:spcBef>
                <a:spcPts val="0"/>
              </a:spcBef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73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1657" y="506436"/>
            <a:ext cx="9811657" cy="4719726"/>
          </a:xfrm>
        </p:spPr>
        <p:txBody>
          <a:bodyPr>
            <a:noAutofit/>
          </a:bodyPr>
          <a:lstStyle/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От гледна точка на честота на приложимост </a:t>
            </a:r>
            <a:r>
              <a:rPr lang="bg-BG" sz="2400" dirty="0" err="1"/>
              <a:t>полиномните</a:t>
            </a:r>
            <a:r>
              <a:rPr lang="bg-BG" sz="2400" dirty="0"/>
              <a:t> приближения имат преобладаващо значение.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Могат да бъдат предложени четири типа апроксимации от гледна точка на избора на критерии:</a:t>
            </a:r>
            <a:endParaRPr lang="en-US" sz="2400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bg-BG" sz="2400" dirty="0"/>
              <a:t>Точни или </a:t>
            </a:r>
            <a:r>
              <a:rPr lang="bg-BG" sz="2400" dirty="0" err="1"/>
              <a:t>интерполационни</a:t>
            </a:r>
            <a:r>
              <a:rPr lang="bg-BG" sz="2400" dirty="0"/>
              <a:t> апроксимации, при които константите се избират така, че точките на измерване, апроксимацията и първите ѝ</a:t>
            </a:r>
            <a:r>
              <a:rPr lang="en-US" sz="2400" dirty="0"/>
              <a:t> </a:t>
            </a:r>
            <a:r>
              <a:rPr lang="bg-BG" sz="2400" dirty="0"/>
              <a:t>производни съвпадат с тези на </a:t>
            </a:r>
            <a:r>
              <a:rPr lang="en-US" sz="2400" dirty="0"/>
              <a:t>f(x) (</a:t>
            </a:r>
            <a:r>
              <a:rPr lang="bg-BG" sz="2400" dirty="0"/>
              <a:t>с точност до закръгляне).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4196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714" y="0"/>
            <a:ext cx="10421254" cy="6858000"/>
          </a:xfrm>
        </p:spPr>
        <p:txBody>
          <a:bodyPr>
            <a:noAutofit/>
          </a:bodyPr>
          <a:lstStyle/>
          <a:p>
            <a:pPr marL="457200" lvl="0" indent="-457200" algn="just">
              <a:lnSpc>
                <a:spcPct val="140000"/>
              </a:lnSpc>
              <a:spcBef>
                <a:spcPts val="0"/>
              </a:spcBef>
              <a:buFont typeface="+mj-lt"/>
              <a:buAutoNum type="arabicPeriod" startAt="2"/>
            </a:pPr>
            <a:r>
              <a:rPr lang="bg-BG" sz="2400" dirty="0"/>
              <a:t>Апроксимации  по метода на медианите. Целта е да се минимизира интегралът от абсолютните стойности на разликите между </a:t>
            </a:r>
            <a:r>
              <a:rPr lang="en-US" sz="2400" dirty="0"/>
              <a:t>f(x)</a:t>
            </a:r>
            <a:r>
              <a:rPr lang="bg-BG" sz="2400" dirty="0"/>
              <a:t> и нейната апроксимация, разпрострян  върху интервал </a:t>
            </a:r>
            <a:r>
              <a:rPr lang="en-US" sz="2400" dirty="0"/>
              <a:t>[a, b]</a:t>
            </a:r>
            <a:r>
              <a:rPr lang="bg-BG" sz="2400" dirty="0"/>
              <a:t>. При създаване на програмно осигуряване  се минимизира тегловната сума от абсолютните</a:t>
            </a:r>
            <a:r>
              <a:rPr lang="en-US" sz="2400" dirty="0"/>
              <a:t> </a:t>
            </a:r>
            <a:r>
              <a:rPr lang="bg-BG" sz="2400" dirty="0"/>
              <a:t>стойности на грешките върху дискретно множество от точки, взето от интервала </a:t>
            </a:r>
            <a:r>
              <a:rPr lang="en-US" sz="2400" dirty="0"/>
              <a:t>[a, b].</a:t>
            </a:r>
            <a:endParaRPr lang="bg-BG" sz="2400" dirty="0"/>
          </a:p>
          <a:p>
            <a:pPr marL="457200" indent="-457200" algn="just">
              <a:lnSpc>
                <a:spcPct val="140000"/>
              </a:lnSpc>
              <a:spcBef>
                <a:spcPts val="0"/>
              </a:spcBef>
              <a:buFont typeface="+mj-lt"/>
              <a:buAutoNum type="arabicPeriod" startAt="2"/>
            </a:pPr>
            <a:r>
              <a:rPr lang="bg-BG" sz="2400" dirty="0"/>
              <a:t>Апроксимации по метода на най-малките квадрати. Целта е да се минимизира интегралът на квадрата от разликата между </a:t>
            </a:r>
            <a:r>
              <a:rPr lang="en-US" sz="2400" dirty="0"/>
              <a:t>f(x) </a:t>
            </a:r>
            <a:r>
              <a:rPr lang="bg-BG" sz="2400" dirty="0"/>
              <a:t>и нейната апроксимация (евентуално умножен с някаква подходяща тегловна функция), разпрострян  върху интервал </a:t>
            </a:r>
            <a:r>
              <a:rPr lang="en-US" sz="2400" dirty="0"/>
              <a:t>[a, b]</a:t>
            </a:r>
            <a:r>
              <a:rPr lang="bg-BG" sz="2400" dirty="0"/>
              <a:t>. При създаване на програмно осигуряване се минимизира тегловната сума от квадратите на грешките върху дискретно множество от точки, взето от интервала </a:t>
            </a:r>
            <a:r>
              <a:rPr lang="en-US" sz="2400" dirty="0"/>
              <a:t>[a, b].</a:t>
            </a:r>
            <a:endParaRPr lang="bg-BG" sz="2400" dirty="0"/>
          </a:p>
          <a:p>
            <a:pPr marL="457200" lvl="0" indent="-457200" algn="just">
              <a:lnSpc>
                <a:spcPct val="140000"/>
              </a:lnSpc>
              <a:spcBef>
                <a:spcPts val="0"/>
              </a:spcBef>
              <a:buFont typeface="+mj-lt"/>
              <a:buAutoNum type="arabicPeriod" startAt="2"/>
            </a:pPr>
            <a:endParaRPr lang="bg-BG" sz="2400" dirty="0"/>
          </a:p>
          <a:p>
            <a:pPr algn="just">
              <a:lnSpc>
                <a:spcPct val="140000"/>
              </a:lnSpc>
            </a:pP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7456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7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369648" y="512143"/>
            <a:ext cx="9423400" cy="5521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4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 startAt="4"/>
            </a:pPr>
            <a:r>
              <a:rPr lang="bg-BG" sz="2400" dirty="0"/>
              <a:t>Апроксимации с </a:t>
            </a:r>
            <a:r>
              <a:rPr lang="bg-BG" sz="2400" dirty="0" err="1"/>
              <a:t>минимаксна</a:t>
            </a:r>
            <a:r>
              <a:rPr lang="bg-BG" sz="2400" dirty="0"/>
              <a:t> грешка. Целта е да се минимизира максималната големина на разликата между </a:t>
            </a:r>
            <a:r>
              <a:rPr lang="en-US" sz="2400" dirty="0"/>
              <a:t>f(x)</a:t>
            </a:r>
            <a:r>
              <a:rPr lang="bg-BG" sz="2400" dirty="0"/>
              <a:t> и нейната апроксимация върху интервала </a:t>
            </a:r>
            <a:r>
              <a:rPr lang="en-US" sz="2400" dirty="0"/>
              <a:t>[a, b].</a:t>
            </a:r>
            <a:endParaRPr lang="bg-BG" sz="2400" dirty="0"/>
          </a:p>
          <a:p>
            <a:pPr lvl="0" indent="536575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400" dirty="0"/>
              <a:t>Апроксимации по метода на медианите, метода на най-малките квадрати и апроксимации с </a:t>
            </a:r>
            <a:r>
              <a:rPr lang="bg-BG" sz="2400" dirty="0" err="1"/>
              <a:t>минимаксна</a:t>
            </a:r>
            <a:r>
              <a:rPr lang="bg-BG" sz="2400" dirty="0"/>
              <a:t> грешка се формират на базата на минимизиране на нормата на вектора на разликите между </a:t>
            </a:r>
            <a:r>
              <a:rPr lang="en-US" sz="2400" dirty="0"/>
              <a:t>f(x) </a:t>
            </a:r>
            <a:r>
              <a:rPr lang="bg-BG" sz="2400" dirty="0"/>
              <a:t>и нейната апроксимация. С понятието норма на вектор се свързва неотрицателно число (скалар), което се използва като мярка за големината на даден вектор. Нормата на вектор </a:t>
            </a:r>
            <a:r>
              <a:rPr lang="en-US" sz="2400" dirty="0"/>
              <a:t>x=[x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,…,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]</a:t>
            </a:r>
            <a:r>
              <a:rPr lang="en-US" sz="2400" baseline="30000" dirty="0"/>
              <a:t>T</a:t>
            </a:r>
            <a:r>
              <a:rPr lang="en-US" sz="2400" dirty="0"/>
              <a:t> </a:t>
            </a:r>
            <a:r>
              <a:rPr lang="bg-BG" sz="2400" dirty="0"/>
              <a:t> се дефинира като:</a:t>
            </a:r>
          </a:p>
        </p:txBody>
      </p:sp>
    </p:spTree>
    <p:extLst>
      <p:ext uri="{BB962C8B-B14F-4D97-AF65-F5344CB8AC3E}">
        <p14:creationId xmlns:p14="http://schemas.microsoft.com/office/powerpoint/2010/main" val="294990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140094"/>
            <a:ext cx="9999579" cy="6717905"/>
          </a:xfrm>
        </p:spPr>
        <p:txBody>
          <a:bodyPr>
            <a:noAutofit/>
          </a:bodyPr>
          <a:lstStyle/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bg-BG" sz="2400" dirty="0"/>
              <a:t>				, където параметърът </a:t>
            </a:r>
            <a:r>
              <a:rPr lang="en-US" sz="2400" dirty="0"/>
              <a:t>p</a:t>
            </a:r>
            <a:r>
              <a:rPr lang="bg-BG" sz="2400" dirty="0"/>
              <a:t> обикновено приема стойности 1, 2 или ∞.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bg-BG" sz="2400" dirty="0"/>
              <a:t>За </a:t>
            </a:r>
            <a:r>
              <a:rPr lang="en-US" sz="2400" dirty="0"/>
              <a:t>p = 1</a:t>
            </a:r>
            <a:r>
              <a:rPr lang="bg-BG" sz="2400" dirty="0"/>
              <a:t> се получава норма, чиято стойност е сума от абсолютните стойности на координатите на </a:t>
            </a:r>
            <a:r>
              <a:rPr lang="en-US" sz="2400" dirty="0"/>
              <a:t>x</a:t>
            </a:r>
            <a:r>
              <a:rPr lang="bg-BG" sz="2400" dirty="0"/>
              <a:t>.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endParaRPr lang="bg-BG" sz="2400" dirty="0"/>
          </a:p>
          <a:p>
            <a:pPr indent="457200"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bg-BG" sz="2400" dirty="0"/>
              <a:t>При </a:t>
            </a:r>
            <a:r>
              <a:rPr lang="en-US" sz="2400" dirty="0"/>
              <a:t>p = 2 </a:t>
            </a:r>
            <a:r>
              <a:rPr lang="bg-BG" sz="2400" dirty="0"/>
              <a:t>е прието нормата да се нарича Евклидова норма и представлява дължината на вектора и се дефинира като: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endParaRPr lang="bg-BG" sz="2400" dirty="0"/>
          </a:p>
          <a:p>
            <a:pPr indent="457200"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bg-BG" sz="2400" dirty="0"/>
              <a:t>При </a:t>
            </a:r>
            <a:r>
              <a:rPr lang="en-US" sz="2400" dirty="0"/>
              <a:t>p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2400" dirty="0"/>
              <a:t>∞ </a:t>
            </a:r>
            <a:r>
              <a:rPr lang="bg-BG" sz="2400" dirty="0"/>
              <a:t>се получава т. нар. безкрайна норма или норма на </a:t>
            </a:r>
            <a:r>
              <a:rPr lang="bg-BG" sz="2400" dirty="0" err="1"/>
              <a:t>Чебишев</a:t>
            </a:r>
            <a:r>
              <a:rPr lang="bg-BG" sz="2400" dirty="0"/>
              <a:t>. Определя се като</a:t>
            </a:r>
          </a:p>
          <a:p>
            <a:pPr indent="457200" algn="just">
              <a:lnSpc>
                <a:spcPct val="100000"/>
              </a:lnSpc>
              <a:spcBef>
                <a:spcPts val="0"/>
              </a:spcBef>
              <a:defRPr/>
            </a:pPr>
            <a:endParaRPr lang="bg-BG" sz="2400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400" dirty="0"/>
              <a:t>(</a:t>
            </a:r>
            <a:r>
              <a:rPr lang="bg-BG" dirty="0"/>
              <a:t>нормата е равна на координата на вектора </a:t>
            </a:r>
            <a:r>
              <a:rPr lang="en-US" i="1" dirty="0"/>
              <a:t>x </a:t>
            </a:r>
            <a:r>
              <a:rPr lang="bg-BG" dirty="0"/>
              <a:t>с най-голяма абсолютната стойност</a:t>
            </a:r>
            <a:r>
              <a:rPr lang="en-US" dirty="0"/>
              <a:t>)</a:t>
            </a:r>
            <a:endParaRPr lang="bg-BG" dirty="0"/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endParaRPr lang="bg-BG" sz="2400" dirty="0"/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8</a:t>
            </a:fld>
            <a:endParaRPr lang="bg-BG" dirty="0"/>
          </a:p>
        </p:txBody>
      </p:sp>
      <p:sp>
        <p:nvSpPr>
          <p:cNvPr id="7" name="AutoShape 2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067050" y="-90488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11" name="AutoShape 6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371850" y="214312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388032"/>
              </p:ext>
            </p:extLst>
          </p:nvPr>
        </p:nvGraphicFramePr>
        <p:xfrm>
          <a:off x="2554513" y="38716"/>
          <a:ext cx="3174319" cy="8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1100" imgH="508000" progId="Equation.3">
                  <p:embed/>
                </p:oleObj>
              </mc:Choice>
              <mc:Fallback>
                <p:oleObj name="Equation" r:id="rId3" imgW="11811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513" y="38716"/>
                        <a:ext cx="3174319" cy="8981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524073"/>
              </p:ext>
            </p:extLst>
          </p:nvPr>
        </p:nvGraphicFramePr>
        <p:xfrm>
          <a:off x="2680833" y="2180019"/>
          <a:ext cx="2065338" cy="96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4" imgH="431613" progId="Equation.3">
                  <p:embed/>
                </p:oleObj>
              </mc:Choice>
              <mc:Fallback>
                <p:oleObj name="Equation" r:id="rId5" imgW="774364" imgH="4316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833" y="2180019"/>
                        <a:ext cx="2065338" cy="9695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bg-BG" altLang="bg-B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323376"/>
              </p:ext>
            </p:extLst>
          </p:nvPr>
        </p:nvGraphicFramePr>
        <p:xfrm>
          <a:off x="2680833" y="3976947"/>
          <a:ext cx="5272996" cy="986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33700" imgH="508000" progId="Equation.3">
                  <p:embed/>
                </p:oleObj>
              </mc:Choice>
              <mc:Fallback>
                <p:oleObj name="Equation" r:id="rId7" imgW="2933700" imgH="508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833" y="3976947"/>
                        <a:ext cx="5272996" cy="9869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449826"/>
              </p:ext>
            </p:extLst>
          </p:nvPr>
        </p:nvGraphicFramePr>
        <p:xfrm>
          <a:off x="2554513" y="5845672"/>
          <a:ext cx="2863257" cy="607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01309" imgH="291973" progId="Equation.3">
                  <p:embed/>
                </p:oleObj>
              </mc:Choice>
              <mc:Fallback>
                <p:oleObj name="Equation" r:id="rId9" imgW="901309" imgH="29197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513" y="5845672"/>
                        <a:ext cx="2863257" cy="6072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0" y="752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kumimoji="0" lang="bg-BG" altLang="bg-B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1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9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898644" y="1023749"/>
                <a:ext cx="10197500" cy="56998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36575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r>
                  <a:rPr lang="bg-BG" sz="2200" dirty="0"/>
                  <a:t>Нека </a:t>
                </a:r>
                <a:r>
                  <a:rPr lang="en-US" sz="2200" dirty="0"/>
                  <a:t>f(x) </a:t>
                </a:r>
                <a:r>
                  <a:rPr lang="bg-BG" sz="2200" dirty="0"/>
                  <a:t>е функция, а </a:t>
                </a:r>
                <a:r>
                  <a:rPr lang="en-US" sz="2200" dirty="0"/>
                  <a:t>{x</a:t>
                </a:r>
                <a:r>
                  <a:rPr lang="en-US" sz="2200" baseline="-25000" dirty="0"/>
                  <a:t>i</a:t>
                </a:r>
                <a:r>
                  <a:rPr lang="en-US" sz="2200" dirty="0"/>
                  <a:t>}, i=1, 2, …, n, </a:t>
                </a:r>
                <a:r>
                  <a:rPr lang="bg-BG" sz="2200" dirty="0"/>
                  <a:t>е редица от зададени точки, в които са измерени стойностите на </a:t>
                </a:r>
                <a:r>
                  <a:rPr lang="en-US" sz="2200" dirty="0"/>
                  <a:t>f(x), </a:t>
                </a:r>
                <a:r>
                  <a:rPr lang="bg-BG" sz="2200" dirty="0"/>
                  <a:t>като тези измерени стойности съдържат грешки. Нека с </a:t>
                </a:r>
                <a:r>
                  <a:rPr lang="en-US" sz="2200" dirty="0"/>
                  <a:t>f</a:t>
                </a:r>
                <a:r>
                  <a:rPr lang="en-US" sz="2200" baseline="-25000" dirty="0"/>
                  <a:t>i</a:t>
                </a:r>
                <a:r>
                  <a:rPr lang="bg-BG" sz="2200" dirty="0"/>
                  <a:t> се означи точната стойност на </a:t>
                </a:r>
                <a:r>
                  <a:rPr lang="en-US" sz="2200" dirty="0"/>
                  <a:t>f(x</a:t>
                </a:r>
                <a:r>
                  <a:rPr lang="en-US" sz="2200" baseline="-25000" dirty="0"/>
                  <a:t>i</a:t>
                </a:r>
                <a:r>
                  <a:rPr lang="en-US" sz="2200" dirty="0"/>
                  <a:t>) </a:t>
                </a:r>
                <a:r>
                  <a:rPr lang="bg-BG" sz="2200" dirty="0"/>
                  <a:t>в точката </a:t>
                </a:r>
                <a:r>
                  <a:rPr lang="en-US" sz="2200" dirty="0"/>
                  <a:t>x</a:t>
                </a:r>
                <a:r>
                  <a:rPr lang="en-US" sz="2200" baseline="-25000" dirty="0"/>
                  <a:t>i</a:t>
                </a:r>
                <a:r>
                  <a:rPr lang="en-US" sz="2200" dirty="0"/>
                  <a:t>, </a:t>
                </a:r>
                <a:r>
                  <a:rPr lang="bg-BG" sz="2200" dirty="0"/>
                  <a:t>а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bg-BG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- </a:t>
                </a:r>
                <a:r>
                  <a:rPr lang="bg-BG" sz="2200" dirty="0"/>
                  <a:t> измерената стойност в същата точка. Дефинира се разликата (грешка</a:t>
                </a:r>
                <a:r>
                  <a:rPr lang="en-US" sz="2200" dirty="0"/>
                  <a:t>, </a:t>
                </a:r>
                <a:r>
                  <a:rPr lang="bg-BG" sz="2200" dirty="0"/>
                  <a:t>остатък)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. </a:t>
                </a:r>
                <a:r>
                  <a:rPr lang="bg-BG" sz="2200" dirty="0"/>
                  <a:t>Предполага се, че грешките в различните точки са независими.</a:t>
                </a:r>
                <a:endParaRPr lang="en-US" sz="2200" dirty="0"/>
              </a:p>
              <a:p>
                <a:pPr indent="536575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r>
                  <a:rPr lang="bg-BG" sz="2200" dirty="0"/>
                  <a:t>Нека </a:t>
                </a:r>
                <a:r>
                  <a:rPr lang="en-US" sz="2200" dirty="0"/>
                  <a:t>                      </a:t>
                </a:r>
                <a:r>
                  <a:rPr lang="bg-BG" sz="2200" dirty="0"/>
                  <a:t>е редица от функции, дефинирани за всяко </a:t>
                </a:r>
                <a:r>
                  <a:rPr lang="en-US" sz="2200" dirty="0"/>
                  <a:t>xi. </a:t>
                </a:r>
                <a:r>
                  <a:rPr lang="bg-BG" sz="2200" dirty="0"/>
                  <a:t>Целта е да се апроксимира </a:t>
                </a:r>
                <a:r>
                  <a:rPr lang="en-US" sz="2200" dirty="0"/>
                  <a:t>f</a:t>
                </a:r>
                <a:r>
                  <a:rPr lang="en-US" sz="2200" baseline="-25000" dirty="0"/>
                  <a:t>i</a:t>
                </a:r>
                <a:r>
                  <a:rPr lang="bg-BG" sz="2200" dirty="0"/>
                  <a:t> с линейни комбинации на </a:t>
                </a:r>
                <a:r>
                  <a:rPr lang="en-US" sz="2200" dirty="0"/>
                  <a:t>                </a:t>
                </a:r>
              </a:p>
              <a:p>
                <a:pPr indent="536575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r>
                  <a:rPr lang="en-US" sz="2200" dirty="0"/>
                  <a:t>				     </a:t>
                </a:r>
                <a:r>
                  <a:rPr lang="bg-BG" sz="2200" dirty="0"/>
                  <a:t>, </a:t>
                </a:r>
                <a:r>
                  <a:rPr lang="en-US" sz="2200" dirty="0"/>
                  <a:t> </a:t>
                </a:r>
                <a:r>
                  <a:rPr lang="bg-BG" sz="2200" dirty="0"/>
                  <a:t>където коефициентите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bg-BG" sz="2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sz="2200" dirty="0"/>
                  <a:t> </a:t>
                </a:r>
                <a:r>
                  <a:rPr lang="bg-BG" sz="2200" dirty="0"/>
                  <a:t>трябва да се определят така, че да се минимизира</a:t>
                </a:r>
              </a:p>
              <a:p>
                <a:pPr indent="536575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endParaRPr lang="bg-BG" sz="22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644" y="1023749"/>
                <a:ext cx="10197500" cy="5699894"/>
              </a:xfrm>
              <a:prstGeom prst="rect">
                <a:avLst/>
              </a:prstGeom>
              <a:blipFill>
                <a:blip r:embed="rId4"/>
                <a:stretch>
                  <a:fillRect l="-777" r="-89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71718" y="497419"/>
            <a:ext cx="11654972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85000"/>
              <a:defRPr/>
            </a:pPr>
            <a:r>
              <a:rPr lang="bg-BG" sz="2300" b="1" i="1" dirty="0"/>
              <a:t>Прецизната дефиниция на апроксимации по метода на най-малките квадрати  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425013"/>
              </p:ext>
            </p:extLst>
          </p:nvPr>
        </p:nvGraphicFramePr>
        <p:xfrm>
          <a:off x="3154773" y="4228515"/>
          <a:ext cx="1561876" cy="42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241200" progId="Equation.3">
                  <p:embed/>
                </p:oleObj>
              </mc:Choice>
              <mc:Fallback>
                <p:oleObj name="Equation" r:id="rId5" imgW="1117440" imgH="24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773" y="4228515"/>
                        <a:ext cx="1561876" cy="424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448298"/>
              </p:ext>
            </p:extLst>
          </p:nvPr>
        </p:nvGraphicFramePr>
        <p:xfrm>
          <a:off x="7632004" y="4705983"/>
          <a:ext cx="1089966" cy="49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160" imgH="241200" progId="Equation.3">
                  <p:embed/>
                </p:oleObj>
              </mc:Choice>
              <mc:Fallback>
                <p:oleObj name="Equation" r:id="rId7" imgW="53316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32004" y="4705983"/>
                        <a:ext cx="1089966" cy="493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077257"/>
              </p:ext>
            </p:extLst>
          </p:nvPr>
        </p:nvGraphicFramePr>
        <p:xfrm>
          <a:off x="2032000" y="4946401"/>
          <a:ext cx="394811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93680" imgH="444240" progId="Equation.3">
                  <p:embed/>
                </p:oleObj>
              </mc:Choice>
              <mc:Fallback>
                <p:oleObj name="Equation" r:id="rId9" imgW="199368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4946401"/>
                        <a:ext cx="3948112" cy="941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7765143" y="483769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063687"/>
              </p:ext>
            </p:extLst>
          </p:nvPr>
        </p:nvGraphicFramePr>
        <p:xfrm>
          <a:off x="2032000" y="5981789"/>
          <a:ext cx="6559341" cy="83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178300" imgH="520700" progId="Equation.3">
                  <p:embed/>
                </p:oleObj>
              </mc:Choice>
              <mc:Fallback>
                <p:oleObj name="Equation" r:id="rId11" imgW="4178300" imgH="520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5981789"/>
                        <a:ext cx="6559341" cy="8358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A91113AD-7CBE-4ACF-AB04-B4683D7EBA90}"/>
              </a:ext>
            </a:extLst>
          </p:cNvPr>
          <p:cNvSpPr/>
          <p:nvPr/>
        </p:nvSpPr>
        <p:spPr>
          <a:xfrm>
            <a:off x="3266438" y="116403"/>
            <a:ext cx="5455532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bg-BG" sz="2400" b="1" i="1" cap="all" dirty="0"/>
              <a:t>Метод на най-малките квадрати</a:t>
            </a:r>
          </a:p>
        </p:txBody>
      </p:sp>
    </p:spTree>
    <p:extLst>
      <p:ext uri="{BB962C8B-B14F-4D97-AF65-F5344CB8AC3E}">
        <p14:creationId xmlns:p14="http://schemas.microsoft.com/office/powerpoint/2010/main" val="175387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10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988459" y="0"/>
                <a:ext cx="10159999" cy="68588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36575" algn="just">
                  <a:lnSpc>
                    <a:spcPct val="150000"/>
                  </a:lnSpc>
                  <a:spcAft>
                    <a:spcPts val="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r>
                  <a:rPr lang="bg-BG" sz="2400" dirty="0"/>
                  <a:t>След определяне 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sz="2400" dirty="0"/>
                  <a:t>  </a:t>
                </a:r>
                <a:r>
                  <a:rPr lang="bg-BG" sz="2400" dirty="0"/>
                  <a:t>така, че да се удовлетворява горното условие, се получава апроксимацията</a:t>
                </a:r>
                <a:endParaRPr lang="en-US" sz="2400" dirty="0"/>
              </a:p>
              <a:p>
                <a:pPr indent="536575" algn="just">
                  <a:lnSpc>
                    <a:spcPct val="150000"/>
                  </a:lnSpc>
                  <a:spcAft>
                    <a:spcPts val="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endParaRPr lang="en-US" sz="2400" dirty="0"/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r>
                  <a:rPr lang="bg-BG" sz="2400" dirty="0"/>
                  <a:t>която се нарича апроксимация по метода на най-малките квадрати.</a:t>
                </a:r>
              </a:p>
              <a:p>
                <a:pPr indent="536575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r>
                  <a:rPr lang="bg-BG" sz="2300" b="1" i="1" dirty="0"/>
                  <a:t>Избор на степен на полином</a:t>
                </a:r>
              </a:p>
              <a:p>
                <a:pPr indent="536575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r>
                  <a:rPr lang="bg-BG" sz="2400" dirty="0"/>
                  <a:t>По даден брой емпирични данни (</a:t>
                </a:r>
                <a:r>
                  <a:rPr lang="en-US" sz="2400" dirty="0"/>
                  <a:t>n)</a:t>
                </a:r>
                <a:r>
                  <a:rPr lang="bg-BG" sz="2400" dirty="0"/>
                  <a:t> как трябва да се избере степента на апроксимиращия полином? Предлага се прилагането на т. нар. нулева статистическа хипотеза, използваща метода на максималното </a:t>
                </a:r>
                <a:r>
                  <a:rPr lang="bg-BG" sz="2400" dirty="0" err="1"/>
                  <a:t>правдоподобие</a:t>
                </a:r>
                <a:r>
                  <a:rPr lang="bg-BG" sz="2400" dirty="0"/>
                  <a:t>.</a:t>
                </a:r>
                <a:r>
                  <a:rPr lang="en-US" sz="2400" dirty="0"/>
                  <a:t> </a:t>
                </a:r>
                <a:r>
                  <a:rPr lang="bg-BG" sz="2400" dirty="0"/>
                  <a:t>Смисълът на предложението е следният. Последователно се правят апроксимации с полиноми, започвайки от първи ред.  Изчисляват се средните квадратични грешки за всеки ред с израза</a:t>
                </a:r>
                <a:endParaRPr lang="bg-BG" sz="2300" b="1" i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459" y="0"/>
                <a:ext cx="10159999" cy="6858801"/>
              </a:xfrm>
              <a:prstGeom prst="rect">
                <a:avLst/>
              </a:prstGeom>
              <a:blipFill>
                <a:blip r:embed="rId4"/>
                <a:stretch>
                  <a:fillRect l="-900" r="-900" b="-8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946400" y="1858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574045"/>
              </p:ext>
            </p:extLst>
          </p:nvPr>
        </p:nvGraphicFramePr>
        <p:xfrm>
          <a:off x="3120571" y="1033280"/>
          <a:ext cx="3193143" cy="1014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088" imgH="444307" progId="Equation.3">
                  <p:embed/>
                </p:oleObj>
              </mc:Choice>
              <mc:Fallback>
                <p:oleObj name="Equation" r:id="rId5" imgW="1409088" imgH="44430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0571" y="1033280"/>
                        <a:ext cx="3193143" cy="10140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204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11</a:t>
            </a:fld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8842" y="449975"/>
            <a:ext cx="9867232" cy="4546560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843020"/>
              </p:ext>
            </p:extLst>
          </p:nvPr>
        </p:nvGraphicFramePr>
        <p:xfrm>
          <a:off x="2960915" y="449975"/>
          <a:ext cx="4990045" cy="998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200" imgH="520700" progId="Equation.3">
                  <p:embed/>
                </p:oleObj>
              </mc:Choice>
              <mc:Fallback>
                <p:oleObj name="Equation" r:id="rId3" imgW="2616200" imgH="520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915" y="449975"/>
                        <a:ext cx="4990045" cy="9980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98842" y="1597876"/>
                <a:ext cx="9934074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и стойностите на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                                                              </a:t>
                </a:r>
              </a:p>
              <a:p>
                <a:pPr indent="719138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Когато стойността 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съществено намалява спрямо предходната (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m-1),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то се изчислява следващата и т.н. докато няма съществено намаляване (примерно няма намаляване с порядък или със зададен %). Щом бъде достигната такава стойност, то тази стойност на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се избира за ред на полинома.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842" y="1597876"/>
                <a:ext cx="9934074" cy="3416320"/>
              </a:xfrm>
              <a:prstGeom prst="rect">
                <a:avLst/>
              </a:prstGeom>
              <a:blipFill>
                <a:blip r:embed="rId6"/>
                <a:stretch>
                  <a:fillRect l="-920" r="-920" b="-107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-1" y="-1"/>
            <a:ext cx="269111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459759"/>
              </p:ext>
            </p:extLst>
          </p:nvPr>
        </p:nvGraphicFramePr>
        <p:xfrm>
          <a:off x="4810713" y="1672828"/>
          <a:ext cx="3771957" cy="561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400" imgH="241300" progId="Equation.3">
                  <p:embed/>
                </p:oleObj>
              </mc:Choice>
              <mc:Fallback>
                <p:oleObj name="Equation" r:id="rId7" imgW="12954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713" y="1672828"/>
                        <a:ext cx="3771957" cy="5616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7534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12</a:t>
            </a:fld>
            <a:endParaRPr lang="bg-B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84422" y="534197"/>
            <a:ext cx="10379242" cy="51489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just">
              <a:lnSpc>
                <a:spcPct val="130000"/>
              </a:lnSpc>
              <a:spcBef>
                <a:spcPts val="0"/>
              </a:spcBef>
            </a:pPr>
            <a:endParaRPr lang="bg-B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903664" y="0"/>
                <a:ext cx="10160000" cy="68783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719138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Като мярка за съответствие на апроксимирана функция с реалната, се използва коефициентът на множествена корелация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(мярка за определеност). Той се определя като коефициент на корелация между измерените стойности (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y)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 изчислените чрез апроксимираната функция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).</a:t>
                </a:r>
              </a:p>
              <a:p>
                <a:pPr indent="719138" algn="just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				    ,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където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са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bg-BG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acc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съответно средните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indent="719138" algn="just">
                  <a:spcBef>
                    <a:spcPts val="600"/>
                  </a:spcBef>
                </a:pP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стойности на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bg-BG" sz="240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Величината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се нарича коефициент на детерминация. Стойностите на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са в интервала (0,1). Колкото по близо е до 1, толкова моделът е по-точен. При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=1 апроксимираща функция преминава през всички експериментални точки.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664" y="0"/>
                <a:ext cx="10160000" cy="6878358"/>
              </a:xfrm>
              <a:prstGeom prst="rect">
                <a:avLst/>
              </a:prstGeom>
              <a:blipFill>
                <a:blip r:embed="rId4"/>
                <a:stretch>
                  <a:fillRect l="-900" r="-900" b="-8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745049"/>
              </p:ext>
            </p:extLst>
          </p:nvPr>
        </p:nvGraphicFramePr>
        <p:xfrm>
          <a:off x="2032000" y="2673240"/>
          <a:ext cx="3875314" cy="1434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900" imgH="876300" progId="Equation.3">
                  <p:embed/>
                </p:oleObj>
              </mc:Choice>
              <mc:Fallback>
                <p:oleObj name="Equation" r:id="rId5" imgW="1866900" imgH="876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673240"/>
                        <a:ext cx="3875314" cy="14343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1980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13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806911" y="602060"/>
            <a:ext cx="8165440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bg-BG" altLang="bg-BG" sz="2400" b="1" i="1" cap="all" dirty="0"/>
              <a:t>Илюстрация на метода на най-малките квадрати</a:t>
            </a:r>
            <a:endParaRPr lang="bg-BG" sz="2400" b="1" i="1" cap="all" dirty="0"/>
          </a:p>
        </p:txBody>
      </p:sp>
      <p:sp>
        <p:nvSpPr>
          <p:cNvPr id="6" name="Rectangle 5"/>
          <p:cNvSpPr/>
          <p:nvPr/>
        </p:nvSpPr>
        <p:spPr>
          <a:xfrm>
            <a:off x="2190148" y="996911"/>
            <a:ext cx="94545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bg-BG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Задача 1.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В една държава са правени преброявания на нейните жители през 10 години. Резултатите от преброяването са дадени в следната таблица: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114998"/>
              </p:ext>
            </p:extLst>
          </p:nvPr>
        </p:nvGraphicFramePr>
        <p:xfrm>
          <a:off x="2190148" y="2751237"/>
          <a:ext cx="9770847" cy="750570"/>
        </p:xfrm>
        <a:graphic>
          <a:graphicData uri="http://schemas.openxmlformats.org/drawingml/2006/table">
            <a:tbl>
              <a:tblPr/>
              <a:tblGrid>
                <a:gridCol w="1986607">
                  <a:extLst>
                    <a:ext uri="{9D8B030D-6E8A-4147-A177-3AD203B41FA5}">
                      <a16:colId xmlns:a16="http://schemas.microsoft.com/office/drawing/2014/main" val="1120449605"/>
                    </a:ext>
                  </a:extLst>
                </a:gridCol>
                <a:gridCol w="973030">
                  <a:extLst>
                    <a:ext uri="{9D8B030D-6E8A-4147-A177-3AD203B41FA5}">
                      <a16:colId xmlns:a16="http://schemas.microsoft.com/office/drawing/2014/main" val="2725474473"/>
                    </a:ext>
                  </a:extLst>
                </a:gridCol>
                <a:gridCol w="973030">
                  <a:extLst>
                    <a:ext uri="{9D8B030D-6E8A-4147-A177-3AD203B41FA5}">
                      <a16:colId xmlns:a16="http://schemas.microsoft.com/office/drawing/2014/main" val="4267531632"/>
                    </a:ext>
                  </a:extLst>
                </a:gridCol>
                <a:gridCol w="973030">
                  <a:extLst>
                    <a:ext uri="{9D8B030D-6E8A-4147-A177-3AD203B41FA5}">
                      <a16:colId xmlns:a16="http://schemas.microsoft.com/office/drawing/2014/main" val="1204440920"/>
                    </a:ext>
                  </a:extLst>
                </a:gridCol>
                <a:gridCol w="973030">
                  <a:extLst>
                    <a:ext uri="{9D8B030D-6E8A-4147-A177-3AD203B41FA5}">
                      <a16:colId xmlns:a16="http://schemas.microsoft.com/office/drawing/2014/main" val="3194416143"/>
                    </a:ext>
                  </a:extLst>
                </a:gridCol>
                <a:gridCol w="973030">
                  <a:extLst>
                    <a:ext uri="{9D8B030D-6E8A-4147-A177-3AD203B41FA5}">
                      <a16:colId xmlns:a16="http://schemas.microsoft.com/office/drawing/2014/main" val="1491589827"/>
                    </a:ext>
                  </a:extLst>
                </a:gridCol>
                <a:gridCol w="973030">
                  <a:extLst>
                    <a:ext uri="{9D8B030D-6E8A-4147-A177-3AD203B41FA5}">
                      <a16:colId xmlns:a16="http://schemas.microsoft.com/office/drawing/2014/main" val="3229466597"/>
                    </a:ext>
                  </a:extLst>
                </a:gridCol>
                <a:gridCol w="973030">
                  <a:extLst>
                    <a:ext uri="{9D8B030D-6E8A-4147-A177-3AD203B41FA5}">
                      <a16:colId xmlns:a16="http://schemas.microsoft.com/office/drawing/2014/main" val="3674050813"/>
                    </a:ext>
                  </a:extLst>
                </a:gridCol>
                <a:gridCol w="973030">
                  <a:extLst>
                    <a:ext uri="{9D8B030D-6E8A-4147-A177-3AD203B41FA5}">
                      <a16:colId xmlns:a16="http://schemas.microsoft.com/office/drawing/2014/main" val="837196827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1" i="0" u="none" strike="noStrike">
                          <a:effectLst/>
                          <a:latin typeface="Calibri" panose="020F0502020204030204" pitchFamily="34" charset="0"/>
                        </a:rPr>
                        <a:t>Година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1950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effectLst/>
                          <a:latin typeface="Calibri" panose="020F0502020204030204" pitchFamily="34" charset="0"/>
                        </a:rPr>
                        <a:t>1960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1970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1980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1990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2010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0773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1" i="0" u="none" strike="noStrike">
                          <a:effectLst/>
                          <a:latin typeface="Calibri" panose="020F0502020204030204" pitchFamily="34" charset="0"/>
                        </a:rPr>
                        <a:t>Млн. жители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4,2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5,3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5,9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7,5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9,1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9,9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>
                          <a:effectLst/>
                          <a:latin typeface="Calibri" panose="020F0502020204030204" pitchFamily="34" charset="0"/>
                        </a:rPr>
                        <a:t>10,7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effectLst/>
                          <a:latin typeface="Calibri" panose="020F0502020204030204" pitchFamily="34" charset="0"/>
                        </a:rPr>
                        <a:t>11,4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95743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344168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5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 се даде оценка на населението през 1985, 2007 и прогноза за броя  през 2024 година. </a:t>
            </a:r>
          </a:p>
          <a:p>
            <a:pPr indent="540000" algn="just">
              <a:lnSpc>
                <a:spcPct val="15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Както се вижда от таблицата по-горе, през посочените години не е имало (1985 и 2007) и няма как да е имало (2024) преброяване. За решаването на тази задача е необходимо да се избере подходящ математически модел, който да даде  достатъчно точно зависимостта на населението от годината на преброяването.</a:t>
            </a:r>
          </a:p>
        </p:txBody>
      </p:sp>
    </p:spTree>
    <p:extLst>
      <p:ext uri="{BB962C8B-B14F-4D97-AF65-F5344CB8AC3E}">
        <p14:creationId xmlns:p14="http://schemas.microsoft.com/office/powerpoint/2010/main" val="174182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14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32000" y="897473"/>
                <a:ext cx="9751683" cy="5009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Нека като първо приближение бъде избран линеен модел. т.е.: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където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y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е населението в млн. жители,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x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– годината на преброяването,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и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– постоянни коефициенти, които трябва да бъдат определени. Следователно известните величини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y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x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трябва да послужат за определяне на неизвестните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b.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Броят на точките (годините, в които е имало преброяване) са 8, а неизвестните – 2. Това ще даде възможност за апроксимации с полиноми и от по-висок ред. </a:t>
                </a:r>
              </a:p>
              <a:p>
                <a:pPr indent="540000" algn="just">
                  <a:lnSpc>
                    <a:spcPct val="150000"/>
                  </a:lnSpc>
                </a:pPr>
                <a:endParaRPr lang="bg-BG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897473"/>
                <a:ext cx="9751683" cy="5009769"/>
              </a:xfrm>
              <a:prstGeom prst="rect">
                <a:avLst/>
              </a:prstGeom>
              <a:blipFill>
                <a:blip r:embed="rId2"/>
                <a:stretch>
                  <a:fillRect l="-938" r="-10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893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2083" y="692435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15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553623" y="787203"/>
                <a:ext cx="9333577" cy="57368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З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ададени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са 8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брой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точки (години, в които е имало преброяване)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y</a:t>
                </a:r>
                <a:r>
                  <a:rPr lang="en-GB" sz="2400" baseline="-25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(x</a:t>
                </a:r>
                <a:r>
                  <a:rPr lang="en-GB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),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които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могат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да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се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разглеждат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като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стойности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функцията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y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за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определени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стойности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аргумента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x</a:t>
                </a:r>
                <a:r>
                  <a:rPr lang="en-GB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(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=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2, …, n).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Възниква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въпросът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за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определяне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стойностите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функцията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за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стойности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аргумента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различни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от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точките 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x</a:t>
                </a:r>
                <a:r>
                  <a:rPr lang="en-GB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Когато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се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търсят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стойности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функцията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у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за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точки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x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лежащи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вътре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в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интервала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определен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от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точките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x</a:t>
                </a:r>
                <a:r>
                  <a:rPr lang="en-GB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(</a:t>
                </a:r>
                <a:r>
                  <a:rPr lang="en-GB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т.е</a:t>
                </a:r>
                <a:r>
                  <a:rPr lang="en-GB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се реализира интерполация, а когато точката х е извън този интервал - екстраполация.</a:t>
                </a:r>
              </a:p>
              <a:p>
                <a:pPr indent="540000" algn="just">
                  <a:lnSpc>
                    <a:spcPct val="150000"/>
                  </a:lnSpc>
                </a:pPr>
                <a:endParaRPr lang="bg-BG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623" y="787203"/>
                <a:ext cx="9333577" cy="5736892"/>
              </a:xfrm>
              <a:prstGeom prst="rect">
                <a:avLst/>
              </a:prstGeom>
              <a:blipFill>
                <a:blip r:embed="rId2"/>
                <a:stretch>
                  <a:fillRect l="-1045" r="-98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943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16</a:t>
            </a:fld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2187275" y="120770"/>
            <a:ext cx="9710821" cy="408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>
              <a:lnSpc>
                <a:spcPct val="150000"/>
              </a:lnSpc>
              <a:spcAft>
                <a:spcPts val="0"/>
              </a:spcAft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 базата на този модел може да се построи следната система линейни алгебрични уравнения, в която броят на уравненията ще бъде по-голям от броя на неизвестните: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540000">
              <a:lnSpc>
                <a:spcPct val="200000"/>
              </a:lnSpc>
              <a:spcAft>
                <a:spcPts val="0"/>
              </a:spcAft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540000">
              <a:lnSpc>
                <a:spcPct val="150000"/>
              </a:lnSpc>
              <a:spcAft>
                <a:spcPts val="0"/>
              </a:spcAft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540000">
              <a:lnSpc>
                <a:spcPct val="150000"/>
              </a:lnSpc>
              <a:spcAft>
                <a:spcPts val="0"/>
              </a:spcAft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      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или в матричен вид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     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или 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540000">
              <a:lnSpc>
                <a:spcPct val="150000"/>
              </a:lnSpc>
              <a:spcAft>
                <a:spcPts val="0"/>
              </a:spcAft>
            </a:pP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720299" y="2005007"/>
                <a:ext cx="3265770" cy="29969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bg-BG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bg-BG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=1950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=19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bg-BG" sz="24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bg-BG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9 </m:t>
                                      </m:r>
                                      <m:r>
                                        <a:rPr lang="bg-BG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=19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bg-BG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7,5 </m:t>
                                      </m:r>
                                      <m:r>
                                        <a:rPr lang="bg-BG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=19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bg-BG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bg-BG" sz="24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9</m:t>
                                            </m:r>
                                            <m:r>
                                              <a:rPr lang="bg-BG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1 </m:t>
                                            </m:r>
                                            <m:r>
                                              <a:rPr lang="bg-BG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=19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9</m:t>
                                            </m:r>
                                            <m:r>
                                              <a:rPr lang="bg-BG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9,9 </m:t>
                                            </m:r>
                                            <m:r>
                                              <a:rPr lang="bg-BG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200</m:t>
                                            </m:r>
                                            <m:r>
                                              <a:rPr lang="bg-BG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bg-BG" sz="2400" i="1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9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201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11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202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299" y="2005007"/>
                <a:ext cx="3265770" cy="29969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376289" y="2005007"/>
                <a:ext cx="3365867" cy="287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950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1960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1970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980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990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020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,2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5,3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5,9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7,5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9,1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9,9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10,7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11,4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289" y="2005007"/>
                <a:ext cx="3365867" cy="28786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1269760" y="3198167"/>
            <a:ext cx="9222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A.X=B</a:t>
            </a:r>
            <a:endParaRPr lang="bg-BG" sz="2400" dirty="0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E2E62-AECF-4FC1-B8AA-F1B11FF81811}"/>
              </a:ext>
            </a:extLst>
          </p:cNvPr>
          <p:cNvSpPr txBox="1"/>
          <p:nvPr/>
        </p:nvSpPr>
        <p:spPr>
          <a:xfrm>
            <a:off x="7993625" y="1655339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bg-B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8FD027-32C0-4E4A-A356-E6CA599E20CF}"/>
              </a:ext>
            </a:extLst>
          </p:cNvPr>
          <p:cNvSpPr txBox="1"/>
          <p:nvPr/>
        </p:nvSpPr>
        <p:spPr>
          <a:xfrm>
            <a:off x="9059222" y="2828835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  <a:endParaRPr lang="bg-B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DB858-B486-4674-8629-78492FC72D14}"/>
              </a:ext>
            </a:extLst>
          </p:cNvPr>
          <p:cNvSpPr txBox="1"/>
          <p:nvPr/>
        </p:nvSpPr>
        <p:spPr>
          <a:xfrm>
            <a:off x="10004725" y="1635675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1691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17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415396" y="759425"/>
            <a:ext cx="938553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5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Възниква необходимостта от решаване на система линейни уравнения, в която броят на уравненията е по-голям от броя на неизвестните. В съответствие с метода на най-малките квадрати е необходимо матрицата А да се транспонира и да се умножат отляво дясната и лявата част на системата. В резултат на това действие се получава квадратна система линейни алгебрични уравнения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915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18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32000" y="546625"/>
                <a:ext cx="10160000" cy="8217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buFont typeface="+mj-lt"/>
                  <a:buAutoNum type="arabicPeriod"/>
                </a:pPr>
                <a:r>
                  <a:rPr lang="bg-BG" sz="2400" dirty="0"/>
                  <a:t>Намира се транспонираната матрица на матрица А ( А</a:t>
                </a:r>
                <a:r>
                  <a:rPr lang="bg-BG" sz="2400" baseline="30000" dirty="0"/>
                  <a:t>Т</a:t>
                </a:r>
                <a:r>
                  <a:rPr lang="bg-BG" sz="2400" dirty="0"/>
                  <a:t> )</a:t>
                </a:r>
              </a:p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buFont typeface="+mj-lt"/>
                  <a:buAutoNum type="arabicPeriod"/>
                </a:pPr>
                <a:r>
                  <a:rPr lang="bg-BG" sz="2400" dirty="0"/>
                  <a:t>Умножават  се отляво двете страни на утавнението с транспонираната матрица А</a:t>
                </a:r>
                <a:r>
                  <a:rPr lang="bg-BG" sz="2400" baseline="30000" dirty="0"/>
                  <a:t>Т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bg-BG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bg-BG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bg-BG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bg-BG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buFont typeface="+mj-lt"/>
                  <a:buAutoNum type="arabicPeriod" startAt="3"/>
                </a:pPr>
                <a:r>
                  <a:rPr lang="bg-BG" sz="2400" dirty="0"/>
                  <a:t>Изчислява се детерминантата на матрица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buFont typeface="+mj-lt"/>
                  <a:buAutoNum type="arabicPeriod" startAt="3"/>
                </a:pPr>
                <a:r>
                  <a:rPr lang="bg-BG" sz="2400" dirty="0"/>
                  <a:t>Ако детерминантата е различна от 0, тогва:</a:t>
                </a:r>
              </a:p>
              <a:p>
                <a:pPr marL="0" lvl="1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</a:pPr>
                <a:r>
                  <a:rPr lang="bg-BG" sz="2400" dirty="0">
                    <a:solidFill>
                      <a:schemeClr val="accent1">
                        <a:lumMod val="75000"/>
                      </a:schemeClr>
                    </a:solidFill>
                  </a:rPr>
                  <a:t>	4.1.  </a:t>
                </a:r>
                <a:r>
                  <a:rPr lang="bg-BG" sz="2400" dirty="0"/>
                  <a:t>Намира се обратната матрица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bg-BG" sz="2400" dirty="0"/>
              </a:p>
              <a:p>
                <a:pPr marL="0" lvl="1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</a:pPr>
                <a:r>
                  <a:rPr lang="bg-BG" sz="2400" baseline="3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	</a:t>
                </a:r>
                <a:r>
                  <a:rPr lang="bg-BG" sz="2400" dirty="0">
                    <a:solidFill>
                      <a:schemeClr val="accent1">
                        <a:lumMod val="75000"/>
                      </a:schemeClr>
                    </a:solidFill>
                  </a:rPr>
                  <a:t>4.2. </a:t>
                </a:r>
                <a:r>
                  <a:rPr lang="bg-BG" sz="2400" dirty="0">
                    <a:solidFill>
                      <a:schemeClr val="tx1"/>
                    </a:solidFill>
                  </a:rPr>
                  <a:t>Умножава се обратната матрица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bg-BG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bg-BG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bg-BG" sz="2400" dirty="0">
                    <a:solidFill>
                      <a:schemeClr val="tx1"/>
                    </a:solidFill>
                  </a:rPr>
                  <a:t> с матрица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rPr>
                          <m:t> </m:t>
                        </m:r>
                      </m:e>
                    </m:d>
                  </m:oMath>
                </a14:m>
                <a:r>
                  <a:rPr lang="bg-BG" sz="2400" dirty="0">
                    <a:solidFill>
                      <a:schemeClr val="tx1"/>
                    </a:solidFill>
                  </a:rPr>
                  <a:t> и се получава матрица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X</a:t>
                </a:r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:r>
                  <a:rPr lang="bg-BG" sz="2400" dirty="0">
                    <a:solidFill>
                      <a:schemeClr val="tx1"/>
                    </a:solidFill>
                  </a:rPr>
                  <a:t>която съдържа стойностите на коефициентите </a:t>
                </a:r>
                <a:r>
                  <a:rPr lang="en-US" sz="2400" dirty="0">
                    <a:solidFill>
                      <a:schemeClr val="tx1"/>
                    </a:solidFill>
                  </a:rPr>
                  <a:t>a </a:t>
                </a:r>
                <a:r>
                  <a:rPr lang="bg-BG" sz="2400" dirty="0">
                    <a:solidFill>
                      <a:schemeClr val="tx1"/>
                    </a:solidFill>
                  </a:rPr>
                  <a:t>и </a:t>
                </a:r>
                <a:r>
                  <a:rPr lang="en-US" sz="2400" dirty="0">
                    <a:solidFill>
                      <a:schemeClr val="tx1"/>
                    </a:solidFill>
                  </a:rPr>
                  <a:t>b.</a:t>
                </a:r>
              </a:p>
              <a:p>
                <a:pPr marL="0" lvl="1" algn="ctr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</a:pPr>
                <a14:m>
                  <m:oMath xmlns:m="http://schemas.openxmlformats.org/officeDocument/2006/math">
                    <m:r>
                      <a:rPr lang="en-US" sz="2600" b="1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bg-BG" sz="2600" b="1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p>
                                <m: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bg-BG" sz="260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  <m:sup>
                        <m:r>
                          <a:rPr lang="bg-BG" sz="2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bg-BG" sz="26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600" b="1" dirty="0">
                    <a:solidFill>
                      <a:schemeClr val="tx1"/>
                    </a:solidFill>
                  </a:rPr>
                  <a:t>.</a:t>
                </a:r>
                <a:r>
                  <a:rPr lang="bg-BG" sz="2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bg-BG" sz="2600" b="1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bg-BG" sz="2600" b="1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1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600" b="1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sz="2600" b="1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600" b="1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m:rPr>
                            <m:nor/>
                          </m:rPr>
                          <a:rPr lang="en-US" sz="2600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rPr>
                          <m:t> </m:t>
                        </m:r>
                      </m:e>
                    </m:d>
                  </m:oMath>
                </a14:m>
                <a:endParaRPr lang="bg-BG" sz="2600" b="1" dirty="0">
                  <a:solidFill>
                    <a:schemeClr val="tx1"/>
                  </a:solidFill>
                </a:endParaRPr>
              </a:p>
              <a:p>
                <a:pPr marL="0" lvl="1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</a:pPr>
                <a:endParaRPr lang="bg-BG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 startAt="3"/>
                </a:pPr>
                <a:endParaRPr lang="bg-BG" sz="2400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 startAt="3"/>
                </a:pPr>
                <a:endParaRPr lang="bg-BG" sz="2400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 startAt="3"/>
                </a:pPr>
                <a:endParaRPr lang="bg-BG" sz="2400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 startAt="3"/>
                </a:pPr>
                <a:endParaRPr lang="bg-BG" sz="2400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546625"/>
                <a:ext cx="10160000" cy="8217634"/>
              </a:xfrm>
              <a:prstGeom prst="rect">
                <a:avLst/>
              </a:prstGeom>
              <a:blipFill>
                <a:blip r:embed="rId4"/>
                <a:stretch>
                  <a:fillRect l="-900" r="-9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03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19</a:t>
            </a:fld>
            <a:endParaRPr 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364"/>
            <a:ext cx="12192000" cy="38581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795637" y="5636568"/>
                <a:ext cx="241320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637" y="5636568"/>
                <a:ext cx="2413202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249C3478-7225-15E6-4AF5-76E00B71F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535" y="4516582"/>
            <a:ext cx="4365231" cy="234141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7599218" y="6000018"/>
            <a:ext cx="3282577" cy="312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7614290" y="5985424"/>
            <a:ext cx="3966752" cy="61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ово поле 12">
            <a:extLst>
              <a:ext uri="{FF2B5EF4-FFF2-40B4-BE49-F238E27FC236}">
                <a16:creationId xmlns:a16="http://schemas.microsoft.com/office/drawing/2014/main" id="{96C927E3-9716-F719-CBCD-DDF71BB08B91}"/>
              </a:ext>
            </a:extLst>
          </p:cNvPr>
          <p:cNvSpPr txBox="1"/>
          <p:nvPr/>
        </p:nvSpPr>
        <p:spPr>
          <a:xfrm>
            <a:off x="1731817" y="109668"/>
            <a:ext cx="8289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bg-BG" sz="2400" b="1" i="0" u="none" strike="noStrike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прокцимация</a:t>
            </a:r>
            <a:r>
              <a:rPr lang="bg-BG" sz="2400" b="1" i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с полином от първа степен - </a:t>
            </a:r>
            <a:endParaRPr lang="bg-BG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F587F507-356E-1836-1F21-BE8D32A34E70}"/>
                  </a:ext>
                </a:extLst>
              </p:cNvPr>
              <p:cNvSpPr/>
              <p:nvPr/>
            </p:nvSpPr>
            <p:spPr>
              <a:xfrm>
                <a:off x="7805201" y="111812"/>
                <a:ext cx="241320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F587F507-356E-1836-1F21-BE8D32A34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201" y="111812"/>
                <a:ext cx="2413202" cy="461665"/>
              </a:xfrm>
              <a:prstGeom prst="rect">
                <a:avLst/>
              </a:prstGeom>
              <a:blipFill>
                <a:blip r:embed="rId5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446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20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954378" y="0"/>
            <a:ext cx="1017188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400" b="1" i="1" dirty="0"/>
              <a:t>Източници на грешки</a:t>
            </a:r>
          </a:p>
          <a:p>
            <a:pPr indent="540000" algn="just">
              <a:lnSpc>
                <a:spcPct val="150000"/>
              </a:lnSpc>
              <a:spcAft>
                <a:spcPts val="0"/>
              </a:spcAft>
            </a:pPr>
            <a:r>
              <a:rPr lang="bg-BG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Съществуват три източника на грешки при решаване на линейни системи уравнения. </a:t>
            </a: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Първият вид се дължи на грешки в коефициентите на А и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b,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тъй като данните са емпирични. </a:t>
            </a: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Вторият източник на грешки са тези от закръгляване при пресмятанията. </a:t>
            </a: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 третият източник е грешката от прекъсване. </a:t>
            </a:r>
          </a:p>
          <a:p>
            <a:pPr indent="540000" algn="just">
              <a:lnSpc>
                <a:spcPct val="150000"/>
              </a:lnSpc>
              <a:buClr>
                <a:schemeClr val="accent2">
                  <a:lumMod val="75000"/>
                </a:schemeClr>
              </a:buClr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 итерационни методи броят на итерациите не може да бъде безкрайно голям, което налага прекъсване на итерационния процес на някакъв етап. Грешката от прекъсване е почти винаги второстепенен източник на грешки.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392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21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32000" y="479682"/>
                <a:ext cx="9802905" cy="61177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40000" algn="just">
                  <a:lnSpc>
                    <a:spcPct val="150000"/>
                  </a:lnSpc>
                </a:pP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Голямата стойност на някои от елементите на матрица [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en-US" sz="2400" baseline="3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T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]</a:t>
                </a:r>
                <a:r>
                  <a:rPr lang="ru-RU" sz="2400" baseline="3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31526000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15880)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показва лошата обусловеност, а оттам и влошени оценки за оценяваните параметри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Поради тази причина някои автори предлагат да се вземат мерки за подобряване на обусловеността. </a:t>
                </a:r>
              </a:p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За конкретната задача може да се предложи предварително годините на провеждане на преброяванията да не участват в модела, а техните стойности намалени с 1950. Тогава най-големият елемент на 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матрица [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en-US" sz="2400" baseline="3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T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]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има стойност 14000.</a:t>
                </a:r>
              </a:p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Моделът в този случай добива вида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=0,1083.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−1950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+4,2083</m:t>
                    </m:r>
                  </m:oMath>
                </a14:m>
                <a:endParaRPr lang="bg-BG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479682"/>
                <a:ext cx="9802905" cy="6117765"/>
              </a:xfrm>
              <a:prstGeom prst="rect">
                <a:avLst/>
              </a:prstGeom>
              <a:blipFill>
                <a:blip r:embed="rId2"/>
                <a:stretch>
                  <a:fillRect l="-933" r="-99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138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22</a:t>
            </a:fld>
            <a:endParaRPr lang="bg-B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2032000" y="0"/>
                <a:ext cx="10160000" cy="58189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Друг вариант за подобряване на обусловеността е да се мащабират годините по формулата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−1985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т.е. данните са симетрично разположени спрямо началото на координатната система. Най-големият елемент на 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матрица [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en-US" sz="2400" baseline="3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T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ru-RU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]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има стойност 4200. Моделът в този случай добива вида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=0,1083.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−1985</m:t>
                        </m:r>
                      </m:e>
                    </m:d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8. </m:t>
                    </m:r>
                  </m:oMath>
                </a14:m>
                <a:endParaRPr lang="bg-BG" sz="2400" b="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indent="540000" algn="just">
                  <a:lnSpc>
                    <a:spcPct val="150000"/>
                  </a:lnSpc>
                </a:pPr>
                <a:endParaRPr lang="bg-BG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Реализира се проверка за достоверността на получените резултати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Пресмята се квадратичната грешка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-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и се прави оценка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-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0"/>
                <a:ext cx="10160000" cy="5818901"/>
              </a:xfrm>
              <a:prstGeom prst="rect">
                <a:avLst/>
              </a:prstGeom>
              <a:blipFill>
                <a:blip r:embed="rId2"/>
                <a:stretch>
                  <a:fillRect l="-900" r="-9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095129" y="5606684"/>
            <a:ext cx="2034173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39276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23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32000" y="2597542"/>
                <a:ext cx="9587753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Прави се оценка на населението през 1985, 2007 и прогноза за броя  на населението през 2024 година на база създадения модел (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=0,108333. </m:t>
                    </m:r>
                    <m:r>
                      <a:rPr lang="en-US" sz="2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−207,041667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2597542"/>
                <a:ext cx="9587753" cy="1754326"/>
              </a:xfrm>
              <a:prstGeom prst="rect">
                <a:avLst/>
              </a:prstGeom>
              <a:blipFill>
                <a:blip r:embed="rId2"/>
                <a:stretch>
                  <a:fillRect l="-954" r="-1017" b="-312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044" y="4443277"/>
            <a:ext cx="7106336" cy="1212758"/>
          </a:xfrm>
          <a:prstGeom prst="rect">
            <a:avLst/>
          </a:prstGeom>
        </p:spPr>
      </p:pic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D768775A-45AF-21A7-5DFE-B55DE4773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939" y="401402"/>
            <a:ext cx="10310193" cy="210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64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24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567543" y="-71572"/>
                <a:ext cx="10624457" cy="33492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/>
                  <a:t>Прави впечатление лошата оценка на броя на населението. Причината за това е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избраният</a:t>
                </a:r>
                <a:r>
                  <a:rPr lang="bg-BG" sz="2400" dirty="0"/>
                  <a:t> математически модел. За подобряване на резултатите се присъпва към  увеличаване на реда на модела. Избира се полином от втора степен, а след това и полином от трета степен за решаване на поставената задача.</a:t>
                </a:r>
              </a:p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/>
                  <a:t>Полином от втора степен </a:t>
                </a:r>
                <a:r>
                  <a:rPr lang="en-US" sz="2400" dirty="0"/>
                  <a:t>-</a:t>
                </a:r>
                <a:r>
                  <a:rPr lang="bg-BG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bg-BG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543" y="-71572"/>
                <a:ext cx="10624457" cy="3349250"/>
              </a:xfrm>
              <a:prstGeom prst="rect">
                <a:avLst/>
              </a:prstGeom>
              <a:blipFill>
                <a:blip r:embed="rId2"/>
                <a:stretch>
                  <a:fillRect l="-861" r="-918" b="-309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99115" y="3649586"/>
                <a:ext cx="3265770" cy="33808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bg-BG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bg-BG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bg-BG" sz="24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.1950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.1950+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1960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.1960+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bg-BG" sz="24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bg-BG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9 </m:t>
                                      </m:r>
                                      <m:r>
                                        <a:rPr lang="bg-BG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1970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.1970+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7,5 </m:t>
                                      </m:r>
                                      <m:r>
                                        <a:rPr lang="bg-BG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1980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.1980+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bg-BG" sz="24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9</m:t>
                                            </m:r>
                                            <m:r>
                                              <a:rPr lang="bg-BG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1 </m:t>
                                            </m:r>
                                            <m:r>
                                              <a:rPr lang="bg-BG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1990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.1990+</m:t>
                                            </m:r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9,9 </m:t>
                                            </m:r>
                                            <m:r>
                                              <a:rPr lang="bg-BG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2000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.2000+</m:t>
                                            </m:r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bg-BG" sz="2400" i="1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9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.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2010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.2010+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11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  <m:r>
                                                    <a:rPr lang="bg-BG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.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2020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sz="2400" i="1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.2020+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15" y="3649586"/>
                <a:ext cx="3265770" cy="3380862"/>
              </a:xfrm>
              <a:prstGeom prst="rect">
                <a:avLst/>
              </a:prstGeom>
              <a:blipFill>
                <a:blip r:embed="rId3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977374" y="4884377"/>
            <a:ext cx="789992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540000">
              <a:lnSpc>
                <a:spcPct val="150000"/>
              </a:lnSpc>
              <a:spcAft>
                <a:spcPts val="0"/>
              </a:spcAft>
            </a:pPr>
            <a:r>
              <a:rPr lang="bg-BG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или в матричен вид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                              </a:t>
            </a:r>
            <a:r>
              <a:rPr lang="bg-BG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или 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12597" y="3681612"/>
                <a:ext cx="4249655" cy="29036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40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950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1960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  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1970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2400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1980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1990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2000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2010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950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1960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1970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980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990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020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400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,2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400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5,3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5,9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7,5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9,1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9,9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10,9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11,4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597" y="3681612"/>
                <a:ext cx="4249655" cy="2903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1352491" y="5550168"/>
            <a:ext cx="9222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A.X=B</a:t>
            </a:r>
            <a:endParaRPr lang="bg-BG" sz="2400" dirty="0"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51B04-CDF3-437F-A866-66DF902F3815}"/>
              </a:ext>
            </a:extLst>
          </p:cNvPr>
          <p:cNvSpPr txBox="1"/>
          <p:nvPr/>
        </p:nvSpPr>
        <p:spPr>
          <a:xfrm>
            <a:off x="7790779" y="3332101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bg-B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79D354-9BAA-4A1D-A460-2C9DFEBDF138}"/>
              </a:ext>
            </a:extLst>
          </p:cNvPr>
          <p:cNvSpPr txBox="1"/>
          <p:nvPr/>
        </p:nvSpPr>
        <p:spPr>
          <a:xfrm>
            <a:off x="9395576" y="4403252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  <a:endParaRPr lang="bg-B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36DF7E-E8B1-477F-984A-9DCE24D0FB3B}"/>
              </a:ext>
            </a:extLst>
          </p:cNvPr>
          <p:cNvSpPr txBox="1"/>
          <p:nvPr/>
        </p:nvSpPr>
        <p:spPr>
          <a:xfrm>
            <a:off x="10417758" y="3332101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36508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25</a:t>
            </a:fld>
            <a:endParaRPr lang="bg-BG" dirty="0"/>
          </a:p>
        </p:txBody>
      </p:sp>
      <p:sp>
        <p:nvSpPr>
          <p:cNvPr id="13" name="Текстово поле 12">
            <a:extLst>
              <a:ext uri="{FF2B5EF4-FFF2-40B4-BE49-F238E27FC236}">
                <a16:creationId xmlns:a16="http://schemas.microsoft.com/office/drawing/2014/main" id="{96C927E3-9716-F719-CBCD-DDF71BB08B91}"/>
              </a:ext>
            </a:extLst>
          </p:cNvPr>
          <p:cNvSpPr txBox="1"/>
          <p:nvPr/>
        </p:nvSpPr>
        <p:spPr>
          <a:xfrm>
            <a:off x="1731817" y="109668"/>
            <a:ext cx="8289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bg-BG" sz="2400" b="1" i="0" u="none" strike="noStrike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прокцимация</a:t>
            </a:r>
            <a:r>
              <a:rPr lang="bg-BG" sz="2400" b="1" i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с полином от втора степен - </a:t>
            </a:r>
            <a:endParaRPr lang="bg-BG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F587F507-356E-1836-1F21-BE8D32A34E70}"/>
                  </a:ext>
                </a:extLst>
              </p:cNvPr>
              <p:cNvSpPr/>
              <p:nvPr/>
            </p:nvSpPr>
            <p:spPr>
              <a:xfrm>
                <a:off x="7805201" y="111812"/>
                <a:ext cx="307659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F587F507-356E-1836-1F21-BE8D32A34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201" y="111812"/>
                <a:ext cx="3076594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20914F98-6210-4712-618C-E7BF577D1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9" y="1384118"/>
            <a:ext cx="12192000" cy="3187872"/>
          </a:xfrm>
          <a:prstGeom prst="rect">
            <a:avLst/>
          </a:prstGeom>
        </p:spPr>
      </p:pic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C233AE4E-FF13-40EA-A187-D7F21B074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498109"/>
            <a:ext cx="5397500" cy="2367675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522C0644-7949-BFD6-6B46-E62BB4FE6CC6}"/>
              </a:ext>
            </a:extLst>
          </p:cNvPr>
          <p:cNvSpPr/>
          <p:nvPr/>
        </p:nvSpPr>
        <p:spPr>
          <a:xfrm>
            <a:off x="66822" y="525888"/>
            <a:ext cx="12092033" cy="937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2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След решаване на горната система, като се спазва същата последователност на решение, се получават следните резултати:</a:t>
            </a:r>
          </a:p>
        </p:txBody>
      </p:sp>
    </p:spTree>
    <p:extLst>
      <p:ext uri="{BB962C8B-B14F-4D97-AF65-F5344CB8AC3E}">
        <p14:creationId xmlns:p14="http://schemas.microsoft.com/office/powerpoint/2010/main" val="3059664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26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32000" y="2597542"/>
                <a:ext cx="9587753" cy="16872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540000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Прави се оценка на населението през 1985, 2007 и прогноза за броя  на населението през 2024 година на база създадения модел (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bg-BG" sz="2400"/>
                      <m:t>−0,00030952</m:t>
                    </m:r>
                    <m:r>
                      <a:rPr lang="en-US" sz="2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bg-BG" sz="2400"/>
                      <m:t>1,33714288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bg-BG" sz="2400"/>
                      <m:t>−1426,47264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2597542"/>
                <a:ext cx="9587753" cy="1687257"/>
              </a:xfrm>
              <a:prstGeom prst="rect">
                <a:avLst/>
              </a:prstGeom>
              <a:blipFill>
                <a:blip r:embed="rId2"/>
                <a:stretch>
                  <a:fillRect l="-954" r="-1017" b="-722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3CF748EA-6C65-9B48-4329-998D8AA1A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604" y="297189"/>
            <a:ext cx="10080613" cy="2167082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C1CACD35-EA1C-89B0-50DA-151FA150B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940" y="4393730"/>
            <a:ext cx="7838208" cy="108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1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27</a:t>
            </a:fld>
            <a:endParaRPr lang="bg-BG" dirty="0"/>
          </a:p>
        </p:txBody>
      </p:sp>
      <p:sp>
        <p:nvSpPr>
          <p:cNvPr id="13" name="Текстово поле 12">
            <a:extLst>
              <a:ext uri="{FF2B5EF4-FFF2-40B4-BE49-F238E27FC236}">
                <a16:creationId xmlns:a16="http://schemas.microsoft.com/office/drawing/2014/main" id="{96C927E3-9716-F719-CBCD-DDF71BB08B91}"/>
              </a:ext>
            </a:extLst>
          </p:cNvPr>
          <p:cNvSpPr txBox="1"/>
          <p:nvPr/>
        </p:nvSpPr>
        <p:spPr>
          <a:xfrm>
            <a:off x="1731817" y="109668"/>
            <a:ext cx="8289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bg-BG" sz="2400" b="1" i="0" u="none" strike="noStrike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прокцимация</a:t>
            </a:r>
            <a:r>
              <a:rPr lang="bg-BG" sz="2400" b="1" i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с полином от трета степен - </a:t>
            </a:r>
            <a:endParaRPr lang="bg-BG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F587F507-356E-1836-1F21-BE8D32A34E70}"/>
                  </a:ext>
                </a:extLst>
              </p:cNvPr>
              <p:cNvSpPr/>
              <p:nvPr/>
            </p:nvSpPr>
            <p:spPr>
              <a:xfrm>
                <a:off x="7805201" y="111812"/>
                <a:ext cx="400810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bg-BG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F587F507-356E-1836-1F21-BE8D32A34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201" y="111812"/>
                <a:ext cx="4008108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46385B88-B2AC-EFBE-2A1B-0D213227D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611"/>
            <a:ext cx="12192000" cy="3565643"/>
          </a:xfrm>
          <a:prstGeom prst="rect">
            <a:avLst/>
          </a:prstGeom>
        </p:spPr>
      </p:pic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B87C8694-FEB1-39CA-026C-47BEDBBAC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631" y="4200515"/>
            <a:ext cx="5419189" cy="2633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00C02C2-2559-138D-C578-437366566213}"/>
                  </a:ext>
                </a:extLst>
              </p:cNvPr>
              <p:cNvSpPr/>
              <p:nvPr/>
            </p:nvSpPr>
            <p:spPr>
              <a:xfrm>
                <a:off x="-1274618" y="4538945"/>
                <a:ext cx="6428509" cy="22093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1950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19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19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19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200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201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eqAr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950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1960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  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1970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>
                                                              <a:lumMod val="95000"/>
                                                              <a:lumOff val="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1980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1990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2000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2020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950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1960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1970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980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990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020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b="0" i="1" smtClean="0">
                                                    <a:solidFill>
                                                      <a:schemeClr val="tx1">
                                                        <a:lumMod val="95000"/>
                                                        <a:lumOff val="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,2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>
                                                          <a:lumMod val="95000"/>
                                                          <a:lumOff val="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5,3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5,9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b="0" i="1" smtClean="0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7,5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9,1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9,9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10,9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11,4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00C02C2-2559-138D-C578-437366566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18" y="4538945"/>
                <a:ext cx="6428509" cy="22093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7">
            <a:extLst>
              <a:ext uri="{FF2B5EF4-FFF2-40B4-BE49-F238E27FC236}">
                <a16:creationId xmlns:a16="http://schemas.microsoft.com/office/drawing/2014/main" id="{4F13740F-7E10-934C-7A8A-B6B17340F802}"/>
              </a:ext>
            </a:extLst>
          </p:cNvPr>
          <p:cNvSpPr txBox="1"/>
          <p:nvPr/>
        </p:nvSpPr>
        <p:spPr>
          <a:xfrm>
            <a:off x="913994" y="4131352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bg-BG" dirty="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D2640903-8216-5C89-6465-4627B13853DA}"/>
              </a:ext>
            </a:extLst>
          </p:cNvPr>
          <p:cNvSpPr txBox="1"/>
          <p:nvPr/>
        </p:nvSpPr>
        <p:spPr>
          <a:xfrm>
            <a:off x="2567236" y="4780990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  <a:endParaRPr lang="bg-BG" dirty="0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1ABA4BBA-51C8-E759-4BB3-84E0E12D9009}"/>
              </a:ext>
            </a:extLst>
          </p:cNvPr>
          <p:cNvSpPr txBox="1"/>
          <p:nvPr/>
        </p:nvSpPr>
        <p:spPr>
          <a:xfrm>
            <a:off x="3352500" y="4185064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32223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28</a:t>
            </a:fld>
            <a:endParaRPr lang="bg-BG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095129" y="5606684"/>
            <a:ext cx="2034173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95563" y="88733"/>
                <a:ext cx="8591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bg-BG" sz="2400" dirty="0"/>
                  <a:t>Модел - полином от трета степен </a:t>
                </a:r>
                <a:r>
                  <a:rPr lang="en-US" sz="2400" dirty="0"/>
                  <a:t>-</a:t>
                </a:r>
                <a:r>
                  <a:rPr lang="bg-BG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bg-BG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bg-BG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bg-BG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bg-BG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63" y="88733"/>
                <a:ext cx="8591776" cy="461665"/>
              </a:xfrm>
              <a:prstGeom prst="rect">
                <a:avLst/>
              </a:prstGeom>
              <a:blipFill>
                <a:blip r:embed="rId2"/>
                <a:stretch>
                  <a:fillRect l="-1064" t="-12000" b="-2933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035132" y="4301907"/>
            <a:ext cx="11042203" cy="100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30000"/>
              </a:lnSpc>
              <a:spcAft>
                <a:spcPts val="0"/>
              </a:spcAft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Анализът на оценките и квадратичната грешка е в полза на модела от трети ред.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5132" y="5193594"/>
            <a:ext cx="11042203" cy="168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50000"/>
              </a:lnSpc>
              <a:spcAft>
                <a:spcPts val="0"/>
              </a:spcAft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 зависимост от характера и особеностите на решаваните задачи за оценка на параметри могат да се използват и други модели (логаритмичен, експоненциален и др.)</a:t>
            </a:r>
          </a:p>
        </p:txBody>
      </p:sp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FCB80245-4445-0FB2-6D59-1302C975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99" y="716517"/>
            <a:ext cx="9789885" cy="2349956"/>
          </a:xfrm>
          <a:prstGeom prst="rect">
            <a:avLst/>
          </a:prstGeom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FC6C6E5C-1D8B-01A7-E523-7162478B2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911" y="3178403"/>
            <a:ext cx="5381625" cy="117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76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29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3071178" y="75934"/>
            <a:ext cx="6322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bg-BG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Графична </a:t>
            </a:r>
            <a:r>
              <a:rPr lang="bg-BG" sz="2400" b="1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полиномиална</a:t>
            </a:r>
            <a:r>
              <a:rPr lang="bg-BG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апроксимация</a:t>
            </a:r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26449193-7E4E-B45C-E033-429A0CD7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1" y="524417"/>
            <a:ext cx="5704464" cy="34575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B2CBA4AB-C506-EED7-9A14-15F71D500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637" y="524417"/>
            <a:ext cx="6003637" cy="34575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8BD10F6E-AB4C-BC1A-E19F-8A4ECD336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455" y="4055825"/>
            <a:ext cx="8629650" cy="27744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02643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52FE0A421B3E24B9DDFC266E10EBE04" ma:contentTypeVersion="3" ma:contentTypeDescription="Създаване на нов документ" ma:contentTypeScope="" ma:versionID="f38fa733cd6769631e002a4dea7fc2ba">
  <xsd:schema xmlns:xsd="http://www.w3.org/2001/XMLSchema" xmlns:xs="http://www.w3.org/2001/XMLSchema" xmlns:p="http://schemas.microsoft.com/office/2006/metadata/properties" xmlns:ns2="410f8adb-773f-4384-aa9e-8e184e0fd10d" targetNamespace="http://schemas.microsoft.com/office/2006/metadata/properties" ma:root="true" ma:fieldsID="91cf59770634e4cf72f9d8d766704a06" ns2:_="">
    <xsd:import namespace="410f8adb-773f-4384-aa9e-8e184e0fd1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f8adb-773f-4384-aa9e-8e184e0fd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8AFE0D-40A6-4FA6-A7A2-DD8FBEF8DD4F}"/>
</file>

<file path=customXml/itemProps2.xml><?xml version="1.0" encoding="utf-8"?>
<ds:datastoreItem xmlns:ds="http://schemas.openxmlformats.org/officeDocument/2006/customXml" ds:itemID="{2200B03F-3A9B-4A5C-8F83-704599553CA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BF75550-EE09-42A5-A3C1-4B28B1DE4D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8918</TotalTime>
  <Words>2484</Words>
  <Application>Microsoft Office PowerPoint</Application>
  <PresentationFormat>Широк екран</PresentationFormat>
  <Paragraphs>180</Paragraphs>
  <Slides>29</Slides>
  <Notes>15</Notes>
  <HiddenSlides>0</HiddenSlides>
  <MMClips>0</MMClips>
  <ScaleCrop>false</ScaleCrop>
  <HeadingPairs>
    <vt:vector size="8" baseType="variant">
      <vt:variant>
        <vt:lpstr>Използвани шрифтове</vt:lpstr>
      </vt:variant>
      <vt:variant>
        <vt:i4>7</vt:i4>
      </vt:variant>
      <vt:variant>
        <vt:lpstr>Тема</vt:lpstr>
      </vt:variant>
      <vt:variant>
        <vt:i4>1</vt:i4>
      </vt:variant>
      <vt:variant>
        <vt:lpstr>Вградени OLE сървъри</vt:lpstr>
      </vt:variant>
      <vt:variant>
        <vt:i4>1</vt:i4>
      </vt:variant>
      <vt:variant>
        <vt:lpstr>Заглавия на слайдовете</vt:lpstr>
      </vt:variant>
      <vt:variant>
        <vt:i4>29</vt:i4>
      </vt:variant>
    </vt:vector>
  </HeadingPairs>
  <TitlesOfParts>
    <vt:vector size="38" baseType="lpstr">
      <vt:lpstr>Arial</vt:lpstr>
      <vt:lpstr>Calibri</vt:lpstr>
      <vt:lpstr>Cambria</vt:lpstr>
      <vt:lpstr>Cambria Math</vt:lpstr>
      <vt:lpstr>Rockwell</vt:lpstr>
      <vt:lpstr>Rockwell Condensed</vt:lpstr>
      <vt:lpstr>Wingdings</vt:lpstr>
      <vt:lpstr>Wood Type</vt:lpstr>
      <vt:lpstr>Equation</vt:lpstr>
      <vt:lpstr>Апроксимиране на функции.  Основни класове апроксимиращи функции.  Метод на най-малките квадрати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СИСТЕМЕН АНАЛИЗ</dc:title>
  <dc:creator>Windows User</dc:creator>
  <cp:lastModifiedBy>Maya</cp:lastModifiedBy>
  <cp:revision>203</cp:revision>
  <cp:lastPrinted>2022-10-12T07:31:50Z</cp:lastPrinted>
  <dcterms:created xsi:type="dcterms:W3CDTF">2022-08-03T05:13:19Z</dcterms:created>
  <dcterms:modified xsi:type="dcterms:W3CDTF">2023-11-18T09:49:53Z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0x010100452FE0A421B3E24B9DDFC266E10EBE04</vt:lpwstr>
  </property>
</Properties>
</file>
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1"/>
  </p:notesMasterIdLst>
  <p:handoutMasterIdLst>
    <p:handoutMasterId r:id="rId42"/>
  </p:handoutMasterIdLst>
  <p:sldIdLst>
    <p:sldId id="256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95" r:id="rId13"/>
    <p:sldId id="266" r:id="rId14"/>
    <p:sldId id="267" r:id="rId15"/>
    <p:sldId id="268" r:id="rId16"/>
    <p:sldId id="296" r:id="rId17"/>
    <p:sldId id="297" r:id="rId18"/>
    <p:sldId id="298" r:id="rId19"/>
    <p:sldId id="269" r:id="rId20"/>
    <p:sldId id="299" r:id="rId21"/>
    <p:sldId id="270" r:id="rId22"/>
    <p:sldId id="271" r:id="rId23"/>
    <p:sldId id="272" r:id="rId24"/>
    <p:sldId id="273" r:id="rId25"/>
    <p:sldId id="274" r:id="rId26"/>
    <p:sldId id="300" r:id="rId27"/>
    <p:sldId id="275" r:id="rId28"/>
    <p:sldId id="276" r:id="rId29"/>
    <p:sldId id="277" r:id="rId30"/>
    <p:sldId id="279" r:id="rId31"/>
    <p:sldId id="308" r:id="rId32"/>
    <p:sldId id="309" r:id="rId33"/>
    <p:sldId id="310" r:id="rId34"/>
    <p:sldId id="280" r:id="rId35"/>
    <p:sldId id="281" r:id="rId36"/>
    <p:sldId id="304" r:id="rId37"/>
    <p:sldId id="306" r:id="rId38"/>
    <p:sldId id="284" r:id="rId39"/>
    <p:sldId id="307" r:id="rId40"/>
  </p:sldIdLst>
  <p:sldSz cx="12192000" cy="6858000"/>
  <p:notesSz cx="6954838" cy="93091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86816" autoAdjust="0"/>
  </p:normalViewPr>
  <p:slideViewPr>
    <p:cSldViewPr snapToGrid="0">
      <p:cViewPr varScale="1">
        <p:scale>
          <a:sx n="76" d="100"/>
          <a:sy n="76" d="100"/>
        </p:scale>
        <p:origin x="-84" y="-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3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DAF501-497E-4319-B484-C5A85BB3EFD3}" type="datetimeFigureOut">
              <a:rPr lang="bg-BG" smtClean="0"/>
              <a:t>16.10.2023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35249C7-B5B2-4541-A187-B12F42083CB5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324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2A934B3-15CF-49D7-9C90-2FBDF446DA56}" type="datetimeFigureOut">
              <a:rPr lang="bg-BG" smtClean="0"/>
              <a:t>16.10.2023 г.</a:t>
            </a:fld>
            <a:endParaRPr lang="bg-B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bg-B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617F9B7-5110-4225-A395-C002DCB9697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27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0823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178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bg-BG" altLang="bg-BG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0691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0014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579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71731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44923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9305">
              <a:defRPr/>
            </a:pP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20302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90392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5371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18949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11493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5412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99193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23478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30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059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66B-2F7D-4199-A5CF-D1399F06B5CC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316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8BD3-AC58-47F1-B591-69906B5D74CE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84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6564442-4F9C-4117-9AC9-3C912B6DAF6E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bg-BG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54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2E6C9-D462-4DF8-8A5B-084EF99FCB92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004C-1449-4E25-B641-5BE18784B024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890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1725-AB21-4845-BE49-CE8C42164743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353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940C-92A6-42D4-A0AE-8AE229120CFF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30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4CA-5B7E-4437-926E-A34999B7E6C0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34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FBA-50AA-4558-ADC7-8C8BF6C03621}" type="datetime1">
              <a:rPr lang="bg-BG" smtClean="0"/>
              <a:t>16.10.2023 г.</a:t>
            </a:fld>
            <a:endParaRPr lang="bg-BG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75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01CF-14B7-42BE-8693-1C6A365ED97B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27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A9374-CC8C-4027-8C9C-D37ED427A6AE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53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C22829-1A03-43BA-AD1C-84AE46C99B1D}" type="datetime1">
              <a:rPr lang="bg-BG" smtClean="0"/>
              <a:t>16.10.2023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bg-BG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482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189" y="971490"/>
            <a:ext cx="10507579" cy="3957924"/>
          </a:xfrm>
        </p:spPr>
        <p:txBody>
          <a:bodyPr/>
          <a:lstStyle/>
          <a:p>
            <a:pPr algn="ctr"/>
            <a:r>
              <a:rPr lang="bg-BG" altLang="bg-BG" sz="4000" b="1" dirty="0"/>
              <a:t>Математическо програмиране. Линейно програмиране. Транспортна задача</a:t>
            </a:r>
            <a:endParaRPr lang="bg-BG"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22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8915" y="374511"/>
            <a:ext cx="9281160" cy="647047"/>
          </a:xfrm>
        </p:spPr>
        <p:txBody>
          <a:bodyPr>
            <a:normAutofit/>
          </a:bodyPr>
          <a:lstStyle/>
          <a:p>
            <a:pPr algn="ctr"/>
            <a:r>
              <a:rPr lang="bg-BG" altLang="bg-BG" sz="3000" b="1" dirty="0"/>
              <a:t>Математическо програмиране</a:t>
            </a:r>
            <a:endParaRPr lang="bg-BG" sz="30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5571" y="1042582"/>
            <a:ext cx="9774988" cy="4384078"/>
          </a:xfrm>
        </p:spPr>
        <p:txBody>
          <a:bodyPr>
            <a:normAutofit fontScale="92500"/>
          </a:bodyPr>
          <a:lstStyle/>
          <a:p>
            <a:pPr indent="457200" algn="just">
              <a:lnSpc>
                <a:spcPct val="170000"/>
              </a:lnSpc>
              <a:defRPr/>
            </a:pPr>
            <a:r>
              <a:rPr lang="bg-BG" altLang="bg-BG" sz="2600" dirty="0"/>
              <a:t>Областта от математиката, в която се разработва теорията и числените методи за решаване на екстремални задачи с ограничения, се нарича математическо програмиране. За разлика от класическата теория на екстремалните задачи основно внимание при математическото програмиране се отделя на задачите, свързани с ограничения в областта на изменение на променливите им.</a:t>
            </a:r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3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4232" y="1122947"/>
            <a:ext cx="9095827" cy="3775624"/>
          </a:xfrm>
        </p:spPr>
        <p:txBody>
          <a:bodyPr>
            <a:normAutofit lnSpcReduction="10000"/>
          </a:bodyPr>
          <a:lstStyle/>
          <a:p>
            <a:pPr indent="457200" algn="just">
              <a:lnSpc>
                <a:spcPct val="170000"/>
              </a:lnSpc>
              <a:defRPr/>
            </a:pPr>
            <a:r>
              <a:rPr lang="bg-BG" altLang="bg-BG" sz="2400" dirty="0"/>
              <a:t>Независимо от разнообразието и съдържанието на задачите за планиране и управление, от математическа гледна точка могат да се обобщят и дефинират по следния начин: </a:t>
            </a:r>
            <a:r>
              <a:rPr lang="bg-BG" altLang="bg-BG" sz="2400" i="1" dirty="0"/>
              <a:t>да се определят стойностите на променливите, които удовлетворяват определена система уравнения или неравенства</a:t>
            </a:r>
            <a:r>
              <a:rPr lang="en-US" altLang="bg-BG" sz="2400" i="1" dirty="0"/>
              <a:t>,</a:t>
            </a:r>
            <a:r>
              <a:rPr lang="bg-BG" altLang="bg-BG" sz="2400" i="1" dirty="0"/>
              <a:t> при които дадена функция достига екстремум. </a:t>
            </a:r>
          </a:p>
          <a:p>
            <a:pPr indent="457200" algn="just">
              <a:lnSpc>
                <a:spcPct val="170000"/>
              </a:lnSpc>
              <a:defRPr/>
            </a:pPr>
            <a:endParaRPr lang="bg-BG" altLang="bg-BG" sz="2400" dirty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3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1727" y="884317"/>
            <a:ext cx="9561094" cy="4684295"/>
          </a:xfrm>
        </p:spPr>
        <p:txBody>
          <a:bodyPr>
            <a:normAutofit/>
          </a:bodyPr>
          <a:lstStyle/>
          <a:p>
            <a:pPr indent="512763" algn="just">
              <a:lnSpc>
                <a:spcPct val="150000"/>
              </a:lnSpc>
              <a:defRPr/>
            </a:pPr>
            <a:r>
              <a:rPr lang="bg-BG" sz="2400" dirty="0">
                <a:ea typeface="Times New Roman" panose="02020603050405020304" pitchFamily="18" charset="0"/>
              </a:rPr>
              <a:t>Ако в изследваната система се установи структура, която може да бъде описана математически (намира се математическия модел) и целта също може да се изрази количествено, то в този случай се използва един или друг изчислителен метод за избиране от всички алтернативи на най-добрия план за действие. Такова използване на математически модели се нарича математическо програмиране.</a:t>
            </a:r>
            <a:endParaRPr lang="bg-BG" altLang="bg-BG" sz="2400" dirty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3394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4601" y="1399732"/>
            <a:ext cx="8541803" cy="3991913"/>
          </a:xfrm>
        </p:spPr>
        <p:txBody>
          <a:bodyPr>
            <a:noAutofit/>
          </a:bodyPr>
          <a:lstStyle/>
          <a:p>
            <a:pPr indent="457200" algn="just">
              <a:lnSpc>
                <a:spcPct val="150000"/>
              </a:lnSpc>
              <a:defRPr/>
            </a:pPr>
            <a:r>
              <a:rPr lang="bg-BG" altLang="bg-BG" sz="2400" dirty="0"/>
              <a:t>Констатацията, че много икономически и производствени задачи могат да бъдат математически описани (макар и приблизително) с помощта на системи линейни неравенства и уравнения, съдейства за интензивното развитие на линейното програмиране. </a:t>
            </a:r>
          </a:p>
          <a:p>
            <a:pPr indent="457200" algn="just">
              <a:lnSpc>
                <a:spcPct val="150000"/>
              </a:lnSpc>
              <a:defRPr/>
            </a:pPr>
            <a:r>
              <a:rPr lang="bg-BG" altLang="bg-BG" sz="2400" dirty="0"/>
              <a:t> </a:t>
            </a:r>
          </a:p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1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210" y="619622"/>
            <a:ext cx="9711870" cy="5470358"/>
          </a:xfrm>
        </p:spPr>
        <p:txBody>
          <a:bodyPr>
            <a:normAutofit lnSpcReduction="10000"/>
          </a:bodyPr>
          <a:lstStyle/>
          <a:p>
            <a:pPr indent="465138" algn="just">
              <a:lnSpc>
                <a:spcPct val="150000"/>
              </a:lnSpc>
              <a:defRPr/>
            </a:pPr>
            <a:r>
              <a:rPr lang="bg-BG" altLang="bg-BG" sz="2400" dirty="0"/>
              <a:t>Оценката на качеството за функциониране на една система може да бъде изразена чрез различни показатели за качество. Ако системата е за автоматично регулиране, подходяща оценка е например бързодействието ѝ. Функционирането на едно съоръжение може да се оценява по неговата производителност, разход на материали и енергия и др. Показател за качеството на работа на една фирма може да бъде печалбата от производството и продажбата на един вид продукция, средната заплата на едно лице от персонала, разходите на материали и енергия и работно време за производството на единица продукция и др.</a:t>
            </a:r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4196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256674"/>
            <a:ext cx="9706574" cy="6079958"/>
          </a:xfrm>
        </p:spPr>
        <p:txBody>
          <a:bodyPr>
            <a:noAutofit/>
          </a:bodyPr>
          <a:lstStyle/>
          <a:p>
            <a:pPr indent="465138" algn="just">
              <a:lnSpc>
                <a:spcPct val="150000"/>
              </a:lnSpc>
              <a:defRPr/>
            </a:pPr>
            <a:r>
              <a:rPr lang="bg-BG" altLang="bg-BG" sz="2400" dirty="0"/>
              <a:t>В повечето случаи качеството на функциониране на една система може да се характеризира само с едно число, чиято стойност зависи от параметрите на системата:</a:t>
            </a:r>
            <a:endParaRPr lang="en-US" altLang="bg-BG" sz="2400" b="1" dirty="0"/>
          </a:p>
          <a:p>
            <a:pPr algn="just">
              <a:lnSpc>
                <a:spcPct val="150000"/>
              </a:lnSpc>
              <a:defRPr/>
            </a:pPr>
            <a:r>
              <a:rPr lang="bg-BG" altLang="bg-BG" sz="2400" b="1" dirty="0"/>
              <a:t>	</a:t>
            </a:r>
            <a:r>
              <a:rPr lang="en-US" altLang="bg-BG" sz="2400" b="1" dirty="0"/>
              <a:t>Q</a:t>
            </a:r>
            <a:r>
              <a:rPr lang="bg-BG" altLang="bg-BG" sz="2400" b="1" dirty="0"/>
              <a:t> = </a:t>
            </a:r>
            <a:r>
              <a:rPr lang="en-US" altLang="bg-BG" sz="2400" b="1" dirty="0"/>
              <a:t>Q</a:t>
            </a:r>
            <a:r>
              <a:rPr lang="bg-BG" altLang="bg-BG" sz="2400" b="1" dirty="0"/>
              <a:t>(</a:t>
            </a:r>
            <a:r>
              <a:rPr lang="en-US" altLang="bg-BG" sz="2400" b="1" dirty="0"/>
              <a:t>x</a:t>
            </a:r>
            <a:r>
              <a:rPr lang="bg-BG" altLang="bg-BG" sz="2400" b="1" dirty="0"/>
              <a:t>),</a:t>
            </a:r>
            <a:endParaRPr lang="bg-BG" altLang="bg-BG" sz="2400" dirty="0"/>
          </a:p>
          <a:p>
            <a:pPr algn="just">
              <a:lnSpc>
                <a:spcPct val="150000"/>
              </a:lnSpc>
              <a:defRPr/>
            </a:pPr>
            <a:r>
              <a:rPr lang="bg-BG" altLang="bg-BG" sz="2400" dirty="0"/>
              <a:t>където </a:t>
            </a:r>
            <a:r>
              <a:rPr lang="en-US" altLang="bg-BG" sz="2400" b="1" i="1" dirty="0"/>
              <a:t>x</a:t>
            </a:r>
            <a:r>
              <a:rPr lang="bg-BG" altLang="bg-BG" sz="2400" dirty="0"/>
              <a:t> в общия случай е </a:t>
            </a:r>
            <a:r>
              <a:rPr lang="en-US" altLang="bg-BG" sz="2400" b="1" i="1" dirty="0"/>
              <a:t>N</a:t>
            </a:r>
            <a:r>
              <a:rPr lang="bg-BG" altLang="bg-BG" sz="2400" dirty="0"/>
              <a:t>-мерна величина. Най-често срещаният случай е този, при който най-изгодният (оптимален) режим се получава при екстремна стойност на показателя за качеството </a:t>
            </a:r>
            <a:r>
              <a:rPr lang="en-US" altLang="bg-BG" sz="2400" b="1" i="1" dirty="0"/>
              <a:t>Q</a:t>
            </a:r>
            <a:r>
              <a:rPr lang="bg-BG" altLang="bg-BG" sz="2400" dirty="0"/>
              <a:t>. Желателно е параметрите да бъдат избрани по такъв начин, че да се получи максимална печалба или минимални разходи на материали и енергия.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bg-BG" altLang="bg-BG" sz="2400" dirty="0"/>
          </a:p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56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8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224506" y="352486"/>
            <a:ext cx="942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defRPr/>
            </a:pPr>
            <a:r>
              <a:rPr lang="bg-BG" altLang="bg-BG" sz="2400" dirty="0"/>
              <a:t>Една от първите и най-важни задачи, която трябва да се реши преди вземането на оптимално решение, е създаването на математически модел на обекта (проблема) и избор на алгоритъм за получаване на резултатите.</a:t>
            </a:r>
          </a:p>
          <a:p>
            <a:pPr indent="457200" algn="just">
              <a:lnSpc>
                <a:spcPct val="150000"/>
              </a:lnSpc>
              <a:defRPr/>
            </a:pPr>
            <a:r>
              <a:rPr lang="bg-BG" altLang="bg-BG" sz="2400" dirty="0"/>
              <a:t>Нека допуснем, че е съставен математически модел, в който е направен балансът за разходите на суровините, материалите и работните заплати. За повечето икономически задачи моделът представлява линейна система алгебрични уравнения от вида: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506" y="4876801"/>
            <a:ext cx="9967494" cy="198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90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851" y="125075"/>
            <a:ext cx="10580913" cy="647047"/>
          </a:xfrm>
        </p:spPr>
        <p:txBody>
          <a:bodyPr>
            <a:noAutofit/>
          </a:bodyPr>
          <a:lstStyle/>
          <a:p>
            <a:pPr algn="ctr"/>
            <a:r>
              <a:rPr lang="bg-BG" sz="3000" b="1" dirty="0"/>
              <a:t>Линейно програмиране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9185" y="627743"/>
            <a:ext cx="9999579" cy="5602514"/>
          </a:xfrm>
        </p:spPr>
        <p:txBody>
          <a:bodyPr>
            <a:noAutofit/>
          </a:bodyPr>
          <a:lstStyle/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bg-BG" sz="2400" dirty="0"/>
              <a:t>Линейното програмиране е свързано с описанието на взаимовръзките на съставните части на системата. За да стане модел на линейното програмиране, системата трябва да задоволи определени условия за линейност, неотрицателност и адитивност.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bg-BG" sz="2400" dirty="0"/>
              <a:t>Линейното програмиране притежава известна методология (подход към построяване на модели), която е приложима към широк клас задачи за вземане на решения, срещащи се в промишлеността, икономиката и техниката. Тази методика има най-обикновена математическа структура, която може да бъде използвана в тези сфери на дейност при практическото решаване на задачи свързани с планиране.</a:t>
            </a:r>
            <a:r>
              <a:rPr lang="bg-BG" dirty="0"/>
              <a:t> </a:t>
            </a:r>
            <a:endParaRPr lang="bg-BG" altLang="bg-BG" sz="2400" dirty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171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10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03664" y="0"/>
            <a:ext cx="1002037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r>
              <a:rPr lang="bg-BG" altLang="bg-BG" sz="2400" u="sng" dirty="0"/>
              <a:t>Задача на линейното програмиране</a:t>
            </a:r>
            <a:r>
              <a:rPr lang="bg-BG" altLang="bg-BG" sz="2400" dirty="0"/>
              <a:t> </a:t>
            </a:r>
            <a:r>
              <a:rPr lang="bg-BG" altLang="bg-BG" sz="2400" b="1" dirty="0"/>
              <a:t>- </a:t>
            </a:r>
            <a:r>
              <a:rPr lang="bg-BG" altLang="bg-BG" sz="2400" dirty="0"/>
              <a:t> Определянето на такива неотрицателни неизвестни на технологичните процеси, при които стойността на всяко неизвестно удовлетворява уравненията на материалния баланс, а величината на печалбата е максимална, се нарича стандартна задача на линейното програмиране. Представянето на реалната система, във вид на математическа система (модел), която притежава изброените по-горе характеристики, се нарича модел на линейното програмиране. По такъв начин задачата за планиране на технологичните процеси като реална система се преобразува в задача за намиране решение на модел на линейно програмиране.</a:t>
            </a:r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89797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140952" y="960012"/>
            <a:ext cx="96145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bg-BG" sz="2400" dirty="0"/>
              <a:t>Класическата транспортна задача (КТЗ) е специален случай на задачата на линейното оптимиране, която има широко приложение в практиката. Тя е една от първите ЗЛО, формулирана през 1939 г.</a:t>
            </a:r>
          </a:p>
          <a:p>
            <a:pPr indent="457200" algn="just">
              <a:lnSpc>
                <a:spcPct val="150000"/>
              </a:lnSpc>
            </a:pPr>
            <a:r>
              <a:rPr lang="bg-BG" sz="2400" dirty="0"/>
              <a:t>Транспортната задача може да се прилага при изучаване на различни практически проблеми, свързани със управление на запасите, съставяне на смесени графици, обработка на наличния капитал, разпределение на товари и др.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437851" y="125075"/>
            <a:ext cx="10580913" cy="647047"/>
          </a:xfrm>
        </p:spPr>
        <p:txBody>
          <a:bodyPr>
            <a:noAutofit/>
          </a:bodyPr>
          <a:lstStyle/>
          <a:p>
            <a:pPr algn="ctr"/>
            <a:r>
              <a:rPr lang="bg-BG" sz="3000" b="1" dirty="0"/>
              <a:t>Транспортна задача</a:t>
            </a:r>
          </a:p>
        </p:txBody>
      </p:sp>
    </p:spTree>
    <p:extLst>
      <p:ext uri="{BB962C8B-B14F-4D97-AF65-F5344CB8AC3E}">
        <p14:creationId xmlns:p14="http://schemas.microsoft.com/office/powerpoint/2010/main" val="175387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12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744917" y="1499773"/>
            <a:ext cx="8566484" cy="3347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bg-BG" sz="2400" dirty="0"/>
              <a:t>Транспортната задача е линеен оптимизационен модел, който може да бъде решен посредством симплекс-метод, но специфичната структура на модела и голямата изчислителна работа обуславят разработването на специални и по-ефективни методи.</a:t>
            </a:r>
          </a:p>
          <a:p>
            <a:pPr indent="457200" algn="just">
              <a:lnSpc>
                <a:spcPct val="150000"/>
              </a:lnSpc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0120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13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791369" y="209402"/>
                <a:ext cx="10240210" cy="639994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bg-BG" sz="2400" b="1" dirty="0"/>
                  <a:t>Формулировка на задачата</a:t>
                </a:r>
              </a:p>
              <a:p>
                <a:pPr indent="457200" algn="just">
                  <a:lnSpc>
                    <a:spcPct val="110000"/>
                  </a:lnSpc>
                </a:pPr>
                <a:r>
                  <a:rPr lang="bg-BG" sz="2400" dirty="0"/>
                  <a:t>Дадени са: </a:t>
                </a:r>
              </a:p>
              <a:p>
                <a:pPr marL="968375" indent="-457200" algn="just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bg-BG" sz="2400" dirty="0"/>
                  <a:t>няколко пункта A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A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A</a:t>
                </a:r>
                <a:r>
                  <a:rPr lang="bg-BG" sz="2400" baseline="-25000" dirty="0"/>
                  <a:t>3</a:t>
                </a:r>
                <a:r>
                  <a:rPr lang="bg-BG" sz="2400" dirty="0"/>
                  <a:t>, …, A</a:t>
                </a:r>
                <a:r>
                  <a:rPr lang="bg-BG" sz="2400" baseline="-25000" dirty="0"/>
                  <a:t>m</a:t>
                </a:r>
                <a:r>
                  <a:rPr lang="bg-BG" sz="2400" dirty="0"/>
                  <a:t>, наречени условно производители, които разполагат с еднородна продукция в съответни количества a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a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…, a</a:t>
                </a:r>
                <a:r>
                  <a:rPr lang="bg-BG" sz="2400" baseline="-25000" dirty="0"/>
                  <a:t>m</a:t>
                </a:r>
                <a:r>
                  <a:rPr lang="bg-BG" sz="2400" dirty="0"/>
                  <a:t>; </a:t>
                </a:r>
              </a:p>
              <a:p>
                <a:pPr marL="968375" indent="-457200" algn="just">
                  <a:lnSpc>
                    <a:spcPct val="160000"/>
                  </a:lnSpc>
                  <a:spcBef>
                    <a:spcPts val="0"/>
                  </a:spcBef>
                  <a:buFont typeface="Wingdings" pitchFamily="2" charset="2"/>
                  <a:buChar char="q"/>
                </a:pPr>
                <a:r>
                  <a:rPr lang="bg-BG" sz="2400" dirty="0"/>
                  <a:t>няколко пункта B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B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B</a:t>
                </a:r>
                <a:r>
                  <a:rPr lang="bg-BG" sz="2400" baseline="-25000" dirty="0"/>
                  <a:t>3</a:t>
                </a:r>
                <a:r>
                  <a:rPr lang="bg-BG" sz="2400" dirty="0"/>
                  <a:t>, …, B</a:t>
                </a:r>
                <a:r>
                  <a:rPr lang="bg-BG" sz="2400" baseline="-25000" dirty="0"/>
                  <a:t>n</a:t>
                </a:r>
                <a:r>
                  <a:rPr lang="bg-BG" sz="2400" dirty="0"/>
                  <a:t> – потребители, с потребности b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b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…, b</a:t>
                </a:r>
                <a:r>
                  <a:rPr lang="bg-BG" sz="2400" baseline="-25000" dirty="0"/>
                  <a:t>n</a:t>
                </a:r>
                <a:r>
                  <a:rPr lang="bg-BG" sz="2400" dirty="0"/>
                  <a:t> от тази продукция;</a:t>
                </a:r>
              </a:p>
              <a:p>
                <a:pPr marL="968375" indent="-457200" algn="just">
                  <a:lnSpc>
                    <a:spcPct val="160000"/>
                  </a:lnSpc>
                  <a:spcBef>
                    <a:spcPts val="0"/>
                  </a:spcBef>
                  <a:buFont typeface="Wingdings" pitchFamily="2" charset="2"/>
                  <a:buChar char="q"/>
                </a:pPr>
                <a:r>
                  <a:rPr lang="bg-BG" sz="2400" dirty="0"/>
                  <a:t>транспортните разходи в матрица </a:t>
                </a:r>
                <a14:m>
                  <m:oMath xmlns:m="http://schemas.openxmlformats.org/officeDocument/2006/math">
                    <m:r>
                      <a:rPr lang="bg-BG" sz="24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bg-BG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bg-BG" sz="240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bg-BG" sz="240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bg-BG" sz="2400" i="1" smtClean="0">
                                <a:latin typeface="Cambria Math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/>
                          </m:mr>
                          <m:mr>
                            <m:e/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bg-BG" sz="240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bg-BG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bg-BG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bg-BG" sz="240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bg-BG" sz="2400" dirty="0"/>
                  <a:t>, където c</a:t>
                </a:r>
                <a:r>
                  <a:rPr lang="bg-BG" sz="2400" baseline="-25000" dirty="0"/>
                  <a:t>ij</a:t>
                </a:r>
                <a:r>
                  <a:rPr lang="bg-BG" sz="2400" dirty="0"/>
                  <a:t> са разходите за превоз на единица продукция от пункта A</a:t>
                </a:r>
                <a:r>
                  <a:rPr lang="bg-BG" sz="2400" baseline="-25000" dirty="0"/>
                  <a:t>i</a:t>
                </a:r>
                <a:r>
                  <a:rPr lang="bg-BG" sz="2400" dirty="0"/>
                  <a:t> до пункта B</a:t>
                </a:r>
                <a:r>
                  <a:rPr lang="bg-BG" sz="2400" baseline="-25000" dirty="0"/>
                  <a:t>j</a:t>
                </a:r>
                <a:r>
                  <a:rPr lang="bg-BG" sz="2400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369" y="209402"/>
                <a:ext cx="10240210" cy="6399945"/>
              </a:xfrm>
              <a:prstGeom prst="rect">
                <a:avLst/>
              </a:prstGeom>
              <a:blipFill>
                <a:blip r:embed="rId3"/>
                <a:stretch>
                  <a:fillRect l="-952" t="-1333" r="-893" b="-581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534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14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98316" y="55184"/>
            <a:ext cx="46512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Транспортна задача затворен тип</a:t>
            </a:r>
            <a:endParaRPr lang="bg-BG" sz="2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684422" y="534197"/>
                <a:ext cx="10379242" cy="514894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457200" algn="just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bg-BG" sz="2400" dirty="0"/>
                  <a:t>Целта е създаване на план на разпределяне на наличната продукция между потребителите съобразно техните потребности, така че сумарните транспортни разходи да бъдат минимални и се разпредели цялата произведена продукция.</a:t>
                </a:r>
              </a:p>
              <a:p>
                <a:pPr indent="457200" algn="just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bg-BG" sz="2400" dirty="0"/>
                  <a:t>За разрешимост на задачата е необходимо и достатъчно: </a:t>
                </a:r>
              </a:p>
              <a:p>
                <a:pPr indent="457200" algn="just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indent="457200" algn="just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bg-BG" sz="2400" dirty="0"/>
                  <a:t>т.е. сумата от наличностите да бъде равна на сумата от потребностите.</a:t>
                </a:r>
              </a:p>
              <a:p>
                <a:pPr marL="631825" indent="-182563" algn="just">
                  <a:lnSpc>
                    <a:spcPct val="13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bg-BG" sz="2400" dirty="0"/>
                  <a:t>a=(a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a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a</a:t>
                </a:r>
                <a:r>
                  <a:rPr lang="bg-BG" sz="2400" baseline="-25000" dirty="0"/>
                  <a:t>3</a:t>
                </a:r>
                <a:r>
                  <a:rPr lang="bg-BG" sz="2400" dirty="0"/>
                  <a:t>,…….a</a:t>
                </a:r>
                <a:r>
                  <a:rPr lang="bg-BG" sz="2400" baseline="-25000" dirty="0"/>
                  <a:t>m</a:t>
                </a:r>
                <a:r>
                  <a:rPr lang="bg-BG" sz="2400" dirty="0"/>
                  <a:t>) – обща наличност; </a:t>
                </a:r>
              </a:p>
              <a:p>
                <a:pPr marL="631825" indent="-182563" algn="just">
                  <a:lnSpc>
                    <a:spcPct val="130000"/>
                  </a:lnSpc>
                  <a:spcBef>
                    <a:spcPts val="0"/>
                  </a:spcBef>
                  <a:buFontTx/>
                  <a:buChar char="-"/>
                </a:pPr>
                <a:r>
                  <a:rPr lang="bg-BG" sz="2400" dirty="0"/>
                  <a:t>b=(b</a:t>
                </a:r>
                <a:r>
                  <a:rPr lang="bg-BG" sz="2400" baseline="-25000" dirty="0"/>
                  <a:t>1</a:t>
                </a:r>
                <a:r>
                  <a:rPr lang="bg-BG" sz="2400" dirty="0"/>
                  <a:t>, b</a:t>
                </a:r>
                <a:r>
                  <a:rPr lang="bg-BG" sz="2400" baseline="-25000" dirty="0"/>
                  <a:t>2</a:t>
                </a:r>
                <a:r>
                  <a:rPr lang="bg-BG" sz="2400" dirty="0"/>
                  <a:t>, b</a:t>
                </a:r>
                <a:r>
                  <a:rPr lang="bg-BG" sz="2400" baseline="-25000" dirty="0"/>
                  <a:t>3</a:t>
                </a:r>
                <a:r>
                  <a:rPr lang="bg-BG" sz="2400" dirty="0"/>
                  <a:t>,…….b</a:t>
                </a:r>
                <a:r>
                  <a:rPr lang="bg-BG" sz="2400" baseline="-25000" dirty="0"/>
                  <a:t>n</a:t>
                </a:r>
                <a:r>
                  <a:rPr lang="bg-BG" sz="2400" dirty="0"/>
                  <a:t>) – обща потребност</a:t>
                </a:r>
              </a:p>
              <a:p>
                <a:pPr indent="457200" algn="just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bg-BG" sz="2400" dirty="0"/>
                  <a:t>Транспортна задача, за която това условие е изпълнено се нарича транспортна задача затворен тип.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422" y="534197"/>
                <a:ext cx="10379242" cy="5148943"/>
              </a:xfrm>
              <a:prstGeom prst="rect">
                <a:avLst/>
              </a:prstGeom>
              <a:blipFill>
                <a:blip r:embed="rId3"/>
                <a:stretch>
                  <a:fillRect l="-881" r="-881" b="-253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98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15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1579674" y="330220"/>
            <a:ext cx="1022476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Математическият модел е описание на даден обект с математически средства.   Моделът отразява главните свойства на обекта. Създаването на математически модел преминава през следните етапи:</a:t>
            </a:r>
          </a:p>
          <a:p>
            <a:pPr marL="914400" indent="-342900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q"/>
            </a:pPr>
            <a:r>
              <a:rPr lang="bg-BG" sz="2400" dirty="0"/>
              <a:t>Въвеждане на променливи величини, чрез които се измерват количествено различните характеристики на обект. Обикновено за тази цел се използват означенията 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,…,x</a:t>
            </a:r>
            <a:r>
              <a:rPr lang="en-US" sz="2400" baseline="-25000" dirty="0"/>
              <a:t>n</a:t>
            </a:r>
            <a:r>
              <a:rPr lang="en-US" sz="2400" dirty="0"/>
              <a:t>. </a:t>
            </a:r>
            <a:r>
              <a:rPr lang="bg-BG" sz="2400" dirty="0"/>
              <a:t>Наредената съвкупност от числа </a:t>
            </a:r>
            <a:r>
              <a:rPr lang="en-US" sz="2400" dirty="0"/>
              <a:t>X=(x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,…,x</a:t>
            </a:r>
            <a:r>
              <a:rPr lang="en-US" sz="2400" baseline="-25000" dirty="0"/>
              <a:t>n</a:t>
            </a:r>
            <a:r>
              <a:rPr lang="en-US" sz="2400" dirty="0"/>
              <a:t>) </a:t>
            </a:r>
            <a:r>
              <a:rPr lang="bg-BG" sz="2400" dirty="0"/>
              <a:t>представя едно състояние на моделирания обект.</a:t>
            </a:r>
            <a:endParaRPr lang="en-US" sz="2400" dirty="0"/>
          </a:p>
          <a:p>
            <a:pPr marL="914400" indent="-342900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q"/>
            </a:pPr>
            <a:r>
              <a:rPr lang="bg-BG" sz="2400" dirty="0"/>
              <a:t>Конкретизиране на модела посредством съотношения и връзки между величините 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,…,x</a:t>
            </a:r>
            <a:r>
              <a:rPr lang="en-US" sz="2400" baseline="-25000" dirty="0"/>
              <a:t>n</a:t>
            </a:r>
            <a:r>
              <a:rPr lang="bg-BG" sz="2400" dirty="0"/>
              <a:t>. Те са уравнения или неравенства и се наричат ограничения на модела. </a:t>
            </a:r>
          </a:p>
          <a:p>
            <a:endParaRPr lang="en-US" sz="2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1788" y="81386"/>
            <a:ext cx="31459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200" i="1" dirty="0">
                <a:solidFill>
                  <a:schemeClr val="accent1">
                    <a:lumMod val="50000"/>
                  </a:schemeClr>
                </a:solidFill>
              </a:rPr>
              <a:t>Математически модел</a:t>
            </a:r>
          </a:p>
        </p:txBody>
      </p:sp>
    </p:spTree>
    <p:extLst>
      <p:ext uri="{BB962C8B-B14F-4D97-AF65-F5344CB8AC3E}">
        <p14:creationId xmlns:p14="http://schemas.microsoft.com/office/powerpoint/2010/main" val="17418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16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160336" y="998579"/>
            <a:ext cx="95991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dirty="0">
                <a:solidFill>
                  <a:prstClr val="black"/>
                </a:solidFill>
              </a:rPr>
              <a:t>В икономическата практика често се налага измежду възможните състояния да бъде избрано най-доброто, съобразно предварително формулиран критерий. Това налага в модела да се включи и математически израз на критерия, който е функция на променливите </a:t>
            </a:r>
            <a:r>
              <a:rPr lang="bg-BG" sz="2400" dirty="0"/>
              <a:t>x</a:t>
            </a:r>
            <a:r>
              <a:rPr lang="bg-BG" sz="2400" baseline="-25000" dirty="0"/>
              <a:t>1</a:t>
            </a:r>
            <a:r>
              <a:rPr lang="bg-BG" sz="2400" dirty="0"/>
              <a:t>, x</a:t>
            </a:r>
            <a:r>
              <a:rPr lang="bg-BG" sz="2400" baseline="-25000" dirty="0"/>
              <a:t>2</a:t>
            </a:r>
            <a:r>
              <a:rPr lang="bg-BG" sz="2400" dirty="0"/>
              <a:t>,…,x</a:t>
            </a:r>
            <a:r>
              <a:rPr lang="bg-BG" sz="2400" baseline="-25000" dirty="0"/>
              <a:t>n</a:t>
            </a:r>
            <a:r>
              <a:rPr lang="bg-BG" sz="2400" dirty="0">
                <a:solidFill>
                  <a:prstClr val="black"/>
                </a:solidFill>
              </a:rPr>
              <a:t>, и се нарича целева функция. Целевата функция служи за сравняване на отделните състояния и дава възможност за избор на най-доброто от тях. Наличието на целева функция превръща модела в оптимизационен.</a:t>
            </a:r>
          </a:p>
        </p:txBody>
      </p:sp>
    </p:spTree>
    <p:extLst>
      <p:ext uri="{BB962C8B-B14F-4D97-AF65-F5344CB8AC3E}">
        <p14:creationId xmlns:p14="http://schemas.microsoft.com/office/powerpoint/2010/main" val="1257893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17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2032000" y="410827"/>
            <a:ext cx="971082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b="1" i="1" dirty="0">
                <a:solidFill>
                  <a:prstClr val="black"/>
                </a:solidFill>
              </a:rPr>
              <a:t>Линеен оптимизационен модел </a:t>
            </a:r>
            <a:r>
              <a:rPr lang="bg-BG" sz="2400" dirty="0">
                <a:solidFill>
                  <a:prstClr val="black"/>
                </a:solidFill>
              </a:rPr>
              <a:t>– математически оптимизационен модел, в който целевата функция е линейна и ограниченията са линейни уравнения и/или неравенства .</a:t>
            </a:r>
          </a:p>
          <a:p>
            <a:pPr indent="515938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b="1" i="1" dirty="0"/>
              <a:t>План на модела </a:t>
            </a:r>
            <a:r>
              <a:rPr lang="bg-BG" sz="2400" dirty="0"/>
              <a:t>- в</a:t>
            </a:r>
            <a:r>
              <a:rPr lang="bg-BG" sz="2400" dirty="0">
                <a:solidFill>
                  <a:prstClr val="black"/>
                </a:solidFill>
              </a:rPr>
              <a:t>сяка наредена съвкупност от числа </a:t>
            </a:r>
          </a:p>
          <a:p>
            <a:pPr indent="515938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dirty="0"/>
              <a:t>X=(x</a:t>
            </a:r>
            <a:r>
              <a:rPr lang="bg-BG" sz="2400" baseline="-25000" dirty="0"/>
              <a:t>1</a:t>
            </a:r>
            <a:r>
              <a:rPr lang="bg-BG" sz="2400" dirty="0"/>
              <a:t>, x</a:t>
            </a:r>
            <a:r>
              <a:rPr lang="bg-BG" sz="2400" baseline="-25000" dirty="0"/>
              <a:t>2</a:t>
            </a:r>
            <a:r>
              <a:rPr lang="bg-BG" sz="2400" dirty="0"/>
              <a:t>,…,x</a:t>
            </a:r>
            <a:r>
              <a:rPr lang="bg-BG" sz="2400" baseline="-25000" dirty="0"/>
              <a:t>n</a:t>
            </a:r>
            <a:r>
              <a:rPr lang="bg-BG" sz="2400" dirty="0"/>
              <a:t>). </a:t>
            </a:r>
          </a:p>
          <a:p>
            <a:pPr indent="515938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b="1" i="1" dirty="0">
                <a:solidFill>
                  <a:prstClr val="black"/>
                </a:solidFill>
              </a:rPr>
              <a:t>Допустимо решение </a:t>
            </a:r>
            <a:r>
              <a:rPr lang="bg-BG" sz="2400" dirty="0">
                <a:solidFill>
                  <a:prstClr val="black"/>
                </a:solidFill>
              </a:rPr>
              <a:t>– план, който удовлетворява ограниченията и специалните изисквания към модела.</a:t>
            </a:r>
          </a:p>
          <a:p>
            <a:pPr indent="457200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b="1" i="1" dirty="0">
                <a:solidFill>
                  <a:prstClr val="black"/>
                </a:solidFill>
              </a:rPr>
              <a:t>Оптимално решение </a:t>
            </a:r>
            <a:r>
              <a:rPr lang="bg-BG" sz="2400" dirty="0">
                <a:solidFill>
                  <a:prstClr val="black"/>
                </a:solidFill>
              </a:rPr>
              <a:t>– допустимо решение, за което целевата функция има най-малка (най-голяма) стойност.</a:t>
            </a:r>
          </a:p>
          <a:p>
            <a:pPr indent="457200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r>
              <a:rPr lang="bg-BG" sz="2400" b="1" i="1" dirty="0">
                <a:solidFill>
                  <a:prstClr val="black"/>
                </a:solidFill>
              </a:rPr>
              <a:t>Разрешим модел </a:t>
            </a:r>
            <a:r>
              <a:rPr lang="bg-BG" sz="2400" dirty="0">
                <a:solidFill>
                  <a:prstClr val="black"/>
                </a:solidFill>
              </a:rPr>
              <a:t>– модел, за който съществува оптимално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716919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18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674185" y="604423"/>
                <a:ext cx="10058400" cy="524408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bg-BG" sz="2400" b="1" dirty="0"/>
                  <a:t>Математически модел на транспортна задача затворен тип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bg-BG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,….,</m:t>
                          </m:r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bg-BG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74320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,               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=1,…..,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marL="274320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,              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=1,…..,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marL="274320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bg-BG" sz="2400" i="1">
                          <a:latin typeface="Cambria Math" panose="02040503050406030204" pitchFamily="18" charset="0"/>
                        </a:rPr>
                        <m:t>≥0,                      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=1,…..,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=1,…….,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bg-BG" sz="2400" dirty="0"/>
              </a:p>
              <a:p>
                <a:pPr marL="631825" indent="-182563" algn="just">
                  <a:lnSpc>
                    <a:spcPct val="150000"/>
                  </a:lnSpc>
                  <a:buFontTx/>
                  <a:buChar char="-"/>
                </a:pPr>
                <a:r>
                  <a:rPr lang="ru-RU" sz="2400" dirty="0"/>
                  <a:t>x</a:t>
                </a:r>
                <a:r>
                  <a:rPr lang="ru-RU" sz="2400" baseline="-25000" dirty="0"/>
                  <a:t>ij</a:t>
                </a:r>
                <a:r>
                  <a:rPr lang="ru-RU" sz="2400" dirty="0"/>
                  <a:t> - количеството продукт, което </a:t>
                </a:r>
                <a:r>
                  <a:rPr lang="bg-BG" sz="2400" dirty="0"/>
                  <a:t>трябва да се транспортира от </a:t>
                </a:r>
                <a:r>
                  <a:rPr lang="ru-RU" sz="2400" dirty="0"/>
                  <a:t>производителя A</a:t>
                </a:r>
                <a:r>
                  <a:rPr lang="ru-RU" sz="2400" baseline="-25000" dirty="0"/>
                  <a:t>i </a:t>
                </a:r>
                <a:r>
                  <a:rPr lang="ru-RU" sz="2400" dirty="0"/>
                  <a:t>към потребителя B</a:t>
                </a:r>
                <a:r>
                  <a:rPr lang="ru-RU" sz="2400" baseline="-25000" dirty="0"/>
                  <a:t>j</a:t>
                </a:r>
                <a:r>
                  <a:rPr lang="ru-RU" sz="2400" dirty="0"/>
                  <a:t>;</a:t>
                </a:r>
              </a:p>
              <a:p>
                <a:pPr marL="631825" indent="-182563" algn="just">
                  <a:lnSpc>
                    <a:spcPct val="150000"/>
                  </a:lnSpc>
                  <a:buFontTx/>
                  <a:buChar char="-"/>
                </a:pPr>
                <a:r>
                  <a:rPr lang="ru-RU" sz="2400" dirty="0"/>
                  <a:t>x = (x</a:t>
                </a:r>
                <a:r>
                  <a:rPr lang="ru-RU" sz="2400" baseline="-25000" dirty="0"/>
                  <a:t>11</a:t>
                </a:r>
                <a:r>
                  <a:rPr lang="ru-RU" sz="2400" dirty="0"/>
                  <a:t>, . . . , x</a:t>
                </a:r>
                <a:r>
                  <a:rPr lang="ru-RU" sz="2400" baseline="-25000" dirty="0"/>
                  <a:t>mn</a:t>
                </a:r>
                <a:r>
                  <a:rPr lang="ru-RU" sz="2400" dirty="0"/>
                  <a:t>) </a:t>
                </a:r>
                <a:r>
                  <a:rPr lang="ru-RU" sz="2400" baseline="30000" dirty="0"/>
                  <a:t>T</a:t>
                </a:r>
                <a:r>
                  <a:rPr lang="ru-RU" sz="2400" dirty="0"/>
                  <a:t> - план на транспортиране;</a:t>
                </a:r>
                <a:endParaRPr lang="bg-BG" sz="24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185" y="604423"/>
                <a:ext cx="10058400" cy="5244083"/>
              </a:xfrm>
              <a:prstGeom prst="rect">
                <a:avLst/>
              </a:prstGeom>
              <a:blipFill>
                <a:blip r:embed="rId2"/>
                <a:stretch>
                  <a:fillRect t="-1628" r="-909" b="-1779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992997" y="1395122"/>
            <a:ext cx="82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2997" y="2426372"/>
            <a:ext cx="82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2997" y="3301421"/>
            <a:ext cx="82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2997" y="4199961"/>
            <a:ext cx="82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1379324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19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628273" y="156193"/>
            <a:ext cx="10058400" cy="57721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70000"/>
              </a:lnSpc>
            </a:pPr>
            <a:r>
              <a:rPr lang="bg-BG" sz="2400" dirty="0"/>
              <a:t>Транспортната задача се свежда до линеен оптимизационен модел, който притежава следните особености: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Всяка променлива </a:t>
            </a:r>
            <a:r>
              <a:rPr lang="en-US" sz="2400" dirty="0"/>
              <a:t>x</a:t>
            </a:r>
            <a:r>
              <a:rPr lang="en-US" sz="2400" baseline="-25000" dirty="0"/>
              <a:t>ij</a:t>
            </a:r>
            <a:r>
              <a:rPr lang="bg-BG" sz="2400" baseline="-25000" dirty="0"/>
              <a:t> </a:t>
            </a:r>
            <a:r>
              <a:rPr lang="bg-BG" sz="2400" dirty="0"/>
              <a:t>притежава два индекса. Първият от тях </a:t>
            </a:r>
            <a:r>
              <a:rPr lang="en-US" sz="2400" dirty="0"/>
              <a:t>i </a:t>
            </a:r>
            <a:r>
              <a:rPr lang="bg-BG" sz="2400" dirty="0"/>
              <a:t>показва производителя, а вторият </a:t>
            </a:r>
            <a:r>
              <a:rPr lang="en-US" sz="2400" dirty="0"/>
              <a:t>j – </a:t>
            </a:r>
            <a:r>
              <a:rPr lang="bg-BG" sz="2400" dirty="0"/>
              <a:t>потребителя, между които се превозва товар </a:t>
            </a:r>
            <a:r>
              <a:rPr lang="en-US" sz="2400" dirty="0"/>
              <a:t>x</a:t>
            </a:r>
            <a:r>
              <a:rPr lang="en-US" sz="2400" baseline="-25000" dirty="0"/>
              <a:t>ij</a:t>
            </a:r>
            <a:r>
              <a:rPr lang="bg-BG" sz="2400" dirty="0"/>
              <a:t>.  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Променливите са </a:t>
            </a:r>
            <a:r>
              <a:rPr lang="en-US" sz="2400" dirty="0"/>
              <a:t>m.n</a:t>
            </a:r>
            <a:r>
              <a:rPr lang="bg-BG" sz="2400" dirty="0"/>
              <a:t>, където </a:t>
            </a:r>
            <a:r>
              <a:rPr lang="en-US" sz="2400" dirty="0"/>
              <a:t>m </a:t>
            </a:r>
            <a:r>
              <a:rPr lang="bg-BG" sz="2400" dirty="0"/>
              <a:t>е броят на производителите, а </a:t>
            </a:r>
            <a:r>
              <a:rPr lang="en-US" sz="2400" dirty="0"/>
              <a:t>n </a:t>
            </a:r>
            <a:r>
              <a:rPr lang="bg-BG" sz="2400" dirty="0"/>
              <a:t>е броят на потребителите.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Всички ограничения в модела са равенства и техният брой е </a:t>
            </a:r>
            <a:r>
              <a:rPr lang="en-US" sz="2400" dirty="0"/>
              <a:t>m+n.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q"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97391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20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1876929" y="321996"/>
            <a:ext cx="970547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Първите </a:t>
            </a:r>
            <a:r>
              <a:rPr lang="en-US" sz="2400" dirty="0"/>
              <a:t>m </a:t>
            </a:r>
            <a:r>
              <a:rPr lang="bg-BG" sz="2400" dirty="0"/>
              <a:t>уравнения отразяват изискването за извозване на всички наличности от производителите и образуват блок на производителите.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Следващите </a:t>
            </a:r>
            <a:r>
              <a:rPr lang="en-US" sz="2400" dirty="0"/>
              <a:t>n </a:t>
            </a:r>
            <a:r>
              <a:rPr lang="bg-BG" sz="2400" dirty="0"/>
              <a:t>уравнения описват условията за пълно задоволяване на потребителите (блок на потребителите).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Коефициентите пред променливите в ограниченията са 0 или 1.</a:t>
            </a:r>
          </a:p>
          <a:p>
            <a:pPr marL="914400" indent="-457200" algn="just">
              <a:lnSpc>
                <a:spcPct val="170000"/>
              </a:lnSpc>
              <a:buFont typeface="Wingdings" pitchFamily="2" charset="2"/>
              <a:buChar char="q"/>
            </a:pPr>
            <a:r>
              <a:rPr lang="bg-BG" sz="2400" dirty="0"/>
              <a:t>Всяка променлива </a:t>
            </a:r>
            <a:r>
              <a:rPr lang="en-US" sz="2400" dirty="0"/>
              <a:t>x</a:t>
            </a:r>
            <a:r>
              <a:rPr lang="en-US" sz="2400" baseline="-25000" dirty="0"/>
              <a:t>ij</a:t>
            </a:r>
            <a:r>
              <a:rPr lang="bg-BG" sz="2400" baseline="-25000" dirty="0"/>
              <a:t>  </a:t>
            </a:r>
            <a:r>
              <a:rPr lang="bg-BG" sz="2400" dirty="0"/>
              <a:t>участва точно в две уравнения, едното е в блока на производителите, а другото – в блока на потребителите.</a:t>
            </a:r>
          </a:p>
        </p:txBody>
      </p:sp>
    </p:spTree>
    <p:extLst>
      <p:ext uri="{BB962C8B-B14F-4D97-AF65-F5344CB8AC3E}">
        <p14:creationId xmlns:p14="http://schemas.microsoft.com/office/powerpoint/2010/main" val="2054943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21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032000" y="291827"/>
                <a:ext cx="10058400" cy="514894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457200" algn="just">
                  <a:lnSpc>
                    <a:spcPct val="150000"/>
                  </a:lnSpc>
                </a:pPr>
                <a:r>
                  <a:rPr lang="bg-BG" sz="2400" dirty="0"/>
                  <a:t>Функция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bg-BG" sz="2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bg-BG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e>
                    </m:d>
                  </m:oMath>
                </a14:m>
                <a:r>
                  <a:rPr lang="bg-BG" sz="2400" dirty="0"/>
                  <a:t> се нарича целева функция, а (2), (3) и (4) образуват ограничителните условия на транспортната задача.</a:t>
                </a:r>
              </a:p>
              <a:p>
                <a:pPr indent="457200" algn="just">
                  <a:lnSpc>
                    <a:spcPct val="150000"/>
                  </a:lnSpc>
                </a:pPr>
                <a:r>
                  <a:rPr lang="bg-BG" sz="2400" dirty="0"/>
                  <a:t>Матрицата </a:t>
                </a:r>
                <a:r>
                  <a:rPr lang="en-US" sz="2400" dirty="0"/>
                  <a:t>X</a:t>
                </a:r>
                <a:r>
                  <a:rPr lang="bg-BG" sz="2400" dirty="0"/>
                  <a:t>,  образувана от променливите  </a:t>
                </a:r>
                <a:r>
                  <a:rPr lang="en-US" sz="2400" dirty="0"/>
                  <a:t>x</a:t>
                </a:r>
                <a:r>
                  <a:rPr lang="en-US" sz="2400" baseline="-25000" dirty="0"/>
                  <a:t>ij</a:t>
                </a:r>
                <a:r>
                  <a:rPr lang="bg-BG" sz="2400" baseline="-25000" dirty="0"/>
                  <a:t>,</a:t>
                </a:r>
                <a:r>
                  <a:rPr lang="bg-BG" sz="2400" dirty="0"/>
                  <a:t> чиито стойности са неотрицателни и удовлетворяват уравненията на модела се нарича допустимо решение (план) на транспортната задача. </a:t>
                </a:r>
                <a:endParaRPr lang="en-US" sz="2400" dirty="0"/>
              </a:p>
              <a:p>
                <a:pPr indent="457200" algn="just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latin typeface="Cambria Math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     …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bg-BG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sub/>
                                    </m:sSub>
                                    <m:sSub>
                                      <m:sSubPr>
                                        <m:ctrlPr>
                                          <a:rPr lang="bg-BG" sz="24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𝑚𝑛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indent="457200" algn="just">
                  <a:lnSpc>
                    <a:spcPct val="150000"/>
                  </a:lnSpc>
                </a:pPr>
                <a:r>
                  <a:rPr lang="ru-RU" sz="2400" dirty="0"/>
                  <a:t>Оптимално решение е това решение, за което целевата функция (1) има най-малка стойност. </a:t>
                </a:r>
                <a:endParaRPr lang="bg-BG" sz="2400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291827"/>
                <a:ext cx="10058400" cy="5148943"/>
              </a:xfrm>
              <a:prstGeom prst="rect">
                <a:avLst/>
              </a:prstGeom>
              <a:blipFill>
                <a:blip r:embed="rId2"/>
                <a:stretch>
                  <a:fillRect l="-909" r="-970" b="-1254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392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22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2000" y="451754"/>
            <a:ext cx="9742905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bg-BG" sz="2400" dirty="0"/>
              <a:t>Необходимото и достатъчно условие транспортната задача да има оптимално решение е да бъде изпълнено балансовото равенство.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bg-BG" sz="2400" dirty="0"/>
              <a:t>Броят на независимите уравнения в системата ограничения е равен на сбора от броя на производителите и потребителите, намален с единица.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bg-BG" sz="2400" dirty="0"/>
              <a:t>Всяко базисно решение на системата уравнения в модела на транспортната задача затворен тип включва m+n-1 базисни променливи.</a:t>
            </a:r>
          </a:p>
        </p:txBody>
      </p:sp>
    </p:spTree>
    <p:extLst>
      <p:ext uri="{BB962C8B-B14F-4D97-AF65-F5344CB8AC3E}">
        <p14:creationId xmlns:p14="http://schemas.microsoft.com/office/powerpoint/2010/main" val="1170446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23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2294022" y="1628970"/>
            <a:ext cx="88552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Bef>
                <a:spcPts val="2400"/>
              </a:spcBef>
              <a:spcAft>
                <a:spcPts val="600"/>
              </a:spcAft>
            </a:pPr>
            <a:r>
              <a:rPr lang="bg-BG" sz="2400" dirty="0"/>
              <a:t>Транспортната задача затворен тип се свежда до линеен оптимизационен модел, който винаги е разрешим. Схема на последователността за решаване на една транспортна задача затворен тип е представена на Фиг. 1.</a:t>
            </a:r>
          </a:p>
        </p:txBody>
      </p:sp>
    </p:spTree>
    <p:extLst>
      <p:ext uri="{BB962C8B-B14F-4D97-AF65-F5344CB8AC3E}">
        <p14:creationId xmlns:p14="http://schemas.microsoft.com/office/powerpoint/2010/main" val="112468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24</a:t>
            </a:fld>
            <a:endParaRPr lang="bg-BG" dirty="0"/>
          </a:p>
        </p:txBody>
      </p:sp>
      <p:sp>
        <p:nvSpPr>
          <p:cNvPr id="5" name="Oval 4"/>
          <p:cNvSpPr/>
          <p:nvPr/>
        </p:nvSpPr>
        <p:spPr>
          <a:xfrm>
            <a:off x="4241993" y="115162"/>
            <a:ext cx="2514600" cy="5334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Начало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455749" y="648562"/>
            <a:ext cx="0" cy="3701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04330" y="1018676"/>
            <a:ext cx="6357258" cy="58477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Определяне на начално допустимо базисно решение </a:t>
            </a:r>
            <a:r>
              <a:rPr lang="bg-BG" sz="1200" dirty="0"/>
              <a:t>( метод на северозападния ъгъл, метод на минималния елемент)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88397" y="1620673"/>
            <a:ext cx="0" cy="54864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Decision 8"/>
          <p:cNvSpPr/>
          <p:nvPr/>
        </p:nvSpPr>
        <p:spPr>
          <a:xfrm>
            <a:off x="3458219" y="2163319"/>
            <a:ext cx="4038600" cy="1685641"/>
          </a:xfrm>
          <a:prstGeom prst="flowChartDecision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Проверка за оптималност</a:t>
            </a:r>
          </a:p>
          <a:p>
            <a:pPr algn="ctr"/>
            <a:r>
              <a:rPr lang="bg-BG" sz="1200" dirty="0"/>
              <a:t>(метод на потенциали, разпределителен метод)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499283" y="3848960"/>
            <a:ext cx="0" cy="3701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32991" y="2734662"/>
            <a:ext cx="2939143" cy="707886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Създаване на подобрен план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538754" y="4916074"/>
            <a:ext cx="0" cy="3701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>
            <a:off x="7964905" y="2544317"/>
            <a:ext cx="0" cy="9144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383020" y="3088605"/>
            <a:ext cx="533400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11314876" y="2498160"/>
            <a:ext cx="1170432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487319" y="1925478"/>
            <a:ext cx="6419088" cy="0"/>
          </a:xfrm>
          <a:prstGeom prst="line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281454" y="5286188"/>
            <a:ext cx="2514600" cy="5334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Край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3995" y="3818964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3018" y="2534607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НЕ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9486" y="6064787"/>
            <a:ext cx="8360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Фигура 1. Блок - схема за решаване на затворен тип транспортна задача</a:t>
            </a:r>
            <a:r>
              <a:rPr lang="en-US" sz="2400" dirty="0"/>
              <a:t> </a:t>
            </a:r>
            <a:r>
              <a:rPr lang="bg-BG" sz="2400" dirty="0"/>
              <a:t> </a:t>
            </a:r>
          </a:p>
        </p:txBody>
      </p:sp>
      <p:sp>
        <p:nvSpPr>
          <p:cNvPr id="2" name="Parallelogram 1"/>
          <p:cNvSpPr/>
          <p:nvPr/>
        </p:nvSpPr>
        <p:spPr>
          <a:xfrm>
            <a:off x="3819638" y="4199438"/>
            <a:ext cx="3351354" cy="6970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Извеждане на оптималното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027269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25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264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Транспортна задача отворен тип</a:t>
            </a:r>
            <a:endParaRPr lang="bg-BG" sz="22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11755" y="366719"/>
                <a:ext cx="10119824" cy="65664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>
                  <a:spcBef>
                    <a:spcPts val="600"/>
                  </a:spcBef>
                </a:pPr>
                <a:r>
                  <a:rPr lang="bg-BG" sz="2400" dirty="0"/>
                  <a:t>Ако в една транспортна задача е нарушено балансовото равенство, т. е.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nary>
                            <m:naryPr>
                              <m:chr m:val="∑"/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algn="just"/>
                <a:r>
                  <a:rPr lang="bg-BG" sz="2400" dirty="0"/>
                  <a:t>тя се нарича отворен тип транспортна задача или задача с нарушен баланс.</a:t>
                </a:r>
              </a:p>
              <a:p>
                <a:pPr algn="just"/>
                <a:r>
                  <a:rPr lang="bg-BG" sz="2400" b="1" i="1" dirty="0"/>
                  <a:t>Случай 1: </a:t>
                </a:r>
              </a:p>
              <a:p>
                <a:pPr indent="457200" algn="just"/>
                <a:r>
                  <a:rPr lang="bg-BG" sz="2400" dirty="0"/>
                  <a:t>Производството е по-голямо от потреблението: </a:t>
                </a:r>
              </a:p>
              <a:p>
                <a:pPr indent="4572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nary>
                            <m:naryPr>
                              <m:chr m:val="∑"/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indent="457200" algn="just"/>
                <a:r>
                  <a:rPr lang="bg-BG" sz="2400" dirty="0"/>
                  <a:t>За да има баланс, се въвежда фиктивен потребител B</a:t>
                </a:r>
                <a:r>
                  <a:rPr lang="bg-BG" sz="2400" baseline="-25000" dirty="0"/>
                  <a:t>n+1</a:t>
                </a:r>
                <a:r>
                  <a:rPr lang="bg-BG" sz="2400" dirty="0"/>
                  <a:t> с потребност </a:t>
                </a:r>
              </a:p>
              <a:p>
                <a:pPr indent="4572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bg-BG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bg-BG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bg-BG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bg-BG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bg-BG" sz="2400" dirty="0"/>
              </a:p>
              <a:p>
                <a:pPr indent="457200" algn="just"/>
                <a:r>
                  <a:rPr lang="bg-BG" sz="2400" dirty="0"/>
                  <a:t>и с транспортен разход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bg-BG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bg-BG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bg-BG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bg-BG" sz="2400" b="0" i="1" smtClean="0">
                        <a:latin typeface="Cambria Math" panose="02040503050406030204" pitchFamily="18" charset="0"/>
                      </a:rPr>
                      <m:t>=0,    </m:t>
                    </m:r>
                    <m:r>
                      <a:rPr lang="bg-BG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bg-BG" sz="2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bg-BG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bg-BG" sz="2400" dirty="0"/>
                  <a:t>.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755" y="366719"/>
                <a:ext cx="10119824" cy="6566413"/>
              </a:xfrm>
              <a:prstGeom prst="rect">
                <a:avLst/>
              </a:prstGeom>
              <a:blipFill>
                <a:blip r:embed="rId2"/>
                <a:stretch>
                  <a:fillRect l="-964" t="-743" r="-904" b="-111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623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26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43968" y="115716"/>
                <a:ext cx="10351779" cy="6807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bg-BG" sz="2400" b="1" i="1" dirty="0"/>
                  <a:t>Случай</a:t>
                </a:r>
                <a:r>
                  <a:rPr lang="ru-RU" sz="2400" b="1" i="1" dirty="0"/>
                  <a:t> </a:t>
                </a:r>
                <a:r>
                  <a:rPr lang="en-US" sz="2400" b="1" i="1" dirty="0"/>
                  <a:t>2</a:t>
                </a:r>
                <a:r>
                  <a:rPr lang="ru-RU" sz="2400" b="1" i="1" dirty="0"/>
                  <a:t>: </a:t>
                </a:r>
                <a:endParaRPr lang="en-US" sz="2400" b="1" i="1" dirty="0"/>
              </a:p>
              <a:p>
                <a:pPr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bg-BG" sz="2400" dirty="0"/>
                  <a:t>П</a:t>
                </a:r>
                <a:r>
                  <a:rPr lang="ru-RU" sz="2400" dirty="0"/>
                  <a:t>отреблението е по-голямо от производителността:</a:t>
                </a:r>
                <a:endParaRPr lang="en-US" sz="2400" b="1" i="1" dirty="0"/>
              </a:p>
              <a:p>
                <a:pPr indent="4572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bg-BG" sz="2400" i="1">
                          <a:latin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400" b="1" i="1" dirty="0"/>
              </a:p>
              <a:p>
                <a:pPr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400" dirty="0"/>
                  <a:t>За да има баланс, се въвежда фиктивен поизводител А</a:t>
                </a:r>
                <a:r>
                  <a:rPr lang="en-US" sz="2400" baseline="-25000" dirty="0"/>
                  <a:t>m</a:t>
                </a:r>
                <a:r>
                  <a:rPr lang="ru-RU" sz="2400" baseline="-25000" dirty="0"/>
                  <a:t>+1</a:t>
                </a:r>
                <a:r>
                  <a:rPr lang="ru-RU" sz="2400" dirty="0"/>
                  <a:t> с </a:t>
                </a:r>
                <a:r>
                  <a:rPr lang="bg-BG" sz="2400" dirty="0"/>
                  <a:t>производство</a:t>
                </a:r>
              </a:p>
              <a:p>
                <a:pPr indent="4572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400" dirty="0"/>
              </a:p>
              <a:p>
                <a:pPr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400" dirty="0"/>
                  <a:t>и с транспортен разход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=0, 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=1,2,…,</m:t>
                    </m:r>
                  </m:oMath>
                </a14:m>
                <a:r>
                  <a:rPr lang="en-US" sz="2400" dirty="0"/>
                  <a:t>n</a:t>
                </a:r>
                <a:r>
                  <a:rPr lang="ru-RU" sz="2400" dirty="0"/>
                  <a:t>. 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400" b="1" i="1" dirty="0">
                    <a:solidFill>
                      <a:schemeClr val="accent1">
                        <a:lumMod val="75000"/>
                      </a:schemeClr>
                    </a:solidFill>
                  </a:rPr>
                  <a:t>!!! </a:t>
                </a:r>
                <a:r>
                  <a:rPr lang="ru-RU" sz="2400" b="1" i="1" dirty="0"/>
                  <a:t>Всяка транспортна задача отворен тип може да се сведе към транспортна задача затворен тип.</a:t>
                </a:r>
                <a:endParaRPr lang="bg-BG" sz="2400" b="1" i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968" y="115716"/>
                <a:ext cx="10351779" cy="6807505"/>
              </a:xfrm>
              <a:prstGeom prst="rect">
                <a:avLst/>
              </a:prstGeom>
              <a:blipFill>
                <a:blip r:embed="rId2"/>
                <a:stretch>
                  <a:fillRect l="-883" r="-94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691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27</a:t>
            </a:fld>
            <a:endParaRPr lang="bg-BG" dirty="0"/>
          </a:p>
        </p:txBody>
      </p:sp>
      <p:sp>
        <p:nvSpPr>
          <p:cNvPr id="3" name="Oval 2"/>
          <p:cNvSpPr/>
          <p:nvPr/>
        </p:nvSpPr>
        <p:spPr>
          <a:xfrm>
            <a:off x="843702" y="2213811"/>
            <a:ext cx="1305940" cy="131545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663" y="185057"/>
            <a:ext cx="10263614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bg-BG" sz="2400" b="1" i="1" dirty="0"/>
              <a:t>Транспортна таблица</a:t>
            </a:r>
          </a:p>
          <a:p>
            <a:pPr algn="just"/>
            <a:endParaRPr lang="bg-BG" sz="2400" b="1" dirty="0"/>
          </a:p>
          <a:p>
            <a:pPr indent="457200" algn="just"/>
            <a:endParaRPr lang="bg-BG" sz="2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34856"/>
              </p:ext>
            </p:extLst>
          </p:nvPr>
        </p:nvGraphicFramePr>
        <p:xfrm>
          <a:off x="385663" y="677881"/>
          <a:ext cx="11566961" cy="5486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331521">
                  <a:extLst>
                    <a:ext uri="{9D8B030D-6E8A-4147-A177-3AD203B41FA5}">
                      <a16:colId xmlns:a16="http://schemas.microsoft.com/office/drawing/2014/main" xmlns="" val="71829705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259013677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15126029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256784492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149334205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141411004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xmlns="" val="2614576578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xmlns="" val="131348294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bg-BG" sz="2600" b="0" dirty="0"/>
                        <a:t>№</a:t>
                      </a:r>
                      <a:r>
                        <a:rPr lang="en-US" sz="2600" b="0" dirty="0"/>
                        <a:t> </a:t>
                      </a:r>
                      <a:r>
                        <a:rPr lang="bg-BG" sz="2600" b="0" dirty="0"/>
                        <a:t>План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/>
                        <a:t>B</a:t>
                      </a:r>
                      <a:r>
                        <a:rPr lang="en-US" sz="2600" b="0" baseline="-25000" dirty="0"/>
                        <a:t>1</a:t>
                      </a:r>
                      <a:endParaRPr lang="bg-BG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dirty="0"/>
                        <a:t>B</a:t>
                      </a:r>
                      <a:r>
                        <a:rPr lang="en-US" sz="2600" b="0" baseline="-25000" dirty="0"/>
                        <a:t>2</a:t>
                      </a:r>
                      <a:endParaRPr lang="bg-BG" sz="2600" b="0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/>
                        <a:t>…..</a:t>
                      </a:r>
                      <a:endParaRPr lang="bg-BG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600" b="0" kern="1200" dirty="0"/>
                        <a:t>B</a:t>
                      </a:r>
                      <a:r>
                        <a:rPr lang="en-US" sz="2600" b="0" kern="1200" baseline="-25000" dirty="0"/>
                        <a:t>j</a:t>
                      </a:r>
                      <a:endParaRPr lang="bg-BG" sz="2600" b="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600" b="0" kern="1200" dirty="0"/>
                        <a:t>…..</a:t>
                      </a:r>
                      <a:endParaRPr lang="bg-BG" sz="2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600" b="0" kern="1200" dirty="0"/>
                        <a:t>B</a:t>
                      </a:r>
                      <a:r>
                        <a:rPr lang="en-US" sz="2600" b="0" kern="1200" baseline="-25000" dirty="0"/>
                        <a:t>n</a:t>
                      </a:r>
                      <a:endParaRPr lang="bg-BG" sz="2600" b="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600" b="0" baseline="0" dirty="0"/>
                        <a:t>Производство</a:t>
                      </a:r>
                      <a:endParaRPr lang="bg-BG" sz="2600" b="0" baseline="-25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68216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bg-BG" sz="2600" dirty="0"/>
                        <a:t>А</a:t>
                      </a:r>
                      <a:r>
                        <a:rPr lang="bg-BG" sz="2600" baseline="-25000" dirty="0"/>
                        <a:t>1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x</a:t>
                      </a:r>
                      <a:r>
                        <a:rPr lang="bg-BG" sz="2600" baseline="-25000" dirty="0"/>
                        <a:t>11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bg-BG" sz="2600" baseline="-25000" dirty="0"/>
                        <a:t>1</a:t>
                      </a:r>
                      <a:r>
                        <a:rPr lang="en-US" sz="2600" baseline="-25000" dirty="0"/>
                        <a:t>2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bg-BG" sz="2600" baseline="-25000" dirty="0"/>
                        <a:t>1</a:t>
                      </a:r>
                      <a:r>
                        <a:rPr lang="en-US" sz="2600" baseline="-25000" dirty="0"/>
                        <a:t>j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bg-BG" sz="2600" baseline="-25000" dirty="0"/>
                        <a:t>1</a:t>
                      </a:r>
                      <a:r>
                        <a:rPr lang="en-US" sz="2600" baseline="-25000" dirty="0"/>
                        <a:t>n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1</a:t>
                      </a:r>
                      <a:r>
                        <a:rPr lang="en-US" sz="2600" baseline="0" dirty="0"/>
                        <a:t> 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578329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600" dirty="0"/>
                        <a:t>А</a:t>
                      </a:r>
                      <a:r>
                        <a:rPr lang="bg-BG" sz="2600" baseline="-25000" dirty="0"/>
                        <a:t>2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2</a:t>
                      </a:r>
                      <a:r>
                        <a:rPr lang="bg-BG" sz="2600" baseline="-25000" dirty="0"/>
                        <a:t>1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22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2j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2n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2</a:t>
                      </a:r>
                      <a:r>
                        <a:rPr lang="en-US" sz="2600" baseline="0" dirty="0"/>
                        <a:t> 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1698789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2087607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i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i</a:t>
                      </a:r>
                      <a:r>
                        <a:rPr lang="bg-BG" sz="2600" baseline="-25000" dirty="0"/>
                        <a:t>1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i2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ij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in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i</a:t>
                      </a:r>
                      <a:r>
                        <a:rPr lang="en-US" sz="2600" baseline="0" dirty="0"/>
                        <a:t> 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9483568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…..</a:t>
                      </a:r>
                      <a:endParaRPr kumimoji="0" lang="bg-BG" sz="2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0416993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m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m</a:t>
                      </a:r>
                      <a:r>
                        <a:rPr lang="bg-BG" sz="2600" baseline="-25000" dirty="0"/>
                        <a:t>1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m2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mj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x</a:t>
                      </a:r>
                      <a:r>
                        <a:rPr lang="en-US" sz="2600" baseline="-25000" dirty="0"/>
                        <a:t>mn</a:t>
                      </a:r>
                      <a:endParaRPr lang="bg-BG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600" dirty="0"/>
                        <a:t>а</a:t>
                      </a:r>
                      <a:r>
                        <a:rPr lang="en-US" sz="2600" baseline="-25000" dirty="0"/>
                        <a:t>m</a:t>
                      </a:r>
                      <a:r>
                        <a:rPr lang="en-US" sz="2600" baseline="0" dirty="0"/>
                        <a:t> 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1599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bg-BG" sz="2600" baseline="0" dirty="0"/>
                        <a:t>Потребление</a:t>
                      </a:r>
                      <a:endParaRPr lang="bg-BG" sz="2600" b="1" baseline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b</a:t>
                      </a:r>
                      <a:r>
                        <a:rPr lang="bg-BG" sz="2600" baseline="-25000" dirty="0"/>
                        <a:t>1</a:t>
                      </a:r>
                      <a:endParaRPr lang="en-US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b</a:t>
                      </a:r>
                      <a:r>
                        <a:rPr lang="bg-BG" sz="2600" baseline="-25000" dirty="0"/>
                        <a:t>2</a:t>
                      </a:r>
                      <a:endParaRPr lang="en-US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b</a:t>
                      </a:r>
                      <a:r>
                        <a:rPr lang="en-US" sz="2600" baseline="-25000" dirty="0"/>
                        <a:t>j</a:t>
                      </a:r>
                      <a:endParaRPr lang="en-US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…..</a:t>
                      </a:r>
                      <a:endParaRPr lang="bg-BG" sz="26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b</a:t>
                      </a:r>
                      <a:r>
                        <a:rPr lang="en-US" sz="2600" baseline="-25000" dirty="0"/>
                        <a:t>n</a:t>
                      </a:r>
                      <a:endParaRPr lang="en-US" sz="2600" b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bg-BG" sz="2400" b="0" dirty="0"/>
                        <a:t>Целева</a:t>
                      </a:r>
                      <a:r>
                        <a:rPr lang="bg-BG" sz="2400" b="0" baseline="0" dirty="0"/>
                        <a:t> функция</a:t>
                      </a:r>
                      <a:endParaRPr lang="bg-BG" sz="2400" b="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224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376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358189" cy="1008743"/>
          </a:xfrm>
        </p:spPr>
        <p:txBody>
          <a:bodyPr>
            <a:noAutofit/>
          </a:bodyPr>
          <a:lstStyle/>
          <a:p>
            <a:pPr algn="ctr">
              <a:spcAft>
                <a:spcPts val="0"/>
              </a:spcAft>
            </a:pPr>
            <a:r>
              <a:rPr lang="bg-BG" sz="4000" b="1" dirty="0">
                <a:ea typeface="Times New Roman" panose="02020603050405020304" pitchFamily="18" charset="0"/>
              </a:rPr>
              <a:t>Пример</a:t>
            </a:r>
            <a:endParaRPr lang="bg-BG" sz="2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28</a:t>
            </a:fld>
            <a:endParaRPr lang="bg-BG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6411"/>
              </p:ext>
            </p:extLst>
          </p:nvPr>
        </p:nvGraphicFramePr>
        <p:xfrm>
          <a:off x="2032000" y="32490"/>
          <a:ext cx="9810920" cy="4947285"/>
        </p:xfrm>
        <a:graphic>
          <a:graphicData uri="http://schemas.openxmlformats.org/drawingml/2006/table">
            <a:tbl>
              <a:tblPr/>
              <a:tblGrid>
                <a:gridCol w="9810920">
                  <a:extLst>
                    <a:ext uri="{9D8B030D-6E8A-4147-A177-3AD203B41FA5}">
                      <a16:colId xmlns:a16="http://schemas.microsoft.com/office/drawing/2014/main" xmlns="" val="2073722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45720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bg-BG" sz="2400" kern="1200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Фирма за производство на мебели има три завода и три склада за готова продукция.</a:t>
                      </a:r>
                      <a:r>
                        <a:rPr lang="bg-BG" sz="2400" kern="1200" baseline="0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bg-BG" sz="24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Първият завод за един ден произвежда 50 изделия, вторият -  40, а третият</a:t>
                      </a:r>
                      <a:r>
                        <a:rPr lang="bg-BG" sz="2400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bg-BG" sz="24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30 изделия от същия тип за същото време. В складовете за един ден могат да се складират следният брой изделия: в първи склад – 30 изделия, във втори склад – 70 изделия и в трети склад – 20 изделия. Разходите за транспортирането на едно готово изделия от съответния завод до съответния склад са дадени в следната таблица:</a:t>
                      </a:r>
                    </a:p>
                    <a:p>
                      <a:pPr marL="0" marR="0" indent="45720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endParaRPr lang="bg-BG" sz="24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4499292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93494"/>
              </p:ext>
            </p:extLst>
          </p:nvPr>
        </p:nvGraphicFramePr>
        <p:xfrm>
          <a:off x="4823828" y="4222417"/>
          <a:ext cx="4774363" cy="2386932"/>
        </p:xfrm>
        <a:graphic>
          <a:graphicData uri="http://schemas.openxmlformats.org/drawingml/2006/table">
            <a:tbl>
              <a:tblPr/>
              <a:tblGrid>
                <a:gridCol w="1671023">
                  <a:extLst>
                    <a:ext uri="{9D8B030D-6E8A-4147-A177-3AD203B41FA5}">
                      <a16:colId xmlns:a16="http://schemas.microsoft.com/office/drawing/2014/main" xmlns="" val="3777371777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xmlns="" val="141149304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1187251750"/>
                    </a:ext>
                  </a:extLst>
                </a:gridCol>
                <a:gridCol w="1033240">
                  <a:extLst>
                    <a:ext uri="{9D8B030D-6E8A-4147-A177-3AD203B41FA5}">
                      <a16:colId xmlns:a16="http://schemas.microsoft.com/office/drawing/2014/main" xmlns="" val="395914860"/>
                    </a:ext>
                  </a:extLst>
                </a:gridCol>
              </a:tblGrid>
              <a:tr h="625985"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914604"/>
                  </a:ext>
                </a:extLst>
              </a:tr>
              <a:tr h="537108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07461780"/>
                  </a:ext>
                </a:extLst>
              </a:tr>
              <a:tr h="567800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50240376"/>
                  </a:ext>
                </a:extLst>
              </a:tr>
              <a:tr h="656039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1839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767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29</a:t>
            </a:fld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42929"/>
              </p:ext>
            </p:extLst>
          </p:nvPr>
        </p:nvGraphicFramePr>
        <p:xfrm>
          <a:off x="4632409" y="214660"/>
          <a:ext cx="7373324" cy="3762375"/>
        </p:xfrm>
        <a:graphic>
          <a:graphicData uri="http://schemas.openxmlformats.org/drawingml/2006/table">
            <a:tbl>
              <a:tblPr/>
              <a:tblGrid>
                <a:gridCol w="1831891">
                  <a:extLst>
                    <a:ext uri="{9D8B030D-6E8A-4147-A177-3AD203B41FA5}">
                      <a16:colId xmlns:a16="http://schemas.microsoft.com/office/drawing/2014/main" xmlns="" val="49983154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xmlns="" val="201464245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xmlns="" val="26155297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xmlns="" val="3346669345"/>
                    </a:ext>
                  </a:extLst>
                </a:gridCol>
                <a:gridCol w="2379133">
                  <a:extLst>
                    <a:ext uri="{9D8B030D-6E8A-4147-A177-3AD203B41FA5}">
                      <a16:colId xmlns:a16="http://schemas.microsoft.com/office/drawing/2014/main" xmlns="" val="1347590409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 /       Капацитет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713577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1116755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657908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3424122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 /   Капацитет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121385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14626" y="4030398"/>
            <a:ext cx="73244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bg-BG" sz="2400" b="1" i="1" dirty="0"/>
              <a:t>Определяне на типа на транспортната задача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97729"/>
              </p:ext>
            </p:extLst>
          </p:nvPr>
        </p:nvGraphicFramePr>
        <p:xfrm>
          <a:off x="362785" y="4545426"/>
          <a:ext cx="8815083" cy="1501140"/>
        </p:xfrm>
        <a:graphic>
          <a:graphicData uri="http://schemas.openxmlformats.org/drawingml/2006/table">
            <a:tbl>
              <a:tblPr/>
              <a:tblGrid>
                <a:gridCol w="3004214">
                  <a:extLst>
                    <a:ext uri="{9D8B030D-6E8A-4147-A177-3AD203B41FA5}">
                      <a16:colId xmlns:a16="http://schemas.microsoft.com/office/drawing/2014/main" xmlns="" val="514893904"/>
                    </a:ext>
                  </a:extLst>
                </a:gridCol>
                <a:gridCol w="602346">
                  <a:extLst>
                    <a:ext uri="{9D8B030D-6E8A-4147-A177-3AD203B41FA5}">
                      <a16:colId xmlns:a16="http://schemas.microsoft.com/office/drawing/2014/main" xmlns="" val="485732028"/>
                    </a:ext>
                  </a:extLst>
                </a:gridCol>
                <a:gridCol w="372038">
                  <a:extLst>
                    <a:ext uri="{9D8B030D-6E8A-4147-A177-3AD203B41FA5}">
                      <a16:colId xmlns:a16="http://schemas.microsoft.com/office/drawing/2014/main" xmlns="" val="3013345601"/>
                    </a:ext>
                  </a:extLst>
                </a:gridCol>
                <a:gridCol w="4209950">
                  <a:extLst>
                    <a:ext uri="{9D8B030D-6E8A-4147-A177-3AD203B41FA5}">
                      <a16:colId xmlns:a16="http://schemas.microsoft.com/office/drawing/2014/main" xmlns="" val="990917949"/>
                    </a:ext>
                  </a:extLst>
                </a:gridCol>
                <a:gridCol w="626535">
                  <a:extLst>
                    <a:ext uri="{9D8B030D-6E8A-4147-A177-3AD203B41FA5}">
                      <a16:colId xmlns:a16="http://schemas.microsoft.com/office/drawing/2014/main" xmlns="" val="142196859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Завод 1        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Склад1 </a:t>
                      </a:r>
                      <a:r>
                        <a:rPr lang="en-US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            </a:t>
                      </a: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505481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Завод 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</a:t>
                      </a: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-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Склад2 </a:t>
                      </a:r>
                      <a:r>
                        <a:rPr lang="en-US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            </a:t>
                      </a: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tabLst/>
                      </a:pP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9880093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Завод 3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</a:t>
                      </a: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Склад3 </a:t>
                      </a:r>
                      <a:r>
                        <a:rPr lang="en-US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                     </a:t>
                      </a:r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8992722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Общо: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Общо: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1231936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2785" y="6099929"/>
            <a:ext cx="11642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/>
              <a:t>Общото производство е равно на общото потребление =&gt; транспортната задача е затворен тип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-101600"/>
            <a:ext cx="4483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font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се състави математически модел на задачата при условие, че се търси такъв план на транспортиране на изделията от заводите до складовете, при който се минимизират сумарните транспортни разходи. </a:t>
            </a:r>
          </a:p>
        </p:txBody>
      </p:sp>
    </p:spTree>
    <p:extLst>
      <p:ext uri="{BB962C8B-B14F-4D97-AF65-F5344CB8AC3E}">
        <p14:creationId xmlns:p14="http://schemas.microsoft.com/office/powerpoint/2010/main" val="1162527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30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4172" y="0"/>
                <a:ext cx="12393457" cy="1195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bg-BG" sz="2400" b="1" dirty="0"/>
                  <a:t>Математически модел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bg-BG" sz="2400" dirty="0"/>
                  <a:t> </a:t>
                </a:r>
                <a:r>
                  <a:rPr lang="en-US" sz="2400" dirty="0"/>
                  <a:t>- </a:t>
                </a:r>
                <a:r>
                  <a:rPr lang="bg-BG" sz="2400" dirty="0"/>
                  <a:t>обозначаваме брой изделия, които ще транспортираме от </a:t>
                </a:r>
                <a:r>
                  <a:rPr lang="en-US" sz="2400" dirty="0"/>
                  <a:t>i </a:t>
                </a:r>
                <a:r>
                  <a:rPr lang="en-US" sz="2400" baseline="30000" dirty="0"/>
                  <a:t>–</a:t>
                </a:r>
                <a:r>
                  <a:rPr lang="bg-BG" sz="2400" baseline="30000" dirty="0"/>
                  <a:t>ти </a:t>
                </a:r>
                <a:r>
                  <a:rPr lang="bg-BG" sz="2400" dirty="0"/>
                  <a:t>Завод до </a:t>
                </a:r>
                <a:r>
                  <a:rPr lang="en-US" sz="2400" dirty="0"/>
                  <a:t>j </a:t>
                </a:r>
                <a:r>
                  <a:rPr lang="en-US" sz="2400" baseline="30000" dirty="0"/>
                  <a:t>–</a:t>
                </a:r>
                <a:r>
                  <a:rPr lang="bg-BG" sz="2400" baseline="30000" dirty="0"/>
                  <a:t>ти </a:t>
                </a:r>
                <a:r>
                  <a:rPr lang="bg-BG" sz="2400" dirty="0"/>
                  <a:t>Склад </a:t>
                </a:r>
                <a:r>
                  <a:rPr lang="en-US" sz="2400" dirty="0"/>
                  <a:t> </a:t>
                </a:r>
                <a:r>
                  <a:rPr lang="bg-BG" sz="2400" dirty="0"/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72" y="0"/>
                <a:ext cx="12393457" cy="1195071"/>
              </a:xfrm>
              <a:prstGeom prst="rect">
                <a:avLst/>
              </a:prstGeom>
              <a:blipFill>
                <a:blip r:embed="rId3"/>
                <a:stretch>
                  <a:fillRect b="-765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463085" y="1573056"/>
            <a:ext cx="983826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Z=2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11</a:t>
            </a:r>
            <a:r>
              <a:rPr lang="en-US" sz="2600" dirty="0"/>
              <a:t>+3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12</a:t>
            </a:r>
            <a:r>
              <a:rPr lang="en-US" sz="2600" dirty="0"/>
              <a:t>+8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13</a:t>
            </a:r>
            <a:r>
              <a:rPr lang="en-US" sz="2600" dirty="0"/>
              <a:t>+5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21</a:t>
            </a:r>
            <a:r>
              <a:rPr lang="en-US" sz="2600" dirty="0"/>
              <a:t>+2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22</a:t>
            </a:r>
            <a:r>
              <a:rPr lang="en-US" sz="2600" dirty="0"/>
              <a:t>+6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23</a:t>
            </a:r>
            <a:r>
              <a:rPr lang="en-US" sz="2600" dirty="0"/>
              <a:t>+3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31</a:t>
            </a:r>
            <a:r>
              <a:rPr lang="en-US" sz="2600" dirty="0"/>
              <a:t>+5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32</a:t>
            </a:r>
            <a:r>
              <a:rPr lang="en-US" sz="2600" dirty="0"/>
              <a:t>+2</a:t>
            </a:r>
            <a:r>
              <a:rPr lang="bg-BG" sz="2600" dirty="0"/>
              <a:t>.</a:t>
            </a:r>
            <a:r>
              <a:rPr lang="en-US" sz="2600" dirty="0"/>
              <a:t>X</a:t>
            </a:r>
            <a:r>
              <a:rPr lang="en-US" sz="2600" baseline="-25000" dirty="0"/>
              <a:t>33</a:t>
            </a:r>
            <a:r>
              <a:rPr lang="en-US" sz="2600" dirty="0"/>
              <a:t>  -&gt;min</a:t>
            </a:r>
            <a:endParaRPr lang="bg-BG" sz="2600" dirty="0"/>
          </a:p>
        </p:txBody>
      </p:sp>
      <p:sp>
        <p:nvSpPr>
          <p:cNvPr id="8" name="Rectangle 7"/>
          <p:cNvSpPr/>
          <p:nvPr/>
        </p:nvSpPr>
        <p:spPr>
          <a:xfrm>
            <a:off x="565784" y="1435103"/>
            <a:ext cx="17441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/>
              <a:t>целева функция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51535"/>
              </p:ext>
            </p:extLst>
          </p:nvPr>
        </p:nvGraphicFramePr>
        <p:xfrm>
          <a:off x="4292693" y="2390142"/>
          <a:ext cx="5520081" cy="3520440"/>
        </p:xfrm>
        <a:graphic>
          <a:graphicData uri="http://schemas.openxmlformats.org/drawingml/2006/table">
            <a:tbl>
              <a:tblPr/>
              <a:tblGrid>
                <a:gridCol w="3684620">
                  <a:extLst>
                    <a:ext uri="{9D8B030D-6E8A-4147-A177-3AD203B41FA5}">
                      <a16:colId xmlns:a16="http://schemas.microsoft.com/office/drawing/2014/main" xmlns="" val="1070156138"/>
                    </a:ext>
                  </a:extLst>
                </a:gridCol>
                <a:gridCol w="1835461">
                  <a:extLst>
                    <a:ext uri="{9D8B030D-6E8A-4147-A177-3AD203B41FA5}">
                      <a16:colId xmlns:a16="http://schemas.microsoft.com/office/drawing/2014/main" xmlns="" val="1376955075"/>
                    </a:ext>
                  </a:extLst>
                </a:gridCol>
              </a:tblGrid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81258898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5594623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90240825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31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30102987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32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5205255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13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23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+X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33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=20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4392202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ij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≥0    i=1,2,3; </a:t>
                      </a:r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j=1,2,3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735048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X</a:t>
                      </a:r>
                      <a:r>
                        <a:rPr lang="en-US" sz="2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ij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</a:rPr>
                        <a:t> – </a:t>
                      </a:r>
                      <a:r>
                        <a:rPr lang="bg-BG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цели числа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0478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900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31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0" y="15515"/>
            <a:ext cx="66382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Методи за определяне на начално базисно решение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79621" y="327210"/>
            <a:ext cx="10667999" cy="61692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bg-BG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Метод на северозападния ъгъл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Съставянето на опорен план започва с разпределение на товар от клетката в левия горен ъгъл на таблицата.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Определяме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min{a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}. 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1088" indent="-46355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Ако min{a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 =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полагаме x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x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1j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=0, j = 2, . . . , n. Преминаваме към нова транспортна таблица, получена от старата чрез отстраняване на първия ред и коригиране на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b’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−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1081088" indent="-46355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Ако min{a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 =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полагаме x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x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=0, i = 2, . . . , m. Преминаваме към нова транспортна таблица, получена от старата чрез отстраняване на първия стълб и коригиране на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−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457200" algn="just">
              <a:lnSpc>
                <a:spcPct val="150000"/>
              </a:lnSpc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154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32</a:t>
            </a:fld>
            <a:endParaRPr lang="bg-BG" dirty="0"/>
          </a:p>
        </p:txBody>
      </p:sp>
      <p:sp>
        <p:nvSpPr>
          <p:cNvPr id="3" name="Rectangle 2"/>
          <p:cNvSpPr/>
          <p:nvPr/>
        </p:nvSpPr>
        <p:spPr>
          <a:xfrm>
            <a:off x="2032000" y="410309"/>
            <a:ext cx="987124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1088" indent="-46355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Ако a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b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отстраняваме или първия стълб, или първия ред, но само единия от тях и след направената корекция се получава или b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0, или 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0. Това нулево количество участва пълноправно по-нататък. В този случай винаги се получава изродено бдр.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463550" algn="just"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 получената таблица, която има един размер по-малко от предишната, повтаряме описаните по-горе процедури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като се достига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 таблица, състояща се от една клетка. В този случай двете количества 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b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ru-RU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са равни. Пълните клетки в транспортната таблица са точно m + n − 1.</a:t>
            </a:r>
          </a:p>
        </p:txBody>
      </p:sp>
    </p:spTree>
    <p:extLst>
      <p:ext uri="{BB962C8B-B14F-4D97-AF65-F5344CB8AC3E}">
        <p14:creationId xmlns:p14="http://schemas.microsoft.com/office/powerpoint/2010/main" val="1202191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33</a:t>
            </a:fld>
            <a:endParaRPr lang="bg-BG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019" y="451901"/>
            <a:ext cx="6282048" cy="5272644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Пример: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Данните за единични транспортни разходи,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производство и потребление са представени в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таблицата.</a:t>
            </a: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7554" y="2444580"/>
          <a:ext cx="5823322" cy="1756410"/>
        </p:xfrm>
        <a:graphic>
          <a:graphicData uri="http://schemas.openxmlformats.org/drawingml/2006/table">
            <a:tbl>
              <a:tblPr/>
              <a:tblGrid>
                <a:gridCol w="1497311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919577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957681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909190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539563">
                  <a:extLst>
                    <a:ext uri="{9D8B030D-6E8A-4147-A177-3AD203B41FA5}">
                      <a16:colId xmlns:a16="http://schemas.microsoft.com/office/drawing/2014/main" xmlns="" val="230172958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456339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59524" y="806384"/>
            <a:ext cx="5957455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Определяне на начален план на разпределение по метода на северозападния ъгъл.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019" y="14971"/>
            <a:ext cx="4799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bg-BG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Метод на северозападния ъгъл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7884" y="2429945"/>
          <a:ext cx="5823322" cy="3177930"/>
        </p:xfrm>
        <a:graphic>
          <a:graphicData uri="http://schemas.openxmlformats.org/drawingml/2006/table">
            <a:tbl>
              <a:tblPr/>
              <a:tblGrid>
                <a:gridCol w="1497311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919577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957681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909190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539563">
                  <a:extLst>
                    <a:ext uri="{9D8B030D-6E8A-4147-A177-3AD203B41FA5}">
                      <a16:colId xmlns:a16="http://schemas.microsoft.com/office/drawing/2014/main" xmlns="" val="2301729582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bg-BG" sz="2800" b="1" i="0" u="none" strike="noStrike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bg-BG" sz="2800" b="1" i="0" u="none" strike="noStrike" kern="1200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T="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4563396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695947899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86357349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45976514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7718961" y="2854833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6639" y="288340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0519" y="2570801"/>
            <a:ext cx="89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50-30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43141" y="2870221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20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899856" y="4511877"/>
            <a:ext cx="382682" cy="400110"/>
            <a:chOff x="7575629" y="4959027"/>
            <a:chExt cx="765364" cy="400110"/>
          </a:xfrm>
        </p:grpSpPr>
        <p:sp>
          <p:nvSpPr>
            <p:cNvPr id="14" name="TextBox 13"/>
            <p:cNvSpPr txBox="1"/>
            <p:nvPr/>
          </p:nvSpPr>
          <p:spPr>
            <a:xfrm>
              <a:off x="7575629" y="4959027"/>
              <a:ext cx="765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7736519" y="3336968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745622" y="3756965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14722" y="2862592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8622745" y="3267282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9563065" y="3712083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8613207" y="3707755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4460" y="288340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20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817429" y="4511877"/>
            <a:ext cx="518097" cy="400110"/>
            <a:chOff x="7575629" y="4959027"/>
            <a:chExt cx="765364" cy="707886"/>
          </a:xfrm>
        </p:grpSpPr>
        <p:sp>
          <p:nvSpPr>
            <p:cNvPr id="28" name="TextBox 27"/>
            <p:cNvSpPr txBox="1"/>
            <p:nvPr/>
          </p:nvSpPr>
          <p:spPr>
            <a:xfrm>
              <a:off x="7575629" y="4959027"/>
              <a:ext cx="765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50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1152733" y="2867172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9595708" y="2907813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66305" y="3305425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40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8798316" y="4895207"/>
            <a:ext cx="518097" cy="400110"/>
            <a:chOff x="7575629" y="4959027"/>
            <a:chExt cx="765364" cy="707886"/>
          </a:xfrm>
        </p:grpSpPr>
        <p:sp>
          <p:nvSpPr>
            <p:cNvPr id="34" name="TextBox 33"/>
            <p:cNvSpPr txBox="1"/>
            <p:nvPr/>
          </p:nvSpPr>
          <p:spPr>
            <a:xfrm>
              <a:off x="7575629" y="4959027"/>
              <a:ext cx="765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10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10659696" y="3292858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9589561" y="3354430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95355" y="374354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141" y="3758069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20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8883249" y="5261756"/>
            <a:ext cx="382682" cy="400110"/>
            <a:chOff x="7575629" y="4959027"/>
            <a:chExt cx="765364" cy="400110"/>
          </a:xfrm>
        </p:grpSpPr>
        <p:sp>
          <p:nvSpPr>
            <p:cNvPr id="41" name="TextBox 40"/>
            <p:cNvSpPr txBox="1"/>
            <p:nvPr/>
          </p:nvSpPr>
          <p:spPr>
            <a:xfrm>
              <a:off x="7575629" y="4959027"/>
              <a:ext cx="765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9672636" y="3707755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63065" y="3750600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9802415" y="4466546"/>
            <a:ext cx="382682" cy="400110"/>
            <a:chOff x="7575629" y="4959027"/>
            <a:chExt cx="765364" cy="400110"/>
          </a:xfrm>
        </p:grpSpPr>
        <p:sp>
          <p:nvSpPr>
            <p:cNvPr id="46" name="TextBox 45"/>
            <p:cNvSpPr txBox="1"/>
            <p:nvPr/>
          </p:nvSpPr>
          <p:spPr>
            <a:xfrm>
              <a:off x="7575629" y="4959027"/>
              <a:ext cx="765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E710495-5F05-6120-C64B-04D7AA7D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4" y="4473228"/>
            <a:ext cx="5248275" cy="22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21" grpId="0" animBg="1"/>
      <p:bldP spid="22" grpId="0" animBg="1"/>
      <p:bldP spid="23" grpId="0" animBg="1"/>
      <p:bldP spid="24" grpId="0" animBg="1"/>
      <p:bldP spid="26" grpId="0"/>
      <p:bldP spid="30" grpId="0"/>
      <p:bldP spid="32" grpId="0"/>
      <p:bldP spid="36" grpId="0"/>
      <p:bldP spid="38" grpId="0"/>
      <p:bldP spid="39" grpId="0"/>
      <p:bldP spid="43" grpId="0"/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34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106877" y="131212"/>
            <a:ext cx="66382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Методи за определяне на начално базисно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475873" y="507075"/>
                <a:ext cx="10732167" cy="6040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bg-BG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Метод на минималния елемент</a:t>
                </a:r>
              </a:p>
              <a:p>
                <a:pPr indent="457200" algn="just">
                  <a:lnSpc>
                    <a:spcPct val="150000"/>
                  </a:lnSpc>
                </a:pP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Съставянето на опорен план започва с разпределение на товар в клетката с най-малък транспортен разход.</a:t>
                </a:r>
              </a:p>
              <a:p>
                <a:pPr indent="457200" algn="just">
                  <a:lnSpc>
                    <a:spcPct val="150000"/>
                  </a:lnSpc>
                </a:pPr>
                <a:r>
                  <a:rPr lang="bg-BG" sz="2400" dirty="0"/>
                  <a:t>Намираме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func>
                    <m:r>
                      <a:rPr lang="en-US" sz="240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Определяме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081088" indent="-463550" algn="just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полагаме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0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j≠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j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0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r>
                  <a:rPr lang="ru-RU" sz="2400" dirty="0"/>
                  <a:t>Преминаваме към нова транспортна таблица, получена от старата чрез отстраняване на реда i</a:t>
                </a:r>
                <a:r>
                  <a:rPr lang="ru-RU" sz="2400" baseline="-25000" dirty="0"/>
                  <a:t>0</a:t>
                </a:r>
                <a:r>
                  <a:rPr lang="ru-RU" sz="2400" dirty="0"/>
                  <a:t> и коригиране на b</a:t>
                </a:r>
                <a:r>
                  <a:rPr lang="ru-RU" sz="2400" baseline="-25000" dirty="0"/>
                  <a:t>j</a:t>
                </a:r>
                <a:r>
                  <a:rPr lang="ru-RU" sz="2400" baseline="-40000" dirty="0"/>
                  <a:t>0</a:t>
                </a:r>
                <a:r>
                  <a:rPr lang="ru-RU" sz="2400" dirty="0"/>
                  <a:t> : b</a:t>
                </a:r>
                <a:r>
                  <a:rPr lang="en-US" sz="2400" dirty="0"/>
                  <a:t>’</a:t>
                </a:r>
                <a:r>
                  <a:rPr lang="ru-RU" sz="2400" baseline="-25000" dirty="0"/>
                  <a:t>j</a:t>
                </a:r>
                <a:r>
                  <a:rPr lang="ru-RU" sz="2400" baseline="-40000" dirty="0"/>
                  <a:t>0</a:t>
                </a:r>
                <a:r>
                  <a:rPr lang="ru-RU" sz="2400" dirty="0"/>
                  <a:t> = b</a:t>
                </a:r>
                <a:r>
                  <a:rPr lang="ru-RU" sz="2400" baseline="-25000" dirty="0"/>
                  <a:t>j</a:t>
                </a:r>
                <a:r>
                  <a:rPr lang="ru-RU" sz="2400" baseline="-40000" dirty="0"/>
                  <a:t>0</a:t>
                </a:r>
                <a:r>
                  <a:rPr lang="ru-RU" sz="2400" dirty="0"/>
                  <a:t> − a</a:t>
                </a:r>
                <a:r>
                  <a:rPr lang="ru-RU" sz="2400" baseline="-25000" dirty="0"/>
                  <a:t>i</a:t>
                </a:r>
                <a:r>
                  <a:rPr lang="ru-RU" sz="2400" baseline="-40000" dirty="0"/>
                  <a:t>0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</a:p>
              <a:p>
                <a:pPr marL="1081088" indent="-463550" algn="just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полагаме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0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≠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0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r>
                  <a:rPr lang="ru-RU" sz="2400" dirty="0"/>
                  <a:t>Преминаваме към нова транспортна таблица, получена от старата чрез отстраняване на </a:t>
                </a:r>
                <a:r>
                  <a:rPr lang="bg-BG" sz="2400" dirty="0"/>
                  <a:t>стълба</a:t>
                </a:r>
                <a:r>
                  <a:rPr lang="en-US" sz="2400" dirty="0"/>
                  <a:t> j</a:t>
                </a:r>
                <a:r>
                  <a:rPr lang="ru-RU" sz="2400" baseline="-25000" dirty="0"/>
                  <a:t>0</a:t>
                </a:r>
                <a:r>
                  <a:rPr lang="ru-RU" sz="2400" dirty="0"/>
                  <a:t> и коригиране на </a:t>
                </a:r>
                <a:r>
                  <a:rPr lang="en-US" sz="2400" dirty="0"/>
                  <a:t>a</a:t>
                </a:r>
                <a:r>
                  <a:rPr lang="en-US" sz="2400" baseline="-25000" dirty="0"/>
                  <a:t>i</a:t>
                </a:r>
                <a:r>
                  <a:rPr lang="ru-RU" sz="2400" baseline="-46000" dirty="0"/>
                  <a:t>0</a:t>
                </a:r>
                <a:r>
                  <a:rPr lang="ru-RU" sz="2400" baseline="-25000" dirty="0"/>
                  <a:t> </a:t>
                </a:r>
                <a:r>
                  <a:rPr lang="ru-RU" sz="2400" dirty="0"/>
                  <a:t>: </a:t>
                </a:r>
                <a:r>
                  <a:rPr lang="en-US" sz="2400" dirty="0"/>
                  <a:t>a’</a:t>
                </a:r>
                <a:r>
                  <a:rPr lang="en-US" sz="2400" baseline="-25000" dirty="0"/>
                  <a:t>i</a:t>
                </a:r>
                <a:r>
                  <a:rPr lang="ru-RU" sz="2400" baseline="-25000" dirty="0"/>
                  <a:t>0 </a:t>
                </a:r>
                <a:r>
                  <a:rPr lang="ru-RU" sz="2400" dirty="0"/>
                  <a:t>= a</a:t>
                </a:r>
                <a:r>
                  <a:rPr lang="ru-RU" sz="2400" baseline="-25000" dirty="0"/>
                  <a:t>i0</a:t>
                </a:r>
                <a:r>
                  <a:rPr lang="en-US" sz="2400" dirty="0"/>
                  <a:t>-</a:t>
                </a:r>
                <a:r>
                  <a:rPr lang="ru-RU" sz="2400" dirty="0"/>
                  <a:t> b</a:t>
                </a:r>
                <a:r>
                  <a:rPr lang="ru-RU" sz="2400" baseline="-25000" dirty="0"/>
                  <a:t>j0</a:t>
                </a:r>
                <a:r>
                  <a:rPr lang="en-US" sz="2400" dirty="0"/>
                  <a:t>.</a:t>
                </a:r>
                <a:r>
                  <a:rPr lang="ru-RU" sz="2400" dirty="0"/>
                  <a:t>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873" y="507075"/>
                <a:ext cx="10732167" cy="6040180"/>
              </a:xfrm>
              <a:prstGeom prst="rect">
                <a:avLst/>
              </a:prstGeom>
              <a:blipFill>
                <a:blip r:embed="rId2"/>
                <a:stretch>
                  <a:fillRect l="-852" r="-852" b="-10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711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35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1732546" y="592014"/>
            <a:ext cx="1009048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1088" indent="-4635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Ако a</a:t>
            </a:r>
            <a:r>
              <a:rPr lang="ru-RU" sz="2400" baseline="-25000" dirty="0"/>
              <a:t>i</a:t>
            </a:r>
            <a:r>
              <a:rPr lang="ru-RU" sz="2400" baseline="-40000" dirty="0"/>
              <a:t>0</a:t>
            </a:r>
            <a:r>
              <a:rPr lang="ru-RU" sz="2400" dirty="0"/>
              <a:t> = b</a:t>
            </a:r>
            <a:r>
              <a:rPr lang="ru-RU" sz="2400" baseline="-25000" dirty="0"/>
              <a:t>j</a:t>
            </a:r>
            <a:r>
              <a:rPr lang="ru-RU" sz="2400" baseline="-40000" dirty="0"/>
              <a:t>0</a:t>
            </a:r>
            <a:r>
              <a:rPr lang="ru-RU" sz="2400" dirty="0"/>
              <a:t> , отстраняваме или j</a:t>
            </a:r>
            <a:r>
              <a:rPr lang="ru-RU" sz="2400" baseline="-25000" dirty="0"/>
              <a:t>0</a:t>
            </a:r>
            <a:r>
              <a:rPr lang="ru-RU" sz="2400" baseline="30000" dirty="0"/>
              <a:t>-я</a:t>
            </a:r>
            <a:r>
              <a:rPr lang="ru-RU" sz="2400" dirty="0"/>
              <a:t> стълб, или i</a:t>
            </a:r>
            <a:r>
              <a:rPr lang="ru-RU" sz="2400" baseline="-25000" dirty="0"/>
              <a:t>0</a:t>
            </a:r>
            <a:r>
              <a:rPr lang="ru-RU" sz="2400" baseline="30000" dirty="0"/>
              <a:t>-я</a:t>
            </a:r>
            <a:r>
              <a:rPr lang="ru-RU" sz="2400" dirty="0"/>
              <a:t> ред, но само единия от тях и след направената корекция се получава или b</a:t>
            </a:r>
            <a:r>
              <a:rPr lang="en-US" sz="2400" dirty="0"/>
              <a:t>’</a:t>
            </a:r>
            <a:r>
              <a:rPr lang="ru-RU" sz="2400" baseline="-25000" dirty="0"/>
              <a:t>j</a:t>
            </a:r>
            <a:r>
              <a:rPr lang="ru-RU" sz="2400" baseline="-40000" dirty="0"/>
              <a:t>0</a:t>
            </a:r>
            <a:r>
              <a:rPr lang="ru-RU" sz="2400" dirty="0"/>
              <a:t> = 0, или a</a:t>
            </a:r>
            <a:r>
              <a:rPr lang="en-US" sz="2400" dirty="0"/>
              <a:t>’</a:t>
            </a:r>
            <a:r>
              <a:rPr lang="ru-RU" sz="2400" baseline="-25000" dirty="0"/>
              <a:t>i</a:t>
            </a:r>
            <a:r>
              <a:rPr lang="ru-RU" sz="2400" baseline="-40000" dirty="0"/>
              <a:t>0</a:t>
            </a:r>
            <a:r>
              <a:rPr lang="ru-RU" sz="2400" dirty="0"/>
              <a:t> = 0. Това нулево количество участва пълноправно по-нататък. В този случай винаги се получава изродено бдр.</a:t>
            </a:r>
            <a:r>
              <a:rPr lang="en-US" sz="2400" dirty="0"/>
              <a:t> </a:t>
            </a:r>
          </a:p>
          <a:p>
            <a:pPr indent="457200" algn="just"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 получената таблица, която има един размер по-малко от предишната, повтаряме описаните по-горе процедури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като се достига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 таблица, състояща се от една клетка. В този случай двете количества са равни. </a:t>
            </a:r>
          </a:p>
          <a:p>
            <a:pPr marL="617538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930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36</a:t>
            </a:fld>
            <a:endParaRPr lang="bg-BG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1089562"/>
            <a:ext cx="6282048" cy="5272644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Пример:</a:t>
            </a:r>
          </a:p>
          <a:p>
            <a:pPr marL="0" indent="457200" algn="just"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Данни за единични транспортни разходи, </a:t>
            </a:r>
          </a:p>
          <a:p>
            <a:pPr marL="0" indent="0" algn="just"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производство и потребление са представени в</a:t>
            </a:r>
          </a:p>
          <a:p>
            <a:pPr marL="0" indent="0" algn="just"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таблицата.</a:t>
            </a: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66302"/>
              </p:ext>
            </p:extLst>
          </p:nvPr>
        </p:nvGraphicFramePr>
        <p:xfrm>
          <a:off x="127554" y="2444580"/>
          <a:ext cx="5823322" cy="1756410"/>
        </p:xfrm>
        <a:graphic>
          <a:graphicData uri="http://schemas.openxmlformats.org/drawingml/2006/table">
            <a:tbl>
              <a:tblPr/>
              <a:tblGrid>
                <a:gridCol w="1497311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919577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957681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909190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539563">
                  <a:extLst>
                    <a:ext uri="{9D8B030D-6E8A-4147-A177-3AD203B41FA5}">
                      <a16:colId xmlns:a16="http://schemas.microsoft.com/office/drawing/2014/main" xmlns="" val="230172958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456339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60817" y="1321950"/>
            <a:ext cx="595745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Определяне на начален план на разпределение по метода на минималния елемент.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472" y="480579"/>
            <a:ext cx="44471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Метод на минималния елемент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963165"/>
              </p:ext>
            </p:extLst>
          </p:nvPr>
        </p:nvGraphicFramePr>
        <p:xfrm>
          <a:off x="6127884" y="2429945"/>
          <a:ext cx="5823322" cy="3187074"/>
        </p:xfrm>
        <a:graphic>
          <a:graphicData uri="http://schemas.openxmlformats.org/drawingml/2006/table">
            <a:tbl>
              <a:tblPr/>
              <a:tblGrid>
                <a:gridCol w="1497311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919577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957681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909190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539563">
                  <a:extLst>
                    <a:ext uri="{9D8B030D-6E8A-4147-A177-3AD203B41FA5}">
                      <a16:colId xmlns:a16="http://schemas.microsoft.com/office/drawing/2014/main" xmlns="" val="2301729582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4563396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695947899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86357349"/>
                  </a:ext>
                </a:extLst>
              </a:tr>
              <a:tr h="37955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45976514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8578079" y="3267282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3944" y="2880466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43141" y="2870221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20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92586" y="5266766"/>
            <a:ext cx="382682" cy="400110"/>
            <a:chOff x="7575629" y="4959027"/>
            <a:chExt cx="765364" cy="400110"/>
          </a:xfrm>
        </p:grpSpPr>
        <p:sp>
          <p:nvSpPr>
            <p:cNvPr id="14" name="TextBox 13"/>
            <p:cNvSpPr txBox="1"/>
            <p:nvPr/>
          </p:nvSpPr>
          <p:spPr>
            <a:xfrm>
              <a:off x="7575629" y="4959027"/>
              <a:ext cx="765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7691909" y="3805991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692282" y="3411456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656712" y="2822977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9553675" y="3666233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8595386" y="3685036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8597715" y="2841596"/>
            <a:ext cx="239350" cy="225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986" y="3682702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20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7896062" y="4552798"/>
            <a:ext cx="444680" cy="400110"/>
            <a:chOff x="7575629" y="4959027"/>
            <a:chExt cx="765364" cy="707886"/>
          </a:xfrm>
        </p:grpSpPr>
        <p:sp>
          <p:nvSpPr>
            <p:cNvPr id="28" name="TextBox 27"/>
            <p:cNvSpPr txBox="1"/>
            <p:nvPr/>
          </p:nvSpPr>
          <p:spPr>
            <a:xfrm>
              <a:off x="7575629" y="4959027"/>
              <a:ext cx="765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1152733" y="2867172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9573312" y="2942625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44115" y="3296980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40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8780495" y="4466546"/>
            <a:ext cx="518097" cy="400110"/>
            <a:chOff x="7575629" y="4959027"/>
            <a:chExt cx="765364" cy="707886"/>
          </a:xfrm>
        </p:grpSpPr>
        <p:sp>
          <p:nvSpPr>
            <p:cNvPr id="34" name="TextBox 33"/>
            <p:cNvSpPr txBox="1"/>
            <p:nvPr/>
          </p:nvSpPr>
          <p:spPr>
            <a:xfrm>
              <a:off x="7575629" y="4959027"/>
              <a:ext cx="765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3</a:t>
              </a:r>
              <a:r>
                <a:rPr lang="bg-BG" sz="2000" b="1" dirty="0"/>
                <a:t>0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10659696" y="3292858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9541457" y="3325974"/>
            <a:ext cx="700644" cy="2492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37314" y="2839528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2</a:t>
            </a:r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141" y="3758069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</a:t>
            </a:r>
            <a:r>
              <a:rPr lang="en-US" sz="2000" b="1" dirty="0"/>
              <a:t>1</a:t>
            </a:r>
            <a:r>
              <a:rPr lang="bg-BG" sz="2000" b="1" dirty="0"/>
              <a:t>0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8839711" y="4866656"/>
            <a:ext cx="505047" cy="707886"/>
            <a:chOff x="7575629" y="4959027"/>
            <a:chExt cx="765364" cy="707886"/>
          </a:xfrm>
        </p:grpSpPr>
        <p:sp>
          <p:nvSpPr>
            <p:cNvPr id="41" name="TextBox 40"/>
            <p:cNvSpPr txBox="1"/>
            <p:nvPr/>
          </p:nvSpPr>
          <p:spPr>
            <a:xfrm>
              <a:off x="7575629" y="4959027"/>
              <a:ext cx="765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</a:t>
              </a:r>
              <a:r>
                <a:rPr lang="bg-BG" sz="2000" b="1" dirty="0"/>
                <a:t>0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8629875" y="3702724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1</a:t>
            </a:r>
            <a:r>
              <a:rPr lang="bg-BG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63065" y="3750600"/>
            <a:ext cx="765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/>
              <a:t>/ 0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9802415" y="4466546"/>
            <a:ext cx="382682" cy="400110"/>
            <a:chOff x="7575629" y="4959027"/>
            <a:chExt cx="765364" cy="400110"/>
          </a:xfrm>
        </p:grpSpPr>
        <p:sp>
          <p:nvSpPr>
            <p:cNvPr id="46" name="TextBox 45"/>
            <p:cNvSpPr txBox="1"/>
            <p:nvPr/>
          </p:nvSpPr>
          <p:spPr>
            <a:xfrm>
              <a:off x="7575629" y="4959027"/>
              <a:ext cx="765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b="1" dirty="0"/>
                <a:t>0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7655757" y="5018402"/>
              <a:ext cx="5486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5921914" y="5640266"/>
            <a:ext cx="53892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1600" dirty="0"/>
              <a:t>Във всеки план пълните клетки в транспортната таблица отговарят на базисните променливи, а свободните (празните клетки) – на свободните променливи в съответното допустимо базисно решение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C66C974-36D0-A17E-B433-E018437B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668" y="4538443"/>
            <a:ext cx="5934426" cy="22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/>
      <p:bldP spid="21" grpId="0" animBg="1"/>
      <p:bldP spid="22" grpId="0" animBg="1"/>
      <p:bldP spid="23" grpId="0" animBg="1"/>
      <p:bldP spid="24" grpId="0" animBg="1"/>
      <p:bldP spid="26" grpId="0"/>
      <p:bldP spid="30" grpId="0"/>
      <p:bldP spid="32" grpId="0"/>
      <p:bldP spid="36" grpId="0"/>
      <p:bldP spid="38" grpId="0"/>
      <p:bldP spid="39" grpId="0"/>
      <p:bldP spid="43" grpId="0"/>
      <p:bldP spid="4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52FE0A421B3E24B9DDFC266E10EBE04" ma:contentTypeVersion="3" ma:contentTypeDescription="Създаване на нов документ" ma:contentTypeScope="" ma:versionID="f38fa733cd6769631e002a4dea7fc2ba">
  <xsd:schema xmlns:xsd="http://www.w3.org/2001/XMLSchema" xmlns:xs="http://www.w3.org/2001/XMLSchema" xmlns:p="http://schemas.microsoft.com/office/2006/metadata/properties" xmlns:ns2="410f8adb-773f-4384-aa9e-8e184e0fd10d" targetNamespace="http://schemas.microsoft.com/office/2006/metadata/properties" ma:root="true" ma:fieldsID="91cf59770634e4cf72f9d8d766704a06" ns2:_="">
    <xsd:import namespace="410f8adb-773f-4384-aa9e-8e184e0fd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f8adb-773f-4384-aa9e-8e184e0fd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D7DEA5-3F9C-4E50-8B17-49ABAF5CAFD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05E14AC-D191-43BF-979C-5DA6C64F8937}"/>
</file>

<file path=customXml/itemProps3.xml><?xml version="1.0" encoding="utf-8"?>
<ds:datastoreItem xmlns:ds="http://schemas.openxmlformats.org/officeDocument/2006/customXml" ds:itemID="{DA4AA4C9-1F53-4321-B0B6-226D530CEC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4466</TotalTime>
  <Words>3251</Words>
  <Application>Microsoft Office PowerPoint</Application>
  <PresentationFormat>Custom</PresentationFormat>
  <Paragraphs>452</Paragraphs>
  <Slides>36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Wood Type</vt:lpstr>
      <vt:lpstr>Математическо програмиране. Линейно програмиране. Транспортна задача</vt:lpstr>
      <vt:lpstr>Математическо програмиране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Линейно програмиране</vt:lpstr>
      <vt:lpstr>PowerPoint Presentation</vt:lpstr>
      <vt:lpstr>Транспортна задача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СИСТЕМЕН АНАЛИЗ</dc:title>
  <dc:creator>Windows User</dc:creator>
  <cp:lastModifiedBy>teacher</cp:lastModifiedBy>
  <cp:revision>108</cp:revision>
  <cp:lastPrinted>2022-09-27T03:52:14Z</cp:lastPrinted>
  <dcterms:created xsi:type="dcterms:W3CDTF">2022-08-03T05:13:19Z</dcterms:created>
  <dcterms:modified xsi:type="dcterms:W3CDTF">2023-10-16T07:31:38Z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0x010100452FE0A421B3E24B9DDFC266E10EBE04</vt:lpwstr>
  </property>
</Properties>
</file>
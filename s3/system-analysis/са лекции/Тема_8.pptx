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wdp" ContentType="image/vnd.ms-photo"/>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4"/>
  </p:sldMasterIdLst>
  <p:notesMasterIdLst>
    <p:notesMasterId r:id="rId38"/>
  </p:notesMasterIdLst>
  <p:handoutMasterIdLst>
    <p:handoutMasterId r:id="rId39"/>
  </p:handoutMasterIdLst>
  <p:sldIdLst>
    <p:sldId id="256" r:id="rId5"/>
    <p:sldId id="258" r:id="rId6"/>
    <p:sldId id="259" r:id="rId7"/>
    <p:sldId id="260" r:id="rId8"/>
    <p:sldId id="261" r:id="rId9"/>
    <p:sldId id="262" r:id="rId10"/>
    <p:sldId id="263" r:id="rId11"/>
    <p:sldId id="264" r:id="rId12"/>
    <p:sldId id="265" r:id="rId13"/>
    <p:sldId id="266" r:id="rId14"/>
    <p:sldId id="267" r:id="rId15"/>
    <p:sldId id="268" r:id="rId16"/>
    <p:sldId id="269" r:id="rId17"/>
    <p:sldId id="270" r:id="rId18"/>
    <p:sldId id="271" r:id="rId19"/>
    <p:sldId id="272" r:id="rId20"/>
    <p:sldId id="273" r:id="rId21"/>
    <p:sldId id="274" r:id="rId22"/>
    <p:sldId id="275" r:id="rId23"/>
    <p:sldId id="276" r:id="rId24"/>
    <p:sldId id="277" r:id="rId25"/>
    <p:sldId id="278" r:id="rId26"/>
    <p:sldId id="279" r:id="rId27"/>
    <p:sldId id="280" r:id="rId28"/>
    <p:sldId id="281" r:id="rId29"/>
    <p:sldId id="282" r:id="rId30"/>
    <p:sldId id="283" r:id="rId31"/>
    <p:sldId id="284" r:id="rId32"/>
    <p:sldId id="285" r:id="rId33"/>
    <p:sldId id="286" r:id="rId34"/>
    <p:sldId id="287" r:id="rId35"/>
    <p:sldId id="288" r:id="rId36"/>
    <p:sldId id="289" r:id="rId37"/>
  </p:sldIdLst>
  <p:sldSz cx="12192000" cy="6858000"/>
  <p:notesSz cx="6954838" cy="9309100"/>
  <p:defaultTextStyle>
    <a:defPPr>
      <a:defRPr lang="bg-BG"/>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xmlns="">
        <p15:guide id="1" orient="horz" pos="2160">
          <p15:clr>
            <a:srgbClr val="A4A3A4"/>
          </p15:clr>
        </p15:guide>
        <p15:guide id="2" pos="3840">
          <p15:clr>
            <a:srgbClr val="A4A3A4"/>
          </p15:clr>
        </p15:guide>
      </p15:sldGuideLst>
    </p:ext>
    <p:ext uri="{2D200454-40CA-4A62-9FC3-DE9A4176ACB9}">
      <p15:notesGuideLst xmlns:p15="http://schemas.microsoft.com/office/powerpoint/2012/main" xmlns=""/>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xmlns=""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8013" autoAdjust="0"/>
    <p:restoredTop sz="86816" autoAdjust="0"/>
  </p:normalViewPr>
  <p:slideViewPr>
    <p:cSldViewPr snapToGrid="0">
      <p:cViewPr varScale="1">
        <p:scale>
          <a:sx n="76" d="100"/>
          <a:sy n="76" d="100"/>
        </p:scale>
        <p:origin x="-84" y="-402"/>
      </p:cViewPr>
      <p:guideLst>
        <p:guide orient="horz" pos="2160"/>
        <p:guide pos="3840"/>
      </p:guideLst>
    </p:cSldViewPr>
  </p:slideViewPr>
  <p:notesTextViewPr>
    <p:cViewPr>
      <p:scale>
        <a:sx n="1" d="1"/>
        <a:sy n="1" d="1"/>
      </p:scale>
      <p:origin x="0" y="0"/>
    </p:cViewPr>
  </p:notesTextViewPr>
  <p:sorterViewPr>
    <p:cViewPr>
      <p:scale>
        <a:sx n="100" d="100"/>
        <a:sy n="100" d="100"/>
      </p:scale>
      <p:origin x="0" y="0"/>
    </p:cViewPr>
  </p:sorterViewPr>
  <p:notesViewPr>
    <p:cSldViewPr snapToGrid="0">
      <p:cViewPr varScale="1">
        <p:scale>
          <a:sx n="66" d="100"/>
          <a:sy n="66" d="100"/>
        </p:scale>
        <p:origin x="3234" y="48"/>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handoutMaster" Target="handoutMasters/handoutMaster1.xml"/><Relationship Id="rId3" Type="http://schemas.openxmlformats.org/officeDocument/2006/relationships/customXml" Target="../customXml/item3.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theme" Target="theme/theme1.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notesMaster" Target="notesMasters/notesMaster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slide" Target="slides/slide25.xml"/><Relationship Id="rId41" Type="http://schemas.openxmlformats.org/officeDocument/2006/relationships/viewProps" Target="view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presProps" Target="presProp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tableStyles" Target="tableStyle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13763" cy="467072"/>
          </a:xfrm>
          <a:prstGeom prst="rect">
            <a:avLst/>
          </a:prstGeom>
        </p:spPr>
        <p:txBody>
          <a:bodyPr vert="horz" lIns="92930" tIns="46465" rIns="92930" bIns="46465" rtlCol="0"/>
          <a:lstStyle>
            <a:lvl1pPr algn="l">
              <a:defRPr sz="1200"/>
            </a:lvl1pPr>
          </a:lstStyle>
          <a:p>
            <a:endParaRPr lang="bg-BG" dirty="0"/>
          </a:p>
        </p:txBody>
      </p:sp>
      <p:sp>
        <p:nvSpPr>
          <p:cNvPr id="3" name="Date Placeholder 2"/>
          <p:cNvSpPr>
            <a:spLocks noGrp="1"/>
          </p:cNvSpPr>
          <p:nvPr>
            <p:ph type="dt" sz="quarter" idx="1"/>
          </p:nvPr>
        </p:nvSpPr>
        <p:spPr>
          <a:xfrm>
            <a:off x="3939466" y="0"/>
            <a:ext cx="3013763" cy="467072"/>
          </a:xfrm>
          <a:prstGeom prst="rect">
            <a:avLst/>
          </a:prstGeom>
        </p:spPr>
        <p:txBody>
          <a:bodyPr vert="horz" lIns="92930" tIns="46465" rIns="92930" bIns="46465" rtlCol="0"/>
          <a:lstStyle>
            <a:lvl1pPr algn="r">
              <a:defRPr sz="1200"/>
            </a:lvl1pPr>
          </a:lstStyle>
          <a:p>
            <a:fld id="{62DAF501-497E-4319-B484-C5A85BB3EFD3}" type="datetimeFigureOut">
              <a:rPr lang="bg-BG" smtClean="0"/>
              <a:t>2.5.2023 г.</a:t>
            </a:fld>
            <a:endParaRPr lang="bg-BG" dirty="0"/>
          </a:p>
        </p:txBody>
      </p:sp>
      <p:sp>
        <p:nvSpPr>
          <p:cNvPr id="4" name="Footer Placeholder 3"/>
          <p:cNvSpPr>
            <a:spLocks noGrp="1"/>
          </p:cNvSpPr>
          <p:nvPr>
            <p:ph type="ftr" sz="quarter" idx="2"/>
          </p:nvPr>
        </p:nvSpPr>
        <p:spPr>
          <a:xfrm>
            <a:off x="0" y="8842030"/>
            <a:ext cx="3013763" cy="467071"/>
          </a:xfrm>
          <a:prstGeom prst="rect">
            <a:avLst/>
          </a:prstGeom>
        </p:spPr>
        <p:txBody>
          <a:bodyPr vert="horz" lIns="92930" tIns="46465" rIns="92930" bIns="46465" rtlCol="0" anchor="b"/>
          <a:lstStyle>
            <a:lvl1pPr algn="l">
              <a:defRPr sz="1200"/>
            </a:lvl1pPr>
          </a:lstStyle>
          <a:p>
            <a:endParaRPr lang="bg-BG" dirty="0"/>
          </a:p>
        </p:txBody>
      </p:sp>
      <p:sp>
        <p:nvSpPr>
          <p:cNvPr id="5" name="Slide Number Placeholder 4"/>
          <p:cNvSpPr>
            <a:spLocks noGrp="1"/>
          </p:cNvSpPr>
          <p:nvPr>
            <p:ph type="sldNum" sz="quarter" idx="3"/>
          </p:nvPr>
        </p:nvSpPr>
        <p:spPr>
          <a:xfrm>
            <a:off x="3939466" y="8842030"/>
            <a:ext cx="3013763" cy="467071"/>
          </a:xfrm>
          <a:prstGeom prst="rect">
            <a:avLst/>
          </a:prstGeom>
        </p:spPr>
        <p:txBody>
          <a:bodyPr vert="horz" lIns="92930" tIns="46465" rIns="92930" bIns="46465" rtlCol="0" anchor="b"/>
          <a:lstStyle>
            <a:lvl1pPr algn="r">
              <a:defRPr sz="1200"/>
            </a:lvl1pPr>
          </a:lstStyle>
          <a:p>
            <a:fld id="{335249C7-B5B2-4541-A187-B12F42083CB5}" type="slidenum">
              <a:rPr lang="bg-BG" smtClean="0"/>
              <a:t>‹#›</a:t>
            </a:fld>
            <a:endParaRPr lang="bg-BG" dirty="0"/>
          </a:p>
        </p:txBody>
      </p:sp>
    </p:spTree>
    <p:extLst>
      <p:ext uri="{BB962C8B-B14F-4D97-AF65-F5344CB8AC3E}">
        <p14:creationId xmlns:p14="http://schemas.microsoft.com/office/powerpoint/2010/main" val="3873248905"/>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13763" cy="467072"/>
          </a:xfrm>
          <a:prstGeom prst="rect">
            <a:avLst/>
          </a:prstGeom>
        </p:spPr>
        <p:txBody>
          <a:bodyPr vert="horz" lIns="92930" tIns="46465" rIns="92930" bIns="46465" rtlCol="0"/>
          <a:lstStyle>
            <a:lvl1pPr algn="l">
              <a:defRPr sz="1200"/>
            </a:lvl1pPr>
          </a:lstStyle>
          <a:p>
            <a:endParaRPr lang="bg-BG" dirty="0"/>
          </a:p>
        </p:txBody>
      </p:sp>
      <p:sp>
        <p:nvSpPr>
          <p:cNvPr id="3" name="Date Placeholder 2"/>
          <p:cNvSpPr>
            <a:spLocks noGrp="1"/>
          </p:cNvSpPr>
          <p:nvPr>
            <p:ph type="dt" idx="1"/>
          </p:nvPr>
        </p:nvSpPr>
        <p:spPr>
          <a:xfrm>
            <a:off x="3939466" y="0"/>
            <a:ext cx="3013763" cy="467072"/>
          </a:xfrm>
          <a:prstGeom prst="rect">
            <a:avLst/>
          </a:prstGeom>
        </p:spPr>
        <p:txBody>
          <a:bodyPr vert="horz" lIns="92930" tIns="46465" rIns="92930" bIns="46465" rtlCol="0"/>
          <a:lstStyle>
            <a:lvl1pPr algn="r">
              <a:defRPr sz="1200"/>
            </a:lvl1pPr>
          </a:lstStyle>
          <a:p>
            <a:fld id="{72A934B3-15CF-49D7-9C90-2FBDF446DA56}" type="datetimeFigureOut">
              <a:rPr lang="bg-BG" smtClean="0"/>
              <a:t>2.5.2023 г.</a:t>
            </a:fld>
            <a:endParaRPr lang="bg-BG" dirty="0"/>
          </a:p>
        </p:txBody>
      </p:sp>
      <p:sp>
        <p:nvSpPr>
          <p:cNvPr id="4" name="Slide Image Placeholder 3"/>
          <p:cNvSpPr>
            <a:spLocks noGrp="1" noRot="1" noChangeAspect="1"/>
          </p:cNvSpPr>
          <p:nvPr>
            <p:ph type="sldImg" idx="2"/>
          </p:nvPr>
        </p:nvSpPr>
        <p:spPr>
          <a:xfrm>
            <a:off x="685800" y="1163638"/>
            <a:ext cx="5583238" cy="3141662"/>
          </a:xfrm>
          <a:prstGeom prst="rect">
            <a:avLst/>
          </a:prstGeom>
          <a:noFill/>
          <a:ln w="12700">
            <a:solidFill>
              <a:prstClr val="black"/>
            </a:solidFill>
          </a:ln>
        </p:spPr>
        <p:txBody>
          <a:bodyPr vert="horz" lIns="92930" tIns="46465" rIns="92930" bIns="46465" rtlCol="0" anchor="ctr"/>
          <a:lstStyle/>
          <a:p>
            <a:endParaRPr lang="bg-BG" dirty="0"/>
          </a:p>
        </p:txBody>
      </p:sp>
      <p:sp>
        <p:nvSpPr>
          <p:cNvPr id="5" name="Notes Placeholder 4"/>
          <p:cNvSpPr>
            <a:spLocks noGrp="1"/>
          </p:cNvSpPr>
          <p:nvPr>
            <p:ph type="body" sz="quarter" idx="3"/>
          </p:nvPr>
        </p:nvSpPr>
        <p:spPr>
          <a:xfrm>
            <a:off x="695484" y="4480004"/>
            <a:ext cx="5563870" cy="3665458"/>
          </a:xfrm>
          <a:prstGeom prst="rect">
            <a:avLst/>
          </a:prstGeom>
        </p:spPr>
        <p:txBody>
          <a:bodyPr vert="horz" lIns="92930" tIns="46465" rIns="92930" bIns="46465"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bg-BG"/>
          </a:p>
        </p:txBody>
      </p:sp>
      <p:sp>
        <p:nvSpPr>
          <p:cNvPr id="6" name="Footer Placeholder 5"/>
          <p:cNvSpPr>
            <a:spLocks noGrp="1"/>
          </p:cNvSpPr>
          <p:nvPr>
            <p:ph type="ftr" sz="quarter" idx="4"/>
          </p:nvPr>
        </p:nvSpPr>
        <p:spPr>
          <a:xfrm>
            <a:off x="0" y="8842030"/>
            <a:ext cx="3013763" cy="467071"/>
          </a:xfrm>
          <a:prstGeom prst="rect">
            <a:avLst/>
          </a:prstGeom>
        </p:spPr>
        <p:txBody>
          <a:bodyPr vert="horz" lIns="92930" tIns="46465" rIns="92930" bIns="46465" rtlCol="0" anchor="b"/>
          <a:lstStyle>
            <a:lvl1pPr algn="l">
              <a:defRPr sz="1200"/>
            </a:lvl1pPr>
          </a:lstStyle>
          <a:p>
            <a:endParaRPr lang="bg-BG" dirty="0"/>
          </a:p>
        </p:txBody>
      </p:sp>
      <p:sp>
        <p:nvSpPr>
          <p:cNvPr id="7" name="Slide Number Placeholder 6"/>
          <p:cNvSpPr>
            <a:spLocks noGrp="1"/>
          </p:cNvSpPr>
          <p:nvPr>
            <p:ph type="sldNum" sz="quarter" idx="5"/>
          </p:nvPr>
        </p:nvSpPr>
        <p:spPr>
          <a:xfrm>
            <a:off x="3939466" y="8842030"/>
            <a:ext cx="3013763" cy="467071"/>
          </a:xfrm>
          <a:prstGeom prst="rect">
            <a:avLst/>
          </a:prstGeom>
        </p:spPr>
        <p:txBody>
          <a:bodyPr vert="horz" lIns="92930" tIns="46465" rIns="92930" bIns="46465" rtlCol="0" anchor="b"/>
          <a:lstStyle>
            <a:lvl1pPr algn="r">
              <a:defRPr sz="1200"/>
            </a:lvl1pPr>
          </a:lstStyle>
          <a:p>
            <a:fld id="{5617F9B7-5110-4225-A395-C002DCB96977}" type="slidenum">
              <a:rPr lang="bg-BG" smtClean="0"/>
              <a:t>‹#›</a:t>
            </a:fld>
            <a:endParaRPr lang="bg-BG" dirty="0"/>
          </a:p>
        </p:txBody>
      </p:sp>
    </p:spTree>
    <p:extLst>
      <p:ext uri="{BB962C8B-B14F-4D97-AF65-F5344CB8AC3E}">
        <p14:creationId xmlns:p14="http://schemas.microsoft.com/office/powerpoint/2010/main" val="177276145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4.png"/><Relationship Id="rId1" Type="http://schemas.openxmlformats.org/officeDocument/2006/relationships/slideMaster" Target="../slideMasters/slideMaster1.xml"/><Relationship Id="rId5" Type="http://schemas.microsoft.com/office/2007/relationships/hdphoto" Target="../media/hdphoto1.wdp"/><Relationship Id="rId4"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4.png"/><Relationship Id="rId1" Type="http://schemas.openxmlformats.org/officeDocument/2006/relationships/slideMaster" Target="../slideMasters/slideMaster1.xml"/><Relationship Id="rId5" Type="http://schemas.microsoft.com/office/2007/relationships/hdphoto" Target="../media/hdphoto1.wdp"/><Relationship Id="rId4" Type="http://schemas.openxmlformats.org/officeDocument/2006/relationships/image" Target="../media/image3.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4.png"/><Relationship Id="rId1" Type="http://schemas.openxmlformats.org/officeDocument/2006/relationships/slideMaster" Target="../slideMasters/slideMaster1.xml"/><Relationship Id="rId5" Type="http://schemas.microsoft.com/office/2007/relationships/hdphoto" Target="../media/hdphoto1.wdp"/><Relationship Id="rId4" Type="http://schemas.openxmlformats.org/officeDocument/2006/relationships/image" Target="../media/image2.png"/></Relationships>
</file>

<file path=ppt/slideLayouts/_rels/slideLayout9.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4.png"/><Relationship Id="rId1" Type="http://schemas.openxmlformats.org/officeDocument/2006/relationships/slideMaster" Target="../slideMasters/slideMaster1.xml"/><Relationship Id="rId5" Type="http://schemas.microsoft.com/office/2007/relationships/hdphoto" Target="../media/hdphoto1.wdp"/><Relationship Id="rId4" Type="http://schemas.openxmlformats.org/officeDocument/2006/relationships/image" Target="../media/image2.pn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Rectangle 6"/>
          <p:cNvSpPr/>
          <p:nvPr/>
        </p:nvSpPr>
        <p:spPr>
          <a:xfrm>
            <a:off x="920834" y="1346946"/>
            <a:ext cx="10222992" cy="80683"/>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6200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920834" y="4299696"/>
            <a:ext cx="10222992" cy="80683"/>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175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920834" y="1484779"/>
            <a:ext cx="10222992" cy="2743200"/>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sp>
      <p:grpSp>
        <p:nvGrpSpPr>
          <p:cNvPr id="10" name="Group 9"/>
          <p:cNvGrpSpPr/>
          <p:nvPr/>
        </p:nvGrpSpPr>
        <p:grpSpPr>
          <a:xfrm>
            <a:off x="9649215" y="4068923"/>
            <a:ext cx="1080904" cy="1080902"/>
            <a:chOff x="9685338" y="4460675"/>
            <a:chExt cx="1080904" cy="1080902"/>
          </a:xfrm>
        </p:grpSpPr>
        <p:sp>
          <p:nvSpPr>
            <p:cNvPr id="11" name="Oval 10"/>
            <p:cNvSpPr/>
            <p:nvPr/>
          </p:nvSpPr>
          <p:spPr>
            <a:xfrm>
              <a:off x="9685338" y="4460675"/>
              <a:ext cx="1080904" cy="1080902"/>
            </a:xfrm>
            <a:prstGeom prst="ellipse">
              <a:avLst/>
            </a:prstGeom>
            <a:blipFill dpi="0" rotWithShape="1">
              <a:blip r:embed="rId4">
                <a:duotone>
                  <a:schemeClr val="accent1">
                    <a:shade val="45000"/>
                    <a:satMod val="135000"/>
                  </a:schemeClr>
                  <a:prstClr val="white"/>
                </a:duotone>
                <a:extLst>
                  <a:ext uri="{BEBA8EAE-BF5A-486C-A8C5-ECC9F3942E4B}">
                    <a14:imgProps xmlns:a14="http://schemas.microsoft.com/office/drawing/2010/main">
                      <a14:imgLayer r:embed="rId5">
                        <a14:imgEffect>
                          <a14:saturation sat="95000"/>
                        </a14:imgEffect>
                      </a14:imgLayer>
                    </a14:imgProps>
                  </a:ext>
                </a:extLst>
              </a:blip>
              <a:srcRect/>
              <a:tile tx="0" ty="0" sx="85000" sy="85000" flip="none" algn="tl"/>
            </a:blipFill>
            <a:ln w="25400" cap="flat" cmpd="sng" algn="ctr">
              <a:noFill/>
              <a:prstDash val="solid"/>
            </a:ln>
            <a:effectLst/>
          </p:spPr>
        </p:sp>
        <p:sp>
          <p:nvSpPr>
            <p:cNvPr id="12" name="Oval 11"/>
            <p:cNvSpPr/>
            <p:nvPr/>
          </p:nvSpPr>
          <p:spPr>
            <a:xfrm>
              <a:off x="9793429" y="4568765"/>
              <a:ext cx="864723" cy="864722"/>
            </a:xfrm>
            <a:prstGeom prst="ellipse">
              <a:avLst/>
            </a:prstGeom>
            <a:noFill/>
            <a:ln w="25400" cap="flat" cmpd="sng" algn="ctr">
              <a:solidFill>
                <a:sysClr val="window" lastClr="FFFFFF"/>
              </a:solidFill>
              <a:prstDash val="solid"/>
            </a:ln>
            <a:effectLst/>
          </p:spPr>
        </p:sp>
      </p:grpSp>
      <p:sp>
        <p:nvSpPr>
          <p:cNvPr id="2" name="Title 1"/>
          <p:cNvSpPr>
            <a:spLocks noGrp="1"/>
          </p:cNvSpPr>
          <p:nvPr>
            <p:ph type="ctrTitle"/>
          </p:nvPr>
        </p:nvSpPr>
        <p:spPr>
          <a:xfrm>
            <a:off x="1051560" y="1432223"/>
            <a:ext cx="9966960" cy="3035808"/>
          </a:xfrm>
        </p:spPr>
        <p:txBody>
          <a:bodyPr anchor="ctr">
            <a:noAutofit/>
          </a:bodyPr>
          <a:lstStyle>
            <a:lvl1pPr algn="l">
              <a:lnSpc>
                <a:spcPct val="80000"/>
              </a:lnSpc>
              <a:defRPr sz="9600" cap="all" baseline="0">
                <a:blipFill dpi="0" rotWithShape="1">
                  <a:blip r:embed="rId4"/>
                  <a:srcRect/>
                  <a:tile tx="6350" ty="-127000" sx="65000" sy="64000" flip="none" algn="tl"/>
                </a:blipFill>
              </a:defRPr>
            </a:lvl1pPr>
          </a:lstStyle>
          <a:p>
            <a:r>
              <a:rPr lang="en-US"/>
              <a:t>Click to edit Master title style</a:t>
            </a:r>
            <a:endParaRPr lang="en-US" dirty="0"/>
          </a:p>
        </p:txBody>
      </p:sp>
      <p:sp>
        <p:nvSpPr>
          <p:cNvPr id="3" name="Subtitle 2"/>
          <p:cNvSpPr>
            <a:spLocks noGrp="1"/>
          </p:cNvSpPr>
          <p:nvPr>
            <p:ph type="subTitle" idx="1"/>
          </p:nvPr>
        </p:nvSpPr>
        <p:spPr>
          <a:xfrm>
            <a:off x="1069848" y="4389120"/>
            <a:ext cx="7891272" cy="1069848"/>
          </a:xfrm>
        </p:spPr>
        <p:txBody>
          <a:bodyPr>
            <a:normAutofit/>
          </a:bodyPr>
          <a:lstStyle>
            <a:lvl1pPr marL="0" indent="0" algn="l">
              <a:buNone/>
              <a:defRPr sz="2200">
                <a:solidFill>
                  <a:schemeClr val="tx1"/>
                </a:solidFill>
              </a:defRPr>
            </a:lvl1pPr>
            <a:lvl2pPr marL="457200" indent="0" algn="ctr">
              <a:buNone/>
              <a:defRPr sz="2200"/>
            </a:lvl2pPr>
            <a:lvl3pPr marL="914400" indent="0" algn="ctr">
              <a:buNone/>
              <a:defRPr sz="22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996A666B-2F7D-4199-A5CF-D1399F06B5CC}" type="datetime1">
              <a:rPr lang="bg-BG" smtClean="0"/>
              <a:t>2.5.2023 г.</a:t>
            </a:fld>
            <a:endParaRPr lang="bg-BG" dirty="0"/>
          </a:p>
        </p:txBody>
      </p:sp>
      <p:sp>
        <p:nvSpPr>
          <p:cNvPr id="5" name="Footer Placeholder 4"/>
          <p:cNvSpPr>
            <a:spLocks noGrp="1"/>
          </p:cNvSpPr>
          <p:nvPr>
            <p:ph type="ftr" sz="quarter" idx="11"/>
          </p:nvPr>
        </p:nvSpPr>
        <p:spPr/>
        <p:txBody>
          <a:bodyPr/>
          <a:lstStyle/>
          <a:p>
            <a:endParaRPr lang="bg-BG" dirty="0"/>
          </a:p>
        </p:txBody>
      </p:sp>
      <p:sp>
        <p:nvSpPr>
          <p:cNvPr id="6" name="Slide Number Placeholder 5"/>
          <p:cNvSpPr>
            <a:spLocks noGrp="1"/>
          </p:cNvSpPr>
          <p:nvPr>
            <p:ph type="sldNum" sz="quarter" idx="12"/>
          </p:nvPr>
        </p:nvSpPr>
        <p:spPr>
          <a:xfrm>
            <a:off x="9592733" y="4289334"/>
            <a:ext cx="1193868" cy="640080"/>
          </a:xfrm>
        </p:spPr>
        <p:txBody>
          <a:bodyPr/>
          <a:lstStyle>
            <a:lvl1pPr>
              <a:defRPr sz="2800"/>
            </a:lvl1pPr>
          </a:lstStyle>
          <a:p>
            <a:fld id="{081674E5-CD74-4638-A238-012A517DC16A}" type="slidenum">
              <a:rPr lang="bg-BG" smtClean="0"/>
              <a:t>‹#›</a:t>
            </a:fld>
            <a:endParaRPr lang="bg-BG" dirty="0"/>
          </a:p>
        </p:txBody>
      </p:sp>
    </p:spTree>
    <p:extLst>
      <p:ext uri="{BB962C8B-B14F-4D97-AF65-F5344CB8AC3E}">
        <p14:creationId xmlns:p14="http://schemas.microsoft.com/office/powerpoint/2010/main" val="213164872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AEF8BD3-AC58-47F1-B591-69906B5D74CE}" type="datetime1">
              <a:rPr lang="bg-BG" smtClean="0"/>
              <a:t>2.5.2023 г.</a:t>
            </a:fld>
            <a:endParaRPr lang="bg-BG" dirty="0"/>
          </a:p>
        </p:txBody>
      </p:sp>
      <p:sp>
        <p:nvSpPr>
          <p:cNvPr id="5" name="Footer Placeholder 4"/>
          <p:cNvSpPr>
            <a:spLocks noGrp="1"/>
          </p:cNvSpPr>
          <p:nvPr>
            <p:ph type="ftr" sz="quarter" idx="11"/>
          </p:nvPr>
        </p:nvSpPr>
        <p:spPr/>
        <p:txBody>
          <a:bodyPr/>
          <a:lstStyle/>
          <a:p>
            <a:endParaRPr lang="bg-BG" dirty="0"/>
          </a:p>
        </p:txBody>
      </p:sp>
      <p:sp>
        <p:nvSpPr>
          <p:cNvPr id="6" name="Slide Number Placeholder 5"/>
          <p:cNvSpPr>
            <a:spLocks noGrp="1"/>
          </p:cNvSpPr>
          <p:nvPr>
            <p:ph type="sldNum" sz="quarter" idx="12"/>
          </p:nvPr>
        </p:nvSpPr>
        <p:spPr/>
        <p:txBody>
          <a:bodyPr/>
          <a:lstStyle/>
          <a:p>
            <a:fld id="{081674E5-CD74-4638-A238-012A517DC16A}" type="slidenum">
              <a:rPr lang="bg-BG" smtClean="0"/>
              <a:t>‹#›</a:t>
            </a:fld>
            <a:endParaRPr lang="bg-BG" dirty="0"/>
          </a:p>
        </p:txBody>
      </p:sp>
    </p:spTree>
    <p:extLst>
      <p:ext uri="{BB962C8B-B14F-4D97-AF65-F5344CB8AC3E}">
        <p14:creationId xmlns:p14="http://schemas.microsoft.com/office/powerpoint/2010/main" val="351844169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7" name="Rectangle 6"/>
          <p:cNvSpPr/>
          <p:nvPr/>
        </p:nvSpPr>
        <p:spPr>
          <a:xfrm>
            <a:off x="0" y="4917989"/>
            <a:ext cx="12192000" cy="1940010"/>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2167128" y="1225296"/>
            <a:ext cx="9281160" cy="3520440"/>
          </a:xfrm>
        </p:spPr>
        <p:txBody>
          <a:bodyPr anchor="ctr">
            <a:normAutofit/>
          </a:bodyPr>
          <a:lstStyle>
            <a:lvl1pPr>
              <a:lnSpc>
                <a:spcPct val="80000"/>
              </a:lnSpc>
              <a:defRPr sz="8000" b="0"/>
            </a:lvl1pPr>
          </a:lstStyle>
          <a:p>
            <a:r>
              <a:rPr lang="en-US"/>
              <a:t>Click to edit Master title style</a:t>
            </a:r>
            <a:endParaRPr lang="en-US" dirty="0"/>
          </a:p>
        </p:txBody>
      </p:sp>
      <p:sp>
        <p:nvSpPr>
          <p:cNvPr id="3" name="Text Placeholder 2"/>
          <p:cNvSpPr>
            <a:spLocks noGrp="1"/>
          </p:cNvSpPr>
          <p:nvPr>
            <p:ph type="body" idx="1"/>
          </p:nvPr>
        </p:nvSpPr>
        <p:spPr>
          <a:xfrm>
            <a:off x="2165774" y="5020056"/>
            <a:ext cx="9052560" cy="1066800"/>
          </a:xfrm>
        </p:spPr>
        <p:txBody>
          <a:bodyPr anchor="t">
            <a:normAutofit/>
          </a:bodyPr>
          <a:lstStyle>
            <a:lvl1pPr marL="0" indent="0">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a:xfrm>
            <a:off x="8593667" y="6272784"/>
            <a:ext cx="2644309" cy="365125"/>
          </a:xfrm>
        </p:spPr>
        <p:txBody>
          <a:bodyPr/>
          <a:lstStyle/>
          <a:p>
            <a:fld id="{46564442-4F9C-4117-9AC9-3C912B6DAF6E}" type="datetime1">
              <a:rPr lang="bg-BG" smtClean="0"/>
              <a:t>2.5.2023 г.</a:t>
            </a:fld>
            <a:endParaRPr lang="bg-BG" dirty="0"/>
          </a:p>
        </p:txBody>
      </p:sp>
      <p:sp>
        <p:nvSpPr>
          <p:cNvPr id="5" name="Footer Placeholder 4"/>
          <p:cNvSpPr>
            <a:spLocks noGrp="1"/>
          </p:cNvSpPr>
          <p:nvPr>
            <p:ph type="ftr" sz="quarter" idx="11"/>
          </p:nvPr>
        </p:nvSpPr>
        <p:spPr>
          <a:xfrm>
            <a:off x="2182708" y="6272784"/>
            <a:ext cx="6327648" cy="365125"/>
          </a:xfrm>
        </p:spPr>
        <p:txBody>
          <a:bodyPr/>
          <a:lstStyle/>
          <a:p>
            <a:endParaRPr lang="bg-BG" dirty="0"/>
          </a:p>
        </p:txBody>
      </p:sp>
      <p:grpSp>
        <p:nvGrpSpPr>
          <p:cNvPr id="8" name="Group 7"/>
          <p:cNvGrpSpPr/>
          <p:nvPr/>
        </p:nvGrpSpPr>
        <p:grpSpPr>
          <a:xfrm>
            <a:off x="897399" y="2325848"/>
            <a:ext cx="1080904" cy="1080902"/>
            <a:chOff x="9685338" y="4460675"/>
            <a:chExt cx="1080904" cy="1080902"/>
          </a:xfrm>
        </p:grpSpPr>
        <p:sp>
          <p:nvSpPr>
            <p:cNvPr id="9" name="Oval 8"/>
            <p:cNvSpPr/>
            <p:nvPr/>
          </p:nvSpPr>
          <p:spPr>
            <a:xfrm>
              <a:off x="9685338" y="4460675"/>
              <a:ext cx="1080904" cy="1080902"/>
            </a:xfrm>
            <a:prstGeom prst="ellipse">
              <a:avLst/>
            </a:prstGeom>
            <a:blipFill dpi="0" rotWithShape="1">
              <a:blip r:embed="rId4">
                <a:duotone>
                  <a:schemeClr val="accent1">
                    <a:shade val="45000"/>
                    <a:satMod val="135000"/>
                  </a:schemeClr>
                  <a:prstClr val="white"/>
                </a:duotone>
                <a:extLst>
                  <a:ext uri="{BEBA8EAE-BF5A-486C-A8C5-ECC9F3942E4B}">
                    <a14:imgProps xmlns:a14="http://schemas.microsoft.com/office/drawing/2010/main">
                      <a14:imgLayer r:embed="rId5">
                        <a14:imgEffect>
                          <a14:saturation sat="95000"/>
                        </a14:imgEffect>
                      </a14:imgLayer>
                    </a14:imgProps>
                  </a:ext>
                </a:extLst>
              </a:blip>
              <a:srcRect/>
              <a:tile tx="0" ty="0" sx="85000" sy="85000" flip="none" algn="tl"/>
            </a:blipFill>
            <a:ln w="25400" cap="flat" cmpd="sng" algn="ctr">
              <a:noFill/>
              <a:prstDash val="solid"/>
            </a:ln>
            <a:effectLst/>
          </p:spPr>
        </p:sp>
        <p:sp>
          <p:nvSpPr>
            <p:cNvPr id="10" name="Oval 9"/>
            <p:cNvSpPr/>
            <p:nvPr/>
          </p:nvSpPr>
          <p:spPr>
            <a:xfrm>
              <a:off x="9793429" y="4568765"/>
              <a:ext cx="864723" cy="864722"/>
            </a:xfrm>
            <a:prstGeom prst="ellipse">
              <a:avLst/>
            </a:prstGeom>
            <a:noFill/>
            <a:ln w="25400" cap="flat" cmpd="sng" algn="ctr">
              <a:solidFill>
                <a:sysClr val="window" lastClr="FFFFFF"/>
              </a:solidFill>
              <a:prstDash val="solid"/>
            </a:ln>
            <a:effectLst/>
          </p:spPr>
        </p:sp>
      </p:grpSp>
      <p:sp>
        <p:nvSpPr>
          <p:cNvPr id="6" name="Slide Number Placeholder 5"/>
          <p:cNvSpPr>
            <a:spLocks noGrp="1"/>
          </p:cNvSpPr>
          <p:nvPr>
            <p:ph type="sldNum" sz="quarter" idx="12"/>
          </p:nvPr>
        </p:nvSpPr>
        <p:spPr>
          <a:xfrm>
            <a:off x="843702" y="2506133"/>
            <a:ext cx="1188298" cy="720332"/>
          </a:xfrm>
        </p:spPr>
        <p:txBody>
          <a:bodyPr/>
          <a:lstStyle>
            <a:lvl1pPr>
              <a:defRPr sz="2800"/>
            </a:lvl1pPr>
          </a:lstStyle>
          <a:p>
            <a:fld id="{081674E5-CD74-4638-A238-012A517DC16A}" type="slidenum">
              <a:rPr lang="bg-BG" smtClean="0"/>
              <a:t>‹#›</a:t>
            </a:fld>
            <a:endParaRPr lang="bg-BG" dirty="0"/>
          </a:p>
        </p:txBody>
      </p:sp>
    </p:spTree>
    <p:extLst>
      <p:ext uri="{BB962C8B-B14F-4D97-AF65-F5344CB8AC3E}">
        <p14:creationId xmlns:p14="http://schemas.microsoft.com/office/powerpoint/2010/main" val="174547650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069848" y="2194560"/>
            <a:ext cx="4754880" cy="3977640"/>
          </a:xfrm>
        </p:spPr>
        <p:txBody>
          <a:bodyPr/>
          <a:lstStyle>
            <a:lvl1pPr>
              <a:defRPr sz="2000"/>
            </a:lvl1pPr>
            <a:lvl2pPr>
              <a:defRPr sz="18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364224" y="2194560"/>
            <a:ext cx="4754880" cy="3977640"/>
          </a:xfrm>
        </p:spPr>
        <p:txBody>
          <a:bodyPr/>
          <a:lstStyle>
            <a:lvl1pPr>
              <a:defRPr sz="2000"/>
            </a:lvl1pPr>
            <a:lvl2pPr>
              <a:defRPr sz="18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6D72E6C9-D462-4DF8-8A5B-084EF99FCB92}" type="datetime1">
              <a:rPr lang="bg-BG" smtClean="0"/>
              <a:t>2.5.2023 г.</a:t>
            </a:fld>
            <a:endParaRPr lang="bg-BG" dirty="0"/>
          </a:p>
        </p:txBody>
      </p:sp>
      <p:sp>
        <p:nvSpPr>
          <p:cNvPr id="6" name="Footer Placeholder 5"/>
          <p:cNvSpPr>
            <a:spLocks noGrp="1"/>
          </p:cNvSpPr>
          <p:nvPr>
            <p:ph type="ftr" sz="quarter" idx="11"/>
          </p:nvPr>
        </p:nvSpPr>
        <p:spPr/>
        <p:txBody>
          <a:bodyPr/>
          <a:lstStyle/>
          <a:p>
            <a:endParaRPr lang="bg-BG" dirty="0"/>
          </a:p>
        </p:txBody>
      </p:sp>
      <p:sp>
        <p:nvSpPr>
          <p:cNvPr id="7" name="Slide Number Placeholder 6"/>
          <p:cNvSpPr>
            <a:spLocks noGrp="1"/>
          </p:cNvSpPr>
          <p:nvPr>
            <p:ph type="sldNum" sz="quarter" idx="12"/>
          </p:nvPr>
        </p:nvSpPr>
        <p:spPr/>
        <p:txBody>
          <a:bodyPr/>
          <a:lstStyle/>
          <a:p>
            <a:fld id="{081674E5-CD74-4638-A238-012A517DC16A}" type="slidenum">
              <a:rPr lang="bg-BG" smtClean="0"/>
              <a:t>‹#›</a:t>
            </a:fld>
            <a:endParaRPr lang="bg-BG" dirty="0"/>
          </a:p>
        </p:txBody>
      </p:sp>
    </p:spTree>
    <p:extLst>
      <p:ext uri="{BB962C8B-B14F-4D97-AF65-F5344CB8AC3E}">
        <p14:creationId xmlns:p14="http://schemas.microsoft.com/office/powerpoint/2010/main" val="30609187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a:t>Click to edit Master title style</a:t>
            </a:r>
            <a:endParaRPr lang="en-US" dirty="0"/>
          </a:p>
        </p:txBody>
      </p:sp>
      <p:sp>
        <p:nvSpPr>
          <p:cNvPr id="3" name="Text Placeholder 2"/>
          <p:cNvSpPr>
            <a:spLocks noGrp="1"/>
          </p:cNvSpPr>
          <p:nvPr>
            <p:ph type="body" idx="1"/>
          </p:nvPr>
        </p:nvSpPr>
        <p:spPr>
          <a:xfrm>
            <a:off x="1066800" y="2048256"/>
            <a:ext cx="4754880" cy="640080"/>
          </a:xfrm>
        </p:spPr>
        <p:txBody>
          <a:bodyPr anchor="ctr">
            <a:normAutofit/>
          </a:bodyPr>
          <a:lstStyle>
            <a:lvl1pPr marL="0" indent="0">
              <a:buNone/>
              <a:defRPr sz="2000" b="1">
                <a:solidFill>
                  <a:schemeClr val="accent1">
                    <a:lumMod val="7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1069848" y="2743200"/>
            <a:ext cx="4754880" cy="3291840"/>
          </a:xfrm>
        </p:spPr>
        <p:txBody>
          <a:bodyPr/>
          <a:lstStyle>
            <a:lvl1pPr>
              <a:defRPr sz="2000"/>
            </a:lvl1pPr>
            <a:lvl2pPr>
              <a:defRPr sz="18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364224" y="2048256"/>
            <a:ext cx="4754880" cy="640080"/>
          </a:xfrm>
        </p:spPr>
        <p:txBody>
          <a:bodyPr anchor="ctr">
            <a:normAutofit/>
          </a:bodyPr>
          <a:lstStyle>
            <a:lvl1pPr marL="0" indent="0">
              <a:buNone/>
              <a:defRPr sz="2000" b="1">
                <a:solidFill>
                  <a:schemeClr val="accent1">
                    <a:lumMod val="7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6364224" y="2743200"/>
            <a:ext cx="4754880" cy="3291840"/>
          </a:xfrm>
        </p:spPr>
        <p:txBody>
          <a:bodyPr/>
          <a:lstStyle>
            <a:lvl1pPr>
              <a:defRPr sz="2000"/>
            </a:lvl1pPr>
            <a:lvl2pPr>
              <a:defRPr sz="18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DEEB004C-1449-4E25-B641-5BE18784B024}" type="datetime1">
              <a:rPr lang="bg-BG" smtClean="0"/>
              <a:t>2.5.2023 г.</a:t>
            </a:fld>
            <a:endParaRPr lang="bg-BG" dirty="0"/>
          </a:p>
        </p:txBody>
      </p:sp>
      <p:sp>
        <p:nvSpPr>
          <p:cNvPr id="8" name="Footer Placeholder 7"/>
          <p:cNvSpPr>
            <a:spLocks noGrp="1"/>
          </p:cNvSpPr>
          <p:nvPr>
            <p:ph type="ftr" sz="quarter" idx="11"/>
          </p:nvPr>
        </p:nvSpPr>
        <p:spPr/>
        <p:txBody>
          <a:bodyPr/>
          <a:lstStyle/>
          <a:p>
            <a:endParaRPr lang="bg-BG" dirty="0"/>
          </a:p>
        </p:txBody>
      </p:sp>
      <p:sp>
        <p:nvSpPr>
          <p:cNvPr id="9" name="Slide Number Placeholder 8"/>
          <p:cNvSpPr>
            <a:spLocks noGrp="1"/>
          </p:cNvSpPr>
          <p:nvPr>
            <p:ph type="sldNum" sz="quarter" idx="12"/>
          </p:nvPr>
        </p:nvSpPr>
        <p:spPr/>
        <p:txBody>
          <a:bodyPr/>
          <a:lstStyle/>
          <a:p>
            <a:fld id="{081674E5-CD74-4638-A238-012A517DC16A}" type="slidenum">
              <a:rPr lang="bg-BG" smtClean="0"/>
              <a:t>‹#›</a:t>
            </a:fld>
            <a:endParaRPr lang="bg-BG" dirty="0"/>
          </a:p>
        </p:txBody>
      </p:sp>
    </p:spTree>
    <p:extLst>
      <p:ext uri="{BB962C8B-B14F-4D97-AF65-F5344CB8AC3E}">
        <p14:creationId xmlns:p14="http://schemas.microsoft.com/office/powerpoint/2010/main" val="59890794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D6BC1725-AB21-4845-BE49-CE8C42164743}" type="datetime1">
              <a:rPr lang="bg-BG" smtClean="0"/>
              <a:t>2.5.2023 г.</a:t>
            </a:fld>
            <a:endParaRPr lang="bg-BG" dirty="0"/>
          </a:p>
        </p:txBody>
      </p:sp>
      <p:sp>
        <p:nvSpPr>
          <p:cNvPr id="4" name="Footer Placeholder 3"/>
          <p:cNvSpPr>
            <a:spLocks noGrp="1"/>
          </p:cNvSpPr>
          <p:nvPr>
            <p:ph type="ftr" sz="quarter" idx="11"/>
          </p:nvPr>
        </p:nvSpPr>
        <p:spPr/>
        <p:txBody>
          <a:bodyPr/>
          <a:lstStyle/>
          <a:p>
            <a:endParaRPr lang="bg-BG" dirty="0"/>
          </a:p>
        </p:txBody>
      </p:sp>
      <p:sp>
        <p:nvSpPr>
          <p:cNvPr id="5" name="Slide Number Placeholder 4"/>
          <p:cNvSpPr>
            <a:spLocks noGrp="1"/>
          </p:cNvSpPr>
          <p:nvPr>
            <p:ph type="sldNum" sz="quarter" idx="12"/>
          </p:nvPr>
        </p:nvSpPr>
        <p:spPr/>
        <p:txBody>
          <a:bodyPr/>
          <a:lstStyle/>
          <a:p>
            <a:fld id="{081674E5-CD74-4638-A238-012A517DC16A}" type="slidenum">
              <a:rPr lang="bg-BG" smtClean="0"/>
              <a:t>‹#›</a:t>
            </a:fld>
            <a:endParaRPr lang="bg-BG" dirty="0"/>
          </a:p>
        </p:txBody>
      </p:sp>
    </p:spTree>
    <p:extLst>
      <p:ext uri="{BB962C8B-B14F-4D97-AF65-F5344CB8AC3E}">
        <p14:creationId xmlns:p14="http://schemas.microsoft.com/office/powerpoint/2010/main" val="405353694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087940C-92A6-42D4-A0AE-8AE229120CFF}" type="datetime1">
              <a:rPr lang="bg-BG" smtClean="0"/>
              <a:t>2.5.2023 г.</a:t>
            </a:fld>
            <a:endParaRPr lang="bg-BG" dirty="0"/>
          </a:p>
        </p:txBody>
      </p:sp>
      <p:sp>
        <p:nvSpPr>
          <p:cNvPr id="3" name="Footer Placeholder 2"/>
          <p:cNvSpPr>
            <a:spLocks noGrp="1"/>
          </p:cNvSpPr>
          <p:nvPr>
            <p:ph type="ftr" sz="quarter" idx="11"/>
          </p:nvPr>
        </p:nvSpPr>
        <p:spPr/>
        <p:txBody>
          <a:bodyPr/>
          <a:lstStyle/>
          <a:p>
            <a:endParaRPr lang="bg-BG" dirty="0"/>
          </a:p>
        </p:txBody>
      </p:sp>
      <p:sp>
        <p:nvSpPr>
          <p:cNvPr id="4" name="Slide Number Placeholder 3"/>
          <p:cNvSpPr>
            <a:spLocks noGrp="1"/>
          </p:cNvSpPr>
          <p:nvPr>
            <p:ph type="sldNum" sz="quarter" idx="12"/>
          </p:nvPr>
        </p:nvSpPr>
        <p:spPr/>
        <p:txBody>
          <a:bodyPr/>
          <a:lstStyle/>
          <a:p>
            <a:fld id="{081674E5-CD74-4638-A238-012A517DC16A}" type="slidenum">
              <a:rPr lang="bg-BG" smtClean="0"/>
              <a:t>‹#›</a:t>
            </a:fld>
            <a:endParaRPr lang="bg-BG" dirty="0"/>
          </a:p>
        </p:txBody>
      </p:sp>
    </p:spTree>
    <p:extLst>
      <p:ext uri="{BB962C8B-B14F-4D97-AF65-F5344CB8AC3E}">
        <p14:creationId xmlns:p14="http://schemas.microsoft.com/office/powerpoint/2010/main" val="41305140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8" name="Rectangle 7"/>
          <p:cNvSpPr/>
          <p:nvPr/>
        </p:nvSpPr>
        <p:spPr>
          <a:xfrm>
            <a:off x="8303740" y="0"/>
            <a:ext cx="3888259" cy="6857999"/>
          </a:xfrm>
          <a:prstGeom prst="rect">
            <a:avLst/>
          </a:prstGeom>
          <a:blipFill dpi="0" rotWithShape="1">
            <a:blip r:embed="rId2">
              <a:alphaModFix amt="60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8549640" y="685800"/>
            <a:ext cx="3200400" cy="1737360"/>
          </a:xfrm>
        </p:spPr>
        <p:txBody>
          <a:bodyPr anchor="b">
            <a:normAutofit/>
          </a:bodyPr>
          <a:lstStyle>
            <a:lvl1pPr>
              <a:defRPr sz="3200" b="1"/>
            </a:lvl1pPr>
          </a:lstStyle>
          <a:p>
            <a:r>
              <a:rPr lang="en-US"/>
              <a:t>Click to edit Master title style</a:t>
            </a:r>
            <a:endParaRPr lang="en-US" dirty="0"/>
          </a:p>
        </p:txBody>
      </p:sp>
      <p:sp>
        <p:nvSpPr>
          <p:cNvPr id="3" name="Content Placeholder 2"/>
          <p:cNvSpPr>
            <a:spLocks noGrp="1"/>
          </p:cNvSpPr>
          <p:nvPr>
            <p:ph idx="1"/>
          </p:nvPr>
        </p:nvSpPr>
        <p:spPr>
          <a:xfrm>
            <a:off x="838200" y="685800"/>
            <a:ext cx="6711696" cy="5020056"/>
          </a:xfrm>
        </p:spPr>
        <p:txBody>
          <a:bodyPr/>
          <a:lstStyle>
            <a:lvl1pPr>
              <a:defRPr sz="2000"/>
            </a:lvl1pPr>
            <a:lvl2pPr>
              <a:defRPr sz="18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549640" y="2423160"/>
            <a:ext cx="3200400" cy="3291840"/>
          </a:xfrm>
        </p:spPr>
        <p:txBody>
          <a:bodyPr>
            <a:normAutofit/>
          </a:bodyPr>
          <a:lstStyle>
            <a:lvl1pPr marL="0" indent="0">
              <a:lnSpc>
                <a:spcPct val="100000"/>
              </a:lnSpc>
              <a:spcBef>
                <a:spcPts val="1000"/>
              </a:spcBef>
              <a:buNone/>
              <a:defRPr sz="1400">
                <a:solidFill>
                  <a:schemeClr val="accent1">
                    <a:lumMod val="75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Date Placeholder 4"/>
          <p:cNvSpPr>
            <a:spLocks noGrp="1"/>
          </p:cNvSpPr>
          <p:nvPr>
            <p:ph type="dt" sz="half" idx="10"/>
          </p:nvPr>
        </p:nvSpPr>
        <p:spPr/>
        <p:txBody>
          <a:bodyPr/>
          <a:lstStyle/>
          <a:p>
            <a:fld id="{364F04CA-5B7E-4437-926E-A34999B7E6C0}" type="datetime1">
              <a:rPr lang="bg-BG" smtClean="0"/>
              <a:t>2.5.2023 г.</a:t>
            </a:fld>
            <a:endParaRPr lang="bg-BG" dirty="0"/>
          </a:p>
        </p:txBody>
      </p:sp>
      <p:sp>
        <p:nvSpPr>
          <p:cNvPr id="6" name="Footer Placeholder 5"/>
          <p:cNvSpPr>
            <a:spLocks noGrp="1"/>
          </p:cNvSpPr>
          <p:nvPr>
            <p:ph type="ftr" sz="quarter" idx="11"/>
          </p:nvPr>
        </p:nvSpPr>
        <p:spPr/>
        <p:txBody>
          <a:bodyPr/>
          <a:lstStyle/>
          <a:p>
            <a:endParaRPr lang="bg-BG" dirty="0"/>
          </a:p>
        </p:txBody>
      </p:sp>
      <p:grpSp>
        <p:nvGrpSpPr>
          <p:cNvPr id="9" name="Group 8"/>
          <p:cNvGrpSpPr>
            <a:grpSpLocks noChangeAspect="1"/>
          </p:cNvGrpSpPr>
          <p:nvPr/>
        </p:nvGrpSpPr>
        <p:grpSpPr>
          <a:xfrm>
            <a:off x="11401725" y="6229681"/>
            <a:ext cx="457200" cy="457200"/>
            <a:chOff x="11361456" y="6195813"/>
            <a:chExt cx="548640" cy="548640"/>
          </a:xfrm>
        </p:grpSpPr>
        <p:sp>
          <p:nvSpPr>
            <p:cNvPr id="10" name="Oval 9"/>
            <p:cNvSpPr/>
            <p:nvPr/>
          </p:nvSpPr>
          <p:spPr>
            <a:xfrm>
              <a:off x="11361456" y="6195813"/>
              <a:ext cx="548640" cy="548640"/>
            </a:xfrm>
            <a:prstGeom prst="ellipse">
              <a:avLst/>
            </a:prstGeom>
            <a:blipFill dpi="0" rotWithShape="1">
              <a:blip r:embed="rId4">
                <a:duotone>
                  <a:schemeClr val="accent1">
                    <a:shade val="45000"/>
                    <a:satMod val="135000"/>
                  </a:schemeClr>
                  <a:prstClr val="white"/>
                </a:duotone>
                <a:extLst>
                  <a:ext uri="{BEBA8EAE-BF5A-486C-A8C5-ECC9F3942E4B}">
                    <a14:imgProps xmlns:a14="http://schemas.microsoft.com/office/drawing/2010/main">
                      <a14:imgLayer r:embed="rId5">
                        <a14:imgEffect>
                          <a14:saturation sat="95000"/>
                        </a14:imgEffect>
                        <a14:imgEffect>
                          <a14:brightnessContrast bright="-40000" contrast="20000"/>
                        </a14:imgEffect>
                      </a14:imgLayer>
                    </a14:imgProps>
                  </a:ext>
                </a:extLst>
              </a:blip>
              <a:srcRect/>
              <a:tile tx="50800" ty="0" sx="85000" sy="85000" flip="none" algn="tl"/>
            </a:blipFill>
            <a:ln w="25400" cap="flat" cmpd="sng" algn="ctr">
              <a:noFill/>
              <a:prstDash val="solid"/>
            </a:ln>
            <a:effectLst/>
          </p:spPr>
        </p:sp>
        <p:sp>
          <p:nvSpPr>
            <p:cNvPr id="11" name="Oval 10"/>
            <p:cNvSpPr/>
            <p:nvPr/>
          </p:nvSpPr>
          <p:spPr>
            <a:xfrm>
              <a:off x="11396488" y="6230844"/>
              <a:ext cx="478576" cy="478578"/>
            </a:xfrm>
            <a:prstGeom prst="ellipse">
              <a:avLst/>
            </a:prstGeom>
            <a:noFill/>
            <a:ln w="12700" cap="flat" cmpd="sng" algn="ctr">
              <a:solidFill>
                <a:sysClr val="window" lastClr="FFFFFF"/>
              </a:solidFill>
              <a:prstDash val="solid"/>
            </a:ln>
            <a:effectLst/>
          </p:spPr>
        </p:sp>
      </p:grpSp>
      <p:sp>
        <p:nvSpPr>
          <p:cNvPr id="7" name="Slide Number Placeholder 6"/>
          <p:cNvSpPr>
            <a:spLocks noGrp="1"/>
          </p:cNvSpPr>
          <p:nvPr>
            <p:ph type="sldNum" sz="quarter" idx="12"/>
          </p:nvPr>
        </p:nvSpPr>
        <p:spPr/>
        <p:txBody>
          <a:bodyPr/>
          <a:lstStyle/>
          <a:p>
            <a:fld id="{081674E5-CD74-4638-A238-012A517DC16A}" type="slidenum">
              <a:rPr lang="bg-BG" smtClean="0"/>
              <a:t>‹#›</a:t>
            </a:fld>
            <a:endParaRPr lang="bg-BG" dirty="0"/>
          </a:p>
        </p:txBody>
      </p:sp>
    </p:spTree>
    <p:extLst>
      <p:ext uri="{BB962C8B-B14F-4D97-AF65-F5344CB8AC3E}">
        <p14:creationId xmlns:p14="http://schemas.microsoft.com/office/powerpoint/2010/main" val="328340962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11" name="Rectangle 10"/>
          <p:cNvSpPr/>
          <p:nvPr/>
        </p:nvSpPr>
        <p:spPr>
          <a:xfrm>
            <a:off x="8303740" y="0"/>
            <a:ext cx="3888259" cy="6857999"/>
          </a:xfrm>
          <a:prstGeom prst="rect">
            <a:avLst/>
          </a:prstGeom>
          <a:blipFill dpi="0" rotWithShape="1">
            <a:blip r:embed="rId2">
              <a:alphaModFix amt="60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8549640" y="685800"/>
            <a:ext cx="3200400" cy="1737360"/>
          </a:xfrm>
        </p:spPr>
        <p:txBody>
          <a:bodyPr anchor="b">
            <a:normAutofit/>
          </a:bodyPr>
          <a:lstStyle>
            <a:lvl1pPr>
              <a:defRPr sz="3200" b="1"/>
            </a:lvl1pPr>
          </a:lstStyle>
          <a:p>
            <a:r>
              <a:rPr lang="en-US"/>
              <a:t>Click to edit Master title style</a:t>
            </a:r>
            <a:endParaRPr lang="en-US" dirty="0"/>
          </a:p>
        </p:txBody>
      </p:sp>
      <p:sp>
        <p:nvSpPr>
          <p:cNvPr id="3" name="Picture Placeholder 2"/>
          <p:cNvSpPr>
            <a:spLocks noGrp="1" noChangeAspect="1"/>
          </p:cNvSpPr>
          <p:nvPr>
            <p:ph type="pic" idx="1"/>
          </p:nvPr>
        </p:nvSpPr>
        <p:spPr>
          <a:xfrm>
            <a:off x="0" y="0"/>
            <a:ext cx="8303740" cy="6858000"/>
          </a:xfrm>
          <a:solidFill>
            <a:schemeClr val="tx2">
              <a:lumMod val="20000"/>
              <a:lumOff val="80000"/>
            </a:schemeClr>
          </a:solidFill>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Click icon to add picture</a:t>
            </a:r>
          </a:p>
        </p:txBody>
      </p:sp>
      <p:sp>
        <p:nvSpPr>
          <p:cNvPr id="4" name="Text Placeholder 3"/>
          <p:cNvSpPr>
            <a:spLocks noGrp="1"/>
          </p:cNvSpPr>
          <p:nvPr>
            <p:ph type="body" sz="half" idx="2"/>
          </p:nvPr>
        </p:nvSpPr>
        <p:spPr>
          <a:xfrm>
            <a:off x="8549640" y="2423160"/>
            <a:ext cx="3200400" cy="3291840"/>
          </a:xfrm>
        </p:spPr>
        <p:txBody>
          <a:bodyPr>
            <a:normAutofit/>
          </a:bodyPr>
          <a:lstStyle>
            <a:lvl1pPr marL="0" indent="0">
              <a:lnSpc>
                <a:spcPct val="100000"/>
              </a:lnSpc>
              <a:spcBef>
                <a:spcPts val="1000"/>
              </a:spcBef>
              <a:buNone/>
              <a:defRPr sz="1400">
                <a:solidFill>
                  <a:schemeClr val="accent1">
                    <a:lumMod val="75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Date Placeholder 4"/>
          <p:cNvSpPr>
            <a:spLocks noGrp="1"/>
          </p:cNvSpPr>
          <p:nvPr>
            <p:ph type="dt" sz="half" idx="10"/>
          </p:nvPr>
        </p:nvSpPr>
        <p:spPr/>
        <p:txBody>
          <a:bodyPr/>
          <a:lstStyle/>
          <a:p>
            <a:fld id="{56DBFFBA-50AA-4558-ADC7-8C8BF6C03621}" type="datetime1">
              <a:rPr lang="bg-BG" smtClean="0"/>
              <a:t>2.5.2023 г.</a:t>
            </a:fld>
            <a:endParaRPr lang="bg-BG" dirty="0"/>
          </a:p>
        </p:txBody>
      </p:sp>
      <p:grpSp>
        <p:nvGrpSpPr>
          <p:cNvPr id="8" name="Group 7"/>
          <p:cNvGrpSpPr>
            <a:grpSpLocks noChangeAspect="1"/>
          </p:cNvGrpSpPr>
          <p:nvPr/>
        </p:nvGrpSpPr>
        <p:grpSpPr>
          <a:xfrm>
            <a:off x="11401725" y="6229681"/>
            <a:ext cx="457200" cy="457200"/>
            <a:chOff x="11361456" y="6195813"/>
            <a:chExt cx="548640" cy="548640"/>
          </a:xfrm>
        </p:grpSpPr>
        <p:sp>
          <p:nvSpPr>
            <p:cNvPr id="9" name="Oval 8"/>
            <p:cNvSpPr/>
            <p:nvPr/>
          </p:nvSpPr>
          <p:spPr>
            <a:xfrm>
              <a:off x="11361456" y="6195813"/>
              <a:ext cx="548640" cy="548640"/>
            </a:xfrm>
            <a:prstGeom prst="ellipse">
              <a:avLst/>
            </a:prstGeom>
            <a:blipFill dpi="0" rotWithShape="1">
              <a:blip r:embed="rId4">
                <a:duotone>
                  <a:schemeClr val="accent1">
                    <a:shade val="45000"/>
                    <a:satMod val="135000"/>
                  </a:schemeClr>
                  <a:prstClr val="white"/>
                </a:duotone>
                <a:extLst>
                  <a:ext uri="{BEBA8EAE-BF5A-486C-A8C5-ECC9F3942E4B}">
                    <a14:imgProps xmlns:a14="http://schemas.microsoft.com/office/drawing/2010/main">
                      <a14:imgLayer r:embed="rId5">
                        <a14:imgEffect>
                          <a14:saturation sat="95000"/>
                        </a14:imgEffect>
                        <a14:imgEffect>
                          <a14:brightnessContrast bright="-40000" contrast="20000"/>
                        </a14:imgEffect>
                      </a14:imgLayer>
                    </a14:imgProps>
                  </a:ext>
                </a:extLst>
              </a:blip>
              <a:srcRect/>
              <a:tile tx="50800" ty="0" sx="85000" sy="85000" flip="none" algn="tl"/>
            </a:blipFill>
            <a:ln w="25400" cap="flat" cmpd="sng" algn="ctr">
              <a:noFill/>
              <a:prstDash val="solid"/>
            </a:ln>
            <a:effectLst/>
          </p:spPr>
        </p:sp>
        <p:sp>
          <p:nvSpPr>
            <p:cNvPr id="10" name="Oval 9"/>
            <p:cNvSpPr/>
            <p:nvPr/>
          </p:nvSpPr>
          <p:spPr>
            <a:xfrm>
              <a:off x="11396488" y="6230844"/>
              <a:ext cx="478576" cy="478578"/>
            </a:xfrm>
            <a:prstGeom prst="ellipse">
              <a:avLst/>
            </a:prstGeom>
            <a:noFill/>
            <a:ln w="12700" cap="flat" cmpd="sng" algn="ctr">
              <a:solidFill>
                <a:sysClr val="window" lastClr="FFFFFF"/>
              </a:solidFill>
              <a:prstDash val="solid"/>
            </a:ln>
            <a:effectLst/>
          </p:spPr>
        </p:sp>
      </p:grpSp>
      <p:sp>
        <p:nvSpPr>
          <p:cNvPr id="7" name="Slide Number Placeholder 6"/>
          <p:cNvSpPr>
            <a:spLocks noGrp="1"/>
          </p:cNvSpPr>
          <p:nvPr>
            <p:ph type="sldNum" sz="quarter" idx="12"/>
          </p:nvPr>
        </p:nvSpPr>
        <p:spPr/>
        <p:txBody>
          <a:bodyPr/>
          <a:lstStyle/>
          <a:p>
            <a:fld id="{081674E5-CD74-4638-A238-012A517DC16A}" type="slidenum">
              <a:rPr lang="bg-BG" smtClean="0"/>
              <a:t>‹#›</a:t>
            </a:fld>
            <a:endParaRPr lang="bg-BG" dirty="0"/>
          </a:p>
        </p:txBody>
      </p:sp>
    </p:spTree>
    <p:extLst>
      <p:ext uri="{BB962C8B-B14F-4D97-AF65-F5344CB8AC3E}">
        <p14:creationId xmlns:p14="http://schemas.microsoft.com/office/powerpoint/2010/main" val="128754606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2BC901CF-14B7-42BE-8693-1C6A365ED97B}" type="datetime1">
              <a:rPr lang="bg-BG" smtClean="0"/>
              <a:t>2.5.2023 г.</a:t>
            </a:fld>
            <a:endParaRPr lang="bg-BG" dirty="0"/>
          </a:p>
        </p:txBody>
      </p:sp>
      <p:sp>
        <p:nvSpPr>
          <p:cNvPr id="5" name="Footer Placeholder 4"/>
          <p:cNvSpPr>
            <a:spLocks noGrp="1"/>
          </p:cNvSpPr>
          <p:nvPr>
            <p:ph type="ftr" sz="quarter" idx="11"/>
          </p:nvPr>
        </p:nvSpPr>
        <p:spPr/>
        <p:txBody>
          <a:bodyPr/>
          <a:lstStyle/>
          <a:p>
            <a:endParaRPr lang="bg-BG" dirty="0"/>
          </a:p>
        </p:txBody>
      </p:sp>
      <p:sp>
        <p:nvSpPr>
          <p:cNvPr id="6" name="Slide Number Placeholder 5"/>
          <p:cNvSpPr>
            <a:spLocks noGrp="1"/>
          </p:cNvSpPr>
          <p:nvPr>
            <p:ph type="sldNum" sz="quarter" idx="12"/>
          </p:nvPr>
        </p:nvSpPr>
        <p:spPr/>
        <p:txBody>
          <a:bodyPr/>
          <a:lstStyle/>
          <a:p>
            <a:fld id="{081674E5-CD74-4638-A238-012A517DC16A}" type="slidenum">
              <a:rPr lang="bg-BG" smtClean="0"/>
              <a:t>‹#›</a:t>
            </a:fld>
            <a:endParaRPr lang="bg-BG" dirty="0"/>
          </a:p>
        </p:txBody>
      </p:sp>
    </p:spTree>
    <p:extLst>
      <p:ext uri="{BB962C8B-B14F-4D97-AF65-F5344CB8AC3E}">
        <p14:creationId xmlns:p14="http://schemas.microsoft.com/office/powerpoint/2010/main" val="428275797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533400"/>
            <a:ext cx="2552700" cy="5638800"/>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1066800" y="533400"/>
            <a:ext cx="7505700" cy="5638800"/>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9C1A9374-CC8C-4027-8C9C-D37ED427A6AE}" type="datetime1">
              <a:rPr lang="bg-BG" smtClean="0"/>
              <a:t>2.5.2023 г.</a:t>
            </a:fld>
            <a:endParaRPr lang="bg-BG" dirty="0"/>
          </a:p>
        </p:txBody>
      </p:sp>
      <p:sp>
        <p:nvSpPr>
          <p:cNvPr id="5" name="Footer Placeholder 4"/>
          <p:cNvSpPr>
            <a:spLocks noGrp="1"/>
          </p:cNvSpPr>
          <p:nvPr>
            <p:ph type="ftr" sz="quarter" idx="11"/>
          </p:nvPr>
        </p:nvSpPr>
        <p:spPr/>
        <p:txBody>
          <a:bodyPr/>
          <a:lstStyle/>
          <a:p>
            <a:endParaRPr lang="bg-BG" dirty="0"/>
          </a:p>
        </p:txBody>
      </p:sp>
      <p:sp>
        <p:nvSpPr>
          <p:cNvPr id="6" name="Slide Number Placeholder 5"/>
          <p:cNvSpPr>
            <a:spLocks noGrp="1"/>
          </p:cNvSpPr>
          <p:nvPr>
            <p:ph type="sldNum" sz="quarter" idx="12"/>
          </p:nvPr>
        </p:nvSpPr>
        <p:spPr/>
        <p:txBody>
          <a:bodyPr/>
          <a:lstStyle/>
          <a:p>
            <a:fld id="{081674E5-CD74-4638-A238-012A517DC16A}" type="slidenum">
              <a:rPr lang="bg-BG" smtClean="0"/>
              <a:t>‹#›</a:t>
            </a:fld>
            <a:endParaRPr lang="bg-BG" dirty="0"/>
          </a:p>
        </p:txBody>
      </p:sp>
    </p:spTree>
    <p:extLst>
      <p:ext uri="{BB962C8B-B14F-4D97-AF65-F5344CB8AC3E}">
        <p14:creationId xmlns:p14="http://schemas.microsoft.com/office/powerpoint/2010/main" val="129953488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2.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3.pn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microsoft.com/office/2007/relationships/hdphoto" Target="../media/hdphoto1.wdp"/></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069848" y="484632"/>
            <a:ext cx="10058400" cy="1609344"/>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1069848" y="2121408"/>
            <a:ext cx="10058400" cy="4050792"/>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964424" y="6272784"/>
            <a:ext cx="3273552" cy="365125"/>
          </a:xfrm>
          <a:prstGeom prst="rect">
            <a:avLst/>
          </a:prstGeom>
        </p:spPr>
        <p:txBody>
          <a:bodyPr vert="horz" lIns="91440" tIns="45720" rIns="91440" bIns="45720" rtlCol="0" anchor="ctr"/>
          <a:lstStyle>
            <a:lvl1pPr algn="r">
              <a:defRPr sz="1100">
                <a:solidFill>
                  <a:schemeClr val="tx2"/>
                </a:solidFill>
              </a:defRPr>
            </a:lvl1pPr>
          </a:lstStyle>
          <a:p>
            <a:fld id="{6DC22829-1A03-43BA-AD1C-84AE46C99B1D}" type="datetime1">
              <a:rPr lang="bg-BG" smtClean="0"/>
              <a:t>2.5.2023 г.</a:t>
            </a:fld>
            <a:endParaRPr lang="bg-BG" dirty="0"/>
          </a:p>
        </p:txBody>
      </p:sp>
      <p:sp>
        <p:nvSpPr>
          <p:cNvPr id="5" name="Footer Placeholder 4"/>
          <p:cNvSpPr>
            <a:spLocks noGrp="1"/>
          </p:cNvSpPr>
          <p:nvPr>
            <p:ph type="ftr" sz="quarter" idx="3"/>
          </p:nvPr>
        </p:nvSpPr>
        <p:spPr>
          <a:xfrm>
            <a:off x="1088136" y="6272784"/>
            <a:ext cx="6327648" cy="365125"/>
          </a:xfrm>
          <a:prstGeom prst="rect">
            <a:avLst/>
          </a:prstGeom>
        </p:spPr>
        <p:txBody>
          <a:bodyPr vert="horz" lIns="91440" tIns="45720" rIns="91440" bIns="45720" rtlCol="0" anchor="ctr"/>
          <a:lstStyle>
            <a:lvl1pPr algn="l">
              <a:defRPr sz="1100">
                <a:solidFill>
                  <a:schemeClr val="tx2"/>
                </a:solidFill>
              </a:defRPr>
            </a:lvl1pPr>
          </a:lstStyle>
          <a:p>
            <a:endParaRPr lang="bg-BG" dirty="0"/>
          </a:p>
        </p:txBody>
      </p:sp>
      <p:grpSp>
        <p:nvGrpSpPr>
          <p:cNvPr id="7" name="Group 6"/>
          <p:cNvGrpSpPr>
            <a:grpSpLocks noChangeAspect="1"/>
          </p:cNvGrpSpPr>
          <p:nvPr/>
        </p:nvGrpSpPr>
        <p:grpSpPr>
          <a:xfrm>
            <a:off x="11401725" y="6229681"/>
            <a:ext cx="457200" cy="457200"/>
            <a:chOff x="11361456" y="6195813"/>
            <a:chExt cx="548640" cy="548640"/>
          </a:xfrm>
        </p:grpSpPr>
        <p:sp>
          <p:nvSpPr>
            <p:cNvPr id="8" name="Oval 7"/>
            <p:cNvSpPr/>
            <p:nvPr/>
          </p:nvSpPr>
          <p:spPr>
            <a:xfrm>
              <a:off x="11361456" y="6195813"/>
              <a:ext cx="548640" cy="548640"/>
            </a:xfrm>
            <a:prstGeom prst="ellipse">
              <a:avLst/>
            </a:prstGeom>
            <a:blipFill dpi="0" rotWithShape="1">
              <a:blip r:embed="rId13">
                <a:duotone>
                  <a:schemeClr val="accent1">
                    <a:shade val="45000"/>
                    <a:satMod val="135000"/>
                  </a:schemeClr>
                  <a:prstClr val="white"/>
                </a:duotone>
                <a:extLst>
                  <a:ext uri="{BEBA8EAE-BF5A-486C-A8C5-ECC9F3942E4B}">
                    <a14:imgProps xmlns:a14="http://schemas.microsoft.com/office/drawing/2010/main">
                      <a14:imgLayer r:embed="rId14">
                        <a14:imgEffect>
                          <a14:saturation sat="95000"/>
                        </a14:imgEffect>
                        <a14:imgEffect>
                          <a14:brightnessContrast bright="-40000" contrast="20000"/>
                        </a14:imgEffect>
                      </a14:imgLayer>
                    </a14:imgProps>
                  </a:ext>
                </a:extLst>
              </a:blip>
              <a:srcRect/>
              <a:tile tx="50800" ty="0" sx="85000" sy="85000" flip="none" algn="tl"/>
            </a:blipFill>
            <a:ln w="25400" cap="flat" cmpd="sng" algn="ctr">
              <a:noFill/>
              <a:prstDash val="solid"/>
            </a:ln>
            <a:effectLst/>
          </p:spPr>
        </p:sp>
        <p:sp>
          <p:nvSpPr>
            <p:cNvPr id="9" name="Oval 8"/>
            <p:cNvSpPr/>
            <p:nvPr/>
          </p:nvSpPr>
          <p:spPr>
            <a:xfrm>
              <a:off x="11396488" y="6230844"/>
              <a:ext cx="478576" cy="478578"/>
            </a:xfrm>
            <a:prstGeom prst="ellipse">
              <a:avLst/>
            </a:prstGeom>
            <a:noFill/>
            <a:ln w="12700" cap="flat" cmpd="sng" algn="ctr">
              <a:solidFill>
                <a:srgbClr val="FFFFFF"/>
              </a:solidFill>
              <a:prstDash val="solid"/>
            </a:ln>
            <a:effectLst/>
          </p:spPr>
        </p:sp>
      </p:grpSp>
      <p:sp>
        <p:nvSpPr>
          <p:cNvPr id="6" name="Slide Number Placeholder 5"/>
          <p:cNvSpPr>
            <a:spLocks noGrp="1"/>
          </p:cNvSpPr>
          <p:nvPr>
            <p:ph type="sldNum" sz="quarter" idx="4"/>
          </p:nvPr>
        </p:nvSpPr>
        <p:spPr>
          <a:xfrm>
            <a:off x="11311128" y="6272784"/>
            <a:ext cx="640080" cy="365125"/>
          </a:xfrm>
          <a:prstGeom prst="rect">
            <a:avLst/>
          </a:prstGeom>
        </p:spPr>
        <p:txBody>
          <a:bodyPr vert="horz" lIns="91440" tIns="45720" rIns="91440" bIns="45720" rtlCol="0" anchor="ctr"/>
          <a:lstStyle>
            <a:lvl1pPr algn="ctr">
              <a:defRPr sz="1400" b="1">
                <a:solidFill>
                  <a:srgbClr val="FFFFFF"/>
                </a:solidFill>
                <a:latin typeface="+mj-lt"/>
              </a:defRPr>
            </a:lvl1pPr>
          </a:lstStyle>
          <a:p>
            <a:fld id="{081674E5-CD74-4638-A238-012A517DC16A}" type="slidenum">
              <a:rPr lang="bg-BG" smtClean="0"/>
              <a:t>‹#›</a:t>
            </a:fld>
            <a:endParaRPr lang="bg-BG" dirty="0"/>
          </a:p>
        </p:txBody>
      </p:sp>
    </p:spTree>
    <p:extLst>
      <p:ext uri="{BB962C8B-B14F-4D97-AF65-F5344CB8AC3E}">
        <p14:creationId xmlns:p14="http://schemas.microsoft.com/office/powerpoint/2010/main" val="3634825798"/>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hdr="0" ftr="0" dt="0"/>
  <p:txStyles>
    <p:titleStyle>
      <a:lvl1pPr algn="l" defTabSz="914400" rtl="0" eaLnBrk="1" latinLnBrk="0" hangingPunct="1">
        <a:lnSpc>
          <a:spcPct val="90000"/>
        </a:lnSpc>
        <a:spcBef>
          <a:spcPct val="0"/>
        </a:spcBef>
        <a:buNone/>
        <a:defRPr sz="5400" kern="1200" cap="all" baseline="0">
          <a:blipFill>
            <a:blip r:embed="rId15">
              <a:extLst>
                <a:ext uri="{28A0092B-C50C-407E-A947-70E740481C1C}">
                  <a14:useLocalDpi xmlns:a14="http://schemas.microsoft.com/office/drawing/2010/main" val="0"/>
                </a:ext>
              </a:extLst>
            </a:blip>
            <a:tile tx="6350" ty="-127000" sx="65000" sy="64000" flip="none" algn="tl"/>
          </a:blipFill>
          <a:latin typeface="+mj-lt"/>
          <a:ea typeface="+mj-ea"/>
          <a:cs typeface="+mj-cs"/>
        </a:defRPr>
      </a:lvl1pPr>
    </p:titleStyle>
    <p:bodyStyle>
      <a:lvl1pPr marL="182880" indent="-182880" algn="l" defTabSz="914400" rtl="0" eaLnBrk="1" latinLnBrk="0" hangingPunct="1">
        <a:lnSpc>
          <a:spcPct val="90000"/>
        </a:lnSpc>
        <a:spcBef>
          <a:spcPts val="1200"/>
        </a:spcBef>
        <a:buClr>
          <a:schemeClr val="accent1">
            <a:lumMod val="75000"/>
          </a:schemeClr>
        </a:buClr>
        <a:buSzPct val="85000"/>
        <a:buFont typeface="Wingdings" pitchFamily="2" charset="2"/>
        <a:buChar char="§"/>
        <a:defRPr sz="2000" kern="1200">
          <a:solidFill>
            <a:schemeClr val="tx1"/>
          </a:solidFill>
          <a:latin typeface="+mn-lt"/>
          <a:ea typeface="+mn-ea"/>
          <a:cs typeface="+mn-cs"/>
        </a:defRPr>
      </a:lvl1pPr>
      <a:lvl2pPr marL="45720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800" kern="1200">
          <a:solidFill>
            <a:schemeClr val="tx1"/>
          </a:solidFill>
          <a:latin typeface="+mn-lt"/>
          <a:ea typeface="+mn-ea"/>
          <a:cs typeface="+mn-cs"/>
        </a:defRPr>
      </a:lvl2pPr>
      <a:lvl3pPr marL="73152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3pPr>
      <a:lvl4pPr marL="100584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4pPr>
      <a:lvl5pPr marL="128016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5pPr>
      <a:lvl6pPr marL="16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6pPr>
      <a:lvl7pPr marL="19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7pPr>
      <a:lvl8pPr marL="22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8pPr>
      <a:lvl9pPr marL="25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3.xml"/><Relationship Id="rId4" Type="http://schemas.openxmlformats.org/officeDocument/2006/relationships/image" Target="../media/image8.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3.xml"/></Relationships>
</file>

<file path=ppt/slides/_rels/slide28.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png"/><Relationship Id="rId1" Type="http://schemas.openxmlformats.org/officeDocument/2006/relationships/slideLayout" Target="../slideLayouts/slideLayout3.xml"/></Relationships>
</file>

<file path=ppt/slides/_rels/slide29.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3.png"/><Relationship Id="rId1" Type="http://schemas.openxmlformats.org/officeDocument/2006/relationships/slideLayout" Target="../slideLayouts/slideLayout3.xml"/><Relationship Id="rId4" Type="http://schemas.openxmlformats.org/officeDocument/2006/relationships/image" Target="../media/image25.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1.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3.xml"/></Relationships>
</file>

<file path=ppt/slides/_rels/slide32.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27.png"/><Relationship Id="rId1" Type="http://schemas.openxmlformats.org/officeDocument/2006/relationships/slideLayout" Target="../slideLayouts/slideLayout3.xml"/></Relationships>
</file>

<file path=ppt/slides/_rels/slide33.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834189" y="971490"/>
            <a:ext cx="10507579" cy="3957924"/>
          </a:xfrm>
        </p:spPr>
        <p:txBody>
          <a:bodyPr/>
          <a:lstStyle/>
          <a:p>
            <a:pPr algn="ctr"/>
            <a:r>
              <a:rPr lang="bg-BG" sz="4000" b="1" i="1" dirty="0"/>
              <a:t>Управление на потоци чрез теорията на масовото обслужване. Общи сведения. Системи за масово обслужване с откази и изчакване. Вземане на решение в условията на конфликтни ситуации</a:t>
            </a:r>
            <a:endParaRPr lang="bg-BG" sz="4000" dirty="0"/>
          </a:p>
        </p:txBody>
      </p:sp>
      <p:sp>
        <p:nvSpPr>
          <p:cNvPr id="4" name="Slide Number Placeholder 3"/>
          <p:cNvSpPr>
            <a:spLocks noGrp="1"/>
          </p:cNvSpPr>
          <p:nvPr>
            <p:ph type="sldNum" sz="quarter" idx="12"/>
          </p:nvPr>
        </p:nvSpPr>
        <p:spPr/>
        <p:txBody>
          <a:bodyPr/>
          <a:lstStyle/>
          <a:p>
            <a:fld id="{081674E5-CD74-4638-A238-012A517DC16A}" type="slidenum">
              <a:rPr lang="bg-BG" smtClean="0"/>
              <a:t>1</a:t>
            </a:fld>
            <a:endParaRPr lang="bg-BG" dirty="0"/>
          </a:p>
        </p:txBody>
      </p:sp>
    </p:spTree>
    <p:extLst>
      <p:ext uri="{BB962C8B-B14F-4D97-AF65-F5344CB8AC3E}">
        <p14:creationId xmlns:p14="http://schemas.microsoft.com/office/powerpoint/2010/main" val="243229366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1984705" y="291089"/>
            <a:ext cx="9774988" cy="5952056"/>
          </a:xfrm>
        </p:spPr>
        <p:txBody>
          <a:bodyPr>
            <a:normAutofit fontScale="55000" lnSpcReduction="20000"/>
          </a:bodyPr>
          <a:lstStyle/>
          <a:p>
            <a:pPr algn="just">
              <a:lnSpc>
                <a:spcPct val="140000"/>
              </a:lnSpc>
              <a:spcBef>
                <a:spcPts val="0"/>
              </a:spcBef>
              <a:defRPr/>
            </a:pPr>
            <a:r>
              <a:rPr lang="bg-BG" sz="4400" b="1" i="1" dirty="0"/>
              <a:t>Теория на масовото обслужване</a:t>
            </a:r>
            <a:endParaRPr lang="bg-BG" altLang="bg-BG" sz="4400" i="1" dirty="0"/>
          </a:p>
          <a:p>
            <a:pPr indent="457200" algn="just">
              <a:lnSpc>
                <a:spcPct val="140000"/>
              </a:lnSpc>
              <a:spcBef>
                <a:spcPts val="0"/>
              </a:spcBef>
              <a:defRPr/>
            </a:pPr>
            <a:r>
              <a:rPr lang="bg-BG" sz="4400" dirty="0"/>
              <a:t>Теорията на масовото обслужване е специално разработена за решаване на икономически задачи, а по-късно е приложена и в други области (комуникациите). Тя е създадена от потребностите на практиката за анализ на процеси, които водят до натрупване, задържане и създаване на опашки в обслужването. Чрез теорията на масовото обслужване се изучават процесите на постоянно възникване и удовлетворяване на заявки за изпълнение на определени задачи. Заявките се генерират от обслужваната система, а се приемат и изпълняват от обслужващата система. Съвкупността от двете системи се нарича система за масово обслужване, в които последователно са свързани потокът от заявки за обслужване, редицата (опашката) и каналите за обслужване.</a:t>
            </a:r>
          </a:p>
          <a:p>
            <a:pPr indent="457200" algn="just">
              <a:lnSpc>
                <a:spcPct val="140000"/>
              </a:lnSpc>
              <a:spcBef>
                <a:spcPts val="0"/>
              </a:spcBef>
              <a:defRPr/>
            </a:pPr>
            <a:endParaRPr lang="bg-BG" altLang="bg-BG" sz="2600" dirty="0"/>
          </a:p>
          <a:p>
            <a:pPr>
              <a:lnSpc>
                <a:spcPct val="140000"/>
              </a:lnSpc>
              <a:spcBef>
                <a:spcPts val="0"/>
              </a:spcBef>
            </a:pPr>
            <a:endParaRPr lang="bg-BG" sz="2400" dirty="0"/>
          </a:p>
        </p:txBody>
      </p:sp>
      <p:sp>
        <p:nvSpPr>
          <p:cNvPr id="4" name="Slide Number Placeholder 3"/>
          <p:cNvSpPr>
            <a:spLocks noGrp="1"/>
          </p:cNvSpPr>
          <p:nvPr>
            <p:ph type="sldNum" sz="quarter" idx="12"/>
          </p:nvPr>
        </p:nvSpPr>
        <p:spPr/>
        <p:txBody>
          <a:bodyPr/>
          <a:lstStyle/>
          <a:p>
            <a:fld id="{081674E5-CD74-4638-A238-012A517DC16A}" type="slidenum">
              <a:rPr lang="bg-BG" smtClean="0"/>
              <a:t>2</a:t>
            </a:fld>
            <a:endParaRPr lang="bg-BG" dirty="0"/>
          </a:p>
        </p:txBody>
      </p:sp>
    </p:spTree>
    <p:extLst>
      <p:ext uri="{BB962C8B-B14F-4D97-AF65-F5344CB8AC3E}">
        <p14:creationId xmlns:p14="http://schemas.microsoft.com/office/powerpoint/2010/main" val="17368171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2017986" y="255842"/>
            <a:ext cx="9900745" cy="4584171"/>
          </a:xfrm>
        </p:spPr>
        <p:txBody>
          <a:bodyPr>
            <a:normAutofit fontScale="92500" lnSpcReduction="10000"/>
          </a:bodyPr>
          <a:lstStyle/>
          <a:p>
            <a:pPr indent="457200" algn="just">
              <a:lnSpc>
                <a:spcPct val="120000"/>
              </a:lnSpc>
              <a:spcBef>
                <a:spcPts val="0"/>
              </a:spcBef>
              <a:defRPr/>
            </a:pPr>
            <a:r>
              <a:rPr lang="bg-BG" sz="2600" dirty="0"/>
              <a:t>Системите за масово обслужване се разглеждат като математически модел за описание на сложни системи в областта на различни производствени процеси, комуникациите, транспорта и др. области. По своето съдържание задачите за масово обслужване са най-разнообразни, но в тяхната структура и постановка има много общо. Ето защо при решаване на такива задачи са създадени обобщени методи.</a:t>
            </a:r>
          </a:p>
          <a:p>
            <a:pPr indent="457200" algn="just">
              <a:lnSpc>
                <a:spcPct val="120000"/>
              </a:lnSpc>
              <a:spcBef>
                <a:spcPts val="0"/>
              </a:spcBef>
              <a:defRPr/>
            </a:pPr>
            <a:r>
              <a:rPr lang="bg-BG" sz="2600" dirty="0"/>
              <a:t>Обект на системите в теорията на масовото обслужване са анализът на процесите за образуване на опашки, взаимната връзка между основните им характеристики и търсенето на най-добрите пътища (алгоритми, стратегии) за тяхното управление.</a:t>
            </a:r>
          </a:p>
          <a:p>
            <a:pPr indent="457200" algn="just">
              <a:lnSpc>
                <a:spcPct val="120000"/>
              </a:lnSpc>
              <a:spcBef>
                <a:spcPts val="0"/>
              </a:spcBef>
              <a:defRPr/>
            </a:pPr>
            <a:endParaRPr lang="bg-BG" sz="2400" dirty="0"/>
          </a:p>
          <a:p>
            <a:pPr indent="457200" algn="just">
              <a:lnSpc>
                <a:spcPct val="170000"/>
              </a:lnSpc>
              <a:defRPr/>
            </a:pPr>
            <a:endParaRPr lang="bg-BG" altLang="bg-BG" sz="2400" dirty="0"/>
          </a:p>
          <a:p>
            <a:endParaRPr lang="bg-BG" sz="2400" dirty="0"/>
          </a:p>
        </p:txBody>
      </p:sp>
      <p:sp>
        <p:nvSpPr>
          <p:cNvPr id="4" name="Slide Number Placeholder 3"/>
          <p:cNvSpPr>
            <a:spLocks noGrp="1"/>
          </p:cNvSpPr>
          <p:nvPr>
            <p:ph type="sldNum" sz="quarter" idx="12"/>
          </p:nvPr>
        </p:nvSpPr>
        <p:spPr/>
        <p:txBody>
          <a:bodyPr/>
          <a:lstStyle/>
          <a:p>
            <a:fld id="{081674E5-CD74-4638-A238-012A517DC16A}" type="slidenum">
              <a:rPr lang="bg-BG" smtClean="0"/>
              <a:t>3</a:t>
            </a:fld>
            <a:endParaRPr lang="bg-BG" dirty="0"/>
          </a:p>
        </p:txBody>
      </p:sp>
    </p:spTree>
    <p:extLst>
      <p:ext uri="{BB962C8B-B14F-4D97-AF65-F5344CB8AC3E}">
        <p14:creationId xmlns:p14="http://schemas.microsoft.com/office/powerpoint/2010/main" val="5331480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554014" y="1633595"/>
            <a:ext cx="8684829" cy="16287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4" name="Slide Number Placeholder 3"/>
          <p:cNvSpPr>
            <a:spLocks noGrp="1"/>
          </p:cNvSpPr>
          <p:nvPr>
            <p:ph type="sldNum" sz="quarter" idx="12"/>
          </p:nvPr>
        </p:nvSpPr>
        <p:spPr/>
        <p:txBody>
          <a:bodyPr/>
          <a:lstStyle/>
          <a:p>
            <a:fld id="{081674E5-CD74-4638-A238-012A517DC16A}" type="slidenum">
              <a:rPr lang="bg-BG" smtClean="0"/>
              <a:t>4</a:t>
            </a:fld>
            <a:endParaRPr lang="bg-BG" dirty="0"/>
          </a:p>
        </p:txBody>
      </p:sp>
      <p:sp>
        <p:nvSpPr>
          <p:cNvPr id="5" name="Rectangle 4"/>
          <p:cNvSpPr/>
          <p:nvPr/>
        </p:nvSpPr>
        <p:spPr>
          <a:xfrm>
            <a:off x="0" y="-32622"/>
            <a:ext cx="12239296" cy="6890622"/>
          </a:xfrm>
          <a:prstGeom prst="rect">
            <a:avLst/>
          </a:prstGeom>
        </p:spPr>
        <p:txBody>
          <a:bodyPr vert="horz" lIns="91440" tIns="45720" rIns="91440" bIns="45720" rtlCol="0" anchor="t">
            <a:noAutofit/>
          </a:bodyPr>
          <a:lstStyle/>
          <a:p>
            <a:pPr indent="457200" algn="just">
              <a:lnSpc>
                <a:spcPct val="120000"/>
              </a:lnSpc>
              <a:buClr>
                <a:schemeClr val="accent1">
                  <a:lumMod val="75000"/>
                </a:schemeClr>
              </a:buClr>
              <a:buSzPct val="85000"/>
              <a:buFont typeface="Wingdings" pitchFamily="2" charset="2"/>
              <a:buNone/>
            </a:pPr>
            <a:r>
              <a:rPr lang="bg-BG" sz="2400" dirty="0"/>
              <a:t>Структурата на системата за масово обслужване се определя от състава и функционалните ѝ връзки. Тя се състои от входен поток от заявки (например клиенти за обслужване), канали за обслужване (машини, съоръжения и др.) и изходен поток от обслужени заявки.</a:t>
            </a:r>
          </a:p>
          <a:p>
            <a:pPr indent="457200" algn="just">
              <a:lnSpc>
                <a:spcPct val="120000"/>
              </a:lnSpc>
              <a:buClr>
                <a:schemeClr val="accent1">
                  <a:lumMod val="75000"/>
                </a:schemeClr>
              </a:buClr>
              <a:buSzPct val="85000"/>
              <a:buFont typeface="Wingdings" pitchFamily="2" charset="2"/>
              <a:buNone/>
            </a:pPr>
            <a:endParaRPr lang="bg-BG" sz="2400" dirty="0"/>
          </a:p>
          <a:p>
            <a:pPr indent="457200" algn="just">
              <a:lnSpc>
                <a:spcPct val="120000"/>
              </a:lnSpc>
              <a:buClr>
                <a:schemeClr val="accent1">
                  <a:lumMod val="75000"/>
                </a:schemeClr>
              </a:buClr>
              <a:buSzPct val="85000"/>
              <a:buFont typeface="Wingdings" pitchFamily="2" charset="2"/>
              <a:buNone/>
            </a:pPr>
            <a:endParaRPr lang="bg-BG" sz="2400" dirty="0"/>
          </a:p>
          <a:p>
            <a:pPr indent="457200" algn="just">
              <a:lnSpc>
                <a:spcPct val="120000"/>
              </a:lnSpc>
              <a:buClr>
                <a:schemeClr val="accent1">
                  <a:lumMod val="75000"/>
                </a:schemeClr>
              </a:buClr>
              <a:buSzPct val="85000"/>
              <a:buFont typeface="Wingdings" pitchFamily="2" charset="2"/>
              <a:buNone/>
            </a:pPr>
            <a:endParaRPr lang="bg-BG" sz="2400" dirty="0"/>
          </a:p>
          <a:p>
            <a:pPr indent="457200" algn="just">
              <a:lnSpc>
                <a:spcPct val="120000"/>
              </a:lnSpc>
              <a:buClr>
                <a:schemeClr val="accent1">
                  <a:lumMod val="75000"/>
                </a:schemeClr>
              </a:buClr>
              <a:buSzPct val="85000"/>
            </a:pPr>
            <a:r>
              <a:rPr lang="bg-BG" sz="2400" dirty="0"/>
              <a:t>Входният поток е съвкупност от изисквания, които постъпват в системата и трябва да бъдат удовлетворени. Процесът на постъпване на заявките в системите за масово обслужване е вероятностен. Той е поток от събития, които постъпват в случайни моменти от време. Последователността от появата на заявки образува потока на заявките, наричани още еднородни заявки. Терминът еднородни означава, че заявките се различават само по моментите на постъпване. В някои системи заявките могат да се характеризират и с непрекъснати и дискретни параметри. В този случай потокът от заявки може да се разглежда като поток от случайни вектори.</a:t>
            </a:r>
          </a:p>
          <a:p>
            <a:pPr indent="457200" algn="just">
              <a:lnSpc>
                <a:spcPct val="120000"/>
              </a:lnSpc>
              <a:buClr>
                <a:schemeClr val="accent1">
                  <a:lumMod val="75000"/>
                </a:schemeClr>
              </a:buClr>
              <a:buSzPct val="85000"/>
              <a:buFont typeface="Wingdings" pitchFamily="2" charset="2"/>
              <a:buNone/>
            </a:pPr>
            <a:endParaRPr lang="bg-BG" sz="2400" dirty="0"/>
          </a:p>
        </p:txBody>
      </p:sp>
    </p:spTree>
    <p:extLst>
      <p:ext uri="{BB962C8B-B14F-4D97-AF65-F5344CB8AC3E}">
        <p14:creationId xmlns:p14="http://schemas.microsoft.com/office/powerpoint/2010/main" val="63394432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081674E5-CD74-4638-A238-012A517DC16A}" type="slidenum">
              <a:rPr lang="bg-BG" smtClean="0"/>
              <a:t>5</a:t>
            </a:fld>
            <a:endParaRPr lang="bg-BG" dirty="0"/>
          </a:p>
        </p:txBody>
      </p:sp>
      <p:sp>
        <p:nvSpPr>
          <p:cNvPr id="2" name="Rectangle 1"/>
          <p:cNvSpPr/>
          <p:nvPr/>
        </p:nvSpPr>
        <p:spPr>
          <a:xfrm>
            <a:off x="2448909" y="45120"/>
            <a:ext cx="9595945" cy="6592574"/>
          </a:xfrm>
          <a:prstGeom prst="rect">
            <a:avLst/>
          </a:prstGeom>
        </p:spPr>
        <p:txBody>
          <a:bodyPr wrap="square">
            <a:spAutoFit/>
          </a:bodyPr>
          <a:lstStyle/>
          <a:p>
            <a:pPr algn="just">
              <a:lnSpc>
                <a:spcPct val="110000"/>
              </a:lnSpc>
              <a:buClr>
                <a:schemeClr val="accent1">
                  <a:lumMod val="75000"/>
                </a:schemeClr>
              </a:buClr>
              <a:buSzPct val="85000"/>
              <a:defRPr/>
            </a:pPr>
            <a:r>
              <a:rPr lang="ru-RU" sz="2400" i="1" dirty="0"/>
              <a:t>Основни елементи на система за масово обслужване </a:t>
            </a:r>
          </a:p>
          <a:p>
            <a:pPr indent="457200" algn="just">
              <a:lnSpc>
                <a:spcPct val="110000"/>
              </a:lnSpc>
              <a:buClr>
                <a:schemeClr val="accent1">
                  <a:lumMod val="75000"/>
                </a:schemeClr>
              </a:buClr>
              <a:buSzPct val="85000"/>
              <a:defRPr/>
            </a:pPr>
            <a:r>
              <a:rPr lang="bg-BG" sz="2400" dirty="0"/>
              <a:t>В теорията на масовото обслужване всяка задача за изпълнение се нарича заявка. Постъпилите заявки се нуждаят от обслужване. Средствата за обслужване на заявки се наричат канали за обслужване (</a:t>
            </a:r>
            <a:r>
              <a:rPr lang="ru-RU" sz="2400" dirty="0"/>
              <a:t>обслужващ апарат или обслужващо устройство)</a:t>
            </a:r>
            <a:r>
              <a:rPr lang="bg-BG" sz="2400" dirty="0"/>
              <a:t>. Всеки канал за обслужване може да се намира в две възможни състояния: „зает”  - обслужва заявки в момента и „свободен” – не обслужва заявки в момента. Често се отчита, че каналът може да пристъпи към обслужване на следваща заявка не веднага след приключване на обслужването на поредната заявка, а след някакво време за възстановяване на готовността за обслужване. </a:t>
            </a:r>
            <a:r>
              <a:rPr lang="ru-RU" sz="2400" dirty="0"/>
              <a:t>Съвкупност от предявяваните едновременно или последователно заявки за обслужване се нарича входящ поток, а съвкупността от обслужените заявки – изходящ поток.</a:t>
            </a:r>
            <a:r>
              <a:rPr lang="bg-BG" sz="2400" dirty="0"/>
              <a:t> Опашка е </a:t>
            </a:r>
            <a:r>
              <a:rPr lang="ru-RU" sz="2400" dirty="0"/>
              <a:t>съвкупност от постъпилите искания за обслужване, които очакват да бъдат обслужени.</a:t>
            </a:r>
            <a:endParaRPr lang="bg-BG" sz="2400" dirty="0"/>
          </a:p>
        </p:txBody>
      </p:sp>
    </p:spTree>
    <p:extLst>
      <p:ext uri="{BB962C8B-B14F-4D97-AF65-F5344CB8AC3E}">
        <p14:creationId xmlns:p14="http://schemas.microsoft.com/office/powerpoint/2010/main" val="61889386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081674E5-CD74-4638-A238-012A517DC16A}" type="slidenum">
              <a:rPr lang="bg-BG" smtClean="0"/>
              <a:t>6</a:t>
            </a:fld>
            <a:endParaRPr lang="bg-BG" dirty="0"/>
          </a:p>
        </p:txBody>
      </p:sp>
      <p:sp>
        <p:nvSpPr>
          <p:cNvPr id="2" name="Rectangle 1"/>
          <p:cNvSpPr/>
          <p:nvPr/>
        </p:nvSpPr>
        <p:spPr>
          <a:xfrm>
            <a:off x="2207172" y="251105"/>
            <a:ext cx="9758856" cy="6186309"/>
          </a:xfrm>
          <a:prstGeom prst="rect">
            <a:avLst/>
          </a:prstGeom>
        </p:spPr>
        <p:txBody>
          <a:bodyPr wrap="square">
            <a:spAutoFit/>
          </a:bodyPr>
          <a:lstStyle/>
          <a:p>
            <a:pPr algn="just">
              <a:lnSpc>
                <a:spcPct val="110000"/>
              </a:lnSpc>
              <a:buClr>
                <a:schemeClr val="accent1">
                  <a:lumMod val="75000"/>
                </a:schemeClr>
              </a:buClr>
              <a:buSzPct val="85000"/>
              <a:defRPr/>
            </a:pPr>
            <a:r>
              <a:rPr lang="bg-BG" sz="2400" i="1" dirty="0"/>
              <a:t>Характеристики на </a:t>
            </a:r>
            <a:r>
              <a:rPr lang="ru-RU" sz="2400" i="1" dirty="0"/>
              <a:t>система за масово обслужване </a:t>
            </a:r>
          </a:p>
          <a:p>
            <a:pPr indent="457200" algn="just">
              <a:lnSpc>
                <a:spcPct val="110000"/>
              </a:lnSpc>
              <a:buClr>
                <a:schemeClr val="accent1">
                  <a:lumMod val="75000"/>
                </a:schemeClr>
              </a:buClr>
              <a:buSzPct val="85000"/>
              <a:defRPr/>
            </a:pPr>
            <a:r>
              <a:rPr lang="bg-BG" sz="2400" dirty="0"/>
              <a:t>Максималният брой заявки, които могат да се обслужат едновременно, се нарича пропускателна  способност на системата за обслужване. П</a:t>
            </a:r>
            <a:r>
              <a:rPr lang="ru-RU" sz="2400" dirty="0"/>
              <a:t>ериодът, в който се удовлетворява искането за обслужване (периодът от началото на обслужването до неговото завършване) се нарича време за обслужване, </a:t>
            </a:r>
            <a:r>
              <a:rPr lang="bg-BG" sz="2400" dirty="0"/>
              <a:t>а времето от началото на постъпване на заявката до началото на обслужването – време за очакване на обслужването. Съвкупността от двете времена се нарича време за престой на заявката в системата за масово обслужване. Потокът от заявки е входен и изходен.</a:t>
            </a:r>
          </a:p>
          <a:p>
            <a:pPr algn="just">
              <a:lnSpc>
                <a:spcPct val="110000"/>
              </a:lnSpc>
              <a:buClr>
                <a:schemeClr val="accent1">
                  <a:lumMod val="75000"/>
                </a:schemeClr>
              </a:buClr>
              <a:buSzPct val="85000"/>
              <a:defRPr/>
            </a:pPr>
            <a:r>
              <a:rPr lang="bg-BG" sz="2400" b="1" i="1" dirty="0"/>
              <a:t>К</a:t>
            </a:r>
            <a:r>
              <a:rPr lang="ru-RU" sz="2400" b="1" i="1" dirty="0"/>
              <a:t>ласификация на система за масово обслужване </a:t>
            </a:r>
          </a:p>
          <a:p>
            <a:pPr indent="457200" algn="just">
              <a:lnSpc>
                <a:spcPct val="110000"/>
              </a:lnSpc>
              <a:buClr>
                <a:schemeClr val="accent1">
                  <a:lumMod val="75000"/>
                </a:schemeClr>
              </a:buClr>
              <a:buSzPct val="85000"/>
              <a:defRPr/>
            </a:pPr>
            <a:r>
              <a:rPr lang="ru-RU" sz="2400" dirty="0"/>
              <a:t>Признаци за класификация: </a:t>
            </a:r>
          </a:p>
          <a:p>
            <a:pPr marL="722313" indent="-342900" algn="just">
              <a:lnSpc>
                <a:spcPct val="110000"/>
              </a:lnSpc>
              <a:buClr>
                <a:schemeClr val="accent1">
                  <a:lumMod val="75000"/>
                </a:schemeClr>
              </a:buClr>
              <a:buSzPct val="85000"/>
              <a:buFont typeface="Wingdings" panose="05000000000000000000" pitchFamily="2" charset="2"/>
              <a:buChar char="q"/>
              <a:defRPr/>
            </a:pPr>
            <a:r>
              <a:rPr lang="ru-RU" sz="2400" dirty="0"/>
              <a:t>Според броя на каналите за обслужване;</a:t>
            </a:r>
          </a:p>
          <a:p>
            <a:pPr marL="722313" indent="-342900" algn="just">
              <a:lnSpc>
                <a:spcPct val="110000"/>
              </a:lnSpc>
              <a:buClr>
                <a:schemeClr val="accent1">
                  <a:lumMod val="75000"/>
                </a:schemeClr>
              </a:buClr>
              <a:buSzPct val="85000"/>
              <a:buFont typeface="Wingdings" panose="05000000000000000000" pitchFamily="2" charset="2"/>
              <a:buChar char="q"/>
              <a:defRPr/>
            </a:pPr>
            <a:r>
              <a:rPr lang="ru-RU" sz="2400" dirty="0"/>
              <a:t>Според пропускателната си способност;</a:t>
            </a:r>
          </a:p>
          <a:p>
            <a:pPr marL="722313" indent="-342900" algn="just">
              <a:lnSpc>
                <a:spcPct val="110000"/>
              </a:lnSpc>
              <a:buClr>
                <a:schemeClr val="accent1">
                  <a:lumMod val="75000"/>
                </a:schemeClr>
              </a:buClr>
              <a:buSzPct val="85000"/>
              <a:buFont typeface="Wingdings" panose="05000000000000000000" pitchFamily="2" charset="2"/>
              <a:buChar char="q"/>
              <a:defRPr/>
            </a:pPr>
            <a:r>
              <a:rPr lang="ru-RU" sz="2400" dirty="0"/>
              <a:t>В зависимост от етапността на обслужването;</a:t>
            </a:r>
          </a:p>
        </p:txBody>
      </p:sp>
    </p:spTree>
    <p:extLst>
      <p:ext uri="{BB962C8B-B14F-4D97-AF65-F5344CB8AC3E}">
        <p14:creationId xmlns:p14="http://schemas.microsoft.com/office/powerpoint/2010/main" val="61889386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081674E5-CD74-4638-A238-012A517DC16A}" type="slidenum">
              <a:rPr lang="bg-BG" smtClean="0"/>
              <a:t>7</a:t>
            </a:fld>
            <a:endParaRPr lang="bg-BG" dirty="0"/>
          </a:p>
        </p:txBody>
      </p:sp>
      <p:sp>
        <p:nvSpPr>
          <p:cNvPr id="2" name="Rectangle 1"/>
          <p:cNvSpPr/>
          <p:nvPr/>
        </p:nvSpPr>
        <p:spPr>
          <a:xfrm>
            <a:off x="2039010" y="141893"/>
            <a:ext cx="10037379" cy="6592574"/>
          </a:xfrm>
          <a:prstGeom prst="rect">
            <a:avLst/>
          </a:prstGeom>
        </p:spPr>
        <p:txBody>
          <a:bodyPr wrap="square">
            <a:spAutoFit/>
          </a:bodyPr>
          <a:lstStyle/>
          <a:p>
            <a:pPr marL="722313" indent="-342900" algn="just">
              <a:lnSpc>
                <a:spcPct val="110000"/>
              </a:lnSpc>
              <a:buClr>
                <a:schemeClr val="accent1">
                  <a:lumMod val="75000"/>
                </a:schemeClr>
              </a:buClr>
              <a:buSzPct val="85000"/>
              <a:buFont typeface="Wingdings" panose="05000000000000000000" pitchFamily="2" charset="2"/>
              <a:buChar char="q"/>
              <a:defRPr/>
            </a:pPr>
            <a:r>
              <a:rPr lang="ru-RU" sz="2400" dirty="0"/>
              <a:t>Според поведението на заявките;</a:t>
            </a:r>
          </a:p>
          <a:p>
            <a:pPr marL="722313" indent="-342900" algn="just">
              <a:lnSpc>
                <a:spcPct val="110000"/>
              </a:lnSpc>
              <a:buClr>
                <a:schemeClr val="accent1">
                  <a:lumMod val="75000"/>
                </a:schemeClr>
              </a:buClr>
              <a:buSzPct val="85000"/>
              <a:buFont typeface="Wingdings" panose="05000000000000000000" pitchFamily="2" charset="2"/>
              <a:buChar char="q"/>
              <a:defRPr/>
            </a:pPr>
            <a:r>
              <a:rPr lang="ru-RU" sz="2400" dirty="0"/>
              <a:t>Според броя на източниците на заявки;</a:t>
            </a:r>
          </a:p>
          <a:p>
            <a:pPr marL="722313" indent="-342900" algn="just">
              <a:lnSpc>
                <a:spcPct val="110000"/>
              </a:lnSpc>
              <a:buClr>
                <a:schemeClr val="accent1">
                  <a:lumMod val="75000"/>
                </a:schemeClr>
              </a:buClr>
              <a:buSzPct val="85000"/>
              <a:buFont typeface="Wingdings" panose="05000000000000000000" pitchFamily="2" charset="2"/>
              <a:buChar char="q"/>
              <a:defRPr/>
            </a:pPr>
            <a:r>
              <a:rPr lang="ru-RU" sz="2400" dirty="0"/>
              <a:t>Според дисциплината на обслужване;</a:t>
            </a:r>
            <a:r>
              <a:rPr lang="bg-BG" sz="2400" dirty="0"/>
              <a:t> </a:t>
            </a:r>
          </a:p>
          <a:p>
            <a:pPr indent="457200" algn="just">
              <a:lnSpc>
                <a:spcPct val="110000"/>
              </a:lnSpc>
              <a:buClr>
                <a:schemeClr val="accent1">
                  <a:lumMod val="75000"/>
                </a:schemeClr>
              </a:buClr>
              <a:buSzPct val="85000"/>
              <a:defRPr/>
            </a:pPr>
            <a:r>
              <a:rPr lang="ru-RU" sz="2400" dirty="0"/>
              <a:t>Според броя на каналите за обслужване: </a:t>
            </a:r>
          </a:p>
          <a:p>
            <a:pPr marL="990600" indent="-342900" algn="just">
              <a:lnSpc>
                <a:spcPct val="110000"/>
              </a:lnSpc>
              <a:buClr>
                <a:schemeClr val="accent1">
                  <a:lumMod val="75000"/>
                </a:schemeClr>
              </a:buClr>
              <a:buSzPct val="85000"/>
              <a:buFont typeface="Cambria" panose="02040503050406030204" pitchFamily="18" charset="0"/>
              <a:buChar char="-"/>
              <a:defRPr/>
            </a:pPr>
            <a:r>
              <a:rPr lang="ru-RU" sz="2400" dirty="0"/>
              <a:t>едноканални;</a:t>
            </a:r>
          </a:p>
          <a:p>
            <a:pPr marL="990600" indent="-342900" algn="just">
              <a:lnSpc>
                <a:spcPct val="110000"/>
              </a:lnSpc>
              <a:buClr>
                <a:schemeClr val="accent1">
                  <a:lumMod val="75000"/>
                </a:schemeClr>
              </a:buClr>
              <a:buSzPct val="85000"/>
              <a:buFont typeface="Cambria" panose="02040503050406030204" pitchFamily="18" charset="0"/>
              <a:buChar char="-"/>
              <a:defRPr/>
            </a:pPr>
            <a:r>
              <a:rPr lang="ru-RU" sz="2400" dirty="0"/>
              <a:t>многоканални;</a:t>
            </a:r>
          </a:p>
          <a:p>
            <a:pPr indent="457200" algn="just">
              <a:lnSpc>
                <a:spcPct val="110000"/>
              </a:lnSpc>
              <a:buClr>
                <a:schemeClr val="accent1">
                  <a:lumMod val="75000"/>
                </a:schemeClr>
              </a:buClr>
              <a:buSzPct val="85000"/>
              <a:defRPr/>
            </a:pPr>
            <a:r>
              <a:rPr lang="ru-RU" sz="2400" dirty="0"/>
              <a:t>Според пропускателната си способност системите за масово обслужване са:</a:t>
            </a:r>
          </a:p>
          <a:p>
            <a:pPr marL="990600" indent="-342900" algn="just">
              <a:lnSpc>
                <a:spcPct val="110000"/>
              </a:lnSpc>
              <a:buClr>
                <a:schemeClr val="accent1">
                  <a:lumMod val="75000"/>
                </a:schemeClr>
              </a:buClr>
              <a:buSzPct val="85000"/>
              <a:buFont typeface="Cambria" panose="02040503050406030204" pitchFamily="18" charset="0"/>
              <a:buChar char="-"/>
              <a:defRPr/>
            </a:pPr>
            <a:r>
              <a:rPr lang="ru-RU" sz="2400" dirty="0"/>
              <a:t>еднолинейни системи - пропускателната им способност е равна на единица.</a:t>
            </a:r>
          </a:p>
          <a:p>
            <a:pPr indent="457200" algn="just">
              <a:lnSpc>
                <a:spcPct val="110000"/>
              </a:lnSpc>
              <a:buClr>
                <a:schemeClr val="accent1">
                  <a:lumMod val="75000"/>
                </a:schemeClr>
              </a:buClr>
              <a:buSzPct val="85000"/>
              <a:defRPr/>
            </a:pPr>
            <a:r>
              <a:rPr lang="ru-RU" sz="2400" dirty="0"/>
              <a:t>В еднолинейни системи в определен момент може да се обслужва само една заявка.</a:t>
            </a:r>
          </a:p>
          <a:p>
            <a:pPr marL="990600" indent="-342900" algn="just">
              <a:lnSpc>
                <a:spcPct val="110000"/>
              </a:lnSpc>
              <a:buClr>
                <a:schemeClr val="accent1">
                  <a:lumMod val="75000"/>
                </a:schemeClr>
              </a:buClr>
              <a:buSzPct val="85000"/>
              <a:buFont typeface="Cambria" panose="02040503050406030204" pitchFamily="18" charset="0"/>
              <a:buChar char="-"/>
              <a:defRPr/>
            </a:pPr>
            <a:r>
              <a:rPr lang="ru-RU" sz="2400" dirty="0"/>
              <a:t>многолинейни - пропускателната им способност е по-голяма от единица.</a:t>
            </a:r>
          </a:p>
          <a:p>
            <a:pPr indent="457200" algn="just">
              <a:lnSpc>
                <a:spcPct val="110000"/>
              </a:lnSpc>
              <a:buClr>
                <a:schemeClr val="accent1">
                  <a:lumMod val="75000"/>
                </a:schemeClr>
              </a:buClr>
              <a:buSzPct val="85000"/>
              <a:defRPr/>
            </a:pPr>
            <a:r>
              <a:rPr lang="ru-RU" sz="2400" dirty="0"/>
              <a:t>Многолинейните системи едновременно могат да се обслужват толкова на брой заявки, колкото е броят на каналите им.</a:t>
            </a:r>
          </a:p>
        </p:txBody>
      </p:sp>
    </p:spTree>
    <p:extLst>
      <p:ext uri="{BB962C8B-B14F-4D97-AF65-F5344CB8AC3E}">
        <p14:creationId xmlns:p14="http://schemas.microsoft.com/office/powerpoint/2010/main" val="61889386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081674E5-CD74-4638-A238-012A517DC16A}" type="slidenum">
              <a:rPr lang="bg-BG" smtClean="0"/>
              <a:t>8</a:t>
            </a:fld>
            <a:endParaRPr lang="bg-BG" dirty="0"/>
          </a:p>
        </p:txBody>
      </p:sp>
      <p:sp>
        <p:nvSpPr>
          <p:cNvPr id="2" name="Rectangle 1"/>
          <p:cNvSpPr/>
          <p:nvPr/>
        </p:nvSpPr>
        <p:spPr>
          <a:xfrm>
            <a:off x="1986456" y="277179"/>
            <a:ext cx="10011104" cy="5780044"/>
          </a:xfrm>
          <a:prstGeom prst="rect">
            <a:avLst/>
          </a:prstGeom>
        </p:spPr>
        <p:txBody>
          <a:bodyPr wrap="square">
            <a:spAutoFit/>
          </a:bodyPr>
          <a:lstStyle/>
          <a:p>
            <a:pPr indent="457200" algn="just">
              <a:lnSpc>
                <a:spcPct val="110000"/>
              </a:lnSpc>
              <a:buClr>
                <a:schemeClr val="accent1">
                  <a:lumMod val="75000"/>
                </a:schemeClr>
              </a:buClr>
              <a:buSzPct val="85000"/>
              <a:defRPr/>
            </a:pPr>
            <a:r>
              <a:rPr lang="ru-RU" sz="2400" dirty="0"/>
              <a:t>В зависимост от етапността на обслужване т.е. според това, дали отделната заявка се обслужва само от едно обслужващо устройство, или от повече (дали обслужването протича наведнъж, или на отделни етапи), системите биват:</a:t>
            </a:r>
          </a:p>
          <a:p>
            <a:pPr marL="990600" indent="-342900" algn="just">
              <a:lnSpc>
                <a:spcPct val="110000"/>
              </a:lnSpc>
              <a:buClr>
                <a:schemeClr val="accent1">
                  <a:lumMod val="75000"/>
                </a:schemeClr>
              </a:buClr>
              <a:buSzPct val="85000"/>
              <a:buFont typeface="Cambria" panose="02040503050406030204" pitchFamily="18" charset="0"/>
              <a:buChar char="-"/>
              <a:defRPr/>
            </a:pPr>
            <a:r>
              <a:rPr lang="ru-RU" sz="2400" dirty="0"/>
              <a:t>еднофазни;</a:t>
            </a:r>
          </a:p>
          <a:p>
            <a:pPr marL="990600" indent="-342900" algn="just">
              <a:lnSpc>
                <a:spcPct val="110000"/>
              </a:lnSpc>
              <a:buClr>
                <a:schemeClr val="accent1">
                  <a:lumMod val="75000"/>
                </a:schemeClr>
              </a:buClr>
              <a:buSzPct val="85000"/>
              <a:buFont typeface="Cambria" panose="02040503050406030204" pitchFamily="18" charset="0"/>
              <a:buChar char="-"/>
              <a:defRPr/>
            </a:pPr>
            <a:r>
              <a:rPr lang="ru-RU" sz="2400" dirty="0"/>
              <a:t>многофазни;</a:t>
            </a:r>
          </a:p>
          <a:p>
            <a:pPr indent="457200" algn="just">
              <a:lnSpc>
                <a:spcPct val="110000"/>
              </a:lnSpc>
              <a:buClr>
                <a:schemeClr val="accent1">
                  <a:lumMod val="75000"/>
                </a:schemeClr>
              </a:buClr>
              <a:buSzPct val="85000"/>
              <a:defRPr/>
            </a:pPr>
            <a:r>
              <a:rPr lang="bg-BG" sz="2400" dirty="0"/>
              <a:t>Когато изпълнението на заявките се извършва от един канал, системата за масово обслужване се нарича еднофазна, а при повече обслужващи канали – многофазни.</a:t>
            </a:r>
          </a:p>
          <a:p>
            <a:pPr indent="457200" algn="just">
              <a:lnSpc>
                <a:spcPct val="110000"/>
              </a:lnSpc>
              <a:buClr>
                <a:schemeClr val="accent1">
                  <a:lumMod val="75000"/>
                </a:schemeClr>
              </a:buClr>
              <a:buSzPct val="85000"/>
              <a:defRPr/>
            </a:pPr>
            <a:r>
              <a:rPr lang="ru-RU" sz="2400" dirty="0"/>
              <a:t>Според поведението на заявките, постъпили на входа на системата, когато всички канали са заети, системите се делят на:</a:t>
            </a:r>
            <a:endParaRPr lang="bg-BG" sz="2400" dirty="0"/>
          </a:p>
          <a:p>
            <a:pPr marL="990600" indent="-342900" algn="just">
              <a:lnSpc>
                <a:spcPct val="110000"/>
              </a:lnSpc>
              <a:buClr>
                <a:schemeClr val="accent1">
                  <a:lumMod val="75000"/>
                </a:schemeClr>
              </a:buClr>
              <a:buSzPct val="85000"/>
              <a:buFont typeface="Cambria" panose="02040503050406030204" pitchFamily="18" charset="0"/>
              <a:buChar char="-"/>
              <a:defRPr/>
            </a:pPr>
            <a:r>
              <a:rPr lang="ru-RU" sz="2400" dirty="0"/>
              <a:t>системи с отказ;</a:t>
            </a:r>
          </a:p>
          <a:p>
            <a:pPr marL="990600" indent="-342900" algn="just">
              <a:lnSpc>
                <a:spcPct val="110000"/>
              </a:lnSpc>
              <a:buClr>
                <a:schemeClr val="accent1">
                  <a:lumMod val="75000"/>
                </a:schemeClr>
              </a:buClr>
              <a:buSzPct val="85000"/>
              <a:buFont typeface="Cambria" panose="02040503050406030204" pitchFamily="18" charset="0"/>
              <a:buChar char="-"/>
              <a:defRPr/>
            </a:pPr>
            <a:r>
              <a:rPr lang="ru-RU" sz="2400" dirty="0"/>
              <a:t>системи с изчакване;</a:t>
            </a:r>
          </a:p>
          <a:p>
            <a:pPr indent="457200" algn="just">
              <a:lnSpc>
                <a:spcPct val="110000"/>
              </a:lnSpc>
              <a:buClr>
                <a:schemeClr val="accent1">
                  <a:lumMod val="75000"/>
                </a:schemeClr>
              </a:buClr>
              <a:buSzPct val="85000"/>
              <a:defRPr/>
            </a:pPr>
            <a:endParaRPr lang="ru-RU" sz="2400" dirty="0"/>
          </a:p>
        </p:txBody>
      </p:sp>
    </p:spTree>
    <p:extLst>
      <p:ext uri="{BB962C8B-B14F-4D97-AF65-F5344CB8AC3E}">
        <p14:creationId xmlns:p14="http://schemas.microsoft.com/office/powerpoint/2010/main" val="61889386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081674E5-CD74-4638-A238-012A517DC16A}" type="slidenum">
              <a:rPr lang="bg-BG" smtClean="0"/>
              <a:t>9</a:t>
            </a:fld>
            <a:endParaRPr lang="bg-BG" dirty="0"/>
          </a:p>
        </p:txBody>
      </p:sp>
      <p:sp>
        <p:nvSpPr>
          <p:cNvPr id="2" name="Rectangle 1"/>
          <p:cNvSpPr/>
          <p:nvPr/>
        </p:nvSpPr>
        <p:spPr>
          <a:xfrm>
            <a:off x="2243958" y="119675"/>
            <a:ext cx="9785131" cy="6592574"/>
          </a:xfrm>
          <a:prstGeom prst="rect">
            <a:avLst/>
          </a:prstGeom>
        </p:spPr>
        <p:txBody>
          <a:bodyPr wrap="square">
            <a:spAutoFit/>
          </a:bodyPr>
          <a:lstStyle/>
          <a:p>
            <a:pPr indent="457200" algn="just">
              <a:lnSpc>
                <a:spcPct val="110000"/>
              </a:lnSpc>
              <a:buClr>
                <a:schemeClr val="accent1">
                  <a:lumMod val="75000"/>
                </a:schemeClr>
              </a:buClr>
              <a:buSzPct val="85000"/>
              <a:defRPr/>
            </a:pPr>
            <a:r>
              <a:rPr lang="ru-RU" sz="2400" dirty="0"/>
              <a:t>Според броя на източниците на заявки системите за масово обслужване се делят на:</a:t>
            </a:r>
          </a:p>
          <a:p>
            <a:pPr marL="990600" indent="-342900" algn="just">
              <a:lnSpc>
                <a:spcPct val="110000"/>
              </a:lnSpc>
              <a:buClr>
                <a:schemeClr val="accent1">
                  <a:lumMod val="75000"/>
                </a:schemeClr>
              </a:buClr>
              <a:buSzPct val="85000"/>
              <a:buFont typeface="Cambria" panose="02040503050406030204" pitchFamily="18" charset="0"/>
              <a:buChar char="-"/>
              <a:defRPr/>
            </a:pPr>
            <a:r>
              <a:rPr lang="ru-RU" sz="2400" dirty="0"/>
              <a:t>системи с ограничен брой източници на заявки (с ограничен поток от заявки);</a:t>
            </a:r>
          </a:p>
          <a:p>
            <a:pPr marL="990600" indent="-342900" algn="just">
              <a:lnSpc>
                <a:spcPct val="110000"/>
              </a:lnSpc>
              <a:buClr>
                <a:schemeClr val="accent1">
                  <a:lumMod val="75000"/>
                </a:schemeClr>
              </a:buClr>
              <a:buSzPct val="85000"/>
              <a:buFont typeface="Cambria" panose="02040503050406030204" pitchFamily="18" charset="0"/>
              <a:buChar char="-"/>
              <a:defRPr/>
            </a:pPr>
            <a:r>
              <a:rPr lang="ru-RU" sz="2400" dirty="0"/>
              <a:t>системи с неограничен брой източници на заявки (с неограничен входящ поток);</a:t>
            </a:r>
          </a:p>
          <a:p>
            <a:pPr indent="457200" algn="just">
              <a:lnSpc>
                <a:spcPct val="110000"/>
              </a:lnSpc>
              <a:buClr>
                <a:schemeClr val="accent1">
                  <a:lumMod val="75000"/>
                </a:schemeClr>
              </a:buClr>
              <a:buSzPct val="85000"/>
              <a:defRPr/>
            </a:pPr>
            <a:r>
              <a:rPr lang="ru-RU" sz="2400" dirty="0"/>
              <a:t>Според дисциплината на самото обслужване:</a:t>
            </a:r>
          </a:p>
          <a:p>
            <a:pPr marL="990600" indent="-342900" algn="just">
              <a:lnSpc>
                <a:spcPct val="110000"/>
              </a:lnSpc>
              <a:buClr>
                <a:schemeClr val="accent1">
                  <a:lumMod val="75000"/>
                </a:schemeClr>
              </a:buClr>
              <a:buSzPct val="85000"/>
              <a:buFont typeface="Cambria" panose="02040503050406030204" pitchFamily="18" charset="0"/>
              <a:buChar char="-"/>
              <a:defRPr/>
            </a:pPr>
            <a:r>
              <a:rPr lang="ru-RU" sz="2400" dirty="0"/>
              <a:t>системи с приоритет (с предимство);</a:t>
            </a:r>
          </a:p>
          <a:p>
            <a:pPr marL="990600" indent="-342900" algn="just">
              <a:lnSpc>
                <a:spcPct val="110000"/>
              </a:lnSpc>
              <a:buClr>
                <a:schemeClr val="accent1">
                  <a:lumMod val="75000"/>
                </a:schemeClr>
              </a:buClr>
              <a:buSzPct val="85000"/>
              <a:buFont typeface="Cambria" panose="02040503050406030204" pitchFamily="18" charset="0"/>
              <a:buChar char="-"/>
              <a:defRPr/>
            </a:pPr>
            <a:r>
              <a:rPr lang="ru-RU" sz="2400" dirty="0"/>
              <a:t>системи без приоритет (без предимство);</a:t>
            </a:r>
          </a:p>
          <a:p>
            <a:pPr indent="457200" algn="just">
              <a:lnSpc>
                <a:spcPct val="110000"/>
              </a:lnSpc>
              <a:buClr>
                <a:schemeClr val="accent1">
                  <a:lumMod val="75000"/>
                </a:schemeClr>
              </a:buClr>
              <a:buSzPct val="85000"/>
              <a:defRPr/>
            </a:pPr>
            <a:r>
              <a:rPr lang="ru-RU" sz="2400" dirty="0"/>
              <a:t>Дисциплината на обслужване - съвкупност от правила, съобразно които заявките, постъпили при заетост на всички канали, биват удовлетворявани. Съвкупност от правила за избор на заявка от опашката и за заемане на освободените канали.</a:t>
            </a:r>
          </a:p>
          <a:p>
            <a:pPr indent="457200" algn="just">
              <a:lnSpc>
                <a:spcPct val="110000"/>
              </a:lnSpc>
              <a:buClr>
                <a:schemeClr val="accent1">
                  <a:lumMod val="75000"/>
                </a:schemeClr>
              </a:buClr>
              <a:buSzPct val="85000"/>
              <a:defRPr/>
            </a:pPr>
            <a:r>
              <a:rPr lang="bg-BG" sz="2400" dirty="0"/>
              <a:t>Системите, при които не може да бъде прекъснато обслужването до неговото завършване, се наричат системи с относителен приоритет. </a:t>
            </a:r>
            <a:endParaRPr lang="ru-RU" sz="2400" dirty="0"/>
          </a:p>
        </p:txBody>
      </p:sp>
    </p:spTree>
    <p:extLst>
      <p:ext uri="{BB962C8B-B14F-4D97-AF65-F5344CB8AC3E}">
        <p14:creationId xmlns:p14="http://schemas.microsoft.com/office/powerpoint/2010/main" val="61889386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081674E5-CD74-4638-A238-012A517DC16A}" type="slidenum">
              <a:rPr lang="bg-BG" smtClean="0"/>
              <a:t>10</a:t>
            </a:fld>
            <a:endParaRPr lang="bg-BG" dirty="0"/>
          </a:p>
        </p:txBody>
      </p:sp>
      <p:sp>
        <p:nvSpPr>
          <p:cNvPr id="2" name="Rectangle 1"/>
          <p:cNvSpPr/>
          <p:nvPr/>
        </p:nvSpPr>
        <p:spPr>
          <a:xfrm>
            <a:off x="2065282" y="221930"/>
            <a:ext cx="10011103" cy="5780044"/>
          </a:xfrm>
          <a:prstGeom prst="rect">
            <a:avLst/>
          </a:prstGeom>
        </p:spPr>
        <p:txBody>
          <a:bodyPr wrap="square">
            <a:spAutoFit/>
          </a:bodyPr>
          <a:lstStyle/>
          <a:p>
            <a:pPr indent="457200" algn="just">
              <a:lnSpc>
                <a:spcPct val="110000"/>
              </a:lnSpc>
              <a:buClr>
                <a:schemeClr val="accent1">
                  <a:lumMod val="75000"/>
                </a:schemeClr>
              </a:buClr>
              <a:buSzPct val="85000"/>
              <a:defRPr/>
            </a:pPr>
            <a:r>
              <a:rPr lang="bg-BG" sz="2400" dirty="0"/>
              <a:t>В системи за масово обслужване без приоритет </a:t>
            </a:r>
            <a:r>
              <a:rPr lang="ru-RU" sz="2400" dirty="0"/>
              <a:t>не се извършва класиране на заявките. Никоя заявка не се възприема като притежаваща приоритет. Обслужването се извършва на базата на един от следните принципи: </a:t>
            </a:r>
          </a:p>
          <a:p>
            <a:pPr marL="800100" indent="-342900" algn="just">
              <a:lnSpc>
                <a:spcPct val="110000"/>
              </a:lnSpc>
              <a:buClr>
                <a:schemeClr val="accent1">
                  <a:lumMod val="75000"/>
                </a:schemeClr>
              </a:buClr>
              <a:buSzPct val="85000"/>
              <a:buFont typeface="Cambria" panose="02040503050406030204" pitchFamily="18" charset="0"/>
              <a:buChar char="-"/>
              <a:defRPr/>
            </a:pPr>
            <a:r>
              <a:rPr lang="ru-RU" sz="2400" dirty="0"/>
              <a:t>обслужване по реда на постъпване;</a:t>
            </a:r>
          </a:p>
          <a:p>
            <a:pPr marL="800100" indent="-342900" algn="just">
              <a:lnSpc>
                <a:spcPct val="110000"/>
              </a:lnSpc>
              <a:buClr>
                <a:schemeClr val="accent1">
                  <a:lumMod val="75000"/>
                </a:schemeClr>
              </a:buClr>
              <a:buSzPct val="85000"/>
              <a:buFont typeface="Cambria" panose="02040503050406030204" pitchFamily="18" charset="0"/>
              <a:buChar char="-"/>
              <a:defRPr/>
            </a:pPr>
            <a:r>
              <a:rPr lang="ru-RU" sz="2400" dirty="0"/>
              <a:t>обслужване по ред, обратен на реда на постъпване;</a:t>
            </a:r>
          </a:p>
          <a:p>
            <a:pPr marL="800100" indent="-342900" algn="just">
              <a:lnSpc>
                <a:spcPct val="110000"/>
              </a:lnSpc>
              <a:buClr>
                <a:schemeClr val="accent1">
                  <a:lumMod val="75000"/>
                </a:schemeClr>
              </a:buClr>
              <a:buSzPct val="85000"/>
              <a:buFont typeface="Cambria" panose="02040503050406030204" pitchFamily="18" charset="0"/>
              <a:buChar char="-"/>
              <a:defRPr/>
            </a:pPr>
            <a:r>
              <a:rPr lang="ru-RU" sz="2400" dirty="0"/>
              <a:t>обслужване в случаен ред;</a:t>
            </a:r>
            <a:endParaRPr lang="bg-BG" sz="2400" dirty="0"/>
          </a:p>
          <a:p>
            <a:pPr indent="457200" algn="just">
              <a:lnSpc>
                <a:spcPct val="110000"/>
              </a:lnSpc>
              <a:buClr>
                <a:schemeClr val="accent1">
                  <a:lumMod val="75000"/>
                </a:schemeClr>
              </a:buClr>
              <a:buSzPct val="85000"/>
              <a:defRPr/>
            </a:pPr>
            <a:r>
              <a:rPr lang="bg-BG" sz="2400" dirty="0"/>
              <a:t>Най-разпространен е методът на обслужване </a:t>
            </a:r>
            <a:r>
              <a:rPr lang="en-US" sz="2400" dirty="0"/>
              <a:t>FIFO</a:t>
            </a:r>
            <a:r>
              <a:rPr lang="bg-BG" sz="2400" dirty="0"/>
              <a:t>, т.е. първа се обслужва първата постъпила заявка. В някой случаи (например в производствени складове постъпват изделия и се складират така, че само последните складирани могат да се изведат) се прилага методът </a:t>
            </a:r>
            <a:r>
              <a:rPr lang="en-US" sz="2400" dirty="0"/>
              <a:t>LIFO</a:t>
            </a:r>
            <a:r>
              <a:rPr lang="bg-BG" sz="2400" dirty="0"/>
              <a:t>, т.е. последната заявка се изпълнява първа. Обслужване на заявките в случаен ред </a:t>
            </a:r>
            <a:r>
              <a:rPr lang="ru-RU" sz="2400" dirty="0"/>
              <a:t>най-често се среща в сферата на техническото обслужване.</a:t>
            </a:r>
            <a:endParaRPr lang="bg-BG" sz="2400" dirty="0"/>
          </a:p>
        </p:txBody>
      </p:sp>
    </p:spTree>
    <p:extLst>
      <p:ext uri="{BB962C8B-B14F-4D97-AF65-F5344CB8AC3E}">
        <p14:creationId xmlns:p14="http://schemas.microsoft.com/office/powerpoint/2010/main" val="61889386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081674E5-CD74-4638-A238-012A517DC16A}" type="slidenum">
              <a:rPr lang="bg-BG" smtClean="0"/>
              <a:t>11</a:t>
            </a:fld>
            <a:endParaRPr lang="bg-BG" dirty="0"/>
          </a:p>
        </p:txBody>
      </p:sp>
      <p:sp>
        <p:nvSpPr>
          <p:cNvPr id="2" name="Rectangle 1"/>
          <p:cNvSpPr/>
          <p:nvPr/>
        </p:nvSpPr>
        <p:spPr>
          <a:xfrm>
            <a:off x="2128347" y="188195"/>
            <a:ext cx="9711559" cy="6186309"/>
          </a:xfrm>
          <a:prstGeom prst="rect">
            <a:avLst/>
          </a:prstGeom>
        </p:spPr>
        <p:txBody>
          <a:bodyPr wrap="square">
            <a:spAutoFit/>
          </a:bodyPr>
          <a:lstStyle/>
          <a:p>
            <a:pPr indent="457200" algn="just">
              <a:lnSpc>
                <a:spcPct val="110000"/>
              </a:lnSpc>
              <a:buClr>
                <a:schemeClr val="accent1">
                  <a:lumMod val="75000"/>
                </a:schemeClr>
              </a:buClr>
              <a:buSzPct val="85000"/>
            </a:pPr>
            <a:r>
              <a:rPr lang="bg-BG" sz="2400" dirty="0"/>
              <a:t>Основната задача на теорията на масовото обслужване е определянето на количествените показатели на системата за масово обслужване, тяхната зависимост от параметрите на входния поток и структурата на самата система. Решаването на тази задача позволява да се определят „тесните места” на системата, влиянието им върху ефективността от обслужването и пътищата за подобряване функционирането на системата. За тази цел през втория етап могат да се използват различни оптимизационни методи за синтез на оптимални системи за масово обслужване.</a:t>
            </a:r>
          </a:p>
          <a:p>
            <a:pPr indent="457200" algn="just">
              <a:lnSpc>
                <a:spcPct val="110000"/>
              </a:lnSpc>
              <a:buClr>
                <a:schemeClr val="accent1">
                  <a:lumMod val="75000"/>
                </a:schemeClr>
              </a:buClr>
              <a:buSzPct val="85000"/>
            </a:pPr>
            <a:r>
              <a:rPr lang="bg-BG" sz="2400" dirty="0"/>
              <a:t>Най-прост е случаят на обслужване на голямо количество еднотипни заявки. В този случай в системата могат да възникнат следните ситуации:</a:t>
            </a:r>
          </a:p>
          <a:p>
            <a:pPr marL="800100" indent="-342900" algn="just">
              <a:lnSpc>
                <a:spcPct val="110000"/>
              </a:lnSpc>
              <a:buClr>
                <a:schemeClr val="accent1">
                  <a:lumMod val="75000"/>
                </a:schemeClr>
              </a:buClr>
              <a:buSzPct val="85000"/>
              <a:buFont typeface="Cambria" panose="02040503050406030204" pitchFamily="18" charset="0"/>
              <a:buChar char="-"/>
              <a:defRPr/>
            </a:pPr>
            <a:r>
              <a:rPr lang="bg-BG" sz="2400" dirty="0"/>
              <a:t>образува се опашка от заявки, очакващи обслужване;</a:t>
            </a:r>
          </a:p>
          <a:p>
            <a:pPr marL="800100" indent="-342900" algn="just">
              <a:lnSpc>
                <a:spcPct val="110000"/>
              </a:lnSpc>
              <a:buClr>
                <a:schemeClr val="accent1">
                  <a:lumMod val="75000"/>
                </a:schemeClr>
              </a:buClr>
              <a:buSzPct val="85000"/>
              <a:buFont typeface="Cambria" panose="02040503050406030204" pitchFamily="18" charset="0"/>
              <a:buChar char="-"/>
              <a:defRPr/>
            </a:pPr>
            <a:r>
              <a:rPr lang="bg-BG" sz="2400" dirty="0"/>
              <a:t>образува се опашка от канали, очакващи заявки за обслужване.</a:t>
            </a:r>
          </a:p>
        </p:txBody>
      </p:sp>
    </p:spTree>
    <p:extLst>
      <p:ext uri="{BB962C8B-B14F-4D97-AF65-F5344CB8AC3E}">
        <p14:creationId xmlns:p14="http://schemas.microsoft.com/office/powerpoint/2010/main" val="61889386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081674E5-CD74-4638-A238-012A517DC16A}" type="slidenum">
              <a:rPr lang="bg-BG" smtClean="0"/>
              <a:t>12</a:t>
            </a:fld>
            <a:endParaRPr lang="bg-BG" dirty="0"/>
          </a:p>
        </p:txBody>
      </p:sp>
      <p:sp>
        <p:nvSpPr>
          <p:cNvPr id="2" name="Rectangle 1"/>
          <p:cNvSpPr/>
          <p:nvPr/>
        </p:nvSpPr>
        <p:spPr>
          <a:xfrm>
            <a:off x="2175640" y="201755"/>
            <a:ext cx="9727325" cy="6592574"/>
          </a:xfrm>
          <a:prstGeom prst="rect">
            <a:avLst/>
          </a:prstGeom>
        </p:spPr>
        <p:txBody>
          <a:bodyPr wrap="square">
            <a:spAutoFit/>
          </a:bodyPr>
          <a:lstStyle/>
          <a:p>
            <a:pPr indent="457200" algn="just">
              <a:lnSpc>
                <a:spcPct val="110000"/>
              </a:lnSpc>
              <a:buClr>
                <a:schemeClr val="accent1">
                  <a:lumMod val="75000"/>
                </a:schemeClr>
              </a:buClr>
              <a:buSzPct val="85000"/>
            </a:pPr>
            <a:r>
              <a:rPr lang="bg-BG" sz="2400" dirty="0"/>
              <a:t>Ако при постъпване на заявка има свободни канали, трябва да съществува правило, според което от всички да се избере един. Това може да бъде каналът с най-малък номер или канал, който се е освободил най-рано. Ако при постъпване на заявка няма свободен канал, са възможни два варианта: заявката се отказва (системи с откази) или заявката се нарежда на опашка за очакване освобождаване на канал (система с изчакване).</a:t>
            </a:r>
          </a:p>
          <a:p>
            <a:pPr indent="457200" algn="just">
              <a:lnSpc>
                <a:spcPct val="110000"/>
              </a:lnSpc>
              <a:buClr>
                <a:schemeClr val="accent1">
                  <a:lumMod val="75000"/>
                </a:schemeClr>
              </a:buClr>
              <a:buSzPct val="85000"/>
            </a:pPr>
            <a:r>
              <a:rPr lang="bg-BG" sz="2400" dirty="0"/>
              <a:t> В системите за масово обслужване почти винаги има чакащи „клиенти” или неизползвани канали. Тези фактори определят загуби, които са свързани със загубите от чакането на клиентите и загуби от престой на каналите. Следователно целта на синтеза и управлението е минимизиране на тези загуби.</a:t>
            </a:r>
          </a:p>
          <a:p>
            <a:pPr indent="457200" algn="just">
              <a:lnSpc>
                <a:spcPct val="110000"/>
              </a:lnSpc>
              <a:buClr>
                <a:schemeClr val="accent1">
                  <a:lumMod val="75000"/>
                </a:schemeClr>
              </a:buClr>
              <a:buSzPct val="85000"/>
            </a:pPr>
            <a:r>
              <a:rPr lang="bg-BG" sz="2400" dirty="0"/>
              <a:t>Потокът от заявки на входа на системи за масово обслужване може да се приеме като поток от случайни събития, тъй като моментите на постъпване на заявките предварително не са известни. </a:t>
            </a:r>
          </a:p>
        </p:txBody>
      </p:sp>
    </p:spTree>
    <p:extLst>
      <p:ext uri="{BB962C8B-B14F-4D97-AF65-F5344CB8AC3E}">
        <p14:creationId xmlns:p14="http://schemas.microsoft.com/office/powerpoint/2010/main" val="61889386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081674E5-CD74-4638-A238-012A517DC16A}" type="slidenum">
              <a:rPr lang="bg-BG" smtClean="0"/>
              <a:t>13</a:t>
            </a:fld>
            <a:endParaRPr lang="bg-BG" dirty="0"/>
          </a:p>
        </p:txBody>
      </p:sp>
      <p:sp>
        <p:nvSpPr>
          <p:cNvPr id="2" name="Rectangle 1"/>
          <p:cNvSpPr/>
          <p:nvPr/>
        </p:nvSpPr>
        <p:spPr>
          <a:xfrm>
            <a:off x="2191407" y="114218"/>
            <a:ext cx="9806152" cy="6186309"/>
          </a:xfrm>
          <a:prstGeom prst="rect">
            <a:avLst/>
          </a:prstGeom>
        </p:spPr>
        <p:txBody>
          <a:bodyPr wrap="square">
            <a:spAutoFit/>
          </a:bodyPr>
          <a:lstStyle/>
          <a:p>
            <a:pPr indent="457200" algn="just">
              <a:lnSpc>
                <a:spcPct val="110000"/>
              </a:lnSpc>
              <a:buClr>
                <a:schemeClr val="accent1">
                  <a:lumMod val="75000"/>
                </a:schemeClr>
              </a:buClr>
              <a:buSzPct val="85000"/>
            </a:pPr>
            <a:r>
              <a:rPr lang="bg-BG" sz="2400" dirty="0"/>
              <a:t>Случайните времеви интервали в потока могат да се подчиняват на различни закони за разпределение. В повечето случаи в теорията на масовото обслужване се разглеждат т. нар. поасонови потоци, в които вероятността от постъпване на </a:t>
            </a:r>
            <a:r>
              <a:rPr lang="en-US" sz="2400" dirty="0"/>
              <a:t>k</a:t>
            </a:r>
            <a:r>
              <a:rPr lang="ru-RU" sz="2400" dirty="0"/>
              <a:t>-</a:t>
            </a:r>
            <a:r>
              <a:rPr lang="bg-BG" sz="2400" dirty="0"/>
              <a:t>тата заявка в интервала от време </a:t>
            </a:r>
            <a:r>
              <a:rPr lang="en-US" sz="2400" dirty="0"/>
              <a:t>t</a:t>
            </a:r>
            <a:r>
              <a:rPr lang="bg-BG" sz="2400" dirty="0"/>
              <a:t> се задава с формулата на Поасон:</a:t>
            </a:r>
          </a:p>
          <a:p>
            <a:pPr indent="457200" algn="just">
              <a:lnSpc>
                <a:spcPct val="110000"/>
              </a:lnSpc>
              <a:buClr>
                <a:schemeClr val="accent1">
                  <a:lumMod val="75000"/>
                </a:schemeClr>
              </a:buClr>
              <a:buSzPct val="85000"/>
            </a:pPr>
            <a:endParaRPr lang="bg-BG" sz="2400" dirty="0"/>
          </a:p>
          <a:p>
            <a:pPr indent="457200" algn="just">
              <a:lnSpc>
                <a:spcPct val="110000"/>
              </a:lnSpc>
              <a:buClr>
                <a:schemeClr val="accent1">
                  <a:lumMod val="75000"/>
                </a:schemeClr>
              </a:buClr>
              <a:buSzPct val="85000"/>
            </a:pPr>
            <a:r>
              <a:rPr lang="bg-BG" sz="2400" dirty="0"/>
              <a:t>						  , </a:t>
            </a:r>
          </a:p>
          <a:p>
            <a:pPr indent="457200" algn="just">
              <a:lnSpc>
                <a:spcPct val="110000"/>
              </a:lnSpc>
              <a:buClr>
                <a:schemeClr val="accent1">
                  <a:lumMod val="75000"/>
                </a:schemeClr>
              </a:buClr>
              <a:buSzPct val="85000"/>
            </a:pPr>
            <a:endParaRPr lang="bg-BG" sz="2400" dirty="0"/>
          </a:p>
          <a:p>
            <a:pPr algn="just">
              <a:lnSpc>
                <a:spcPct val="110000"/>
              </a:lnSpc>
              <a:buClr>
                <a:schemeClr val="accent1">
                  <a:lumMod val="75000"/>
                </a:schemeClr>
              </a:buClr>
              <a:buSzPct val="85000"/>
            </a:pPr>
            <a:r>
              <a:rPr lang="bg-BG" sz="2400" dirty="0"/>
              <a:t>където λ&gt;0 </a:t>
            </a:r>
            <a:r>
              <a:rPr lang="en-US" sz="2400" dirty="0"/>
              <a:t>e </a:t>
            </a:r>
            <a:r>
              <a:rPr lang="bg-BG" sz="2400" dirty="0"/>
              <a:t>плътността на потока, </a:t>
            </a:r>
          </a:p>
          <a:p>
            <a:pPr algn="just">
              <a:lnSpc>
                <a:spcPct val="110000"/>
              </a:lnSpc>
              <a:buClr>
                <a:schemeClr val="accent1">
                  <a:lumMod val="75000"/>
                </a:schemeClr>
              </a:buClr>
              <a:buSzPct val="85000"/>
            </a:pPr>
            <a:r>
              <a:rPr lang="bg-BG" sz="2400" dirty="0"/>
              <a:t>               - математическото очакване на броя на събитията в интервала                       .</a:t>
            </a:r>
          </a:p>
          <a:p>
            <a:pPr indent="457200" algn="just">
              <a:lnSpc>
                <a:spcPct val="110000"/>
              </a:lnSpc>
              <a:buClr>
                <a:schemeClr val="accent1">
                  <a:lumMod val="75000"/>
                </a:schemeClr>
              </a:buClr>
              <a:buSzPct val="85000"/>
            </a:pPr>
            <a:r>
              <a:rPr lang="bg-BG" sz="2400" dirty="0"/>
              <a:t>Използването на </a:t>
            </a:r>
            <a:r>
              <a:rPr lang="bg-BG" sz="2400" dirty="0" smtClean="0"/>
              <a:t>поасоновото </a:t>
            </a:r>
            <a:r>
              <a:rPr lang="bg-BG" sz="2400" dirty="0"/>
              <a:t>разпределение в системите за масово обслужване се определя от факта, че за другите видове разпределения е невъзможно да се получат аналитични оценки за качеството на функциониране на системата за масово обслужване. </a:t>
            </a:r>
          </a:p>
        </p:txBody>
      </p:sp>
      <p:pic>
        <p:nvPicPr>
          <p:cNvPr id="2053" name="Picture 5"/>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319753" y="2088636"/>
            <a:ext cx="3568748" cy="131671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054" name="Picture 6"/>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191407" y="3815255"/>
            <a:ext cx="1071338" cy="4910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055" name="Picture 7"/>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870872" y="4209390"/>
            <a:ext cx="1426341" cy="47544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61889386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081674E5-CD74-4638-A238-012A517DC16A}" type="slidenum">
              <a:rPr lang="bg-BG" smtClean="0"/>
              <a:t>14</a:t>
            </a:fld>
            <a:endParaRPr lang="bg-BG" dirty="0"/>
          </a:p>
        </p:txBody>
      </p:sp>
      <p:sp>
        <p:nvSpPr>
          <p:cNvPr id="2" name="Rectangle 1"/>
          <p:cNvSpPr/>
          <p:nvPr/>
        </p:nvSpPr>
        <p:spPr>
          <a:xfrm>
            <a:off x="1608083" y="9311"/>
            <a:ext cx="10583917" cy="6740307"/>
          </a:xfrm>
          <a:prstGeom prst="rect">
            <a:avLst/>
          </a:prstGeom>
        </p:spPr>
        <p:txBody>
          <a:bodyPr wrap="square">
            <a:spAutoFit/>
          </a:bodyPr>
          <a:lstStyle/>
          <a:p>
            <a:pPr indent="457200" algn="just">
              <a:buClr>
                <a:schemeClr val="accent1">
                  <a:lumMod val="75000"/>
                </a:schemeClr>
              </a:buClr>
              <a:buSzPct val="85000"/>
            </a:pPr>
            <a:r>
              <a:rPr lang="bg-BG" sz="2400" dirty="0"/>
              <a:t>Доказано е, че в редица случаи изчисленията на ефективността на системите за масово обслужване с пуасоново разпределение на заявките дава определен запас спрямо входни разпределения от друг вид. Това разпределение играе същата роля, както нормалния закон за разпределение в теорията на вероятностите.</a:t>
            </a:r>
          </a:p>
          <a:p>
            <a:pPr indent="457200" algn="just">
              <a:buClr>
                <a:schemeClr val="accent1">
                  <a:lumMod val="75000"/>
                </a:schemeClr>
              </a:buClr>
              <a:buSzPct val="85000"/>
            </a:pPr>
            <a:r>
              <a:rPr lang="bg-BG" sz="2400" dirty="0"/>
              <a:t>Елементарния поток от заявки има едновременно три основни свойства: стационарност (постоянство във времето), ординарност и липса на последействие. Потокът от заявки се нарича стационарен, ако вероятността за попадане на заявки в произволни равни интервали от времето е еднакъв, т.е. не зависи от времето. За стационарния поток е характерно, че има постоянна плътност на вероятността (среден брой заявки за единица време). </a:t>
            </a:r>
            <a:r>
              <a:rPr lang="ru-RU" sz="2400" dirty="0"/>
              <a:t>На практика стационарността на потока означава, че неговата интензивност остава постоянна величина.</a:t>
            </a:r>
            <a:endParaRPr lang="bg-BG" sz="2400" dirty="0"/>
          </a:p>
          <a:p>
            <a:pPr indent="457200" algn="just">
              <a:buClr>
                <a:schemeClr val="accent1">
                  <a:lumMod val="75000"/>
                </a:schemeClr>
              </a:buClr>
              <a:buSzPct val="85000"/>
            </a:pPr>
            <a:r>
              <a:rPr lang="ru-RU" sz="2400" dirty="0"/>
              <a:t> </a:t>
            </a:r>
            <a:r>
              <a:rPr lang="bg-BG" sz="2400" dirty="0"/>
              <a:t>Свойството ординарност на потока от заявки означава невъзможност за поява на две и повече събития е един и същ момент на времето. </a:t>
            </a:r>
            <a:r>
              <a:rPr lang="ru-RU" sz="2400" dirty="0"/>
              <a:t>На практика наличието на това свойство означава, че заявките постъпват последователно, една по една, а не групово, защото вероятността да постъпят две и повече заявки едновременно е равна на нула.</a:t>
            </a:r>
            <a:endParaRPr lang="bg-BG" sz="2400" dirty="0"/>
          </a:p>
        </p:txBody>
      </p:sp>
    </p:spTree>
    <p:extLst>
      <p:ext uri="{BB962C8B-B14F-4D97-AF65-F5344CB8AC3E}">
        <p14:creationId xmlns:p14="http://schemas.microsoft.com/office/powerpoint/2010/main" val="61889386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081674E5-CD74-4638-A238-012A517DC16A}" type="slidenum">
              <a:rPr lang="bg-BG" smtClean="0"/>
              <a:t>15</a:t>
            </a:fld>
            <a:endParaRPr lang="bg-BG" dirty="0"/>
          </a:p>
        </p:txBody>
      </p:sp>
      <p:sp>
        <p:nvSpPr>
          <p:cNvPr id="2" name="Rectangle 1"/>
          <p:cNvSpPr/>
          <p:nvPr/>
        </p:nvSpPr>
        <p:spPr>
          <a:xfrm>
            <a:off x="2228193" y="114960"/>
            <a:ext cx="9816661" cy="6740307"/>
          </a:xfrm>
          <a:prstGeom prst="rect">
            <a:avLst/>
          </a:prstGeom>
        </p:spPr>
        <p:txBody>
          <a:bodyPr wrap="square">
            <a:spAutoFit/>
          </a:bodyPr>
          <a:lstStyle/>
          <a:p>
            <a:pPr indent="457200" algn="just">
              <a:buClr>
                <a:schemeClr val="accent1">
                  <a:lumMod val="75000"/>
                </a:schemeClr>
              </a:buClr>
              <a:buSzPct val="85000"/>
            </a:pPr>
            <a:r>
              <a:rPr lang="bg-BG" sz="2400" dirty="0"/>
              <a:t> Липсата на последействие означава, че вероятността за постъпване на заявка в интервала от време не зависи от това, какъв брой заявки е имало до момента. </a:t>
            </a:r>
            <a:r>
              <a:rPr lang="ru-RU" sz="2400" dirty="0"/>
              <a:t>Вероятността да постъпят определен брой заявки за определен интервал от време зависи само от ширината на интервала и не зависи от това, колко заявки са постъпили преди началото на този интервал.</a:t>
            </a:r>
            <a:endParaRPr lang="bg-BG" sz="2400" dirty="0"/>
          </a:p>
          <a:p>
            <a:pPr indent="457200" algn="just">
              <a:buClr>
                <a:schemeClr val="accent1">
                  <a:lumMod val="75000"/>
                </a:schemeClr>
              </a:buClr>
              <a:buSzPct val="85000"/>
            </a:pPr>
            <a:r>
              <a:rPr lang="bg-BG" sz="2400" dirty="0"/>
              <a:t>Една от най-важните характеристики на всеки канал за обслужване в системите за масово обслужване е времето за обслужване, което определя пропускателната способност на системата. Поради нестабилност в работата на каналите за обслужване, различие в параметрите на постъпващите заявки и др. времето за обслужване е случайна величина с показателен закон за разпределение:</a:t>
            </a:r>
          </a:p>
          <a:p>
            <a:pPr indent="457200" algn="just">
              <a:buClr>
                <a:schemeClr val="accent1">
                  <a:lumMod val="75000"/>
                </a:schemeClr>
              </a:buClr>
              <a:buSzPct val="85000"/>
            </a:pPr>
            <a:endParaRPr lang="bg-BG" sz="2400" dirty="0"/>
          </a:p>
          <a:p>
            <a:pPr indent="457200" algn="just">
              <a:buClr>
                <a:schemeClr val="accent1">
                  <a:lumMod val="75000"/>
                </a:schemeClr>
              </a:buClr>
              <a:buSzPct val="85000"/>
            </a:pPr>
            <a:endParaRPr lang="bg-BG" sz="2400" dirty="0"/>
          </a:p>
          <a:p>
            <a:pPr>
              <a:lnSpc>
                <a:spcPct val="150000"/>
              </a:lnSpc>
            </a:pPr>
            <a:r>
              <a:rPr lang="bg-BG" sz="2400" dirty="0"/>
              <a:t>където                                     е средно време за обслужване на заявките или математическото очакване на времето за обслужване.</a:t>
            </a:r>
          </a:p>
        </p:txBody>
      </p:sp>
      <p:pic>
        <p:nvPicPr>
          <p:cNvPr id="307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745420" y="4865960"/>
            <a:ext cx="3153104" cy="79385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3075"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486478" y="5659818"/>
            <a:ext cx="1999922" cy="72521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61889386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081674E5-CD74-4638-A238-012A517DC16A}" type="slidenum">
              <a:rPr lang="bg-BG" smtClean="0"/>
              <a:t>16</a:t>
            </a:fld>
            <a:endParaRPr lang="bg-BG" dirty="0"/>
          </a:p>
        </p:txBody>
      </p:sp>
      <p:sp>
        <p:nvSpPr>
          <p:cNvPr id="2" name="Rectangle 1"/>
          <p:cNvSpPr/>
          <p:nvPr/>
        </p:nvSpPr>
        <p:spPr>
          <a:xfrm>
            <a:off x="2228193" y="148695"/>
            <a:ext cx="9816662" cy="6370975"/>
          </a:xfrm>
          <a:prstGeom prst="rect">
            <a:avLst/>
          </a:prstGeom>
        </p:spPr>
        <p:txBody>
          <a:bodyPr wrap="square">
            <a:spAutoFit/>
          </a:bodyPr>
          <a:lstStyle/>
          <a:p>
            <a:pPr indent="457200" algn="just">
              <a:buClr>
                <a:schemeClr val="accent1">
                  <a:lumMod val="75000"/>
                </a:schemeClr>
              </a:buClr>
              <a:buSzPct val="85000"/>
            </a:pPr>
            <a:r>
              <a:rPr lang="bg-BG" sz="2400" dirty="0"/>
              <a:t>Важна характеристика на входния поток е законът на разпределението на продължителностите на интервалите от време между съседните моменти на поява на заявки:</a:t>
            </a:r>
          </a:p>
          <a:p>
            <a:pPr indent="457200" algn="just">
              <a:buClr>
                <a:schemeClr val="accent1">
                  <a:lumMod val="75000"/>
                </a:schemeClr>
              </a:buClr>
              <a:buSzPct val="85000"/>
            </a:pPr>
            <a:endParaRPr lang="bg-BG" sz="2400" dirty="0"/>
          </a:p>
          <a:p>
            <a:pPr indent="457200" algn="just">
              <a:buClr>
                <a:schemeClr val="accent1">
                  <a:lumMod val="75000"/>
                </a:schemeClr>
              </a:buClr>
              <a:buSzPct val="85000"/>
            </a:pPr>
            <a:r>
              <a:rPr lang="bg-BG" sz="2400" dirty="0"/>
              <a:t>					,</a:t>
            </a:r>
          </a:p>
          <a:p>
            <a:pPr algn="just">
              <a:buClr>
                <a:schemeClr val="accent1">
                  <a:lumMod val="75000"/>
                </a:schemeClr>
              </a:buClr>
              <a:buSzPct val="85000"/>
            </a:pPr>
            <a:r>
              <a:rPr lang="bg-BG" sz="2400" dirty="0"/>
              <a:t>който е показателен закон с параметър λ (среден брой заявки за единица време)</a:t>
            </a:r>
          </a:p>
          <a:p>
            <a:pPr algn="just">
              <a:buClr>
                <a:schemeClr val="accent1">
                  <a:lumMod val="75000"/>
                </a:schemeClr>
              </a:buClr>
              <a:buSzPct val="85000"/>
            </a:pPr>
            <a:r>
              <a:rPr lang="bg-BG" sz="2400" b="1" i="1" dirty="0"/>
              <a:t>Системи за масово обслужване с откази</a:t>
            </a:r>
          </a:p>
          <a:p>
            <a:pPr indent="457200" algn="just">
              <a:buClr>
                <a:schemeClr val="accent1">
                  <a:lumMod val="75000"/>
                </a:schemeClr>
              </a:buClr>
              <a:buSzPct val="85000"/>
            </a:pPr>
            <a:r>
              <a:rPr lang="bg-BG" sz="2400" dirty="0"/>
              <a:t>Задачата при изследване на една система за масово обслужване се състои в установяване на вида й, количествените характеристики на входния поток от заявки и обслужващите апарати и накрая във формулирането на целевата функция в зависимост от тези характеристики.</a:t>
            </a:r>
          </a:p>
          <a:p>
            <a:pPr indent="457200" algn="just">
              <a:buClr>
                <a:schemeClr val="accent1">
                  <a:lumMod val="75000"/>
                </a:schemeClr>
              </a:buClr>
              <a:buSzPct val="85000"/>
            </a:pPr>
            <a:r>
              <a:rPr lang="bg-BG" sz="2400" dirty="0"/>
              <a:t>При системите за масово обслужване с откази една заявка се обслужва само в случай, че в момента на постъпването й е свободен поне един канал на обслужване. В противен случай тя се отказва.</a:t>
            </a:r>
          </a:p>
          <a:p>
            <a:pPr indent="457200" algn="just">
              <a:buClr>
                <a:schemeClr val="accent1">
                  <a:lumMod val="75000"/>
                </a:schemeClr>
              </a:buClr>
              <a:buSzPct val="85000"/>
            </a:pPr>
            <a:endParaRPr lang="bg-BG" sz="2400" dirty="0"/>
          </a:p>
        </p:txBody>
      </p:sp>
      <p:pic>
        <p:nvPicPr>
          <p:cNvPr id="4102" name="Picture 6"/>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514411" y="1265564"/>
            <a:ext cx="2296291" cy="721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61889386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081674E5-CD74-4638-A238-012A517DC16A}" type="slidenum">
              <a:rPr lang="bg-BG" smtClean="0"/>
              <a:t>17</a:t>
            </a:fld>
            <a:endParaRPr lang="bg-BG" dirty="0"/>
          </a:p>
        </p:txBody>
      </p:sp>
      <p:sp>
        <p:nvSpPr>
          <p:cNvPr id="2" name="Rectangle 1"/>
          <p:cNvSpPr/>
          <p:nvPr/>
        </p:nvSpPr>
        <p:spPr>
          <a:xfrm>
            <a:off x="2159876" y="101508"/>
            <a:ext cx="9743090" cy="6740307"/>
          </a:xfrm>
          <a:prstGeom prst="rect">
            <a:avLst/>
          </a:prstGeom>
        </p:spPr>
        <p:txBody>
          <a:bodyPr wrap="square">
            <a:spAutoFit/>
          </a:bodyPr>
          <a:lstStyle/>
          <a:p>
            <a:pPr lvl="0" indent="457200" algn="just">
              <a:buClr>
                <a:srgbClr val="D34817">
                  <a:lumMod val="75000"/>
                </a:srgbClr>
              </a:buClr>
              <a:buSzPct val="85000"/>
            </a:pPr>
            <a:r>
              <a:rPr lang="bg-BG" sz="2400" dirty="0">
                <a:solidFill>
                  <a:prstClr val="black"/>
                </a:solidFill>
              </a:rPr>
              <a:t>Изходните данни при изследването на системи за масово обслужване са параметрите μ и λ, които се определят чрез статистически изследвания на потока от заявки и обслужващи канали, а също така и чрез аналитични изчисления. При това често е по-лесно в началото да се определи не самият параметър μ, а математическото очакване за обслужване на една заявка </a:t>
            </a:r>
          </a:p>
          <a:p>
            <a:pPr lvl="0" indent="457200" algn="just">
              <a:buClr>
                <a:srgbClr val="D34817">
                  <a:lumMod val="75000"/>
                </a:srgbClr>
              </a:buClr>
              <a:buSzPct val="85000"/>
            </a:pPr>
            <a:endParaRPr lang="bg-BG" sz="2400" dirty="0">
              <a:solidFill>
                <a:prstClr val="black"/>
              </a:solidFill>
            </a:endParaRPr>
          </a:p>
          <a:p>
            <a:pPr lvl="0" indent="457200" algn="just">
              <a:buClr>
                <a:srgbClr val="D34817">
                  <a:lumMod val="75000"/>
                </a:srgbClr>
              </a:buClr>
              <a:buSzPct val="85000"/>
            </a:pPr>
            <a:r>
              <a:rPr lang="bg-BG" sz="2400" dirty="0">
                <a:solidFill>
                  <a:prstClr val="black"/>
                </a:solidFill>
              </a:rPr>
              <a:t>					   </a:t>
            </a:r>
          </a:p>
          <a:p>
            <a:pPr lvl="0" indent="457200" algn="just">
              <a:buClr>
                <a:srgbClr val="D34817">
                  <a:lumMod val="75000"/>
                </a:srgbClr>
              </a:buClr>
              <a:buSzPct val="85000"/>
            </a:pPr>
            <a:endParaRPr lang="bg-BG" sz="2400" dirty="0">
              <a:solidFill>
                <a:prstClr val="black"/>
              </a:solidFill>
            </a:endParaRPr>
          </a:p>
          <a:p>
            <a:pPr indent="457200" algn="just">
              <a:buClr>
                <a:srgbClr val="D34817">
                  <a:lumMod val="75000"/>
                </a:srgbClr>
              </a:buClr>
              <a:buSzPct val="85000"/>
            </a:pPr>
            <a:r>
              <a:rPr lang="bg-BG" sz="2400" dirty="0"/>
              <a:t>Като се приемат функциите за разпределение на продължителността на интервала от време между съседните моменти на появяване на заявки и времето за обслужването им за показателни, се получава, че броят на каналите за обслужване, заети в момента от време </a:t>
            </a:r>
            <a:r>
              <a:rPr lang="en-US" sz="2400" dirty="0"/>
              <a:t>t</a:t>
            </a:r>
            <a:r>
              <a:rPr lang="en-US" sz="2400" baseline="-25000" dirty="0"/>
              <a:t>2</a:t>
            </a:r>
            <a:r>
              <a:rPr lang="bg-BG" sz="2400" dirty="0"/>
              <a:t>, зависи от броя на заетите канали в предишния момент </a:t>
            </a:r>
            <a:r>
              <a:rPr lang="en-US" sz="2400" dirty="0"/>
              <a:t>t</a:t>
            </a:r>
            <a:r>
              <a:rPr lang="en-US" sz="2400" baseline="-25000" dirty="0"/>
              <a:t>1  </a:t>
            </a:r>
            <a:r>
              <a:rPr lang="bg-BG" sz="2400" dirty="0"/>
              <a:t>и не зависи от това по какъв начин системата за масово обслужване е достигнала до състоянието си в момента </a:t>
            </a:r>
            <a:r>
              <a:rPr lang="en-US" sz="2400" dirty="0"/>
              <a:t>t</a:t>
            </a:r>
            <a:r>
              <a:rPr lang="en-US" sz="2400" baseline="-25000" dirty="0"/>
              <a:t>1</a:t>
            </a:r>
            <a:r>
              <a:rPr lang="bg-BG" sz="2400" dirty="0"/>
              <a:t>. Това произтича от свойството на самия показателен закон за разпределение. </a:t>
            </a:r>
            <a:endParaRPr lang="bg-BG" sz="2400" dirty="0">
              <a:solidFill>
                <a:prstClr val="black"/>
              </a:solidFill>
            </a:endParaRPr>
          </a:p>
        </p:txBody>
      </p:sp>
      <p:pic>
        <p:nvPicPr>
          <p:cNvPr id="5122"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029201" y="2505559"/>
            <a:ext cx="2002220" cy="97894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61889386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081674E5-CD74-4638-A238-012A517DC16A}" type="slidenum">
              <a:rPr lang="bg-BG" smtClean="0"/>
              <a:t>18</a:t>
            </a:fld>
            <a:endParaRPr lang="bg-BG" dirty="0"/>
          </a:p>
        </p:txBody>
      </p:sp>
      <p:sp>
        <p:nvSpPr>
          <p:cNvPr id="2" name="Rectangle 1"/>
          <p:cNvSpPr/>
          <p:nvPr/>
        </p:nvSpPr>
        <p:spPr>
          <a:xfrm>
            <a:off x="2096814" y="94786"/>
            <a:ext cx="9869214" cy="6740307"/>
          </a:xfrm>
          <a:prstGeom prst="rect">
            <a:avLst/>
          </a:prstGeom>
        </p:spPr>
        <p:txBody>
          <a:bodyPr wrap="square">
            <a:spAutoFit/>
          </a:bodyPr>
          <a:lstStyle/>
          <a:p>
            <a:pPr indent="457200" algn="just">
              <a:buClr>
                <a:srgbClr val="D34817">
                  <a:lumMod val="75000"/>
                </a:srgbClr>
              </a:buClr>
              <a:buSzPct val="85000"/>
            </a:pPr>
            <a:r>
              <a:rPr lang="bg-BG" sz="2400" dirty="0">
                <a:solidFill>
                  <a:prstClr val="black"/>
                </a:solidFill>
              </a:rPr>
              <a:t>Случайните процеси, при които вероятността за което и да е състояние на системата в бъдеще зависи само от състоянието на системата в настоящия момент и не зависи от това , по какъв начин системата е стигнала до това състояние, се наричат марковски процеси. Марковските процеси биват два вида дискретни и непрекъснати. Марковските случайни процеси с дискретно време са тези, при които прехода от едно състояние в друго е възможно само в строго определени моменти от време. Например счупването на шасито на колесника на самолет е възможно само при кацане на самолета. Прехода на един човек от състояние „пътник” от тролея в състояние „пешеходец” е възможно само след спиране на превозното средство. </a:t>
            </a:r>
            <a:endParaRPr lang="en-US" sz="2400" dirty="0">
              <a:solidFill>
                <a:prstClr val="black"/>
              </a:solidFill>
            </a:endParaRPr>
          </a:p>
          <a:p>
            <a:pPr indent="457200" algn="just">
              <a:buClr>
                <a:srgbClr val="D34817">
                  <a:lumMod val="75000"/>
                </a:srgbClr>
              </a:buClr>
              <a:buSzPct val="85000"/>
            </a:pPr>
            <a:r>
              <a:rPr lang="bg-BG" sz="2400" dirty="0"/>
              <a:t>При непрекъснатите марковски процеси  преходът от едно състояние в друго е възможен в произволен момент от време. Доказано е, че ако всички потоци от събития превеждащи системата от състояние в състояние се явяват </a:t>
            </a:r>
            <a:r>
              <a:rPr lang="bg-BG" sz="2400" dirty="0" smtClean="0"/>
              <a:t>поасонови </a:t>
            </a:r>
            <a:r>
              <a:rPr lang="bg-BG" sz="2400" dirty="0"/>
              <a:t>потоци (потоци без последействие), то случайният процес, протичащ в системата е непрекъснат марковски процес. </a:t>
            </a:r>
            <a:endParaRPr lang="bg-BG" sz="2400" dirty="0">
              <a:solidFill>
                <a:prstClr val="black"/>
              </a:solidFill>
            </a:endParaRPr>
          </a:p>
        </p:txBody>
      </p:sp>
    </p:spTree>
    <p:extLst>
      <p:ext uri="{BB962C8B-B14F-4D97-AF65-F5344CB8AC3E}">
        <p14:creationId xmlns:p14="http://schemas.microsoft.com/office/powerpoint/2010/main" val="61889386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081674E5-CD74-4638-A238-012A517DC16A}" type="slidenum">
              <a:rPr lang="bg-BG" smtClean="0"/>
              <a:t>19</a:t>
            </a:fld>
            <a:endParaRPr lang="bg-BG" dirty="0"/>
          </a:p>
        </p:txBody>
      </p:sp>
      <mc:AlternateContent xmlns:mc="http://schemas.openxmlformats.org/markup-compatibility/2006" xmlns:a14="http://schemas.microsoft.com/office/drawing/2010/main">
        <mc:Choice Requires="a14">
          <p:sp>
            <p:nvSpPr>
              <p:cNvPr id="2" name="Rectangle 1"/>
              <p:cNvSpPr/>
              <p:nvPr/>
            </p:nvSpPr>
            <p:spPr>
              <a:xfrm>
                <a:off x="2065283" y="161073"/>
                <a:ext cx="9948041" cy="5632311"/>
              </a:xfrm>
              <a:prstGeom prst="rect">
                <a:avLst/>
              </a:prstGeom>
            </p:spPr>
            <p:txBody>
              <a:bodyPr wrap="square">
                <a:spAutoFit/>
              </a:bodyPr>
              <a:lstStyle/>
              <a:p>
                <a:pPr indent="457200" algn="just">
                  <a:buClr>
                    <a:srgbClr val="D34817">
                      <a:lumMod val="75000"/>
                    </a:srgbClr>
                  </a:buClr>
                  <a:buSzPct val="85000"/>
                </a:pPr>
                <a:r>
                  <a:rPr lang="bg-BG" sz="2400" dirty="0">
                    <a:solidFill>
                      <a:prstClr val="black"/>
                    </a:solidFill>
                  </a:rPr>
                  <a:t>Изпълнението на това условие обезпечава допускането за прост поток от заявки и показателен закон за разпределение на времето на обслужване.</a:t>
                </a:r>
                <a:endParaRPr lang="en-US" sz="2400" dirty="0">
                  <a:solidFill>
                    <a:prstClr val="black"/>
                  </a:solidFill>
                </a:endParaRPr>
              </a:p>
              <a:p>
                <a:pPr indent="457200" algn="just">
                  <a:buClr>
                    <a:srgbClr val="D34817">
                      <a:lumMod val="75000"/>
                    </a:srgbClr>
                  </a:buClr>
                  <a:buSzPct val="85000"/>
                </a:pPr>
                <a:r>
                  <a:rPr lang="bg-BG" sz="2400" dirty="0"/>
                  <a:t>Марковските процеси играят важна роля в теорията на масово обслужване. Така например, ако в една система за масово обслужване с откази протича марковски случаен процес, този процес може да се опише с обикновени диференциални уравнения, в които неизвестните функции са вероятностите</a:t>
                </a:r>
                <a:r>
                  <a:rPr lang="en-US" sz="2400" dirty="0"/>
                  <a:t> </a:t>
                </a:r>
                <a14:m>
                  <m:oMath xmlns:m="http://schemas.openxmlformats.org/officeDocument/2006/math">
                    <m:sSub>
                      <m:sSubPr>
                        <m:ctrlPr>
                          <a:rPr lang="en-US" sz="2400" i="1" smtClean="0">
                            <a:latin typeface="Cambria Math"/>
                          </a:rPr>
                        </m:ctrlPr>
                      </m:sSubPr>
                      <m:e>
                        <m:r>
                          <a:rPr lang="en-US" sz="2400" b="0" i="1" smtClean="0">
                            <a:latin typeface="Cambria Math"/>
                          </a:rPr>
                          <m:t>𝑝</m:t>
                        </m:r>
                      </m:e>
                      <m:sub>
                        <m:r>
                          <a:rPr lang="en-US" sz="2400" b="0" i="1" smtClean="0">
                            <a:latin typeface="Cambria Math"/>
                          </a:rPr>
                          <m:t>𝑘</m:t>
                        </m:r>
                      </m:sub>
                    </m:sSub>
                    <m:r>
                      <a:rPr lang="en-US" sz="2400" b="0" i="1" smtClean="0">
                        <a:latin typeface="Cambria Math"/>
                      </a:rPr>
                      <m:t>(</m:t>
                    </m:r>
                    <m:r>
                      <a:rPr lang="en-US" sz="2400" b="0" i="1" smtClean="0">
                        <a:latin typeface="Cambria Math"/>
                      </a:rPr>
                      <m:t>𝑡</m:t>
                    </m:r>
                    <m:r>
                      <a:rPr lang="en-US" sz="2400" b="0" i="1" smtClean="0">
                        <a:latin typeface="Cambria Math"/>
                      </a:rPr>
                      <m:t>)</m:t>
                    </m:r>
                  </m:oMath>
                </a14:m>
                <a:r>
                  <a:rPr lang="bg-BG" sz="2400" dirty="0"/>
                  <a:t> в момента от време</a:t>
                </a:r>
                <a:r>
                  <a:rPr lang="en-US" sz="2400" dirty="0"/>
                  <a:t> t</a:t>
                </a:r>
                <a:r>
                  <a:rPr lang="bg-BG" sz="2400" dirty="0"/>
                  <a:t>   в обслужващата система да се намират точно </a:t>
                </a:r>
                <a14:m>
                  <m:oMath xmlns:m="http://schemas.openxmlformats.org/officeDocument/2006/math">
                    <m:r>
                      <a:rPr lang="en-US" sz="2400" b="0" i="1" smtClean="0">
                        <a:latin typeface="Cambria Math"/>
                      </a:rPr>
                      <m:t>𝑘</m:t>
                    </m:r>
                    <m:r>
                      <a:rPr lang="en-US" sz="2400" b="0" i="1" smtClean="0">
                        <a:latin typeface="Cambria Math"/>
                      </a:rPr>
                      <m:t> </m:t>
                    </m:r>
                    <m:d>
                      <m:dPr>
                        <m:ctrlPr>
                          <a:rPr lang="en-US" sz="2400" b="0" i="1" smtClean="0">
                            <a:latin typeface="Cambria Math"/>
                          </a:rPr>
                        </m:ctrlPr>
                      </m:dPr>
                      <m:e>
                        <m:r>
                          <a:rPr lang="en-US" sz="2400" b="0" i="1" smtClean="0">
                            <a:latin typeface="Cambria Math"/>
                          </a:rPr>
                          <m:t>𝑘</m:t>
                        </m:r>
                        <m:r>
                          <a:rPr lang="en-US" sz="2400" b="0" i="1" smtClean="0">
                            <a:latin typeface="Cambria Math"/>
                          </a:rPr>
                          <m:t>=0÷</m:t>
                        </m:r>
                        <m:r>
                          <a:rPr lang="en-US" sz="2400" b="0" i="1" smtClean="0">
                            <a:latin typeface="Cambria Math"/>
                            <a:ea typeface="Cambria Math"/>
                          </a:rPr>
                          <m:t>𝑛</m:t>
                        </m:r>
                      </m:e>
                    </m:d>
                  </m:oMath>
                </a14:m>
                <a:r>
                  <a:rPr lang="en-US" sz="2400" dirty="0"/>
                  <a:t> </a:t>
                </a:r>
                <a:r>
                  <a:rPr lang="bg-BG" sz="2400" dirty="0"/>
                  <a:t>заявки, където </a:t>
                </a:r>
                <a:r>
                  <a:rPr lang="en-US" sz="2400" dirty="0"/>
                  <a:t>n </a:t>
                </a:r>
                <a:r>
                  <a:rPr lang="bg-BG" sz="2400" dirty="0"/>
                  <a:t>е броят на каналите за обслужване.</a:t>
                </a:r>
                <a:endParaRPr lang="en-US" sz="2400" dirty="0"/>
              </a:p>
              <a:p>
                <a:pPr indent="457200" algn="just">
                  <a:buClr>
                    <a:srgbClr val="D34817">
                      <a:lumMod val="75000"/>
                    </a:srgbClr>
                  </a:buClr>
                  <a:buSzPct val="85000"/>
                </a:pPr>
                <a:r>
                  <a:rPr lang="bg-BG" sz="2400" b="1" i="1" dirty="0"/>
                  <a:t>Пример</a:t>
                </a:r>
                <a:r>
                  <a:rPr lang="en-US" sz="2400" b="1" i="1" dirty="0"/>
                  <a:t>:</a:t>
                </a:r>
                <a:r>
                  <a:rPr lang="bg-BG" sz="2400" b="1" i="1" dirty="0"/>
                  <a:t> </a:t>
                </a:r>
                <a:r>
                  <a:rPr lang="bg-BG" sz="2400" dirty="0"/>
                  <a:t>Годишният оборот на суровините, съхранявани в един склад е</a:t>
                </a:r>
                <a:r>
                  <a:rPr lang="en-US" sz="2400" dirty="0"/>
                  <a:t> </a:t>
                </a:r>
                <a14:m>
                  <m:oMath xmlns:m="http://schemas.openxmlformats.org/officeDocument/2006/math">
                    <m:r>
                      <a:rPr lang="en-US" sz="2400" b="0" i="1" smtClean="0">
                        <a:latin typeface="Cambria Math"/>
                      </a:rPr>
                      <m:t>𝑄</m:t>
                    </m:r>
                    <m:r>
                      <a:rPr lang="en-US" sz="2400" b="0" i="1" smtClean="0">
                        <a:latin typeface="Cambria Math"/>
                      </a:rPr>
                      <m:t>=75000</m:t>
                    </m:r>
                    <m:r>
                      <a:rPr lang="en-US" sz="2400" b="0" i="1" smtClean="0">
                        <a:latin typeface="Cambria Math"/>
                      </a:rPr>
                      <m:t>𝑡</m:t>
                    </m:r>
                  </m:oMath>
                </a14:m>
                <a:r>
                  <a:rPr lang="bg-BG" sz="2400" dirty="0"/>
                  <a:t> . Средният обем на една партида е</a:t>
                </a:r>
                <a:r>
                  <a:rPr lang="en-US" sz="2400" dirty="0"/>
                  <a:t> </a:t>
                </a:r>
                <a14:m>
                  <m:oMath xmlns:m="http://schemas.openxmlformats.org/officeDocument/2006/math">
                    <m:r>
                      <a:rPr lang="en-US" sz="2400" b="0" i="1" smtClean="0">
                        <a:latin typeface="Cambria Math"/>
                      </a:rPr>
                      <m:t>𝑞</m:t>
                    </m:r>
                    <m:r>
                      <a:rPr lang="en-US" sz="2400" b="0" i="1" smtClean="0">
                        <a:latin typeface="Cambria Math"/>
                      </a:rPr>
                      <m:t>=455</m:t>
                    </m:r>
                    <m:r>
                      <a:rPr lang="en-US" sz="2400" b="0" i="1" smtClean="0">
                        <a:latin typeface="Cambria Math"/>
                      </a:rPr>
                      <m:t>𝑡</m:t>
                    </m:r>
                  </m:oMath>
                </a14:m>
                <a:r>
                  <a:rPr lang="bg-BG" sz="2400" dirty="0"/>
                  <a:t> , а средният срок на съхранение </a:t>
                </a:r>
                <a14:m>
                  <m:oMath xmlns:m="http://schemas.openxmlformats.org/officeDocument/2006/math">
                    <m:r>
                      <a:rPr lang="en-US" sz="2400" b="0" i="1" smtClean="0">
                        <a:latin typeface="Cambria Math"/>
                      </a:rPr>
                      <m:t>𝑇</m:t>
                    </m:r>
                    <m:r>
                      <a:rPr lang="en-US" sz="2400" b="0" i="1" smtClean="0">
                        <a:latin typeface="Cambria Math"/>
                      </a:rPr>
                      <m:t>=10 </m:t>
                    </m:r>
                  </m:oMath>
                </a14:m>
                <a:r>
                  <a:rPr lang="bg-BG" sz="2400" dirty="0"/>
                  <a:t>дни при средно натоварване на площта на склада </a:t>
                </a:r>
                <a14:m>
                  <m:oMath xmlns:m="http://schemas.openxmlformats.org/officeDocument/2006/math">
                    <m:r>
                      <a:rPr lang="en-US" sz="2400" b="0" i="1" smtClean="0">
                        <a:latin typeface="Cambria Math"/>
                      </a:rPr>
                      <m:t>𝑑</m:t>
                    </m:r>
                    <m:r>
                      <a:rPr lang="en-US" sz="2400" b="0" i="1" smtClean="0">
                        <a:latin typeface="Cambria Math"/>
                      </a:rPr>
                      <m:t>=0,65</m:t>
                    </m:r>
                    <m:r>
                      <a:rPr lang="en-US" sz="2400" b="0" i="1" smtClean="0">
                        <a:latin typeface="Cambria Math"/>
                      </a:rPr>
                      <m:t>𝑡</m:t>
                    </m:r>
                    <m:r>
                      <a:rPr lang="en-US" sz="2400" b="0" i="1" smtClean="0">
                        <a:latin typeface="Cambria Math"/>
                      </a:rPr>
                      <m:t>/</m:t>
                    </m:r>
                    <m:sSup>
                      <m:sSupPr>
                        <m:ctrlPr>
                          <a:rPr lang="en-US" sz="2400" b="0" i="1" smtClean="0">
                            <a:latin typeface="Cambria Math"/>
                          </a:rPr>
                        </m:ctrlPr>
                      </m:sSupPr>
                      <m:e>
                        <m:r>
                          <a:rPr lang="en-US" sz="2400" b="0" i="1" smtClean="0">
                            <a:latin typeface="Cambria Math"/>
                          </a:rPr>
                          <m:t>𝑚</m:t>
                        </m:r>
                      </m:e>
                      <m:sup>
                        <m:r>
                          <a:rPr lang="en-US" sz="2400" b="0" i="1" smtClean="0">
                            <a:latin typeface="Cambria Math"/>
                          </a:rPr>
                          <m:t>2</m:t>
                        </m:r>
                      </m:sup>
                    </m:sSup>
                  </m:oMath>
                </a14:m>
                <a:r>
                  <a:rPr lang="bg-BG" sz="2400" dirty="0"/>
                  <a:t>. Да се определи полезната площ на склада (с вероятност не по-малка от 95%).</a:t>
                </a:r>
              </a:p>
            </p:txBody>
          </p:sp>
        </mc:Choice>
        <mc:Fallback xmlns="">
          <p:sp>
            <p:nvSpPr>
              <p:cNvPr id="2" name="Rectangle 1"/>
              <p:cNvSpPr>
                <a:spLocks noRot="1" noChangeAspect="1" noMove="1" noResize="1" noEditPoints="1" noAdjustHandles="1" noChangeArrowheads="1" noChangeShapeType="1" noTextEdit="1"/>
              </p:cNvSpPr>
              <p:nvPr/>
            </p:nvSpPr>
            <p:spPr>
              <a:xfrm>
                <a:off x="2065283" y="161073"/>
                <a:ext cx="9948041" cy="5632311"/>
              </a:xfrm>
              <a:prstGeom prst="rect">
                <a:avLst/>
              </a:prstGeom>
              <a:blipFill rotWithShape="1">
                <a:blip r:embed="rId2"/>
                <a:stretch>
                  <a:fillRect l="-980" t="-866" r="-919" b="-1515"/>
                </a:stretch>
              </a:blipFill>
            </p:spPr>
            <p:txBody>
              <a:bodyPr/>
              <a:lstStyle/>
              <a:p>
                <a:r>
                  <a:rPr lang="bg-BG">
                    <a:noFill/>
                  </a:rPr>
                  <a:t> </a:t>
                </a:r>
              </a:p>
            </p:txBody>
          </p:sp>
        </mc:Fallback>
      </mc:AlternateContent>
    </p:spTree>
    <p:extLst>
      <p:ext uri="{BB962C8B-B14F-4D97-AF65-F5344CB8AC3E}">
        <p14:creationId xmlns:p14="http://schemas.microsoft.com/office/powerpoint/2010/main" val="61889386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081674E5-CD74-4638-A238-012A517DC16A}" type="slidenum">
              <a:rPr lang="bg-BG" smtClean="0"/>
              <a:t>20</a:t>
            </a:fld>
            <a:endParaRPr lang="bg-BG" dirty="0"/>
          </a:p>
        </p:txBody>
      </p:sp>
      <p:sp>
        <p:nvSpPr>
          <p:cNvPr id="2" name="Rectangle 1"/>
          <p:cNvSpPr/>
          <p:nvPr/>
        </p:nvSpPr>
        <p:spPr>
          <a:xfrm>
            <a:off x="2049516" y="79020"/>
            <a:ext cx="9963808" cy="4154984"/>
          </a:xfrm>
          <a:prstGeom prst="rect">
            <a:avLst/>
          </a:prstGeom>
        </p:spPr>
        <p:txBody>
          <a:bodyPr wrap="square">
            <a:spAutoFit/>
          </a:bodyPr>
          <a:lstStyle/>
          <a:p>
            <a:pPr lvl="0" indent="457200" algn="just">
              <a:buClr>
                <a:srgbClr val="D34817">
                  <a:lumMod val="75000"/>
                </a:srgbClr>
              </a:buClr>
              <a:buSzPct val="85000"/>
            </a:pPr>
            <a:r>
              <a:rPr lang="bg-BG" sz="2400" dirty="0">
                <a:solidFill>
                  <a:prstClr val="black"/>
                </a:solidFill>
              </a:rPr>
              <a:t>В случая суровините постъпват на склад в случайни моменти от времето и срокът на съхранението им е случайна величина. За целта складът се разглежда като система за масово обслужване, състоящ се от </a:t>
            </a:r>
            <a:r>
              <a:rPr lang="en-US" sz="2400" dirty="0">
                <a:solidFill>
                  <a:prstClr val="black"/>
                </a:solidFill>
              </a:rPr>
              <a:t>n</a:t>
            </a:r>
            <a:r>
              <a:rPr lang="bg-BG" sz="2400" dirty="0">
                <a:solidFill>
                  <a:prstClr val="black"/>
                </a:solidFill>
              </a:rPr>
              <a:t> обслужващи устройства (клетки). Всяка клетка осигурява обслужването на една партида (товар), т.е. налице е система за масово обслужване с откази, тъй като пристигналите товари не могат да бъдат приети, ако всички клетки са запълнени.</a:t>
            </a:r>
            <a:endParaRPr lang="en-US" sz="2400" dirty="0">
              <a:solidFill>
                <a:prstClr val="black"/>
              </a:solidFill>
            </a:endParaRPr>
          </a:p>
          <a:p>
            <a:pPr lvl="0" indent="457200" algn="just">
              <a:buClr>
                <a:srgbClr val="D34817">
                  <a:lumMod val="75000"/>
                </a:srgbClr>
              </a:buClr>
              <a:buSzPct val="85000"/>
            </a:pPr>
            <a:endParaRPr lang="en-US" sz="2400" dirty="0">
              <a:solidFill>
                <a:prstClr val="black"/>
              </a:solidFill>
            </a:endParaRPr>
          </a:p>
          <a:p>
            <a:pPr lvl="0" indent="457200" algn="just">
              <a:buClr>
                <a:srgbClr val="D34817">
                  <a:lumMod val="75000"/>
                </a:srgbClr>
              </a:buClr>
              <a:buSzPct val="85000"/>
            </a:pPr>
            <a:endParaRPr lang="en-US" sz="2400" dirty="0">
              <a:solidFill>
                <a:prstClr val="black"/>
              </a:solidFill>
            </a:endParaRPr>
          </a:p>
          <a:p>
            <a:pPr lvl="0" indent="457200" algn="just">
              <a:buClr>
                <a:srgbClr val="D34817">
                  <a:lumMod val="75000"/>
                </a:srgbClr>
              </a:buClr>
              <a:buSzPct val="85000"/>
            </a:pPr>
            <a:endParaRPr lang="en-US" sz="2400" dirty="0">
              <a:solidFill>
                <a:prstClr val="black"/>
              </a:solidFill>
            </a:endParaRPr>
          </a:p>
          <a:p>
            <a:pPr lvl="0" indent="457200" algn="just">
              <a:buClr>
                <a:srgbClr val="D34817">
                  <a:lumMod val="75000"/>
                </a:srgbClr>
              </a:buClr>
              <a:buSzPct val="85000"/>
            </a:pPr>
            <a:endParaRPr lang="bg-BG" sz="2400" dirty="0">
              <a:solidFill>
                <a:prstClr val="black"/>
              </a:solidFill>
            </a:endParaRPr>
          </a:p>
        </p:txBody>
      </p:sp>
      <p:pic>
        <p:nvPicPr>
          <p:cNvPr id="614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049516" y="2648607"/>
            <a:ext cx="10142484" cy="420939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61889386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081674E5-CD74-4638-A238-012A517DC16A}" type="slidenum">
              <a:rPr lang="bg-BG" smtClean="0"/>
              <a:t>21</a:t>
            </a:fld>
            <a:endParaRPr lang="bg-BG" dirty="0"/>
          </a:p>
        </p:txBody>
      </p:sp>
      <p:pic>
        <p:nvPicPr>
          <p:cNvPr id="717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986455" y="7554"/>
            <a:ext cx="10205545" cy="6850446"/>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61889386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081674E5-CD74-4638-A238-012A517DC16A}" type="slidenum">
              <a:rPr lang="bg-BG" smtClean="0"/>
              <a:t>22</a:t>
            </a:fld>
            <a:endParaRPr lang="bg-BG" dirty="0"/>
          </a:p>
        </p:txBody>
      </p:sp>
      <mc:AlternateContent xmlns:mc="http://schemas.openxmlformats.org/markup-compatibility/2006" xmlns:a14="http://schemas.microsoft.com/office/drawing/2010/main">
        <mc:Choice Requires="a14">
          <p:sp>
            <p:nvSpPr>
              <p:cNvPr id="6" name="Rectangle 5"/>
              <p:cNvSpPr/>
              <p:nvPr/>
            </p:nvSpPr>
            <p:spPr>
              <a:xfrm>
                <a:off x="2065283" y="195995"/>
                <a:ext cx="9979571" cy="6370975"/>
              </a:xfrm>
              <a:prstGeom prst="rect">
                <a:avLst/>
              </a:prstGeom>
            </p:spPr>
            <p:txBody>
              <a:bodyPr wrap="square">
                <a:spAutoFit/>
              </a:bodyPr>
              <a:lstStyle/>
              <a:p>
                <a:pPr algn="just">
                  <a:buClr>
                    <a:srgbClr val="D34817">
                      <a:lumMod val="75000"/>
                    </a:srgbClr>
                  </a:buClr>
                  <a:buSzPct val="85000"/>
                </a:pPr>
                <a:r>
                  <a:rPr lang="bg-BG" sz="2400" b="1" i="1" dirty="0">
                    <a:solidFill>
                      <a:prstClr val="black"/>
                    </a:solidFill>
                  </a:rPr>
                  <a:t>Системи за масово обслужване с изчакване</a:t>
                </a:r>
              </a:p>
              <a:p>
                <a:pPr indent="441325" algn="just"/>
                <a:r>
                  <a:rPr lang="bg-BG" sz="2400" dirty="0">
                    <a:solidFill>
                      <a:prstClr val="black"/>
                    </a:solidFill>
                  </a:rPr>
                  <a:t>На входовете на </a:t>
                </a:r>
                <a:r>
                  <a:rPr lang="en-US" sz="2400" dirty="0">
                    <a:solidFill>
                      <a:prstClr val="black"/>
                    </a:solidFill>
                  </a:rPr>
                  <a:t>n</a:t>
                </a:r>
                <a:r>
                  <a:rPr lang="bg-BG" sz="2400" dirty="0">
                    <a:solidFill>
                      <a:prstClr val="black"/>
                    </a:solidFill>
                  </a:rPr>
                  <a:t> еднотипни канала постъпва поток от заявки с интензивност </a:t>
                </a:r>
                <a14:m>
                  <m:oMath xmlns:m="http://schemas.openxmlformats.org/officeDocument/2006/math">
                    <m:r>
                      <a:rPr lang="bg-BG" sz="2400" i="1" smtClean="0">
                        <a:solidFill>
                          <a:prstClr val="black"/>
                        </a:solidFill>
                        <a:latin typeface="Cambria Math" panose="02040503050406030204" pitchFamily="18" charset="0"/>
                        <a:ea typeface="Cambria Math"/>
                      </a:rPr>
                      <m:t>𝜆</m:t>
                    </m:r>
                  </m:oMath>
                </a14:m>
                <a:r>
                  <a:rPr lang="en-US" sz="2400" dirty="0">
                    <a:solidFill>
                      <a:prstClr val="black"/>
                    </a:solidFill>
                  </a:rPr>
                  <a:t> </a:t>
                </a:r>
                <a:r>
                  <a:rPr lang="bg-BG" sz="2400" dirty="0"/>
                  <a:t>и ако поне един канал е свободен, те започват веднага да се обслужват. Ако всички канали са заети, заявките застават в реда след още необслужени заявки. Освободеният канал започва обслужването на поредната заявка. Продължителността на обслужването е случайна величина, разпределена по показателен закон. Необходимо е да се определят вероятностните характеристики на системата за масово обслужване. </a:t>
                </a:r>
              </a:p>
              <a:p>
                <a:pPr indent="441325" algn="just"/>
                <a:r>
                  <a:rPr lang="bg-BG" sz="2400" dirty="0">
                    <a:solidFill>
                      <a:prstClr val="black"/>
                    </a:solidFill>
                  </a:rPr>
                  <a:t>В случая при</a:t>
                </a:r>
                <a:r>
                  <a:rPr lang="en-US" sz="2400" dirty="0">
                    <a:solidFill>
                      <a:prstClr val="black"/>
                    </a:solidFill>
                  </a:rPr>
                  <a:t> </a:t>
                </a:r>
                <a14:m>
                  <m:oMath xmlns:m="http://schemas.openxmlformats.org/officeDocument/2006/math">
                    <m:r>
                      <a:rPr lang="en-US" sz="2400" b="0" i="1" smtClean="0">
                        <a:solidFill>
                          <a:prstClr val="black"/>
                        </a:solidFill>
                        <a:latin typeface="Cambria Math"/>
                      </a:rPr>
                      <m:t>𝑛</m:t>
                    </m:r>
                  </m:oMath>
                </a14:m>
                <a:r>
                  <a:rPr lang="bg-BG" sz="2400" dirty="0">
                    <a:solidFill>
                      <a:prstClr val="black"/>
                    </a:solidFill>
                  </a:rPr>
                  <a:t>  канала за обслужване всеки канал може да обслужва едновременно само една заявка от потока с интензивност</a:t>
                </a:r>
                <a:r>
                  <a:rPr lang="en-US" sz="2400" dirty="0">
                    <a:solidFill>
                      <a:prstClr val="black"/>
                    </a:solidFill>
                  </a:rPr>
                  <a:t> </a:t>
                </a:r>
                <a14:m>
                  <m:oMath xmlns:m="http://schemas.openxmlformats.org/officeDocument/2006/math">
                    <m:r>
                      <a:rPr lang="en-US" sz="2400" i="1" smtClean="0">
                        <a:solidFill>
                          <a:prstClr val="black"/>
                        </a:solidFill>
                        <a:latin typeface="Cambria Math"/>
                        <a:ea typeface="Cambria Math"/>
                      </a:rPr>
                      <m:t>𝜆</m:t>
                    </m:r>
                  </m:oMath>
                </a14:m>
                <a:r>
                  <a:rPr lang="bg-BG" sz="2400" dirty="0">
                    <a:solidFill>
                      <a:prstClr val="black"/>
                    </a:solidFill>
                  </a:rPr>
                  <a:t>.  Броят на заявките е ограничен и не може да бъде по-голям от</a:t>
                </a:r>
                <a:r>
                  <a:rPr lang="en-US" sz="2400" dirty="0">
                    <a:solidFill>
                      <a:prstClr val="black"/>
                    </a:solidFill>
                  </a:rPr>
                  <a:t> </a:t>
                </a:r>
                <a14:m>
                  <m:oMath xmlns:m="http://schemas.openxmlformats.org/officeDocument/2006/math">
                    <m:r>
                      <a:rPr lang="en-US" sz="2400" b="0" i="1" smtClean="0">
                        <a:solidFill>
                          <a:prstClr val="black"/>
                        </a:solidFill>
                        <a:latin typeface="Cambria Math"/>
                      </a:rPr>
                      <m:t>𝑚</m:t>
                    </m:r>
                  </m:oMath>
                </a14:m>
                <a:r>
                  <a:rPr lang="bg-BG" sz="2400" dirty="0">
                    <a:solidFill>
                      <a:prstClr val="black"/>
                    </a:solidFill>
                  </a:rPr>
                  <a:t>. При поне един свободен канал постъпилата заявка се приема за изпълнение веднага. Ако всички канали са заети в момента на постъпване на заявките, те се нареждат в реда (опашката) на чакащите изпълнение заявки. Освободеният канал започва изпълнението на поредната заявка. </a:t>
                </a:r>
              </a:p>
            </p:txBody>
          </p:sp>
        </mc:Choice>
        <mc:Fallback xmlns="">
          <p:sp>
            <p:nvSpPr>
              <p:cNvPr id="6" name="Rectangle 5"/>
              <p:cNvSpPr>
                <a:spLocks noRot="1" noChangeAspect="1" noMove="1" noResize="1" noEditPoints="1" noAdjustHandles="1" noChangeArrowheads="1" noChangeShapeType="1" noTextEdit="1"/>
              </p:cNvSpPr>
              <p:nvPr/>
            </p:nvSpPr>
            <p:spPr>
              <a:xfrm>
                <a:off x="2065283" y="195995"/>
                <a:ext cx="9979571" cy="6370975"/>
              </a:xfrm>
              <a:prstGeom prst="rect">
                <a:avLst/>
              </a:prstGeom>
              <a:blipFill rotWithShape="1">
                <a:blip r:embed="rId2"/>
                <a:stretch>
                  <a:fillRect l="-977" t="-766" r="-916" b="-1244"/>
                </a:stretch>
              </a:blipFill>
            </p:spPr>
            <p:txBody>
              <a:bodyPr/>
              <a:lstStyle/>
              <a:p>
                <a:r>
                  <a:rPr lang="bg-BG">
                    <a:noFill/>
                  </a:rPr>
                  <a:t> </a:t>
                </a:r>
              </a:p>
            </p:txBody>
          </p:sp>
        </mc:Fallback>
      </mc:AlternateContent>
    </p:spTree>
    <p:extLst>
      <p:ext uri="{BB962C8B-B14F-4D97-AF65-F5344CB8AC3E}">
        <p14:creationId xmlns:p14="http://schemas.microsoft.com/office/powerpoint/2010/main" val="61889386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081674E5-CD74-4638-A238-012A517DC16A}" type="slidenum">
              <a:rPr lang="bg-BG" smtClean="0"/>
              <a:t>23</a:t>
            </a:fld>
            <a:endParaRPr lang="bg-BG" dirty="0"/>
          </a:p>
        </p:txBody>
      </p:sp>
      <p:sp>
        <p:nvSpPr>
          <p:cNvPr id="2" name="Rectangle 1"/>
          <p:cNvSpPr/>
          <p:nvPr/>
        </p:nvSpPr>
        <p:spPr>
          <a:xfrm>
            <a:off x="2023240" y="69953"/>
            <a:ext cx="10005849" cy="6699463"/>
          </a:xfrm>
          <a:prstGeom prst="rect">
            <a:avLst/>
          </a:prstGeom>
        </p:spPr>
        <p:txBody>
          <a:bodyPr wrap="square">
            <a:spAutoFit/>
          </a:bodyPr>
          <a:lstStyle/>
          <a:p>
            <a:pPr lvl="0" indent="441325" algn="just">
              <a:lnSpc>
                <a:spcPct val="120000"/>
              </a:lnSpc>
            </a:pPr>
            <a:r>
              <a:rPr lang="bg-BG" sz="2400" dirty="0">
                <a:solidFill>
                  <a:prstClr val="black"/>
                </a:solidFill>
              </a:rPr>
              <a:t>Времето за обслужване се разпределя по показателен закон. Необходимо е да се определят работните характеристики на системата за масово обслужване.</a:t>
            </a:r>
            <a:endParaRPr lang="en-US" sz="2400" dirty="0">
              <a:solidFill>
                <a:prstClr val="black"/>
              </a:solidFill>
            </a:endParaRPr>
          </a:p>
          <a:p>
            <a:pPr>
              <a:lnSpc>
                <a:spcPct val="120000"/>
              </a:lnSpc>
            </a:pPr>
            <a:r>
              <a:rPr lang="bg-BG" sz="2400" b="1" i="1" dirty="0"/>
              <a:t>Вземане на решение в условията на конфликтни ситуации</a:t>
            </a:r>
            <a:endParaRPr lang="bg-BG" sz="2400" dirty="0"/>
          </a:p>
          <a:p>
            <a:pPr indent="441325" algn="just">
              <a:lnSpc>
                <a:spcPct val="120000"/>
              </a:lnSpc>
            </a:pPr>
            <a:r>
              <a:rPr lang="bg-BG" sz="2400" dirty="0"/>
              <a:t> </a:t>
            </a:r>
            <a:r>
              <a:rPr lang="bg-BG" sz="2400" dirty="0">
                <a:solidFill>
                  <a:prstClr val="black"/>
                </a:solidFill>
              </a:rPr>
              <a:t>В различни области на човешката дейност, в това число и в сложните системи, настъпват конфликтни ситуации. Те се характеризират с наличието на противоположни  интереси на отделни индивиди или колективи.</a:t>
            </a:r>
          </a:p>
          <a:p>
            <a:pPr indent="441325" algn="just">
              <a:lnSpc>
                <a:spcPct val="120000"/>
              </a:lnSpc>
            </a:pPr>
            <a:r>
              <a:rPr lang="bg-BG" sz="2400" dirty="0">
                <a:solidFill>
                  <a:prstClr val="black"/>
                </a:solidFill>
              </a:rPr>
              <a:t> Загубите, които се получават в конфликтните ситуации, са от най-различен характер.</a:t>
            </a:r>
          </a:p>
          <a:p>
            <a:pPr indent="441325" algn="just">
              <a:lnSpc>
                <a:spcPct val="120000"/>
              </a:lnSpc>
            </a:pPr>
            <a:r>
              <a:rPr lang="bg-BG" sz="2400" dirty="0">
                <a:solidFill>
                  <a:prstClr val="black"/>
                </a:solidFill>
              </a:rPr>
              <a:t>От особено важно значение в такива случаи е изборът и сравнителният анализ на възможните поведения на антагонистичните страни, при които всяка от страните може да предприеме разумни действия. При това двете страни трябва да отчитат не само собствените си цели, но и целите на другата страна.</a:t>
            </a:r>
          </a:p>
        </p:txBody>
      </p:sp>
    </p:spTree>
    <p:extLst>
      <p:ext uri="{BB962C8B-B14F-4D97-AF65-F5344CB8AC3E}">
        <p14:creationId xmlns:p14="http://schemas.microsoft.com/office/powerpoint/2010/main" val="61889386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081674E5-CD74-4638-A238-012A517DC16A}" type="slidenum">
              <a:rPr lang="bg-BG" smtClean="0"/>
              <a:t>24</a:t>
            </a:fld>
            <a:endParaRPr lang="bg-BG" dirty="0"/>
          </a:p>
        </p:txBody>
      </p:sp>
      <p:sp>
        <p:nvSpPr>
          <p:cNvPr id="2" name="Rectangle 1"/>
          <p:cNvSpPr/>
          <p:nvPr/>
        </p:nvSpPr>
        <p:spPr>
          <a:xfrm>
            <a:off x="2254469" y="369608"/>
            <a:ext cx="9711559" cy="6256264"/>
          </a:xfrm>
          <a:prstGeom prst="rect">
            <a:avLst/>
          </a:prstGeom>
        </p:spPr>
        <p:txBody>
          <a:bodyPr wrap="square">
            <a:spAutoFit/>
          </a:bodyPr>
          <a:lstStyle/>
          <a:p>
            <a:pPr indent="441325" algn="just">
              <a:lnSpc>
                <a:spcPct val="120000"/>
              </a:lnSpc>
            </a:pPr>
            <a:r>
              <a:rPr lang="bg-BG" sz="2400" dirty="0">
                <a:solidFill>
                  <a:prstClr val="black"/>
                </a:solidFill>
              </a:rPr>
              <a:t>Всяка страна, която участва в конфликта, се нарича оперираща страна. Тя формира своите цели, разполага с активни средства за тяхното постигане, разработва стратегии и ги оценява по приетите критерии, избира оптимално поведение в обстановката, т.е. води своеобразна игра с разумен противник. Тази част от изследването на операциите, която се занимава с математическо моделиране в условията на конфликтни ситуации и търсенето на оптимални решения в тези ситуации, се нарича теория на игрите.</a:t>
            </a:r>
            <a:endParaRPr lang="en-US" sz="2400" dirty="0">
              <a:solidFill>
                <a:prstClr val="black"/>
              </a:solidFill>
            </a:endParaRPr>
          </a:p>
          <a:p>
            <a:pPr indent="441325" algn="just">
              <a:lnSpc>
                <a:spcPct val="120000"/>
              </a:lnSpc>
            </a:pPr>
            <a:r>
              <a:rPr lang="bg-BG" sz="2400" dirty="0"/>
              <a:t>Природата може да се разглежда като участник в статистическа игра. В случая под природа може да се разбира производствен процес, игра, финансова система и др. Поведението на природата зависи от много фактори, като изменение на структурата, случайни въздействия, характеристики на енергийни и суровинни потоци и следователно има стохастически характер.</a:t>
            </a:r>
            <a:endParaRPr lang="bg-BG" sz="2400" dirty="0">
              <a:solidFill>
                <a:prstClr val="black"/>
              </a:solidFill>
            </a:endParaRPr>
          </a:p>
        </p:txBody>
      </p:sp>
    </p:spTree>
    <p:extLst>
      <p:ext uri="{BB962C8B-B14F-4D97-AF65-F5344CB8AC3E}">
        <p14:creationId xmlns:p14="http://schemas.microsoft.com/office/powerpoint/2010/main" val="61889386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081674E5-CD74-4638-A238-012A517DC16A}" type="slidenum">
              <a:rPr lang="bg-BG" smtClean="0"/>
              <a:t>25</a:t>
            </a:fld>
            <a:endParaRPr lang="bg-BG" dirty="0"/>
          </a:p>
        </p:txBody>
      </p:sp>
      <mc:AlternateContent xmlns:mc="http://schemas.openxmlformats.org/markup-compatibility/2006" xmlns:a14="http://schemas.microsoft.com/office/drawing/2010/main">
        <mc:Choice Requires="a14">
          <p:sp>
            <p:nvSpPr>
              <p:cNvPr id="6" name="Rectangle 5"/>
              <p:cNvSpPr/>
              <p:nvPr/>
            </p:nvSpPr>
            <p:spPr>
              <a:xfrm>
                <a:off x="2159875" y="0"/>
                <a:ext cx="9806151" cy="4995085"/>
              </a:xfrm>
              <a:prstGeom prst="rect">
                <a:avLst/>
              </a:prstGeom>
            </p:spPr>
            <p:txBody>
              <a:bodyPr wrap="square">
                <a:spAutoFit/>
              </a:bodyPr>
              <a:lstStyle/>
              <a:p>
                <a:pPr indent="441325" algn="just">
                  <a:lnSpc>
                    <a:spcPct val="120000"/>
                  </a:lnSpc>
                </a:pPr>
                <a:r>
                  <a:rPr lang="bg-BG" sz="2400" dirty="0"/>
                  <a:t>За решаването на такива задачи може да се използва теорията на игрите. Всеки вектор </a:t>
                </a:r>
                <a14:m>
                  <m:oMath xmlns:m="http://schemas.openxmlformats.org/officeDocument/2006/math">
                    <m:sSup>
                      <m:sSupPr>
                        <m:ctrlPr>
                          <a:rPr lang="bg-BG" sz="2400" i="1">
                            <a:latin typeface="Cambria Math"/>
                          </a:rPr>
                        </m:ctrlPr>
                      </m:sSupPr>
                      <m:e>
                        <m:r>
                          <a:rPr lang="en-US" sz="2400" i="1">
                            <a:latin typeface="Cambria Math"/>
                          </a:rPr>
                          <m:t>𝑥</m:t>
                        </m:r>
                      </m:e>
                      <m:sup>
                        <m:r>
                          <a:rPr lang="en-US" sz="2400" i="1">
                            <a:latin typeface="Cambria Math"/>
                          </a:rPr>
                          <m:t>𝑗</m:t>
                        </m:r>
                      </m:sup>
                    </m:sSup>
                  </m:oMath>
                </a14:m>
                <a:r>
                  <a:rPr lang="bg-BG" sz="2400" dirty="0"/>
                  <a:t>, който характеризира състоянието на природата, се приема за нейна стратегия, а всеки елемент от множеството на възможните състояния, се нарича чиста стратегия на оператора (играча). </a:t>
                </a:r>
              </a:p>
              <a:p>
                <a:pPr indent="441325" algn="just">
                  <a:lnSpc>
                    <a:spcPct val="120000"/>
                  </a:lnSpc>
                </a:pPr>
                <a:r>
                  <a:rPr lang="bg-BG" sz="2400" dirty="0"/>
                  <a:t> Нека  означим стратегиите на оператора с</a:t>
                </a:r>
                <a:r>
                  <a:rPr lang="en-US" sz="2400" dirty="0"/>
                  <a:t> </a:t>
                </a:r>
                <a14:m>
                  <m:oMath xmlns:m="http://schemas.openxmlformats.org/officeDocument/2006/math">
                    <m:sSup>
                      <m:sSupPr>
                        <m:ctrlPr>
                          <a:rPr lang="en-US" sz="2400" i="1" smtClean="0">
                            <a:latin typeface="Cambria Math"/>
                          </a:rPr>
                        </m:ctrlPr>
                      </m:sSupPr>
                      <m:e>
                        <m:r>
                          <a:rPr lang="en-US" sz="2400" b="0" i="1" smtClean="0">
                            <a:latin typeface="Cambria Math"/>
                          </a:rPr>
                          <m:t>𝐴</m:t>
                        </m:r>
                      </m:e>
                      <m:sup>
                        <m:r>
                          <a:rPr lang="en-US" sz="2400" b="0" i="1" smtClean="0">
                            <a:latin typeface="Cambria Math"/>
                          </a:rPr>
                          <m:t>(</m:t>
                        </m:r>
                        <m:r>
                          <a:rPr lang="en-US" sz="2400" b="0" i="1" smtClean="0">
                            <a:latin typeface="Cambria Math"/>
                          </a:rPr>
                          <m:t>𝑖</m:t>
                        </m:r>
                        <m:r>
                          <a:rPr lang="en-US" sz="2400" b="0" i="1" smtClean="0">
                            <a:latin typeface="Cambria Math"/>
                          </a:rPr>
                          <m:t>)</m:t>
                        </m:r>
                      </m:sup>
                    </m:sSup>
                  </m:oMath>
                </a14:m>
                <a:r>
                  <a:rPr lang="en-US" sz="2400" dirty="0"/>
                  <a:t>, </a:t>
                </a:r>
                <a:r>
                  <a:rPr lang="bg-BG" sz="2400" dirty="0"/>
                  <a:t>а с </a:t>
                </a:r>
                <a14:m>
                  <m:oMath xmlns:m="http://schemas.openxmlformats.org/officeDocument/2006/math">
                    <m:sSub>
                      <m:sSubPr>
                        <m:ctrlPr>
                          <a:rPr lang="bg-BG" sz="2400" i="1" smtClean="0">
                            <a:latin typeface="Cambria Math"/>
                          </a:rPr>
                        </m:ctrlPr>
                      </m:sSubPr>
                      <m:e>
                        <m:r>
                          <a:rPr lang="en-US" sz="2400" b="0" i="1" smtClean="0">
                            <a:latin typeface="Cambria Math"/>
                          </a:rPr>
                          <m:t>𝑢</m:t>
                        </m:r>
                      </m:e>
                      <m:sub>
                        <m:r>
                          <a:rPr lang="en-US" sz="2400" b="0" i="1" smtClean="0">
                            <a:latin typeface="Cambria Math"/>
                          </a:rPr>
                          <m:t>𝑖𝑗</m:t>
                        </m:r>
                      </m:sub>
                    </m:sSub>
                  </m:oMath>
                </a14:m>
                <a:r>
                  <a:rPr lang="bg-BG" sz="2400" dirty="0"/>
                  <a:t> - изходите от играта, съответни на прилагането от оператора на стратегията </a:t>
                </a:r>
                <a14:m>
                  <m:oMath xmlns:m="http://schemas.openxmlformats.org/officeDocument/2006/math">
                    <m:sSup>
                      <m:sSupPr>
                        <m:ctrlPr>
                          <a:rPr lang="en-US" sz="2400" i="1">
                            <a:latin typeface="Cambria Math"/>
                          </a:rPr>
                        </m:ctrlPr>
                      </m:sSupPr>
                      <m:e>
                        <m:r>
                          <a:rPr lang="en-US" sz="2400" i="1">
                            <a:latin typeface="Cambria Math"/>
                          </a:rPr>
                          <m:t>𝐴</m:t>
                        </m:r>
                      </m:e>
                      <m:sup>
                        <m:r>
                          <a:rPr lang="en-US" sz="2400" b="0" i="1" smtClean="0">
                            <a:latin typeface="Cambria Math"/>
                          </a:rPr>
                          <m:t>(</m:t>
                        </m:r>
                        <m:r>
                          <a:rPr lang="en-US" sz="2400" i="1">
                            <a:latin typeface="Cambria Math"/>
                          </a:rPr>
                          <m:t>𝑖</m:t>
                        </m:r>
                        <m:r>
                          <a:rPr lang="en-US" sz="2400" b="0" i="1" smtClean="0">
                            <a:latin typeface="Cambria Math"/>
                          </a:rPr>
                          <m:t>)</m:t>
                        </m:r>
                      </m:sup>
                    </m:sSup>
                  </m:oMath>
                </a14:m>
                <a:r>
                  <a:rPr lang="en-US" sz="2400" dirty="0"/>
                  <a:t> </a:t>
                </a:r>
                <a:r>
                  <a:rPr lang="bg-BG" sz="2400" dirty="0"/>
                  <a:t>при стратегия </a:t>
                </a:r>
                <a14:m>
                  <m:oMath xmlns:m="http://schemas.openxmlformats.org/officeDocument/2006/math">
                    <m:sSup>
                      <m:sSupPr>
                        <m:ctrlPr>
                          <a:rPr lang="bg-BG" sz="2400" i="1">
                            <a:latin typeface="Cambria Math"/>
                          </a:rPr>
                        </m:ctrlPr>
                      </m:sSupPr>
                      <m:e>
                        <m:r>
                          <a:rPr lang="en-US" sz="2400" i="1">
                            <a:latin typeface="Cambria Math"/>
                          </a:rPr>
                          <m:t>𝑥</m:t>
                        </m:r>
                      </m:e>
                      <m:sup>
                        <m:r>
                          <a:rPr lang="en-US" sz="2400" i="1">
                            <a:latin typeface="Cambria Math"/>
                          </a:rPr>
                          <m:t>𝑗</m:t>
                        </m:r>
                      </m:sup>
                    </m:sSup>
                  </m:oMath>
                </a14:m>
                <a:r>
                  <a:rPr lang="bg-BG" sz="2400" dirty="0"/>
                  <a:t> на природата.</a:t>
                </a:r>
                <a:r>
                  <a:rPr lang="en-US" sz="2400" dirty="0"/>
                  <a:t> </a:t>
                </a:r>
                <a:r>
                  <a:rPr lang="bg-BG" sz="2400" dirty="0"/>
                  <a:t>Тези данни, разположени в таблица, определят т. нар. </a:t>
                </a:r>
                <a:r>
                  <a:rPr lang="bg-BG" sz="2400" i="1" dirty="0"/>
                  <a:t>платежна матрица</a:t>
                </a:r>
                <a:r>
                  <a:rPr lang="bg-BG" sz="2400" dirty="0"/>
                  <a:t> или </a:t>
                </a:r>
                <a:r>
                  <a:rPr lang="bg-BG" sz="2400" i="1" dirty="0"/>
                  <a:t>матрица на играта</a:t>
                </a:r>
                <a:r>
                  <a:rPr lang="bg-BG" sz="2400" dirty="0"/>
                  <a:t>.</a:t>
                </a:r>
              </a:p>
              <a:p>
                <a:pPr indent="441325" algn="just">
                  <a:lnSpc>
                    <a:spcPct val="120000"/>
                  </a:lnSpc>
                </a:pPr>
                <a:endParaRPr lang="bg-BG" sz="2400" dirty="0"/>
              </a:p>
            </p:txBody>
          </p:sp>
        </mc:Choice>
        <mc:Fallback xmlns="">
          <p:sp>
            <p:nvSpPr>
              <p:cNvPr id="6" name="Rectangle 5"/>
              <p:cNvSpPr>
                <a:spLocks noRot="1" noChangeAspect="1" noMove="1" noResize="1" noEditPoints="1" noAdjustHandles="1" noChangeArrowheads="1" noChangeShapeType="1" noTextEdit="1"/>
              </p:cNvSpPr>
              <p:nvPr/>
            </p:nvSpPr>
            <p:spPr>
              <a:xfrm>
                <a:off x="2159875" y="0"/>
                <a:ext cx="9806151" cy="4995085"/>
              </a:xfrm>
              <a:prstGeom prst="rect">
                <a:avLst/>
              </a:prstGeom>
              <a:blipFill rotWithShape="1">
                <a:blip r:embed="rId2"/>
                <a:stretch>
                  <a:fillRect l="-932" t="-366" r="-932"/>
                </a:stretch>
              </a:blipFill>
            </p:spPr>
            <p:txBody>
              <a:bodyPr/>
              <a:lstStyle/>
              <a:p>
                <a:r>
                  <a:rPr lang="bg-BG">
                    <a:noFill/>
                  </a:rPr>
                  <a:t> </a:t>
                </a:r>
              </a:p>
            </p:txBody>
          </p:sp>
        </mc:Fallback>
      </mc:AlternateContent>
      <p:pic>
        <p:nvPicPr>
          <p:cNvPr id="9220"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335517" y="4099034"/>
            <a:ext cx="4177861" cy="2765319"/>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61889386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081674E5-CD74-4638-A238-012A517DC16A}" type="slidenum">
              <a:rPr lang="bg-BG" smtClean="0"/>
              <a:t>26</a:t>
            </a:fld>
            <a:endParaRPr lang="bg-BG" dirty="0"/>
          </a:p>
        </p:txBody>
      </p:sp>
      <mc:AlternateContent xmlns:mc="http://schemas.openxmlformats.org/markup-compatibility/2006" xmlns:a14="http://schemas.microsoft.com/office/drawing/2010/main">
        <mc:Choice Requires="a14">
          <p:sp>
            <p:nvSpPr>
              <p:cNvPr id="2" name="Rectangle 1"/>
              <p:cNvSpPr/>
              <p:nvPr/>
            </p:nvSpPr>
            <p:spPr>
              <a:xfrm>
                <a:off x="2128344" y="119538"/>
                <a:ext cx="9853447" cy="6789294"/>
              </a:xfrm>
              <a:prstGeom prst="rect">
                <a:avLst/>
              </a:prstGeom>
            </p:spPr>
            <p:txBody>
              <a:bodyPr wrap="square">
                <a:spAutoFit/>
              </a:bodyPr>
              <a:lstStyle/>
              <a:p>
                <a:pPr indent="441325" algn="just">
                  <a:lnSpc>
                    <a:spcPct val="120000"/>
                  </a:lnSpc>
                </a:pPr>
                <a:r>
                  <a:rPr lang="bg-BG" sz="2400" dirty="0"/>
                  <a:t>В теорията на игрите изходът от играта </a:t>
                </a:r>
                <a14:m>
                  <m:oMath xmlns:m="http://schemas.openxmlformats.org/officeDocument/2006/math">
                    <m:sSub>
                      <m:sSubPr>
                        <m:ctrlPr>
                          <a:rPr lang="bg-BG" sz="2400" i="1">
                            <a:latin typeface="Cambria Math"/>
                          </a:rPr>
                        </m:ctrlPr>
                      </m:sSubPr>
                      <m:e>
                        <m:r>
                          <a:rPr lang="en-US" sz="2400" i="1">
                            <a:latin typeface="Cambria Math"/>
                          </a:rPr>
                          <m:t>𝑢</m:t>
                        </m:r>
                      </m:e>
                      <m:sub>
                        <m:r>
                          <a:rPr lang="en-US" sz="2400" i="1">
                            <a:latin typeface="Cambria Math"/>
                          </a:rPr>
                          <m:t>𝑖𝑗</m:t>
                        </m:r>
                      </m:sub>
                    </m:sSub>
                  </m:oMath>
                </a14:m>
                <a:r>
                  <a:rPr lang="bg-BG" sz="2400" dirty="0"/>
                  <a:t> се оценява като печалба (или загуба) за първия играч (природата) и съответно загуба (печалба) за втория играч (оператора). Често печалбата се изчислява в парични единици, но може да бъде произволна числова функция, оценена в условни единици, които оценяват интересите на единия играч при избрана от него стратегия, противостояща на стратегията на другия играч. След съставяне на матрицата на играта оптимизационната задача за минимизация на разходите получава елементарна формулировка. Операторът избира такава стратегия</a:t>
                </a:r>
                <a:r>
                  <a:rPr lang="en-US" sz="2400" dirty="0"/>
                  <a:t> </a:t>
                </a:r>
                <a14:m>
                  <m:oMath xmlns:m="http://schemas.openxmlformats.org/officeDocument/2006/math">
                    <m:sSup>
                      <m:sSupPr>
                        <m:ctrlPr>
                          <a:rPr lang="en-US" sz="2400" i="1">
                            <a:latin typeface="Cambria Math"/>
                          </a:rPr>
                        </m:ctrlPr>
                      </m:sSupPr>
                      <m:e>
                        <m:r>
                          <a:rPr lang="en-US" sz="2400" i="1">
                            <a:latin typeface="Cambria Math"/>
                          </a:rPr>
                          <m:t>𝐴</m:t>
                        </m:r>
                      </m:e>
                      <m:sup>
                        <m:r>
                          <a:rPr lang="en-US" sz="2400" i="1">
                            <a:latin typeface="Cambria Math"/>
                          </a:rPr>
                          <m:t>(</m:t>
                        </m:r>
                        <m:r>
                          <a:rPr lang="en-US" sz="2400" i="1">
                            <a:latin typeface="Cambria Math"/>
                          </a:rPr>
                          <m:t>𝑖</m:t>
                        </m:r>
                        <m:r>
                          <a:rPr lang="en-US" sz="2400" i="1">
                            <a:latin typeface="Cambria Math"/>
                          </a:rPr>
                          <m:t>)</m:t>
                        </m:r>
                      </m:sup>
                    </m:sSup>
                  </m:oMath>
                </a14:m>
                <a:r>
                  <a:rPr lang="en-US" sz="2400" dirty="0"/>
                  <a:t>,</a:t>
                </a:r>
                <a:r>
                  <a:rPr lang="bg-BG" sz="2400" dirty="0"/>
                  <a:t> която при приложената стратегия на природата </a:t>
                </a:r>
                <a14:m>
                  <m:oMath xmlns:m="http://schemas.openxmlformats.org/officeDocument/2006/math">
                    <m:sSup>
                      <m:sSupPr>
                        <m:ctrlPr>
                          <a:rPr lang="bg-BG" sz="2400" i="1">
                            <a:latin typeface="Cambria Math"/>
                          </a:rPr>
                        </m:ctrlPr>
                      </m:sSupPr>
                      <m:e>
                        <m:r>
                          <a:rPr lang="en-US" sz="2400" i="1">
                            <a:latin typeface="Cambria Math"/>
                          </a:rPr>
                          <m:t>𝑥</m:t>
                        </m:r>
                      </m:e>
                      <m:sup>
                        <m:r>
                          <a:rPr lang="en-US" sz="2400" i="1">
                            <a:latin typeface="Cambria Math"/>
                          </a:rPr>
                          <m:t>𝑗</m:t>
                        </m:r>
                      </m:sup>
                    </m:sSup>
                  </m:oMath>
                </a14:m>
                <a:r>
                  <a:rPr lang="bg-BG" sz="2400" dirty="0"/>
                  <a:t> осигурява минимални загуби</a:t>
                </a:r>
                <a:r>
                  <a:rPr lang="en-US" sz="2400" dirty="0"/>
                  <a:t> </a:t>
                </a:r>
                <a14:m>
                  <m:oMath xmlns:m="http://schemas.openxmlformats.org/officeDocument/2006/math">
                    <m:sSub>
                      <m:sSubPr>
                        <m:ctrlPr>
                          <a:rPr lang="bg-BG" sz="2400" i="1">
                            <a:latin typeface="Cambria Math"/>
                          </a:rPr>
                        </m:ctrlPr>
                      </m:sSubPr>
                      <m:e>
                        <m:r>
                          <a:rPr lang="en-US" sz="2400" i="1">
                            <a:latin typeface="Cambria Math"/>
                          </a:rPr>
                          <m:t>𝑢</m:t>
                        </m:r>
                      </m:e>
                      <m:sub>
                        <m:r>
                          <a:rPr lang="en-US" sz="2400" i="1">
                            <a:latin typeface="Cambria Math"/>
                          </a:rPr>
                          <m:t>𝑖𝑗</m:t>
                        </m:r>
                      </m:sub>
                    </m:sSub>
                  </m:oMath>
                </a14:m>
                <a:r>
                  <a:rPr lang="bg-BG" sz="2400" dirty="0"/>
                  <a:t>. </a:t>
                </a:r>
                <a:endParaRPr lang="en-US" sz="2400" dirty="0"/>
              </a:p>
              <a:p>
                <a:pPr indent="441325" algn="just">
                  <a:lnSpc>
                    <a:spcPct val="120000"/>
                  </a:lnSpc>
                </a:pPr>
                <a:r>
                  <a:rPr lang="bg-BG" sz="2400" dirty="0"/>
                  <a:t>Ако стратегията на природата е неизвестна, операторът избира такава стратегия</a:t>
                </a:r>
                <a:r>
                  <a:rPr lang="en-US" sz="2400" dirty="0"/>
                  <a:t> </a:t>
                </a:r>
                <a14:m>
                  <m:oMath xmlns:m="http://schemas.openxmlformats.org/officeDocument/2006/math">
                    <m:sSup>
                      <m:sSupPr>
                        <m:ctrlPr>
                          <a:rPr lang="en-US" sz="2400" i="1">
                            <a:latin typeface="Cambria Math"/>
                          </a:rPr>
                        </m:ctrlPr>
                      </m:sSupPr>
                      <m:e>
                        <m:r>
                          <a:rPr lang="en-US" sz="2400" i="1">
                            <a:latin typeface="Cambria Math"/>
                          </a:rPr>
                          <m:t>𝐴</m:t>
                        </m:r>
                      </m:e>
                      <m:sup>
                        <m:r>
                          <a:rPr lang="en-US" sz="2400" i="1">
                            <a:latin typeface="Cambria Math"/>
                          </a:rPr>
                          <m:t>(</m:t>
                        </m:r>
                        <m:r>
                          <a:rPr lang="en-US" sz="2400" i="1">
                            <a:latin typeface="Cambria Math"/>
                          </a:rPr>
                          <m:t>𝑖</m:t>
                        </m:r>
                        <m:r>
                          <a:rPr lang="en-US" sz="2400" i="1">
                            <a:latin typeface="Cambria Math"/>
                          </a:rPr>
                          <m:t>)</m:t>
                        </m:r>
                      </m:sup>
                    </m:sSup>
                  </m:oMath>
                </a14:m>
                <a:r>
                  <a:rPr lang="bg-BG" sz="2400" dirty="0"/>
                  <a:t>, която би му осигурила минимални загуби при най-неудачната за него стратегия на природата. Тази стратегия на оператора се нарича минимаксна стратегия. </a:t>
                </a:r>
              </a:p>
            </p:txBody>
          </p:sp>
        </mc:Choice>
        <mc:Fallback xmlns="">
          <p:sp>
            <p:nvSpPr>
              <p:cNvPr id="2" name="Rectangle 1"/>
              <p:cNvSpPr>
                <a:spLocks noRot="1" noChangeAspect="1" noMove="1" noResize="1" noEditPoints="1" noAdjustHandles="1" noChangeArrowheads="1" noChangeShapeType="1" noTextEdit="1"/>
              </p:cNvSpPr>
              <p:nvPr/>
            </p:nvSpPr>
            <p:spPr>
              <a:xfrm>
                <a:off x="2128344" y="119538"/>
                <a:ext cx="9853447" cy="6789294"/>
              </a:xfrm>
              <a:prstGeom prst="rect">
                <a:avLst/>
              </a:prstGeom>
              <a:blipFill rotWithShape="1">
                <a:blip r:embed="rId2"/>
                <a:stretch>
                  <a:fillRect l="-928" r="-928" b="-1438"/>
                </a:stretch>
              </a:blipFill>
            </p:spPr>
            <p:txBody>
              <a:bodyPr/>
              <a:lstStyle/>
              <a:p>
                <a:r>
                  <a:rPr lang="bg-BG">
                    <a:noFill/>
                  </a:rPr>
                  <a:t> </a:t>
                </a:r>
              </a:p>
            </p:txBody>
          </p:sp>
        </mc:Fallback>
      </mc:AlternateContent>
    </p:spTree>
    <p:extLst>
      <p:ext uri="{BB962C8B-B14F-4D97-AF65-F5344CB8AC3E}">
        <p14:creationId xmlns:p14="http://schemas.microsoft.com/office/powerpoint/2010/main" val="61889386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081674E5-CD74-4638-A238-012A517DC16A}" type="slidenum">
              <a:rPr lang="bg-BG" smtClean="0"/>
              <a:t>27</a:t>
            </a:fld>
            <a:endParaRPr lang="bg-BG" dirty="0"/>
          </a:p>
        </p:txBody>
      </p:sp>
      <mc:AlternateContent xmlns:mc="http://schemas.openxmlformats.org/markup-compatibility/2006">
        <mc:Choice xmlns:a14="http://schemas.microsoft.com/office/drawing/2010/main" Requires="a14">
          <p:sp>
            <p:nvSpPr>
              <p:cNvPr id="2" name="Rectangle 1"/>
              <p:cNvSpPr/>
              <p:nvPr/>
            </p:nvSpPr>
            <p:spPr>
              <a:xfrm>
                <a:off x="2096814" y="63064"/>
                <a:ext cx="9948041" cy="6811737"/>
              </a:xfrm>
              <a:prstGeom prst="rect">
                <a:avLst/>
              </a:prstGeom>
            </p:spPr>
            <p:txBody>
              <a:bodyPr wrap="square">
                <a:spAutoFit/>
              </a:bodyPr>
              <a:lstStyle/>
              <a:p>
                <a:pPr indent="441325" algn="just">
                  <a:lnSpc>
                    <a:spcPct val="120000"/>
                  </a:lnSpc>
                </a:pPr>
                <a:r>
                  <a:rPr lang="bg-BG" sz="2400" dirty="0"/>
                  <a:t>Ако </a:t>
                </a:r>
                <a14:m>
                  <m:oMath xmlns:m="http://schemas.openxmlformats.org/officeDocument/2006/math">
                    <m:sSub>
                      <m:sSubPr>
                        <m:ctrlPr>
                          <a:rPr lang="bg-BG" sz="2400" i="1">
                            <a:latin typeface="Cambria Math"/>
                          </a:rPr>
                        </m:ctrlPr>
                      </m:sSubPr>
                      <m:e>
                        <m:r>
                          <a:rPr lang="en-US" sz="2400" i="1">
                            <a:latin typeface="Cambria Math"/>
                          </a:rPr>
                          <m:t>𝑢</m:t>
                        </m:r>
                      </m:e>
                      <m:sub>
                        <m:r>
                          <a:rPr lang="en-US" sz="2400" i="1">
                            <a:latin typeface="Cambria Math"/>
                          </a:rPr>
                          <m:t>𝑖𝑗</m:t>
                        </m:r>
                      </m:sub>
                    </m:sSub>
                  </m:oMath>
                </a14:m>
                <a:r>
                  <a:rPr lang="bg-BG" sz="2400" dirty="0"/>
                  <a:t> в платежната матрица се оценяват загубите на оператора, при избора на своята оптимална стратегия той трябва да определи реда на платежната матрица, в който максималните загуби са най-малки по отношение на максималните загуби в другите редове на матрицата.</a:t>
                </a:r>
                <a:endParaRPr lang="en-US" sz="2400" dirty="0"/>
              </a:p>
              <a:p>
                <a:pPr indent="441325" algn="just">
                  <a:lnSpc>
                    <a:spcPct val="120000"/>
                  </a:lnSpc>
                </a:pPr>
                <a:r>
                  <a:rPr lang="bg-BG" sz="2400" dirty="0"/>
                  <a:t>Ако в дадена платежна матрица</a:t>
                </a:r>
                <a:r>
                  <a:rPr lang="en-US" sz="2400" dirty="0"/>
                  <a:t> </a:t>
                </a:r>
                <a:r>
                  <a:rPr lang="bg-BG" sz="2400" dirty="0"/>
                  <a:t>съществува</a:t>
                </a:r>
                <a:r>
                  <a:rPr lang="en-US" sz="2400" dirty="0"/>
                  <a:t> </a:t>
                </a:r>
                <a14:m>
                  <m:oMath xmlns:m="http://schemas.openxmlformats.org/officeDocument/2006/math">
                    <m:sSub>
                      <m:sSubPr>
                        <m:ctrlPr>
                          <a:rPr lang="bg-BG" sz="2400" i="1">
                            <a:latin typeface="Cambria Math"/>
                          </a:rPr>
                        </m:ctrlPr>
                      </m:sSubPr>
                      <m:e>
                        <m:r>
                          <a:rPr lang="en-US" sz="2400" i="1">
                            <a:latin typeface="Cambria Math"/>
                          </a:rPr>
                          <m:t>𝑢</m:t>
                        </m:r>
                      </m:e>
                      <m:sub>
                        <m:r>
                          <a:rPr lang="en-US" sz="2400" i="1">
                            <a:latin typeface="Cambria Math"/>
                          </a:rPr>
                          <m:t>𝑖𝑗</m:t>
                        </m:r>
                      </m:sub>
                    </m:sSub>
                  </m:oMath>
                </a14:m>
                <a:r>
                  <a:rPr lang="bg-BG" sz="2400" dirty="0"/>
                  <a:t>, който е едновременно максимум на реда и минимум на стълба си, налице е седлова точка</a:t>
                </a:r>
                <a:r>
                  <a:rPr lang="en-US" sz="2400" dirty="0"/>
                  <a:t>. </a:t>
                </a:r>
                <a:r>
                  <a:rPr lang="bg-BG" sz="2400" dirty="0"/>
                  <a:t>Печалбата на първия играч е или </a:t>
                </a:r>
                <a:r>
                  <a:rPr lang="bg-BG" sz="2400" dirty="0" smtClean="0"/>
                  <a:t>з</a:t>
                </a:r>
                <a:r>
                  <a:rPr lang="bg-BG" sz="2400" dirty="0"/>
                  <a:t>а</a:t>
                </a:r>
                <a:r>
                  <a:rPr lang="bg-BG" sz="2400" dirty="0" smtClean="0"/>
                  <a:t>губите </a:t>
                </a:r>
                <a:r>
                  <a:rPr lang="bg-BG" sz="2400" dirty="0"/>
                  <a:t>на втория, когато отговарят на седловата точка, се нарича цена на играта. Стратегиите на двамата играчи, които съответстват на седлова точка, се наричат оптимални стратегии, а тяхната съвкупност – решение на играта. Отклонението от седловата точка на всеки от играчите води до повишаване на загубите му.</a:t>
                </a:r>
              </a:p>
              <a:p>
                <a:pPr indent="441325" algn="just">
                  <a:lnSpc>
                    <a:spcPct val="120000"/>
                  </a:lnSpc>
                </a:pPr>
                <a:r>
                  <a:rPr lang="bg-BG" sz="2400" dirty="0"/>
                  <a:t>Следователно оптималното поведение на оператора се определя от следните правила:</a:t>
                </a:r>
              </a:p>
            </p:txBody>
          </p:sp>
        </mc:Choice>
        <mc:Fallback>
          <p:sp>
            <p:nvSpPr>
              <p:cNvPr id="2" name="Rectangle 1"/>
              <p:cNvSpPr>
                <a:spLocks noRot="1" noChangeAspect="1" noMove="1" noResize="1" noEditPoints="1" noAdjustHandles="1" noChangeArrowheads="1" noChangeShapeType="1" noTextEdit="1"/>
              </p:cNvSpPr>
              <p:nvPr/>
            </p:nvSpPr>
            <p:spPr>
              <a:xfrm>
                <a:off x="2096814" y="63064"/>
                <a:ext cx="9948041" cy="6811737"/>
              </a:xfrm>
              <a:prstGeom prst="rect">
                <a:avLst/>
              </a:prstGeom>
              <a:blipFill rotWithShape="1">
                <a:blip r:embed="rId2"/>
                <a:stretch>
                  <a:fillRect l="-980" r="-919" b="-447"/>
                </a:stretch>
              </a:blipFill>
            </p:spPr>
            <p:txBody>
              <a:bodyPr/>
              <a:lstStyle/>
              <a:p>
                <a:r>
                  <a:rPr lang="bg-BG">
                    <a:noFill/>
                  </a:rPr>
                  <a:t> </a:t>
                </a:r>
              </a:p>
            </p:txBody>
          </p:sp>
        </mc:Fallback>
      </mc:AlternateContent>
    </p:spTree>
    <p:extLst>
      <p:ext uri="{BB962C8B-B14F-4D97-AF65-F5344CB8AC3E}">
        <p14:creationId xmlns:p14="http://schemas.microsoft.com/office/powerpoint/2010/main" val="61889386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081674E5-CD74-4638-A238-012A517DC16A}" type="slidenum">
              <a:rPr lang="bg-BG" smtClean="0"/>
              <a:t>28</a:t>
            </a:fld>
            <a:endParaRPr lang="bg-BG" dirty="0"/>
          </a:p>
        </p:txBody>
      </p:sp>
      <mc:AlternateContent xmlns:mc="http://schemas.openxmlformats.org/markup-compatibility/2006" xmlns:a14="http://schemas.microsoft.com/office/drawing/2010/main">
        <mc:Choice Requires="a14">
          <p:sp>
            <p:nvSpPr>
              <p:cNvPr id="2" name="Rectangle 1"/>
              <p:cNvSpPr/>
              <p:nvPr/>
            </p:nvSpPr>
            <p:spPr>
              <a:xfrm>
                <a:off x="2159876" y="90207"/>
                <a:ext cx="9916510" cy="5917197"/>
              </a:xfrm>
              <a:prstGeom prst="rect">
                <a:avLst/>
              </a:prstGeom>
            </p:spPr>
            <p:txBody>
              <a:bodyPr wrap="square">
                <a:spAutoFit/>
              </a:bodyPr>
              <a:lstStyle/>
              <a:p>
                <a:pPr marL="725488" indent="-363538" algn="just">
                  <a:lnSpc>
                    <a:spcPct val="120000"/>
                  </a:lnSpc>
                  <a:buClr>
                    <a:schemeClr val="accent1">
                      <a:lumMod val="75000"/>
                    </a:schemeClr>
                  </a:buClr>
                  <a:buFont typeface="+mj-lt"/>
                  <a:buAutoNum type="arabicPeriod"/>
                </a:pPr>
                <a:r>
                  <a:rPr lang="bg-BG" sz="2400" dirty="0"/>
                  <a:t>Ако е известна стратегията на природата</a:t>
                </a:r>
                <a:r>
                  <a:rPr lang="en-US" sz="2400" dirty="0"/>
                  <a:t> </a:t>
                </a:r>
                <a14:m>
                  <m:oMath xmlns:m="http://schemas.openxmlformats.org/officeDocument/2006/math">
                    <m:sSup>
                      <m:sSupPr>
                        <m:ctrlPr>
                          <a:rPr lang="bg-BG" sz="2400" i="1">
                            <a:latin typeface="Cambria Math"/>
                          </a:rPr>
                        </m:ctrlPr>
                      </m:sSupPr>
                      <m:e>
                        <m:r>
                          <a:rPr lang="en-US" sz="2400" i="1">
                            <a:latin typeface="Cambria Math"/>
                          </a:rPr>
                          <m:t>𝑥</m:t>
                        </m:r>
                      </m:e>
                      <m:sup>
                        <m:r>
                          <a:rPr lang="en-US" sz="2400" i="1">
                            <a:latin typeface="Cambria Math"/>
                          </a:rPr>
                          <m:t>𝑗</m:t>
                        </m:r>
                      </m:sup>
                    </m:sSup>
                  </m:oMath>
                </a14:m>
                <a:r>
                  <a:rPr lang="bg-BG" sz="2400" dirty="0"/>
                  <a:t>, операторът трябва да избере такава стратегия</a:t>
                </a:r>
                <a:r>
                  <a:rPr lang="en-US" sz="2400" dirty="0"/>
                  <a:t> </a:t>
                </a:r>
                <a14:m>
                  <m:oMath xmlns:m="http://schemas.openxmlformats.org/officeDocument/2006/math">
                    <m:sSup>
                      <m:sSupPr>
                        <m:ctrlPr>
                          <a:rPr lang="en-US" sz="2400" i="1">
                            <a:latin typeface="Cambria Math"/>
                          </a:rPr>
                        </m:ctrlPr>
                      </m:sSupPr>
                      <m:e>
                        <m:r>
                          <a:rPr lang="en-US" sz="2400" i="1">
                            <a:latin typeface="Cambria Math"/>
                          </a:rPr>
                          <m:t>𝐴</m:t>
                        </m:r>
                      </m:e>
                      <m:sup>
                        <m:r>
                          <a:rPr lang="en-US" sz="2400" i="1">
                            <a:latin typeface="Cambria Math"/>
                          </a:rPr>
                          <m:t>(</m:t>
                        </m:r>
                        <m:r>
                          <a:rPr lang="en-US" sz="2400" i="1">
                            <a:latin typeface="Cambria Math"/>
                          </a:rPr>
                          <m:t>𝑖</m:t>
                        </m:r>
                        <m:r>
                          <a:rPr lang="en-US" sz="2400" i="1">
                            <a:latin typeface="Cambria Math"/>
                          </a:rPr>
                          <m:t>)</m:t>
                        </m:r>
                      </m:sup>
                    </m:sSup>
                  </m:oMath>
                </a14:m>
                <a:r>
                  <a:rPr lang="bg-BG" sz="2400" dirty="0"/>
                  <a:t>, която му осигурява минимални загуби</a:t>
                </a:r>
                <a:r>
                  <a:rPr lang="en-US" sz="2400" dirty="0"/>
                  <a:t> </a:t>
                </a:r>
                <a14:m>
                  <m:oMath xmlns:m="http://schemas.openxmlformats.org/officeDocument/2006/math">
                    <m:sSub>
                      <m:sSubPr>
                        <m:ctrlPr>
                          <a:rPr lang="bg-BG" sz="2400" i="1">
                            <a:latin typeface="Cambria Math"/>
                          </a:rPr>
                        </m:ctrlPr>
                      </m:sSubPr>
                      <m:e>
                        <m:r>
                          <a:rPr lang="en-US" sz="2400" i="1">
                            <a:latin typeface="Cambria Math"/>
                          </a:rPr>
                          <m:t>𝑢</m:t>
                        </m:r>
                      </m:e>
                      <m:sub>
                        <m:r>
                          <a:rPr lang="en-US" sz="2400" i="1">
                            <a:latin typeface="Cambria Math"/>
                          </a:rPr>
                          <m:t>𝑖𝑗</m:t>
                        </m:r>
                      </m:sub>
                    </m:sSub>
                  </m:oMath>
                </a14:m>
                <a:r>
                  <a:rPr lang="bg-BG" sz="2400" dirty="0"/>
                  <a:t>.</a:t>
                </a:r>
              </a:p>
              <a:p>
                <a:pPr marL="725488" indent="-363538" algn="just">
                  <a:lnSpc>
                    <a:spcPct val="120000"/>
                  </a:lnSpc>
                  <a:buClr>
                    <a:schemeClr val="accent1">
                      <a:lumMod val="75000"/>
                    </a:schemeClr>
                  </a:buClr>
                  <a:buFont typeface="+mj-lt"/>
                  <a:buAutoNum type="arabicPeriod"/>
                </a:pPr>
                <a:r>
                  <a:rPr lang="bg-BG" sz="2400" dirty="0"/>
                  <a:t>Ако стратегията на природата е неизвестна, операторът трябва да избере минимаксна стратегия, която ще му осигури минимални загуби при най-неизгодната за него стратегия на природата.</a:t>
                </a:r>
              </a:p>
              <a:p>
                <a:pPr marL="725488" indent="-363538" algn="just">
                  <a:lnSpc>
                    <a:spcPct val="120000"/>
                  </a:lnSpc>
                  <a:buClr>
                    <a:schemeClr val="accent1">
                      <a:lumMod val="75000"/>
                    </a:schemeClr>
                  </a:buClr>
                  <a:buFont typeface="+mj-lt"/>
                  <a:buAutoNum type="arabicPeriod"/>
                </a:pPr>
                <a:r>
                  <a:rPr lang="bg-BG" sz="2400" dirty="0"/>
                  <a:t>Ако стратегията на природата е неизвестна, но играта има седлова точка, най-изгодно за оператора е да избере стратегията, съответстваща на седловата точка.</a:t>
                </a:r>
                <a:endParaRPr lang="en-US" sz="2400" dirty="0"/>
              </a:p>
              <a:p>
                <a:pPr indent="441325" algn="just">
                  <a:lnSpc>
                    <a:spcPct val="120000"/>
                  </a:lnSpc>
                  <a:buClr>
                    <a:schemeClr val="accent1">
                      <a:lumMod val="75000"/>
                    </a:schemeClr>
                  </a:buClr>
                </a:pPr>
                <a:r>
                  <a:rPr lang="bg-BG" sz="2400" dirty="0"/>
                  <a:t>Ако общият брой на чистите стратегии на природата е </a:t>
                </a:r>
                <a:r>
                  <a:rPr lang="en-US" sz="2400" i="1" dirty="0"/>
                  <a:t>n</a:t>
                </a:r>
                <a:r>
                  <a:rPr lang="bg-BG" sz="2400" dirty="0"/>
                  <a:t> и те се появяват с определена вероятност</a:t>
                </a:r>
                <a:r>
                  <a:rPr lang="en-US" sz="2400" dirty="0"/>
                  <a:t> </a:t>
                </a:r>
                <a14:m>
                  <m:oMath xmlns:m="http://schemas.openxmlformats.org/officeDocument/2006/math">
                    <m:sSub>
                      <m:sSubPr>
                        <m:ctrlPr>
                          <a:rPr lang="en-US" sz="2400" i="1" smtClean="0">
                            <a:latin typeface="Cambria Math"/>
                          </a:rPr>
                        </m:ctrlPr>
                      </m:sSubPr>
                      <m:e>
                        <m:r>
                          <a:rPr lang="en-US" sz="2400" b="0" i="1" smtClean="0">
                            <a:latin typeface="Cambria Math"/>
                          </a:rPr>
                          <m:t>𝑝</m:t>
                        </m:r>
                      </m:e>
                      <m:sub>
                        <m:r>
                          <a:rPr lang="en-US" sz="2400" b="0" i="1" smtClean="0">
                            <a:latin typeface="Cambria Math"/>
                          </a:rPr>
                          <m:t>𝑗</m:t>
                        </m:r>
                      </m:sub>
                    </m:sSub>
                  </m:oMath>
                </a14:m>
                <a:r>
                  <a:rPr lang="bg-BG" sz="2400" dirty="0"/>
                  <a:t> , то</a:t>
                </a:r>
                <a:endParaRPr lang="en-US" sz="2400" dirty="0"/>
              </a:p>
              <a:p>
                <a:pPr indent="441325" algn="just">
                  <a:lnSpc>
                    <a:spcPct val="120000"/>
                  </a:lnSpc>
                  <a:buClr>
                    <a:schemeClr val="accent1">
                      <a:lumMod val="75000"/>
                    </a:schemeClr>
                  </a:buClr>
                </a:pPr>
                <a:endParaRPr lang="bg-BG" sz="2400" dirty="0"/>
              </a:p>
            </p:txBody>
          </p:sp>
        </mc:Choice>
        <mc:Fallback xmlns="">
          <p:sp>
            <p:nvSpPr>
              <p:cNvPr id="2" name="Rectangle 1"/>
              <p:cNvSpPr>
                <a:spLocks noRot="1" noChangeAspect="1" noMove="1" noResize="1" noEditPoints="1" noAdjustHandles="1" noChangeArrowheads="1" noChangeShapeType="1" noTextEdit="1"/>
              </p:cNvSpPr>
              <p:nvPr/>
            </p:nvSpPr>
            <p:spPr>
              <a:xfrm>
                <a:off x="2159876" y="90207"/>
                <a:ext cx="9916510" cy="5917197"/>
              </a:xfrm>
              <a:prstGeom prst="rect">
                <a:avLst/>
              </a:prstGeom>
              <a:blipFill rotWithShape="1">
                <a:blip r:embed="rId2"/>
                <a:stretch>
                  <a:fillRect l="-922" t="-103" r="-983"/>
                </a:stretch>
              </a:blipFill>
            </p:spPr>
            <p:txBody>
              <a:bodyPr/>
              <a:lstStyle/>
              <a:p>
                <a:r>
                  <a:rPr lang="bg-BG">
                    <a:noFill/>
                  </a:rPr>
                  <a:t> </a:t>
                </a:r>
              </a:p>
            </p:txBody>
          </p:sp>
        </mc:Fallback>
      </mc:AlternateContent>
      <p:pic>
        <p:nvPicPr>
          <p:cNvPr id="10244"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627798" y="5564451"/>
            <a:ext cx="1348444" cy="1057066"/>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618893862"/>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081674E5-CD74-4638-A238-012A517DC16A}" type="slidenum">
              <a:rPr lang="bg-BG" smtClean="0"/>
              <a:t>29</a:t>
            </a:fld>
            <a:endParaRPr lang="bg-BG" dirty="0"/>
          </a:p>
        </p:txBody>
      </p:sp>
      <mc:AlternateContent xmlns:mc="http://schemas.openxmlformats.org/markup-compatibility/2006" xmlns:a14="http://schemas.microsoft.com/office/drawing/2010/main">
        <mc:Choice Requires="a14">
          <p:sp>
            <p:nvSpPr>
              <p:cNvPr id="2" name="Rectangle 1"/>
              <p:cNvSpPr/>
              <p:nvPr/>
            </p:nvSpPr>
            <p:spPr>
              <a:xfrm>
                <a:off x="2096815" y="0"/>
                <a:ext cx="9963806" cy="6891758"/>
              </a:xfrm>
              <a:prstGeom prst="rect">
                <a:avLst/>
              </a:prstGeom>
            </p:spPr>
            <p:txBody>
              <a:bodyPr wrap="square">
                <a:spAutoFit/>
              </a:bodyPr>
              <a:lstStyle/>
              <a:p>
                <a:pPr indent="441325" algn="just">
                  <a:lnSpc>
                    <a:spcPct val="120000"/>
                  </a:lnSpc>
                  <a:buClr>
                    <a:schemeClr val="accent1">
                      <a:lumMod val="75000"/>
                    </a:schemeClr>
                  </a:buClr>
                </a:pPr>
                <a:r>
                  <a:rPr lang="bg-BG" sz="2400" dirty="0"/>
                  <a:t>Комбинациите от чисти стратегии, които се прилагат по случаен закон с определена вероятност на появяването им, се наричат смесени стратегии. В тези случаи може да се докаже, че всяка игра има цена и решение във вид на двойки оптимални смесени стратегии, дори ако в областта на чистите стратегии дадената игра няма седлова точка. Оттук произтича правилото, че игра без седлова точка операторът трябва да избира смесена стратегия, т.е. да редува </a:t>
                </a:r>
                <a:r>
                  <a:rPr lang="en-US" sz="2400" dirty="0"/>
                  <a:t>m</a:t>
                </a:r>
                <a:r>
                  <a:rPr lang="bg-BG" sz="2400" dirty="0"/>
                  <a:t> чисти стратегии с вероятност </a:t>
                </a:r>
                <a14:m>
                  <m:oMath xmlns:m="http://schemas.openxmlformats.org/officeDocument/2006/math">
                    <m:sSub>
                      <m:sSubPr>
                        <m:ctrlPr>
                          <a:rPr lang="bg-BG" sz="2400" i="1" smtClean="0">
                            <a:latin typeface="Cambria Math"/>
                          </a:rPr>
                        </m:ctrlPr>
                      </m:sSubPr>
                      <m:e>
                        <m:r>
                          <a:rPr lang="en-US" sz="2400" b="0" i="1" smtClean="0">
                            <a:latin typeface="Cambria Math"/>
                          </a:rPr>
                          <m:t>𝑞</m:t>
                        </m:r>
                      </m:e>
                      <m:sub>
                        <m:r>
                          <a:rPr lang="en-US" sz="2400" b="0" i="1" smtClean="0">
                            <a:latin typeface="Cambria Math"/>
                          </a:rPr>
                          <m:t>𝑖</m:t>
                        </m:r>
                      </m:sub>
                    </m:sSub>
                  </m:oMath>
                </a14:m>
                <a:r>
                  <a:rPr lang="bg-BG" sz="2400" dirty="0"/>
                  <a:t> , които да удовлетворяват условието</a:t>
                </a:r>
                <a:endParaRPr lang="en-US" sz="2400" dirty="0"/>
              </a:p>
              <a:p>
                <a:pPr indent="441325" algn="just">
                  <a:lnSpc>
                    <a:spcPct val="120000"/>
                  </a:lnSpc>
                  <a:buClr>
                    <a:schemeClr val="accent1">
                      <a:lumMod val="75000"/>
                    </a:schemeClr>
                  </a:buClr>
                </a:pPr>
                <a:endParaRPr lang="en-US" sz="2400" dirty="0"/>
              </a:p>
              <a:p>
                <a:pPr indent="441325" algn="just">
                  <a:lnSpc>
                    <a:spcPct val="120000"/>
                  </a:lnSpc>
                  <a:buClr>
                    <a:schemeClr val="accent1">
                      <a:lumMod val="75000"/>
                    </a:schemeClr>
                  </a:buClr>
                </a:pPr>
                <a:endParaRPr lang="en-US" sz="2400" dirty="0"/>
              </a:p>
              <a:p>
                <a:pPr indent="441325" algn="just">
                  <a:lnSpc>
                    <a:spcPct val="120000"/>
                  </a:lnSpc>
                  <a:buClr>
                    <a:schemeClr val="accent1">
                      <a:lumMod val="75000"/>
                    </a:schemeClr>
                  </a:buClr>
                </a:pPr>
                <a:r>
                  <a:rPr lang="bg-BG" sz="2400" dirty="0"/>
                  <a:t>Функцията на загубите при смесените стратегии е математическото очакване на загубите и се определя от израза</a:t>
                </a:r>
                <a:endParaRPr lang="en-US" sz="2400" dirty="0"/>
              </a:p>
              <a:p>
                <a:pPr indent="441325" algn="just">
                  <a:lnSpc>
                    <a:spcPct val="120000"/>
                  </a:lnSpc>
                  <a:buClr>
                    <a:schemeClr val="accent1">
                      <a:lumMod val="75000"/>
                    </a:schemeClr>
                  </a:buClr>
                </a:pPr>
                <a:endParaRPr lang="en-US" sz="2400" dirty="0"/>
              </a:p>
              <a:p>
                <a:pPr indent="441325" algn="just">
                  <a:lnSpc>
                    <a:spcPct val="0"/>
                  </a:lnSpc>
                  <a:buClr>
                    <a:schemeClr val="accent1">
                      <a:lumMod val="75000"/>
                    </a:schemeClr>
                  </a:buClr>
                </a:pPr>
                <a:endParaRPr lang="en-US" sz="2400" dirty="0"/>
              </a:p>
              <a:p>
                <a:pPr algn="just">
                  <a:lnSpc>
                    <a:spcPct val="140000"/>
                  </a:lnSpc>
                  <a:buClr>
                    <a:schemeClr val="accent1">
                      <a:lumMod val="75000"/>
                    </a:schemeClr>
                  </a:buClr>
                </a:pPr>
                <a:r>
                  <a:rPr lang="bg-BG" sz="2400" dirty="0"/>
                  <a:t>където</a:t>
                </a:r>
                <a:r>
                  <a:rPr lang="en-US" sz="2400" dirty="0"/>
                  <a:t> </a:t>
                </a:r>
                <a14:m>
                  <m:oMath xmlns:m="http://schemas.openxmlformats.org/officeDocument/2006/math">
                    <m:r>
                      <a:rPr lang="en-US" sz="2400" b="0" i="1" smtClean="0">
                        <a:latin typeface="Cambria Math"/>
                      </a:rPr>
                      <m:t>𝑃</m:t>
                    </m:r>
                    <m:r>
                      <a:rPr lang="en-US" sz="2400" b="0" i="1" smtClean="0">
                        <a:latin typeface="Cambria Math"/>
                      </a:rPr>
                      <m:t>=</m:t>
                    </m:r>
                    <m:d>
                      <m:dPr>
                        <m:begChr m:val="‖"/>
                        <m:endChr m:val="‖"/>
                        <m:ctrlPr>
                          <a:rPr lang="en-US" sz="2400" b="0" i="1" smtClean="0">
                            <a:latin typeface="Cambria Math"/>
                          </a:rPr>
                        </m:ctrlPr>
                      </m:dPr>
                      <m:e>
                        <m:sSub>
                          <m:sSubPr>
                            <m:ctrlPr>
                              <a:rPr lang="en-US" sz="2400" b="0" i="1" smtClean="0">
                                <a:latin typeface="Cambria Math"/>
                              </a:rPr>
                            </m:ctrlPr>
                          </m:sSubPr>
                          <m:e>
                            <m:r>
                              <a:rPr lang="en-US" sz="2400" b="0" i="1" smtClean="0">
                                <a:latin typeface="Cambria Math"/>
                              </a:rPr>
                              <m:t>𝑝</m:t>
                            </m:r>
                          </m:e>
                          <m:sub>
                            <m:r>
                              <a:rPr lang="en-US" sz="2400" b="0" i="1" smtClean="0">
                                <a:latin typeface="Cambria Math"/>
                              </a:rPr>
                              <m:t>1</m:t>
                            </m:r>
                          </m:sub>
                        </m:sSub>
                        <m:r>
                          <a:rPr lang="en-US" sz="2400" b="0" i="1" smtClean="0">
                            <a:latin typeface="Cambria Math"/>
                          </a:rPr>
                          <m:t>, </m:t>
                        </m:r>
                        <m:sSub>
                          <m:sSubPr>
                            <m:ctrlPr>
                              <a:rPr lang="en-US" sz="2400" b="0" i="1" smtClean="0">
                                <a:latin typeface="Cambria Math"/>
                              </a:rPr>
                            </m:ctrlPr>
                          </m:sSubPr>
                          <m:e>
                            <m:r>
                              <a:rPr lang="en-US" sz="2400" b="0" i="1" smtClean="0">
                                <a:latin typeface="Cambria Math"/>
                              </a:rPr>
                              <m:t>𝑝</m:t>
                            </m:r>
                          </m:e>
                          <m:sub>
                            <m:r>
                              <a:rPr lang="en-US" sz="2400" b="0" i="1" smtClean="0">
                                <a:latin typeface="Cambria Math"/>
                              </a:rPr>
                              <m:t>2</m:t>
                            </m:r>
                          </m:sub>
                        </m:sSub>
                        <m:r>
                          <a:rPr lang="en-US" sz="2400" b="0" i="1" smtClean="0">
                            <a:latin typeface="Cambria Math"/>
                          </a:rPr>
                          <m:t>,…,</m:t>
                        </m:r>
                        <m:sSub>
                          <m:sSubPr>
                            <m:ctrlPr>
                              <a:rPr lang="en-US" sz="2400" b="0" i="1" smtClean="0">
                                <a:latin typeface="Cambria Math"/>
                              </a:rPr>
                            </m:ctrlPr>
                          </m:sSubPr>
                          <m:e>
                            <m:r>
                              <a:rPr lang="en-US" sz="2400" b="0" i="1" smtClean="0">
                                <a:latin typeface="Cambria Math"/>
                              </a:rPr>
                              <m:t>𝑝</m:t>
                            </m:r>
                          </m:e>
                          <m:sub>
                            <m:r>
                              <a:rPr lang="en-US" sz="2400" b="0" i="1" smtClean="0">
                                <a:latin typeface="Cambria Math"/>
                              </a:rPr>
                              <m:t>𝑛</m:t>
                            </m:r>
                          </m:sub>
                        </m:sSub>
                      </m:e>
                    </m:d>
                  </m:oMath>
                </a14:m>
                <a:r>
                  <a:rPr lang="en-US" sz="2400" dirty="0"/>
                  <a:t>, </a:t>
                </a:r>
                <a14:m>
                  <m:oMath xmlns:m="http://schemas.openxmlformats.org/officeDocument/2006/math">
                    <m:r>
                      <a:rPr lang="en-US" sz="2400" b="0" i="1" smtClean="0">
                        <a:latin typeface="Cambria Math"/>
                      </a:rPr>
                      <m:t>𝑄</m:t>
                    </m:r>
                    <m:r>
                      <a:rPr lang="en-US" sz="2400" i="1">
                        <a:latin typeface="Cambria Math"/>
                      </a:rPr>
                      <m:t>=</m:t>
                    </m:r>
                    <m:d>
                      <m:dPr>
                        <m:begChr m:val="‖"/>
                        <m:endChr m:val="‖"/>
                        <m:ctrlPr>
                          <a:rPr lang="en-US" sz="2400" i="1">
                            <a:latin typeface="Cambria Math"/>
                          </a:rPr>
                        </m:ctrlPr>
                      </m:dPr>
                      <m:e>
                        <m:sSub>
                          <m:sSubPr>
                            <m:ctrlPr>
                              <a:rPr lang="en-US" sz="2400" i="1">
                                <a:latin typeface="Cambria Math"/>
                              </a:rPr>
                            </m:ctrlPr>
                          </m:sSubPr>
                          <m:e>
                            <m:r>
                              <a:rPr lang="en-US" sz="2400" b="0" i="1" smtClean="0">
                                <a:latin typeface="Cambria Math"/>
                              </a:rPr>
                              <m:t>𝑞</m:t>
                            </m:r>
                          </m:e>
                          <m:sub>
                            <m:r>
                              <a:rPr lang="en-US" sz="2400" i="1">
                                <a:latin typeface="Cambria Math"/>
                              </a:rPr>
                              <m:t>1</m:t>
                            </m:r>
                          </m:sub>
                        </m:sSub>
                        <m:r>
                          <a:rPr lang="en-US" sz="2400" i="1">
                            <a:latin typeface="Cambria Math"/>
                          </a:rPr>
                          <m:t>, </m:t>
                        </m:r>
                        <m:sSub>
                          <m:sSubPr>
                            <m:ctrlPr>
                              <a:rPr lang="en-US" sz="2400" i="1">
                                <a:latin typeface="Cambria Math"/>
                              </a:rPr>
                            </m:ctrlPr>
                          </m:sSubPr>
                          <m:e>
                            <m:r>
                              <a:rPr lang="en-US" sz="2400" b="0" i="1" smtClean="0">
                                <a:latin typeface="Cambria Math"/>
                              </a:rPr>
                              <m:t>𝑞</m:t>
                            </m:r>
                          </m:e>
                          <m:sub>
                            <m:r>
                              <a:rPr lang="en-US" sz="2400" i="1">
                                <a:latin typeface="Cambria Math"/>
                              </a:rPr>
                              <m:t>2</m:t>
                            </m:r>
                          </m:sub>
                        </m:sSub>
                        <m:r>
                          <a:rPr lang="en-US" sz="2400" i="1">
                            <a:latin typeface="Cambria Math"/>
                          </a:rPr>
                          <m:t>,…,</m:t>
                        </m:r>
                        <m:sSub>
                          <m:sSubPr>
                            <m:ctrlPr>
                              <a:rPr lang="en-US" sz="2400" i="1">
                                <a:latin typeface="Cambria Math"/>
                              </a:rPr>
                            </m:ctrlPr>
                          </m:sSubPr>
                          <m:e>
                            <m:r>
                              <a:rPr lang="en-US" sz="2400" b="0" i="1" smtClean="0">
                                <a:latin typeface="Cambria Math"/>
                              </a:rPr>
                              <m:t>𝑞</m:t>
                            </m:r>
                          </m:e>
                          <m:sub>
                            <m:r>
                              <a:rPr lang="en-US" sz="2400" i="1">
                                <a:latin typeface="Cambria Math"/>
                              </a:rPr>
                              <m:t>𝑛</m:t>
                            </m:r>
                          </m:sub>
                        </m:sSub>
                      </m:e>
                    </m:d>
                  </m:oMath>
                </a14:m>
                <a:r>
                  <a:rPr lang="en-US" sz="2400" dirty="0"/>
                  <a:t> </a:t>
                </a:r>
                <a:r>
                  <a:rPr lang="bg-BG" sz="2400" dirty="0"/>
                  <a:t>са съответните смесени стратегии на оператора и на природата.</a:t>
                </a:r>
              </a:p>
            </p:txBody>
          </p:sp>
        </mc:Choice>
        <mc:Fallback xmlns="">
          <p:sp>
            <p:nvSpPr>
              <p:cNvPr id="2" name="Rectangle 1"/>
              <p:cNvSpPr>
                <a:spLocks noRot="1" noChangeAspect="1" noMove="1" noResize="1" noEditPoints="1" noAdjustHandles="1" noChangeArrowheads="1" noChangeShapeType="1" noTextEdit="1"/>
              </p:cNvSpPr>
              <p:nvPr/>
            </p:nvSpPr>
            <p:spPr>
              <a:xfrm>
                <a:off x="2096815" y="0"/>
                <a:ext cx="9963806" cy="6891758"/>
              </a:xfrm>
              <a:prstGeom prst="rect">
                <a:avLst/>
              </a:prstGeom>
              <a:blipFill rotWithShape="1">
                <a:blip r:embed="rId2"/>
                <a:stretch>
                  <a:fillRect l="-979" t="-265" r="-918" b="-177"/>
                </a:stretch>
              </a:blipFill>
            </p:spPr>
            <p:txBody>
              <a:bodyPr/>
              <a:lstStyle/>
              <a:p>
                <a:r>
                  <a:rPr lang="bg-BG">
                    <a:noFill/>
                  </a:rPr>
                  <a:t> </a:t>
                </a:r>
              </a:p>
            </p:txBody>
          </p:sp>
        </mc:Fallback>
      </mc:AlternateContent>
      <p:pic>
        <p:nvPicPr>
          <p:cNvPr id="11266"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634038" y="3499945"/>
            <a:ext cx="1444680" cy="98297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1267" name="Picture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288221" y="5265685"/>
            <a:ext cx="3841863" cy="599089"/>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618893862"/>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081674E5-CD74-4638-A238-012A517DC16A}" type="slidenum">
              <a:rPr lang="bg-BG" smtClean="0"/>
              <a:t>30</a:t>
            </a:fld>
            <a:endParaRPr lang="bg-BG" dirty="0"/>
          </a:p>
        </p:txBody>
      </p:sp>
      <p:sp>
        <p:nvSpPr>
          <p:cNvPr id="2" name="Rectangle 1"/>
          <p:cNvSpPr/>
          <p:nvPr/>
        </p:nvSpPr>
        <p:spPr>
          <a:xfrm>
            <a:off x="1734207" y="11549"/>
            <a:ext cx="10279117" cy="4967514"/>
          </a:xfrm>
          <a:prstGeom prst="rect">
            <a:avLst/>
          </a:prstGeom>
        </p:spPr>
        <p:txBody>
          <a:bodyPr wrap="square">
            <a:spAutoFit/>
          </a:bodyPr>
          <a:lstStyle/>
          <a:p>
            <a:pPr indent="441325" algn="just">
              <a:lnSpc>
                <a:spcPct val="110000"/>
              </a:lnSpc>
              <a:buClr>
                <a:schemeClr val="accent1">
                  <a:lumMod val="75000"/>
                </a:schemeClr>
              </a:buClr>
            </a:pPr>
            <a:r>
              <a:rPr lang="bg-BG" sz="2400" dirty="0"/>
              <a:t>Изборът на решение зависи от наличната информация при оператора за състоянието на природата. При това изборът на решение може да се класифицира по следния начин:</a:t>
            </a:r>
          </a:p>
          <a:p>
            <a:pPr marL="803275" indent="-457200" algn="just">
              <a:lnSpc>
                <a:spcPct val="110000"/>
              </a:lnSpc>
              <a:buClr>
                <a:schemeClr val="accent1">
                  <a:lumMod val="75000"/>
                </a:schemeClr>
              </a:buClr>
              <a:buFont typeface="+mj-lt"/>
              <a:buAutoNum type="arabicPeriod"/>
            </a:pPr>
            <a:r>
              <a:rPr lang="bg-BG" sz="2400" dirty="0"/>
              <a:t>Избор на решение при определеност, когато всяко от възможните действия на двете страни довежда до определени резултати.</a:t>
            </a:r>
          </a:p>
          <a:p>
            <a:pPr marL="803275" lvl="0" indent="-457200" algn="just">
              <a:lnSpc>
                <a:spcPct val="110000"/>
              </a:lnSpc>
              <a:buClr>
                <a:schemeClr val="accent1">
                  <a:lumMod val="75000"/>
                </a:schemeClr>
              </a:buClr>
              <a:buFont typeface="+mj-lt"/>
              <a:buAutoNum type="arabicPeriod"/>
            </a:pPr>
            <a:r>
              <a:rPr lang="bg-BG" sz="2400" dirty="0"/>
              <a:t>Избор на решение при определеност, когато всяко действие довежда до един от множество възможни частни изходи, всеки от които в със зададена вероятност за появяване, известна на оператора.</a:t>
            </a:r>
          </a:p>
          <a:p>
            <a:pPr marL="803275" lvl="0" indent="-457200" algn="just">
              <a:lnSpc>
                <a:spcPct val="110000"/>
              </a:lnSpc>
              <a:buClr>
                <a:schemeClr val="accent1">
                  <a:lumMod val="75000"/>
                </a:schemeClr>
              </a:buClr>
              <a:buFont typeface="+mj-lt"/>
              <a:buAutoNum type="arabicPeriod"/>
            </a:pPr>
            <a:r>
              <a:rPr lang="bg-BG" sz="2400" dirty="0"/>
              <a:t>Избор на решения при неопределеност, когато на всяко действие съответства множество от възможни решения с неизвестни вероятности.</a:t>
            </a:r>
          </a:p>
        </p:txBody>
      </p:sp>
      <p:sp>
        <p:nvSpPr>
          <p:cNvPr id="3" name="Rectangle 2"/>
          <p:cNvSpPr/>
          <p:nvPr/>
        </p:nvSpPr>
        <p:spPr>
          <a:xfrm>
            <a:off x="0" y="4820083"/>
            <a:ext cx="12192000" cy="2093586"/>
          </a:xfrm>
          <a:prstGeom prst="rect">
            <a:avLst/>
          </a:prstGeom>
        </p:spPr>
        <p:txBody>
          <a:bodyPr wrap="square">
            <a:spAutoFit/>
          </a:bodyPr>
          <a:lstStyle/>
          <a:p>
            <a:pPr lvl="0" indent="441325" algn="just">
              <a:lnSpc>
                <a:spcPct val="110000"/>
              </a:lnSpc>
              <a:buClr>
                <a:schemeClr val="accent1">
                  <a:lumMod val="75000"/>
                </a:schemeClr>
              </a:buClr>
            </a:pPr>
            <a:r>
              <a:rPr lang="bg-BG" sz="2400" dirty="0"/>
              <a:t>Съчетаването на избор на решения при определен риск е основата на теорията на игрите. При това изборът при определеност е избор в областта на чистите стратегии. </a:t>
            </a:r>
            <a:r>
              <a:rPr lang="bg-BG" sz="2400" dirty="0">
                <a:solidFill>
                  <a:prstClr val="black"/>
                </a:solidFill>
              </a:rPr>
              <a:t>Тъй като изборът на чиста стратегия съответства на избор на смесена стратегия, за която вероятността за единичния изход е единица, а за останалите нула, то изборът на решение при определеност е частен случай на избора при риск.</a:t>
            </a:r>
            <a:endParaRPr lang="en-US" sz="2400" dirty="0">
              <a:solidFill>
                <a:prstClr val="black"/>
              </a:solidFill>
            </a:endParaRPr>
          </a:p>
        </p:txBody>
      </p:sp>
    </p:spTree>
    <p:extLst>
      <p:ext uri="{BB962C8B-B14F-4D97-AF65-F5344CB8AC3E}">
        <p14:creationId xmlns:p14="http://schemas.microsoft.com/office/powerpoint/2010/main" val="618893862"/>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081674E5-CD74-4638-A238-012A517DC16A}" type="slidenum">
              <a:rPr lang="bg-BG" smtClean="0"/>
              <a:t>31</a:t>
            </a:fld>
            <a:endParaRPr lang="bg-BG" dirty="0"/>
          </a:p>
        </p:txBody>
      </p:sp>
      <p:sp>
        <p:nvSpPr>
          <p:cNvPr id="2" name="Rectangle 1"/>
          <p:cNvSpPr/>
          <p:nvPr/>
        </p:nvSpPr>
        <p:spPr>
          <a:xfrm>
            <a:off x="2165130" y="147871"/>
            <a:ext cx="9800897" cy="3342453"/>
          </a:xfrm>
          <a:prstGeom prst="rect">
            <a:avLst/>
          </a:prstGeom>
        </p:spPr>
        <p:txBody>
          <a:bodyPr wrap="square">
            <a:spAutoFit/>
          </a:bodyPr>
          <a:lstStyle/>
          <a:p>
            <a:pPr indent="441325" algn="just">
              <a:lnSpc>
                <a:spcPct val="110000"/>
              </a:lnSpc>
              <a:buClr>
                <a:srgbClr val="D34817">
                  <a:lumMod val="75000"/>
                </a:srgbClr>
              </a:buClr>
            </a:pPr>
            <a:r>
              <a:rPr lang="bg-BG" sz="2400" dirty="0">
                <a:solidFill>
                  <a:prstClr val="black"/>
                </a:solidFill>
              </a:rPr>
              <a:t>Съчетаването на избор на решение при риск с избор на решение при неопределеност е в основата на теорията на статистическите решения.</a:t>
            </a:r>
          </a:p>
          <a:p>
            <a:pPr indent="441325" algn="just">
              <a:lnSpc>
                <a:spcPct val="110000"/>
              </a:lnSpc>
              <a:buClr>
                <a:srgbClr val="D34817">
                  <a:lumMod val="75000"/>
                </a:srgbClr>
              </a:buClr>
            </a:pPr>
            <a:r>
              <a:rPr lang="bg-BG" sz="2400" b="1" i="1" dirty="0">
                <a:solidFill>
                  <a:prstClr val="black"/>
                </a:solidFill>
              </a:rPr>
              <a:t> Пример</a:t>
            </a:r>
            <a:r>
              <a:rPr lang="en-US" sz="2400" b="1" i="1" dirty="0">
                <a:solidFill>
                  <a:prstClr val="black"/>
                </a:solidFill>
              </a:rPr>
              <a:t> 1:</a:t>
            </a:r>
            <a:endParaRPr lang="bg-BG" sz="2400" b="1" i="1" dirty="0">
              <a:solidFill>
                <a:prstClr val="black"/>
              </a:solidFill>
            </a:endParaRPr>
          </a:p>
          <a:p>
            <a:pPr indent="441325" algn="just">
              <a:lnSpc>
                <a:spcPct val="110000"/>
              </a:lnSpc>
              <a:buClr>
                <a:srgbClr val="D34817">
                  <a:lumMod val="75000"/>
                </a:srgbClr>
              </a:buClr>
            </a:pPr>
            <a:r>
              <a:rPr lang="bg-BG" sz="2400" dirty="0">
                <a:solidFill>
                  <a:prstClr val="black"/>
                </a:solidFill>
              </a:rPr>
              <a:t>В таблицата по-долу е дадена платежната матрица. Играчът А има три възможни стратегии, а играчът В – 4. Нека всеки от тях знае каква стратегия ще предложи противникът.</a:t>
            </a:r>
          </a:p>
          <a:p>
            <a:pPr indent="441325" algn="just">
              <a:lnSpc>
                <a:spcPct val="110000"/>
              </a:lnSpc>
              <a:buClr>
                <a:srgbClr val="D34817">
                  <a:lumMod val="75000"/>
                </a:srgbClr>
              </a:buClr>
            </a:pPr>
            <a:endParaRPr lang="bg-BG" sz="2400" dirty="0">
              <a:solidFill>
                <a:prstClr val="black"/>
              </a:solidFill>
            </a:endParaRPr>
          </a:p>
        </p:txBody>
      </p:sp>
      <p:pic>
        <p:nvPicPr>
          <p:cNvPr id="1229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822028" y="3125511"/>
            <a:ext cx="7551681" cy="3001361"/>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618893862"/>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081674E5-CD74-4638-A238-012A517DC16A}" type="slidenum">
              <a:rPr lang="bg-BG" smtClean="0"/>
              <a:t>32</a:t>
            </a:fld>
            <a:endParaRPr lang="bg-BG" dirty="0"/>
          </a:p>
        </p:txBody>
      </p:sp>
      <mc:AlternateContent xmlns:mc="http://schemas.openxmlformats.org/markup-compatibility/2006" xmlns:a14="http://schemas.microsoft.com/office/drawing/2010/main">
        <mc:Choice Requires="a14">
          <p:sp>
            <p:nvSpPr>
              <p:cNvPr id="2" name="Rectangle 1"/>
              <p:cNvSpPr/>
              <p:nvPr/>
            </p:nvSpPr>
            <p:spPr>
              <a:xfrm>
                <a:off x="1781503" y="23757"/>
                <a:ext cx="10279118" cy="7002558"/>
              </a:xfrm>
              <a:prstGeom prst="rect">
                <a:avLst/>
              </a:prstGeom>
            </p:spPr>
            <p:txBody>
              <a:bodyPr wrap="square">
                <a:spAutoFit/>
              </a:bodyPr>
              <a:lstStyle/>
              <a:p>
                <a:pPr indent="441325" algn="just">
                  <a:lnSpc>
                    <a:spcPct val="110000"/>
                  </a:lnSpc>
                  <a:spcAft>
                    <a:spcPts val="0"/>
                  </a:spcAft>
                  <a:buClr>
                    <a:srgbClr val="D34817">
                      <a:lumMod val="75000"/>
                    </a:srgbClr>
                  </a:buClr>
                </a:pPr>
                <a:r>
                  <a:rPr lang="bg-BG" sz="2400" dirty="0">
                    <a:solidFill>
                      <a:prstClr val="black"/>
                    </a:solidFill>
                  </a:rPr>
                  <a:t>Проверката за седлова точка се извършва, като за всеки ред се определя минималния елемент и се нанася в последната колона, а за всеки стълб се избира максималният елемент и се нанася в последния ред.</a:t>
                </a:r>
              </a:p>
              <a:p>
                <a:pPr indent="441325" algn="just">
                  <a:lnSpc>
                    <a:spcPct val="110000"/>
                  </a:lnSpc>
                  <a:spcAft>
                    <a:spcPts val="0"/>
                  </a:spcAft>
                  <a:buClr>
                    <a:srgbClr val="D34817">
                      <a:lumMod val="75000"/>
                    </a:srgbClr>
                  </a:buClr>
                </a:pPr>
                <a:r>
                  <a:rPr lang="bg-BG" sz="2400" dirty="0">
                    <a:solidFill>
                      <a:prstClr val="black"/>
                    </a:solidFill>
                  </a:rPr>
                  <a:t>След това се намира долната и горната цена на играта, като се избират съответно максималният елемент от последната колона и минималният елемент от последния ред. В случая:</a:t>
                </a:r>
                <a:endParaRPr lang="en-US" sz="2400" dirty="0">
                  <a:solidFill>
                    <a:prstClr val="black"/>
                  </a:solidFill>
                </a:endParaRPr>
              </a:p>
              <a:p>
                <a:pPr indent="441325" algn="just">
                  <a:lnSpc>
                    <a:spcPct val="0"/>
                  </a:lnSpc>
                  <a:spcAft>
                    <a:spcPts val="0"/>
                  </a:spcAft>
                  <a:buClr>
                    <a:srgbClr val="D34817">
                      <a:lumMod val="75000"/>
                    </a:srgbClr>
                  </a:buClr>
                </a:pPr>
                <a:endParaRPr lang="en-US" sz="2400" dirty="0">
                  <a:solidFill>
                    <a:prstClr val="black"/>
                  </a:solidFill>
                </a:endParaRPr>
              </a:p>
              <a:p>
                <a:pPr indent="441325" algn="just">
                  <a:spcAft>
                    <a:spcPts val="0"/>
                  </a:spcAft>
                  <a:buClr>
                    <a:srgbClr val="D34817">
                      <a:lumMod val="75000"/>
                    </a:srgbClr>
                  </a:buClr>
                </a:pPr>
                <a:endParaRPr lang="en-US" sz="2400" dirty="0">
                  <a:solidFill>
                    <a:prstClr val="black"/>
                  </a:solidFill>
                </a:endParaRPr>
              </a:p>
              <a:p>
                <a:pPr algn="just">
                  <a:lnSpc>
                    <a:spcPct val="150000"/>
                  </a:lnSpc>
                  <a:buClr>
                    <a:srgbClr val="D34817">
                      <a:lumMod val="75000"/>
                    </a:srgbClr>
                  </a:buClr>
                </a:pPr>
                <a:r>
                  <a:rPr lang="bg-BG" sz="2400" dirty="0">
                    <a:solidFill>
                      <a:prstClr val="black"/>
                    </a:solidFill>
                  </a:rPr>
                  <a:t>т.е. горната и долната цена на играта съвпадат. Платежната матрица има седлова точка</a:t>
                </a:r>
                <a:r>
                  <a:rPr lang="en-US" sz="2400" dirty="0">
                    <a:solidFill>
                      <a:prstClr val="black"/>
                    </a:solidFill>
                  </a:rPr>
                  <a:t> </a:t>
                </a:r>
                <a14:m>
                  <m:oMath xmlns:m="http://schemas.openxmlformats.org/officeDocument/2006/math">
                    <m:d>
                      <m:dPr>
                        <m:ctrlPr>
                          <a:rPr lang="en-US" sz="2400" i="1" smtClean="0">
                            <a:solidFill>
                              <a:prstClr val="black"/>
                            </a:solidFill>
                            <a:latin typeface="Cambria Math"/>
                          </a:rPr>
                        </m:ctrlPr>
                      </m:dPr>
                      <m:e>
                        <m:sSub>
                          <m:sSubPr>
                            <m:ctrlPr>
                              <a:rPr lang="en-US" sz="2400" i="1" smtClean="0">
                                <a:solidFill>
                                  <a:prstClr val="black"/>
                                </a:solidFill>
                                <a:latin typeface="Cambria Math"/>
                              </a:rPr>
                            </m:ctrlPr>
                          </m:sSubPr>
                          <m:e>
                            <m:r>
                              <a:rPr lang="en-US" sz="2400" b="0" i="1" smtClean="0">
                                <a:solidFill>
                                  <a:prstClr val="black"/>
                                </a:solidFill>
                                <a:latin typeface="Cambria Math"/>
                              </a:rPr>
                              <m:t>𝑎</m:t>
                            </m:r>
                          </m:e>
                          <m:sub>
                            <m:r>
                              <a:rPr lang="en-US" sz="2400" b="0" i="1" smtClean="0">
                                <a:solidFill>
                                  <a:prstClr val="black"/>
                                </a:solidFill>
                                <a:latin typeface="Cambria Math"/>
                              </a:rPr>
                              <m:t>1</m:t>
                            </m:r>
                          </m:sub>
                        </m:sSub>
                        <m:r>
                          <a:rPr lang="en-US" sz="2400" b="0" i="1" smtClean="0">
                            <a:solidFill>
                              <a:prstClr val="black"/>
                            </a:solidFill>
                            <a:latin typeface="Cambria Math"/>
                          </a:rPr>
                          <m:t>,</m:t>
                        </m:r>
                        <m:sSub>
                          <m:sSubPr>
                            <m:ctrlPr>
                              <a:rPr lang="en-US" sz="2400" b="0" i="1" smtClean="0">
                                <a:solidFill>
                                  <a:prstClr val="black"/>
                                </a:solidFill>
                                <a:latin typeface="Cambria Math"/>
                              </a:rPr>
                            </m:ctrlPr>
                          </m:sSubPr>
                          <m:e>
                            <m:r>
                              <a:rPr lang="en-US" sz="2400" b="0" i="1" smtClean="0">
                                <a:solidFill>
                                  <a:prstClr val="black"/>
                                </a:solidFill>
                                <a:latin typeface="Cambria Math"/>
                              </a:rPr>
                              <m:t>𝑏</m:t>
                            </m:r>
                          </m:e>
                          <m:sub>
                            <m:r>
                              <a:rPr lang="en-US" sz="2400" b="0" i="1" smtClean="0">
                                <a:solidFill>
                                  <a:prstClr val="black"/>
                                </a:solidFill>
                                <a:latin typeface="Cambria Math"/>
                              </a:rPr>
                              <m:t>3</m:t>
                            </m:r>
                          </m:sub>
                        </m:sSub>
                      </m:e>
                    </m:d>
                  </m:oMath>
                </a14:m>
                <a:r>
                  <a:rPr lang="bg-BG" sz="2400" dirty="0">
                    <a:solidFill>
                      <a:prstClr val="black"/>
                    </a:solidFill>
                  </a:rPr>
                  <a:t>, следователно двойката стратегии </a:t>
                </a:r>
                <a14:m>
                  <m:oMath xmlns:m="http://schemas.openxmlformats.org/officeDocument/2006/math">
                    <m:d>
                      <m:dPr>
                        <m:ctrlPr>
                          <a:rPr lang="en-US" sz="2400" i="1">
                            <a:solidFill>
                              <a:prstClr val="black"/>
                            </a:solidFill>
                            <a:latin typeface="Cambria Math"/>
                          </a:rPr>
                        </m:ctrlPr>
                      </m:dPr>
                      <m:e>
                        <m:sSub>
                          <m:sSubPr>
                            <m:ctrlPr>
                              <a:rPr lang="en-US" sz="2400" i="1">
                                <a:solidFill>
                                  <a:prstClr val="black"/>
                                </a:solidFill>
                                <a:latin typeface="Cambria Math"/>
                              </a:rPr>
                            </m:ctrlPr>
                          </m:sSubPr>
                          <m:e>
                            <m:r>
                              <a:rPr lang="en-US" sz="2400" i="1">
                                <a:solidFill>
                                  <a:prstClr val="black"/>
                                </a:solidFill>
                                <a:latin typeface="Cambria Math"/>
                              </a:rPr>
                              <m:t>𝑎</m:t>
                            </m:r>
                          </m:e>
                          <m:sub>
                            <m:r>
                              <a:rPr lang="en-US" sz="2400" i="1">
                                <a:solidFill>
                                  <a:prstClr val="black"/>
                                </a:solidFill>
                                <a:latin typeface="Cambria Math"/>
                              </a:rPr>
                              <m:t>1</m:t>
                            </m:r>
                          </m:sub>
                        </m:sSub>
                        <m:r>
                          <a:rPr lang="en-US" sz="2400" i="1">
                            <a:solidFill>
                              <a:prstClr val="black"/>
                            </a:solidFill>
                            <a:latin typeface="Cambria Math"/>
                          </a:rPr>
                          <m:t>,</m:t>
                        </m:r>
                        <m:sSub>
                          <m:sSubPr>
                            <m:ctrlPr>
                              <a:rPr lang="en-US" sz="2400" i="1">
                                <a:solidFill>
                                  <a:prstClr val="black"/>
                                </a:solidFill>
                                <a:latin typeface="Cambria Math"/>
                              </a:rPr>
                            </m:ctrlPr>
                          </m:sSubPr>
                          <m:e>
                            <m:r>
                              <a:rPr lang="en-US" sz="2400" i="1">
                                <a:solidFill>
                                  <a:prstClr val="black"/>
                                </a:solidFill>
                                <a:latin typeface="Cambria Math"/>
                              </a:rPr>
                              <m:t>𝑏</m:t>
                            </m:r>
                          </m:e>
                          <m:sub>
                            <m:r>
                              <a:rPr lang="en-US" sz="2400" i="1">
                                <a:solidFill>
                                  <a:prstClr val="black"/>
                                </a:solidFill>
                                <a:latin typeface="Cambria Math"/>
                              </a:rPr>
                              <m:t>3</m:t>
                            </m:r>
                          </m:sub>
                        </m:sSub>
                      </m:e>
                    </m:d>
                  </m:oMath>
                </a14:m>
                <a:r>
                  <a:rPr lang="bg-BG" sz="2400" dirty="0">
                    <a:solidFill>
                      <a:prstClr val="black"/>
                    </a:solidFill>
                  </a:rPr>
                  <a:t> са оптимални и цената на играта е 26, което е решението на дадената игра.</a:t>
                </a:r>
              </a:p>
              <a:p>
                <a:pPr indent="441325" algn="just">
                  <a:lnSpc>
                    <a:spcPct val="110000"/>
                  </a:lnSpc>
                  <a:buClr>
                    <a:srgbClr val="D34817">
                      <a:lumMod val="75000"/>
                    </a:srgbClr>
                  </a:buClr>
                </a:pPr>
                <a:r>
                  <a:rPr lang="bg-BG" sz="2400" dirty="0">
                    <a:solidFill>
                      <a:prstClr val="black"/>
                    </a:solidFill>
                  </a:rPr>
                  <a:t>Ако играчът А се придържа към оптималната стратегия</a:t>
                </a:r>
                <a:r>
                  <a:rPr lang="en-US" sz="2400" dirty="0">
                    <a:solidFill>
                      <a:prstClr val="black"/>
                    </a:solidFill>
                  </a:rPr>
                  <a:t> </a:t>
                </a:r>
                <a14:m>
                  <m:oMath xmlns:m="http://schemas.openxmlformats.org/officeDocument/2006/math">
                    <m:sSub>
                      <m:sSubPr>
                        <m:ctrlPr>
                          <a:rPr lang="en-US" sz="2400" i="1" dirty="0" smtClean="0">
                            <a:solidFill>
                              <a:prstClr val="black"/>
                            </a:solidFill>
                            <a:latin typeface="Cambria Math"/>
                          </a:rPr>
                        </m:ctrlPr>
                      </m:sSubPr>
                      <m:e>
                        <m:r>
                          <a:rPr lang="en-US" sz="2400" b="0" i="1" dirty="0" smtClean="0">
                            <a:solidFill>
                              <a:prstClr val="black"/>
                            </a:solidFill>
                            <a:latin typeface="Cambria Math"/>
                          </a:rPr>
                          <m:t>𝑎</m:t>
                        </m:r>
                      </m:e>
                      <m:sub>
                        <m:r>
                          <a:rPr lang="en-US" sz="2400" b="0" i="1" dirty="0" smtClean="0">
                            <a:solidFill>
                              <a:prstClr val="black"/>
                            </a:solidFill>
                            <a:latin typeface="Cambria Math"/>
                          </a:rPr>
                          <m:t>1</m:t>
                        </m:r>
                      </m:sub>
                    </m:sSub>
                  </m:oMath>
                </a14:m>
                <a:r>
                  <a:rPr lang="bg-BG" sz="2400" dirty="0">
                    <a:solidFill>
                      <a:prstClr val="black"/>
                    </a:solidFill>
                  </a:rPr>
                  <a:t> , той ще спечели не по-малко от 26, а може и повече при условие, че играчът В се отклони от своята оптимална стратегия </a:t>
                </a:r>
                <a14:m>
                  <m:oMath xmlns:m="http://schemas.openxmlformats.org/officeDocument/2006/math">
                    <m:sSub>
                      <m:sSubPr>
                        <m:ctrlPr>
                          <a:rPr lang="en-US" sz="2400" i="1" dirty="0">
                            <a:solidFill>
                              <a:prstClr val="black"/>
                            </a:solidFill>
                            <a:latin typeface="Cambria Math"/>
                          </a:rPr>
                        </m:ctrlPr>
                      </m:sSubPr>
                      <m:e>
                        <m:r>
                          <a:rPr lang="en-US" sz="2400" b="0" i="1" dirty="0" smtClean="0">
                            <a:solidFill>
                              <a:prstClr val="black"/>
                            </a:solidFill>
                            <a:latin typeface="Cambria Math"/>
                          </a:rPr>
                          <m:t>𝑏</m:t>
                        </m:r>
                      </m:e>
                      <m:sub>
                        <m:r>
                          <a:rPr lang="en-US" sz="2400" b="0" i="1" dirty="0" smtClean="0">
                            <a:solidFill>
                              <a:prstClr val="black"/>
                            </a:solidFill>
                            <a:latin typeface="Cambria Math"/>
                          </a:rPr>
                          <m:t>3</m:t>
                        </m:r>
                      </m:sub>
                    </m:sSub>
                    <m:r>
                      <a:rPr lang="en-US" sz="2400" i="1" dirty="0">
                        <a:solidFill>
                          <a:prstClr val="black"/>
                        </a:solidFill>
                        <a:latin typeface="Cambria Math"/>
                      </a:rPr>
                      <m:t> </m:t>
                    </m:r>
                  </m:oMath>
                </a14:m>
                <a:r>
                  <a:rPr lang="bg-BG" sz="2400" dirty="0">
                    <a:solidFill>
                      <a:prstClr val="black"/>
                    </a:solidFill>
                  </a:rPr>
                  <a:t>и обратно. Следователно, ако и двамата играчи следват принципа на минимаксната стратегия, отклонението от оптималните стратегии и за двамата е нежелателно.</a:t>
                </a:r>
              </a:p>
            </p:txBody>
          </p:sp>
        </mc:Choice>
        <mc:Fallback xmlns="">
          <p:sp>
            <p:nvSpPr>
              <p:cNvPr id="2" name="Rectangle 1"/>
              <p:cNvSpPr>
                <a:spLocks noRot="1" noChangeAspect="1" noMove="1" noResize="1" noEditPoints="1" noAdjustHandles="1" noChangeArrowheads="1" noChangeShapeType="1" noTextEdit="1"/>
              </p:cNvSpPr>
              <p:nvPr/>
            </p:nvSpPr>
            <p:spPr>
              <a:xfrm>
                <a:off x="1781503" y="23757"/>
                <a:ext cx="10279118" cy="7002558"/>
              </a:xfrm>
              <a:prstGeom prst="rect">
                <a:avLst/>
              </a:prstGeom>
              <a:blipFill rotWithShape="1">
                <a:blip r:embed="rId2"/>
                <a:stretch>
                  <a:fillRect l="-890" t="-609" r="-949" b="-522"/>
                </a:stretch>
              </a:blipFill>
            </p:spPr>
            <p:txBody>
              <a:bodyPr/>
              <a:lstStyle/>
              <a:p>
                <a:r>
                  <a:rPr lang="bg-BG">
                    <a:noFill/>
                  </a:rPr>
                  <a:t> </a:t>
                </a:r>
              </a:p>
            </p:txBody>
          </p:sp>
        </mc:Fallback>
      </mc:AlternateContent>
      <p:pic>
        <p:nvPicPr>
          <p:cNvPr id="13314"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988676" y="2991477"/>
            <a:ext cx="4319752" cy="531699"/>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618893862"/>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081674E5-CD74-4638-A238-012A517DC16A}" type="slidenum">
              <a:rPr lang="bg-BG" smtClean="0"/>
              <a:t>33</a:t>
            </a:fld>
            <a:endParaRPr lang="bg-BG" dirty="0"/>
          </a:p>
        </p:txBody>
      </p:sp>
      <mc:AlternateContent xmlns:mc="http://schemas.openxmlformats.org/markup-compatibility/2006" xmlns:a14="http://schemas.microsoft.com/office/drawing/2010/main">
        <mc:Choice Requires="a14">
          <p:sp>
            <p:nvSpPr>
              <p:cNvPr id="2" name="Rectangle 1"/>
              <p:cNvSpPr/>
              <p:nvPr/>
            </p:nvSpPr>
            <p:spPr>
              <a:xfrm>
                <a:off x="2032000" y="361414"/>
                <a:ext cx="10011102" cy="5009769"/>
              </a:xfrm>
              <a:prstGeom prst="rect">
                <a:avLst/>
              </a:prstGeom>
            </p:spPr>
            <p:txBody>
              <a:bodyPr wrap="square">
                <a:spAutoFit/>
              </a:bodyPr>
              <a:lstStyle/>
              <a:p>
                <a:pPr indent="441325" algn="just">
                  <a:lnSpc>
                    <a:spcPct val="150000"/>
                  </a:lnSpc>
                  <a:buClr>
                    <a:srgbClr val="D34817">
                      <a:lumMod val="75000"/>
                    </a:srgbClr>
                  </a:buClr>
                </a:pPr>
                <a:r>
                  <a:rPr lang="bg-BG" sz="2400" dirty="0">
                    <a:solidFill>
                      <a:prstClr val="black"/>
                    </a:solidFill>
                  </a:rPr>
                  <a:t>Ако на играча В е известно, че А ще рискува с надеждата да спечели 88, като предприема своята неоптимална стратегия</a:t>
                </a:r>
                <a:r>
                  <a:rPr lang="en-US" sz="2400" dirty="0">
                    <a:solidFill>
                      <a:prstClr val="black"/>
                    </a:solidFill>
                  </a:rPr>
                  <a:t> </a:t>
                </a:r>
                <a14:m>
                  <m:oMath xmlns:m="http://schemas.openxmlformats.org/officeDocument/2006/math">
                    <m:sSub>
                      <m:sSubPr>
                        <m:ctrlPr>
                          <a:rPr lang="en-US" sz="2400" i="1" dirty="0">
                            <a:solidFill>
                              <a:prstClr val="black"/>
                            </a:solidFill>
                            <a:latin typeface="Cambria Math"/>
                          </a:rPr>
                        </m:ctrlPr>
                      </m:sSubPr>
                      <m:e>
                        <m:r>
                          <a:rPr lang="en-US" sz="2400" i="1" dirty="0">
                            <a:solidFill>
                              <a:prstClr val="black"/>
                            </a:solidFill>
                            <a:latin typeface="Cambria Math"/>
                          </a:rPr>
                          <m:t>𝑎</m:t>
                        </m:r>
                      </m:e>
                      <m:sub>
                        <m:r>
                          <a:rPr lang="en-US" sz="2400" b="0" i="1" dirty="0" smtClean="0">
                            <a:solidFill>
                              <a:prstClr val="black"/>
                            </a:solidFill>
                            <a:latin typeface="Cambria Math"/>
                          </a:rPr>
                          <m:t>2</m:t>
                        </m:r>
                      </m:sub>
                    </m:sSub>
                  </m:oMath>
                </a14:m>
                <a:r>
                  <a:rPr lang="bg-BG" sz="2400" dirty="0">
                    <a:solidFill>
                      <a:prstClr val="black"/>
                    </a:solidFill>
                  </a:rPr>
                  <a:t>, той може да се възползва от наличната информация и да накаже играча А, като му отговори със стратегия</a:t>
                </a:r>
                <a:r>
                  <a:rPr lang="en-US" sz="2400" dirty="0">
                    <a:solidFill>
                      <a:prstClr val="black"/>
                    </a:solidFill>
                  </a:rPr>
                  <a:t> </a:t>
                </a:r>
                <a14:m>
                  <m:oMath xmlns:m="http://schemas.openxmlformats.org/officeDocument/2006/math">
                    <m:sSub>
                      <m:sSubPr>
                        <m:ctrlPr>
                          <a:rPr lang="en-US" sz="2400" i="1" dirty="0">
                            <a:solidFill>
                              <a:prstClr val="black"/>
                            </a:solidFill>
                            <a:latin typeface="Cambria Math"/>
                          </a:rPr>
                        </m:ctrlPr>
                      </m:sSubPr>
                      <m:e>
                        <m:r>
                          <a:rPr lang="en-US" sz="2400" b="0" i="1" dirty="0" smtClean="0">
                            <a:solidFill>
                              <a:prstClr val="black"/>
                            </a:solidFill>
                            <a:latin typeface="Cambria Math"/>
                          </a:rPr>
                          <m:t>𝑏</m:t>
                        </m:r>
                      </m:e>
                      <m:sub>
                        <m:r>
                          <a:rPr lang="en-US" sz="2400" b="0" i="1" dirty="0" smtClean="0">
                            <a:solidFill>
                              <a:prstClr val="black"/>
                            </a:solidFill>
                            <a:latin typeface="Cambria Math"/>
                          </a:rPr>
                          <m:t>2</m:t>
                        </m:r>
                      </m:sub>
                    </m:sSub>
                  </m:oMath>
                </a14:m>
                <a:r>
                  <a:rPr lang="bg-BG" sz="2400" dirty="0">
                    <a:solidFill>
                      <a:prstClr val="black"/>
                    </a:solidFill>
                  </a:rPr>
                  <a:t>, при която ще загуби само 10. Ако на играча В от самото начало е известно, че играчът А ще се придържа към минимаксна стратегия, В не може да предприеме нищо друго, за да намали загубите под 26 и обратното, играчът А не може да увеличи печалбата си, ако играчът В се придържа към своята оптимална стратегия.</a:t>
                </a:r>
              </a:p>
            </p:txBody>
          </p:sp>
        </mc:Choice>
        <mc:Fallback xmlns="">
          <p:sp>
            <p:nvSpPr>
              <p:cNvPr id="2" name="Rectangle 1"/>
              <p:cNvSpPr>
                <a:spLocks noRot="1" noChangeAspect="1" noMove="1" noResize="1" noEditPoints="1" noAdjustHandles="1" noChangeArrowheads="1" noChangeShapeType="1" noTextEdit="1"/>
              </p:cNvSpPr>
              <p:nvPr/>
            </p:nvSpPr>
            <p:spPr>
              <a:xfrm>
                <a:off x="2032000" y="361414"/>
                <a:ext cx="10011102" cy="5009769"/>
              </a:xfrm>
              <a:prstGeom prst="rect">
                <a:avLst/>
              </a:prstGeom>
              <a:blipFill>
                <a:blip r:embed="rId2"/>
                <a:stretch>
                  <a:fillRect l="-913" r="-913" b="-1825"/>
                </a:stretch>
              </a:blipFill>
            </p:spPr>
            <p:txBody>
              <a:bodyPr/>
              <a:lstStyle/>
              <a:p>
                <a:r>
                  <a:rPr lang="bg-BG">
                    <a:noFill/>
                  </a:rPr>
                  <a:t> </a:t>
                </a:r>
              </a:p>
            </p:txBody>
          </p:sp>
        </mc:Fallback>
      </mc:AlternateContent>
    </p:spTree>
    <p:extLst>
      <p:ext uri="{BB962C8B-B14F-4D97-AF65-F5344CB8AC3E}">
        <p14:creationId xmlns:p14="http://schemas.microsoft.com/office/powerpoint/2010/main" val="618893862"/>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Wood Type">
  <a:themeElements>
    <a:clrScheme name="Wood Type">
      <a:dk1>
        <a:sysClr val="windowText" lastClr="000000"/>
      </a:dk1>
      <a:lt1>
        <a:sysClr val="window" lastClr="FFFFFF"/>
      </a:lt1>
      <a:dk2>
        <a:srgbClr val="696464"/>
      </a:dk2>
      <a:lt2>
        <a:srgbClr val="E9E5DC"/>
      </a:lt2>
      <a:accent1>
        <a:srgbClr val="D34817"/>
      </a:accent1>
      <a:accent2>
        <a:srgbClr val="9B2D1F"/>
      </a:accent2>
      <a:accent3>
        <a:srgbClr val="A28E6A"/>
      </a:accent3>
      <a:accent4>
        <a:srgbClr val="956251"/>
      </a:accent4>
      <a:accent5>
        <a:srgbClr val="918485"/>
      </a:accent5>
      <a:accent6>
        <a:srgbClr val="855D5D"/>
      </a:accent6>
      <a:hlink>
        <a:srgbClr val="CC9900"/>
      </a:hlink>
      <a:folHlink>
        <a:srgbClr val="96A9A9"/>
      </a:folHlink>
    </a:clrScheme>
    <a:fontScheme name="Wood Type">
      <a:majorFont>
        <a:latin typeface="Rockwell Condensed"/>
        <a:ea typeface=""/>
        <a:cs typeface=""/>
        <a:font script="Grek" typeface="Cambria"/>
        <a:font script="Cyrl" typeface="Cambria"/>
        <a:font script="Jpan" typeface="HG明朝B"/>
        <a:font script="Hang" typeface="바탕"/>
        <a:font script="Hans" typeface="方正姚体"/>
        <a:font script="Hant" typeface="微軟正黑體"/>
        <a:font script="Arab" typeface="Times New Roman"/>
        <a:font script="Hebr" typeface="David"/>
        <a:font script="Thai" typeface="JasmineUPC"/>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Rockwell"/>
        <a:ea typeface=""/>
        <a:cs typeface=""/>
        <a:font script="Grek" typeface="Cambria"/>
        <a:font script="Cyrl" typeface="Cambria"/>
        <a:font script="Jpan" typeface="HG明朝B"/>
        <a:font script="Hang" typeface="바탕"/>
        <a:font script="Hans" typeface="方正姚体"/>
        <a:font script="Hant" typeface="標楷體"/>
        <a:font script="Arab" typeface="Times New Roman"/>
        <a:font script="Hebr" typeface="David"/>
        <a:font script="Thai" typeface="JasmineUPC"/>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inorFont>
    </a:fontScheme>
    <a:fmtScheme name="Wood Type">
      <a:fillStyleLst>
        <a:solidFill>
          <a:schemeClr val="phClr"/>
        </a:solidFill>
        <a:blipFill rotWithShape="1">
          <a:blip xmlns:r="http://schemas.openxmlformats.org/officeDocument/2006/relationships" r:embed="rId1">
            <a:duotone>
              <a:schemeClr val="phClr">
                <a:tint val="70000"/>
                <a:shade val="63000"/>
              </a:schemeClr>
              <a:schemeClr val="phClr">
                <a:tint val="10000"/>
                <a:satMod val="150000"/>
              </a:schemeClr>
            </a:duotone>
          </a:blip>
          <a:tile tx="0" ty="0" sx="60000" sy="59000" flip="none" algn="tl"/>
        </a:blipFill>
        <a:blipFill rotWithShape="1">
          <a:blip xmlns:r="http://schemas.openxmlformats.org/officeDocument/2006/relationships" r:embed="rId1">
            <a:duotone>
              <a:schemeClr val="phClr">
                <a:shade val="36000"/>
                <a:satMod val="120000"/>
              </a:schemeClr>
              <a:schemeClr val="phClr">
                <a:tint val="40000"/>
              </a:schemeClr>
            </a:duotone>
          </a:blip>
          <a:tile tx="0" ty="0" sx="60000" sy="59000" flip="none" algn="tl"/>
        </a:blipFill>
      </a:fillStyleLst>
      <a:lnStyleLst>
        <a:ln w="6350" cap="flat" cmpd="sng" algn="ctr">
          <a:solidFill>
            <a:schemeClr val="phClr"/>
          </a:solidFill>
          <a:prstDash val="solid"/>
        </a:ln>
        <a:ln w="12700"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softEdge rad="12700"/>
          </a:effectLst>
        </a:effectStyle>
        <a:effectStyle>
          <a:effectLst>
            <a:outerShdw blurRad="50800" dist="19050" dir="5400000" algn="tl" rotWithShape="0">
              <a:srgbClr val="000000">
                <a:alpha val="60000"/>
              </a:srgbClr>
            </a:outerShdw>
            <a:softEdge rad="12700"/>
          </a:effectLst>
        </a:effectStyle>
      </a:effectStyleLst>
      <a:bgFillStyleLst>
        <a:solidFill>
          <a:schemeClr val="phClr"/>
        </a:solidFill>
        <a:solidFill>
          <a:schemeClr val="phClr">
            <a:shade val="97000"/>
            <a:satMod val="150000"/>
          </a:schemeClr>
        </a:solidFill>
        <a:blipFill rotWithShape="1">
          <a:blip xmlns:r="http://schemas.openxmlformats.org/officeDocument/2006/relationships" r:embed="rId1">
            <a:duotone>
              <a:schemeClr val="phClr">
                <a:tint val="75000"/>
                <a:shade val="58000"/>
                <a:satMod val="120000"/>
              </a:schemeClr>
              <a:schemeClr val="phClr">
                <a:tint val="50000"/>
                <a:shade val="96000"/>
              </a:schemeClr>
            </a:duotone>
          </a:blip>
          <a:tile tx="0" ty="0" sx="100000" sy="100000" flip="none" algn="tl"/>
        </a:blipFill>
      </a:bgFillStyleLst>
    </a:fmtScheme>
  </a:themeElements>
  <a:objectDefaults/>
  <a:extraClrSchemeLst/>
  <a:extLst>
    <a:ext uri="{05A4C25C-085E-4340-85A3-A5531E510DB2}">
      <thm15:themeFamily xmlns:thm15="http://schemas.microsoft.com/office/thememl/2012/main" xmlns="" name="Wood Type" id="{7ACABC62-BF99-48CF-A9DC-4DB89C7B13DC}" vid="{142A1326-48AB-42A9-8428-CB14AA30176D}"/>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xmlns=""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xmlns=""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452FE0A421B3E24B9DDFC266E10EBE04" ma:contentTypeVersion="3" ma:contentTypeDescription="Create a new document." ma:contentTypeScope="" ma:versionID="dcbf987a481103226c3ec987ed9307fb">
  <xsd:schema xmlns:xsd="http://www.w3.org/2001/XMLSchema" xmlns:xs="http://www.w3.org/2001/XMLSchema" xmlns:p="http://schemas.microsoft.com/office/2006/metadata/properties" xmlns:ns2="410f8adb-773f-4384-aa9e-8e184e0fd10d" targetNamespace="http://schemas.microsoft.com/office/2006/metadata/properties" ma:root="true" ma:fieldsID="a897376146d62393c4daa3471ee89d00" ns2:_="">
    <xsd:import namespace="410f8adb-773f-4384-aa9e-8e184e0fd10d"/>
    <xsd:element name="properties">
      <xsd:complexType>
        <xsd:sequence>
          <xsd:element name="documentManagement">
            <xsd:complexType>
              <xsd:all>
                <xsd:element ref="ns2:MediaServiceMetadata" minOccurs="0"/>
                <xsd:element ref="ns2:MediaServiceFastMetadata" minOccurs="0"/>
                <xsd:element ref="ns2:MediaServiceObjectDetectorVersion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410f8adb-773f-4384-aa9e-8e184e0fd10d"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bjectDetectorVersions" ma:index="10" nillable="true" ma:displayName="MediaServiceObjectDetectorVersions" ma:hidden="true" ma:indexed="true" ma:internalName="MediaServiceObjectDetectorVersions"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6076BB2D-368F-4806-B12D-5E27BBAABA5F}">
  <ds:schemaRefs>
    <ds:schemaRef ds:uri="http://schemas.microsoft.com/sharepoint/v3/contenttype/forms"/>
  </ds:schemaRefs>
</ds:datastoreItem>
</file>

<file path=customXml/itemProps2.xml><?xml version="1.0" encoding="utf-8"?>
<ds:datastoreItem xmlns:ds="http://schemas.openxmlformats.org/officeDocument/2006/customXml" ds:itemID="{A3974D72-4134-4577-BEE4-EE31050BD1DC}"/>
</file>

<file path=customXml/itemProps3.xml><?xml version="1.0" encoding="utf-8"?>
<ds:datastoreItem xmlns:ds="http://schemas.openxmlformats.org/officeDocument/2006/customXml" ds:itemID="{E643CB9F-38DC-4D75-AD31-B4524949AF09}">
  <ds:schemaRefs>
    <ds:schemaRef ds:uri="http://purl.org/dc/dcmitype/"/>
    <ds:schemaRef ds:uri="http://purl.org/dc/elements/1.1/"/>
    <ds:schemaRef ds:uri="http://purl.org/dc/terms/"/>
    <ds:schemaRef ds:uri="http://schemas.microsoft.com/office/2006/documentManagement/types"/>
    <ds:schemaRef ds:uri="http://schemas.microsoft.com/office/infopath/2007/PartnerControls"/>
    <ds:schemaRef ds:uri="http://schemas.openxmlformats.org/package/2006/metadata/core-properties"/>
    <ds:schemaRef ds:uri="090397dc-0350-4b28-ad98-bc53fb668546"/>
    <ds:schemaRef ds:uri="http://schemas.microsoft.com/office/2006/metadata/properties"/>
    <ds:schemaRef ds:uri="http://www.w3.org/XML/1998/namespace"/>
  </ds:schemaRefs>
</ds:datastoreItem>
</file>

<file path=docProps/app.xml><?xml version="1.0" encoding="utf-8"?>
<Properties xmlns="http://schemas.openxmlformats.org/officeDocument/2006/extended-properties" xmlns:vt="http://schemas.openxmlformats.org/officeDocument/2006/docPropsVTypes">
  <Template>Wood Type</Template>
  <TotalTime>4698</TotalTime>
  <Words>3490</Words>
  <Application>Microsoft Office PowerPoint</Application>
  <PresentationFormat>Custom</PresentationFormat>
  <Paragraphs>169</Paragraphs>
  <Slides>33</Slides>
  <Notes>0</Notes>
  <HiddenSlides>0</HiddenSlides>
  <MMClips>0</MMClips>
  <ScaleCrop>false</ScaleCrop>
  <HeadingPairs>
    <vt:vector size="4" baseType="variant">
      <vt:variant>
        <vt:lpstr>Theme</vt:lpstr>
      </vt:variant>
      <vt:variant>
        <vt:i4>1</vt:i4>
      </vt:variant>
      <vt:variant>
        <vt:lpstr>Slide Titles</vt:lpstr>
      </vt:variant>
      <vt:variant>
        <vt:i4>33</vt:i4>
      </vt:variant>
    </vt:vector>
  </HeadingPairs>
  <TitlesOfParts>
    <vt:vector size="34" baseType="lpstr">
      <vt:lpstr>Wood Type</vt:lpstr>
      <vt:lpstr>Управление на потоци чрез теорията на масовото обслужване. Общи сведения. Системи за масово обслужване с откази и изчакване. Вземане на решение в условията на конфликтни ситуации</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Organization</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СИСТЕМЕН АНАЛИЗ</dc:title>
  <dc:creator>Windows User</dc:creator>
  <cp:lastModifiedBy>teacher</cp:lastModifiedBy>
  <cp:revision>130</cp:revision>
  <cp:lastPrinted>2022-09-27T03:52:14Z</cp:lastPrinted>
  <dcterms:created xsi:type="dcterms:W3CDTF">2022-08-03T05:13:19Z</dcterms:created>
  <dcterms:modified xsi:type="dcterms:W3CDTF">2023-05-02T05:46:37Z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0x010100452FE0A421B3E24B9DDFC266E10EBE04</vt:lpwstr>
  </property>
</Properties>
</file>
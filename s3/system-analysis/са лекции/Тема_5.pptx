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3">
  <p:sldMasterIdLst>
    <p:sldMasterId id="2147483660" r:id="rId4"/>
  </p:sldMasterIdLst>
  <p:notesMasterIdLst>
    <p:notesMasterId r:id="rId36"/>
  </p:notesMasterIdLst>
  <p:handoutMasterIdLst>
    <p:handoutMasterId r:id="rId37"/>
  </p:handoutMasterIdLst>
  <p:sldIdLst>
    <p:sldId id="256" r:id="rId5"/>
    <p:sldId id="258" r:id="rId6"/>
    <p:sldId id="259" r:id="rId7"/>
    <p:sldId id="311" r:id="rId8"/>
    <p:sldId id="261" r:id="rId9"/>
    <p:sldId id="335" r:id="rId10"/>
    <p:sldId id="337" r:id="rId11"/>
    <p:sldId id="338" r:id="rId12"/>
    <p:sldId id="263" r:id="rId13"/>
    <p:sldId id="264" r:id="rId14"/>
    <p:sldId id="265" r:id="rId15"/>
    <p:sldId id="295" r:id="rId16"/>
    <p:sldId id="266" r:id="rId17"/>
    <p:sldId id="330" r:id="rId18"/>
    <p:sldId id="331" r:id="rId19"/>
    <p:sldId id="355" r:id="rId20"/>
    <p:sldId id="332" r:id="rId21"/>
    <p:sldId id="333" r:id="rId22"/>
    <p:sldId id="334" r:id="rId23"/>
    <p:sldId id="339" r:id="rId24"/>
    <p:sldId id="340" r:id="rId25"/>
    <p:sldId id="341" r:id="rId26"/>
    <p:sldId id="342" r:id="rId27"/>
    <p:sldId id="343" r:id="rId28"/>
    <p:sldId id="344" r:id="rId29"/>
    <p:sldId id="345" r:id="rId30"/>
    <p:sldId id="346" r:id="rId31"/>
    <p:sldId id="347" r:id="rId32"/>
    <p:sldId id="354" r:id="rId33"/>
    <p:sldId id="348" r:id="rId34"/>
    <p:sldId id="349" r:id="rId35"/>
  </p:sldIdLst>
  <p:sldSz cx="12192000" cy="6858000"/>
  <p:notesSz cx="6954838" cy="9309100"/>
  <p:defaultTextStyle>
    <a:defPPr>
      <a:defRPr lang="bg-BG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343" autoAdjust="0"/>
  </p:normalViewPr>
  <p:slideViewPr>
    <p:cSldViewPr snapToGrid="0">
      <p:cViewPr varScale="1">
        <p:scale>
          <a:sx n="78" d="100"/>
          <a:sy n="78" d="100"/>
        </p:scale>
        <p:origin x="806" y="67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6" d="100"/>
          <a:sy n="66" d="100"/>
        </p:scale>
        <p:origin x="3234" y="4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viewProps" Target="viewProps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handoutMaster" Target="handoutMasters/handoutMaster1.xml"/><Relationship Id="rId40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3013763" cy="467072"/>
          </a:xfrm>
          <a:prstGeom prst="rect">
            <a:avLst/>
          </a:prstGeom>
        </p:spPr>
        <p:txBody>
          <a:bodyPr vert="horz" lIns="92930" tIns="46465" rIns="92930" bIns="46465" rtlCol="0"/>
          <a:lstStyle>
            <a:lvl1pPr algn="l">
              <a:defRPr sz="1200"/>
            </a:lvl1pPr>
          </a:lstStyle>
          <a:p>
            <a:endParaRPr lang="bg-BG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39467" y="1"/>
            <a:ext cx="3013763" cy="467072"/>
          </a:xfrm>
          <a:prstGeom prst="rect">
            <a:avLst/>
          </a:prstGeom>
        </p:spPr>
        <p:txBody>
          <a:bodyPr vert="horz" lIns="92930" tIns="46465" rIns="92930" bIns="46465" rtlCol="0"/>
          <a:lstStyle>
            <a:lvl1pPr algn="r">
              <a:defRPr sz="1200"/>
            </a:lvl1pPr>
          </a:lstStyle>
          <a:p>
            <a:fld id="{62DAF501-497E-4319-B484-C5A85BB3EFD3}" type="datetimeFigureOut">
              <a:rPr lang="bg-BG" smtClean="0"/>
              <a:t>3.11.2023 г.</a:t>
            </a:fld>
            <a:endParaRPr lang="bg-BG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1" y="8842031"/>
            <a:ext cx="3013763" cy="467071"/>
          </a:xfrm>
          <a:prstGeom prst="rect">
            <a:avLst/>
          </a:prstGeom>
        </p:spPr>
        <p:txBody>
          <a:bodyPr vert="horz" lIns="92930" tIns="46465" rIns="92930" bIns="46465" rtlCol="0" anchor="b"/>
          <a:lstStyle>
            <a:lvl1pPr algn="l">
              <a:defRPr sz="1200"/>
            </a:lvl1pPr>
          </a:lstStyle>
          <a:p>
            <a:endParaRPr lang="bg-BG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39467" y="8842031"/>
            <a:ext cx="3013763" cy="467071"/>
          </a:xfrm>
          <a:prstGeom prst="rect">
            <a:avLst/>
          </a:prstGeom>
        </p:spPr>
        <p:txBody>
          <a:bodyPr vert="horz" lIns="92930" tIns="46465" rIns="92930" bIns="46465" rtlCol="0" anchor="b"/>
          <a:lstStyle>
            <a:lvl1pPr algn="r">
              <a:defRPr sz="1200"/>
            </a:lvl1pPr>
          </a:lstStyle>
          <a:p>
            <a:fld id="{335249C7-B5B2-4541-A187-B12F42083CB5}" type="slidenum">
              <a:rPr lang="bg-BG" smtClean="0"/>
              <a:t>‹#›</a:t>
            </a:fld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387324890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3013763" cy="467072"/>
          </a:xfrm>
          <a:prstGeom prst="rect">
            <a:avLst/>
          </a:prstGeom>
        </p:spPr>
        <p:txBody>
          <a:bodyPr vert="horz" lIns="92930" tIns="46465" rIns="92930" bIns="46465" rtlCol="0"/>
          <a:lstStyle>
            <a:lvl1pPr algn="l">
              <a:defRPr sz="1200"/>
            </a:lvl1pPr>
          </a:lstStyle>
          <a:p>
            <a:endParaRPr lang="bg-BG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39467" y="1"/>
            <a:ext cx="3013763" cy="467072"/>
          </a:xfrm>
          <a:prstGeom prst="rect">
            <a:avLst/>
          </a:prstGeom>
        </p:spPr>
        <p:txBody>
          <a:bodyPr vert="horz" lIns="92930" tIns="46465" rIns="92930" bIns="46465" rtlCol="0"/>
          <a:lstStyle>
            <a:lvl1pPr algn="r">
              <a:defRPr sz="1200"/>
            </a:lvl1pPr>
          </a:lstStyle>
          <a:p>
            <a:fld id="{72A934B3-15CF-49D7-9C90-2FBDF446DA56}" type="datetimeFigureOut">
              <a:rPr lang="bg-BG" smtClean="0"/>
              <a:t>3.11.2023 г.</a:t>
            </a:fld>
            <a:endParaRPr lang="bg-BG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4213" y="1163638"/>
            <a:ext cx="5586412" cy="31416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930" tIns="46465" rIns="92930" bIns="46465" rtlCol="0" anchor="ctr"/>
          <a:lstStyle/>
          <a:p>
            <a:endParaRPr lang="bg-BG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95485" y="4480004"/>
            <a:ext cx="5563870" cy="3665458"/>
          </a:xfrm>
          <a:prstGeom prst="rect">
            <a:avLst/>
          </a:prstGeom>
        </p:spPr>
        <p:txBody>
          <a:bodyPr vert="horz" lIns="92930" tIns="46465" rIns="92930" bIns="46465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8842031"/>
            <a:ext cx="3013763" cy="467071"/>
          </a:xfrm>
          <a:prstGeom prst="rect">
            <a:avLst/>
          </a:prstGeom>
        </p:spPr>
        <p:txBody>
          <a:bodyPr vert="horz" lIns="92930" tIns="46465" rIns="92930" bIns="46465" rtlCol="0" anchor="b"/>
          <a:lstStyle>
            <a:lvl1pPr algn="l">
              <a:defRPr sz="1200"/>
            </a:lvl1pPr>
          </a:lstStyle>
          <a:p>
            <a:endParaRPr lang="bg-BG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39467" y="8842031"/>
            <a:ext cx="3013763" cy="467071"/>
          </a:xfrm>
          <a:prstGeom prst="rect">
            <a:avLst/>
          </a:prstGeom>
        </p:spPr>
        <p:txBody>
          <a:bodyPr vert="horz" lIns="92930" tIns="46465" rIns="92930" bIns="46465" rtlCol="0" anchor="b"/>
          <a:lstStyle>
            <a:lvl1pPr algn="r">
              <a:defRPr sz="1200"/>
            </a:lvl1pPr>
          </a:lstStyle>
          <a:p>
            <a:fld id="{5617F9B7-5110-4225-A395-C002DCB96977}" type="slidenum">
              <a:rPr lang="bg-BG" smtClean="0"/>
              <a:t>‹#›</a:t>
            </a:fld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17727614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bg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17F9B7-5110-4225-A395-C002DCB96977}" type="slidenum">
              <a:rPr lang="bg-BG" smtClean="0"/>
              <a:t>2</a:t>
            </a:fld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284447897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bg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17F9B7-5110-4225-A395-C002DCB96977}" type="slidenum">
              <a:rPr lang="bg-BG" smtClean="0"/>
              <a:t>3</a:t>
            </a:fld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186199207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  <a:defRPr/>
            </a:pPr>
            <a:endParaRPr lang="bg-BG" altLang="bg-BG" sz="1100" dirty="0"/>
          </a:p>
          <a:p>
            <a:endParaRPr lang="bg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17F9B7-5110-4225-A395-C002DCB96977}" type="slidenum">
              <a:rPr lang="bg-BG" smtClean="0"/>
              <a:t>4</a:t>
            </a:fld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66583259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bg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17F9B7-5110-4225-A395-C002DCB96977}" type="slidenum">
              <a:rPr lang="bg-BG" smtClean="0"/>
              <a:t>5</a:t>
            </a:fld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291521512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  <a:defRPr/>
            </a:pPr>
            <a:endParaRPr lang="bg-BG" altLang="bg-BG" sz="1100" dirty="0"/>
          </a:p>
          <a:p>
            <a:endParaRPr lang="bg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17F9B7-5110-4225-A395-C002DCB96977}" type="slidenum">
              <a:rPr lang="bg-BG" smtClean="0"/>
              <a:t>6</a:t>
            </a:fld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172959275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  <a:defRPr/>
            </a:pPr>
            <a:endParaRPr lang="bg-BG" altLang="bg-BG" sz="1100" dirty="0"/>
          </a:p>
          <a:p>
            <a:endParaRPr lang="bg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17F9B7-5110-4225-A395-C002DCB96977}" type="slidenum">
              <a:rPr lang="bg-BG" smtClean="0"/>
              <a:t>7</a:t>
            </a:fld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129011864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bg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17F9B7-5110-4225-A395-C002DCB96977}" type="slidenum">
              <a:rPr lang="bg-BG" smtClean="0"/>
              <a:t>8</a:t>
            </a:fld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138455754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bg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17F9B7-5110-4225-A395-C002DCB96977}" type="slidenum">
              <a:rPr lang="bg-BG" smtClean="0"/>
              <a:t>9</a:t>
            </a:fld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111082300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bg-BG" dirty="0"/>
          </a:p>
          <a:p>
            <a:endParaRPr lang="bg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17F9B7-5110-4225-A395-C002DCB96977}" type="slidenum">
              <a:rPr lang="bg-BG" smtClean="0"/>
              <a:t>10</a:t>
            </a:fld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221717848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  <a:defRPr/>
            </a:pPr>
            <a:endParaRPr lang="bg-BG" altLang="bg-BG" sz="1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17F9B7-5110-4225-A395-C002DCB96977}" type="slidenum">
              <a:rPr lang="bg-BG" smtClean="0"/>
              <a:t>11</a:t>
            </a:fld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180691323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bg-BG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</a:p>
          <a:p>
            <a:endParaRPr lang="bg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17F9B7-5110-4225-A395-C002DCB96977}" type="slidenum">
              <a:rPr lang="bg-BG" smtClean="0"/>
              <a:t>12</a:t>
            </a:fld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299001431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bg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17F9B7-5110-4225-A395-C002DCB96977}" type="slidenum">
              <a:rPr lang="bg-BG" smtClean="0"/>
              <a:t>13</a:t>
            </a:fld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381457968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bg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17F9B7-5110-4225-A395-C002DCB96977}" type="slidenum">
              <a:rPr lang="bg-BG" smtClean="0"/>
              <a:t>14</a:t>
            </a:fld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46106581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bg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17F9B7-5110-4225-A395-C002DCB96977}" type="slidenum">
              <a:rPr lang="bg-BG" smtClean="0"/>
              <a:t>15</a:t>
            </a:fld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252440235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bg-BG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</a:p>
          <a:p>
            <a:endParaRPr lang="bg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17F9B7-5110-4225-A395-C002DCB96977}" type="slidenum">
              <a:rPr lang="bg-BG" smtClean="0"/>
              <a:t>20</a:t>
            </a:fld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280208257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bg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17F9B7-5110-4225-A395-C002DCB96977}" type="slidenum">
              <a:rPr lang="bg-BG" smtClean="0"/>
              <a:t>21</a:t>
            </a:fld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276574395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bg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17F9B7-5110-4225-A395-C002DCB96977}" type="slidenum">
              <a:rPr lang="bg-BG" smtClean="0"/>
              <a:t>22</a:t>
            </a:fld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71430774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bg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17F9B7-5110-4225-A395-C002DCB96977}" type="slidenum">
              <a:rPr lang="bg-BG" smtClean="0"/>
              <a:t>23</a:t>
            </a:fld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30085674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20834" y="134694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0834" y="429969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920834" y="1484779"/>
            <a:ext cx="10222992" cy="274320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10" name="Group 9"/>
          <p:cNvGrpSpPr/>
          <p:nvPr/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51560" y="1432223"/>
            <a:ext cx="9966960" cy="3035808"/>
          </a:xfr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9600" cap="all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9848" y="4389120"/>
            <a:ext cx="7891272" cy="1069848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6A666B-2F7D-4199-A5CF-D1399F06B5CC}" type="datetime1">
              <a:rPr lang="bg-BG" smtClean="0"/>
              <a:t>3.11.2023 г.</a:t>
            </a:fld>
            <a:endParaRPr lang="bg-BG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592733" y="4289334"/>
            <a:ext cx="1193868" cy="640080"/>
          </a:xfrm>
        </p:spPr>
        <p:txBody>
          <a:bodyPr/>
          <a:lstStyle>
            <a:lvl1pPr>
              <a:defRPr sz="2800"/>
            </a:lvl1pPr>
          </a:lstStyle>
          <a:p>
            <a:fld id="{081674E5-CD74-4638-A238-012A517DC16A}" type="slidenum">
              <a:rPr lang="bg-BG" smtClean="0"/>
              <a:t>‹#›</a:t>
            </a:fld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21316487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EF8BD3-AC58-47F1-B591-69906B5D74CE}" type="datetime1">
              <a:rPr lang="bg-BG" smtClean="0"/>
              <a:t>3.11.2023 г.</a:t>
            </a:fld>
            <a:endParaRPr lang="bg-BG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1674E5-CD74-4638-A238-012A517DC16A}" type="slidenum">
              <a:rPr lang="bg-BG" smtClean="0"/>
              <a:t>‹#›</a:t>
            </a:fld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35184416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12192000" cy="194001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7128" y="1225296"/>
            <a:ext cx="9281160" cy="352044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8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65774" y="5020056"/>
            <a:ext cx="9052560" cy="1066800"/>
          </a:xfrm>
        </p:spPr>
        <p:txBody>
          <a:bodyPr anchor="t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93667" y="6272784"/>
            <a:ext cx="2644309" cy="365125"/>
          </a:xfrm>
        </p:spPr>
        <p:txBody>
          <a:bodyPr/>
          <a:lstStyle/>
          <a:p>
            <a:fld id="{46564442-4F9C-4117-9AC9-3C912B6DAF6E}" type="datetime1">
              <a:rPr lang="bg-BG" smtClean="0"/>
              <a:t>3.11.2023 г.</a:t>
            </a:fld>
            <a:endParaRPr lang="bg-BG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82708" y="6272784"/>
            <a:ext cx="6327648" cy="365125"/>
          </a:xfrm>
        </p:spPr>
        <p:txBody>
          <a:bodyPr/>
          <a:lstStyle/>
          <a:p>
            <a:endParaRPr lang="bg-BG" dirty="0"/>
          </a:p>
        </p:txBody>
      </p:sp>
      <p:grpSp>
        <p:nvGrpSpPr>
          <p:cNvPr id="8" name="Group 7"/>
          <p:cNvGrpSpPr/>
          <p:nvPr/>
        </p:nvGrpSpPr>
        <p:grpSpPr>
          <a:xfrm>
            <a:off x="897399" y="2325848"/>
            <a:ext cx="1080904" cy="1080902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3702" y="2506133"/>
            <a:ext cx="1188298" cy="720332"/>
          </a:xfrm>
        </p:spPr>
        <p:txBody>
          <a:bodyPr/>
          <a:lstStyle>
            <a:lvl1pPr>
              <a:defRPr sz="2800"/>
            </a:lvl1pPr>
          </a:lstStyle>
          <a:p>
            <a:fld id="{081674E5-CD74-4638-A238-012A517DC16A}" type="slidenum">
              <a:rPr lang="bg-BG" smtClean="0"/>
              <a:t>‹#›</a:t>
            </a:fld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17454765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9848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64224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2E6C9-D462-4DF8-8A5B-084EF99FCB92}" type="datetime1">
              <a:rPr lang="bg-BG" smtClean="0"/>
              <a:t>3.11.2023 г.</a:t>
            </a:fld>
            <a:endParaRPr lang="bg-BG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1674E5-CD74-4638-A238-012A517DC16A}" type="slidenum">
              <a:rPr lang="bg-BG" smtClean="0"/>
              <a:t>‹#›</a:t>
            </a:fld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3060918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4224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4224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EB004C-1449-4E25-B641-5BE18784B024}" type="datetime1">
              <a:rPr lang="bg-BG" smtClean="0"/>
              <a:t>3.11.2023 г.</a:t>
            </a:fld>
            <a:endParaRPr lang="bg-BG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1674E5-CD74-4638-A238-012A517DC16A}" type="slidenum">
              <a:rPr lang="bg-BG" smtClean="0"/>
              <a:t>‹#›</a:t>
            </a:fld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5989079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BC1725-AB21-4845-BE49-CE8C42164743}" type="datetime1">
              <a:rPr lang="bg-BG" smtClean="0"/>
              <a:t>3.11.2023 г.</a:t>
            </a:fld>
            <a:endParaRPr lang="bg-BG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1674E5-CD74-4638-A238-012A517DC16A}" type="slidenum">
              <a:rPr lang="bg-BG" smtClean="0"/>
              <a:t>‹#›</a:t>
            </a:fld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40535369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87940C-92A6-42D4-A0AE-8AE229120CFF}" type="datetime1">
              <a:rPr lang="bg-BG" smtClean="0"/>
              <a:t>3.11.2023 г.</a:t>
            </a:fld>
            <a:endParaRPr lang="bg-BG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1674E5-CD74-4638-A238-012A517DC16A}" type="slidenum">
              <a:rPr lang="bg-BG" smtClean="0"/>
              <a:t>‹#›</a:t>
            </a:fld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4130514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85800"/>
            <a:ext cx="6711696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4F04CA-5B7E-4437-926E-A34999B7E6C0}" type="datetime1">
              <a:rPr lang="bg-BG" smtClean="0"/>
              <a:t>3.11.2023 г.</a:t>
            </a:fld>
            <a:endParaRPr lang="bg-BG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 dirty="0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0" name="Oval 9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1" name="Oval 10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1674E5-CD74-4638-A238-012A517DC16A}" type="slidenum">
              <a:rPr lang="bg-BG" smtClean="0"/>
              <a:t>‹#›</a:t>
            </a:fld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32834096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8303740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DBFFBA-50AA-4558-ADC7-8C8BF6C03621}" type="datetime1">
              <a:rPr lang="bg-BG" smtClean="0"/>
              <a:t>3.11.2023 г.</a:t>
            </a:fld>
            <a:endParaRPr lang="bg-BG" dirty="0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9" name="Oval 8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1674E5-CD74-4638-A238-012A517DC16A}" type="slidenum">
              <a:rPr lang="bg-BG" smtClean="0"/>
              <a:t>‹#›</a:t>
            </a:fld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12875460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C901CF-14B7-42BE-8693-1C6A365ED97B}" type="datetime1">
              <a:rPr lang="bg-BG" smtClean="0"/>
              <a:t>3.11.2023 г.</a:t>
            </a:fld>
            <a:endParaRPr lang="bg-BG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1674E5-CD74-4638-A238-012A517DC16A}" type="slidenum">
              <a:rPr lang="bg-BG" smtClean="0"/>
              <a:t>‹#›</a:t>
            </a:fld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42827579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533400"/>
            <a:ext cx="2552700" cy="5638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6800" y="533400"/>
            <a:ext cx="7505700" cy="5638800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1A9374-CC8C-4027-8C9C-D37ED427A6AE}" type="datetime1">
              <a:rPr lang="bg-BG" smtClean="0"/>
              <a:t>3.11.2023 г.</a:t>
            </a:fld>
            <a:endParaRPr lang="bg-BG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1674E5-CD74-4638-A238-012A517DC16A}" type="slidenum">
              <a:rPr lang="bg-BG" smtClean="0"/>
              <a:t>‹#›</a:t>
            </a:fld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12995348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fld id="{6DC22829-1A03-43BA-AD1C-84AE46C99B1D}" type="datetime1">
              <a:rPr lang="bg-BG" smtClean="0"/>
              <a:t>3.11.2023 г.</a:t>
            </a:fld>
            <a:endParaRPr lang="bg-BG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2"/>
                </a:solidFill>
              </a:defRPr>
            </a:lvl1pPr>
          </a:lstStyle>
          <a:p>
            <a:endParaRPr lang="bg-BG" dirty="0"/>
          </a:p>
        </p:txBody>
      </p:sp>
      <p:grpSp>
        <p:nvGrpSpPr>
          <p:cNvPr id="7" name="Group 6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8" name="Oval 7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1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9" name="Oval 8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1">
                <a:solidFill>
                  <a:srgbClr val="FFFFFF"/>
                </a:solidFill>
                <a:latin typeface="+mj-lt"/>
              </a:defRPr>
            </a:lvl1pPr>
          </a:lstStyle>
          <a:p>
            <a:fld id="{081674E5-CD74-4638-A238-012A517DC16A}" type="slidenum">
              <a:rPr lang="bg-BG" smtClean="0"/>
              <a:t>‹#›</a:t>
            </a:fld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36348257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 cap="all" baseline="0">
          <a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8.png"/><Relationship Id="rId5" Type="http://schemas.openxmlformats.org/officeDocument/2006/relationships/image" Target="../media/image2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8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9.png"/><Relationship Id="rId5" Type="http://schemas.openxmlformats.org/officeDocument/2006/relationships/image" Target="../media/image27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0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34189" y="971490"/>
            <a:ext cx="10507579" cy="3957924"/>
          </a:xfrm>
        </p:spPr>
        <p:txBody>
          <a:bodyPr/>
          <a:lstStyle/>
          <a:p>
            <a:pPr algn="ctr"/>
            <a:r>
              <a:rPr lang="bg-BG" sz="5000" b="1" i="1" dirty="0"/>
              <a:t>Симплекс метод с изкуствен базис (М-метод)</a:t>
            </a:r>
            <a:endParaRPr lang="ru-RU" altLang="bg-BG" sz="5000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1674E5-CD74-4638-A238-012A517DC16A}" type="slidenum">
              <a:rPr lang="bg-BG" smtClean="0"/>
              <a:t>1</a:t>
            </a:fld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24322936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311879" y="380415"/>
            <a:ext cx="9749492" cy="5226756"/>
          </a:xfrm>
        </p:spPr>
        <p:txBody>
          <a:bodyPr>
            <a:noAutofit/>
          </a:bodyPr>
          <a:lstStyle/>
          <a:p>
            <a:pPr indent="536575" algn="just">
              <a:lnSpc>
                <a:spcPct val="150000"/>
              </a:lnSpc>
              <a:spcBef>
                <a:spcPts val="0"/>
              </a:spcBef>
            </a:pPr>
            <a:r>
              <a:rPr lang="bg-BG" sz="2400" dirty="0"/>
              <a:t>Симплекс-канониочната форма може да съдържа три групи променливи:</a:t>
            </a:r>
          </a:p>
          <a:p>
            <a:pPr marL="457200" indent="-457200" algn="just">
              <a:lnSpc>
                <a:spcPct val="150000"/>
              </a:lnSpc>
              <a:spcBef>
                <a:spcPts val="0"/>
              </a:spcBef>
              <a:buClr>
                <a:schemeClr val="accent2">
                  <a:lumMod val="75000"/>
                </a:schemeClr>
              </a:buClr>
              <a:buFont typeface="Wingdings" panose="05000000000000000000" pitchFamily="2" charset="2"/>
              <a:buChar char="q"/>
            </a:pPr>
            <a:r>
              <a:rPr lang="bg-BG"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основни (начални) променливи;</a:t>
            </a:r>
          </a:p>
          <a:p>
            <a:pPr marL="457200" indent="-457200" algn="just">
              <a:lnSpc>
                <a:spcPct val="150000"/>
              </a:lnSpc>
              <a:spcBef>
                <a:spcPts val="0"/>
              </a:spcBef>
              <a:buClr>
                <a:schemeClr val="accent2">
                  <a:lumMod val="75000"/>
                </a:schemeClr>
              </a:buClr>
              <a:buFont typeface="Wingdings" panose="05000000000000000000" pitchFamily="2" charset="2"/>
              <a:buChar char="q"/>
            </a:pPr>
            <a:r>
              <a:rPr lang="bg-BG"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допълнителни (балансови) променливи;</a:t>
            </a:r>
          </a:p>
          <a:p>
            <a:pPr marL="457200" indent="-457200" algn="just">
              <a:lnSpc>
                <a:spcPct val="150000"/>
              </a:lnSpc>
              <a:spcBef>
                <a:spcPts val="0"/>
              </a:spcBef>
              <a:buClr>
                <a:schemeClr val="accent2">
                  <a:lumMod val="75000"/>
                </a:schemeClr>
              </a:buClr>
              <a:buFont typeface="Wingdings" panose="05000000000000000000" pitchFamily="2" charset="2"/>
              <a:buChar char="q"/>
            </a:pPr>
            <a:r>
              <a:rPr lang="bg-BG"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изкуствени (фиктивни) променливи;</a:t>
            </a:r>
          </a:p>
          <a:p>
            <a:pPr indent="536575" algn="just">
              <a:lnSpc>
                <a:spcPct val="150000"/>
              </a:lnSpc>
              <a:spcBef>
                <a:spcPts val="0"/>
              </a:spcBef>
            </a:pPr>
            <a:r>
              <a:rPr lang="bg-BG" sz="2400" dirty="0"/>
              <a:t>Чрез основните променливи се описва изходния модел. Основните и допълнителните променливи имат съдържателно значение за изходния модел. Фиктивните променливи са външни. Тяхното предназначение е единствено в създаване на начален базис.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1674E5-CD74-4638-A238-012A517DC16A}" type="slidenum">
              <a:rPr lang="bg-BG" smtClean="0"/>
              <a:t>2</a:t>
            </a:fld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1736817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1674E5-CD74-4638-A238-012A517DC16A}" type="slidenum">
              <a:rPr lang="bg-BG" smtClean="0"/>
              <a:t>3</a:t>
            </a:fld>
            <a:endParaRPr lang="bg-BG" dirty="0"/>
          </a:p>
        </p:txBody>
      </p:sp>
      <p:sp>
        <p:nvSpPr>
          <p:cNvPr id="7" name="Content Placeholder 2"/>
          <p:cNvSpPr txBox="1">
            <a:spLocks/>
          </p:cNvSpPr>
          <p:nvPr/>
        </p:nvSpPr>
        <p:spPr>
          <a:xfrm>
            <a:off x="2135518" y="0"/>
            <a:ext cx="9913257" cy="6858000"/>
          </a:xfrm>
          <a:prstGeom prst="rect">
            <a:avLst/>
          </a:prstGeom>
        </p:spPr>
        <p:txBody>
          <a:bodyPr>
            <a:noAutofit/>
          </a:bodyPr>
          <a:lstStyle>
            <a:lvl1pPr marL="182880" indent="-18288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536575" algn="just">
              <a:lnSpc>
                <a:spcPct val="150000"/>
              </a:lnSpc>
              <a:spcBef>
                <a:spcPts val="0"/>
              </a:spcBef>
              <a:buNone/>
            </a:pPr>
            <a:r>
              <a:rPr lang="bg-BG" sz="2400" dirty="0"/>
              <a:t>Когато стандатната форма на модела е едновременно и симплекс-канонична форма, то тя предоставя начален връх на многостена (опрен план).</a:t>
            </a:r>
          </a:p>
          <a:p>
            <a:pPr marL="0" indent="536575" algn="just">
              <a:lnSpc>
                <a:spcPct val="150000"/>
              </a:lnSpc>
              <a:spcBef>
                <a:spcPts val="0"/>
              </a:spcBef>
              <a:buNone/>
            </a:pPr>
            <a:r>
              <a:rPr lang="bg-BG" sz="2400" dirty="0"/>
              <a:t>Когато броя на базисните променливие е по-малък от броя ограниченителни условия, тогава задачата на линейното оптимиране не съдържа единичен базис т.е. стандартната форма не предлага директно връх на многостена. Моделът се променя като:</a:t>
            </a:r>
          </a:p>
          <a:p>
            <a:pPr marL="457200" indent="-457200" algn="just">
              <a:lnSpc>
                <a:spcPct val="150000"/>
              </a:lnSpc>
              <a:spcBef>
                <a:spcPts val="0"/>
              </a:spcBef>
              <a:buClr>
                <a:schemeClr val="accent2">
                  <a:lumMod val="75000"/>
                </a:schemeClr>
              </a:buClr>
              <a:buFont typeface="Wingdings" panose="05000000000000000000" pitchFamily="2" charset="2"/>
              <a:buChar char="q"/>
            </a:pPr>
            <a:r>
              <a:rPr lang="bg-BG"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в левите страни на уравненията, които не съдържат единична базисна променлива</a:t>
            </a:r>
            <a:r>
              <a:rPr lang="bg-BG" sz="2400" dirty="0"/>
              <a:t>, се прибавят неотрицателни изкуствени (фиктивни) базисни променливи</a:t>
            </a:r>
            <a:r>
              <a:rPr lang="bg-BG"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;</a:t>
            </a:r>
            <a:endParaRPr lang="bg-BG" sz="2400" dirty="0"/>
          </a:p>
          <a:p>
            <a:pPr marL="457200" indent="-457200" algn="just">
              <a:lnSpc>
                <a:spcPct val="150000"/>
              </a:lnSpc>
              <a:spcBef>
                <a:spcPts val="0"/>
              </a:spcBef>
              <a:buClr>
                <a:schemeClr val="accent2">
                  <a:lumMod val="75000"/>
                </a:schemeClr>
              </a:buClr>
              <a:buFont typeface="Wingdings" panose="05000000000000000000" pitchFamily="2" charset="2"/>
              <a:buChar char="q"/>
            </a:pPr>
            <a:r>
              <a:rPr lang="bg-BG"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изкуствените базисни променливи се включват в целевата функция с коефициент </a:t>
            </a:r>
            <a:r>
              <a:rPr lang="bg-BG" sz="2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+М </a:t>
            </a:r>
            <a:r>
              <a:rPr lang="bg-BG"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при </a:t>
            </a:r>
            <a:r>
              <a:rPr lang="en-US" sz="2400" dirty="0"/>
              <a:t>Z →min</a:t>
            </a:r>
            <a:r>
              <a:rPr lang="bg-BG" sz="2400" dirty="0"/>
              <a:t> и </a:t>
            </a:r>
            <a:r>
              <a:rPr lang="bg-BG" sz="2400" b="1" dirty="0"/>
              <a:t>–М </a:t>
            </a:r>
            <a:r>
              <a:rPr lang="bg-BG" sz="2400" dirty="0"/>
              <a:t>при </a:t>
            </a:r>
            <a:r>
              <a:rPr lang="en-US" sz="2400" dirty="0"/>
              <a:t>Z →max</a:t>
            </a:r>
            <a:r>
              <a:rPr lang="bg-BG" sz="2400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533148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1674E5-CD74-4638-A238-012A517DC16A}" type="slidenum">
              <a:rPr lang="bg-BG" smtClean="0"/>
              <a:t>4</a:t>
            </a:fld>
            <a:endParaRPr lang="bg-BG" dirty="0"/>
          </a:p>
        </p:txBody>
      </p:sp>
      <p:sp>
        <p:nvSpPr>
          <p:cNvPr id="7" name="Content Placeholder 2"/>
          <p:cNvSpPr txBox="1">
            <a:spLocks/>
          </p:cNvSpPr>
          <p:nvPr/>
        </p:nvSpPr>
        <p:spPr>
          <a:xfrm>
            <a:off x="2032000" y="428296"/>
            <a:ext cx="9949924" cy="6146673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50000"/>
              </a:lnSpc>
              <a:spcBef>
                <a:spcPts val="0"/>
              </a:spcBef>
            </a:pPr>
            <a:endParaRPr lang="en-US" sz="2400" b="0" dirty="0">
              <a:ea typeface="Cambria Math" panose="02040503050406030204" pitchFamily="18" charset="0"/>
            </a:endParaRPr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2032000" y="1293962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bg-BG" dirty="0"/>
          </a:p>
        </p:txBody>
      </p:sp>
      <p:sp>
        <p:nvSpPr>
          <p:cNvPr id="8" name="Rectangle 7"/>
          <p:cNvSpPr/>
          <p:nvPr/>
        </p:nvSpPr>
        <p:spPr>
          <a:xfrm>
            <a:off x="608492" y="416490"/>
            <a:ext cx="11081484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536575" algn="just">
              <a:lnSpc>
                <a:spcPct val="150000"/>
              </a:lnSpc>
            </a:pPr>
            <a:r>
              <a:rPr lang="bg-BG" sz="2400" b="1" dirty="0"/>
              <a:t>Пример 1:</a:t>
            </a:r>
            <a:r>
              <a:rPr lang="en-US" sz="2400" b="1" dirty="0"/>
              <a:t> </a:t>
            </a:r>
            <a:r>
              <a:rPr lang="bg-BG" sz="2400" dirty="0"/>
              <a:t>Да се приведе в симплекс -канонична форма модела:</a:t>
            </a:r>
          </a:p>
          <a:p>
            <a:pPr indent="536575" algn="just">
              <a:lnSpc>
                <a:spcPct val="150000"/>
              </a:lnSpc>
            </a:pPr>
            <a:endParaRPr lang="bg-BG" sz="2400" dirty="0"/>
          </a:p>
          <a:p>
            <a:pPr indent="536575" algn="just">
              <a:lnSpc>
                <a:spcPct val="150000"/>
              </a:lnSpc>
            </a:pPr>
            <a:endParaRPr lang="bg-BG" sz="2400" dirty="0"/>
          </a:p>
          <a:p>
            <a:pPr indent="536575" algn="just">
              <a:lnSpc>
                <a:spcPct val="150000"/>
              </a:lnSpc>
            </a:pPr>
            <a:endParaRPr lang="bg-BG" sz="2400" dirty="0"/>
          </a:p>
          <a:p>
            <a:pPr indent="536575" algn="just">
              <a:lnSpc>
                <a:spcPct val="150000"/>
              </a:lnSpc>
            </a:pPr>
            <a:endParaRPr lang="bg-BG" sz="2400" dirty="0"/>
          </a:p>
          <a:p>
            <a:pPr marL="1800000" indent="-457200" algn="just">
              <a:lnSpc>
                <a:spcPct val="150000"/>
              </a:lnSpc>
              <a:buClr>
                <a:schemeClr val="accent1">
                  <a:lumMod val="75000"/>
                </a:schemeClr>
              </a:buClr>
              <a:buFont typeface="+mj-lt"/>
              <a:buAutoNum type="arabicPeriod"/>
            </a:pPr>
            <a:r>
              <a:rPr lang="bg-BG" sz="2400" dirty="0"/>
              <a:t>Стандартизираме модела чрез две допълнителни (балансови) променливи –</a:t>
            </a:r>
            <a:r>
              <a:rPr lang="bg-BG" sz="2400" i="1" dirty="0"/>
              <a:t> </a:t>
            </a:r>
            <a:r>
              <a:rPr lang="en-US" sz="2400" i="1" dirty="0"/>
              <a:t>x</a:t>
            </a:r>
            <a:r>
              <a:rPr lang="en-US" sz="2400" i="1" baseline="-25000" dirty="0"/>
              <a:t>4 </a:t>
            </a:r>
            <a:r>
              <a:rPr lang="bg-BG" sz="2400" i="1" dirty="0"/>
              <a:t> </a:t>
            </a:r>
            <a:r>
              <a:rPr lang="bg-BG" sz="2400" dirty="0"/>
              <a:t>и </a:t>
            </a:r>
            <a:r>
              <a:rPr lang="en-US" sz="2400" i="1" dirty="0"/>
              <a:t>x</a:t>
            </a:r>
            <a:r>
              <a:rPr lang="en-US" sz="2400" i="1" baseline="-25000" dirty="0"/>
              <a:t>5</a:t>
            </a:r>
            <a:r>
              <a:rPr lang="bg-BG" sz="2400" dirty="0"/>
              <a:t>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/>
              <p:cNvSpPr/>
              <p:nvPr/>
            </p:nvSpPr>
            <p:spPr>
              <a:xfrm>
                <a:off x="2905306" y="1132109"/>
                <a:ext cx="4743735" cy="209339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m>
                        <m:mPr>
                          <m:mcs>
                            <m:mc>
                              <m:mcPr>
                                <m:count m:val="1"/>
                                <m:mcJc m:val="center"/>
                              </m:mcPr>
                            </m:mc>
                          </m:mcs>
                          <m:ctrlPr>
                            <a:rPr lang="bg-BG" sz="2600" i="1" smtClean="0"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eqArr>
                              <m:eqArrPr>
                                <m:ctrlPr>
                                  <a:rPr lang="en-US" sz="2600" i="1">
                                    <a:latin typeface="Cambria Math" panose="02040503050406030204" pitchFamily="18" charset="0"/>
                                  </a:rPr>
                                </m:ctrlPr>
                              </m:eqArrPr>
                              <m:e>
                                <m:r>
                                  <a:rPr lang="en-US" sz="2600" i="1">
                                    <a:latin typeface="Cambria Math" panose="02040503050406030204" pitchFamily="18" charset="0"/>
                                  </a:rPr>
                                  <m:t>𝑍</m:t>
                                </m:r>
                                <m:r>
                                  <a:rPr lang="en-US" sz="2600" i="1">
                                    <a:latin typeface="Cambria Math" panose="02040503050406030204" pitchFamily="18" charset="0"/>
                                  </a:rPr>
                                  <m:t>=−3</m:t>
                                </m:r>
                                <m:sSub>
                                  <m:sSubPr>
                                    <m:ctrlPr>
                                      <a:rPr lang="en-US" sz="2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6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2600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sz="2600" i="1">
                                    <a:latin typeface="Cambria Math" panose="02040503050406030204" pitchFamily="18" charset="0"/>
                                  </a:rPr>
                                  <m:t>−4</m:t>
                                </m:r>
                                <m:sSub>
                                  <m:sSubPr>
                                    <m:ctrlPr>
                                      <a:rPr lang="en-US" sz="2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6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260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US" sz="2600" i="1">
                                    <a:latin typeface="Cambria Math" panose="02040503050406030204" pitchFamily="18" charset="0"/>
                                  </a:rPr>
                                  <m:t>−4</m:t>
                                </m:r>
                                <m:sSub>
                                  <m:sSubPr>
                                    <m:ctrlPr>
                                      <a:rPr lang="en-US" sz="2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6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2600" i="1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  <m:r>
                                  <a:rPr lang="en-US" sz="2600" i="1">
                                    <a:latin typeface="Cambria Math" panose="02040503050406030204" pitchFamily="18" charset="0"/>
                                  </a:rPr>
                                  <m:t>  </m:t>
                                </m:r>
                                <m:r>
                                  <a:rPr lang="en-US" sz="26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→</m:t>
                                </m:r>
                                <m:r>
                                  <a:rPr lang="en-US" sz="26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𝑚𝑖𝑛</m:t>
                                </m:r>
                                <m:r>
                                  <m:rPr>
                                    <m:nor/>
                                  </m:rPr>
                                  <a:rPr lang="en-US" sz="2600" dirty="0">
                                    <a:ea typeface="Cambria Math" panose="02040503050406030204" pitchFamily="18" charset="0"/>
                                  </a:rPr>
                                  <m:t> </m:t>
                                </m:r>
                              </m:e>
                              <m:e>
                                <m:r>
                                  <a:rPr lang="bg-BG" sz="2600" b="0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3</m:t>
                                </m:r>
                                <m:sSub>
                                  <m:sSubPr>
                                    <m:ctrlPr>
                                      <a:rPr lang="bg-BG" sz="2600" b="0" i="1" dirty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600" b="0" i="1" dirty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bg-BG" sz="2600" b="0" i="1" dirty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2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600" i="1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sz="26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260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m:rPr>
                                    <m:brk m:alnAt="7"/>
                                  </m:rPr>
                                  <a:rPr lang="en-US" sz="2600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2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6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m:rPr>
                                        <m:brk m:alnAt="7"/>
                                      </m:rPr>
                                      <a:rPr lang="en-US" sz="2600" i="1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  <m:r>
                                  <m:rPr>
                                    <m:brk m:alnAt="7"/>
                                  </m:rPr>
                                  <a:rPr lang="en-US" sz="26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≤</m:t>
                                </m:r>
                                <m:r>
                                  <a:rPr lang="en-US" sz="26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eqArr>
                          </m:e>
                        </m:mr>
                        <m:mr>
                          <m:e>
                            <m:sSub>
                              <m:sSubPr>
                                <m:ctrlPr>
                                  <a:rPr lang="en-US" sz="26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sz="2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bg-BG" sz="2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−2</m:t>
                            </m:r>
                            <m:sSub>
                              <m:sSubPr>
                                <m:ctrlPr>
                                  <a:rPr lang="bg-BG" sz="2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sz="2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bg-BG" sz="2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+2</m:t>
                            </m:r>
                            <m:sSub>
                              <m:sSubPr>
                                <m:ctrlPr>
                                  <a:rPr lang="bg-BG" sz="2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sz="2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3</m:t>
                                </m:r>
                              </m:sub>
                            </m:sSub>
                            <m:r>
                              <a:rPr lang="bg-BG" sz="2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≥5</m:t>
                            </m:r>
                          </m:e>
                        </m:mr>
                        <m:m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1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bg-BG" sz="2600" i="1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sSub>
                                    <m:sSubPr>
                                      <m:ctrlPr>
                                        <a:rPr lang="bg-BG" sz="2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6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sz="2600" i="1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  <m:r>
                                    <a:rPr lang="bg-BG" sz="2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≥</m:t>
                                  </m:r>
                                  <m:r>
                                    <a:rPr lang="en-US" sz="2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0,    </m:t>
                                  </m:r>
                                  <m:r>
                                    <a:rPr lang="en-US" sz="2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𝑗</m:t>
                                  </m:r>
                                  <m:r>
                                    <a:rPr lang="en-US" sz="2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=1,2,3</m:t>
                                  </m:r>
                                </m:e>
                              </m:mr>
                              <m:mr>
                                <m:e/>
                              </m:mr>
                            </m:m>
                          </m:e>
                        </m:mr>
                      </m:m>
                    </m:oMath>
                  </m:oMathPara>
                </a14:m>
                <a:endParaRPr lang="bg-BG" sz="2600" dirty="0"/>
              </a:p>
            </p:txBody>
          </p:sp>
        </mc:Choice>
        <mc:Fallback xmlns="">
          <p:sp>
            <p:nvSpPr>
              <p:cNvPr id="9" name="Rectangle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05306" y="1132109"/>
                <a:ext cx="4743735" cy="209339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Правоъгълник 1"/>
              <p:cNvSpPr/>
              <p:nvPr/>
            </p:nvSpPr>
            <p:spPr>
              <a:xfrm>
                <a:off x="3597963" y="4468393"/>
                <a:ext cx="5147452" cy="211250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m>
                        <m:mPr>
                          <m:mcs>
                            <m:mc>
                              <m:mcPr>
                                <m:count m:val="1"/>
                                <m:mcJc m:val="center"/>
                              </m:mcPr>
                            </m:mc>
                          </m:mcs>
                          <m:ctrlPr>
                            <a:rPr lang="bg-BG" sz="2600" i="1" smtClean="0"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eqArr>
                              <m:eqArrPr>
                                <m:ctrlPr>
                                  <a:rPr lang="en-US" sz="2600" i="1">
                                    <a:latin typeface="Cambria Math" panose="02040503050406030204" pitchFamily="18" charset="0"/>
                                  </a:rPr>
                                </m:ctrlPr>
                              </m:eqArrPr>
                              <m:e>
                                <m:r>
                                  <a:rPr lang="en-US" sz="2600" i="1">
                                    <a:latin typeface="Cambria Math" panose="02040503050406030204" pitchFamily="18" charset="0"/>
                                  </a:rPr>
                                  <m:t>𝑍</m:t>
                                </m:r>
                                <m:r>
                                  <a:rPr lang="en-US" sz="2600" i="1">
                                    <a:latin typeface="Cambria Math" panose="02040503050406030204" pitchFamily="18" charset="0"/>
                                  </a:rPr>
                                  <m:t>=−3</m:t>
                                </m:r>
                                <m:sSub>
                                  <m:sSubPr>
                                    <m:ctrlPr>
                                      <a:rPr lang="en-US" sz="2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6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2600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sz="2600" i="1">
                                    <a:latin typeface="Cambria Math" panose="02040503050406030204" pitchFamily="18" charset="0"/>
                                  </a:rPr>
                                  <m:t>−4</m:t>
                                </m:r>
                                <m:sSub>
                                  <m:sSubPr>
                                    <m:ctrlPr>
                                      <a:rPr lang="en-US" sz="2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6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260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US" sz="2600" i="1">
                                    <a:latin typeface="Cambria Math" panose="02040503050406030204" pitchFamily="18" charset="0"/>
                                  </a:rPr>
                                  <m:t>−4</m:t>
                                </m:r>
                                <m:sSub>
                                  <m:sSubPr>
                                    <m:ctrlPr>
                                      <a:rPr lang="en-US" sz="2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6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2600" i="1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  <m:r>
                                  <a:rPr lang="en-US" sz="2600" i="1">
                                    <a:latin typeface="Cambria Math" panose="02040503050406030204" pitchFamily="18" charset="0"/>
                                  </a:rPr>
                                  <m:t>  </m:t>
                                </m:r>
                                <m:r>
                                  <a:rPr lang="en-US" sz="26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→</m:t>
                                </m:r>
                                <m:r>
                                  <a:rPr lang="en-US" sz="26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𝑚𝑖𝑛</m:t>
                                </m:r>
                                <m:r>
                                  <m:rPr>
                                    <m:nor/>
                                  </m:rPr>
                                  <a:rPr lang="en-US" sz="2600" dirty="0">
                                    <a:ea typeface="Cambria Math" panose="02040503050406030204" pitchFamily="18" charset="0"/>
                                  </a:rPr>
                                  <m:t> </m:t>
                                </m:r>
                              </m:e>
                              <m:e>
                                <m:r>
                                  <a:rPr lang="en-US" sz="2600" b="0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3</m:t>
                                </m:r>
                                <m:sSub>
                                  <m:sSubPr>
                                    <m:ctrlPr>
                                      <a:rPr lang="en-US" sz="2600" b="0" i="1" dirty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600" b="0" i="1" dirty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2600" b="0" i="1" dirty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2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600" i="1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sz="26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260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m:rPr>
                                    <m:brk m:alnAt="7"/>
                                  </m:rPr>
                                  <a:rPr lang="en-US" sz="2600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2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6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m:rPr>
                                        <m:brk m:alnAt="7"/>
                                      </m:rPr>
                                      <a:rPr lang="en-US" sz="2600" i="1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  <m:r>
                                  <a:rPr lang="bg-BG" sz="2600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bg-BG" sz="2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600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2600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b>
                                </m:sSub>
                                <m:r>
                                  <a:rPr lang="en-US" sz="26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=1</m:t>
                                </m:r>
                              </m:e>
                            </m:eqArr>
                          </m:e>
                        </m:mr>
                        <m:mr>
                          <m:e>
                            <m:sSub>
                              <m:sSubPr>
                                <m:ctrlPr>
                                  <a:rPr lang="en-US" sz="26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sSub>
                                  <m:sSubPr>
                                    <m:ctrlPr>
                                      <a:rPr lang="en-US" sz="2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6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2600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sz="2600" i="1">
                                    <a:latin typeface="Cambria Math" panose="02040503050406030204" pitchFamily="18" charset="0"/>
                                  </a:rPr>
                                  <m:t>−2</m:t>
                                </m:r>
                                <m:r>
                                  <a:rPr lang="en-US" sz="26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sz="26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m:rPr>
                                <m:brk m:alnAt="7"/>
                              </m:rPr>
                              <a:rPr lang="en-US" sz="2600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en-US" sz="26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6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US" sz="26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sz="2600" i="1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b>
                            </m:sSub>
                            <m:r>
                              <a:rPr lang="en-US" sz="26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sz="26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6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sz="26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sub>
                            </m:sSub>
                            <m:r>
                              <a:rPr lang="en-US" sz="2600" i="1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sz="2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5</m:t>
                            </m:r>
                          </m:e>
                        </m:mr>
                        <m:m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1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bg-BG" sz="2600" i="1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sSub>
                                    <m:sSubPr>
                                      <m:ctrlPr>
                                        <a:rPr lang="bg-BG" sz="2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6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sz="2600" i="1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  <m:r>
                                    <a:rPr lang="bg-BG" sz="2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≥</m:t>
                                  </m:r>
                                  <m:r>
                                    <a:rPr lang="en-US" sz="2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0,    </m:t>
                                  </m:r>
                                  <m:r>
                                    <a:rPr lang="en-US" sz="2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𝑗</m:t>
                                  </m:r>
                                  <m:r>
                                    <a:rPr lang="en-US" sz="2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=</m:t>
                                  </m:r>
                                  <m:acc>
                                    <m:accPr>
                                      <m:chr m:val="̅"/>
                                      <m:ctrlPr>
                                        <a:rPr lang="en-US" sz="26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sz="26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1,</m:t>
                                      </m:r>
                                      <m:r>
                                        <a:rPr lang="en-US" sz="26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5</m:t>
                                      </m:r>
                                    </m:e>
                                  </m:acc>
                                </m:e>
                              </m:mr>
                              <m:mr>
                                <m:e/>
                              </m:mr>
                            </m:m>
                          </m:e>
                        </m:mr>
                      </m:m>
                    </m:oMath>
                  </m:oMathPara>
                </a14:m>
                <a:endParaRPr lang="en-GB" sz="2600" dirty="0"/>
              </a:p>
            </p:txBody>
          </p:sp>
        </mc:Choice>
        <mc:Fallback xmlns="">
          <p:sp>
            <p:nvSpPr>
              <p:cNvPr id="2" name="Правоъгълник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97963" y="4468393"/>
                <a:ext cx="5147452" cy="211250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bg-BG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007379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32000" y="129654"/>
            <a:ext cx="9927772" cy="6522705"/>
          </a:xfrm>
        </p:spPr>
        <p:txBody>
          <a:bodyPr>
            <a:noAutofit/>
          </a:bodyPr>
          <a:lstStyle/>
          <a:p>
            <a:pPr marL="457200" indent="-457200" algn="just">
              <a:lnSpc>
                <a:spcPct val="150000"/>
              </a:lnSpc>
              <a:buFont typeface="+mj-lt"/>
              <a:buAutoNum type="arabicPeriod" startAt="2"/>
            </a:pPr>
            <a:r>
              <a:rPr lang="bg-BG" altLang="bg-BG" sz="2400" dirty="0">
                <a:cs typeface="Calibri" panose="020F0502020204030204" pitchFamily="34" charset="0"/>
              </a:rPr>
              <a:t>Добавяне на фиктивна (изкуствена) променлива</a:t>
            </a:r>
          </a:p>
          <a:p>
            <a:pPr marL="4320000" algn="just">
              <a:lnSpc>
                <a:spcPct val="150000"/>
              </a:lnSpc>
            </a:pPr>
            <a:endParaRPr lang="en-US" altLang="bg-BG" sz="2400" dirty="0">
              <a:cs typeface="Calibri" panose="020F0502020204030204" pitchFamily="34" charset="0"/>
            </a:endParaRPr>
          </a:p>
          <a:p>
            <a:pPr marL="4320000" algn="just">
              <a:lnSpc>
                <a:spcPct val="150000"/>
              </a:lnSpc>
            </a:pPr>
            <a:endParaRPr lang="en-US" altLang="bg-BG" sz="2400" dirty="0">
              <a:cs typeface="Calibri" panose="020F0502020204030204" pitchFamily="34" charset="0"/>
            </a:endParaRPr>
          </a:p>
          <a:p>
            <a:pPr marL="4320000" algn="just">
              <a:lnSpc>
                <a:spcPct val="150000"/>
              </a:lnSpc>
            </a:pPr>
            <a:endParaRPr lang="en-US" altLang="bg-BG" sz="2400" dirty="0">
              <a:cs typeface="Calibri" panose="020F0502020204030204" pitchFamily="34" charset="0"/>
            </a:endParaRPr>
          </a:p>
          <a:p>
            <a:pPr algn="just">
              <a:lnSpc>
                <a:spcPct val="150000"/>
              </a:lnSpc>
            </a:pPr>
            <a:r>
              <a:rPr lang="bg-BG" altLang="bg-BG" sz="2400" dirty="0">
                <a:cs typeface="Calibri" panose="020F0502020204030204" pitchFamily="34" charset="0"/>
              </a:rPr>
              <a:t>Променливата </a:t>
            </a:r>
            <a:r>
              <a:rPr lang="bg-BG" altLang="bg-BG" sz="2400" b="1" i="1" dirty="0">
                <a:cs typeface="Calibri" panose="020F0502020204030204" pitchFamily="34" charset="0"/>
              </a:rPr>
              <a:t>х</a:t>
            </a:r>
            <a:r>
              <a:rPr lang="bg-BG" altLang="bg-BG" sz="2400" b="1" i="1" baseline="-25000" dirty="0">
                <a:cs typeface="Calibri" panose="020F0502020204030204" pitchFamily="34" charset="0"/>
              </a:rPr>
              <a:t>4</a:t>
            </a:r>
            <a:r>
              <a:rPr lang="bg-BG" altLang="bg-BG" sz="2400" i="1" baseline="-25000" dirty="0">
                <a:cs typeface="Calibri" panose="020F0502020204030204" pitchFamily="34" charset="0"/>
              </a:rPr>
              <a:t> </a:t>
            </a:r>
            <a:r>
              <a:rPr lang="bg-BG" altLang="bg-BG" sz="2400" dirty="0">
                <a:cs typeface="Calibri" panose="020F0502020204030204" pitchFamily="34" charset="0"/>
              </a:rPr>
              <a:t>е базисна</a:t>
            </a:r>
            <a:r>
              <a:rPr lang="en-US" altLang="bg-BG" sz="2400" dirty="0">
                <a:cs typeface="Calibri" panose="020F0502020204030204" pitchFamily="34" charset="0"/>
              </a:rPr>
              <a:t> </a:t>
            </a:r>
            <a:r>
              <a:rPr lang="bg-BG" altLang="bg-BG" sz="2400" dirty="0">
                <a:cs typeface="Calibri" panose="020F0502020204030204" pitchFamily="34" charset="0"/>
              </a:rPr>
              <a:t>за първото уравнение. Във второто уравнение няма единични базисни променливи. В него въвеждаме променливата </a:t>
            </a:r>
            <a:r>
              <a:rPr lang="en-US" sz="2400" b="1" i="1" dirty="0">
                <a:cs typeface="Calibri" panose="020F0502020204030204" pitchFamily="34" charset="0"/>
              </a:rPr>
              <a:t>x</a:t>
            </a:r>
            <a:r>
              <a:rPr lang="en-US" sz="2400" b="1" i="1" baseline="-25000" dirty="0">
                <a:cs typeface="Calibri" panose="020F0502020204030204" pitchFamily="34" charset="0"/>
              </a:rPr>
              <a:t>6</a:t>
            </a:r>
            <a:r>
              <a:rPr lang="bg-BG" altLang="bg-BG" sz="2400" dirty="0">
                <a:cs typeface="Calibri" panose="020F0502020204030204" pitchFamily="34" charset="0"/>
              </a:rPr>
              <a:t>, която ще служи като изкуствена базисна променлива. Тя ще участват и в целевата функция с коефициенти +М, защото в модела се търси минимум на целевата функция (</a:t>
            </a:r>
            <a:r>
              <a:rPr lang="en-US" sz="2400" dirty="0"/>
              <a:t>Z →min)</a:t>
            </a:r>
            <a:r>
              <a:rPr lang="bg-BG" altLang="bg-BG" sz="2400" dirty="0">
                <a:cs typeface="Calibri" panose="020F0502020204030204" pitchFamily="34" charset="0"/>
              </a:rPr>
              <a:t>.</a:t>
            </a:r>
            <a:endParaRPr lang="bg-BG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1674E5-CD74-4638-A238-012A517DC16A}" type="slidenum">
              <a:rPr lang="bg-BG" smtClean="0"/>
              <a:t>5</a:t>
            </a:fld>
            <a:endParaRPr lang="bg-BG" dirty="0"/>
          </a:p>
        </p:txBody>
      </p:sp>
      <p:sp>
        <p:nvSpPr>
          <p:cNvPr id="7" name="Rectangle 5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bg-BG" dirty="0"/>
          </a:p>
        </p:txBody>
      </p:sp>
      <p:sp>
        <p:nvSpPr>
          <p:cNvPr id="9" name="Rectangle 6"/>
          <p:cNvSpPr>
            <a:spLocks noChangeArrowheads="1"/>
          </p:cNvSpPr>
          <p:nvPr/>
        </p:nvSpPr>
        <p:spPr bwMode="auto">
          <a:xfrm>
            <a:off x="0" y="2286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bg-BG" altLang="bg-BG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,</a:t>
            </a:r>
            <a:r>
              <a:rPr kumimoji="0" lang="bg-BG" altLang="bg-BG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bg-BG" altLang="bg-BG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0" name="Rectangle 17"/>
          <p:cNvSpPr>
            <a:spLocks noChangeArrowheads="1"/>
          </p:cNvSpPr>
          <p:nvPr/>
        </p:nvSpPr>
        <p:spPr bwMode="auto">
          <a:xfrm>
            <a:off x="0" y="1143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bg-BG" dirty="0"/>
          </a:p>
        </p:txBody>
      </p:sp>
      <p:sp>
        <p:nvSpPr>
          <p:cNvPr id="22" name="Rectangle 19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bg-BG" dirty="0"/>
          </a:p>
        </p:txBody>
      </p:sp>
      <p:sp>
        <p:nvSpPr>
          <p:cNvPr id="28" name="Rectangle 27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bg-BG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Rectangle 9"/>
              <p:cNvSpPr/>
              <p:nvPr/>
            </p:nvSpPr>
            <p:spPr>
              <a:xfrm>
                <a:off x="2811059" y="935961"/>
                <a:ext cx="5761897" cy="213936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m>
                        <m:mPr>
                          <m:mcs>
                            <m:mc>
                              <m:mcPr>
                                <m:count m:val="1"/>
                                <m:mcJc m:val="center"/>
                              </m:mcPr>
                            </m:mc>
                          </m:mcs>
                          <m:ctrlPr>
                            <a:rPr lang="bg-BG" sz="2600" i="1" smtClean="0"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eqArr>
                              <m:eqArrPr>
                                <m:ctrlPr>
                                  <a:rPr lang="en-US" sz="2600" i="1">
                                    <a:latin typeface="Cambria Math" panose="02040503050406030204" pitchFamily="18" charset="0"/>
                                  </a:rPr>
                                </m:ctrlPr>
                              </m:eqArrPr>
                              <m:e>
                                <m:r>
                                  <a:rPr lang="en-US" sz="2600" i="1">
                                    <a:latin typeface="Cambria Math" panose="02040503050406030204" pitchFamily="18" charset="0"/>
                                  </a:rPr>
                                  <m:t>𝑍</m:t>
                                </m:r>
                                <m:r>
                                  <a:rPr lang="en-US" sz="2600" i="1">
                                    <a:latin typeface="Cambria Math" panose="02040503050406030204" pitchFamily="18" charset="0"/>
                                  </a:rPr>
                                  <m:t>=−3</m:t>
                                </m:r>
                                <m:sSub>
                                  <m:sSubPr>
                                    <m:ctrlPr>
                                      <a:rPr lang="en-US" sz="2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6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2600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sz="2600" i="1">
                                    <a:latin typeface="Cambria Math" panose="02040503050406030204" pitchFamily="18" charset="0"/>
                                  </a:rPr>
                                  <m:t>−4</m:t>
                                </m:r>
                                <m:sSub>
                                  <m:sSubPr>
                                    <m:ctrlPr>
                                      <a:rPr lang="en-US" sz="2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6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260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US" sz="2600" i="1">
                                    <a:latin typeface="Cambria Math" panose="02040503050406030204" pitchFamily="18" charset="0"/>
                                  </a:rPr>
                                  <m:t>−4</m:t>
                                </m:r>
                                <m:sSub>
                                  <m:sSubPr>
                                    <m:ctrlPr>
                                      <a:rPr lang="en-US" sz="2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6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2600" i="1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  <m:r>
                                  <a:rPr lang="en-US" sz="2600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sz="2600" b="1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𝑴</m:t>
                                </m:r>
                                <m:sSub>
                                  <m:sSubPr>
                                    <m:ctrlPr>
                                      <a:rPr lang="en-US" sz="2600" b="1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600" b="1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2600" b="1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𝟔</m:t>
                                    </m:r>
                                  </m:sub>
                                </m:sSub>
                                <m:r>
                                  <a:rPr lang="en-US" sz="2600" b="1" i="1">
                                    <a:latin typeface="Cambria Math" panose="02040503050406030204" pitchFamily="18" charset="0"/>
                                  </a:rPr>
                                  <m:t>  </m:t>
                                </m:r>
                                <m:r>
                                  <a:rPr lang="en-US" sz="26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→</m:t>
                                </m:r>
                                <m:r>
                                  <a:rPr lang="en-US" sz="26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𝑚𝑖𝑛</m:t>
                                </m:r>
                                <m:r>
                                  <m:rPr>
                                    <m:nor/>
                                  </m:rPr>
                                  <a:rPr lang="en-US" sz="2600" dirty="0">
                                    <a:ea typeface="Cambria Math" panose="02040503050406030204" pitchFamily="18" charset="0"/>
                                  </a:rPr>
                                  <m:t> </m:t>
                                </m:r>
                              </m:e>
                              <m:e>
                                <m:r>
                                  <a:rPr lang="bg-BG" sz="2600" b="0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3</m:t>
                                </m:r>
                                <m:sSub>
                                  <m:sSubPr>
                                    <m:ctrlPr>
                                      <a:rPr lang="bg-BG" sz="2600" b="0" i="1" dirty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600" b="0" i="1" dirty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2600" b="0" i="1" dirty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2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600" i="1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sz="26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260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m:rPr>
                                    <m:brk m:alnAt="7"/>
                                  </m:rPr>
                                  <a:rPr lang="en-US" sz="2600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2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6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m:rPr>
                                        <m:brk m:alnAt="7"/>
                                      </m:rPr>
                                      <a:rPr lang="en-US" sz="2600" i="1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  <m:r>
                                  <a:rPr lang="bg-BG" sz="2600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bg-BG" sz="2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600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2600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b>
                                </m:sSub>
                                <m:r>
                                  <a:rPr lang="en-US" sz="26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sz="26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eqArr>
                          </m:e>
                        </m:mr>
                        <m:mr>
                          <m:e>
                            <m:sSub>
                              <m:sSubPr>
                                <m:ctrlPr>
                                  <a:rPr lang="en-US" sz="260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sSub>
                                  <m:sSubPr>
                                    <m:ctrlPr>
                                      <a:rPr lang="en-US" sz="2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6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2600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sz="2600" b="0" i="1" smtClean="0">
                                    <a:latin typeface="Cambria Math" panose="02040503050406030204" pitchFamily="18" charset="0"/>
                                  </a:rPr>
                                  <m:t>−2</m:t>
                                </m:r>
                                <m:r>
                                  <a:rPr lang="en-US" sz="26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sz="26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m:rPr>
                                <m:brk m:alnAt="7"/>
                              </m:rPr>
                              <a:rPr lang="en-US" sz="2600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en-US" sz="260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6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US" sz="26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sz="2600" i="1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b>
                            </m:sSub>
                            <m:r>
                              <a:rPr lang="en-US" sz="2600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sz="26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60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sz="260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sub>
                            </m:sSub>
                            <m:r>
                              <a:rPr lang="en-US" sz="2600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en-US" sz="26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600" b="0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sz="2600" b="0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sub>
                            </m:sSub>
                            <m:r>
                              <a:rPr lang="en-US" sz="2600" i="1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sz="2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5</m:t>
                            </m:r>
                          </m:e>
                        </m:mr>
                        <m:m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1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bg-BG" sz="2600" i="1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sSub>
                                    <m:sSubPr>
                                      <m:ctrlPr>
                                        <a:rPr lang="bg-BG" sz="2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6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sz="2600" i="1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  <m:r>
                                    <a:rPr lang="bg-BG" sz="2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≥</m:t>
                                  </m:r>
                                  <m:r>
                                    <a:rPr lang="en-US" sz="2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0,    </m:t>
                                  </m:r>
                                  <m:r>
                                    <a:rPr lang="en-US" sz="2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𝑗</m:t>
                                  </m:r>
                                  <m:r>
                                    <a:rPr lang="en-US" sz="2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=</m:t>
                                  </m:r>
                                  <m:acc>
                                    <m:accPr>
                                      <m:chr m:val="̅"/>
                                      <m:ctrlPr>
                                        <a:rPr lang="en-US" sz="26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sz="26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1,</m:t>
                                      </m:r>
                                      <m:r>
                                        <a:rPr lang="en-US" sz="26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6</m:t>
                                      </m:r>
                                    </m:e>
                                  </m:acc>
                                </m:e>
                              </m:mr>
                              <m:mr>
                                <m:e/>
                              </m:mr>
                            </m:m>
                          </m:e>
                        </m:mr>
                      </m:m>
                    </m:oMath>
                  </m:oMathPara>
                </a14:m>
                <a:endParaRPr lang="bg-BG" sz="2600" dirty="0"/>
              </a:p>
            </p:txBody>
          </p:sp>
        </mc:Choice>
        <mc:Fallback>
          <p:sp>
            <p:nvSpPr>
              <p:cNvPr id="10" name="Rectangle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11059" y="935961"/>
                <a:ext cx="5761897" cy="213936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bg-BG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141116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1674E5-CD74-4638-A238-012A517DC16A}" type="slidenum">
              <a:rPr lang="bg-BG" smtClean="0"/>
              <a:t>6</a:t>
            </a:fld>
            <a:endParaRPr lang="bg-BG" dirty="0"/>
          </a:p>
        </p:txBody>
      </p:sp>
      <p:sp>
        <p:nvSpPr>
          <p:cNvPr id="7" name="Content Placeholder 2"/>
          <p:cNvSpPr txBox="1">
            <a:spLocks/>
          </p:cNvSpPr>
          <p:nvPr/>
        </p:nvSpPr>
        <p:spPr>
          <a:xfrm>
            <a:off x="2032000" y="428296"/>
            <a:ext cx="9949924" cy="6146673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50000"/>
              </a:lnSpc>
              <a:spcBef>
                <a:spcPts val="0"/>
              </a:spcBef>
            </a:pPr>
            <a:endParaRPr lang="en-US" sz="2400" b="0" dirty="0">
              <a:ea typeface="Cambria Math" panose="02040503050406030204" pitchFamily="18" charset="0"/>
            </a:endParaRPr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2032000" y="1293962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bg-BG" dirty="0"/>
          </a:p>
        </p:txBody>
      </p:sp>
      <p:sp>
        <p:nvSpPr>
          <p:cNvPr id="8" name="Rectangle 7"/>
          <p:cNvSpPr/>
          <p:nvPr/>
        </p:nvSpPr>
        <p:spPr>
          <a:xfrm>
            <a:off x="717674" y="49165"/>
            <a:ext cx="11081484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536575" algn="just">
              <a:lnSpc>
                <a:spcPct val="150000"/>
              </a:lnSpc>
            </a:pPr>
            <a:r>
              <a:rPr lang="bg-BG" sz="2400" b="1" dirty="0"/>
              <a:t>Пример 2:</a:t>
            </a:r>
            <a:r>
              <a:rPr lang="en-US" sz="2400" b="1" dirty="0"/>
              <a:t> </a:t>
            </a:r>
            <a:r>
              <a:rPr lang="bg-BG" sz="2400" dirty="0"/>
              <a:t>Да се приведе в симплекс -канонична форма модела:</a:t>
            </a:r>
          </a:p>
          <a:p>
            <a:pPr indent="536575" algn="just">
              <a:lnSpc>
                <a:spcPct val="150000"/>
              </a:lnSpc>
            </a:pPr>
            <a:endParaRPr lang="bg-BG" sz="2400" dirty="0"/>
          </a:p>
          <a:p>
            <a:pPr indent="536575" algn="just">
              <a:lnSpc>
                <a:spcPct val="150000"/>
              </a:lnSpc>
            </a:pPr>
            <a:endParaRPr lang="bg-BG" sz="2400" dirty="0"/>
          </a:p>
          <a:p>
            <a:pPr indent="536575" algn="just">
              <a:lnSpc>
                <a:spcPct val="150000"/>
              </a:lnSpc>
            </a:pPr>
            <a:endParaRPr lang="bg-BG" sz="2400" dirty="0"/>
          </a:p>
          <a:p>
            <a:pPr indent="536575" algn="just">
              <a:lnSpc>
                <a:spcPct val="150000"/>
              </a:lnSpc>
            </a:pPr>
            <a:endParaRPr lang="bg-BG" sz="2400" dirty="0"/>
          </a:p>
          <a:p>
            <a:pPr marL="1800000" indent="-457200" algn="just">
              <a:lnSpc>
                <a:spcPct val="150000"/>
              </a:lnSpc>
              <a:buClr>
                <a:schemeClr val="accent1">
                  <a:lumMod val="75000"/>
                </a:schemeClr>
              </a:buClr>
              <a:buFont typeface="+mj-lt"/>
              <a:buAutoNum type="arabicPeriod"/>
            </a:pPr>
            <a:r>
              <a:rPr lang="bg-BG" sz="2400" dirty="0"/>
              <a:t>Стандартизираме модела чрез:</a:t>
            </a:r>
          </a:p>
          <a:p>
            <a:pPr marL="1260000" algn="just">
              <a:lnSpc>
                <a:spcPct val="150000"/>
              </a:lnSpc>
              <a:buClr>
                <a:schemeClr val="accent1">
                  <a:lumMod val="75000"/>
                </a:schemeClr>
              </a:buClr>
            </a:pPr>
            <a:r>
              <a:rPr lang="bg-BG" sz="2400" dirty="0"/>
              <a:t>	</a:t>
            </a:r>
            <a:r>
              <a:rPr lang="bg-BG" sz="2400" dirty="0">
                <a:solidFill>
                  <a:schemeClr val="accent1">
                    <a:lumMod val="75000"/>
                  </a:schemeClr>
                </a:solidFill>
              </a:rPr>
              <a:t>1.1.</a:t>
            </a:r>
            <a:r>
              <a:rPr lang="bg-BG" sz="2400" dirty="0"/>
              <a:t> Осигуряване на неотрицателни десни страни на ограничителните условия.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/>
              <p:cNvSpPr/>
              <p:nvPr/>
            </p:nvSpPr>
            <p:spPr>
              <a:xfrm>
                <a:off x="2878010" y="771943"/>
                <a:ext cx="4626716" cy="209230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m>
                        <m:mPr>
                          <m:mcs>
                            <m:mc>
                              <m:mcPr>
                                <m:count m:val="1"/>
                                <m:mcJc m:val="center"/>
                              </m:mcPr>
                            </m:mc>
                          </m:mcs>
                          <m:ctrlPr>
                            <a:rPr lang="bg-BG" sz="2600" i="1" smtClean="0"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eqArr>
                              <m:eqArrPr>
                                <m:ctrlPr>
                                  <a:rPr lang="en-US" sz="2600" i="1">
                                    <a:latin typeface="Cambria Math" panose="02040503050406030204" pitchFamily="18" charset="0"/>
                                  </a:rPr>
                                </m:ctrlPr>
                              </m:eqArrPr>
                              <m:e>
                                <m:r>
                                  <a:rPr lang="en-US" sz="2600" i="1">
                                    <a:latin typeface="Cambria Math" panose="02040503050406030204" pitchFamily="18" charset="0"/>
                                  </a:rPr>
                                  <m:t>𝑍</m:t>
                                </m:r>
                                <m:r>
                                  <a:rPr lang="en-US" sz="2600" i="1">
                                    <a:latin typeface="Cambria Math" panose="02040503050406030204" pitchFamily="18" charset="0"/>
                                  </a:rPr>
                                  <m:t>=−2</m:t>
                                </m:r>
                                <m:sSub>
                                  <m:sSubPr>
                                    <m:ctrlPr>
                                      <a:rPr lang="en-US" sz="2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6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2600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bg-BG" sz="2600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bg-BG" sz="2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6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26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bg-BG" sz="2600" b="0" i="1" smtClean="0">
                                    <a:latin typeface="Cambria Math" panose="02040503050406030204" pitchFamily="18" charset="0"/>
                                  </a:rPr>
                                  <m:t>+2</m:t>
                                </m:r>
                                <m:sSub>
                                  <m:sSubPr>
                                    <m:ctrlPr>
                                      <a:rPr lang="en-US" sz="2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6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2600" i="1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  <m:r>
                                  <a:rPr lang="en-US" sz="2600" i="1">
                                    <a:latin typeface="Cambria Math" panose="02040503050406030204" pitchFamily="18" charset="0"/>
                                  </a:rPr>
                                  <m:t>  </m:t>
                                </m:r>
                                <m:r>
                                  <a:rPr lang="en-US" sz="26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→</m:t>
                                </m:r>
                                <m:r>
                                  <a:rPr lang="en-US" sz="26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𝑚𝑎𝑥</m:t>
                                </m:r>
                                <m:r>
                                  <m:rPr>
                                    <m:nor/>
                                  </m:rPr>
                                  <a:rPr lang="en-US" sz="2600" dirty="0">
                                    <a:ea typeface="Cambria Math" panose="02040503050406030204" pitchFamily="18" charset="0"/>
                                  </a:rPr>
                                  <m:t> 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US" sz="2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6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26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m:rPr>
                                    <m:brk m:alnAt="7"/>
                                  </m:rPr>
                                  <a:rPr lang="en-US" sz="2600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2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6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26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US" sz="26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≥</m:t>
                                </m:r>
                                <m:r>
                                  <a:rPr lang="en-US" sz="2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</m:eqArr>
                          </m:e>
                        </m:mr>
                        <m:mr>
                          <m:e>
                            <m:sSub>
                              <m:sSubPr>
                                <m:ctrlPr>
                                  <a:rPr lang="en-US" sz="26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sSub>
                                  <m:sSubPr>
                                    <m:ctrlPr>
                                      <a:rPr lang="en-US" sz="2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600" b="0" i="1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sz="26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2600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sz="26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26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sz="26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sz="2600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en-US" sz="26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6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sz="2600" i="1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b>
                            </m:sSub>
                            <m:r>
                              <a:rPr lang="en-US" sz="26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≥</m:t>
                            </m:r>
                            <m:r>
                              <a:rPr lang="en-US" sz="2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2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6</m:t>
                            </m:r>
                          </m:e>
                        </m:mr>
                        <m:m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1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bg-BG" sz="2600" i="1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sSub>
                                    <m:sSubPr>
                                      <m:ctrlPr>
                                        <a:rPr lang="en-US" sz="2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6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sz="2600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  <m:r>
                                    <m:rPr>
                                      <m:brk m:alnAt="7"/>
                                    </m:rPr>
                                    <a:rPr lang="en-US" sz="2600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en-US" sz="2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6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sz="2600" i="1"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sub>
                                  </m:sSub>
                                  <m:r>
                                    <a:rPr lang="en-US" sz="26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≤</m:t>
                                  </m:r>
                                  <m:r>
                                    <a:rPr lang="en-US" sz="2600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e>
                              </m:mr>
                              <m:mr>
                                <m:e>
                                  <m:sSub>
                                    <m:sSubPr>
                                      <m:ctrlPr>
                                        <a:rPr lang="bg-BG" sz="2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6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sz="2600" i="1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  <m:r>
                                    <a:rPr lang="bg-BG" sz="2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≥</m:t>
                                  </m:r>
                                  <m:r>
                                    <a:rPr lang="en-US" sz="2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0,    </m:t>
                                  </m:r>
                                  <m:r>
                                    <a:rPr lang="en-US" sz="2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𝑗</m:t>
                                  </m:r>
                                  <m:r>
                                    <a:rPr lang="en-US" sz="2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=1,2,3</m:t>
                                  </m:r>
                                </m:e>
                              </m:mr>
                            </m:m>
                          </m:e>
                        </m:mr>
                      </m:m>
                    </m:oMath>
                  </m:oMathPara>
                </a14:m>
                <a:endParaRPr lang="bg-BG" sz="2600" dirty="0"/>
              </a:p>
            </p:txBody>
          </p:sp>
        </mc:Choice>
        <mc:Fallback xmlns="">
          <p:sp>
            <p:nvSpPr>
              <p:cNvPr id="9" name="Rectangle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78010" y="771943"/>
                <a:ext cx="4626716" cy="209230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/>
              <p:cNvSpPr/>
              <p:nvPr/>
            </p:nvSpPr>
            <p:spPr>
              <a:xfrm>
                <a:off x="859914" y="4494886"/>
                <a:ext cx="4626716" cy="210628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m>
                        <m:mPr>
                          <m:mcs>
                            <m:mc>
                              <m:mcPr>
                                <m:count m:val="1"/>
                                <m:mcJc m:val="center"/>
                              </m:mcPr>
                            </m:mc>
                          </m:mcs>
                          <m:ctrlPr>
                            <a:rPr lang="bg-BG" sz="2600" i="1" smtClean="0"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eqArr>
                              <m:eqArrPr>
                                <m:ctrlPr>
                                  <a:rPr lang="en-US" sz="2600" i="1">
                                    <a:latin typeface="Cambria Math" panose="02040503050406030204" pitchFamily="18" charset="0"/>
                                  </a:rPr>
                                </m:ctrlPr>
                              </m:eqArrPr>
                              <m:e>
                                <m:r>
                                  <a:rPr lang="en-US" sz="2600" i="1">
                                    <a:latin typeface="Cambria Math" panose="02040503050406030204" pitchFamily="18" charset="0"/>
                                  </a:rPr>
                                  <m:t>𝑍</m:t>
                                </m:r>
                                <m:r>
                                  <a:rPr lang="en-US" sz="2600" i="1">
                                    <a:latin typeface="Cambria Math" panose="02040503050406030204" pitchFamily="18" charset="0"/>
                                  </a:rPr>
                                  <m:t>=−2</m:t>
                                </m:r>
                                <m:sSub>
                                  <m:sSubPr>
                                    <m:ctrlPr>
                                      <a:rPr lang="en-US" sz="2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6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2600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bg-BG" sz="2600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bg-BG" sz="2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6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26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US" sz="2600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bg-BG" sz="26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sSub>
                                  <m:sSubPr>
                                    <m:ctrlPr>
                                      <a:rPr lang="en-US" sz="2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6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2600" i="1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  <m:r>
                                  <a:rPr lang="en-US" sz="2600" i="1">
                                    <a:latin typeface="Cambria Math" panose="02040503050406030204" pitchFamily="18" charset="0"/>
                                  </a:rPr>
                                  <m:t>  </m:t>
                                </m:r>
                                <m:r>
                                  <a:rPr lang="en-US" sz="26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→</m:t>
                                </m:r>
                                <m:r>
                                  <a:rPr lang="en-US" sz="26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𝑚𝑎𝑥</m:t>
                                </m:r>
                                <m:r>
                                  <m:rPr>
                                    <m:nor/>
                                  </m:rPr>
                                  <a:rPr lang="en-US" sz="2600" dirty="0">
                                    <a:ea typeface="Cambria Math" panose="02040503050406030204" pitchFamily="18" charset="0"/>
                                  </a:rPr>
                                  <m:t> 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US" sz="2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6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26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m:rPr>
                                    <m:brk m:alnAt="7"/>
                                  </m:rPr>
                                  <a:rPr lang="en-US" sz="2600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2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6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26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US" sz="26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≥</m:t>
                                </m:r>
                                <m:r>
                                  <a:rPr lang="en-US" sz="2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</m:eqArr>
                          </m:e>
                        </m:mr>
                        <m:mr>
                          <m:e>
                            <m:sSub>
                              <m:sSubPr>
                                <m:ctrlPr>
                                  <a:rPr lang="en-US" sz="26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sSub>
                                  <m:sSubPr>
                                    <m:ctrlPr>
                                      <a:rPr lang="en-US" sz="2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600" b="0" i="1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sz="26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2600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sz="26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26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sz="26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sz="2600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en-US" sz="26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6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sz="2600" i="1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b>
                            </m:sSub>
                            <m:r>
                              <a:rPr lang="en-US" sz="26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≥</m:t>
                            </m:r>
                            <m:r>
                              <a:rPr lang="en-US" sz="2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2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6</m:t>
                            </m:r>
                            <m:r>
                              <a:rPr lang="bg-BG" sz="2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 </m:t>
                            </m:r>
                            <m:r>
                              <a:rPr lang="bg-BG" sz="26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.(−1)</m:t>
                            </m:r>
                          </m:e>
                        </m:mr>
                        <m:m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1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bg-BG" sz="2600" i="1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sSub>
                                    <m:sSubPr>
                                      <m:ctrlPr>
                                        <a:rPr lang="en-US" sz="2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6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sz="2600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  <m:r>
                                    <m:rPr>
                                      <m:brk m:alnAt="7"/>
                                    </m:rPr>
                                    <a:rPr lang="en-US" sz="2600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en-US" sz="2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6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sz="2600" i="1"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sub>
                                  </m:sSub>
                                  <m:r>
                                    <a:rPr lang="en-US" sz="26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≤</m:t>
                                  </m:r>
                                  <m:r>
                                    <a:rPr lang="en-US" sz="2600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e>
                              </m:mr>
                              <m:mr>
                                <m:e>
                                  <m:sSub>
                                    <m:sSubPr>
                                      <m:ctrlPr>
                                        <a:rPr lang="bg-BG" sz="2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6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sz="2600" i="1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  <m:r>
                                    <a:rPr lang="bg-BG" sz="2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≥</m:t>
                                  </m:r>
                                  <m:r>
                                    <a:rPr lang="en-US" sz="2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0,    </m:t>
                                  </m:r>
                                  <m:r>
                                    <a:rPr lang="en-US" sz="2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𝑗</m:t>
                                  </m:r>
                                  <m:r>
                                    <a:rPr lang="en-US" sz="2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=1,2,3</m:t>
                                  </m:r>
                                </m:e>
                              </m:mr>
                            </m:m>
                          </m:e>
                        </m:mr>
                      </m:m>
                    </m:oMath>
                  </m:oMathPara>
                </a14:m>
                <a:endParaRPr lang="bg-BG" sz="2600" dirty="0"/>
              </a:p>
            </p:txBody>
          </p:sp>
        </mc:Choice>
        <mc:Fallback xmlns="">
          <p:sp>
            <p:nvSpPr>
              <p:cNvPr id="11" name="Rectangle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9914" y="4494886"/>
                <a:ext cx="4626716" cy="210628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/>
              <p:cNvSpPr/>
              <p:nvPr/>
            </p:nvSpPr>
            <p:spPr>
              <a:xfrm>
                <a:off x="7547203" y="4494886"/>
                <a:ext cx="4626716" cy="209230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m>
                        <m:mPr>
                          <m:mcs>
                            <m:mc>
                              <m:mcPr>
                                <m:count m:val="1"/>
                                <m:mcJc m:val="center"/>
                              </m:mcPr>
                            </m:mc>
                          </m:mcs>
                          <m:ctrlPr>
                            <a:rPr lang="bg-BG" sz="2600" i="1" smtClean="0"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eqArr>
                              <m:eqArrPr>
                                <m:ctrlPr>
                                  <a:rPr lang="en-US" sz="2600" i="1">
                                    <a:latin typeface="Cambria Math" panose="02040503050406030204" pitchFamily="18" charset="0"/>
                                  </a:rPr>
                                </m:ctrlPr>
                              </m:eqArrPr>
                              <m:e>
                                <m:r>
                                  <a:rPr lang="en-US" sz="2600" i="1">
                                    <a:latin typeface="Cambria Math" panose="02040503050406030204" pitchFamily="18" charset="0"/>
                                  </a:rPr>
                                  <m:t>𝑍</m:t>
                                </m:r>
                                <m:r>
                                  <a:rPr lang="en-US" sz="2600" i="1">
                                    <a:latin typeface="Cambria Math" panose="02040503050406030204" pitchFamily="18" charset="0"/>
                                  </a:rPr>
                                  <m:t>=−2</m:t>
                                </m:r>
                                <m:sSub>
                                  <m:sSubPr>
                                    <m:ctrlPr>
                                      <a:rPr lang="en-US" sz="2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6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2600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bg-BG" sz="2600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bg-BG" sz="2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6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26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US" sz="2600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bg-BG" sz="26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sSub>
                                  <m:sSubPr>
                                    <m:ctrlPr>
                                      <a:rPr lang="en-US" sz="2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6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2600" i="1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  <m:r>
                                  <a:rPr lang="en-US" sz="2600" i="1">
                                    <a:latin typeface="Cambria Math" panose="02040503050406030204" pitchFamily="18" charset="0"/>
                                  </a:rPr>
                                  <m:t>  </m:t>
                                </m:r>
                                <m:r>
                                  <a:rPr lang="en-US" sz="26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→</m:t>
                                </m:r>
                                <m:r>
                                  <a:rPr lang="en-US" sz="26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𝑚𝑎𝑥</m:t>
                                </m:r>
                                <m:r>
                                  <m:rPr>
                                    <m:nor/>
                                  </m:rPr>
                                  <a:rPr lang="en-US" sz="2600" dirty="0">
                                    <a:ea typeface="Cambria Math" panose="02040503050406030204" pitchFamily="18" charset="0"/>
                                  </a:rPr>
                                  <m:t> 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US" sz="2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6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26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m:rPr>
                                    <m:brk m:alnAt="7"/>
                                  </m:rPr>
                                  <a:rPr lang="en-US" sz="2600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2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6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26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US" sz="26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≥</m:t>
                                </m:r>
                                <m:r>
                                  <a:rPr lang="en-US" sz="2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</m:eqArr>
                          </m:e>
                        </m:mr>
                        <m:mr>
                          <m:e>
                            <m:sSub>
                              <m:sSubPr>
                                <m:ctrlPr>
                                  <a:rPr lang="en-US" sz="26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sSub>
                                  <m:sSubPr>
                                    <m:ctrlPr>
                                      <a:rPr lang="en-US" sz="2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6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2600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bg-BG" sz="2600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sz="26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sz="26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bg-BG" sz="2600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sz="26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6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sz="2600" i="1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b>
                            </m:sSub>
                            <m:r>
                              <a:rPr lang="en-US" sz="26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≤</m:t>
                            </m:r>
                            <m:r>
                              <a:rPr lang="en-US" sz="2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6</m:t>
                            </m:r>
                            <m:r>
                              <a:rPr lang="bg-BG" sz="2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</m:t>
                            </m:r>
                          </m:e>
                        </m:mr>
                        <m:m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1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bg-BG" sz="2600" i="1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sSub>
                                    <m:sSubPr>
                                      <m:ctrlPr>
                                        <a:rPr lang="en-US" sz="2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6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sz="2600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  <m:r>
                                    <m:rPr>
                                      <m:brk m:alnAt="7"/>
                                    </m:rPr>
                                    <a:rPr lang="en-US" sz="2600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en-US" sz="2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6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sz="2600" i="1"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sub>
                                  </m:sSub>
                                  <m:r>
                                    <a:rPr lang="en-US" sz="26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≤</m:t>
                                  </m:r>
                                  <m:r>
                                    <a:rPr lang="en-US" sz="2600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e>
                              </m:mr>
                              <m:mr>
                                <m:e>
                                  <m:sSub>
                                    <m:sSubPr>
                                      <m:ctrlPr>
                                        <a:rPr lang="bg-BG" sz="2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6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sz="2600" i="1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  <m:r>
                                    <a:rPr lang="bg-BG" sz="2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≥</m:t>
                                  </m:r>
                                  <m:r>
                                    <a:rPr lang="en-US" sz="2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0,    </m:t>
                                  </m:r>
                                  <m:r>
                                    <a:rPr lang="en-US" sz="2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𝑗</m:t>
                                  </m:r>
                                  <m:r>
                                    <a:rPr lang="en-US" sz="2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=1,2,3</m:t>
                                  </m:r>
                                </m:e>
                              </m:mr>
                            </m:m>
                          </m:e>
                        </m:mr>
                      </m:m>
                    </m:oMath>
                  </m:oMathPara>
                </a14:m>
                <a:endParaRPr lang="bg-BG" sz="2600" dirty="0"/>
              </a:p>
            </p:txBody>
          </p:sp>
        </mc:Choice>
        <mc:Fallback xmlns="">
          <p:sp>
            <p:nvSpPr>
              <p:cNvPr id="12" name="Rectangle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47203" y="4494886"/>
                <a:ext cx="4626716" cy="209230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Right Arrow 1"/>
          <p:cNvSpPr/>
          <p:nvPr/>
        </p:nvSpPr>
        <p:spPr>
          <a:xfrm>
            <a:off x="5355460" y="5232887"/>
            <a:ext cx="1790941" cy="38836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11077367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1674E5-CD74-4638-A238-012A517DC16A}" type="slidenum">
              <a:rPr lang="bg-BG" smtClean="0"/>
              <a:t>7</a:t>
            </a:fld>
            <a:endParaRPr lang="bg-BG" dirty="0"/>
          </a:p>
        </p:txBody>
      </p:sp>
      <p:sp>
        <p:nvSpPr>
          <p:cNvPr id="7" name="Content Placeholder 2"/>
          <p:cNvSpPr txBox="1">
            <a:spLocks/>
          </p:cNvSpPr>
          <p:nvPr/>
        </p:nvSpPr>
        <p:spPr>
          <a:xfrm>
            <a:off x="2032000" y="428296"/>
            <a:ext cx="9949924" cy="6146673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50000"/>
              </a:lnSpc>
              <a:spcBef>
                <a:spcPts val="0"/>
              </a:spcBef>
            </a:pPr>
            <a:endParaRPr lang="en-US" sz="2400" b="0" dirty="0">
              <a:ea typeface="Cambria Math" panose="02040503050406030204" pitchFamily="18" charset="0"/>
            </a:endParaRPr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2032000" y="1293962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bg-BG" dirty="0"/>
          </a:p>
        </p:txBody>
      </p:sp>
      <p:sp>
        <p:nvSpPr>
          <p:cNvPr id="8" name="Rectangle 7"/>
          <p:cNvSpPr/>
          <p:nvPr/>
        </p:nvSpPr>
        <p:spPr>
          <a:xfrm>
            <a:off x="2032000" y="416490"/>
            <a:ext cx="9657976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804863" algn="just">
              <a:lnSpc>
                <a:spcPct val="150000"/>
              </a:lnSpc>
              <a:buClr>
                <a:schemeClr val="accent1">
                  <a:lumMod val="75000"/>
                </a:schemeClr>
              </a:buClr>
            </a:pPr>
            <a:r>
              <a:rPr lang="bg-BG" sz="2400" dirty="0">
                <a:solidFill>
                  <a:schemeClr val="accent1">
                    <a:lumMod val="75000"/>
                  </a:schemeClr>
                </a:solidFill>
              </a:rPr>
              <a:t>1.2. </a:t>
            </a:r>
            <a:r>
              <a:rPr lang="bg-BG" sz="2400" dirty="0"/>
              <a:t>добавяне на три допълнителни (балансови) променливи –</a:t>
            </a:r>
            <a:r>
              <a:rPr lang="bg-BG" sz="2400" i="1" dirty="0"/>
              <a:t> </a:t>
            </a:r>
            <a:r>
              <a:rPr lang="en-US" sz="2400" i="1" dirty="0"/>
              <a:t>x</a:t>
            </a:r>
            <a:r>
              <a:rPr lang="en-US" sz="2400" i="1" baseline="-25000" dirty="0"/>
              <a:t>4</a:t>
            </a:r>
            <a:r>
              <a:rPr lang="bg-BG" sz="2400" i="1" dirty="0"/>
              <a:t>, </a:t>
            </a:r>
            <a:r>
              <a:rPr lang="en-US" sz="2400" i="1" dirty="0"/>
              <a:t>x</a:t>
            </a:r>
            <a:r>
              <a:rPr lang="en-US" sz="2400" i="1" baseline="-25000" dirty="0"/>
              <a:t>5 </a:t>
            </a:r>
            <a:r>
              <a:rPr lang="bg-BG" sz="2400" i="1" dirty="0"/>
              <a:t> </a:t>
            </a:r>
            <a:r>
              <a:rPr lang="bg-BG" sz="2400" dirty="0"/>
              <a:t>и </a:t>
            </a:r>
            <a:r>
              <a:rPr lang="en-US" sz="2400" i="1" dirty="0"/>
              <a:t>x</a:t>
            </a:r>
            <a:r>
              <a:rPr lang="bg-BG" sz="2400" i="1" baseline="-25000" dirty="0"/>
              <a:t>6</a:t>
            </a:r>
            <a:r>
              <a:rPr lang="bg-BG" sz="2400" dirty="0"/>
              <a:t>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/>
              <p:cNvSpPr/>
              <p:nvPr/>
            </p:nvSpPr>
            <p:spPr>
              <a:xfrm>
                <a:off x="7621255" y="2009783"/>
                <a:ext cx="4626716" cy="214642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m>
                        <m:mPr>
                          <m:mcs>
                            <m:mc>
                              <m:mcPr>
                                <m:count m:val="1"/>
                                <m:mcJc m:val="center"/>
                              </m:mcPr>
                            </m:mc>
                          </m:mcs>
                          <m:ctrlPr>
                            <a:rPr lang="bg-BG" sz="2600" i="1" smtClean="0"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eqArr>
                              <m:eqArrPr>
                                <m:ctrlPr>
                                  <a:rPr lang="en-US" sz="2600" i="1">
                                    <a:latin typeface="Cambria Math" panose="02040503050406030204" pitchFamily="18" charset="0"/>
                                  </a:rPr>
                                </m:ctrlPr>
                              </m:eqArrPr>
                              <m:e>
                                <m:r>
                                  <a:rPr lang="en-US" sz="2600" i="1">
                                    <a:latin typeface="Cambria Math" panose="02040503050406030204" pitchFamily="18" charset="0"/>
                                  </a:rPr>
                                  <m:t>𝑍</m:t>
                                </m:r>
                                <m:r>
                                  <a:rPr lang="en-US" sz="2600" i="1">
                                    <a:latin typeface="Cambria Math" panose="02040503050406030204" pitchFamily="18" charset="0"/>
                                  </a:rPr>
                                  <m:t>=−2</m:t>
                                </m:r>
                                <m:sSub>
                                  <m:sSubPr>
                                    <m:ctrlPr>
                                      <a:rPr lang="en-US" sz="2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6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2600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bg-BG" sz="2600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bg-BG" sz="2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6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26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US" sz="2600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bg-BG" sz="26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sSub>
                                  <m:sSubPr>
                                    <m:ctrlPr>
                                      <a:rPr lang="en-US" sz="2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6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2600" i="1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  <m:r>
                                  <a:rPr lang="en-US" sz="2600" i="1">
                                    <a:latin typeface="Cambria Math" panose="02040503050406030204" pitchFamily="18" charset="0"/>
                                  </a:rPr>
                                  <m:t>  </m:t>
                                </m:r>
                                <m:r>
                                  <a:rPr lang="en-US" sz="26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→</m:t>
                                </m:r>
                                <m:r>
                                  <a:rPr lang="en-US" sz="26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𝑚𝑎𝑥</m:t>
                                </m:r>
                                <m:r>
                                  <m:rPr>
                                    <m:nor/>
                                  </m:rPr>
                                  <a:rPr lang="en-US" sz="2600" dirty="0">
                                    <a:ea typeface="Cambria Math" panose="02040503050406030204" pitchFamily="18" charset="0"/>
                                  </a:rPr>
                                  <m:t> 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US" sz="2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6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26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m:rPr>
                                    <m:brk m:alnAt="7"/>
                                  </m:rPr>
                                  <a:rPr lang="en-US" sz="2600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2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6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26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bg-BG" sz="26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bg-BG" sz="2600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600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2600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b>
                                </m:sSub>
                                <m:r>
                                  <a:rPr lang="en-US" sz="2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=5</m:t>
                                </m:r>
                              </m:e>
                            </m:eqArr>
                          </m:e>
                        </m:mr>
                        <m:mr>
                          <m:e>
                            <m:sSub>
                              <m:sSubPr>
                                <m:ctrlPr>
                                  <a:rPr lang="en-US" sz="26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sSub>
                                  <m:sSubPr>
                                    <m:ctrlPr>
                                      <a:rPr lang="en-US" sz="2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6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2600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bg-BG" sz="2600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sz="26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sz="26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bg-BG" sz="2600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sz="26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6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sz="2600" i="1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b>
                            </m:sSub>
                            <m:r>
                              <a:rPr lang="en-US" sz="2600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en-US" sz="26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60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sz="260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sub>
                            </m:sSub>
                            <m:r>
                              <a:rPr lang="en-US" sz="2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sz="2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6</m:t>
                            </m:r>
                            <m:r>
                              <a:rPr lang="bg-BG" sz="2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</m:t>
                            </m:r>
                          </m:e>
                        </m:mr>
                        <m:m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1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bg-BG" sz="2600" i="1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sSub>
                                    <m:sSubPr>
                                      <m:ctrlPr>
                                        <a:rPr lang="en-US" sz="2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6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sz="2600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  <m:r>
                                    <m:rPr>
                                      <m:brk m:alnAt="7"/>
                                    </m:rPr>
                                    <a:rPr lang="en-US" sz="2600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en-US" sz="2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6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sz="2600" i="1"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sub>
                                  </m:sSub>
                                  <m:r>
                                    <a:rPr lang="en-US" sz="2600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en-US" sz="2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6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sz="2600" b="0" i="1" smtClean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6</m:t>
                                      </m:r>
                                    </m:sub>
                                  </m:sSub>
                                  <m:r>
                                    <a:rPr lang="en-US" sz="2600" b="0" i="1" smtClean="0">
                                      <a:latin typeface="Cambria Math" panose="02040503050406030204" pitchFamily="18" charset="0"/>
                                    </a:rPr>
                                    <m:t>=3</m:t>
                                  </m:r>
                                </m:e>
                              </m:mr>
                              <m:mr>
                                <m:e>
                                  <m:sSub>
                                    <m:sSubPr>
                                      <m:ctrlPr>
                                        <a:rPr lang="bg-BG" sz="2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6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sz="2600" i="1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  <m:r>
                                    <a:rPr lang="bg-BG" sz="2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≥</m:t>
                                  </m:r>
                                  <m:r>
                                    <a:rPr lang="en-US" sz="2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0,    </m:t>
                                  </m:r>
                                  <m:r>
                                    <a:rPr lang="en-US" sz="2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𝑗</m:t>
                                  </m:r>
                                  <m:r>
                                    <a:rPr lang="en-US" sz="2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=</m:t>
                                  </m:r>
                                  <m:acc>
                                    <m:accPr>
                                      <m:chr m:val="̅"/>
                                      <m:ctrlPr>
                                        <a:rPr lang="en-US" sz="260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sz="26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1,6</m:t>
                                      </m:r>
                                    </m:e>
                                  </m:acc>
                                </m:e>
                              </m:mr>
                            </m:m>
                          </m:e>
                        </m:mr>
                      </m:m>
                    </m:oMath>
                  </m:oMathPara>
                </a14:m>
                <a:endParaRPr lang="bg-BG" sz="2600" dirty="0"/>
              </a:p>
            </p:txBody>
          </p:sp>
        </mc:Choice>
        <mc:Fallback xmlns="">
          <p:sp>
            <p:nvSpPr>
              <p:cNvPr id="11" name="Rectangle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1255" y="2009783"/>
                <a:ext cx="4626716" cy="214642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11"/>
              <p:cNvSpPr/>
              <p:nvPr/>
            </p:nvSpPr>
            <p:spPr>
              <a:xfrm>
                <a:off x="2442391" y="2159629"/>
                <a:ext cx="4626716" cy="209230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m>
                        <m:mPr>
                          <m:mcs>
                            <m:mc>
                              <m:mcPr>
                                <m:count m:val="1"/>
                                <m:mcJc m:val="center"/>
                              </m:mcPr>
                            </m:mc>
                          </m:mcs>
                          <m:ctrlPr>
                            <a:rPr lang="bg-BG" sz="2600" i="1" smtClean="0"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eqArr>
                              <m:eqArrPr>
                                <m:ctrlPr>
                                  <a:rPr lang="en-US" sz="2600" i="1">
                                    <a:latin typeface="Cambria Math" panose="02040503050406030204" pitchFamily="18" charset="0"/>
                                  </a:rPr>
                                </m:ctrlPr>
                              </m:eqArrPr>
                              <m:e>
                                <m:r>
                                  <a:rPr lang="en-US" sz="2600" i="1">
                                    <a:latin typeface="Cambria Math" panose="02040503050406030204" pitchFamily="18" charset="0"/>
                                  </a:rPr>
                                  <m:t>𝑍</m:t>
                                </m:r>
                                <m:r>
                                  <a:rPr lang="en-US" sz="2600" i="1">
                                    <a:latin typeface="Cambria Math" panose="02040503050406030204" pitchFamily="18" charset="0"/>
                                  </a:rPr>
                                  <m:t>=−2</m:t>
                                </m:r>
                                <m:sSub>
                                  <m:sSubPr>
                                    <m:ctrlPr>
                                      <a:rPr lang="en-US" sz="2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6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2600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bg-BG" sz="2600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bg-BG" sz="2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6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26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US" sz="2600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bg-BG" sz="26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sSub>
                                  <m:sSubPr>
                                    <m:ctrlPr>
                                      <a:rPr lang="en-US" sz="2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6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2600" i="1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  <m:r>
                                  <a:rPr lang="en-US" sz="2600" i="1">
                                    <a:latin typeface="Cambria Math" panose="02040503050406030204" pitchFamily="18" charset="0"/>
                                  </a:rPr>
                                  <m:t>  </m:t>
                                </m:r>
                                <m:r>
                                  <a:rPr lang="en-US" sz="26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→</m:t>
                                </m:r>
                                <m:r>
                                  <a:rPr lang="en-US" sz="26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𝑚𝑎𝑥</m:t>
                                </m:r>
                                <m:r>
                                  <m:rPr>
                                    <m:nor/>
                                  </m:rPr>
                                  <a:rPr lang="en-US" sz="2600" dirty="0">
                                    <a:ea typeface="Cambria Math" panose="02040503050406030204" pitchFamily="18" charset="0"/>
                                  </a:rPr>
                                  <m:t> 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US" sz="2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6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26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m:rPr>
                                    <m:brk m:alnAt="7"/>
                                  </m:rPr>
                                  <a:rPr lang="en-US" sz="2600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2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6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26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US" sz="26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≥</m:t>
                                </m:r>
                                <m:r>
                                  <a:rPr lang="en-US" sz="2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</m:eqArr>
                          </m:e>
                        </m:mr>
                        <m:mr>
                          <m:e>
                            <m:sSub>
                              <m:sSubPr>
                                <m:ctrlPr>
                                  <a:rPr lang="en-US" sz="26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sSub>
                                  <m:sSubPr>
                                    <m:ctrlPr>
                                      <a:rPr lang="en-US" sz="2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6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2600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bg-BG" sz="2600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sz="26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sz="26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bg-BG" sz="2600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sz="26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6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sz="2600" i="1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b>
                            </m:sSub>
                            <m:r>
                              <a:rPr lang="en-US" sz="26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≤</m:t>
                            </m:r>
                            <m:r>
                              <a:rPr lang="en-US" sz="2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6</m:t>
                            </m:r>
                            <m:r>
                              <a:rPr lang="bg-BG" sz="2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</m:t>
                            </m:r>
                          </m:e>
                        </m:mr>
                        <m:m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1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bg-BG" sz="2600" i="1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sSub>
                                    <m:sSubPr>
                                      <m:ctrlPr>
                                        <a:rPr lang="en-US" sz="2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6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sz="2600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  <m:r>
                                    <m:rPr>
                                      <m:brk m:alnAt="7"/>
                                    </m:rPr>
                                    <a:rPr lang="en-US" sz="2600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en-US" sz="2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6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sz="2600" i="1"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sub>
                                  </m:sSub>
                                  <m:r>
                                    <a:rPr lang="en-US" sz="26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≤</m:t>
                                  </m:r>
                                  <m:r>
                                    <a:rPr lang="en-US" sz="2600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e>
                              </m:mr>
                              <m:mr>
                                <m:e>
                                  <m:sSub>
                                    <m:sSubPr>
                                      <m:ctrlPr>
                                        <a:rPr lang="bg-BG" sz="2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6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sz="2600" i="1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  <m:r>
                                    <a:rPr lang="bg-BG" sz="2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≥</m:t>
                                  </m:r>
                                  <m:r>
                                    <a:rPr lang="en-US" sz="2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0,    </m:t>
                                  </m:r>
                                  <m:r>
                                    <a:rPr lang="en-US" sz="2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𝑗</m:t>
                                  </m:r>
                                  <m:r>
                                    <a:rPr lang="en-US" sz="2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=1,2,3</m:t>
                                  </m:r>
                                </m:e>
                              </m:mr>
                            </m:m>
                          </m:e>
                        </m:mr>
                      </m:m>
                    </m:oMath>
                  </m:oMathPara>
                </a14:m>
                <a:endParaRPr lang="bg-BG" sz="2600" dirty="0"/>
              </a:p>
            </p:txBody>
          </p:sp>
        </mc:Choice>
        <mc:Fallback xmlns="">
          <p:sp>
            <p:nvSpPr>
              <p:cNvPr id="9" name="Rectangle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42391" y="2159629"/>
                <a:ext cx="4626716" cy="209230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Right Arrow 1"/>
          <p:cNvSpPr/>
          <p:nvPr/>
        </p:nvSpPr>
        <p:spPr>
          <a:xfrm>
            <a:off x="6424197" y="2905866"/>
            <a:ext cx="1115678" cy="38836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34916978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32000" y="129654"/>
            <a:ext cx="9927772" cy="6522705"/>
          </a:xfrm>
        </p:spPr>
        <p:txBody>
          <a:bodyPr>
            <a:noAutofit/>
          </a:bodyPr>
          <a:lstStyle/>
          <a:p>
            <a:pPr marL="457200" indent="-457200" algn="just">
              <a:lnSpc>
                <a:spcPct val="150000"/>
              </a:lnSpc>
              <a:buFont typeface="+mj-lt"/>
              <a:buAutoNum type="arabicPeriod" startAt="2"/>
            </a:pPr>
            <a:r>
              <a:rPr lang="bg-BG" altLang="bg-BG" sz="2400" dirty="0">
                <a:cs typeface="Calibri" panose="020F0502020204030204" pitchFamily="34" charset="0"/>
              </a:rPr>
              <a:t>Добавяне на фиктивна променлива</a:t>
            </a:r>
          </a:p>
          <a:p>
            <a:pPr marL="4320000" algn="just">
              <a:lnSpc>
                <a:spcPct val="150000"/>
              </a:lnSpc>
            </a:pPr>
            <a:endParaRPr lang="en-US" altLang="bg-BG" sz="2400" dirty="0">
              <a:cs typeface="Calibri" panose="020F0502020204030204" pitchFamily="34" charset="0"/>
            </a:endParaRPr>
          </a:p>
          <a:p>
            <a:pPr marL="4320000" algn="just">
              <a:lnSpc>
                <a:spcPct val="150000"/>
              </a:lnSpc>
            </a:pPr>
            <a:endParaRPr lang="en-US" altLang="bg-BG" sz="2400" dirty="0">
              <a:cs typeface="Calibri" panose="020F0502020204030204" pitchFamily="34" charset="0"/>
            </a:endParaRPr>
          </a:p>
          <a:p>
            <a:pPr marL="4320000" algn="just">
              <a:lnSpc>
                <a:spcPct val="150000"/>
              </a:lnSpc>
            </a:pPr>
            <a:endParaRPr lang="en-US" altLang="bg-BG" sz="2400" dirty="0">
              <a:cs typeface="Calibri" panose="020F0502020204030204" pitchFamily="34" charset="0"/>
            </a:endParaRPr>
          </a:p>
          <a:p>
            <a:pPr algn="just">
              <a:lnSpc>
                <a:spcPct val="150000"/>
              </a:lnSpc>
            </a:pPr>
            <a:r>
              <a:rPr lang="bg-BG" altLang="bg-BG" sz="2400" dirty="0">
                <a:cs typeface="Calibri" panose="020F0502020204030204" pitchFamily="34" charset="0"/>
              </a:rPr>
              <a:t>Променливата </a:t>
            </a:r>
            <a:r>
              <a:rPr lang="bg-BG" altLang="bg-BG" sz="2400" b="1" i="1" dirty="0">
                <a:cs typeface="Calibri" panose="020F0502020204030204" pitchFamily="34" charset="0"/>
              </a:rPr>
              <a:t>х</a:t>
            </a:r>
            <a:r>
              <a:rPr lang="en-US" altLang="bg-BG" sz="2400" b="1" i="1" baseline="-25000" dirty="0">
                <a:cs typeface="Calibri" panose="020F0502020204030204" pitchFamily="34" charset="0"/>
              </a:rPr>
              <a:t>5</a:t>
            </a:r>
            <a:r>
              <a:rPr lang="bg-BG" altLang="bg-BG" sz="2400" b="1" i="1" baseline="-25000" dirty="0">
                <a:cs typeface="Calibri" panose="020F0502020204030204" pitchFamily="34" charset="0"/>
              </a:rPr>
              <a:t> </a:t>
            </a:r>
            <a:r>
              <a:rPr lang="bg-BG" altLang="bg-BG" sz="2400" dirty="0">
                <a:cs typeface="Calibri" panose="020F0502020204030204" pitchFamily="34" charset="0"/>
              </a:rPr>
              <a:t>е базисна</a:t>
            </a:r>
            <a:r>
              <a:rPr lang="en-US" altLang="bg-BG" sz="2400" dirty="0">
                <a:cs typeface="Calibri" panose="020F0502020204030204" pitchFamily="34" charset="0"/>
              </a:rPr>
              <a:t> </a:t>
            </a:r>
            <a:r>
              <a:rPr lang="bg-BG" altLang="bg-BG" sz="2400" dirty="0">
                <a:cs typeface="Calibri" panose="020F0502020204030204" pitchFamily="34" charset="0"/>
              </a:rPr>
              <a:t>за второто уравнение, а променлива </a:t>
            </a:r>
            <a:r>
              <a:rPr lang="bg-BG" altLang="bg-BG" sz="2400" b="1" i="1" dirty="0">
                <a:cs typeface="Calibri" panose="020F0502020204030204" pitchFamily="34" charset="0"/>
              </a:rPr>
              <a:t>х</a:t>
            </a:r>
            <a:r>
              <a:rPr lang="bg-BG" altLang="bg-BG" sz="2400" b="1" i="1" baseline="-25000" dirty="0">
                <a:cs typeface="Calibri" panose="020F0502020204030204" pitchFamily="34" charset="0"/>
              </a:rPr>
              <a:t>6</a:t>
            </a:r>
            <a:r>
              <a:rPr lang="bg-BG" altLang="bg-BG" sz="2400" i="1" baseline="-25000" dirty="0">
                <a:cs typeface="Calibri" panose="020F0502020204030204" pitchFamily="34" charset="0"/>
              </a:rPr>
              <a:t> </a:t>
            </a:r>
            <a:r>
              <a:rPr lang="bg-BG" altLang="bg-BG" sz="2400" dirty="0">
                <a:cs typeface="Calibri" panose="020F0502020204030204" pitchFamily="34" charset="0"/>
              </a:rPr>
              <a:t>е базисна</a:t>
            </a:r>
            <a:r>
              <a:rPr lang="en-US" altLang="bg-BG" sz="2400" dirty="0">
                <a:cs typeface="Calibri" panose="020F0502020204030204" pitchFamily="34" charset="0"/>
              </a:rPr>
              <a:t> </a:t>
            </a:r>
            <a:r>
              <a:rPr lang="bg-BG" altLang="bg-BG" sz="2400" dirty="0">
                <a:cs typeface="Calibri" panose="020F0502020204030204" pitchFamily="34" charset="0"/>
              </a:rPr>
              <a:t>за третото уравнение. В първото уравнение няма единична базисна променлива. В първото уравнение въвеждаме променливата </a:t>
            </a:r>
            <a:r>
              <a:rPr lang="en-US" sz="2400" b="1" i="1" dirty="0"/>
              <a:t>x</a:t>
            </a:r>
            <a:r>
              <a:rPr lang="en-US" sz="2400" b="1" i="1" baseline="-25000" dirty="0"/>
              <a:t>7</a:t>
            </a:r>
            <a:r>
              <a:rPr lang="bg-BG" altLang="bg-BG" sz="2400" dirty="0">
                <a:cs typeface="Calibri" panose="020F0502020204030204" pitchFamily="34" charset="0"/>
              </a:rPr>
              <a:t>, която ще служи като изкуствена базисна променлива. Тя ще участват и в целевата функция с коефициенти </a:t>
            </a:r>
            <a:r>
              <a:rPr lang="bg-BG" altLang="bg-BG" sz="2400" b="1" i="1" dirty="0">
                <a:cs typeface="Calibri" panose="020F0502020204030204" pitchFamily="34" charset="0"/>
              </a:rPr>
              <a:t>-М</a:t>
            </a:r>
            <a:r>
              <a:rPr lang="bg-BG" altLang="bg-BG" sz="2400" dirty="0">
                <a:cs typeface="Calibri" panose="020F0502020204030204" pitchFamily="34" charset="0"/>
              </a:rPr>
              <a:t>, защото в модела се търси максимум на целевата функция (</a:t>
            </a:r>
            <a:r>
              <a:rPr lang="en-US" sz="2400" dirty="0"/>
              <a:t>Z →max)</a:t>
            </a:r>
            <a:r>
              <a:rPr lang="bg-BG" altLang="bg-BG" sz="2400" dirty="0">
                <a:cs typeface="Calibri" panose="020F0502020204030204" pitchFamily="34" charset="0"/>
              </a:rPr>
              <a:t>.</a:t>
            </a:r>
            <a:endParaRPr lang="bg-BG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1674E5-CD74-4638-A238-012A517DC16A}" type="slidenum">
              <a:rPr lang="bg-BG" smtClean="0"/>
              <a:t>8</a:t>
            </a:fld>
            <a:endParaRPr lang="bg-BG" dirty="0"/>
          </a:p>
        </p:txBody>
      </p:sp>
      <p:sp>
        <p:nvSpPr>
          <p:cNvPr id="7" name="Rectangle 5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bg-BG" dirty="0"/>
          </a:p>
        </p:txBody>
      </p:sp>
      <p:sp>
        <p:nvSpPr>
          <p:cNvPr id="9" name="Rectangle 6"/>
          <p:cNvSpPr>
            <a:spLocks noChangeArrowheads="1"/>
          </p:cNvSpPr>
          <p:nvPr/>
        </p:nvSpPr>
        <p:spPr bwMode="auto">
          <a:xfrm>
            <a:off x="0" y="2286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bg-BG" altLang="bg-BG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,</a:t>
            </a:r>
            <a:r>
              <a:rPr kumimoji="0" lang="bg-BG" altLang="bg-BG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bg-BG" altLang="bg-BG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0" name="Rectangle 17"/>
          <p:cNvSpPr>
            <a:spLocks noChangeArrowheads="1"/>
          </p:cNvSpPr>
          <p:nvPr/>
        </p:nvSpPr>
        <p:spPr bwMode="auto">
          <a:xfrm>
            <a:off x="0" y="1143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bg-BG" dirty="0"/>
          </a:p>
        </p:txBody>
      </p:sp>
      <p:sp>
        <p:nvSpPr>
          <p:cNvPr id="22" name="Rectangle 19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bg-BG" dirty="0"/>
          </a:p>
        </p:txBody>
      </p:sp>
      <p:sp>
        <p:nvSpPr>
          <p:cNvPr id="28" name="Rectangle 27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bg-BG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Rectangle 11"/>
              <p:cNvSpPr/>
              <p:nvPr/>
            </p:nvSpPr>
            <p:spPr>
              <a:xfrm>
                <a:off x="6771813" y="772252"/>
                <a:ext cx="5497402" cy="214699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m>
                        <m:mPr>
                          <m:mcs>
                            <m:mc>
                              <m:mcPr>
                                <m:count m:val="1"/>
                                <m:mcJc m:val="center"/>
                              </m:mcPr>
                            </m:mc>
                          </m:mcs>
                          <m:ctrlPr>
                            <a:rPr lang="bg-BG" sz="2600" i="1" smtClean="0"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eqArr>
                              <m:eqArrPr>
                                <m:ctrlPr>
                                  <a:rPr lang="en-US" sz="2600" i="1">
                                    <a:latin typeface="Cambria Math" panose="02040503050406030204" pitchFamily="18" charset="0"/>
                                  </a:rPr>
                                </m:ctrlPr>
                              </m:eqArrPr>
                              <m:e>
                                <m:r>
                                  <a:rPr lang="en-US" sz="2600" i="1">
                                    <a:latin typeface="Cambria Math" panose="02040503050406030204" pitchFamily="18" charset="0"/>
                                  </a:rPr>
                                  <m:t>𝑍</m:t>
                                </m:r>
                                <m:r>
                                  <a:rPr lang="en-US" sz="2600" i="1">
                                    <a:latin typeface="Cambria Math" panose="02040503050406030204" pitchFamily="18" charset="0"/>
                                  </a:rPr>
                                  <m:t>=−2</m:t>
                                </m:r>
                                <m:sSub>
                                  <m:sSubPr>
                                    <m:ctrlPr>
                                      <a:rPr lang="en-US" sz="2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6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2600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bg-BG" sz="2600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bg-BG" sz="2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6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26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US" sz="2600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bg-BG" sz="26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sSub>
                                  <m:sSubPr>
                                    <m:ctrlPr>
                                      <a:rPr lang="en-US" sz="2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6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2600" i="1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  <m:r>
                                  <a:rPr lang="en-US" sz="26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2600" b="1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𝑴</m:t>
                                </m:r>
                                <m:sSub>
                                  <m:sSubPr>
                                    <m:ctrlPr>
                                      <a:rPr lang="en-US" sz="2600" b="1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600" b="1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bg-BG" sz="2600" b="1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𝟕</m:t>
                                    </m:r>
                                  </m:sub>
                                </m:sSub>
                                <m:r>
                                  <a:rPr lang="en-US" sz="26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→</m:t>
                                </m:r>
                                <m:r>
                                  <a:rPr lang="en-US" sz="26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𝑚𝑎𝑥</m:t>
                                </m:r>
                                <m:r>
                                  <m:rPr>
                                    <m:nor/>
                                  </m:rPr>
                                  <a:rPr lang="en-US" sz="2600" dirty="0">
                                    <a:ea typeface="Cambria Math" panose="02040503050406030204" pitchFamily="18" charset="0"/>
                                  </a:rPr>
                                  <m:t> 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US" sz="2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6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26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m:rPr>
                                    <m:brk m:alnAt="7"/>
                                  </m:rPr>
                                  <a:rPr lang="en-US" sz="2600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2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6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26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bg-BG" sz="26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bg-BG" sz="2600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2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b>
                                </m:sSub>
                                <m:r>
                                  <a:rPr lang="en-US" sz="2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26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600" b="1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bg-BG" sz="2600" b="1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𝟕</m:t>
                                    </m:r>
                                  </m:sub>
                                </m:sSub>
                                <m:r>
                                  <a:rPr lang="en-US" sz="2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=5</m:t>
                                </m:r>
                              </m:e>
                            </m:eqArr>
                          </m:e>
                        </m:mr>
                        <m:mr>
                          <m:e>
                            <m:sSub>
                              <m:sSubPr>
                                <m:ctrlPr>
                                  <a:rPr lang="en-US" sz="26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sSub>
                                  <m:sSubPr>
                                    <m:ctrlPr>
                                      <a:rPr lang="en-US" sz="2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6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2600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bg-BG" sz="2600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sz="26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sz="26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bg-BG" sz="2600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sz="26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6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sz="2600" i="1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b>
                            </m:sSub>
                            <m:r>
                              <a:rPr lang="en-US" sz="2600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en-US" sz="26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sz="2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sub>
                            </m:sSub>
                            <m:r>
                              <a:rPr lang="en-US" sz="2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sz="2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6</m:t>
                            </m:r>
                            <m:r>
                              <a:rPr lang="bg-BG" sz="2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</m:t>
                            </m:r>
                          </m:e>
                        </m:mr>
                        <m:m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1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bg-BG" sz="2600" i="1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sSub>
                                    <m:sSubPr>
                                      <m:ctrlPr>
                                        <a:rPr lang="en-US" sz="2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6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sz="2600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  <m:r>
                                    <m:rPr>
                                      <m:brk m:alnAt="7"/>
                                    </m:rPr>
                                    <a:rPr lang="en-US" sz="2600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en-US" sz="2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6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sz="2600" i="1"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sub>
                                  </m:sSub>
                                  <m:r>
                                    <a:rPr lang="en-US" sz="2600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en-US" sz="260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6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bg-BG" sz="26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6</m:t>
                                      </m:r>
                                    </m:sub>
                                  </m:sSub>
                                  <m:r>
                                    <a:rPr lang="en-US" sz="2600" b="0" i="1" smtClean="0">
                                      <a:latin typeface="Cambria Math" panose="02040503050406030204" pitchFamily="18" charset="0"/>
                                    </a:rPr>
                                    <m:t>=3</m:t>
                                  </m:r>
                                </m:e>
                              </m:mr>
                              <m:mr>
                                <m:e>
                                  <m:sSub>
                                    <m:sSubPr>
                                      <m:ctrlPr>
                                        <a:rPr lang="bg-BG" sz="2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6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sz="2600" i="1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  <m:r>
                                    <a:rPr lang="bg-BG" sz="2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≥</m:t>
                                  </m:r>
                                  <m:r>
                                    <a:rPr lang="en-US" sz="2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0,    </m:t>
                                  </m:r>
                                  <m:r>
                                    <a:rPr lang="en-US" sz="2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𝑗</m:t>
                                  </m:r>
                                  <m:r>
                                    <a:rPr lang="en-US" sz="2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=</m:t>
                                  </m:r>
                                  <m:acc>
                                    <m:accPr>
                                      <m:chr m:val="̅"/>
                                      <m:ctrlPr>
                                        <a:rPr lang="en-US" sz="260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sz="26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1,7</m:t>
                                      </m:r>
                                    </m:e>
                                  </m:acc>
                                </m:e>
                              </m:mr>
                            </m:m>
                          </m:e>
                        </m:mr>
                      </m:m>
                    </m:oMath>
                  </m:oMathPara>
                </a14:m>
                <a:endParaRPr lang="bg-BG" sz="2600" dirty="0"/>
              </a:p>
            </p:txBody>
          </p:sp>
        </mc:Choice>
        <mc:Fallback>
          <p:sp>
            <p:nvSpPr>
              <p:cNvPr id="12" name="Rectangle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71813" y="772252"/>
                <a:ext cx="5497402" cy="214699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bg-B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Rectangle 10"/>
              <p:cNvSpPr/>
              <p:nvPr/>
            </p:nvSpPr>
            <p:spPr>
              <a:xfrm>
                <a:off x="2032000" y="840916"/>
                <a:ext cx="4626716" cy="214642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m>
                        <m:mPr>
                          <m:mcs>
                            <m:mc>
                              <m:mcPr>
                                <m:count m:val="1"/>
                                <m:mcJc m:val="center"/>
                              </m:mcPr>
                            </m:mc>
                          </m:mcs>
                          <m:ctrlPr>
                            <a:rPr lang="bg-BG" sz="2600" i="1" smtClean="0"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eqArr>
                              <m:eqArrPr>
                                <m:ctrlPr>
                                  <a:rPr lang="en-US" sz="2600" i="1">
                                    <a:latin typeface="Cambria Math" panose="02040503050406030204" pitchFamily="18" charset="0"/>
                                  </a:rPr>
                                </m:ctrlPr>
                              </m:eqArrPr>
                              <m:e>
                                <m:r>
                                  <a:rPr lang="en-US" sz="2600" i="1">
                                    <a:latin typeface="Cambria Math" panose="02040503050406030204" pitchFamily="18" charset="0"/>
                                  </a:rPr>
                                  <m:t>𝑍</m:t>
                                </m:r>
                                <m:r>
                                  <a:rPr lang="en-US" sz="2600" i="1">
                                    <a:latin typeface="Cambria Math" panose="02040503050406030204" pitchFamily="18" charset="0"/>
                                  </a:rPr>
                                  <m:t>=−2</m:t>
                                </m:r>
                                <m:sSub>
                                  <m:sSubPr>
                                    <m:ctrlPr>
                                      <a:rPr lang="en-US" sz="2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6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2600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bg-BG" sz="2600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bg-BG" sz="2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6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26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US" sz="2600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bg-BG" sz="26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sSub>
                                  <m:sSubPr>
                                    <m:ctrlPr>
                                      <a:rPr lang="en-US" sz="2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6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2600" i="1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  <m:r>
                                  <a:rPr lang="en-US" sz="2600" i="1">
                                    <a:latin typeface="Cambria Math" panose="02040503050406030204" pitchFamily="18" charset="0"/>
                                  </a:rPr>
                                  <m:t>  </m:t>
                                </m:r>
                                <m:r>
                                  <a:rPr lang="en-US" sz="26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→</m:t>
                                </m:r>
                                <m:r>
                                  <a:rPr lang="en-US" sz="26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𝑚𝑎𝑥</m:t>
                                </m:r>
                                <m:r>
                                  <m:rPr>
                                    <m:nor/>
                                  </m:rPr>
                                  <a:rPr lang="en-US" sz="2600" dirty="0">
                                    <a:ea typeface="Cambria Math" panose="02040503050406030204" pitchFamily="18" charset="0"/>
                                  </a:rPr>
                                  <m:t> 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US" sz="2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6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26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m:rPr>
                                    <m:brk m:alnAt="7"/>
                                  </m:rPr>
                                  <a:rPr lang="en-US" sz="2600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2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6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26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bg-BG" sz="26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bg-BG" sz="26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6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26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𝟒</m:t>
                                    </m:r>
                                  </m:sub>
                                </m:sSub>
                                <m:r>
                                  <a:rPr lang="en-US" sz="2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=5</m:t>
                                </m:r>
                              </m:e>
                            </m:eqArr>
                          </m:e>
                        </m:mr>
                        <m:mr>
                          <m:e>
                            <m:sSub>
                              <m:sSubPr>
                                <m:ctrlPr>
                                  <a:rPr lang="en-US" sz="26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sSub>
                                  <m:sSubPr>
                                    <m:ctrlPr>
                                      <a:rPr lang="en-US" sz="2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6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2600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bg-BG" sz="2600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sz="26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sz="26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bg-BG" sz="2600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sz="26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6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sz="2600" i="1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b>
                            </m:sSub>
                            <m:r>
                              <a:rPr lang="en-US" sz="2600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en-US" sz="2600" b="1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600" b="1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e>
                              <m:sub>
                                <m:r>
                                  <a:rPr lang="en-US" sz="2600" b="1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𝟓</m:t>
                                </m:r>
                              </m:sub>
                            </m:sSub>
                            <m:r>
                              <a:rPr lang="en-US" sz="2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sz="2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6</m:t>
                            </m:r>
                            <m:r>
                              <a:rPr lang="bg-BG" sz="2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</m:t>
                            </m:r>
                          </m:e>
                        </m:mr>
                        <m:m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1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bg-BG" sz="2600" i="1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sSub>
                                    <m:sSubPr>
                                      <m:ctrlPr>
                                        <a:rPr lang="en-US" sz="2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6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sz="2600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  <m:r>
                                    <m:rPr>
                                      <m:brk m:alnAt="7"/>
                                    </m:rPr>
                                    <a:rPr lang="en-US" sz="2600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en-US" sz="2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6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sz="2600" i="1"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sub>
                                  </m:sSub>
                                  <m:r>
                                    <a:rPr lang="en-US" sz="2600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en-US" sz="26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600" b="1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𝒙</m:t>
                                      </m:r>
                                    </m:e>
                                    <m:sub>
                                      <m:r>
                                        <a:rPr lang="en-US" sz="2600" b="1" i="1" smtClean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𝟔</m:t>
                                      </m:r>
                                    </m:sub>
                                  </m:sSub>
                                  <m:r>
                                    <a:rPr lang="en-US" sz="2600" b="0" i="1" smtClean="0">
                                      <a:latin typeface="Cambria Math" panose="02040503050406030204" pitchFamily="18" charset="0"/>
                                    </a:rPr>
                                    <m:t>=3</m:t>
                                  </m:r>
                                </m:e>
                              </m:mr>
                              <m:mr>
                                <m:e>
                                  <m:sSub>
                                    <m:sSubPr>
                                      <m:ctrlPr>
                                        <a:rPr lang="bg-BG" sz="2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6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sz="2600" i="1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  <m:r>
                                    <a:rPr lang="bg-BG" sz="2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≥</m:t>
                                  </m:r>
                                  <m:r>
                                    <a:rPr lang="en-US" sz="2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0,    </m:t>
                                  </m:r>
                                  <m:r>
                                    <a:rPr lang="en-US" sz="2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𝑗</m:t>
                                  </m:r>
                                  <m:r>
                                    <a:rPr lang="en-US" sz="2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=</m:t>
                                  </m:r>
                                  <m:acc>
                                    <m:accPr>
                                      <m:chr m:val="̅"/>
                                      <m:ctrlPr>
                                        <a:rPr lang="en-US" sz="260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sz="26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1,6</m:t>
                                      </m:r>
                                    </m:e>
                                  </m:acc>
                                </m:e>
                              </m:mr>
                            </m:m>
                          </m:e>
                        </m:mr>
                      </m:m>
                    </m:oMath>
                  </m:oMathPara>
                </a14:m>
                <a:endParaRPr lang="bg-BG" sz="2600" dirty="0"/>
              </a:p>
            </p:txBody>
          </p:sp>
        </mc:Choice>
        <mc:Fallback>
          <p:sp>
            <p:nvSpPr>
              <p:cNvPr id="10" name="Rectangle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32000" y="840916"/>
                <a:ext cx="4626716" cy="214642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bg-B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Right Arrow 1"/>
          <p:cNvSpPr/>
          <p:nvPr/>
        </p:nvSpPr>
        <p:spPr>
          <a:xfrm>
            <a:off x="5932427" y="1651568"/>
            <a:ext cx="839386" cy="38836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21903224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437317" y="0"/>
            <a:ext cx="9340701" cy="5076967"/>
          </a:xfrm>
        </p:spPr>
        <p:txBody>
          <a:bodyPr>
            <a:noAutofit/>
          </a:bodyPr>
          <a:lstStyle/>
          <a:p>
            <a:pPr indent="536575" algn="just">
              <a:lnSpc>
                <a:spcPct val="150000"/>
              </a:lnSpc>
              <a:spcBef>
                <a:spcPts val="0"/>
              </a:spcBef>
            </a:pPr>
            <a:r>
              <a:rPr lang="bg-BG" sz="2400" dirty="0"/>
              <a:t>Когато при построяване на симплекс-каноничната форма се използват фиктивни променливи, се получава един нов, разширен на изходния модел. Той се нарича М-модел (М-задача), а изкуствените променливи М-променливи. Фиктивните променливи осигуряват стартовата точка за симплекс метода при решаването на М-задачата.</a:t>
            </a:r>
          </a:p>
          <a:p>
            <a:pPr indent="536575" algn="just">
              <a:lnSpc>
                <a:spcPct val="150000"/>
              </a:lnSpc>
              <a:spcBef>
                <a:spcPts val="0"/>
              </a:spcBef>
            </a:pPr>
            <a:r>
              <a:rPr lang="bg-BG" sz="2400" dirty="0"/>
              <a:t>Реализирането на симплекс метода за разширената задача е известно в теорията като симплекс метод с изкуствен базис или М-метод.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1674E5-CD74-4638-A238-012A517DC16A}" type="slidenum">
              <a:rPr lang="bg-BG" smtClean="0"/>
              <a:t>9</a:t>
            </a:fld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7419630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51712" y="0"/>
            <a:ext cx="10029368" cy="6858000"/>
          </a:xfrm>
        </p:spPr>
        <p:txBody>
          <a:bodyPr vert="horz" lIns="91440" tIns="45720" rIns="91440" bIns="45720" rtlCol="0" anchor="t">
            <a:noAutofit/>
          </a:bodyPr>
          <a:lstStyle/>
          <a:p>
            <a:pPr indent="536575" algn="just">
              <a:lnSpc>
                <a:spcPct val="150000"/>
              </a:lnSpc>
              <a:spcBef>
                <a:spcPts val="0"/>
              </a:spcBef>
            </a:pPr>
            <a:r>
              <a:rPr lang="bg-BG" sz="2400" b="1" i="1" dirty="0"/>
              <a:t>Твърдение 1. </a:t>
            </a:r>
            <a:r>
              <a:rPr lang="bg-BG" sz="2400" dirty="0"/>
              <a:t>Ако разширеният модел е разрешим и в оптималното му решение всички фиктивни променливи са нули, изходния модел е също разрешим.</a:t>
            </a:r>
          </a:p>
          <a:p>
            <a:pPr indent="536575" algn="just">
              <a:lnSpc>
                <a:spcPct val="150000"/>
              </a:lnSpc>
              <a:spcBef>
                <a:spcPts val="0"/>
              </a:spcBef>
            </a:pPr>
            <a:r>
              <a:rPr lang="bg-BG" sz="2400" dirty="0"/>
              <a:t>За да получим оптимално решение на изходния модел е необходимо да се нулират всички фиктивни променливи т.е. те трябва да се превърнат в свободни, като напуснат базиса. </a:t>
            </a:r>
          </a:p>
          <a:p>
            <a:pPr indent="536575" algn="just">
              <a:lnSpc>
                <a:spcPct val="150000"/>
              </a:lnSpc>
              <a:spcBef>
                <a:spcPts val="0"/>
              </a:spcBef>
            </a:pPr>
            <a:r>
              <a:rPr lang="bg-BG" sz="2400" b="1" i="1" dirty="0"/>
              <a:t>Твърдение 2. </a:t>
            </a:r>
            <a:r>
              <a:rPr lang="bg-BG" sz="2400" dirty="0"/>
              <a:t>Ако разширеният модел е разрешим и в оптималното му решение една или повече фиктивни променливи са ненулеви, изходният модел е неразрешим поради празна област на допустими решения.</a:t>
            </a:r>
          </a:p>
          <a:p>
            <a:pPr indent="536575" algn="just">
              <a:lnSpc>
                <a:spcPct val="150000"/>
              </a:lnSpc>
              <a:spcBef>
                <a:spcPts val="0"/>
              </a:spcBef>
            </a:pPr>
            <a:r>
              <a:rPr lang="bg-BG" sz="2400" dirty="0"/>
              <a:t>Получава се в случай, че оптималната симплекс таблица на разширения модел съдържа в базиса фиктивни променливи.</a:t>
            </a:r>
            <a:endParaRPr lang="bg-BG" sz="24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indent="536575" algn="just">
              <a:lnSpc>
                <a:spcPct val="150000"/>
              </a:lnSpc>
              <a:spcBef>
                <a:spcPts val="0"/>
              </a:spcBef>
            </a:pPr>
            <a:endParaRPr lang="bg-BG" sz="2400" dirty="0"/>
          </a:p>
          <a:p>
            <a:pPr indent="536575" algn="just">
              <a:lnSpc>
                <a:spcPct val="150000"/>
              </a:lnSpc>
              <a:spcBef>
                <a:spcPts val="0"/>
              </a:spcBef>
            </a:pPr>
            <a:endParaRPr lang="bg-BG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1674E5-CD74-4638-A238-012A517DC16A}" type="slidenum">
              <a:rPr lang="bg-BG" smtClean="0"/>
              <a:t>10</a:t>
            </a:fld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4745680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36370" y="1913587"/>
            <a:ext cx="8541803" cy="2963214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  <a:defRPr/>
            </a:pPr>
            <a:endParaRPr lang="bg-BG" altLang="bg-BG" sz="2400" dirty="0"/>
          </a:p>
          <a:p>
            <a:pPr algn="just"/>
            <a:endParaRPr lang="bg-BG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1674E5-CD74-4638-A238-012A517DC16A}" type="slidenum">
              <a:rPr lang="bg-BG" smtClean="0"/>
              <a:t>11</a:t>
            </a:fld>
            <a:endParaRPr lang="bg-BG" dirty="0"/>
          </a:p>
        </p:txBody>
      </p:sp>
      <p:sp>
        <p:nvSpPr>
          <p:cNvPr id="2" name="Rectangle 1"/>
          <p:cNvSpPr/>
          <p:nvPr/>
        </p:nvSpPr>
        <p:spPr>
          <a:xfrm>
            <a:off x="2236119" y="256421"/>
            <a:ext cx="9597572" cy="59400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536575" algn="just">
              <a:lnSpc>
                <a:spcPct val="150000"/>
              </a:lnSpc>
              <a:spcBef>
                <a:spcPts val="0"/>
              </a:spcBef>
            </a:pPr>
            <a:r>
              <a:rPr lang="bg-BG" sz="2400" b="1" i="1" dirty="0"/>
              <a:t>Твърдение 3. </a:t>
            </a:r>
            <a:r>
              <a:rPr lang="bg-BG" sz="2400" dirty="0"/>
              <a:t>Ако разширеният модел е неразрешим поради неограничена целева функция, изходният модел е също неразрешим.</a:t>
            </a:r>
          </a:p>
          <a:p>
            <a:pPr indent="536575" algn="just">
              <a:lnSpc>
                <a:spcPct val="150000"/>
              </a:lnSpc>
              <a:spcBef>
                <a:spcPts val="0"/>
              </a:spcBef>
            </a:pPr>
            <a:r>
              <a:rPr lang="bg-BG" sz="2400" dirty="0"/>
              <a:t>При решаване на М-задачата се прилагат два подхода:</a:t>
            </a:r>
          </a:p>
          <a:p>
            <a:pPr marL="809625" indent="-269875" algn="just">
              <a:lnSpc>
                <a:spcPct val="150000"/>
              </a:lnSpc>
              <a:spcBef>
                <a:spcPts val="1200"/>
              </a:spcBef>
              <a:buClr>
                <a:schemeClr val="accent1">
                  <a:lumMod val="75000"/>
                </a:schemeClr>
              </a:buClr>
              <a:buSzPct val="85000"/>
              <a:buFont typeface="+mj-lt"/>
              <a:buAutoNum type="arabicPeriod"/>
            </a:pPr>
            <a:r>
              <a:rPr lang="bg-BG" sz="2400" dirty="0">
                <a:cs typeface="Calibri" panose="020F0502020204030204" pitchFamily="34" charset="0"/>
              </a:rPr>
              <a:t>Величината М фигурира в симлекс таблицата като параметър, който е по-голям от всяко сравнявано с него положително число.</a:t>
            </a:r>
          </a:p>
          <a:p>
            <a:pPr marL="809625" indent="-269875" algn="just">
              <a:lnSpc>
                <a:spcPct val="150000"/>
              </a:lnSpc>
              <a:spcBef>
                <a:spcPts val="1200"/>
              </a:spcBef>
              <a:buClr>
                <a:schemeClr val="accent1">
                  <a:lumMod val="75000"/>
                </a:schemeClr>
              </a:buClr>
              <a:buSzPct val="85000"/>
              <a:buFont typeface="+mj-lt"/>
              <a:buAutoNum type="arabicPeriod"/>
            </a:pPr>
            <a:r>
              <a:rPr lang="bg-BG" sz="2400" dirty="0">
                <a:cs typeface="Calibri" panose="020F0502020204030204" pitchFamily="34" charset="0"/>
              </a:rPr>
              <a:t>Величината М приема в симплекс таблицата конкретно значение, 10 пъти по-голямо от най-големия по абсолютна стойност целеви коефициенти на основните променливи.</a:t>
            </a:r>
          </a:p>
        </p:txBody>
      </p:sp>
    </p:spTree>
    <p:extLst>
      <p:ext uri="{BB962C8B-B14F-4D97-AF65-F5344CB8AC3E}">
        <p14:creationId xmlns:p14="http://schemas.microsoft.com/office/powerpoint/2010/main" val="29499075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1674E5-CD74-4638-A238-012A517DC16A}" type="slidenum">
              <a:rPr lang="bg-BG" smtClean="0"/>
              <a:t>12</a:t>
            </a:fld>
            <a:endParaRPr lang="bg-BG" dirty="0"/>
          </a:p>
        </p:txBody>
      </p:sp>
      <p:sp>
        <p:nvSpPr>
          <p:cNvPr id="7" name="AutoShape 2" descr="http://mitko.villaverde-bansko.com/Matematika/images/single-lesson-08-5_clip_image002_0034.png"/>
          <p:cNvSpPr>
            <a:spLocks noChangeAspect="1" noChangeArrowheads="1"/>
          </p:cNvSpPr>
          <p:nvPr/>
        </p:nvSpPr>
        <p:spPr bwMode="auto">
          <a:xfrm>
            <a:off x="3067050" y="-90488"/>
            <a:ext cx="333375" cy="2000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bg-BG" dirty="0"/>
          </a:p>
        </p:txBody>
      </p:sp>
      <p:sp>
        <p:nvSpPr>
          <p:cNvPr id="11" name="AutoShape 6" descr="http://mitko.villaverde-bansko.com/Matematika/images/single-lesson-08-5_clip_image002_0034.png"/>
          <p:cNvSpPr>
            <a:spLocks noChangeAspect="1" noChangeArrowheads="1"/>
          </p:cNvSpPr>
          <p:nvPr/>
        </p:nvSpPr>
        <p:spPr bwMode="auto">
          <a:xfrm>
            <a:off x="3371850" y="214312"/>
            <a:ext cx="333375" cy="2000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bg-BG" dirty="0"/>
          </a:p>
        </p:txBody>
      </p:sp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bg-BG" dirty="0"/>
          </a:p>
        </p:txBody>
      </p:sp>
      <p:sp>
        <p:nvSpPr>
          <p:cNvPr id="14" name="Rectangle 9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bg-BG" dirty="0"/>
          </a:p>
        </p:txBody>
      </p:sp>
      <p:sp>
        <p:nvSpPr>
          <p:cNvPr id="16" name="Rectangle 10"/>
          <p:cNvSpPr>
            <a:spLocks noChangeArrowheads="1"/>
          </p:cNvSpPr>
          <p:nvPr/>
        </p:nvSpPr>
        <p:spPr bwMode="auto">
          <a:xfrm>
            <a:off x="0" y="88582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bg-BG" altLang="bg-BG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.</a:t>
            </a:r>
            <a:endParaRPr kumimoji="0" lang="bg-BG" altLang="bg-BG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7" name="Rectangle 1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bg-BG" dirty="0"/>
          </a:p>
        </p:txBody>
      </p:sp>
      <p:sp>
        <p:nvSpPr>
          <p:cNvPr id="25" name="Rectangle 23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bg-BG" dirty="0"/>
          </a:p>
        </p:txBody>
      </p:sp>
      <p:sp>
        <p:nvSpPr>
          <p:cNvPr id="27" name="Rectangle 24"/>
          <p:cNvSpPr>
            <a:spLocks noChangeArrowheads="1"/>
          </p:cNvSpPr>
          <p:nvPr/>
        </p:nvSpPr>
        <p:spPr bwMode="auto">
          <a:xfrm>
            <a:off x="0" y="75247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bg-BG" altLang="bg-BG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. </a:t>
            </a:r>
            <a:endParaRPr kumimoji="0" lang="bg-BG" altLang="bg-BG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1178258" y="32201"/>
            <a:ext cx="1053152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536575" algn="just">
              <a:lnSpc>
                <a:spcPct val="150000"/>
              </a:lnSpc>
            </a:pPr>
            <a:r>
              <a:rPr lang="bg-BG" sz="2400" b="1" dirty="0"/>
              <a:t>Пример</a:t>
            </a:r>
            <a:r>
              <a:rPr lang="en-US" sz="2400" b="1" dirty="0"/>
              <a:t> </a:t>
            </a:r>
            <a:r>
              <a:rPr lang="bg-BG" sz="2400" b="1" dirty="0"/>
              <a:t>1:</a:t>
            </a:r>
            <a:r>
              <a:rPr lang="en-US" sz="2400" b="1" dirty="0"/>
              <a:t> </a:t>
            </a:r>
            <a:r>
              <a:rPr lang="bg-BG" sz="2400" dirty="0"/>
              <a:t>Да се реши чрез симплек метод модела: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67050" y="559840"/>
            <a:ext cx="6243852" cy="6036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7176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1674E5-CD74-4638-A238-012A517DC16A}" type="slidenum">
              <a:rPr lang="bg-BG" smtClean="0"/>
              <a:t>13</a:t>
            </a:fld>
            <a:endParaRPr lang="bg-BG" dirty="0"/>
          </a:p>
        </p:txBody>
      </p:sp>
      <p:sp>
        <p:nvSpPr>
          <p:cNvPr id="2" name="Rectangle 1"/>
          <p:cNvSpPr/>
          <p:nvPr/>
        </p:nvSpPr>
        <p:spPr>
          <a:xfrm>
            <a:off x="1903664" y="0"/>
            <a:ext cx="10020370" cy="11317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buClr>
                <a:schemeClr val="accent1">
                  <a:lumMod val="75000"/>
                </a:schemeClr>
              </a:buClr>
              <a:buSzPct val="85000"/>
              <a:defRPr/>
            </a:pPr>
            <a:endParaRPr lang="bg-BG" sz="2400" dirty="0"/>
          </a:p>
          <a:p>
            <a:pPr algn="just">
              <a:lnSpc>
                <a:spcPct val="150000"/>
              </a:lnSpc>
              <a:buClr>
                <a:schemeClr val="accent1">
                  <a:lumMod val="75000"/>
                </a:schemeClr>
              </a:buClr>
              <a:buSzPct val="85000"/>
              <a:defRPr/>
            </a:pPr>
            <a:endParaRPr lang="bg-BG" sz="2400" dirty="0"/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bg-BG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2000" y="374334"/>
            <a:ext cx="10160000" cy="64836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797853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1674E5-CD74-4638-A238-012A517DC16A}" type="slidenum">
              <a:rPr lang="bg-BG" smtClean="0"/>
              <a:t>14</a:t>
            </a:fld>
            <a:endParaRPr lang="bg-BG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11" y="33122"/>
            <a:ext cx="12189089" cy="68248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665783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1674E5-CD74-4638-A238-012A517DC16A}" type="slidenum">
              <a:rPr lang="bg-BG" smtClean="0"/>
              <a:t>15</a:t>
            </a:fld>
            <a:endParaRPr lang="bg-BG" dirty="0"/>
          </a:p>
        </p:txBody>
      </p:sp>
      <p:cxnSp>
        <p:nvCxnSpPr>
          <p:cNvPr id="19" name="Straight Arrow Connector 18"/>
          <p:cNvCxnSpPr/>
          <p:nvPr/>
        </p:nvCxnSpPr>
        <p:spPr>
          <a:xfrm flipH="1">
            <a:off x="8151813" y="21753513"/>
            <a:ext cx="450850" cy="1190625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Oval 19"/>
          <p:cNvSpPr/>
          <p:nvPr/>
        </p:nvSpPr>
        <p:spPr>
          <a:xfrm>
            <a:off x="4070350" y="24992013"/>
            <a:ext cx="323850" cy="276225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bg-BG" sz="1100" dirty="0"/>
          </a:p>
        </p:txBody>
      </p:sp>
      <p:sp>
        <p:nvSpPr>
          <p:cNvPr id="21" name="Oval 20"/>
          <p:cNvSpPr/>
          <p:nvPr/>
        </p:nvSpPr>
        <p:spPr>
          <a:xfrm>
            <a:off x="5127625" y="25020588"/>
            <a:ext cx="400050" cy="276225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bg-BG" sz="1100" dirty="0"/>
          </a:p>
        </p:txBody>
      </p:sp>
      <p:cxnSp>
        <p:nvCxnSpPr>
          <p:cNvPr id="22" name="Straight Arrow Connector 21"/>
          <p:cNvCxnSpPr/>
          <p:nvPr/>
        </p:nvCxnSpPr>
        <p:spPr>
          <a:xfrm flipH="1" flipV="1">
            <a:off x="5956300" y="26868438"/>
            <a:ext cx="9525" cy="85725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/>
          <p:nvPr/>
        </p:nvCxnSpPr>
        <p:spPr>
          <a:xfrm flipH="1" flipV="1">
            <a:off x="6583363" y="26839863"/>
            <a:ext cx="9525" cy="85725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/>
          <p:nvPr/>
        </p:nvCxnSpPr>
        <p:spPr>
          <a:xfrm flipH="1" flipV="1">
            <a:off x="7256463" y="26868438"/>
            <a:ext cx="9525" cy="85725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/>
          <p:cNvCxnSpPr/>
          <p:nvPr/>
        </p:nvCxnSpPr>
        <p:spPr>
          <a:xfrm flipH="1" flipV="1">
            <a:off x="8142288" y="26868438"/>
            <a:ext cx="9525" cy="85725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/>
          <p:nvPr/>
        </p:nvCxnSpPr>
        <p:spPr>
          <a:xfrm flipH="1" flipV="1">
            <a:off x="8859838" y="26830338"/>
            <a:ext cx="9525" cy="85725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/>
          <p:nvPr/>
        </p:nvCxnSpPr>
        <p:spPr>
          <a:xfrm flipH="1" flipV="1">
            <a:off x="9628188" y="26839863"/>
            <a:ext cx="9525" cy="85725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/>
          <p:nvPr/>
        </p:nvCxnSpPr>
        <p:spPr>
          <a:xfrm flipH="1" flipV="1">
            <a:off x="10206038" y="26849388"/>
            <a:ext cx="9525" cy="85725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4"/>
              <p:cNvSpPr txBox="1"/>
              <p:nvPr/>
            </p:nvSpPr>
            <p:spPr>
              <a:xfrm>
                <a:off x="11077575" y="23394988"/>
                <a:ext cx="2014538" cy="330200"/>
              </a:xfrm>
              <a:prstGeom prst="rect">
                <a:avLst/>
              </a:prstGeom>
              <a:noFill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  <p:txBody>
              <a:bodyPr wrap="square" lIns="0" tIns="0" rIns="0" bIns="0" rtlCol="0" anchor="t">
                <a:spAutoFit/>
              </a:bodyPr>
              <a:lstStyle>
                <a:lvl1pPr marL="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14:m>
                  <m:oMath xmlns:m="http://schemas.openxmlformats.org/officeDocument/2006/math">
                    <m:r>
                      <a:rPr lang="en-US" sz="1400" b="0" i="1">
                        <a:latin typeface="Cambria Math" panose="02040503050406030204" pitchFamily="18" charset="0"/>
                      </a:rPr>
                      <m:t>𝑚𝑖𝑛</m:t>
                    </m:r>
                    <m:d>
                      <m:dPr>
                        <m:ctrlPr>
                          <a:rPr lang="bg-BG" sz="1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bg-BG" sz="14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bg-BG" sz="1400" b="0" i="1">
                                <a:latin typeface="Cambria Math" panose="02040503050406030204" pitchFamily="18" charset="0"/>
                              </a:rPr>
                              <m:t>430</m:t>
                            </m:r>
                          </m:num>
                          <m:den>
                            <m:r>
                              <a:rPr lang="en-US" sz="1400" b="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den>
                        </m:f>
                        <m:r>
                          <a:rPr lang="en-US" sz="1400" b="0" i="1"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ctrlPr>
                              <a:rPr lang="en-US" sz="1400" b="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bg-BG" sz="1400" b="0" i="1">
                                <a:latin typeface="Cambria Math" panose="02040503050406030204" pitchFamily="18" charset="0"/>
                              </a:rPr>
                              <m:t>460</m:t>
                            </m:r>
                          </m:num>
                          <m:den>
                            <m:r>
                              <a:rPr lang="bg-BG" sz="1400" b="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lang="en-US" sz="1400" dirty="0"/>
                  <a:t> e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400" b="0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fPr>
                      <m:num>
                        <m:r>
                          <a:rPr lang="bg-BG" sz="1400" b="0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460</m:t>
                        </m:r>
                      </m:num>
                      <m:den>
                        <m:r>
                          <a:rPr lang="bg-BG" sz="1400" b="0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sz="1400" dirty="0"/>
                  <a:t> </a:t>
                </a:r>
                <a:endParaRPr lang="bg-BG" sz="1400" dirty="0"/>
              </a:p>
            </p:txBody>
          </p:sp>
        </mc:Choice>
        <mc:Fallback xmlns="">
          <p:sp>
            <p:nvSpPr>
              <p:cNvPr id="29" name="TextBox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77575" y="23394988"/>
                <a:ext cx="2014538" cy="330200"/>
              </a:xfrm>
              <a:prstGeom prst="rect">
                <a:avLst/>
              </a:prstGeom>
              <a:blipFill>
                <a:blip r:embed="rId5"/>
                <a:stretch>
                  <a:fillRect l="-3021" b="-14815"/>
                </a:stretch>
              </a:blipFill>
            </p:spPr>
            <p:txBody>
              <a:bodyPr/>
              <a:lstStyle/>
              <a:p>
                <a:r>
                  <a:rPr lang="bg-BG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9888" y="38739"/>
            <a:ext cx="12052112" cy="49290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935189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2E1247A2-C14E-246F-C6C0-8905751B22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79" y="2304912"/>
            <a:ext cx="6960175" cy="4104046"/>
          </a:xfrm>
          <a:prstGeom prst="rect">
            <a:avLst/>
          </a:prstGeom>
        </p:spPr>
      </p:pic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36370" y="1913587"/>
            <a:ext cx="8541803" cy="2963214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  <a:defRPr/>
            </a:pPr>
            <a:endParaRPr lang="bg-BG" altLang="bg-BG" sz="2400" dirty="0"/>
          </a:p>
          <a:p>
            <a:pPr algn="just"/>
            <a:endParaRPr lang="bg-BG" sz="24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6461" y="0"/>
            <a:ext cx="7324725" cy="2257425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975854" y="2148243"/>
            <a:ext cx="5075332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spcBef>
                <a:spcPts val="0"/>
              </a:spcBef>
              <a:buClr>
                <a:schemeClr val="accent1">
                  <a:lumMod val="75000"/>
                </a:schemeClr>
              </a:buClr>
              <a:buFont typeface="+mj-lt"/>
              <a:buAutoNum type="arabicPeriod"/>
            </a:pPr>
            <a:r>
              <a:rPr lang="bg-BG" sz="2400" dirty="0"/>
              <a:t>Записва се новата базисна променлива.</a:t>
            </a:r>
          </a:p>
          <a:p>
            <a:pPr marL="342900" indent="-342900" algn="just">
              <a:lnSpc>
                <a:spcPct val="150000"/>
              </a:lnSpc>
              <a:spcBef>
                <a:spcPts val="0"/>
              </a:spcBef>
              <a:buClr>
                <a:schemeClr val="accent1">
                  <a:lumMod val="75000"/>
                </a:schemeClr>
              </a:buClr>
              <a:buFont typeface="+mj-lt"/>
              <a:buAutoNum type="arabicPeriod"/>
            </a:pPr>
            <a:r>
              <a:rPr lang="bg-BG" sz="2400" dirty="0"/>
              <a:t>Записва се целевия коефициент на базисната променлива.</a:t>
            </a:r>
          </a:p>
          <a:p>
            <a:pPr marL="342900" indent="-342900" algn="just">
              <a:lnSpc>
                <a:spcPct val="150000"/>
              </a:lnSpc>
              <a:spcBef>
                <a:spcPts val="0"/>
              </a:spcBef>
              <a:buClr>
                <a:schemeClr val="accent1">
                  <a:lumMod val="75000"/>
                </a:schemeClr>
              </a:buClr>
              <a:buFont typeface="+mj-lt"/>
              <a:buAutoNum type="arabicPeriod"/>
            </a:pPr>
            <a:r>
              <a:rPr lang="bg-BG" sz="2400" dirty="0"/>
              <a:t>Елементите от ключовия ред се делят на ключовото число</a:t>
            </a:r>
          </a:p>
        </p:txBody>
      </p:sp>
      <p:sp>
        <p:nvSpPr>
          <p:cNvPr id="8" name="Oval 7"/>
          <p:cNvSpPr/>
          <p:nvPr/>
        </p:nvSpPr>
        <p:spPr>
          <a:xfrm>
            <a:off x="7888406" y="450376"/>
            <a:ext cx="313898" cy="25930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 dirty="0"/>
          </a:p>
        </p:txBody>
      </p:sp>
      <p:sp>
        <p:nvSpPr>
          <p:cNvPr id="9" name="Oval 8"/>
          <p:cNvSpPr/>
          <p:nvPr/>
        </p:nvSpPr>
        <p:spPr>
          <a:xfrm>
            <a:off x="5898108" y="1546547"/>
            <a:ext cx="313898" cy="25930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2D918E43-A6AB-A89F-6E57-85FB323DBE5A}"/>
              </a:ext>
            </a:extLst>
          </p:cNvPr>
          <p:cNvGrpSpPr/>
          <p:nvPr/>
        </p:nvGrpSpPr>
        <p:grpSpPr>
          <a:xfrm>
            <a:off x="1070694" y="4356935"/>
            <a:ext cx="5483461" cy="2311331"/>
            <a:chOff x="1070694" y="4337743"/>
            <a:chExt cx="5483461" cy="2311331"/>
          </a:xfrm>
        </p:grpSpPr>
        <p:sp>
          <p:nvSpPr>
            <p:cNvPr id="10" name="Oval 9"/>
            <p:cNvSpPr/>
            <p:nvPr/>
          </p:nvSpPr>
          <p:spPr>
            <a:xfrm>
              <a:off x="1070694" y="4337743"/>
              <a:ext cx="313898" cy="259308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bg-BG" dirty="0">
                  <a:solidFill>
                    <a:schemeClr val="accent1">
                      <a:lumMod val="75000"/>
                    </a:schemeClr>
                  </a:solidFill>
                </a:rPr>
                <a:t>1</a:t>
              </a:r>
            </a:p>
          </p:txBody>
        </p:sp>
        <p:sp>
          <p:nvSpPr>
            <p:cNvPr id="11" name="Oval 10"/>
            <p:cNvSpPr/>
            <p:nvPr/>
          </p:nvSpPr>
          <p:spPr>
            <a:xfrm>
              <a:off x="1504646" y="4337743"/>
              <a:ext cx="313898" cy="259308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bg-BG" dirty="0">
                  <a:solidFill>
                    <a:schemeClr val="accent1">
                      <a:lumMod val="75000"/>
                    </a:schemeClr>
                  </a:solidFill>
                </a:rPr>
                <a:t>2</a:t>
              </a:r>
            </a:p>
          </p:txBody>
        </p:sp>
        <p:sp>
          <p:nvSpPr>
            <p:cNvPr id="12" name="Oval 11"/>
            <p:cNvSpPr/>
            <p:nvPr/>
          </p:nvSpPr>
          <p:spPr>
            <a:xfrm>
              <a:off x="4096801" y="6389766"/>
              <a:ext cx="313898" cy="259308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bg-BG" dirty="0">
                  <a:solidFill>
                    <a:schemeClr val="accent1">
                      <a:lumMod val="75000"/>
                    </a:schemeClr>
                  </a:solidFill>
                </a:rPr>
                <a:t>3</a:t>
              </a:r>
            </a:p>
          </p:txBody>
        </p:sp>
        <p:sp>
          <p:nvSpPr>
            <p:cNvPr id="14" name="Left Brace 13"/>
            <p:cNvSpPr/>
            <p:nvPr/>
          </p:nvSpPr>
          <p:spPr>
            <a:xfrm rot="16200000">
              <a:off x="3700248" y="3494232"/>
              <a:ext cx="1107004" cy="4600811"/>
            </a:xfrm>
            <a:prstGeom prst="leftBrace">
              <a:avLst>
                <a:gd name="adj1" fmla="val 8333"/>
                <a:gd name="adj2" fmla="val 49703"/>
              </a:avLst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bg-BG" dirty="0"/>
            </a:p>
          </p:txBody>
        </p:sp>
      </p:grpSp>
    </p:spTree>
    <p:extLst>
      <p:ext uri="{BB962C8B-B14F-4D97-AF65-F5344CB8AC3E}">
        <p14:creationId xmlns:p14="http://schemas.microsoft.com/office/powerpoint/2010/main" val="180026234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36370" y="1913587"/>
            <a:ext cx="8541803" cy="2963214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  <a:defRPr/>
            </a:pPr>
            <a:endParaRPr lang="bg-BG" altLang="bg-BG" sz="2400" dirty="0"/>
          </a:p>
          <a:p>
            <a:pPr algn="just"/>
            <a:endParaRPr lang="bg-BG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1674E5-CD74-4638-A238-012A517DC16A}" type="slidenum">
              <a:rPr lang="bg-BG" smtClean="0"/>
              <a:t>17</a:t>
            </a:fld>
            <a:endParaRPr lang="bg-BG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6370" y="1314734"/>
            <a:ext cx="7820167" cy="3562067"/>
          </a:xfrm>
          <a:prstGeom prst="rect">
            <a:avLst/>
          </a:prstGeom>
        </p:spPr>
      </p:pic>
      <p:sp>
        <p:nvSpPr>
          <p:cNvPr id="7" name="Rectangle 5"/>
          <p:cNvSpPr/>
          <p:nvPr/>
        </p:nvSpPr>
        <p:spPr>
          <a:xfrm>
            <a:off x="3216113" y="777343"/>
            <a:ext cx="6460679" cy="53739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457200" indent="-457200" algn="just">
              <a:lnSpc>
                <a:spcPct val="150000"/>
              </a:lnSpc>
              <a:spcBef>
                <a:spcPts val="0"/>
              </a:spcBef>
              <a:buClr>
                <a:schemeClr val="accent1">
                  <a:lumMod val="75000"/>
                </a:schemeClr>
              </a:buClr>
              <a:buFont typeface="+mj-lt"/>
              <a:buAutoNum type="arabicPeriod" startAt="4"/>
            </a:pPr>
            <a:r>
              <a:rPr lang="bg-BG" sz="2200" dirty="0"/>
              <a:t>Попълва се стълба на базисната променлива.</a:t>
            </a:r>
          </a:p>
        </p:txBody>
      </p:sp>
    </p:spTree>
    <p:extLst>
      <p:ext uri="{BB962C8B-B14F-4D97-AF65-F5344CB8AC3E}">
        <p14:creationId xmlns:p14="http://schemas.microsoft.com/office/powerpoint/2010/main" val="184433541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36370" y="1913587"/>
            <a:ext cx="8541803" cy="2963214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  <a:defRPr/>
            </a:pPr>
            <a:endParaRPr lang="bg-BG" altLang="bg-BG" sz="2400" dirty="0"/>
          </a:p>
          <a:p>
            <a:pPr algn="just"/>
            <a:endParaRPr lang="bg-BG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1674E5-CD74-4638-A238-012A517DC16A}" type="slidenum">
              <a:rPr lang="bg-BG" smtClean="0"/>
              <a:t>18</a:t>
            </a:fld>
            <a:endParaRPr lang="bg-BG" dirty="0"/>
          </a:p>
        </p:txBody>
      </p:sp>
      <p:sp>
        <p:nvSpPr>
          <p:cNvPr id="5" name="Rectangle 4"/>
          <p:cNvSpPr/>
          <p:nvPr/>
        </p:nvSpPr>
        <p:spPr>
          <a:xfrm>
            <a:off x="477672" y="0"/>
            <a:ext cx="11181495" cy="5373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algn="ctr">
              <a:lnSpc>
                <a:spcPct val="150000"/>
              </a:lnSpc>
              <a:spcBef>
                <a:spcPts val="0"/>
              </a:spcBef>
              <a:buClr>
                <a:schemeClr val="accent1">
                  <a:lumMod val="75000"/>
                </a:schemeClr>
              </a:buClr>
              <a:buFont typeface="+mj-lt"/>
              <a:buAutoNum type="arabicPeriod" startAt="5"/>
            </a:pPr>
            <a:r>
              <a:rPr lang="bg-BG" sz="2200" dirty="0"/>
              <a:t>Попълват се останалите стойности по правилото на правоъгълника.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77786"/>
            <a:ext cx="12192000" cy="6280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786034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36370" y="1913587"/>
            <a:ext cx="8541803" cy="2963214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  <a:defRPr/>
            </a:pPr>
            <a:endParaRPr lang="bg-BG" altLang="bg-BG" sz="2400" dirty="0"/>
          </a:p>
          <a:p>
            <a:pPr algn="just"/>
            <a:endParaRPr lang="bg-BG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1674E5-CD74-4638-A238-012A517DC16A}" type="slidenum">
              <a:rPr lang="bg-BG" smtClean="0"/>
              <a:t>19</a:t>
            </a:fld>
            <a:endParaRPr lang="bg-BG" dirty="0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2000" cy="5171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algn="ctr">
              <a:lnSpc>
                <a:spcPct val="150000"/>
              </a:lnSpc>
              <a:spcBef>
                <a:spcPts val="0"/>
              </a:spcBef>
              <a:buClr>
                <a:schemeClr val="accent1">
                  <a:lumMod val="75000"/>
                </a:schemeClr>
              </a:buClr>
              <a:buFont typeface="+mj-lt"/>
              <a:buAutoNum type="arabicPeriod" startAt="6"/>
            </a:pPr>
            <a:r>
              <a:rPr lang="bg-BG" sz="2100" dirty="0"/>
              <a:t>Изчисляват се индексни оценки и се проверява дали е изпълнен критерия за оптималност.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AE074A5-96F6-D739-193C-D3A834768B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7558" y="551981"/>
            <a:ext cx="10834841" cy="63060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007803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1674E5-CD74-4638-A238-012A517DC16A}" type="slidenum">
              <a:rPr lang="bg-BG" smtClean="0"/>
              <a:t>20</a:t>
            </a:fld>
            <a:endParaRPr lang="bg-BG" dirty="0"/>
          </a:p>
        </p:txBody>
      </p:sp>
      <p:sp>
        <p:nvSpPr>
          <p:cNvPr id="7" name="AutoShape 2" descr="http://mitko.villaverde-bansko.com/Matematika/images/single-lesson-08-5_clip_image002_0034.png"/>
          <p:cNvSpPr>
            <a:spLocks noChangeAspect="1" noChangeArrowheads="1"/>
          </p:cNvSpPr>
          <p:nvPr/>
        </p:nvSpPr>
        <p:spPr bwMode="auto">
          <a:xfrm>
            <a:off x="3067050" y="-90488"/>
            <a:ext cx="333375" cy="2000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bg-BG" dirty="0"/>
          </a:p>
        </p:txBody>
      </p:sp>
      <p:sp>
        <p:nvSpPr>
          <p:cNvPr id="11" name="AutoShape 6" descr="http://mitko.villaverde-bansko.com/Matematika/images/single-lesson-08-5_clip_image002_0034.png"/>
          <p:cNvSpPr>
            <a:spLocks noChangeAspect="1" noChangeArrowheads="1"/>
          </p:cNvSpPr>
          <p:nvPr/>
        </p:nvSpPr>
        <p:spPr bwMode="auto">
          <a:xfrm>
            <a:off x="3371850" y="214312"/>
            <a:ext cx="333375" cy="2000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bg-BG" dirty="0"/>
          </a:p>
        </p:txBody>
      </p:sp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bg-BG" dirty="0"/>
          </a:p>
        </p:txBody>
      </p:sp>
      <p:sp>
        <p:nvSpPr>
          <p:cNvPr id="14" name="Rectangle 9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bg-BG" dirty="0"/>
          </a:p>
        </p:txBody>
      </p:sp>
      <p:sp>
        <p:nvSpPr>
          <p:cNvPr id="16" name="Rectangle 10"/>
          <p:cNvSpPr>
            <a:spLocks noChangeArrowheads="1"/>
          </p:cNvSpPr>
          <p:nvPr/>
        </p:nvSpPr>
        <p:spPr bwMode="auto">
          <a:xfrm>
            <a:off x="0" y="88582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bg-BG" altLang="bg-BG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.</a:t>
            </a:r>
            <a:endParaRPr kumimoji="0" lang="bg-BG" altLang="bg-BG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7" name="Rectangle 1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bg-BG" dirty="0"/>
          </a:p>
        </p:txBody>
      </p:sp>
      <p:sp>
        <p:nvSpPr>
          <p:cNvPr id="25" name="Rectangle 23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bg-BG" dirty="0"/>
          </a:p>
        </p:txBody>
      </p:sp>
      <p:sp>
        <p:nvSpPr>
          <p:cNvPr id="27" name="Rectangle 24"/>
          <p:cNvSpPr>
            <a:spLocks noChangeArrowheads="1"/>
          </p:cNvSpPr>
          <p:nvPr/>
        </p:nvSpPr>
        <p:spPr bwMode="auto">
          <a:xfrm>
            <a:off x="0" y="75247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bg-BG" altLang="bg-BG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. </a:t>
            </a:r>
            <a:endParaRPr kumimoji="0" lang="bg-BG" altLang="bg-BG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1178258" y="32201"/>
            <a:ext cx="1053152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536575" algn="just">
              <a:lnSpc>
                <a:spcPct val="150000"/>
              </a:lnSpc>
            </a:pPr>
            <a:r>
              <a:rPr lang="bg-BG" sz="2400" b="1" dirty="0"/>
              <a:t>Пример</a:t>
            </a:r>
            <a:r>
              <a:rPr lang="en-US" sz="2400" b="1" dirty="0"/>
              <a:t> </a:t>
            </a:r>
            <a:r>
              <a:rPr lang="bg-BG" sz="2400" b="1" dirty="0"/>
              <a:t>2:</a:t>
            </a:r>
            <a:r>
              <a:rPr lang="en-US" sz="2400" b="1" dirty="0"/>
              <a:t> </a:t>
            </a:r>
            <a:r>
              <a:rPr lang="bg-BG" sz="2400" dirty="0"/>
              <a:t>Да се реши чрез симплек метод модела: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97165" y="596448"/>
            <a:ext cx="6533536" cy="62615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979765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1674E5-CD74-4638-A238-012A517DC16A}" type="slidenum">
              <a:rPr lang="bg-BG" smtClean="0"/>
              <a:t>21</a:t>
            </a:fld>
            <a:endParaRPr lang="bg-BG" dirty="0"/>
          </a:p>
        </p:txBody>
      </p:sp>
      <p:sp>
        <p:nvSpPr>
          <p:cNvPr id="2" name="Rectangle 1"/>
          <p:cNvSpPr/>
          <p:nvPr/>
        </p:nvSpPr>
        <p:spPr>
          <a:xfrm>
            <a:off x="1903664" y="0"/>
            <a:ext cx="10020370" cy="11317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buClr>
                <a:schemeClr val="accent1">
                  <a:lumMod val="75000"/>
                </a:schemeClr>
              </a:buClr>
              <a:buSzPct val="85000"/>
              <a:defRPr/>
            </a:pPr>
            <a:endParaRPr lang="bg-BG" sz="2400" dirty="0"/>
          </a:p>
          <a:p>
            <a:pPr algn="just">
              <a:lnSpc>
                <a:spcPct val="150000"/>
              </a:lnSpc>
              <a:buClr>
                <a:schemeClr val="accent1">
                  <a:lumMod val="75000"/>
                </a:schemeClr>
              </a:buClr>
              <a:buSzPct val="85000"/>
              <a:defRPr/>
            </a:pPr>
            <a:endParaRPr lang="bg-BG" sz="2400" dirty="0"/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bg-BG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38362" y="0"/>
            <a:ext cx="1005363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813510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1674E5-CD74-4638-A238-012A517DC16A}" type="slidenum">
              <a:rPr lang="bg-BG" smtClean="0"/>
              <a:t>22</a:t>
            </a:fld>
            <a:endParaRPr lang="bg-BG" dirty="0"/>
          </a:p>
        </p:txBody>
      </p:sp>
      <p:grpSp>
        <p:nvGrpSpPr>
          <p:cNvPr id="5" name="Групиране 4"/>
          <p:cNvGrpSpPr/>
          <p:nvPr/>
        </p:nvGrpSpPr>
        <p:grpSpPr>
          <a:xfrm>
            <a:off x="0" y="0"/>
            <a:ext cx="12245465" cy="6858000"/>
            <a:chOff x="0" y="0"/>
            <a:chExt cx="12245465" cy="6858000"/>
          </a:xfrm>
        </p:grpSpPr>
        <p:pic>
          <p:nvPicPr>
            <p:cNvPr id="3" name="Picture 2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0" y="0"/>
              <a:ext cx="12245465" cy="6858000"/>
            </a:xfrm>
            <a:prstGeom prst="rect">
              <a:avLst/>
            </a:prstGeom>
          </p:spPr>
        </p:pic>
        <p:pic>
          <p:nvPicPr>
            <p:cNvPr id="2" name="Картина 1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973158" y="3429000"/>
              <a:ext cx="3467100" cy="62352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91797177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1674E5-CD74-4638-A238-012A517DC16A}" type="slidenum">
              <a:rPr lang="bg-BG" smtClean="0"/>
              <a:t>23</a:t>
            </a:fld>
            <a:endParaRPr lang="bg-BG" dirty="0"/>
          </a:p>
        </p:txBody>
      </p:sp>
      <p:cxnSp>
        <p:nvCxnSpPr>
          <p:cNvPr id="19" name="Straight Arrow Connector 18"/>
          <p:cNvCxnSpPr/>
          <p:nvPr/>
        </p:nvCxnSpPr>
        <p:spPr>
          <a:xfrm flipH="1">
            <a:off x="8151813" y="21753513"/>
            <a:ext cx="450850" cy="1190625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Oval 19"/>
          <p:cNvSpPr/>
          <p:nvPr/>
        </p:nvSpPr>
        <p:spPr>
          <a:xfrm>
            <a:off x="4070350" y="24992013"/>
            <a:ext cx="323850" cy="276225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bg-BG" sz="1100" dirty="0"/>
          </a:p>
        </p:txBody>
      </p:sp>
      <p:sp>
        <p:nvSpPr>
          <p:cNvPr id="21" name="Oval 20"/>
          <p:cNvSpPr/>
          <p:nvPr/>
        </p:nvSpPr>
        <p:spPr>
          <a:xfrm>
            <a:off x="5127625" y="25020588"/>
            <a:ext cx="400050" cy="276225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bg-BG" sz="1100" dirty="0"/>
          </a:p>
        </p:txBody>
      </p:sp>
      <p:cxnSp>
        <p:nvCxnSpPr>
          <p:cNvPr id="22" name="Straight Arrow Connector 21"/>
          <p:cNvCxnSpPr/>
          <p:nvPr/>
        </p:nvCxnSpPr>
        <p:spPr>
          <a:xfrm flipH="1" flipV="1">
            <a:off x="5956300" y="26868438"/>
            <a:ext cx="9525" cy="85725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/>
          <p:nvPr/>
        </p:nvCxnSpPr>
        <p:spPr>
          <a:xfrm flipH="1" flipV="1">
            <a:off x="6583363" y="26839863"/>
            <a:ext cx="9525" cy="85725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/>
          <p:nvPr/>
        </p:nvCxnSpPr>
        <p:spPr>
          <a:xfrm flipH="1" flipV="1">
            <a:off x="7256463" y="26868438"/>
            <a:ext cx="9525" cy="85725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/>
          <p:cNvCxnSpPr/>
          <p:nvPr/>
        </p:nvCxnSpPr>
        <p:spPr>
          <a:xfrm flipH="1" flipV="1">
            <a:off x="8142288" y="26868438"/>
            <a:ext cx="9525" cy="85725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/>
          <p:nvPr/>
        </p:nvCxnSpPr>
        <p:spPr>
          <a:xfrm flipH="1" flipV="1">
            <a:off x="8859838" y="26830338"/>
            <a:ext cx="9525" cy="85725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/>
          <p:nvPr/>
        </p:nvCxnSpPr>
        <p:spPr>
          <a:xfrm flipH="1" flipV="1">
            <a:off x="9628188" y="26839863"/>
            <a:ext cx="9525" cy="85725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/>
          <p:nvPr/>
        </p:nvCxnSpPr>
        <p:spPr>
          <a:xfrm flipH="1" flipV="1">
            <a:off x="10206038" y="26849388"/>
            <a:ext cx="9525" cy="85725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4"/>
              <p:cNvSpPr txBox="1"/>
              <p:nvPr/>
            </p:nvSpPr>
            <p:spPr>
              <a:xfrm>
                <a:off x="11077575" y="23394988"/>
                <a:ext cx="2014538" cy="330200"/>
              </a:xfrm>
              <a:prstGeom prst="rect">
                <a:avLst/>
              </a:prstGeom>
              <a:noFill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  <p:txBody>
              <a:bodyPr wrap="square" lIns="0" tIns="0" rIns="0" bIns="0" rtlCol="0" anchor="t">
                <a:spAutoFit/>
              </a:bodyPr>
              <a:lstStyle>
                <a:lvl1pPr marL="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14:m>
                  <m:oMath xmlns:m="http://schemas.openxmlformats.org/officeDocument/2006/math">
                    <m:r>
                      <a:rPr lang="en-US" sz="1400" b="0" i="1">
                        <a:latin typeface="Cambria Math" panose="02040503050406030204" pitchFamily="18" charset="0"/>
                      </a:rPr>
                      <m:t>𝑚𝑖𝑛</m:t>
                    </m:r>
                    <m:d>
                      <m:dPr>
                        <m:ctrlPr>
                          <a:rPr lang="bg-BG" sz="1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bg-BG" sz="14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bg-BG" sz="1400" b="0" i="1">
                                <a:latin typeface="Cambria Math" panose="02040503050406030204" pitchFamily="18" charset="0"/>
                              </a:rPr>
                              <m:t>430</m:t>
                            </m:r>
                          </m:num>
                          <m:den>
                            <m:r>
                              <a:rPr lang="en-US" sz="1400" b="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den>
                        </m:f>
                        <m:r>
                          <a:rPr lang="en-US" sz="1400" b="0" i="1"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ctrlPr>
                              <a:rPr lang="en-US" sz="1400" b="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bg-BG" sz="1400" b="0" i="1">
                                <a:latin typeface="Cambria Math" panose="02040503050406030204" pitchFamily="18" charset="0"/>
                              </a:rPr>
                              <m:t>460</m:t>
                            </m:r>
                          </m:num>
                          <m:den>
                            <m:r>
                              <a:rPr lang="bg-BG" sz="1400" b="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lang="en-US" sz="1400" dirty="0"/>
                  <a:t> e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400" b="0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fPr>
                      <m:num>
                        <m:r>
                          <a:rPr lang="bg-BG" sz="1400" b="0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460</m:t>
                        </m:r>
                      </m:num>
                      <m:den>
                        <m:r>
                          <a:rPr lang="bg-BG" sz="1400" b="0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sz="1400" dirty="0"/>
                  <a:t> </a:t>
                </a:r>
                <a:endParaRPr lang="bg-BG" sz="1400" dirty="0"/>
              </a:p>
            </p:txBody>
          </p:sp>
        </mc:Choice>
        <mc:Fallback xmlns="">
          <p:sp>
            <p:nvSpPr>
              <p:cNvPr id="29" name="TextBox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77575" y="23394988"/>
                <a:ext cx="2014538" cy="330200"/>
              </a:xfrm>
              <a:prstGeom prst="rect">
                <a:avLst/>
              </a:prstGeom>
              <a:blipFill>
                <a:blip r:embed="rId5"/>
                <a:stretch>
                  <a:fillRect l="-3021" b="-14815"/>
                </a:stretch>
              </a:blipFill>
            </p:spPr>
            <p:txBody>
              <a:bodyPr/>
              <a:lstStyle/>
              <a:p>
                <a:r>
                  <a:rPr lang="bg-BG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Picture 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32000" y="25086"/>
            <a:ext cx="10159999" cy="48713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266122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50452" y="0"/>
            <a:ext cx="7641548" cy="322646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18" y="3226466"/>
            <a:ext cx="6731623" cy="3631534"/>
          </a:xfrm>
          <a:prstGeom prst="rect">
            <a:avLst/>
          </a:prstGeom>
        </p:spPr>
      </p:pic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36370" y="1913587"/>
            <a:ext cx="8541803" cy="2963214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  <a:defRPr/>
            </a:pPr>
            <a:endParaRPr lang="bg-BG" altLang="bg-BG" sz="2400" dirty="0"/>
          </a:p>
          <a:p>
            <a:pPr algn="just"/>
            <a:endParaRPr lang="bg-BG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1674E5-CD74-4638-A238-012A517DC16A}" type="slidenum">
              <a:rPr lang="bg-BG" smtClean="0"/>
              <a:t>24</a:t>
            </a:fld>
            <a:endParaRPr lang="bg-BG" dirty="0"/>
          </a:p>
        </p:txBody>
      </p:sp>
      <p:sp>
        <p:nvSpPr>
          <p:cNvPr id="6" name="Rectangle 5"/>
          <p:cNvSpPr/>
          <p:nvPr/>
        </p:nvSpPr>
        <p:spPr>
          <a:xfrm>
            <a:off x="7040685" y="3168641"/>
            <a:ext cx="5075332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spcBef>
                <a:spcPts val="0"/>
              </a:spcBef>
              <a:buClr>
                <a:schemeClr val="accent1">
                  <a:lumMod val="75000"/>
                </a:schemeClr>
              </a:buClr>
              <a:buFont typeface="+mj-lt"/>
              <a:buAutoNum type="arabicPeriod"/>
            </a:pPr>
            <a:r>
              <a:rPr lang="bg-BG" sz="2400" dirty="0"/>
              <a:t>Записва се новата базисна променлива.</a:t>
            </a:r>
          </a:p>
          <a:p>
            <a:pPr marL="342900" indent="-342900" algn="just">
              <a:lnSpc>
                <a:spcPct val="150000"/>
              </a:lnSpc>
              <a:spcBef>
                <a:spcPts val="0"/>
              </a:spcBef>
              <a:buClr>
                <a:schemeClr val="accent1">
                  <a:lumMod val="75000"/>
                </a:schemeClr>
              </a:buClr>
              <a:buFont typeface="+mj-lt"/>
              <a:buAutoNum type="arabicPeriod"/>
            </a:pPr>
            <a:r>
              <a:rPr lang="bg-BG" sz="2400" dirty="0"/>
              <a:t>Записва се целевия коефициент на базисната променлива.</a:t>
            </a:r>
          </a:p>
          <a:p>
            <a:pPr marL="342900" indent="-342900" algn="just">
              <a:lnSpc>
                <a:spcPct val="150000"/>
              </a:lnSpc>
              <a:spcBef>
                <a:spcPts val="0"/>
              </a:spcBef>
              <a:buClr>
                <a:schemeClr val="accent1">
                  <a:lumMod val="75000"/>
                </a:schemeClr>
              </a:buClr>
              <a:buFont typeface="+mj-lt"/>
              <a:buAutoNum type="arabicPeriod"/>
            </a:pPr>
            <a:r>
              <a:rPr lang="bg-BG" sz="2400" dirty="0"/>
              <a:t>Елементите от ключовия ред се делят на ключовото число.</a:t>
            </a:r>
          </a:p>
        </p:txBody>
      </p:sp>
      <p:sp>
        <p:nvSpPr>
          <p:cNvPr id="8" name="Oval 7"/>
          <p:cNvSpPr/>
          <p:nvPr/>
        </p:nvSpPr>
        <p:spPr>
          <a:xfrm>
            <a:off x="8670070" y="667990"/>
            <a:ext cx="313898" cy="25930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 dirty="0"/>
          </a:p>
        </p:txBody>
      </p:sp>
      <p:sp>
        <p:nvSpPr>
          <p:cNvPr id="9" name="Oval 8"/>
          <p:cNvSpPr/>
          <p:nvPr/>
        </p:nvSpPr>
        <p:spPr>
          <a:xfrm>
            <a:off x="5632637" y="1644321"/>
            <a:ext cx="313898" cy="25930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 dirty="0"/>
          </a:p>
        </p:txBody>
      </p:sp>
      <p:sp>
        <p:nvSpPr>
          <p:cNvPr id="10" name="Oval 9"/>
          <p:cNvSpPr/>
          <p:nvPr/>
        </p:nvSpPr>
        <p:spPr>
          <a:xfrm>
            <a:off x="866148" y="4123728"/>
            <a:ext cx="313898" cy="25930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bg-BG" dirty="0">
                <a:solidFill>
                  <a:schemeClr val="accent1">
                    <a:lumMod val="75000"/>
                  </a:schemeClr>
                </a:solidFill>
              </a:rPr>
              <a:t>1</a:t>
            </a:r>
          </a:p>
        </p:txBody>
      </p:sp>
      <p:sp>
        <p:nvSpPr>
          <p:cNvPr id="11" name="Oval 10"/>
          <p:cNvSpPr/>
          <p:nvPr/>
        </p:nvSpPr>
        <p:spPr>
          <a:xfrm>
            <a:off x="1389327" y="4123728"/>
            <a:ext cx="313898" cy="25930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bg-BG" dirty="0">
                <a:solidFill>
                  <a:schemeClr val="accent1">
                    <a:lumMod val="75000"/>
                  </a:schemeClr>
                </a:solidFill>
              </a:rPr>
              <a:t>2</a:t>
            </a:r>
          </a:p>
        </p:txBody>
      </p:sp>
      <p:sp>
        <p:nvSpPr>
          <p:cNvPr id="12" name="Oval 11"/>
          <p:cNvSpPr/>
          <p:nvPr/>
        </p:nvSpPr>
        <p:spPr>
          <a:xfrm>
            <a:off x="4087940" y="6564885"/>
            <a:ext cx="313898" cy="25930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bg-BG" dirty="0">
                <a:solidFill>
                  <a:schemeClr val="accent1">
                    <a:lumMod val="75000"/>
                  </a:schemeClr>
                </a:solidFill>
              </a:rPr>
              <a:t>3</a:t>
            </a:r>
          </a:p>
        </p:txBody>
      </p:sp>
      <p:sp>
        <p:nvSpPr>
          <p:cNvPr id="14" name="Left Brace 13"/>
          <p:cNvSpPr/>
          <p:nvPr/>
        </p:nvSpPr>
        <p:spPr>
          <a:xfrm rot="16200000">
            <a:off x="3358759" y="3282559"/>
            <a:ext cx="1654278" cy="4842764"/>
          </a:xfrm>
          <a:prstGeom prst="leftBrace">
            <a:avLst>
              <a:gd name="adj1" fmla="val 8333"/>
              <a:gd name="adj2" fmla="val 50929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349907374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36370" y="1913587"/>
            <a:ext cx="8541803" cy="2963214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  <a:defRPr/>
            </a:pPr>
            <a:endParaRPr lang="bg-BG" altLang="bg-BG" sz="2400" dirty="0"/>
          </a:p>
          <a:p>
            <a:pPr algn="just"/>
            <a:endParaRPr lang="bg-BG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1674E5-CD74-4638-A238-012A517DC16A}" type="slidenum">
              <a:rPr lang="bg-BG" smtClean="0"/>
              <a:t>25</a:t>
            </a:fld>
            <a:endParaRPr lang="bg-BG" dirty="0"/>
          </a:p>
        </p:txBody>
      </p:sp>
      <p:sp>
        <p:nvSpPr>
          <p:cNvPr id="6" name="Rectangle 5"/>
          <p:cNvSpPr/>
          <p:nvPr/>
        </p:nvSpPr>
        <p:spPr>
          <a:xfrm>
            <a:off x="3002144" y="562067"/>
            <a:ext cx="6460679" cy="53739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457200" indent="-457200" algn="just">
              <a:lnSpc>
                <a:spcPct val="150000"/>
              </a:lnSpc>
              <a:spcBef>
                <a:spcPts val="0"/>
              </a:spcBef>
              <a:buClr>
                <a:schemeClr val="accent1">
                  <a:lumMod val="75000"/>
                </a:schemeClr>
              </a:buClr>
              <a:buFont typeface="+mj-lt"/>
              <a:buAutoNum type="arabicPeriod" startAt="4"/>
            </a:pPr>
            <a:r>
              <a:rPr lang="bg-BG" sz="2200" dirty="0"/>
              <a:t>Попълва се стълба на базисната променлива.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2611" y="1327355"/>
            <a:ext cx="9229320" cy="35494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139587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36370" y="1913587"/>
            <a:ext cx="8541803" cy="2963214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  <a:defRPr/>
            </a:pPr>
            <a:endParaRPr lang="bg-BG" altLang="bg-BG" sz="2400" dirty="0"/>
          </a:p>
          <a:p>
            <a:pPr algn="just"/>
            <a:endParaRPr lang="bg-BG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1674E5-CD74-4638-A238-012A517DC16A}" type="slidenum">
              <a:rPr lang="bg-BG" smtClean="0"/>
              <a:t>26</a:t>
            </a:fld>
            <a:endParaRPr lang="bg-BG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46331"/>
            <a:ext cx="12192000" cy="6211669"/>
          </a:xfrm>
          <a:prstGeom prst="rect">
            <a:avLst/>
          </a:prstGeom>
        </p:spPr>
      </p:pic>
      <p:sp>
        <p:nvSpPr>
          <p:cNvPr id="8" name="Rectangle 4"/>
          <p:cNvSpPr/>
          <p:nvPr/>
        </p:nvSpPr>
        <p:spPr>
          <a:xfrm>
            <a:off x="477672" y="0"/>
            <a:ext cx="11181495" cy="5373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algn="ctr">
              <a:lnSpc>
                <a:spcPct val="150000"/>
              </a:lnSpc>
              <a:spcBef>
                <a:spcPts val="0"/>
              </a:spcBef>
              <a:buClr>
                <a:schemeClr val="accent1">
                  <a:lumMod val="75000"/>
                </a:schemeClr>
              </a:buClr>
              <a:buFont typeface="+mj-lt"/>
              <a:buAutoNum type="arabicPeriod" startAt="5"/>
            </a:pPr>
            <a:r>
              <a:rPr lang="bg-BG" sz="2200" dirty="0"/>
              <a:t>Попълват се останалите стойности по правилото на правоъгълника.</a:t>
            </a:r>
          </a:p>
        </p:txBody>
      </p:sp>
    </p:spTree>
    <p:extLst>
      <p:ext uri="{BB962C8B-B14F-4D97-AF65-F5344CB8AC3E}">
        <p14:creationId xmlns:p14="http://schemas.microsoft.com/office/powerpoint/2010/main" val="160045149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36370" y="1913587"/>
            <a:ext cx="8541803" cy="2963214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  <a:defRPr/>
            </a:pPr>
            <a:endParaRPr lang="bg-BG" altLang="bg-BG" sz="2400" dirty="0"/>
          </a:p>
          <a:p>
            <a:pPr algn="just"/>
            <a:endParaRPr lang="bg-BG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1674E5-CD74-4638-A238-012A517DC16A}" type="slidenum">
              <a:rPr lang="bg-BG" smtClean="0"/>
              <a:t>27</a:t>
            </a:fld>
            <a:endParaRPr lang="bg-BG" dirty="0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2000" cy="5171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algn="ctr">
              <a:lnSpc>
                <a:spcPct val="150000"/>
              </a:lnSpc>
              <a:buClr>
                <a:schemeClr val="accent1">
                  <a:lumMod val="75000"/>
                </a:schemeClr>
              </a:buClr>
              <a:buFont typeface="+mj-lt"/>
              <a:buAutoNum type="arabicPeriod" startAt="6"/>
            </a:pPr>
            <a:r>
              <a:rPr lang="bg-BG" sz="2100" dirty="0"/>
              <a:t>Изчисляват се индексни оценки и се проверява дали е изпълнен критерия за оптималност.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37390"/>
            <a:ext cx="12192000" cy="63206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070504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1674E5-CD74-4638-A238-012A517DC16A}" type="slidenum">
              <a:rPr lang="bg-BG" smtClean="0"/>
              <a:t>28</a:t>
            </a:fld>
            <a:endParaRPr lang="bg-BG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2000" y="611390"/>
            <a:ext cx="10160000" cy="4270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382986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58697" y="33002"/>
            <a:ext cx="7072068" cy="3272608"/>
          </a:xfrm>
          <a:prstGeom prst="rect">
            <a:avLst/>
          </a:prstGeom>
        </p:spPr>
      </p:pic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36370" y="1913587"/>
            <a:ext cx="8541803" cy="2963214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  <a:defRPr/>
            </a:pPr>
            <a:endParaRPr lang="bg-BG" altLang="bg-BG" sz="2400" dirty="0"/>
          </a:p>
          <a:p>
            <a:pPr algn="just"/>
            <a:endParaRPr lang="bg-BG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1674E5-CD74-4638-A238-012A517DC16A}" type="slidenum">
              <a:rPr lang="bg-BG" smtClean="0"/>
              <a:t>29</a:t>
            </a:fld>
            <a:endParaRPr lang="bg-BG" dirty="0"/>
          </a:p>
        </p:txBody>
      </p:sp>
      <p:sp>
        <p:nvSpPr>
          <p:cNvPr id="8" name="Oval 7"/>
          <p:cNvSpPr/>
          <p:nvPr/>
        </p:nvSpPr>
        <p:spPr>
          <a:xfrm>
            <a:off x="9849941" y="684491"/>
            <a:ext cx="313898" cy="25930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 dirty="0"/>
          </a:p>
        </p:txBody>
      </p:sp>
      <p:sp>
        <p:nvSpPr>
          <p:cNvPr id="9" name="Oval 8"/>
          <p:cNvSpPr/>
          <p:nvPr/>
        </p:nvSpPr>
        <p:spPr>
          <a:xfrm>
            <a:off x="6089837" y="2381718"/>
            <a:ext cx="313898" cy="25930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 dirty="0"/>
          </a:p>
        </p:txBody>
      </p:sp>
      <p:sp>
        <p:nvSpPr>
          <p:cNvPr id="10" name="Oval 9"/>
          <p:cNvSpPr/>
          <p:nvPr/>
        </p:nvSpPr>
        <p:spPr>
          <a:xfrm>
            <a:off x="865678" y="5007545"/>
            <a:ext cx="313898" cy="25930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bg-BG" dirty="0">
                <a:solidFill>
                  <a:schemeClr val="accent1">
                    <a:lumMod val="75000"/>
                  </a:schemeClr>
                </a:solidFill>
              </a:rPr>
              <a:t>1</a:t>
            </a:r>
          </a:p>
        </p:txBody>
      </p:sp>
      <p:sp>
        <p:nvSpPr>
          <p:cNvPr id="11" name="Oval 10"/>
          <p:cNvSpPr/>
          <p:nvPr/>
        </p:nvSpPr>
        <p:spPr>
          <a:xfrm>
            <a:off x="1569779" y="4978365"/>
            <a:ext cx="313898" cy="25930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bg-BG" dirty="0">
                <a:solidFill>
                  <a:schemeClr val="accent1">
                    <a:lumMod val="75000"/>
                  </a:schemeClr>
                </a:solidFill>
              </a:rPr>
              <a:t>2</a:t>
            </a:r>
          </a:p>
        </p:txBody>
      </p:sp>
      <p:sp>
        <p:nvSpPr>
          <p:cNvPr id="12" name="Oval 11"/>
          <p:cNvSpPr/>
          <p:nvPr/>
        </p:nvSpPr>
        <p:spPr>
          <a:xfrm>
            <a:off x="4744799" y="6512822"/>
            <a:ext cx="313898" cy="25930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bg-BG" dirty="0">
                <a:solidFill>
                  <a:schemeClr val="accent1">
                    <a:lumMod val="75000"/>
                  </a:schemeClr>
                </a:solidFill>
              </a:rPr>
              <a:t>3</a:t>
            </a:r>
          </a:p>
        </p:txBody>
      </p:sp>
      <p:sp>
        <p:nvSpPr>
          <p:cNvPr id="14" name="Left Brace 13"/>
          <p:cNvSpPr/>
          <p:nvPr/>
        </p:nvSpPr>
        <p:spPr>
          <a:xfrm rot="16200000">
            <a:off x="4264705" y="3025836"/>
            <a:ext cx="1161453" cy="5765447"/>
          </a:xfrm>
          <a:prstGeom prst="leftBrace">
            <a:avLst>
              <a:gd name="adj1" fmla="val 8333"/>
              <a:gd name="adj2" fmla="val 50929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bg-BG" dirty="0"/>
          </a:p>
        </p:txBody>
      </p:sp>
      <p:grpSp>
        <p:nvGrpSpPr>
          <p:cNvPr id="18" name="Group 17"/>
          <p:cNvGrpSpPr/>
          <p:nvPr/>
        </p:nvGrpSpPr>
        <p:grpSpPr>
          <a:xfrm>
            <a:off x="0" y="3305610"/>
            <a:ext cx="7949381" cy="3552390"/>
            <a:chOff x="0" y="3305610"/>
            <a:chExt cx="7949381" cy="3552390"/>
          </a:xfrm>
        </p:grpSpPr>
        <p:pic>
          <p:nvPicPr>
            <p:cNvPr id="2" name="Picture 1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0" y="3305610"/>
              <a:ext cx="7949381" cy="3552390"/>
            </a:xfrm>
            <a:prstGeom prst="rect">
              <a:avLst/>
            </a:prstGeom>
          </p:spPr>
        </p:pic>
        <p:cxnSp>
          <p:nvCxnSpPr>
            <p:cNvPr id="16" name="Straight Connector 15"/>
            <p:cNvCxnSpPr/>
            <p:nvPr/>
          </p:nvCxnSpPr>
          <p:spPr>
            <a:xfrm>
              <a:off x="2802193" y="4978365"/>
              <a:ext cx="0" cy="493287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25766261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1674E5-CD74-4638-A238-012A517DC16A}" type="slidenum">
              <a:rPr lang="bg-BG" smtClean="0"/>
              <a:t>30</a:t>
            </a:fld>
            <a:endParaRPr lang="bg-BG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736" y="855406"/>
            <a:ext cx="6710515" cy="3118192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737" y="3875395"/>
            <a:ext cx="6592529" cy="298260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86844" y="524182"/>
            <a:ext cx="5305155" cy="2160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937056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1674E5-CD74-4638-A238-012A517DC16A}" type="slidenum">
              <a:rPr lang="bg-BG" smtClean="0"/>
              <a:t>31</a:t>
            </a:fld>
            <a:endParaRPr lang="bg-BG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2000" y="-1"/>
            <a:ext cx="8336116" cy="3787887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" y="3908014"/>
            <a:ext cx="3598606" cy="2947197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98607" y="4866968"/>
            <a:ext cx="3347883" cy="1988242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46490" y="4070555"/>
            <a:ext cx="5245510" cy="27926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564145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Wood Type">
  <a:themeElements>
    <a:clrScheme name="Wood Type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Wood Type">
      <a:majorFont>
        <a:latin typeface="Rockwell Condensed" panose="02060603050405020104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 panose="02060603020205020403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Wood Type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142A1326-48AB-42A9-8428-CB14AA30176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Документ" ma:contentTypeID="0x010100452FE0A421B3E24B9DDFC266E10EBE04" ma:contentTypeVersion="3" ma:contentTypeDescription="Създаване на нов документ" ma:contentTypeScope="" ma:versionID="f38fa733cd6769631e002a4dea7fc2ba">
  <xsd:schema xmlns:xsd="http://www.w3.org/2001/XMLSchema" xmlns:xs="http://www.w3.org/2001/XMLSchema" xmlns:p="http://schemas.microsoft.com/office/2006/metadata/properties" xmlns:ns2="410f8adb-773f-4384-aa9e-8e184e0fd10d" targetNamespace="http://schemas.microsoft.com/office/2006/metadata/properties" ma:root="true" ma:fieldsID="91cf59770634e4cf72f9d8d766704a06" ns2:_="">
    <xsd:import namespace="410f8adb-773f-4384-aa9e-8e184e0fd10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10f8adb-773f-4384-aa9e-8e184e0fd10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Тип съдържание"/>
        <xsd:element ref="dc:title" minOccurs="0" maxOccurs="1" ma:index="4" ma:displayName="Заглавие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615E89F3-2413-4CB9-A787-37D1DD82FAA3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9CF377E0-F16C-4C64-B8D6-A6B0EECA846E}"/>
</file>

<file path=customXml/itemProps3.xml><?xml version="1.0" encoding="utf-8"?>
<ds:datastoreItem xmlns:ds="http://schemas.openxmlformats.org/officeDocument/2006/customXml" ds:itemID="{AB721830-56BC-4729-AFCE-CDAFD1DA237D}">
  <ds:schemaRefs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Wood Type</Template>
  <TotalTime>8473</TotalTime>
  <Words>843</Words>
  <Application>Microsoft Office PowerPoint</Application>
  <PresentationFormat>Широк екран</PresentationFormat>
  <Paragraphs>135</Paragraphs>
  <Slides>31</Slides>
  <Notes>18</Notes>
  <HiddenSlides>0</HiddenSlides>
  <MMClips>0</MMClips>
  <ScaleCrop>false</ScaleCrop>
  <HeadingPairs>
    <vt:vector size="6" baseType="variant">
      <vt:variant>
        <vt:lpstr>Използвани шрифтове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Заглавия на слайдовете</vt:lpstr>
      </vt:variant>
      <vt:variant>
        <vt:i4>31</vt:i4>
      </vt:variant>
    </vt:vector>
  </HeadingPairs>
  <TitlesOfParts>
    <vt:vector size="39" baseType="lpstr">
      <vt:lpstr>Arial</vt:lpstr>
      <vt:lpstr>Calibri</vt:lpstr>
      <vt:lpstr>Cambria</vt:lpstr>
      <vt:lpstr>Cambria Math</vt:lpstr>
      <vt:lpstr>Rockwell</vt:lpstr>
      <vt:lpstr>Rockwell Condensed</vt:lpstr>
      <vt:lpstr>Wingdings</vt:lpstr>
      <vt:lpstr>Wood Type</vt:lpstr>
      <vt:lpstr>Симплекс метод с изкуствен базис (М-метод)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</vt:vector>
  </TitlesOfParts>
  <Company>Organization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СИСТЕМЕН АНАЛИЗ</dc:title>
  <dc:creator>Windows User</dc:creator>
  <cp:lastModifiedBy>Maya</cp:lastModifiedBy>
  <cp:revision>288</cp:revision>
  <cp:lastPrinted>2022-10-19T07:33:47Z</cp:lastPrinted>
  <dcterms:created xsi:type="dcterms:W3CDTF">2022-08-03T05:13:19Z</dcterms:created>
  <dcterms:modified xsi:type="dcterms:W3CDTF">2023-11-03T08:09:57Z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0x010100452FE0A421B3E24B9DDFC266E10EBE04</vt:lpwstr>
  </property>
</Properties>
</file>
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60" r:id="rId4"/>
  </p:sldMasterIdLst>
  <p:notesMasterIdLst>
    <p:notesMasterId r:id="rId38"/>
  </p:notesMasterIdLst>
  <p:handoutMasterIdLst>
    <p:handoutMasterId r:id="rId39"/>
  </p:handoutMasterIdLst>
  <p:sldIdLst>
    <p:sldId id="256" r:id="rId5"/>
    <p:sldId id="258" r:id="rId6"/>
    <p:sldId id="259" r:id="rId7"/>
    <p:sldId id="311" r:id="rId8"/>
    <p:sldId id="261" r:id="rId9"/>
    <p:sldId id="263" r:id="rId10"/>
    <p:sldId id="264" r:id="rId11"/>
    <p:sldId id="265" r:id="rId12"/>
    <p:sldId id="266" r:id="rId13"/>
    <p:sldId id="267" r:id="rId14"/>
    <p:sldId id="268" r:id="rId15"/>
    <p:sldId id="296" r:id="rId16"/>
    <p:sldId id="348" r:id="rId17"/>
    <p:sldId id="349" r:id="rId18"/>
    <p:sldId id="350" r:id="rId19"/>
    <p:sldId id="351" r:id="rId20"/>
    <p:sldId id="352" r:id="rId21"/>
    <p:sldId id="353" r:id="rId22"/>
    <p:sldId id="354" r:id="rId23"/>
    <p:sldId id="355" r:id="rId24"/>
    <p:sldId id="356" r:id="rId25"/>
    <p:sldId id="357" r:id="rId26"/>
    <p:sldId id="358" r:id="rId27"/>
    <p:sldId id="360" r:id="rId28"/>
    <p:sldId id="361" r:id="rId29"/>
    <p:sldId id="362" r:id="rId30"/>
    <p:sldId id="363" r:id="rId31"/>
    <p:sldId id="364" r:id="rId32"/>
    <p:sldId id="365" r:id="rId33"/>
    <p:sldId id="366" r:id="rId34"/>
    <p:sldId id="367" r:id="rId35"/>
    <p:sldId id="368" r:id="rId36"/>
    <p:sldId id="369" r:id="rId37"/>
  </p:sldIdLst>
  <p:sldSz cx="12192000" cy="6858000"/>
  <p:notesSz cx="6761163" cy="9942513"/>
  <p:defaultText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75430" autoAdjust="0"/>
  </p:normalViewPr>
  <p:slideViewPr>
    <p:cSldViewPr snapToGrid="0">
      <p:cViewPr varScale="1">
        <p:scale>
          <a:sx n="59" d="100"/>
          <a:sy n="59" d="100"/>
        </p:scale>
        <p:origin x="34" y="67"/>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3234"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29837" cy="498853"/>
          </a:xfrm>
          <a:prstGeom prst="rect">
            <a:avLst/>
          </a:prstGeom>
        </p:spPr>
        <p:txBody>
          <a:bodyPr vert="horz" lIns="92930" tIns="46465" rIns="92930" bIns="46465" rtlCol="0"/>
          <a:lstStyle>
            <a:lvl1pPr algn="l">
              <a:defRPr sz="1200"/>
            </a:lvl1pPr>
          </a:lstStyle>
          <a:p>
            <a:endParaRPr lang="bg-BG" dirty="0"/>
          </a:p>
        </p:txBody>
      </p:sp>
      <p:sp>
        <p:nvSpPr>
          <p:cNvPr id="3" name="Date Placeholder 2"/>
          <p:cNvSpPr>
            <a:spLocks noGrp="1"/>
          </p:cNvSpPr>
          <p:nvPr>
            <p:ph type="dt" sz="quarter" idx="1"/>
          </p:nvPr>
        </p:nvSpPr>
        <p:spPr>
          <a:xfrm>
            <a:off x="3829762" y="0"/>
            <a:ext cx="2929837" cy="498853"/>
          </a:xfrm>
          <a:prstGeom prst="rect">
            <a:avLst/>
          </a:prstGeom>
        </p:spPr>
        <p:txBody>
          <a:bodyPr vert="horz" lIns="92930" tIns="46465" rIns="92930" bIns="46465" rtlCol="0"/>
          <a:lstStyle>
            <a:lvl1pPr algn="r">
              <a:defRPr sz="1200"/>
            </a:lvl1pPr>
          </a:lstStyle>
          <a:p>
            <a:fld id="{62DAF501-497E-4319-B484-C5A85BB3EFD3}" type="datetimeFigureOut">
              <a:rPr lang="bg-BG" smtClean="0"/>
              <a:t>2.1.2024 г.</a:t>
            </a:fld>
            <a:endParaRPr lang="bg-BG" dirty="0"/>
          </a:p>
        </p:txBody>
      </p:sp>
      <p:sp>
        <p:nvSpPr>
          <p:cNvPr id="4" name="Footer Placeholder 3"/>
          <p:cNvSpPr>
            <a:spLocks noGrp="1"/>
          </p:cNvSpPr>
          <p:nvPr>
            <p:ph type="ftr" sz="quarter" idx="2"/>
          </p:nvPr>
        </p:nvSpPr>
        <p:spPr>
          <a:xfrm>
            <a:off x="1" y="9443663"/>
            <a:ext cx="2929837" cy="498852"/>
          </a:xfrm>
          <a:prstGeom prst="rect">
            <a:avLst/>
          </a:prstGeom>
        </p:spPr>
        <p:txBody>
          <a:bodyPr vert="horz" lIns="92930" tIns="46465" rIns="92930" bIns="46465" rtlCol="0" anchor="b"/>
          <a:lstStyle>
            <a:lvl1pPr algn="l">
              <a:defRPr sz="1200"/>
            </a:lvl1pPr>
          </a:lstStyle>
          <a:p>
            <a:endParaRPr lang="bg-BG" dirty="0"/>
          </a:p>
        </p:txBody>
      </p:sp>
      <p:sp>
        <p:nvSpPr>
          <p:cNvPr id="5" name="Slide Number Placeholder 4"/>
          <p:cNvSpPr>
            <a:spLocks noGrp="1"/>
          </p:cNvSpPr>
          <p:nvPr>
            <p:ph type="sldNum" sz="quarter" idx="3"/>
          </p:nvPr>
        </p:nvSpPr>
        <p:spPr>
          <a:xfrm>
            <a:off x="3829762" y="9443663"/>
            <a:ext cx="2929837" cy="498852"/>
          </a:xfrm>
          <a:prstGeom prst="rect">
            <a:avLst/>
          </a:prstGeom>
        </p:spPr>
        <p:txBody>
          <a:bodyPr vert="horz" lIns="92930" tIns="46465" rIns="92930" bIns="46465" rtlCol="0" anchor="b"/>
          <a:lstStyle>
            <a:lvl1pPr algn="r">
              <a:defRPr sz="1200"/>
            </a:lvl1pPr>
          </a:lstStyle>
          <a:p>
            <a:fld id="{335249C7-B5B2-4541-A187-B12F42083CB5}" type="slidenum">
              <a:rPr lang="bg-BG" smtClean="0"/>
              <a:t>‹#›</a:t>
            </a:fld>
            <a:endParaRPr lang="bg-BG" dirty="0"/>
          </a:p>
        </p:txBody>
      </p:sp>
    </p:spTree>
    <p:extLst>
      <p:ext uri="{BB962C8B-B14F-4D97-AF65-F5344CB8AC3E}">
        <p14:creationId xmlns:p14="http://schemas.microsoft.com/office/powerpoint/2010/main" val="38732489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29837" cy="498853"/>
          </a:xfrm>
          <a:prstGeom prst="rect">
            <a:avLst/>
          </a:prstGeom>
        </p:spPr>
        <p:txBody>
          <a:bodyPr vert="horz" lIns="92930" tIns="46465" rIns="92930" bIns="46465" rtlCol="0"/>
          <a:lstStyle>
            <a:lvl1pPr algn="l">
              <a:defRPr sz="1200"/>
            </a:lvl1pPr>
          </a:lstStyle>
          <a:p>
            <a:endParaRPr lang="bg-BG" dirty="0"/>
          </a:p>
        </p:txBody>
      </p:sp>
      <p:sp>
        <p:nvSpPr>
          <p:cNvPr id="3" name="Date Placeholder 2"/>
          <p:cNvSpPr>
            <a:spLocks noGrp="1"/>
          </p:cNvSpPr>
          <p:nvPr>
            <p:ph type="dt" idx="1"/>
          </p:nvPr>
        </p:nvSpPr>
        <p:spPr>
          <a:xfrm>
            <a:off x="3829762" y="0"/>
            <a:ext cx="2929837" cy="498853"/>
          </a:xfrm>
          <a:prstGeom prst="rect">
            <a:avLst/>
          </a:prstGeom>
        </p:spPr>
        <p:txBody>
          <a:bodyPr vert="horz" lIns="92930" tIns="46465" rIns="92930" bIns="46465" rtlCol="0"/>
          <a:lstStyle>
            <a:lvl1pPr algn="r">
              <a:defRPr sz="1200"/>
            </a:lvl1pPr>
          </a:lstStyle>
          <a:p>
            <a:fld id="{72A934B3-15CF-49D7-9C90-2FBDF446DA56}" type="datetimeFigureOut">
              <a:rPr lang="bg-BG" smtClean="0"/>
              <a:t>2.1.2024 г.</a:t>
            </a:fld>
            <a:endParaRPr lang="bg-BG" dirty="0"/>
          </a:p>
        </p:txBody>
      </p:sp>
      <p:sp>
        <p:nvSpPr>
          <p:cNvPr id="4" name="Slide Image Placeholder 3"/>
          <p:cNvSpPr>
            <a:spLocks noGrp="1" noRot="1" noChangeAspect="1"/>
          </p:cNvSpPr>
          <p:nvPr>
            <p:ph type="sldImg" idx="2"/>
          </p:nvPr>
        </p:nvSpPr>
        <p:spPr>
          <a:xfrm>
            <a:off x="398463" y="1243013"/>
            <a:ext cx="5964237" cy="3355975"/>
          </a:xfrm>
          <a:prstGeom prst="rect">
            <a:avLst/>
          </a:prstGeom>
          <a:noFill/>
          <a:ln w="12700">
            <a:solidFill>
              <a:prstClr val="black"/>
            </a:solidFill>
          </a:ln>
        </p:spPr>
        <p:txBody>
          <a:bodyPr vert="horz" lIns="92930" tIns="46465" rIns="92930" bIns="46465" rtlCol="0" anchor="ctr"/>
          <a:lstStyle/>
          <a:p>
            <a:endParaRPr lang="bg-BG" dirty="0"/>
          </a:p>
        </p:txBody>
      </p:sp>
      <p:sp>
        <p:nvSpPr>
          <p:cNvPr id="5" name="Notes Placeholder 4"/>
          <p:cNvSpPr>
            <a:spLocks noGrp="1"/>
          </p:cNvSpPr>
          <p:nvPr>
            <p:ph type="body" sz="quarter" idx="3"/>
          </p:nvPr>
        </p:nvSpPr>
        <p:spPr>
          <a:xfrm>
            <a:off x="676117" y="4784834"/>
            <a:ext cx="5408930" cy="3914864"/>
          </a:xfrm>
          <a:prstGeom prst="rect">
            <a:avLst/>
          </a:prstGeom>
        </p:spPr>
        <p:txBody>
          <a:bodyPr vert="horz" lIns="92930" tIns="46465" rIns="92930" bIns="46465"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6" name="Footer Placeholder 5"/>
          <p:cNvSpPr>
            <a:spLocks noGrp="1"/>
          </p:cNvSpPr>
          <p:nvPr>
            <p:ph type="ftr" sz="quarter" idx="4"/>
          </p:nvPr>
        </p:nvSpPr>
        <p:spPr>
          <a:xfrm>
            <a:off x="1" y="9443663"/>
            <a:ext cx="2929837" cy="498852"/>
          </a:xfrm>
          <a:prstGeom prst="rect">
            <a:avLst/>
          </a:prstGeom>
        </p:spPr>
        <p:txBody>
          <a:bodyPr vert="horz" lIns="92930" tIns="46465" rIns="92930" bIns="46465" rtlCol="0" anchor="b"/>
          <a:lstStyle>
            <a:lvl1pPr algn="l">
              <a:defRPr sz="1200"/>
            </a:lvl1pPr>
          </a:lstStyle>
          <a:p>
            <a:endParaRPr lang="bg-BG" dirty="0"/>
          </a:p>
        </p:txBody>
      </p:sp>
      <p:sp>
        <p:nvSpPr>
          <p:cNvPr id="7" name="Slide Number Placeholder 6"/>
          <p:cNvSpPr>
            <a:spLocks noGrp="1"/>
          </p:cNvSpPr>
          <p:nvPr>
            <p:ph type="sldNum" sz="quarter" idx="5"/>
          </p:nvPr>
        </p:nvSpPr>
        <p:spPr>
          <a:xfrm>
            <a:off x="3829762" y="9443663"/>
            <a:ext cx="2929837" cy="498852"/>
          </a:xfrm>
          <a:prstGeom prst="rect">
            <a:avLst/>
          </a:prstGeom>
        </p:spPr>
        <p:txBody>
          <a:bodyPr vert="horz" lIns="92930" tIns="46465" rIns="92930" bIns="46465" rtlCol="0" anchor="b"/>
          <a:lstStyle>
            <a:lvl1pPr algn="r">
              <a:defRPr sz="1200"/>
            </a:lvl1pPr>
          </a:lstStyle>
          <a:p>
            <a:fld id="{5617F9B7-5110-4225-A395-C002DCB96977}" type="slidenum">
              <a:rPr lang="bg-BG" smtClean="0"/>
              <a:t>‹#›</a:t>
            </a:fld>
            <a:endParaRPr lang="bg-BG" dirty="0"/>
          </a:p>
        </p:txBody>
      </p:sp>
    </p:spTree>
    <p:extLst>
      <p:ext uri="{BB962C8B-B14F-4D97-AF65-F5344CB8AC3E}">
        <p14:creationId xmlns:p14="http://schemas.microsoft.com/office/powerpoint/2010/main" val="1772761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3</a:t>
            </a:fld>
            <a:endParaRPr lang="bg-BG" dirty="0"/>
          </a:p>
        </p:txBody>
      </p:sp>
    </p:spTree>
    <p:extLst>
      <p:ext uri="{BB962C8B-B14F-4D97-AF65-F5344CB8AC3E}">
        <p14:creationId xmlns:p14="http://schemas.microsoft.com/office/powerpoint/2010/main" val="18619920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4</a:t>
            </a:fld>
            <a:endParaRPr lang="bg-BG" dirty="0"/>
          </a:p>
        </p:txBody>
      </p:sp>
    </p:spTree>
    <p:extLst>
      <p:ext uri="{BB962C8B-B14F-4D97-AF65-F5344CB8AC3E}">
        <p14:creationId xmlns:p14="http://schemas.microsoft.com/office/powerpoint/2010/main" val="6658325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5</a:t>
            </a:fld>
            <a:endParaRPr lang="bg-BG" dirty="0"/>
          </a:p>
        </p:txBody>
      </p:sp>
    </p:spTree>
    <p:extLst>
      <p:ext uri="{BB962C8B-B14F-4D97-AF65-F5344CB8AC3E}">
        <p14:creationId xmlns:p14="http://schemas.microsoft.com/office/powerpoint/2010/main" val="2915215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6</a:t>
            </a:fld>
            <a:endParaRPr lang="bg-BG" dirty="0"/>
          </a:p>
        </p:txBody>
      </p:sp>
    </p:spTree>
    <p:extLst>
      <p:ext uri="{BB962C8B-B14F-4D97-AF65-F5344CB8AC3E}">
        <p14:creationId xmlns:p14="http://schemas.microsoft.com/office/powerpoint/2010/main" val="11108230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7</a:t>
            </a:fld>
            <a:endParaRPr lang="bg-BG" dirty="0"/>
          </a:p>
        </p:txBody>
      </p:sp>
    </p:spTree>
    <p:extLst>
      <p:ext uri="{BB962C8B-B14F-4D97-AF65-F5344CB8AC3E}">
        <p14:creationId xmlns:p14="http://schemas.microsoft.com/office/powerpoint/2010/main" val="22171784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90000"/>
              </a:lnSpc>
              <a:defRPr/>
            </a:pPr>
            <a:endParaRPr lang="bg-BG" altLang="bg-BG" sz="1200" dirty="0"/>
          </a:p>
        </p:txBody>
      </p:sp>
      <p:sp>
        <p:nvSpPr>
          <p:cNvPr id="4" name="Slide Number Placeholder 3"/>
          <p:cNvSpPr>
            <a:spLocks noGrp="1"/>
          </p:cNvSpPr>
          <p:nvPr>
            <p:ph type="sldNum" sz="quarter" idx="10"/>
          </p:nvPr>
        </p:nvSpPr>
        <p:spPr/>
        <p:txBody>
          <a:bodyPr/>
          <a:lstStyle/>
          <a:p>
            <a:fld id="{5617F9B7-5110-4225-A395-C002DCB96977}" type="slidenum">
              <a:rPr lang="bg-BG" smtClean="0"/>
              <a:t>8</a:t>
            </a:fld>
            <a:endParaRPr lang="bg-BG" dirty="0"/>
          </a:p>
        </p:txBody>
      </p:sp>
    </p:spTree>
    <p:extLst>
      <p:ext uri="{BB962C8B-B14F-4D97-AF65-F5344CB8AC3E}">
        <p14:creationId xmlns:p14="http://schemas.microsoft.com/office/powerpoint/2010/main" val="18069132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9</a:t>
            </a:fld>
            <a:endParaRPr lang="bg-BG" dirty="0"/>
          </a:p>
        </p:txBody>
      </p:sp>
    </p:spTree>
    <p:extLst>
      <p:ext uri="{BB962C8B-B14F-4D97-AF65-F5344CB8AC3E}">
        <p14:creationId xmlns:p14="http://schemas.microsoft.com/office/powerpoint/2010/main" val="38145796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10</a:t>
            </a:fld>
            <a:endParaRPr lang="bg-BG" dirty="0"/>
          </a:p>
        </p:txBody>
      </p:sp>
    </p:spTree>
    <p:extLst>
      <p:ext uri="{BB962C8B-B14F-4D97-AF65-F5344CB8AC3E}">
        <p14:creationId xmlns:p14="http://schemas.microsoft.com/office/powerpoint/2010/main" val="3194622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11</a:t>
            </a:fld>
            <a:endParaRPr lang="bg-BG" dirty="0"/>
          </a:p>
        </p:txBody>
      </p:sp>
    </p:spTree>
    <p:extLst>
      <p:ext uri="{BB962C8B-B14F-4D97-AF65-F5344CB8AC3E}">
        <p14:creationId xmlns:p14="http://schemas.microsoft.com/office/powerpoint/2010/main" val="23717311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12</a:t>
            </a:fld>
            <a:endParaRPr lang="bg-BG" dirty="0"/>
          </a:p>
        </p:txBody>
      </p:sp>
    </p:spTree>
    <p:extLst>
      <p:ext uri="{BB962C8B-B14F-4D97-AF65-F5344CB8AC3E}">
        <p14:creationId xmlns:p14="http://schemas.microsoft.com/office/powerpoint/2010/main" val="23449235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13</a:t>
            </a:fld>
            <a:endParaRPr lang="bg-BG" dirty="0"/>
          </a:p>
        </p:txBody>
      </p:sp>
    </p:spTree>
    <p:extLst>
      <p:ext uri="{BB962C8B-B14F-4D97-AF65-F5344CB8AC3E}">
        <p14:creationId xmlns:p14="http://schemas.microsoft.com/office/powerpoint/2010/main" val="14919625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14</a:t>
            </a:fld>
            <a:endParaRPr lang="bg-BG" dirty="0"/>
          </a:p>
        </p:txBody>
      </p:sp>
    </p:spTree>
    <p:extLst>
      <p:ext uri="{BB962C8B-B14F-4D97-AF65-F5344CB8AC3E}">
        <p14:creationId xmlns:p14="http://schemas.microsoft.com/office/powerpoint/2010/main" val="11339865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15</a:t>
            </a:fld>
            <a:endParaRPr lang="bg-BG" dirty="0"/>
          </a:p>
        </p:txBody>
      </p:sp>
    </p:spTree>
    <p:extLst>
      <p:ext uri="{BB962C8B-B14F-4D97-AF65-F5344CB8AC3E}">
        <p14:creationId xmlns:p14="http://schemas.microsoft.com/office/powerpoint/2010/main" val="6556581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16</a:t>
            </a:fld>
            <a:endParaRPr lang="bg-BG" dirty="0"/>
          </a:p>
        </p:txBody>
      </p:sp>
    </p:spTree>
    <p:extLst>
      <p:ext uri="{BB962C8B-B14F-4D97-AF65-F5344CB8AC3E}">
        <p14:creationId xmlns:p14="http://schemas.microsoft.com/office/powerpoint/2010/main" val="9405369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17</a:t>
            </a:fld>
            <a:endParaRPr lang="bg-BG" dirty="0"/>
          </a:p>
        </p:txBody>
      </p:sp>
    </p:spTree>
    <p:extLst>
      <p:ext uri="{BB962C8B-B14F-4D97-AF65-F5344CB8AC3E}">
        <p14:creationId xmlns:p14="http://schemas.microsoft.com/office/powerpoint/2010/main" val="13690745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18</a:t>
            </a:fld>
            <a:endParaRPr lang="bg-BG" dirty="0"/>
          </a:p>
        </p:txBody>
      </p:sp>
    </p:spTree>
    <p:extLst>
      <p:ext uri="{BB962C8B-B14F-4D97-AF65-F5344CB8AC3E}">
        <p14:creationId xmlns:p14="http://schemas.microsoft.com/office/powerpoint/2010/main" val="15740905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19</a:t>
            </a:fld>
            <a:endParaRPr lang="bg-BG" dirty="0"/>
          </a:p>
        </p:txBody>
      </p:sp>
    </p:spTree>
    <p:extLst>
      <p:ext uri="{BB962C8B-B14F-4D97-AF65-F5344CB8AC3E}">
        <p14:creationId xmlns:p14="http://schemas.microsoft.com/office/powerpoint/2010/main" val="4215278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20</a:t>
            </a:fld>
            <a:endParaRPr lang="bg-BG" dirty="0"/>
          </a:p>
        </p:txBody>
      </p:sp>
    </p:spTree>
    <p:extLst>
      <p:ext uri="{BB962C8B-B14F-4D97-AF65-F5344CB8AC3E}">
        <p14:creationId xmlns:p14="http://schemas.microsoft.com/office/powerpoint/2010/main" val="32696842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21</a:t>
            </a:fld>
            <a:endParaRPr lang="bg-BG" dirty="0"/>
          </a:p>
        </p:txBody>
      </p:sp>
    </p:spTree>
    <p:extLst>
      <p:ext uri="{BB962C8B-B14F-4D97-AF65-F5344CB8AC3E}">
        <p14:creationId xmlns:p14="http://schemas.microsoft.com/office/powerpoint/2010/main" val="36047681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22</a:t>
            </a:fld>
            <a:endParaRPr lang="bg-BG" dirty="0"/>
          </a:p>
        </p:txBody>
      </p:sp>
    </p:spTree>
    <p:extLst>
      <p:ext uri="{BB962C8B-B14F-4D97-AF65-F5344CB8AC3E}">
        <p14:creationId xmlns:p14="http://schemas.microsoft.com/office/powerpoint/2010/main" val="6990835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23</a:t>
            </a:fld>
            <a:endParaRPr lang="bg-BG" dirty="0"/>
          </a:p>
        </p:txBody>
      </p:sp>
    </p:spTree>
    <p:extLst>
      <p:ext uri="{BB962C8B-B14F-4D97-AF65-F5344CB8AC3E}">
        <p14:creationId xmlns:p14="http://schemas.microsoft.com/office/powerpoint/2010/main" val="25111965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24</a:t>
            </a:fld>
            <a:endParaRPr lang="bg-BG" dirty="0"/>
          </a:p>
        </p:txBody>
      </p:sp>
    </p:spTree>
    <p:extLst>
      <p:ext uri="{BB962C8B-B14F-4D97-AF65-F5344CB8AC3E}">
        <p14:creationId xmlns:p14="http://schemas.microsoft.com/office/powerpoint/2010/main" val="39998474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25</a:t>
            </a:fld>
            <a:endParaRPr lang="bg-BG" dirty="0"/>
          </a:p>
        </p:txBody>
      </p:sp>
    </p:spTree>
    <p:extLst>
      <p:ext uri="{BB962C8B-B14F-4D97-AF65-F5344CB8AC3E}">
        <p14:creationId xmlns:p14="http://schemas.microsoft.com/office/powerpoint/2010/main" val="35409743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26</a:t>
            </a:fld>
            <a:endParaRPr lang="bg-BG" dirty="0"/>
          </a:p>
        </p:txBody>
      </p:sp>
    </p:spTree>
    <p:extLst>
      <p:ext uri="{BB962C8B-B14F-4D97-AF65-F5344CB8AC3E}">
        <p14:creationId xmlns:p14="http://schemas.microsoft.com/office/powerpoint/2010/main" val="42530007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27</a:t>
            </a:fld>
            <a:endParaRPr lang="bg-BG" dirty="0"/>
          </a:p>
        </p:txBody>
      </p:sp>
    </p:spTree>
    <p:extLst>
      <p:ext uri="{BB962C8B-B14F-4D97-AF65-F5344CB8AC3E}">
        <p14:creationId xmlns:p14="http://schemas.microsoft.com/office/powerpoint/2010/main" val="4677722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28</a:t>
            </a:fld>
            <a:endParaRPr lang="bg-BG" dirty="0"/>
          </a:p>
        </p:txBody>
      </p:sp>
    </p:spTree>
    <p:extLst>
      <p:ext uri="{BB962C8B-B14F-4D97-AF65-F5344CB8AC3E}">
        <p14:creationId xmlns:p14="http://schemas.microsoft.com/office/powerpoint/2010/main" val="949227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29</a:t>
            </a:fld>
            <a:endParaRPr lang="bg-BG" dirty="0"/>
          </a:p>
        </p:txBody>
      </p:sp>
    </p:spTree>
    <p:extLst>
      <p:ext uri="{BB962C8B-B14F-4D97-AF65-F5344CB8AC3E}">
        <p14:creationId xmlns:p14="http://schemas.microsoft.com/office/powerpoint/2010/main" val="38260455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30</a:t>
            </a:fld>
            <a:endParaRPr lang="bg-BG" dirty="0"/>
          </a:p>
        </p:txBody>
      </p:sp>
    </p:spTree>
    <p:extLst>
      <p:ext uri="{BB962C8B-B14F-4D97-AF65-F5344CB8AC3E}">
        <p14:creationId xmlns:p14="http://schemas.microsoft.com/office/powerpoint/2010/main" val="2574873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31</a:t>
            </a:fld>
            <a:endParaRPr lang="bg-BG" dirty="0"/>
          </a:p>
        </p:txBody>
      </p:sp>
    </p:spTree>
    <p:extLst>
      <p:ext uri="{BB962C8B-B14F-4D97-AF65-F5344CB8AC3E}">
        <p14:creationId xmlns:p14="http://schemas.microsoft.com/office/powerpoint/2010/main" val="17475810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32</a:t>
            </a:fld>
            <a:endParaRPr lang="bg-BG" dirty="0"/>
          </a:p>
        </p:txBody>
      </p:sp>
    </p:spTree>
    <p:extLst>
      <p:ext uri="{BB962C8B-B14F-4D97-AF65-F5344CB8AC3E}">
        <p14:creationId xmlns:p14="http://schemas.microsoft.com/office/powerpoint/2010/main" val="26726502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80000"/>
              </a:lnSpc>
              <a:defRPr/>
            </a:pPr>
            <a:endParaRPr lang="bg-BG" altLang="bg-BG" sz="1100" dirty="0"/>
          </a:p>
          <a:p>
            <a:endParaRPr lang="bg-BG" dirty="0"/>
          </a:p>
        </p:txBody>
      </p:sp>
      <p:sp>
        <p:nvSpPr>
          <p:cNvPr id="4" name="Slide Number Placeholder 3"/>
          <p:cNvSpPr>
            <a:spLocks noGrp="1"/>
          </p:cNvSpPr>
          <p:nvPr>
            <p:ph type="sldNum" sz="quarter" idx="10"/>
          </p:nvPr>
        </p:nvSpPr>
        <p:spPr/>
        <p:txBody>
          <a:bodyPr/>
          <a:lstStyle/>
          <a:p>
            <a:fld id="{5617F9B7-5110-4225-A395-C002DCB96977}" type="slidenum">
              <a:rPr lang="bg-BG" smtClean="0"/>
              <a:t>33</a:t>
            </a:fld>
            <a:endParaRPr lang="bg-BG" dirty="0"/>
          </a:p>
        </p:txBody>
      </p:sp>
    </p:spTree>
    <p:extLst>
      <p:ext uri="{BB962C8B-B14F-4D97-AF65-F5344CB8AC3E}">
        <p14:creationId xmlns:p14="http://schemas.microsoft.com/office/powerpoint/2010/main" val="1864789404"/>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96A666B-2F7D-4199-A5CF-D1399F06B5CC}" type="datetime1">
              <a:rPr lang="bg-BG" smtClean="0"/>
              <a:t>2.1.2024 г.</a:t>
            </a:fld>
            <a:endParaRPr lang="bg-BG" dirty="0"/>
          </a:p>
        </p:txBody>
      </p:sp>
      <p:sp>
        <p:nvSpPr>
          <p:cNvPr id="5" name="Footer Placeholder 4"/>
          <p:cNvSpPr>
            <a:spLocks noGrp="1"/>
          </p:cNvSpPr>
          <p:nvPr>
            <p:ph type="ftr" sz="quarter" idx="11"/>
          </p:nvPr>
        </p:nvSpPr>
        <p:spPr/>
        <p:txBody>
          <a:bodyPr/>
          <a:lstStyle/>
          <a:p>
            <a:endParaRPr lang="bg-BG"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081674E5-CD74-4638-A238-012A517DC16A}" type="slidenum">
              <a:rPr lang="bg-BG" smtClean="0"/>
              <a:t>‹#›</a:t>
            </a:fld>
            <a:endParaRPr lang="bg-BG" dirty="0"/>
          </a:p>
        </p:txBody>
      </p:sp>
    </p:spTree>
    <p:extLst>
      <p:ext uri="{BB962C8B-B14F-4D97-AF65-F5344CB8AC3E}">
        <p14:creationId xmlns:p14="http://schemas.microsoft.com/office/powerpoint/2010/main" val="2131648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EF8BD3-AC58-47F1-B591-69906B5D74CE}" type="datetime1">
              <a:rPr lang="bg-BG" smtClean="0"/>
              <a:t>2.1.2024 г.</a:t>
            </a:fld>
            <a:endParaRPr lang="bg-BG" dirty="0"/>
          </a:p>
        </p:txBody>
      </p:sp>
      <p:sp>
        <p:nvSpPr>
          <p:cNvPr id="5" name="Footer Placeholder 4"/>
          <p:cNvSpPr>
            <a:spLocks noGrp="1"/>
          </p:cNvSpPr>
          <p:nvPr>
            <p:ph type="ftr" sz="quarter" idx="11"/>
          </p:nvPr>
        </p:nvSpPr>
        <p:spPr/>
        <p:txBody>
          <a:bodyPr/>
          <a:lstStyle/>
          <a:p>
            <a:endParaRPr lang="bg-BG" dirty="0"/>
          </a:p>
        </p:txBody>
      </p:sp>
      <p:sp>
        <p:nvSpPr>
          <p:cNvPr id="6" name="Slide Number Placeholder 5"/>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3518441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46564442-4F9C-4117-9AC9-3C912B6DAF6E}" type="datetime1">
              <a:rPr lang="bg-BG" smtClean="0"/>
              <a:t>2.1.2024 г.</a:t>
            </a:fld>
            <a:endParaRPr lang="bg-BG" dirty="0"/>
          </a:p>
        </p:txBody>
      </p:sp>
      <p:sp>
        <p:nvSpPr>
          <p:cNvPr id="5" name="Footer Placeholder 4"/>
          <p:cNvSpPr>
            <a:spLocks noGrp="1"/>
          </p:cNvSpPr>
          <p:nvPr>
            <p:ph type="ftr" sz="quarter" idx="11"/>
          </p:nvPr>
        </p:nvSpPr>
        <p:spPr>
          <a:xfrm>
            <a:off x="2182708" y="6272784"/>
            <a:ext cx="6327648" cy="365125"/>
          </a:xfrm>
        </p:spPr>
        <p:txBody>
          <a:bodyPr/>
          <a:lstStyle/>
          <a:p>
            <a:endParaRPr lang="bg-BG"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081674E5-CD74-4638-A238-012A517DC16A}" type="slidenum">
              <a:rPr lang="bg-BG" smtClean="0"/>
              <a:t>‹#›</a:t>
            </a:fld>
            <a:endParaRPr lang="bg-BG" dirty="0"/>
          </a:p>
        </p:txBody>
      </p:sp>
    </p:spTree>
    <p:extLst>
      <p:ext uri="{BB962C8B-B14F-4D97-AF65-F5344CB8AC3E}">
        <p14:creationId xmlns:p14="http://schemas.microsoft.com/office/powerpoint/2010/main" val="1745476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72E6C9-D462-4DF8-8A5B-084EF99FCB92}" type="datetime1">
              <a:rPr lang="bg-BG" smtClean="0"/>
              <a:t>2.1.2024 г.</a:t>
            </a:fld>
            <a:endParaRPr lang="bg-BG" dirty="0"/>
          </a:p>
        </p:txBody>
      </p:sp>
      <p:sp>
        <p:nvSpPr>
          <p:cNvPr id="6" name="Footer Placeholder 5"/>
          <p:cNvSpPr>
            <a:spLocks noGrp="1"/>
          </p:cNvSpPr>
          <p:nvPr>
            <p:ph type="ftr" sz="quarter" idx="11"/>
          </p:nvPr>
        </p:nvSpPr>
        <p:spPr/>
        <p:txBody>
          <a:bodyPr/>
          <a:lstStyle/>
          <a:p>
            <a:endParaRPr lang="bg-BG" dirty="0"/>
          </a:p>
        </p:txBody>
      </p:sp>
      <p:sp>
        <p:nvSpPr>
          <p:cNvPr id="7" name="Slide Number Placeholder 6"/>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306091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EEB004C-1449-4E25-B641-5BE18784B024}" type="datetime1">
              <a:rPr lang="bg-BG" smtClean="0"/>
              <a:t>2.1.2024 г.</a:t>
            </a:fld>
            <a:endParaRPr lang="bg-BG" dirty="0"/>
          </a:p>
        </p:txBody>
      </p:sp>
      <p:sp>
        <p:nvSpPr>
          <p:cNvPr id="8" name="Footer Placeholder 7"/>
          <p:cNvSpPr>
            <a:spLocks noGrp="1"/>
          </p:cNvSpPr>
          <p:nvPr>
            <p:ph type="ftr" sz="quarter" idx="11"/>
          </p:nvPr>
        </p:nvSpPr>
        <p:spPr/>
        <p:txBody>
          <a:bodyPr/>
          <a:lstStyle/>
          <a:p>
            <a:endParaRPr lang="bg-BG" dirty="0"/>
          </a:p>
        </p:txBody>
      </p:sp>
      <p:sp>
        <p:nvSpPr>
          <p:cNvPr id="9" name="Slide Number Placeholder 8"/>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598907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6BC1725-AB21-4845-BE49-CE8C42164743}" type="datetime1">
              <a:rPr lang="bg-BG" smtClean="0"/>
              <a:t>2.1.2024 г.</a:t>
            </a:fld>
            <a:endParaRPr lang="bg-BG" dirty="0"/>
          </a:p>
        </p:txBody>
      </p:sp>
      <p:sp>
        <p:nvSpPr>
          <p:cNvPr id="4" name="Footer Placeholder 3"/>
          <p:cNvSpPr>
            <a:spLocks noGrp="1"/>
          </p:cNvSpPr>
          <p:nvPr>
            <p:ph type="ftr" sz="quarter" idx="11"/>
          </p:nvPr>
        </p:nvSpPr>
        <p:spPr/>
        <p:txBody>
          <a:bodyPr/>
          <a:lstStyle/>
          <a:p>
            <a:endParaRPr lang="bg-BG" dirty="0"/>
          </a:p>
        </p:txBody>
      </p:sp>
      <p:sp>
        <p:nvSpPr>
          <p:cNvPr id="5" name="Slide Number Placeholder 4"/>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4053536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87940C-92A6-42D4-A0AE-8AE229120CFF}" type="datetime1">
              <a:rPr lang="bg-BG" smtClean="0"/>
              <a:t>2.1.2024 г.</a:t>
            </a:fld>
            <a:endParaRPr lang="bg-BG" dirty="0"/>
          </a:p>
        </p:txBody>
      </p:sp>
      <p:sp>
        <p:nvSpPr>
          <p:cNvPr id="3" name="Footer Placeholder 2"/>
          <p:cNvSpPr>
            <a:spLocks noGrp="1"/>
          </p:cNvSpPr>
          <p:nvPr>
            <p:ph type="ftr" sz="quarter" idx="11"/>
          </p:nvPr>
        </p:nvSpPr>
        <p:spPr/>
        <p:txBody>
          <a:bodyPr/>
          <a:lstStyle/>
          <a:p>
            <a:endParaRPr lang="bg-BG" dirty="0"/>
          </a:p>
        </p:txBody>
      </p:sp>
      <p:sp>
        <p:nvSpPr>
          <p:cNvPr id="4" name="Slide Number Placeholder 3"/>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413051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64F04CA-5B7E-4437-926E-A34999B7E6C0}" type="datetime1">
              <a:rPr lang="bg-BG" smtClean="0"/>
              <a:t>2.1.2024 г.</a:t>
            </a:fld>
            <a:endParaRPr lang="bg-BG" dirty="0"/>
          </a:p>
        </p:txBody>
      </p:sp>
      <p:sp>
        <p:nvSpPr>
          <p:cNvPr id="6" name="Footer Placeholder 5"/>
          <p:cNvSpPr>
            <a:spLocks noGrp="1"/>
          </p:cNvSpPr>
          <p:nvPr>
            <p:ph type="ftr" sz="quarter" idx="11"/>
          </p:nvPr>
        </p:nvSpPr>
        <p:spPr/>
        <p:txBody>
          <a:bodyPr/>
          <a:lstStyle/>
          <a:p>
            <a:endParaRPr lang="bg-BG"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3283409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6DBFFBA-50AA-4558-ADC7-8C8BF6C03621}" type="datetime1">
              <a:rPr lang="bg-BG" smtClean="0"/>
              <a:t>2.1.2024 г.</a:t>
            </a:fld>
            <a:endParaRPr lang="bg-BG"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1287546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C901CF-14B7-42BE-8693-1C6A365ED97B}" type="datetime1">
              <a:rPr lang="bg-BG" smtClean="0"/>
              <a:t>2.1.2024 г.</a:t>
            </a:fld>
            <a:endParaRPr lang="bg-BG" dirty="0"/>
          </a:p>
        </p:txBody>
      </p:sp>
      <p:sp>
        <p:nvSpPr>
          <p:cNvPr id="5" name="Footer Placeholder 4"/>
          <p:cNvSpPr>
            <a:spLocks noGrp="1"/>
          </p:cNvSpPr>
          <p:nvPr>
            <p:ph type="ftr" sz="quarter" idx="11"/>
          </p:nvPr>
        </p:nvSpPr>
        <p:spPr/>
        <p:txBody>
          <a:bodyPr/>
          <a:lstStyle/>
          <a:p>
            <a:endParaRPr lang="bg-BG" dirty="0"/>
          </a:p>
        </p:txBody>
      </p:sp>
      <p:sp>
        <p:nvSpPr>
          <p:cNvPr id="6" name="Slide Number Placeholder 5"/>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4282757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1A9374-CC8C-4027-8C9C-D37ED427A6AE}" type="datetime1">
              <a:rPr lang="bg-BG" smtClean="0"/>
              <a:t>2.1.2024 г.</a:t>
            </a:fld>
            <a:endParaRPr lang="bg-BG" dirty="0"/>
          </a:p>
        </p:txBody>
      </p:sp>
      <p:sp>
        <p:nvSpPr>
          <p:cNvPr id="5" name="Footer Placeholder 4"/>
          <p:cNvSpPr>
            <a:spLocks noGrp="1"/>
          </p:cNvSpPr>
          <p:nvPr>
            <p:ph type="ftr" sz="quarter" idx="11"/>
          </p:nvPr>
        </p:nvSpPr>
        <p:spPr/>
        <p:txBody>
          <a:bodyPr/>
          <a:lstStyle/>
          <a:p>
            <a:endParaRPr lang="bg-BG" dirty="0"/>
          </a:p>
        </p:txBody>
      </p:sp>
      <p:sp>
        <p:nvSpPr>
          <p:cNvPr id="6" name="Slide Number Placeholder 5"/>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1299534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6DC22829-1A03-43BA-AD1C-84AE46C99B1D}" type="datetime1">
              <a:rPr lang="bg-BG" smtClean="0"/>
              <a:t>2.1.2024 г.</a:t>
            </a:fld>
            <a:endParaRPr lang="bg-BG"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bg-BG"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081674E5-CD74-4638-A238-012A517DC16A}" type="slidenum">
              <a:rPr lang="bg-BG" smtClean="0"/>
              <a:t>‹#›</a:t>
            </a:fld>
            <a:endParaRPr lang="bg-BG" dirty="0"/>
          </a:p>
        </p:txBody>
      </p:sp>
    </p:spTree>
    <p:extLst>
      <p:ext uri="{BB962C8B-B14F-4D97-AF65-F5344CB8AC3E}">
        <p14:creationId xmlns:p14="http://schemas.microsoft.com/office/powerpoint/2010/main" val="36348257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9.wmf"/><Relationship Id="rId7" Type="http://schemas.openxmlformats.org/officeDocument/2006/relationships/oleObject" Target="../embeddings/oleObject3.bin"/><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8.wmf"/><Relationship Id="rId5" Type="http://schemas.openxmlformats.org/officeDocument/2006/relationships/oleObject" Target="../embeddings/oleObject2.bin"/><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4.wmf"/><Relationship Id="rId5" Type="http://schemas.openxmlformats.org/officeDocument/2006/relationships/oleObject" Target="../embeddings/oleObject4.bin"/><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8" Type="http://schemas.openxmlformats.org/officeDocument/2006/relationships/image" Target="../media/image16.wmf"/><Relationship Id="rId7" Type="http://schemas.openxmlformats.org/officeDocument/2006/relationships/oleObject" Target="../embeddings/oleObject6.bin"/><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5.wmf"/><Relationship Id="rId5" Type="http://schemas.openxmlformats.org/officeDocument/2006/relationships/oleObject" Target="../embeddings/oleObject5.bin"/><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17.wmf"/><Relationship Id="rId5" Type="http://schemas.openxmlformats.org/officeDocument/2006/relationships/oleObject" Target="../embeddings/oleObject7.bin"/><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18.wmf"/><Relationship Id="rId5" Type="http://schemas.openxmlformats.org/officeDocument/2006/relationships/oleObject" Target="../embeddings/oleObject8.bin"/><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8" Type="http://schemas.openxmlformats.org/officeDocument/2006/relationships/image" Target="../media/image20.wmf"/><Relationship Id="rId7" Type="http://schemas.openxmlformats.org/officeDocument/2006/relationships/oleObject" Target="../embeddings/oleObject10.bin"/><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19.wmf"/><Relationship Id="rId5" Type="http://schemas.openxmlformats.org/officeDocument/2006/relationships/oleObject" Target="../embeddings/oleObject9.bin"/><Relationship Id="rId10" Type="http://schemas.openxmlformats.org/officeDocument/2006/relationships/image" Target="../media/image37.png"/><Relationship Id="rId4" Type="http://schemas.openxmlformats.org/officeDocument/2006/relationships/image" Target="../media/image35.png"/><Relationship Id="rId9"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26.wmf"/><Relationship Id="rId5" Type="http://schemas.openxmlformats.org/officeDocument/2006/relationships/oleObject" Target="../embeddings/oleObject11.bin"/><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27.wmf"/></Relationships>
</file>

<file path=ppt/slides/_rels/slide29.xml.rels><?xml version="1.0" encoding="UTF-8" standalone="yes"?>
<Relationships xmlns="http://schemas.openxmlformats.org/package/2006/relationships"><Relationship Id="rId8" Type="http://schemas.openxmlformats.org/officeDocument/2006/relationships/image" Target="../media/image29.wmf"/><Relationship Id="rId13" Type="http://schemas.openxmlformats.org/officeDocument/2006/relationships/oleObject" Target="../embeddings/oleObject17.bin"/><Relationship Id="rId7" Type="http://schemas.openxmlformats.org/officeDocument/2006/relationships/oleObject" Target="../embeddings/oleObject14.bin"/><Relationship Id="rId12" Type="http://schemas.openxmlformats.org/officeDocument/2006/relationships/image" Target="../media/image31.wmf"/><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28.wmf"/><Relationship Id="rId11" Type="http://schemas.openxmlformats.org/officeDocument/2006/relationships/oleObject" Target="../embeddings/oleObject16.bin"/><Relationship Id="rId5" Type="http://schemas.openxmlformats.org/officeDocument/2006/relationships/oleObject" Target="../embeddings/oleObject13.bin"/><Relationship Id="rId10" Type="http://schemas.openxmlformats.org/officeDocument/2006/relationships/image" Target="../media/image30.wmf"/><Relationship Id="rId4" Type="http://schemas.openxmlformats.org/officeDocument/2006/relationships/image" Target="../media/image47.png"/><Relationship Id="rId9" Type="http://schemas.openxmlformats.org/officeDocument/2006/relationships/oleObject" Target="../embeddings/oleObject15.bin"/><Relationship Id="rId14" Type="http://schemas.openxmlformats.org/officeDocument/2006/relationships/image" Target="../media/image32.wm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4189" y="971490"/>
            <a:ext cx="10507579" cy="3957924"/>
          </a:xfrm>
        </p:spPr>
        <p:txBody>
          <a:bodyPr/>
          <a:lstStyle/>
          <a:p>
            <a:pPr algn="ctr"/>
            <a:r>
              <a:rPr lang="bg-BG" sz="4000" b="1" i="1" dirty="0"/>
              <a:t>Идентификация на обекти</a:t>
            </a:r>
            <a:endParaRPr lang="en-GB" sz="4000" dirty="0"/>
          </a:p>
        </p:txBody>
      </p:sp>
      <p:sp>
        <p:nvSpPr>
          <p:cNvPr id="4" name="Slide Number Placeholder 3"/>
          <p:cNvSpPr>
            <a:spLocks noGrp="1"/>
          </p:cNvSpPr>
          <p:nvPr>
            <p:ph type="sldNum" sz="quarter" idx="12"/>
          </p:nvPr>
        </p:nvSpPr>
        <p:spPr/>
        <p:txBody>
          <a:bodyPr/>
          <a:lstStyle/>
          <a:p>
            <a:fld id="{081674E5-CD74-4638-A238-012A517DC16A}" type="slidenum">
              <a:rPr lang="bg-BG" smtClean="0"/>
              <a:t>1</a:t>
            </a:fld>
            <a:endParaRPr lang="bg-BG" dirty="0"/>
          </a:p>
        </p:txBody>
      </p:sp>
    </p:spTree>
    <p:extLst>
      <p:ext uri="{BB962C8B-B14F-4D97-AF65-F5344CB8AC3E}">
        <p14:creationId xmlns:p14="http://schemas.microsoft.com/office/powerpoint/2010/main" val="24322936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032000" y="57170"/>
            <a:ext cx="10010183" cy="6673829"/>
          </a:xfrm>
        </p:spPr>
        <p:txBody>
          <a:bodyPr>
            <a:noAutofit/>
          </a:bodyPr>
          <a:lstStyle/>
          <a:p>
            <a:pPr indent="533400" algn="just">
              <a:lnSpc>
                <a:spcPct val="130000"/>
              </a:lnSpc>
              <a:spcBef>
                <a:spcPts val="0"/>
              </a:spcBef>
            </a:pPr>
            <a:r>
              <a:rPr lang="bg-BG" sz="2400" dirty="0"/>
              <a:t>Думата „идентификация” произлиза от латинската дума </a:t>
            </a:r>
            <a:r>
              <a:rPr lang="en-US" sz="2400" dirty="0" err="1"/>
              <a:t>identifico</a:t>
            </a:r>
            <a:r>
              <a:rPr lang="en-US" sz="2400" dirty="0"/>
              <a:t> (</a:t>
            </a:r>
            <a:r>
              <a:rPr lang="bg-BG" sz="2400" dirty="0"/>
              <a:t>отъждествявам) и означава уеднаквяване, приравняване. Използва се и в медицината, астрономията  и т.н. Идентификацията на обекти включва целенасочено изучаване на обекти, в резултат на което те се отнасят към определен клас в една предварителна класификация, като се оценява приближението им до този клас. </a:t>
            </a:r>
          </a:p>
          <a:p>
            <a:pPr indent="533400" algn="just">
              <a:lnSpc>
                <a:spcPct val="130000"/>
              </a:lnSpc>
              <a:spcBef>
                <a:spcPts val="0"/>
              </a:spcBef>
            </a:pPr>
            <a:r>
              <a:rPr lang="bg-BG" sz="2400" dirty="0"/>
              <a:t>От математическа гледна точка зависимостта </a:t>
            </a:r>
          </a:p>
          <a:p>
            <a:pPr indent="533400" algn="just">
              <a:lnSpc>
                <a:spcPct val="130000"/>
              </a:lnSpc>
              <a:spcBef>
                <a:spcPts val="0"/>
              </a:spcBef>
            </a:pPr>
            <a:endParaRPr lang="bg-BG" sz="2400" dirty="0"/>
          </a:p>
          <a:p>
            <a:pPr indent="533400" algn="just">
              <a:lnSpc>
                <a:spcPct val="130000"/>
              </a:lnSpc>
              <a:spcBef>
                <a:spcPts val="0"/>
              </a:spcBef>
            </a:pPr>
            <a:endParaRPr lang="bg-BG" sz="2400" dirty="0"/>
          </a:p>
          <a:p>
            <a:pPr algn="just">
              <a:lnSpc>
                <a:spcPct val="130000"/>
              </a:lnSpc>
              <a:spcBef>
                <a:spcPts val="0"/>
              </a:spcBef>
            </a:pPr>
            <a:r>
              <a:rPr lang="bg-BG" sz="2400" dirty="0"/>
              <a:t>е едно диференциално уравнение с постоянни коефициенти. Ако, обаче се регламентира, че </a:t>
            </a:r>
            <a:r>
              <a:rPr lang="en-US" sz="2400" i="1" dirty="0"/>
              <a:t>y(t)</a:t>
            </a:r>
            <a:r>
              <a:rPr lang="bg-BG" sz="2400" i="1" dirty="0"/>
              <a:t> </a:t>
            </a:r>
            <a:r>
              <a:rPr lang="bg-BG" sz="2400" dirty="0"/>
              <a:t>е скорост на въртене на електрически двигател, при подаване на захранващо напрежение</a:t>
            </a:r>
            <a:r>
              <a:rPr lang="bg-BG" sz="2400" i="1" dirty="0"/>
              <a:t> </a:t>
            </a:r>
            <a:r>
              <a:rPr lang="en-US" sz="2400" i="1" dirty="0"/>
              <a:t>u(t)</a:t>
            </a:r>
            <a:r>
              <a:rPr lang="bg-BG" sz="2400" i="1" dirty="0"/>
              <a:t> </a:t>
            </a:r>
            <a:r>
              <a:rPr lang="bg-BG" sz="2400" dirty="0"/>
              <a:t>на клемите му, това уравнение се разглежда в отношение с този обект, т.е. като математически модел.</a:t>
            </a:r>
            <a:endParaRPr lang="en-GB" sz="2400" dirty="0"/>
          </a:p>
          <a:p>
            <a:pPr indent="533400" algn="just">
              <a:lnSpc>
                <a:spcPct val="130000"/>
              </a:lnSpc>
            </a:pPr>
            <a:endParaRPr lang="en-GB" sz="2400" dirty="0"/>
          </a:p>
          <a:p>
            <a:pPr indent="533400" algn="just">
              <a:lnSpc>
                <a:spcPct val="130000"/>
              </a:lnSpc>
            </a:pPr>
            <a:endParaRPr lang="en-GB"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2</a:t>
            </a:fld>
            <a:endParaRPr lang="bg-BG" dirty="0"/>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5" name="Object 4"/>
          <p:cNvGraphicFramePr>
            <a:graphicFrameLocks noChangeAspect="1"/>
          </p:cNvGraphicFramePr>
          <p:nvPr>
            <p:extLst>
              <p:ext uri="{D42A27DB-BD31-4B8C-83A1-F6EECF244321}">
                <p14:modId xmlns:p14="http://schemas.microsoft.com/office/powerpoint/2010/main" val="3387209869"/>
              </p:ext>
            </p:extLst>
          </p:nvPr>
        </p:nvGraphicFramePr>
        <p:xfrm>
          <a:off x="4279900" y="3606800"/>
          <a:ext cx="3329810" cy="1016000"/>
        </p:xfrm>
        <a:graphic>
          <a:graphicData uri="http://schemas.openxmlformats.org/presentationml/2006/ole">
            <mc:AlternateContent xmlns:mc="http://schemas.openxmlformats.org/markup-compatibility/2006">
              <mc:Choice xmlns:v="urn:schemas-microsoft-com:vml" Requires="v">
                <p:oleObj name="Equation" r:id="rId2" imgW="1422400" imgH="431800" progId="Equation.3">
                  <p:embed/>
                </p:oleObj>
              </mc:Choice>
              <mc:Fallback>
                <p:oleObj name="Equation" r:id="rId2" imgW="1422400" imgH="43180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9900" y="3606800"/>
                        <a:ext cx="3329810" cy="1016000"/>
                      </a:xfrm>
                      <a:prstGeom prst="rect">
                        <a:avLst/>
                      </a:prstGeom>
                      <a:noFill/>
                    </p:spPr>
                  </p:pic>
                </p:oleObj>
              </mc:Fallback>
            </mc:AlternateContent>
          </a:graphicData>
        </a:graphic>
      </p:graphicFrame>
    </p:spTree>
    <p:extLst>
      <p:ext uri="{BB962C8B-B14F-4D97-AF65-F5344CB8AC3E}">
        <p14:creationId xmlns:p14="http://schemas.microsoft.com/office/powerpoint/2010/main" val="173681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a:t>
            </a:fld>
            <a:endParaRPr lang="bg-BG" dirty="0"/>
          </a:p>
        </p:txBody>
      </p:sp>
      <p:sp>
        <p:nvSpPr>
          <p:cNvPr id="7" name="Content Placeholder 2"/>
          <p:cNvSpPr txBox="1">
            <a:spLocks/>
          </p:cNvSpPr>
          <p:nvPr/>
        </p:nvSpPr>
        <p:spPr>
          <a:xfrm>
            <a:off x="2032000" y="101600"/>
            <a:ext cx="10160000" cy="6728604"/>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533400" algn="just">
              <a:lnSpc>
                <a:spcPct val="130000"/>
              </a:lnSpc>
              <a:spcBef>
                <a:spcPts val="0"/>
              </a:spcBef>
              <a:buNone/>
            </a:pPr>
            <a:r>
              <a:rPr lang="bg-BG" sz="2400" dirty="0"/>
              <a:t>Получаването на модел на даден обект може да се реализира по два начина:</a:t>
            </a:r>
            <a:endParaRPr lang="en-GB" sz="2400" dirty="0"/>
          </a:p>
          <a:p>
            <a:pPr marL="901700" lvl="0" indent="-355600" algn="just">
              <a:lnSpc>
                <a:spcPct val="130000"/>
              </a:lnSpc>
              <a:spcBef>
                <a:spcPts val="0"/>
              </a:spcBef>
              <a:buFont typeface="Wingdings" panose="05000000000000000000" pitchFamily="2" charset="2"/>
              <a:buChar char="q"/>
            </a:pPr>
            <a:r>
              <a:rPr lang="bg-BG" sz="2400" dirty="0"/>
              <a:t>аналитично, когато връзката между входната и изходната величини на обекта се извежда аналитично, като се изхожда от физическите, химическите или други закони, описващи процесите в него;</a:t>
            </a:r>
            <a:endParaRPr lang="en-GB" sz="2400" dirty="0"/>
          </a:p>
          <a:p>
            <a:pPr marL="901700" lvl="0" indent="-355600" algn="just">
              <a:lnSpc>
                <a:spcPct val="130000"/>
              </a:lnSpc>
              <a:spcBef>
                <a:spcPts val="0"/>
              </a:spcBef>
              <a:buFont typeface="Wingdings" panose="05000000000000000000" pitchFamily="2" charset="2"/>
              <a:buChar char="q"/>
            </a:pPr>
            <a:r>
              <a:rPr lang="bg-BG" sz="2400" dirty="0"/>
              <a:t>обекта на изследване се третира като черна (сива) кутия, събира се по подходящ начин информация за входа и изхода му, която се обработва по специални алгоритми (идентификация);</a:t>
            </a:r>
            <a:endParaRPr lang="en-GB" sz="2400" dirty="0"/>
          </a:p>
          <a:p>
            <a:pPr marL="0" indent="533400" algn="just">
              <a:lnSpc>
                <a:spcPct val="130000"/>
              </a:lnSpc>
              <a:spcBef>
                <a:spcPts val="0"/>
              </a:spcBef>
              <a:buNone/>
            </a:pPr>
            <a:r>
              <a:rPr lang="bg-BG" sz="2400" dirty="0"/>
              <a:t> Като резултат от провежданата идентификация на обект се получава модел. </a:t>
            </a:r>
          </a:p>
        </p:txBody>
      </p:sp>
    </p:spTree>
    <p:extLst>
      <p:ext uri="{BB962C8B-B14F-4D97-AF65-F5344CB8AC3E}">
        <p14:creationId xmlns:p14="http://schemas.microsoft.com/office/powerpoint/2010/main" val="53314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4</a:t>
            </a:fld>
            <a:endParaRPr lang="bg-BG" dirty="0"/>
          </a:p>
        </p:txBody>
      </p:sp>
      <mc:AlternateContent xmlns:mc="http://schemas.openxmlformats.org/markup-compatibility/2006" xmlns:a14="http://schemas.microsoft.com/office/drawing/2010/main">
        <mc:Choice Requires="a14">
          <p:sp>
            <p:nvSpPr>
              <p:cNvPr id="7" name="Content Placeholder 2"/>
              <p:cNvSpPr txBox="1">
                <a:spLocks/>
              </p:cNvSpPr>
              <p:nvPr/>
            </p:nvSpPr>
            <p:spPr>
              <a:xfrm>
                <a:off x="1917700" y="64228"/>
                <a:ext cx="10210800" cy="6704872"/>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200"/>
                  </a:spcBef>
                  <a:buClr>
                    <a:schemeClr val="accent1">
                      <a:lumMod val="75000"/>
                    </a:schemeClr>
                  </a:buClr>
                  <a:buSzPct val="85000"/>
                  <a:buFont typeface="Wingdings" pitchFamily="2" charset="2"/>
                  <a:buNone/>
                  <a:defRPr sz="2000" kern="1200">
                    <a:solidFill>
                      <a:schemeClr val="tx1"/>
                    </a:solidFill>
                    <a:latin typeface="+mn-lt"/>
                    <a:ea typeface="+mn-ea"/>
                    <a:cs typeface="+mn-cs"/>
                  </a:defRPr>
                </a:lvl1pPr>
                <a:lvl2pPr marL="457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8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6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1400" kern="1200">
                    <a:solidFill>
                      <a:schemeClr val="tx1">
                        <a:tint val="75000"/>
                      </a:schemeClr>
                    </a:solidFill>
                    <a:latin typeface="+mn-lt"/>
                    <a:ea typeface="+mn-ea"/>
                    <a:cs typeface="+mn-cs"/>
                  </a:defRPr>
                </a:lvl9pPr>
              </a:lstStyle>
              <a:p>
                <a:pPr indent="533400" algn="just">
                  <a:lnSpc>
                    <a:spcPct val="130000"/>
                  </a:lnSpc>
                  <a:spcBef>
                    <a:spcPts val="0"/>
                  </a:spcBef>
                </a:pPr>
                <a:r>
                  <a:rPr lang="bg-BG" sz="2400" i="1" dirty="0"/>
                  <a:t>Оценяване на параметри и състояние</a:t>
                </a:r>
                <a:endParaRPr lang="en-GB" sz="2400" i="1" dirty="0"/>
              </a:p>
              <a:p>
                <a:pPr indent="533400" algn="just">
                  <a:lnSpc>
                    <a:spcPct val="130000"/>
                  </a:lnSpc>
                  <a:spcBef>
                    <a:spcPts val="0"/>
                  </a:spcBef>
                </a:pPr>
                <a:r>
                  <a:rPr lang="bg-BG" sz="2400" dirty="0"/>
                  <a:t>Оценяването е свързано с теория, даваща възможност да се получат стойности за параметри и състояние на основата на краен брой наблюдения (извадка). Необходимо е да се направи конкретизация, тъй като с термина параметри могат да се означават параметри на модели (коефициенти на диференциални уравнения) или технологични параметри (температура, налягане и др.).</a:t>
                </a:r>
                <a:endParaRPr lang="en-GB" sz="2400" dirty="0"/>
              </a:p>
              <a:p>
                <a:pPr indent="533400" algn="just">
                  <a:lnSpc>
                    <a:spcPct val="140000"/>
                  </a:lnSpc>
                  <a:spcBef>
                    <a:spcPts val="0"/>
                  </a:spcBef>
                </a:pPr>
                <a:r>
                  <a:rPr lang="ru-RU" altLang="bg-BG" sz="2400" dirty="0">
                    <a:sym typeface="Symbol" panose="05050102010706020507" pitchFamily="18" charset="2"/>
                  </a:rPr>
                  <a:t>Ако по измерваната изходна величина за обекта </a:t>
                </a:r>
                <a:r>
                  <a:rPr lang="ru-RU" altLang="bg-BG" sz="2400" i="1" dirty="0">
                    <a:sym typeface="Symbol" panose="05050102010706020507" pitchFamily="18" charset="2"/>
                  </a:rPr>
                  <a:t>y(t) </a:t>
                </a:r>
                <a:r>
                  <a:rPr lang="ru-RU" altLang="bg-BG" sz="2400" dirty="0">
                    <a:sym typeface="Symbol" panose="05050102010706020507" pitchFamily="18" charset="2"/>
                  </a:rPr>
                  <a:t>за време, за наблюдение</a:t>
                </a:r>
                <a14:m>
                  <m:oMath xmlns:m="http://schemas.openxmlformats.org/officeDocument/2006/math">
                    <m:r>
                      <a:rPr lang="bg-BG" altLang="bg-BG" sz="2400" b="0" i="0" smtClean="0">
                        <a:latin typeface="Cambria Math" panose="02040503050406030204" pitchFamily="18" charset="0"/>
                        <a:sym typeface="Symbol" panose="05050102010706020507" pitchFamily="18" charset="2"/>
                      </a:rPr>
                      <m:t> </m:t>
                    </m:r>
                    <m:r>
                      <a:rPr lang="en-GB" altLang="bg-BG" sz="2400" b="0" i="1" smtClean="0">
                        <a:latin typeface="Cambria Math" panose="02040503050406030204" pitchFamily="18" charset="0"/>
                        <a:sym typeface="Symbol" panose="05050102010706020507" pitchFamily="18" charset="2"/>
                      </a:rPr>
                      <m:t>0</m:t>
                    </m:r>
                    <m:r>
                      <a:rPr lang="en-GB" altLang="bg-BG" sz="2400" b="0" i="1" smtClean="0">
                        <a:latin typeface="Cambria Math" panose="02040503050406030204" pitchFamily="18" charset="0"/>
                        <a:ea typeface="Cambria Math" panose="02040503050406030204" pitchFamily="18" charset="0"/>
                        <a:sym typeface="Symbol" panose="05050102010706020507" pitchFamily="18" charset="2"/>
                      </a:rPr>
                      <m:t>÷</m:t>
                    </m:r>
                    <m:r>
                      <a:rPr lang="en-GB" altLang="bg-BG" sz="2400" b="0" i="1" smtClean="0">
                        <a:latin typeface="Cambria Math" panose="02040503050406030204" pitchFamily="18" charset="0"/>
                        <a:ea typeface="Cambria Math" panose="02040503050406030204" pitchFamily="18" charset="0"/>
                        <a:sym typeface="Symbol" panose="05050102010706020507" pitchFamily="18" charset="2"/>
                      </a:rPr>
                      <m:t>𝑇</m:t>
                    </m:r>
                  </m:oMath>
                </a14:m>
                <a:r>
                  <a:rPr lang="ru-RU" altLang="bg-BG" sz="2400" dirty="0">
                    <a:sym typeface="Symbol" panose="05050102010706020507" pitchFamily="18" charset="2"/>
                  </a:rPr>
                  <a:t>се определя оценка на състоянието </a:t>
                </a:r>
                <a14:m>
                  <m:oMath xmlns:m="http://schemas.openxmlformats.org/officeDocument/2006/math">
                    <m:acc>
                      <m:accPr>
                        <m:chr m:val="̂"/>
                        <m:ctrlPr>
                          <a:rPr lang="ru-RU" altLang="bg-BG" sz="2400" i="1" smtClean="0">
                            <a:latin typeface="Cambria Math" panose="02040503050406030204" pitchFamily="18" charset="0"/>
                            <a:sym typeface="Symbol" panose="05050102010706020507" pitchFamily="18" charset="2"/>
                          </a:rPr>
                        </m:ctrlPr>
                      </m:accPr>
                      <m:e>
                        <m:r>
                          <a:rPr lang="en-GB" altLang="bg-BG" sz="2400" b="0" i="1" smtClean="0">
                            <a:latin typeface="Cambria Math" panose="02040503050406030204" pitchFamily="18" charset="0"/>
                            <a:sym typeface="Symbol" panose="05050102010706020507" pitchFamily="18" charset="2"/>
                          </a:rPr>
                          <m:t>𝑥</m:t>
                        </m:r>
                      </m:e>
                    </m:acc>
                    <m:r>
                      <a:rPr lang="en-GB" altLang="bg-BG" sz="2400" b="0" i="1" smtClean="0">
                        <a:latin typeface="Cambria Math" panose="02040503050406030204" pitchFamily="18" charset="0"/>
                        <a:sym typeface="Symbol" panose="05050102010706020507" pitchFamily="18" charset="2"/>
                      </a:rPr>
                      <m:t>(</m:t>
                    </m:r>
                    <m:r>
                      <a:rPr lang="en-GB" altLang="bg-BG" sz="2400" b="0" i="1" smtClean="0">
                        <a:latin typeface="Cambria Math" panose="02040503050406030204" pitchFamily="18" charset="0"/>
                        <a:sym typeface="Symbol" panose="05050102010706020507" pitchFamily="18" charset="2"/>
                      </a:rPr>
                      <m:t>𝑡</m:t>
                    </m:r>
                    <m:r>
                      <a:rPr lang="en-GB" altLang="bg-BG" sz="2400" b="0" i="1" smtClean="0">
                        <a:latin typeface="Cambria Math" panose="02040503050406030204" pitchFamily="18" charset="0"/>
                        <a:sym typeface="Symbol" panose="05050102010706020507" pitchFamily="18" charset="2"/>
                      </a:rPr>
                      <m:t>)</m:t>
                    </m:r>
                  </m:oMath>
                </a14:m>
                <a:r>
                  <a:rPr lang="ru-RU" altLang="bg-BG" sz="2400" dirty="0">
                    <a:sym typeface="Symbol" panose="05050102010706020507" pitchFamily="18" charset="2"/>
                  </a:rPr>
                  <a:t>, в зависимост от съотношението между текущото време </a:t>
                </a:r>
                <a:r>
                  <a:rPr lang="ru-RU" altLang="bg-BG" sz="2400" i="1" dirty="0">
                    <a:sym typeface="Symbol" panose="05050102010706020507" pitchFamily="18" charset="2"/>
                  </a:rPr>
                  <a:t>t </a:t>
                </a:r>
                <a:r>
                  <a:rPr lang="ru-RU" altLang="bg-BG" sz="2400" dirty="0">
                    <a:sym typeface="Symbol" panose="05050102010706020507" pitchFamily="18" charset="2"/>
                  </a:rPr>
                  <a:t>и </a:t>
                </a:r>
                <a:r>
                  <a:rPr lang="ru-RU" altLang="bg-BG" sz="2400" i="1" dirty="0">
                    <a:sym typeface="Symbol" panose="05050102010706020507" pitchFamily="18" charset="2"/>
                  </a:rPr>
                  <a:t>T </a:t>
                </a:r>
                <a:r>
                  <a:rPr lang="ru-RU" altLang="bg-BG" sz="2400" dirty="0">
                    <a:sym typeface="Symbol" panose="05050102010706020507" pitchFamily="18" charset="2"/>
                  </a:rPr>
                  <a:t>се говори за:</a:t>
                </a:r>
              </a:p>
              <a:p>
                <a:pPr marL="901700" indent="-342900" algn="just">
                  <a:lnSpc>
                    <a:spcPct val="140000"/>
                  </a:lnSpc>
                  <a:spcBef>
                    <a:spcPts val="0"/>
                  </a:spcBef>
                  <a:buFont typeface="Wingdings" panose="05000000000000000000" pitchFamily="2" charset="2"/>
                  <a:buChar char="q"/>
                </a:pPr>
                <a:r>
                  <a:rPr lang="ru-RU" altLang="bg-BG" sz="2400" dirty="0">
                    <a:sym typeface="Symbol" panose="05050102010706020507" pitchFamily="18" charset="2"/>
                  </a:rPr>
                  <a:t>задача за предсказване, ако се оценява </a:t>
                </a:r>
                <a14:m>
                  <m:oMath xmlns:m="http://schemas.openxmlformats.org/officeDocument/2006/math">
                    <m:acc>
                      <m:accPr>
                        <m:chr m:val="̂"/>
                        <m:ctrlPr>
                          <a:rPr lang="ru-RU" altLang="bg-BG" sz="2400" i="1">
                            <a:latin typeface="Cambria Math" panose="02040503050406030204" pitchFamily="18" charset="0"/>
                            <a:sym typeface="Symbol" panose="05050102010706020507" pitchFamily="18" charset="2"/>
                          </a:rPr>
                        </m:ctrlPr>
                      </m:accPr>
                      <m:e>
                        <m:r>
                          <a:rPr lang="en-GB" altLang="bg-BG" sz="2400" i="1">
                            <a:latin typeface="Cambria Math" panose="02040503050406030204" pitchFamily="18" charset="0"/>
                            <a:sym typeface="Symbol" panose="05050102010706020507" pitchFamily="18" charset="2"/>
                          </a:rPr>
                          <m:t>𝑥</m:t>
                        </m:r>
                      </m:e>
                    </m:acc>
                    <m:r>
                      <a:rPr lang="en-GB" altLang="bg-BG" sz="2400" i="1">
                        <a:latin typeface="Cambria Math" panose="02040503050406030204" pitchFamily="18" charset="0"/>
                        <a:sym typeface="Symbol" panose="05050102010706020507" pitchFamily="18" charset="2"/>
                      </a:rPr>
                      <m:t>(</m:t>
                    </m:r>
                    <m:r>
                      <a:rPr lang="en-GB" altLang="bg-BG" sz="2400" i="1">
                        <a:latin typeface="Cambria Math" panose="02040503050406030204" pitchFamily="18" charset="0"/>
                        <a:sym typeface="Symbol" panose="05050102010706020507" pitchFamily="18" charset="2"/>
                      </a:rPr>
                      <m:t>𝑡</m:t>
                    </m:r>
                    <m:r>
                      <a:rPr lang="en-GB" altLang="bg-BG" sz="2400" i="1">
                        <a:latin typeface="Cambria Math" panose="02040503050406030204" pitchFamily="18" charset="0"/>
                        <a:sym typeface="Symbol" panose="05050102010706020507" pitchFamily="18" charset="2"/>
                      </a:rPr>
                      <m:t>)</m:t>
                    </m:r>
                  </m:oMath>
                </a14:m>
                <a:r>
                  <a:rPr lang="ru-RU" altLang="bg-BG" sz="2400" dirty="0">
                    <a:sym typeface="Symbol" panose="05050102010706020507" pitchFamily="18" charset="2"/>
                  </a:rPr>
                  <a:t>  за </a:t>
                </a:r>
                <a:r>
                  <a:rPr lang="ru-RU" altLang="bg-BG" sz="2400" i="1" dirty="0">
                    <a:sym typeface="Symbol" panose="05050102010706020507" pitchFamily="18" charset="2"/>
                  </a:rPr>
                  <a:t>t&gt;T</a:t>
                </a:r>
                <a:r>
                  <a:rPr lang="ru-RU" altLang="bg-BG" sz="2400" dirty="0">
                    <a:sym typeface="Symbol" panose="05050102010706020507" pitchFamily="18" charset="2"/>
                  </a:rPr>
                  <a:t>;</a:t>
                </a:r>
              </a:p>
              <a:p>
                <a:pPr marL="901700" indent="-342900" algn="just">
                  <a:lnSpc>
                    <a:spcPct val="140000"/>
                  </a:lnSpc>
                  <a:spcBef>
                    <a:spcPts val="0"/>
                  </a:spcBef>
                  <a:buFont typeface="Wingdings" panose="05000000000000000000" pitchFamily="2" charset="2"/>
                  <a:buChar char="q"/>
                </a:pPr>
                <a:r>
                  <a:rPr lang="ru-RU" altLang="bg-BG" sz="2400" dirty="0">
                    <a:sym typeface="Symbol" panose="05050102010706020507" pitchFamily="18" charset="2"/>
                  </a:rPr>
                  <a:t>задача за изглаждане, ако се определя  </a:t>
                </a:r>
                <a14:m>
                  <m:oMath xmlns:m="http://schemas.openxmlformats.org/officeDocument/2006/math">
                    <m:acc>
                      <m:accPr>
                        <m:chr m:val="̂"/>
                        <m:ctrlPr>
                          <a:rPr lang="ru-RU" altLang="bg-BG" sz="2400" i="1">
                            <a:latin typeface="Cambria Math" panose="02040503050406030204" pitchFamily="18" charset="0"/>
                            <a:sym typeface="Symbol" panose="05050102010706020507" pitchFamily="18" charset="2"/>
                          </a:rPr>
                        </m:ctrlPr>
                      </m:accPr>
                      <m:e>
                        <m:r>
                          <a:rPr lang="en-GB" altLang="bg-BG" sz="2400" i="1">
                            <a:latin typeface="Cambria Math" panose="02040503050406030204" pitchFamily="18" charset="0"/>
                            <a:sym typeface="Symbol" panose="05050102010706020507" pitchFamily="18" charset="2"/>
                          </a:rPr>
                          <m:t>𝑥</m:t>
                        </m:r>
                      </m:e>
                    </m:acc>
                    <m:r>
                      <a:rPr lang="en-GB" altLang="bg-BG" sz="2400" i="1">
                        <a:latin typeface="Cambria Math" panose="02040503050406030204" pitchFamily="18" charset="0"/>
                        <a:sym typeface="Symbol" panose="05050102010706020507" pitchFamily="18" charset="2"/>
                      </a:rPr>
                      <m:t>(</m:t>
                    </m:r>
                    <m:r>
                      <a:rPr lang="en-GB" altLang="bg-BG" sz="2400" i="1">
                        <a:latin typeface="Cambria Math" panose="02040503050406030204" pitchFamily="18" charset="0"/>
                        <a:sym typeface="Symbol" panose="05050102010706020507" pitchFamily="18" charset="2"/>
                      </a:rPr>
                      <m:t>𝑡</m:t>
                    </m:r>
                    <m:r>
                      <a:rPr lang="en-GB" altLang="bg-BG" sz="2400" i="1">
                        <a:latin typeface="Cambria Math" panose="02040503050406030204" pitchFamily="18" charset="0"/>
                        <a:sym typeface="Symbol" panose="05050102010706020507" pitchFamily="18" charset="2"/>
                      </a:rPr>
                      <m:t>)</m:t>
                    </m:r>
                  </m:oMath>
                </a14:m>
                <a:r>
                  <a:rPr lang="ru-RU" altLang="bg-BG" sz="2400" dirty="0">
                    <a:sym typeface="Symbol" panose="05050102010706020507" pitchFamily="18" charset="2"/>
                  </a:rPr>
                  <a:t> за </a:t>
                </a:r>
                <a:r>
                  <a:rPr lang="ru-RU" altLang="bg-BG" sz="2400" i="1" dirty="0">
                    <a:sym typeface="Symbol" panose="05050102010706020507" pitchFamily="18" charset="2"/>
                  </a:rPr>
                  <a:t>t&lt;T</a:t>
                </a:r>
                <a:r>
                  <a:rPr lang="en-GB" altLang="bg-BG" sz="2400" dirty="0">
                    <a:sym typeface="Symbol" panose="05050102010706020507" pitchFamily="18" charset="2"/>
                  </a:rPr>
                  <a:t>;</a:t>
                </a:r>
                <a:endParaRPr lang="ru-RU" altLang="bg-BG" sz="2400" dirty="0">
                  <a:sym typeface="Symbol" panose="05050102010706020507" pitchFamily="18" charset="2"/>
                </a:endParaRPr>
              </a:p>
              <a:p>
                <a:pPr marL="901700" indent="-342900" algn="just">
                  <a:lnSpc>
                    <a:spcPct val="140000"/>
                  </a:lnSpc>
                  <a:spcBef>
                    <a:spcPts val="0"/>
                  </a:spcBef>
                  <a:buFont typeface="Wingdings" panose="05000000000000000000" pitchFamily="2" charset="2"/>
                  <a:buChar char="q"/>
                </a:pPr>
                <a:r>
                  <a:rPr lang="ru-RU" altLang="bg-BG" sz="2400" dirty="0">
                    <a:sym typeface="Symbol" panose="05050102010706020507" pitchFamily="18" charset="2"/>
                  </a:rPr>
                  <a:t>задача за филтрация, когато се определя  </a:t>
                </a:r>
                <a14:m>
                  <m:oMath xmlns:m="http://schemas.openxmlformats.org/officeDocument/2006/math">
                    <m:acc>
                      <m:accPr>
                        <m:chr m:val="̂"/>
                        <m:ctrlPr>
                          <a:rPr lang="ru-RU" altLang="bg-BG" sz="2400" i="1">
                            <a:latin typeface="Cambria Math" panose="02040503050406030204" pitchFamily="18" charset="0"/>
                            <a:sym typeface="Symbol" panose="05050102010706020507" pitchFamily="18" charset="2"/>
                          </a:rPr>
                        </m:ctrlPr>
                      </m:accPr>
                      <m:e>
                        <m:r>
                          <a:rPr lang="en-GB" altLang="bg-BG" sz="2400" i="1">
                            <a:latin typeface="Cambria Math" panose="02040503050406030204" pitchFamily="18" charset="0"/>
                            <a:sym typeface="Symbol" panose="05050102010706020507" pitchFamily="18" charset="2"/>
                          </a:rPr>
                          <m:t>𝑥</m:t>
                        </m:r>
                      </m:e>
                    </m:acc>
                    <m:r>
                      <a:rPr lang="en-GB" altLang="bg-BG" sz="2400" i="1">
                        <a:latin typeface="Cambria Math" panose="02040503050406030204" pitchFamily="18" charset="0"/>
                        <a:sym typeface="Symbol" panose="05050102010706020507" pitchFamily="18" charset="2"/>
                      </a:rPr>
                      <m:t>(</m:t>
                    </m:r>
                    <m:r>
                      <a:rPr lang="en-GB" altLang="bg-BG" sz="2400" i="1">
                        <a:latin typeface="Cambria Math" panose="02040503050406030204" pitchFamily="18" charset="0"/>
                        <a:sym typeface="Symbol" panose="05050102010706020507" pitchFamily="18" charset="2"/>
                      </a:rPr>
                      <m:t>𝑡</m:t>
                    </m:r>
                    <m:r>
                      <a:rPr lang="en-GB" altLang="bg-BG" sz="2400" i="1">
                        <a:latin typeface="Cambria Math" panose="02040503050406030204" pitchFamily="18" charset="0"/>
                        <a:sym typeface="Symbol" panose="05050102010706020507" pitchFamily="18" charset="2"/>
                      </a:rPr>
                      <m:t>)</m:t>
                    </m:r>
                  </m:oMath>
                </a14:m>
                <a:r>
                  <a:rPr lang="ru-RU" altLang="bg-BG" sz="2400" dirty="0">
                    <a:sym typeface="Symbol" panose="05050102010706020507" pitchFamily="18" charset="2"/>
                  </a:rPr>
                  <a:t> за </a:t>
                </a:r>
                <a:r>
                  <a:rPr lang="ru-RU" altLang="bg-BG" sz="2400" i="1" dirty="0">
                    <a:sym typeface="Symbol" panose="05050102010706020507" pitchFamily="18" charset="2"/>
                  </a:rPr>
                  <a:t>t=T</a:t>
                </a:r>
                <a:r>
                  <a:rPr lang="ru-RU" altLang="bg-BG" sz="2400" dirty="0">
                    <a:sym typeface="Symbol" panose="05050102010706020507" pitchFamily="18" charset="2"/>
                  </a:rPr>
                  <a:t>.</a:t>
                </a:r>
                <a:endParaRPr lang="bg-BG" altLang="bg-BG" sz="2400" dirty="0">
                  <a:sym typeface="Symbol" panose="05050102010706020507" pitchFamily="18" charset="2"/>
                </a:endParaRPr>
              </a:p>
              <a:p>
                <a:pPr marL="457200" algn="just">
                  <a:lnSpc>
                    <a:spcPct val="150000"/>
                  </a:lnSpc>
                  <a:spcBef>
                    <a:spcPts val="0"/>
                  </a:spcBef>
                </a:pPr>
                <a:endParaRPr lang="en-US" sz="2400" dirty="0">
                  <a:solidFill>
                    <a:schemeClr val="tx1">
                      <a:lumMod val="95000"/>
                      <a:lumOff val="5000"/>
                    </a:schemeClr>
                  </a:solidFill>
                </a:endParaRPr>
              </a:p>
            </p:txBody>
          </p:sp>
        </mc:Choice>
        <mc:Fallback xmlns="">
          <p:sp>
            <p:nvSpPr>
              <p:cNvPr id="7" name="Content Placeholder 2"/>
              <p:cNvSpPr txBox="1">
                <a:spLocks noRot="1" noChangeAspect="1" noMove="1" noResize="1" noEditPoints="1" noAdjustHandles="1" noChangeArrowheads="1" noChangeShapeType="1" noTextEdit="1"/>
              </p:cNvSpPr>
              <p:nvPr/>
            </p:nvSpPr>
            <p:spPr>
              <a:xfrm>
                <a:off x="1917700" y="64228"/>
                <a:ext cx="10210800" cy="6704872"/>
              </a:xfrm>
              <a:prstGeom prst="rect">
                <a:avLst/>
              </a:prstGeom>
              <a:blipFill>
                <a:blip r:embed="rId3"/>
                <a:stretch>
                  <a:fillRect l="-955" r="-896"/>
                </a:stretch>
              </a:blipFill>
            </p:spPr>
            <p:txBody>
              <a:bodyPr/>
              <a:lstStyle/>
              <a:p>
                <a:r>
                  <a:rPr lang="bg-BG">
                    <a:noFill/>
                  </a:rPr>
                  <a:t> </a:t>
                </a:r>
              </a:p>
            </p:txBody>
          </p:sp>
        </mc:Fallback>
      </mc:AlternateContent>
    </p:spTree>
    <p:extLst>
      <p:ext uri="{BB962C8B-B14F-4D97-AF65-F5344CB8AC3E}">
        <p14:creationId xmlns:p14="http://schemas.microsoft.com/office/powerpoint/2010/main" val="700737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17700" y="38100"/>
            <a:ext cx="10274300" cy="6819900"/>
          </a:xfrm>
        </p:spPr>
        <p:txBody>
          <a:bodyPr vert="horz" lIns="91440" tIns="45720" rIns="91440" bIns="45720" rtlCol="0" anchor="t">
            <a:noAutofit/>
          </a:bodyPr>
          <a:lstStyle/>
          <a:p>
            <a:pPr indent="533400" algn="just">
              <a:lnSpc>
                <a:spcPct val="130000"/>
              </a:lnSpc>
              <a:spcBef>
                <a:spcPts val="0"/>
              </a:spcBef>
            </a:pPr>
            <a:r>
              <a:rPr lang="bg-BG" sz="2400" i="1" dirty="0"/>
              <a:t>Изисквания при моделирането</a:t>
            </a:r>
            <a:endParaRPr lang="en-GB" sz="2400" i="1" dirty="0"/>
          </a:p>
          <a:p>
            <a:pPr indent="533400" algn="just">
              <a:lnSpc>
                <a:spcPct val="130000"/>
              </a:lnSpc>
              <a:spcBef>
                <a:spcPts val="0"/>
              </a:spcBef>
            </a:pPr>
            <a:r>
              <a:rPr lang="bg-BG" sz="2400" dirty="0"/>
              <a:t>Синтезът на модели трябва да се подчинява на следните задължителни условия (постулати):</a:t>
            </a:r>
            <a:endParaRPr lang="en-GB" sz="2400" dirty="0"/>
          </a:p>
          <a:p>
            <a:pPr marL="901700" indent="-342900" algn="just">
              <a:lnSpc>
                <a:spcPct val="140000"/>
              </a:lnSpc>
              <a:spcBef>
                <a:spcPts val="0"/>
              </a:spcBef>
              <a:buFont typeface="Wingdings" panose="05000000000000000000" pitchFamily="2" charset="2"/>
              <a:buChar char="q"/>
            </a:pPr>
            <a:r>
              <a:rPr lang="bg-BG" sz="2400" dirty="0"/>
              <a:t>наблюдаемост на обекта; </a:t>
            </a:r>
            <a:endParaRPr lang="en-GB" sz="2400" dirty="0"/>
          </a:p>
          <a:p>
            <a:pPr indent="533400" algn="just">
              <a:lnSpc>
                <a:spcPct val="130000"/>
              </a:lnSpc>
              <a:spcBef>
                <a:spcPts val="0"/>
              </a:spcBef>
            </a:pPr>
            <a:r>
              <a:rPr lang="bg-BG" sz="2400" dirty="0"/>
              <a:t>Адекватен на обекта модел може да се построи, ако входовете и изходите му са наблюдаеми (измеряеми). Отсъствието на наблюдаемост на някои величини, води до съставяне на приблизителен модел;</a:t>
            </a:r>
            <a:endParaRPr lang="en-GB" sz="2400" dirty="0"/>
          </a:p>
          <a:p>
            <a:pPr marL="901700" indent="-342900" algn="just">
              <a:lnSpc>
                <a:spcPct val="140000"/>
              </a:lnSpc>
              <a:spcBef>
                <a:spcPts val="0"/>
              </a:spcBef>
              <a:buFont typeface="Wingdings" panose="05000000000000000000" pitchFamily="2" charset="2"/>
              <a:buChar char="q"/>
            </a:pPr>
            <a:r>
              <a:rPr lang="bg-BG" sz="2400" dirty="0"/>
              <a:t>стабилност на обекта;</a:t>
            </a:r>
          </a:p>
          <a:p>
            <a:pPr indent="533400" algn="just">
              <a:lnSpc>
                <a:spcPct val="130000"/>
              </a:lnSpc>
              <a:spcBef>
                <a:spcPts val="0"/>
              </a:spcBef>
            </a:pPr>
            <a:r>
              <a:rPr lang="bg-BG" sz="2400" dirty="0"/>
              <a:t>Може да се моделират обекти, които в определен интервал от време имат стабилни свойства (характеристики). Стабилността не следва да се отъждествява със стационарността.</a:t>
            </a:r>
          </a:p>
          <a:p>
            <a:pPr marL="901700" indent="-342900" algn="just">
              <a:lnSpc>
                <a:spcPct val="140000"/>
              </a:lnSpc>
              <a:spcBef>
                <a:spcPts val="0"/>
              </a:spcBef>
              <a:buFont typeface="Wingdings" panose="05000000000000000000" pitchFamily="2" charset="2"/>
              <a:buChar char="q"/>
            </a:pPr>
            <a:r>
              <a:rPr lang="bg-BG" sz="2400" dirty="0"/>
              <a:t>екстраполируемост на модела. </a:t>
            </a:r>
          </a:p>
          <a:p>
            <a:pPr indent="533400" algn="just">
              <a:lnSpc>
                <a:spcPct val="130000"/>
              </a:lnSpc>
              <a:spcBef>
                <a:spcPts val="0"/>
              </a:spcBef>
            </a:pPr>
            <a:r>
              <a:rPr lang="bg-BG" sz="2400" dirty="0"/>
              <a:t>Създаденият модел трябва да може да обяснява и други ситуации, различни от тези, при които е създаден.</a:t>
            </a:r>
            <a:endParaRPr lang="en-GB" sz="2400" dirty="0"/>
          </a:p>
          <a:p>
            <a:pPr indent="533400" algn="just">
              <a:lnSpc>
                <a:spcPct val="130000"/>
              </a:lnSpc>
              <a:spcBef>
                <a:spcPts val="0"/>
              </a:spcBef>
            </a:pPr>
            <a:endParaRPr lang="en-GB"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5</a:t>
            </a:fld>
            <a:endParaRPr lang="bg-BG" dirty="0"/>
          </a:p>
        </p:txBody>
      </p:sp>
      <p:sp>
        <p:nvSpPr>
          <p:cNvPr id="7"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9" name="Rectangle 6"/>
          <p:cNvSpPr>
            <a:spLocks noChangeArrowheads="1"/>
          </p:cNvSpPr>
          <p:nvPr/>
        </p:nvSpPr>
        <p:spPr bwMode="auto">
          <a:xfrm>
            <a:off x="0" y="228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bg-BG" altLang="bg-BG"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t>
            </a:r>
            <a:r>
              <a:rPr kumimoji="0" lang="bg-BG" altLang="bg-BG" sz="900" b="0" i="0" u="none" strike="noStrike" cap="none" normalizeH="0" baseline="0">
                <a:ln>
                  <a:noFill/>
                </a:ln>
                <a:solidFill>
                  <a:schemeClr val="tx1"/>
                </a:solidFill>
                <a:effectLst/>
              </a:rPr>
              <a:t> </a:t>
            </a:r>
            <a:endParaRPr kumimoji="0" lang="bg-BG" altLang="bg-BG" sz="1800" b="0" i="0" u="none" strike="noStrike" cap="none" normalizeH="0" baseline="0">
              <a:ln>
                <a:noFill/>
              </a:ln>
              <a:solidFill>
                <a:schemeClr val="tx1"/>
              </a:solidFill>
              <a:effectLst/>
              <a:latin typeface="Arial" panose="020B0604020202020204" pitchFamily="34" charset="0"/>
            </a:endParaRPr>
          </a:p>
        </p:txBody>
      </p:sp>
      <p:sp>
        <p:nvSpPr>
          <p:cNvPr id="22" name="Rectangle 1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8" name="Rectangle 2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Tree>
    <p:extLst>
      <p:ext uri="{BB962C8B-B14F-4D97-AF65-F5344CB8AC3E}">
        <p14:creationId xmlns:p14="http://schemas.microsoft.com/office/powerpoint/2010/main" val="3814111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163413" y="249720"/>
            <a:ext cx="9811657" cy="4855684"/>
          </a:xfrm>
        </p:spPr>
        <p:txBody>
          <a:bodyPr>
            <a:noAutofit/>
          </a:bodyPr>
          <a:lstStyle/>
          <a:p>
            <a:pPr indent="533400" algn="just">
              <a:lnSpc>
                <a:spcPct val="130000"/>
              </a:lnSpc>
              <a:spcBef>
                <a:spcPts val="0"/>
              </a:spcBef>
            </a:pPr>
            <a:r>
              <a:rPr lang="bg-BG" sz="2400" i="1" dirty="0"/>
              <a:t>Функции на модела</a:t>
            </a:r>
          </a:p>
          <a:p>
            <a:pPr marL="901700" lvl="0" indent="-342900" algn="just">
              <a:lnSpc>
                <a:spcPct val="140000"/>
              </a:lnSpc>
              <a:spcBef>
                <a:spcPts val="0"/>
              </a:spcBef>
              <a:buFont typeface="Wingdings" panose="05000000000000000000" pitchFamily="2" charset="2"/>
              <a:buChar char="q"/>
            </a:pPr>
            <a:r>
              <a:rPr lang="bg-BG" sz="2400" dirty="0"/>
              <a:t>да концентрира и съхранява цялата информация за динамичните свойства на обекта, който се изследва;</a:t>
            </a:r>
            <a:endParaRPr lang="en-GB" sz="2400" dirty="0"/>
          </a:p>
          <a:p>
            <a:pPr marL="901700" lvl="0" indent="-342900" algn="just">
              <a:lnSpc>
                <a:spcPct val="140000"/>
              </a:lnSpc>
              <a:spcBef>
                <a:spcPts val="0"/>
              </a:spcBef>
              <a:buFont typeface="Wingdings" panose="05000000000000000000" pitchFamily="2" charset="2"/>
              <a:buChar char="q"/>
            </a:pPr>
            <a:r>
              <a:rPr lang="bg-BG" sz="2400" dirty="0"/>
              <a:t>да „предава” информация за динамичните свойства на обекта;</a:t>
            </a:r>
            <a:endParaRPr lang="en-GB" sz="2400" dirty="0"/>
          </a:p>
          <a:p>
            <a:pPr marL="901700" lvl="0" indent="-342900" algn="just">
              <a:lnSpc>
                <a:spcPct val="140000"/>
              </a:lnSpc>
              <a:spcBef>
                <a:spcPts val="0"/>
              </a:spcBef>
              <a:buFont typeface="Wingdings" panose="05000000000000000000" pitchFamily="2" charset="2"/>
              <a:buChar char="q"/>
            </a:pPr>
            <a:r>
              <a:rPr lang="bg-BG" sz="2400" dirty="0"/>
              <a:t>да служи за предсказване (прогнозиране) поведението на обекта в областта на изменение на променливите и валидност на предположенията, при които той е създаден;</a:t>
            </a:r>
            <a:endParaRPr lang="en-GB" sz="2400" dirty="0"/>
          </a:p>
          <a:p>
            <a:pPr marL="901700" lvl="0" indent="-342900" algn="just">
              <a:lnSpc>
                <a:spcPct val="140000"/>
              </a:lnSpc>
              <a:spcBef>
                <a:spcPts val="0"/>
              </a:spcBef>
              <a:buFont typeface="Wingdings" panose="05000000000000000000" pitchFamily="2" charset="2"/>
              <a:buChar char="q"/>
            </a:pPr>
            <a:r>
              <a:rPr lang="bg-BG" sz="2400" dirty="0"/>
              <a:t>да бъде средство за изследване. Макар че неговото създаване е предмет на такова изследване.</a:t>
            </a:r>
          </a:p>
          <a:p>
            <a:pPr marL="558800" lvl="0" algn="just">
              <a:lnSpc>
                <a:spcPct val="140000"/>
              </a:lnSpc>
              <a:spcBef>
                <a:spcPts val="0"/>
              </a:spcBef>
            </a:pPr>
            <a:endParaRPr lang="en-GB" sz="2400" dirty="0"/>
          </a:p>
          <a:p>
            <a:pPr marL="901700" indent="-342900" algn="just">
              <a:lnSpc>
                <a:spcPct val="140000"/>
              </a:lnSpc>
              <a:spcBef>
                <a:spcPts val="0"/>
              </a:spcBef>
              <a:buFont typeface="Wingdings" panose="05000000000000000000" pitchFamily="2" charset="2"/>
              <a:buChar char="q"/>
            </a:pPr>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6</a:t>
            </a:fld>
            <a:endParaRPr lang="bg-BG" dirty="0"/>
          </a:p>
        </p:txBody>
      </p:sp>
      <p:sp>
        <p:nvSpPr>
          <p:cNvPr id="32"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7" name="Rectangle 5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Tree>
    <p:extLst>
      <p:ext uri="{BB962C8B-B14F-4D97-AF65-F5344CB8AC3E}">
        <p14:creationId xmlns:p14="http://schemas.microsoft.com/office/powerpoint/2010/main" val="741963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032000" y="72030"/>
            <a:ext cx="10160000" cy="6735170"/>
          </a:xfrm>
        </p:spPr>
        <p:txBody>
          <a:bodyPr>
            <a:noAutofit/>
          </a:bodyPr>
          <a:lstStyle/>
          <a:p>
            <a:pPr indent="533400" algn="ctr">
              <a:lnSpc>
                <a:spcPct val="130000"/>
              </a:lnSpc>
              <a:spcBef>
                <a:spcPts val="0"/>
              </a:spcBef>
            </a:pPr>
            <a:r>
              <a:rPr lang="bg-BG" sz="2400" b="1" dirty="0"/>
              <a:t>Задача на идентификацията</a:t>
            </a:r>
            <a:endParaRPr lang="en-GB" sz="2400" b="1" dirty="0"/>
          </a:p>
          <a:p>
            <a:pPr indent="533400" algn="just">
              <a:lnSpc>
                <a:spcPct val="130000"/>
              </a:lnSpc>
              <a:spcBef>
                <a:spcPts val="0"/>
              </a:spcBef>
            </a:pPr>
            <a:r>
              <a:rPr lang="bg-BG" sz="2400" dirty="0"/>
              <a:t> Задачата на идентификацията възниква в следните два случая:</a:t>
            </a:r>
            <a:endParaRPr lang="en-GB" sz="2400" dirty="0"/>
          </a:p>
          <a:p>
            <a:pPr marL="901700" lvl="0" indent="-342900" algn="just">
              <a:lnSpc>
                <a:spcPct val="130000"/>
              </a:lnSpc>
              <a:spcBef>
                <a:spcPts val="0"/>
              </a:spcBef>
              <a:buFont typeface="Wingdings" panose="05000000000000000000" pitchFamily="2" charset="2"/>
              <a:buChar char="q"/>
            </a:pPr>
            <a:r>
              <a:rPr lang="bg-BG" sz="2400" dirty="0"/>
              <a:t>в процеса на познанието;</a:t>
            </a:r>
            <a:endParaRPr lang="en-GB" sz="2400" dirty="0"/>
          </a:p>
          <a:p>
            <a:pPr marL="901700" lvl="0" indent="-342900" algn="just">
              <a:lnSpc>
                <a:spcPct val="130000"/>
              </a:lnSpc>
              <a:spcBef>
                <a:spcPts val="0"/>
              </a:spcBef>
              <a:buFont typeface="Wingdings" panose="05000000000000000000" pitchFamily="2" charset="2"/>
              <a:buChar char="q"/>
            </a:pPr>
            <a:r>
              <a:rPr lang="bg-BG" sz="2400" dirty="0"/>
              <a:t>за нуждите на управлението.</a:t>
            </a:r>
            <a:endParaRPr lang="en-GB" sz="2400" dirty="0"/>
          </a:p>
          <a:p>
            <a:pPr indent="533400" algn="just">
              <a:lnSpc>
                <a:spcPct val="130000"/>
              </a:lnSpc>
              <a:spcBef>
                <a:spcPts val="0"/>
              </a:spcBef>
            </a:pPr>
            <a:r>
              <a:rPr lang="bg-BG" sz="2400" dirty="0"/>
              <a:t> В първия случай се създава модел, който отразява механизма на функциониране на обекта на изследване. По същество това е общо познавателен модел. </a:t>
            </a:r>
          </a:p>
          <a:p>
            <a:pPr indent="533400" algn="just">
              <a:lnSpc>
                <a:spcPct val="130000"/>
              </a:lnSpc>
              <a:spcBef>
                <a:spcPts val="0"/>
              </a:spcBef>
            </a:pPr>
            <a:endParaRPr lang="bg-BG" sz="2400" dirty="0"/>
          </a:p>
          <a:p>
            <a:pPr indent="533400" algn="just">
              <a:lnSpc>
                <a:spcPct val="130000"/>
              </a:lnSpc>
              <a:spcBef>
                <a:spcPts val="0"/>
              </a:spcBef>
            </a:pPr>
            <a:endParaRPr lang="bg-BG" sz="2400" dirty="0"/>
          </a:p>
          <a:p>
            <a:pPr indent="533400" algn="just">
              <a:lnSpc>
                <a:spcPct val="130000"/>
              </a:lnSpc>
              <a:spcBef>
                <a:spcPts val="0"/>
              </a:spcBef>
            </a:pPr>
            <a:endParaRPr lang="bg-BG" sz="2400" dirty="0"/>
          </a:p>
          <a:p>
            <a:pPr indent="533400" algn="just">
              <a:lnSpc>
                <a:spcPct val="130000"/>
              </a:lnSpc>
              <a:spcBef>
                <a:spcPts val="0"/>
              </a:spcBef>
            </a:pPr>
            <a:r>
              <a:rPr lang="bg-BG" sz="2400" dirty="0"/>
              <a:t>На Фигура 1 с оператора </a:t>
            </a:r>
            <a:r>
              <a:rPr lang="bg-BG" sz="2400" i="1" dirty="0"/>
              <a:t>А</a:t>
            </a:r>
            <a:r>
              <a:rPr lang="bg-BG" sz="2400" i="1" baseline="-25000" dirty="0"/>
              <a:t>0</a:t>
            </a:r>
            <a:r>
              <a:rPr lang="bg-BG" sz="2400" dirty="0"/>
              <a:t> е формулирано правилото за преобразуване на причината </a:t>
            </a:r>
            <a:r>
              <a:rPr lang="en-US" sz="2400" i="1" dirty="0"/>
              <a:t>u</a:t>
            </a:r>
            <a:r>
              <a:rPr lang="en-US" sz="2400" dirty="0"/>
              <a:t> </a:t>
            </a:r>
            <a:r>
              <a:rPr lang="bg-BG" sz="2400" dirty="0"/>
              <a:t>в следствие </a:t>
            </a:r>
            <a:r>
              <a:rPr lang="en-US" sz="2400" i="1" dirty="0"/>
              <a:t>y</a:t>
            </a:r>
            <a:r>
              <a:rPr lang="en-US" sz="2400" dirty="0"/>
              <a:t>, </a:t>
            </a:r>
            <a:r>
              <a:rPr lang="bg-BG" sz="2400" dirty="0"/>
              <a:t>т.е. </a:t>
            </a:r>
            <a:r>
              <a:rPr lang="en-US" sz="2400" i="1" dirty="0"/>
              <a:t>y=A</a:t>
            </a:r>
            <a:r>
              <a:rPr lang="en-US" sz="2400" i="1" baseline="-25000" dirty="0"/>
              <a:t>0</a:t>
            </a:r>
            <a:r>
              <a:rPr lang="en-US" sz="2400" i="1" dirty="0"/>
              <a:t>(u)</a:t>
            </a:r>
            <a:r>
              <a:rPr lang="bg-BG" sz="2400" dirty="0"/>
              <a:t>, с </a:t>
            </a:r>
            <a:r>
              <a:rPr lang="en-US" sz="2400" i="1" dirty="0"/>
              <a:t>u</a:t>
            </a:r>
            <a:r>
              <a:rPr lang="bg-BG" sz="2400" dirty="0"/>
              <a:t> е означено взаимодействието на средата с обекта, а с </a:t>
            </a:r>
            <a:r>
              <a:rPr lang="en-US" sz="2400" i="1" dirty="0"/>
              <a:t>y</a:t>
            </a:r>
            <a:r>
              <a:rPr lang="bg-BG" sz="2400" dirty="0"/>
              <a:t> – взаимодействието на обекта със средата. </a:t>
            </a:r>
            <a:endParaRPr lang="en-GB" sz="2400" dirty="0"/>
          </a:p>
          <a:p>
            <a:pPr algn="just">
              <a:lnSpc>
                <a:spcPct val="140000"/>
              </a:lnSpc>
            </a:pPr>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7</a:t>
            </a:fld>
            <a:endParaRPr lang="bg-BG" dirty="0"/>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pic>
        <p:nvPicPr>
          <p:cNvPr id="8" name="Picture 7"/>
          <p:cNvPicPr>
            <a:picLocks noChangeAspect="1"/>
          </p:cNvPicPr>
          <p:nvPr/>
        </p:nvPicPr>
        <p:blipFill>
          <a:blip r:embed="rId3"/>
          <a:stretch>
            <a:fillRect/>
          </a:stretch>
        </p:blipFill>
        <p:spPr>
          <a:xfrm>
            <a:off x="3849279" y="3439615"/>
            <a:ext cx="5505963" cy="1411785"/>
          </a:xfrm>
          <a:prstGeom prst="rect">
            <a:avLst/>
          </a:prstGeom>
        </p:spPr>
      </p:pic>
      <p:sp>
        <p:nvSpPr>
          <p:cNvPr id="5" name="TextBox 4"/>
          <p:cNvSpPr txBox="1"/>
          <p:nvPr/>
        </p:nvSpPr>
        <p:spPr>
          <a:xfrm>
            <a:off x="6235700" y="4666734"/>
            <a:ext cx="1397000" cy="369332"/>
          </a:xfrm>
          <a:prstGeom prst="rect">
            <a:avLst/>
          </a:prstGeom>
          <a:noFill/>
        </p:spPr>
        <p:txBody>
          <a:bodyPr wrap="square" rtlCol="0">
            <a:spAutoFit/>
          </a:bodyPr>
          <a:lstStyle/>
          <a:p>
            <a:r>
              <a:rPr lang="bg-BG" dirty="0"/>
              <a:t>Фиг. 1</a:t>
            </a:r>
          </a:p>
        </p:txBody>
      </p:sp>
    </p:spTree>
    <p:extLst>
      <p:ext uri="{BB962C8B-B14F-4D97-AF65-F5344CB8AC3E}">
        <p14:creationId xmlns:p14="http://schemas.microsoft.com/office/powerpoint/2010/main" val="474568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8</a:t>
            </a:fld>
            <a:endParaRPr lang="bg-BG" dirty="0"/>
          </a:p>
        </p:txBody>
      </p:sp>
      <mc:AlternateContent xmlns:mc="http://schemas.openxmlformats.org/markup-compatibility/2006" xmlns:a14="http://schemas.microsoft.com/office/drawing/2010/main">
        <mc:Choice Requires="a14">
          <p:sp>
            <p:nvSpPr>
              <p:cNvPr id="2" name="Rectangle 1"/>
              <p:cNvSpPr/>
              <p:nvPr/>
            </p:nvSpPr>
            <p:spPr>
              <a:xfrm>
                <a:off x="2344248" y="190500"/>
                <a:ext cx="9733452" cy="6297108"/>
              </a:xfrm>
              <a:prstGeom prst="rect">
                <a:avLst/>
              </a:prstGeom>
            </p:spPr>
            <p:txBody>
              <a:bodyPr wrap="square">
                <a:spAutoFit/>
              </a:bodyPr>
              <a:lstStyle/>
              <a:p>
                <a:pPr indent="536575" algn="just">
                  <a:lnSpc>
                    <a:spcPct val="140000"/>
                  </a:lnSpc>
                  <a:buClr>
                    <a:schemeClr val="accent1">
                      <a:lumMod val="75000"/>
                    </a:schemeClr>
                  </a:buClr>
                  <a:buSzPct val="85000"/>
                </a:pPr>
                <a:r>
                  <a:rPr lang="ru-RU" sz="2400" dirty="0"/>
                  <a:t>В този случай задачата на идентификацията се свежда до синтез на моделен оператор </a:t>
                </a:r>
                <a:r>
                  <a:rPr lang="ru-RU" sz="2400" i="1" dirty="0"/>
                  <a:t>A(u), </a:t>
                </a:r>
                <a:r>
                  <a:rPr lang="ru-RU" sz="2400" dirty="0"/>
                  <a:t>близък до </a:t>
                </a:r>
                <a:r>
                  <a:rPr lang="ru-RU" sz="2400" i="1" dirty="0"/>
                  <a:t>A</a:t>
                </a:r>
                <a:r>
                  <a:rPr lang="ru-RU" sz="2400" i="1" baseline="-25000" dirty="0"/>
                  <a:t>0</a:t>
                </a:r>
                <a:r>
                  <a:rPr lang="ru-RU" sz="2400" i="1" dirty="0"/>
                  <a:t>(u) </a:t>
                </a:r>
                <a:r>
                  <a:rPr lang="ru-RU" sz="2400" dirty="0"/>
                  <a:t>в съответствие с определени критерии, т.е.  </a:t>
                </a:r>
                <a14:m>
                  <m:oMath xmlns:m="http://schemas.openxmlformats.org/officeDocument/2006/math">
                    <m:r>
                      <a:rPr lang="en-US" sz="2400" b="0" i="1" smtClean="0">
                        <a:latin typeface="Cambria Math" panose="02040503050406030204" pitchFamily="18" charset="0"/>
                      </a:rPr>
                      <m:t>𝐴</m:t>
                    </m:r>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𝐴</m:t>
                        </m:r>
                      </m:e>
                      <m:sub>
                        <m:r>
                          <a:rPr lang="en-US" sz="2400" b="0" i="1" smtClean="0">
                            <a:latin typeface="Cambria Math" panose="02040503050406030204" pitchFamily="18" charset="0"/>
                            <a:ea typeface="Cambria Math" panose="02040503050406030204" pitchFamily="18" charset="0"/>
                          </a:rPr>
                          <m:t>0</m:t>
                        </m:r>
                      </m:sub>
                    </m:sSub>
                  </m:oMath>
                </a14:m>
                <a:r>
                  <a:rPr lang="ru-RU" sz="2400" dirty="0"/>
                  <a:t>(приблизително съответствие).</a:t>
                </a:r>
                <a:r>
                  <a:rPr lang="bg-BG" dirty="0"/>
                  <a:t> </a:t>
                </a:r>
                <a:r>
                  <a:rPr lang="bg-BG" sz="2400" dirty="0"/>
                  <a:t>Тъй като всеки обект има определена структура (съвкупност от елементи и връзки между тях), то в идеалния случай се търси </a:t>
                </a:r>
                <a:r>
                  <a:rPr lang="bg-BG" sz="2400" i="1" dirty="0"/>
                  <a:t>А </a:t>
                </a:r>
                <a:r>
                  <a:rPr lang="bg-BG" sz="2400" dirty="0"/>
                  <a:t>със структура еднаква със структурата на </a:t>
                </a:r>
                <a:r>
                  <a:rPr lang="ru-RU" sz="2400" i="1" dirty="0"/>
                  <a:t>A</a:t>
                </a:r>
                <a:r>
                  <a:rPr lang="ru-RU" sz="2400" i="1" baseline="-25000" dirty="0"/>
                  <a:t>0</a:t>
                </a:r>
                <a:r>
                  <a:rPr lang="bg-BG" sz="2400" dirty="0"/>
                  <a:t>. Пълното съответствие между </a:t>
                </a:r>
                <a:r>
                  <a:rPr lang="bg-BG" sz="2400" i="1" dirty="0"/>
                  <a:t>А</a:t>
                </a:r>
                <a:r>
                  <a:rPr lang="bg-BG" sz="2400" dirty="0"/>
                  <a:t> и </a:t>
                </a:r>
                <a:r>
                  <a:rPr lang="ru-RU" sz="2400" i="1" dirty="0"/>
                  <a:t>A</a:t>
                </a:r>
                <a:r>
                  <a:rPr lang="ru-RU" sz="2400" i="1" baseline="-25000" dirty="0"/>
                  <a:t>0</a:t>
                </a:r>
                <a:r>
                  <a:rPr lang="bg-BG" sz="2400" dirty="0"/>
                  <a:t> се нарича изоморфизъм, еквивалентност в техните структури. Непълното съответствие се нарича хомоморфизъм. Когато моделите се синтезират за целите на управлението, от съществено значение е те да „реагират” по същия начин както и реалните физически обекти на един и същ входен сигнал, т.е. те да са изофункционални. </a:t>
                </a:r>
              </a:p>
            </p:txBody>
          </p:sp>
        </mc:Choice>
        <mc:Fallback xmlns="">
          <p:sp>
            <p:nvSpPr>
              <p:cNvPr id="2" name="Rectangle 1"/>
              <p:cNvSpPr>
                <a:spLocks noRot="1" noChangeAspect="1" noMove="1" noResize="1" noEditPoints="1" noAdjustHandles="1" noChangeArrowheads="1" noChangeShapeType="1" noTextEdit="1"/>
              </p:cNvSpPr>
              <p:nvPr/>
            </p:nvSpPr>
            <p:spPr>
              <a:xfrm>
                <a:off x="2344248" y="190500"/>
                <a:ext cx="9733452" cy="6297108"/>
              </a:xfrm>
              <a:prstGeom prst="rect">
                <a:avLst/>
              </a:prstGeom>
              <a:blipFill>
                <a:blip r:embed="rId3"/>
                <a:stretch>
                  <a:fillRect l="-1003" r="-1003" b="-290"/>
                </a:stretch>
              </a:blipFill>
            </p:spPr>
            <p:txBody>
              <a:bodyPr/>
              <a:lstStyle/>
              <a:p>
                <a:r>
                  <a:rPr lang="bg-BG">
                    <a:noFill/>
                  </a:rPr>
                  <a:t> </a:t>
                </a:r>
              </a:p>
            </p:txBody>
          </p:sp>
        </mc:Fallback>
      </mc:AlternateContent>
    </p:spTree>
    <p:extLst>
      <p:ext uri="{BB962C8B-B14F-4D97-AF65-F5344CB8AC3E}">
        <p14:creationId xmlns:p14="http://schemas.microsoft.com/office/powerpoint/2010/main" val="2949907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9</a:t>
            </a:fld>
            <a:endParaRPr lang="bg-BG" dirty="0"/>
          </a:p>
        </p:txBody>
      </p:sp>
      <p:sp>
        <p:nvSpPr>
          <p:cNvPr id="2" name="Rectangle 1"/>
          <p:cNvSpPr/>
          <p:nvPr/>
        </p:nvSpPr>
        <p:spPr>
          <a:xfrm>
            <a:off x="1903664" y="0"/>
            <a:ext cx="10020370" cy="1131785"/>
          </a:xfrm>
          <a:prstGeom prst="rect">
            <a:avLst/>
          </a:prstGeom>
        </p:spPr>
        <p:txBody>
          <a:bodyPr wrap="square">
            <a:spAutoFit/>
          </a:bodyPr>
          <a:lstStyle/>
          <a:p>
            <a:pPr algn="just">
              <a:lnSpc>
                <a:spcPct val="150000"/>
              </a:lnSpc>
              <a:buClr>
                <a:schemeClr val="accent1">
                  <a:lumMod val="75000"/>
                </a:schemeClr>
              </a:buClr>
              <a:buSzPct val="85000"/>
              <a:defRPr/>
            </a:pPr>
            <a:endParaRPr lang="bg-BG" sz="2400" dirty="0"/>
          </a:p>
          <a:p>
            <a:pPr algn="just">
              <a:lnSpc>
                <a:spcPct val="150000"/>
              </a:lnSpc>
              <a:buClr>
                <a:schemeClr val="accent1">
                  <a:lumMod val="75000"/>
                </a:schemeClr>
              </a:buClr>
              <a:buSzPct val="85000"/>
              <a:defRPr/>
            </a:pPr>
            <a:endParaRPr lang="bg-BG" sz="2400" dirty="0"/>
          </a:p>
        </p:txBody>
      </p:sp>
      <p:sp>
        <p:nvSpPr>
          <p:cNvPr id="6" name="Rectangle 5"/>
          <p:cNvSpPr/>
          <p:nvPr/>
        </p:nvSpPr>
        <p:spPr>
          <a:xfrm>
            <a:off x="2032000" y="76580"/>
            <a:ext cx="10160000" cy="6814173"/>
          </a:xfrm>
          <a:prstGeom prst="rect">
            <a:avLst/>
          </a:prstGeom>
        </p:spPr>
        <p:txBody>
          <a:bodyPr wrap="square">
            <a:spAutoFit/>
          </a:bodyPr>
          <a:lstStyle/>
          <a:p>
            <a:pPr indent="536575" algn="just">
              <a:lnSpc>
                <a:spcPct val="140000"/>
              </a:lnSpc>
              <a:buClr>
                <a:schemeClr val="accent1">
                  <a:lumMod val="75000"/>
                </a:schemeClr>
              </a:buClr>
              <a:buSzPct val="85000"/>
            </a:pPr>
            <a:r>
              <a:rPr lang="bg-BG" sz="2400" dirty="0"/>
              <a:t>Задачата на идентификацията за нуждите на управлението възниква, когато се налага да се синтезира модел на даден обект, съдържащ в себе си цялата информация за динамичните свойства на същия и необходим за синтез на алгоритъм за неговото управление.</a:t>
            </a:r>
            <a:r>
              <a:rPr lang="en-US" sz="2400" dirty="0"/>
              <a:t> </a:t>
            </a:r>
            <a:r>
              <a:rPr lang="bg-BG" sz="2400" dirty="0"/>
              <a:t>Следователно по-важно е условието за изофункционалност отколкото изоморфизъм. Точността на модела не бива да е по-ниска от желаната точност на управление. </a:t>
            </a:r>
            <a:endParaRPr lang="en-US" sz="2400" dirty="0"/>
          </a:p>
          <a:p>
            <a:pPr indent="536575" algn="just">
              <a:lnSpc>
                <a:spcPct val="140000"/>
              </a:lnSpc>
              <a:buClr>
                <a:schemeClr val="accent1">
                  <a:lumMod val="75000"/>
                </a:schemeClr>
              </a:buClr>
              <a:buSzPct val="85000"/>
            </a:pPr>
            <a:r>
              <a:rPr lang="bg-BG" sz="2400" b="1" i="1" dirty="0"/>
              <a:t>Формализация на задачата за идентификация</a:t>
            </a:r>
            <a:endParaRPr lang="en-GB" sz="2400" b="1" i="1" dirty="0"/>
          </a:p>
          <a:p>
            <a:pPr indent="536575" algn="just">
              <a:lnSpc>
                <a:spcPct val="140000"/>
              </a:lnSpc>
              <a:buClr>
                <a:schemeClr val="accent1">
                  <a:lumMod val="75000"/>
                </a:schemeClr>
              </a:buClr>
              <a:buSzPct val="85000"/>
            </a:pPr>
            <a:r>
              <a:rPr lang="bg-BG" sz="2400" dirty="0"/>
              <a:t>Задачата за идентификация се свежда до намиране на моделен оператор </a:t>
            </a:r>
            <a:r>
              <a:rPr lang="bg-BG" sz="2400" i="1" dirty="0"/>
              <a:t>А</a:t>
            </a:r>
            <a:r>
              <a:rPr lang="en-US" sz="2400" i="1" dirty="0"/>
              <a:t>(u)</a:t>
            </a:r>
            <a:r>
              <a:rPr lang="bg-BG" sz="2400" dirty="0"/>
              <a:t>, близък до оператора на обекта </a:t>
            </a:r>
            <a:r>
              <a:rPr lang="ru-RU" sz="2400" i="1" dirty="0"/>
              <a:t>A</a:t>
            </a:r>
            <a:r>
              <a:rPr lang="ru-RU" sz="2400" i="1" baseline="-25000" dirty="0"/>
              <a:t>0</a:t>
            </a:r>
            <a:r>
              <a:rPr lang="ru-RU" sz="2400" i="1" dirty="0"/>
              <a:t>(u) </a:t>
            </a:r>
            <a:r>
              <a:rPr lang="bg-BG" sz="2400" dirty="0"/>
              <a:t>. В общия случай двата оператора са с различна физическа природа. Често са и с различна структура. Тази близост трудно може да </a:t>
            </a:r>
            <a:r>
              <a:rPr lang="bg-BG" sz="2400"/>
              <a:t>се оцени, поради отсъствието на възможност за формализация на същата.</a:t>
            </a:r>
            <a:endParaRPr lang="en-GB" sz="2400" dirty="0"/>
          </a:p>
        </p:txBody>
      </p:sp>
    </p:spTree>
    <p:extLst>
      <p:ext uri="{BB962C8B-B14F-4D97-AF65-F5344CB8AC3E}">
        <p14:creationId xmlns:p14="http://schemas.microsoft.com/office/powerpoint/2010/main" val="3897978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10</a:t>
            </a:fld>
            <a:endParaRPr lang="bg-BG" dirty="0"/>
          </a:p>
        </p:txBody>
      </p:sp>
      <p:sp>
        <p:nvSpPr>
          <p:cNvPr id="8"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1"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3" name="Rectangle 9"/>
          <p:cNvSpPr>
            <a:spLocks noChangeArrowheads="1"/>
          </p:cNvSpPr>
          <p:nvPr/>
        </p:nvSpPr>
        <p:spPr bwMode="auto">
          <a:xfrm>
            <a:off x="7765143" y="483769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mc:AlternateContent xmlns:mc="http://schemas.openxmlformats.org/markup-compatibility/2006" xmlns:a14="http://schemas.microsoft.com/office/drawing/2010/main">
        <mc:Choice Requires="a14">
          <p:sp>
            <p:nvSpPr>
              <p:cNvPr id="5" name="Rectangle 4"/>
              <p:cNvSpPr/>
              <p:nvPr/>
            </p:nvSpPr>
            <p:spPr>
              <a:xfrm>
                <a:off x="2307404" y="71789"/>
                <a:ext cx="9793463" cy="6607963"/>
              </a:xfrm>
              <a:prstGeom prst="rect">
                <a:avLst/>
              </a:prstGeom>
            </p:spPr>
            <p:txBody>
              <a:bodyPr wrap="square">
                <a:spAutoFit/>
              </a:bodyPr>
              <a:lstStyle/>
              <a:p>
                <a:pPr indent="536575" algn="just">
                  <a:lnSpc>
                    <a:spcPct val="140000"/>
                  </a:lnSpc>
                  <a:spcAft>
                    <a:spcPts val="0"/>
                  </a:spcAft>
                  <a:buClr>
                    <a:schemeClr val="accent1">
                      <a:lumMod val="75000"/>
                    </a:schemeClr>
                  </a:buClr>
                  <a:buSzPct val="85000"/>
                </a:pPr>
                <a:r>
                  <a:rPr lang="ru-RU" sz="2400" dirty="0"/>
                  <a:t>Изход от тази ситуация може да се намери, ако се изхожда от условието за изофункционалност между модела и обекта, т.е. близостта на реакциите </a:t>
                </a:r>
                <a14:m>
                  <m:oMath xmlns:m="http://schemas.openxmlformats.org/officeDocument/2006/math">
                    <m:r>
                      <a:rPr lang="en-GB" sz="2400" b="0" i="1" smtClean="0">
                        <a:latin typeface="Cambria Math" panose="02040503050406030204" pitchFamily="18" charset="0"/>
                      </a:rPr>
                      <m:t>𝑦</m:t>
                    </m:r>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𝐴</m:t>
                        </m:r>
                      </m:e>
                      <m:sub>
                        <m:r>
                          <a:rPr lang="en-GB" sz="2400" b="0" i="1" smtClean="0">
                            <a:latin typeface="Cambria Math" panose="02040503050406030204" pitchFamily="18" charset="0"/>
                          </a:rPr>
                          <m:t>0</m:t>
                        </m:r>
                      </m:sub>
                    </m:sSub>
                    <m:r>
                      <a:rPr lang="en-GB" sz="2400" b="0" i="1" smtClean="0">
                        <a:latin typeface="Cambria Math" panose="02040503050406030204" pitchFamily="18" charset="0"/>
                      </a:rPr>
                      <m:t>(</m:t>
                    </m:r>
                    <m:r>
                      <a:rPr lang="en-GB" sz="2400" b="0" i="1" smtClean="0">
                        <a:latin typeface="Cambria Math" panose="02040503050406030204" pitchFamily="18" charset="0"/>
                      </a:rPr>
                      <m:t>𝑢</m:t>
                    </m:r>
                    <m:r>
                      <a:rPr lang="en-GB" sz="2400" b="0" i="1" smtClean="0">
                        <a:latin typeface="Cambria Math" panose="02040503050406030204" pitchFamily="18" charset="0"/>
                      </a:rPr>
                      <m:t>)</m:t>
                    </m:r>
                  </m:oMath>
                </a14:m>
                <a:r>
                  <a:rPr lang="ru-RU" sz="2400" dirty="0"/>
                  <a:t> и на модела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𝑦</m:t>
                        </m:r>
                      </m:e>
                      <m:sub>
                        <m:r>
                          <a:rPr lang="en-GB" sz="2400" b="0" i="1" smtClean="0">
                            <a:latin typeface="Cambria Math" panose="02040503050406030204" pitchFamily="18" charset="0"/>
                          </a:rPr>
                          <m:t>𝑀</m:t>
                        </m:r>
                      </m:sub>
                    </m:sSub>
                    <m:r>
                      <a:rPr lang="en-GB" sz="2400" i="1">
                        <a:latin typeface="Cambria Math" panose="02040503050406030204" pitchFamily="18" charset="0"/>
                      </a:rPr>
                      <m:t>=</m:t>
                    </m:r>
                    <m:r>
                      <a:rPr lang="en-GB" sz="2400" b="0" i="1" smtClean="0">
                        <a:latin typeface="Cambria Math" panose="02040503050406030204" pitchFamily="18" charset="0"/>
                      </a:rPr>
                      <m:t>𝐴</m:t>
                    </m:r>
                    <m:r>
                      <a:rPr lang="en-GB" sz="2400" i="1">
                        <a:latin typeface="Cambria Math" panose="02040503050406030204" pitchFamily="18" charset="0"/>
                      </a:rPr>
                      <m:t>(</m:t>
                    </m:r>
                    <m:r>
                      <a:rPr lang="en-GB" sz="2400" i="1">
                        <a:latin typeface="Cambria Math" panose="02040503050406030204" pitchFamily="18" charset="0"/>
                      </a:rPr>
                      <m:t>𝑢</m:t>
                    </m:r>
                    <m:r>
                      <a:rPr lang="en-GB" sz="2400" i="1">
                        <a:latin typeface="Cambria Math" panose="02040503050406030204" pitchFamily="18" charset="0"/>
                      </a:rPr>
                      <m:t>)</m:t>
                    </m:r>
                  </m:oMath>
                </a14:m>
                <a:r>
                  <a:rPr lang="ru-RU" sz="2400" dirty="0"/>
                  <a:t> . </a:t>
                </a:r>
                <a:endParaRPr lang="en-GB" sz="2400" dirty="0"/>
              </a:p>
              <a:p>
                <a:pPr indent="536575" algn="just">
                  <a:lnSpc>
                    <a:spcPct val="140000"/>
                  </a:lnSpc>
                  <a:buClr>
                    <a:schemeClr val="accent1">
                      <a:lumMod val="75000"/>
                    </a:schemeClr>
                  </a:buClr>
                  <a:buSzPct val="85000"/>
                </a:pPr>
                <a:r>
                  <a:rPr lang="bg-BG" sz="2400" dirty="0"/>
                  <a:t>Критерии за близост при апроксимиране на функции:</a:t>
                </a:r>
              </a:p>
              <a:p>
                <a:pPr indent="536575" algn="just">
                  <a:buClr>
                    <a:schemeClr val="accent1">
                      <a:lumMod val="75000"/>
                    </a:schemeClr>
                  </a:buClr>
                  <a:buSzPct val="85000"/>
                </a:pPr>
                <a:endParaRPr lang="bg-BG" sz="2400" dirty="0"/>
              </a:p>
              <a:p>
                <a:pPr indent="536575" algn="just">
                  <a:buClr>
                    <a:schemeClr val="accent1">
                      <a:lumMod val="75000"/>
                    </a:schemeClr>
                  </a:buClr>
                  <a:buSzPct val="85000"/>
                </a:pPr>
                <a:r>
                  <a:rPr lang="bg-BG" sz="2400" dirty="0"/>
                  <a:t>					      - за дискретни сигнали</a:t>
                </a:r>
              </a:p>
              <a:p>
                <a:pPr indent="536575" algn="just">
                  <a:buClr>
                    <a:schemeClr val="accent1">
                      <a:lumMod val="75000"/>
                    </a:schemeClr>
                  </a:buClr>
                  <a:buSzPct val="85000"/>
                </a:pPr>
                <a:endParaRPr lang="bg-BG" sz="2400" dirty="0"/>
              </a:p>
              <a:p>
                <a:pPr indent="536575" algn="just">
                  <a:spcBef>
                    <a:spcPts val="1800"/>
                  </a:spcBef>
                  <a:buClr>
                    <a:schemeClr val="accent1">
                      <a:lumMod val="75000"/>
                    </a:schemeClr>
                  </a:buClr>
                  <a:buSzPct val="85000"/>
                </a:pPr>
                <a:r>
                  <a:rPr lang="bg-BG" sz="2400" dirty="0"/>
                  <a:t>					       - за непрекъснати сигнали</a:t>
                </a:r>
              </a:p>
              <a:p>
                <a:pPr indent="536575" algn="just">
                  <a:lnSpc>
                    <a:spcPct val="140000"/>
                  </a:lnSpc>
                  <a:spcBef>
                    <a:spcPts val="1200"/>
                  </a:spcBef>
                  <a:buClr>
                    <a:schemeClr val="accent1">
                      <a:lumMod val="75000"/>
                    </a:schemeClr>
                  </a:buClr>
                  <a:buSzPct val="85000"/>
                </a:pPr>
                <a:r>
                  <a:rPr lang="ru-RU" sz="2400" dirty="0"/>
                  <a:t>С въвеждане на условието за изофункционалност между обекта и модела се дава възможност да се формализира близостта на </a:t>
                </a:r>
                <a:r>
                  <a:rPr lang="ru-RU" sz="2400" i="1" dirty="0"/>
                  <a:t>А</a:t>
                </a:r>
                <a:r>
                  <a:rPr lang="ru-RU" sz="2400" dirty="0"/>
                  <a:t> и </a:t>
                </a:r>
                <a14:m>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𝐴</m:t>
                        </m:r>
                      </m:e>
                      <m:sub>
                        <m:r>
                          <a:rPr lang="en-GB" sz="2400" i="1">
                            <a:latin typeface="Cambria Math" panose="02040503050406030204" pitchFamily="18" charset="0"/>
                          </a:rPr>
                          <m:t>0</m:t>
                        </m:r>
                      </m:sub>
                    </m:sSub>
                  </m:oMath>
                </a14:m>
                <a:r>
                  <a:rPr lang="ru-RU" sz="2400" dirty="0"/>
                  <a:t>. По този начин задачата на идентификацията се решава като се търси оценка </a:t>
                </a:r>
                <a14:m>
                  <m:oMath xmlns:m="http://schemas.openxmlformats.org/officeDocument/2006/math">
                    <m:acc>
                      <m:accPr>
                        <m:chr m:val="̂"/>
                        <m:ctrlPr>
                          <a:rPr lang="ru-RU" sz="2400" i="1" smtClean="0">
                            <a:latin typeface="Cambria Math" panose="02040503050406030204" pitchFamily="18" charset="0"/>
                          </a:rPr>
                        </m:ctrlPr>
                      </m:accPr>
                      <m:e>
                        <m:r>
                          <a:rPr lang="en-GB" sz="2400" b="0" i="1" smtClean="0">
                            <a:latin typeface="Cambria Math" panose="02040503050406030204" pitchFamily="18" charset="0"/>
                          </a:rPr>
                          <m:t>𝐴</m:t>
                        </m:r>
                      </m:e>
                    </m:acc>
                  </m:oMath>
                </a14:m>
                <a:r>
                  <a:rPr lang="ru-RU" sz="2400" dirty="0"/>
                  <a:t>  чрез минимизация на функционала </a:t>
                </a:r>
                <a:r>
                  <a:rPr lang="ru-RU" sz="2400" i="1" dirty="0"/>
                  <a:t>J</a:t>
                </a:r>
                <a:r>
                  <a:rPr lang="ru-RU" sz="2400" dirty="0"/>
                  <a:t>, формиран по подходящ начин от отклонението на </a:t>
                </a:r>
                <a14:m>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𝑦</m:t>
                        </m:r>
                      </m:e>
                      <m:sub>
                        <m:r>
                          <a:rPr lang="en-GB" sz="2400" i="1">
                            <a:latin typeface="Cambria Math" panose="02040503050406030204" pitchFamily="18" charset="0"/>
                          </a:rPr>
                          <m:t>𝑀</m:t>
                        </m:r>
                      </m:sub>
                    </m:sSub>
                  </m:oMath>
                </a14:m>
                <a:r>
                  <a:rPr lang="ru-RU" sz="2400" dirty="0"/>
                  <a:t> от </a:t>
                </a:r>
                <a14:m>
                  <m:oMath xmlns:m="http://schemas.openxmlformats.org/officeDocument/2006/math">
                    <m:r>
                      <a:rPr lang="en-GB" sz="2400" i="1">
                        <a:latin typeface="Cambria Math" panose="02040503050406030204" pitchFamily="18" charset="0"/>
                      </a:rPr>
                      <m:t>𝑦</m:t>
                    </m:r>
                  </m:oMath>
                </a14:m>
                <a:r>
                  <a:rPr lang="ru-RU" sz="2400" dirty="0"/>
                  <a:t>.</a:t>
                </a:r>
                <a:endParaRPr lang="bg-BG" sz="2400" dirty="0"/>
              </a:p>
            </p:txBody>
          </p:sp>
        </mc:Choice>
        <mc:Fallback xmlns="">
          <p:sp>
            <p:nvSpPr>
              <p:cNvPr id="5" name="Rectangle 4"/>
              <p:cNvSpPr>
                <a:spLocks noRot="1" noChangeAspect="1" noMove="1" noResize="1" noEditPoints="1" noAdjustHandles="1" noChangeArrowheads="1" noChangeShapeType="1" noTextEdit="1"/>
              </p:cNvSpPr>
              <p:nvPr/>
            </p:nvSpPr>
            <p:spPr>
              <a:xfrm>
                <a:off x="2307404" y="71789"/>
                <a:ext cx="9793463" cy="6607963"/>
              </a:xfrm>
              <a:prstGeom prst="rect">
                <a:avLst/>
              </a:prstGeom>
              <a:blipFill>
                <a:blip r:embed="rId4"/>
                <a:stretch>
                  <a:fillRect l="-996" r="-934" b="-461"/>
                </a:stretch>
              </a:blipFill>
            </p:spPr>
            <p:txBody>
              <a:bodyPr/>
              <a:lstStyle/>
              <a:p>
                <a:r>
                  <a:rPr lang="en-GB">
                    <a:noFill/>
                  </a:rPr>
                  <a:t> </a:t>
                </a:r>
              </a:p>
            </p:txBody>
          </p:sp>
        </mc:Fallback>
      </mc:AlternateContent>
      <p:sp>
        <p:nvSpPr>
          <p:cNvPr id="12" name="Rectangle 7"/>
          <p:cNvSpPr>
            <a:spLocks noChangeArrowheads="1"/>
          </p:cNvSpPr>
          <p:nvPr/>
        </p:nvSpPr>
        <p:spPr bwMode="auto">
          <a:xfrm>
            <a:off x="3154016" y="2506132"/>
            <a:ext cx="1929933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graphicFrame>
        <p:nvGraphicFramePr>
          <p:cNvPr id="14" name="Object 13"/>
          <p:cNvGraphicFramePr>
            <a:graphicFrameLocks noChangeAspect="1"/>
          </p:cNvGraphicFramePr>
          <p:nvPr>
            <p:extLst>
              <p:ext uri="{D42A27DB-BD31-4B8C-83A1-F6EECF244321}">
                <p14:modId xmlns:p14="http://schemas.microsoft.com/office/powerpoint/2010/main" val="808273027"/>
              </p:ext>
            </p:extLst>
          </p:nvPr>
        </p:nvGraphicFramePr>
        <p:xfrm>
          <a:off x="3154016" y="2224306"/>
          <a:ext cx="3955488" cy="1018945"/>
        </p:xfrm>
        <a:graphic>
          <a:graphicData uri="http://schemas.openxmlformats.org/presentationml/2006/ole">
            <mc:AlternateContent xmlns:mc="http://schemas.openxmlformats.org/markup-compatibility/2006">
              <mc:Choice xmlns:v="urn:schemas-microsoft-com:vml" Requires="v">
                <p:oleObj name="Equation" r:id="rId5" imgW="1778000" imgH="457200" progId="Equation.3">
                  <p:embed/>
                </p:oleObj>
              </mc:Choice>
              <mc:Fallback>
                <p:oleObj name="Equation" r:id="rId5" imgW="1778000" imgH="4572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54016" y="2224306"/>
                        <a:ext cx="3955488" cy="1018945"/>
                      </a:xfrm>
                      <a:prstGeom prst="rect">
                        <a:avLst/>
                      </a:prstGeom>
                      <a:noFill/>
                    </p:spPr>
                  </p:pic>
                </p:oleObj>
              </mc:Fallback>
            </mc:AlternateContent>
          </a:graphicData>
        </a:graphic>
      </p:graphicFrame>
      <p:sp>
        <p:nvSpPr>
          <p:cNvPr id="15" name="Rectangle 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16" name="Object 15"/>
          <p:cNvGraphicFramePr>
            <a:graphicFrameLocks noChangeAspect="1"/>
          </p:cNvGraphicFramePr>
          <p:nvPr>
            <p:extLst>
              <p:ext uri="{D42A27DB-BD31-4B8C-83A1-F6EECF244321}">
                <p14:modId xmlns:p14="http://schemas.microsoft.com/office/powerpoint/2010/main" val="656733771"/>
              </p:ext>
            </p:extLst>
          </p:nvPr>
        </p:nvGraphicFramePr>
        <p:xfrm>
          <a:off x="3154015" y="3163781"/>
          <a:ext cx="3955489" cy="1105614"/>
        </p:xfrm>
        <a:graphic>
          <a:graphicData uri="http://schemas.openxmlformats.org/presentationml/2006/ole">
            <mc:AlternateContent xmlns:mc="http://schemas.openxmlformats.org/markup-compatibility/2006">
              <mc:Choice xmlns:v="urn:schemas-microsoft-com:vml" Requires="v">
                <p:oleObj name="Equation" r:id="rId7" imgW="1828800" imgH="508000" progId="Equation.3">
                  <p:embed/>
                </p:oleObj>
              </mc:Choice>
              <mc:Fallback>
                <p:oleObj name="Equation" r:id="rId7" imgW="1828800" imgH="5080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54015" y="3163781"/>
                        <a:ext cx="3955489" cy="1105614"/>
                      </a:xfrm>
                      <a:prstGeom prst="rect">
                        <a:avLst/>
                      </a:prstGeom>
                      <a:noFill/>
                    </p:spPr>
                  </p:pic>
                </p:oleObj>
              </mc:Fallback>
            </mc:AlternateContent>
          </a:graphicData>
        </a:graphic>
      </p:graphicFrame>
    </p:spTree>
    <p:extLst>
      <p:ext uri="{BB962C8B-B14F-4D97-AF65-F5344CB8AC3E}">
        <p14:creationId xmlns:p14="http://schemas.microsoft.com/office/powerpoint/2010/main" val="1753872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11</a:t>
            </a:fld>
            <a:endParaRPr lang="bg-BG" dirty="0"/>
          </a:p>
        </p:txBody>
      </p:sp>
      <p:sp>
        <p:nvSpPr>
          <p:cNvPr id="9" name="Rectangle 5"/>
          <p:cNvSpPr>
            <a:spLocks noChangeArrowheads="1"/>
          </p:cNvSpPr>
          <p:nvPr/>
        </p:nvSpPr>
        <p:spPr bwMode="auto">
          <a:xfrm>
            <a:off x="2946400" y="18583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 name="Rectangle 1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5" name="Rectangle 2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7" name="Rectangle 2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2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9"/>
          <p:cNvSpPr/>
          <p:nvPr/>
        </p:nvSpPr>
        <p:spPr>
          <a:xfrm>
            <a:off x="2032000" y="114300"/>
            <a:ext cx="10071100" cy="6334042"/>
          </a:xfrm>
          <a:prstGeom prst="rect">
            <a:avLst/>
          </a:prstGeom>
        </p:spPr>
        <p:txBody>
          <a:bodyPr wrap="square">
            <a:spAutoFit/>
          </a:bodyPr>
          <a:lstStyle/>
          <a:p>
            <a:pPr indent="533400" algn="ctr">
              <a:lnSpc>
                <a:spcPct val="130000"/>
              </a:lnSpc>
              <a:spcAft>
                <a:spcPts val="0"/>
              </a:spcAft>
              <a:buClr>
                <a:schemeClr val="accent1">
                  <a:lumMod val="75000"/>
                </a:schemeClr>
              </a:buClr>
              <a:buSzPct val="85000"/>
            </a:pPr>
            <a:r>
              <a:rPr lang="bg-BG" sz="2400" b="1" dirty="0"/>
              <a:t>Структурна и параметрична идентификация</a:t>
            </a:r>
            <a:endParaRPr lang="en-GB" sz="2400" b="1" dirty="0"/>
          </a:p>
          <a:p>
            <a:pPr indent="536575" algn="just">
              <a:lnSpc>
                <a:spcPct val="130000"/>
              </a:lnSpc>
              <a:spcAft>
                <a:spcPts val="0"/>
              </a:spcAft>
              <a:buClr>
                <a:schemeClr val="accent1">
                  <a:lumMod val="75000"/>
                </a:schemeClr>
              </a:buClr>
              <a:buSzPct val="85000"/>
            </a:pPr>
            <a:r>
              <a:rPr lang="bg-BG" sz="2400" dirty="0"/>
              <a:t>Нека приемем определението на Норберт Винер за структура като съвкупност от елементи и връзки между тях (строеж). Реалните обекти могат да се представят със съответната структура. Следователно моделът трябва да притежава структура, която да бъде близка до тази на обекта или редуцирана по някакъв начин. Не съществуват формални правила за определяне на структурата. Разчита се на опита и интуицията на изследователя за ефективно използване на наличната информация.</a:t>
            </a:r>
            <a:endParaRPr lang="en-GB" sz="2400" dirty="0"/>
          </a:p>
          <a:p>
            <a:pPr indent="536575" algn="just">
              <a:lnSpc>
                <a:spcPct val="130000"/>
              </a:lnSpc>
              <a:spcAft>
                <a:spcPts val="0"/>
              </a:spcAft>
              <a:buClr>
                <a:schemeClr val="accent1">
                  <a:lumMod val="75000"/>
                </a:schemeClr>
              </a:buClr>
              <a:buSzPct val="85000"/>
            </a:pPr>
            <a:r>
              <a:rPr lang="bg-BG" sz="2400" dirty="0"/>
              <a:t>Ще разгледаме модели, необходими за целите на управлението, където съществено е условието за изофункционалност. Въпросът за структура на моделния оператор в този случай има второстепенно значение.</a:t>
            </a:r>
            <a:endParaRPr lang="en-GB" sz="2400" dirty="0"/>
          </a:p>
        </p:txBody>
      </p:sp>
    </p:spTree>
    <p:extLst>
      <p:ext uri="{BB962C8B-B14F-4D97-AF65-F5344CB8AC3E}">
        <p14:creationId xmlns:p14="http://schemas.microsoft.com/office/powerpoint/2010/main" val="301204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12</a:t>
            </a:fld>
            <a:endParaRPr lang="bg-BG" dirty="0"/>
          </a:p>
        </p:txBody>
      </p:sp>
      <p:sp>
        <p:nvSpPr>
          <p:cNvPr id="5" name="Content Placeholder 2"/>
          <p:cNvSpPr txBox="1">
            <a:spLocks/>
          </p:cNvSpPr>
          <p:nvPr/>
        </p:nvSpPr>
        <p:spPr>
          <a:xfrm>
            <a:off x="2098842" y="449975"/>
            <a:ext cx="9867232" cy="4546560"/>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457200" algn="just">
              <a:buFont typeface="Wingdings" pitchFamily="2" charset="2"/>
              <a:buNone/>
            </a:pPr>
            <a:endParaRPr lang="bg-BG" sz="2200" dirty="0">
              <a:solidFill>
                <a:schemeClr val="tx1">
                  <a:lumMod val="95000"/>
                  <a:lumOff val="5000"/>
                </a:schemeClr>
              </a:solidFill>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mc:AlternateContent xmlns:mc="http://schemas.openxmlformats.org/markup-compatibility/2006" xmlns:a14="http://schemas.microsoft.com/office/drawing/2010/main">
        <mc:Choice Requires="a14">
          <p:sp>
            <p:nvSpPr>
              <p:cNvPr id="23" name="Rectangle 22"/>
              <p:cNvSpPr/>
              <p:nvPr/>
            </p:nvSpPr>
            <p:spPr>
              <a:xfrm>
                <a:off x="2019328" y="177610"/>
                <a:ext cx="9934074" cy="6334042"/>
              </a:xfrm>
              <a:prstGeom prst="rect">
                <a:avLst/>
              </a:prstGeom>
            </p:spPr>
            <p:txBody>
              <a:bodyPr wrap="square">
                <a:spAutoFit/>
              </a:bodyPr>
              <a:lstStyle/>
              <a:p>
                <a:pPr indent="536575" algn="just">
                  <a:lnSpc>
                    <a:spcPct val="130000"/>
                  </a:lnSpc>
                  <a:buClr>
                    <a:schemeClr val="accent1">
                      <a:lumMod val="75000"/>
                    </a:schemeClr>
                  </a:buClr>
                  <a:buSzPct val="85000"/>
                </a:pPr>
                <a:r>
                  <a:rPr lang="ru-RU" sz="2400" dirty="0"/>
                  <a:t>Съществени са три условия, които следва да се имат предвид при разглеждане структурата на моделния оператор:</a:t>
                </a:r>
              </a:p>
              <a:p>
                <a:pPr marL="901700" indent="-342900" algn="just">
                  <a:lnSpc>
                    <a:spcPct val="130000"/>
                  </a:lnSpc>
                  <a:buClr>
                    <a:schemeClr val="accent1">
                      <a:lumMod val="75000"/>
                    </a:schemeClr>
                  </a:buClr>
                  <a:buSzPct val="85000"/>
                  <a:buFont typeface="Wingdings" panose="05000000000000000000" pitchFamily="2" charset="2"/>
                  <a:buChar char="q"/>
                </a:pPr>
                <a:r>
                  <a:rPr lang="ru-RU" sz="2400" dirty="0"/>
                  <a:t>структурата има пряко отношение към реакцията </a:t>
                </a:r>
                <a14:m>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𝑦</m:t>
                        </m:r>
                      </m:e>
                      <m:sub>
                        <m:r>
                          <a:rPr lang="en-GB" sz="2400" i="1">
                            <a:latin typeface="Cambria Math" panose="02040503050406030204" pitchFamily="18" charset="0"/>
                          </a:rPr>
                          <m:t>𝑀</m:t>
                        </m:r>
                      </m:sub>
                    </m:sSub>
                    <m:r>
                      <a:rPr lang="en-GB" sz="2400" i="1">
                        <a:latin typeface="Cambria Math" panose="02040503050406030204" pitchFamily="18" charset="0"/>
                      </a:rPr>
                      <m:t>=</m:t>
                    </m:r>
                    <m:r>
                      <a:rPr lang="en-GB" sz="2400" i="1">
                        <a:latin typeface="Cambria Math" panose="02040503050406030204" pitchFamily="18" charset="0"/>
                      </a:rPr>
                      <m:t>𝐴</m:t>
                    </m:r>
                    <m:r>
                      <a:rPr lang="en-GB" sz="2400" i="1">
                        <a:latin typeface="Cambria Math" panose="02040503050406030204" pitchFamily="18" charset="0"/>
                      </a:rPr>
                      <m:t>(</m:t>
                    </m:r>
                    <m:r>
                      <a:rPr lang="en-GB" sz="2400" i="1">
                        <a:latin typeface="Cambria Math" panose="02040503050406030204" pitchFamily="18" charset="0"/>
                      </a:rPr>
                      <m:t>𝑢</m:t>
                    </m:r>
                    <m:r>
                      <a:rPr lang="en-GB" sz="2400" i="1">
                        <a:latin typeface="Cambria Math" panose="02040503050406030204" pitchFamily="18" charset="0"/>
                      </a:rPr>
                      <m:t>)</m:t>
                    </m:r>
                  </m:oMath>
                </a14:m>
                <a:r>
                  <a:rPr lang="ru-RU" sz="2400" dirty="0"/>
                  <a:t>;</a:t>
                </a:r>
              </a:p>
              <a:p>
                <a:pPr marL="901700" indent="-342900" algn="just">
                  <a:lnSpc>
                    <a:spcPct val="130000"/>
                  </a:lnSpc>
                  <a:buClr>
                    <a:schemeClr val="accent1">
                      <a:lumMod val="75000"/>
                    </a:schemeClr>
                  </a:buClr>
                  <a:buSzPct val="85000"/>
                  <a:buFont typeface="Wingdings" panose="05000000000000000000" pitchFamily="2" charset="2"/>
                  <a:buChar char="q"/>
                </a:pPr>
                <a:r>
                  <a:rPr lang="ru-RU" sz="2400" dirty="0"/>
                  <a:t>да се свързва с целите на управлението;</a:t>
                </a:r>
              </a:p>
              <a:p>
                <a:pPr marL="901700" indent="-342900" algn="just">
                  <a:lnSpc>
                    <a:spcPct val="130000"/>
                  </a:lnSpc>
                  <a:buClr>
                    <a:schemeClr val="accent1">
                      <a:lumMod val="75000"/>
                    </a:schemeClr>
                  </a:buClr>
                  <a:buSzPct val="85000"/>
                  <a:buFont typeface="Wingdings" panose="05000000000000000000" pitchFamily="2" charset="2"/>
                  <a:buChar char="q"/>
                </a:pPr>
                <a:r>
                  <a:rPr lang="ru-RU" sz="2400" dirty="0"/>
                  <a:t>моделът да бъде прост, за да може с минимален брой пресмятания да се определя </a:t>
                </a:r>
                <a:r>
                  <a:rPr lang="ru-RU" sz="2400" i="1" dirty="0"/>
                  <a:t>y</a:t>
                </a:r>
                <a:r>
                  <a:rPr lang="ru-RU" sz="2400" dirty="0"/>
                  <a:t> и в същото време да бъде точен.</a:t>
                </a:r>
              </a:p>
              <a:p>
                <a:pPr indent="536575" algn="just">
                  <a:lnSpc>
                    <a:spcPct val="130000"/>
                  </a:lnSpc>
                  <a:buClr>
                    <a:schemeClr val="accent1">
                      <a:lumMod val="75000"/>
                    </a:schemeClr>
                  </a:buClr>
                  <a:buSzPct val="85000"/>
                </a:pPr>
                <a:r>
                  <a:rPr lang="ru-RU" sz="2400" dirty="0"/>
                  <a:t>Логически правилен в този случай е следният алгоритъм за определяне на подходяща структура на моделния оператор:</a:t>
                </a:r>
              </a:p>
              <a:p>
                <a:pPr marL="901700" indent="-365125" algn="just">
                  <a:lnSpc>
                    <a:spcPct val="130000"/>
                  </a:lnSpc>
                  <a:buClr>
                    <a:schemeClr val="accent1">
                      <a:lumMod val="75000"/>
                    </a:schemeClr>
                  </a:buClr>
                  <a:buSzPct val="85000"/>
                  <a:buFont typeface="+mj-lt"/>
                  <a:buAutoNum type="alphaLcParenR"/>
                </a:pPr>
                <a:r>
                  <a:rPr lang="bg-BG" sz="2400" dirty="0"/>
                  <a:t>избира се модел с най-проста структура </a:t>
                </a:r>
                <a:r>
                  <a:rPr lang="bg-BG" sz="2400" i="1" dirty="0"/>
                  <a:t>А=А</a:t>
                </a:r>
                <a:r>
                  <a:rPr lang="bg-BG" sz="2400" i="1" baseline="-25000" dirty="0"/>
                  <a:t>1</a:t>
                </a:r>
                <a:endParaRPr lang="ru-RU" sz="2400" i="1" baseline="-25000" dirty="0"/>
              </a:p>
              <a:p>
                <a:pPr indent="536575" algn="just">
                  <a:lnSpc>
                    <a:spcPct val="130000"/>
                  </a:lnSpc>
                  <a:buClr>
                    <a:schemeClr val="accent1">
                      <a:lumMod val="75000"/>
                    </a:schemeClr>
                  </a:buClr>
                  <a:buSzPct val="85000"/>
                </a:pPr>
                <a:endParaRPr lang="ru-RU" sz="2400" dirty="0"/>
              </a:p>
              <a:p>
                <a:pPr indent="536575" algn="just">
                  <a:lnSpc>
                    <a:spcPct val="130000"/>
                  </a:lnSpc>
                  <a:buClr>
                    <a:schemeClr val="accent1">
                      <a:lumMod val="75000"/>
                    </a:schemeClr>
                  </a:buClr>
                  <a:buSzPct val="85000"/>
                </a:pPr>
                <a:endParaRPr lang="ru-RU" sz="2400" dirty="0"/>
              </a:p>
              <a:p>
                <a:pPr indent="536575" algn="just">
                  <a:lnSpc>
                    <a:spcPct val="130000"/>
                  </a:lnSpc>
                  <a:buClr>
                    <a:schemeClr val="accent1">
                      <a:lumMod val="75000"/>
                    </a:schemeClr>
                  </a:buClr>
                  <a:buSzPct val="85000"/>
                </a:pPr>
                <a:endParaRPr lang="ru-RU" sz="2400" dirty="0"/>
              </a:p>
              <a:p>
                <a:pPr indent="536575" algn="just">
                  <a:lnSpc>
                    <a:spcPct val="130000"/>
                  </a:lnSpc>
                  <a:buClr>
                    <a:schemeClr val="accent1">
                      <a:lumMod val="75000"/>
                    </a:schemeClr>
                  </a:buClr>
                  <a:buSzPct val="85000"/>
                </a:pPr>
                <a:endParaRPr lang="ru-RU" sz="2400" dirty="0"/>
              </a:p>
            </p:txBody>
          </p:sp>
        </mc:Choice>
        <mc:Fallback xmlns="">
          <p:sp>
            <p:nvSpPr>
              <p:cNvPr id="23" name="Rectangle 22"/>
              <p:cNvSpPr>
                <a:spLocks noRot="1" noChangeAspect="1" noMove="1" noResize="1" noEditPoints="1" noAdjustHandles="1" noChangeArrowheads="1" noChangeShapeType="1" noTextEdit="1"/>
              </p:cNvSpPr>
              <p:nvPr/>
            </p:nvSpPr>
            <p:spPr>
              <a:xfrm>
                <a:off x="2019328" y="177610"/>
                <a:ext cx="9934074" cy="6334042"/>
              </a:xfrm>
              <a:prstGeom prst="rect">
                <a:avLst/>
              </a:prstGeom>
              <a:blipFill>
                <a:blip r:embed="rId3"/>
                <a:stretch>
                  <a:fillRect l="-920" r="-920"/>
                </a:stretch>
              </a:blipFill>
            </p:spPr>
            <p:txBody>
              <a:bodyPr/>
              <a:lstStyle/>
              <a:p>
                <a:r>
                  <a:rPr lang="bg-BG">
                    <a:noFill/>
                  </a:rPr>
                  <a:t> </a:t>
                </a:r>
              </a:p>
            </p:txBody>
          </p:sp>
        </mc:Fallback>
      </mc:AlternateContent>
      <p:pic>
        <p:nvPicPr>
          <p:cNvPr id="25" name="Picture 24"/>
          <p:cNvPicPr>
            <a:picLocks noChangeAspect="1"/>
          </p:cNvPicPr>
          <p:nvPr/>
        </p:nvPicPr>
        <p:blipFill>
          <a:blip r:embed="rId4"/>
          <a:stretch>
            <a:fillRect/>
          </a:stretch>
        </p:blipFill>
        <p:spPr>
          <a:xfrm>
            <a:off x="3949713" y="4520243"/>
            <a:ext cx="5326809" cy="2337757"/>
          </a:xfrm>
          <a:prstGeom prst="rect">
            <a:avLst/>
          </a:prstGeom>
        </p:spPr>
      </p:pic>
    </p:spTree>
    <p:extLst>
      <p:ext uri="{BB962C8B-B14F-4D97-AF65-F5344CB8AC3E}">
        <p14:creationId xmlns:p14="http://schemas.microsoft.com/office/powerpoint/2010/main" val="8775343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13</a:t>
            </a:fld>
            <a:endParaRPr lang="bg-BG" dirty="0"/>
          </a:p>
        </p:txBody>
      </p:sp>
      <p:sp>
        <p:nvSpPr>
          <p:cNvPr id="5" name="Content Placeholder 2"/>
          <p:cNvSpPr txBox="1">
            <a:spLocks/>
          </p:cNvSpPr>
          <p:nvPr/>
        </p:nvSpPr>
        <p:spPr>
          <a:xfrm>
            <a:off x="2125347" y="232853"/>
            <a:ext cx="9867232" cy="4546560"/>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542925" algn="just">
              <a:lnSpc>
                <a:spcPct val="130000"/>
              </a:lnSpc>
              <a:spcBef>
                <a:spcPts val="0"/>
              </a:spcBef>
              <a:buNone/>
            </a:pPr>
            <a:r>
              <a:rPr lang="bg-BG" sz="2400" dirty="0"/>
              <a:t>Извършва се параметрична идентификация и се определят параметрите на модела. По тази структура с така определените параметри се синтезира управление </a:t>
            </a:r>
            <a:r>
              <a:rPr lang="en-US" sz="2400" i="1" dirty="0"/>
              <a:t>v=v</a:t>
            </a:r>
            <a:r>
              <a:rPr lang="en-US" sz="2400" i="1" baseline="-25000" dirty="0"/>
              <a:t>1</a:t>
            </a:r>
            <a:r>
              <a:rPr lang="en-US" sz="2400" dirty="0"/>
              <a:t>, </a:t>
            </a:r>
            <a:r>
              <a:rPr lang="bg-BG" sz="2400" dirty="0"/>
              <a:t>определя се </a:t>
            </a:r>
            <a:r>
              <a:rPr lang="en-US" sz="2400" i="1" dirty="0"/>
              <a:t>y</a:t>
            </a:r>
            <a:r>
              <a:rPr lang="bg-BG" sz="2400" dirty="0"/>
              <a:t> и отклонението спрямо целта </a:t>
            </a:r>
            <a:r>
              <a:rPr lang="en-US" sz="2400" i="1" dirty="0"/>
              <a:t>y*</a:t>
            </a:r>
            <a:r>
              <a:rPr lang="en-US" sz="2400" dirty="0"/>
              <a:t>.</a:t>
            </a:r>
            <a:r>
              <a:rPr lang="bg-BG" sz="2400" i="1" dirty="0"/>
              <a:t> </a:t>
            </a:r>
            <a:r>
              <a:rPr lang="bg-BG" sz="2400" dirty="0"/>
              <a:t>Ако се достига целта </a:t>
            </a:r>
            <a:r>
              <a:rPr lang="en-US" sz="2400" i="1" dirty="0"/>
              <a:t>y*</a:t>
            </a:r>
            <a:r>
              <a:rPr lang="bg-BG" sz="2400" dirty="0"/>
              <a:t>, то процесът на формиране на структурата се смята за приключен, в противен случай се преминава към етап </a:t>
            </a:r>
            <a:r>
              <a:rPr lang="en-GB" sz="2400" dirty="0">
                <a:solidFill>
                  <a:schemeClr val="accent1">
                    <a:lumMod val="75000"/>
                  </a:schemeClr>
                </a:solidFill>
              </a:rPr>
              <a:t>b</a:t>
            </a:r>
            <a:r>
              <a:rPr lang="bg-BG" sz="2400" dirty="0">
                <a:solidFill>
                  <a:schemeClr val="accent1">
                    <a:lumMod val="75000"/>
                  </a:schemeClr>
                </a:solidFill>
              </a:rPr>
              <a:t>)</a:t>
            </a:r>
            <a:r>
              <a:rPr lang="bg-BG" sz="2400" dirty="0"/>
              <a:t>.</a:t>
            </a:r>
          </a:p>
          <a:p>
            <a:pPr marL="993775" indent="-457200" algn="just">
              <a:lnSpc>
                <a:spcPct val="130000"/>
              </a:lnSpc>
              <a:spcBef>
                <a:spcPts val="0"/>
              </a:spcBef>
              <a:buFont typeface="+mj-lt"/>
              <a:buAutoNum type="alphaLcParenR" startAt="2"/>
            </a:pPr>
            <a:r>
              <a:rPr lang="bg-BG" sz="2400" dirty="0"/>
              <a:t>Приетата структура се усложнява с включването на нови елементи и връзки между тях, дадени с пунктир.</a:t>
            </a:r>
            <a:endParaRPr lang="en-GB" sz="2400" dirty="0"/>
          </a:p>
          <a:p>
            <a:pPr marL="0" indent="542925" algn="just">
              <a:lnSpc>
                <a:spcPct val="130000"/>
              </a:lnSpc>
              <a:buNone/>
            </a:pPr>
            <a:endParaRPr lang="en-GB" sz="2400" dirty="0"/>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pic>
        <p:nvPicPr>
          <p:cNvPr id="7" name="Picture 6"/>
          <p:cNvPicPr>
            <a:picLocks noChangeAspect="1"/>
          </p:cNvPicPr>
          <p:nvPr/>
        </p:nvPicPr>
        <p:blipFill>
          <a:blip r:embed="rId3"/>
          <a:stretch>
            <a:fillRect/>
          </a:stretch>
        </p:blipFill>
        <p:spPr>
          <a:xfrm>
            <a:off x="3783956" y="4200066"/>
            <a:ext cx="5709708" cy="2439273"/>
          </a:xfrm>
          <a:prstGeom prst="rect">
            <a:avLst/>
          </a:prstGeom>
        </p:spPr>
      </p:pic>
    </p:spTree>
    <p:extLst>
      <p:ext uri="{BB962C8B-B14F-4D97-AF65-F5344CB8AC3E}">
        <p14:creationId xmlns:p14="http://schemas.microsoft.com/office/powerpoint/2010/main" val="1824350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14</a:t>
            </a:fld>
            <a:endParaRPr lang="bg-BG" dirty="0"/>
          </a:p>
        </p:txBody>
      </p:sp>
      <p:sp>
        <p:nvSpPr>
          <p:cNvPr id="5" name="Content Placeholder 2"/>
          <p:cNvSpPr txBox="1">
            <a:spLocks/>
          </p:cNvSpPr>
          <p:nvPr/>
        </p:nvSpPr>
        <p:spPr>
          <a:xfrm>
            <a:off x="2098842" y="449975"/>
            <a:ext cx="9867232" cy="4546560"/>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457200" algn="just">
              <a:buFont typeface="Wingdings" pitchFamily="2" charset="2"/>
              <a:buNone/>
            </a:pPr>
            <a:endParaRPr lang="bg-BG" sz="2200" dirty="0">
              <a:solidFill>
                <a:schemeClr val="tx1">
                  <a:lumMod val="95000"/>
                  <a:lumOff val="5000"/>
                </a:schemeClr>
              </a:solidFill>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mc:AlternateContent xmlns:mc="http://schemas.openxmlformats.org/markup-compatibility/2006" xmlns:a14="http://schemas.microsoft.com/office/drawing/2010/main">
        <mc:Choice Requires="a14">
          <p:sp>
            <p:nvSpPr>
              <p:cNvPr id="17" name="Rectangle 16"/>
              <p:cNvSpPr/>
              <p:nvPr/>
            </p:nvSpPr>
            <p:spPr>
              <a:xfrm>
                <a:off x="2305878" y="45718"/>
                <a:ext cx="9727038" cy="6300186"/>
              </a:xfrm>
              <a:prstGeom prst="rect">
                <a:avLst/>
              </a:prstGeom>
            </p:spPr>
            <p:txBody>
              <a:bodyPr wrap="square">
                <a:spAutoFit/>
              </a:bodyPr>
              <a:lstStyle/>
              <a:p>
                <a:pPr indent="536575" algn="just">
                  <a:lnSpc>
                    <a:spcPct val="130000"/>
                  </a:lnSpc>
                  <a:buClr>
                    <a:schemeClr val="accent1">
                      <a:lumMod val="75000"/>
                    </a:schemeClr>
                  </a:buClr>
                  <a:buSzPct val="85000"/>
                </a:pPr>
                <a:r>
                  <a:rPr lang="ru-RU" sz="2400" dirty="0"/>
                  <a:t>Формира се нов оператор </a:t>
                </a:r>
                <a14:m>
                  <m:oMath xmlns:m="http://schemas.openxmlformats.org/officeDocument/2006/math">
                    <m:r>
                      <a:rPr lang="en-US" sz="2400" b="0" i="1" smtClean="0">
                        <a:latin typeface="Cambria Math" panose="02040503050406030204" pitchFamily="18" charset="0"/>
                      </a:rPr>
                      <m:t>𝐴</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𝐴</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𝐴</m:t>
                        </m:r>
                      </m:e>
                      <m:sub>
                        <m:r>
                          <a:rPr lang="en-US" sz="2400" b="0" i="1" smtClean="0">
                            <a:latin typeface="Cambria Math" panose="02040503050406030204" pitchFamily="18" charset="0"/>
                          </a:rPr>
                          <m:t>2</m:t>
                        </m:r>
                      </m:sub>
                    </m:sSub>
                  </m:oMath>
                </a14:m>
                <a:r>
                  <a:rPr lang="ru-RU" sz="2400" dirty="0"/>
                  <a:t>. Определя се ново управление  </a:t>
                </a:r>
                <a14:m>
                  <m:oMath xmlns:m="http://schemas.openxmlformats.org/officeDocument/2006/math">
                    <m:acc>
                      <m:accPr>
                        <m:chr m:val="⃗"/>
                        <m:ctrlPr>
                          <a:rPr lang="ru-RU" sz="2400" i="1" smtClean="0">
                            <a:latin typeface="Cambria Math" panose="02040503050406030204" pitchFamily="18" charset="0"/>
                          </a:rPr>
                        </m:ctrlPr>
                      </m:accPr>
                      <m:e>
                        <m:r>
                          <a:rPr lang="en-US" sz="2400" b="0" i="1" smtClean="0">
                            <a:latin typeface="Cambria Math" panose="02040503050406030204" pitchFamily="18" charset="0"/>
                          </a:rPr>
                          <m:t>𝑣</m:t>
                        </m:r>
                      </m:e>
                    </m:acc>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d>
                          <m:dPr>
                            <m:begChr m:val="["/>
                            <m:endChr m:val="]"/>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1</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2</m:t>
                                </m:r>
                              </m:sub>
                            </m:sSub>
                          </m:e>
                        </m:d>
                      </m:e>
                      <m:sup>
                        <m:r>
                          <a:rPr lang="en-US" sz="2400" b="0" i="1" smtClean="0">
                            <a:latin typeface="Cambria Math" panose="02040503050406030204" pitchFamily="18" charset="0"/>
                          </a:rPr>
                          <m:t>𝑇</m:t>
                        </m:r>
                      </m:sup>
                    </m:sSup>
                  </m:oMath>
                </a14:m>
                <a:r>
                  <a:rPr lang="ru-RU" sz="2400" dirty="0"/>
                  <a:t>. Описаната в </a:t>
                </a:r>
                <a:r>
                  <a:rPr lang="en-US" sz="2400" dirty="0">
                    <a:solidFill>
                      <a:schemeClr val="accent1">
                        <a:lumMod val="75000"/>
                      </a:schemeClr>
                    </a:solidFill>
                  </a:rPr>
                  <a:t>a) </a:t>
                </a:r>
                <a:r>
                  <a:rPr lang="ru-RU" sz="2400" dirty="0"/>
                  <a:t>и</a:t>
                </a:r>
                <a:r>
                  <a:rPr lang="ru-RU" sz="2400" dirty="0">
                    <a:solidFill>
                      <a:schemeClr val="accent1">
                        <a:lumMod val="75000"/>
                      </a:schemeClr>
                    </a:solidFill>
                  </a:rPr>
                  <a:t> </a:t>
                </a:r>
                <a:r>
                  <a:rPr lang="en-US" sz="2400" dirty="0">
                    <a:solidFill>
                      <a:schemeClr val="accent1">
                        <a:lumMod val="75000"/>
                      </a:schemeClr>
                    </a:solidFill>
                  </a:rPr>
                  <a:t>b) </a:t>
                </a:r>
                <a:r>
                  <a:rPr lang="ru-RU" sz="2400" dirty="0"/>
                  <a:t>стратегия може да продължи до достигане на </a:t>
                </a:r>
                <a:r>
                  <a:rPr lang="ru-RU" sz="2400" i="1" dirty="0"/>
                  <a:t>y* </a:t>
                </a:r>
                <a:r>
                  <a:rPr lang="ru-RU" sz="2400" dirty="0"/>
                  <a:t>или при недостигане да се избере друга стратегия.</a:t>
                </a:r>
                <a:endParaRPr lang="en-US" sz="2400" dirty="0"/>
              </a:p>
              <a:p>
                <a:pPr indent="542925"/>
                <a:r>
                  <a:rPr lang="bg-BG" sz="2400" b="1" i="1" dirty="0"/>
                  <a:t>Примерни структури на моделни оператори</a:t>
                </a:r>
                <a:endParaRPr lang="en-GB" sz="2400" b="1" i="1" dirty="0"/>
              </a:p>
              <a:p>
                <a:pPr marL="1016000" indent="-457200" algn="just">
                  <a:lnSpc>
                    <a:spcPct val="130000"/>
                  </a:lnSpc>
                  <a:buClr>
                    <a:schemeClr val="accent1">
                      <a:lumMod val="75000"/>
                    </a:schemeClr>
                  </a:buClr>
                  <a:buSzPct val="85000"/>
                  <a:buFont typeface="+mj-lt"/>
                  <a:buAutoNum type="arabicPeriod"/>
                </a:pPr>
                <a:r>
                  <a:rPr lang="bg-BG" sz="2400" dirty="0"/>
                  <a:t>Моделен оператор във вид на функционално разложение</a:t>
                </a:r>
                <a:endParaRPr lang="en-US" sz="2400" dirty="0"/>
              </a:p>
              <a:p>
                <a:pPr marL="558800" algn="just">
                  <a:lnSpc>
                    <a:spcPct val="130000"/>
                  </a:lnSpc>
                  <a:buClr>
                    <a:schemeClr val="accent1">
                      <a:lumMod val="75000"/>
                    </a:schemeClr>
                  </a:buClr>
                  <a:buSzPct val="85000"/>
                </a:pPr>
                <a:endParaRPr lang="en-US" sz="2400" dirty="0"/>
              </a:p>
              <a:p>
                <a:pPr marL="558800" algn="just">
                  <a:lnSpc>
                    <a:spcPct val="130000"/>
                  </a:lnSpc>
                  <a:buClr>
                    <a:schemeClr val="accent1">
                      <a:lumMod val="75000"/>
                    </a:schemeClr>
                  </a:buClr>
                  <a:buSzPct val="85000"/>
                </a:pPr>
                <a:r>
                  <a:rPr lang="en-US" sz="2400" dirty="0"/>
                  <a:t>					,</a:t>
                </a:r>
              </a:p>
              <a:p>
                <a:pPr marL="558800" algn="just">
                  <a:lnSpc>
                    <a:spcPct val="130000"/>
                  </a:lnSpc>
                  <a:spcBef>
                    <a:spcPts val="600"/>
                  </a:spcBef>
                  <a:buClr>
                    <a:schemeClr val="accent1">
                      <a:lumMod val="75000"/>
                    </a:schemeClr>
                  </a:buClr>
                  <a:buSzPct val="85000"/>
                </a:pPr>
                <a:r>
                  <a:rPr lang="ru-RU" sz="2400" dirty="0"/>
                  <a:t>където </a:t>
                </a:r>
                <a14:m>
                  <m:oMath xmlns:m="http://schemas.openxmlformats.org/officeDocument/2006/math">
                    <m:r>
                      <a:rPr lang="ru-RU" sz="2400" i="1" dirty="0" smtClean="0">
                        <a:latin typeface="Cambria Math" panose="02040503050406030204" pitchFamily="18" charset="0"/>
                        <a:ea typeface="Cambria Math" panose="02040503050406030204" pitchFamily="18" charset="0"/>
                      </a:rPr>
                      <m:t>𝜑</m:t>
                    </m:r>
                    <m:r>
                      <a:rPr lang="en-US" sz="2400" b="0" i="1" dirty="0" smtClean="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𝑢</m:t>
                    </m:r>
                    <m:r>
                      <a:rPr lang="en-US" sz="2400" b="0" i="1" dirty="0" smtClean="0">
                        <a:latin typeface="Cambria Math" panose="02040503050406030204" pitchFamily="18" charset="0"/>
                        <a:ea typeface="Cambria Math" panose="02040503050406030204" pitchFamily="18" charset="0"/>
                      </a:rPr>
                      <m:t>)</m:t>
                    </m:r>
                  </m:oMath>
                </a14:m>
                <a:r>
                  <a:rPr lang="ru-RU" sz="2400" dirty="0"/>
                  <a:t>- зададена система функции,</a:t>
                </a:r>
                <a:r>
                  <a:rPr lang="en-US" sz="2400" dirty="0"/>
                  <a: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𝑐</m:t>
                        </m:r>
                      </m:e>
                      <m:sub>
                        <m:r>
                          <a:rPr lang="en-US" sz="2400" b="0" i="1" smtClean="0">
                            <a:latin typeface="Cambria Math" panose="02040503050406030204" pitchFamily="18" charset="0"/>
                          </a:rPr>
                          <m:t>𝑖</m:t>
                        </m:r>
                      </m:sub>
                    </m:sSub>
                  </m:oMath>
                </a14:m>
                <a:r>
                  <a:rPr lang="ru-RU" sz="2400" dirty="0"/>
                  <a:t>- постоянни коефициенти.</a:t>
                </a:r>
              </a:p>
              <a:p>
                <a:pPr indent="536575" algn="just">
                  <a:lnSpc>
                    <a:spcPct val="130000"/>
                  </a:lnSpc>
                  <a:buClr>
                    <a:schemeClr val="accent1">
                      <a:lumMod val="75000"/>
                    </a:schemeClr>
                  </a:buClr>
                  <a:buSzPct val="85000"/>
                </a:pPr>
                <a:r>
                  <a:rPr lang="ru-RU" sz="2400" dirty="0"/>
                  <a:t>Структурната идентификация на моделния оператор се свежда до намиране на подходяща система функции </a:t>
                </a:r>
                <a14:m>
                  <m:oMath xmlns:m="http://schemas.openxmlformats.org/officeDocument/2006/math">
                    <m:sSub>
                      <m:sSubPr>
                        <m:ctrlPr>
                          <a:rPr lang="ru-RU" sz="2400" i="1" dirty="0" smtClean="0">
                            <a:latin typeface="Cambria Math" panose="02040503050406030204" pitchFamily="18" charset="0"/>
                            <a:ea typeface="Cambria Math" panose="02040503050406030204" pitchFamily="18" charset="0"/>
                          </a:rPr>
                        </m:ctrlPr>
                      </m:sSubPr>
                      <m:e>
                        <m:r>
                          <a:rPr lang="ru-RU" sz="2400" i="1" dirty="0" smtClean="0">
                            <a:latin typeface="Cambria Math" panose="02040503050406030204" pitchFamily="18" charset="0"/>
                            <a:ea typeface="Cambria Math" panose="02040503050406030204" pitchFamily="18" charset="0"/>
                          </a:rPr>
                          <m:t>𝜑</m:t>
                        </m:r>
                      </m:e>
                      <m:sub>
                        <m:r>
                          <a:rPr lang="en-US" sz="2400" b="0" i="1" dirty="0" smtClean="0">
                            <a:latin typeface="Cambria Math" panose="02040503050406030204" pitchFamily="18" charset="0"/>
                            <a:ea typeface="Cambria Math" panose="02040503050406030204" pitchFamily="18" charset="0"/>
                          </a:rPr>
                          <m:t>𝑖</m:t>
                        </m:r>
                      </m:sub>
                    </m:sSub>
                    <m:d>
                      <m:dPr>
                        <m:ctrlPr>
                          <a:rPr lang="en-US" sz="2400" i="1" dirty="0">
                            <a:latin typeface="Cambria Math" panose="02040503050406030204" pitchFamily="18" charset="0"/>
                            <a:ea typeface="Cambria Math" panose="02040503050406030204" pitchFamily="18" charset="0"/>
                          </a:rPr>
                        </m:ctrlPr>
                      </m:dPr>
                      <m:e>
                        <m:r>
                          <a:rPr lang="en-US" sz="2400" i="1" dirty="0">
                            <a:latin typeface="Cambria Math" panose="02040503050406030204" pitchFamily="18" charset="0"/>
                            <a:ea typeface="Cambria Math" panose="02040503050406030204" pitchFamily="18" charset="0"/>
                          </a:rPr>
                          <m:t>𝑢</m:t>
                        </m:r>
                      </m:e>
                    </m:d>
                    <m:r>
                      <a:rPr lang="en-US" sz="2400" b="0" i="1" dirty="0" smtClean="0">
                        <a:latin typeface="Cambria Math" panose="02040503050406030204" pitchFamily="18" charset="0"/>
                        <a:ea typeface="Cambria Math" panose="02040503050406030204" pitchFamily="18" charset="0"/>
                      </a:rPr>
                      <m:t>,</m:t>
                    </m:r>
                  </m:oMath>
                </a14:m>
                <a:r>
                  <a:rPr lang="en-US" sz="2400" dirty="0"/>
                  <a:t> </a:t>
                </a:r>
                <a:r>
                  <a:rPr lang="ru-RU" sz="2400" dirty="0"/>
                  <a:t>а параметричната  - до определяне на постоянните коефициенти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𝑐</m:t>
                        </m:r>
                      </m:e>
                      <m:sub>
                        <m:r>
                          <a:rPr lang="en-US" sz="2400" i="1">
                            <a:latin typeface="Cambria Math" panose="02040503050406030204" pitchFamily="18" charset="0"/>
                          </a:rPr>
                          <m:t>𝑖</m:t>
                        </m:r>
                      </m:sub>
                    </m:sSub>
                  </m:oMath>
                </a14:m>
                <a:r>
                  <a:rPr lang="ru-RU" sz="2400" dirty="0"/>
                  <a:t>.</a:t>
                </a:r>
              </a:p>
            </p:txBody>
          </p:sp>
        </mc:Choice>
        <mc:Fallback xmlns="">
          <p:sp>
            <p:nvSpPr>
              <p:cNvPr id="17" name="Rectangle 16"/>
              <p:cNvSpPr>
                <a:spLocks noRot="1" noChangeAspect="1" noMove="1" noResize="1" noEditPoints="1" noAdjustHandles="1" noChangeArrowheads="1" noChangeShapeType="1" noTextEdit="1"/>
              </p:cNvSpPr>
              <p:nvPr/>
            </p:nvSpPr>
            <p:spPr>
              <a:xfrm>
                <a:off x="2305878" y="45718"/>
                <a:ext cx="9727038" cy="6300186"/>
              </a:xfrm>
              <a:prstGeom prst="rect">
                <a:avLst/>
              </a:prstGeom>
              <a:blipFill>
                <a:blip r:embed="rId4"/>
                <a:stretch>
                  <a:fillRect l="-940" r="-1003" b="-387"/>
                </a:stretch>
              </a:blipFill>
            </p:spPr>
            <p:txBody>
              <a:bodyPr/>
              <a:lstStyle/>
              <a:p>
                <a:r>
                  <a:rPr lang="bg-BG">
                    <a:noFill/>
                  </a:rPr>
                  <a:t> </a:t>
                </a:r>
              </a:p>
            </p:txBody>
          </p:sp>
        </mc:Fallback>
      </mc:AlternateContent>
      <p:sp>
        <p:nvSpPr>
          <p:cNvPr id="18" name="Rectangle 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20" name="Object 19"/>
          <p:cNvGraphicFramePr>
            <a:graphicFrameLocks noChangeAspect="1"/>
          </p:cNvGraphicFramePr>
          <p:nvPr>
            <p:extLst>
              <p:ext uri="{D42A27DB-BD31-4B8C-83A1-F6EECF244321}">
                <p14:modId xmlns:p14="http://schemas.microsoft.com/office/powerpoint/2010/main" val="3525736651"/>
              </p:ext>
            </p:extLst>
          </p:nvPr>
        </p:nvGraphicFramePr>
        <p:xfrm>
          <a:off x="3400822" y="2998237"/>
          <a:ext cx="3631636" cy="1045885"/>
        </p:xfrm>
        <a:graphic>
          <a:graphicData uri="http://schemas.openxmlformats.org/presentationml/2006/ole">
            <mc:AlternateContent xmlns:mc="http://schemas.openxmlformats.org/markup-compatibility/2006">
              <mc:Choice xmlns:v="urn:schemas-microsoft-com:vml" Requires="v">
                <p:oleObj name="Equation" r:id="rId5" imgW="1574893" imgH="608481" progId="Equation.3">
                  <p:embed/>
                </p:oleObj>
              </mc:Choice>
              <mc:Fallback>
                <p:oleObj name="Equation" r:id="rId5" imgW="1574893" imgH="608481"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0822" y="2998237"/>
                        <a:ext cx="3631636" cy="1045885"/>
                      </a:xfrm>
                      <a:prstGeom prst="rect">
                        <a:avLst/>
                      </a:prstGeom>
                      <a:noFill/>
                    </p:spPr>
                  </p:pic>
                </p:oleObj>
              </mc:Fallback>
            </mc:AlternateContent>
          </a:graphicData>
        </a:graphic>
      </p:graphicFrame>
    </p:spTree>
    <p:extLst>
      <p:ext uri="{BB962C8B-B14F-4D97-AF65-F5344CB8AC3E}">
        <p14:creationId xmlns:p14="http://schemas.microsoft.com/office/powerpoint/2010/main" val="41670047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15</a:t>
            </a:fld>
            <a:endParaRPr lang="bg-BG" dirty="0"/>
          </a:p>
        </p:txBody>
      </p:sp>
      <p:sp>
        <p:nvSpPr>
          <p:cNvPr id="5" name="Content Placeholder 2"/>
          <p:cNvSpPr txBox="1">
            <a:spLocks/>
          </p:cNvSpPr>
          <p:nvPr/>
        </p:nvSpPr>
        <p:spPr>
          <a:xfrm>
            <a:off x="2098842" y="449975"/>
            <a:ext cx="9867232" cy="4546560"/>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457200" algn="just">
              <a:buFont typeface="Wingdings" pitchFamily="2" charset="2"/>
              <a:buNone/>
            </a:pPr>
            <a:endParaRPr lang="bg-BG" sz="2200" dirty="0">
              <a:solidFill>
                <a:schemeClr val="tx1">
                  <a:lumMod val="95000"/>
                  <a:lumOff val="5000"/>
                </a:schemeClr>
              </a:solidFill>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mc:AlternateContent xmlns:mc="http://schemas.openxmlformats.org/markup-compatibility/2006" xmlns:a14="http://schemas.microsoft.com/office/drawing/2010/main">
        <mc:Choice Requires="a14">
          <p:sp>
            <p:nvSpPr>
              <p:cNvPr id="2" name="Rectangle 1"/>
              <p:cNvSpPr/>
              <p:nvPr/>
            </p:nvSpPr>
            <p:spPr>
              <a:xfrm>
                <a:off x="2019330" y="71623"/>
                <a:ext cx="10093158" cy="6746462"/>
              </a:xfrm>
              <a:prstGeom prst="rect">
                <a:avLst/>
              </a:prstGeom>
            </p:spPr>
            <p:txBody>
              <a:bodyPr wrap="square">
                <a:spAutoFit/>
              </a:bodyPr>
              <a:lstStyle/>
              <a:p>
                <a:pPr marL="1016000" indent="-457200" algn="just">
                  <a:lnSpc>
                    <a:spcPct val="130000"/>
                  </a:lnSpc>
                  <a:spcAft>
                    <a:spcPts val="0"/>
                  </a:spcAft>
                  <a:buClr>
                    <a:schemeClr val="accent1">
                      <a:lumMod val="75000"/>
                    </a:schemeClr>
                  </a:buClr>
                  <a:buSzPct val="85000"/>
                  <a:buFont typeface="+mj-lt"/>
                  <a:buAutoNum type="arabicPeriod" startAt="2"/>
                </a:pPr>
                <a:r>
                  <a:rPr lang="bg-BG" sz="2400" dirty="0"/>
                  <a:t>Моделен оператор, зададен във вид на диференциално уравнение</a:t>
                </a:r>
                <a:endParaRPr lang="en-US" sz="2400" dirty="0"/>
              </a:p>
              <a:p>
                <a:pPr marL="558800" algn="just">
                  <a:lnSpc>
                    <a:spcPct val="130000"/>
                  </a:lnSpc>
                  <a:spcAft>
                    <a:spcPts val="0"/>
                  </a:spcAft>
                  <a:buClr>
                    <a:schemeClr val="accent1">
                      <a:lumMod val="75000"/>
                    </a:schemeClr>
                  </a:buClr>
                  <a:buSzPct val="85000"/>
                </a:pPr>
                <a:endParaRPr lang="en-US" sz="2400" dirty="0"/>
              </a:p>
              <a:p>
                <a:pPr marL="558800" algn="just">
                  <a:lnSpc>
                    <a:spcPct val="130000"/>
                  </a:lnSpc>
                  <a:spcAft>
                    <a:spcPts val="0"/>
                  </a:spcAft>
                  <a:buClr>
                    <a:schemeClr val="accent1">
                      <a:lumMod val="75000"/>
                    </a:schemeClr>
                  </a:buClr>
                  <a:buSzPct val="85000"/>
                </a:pPr>
                <a:endParaRPr lang="en-US" sz="2400" dirty="0"/>
              </a:p>
              <a:p>
                <a:pPr indent="536575" algn="just">
                  <a:lnSpc>
                    <a:spcPct val="130000"/>
                  </a:lnSpc>
                  <a:spcAft>
                    <a:spcPts val="0"/>
                  </a:spcAft>
                  <a:buClr>
                    <a:schemeClr val="accent1">
                      <a:lumMod val="75000"/>
                    </a:schemeClr>
                  </a:buClr>
                  <a:buSzPct val="85000"/>
                </a:pPr>
                <a:r>
                  <a:rPr lang="ru-RU" sz="2400" dirty="0"/>
                  <a:t>Намирането на параметрите </a:t>
                </a:r>
                <a:r>
                  <a:rPr lang="ru-RU" sz="2400" i="1" dirty="0"/>
                  <a:t>m</a:t>
                </a:r>
                <a:r>
                  <a:rPr lang="ru-RU" sz="2400" dirty="0"/>
                  <a:t> и </a:t>
                </a:r>
                <a:r>
                  <a:rPr lang="ru-RU" sz="2400" i="1" dirty="0"/>
                  <a:t>n</a:t>
                </a:r>
                <a:r>
                  <a:rPr lang="ru-RU" sz="2400" dirty="0"/>
                  <a:t>, които определят структурата на този модел е предмет на структурна идентификация на обекта, а на параметрите  </a:t>
                </a:r>
                <a14:m>
                  <m:oMath xmlns:m="http://schemas.openxmlformats.org/officeDocument/2006/math">
                    <m:sSub>
                      <m:sSubPr>
                        <m:ctrlPr>
                          <a:rPr lang="ru-RU" sz="2400" i="1" smtClean="0">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 </m:t>
                    </m:r>
                  </m:oMath>
                </a14:m>
                <a:r>
                  <a:rPr lang="ru-RU" sz="2400" dirty="0"/>
                  <a:t>и </a:t>
                </a:r>
                <a14:m>
                  <m:oMath xmlns:m="http://schemas.openxmlformats.org/officeDocument/2006/math">
                    <m:sSub>
                      <m:sSubPr>
                        <m:ctrlPr>
                          <a:rPr lang="ru-RU" sz="2400" i="1">
                            <a:latin typeface="Cambria Math" panose="02040503050406030204" pitchFamily="18" charset="0"/>
                          </a:rPr>
                        </m:ctrlPr>
                      </m:sSubPr>
                      <m:e>
                        <m:r>
                          <a:rPr lang="en-US" sz="2400" b="0" i="1" smtClean="0">
                            <a:latin typeface="Cambria Math" panose="02040503050406030204" pitchFamily="18" charset="0"/>
                          </a:rPr>
                          <m:t>𝑏</m:t>
                        </m:r>
                      </m:e>
                      <m:sub>
                        <m:r>
                          <a:rPr lang="en-US" sz="2400" i="1">
                            <a:latin typeface="Cambria Math" panose="02040503050406030204" pitchFamily="18" charset="0"/>
                          </a:rPr>
                          <m:t>𝑖</m:t>
                        </m:r>
                      </m:sub>
                    </m:sSub>
                  </m:oMath>
                </a14:m>
                <a:r>
                  <a:rPr lang="ru-RU" sz="2400" dirty="0"/>
                  <a:t>  на параметрична идентификация.</a:t>
                </a:r>
                <a:endParaRPr lang="en-US" sz="2400" dirty="0"/>
              </a:p>
              <a:p>
                <a:pPr marL="1016000" indent="-457200" algn="just">
                  <a:lnSpc>
                    <a:spcPct val="130000"/>
                  </a:lnSpc>
                  <a:buClr>
                    <a:schemeClr val="accent1">
                      <a:lumMod val="75000"/>
                    </a:schemeClr>
                  </a:buClr>
                  <a:buSzPct val="85000"/>
                  <a:buFont typeface="+mj-lt"/>
                  <a:buAutoNum type="arabicPeriod" startAt="3"/>
                </a:pPr>
                <a:r>
                  <a:rPr lang="bg-BG" sz="2400" dirty="0"/>
                  <a:t>Моделен оператор, представен чрез функционален ред на Волтер</a:t>
                </a:r>
                <a:endParaRPr lang="en-US" sz="2400" dirty="0"/>
              </a:p>
              <a:p>
                <a:pPr marL="558800" algn="just">
                  <a:spcAft>
                    <a:spcPts val="0"/>
                  </a:spcAft>
                  <a:buClr>
                    <a:schemeClr val="accent1">
                      <a:lumMod val="75000"/>
                    </a:schemeClr>
                  </a:buClr>
                  <a:buSzPct val="85000"/>
                </a:pPr>
                <a:endParaRPr lang="en-US" sz="2400" dirty="0"/>
              </a:p>
              <a:p>
                <a:pPr marL="558800" algn="just">
                  <a:spcAft>
                    <a:spcPts val="0"/>
                  </a:spcAft>
                  <a:buClr>
                    <a:schemeClr val="accent1">
                      <a:lumMod val="75000"/>
                    </a:schemeClr>
                  </a:buClr>
                  <a:buSzPct val="85000"/>
                </a:pPr>
                <a:r>
                  <a:rPr lang="en-US" sz="2400" dirty="0"/>
                  <a:t>				      ,</a:t>
                </a:r>
              </a:p>
              <a:p>
                <a:pPr algn="just">
                  <a:lnSpc>
                    <a:spcPct val="130000"/>
                  </a:lnSpc>
                  <a:spcBef>
                    <a:spcPts val="1200"/>
                  </a:spcBef>
                  <a:spcAft>
                    <a:spcPts val="0"/>
                  </a:spcAft>
                  <a:buClr>
                    <a:schemeClr val="accent1">
                      <a:lumMod val="75000"/>
                    </a:schemeClr>
                  </a:buClr>
                  <a:buSzPct val="85000"/>
                </a:pPr>
                <a:r>
                  <a:rPr lang="ru-RU" sz="2400" dirty="0"/>
                  <a:t>където </a:t>
                </a:r>
                <a14:m>
                  <m:oMath xmlns:m="http://schemas.openxmlformats.org/officeDocument/2006/math">
                    <m:sSub>
                      <m:sSubPr>
                        <m:ctrlPr>
                          <a:rPr lang="ru-RU" sz="2400" i="1" smtClean="0">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𝑖</m:t>
                        </m:r>
                      </m:sub>
                    </m:sSub>
                  </m:oMath>
                </a14:m>
                <a:r>
                  <a:rPr lang="ru-RU" sz="2400" dirty="0"/>
                  <a:t> са функционали, а </a:t>
                </a:r>
                <a14:m>
                  <m:oMath xmlns:m="http://schemas.openxmlformats.org/officeDocument/2006/math">
                    <m:sSub>
                      <m:sSubPr>
                        <m:ctrlPr>
                          <a:rPr lang="ru-RU" sz="2400" i="1" smtClean="0">
                            <a:latin typeface="Cambria Math" panose="02040503050406030204" pitchFamily="18" charset="0"/>
                          </a:rPr>
                        </m:ctrlPr>
                      </m:sSubPr>
                      <m:e>
                        <m:r>
                          <a:rPr lang="ru-RU" sz="2400" i="1" smtClean="0">
                            <a:latin typeface="Cambria Math" panose="02040503050406030204" pitchFamily="18" charset="0"/>
                            <a:ea typeface="Cambria Math" panose="02040503050406030204" pitchFamily="18" charset="0"/>
                          </a:rPr>
                          <m:t>𝜔</m:t>
                        </m:r>
                      </m:e>
                      <m:sub>
                        <m:r>
                          <a:rPr lang="en-US" sz="2400" b="0" i="1" smtClean="0">
                            <a:latin typeface="Cambria Math" panose="02040503050406030204" pitchFamily="18" charset="0"/>
                          </a:rPr>
                          <m:t>𝑖</m:t>
                        </m:r>
                      </m:sub>
                    </m:sSub>
                  </m:oMath>
                </a14:m>
                <a:r>
                  <a:rPr lang="ru-RU" sz="2400" dirty="0"/>
                  <a:t> - ядра на Волтер. Обикновено те се апроксимират с функции и коефициенти, аналогични на моделния оператор от първия вид.</a:t>
                </a:r>
                <a:endParaRPr lang="en-GB" sz="2400" dirty="0"/>
              </a:p>
            </p:txBody>
          </p:sp>
        </mc:Choice>
        <mc:Fallback xmlns="">
          <p:sp>
            <p:nvSpPr>
              <p:cNvPr id="2" name="Rectangle 1"/>
              <p:cNvSpPr>
                <a:spLocks noRot="1" noChangeAspect="1" noMove="1" noResize="1" noEditPoints="1" noAdjustHandles="1" noChangeArrowheads="1" noChangeShapeType="1" noTextEdit="1"/>
              </p:cNvSpPr>
              <p:nvPr/>
            </p:nvSpPr>
            <p:spPr>
              <a:xfrm>
                <a:off x="2019330" y="71623"/>
                <a:ext cx="10093158" cy="6746462"/>
              </a:xfrm>
              <a:prstGeom prst="rect">
                <a:avLst/>
              </a:prstGeom>
              <a:blipFill>
                <a:blip r:embed="rId4"/>
                <a:stretch>
                  <a:fillRect l="-906" r="-966" b="-452"/>
                </a:stretch>
              </a:blipFill>
            </p:spPr>
            <p:txBody>
              <a:bodyPr/>
              <a:lstStyle/>
              <a:p>
                <a:r>
                  <a:rPr lang="bg-BG">
                    <a:noFill/>
                  </a:rPr>
                  <a:t> </a:t>
                </a:r>
              </a:p>
            </p:txBody>
          </p:sp>
        </mc:Fallback>
      </mc:AlternateContent>
      <p:sp>
        <p:nvSpPr>
          <p:cNvPr id="7"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8" name="Object 7"/>
          <p:cNvGraphicFramePr>
            <a:graphicFrameLocks noChangeAspect="1"/>
          </p:cNvGraphicFramePr>
          <p:nvPr>
            <p:extLst>
              <p:ext uri="{D42A27DB-BD31-4B8C-83A1-F6EECF244321}">
                <p14:modId xmlns:p14="http://schemas.microsoft.com/office/powerpoint/2010/main" val="3849394707"/>
              </p:ext>
            </p:extLst>
          </p:nvPr>
        </p:nvGraphicFramePr>
        <p:xfrm>
          <a:off x="3143278" y="1079854"/>
          <a:ext cx="4781522" cy="1000738"/>
        </p:xfrm>
        <a:graphic>
          <a:graphicData uri="http://schemas.openxmlformats.org/presentationml/2006/ole">
            <mc:AlternateContent xmlns:mc="http://schemas.openxmlformats.org/markup-compatibility/2006">
              <mc:Choice xmlns:v="urn:schemas-microsoft-com:vml" Requires="v">
                <p:oleObj name="Equation" r:id="rId5" imgW="2019300" imgH="444500" progId="Equation.3">
                  <p:embed/>
                </p:oleObj>
              </mc:Choice>
              <mc:Fallback>
                <p:oleObj name="Equation" r:id="rId5" imgW="2019300" imgH="44450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43278" y="1079854"/>
                        <a:ext cx="4781522" cy="1000738"/>
                      </a:xfrm>
                      <a:prstGeom prst="rect">
                        <a:avLst/>
                      </a:prstGeom>
                      <a:noFill/>
                    </p:spPr>
                  </p:pic>
                </p:oleObj>
              </mc:Fallback>
            </mc:AlternateContent>
          </a:graphicData>
        </a:graphic>
      </p:graphicFrame>
      <p:sp>
        <p:nvSpPr>
          <p:cNvPr id="18" name="Rectangle 1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20" name="Object 19"/>
          <p:cNvGraphicFramePr>
            <a:graphicFrameLocks noChangeAspect="1"/>
          </p:cNvGraphicFramePr>
          <p:nvPr>
            <p:extLst>
              <p:ext uri="{D42A27DB-BD31-4B8C-83A1-F6EECF244321}">
                <p14:modId xmlns:p14="http://schemas.microsoft.com/office/powerpoint/2010/main" val="3060543901"/>
              </p:ext>
            </p:extLst>
          </p:nvPr>
        </p:nvGraphicFramePr>
        <p:xfrm>
          <a:off x="3313043" y="4426135"/>
          <a:ext cx="2835966" cy="1030577"/>
        </p:xfrm>
        <a:graphic>
          <a:graphicData uri="http://schemas.openxmlformats.org/presentationml/2006/ole">
            <mc:AlternateContent xmlns:mc="http://schemas.openxmlformats.org/markup-compatibility/2006">
              <mc:Choice xmlns:v="urn:schemas-microsoft-com:vml" Requires="v">
                <p:oleObj name="Equation" r:id="rId7" imgW="1193800" imgH="431800" progId="Equation.3">
                  <p:embed/>
                </p:oleObj>
              </mc:Choice>
              <mc:Fallback>
                <p:oleObj name="Equation" r:id="rId7" imgW="1193800" imgH="4318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13043" y="4426135"/>
                        <a:ext cx="2835966" cy="1030577"/>
                      </a:xfrm>
                      <a:prstGeom prst="rect">
                        <a:avLst/>
                      </a:prstGeom>
                      <a:noFill/>
                    </p:spPr>
                  </p:pic>
                </p:oleObj>
              </mc:Fallback>
            </mc:AlternateContent>
          </a:graphicData>
        </a:graphic>
      </p:graphicFrame>
    </p:spTree>
    <p:extLst>
      <p:ext uri="{BB962C8B-B14F-4D97-AF65-F5344CB8AC3E}">
        <p14:creationId xmlns:p14="http://schemas.microsoft.com/office/powerpoint/2010/main" val="3703088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16</a:t>
            </a:fld>
            <a:endParaRPr lang="bg-BG" dirty="0"/>
          </a:p>
        </p:txBody>
      </p:sp>
      <p:sp>
        <p:nvSpPr>
          <p:cNvPr id="5" name="Content Placeholder 2"/>
          <p:cNvSpPr txBox="1">
            <a:spLocks/>
          </p:cNvSpPr>
          <p:nvPr/>
        </p:nvSpPr>
        <p:spPr>
          <a:xfrm>
            <a:off x="2098842" y="449975"/>
            <a:ext cx="9867232" cy="4546560"/>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457200" algn="just">
              <a:buFont typeface="Wingdings" pitchFamily="2" charset="2"/>
              <a:buNone/>
            </a:pPr>
            <a:endParaRPr lang="bg-BG" sz="2200" dirty="0">
              <a:solidFill>
                <a:schemeClr val="tx1">
                  <a:lumMod val="95000"/>
                  <a:lumOff val="5000"/>
                </a:schemeClr>
              </a:solidFill>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mc:AlternateContent xmlns:mc="http://schemas.openxmlformats.org/markup-compatibility/2006" xmlns:a14="http://schemas.microsoft.com/office/drawing/2010/main">
        <mc:Choice Requires="a14">
          <p:sp>
            <p:nvSpPr>
              <p:cNvPr id="2" name="Rectangle 1"/>
              <p:cNvSpPr/>
              <p:nvPr/>
            </p:nvSpPr>
            <p:spPr>
              <a:xfrm>
                <a:off x="2032000" y="45718"/>
                <a:ext cx="10027478" cy="6814173"/>
              </a:xfrm>
              <a:prstGeom prst="rect">
                <a:avLst/>
              </a:prstGeom>
            </p:spPr>
            <p:txBody>
              <a:bodyPr wrap="square">
                <a:spAutoFit/>
              </a:bodyPr>
              <a:lstStyle/>
              <a:p>
                <a:pPr marL="1016000" indent="-457200" algn="just">
                  <a:lnSpc>
                    <a:spcPct val="130000"/>
                  </a:lnSpc>
                  <a:spcAft>
                    <a:spcPts val="0"/>
                  </a:spcAft>
                  <a:buClr>
                    <a:schemeClr val="accent1">
                      <a:lumMod val="75000"/>
                    </a:schemeClr>
                  </a:buClr>
                  <a:buSzPct val="85000"/>
                  <a:buFont typeface="+mj-lt"/>
                  <a:buAutoNum type="arabicPeriod" startAt="4"/>
                </a:pPr>
                <a:r>
                  <a:rPr lang="bg-BG" sz="2400" dirty="0"/>
                  <a:t>Моделен оператор за описание на обекти в дискретни моменти от време</a:t>
                </a:r>
                <a:endParaRPr lang="en-US" sz="2400" dirty="0"/>
              </a:p>
              <a:p>
                <a:pPr marL="1016000" indent="-457200" algn="just">
                  <a:lnSpc>
                    <a:spcPct val="130000"/>
                  </a:lnSpc>
                  <a:spcAft>
                    <a:spcPts val="0"/>
                  </a:spcAft>
                  <a:buClr>
                    <a:schemeClr val="accent1">
                      <a:lumMod val="75000"/>
                    </a:schemeClr>
                  </a:buClr>
                  <a:buSzPct val="85000"/>
                  <a:buFont typeface="+mj-lt"/>
                  <a:buAutoNum type="arabicPeriod" startAt="4"/>
                </a:pPr>
                <a:endParaRPr lang="en-US" sz="2400" dirty="0"/>
              </a:p>
              <a:p>
                <a:pPr marL="558800" algn="just">
                  <a:lnSpc>
                    <a:spcPct val="130000"/>
                  </a:lnSpc>
                  <a:spcAft>
                    <a:spcPts val="0"/>
                  </a:spcAft>
                  <a:buClr>
                    <a:schemeClr val="accent1">
                      <a:lumMod val="75000"/>
                    </a:schemeClr>
                  </a:buClr>
                  <a:buSzPct val="85000"/>
                </a:pPr>
                <a:endParaRPr lang="en-US" sz="2400" dirty="0"/>
              </a:p>
              <a:p>
                <a:pPr indent="542925" algn="just">
                  <a:lnSpc>
                    <a:spcPct val="130000"/>
                  </a:lnSpc>
                  <a:spcAft>
                    <a:spcPts val="0"/>
                  </a:spcAft>
                  <a:buClr>
                    <a:schemeClr val="accent1">
                      <a:lumMod val="75000"/>
                    </a:schemeClr>
                  </a:buClr>
                  <a:buSzPct val="85000"/>
                </a:pPr>
                <a:r>
                  <a:rPr lang="ru-RU" sz="2400" dirty="0"/>
                  <a:t>Определянето на параметрите </a:t>
                </a:r>
                <a:r>
                  <a:rPr lang="ru-RU" sz="2400" i="1" dirty="0"/>
                  <a:t>m</a:t>
                </a:r>
                <a:r>
                  <a:rPr lang="ru-RU" sz="2400" dirty="0"/>
                  <a:t> и </a:t>
                </a:r>
                <a:r>
                  <a:rPr lang="ru-RU" sz="2400" i="1" dirty="0"/>
                  <a:t>n</a:t>
                </a:r>
                <a:r>
                  <a:rPr lang="ru-RU" sz="2400" dirty="0"/>
                  <a:t> представлява структурната идентификация, а на параметрите  </a:t>
                </a:r>
                <a14:m>
                  <m:oMath xmlns:m="http://schemas.openxmlformats.org/officeDocument/2006/math">
                    <m:sSub>
                      <m:sSubPr>
                        <m:ctrlPr>
                          <a:rPr lang="ru-RU"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𝑖</m:t>
                        </m:r>
                      </m:sub>
                    </m:sSub>
                    <m:r>
                      <a:rPr lang="en-US" sz="2400" i="1">
                        <a:latin typeface="Cambria Math" panose="02040503050406030204" pitchFamily="18" charset="0"/>
                      </a:rPr>
                      <m:t> </m:t>
                    </m:r>
                  </m:oMath>
                </a14:m>
                <a:r>
                  <a:rPr lang="ru-RU" sz="2400" dirty="0"/>
                  <a:t>и </a:t>
                </a:r>
                <a14:m>
                  <m:oMath xmlns:m="http://schemas.openxmlformats.org/officeDocument/2006/math">
                    <m:sSub>
                      <m:sSubPr>
                        <m:ctrlPr>
                          <a:rPr lang="ru-RU" sz="2400" i="1">
                            <a:latin typeface="Cambria Math" panose="02040503050406030204" pitchFamily="18" charset="0"/>
                          </a:rPr>
                        </m:ctrlPr>
                      </m:sSubPr>
                      <m:e>
                        <m:r>
                          <a:rPr lang="en-US" sz="2400" i="1">
                            <a:latin typeface="Cambria Math" panose="02040503050406030204" pitchFamily="18" charset="0"/>
                          </a:rPr>
                          <m:t>𝑏</m:t>
                        </m:r>
                      </m:e>
                      <m:sub>
                        <m:r>
                          <a:rPr lang="en-US" sz="2400" i="1">
                            <a:latin typeface="Cambria Math" panose="02040503050406030204" pitchFamily="18" charset="0"/>
                          </a:rPr>
                          <m:t>𝑖</m:t>
                        </m:r>
                      </m:sub>
                    </m:sSub>
                  </m:oMath>
                </a14:m>
                <a:r>
                  <a:rPr lang="ru-RU" sz="2400" dirty="0"/>
                  <a:t>  - параметричната. Трябва да се обърне внимание на факта, че </a:t>
                </a:r>
                <a14:m>
                  <m:oMath xmlns:m="http://schemas.openxmlformats.org/officeDocument/2006/math">
                    <m:sSub>
                      <m:sSubPr>
                        <m:ctrlPr>
                          <a:rPr lang="ru-RU"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𝑖</m:t>
                        </m:r>
                      </m:sub>
                    </m:sSub>
                    <m:r>
                      <a:rPr lang="en-US" sz="2400" i="1">
                        <a:latin typeface="Cambria Math" panose="02040503050406030204" pitchFamily="18" charset="0"/>
                      </a:rPr>
                      <m:t> </m:t>
                    </m:r>
                  </m:oMath>
                </a14:m>
                <a:r>
                  <a:rPr lang="ru-RU" sz="2400" dirty="0"/>
                  <a:t>и </a:t>
                </a:r>
                <a14:m>
                  <m:oMath xmlns:m="http://schemas.openxmlformats.org/officeDocument/2006/math">
                    <m:sSub>
                      <m:sSubPr>
                        <m:ctrlPr>
                          <a:rPr lang="ru-RU" sz="2400" i="1">
                            <a:latin typeface="Cambria Math" panose="02040503050406030204" pitchFamily="18" charset="0"/>
                          </a:rPr>
                        </m:ctrlPr>
                      </m:sSubPr>
                      <m:e>
                        <m:r>
                          <a:rPr lang="en-US" sz="2400" i="1">
                            <a:latin typeface="Cambria Math" panose="02040503050406030204" pitchFamily="18" charset="0"/>
                          </a:rPr>
                          <m:t>𝑏</m:t>
                        </m:r>
                      </m:e>
                      <m:sub>
                        <m:r>
                          <a:rPr lang="en-US" sz="2400" i="1">
                            <a:latin typeface="Cambria Math" panose="02040503050406030204" pitchFamily="18" charset="0"/>
                          </a:rPr>
                          <m:t>𝑖</m:t>
                        </m:r>
                      </m:sub>
                    </m:sSub>
                  </m:oMath>
                </a14:m>
                <a:r>
                  <a:rPr lang="en-US" sz="2400" dirty="0"/>
                  <a:t> </a:t>
                </a:r>
                <a:r>
                  <a:rPr lang="ru-RU" sz="2400" dirty="0"/>
                  <a:t>в непрекъснати и дискретни модели по принцип не съвпадат.</a:t>
                </a:r>
                <a:endParaRPr lang="en-US" sz="2400" dirty="0"/>
              </a:p>
              <a:p>
                <a:pPr indent="542925" algn="just">
                  <a:lnSpc>
                    <a:spcPct val="130000"/>
                  </a:lnSpc>
                  <a:buClr>
                    <a:schemeClr val="accent1">
                      <a:lumMod val="75000"/>
                    </a:schemeClr>
                  </a:buClr>
                  <a:buSzPct val="85000"/>
                </a:pPr>
                <a:r>
                  <a:rPr lang="ru-RU" sz="2400" dirty="0"/>
                  <a:t>Наред с входните величини </a:t>
                </a:r>
                <a:r>
                  <a:rPr lang="ru-RU" sz="2400" i="1" dirty="0"/>
                  <a:t>u</a:t>
                </a:r>
                <a:r>
                  <a:rPr lang="ru-RU" sz="2400" dirty="0"/>
                  <a:t> и изходните величини (реакции) </a:t>
                </a:r>
                <a:r>
                  <a:rPr lang="ru-RU" sz="2400" i="1" dirty="0"/>
                  <a:t>y</a:t>
                </a:r>
                <a:r>
                  <a:rPr lang="ru-RU" sz="2400" dirty="0"/>
                  <a:t>, има и трета група променливи – наречени променливи на състоянието, които формират вектора на състоянието </a:t>
                </a:r>
                <a14:m>
                  <m:oMath xmlns:m="http://schemas.openxmlformats.org/officeDocument/2006/math">
                    <m:r>
                      <a:rPr lang="en-US" sz="2400" b="0" i="1" smtClean="0">
                        <a:latin typeface="Cambria Math" panose="02040503050406030204" pitchFamily="18" charset="0"/>
                      </a:rPr>
                      <m:t>𝑥</m:t>
                    </m:r>
                    <m:r>
                      <a:rPr lang="en-US" sz="2400" b="0" i="1" smtClean="0">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smtClean="0">
                                <a:latin typeface="Cambria Math" panose="02040503050406030204" pitchFamily="18" charset="0"/>
                              </a:rPr>
                            </m:ctrlPr>
                          </m:dPr>
                          <m:e>
                            <m:sSub>
                              <m:sSubPr>
                                <m:ctrlPr>
                                  <a:rPr lang="en-US" sz="2400" i="1">
                                    <a:latin typeface="Cambria Math" panose="02040503050406030204" pitchFamily="18" charset="0"/>
                                  </a:rPr>
                                </m:ctrlPr>
                              </m:sSubPr>
                              <m:e>
                                <m:r>
                                  <a:rPr lang="en-US" sz="2400" b="0" i="1" smtClean="0">
                                    <a:latin typeface="Cambria Math" panose="02040503050406030204" pitchFamily="18" charset="0"/>
                                  </a:rPr>
                                  <m:t>𝑥</m:t>
                                </m:r>
                              </m:e>
                              <m:sub>
                                <m:r>
                                  <a:rPr lang="en-US" sz="2400" i="1">
                                    <a:latin typeface="Cambria Math" panose="02040503050406030204" pitchFamily="18" charset="0"/>
                                  </a:rPr>
                                  <m:t>1</m:t>
                                </m:r>
                              </m:sub>
                            </m:sSub>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𝑛</m:t>
                                </m:r>
                              </m:sub>
                            </m:sSub>
                          </m:e>
                        </m:d>
                      </m:e>
                      <m:sup>
                        <m:r>
                          <a:rPr lang="en-US" sz="2400" i="1">
                            <a:latin typeface="Cambria Math" panose="02040503050406030204" pitchFamily="18" charset="0"/>
                          </a:rPr>
                          <m:t>𝑇</m:t>
                        </m:r>
                      </m:sup>
                    </m:sSup>
                  </m:oMath>
                </a14:m>
                <a:r>
                  <a:rPr lang="ru-RU" sz="2400" dirty="0"/>
                  <a:t> . Някои от компонентите на вектора на състоянието могат да съвпадат с реакциите на обектите, а други са вътрешни променливи, които се налага да бъдат оценявани. </a:t>
                </a:r>
                <a:endParaRPr lang="en-GB" sz="2400" dirty="0"/>
              </a:p>
            </p:txBody>
          </p:sp>
        </mc:Choice>
        <mc:Fallback xmlns="">
          <p:sp>
            <p:nvSpPr>
              <p:cNvPr id="2" name="Rectangle 1"/>
              <p:cNvSpPr>
                <a:spLocks noRot="1" noChangeAspect="1" noMove="1" noResize="1" noEditPoints="1" noAdjustHandles="1" noChangeArrowheads="1" noChangeShapeType="1" noTextEdit="1"/>
              </p:cNvSpPr>
              <p:nvPr/>
            </p:nvSpPr>
            <p:spPr>
              <a:xfrm>
                <a:off x="2032000" y="45718"/>
                <a:ext cx="10027478" cy="6814173"/>
              </a:xfrm>
              <a:prstGeom prst="rect">
                <a:avLst/>
              </a:prstGeom>
              <a:blipFill>
                <a:blip r:embed="rId4"/>
                <a:stretch>
                  <a:fillRect l="-912" r="-973" b="-358"/>
                </a:stretch>
              </a:blipFill>
            </p:spPr>
            <p:txBody>
              <a:bodyPr/>
              <a:lstStyle/>
              <a:p>
                <a:r>
                  <a:rPr lang="en-GB">
                    <a:noFill/>
                  </a:rPr>
                  <a:t> </a:t>
                </a:r>
              </a:p>
            </p:txBody>
          </p:sp>
        </mc:Fallback>
      </mc:AlternateContent>
      <p:sp>
        <p:nvSpPr>
          <p:cNvPr id="7"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8" name="Object 7"/>
          <p:cNvGraphicFramePr>
            <a:graphicFrameLocks noChangeAspect="1"/>
          </p:cNvGraphicFramePr>
          <p:nvPr>
            <p:extLst>
              <p:ext uri="{D42A27DB-BD31-4B8C-83A1-F6EECF244321}">
                <p14:modId xmlns:p14="http://schemas.microsoft.com/office/powerpoint/2010/main" val="2661229188"/>
              </p:ext>
            </p:extLst>
          </p:nvPr>
        </p:nvGraphicFramePr>
        <p:xfrm>
          <a:off x="2862470" y="1046923"/>
          <a:ext cx="3779482" cy="980661"/>
        </p:xfrm>
        <a:graphic>
          <a:graphicData uri="http://schemas.openxmlformats.org/presentationml/2006/ole">
            <mc:AlternateContent xmlns:mc="http://schemas.openxmlformats.org/markup-compatibility/2006">
              <mc:Choice xmlns:v="urn:schemas-microsoft-com:vml" Requires="v">
                <p:oleObj name="Equation" r:id="rId5" imgW="1676400" imgH="431800" progId="Equation.3">
                  <p:embed/>
                </p:oleObj>
              </mc:Choice>
              <mc:Fallback>
                <p:oleObj name="Equation" r:id="rId5" imgW="1676400" imgH="43180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62470" y="1046923"/>
                        <a:ext cx="3779482" cy="980661"/>
                      </a:xfrm>
                      <a:prstGeom prst="rect">
                        <a:avLst/>
                      </a:prstGeom>
                      <a:noFill/>
                    </p:spPr>
                  </p:pic>
                </p:oleObj>
              </mc:Fallback>
            </mc:AlternateContent>
          </a:graphicData>
        </a:graphic>
      </p:graphicFrame>
    </p:spTree>
    <p:extLst>
      <p:ext uri="{BB962C8B-B14F-4D97-AF65-F5344CB8AC3E}">
        <p14:creationId xmlns:p14="http://schemas.microsoft.com/office/powerpoint/2010/main" val="2536518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17</a:t>
            </a:fld>
            <a:endParaRPr lang="bg-BG" dirty="0"/>
          </a:p>
        </p:txBody>
      </p:sp>
      <p:sp>
        <p:nvSpPr>
          <p:cNvPr id="5" name="Content Placeholder 2"/>
          <p:cNvSpPr txBox="1">
            <a:spLocks/>
          </p:cNvSpPr>
          <p:nvPr/>
        </p:nvSpPr>
        <p:spPr>
          <a:xfrm>
            <a:off x="1921565" y="32466"/>
            <a:ext cx="10270435" cy="6896817"/>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lvl="0" indent="542925" algn="just">
              <a:lnSpc>
                <a:spcPct val="130000"/>
              </a:lnSpc>
              <a:spcBef>
                <a:spcPts val="0"/>
              </a:spcBef>
              <a:buClr>
                <a:srgbClr val="D34817">
                  <a:lumMod val="75000"/>
                </a:srgbClr>
              </a:buClr>
              <a:buNone/>
            </a:pPr>
            <a:r>
              <a:rPr lang="ru-RU" sz="2400" dirty="0">
                <a:solidFill>
                  <a:prstClr val="black"/>
                </a:solidFill>
              </a:rPr>
              <a:t>Моделният оператор в този случай има вида </a:t>
            </a:r>
            <a:r>
              <a:rPr lang="ru-RU" sz="2400" i="1" dirty="0">
                <a:solidFill>
                  <a:prstClr val="black"/>
                </a:solidFill>
              </a:rPr>
              <a:t>y=A(x,u)</a:t>
            </a:r>
            <a:r>
              <a:rPr lang="ru-RU" sz="2400" dirty="0">
                <a:solidFill>
                  <a:prstClr val="black"/>
                </a:solidFill>
              </a:rPr>
              <a:t>.Като се има предвид, че векторът </a:t>
            </a:r>
            <a:r>
              <a:rPr lang="ru-RU" sz="2400" i="1" dirty="0">
                <a:solidFill>
                  <a:prstClr val="black"/>
                </a:solidFill>
              </a:rPr>
              <a:t>x</a:t>
            </a:r>
            <a:r>
              <a:rPr lang="ru-RU" sz="2400" dirty="0">
                <a:solidFill>
                  <a:prstClr val="black"/>
                </a:solidFill>
              </a:rPr>
              <a:t> зависи от началното състояние </a:t>
            </a:r>
            <a:r>
              <a:rPr lang="ru-RU" sz="2400" i="1" dirty="0">
                <a:solidFill>
                  <a:prstClr val="black"/>
                </a:solidFill>
              </a:rPr>
              <a:t>x(t</a:t>
            </a:r>
            <a:r>
              <a:rPr lang="ru-RU" sz="2400" i="1" baseline="-25000" dirty="0">
                <a:solidFill>
                  <a:prstClr val="black"/>
                </a:solidFill>
              </a:rPr>
              <a:t>0</a:t>
            </a:r>
            <a:r>
              <a:rPr lang="ru-RU" sz="2400" i="1" dirty="0">
                <a:solidFill>
                  <a:prstClr val="black"/>
                </a:solidFill>
              </a:rPr>
              <a:t>)=x</a:t>
            </a:r>
            <a:r>
              <a:rPr lang="ru-RU" sz="2400" i="1" baseline="-25000" dirty="0">
                <a:solidFill>
                  <a:prstClr val="black"/>
                </a:solidFill>
              </a:rPr>
              <a:t>0</a:t>
            </a:r>
            <a:r>
              <a:rPr lang="ru-RU" sz="2400" dirty="0">
                <a:solidFill>
                  <a:prstClr val="black"/>
                </a:solidFill>
              </a:rPr>
              <a:t>, на тази основа може да се запише друг моделен оператор x=</a:t>
            </a:r>
            <a:r>
              <a:rPr lang="ru-RU" sz="2400" i="1" dirty="0">
                <a:solidFill>
                  <a:prstClr val="black"/>
                </a:solidFill>
              </a:rPr>
              <a:t>B(x</a:t>
            </a:r>
            <a:r>
              <a:rPr lang="ru-RU" sz="2400" i="1" baseline="-25000" dirty="0">
                <a:solidFill>
                  <a:prstClr val="black"/>
                </a:solidFill>
              </a:rPr>
              <a:t>0</a:t>
            </a:r>
            <a:r>
              <a:rPr lang="ru-RU" sz="2400" i="1" dirty="0">
                <a:solidFill>
                  <a:prstClr val="black"/>
                </a:solidFill>
              </a:rPr>
              <a:t>,u). </a:t>
            </a:r>
            <a:endParaRPr lang="en-US" sz="2400" i="1" dirty="0">
              <a:solidFill>
                <a:prstClr val="black"/>
              </a:solidFill>
            </a:endParaRPr>
          </a:p>
          <a:p>
            <a:pPr marL="0" indent="542925" algn="just">
              <a:lnSpc>
                <a:spcPct val="130000"/>
              </a:lnSpc>
              <a:spcBef>
                <a:spcPts val="0"/>
              </a:spcBef>
              <a:buClr>
                <a:srgbClr val="D34817">
                  <a:lumMod val="75000"/>
                </a:srgbClr>
              </a:buClr>
              <a:buNone/>
            </a:pPr>
            <a:r>
              <a:rPr lang="bg-BG" sz="2400" b="1" i="1" dirty="0">
                <a:solidFill>
                  <a:prstClr val="black"/>
                </a:solidFill>
              </a:rPr>
              <a:t>Последователност на процедурата на идентификация</a:t>
            </a:r>
            <a:endParaRPr lang="en-GB" sz="2400" b="1" i="1" dirty="0">
              <a:solidFill>
                <a:prstClr val="black"/>
              </a:solidFill>
            </a:endParaRPr>
          </a:p>
          <a:p>
            <a:pPr marL="0" indent="542925" algn="just">
              <a:lnSpc>
                <a:spcPct val="120000"/>
              </a:lnSpc>
              <a:spcBef>
                <a:spcPts val="0"/>
              </a:spcBef>
              <a:buClr>
                <a:srgbClr val="D34817">
                  <a:lumMod val="75000"/>
                </a:srgbClr>
              </a:buClr>
              <a:buNone/>
            </a:pPr>
            <a:r>
              <a:rPr lang="bg-BG" sz="2400" dirty="0">
                <a:solidFill>
                  <a:prstClr val="black"/>
                </a:solidFill>
              </a:rPr>
              <a:t>Успешното решаване на задачата за идентификация в голяма степен зависи от предварително събраната информация за обекта. Например, може да се окаже възможно предварително да се познава структурата (реда) на модела. Обектът в този случай се третира като полупрозрачна (сива) кутия и задачата се свежда само до определяне на параметрите на модела. Най-общата последователност на процедурата на идентификация включва следните четири етапа:</a:t>
            </a:r>
          </a:p>
          <a:p>
            <a:pPr marL="901700" indent="-342900" algn="just">
              <a:lnSpc>
                <a:spcPct val="120000"/>
              </a:lnSpc>
              <a:spcBef>
                <a:spcPts val="0"/>
              </a:spcBef>
              <a:buFont typeface="Wingdings" panose="05000000000000000000" pitchFamily="2" charset="2"/>
              <a:buChar char="q"/>
            </a:pPr>
            <a:r>
              <a:rPr lang="bg-BG" sz="2400" dirty="0"/>
              <a:t>предварително изучаване на обекта, на неговите конструктивни и технологични особености, начините на измерване на величините, нивото на изменение на променливите и влиянието на шума. </a:t>
            </a:r>
            <a:endParaRPr lang="en-GB" sz="2400" dirty="0"/>
          </a:p>
          <a:p>
            <a:pPr marL="901700" lvl="0" indent="-342900" algn="just">
              <a:lnSpc>
                <a:spcPct val="130000"/>
              </a:lnSpc>
              <a:spcBef>
                <a:spcPts val="0"/>
              </a:spcBef>
              <a:buFont typeface="Wingdings" panose="05000000000000000000" pitchFamily="2" charset="2"/>
              <a:buChar char="q"/>
            </a:pPr>
            <a:endParaRPr lang="en-US" sz="2400" dirty="0"/>
          </a:p>
          <a:p>
            <a:pPr marL="901700" lvl="0" indent="-342900" algn="just">
              <a:lnSpc>
                <a:spcPct val="130000"/>
              </a:lnSpc>
              <a:spcBef>
                <a:spcPts val="0"/>
              </a:spcBef>
              <a:buFont typeface="Wingdings" panose="05000000000000000000" pitchFamily="2" charset="2"/>
              <a:buChar char="q"/>
            </a:pPr>
            <a:endParaRPr lang="en-US" sz="2400" dirty="0"/>
          </a:p>
          <a:p>
            <a:pPr marL="901700" lvl="0" indent="-342900" algn="just">
              <a:lnSpc>
                <a:spcPct val="130000"/>
              </a:lnSpc>
              <a:spcBef>
                <a:spcPts val="0"/>
              </a:spcBef>
              <a:buFont typeface="Wingdings" panose="05000000000000000000" pitchFamily="2" charset="2"/>
              <a:buChar char="q"/>
            </a:pPr>
            <a:endParaRPr lang="en-GB" sz="2400" dirty="0"/>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Tree>
    <p:extLst>
      <p:ext uri="{BB962C8B-B14F-4D97-AF65-F5344CB8AC3E}">
        <p14:creationId xmlns:p14="http://schemas.microsoft.com/office/powerpoint/2010/main" val="15545104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18</a:t>
            </a:fld>
            <a:endParaRPr lang="bg-BG" dirty="0"/>
          </a:p>
        </p:txBody>
      </p:sp>
      <p:sp>
        <p:nvSpPr>
          <p:cNvPr id="5" name="Content Placeholder 2"/>
          <p:cNvSpPr txBox="1">
            <a:spLocks/>
          </p:cNvSpPr>
          <p:nvPr/>
        </p:nvSpPr>
        <p:spPr>
          <a:xfrm>
            <a:off x="2138598" y="45717"/>
            <a:ext cx="9867232" cy="6461099"/>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lvl="0" indent="542925" algn="just">
              <a:lnSpc>
                <a:spcPct val="130000"/>
              </a:lnSpc>
              <a:spcBef>
                <a:spcPts val="0"/>
              </a:spcBef>
              <a:buClrTx/>
              <a:buSzTx/>
              <a:buNone/>
            </a:pPr>
            <a:r>
              <a:rPr lang="bg-BG" sz="2400" dirty="0">
                <a:solidFill>
                  <a:prstClr val="black"/>
                </a:solidFill>
              </a:rPr>
              <a:t>Като източници на информация се използва съответната документация на обекта, наблюдения на работата му и др. Съставя се блокова схема на обекта, където са регламентирани съответните входни и изходни променливи. Необходимо е да се подходи много внимателно към този въпрос. В случай, че се пропусне отчитането на някоя от входните променливи, която влияе на изхода, това означава, че автоматично тази величина е отнесена към шума, влияещ върху работата на обекта. Създаването на блоковата схема всъщност формира първоначалната структура на модела и уточнява връзките, по които обектът изпитва влияние на околната среда, а и влиянието на обекта върху средата. Няма формални правила за решаването на тази задача. Разчита се на опита, находчивостта и интуицията на изследователите.</a:t>
            </a:r>
            <a:endParaRPr lang="en-GB" sz="2400" dirty="0">
              <a:solidFill>
                <a:prstClr val="black"/>
              </a:solidFill>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Tree>
    <p:extLst>
      <p:ext uri="{BB962C8B-B14F-4D97-AF65-F5344CB8AC3E}">
        <p14:creationId xmlns:p14="http://schemas.microsoft.com/office/powerpoint/2010/main" val="31001384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19</a:t>
            </a:fld>
            <a:endParaRPr lang="bg-BG" dirty="0"/>
          </a:p>
        </p:txBody>
      </p:sp>
      <p:sp>
        <p:nvSpPr>
          <p:cNvPr id="5" name="Content Placeholder 2"/>
          <p:cNvSpPr txBox="1">
            <a:spLocks/>
          </p:cNvSpPr>
          <p:nvPr/>
        </p:nvSpPr>
        <p:spPr>
          <a:xfrm>
            <a:off x="2098842" y="449975"/>
            <a:ext cx="9867232" cy="4546560"/>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457200" algn="just">
              <a:buFont typeface="Wingdings" pitchFamily="2" charset="2"/>
              <a:buNone/>
            </a:pPr>
            <a:endParaRPr lang="bg-BG" sz="2200" dirty="0">
              <a:solidFill>
                <a:schemeClr val="tx1">
                  <a:lumMod val="95000"/>
                  <a:lumOff val="5000"/>
                </a:schemeClr>
              </a:solidFill>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 name="Rectangle 1"/>
          <p:cNvSpPr/>
          <p:nvPr/>
        </p:nvSpPr>
        <p:spPr>
          <a:xfrm>
            <a:off x="1881809" y="-5620"/>
            <a:ext cx="10283627" cy="6740307"/>
          </a:xfrm>
          <a:prstGeom prst="rect">
            <a:avLst/>
          </a:prstGeom>
        </p:spPr>
        <p:txBody>
          <a:bodyPr wrap="square">
            <a:spAutoFit/>
          </a:bodyPr>
          <a:lstStyle/>
          <a:p>
            <a:pPr marL="901700" lvl="0" indent="-342900" algn="just">
              <a:lnSpc>
                <a:spcPct val="120000"/>
              </a:lnSpc>
              <a:spcAft>
                <a:spcPts val="0"/>
              </a:spcAft>
              <a:buClr>
                <a:schemeClr val="accent1">
                  <a:lumMod val="75000"/>
                </a:schemeClr>
              </a:buClr>
              <a:buSzPct val="85000"/>
              <a:buFont typeface="Wingdings" panose="05000000000000000000" pitchFamily="2" charset="2"/>
              <a:buChar char="q"/>
              <a:tabLst>
                <a:tab pos="228600" algn="l"/>
              </a:tabLst>
            </a:pPr>
            <a:r>
              <a:rPr lang="bg-BG" sz="2400" dirty="0"/>
              <a:t>организиране на експеримент (активен или пасивен) за целенасочено получаване на информация за разглеждания обект. </a:t>
            </a:r>
          </a:p>
          <a:p>
            <a:pPr indent="542925" algn="just">
              <a:lnSpc>
                <a:spcPct val="130000"/>
              </a:lnSpc>
              <a:spcAft>
                <a:spcPts val="0"/>
              </a:spcAft>
              <a:tabLst>
                <a:tab pos="228600" algn="l"/>
              </a:tabLst>
            </a:pPr>
            <a:r>
              <a:rPr lang="bg-BG" sz="2400" dirty="0">
                <a:solidFill>
                  <a:prstClr val="black"/>
                </a:solidFill>
              </a:rPr>
              <a:t>Обикновено това става по специален план, зависещ от това дали се снемат статични или динамични характеристики. При снемане на данни за получаване на динамичните характеристики на обекта, същественото е, че в момента на регистриране на същите, обектът трябва да бъде изведен от установеното му състояние със специален входен сигнал. Така неговата реакция ще носи повече информация за динамичното му поведение. Най-удобен за идентификация е белият шум, с постоянен спектър в честотната лента на обекта, който е в състояние да възбуди всички собствени честоти. В теория на идентификацията на този втори етап се отделя подходящо място. Въпросите за планиране и провеждане на експеримента са едни от най-важните за правилното формиране на модела</a:t>
            </a:r>
            <a:r>
              <a:rPr lang="en-US" sz="2400" dirty="0">
                <a:solidFill>
                  <a:prstClr val="black"/>
                </a:solidFill>
              </a:rPr>
              <a:t>. </a:t>
            </a:r>
            <a:endParaRPr lang="en-GB" sz="2400" dirty="0">
              <a:solidFill>
                <a:prstClr val="black"/>
              </a:solidFill>
            </a:endParaRPr>
          </a:p>
        </p:txBody>
      </p:sp>
    </p:spTree>
    <p:extLst>
      <p:ext uri="{BB962C8B-B14F-4D97-AF65-F5344CB8AC3E}">
        <p14:creationId xmlns:p14="http://schemas.microsoft.com/office/powerpoint/2010/main" val="8912622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20</a:t>
            </a:fld>
            <a:endParaRPr lang="bg-BG" dirty="0"/>
          </a:p>
        </p:txBody>
      </p:sp>
      <mc:AlternateContent xmlns:mc="http://schemas.openxmlformats.org/markup-compatibility/2006" xmlns:a14="http://schemas.microsoft.com/office/drawing/2010/main">
        <mc:Choice Requires="a14">
          <p:sp>
            <p:nvSpPr>
              <p:cNvPr id="5" name="Content Placeholder 2"/>
              <p:cNvSpPr txBox="1">
                <a:spLocks/>
              </p:cNvSpPr>
              <p:nvPr/>
            </p:nvSpPr>
            <p:spPr>
              <a:xfrm>
                <a:off x="2032000" y="45718"/>
                <a:ext cx="9974470" cy="6812282"/>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542925" algn="just">
                  <a:lnSpc>
                    <a:spcPct val="130000"/>
                  </a:lnSpc>
                  <a:buNone/>
                  <a:tabLst>
                    <a:tab pos="228600" algn="l"/>
                  </a:tabLst>
                </a:pPr>
                <a:r>
                  <a:rPr lang="ru-RU" sz="2400" dirty="0">
                    <a:solidFill>
                      <a:prstClr val="black"/>
                    </a:solidFill>
                  </a:rPr>
                  <a:t>Провеждането на експеримент с реални обекти по снемане на преходни функции </a:t>
                </a:r>
                <a14:m>
                  <m:oMath xmlns:m="http://schemas.openxmlformats.org/officeDocument/2006/math">
                    <m:r>
                      <a:rPr lang="en-GB" sz="2400" b="0" i="1" smtClean="0">
                        <a:solidFill>
                          <a:prstClr val="black"/>
                        </a:solidFill>
                        <a:latin typeface="Cambria Math" panose="02040503050406030204" pitchFamily="18" charset="0"/>
                      </a:rPr>
                      <m:t>h</m:t>
                    </m:r>
                    <m:r>
                      <a:rPr lang="en-GB" sz="2400" b="0" i="1" smtClean="0">
                        <a:solidFill>
                          <a:prstClr val="black"/>
                        </a:solidFill>
                        <a:latin typeface="Cambria Math" panose="02040503050406030204" pitchFamily="18" charset="0"/>
                      </a:rPr>
                      <m:t>(</m:t>
                    </m:r>
                    <m:r>
                      <a:rPr lang="en-GB" sz="2400" b="0" i="1" smtClean="0">
                        <a:solidFill>
                          <a:prstClr val="black"/>
                        </a:solidFill>
                        <a:latin typeface="Cambria Math" panose="02040503050406030204" pitchFamily="18" charset="0"/>
                      </a:rPr>
                      <m:t>𝑡</m:t>
                    </m:r>
                    <m:r>
                      <a:rPr lang="en-GB" sz="2400" b="0" i="1" smtClean="0">
                        <a:solidFill>
                          <a:prstClr val="black"/>
                        </a:solidFill>
                        <a:latin typeface="Cambria Math" panose="02040503050406030204" pitchFamily="18" charset="0"/>
                      </a:rPr>
                      <m:t>)</m:t>
                    </m:r>
                  </m:oMath>
                </a14:m>
                <a:r>
                  <a:rPr lang="ru-RU" sz="2400" dirty="0">
                    <a:solidFill>
                      <a:prstClr val="black"/>
                    </a:solidFill>
                  </a:rPr>
                  <a:t>  и импулсно-преходни функции  </a:t>
                </a:r>
                <a14:m>
                  <m:oMath xmlns:m="http://schemas.openxmlformats.org/officeDocument/2006/math">
                    <m:r>
                      <a:rPr lang="ru-RU" sz="2400" i="1" smtClean="0">
                        <a:solidFill>
                          <a:prstClr val="black"/>
                        </a:solidFill>
                        <a:latin typeface="Cambria Math" panose="02040503050406030204" pitchFamily="18" charset="0"/>
                        <a:ea typeface="Cambria Math" panose="02040503050406030204" pitchFamily="18" charset="0"/>
                      </a:rPr>
                      <m:t>𝜔</m:t>
                    </m:r>
                    <m:r>
                      <a:rPr lang="bg-BG" sz="2400" b="0" i="1" smtClean="0">
                        <a:solidFill>
                          <a:prstClr val="black"/>
                        </a:solidFill>
                        <a:latin typeface="Cambria Math" panose="02040503050406030204" pitchFamily="18" charset="0"/>
                        <a:ea typeface="Cambria Math" panose="02040503050406030204" pitchFamily="18" charset="0"/>
                      </a:rPr>
                      <m:t>(</m:t>
                    </m:r>
                    <m:r>
                      <a:rPr lang="en-GB" sz="2400" b="0" i="1" smtClean="0">
                        <a:solidFill>
                          <a:prstClr val="black"/>
                        </a:solidFill>
                        <a:latin typeface="Cambria Math" panose="02040503050406030204" pitchFamily="18" charset="0"/>
                        <a:ea typeface="Cambria Math" panose="02040503050406030204" pitchFamily="18" charset="0"/>
                      </a:rPr>
                      <m:t>𝑡</m:t>
                    </m:r>
                    <m:r>
                      <a:rPr lang="en-GB" sz="2400" b="0" i="1" smtClean="0">
                        <a:solidFill>
                          <a:prstClr val="black"/>
                        </a:solidFill>
                        <a:latin typeface="Cambria Math" panose="02040503050406030204" pitchFamily="18" charset="0"/>
                        <a:ea typeface="Cambria Math" panose="02040503050406030204" pitchFamily="18" charset="0"/>
                      </a:rPr>
                      <m:t>)</m:t>
                    </m:r>
                  </m:oMath>
                </a14:m>
                <a:r>
                  <a:rPr lang="ru-RU" sz="2400" dirty="0">
                    <a:solidFill>
                      <a:prstClr val="black"/>
                    </a:solidFill>
                  </a:rPr>
                  <a:t> е свързано с възможни затруднения и опасности за обекта. В тези случаи обектите се поставят в изкуствени ситуации близки до аварийните. Поради това не е допустимо да се пристъпва към експеримент без предварителна информация за същия. Започва се с изучаване на технологичния процес, конструкцията на обекта и особеностите на неговата работа. Разглеждат се записите на приборите и се определя нивото на флуктуация на входните и изходни променливи. Необходимо е запознаване с техническата литература, в която са описани подобни обекти. Анализира се работата на обекта в режим на нормална експлоатация, възможните източници на шумове и тяхното отстраняване. Определят се входните и изходни величини, както и връзките между тях. </a:t>
                </a:r>
                <a:endParaRPr lang="bg-BG" sz="2400" dirty="0">
                  <a:solidFill>
                    <a:prstClr val="black"/>
                  </a:solidFill>
                </a:endParaRPr>
              </a:p>
            </p:txBody>
          </p:sp>
        </mc:Choice>
        <mc:Fallback xmlns="">
          <p:sp>
            <p:nvSpPr>
              <p:cNvPr id="5" name="Content Placeholder 2"/>
              <p:cNvSpPr txBox="1">
                <a:spLocks noRot="1" noChangeAspect="1" noMove="1" noResize="1" noEditPoints="1" noAdjustHandles="1" noChangeArrowheads="1" noChangeShapeType="1" noTextEdit="1"/>
              </p:cNvSpPr>
              <p:nvPr/>
            </p:nvSpPr>
            <p:spPr>
              <a:xfrm>
                <a:off x="2032000" y="45718"/>
                <a:ext cx="9974470" cy="6812282"/>
              </a:xfrm>
              <a:prstGeom prst="rect">
                <a:avLst/>
              </a:prstGeom>
              <a:blipFill>
                <a:blip r:embed="rId3"/>
                <a:stretch>
                  <a:fillRect l="-916" r="-916" b="-358"/>
                </a:stretch>
              </a:blipFill>
            </p:spPr>
            <p:txBody>
              <a:bodyPr/>
              <a:lstStyle/>
              <a:p>
                <a:r>
                  <a:rPr lang="en-GB">
                    <a:noFill/>
                  </a:rPr>
                  <a:t> </a:t>
                </a:r>
              </a:p>
            </p:txBody>
          </p:sp>
        </mc:Fallback>
      </mc:AlternateContent>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Tree>
    <p:extLst>
      <p:ext uri="{BB962C8B-B14F-4D97-AF65-F5344CB8AC3E}">
        <p14:creationId xmlns:p14="http://schemas.microsoft.com/office/powerpoint/2010/main" val="24130459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21</a:t>
            </a:fld>
            <a:endParaRPr lang="bg-BG" dirty="0"/>
          </a:p>
        </p:txBody>
      </p:sp>
      <p:sp>
        <p:nvSpPr>
          <p:cNvPr id="5" name="Content Placeholder 2"/>
          <p:cNvSpPr txBox="1">
            <a:spLocks/>
          </p:cNvSpPr>
          <p:nvPr/>
        </p:nvSpPr>
        <p:spPr>
          <a:xfrm>
            <a:off x="2191607" y="232852"/>
            <a:ext cx="9867232" cy="6353477"/>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lvl="0" indent="542925" algn="just">
              <a:lnSpc>
                <a:spcPct val="130000"/>
              </a:lnSpc>
              <a:spcBef>
                <a:spcPts val="0"/>
              </a:spcBef>
              <a:buClrTx/>
              <a:buSzTx/>
              <a:buNone/>
              <a:tabLst>
                <a:tab pos="228600" algn="l"/>
              </a:tabLst>
            </a:pPr>
            <a:r>
              <a:rPr lang="ru-RU" sz="2400" dirty="0">
                <a:solidFill>
                  <a:prstClr val="black"/>
                </a:solidFill>
              </a:rPr>
              <a:t>Съставя се структурната схема на връзките между входовете и изходите, която може да се съгласува с технолозите, експлоатиращи обекта</a:t>
            </a:r>
            <a:r>
              <a:rPr lang="en-GB" sz="2400" dirty="0">
                <a:solidFill>
                  <a:prstClr val="black"/>
                </a:solidFill>
              </a:rPr>
              <a:t>.</a:t>
            </a:r>
          </a:p>
          <a:p>
            <a:pPr marL="901700" indent="-342900" algn="just">
              <a:lnSpc>
                <a:spcPct val="120000"/>
              </a:lnSpc>
              <a:spcBef>
                <a:spcPts val="0"/>
              </a:spcBef>
              <a:buFont typeface="Wingdings" panose="05000000000000000000" pitchFamily="2" charset="2"/>
              <a:buChar char="q"/>
              <a:tabLst>
                <a:tab pos="228600" algn="l"/>
              </a:tabLst>
            </a:pPr>
            <a:r>
              <a:rPr lang="bg-BG" sz="2400" dirty="0"/>
              <a:t>обработка на събраната информация. Извършва се с помощта на специални алгоритми.</a:t>
            </a:r>
            <a:endParaRPr lang="en-GB" sz="2400" dirty="0"/>
          </a:p>
          <a:p>
            <a:pPr marL="901700" indent="-342900" algn="just">
              <a:lnSpc>
                <a:spcPct val="120000"/>
              </a:lnSpc>
              <a:spcBef>
                <a:spcPts val="0"/>
              </a:spcBef>
              <a:buFont typeface="Wingdings" panose="05000000000000000000" pitchFamily="2" charset="2"/>
              <a:buChar char="q"/>
              <a:tabLst>
                <a:tab pos="228600" algn="l"/>
              </a:tabLst>
            </a:pPr>
            <a:r>
              <a:rPr lang="bg-BG" sz="2400" dirty="0"/>
              <a:t>проверка качествата на получения модел. </a:t>
            </a:r>
          </a:p>
          <a:p>
            <a:pPr marL="0" indent="542925" algn="just">
              <a:lnSpc>
                <a:spcPct val="130000"/>
              </a:lnSpc>
              <a:spcBef>
                <a:spcPts val="0"/>
              </a:spcBef>
              <a:buClrTx/>
              <a:buSzTx/>
              <a:buNone/>
              <a:tabLst>
                <a:tab pos="228600" algn="l"/>
              </a:tabLst>
            </a:pPr>
            <a:r>
              <a:rPr lang="bg-BG" sz="2400" dirty="0">
                <a:solidFill>
                  <a:prstClr val="black"/>
                </a:solidFill>
              </a:rPr>
              <a:t>Самата процедура на идентификация е итеративна. Определя се модел и се проверяват неговите качества. При удовлетворяване тя приключва. В противен случай следва усложняване на модела или избор на нов метод за определяне параметрите и отново проверка на качествата му.</a:t>
            </a:r>
          </a:p>
          <a:p>
            <a:pPr marL="0" indent="542925" algn="just">
              <a:lnSpc>
                <a:spcPct val="130000"/>
              </a:lnSpc>
              <a:spcBef>
                <a:spcPts val="0"/>
              </a:spcBef>
              <a:buClrTx/>
              <a:buSzTx/>
              <a:buNone/>
              <a:tabLst>
                <a:tab pos="228600" algn="l"/>
              </a:tabLst>
            </a:pPr>
            <a:r>
              <a:rPr lang="ru-RU" sz="2400" i="1" dirty="0">
                <a:solidFill>
                  <a:prstClr val="black"/>
                </a:solidFill>
              </a:rPr>
              <a:t>Определяне динамичните характеристики на обекти чрез активен входни сигнали</a:t>
            </a:r>
            <a:endParaRPr lang="en-GB" sz="2400" dirty="0">
              <a:solidFill>
                <a:prstClr val="black"/>
              </a:solidFill>
            </a:endParaRPr>
          </a:p>
          <a:p>
            <a:pPr marL="901700" indent="-342900" algn="just">
              <a:lnSpc>
                <a:spcPct val="120000"/>
              </a:lnSpc>
              <a:spcBef>
                <a:spcPts val="0"/>
              </a:spcBef>
              <a:buFont typeface="Wingdings" panose="05000000000000000000" pitchFamily="2" charset="2"/>
              <a:buChar char="q"/>
              <a:tabLst>
                <a:tab pos="228600" algn="l"/>
              </a:tabLst>
            </a:pPr>
            <a:endParaRPr lang="bg-BG" sz="2400" dirty="0"/>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Tree>
    <p:extLst>
      <p:ext uri="{BB962C8B-B14F-4D97-AF65-F5344CB8AC3E}">
        <p14:creationId xmlns:p14="http://schemas.microsoft.com/office/powerpoint/2010/main" val="37857779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22</a:t>
            </a:fld>
            <a:endParaRPr lang="bg-BG" dirty="0"/>
          </a:p>
        </p:txBody>
      </p:sp>
      <p:sp>
        <p:nvSpPr>
          <p:cNvPr id="5" name="Content Placeholder 2"/>
          <p:cNvSpPr txBox="1">
            <a:spLocks/>
          </p:cNvSpPr>
          <p:nvPr/>
        </p:nvSpPr>
        <p:spPr>
          <a:xfrm>
            <a:off x="2098842" y="449975"/>
            <a:ext cx="9867232" cy="4546560"/>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457200" algn="just">
              <a:buFont typeface="Wingdings" pitchFamily="2" charset="2"/>
              <a:buNone/>
            </a:pPr>
            <a:endParaRPr lang="bg-BG" sz="2200" dirty="0">
              <a:solidFill>
                <a:schemeClr val="tx1">
                  <a:lumMod val="95000"/>
                  <a:lumOff val="5000"/>
                </a:schemeClr>
              </a:solidFill>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mc:AlternateContent xmlns:mc="http://schemas.openxmlformats.org/markup-compatibility/2006" xmlns:a14="http://schemas.microsoft.com/office/drawing/2010/main">
        <mc:Choice Requires="a14">
          <p:sp>
            <p:nvSpPr>
              <p:cNvPr id="7" name="Rectangle 6"/>
              <p:cNvSpPr/>
              <p:nvPr/>
            </p:nvSpPr>
            <p:spPr>
              <a:xfrm>
                <a:off x="2032000" y="276431"/>
                <a:ext cx="9934075" cy="6223242"/>
              </a:xfrm>
              <a:prstGeom prst="rect">
                <a:avLst/>
              </a:prstGeom>
            </p:spPr>
            <p:txBody>
              <a:bodyPr wrap="square">
                <a:spAutoFit/>
              </a:bodyPr>
              <a:lstStyle/>
              <a:p>
                <a:pPr lvl="0" indent="542925" algn="just">
                  <a:lnSpc>
                    <a:spcPct val="130000"/>
                  </a:lnSpc>
                  <a:tabLst>
                    <a:tab pos="228600" algn="l"/>
                  </a:tabLst>
                </a:pPr>
                <a:r>
                  <a:rPr lang="ru-RU" sz="2400" dirty="0">
                    <a:solidFill>
                      <a:prstClr val="black"/>
                    </a:solidFill>
                  </a:rPr>
                  <a:t>Входни изпитателни сигнали </a:t>
                </a:r>
              </a:p>
              <a:p>
                <a:pPr lvl="0" indent="542925" algn="just">
                  <a:lnSpc>
                    <a:spcPct val="130000"/>
                  </a:lnSpc>
                  <a:tabLst>
                    <a:tab pos="228600" algn="l"/>
                  </a:tabLst>
                </a:pPr>
                <a:r>
                  <a:rPr lang="ru-RU" sz="2400" dirty="0">
                    <a:solidFill>
                      <a:prstClr val="black"/>
                    </a:solidFill>
                  </a:rPr>
                  <a:t>Входните сигнали при реалните системи са най-различни. С оглед на лесно записване и интерпретиране, за целите на анализа на системите за автоматично управление те се типизират. Така се различават следните типови сигнали: стъпаловидна функция, импулсна функция, хармонична периодична функция и т.н.</a:t>
                </a:r>
              </a:p>
              <a:p>
                <a:pPr lvl="0" indent="542925" algn="just">
                  <a:lnSpc>
                    <a:spcPct val="130000"/>
                  </a:lnSpc>
                  <a:tabLst>
                    <a:tab pos="228600" algn="l"/>
                  </a:tabLst>
                </a:pPr>
                <a:r>
                  <a:rPr lang="ru-RU" sz="2400" dirty="0">
                    <a:solidFill>
                      <a:prstClr val="black"/>
                    </a:solidFill>
                  </a:rPr>
                  <a:t>Като реакция на тези сигнали съответстват: преходна функция (когато  </a:t>
                </a:r>
                <a14:m>
                  <m:oMath xmlns:m="http://schemas.openxmlformats.org/officeDocument/2006/math">
                    <m:r>
                      <a:rPr lang="ru-RU" sz="2400" i="1" smtClean="0">
                        <a:solidFill>
                          <a:prstClr val="black"/>
                        </a:solidFill>
                        <a:latin typeface="Cambria Math" panose="02040503050406030204" pitchFamily="18" charset="0"/>
                        <a:ea typeface="Cambria Math" panose="02040503050406030204" pitchFamily="18" charset="0"/>
                      </a:rPr>
                      <m:t>∆</m:t>
                    </m:r>
                    <m:r>
                      <a:rPr lang="en-GB" sz="2400" b="0" i="1" smtClean="0">
                        <a:solidFill>
                          <a:prstClr val="black"/>
                        </a:solidFill>
                        <a:latin typeface="Cambria Math" panose="02040503050406030204" pitchFamily="18" charset="0"/>
                        <a:ea typeface="Cambria Math" panose="02040503050406030204" pitchFamily="18" charset="0"/>
                      </a:rPr>
                      <m:t>𝑢</m:t>
                    </m:r>
                    <m:r>
                      <a:rPr lang="en-GB" sz="2400" b="0" i="1" smtClean="0">
                        <a:solidFill>
                          <a:prstClr val="black"/>
                        </a:solidFill>
                        <a:latin typeface="Cambria Math" panose="02040503050406030204" pitchFamily="18" charset="0"/>
                        <a:ea typeface="Cambria Math" panose="02040503050406030204" pitchFamily="18" charset="0"/>
                      </a:rPr>
                      <m:t>=1</m:t>
                    </m:r>
                  </m:oMath>
                </a14:m>
                <a:r>
                  <a:rPr lang="ru-RU" sz="2400" dirty="0">
                    <a:solidFill>
                      <a:prstClr val="black"/>
                    </a:solidFill>
                  </a:rPr>
                  <a:t>) и импулсна преходнна (тегловна) функция, когато входа е  </a:t>
                </a:r>
                <a14:m>
                  <m:oMath xmlns:m="http://schemas.openxmlformats.org/officeDocument/2006/math">
                    <m:r>
                      <a:rPr lang="ru-RU" sz="2400" i="1" smtClean="0">
                        <a:solidFill>
                          <a:prstClr val="black"/>
                        </a:solidFill>
                        <a:latin typeface="Cambria Math" panose="02040503050406030204" pitchFamily="18" charset="0"/>
                        <a:ea typeface="Cambria Math" panose="02040503050406030204" pitchFamily="18" charset="0"/>
                      </a:rPr>
                      <m:t>𝛿</m:t>
                    </m:r>
                  </m:oMath>
                </a14:m>
                <a:r>
                  <a:rPr lang="ru-RU" sz="2400" dirty="0">
                    <a:solidFill>
                      <a:prstClr val="black"/>
                    </a:solidFill>
                  </a:rPr>
                  <a:t> - импулс.</a:t>
                </a:r>
                <a:endParaRPr lang="en-GB" sz="2400" dirty="0">
                  <a:solidFill>
                    <a:prstClr val="black"/>
                  </a:solidFill>
                </a:endParaRPr>
              </a:p>
              <a:p>
                <a:pPr indent="542925" algn="just">
                  <a:lnSpc>
                    <a:spcPct val="130000"/>
                  </a:lnSpc>
                  <a:tabLst>
                    <a:tab pos="228600" algn="l"/>
                  </a:tabLst>
                </a:pPr>
                <a:r>
                  <a:rPr lang="bg-BG" sz="2400" dirty="0">
                    <a:solidFill>
                      <a:prstClr val="black"/>
                    </a:solidFill>
                  </a:rPr>
                  <a:t>Входните изпитателни сигнали са:</a:t>
                </a:r>
              </a:p>
              <a:p>
                <a:pPr marL="901700" indent="-342900" algn="just">
                  <a:lnSpc>
                    <a:spcPct val="120000"/>
                  </a:lnSpc>
                  <a:buClr>
                    <a:schemeClr val="accent1">
                      <a:lumMod val="75000"/>
                    </a:schemeClr>
                  </a:buClr>
                  <a:buSzPct val="85000"/>
                  <a:buFont typeface="Wingdings" panose="05000000000000000000" pitchFamily="2" charset="2"/>
                  <a:buChar char="q"/>
                  <a:tabLst>
                    <a:tab pos="228600" algn="l"/>
                  </a:tabLst>
                </a:pPr>
                <a:r>
                  <a:rPr lang="bg-BG" sz="2400" dirty="0"/>
                  <a:t>детерминирани - апериодични и периодични;</a:t>
                </a:r>
              </a:p>
              <a:p>
                <a:pPr marL="901700" indent="-342900" algn="just">
                  <a:lnSpc>
                    <a:spcPct val="120000"/>
                  </a:lnSpc>
                  <a:buClr>
                    <a:schemeClr val="accent1">
                      <a:lumMod val="75000"/>
                    </a:schemeClr>
                  </a:buClr>
                  <a:buSzPct val="85000"/>
                  <a:buFont typeface="Wingdings" panose="05000000000000000000" pitchFamily="2" charset="2"/>
                  <a:buChar char="q"/>
                  <a:tabLst>
                    <a:tab pos="228600" algn="l"/>
                  </a:tabLst>
                </a:pPr>
                <a:r>
                  <a:rPr lang="bg-BG" sz="2400" dirty="0"/>
                  <a:t>стохастични - естествен случаен процес и изкуствено синтезиран случаен процес.</a:t>
                </a:r>
                <a:endParaRPr lang="ru-RU" sz="2400" dirty="0">
                  <a:solidFill>
                    <a:prstClr val="black"/>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2032000" y="276431"/>
                <a:ext cx="9934075" cy="6223242"/>
              </a:xfrm>
              <a:prstGeom prst="rect">
                <a:avLst/>
              </a:prstGeom>
              <a:blipFill>
                <a:blip r:embed="rId3"/>
                <a:stretch>
                  <a:fillRect l="-920" r="-920" b="-588"/>
                </a:stretch>
              </a:blipFill>
            </p:spPr>
            <p:txBody>
              <a:bodyPr/>
              <a:lstStyle/>
              <a:p>
                <a:r>
                  <a:rPr lang="en-GB">
                    <a:noFill/>
                  </a:rPr>
                  <a:t> </a:t>
                </a:r>
              </a:p>
            </p:txBody>
          </p:sp>
        </mc:Fallback>
      </mc:AlternateContent>
    </p:spTree>
    <p:extLst>
      <p:ext uri="{BB962C8B-B14F-4D97-AF65-F5344CB8AC3E}">
        <p14:creationId xmlns:p14="http://schemas.microsoft.com/office/powerpoint/2010/main" val="39258654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23</a:t>
            </a:fld>
            <a:endParaRPr lang="bg-BG" dirty="0"/>
          </a:p>
        </p:txBody>
      </p:sp>
      <p:sp>
        <p:nvSpPr>
          <p:cNvPr id="5" name="Content Placeholder 2"/>
          <p:cNvSpPr txBox="1">
            <a:spLocks/>
          </p:cNvSpPr>
          <p:nvPr/>
        </p:nvSpPr>
        <p:spPr>
          <a:xfrm>
            <a:off x="2098842" y="449975"/>
            <a:ext cx="9867232" cy="4546560"/>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457200" algn="just">
              <a:buFont typeface="Wingdings" pitchFamily="2" charset="2"/>
              <a:buNone/>
            </a:pPr>
            <a:endParaRPr lang="bg-BG" sz="2200" dirty="0">
              <a:solidFill>
                <a:schemeClr val="tx1">
                  <a:lumMod val="95000"/>
                  <a:lumOff val="5000"/>
                </a:schemeClr>
              </a:solidFill>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mc:AlternateContent xmlns:mc="http://schemas.openxmlformats.org/markup-compatibility/2006" xmlns:a14="http://schemas.microsoft.com/office/drawing/2010/main">
        <mc:Choice Requires="a14">
          <p:sp>
            <p:nvSpPr>
              <p:cNvPr id="2" name="Rectangle 1"/>
              <p:cNvSpPr/>
              <p:nvPr/>
            </p:nvSpPr>
            <p:spPr>
              <a:xfrm>
                <a:off x="2032000" y="-14422"/>
                <a:ext cx="9934075" cy="4635115"/>
              </a:xfrm>
              <a:prstGeom prst="rect">
                <a:avLst/>
              </a:prstGeom>
            </p:spPr>
            <p:txBody>
              <a:bodyPr wrap="square">
                <a:spAutoFit/>
              </a:bodyPr>
              <a:lstStyle/>
              <a:p>
                <a:pPr lvl="0" indent="542925" algn="just">
                  <a:lnSpc>
                    <a:spcPct val="130000"/>
                  </a:lnSpc>
                  <a:tabLst>
                    <a:tab pos="228600" algn="l"/>
                  </a:tabLst>
                </a:pPr>
                <a:r>
                  <a:rPr lang="bg-BG" sz="2400" dirty="0">
                    <a:solidFill>
                      <a:prstClr val="black"/>
                    </a:solidFill>
                  </a:rPr>
                  <a:t> Основни изисквания към входните изпитателни сигнали:</a:t>
                </a:r>
              </a:p>
              <a:p>
                <a:pPr marL="901700" lvl="0" indent="-342900" algn="just">
                  <a:lnSpc>
                    <a:spcPct val="120000"/>
                  </a:lnSpc>
                  <a:buClr>
                    <a:srgbClr val="D34817">
                      <a:lumMod val="75000"/>
                    </a:srgbClr>
                  </a:buClr>
                  <a:buSzPct val="85000"/>
                  <a:buFont typeface="Wingdings" panose="05000000000000000000" pitchFamily="2" charset="2"/>
                  <a:buChar char="q"/>
                  <a:tabLst>
                    <a:tab pos="228600" algn="l"/>
                  </a:tabLst>
                </a:pPr>
                <a:r>
                  <a:rPr lang="bg-BG" sz="2400" dirty="0">
                    <a:solidFill>
                      <a:prstClr val="black"/>
                    </a:solidFill>
                  </a:rPr>
                  <a:t>да са с богат честотен спектър, за да възбудят всички собствени честоти на обекта;</a:t>
                </a:r>
              </a:p>
              <a:p>
                <a:pPr marL="901700" lvl="0" indent="-342900" algn="just">
                  <a:lnSpc>
                    <a:spcPct val="120000"/>
                  </a:lnSpc>
                  <a:buClr>
                    <a:srgbClr val="D34817">
                      <a:lumMod val="75000"/>
                    </a:srgbClr>
                  </a:buClr>
                  <a:buSzPct val="85000"/>
                  <a:buFont typeface="Wingdings" panose="05000000000000000000" pitchFamily="2" charset="2"/>
                  <a:buChar char="q"/>
                  <a:tabLst>
                    <a:tab pos="228600" algn="l"/>
                  </a:tabLst>
                </a:pPr>
                <a:r>
                  <a:rPr lang="bg-BG" sz="2400" dirty="0">
                    <a:solidFill>
                      <a:prstClr val="black"/>
                    </a:solidFill>
                  </a:rPr>
                  <a:t>да са лесно физически реализуеми. </a:t>
                </a:r>
                <a:endParaRPr lang="en-GB" sz="2400" dirty="0">
                  <a:solidFill>
                    <a:prstClr val="black"/>
                  </a:solidFill>
                </a:endParaRPr>
              </a:p>
              <a:p>
                <a:pPr indent="542925" algn="just">
                  <a:lnSpc>
                    <a:spcPct val="130000"/>
                  </a:lnSpc>
                  <a:buClr>
                    <a:srgbClr val="D34817">
                      <a:lumMod val="75000"/>
                    </a:srgbClr>
                  </a:buClr>
                  <a:buSzPct val="85000"/>
                  <a:tabLst>
                    <a:tab pos="228600" algn="l"/>
                  </a:tabLst>
                </a:pPr>
                <a:r>
                  <a:rPr lang="ru-RU" sz="2400" dirty="0">
                    <a:solidFill>
                      <a:prstClr val="black"/>
                    </a:solidFill>
                  </a:rPr>
                  <a:t>Най-общият алгоритъм за моделиране (симулиране) на процесите в обект (САР) включва: </a:t>
                </a:r>
              </a:p>
              <a:p>
                <a:pPr marL="901700" indent="-342900" algn="just">
                  <a:lnSpc>
                    <a:spcPct val="120000"/>
                  </a:lnSpc>
                  <a:buClr>
                    <a:srgbClr val="D34817">
                      <a:lumMod val="75000"/>
                    </a:srgbClr>
                  </a:buClr>
                  <a:buSzPct val="85000"/>
                  <a:buFont typeface="Wingdings" panose="05000000000000000000" pitchFamily="2" charset="2"/>
                  <a:buChar char="q"/>
                  <a:tabLst>
                    <a:tab pos="228600" algn="l"/>
                  </a:tabLst>
                </a:pPr>
                <a:r>
                  <a:rPr lang="ru-RU" sz="2400" dirty="0">
                    <a:solidFill>
                      <a:prstClr val="black"/>
                    </a:solidFill>
                  </a:rPr>
                  <a:t>моделиране на входния сигна  </a:t>
                </a:r>
                <a14:m>
                  <m:oMath xmlns:m="http://schemas.openxmlformats.org/officeDocument/2006/math">
                    <m:r>
                      <a:rPr lang="en-GB" sz="2400" b="0" i="1" smtClean="0">
                        <a:solidFill>
                          <a:prstClr val="black"/>
                        </a:solidFill>
                        <a:latin typeface="Cambria Math" panose="02040503050406030204" pitchFamily="18" charset="0"/>
                      </a:rPr>
                      <m:t>𝑢</m:t>
                    </m:r>
                    <m:r>
                      <a:rPr lang="en-GB" sz="2400" b="0" i="1" smtClean="0">
                        <a:solidFill>
                          <a:prstClr val="black"/>
                        </a:solidFill>
                        <a:latin typeface="Cambria Math" panose="02040503050406030204" pitchFamily="18" charset="0"/>
                      </a:rPr>
                      <m:t>(</m:t>
                    </m:r>
                    <m:r>
                      <a:rPr lang="en-GB" sz="2400" b="0" i="1" smtClean="0">
                        <a:solidFill>
                          <a:prstClr val="black"/>
                        </a:solidFill>
                        <a:latin typeface="Cambria Math" panose="02040503050406030204" pitchFamily="18" charset="0"/>
                      </a:rPr>
                      <m:t>𝑡</m:t>
                    </m:r>
                    <m:r>
                      <a:rPr lang="en-GB" sz="2400" b="0" i="1" smtClean="0">
                        <a:solidFill>
                          <a:prstClr val="black"/>
                        </a:solidFill>
                        <a:latin typeface="Cambria Math" panose="02040503050406030204" pitchFamily="18" charset="0"/>
                      </a:rPr>
                      <m:t>)</m:t>
                    </m:r>
                  </m:oMath>
                </a14:m>
                <a:r>
                  <a:rPr lang="ru-RU" sz="2400" dirty="0">
                    <a:solidFill>
                      <a:prstClr val="black"/>
                    </a:solidFill>
                  </a:rPr>
                  <a:t>;</a:t>
                </a:r>
              </a:p>
              <a:p>
                <a:pPr marL="901700" indent="-342900" algn="just">
                  <a:lnSpc>
                    <a:spcPct val="120000"/>
                  </a:lnSpc>
                  <a:buClr>
                    <a:srgbClr val="D34817">
                      <a:lumMod val="75000"/>
                    </a:srgbClr>
                  </a:buClr>
                  <a:buSzPct val="85000"/>
                  <a:buFont typeface="Wingdings" panose="05000000000000000000" pitchFamily="2" charset="2"/>
                  <a:buChar char="q"/>
                  <a:tabLst>
                    <a:tab pos="228600" algn="l"/>
                  </a:tabLst>
                </a:pPr>
                <a:r>
                  <a:rPr lang="ru-RU" sz="2400" dirty="0">
                    <a:solidFill>
                      <a:prstClr val="black"/>
                    </a:solidFill>
                  </a:rPr>
                  <a:t>моделиране на обекта (системата), т.е. симулиране на реакцията  </a:t>
                </a:r>
                <a14:m>
                  <m:oMath xmlns:m="http://schemas.openxmlformats.org/officeDocument/2006/math">
                    <m:sSub>
                      <m:sSubPr>
                        <m:ctrlPr>
                          <a:rPr lang="ru-RU" sz="2400" i="1" smtClean="0">
                            <a:solidFill>
                              <a:prstClr val="black"/>
                            </a:solidFill>
                            <a:latin typeface="Cambria Math" panose="02040503050406030204" pitchFamily="18" charset="0"/>
                          </a:rPr>
                        </m:ctrlPr>
                      </m:sSubPr>
                      <m:e>
                        <m:r>
                          <a:rPr lang="en-GB" sz="2400" b="0" i="1" smtClean="0">
                            <a:solidFill>
                              <a:prstClr val="black"/>
                            </a:solidFill>
                            <a:latin typeface="Cambria Math" panose="02040503050406030204" pitchFamily="18" charset="0"/>
                          </a:rPr>
                          <m:t>𝑦</m:t>
                        </m:r>
                      </m:e>
                      <m:sub>
                        <m:r>
                          <a:rPr lang="en-GB" sz="2400" b="0" i="1" smtClean="0">
                            <a:solidFill>
                              <a:prstClr val="black"/>
                            </a:solidFill>
                            <a:latin typeface="Cambria Math" panose="02040503050406030204" pitchFamily="18" charset="0"/>
                          </a:rPr>
                          <m:t>𝑠</m:t>
                        </m:r>
                      </m:sub>
                    </m:sSub>
                    <m:r>
                      <a:rPr lang="en-GB" sz="2400" b="0" i="1" smtClean="0">
                        <a:solidFill>
                          <a:prstClr val="black"/>
                        </a:solidFill>
                        <a:latin typeface="Cambria Math" panose="02040503050406030204" pitchFamily="18" charset="0"/>
                      </a:rPr>
                      <m:t>(</m:t>
                    </m:r>
                    <m:r>
                      <a:rPr lang="en-GB" sz="2400" b="0" i="1" smtClean="0">
                        <a:solidFill>
                          <a:prstClr val="black"/>
                        </a:solidFill>
                        <a:latin typeface="Cambria Math" panose="02040503050406030204" pitchFamily="18" charset="0"/>
                      </a:rPr>
                      <m:t>𝑡</m:t>
                    </m:r>
                    <m:r>
                      <a:rPr lang="en-GB" sz="2400" b="0" i="1" smtClean="0">
                        <a:solidFill>
                          <a:prstClr val="black"/>
                        </a:solidFill>
                        <a:latin typeface="Cambria Math" panose="02040503050406030204" pitchFamily="18" charset="0"/>
                      </a:rPr>
                      <m:t>)</m:t>
                    </m:r>
                  </m:oMath>
                </a14:m>
                <a:r>
                  <a:rPr lang="ru-RU" sz="2400" dirty="0">
                    <a:solidFill>
                      <a:prstClr val="black"/>
                    </a:solidFill>
                  </a:rPr>
                  <a:t>  при избран вход;</a:t>
                </a:r>
              </a:p>
              <a:p>
                <a:pPr marL="901700" indent="-342900" algn="just">
                  <a:lnSpc>
                    <a:spcPct val="120000"/>
                  </a:lnSpc>
                  <a:buClr>
                    <a:srgbClr val="D34817">
                      <a:lumMod val="75000"/>
                    </a:srgbClr>
                  </a:buClr>
                  <a:buSzPct val="85000"/>
                  <a:buFont typeface="Wingdings" panose="05000000000000000000" pitchFamily="2" charset="2"/>
                  <a:buChar char="q"/>
                  <a:tabLst>
                    <a:tab pos="228600" algn="l"/>
                  </a:tabLst>
                </a:pPr>
                <a:r>
                  <a:rPr lang="ru-RU" sz="2400" dirty="0">
                    <a:solidFill>
                      <a:prstClr val="black"/>
                    </a:solidFill>
                  </a:rPr>
                  <a:t>зашумяване на  </a:t>
                </a:r>
                <a14:m>
                  <m:oMath xmlns:m="http://schemas.openxmlformats.org/officeDocument/2006/math">
                    <m:sSub>
                      <m:sSubPr>
                        <m:ctrlPr>
                          <a:rPr lang="ru-RU" sz="2400" i="1">
                            <a:solidFill>
                              <a:prstClr val="black"/>
                            </a:solidFill>
                            <a:latin typeface="Cambria Math" panose="02040503050406030204" pitchFamily="18" charset="0"/>
                          </a:rPr>
                        </m:ctrlPr>
                      </m:sSubPr>
                      <m:e>
                        <m:r>
                          <a:rPr lang="en-GB" sz="2400" i="1">
                            <a:solidFill>
                              <a:prstClr val="black"/>
                            </a:solidFill>
                            <a:latin typeface="Cambria Math" panose="02040503050406030204" pitchFamily="18" charset="0"/>
                          </a:rPr>
                          <m:t>𝑦</m:t>
                        </m:r>
                      </m:e>
                      <m:sub>
                        <m:r>
                          <a:rPr lang="en-GB" sz="2400" i="1">
                            <a:solidFill>
                              <a:prstClr val="black"/>
                            </a:solidFill>
                            <a:latin typeface="Cambria Math" panose="02040503050406030204" pitchFamily="18" charset="0"/>
                          </a:rPr>
                          <m:t>𝑠</m:t>
                        </m:r>
                      </m:sub>
                    </m:sSub>
                    <m:r>
                      <a:rPr lang="en-GB" sz="2400" i="1">
                        <a:solidFill>
                          <a:prstClr val="black"/>
                        </a:solidFill>
                        <a:latin typeface="Cambria Math" panose="02040503050406030204" pitchFamily="18" charset="0"/>
                      </a:rPr>
                      <m:t>(</m:t>
                    </m:r>
                    <m:r>
                      <a:rPr lang="en-GB" sz="2400" i="1">
                        <a:solidFill>
                          <a:prstClr val="black"/>
                        </a:solidFill>
                        <a:latin typeface="Cambria Math" panose="02040503050406030204" pitchFamily="18" charset="0"/>
                      </a:rPr>
                      <m:t>𝑡</m:t>
                    </m:r>
                    <m:r>
                      <a:rPr lang="en-GB" sz="2400" b="0" i="1" smtClean="0">
                        <a:solidFill>
                          <a:prstClr val="black"/>
                        </a:solidFill>
                        <a:latin typeface="Cambria Math" panose="02040503050406030204" pitchFamily="18" charset="0"/>
                      </a:rPr>
                      <m:t>)</m:t>
                    </m:r>
                  </m:oMath>
                </a14:m>
                <a:r>
                  <a:rPr lang="en-GB" sz="2400" dirty="0">
                    <a:solidFill>
                      <a:prstClr val="black"/>
                    </a:solidFill>
                  </a:rPr>
                  <a:t> </a:t>
                </a:r>
                <a:r>
                  <a:rPr lang="ru-RU" sz="2400" dirty="0">
                    <a:solidFill>
                      <a:prstClr val="black"/>
                    </a:solidFill>
                  </a:rPr>
                  <a:t>с шум </a:t>
                </a:r>
                <a14:m>
                  <m:oMath xmlns:m="http://schemas.openxmlformats.org/officeDocument/2006/math">
                    <m:r>
                      <a:rPr lang="en-GB" sz="2400" b="0" i="1" smtClean="0">
                        <a:solidFill>
                          <a:prstClr val="black"/>
                        </a:solidFill>
                        <a:latin typeface="Cambria Math" panose="02040503050406030204" pitchFamily="18" charset="0"/>
                      </a:rPr>
                      <m:t>𝑛</m:t>
                    </m:r>
                    <m:r>
                      <a:rPr lang="en-GB" sz="2400" b="0" i="1" smtClean="0">
                        <a:solidFill>
                          <a:prstClr val="black"/>
                        </a:solidFill>
                        <a:latin typeface="Cambria Math" panose="02040503050406030204" pitchFamily="18" charset="0"/>
                      </a:rPr>
                      <m:t>(</m:t>
                    </m:r>
                    <m:r>
                      <a:rPr lang="en-GB" sz="2400" b="0" i="1" smtClean="0">
                        <a:solidFill>
                          <a:prstClr val="black"/>
                        </a:solidFill>
                        <a:latin typeface="Cambria Math" panose="02040503050406030204" pitchFamily="18" charset="0"/>
                      </a:rPr>
                      <m:t>𝑡</m:t>
                    </m:r>
                    <m:r>
                      <a:rPr lang="en-GB" sz="2400" b="0" i="1" smtClean="0">
                        <a:solidFill>
                          <a:prstClr val="black"/>
                        </a:solidFill>
                        <a:latin typeface="Cambria Math" panose="02040503050406030204" pitchFamily="18" charset="0"/>
                      </a:rPr>
                      <m:t>)</m:t>
                    </m:r>
                  </m:oMath>
                </a14:m>
                <a:r>
                  <a:rPr lang="ru-RU" sz="2400" dirty="0">
                    <a:solidFill>
                      <a:prstClr val="black"/>
                    </a:solidFill>
                  </a:rPr>
                  <a:t>  с определени характеристики.</a:t>
                </a:r>
                <a:endParaRPr lang="en-GB" sz="2400" dirty="0">
                  <a:solidFill>
                    <a:prstClr val="black"/>
                  </a:solidFill>
                </a:endParaRPr>
              </a:p>
            </p:txBody>
          </p:sp>
        </mc:Choice>
        <mc:Fallback xmlns="">
          <p:sp>
            <p:nvSpPr>
              <p:cNvPr id="2" name="Rectangle 1"/>
              <p:cNvSpPr>
                <a:spLocks noRot="1" noChangeAspect="1" noMove="1" noResize="1" noEditPoints="1" noAdjustHandles="1" noChangeArrowheads="1" noChangeShapeType="1" noTextEdit="1"/>
              </p:cNvSpPr>
              <p:nvPr/>
            </p:nvSpPr>
            <p:spPr>
              <a:xfrm>
                <a:off x="2032000" y="-14422"/>
                <a:ext cx="9934075" cy="4635115"/>
              </a:xfrm>
              <a:prstGeom prst="rect">
                <a:avLst/>
              </a:prstGeom>
              <a:blipFill>
                <a:blip r:embed="rId3"/>
                <a:stretch>
                  <a:fillRect l="-920" r="-920" b="-1184"/>
                </a:stretch>
              </a:blipFill>
            </p:spPr>
            <p:txBody>
              <a:bodyPr/>
              <a:lstStyle/>
              <a:p>
                <a:r>
                  <a:rPr lang="bg-BG">
                    <a:noFill/>
                  </a:rPr>
                  <a:t> </a:t>
                </a:r>
              </a:p>
            </p:txBody>
          </p:sp>
        </mc:Fallback>
      </mc:AlternateContent>
      <p:sp>
        <p:nvSpPr>
          <p:cNvPr id="7"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Tree>
    <p:extLst>
      <p:ext uri="{BB962C8B-B14F-4D97-AF65-F5344CB8AC3E}">
        <p14:creationId xmlns:p14="http://schemas.microsoft.com/office/powerpoint/2010/main" val="32502874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24</a:t>
            </a:fld>
            <a:endParaRPr lang="bg-BG" dirty="0"/>
          </a:p>
        </p:txBody>
      </p:sp>
      <p:sp>
        <p:nvSpPr>
          <p:cNvPr id="5" name="Content Placeholder 2"/>
          <p:cNvSpPr txBox="1">
            <a:spLocks/>
          </p:cNvSpPr>
          <p:nvPr/>
        </p:nvSpPr>
        <p:spPr>
          <a:xfrm>
            <a:off x="2098842" y="449975"/>
            <a:ext cx="9867232" cy="4546560"/>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457200" algn="just">
              <a:buFont typeface="Wingdings" pitchFamily="2" charset="2"/>
              <a:buNone/>
            </a:pPr>
            <a:endParaRPr lang="bg-BG" sz="2200" dirty="0">
              <a:solidFill>
                <a:schemeClr val="tx1">
                  <a:lumMod val="95000"/>
                  <a:lumOff val="5000"/>
                </a:schemeClr>
              </a:solidFill>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mc:AlternateContent xmlns:mc="http://schemas.openxmlformats.org/markup-compatibility/2006" xmlns:a14="http://schemas.microsoft.com/office/drawing/2010/main">
        <mc:Choice Requires="a14">
          <p:sp>
            <p:nvSpPr>
              <p:cNvPr id="20" name="Rectangle 19"/>
              <p:cNvSpPr/>
              <p:nvPr/>
            </p:nvSpPr>
            <p:spPr>
              <a:xfrm>
                <a:off x="2318550" y="45719"/>
                <a:ext cx="9647524" cy="6812282"/>
              </a:xfrm>
              <a:prstGeom prst="rect">
                <a:avLst/>
              </a:prstGeom>
            </p:spPr>
            <p:txBody>
              <a:bodyPr>
                <a:noAutofit/>
              </a:bodyPr>
              <a:lstStyle/>
              <a:p>
                <a:pPr indent="542925" algn="just">
                  <a:lnSpc>
                    <a:spcPct val="130000"/>
                  </a:lnSpc>
                  <a:spcBef>
                    <a:spcPts val="1200"/>
                  </a:spcBef>
                  <a:buClr>
                    <a:schemeClr val="accent1">
                      <a:lumMod val="75000"/>
                    </a:schemeClr>
                  </a:buClr>
                  <a:buSzPct val="85000"/>
                  <a:buFont typeface="Wingdings" pitchFamily="2" charset="2"/>
                  <a:buNone/>
                  <a:tabLst>
                    <a:tab pos="228600" algn="l"/>
                  </a:tabLst>
                </a:pPr>
                <a:r>
                  <a:rPr lang="ru-RU" sz="2400" i="1" dirty="0">
                    <a:solidFill>
                      <a:prstClr val="black"/>
                    </a:solidFill>
                  </a:rPr>
                  <a:t>Обработката на резултатите от експеримент</a:t>
                </a:r>
                <a:endParaRPr lang="en-GB" sz="2400" i="1" dirty="0">
                  <a:solidFill>
                    <a:prstClr val="black"/>
                  </a:solidFill>
                </a:endParaRPr>
              </a:p>
              <a:p>
                <a:pPr indent="542925" algn="just">
                  <a:lnSpc>
                    <a:spcPct val="130000"/>
                  </a:lnSpc>
                  <a:buClr>
                    <a:schemeClr val="accent1">
                      <a:lumMod val="75000"/>
                    </a:schemeClr>
                  </a:buClr>
                  <a:buSzPct val="85000"/>
                  <a:buFont typeface="Wingdings" pitchFamily="2" charset="2"/>
                  <a:buNone/>
                  <a:tabLst>
                    <a:tab pos="228600" algn="l"/>
                  </a:tabLst>
                </a:pPr>
                <a:r>
                  <a:rPr lang="ru-RU" sz="2400" dirty="0">
                    <a:solidFill>
                      <a:prstClr val="black"/>
                    </a:solidFill>
                  </a:rPr>
                  <a:t>Обработката на резултатите от експеримента зависи от вида на експериментално снетите характеристики и в най-общия случай включва следните етапи:</a:t>
                </a:r>
              </a:p>
              <a:p>
                <a:pPr marL="993775" indent="-457200" algn="just">
                  <a:lnSpc>
                    <a:spcPct val="130000"/>
                  </a:lnSpc>
                  <a:buClr>
                    <a:schemeClr val="accent1">
                      <a:lumMod val="75000"/>
                    </a:schemeClr>
                  </a:buClr>
                  <a:buSzPct val="85000"/>
                  <a:buFont typeface="+mj-lt"/>
                  <a:buAutoNum type="alphaLcParenR"/>
                  <a:tabLst>
                    <a:tab pos="228600" algn="l"/>
                  </a:tabLst>
                </a:pPr>
                <a:r>
                  <a:rPr lang="ru-RU" sz="2400" dirty="0"/>
                  <a:t>привеждане на</a:t>
                </a:r>
                <a14:m>
                  <m:oMath xmlns:m="http://schemas.openxmlformats.org/officeDocument/2006/math">
                    <m:r>
                      <a:rPr lang="en-GB" sz="2400" b="0" i="1" smtClean="0">
                        <a:latin typeface="Cambria Math" panose="02040503050406030204" pitchFamily="18" charset="0"/>
                      </a:rPr>
                      <m:t>𝑦</m:t>
                    </m:r>
                    <m:r>
                      <a:rPr lang="en-GB" sz="2400" b="0" i="1" smtClean="0">
                        <a:latin typeface="Cambria Math" panose="02040503050406030204" pitchFamily="18" charset="0"/>
                      </a:rPr>
                      <m:t>(</m:t>
                    </m:r>
                    <m:r>
                      <a:rPr lang="en-GB" sz="2400" b="0" i="1" smtClean="0">
                        <a:latin typeface="Cambria Math" panose="02040503050406030204" pitchFamily="18" charset="0"/>
                      </a:rPr>
                      <m:t>𝑡</m:t>
                    </m:r>
                    <m:r>
                      <a:rPr lang="en-GB" sz="2400" b="0" i="1" smtClean="0">
                        <a:latin typeface="Cambria Math" panose="02040503050406030204" pitchFamily="18" charset="0"/>
                      </a:rPr>
                      <m:t>)</m:t>
                    </m:r>
                  </m:oMath>
                </a14:m>
                <a:r>
                  <a:rPr lang="ru-RU" sz="2400" dirty="0"/>
                  <a:t>към “нулеви” начални условия, усредняване и изглаждане (при необходимост);</a:t>
                </a:r>
              </a:p>
              <a:p>
                <a:pPr marL="993775" indent="-457200" algn="just">
                  <a:lnSpc>
                    <a:spcPct val="130000"/>
                  </a:lnSpc>
                  <a:buClr>
                    <a:schemeClr val="accent1">
                      <a:lumMod val="75000"/>
                    </a:schemeClr>
                  </a:buClr>
                  <a:buSzPct val="85000"/>
                  <a:buFont typeface="+mj-lt"/>
                  <a:buAutoNum type="alphaLcParenR"/>
                  <a:tabLst>
                    <a:tab pos="228600" algn="l"/>
                  </a:tabLst>
                </a:pPr>
                <a:r>
                  <a:rPr lang="ru-RU" sz="2400" dirty="0"/>
                  <a:t>преобразуване (апроксимация).</a:t>
                </a:r>
                <a:endParaRPr lang="ru-RU" sz="2400" dirty="0">
                  <a:solidFill>
                    <a:prstClr val="black"/>
                  </a:solidFill>
                </a:endParaRPr>
              </a:p>
              <a:p>
                <a:pPr indent="542925" algn="just">
                  <a:lnSpc>
                    <a:spcPct val="130000"/>
                  </a:lnSpc>
                  <a:buClr>
                    <a:schemeClr val="accent1">
                      <a:lumMod val="75000"/>
                    </a:schemeClr>
                  </a:buClr>
                  <a:buSzPct val="85000"/>
                  <a:buFont typeface="Wingdings" pitchFamily="2" charset="2"/>
                  <a:buNone/>
                  <a:tabLst>
                    <a:tab pos="228600" algn="l"/>
                  </a:tabLst>
                </a:pPr>
                <a:r>
                  <a:rPr lang="ru-RU" sz="2400" dirty="0">
                    <a:solidFill>
                      <a:prstClr val="black"/>
                    </a:solidFill>
                  </a:rPr>
                  <a:t>Първият етап, който условно ще бъде наречен "първична обработка" се свежда до получаване на преходната функция (реакцията на единично входно въздействие). За целта е необходимо:</a:t>
                </a:r>
              </a:p>
              <a:p>
                <a:pPr marL="901700" indent="-342900" algn="just">
                  <a:lnSpc>
                    <a:spcPct val="130000"/>
                  </a:lnSpc>
                  <a:buClr>
                    <a:schemeClr val="accent1">
                      <a:lumMod val="75000"/>
                    </a:schemeClr>
                  </a:buClr>
                  <a:buSzPct val="85000"/>
                  <a:buFont typeface="Wingdings" panose="05000000000000000000" pitchFamily="2" charset="2"/>
                  <a:buChar char="q"/>
                  <a:tabLst>
                    <a:tab pos="228600" algn="l"/>
                  </a:tabLst>
                </a:pPr>
                <a:r>
                  <a:rPr lang="ru-RU" sz="2400" dirty="0">
                    <a:solidFill>
                      <a:prstClr val="black"/>
                    </a:solidFill>
                  </a:rPr>
                  <a:t>привеждане на</a:t>
                </a:r>
                <a:r>
                  <a:rPr lang="en-GB" sz="2400" dirty="0"/>
                  <a:t> </a:t>
                </a:r>
                <a14:m>
                  <m:oMath xmlns:m="http://schemas.openxmlformats.org/officeDocument/2006/math">
                    <m:r>
                      <a:rPr lang="en-GB" sz="2400" i="1">
                        <a:latin typeface="Cambria Math" panose="02040503050406030204" pitchFamily="18" charset="0"/>
                      </a:rPr>
                      <m:t>𝑦</m:t>
                    </m:r>
                    <m:r>
                      <a:rPr lang="en-GB" sz="2400" i="1">
                        <a:latin typeface="Cambria Math" panose="02040503050406030204" pitchFamily="18" charset="0"/>
                      </a:rPr>
                      <m:t>(</m:t>
                    </m:r>
                    <m:r>
                      <a:rPr lang="en-GB" sz="2400" i="1">
                        <a:latin typeface="Cambria Math" panose="02040503050406030204" pitchFamily="18" charset="0"/>
                      </a:rPr>
                      <m:t>𝑡</m:t>
                    </m:r>
                    <m:r>
                      <a:rPr lang="en-GB" sz="2400" i="1">
                        <a:latin typeface="Cambria Math" panose="02040503050406030204" pitchFamily="18" charset="0"/>
                      </a:rPr>
                      <m:t>) </m:t>
                    </m:r>
                  </m:oMath>
                </a14:m>
                <a:r>
                  <a:rPr lang="ru-RU" sz="2400" dirty="0">
                    <a:solidFill>
                      <a:prstClr val="black"/>
                    </a:solidFill>
                  </a:rPr>
                  <a:t>към “нулеви” начални условия</a:t>
                </a:r>
                <a:endParaRPr lang="bg-BG" sz="2400" dirty="0">
                  <a:solidFill>
                    <a:prstClr val="black"/>
                  </a:solidFill>
                </a:endParaRPr>
              </a:p>
            </p:txBody>
          </p:sp>
        </mc:Choice>
        <mc:Fallback xmlns="">
          <p:sp>
            <p:nvSpPr>
              <p:cNvPr id="20" name="Rectangle 19"/>
              <p:cNvSpPr>
                <a:spLocks noRot="1" noChangeAspect="1" noMove="1" noResize="1" noEditPoints="1" noAdjustHandles="1" noChangeArrowheads="1" noChangeShapeType="1" noTextEdit="1"/>
              </p:cNvSpPr>
              <p:nvPr/>
            </p:nvSpPr>
            <p:spPr>
              <a:xfrm>
                <a:off x="2318550" y="45719"/>
                <a:ext cx="9647524" cy="6812282"/>
              </a:xfrm>
              <a:prstGeom prst="rect">
                <a:avLst/>
              </a:prstGeom>
              <a:blipFill>
                <a:blip r:embed="rId4"/>
                <a:stretch>
                  <a:fillRect l="-948" r="-948"/>
                </a:stretch>
              </a:blipFill>
            </p:spPr>
            <p:txBody>
              <a:bodyPr/>
              <a:lstStyle/>
              <a:p>
                <a:r>
                  <a:rPr lang="bg-BG">
                    <a:noFill/>
                  </a:rPr>
                  <a:t> </a:t>
                </a:r>
              </a:p>
            </p:txBody>
          </p:sp>
        </mc:Fallback>
      </mc:AlternateContent>
      <p:sp>
        <p:nvSpPr>
          <p:cNvPr id="22" name="Rectangle 1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23" name="Object 22"/>
          <p:cNvGraphicFramePr>
            <a:graphicFrameLocks noChangeAspect="1"/>
          </p:cNvGraphicFramePr>
          <p:nvPr>
            <p:extLst>
              <p:ext uri="{D42A27DB-BD31-4B8C-83A1-F6EECF244321}">
                <p14:modId xmlns:p14="http://schemas.microsoft.com/office/powerpoint/2010/main" val="2810977682"/>
              </p:ext>
            </p:extLst>
          </p:nvPr>
        </p:nvGraphicFramePr>
        <p:xfrm>
          <a:off x="5024784" y="5814547"/>
          <a:ext cx="2597426" cy="586253"/>
        </p:xfrm>
        <a:graphic>
          <a:graphicData uri="http://schemas.openxmlformats.org/presentationml/2006/ole">
            <mc:AlternateContent xmlns:mc="http://schemas.openxmlformats.org/markup-compatibility/2006">
              <mc:Choice xmlns:v="urn:schemas-microsoft-com:vml" Requires="v">
                <p:oleObj name="Equation" r:id="rId5" imgW="1016000" imgH="228600" progId="Equation.3">
                  <p:embed/>
                </p:oleObj>
              </mc:Choice>
              <mc:Fallback>
                <p:oleObj name="Equation" r:id="rId5" imgW="1016000" imgH="2286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4784" y="5814547"/>
                        <a:ext cx="2597426" cy="586253"/>
                      </a:xfrm>
                      <a:prstGeom prst="rect">
                        <a:avLst/>
                      </a:prstGeom>
                      <a:noFill/>
                    </p:spPr>
                  </p:pic>
                </p:oleObj>
              </mc:Fallback>
            </mc:AlternateContent>
          </a:graphicData>
        </a:graphic>
      </p:graphicFrame>
    </p:spTree>
    <p:extLst>
      <p:ext uri="{BB962C8B-B14F-4D97-AF65-F5344CB8AC3E}">
        <p14:creationId xmlns:p14="http://schemas.microsoft.com/office/powerpoint/2010/main" val="34533895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25</a:t>
            </a:fld>
            <a:endParaRPr lang="bg-BG" dirty="0"/>
          </a:p>
        </p:txBody>
      </p:sp>
      <mc:AlternateContent xmlns:mc="http://schemas.openxmlformats.org/markup-compatibility/2006" xmlns:a14="http://schemas.microsoft.com/office/drawing/2010/main">
        <mc:Choice Requires="a14">
          <p:sp>
            <p:nvSpPr>
              <p:cNvPr id="5" name="Content Placeholder 2"/>
              <p:cNvSpPr txBox="1">
                <a:spLocks/>
              </p:cNvSpPr>
              <p:nvPr/>
            </p:nvSpPr>
            <p:spPr>
              <a:xfrm>
                <a:off x="2151850" y="45718"/>
                <a:ext cx="9867232" cy="4546560"/>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901700" indent="-342900" algn="just">
                  <a:lnSpc>
                    <a:spcPct val="130000"/>
                  </a:lnSpc>
                  <a:buFont typeface="Wingdings" panose="05000000000000000000" pitchFamily="2" charset="2"/>
                  <a:buChar char="q"/>
                  <a:tabLst>
                    <a:tab pos="228600" algn="l"/>
                  </a:tabLst>
                </a:pPr>
                <a:r>
                  <a:rPr lang="ru-RU" sz="2400" dirty="0">
                    <a:solidFill>
                      <a:prstClr val="black"/>
                    </a:solidFill>
                  </a:rPr>
                  <a:t>пресмятане на преходната функция по израза</a:t>
                </a:r>
              </a:p>
              <a:p>
                <a:pPr marL="0" indent="457200" algn="just">
                  <a:buNone/>
                </a:pPr>
                <a:endParaRPr lang="ru-RU" sz="2200" dirty="0">
                  <a:solidFill>
                    <a:schemeClr val="tx1">
                      <a:lumMod val="95000"/>
                      <a:lumOff val="5000"/>
                    </a:schemeClr>
                  </a:solidFill>
                </a:endParaRPr>
              </a:p>
              <a:p>
                <a:pPr marL="0" indent="457200" algn="just">
                  <a:buNone/>
                </a:pPr>
                <a:r>
                  <a:rPr lang="ru-RU" sz="2200" dirty="0">
                    <a:solidFill>
                      <a:schemeClr val="tx1">
                        <a:lumMod val="95000"/>
                        <a:lumOff val="5000"/>
                      </a:schemeClr>
                    </a:solidFill>
                  </a:rPr>
                  <a:t> </a:t>
                </a:r>
                <a:r>
                  <a:rPr lang="ru-RU" sz="2400" dirty="0">
                    <a:solidFill>
                      <a:prstClr val="black"/>
                    </a:solidFill>
                  </a:rPr>
                  <a:t>където</a:t>
                </a:r>
                <a:r>
                  <a:rPr lang="en-GB" sz="2400" dirty="0">
                    <a:solidFill>
                      <a:prstClr val="black"/>
                    </a:solidFill>
                  </a:rPr>
                  <a:t> </a:t>
                </a:r>
                <a14:m>
                  <m:oMath xmlns:m="http://schemas.openxmlformats.org/officeDocument/2006/math">
                    <m:r>
                      <a:rPr lang="en-GB" sz="2400" b="0" i="1" smtClean="0">
                        <a:solidFill>
                          <a:prstClr val="black"/>
                        </a:solidFill>
                        <a:latin typeface="Cambria Math" panose="02040503050406030204" pitchFamily="18" charset="0"/>
                      </a:rPr>
                      <m:t>𝑞</m:t>
                    </m:r>
                    <m:r>
                      <a:rPr lang="en-GB" sz="2400" b="0" i="1" smtClean="0">
                        <a:solidFill>
                          <a:prstClr val="black"/>
                        </a:solidFill>
                        <a:latin typeface="Cambria Math" panose="02040503050406030204" pitchFamily="18" charset="0"/>
                      </a:rPr>
                      <m:t> </m:t>
                    </m:r>
                  </m:oMath>
                </a14:m>
                <a:r>
                  <a:rPr lang="ru-RU" sz="2400" dirty="0">
                    <a:solidFill>
                      <a:prstClr val="black"/>
                    </a:solidFill>
                  </a:rPr>
                  <a:t>е броя на снетите експериментални характеристики.</a:t>
                </a:r>
              </a:p>
              <a:p>
                <a:pPr marL="0" indent="542925" algn="just">
                  <a:lnSpc>
                    <a:spcPct val="130000"/>
                  </a:lnSpc>
                  <a:spcBef>
                    <a:spcPts val="0"/>
                  </a:spcBef>
                  <a:buNone/>
                  <a:tabLst>
                    <a:tab pos="228600" algn="l"/>
                  </a:tabLst>
                </a:pPr>
                <a:r>
                  <a:rPr lang="ru-RU" sz="2400" dirty="0">
                    <a:solidFill>
                      <a:prstClr val="black"/>
                    </a:solidFill>
                  </a:rPr>
                  <a:t>Ако </a:t>
                </a:r>
                <a14:m>
                  <m:oMath xmlns:m="http://schemas.openxmlformats.org/officeDocument/2006/math">
                    <m:sSub>
                      <m:sSubPr>
                        <m:ctrlPr>
                          <a:rPr lang="ru-RU" sz="2400" i="1" smtClean="0">
                            <a:solidFill>
                              <a:prstClr val="black"/>
                            </a:solidFill>
                            <a:latin typeface="Cambria Math" panose="02040503050406030204" pitchFamily="18" charset="0"/>
                          </a:rPr>
                        </m:ctrlPr>
                      </m:sSubPr>
                      <m:e>
                        <m:r>
                          <a:rPr lang="en-GB" sz="2400" b="0" i="1" smtClean="0">
                            <a:solidFill>
                              <a:prstClr val="black"/>
                            </a:solidFill>
                            <a:latin typeface="Cambria Math" panose="02040503050406030204" pitchFamily="18" charset="0"/>
                          </a:rPr>
                          <m:t>h</m:t>
                        </m:r>
                      </m:e>
                      <m:sub>
                        <m:r>
                          <a:rPr lang="en-GB" sz="2400" b="0" i="1" smtClean="0">
                            <a:solidFill>
                              <a:prstClr val="black"/>
                            </a:solidFill>
                            <a:latin typeface="Cambria Math" panose="02040503050406030204" pitchFamily="18" charset="0"/>
                          </a:rPr>
                          <m:t>𝑖</m:t>
                        </m:r>
                      </m:sub>
                    </m:sSub>
                    <m:d>
                      <m:dPr>
                        <m:ctrlPr>
                          <a:rPr lang="en-GB" sz="2400" b="0" i="1" smtClean="0">
                            <a:solidFill>
                              <a:prstClr val="black"/>
                            </a:solidFill>
                            <a:latin typeface="Cambria Math" panose="02040503050406030204" pitchFamily="18" charset="0"/>
                          </a:rPr>
                        </m:ctrlPr>
                      </m:dPr>
                      <m:e>
                        <m:r>
                          <a:rPr lang="en-GB" sz="2400" b="0" i="1" smtClean="0">
                            <a:solidFill>
                              <a:prstClr val="black"/>
                            </a:solidFill>
                            <a:latin typeface="Cambria Math" panose="02040503050406030204" pitchFamily="18" charset="0"/>
                          </a:rPr>
                          <m:t>𝑡</m:t>
                        </m:r>
                      </m:e>
                    </m:d>
                    <m:r>
                      <a:rPr lang="en-GB" sz="2400" b="0" i="1" smtClean="0">
                        <a:solidFill>
                          <a:prstClr val="black"/>
                        </a:solidFill>
                        <a:latin typeface="Cambria Math" panose="02040503050406030204" pitchFamily="18" charset="0"/>
                      </a:rPr>
                      <m:t> </m:t>
                    </m:r>
                  </m:oMath>
                </a14:m>
                <a:r>
                  <a:rPr lang="ru-RU" sz="2400" dirty="0">
                    <a:solidFill>
                      <a:prstClr val="black"/>
                    </a:solidFill>
                  </a:rPr>
                  <a:t>се различават една от друга с не повече от 2-3% (съизмеримо с точността на регистрация от приборите на </a:t>
                </a:r>
                <a14:m>
                  <m:oMath xmlns:m="http://schemas.openxmlformats.org/officeDocument/2006/math">
                    <m:r>
                      <a:rPr lang="en-GB" sz="2400" i="1">
                        <a:latin typeface="Cambria Math" panose="02040503050406030204" pitchFamily="18" charset="0"/>
                      </a:rPr>
                      <m:t>𝑦</m:t>
                    </m:r>
                    <m:r>
                      <a:rPr lang="en-GB" sz="2400" i="1">
                        <a:latin typeface="Cambria Math" panose="02040503050406030204" pitchFamily="18" charset="0"/>
                      </a:rPr>
                      <m:t>(</m:t>
                    </m:r>
                    <m:r>
                      <a:rPr lang="en-GB" sz="2400" i="1">
                        <a:latin typeface="Cambria Math" panose="02040503050406030204" pitchFamily="18" charset="0"/>
                      </a:rPr>
                      <m:t>𝑡</m:t>
                    </m:r>
                    <m:r>
                      <a:rPr lang="en-GB" sz="2400" i="1">
                        <a:latin typeface="Cambria Math" panose="02040503050406030204" pitchFamily="18" charset="0"/>
                      </a:rPr>
                      <m:t>)</m:t>
                    </m:r>
                  </m:oMath>
                </a14:m>
                <a:r>
                  <a:rPr lang="ru-RU" sz="2400" dirty="0">
                    <a:solidFill>
                      <a:prstClr val="black"/>
                    </a:solidFill>
                  </a:rPr>
                  <a:t>), то за следваща обработка се приема една от тях. В противен случай се определя усреднена по множество</a:t>
                </a:r>
              </a:p>
            </p:txBody>
          </p:sp>
        </mc:Choice>
        <mc:Fallback xmlns="">
          <p:sp>
            <p:nvSpPr>
              <p:cNvPr id="5" name="Content Placeholder 2"/>
              <p:cNvSpPr txBox="1">
                <a:spLocks noRot="1" noChangeAspect="1" noMove="1" noResize="1" noEditPoints="1" noAdjustHandles="1" noChangeArrowheads="1" noChangeShapeType="1" noTextEdit="1"/>
              </p:cNvSpPr>
              <p:nvPr/>
            </p:nvSpPr>
            <p:spPr>
              <a:xfrm>
                <a:off x="2151850" y="45718"/>
                <a:ext cx="9867232" cy="4546560"/>
              </a:xfrm>
              <a:prstGeom prst="rect">
                <a:avLst/>
              </a:prstGeom>
              <a:blipFill>
                <a:blip r:embed="rId4"/>
                <a:stretch>
                  <a:fillRect l="-988" r="-926"/>
                </a:stretch>
              </a:blipFill>
            </p:spPr>
            <p:txBody>
              <a:bodyPr/>
              <a:lstStyle/>
              <a:p>
                <a:r>
                  <a:rPr lang="en-GB">
                    <a:noFill/>
                  </a:rPr>
                  <a:t> </a:t>
                </a:r>
              </a:p>
            </p:txBody>
          </p:sp>
        </mc:Fallback>
      </mc:AlternateContent>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7" name="Object 6"/>
          <p:cNvGraphicFramePr>
            <a:graphicFrameLocks noChangeAspect="1"/>
          </p:cNvGraphicFramePr>
          <p:nvPr>
            <p:extLst>
              <p:ext uri="{D42A27DB-BD31-4B8C-83A1-F6EECF244321}">
                <p14:modId xmlns:p14="http://schemas.microsoft.com/office/powerpoint/2010/main" val="3308371779"/>
              </p:ext>
            </p:extLst>
          </p:nvPr>
        </p:nvGraphicFramePr>
        <p:xfrm>
          <a:off x="3803373" y="573561"/>
          <a:ext cx="4304028" cy="636104"/>
        </p:xfrm>
        <a:graphic>
          <a:graphicData uri="http://schemas.openxmlformats.org/presentationml/2006/ole">
            <mc:AlternateContent xmlns:mc="http://schemas.openxmlformats.org/markup-compatibility/2006">
              <mc:Choice xmlns:v="urn:schemas-microsoft-com:vml" Requires="v">
                <p:oleObj name="Equation" r:id="rId5" imgW="1651000" imgH="241300" progId="Equation.3">
                  <p:embed/>
                </p:oleObj>
              </mc:Choice>
              <mc:Fallback>
                <p:oleObj name="Equation" r:id="rId5" imgW="1651000" imgH="24130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03373" y="573561"/>
                        <a:ext cx="4304028" cy="636104"/>
                      </a:xfrm>
                      <a:prstGeom prst="rect">
                        <a:avLst/>
                      </a:prstGeom>
                      <a:noFill/>
                    </p:spPr>
                  </p:pic>
                </p:oleObj>
              </mc:Fallback>
            </mc:AlternateContent>
          </a:graphicData>
        </a:graphic>
      </p:graphicFrame>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9" name="Object 8"/>
          <p:cNvGraphicFramePr>
            <a:graphicFrameLocks noChangeAspect="1"/>
          </p:cNvGraphicFramePr>
          <p:nvPr>
            <p:extLst>
              <p:ext uri="{D42A27DB-BD31-4B8C-83A1-F6EECF244321}">
                <p14:modId xmlns:p14="http://schemas.microsoft.com/office/powerpoint/2010/main" val="1992173589"/>
              </p:ext>
            </p:extLst>
          </p:nvPr>
        </p:nvGraphicFramePr>
        <p:xfrm>
          <a:off x="7197403" y="2857690"/>
          <a:ext cx="2079119" cy="842558"/>
        </p:xfrm>
        <a:graphic>
          <a:graphicData uri="http://schemas.openxmlformats.org/presentationml/2006/ole">
            <mc:AlternateContent xmlns:mc="http://schemas.openxmlformats.org/markup-compatibility/2006">
              <mc:Choice xmlns:v="urn:schemas-microsoft-com:vml" Requires="v">
                <p:oleObj name="Equation" r:id="rId7" imgW="1091726" imgH="444307" progId="Equation.3">
                  <p:embed/>
                </p:oleObj>
              </mc:Choice>
              <mc:Fallback>
                <p:oleObj name="Equation" r:id="rId7" imgW="1091726" imgH="444307"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97403" y="2857690"/>
                        <a:ext cx="2079119" cy="842558"/>
                      </a:xfrm>
                      <a:prstGeom prst="rect">
                        <a:avLst/>
                      </a:prstGeom>
                      <a:noFill/>
                    </p:spPr>
                  </p:pic>
                </p:oleObj>
              </mc:Fallback>
            </mc:AlternateContent>
          </a:graphicData>
        </a:graphic>
      </p:graphicFrame>
      <p:pic>
        <p:nvPicPr>
          <p:cNvPr id="11" name="Picture 10"/>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192652" y="3330649"/>
            <a:ext cx="5004751" cy="2614691"/>
          </a:xfrm>
          <a:prstGeom prst="rect">
            <a:avLst/>
          </a:prstGeom>
        </p:spPr>
      </p:pic>
      <mc:AlternateContent xmlns:mc="http://schemas.openxmlformats.org/markup-compatibility/2006" xmlns:a14="http://schemas.microsoft.com/office/drawing/2010/main">
        <mc:Choice Requires="a14">
          <p:sp>
            <p:nvSpPr>
              <p:cNvPr id="30" name="Rectangle 29"/>
              <p:cNvSpPr/>
              <p:nvPr/>
            </p:nvSpPr>
            <p:spPr>
              <a:xfrm>
                <a:off x="87028" y="5779242"/>
                <a:ext cx="12078467" cy="1004057"/>
              </a:xfrm>
              <a:prstGeom prst="rect">
                <a:avLst/>
              </a:prstGeom>
            </p:spPr>
            <p:txBody>
              <a:bodyPr wrap="square">
                <a:spAutoFit/>
              </a:bodyPr>
              <a:lstStyle/>
              <a:p>
                <a:pPr indent="542925" algn="just">
                  <a:lnSpc>
                    <a:spcPct val="130000"/>
                  </a:lnSpc>
                  <a:buClr>
                    <a:schemeClr val="accent1">
                      <a:lumMod val="75000"/>
                    </a:schemeClr>
                  </a:buClr>
                  <a:buSzPct val="85000"/>
                  <a:tabLst>
                    <a:tab pos="228600" algn="l"/>
                  </a:tabLst>
                </a:pPr>
                <a:r>
                  <a:rPr lang="ru-RU" sz="2400" dirty="0">
                    <a:solidFill>
                      <a:prstClr val="black"/>
                    </a:solidFill>
                  </a:rPr>
                  <a:t>Крива 1 е гладка и може да бъде използвана за апроксимация. Крива 2 може да се приеме, че е сума от полезният сигнал и насложен шум</a:t>
                </a:r>
                <a:r>
                  <a:rPr lang="en-GB" sz="2400" dirty="0">
                    <a:solidFill>
                      <a:prstClr val="black"/>
                    </a:solidFill>
                  </a:rPr>
                  <a:t> </a:t>
                </a:r>
                <a14:m>
                  <m:oMath xmlns:m="http://schemas.openxmlformats.org/officeDocument/2006/math">
                    <m:r>
                      <a:rPr lang="en-GB" sz="2400" b="0" i="1" smtClean="0">
                        <a:solidFill>
                          <a:prstClr val="black"/>
                        </a:solidFill>
                        <a:latin typeface="Cambria Math" panose="02040503050406030204" pitchFamily="18" charset="0"/>
                      </a:rPr>
                      <m:t>𝑛</m:t>
                    </m:r>
                    <m:r>
                      <a:rPr lang="en-GB" sz="2400" b="0" i="1" smtClean="0">
                        <a:solidFill>
                          <a:prstClr val="black"/>
                        </a:solidFill>
                        <a:latin typeface="Cambria Math" panose="02040503050406030204" pitchFamily="18" charset="0"/>
                      </a:rPr>
                      <m:t>(</m:t>
                    </m:r>
                    <m:r>
                      <a:rPr lang="en-GB" sz="2400" b="0" i="1" smtClean="0">
                        <a:solidFill>
                          <a:prstClr val="black"/>
                        </a:solidFill>
                        <a:latin typeface="Cambria Math" panose="02040503050406030204" pitchFamily="18" charset="0"/>
                      </a:rPr>
                      <m:t>𝑡</m:t>
                    </m:r>
                    <m:r>
                      <a:rPr lang="en-GB" sz="2400" b="0" i="1" smtClean="0">
                        <a:solidFill>
                          <a:prstClr val="black"/>
                        </a:solidFill>
                        <a:latin typeface="Cambria Math" panose="02040503050406030204" pitchFamily="18" charset="0"/>
                      </a:rPr>
                      <m:t>)</m:t>
                    </m:r>
                  </m:oMath>
                </a14:m>
                <a:r>
                  <a:rPr lang="ru-RU" sz="2400" dirty="0">
                    <a:solidFill>
                      <a:prstClr val="black"/>
                    </a:solidFill>
                  </a:rPr>
                  <a:t>, т.е. </a:t>
                </a:r>
                <a14:m>
                  <m:oMath xmlns:m="http://schemas.openxmlformats.org/officeDocument/2006/math">
                    <m:r>
                      <a:rPr lang="en-GB" sz="2400" b="0" i="1" smtClean="0">
                        <a:solidFill>
                          <a:prstClr val="black"/>
                        </a:solidFill>
                        <a:latin typeface="Cambria Math" panose="02040503050406030204" pitchFamily="18" charset="0"/>
                      </a:rPr>
                      <m:t>𝑧</m:t>
                    </m:r>
                    <m:d>
                      <m:dPr>
                        <m:ctrlPr>
                          <a:rPr lang="en-GB" sz="2400" b="0" i="1" smtClean="0">
                            <a:solidFill>
                              <a:prstClr val="black"/>
                            </a:solidFill>
                            <a:latin typeface="Cambria Math" panose="02040503050406030204" pitchFamily="18" charset="0"/>
                          </a:rPr>
                        </m:ctrlPr>
                      </m:dPr>
                      <m:e>
                        <m:r>
                          <a:rPr lang="en-GB" sz="2400" b="0" i="1" smtClean="0">
                            <a:solidFill>
                              <a:prstClr val="black"/>
                            </a:solidFill>
                            <a:latin typeface="Cambria Math" panose="02040503050406030204" pitchFamily="18" charset="0"/>
                          </a:rPr>
                          <m:t>𝑡</m:t>
                        </m:r>
                      </m:e>
                    </m:d>
                    <m:r>
                      <a:rPr lang="en-GB" sz="2400" b="0" i="1" smtClean="0">
                        <a:solidFill>
                          <a:prstClr val="black"/>
                        </a:solidFill>
                        <a:latin typeface="Cambria Math" panose="02040503050406030204" pitchFamily="18" charset="0"/>
                      </a:rPr>
                      <m:t>=</m:t>
                    </m:r>
                    <m:r>
                      <a:rPr lang="en-GB" sz="2400" b="0" i="1" smtClean="0">
                        <a:solidFill>
                          <a:prstClr val="black"/>
                        </a:solidFill>
                        <a:latin typeface="Cambria Math" panose="02040503050406030204" pitchFamily="18" charset="0"/>
                      </a:rPr>
                      <m:t>h</m:t>
                    </m:r>
                    <m:d>
                      <m:dPr>
                        <m:ctrlPr>
                          <a:rPr lang="en-GB" sz="2400" b="0" i="1" smtClean="0">
                            <a:solidFill>
                              <a:prstClr val="black"/>
                            </a:solidFill>
                            <a:latin typeface="Cambria Math" panose="02040503050406030204" pitchFamily="18" charset="0"/>
                          </a:rPr>
                        </m:ctrlPr>
                      </m:dPr>
                      <m:e>
                        <m:r>
                          <a:rPr lang="en-GB" sz="2400" b="0" i="1" smtClean="0">
                            <a:solidFill>
                              <a:prstClr val="black"/>
                            </a:solidFill>
                            <a:latin typeface="Cambria Math" panose="02040503050406030204" pitchFamily="18" charset="0"/>
                          </a:rPr>
                          <m:t>𝑡</m:t>
                        </m:r>
                      </m:e>
                    </m:d>
                    <m:r>
                      <a:rPr lang="en-GB" sz="2400" b="0" i="1" smtClean="0">
                        <a:solidFill>
                          <a:prstClr val="black"/>
                        </a:solidFill>
                        <a:latin typeface="Cambria Math" panose="02040503050406030204" pitchFamily="18" charset="0"/>
                      </a:rPr>
                      <m:t>+</m:t>
                    </m:r>
                    <m:r>
                      <a:rPr lang="en-GB" sz="2400" b="0" i="1" smtClean="0">
                        <a:solidFill>
                          <a:prstClr val="black"/>
                        </a:solidFill>
                        <a:latin typeface="Cambria Math" panose="02040503050406030204" pitchFamily="18" charset="0"/>
                      </a:rPr>
                      <m:t>𝑛</m:t>
                    </m:r>
                    <m:r>
                      <a:rPr lang="en-GB" sz="2400" b="0" i="1" smtClean="0">
                        <a:solidFill>
                          <a:prstClr val="black"/>
                        </a:solidFill>
                        <a:latin typeface="Cambria Math" panose="02040503050406030204" pitchFamily="18" charset="0"/>
                      </a:rPr>
                      <m:t>(</m:t>
                    </m:r>
                    <m:r>
                      <a:rPr lang="en-GB" sz="2400" b="0" i="1" smtClean="0">
                        <a:solidFill>
                          <a:prstClr val="black"/>
                        </a:solidFill>
                        <a:latin typeface="Cambria Math" panose="02040503050406030204" pitchFamily="18" charset="0"/>
                      </a:rPr>
                      <m:t>𝑡</m:t>
                    </m:r>
                    <m:r>
                      <a:rPr lang="en-GB" sz="2400" b="0" i="1" smtClean="0">
                        <a:solidFill>
                          <a:prstClr val="black"/>
                        </a:solidFill>
                        <a:latin typeface="Cambria Math" panose="02040503050406030204" pitchFamily="18" charset="0"/>
                      </a:rPr>
                      <m:t>)</m:t>
                    </m:r>
                  </m:oMath>
                </a14:m>
                <a:r>
                  <a:rPr lang="ru-RU" sz="2400" dirty="0">
                    <a:solidFill>
                      <a:prstClr val="black"/>
                    </a:solidFill>
                  </a:rPr>
                  <a:t> . </a:t>
                </a:r>
              </a:p>
            </p:txBody>
          </p:sp>
        </mc:Choice>
        <mc:Fallback xmlns="">
          <p:sp>
            <p:nvSpPr>
              <p:cNvPr id="30" name="Rectangle 29"/>
              <p:cNvSpPr>
                <a:spLocks noRot="1" noChangeAspect="1" noMove="1" noResize="1" noEditPoints="1" noAdjustHandles="1" noChangeArrowheads="1" noChangeShapeType="1" noTextEdit="1"/>
              </p:cNvSpPr>
              <p:nvPr/>
            </p:nvSpPr>
            <p:spPr>
              <a:xfrm>
                <a:off x="87028" y="5779242"/>
                <a:ext cx="12078467" cy="1004057"/>
              </a:xfrm>
              <a:prstGeom prst="rect">
                <a:avLst/>
              </a:prstGeom>
              <a:blipFill>
                <a:blip r:embed="rId10"/>
                <a:stretch>
                  <a:fillRect l="-757" r="-757" b="-12727"/>
                </a:stretch>
              </a:blipFill>
            </p:spPr>
            <p:txBody>
              <a:bodyPr/>
              <a:lstStyle/>
              <a:p>
                <a:r>
                  <a:rPr lang="en-GB">
                    <a:noFill/>
                  </a:rPr>
                  <a:t> </a:t>
                </a:r>
              </a:p>
            </p:txBody>
          </p:sp>
        </mc:Fallback>
      </mc:AlternateContent>
    </p:spTree>
    <p:extLst>
      <p:ext uri="{BB962C8B-B14F-4D97-AF65-F5344CB8AC3E}">
        <p14:creationId xmlns:p14="http://schemas.microsoft.com/office/powerpoint/2010/main" val="23741183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26</a:t>
            </a:fld>
            <a:endParaRPr lang="bg-BG" dirty="0"/>
          </a:p>
        </p:txBody>
      </p:sp>
      <mc:AlternateContent xmlns:mc="http://schemas.openxmlformats.org/markup-compatibility/2006" xmlns:a14="http://schemas.microsoft.com/office/drawing/2010/main">
        <mc:Choice Requires="a14">
          <p:sp>
            <p:nvSpPr>
              <p:cNvPr id="5" name="Content Placeholder 2"/>
              <p:cNvSpPr txBox="1">
                <a:spLocks/>
              </p:cNvSpPr>
              <p:nvPr/>
            </p:nvSpPr>
            <p:spPr>
              <a:xfrm>
                <a:off x="2032000" y="45718"/>
                <a:ext cx="10160000" cy="6812282"/>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lvl="0" indent="542925" algn="just">
                  <a:lnSpc>
                    <a:spcPct val="130000"/>
                  </a:lnSpc>
                  <a:spcBef>
                    <a:spcPts val="0"/>
                  </a:spcBef>
                  <a:buClr>
                    <a:srgbClr val="D34817">
                      <a:lumMod val="75000"/>
                    </a:srgbClr>
                  </a:buClr>
                  <a:buNone/>
                  <a:tabLst>
                    <a:tab pos="228600" algn="l"/>
                  </a:tabLst>
                </a:pPr>
                <a:r>
                  <a:rPr lang="ru-RU" sz="2400" dirty="0">
                    <a:solidFill>
                      <a:prstClr val="black"/>
                    </a:solidFill>
                  </a:rPr>
                  <a:t>Обикновено</a:t>
                </a:r>
                <a:r>
                  <a:rPr lang="en-GB" sz="2400" dirty="0">
                    <a:solidFill>
                      <a:prstClr val="black"/>
                    </a:solidFill>
                  </a:rPr>
                  <a:t> </a:t>
                </a:r>
                <a14:m>
                  <m:oMath xmlns:m="http://schemas.openxmlformats.org/officeDocument/2006/math">
                    <m:r>
                      <a:rPr lang="en-GB" sz="2400" i="1">
                        <a:solidFill>
                          <a:prstClr val="black"/>
                        </a:solidFill>
                        <a:latin typeface="Cambria Math" panose="02040503050406030204" pitchFamily="18" charset="0"/>
                      </a:rPr>
                      <m:t>𝑛</m:t>
                    </m:r>
                    <m:r>
                      <a:rPr lang="en-GB" sz="2400" i="1">
                        <a:solidFill>
                          <a:prstClr val="black"/>
                        </a:solidFill>
                        <a:latin typeface="Cambria Math" panose="02040503050406030204" pitchFamily="18" charset="0"/>
                      </a:rPr>
                      <m:t>(</m:t>
                    </m:r>
                    <m:r>
                      <a:rPr lang="en-GB" sz="2400" i="1">
                        <a:solidFill>
                          <a:prstClr val="black"/>
                        </a:solidFill>
                        <a:latin typeface="Cambria Math" panose="02040503050406030204" pitchFamily="18" charset="0"/>
                      </a:rPr>
                      <m:t>𝑡</m:t>
                    </m:r>
                    <m:r>
                      <a:rPr lang="en-GB" sz="2400" i="1">
                        <a:solidFill>
                          <a:prstClr val="black"/>
                        </a:solidFill>
                        <a:latin typeface="Cambria Math" panose="02040503050406030204" pitchFamily="18" charset="0"/>
                      </a:rPr>
                      <m:t>)</m:t>
                    </m:r>
                  </m:oMath>
                </a14:m>
                <a:r>
                  <a:rPr lang="ru-RU" sz="2400" dirty="0">
                    <a:solidFill>
                      <a:prstClr val="black"/>
                    </a:solidFill>
                  </a:rPr>
                  <a:t> е с характеристики</a:t>
                </a:r>
                <a14:m>
                  <m:oMath xmlns:m="http://schemas.openxmlformats.org/officeDocument/2006/math">
                    <m:r>
                      <a:rPr lang="en-GB" sz="2400" dirty="0">
                        <a:solidFill>
                          <a:prstClr val="black"/>
                        </a:solidFill>
                        <a:latin typeface="Cambria Math" panose="02040503050406030204" pitchFamily="18" charset="0"/>
                      </a:rPr>
                      <m:t> </m:t>
                    </m:r>
                    <m:r>
                      <a:rPr lang="en-GB" sz="2400" i="1" dirty="0">
                        <a:solidFill>
                          <a:prstClr val="black"/>
                        </a:solidFill>
                        <a:latin typeface="Cambria Math" panose="02040503050406030204" pitchFamily="18" charset="0"/>
                      </a:rPr>
                      <m:t>𝑀</m:t>
                    </m:r>
                    <m:d>
                      <m:dPr>
                        <m:begChr m:val="{"/>
                        <m:endChr m:val="}"/>
                        <m:ctrlPr>
                          <a:rPr lang="en-GB" sz="2400" i="1" dirty="0">
                            <a:solidFill>
                              <a:prstClr val="black"/>
                            </a:solidFill>
                            <a:latin typeface="Cambria Math" panose="02040503050406030204" pitchFamily="18" charset="0"/>
                          </a:rPr>
                        </m:ctrlPr>
                      </m:dPr>
                      <m:e>
                        <m:r>
                          <a:rPr lang="en-GB" sz="2400" i="1" dirty="0">
                            <a:solidFill>
                              <a:prstClr val="black"/>
                            </a:solidFill>
                            <a:latin typeface="Cambria Math" panose="02040503050406030204" pitchFamily="18" charset="0"/>
                          </a:rPr>
                          <m:t>𝑛</m:t>
                        </m:r>
                      </m:e>
                    </m:d>
                    <m:r>
                      <a:rPr lang="en-GB" sz="2400" i="1" dirty="0">
                        <a:solidFill>
                          <a:prstClr val="black"/>
                        </a:solidFill>
                        <a:latin typeface="Cambria Math" panose="02040503050406030204" pitchFamily="18" charset="0"/>
                      </a:rPr>
                      <m:t>=0</m:t>
                    </m:r>
                  </m:oMath>
                </a14:m>
                <a:r>
                  <a:rPr lang="en-GB" sz="2400" dirty="0">
                    <a:solidFill>
                      <a:prstClr val="black"/>
                    </a:solidFill>
                  </a:rPr>
                  <a:t> </a:t>
                </a:r>
                <a:r>
                  <a:rPr lang="ru-RU" sz="2400" dirty="0">
                    <a:solidFill>
                      <a:prstClr val="black"/>
                    </a:solidFill>
                  </a:rPr>
                  <a:t>и  </a:t>
                </a:r>
                <a14:m>
                  <m:oMath xmlns:m="http://schemas.openxmlformats.org/officeDocument/2006/math">
                    <m:r>
                      <a:rPr lang="ru-RU" sz="2400" i="1">
                        <a:solidFill>
                          <a:prstClr val="black"/>
                        </a:solidFill>
                        <a:latin typeface="Cambria Math" panose="02040503050406030204" pitchFamily="18" charset="0"/>
                        <a:ea typeface="Cambria Math" panose="02040503050406030204" pitchFamily="18" charset="0"/>
                      </a:rPr>
                      <m:t>𝜎</m:t>
                    </m:r>
                    <m:d>
                      <m:dPr>
                        <m:begChr m:val="{"/>
                        <m:endChr m:val="}"/>
                        <m:ctrlPr>
                          <a:rPr lang="ru-RU" sz="2400" i="1">
                            <a:solidFill>
                              <a:prstClr val="black"/>
                            </a:solidFill>
                            <a:latin typeface="Cambria Math" panose="02040503050406030204" pitchFamily="18" charset="0"/>
                            <a:ea typeface="Cambria Math" panose="02040503050406030204" pitchFamily="18" charset="0"/>
                          </a:rPr>
                        </m:ctrlPr>
                      </m:dPr>
                      <m:e>
                        <m:r>
                          <a:rPr lang="en-GB" sz="2400" i="1">
                            <a:solidFill>
                              <a:prstClr val="black"/>
                            </a:solidFill>
                            <a:latin typeface="Cambria Math" panose="02040503050406030204" pitchFamily="18" charset="0"/>
                            <a:ea typeface="Cambria Math" panose="02040503050406030204" pitchFamily="18" charset="0"/>
                          </a:rPr>
                          <m:t>𝑛</m:t>
                        </m:r>
                      </m:e>
                    </m:d>
                    <m:r>
                      <a:rPr lang="en-GB" sz="2400" i="1">
                        <a:solidFill>
                          <a:prstClr val="black"/>
                        </a:solidFill>
                        <a:latin typeface="Cambria Math" panose="02040503050406030204" pitchFamily="18" charset="0"/>
                        <a:ea typeface="Cambria Math" panose="02040503050406030204" pitchFamily="18" charset="0"/>
                      </a:rPr>
                      <m:t>&lt;∞</m:t>
                    </m:r>
                  </m:oMath>
                </a14:m>
                <a:r>
                  <a:rPr lang="ru-RU" sz="2400" dirty="0">
                    <a:solidFill>
                      <a:prstClr val="black"/>
                    </a:solidFill>
                  </a:rPr>
                  <a:t> , което означава, че за да се получи </a:t>
                </a:r>
                <a14:m>
                  <m:oMath xmlns:m="http://schemas.openxmlformats.org/officeDocument/2006/math">
                    <m:r>
                      <a:rPr lang="en-GB" sz="2400" i="1">
                        <a:solidFill>
                          <a:prstClr val="black"/>
                        </a:solidFill>
                        <a:latin typeface="Cambria Math" panose="02040503050406030204" pitchFamily="18" charset="0"/>
                      </a:rPr>
                      <m:t>h</m:t>
                    </m:r>
                    <m:d>
                      <m:dPr>
                        <m:ctrlPr>
                          <a:rPr lang="en-GB" sz="2400" i="1">
                            <a:solidFill>
                              <a:prstClr val="black"/>
                            </a:solidFill>
                            <a:latin typeface="Cambria Math" panose="02040503050406030204" pitchFamily="18" charset="0"/>
                          </a:rPr>
                        </m:ctrlPr>
                      </m:dPr>
                      <m:e>
                        <m:r>
                          <a:rPr lang="en-GB" sz="2400" i="1">
                            <a:solidFill>
                              <a:prstClr val="black"/>
                            </a:solidFill>
                            <a:latin typeface="Cambria Math" panose="02040503050406030204" pitchFamily="18" charset="0"/>
                          </a:rPr>
                          <m:t>𝑡</m:t>
                        </m:r>
                      </m:e>
                    </m:d>
                  </m:oMath>
                </a14:m>
                <a:r>
                  <a:rPr lang="ru-RU" sz="2400" dirty="0">
                    <a:solidFill>
                      <a:prstClr val="black"/>
                    </a:solidFill>
                  </a:rPr>
                  <a:t> е необходимо да се снемат не по-малко от 50 преходни функции и да се усреднят по множество. Вместо това, по-често на практика се прилагат инженерни методи за изглаждане, например метода на пълзящо средно и др.</a:t>
                </a:r>
              </a:p>
              <a:p>
                <a:pPr marL="0" lvl="0" indent="542925" algn="just">
                  <a:lnSpc>
                    <a:spcPct val="130000"/>
                  </a:lnSpc>
                  <a:spcBef>
                    <a:spcPts val="0"/>
                  </a:spcBef>
                  <a:buClr>
                    <a:srgbClr val="D34817">
                      <a:lumMod val="75000"/>
                    </a:srgbClr>
                  </a:buClr>
                  <a:buNone/>
                  <a:tabLst>
                    <a:tab pos="228600" algn="l"/>
                  </a:tabLst>
                </a:pPr>
                <a:r>
                  <a:rPr lang="ru-RU" sz="2400" dirty="0">
                    <a:solidFill>
                      <a:prstClr val="black"/>
                    </a:solidFill>
                  </a:rPr>
                  <a:t>Метода на пълзящото средно се състои в следното. Избира се четно число за L=2,4,6.. и се прилага формулата</a:t>
                </a:r>
                <a:endParaRPr lang="en-GB" sz="2400" dirty="0">
                  <a:solidFill>
                    <a:prstClr val="black"/>
                  </a:solidFill>
                </a:endParaRPr>
              </a:p>
              <a:p>
                <a:pPr marL="0" lvl="0" indent="542925" algn="just">
                  <a:lnSpc>
                    <a:spcPct val="130000"/>
                  </a:lnSpc>
                  <a:spcBef>
                    <a:spcPts val="0"/>
                  </a:spcBef>
                  <a:buClr>
                    <a:srgbClr val="D34817">
                      <a:lumMod val="75000"/>
                    </a:srgbClr>
                  </a:buClr>
                  <a:buNone/>
                  <a:tabLst>
                    <a:tab pos="228600" algn="l"/>
                  </a:tabLst>
                </a:pPr>
                <a:endParaRPr lang="en-GB" sz="2400" dirty="0">
                  <a:solidFill>
                    <a:prstClr val="black"/>
                  </a:solidFill>
                </a:endParaRPr>
              </a:p>
              <a:p>
                <a:pPr marL="0" lvl="0" indent="542925" algn="just">
                  <a:lnSpc>
                    <a:spcPct val="130000"/>
                  </a:lnSpc>
                  <a:spcBef>
                    <a:spcPts val="0"/>
                  </a:spcBef>
                  <a:buClr>
                    <a:srgbClr val="D34817">
                      <a:lumMod val="75000"/>
                    </a:srgbClr>
                  </a:buClr>
                  <a:buNone/>
                  <a:tabLst>
                    <a:tab pos="228600" algn="l"/>
                  </a:tabLst>
                </a:pPr>
                <a:endParaRPr lang="en-GB" sz="2400" dirty="0">
                  <a:solidFill>
                    <a:prstClr val="black"/>
                  </a:solidFill>
                </a:endParaRPr>
              </a:p>
              <a:p>
                <a:pPr marL="0" lvl="0" indent="542925" algn="just">
                  <a:lnSpc>
                    <a:spcPct val="130000"/>
                  </a:lnSpc>
                  <a:spcBef>
                    <a:spcPts val="0"/>
                  </a:spcBef>
                  <a:buClr>
                    <a:srgbClr val="D34817">
                      <a:lumMod val="75000"/>
                    </a:srgbClr>
                  </a:buClr>
                  <a:buNone/>
                  <a:tabLst>
                    <a:tab pos="228600" algn="l"/>
                  </a:tabLst>
                </a:pPr>
                <a:r>
                  <a:rPr lang="ru-RU" sz="2400" dirty="0">
                    <a:solidFill>
                      <a:prstClr val="black"/>
                    </a:solidFill>
                  </a:rPr>
                  <a:t>С прилагането на този алгоритъм в началото и в края ще отпаднат по  L/2 точки, което може да се компенсира с по-ранно започване и по- късно приключване на регистрацията на процесите. Ако след прилагане на алгоритъма изгладената крива има отново подобен вид, това е белег, че L следва да се увеличи. </a:t>
                </a:r>
              </a:p>
            </p:txBody>
          </p:sp>
        </mc:Choice>
        <mc:Fallback xmlns="">
          <p:sp>
            <p:nvSpPr>
              <p:cNvPr id="5" name="Content Placeholder 2"/>
              <p:cNvSpPr txBox="1">
                <a:spLocks noRot="1" noChangeAspect="1" noMove="1" noResize="1" noEditPoints="1" noAdjustHandles="1" noChangeArrowheads="1" noChangeShapeType="1" noTextEdit="1"/>
              </p:cNvSpPr>
              <p:nvPr/>
            </p:nvSpPr>
            <p:spPr>
              <a:xfrm>
                <a:off x="2032000" y="45718"/>
                <a:ext cx="10160000" cy="6812282"/>
              </a:xfrm>
              <a:prstGeom prst="rect">
                <a:avLst/>
              </a:prstGeom>
              <a:blipFill>
                <a:blip r:embed="rId4"/>
                <a:stretch>
                  <a:fillRect l="-900" r="-900" b="-358"/>
                </a:stretch>
              </a:blipFill>
            </p:spPr>
            <p:txBody>
              <a:bodyPr/>
              <a:lstStyle/>
              <a:p>
                <a:r>
                  <a:rPr lang="bg-BG">
                    <a:noFill/>
                  </a:rPr>
                  <a:t> </a:t>
                </a:r>
              </a:p>
            </p:txBody>
          </p:sp>
        </mc:Fallback>
      </mc:AlternateContent>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7" name="Object 6"/>
          <p:cNvGraphicFramePr>
            <a:graphicFrameLocks noChangeAspect="1"/>
          </p:cNvGraphicFramePr>
          <p:nvPr>
            <p:extLst>
              <p:ext uri="{D42A27DB-BD31-4B8C-83A1-F6EECF244321}">
                <p14:modId xmlns:p14="http://schemas.microsoft.com/office/powerpoint/2010/main" val="2962604470"/>
              </p:ext>
            </p:extLst>
          </p:nvPr>
        </p:nvGraphicFramePr>
        <p:xfrm>
          <a:off x="3617843" y="3498573"/>
          <a:ext cx="4681648" cy="895116"/>
        </p:xfrm>
        <a:graphic>
          <a:graphicData uri="http://schemas.openxmlformats.org/presentationml/2006/ole">
            <mc:AlternateContent xmlns:mc="http://schemas.openxmlformats.org/markup-compatibility/2006">
              <mc:Choice xmlns:v="urn:schemas-microsoft-com:vml" Requires="v">
                <p:oleObj name="Equation" r:id="rId5" imgW="2311400" imgH="444500" progId="Equation.3">
                  <p:embed/>
                </p:oleObj>
              </mc:Choice>
              <mc:Fallback>
                <p:oleObj name="Equation" r:id="rId5" imgW="2311400" imgH="44450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17843" y="3498573"/>
                        <a:ext cx="4681648" cy="895116"/>
                      </a:xfrm>
                      <a:prstGeom prst="rect">
                        <a:avLst/>
                      </a:prstGeom>
                      <a:noFill/>
                    </p:spPr>
                  </p:pic>
                </p:oleObj>
              </mc:Fallback>
            </mc:AlternateContent>
          </a:graphicData>
        </a:graphic>
      </p:graphicFrame>
    </p:spTree>
    <p:extLst>
      <p:ext uri="{BB962C8B-B14F-4D97-AF65-F5344CB8AC3E}">
        <p14:creationId xmlns:p14="http://schemas.microsoft.com/office/powerpoint/2010/main" val="5247210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27</a:t>
            </a:fld>
            <a:endParaRPr lang="bg-BG" dirty="0"/>
          </a:p>
        </p:txBody>
      </p:sp>
      <p:sp>
        <p:nvSpPr>
          <p:cNvPr id="5" name="Content Placeholder 2"/>
          <p:cNvSpPr txBox="1">
            <a:spLocks/>
          </p:cNvSpPr>
          <p:nvPr/>
        </p:nvSpPr>
        <p:spPr>
          <a:xfrm>
            <a:off x="2098842" y="449975"/>
            <a:ext cx="9867232" cy="4546560"/>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457200" algn="just">
              <a:buFont typeface="Wingdings" pitchFamily="2" charset="2"/>
              <a:buNone/>
            </a:pPr>
            <a:endParaRPr lang="bg-BG" sz="2200" dirty="0">
              <a:solidFill>
                <a:schemeClr val="tx1">
                  <a:lumMod val="95000"/>
                  <a:lumOff val="5000"/>
                </a:schemeClr>
              </a:solidFill>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mc:AlternateContent xmlns:mc="http://schemas.openxmlformats.org/markup-compatibility/2006" xmlns:a14="http://schemas.microsoft.com/office/drawing/2010/main">
        <mc:Choice Requires="a14">
          <p:sp>
            <p:nvSpPr>
              <p:cNvPr id="2" name="Rectangle 1"/>
              <p:cNvSpPr/>
              <p:nvPr/>
            </p:nvSpPr>
            <p:spPr>
              <a:xfrm>
                <a:off x="1934817" y="-2"/>
                <a:ext cx="10257183" cy="6814173"/>
              </a:xfrm>
              <a:prstGeom prst="rect">
                <a:avLst/>
              </a:prstGeom>
            </p:spPr>
            <p:txBody>
              <a:bodyPr wrap="square">
                <a:spAutoFit/>
              </a:bodyPr>
              <a:lstStyle/>
              <a:p>
                <a:pPr lvl="0" indent="542925" algn="just">
                  <a:lnSpc>
                    <a:spcPct val="130000"/>
                  </a:lnSpc>
                  <a:buClr>
                    <a:srgbClr val="D34817">
                      <a:lumMod val="75000"/>
                    </a:srgbClr>
                  </a:buClr>
                  <a:tabLst>
                    <a:tab pos="228600" algn="l"/>
                  </a:tabLst>
                </a:pPr>
                <a:r>
                  <a:rPr lang="ru-RU" sz="2400" dirty="0">
                    <a:solidFill>
                      <a:prstClr val="black"/>
                    </a:solidFill>
                  </a:rPr>
                  <a:t>Необходимо е да се има предвид, че много голямата стойност на L може да доведе до значително деформиране на </a:t>
                </a:r>
                <a14:m>
                  <m:oMath xmlns:m="http://schemas.openxmlformats.org/officeDocument/2006/math">
                    <m:r>
                      <a:rPr lang="en-GB" sz="2400" i="1">
                        <a:solidFill>
                          <a:prstClr val="black"/>
                        </a:solidFill>
                        <a:latin typeface="Cambria Math" panose="02040503050406030204" pitchFamily="18" charset="0"/>
                      </a:rPr>
                      <m:t>h</m:t>
                    </m:r>
                    <m:d>
                      <m:dPr>
                        <m:ctrlPr>
                          <a:rPr lang="en-GB" sz="2400" i="1">
                            <a:solidFill>
                              <a:prstClr val="black"/>
                            </a:solidFill>
                            <a:latin typeface="Cambria Math" panose="02040503050406030204" pitchFamily="18" charset="0"/>
                          </a:rPr>
                        </m:ctrlPr>
                      </m:dPr>
                      <m:e>
                        <m:r>
                          <a:rPr lang="en-GB" sz="2400" i="1">
                            <a:solidFill>
                              <a:prstClr val="black"/>
                            </a:solidFill>
                            <a:latin typeface="Cambria Math" panose="02040503050406030204" pitchFamily="18" charset="0"/>
                          </a:rPr>
                          <m:t>𝑡</m:t>
                        </m:r>
                      </m:e>
                    </m:d>
                  </m:oMath>
                </a14:m>
                <a:r>
                  <a:rPr lang="ru-RU" sz="2400" dirty="0">
                    <a:solidFill>
                      <a:prstClr val="black"/>
                    </a:solidFill>
                  </a:rPr>
                  <a:t> в началния участък, който е важен тъй като по него се отчита закъснението.</a:t>
                </a:r>
              </a:p>
              <a:p>
                <a:pPr lvl="0" indent="542925" algn="just">
                  <a:lnSpc>
                    <a:spcPct val="130000"/>
                  </a:lnSpc>
                  <a:buClr>
                    <a:srgbClr val="D34817">
                      <a:lumMod val="75000"/>
                    </a:srgbClr>
                  </a:buClr>
                  <a:tabLst>
                    <a:tab pos="228600" algn="l"/>
                  </a:tabLst>
                </a:pPr>
                <a:r>
                  <a:rPr lang="ru-RU" sz="2400" dirty="0">
                    <a:solidFill>
                      <a:prstClr val="black"/>
                    </a:solidFill>
                  </a:rPr>
                  <a:t>След тази първична обработка се получава преходна функция</a:t>
                </a:r>
                <a14:m>
                  <m:oMath xmlns:m="http://schemas.openxmlformats.org/officeDocument/2006/math">
                    <m:r>
                      <a:rPr lang="bg-BG" sz="2400" b="0" i="0" smtClean="0">
                        <a:solidFill>
                          <a:prstClr val="black"/>
                        </a:solidFill>
                        <a:latin typeface="Cambria Math" panose="02040503050406030204" pitchFamily="18" charset="0"/>
                      </a:rPr>
                      <m:t> </m:t>
                    </m:r>
                    <m:r>
                      <a:rPr lang="en-GB" sz="2400" i="1">
                        <a:solidFill>
                          <a:prstClr val="black"/>
                        </a:solidFill>
                        <a:latin typeface="Cambria Math" panose="02040503050406030204" pitchFamily="18" charset="0"/>
                      </a:rPr>
                      <m:t>h</m:t>
                    </m:r>
                    <m:d>
                      <m:dPr>
                        <m:ctrlPr>
                          <a:rPr lang="en-GB" sz="2400" i="1">
                            <a:solidFill>
                              <a:prstClr val="black"/>
                            </a:solidFill>
                            <a:latin typeface="Cambria Math" panose="02040503050406030204" pitchFamily="18" charset="0"/>
                          </a:rPr>
                        </m:ctrlPr>
                      </m:dPr>
                      <m:e>
                        <m:r>
                          <a:rPr lang="en-GB" sz="2400" i="1">
                            <a:solidFill>
                              <a:prstClr val="black"/>
                            </a:solidFill>
                            <a:latin typeface="Cambria Math" panose="02040503050406030204" pitchFamily="18" charset="0"/>
                          </a:rPr>
                          <m:t>𝑡</m:t>
                        </m:r>
                      </m:e>
                    </m:d>
                  </m:oMath>
                </a14:m>
                <a:r>
                  <a:rPr lang="ru-RU" sz="2400" dirty="0">
                    <a:solidFill>
                      <a:prstClr val="black"/>
                    </a:solidFill>
                  </a:rPr>
                  <a:t>, която характеризира динамичните свойства на обекта и може да послужи за вторична обработка на резултатите от експеримента (апроксимация).</a:t>
                </a:r>
              </a:p>
              <a:p>
                <a:pPr lvl="0" indent="542925" algn="just">
                  <a:lnSpc>
                    <a:spcPct val="130000"/>
                  </a:lnSpc>
                  <a:buClr>
                    <a:srgbClr val="D34817">
                      <a:lumMod val="75000"/>
                    </a:srgbClr>
                  </a:buClr>
                  <a:tabLst>
                    <a:tab pos="228600" algn="l"/>
                  </a:tabLst>
                </a:pPr>
                <a:r>
                  <a:rPr lang="ru-RU" sz="2400" i="1" dirty="0">
                    <a:solidFill>
                      <a:prstClr val="black"/>
                    </a:solidFill>
                  </a:rPr>
                  <a:t>Апроксимация на експериментални преходни характеристики</a:t>
                </a:r>
              </a:p>
              <a:p>
                <a:pPr lvl="0" indent="542925" algn="just">
                  <a:lnSpc>
                    <a:spcPct val="130000"/>
                  </a:lnSpc>
                  <a:buClr>
                    <a:srgbClr val="D34817">
                      <a:lumMod val="75000"/>
                    </a:srgbClr>
                  </a:buClr>
                  <a:tabLst>
                    <a:tab pos="228600" algn="l"/>
                  </a:tabLst>
                </a:pPr>
                <a:r>
                  <a:rPr lang="ru-RU" sz="2400" dirty="0">
                    <a:solidFill>
                      <a:prstClr val="black"/>
                    </a:solidFill>
                  </a:rPr>
                  <a:t>След приключване на първия етап от обработка на експериментално снетите преходни характеристики (усредняване и изглаждане) се получава една представителна характеристика </a:t>
                </a:r>
                <a14:m>
                  <m:oMath xmlns:m="http://schemas.openxmlformats.org/officeDocument/2006/math">
                    <m:r>
                      <a:rPr lang="en-GB" sz="2400" i="1">
                        <a:solidFill>
                          <a:prstClr val="black"/>
                        </a:solidFill>
                        <a:latin typeface="Cambria Math" panose="02040503050406030204" pitchFamily="18" charset="0"/>
                      </a:rPr>
                      <m:t>h</m:t>
                    </m:r>
                    <m:d>
                      <m:dPr>
                        <m:ctrlPr>
                          <a:rPr lang="en-GB" sz="2400" i="1">
                            <a:solidFill>
                              <a:prstClr val="black"/>
                            </a:solidFill>
                            <a:latin typeface="Cambria Math" panose="02040503050406030204" pitchFamily="18" charset="0"/>
                          </a:rPr>
                        </m:ctrlPr>
                      </m:dPr>
                      <m:e>
                        <m:r>
                          <a:rPr lang="en-GB" sz="2400" i="1">
                            <a:solidFill>
                              <a:prstClr val="black"/>
                            </a:solidFill>
                            <a:latin typeface="Cambria Math" panose="02040503050406030204" pitchFamily="18" charset="0"/>
                          </a:rPr>
                          <m:t>𝑡</m:t>
                        </m:r>
                      </m:e>
                    </m:d>
                  </m:oMath>
                </a14:m>
                <a:r>
                  <a:rPr lang="ru-RU" sz="2400" dirty="0">
                    <a:solidFill>
                      <a:prstClr val="black"/>
                    </a:solidFill>
                  </a:rPr>
                  <a:t>. Следващият етап наречен още “вторична обработката” се свежда до получаване на параметрите и структурата на модела, чрез прилагане на предварително избран метод за апроксимация. </a:t>
                </a:r>
              </a:p>
            </p:txBody>
          </p:sp>
        </mc:Choice>
        <mc:Fallback xmlns="">
          <p:sp>
            <p:nvSpPr>
              <p:cNvPr id="2" name="Rectangle 1"/>
              <p:cNvSpPr>
                <a:spLocks noRot="1" noChangeAspect="1" noMove="1" noResize="1" noEditPoints="1" noAdjustHandles="1" noChangeArrowheads="1" noChangeShapeType="1" noTextEdit="1"/>
              </p:cNvSpPr>
              <p:nvPr/>
            </p:nvSpPr>
            <p:spPr>
              <a:xfrm>
                <a:off x="1934817" y="-2"/>
                <a:ext cx="10257183" cy="6814173"/>
              </a:xfrm>
              <a:prstGeom prst="rect">
                <a:avLst/>
              </a:prstGeom>
              <a:blipFill>
                <a:blip r:embed="rId3"/>
                <a:stretch>
                  <a:fillRect l="-891" r="-951" b="-358"/>
                </a:stretch>
              </a:blipFill>
            </p:spPr>
            <p:txBody>
              <a:bodyPr/>
              <a:lstStyle/>
              <a:p>
                <a:r>
                  <a:rPr lang="en-GB">
                    <a:noFill/>
                  </a:rPr>
                  <a:t> </a:t>
                </a:r>
              </a:p>
            </p:txBody>
          </p:sp>
        </mc:Fallback>
      </mc:AlternateContent>
    </p:spTree>
    <p:extLst>
      <p:ext uri="{BB962C8B-B14F-4D97-AF65-F5344CB8AC3E}">
        <p14:creationId xmlns:p14="http://schemas.microsoft.com/office/powerpoint/2010/main" val="33572398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28</a:t>
            </a:fld>
            <a:endParaRPr lang="bg-BG" dirty="0"/>
          </a:p>
        </p:txBody>
      </p:sp>
      <p:sp>
        <p:nvSpPr>
          <p:cNvPr id="5" name="Content Placeholder 2"/>
          <p:cNvSpPr txBox="1">
            <a:spLocks/>
          </p:cNvSpPr>
          <p:nvPr/>
        </p:nvSpPr>
        <p:spPr>
          <a:xfrm>
            <a:off x="2098842" y="449975"/>
            <a:ext cx="9867232" cy="4546560"/>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457200" algn="just">
              <a:buFont typeface="Wingdings" pitchFamily="2" charset="2"/>
              <a:buNone/>
            </a:pPr>
            <a:endParaRPr lang="bg-BG" sz="2200" dirty="0">
              <a:solidFill>
                <a:schemeClr val="tx1">
                  <a:lumMod val="95000"/>
                  <a:lumOff val="5000"/>
                </a:schemeClr>
              </a:solidFill>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7" name="Rectangle 6"/>
          <p:cNvSpPr/>
          <p:nvPr/>
        </p:nvSpPr>
        <p:spPr>
          <a:xfrm>
            <a:off x="2032000" y="179409"/>
            <a:ext cx="9867232" cy="6814173"/>
          </a:xfrm>
          <a:prstGeom prst="rect">
            <a:avLst/>
          </a:prstGeom>
        </p:spPr>
        <p:txBody>
          <a:bodyPr wrap="square">
            <a:spAutoFit/>
          </a:bodyPr>
          <a:lstStyle/>
          <a:p>
            <a:pPr lvl="0" indent="542925" algn="just">
              <a:lnSpc>
                <a:spcPct val="130000"/>
              </a:lnSpc>
              <a:buClr>
                <a:srgbClr val="D34817">
                  <a:lumMod val="75000"/>
                </a:srgbClr>
              </a:buClr>
              <a:tabLst>
                <a:tab pos="228600" algn="l"/>
              </a:tabLst>
            </a:pPr>
            <a:r>
              <a:rPr lang="ru-RU" sz="2400" dirty="0">
                <a:solidFill>
                  <a:prstClr val="black"/>
                </a:solidFill>
              </a:rPr>
              <a:t>Практиката е показала, че много реални обекти се представят с достатъчна точност с математични модели от нисък ред (до трети), поради което обект на разглеждане са те. </a:t>
            </a:r>
          </a:p>
          <a:p>
            <a:pPr lvl="0" indent="542925" algn="just">
              <a:lnSpc>
                <a:spcPct val="130000"/>
              </a:lnSpc>
              <a:buClr>
                <a:srgbClr val="D34817">
                  <a:lumMod val="75000"/>
                </a:srgbClr>
              </a:buClr>
              <a:tabLst>
                <a:tab pos="228600" algn="l"/>
              </a:tabLst>
            </a:pPr>
            <a:r>
              <a:rPr lang="ru-RU" sz="2400" dirty="0">
                <a:solidFill>
                  <a:prstClr val="black"/>
                </a:solidFill>
              </a:rPr>
              <a:t>Методите за апроксимация на експериментално снети преходни характеристики могат да се разделят на две групи:</a:t>
            </a:r>
          </a:p>
          <a:p>
            <a:pPr marL="901700" lvl="0" indent="-457200" algn="just">
              <a:lnSpc>
                <a:spcPct val="130000"/>
              </a:lnSpc>
              <a:buClr>
                <a:srgbClr val="D34817">
                  <a:lumMod val="75000"/>
                </a:srgbClr>
              </a:buClr>
              <a:buFont typeface="+mj-lt"/>
              <a:buAutoNum type="alphaLcParenR"/>
              <a:tabLst>
                <a:tab pos="228600" algn="l"/>
              </a:tabLst>
            </a:pPr>
            <a:r>
              <a:rPr lang="ru-RU" sz="2400" dirty="0">
                <a:solidFill>
                  <a:prstClr val="black"/>
                </a:solidFill>
              </a:rPr>
              <a:t>методи за апроксимация с решение на типово диференциално уравнение;</a:t>
            </a:r>
          </a:p>
          <a:p>
            <a:pPr marL="901700" indent="-457200" algn="just">
              <a:lnSpc>
                <a:spcPct val="130000"/>
              </a:lnSpc>
              <a:buClr>
                <a:srgbClr val="D34817">
                  <a:lumMod val="75000"/>
                </a:srgbClr>
              </a:buClr>
              <a:buFont typeface="+mj-lt"/>
              <a:buAutoNum type="alphaLcParenR"/>
              <a:tabLst>
                <a:tab pos="228600" algn="l"/>
              </a:tabLst>
            </a:pPr>
            <a:r>
              <a:rPr lang="ru-RU" sz="2400" dirty="0">
                <a:solidFill>
                  <a:prstClr val="black"/>
                </a:solidFill>
              </a:rPr>
              <a:t>методи за апроксимация с решение на диференциално уравнение от неизвестен ред, който се определя в процеса на работа.</a:t>
            </a:r>
          </a:p>
          <a:p>
            <a:pPr indent="542925" algn="just">
              <a:lnSpc>
                <a:spcPct val="130000"/>
              </a:lnSpc>
              <a:buClr>
                <a:srgbClr val="D34817">
                  <a:lumMod val="75000"/>
                </a:srgbClr>
              </a:buClr>
              <a:tabLst>
                <a:tab pos="228600" algn="l"/>
              </a:tabLst>
            </a:pPr>
            <a:r>
              <a:rPr lang="bg-BG" sz="2400" b="1" dirty="0">
                <a:solidFill>
                  <a:prstClr val="black"/>
                </a:solidFill>
              </a:rPr>
              <a:t>Пример: </a:t>
            </a:r>
            <a:r>
              <a:rPr lang="bg-BG" sz="2400" dirty="0">
                <a:solidFill>
                  <a:prstClr val="black"/>
                </a:solidFill>
              </a:rPr>
              <a:t>Типови модели от първи ред и определяне на параметрите им</a:t>
            </a:r>
            <a:endParaRPr lang="en-GB" sz="2400" dirty="0">
              <a:solidFill>
                <a:prstClr val="black"/>
              </a:solidFill>
            </a:endParaRPr>
          </a:p>
          <a:p>
            <a:pPr marL="901700" indent="-457200" algn="just">
              <a:lnSpc>
                <a:spcPct val="130000"/>
              </a:lnSpc>
              <a:buClr>
                <a:srgbClr val="D34817">
                  <a:lumMod val="75000"/>
                </a:srgbClr>
              </a:buClr>
              <a:buFont typeface="+mj-lt"/>
              <a:buAutoNum type="alphaLcParenR"/>
              <a:tabLst>
                <a:tab pos="228600" algn="l"/>
              </a:tabLst>
            </a:pPr>
            <a:r>
              <a:rPr lang="ru-RU" sz="2400" dirty="0">
                <a:solidFill>
                  <a:prstClr val="black"/>
                </a:solidFill>
              </a:rPr>
              <a:t>Диференциално уравнение от първи ред има вида</a:t>
            </a:r>
          </a:p>
          <a:p>
            <a:pPr lvl="0" indent="542925" algn="just">
              <a:lnSpc>
                <a:spcPct val="130000"/>
              </a:lnSpc>
              <a:buClr>
                <a:srgbClr val="D34817">
                  <a:lumMod val="75000"/>
                </a:srgbClr>
              </a:buClr>
              <a:tabLst>
                <a:tab pos="228600" algn="l"/>
              </a:tabLst>
            </a:pPr>
            <a:r>
              <a:rPr lang="ru-RU" sz="2400" dirty="0">
                <a:solidFill>
                  <a:prstClr val="black"/>
                </a:solidFill>
              </a:rPr>
              <a:t>	 </a:t>
            </a:r>
          </a:p>
        </p:txBody>
      </p:sp>
      <p:sp>
        <p:nvSpPr>
          <p:cNvPr id="13"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15" name="Object 14"/>
          <p:cNvGraphicFramePr>
            <a:graphicFrameLocks noChangeAspect="1"/>
          </p:cNvGraphicFramePr>
          <p:nvPr>
            <p:extLst>
              <p:ext uri="{D42A27DB-BD31-4B8C-83A1-F6EECF244321}">
                <p14:modId xmlns:p14="http://schemas.microsoft.com/office/powerpoint/2010/main" val="4294322218"/>
              </p:ext>
            </p:extLst>
          </p:nvPr>
        </p:nvGraphicFramePr>
        <p:xfrm>
          <a:off x="4452730" y="6341165"/>
          <a:ext cx="2824458" cy="449975"/>
        </p:xfrm>
        <a:graphic>
          <a:graphicData uri="http://schemas.openxmlformats.org/presentationml/2006/ole">
            <mc:AlternateContent xmlns:mc="http://schemas.openxmlformats.org/markup-compatibility/2006">
              <mc:Choice xmlns:v="urn:schemas-microsoft-com:vml" Requires="v">
                <p:oleObj name="Equation" r:id="rId3" imgW="1295400" imgH="203200" progId="Equation.3">
                  <p:embed/>
                </p:oleObj>
              </mc:Choice>
              <mc:Fallback>
                <p:oleObj name="Equation" r:id="rId3" imgW="1295400" imgH="203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2730" y="6341165"/>
                        <a:ext cx="2824458" cy="449975"/>
                      </a:xfrm>
                      <a:prstGeom prst="rect">
                        <a:avLst/>
                      </a:prstGeom>
                      <a:noFill/>
                    </p:spPr>
                  </p:pic>
                </p:oleObj>
              </mc:Fallback>
            </mc:AlternateContent>
          </a:graphicData>
        </a:graphic>
      </p:graphicFrame>
    </p:spTree>
    <p:extLst>
      <p:ext uri="{BB962C8B-B14F-4D97-AF65-F5344CB8AC3E}">
        <p14:creationId xmlns:p14="http://schemas.microsoft.com/office/powerpoint/2010/main" val="30019200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29</a:t>
            </a:fld>
            <a:endParaRPr lang="bg-BG" dirty="0"/>
          </a:p>
        </p:txBody>
      </p:sp>
      <p:sp>
        <p:nvSpPr>
          <p:cNvPr id="5" name="Content Placeholder 2"/>
          <p:cNvSpPr txBox="1">
            <a:spLocks/>
          </p:cNvSpPr>
          <p:nvPr/>
        </p:nvSpPr>
        <p:spPr>
          <a:xfrm>
            <a:off x="2098842" y="449975"/>
            <a:ext cx="9867232" cy="4546560"/>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457200" algn="just">
              <a:buFont typeface="Wingdings" pitchFamily="2" charset="2"/>
              <a:buNone/>
            </a:pPr>
            <a:endParaRPr lang="bg-BG" sz="2200" dirty="0">
              <a:solidFill>
                <a:schemeClr val="tx1">
                  <a:lumMod val="95000"/>
                  <a:lumOff val="5000"/>
                </a:schemeClr>
              </a:solidFill>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mc:AlternateContent xmlns:mc="http://schemas.openxmlformats.org/markup-compatibility/2006" xmlns:a14="http://schemas.microsoft.com/office/drawing/2010/main">
        <mc:Choice Requires="a14">
          <p:sp>
            <p:nvSpPr>
              <p:cNvPr id="2" name="Rectangle 1"/>
              <p:cNvSpPr/>
              <p:nvPr/>
            </p:nvSpPr>
            <p:spPr>
              <a:xfrm>
                <a:off x="1470990" y="45718"/>
                <a:ext cx="10721009" cy="6814173"/>
              </a:xfrm>
              <a:prstGeom prst="rect">
                <a:avLst/>
              </a:prstGeom>
            </p:spPr>
            <p:txBody>
              <a:bodyPr wrap="square">
                <a:spAutoFit/>
              </a:bodyPr>
              <a:lstStyle/>
              <a:p>
                <a:pPr lvl="0" algn="just">
                  <a:lnSpc>
                    <a:spcPct val="130000"/>
                  </a:lnSpc>
                  <a:buClr>
                    <a:srgbClr val="D34817">
                      <a:lumMod val="75000"/>
                    </a:srgbClr>
                  </a:buClr>
                  <a:tabLst>
                    <a:tab pos="228600" algn="l"/>
                  </a:tabLst>
                </a:pPr>
                <a:r>
                  <a:rPr lang="ru-RU" sz="2400" dirty="0">
                    <a:solidFill>
                      <a:prstClr val="black"/>
                    </a:solidFill>
                  </a:rPr>
                  <a:t>откъдето при нулеви начални условия се получава предавателната функция </a:t>
                </a:r>
              </a:p>
              <a:p>
                <a:pPr lvl="0" indent="542925" algn="just">
                  <a:lnSpc>
                    <a:spcPct val="130000"/>
                  </a:lnSpc>
                  <a:buClr>
                    <a:srgbClr val="D34817">
                      <a:lumMod val="75000"/>
                    </a:srgbClr>
                  </a:buClr>
                  <a:tabLst>
                    <a:tab pos="228600" algn="l"/>
                  </a:tabLst>
                </a:pPr>
                <a:endParaRPr lang="ru-RU" sz="2400" dirty="0">
                  <a:solidFill>
                    <a:prstClr val="black"/>
                  </a:solidFill>
                </a:endParaRPr>
              </a:p>
              <a:p>
                <a:pPr lvl="0" algn="just">
                  <a:lnSpc>
                    <a:spcPct val="130000"/>
                  </a:lnSpc>
                  <a:buClr>
                    <a:srgbClr val="D34817">
                      <a:lumMod val="75000"/>
                    </a:srgbClr>
                  </a:buClr>
                  <a:tabLst>
                    <a:tab pos="228600" algn="l"/>
                  </a:tabLst>
                </a:pPr>
                <a:r>
                  <a:rPr lang="ru-RU" sz="2400" dirty="0">
                    <a:solidFill>
                      <a:prstClr val="black"/>
                    </a:solidFill>
                  </a:rPr>
                  <a:t>и преходната характеристика, при </a:t>
                </a:r>
                <a14:m>
                  <m:oMath xmlns:m="http://schemas.openxmlformats.org/officeDocument/2006/math">
                    <m:r>
                      <a:rPr lang="en-GB" sz="2400" b="0" i="1" smtClean="0">
                        <a:solidFill>
                          <a:prstClr val="black"/>
                        </a:solidFill>
                        <a:latin typeface="Cambria Math" panose="02040503050406030204" pitchFamily="18" charset="0"/>
                      </a:rPr>
                      <m:t>𝑢</m:t>
                    </m:r>
                    <m:d>
                      <m:dPr>
                        <m:ctrlPr>
                          <a:rPr lang="en-GB" sz="2400" b="0" i="1" smtClean="0">
                            <a:solidFill>
                              <a:prstClr val="black"/>
                            </a:solidFill>
                            <a:latin typeface="Cambria Math" panose="02040503050406030204" pitchFamily="18" charset="0"/>
                          </a:rPr>
                        </m:ctrlPr>
                      </m:dPr>
                      <m:e>
                        <m:r>
                          <a:rPr lang="en-GB" sz="2400" b="0" i="1" smtClean="0">
                            <a:solidFill>
                              <a:prstClr val="black"/>
                            </a:solidFill>
                            <a:latin typeface="Cambria Math" panose="02040503050406030204" pitchFamily="18" charset="0"/>
                          </a:rPr>
                          <m:t>𝑡</m:t>
                        </m:r>
                      </m:e>
                    </m:d>
                    <m:r>
                      <a:rPr lang="en-GB" sz="2400" b="0" i="1" smtClean="0">
                        <a:solidFill>
                          <a:prstClr val="black"/>
                        </a:solidFill>
                        <a:latin typeface="Cambria Math" panose="02040503050406030204" pitchFamily="18" charset="0"/>
                      </a:rPr>
                      <m:t>=1</m:t>
                    </m:r>
                    <m:d>
                      <m:dPr>
                        <m:ctrlPr>
                          <a:rPr lang="en-GB" sz="2400" b="0" i="1" smtClean="0">
                            <a:solidFill>
                              <a:prstClr val="black"/>
                            </a:solidFill>
                            <a:latin typeface="Cambria Math" panose="02040503050406030204" pitchFamily="18" charset="0"/>
                          </a:rPr>
                        </m:ctrlPr>
                      </m:dPr>
                      <m:e>
                        <m:r>
                          <a:rPr lang="en-GB" sz="2400" b="0" i="1" smtClean="0">
                            <a:solidFill>
                              <a:prstClr val="black"/>
                            </a:solidFill>
                            <a:latin typeface="Cambria Math" panose="02040503050406030204" pitchFamily="18" charset="0"/>
                          </a:rPr>
                          <m:t>𝑡</m:t>
                        </m:r>
                      </m:e>
                    </m:d>
                  </m:oMath>
                </a14:m>
                <a:endParaRPr lang="en-GB" sz="2400" b="0" dirty="0">
                  <a:solidFill>
                    <a:prstClr val="black"/>
                  </a:solidFill>
                </a:endParaRPr>
              </a:p>
              <a:p>
                <a:pPr lvl="0" indent="542925" algn="just">
                  <a:lnSpc>
                    <a:spcPct val="130000"/>
                  </a:lnSpc>
                  <a:buClr>
                    <a:srgbClr val="D34817">
                      <a:lumMod val="75000"/>
                    </a:srgbClr>
                  </a:buClr>
                  <a:tabLst>
                    <a:tab pos="228600" algn="l"/>
                  </a:tabLst>
                </a:pPr>
                <a:endParaRPr lang="en-GB" sz="2400" dirty="0">
                  <a:solidFill>
                    <a:prstClr val="black"/>
                  </a:solidFill>
                </a:endParaRPr>
              </a:p>
              <a:p>
                <a:pPr marL="901700" lvl="0" indent="-457200" algn="just">
                  <a:lnSpc>
                    <a:spcPct val="130000"/>
                  </a:lnSpc>
                  <a:buClr>
                    <a:srgbClr val="D34817">
                      <a:lumMod val="75000"/>
                    </a:srgbClr>
                  </a:buClr>
                  <a:buFont typeface="+mj-lt"/>
                  <a:buAutoNum type="alphaLcParenR" startAt="2"/>
                  <a:tabLst>
                    <a:tab pos="228600" algn="l"/>
                  </a:tabLst>
                </a:pPr>
                <a:r>
                  <a:rPr lang="ru-RU" sz="2400" dirty="0">
                    <a:solidFill>
                      <a:prstClr val="black"/>
                    </a:solidFill>
                  </a:rPr>
                  <a:t>Модел от първи ред със закъсняваща дясна част</a:t>
                </a:r>
              </a:p>
              <a:p>
                <a:pPr marL="444500" lvl="0" algn="just">
                  <a:lnSpc>
                    <a:spcPct val="130000"/>
                  </a:lnSpc>
                  <a:buClr>
                    <a:srgbClr val="D34817">
                      <a:lumMod val="75000"/>
                    </a:srgbClr>
                  </a:buClr>
                  <a:tabLst>
                    <a:tab pos="228600" algn="l"/>
                  </a:tabLst>
                </a:pPr>
                <a:r>
                  <a:rPr lang="en-GB" sz="2400" dirty="0">
                    <a:solidFill>
                      <a:prstClr val="black"/>
                    </a:solidFill>
                  </a:rPr>
                  <a:t>				</a:t>
                </a:r>
                <a:r>
                  <a:rPr lang="ru-RU" sz="2400" dirty="0">
                    <a:solidFill>
                      <a:prstClr val="black"/>
                    </a:solidFill>
                  </a:rPr>
                  <a:t> ,</a:t>
                </a:r>
              </a:p>
              <a:p>
                <a:pPr lvl="0" indent="542925" algn="just">
                  <a:lnSpc>
                    <a:spcPct val="130000"/>
                  </a:lnSpc>
                  <a:buClr>
                    <a:srgbClr val="D34817">
                      <a:lumMod val="75000"/>
                    </a:srgbClr>
                  </a:buClr>
                  <a:tabLst>
                    <a:tab pos="228600" algn="l"/>
                  </a:tabLst>
                </a:pPr>
                <a:r>
                  <a:rPr lang="ru-RU" sz="2400" dirty="0">
                    <a:solidFill>
                      <a:prstClr val="black"/>
                    </a:solidFill>
                  </a:rPr>
                  <a:t>откъдето за </a:t>
                </a:r>
                <a14:m>
                  <m:oMath xmlns:m="http://schemas.openxmlformats.org/officeDocument/2006/math">
                    <m:r>
                      <a:rPr lang="en-GB" sz="2400" b="0" i="1" dirty="0" smtClean="0">
                        <a:solidFill>
                          <a:prstClr val="black"/>
                        </a:solidFill>
                        <a:latin typeface="Cambria Math" panose="02040503050406030204" pitchFamily="18" charset="0"/>
                      </a:rPr>
                      <m:t>𝑊</m:t>
                    </m:r>
                    <m:d>
                      <m:dPr>
                        <m:ctrlPr>
                          <a:rPr lang="en-GB" sz="2400" b="0" i="1" dirty="0" smtClean="0">
                            <a:solidFill>
                              <a:prstClr val="black"/>
                            </a:solidFill>
                            <a:latin typeface="Cambria Math" panose="02040503050406030204" pitchFamily="18" charset="0"/>
                          </a:rPr>
                        </m:ctrlPr>
                      </m:dPr>
                      <m:e>
                        <m:r>
                          <a:rPr lang="en-GB" sz="2400" b="0" i="1" dirty="0" smtClean="0">
                            <a:solidFill>
                              <a:prstClr val="black"/>
                            </a:solidFill>
                            <a:latin typeface="Cambria Math" panose="02040503050406030204" pitchFamily="18" charset="0"/>
                          </a:rPr>
                          <m:t>𝑝</m:t>
                        </m:r>
                      </m:e>
                    </m:d>
                    <m:r>
                      <a:rPr lang="en-GB" sz="2400" b="0" i="1" dirty="0" smtClean="0">
                        <a:solidFill>
                          <a:prstClr val="black"/>
                        </a:solidFill>
                        <a:latin typeface="Cambria Math" panose="02040503050406030204" pitchFamily="18" charset="0"/>
                      </a:rPr>
                      <m:t> </m:t>
                    </m:r>
                  </m:oMath>
                </a14:m>
                <a:r>
                  <a:rPr lang="ru-RU" sz="2400" dirty="0">
                    <a:solidFill>
                      <a:prstClr val="black"/>
                    </a:solidFill>
                  </a:rPr>
                  <a:t>и </a:t>
                </a:r>
                <a14:m>
                  <m:oMath xmlns:m="http://schemas.openxmlformats.org/officeDocument/2006/math">
                    <m:r>
                      <a:rPr lang="en-GB" sz="2400" i="1">
                        <a:solidFill>
                          <a:prstClr val="black"/>
                        </a:solidFill>
                        <a:latin typeface="Cambria Math" panose="02040503050406030204" pitchFamily="18" charset="0"/>
                      </a:rPr>
                      <m:t>h</m:t>
                    </m:r>
                    <m:d>
                      <m:dPr>
                        <m:ctrlPr>
                          <a:rPr lang="en-GB" sz="2400" i="1">
                            <a:solidFill>
                              <a:prstClr val="black"/>
                            </a:solidFill>
                            <a:latin typeface="Cambria Math" panose="02040503050406030204" pitchFamily="18" charset="0"/>
                          </a:rPr>
                        </m:ctrlPr>
                      </m:dPr>
                      <m:e>
                        <m:r>
                          <a:rPr lang="en-GB" sz="2400" i="1">
                            <a:solidFill>
                              <a:prstClr val="black"/>
                            </a:solidFill>
                            <a:latin typeface="Cambria Math" panose="02040503050406030204" pitchFamily="18" charset="0"/>
                          </a:rPr>
                          <m:t>𝑡</m:t>
                        </m:r>
                      </m:e>
                    </m:d>
                  </m:oMath>
                </a14:m>
                <a:r>
                  <a:rPr lang="en-GB" sz="2400" dirty="0">
                    <a:solidFill>
                      <a:prstClr val="black"/>
                    </a:solidFill>
                  </a:rPr>
                  <a:t> </a:t>
                </a:r>
                <a:r>
                  <a:rPr lang="ru-RU" sz="2400" dirty="0">
                    <a:solidFill>
                      <a:prstClr val="black"/>
                    </a:solidFill>
                  </a:rPr>
                  <a:t>следват изразите</a:t>
                </a:r>
                <a:endParaRPr lang="en-GB" sz="2400" dirty="0">
                  <a:solidFill>
                    <a:prstClr val="black"/>
                  </a:solidFill>
                </a:endParaRPr>
              </a:p>
              <a:p>
                <a:pPr lvl="0" indent="542925" algn="just">
                  <a:lnSpc>
                    <a:spcPct val="130000"/>
                  </a:lnSpc>
                  <a:buClr>
                    <a:srgbClr val="D34817">
                      <a:lumMod val="75000"/>
                    </a:srgbClr>
                  </a:buClr>
                  <a:tabLst>
                    <a:tab pos="228600" algn="l"/>
                  </a:tabLst>
                </a:pPr>
                <a:endParaRPr lang="en-GB" sz="2400" dirty="0">
                  <a:solidFill>
                    <a:prstClr val="black"/>
                  </a:solidFill>
                </a:endParaRPr>
              </a:p>
              <a:p>
                <a:pPr lvl="0" indent="542925" algn="just">
                  <a:lnSpc>
                    <a:spcPct val="130000"/>
                  </a:lnSpc>
                  <a:buClr>
                    <a:srgbClr val="D34817">
                      <a:lumMod val="75000"/>
                    </a:srgbClr>
                  </a:buClr>
                  <a:tabLst>
                    <a:tab pos="228600" algn="l"/>
                  </a:tabLst>
                </a:pPr>
                <a:endParaRPr lang="en-GB" sz="2400" dirty="0">
                  <a:solidFill>
                    <a:prstClr val="black"/>
                  </a:solidFill>
                </a:endParaRPr>
              </a:p>
              <a:p>
                <a:pPr indent="542925" algn="just">
                  <a:lnSpc>
                    <a:spcPct val="130000"/>
                  </a:lnSpc>
                  <a:buClr>
                    <a:srgbClr val="D34817">
                      <a:lumMod val="75000"/>
                    </a:srgbClr>
                  </a:buClr>
                  <a:tabLst>
                    <a:tab pos="228600" algn="l"/>
                  </a:tabLst>
                </a:pPr>
                <a:r>
                  <a:rPr lang="bg-BG" sz="2400" dirty="0">
                    <a:solidFill>
                      <a:prstClr val="black"/>
                    </a:solidFill>
                  </a:rPr>
                  <a:t>В тези модели К е коефициент на усилване, Т времеконстанта и </a:t>
                </a:r>
                <a:r>
                  <a:rPr lang="bg-BG" sz="2400" dirty="0">
                    <a:solidFill>
                      <a:prstClr val="black"/>
                    </a:solidFill>
                    <a:sym typeface="Symbol" panose="05050102010706020507" pitchFamily="18" charset="2"/>
                  </a:rPr>
                  <a:t></a:t>
                </a:r>
                <a:r>
                  <a:rPr lang="bg-BG" sz="2400" dirty="0">
                    <a:solidFill>
                      <a:prstClr val="black"/>
                    </a:solidFill>
                  </a:rPr>
                  <a:t> закъснение. Първият модел съответствува на инерционно звено от първи ред, а вторият - на последователно съединени инерционно звено и звено със закъснение. </a:t>
                </a:r>
                <a:endParaRPr lang="ru-RU" sz="2400" dirty="0">
                  <a:solidFill>
                    <a:prstClr val="black"/>
                  </a:solidFill>
                </a:endParaRPr>
              </a:p>
            </p:txBody>
          </p:sp>
        </mc:Choice>
        <mc:Fallback xmlns="">
          <p:sp>
            <p:nvSpPr>
              <p:cNvPr id="2" name="Rectangle 1"/>
              <p:cNvSpPr>
                <a:spLocks noRot="1" noChangeAspect="1" noMove="1" noResize="1" noEditPoints="1" noAdjustHandles="1" noChangeArrowheads="1" noChangeShapeType="1" noTextEdit="1"/>
              </p:cNvSpPr>
              <p:nvPr/>
            </p:nvSpPr>
            <p:spPr>
              <a:xfrm>
                <a:off x="1470990" y="45718"/>
                <a:ext cx="10721009" cy="6814173"/>
              </a:xfrm>
              <a:prstGeom prst="rect">
                <a:avLst/>
              </a:prstGeom>
              <a:blipFill>
                <a:blip r:embed="rId4"/>
                <a:stretch>
                  <a:fillRect l="-853" r="-910" b="-358"/>
                </a:stretch>
              </a:blipFill>
            </p:spPr>
            <p:txBody>
              <a:bodyPr/>
              <a:lstStyle/>
              <a:p>
                <a:r>
                  <a:rPr lang="en-GB">
                    <a:noFill/>
                  </a:rPr>
                  <a:t> </a:t>
                </a:r>
              </a:p>
            </p:txBody>
          </p:sp>
        </mc:Fallback>
      </mc:AlternateContent>
      <p:sp>
        <p:nvSpPr>
          <p:cNvPr id="7"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8" name="Object 7"/>
          <p:cNvGraphicFramePr>
            <a:graphicFrameLocks noChangeAspect="1"/>
          </p:cNvGraphicFramePr>
          <p:nvPr>
            <p:extLst>
              <p:ext uri="{D42A27DB-BD31-4B8C-83A1-F6EECF244321}">
                <p14:modId xmlns:p14="http://schemas.microsoft.com/office/powerpoint/2010/main" val="2152381037"/>
              </p:ext>
            </p:extLst>
          </p:nvPr>
        </p:nvGraphicFramePr>
        <p:xfrm>
          <a:off x="4168189" y="772429"/>
          <a:ext cx="1742282" cy="784919"/>
        </p:xfrm>
        <a:graphic>
          <a:graphicData uri="http://schemas.openxmlformats.org/presentationml/2006/ole">
            <mc:AlternateContent xmlns:mc="http://schemas.openxmlformats.org/markup-compatibility/2006">
              <mc:Choice xmlns:v="urn:schemas-microsoft-com:vml" Requires="v">
                <p:oleObj name="Equation" r:id="rId5" imgW="927100" imgH="419100" progId="Equation.3">
                  <p:embed/>
                </p:oleObj>
              </mc:Choice>
              <mc:Fallback>
                <p:oleObj name="Equation" r:id="rId5" imgW="927100" imgH="41910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68189" y="772429"/>
                        <a:ext cx="1742282" cy="784919"/>
                      </a:xfrm>
                      <a:prstGeom prst="rect">
                        <a:avLst/>
                      </a:prstGeom>
                      <a:noFill/>
                    </p:spPr>
                  </p:pic>
                </p:oleObj>
              </mc:Fallback>
            </mc:AlternateContent>
          </a:graphicData>
        </a:graphic>
      </p:graphicFrame>
      <p:sp>
        <p:nvSpPr>
          <p:cNvPr id="9"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11" name="Object 10"/>
          <p:cNvGraphicFramePr>
            <a:graphicFrameLocks noChangeAspect="1"/>
          </p:cNvGraphicFramePr>
          <p:nvPr>
            <p:extLst>
              <p:ext uri="{D42A27DB-BD31-4B8C-83A1-F6EECF244321}">
                <p14:modId xmlns:p14="http://schemas.microsoft.com/office/powerpoint/2010/main" val="2056220898"/>
              </p:ext>
            </p:extLst>
          </p:nvPr>
        </p:nvGraphicFramePr>
        <p:xfrm>
          <a:off x="4023849" y="1919527"/>
          <a:ext cx="1886621" cy="885557"/>
        </p:xfrm>
        <a:graphic>
          <a:graphicData uri="http://schemas.openxmlformats.org/presentationml/2006/ole">
            <mc:AlternateContent xmlns:mc="http://schemas.openxmlformats.org/markup-compatibility/2006">
              <mc:Choice xmlns:v="urn:schemas-microsoft-com:vml" Requires="v">
                <p:oleObj name="Equation" r:id="rId7" imgW="1091726" imgH="507780" progId="Equation.3">
                  <p:embed/>
                </p:oleObj>
              </mc:Choice>
              <mc:Fallback>
                <p:oleObj name="Equation" r:id="rId7" imgW="1091726" imgH="50778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23849" y="1919527"/>
                        <a:ext cx="1886621" cy="885557"/>
                      </a:xfrm>
                      <a:prstGeom prst="rect">
                        <a:avLst/>
                      </a:prstGeom>
                      <a:noFill/>
                    </p:spPr>
                  </p:pic>
                </p:oleObj>
              </mc:Fallback>
            </mc:AlternateContent>
          </a:graphicData>
        </a:graphic>
      </p:graphicFrame>
      <p:sp>
        <p:nvSpPr>
          <p:cNvPr id="24" name="Rectangle 1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25" name="Object 24"/>
          <p:cNvGraphicFramePr>
            <a:graphicFrameLocks noChangeAspect="1"/>
          </p:cNvGraphicFramePr>
          <p:nvPr>
            <p:extLst>
              <p:ext uri="{D42A27DB-BD31-4B8C-83A1-F6EECF244321}">
                <p14:modId xmlns:p14="http://schemas.microsoft.com/office/powerpoint/2010/main" val="3542293540"/>
              </p:ext>
            </p:extLst>
          </p:nvPr>
        </p:nvGraphicFramePr>
        <p:xfrm>
          <a:off x="3379306" y="2899006"/>
          <a:ext cx="4261086" cy="583096"/>
        </p:xfrm>
        <a:graphic>
          <a:graphicData uri="http://schemas.openxmlformats.org/presentationml/2006/ole">
            <mc:AlternateContent xmlns:mc="http://schemas.openxmlformats.org/markup-compatibility/2006">
              <mc:Choice xmlns:v="urn:schemas-microsoft-com:vml" Requires="v">
                <p:oleObj name="Equation" r:id="rId9" imgW="1511300" imgH="203200" progId="Equation.3">
                  <p:embed/>
                </p:oleObj>
              </mc:Choice>
              <mc:Fallback>
                <p:oleObj name="Equation" r:id="rId9" imgW="1511300" imgH="203200"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79306" y="2899006"/>
                        <a:ext cx="4261086" cy="583096"/>
                      </a:xfrm>
                      <a:prstGeom prst="rect">
                        <a:avLst/>
                      </a:prstGeom>
                      <a:noFill/>
                    </p:spPr>
                  </p:pic>
                </p:oleObj>
              </mc:Fallback>
            </mc:AlternateContent>
          </a:graphicData>
        </a:graphic>
      </p:graphicFrame>
      <p:sp>
        <p:nvSpPr>
          <p:cNvPr id="26" name="Rectangle 1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27" name="Object 26"/>
          <p:cNvGraphicFramePr>
            <a:graphicFrameLocks noChangeAspect="1"/>
          </p:cNvGraphicFramePr>
          <p:nvPr>
            <p:extLst>
              <p:ext uri="{D42A27DB-BD31-4B8C-83A1-F6EECF244321}">
                <p14:modId xmlns:p14="http://schemas.microsoft.com/office/powerpoint/2010/main" val="2054039932"/>
              </p:ext>
            </p:extLst>
          </p:nvPr>
        </p:nvGraphicFramePr>
        <p:xfrm>
          <a:off x="2916598" y="3836302"/>
          <a:ext cx="2122732" cy="967409"/>
        </p:xfrm>
        <a:graphic>
          <a:graphicData uri="http://schemas.openxmlformats.org/presentationml/2006/ole">
            <mc:AlternateContent xmlns:mc="http://schemas.openxmlformats.org/markup-compatibility/2006">
              <mc:Choice xmlns:v="urn:schemas-microsoft-com:vml" Requires="v">
                <p:oleObj name="Equation" r:id="rId11" imgW="965200" imgH="444500" progId="Equation.3">
                  <p:embed/>
                </p:oleObj>
              </mc:Choice>
              <mc:Fallback>
                <p:oleObj name="Equation" r:id="rId11" imgW="965200" imgH="444500" progId="Equation.3">
                  <p:embed/>
                  <p:pic>
                    <p:nvPicPr>
                      <p:cNvPr id="0"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16598" y="3836302"/>
                        <a:ext cx="2122732" cy="967409"/>
                      </a:xfrm>
                      <a:prstGeom prst="rect">
                        <a:avLst/>
                      </a:prstGeom>
                      <a:noFill/>
                    </p:spPr>
                  </p:pic>
                </p:oleObj>
              </mc:Fallback>
            </mc:AlternateContent>
          </a:graphicData>
        </a:graphic>
      </p:graphicFrame>
      <p:sp>
        <p:nvSpPr>
          <p:cNvPr id="28" name="Rectangle 1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graphicFrame>
        <p:nvGraphicFramePr>
          <p:cNvPr id="29" name="Object 28"/>
          <p:cNvGraphicFramePr>
            <a:graphicFrameLocks noChangeAspect="1"/>
          </p:cNvGraphicFramePr>
          <p:nvPr>
            <p:extLst>
              <p:ext uri="{D42A27DB-BD31-4B8C-83A1-F6EECF244321}">
                <p14:modId xmlns:p14="http://schemas.microsoft.com/office/powerpoint/2010/main" val="2804890058"/>
              </p:ext>
            </p:extLst>
          </p:nvPr>
        </p:nvGraphicFramePr>
        <p:xfrm>
          <a:off x="5910470" y="3743694"/>
          <a:ext cx="3827195" cy="1299802"/>
        </p:xfrm>
        <a:graphic>
          <a:graphicData uri="http://schemas.openxmlformats.org/presentationml/2006/ole">
            <mc:AlternateContent xmlns:mc="http://schemas.openxmlformats.org/markup-compatibility/2006">
              <mc:Choice xmlns:v="urn:schemas-microsoft-com:vml" Requires="v">
                <p:oleObj name="Equation" r:id="rId13" imgW="2019300" imgH="685800" progId="Equation.3">
                  <p:embed/>
                </p:oleObj>
              </mc:Choice>
              <mc:Fallback>
                <p:oleObj name="Equation" r:id="rId13" imgW="2019300" imgH="685800" progId="Equation.3">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910470" y="3743694"/>
                        <a:ext cx="3827195" cy="1299802"/>
                      </a:xfrm>
                      <a:prstGeom prst="rect">
                        <a:avLst/>
                      </a:prstGeom>
                      <a:noFill/>
                    </p:spPr>
                  </p:pic>
                </p:oleObj>
              </mc:Fallback>
            </mc:AlternateContent>
          </a:graphicData>
        </a:graphic>
      </p:graphicFrame>
    </p:spTree>
    <p:extLst>
      <p:ext uri="{BB962C8B-B14F-4D97-AF65-F5344CB8AC3E}">
        <p14:creationId xmlns:p14="http://schemas.microsoft.com/office/powerpoint/2010/main" val="37992226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30</a:t>
            </a:fld>
            <a:endParaRPr lang="bg-BG" dirty="0"/>
          </a:p>
        </p:txBody>
      </p:sp>
      <p:sp>
        <p:nvSpPr>
          <p:cNvPr id="5" name="Content Placeholder 2"/>
          <p:cNvSpPr txBox="1">
            <a:spLocks/>
          </p:cNvSpPr>
          <p:nvPr/>
        </p:nvSpPr>
        <p:spPr>
          <a:xfrm>
            <a:off x="2098842" y="449975"/>
            <a:ext cx="9867232" cy="4546560"/>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457200" algn="just">
              <a:buFont typeface="Wingdings" pitchFamily="2" charset="2"/>
              <a:buNone/>
            </a:pPr>
            <a:endParaRPr lang="bg-BG" sz="2200" dirty="0">
              <a:solidFill>
                <a:schemeClr val="tx1">
                  <a:lumMod val="95000"/>
                  <a:lumOff val="5000"/>
                </a:schemeClr>
              </a:solidFill>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 name="Rectangle 1"/>
          <p:cNvSpPr/>
          <p:nvPr/>
        </p:nvSpPr>
        <p:spPr>
          <a:xfrm>
            <a:off x="2098842" y="442684"/>
            <a:ext cx="9872869" cy="4413516"/>
          </a:xfrm>
          <a:prstGeom prst="rect">
            <a:avLst/>
          </a:prstGeom>
        </p:spPr>
        <p:txBody>
          <a:bodyPr wrap="square">
            <a:spAutoFit/>
          </a:bodyPr>
          <a:lstStyle/>
          <a:p>
            <a:pPr marR="36195" algn="ctr">
              <a:lnSpc>
                <a:spcPct val="130000"/>
              </a:lnSpc>
              <a:spcAft>
                <a:spcPts val="0"/>
              </a:spcAft>
              <a:buClr>
                <a:srgbClr val="D34817">
                  <a:lumMod val="75000"/>
                </a:srgbClr>
              </a:buClr>
              <a:tabLst>
                <a:tab pos="228600" algn="l"/>
              </a:tabLst>
            </a:pPr>
            <a:r>
              <a:rPr lang="bg-BG" sz="2400" b="1" i="1" dirty="0">
                <a:solidFill>
                  <a:prstClr val="black"/>
                </a:solidFill>
              </a:rPr>
              <a:t>Идентификация на обекти с разпределени параметри</a:t>
            </a:r>
            <a:endParaRPr lang="en-GB" sz="2400" b="1" i="1" dirty="0">
              <a:solidFill>
                <a:prstClr val="black"/>
              </a:solidFill>
            </a:endParaRPr>
          </a:p>
          <a:p>
            <a:pPr marR="36195" indent="542925" algn="just">
              <a:lnSpc>
                <a:spcPct val="130000"/>
              </a:lnSpc>
              <a:spcAft>
                <a:spcPts val="0"/>
              </a:spcAft>
              <a:buClr>
                <a:srgbClr val="D34817">
                  <a:lumMod val="75000"/>
                </a:srgbClr>
              </a:buClr>
              <a:tabLst>
                <a:tab pos="228600" algn="l"/>
              </a:tabLst>
            </a:pPr>
            <a:r>
              <a:rPr lang="bg-BG" sz="2400" dirty="0">
                <a:solidFill>
                  <a:prstClr val="black"/>
                </a:solidFill>
              </a:rPr>
              <a:t>Към обектите с разпределени параметри се отнасят динамични обекти, чиито параметри освен от времето зависят и от пространствени координати на физическото пространство, което заемат. Почти всички реални обекти за управление могат да се разглеждат като обектите с разпределени параметри. Понякога това не е необходимо, тъй като с достатъчна за дадения конкретен случай точност, тези обекти могат да бъдат апроксимирани с модели със съсредоточени параметри. </a:t>
            </a:r>
          </a:p>
        </p:txBody>
      </p:sp>
    </p:spTree>
    <p:extLst>
      <p:ext uri="{BB962C8B-B14F-4D97-AF65-F5344CB8AC3E}">
        <p14:creationId xmlns:p14="http://schemas.microsoft.com/office/powerpoint/2010/main" val="30487195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31</a:t>
            </a:fld>
            <a:endParaRPr lang="bg-BG" dirty="0"/>
          </a:p>
        </p:txBody>
      </p:sp>
      <p:sp>
        <p:nvSpPr>
          <p:cNvPr id="5" name="Content Placeholder 2"/>
          <p:cNvSpPr txBox="1">
            <a:spLocks/>
          </p:cNvSpPr>
          <p:nvPr/>
        </p:nvSpPr>
        <p:spPr>
          <a:xfrm>
            <a:off x="2098842" y="449975"/>
            <a:ext cx="9867232" cy="4546560"/>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457200" algn="just">
              <a:buFont typeface="Wingdings" pitchFamily="2" charset="2"/>
              <a:buNone/>
            </a:pPr>
            <a:endParaRPr lang="bg-BG" sz="2200" dirty="0">
              <a:solidFill>
                <a:schemeClr val="tx1">
                  <a:lumMod val="95000"/>
                  <a:lumOff val="5000"/>
                </a:schemeClr>
              </a:solidFill>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 name="Rectangle 1"/>
          <p:cNvSpPr/>
          <p:nvPr/>
        </p:nvSpPr>
        <p:spPr>
          <a:xfrm>
            <a:off x="2098842" y="179477"/>
            <a:ext cx="10093158" cy="4893647"/>
          </a:xfrm>
          <a:prstGeom prst="rect">
            <a:avLst/>
          </a:prstGeom>
        </p:spPr>
        <p:txBody>
          <a:bodyPr wrap="square">
            <a:spAutoFit/>
          </a:bodyPr>
          <a:lstStyle/>
          <a:p>
            <a:pPr marR="36195" indent="542925" algn="just">
              <a:lnSpc>
                <a:spcPct val="130000"/>
              </a:lnSpc>
              <a:buClr>
                <a:srgbClr val="D34817">
                  <a:lumMod val="75000"/>
                </a:srgbClr>
              </a:buClr>
              <a:tabLst>
                <a:tab pos="228600" algn="l"/>
              </a:tabLst>
            </a:pPr>
            <a:r>
              <a:rPr lang="bg-BG" sz="2400" dirty="0"/>
              <a:t>Съществуват обекти, които не могат да се апроксимират с достатъчна точност към съсредоточени или съответно проблемът за тяхното управление се решава незадоволително или въобще не може да се реши в условията на системите със съсредоточени параметри. Тяхна основна особеност е, че имат пространствена зависимост и състоянието им е невъзможно да се характеризира със задаване изменение на координатите само във времето. То е необходимо да се задава не само във всеки момент от времето </a:t>
            </a:r>
            <a:r>
              <a:rPr lang="en-US" sz="2400" i="1" dirty="0"/>
              <a:t>t</a:t>
            </a:r>
            <a:r>
              <a:rPr lang="bg-BG" sz="2400" dirty="0"/>
              <a:t>, но и във всяка точка на геометричната област на физическото пространство, което заема даденият обект. </a:t>
            </a:r>
            <a:endParaRPr lang="bg-BG" sz="2400" dirty="0">
              <a:solidFill>
                <a:prstClr val="black"/>
              </a:solidFill>
            </a:endParaRPr>
          </a:p>
        </p:txBody>
      </p:sp>
    </p:spTree>
    <p:extLst>
      <p:ext uri="{BB962C8B-B14F-4D97-AF65-F5344CB8AC3E}">
        <p14:creationId xmlns:p14="http://schemas.microsoft.com/office/powerpoint/2010/main" val="28149848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32</a:t>
            </a:fld>
            <a:endParaRPr lang="bg-BG" dirty="0"/>
          </a:p>
        </p:txBody>
      </p:sp>
      <p:sp>
        <p:nvSpPr>
          <p:cNvPr id="5" name="Content Placeholder 2"/>
          <p:cNvSpPr txBox="1">
            <a:spLocks/>
          </p:cNvSpPr>
          <p:nvPr/>
        </p:nvSpPr>
        <p:spPr>
          <a:xfrm>
            <a:off x="2098842" y="449975"/>
            <a:ext cx="9867232" cy="4546560"/>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457200" algn="just">
              <a:buFont typeface="Wingdings" pitchFamily="2" charset="2"/>
              <a:buNone/>
            </a:pPr>
            <a:endParaRPr lang="bg-BG" sz="2200" dirty="0">
              <a:solidFill>
                <a:schemeClr val="tx1">
                  <a:lumMod val="95000"/>
                  <a:lumOff val="5000"/>
                </a:schemeClr>
              </a:solidFill>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 name="Rectangle 1"/>
          <p:cNvSpPr/>
          <p:nvPr/>
        </p:nvSpPr>
        <p:spPr>
          <a:xfrm>
            <a:off x="2032000" y="449975"/>
            <a:ext cx="9753600" cy="5853910"/>
          </a:xfrm>
          <a:prstGeom prst="rect">
            <a:avLst/>
          </a:prstGeom>
        </p:spPr>
        <p:txBody>
          <a:bodyPr wrap="square">
            <a:spAutoFit/>
          </a:bodyPr>
          <a:lstStyle/>
          <a:p>
            <a:pPr marR="36195" lvl="0" indent="542925" algn="just">
              <a:lnSpc>
                <a:spcPct val="130000"/>
              </a:lnSpc>
              <a:buClr>
                <a:srgbClr val="D34817">
                  <a:lumMod val="75000"/>
                </a:srgbClr>
              </a:buClr>
              <a:tabLst>
                <a:tab pos="228600" algn="l"/>
              </a:tabLst>
            </a:pPr>
            <a:r>
              <a:rPr lang="bg-BG" sz="2400" dirty="0">
                <a:solidFill>
                  <a:prstClr val="black"/>
                </a:solidFill>
              </a:rPr>
              <a:t>Такива са: процесите на нагряване и охлаждане на тела; химични реакции; процеси, разглеждани в хидродинамиката; геофизическите изследвания, включващи откриването на подземни води и местонахождението на нефт; изучаване на земетресения; метеорологически изследвания; демографски анализ и други. Обикновено тези обекти се описват с частни диференциални уравнения или системи частни диференциални уравнения, интегрални и интегро – диференциални уравнения или уравнения от по-общ функционален тип. </a:t>
            </a:r>
          </a:p>
          <a:p>
            <a:pPr marR="36195" indent="542925" algn="just">
              <a:lnSpc>
                <a:spcPct val="130000"/>
              </a:lnSpc>
              <a:buClr>
                <a:srgbClr val="D34817">
                  <a:lumMod val="75000"/>
                </a:srgbClr>
              </a:buClr>
              <a:tabLst>
                <a:tab pos="228600" algn="l"/>
              </a:tabLst>
            </a:pPr>
            <a:r>
              <a:rPr lang="bg-BG" sz="2400" dirty="0">
                <a:solidFill>
                  <a:prstClr val="black"/>
                </a:solidFill>
              </a:rPr>
              <a:t>Идентификацията на обектите с разпределени параметри включва определяне на структурата на модела на обекта и съответните му параметри. </a:t>
            </a:r>
          </a:p>
        </p:txBody>
      </p:sp>
    </p:spTree>
    <p:extLst>
      <p:ext uri="{BB962C8B-B14F-4D97-AF65-F5344CB8AC3E}">
        <p14:creationId xmlns:p14="http://schemas.microsoft.com/office/powerpoint/2010/main" val="12773720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33</a:t>
            </a:fld>
            <a:endParaRPr lang="bg-BG" dirty="0"/>
          </a:p>
        </p:txBody>
      </p:sp>
      <p:sp>
        <p:nvSpPr>
          <p:cNvPr id="5" name="Content Placeholder 2"/>
          <p:cNvSpPr txBox="1">
            <a:spLocks/>
          </p:cNvSpPr>
          <p:nvPr/>
        </p:nvSpPr>
        <p:spPr>
          <a:xfrm>
            <a:off x="2098842" y="449975"/>
            <a:ext cx="9867232" cy="4546560"/>
          </a:xfrm>
          <a:prstGeom prst="rect">
            <a:avLst/>
          </a:prstGeom>
        </p:spPr>
        <p:txBody>
          <a:bodyPr>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457200" algn="just">
              <a:buFont typeface="Wingdings" pitchFamily="2" charset="2"/>
              <a:buNone/>
            </a:pPr>
            <a:endParaRPr lang="bg-BG" sz="2200" dirty="0">
              <a:solidFill>
                <a:schemeClr val="tx1">
                  <a:lumMod val="95000"/>
                  <a:lumOff val="5000"/>
                </a:schemeClr>
              </a:solidFill>
            </a:endParaRPr>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0" name="Rectangle 4"/>
          <p:cNvSpPr>
            <a:spLocks noChangeArrowheads="1"/>
          </p:cNvSpPr>
          <p:nvPr/>
        </p:nvSpPr>
        <p:spPr bwMode="auto">
          <a:xfrm>
            <a:off x="-1" y="-1"/>
            <a:ext cx="2691119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6" name="Rectangle 3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2" name="Rectangle 3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4" name="Rectangle 35"/>
          <p:cNvSpPr>
            <a:spLocks noChangeArrowheads="1"/>
          </p:cNvSpPr>
          <p:nvPr/>
        </p:nvSpPr>
        <p:spPr bwMode="auto">
          <a:xfrm>
            <a:off x="-1" y="-1"/>
            <a:ext cx="203761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bg-BG"/>
          </a:p>
        </p:txBody>
      </p:sp>
      <p:sp>
        <p:nvSpPr>
          <p:cNvPr id="16" name="Rectangle 37"/>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19" name="Rectangle 3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21" name="Rectangle 4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g-BG"/>
          </a:p>
        </p:txBody>
      </p:sp>
      <p:sp>
        <p:nvSpPr>
          <p:cNvPr id="7" name="Rectangle 6"/>
          <p:cNvSpPr/>
          <p:nvPr/>
        </p:nvSpPr>
        <p:spPr>
          <a:xfrm>
            <a:off x="2098842" y="781601"/>
            <a:ext cx="9934075" cy="3883307"/>
          </a:xfrm>
          <a:prstGeom prst="rect">
            <a:avLst/>
          </a:prstGeom>
        </p:spPr>
        <p:txBody>
          <a:bodyPr wrap="square">
            <a:spAutoFit/>
          </a:bodyPr>
          <a:lstStyle/>
          <a:p>
            <a:pPr marR="36195" lvl="0" indent="542925" algn="just">
              <a:lnSpc>
                <a:spcPct val="130000"/>
              </a:lnSpc>
              <a:buClr>
                <a:srgbClr val="D34817">
                  <a:lumMod val="75000"/>
                </a:srgbClr>
              </a:buClr>
              <a:tabLst>
                <a:tab pos="228600" algn="l"/>
              </a:tabLst>
            </a:pPr>
            <a:r>
              <a:rPr lang="bg-BG" sz="2400" dirty="0">
                <a:solidFill>
                  <a:prstClr val="black"/>
                </a:solidFill>
              </a:rPr>
              <a:t>Основният подход при решаване на първата задача се състои в предварителен избор на вида на уравненията, описващи моделиращата структура, на основата на определена априорна информация за протичащите физически процеси. По този начин задачата се свежда само до оценка на параметри.</a:t>
            </a:r>
          </a:p>
          <a:p>
            <a:pPr marR="36195" lvl="0" indent="542925" algn="just">
              <a:lnSpc>
                <a:spcPct val="130000"/>
              </a:lnSpc>
              <a:buClr>
                <a:srgbClr val="D34817">
                  <a:lumMod val="75000"/>
                </a:srgbClr>
              </a:buClr>
              <a:tabLst>
                <a:tab pos="228600" algn="l"/>
              </a:tabLst>
            </a:pPr>
            <a:r>
              <a:rPr lang="bg-BG" sz="2400" dirty="0">
                <a:solidFill>
                  <a:prstClr val="black"/>
                </a:solidFill>
              </a:rPr>
              <a:t> Подходящо е използването на ортогонални функции при оценяване на параметрите, началните и гранични условия на обектите с разпределени параметри. </a:t>
            </a:r>
          </a:p>
        </p:txBody>
      </p:sp>
    </p:spTree>
    <p:extLst>
      <p:ext uri="{BB962C8B-B14F-4D97-AF65-F5344CB8AC3E}">
        <p14:creationId xmlns:p14="http://schemas.microsoft.com/office/powerpoint/2010/main" val="375687607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52FE0A421B3E24B9DDFC266E10EBE04" ma:contentTypeVersion="3" ma:contentTypeDescription="Create a new document." ma:contentTypeScope="" ma:versionID="dcbf987a481103226c3ec987ed9307fb">
  <xsd:schema xmlns:xsd="http://www.w3.org/2001/XMLSchema" xmlns:xs="http://www.w3.org/2001/XMLSchema" xmlns:p="http://schemas.microsoft.com/office/2006/metadata/properties" xmlns:ns2="410f8adb-773f-4384-aa9e-8e184e0fd10d" targetNamespace="http://schemas.microsoft.com/office/2006/metadata/properties" ma:root="true" ma:fieldsID="a897376146d62393c4daa3471ee89d00" ns2:_="">
    <xsd:import namespace="410f8adb-773f-4384-aa9e-8e184e0fd10d"/>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10f8adb-773f-4384-aa9e-8e184e0fd1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6D39761-FF06-4E17-98BD-6D85B618436A}">
  <ds:schemaRefs>
    <ds:schemaRef ds:uri="http://schemas.microsoft.com/sharepoint/v3/contenttype/forms"/>
  </ds:schemaRefs>
</ds:datastoreItem>
</file>

<file path=customXml/itemProps2.xml><?xml version="1.0" encoding="utf-8"?>
<ds:datastoreItem xmlns:ds="http://schemas.openxmlformats.org/officeDocument/2006/customXml" ds:itemID="{1C6D6EF5-3900-4514-94FA-37F0AE2C877F}"/>
</file>

<file path=customXml/itemProps3.xml><?xml version="1.0" encoding="utf-8"?>
<ds:datastoreItem xmlns:ds="http://schemas.openxmlformats.org/officeDocument/2006/customXml" ds:itemID="{1A275477-A5FF-474E-9944-FF39AFBD2CB4}">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Wood Type</Template>
  <TotalTime>10286</TotalTime>
  <Words>3527</Words>
  <Application>Microsoft Office PowerPoint</Application>
  <PresentationFormat>Widescreen</PresentationFormat>
  <Paragraphs>219</Paragraphs>
  <Slides>33</Slides>
  <Notes>31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42" baseType="lpstr">
      <vt:lpstr>Arial</vt:lpstr>
      <vt:lpstr>Calibri</vt:lpstr>
      <vt:lpstr>Cambria</vt:lpstr>
      <vt:lpstr>Cambria Math</vt:lpstr>
      <vt:lpstr>Rockwell</vt:lpstr>
      <vt:lpstr>Rockwell Condensed</vt:lpstr>
      <vt:lpstr>Wingdings</vt:lpstr>
      <vt:lpstr>Wood Type</vt:lpstr>
      <vt:lpstr>Equation</vt:lpstr>
      <vt:lpstr>Идентификация на обекти</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Organization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СИСТЕМЕН АНАЛИЗ</dc:title>
  <dc:creator>Windows User</dc:creator>
  <cp:lastModifiedBy>Maya</cp:lastModifiedBy>
  <cp:revision>274</cp:revision>
  <cp:lastPrinted>2022-11-02T09:49:17Z</cp:lastPrinted>
  <dcterms:created xsi:type="dcterms:W3CDTF">2022-08-03T05:13:19Z</dcterms:created>
  <dcterms:modified xsi:type="dcterms:W3CDTF">2024-01-02T19:31:58Z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0x010100452FE0A421B3E24B9DDFC266E10EBE04</vt:lpwstr>
  </property>
</Properties>
</file>
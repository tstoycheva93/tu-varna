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4"/>
  </p:sldMasterIdLst>
  <p:notesMasterIdLst>
    <p:notesMasterId r:id="rId45"/>
  </p:notesMasterIdLst>
  <p:handoutMasterIdLst>
    <p:handoutMasterId r:id="rId46"/>
  </p:handoutMasterIdLst>
  <p:sldIdLst>
    <p:sldId id="256" r:id="rId5"/>
    <p:sldId id="258" r:id="rId6"/>
    <p:sldId id="259" r:id="rId7"/>
    <p:sldId id="311" r:id="rId8"/>
    <p:sldId id="261" r:id="rId9"/>
    <p:sldId id="263" r:id="rId10"/>
    <p:sldId id="264" r:id="rId11"/>
    <p:sldId id="265" r:id="rId12"/>
    <p:sldId id="266" r:id="rId13"/>
    <p:sldId id="267" r:id="rId14"/>
    <p:sldId id="268" r:id="rId15"/>
    <p:sldId id="296" r:id="rId16"/>
    <p:sldId id="297" r:id="rId17"/>
    <p:sldId id="298" r:id="rId18"/>
    <p:sldId id="269" r:id="rId19"/>
    <p:sldId id="272" r:id="rId20"/>
    <p:sldId id="299" r:id="rId21"/>
    <p:sldId id="271" r:id="rId22"/>
    <p:sldId id="317" r:id="rId23"/>
    <p:sldId id="274" r:id="rId24"/>
    <p:sldId id="273" r:id="rId25"/>
    <p:sldId id="318" r:id="rId26"/>
    <p:sldId id="324" r:id="rId27"/>
    <p:sldId id="320" r:id="rId28"/>
    <p:sldId id="343" r:id="rId29"/>
    <p:sldId id="344" r:id="rId30"/>
    <p:sldId id="345" r:id="rId31"/>
    <p:sldId id="346" r:id="rId32"/>
    <p:sldId id="347" r:id="rId33"/>
    <p:sldId id="332" r:id="rId34"/>
    <p:sldId id="333" r:id="rId35"/>
    <p:sldId id="334" r:id="rId36"/>
    <p:sldId id="335" r:id="rId37"/>
    <p:sldId id="336" r:id="rId38"/>
    <p:sldId id="337" r:id="rId39"/>
    <p:sldId id="338" r:id="rId40"/>
    <p:sldId id="339" r:id="rId41"/>
    <p:sldId id="340" r:id="rId42"/>
    <p:sldId id="341" r:id="rId43"/>
    <p:sldId id="342" r:id="rId44"/>
  </p:sldIdLst>
  <p:sldSz cx="12192000" cy="6858000"/>
  <p:notesSz cx="6761163" cy="9942513"/>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2445" autoAdjust="0"/>
  </p:normalViewPr>
  <p:slideViewPr>
    <p:cSldViewPr snapToGrid="0">
      <p:cViewPr varScale="1">
        <p:scale>
          <a:sx n="74" d="100"/>
          <a:sy n="74" d="100"/>
        </p:scale>
        <p:origin x="-276" y="-9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323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5" Type="http://schemas.openxmlformats.org/officeDocument/2006/relationships/image" Target="../media/image30.wmf"/><Relationship Id="rId4" Type="http://schemas.openxmlformats.org/officeDocument/2006/relationships/image" Target="../media/image2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5" Type="http://schemas.openxmlformats.org/officeDocument/2006/relationships/image" Target="../media/image40.wmf"/><Relationship Id="rId4" Type="http://schemas.openxmlformats.org/officeDocument/2006/relationships/image" Target="../media/image39.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36.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36.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5" Type="http://schemas.openxmlformats.org/officeDocument/2006/relationships/image" Target="../media/image50.wmf"/><Relationship Id="rId4" Type="http://schemas.openxmlformats.org/officeDocument/2006/relationships/image" Target="../media/image49.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48.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29837" cy="498853"/>
          </a:xfrm>
          <a:prstGeom prst="rect">
            <a:avLst/>
          </a:prstGeom>
        </p:spPr>
        <p:txBody>
          <a:bodyPr vert="horz" lIns="92930" tIns="46465" rIns="92930" bIns="46465" rtlCol="0"/>
          <a:lstStyle>
            <a:lvl1pPr algn="l">
              <a:defRPr sz="1200"/>
            </a:lvl1pPr>
          </a:lstStyle>
          <a:p>
            <a:endParaRPr lang="bg-BG" dirty="0"/>
          </a:p>
        </p:txBody>
      </p:sp>
      <p:sp>
        <p:nvSpPr>
          <p:cNvPr id="3" name="Date Placeholder 2"/>
          <p:cNvSpPr>
            <a:spLocks noGrp="1"/>
          </p:cNvSpPr>
          <p:nvPr>
            <p:ph type="dt" sz="quarter" idx="1"/>
          </p:nvPr>
        </p:nvSpPr>
        <p:spPr>
          <a:xfrm>
            <a:off x="3829762" y="0"/>
            <a:ext cx="2929837" cy="498853"/>
          </a:xfrm>
          <a:prstGeom prst="rect">
            <a:avLst/>
          </a:prstGeom>
        </p:spPr>
        <p:txBody>
          <a:bodyPr vert="horz" lIns="92930" tIns="46465" rIns="92930" bIns="46465" rtlCol="0"/>
          <a:lstStyle>
            <a:lvl1pPr algn="r">
              <a:defRPr sz="1200"/>
            </a:lvl1pPr>
          </a:lstStyle>
          <a:p>
            <a:fld id="{62DAF501-497E-4319-B484-C5A85BB3EFD3}" type="datetimeFigureOut">
              <a:rPr lang="bg-BG" smtClean="0"/>
              <a:t>20.11.2023 г.</a:t>
            </a:fld>
            <a:endParaRPr lang="bg-BG" dirty="0"/>
          </a:p>
        </p:txBody>
      </p:sp>
      <p:sp>
        <p:nvSpPr>
          <p:cNvPr id="4" name="Footer Placeholder 3"/>
          <p:cNvSpPr>
            <a:spLocks noGrp="1"/>
          </p:cNvSpPr>
          <p:nvPr>
            <p:ph type="ftr" sz="quarter" idx="2"/>
          </p:nvPr>
        </p:nvSpPr>
        <p:spPr>
          <a:xfrm>
            <a:off x="1" y="9443663"/>
            <a:ext cx="2929837" cy="498852"/>
          </a:xfrm>
          <a:prstGeom prst="rect">
            <a:avLst/>
          </a:prstGeom>
        </p:spPr>
        <p:txBody>
          <a:bodyPr vert="horz" lIns="92930" tIns="46465" rIns="92930" bIns="46465" rtlCol="0" anchor="b"/>
          <a:lstStyle>
            <a:lvl1pPr algn="l">
              <a:defRPr sz="1200"/>
            </a:lvl1pPr>
          </a:lstStyle>
          <a:p>
            <a:endParaRPr lang="bg-BG" dirty="0"/>
          </a:p>
        </p:txBody>
      </p:sp>
      <p:sp>
        <p:nvSpPr>
          <p:cNvPr id="5" name="Slide Number Placeholder 4"/>
          <p:cNvSpPr>
            <a:spLocks noGrp="1"/>
          </p:cNvSpPr>
          <p:nvPr>
            <p:ph type="sldNum" sz="quarter" idx="3"/>
          </p:nvPr>
        </p:nvSpPr>
        <p:spPr>
          <a:xfrm>
            <a:off x="3829762" y="9443663"/>
            <a:ext cx="2929837" cy="498852"/>
          </a:xfrm>
          <a:prstGeom prst="rect">
            <a:avLst/>
          </a:prstGeom>
        </p:spPr>
        <p:txBody>
          <a:bodyPr vert="horz" lIns="92930" tIns="46465" rIns="92930" bIns="46465" rtlCol="0" anchor="b"/>
          <a:lstStyle>
            <a:lvl1pPr algn="r">
              <a:defRPr sz="1200"/>
            </a:lvl1pPr>
          </a:lstStyle>
          <a:p>
            <a:fld id="{335249C7-B5B2-4541-A187-B12F42083CB5}" type="slidenum">
              <a:rPr lang="bg-BG" smtClean="0"/>
              <a:t>‹#›</a:t>
            </a:fld>
            <a:endParaRPr lang="bg-BG" dirty="0"/>
          </a:p>
        </p:txBody>
      </p:sp>
    </p:spTree>
    <p:extLst>
      <p:ext uri="{BB962C8B-B14F-4D97-AF65-F5344CB8AC3E}">
        <p14:creationId xmlns:p14="http://schemas.microsoft.com/office/powerpoint/2010/main" val="38732489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29837" cy="498853"/>
          </a:xfrm>
          <a:prstGeom prst="rect">
            <a:avLst/>
          </a:prstGeom>
        </p:spPr>
        <p:txBody>
          <a:bodyPr vert="horz" lIns="92930" tIns="46465" rIns="92930" bIns="46465" rtlCol="0"/>
          <a:lstStyle>
            <a:lvl1pPr algn="l">
              <a:defRPr sz="1200"/>
            </a:lvl1pPr>
          </a:lstStyle>
          <a:p>
            <a:endParaRPr lang="bg-BG" dirty="0"/>
          </a:p>
        </p:txBody>
      </p:sp>
      <p:sp>
        <p:nvSpPr>
          <p:cNvPr id="3" name="Date Placeholder 2"/>
          <p:cNvSpPr>
            <a:spLocks noGrp="1"/>
          </p:cNvSpPr>
          <p:nvPr>
            <p:ph type="dt" idx="1"/>
          </p:nvPr>
        </p:nvSpPr>
        <p:spPr>
          <a:xfrm>
            <a:off x="3829762" y="0"/>
            <a:ext cx="2929837" cy="498853"/>
          </a:xfrm>
          <a:prstGeom prst="rect">
            <a:avLst/>
          </a:prstGeom>
        </p:spPr>
        <p:txBody>
          <a:bodyPr vert="horz" lIns="92930" tIns="46465" rIns="92930" bIns="46465" rtlCol="0"/>
          <a:lstStyle>
            <a:lvl1pPr algn="r">
              <a:defRPr sz="1200"/>
            </a:lvl1pPr>
          </a:lstStyle>
          <a:p>
            <a:fld id="{72A934B3-15CF-49D7-9C90-2FBDF446DA56}" type="datetimeFigureOut">
              <a:rPr lang="bg-BG" smtClean="0"/>
              <a:t>20.11.2023 г.</a:t>
            </a:fld>
            <a:endParaRPr lang="bg-BG" dirty="0"/>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2930" tIns="46465" rIns="92930" bIns="46465" rtlCol="0" anchor="ctr"/>
          <a:lstStyle/>
          <a:p>
            <a:endParaRPr lang="bg-BG" dirty="0"/>
          </a:p>
        </p:txBody>
      </p:sp>
      <p:sp>
        <p:nvSpPr>
          <p:cNvPr id="5" name="Notes Placeholder 4"/>
          <p:cNvSpPr>
            <a:spLocks noGrp="1"/>
          </p:cNvSpPr>
          <p:nvPr>
            <p:ph type="body" sz="quarter" idx="3"/>
          </p:nvPr>
        </p:nvSpPr>
        <p:spPr>
          <a:xfrm>
            <a:off x="676117" y="4784834"/>
            <a:ext cx="5408930" cy="3914864"/>
          </a:xfrm>
          <a:prstGeom prst="rect">
            <a:avLst/>
          </a:prstGeom>
        </p:spPr>
        <p:txBody>
          <a:bodyPr vert="horz" lIns="92930" tIns="46465" rIns="92930" bIns="46465"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1" y="9443663"/>
            <a:ext cx="2929837" cy="498852"/>
          </a:xfrm>
          <a:prstGeom prst="rect">
            <a:avLst/>
          </a:prstGeom>
        </p:spPr>
        <p:txBody>
          <a:bodyPr vert="horz" lIns="92930" tIns="46465" rIns="92930" bIns="46465" rtlCol="0" anchor="b"/>
          <a:lstStyle>
            <a:lvl1pPr algn="l">
              <a:defRPr sz="1200"/>
            </a:lvl1pPr>
          </a:lstStyle>
          <a:p>
            <a:endParaRPr lang="bg-BG" dirty="0"/>
          </a:p>
        </p:txBody>
      </p:sp>
      <p:sp>
        <p:nvSpPr>
          <p:cNvPr id="7" name="Slide Number Placeholder 6"/>
          <p:cNvSpPr>
            <a:spLocks noGrp="1"/>
          </p:cNvSpPr>
          <p:nvPr>
            <p:ph type="sldNum" sz="quarter" idx="5"/>
          </p:nvPr>
        </p:nvSpPr>
        <p:spPr>
          <a:xfrm>
            <a:off x="3829762" y="9443663"/>
            <a:ext cx="2929837" cy="498852"/>
          </a:xfrm>
          <a:prstGeom prst="rect">
            <a:avLst/>
          </a:prstGeom>
        </p:spPr>
        <p:txBody>
          <a:bodyPr vert="horz" lIns="92930" tIns="46465" rIns="92930" bIns="46465" rtlCol="0" anchor="b"/>
          <a:lstStyle>
            <a:lvl1pPr algn="r">
              <a:defRPr sz="1200"/>
            </a:lvl1pPr>
          </a:lstStyle>
          <a:p>
            <a:fld id="{5617F9B7-5110-4225-A395-C002DCB96977}" type="slidenum">
              <a:rPr lang="bg-BG" smtClean="0"/>
              <a:t>‹#›</a:t>
            </a:fld>
            <a:endParaRPr lang="bg-BG" dirty="0"/>
          </a:p>
        </p:txBody>
      </p:sp>
    </p:spTree>
    <p:extLst>
      <p:ext uri="{BB962C8B-B14F-4D97-AF65-F5344CB8AC3E}">
        <p14:creationId xmlns:p14="http://schemas.microsoft.com/office/powerpoint/2010/main" val="1772761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a:t>
            </a:fld>
            <a:endParaRPr lang="bg-BG" dirty="0"/>
          </a:p>
        </p:txBody>
      </p:sp>
    </p:spTree>
    <p:extLst>
      <p:ext uri="{BB962C8B-B14F-4D97-AF65-F5344CB8AC3E}">
        <p14:creationId xmlns:p14="http://schemas.microsoft.com/office/powerpoint/2010/main" val="1861992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a:t>
            </a:fld>
            <a:endParaRPr lang="bg-BG" dirty="0"/>
          </a:p>
        </p:txBody>
      </p:sp>
    </p:spTree>
    <p:extLst>
      <p:ext uri="{BB962C8B-B14F-4D97-AF65-F5344CB8AC3E}">
        <p14:creationId xmlns:p14="http://schemas.microsoft.com/office/powerpoint/2010/main" val="665832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5</a:t>
            </a:fld>
            <a:endParaRPr lang="bg-BG" dirty="0"/>
          </a:p>
        </p:txBody>
      </p:sp>
    </p:spTree>
    <p:extLst>
      <p:ext uri="{BB962C8B-B14F-4D97-AF65-F5344CB8AC3E}">
        <p14:creationId xmlns:p14="http://schemas.microsoft.com/office/powerpoint/2010/main" val="2915215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6</a:t>
            </a:fld>
            <a:endParaRPr lang="bg-BG" dirty="0"/>
          </a:p>
        </p:txBody>
      </p:sp>
    </p:spTree>
    <p:extLst>
      <p:ext uri="{BB962C8B-B14F-4D97-AF65-F5344CB8AC3E}">
        <p14:creationId xmlns:p14="http://schemas.microsoft.com/office/powerpoint/2010/main" val="1110823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7</a:t>
            </a:fld>
            <a:endParaRPr lang="bg-BG" dirty="0"/>
          </a:p>
        </p:txBody>
      </p:sp>
    </p:spTree>
    <p:extLst>
      <p:ext uri="{BB962C8B-B14F-4D97-AF65-F5344CB8AC3E}">
        <p14:creationId xmlns:p14="http://schemas.microsoft.com/office/powerpoint/2010/main" val="2217178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defRPr/>
            </a:pPr>
            <a:endParaRPr lang="bg-BG" altLang="bg-BG" sz="1200" dirty="0"/>
          </a:p>
        </p:txBody>
      </p:sp>
      <p:sp>
        <p:nvSpPr>
          <p:cNvPr id="4" name="Slide Number Placeholder 3"/>
          <p:cNvSpPr>
            <a:spLocks noGrp="1"/>
          </p:cNvSpPr>
          <p:nvPr>
            <p:ph type="sldNum" sz="quarter" idx="10"/>
          </p:nvPr>
        </p:nvSpPr>
        <p:spPr/>
        <p:txBody>
          <a:bodyPr/>
          <a:lstStyle/>
          <a:p>
            <a:fld id="{5617F9B7-5110-4225-A395-C002DCB96977}" type="slidenum">
              <a:rPr lang="bg-BG" smtClean="0"/>
              <a:t>8</a:t>
            </a:fld>
            <a:endParaRPr lang="bg-BG" dirty="0"/>
          </a:p>
        </p:txBody>
      </p:sp>
    </p:spTree>
    <p:extLst>
      <p:ext uri="{BB962C8B-B14F-4D97-AF65-F5344CB8AC3E}">
        <p14:creationId xmlns:p14="http://schemas.microsoft.com/office/powerpoint/2010/main" val="1806913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9</a:t>
            </a:fld>
            <a:endParaRPr lang="bg-BG" dirty="0"/>
          </a:p>
        </p:txBody>
      </p:sp>
    </p:spTree>
    <p:extLst>
      <p:ext uri="{BB962C8B-B14F-4D97-AF65-F5344CB8AC3E}">
        <p14:creationId xmlns:p14="http://schemas.microsoft.com/office/powerpoint/2010/main" val="3814579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10</a:t>
            </a:fld>
            <a:endParaRPr lang="bg-BG" dirty="0"/>
          </a:p>
        </p:txBody>
      </p:sp>
    </p:spTree>
    <p:extLst>
      <p:ext uri="{BB962C8B-B14F-4D97-AF65-F5344CB8AC3E}">
        <p14:creationId xmlns:p14="http://schemas.microsoft.com/office/powerpoint/2010/main" val="3194622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11</a:t>
            </a:fld>
            <a:endParaRPr lang="bg-BG" dirty="0"/>
          </a:p>
        </p:txBody>
      </p:sp>
    </p:spTree>
    <p:extLst>
      <p:ext uri="{BB962C8B-B14F-4D97-AF65-F5344CB8AC3E}">
        <p14:creationId xmlns:p14="http://schemas.microsoft.com/office/powerpoint/2010/main" val="2371731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12</a:t>
            </a:fld>
            <a:endParaRPr lang="bg-BG" dirty="0"/>
          </a:p>
        </p:txBody>
      </p:sp>
    </p:spTree>
    <p:extLst>
      <p:ext uri="{BB962C8B-B14F-4D97-AF65-F5344CB8AC3E}">
        <p14:creationId xmlns:p14="http://schemas.microsoft.com/office/powerpoint/2010/main" val="23449235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9305">
              <a:defRPr/>
            </a:pPr>
            <a:endParaRPr lang="bg-BG"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13</a:t>
            </a:fld>
            <a:endParaRPr lang="bg-BG" dirty="0"/>
          </a:p>
        </p:txBody>
      </p:sp>
    </p:spTree>
    <p:extLst>
      <p:ext uri="{BB962C8B-B14F-4D97-AF65-F5344CB8AC3E}">
        <p14:creationId xmlns:p14="http://schemas.microsoft.com/office/powerpoint/2010/main" val="520302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14</a:t>
            </a:fld>
            <a:endParaRPr lang="bg-BG" dirty="0"/>
          </a:p>
        </p:txBody>
      </p:sp>
    </p:spTree>
    <p:extLst>
      <p:ext uri="{BB962C8B-B14F-4D97-AF65-F5344CB8AC3E}">
        <p14:creationId xmlns:p14="http://schemas.microsoft.com/office/powerpoint/2010/main" val="2390392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17</a:t>
            </a:fld>
            <a:endParaRPr lang="bg-BG" dirty="0"/>
          </a:p>
        </p:txBody>
      </p:sp>
    </p:spTree>
    <p:extLst>
      <p:ext uri="{BB962C8B-B14F-4D97-AF65-F5344CB8AC3E}">
        <p14:creationId xmlns:p14="http://schemas.microsoft.com/office/powerpoint/2010/main" val="20553714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18</a:t>
            </a:fld>
            <a:endParaRPr lang="bg-BG" dirty="0"/>
          </a:p>
        </p:txBody>
      </p:sp>
    </p:spTree>
    <p:extLst>
      <p:ext uri="{BB962C8B-B14F-4D97-AF65-F5344CB8AC3E}">
        <p14:creationId xmlns:p14="http://schemas.microsoft.com/office/powerpoint/2010/main" val="39189498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19</a:t>
            </a:fld>
            <a:endParaRPr lang="bg-BG" dirty="0"/>
          </a:p>
        </p:txBody>
      </p:sp>
    </p:spTree>
    <p:extLst>
      <p:ext uri="{BB962C8B-B14F-4D97-AF65-F5344CB8AC3E}">
        <p14:creationId xmlns:p14="http://schemas.microsoft.com/office/powerpoint/2010/main" val="15183900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23</a:t>
            </a:fld>
            <a:endParaRPr lang="bg-BG" dirty="0"/>
          </a:p>
        </p:txBody>
      </p:sp>
    </p:spTree>
    <p:extLst>
      <p:ext uri="{BB962C8B-B14F-4D97-AF65-F5344CB8AC3E}">
        <p14:creationId xmlns:p14="http://schemas.microsoft.com/office/powerpoint/2010/main" val="2578922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30</a:t>
            </a:fld>
            <a:endParaRPr lang="bg-BG" dirty="0"/>
          </a:p>
        </p:txBody>
      </p:sp>
    </p:spTree>
    <p:extLst>
      <p:ext uri="{BB962C8B-B14F-4D97-AF65-F5344CB8AC3E}">
        <p14:creationId xmlns:p14="http://schemas.microsoft.com/office/powerpoint/2010/main" val="41266962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32</a:t>
            </a:fld>
            <a:endParaRPr lang="bg-BG" dirty="0"/>
          </a:p>
        </p:txBody>
      </p:sp>
    </p:spTree>
    <p:extLst>
      <p:ext uri="{BB962C8B-B14F-4D97-AF65-F5344CB8AC3E}">
        <p14:creationId xmlns:p14="http://schemas.microsoft.com/office/powerpoint/2010/main" val="4250254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33</a:t>
            </a:fld>
            <a:endParaRPr lang="bg-BG" dirty="0"/>
          </a:p>
        </p:txBody>
      </p:sp>
    </p:spTree>
    <p:extLst>
      <p:ext uri="{BB962C8B-B14F-4D97-AF65-F5344CB8AC3E}">
        <p14:creationId xmlns:p14="http://schemas.microsoft.com/office/powerpoint/2010/main" val="3255001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34</a:t>
            </a:fld>
            <a:endParaRPr lang="bg-BG" dirty="0"/>
          </a:p>
        </p:txBody>
      </p:sp>
    </p:spTree>
    <p:extLst>
      <p:ext uri="{BB962C8B-B14F-4D97-AF65-F5344CB8AC3E}">
        <p14:creationId xmlns:p14="http://schemas.microsoft.com/office/powerpoint/2010/main" val="26023053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35</a:t>
            </a:fld>
            <a:endParaRPr lang="bg-BG" dirty="0"/>
          </a:p>
        </p:txBody>
      </p:sp>
    </p:spTree>
    <p:extLst>
      <p:ext uri="{BB962C8B-B14F-4D97-AF65-F5344CB8AC3E}">
        <p14:creationId xmlns:p14="http://schemas.microsoft.com/office/powerpoint/2010/main" val="28683936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36</a:t>
            </a:fld>
            <a:endParaRPr lang="bg-BG" dirty="0"/>
          </a:p>
        </p:txBody>
      </p:sp>
    </p:spTree>
    <p:extLst>
      <p:ext uri="{BB962C8B-B14F-4D97-AF65-F5344CB8AC3E}">
        <p14:creationId xmlns:p14="http://schemas.microsoft.com/office/powerpoint/2010/main" val="20398730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37</a:t>
            </a:fld>
            <a:endParaRPr lang="bg-BG" dirty="0"/>
          </a:p>
        </p:txBody>
      </p:sp>
    </p:spTree>
    <p:extLst>
      <p:ext uri="{BB962C8B-B14F-4D97-AF65-F5344CB8AC3E}">
        <p14:creationId xmlns:p14="http://schemas.microsoft.com/office/powerpoint/2010/main" val="16185445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38</a:t>
            </a:fld>
            <a:endParaRPr lang="bg-BG" dirty="0"/>
          </a:p>
        </p:txBody>
      </p:sp>
    </p:spTree>
    <p:extLst>
      <p:ext uri="{BB962C8B-B14F-4D97-AF65-F5344CB8AC3E}">
        <p14:creationId xmlns:p14="http://schemas.microsoft.com/office/powerpoint/2010/main" val="6932015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39</a:t>
            </a:fld>
            <a:endParaRPr lang="bg-BG" dirty="0"/>
          </a:p>
        </p:txBody>
      </p:sp>
    </p:spTree>
    <p:extLst>
      <p:ext uri="{BB962C8B-B14F-4D97-AF65-F5344CB8AC3E}">
        <p14:creationId xmlns:p14="http://schemas.microsoft.com/office/powerpoint/2010/main" val="218097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40</a:t>
            </a:fld>
            <a:endParaRPr lang="bg-BG" dirty="0"/>
          </a:p>
        </p:txBody>
      </p:sp>
    </p:spTree>
    <p:extLst>
      <p:ext uri="{BB962C8B-B14F-4D97-AF65-F5344CB8AC3E}">
        <p14:creationId xmlns:p14="http://schemas.microsoft.com/office/powerpoint/2010/main" val="362688227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6A666B-2F7D-4199-A5CF-D1399F06B5CC}" type="datetime1">
              <a:rPr lang="bg-BG" smtClean="0"/>
              <a:t>20.11.2023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213164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EF8BD3-AC58-47F1-B591-69906B5D74CE}" type="datetime1">
              <a:rPr lang="bg-BG" smtClean="0"/>
              <a:t>20.11.2023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518441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46564442-4F9C-4117-9AC9-3C912B6DAF6E}" type="datetime1">
              <a:rPr lang="bg-BG" smtClean="0"/>
              <a:t>20.11.2023 г.</a:t>
            </a:fld>
            <a:endParaRPr lang="bg-BG" dirty="0"/>
          </a:p>
        </p:txBody>
      </p:sp>
      <p:sp>
        <p:nvSpPr>
          <p:cNvPr id="5" name="Footer Placeholder 4"/>
          <p:cNvSpPr>
            <a:spLocks noGrp="1"/>
          </p:cNvSpPr>
          <p:nvPr>
            <p:ph type="ftr" sz="quarter" idx="11"/>
          </p:nvPr>
        </p:nvSpPr>
        <p:spPr>
          <a:xfrm>
            <a:off x="2182708" y="6272784"/>
            <a:ext cx="6327648" cy="365125"/>
          </a:xfrm>
        </p:spPr>
        <p:txBody>
          <a:bodyPr/>
          <a:lstStyle/>
          <a:p>
            <a:endParaRPr lang="bg-BG"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1745476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72E6C9-D462-4DF8-8A5B-084EF99FCB92}" type="datetime1">
              <a:rPr lang="bg-BG" smtClean="0"/>
              <a:t>20.11.2023 г.</a:t>
            </a:fld>
            <a:endParaRPr lang="bg-BG" dirty="0"/>
          </a:p>
        </p:txBody>
      </p:sp>
      <p:sp>
        <p:nvSpPr>
          <p:cNvPr id="6" name="Footer Placeholder 5"/>
          <p:cNvSpPr>
            <a:spLocks noGrp="1"/>
          </p:cNvSpPr>
          <p:nvPr>
            <p:ph type="ftr" sz="quarter" idx="11"/>
          </p:nvPr>
        </p:nvSpPr>
        <p:spPr/>
        <p:txBody>
          <a:bodyPr/>
          <a:lstStyle/>
          <a:p>
            <a:endParaRPr lang="bg-BG" dirty="0"/>
          </a:p>
        </p:txBody>
      </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06091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EB004C-1449-4E25-B641-5BE18784B024}" type="datetime1">
              <a:rPr lang="bg-BG" smtClean="0"/>
              <a:t>20.11.2023 г.</a:t>
            </a:fld>
            <a:endParaRPr lang="bg-BG" dirty="0"/>
          </a:p>
        </p:txBody>
      </p:sp>
      <p:sp>
        <p:nvSpPr>
          <p:cNvPr id="8" name="Footer Placeholder 7"/>
          <p:cNvSpPr>
            <a:spLocks noGrp="1"/>
          </p:cNvSpPr>
          <p:nvPr>
            <p:ph type="ftr" sz="quarter" idx="11"/>
          </p:nvPr>
        </p:nvSpPr>
        <p:spPr/>
        <p:txBody>
          <a:bodyPr/>
          <a:lstStyle/>
          <a:p>
            <a:endParaRPr lang="bg-BG" dirty="0"/>
          </a:p>
        </p:txBody>
      </p:sp>
      <p:sp>
        <p:nvSpPr>
          <p:cNvPr id="9" name="Slide Number Placeholder 8"/>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598907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BC1725-AB21-4845-BE49-CE8C42164743}" type="datetime1">
              <a:rPr lang="bg-BG" smtClean="0"/>
              <a:t>20.11.2023 г.</a:t>
            </a:fld>
            <a:endParaRPr lang="bg-BG" dirty="0"/>
          </a:p>
        </p:txBody>
      </p:sp>
      <p:sp>
        <p:nvSpPr>
          <p:cNvPr id="4" name="Footer Placeholder 3"/>
          <p:cNvSpPr>
            <a:spLocks noGrp="1"/>
          </p:cNvSpPr>
          <p:nvPr>
            <p:ph type="ftr" sz="quarter" idx="11"/>
          </p:nvPr>
        </p:nvSpPr>
        <p:spPr/>
        <p:txBody>
          <a:bodyPr/>
          <a:lstStyle/>
          <a:p>
            <a:endParaRPr lang="bg-BG" dirty="0"/>
          </a:p>
        </p:txBody>
      </p:sp>
      <p:sp>
        <p:nvSpPr>
          <p:cNvPr id="5" name="Slide Number Placeholder 4"/>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053536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87940C-92A6-42D4-A0AE-8AE229120CFF}" type="datetime1">
              <a:rPr lang="bg-BG" smtClean="0"/>
              <a:t>20.11.2023 г.</a:t>
            </a:fld>
            <a:endParaRPr lang="bg-BG" dirty="0"/>
          </a:p>
        </p:txBody>
      </p:sp>
      <p:sp>
        <p:nvSpPr>
          <p:cNvPr id="3" name="Footer Placeholder 2"/>
          <p:cNvSpPr>
            <a:spLocks noGrp="1"/>
          </p:cNvSpPr>
          <p:nvPr>
            <p:ph type="ftr" sz="quarter" idx="11"/>
          </p:nvPr>
        </p:nvSpPr>
        <p:spPr/>
        <p:txBody>
          <a:bodyPr/>
          <a:lstStyle/>
          <a:p>
            <a:endParaRPr lang="bg-BG" dirty="0"/>
          </a:p>
        </p:txBody>
      </p:sp>
      <p:sp>
        <p:nvSpPr>
          <p:cNvPr id="4" name="Slide Number Placeholder 3"/>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13051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64F04CA-5B7E-4437-926E-A34999B7E6C0}" type="datetime1">
              <a:rPr lang="bg-BG" smtClean="0"/>
              <a:t>20.11.2023 г.</a:t>
            </a:fld>
            <a:endParaRPr lang="bg-BG" dirty="0"/>
          </a:p>
        </p:txBody>
      </p:sp>
      <p:sp>
        <p:nvSpPr>
          <p:cNvPr id="6" name="Footer Placeholder 5"/>
          <p:cNvSpPr>
            <a:spLocks noGrp="1"/>
          </p:cNvSpPr>
          <p:nvPr>
            <p:ph type="ftr" sz="quarter" idx="11"/>
          </p:nvPr>
        </p:nvSpPr>
        <p:spPr/>
        <p:txBody>
          <a:bodyPr/>
          <a:lstStyle/>
          <a:p>
            <a:endParaRPr lang="bg-BG"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283409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6DBFFBA-50AA-4558-ADC7-8C8BF6C03621}" type="datetime1">
              <a:rPr lang="bg-BG" smtClean="0"/>
              <a:t>20.11.2023 г.</a:t>
            </a:fld>
            <a:endParaRPr lang="bg-BG"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1287546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C901CF-14B7-42BE-8693-1C6A365ED97B}" type="datetime1">
              <a:rPr lang="bg-BG" smtClean="0"/>
              <a:t>20.11.2023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282757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1A9374-CC8C-4027-8C9C-D37ED427A6AE}" type="datetime1">
              <a:rPr lang="bg-BG" smtClean="0"/>
              <a:t>20.11.2023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1299534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DC22829-1A03-43BA-AD1C-84AE46C99B1D}" type="datetime1">
              <a:rPr lang="bg-BG" smtClean="0"/>
              <a:t>20.11.2023 г.</a:t>
            </a:fld>
            <a:endParaRPr lang="bg-BG"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bg-BG"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36348257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notesSlide" Target="../notesSlides/notesSlide4.xml"/><Relationship Id="rId7"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5.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9.xml"/><Relationship Id="rId7" Type="http://schemas.openxmlformats.org/officeDocument/2006/relationships/image" Target="../media/image10.wmf"/><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oleObject" Target="../embeddings/oleObject5.bin"/><Relationship Id="rId11" Type="http://schemas.openxmlformats.org/officeDocument/2006/relationships/image" Target="../media/image12.wmf"/><Relationship Id="rId5" Type="http://schemas.openxmlformats.org/officeDocument/2006/relationships/image" Target="../media/image9.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11.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7.wmf"/><Relationship Id="rId3" Type="http://schemas.openxmlformats.org/officeDocument/2006/relationships/notesSlide" Target="../notesSlides/notesSlide10.xml"/><Relationship Id="rId7" Type="http://schemas.openxmlformats.org/officeDocument/2006/relationships/image" Target="../media/image14.wmf"/><Relationship Id="rId12"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oleObject" Target="../embeddings/oleObject9.bin"/><Relationship Id="rId11" Type="http://schemas.openxmlformats.org/officeDocument/2006/relationships/image" Target="../media/image16.wmf"/><Relationship Id="rId5" Type="http://schemas.openxmlformats.org/officeDocument/2006/relationships/image" Target="../media/image13.wmf"/><Relationship Id="rId15" Type="http://schemas.openxmlformats.org/officeDocument/2006/relationships/image" Target="../media/image18.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5.wmf"/><Relationship Id="rId14" Type="http://schemas.openxmlformats.org/officeDocument/2006/relationships/oleObject" Target="../embeddings/oleObject13.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19.wmf"/><Relationship Id="rId5" Type="http://schemas.openxmlformats.org/officeDocument/2006/relationships/oleObject" Target="../embeddings/oleObject14.bin"/><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3.xml"/><Relationship Id="rId1" Type="http://schemas.openxmlformats.org/officeDocument/2006/relationships/vmlDrawing" Target="../drawings/vmlDrawing6.vml"/><Relationship Id="rId4" Type="http://schemas.openxmlformats.org/officeDocument/2006/relationships/image" Target="../media/image21.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image" Target="../media/image23.wmf"/><Relationship Id="rId2" Type="http://schemas.openxmlformats.org/officeDocument/2006/relationships/slideLayout" Target="../slideLayouts/slideLayout3.xml"/><Relationship Id="rId1" Type="http://schemas.openxmlformats.org/officeDocument/2006/relationships/vmlDrawing" Target="../drawings/vmlDrawing7.vml"/><Relationship Id="rId6" Type="http://schemas.openxmlformats.org/officeDocument/2006/relationships/oleObject" Target="../embeddings/oleObject18.bin"/><Relationship Id="rId5" Type="http://schemas.openxmlformats.org/officeDocument/2006/relationships/oleObject" Target="../embeddings/oleObject17.bin"/><Relationship Id="rId4" Type="http://schemas.openxmlformats.org/officeDocument/2006/relationships/image" Target="../media/image22.w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24.wmf"/><Relationship Id="rId2" Type="http://schemas.openxmlformats.org/officeDocument/2006/relationships/slideLayout" Target="../slideLayouts/slideLayout3.xml"/><Relationship Id="rId1" Type="http://schemas.openxmlformats.org/officeDocument/2006/relationships/vmlDrawing" Target="../drawings/vmlDrawing8.vml"/><Relationship Id="rId6" Type="http://schemas.openxmlformats.org/officeDocument/2006/relationships/oleObject" Target="../embeddings/oleObject20.bin"/><Relationship Id="rId5" Type="http://schemas.openxmlformats.org/officeDocument/2006/relationships/image" Target="../media/image22.wmf"/><Relationship Id="rId4" Type="http://schemas.openxmlformats.org/officeDocument/2006/relationships/oleObject" Target="../embeddings/oleObject19.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vmlDrawing" Target="../drawings/vmlDrawing9.vml"/><Relationship Id="rId5" Type="http://schemas.openxmlformats.org/officeDocument/2006/relationships/image" Target="../media/image25.wmf"/><Relationship Id="rId4" Type="http://schemas.openxmlformats.org/officeDocument/2006/relationships/oleObject" Target="../embeddings/oleObject21.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30.wmf"/><Relationship Id="rId3" Type="http://schemas.openxmlformats.org/officeDocument/2006/relationships/notesSlide" Target="../notesSlides/notesSlide15.xml"/><Relationship Id="rId7" Type="http://schemas.openxmlformats.org/officeDocument/2006/relationships/image" Target="../media/image27.wmf"/><Relationship Id="rId12" Type="http://schemas.openxmlformats.org/officeDocument/2006/relationships/oleObject" Target="../embeddings/oleObject26.bin"/><Relationship Id="rId2" Type="http://schemas.openxmlformats.org/officeDocument/2006/relationships/slideLayout" Target="../slideLayouts/slideLayout3.xml"/><Relationship Id="rId1" Type="http://schemas.openxmlformats.org/officeDocument/2006/relationships/vmlDrawing" Target="../drawings/vmlDrawing10.vml"/><Relationship Id="rId6" Type="http://schemas.openxmlformats.org/officeDocument/2006/relationships/oleObject" Target="../embeddings/oleObject23.bin"/><Relationship Id="rId11" Type="http://schemas.openxmlformats.org/officeDocument/2006/relationships/image" Target="../media/image29.wmf"/><Relationship Id="rId5" Type="http://schemas.openxmlformats.org/officeDocument/2006/relationships/image" Target="../media/image26.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28.wmf"/></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xml"/><Relationship Id="rId1" Type="http://schemas.openxmlformats.org/officeDocument/2006/relationships/vmlDrawing" Target="../drawings/vmlDrawing11.vml"/><Relationship Id="rId5" Type="http://schemas.openxmlformats.org/officeDocument/2006/relationships/image" Target="../media/image33.png"/><Relationship Id="rId4" Type="http://schemas.openxmlformats.org/officeDocument/2006/relationships/image" Target="../media/image32.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3.xml"/><Relationship Id="rId1" Type="http://schemas.openxmlformats.org/officeDocument/2006/relationships/vmlDrawing" Target="../drawings/vmlDrawing12.vml"/><Relationship Id="rId6" Type="http://schemas.openxmlformats.org/officeDocument/2006/relationships/image" Target="../media/image35.wmf"/><Relationship Id="rId5" Type="http://schemas.openxmlformats.org/officeDocument/2006/relationships/oleObject" Target="../embeddings/oleObject29.bin"/><Relationship Id="rId4" Type="http://schemas.openxmlformats.org/officeDocument/2006/relationships/image" Target="../media/image34.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oleObject" Target="../embeddings/oleObject36.bin"/><Relationship Id="rId3" Type="http://schemas.openxmlformats.org/officeDocument/2006/relationships/oleObject" Target="../embeddings/oleObject30.bin"/><Relationship Id="rId7" Type="http://schemas.openxmlformats.org/officeDocument/2006/relationships/image" Target="../media/image37.wmf"/><Relationship Id="rId12" Type="http://schemas.openxmlformats.org/officeDocument/2006/relationships/oleObject" Target="../embeddings/oleObject35.bin"/><Relationship Id="rId2" Type="http://schemas.openxmlformats.org/officeDocument/2006/relationships/slideLayout" Target="../slideLayouts/slideLayout3.xml"/><Relationship Id="rId1" Type="http://schemas.openxmlformats.org/officeDocument/2006/relationships/vmlDrawing" Target="../drawings/vmlDrawing13.vml"/><Relationship Id="rId6" Type="http://schemas.openxmlformats.org/officeDocument/2006/relationships/oleObject" Target="../embeddings/oleObject32.bin"/><Relationship Id="rId11" Type="http://schemas.openxmlformats.org/officeDocument/2006/relationships/image" Target="../media/image39.wmf"/><Relationship Id="rId5" Type="http://schemas.openxmlformats.org/officeDocument/2006/relationships/oleObject" Target="../embeddings/oleObject31.bin"/><Relationship Id="rId15" Type="http://schemas.openxmlformats.org/officeDocument/2006/relationships/image" Target="../media/image40.wmf"/><Relationship Id="rId10" Type="http://schemas.openxmlformats.org/officeDocument/2006/relationships/oleObject" Target="../embeddings/oleObject34.bin"/><Relationship Id="rId4" Type="http://schemas.openxmlformats.org/officeDocument/2006/relationships/image" Target="../media/image36.wmf"/><Relationship Id="rId9" Type="http://schemas.openxmlformats.org/officeDocument/2006/relationships/image" Target="../media/image38.wmf"/><Relationship Id="rId14" Type="http://schemas.openxmlformats.org/officeDocument/2006/relationships/oleObject" Target="../embeddings/oleObject37.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3.xml"/><Relationship Id="rId1" Type="http://schemas.openxmlformats.org/officeDocument/2006/relationships/vmlDrawing" Target="../drawings/vmlDrawing14.vml"/><Relationship Id="rId6" Type="http://schemas.openxmlformats.org/officeDocument/2006/relationships/image" Target="../media/image41.wmf"/><Relationship Id="rId5" Type="http://schemas.openxmlformats.org/officeDocument/2006/relationships/oleObject" Target="../embeddings/oleObject39.bin"/><Relationship Id="rId4" Type="http://schemas.openxmlformats.org/officeDocument/2006/relationships/image" Target="../media/image36.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3.xml"/><Relationship Id="rId1" Type="http://schemas.openxmlformats.org/officeDocument/2006/relationships/vmlDrawing" Target="../drawings/vmlDrawing15.vml"/><Relationship Id="rId6" Type="http://schemas.openxmlformats.org/officeDocument/2006/relationships/image" Target="../media/image43.wmf"/><Relationship Id="rId5" Type="http://schemas.openxmlformats.org/officeDocument/2006/relationships/oleObject" Target="../embeddings/oleObject41.bin"/><Relationship Id="rId4" Type="http://schemas.openxmlformats.org/officeDocument/2006/relationships/image" Target="../media/image42.wmf"/></Relationships>
</file>

<file path=ppt/slides/_rels/slide29.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42.bin"/><Relationship Id="rId7" Type="http://schemas.openxmlformats.org/officeDocument/2006/relationships/oleObject" Target="../embeddings/oleObject44.bin"/><Relationship Id="rId2" Type="http://schemas.openxmlformats.org/officeDocument/2006/relationships/slideLayout" Target="../slideLayouts/slideLayout3.xml"/><Relationship Id="rId1" Type="http://schemas.openxmlformats.org/officeDocument/2006/relationships/vmlDrawing" Target="../drawings/vmlDrawing16.vml"/><Relationship Id="rId6" Type="http://schemas.openxmlformats.org/officeDocument/2006/relationships/image" Target="../media/image44.wmf"/><Relationship Id="rId5" Type="http://schemas.openxmlformats.org/officeDocument/2006/relationships/oleObject" Target="../embeddings/oleObject43.bin"/><Relationship Id="rId4" Type="http://schemas.openxmlformats.org/officeDocument/2006/relationships/image" Target="../media/image36.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45.bin"/><Relationship Id="rId7" Type="http://schemas.openxmlformats.org/officeDocument/2006/relationships/oleObject" Target="../embeddings/oleObject47.bin"/><Relationship Id="rId12" Type="http://schemas.openxmlformats.org/officeDocument/2006/relationships/image" Target="../media/image50.wmf"/><Relationship Id="rId2" Type="http://schemas.openxmlformats.org/officeDocument/2006/relationships/slideLayout" Target="../slideLayouts/slideLayout3.xml"/><Relationship Id="rId1" Type="http://schemas.openxmlformats.org/officeDocument/2006/relationships/vmlDrawing" Target="../drawings/vmlDrawing17.vml"/><Relationship Id="rId6" Type="http://schemas.openxmlformats.org/officeDocument/2006/relationships/image" Target="../media/image47.wmf"/><Relationship Id="rId11" Type="http://schemas.openxmlformats.org/officeDocument/2006/relationships/oleObject" Target="../embeddings/oleObject49.bin"/><Relationship Id="rId5" Type="http://schemas.openxmlformats.org/officeDocument/2006/relationships/oleObject" Target="../embeddings/oleObject46.bin"/><Relationship Id="rId10" Type="http://schemas.openxmlformats.org/officeDocument/2006/relationships/image" Target="../media/image49.wmf"/><Relationship Id="rId4" Type="http://schemas.openxmlformats.org/officeDocument/2006/relationships/image" Target="../media/image46.wmf"/><Relationship Id="rId9" Type="http://schemas.openxmlformats.org/officeDocument/2006/relationships/oleObject" Target="../embeddings/oleObject48.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51.wmf"/><Relationship Id="rId2" Type="http://schemas.openxmlformats.org/officeDocument/2006/relationships/slideLayout" Target="../slideLayouts/slideLayout3.xml"/><Relationship Id="rId1" Type="http://schemas.openxmlformats.org/officeDocument/2006/relationships/vmlDrawing" Target="../drawings/vmlDrawing18.vml"/><Relationship Id="rId6" Type="http://schemas.openxmlformats.org/officeDocument/2006/relationships/oleObject" Target="../embeddings/oleObject51.bin"/><Relationship Id="rId5" Type="http://schemas.openxmlformats.org/officeDocument/2006/relationships/image" Target="../media/image48.wmf"/><Relationship Id="rId4" Type="http://schemas.openxmlformats.org/officeDocument/2006/relationships/oleObject" Target="../embeddings/oleObject50.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vmlDrawing" Target="../drawings/vmlDrawing19.vml"/><Relationship Id="rId5" Type="http://schemas.openxmlformats.org/officeDocument/2006/relationships/image" Target="../media/image52.wmf"/><Relationship Id="rId4" Type="http://schemas.openxmlformats.org/officeDocument/2006/relationships/oleObject" Target="../embeddings/oleObject52.bin"/></Relationships>
</file>

<file path=ppt/slides/_rels/slide34.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notesSlide" Target="../notesSlides/notesSlide20.xml"/><Relationship Id="rId7" Type="http://schemas.openxmlformats.org/officeDocument/2006/relationships/oleObject" Target="../embeddings/oleObject54.bin"/><Relationship Id="rId2" Type="http://schemas.openxmlformats.org/officeDocument/2006/relationships/slideLayout" Target="../slideLayouts/slideLayout3.xml"/><Relationship Id="rId1" Type="http://schemas.openxmlformats.org/officeDocument/2006/relationships/vmlDrawing" Target="../drawings/vmlDrawing20.vml"/><Relationship Id="rId6" Type="http://schemas.openxmlformats.org/officeDocument/2006/relationships/image" Target="../media/image53.wmf"/><Relationship Id="rId5" Type="http://schemas.openxmlformats.org/officeDocument/2006/relationships/oleObject" Target="../embeddings/oleObject53.bin"/><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vmlDrawing" Target="../drawings/vmlDrawing21.vml"/><Relationship Id="rId5" Type="http://schemas.openxmlformats.org/officeDocument/2006/relationships/image" Target="../media/image55.wmf"/><Relationship Id="rId4" Type="http://schemas.openxmlformats.org/officeDocument/2006/relationships/oleObject" Target="../embeddings/oleObject55.bin"/></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vmlDrawing" Target="../drawings/vmlDrawing22.vml"/><Relationship Id="rId5" Type="http://schemas.openxmlformats.org/officeDocument/2006/relationships/image" Target="../media/image56.wmf"/><Relationship Id="rId4" Type="http://schemas.openxmlformats.org/officeDocument/2006/relationships/oleObject" Target="../embeddings/oleObject5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4189" y="971490"/>
            <a:ext cx="10507579" cy="3957924"/>
          </a:xfrm>
        </p:spPr>
        <p:txBody>
          <a:bodyPr/>
          <a:lstStyle/>
          <a:p>
            <a:pPr algn="ctr"/>
            <a:r>
              <a:rPr lang="bg-BG" sz="4000" b="1" i="1" dirty="0"/>
              <a:t>Нелинейно програмиране. Формулировка на задачата. Методи за минимизация с и без ограничения. Многокритериална оптимизация</a:t>
            </a:r>
            <a:endParaRPr lang="ru-RU" altLang="bg-BG" sz="4000" b="1" dirty="0"/>
          </a:p>
        </p:txBody>
      </p:sp>
      <p:sp>
        <p:nvSpPr>
          <p:cNvPr id="4" name="Slide Number Placeholder 3"/>
          <p:cNvSpPr>
            <a:spLocks noGrp="1"/>
          </p:cNvSpPr>
          <p:nvPr>
            <p:ph type="sldNum" sz="quarter" idx="12"/>
          </p:nvPr>
        </p:nvSpPr>
        <p:spPr/>
        <p:txBody>
          <a:bodyPr/>
          <a:lstStyle/>
          <a:p>
            <a:fld id="{081674E5-CD74-4638-A238-012A517DC16A}" type="slidenum">
              <a:rPr lang="bg-BG" smtClean="0"/>
              <a:t>1</a:t>
            </a:fld>
            <a:endParaRPr lang="bg-BG" dirty="0"/>
          </a:p>
        </p:txBody>
      </p:sp>
    </p:spTree>
    <p:extLst>
      <p:ext uri="{BB962C8B-B14F-4D97-AF65-F5344CB8AC3E}">
        <p14:creationId xmlns:p14="http://schemas.microsoft.com/office/powerpoint/2010/main" val="2432293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032000" y="57170"/>
            <a:ext cx="10010183" cy="6369755"/>
          </a:xfrm>
        </p:spPr>
        <p:txBody>
          <a:bodyPr>
            <a:noAutofit/>
          </a:bodyPr>
          <a:lstStyle/>
          <a:p>
            <a:pPr indent="457200" algn="just">
              <a:lnSpc>
                <a:spcPct val="170000"/>
              </a:lnSpc>
              <a:defRPr/>
            </a:pPr>
            <a:r>
              <a:rPr lang="bg-BG" sz="2400" dirty="0"/>
              <a:t>Нелинейното програмиране се използва за оптимизация на нелинейни функции при линейни и нелинейни ограничения. Типични области на приложение са прогнозирането, планиране на промишлено производство, управление на стоки и товари, управление качеството на готова продукция, планиране на услуги и ремонт, проектиране на технологични процеси, отчитане и планиране на капиталовложения. НЕ СЪЩЕСТВУВА общ метод за решаване на нелинейни задачи за оптимизация, както симплекс метод или транспортната задача за решаване на задачи от линейното програмиране.</a:t>
            </a:r>
          </a:p>
        </p:txBody>
      </p:sp>
      <p:sp>
        <p:nvSpPr>
          <p:cNvPr id="4" name="Slide Number Placeholder 3"/>
          <p:cNvSpPr>
            <a:spLocks noGrp="1"/>
          </p:cNvSpPr>
          <p:nvPr>
            <p:ph type="sldNum" sz="quarter" idx="12"/>
          </p:nvPr>
        </p:nvSpPr>
        <p:spPr/>
        <p:txBody>
          <a:bodyPr/>
          <a:lstStyle/>
          <a:p>
            <a:fld id="{081674E5-CD74-4638-A238-012A517DC16A}" type="slidenum">
              <a:rPr lang="bg-BG" smtClean="0"/>
              <a:t>2</a:t>
            </a:fld>
            <a:endParaRPr lang="bg-BG" dirty="0"/>
          </a:p>
        </p:txBody>
      </p:sp>
    </p:spTree>
    <p:extLst>
      <p:ext uri="{BB962C8B-B14F-4D97-AF65-F5344CB8AC3E}">
        <p14:creationId xmlns:p14="http://schemas.microsoft.com/office/powerpoint/2010/main" val="173681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a:t>
            </a:fld>
            <a:endParaRPr lang="bg-BG" dirty="0"/>
          </a:p>
        </p:txBody>
      </p:sp>
      <p:sp>
        <p:nvSpPr>
          <p:cNvPr id="7" name="Content Placeholder 2"/>
          <p:cNvSpPr txBox="1">
            <a:spLocks/>
          </p:cNvSpPr>
          <p:nvPr/>
        </p:nvSpPr>
        <p:spPr>
          <a:xfrm>
            <a:off x="2032000" y="0"/>
            <a:ext cx="10160000" cy="6728604"/>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536575" algn="just">
              <a:lnSpc>
                <a:spcPct val="140000"/>
              </a:lnSpc>
              <a:spcBef>
                <a:spcPts val="0"/>
              </a:spcBef>
              <a:buNone/>
            </a:pPr>
            <a:r>
              <a:rPr lang="bg-BG" sz="2400" dirty="0"/>
              <a:t>Голяма част от практическите задачи имат няколко (а понякога и безброй) решения. Целта на оптимизацията е намирането на най-доброто решение от многото потенциално възможни в съответствие с някакъв критерий за ефективност или качество. Задача, която има само едно решение, не може да бъде оптимизирана. Методите за оптимизация могат да бъдат класифицирани по следния начин:</a:t>
            </a:r>
          </a:p>
          <a:p>
            <a:pPr marL="457200" indent="-457200" algn="just">
              <a:lnSpc>
                <a:spcPct val="140000"/>
              </a:lnSpc>
              <a:spcBef>
                <a:spcPts val="0"/>
              </a:spcBef>
              <a:buFont typeface="+mj-lt"/>
              <a:buAutoNum type="arabicPeriod"/>
            </a:pPr>
            <a:r>
              <a:rPr lang="bg-BG" sz="2400" dirty="0"/>
              <a:t>Аналитични методи, които използват класически методи от диференциалното и вариационно смятане. Тези методи се свеждат до търсене на екстремум на функция като се търсят онези стойности на неизвестната променлива, за които първата производна на функцията по тази променлива става равна на нула. При наличие на ограничения на функцията се прилагат методите на множителите на Лагранж и ограничените вариации.</a:t>
            </a:r>
          </a:p>
          <a:p>
            <a:pPr marL="0" lvl="0" indent="0" algn="just">
              <a:lnSpc>
                <a:spcPct val="140000"/>
              </a:lnSpc>
              <a:buNone/>
            </a:pPr>
            <a:endParaRPr lang="bg-BG" sz="2400" dirty="0"/>
          </a:p>
        </p:txBody>
      </p:sp>
    </p:spTree>
    <p:extLst>
      <p:ext uri="{BB962C8B-B14F-4D97-AF65-F5344CB8AC3E}">
        <p14:creationId xmlns:p14="http://schemas.microsoft.com/office/powerpoint/2010/main" val="53314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4</a:t>
            </a:fld>
            <a:endParaRPr lang="bg-BG" dirty="0"/>
          </a:p>
        </p:txBody>
      </p:sp>
      <p:sp>
        <p:nvSpPr>
          <p:cNvPr id="7" name="Content Placeholder 2"/>
          <p:cNvSpPr txBox="1">
            <a:spLocks/>
          </p:cNvSpPr>
          <p:nvPr/>
        </p:nvSpPr>
        <p:spPr>
          <a:xfrm>
            <a:off x="2032000" y="153128"/>
            <a:ext cx="9949924" cy="670487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8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9pPr>
          </a:lstStyle>
          <a:p>
            <a:pPr marL="457200" indent="-457200" algn="just">
              <a:lnSpc>
                <a:spcPct val="140000"/>
              </a:lnSpc>
              <a:spcBef>
                <a:spcPts val="0"/>
              </a:spcBef>
              <a:buFont typeface="+mj-lt"/>
              <a:buAutoNum type="arabicPeriod" startAt="2"/>
            </a:pPr>
            <a:r>
              <a:rPr lang="bg-BG" sz="2400" dirty="0"/>
              <a:t>Числени методи, които използват предходна информация и подобряват решението с помощта на итерационни процедури. Числените методи се прилагат при решаване на задачи, които нямат решение с аналитични методи. Тези методи ще разгледаме.</a:t>
            </a:r>
          </a:p>
          <a:p>
            <a:pPr marL="457200" indent="-457200" algn="just">
              <a:lnSpc>
                <a:spcPct val="140000"/>
              </a:lnSpc>
              <a:spcBef>
                <a:spcPts val="0"/>
              </a:spcBef>
              <a:buFont typeface="+mj-lt"/>
              <a:buAutoNum type="arabicPeriod" startAt="2"/>
            </a:pPr>
            <a:r>
              <a:rPr lang="bg-BG" sz="2400" dirty="0"/>
              <a:t>Графични методи, които с помощта на графично изображение на функцията, предлагат решението за функцията подлежаща на максимизация или минимизация. Тези методи са приложими само в случаите, когато броят на независимите променливи е не повече от два.</a:t>
            </a:r>
          </a:p>
          <a:p>
            <a:pPr marL="457200" indent="-457200" algn="just">
              <a:lnSpc>
                <a:spcPct val="140000"/>
              </a:lnSpc>
              <a:spcBef>
                <a:spcPts val="0"/>
              </a:spcBef>
              <a:buFont typeface="+mj-lt"/>
              <a:buAutoNum type="arabicPeriod" startAt="2"/>
            </a:pPr>
            <a:r>
              <a:rPr lang="bg-BG" sz="2400" dirty="0"/>
              <a:t>Експериментални методи. Екстремумът на функцията се намира чрез експериментиране с реалната система, а не с математическия модел. Резултатите от даден експеримент се използват, за да се планира следващия, с цел получаване на подобрени резултати.</a:t>
            </a:r>
          </a:p>
          <a:p>
            <a:pPr marL="457200" indent="-457200" algn="just">
              <a:lnSpc>
                <a:spcPct val="140000"/>
              </a:lnSpc>
              <a:spcBef>
                <a:spcPts val="0"/>
              </a:spcBef>
              <a:buFont typeface="+mj-lt"/>
              <a:buAutoNum type="arabicPeriod" startAt="2"/>
            </a:pPr>
            <a:endParaRPr lang="bg-BG" altLang="bg-BG" sz="2400" dirty="0">
              <a:sym typeface="Symbol" panose="05050102010706020507" pitchFamily="18" charset="2"/>
            </a:endParaRPr>
          </a:p>
          <a:p>
            <a:pPr marL="457200" algn="just">
              <a:lnSpc>
                <a:spcPct val="150000"/>
              </a:lnSpc>
              <a:spcBef>
                <a:spcPts val="0"/>
              </a:spcBef>
            </a:pPr>
            <a:endParaRPr lang="en-US" sz="2400" dirty="0">
              <a:solidFill>
                <a:schemeClr val="tx1">
                  <a:lumMod val="95000"/>
                  <a:lumOff val="5000"/>
                </a:schemeClr>
              </a:solidFill>
            </a:endParaRPr>
          </a:p>
        </p:txBody>
      </p:sp>
    </p:spTree>
    <p:extLst>
      <p:ext uri="{BB962C8B-B14F-4D97-AF65-F5344CB8AC3E}">
        <p14:creationId xmlns:p14="http://schemas.microsoft.com/office/powerpoint/2010/main" val="700737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032001" y="228600"/>
            <a:ext cx="9927772" cy="6522705"/>
          </a:xfrm>
        </p:spPr>
        <p:txBody>
          <a:bodyPr>
            <a:noAutofit/>
          </a:bodyPr>
          <a:lstStyle/>
          <a:p>
            <a:pPr indent="536575" algn="just">
              <a:lnSpc>
                <a:spcPct val="140000"/>
              </a:lnSpc>
              <a:spcBef>
                <a:spcPts val="0"/>
              </a:spcBef>
            </a:pPr>
            <a:r>
              <a:rPr lang="bg-BG" sz="2400" dirty="0"/>
              <a:t>Математическият модел съдържа функции, които участват в процеса на оптимизация. За да има физически смисъл търсения екстремум, моделът трябва адекватно да отразява съществените особености на реалната система. Дори и в такива случаи, обаче, се срещат следните проблеми:</a:t>
            </a:r>
          </a:p>
          <a:p>
            <a:pPr marL="457200" indent="-457200" algn="just">
              <a:lnSpc>
                <a:spcPct val="140000"/>
              </a:lnSpc>
              <a:spcBef>
                <a:spcPts val="0"/>
              </a:spcBef>
              <a:buFont typeface="+mj-lt"/>
              <a:buAutoNum type="arabicPeriod"/>
            </a:pPr>
            <a:r>
              <a:rPr lang="bg-BG" sz="2400" dirty="0"/>
              <a:t>Оптимизационният критерий може да бъде нечувствителен към изменението на оптимизируемите променливи и поради това не може да бъде намерен дори ярко изразен екстремум.</a:t>
            </a:r>
          </a:p>
          <a:p>
            <a:pPr marL="457200" indent="-457200" algn="just">
              <a:lnSpc>
                <a:spcPct val="140000"/>
              </a:lnSpc>
              <a:spcBef>
                <a:spcPts val="0"/>
              </a:spcBef>
              <a:buFont typeface="+mj-lt"/>
              <a:buAutoNum type="arabicPeriod"/>
            </a:pPr>
            <a:r>
              <a:rPr lang="bg-BG" sz="2400" dirty="0"/>
              <a:t>Оптимизационният критерий или някои от ограниченията могат да получат в областта на екстремума неограничени стойности (също и частните първи производни могат да станат неограничени).</a:t>
            </a:r>
          </a:p>
          <a:p>
            <a:pPr indent="536575" algn="just">
              <a:lnSpc>
                <a:spcPct val="140000"/>
              </a:lnSpc>
              <a:spcBef>
                <a:spcPts val="0"/>
              </a:spcBef>
            </a:pPr>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5</a:t>
            </a:fld>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9" name="Rectangle 6"/>
          <p:cNvSpPr>
            <a:spLocks noChangeArrowheads="1"/>
          </p:cNvSpPr>
          <p:nvPr/>
        </p:nvSpPr>
        <p:spPr bwMode="auto">
          <a:xfrm>
            <a:off x="0" y="228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r>
              <a:rPr kumimoji="0" lang="bg-BG" altLang="bg-BG" sz="900" b="0" i="0" u="none" strike="noStrike" cap="none" normalizeH="0" baseline="0">
                <a:ln>
                  <a:noFill/>
                </a:ln>
                <a:solidFill>
                  <a:schemeClr val="tx1"/>
                </a:solidFill>
                <a:effectLst/>
              </a:rPr>
              <a:t> </a:t>
            </a:r>
            <a:endParaRPr kumimoji="0" lang="bg-BG" altLang="bg-BG" sz="1800" b="0" i="0" u="none" strike="noStrike" cap="none" normalizeH="0" baseline="0">
              <a:ln>
                <a:noFill/>
              </a:ln>
              <a:solidFill>
                <a:schemeClr val="tx1"/>
              </a:solidFill>
              <a:effectLst/>
              <a:latin typeface="Arial" panose="020B0604020202020204" pitchFamily="34" charset="0"/>
            </a:endParaRPr>
          </a:p>
        </p:txBody>
      </p:sp>
      <p:sp>
        <p:nvSpPr>
          <p:cNvPr id="20" name="Rectangle 17"/>
          <p:cNvSpPr>
            <a:spLocks noChangeArrowheads="1"/>
          </p:cNvSpPr>
          <p:nvPr/>
        </p:nvSpPr>
        <p:spPr bwMode="auto">
          <a:xfrm>
            <a:off x="0" y="1143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2" name="Rectangle 1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8" name="Rectangle 2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3814111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150713" y="-80480"/>
            <a:ext cx="9811657" cy="4855684"/>
          </a:xfrm>
        </p:spPr>
        <p:txBody>
          <a:bodyPr>
            <a:noAutofit/>
          </a:bodyPr>
          <a:lstStyle/>
          <a:p>
            <a:pPr indent="536575" algn="just">
              <a:lnSpc>
                <a:spcPct val="150000"/>
              </a:lnSpc>
              <a:spcBef>
                <a:spcPts val="0"/>
              </a:spcBef>
            </a:pPr>
            <a:r>
              <a:rPr lang="bg-BG" sz="2400" dirty="0"/>
              <a:t>Тази трудност може да се преодолее, ако се ограничи областта на допустимите стойности, като се въведат допълнителни ограничения или се промени самия математически модел.</a:t>
            </a:r>
          </a:p>
          <a:p>
            <a:pPr marL="457200" indent="-457200" algn="just">
              <a:lnSpc>
                <a:spcPct val="140000"/>
              </a:lnSpc>
              <a:spcBef>
                <a:spcPts val="0"/>
              </a:spcBef>
              <a:buFont typeface="+mj-lt"/>
              <a:buAutoNum type="arabicPeriod" startAt="3"/>
            </a:pPr>
            <a:r>
              <a:rPr lang="bg-BG" sz="2400" dirty="0"/>
              <a:t>Променливите са лошо мащабирани. Това се получава, когато един от членовете в оптимизационния критерий има съществен</a:t>
            </a:r>
            <a:r>
              <a:rPr lang="en-US" sz="2400" dirty="0"/>
              <a:t>o</a:t>
            </a:r>
            <a:r>
              <a:rPr lang="bg-BG" sz="2400" dirty="0"/>
              <a:t> по-нисък порядък, отколкото другите. Така критерият става нечувствителен спрямо измененията на тази променлива.</a:t>
            </a:r>
          </a:p>
          <a:p>
            <a:pPr indent="536575" algn="just">
              <a:lnSpc>
                <a:spcPct val="150000"/>
              </a:lnSpc>
              <a:spcBef>
                <a:spcPts val="0"/>
              </a:spcBef>
            </a:pPr>
            <a:r>
              <a:rPr lang="bg-BG" sz="2400" dirty="0"/>
              <a:t>Например целевата функция: 			       малко ще зависи от измененията на </a:t>
            </a:r>
            <a:r>
              <a:rPr lang="en-US" sz="2400" i="1" dirty="0"/>
              <a:t>x</a:t>
            </a:r>
            <a:r>
              <a:rPr lang="en-US" sz="2400" i="1" baseline="-25000" dirty="0"/>
              <a:t>2</a:t>
            </a:r>
            <a:r>
              <a:rPr lang="en-US" sz="2400" i="1" dirty="0"/>
              <a:t>. </a:t>
            </a:r>
          </a:p>
          <a:p>
            <a:pPr marL="457200" indent="-457200" algn="just">
              <a:lnSpc>
                <a:spcPct val="140000"/>
              </a:lnSpc>
              <a:spcBef>
                <a:spcPts val="0"/>
              </a:spcBef>
              <a:buFont typeface="+mj-lt"/>
              <a:buAutoNum type="arabicPeriod" startAt="3"/>
            </a:pPr>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6</a:t>
            </a:fld>
            <a:endParaRPr lang="bg-BG" dirty="0"/>
          </a:p>
        </p:txBody>
      </p:sp>
      <p:sp>
        <p:nvSpPr>
          <p:cNvPr id="32"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33" name="Object 32"/>
          <p:cNvGraphicFramePr>
            <a:graphicFrameLocks noChangeAspect="1"/>
          </p:cNvGraphicFramePr>
          <p:nvPr>
            <p:extLst>
              <p:ext uri="{D42A27DB-BD31-4B8C-83A1-F6EECF244321}">
                <p14:modId xmlns:p14="http://schemas.microsoft.com/office/powerpoint/2010/main" val="1319457458"/>
              </p:ext>
            </p:extLst>
          </p:nvPr>
        </p:nvGraphicFramePr>
        <p:xfrm>
          <a:off x="7056541" y="3724895"/>
          <a:ext cx="2637688" cy="506436"/>
        </p:xfrm>
        <a:graphic>
          <a:graphicData uri="http://schemas.openxmlformats.org/presentationml/2006/ole">
            <mc:AlternateContent xmlns:mc="http://schemas.openxmlformats.org/markup-compatibility/2006">
              <mc:Choice xmlns:v="urn:schemas-microsoft-com:vml" Requires="v">
                <p:oleObj spid="_x0000_s1028" r:id="rId4" imgW="1193800" imgH="228600" progId="Equation.3">
                  <p:embed/>
                </p:oleObj>
              </mc:Choice>
              <mc:Fallback>
                <p:oleObj r:id="rId4" imgW="1193800" imgH="228600" progId="Equation.3">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56541" y="3724895"/>
                        <a:ext cx="2637688" cy="506436"/>
                      </a:xfrm>
                      <a:prstGeom prst="rect">
                        <a:avLst/>
                      </a:prstGeom>
                      <a:noFill/>
                    </p:spPr>
                  </p:pic>
                </p:oleObj>
              </mc:Fallback>
            </mc:AlternateContent>
          </a:graphicData>
        </a:graphic>
      </p:graphicFrame>
      <p:pic>
        <p:nvPicPr>
          <p:cNvPr id="2" name="Picture 1"/>
          <p:cNvPicPr>
            <a:picLocks noChangeAspect="1"/>
          </p:cNvPicPr>
          <p:nvPr/>
        </p:nvPicPr>
        <p:blipFill>
          <a:blip r:embed="rId6"/>
          <a:stretch>
            <a:fillRect/>
          </a:stretch>
        </p:blipFill>
        <p:spPr>
          <a:xfrm>
            <a:off x="258143" y="5848040"/>
            <a:ext cx="3547714" cy="1019908"/>
          </a:xfrm>
          <a:prstGeom prst="rect">
            <a:avLst/>
          </a:prstGeom>
        </p:spPr>
      </p:pic>
      <p:sp>
        <p:nvSpPr>
          <p:cNvPr id="5" name="Rectangle 4"/>
          <p:cNvSpPr/>
          <p:nvPr/>
        </p:nvSpPr>
        <p:spPr>
          <a:xfrm>
            <a:off x="3805857" y="6002275"/>
            <a:ext cx="5030544" cy="461665"/>
          </a:xfrm>
          <a:prstGeom prst="rect">
            <a:avLst/>
          </a:prstGeom>
        </p:spPr>
        <p:txBody>
          <a:bodyPr wrap="none">
            <a:spAutoFit/>
          </a:bodyPr>
          <a:lstStyle/>
          <a:p>
            <a:r>
              <a:rPr lang="bg-BG" sz="2400" dirty="0"/>
              <a:t>Целевата функция ще добие вида: </a:t>
            </a:r>
          </a:p>
        </p:txBody>
      </p:sp>
      <p:sp>
        <p:nvSpPr>
          <p:cNvPr id="6" name="Rectangle 5"/>
          <p:cNvSpPr/>
          <p:nvPr/>
        </p:nvSpPr>
        <p:spPr>
          <a:xfrm>
            <a:off x="0" y="4729760"/>
            <a:ext cx="12192000" cy="1131785"/>
          </a:xfrm>
          <a:prstGeom prst="rect">
            <a:avLst/>
          </a:prstGeom>
        </p:spPr>
        <p:txBody>
          <a:bodyPr wrap="square">
            <a:spAutoFit/>
          </a:bodyPr>
          <a:lstStyle/>
          <a:p>
            <a:pPr indent="536575" algn="just">
              <a:lnSpc>
                <a:spcPct val="150000"/>
              </a:lnSpc>
              <a:buClr>
                <a:schemeClr val="accent1">
                  <a:lumMod val="75000"/>
                </a:schemeClr>
              </a:buClr>
              <a:buSzPct val="85000"/>
            </a:pPr>
            <a:r>
              <a:rPr lang="bg-BG" sz="2400" dirty="0"/>
              <a:t>Ако </a:t>
            </a:r>
            <a:r>
              <a:rPr lang="en-US" sz="2400" dirty="0"/>
              <a:t>x</a:t>
            </a:r>
            <a:r>
              <a:rPr lang="en-US" sz="2400" baseline="-25000" dirty="0"/>
              <a:t>2</a:t>
            </a:r>
            <a:r>
              <a:rPr lang="en-US" sz="2400" dirty="0"/>
              <a:t> </a:t>
            </a:r>
            <a:r>
              <a:rPr lang="bg-BG" sz="2400" dirty="0"/>
              <a:t>е от същия порядък, от който е</a:t>
            </a:r>
            <a:r>
              <a:rPr lang="en-US" sz="2400" dirty="0"/>
              <a:t> x</a:t>
            </a:r>
            <a:r>
              <a:rPr lang="en-US" sz="2400" baseline="-25000" dirty="0"/>
              <a:t>1</a:t>
            </a:r>
            <a:r>
              <a:rPr lang="bg-BG" sz="2400" dirty="0"/>
              <a:t>, то за да се отчете влиянието на</a:t>
            </a:r>
            <a:r>
              <a:rPr lang="en-US" sz="2400" dirty="0"/>
              <a:t> x</a:t>
            </a:r>
            <a:r>
              <a:rPr lang="en-US" sz="2400" baseline="-25000" dirty="0"/>
              <a:t>2</a:t>
            </a:r>
            <a:r>
              <a:rPr lang="bg-BG" sz="2400" dirty="0"/>
              <a:t>, се препоръчват полаганията:</a:t>
            </a:r>
          </a:p>
        </p:txBody>
      </p:sp>
      <p:sp>
        <p:nvSpPr>
          <p:cNvPr id="7" name="Rectangle 5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8" name="Object 7"/>
          <p:cNvGraphicFramePr>
            <a:graphicFrameLocks noChangeAspect="1"/>
          </p:cNvGraphicFramePr>
          <p:nvPr>
            <p:extLst>
              <p:ext uri="{D42A27DB-BD31-4B8C-83A1-F6EECF244321}">
                <p14:modId xmlns:p14="http://schemas.microsoft.com/office/powerpoint/2010/main" val="1620812605"/>
              </p:ext>
            </p:extLst>
          </p:nvPr>
        </p:nvGraphicFramePr>
        <p:xfrm>
          <a:off x="8668856" y="5848040"/>
          <a:ext cx="2436780" cy="731034"/>
        </p:xfrm>
        <a:graphic>
          <a:graphicData uri="http://schemas.openxmlformats.org/presentationml/2006/ole">
            <mc:AlternateContent xmlns:mc="http://schemas.openxmlformats.org/markup-compatibility/2006">
              <mc:Choice xmlns:v="urn:schemas-microsoft-com:vml" Requires="v">
                <p:oleObj spid="_x0000_s1029" r:id="rId7" imgW="761669" imgH="228501" progId="Equation.3">
                  <p:embed/>
                </p:oleObj>
              </mc:Choice>
              <mc:Fallback>
                <p:oleObj r:id="rId7" imgW="761669" imgH="228501" progId="Equation.3">
                  <p:embed/>
                  <p:pic>
                    <p:nvPicPr>
                      <p:cNvPr id="0" name="Object 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68856" y="5848040"/>
                        <a:ext cx="2436780" cy="731034"/>
                      </a:xfrm>
                      <a:prstGeom prst="rect">
                        <a:avLst/>
                      </a:prstGeom>
                      <a:noFill/>
                    </p:spPr>
                  </p:pic>
                </p:oleObj>
              </mc:Fallback>
            </mc:AlternateContent>
          </a:graphicData>
        </a:graphic>
      </p:graphicFrame>
    </p:spTree>
    <p:extLst>
      <p:ext uri="{BB962C8B-B14F-4D97-AF65-F5344CB8AC3E}">
        <p14:creationId xmlns:p14="http://schemas.microsoft.com/office/powerpoint/2010/main" val="741963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1759044" y="122830"/>
                <a:ext cx="10160000" cy="6735170"/>
              </a:xfrm>
            </p:spPr>
            <p:txBody>
              <a:bodyPr>
                <a:noAutofit/>
              </a:bodyPr>
              <a:lstStyle/>
              <a:p>
                <a:pPr algn="just">
                  <a:lnSpc>
                    <a:spcPct val="140000"/>
                  </a:lnSpc>
                  <a:spcBef>
                    <a:spcPts val="0"/>
                  </a:spcBef>
                </a:pPr>
                <a:r>
                  <a:rPr lang="bg-BG" sz="2400" dirty="0"/>
                  <a:t>Стойностите на </a:t>
                </a:r>
                <a:r>
                  <a:rPr lang="en-US" sz="2400" i="1" dirty="0"/>
                  <a:t>x</a:t>
                </a:r>
                <a:r>
                  <a:rPr lang="en-US" sz="2400" i="1" baseline="-25000" dirty="0"/>
                  <a:t>1 </a:t>
                </a:r>
                <a:r>
                  <a:rPr lang="bg-BG" sz="2400" dirty="0"/>
                  <a:t>и </a:t>
                </a:r>
                <a:r>
                  <a:rPr lang="en-US" sz="2400" i="1" dirty="0"/>
                  <a:t>x</a:t>
                </a:r>
                <a:r>
                  <a:rPr lang="en-US" sz="2400" i="1" baseline="-25000" dirty="0"/>
                  <a:t>2</a:t>
                </a:r>
                <a:r>
                  <a:rPr lang="bg-BG" sz="2400" dirty="0"/>
                  <a:t> могат да се определят чрез стойностите на </a:t>
                </a:r>
                <a14:m>
                  <m:oMath xmlns:m="http://schemas.openxmlformats.org/officeDocument/2006/math">
                    <m:sSub>
                      <m:sSubPr>
                        <m:ctrlPr>
                          <a:rPr lang="bg-BG" sz="2400" i="1" smtClean="0">
                            <a:latin typeface="Cambria Math"/>
                          </a:rPr>
                        </m:ctrlPr>
                      </m:sSubPr>
                      <m:e>
                        <m:acc>
                          <m:accPr>
                            <m:chr m:val="̃"/>
                            <m:ctrlPr>
                              <a:rPr lang="bg-BG" sz="2400" i="1" smtClean="0">
                                <a:latin typeface="Cambria Math"/>
                              </a:rPr>
                            </m:ctrlPr>
                          </m:accPr>
                          <m:e>
                            <m:r>
                              <a:rPr lang="en-US" sz="2400" b="0" i="1" smtClean="0">
                                <a:latin typeface="Cambria Math" panose="02040503050406030204" pitchFamily="18" charset="0"/>
                              </a:rPr>
                              <m:t>𝑥</m:t>
                            </m:r>
                          </m:e>
                        </m:acc>
                      </m:e>
                      <m:sub>
                        <m:r>
                          <a:rPr lang="en-US" sz="2400" b="0" i="1" smtClean="0">
                            <a:latin typeface="Cambria Math" panose="02040503050406030204" pitchFamily="18" charset="0"/>
                          </a:rPr>
                          <m:t>1</m:t>
                        </m:r>
                      </m:sub>
                    </m:sSub>
                  </m:oMath>
                </a14:m>
                <a:r>
                  <a:rPr lang="en-US" sz="2400" dirty="0"/>
                  <a:t> </a:t>
                </a:r>
                <a:r>
                  <a:rPr lang="bg-BG" sz="2400" dirty="0"/>
                  <a:t>и </a:t>
                </a:r>
                <a14:m>
                  <m:oMath xmlns:m="http://schemas.openxmlformats.org/officeDocument/2006/math">
                    <m:sSub>
                      <m:sSubPr>
                        <m:ctrlPr>
                          <a:rPr lang="bg-BG" sz="2400" i="1" smtClean="0">
                            <a:latin typeface="Cambria Math"/>
                          </a:rPr>
                        </m:ctrlPr>
                      </m:sSubPr>
                      <m:e>
                        <m:acc>
                          <m:accPr>
                            <m:chr m:val="̃"/>
                            <m:ctrlPr>
                              <a:rPr lang="bg-BG" sz="2400" i="1">
                                <a:latin typeface="Cambria Math"/>
                              </a:rPr>
                            </m:ctrlPr>
                          </m:accPr>
                          <m:e>
                            <m:r>
                              <a:rPr lang="en-US" sz="2400" i="1">
                                <a:latin typeface="Cambria Math" panose="02040503050406030204" pitchFamily="18" charset="0"/>
                              </a:rPr>
                              <m:t>𝑥</m:t>
                            </m:r>
                          </m:e>
                        </m:acc>
                      </m:e>
                      <m:sub>
                        <m:r>
                          <a:rPr lang="bg-BG" sz="2400" b="0" i="1" smtClean="0">
                            <a:latin typeface="Cambria Math" panose="02040503050406030204" pitchFamily="18" charset="0"/>
                          </a:rPr>
                          <m:t>2</m:t>
                        </m:r>
                      </m:sub>
                    </m:sSub>
                  </m:oMath>
                </a14:m>
                <a:r>
                  <a:rPr lang="bg-BG" sz="2400" dirty="0"/>
                  <a:t>. Промяна чрез мащабиране на променливите не винаги е възможна.</a:t>
                </a:r>
              </a:p>
              <a:p>
                <a:pPr marL="457200" lvl="0" indent="-457200" algn="just">
                  <a:lnSpc>
                    <a:spcPct val="140000"/>
                  </a:lnSpc>
                  <a:spcBef>
                    <a:spcPts val="0"/>
                  </a:spcBef>
                  <a:buFont typeface="+mj-lt"/>
                  <a:buAutoNum type="arabicPeriod" startAt="4"/>
                </a:pPr>
                <a:r>
                  <a:rPr lang="bg-BG" sz="2400" dirty="0"/>
                  <a:t>В лошо построени математически модели променливите могат да се окажат взаимно свързани. </a:t>
                </a:r>
              </a:p>
              <a:p>
                <a:pPr lvl="0" indent="536575" algn="just">
                  <a:lnSpc>
                    <a:spcPct val="140000"/>
                  </a:lnSpc>
                  <a:spcBef>
                    <a:spcPts val="0"/>
                  </a:spcBef>
                </a:pPr>
                <a:r>
                  <a:rPr lang="bg-BG" sz="2400" dirty="0"/>
                  <a:t>Това може да се илюстрира със следната целева функция: </a:t>
                </a:r>
              </a:p>
              <a:p>
                <a:pPr indent="536575" algn="just">
                  <a:lnSpc>
                    <a:spcPct val="140000"/>
                  </a:lnSpc>
                  <a:spcBef>
                    <a:spcPts val="0"/>
                  </a:spcBef>
                </a:pPr>
                <a:r>
                  <a:rPr lang="bg-BG" sz="2400" dirty="0"/>
                  <a:t>При зададена стойност на произведението </a:t>
                </a:r>
                <a:r>
                  <a:rPr lang="en-US" sz="2400" i="1" dirty="0"/>
                  <a:t>x</a:t>
                </a:r>
                <a:r>
                  <a:rPr lang="en-US" sz="2400" i="1" baseline="-25000" dirty="0"/>
                  <a:t>1</a:t>
                </a:r>
                <a:r>
                  <a:rPr lang="en-US" sz="2400" i="1" dirty="0"/>
                  <a:t>x</a:t>
                </a:r>
                <a:r>
                  <a:rPr lang="en-US" sz="2400" i="1" baseline="-25000" dirty="0"/>
                  <a:t>2</a:t>
                </a:r>
                <a:r>
                  <a:rPr lang="en-US" sz="2400" dirty="0"/>
                  <a:t> </a:t>
                </a:r>
                <a:r>
                  <a:rPr lang="bg-BG" sz="2400" dirty="0"/>
                  <a:t>всяка от променливите  </a:t>
                </a:r>
                <a:r>
                  <a:rPr lang="en-US" sz="2400" i="1" dirty="0"/>
                  <a:t>x</a:t>
                </a:r>
                <a:r>
                  <a:rPr lang="en-US" sz="2400" i="1" baseline="-25000" dirty="0"/>
                  <a:t>1 </a:t>
                </a:r>
                <a:r>
                  <a:rPr lang="bg-BG" sz="2400" dirty="0"/>
                  <a:t>и </a:t>
                </a:r>
                <a:r>
                  <a:rPr lang="en-US" sz="2400" i="1" dirty="0"/>
                  <a:t>x</a:t>
                </a:r>
                <a:r>
                  <a:rPr lang="en-US" sz="2400" i="1" baseline="-25000" dirty="0"/>
                  <a:t>2</a:t>
                </a:r>
                <a:r>
                  <a:rPr lang="bg-BG" sz="2400" dirty="0"/>
                  <a:t> може да приема различни стойности. В този случай мащабиране не е възможно. За изключване на членове, които представляват произведение на две променливи, може да се използва теорията за привеждане на квадратични форми в каноничен вид, която се разглежда в курса по висша математика. Нелинейните функции могат да се сведат до квадратични с помощта на разлагане в ред на Тейлор.</a:t>
                </a:r>
              </a:p>
              <a:p>
                <a:pPr lvl="0" algn="just">
                  <a:lnSpc>
                    <a:spcPct val="140000"/>
                  </a:lnSpc>
                  <a:spcBef>
                    <a:spcPts val="0"/>
                  </a:spcBef>
                </a:pPr>
                <a:endParaRPr lang="bg-BG" sz="2400" dirty="0"/>
              </a:p>
              <a:p>
                <a:pPr algn="just">
                  <a:lnSpc>
                    <a:spcPct val="140000"/>
                  </a:lnSpc>
                </a:pPr>
                <a:endParaRPr lang="bg-BG" sz="24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1759044" y="122830"/>
                <a:ext cx="10160000" cy="6735170"/>
              </a:xfrm>
              <a:blipFill>
                <a:blip r:embed="rId4"/>
                <a:stretch>
                  <a:fillRect l="-960" r="-900" b="-1357"/>
                </a:stretch>
              </a:blipFill>
            </p:spPr>
            <p:txBody>
              <a:bodyPr/>
              <a:lstStyle/>
              <a:p>
                <a:r>
                  <a:rPr lang="bg-BG">
                    <a:noFill/>
                  </a:rPr>
                  <a:t> </a:t>
                </a:r>
              </a:p>
            </p:txBody>
          </p:sp>
        </mc:Fallback>
      </mc:AlternateContent>
      <p:sp>
        <p:nvSpPr>
          <p:cNvPr id="4" name="Slide Number Placeholder 3"/>
          <p:cNvSpPr>
            <a:spLocks noGrp="1"/>
          </p:cNvSpPr>
          <p:nvPr>
            <p:ph type="sldNum" sz="quarter" idx="12"/>
          </p:nvPr>
        </p:nvSpPr>
        <p:spPr/>
        <p:txBody>
          <a:bodyPr/>
          <a:lstStyle/>
          <a:p>
            <a:fld id="{081674E5-CD74-4638-A238-012A517DC16A}" type="slidenum">
              <a:rPr lang="bg-BG" smtClean="0"/>
              <a:t>7</a:t>
            </a:fld>
            <a:endParaRPr lang="bg-BG" dirty="0"/>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5" name="Object 4"/>
          <p:cNvGraphicFramePr>
            <a:graphicFrameLocks noChangeAspect="1"/>
          </p:cNvGraphicFramePr>
          <p:nvPr>
            <p:extLst>
              <p:ext uri="{D42A27DB-BD31-4B8C-83A1-F6EECF244321}">
                <p14:modId xmlns:p14="http://schemas.microsoft.com/office/powerpoint/2010/main" val="2040137138"/>
              </p:ext>
            </p:extLst>
          </p:nvPr>
        </p:nvGraphicFramePr>
        <p:xfrm>
          <a:off x="10473955" y="2284299"/>
          <a:ext cx="1445089" cy="443668"/>
        </p:xfrm>
        <a:graphic>
          <a:graphicData uri="http://schemas.openxmlformats.org/presentationml/2006/ole">
            <mc:AlternateContent xmlns:mc="http://schemas.openxmlformats.org/markup-compatibility/2006">
              <mc:Choice xmlns:v="urn:schemas-microsoft-com:vml" Requires="v">
                <p:oleObj spid="_x0000_s2051" r:id="rId5" imgW="926698" imgH="215806" progId="Equation.3">
                  <p:embed/>
                </p:oleObj>
              </mc:Choice>
              <mc:Fallback>
                <p:oleObj r:id="rId5" imgW="926698" imgH="215806"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73955" y="2284299"/>
                        <a:ext cx="1445089" cy="443668"/>
                      </a:xfrm>
                      <a:prstGeom prst="rect">
                        <a:avLst/>
                      </a:prstGeom>
                      <a:noFill/>
                    </p:spPr>
                  </p:pic>
                </p:oleObj>
              </mc:Fallback>
            </mc:AlternateContent>
          </a:graphicData>
        </a:graphic>
      </p:graphicFrame>
    </p:spTree>
    <p:extLst>
      <p:ext uri="{BB962C8B-B14F-4D97-AF65-F5344CB8AC3E}">
        <p14:creationId xmlns:p14="http://schemas.microsoft.com/office/powerpoint/2010/main" val="474568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8</a:t>
            </a:fld>
            <a:endParaRPr lang="bg-BG" dirty="0"/>
          </a:p>
        </p:txBody>
      </p:sp>
      <p:sp>
        <p:nvSpPr>
          <p:cNvPr id="2" name="Rectangle 1"/>
          <p:cNvSpPr/>
          <p:nvPr/>
        </p:nvSpPr>
        <p:spPr>
          <a:xfrm>
            <a:off x="2369648" y="239187"/>
            <a:ext cx="9423400" cy="6297108"/>
          </a:xfrm>
          <a:prstGeom prst="rect">
            <a:avLst/>
          </a:prstGeom>
        </p:spPr>
        <p:txBody>
          <a:bodyPr wrap="square">
            <a:spAutoFit/>
          </a:bodyPr>
          <a:lstStyle/>
          <a:p>
            <a:pPr indent="536575" algn="just">
              <a:lnSpc>
                <a:spcPct val="140000"/>
              </a:lnSpc>
              <a:buClr>
                <a:schemeClr val="accent1">
                  <a:lumMod val="75000"/>
                </a:schemeClr>
              </a:buClr>
              <a:buSzPct val="85000"/>
            </a:pPr>
            <a:r>
              <a:rPr lang="bg-BG" sz="2400" dirty="0"/>
              <a:t>Друг вид трудности при решаване на оптимизационни задачи са свързани с числените методи:</a:t>
            </a:r>
          </a:p>
          <a:p>
            <a:pPr marL="457200" indent="-457200" algn="just">
              <a:lnSpc>
                <a:spcPct val="140000"/>
              </a:lnSpc>
              <a:buClr>
                <a:schemeClr val="accent1">
                  <a:lumMod val="75000"/>
                </a:schemeClr>
              </a:buClr>
              <a:buSzPct val="85000"/>
              <a:buFont typeface="+mj-lt"/>
              <a:buAutoNum type="arabicPeriod"/>
            </a:pPr>
            <a:r>
              <a:rPr lang="bg-BG" sz="2400" dirty="0"/>
              <a:t>Как да се изберат началните стойности на независимите променливи? Тъй като задачата съдържа нелинейни функции, за разлика от анализа на линейни системи, възможно е съществуването на няколко екстремума. Ако началните стойности се намират „далеч” от търсения екстремум, оптимизацията може да завърши  не в точката на глобален екстремум, а в друга точка, в която има локален екстремум. При липса на физически съображения за избор на начални стойности, то те трябва да се избират в областта на допустимите значения.</a:t>
            </a:r>
          </a:p>
        </p:txBody>
      </p:sp>
    </p:spTree>
    <p:extLst>
      <p:ext uri="{BB962C8B-B14F-4D97-AF65-F5344CB8AC3E}">
        <p14:creationId xmlns:p14="http://schemas.microsoft.com/office/powerpoint/2010/main" val="2949907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9</a:t>
            </a:fld>
            <a:endParaRPr lang="bg-BG" dirty="0"/>
          </a:p>
        </p:txBody>
      </p:sp>
      <p:sp>
        <p:nvSpPr>
          <p:cNvPr id="2" name="Rectangle 1"/>
          <p:cNvSpPr/>
          <p:nvPr/>
        </p:nvSpPr>
        <p:spPr>
          <a:xfrm>
            <a:off x="1903664" y="0"/>
            <a:ext cx="10020370" cy="1131785"/>
          </a:xfrm>
          <a:prstGeom prst="rect">
            <a:avLst/>
          </a:prstGeom>
        </p:spPr>
        <p:txBody>
          <a:bodyPr wrap="square">
            <a:spAutoFit/>
          </a:bodyPr>
          <a:lstStyle/>
          <a:p>
            <a:pPr algn="just">
              <a:lnSpc>
                <a:spcPct val="150000"/>
              </a:lnSpc>
              <a:buClr>
                <a:schemeClr val="accent1">
                  <a:lumMod val="75000"/>
                </a:schemeClr>
              </a:buClr>
              <a:buSzPct val="85000"/>
              <a:defRPr/>
            </a:pPr>
            <a:endParaRPr lang="bg-BG" sz="2400" dirty="0"/>
          </a:p>
          <a:p>
            <a:pPr algn="just">
              <a:lnSpc>
                <a:spcPct val="150000"/>
              </a:lnSpc>
              <a:buClr>
                <a:schemeClr val="accent1">
                  <a:lumMod val="75000"/>
                </a:schemeClr>
              </a:buClr>
              <a:buSzPct val="85000"/>
              <a:defRPr/>
            </a:pPr>
            <a:endParaRPr lang="bg-BG" sz="2400" dirty="0"/>
          </a:p>
        </p:txBody>
      </p:sp>
      <p:sp>
        <p:nvSpPr>
          <p:cNvPr id="6" name="Rectangle 5"/>
          <p:cNvSpPr/>
          <p:nvPr/>
        </p:nvSpPr>
        <p:spPr>
          <a:xfrm>
            <a:off x="2040403" y="432180"/>
            <a:ext cx="9746891" cy="4686604"/>
          </a:xfrm>
          <a:prstGeom prst="rect">
            <a:avLst/>
          </a:prstGeom>
        </p:spPr>
        <p:txBody>
          <a:bodyPr wrap="square">
            <a:spAutoFit/>
          </a:bodyPr>
          <a:lstStyle/>
          <a:p>
            <a:pPr marL="457200" lvl="0" indent="-457200" algn="just">
              <a:lnSpc>
                <a:spcPct val="140000"/>
              </a:lnSpc>
              <a:buClr>
                <a:schemeClr val="accent1">
                  <a:lumMod val="75000"/>
                </a:schemeClr>
              </a:buClr>
              <a:buSzPct val="85000"/>
              <a:buFont typeface="+mj-lt"/>
              <a:buAutoNum type="arabicPeriod" startAt="2"/>
            </a:pPr>
            <a:r>
              <a:rPr lang="bg-BG" sz="2400" dirty="0"/>
              <a:t>Как да се отчете стохастическата (случайната) природа на физическите променливи? Съществува реална възможност както коефициентите, така и неизвестните в математическия модел да бъдат случайни величини.</a:t>
            </a:r>
          </a:p>
          <a:p>
            <a:pPr marL="457200" lvl="0" indent="-457200" algn="just">
              <a:lnSpc>
                <a:spcPct val="140000"/>
              </a:lnSpc>
              <a:buClr>
                <a:schemeClr val="accent1">
                  <a:lumMod val="75000"/>
                </a:schemeClr>
              </a:buClr>
              <a:buSzPct val="85000"/>
              <a:buFont typeface="+mj-lt"/>
              <a:buAutoNum type="arabicPeriod" startAt="2"/>
            </a:pPr>
            <a:r>
              <a:rPr lang="bg-BG" sz="2400" dirty="0"/>
              <a:t>Как да се намалят грешките от изчислителната процедура? Устойчивостта на решенията зависят от сходимостта в областта на решението на апроксимиращата задача на нелинейното програмиране към решението на изходната задача.</a:t>
            </a:r>
          </a:p>
          <a:p>
            <a:pPr marL="457200" indent="-457200" algn="just">
              <a:lnSpc>
                <a:spcPct val="140000"/>
              </a:lnSpc>
              <a:buClr>
                <a:schemeClr val="accent1">
                  <a:lumMod val="75000"/>
                </a:schemeClr>
              </a:buClr>
              <a:buSzPct val="85000"/>
              <a:buFont typeface="+mj-lt"/>
              <a:buAutoNum type="arabicPeriod" startAt="2"/>
            </a:pPr>
            <a:endParaRPr lang="bg-BG" sz="2400" dirty="0"/>
          </a:p>
        </p:txBody>
      </p:sp>
    </p:spTree>
    <p:extLst>
      <p:ext uri="{BB962C8B-B14F-4D97-AF65-F5344CB8AC3E}">
        <p14:creationId xmlns:p14="http://schemas.microsoft.com/office/powerpoint/2010/main" val="3897978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10</a:t>
            </a:fld>
            <a:endParaRPr lang="bg-BG" dirty="0"/>
          </a:p>
        </p:txBody>
      </p:sp>
      <p:sp>
        <p:nvSpPr>
          <p:cNvPr id="7" name="Rectangle 6"/>
          <p:cNvSpPr/>
          <p:nvPr/>
        </p:nvSpPr>
        <p:spPr>
          <a:xfrm>
            <a:off x="114300" y="110097"/>
            <a:ext cx="11654972" cy="646331"/>
          </a:xfrm>
          <a:prstGeom prst="rect">
            <a:avLst/>
          </a:prstGeom>
        </p:spPr>
        <p:txBody>
          <a:bodyPr wrap="square">
            <a:spAutoFit/>
          </a:bodyPr>
          <a:lstStyle/>
          <a:p>
            <a:pPr algn="just">
              <a:lnSpc>
                <a:spcPct val="150000"/>
              </a:lnSpc>
              <a:buClr>
                <a:schemeClr val="accent1">
                  <a:lumMod val="75000"/>
                </a:schemeClr>
              </a:buClr>
              <a:buSzPct val="85000"/>
              <a:defRPr/>
            </a:pPr>
            <a:r>
              <a:rPr lang="bg-BG" sz="2400" b="1" i="1" dirty="0">
                <a:latin typeface="Arial" panose="020B0604020202020204" pitchFamily="34" charset="0"/>
                <a:ea typeface="Times New Roman" panose="02020603050405020304" pitchFamily="18" charset="0"/>
              </a:rPr>
              <a:t>Формулиране на общата задача на нелинейното програмиране</a:t>
            </a:r>
            <a:r>
              <a:rPr lang="bg-BG" sz="2300" b="1" i="1" dirty="0"/>
              <a:t>  </a:t>
            </a:r>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3" name="Rectangle 9"/>
          <p:cNvSpPr>
            <a:spLocks noChangeArrowheads="1"/>
          </p:cNvSpPr>
          <p:nvPr/>
        </p:nvSpPr>
        <p:spPr bwMode="auto">
          <a:xfrm>
            <a:off x="7765143" y="483769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5" name="Rectangle 4"/>
          <p:cNvSpPr/>
          <p:nvPr/>
        </p:nvSpPr>
        <p:spPr>
          <a:xfrm>
            <a:off x="2239510" y="756428"/>
            <a:ext cx="9415462" cy="5262979"/>
          </a:xfrm>
          <a:prstGeom prst="rect">
            <a:avLst/>
          </a:prstGeom>
        </p:spPr>
        <p:txBody>
          <a:bodyPr wrap="square">
            <a:spAutoFit/>
          </a:bodyPr>
          <a:lstStyle/>
          <a:p>
            <a:pPr indent="536575" algn="just">
              <a:lnSpc>
                <a:spcPct val="140000"/>
              </a:lnSpc>
              <a:spcAft>
                <a:spcPts val="0"/>
              </a:spcAft>
              <a:buClr>
                <a:schemeClr val="accent1">
                  <a:lumMod val="75000"/>
                </a:schemeClr>
              </a:buClr>
              <a:buSzPct val="85000"/>
            </a:pPr>
            <a:r>
              <a:rPr lang="bg-BG" sz="2400" dirty="0"/>
              <a:t>В най-широк смисъл задачата на нелинейното програмиране се свежда до търсене на екстремум на целева функция при зададени ограничения във вид на равенства и (или) неравенства. Ограниченията могат да бъдат линейни и (или) нелинейни. Общоприетата формулировка на общата задача на нелинейното програмиране изключва следните специални случаи:</a:t>
            </a:r>
          </a:p>
          <a:p>
            <a:pPr indent="536575" algn="just">
              <a:lnSpc>
                <a:spcPct val="140000"/>
              </a:lnSpc>
              <a:spcAft>
                <a:spcPts val="0"/>
              </a:spcAft>
              <a:buClr>
                <a:schemeClr val="accent1">
                  <a:lumMod val="75000"/>
                </a:schemeClr>
              </a:buClr>
              <a:buSzPct val="85000"/>
            </a:pPr>
            <a:r>
              <a:rPr lang="bg-BG" sz="2400" dirty="0">
                <a:solidFill>
                  <a:schemeClr val="accent1">
                    <a:lumMod val="75000"/>
                  </a:schemeClr>
                </a:solidFill>
              </a:rPr>
              <a:t>1.</a:t>
            </a:r>
            <a:r>
              <a:rPr lang="bg-BG" sz="2400" dirty="0"/>
              <a:t>  Променливите да приемат целочислени стойности.</a:t>
            </a:r>
          </a:p>
          <a:p>
            <a:pPr indent="536575" algn="just">
              <a:lnSpc>
                <a:spcPct val="140000"/>
              </a:lnSpc>
              <a:spcAft>
                <a:spcPts val="0"/>
              </a:spcAft>
              <a:buClr>
                <a:schemeClr val="accent1">
                  <a:lumMod val="75000"/>
                </a:schemeClr>
              </a:buClr>
              <a:buSzPct val="85000"/>
            </a:pPr>
            <a:r>
              <a:rPr lang="bg-BG" sz="2400" dirty="0">
                <a:solidFill>
                  <a:schemeClr val="accent1">
                    <a:lumMod val="75000"/>
                  </a:schemeClr>
                </a:solidFill>
              </a:rPr>
              <a:t>2. </a:t>
            </a:r>
            <a:r>
              <a:rPr lang="bg-BG" sz="2400" dirty="0"/>
              <a:t>Ограниченията да включват параметъра време, като се използват диференциални уравнения (оптимално управление, динамична оптимизация).</a:t>
            </a:r>
          </a:p>
        </p:txBody>
      </p:sp>
    </p:spTree>
    <p:extLst>
      <p:ext uri="{BB962C8B-B14F-4D97-AF65-F5344CB8AC3E}">
        <p14:creationId xmlns:p14="http://schemas.microsoft.com/office/powerpoint/2010/main" val="1753872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11</a:t>
            </a:fld>
            <a:endParaRPr lang="bg-BG" dirty="0"/>
          </a:p>
        </p:txBody>
      </p:sp>
      <p:sp>
        <p:nvSpPr>
          <p:cNvPr id="8" name="Rectangle 7"/>
          <p:cNvSpPr/>
          <p:nvPr/>
        </p:nvSpPr>
        <p:spPr>
          <a:xfrm>
            <a:off x="1988459" y="0"/>
            <a:ext cx="10159999" cy="5232202"/>
          </a:xfrm>
          <a:prstGeom prst="rect">
            <a:avLst/>
          </a:prstGeom>
        </p:spPr>
        <p:txBody>
          <a:bodyPr wrap="square">
            <a:spAutoFit/>
          </a:bodyPr>
          <a:lstStyle/>
          <a:p>
            <a:pPr indent="536575" algn="just">
              <a:lnSpc>
                <a:spcPct val="150000"/>
              </a:lnSpc>
              <a:spcAft>
                <a:spcPts val="0"/>
              </a:spcAft>
              <a:buClr>
                <a:schemeClr val="accent1">
                  <a:lumMod val="75000"/>
                </a:schemeClr>
              </a:buClr>
              <a:buSzPct val="85000"/>
              <a:defRPr/>
            </a:pPr>
            <a:r>
              <a:rPr lang="bg-BG" sz="2400" dirty="0"/>
              <a:t>Нека непрекъсната функция </a:t>
            </a:r>
            <a:r>
              <a:rPr lang="en-US" sz="2400" dirty="0"/>
              <a:t>f</a:t>
            </a:r>
            <a:r>
              <a:rPr lang="ru-RU" sz="2400" dirty="0"/>
              <a:t>(</a:t>
            </a:r>
            <a:r>
              <a:rPr lang="en-US" sz="2400" dirty="0"/>
              <a:t>x</a:t>
            </a:r>
            <a:r>
              <a:rPr lang="ru-RU" sz="2400" dirty="0"/>
              <a:t>)</a:t>
            </a:r>
            <a:r>
              <a:rPr lang="bg-BG" sz="2400" dirty="0"/>
              <a:t> е целевата функция, а </a:t>
            </a:r>
            <a:endParaRPr lang="en-US" sz="2400" dirty="0"/>
          </a:p>
          <a:p>
            <a:pPr algn="just">
              <a:lnSpc>
                <a:spcPct val="150000"/>
              </a:lnSpc>
              <a:spcBef>
                <a:spcPts val="600"/>
              </a:spcBef>
              <a:buClr>
                <a:schemeClr val="accent1">
                  <a:lumMod val="75000"/>
                </a:schemeClr>
              </a:buClr>
              <a:buSzPct val="85000"/>
              <a:defRPr/>
            </a:pPr>
            <a:r>
              <a:rPr lang="bg-BG" sz="2400" dirty="0"/>
              <a:t>задават ограничения във вид на равенства и				       са</a:t>
            </a:r>
          </a:p>
          <a:p>
            <a:pPr algn="just">
              <a:lnSpc>
                <a:spcPct val="150000"/>
              </a:lnSpc>
              <a:spcBef>
                <a:spcPts val="600"/>
              </a:spcBef>
              <a:buClr>
                <a:schemeClr val="accent1">
                  <a:lumMod val="75000"/>
                </a:schemeClr>
              </a:buClr>
              <a:buSzPct val="85000"/>
              <a:defRPr/>
            </a:pPr>
            <a:r>
              <a:rPr lang="bg-BG" sz="2400" dirty="0"/>
              <a:t>ограничения във вид на неравенства, където  			е неизвестен вектор. Променливите		 могат да бъдат конструктивни параметри, показания на измервателни прибори, настройки на регулатори и др., целевата функция може да бъде печалба, тегло, годишен доход и др., а ограниченията – технически изисквания, условия за работа, пропускателна способност или фактори за безопасност, присъщи на дадената система.</a:t>
            </a:r>
          </a:p>
        </p:txBody>
      </p:sp>
      <p:sp>
        <p:nvSpPr>
          <p:cNvPr id="9" name="Rectangle 5"/>
          <p:cNvSpPr>
            <a:spLocks noChangeArrowheads="1"/>
          </p:cNvSpPr>
          <p:nvPr/>
        </p:nvSpPr>
        <p:spPr bwMode="auto">
          <a:xfrm>
            <a:off x="2946400" y="18583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3" name="Object 2"/>
          <p:cNvGraphicFramePr>
            <a:graphicFrameLocks noChangeAspect="1"/>
          </p:cNvGraphicFramePr>
          <p:nvPr>
            <p:extLst>
              <p:ext uri="{D42A27DB-BD31-4B8C-83A1-F6EECF244321}">
                <p14:modId xmlns:p14="http://schemas.microsoft.com/office/powerpoint/2010/main" val="4214326077"/>
              </p:ext>
            </p:extLst>
          </p:nvPr>
        </p:nvGraphicFramePr>
        <p:xfrm>
          <a:off x="10290412" y="218364"/>
          <a:ext cx="1858046" cy="368490"/>
        </p:xfrm>
        <a:graphic>
          <a:graphicData uri="http://schemas.openxmlformats.org/presentationml/2006/ole">
            <mc:AlternateContent xmlns:mc="http://schemas.openxmlformats.org/markup-compatibility/2006">
              <mc:Choice xmlns:v="urn:schemas-microsoft-com:vml" Requires="v">
                <p:oleObj spid="_x0000_s3078" r:id="rId4" imgW="1308100" imgH="228600" progId="Equation.3">
                  <p:embed/>
                </p:oleObj>
              </mc:Choice>
              <mc:Fallback>
                <p:oleObj r:id="rId4" imgW="1308100" imgH="228600" progId="Equation.3">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90412" y="218364"/>
                        <a:ext cx="1858046" cy="368490"/>
                      </a:xfrm>
                      <a:prstGeom prst="rect">
                        <a:avLst/>
                      </a:prstGeom>
                      <a:noFill/>
                    </p:spPr>
                  </p:pic>
                </p:oleObj>
              </mc:Fallback>
            </mc:AlternateContent>
          </a:graphicData>
        </a:graphic>
      </p:graphicFrame>
      <p:sp>
        <p:nvSpPr>
          <p:cNvPr id="5" name="Rectangle 2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6" name="Object 5"/>
          <p:cNvGraphicFramePr>
            <a:graphicFrameLocks noChangeAspect="1"/>
          </p:cNvGraphicFramePr>
          <p:nvPr>
            <p:extLst>
              <p:ext uri="{D42A27DB-BD31-4B8C-83A1-F6EECF244321}">
                <p14:modId xmlns:p14="http://schemas.microsoft.com/office/powerpoint/2010/main" val="2738980861"/>
              </p:ext>
            </p:extLst>
          </p:nvPr>
        </p:nvGraphicFramePr>
        <p:xfrm>
          <a:off x="8463530" y="756309"/>
          <a:ext cx="3152222" cy="466305"/>
        </p:xfrm>
        <a:graphic>
          <a:graphicData uri="http://schemas.openxmlformats.org/presentationml/2006/ole">
            <mc:AlternateContent xmlns:mc="http://schemas.openxmlformats.org/markup-compatibility/2006">
              <mc:Choice xmlns:v="urn:schemas-microsoft-com:vml" Requires="v">
                <p:oleObj spid="_x0000_s3079" r:id="rId6" imgW="1612900" imgH="241300" progId="Equation.3">
                  <p:embed/>
                </p:oleObj>
              </mc:Choice>
              <mc:Fallback>
                <p:oleObj r:id="rId6" imgW="1612900" imgH="241300" progId="Equation.3">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63530" y="756309"/>
                        <a:ext cx="3152222" cy="466305"/>
                      </a:xfrm>
                      <a:prstGeom prst="rect">
                        <a:avLst/>
                      </a:prstGeom>
                      <a:noFill/>
                    </p:spPr>
                  </p:pic>
                </p:oleObj>
              </mc:Fallback>
            </mc:AlternateContent>
          </a:graphicData>
        </a:graphic>
      </p:graphicFrame>
      <p:sp>
        <p:nvSpPr>
          <p:cNvPr id="7" name="Rectangle 2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1" name="Object 10"/>
          <p:cNvGraphicFramePr>
            <a:graphicFrameLocks noChangeAspect="1"/>
          </p:cNvGraphicFramePr>
          <p:nvPr>
            <p:extLst>
              <p:ext uri="{D42A27DB-BD31-4B8C-83A1-F6EECF244321}">
                <p14:modId xmlns:p14="http://schemas.microsoft.com/office/powerpoint/2010/main" val="3609570440"/>
              </p:ext>
            </p:extLst>
          </p:nvPr>
        </p:nvGraphicFramePr>
        <p:xfrm>
          <a:off x="8463530" y="1271521"/>
          <a:ext cx="2586505" cy="586854"/>
        </p:xfrm>
        <a:graphic>
          <a:graphicData uri="http://schemas.openxmlformats.org/presentationml/2006/ole">
            <mc:AlternateContent xmlns:mc="http://schemas.openxmlformats.org/markup-compatibility/2006">
              <mc:Choice xmlns:v="urn:schemas-microsoft-com:vml" Requires="v">
                <p:oleObj spid="_x0000_s3080" r:id="rId8" imgW="1129810" imgH="253890" progId="Equation.3">
                  <p:embed/>
                </p:oleObj>
              </mc:Choice>
              <mc:Fallback>
                <p:oleObj r:id="rId8" imgW="1129810" imgH="253890" progId="Equation.3">
                  <p:embed/>
                  <p:pic>
                    <p:nvPicPr>
                      <p:cNvPr id="0"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63530" y="1271521"/>
                        <a:ext cx="2586505" cy="586854"/>
                      </a:xfrm>
                      <a:prstGeom prst="rect">
                        <a:avLst/>
                      </a:prstGeom>
                      <a:noFill/>
                    </p:spPr>
                  </p:pic>
                </p:oleObj>
              </mc:Fallback>
            </mc:AlternateContent>
          </a:graphicData>
        </a:graphic>
      </p:graphicFrame>
      <p:sp>
        <p:nvSpPr>
          <p:cNvPr id="12" name="Rectangle 2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3" name="Object 12"/>
          <p:cNvGraphicFramePr>
            <a:graphicFrameLocks noChangeAspect="1"/>
          </p:cNvGraphicFramePr>
          <p:nvPr>
            <p:extLst>
              <p:ext uri="{D42A27DB-BD31-4B8C-83A1-F6EECF244321}">
                <p14:modId xmlns:p14="http://schemas.microsoft.com/office/powerpoint/2010/main" val="3241636977"/>
              </p:ext>
            </p:extLst>
          </p:nvPr>
        </p:nvGraphicFramePr>
        <p:xfrm>
          <a:off x="6997018" y="1935858"/>
          <a:ext cx="1447800" cy="457200"/>
        </p:xfrm>
        <a:graphic>
          <a:graphicData uri="http://schemas.openxmlformats.org/presentationml/2006/ole">
            <mc:AlternateContent xmlns:mc="http://schemas.openxmlformats.org/markup-compatibility/2006">
              <mc:Choice xmlns:v="urn:schemas-microsoft-com:vml" Requires="v">
                <p:oleObj spid="_x0000_s3081" r:id="rId10" imgW="723586" imgH="228501" progId="Equation.3">
                  <p:embed/>
                </p:oleObj>
              </mc:Choice>
              <mc:Fallback>
                <p:oleObj r:id="rId10" imgW="723586" imgH="228501" progId="Equation.3">
                  <p:embed/>
                  <p:pic>
                    <p:nvPicPr>
                      <p:cNvPr id="0"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97018" y="1935858"/>
                        <a:ext cx="1447800" cy="457200"/>
                      </a:xfrm>
                      <a:prstGeom prst="rect">
                        <a:avLst/>
                      </a:prstGeom>
                      <a:noFill/>
                    </p:spPr>
                  </p:pic>
                </p:oleObj>
              </mc:Fallback>
            </mc:AlternateContent>
          </a:graphicData>
        </a:graphic>
      </p:graphicFrame>
    </p:spTree>
    <p:extLst>
      <p:ext uri="{BB962C8B-B14F-4D97-AF65-F5344CB8AC3E}">
        <p14:creationId xmlns:p14="http://schemas.microsoft.com/office/powerpoint/2010/main" val="301204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12</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2" name="Rectangle 1"/>
          <p:cNvSpPr/>
          <p:nvPr/>
        </p:nvSpPr>
        <p:spPr>
          <a:xfrm>
            <a:off x="2032000" y="278525"/>
            <a:ext cx="9867232" cy="5262979"/>
          </a:xfrm>
          <a:prstGeom prst="rect">
            <a:avLst/>
          </a:prstGeom>
        </p:spPr>
        <p:txBody>
          <a:bodyPr wrap="square">
            <a:spAutoFit/>
          </a:bodyPr>
          <a:lstStyle/>
          <a:p>
            <a:pPr indent="536575" algn="just">
              <a:lnSpc>
                <a:spcPct val="140000"/>
              </a:lnSpc>
              <a:buClr>
                <a:schemeClr val="accent1">
                  <a:lumMod val="75000"/>
                </a:schemeClr>
              </a:buClr>
              <a:buSzPct val="85000"/>
              <a:defRPr/>
            </a:pPr>
            <a:r>
              <a:rPr lang="bg-BG" sz="2400" dirty="0"/>
              <a:t>Формално задачата на нелинейното програмиране може да бъде формулирана по следния начин:</a:t>
            </a:r>
          </a:p>
          <a:p>
            <a:pPr indent="536575" algn="just">
              <a:lnSpc>
                <a:spcPct val="140000"/>
              </a:lnSpc>
              <a:buClr>
                <a:schemeClr val="accent1">
                  <a:lumMod val="75000"/>
                </a:schemeClr>
              </a:buClr>
              <a:buSzPct val="85000"/>
              <a:defRPr/>
            </a:pPr>
            <a:r>
              <a:rPr lang="bg-BG" sz="2400" dirty="0"/>
              <a:t>Да се минимизира 		    , при </a:t>
            </a:r>
            <a:r>
              <a:rPr lang="en-US" sz="2400" dirty="0"/>
              <a:t>m </a:t>
            </a:r>
            <a:r>
              <a:rPr lang="bg-BG" sz="2400" dirty="0"/>
              <a:t>линейни и (или) нелинейни ограничения във вид на равенства 			   и           </a:t>
            </a:r>
          </a:p>
          <a:p>
            <a:pPr indent="536575" algn="just">
              <a:lnSpc>
                <a:spcPct val="140000"/>
              </a:lnSpc>
              <a:buClr>
                <a:schemeClr val="accent1">
                  <a:lumMod val="75000"/>
                </a:schemeClr>
              </a:buClr>
              <a:buSzPct val="85000"/>
              <a:defRPr/>
            </a:pPr>
            <a:r>
              <a:rPr lang="bg-BG" sz="2400" dirty="0"/>
              <a:t>         линейни и (или) нелинейни неравенства</a:t>
            </a:r>
          </a:p>
          <a:p>
            <a:pPr algn="just">
              <a:lnSpc>
                <a:spcPct val="140000"/>
              </a:lnSpc>
              <a:buClr>
                <a:schemeClr val="accent1">
                  <a:lumMod val="75000"/>
                </a:schemeClr>
              </a:buClr>
              <a:buSzPct val="85000"/>
              <a:defRPr/>
            </a:pPr>
            <a:r>
              <a:rPr lang="bg-BG" sz="2400" b="1" i="1" dirty="0"/>
              <a:t>Пример:</a:t>
            </a:r>
          </a:p>
          <a:p>
            <a:pPr indent="536575" algn="just">
              <a:lnSpc>
                <a:spcPct val="140000"/>
              </a:lnSpc>
              <a:buClr>
                <a:schemeClr val="accent1">
                  <a:lumMod val="75000"/>
                </a:schemeClr>
              </a:buClr>
              <a:buSzPct val="85000"/>
              <a:defRPr/>
            </a:pPr>
            <a:r>
              <a:rPr lang="bg-BG" sz="2400" dirty="0"/>
              <a:t> Да се минимизира функцията</a:t>
            </a:r>
          </a:p>
          <a:p>
            <a:pPr indent="536575" algn="just">
              <a:lnSpc>
                <a:spcPct val="140000"/>
              </a:lnSpc>
              <a:buClr>
                <a:schemeClr val="accent1">
                  <a:lumMod val="75000"/>
                </a:schemeClr>
              </a:buClr>
              <a:buSzPct val="85000"/>
              <a:defRPr/>
            </a:pPr>
            <a:r>
              <a:rPr lang="bg-BG" sz="2400" dirty="0"/>
              <a:t>при следните ограничения:</a:t>
            </a:r>
          </a:p>
          <a:p>
            <a:pPr indent="536575" algn="just">
              <a:lnSpc>
                <a:spcPct val="140000"/>
              </a:lnSpc>
              <a:buClr>
                <a:schemeClr val="accent1">
                  <a:lumMod val="75000"/>
                </a:schemeClr>
              </a:buClr>
              <a:buSzPct val="85000"/>
              <a:defRPr/>
            </a:pPr>
            <a:endParaRPr lang="bg-BG" sz="2400" dirty="0"/>
          </a:p>
          <a:p>
            <a:pPr indent="536575" algn="just">
              <a:lnSpc>
                <a:spcPct val="140000"/>
              </a:lnSpc>
              <a:buClr>
                <a:schemeClr val="accent1">
                  <a:lumMod val="75000"/>
                </a:schemeClr>
              </a:buClr>
              <a:buSzPct val="85000"/>
              <a:defRPr/>
            </a:pPr>
            <a:r>
              <a:rPr lang="bg-BG" sz="2400" dirty="0"/>
              <a:t>  </a:t>
            </a:r>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8" name="Object 7"/>
          <p:cNvGraphicFramePr>
            <a:graphicFrameLocks noChangeAspect="1"/>
          </p:cNvGraphicFramePr>
          <p:nvPr>
            <p:extLst>
              <p:ext uri="{D42A27DB-BD31-4B8C-83A1-F6EECF244321}">
                <p14:modId xmlns:p14="http://schemas.microsoft.com/office/powerpoint/2010/main" val="9878522"/>
              </p:ext>
            </p:extLst>
          </p:nvPr>
        </p:nvGraphicFramePr>
        <p:xfrm>
          <a:off x="5371955" y="1365034"/>
          <a:ext cx="1593661" cy="449975"/>
        </p:xfrm>
        <a:graphic>
          <a:graphicData uri="http://schemas.openxmlformats.org/presentationml/2006/ole">
            <mc:AlternateContent xmlns:mc="http://schemas.openxmlformats.org/markup-compatibility/2006">
              <mc:Choice xmlns:v="urn:schemas-microsoft-com:vml" Requires="v">
                <p:oleObj spid="_x0000_s4104" r:id="rId4" imgW="812447" imgH="228501" progId="Equation.3">
                  <p:embed/>
                </p:oleObj>
              </mc:Choice>
              <mc:Fallback>
                <p:oleObj r:id="rId4" imgW="812447" imgH="228501" progId="Equation.3">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1955" y="1365034"/>
                        <a:ext cx="1593661" cy="449975"/>
                      </a:xfrm>
                      <a:prstGeom prst="rect">
                        <a:avLst/>
                      </a:prstGeom>
                      <a:noFill/>
                    </p:spPr>
                  </p:pic>
                </p:oleObj>
              </mc:Fallback>
            </mc:AlternateContent>
          </a:graphicData>
        </a:graphic>
      </p:graphicFrame>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3" name="Object 12"/>
          <p:cNvGraphicFramePr>
            <a:graphicFrameLocks noChangeAspect="1"/>
          </p:cNvGraphicFramePr>
          <p:nvPr>
            <p:extLst>
              <p:ext uri="{D42A27DB-BD31-4B8C-83A1-F6EECF244321}">
                <p14:modId xmlns:p14="http://schemas.microsoft.com/office/powerpoint/2010/main" val="2464278563"/>
              </p:ext>
            </p:extLst>
          </p:nvPr>
        </p:nvGraphicFramePr>
        <p:xfrm>
          <a:off x="8658226" y="1939052"/>
          <a:ext cx="2735848" cy="449975"/>
        </p:xfrm>
        <a:graphic>
          <a:graphicData uri="http://schemas.openxmlformats.org/presentationml/2006/ole">
            <mc:AlternateContent xmlns:mc="http://schemas.openxmlformats.org/markup-compatibility/2006">
              <mc:Choice xmlns:v="urn:schemas-microsoft-com:vml" Requires="v">
                <p:oleObj spid="_x0000_s4105" r:id="rId6" imgW="1447800" imgH="241300" progId="Equation.3">
                  <p:embed/>
                </p:oleObj>
              </mc:Choice>
              <mc:Fallback>
                <p:oleObj r:id="rId6" imgW="1447800" imgH="241300" progId="Equation.3">
                  <p:embed/>
                  <p:pic>
                    <p:nvPicPr>
                      <p:cNvPr id="0" name="Object 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58226" y="1939052"/>
                        <a:ext cx="2735848" cy="449975"/>
                      </a:xfrm>
                      <a:prstGeom prst="rect">
                        <a:avLst/>
                      </a:prstGeom>
                      <a:noFill/>
                    </p:spPr>
                  </p:pic>
                </p:oleObj>
              </mc:Fallback>
            </mc:AlternateContent>
          </a:graphicData>
        </a:graphic>
      </p:graphicFrame>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graphicFrame>
        <p:nvGraphicFramePr>
          <p:cNvPr id="15" name="Object 14"/>
          <p:cNvGraphicFramePr>
            <a:graphicFrameLocks noChangeAspect="1"/>
          </p:cNvGraphicFramePr>
          <p:nvPr>
            <p:extLst>
              <p:ext uri="{D42A27DB-BD31-4B8C-83A1-F6EECF244321}">
                <p14:modId xmlns:p14="http://schemas.microsoft.com/office/powerpoint/2010/main" val="2461342700"/>
              </p:ext>
            </p:extLst>
          </p:nvPr>
        </p:nvGraphicFramePr>
        <p:xfrm>
          <a:off x="2032000" y="2416324"/>
          <a:ext cx="1135651" cy="449975"/>
        </p:xfrm>
        <a:graphic>
          <a:graphicData uri="http://schemas.openxmlformats.org/presentationml/2006/ole">
            <mc:AlternateContent xmlns:mc="http://schemas.openxmlformats.org/markup-compatibility/2006">
              <mc:Choice xmlns:v="urn:schemas-microsoft-com:vml" Requires="v">
                <p:oleObj spid="_x0000_s4106" r:id="rId8" imgW="507780" imgH="203112" progId="Equation.3">
                  <p:embed/>
                </p:oleObj>
              </mc:Choice>
              <mc:Fallback>
                <p:oleObj r:id="rId8" imgW="507780" imgH="203112" progId="Equation.3">
                  <p:embed/>
                  <p:pic>
                    <p:nvPicPr>
                      <p:cNvPr id="0" name="Object 3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32000" y="2416324"/>
                        <a:ext cx="1135651" cy="449975"/>
                      </a:xfrm>
                      <a:prstGeom prst="rect">
                        <a:avLst/>
                      </a:prstGeom>
                      <a:noFill/>
                    </p:spPr>
                  </p:pic>
                </p:oleObj>
              </mc:Fallback>
            </mc:AlternateContent>
          </a:graphicData>
        </a:graphic>
      </p:graphicFrame>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7" name="Object 16"/>
          <p:cNvGraphicFramePr>
            <a:graphicFrameLocks noChangeAspect="1"/>
          </p:cNvGraphicFramePr>
          <p:nvPr>
            <p:extLst>
              <p:ext uri="{D42A27DB-BD31-4B8C-83A1-F6EECF244321}">
                <p14:modId xmlns:p14="http://schemas.microsoft.com/office/powerpoint/2010/main" val="3661607184"/>
              </p:ext>
            </p:extLst>
          </p:nvPr>
        </p:nvGraphicFramePr>
        <p:xfrm>
          <a:off x="9086850" y="2427163"/>
          <a:ext cx="2946066" cy="465779"/>
        </p:xfrm>
        <a:graphic>
          <a:graphicData uri="http://schemas.openxmlformats.org/presentationml/2006/ole">
            <mc:AlternateContent xmlns:mc="http://schemas.openxmlformats.org/markup-compatibility/2006">
              <mc:Choice xmlns:v="urn:schemas-microsoft-com:vml" Requires="v">
                <p:oleObj spid="_x0000_s4107" r:id="rId10" imgW="1993900" imgH="241300" progId="Equation.3">
                  <p:embed/>
                </p:oleObj>
              </mc:Choice>
              <mc:Fallback>
                <p:oleObj r:id="rId10" imgW="1993900" imgH="241300" progId="Equation.3">
                  <p:embed/>
                  <p:pic>
                    <p:nvPicPr>
                      <p:cNvPr id="0" name="Object 3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86850" y="2427163"/>
                        <a:ext cx="2946066" cy="465779"/>
                      </a:xfrm>
                      <a:prstGeom prst="rect">
                        <a:avLst/>
                      </a:prstGeom>
                      <a:noFill/>
                    </p:spPr>
                  </p:pic>
                </p:oleObj>
              </mc:Fallback>
            </mc:AlternateContent>
          </a:graphicData>
        </a:graphic>
      </p:graphicFrame>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20" name="Object 19"/>
          <p:cNvGraphicFramePr>
            <a:graphicFrameLocks noChangeAspect="1"/>
          </p:cNvGraphicFramePr>
          <p:nvPr>
            <p:extLst>
              <p:ext uri="{D42A27DB-BD31-4B8C-83A1-F6EECF244321}">
                <p14:modId xmlns:p14="http://schemas.microsoft.com/office/powerpoint/2010/main" val="386428604"/>
              </p:ext>
            </p:extLst>
          </p:nvPr>
        </p:nvGraphicFramePr>
        <p:xfrm>
          <a:off x="6965616" y="3456705"/>
          <a:ext cx="2568607" cy="449975"/>
        </p:xfrm>
        <a:graphic>
          <a:graphicData uri="http://schemas.openxmlformats.org/presentationml/2006/ole">
            <mc:AlternateContent xmlns:mc="http://schemas.openxmlformats.org/markup-compatibility/2006">
              <mc:Choice xmlns:v="urn:schemas-microsoft-com:vml" Requires="v">
                <p:oleObj spid="_x0000_s4108" r:id="rId12" imgW="1308100" imgH="228600" progId="Equation.3">
                  <p:embed/>
                </p:oleObj>
              </mc:Choice>
              <mc:Fallback>
                <p:oleObj r:id="rId12" imgW="1308100" imgH="228600" progId="Equation.3">
                  <p:embed/>
                  <p:pic>
                    <p:nvPicPr>
                      <p:cNvPr id="0" name="Object 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65616" y="3456705"/>
                        <a:ext cx="2568607" cy="449975"/>
                      </a:xfrm>
                      <a:prstGeom prst="rect">
                        <a:avLst/>
                      </a:prstGeom>
                      <a:noFill/>
                    </p:spPr>
                  </p:pic>
                </p:oleObj>
              </mc:Fallback>
            </mc:AlternateContent>
          </a:graphicData>
        </a:graphic>
      </p:graphicFrame>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22" name="Object 21"/>
          <p:cNvGraphicFramePr>
            <a:graphicFrameLocks noChangeAspect="1"/>
          </p:cNvGraphicFramePr>
          <p:nvPr>
            <p:extLst>
              <p:ext uri="{D42A27DB-BD31-4B8C-83A1-F6EECF244321}">
                <p14:modId xmlns:p14="http://schemas.microsoft.com/office/powerpoint/2010/main" val="3050804335"/>
              </p:ext>
            </p:extLst>
          </p:nvPr>
        </p:nvGraphicFramePr>
        <p:xfrm>
          <a:off x="7018338" y="3852863"/>
          <a:ext cx="2901950" cy="2322512"/>
        </p:xfrm>
        <a:graphic>
          <a:graphicData uri="http://schemas.openxmlformats.org/presentationml/2006/ole">
            <mc:AlternateContent xmlns:mc="http://schemas.openxmlformats.org/markup-compatibility/2006">
              <mc:Choice xmlns:v="urn:schemas-microsoft-com:vml" Requires="v">
                <p:oleObj spid="_x0000_s4109" name="Equation" r:id="rId14" imgW="1384200" imgH="939600" progId="Equation.3">
                  <p:embed/>
                </p:oleObj>
              </mc:Choice>
              <mc:Fallback>
                <p:oleObj name="Equation" r:id="rId14" imgW="1384200" imgH="939600" progId="Equation.3">
                  <p:embed/>
                  <p:pic>
                    <p:nvPicPr>
                      <p:cNvPr id="0" name="Object 40"/>
                      <p:cNvPicPr>
                        <a:picLocks noChangeAspect="1" noChangeArrowheads="1"/>
                      </p:cNvPicPr>
                      <p:nvPr/>
                    </p:nvPicPr>
                    <p:blipFill>
                      <a:blip r:embed="rId15"/>
                      <a:srcRect/>
                      <a:stretch>
                        <a:fillRect/>
                      </a:stretch>
                    </p:blipFill>
                    <p:spPr bwMode="auto">
                      <a:xfrm>
                        <a:off x="7018338" y="3852863"/>
                        <a:ext cx="2901950" cy="2322512"/>
                      </a:xfrm>
                      <a:prstGeom prst="rect">
                        <a:avLst/>
                      </a:prstGeom>
                      <a:noFill/>
                    </p:spPr>
                  </p:pic>
                </p:oleObj>
              </mc:Fallback>
            </mc:AlternateContent>
          </a:graphicData>
        </a:graphic>
      </p:graphicFrame>
    </p:spTree>
    <p:extLst>
      <p:ext uri="{BB962C8B-B14F-4D97-AF65-F5344CB8AC3E}">
        <p14:creationId xmlns:p14="http://schemas.microsoft.com/office/powerpoint/2010/main" val="877534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13</a:t>
            </a:fld>
            <a:endParaRPr lang="bg-BG" dirty="0"/>
          </a:p>
        </p:txBody>
      </p:sp>
      <p:sp>
        <p:nvSpPr>
          <p:cNvPr id="6" name="Content Placeholder 2"/>
          <p:cNvSpPr txBox="1">
            <a:spLocks/>
          </p:cNvSpPr>
          <p:nvPr/>
        </p:nvSpPr>
        <p:spPr>
          <a:xfrm>
            <a:off x="1684422" y="534197"/>
            <a:ext cx="10379242" cy="514894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8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9pPr>
          </a:lstStyle>
          <a:p>
            <a:pPr indent="457200" algn="just">
              <a:lnSpc>
                <a:spcPct val="130000"/>
              </a:lnSpc>
              <a:spcBef>
                <a:spcPts val="0"/>
              </a:spcBef>
            </a:pPr>
            <a:endParaRPr lang="bg-BG" sz="2400" dirty="0"/>
          </a:p>
        </p:txBody>
      </p:sp>
      <p:sp>
        <p:nvSpPr>
          <p:cNvPr id="2" name="Rectangle 1"/>
          <p:cNvSpPr/>
          <p:nvPr/>
        </p:nvSpPr>
        <p:spPr>
          <a:xfrm>
            <a:off x="1903664" y="0"/>
            <a:ext cx="10160000" cy="1643527"/>
          </a:xfrm>
          <a:prstGeom prst="rect">
            <a:avLst/>
          </a:prstGeom>
        </p:spPr>
        <p:txBody>
          <a:bodyPr wrap="square">
            <a:spAutoFit/>
          </a:bodyPr>
          <a:lstStyle/>
          <a:p>
            <a:pPr indent="536575" algn="just">
              <a:lnSpc>
                <a:spcPct val="140000"/>
              </a:lnSpc>
              <a:buClr>
                <a:schemeClr val="accent1">
                  <a:lumMod val="75000"/>
                </a:schemeClr>
              </a:buClr>
              <a:buSzPct val="85000"/>
              <a:defRPr/>
            </a:pPr>
            <a:r>
              <a:rPr lang="bg-BG" sz="2400" dirty="0"/>
              <a:t>На фигурата целевата функция е изобразена с пунктирана линия, ограничението от тип равенство – с удебелена, а границата на областта определена от ограниченията – със защриховани линии.</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pic>
        <p:nvPicPr>
          <p:cNvPr id="7" name="Picture 6"/>
          <p:cNvPicPr>
            <a:picLocks noChangeAspect="1"/>
          </p:cNvPicPr>
          <p:nvPr/>
        </p:nvPicPr>
        <p:blipFill>
          <a:blip r:embed="rId4"/>
          <a:stretch>
            <a:fillRect/>
          </a:stretch>
        </p:blipFill>
        <p:spPr>
          <a:xfrm>
            <a:off x="5327176" y="1552575"/>
            <a:ext cx="6864824" cy="5305425"/>
          </a:xfrm>
          <a:prstGeom prst="rect">
            <a:avLst/>
          </a:prstGeom>
        </p:spPr>
      </p:pic>
      <p:sp>
        <p:nvSpPr>
          <p:cNvPr id="10" name="Rectangle 9"/>
          <p:cNvSpPr/>
          <p:nvPr/>
        </p:nvSpPr>
        <p:spPr>
          <a:xfrm>
            <a:off x="1888978" y="1643527"/>
            <a:ext cx="3452884" cy="4169539"/>
          </a:xfrm>
          <a:prstGeom prst="rect">
            <a:avLst/>
          </a:prstGeom>
        </p:spPr>
        <p:txBody>
          <a:bodyPr wrap="square">
            <a:spAutoFit/>
          </a:bodyPr>
          <a:lstStyle/>
          <a:p>
            <a:pPr indent="536575" algn="just">
              <a:lnSpc>
                <a:spcPct val="140000"/>
              </a:lnSpc>
              <a:buClr>
                <a:schemeClr val="accent1">
                  <a:lumMod val="75000"/>
                </a:schemeClr>
              </a:buClr>
              <a:buSzPct val="85000"/>
              <a:defRPr/>
            </a:pPr>
            <a:r>
              <a:rPr lang="bg-BG" sz="2400" dirty="0"/>
              <a:t>Решението на задачата трябва да се търси в първи квадрант върху окръжността с плътна линия, която задава ограничението от тип равенство </a:t>
            </a:r>
          </a:p>
        </p:txBody>
      </p:sp>
      <p:sp>
        <p:nvSpPr>
          <p:cNvPr id="11" name="Rectangle 34"/>
          <p:cNvSpPr>
            <a:spLocks noChangeArrowheads="1"/>
          </p:cNvSpPr>
          <p:nvPr/>
        </p:nvSpPr>
        <p:spPr bwMode="auto">
          <a:xfrm>
            <a:off x="0" y="-1"/>
            <a:ext cx="1187458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graphicFrame>
        <p:nvGraphicFramePr>
          <p:cNvPr id="12" name="Object 11"/>
          <p:cNvGraphicFramePr>
            <a:graphicFrameLocks noChangeAspect="1"/>
          </p:cNvGraphicFramePr>
          <p:nvPr>
            <p:extLst>
              <p:ext uri="{D42A27DB-BD31-4B8C-83A1-F6EECF244321}">
                <p14:modId xmlns:p14="http://schemas.microsoft.com/office/powerpoint/2010/main" val="3794571218"/>
              </p:ext>
            </p:extLst>
          </p:nvPr>
        </p:nvGraphicFramePr>
        <p:xfrm>
          <a:off x="3564839" y="5328214"/>
          <a:ext cx="1052114" cy="447185"/>
        </p:xfrm>
        <a:graphic>
          <a:graphicData uri="http://schemas.openxmlformats.org/presentationml/2006/ole">
            <mc:AlternateContent xmlns:mc="http://schemas.openxmlformats.org/markup-compatibility/2006">
              <mc:Choice xmlns:v="urn:schemas-microsoft-com:vml" Requires="v">
                <p:oleObj spid="_x0000_s5123" r:id="rId5" imgW="596641" imgH="215806" progId="Equation.3">
                  <p:embed/>
                </p:oleObj>
              </mc:Choice>
              <mc:Fallback>
                <p:oleObj r:id="rId5" imgW="596641" imgH="215806" progId="Equation.3">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4839" y="5328214"/>
                        <a:ext cx="1052114" cy="447185"/>
                      </a:xfrm>
                      <a:prstGeom prst="rect">
                        <a:avLst/>
                      </a:prstGeom>
                      <a:noFill/>
                    </p:spPr>
                  </p:pic>
                </p:oleObj>
              </mc:Fallback>
            </mc:AlternateContent>
          </a:graphicData>
        </a:graphic>
      </p:graphicFrame>
    </p:spTree>
    <p:extLst>
      <p:ext uri="{BB962C8B-B14F-4D97-AF65-F5344CB8AC3E}">
        <p14:creationId xmlns:p14="http://schemas.microsoft.com/office/powerpoint/2010/main" val="3651980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14</a:t>
            </a:fld>
            <a:endParaRPr lang="bg-BG" dirty="0"/>
          </a:p>
        </p:txBody>
      </p:sp>
      <p:sp>
        <p:nvSpPr>
          <p:cNvPr id="8" name="Rectangle 7"/>
          <p:cNvSpPr/>
          <p:nvPr/>
        </p:nvSpPr>
        <p:spPr>
          <a:xfrm>
            <a:off x="2127536" y="16090"/>
            <a:ext cx="9991677" cy="6754862"/>
          </a:xfrm>
          <a:prstGeom prst="rect">
            <a:avLst/>
          </a:prstGeom>
        </p:spPr>
        <p:txBody>
          <a:bodyPr wrap="square">
            <a:spAutoFit/>
          </a:bodyPr>
          <a:lstStyle/>
          <a:p>
            <a:pPr indent="540000" algn="just">
              <a:lnSpc>
                <a:spcPct val="140000"/>
              </a:lnSpc>
            </a:pPr>
            <a:r>
              <a:rPr lang="bg-BG" sz="2400" dirty="0">
                <a:solidFill>
                  <a:schemeClr val="tx1">
                    <a:lumMod val="95000"/>
                    <a:lumOff val="5000"/>
                  </a:schemeClr>
                </a:solidFill>
              </a:rPr>
              <a:t>При оптимизация на реална система параметрите и променливите са свързани с физически, химически, биологически и др. закони, например закона за запазване на енергията или масата, трябва да бъдат включени в задачите на нелинейното програмиране като ограничения от тип равенства. Така една група ограничения се състои от функционални връзки, които трябва да се отчитат, за да бъде оптимизацията физически осъществима. Втората група ограничения включва зададените пределно допустими граници от стойности на параметрите и променливите. Те обезпечават физическата реализуемост или съвместимост с  дадената система. Към тази група ограниченията са от тип неравенства. Трета група ограничения могат да се появят чрез добавяне на нови променливи за опростяване на модела. Те са от вид равенства.</a:t>
            </a:r>
          </a:p>
        </p:txBody>
      </p:sp>
    </p:spTree>
    <p:extLst>
      <p:ext uri="{BB962C8B-B14F-4D97-AF65-F5344CB8AC3E}">
        <p14:creationId xmlns:p14="http://schemas.microsoft.com/office/powerpoint/2010/main" val="174182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15</a:t>
            </a:fld>
            <a:endParaRPr lang="bg-BG" dirty="0"/>
          </a:p>
        </p:txBody>
      </p:sp>
      <p:sp>
        <p:nvSpPr>
          <p:cNvPr id="2" name="Rectangle 1"/>
          <p:cNvSpPr/>
          <p:nvPr/>
        </p:nvSpPr>
        <p:spPr>
          <a:xfrm>
            <a:off x="2168478" y="191002"/>
            <a:ext cx="9751683" cy="4302716"/>
          </a:xfrm>
          <a:prstGeom prst="rect">
            <a:avLst/>
          </a:prstGeom>
        </p:spPr>
        <p:txBody>
          <a:bodyPr wrap="square">
            <a:spAutoFit/>
          </a:bodyPr>
          <a:lstStyle/>
          <a:p>
            <a:pPr algn="just">
              <a:lnSpc>
                <a:spcPct val="150000"/>
              </a:lnSpc>
              <a:buClr>
                <a:schemeClr val="accent1">
                  <a:lumMod val="75000"/>
                </a:schemeClr>
              </a:buClr>
              <a:buSzPct val="85000"/>
              <a:defRPr/>
            </a:pPr>
            <a:r>
              <a:rPr lang="bg-BG" sz="2400" b="1" i="1" dirty="0">
                <a:latin typeface="Arial" panose="020B0604020202020204" pitchFamily="34" charset="0"/>
                <a:ea typeface="Times New Roman" panose="02020603050405020304" pitchFamily="18" charset="0"/>
              </a:rPr>
              <a:t>Обозначения и понятия</a:t>
            </a:r>
          </a:p>
          <a:p>
            <a:pPr indent="540000" algn="just">
              <a:lnSpc>
                <a:spcPct val="140000"/>
              </a:lnSpc>
            </a:pPr>
            <a:r>
              <a:rPr lang="bg-BG" sz="2400" dirty="0">
                <a:solidFill>
                  <a:schemeClr val="tx1">
                    <a:lumMod val="95000"/>
                    <a:lumOff val="5000"/>
                  </a:schemeClr>
                </a:solidFill>
              </a:rPr>
              <a:t>Множество от точки, за които целевата функция има постоянни стойности, се нарича линия на нивото на </a:t>
            </a:r>
            <a:r>
              <a:rPr lang="en-US" sz="2400" dirty="0">
                <a:solidFill>
                  <a:schemeClr val="tx1">
                    <a:lumMod val="95000"/>
                    <a:lumOff val="5000"/>
                  </a:schemeClr>
                </a:solidFill>
              </a:rPr>
              <a:t>f</a:t>
            </a:r>
            <a:r>
              <a:rPr lang="ru-RU" sz="2400" dirty="0">
                <a:solidFill>
                  <a:schemeClr val="tx1">
                    <a:lumMod val="95000"/>
                    <a:lumOff val="5000"/>
                  </a:schemeClr>
                </a:solidFill>
              </a:rPr>
              <a:t>(</a:t>
            </a:r>
            <a:r>
              <a:rPr lang="en-US" sz="2400" dirty="0">
                <a:solidFill>
                  <a:schemeClr val="tx1">
                    <a:lumMod val="95000"/>
                    <a:lumOff val="5000"/>
                  </a:schemeClr>
                </a:solidFill>
              </a:rPr>
              <a:t>x</a:t>
            </a:r>
            <a:r>
              <a:rPr lang="ru-RU" sz="2400" dirty="0">
                <a:solidFill>
                  <a:schemeClr val="tx1">
                    <a:lumMod val="95000"/>
                    <a:lumOff val="5000"/>
                  </a:schemeClr>
                </a:solidFill>
              </a:rPr>
              <a:t>)</a:t>
            </a:r>
            <a:r>
              <a:rPr lang="bg-BG" sz="2400" dirty="0">
                <a:solidFill>
                  <a:schemeClr val="tx1">
                    <a:lumMod val="95000"/>
                    <a:lumOff val="5000"/>
                  </a:schemeClr>
                </a:solidFill>
              </a:rPr>
              <a:t>. </a:t>
            </a:r>
          </a:p>
          <a:p>
            <a:pPr indent="540000" algn="just">
              <a:lnSpc>
                <a:spcPct val="140000"/>
              </a:lnSpc>
            </a:pPr>
            <a:r>
              <a:rPr lang="bg-BG" sz="2400" dirty="0">
                <a:solidFill>
                  <a:schemeClr val="tx1">
                    <a:lumMod val="95000"/>
                    <a:lumOff val="5000"/>
                  </a:schemeClr>
                </a:solidFill>
              </a:rPr>
              <a:t>Ако целевата функция е непрекъсната и диференцируема, то съществува градиентът на </a:t>
            </a:r>
            <a:r>
              <a:rPr lang="en-US" sz="2400" dirty="0">
                <a:solidFill>
                  <a:schemeClr val="tx1">
                    <a:lumMod val="95000"/>
                    <a:lumOff val="5000"/>
                  </a:schemeClr>
                </a:solidFill>
              </a:rPr>
              <a:t>f</a:t>
            </a:r>
            <a:r>
              <a:rPr lang="ru-RU" sz="2400" dirty="0">
                <a:solidFill>
                  <a:schemeClr val="tx1">
                    <a:lumMod val="95000"/>
                    <a:lumOff val="5000"/>
                  </a:schemeClr>
                </a:solidFill>
              </a:rPr>
              <a:t>(</a:t>
            </a:r>
            <a:r>
              <a:rPr lang="en-US" sz="2400" dirty="0">
                <a:solidFill>
                  <a:schemeClr val="tx1">
                    <a:lumMod val="95000"/>
                    <a:lumOff val="5000"/>
                  </a:schemeClr>
                </a:solidFill>
              </a:rPr>
              <a:t>x</a:t>
            </a:r>
            <a:r>
              <a:rPr lang="ru-RU" sz="2400" dirty="0">
                <a:solidFill>
                  <a:schemeClr val="tx1">
                    <a:lumMod val="95000"/>
                    <a:lumOff val="5000"/>
                  </a:schemeClr>
                </a:solidFill>
              </a:rPr>
              <a:t>)</a:t>
            </a:r>
            <a:r>
              <a:rPr lang="bg-BG" sz="2400" dirty="0">
                <a:solidFill>
                  <a:schemeClr val="tx1">
                    <a:lumMod val="95000"/>
                    <a:lumOff val="5000"/>
                  </a:schemeClr>
                </a:solidFill>
              </a:rPr>
              <a:t>, който представлява вектор-стълб от първите производни на </a:t>
            </a:r>
            <a:r>
              <a:rPr lang="en-US" sz="2400" dirty="0">
                <a:solidFill>
                  <a:schemeClr val="tx1">
                    <a:lumMod val="95000"/>
                    <a:lumOff val="5000"/>
                  </a:schemeClr>
                </a:solidFill>
              </a:rPr>
              <a:t>f</a:t>
            </a:r>
            <a:r>
              <a:rPr lang="ru-RU" sz="2400" dirty="0">
                <a:solidFill>
                  <a:schemeClr val="tx1">
                    <a:lumMod val="95000"/>
                    <a:lumOff val="5000"/>
                  </a:schemeClr>
                </a:solidFill>
              </a:rPr>
              <a:t>(</a:t>
            </a:r>
            <a:r>
              <a:rPr lang="en-US" sz="2400" dirty="0">
                <a:solidFill>
                  <a:schemeClr val="tx1">
                    <a:lumMod val="95000"/>
                    <a:lumOff val="5000"/>
                  </a:schemeClr>
                </a:solidFill>
              </a:rPr>
              <a:t>x</a:t>
            </a:r>
            <a:r>
              <a:rPr lang="ru-RU" sz="2400" dirty="0">
                <a:solidFill>
                  <a:schemeClr val="tx1">
                    <a:lumMod val="95000"/>
                    <a:lumOff val="5000"/>
                  </a:schemeClr>
                </a:solidFill>
              </a:rPr>
              <a:t>) </a:t>
            </a:r>
            <a:r>
              <a:rPr lang="bg-BG" sz="2400" dirty="0">
                <a:solidFill>
                  <a:schemeClr val="tx1">
                    <a:lumMod val="95000"/>
                    <a:lumOff val="5000"/>
                  </a:schemeClr>
                </a:solidFill>
              </a:rPr>
              <a:t>по всяка от променливите, изчислена за конкретна стойност на </a:t>
            </a:r>
            <a:r>
              <a:rPr lang="en-US" sz="2400" dirty="0">
                <a:solidFill>
                  <a:schemeClr val="tx1">
                    <a:lumMod val="95000"/>
                    <a:lumOff val="5000"/>
                  </a:schemeClr>
                </a:solidFill>
              </a:rPr>
              <a:t>x</a:t>
            </a:r>
            <a:r>
              <a:rPr lang="bg-BG" sz="2400" dirty="0">
                <a:solidFill>
                  <a:schemeClr val="tx1">
                    <a:lumMod val="95000"/>
                    <a:lumOff val="5000"/>
                  </a:schemeClr>
                </a:solidFill>
              </a:rPr>
              <a:t>.</a:t>
            </a:r>
          </a:p>
          <a:p>
            <a:pPr indent="540000" algn="just">
              <a:lnSpc>
                <a:spcPct val="150000"/>
              </a:lnSpc>
            </a:pPr>
            <a:endParaRPr lang="bg-BG" sz="2400" dirty="0">
              <a:solidFill>
                <a:schemeClr val="tx1">
                  <a:lumMod val="95000"/>
                  <a:lumOff val="5000"/>
                </a:schemeClr>
              </a:solidFill>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6" name="Object 5"/>
          <p:cNvGraphicFramePr>
            <a:graphicFrameLocks noChangeAspect="1"/>
          </p:cNvGraphicFramePr>
          <p:nvPr>
            <p:extLst>
              <p:ext uri="{D42A27DB-BD31-4B8C-83A1-F6EECF244321}">
                <p14:modId xmlns:p14="http://schemas.microsoft.com/office/powerpoint/2010/main" val="3050609823"/>
              </p:ext>
            </p:extLst>
          </p:nvPr>
        </p:nvGraphicFramePr>
        <p:xfrm>
          <a:off x="4285397" y="3910925"/>
          <a:ext cx="2006221" cy="2760237"/>
        </p:xfrm>
        <a:graphic>
          <a:graphicData uri="http://schemas.openxmlformats.org/presentationml/2006/ole">
            <mc:AlternateContent xmlns:mc="http://schemas.openxmlformats.org/markup-compatibility/2006">
              <mc:Choice xmlns:v="urn:schemas-microsoft-com:vml" Requires="v">
                <p:oleObj spid="_x0000_s6147" r:id="rId3" imgW="1422400" imgH="1955800" progId="Equation.3">
                  <p:embed/>
                </p:oleObj>
              </mc:Choice>
              <mc:Fallback>
                <p:oleObj r:id="rId3" imgW="1422400" imgH="19558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5397" y="3910925"/>
                        <a:ext cx="2006221" cy="2760237"/>
                      </a:xfrm>
                      <a:prstGeom prst="rect">
                        <a:avLst/>
                      </a:prstGeom>
                      <a:noFill/>
                    </p:spPr>
                  </p:pic>
                </p:oleObj>
              </mc:Fallback>
            </mc:AlternateContent>
          </a:graphicData>
        </a:graphic>
      </p:graphicFrame>
    </p:spTree>
    <p:extLst>
      <p:ext uri="{BB962C8B-B14F-4D97-AF65-F5344CB8AC3E}">
        <p14:creationId xmlns:p14="http://schemas.microsoft.com/office/powerpoint/2010/main" val="1257893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16</a:t>
            </a:fld>
            <a:endParaRPr lang="bg-BG" dirty="0"/>
          </a:p>
        </p:txBody>
      </p:sp>
      <p:sp>
        <p:nvSpPr>
          <p:cNvPr id="2" name="Rectangle 1"/>
          <p:cNvSpPr/>
          <p:nvPr/>
        </p:nvSpPr>
        <p:spPr>
          <a:xfrm>
            <a:off x="2032000" y="233740"/>
            <a:ext cx="9950733" cy="4228850"/>
          </a:xfrm>
          <a:prstGeom prst="rect">
            <a:avLst/>
          </a:prstGeom>
        </p:spPr>
        <p:txBody>
          <a:bodyPr wrap="square">
            <a:spAutoFit/>
          </a:bodyPr>
          <a:lstStyle/>
          <a:p>
            <a:pPr indent="540000" algn="just">
              <a:lnSpc>
                <a:spcPct val="140000"/>
              </a:lnSpc>
            </a:pPr>
            <a:r>
              <a:rPr lang="bg-BG" sz="2400" dirty="0">
                <a:solidFill>
                  <a:schemeClr val="tx1">
                    <a:lumMod val="95000"/>
                    <a:lumOff val="5000"/>
                  </a:schemeClr>
                </a:solidFill>
              </a:rPr>
              <a:t>В математиката е доказано, че градиентът на скаларна функция е насочен по посока на най-бързото нарастване на функцията и той е ортогонален на линията на нивото на </a:t>
            </a:r>
            <a:r>
              <a:rPr lang="en-US" sz="2400" dirty="0">
                <a:solidFill>
                  <a:schemeClr val="tx1">
                    <a:lumMod val="95000"/>
                    <a:lumOff val="5000"/>
                  </a:schemeClr>
                </a:solidFill>
              </a:rPr>
              <a:t>f</a:t>
            </a:r>
            <a:r>
              <a:rPr lang="ru-RU" sz="2400" dirty="0">
                <a:solidFill>
                  <a:schemeClr val="tx1">
                    <a:lumMod val="95000"/>
                    <a:lumOff val="5000"/>
                  </a:schemeClr>
                </a:solidFill>
              </a:rPr>
              <a:t>(</a:t>
            </a:r>
            <a:r>
              <a:rPr lang="en-US" sz="2400" dirty="0">
                <a:solidFill>
                  <a:schemeClr val="tx1">
                    <a:lumMod val="95000"/>
                    <a:lumOff val="5000"/>
                  </a:schemeClr>
                </a:solidFill>
              </a:rPr>
              <a:t>x</a:t>
            </a:r>
            <a:r>
              <a:rPr lang="ru-RU" sz="2400" dirty="0">
                <a:solidFill>
                  <a:schemeClr val="tx1">
                    <a:lumMod val="95000"/>
                    <a:lumOff val="5000"/>
                  </a:schemeClr>
                </a:solidFill>
              </a:rPr>
              <a:t>)</a:t>
            </a:r>
            <a:r>
              <a:rPr lang="bg-BG" sz="2400" dirty="0">
                <a:solidFill>
                  <a:schemeClr val="tx1">
                    <a:lumMod val="95000"/>
                    <a:lumOff val="5000"/>
                  </a:schemeClr>
                </a:solidFill>
              </a:rPr>
              <a:t>, минаваща през точката       . </a:t>
            </a:r>
          </a:p>
          <a:p>
            <a:pPr algn="just">
              <a:lnSpc>
                <a:spcPct val="140000"/>
              </a:lnSpc>
            </a:pPr>
            <a:r>
              <a:rPr lang="bg-BG" sz="2400" dirty="0">
                <a:solidFill>
                  <a:schemeClr val="tx1">
                    <a:lumMod val="95000"/>
                    <a:lumOff val="5000"/>
                  </a:schemeClr>
                </a:solidFill>
              </a:rPr>
              <a:t>Вектор, противоположен на този градиент, се нарича вектор на най-бързото спускане. Твърденията са верни за Евклидово пространство.</a:t>
            </a:r>
          </a:p>
          <a:p>
            <a:pPr indent="531813" algn="just">
              <a:lnSpc>
                <a:spcPct val="140000"/>
              </a:lnSpc>
            </a:pPr>
            <a:r>
              <a:rPr lang="bg-BG" sz="2400" i="1" dirty="0">
                <a:solidFill>
                  <a:schemeClr val="tx1">
                    <a:lumMod val="95000"/>
                    <a:lumOff val="5000"/>
                  </a:schemeClr>
                </a:solidFill>
              </a:rPr>
              <a:t>Матрица на Хесе. </a:t>
            </a:r>
            <a:r>
              <a:rPr lang="bg-BG" sz="2400" dirty="0">
                <a:solidFill>
                  <a:schemeClr val="tx1">
                    <a:lumMod val="95000"/>
                    <a:lumOff val="5000"/>
                  </a:schemeClr>
                </a:solidFill>
              </a:rPr>
              <a:t>Квадратна матрица, която съдържа вторите частни производни на </a:t>
            </a:r>
            <a:r>
              <a:rPr lang="en-US" sz="2400" dirty="0">
                <a:solidFill>
                  <a:schemeClr val="tx1">
                    <a:lumMod val="95000"/>
                    <a:lumOff val="5000"/>
                  </a:schemeClr>
                </a:solidFill>
              </a:rPr>
              <a:t>f</a:t>
            </a:r>
            <a:r>
              <a:rPr lang="ru-RU" sz="2400" dirty="0">
                <a:solidFill>
                  <a:schemeClr val="tx1">
                    <a:lumMod val="95000"/>
                    <a:lumOff val="5000"/>
                  </a:schemeClr>
                </a:solidFill>
              </a:rPr>
              <a:t>(</a:t>
            </a:r>
            <a:r>
              <a:rPr lang="en-US" sz="2400" dirty="0">
                <a:solidFill>
                  <a:schemeClr val="tx1">
                    <a:lumMod val="95000"/>
                    <a:lumOff val="5000"/>
                  </a:schemeClr>
                </a:solidFill>
              </a:rPr>
              <a:t>x</a:t>
            </a:r>
            <a:r>
              <a:rPr lang="ru-RU" sz="2400" dirty="0">
                <a:solidFill>
                  <a:schemeClr val="tx1">
                    <a:lumMod val="95000"/>
                    <a:lumOff val="5000"/>
                  </a:schemeClr>
                </a:solidFill>
              </a:rPr>
              <a:t>)</a:t>
            </a:r>
            <a:r>
              <a:rPr lang="bg-BG" sz="2400" dirty="0">
                <a:solidFill>
                  <a:schemeClr val="tx1">
                    <a:lumMod val="95000"/>
                    <a:lumOff val="5000"/>
                  </a:schemeClr>
                </a:solidFill>
              </a:rPr>
              <a:t> в точката         . </a:t>
            </a:r>
          </a:p>
          <a:p>
            <a:pPr indent="540000" algn="just">
              <a:lnSpc>
                <a:spcPct val="140000"/>
              </a:lnSpc>
            </a:pPr>
            <a:endParaRPr lang="bg-BG" sz="2400" dirty="0">
              <a:solidFill>
                <a:schemeClr val="tx1">
                  <a:lumMod val="95000"/>
                  <a:lumOff val="5000"/>
                </a:schemeClr>
              </a:solidFill>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6" name="Object 5"/>
          <p:cNvGraphicFramePr>
            <a:graphicFrameLocks noChangeAspect="1"/>
          </p:cNvGraphicFramePr>
          <p:nvPr>
            <p:extLst>
              <p:ext uri="{D42A27DB-BD31-4B8C-83A1-F6EECF244321}">
                <p14:modId xmlns:p14="http://schemas.microsoft.com/office/powerpoint/2010/main" val="1302628453"/>
              </p:ext>
            </p:extLst>
          </p:nvPr>
        </p:nvGraphicFramePr>
        <p:xfrm>
          <a:off x="11325690" y="1327683"/>
          <a:ext cx="561507" cy="436728"/>
        </p:xfrm>
        <a:graphic>
          <a:graphicData uri="http://schemas.openxmlformats.org/presentationml/2006/ole">
            <mc:AlternateContent xmlns:mc="http://schemas.openxmlformats.org/markup-compatibility/2006">
              <mc:Choice xmlns:v="urn:schemas-microsoft-com:vml" Requires="v">
                <p:oleObj spid="_x0000_s7173" r:id="rId3" imgW="253780" imgH="203024" progId="Equation.3">
                  <p:embed/>
                </p:oleObj>
              </mc:Choice>
              <mc:Fallback>
                <p:oleObj r:id="rId3" imgW="253780" imgH="203024"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25690" y="1327683"/>
                        <a:ext cx="561507" cy="436728"/>
                      </a:xfrm>
                      <a:prstGeom prst="rect">
                        <a:avLst/>
                      </a:prstGeom>
                      <a:noFill/>
                    </p:spPr>
                  </p:pic>
                </p:oleObj>
              </mc:Fallback>
            </mc:AlternateContent>
          </a:graphicData>
        </a:graphic>
      </p:graphicFrame>
      <p:sp>
        <p:nvSpPr>
          <p:cNvPr id="8" name="Rectangle 3"/>
          <p:cNvSpPr>
            <a:spLocks noChangeArrowheads="1"/>
          </p:cNvSpPr>
          <p:nvPr/>
        </p:nvSpPr>
        <p:spPr bwMode="auto">
          <a:xfrm>
            <a:off x="0" y="2000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endParaRPr kumimoji="0" lang="bg-BG" altLang="bg-BG" sz="1800" b="0" i="0" u="none" strike="noStrike" cap="none" normalizeH="0" baseline="0">
              <a:ln>
                <a:noFill/>
              </a:ln>
              <a:solidFill>
                <a:schemeClr val="tx1"/>
              </a:solidFill>
              <a:effectLst/>
              <a:latin typeface="Arial" panose="020B0604020202020204" pitchFamily="34" charset="0"/>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318073823"/>
              </p:ext>
            </p:extLst>
          </p:nvPr>
        </p:nvGraphicFramePr>
        <p:xfrm>
          <a:off x="7260932" y="3377122"/>
          <a:ext cx="561507" cy="436728"/>
        </p:xfrm>
        <a:graphic>
          <a:graphicData uri="http://schemas.openxmlformats.org/presentationml/2006/ole">
            <mc:AlternateContent xmlns:mc="http://schemas.openxmlformats.org/markup-compatibility/2006">
              <mc:Choice xmlns:v="urn:schemas-microsoft-com:vml" Requires="v">
                <p:oleObj spid="_x0000_s7174" r:id="rId5" imgW="253780" imgH="203024" progId="Equation.3">
                  <p:embed/>
                </p:oleObj>
              </mc:Choice>
              <mc:Fallback>
                <p:oleObj r:id="rId5" imgW="253780" imgH="203024" progId="Equation.3">
                  <p:embed/>
                  <p:pic>
                    <p:nvPicPr>
                      <p:cNvPr id="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60932" y="3377122"/>
                        <a:ext cx="561507" cy="436728"/>
                      </a:xfrm>
                      <a:prstGeom prst="rect">
                        <a:avLst/>
                      </a:prstGeom>
                      <a:noFill/>
                    </p:spPr>
                  </p:pic>
                </p:oleObj>
              </mc:Fallback>
            </mc:AlternateContent>
          </a:graphicData>
        </a:graphic>
      </p:graphicFrame>
      <p:sp>
        <p:nvSpPr>
          <p:cNvPr id="10"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1" name="Object 10"/>
          <p:cNvGraphicFramePr>
            <a:graphicFrameLocks noChangeAspect="1"/>
          </p:cNvGraphicFramePr>
          <p:nvPr>
            <p:extLst>
              <p:ext uri="{D42A27DB-BD31-4B8C-83A1-F6EECF244321}">
                <p14:modId xmlns:p14="http://schemas.microsoft.com/office/powerpoint/2010/main" val="4150998893"/>
              </p:ext>
            </p:extLst>
          </p:nvPr>
        </p:nvGraphicFramePr>
        <p:xfrm>
          <a:off x="2511188" y="3957850"/>
          <a:ext cx="6858890" cy="2506133"/>
        </p:xfrm>
        <a:graphic>
          <a:graphicData uri="http://schemas.openxmlformats.org/presentationml/2006/ole">
            <mc:AlternateContent xmlns:mc="http://schemas.openxmlformats.org/markup-compatibility/2006">
              <mc:Choice xmlns:v="urn:schemas-microsoft-com:vml" Requires="v">
                <p:oleObj spid="_x0000_s7175" r:id="rId6" imgW="3962400" imgH="1447800" progId="Equation.3">
                  <p:embed/>
                </p:oleObj>
              </mc:Choice>
              <mc:Fallback>
                <p:oleObj r:id="rId6" imgW="3962400" imgH="14478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1188" y="3957850"/>
                        <a:ext cx="6858890" cy="2506133"/>
                      </a:xfrm>
                      <a:prstGeom prst="rect">
                        <a:avLst/>
                      </a:prstGeom>
                      <a:noFill/>
                    </p:spPr>
                  </p:pic>
                </p:oleObj>
              </mc:Fallback>
            </mc:AlternateContent>
          </a:graphicData>
        </a:graphic>
      </p:graphicFrame>
    </p:spTree>
    <p:extLst>
      <p:ext uri="{BB962C8B-B14F-4D97-AF65-F5344CB8AC3E}">
        <p14:creationId xmlns:p14="http://schemas.microsoft.com/office/powerpoint/2010/main" val="2054943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17</a:t>
            </a:fld>
            <a:endParaRPr lang="bg-BG" dirty="0"/>
          </a:p>
        </p:txBody>
      </p:sp>
      <p:sp>
        <p:nvSpPr>
          <p:cNvPr id="7" name="Rectangle 6"/>
          <p:cNvSpPr/>
          <p:nvPr/>
        </p:nvSpPr>
        <p:spPr>
          <a:xfrm>
            <a:off x="2032000" y="288925"/>
            <a:ext cx="10005325" cy="6186309"/>
          </a:xfrm>
          <a:prstGeom prst="rect">
            <a:avLst/>
          </a:prstGeom>
        </p:spPr>
        <p:txBody>
          <a:bodyPr wrap="square">
            <a:spAutoFit/>
          </a:bodyPr>
          <a:lstStyle/>
          <a:p>
            <a:pPr>
              <a:lnSpc>
                <a:spcPct val="150000"/>
              </a:lnSpc>
            </a:pPr>
            <a:r>
              <a:rPr lang="bg-BG" sz="2400" b="1" i="1" dirty="0">
                <a:solidFill>
                  <a:schemeClr val="tx1">
                    <a:lumMod val="95000"/>
                    <a:lumOff val="5000"/>
                  </a:schemeClr>
                </a:solidFill>
              </a:rPr>
              <a:t>Метод с използване на производни</a:t>
            </a:r>
          </a:p>
          <a:p>
            <a:pPr indent="533400"/>
            <a:r>
              <a:rPr lang="bg-BG" sz="2400" b="1" i="1" dirty="0">
                <a:solidFill>
                  <a:schemeClr val="tx1">
                    <a:lumMod val="95000"/>
                    <a:lumOff val="5000"/>
                  </a:schemeClr>
                </a:solidFill>
              </a:rPr>
              <a:t>Метод на най-бързото спускане</a:t>
            </a:r>
          </a:p>
          <a:p>
            <a:pPr indent="531813" algn="just">
              <a:lnSpc>
                <a:spcPct val="140000"/>
              </a:lnSpc>
            </a:pPr>
            <a:r>
              <a:rPr lang="bg-BG" sz="2400" dirty="0">
                <a:solidFill>
                  <a:schemeClr val="tx1">
                    <a:lumMod val="95000"/>
                    <a:lumOff val="5000"/>
                  </a:schemeClr>
                </a:solidFill>
              </a:rPr>
              <a:t>Приложението на метода на най-бързото спускане за решаване на оптимизационни задачи без ограничения е било приложено за първи път от френския математик Коши. Градиентът на целевата функция </a:t>
            </a:r>
            <a:r>
              <a:rPr lang="en-US" sz="2400" dirty="0">
                <a:solidFill>
                  <a:schemeClr val="tx1">
                    <a:lumMod val="95000"/>
                    <a:lumOff val="5000"/>
                  </a:schemeClr>
                </a:solidFill>
              </a:rPr>
              <a:t>f</a:t>
            </a:r>
            <a:r>
              <a:rPr lang="ru-RU" sz="2400" dirty="0">
                <a:solidFill>
                  <a:schemeClr val="tx1">
                    <a:lumMod val="95000"/>
                    <a:lumOff val="5000"/>
                  </a:schemeClr>
                </a:solidFill>
              </a:rPr>
              <a:t>(</a:t>
            </a:r>
            <a:r>
              <a:rPr lang="en-US" sz="2400" dirty="0">
                <a:solidFill>
                  <a:schemeClr val="tx1">
                    <a:lumMod val="95000"/>
                    <a:lumOff val="5000"/>
                  </a:schemeClr>
                </a:solidFill>
              </a:rPr>
              <a:t>x</a:t>
            </a:r>
            <a:r>
              <a:rPr lang="ru-RU" sz="2400" dirty="0">
                <a:solidFill>
                  <a:schemeClr val="tx1">
                    <a:lumMod val="95000"/>
                    <a:lumOff val="5000"/>
                  </a:schemeClr>
                </a:solidFill>
              </a:rPr>
              <a:t>)</a:t>
            </a:r>
            <a:r>
              <a:rPr lang="bg-BG" sz="2400" dirty="0">
                <a:solidFill>
                  <a:schemeClr val="tx1">
                    <a:lumMod val="95000"/>
                    <a:lumOff val="5000"/>
                  </a:schemeClr>
                </a:solidFill>
              </a:rPr>
              <a:t> в произволна точка  </a:t>
            </a:r>
            <a:r>
              <a:rPr lang="en-US" sz="2400" dirty="0">
                <a:solidFill>
                  <a:schemeClr val="tx1">
                    <a:lumMod val="95000"/>
                    <a:lumOff val="5000"/>
                  </a:schemeClr>
                </a:solidFill>
              </a:rPr>
              <a:t>x</a:t>
            </a:r>
            <a:r>
              <a:rPr lang="bg-BG" sz="2400" dirty="0">
                <a:solidFill>
                  <a:schemeClr val="tx1">
                    <a:lumMod val="95000"/>
                    <a:lumOff val="5000"/>
                  </a:schemeClr>
                </a:solidFill>
              </a:rPr>
              <a:t> е вектор на най-голямо локално увеличение на </a:t>
            </a:r>
            <a:r>
              <a:rPr lang="en-US" sz="2400" dirty="0">
                <a:solidFill>
                  <a:schemeClr val="tx1">
                    <a:lumMod val="95000"/>
                    <a:lumOff val="5000"/>
                  </a:schemeClr>
                </a:solidFill>
              </a:rPr>
              <a:t>f</a:t>
            </a:r>
            <a:r>
              <a:rPr lang="ru-RU" sz="2400" dirty="0">
                <a:solidFill>
                  <a:schemeClr val="tx1">
                    <a:lumMod val="95000"/>
                    <a:lumOff val="5000"/>
                  </a:schemeClr>
                </a:solidFill>
              </a:rPr>
              <a:t>(</a:t>
            </a:r>
            <a:r>
              <a:rPr lang="en-US" sz="2400" dirty="0">
                <a:solidFill>
                  <a:schemeClr val="tx1">
                    <a:lumMod val="95000"/>
                    <a:lumOff val="5000"/>
                  </a:schemeClr>
                </a:solidFill>
              </a:rPr>
              <a:t>x</a:t>
            </a:r>
            <a:r>
              <a:rPr lang="ru-RU" sz="2400" dirty="0">
                <a:solidFill>
                  <a:schemeClr val="tx1">
                    <a:lumMod val="95000"/>
                    <a:lumOff val="5000"/>
                  </a:schemeClr>
                </a:solidFill>
              </a:rPr>
              <a:t>). </a:t>
            </a:r>
            <a:r>
              <a:rPr lang="bg-BG" sz="2400" dirty="0">
                <a:solidFill>
                  <a:schemeClr val="tx1">
                    <a:lumMod val="95000"/>
                    <a:lumOff val="5000"/>
                  </a:schemeClr>
                </a:solidFill>
              </a:rPr>
              <a:t>Следователно, ако става придвижване по посока противоположна на градиента на </a:t>
            </a:r>
            <a:r>
              <a:rPr lang="en-US" sz="2400" dirty="0">
                <a:solidFill>
                  <a:schemeClr val="tx1">
                    <a:lumMod val="95000"/>
                    <a:lumOff val="5000"/>
                  </a:schemeClr>
                </a:solidFill>
              </a:rPr>
              <a:t>f</a:t>
            </a:r>
            <a:r>
              <a:rPr lang="ru-RU" sz="2400" dirty="0">
                <a:solidFill>
                  <a:schemeClr val="tx1">
                    <a:lumMod val="95000"/>
                    <a:lumOff val="5000"/>
                  </a:schemeClr>
                </a:solidFill>
              </a:rPr>
              <a:t>(</a:t>
            </a:r>
            <a:r>
              <a:rPr lang="en-US" sz="2400" dirty="0">
                <a:solidFill>
                  <a:schemeClr val="tx1">
                    <a:lumMod val="95000"/>
                    <a:lumOff val="5000"/>
                  </a:schemeClr>
                </a:solidFill>
              </a:rPr>
              <a:t>x</a:t>
            </a:r>
            <a:r>
              <a:rPr lang="ru-RU" sz="2400" dirty="0">
                <a:solidFill>
                  <a:schemeClr val="tx1">
                    <a:lumMod val="95000"/>
                    <a:lumOff val="5000"/>
                  </a:schemeClr>
                </a:solidFill>
              </a:rPr>
              <a:t>)</a:t>
            </a:r>
            <a:r>
              <a:rPr lang="bg-BG" sz="2400" dirty="0">
                <a:solidFill>
                  <a:schemeClr val="tx1">
                    <a:lumMod val="95000"/>
                    <a:lumOff val="5000"/>
                  </a:schemeClr>
                </a:solidFill>
              </a:rPr>
              <a:t>, т.е. по посока на най-бързото спускане, ще стигнем до намиране на минимална стойност на </a:t>
            </a:r>
            <a:r>
              <a:rPr lang="en-US" sz="2400" dirty="0">
                <a:solidFill>
                  <a:schemeClr val="tx1">
                    <a:lumMod val="95000"/>
                    <a:lumOff val="5000"/>
                  </a:schemeClr>
                </a:solidFill>
              </a:rPr>
              <a:t>f</a:t>
            </a:r>
            <a:r>
              <a:rPr lang="ru-RU" sz="2400" dirty="0">
                <a:solidFill>
                  <a:schemeClr val="tx1">
                    <a:lumMod val="95000"/>
                    <a:lumOff val="5000"/>
                  </a:schemeClr>
                </a:solidFill>
              </a:rPr>
              <a:t>(</a:t>
            </a:r>
            <a:r>
              <a:rPr lang="en-US" sz="2400" dirty="0">
                <a:solidFill>
                  <a:schemeClr val="tx1">
                    <a:lumMod val="95000"/>
                    <a:lumOff val="5000"/>
                  </a:schemeClr>
                </a:solidFill>
              </a:rPr>
              <a:t>x</a:t>
            </a:r>
            <a:r>
              <a:rPr lang="ru-RU" sz="2400" dirty="0">
                <a:solidFill>
                  <a:schemeClr val="tx1">
                    <a:lumMod val="95000"/>
                    <a:lumOff val="5000"/>
                  </a:schemeClr>
                </a:solidFill>
              </a:rPr>
              <a:t>). </a:t>
            </a:r>
            <a:r>
              <a:rPr lang="bg-BG" sz="2400" dirty="0">
                <a:solidFill>
                  <a:schemeClr val="tx1">
                    <a:lumMod val="95000"/>
                    <a:lumOff val="5000"/>
                  </a:schemeClr>
                </a:solidFill>
              </a:rPr>
              <a:t>Посоката на най-бързото спускане по нормирания (единичен) градиент на </a:t>
            </a:r>
            <a:r>
              <a:rPr lang="en-US" sz="2400" dirty="0">
                <a:solidFill>
                  <a:schemeClr val="tx1">
                    <a:lumMod val="95000"/>
                    <a:lumOff val="5000"/>
                  </a:schemeClr>
                </a:solidFill>
              </a:rPr>
              <a:t>f</a:t>
            </a:r>
            <a:r>
              <a:rPr lang="ru-RU" sz="2400" dirty="0">
                <a:solidFill>
                  <a:schemeClr val="tx1">
                    <a:lumMod val="95000"/>
                    <a:lumOff val="5000"/>
                  </a:schemeClr>
                </a:solidFill>
              </a:rPr>
              <a:t>(</a:t>
            </a:r>
            <a:r>
              <a:rPr lang="en-US" sz="2400" dirty="0">
                <a:solidFill>
                  <a:schemeClr val="tx1">
                    <a:lumMod val="95000"/>
                    <a:lumOff val="5000"/>
                  </a:schemeClr>
                </a:solidFill>
              </a:rPr>
              <a:t>x</a:t>
            </a:r>
            <a:r>
              <a:rPr lang="ru-RU" sz="2400" dirty="0">
                <a:solidFill>
                  <a:schemeClr val="tx1">
                    <a:lumMod val="95000"/>
                    <a:lumOff val="5000"/>
                  </a:schemeClr>
                </a:solidFill>
              </a:rPr>
              <a:t>)</a:t>
            </a:r>
            <a:r>
              <a:rPr lang="bg-BG" sz="2400" dirty="0">
                <a:solidFill>
                  <a:schemeClr val="tx1">
                    <a:lumMod val="95000"/>
                    <a:lumOff val="5000"/>
                  </a:schemeClr>
                </a:solidFill>
              </a:rPr>
              <a:t> в точката           се дава с помощта на формулата:</a:t>
            </a:r>
          </a:p>
          <a:p>
            <a:pPr indent="531813" algn="just">
              <a:lnSpc>
                <a:spcPct val="140000"/>
              </a:lnSpc>
            </a:pPr>
            <a:endParaRPr lang="bg-BG" sz="2400" dirty="0">
              <a:solidFill>
                <a:schemeClr val="tx1">
                  <a:lumMod val="95000"/>
                  <a:lumOff val="5000"/>
                </a:schemeClr>
              </a:solidFill>
            </a:endParaRPr>
          </a:p>
        </p:txBody>
      </p:sp>
      <p:sp>
        <p:nvSpPr>
          <p:cNvPr id="3" name="Rectangle 2"/>
          <p:cNvSpPr/>
          <p:nvPr/>
        </p:nvSpPr>
        <p:spPr>
          <a:xfrm>
            <a:off x="0" y="-90019"/>
            <a:ext cx="6725687" cy="577850"/>
          </a:xfrm>
          <a:prstGeom prst="rect">
            <a:avLst/>
          </a:prstGeom>
        </p:spPr>
        <p:txBody>
          <a:bodyPr wrap="none">
            <a:spAutoFit/>
          </a:bodyPr>
          <a:lstStyle/>
          <a:p>
            <a:pPr algn="just">
              <a:lnSpc>
                <a:spcPct val="150000"/>
              </a:lnSpc>
              <a:spcAft>
                <a:spcPts val="0"/>
              </a:spcAft>
              <a:buClr>
                <a:schemeClr val="accent1">
                  <a:lumMod val="75000"/>
                </a:schemeClr>
              </a:buClr>
              <a:buSzPct val="85000"/>
              <a:defRPr/>
            </a:pPr>
            <a:r>
              <a:rPr lang="bg-BG" sz="2400" b="1" i="1" dirty="0">
                <a:latin typeface="Arial" panose="020B0604020202020204" pitchFamily="34" charset="0"/>
                <a:ea typeface="Times New Roman" panose="02020603050405020304" pitchFamily="18" charset="0"/>
              </a:rPr>
              <a:t>Методи за минимизация без ограничения</a:t>
            </a:r>
          </a:p>
        </p:txBody>
      </p:sp>
      <p:graphicFrame>
        <p:nvGraphicFramePr>
          <p:cNvPr id="8" name="Object 7"/>
          <p:cNvGraphicFramePr>
            <a:graphicFrameLocks noChangeAspect="1"/>
          </p:cNvGraphicFramePr>
          <p:nvPr>
            <p:extLst>
              <p:ext uri="{D42A27DB-BD31-4B8C-83A1-F6EECF244321}">
                <p14:modId xmlns:p14="http://schemas.microsoft.com/office/powerpoint/2010/main" val="3737540243"/>
              </p:ext>
            </p:extLst>
          </p:nvPr>
        </p:nvGraphicFramePr>
        <p:xfrm>
          <a:off x="5815246" y="5381068"/>
          <a:ext cx="561507" cy="436728"/>
        </p:xfrm>
        <a:graphic>
          <a:graphicData uri="http://schemas.openxmlformats.org/presentationml/2006/ole">
            <mc:AlternateContent xmlns:mc="http://schemas.openxmlformats.org/markup-compatibility/2006">
              <mc:Choice xmlns:v="urn:schemas-microsoft-com:vml" Requires="v">
                <p:oleObj spid="_x0000_s8196" r:id="rId4" imgW="253780" imgH="203024" progId="Equation.3">
                  <p:embed/>
                </p:oleObj>
              </mc:Choice>
              <mc:Fallback>
                <p:oleObj r:id="rId4" imgW="253780" imgH="203024" progId="Equation.3">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15246" y="5381068"/>
                        <a:ext cx="561507" cy="436728"/>
                      </a:xfrm>
                      <a:prstGeom prst="rect">
                        <a:avLst/>
                      </a:prstGeom>
                      <a:noFill/>
                    </p:spPr>
                  </p:pic>
                </p:oleObj>
              </mc:Fallback>
            </mc:AlternateContent>
          </a:graphicData>
        </a:graphic>
      </p:graphicFrame>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6" name="Object 5"/>
          <p:cNvGraphicFramePr>
            <a:graphicFrameLocks noChangeAspect="1"/>
          </p:cNvGraphicFramePr>
          <p:nvPr>
            <p:extLst>
              <p:ext uri="{D42A27DB-BD31-4B8C-83A1-F6EECF244321}">
                <p14:modId xmlns:p14="http://schemas.microsoft.com/office/powerpoint/2010/main" val="647071697"/>
              </p:ext>
            </p:extLst>
          </p:nvPr>
        </p:nvGraphicFramePr>
        <p:xfrm>
          <a:off x="4787587" y="5817796"/>
          <a:ext cx="2268306" cy="1036382"/>
        </p:xfrm>
        <a:graphic>
          <a:graphicData uri="http://schemas.openxmlformats.org/presentationml/2006/ole">
            <mc:AlternateContent xmlns:mc="http://schemas.openxmlformats.org/markup-compatibility/2006">
              <mc:Choice xmlns:v="urn:schemas-microsoft-com:vml" Requires="v">
                <p:oleObj spid="_x0000_s8197" r:id="rId6" imgW="1104900" imgH="508000" progId="Equation.3">
                  <p:embed/>
                </p:oleObj>
              </mc:Choice>
              <mc:Fallback>
                <p:oleObj r:id="rId6" imgW="1104900" imgH="508000" progId="Equation.3">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7587" y="5817796"/>
                        <a:ext cx="2268306" cy="1036382"/>
                      </a:xfrm>
                      <a:prstGeom prst="rect">
                        <a:avLst/>
                      </a:prstGeom>
                      <a:noFill/>
                    </p:spPr>
                  </p:pic>
                </p:oleObj>
              </mc:Fallback>
            </mc:AlternateContent>
          </a:graphicData>
        </a:graphic>
      </p:graphicFrame>
    </p:spTree>
    <p:extLst>
      <p:ext uri="{BB962C8B-B14F-4D97-AF65-F5344CB8AC3E}">
        <p14:creationId xmlns:p14="http://schemas.microsoft.com/office/powerpoint/2010/main" val="1716919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18</a:t>
            </a:fld>
            <a:endParaRPr lang="bg-BG" dirty="0"/>
          </a:p>
        </p:txBody>
      </p:sp>
      <p:sp>
        <p:nvSpPr>
          <p:cNvPr id="2" name="Rectangle 1"/>
          <p:cNvSpPr/>
          <p:nvPr/>
        </p:nvSpPr>
        <p:spPr>
          <a:xfrm>
            <a:off x="2032000" y="241452"/>
            <a:ext cx="10005325" cy="5632311"/>
          </a:xfrm>
          <a:prstGeom prst="rect">
            <a:avLst/>
          </a:prstGeom>
        </p:spPr>
        <p:txBody>
          <a:bodyPr wrap="square">
            <a:spAutoFit/>
          </a:bodyPr>
          <a:lstStyle/>
          <a:p>
            <a:pPr indent="540000" algn="just">
              <a:lnSpc>
                <a:spcPct val="150000"/>
              </a:lnSpc>
            </a:pPr>
            <a:r>
              <a:rPr lang="bg-BG" sz="2400" dirty="0">
                <a:solidFill>
                  <a:schemeClr val="tx1">
                    <a:lumMod val="95000"/>
                    <a:lumOff val="5000"/>
                  </a:schemeClr>
                </a:solidFill>
              </a:rPr>
              <a:t>Итерационната формула, по която ще се намира оптималното решение, е:</a:t>
            </a:r>
          </a:p>
          <a:p>
            <a:pPr indent="540000" algn="just">
              <a:lnSpc>
                <a:spcPct val="150000"/>
              </a:lnSpc>
            </a:pPr>
            <a:r>
              <a:rPr lang="bg-BG" sz="2400" dirty="0">
                <a:solidFill>
                  <a:schemeClr val="tx1">
                    <a:lumMod val="95000"/>
                    <a:lumOff val="5000"/>
                  </a:schemeClr>
                </a:solidFill>
              </a:rPr>
              <a:t>					        - метод на най-бързото спускане</a:t>
            </a:r>
          </a:p>
          <a:p>
            <a:pPr indent="540000" algn="just">
              <a:lnSpc>
                <a:spcPct val="150000"/>
              </a:lnSpc>
            </a:pPr>
            <a:endParaRPr lang="bg-BG" sz="2400" dirty="0">
              <a:solidFill>
                <a:schemeClr val="tx1">
                  <a:lumMod val="95000"/>
                  <a:lumOff val="5000"/>
                </a:schemeClr>
              </a:solidFill>
            </a:endParaRPr>
          </a:p>
          <a:p>
            <a:pPr indent="540000" algn="just">
              <a:lnSpc>
                <a:spcPct val="150000"/>
              </a:lnSpc>
            </a:pPr>
            <a:r>
              <a:rPr lang="bg-BG" sz="2400" dirty="0">
                <a:solidFill>
                  <a:schemeClr val="tx1">
                    <a:lumMod val="95000"/>
                    <a:lumOff val="5000"/>
                  </a:schemeClr>
                </a:solidFill>
              </a:rPr>
              <a:t>Отрицателният градиент дава само посоката на оптимизация, но не и стъпката, с която трябва да се променят компонентите на </a:t>
            </a:r>
            <a:r>
              <a:rPr lang="en-US" sz="2400" dirty="0">
                <a:solidFill>
                  <a:schemeClr val="tx1">
                    <a:lumMod val="95000"/>
                    <a:lumOff val="5000"/>
                  </a:schemeClr>
                </a:solidFill>
              </a:rPr>
              <a:t>x</a:t>
            </a:r>
            <a:r>
              <a:rPr lang="ru-RU" sz="2400" dirty="0">
                <a:solidFill>
                  <a:schemeClr val="tx1">
                    <a:lumMod val="95000"/>
                    <a:lumOff val="5000"/>
                  </a:schemeClr>
                </a:solidFill>
              </a:rPr>
              <a:t>.</a:t>
            </a:r>
            <a:r>
              <a:rPr lang="bg-BG" sz="2400" dirty="0">
                <a:solidFill>
                  <a:schemeClr val="tx1">
                    <a:lumMod val="95000"/>
                    <a:lumOff val="5000"/>
                  </a:schemeClr>
                </a:solidFill>
              </a:rPr>
              <a:t> Това дава възможност за създаване на различни процедури по метода на най-бързото спускане. В точката на екстремума всички компоненти на вектора на градиента са равни на нула.</a:t>
            </a:r>
          </a:p>
          <a:p>
            <a:pPr indent="540000" algn="just">
              <a:lnSpc>
                <a:spcPct val="150000"/>
              </a:lnSpc>
            </a:pPr>
            <a:endParaRPr lang="bg-BG" sz="2400" dirty="0">
              <a:solidFill>
                <a:schemeClr val="tx1">
                  <a:lumMod val="95000"/>
                  <a:lumOff val="5000"/>
                </a:schemeClr>
              </a:solidFill>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6" name="Object 5"/>
          <p:cNvGraphicFramePr>
            <a:graphicFrameLocks noChangeAspect="1"/>
          </p:cNvGraphicFramePr>
          <p:nvPr>
            <p:extLst>
              <p:ext uri="{D42A27DB-BD31-4B8C-83A1-F6EECF244321}">
                <p14:modId xmlns:p14="http://schemas.microsoft.com/office/powerpoint/2010/main" val="3198174417"/>
              </p:ext>
            </p:extLst>
          </p:nvPr>
        </p:nvGraphicFramePr>
        <p:xfrm>
          <a:off x="2032000" y="1287104"/>
          <a:ext cx="5012102" cy="1053153"/>
        </p:xfrm>
        <a:graphic>
          <a:graphicData uri="http://schemas.openxmlformats.org/presentationml/2006/ole">
            <mc:AlternateContent xmlns:mc="http://schemas.openxmlformats.org/markup-compatibility/2006">
              <mc:Choice xmlns:v="urn:schemas-microsoft-com:vml" Requires="v">
                <p:oleObj spid="_x0000_s9219" r:id="rId4" imgW="2641600" imgH="508000" progId="Equation.3">
                  <p:embed/>
                </p:oleObj>
              </mc:Choice>
              <mc:Fallback>
                <p:oleObj r:id="rId4" imgW="2641600" imgH="5080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2000" y="1287104"/>
                        <a:ext cx="5012102" cy="1053153"/>
                      </a:xfrm>
                      <a:prstGeom prst="rect">
                        <a:avLst/>
                      </a:prstGeom>
                      <a:noFill/>
                    </p:spPr>
                  </p:pic>
                </p:oleObj>
              </mc:Fallback>
            </mc:AlternateContent>
          </a:graphicData>
        </a:graphic>
      </p:graphicFrame>
    </p:spTree>
    <p:extLst>
      <p:ext uri="{BB962C8B-B14F-4D97-AF65-F5344CB8AC3E}">
        <p14:creationId xmlns:p14="http://schemas.microsoft.com/office/powerpoint/2010/main" val="3973915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19</a:t>
            </a:fld>
            <a:endParaRPr lang="bg-BG" dirty="0"/>
          </a:p>
        </p:txBody>
      </p:sp>
      <p:sp>
        <p:nvSpPr>
          <p:cNvPr id="16" name="Rectangle 15"/>
          <p:cNvSpPr/>
          <p:nvPr/>
        </p:nvSpPr>
        <p:spPr>
          <a:xfrm>
            <a:off x="2420202" y="526408"/>
            <a:ext cx="9562531" cy="5632311"/>
          </a:xfrm>
          <a:prstGeom prst="rect">
            <a:avLst/>
          </a:prstGeom>
        </p:spPr>
        <p:txBody>
          <a:bodyPr wrap="square">
            <a:spAutoFit/>
          </a:bodyPr>
          <a:lstStyle/>
          <a:p>
            <a:pPr algn="just">
              <a:lnSpc>
                <a:spcPct val="150000"/>
              </a:lnSpc>
              <a:spcAft>
                <a:spcPts val="0"/>
              </a:spcAft>
            </a:pPr>
            <a:r>
              <a:rPr lang="bg-BG" sz="2400" b="1" i="1" dirty="0">
                <a:solidFill>
                  <a:schemeClr val="tx1">
                    <a:lumMod val="95000"/>
                    <a:lumOff val="5000"/>
                  </a:schemeClr>
                </a:solidFill>
              </a:rPr>
              <a:t>Пример:</a:t>
            </a:r>
          </a:p>
          <a:p>
            <a:pPr indent="540000" algn="just">
              <a:lnSpc>
                <a:spcPct val="150000"/>
              </a:lnSpc>
            </a:pPr>
            <a:r>
              <a:rPr lang="bg-BG" sz="2400" dirty="0">
                <a:solidFill>
                  <a:schemeClr val="tx1">
                    <a:lumMod val="95000"/>
                    <a:lumOff val="5000"/>
                  </a:schemeClr>
                </a:solidFill>
              </a:rPr>
              <a:t>Да се минимизира		          (очевидното решение е при нулеви стойности на компонентите на </a:t>
            </a:r>
            <a:r>
              <a:rPr lang="en-US" sz="2400" dirty="0">
                <a:solidFill>
                  <a:schemeClr val="tx1">
                    <a:lumMod val="95000"/>
                    <a:lumOff val="5000"/>
                  </a:schemeClr>
                </a:solidFill>
              </a:rPr>
              <a:t>x</a:t>
            </a:r>
            <a:r>
              <a:rPr lang="bg-BG" sz="2400" dirty="0">
                <a:solidFill>
                  <a:schemeClr val="tx1">
                    <a:lumMod val="95000"/>
                    <a:lumOff val="5000"/>
                  </a:schemeClr>
                </a:solidFill>
              </a:rPr>
              <a:t>).</a:t>
            </a:r>
          </a:p>
          <a:p>
            <a:pPr indent="540000" algn="just">
              <a:lnSpc>
                <a:spcPct val="150000"/>
              </a:lnSpc>
            </a:pPr>
            <a:r>
              <a:rPr lang="bg-BG" sz="2400" dirty="0">
                <a:solidFill>
                  <a:schemeClr val="tx1">
                    <a:lumMod val="95000"/>
                    <a:lumOff val="5000"/>
                  </a:schemeClr>
                </a:solidFill>
              </a:rPr>
              <a:t>Нека		       ,   а началните стойност на вектора х са: </a:t>
            </a:r>
          </a:p>
          <a:p>
            <a:pPr indent="540000" algn="just">
              <a:lnSpc>
                <a:spcPct val="150000"/>
              </a:lnSpc>
            </a:pPr>
            <a:r>
              <a:rPr lang="bg-BG" sz="2400" dirty="0">
                <a:solidFill>
                  <a:schemeClr val="tx1">
                    <a:lumMod val="95000"/>
                    <a:lumOff val="5000"/>
                  </a:schemeClr>
                </a:solidFill>
              </a:rPr>
              <a:t>		</a:t>
            </a:r>
          </a:p>
          <a:p>
            <a:pPr indent="540000" algn="just">
              <a:lnSpc>
                <a:spcPct val="150000"/>
              </a:lnSpc>
            </a:pPr>
            <a:endParaRPr lang="bg-BG" sz="2400" dirty="0">
              <a:solidFill>
                <a:schemeClr val="tx1">
                  <a:lumMod val="95000"/>
                  <a:lumOff val="5000"/>
                </a:schemeClr>
              </a:solidFill>
            </a:endParaRPr>
          </a:p>
          <a:p>
            <a:pPr indent="540000" algn="just">
              <a:lnSpc>
                <a:spcPct val="150000"/>
              </a:lnSpc>
            </a:pPr>
            <a:endParaRPr lang="bg-BG" sz="2400" dirty="0">
              <a:solidFill>
                <a:schemeClr val="tx1">
                  <a:lumMod val="95000"/>
                  <a:lumOff val="5000"/>
                </a:schemeClr>
              </a:solidFill>
            </a:endParaRPr>
          </a:p>
          <a:p>
            <a:pPr indent="540000" algn="just">
              <a:lnSpc>
                <a:spcPct val="150000"/>
              </a:lnSpc>
            </a:pPr>
            <a:endParaRPr lang="bg-BG" sz="2400" dirty="0">
              <a:solidFill>
                <a:schemeClr val="tx1">
                  <a:lumMod val="95000"/>
                  <a:lumOff val="5000"/>
                </a:schemeClr>
              </a:solidFill>
            </a:endParaRPr>
          </a:p>
          <a:p>
            <a:pPr indent="540000" algn="just">
              <a:lnSpc>
                <a:spcPct val="150000"/>
              </a:lnSpc>
            </a:pPr>
            <a:endParaRPr lang="bg-BG" sz="2400" dirty="0">
              <a:solidFill>
                <a:schemeClr val="tx1">
                  <a:lumMod val="95000"/>
                  <a:lumOff val="5000"/>
                </a:schemeClr>
              </a:solidFill>
            </a:endParaRPr>
          </a:p>
          <a:p>
            <a:pPr indent="540000" algn="just">
              <a:lnSpc>
                <a:spcPct val="150000"/>
              </a:lnSpc>
            </a:pPr>
            <a:endParaRPr lang="bg-BG" sz="2400" dirty="0">
              <a:solidFill>
                <a:schemeClr val="tx1">
                  <a:lumMod val="95000"/>
                  <a:lumOff val="5000"/>
                </a:schemeClr>
              </a:solidFill>
            </a:endParaRPr>
          </a:p>
        </p:txBody>
      </p:sp>
      <p:sp>
        <p:nvSpPr>
          <p:cNvPr id="17" name="Rectangle 1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8" name="Object 17"/>
          <p:cNvGraphicFramePr>
            <a:graphicFrameLocks noChangeAspect="1"/>
          </p:cNvGraphicFramePr>
          <p:nvPr>
            <p:extLst>
              <p:ext uri="{D42A27DB-BD31-4B8C-83A1-F6EECF244321}">
                <p14:modId xmlns:p14="http://schemas.microsoft.com/office/powerpoint/2010/main" val="1044506050"/>
              </p:ext>
            </p:extLst>
          </p:nvPr>
        </p:nvGraphicFramePr>
        <p:xfrm>
          <a:off x="5732059" y="1201004"/>
          <a:ext cx="1883391" cy="456072"/>
        </p:xfrm>
        <a:graphic>
          <a:graphicData uri="http://schemas.openxmlformats.org/presentationml/2006/ole">
            <mc:AlternateContent xmlns:mc="http://schemas.openxmlformats.org/markup-compatibility/2006">
              <mc:Choice xmlns:v="urn:schemas-microsoft-com:vml" Requires="v">
                <p:oleObj spid="_x0000_s10247" r:id="rId4" imgW="1091726" imgH="228501" progId="Equation.3">
                  <p:embed/>
                </p:oleObj>
              </mc:Choice>
              <mc:Fallback>
                <p:oleObj r:id="rId4" imgW="1091726" imgH="228501"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32059" y="1201004"/>
                        <a:ext cx="1883391" cy="456072"/>
                      </a:xfrm>
                      <a:prstGeom prst="rect">
                        <a:avLst/>
                      </a:prstGeom>
                      <a:noFill/>
                    </p:spPr>
                  </p:pic>
                </p:oleObj>
              </mc:Fallback>
            </mc:AlternateContent>
          </a:graphicData>
        </a:graphic>
      </p:graphicFrame>
      <p:sp>
        <p:nvSpPr>
          <p:cNvPr id="23" name="Rectangle 1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24" name="Object 23"/>
          <p:cNvGraphicFramePr>
            <a:graphicFrameLocks noChangeAspect="1"/>
          </p:cNvGraphicFramePr>
          <p:nvPr>
            <p:extLst>
              <p:ext uri="{D42A27DB-BD31-4B8C-83A1-F6EECF244321}">
                <p14:modId xmlns:p14="http://schemas.microsoft.com/office/powerpoint/2010/main" val="1546003512"/>
              </p:ext>
            </p:extLst>
          </p:nvPr>
        </p:nvGraphicFramePr>
        <p:xfrm>
          <a:off x="3835738" y="2331672"/>
          <a:ext cx="1896321" cy="409433"/>
        </p:xfrm>
        <a:graphic>
          <a:graphicData uri="http://schemas.openxmlformats.org/presentationml/2006/ole">
            <mc:AlternateContent xmlns:mc="http://schemas.openxmlformats.org/markup-compatibility/2006">
              <mc:Choice xmlns:v="urn:schemas-microsoft-com:vml" Requires="v">
                <p:oleObj spid="_x0000_s10248" r:id="rId6" imgW="837836" imgH="177723" progId="Equation.3">
                  <p:embed/>
                </p:oleObj>
              </mc:Choice>
              <mc:Fallback>
                <p:oleObj r:id="rId6" imgW="837836" imgH="177723" progId="Equation.3">
                  <p:embed/>
                  <p:pic>
                    <p:nvPicPr>
                      <p:cNvPr id="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35738" y="2331672"/>
                        <a:ext cx="1896321" cy="409433"/>
                      </a:xfrm>
                      <a:prstGeom prst="rect">
                        <a:avLst/>
                      </a:prstGeom>
                      <a:noFill/>
                    </p:spPr>
                  </p:pic>
                </p:oleObj>
              </mc:Fallback>
            </mc:AlternateContent>
          </a:graphicData>
        </a:graphic>
      </p:graphicFrame>
      <p:graphicFrame>
        <p:nvGraphicFramePr>
          <p:cNvPr id="26" name="Object 25"/>
          <p:cNvGraphicFramePr>
            <a:graphicFrameLocks noChangeAspect="1"/>
          </p:cNvGraphicFramePr>
          <p:nvPr>
            <p:extLst>
              <p:ext uri="{D42A27DB-BD31-4B8C-83A1-F6EECF244321}">
                <p14:modId xmlns:p14="http://schemas.microsoft.com/office/powerpoint/2010/main" val="1785728374"/>
              </p:ext>
            </p:extLst>
          </p:nvPr>
        </p:nvGraphicFramePr>
        <p:xfrm>
          <a:off x="2420202" y="2839979"/>
          <a:ext cx="1728717" cy="427533"/>
        </p:xfrm>
        <a:graphic>
          <a:graphicData uri="http://schemas.openxmlformats.org/presentationml/2006/ole">
            <mc:AlternateContent xmlns:mc="http://schemas.openxmlformats.org/markup-compatibility/2006">
              <mc:Choice xmlns:v="urn:schemas-microsoft-com:vml" Requires="v">
                <p:oleObj spid="_x0000_s10249" r:id="rId8" imgW="888614" imgH="215806" progId="Equation.3">
                  <p:embed/>
                </p:oleObj>
              </mc:Choice>
              <mc:Fallback>
                <p:oleObj r:id="rId8" imgW="888614" imgH="215806" progId="Equation.3">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20202" y="2839979"/>
                        <a:ext cx="1728717" cy="427533"/>
                      </a:xfrm>
                      <a:prstGeom prst="rect">
                        <a:avLst/>
                      </a:prstGeom>
                      <a:noFill/>
                    </p:spPr>
                  </p:pic>
                </p:oleObj>
              </mc:Fallback>
            </mc:AlternateContent>
          </a:graphicData>
        </a:graphic>
      </p:graphicFrame>
      <p:sp>
        <p:nvSpPr>
          <p:cNvPr id="27" name="Rectangle 2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28" name="Object 27"/>
          <p:cNvGraphicFramePr>
            <a:graphicFrameLocks noChangeAspect="1"/>
          </p:cNvGraphicFramePr>
          <p:nvPr>
            <p:extLst>
              <p:ext uri="{D42A27DB-BD31-4B8C-83A1-F6EECF244321}">
                <p14:modId xmlns:p14="http://schemas.microsoft.com/office/powerpoint/2010/main" val="1401284315"/>
              </p:ext>
            </p:extLst>
          </p:nvPr>
        </p:nvGraphicFramePr>
        <p:xfrm>
          <a:off x="2524834" y="3576939"/>
          <a:ext cx="5090615" cy="969429"/>
        </p:xfrm>
        <a:graphic>
          <a:graphicData uri="http://schemas.openxmlformats.org/presentationml/2006/ole">
            <mc:AlternateContent xmlns:mc="http://schemas.openxmlformats.org/markup-compatibility/2006">
              <mc:Choice xmlns:v="urn:schemas-microsoft-com:vml" Requires="v">
                <p:oleObj spid="_x0000_s10250" r:id="rId10" imgW="2400300" imgH="457200" progId="Equation.3">
                  <p:embed/>
                </p:oleObj>
              </mc:Choice>
              <mc:Fallback>
                <p:oleObj r:id="rId10" imgW="2400300" imgH="457200" progId="Equation.3">
                  <p:embed/>
                  <p:pic>
                    <p:nvPicPr>
                      <p:cNvPr id="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4834" y="3576939"/>
                        <a:ext cx="5090615" cy="969429"/>
                      </a:xfrm>
                      <a:prstGeom prst="rect">
                        <a:avLst/>
                      </a:prstGeom>
                      <a:noFill/>
                    </p:spPr>
                  </p:pic>
                </p:oleObj>
              </mc:Fallback>
            </mc:AlternateContent>
          </a:graphicData>
        </a:graphic>
      </p:graphicFrame>
      <p:sp>
        <p:nvSpPr>
          <p:cNvPr id="29" name="Rectangle 2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graphicFrame>
        <p:nvGraphicFramePr>
          <p:cNvPr id="30" name="Object 29"/>
          <p:cNvGraphicFramePr>
            <a:graphicFrameLocks noChangeAspect="1"/>
          </p:cNvGraphicFramePr>
          <p:nvPr>
            <p:extLst>
              <p:ext uri="{D42A27DB-BD31-4B8C-83A1-F6EECF244321}">
                <p14:modId xmlns:p14="http://schemas.microsoft.com/office/powerpoint/2010/main" val="2263817323"/>
              </p:ext>
            </p:extLst>
          </p:nvPr>
        </p:nvGraphicFramePr>
        <p:xfrm>
          <a:off x="2524834" y="4855795"/>
          <a:ext cx="4858605" cy="1200057"/>
        </p:xfrm>
        <a:graphic>
          <a:graphicData uri="http://schemas.openxmlformats.org/presentationml/2006/ole">
            <mc:AlternateContent xmlns:mc="http://schemas.openxmlformats.org/markup-compatibility/2006">
              <mc:Choice xmlns:v="urn:schemas-microsoft-com:vml" Requires="v">
                <p:oleObj spid="_x0000_s10251" r:id="rId12" imgW="2692400" imgH="558800" progId="Equation.3">
                  <p:embed/>
                </p:oleObj>
              </mc:Choice>
              <mc:Fallback>
                <p:oleObj r:id="rId12" imgW="2692400" imgH="558800" progId="Equation.3">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24834" y="4855795"/>
                        <a:ext cx="4858605" cy="1200057"/>
                      </a:xfrm>
                      <a:prstGeom prst="rect">
                        <a:avLst/>
                      </a:prstGeom>
                      <a:noFill/>
                    </p:spPr>
                  </p:pic>
                </p:oleObj>
              </mc:Fallback>
            </mc:AlternateContent>
          </a:graphicData>
        </a:graphic>
      </p:graphicFrame>
    </p:spTree>
    <p:extLst>
      <p:ext uri="{BB962C8B-B14F-4D97-AF65-F5344CB8AC3E}">
        <p14:creationId xmlns:p14="http://schemas.microsoft.com/office/powerpoint/2010/main" val="91603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20</a:t>
            </a:fld>
            <a:endParaRPr lang="bg-BG" dirty="0"/>
          </a:p>
        </p:txBody>
      </p:sp>
      <p:sp>
        <p:nvSpPr>
          <p:cNvPr id="7" name="Rectangle 6"/>
          <p:cNvSpPr/>
          <p:nvPr/>
        </p:nvSpPr>
        <p:spPr>
          <a:xfrm>
            <a:off x="1668889" y="171566"/>
            <a:ext cx="10276763" cy="1200329"/>
          </a:xfrm>
          <a:prstGeom prst="rect">
            <a:avLst/>
          </a:prstGeom>
        </p:spPr>
        <p:txBody>
          <a:bodyPr wrap="square">
            <a:spAutoFit/>
          </a:bodyPr>
          <a:lstStyle/>
          <a:p>
            <a:pPr indent="540000" algn="just">
              <a:lnSpc>
                <a:spcPct val="150000"/>
              </a:lnSpc>
              <a:spcAft>
                <a:spcPts val="0"/>
              </a:spcAft>
            </a:pPr>
            <a:r>
              <a:rPr lang="bg-BG" sz="2400" dirty="0">
                <a:solidFill>
                  <a:schemeClr val="tx1">
                    <a:lumMod val="95000"/>
                    <a:lumOff val="5000"/>
                  </a:schemeClr>
                </a:solidFill>
              </a:rPr>
              <a:t>Резултатите от итерационната процедура са дадени в следната таблица:</a:t>
            </a:r>
          </a:p>
        </p:txBody>
      </p:sp>
      <p:pic>
        <p:nvPicPr>
          <p:cNvPr id="19" name="Picture 18"/>
          <p:cNvPicPr>
            <a:picLocks noChangeAspect="1"/>
          </p:cNvPicPr>
          <p:nvPr/>
        </p:nvPicPr>
        <p:blipFill>
          <a:blip r:embed="rId2"/>
          <a:stretch>
            <a:fillRect/>
          </a:stretch>
        </p:blipFill>
        <p:spPr>
          <a:xfrm>
            <a:off x="2032000" y="1371894"/>
            <a:ext cx="9913652" cy="4960667"/>
          </a:xfrm>
          <a:prstGeom prst="rect">
            <a:avLst/>
          </a:prstGeom>
        </p:spPr>
      </p:pic>
    </p:spTree>
    <p:extLst>
      <p:ext uri="{BB962C8B-B14F-4D97-AF65-F5344CB8AC3E}">
        <p14:creationId xmlns:p14="http://schemas.microsoft.com/office/powerpoint/2010/main" val="1170446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21</a:t>
            </a:fld>
            <a:endParaRPr lang="bg-BG" dirty="0"/>
          </a:p>
        </p:txBody>
      </p:sp>
      <p:sp>
        <p:nvSpPr>
          <p:cNvPr id="2" name="Rectangle 1"/>
          <p:cNvSpPr/>
          <p:nvPr/>
        </p:nvSpPr>
        <p:spPr>
          <a:xfrm>
            <a:off x="2032000" y="410309"/>
            <a:ext cx="9546448" cy="1200329"/>
          </a:xfrm>
          <a:prstGeom prst="rect">
            <a:avLst/>
          </a:prstGeom>
        </p:spPr>
        <p:txBody>
          <a:bodyPr wrap="square">
            <a:spAutoFit/>
          </a:bodyPr>
          <a:lstStyle/>
          <a:p>
            <a:pPr indent="540000" algn="just">
              <a:lnSpc>
                <a:spcPct val="150000"/>
              </a:lnSpc>
              <a:spcAft>
                <a:spcPts val="0"/>
              </a:spcAft>
              <a:buClr>
                <a:schemeClr val="accent2">
                  <a:lumMod val="75000"/>
                </a:schemeClr>
              </a:buClr>
              <a:buSzPct val="85000"/>
            </a:pPr>
            <a:r>
              <a:rPr lang="bg-BG" sz="2400" dirty="0">
                <a:solidFill>
                  <a:schemeClr val="tx1">
                    <a:lumMod val="95000"/>
                    <a:lumOff val="5000"/>
                  </a:schemeClr>
                </a:solidFill>
              </a:rPr>
              <a:t>Резултати от итерационната процедура с намаляваща стойност на       . </a:t>
            </a:r>
          </a:p>
        </p:txBody>
      </p:sp>
      <p:sp>
        <p:nvSpPr>
          <p:cNvPr id="7"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8" name="Object 7"/>
          <p:cNvGraphicFramePr>
            <a:graphicFrameLocks noChangeAspect="1"/>
          </p:cNvGraphicFramePr>
          <p:nvPr>
            <p:extLst>
              <p:ext uri="{D42A27DB-BD31-4B8C-83A1-F6EECF244321}">
                <p14:modId xmlns:p14="http://schemas.microsoft.com/office/powerpoint/2010/main" val="2554782541"/>
              </p:ext>
            </p:extLst>
          </p:nvPr>
        </p:nvGraphicFramePr>
        <p:xfrm>
          <a:off x="3903260" y="1002403"/>
          <a:ext cx="395785" cy="501328"/>
        </p:xfrm>
        <a:graphic>
          <a:graphicData uri="http://schemas.openxmlformats.org/presentationml/2006/ole">
            <mc:AlternateContent xmlns:mc="http://schemas.openxmlformats.org/markup-compatibility/2006">
              <mc:Choice xmlns:v="urn:schemas-microsoft-com:vml" Requires="v">
                <p:oleObj spid="_x0000_s11267" r:id="rId3" imgW="139579" imgH="177646" progId="Equation.3">
                  <p:embed/>
                </p:oleObj>
              </mc:Choice>
              <mc:Fallback>
                <p:oleObj r:id="rId3" imgW="139579" imgH="177646"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3260" y="1002403"/>
                        <a:ext cx="395785" cy="501328"/>
                      </a:xfrm>
                      <a:prstGeom prst="rect">
                        <a:avLst/>
                      </a:prstGeom>
                      <a:noFill/>
                    </p:spPr>
                  </p:pic>
                </p:oleObj>
              </mc:Fallback>
            </mc:AlternateContent>
          </a:graphicData>
        </a:graphic>
      </p:graphicFrame>
      <p:pic>
        <p:nvPicPr>
          <p:cNvPr id="10" name="Picture 9"/>
          <p:cNvPicPr>
            <a:picLocks noChangeAspect="1"/>
          </p:cNvPicPr>
          <p:nvPr/>
        </p:nvPicPr>
        <p:blipFill>
          <a:blip r:embed="rId5"/>
          <a:stretch>
            <a:fillRect/>
          </a:stretch>
        </p:blipFill>
        <p:spPr>
          <a:xfrm>
            <a:off x="2129051" y="1660174"/>
            <a:ext cx="9785445" cy="4658739"/>
          </a:xfrm>
          <a:prstGeom prst="rect">
            <a:avLst/>
          </a:prstGeom>
        </p:spPr>
      </p:pic>
    </p:spTree>
    <p:extLst>
      <p:ext uri="{BB962C8B-B14F-4D97-AF65-F5344CB8AC3E}">
        <p14:creationId xmlns:p14="http://schemas.microsoft.com/office/powerpoint/2010/main" val="3174392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22</a:t>
            </a:fld>
            <a:endParaRPr lang="bg-BG" dirty="0"/>
          </a:p>
        </p:txBody>
      </p:sp>
      <p:sp>
        <p:nvSpPr>
          <p:cNvPr id="13" name="Rectangle 12"/>
          <p:cNvSpPr/>
          <p:nvPr/>
        </p:nvSpPr>
        <p:spPr>
          <a:xfrm>
            <a:off x="2032000" y="457200"/>
            <a:ext cx="9802905" cy="6186309"/>
          </a:xfrm>
          <a:prstGeom prst="rect">
            <a:avLst/>
          </a:prstGeom>
        </p:spPr>
        <p:txBody>
          <a:bodyPr wrap="square">
            <a:spAutoFit/>
          </a:bodyPr>
          <a:lstStyle/>
          <a:p>
            <a:pPr indent="540000" algn="just">
              <a:lnSpc>
                <a:spcPct val="150000"/>
              </a:lnSpc>
            </a:pPr>
            <a:r>
              <a:rPr lang="bg-BG" sz="2400" dirty="0">
                <a:solidFill>
                  <a:schemeClr val="tx1">
                    <a:lumMod val="95000"/>
                    <a:lumOff val="5000"/>
                  </a:schemeClr>
                </a:solidFill>
              </a:rPr>
              <a:t>В примера може да се покаже, че в началото на търсенето градиентът на </a:t>
            </a:r>
            <a:r>
              <a:rPr lang="en-US" sz="2400" dirty="0">
                <a:solidFill>
                  <a:schemeClr val="tx1">
                    <a:lumMod val="95000"/>
                    <a:lumOff val="5000"/>
                  </a:schemeClr>
                </a:solidFill>
              </a:rPr>
              <a:t>f</a:t>
            </a:r>
            <a:r>
              <a:rPr lang="ru-RU" sz="2400" dirty="0">
                <a:solidFill>
                  <a:schemeClr val="tx1">
                    <a:lumMod val="95000"/>
                    <a:lumOff val="5000"/>
                  </a:schemeClr>
                </a:solidFill>
              </a:rPr>
              <a:t>(</a:t>
            </a:r>
            <a:r>
              <a:rPr lang="en-US" sz="2400" dirty="0">
                <a:solidFill>
                  <a:schemeClr val="tx1">
                    <a:lumMod val="95000"/>
                    <a:lumOff val="5000"/>
                  </a:schemeClr>
                </a:solidFill>
              </a:rPr>
              <a:t>x</a:t>
            </a:r>
            <a:r>
              <a:rPr lang="ru-RU" sz="2400" dirty="0">
                <a:solidFill>
                  <a:schemeClr val="tx1">
                    <a:lumMod val="95000"/>
                    <a:lumOff val="5000"/>
                  </a:schemeClr>
                </a:solidFill>
              </a:rPr>
              <a:t>) </a:t>
            </a:r>
            <a:r>
              <a:rPr lang="bg-BG" sz="2400" dirty="0">
                <a:solidFill>
                  <a:schemeClr val="tx1">
                    <a:lumMod val="95000"/>
                    <a:lumOff val="5000"/>
                  </a:schemeClr>
                </a:solidFill>
              </a:rPr>
              <a:t>не е насочен към точката на минимума. Това е така, защото коефициентите пред неизвестните са различни. С помощта на полагането        		целевата функция добива вида	  			 . При същите начални стойности градиентът е насочен към точката на минимума, което предполага по-бърза сходимост. При сложни целеви функции, обаче, не винаги е възможно полагане от горния вид.</a:t>
            </a:r>
          </a:p>
          <a:p>
            <a:pPr indent="540000" algn="just">
              <a:lnSpc>
                <a:spcPct val="150000"/>
              </a:lnSpc>
            </a:pPr>
            <a:r>
              <a:rPr lang="bg-BG" sz="2400" dirty="0">
                <a:solidFill>
                  <a:schemeClr val="tx1">
                    <a:lumMod val="95000"/>
                    <a:lumOff val="5000"/>
                  </a:schemeClr>
                </a:solidFill>
              </a:rPr>
              <a:t>Основна трудност при прилагане на метода на най-бързото спускане е зависимостта на метода от избора на мащаба на оптимизируемите параметри. </a:t>
            </a: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5" name="Object 4"/>
          <p:cNvGraphicFramePr>
            <a:graphicFrameLocks noChangeAspect="1"/>
          </p:cNvGraphicFramePr>
          <p:nvPr>
            <p:extLst>
              <p:ext uri="{D42A27DB-BD31-4B8C-83A1-F6EECF244321}">
                <p14:modId xmlns:p14="http://schemas.microsoft.com/office/powerpoint/2010/main" val="839510422"/>
              </p:ext>
            </p:extLst>
          </p:nvPr>
        </p:nvGraphicFramePr>
        <p:xfrm>
          <a:off x="5896031" y="2211718"/>
          <a:ext cx="1262310" cy="531499"/>
        </p:xfrm>
        <a:graphic>
          <a:graphicData uri="http://schemas.openxmlformats.org/presentationml/2006/ole">
            <mc:AlternateContent xmlns:mc="http://schemas.openxmlformats.org/markup-compatibility/2006">
              <mc:Choice xmlns:v="urn:schemas-microsoft-com:vml" Requires="v">
                <p:oleObj spid="_x0000_s12292" r:id="rId3" imgW="545863" imgH="228501" progId="Equation.3">
                  <p:embed/>
                </p:oleObj>
              </mc:Choice>
              <mc:Fallback>
                <p:oleObj r:id="rId3" imgW="545863" imgH="228501"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6031" y="2211718"/>
                        <a:ext cx="1262310" cy="531499"/>
                      </a:xfrm>
                      <a:prstGeom prst="rect">
                        <a:avLst/>
                      </a:prstGeom>
                      <a:noFill/>
                    </p:spPr>
                  </p:pic>
                </p:oleObj>
              </mc:Fallback>
            </mc:AlternateContent>
          </a:graphicData>
        </a:graphic>
      </p:graphicFrame>
      <p:sp>
        <p:nvSpPr>
          <p:cNvPr id="6" name="Rectangle 3"/>
          <p:cNvSpPr>
            <a:spLocks noChangeArrowheads="1"/>
          </p:cNvSpPr>
          <p:nvPr/>
        </p:nvSpPr>
        <p:spPr bwMode="auto">
          <a:xfrm>
            <a:off x="0" y="228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bg-BG" altLang="bg-BG" sz="1100" b="0" i="0" u="none" strike="noStrike" cap="none" normalizeH="0" baseline="0">
                <a:ln>
                  <a:noFill/>
                </a:ln>
                <a:solidFill>
                  <a:schemeClr val="tx1"/>
                </a:solidFill>
                <a:effectLst/>
              </a:rPr>
              <a:t> </a:t>
            </a:r>
            <a:endParaRPr kumimoji="0" lang="bg-BG" altLang="bg-BG" sz="1800" b="0" i="0" u="none" strike="noStrike" cap="none" normalizeH="0" baseline="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8" name="Object 7"/>
          <p:cNvGraphicFramePr>
            <a:graphicFrameLocks noChangeAspect="1"/>
          </p:cNvGraphicFramePr>
          <p:nvPr>
            <p:extLst>
              <p:ext uri="{D42A27DB-BD31-4B8C-83A1-F6EECF244321}">
                <p14:modId xmlns:p14="http://schemas.microsoft.com/office/powerpoint/2010/main" val="2606449690"/>
              </p:ext>
            </p:extLst>
          </p:nvPr>
        </p:nvGraphicFramePr>
        <p:xfrm>
          <a:off x="2920210" y="2630918"/>
          <a:ext cx="2810349" cy="709684"/>
        </p:xfrm>
        <a:graphic>
          <a:graphicData uri="http://schemas.openxmlformats.org/presentationml/2006/ole">
            <mc:AlternateContent xmlns:mc="http://schemas.openxmlformats.org/markup-compatibility/2006">
              <mc:Choice xmlns:v="urn:schemas-microsoft-com:vml" Requires="v">
                <p:oleObj spid="_x0000_s12293" r:id="rId5" imgW="939392" imgH="241195" progId="Equation.3">
                  <p:embed/>
                </p:oleObj>
              </mc:Choice>
              <mc:Fallback>
                <p:oleObj r:id="rId5" imgW="939392" imgH="241195"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0210" y="2630918"/>
                        <a:ext cx="2810349" cy="709684"/>
                      </a:xfrm>
                      <a:prstGeom prst="rect">
                        <a:avLst/>
                      </a:prstGeom>
                      <a:noFill/>
                    </p:spPr>
                  </p:pic>
                </p:oleObj>
              </mc:Fallback>
            </mc:AlternateContent>
          </a:graphicData>
        </a:graphic>
      </p:graphicFrame>
    </p:spTree>
    <p:extLst>
      <p:ext uri="{BB962C8B-B14F-4D97-AF65-F5344CB8AC3E}">
        <p14:creationId xmlns:p14="http://schemas.microsoft.com/office/powerpoint/2010/main" val="1593138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23</a:t>
            </a:fld>
            <a:endParaRPr lang="bg-BG" dirty="0"/>
          </a:p>
        </p:txBody>
      </p:sp>
      <p:sp>
        <p:nvSpPr>
          <p:cNvPr id="7" name="Rectangle 6"/>
          <p:cNvSpPr/>
          <p:nvPr/>
        </p:nvSpPr>
        <p:spPr>
          <a:xfrm>
            <a:off x="2032000" y="220685"/>
            <a:ext cx="10005325" cy="6740307"/>
          </a:xfrm>
          <a:prstGeom prst="rect">
            <a:avLst/>
          </a:prstGeom>
        </p:spPr>
        <p:txBody>
          <a:bodyPr wrap="square">
            <a:spAutoFit/>
          </a:bodyPr>
          <a:lstStyle/>
          <a:p>
            <a:pPr>
              <a:lnSpc>
                <a:spcPct val="150000"/>
              </a:lnSpc>
            </a:pPr>
            <a:r>
              <a:rPr lang="bg-BG" sz="2400" b="1" i="1" dirty="0">
                <a:solidFill>
                  <a:schemeClr val="tx1">
                    <a:lumMod val="95000"/>
                    <a:lumOff val="5000"/>
                  </a:schemeClr>
                </a:solidFill>
              </a:rPr>
              <a:t>Методи без използване на производни (методи с пряко търсене)</a:t>
            </a:r>
          </a:p>
          <a:p>
            <a:pPr indent="540000" algn="just">
              <a:lnSpc>
                <a:spcPct val="150000"/>
              </a:lnSpc>
            </a:pPr>
            <a:r>
              <a:rPr lang="bg-BG" sz="2400" dirty="0">
                <a:solidFill>
                  <a:schemeClr val="tx1">
                    <a:lumMod val="95000"/>
                    <a:lumOff val="5000"/>
                  </a:schemeClr>
                </a:solidFill>
              </a:rPr>
              <a:t>Градиентните методи и методите, използващо втори производни, са по-бързо сходящи от преките методи за търсене на екстремум. Въпреки това методите за търсене на екстремум без използване на производни имат място в практиката, защото в задачи с голям брой неизвестни намирането на производните е много трудно и дори невъзможно. Най-простите методи за търсене се свеждат до следният алгоритъм (</a:t>
            </a:r>
            <a:r>
              <a:rPr lang="bg-BG" sz="2400" b="1" i="1" dirty="0">
                <a:solidFill>
                  <a:schemeClr val="tx1">
                    <a:lumMod val="95000"/>
                    <a:lumOff val="5000"/>
                  </a:schemeClr>
                </a:solidFill>
              </a:rPr>
              <a:t>алгоритъм на Гаус-Зайдел</a:t>
            </a:r>
            <a:r>
              <a:rPr lang="bg-BG" sz="2400" dirty="0">
                <a:solidFill>
                  <a:schemeClr val="tx1">
                    <a:lumMod val="95000"/>
                    <a:lumOff val="5000"/>
                  </a:schemeClr>
                </a:solidFill>
              </a:rPr>
              <a:t>):</a:t>
            </a:r>
          </a:p>
          <a:p>
            <a:pPr indent="531813" algn="just">
              <a:lnSpc>
                <a:spcPct val="150000"/>
              </a:lnSpc>
              <a:buClr>
                <a:schemeClr val="accent1">
                  <a:lumMod val="75000"/>
                </a:schemeClr>
              </a:buClr>
            </a:pPr>
            <a:r>
              <a:rPr lang="bg-BG" sz="2400" dirty="0">
                <a:solidFill>
                  <a:schemeClr val="tx1">
                    <a:lumMod val="95000"/>
                    <a:lumOff val="5000"/>
                  </a:schemeClr>
                </a:solidFill>
              </a:rPr>
              <a:t>Стъпка 1. Задават се границите на изменение на променливите.</a:t>
            </a:r>
          </a:p>
          <a:p>
            <a:pPr indent="531813" algn="just">
              <a:lnSpc>
                <a:spcPct val="150000"/>
              </a:lnSpc>
              <a:buClr>
                <a:schemeClr val="accent1">
                  <a:lumMod val="75000"/>
                </a:schemeClr>
              </a:buClr>
            </a:pPr>
            <a:r>
              <a:rPr lang="bg-BG" sz="2400" dirty="0">
                <a:solidFill>
                  <a:schemeClr val="tx1">
                    <a:lumMod val="95000"/>
                    <a:lumOff val="5000"/>
                  </a:schemeClr>
                </a:solidFill>
              </a:rPr>
              <a:t>Стъпка 2. Задават се начални стойности на променливите в средата на интервалите на тяхното изменение. Изчислява се стойността на целевата функция за тези стойности.</a:t>
            </a:r>
          </a:p>
        </p:txBody>
      </p:sp>
      <p:sp>
        <p:nvSpPr>
          <p:cNvPr id="3" name="Rectangle 2"/>
          <p:cNvSpPr/>
          <p:nvPr/>
        </p:nvSpPr>
        <p:spPr>
          <a:xfrm>
            <a:off x="0" y="-90019"/>
            <a:ext cx="6725687" cy="577850"/>
          </a:xfrm>
          <a:prstGeom prst="rect">
            <a:avLst/>
          </a:prstGeom>
        </p:spPr>
        <p:txBody>
          <a:bodyPr wrap="none">
            <a:spAutoFit/>
          </a:bodyPr>
          <a:lstStyle/>
          <a:p>
            <a:pPr algn="just">
              <a:lnSpc>
                <a:spcPct val="150000"/>
              </a:lnSpc>
              <a:spcAft>
                <a:spcPts val="0"/>
              </a:spcAft>
              <a:buClr>
                <a:schemeClr val="accent1">
                  <a:lumMod val="75000"/>
                </a:schemeClr>
              </a:buClr>
              <a:buSzPct val="85000"/>
              <a:defRPr/>
            </a:pPr>
            <a:r>
              <a:rPr lang="bg-BG" sz="2400" b="1" i="1" dirty="0">
                <a:latin typeface="Arial" panose="020B0604020202020204" pitchFamily="34" charset="0"/>
                <a:ea typeface="Times New Roman" panose="02020603050405020304" pitchFamily="18" charset="0"/>
              </a:rPr>
              <a:t>Методи за минимизация без ограничения</a:t>
            </a:r>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393776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36370" y="1913587"/>
            <a:ext cx="8541803" cy="2963214"/>
          </a:xfrm>
        </p:spPr>
        <p:txBody>
          <a:bodyPr>
            <a:noAutofit/>
          </a:bodyPr>
          <a:lstStyle/>
          <a:p>
            <a:pPr algn="just">
              <a:lnSpc>
                <a:spcPct val="150000"/>
              </a:lnSpc>
              <a:defRPr/>
            </a:pPr>
            <a:endParaRPr lang="bg-BG" altLang="bg-BG" sz="2400" dirty="0"/>
          </a:p>
          <a:p>
            <a:pPr algn="just"/>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24</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5" name="Rectangle 4"/>
          <p:cNvSpPr/>
          <p:nvPr/>
        </p:nvSpPr>
        <p:spPr>
          <a:xfrm>
            <a:off x="2183642" y="117693"/>
            <a:ext cx="9799092" cy="6740307"/>
          </a:xfrm>
          <a:prstGeom prst="rect">
            <a:avLst/>
          </a:prstGeom>
        </p:spPr>
        <p:txBody>
          <a:bodyPr wrap="square">
            <a:spAutoFit/>
          </a:bodyPr>
          <a:lstStyle/>
          <a:p>
            <a:pPr indent="531813" algn="just">
              <a:lnSpc>
                <a:spcPct val="150000"/>
              </a:lnSpc>
              <a:spcAft>
                <a:spcPts val="0"/>
              </a:spcAft>
              <a:buClr>
                <a:schemeClr val="accent1">
                  <a:lumMod val="75000"/>
                </a:schemeClr>
              </a:buClr>
            </a:pPr>
            <a:r>
              <a:rPr lang="bg-BG" sz="2400" dirty="0">
                <a:solidFill>
                  <a:schemeClr val="tx1">
                    <a:lumMod val="95000"/>
                    <a:lumOff val="5000"/>
                  </a:schemeClr>
                </a:solidFill>
              </a:rPr>
              <a:t>Стъпка 3.  За първата променлива от началната до крайната й стойност със зададена стъпка на изменение се преизчисляват стойностите на целевата функция (останалите променливи не променят своите стойности) и се намира онази, за която целевата функция е най-малка. Съхранява се стойността на променливата, за която целевата функция е минимална.</a:t>
            </a:r>
          </a:p>
          <a:p>
            <a:pPr indent="531813" algn="just">
              <a:lnSpc>
                <a:spcPct val="150000"/>
              </a:lnSpc>
              <a:spcAft>
                <a:spcPts val="0"/>
              </a:spcAft>
              <a:buClr>
                <a:schemeClr val="accent1">
                  <a:lumMod val="75000"/>
                </a:schemeClr>
              </a:buClr>
            </a:pPr>
            <a:r>
              <a:rPr lang="bg-BG" sz="2400" dirty="0">
                <a:solidFill>
                  <a:schemeClr val="tx1">
                    <a:lumMod val="95000"/>
                    <a:lumOff val="5000"/>
                  </a:schemeClr>
                </a:solidFill>
              </a:rPr>
              <a:t>Стъпка 4.  Стъпка 3 се повтаря за всяка променлива.</a:t>
            </a:r>
          </a:p>
          <a:p>
            <a:pPr indent="531813" algn="just">
              <a:lnSpc>
                <a:spcPct val="150000"/>
              </a:lnSpc>
              <a:spcAft>
                <a:spcPts val="0"/>
              </a:spcAft>
              <a:buClr>
                <a:schemeClr val="accent1">
                  <a:lumMod val="75000"/>
                </a:schemeClr>
              </a:buClr>
            </a:pPr>
            <a:r>
              <a:rPr lang="bg-BG" sz="2400" dirty="0">
                <a:solidFill>
                  <a:schemeClr val="tx1">
                    <a:lumMod val="95000"/>
                    <a:lumOff val="5000"/>
                  </a:schemeClr>
                </a:solidFill>
              </a:rPr>
              <a:t>Стъпка 5. Получената от Стъпка 3 и Стъпка 4 минимална стойност на целевата функция се сравнява с тази от Стъпка 2. Ако абсолютната стойност на разликата на новата стойност на целевата функция и тази от стъпка 2 е по-голяма от зададена стойност, то се преминава към стъпка 3, в противен случай алгоритъмът завършва. </a:t>
            </a:r>
          </a:p>
        </p:txBody>
      </p:sp>
    </p:spTree>
    <p:extLst>
      <p:ext uri="{BB962C8B-B14F-4D97-AF65-F5344CB8AC3E}">
        <p14:creationId xmlns:p14="http://schemas.microsoft.com/office/powerpoint/2010/main" val="1939276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25</a:t>
            </a:fld>
            <a:endParaRPr lang="bg-BG" dirty="0"/>
          </a:p>
        </p:txBody>
      </p:sp>
      <p:sp>
        <p:nvSpPr>
          <p:cNvPr id="3" name="Rectangle 2"/>
          <p:cNvSpPr/>
          <p:nvPr/>
        </p:nvSpPr>
        <p:spPr>
          <a:xfrm>
            <a:off x="2242781" y="522365"/>
            <a:ext cx="9576179" cy="6555641"/>
          </a:xfrm>
          <a:prstGeom prst="rect">
            <a:avLst/>
          </a:prstGeom>
        </p:spPr>
        <p:txBody>
          <a:bodyPr wrap="square">
            <a:spAutoFit/>
          </a:bodyPr>
          <a:lstStyle/>
          <a:p>
            <a:pPr indent="531813" algn="just">
              <a:lnSpc>
                <a:spcPct val="150000"/>
              </a:lnSpc>
              <a:buClr>
                <a:schemeClr val="accent1">
                  <a:lumMod val="75000"/>
                </a:schemeClr>
              </a:buClr>
            </a:pPr>
            <a:r>
              <a:rPr lang="bg-BG" sz="2400" dirty="0">
                <a:solidFill>
                  <a:schemeClr val="tx1">
                    <a:lumMod val="95000"/>
                    <a:lumOff val="5000"/>
                  </a:schemeClr>
                </a:solidFill>
              </a:rPr>
              <a:t>Алгоритъмът на Гаус-Зайдел и други подобни на него не се препоръчват в случаите, когато целевата функция съдържа произведения от оптимизационните параметри. </a:t>
            </a:r>
          </a:p>
          <a:p>
            <a:r>
              <a:rPr lang="bg-BG" sz="2400" b="1" i="1" dirty="0">
                <a:solidFill>
                  <a:schemeClr val="tx1">
                    <a:lumMod val="95000"/>
                    <a:lumOff val="5000"/>
                  </a:schemeClr>
                </a:solidFill>
              </a:rPr>
              <a:t>Алгоритъм на Хук и Дживс (пряко търсене)</a:t>
            </a:r>
          </a:p>
          <a:p>
            <a:pPr indent="531813" algn="just">
              <a:lnSpc>
                <a:spcPct val="150000"/>
              </a:lnSpc>
              <a:buClr>
                <a:schemeClr val="accent1">
                  <a:lumMod val="75000"/>
                </a:schemeClr>
              </a:buClr>
            </a:pPr>
            <a:r>
              <a:rPr lang="bg-BG" sz="2400" dirty="0">
                <a:solidFill>
                  <a:schemeClr val="tx1">
                    <a:lumMod val="95000"/>
                    <a:lumOff val="5000"/>
                  </a:schemeClr>
                </a:solidFill>
              </a:rPr>
              <a:t>Хук и Дживс предлагат проста логическа стратегия, използваща както априорна информация, така и отхвърляне на старата информация относно характера на топологията на целевата функция. Предлага се търсенето на екстремума да става на два етапа: „изследователско търсене” и „търсене по образец”, т.е. по направление, избрано за оптимизация. Алгоритъмът се състои от следните стъпки:</a:t>
            </a:r>
          </a:p>
          <a:p>
            <a:pPr indent="531813" algn="just">
              <a:lnSpc>
                <a:spcPct val="150000"/>
              </a:lnSpc>
              <a:buClr>
                <a:schemeClr val="accent1">
                  <a:lumMod val="75000"/>
                </a:schemeClr>
              </a:buClr>
            </a:pPr>
            <a:endParaRPr lang="bg-BG" sz="2400" dirty="0">
              <a:solidFill>
                <a:schemeClr val="tx1">
                  <a:lumMod val="95000"/>
                  <a:lumOff val="5000"/>
                </a:schemeClr>
              </a:solidFill>
            </a:endParaRPr>
          </a:p>
        </p:txBody>
      </p:sp>
    </p:spTree>
    <p:extLst>
      <p:ext uri="{BB962C8B-B14F-4D97-AF65-F5344CB8AC3E}">
        <p14:creationId xmlns:p14="http://schemas.microsoft.com/office/powerpoint/2010/main" val="34708537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26</a:t>
            </a:fld>
            <a:endParaRPr lang="bg-BG" dirty="0"/>
          </a:p>
        </p:txBody>
      </p:sp>
      <p:sp>
        <p:nvSpPr>
          <p:cNvPr id="18" name="Rectangle 17"/>
          <p:cNvSpPr/>
          <p:nvPr/>
        </p:nvSpPr>
        <p:spPr>
          <a:xfrm>
            <a:off x="1815152" y="319669"/>
            <a:ext cx="10276763" cy="6186309"/>
          </a:xfrm>
          <a:prstGeom prst="rect">
            <a:avLst/>
          </a:prstGeom>
        </p:spPr>
        <p:txBody>
          <a:bodyPr wrap="square">
            <a:spAutoFit/>
          </a:bodyPr>
          <a:lstStyle/>
          <a:p>
            <a:pPr indent="531813" algn="just">
              <a:lnSpc>
                <a:spcPct val="150000"/>
              </a:lnSpc>
              <a:buClr>
                <a:schemeClr val="accent1">
                  <a:lumMod val="75000"/>
                </a:schemeClr>
              </a:buClr>
            </a:pPr>
            <a:r>
              <a:rPr lang="bg-BG" sz="2400" dirty="0">
                <a:solidFill>
                  <a:schemeClr val="tx1">
                    <a:lumMod val="95000"/>
                    <a:lumOff val="5000"/>
                  </a:schemeClr>
                </a:solidFill>
              </a:rPr>
              <a:t>Стъпка 1. Задават се началните стойности на оптимизационните параметри (</a:t>
            </a:r>
            <a:r>
              <a:rPr lang="en-US" sz="2400" dirty="0">
                <a:solidFill>
                  <a:schemeClr val="tx1">
                    <a:lumMod val="95000"/>
                    <a:lumOff val="5000"/>
                  </a:schemeClr>
                </a:solidFill>
              </a:rPr>
              <a:t>x </a:t>
            </a:r>
            <a:r>
              <a:rPr lang="bg-BG" sz="2400" dirty="0">
                <a:solidFill>
                  <a:schemeClr val="tx1">
                    <a:lumMod val="95000"/>
                    <a:lumOff val="5000"/>
                  </a:schemeClr>
                </a:solidFill>
              </a:rPr>
              <a:t>- начална базова точка) и техните нараствания (      ). </a:t>
            </a:r>
          </a:p>
          <a:p>
            <a:pPr indent="531813" algn="just">
              <a:lnSpc>
                <a:spcPct val="150000"/>
              </a:lnSpc>
              <a:buClr>
                <a:schemeClr val="accent1">
                  <a:lumMod val="75000"/>
                </a:schemeClr>
              </a:buClr>
            </a:pPr>
            <a:r>
              <a:rPr lang="bg-BG" sz="2400" dirty="0">
                <a:solidFill>
                  <a:schemeClr val="tx1">
                    <a:lumMod val="95000"/>
                    <a:lumOff val="5000"/>
                  </a:schemeClr>
                </a:solidFill>
              </a:rPr>
              <a:t>Стъпка 2. Начало на „изследователското търсене”. Изчислява се стойността на целевата функция в „базовата точка” (това са началните стойности на </a:t>
            </a:r>
            <a:r>
              <a:rPr lang="en-US" sz="2400" dirty="0">
                <a:solidFill>
                  <a:schemeClr val="tx1">
                    <a:lumMod val="95000"/>
                    <a:lumOff val="5000"/>
                  </a:schemeClr>
                </a:solidFill>
              </a:rPr>
              <a:t>x </a:t>
            </a:r>
            <a:r>
              <a:rPr lang="bg-BG" sz="2400" dirty="0">
                <a:solidFill>
                  <a:schemeClr val="tx1">
                    <a:lumMod val="95000"/>
                    <a:lumOff val="5000"/>
                  </a:schemeClr>
                </a:solidFill>
              </a:rPr>
              <a:t>за първото преминаване през цикъла на търсене).</a:t>
            </a:r>
          </a:p>
          <a:p>
            <a:pPr indent="531813" algn="just">
              <a:lnSpc>
                <a:spcPct val="150000"/>
              </a:lnSpc>
              <a:buClr>
                <a:schemeClr val="accent1">
                  <a:lumMod val="75000"/>
                </a:schemeClr>
              </a:buClr>
            </a:pPr>
            <a:r>
              <a:rPr lang="bg-BG" sz="2400" dirty="0">
                <a:solidFill>
                  <a:schemeClr val="tx1">
                    <a:lumMod val="95000"/>
                    <a:lumOff val="5000"/>
                  </a:schemeClr>
                </a:solidFill>
              </a:rPr>
              <a:t>Стъпка 3. Циклически всеки от компонентите на </a:t>
            </a:r>
            <a:r>
              <a:rPr lang="en-US" sz="2400" dirty="0">
                <a:solidFill>
                  <a:schemeClr val="tx1">
                    <a:lumMod val="95000"/>
                    <a:lumOff val="5000"/>
                  </a:schemeClr>
                </a:solidFill>
              </a:rPr>
              <a:t>x</a:t>
            </a:r>
            <a:r>
              <a:rPr lang="bg-BG" sz="2400" dirty="0">
                <a:solidFill>
                  <a:schemeClr val="tx1">
                    <a:lumMod val="95000"/>
                    <a:lumOff val="5000"/>
                  </a:schemeClr>
                </a:solidFill>
              </a:rPr>
              <a:t> се  увеличават или намаляват с 	   , при което се изчисляват стойностите на целевата функция и се запазва подобрената стойност. Например          се изменя със стойност 	т.е. 		           . Изчислява се стойността на целевата функция в новата точка. Ако стойността на целевата функция не е подобрена,  стойността на       се намалява с                 (                              ).</a:t>
            </a:r>
          </a:p>
        </p:txBody>
      </p:sp>
      <p:sp>
        <p:nvSpPr>
          <p:cNvPr id="19" name="Rectangle 1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20" name="Object 19"/>
          <p:cNvGraphicFramePr>
            <a:graphicFrameLocks noChangeAspect="1"/>
          </p:cNvGraphicFramePr>
          <p:nvPr/>
        </p:nvGraphicFramePr>
        <p:xfrm>
          <a:off x="10549720" y="1092569"/>
          <a:ext cx="464023" cy="320995"/>
        </p:xfrm>
        <a:graphic>
          <a:graphicData uri="http://schemas.openxmlformats.org/presentationml/2006/ole">
            <mc:AlternateContent xmlns:mc="http://schemas.openxmlformats.org/markup-compatibility/2006">
              <mc:Choice xmlns:v="urn:schemas-microsoft-com:vml" Requires="v">
                <p:oleObj spid="_x0000_s13322" r:id="rId3" imgW="241195" imgH="203112" progId="Equation.3">
                  <p:embed/>
                </p:oleObj>
              </mc:Choice>
              <mc:Fallback>
                <p:oleObj r:id="rId3" imgW="241195" imgH="203112" progId="Equation.3">
                  <p:embed/>
                  <p:pic>
                    <p:nvPicPr>
                      <p:cNvPr id="2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49720" y="1092569"/>
                        <a:ext cx="464023" cy="320995"/>
                      </a:xfrm>
                      <a:prstGeom prst="rect">
                        <a:avLst/>
                      </a:prstGeom>
                      <a:noFill/>
                    </p:spPr>
                  </p:pic>
                </p:oleObj>
              </mc:Fallback>
            </mc:AlternateContent>
          </a:graphicData>
        </a:graphic>
      </p:graphicFrame>
      <p:graphicFrame>
        <p:nvGraphicFramePr>
          <p:cNvPr id="43" name="Object 42"/>
          <p:cNvGraphicFramePr>
            <a:graphicFrameLocks noChangeAspect="1"/>
          </p:cNvGraphicFramePr>
          <p:nvPr/>
        </p:nvGraphicFramePr>
        <p:xfrm>
          <a:off x="4233081" y="3797099"/>
          <a:ext cx="598226" cy="413832"/>
        </p:xfrm>
        <a:graphic>
          <a:graphicData uri="http://schemas.openxmlformats.org/presentationml/2006/ole">
            <mc:AlternateContent xmlns:mc="http://schemas.openxmlformats.org/markup-compatibility/2006">
              <mc:Choice xmlns:v="urn:schemas-microsoft-com:vml" Requires="v">
                <p:oleObj spid="_x0000_s13323" r:id="rId5" imgW="241195" imgH="203112" progId="Equation.3">
                  <p:embed/>
                </p:oleObj>
              </mc:Choice>
              <mc:Fallback>
                <p:oleObj r:id="rId5" imgW="241195" imgH="203112" progId="Equation.3">
                  <p:embed/>
                  <p:pic>
                    <p:nvPicPr>
                      <p:cNvPr id="43" name="Object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3081" y="3797099"/>
                        <a:ext cx="598226" cy="413832"/>
                      </a:xfrm>
                      <a:prstGeom prst="rect">
                        <a:avLst/>
                      </a:prstGeom>
                      <a:noFill/>
                    </p:spPr>
                  </p:pic>
                </p:oleObj>
              </mc:Fallback>
            </mc:AlternateContent>
          </a:graphicData>
        </a:graphic>
      </p:graphicFrame>
      <p:sp>
        <p:nvSpPr>
          <p:cNvPr id="47"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48" name="Object 47"/>
          <p:cNvGraphicFramePr>
            <a:graphicFrameLocks noChangeAspect="1"/>
          </p:cNvGraphicFramePr>
          <p:nvPr/>
        </p:nvGraphicFramePr>
        <p:xfrm>
          <a:off x="9962865" y="4319055"/>
          <a:ext cx="477672" cy="424597"/>
        </p:xfrm>
        <a:graphic>
          <a:graphicData uri="http://schemas.openxmlformats.org/presentationml/2006/ole">
            <mc:AlternateContent xmlns:mc="http://schemas.openxmlformats.org/markup-compatibility/2006">
              <mc:Choice xmlns:v="urn:schemas-microsoft-com:vml" Requires="v">
                <p:oleObj spid="_x0000_s13324" r:id="rId6" imgW="253890" imgH="228501" progId="Equation.3">
                  <p:embed/>
                </p:oleObj>
              </mc:Choice>
              <mc:Fallback>
                <p:oleObj r:id="rId6" imgW="253890" imgH="228501" progId="Equation.3">
                  <p:embed/>
                  <p:pic>
                    <p:nvPicPr>
                      <p:cNvPr id="48" name="Object 4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62865" y="4319055"/>
                        <a:ext cx="477672" cy="424597"/>
                      </a:xfrm>
                      <a:prstGeom prst="rect">
                        <a:avLst/>
                      </a:prstGeom>
                      <a:noFill/>
                    </p:spPr>
                  </p:pic>
                </p:oleObj>
              </mc:Fallback>
            </mc:AlternateContent>
          </a:graphicData>
        </a:graphic>
      </p:graphicFrame>
      <p:sp>
        <p:nvSpPr>
          <p:cNvPr id="49" name="Rectangle 4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50" name="Object 49"/>
          <p:cNvGraphicFramePr>
            <a:graphicFrameLocks noChangeAspect="1"/>
          </p:cNvGraphicFramePr>
          <p:nvPr/>
        </p:nvGraphicFramePr>
        <p:xfrm>
          <a:off x="3821374" y="4837673"/>
          <a:ext cx="687507" cy="423081"/>
        </p:xfrm>
        <a:graphic>
          <a:graphicData uri="http://schemas.openxmlformats.org/presentationml/2006/ole">
            <mc:AlternateContent xmlns:mc="http://schemas.openxmlformats.org/markup-compatibility/2006">
              <mc:Choice xmlns:v="urn:schemas-microsoft-com:vml" Requires="v">
                <p:oleObj spid="_x0000_s13325" r:id="rId8" imgW="368300" imgH="228600" progId="Equation.3">
                  <p:embed/>
                </p:oleObj>
              </mc:Choice>
              <mc:Fallback>
                <p:oleObj r:id="rId8" imgW="368300" imgH="228600" progId="Equation.3">
                  <p:embed/>
                  <p:pic>
                    <p:nvPicPr>
                      <p:cNvPr id="50" name="Object 4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21374" y="4837673"/>
                        <a:ext cx="687507" cy="423081"/>
                      </a:xfrm>
                      <a:prstGeom prst="rect">
                        <a:avLst/>
                      </a:prstGeom>
                      <a:noFill/>
                    </p:spPr>
                  </p:pic>
                </p:oleObj>
              </mc:Fallback>
            </mc:AlternateContent>
          </a:graphicData>
        </a:graphic>
      </p:graphicFrame>
      <p:sp>
        <p:nvSpPr>
          <p:cNvPr id="51" name="Rectangle 4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52" name="Object 51"/>
          <p:cNvGraphicFramePr>
            <a:graphicFrameLocks noChangeAspect="1"/>
          </p:cNvGraphicFramePr>
          <p:nvPr/>
        </p:nvGraphicFramePr>
        <p:xfrm>
          <a:off x="5249838" y="4873765"/>
          <a:ext cx="2097777" cy="423081"/>
        </p:xfrm>
        <a:graphic>
          <a:graphicData uri="http://schemas.openxmlformats.org/presentationml/2006/ole">
            <mc:AlternateContent xmlns:mc="http://schemas.openxmlformats.org/markup-compatibility/2006">
              <mc:Choice xmlns:v="urn:schemas-microsoft-com:vml" Requires="v">
                <p:oleObj spid="_x0000_s13326" r:id="rId10" imgW="1130300" imgH="228600" progId="Equation.3">
                  <p:embed/>
                </p:oleObj>
              </mc:Choice>
              <mc:Fallback>
                <p:oleObj r:id="rId10" imgW="1130300" imgH="228600" progId="Equation.3">
                  <p:embed/>
                  <p:pic>
                    <p:nvPicPr>
                      <p:cNvPr id="52" name="Object 5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49838" y="4873765"/>
                        <a:ext cx="2097777" cy="423081"/>
                      </a:xfrm>
                      <a:prstGeom prst="rect">
                        <a:avLst/>
                      </a:prstGeom>
                      <a:noFill/>
                    </p:spPr>
                  </p:pic>
                </p:oleObj>
              </mc:Fallback>
            </mc:AlternateContent>
          </a:graphicData>
        </a:graphic>
      </p:graphicFrame>
      <p:graphicFrame>
        <p:nvGraphicFramePr>
          <p:cNvPr id="53" name="Object 52"/>
          <p:cNvGraphicFramePr>
            <a:graphicFrameLocks noChangeAspect="1"/>
          </p:cNvGraphicFramePr>
          <p:nvPr/>
        </p:nvGraphicFramePr>
        <p:xfrm>
          <a:off x="8712529" y="5942424"/>
          <a:ext cx="687507" cy="423081"/>
        </p:xfrm>
        <a:graphic>
          <a:graphicData uri="http://schemas.openxmlformats.org/presentationml/2006/ole">
            <mc:AlternateContent xmlns:mc="http://schemas.openxmlformats.org/markup-compatibility/2006">
              <mc:Choice xmlns:v="urn:schemas-microsoft-com:vml" Requires="v">
                <p:oleObj spid="_x0000_s13327" r:id="rId12" imgW="368300" imgH="228600" progId="Equation.3">
                  <p:embed/>
                </p:oleObj>
              </mc:Choice>
              <mc:Fallback>
                <p:oleObj r:id="rId12" imgW="368300" imgH="228600" progId="Equation.3">
                  <p:embed/>
                  <p:pic>
                    <p:nvPicPr>
                      <p:cNvPr id="53" name="Object 5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12529" y="5942424"/>
                        <a:ext cx="687507" cy="423081"/>
                      </a:xfrm>
                      <a:prstGeom prst="rect">
                        <a:avLst/>
                      </a:prstGeom>
                      <a:noFill/>
                    </p:spPr>
                  </p:pic>
                </p:oleObj>
              </mc:Fallback>
            </mc:AlternateContent>
          </a:graphicData>
        </a:graphic>
      </p:graphicFrame>
      <p:graphicFrame>
        <p:nvGraphicFramePr>
          <p:cNvPr id="54" name="Object 53"/>
          <p:cNvGraphicFramePr>
            <a:graphicFrameLocks noChangeAspect="1"/>
          </p:cNvGraphicFramePr>
          <p:nvPr>
            <p:extLst>
              <p:ext uri="{D42A27DB-BD31-4B8C-83A1-F6EECF244321}">
                <p14:modId xmlns:p14="http://schemas.microsoft.com/office/powerpoint/2010/main" val="3520655496"/>
              </p:ext>
            </p:extLst>
          </p:nvPr>
        </p:nvGraphicFramePr>
        <p:xfrm>
          <a:off x="6169526" y="5917617"/>
          <a:ext cx="477672" cy="424597"/>
        </p:xfrm>
        <a:graphic>
          <a:graphicData uri="http://schemas.openxmlformats.org/presentationml/2006/ole">
            <mc:AlternateContent xmlns:mc="http://schemas.openxmlformats.org/markup-compatibility/2006">
              <mc:Choice xmlns:v="urn:schemas-microsoft-com:vml" Requires="v">
                <p:oleObj spid="_x0000_s13328" r:id="rId13" imgW="253890" imgH="228501" progId="Equation.3">
                  <p:embed/>
                </p:oleObj>
              </mc:Choice>
              <mc:Fallback>
                <p:oleObj r:id="rId13" imgW="253890" imgH="228501" progId="Equation.3">
                  <p:embed/>
                  <p:pic>
                    <p:nvPicPr>
                      <p:cNvPr id="54" name="Object 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69526" y="5917617"/>
                        <a:ext cx="477672" cy="424597"/>
                      </a:xfrm>
                      <a:prstGeom prst="rect">
                        <a:avLst/>
                      </a:prstGeom>
                      <a:noFill/>
                    </p:spPr>
                  </p:pic>
                </p:oleObj>
              </mc:Fallback>
            </mc:AlternateContent>
          </a:graphicData>
        </a:graphic>
      </p:graphicFrame>
      <p:graphicFrame>
        <p:nvGraphicFramePr>
          <p:cNvPr id="55" name="Object 54"/>
          <p:cNvGraphicFramePr>
            <a:graphicFrameLocks noChangeAspect="1"/>
          </p:cNvGraphicFramePr>
          <p:nvPr/>
        </p:nvGraphicFramePr>
        <p:xfrm>
          <a:off x="9717208" y="5904550"/>
          <a:ext cx="1992571" cy="518614"/>
        </p:xfrm>
        <a:graphic>
          <a:graphicData uri="http://schemas.openxmlformats.org/presentationml/2006/ole">
            <mc:AlternateContent xmlns:mc="http://schemas.openxmlformats.org/markup-compatibility/2006">
              <mc:Choice xmlns:v="urn:schemas-microsoft-com:vml" Requires="v">
                <p:oleObj spid="_x0000_s13329" r:id="rId14" imgW="1117600" imgH="228600" progId="Equation.3">
                  <p:embed/>
                </p:oleObj>
              </mc:Choice>
              <mc:Fallback>
                <p:oleObj r:id="rId14" imgW="1117600" imgH="228600" progId="Equation.3">
                  <p:embed/>
                  <p:pic>
                    <p:nvPicPr>
                      <p:cNvPr id="55" name="Object 5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717208" y="5904550"/>
                        <a:ext cx="1992571" cy="518614"/>
                      </a:xfrm>
                      <a:prstGeom prst="rect">
                        <a:avLst/>
                      </a:prstGeom>
                      <a:noFill/>
                    </p:spPr>
                  </p:pic>
                </p:oleObj>
              </mc:Fallback>
            </mc:AlternateContent>
          </a:graphicData>
        </a:graphic>
      </p:graphicFrame>
    </p:spTree>
    <p:extLst>
      <p:ext uri="{BB962C8B-B14F-4D97-AF65-F5344CB8AC3E}">
        <p14:creationId xmlns:p14="http://schemas.microsoft.com/office/powerpoint/2010/main" val="35699484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27</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9"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1" name="Rectangle 10"/>
          <p:cNvSpPr/>
          <p:nvPr/>
        </p:nvSpPr>
        <p:spPr>
          <a:xfrm>
            <a:off x="2032000" y="218362"/>
            <a:ext cx="10012363" cy="6740307"/>
          </a:xfrm>
          <a:prstGeom prst="rect">
            <a:avLst/>
          </a:prstGeom>
        </p:spPr>
        <p:txBody>
          <a:bodyPr wrap="square">
            <a:spAutoFit/>
          </a:bodyPr>
          <a:lstStyle/>
          <a:p>
            <a:pPr indent="531813" algn="just">
              <a:lnSpc>
                <a:spcPct val="150000"/>
              </a:lnSpc>
              <a:buClr>
                <a:schemeClr val="accent1">
                  <a:lumMod val="75000"/>
                </a:schemeClr>
              </a:buClr>
            </a:pPr>
            <a:r>
              <a:rPr lang="bg-BG" sz="2400" dirty="0">
                <a:solidFill>
                  <a:schemeClr val="tx1">
                    <a:lumMod val="95000"/>
                    <a:lumOff val="5000"/>
                  </a:schemeClr>
                </a:solidFill>
              </a:rPr>
              <a:t>Отново се изчислява стойността на целевата функция и ако не се подобри, за следващия етап остава старата стойност на </a:t>
            </a:r>
            <a:r>
              <a:rPr lang="en-US" sz="2400" i="1" dirty="0">
                <a:solidFill>
                  <a:schemeClr val="tx1">
                    <a:lumMod val="95000"/>
                    <a:lumOff val="5000"/>
                  </a:schemeClr>
                </a:solidFill>
              </a:rPr>
              <a:t>x</a:t>
            </a:r>
            <a:r>
              <a:rPr lang="en-US" sz="2400" i="1" baseline="-25000" dirty="0">
                <a:solidFill>
                  <a:schemeClr val="tx1">
                    <a:lumMod val="95000"/>
                    <a:lumOff val="5000"/>
                  </a:schemeClr>
                </a:solidFill>
              </a:rPr>
              <a:t>1</a:t>
            </a:r>
            <a:r>
              <a:rPr lang="bg-BG" sz="2400" dirty="0">
                <a:solidFill>
                  <a:schemeClr val="tx1">
                    <a:lumMod val="95000"/>
                    <a:lumOff val="5000"/>
                  </a:schemeClr>
                </a:solidFill>
              </a:rPr>
              <a:t>. Същите действия се извършва за останалите компоненти на вектора</a:t>
            </a:r>
            <a:r>
              <a:rPr lang="bg-BG" sz="2400" i="1" dirty="0">
                <a:solidFill>
                  <a:schemeClr val="tx1">
                    <a:lumMod val="95000"/>
                    <a:lumOff val="5000"/>
                  </a:schemeClr>
                </a:solidFill>
              </a:rPr>
              <a:t> </a:t>
            </a:r>
            <a:r>
              <a:rPr lang="en-US" sz="2400" i="1" dirty="0">
                <a:solidFill>
                  <a:schemeClr val="tx1">
                    <a:lumMod val="95000"/>
                    <a:lumOff val="5000"/>
                  </a:schemeClr>
                </a:solidFill>
              </a:rPr>
              <a:t>x</a:t>
            </a:r>
            <a:r>
              <a:rPr lang="ru-RU" sz="2400" dirty="0">
                <a:solidFill>
                  <a:schemeClr val="tx1">
                    <a:lumMod val="95000"/>
                    <a:lumOff val="5000"/>
                  </a:schemeClr>
                </a:solidFill>
              </a:rPr>
              <a:t>.</a:t>
            </a:r>
            <a:r>
              <a:rPr lang="bg-BG" sz="2400" dirty="0">
                <a:solidFill>
                  <a:schemeClr val="tx1">
                    <a:lumMod val="95000"/>
                    <a:lumOff val="5000"/>
                  </a:schemeClr>
                </a:solidFill>
              </a:rPr>
              <a:t> Така се получава новата базова точка на вектора </a:t>
            </a:r>
            <a:r>
              <a:rPr lang="en-US" sz="2400" i="1" dirty="0">
                <a:solidFill>
                  <a:schemeClr val="tx1">
                    <a:lumMod val="95000"/>
                    <a:lumOff val="5000"/>
                  </a:schemeClr>
                </a:solidFill>
              </a:rPr>
              <a:t>x</a:t>
            </a:r>
            <a:r>
              <a:rPr lang="ru-RU" sz="2400" dirty="0">
                <a:solidFill>
                  <a:schemeClr val="tx1">
                    <a:lumMod val="95000"/>
                    <a:lumOff val="5000"/>
                  </a:schemeClr>
                </a:solidFill>
              </a:rPr>
              <a:t>.</a:t>
            </a:r>
          </a:p>
          <a:p>
            <a:pPr indent="531813" algn="just">
              <a:lnSpc>
                <a:spcPct val="150000"/>
              </a:lnSpc>
              <a:buClr>
                <a:schemeClr val="accent1">
                  <a:lumMod val="75000"/>
                </a:schemeClr>
              </a:buClr>
            </a:pPr>
            <a:r>
              <a:rPr lang="bg-BG" sz="2400" dirty="0">
                <a:solidFill>
                  <a:schemeClr val="tx1">
                    <a:lumMod val="95000"/>
                    <a:lumOff val="5000"/>
                  </a:schemeClr>
                </a:solidFill>
              </a:rPr>
              <a:t>Стъпка</a:t>
            </a:r>
            <a:r>
              <a:rPr lang="ru-RU" sz="2400" dirty="0">
                <a:solidFill>
                  <a:schemeClr val="tx1">
                    <a:lumMod val="95000"/>
                    <a:lumOff val="5000"/>
                  </a:schemeClr>
                </a:solidFill>
              </a:rPr>
              <a:t> 4. </a:t>
            </a:r>
            <a:r>
              <a:rPr lang="bg-BG" sz="2400" dirty="0">
                <a:solidFill>
                  <a:schemeClr val="tx1">
                    <a:lumMod val="95000"/>
                    <a:lumOff val="5000"/>
                  </a:schemeClr>
                </a:solidFill>
              </a:rPr>
              <a:t>В някои версии на алгоритъма Стъпка 3 може да се повтори няколко пъти. Нейното повторение се налага в случаите, когато няма подобрение в стойностите на целевата функция. Тогава Стъпка 3 се повтаря, стойностите на 	   се намаляват (по абсолютна стойност).</a:t>
            </a:r>
          </a:p>
          <a:p>
            <a:pPr indent="531813" algn="just">
              <a:lnSpc>
                <a:spcPct val="150000"/>
              </a:lnSpc>
              <a:buClr>
                <a:schemeClr val="accent1">
                  <a:lumMod val="75000"/>
                </a:schemeClr>
              </a:buClr>
            </a:pPr>
            <a:r>
              <a:rPr lang="bg-BG" sz="2400" dirty="0">
                <a:solidFill>
                  <a:schemeClr val="tx1">
                    <a:lumMod val="95000"/>
                    <a:lumOff val="5000"/>
                  </a:schemeClr>
                </a:solidFill>
              </a:rPr>
              <a:t>Стъпка 5. „Търсене по образец”. В тази стъпка се преизчисляват компонентите на вектора </a:t>
            </a:r>
            <a:r>
              <a:rPr lang="en-US" sz="2400" i="1" dirty="0">
                <a:solidFill>
                  <a:schemeClr val="tx1">
                    <a:lumMod val="95000"/>
                    <a:lumOff val="5000"/>
                  </a:schemeClr>
                </a:solidFill>
              </a:rPr>
              <a:t>x</a:t>
            </a:r>
            <a:r>
              <a:rPr lang="bg-BG" sz="2400" i="1" dirty="0">
                <a:solidFill>
                  <a:schemeClr val="tx1">
                    <a:lumMod val="95000"/>
                    <a:lumOff val="5000"/>
                  </a:schemeClr>
                </a:solidFill>
              </a:rPr>
              <a:t>, </a:t>
            </a:r>
            <a:r>
              <a:rPr lang="bg-BG" sz="2400" dirty="0">
                <a:solidFill>
                  <a:schemeClr val="tx1">
                    <a:lumMod val="95000"/>
                    <a:lumOff val="5000"/>
                  </a:schemeClr>
                </a:solidFill>
              </a:rPr>
              <a:t>в съответствие с правилото:</a:t>
            </a:r>
          </a:p>
          <a:p>
            <a:pPr indent="540000" algn="just">
              <a:lnSpc>
                <a:spcPct val="150000"/>
              </a:lnSpc>
              <a:buClr>
                <a:schemeClr val="accent1">
                  <a:lumMod val="75000"/>
                </a:schemeClr>
              </a:buClr>
            </a:pPr>
            <a:endParaRPr lang="bg-BG" sz="2400" dirty="0">
              <a:solidFill>
                <a:schemeClr val="tx1">
                  <a:lumMod val="95000"/>
                  <a:lumOff val="5000"/>
                </a:schemeClr>
              </a:solidFill>
            </a:endParaRPr>
          </a:p>
        </p:txBody>
      </p:sp>
      <p:graphicFrame>
        <p:nvGraphicFramePr>
          <p:cNvPr id="18" name="Object 17"/>
          <p:cNvGraphicFramePr>
            <a:graphicFrameLocks noChangeAspect="1"/>
          </p:cNvGraphicFramePr>
          <p:nvPr/>
        </p:nvGraphicFramePr>
        <p:xfrm>
          <a:off x="7239901" y="4225724"/>
          <a:ext cx="489637" cy="413832"/>
        </p:xfrm>
        <a:graphic>
          <a:graphicData uri="http://schemas.openxmlformats.org/presentationml/2006/ole">
            <mc:AlternateContent xmlns:mc="http://schemas.openxmlformats.org/markup-compatibility/2006">
              <mc:Choice xmlns:v="urn:schemas-microsoft-com:vml" Requires="v">
                <p:oleObj spid="_x0000_s14340" r:id="rId3" imgW="241195" imgH="203112" progId="Equation.3">
                  <p:embed/>
                </p:oleObj>
              </mc:Choice>
              <mc:Fallback>
                <p:oleObj r:id="rId3" imgW="241195" imgH="203112" progId="Equation.3">
                  <p:embed/>
                  <p:pic>
                    <p:nvPicPr>
                      <p:cNvPr id="18"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901" y="4225724"/>
                        <a:ext cx="489637" cy="413832"/>
                      </a:xfrm>
                      <a:prstGeom prst="rect">
                        <a:avLst/>
                      </a:prstGeom>
                      <a:noFill/>
                    </p:spPr>
                  </p:pic>
                </p:oleObj>
              </mc:Fallback>
            </mc:AlternateContent>
          </a:graphicData>
        </a:graphic>
      </p:graphicFrame>
      <p:sp>
        <p:nvSpPr>
          <p:cNvPr id="19" name="Rectangle 9"/>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20" name="Object 19"/>
          <p:cNvGraphicFramePr>
            <a:graphicFrameLocks noChangeAspect="1"/>
          </p:cNvGraphicFramePr>
          <p:nvPr/>
        </p:nvGraphicFramePr>
        <p:xfrm>
          <a:off x="3657955" y="6129337"/>
          <a:ext cx="3826764" cy="771525"/>
        </p:xfrm>
        <a:graphic>
          <a:graphicData uri="http://schemas.openxmlformats.org/presentationml/2006/ole">
            <mc:AlternateContent xmlns:mc="http://schemas.openxmlformats.org/markup-compatibility/2006">
              <mc:Choice xmlns:v="urn:schemas-microsoft-com:vml" Requires="v">
                <p:oleObj spid="_x0000_s14341" r:id="rId5" imgW="1180588" imgH="241195" progId="Equation.3">
                  <p:embed/>
                </p:oleObj>
              </mc:Choice>
              <mc:Fallback>
                <p:oleObj r:id="rId5" imgW="1180588" imgH="241195" progId="Equation.3">
                  <p:embed/>
                  <p:pic>
                    <p:nvPicPr>
                      <p:cNvPr id="2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955" y="6129337"/>
                        <a:ext cx="3826764" cy="771525"/>
                      </a:xfrm>
                      <a:prstGeom prst="rect">
                        <a:avLst/>
                      </a:prstGeom>
                      <a:noFill/>
                    </p:spPr>
                  </p:pic>
                </p:oleObj>
              </mc:Fallback>
            </mc:AlternateContent>
          </a:graphicData>
        </a:graphic>
      </p:graphicFrame>
      <p:sp>
        <p:nvSpPr>
          <p:cNvPr id="21" name="Rectangle 10"/>
          <p:cNvSpPr>
            <a:spLocks noChangeArrowheads="1"/>
          </p:cNvSpPr>
          <p:nvPr/>
        </p:nvSpPr>
        <p:spPr bwMode="auto">
          <a:xfrm>
            <a:off x="0" y="6953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bg-BG" altLang="bg-BG"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15068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28</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2" name="Rectangle 1"/>
          <p:cNvSpPr/>
          <p:nvPr/>
        </p:nvSpPr>
        <p:spPr>
          <a:xfrm>
            <a:off x="2243529" y="501134"/>
            <a:ext cx="9715109" cy="7294305"/>
          </a:xfrm>
          <a:prstGeom prst="rect">
            <a:avLst/>
          </a:prstGeom>
        </p:spPr>
        <p:txBody>
          <a:bodyPr wrap="square">
            <a:spAutoFit/>
          </a:bodyPr>
          <a:lstStyle/>
          <a:p>
            <a:pPr indent="531813" algn="just">
              <a:lnSpc>
                <a:spcPct val="150000"/>
              </a:lnSpc>
              <a:buClr>
                <a:schemeClr val="accent1">
                  <a:lumMod val="75000"/>
                </a:schemeClr>
              </a:buClr>
            </a:pPr>
            <a:r>
              <a:rPr lang="bg-BG" sz="2400" dirty="0">
                <a:solidFill>
                  <a:schemeClr val="tx1">
                    <a:lumMod val="95000"/>
                    <a:lumOff val="5000"/>
                  </a:schemeClr>
                </a:solidFill>
              </a:rPr>
              <a:t>където:</a:t>
            </a:r>
          </a:p>
          <a:p>
            <a:pPr indent="531813" algn="just">
              <a:lnSpc>
                <a:spcPct val="150000"/>
              </a:lnSpc>
              <a:buClr>
                <a:schemeClr val="accent1">
                  <a:lumMod val="75000"/>
                </a:schemeClr>
              </a:buClr>
            </a:pPr>
            <a:r>
              <a:rPr lang="bg-BG" sz="2400" dirty="0">
                <a:solidFill>
                  <a:schemeClr val="tx1">
                    <a:lumMod val="95000"/>
                    <a:lumOff val="5000"/>
                  </a:schemeClr>
                </a:solidFill>
              </a:rPr>
              <a:t>          - предходната стойност на </a:t>
            </a:r>
            <a:r>
              <a:rPr lang="en-US" sz="2400" dirty="0">
                <a:solidFill>
                  <a:schemeClr val="tx1">
                    <a:lumMod val="95000"/>
                    <a:lumOff val="5000"/>
                  </a:schemeClr>
                </a:solidFill>
              </a:rPr>
              <a:t>x </a:t>
            </a:r>
            <a:r>
              <a:rPr lang="bg-BG" sz="2400" dirty="0">
                <a:solidFill>
                  <a:schemeClr val="tx1">
                    <a:lumMod val="95000"/>
                    <a:lumOff val="5000"/>
                  </a:schemeClr>
                </a:solidFill>
              </a:rPr>
              <a:t>в базовата точка (или началната стойност на </a:t>
            </a:r>
            <a:r>
              <a:rPr lang="en-US" sz="2400" dirty="0">
                <a:solidFill>
                  <a:schemeClr val="tx1">
                    <a:lumMod val="95000"/>
                    <a:lumOff val="5000"/>
                  </a:schemeClr>
                </a:solidFill>
              </a:rPr>
              <a:t>x</a:t>
            </a:r>
            <a:r>
              <a:rPr lang="bg-BG" sz="2400" dirty="0">
                <a:solidFill>
                  <a:schemeClr val="tx1">
                    <a:lumMod val="95000"/>
                    <a:lumOff val="5000"/>
                  </a:schemeClr>
                </a:solidFill>
              </a:rPr>
              <a:t> при първото търсене по образец); </a:t>
            </a:r>
          </a:p>
          <a:p>
            <a:pPr indent="531813" algn="just">
              <a:lnSpc>
                <a:spcPct val="150000"/>
              </a:lnSpc>
              <a:buClr>
                <a:schemeClr val="accent1">
                  <a:lumMod val="75000"/>
                </a:schemeClr>
              </a:buClr>
            </a:pPr>
            <a:r>
              <a:rPr lang="bg-BG" sz="2400" dirty="0">
                <a:solidFill>
                  <a:schemeClr val="tx1">
                    <a:lumMod val="95000"/>
                    <a:lumOff val="5000"/>
                  </a:schemeClr>
                </a:solidFill>
              </a:rPr>
              <a:t>         - стойностите на </a:t>
            </a:r>
            <a:r>
              <a:rPr lang="en-US" sz="2400" dirty="0">
                <a:solidFill>
                  <a:schemeClr val="tx1">
                    <a:lumMod val="95000"/>
                    <a:lumOff val="5000"/>
                  </a:schemeClr>
                </a:solidFill>
              </a:rPr>
              <a:t>x</a:t>
            </a:r>
            <a:r>
              <a:rPr lang="bg-BG" sz="2400" dirty="0">
                <a:solidFill>
                  <a:schemeClr val="tx1">
                    <a:lumMod val="95000"/>
                    <a:lumOff val="5000"/>
                  </a:schemeClr>
                </a:solidFill>
              </a:rPr>
              <a:t> от Стъпка 3. За стойности на </a:t>
            </a:r>
            <a:r>
              <a:rPr lang="en-US" sz="2400" dirty="0">
                <a:solidFill>
                  <a:schemeClr val="tx1">
                    <a:lumMod val="95000"/>
                    <a:lumOff val="5000"/>
                  </a:schemeClr>
                </a:solidFill>
              </a:rPr>
              <a:t>x</a:t>
            </a:r>
            <a:r>
              <a:rPr lang="ru-RU" sz="2400" dirty="0">
                <a:solidFill>
                  <a:schemeClr val="tx1">
                    <a:lumMod val="95000"/>
                    <a:lumOff val="5000"/>
                  </a:schemeClr>
                </a:solidFill>
              </a:rPr>
              <a:t>, </a:t>
            </a:r>
            <a:r>
              <a:rPr lang="bg-BG" sz="2400" dirty="0">
                <a:solidFill>
                  <a:schemeClr val="tx1">
                    <a:lumMod val="95000"/>
                    <a:lumOff val="5000"/>
                  </a:schemeClr>
                </a:solidFill>
              </a:rPr>
              <a:t>получени от горната формула, се изчислява стойността на целевата функция.</a:t>
            </a:r>
          </a:p>
          <a:p>
            <a:pPr indent="531813" algn="just">
              <a:lnSpc>
                <a:spcPct val="150000"/>
              </a:lnSpc>
              <a:buClr>
                <a:schemeClr val="accent1">
                  <a:lumMod val="75000"/>
                </a:schemeClr>
              </a:buClr>
            </a:pPr>
            <a:r>
              <a:rPr lang="bg-BG" sz="2400" dirty="0">
                <a:solidFill>
                  <a:schemeClr val="tx1">
                    <a:lumMod val="95000"/>
                    <a:lumOff val="5000"/>
                  </a:schemeClr>
                </a:solidFill>
              </a:rPr>
              <a:t>Стъпка 6. Повтарят се изчисленията от Стъпка 3, но вече стойностите на целевата функция, с които ще се сравнява, ще са тези от Стъпка 5. Ако стойността на целевата функция от тази стъпка е по-добра от последната базова стойност на </a:t>
            </a:r>
            <a:r>
              <a:rPr lang="en-US" sz="2400" dirty="0">
                <a:solidFill>
                  <a:schemeClr val="tx1">
                    <a:lumMod val="95000"/>
                    <a:lumOff val="5000"/>
                  </a:schemeClr>
                </a:solidFill>
              </a:rPr>
              <a:t>x</a:t>
            </a:r>
            <a:r>
              <a:rPr lang="bg-BG" sz="2400" dirty="0">
                <a:solidFill>
                  <a:schemeClr val="tx1">
                    <a:lumMod val="95000"/>
                    <a:lumOff val="5000"/>
                  </a:schemeClr>
                </a:solidFill>
              </a:rPr>
              <a:t>, то се преминава към Стъпка 5. В противен случай с последната базова стойност на </a:t>
            </a:r>
            <a:r>
              <a:rPr lang="en-US" sz="2400" dirty="0">
                <a:solidFill>
                  <a:schemeClr val="tx1">
                    <a:lumMod val="95000"/>
                    <a:lumOff val="5000"/>
                  </a:schemeClr>
                </a:solidFill>
              </a:rPr>
              <a:t>x</a:t>
            </a:r>
            <a:r>
              <a:rPr lang="bg-BG" sz="2400" dirty="0">
                <a:solidFill>
                  <a:schemeClr val="tx1">
                    <a:lumMod val="95000"/>
                    <a:lumOff val="5000"/>
                  </a:schemeClr>
                </a:solidFill>
              </a:rPr>
              <a:t> се преминава към Стъпка 3.</a:t>
            </a:r>
          </a:p>
          <a:p>
            <a:pPr indent="531813" algn="just">
              <a:lnSpc>
                <a:spcPct val="150000"/>
              </a:lnSpc>
              <a:buClr>
                <a:schemeClr val="accent1">
                  <a:lumMod val="75000"/>
                </a:schemeClr>
              </a:buClr>
            </a:pPr>
            <a:r>
              <a:rPr lang="bg-BG" sz="2400" dirty="0">
                <a:solidFill>
                  <a:schemeClr val="tx1">
                    <a:lumMod val="95000"/>
                    <a:lumOff val="5000"/>
                  </a:schemeClr>
                </a:solidFill>
              </a:rPr>
              <a:t> </a:t>
            </a:r>
          </a:p>
          <a:p>
            <a:pPr indent="531813" algn="just">
              <a:lnSpc>
                <a:spcPct val="150000"/>
              </a:lnSpc>
              <a:buClr>
                <a:schemeClr val="accent1">
                  <a:lumMod val="75000"/>
                </a:schemeClr>
              </a:buClr>
            </a:pPr>
            <a:endParaRPr lang="bg-BG" sz="24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5" name="Object 4"/>
          <p:cNvGraphicFramePr>
            <a:graphicFrameLocks noChangeAspect="1"/>
          </p:cNvGraphicFramePr>
          <p:nvPr/>
        </p:nvGraphicFramePr>
        <p:xfrm>
          <a:off x="2843213" y="1110949"/>
          <a:ext cx="571500" cy="529167"/>
        </p:xfrm>
        <a:graphic>
          <a:graphicData uri="http://schemas.openxmlformats.org/presentationml/2006/ole">
            <mc:AlternateContent xmlns:mc="http://schemas.openxmlformats.org/markup-compatibility/2006">
              <mc:Choice xmlns:v="urn:schemas-microsoft-com:vml" Requires="v">
                <p:oleObj spid="_x0000_s15364" r:id="rId3" imgW="253890" imgH="241195" progId="Equation.3">
                  <p:embed/>
                </p:oleObj>
              </mc:Choice>
              <mc:Fallback>
                <p:oleObj r:id="rId3" imgW="253890" imgH="241195" progId="Equation.3">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1110949"/>
                        <a:ext cx="571500" cy="529167"/>
                      </a:xfrm>
                      <a:prstGeom prst="rect">
                        <a:avLst/>
                      </a:prstGeom>
                      <a:noFill/>
                    </p:spPr>
                  </p:pic>
                </p:oleObj>
              </mc:Fallback>
            </mc:AlternateContent>
          </a:graphicData>
        </a:graphic>
      </p:graphicFrame>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7" name="Object 6"/>
          <p:cNvGraphicFramePr>
            <a:graphicFrameLocks noChangeAspect="1"/>
          </p:cNvGraphicFramePr>
          <p:nvPr/>
        </p:nvGraphicFramePr>
        <p:xfrm>
          <a:off x="2843213" y="2183146"/>
          <a:ext cx="541225" cy="501134"/>
        </p:xfrm>
        <a:graphic>
          <a:graphicData uri="http://schemas.openxmlformats.org/presentationml/2006/ole">
            <mc:AlternateContent xmlns:mc="http://schemas.openxmlformats.org/markup-compatibility/2006">
              <mc:Choice xmlns:v="urn:schemas-microsoft-com:vml" Requires="v">
                <p:oleObj spid="_x0000_s15365" r:id="rId5" imgW="253890" imgH="241195" progId="Equation.3">
                  <p:embed/>
                </p:oleObj>
              </mc:Choice>
              <mc:Fallback>
                <p:oleObj r:id="rId5" imgW="253890" imgH="241195" progId="Equation.3">
                  <p:embed/>
                  <p:pic>
                    <p:nvPicPr>
                      <p:cNvPr id="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2183146"/>
                        <a:ext cx="541225" cy="501134"/>
                      </a:xfrm>
                      <a:prstGeom prst="rect">
                        <a:avLst/>
                      </a:prstGeom>
                      <a:noFill/>
                    </p:spPr>
                  </p:pic>
                </p:oleObj>
              </mc:Fallback>
            </mc:AlternateContent>
          </a:graphicData>
        </a:graphic>
      </p:graphicFrame>
      <p:sp>
        <p:nvSpPr>
          <p:cNvPr id="8" name="Rectangle 5"/>
          <p:cNvSpPr>
            <a:spLocks noChangeArrowheads="1"/>
          </p:cNvSpPr>
          <p:nvPr/>
        </p:nvSpPr>
        <p:spPr bwMode="auto">
          <a:xfrm>
            <a:off x="0" y="238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bg-BG" altLang="bg-BG" sz="1100" b="0" i="0" u="none" strike="noStrike" cap="none" normalizeH="0" baseline="0">
                <a:ln>
                  <a:noFill/>
                </a:ln>
                <a:solidFill>
                  <a:schemeClr val="tx1"/>
                </a:solidFill>
                <a:effectLst/>
              </a:rPr>
              <a:t> </a:t>
            </a:r>
            <a:endParaRPr kumimoji="0" lang="bg-BG" altLang="bg-BG"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17643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29</a:t>
            </a:fld>
            <a:endParaRPr lang="bg-BG" dirty="0"/>
          </a:p>
        </p:txBody>
      </p:sp>
      <p:sp>
        <p:nvSpPr>
          <p:cNvPr id="12" name="Rectangle 8"/>
          <p:cNvSpPr>
            <a:spLocks noChangeArrowheads="1"/>
          </p:cNvSpPr>
          <p:nvPr/>
        </p:nvSpPr>
        <p:spPr bwMode="auto">
          <a:xfrm>
            <a:off x="8095129" y="5606684"/>
            <a:ext cx="2034173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5"/>
          <p:cNvSpPr/>
          <p:nvPr/>
        </p:nvSpPr>
        <p:spPr>
          <a:xfrm>
            <a:off x="2174543" y="241321"/>
            <a:ext cx="9671714" cy="6186309"/>
          </a:xfrm>
          <a:prstGeom prst="rect">
            <a:avLst/>
          </a:prstGeom>
        </p:spPr>
        <p:txBody>
          <a:bodyPr wrap="square">
            <a:spAutoFit/>
          </a:bodyPr>
          <a:lstStyle/>
          <a:p>
            <a:pPr indent="531813" algn="just">
              <a:lnSpc>
                <a:spcPct val="150000"/>
              </a:lnSpc>
              <a:buClr>
                <a:schemeClr val="accent1">
                  <a:lumMod val="75000"/>
                </a:schemeClr>
              </a:buClr>
            </a:pPr>
            <a:r>
              <a:rPr lang="bg-BG" sz="2400" dirty="0">
                <a:solidFill>
                  <a:schemeClr val="tx1">
                    <a:lumMod val="95000"/>
                    <a:lumOff val="5000"/>
                  </a:schemeClr>
                </a:solidFill>
              </a:rPr>
              <a:t>Това продължава, докато не се стигне до ситуация, при която стойността на целевата функция от Стъпка 3 не стане по-лоша отколкото в предната базова точка. (Стойностите на </a:t>
            </a:r>
            <a:r>
              <a:rPr lang="en-US" sz="2400" dirty="0">
                <a:solidFill>
                  <a:schemeClr val="tx1">
                    <a:lumMod val="95000"/>
                    <a:lumOff val="5000"/>
                  </a:schemeClr>
                </a:solidFill>
              </a:rPr>
              <a:t>x</a:t>
            </a:r>
            <a:r>
              <a:rPr lang="bg-BG" sz="2400" dirty="0">
                <a:solidFill>
                  <a:schemeClr val="tx1">
                    <a:lumMod val="95000"/>
                    <a:lumOff val="5000"/>
                  </a:schemeClr>
                </a:solidFill>
              </a:rPr>
              <a:t>, изчислени в Стъпка 5, НЕ са базови точки. Базови точки са началните стойности на </a:t>
            </a:r>
            <a:r>
              <a:rPr lang="en-US" sz="2400" dirty="0">
                <a:solidFill>
                  <a:schemeClr val="tx1">
                    <a:lumMod val="95000"/>
                    <a:lumOff val="5000"/>
                  </a:schemeClr>
                </a:solidFill>
              </a:rPr>
              <a:t>x</a:t>
            </a:r>
            <a:r>
              <a:rPr lang="bg-BG" sz="2400" dirty="0">
                <a:solidFill>
                  <a:schemeClr val="tx1">
                    <a:lumMod val="95000"/>
                    <a:lumOff val="5000"/>
                  </a:schemeClr>
                </a:solidFill>
              </a:rPr>
              <a:t>, получените от Стъпка 3 или от Стъпка 6). Тогава или алгоритъмът завършва, или се повтаря, но вече с други стойности на         , изчислени по формулата:</a:t>
            </a:r>
          </a:p>
          <a:p>
            <a:pPr indent="531813" algn="just">
              <a:lnSpc>
                <a:spcPct val="150000"/>
              </a:lnSpc>
              <a:buClr>
                <a:schemeClr val="accent1">
                  <a:lumMod val="75000"/>
                </a:schemeClr>
              </a:buClr>
            </a:pPr>
            <a:endParaRPr lang="bg-BG" sz="2400" dirty="0">
              <a:solidFill>
                <a:schemeClr val="tx1">
                  <a:lumMod val="95000"/>
                  <a:lumOff val="5000"/>
                </a:schemeClr>
              </a:solidFill>
            </a:endParaRPr>
          </a:p>
          <a:p>
            <a:pPr indent="531813" algn="just">
              <a:lnSpc>
                <a:spcPct val="150000"/>
              </a:lnSpc>
              <a:buClr>
                <a:schemeClr val="accent1">
                  <a:lumMod val="75000"/>
                </a:schemeClr>
              </a:buClr>
            </a:pPr>
            <a:r>
              <a:rPr lang="bg-BG" sz="2400" dirty="0">
                <a:solidFill>
                  <a:schemeClr val="tx1">
                    <a:lumMod val="95000"/>
                    <a:lumOff val="5000"/>
                  </a:schemeClr>
                </a:solidFill>
              </a:rPr>
              <a:t> където      - броят на неуспешните търсения в стъпка 3 за последното успешно изследователско търсене.</a:t>
            </a:r>
          </a:p>
          <a:p>
            <a:pPr indent="531813" algn="just">
              <a:lnSpc>
                <a:spcPct val="150000"/>
              </a:lnSpc>
              <a:buClr>
                <a:schemeClr val="accent1">
                  <a:lumMod val="75000"/>
                </a:schemeClr>
              </a:buClr>
            </a:pPr>
            <a:endParaRPr lang="bg-BG" sz="2400" dirty="0">
              <a:solidFill>
                <a:schemeClr val="tx1">
                  <a:lumMod val="95000"/>
                  <a:lumOff val="5000"/>
                </a:schemeClr>
              </a:solidFill>
            </a:endParaRPr>
          </a:p>
        </p:txBody>
      </p:sp>
      <p:graphicFrame>
        <p:nvGraphicFramePr>
          <p:cNvPr id="8" name="Object 7"/>
          <p:cNvGraphicFramePr>
            <a:graphicFrameLocks noChangeAspect="1"/>
          </p:cNvGraphicFramePr>
          <p:nvPr/>
        </p:nvGraphicFramePr>
        <p:xfrm>
          <a:off x="2695195" y="3679814"/>
          <a:ext cx="489637" cy="413832"/>
        </p:xfrm>
        <a:graphic>
          <a:graphicData uri="http://schemas.openxmlformats.org/presentationml/2006/ole">
            <mc:AlternateContent xmlns:mc="http://schemas.openxmlformats.org/markup-compatibility/2006">
              <mc:Choice xmlns:v="urn:schemas-microsoft-com:vml" Requires="v">
                <p:oleObj spid="_x0000_s16389" r:id="rId3" imgW="241195" imgH="203112" progId="Equation.3">
                  <p:embed/>
                </p:oleObj>
              </mc:Choice>
              <mc:Fallback>
                <p:oleObj r:id="rId3" imgW="241195" imgH="203112" progId="Equation.3">
                  <p:embed/>
                  <p:pic>
                    <p:nvPicPr>
                      <p:cNvPr id="8"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5195" y="3679814"/>
                        <a:ext cx="489637" cy="413832"/>
                      </a:xfrm>
                      <a:prstGeom prst="rect">
                        <a:avLst/>
                      </a:prstGeom>
                      <a:noFill/>
                    </p:spPr>
                  </p:pic>
                </p:oleObj>
              </mc:Fallback>
            </mc:AlternateContent>
          </a:graphicData>
        </a:graphic>
      </p:graphicFrame>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9" name="Object 8"/>
          <p:cNvGraphicFramePr>
            <a:graphicFrameLocks noChangeAspect="1"/>
          </p:cNvGraphicFramePr>
          <p:nvPr/>
        </p:nvGraphicFramePr>
        <p:xfrm>
          <a:off x="2429302" y="4036815"/>
          <a:ext cx="3902020" cy="928048"/>
        </p:xfrm>
        <a:graphic>
          <a:graphicData uri="http://schemas.openxmlformats.org/presentationml/2006/ole">
            <mc:AlternateContent xmlns:mc="http://schemas.openxmlformats.org/markup-compatibility/2006">
              <mc:Choice xmlns:v="urn:schemas-microsoft-com:vml" Requires="v">
                <p:oleObj spid="_x0000_s16390" r:id="rId5" imgW="1765300" imgH="419100" progId="Equation.3">
                  <p:embed/>
                </p:oleObj>
              </mc:Choice>
              <mc:Fallback>
                <p:oleObj r:id="rId5" imgW="1765300" imgH="419100" progId="Equation.3">
                  <p:embed/>
                  <p:pic>
                    <p:nvPicPr>
                      <p:cNvPr id="9"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9302" y="4036815"/>
                        <a:ext cx="3902020" cy="928048"/>
                      </a:xfrm>
                      <a:prstGeom prst="rect">
                        <a:avLst/>
                      </a:prstGeom>
                      <a:noFill/>
                    </p:spPr>
                  </p:pic>
                </p:oleObj>
              </mc:Fallback>
            </mc:AlternateContent>
          </a:graphicData>
        </a:graphic>
      </p:graphicFrame>
      <p:sp>
        <p:nvSpPr>
          <p:cNvPr id="10" name="Rectangle 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1" name="Object 10"/>
          <p:cNvGraphicFramePr>
            <a:graphicFrameLocks noChangeAspect="1"/>
          </p:cNvGraphicFramePr>
          <p:nvPr/>
        </p:nvGraphicFramePr>
        <p:xfrm>
          <a:off x="3862316" y="4802069"/>
          <a:ext cx="395785" cy="517565"/>
        </p:xfrm>
        <a:graphic>
          <a:graphicData uri="http://schemas.openxmlformats.org/presentationml/2006/ole">
            <mc:AlternateContent xmlns:mc="http://schemas.openxmlformats.org/markup-compatibility/2006">
              <mc:Choice xmlns:v="urn:schemas-microsoft-com:vml" Requires="v">
                <p:oleObj spid="_x0000_s16391" r:id="rId7" imgW="126780" imgH="164814" progId="Equation.3">
                  <p:embed/>
                </p:oleObj>
              </mc:Choice>
              <mc:Fallback>
                <p:oleObj r:id="rId7" imgW="126780" imgH="164814" progId="Equation.3">
                  <p:embed/>
                  <p:pic>
                    <p:nvPicPr>
                      <p:cNvPr id="11"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62316" y="4802069"/>
                        <a:ext cx="395785" cy="517565"/>
                      </a:xfrm>
                      <a:prstGeom prst="rect">
                        <a:avLst/>
                      </a:prstGeom>
                      <a:noFill/>
                    </p:spPr>
                  </p:pic>
                </p:oleObj>
              </mc:Fallback>
            </mc:AlternateContent>
          </a:graphicData>
        </a:graphic>
      </p:graphicFrame>
    </p:spTree>
    <p:extLst>
      <p:ext uri="{BB962C8B-B14F-4D97-AF65-F5344CB8AC3E}">
        <p14:creationId xmlns:p14="http://schemas.microsoft.com/office/powerpoint/2010/main" val="931119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30</a:t>
            </a:fld>
            <a:endParaRPr lang="bg-BG" dirty="0"/>
          </a:p>
        </p:txBody>
      </p:sp>
      <p:sp>
        <p:nvSpPr>
          <p:cNvPr id="7" name="Rectangle 6"/>
          <p:cNvSpPr/>
          <p:nvPr/>
        </p:nvSpPr>
        <p:spPr>
          <a:xfrm>
            <a:off x="2032000" y="270843"/>
            <a:ext cx="10005325" cy="6740307"/>
          </a:xfrm>
          <a:prstGeom prst="rect">
            <a:avLst/>
          </a:prstGeom>
        </p:spPr>
        <p:txBody>
          <a:bodyPr wrap="square">
            <a:spAutoFit/>
          </a:bodyPr>
          <a:lstStyle/>
          <a:p>
            <a:pPr indent="528638" algn="just">
              <a:lnSpc>
                <a:spcPct val="150000"/>
              </a:lnSpc>
            </a:pPr>
            <a:r>
              <a:rPr lang="bg-BG" sz="2400" dirty="0">
                <a:solidFill>
                  <a:schemeClr val="tx1">
                    <a:lumMod val="95000"/>
                    <a:lumOff val="5000"/>
                  </a:schemeClr>
                </a:solidFill>
              </a:rPr>
              <a:t>При решаване на задачи от нелинейното програмиране с ограничения се срещат значително повече трудности, отколкото при решаване на съпоставими задачи без ограничения. Предлаганите в литературата методи за решаване на задачи от нелинейното програмиране с ограничения могат да бъдат групирани в зависимост от следните идеи:</a:t>
            </a:r>
          </a:p>
          <a:p>
            <a:pPr marL="457200" indent="-457200" algn="just">
              <a:lnSpc>
                <a:spcPct val="150000"/>
              </a:lnSpc>
              <a:buClr>
                <a:schemeClr val="accent1">
                  <a:lumMod val="75000"/>
                </a:schemeClr>
              </a:buClr>
              <a:buFont typeface="+mj-lt"/>
              <a:buAutoNum type="arabicPeriod"/>
            </a:pPr>
            <a:r>
              <a:rPr lang="bg-BG" sz="2400" dirty="0">
                <a:solidFill>
                  <a:schemeClr val="tx1">
                    <a:lumMod val="95000"/>
                    <a:lumOff val="5000"/>
                  </a:schemeClr>
                </a:solidFill>
              </a:rPr>
              <a:t> Разпространяване на апарата на линейното програмиране върху нелинейното програмиране чрез апроксимиране на нелинейните членове в линейни.</a:t>
            </a:r>
          </a:p>
          <a:p>
            <a:pPr marL="457200" indent="-457200" algn="just">
              <a:lnSpc>
                <a:spcPct val="150000"/>
              </a:lnSpc>
              <a:buClr>
                <a:schemeClr val="accent1">
                  <a:lumMod val="75000"/>
                </a:schemeClr>
              </a:buClr>
              <a:buFont typeface="+mj-lt"/>
              <a:buAutoNum type="arabicPeriod"/>
            </a:pPr>
            <a:r>
              <a:rPr lang="bg-BG" sz="2400" dirty="0">
                <a:solidFill>
                  <a:schemeClr val="tx1">
                    <a:lumMod val="95000"/>
                    <a:lumOff val="5000"/>
                  </a:schemeClr>
                </a:solidFill>
              </a:rPr>
              <a:t>Преобразуване на задачата на нелинейното програмиране с ограничения в еквивалентна задача на линейното програмиране без ограничения.</a:t>
            </a:r>
          </a:p>
        </p:txBody>
      </p:sp>
      <p:sp>
        <p:nvSpPr>
          <p:cNvPr id="3" name="Rectangle 2"/>
          <p:cNvSpPr/>
          <p:nvPr/>
        </p:nvSpPr>
        <p:spPr>
          <a:xfrm>
            <a:off x="173925" y="-90019"/>
            <a:ext cx="6377836" cy="646331"/>
          </a:xfrm>
          <a:prstGeom prst="rect">
            <a:avLst/>
          </a:prstGeom>
        </p:spPr>
        <p:txBody>
          <a:bodyPr wrap="none">
            <a:spAutoFit/>
          </a:bodyPr>
          <a:lstStyle/>
          <a:p>
            <a:pPr algn="just">
              <a:lnSpc>
                <a:spcPct val="150000"/>
              </a:lnSpc>
              <a:spcAft>
                <a:spcPts val="0"/>
              </a:spcAft>
              <a:buClr>
                <a:schemeClr val="accent1">
                  <a:lumMod val="75000"/>
                </a:schemeClr>
              </a:buClr>
              <a:buSzPct val="85000"/>
              <a:defRPr/>
            </a:pPr>
            <a:r>
              <a:rPr lang="bg-BG" sz="2400" b="1" i="1" dirty="0">
                <a:latin typeface="Arial" panose="020B0604020202020204" pitchFamily="34" charset="0"/>
                <a:ea typeface="Times New Roman" panose="02020603050405020304" pitchFamily="18" charset="0"/>
              </a:rPr>
              <a:t>Методи за минимизация с ограничения</a:t>
            </a:r>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38350789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31</a:t>
            </a:fld>
            <a:endParaRPr lang="bg-BG" dirty="0"/>
          </a:p>
        </p:txBody>
      </p:sp>
      <p:sp>
        <p:nvSpPr>
          <p:cNvPr id="5" name="Rectangle 4"/>
          <p:cNvSpPr/>
          <p:nvPr/>
        </p:nvSpPr>
        <p:spPr>
          <a:xfrm>
            <a:off x="2183642" y="302989"/>
            <a:ext cx="9567080" cy="1200329"/>
          </a:xfrm>
          <a:prstGeom prst="rect">
            <a:avLst/>
          </a:prstGeom>
        </p:spPr>
        <p:txBody>
          <a:bodyPr wrap="square">
            <a:spAutoFit/>
          </a:bodyPr>
          <a:lstStyle/>
          <a:p>
            <a:pPr marL="457200" indent="-457200" algn="just">
              <a:lnSpc>
                <a:spcPct val="150000"/>
              </a:lnSpc>
              <a:buClr>
                <a:schemeClr val="accent1">
                  <a:lumMod val="75000"/>
                </a:schemeClr>
              </a:buClr>
              <a:buFont typeface="+mj-lt"/>
              <a:buAutoNum type="arabicPeriod" startAt="3"/>
            </a:pPr>
            <a:r>
              <a:rPr lang="bg-BG" sz="2400" dirty="0">
                <a:solidFill>
                  <a:schemeClr val="tx1">
                    <a:lumMod val="95000"/>
                    <a:lumOff val="5000"/>
                  </a:schemeClr>
                </a:solidFill>
              </a:rPr>
              <a:t>Използване на допускания, които позволяват да се решава задачата в недопустими точки, но близки до допустимите.</a:t>
            </a:r>
          </a:p>
        </p:txBody>
      </p:sp>
      <p:sp>
        <p:nvSpPr>
          <p:cNvPr id="6" name="Rectangle 5"/>
          <p:cNvSpPr/>
          <p:nvPr/>
        </p:nvSpPr>
        <p:spPr>
          <a:xfrm>
            <a:off x="2183642" y="1503318"/>
            <a:ext cx="9471545" cy="5152180"/>
          </a:xfrm>
          <a:prstGeom prst="rect">
            <a:avLst/>
          </a:prstGeom>
        </p:spPr>
        <p:txBody>
          <a:bodyPr wrap="square">
            <a:spAutoFit/>
          </a:bodyPr>
          <a:lstStyle/>
          <a:p>
            <a:pPr>
              <a:spcAft>
                <a:spcPts val="0"/>
              </a:spcAft>
            </a:pPr>
            <a:r>
              <a:rPr lang="bg-BG" sz="2400" b="1" i="1" dirty="0">
                <a:solidFill>
                  <a:schemeClr val="tx1">
                    <a:lumMod val="95000"/>
                    <a:lumOff val="5000"/>
                  </a:schemeClr>
                </a:solidFill>
              </a:rPr>
              <a:t>Методи на наказателните функции</a:t>
            </a:r>
          </a:p>
          <a:p>
            <a:pPr indent="531813" algn="just">
              <a:lnSpc>
                <a:spcPct val="140000"/>
              </a:lnSpc>
              <a:spcAft>
                <a:spcPts val="0"/>
              </a:spcAft>
            </a:pPr>
            <a:r>
              <a:rPr lang="bg-BG" dirty="0">
                <a:latin typeface="Arial" panose="020B0604020202020204" pitchFamily="34" charset="0"/>
                <a:ea typeface="Times New Roman" panose="02020603050405020304" pitchFamily="18" charset="0"/>
              </a:rPr>
              <a:t> </a:t>
            </a:r>
            <a:r>
              <a:rPr lang="bg-BG" sz="2400" dirty="0">
                <a:solidFill>
                  <a:schemeClr val="tx1">
                    <a:lumMod val="95000"/>
                    <a:lumOff val="5000"/>
                  </a:schemeClr>
                </a:solidFill>
              </a:rPr>
              <a:t>Методите на наказателните функции преобразуват задачата на нелинейното програмиране с ограничения в задача без ограничения чрез добавяне в целевата функция на наказателни членове.</a:t>
            </a:r>
          </a:p>
          <a:p>
            <a:pPr algn="just">
              <a:lnSpc>
                <a:spcPct val="150000"/>
              </a:lnSpc>
              <a:spcAft>
                <a:spcPts val="0"/>
              </a:spcAft>
            </a:pPr>
            <a:r>
              <a:rPr lang="bg-BG" sz="2400" b="1" i="1" dirty="0">
                <a:solidFill>
                  <a:schemeClr val="tx1">
                    <a:lumMod val="95000"/>
                    <a:lumOff val="5000"/>
                  </a:schemeClr>
                </a:solidFill>
              </a:rPr>
              <a:t>Пример:</a:t>
            </a:r>
          </a:p>
          <a:p>
            <a:pPr indent="531813" algn="just">
              <a:lnSpc>
                <a:spcPct val="140000"/>
              </a:lnSpc>
            </a:pPr>
            <a:r>
              <a:rPr lang="bg-BG" sz="2400" dirty="0">
                <a:solidFill>
                  <a:schemeClr val="tx1">
                    <a:lumMod val="95000"/>
                    <a:lumOff val="5000"/>
                  </a:schemeClr>
                </a:solidFill>
              </a:rPr>
              <a:t>Да се минимизира функцията</a:t>
            </a:r>
          </a:p>
          <a:p>
            <a:pPr indent="531813" algn="just">
              <a:lnSpc>
                <a:spcPct val="140000"/>
              </a:lnSpc>
            </a:pPr>
            <a:r>
              <a:rPr lang="bg-BG" sz="2400" dirty="0">
                <a:solidFill>
                  <a:schemeClr val="tx1">
                    <a:lumMod val="95000"/>
                    <a:lumOff val="5000"/>
                  </a:schemeClr>
                </a:solidFill>
              </a:rPr>
              <a:t>при ограничение </a:t>
            </a:r>
          </a:p>
          <a:p>
            <a:pPr indent="531813" algn="just">
              <a:lnSpc>
                <a:spcPct val="140000"/>
              </a:lnSpc>
            </a:pPr>
            <a:r>
              <a:rPr lang="bg-BG" sz="2400" dirty="0">
                <a:solidFill>
                  <a:schemeClr val="tx1">
                    <a:lumMod val="95000"/>
                    <a:lumOff val="5000"/>
                  </a:schemeClr>
                </a:solidFill>
              </a:rPr>
              <a:t>Нека прибавим		към целевата функция           . Тогава ще се получи нова целева функция</a:t>
            </a:r>
          </a:p>
        </p:txBody>
      </p:sp>
      <p:sp>
        <p:nvSpPr>
          <p:cNvPr id="7"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8" name="Object 7"/>
          <p:cNvGraphicFramePr>
            <a:graphicFrameLocks noChangeAspect="1"/>
          </p:cNvGraphicFramePr>
          <p:nvPr>
            <p:extLst>
              <p:ext uri="{D42A27DB-BD31-4B8C-83A1-F6EECF244321}">
                <p14:modId xmlns:p14="http://schemas.microsoft.com/office/powerpoint/2010/main" val="1070087122"/>
              </p:ext>
            </p:extLst>
          </p:nvPr>
        </p:nvGraphicFramePr>
        <p:xfrm>
          <a:off x="7095770" y="4570876"/>
          <a:ext cx="2976918" cy="399140"/>
        </p:xfrm>
        <a:graphic>
          <a:graphicData uri="http://schemas.openxmlformats.org/presentationml/2006/ole">
            <mc:AlternateContent xmlns:mc="http://schemas.openxmlformats.org/markup-compatibility/2006">
              <mc:Choice xmlns:v="urn:schemas-microsoft-com:vml" Requires="v">
                <p:oleObj spid="_x0000_s17415" r:id="rId3" imgW="1701800" imgH="228600" progId="Equation.3">
                  <p:embed/>
                </p:oleObj>
              </mc:Choice>
              <mc:Fallback>
                <p:oleObj r:id="rId3" imgW="1701800" imgH="2286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5770" y="4570876"/>
                        <a:ext cx="2976918" cy="399140"/>
                      </a:xfrm>
                      <a:prstGeom prst="rect">
                        <a:avLst/>
                      </a:prstGeom>
                      <a:noFill/>
                    </p:spPr>
                  </p:pic>
                </p:oleObj>
              </mc:Fallback>
            </mc:AlternateContent>
          </a:graphicData>
        </a:graphic>
      </p:graphicFrame>
      <p:sp>
        <p:nvSpPr>
          <p:cNvPr id="9" name="Rectangle 4"/>
          <p:cNvSpPr>
            <a:spLocks noChangeArrowheads="1"/>
          </p:cNvSpPr>
          <p:nvPr/>
        </p:nvSpPr>
        <p:spPr bwMode="auto">
          <a:xfrm>
            <a:off x="5390866" y="5104304"/>
            <a:ext cx="135045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graphicFrame>
        <p:nvGraphicFramePr>
          <p:cNvPr id="10" name="Object 9"/>
          <p:cNvGraphicFramePr>
            <a:graphicFrameLocks noChangeAspect="1"/>
          </p:cNvGraphicFramePr>
          <p:nvPr>
            <p:extLst>
              <p:ext uri="{D42A27DB-BD31-4B8C-83A1-F6EECF244321}">
                <p14:modId xmlns:p14="http://schemas.microsoft.com/office/powerpoint/2010/main" val="2305484199"/>
              </p:ext>
            </p:extLst>
          </p:nvPr>
        </p:nvGraphicFramePr>
        <p:xfrm>
          <a:off x="5390866" y="5104305"/>
          <a:ext cx="2677333" cy="436728"/>
        </p:xfrm>
        <a:graphic>
          <a:graphicData uri="http://schemas.openxmlformats.org/presentationml/2006/ole">
            <mc:AlternateContent xmlns:mc="http://schemas.openxmlformats.org/markup-compatibility/2006">
              <mc:Choice xmlns:v="urn:schemas-microsoft-com:vml" Requires="v">
                <p:oleObj spid="_x0000_s17416" r:id="rId5" imgW="1345616" imgH="215806" progId="Equation.3">
                  <p:embed/>
                </p:oleObj>
              </mc:Choice>
              <mc:Fallback>
                <p:oleObj r:id="rId5" imgW="1345616" imgH="215806"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0866" y="5104305"/>
                        <a:ext cx="2677333" cy="436728"/>
                      </a:xfrm>
                      <a:prstGeom prst="rect">
                        <a:avLst/>
                      </a:prstGeom>
                      <a:noFill/>
                    </p:spPr>
                  </p:pic>
                </p:oleObj>
              </mc:Fallback>
            </mc:AlternateContent>
          </a:graphicData>
        </a:graphic>
      </p:graphicFrame>
      <p:sp>
        <p:nvSpPr>
          <p:cNvPr id="11"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2" name="Object 11"/>
          <p:cNvGraphicFramePr>
            <a:graphicFrameLocks noChangeAspect="1"/>
          </p:cNvGraphicFramePr>
          <p:nvPr>
            <p:extLst>
              <p:ext uri="{D42A27DB-BD31-4B8C-83A1-F6EECF244321}">
                <p14:modId xmlns:p14="http://schemas.microsoft.com/office/powerpoint/2010/main" val="629919049"/>
              </p:ext>
            </p:extLst>
          </p:nvPr>
        </p:nvGraphicFramePr>
        <p:xfrm>
          <a:off x="5043487" y="5569609"/>
          <a:ext cx="878681" cy="514350"/>
        </p:xfrm>
        <a:graphic>
          <a:graphicData uri="http://schemas.openxmlformats.org/presentationml/2006/ole">
            <mc:AlternateContent xmlns:mc="http://schemas.openxmlformats.org/markup-compatibility/2006">
              <mc:Choice xmlns:v="urn:schemas-microsoft-com:vml" Requires="v">
                <p:oleObj spid="_x0000_s17417" r:id="rId7" imgW="393529" imgH="228501" progId="Equation.3">
                  <p:embed/>
                </p:oleObj>
              </mc:Choice>
              <mc:Fallback>
                <p:oleObj r:id="rId7" imgW="393529" imgH="228501"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43487" y="5569609"/>
                        <a:ext cx="878681" cy="514350"/>
                      </a:xfrm>
                      <a:prstGeom prst="rect">
                        <a:avLst/>
                      </a:prstGeom>
                      <a:noFill/>
                    </p:spPr>
                  </p:pic>
                </p:oleObj>
              </mc:Fallback>
            </mc:AlternateContent>
          </a:graphicData>
        </a:graphic>
      </p:graphicFrame>
      <p:sp>
        <p:nvSpPr>
          <p:cNvPr id="13"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4" name="Object 13"/>
          <p:cNvGraphicFramePr>
            <a:graphicFrameLocks noChangeAspect="1"/>
          </p:cNvGraphicFramePr>
          <p:nvPr>
            <p:extLst>
              <p:ext uri="{D42A27DB-BD31-4B8C-83A1-F6EECF244321}">
                <p14:modId xmlns:p14="http://schemas.microsoft.com/office/powerpoint/2010/main" val="2350819147"/>
              </p:ext>
            </p:extLst>
          </p:nvPr>
        </p:nvGraphicFramePr>
        <p:xfrm>
          <a:off x="9147195" y="5623049"/>
          <a:ext cx="790132" cy="460910"/>
        </p:xfrm>
        <a:graphic>
          <a:graphicData uri="http://schemas.openxmlformats.org/presentationml/2006/ole">
            <mc:AlternateContent xmlns:mc="http://schemas.openxmlformats.org/markup-compatibility/2006">
              <mc:Choice xmlns:v="urn:schemas-microsoft-com:vml" Requires="v">
                <p:oleObj spid="_x0000_s17418" r:id="rId9" imgW="342751" imgH="203112" progId="Equation.3">
                  <p:embed/>
                </p:oleObj>
              </mc:Choice>
              <mc:Fallback>
                <p:oleObj r:id="rId9" imgW="342751" imgH="203112"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47195" y="5623049"/>
                        <a:ext cx="790132" cy="460910"/>
                      </a:xfrm>
                      <a:prstGeom prst="rect">
                        <a:avLst/>
                      </a:prstGeom>
                      <a:noFill/>
                    </p:spPr>
                  </p:pic>
                </p:oleObj>
              </mc:Fallback>
            </mc:AlternateContent>
          </a:graphicData>
        </a:graphic>
      </p:graphicFrame>
      <p:sp>
        <p:nvSpPr>
          <p:cNvPr id="15" name="Rectangle 1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7" name="Object 16"/>
          <p:cNvGraphicFramePr>
            <a:graphicFrameLocks noChangeAspect="1"/>
          </p:cNvGraphicFramePr>
          <p:nvPr>
            <p:extLst>
              <p:ext uri="{D42A27DB-BD31-4B8C-83A1-F6EECF244321}">
                <p14:modId xmlns:p14="http://schemas.microsoft.com/office/powerpoint/2010/main" val="1369635168"/>
              </p:ext>
            </p:extLst>
          </p:nvPr>
        </p:nvGraphicFramePr>
        <p:xfrm>
          <a:off x="6729532" y="6073391"/>
          <a:ext cx="5271968" cy="483594"/>
        </p:xfrm>
        <a:graphic>
          <a:graphicData uri="http://schemas.openxmlformats.org/presentationml/2006/ole">
            <mc:AlternateContent xmlns:mc="http://schemas.openxmlformats.org/markup-compatibility/2006">
              <mc:Choice xmlns:v="urn:schemas-microsoft-com:vml" Requires="v">
                <p:oleObj spid="_x0000_s17419" r:id="rId11" imgW="2654300" imgH="228600" progId="Equation.3">
                  <p:embed/>
                </p:oleObj>
              </mc:Choice>
              <mc:Fallback>
                <p:oleObj r:id="rId11" imgW="2654300" imgH="228600" progId="Equation.3">
                  <p:embed/>
                  <p:pic>
                    <p:nvPicPr>
                      <p:cNvPr id="16"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29532" y="6073391"/>
                        <a:ext cx="5271968" cy="483594"/>
                      </a:xfrm>
                      <a:prstGeom prst="rect">
                        <a:avLst/>
                      </a:prstGeom>
                      <a:noFill/>
                    </p:spPr>
                  </p:pic>
                </p:oleObj>
              </mc:Fallback>
            </mc:AlternateContent>
          </a:graphicData>
        </a:graphic>
      </p:graphicFrame>
    </p:spTree>
    <p:extLst>
      <p:ext uri="{BB962C8B-B14F-4D97-AF65-F5344CB8AC3E}">
        <p14:creationId xmlns:p14="http://schemas.microsoft.com/office/powerpoint/2010/main" val="35476066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32</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
          <p:cNvSpPr/>
          <p:nvPr/>
        </p:nvSpPr>
        <p:spPr>
          <a:xfrm>
            <a:off x="1924334" y="-1"/>
            <a:ext cx="10267666" cy="6968061"/>
          </a:xfrm>
          <a:prstGeom prst="rect">
            <a:avLst/>
          </a:prstGeom>
        </p:spPr>
        <p:txBody>
          <a:bodyPr wrap="square">
            <a:spAutoFit/>
          </a:bodyPr>
          <a:lstStyle/>
          <a:p>
            <a:pPr indent="531813" algn="just">
              <a:lnSpc>
                <a:spcPct val="130000"/>
              </a:lnSpc>
            </a:pPr>
            <a:r>
              <a:rPr lang="bg-BG" sz="2400" dirty="0">
                <a:solidFill>
                  <a:schemeClr val="tx1">
                    <a:lumMod val="95000"/>
                    <a:lumOff val="5000"/>
                  </a:schemeClr>
                </a:solidFill>
              </a:rPr>
              <a:t>Тук          играе ролята на наказателна част. В процеса на минимизация на  </a:t>
            </a:r>
            <a:r>
              <a:rPr lang="en-US" sz="2400" dirty="0">
                <a:solidFill>
                  <a:schemeClr val="tx1">
                    <a:lumMod val="95000"/>
                    <a:lumOff val="5000"/>
                  </a:schemeClr>
                </a:solidFill>
              </a:rPr>
              <a:t>P</a:t>
            </a:r>
            <a:r>
              <a:rPr lang="ru-RU" sz="2400" dirty="0">
                <a:solidFill>
                  <a:schemeClr val="tx1">
                    <a:lumMod val="95000"/>
                    <a:lumOff val="5000"/>
                  </a:schemeClr>
                </a:solidFill>
              </a:rPr>
              <a:t>(</a:t>
            </a:r>
            <a:r>
              <a:rPr lang="en-US" sz="2400" dirty="0">
                <a:solidFill>
                  <a:schemeClr val="tx1">
                    <a:lumMod val="95000"/>
                    <a:lumOff val="5000"/>
                  </a:schemeClr>
                </a:solidFill>
              </a:rPr>
              <a:t>x</a:t>
            </a:r>
            <a:r>
              <a:rPr lang="ru-RU" sz="2400" dirty="0">
                <a:solidFill>
                  <a:schemeClr val="tx1">
                    <a:lumMod val="95000"/>
                    <a:lumOff val="5000"/>
                  </a:schemeClr>
                </a:solidFill>
              </a:rPr>
              <a:t>) </a:t>
            </a:r>
            <a:r>
              <a:rPr lang="bg-BG" sz="2400" dirty="0">
                <a:solidFill>
                  <a:schemeClr val="tx1">
                    <a:lumMod val="95000"/>
                    <a:lumOff val="5000"/>
                  </a:schemeClr>
                </a:solidFill>
              </a:rPr>
              <a:t>се търси минимум, но без ограничения. При достигане на минимума, ще се удовлетвори и ограничението. При използване на методите на наказателните функции се получава максимален оптимизиращ ефект за сметка на постоянния компромис между необходимостта от удовлетворяване на ограниченията и процеса на минимизация, ако се въведат тегловни коефициенти на членовете на целевата функция и ограниченията. </a:t>
            </a:r>
          </a:p>
          <a:p>
            <a:pPr indent="531813" algn="just">
              <a:lnSpc>
                <a:spcPct val="130000"/>
              </a:lnSpc>
              <a:spcBef>
                <a:spcPts val="1200"/>
              </a:spcBef>
            </a:pPr>
            <a:r>
              <a:rPr lang="bg-BG" sz="2400" dirty="0">
                <a:solidFill>
                  <a:schemeClr val="tx1">
                    <a:lumMod val="95000"/>
                    <a:lumOff val="5000"/>
                  </a:schemeClr>
                </a:solidFill>
              </a:rPr>
              <a:t>Методите на наказателните функции се разделят на два класа: параметрични методи и непараметрични методи. Параметричните методи използват параметри, които влизат в структурата на наказателната функция като тегловни коефициенти. Наказателната функция не позволява компонентите на вектора </a:t>
            </a:r>
            <a:r>
              <a:rPr lang="en-US" sz="2400" dirty="0">
                <a:solidFill>
                  <a:schemeClr val="tx1">
                    <a:lumMod val="95000"/>
                    <a:lumOff val="5000"/>
                  </a:schemeClr>
                </a:solidFill>
              </a:rPr>
              <a:t>x</a:t>
            </a:r>
            <a:r>
              <a:rPr lang="bg-BG" sz="2400" dirty="0">
                <a:solidFill>
                  <a:schemeClr val="tx1">
                    <a:lumMod val="95000"/>
                    <a:lumOff val="5000"/>
                  </a:schemeClr>
                </a:solidFill>
              </a:rPr>
              <a:t> да се отдалечат от допустимите им стойности. </a:t>
            </a:r>
          </a:p>
        </p:txBody>
      </p:sp>
      <p:graphicFrame>
        <p:nvGraphicFramePr>
          <p:cNvPr id="8" name="Object 7"/>
          <p:cNvGraphicFramePr>
            <a:graphicFrameLocks noChangeAspect="1"/>
          </p:cNvGraphicFramePr>
          <p:nvPr>
            <p:extLst>
              <p:ext uri="{D42A27DB-BD31-4B8C-83A1-F6EECF244321}">
                <p14:modId xmlns:p14="http://schemas.microsoft.com/office/powerpoint/2010/main" val="1879166444"/>
              </p:ext>
            </p:extLst>
          </p:nvPr>
        </p:nvGraphicFramePr>
        <p:xfrm>
          <a:off x="3472271" y="45718"/>
          <a:ext cx="878681" cy="514350"/>
        </p:xfrm>
        <a:graphic>
          <a:graphicData uri="http://schemas.openxmlformats.org/presentationml/2006/ole">
            <mc:AlternateContent xmlns:mc="http://schemas.openxmlformats.org/markup-compatibility/2006">
              <mc:Choice xmlns:v="urn:schemas-microsoft-com:vml" Requires="v">
                <p:oleObj spid="_x0000_s18436" r:id="rId4" imgW="393529" imgH="228501" progId="Equation.3">
                  <p:embed/>
                </p:oleObj>
              </mc:Choice>
              <mc:Fallback>
                <p:oleObj r:id="rId4" imgW="393529" imgH="228501" progId="Equation.3">
                  <p:embed/>
                  <p:pic>
                    <p:nvPicPr>
                      <p:cNvPr id="12"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2271" y="45718"/>
                        <a:ext cx="878681" cy="514350"/>
                      </a:xfrm>
                      <a:prstGeom prst="rect">
                        <a:avLst/>
                      </a:prstGeom>
                      <a:noFill/>
                    </p:spPr>
                  </p:pic>
                </p:oleObj>
              </mc:Fallback>
            </mc:AlternateContent>
          </a:graphicData>
        </a:graphic>
      </p:graphicFrame>
      <p:sp>
        <p:nvSpPr>
          <p:cNvPr id="6" name="Rectangle 2"/>
          <p:cNvSpPr>
            <a:spLocks noChangeArrowheads="1"/>
          </p:cNvSpPr>
          <p:nvPr/>
        </p:nvSpPr>
        <p:spPr bwMode="auto">
          <a:xfrm>
            <a:off x="-1" y="-1"/>
            <a:ext cx="1389717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graphicFrame>
        <p:nvGraphicFramePr>
          <p:cNvPr id="9" name="Object 8"/>
          <p:cNvGraphicFramePr>
            <a:graphicFrameLocks noChangeAspect="1"/>
          </p:cNvGraphicFramePr>
          <p:nvPr>
            <p:extLst>
              <p:ext uri="{D42A27DB-BD31-4B8C-83A1-F6EECF244321}">
                <p14:modId xmlns:p14="http://schemas.microsoft.com/office/powerpoint/2010/main" val="4187661123"/>
              </p:ext>
            </p:extLst>
          </p:nvPr>
        </p:nvGraphicFramePr>
        <p:xfrm>
          <a:off x="4373734" y="3704090"/>
          <a:ext cx="5368866" cy="411670"/>
        </p:xfrm>
        <a:graphic>
          <a:graphicData uri="http://schemas.openxmlformats.org/presentationml/2006/ole">
            <mc:AlternateContent xmlns:mc="http://schemas.openxmlformats.org/markup-compatibility/2006">
              <mc:Choice xmlns:v="urn:schemas-microsoft-com:vml" Requires="v">
                <p:oleObj spid="_x0000_s18437" r:id="rId6" imgW="2984500" imgH="228600" progId="Equation.3">
                  <p:embed/>
                </p:oleObj>
              </mc:Choice>
              <mc:Fallback>
                <p:oleObj r:id="rId6" imgW="2984500" imgH="228600" progId="Equation.3">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73734" y="3704090"/>
                        <a:ext cx="5368866" cy="411670"/>
                      </a:xfrm>
                      <a:prstGeom prst="rect">
                        <a:avLst/>
                      </a:prstGeom>
                      <a:noFill/>
                    </p:spPr>
                  </p:pic>
                </p:oleObj>
              </mc:Fallback>
            </mc:AlternateContent>
          </a:graphicData>
        </a:graphic>
      </p:graphicFrame>
    </p:spTree>
    <p:extLst>
      <p:ext uri="{BB962C8B-B14F-4D97-AF65-F5344CB8AC3E}">
        <p14:creationId xmlns:p14="http://schemas.microsoft.com/office/powerpoint/2010/main" val="9583073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33</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
          <p:cNvSpPr/>
          <p:nvPr/>
        </p:nvSpPr>
        <p:spPr>
          <a:xfrm>
            <a:off x="2032000" y="159940"/>
            <a:ext cx="5344733" cy="461665"/>
          </a:xfrm>
          <a:prstGeom prst="rect">
            <a:avLst/>
          </a:prstGeom>
        </p:spPr>
        <p:txBody>
          <a:bodyPr wrap="none">
            <a:spAutoFit/>
          </a:bodyPr>
          <a:lstStyle/>
          <a:p>
            <a:r>
              <a:rPr lang="bg-BG" sz="2400" b="1" i="1" dirty="0">
                <a:solidFill>
                  <a:schemeClr val="tx1">
                    <a:lumMod val="95000"/>
                    <a:lumOff val="5000"/>
                  </a:schemeClr>
                </a:solidFill>
              </a:rPr>
              <a:t>Многокритериална оптимизация </a:t>
            </a:r>
          </a:p>
        </p:txBody>
      </p:sp>
      <p:sp>
        <p:nvSpPr>
          <p:cNvPr id="3" name="Rectangle 2"/>
          <p:cNvSpPr/>
          <p:nvPr/>
        </p:nvSpPr>
        <p:spPr>
          <a:xfrm>
            <a:off x="2032000" y="621605"/>
            <a:ext cx="9909791" cy="5853910"/>
          </a:xfrm>
          <a:prstGeom prst="rect">
            <a:avLst/>
          </a:prstGeom>
        </p:spPr>
        <p:txBody>
          <a:bodyPr wrap="square">
            <a:spAutoFit/>
          </a:bodyPr>
          <a:lstStyle/>
          <a:p>
            <a:pPr indent="531813" algn="just">
              <a:lnSpc>
                <a:spcPct val="130000"/>
              </a:lnSpc>
            </a:pPr>
            <a:r>
              <a:rPr lang="bg-BG" sz="2400" dirty="0">
                <a:solidFill>
                  <a:schemeClr val="tx1">
                    <a:lumMod val="95000"/>
                    <a:lumOff val="5000"/>
                  </a:schemeClr>
                </a:solidFill>
              </a:rPr>
              <a:t>При реална оптимизация на системи могат да съществуват множество алтернативи за вземане на оптимално решение (най-бързо и най-евтино). Въвеждането на показатели или критерии за оценка и избор на определена алтернатива често е свързана с решаване на многокритериална (векторна) задача на математическото програмиране. За първи път този проблем е поставен от италианския учен В. Парето.</a:t>
            </a:r>
          </a:p>
          <a:p>
            <a:pPr indent="531813" algn="just">
              <a:lnSpc>
                <a:spcPct val="130000"/>
              </a:lnSpc>
            </a:pPr>
            <a:r>
              <a:rPr lang="bg-BG" sz="2400" dirty="0">
                <a:solidFill>
                  <a:schemeClr val="tx1">
                    <a:lumMod val="95000"/>
                    <a:lumOff val="5000"/>
                  </a:schemeClr>
                </a:solidFill>
              </a:rPr>
              <a:t>Множеството от критерии се нарича векторен критерий или векторна целева функция. </a:t>
            </a:r>
          </a:p>
          <a:p>
            <a:pPr indent="531813" algn="just">
              <a:lnSpc>
                <a:spcPct val="130000"/>
              </a:lnSpc>
            </a:pPr>
            <a:endParaRPr lang="bg-BG" sz="2400" dirty="0">
              <a:solidFill>
                <a:schemeClr val="tx1">
                  <a:lumMod val="95000"/>
                  <a:lumOff val="5000"/>
                </a:schemeClr>
              </a:solidFill>
            </a:endParaRPr>
          </a:p>
          <a:p>
            <a:pPr indent="531813" algn="just">
              <a:lnSpc>
                <a:spcPct val="130000"/>
              </a:lnSpc>
            </a:pPr>
            <a:r>
              <a:rPr lang="bg-BG" sz="2400" dirty="0">
                <a:solidFill>
                  <a:schemeClr val="tx1">
                    <a:lumMod val="95000"/>
                    <a:lumOff val="5000"/>
                  </a:schemeClr>
                </a:solidFill>
              </a:rPr>
              <a:t>Предполага се, че всяка компонента е насочена към  увеличаване (максимизация) на стойността си. </a:t>
            </a: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7" name="Object 6"/>
          <p:cNvGraphicFramePr>
            <a:graphicFrameLocks noChangeAspect="1"/>
          </p:cNvGraphicFramePr>
          <p:nvPr>
            <p:extLst>
              <p:ext uri="{D42A27DB-BD31-4B8C-83A1-F6EECF244321}">
                <p14:modId xmlns:p14="http://schemas.microsoft.com/office/powerpoint/2010/main" val="2568813917"/>
              </p:ext>
            </p:extLst>
          </p:nvPr>
        </p:nvGraphicFramePr>
        <p:xfrm>
          <a:off x="3408300" y="4967784"/>
          <a:ext cx="3674888" cy="471643"/>
        </p:xfrm>
        <a:graphic>
          <a:graphicData uri="http://schemas.openxmlformats.org/presentationml/2006/ole">
            <mc:AlternateContent xmlns:mc="http://schemas.openxmlformats.org/markup-compatibility/2006">
              <mc:Choice xmlns:v="urn:schemas-microsoft-com:vml" Requires="v">
                <p:oleObj spid="_x0000_s19459" r:id="rId4" imgW="1778000" imgH="228600" progId="Equation.3">
                  <p:embed/>
                </p:oleObj>
              </mc:Choice>
              <mc:Fallback>
                <p:oleObj r:id="rId4" imgW="1778000" imgH="2286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8300" y="4967784"/>
                        <a:ext cx="3674888" cy="471643"/>
                      </a:xfrm>
                      <a:prstGeom prst="rect">
                        <a:avLst/>
                      </a:prstGeom>
                      <a:noFill/>
                    </p:spPr>
                  </p:pic>
                </p:oleObj>
              </mc:Fallback>
            </mc:AlternateContent>
          </a:graphicData>
        </a:graphic>
      </p:graphicFrame>
    </p:spTree>
    <p:extLst>
      <p:ext uri="{BB962C8B-B14F-4D97-AF65-F5344CB8AC3E}">
        <p14:creationId xmlns:p14="http://schemas.microsoft.com/office/powerpoint/2010/main" val="1853266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34</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mc:AlternateContent xmlns:mc="http://schemas.openxmlformats.org/markup-compatibility/2006" xmlns:a14="http://schemas.microsoft.com/office/drawing/2010/main">
        <mc:Choice Requires="a14">
          <p:sp>
            <p:nvSpPr>
              <p:cNvPr id="2" name="Rectangle 1"/>
              <p:cNvSpPr/>
              <p:nvPr/>
            </p:nvSpPr>
            <p:spPr>
              <a:xfrm>
                <a:off x="2031999" y="-103906"/>
                <a:ext cx="10160001" cy="6961906"/>
              </a:xfrm>
              <a:prstGeom prst="rect">
                <a:avLst/>
              </a:prstGeom>
            </p:spPr>
            <p:txBody>
              <a:bodyPr wrap="square">
                <a:spAutoFit/>
              </a:bodyPr>
              <a:lstStyle/>
              <a:p>
                <a:pPr algn="just">
                  <a:lnSpc>
                    <a:spcPct val="130000"/>
                  </a:lnSpc>
                </a:pPr>
                <a:r>
                  <a:rPr lang="bg-BG" sz="2400" dirty="0">
                    <a:solidFill>
                      <a:schemeClr val="tx1">
                        <a:lumMod val="95000"/>
                        <a:lumOff val="5000"/>
                      </a:schemeClr>
                    </a:solidFill>
                  </a:rPr>
                  <a:t>При векторна оптимизация, ако един от критериите е достигнал своята оптимална стойност, то не могат да се подобрят другите компоненти на векторния критерий. Следователно решението на векторната задача е някакво компромисно решение, което удовлетворява в някакъв смисъл всички компоненти на векторния критерий.</a:t>
                </a:r>
              </a:p>
              <a:p>
                <a:pPr indent="531813" algn="just">
                  <a:lnSpc>
                    <a:spcPct val="130000"/>
                  </a:lnSpc>
                </a:pPr>
                <a:r>
                  <a:rPr lang="bg-BG" sz="2400" dirty="0">
                    <a:solidFill>
                      <a:schemeClr val="tx1">
                        <a:lumMod val="95000"/>
                        <a:lumOff val="5000"/>
                      </a:schemeClr>
                    </a:solidFill>
                  </a:rPr>
                  <a:t>Определението за оптималност е следното: Във векторната задача на математическото програмиране точката 		е оптимална по Парето, ако тя е допустима и не съществува друга точка </a:t>
                </a:r>
                <a14:m>
                  <m:oMath xmlns:m="http://schemas.openxmlformats.org/officeDocument/2006/math">
                    <m:sSup>
                      <m:sSupPr>
                        <m:ctrlPr>
                          <a:rPr lang="bg-BG" sz="2400" i="1" smtClean="0">
                            <a:solidFill>
                              <a:schemeClr val="tx1">
                                <a:lumMod val="95000"/>
                                <a:lumOff val="5000"/>
                              </a:schemeClr>
                            </a:solidFill>
                            <a:latin typeface="Cambria Math"/>
                          </a:rPr>
                        </m:ctrlPr>
                      </m:sSupPr>
                      <m:e>
                        <m:r>
                          <a:rPr lang="en-US" sz="2400" b="0" i="1" smtClean="0">
                            <a:solidFill>
                              <a:schemeClr val="tx1">
                                <a:lumMod val="95000"/>
                                <a:lumOff val="5000"/>
                              </a:schemeClr>
                            </a:solidFill>
                            <a:latin typeface="Cambria Math" panose="02040503050406030204" pitchFamily="18" charset="0"/>
                          </a:rPr>
                          <m:t>𝑥</m:t>
                        </m:r>
                      </m:e>
                      <m:sup>
                        <m:r>
                          <a:rPr lang="en-US" sz="2400" b="0" i="1" smtClean="0">
                            <a:solidFill>
                              <a:schemeClr val="tx1">
                                <a:lumMod val="95000"/>
                                <a:lumOff val="5000"/>
                              </a:schemeClr>
                            </a:solidFill>
                            <a:latin typeface="Cambria Math" panose="02040503050406030204" pitchFamily="18" charset="0"/>
                          </a:rPr>
                          <m:t>′</m:t>
                        </m:r>
                      </m:sup>
                    </m:sSup>
                  </m:oMath>
                </a14:m>
                <a:r>
                  <a:rPr lang="en-US" sz="2400" dirty="0">
                    <a:solidFill>
                      <a:schemeClr val="tx1">
                        <a:lumMod val="95000"/>
                        <a:lumOff val="5000"/>
                      </a:schemeClr>
                    </a:solidFill>
                  </a:rPr>
                  <a:t> , </a:t>
                </a:r>
                <a:r>
                  <a:rPr lang="bg-BG" sz="2400" dirty="0">
                    <a:solidFill>
                      <a:schemeClr val="tx1">
                        <a:lumMod val="95000"/>
                        <a:lumOff val="5000"/>
                      </a:schemeClr>
                    </a:solidFill>
                  </a:rPr>
                  <a:t>за която</a:t>
                </a:r>
                <a:r>
                  <a:rPr lang="en-US" sz="2400" dirty="0">
                    <a:solidFill>
                      <a:schemeClr val="tx1">
                        <a:lumMod val="95000"/>
                        <a:lumOff val="5000"/>
                      </a:schemeClr>
                    </a:solidFill>
                  </a:rPr>
                  <a:t>                                                </a:t>
                </a:r>
              </a:p>
              <a:p>
                <a:pPr indent="531813" algn="just">
                  <a:lnSpc>
                    <a:spcPct val="130000"/>
                  </a:lnSpc>
                </a:pPr>
                <a:r>
                  <a:rPr lang="en-US" sz="2400" dirty="0">
                    <a:solidFill>
                      <a:schemeClr val="tx1">
                        <a:lumMod val="95000"/>
                        <a:lumOff val="5000"/>
                      </a:schemeClr>
                    </a:solidFill>
                  </a:rPr>
                  <a:t>                                        </a:t>
                </a:r>
                <a:r>
                  <a:rPr lang="bg-BG" sz="2400" dirty="0">
                    <a:solidFill>
                      <a:schemeClr val="tx1">
                        <a:lumMod val="95000"/>
                        <a:lumOff val="5000"/>
                      </a:schemeClr>
                    </a:solidFill>
                  </a:rPr>
                  <a:t>и строгото неравенство се изпълнява поне за един от критериите. Множеството от такива точки се нарича множество от точки, оптимални по Парето.</a:t>
                </a:r>
              </a:p>
              <a:p>
                <a:pPr indent="542925" algn="just"/>
                <a:r>
                  <a:rPr lang="bg-BG" sz="2400" dirty="0">
                    <a:solidFill>
                      <a:schemeClr val="tx1">
                        <a:lumMod val="95000"/>
                        <a:lumOff val="5000"/>
                      </a:schemeClr>
                    </a:solidFill>
                  </a:rPr>
                  <a:t>При решаване на векторни оптимизационни задача стремежът е попадане в точка на оптималност по Парето, като се отчита важността на критериите.</a:t>
                </a:r>
                <a:r>
                  <a:rPr lang="en-US" sz="2400" dirty="0">
                    <a:solidFill>
                      <a:schemeClr val="tx1">
                        <a:lumMod val="95000"/>
                        <a:lumOff val="5000"/>
                      </a:schemeClr>
                    </a:solidFill>
                  </a:rPr>
                  <a:t>	</a:t>
                </a:r>
                <a:endParaRPr lang="bg-BG" sz="2400" dirty="0">
                  <a:solidFill>
                    <a:schemeClr val="tx1">
                      <a:lumMod val="95000"/>
                      <a:lumOff val="5000"/>
                    </a:schemeClr>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2031999" y="-103906"/>
                <a:ext cx="10160001" cy="6961906"/>
              </a:xfrm>
              <a:prstGeom prst="rect">
                <a:avLst/>
              </a:prstGeom>
              <a:blipFill>
                <a:blip r:embed="rId4"/>
                <a:stretch>
                  <a:fillRect l="-900" r="-900" b="-963"/>
                </a:stretch>
              </a:blipFill>
            </p:spPr>
            <p:txBody>
              <a:bodyPr/>
              <a:lstStyle/>
              <a:p>
                <a:r>
                  <a:rPr lang="bg-BG">
                    <a:noFill/>
                  </a:rPr>
                  <a:t> </a:t>
                </a:r>
              </a:p>
            </p:txBody>
          </p:sp>
        </mc:Fallback>
      </mc:AlternateContent>
      <p:sp>
        <p:nvSpPr>
          <p:cNvPr id="3" name="Rectangle 2"/>
          <p:cNvSpPr>
            <a:spLocks noChangeArrowheads="1"/>
          </p:cNvSpPr>
          <p:nvPr/>
        </p:nvSpPr>
        <p:spPr bwMode="auto">
          <a:xfrm>
            <a:off x="0" y="-1"/>
            <a:ext cx="1902193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graphicFrame>
        <p:nvGraphicFramePr>
          <p:cNvPr id="6" name="Object 5"/>
          <p:cNvGraphicFramePr>
            <a:graphicFrameLocks noChangeAspect="1"/>
          </p:cNvGraphicFramePr>
          <p:nvPr>
            <p:extLst>
              <p:ext uri="{D42A27DB-BD31-4B8C-83A1-F6EECF244321}">
                <p14:modId xmlns:p14="http://schemas.microsoft.com/office/powerpoint/2010/main" val="541268721"/>
              </p:ext>
            </p:extLst>
          </p:nvPr>
        </p:nvGraphicFramePr>
        <p:xfrm>
          <a:off x="8358185" y="3248463"/>
          <a:ext cx="1040947" cy="485775"/>
        </p:xfrm>
        <a:graphic>
          <a:graphicData uri="http://schemas.openxmlformats.org/presentationml/2006/ole">
            <mc:AlternateContent xmlns:mc="http://schemas.openxmlformats.org/markup-compatibility/2006">
              <mc:Choice xmlns:v="urn:schemas-microsoft-com:vml" Requires="v">
                <p:oleObj spid="_x0000_s20484" r:id="rId5" imgW="431613" imgH="203112" progId="Equation.3">
                  <p:embed/>
                </p:oleObj>
              </mc:Choice>
              <mc:Fallback>
                <p:oleObj r:id="rId5" imgW="431613" imgH="203112"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58185" y="3248463"/>
                        <a:ext cx="1040947" cy="485775"/>
                      </a:xfrm>
                      <a:prstGeom prst="rect">
                        <a:avLst/>
                      </a:prstGeom>
                      <a:noFill/>
                    </p:spPr>
                  </p:pic>
                </p:oleObj>
              </mc:Fallback>
            </mc:AlternateContent>
          </a:graphicData>
        </a:graphic>
      </p:graphicFrame>
      <p:sp>
        <p:nvSpPr>
          <p:cNvPr id="7"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8" name="Object 7"/>
          <p:cNvGraphicFramePr>
            <a:graphicFrameLocks noChangeAspect="1"/>
          </p:cNvGraphicFramePr>
          <p:nvPr>
            <p:extLst>
              <p:ext uri="{D42A27DB-BD31-4B8C-83A1-F6EECF244321}">
                <p14:modId xmlns:p14="http://schemas.microsoft.com/office/powerpoint/2010/main" val="1986678807"/>
              </p:ext>
            </p:extLst>
          </p:nvPr>
        </p:nvGraphicFramePr>
        <p:xfrm>
          <a:off x="2137938" y="4153119"/>
          <a:ext cx="3518154" cy="514350"/>
        </p:xfrm>
        <a:graphic>
          <a:graphicData uri="http://schemas.openxmlformats.org/presentationml/2006/ole">
            <mc:AlternateContent xmlns:mc="http://schemas.openxmlformats.org/markup-compatibility/2006">
              <mc:Choice xmlns:v="urn:schemas-microsoft-com:vml" Requires="v">
                <p:oleObj spid="_x0000_s20485" r:id="rId7" imgW="1625600" imgH="241300" progId="Equation.3">
                  <p:embed/>
                </p:oleObj>
              </mc:Choice>
              <mc:Fallback>
                <p:oleObj r:id="rId7" imgW="1625600" imgH="2413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7938" y="4153119"/>
                        <a:ext cx="3518154" cy="514350"/>
                      </a:xfrm>
                      <a:prstGeom prst="rect">
                        <a:avLst/>
                      </a:prstGeom>
                      <a:noFill/>
                    </p:spPr>
                  </p:pic>
                </p:oleObj>
              </mc:Fallback>
            </mc:AlternateContent>
          </a:graphicData>
        </a:graphic>
      </p:graphicFrame>
    </p:spTree>
    <p:extLst>
      <p:ext uri="{BB962C8B-B14F-4D97-AF65-F5344CB8AC3E}">
        <p14:creationId xmlns:p14="http://schemas.microsoft.com/office/powerpoint/2010/main" val="3319321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35</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
          <p:cNvSpPr/>
          <p:nvPr/>
        </p:nvSpPr>
        <p:spPr>
          <a:xfrm>
            <a:off x="2160894" y="73832"/>
            <a:ext cx="9835487" cy="1052596"/>
          </a:xfrm>
          <a:prstGeom prst="rect">
            <a:avLst/>
          </a:prstGeom>
        </p:spPr>
        <p:txBody>
          <a:bodyPr wrap="square">
            <a:spAutoFit/>
          </a:bodyPr>
          <a:lstStyle/>
          <a:p>
            <a:pPr indent="531813" algn="just">
              <a:lnSpc>
                <a:spcPct val="130000"/>
              </a:lnSpc>
            </a:pPr>
            <a:r>
              <a:rPr lang="bg-BG" sz="2400" dirty="0">
                <a:solidFill>
                  <a:schemeClr val="tx1">
                    <a:lumMod val="95000"/>
                    <a:lumOff val="5000"/>
                  </a:schemeClr>
                </a:solidFill>
              </a:rPr>
              <a:t>Какви проблеми трябва да се решат преди решаване на векторната оптимизационна задача?</a:t>
            </a:r>
          </a:p>
        </p:txBody>
      </p:sp>
      <p:sp>
        <p:nvSpPr>
          <p:cNvPr id="3" name="Rectangle 2"/>
          <p:cNvSpPr/>
          <p:nvPr/>
        </p:nvSpPr>
        <p:spPr>
          <a:xfrm>
            <a:off x="2579427" y="1044540"/>
            <a:ext cx="9416954" cy="5853910"/>
          </a:xfrm>
          <a:prstGeom prst="rect">
            <a:avLst/>
          </a:prstGeom>
        </p:spPr>
        <p:txBody>
          <a:bodyPr wrap="square">
            <a:spAutoFit/>
          </a:bodyPr>
          <a:lstStyle/>
          <a:p>
            <a:pPr lvl="0" indent="531813" algn="just">
              <a:lnSpc>
                <a:spcPct val="130000"/>
              </a:lnSpc>
              <a:spcAft>
                <a:spcPts val="0"/>
              </a:spcAft>
              <a:buClr>
                <a:schemeClr val="accent1">
                  <a:lumMod val="75000"/>
                </a:schemeClr>
              </a:buClr>
              <a:buFont typeface="+mj-lt"/>
              <a:buAutoNum type="arabicPeriod"/>
              <a:tabLst>
                <a:tab pos="228600" algn="l"/>
              </a:tabLst>
            </a:pPr>
            <a:r>
              <a:rPr lang="bg-BG" sz="2400" i="1" dirty="0">
                <a:solidFill>
                  <a:schemeClr val="tx1">
                    <a:lumMod val="95000"/>
                    <a:lumOff val="5000"/>
                  </a:schemeClr>
                </a:solidFill>
              </a:rPr>
              <a:t>Нормализация на критериите. </a:t>
            </a:r>
            <a:r>
              <a:rPr lang="bg-BG" sz="2400" dirty="0">
                <a:solidFill>
                  <a:schemeClr val="tx1">
                    <a:lumMod val="95000"/>
                    <a:lumOff val="5000"/>
                  </a:schemeClr>
                </a:solidFill>
              </a:rPr>
              <a:t>Различните критерии имат различен физически смисъл,  измерват се с различни единици и имат различен мащаб. Затова е невъзможно да се сравнят получените резултати за всеки критерий. Привеждането на всеки критерий към единен мащаб (обикновено безразмерен) се нарича нормализация.</a:t>
            </a:r>
          </a:p>
          <a:p>
            <a:pPr lvl="0" indent="531813" algn="just">
              <a:lnSpc>
                <a:spcPct val="130000"/>
              </a:lnSpc>
              <a:spcAft>
                <a:spcPts val="0"/>
              </a:spcAft>
              <a:buClr>
                <a:schemeClr val="accent1">
                  <a:lumMod val="75000"/>
                </a:schemeClr>
              </a:buClr>
              <a:buFont typeface="+mj-lt"/>
              <a:buAutoNum type="arabicPeriod"/>
              <a:tabLst>
                <a:tab pos="228600" algn="l"/>
              </a:tabLst>
            </a:pPr>
            <a:r>
              <a:rPr lang="bg-BG" sz="2400" i="1" dirty="0">
                <a:solidFill>
                  <a:schemeClr val="tx1">
                    <a:lumMod val="95000"/>
                    <a:lumOff val="5000"/>
                  </a:schemeClr>
                </a:solidFill>
              </a:rPr>
              <a:t>Избор на принцип за оптималност. </a:t>
            </a:r>
            <a:r>
              <a:rPr lang="bg-BG" sz="2400" dirty="0">
                <a:solidFill>
                  <a:schemeClr val="tx1">
                    <a:lumMod val="95000"/>
                    <a:lumOff val="5000"/>
                  </a:schemeClr>
                </a:solidFill>
              </a:rPr>
              <a:t>Принципът за оптималност определя свойствата на оптималното решение. Той показва в какъв смисъл полученото решение превъзхожда останалите допустими решения и дава правилото за търсене на това оптимално решение. Това е основния проблем на векторната оптимизация.</a:t>
            </a:r>
          </a:p>
        </p:txBody>
      </p:sp>
    </p:spTree>
    <p:extLst>
      <p:ext uri="{BB962C8B-B14F-4D97-AF65-F5344CB8AC3E}">
        <p14:creationId xmlns:p14="http://schemas.microsoft.com/office/powerpoint/2010/main" val="38754909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36</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
          <p:cNvSpPr/>
          <p:nvPr/>
        </p:nvSpPr>
        <p:spPr>
          <a:xfrm>
            <a:off x="2638565" y="439973"/>
            <a:ext cx="8784609" cy="5323701"/>
          </a:xfrm>
          <a:prstGeom prst="rect">
            <a:avLst/>
          </a:prstGeom>
        </p:spPr>
        <p:txBody>
          <a:bodyPr wrap="square">
            <a:spAutoFit/>
          </a:bodyPr>
          <a:lstStyle/>
          <a:p>
            <a:pPr marL="457200" indent="-457200" algn="just">
              <a:lnSpc>
                <a:spcPct val="130000"/>
              </a:lnSpc>
              <a:buClr>
                <a:schemeClr val="accent1">
                  <a:lumMod val="75000"/>
                </a:schemeClr>
              </a:buClr>
              <a:buFont typeface="+mj-lt"/>
              <a:buAutoNum type="arabicPeriod" startAt="3"/>
              <a:tabLst>
                <a:tab pos="228600" algn="l"/>
              </a:tabLst>
            </a:pPr>
            <a:r>
              <a:rPr lang="bg-BG" sz="2400" i="1" dirty="0">
                <a:solidFill>
                  <a:schemeClr val="tx1">
                    <a:lumMod val="95000"/>
                    <a:lumOff val="5000"/>
                  </a:schemeClr>
                </a:solidFill>
              </a:rPr>
              <a:t>Определяне приоритета на критериите.</a:t>
            </a:r>
            <a:r>
              <a:rPr lang="bg-BG" sz="2400" dirty="0">
                <a:solidFill>
                  <a:schemeClr val="tx1">
                    <a:lumMod val="95000"/>
                    <a:lumOff val="5000"/>
                  </a:schemeClr>
                </a:solidFill>
              </a:rPr>
              <a:t> Тъй като отделните критерии имат различна важност при решаването на векторните оптимизационни задачи, това трябва да се отчита при избора на принципа на оптималност.</a:t>
            </a:r>
          </a:p>
          <a:p>
            <a:pPr marL="457200" indent="-457200" algn="just">
              <a:lnSpc>
                <a:spcPct val="130000"/>
              </a:lnSpc>
              <a:buClr>
                <a:schemeClr val="accent1">
                  <a:lumMod val="75000"/>
                </a:schemeClr>
              </a:buClr>
              <a:buFont typeface="+mj-lt"/>
              <a:buAutoNum type="arabicPeriod" startAt="3"/>
              <a:tabLst>
                <a:tab pos="228600" algn="l"/>
              </a:tabLst>
            </a:pPr>
            <a:r>
              <a:rPr lang="bg-BG" sz="2400" i="1" dirty="0">
                <a:solidFill>
                  <a:schemeClr val="tx1">
                    <a:lumMod val="95000"/>
                    <a:lumOff val="5000"/>
                  </a:schemeClr>
                </a:solidFill>
              </a:rPr>
              <a:t>Получаване на оптималното решение. </a:t>
            </a:r>
            <a:r>
              <a:rPr lang="bg-BG" sz="2400" dirty="0">
                <a:solidFill>
                  <a:schemeClr val="tx1">
                    <a:lumMod val="95000"/>
                    <a:lumOff val="5000"/>
                  </a:schemeClr>
                </a:solidFill>
              </a:rPr>
              <a:t>За целта се прилагат различни методи като привеждане на многокритериалната задача в еднокритериална чрез въвеждане на тегловни коефициенти, търсене на компромисно решение, целево програмиране, диалогови процедури за вземане на решение и др.</a:t>
            </a:r>
          </a:p>
        </p:txBody>
      </p:sp>
    </p:spTree>
    <p:extLst>
      <p:ext uri="{BB962C8B-B14F-4D97-AF65-F5344CB8AC3E}">
        <p14:creationId xmlns:p14="http://schemas.microsoft.com/office/powerpoint/2010/main" val="18267790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37</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
          <p:cNvSpPr/>
          <p:nvPr/>
        </p:nvSpPr>
        <p:spPr>
          <a:xfrm>
            <a:off x="2306472" y="179409"/>
            <a:ext cx="9444250" cy="5373779"/>
          </a:xfrm>
          <a:prstGeom prst="rect">
            <a:avLst/>
          </a:prstGeom>
        </p:spPr>
        <p:txBody>
          <a:bodyPr wrap="square">
            <a:spAutoFit/>
          </a:bodyPr>
          <a:lstStyle/>
          <a:p>
            <a:pPr indent="531813" algn="just">
              <a:lnSpc>
                <a:spcPct val="130000"/>
              </a:lnSpc>
            </a:pPr>
            <a:r>
              <a:rPr lang="bg-BG" sz="2400" dirty="0">
                <a:solidFill>
                  <a:schemeClr val="tx1">
                    <a:lumMod val="95000"/>
                    <a:lumOff val="5000"/>
                  </a:schemeClr>
                </a:solidFill>
              </a:rPr>
              <a:t>Общата формулировка на задачата за вземане на решение при наличие на многокритериалност може да се обобщи по следния начин:</a:t>
            </a:r>
          </a:p>
          <a:p>
            <a:pPr marL="457200" indent="-457200" algn="just">
              <a:lnSpc>
                <a:spcPct val="130000"/>
              </a:lnSpc>
              <a:buClr>
                <a:schemeClr val="accent1">
                  <a:lumMod val="75000"/>
                </a:schemeClr>
              </a:buClr>
              <a:buFont typeface="+mj-lt"/>
              <a:buAutoNum type="arabicPeriod"/>
            </a:pPr>
            <a:r>
              <a:rPr lang="bg-BG" sz="2400" dirty="0">
                <a:solidFill>
                  <a:schemeClr val="tx1">
                    <a:lumMod val="95000"/>
                    <a:lumOff val="5000"/>
                  </a:schemeClr>
                </a:solidFill>
              </a:rPr>
              <a:t>Съществува множество от алтернативи А, при които всяка алтернатива се характеризира със съвкупност от свойства.</a:t>
            </a:r>
          </a:p>
          <a:p>
            <a:pPr marL="457200" indent="-457200" algn="just">
              <a:lnSpc>
                <a:spcPct val="130000"/>
              </a:lnSpc>
              <a:buClr>
                <a:schemeClr val="accent1">
                  <a:lumMod val="75000"/>
                </a:schemeClr>
              </a:buClr>
              <a:buFont typeface="+mj-lt"/>
              <a:buAutoNum type="arabicPeriod"/>
            </a:pPr>
            <a:r>
              <a:rPr lang="bg-BG" sz="2400" dirty="0">
                <a:solidFill>
                  <a:schemeClr val="tx1">
                    <a:lumMod val="95000"/>
                    <a:lumOff val="5000"/>
                  </a:schemeClr>
                </a:solidFill>
              </a:rPr>
              <a:t>Съществува множество от критерии </a:t>
            </a:r>
            <a:r>
              <a:rPr lang="en-US" sz="2400" dirty="0">
                <a:solidFill>
                  <a:schemeClr val="tx1">
                    <a:lumMod val="95000"/>
                    <a:lumOff val="5000"/>
                  </a:schemeClr>
                </a:solidFill>
              </a:rPr>
              <a:t>Q</a:t>
            </a:r>
            <a:r>
              <a:rPr lang="bg-BG" sz="2400" dirty="0">
                <a:solidFill>
                  <a:schemeClr val="tx1">
                    <a:lumMod val="95000"/>
                    <a:lumOff val="5000"/>
                  </a:schemeClr>
                </a:solidFill>
              </a:rPr>
              <a:t>, които отразяват количествено множествата от свойства на системата.</a:t>
            </a:r>
          </a:p>
          <a:p>
            <a:pPr marL="457200" indent="-457200" algn="just">
              <a:lnSpc>
                <a:spcPct val="130000"/>
              </a:lnSpc>
              <a:buClr>
                <a:schemeClr val="accent1">
                  <a:lumMod val="75000"/>
                </a:schemeClr>
              </a:buClr>
              <a:buFont typeface="+mj-lt"/>
              <a:buAutoNum type="arabicPeriod"/>
            </a:pPr>
            <a:r>
              <a:rPr lang="bg-BG" sz="2400" dirty="0">
                <a:solidFill>
                  <a:schemeClr val="tx1">
                    <a:lumMod val="95000"/>
                    <a:lumOff val="5000"/>
                  </a:schemeClr>
                </a:solidFill>
              </a:rPr>
              <a:t>Трябва да се вземе решение за избор на една от алтернативите. Решението се нарича елементарно, ако изборът е по един критерий, и сложно, ако избраната алтернатива е оптимална при отчитане на всички критерии.</a:t>
            </a:r>
          </a:p>
        </p:txBody>
      </p:sp>
    </p:spTree>
    <p:extLst>
      <p:ext uri="{BB962C8B-B14F-4D97-AF65-F5344CB8AC3E}">
        <p14:creationId xmlns:p14="http://schemas.microsoft.com/office/powerpoint/2010/main" val="27383928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38</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9" name="Rectangle 8"/>
          <p:cNvSpPr/>
          <p:nvPr/>
        </p:nvSpPr>
        <p:spPr>
          <a:xfrm>
            <a:off x="1583142" y="0"/>
            <a:ext cx="10467832" cy="6740307"/>
          </a:xfrm>
          <a:prstGeom prst="rect">
            <a:avLst/>
          </a:prstGeom>
        </p:spPr>
        <p:txBody>
          <a:bodyPr wrap="square">
            <a:spAutoFit/>
          </a:bodyPr>
          <a:lstStyle/>
          <a:p>
            <a:pPr marL="457200" indent="-457200" algn="just">
              <a:lnSpc>
                <a:spcPct val="120000"/>
              </a:lnSpc>
              <a:buClr>
                <a:schemeClr val="accent1">
                  <a:lumMod val="75000"/>
                </a:schemeClr>
              </a:buClr>
              <a:buFont typeface="+mj-lt"/>
              <a:buAutoNum type="arabicPeriod" startAt="4"/>
            </a:pPr>
            <a:r>
              <a:rPr lang="bg-BG" sz="2400" dirty="0">
                <a:solidFill>
                  <a:schemeClr val="tx1">
                    <a:lumMod val="95000"/>
                    <a:lumOff val="5000"/>
                  </a:schemeClr>
                </a:solidFill>
              </a:rPr>
              <a:t>Задачата за вземане на решение на избора на алтернатива чрез множеството критерии формално се свежда до използване на функция, чийто параметър да бъде критерий (</a:t>
            </a:r>
            <a:r>
              <a:rPr lang="en-US" sz="2400" dirty="0">
                <a:solidFill>
                  <a:schemeClr val="tx1">
                    <a:lumMod val="95000"/>
                    <a:lumOff val="5000"/>
                  </a:schemeClr>
                </a:solidFill>
              </a:rPr>
              <a:t>Q</a:t>
            </a:r>
            <a:r>
              <a:rPr lang="ru-RU" sz="2400" dirty="0">
                <a:solidFill>
                  <a:schemeClr val="tx1">
                    <a:lumMod val="95000"/>
                    <a:lumOff val="5000"/>
                  </a:schemeClr>
                </a:solidFill>
              </a:rPr>
              <a:t>)</a:t>
            </a:r>
            <a:r>
              <a:rPr lang="bg-BG" sz="2400" dirty="0">
                <a:solidFill>
                  <a:schemeClr val="tx1">
                    <a:lumMod val="95000"/>
                    <a:lumOff val="5000"/>
                  </a:schemeClr>
                </a:solidFill>
              </a:rPr>
              <a:t>. Така може да се изчисли стойността на функцията за всеки критерии, като получената стойност ще определя степента на предпочитане на даденото решение.  Функцията се нарича интегрален (обобщен) критерий. Той позволява подреждането на множеството на решения по степен на предпочитане.</a:t>
            </a:r>
          </a:p>
          <a:p>
            <a:pPr indent="531813" algn="just">
              <a:lnSpc>
                <a:spcPct val="120000"/>
              </a:lnSpc>
            </a:pPr>
            <a:r>
              <a:rPr lang="bg-BG" sz="2400" dirty="0">
                <a:solidFill>
                  <a:schemeClr val="tx1">
                    <a:lumMod val="95000"/>
                    <a:lumOff val="5000"/>
                  </a:schemeClr>
                </a:solidFill>
              </a:rPr>
              <a:t> Основните принципи за формиране на обобщени критерии са:</a:t>
            </a:r>
          </a:p>
          <a:p>
            <a:pPr marL="457200" indent="-457200" algn="just">
              <a:lnSpc>
                <a:spcPct val="120000"/>
              </a:lnSpc>
              <a:buClr>
                <a:schemeClr val="accent1">
                  <a:lumMod val="75000"/>
                </a:schemeClr>
              </a:buClr>
              <a:buFont typeface="+mj-lt"/>
              <a:buAutoNum type="arabicPeriod"/>
            </a:pPr>
            <a:r>
              <a:rPr lang="bg-BG" sz="2400" dirty="0">
                <a:solidFill>
                  <a:schemeClr val="tx1">
                    <a:lumMod val="95000"/>
                    <a:lumOff val="5000"/>
                  </a:schemeClr>
                </a:solidFill>
              </a:rPr>
              <a:t> </a:t>
            </a:r>
            <a:r>
              <a:rPr lang="bg-BG" sz="2400" i="1" dirty="0">
                <a:solidFill>
                  <a:schemeClr val="tx1">
                    <a:lumMod val="95000"/>
                    <a:lumOff val="5000"/>
                  </a:schemeClr>
                </a:solidFill>
              </a:rPr>
              <a:t>Принцип на субоптимизация. </a:t>
            </a:r>
            <a:r>
              <a:rPr lang="bg-BG" sz="2400" dirty="0">
                <a:solidFill>
                  <a:schemeClr val="tx1">
                    <a:lumMod val="95000"/>
                    <a:lumOff val="5000"/>
                  </a:schemeClr>
                </a:solidFill>
              </a:rPr>
              <a:t>Всеки критерий се ранжира по степен на важност и се избира най-важният. Всички останали се отчитат като ограничения, които определят областта на допустимите алтернативи.  При тази постановка задачата на математическото програмиране се решава с методите на линейното, нелинейното, динамичното </a:t>
            </a:r>
            <a:r>
              <a:rPr lang="en-US" sz="2400" dirty="0">
                <a:solidFill>
                  <a:schemeClr val="tx1">
                    <a:lumMod val="95000"/>
                    <a:lumOff val="5000"/>
                  </a:schemeClr>
                </a:solidFill>
              </a:rPr>
              <a:t> </a:t>
            </a:r>
            <a:r>
              <a:rPr lang="bg-BG" sz="2400" dirty="0">
                <a:solidFill>
                  <a:schemeClr val="tx1">
                    <a:lumMod val="95000"/>
                    <a:lumOff val="5000"/>
                  </a:schemeClr>
                </a:solidFill>
              </a:rPr>
              <a:t>програмиране и др. </a:t>
            </a:r>
          </a:p>
        </p:txBody>
      </p:sp>
    </p:spTree>
    <p:extLst>
      <p:ext uri="{BB962C8B-B14F-4D97-AF65-F5344CB8AC3E}">
        <p14:creationId xmlns:p14="http://schemas.microsoft.com/office/powerpoint/2010/main" val="6796083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39</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
          <p:cNvSpPr/>
          <p:nvPr/>
        </p:nvSpPr>
        <p:spPr>
          <a:xfrm>
            <a:off x="2374711" y="248400"/>
            <a:ext cx="9389659" cy="5632311"/>
          </a:xfrm>
          <a:prstGeom prst="rect">
            <a:avLst/>
          </a:prstGeom>
        </p:spPr>
        <p:txBody>
          <a:bodyPr wrap="square">
            <a:spAutoFit/>
          </a:bodyPr>
          <a:lstStyle/>
          <a:p>
            <a:pPr marL="457200" lvl="0" indent="-457200" algn="just">
              <a:spcAft>
                <a:spcPts val="0"/>
              </a:spcAft>
              <a:buClr>
                <a:schemeClr val="accent1">
                  <a:lumMod val="75000"/>
                </a:schemeClr>
              </a:buClr>
              <a:buFont typeface="+mj-lt"/>
              <a:buAutoNum type="arabicPeriod" startAt="2"/>
              <a:tabLst>
                <a:tab pos="228600" algn="l"/>
              </a:tabLst>
            </a:pPr>
            <a:r>
              <a:rPr lang="bg-BG" sz="2400" i="1" dirty="0">
                <a:solidFill>
                  <a:schemeClr val="tx1">
                    <a:lumMod val="95000"/>
                    <a:lumOff val="5000"/>
                  </a:schemeClr>
                </a:solidFill>
              </a:rPr>
              <a:t>Получаване на обобщения показател за ефективност чрез адитивни или мултипликативни преобразувания. </a:t>
            </a:r>
            <a:r>
              <a:rPr lang="bg-BG" sz="2400" dirty="0">
                <a:solidFill>
                  <a:schemeClr val="tx1">
                    <a:lumMod val="95000"/>
                    <a:lumOff val="5000"/>
                  </a:schemeClr>
                </a:solidFill>
              </a:rPr>
              <a:t>Адитивното преобразуване за построяването на интегрален критерий за ефективност се използва, когато е възможно да се обединят всички частни критерии на икономическа основа, а алтернативите да се сравнява по икономически критерий. При мултипликативното преобразуване обобщеният критерий се формира като произведение от квадратите на всички критерий.</a:t>
            </a:r>
          </a:p>
          <a:p>
            <a:pPr marL="457200" lvl="0" indent="-457200" algn="just">
              <a:spcAft>
                <a:spcPts val="0"/>
              </a:spcAft>
              <a:buClr>
                <a:schemeClr val="accent1">
                  <a:lumMod val="75000"/>
                </a:schemeClr>
              </a:buClr>
              <a:buFont typeface="+mj-lt"/>
              <a:buAutoNum type="arabicPeriod" startAt="2"/>
              <a:tabLst>
                <a:tab pos="228600" algn="l"/>
              </a:tabLst>
            </a:pPr>
            <a:r>
              <a:rPr lang="bg-BG" sz="2400" i="1" dirty="0">
                <a:solidFill>
                  <a:schemeClr val="tx1">
                    <a:lumMod val="95000"/>
                    <a:lumOff val="5000"/>
                  </a:schemeClr>
                </a:solidFill>
              </a:rPr>
              <a:t>Обобщените критерии отчитат разликата между качествата на идеалната система и получената в резултат на приетата алтернатива. </a:t>
            </a:r>
            <a:r>
              <a:rPr lang="bg-BG" sz="2400" dirty="0">
                <a:solidFill>
                  <a:schemeClr val="tx1">
                    <a:lumMod val="95000"/>
                    <a:lumOff val="5000"/>
                  </a:schemeClr>
                </a:solidFill>
              </a:rPr>
              <a:t>В този случай обобщеният критерий може да се формулира по следните начини:</a:t>
            </a:r>
          </a:p>
          <a:p>
            <a:pPr marL="228600" algn="just">
              <a:spcAft>
                <a:spcPts val="0"/>
              </a:spcAft>
              <a:buClr>
                <a:schemeClr val="accent1">
                  <a:lumMod val="75000"/>
                </a:schemeClr>
              </a:buClr>
            </a:pPr>
            <a:r>
              <a:rPr lang="en-US" sz="2400" dirty="0">
                <a:solidFill>
                  <a:schemeClr val="tx1">
                    <a:lumMod val="95000"/>
                    <a:lumOff val="5000"/>
                  </a:schemeClr>
                </a:solidFill>
              </a:rPr>
              <a:t>     </a:t>
            </a:r>
            <a:r>
              <a:rPr lang="bg-BG" sz="2400" dirty="0">
                <a:solidFill>
                  <a:schemeClr val="tx1">
                    <a:lumMod val="95000"/>
                    <a:lumOff val="5000"/>
                  </a:schemeClr>
                </a:solidFill>
              </a:rPr>
              <a:t>а) сума от абсолютните разлики между идеалната алтернатива и останалите критерии</a:t>
            </a: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6" name="Object 5"/>
          <p:cNvGraphicFramePr>
            <a:graphicFrameLocks noChangeAspect="1"/>
          </p:cNvGraphicFramePr>
          <p:nvPr>
            <p:extLst>
              <p:ext uri="{D42A27DB-BD31-4B8C-83A1-F6EECF244321}">
                <p14:modId xmlns:p14="http://schemas.microsoft.com/office/powerpoint/2010/main" val="1005863001"/>
              </p:ext>
            </p:extLst>
          </p:nvPr>
        </p:nvGraphicFramePr>
        <p:xfrm>
          <a:off x="5718411" y="5690858"/>
          <a:ext cx="2006221" cy="876504"/>
        </p:xfrm>
        <a:graphic>
          <a:graphicData uri="http://schemas.openxmlformats.org/presentationml/2006/ole">
            <mc:AlternateContent xmlns:mc="http://schemas.openxmlformats.org/markup-compatibility/2006">
              <mc:Choice xmlns:v="urn:schemas-microsoft-com:vml" Requires="v">
                <p:oleObj spid="_x0000_s21507" r:id="rId4" imgW="977900" imgH="431800" progId="Equation.3">
                  <p:embed/>
                </p:oleObj>
              </mc:Choice>
              <mc:Fallback>
                <p:oleObj r:id="rId4" imgW="977900" imgH="4318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8411" y="5690858"/>
                        <a:ext cx="2006221" cy="876504"/>
                      </a:xfrm>
                      <a:prstGeom prst="rect">
                        <a:avLst/>
                      </a:prstGeom>
                      <a:noFill/>
                    </p:spPr>
                  </p:pic>
                </p:oleObj>
              </mc:Fallback>
            </mc:AlternateContent>
          </a:graphicData>
        </a:graphic>
      </p:graphicFrame>
    </p:spTree>
    <p:extLst>
      <p:ext uri="{BB962C8B-B14F-4D97-AF65-F5344CB8AC3E}">
        <p14:creationId xmlns:p14="http://schemas.microsoft.com/office/powerpoint/2010/main" val="11634756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40</a:t>
            </a:fld>
            <a:endParaRPr lang="bg-BG" dirty="0"/>
          </a:p>
        </p:txBody>
      </p:sp>
      <p:sp>
        <p:nvSpPr>
          <p:cNvPr id="5" name="Rectangle 2"/>
          <p:cNvSpPr>
            <a:spLocks noChangeArrowheads="1"/>
          </p:cNvSpPr>
          <p:nvPr/>
        </p:nvSpPr>
        <p:spPr bwMode="auto">
          <a:xfrm>
            <a:off x="0" y="-288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
          <p:cNvSpPr/>
          <p:nvPr/>
        </p:nvSpPr>
        <p:spPr>
          <a:xfrm>
            <a:off x="2223068" y="188643"/>
            <a:ext cx="9595893" cy="5447645"/>
          </a:xfrm>
          <a:prstGeom prst="rect">
            <a:avLst/>
          </a:prstGeom>
        </p:spPr>
        <p:txBody>
          <a:bodyPr wrap="square">
            <a:spAutoFit/>
          </a:bodyPr>
          <a:lstStyle/>
          <a:p>
            <a:pPr marL="228600" algn="just">
              <a:buClr>
                <a:schemeClr val="accent1">
                  <a:lumMod val="75000"/>
                </a:schemeClr>
              </a:buClr>
            </a:pPr>
            <a:r>
              <a:rPr lang="bg-BG" sz="2400" dirty="0">
                <a:solidFill>
                  <a:schemeClr val="tx1">
                    <a:lumMod val="95000"/>
                    <a:lumOff val="5000"/>
                  </a:schemeClr>
                </a:solidFill>
              </a:rPr>
              <a:t>б) най-голямо абсолютно отклонение от идеалната алтернатива</a:t>
            </a:r>
          </a:p>
          <a:p>
            <a:pPr marL="228600" algn="just">
              <a:buClr>
                <a:schemeClr val="accent1">
                  <a:lumMod val="75000"/>
                </a:schemeClr>
              </a:buClr>
            </a:pPr>
            <a:endParaRPr lang="bg-BG" sz="2400" dirty="0">
              <a:solidFill>
                <a:schemeClr val="tx1">
                  <a:lumMod val="95000"/>
                  <a:lumOff val="5000"/>
                </a:schemeClr>
              </a:solidFill>
            </a:endParaRPr>
          </a:p>
          <a:p>
            <a:pPr indent="531813" algn="just">
              <a:lnSpc>
                <a:spcPct val="150000"/>
              </a:lnSpc>
              <a:buClr>
                <a:schemeClr val="accent1">
                  <a:lumMod val="75000"/>
                </a:schemeClr>
              </a:buClr>
            </a:pPr>
            <a:r>
              <a:rPr lang="bg-BG" sz="2400" dirty="0">
                <a:solidFill>
                  <a:schemeClr val="tx1">
                    <a:lumMod val="95000"/>
                    <a:lumOff val="5000"/>
                  </a:schemeClr>
                </a:solidFill>
              </a:rPr>
              <a:t>Полезността на всеки критерий се отчита чрез експертни оценки, като за всеки критерий се определя коефициент на полезност. Експертните оценки на коефициентите на полезност трябва да се получават чрез ранжиране на критериите, преки оценки и последователни предпочитания.</a:t>
            </a:r>
          </a:p>
          <a:p>
            <a:pPr marL="228600" algn="just">
              <a:buClr>
                <a:schemeClr val="accent1">
                  <a:lumMod val="75000"/>
                </a:schemeClr>
              </a:buClr>
            </a:pPr>
            <a:endParaRPr lang="bg-BG" sz="2400" dirty="0">
              <a:solidFill>
                <a:schemeClr val="tx1">
                  <a:lumMod val="95000"/>
                  <a:lumOff val="5000"/>
                </a:schemeClr>
              </a:solidFill>
            </a:endParaRPr>
          </a:p>
          <a:p>
            <a:pPr marL="228600" algn="just">
              <a:buClr>
                <a:schemeClr val="accent1">
                  <a:lumMod val="75000"/>
                </a:schemeClr>
              </a:buClr>
            </a:pPr>
            <a:endParaRPr lang="bg-BG" sz="2400" dirty="0">
              <a:solidFill>
                <a:schemeClr val="tx1">
                  <a:lumMod val="95000"/>
                  <a:lumOff val="5000"/>
                </a:schemeClr>
              </a:solidFill>
            </a:endParaRPr>
          </a:p>
          <a:p>
            <a:pPr marL="228600" algn="just">
              <a:buClr>
                <a:schemeClr val="accent1">
                  <a:lumMod val="75000"/>
                </a:schemeClr>
              </a:buClr>
            </a:pPr>
            <a:endParaRPr lang="bg-BG" sz="2400" dirty="0">
              <a:solidFill>
                <a:schemeClr val="tx1">
                  <a:lumMod val="95000"/>
                  <a:lumOff val="5000"/>
                </a:schemeClr>
              </a:solidFill>
            </a:endParaRPr>
          </a:p>
          <a:p>
            <a:pPr marL="228600" algn="just">
              <a:buClr>
                <a:schemeClr val="accent1">
                  <a:lumMod val="75000"/>
                </a:schemeClr>
              </a:buClr>
            </a:pPr>
            <a:endParaRPr lang="bg-BG" sz="2400" dirty="0">
              <a:solidFill>
                <a:schemeClr val="tx1">
                  <a:lumMod val="95000"/>
                  <a:lumOff val="5000"/>
                </a:schemeClr>
              </a:solidFill>
            </a:endParaRPr>
          </a:p>
          <a:p>
            <a:pPr marL="228600" algn="just">
              <a:buClr>
                <a:schemeClr val="accent1">
                  <a:lumMod val="75000"/>
                </a:schemeClr>
              </a:buClr>
            </a:pPr>
            <a:endParaRPr lang="bg-BG" sz="24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6" name="Object 5"/>
          <p:cNvGraphicFramePr>
            <a:graphicFrameLocks noChangeAspect="1"/>
          </p:cNvGraphicFramePr>
          <p:nvPr>
            <p:extLst>
              <p:ext uri="{D42A27DB-BD31-4B8C-83A1-F6EECF244321}">
                <p14:modId xmlns:p14="http://schemas.microsoft.com/office/powerpoint/2010/main" val="2529328962"/>
              </p:ext>
            </p:extLst>
          </p:nvPr>
        </p:nvGraphicFramePr>
        <p:xfrm>
          <a:off x="5110329" y="584327"/>
          <a:ext cx="1910685" cy="545910"/>
        </p:xfrm>
        <a:graphic>
          <a:graphicData uri="http://schemas.openxmlformats.org/presentationml/2006/ole">
            <mc:AlternateContent xmlns:mc="http://schemas.openxmlformats.org/markup-compatibility/2006">
              <mc:Choice xmlns:v="urn:schemas-microsoft-com:vml" Requires="v">
                <p:oleObj spid="_x0000_s22531" r:id="rId4" imgW="1066337" imgH="304668" progId="Equation.3">
                  <p:embed/>
                </p:oleObj>
              </mc:Choice>
              <mc:Fallback>
                <p:oleObj r:id="rId4" imgW="1066337" imgH="304668"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0329" y="584327"/>
                        <a:ext cx="1910685" cy="545910"/>
                      </a:xfrm>
                      <a:prstGeom prst="rect">
                        <a:avLst/>
                      </a:prstGeom>
                      <a:noFill/>
                    </p:spPr>
                  </p:pic>
                </p:oleObj>
              </mc:Fallback>
            </mc:AlternateContent>
          </a:graphicData>
        </a:graphic>
      </p:graphicFrame>
    </p:spTree>
    <p:extLst>
      <p:ext uri="{BB962C8B-B14F-4D97-AF65-F5344CB8AC3E}">
        <p14:creationId xmlns:p14="http://schemas.microsoft.com/office/powerpoint/2010/main" val="16758691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xmlns=""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452FE0A421B3E24B9DDFC266E10EBE04" ma:contentTypeVersion="3" ma:contentTypeDescription="Създаване на нов документ" ma:contentTypeScope="" ma:versionID="f38fa733cd6769631e002a4dea7fc2ba">
  <xsd:schema xmlns:xsd="http://www.w3.org/2001/XMLSchema" xmlns:xs="http://www.w3.org/2001/XMLSchema" xmlns:p="http://schemas.microsoft.com/office/2006/metadata/properties" xmlns:ns2="410f8adb-773f-4384-aa9e-8e184e0fd10d" targetNamespace="http://schemas.microsoft.com/office/2006/metadata/properties" ma:root="true" ma:fieldsID="91cf59770634e4cf72f9d8d766704a06" ns2:_="">
    <xsd:import namespace="410f8adb-773f-4384-aa9e-8e184e0fd10d"/>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0f8adb-773f-4384-aa9e-8e184e0fd1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съдържание"/>
        <xsd:element ref="dc:title" minOccurs="0" maxOccurs="1" ma:index="4" ma:displayName="Заглав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2B04777-879B-4F80-BFA2-48F98043104A}"/>
</file>

<file path=customXml/itemProps2.xml><?xml version="1.0" encoding="utf-8"?>
<ds:datastoreItem xmlns:ds="http://schemas.openxmlformats.org/officeDocument/2006/customXml" ds:itemID="{915C41B9-0962-4027-86D2-E56A8FB34106}">
  <ds:schemaRefs>
    <ds:schemaRef ds:uri="http://schemas.microsoft.com/sharepoint/v3/contenttype/forms"/>
  </ds:schemaRefs>
</ds:datastoreItem>
</file>

<file path=customXml/itemProps3.xml><?xml version="1.0" encoding="utf-8"?>
<ds:datastoreItem xmlns:ds="http://schemas.openxmlformats.org/officeDocument/2006/customXml" ds:itemID="{F3D6C92F-7FE2-4C02-AE97-8BC01C9F68D2}">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Wood Type</Template>
  <TotalTime>9606</TotalTime>
  <Words>3102</Words>
  <Application>Microsoft Office PowerPoint</Application>
  <PresentationFormat>Custom</PresentationFormat>
  <Paragraphs>205</Paragraphs>
  <Slides>40</Slides>
  <Notes>26</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2" baseType="lpstr">
      <vt:lpstr>Wood Type</vt:lpstr>
      <vt:lpstr>Microsoft Equation 3.0</vt:lpstr>
      <vt:lpstr>Нелинейно програмиране. Формулировка на задачата. Методи за минимизация с и без ограничения. Многокритериална оптимизация</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Organization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СИСТЕМЕН АНАЛИЗ</dc:title>
  <dc:creator>Windows User</dc:creator>
  <cp:lastModifiedBy>teacher</cp:lastModifiedBy>
  <cp:revision>240</cp:revision>
  <cp:lastPrinted>2022-11-02T09:49:17Z</cp:lastPrinted>
  <dcterms:created xsi:type="dcterms:W3CDTF">2022-08-03T05:13:19Z</dcterms:created>
  <dcterms:modified xsi:type="dcterms:W3CDTF">2023-11-20T06:49:40Z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0x010100452FE0A421B3E24B9DDFC266E10EBE04</vt:lpwstr>
  </property>
</Properties>
</file>
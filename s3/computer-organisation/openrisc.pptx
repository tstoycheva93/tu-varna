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80" r:id="rId9"/>
    <p:sldId id="277" r:id="rId10"/>
    <p:sldId id="276" r:id="rId11"/>
    <p:sldId id="278" r:id="rId12"/>
    <p:sldId id="263" r:id="rId13"/>
    <p:sldId id="264" r:id="rId14"/>
    <p:sldId id="267" r:id="rId15"/>
    <p:sldId id="265" r:id="rId16"/>
    <p:sldId id="266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0256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9641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1645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1710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921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854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366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3965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145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4971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40022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5555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9574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0063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7885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88338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731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F6130-67DB-4E26-B2C7-F7F26D988AD0}" type="datetimeFigureOut">
              <a:rPr lang="bg-BG" smtClean="0"/>
              <a:t>11.1.2024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B7CD6-5C49-4FEA-A04F-53C44EFB20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0595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60BB-F62E-0F7A-6505-66B242D91F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openrisc</a:t>
            </a:r>
            <a:endParaRPr lang="bg-BG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5DD78-5192-9590-3432-B62BAFED5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775898"/>
          </a:xfrm>
        </p:spPr>
        <p:txBody>
          <a:bodyPr>
            <a:normAutofit fontScale="62500" lnSpcReduction="20000"/>
          </a:bodyPr>
          <a:lstStyle/>
          <a:p>
            <a:r>
              <a:rPr lang="bg-BG" dirty="0"/>
              <a:t>Теодора Стойчева</a:t>
            </a:r>
          </a:p>
          <a:p>
            <a:r>
              <a:rPr lang="bg-BG" dirty="0"/>
              <a:t>22621693</a:t>
            </a:r>
          </a:p>
          <a:p>
            <a:r>
              <a:rPr lang="bg-BG" dirty="0"/>
              <a:t>2 к. 4Б гр. </a:t>
            </a:r>
          </a:p>
        </p:txBody>
      </p:sp>
    </p:spTree>
    <p:extLst>
      <p:ext uri="{BB962C8B-B14F-4D97-AF65-F5344CB8AC3E}">
        <p14:creationId xmlns:p14="http://schemas.microsoft.com/office/powerpoint/2010/main" val="425229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40F5-CAA6-F018-7802-E5C276CC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Въведение в </a:t>
            </a:r>
            <a:r>
              <a:rPr lang="en-US" dirty="0"/>
              <a:t>openrisc </a:t>
            </a:r>
            <a:r>
              <a:rPr lang="bg-BG" dirty="0"/>
              <a:t>архитекрутата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786B-C820-5FAB-AF72-9EE29AB1F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OpenRISC е процесорна архитектура с отворен код, предназначена за по-добро персонализиране и адаптивност на дейностите.</a:t>
            </a:r>
          </a:p>
          <a:p>
            <a:r>
              <a:rPr lang="ru-RU" dirty="0"/>
              <a:t> Разработена е, за да осигури прозрачна, неутрална по отношение на доставчика и безвъзмездна алтернатива на други патентовани архитектури.</a:t>
            </a:r>
          </a:p>
          <a:p>
            <a:r>
              <a:rPr lang="ru-RU" dirty="0"/>
              <a:t> Лицензирана е под GNU Lesser General Public License (LGPL).</a:t>
            </a:r>
          </a:p>
        </p:txBody>
      </p:sp>
      <p:pic>
        <p:nvPicPr>
          <p:cNvPr id="11" name="Picture 10" descr="A white text on a green background&#10;&#10;Description automatically generated">
            <a:extLst>
              <a:ext uri="{FF2B5EF4-FFF2-40B4-BE49-F238E27FC236}">
                <a16:creationId xmlns:a16="http://schemas.microsoft.com/office/drawing/2014/main" id="{7851DDC8-FF11-0193-637E-3D722F1B9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438" y="4313923"/>
            <a:ext cx="1904762" cy="1904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60581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461E-D636-C6E9-A464-C828CB15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история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86AA0-4FD8-0E21-9C42-3325BD9B5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OpenRISC възниква в началото на 2000 г. като проект на общността OpenCores.</a:t>
            </a:r>
          </a:p>
          <a:p>
            <a:r>
              <a:rPr lang="ru-RU" dirty="0"/>
              <a:t>Основните участници в проекта са ORSOC (OpenRISC System-on-Chip) и общността OpenRISC.</a:t>
            </a:r>
          </a:p>
          <a:p>
            <a:r>
              <a:rPr lang="ru-RU" dirty="0"/>
              <a:t>През годините архитекрурата придобива голяма популярност като универсално и достъпно решение на различни проблеми и приложения.</a:t>
            </a:r>
            <a:endParaRPr lang="bg-BG" dirty="0"/>
          </a:p>
        </p:txBody>
      </p:sp>
      <p:pic>
        <p:nvPicPr>
          <p:cNvPr id="4" name="Picture 3" descr="A close up of a circuit board&#10;&#10;Description automatically generated">
            <a:extLst>
              <a:ext uri="{FF2B5EF4-FFF2-40B4-BE49-F238E27FC236}">
                <a16:creationId xmlns:a16="http://schemas.microsoft.com/office/drawing/2014/main" id="{AB46A22E-8711-DA7B-C2FC-FCACA9F79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958" y="4675635"/>
            <a:ext cx="2971800" cy="15430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6963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1CC1-014E-756A-CC13-2624114A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Предназначение на </a:t>
            </a:r>
            <a:r>
              <a:rPr lang="en-US" dirty="0"/>
              <a:t>OpenRISC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1ED1-7F6C-19DE-A7F2-F9D8D1D37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OpenRISC предоставя адаптивна процесорна архитектура с отворен код и цели да насърчи иновациите и сътрудничеството.</a:t>
            </a:r>
          </a:p>
          <a:p>
            <a:r>
              <a:rPr lang="ru-RU" dirty="0"/>
              <a:t>Проектирана е да бъде адаптивна, позволявайки на разработчиците да я приспособяват към специфични изисквания.</a:t>
            </a:r>
          </a:p>
          <a:p>
            <a:r>
              <a:rPr lang="ru-RU" dirty="0"/>
              <a:t>Насърчава прозрачността, откритостта и споделянето на знания в рамките на общността за проектиране на процесори.</a:t>
            </a:r>
            <a:endParaRPr lang="bg-BG" dirty="0"/>
          </a:p>
        </p:txBody>
      </p:sp>
      <p:pic>
        <p:nvPicPr>
          <p:cNvPr id="4" name="Picture 3" descr="A close-up of a circuit board">
            <a:extLst>
              <a:ext uri="{FF2B5EF4-FFF2-40B4-BE49-F238E27FC236}">
                <a16:creationId xmlns:a16="http://schemas.microsoft.com/office/drawing/2014/main" id="{C9099605-BCBF-6098-DF06-1DC5C2882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315" y="4712301"/>
            <a:ext cx="2429585" cy="16435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8957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8565-A23B-AF68-3A65-26BB4AF4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Основи на архитектурата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444E0-425E-D74F-A085-73778F821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OpenRISC следва философията на дизайна на RISC - Reduced Instruction Set Computing.</a:t>
            </a:r>
          </a:p>
          <a:p>
            <a:r>
              <a:rPr lang="ru-RU" dirty="0"/>
              <a:t>Ключовите компоненти включват: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Архитектура на набора от инструкции (ISA)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Регистър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Pipeline </a:t>
            </a:r>
            <a:r>
              <a:rPr lang="bg-BG" dirty="0"/>
              <a:t>структура</a:t>
            </a:r>
            <a:endParaRPr lang="ru-RU" dirty="0"/>
          </a:p>
          <a:p>
            <a:r>
              <a:rPr lang="ru-RU" dirty="0"/>
              <a:t>Архитектурата набляга на простотата и ефективността при изпълнение на инструкциите.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576D5-A3D9-4584-8FD4-2737F5121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840987"/>
            <a:ext cx="259080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9332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7F00-A7EC-9AB7-C37C-A98CF304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на набора от инструкции (ISA)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FC38-9239-40DB-A023-E8FA77008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OpenRISC използва чист и добре дефиниран набор от инструкции.</a:t>
            </a:r>
          </a:p>
          <a:p>
            <a:pPr marL="0" indent="0">
              <a:buNone/>
            </a:pPr>
            <a:endParaRPr lang="ru-RU" sz="2400" dirty="0"/>
          </a:p>
          <a:p>
            <a:r>
              <a:rPr lang="ru-RU" sz="2400" dirty="0"/>
              <a:t>Забележителни характеристики:</a:t>
            </a:r>
          </a:p>
          <a:p>
            <a:endParaRPr lang="ru-RU" sz="240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400" dirty="0"/>
              <a:t>Архитектура за зареждане;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400" dirty="0"/>
              <a:t>32-битови инструкции с фиксиран размер;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400" dirty="0"/>
              <a:t>Ортогонален набор от инструкции за простота и редовност.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248632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221A-4EFB-03A3-9247-5D23F4BC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Методи за адресация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EDB6-9267-E0D7-8209-AEC372DD2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430527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32-битов плосък модел на паметта; </a:t>
            </a:r>
          </a:p>
          <a:p>
            <a:r>
              <a:rPr lang="ru-RU" dirty="0"/>
              <a:t>Част от непрекъснато адресно пространство;</a:t>
            </a:r>
          </a:p>
          <a:p>
            <a:r>
              <a:rPr lang="ru-RU" dirty="0"/>
              <a:t>Няма разлика между адресни пространства за код, данни или периферни устройства.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457200" lvl="1" indent="0">
              <a:buNone/>
            </a:pPr>
            <a:r>
              <a:rPr lang="ru-RU" i="1" dirty="0">
                <a:highlight>
                  <a:srgbClr val="008000"/>
                </a:highlight>
              </a:rPr>
              <a:t>32-битови адреси на паметта: 0x00000000-0xFFFFFFFF  с размер от 8 бита</a:t>
            </a:r>
          </a:p>
          <a:p>
            <a:pPr marL="457200" lvl="1" indent="0">
              <a:buNone/>
            </a:pPr>
            <a:r>
              <a:rPr lang="ru-RU" i="1" dirty="0">
                <a:highlight>
                  <a:srgbClr val="008000"/>
                </a:highlight>
              </a:rPr>
              <a:t>0x00402000 сочи към конкретно местоположение в адресното пространство  </a:t>
            </a:r>
          </a:p>
          <a:p>
            <a:pPr marL="457200" lvl="1" indent="0">
              <a:buNone/>
            </a:pPr>
            <a:endParaRPr lang="ru-RU" i="1" dirty="0"/>
          </a:p>
          <a:p>
            <a:r>
              <a:rPr lang="ru-RU" dirty="0"/>
              <a:t>За достъп, инструкциите указват адреса на паметта, където се намират данните.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457200" lvl="1" indent="0">
              <a:buNone/>
            </a:pPr>
            <a:r>
              <a:rPr lang="ru-RU" i="1" dirty="0">
                <a:highlight>
                  <a:srgbClr val="008000"/>
                </a:highlight>
              </a:rPr>
              <a:t>lw r1, 0x00402000 - зареждане на дума от адреса на паметта 0x00402000 в регистър r1;    </a:t>
            </a:r>
          </a:p>
          <a:p>
            <a:pPr marL="457200" lvl="1" indent="0">
              <a:buNone/>
            </a:pPr>
            <a:r>
              <a:rPr lang="ru-RU" i="1" dirty="0">
                <a:highlight>
                  <a:srgbClr val="008000"/>
                </a:highlight>
              </a:rPr>
              <a:t>sw r2, 0x00402000- съхранение на съдържанието на регистър r2 в 0x00402004.</a:t>
            </a:r>
            <a:endParaRPr lang="bg-BG" i="1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2456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221A-4EFB-03A3-9247-5D23F4BC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Методи за адресация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EDB6-9267-E0D7-8209-AEC372DD2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Байтова адресируемост:</a:t>
            </a:r>
          </a:p>
          <a:p>
            <a:pPr marL="0" indent="0">
              <a:buNone/>
            </a:pPr>
            <a:r>
              <a:rPr lang="ru-RU" dirty="0"/>
              <a:t>  	- Всеки адрес се отнася до един байт данни;</a:t>
            </a:r>
          </a:p>
          <a:p>
            <a:pPr marL="0" indent="0">
              <a:buNone/>
            </a:pPr>
            <a:r>
              <a:rPr lang="ru-RU" dirty="0"/>
              <a:t>	- Конкретен байт се достъпва с побитови операции;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Подравняван</a:t>
            </a:r>
            <a:r>
              <a:rPr lang="en-US" dirty="0"/>
              <a:t>e</a:t>
            </a:r>
            <a:r>
              <a:rPr lang="bg-BG" dirty="0"/>
              <a:t>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 </a:t>
            </a:r>
            <a:r>
              <a:rPr lang="ru-RU" dirty="0"/>
              <a:t> - 32-битова дума да бъде подравнена към 4-байтова граница.    	  - Правилното подравняване гарантира ефективен достъп до паметта;</a:t>
            </a:r>
          </a:p>
          <a:p>
            <a:pPr marL="0" indent="0">
              <a:buNone/>
            </a:pPr>
            <a:r>
              <a:rPr lang="ru-RU" dirty="0"/>
              <a:t>	  - Определя се от компилатора или програмиста.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43085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221A-4EFB-03A3-9247-5D23F4BC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-7199"/>
            <a:ext cx="8610600" cy="1293028"/>
          </a:xfrm>
        </p:spPr>
        <p:txBody>
          <a:bodyPr/>
          <a:lstStyle/>
          <a:p>
            <a:r>
              <a:rPr lang="bg-BG" dirty="0"/>
              <a:t>Работа с преноса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EDB6-9267-E0D7-8209-AEC372DD2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43584"/>
            <a:ext cx="10820400" cy="5729590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ru-RU" sz="1200" b="1" dirty="0"/>
              <a:t>Серийна комуникация с UART:    </a:t>
            </a:r>
          </a:p>
          <a:p>
            <a:pPr marL="0" indent="0">
              <a:buNone/>
            </a:pPr>
            <a:r>
              <a:rPr lang="ru-RU" sz="1200" dirty="0"/>
              <a:t>	- Използва се Universal Asynchronous Receiver/Transmitter за серийна комуникация  - популярен метод за свързване на устройства с помощта на два проводника (TX за предаване и RX за приемане).    </a:t>
            </a:r>
          </a:p>
          <a:p>
            <a:pPr marL="0" indent="0">
              <a:buNone/>
            </a:pPr>
            <a:r>
              <a:rPr lang="ru-RU" sz="1200" dirty="0"/>
              <a:t>	- Пример: Изпращането на символ „A“ от OpenRISC към свързано устройство с помощта на UART може да включва зареждане на ASCII кода за „A“ в регистър и след това задействане на UART предаване. 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2.  Паралелна комуникация със SPI (сериен периферен интерфейс) или I2C (междуинтегрална схема):</a:t>
            </a:r>
          </a:p>
          <a:p>
            <a:pPr marL="0" indent="0">
              <a:buNone/>
            </a:pPr>
            <a:r>
              <a:rPr lang="ru-RU" sz="1200" dirty="0"/>
              <a:t>	   - SPI използва множество линии за данни (MISO, MOSI, SCLK, SS) за комуникация.   </a:t>
            </a:r>
          </a:p>
          <a:p>
            <a:pPr marL="0" indent="0">
              <a:buNone/>
            </a:pPr>
            <a:r>
              <a:rPr lang="ru-RU" sz="1200" dirty="0"/>
              <a:t>	   - I2C използва двупроводна шина (SDA за данни, SCL за часовник).  </a:t>
            </a:r>
          </a:p>
          <a:p>
            <a:pPr marL="0" indent="0">
              <a:buNone/>
            </a:pPr>
            <a:r>
              <a:rPr lang="ru-RU" sz="1200" dirty="0"/>
              <a:t>	   - Пример: Предаване чрез SPI може да включва конфигуриране на SPI контролера.</a:t>
            </a:r>
          </a:p>
          <a:p>
            <a:pPr marL="0" indent="0">
              <a:buNone/>
            </a:pPr>
            <a:r>
              <a:rPr lang="ru-RU" sz="1200" b="1" dirty="0"/>
              <a:t>3. Входно/изходно картографиране на паметта:    </a:t>
            </a:r>
          </a:p>
          <a:p>
            <a:pPr marL="0" indent="0">
              <a:buNone/>
            </a:pPr>
            <a:r>
              <a:rPr lang="ru-RU" sz="1200" dirty="0"/>
              <a:t>	  - Периферните устройства се нанасят на специфични адреси на паметта;</a:t>
            </a:r>
          </a:p>
          <a:p>
            <a:pPr marL="0" indent="0">
              <a:buNone/>
            </a:pPr>
            <a:r>
              <a:rPr lang="ru-RU" sz="1200" dirty="0"/>
              <a:t>	  - Пример: Записване в памет-картиран регистър за управление на светодиод. 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4. Прекъсвания за асинхронна комуникация:   </a:t>
            </a:r>
          </a:p>
          <a:p>
            <a:pPr marL="0" indent="0">
              <a:buNone/>
            </a:pPr>
            <a:r>
              <a:rPr lang="ru-RU" sz="1200" dirty="0"/>
              <a:t>	 - Асинхронни събития, като пристигане на данни или завършване на предаване, могат да предизвикат прекъсвания.</a:t>
            </a:r>
          </a:p>
          <a:p>
            <a:pPr marL="0" indent="0">
              <a:buNone/>
            </a:pPr>
            <a:r>
              <a:rPr lang="ru-RU" sz="1200" dirty="0"/>
              <a:t>	 - Пример: Обработка на прекъсване от UART модул, когато е получен нов знак. </a:t>
            </a:r>
            <a:endParaRPr lang="bg-BG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65C9B-4BF0-0FA0-4352-9B9F52A6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51" y="2177496"/>
            <a:ext cx="4633362" cy="4267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FE1171-0918-013B-C235-8B47197C3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243" y="3049459"/>
            <a:ext cx="3635055" cy="4801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3182F0-177A-3369-5CBF-143A9F418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89" y="4770747"/>
            <a:ext cx="5730737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27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221A-4EFB-03A3-9247-5D23F4BC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-115521"/>
            <a:ext cx="8610600" cy="1293028"/>
          </a:xfrm>
        </p:spPr>
        <p:txBody>
          <a:bodyPr/>
          <a:lstStyle/>
          <a:p>
            <a:r>
              <a:rPr lang="bg-BG" dirty="0"/>
              <a:t>Условни преходи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EDB6-9267-E0D7-8209-AEC372DD2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05774"/>
            <a:ext cx="11192774" cy="58228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Условни инструкции за разклоняване: </a:t>
            </a:r>
          </a:p>
          <a:p>
            <a:pPr marL="0" indent="0">
              <a:buNone/>
            </a:pPr>
            <a:r>
              <a:rPr lang="ru-RU" dirty="0"/>
              <a:t>- Позволяват на програмния брояч да прескочи на различно място в паметта въз основа на резултата от определено условие.   </a:t>
            </a:r>
          </a:p>
          <a:p>
            <a:pPr marL="0" indent="0">
              <a:buNone/>
            </a:pPr>
            <a:r>
              <a:rPr lang="ru-RU" dirty="0"/>
              <a:t>- Включват BEQ (Разклоняване, ако е равно), BNE (Разклоняване, ако не е равно), BLT (Разклоняване, ако е по-малко) и др.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Пример за BEQ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Пример за BNE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Пример за BLT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Условни разклонения в циклични структури: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35A9D-03A9-DD13-CB09-975015746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534" y="2790830"/>
            <a:ext cx="4366638" cy="426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3456DD-52EC-84C8-38C3-09FA6DC97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534" y="3924897"/>
            <a:ext cx="4366638" cy="495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4E02A5-9A1B-47B7-E93B-7CC4DBFE8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534" y="4940887"/>
            <a:ext cx="5509737" cy="4953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067BBE-043D-A088-38E6-A362AA9FC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128" y="5792873"/>
            <a:ext cx="4854361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221A-4EFB-03A3-9247-5D23F4BC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6229" y="0"/>
            <a:ext cx="8610600" cy="1293028"/>
          </a:xfrm>
        </p:spPr>
        <p:txBody>
          <a:bodyPr/>
          <a:lstStyle/>
          <a:p>
            <a:r>
              <a:rPr lang="bg-BG" dirty="0"/>
              <a:t>Команди за битови полета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EDB6-9267-E0D7-8209-AEC372DD2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3028"/>
            <a:ext cx="11136086" cy="5336372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И (AND): </a:t>
            </a:r>
            <a:r>
              <a:rPr lang="ru-RU" dirty="0"/>
              <a:t>запазва само битовете, които са зададени в двата операнда.</a:t>
            </a:r>
          </a:p>
          <a:p>
            <a:r>
              <a:rPr lang="ru-RU" b="1" dirty="0"/>
              <a:t>ИЛИ (</a:t>
            </a:r>
            <a:r>
              <a:rPr lang="en-US" b="1" dirty="0"/>
              <a:t>OR</a:t>
            </a:r>
            <a:r>
              <a:rPr lang="ru-RU" b="1" dirty="0"/>
              <a:t>):  </a:t>
            </a:r>
            <a:r>
              <a:rPr lang="ru-RU" dirty="0"/>
              <a:t>запазва битове, които са зададени в един от двата операнда.</a:t>
            </a:r>
          </a:p>
          <a:p>
            <a:r>
              <a:rPr lang="bg-BG" b="1" dirty="0"/>
              <a:t>Изключващо ИЛИ (XOR): </a:t>
            </a:r>
            <a:r>
              <a:rPr lang="bg-BG" dirty="0"/>
              <a:t>запазва битове, които са различни в операндите.</a:t>
            </a:r>
          </a:p>
          <a:p>
            <a:r>
              <a:rPr lang="ru-RU" b="1" dirty="0"/>
              <a:t>Логическо изместване наляво (SLL):  </a:t>
            </a:r>
            <a:r>
              <a:rPr lang="ru-RU" dirty="0"/>
              <a:t>измества битовете в регистър наляво с определен брой позиции, запълвайки освободените позиции с нули.</a:t>
            </a:r>
          </a:p>
          <a:p>
            <a:r>
              <a:rPr lang="ru-RU" b="1" dirty="0"/>
              <a:t>Логическо изместване надясно (SRL):  </a:t>
            </a:r>
            <a:r>
              <a:rPr lang="ru-RU" dirty="0"/>
              <a:t>измества битовете в регистър надясно с определен брой позиции, запълвайки освободените позиции с нули.</a:t>
            </a:r>
          </a:p>
          <a:p>
            <a:r>
              <a:rPr lang="bg-BG" b="1" dirty="0"/>
              <a:t>Аритметично изместване(SRA): </a:t>
            </a:r>
            <a:r>
              <a:rPr lang="bg-BG" dirty="0"/>
              <a:t>измества битовете в регистъра надясно с определен брой позиции, запълвайки освободените позиции със знаковия бит.</a:t>
            </a:r>
          </a:p>
          <a:p>
            <a:r>
              <a:rPr lang="bg-BG" b="1" dirty="0"/>
              <a:t>Извличане на битово поле (BFEX): </a:t>
            </a:r>
            <a:r>
              <a:rPr lang="bg-BG" dirty="0"/>
              <a:t>извлича определено битово поле от регистър източник и го съхранява в регистър местоназначение.</a:t>
            </a:r>
            <a:endParaRPr lang="ru-RU" dirty="0"/>
          </a:p>
          <a:p>
            <a:r>
              <a:rPr lang="ru-RU" b="1" dirty="0"/>
              <a:t>Вмъкване на битово поле (BFINS): </a:t>
            </a:r>
            <a:r>
              <a:rPr lang="ru-RU" dirty="0"/>
              <a:t>вмъква определено битово поле в целеви регистър на определена позиция.</a:t>
            </a:r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74805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2B273-D027-3166-FD24-6C753856F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Уникалности: персонализиране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1DFD-EE06-C0DC-059C-4249C0954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Една от ключовите силни страни на OpenRISC е възможността за персонализиране. </a:t>
            </a:r>
          </a:p>
          <a:p>
            <a:r>
              <a:rPr lang="ru-RU" dirty="0"/>
              <a:t>Тя може да се адаптира към специфични изисквания.</a:t>
            </a:r>
          </a:p>
          <a:p>
            <a:r>
              <a:rPr lang="ru-RU" dirty="0"/>
              <a:t>Персонализирането включва модифициране на </a:t>
            </a:r>
            <a:r>
              <a:rPr lang="en-US" dirty="0"/>
              <a:t>pipeline </a:t>
            </a:r>
            <a:r>
              <a:rPr lang="ru-RU" dirty="0"/>
              <a:t>етапите, добавяне на инструкции и коригиране на размерите на кеша.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00402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C054-18F9-0A0C-A8BE-CA390A2F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Уникалности: приложения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31D1-71C8-53C4-6664-DBA7DB40A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OpenRISC намира приложения в различни области: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Вградени системи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Дизайн на система върху чип (SoC).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Академични изследвания и образование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Отворени хардуерни проекти</a:t>
            </a:r>
          </a:p>
          <a:p>
            <a:r>
              <a:rPr lang="ru-RU" dirty="0"/>
              <a:t>Примерите от реалния свят включват базирания на OpenRISC проект ORPSoC.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12191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064F-C727-E85F-8D3B-95F18770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764373"/>
            <a:ext cx="10351168" cy="1293028"/>
          </a:xfrm>
        </p:spPr>
        <p:txBody>
          <a:bodyPr/>
          <a:lstStyle/>
          <a:p>
            <a:r>
              <a:rPr lang="bg-BG" dirty="0"/>
              <a:t>Уникалности: Сравнение с други архитектури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14E80-73F8-B6C3-3E72-310903378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31437"/>
            <a:ext cx="10820400" cy="445070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OpenRISC </a:t>
            </a:r>
            <a:r>
              <a:rPr lang="bg-BG" dirty="0"/>
              <a:t>и</a:t>
            </a:r>
            <a:r>
              <a:rPr lang="ru-RU" dirty="0"/>
              <a:t> ARM</a:t>
            </a:r>
            <a:endParaRPr lang="ru-RU" sz="19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1900" dirty="0"/>
              <a:t>И двете са RISC архитектури, но OpenRISC е с напълно отворен код.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1900" dirty="0"/>
              <a:t>ARM се използва по-широко в мобилните устройства, докато OpenRISC често се избира за потребителски вградени решения и изследователски проекти.</a:t>
            </a:r>
          </a:p>
          <a:p>
            <a:r>
              <a:rPr lang="ru-RU" dirty="0"/>
              <a:t>OpenRISC и x86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1900" dirty="0"/>
              <a:t>x86 е CISC (Complex Instruction Set Computing) архитектура, докато OpenRISC следва философията на RISC.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/>
              <a:t>X</a:t>
            </a:r>
            <a:r>
              <a:rPr lang="ru-RU" sz="1900" dirty="0"/>
              <a:t>86 доминира в персоналните компютри и сървъри.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1900" dirty="0"/>
              <a:t>Опростеността на OpenRISC често води до по-ефективни и съзнателни дизайни. </a:t>
            </a:r>
          </a:p>
          <a:p>
            <a:r>
              <a:rPr lang="ru-RU" dirty="0"/>
              <a:t>OpenRISC и MIPS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1900" dirty="0"/>
              <a:t>MIPS е друга RISC архитектура, известна с използването си в мрежи и вградени системи.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1900" dirty="0"/>
              <a:t>Докато </a:t>
            </a:r>
            <a:r>
              <a:rPr lang="en-US" sz="1900" dirty="0"/>
              <a:t>OpenRISC e </a:t>
            </a:r>
            <a:r>
              <a:rPr lang="bg-BG" sz="1900" dirty="0"/>
              <a:t>отворена архитектура, </a:t>
            </a:r>
            <a:r>
              <a:rPr lang="en-US" sz="1900" dirty="0"/>
              <a:t>MIPS </a:t>
            </a:r>
            <a:r>
              <a:rPr lang="bg-BG" sz="1900" dirty="0"/>
              <a:t>е собственост.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1900" dirty="0"/>
              <a:t>Отвореността и възможността за персонализиране на OpenRISC го отличават, което го прави предпочитан избор за различни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275458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91B2-5D83-C557-7B96-D1ACAA1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Предимства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5529C-6137-E171-59ED-41C8FC07B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Предимства на OpenRISC: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Отвореност: Прозрачната архитектура насърчава сътрудничеството.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Гъвкавост: Възможност за персонализиране за различни приложения.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Общност</a:t>
            </a:r>
            <a:r>
              <a:rPr lang="ru-RU" dirty="0"/>
              <a:t>: Активна подкрепа и принос на общността.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12150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3680-C73B-F1A6-B5C9-70DF8D56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Предизвикателства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534B4-A48E-88DC-FD97-B1509225D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Предизвикателства пред OpenRISC: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Ограничено приемане в индустрията в сравнение с основните архитектури.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Постоянни усилия за подобряване на производителността и ефективността.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ru-RU" sz="2000" dirty="0"/>
              <a:t>Отстраняване на проблеми със съвместимостта със съществуващ софтуер.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099266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C2EDE-9F6C-0476-29EC-4CDE1ADB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Общност с отворен код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C559-C803-31DE-9E71-16A3E5CB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Силата на OpenRISC се крие не само в неговата архитектура, но и в жизнената общност с отворен код, която подкрепя неговото развитие.</a:t>
            </a:r>
          </a:p>
          <a:p>
            <a:endParaRPr lang="ru-RU" dirty="0"/>
          </a:p>
          <a:p>
            <a:r>
              <a:rPr lang="ru-RU" dirty="0"/>
              <a:t>Платформи за разработка: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OpenRISC е многофункционален, поддържа различни платформи за разработка като FPGA и симулатори.</a:t>
            </a:r>
          </a:p>
          <a:p>
            <a:r>
              <a:rPr lang="ru-RU" dirty="0"/>
              <a:t>Платформи за сътрудничество: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Сърцето на общността на OpenRISC е в GitHub, където се хоства кодовата база.</a:t>
            </a:r>
          </a:p>
        </p:txBody>
      </p:sp>
    </p:spTree>
    <p:extLst>
      <p:ext uri="{BB962C8B-B14F-4D97-AF65-F5344CB8AC3E}">
        <p14:creationId xmlns:p14="http://schemas.microsoft.com/office/powerpoint/2010/main" val="1454482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97C8-FAAC-20AE-CACD-DC10F663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Бъдещи развития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71A6D-E999-485C-56AA-60754FF8E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OpenRISC непрекъснато се развива с постоянни усилия, насочени към подобряване на производителността, разширяване на поддръжката на платформата и насърчаване на участието на общността.</a:t>
            </a:r>
          </a:p>
          <a:p>
            <a:endParaRPr lang="ru-RU" dirty="0"/>
          </a:p>
          <a:p>
            <a:r>
              <a:rPr lang="ru-RU" dirty="0"/>
              <a:t>Подобрения в производителността: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Очаквайте подобрения в изпълнението на инструкции, намалено забавяне и цялостна ефективност, тъй като общността на OpenRISC работи за подобряване на производителността на процесора.</a:t>
            </a:r>
          </a:p>
          <a:p>
            <a:endParaRPr lang="ru-RU" dirty="0"/>
          </a:p>
          <a:p>
            <a:r>
              <a:rPr lang="ru-RU" dirty="0"/>
              <a:t>Разширена поддръжка на платформа: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OpenRISC достига нови висоти с планове за поддръжка на по-широка гама от платформи и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269258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2D87-B21D-4995-D9E0-E3A07F9B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BE10B-27CC-39C4-DDBB-D7371EF22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заключение, OpenRISC представлява не само процесорна архитектура, но и философия за отвореност, възможност за персонализиране и сътрудничество на общността.</a:t>
            </a:r>
          </a:p>
          <a:p>
            <a:r>
              <a:rPr lang="ru-RU" dirty="0"/>
              <a:t>Отвореността и персонализацията са отличителните белези на OpenRISC.</a:t>
            </a:r>
          </a:p>
          <a:p>
            <a:r>
              <a:rPr lang="ru-RU" dirty="0"/>
              <a:t>Архитектурата намира приложения в различни области, от вградени системи до авангардни изследователски проекти.</a:t>
            </a:r>
          </a:p>
          <a:p>
            <a:r>
              <a:rPr lang="ru-RU" dirty="0"/>
              <a:t>Продължаващото развитие и участието на общността оформят бъдещето му.</a:t>
            </a:r>
          </a:p>
        </p:txBody>
      </p:sp>
    </p:spTree>
    <p:extLst>
      <p:ext uri="{BB962C8B-B14F-4D97-AF65-F5344CB8AC3E}">
        <p14:creationId xmlns:p14="http://schemas.microsoft.com/office/powerpoint/2010/main" val="155514520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259</TotalTime>
  <Words>1341</Words>
  <Application>Microsoft Office PowerPoint</Application>
  <PresentationFormat>Widescreen</PresentationFormat>
  <Paragraphs>148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Courier New</vt:lpstr>
      <vt:lpstr>Vapor Trail</vt:lpstr>
      <vt:lpstr>openrisc</vt:lpstr>
      <vt:lpstr>Въведение в openrisc архитекрутата </vt:lpstr>
      <vt:lpstr>история</vt:lpstr>
      <vt:lpstr>Предназначение на OpenRISC</vt:lpstr>
      <vt:lpstr>Основи на архитектурата</vt:lpstr>
      <vt:lpstr>Архитектура на набора от инструкции (ISA)</vt:lpstr>
      <vt:lpstr>Методи за адресация</vt:lpstr>
      <vt:lpstr>Методи за адресация</vt:lpstr>
      <vt:lpstr>Работа с преноса</vt:lpstr>
      <vt:lpstr>Условни преходи</vt:lpstr>
      <vt:lpstr>Команди за битови полета</vt:lpstr>
      <vt:lpstr>Уникалности: персонализиране</vt:lpstr>
      <vt:lpstr>Уникалности: приложения</vt:lpstr>
      <vt:lpstr>Уникалности: Сравнение с други архитектури</vt:lpstr>
      <vt:lpstr>Предимства</vt:lpstr>
      <vt:lpstr>Предизвикателства</vt:lpstr>
      <vt:lpstr>Общност с отворен код</vt:lpstr>
      <vt:lpstr>Бъдещи развития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Teodora Stoycheva</dc:creator>
  <cp:lastModifiedBy>Teodora Stoycheva</cp:lastModifiedBy>
  <cp:revision>7</cp:revision>
  <dcterms:created xsi:type="dcterms:W3CDTF">2024-01-03T12:37:15Z</dcterms:created>
  <dcterms:modified xsi:type="dcterms:W3CDTF">2024-01-11T22:52:19Z</dcterms:modified>
</cp:coreProperties>
</file>
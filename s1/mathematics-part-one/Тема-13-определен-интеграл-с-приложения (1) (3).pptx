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1" r:id="rId4"/>
  </p:sldMasterIdLst>
  <p:notesMasterIdLst>
    <p:notesMasterId r:id="rId26"/>
  </p:notesMasterIdLst>
  <p:handoutMasterIdLst>
    <p:handoutMasterId r:id="rId27"/>
  </p:handoutMasterIdLst>
  <p:sldIdLst>
    <p:sldId id="439" r:id="rId5"/>
    <p:sldId id="706" r:id="rId6"/>
    <p:sldId id="705" r:id="rId7"/>
    <p:sldId id="695" r:id="rId8"/>
    <p:sldId id="708" r:id="rId9"/>
    <p:sldId id="725" r:id="rId10"/>
    <p:sldId id="727" r:id="rId11"/>
    <p:sldId id="698" r:id="rId12"/>
    <p:sldId id="726" r:id="rId13"/>
    <p:sldId id="699" r:id="rId14"/>
    <p:sldId id="723" r:id="rId15"/>
    <p:sldId id="697" r:id="rId16"/>
    <p:sldId id="700" r:id="rId17"/>
    <p:sldId id="701" r:id="rId18"/>
    <p:sldId id="702" r:id="rId19"/>
    <p:sldId id="703" r:id="rId20"/>
    <p:sldId id="711" r:id="rId21"/>
    <p:sldId id="712" r:id="rId22"/>
    <p:sldId id="717" r:id="rId23"/>
    <p:sldId id="718" r:id="rId24"/>
    <p:sldId id="719" r:id="rId2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66CC"/>
    <a:srgbClr val="0033CC"/>
    <a:srgbClr val="FFFF66"/>
    <a:srgbClr val="FFFF99"/>
    <a:srgbClr val="D0EAB4"/>
    <a:srgbClr val="B4DE86"/>
    <a:srgbClr val="990099"/>
    <a:srgbClr val="9933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F40B6-7216-4599-A929-25395D414EAB}" v="1" dt="2023-01-02T10:00:13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39" autoAdjust="0"/>
    <p:restoredTop sz="88247" autoAdjust="0"/>
  </p:normalViewPr>
  <p:slideViewPr>
    <p:cSldViewPr>
      <p:cViewPr varScale="1">
        <p:scale>
          <a:sx n="72" d="100"/>
          <a:sy n="72" d="100"/>
        </p:scale>
        <p:origin x="1867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26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ЯНА АМПОВА" userId="S::s22621751@onlineedu.tu-varna.bg::e3fef173-1d60-411b-802f-d8b58aa20486" providerId="AD" clId="Web-{5C9F40B6-7216-4599-A929-25395D414EAB}"/>
    <pc:docChg chg="modSld">
      <pc:chgData name="ЯНА АМПОВА" userId="S::s22621751@onlineedu.tu-varna.bg::e3fef173-1d60-411b-802f-d8b58aa20486" providerId="AD" clId="Web-{5C9F40B6-7216-4599-A929-25395D414EAB}" dt="2023-01-02T10:00:13.341" v="0" actId="1076"/>
      <pc:docMkLst>
        <pc:docMk/>
      </pc:docMkLst>
      <pc:sldChg chg="modSp">
        <pc:chgData name="ЯНА АМПОВА" userId="S::s22621751@onlineedu.tu-varna.bg::e3fef173-1d60-411b-802f-d8b58aa20486" providerId="AD" clId="Web-{5C9F40B6-7216-4599-A929-25395D414EAB}" dt="2023-01-02T10:00:13.341" v="0" actId="1076"/>
        <pc:sldMkLst>
          <pc:docMk/>
          <pc:sldMk cId="2565061825" sldId="695"/>
        </pc:sldMkLst>
        <pc:spChg chg="mod">
          <ac:chgData name="ЯНА АМПОВА" userId="S::s22621751@onlineedu.tu-varna.bg::e3fef173-1d60-411b-802f-d8b58aa20486" providerId="AD" clId="Web-{5C9F40B6-7216-4599-A929-25395D414EAB}" dt="2023-01-02T10:00:13.341" v="0" actId="1076"/>
          <ac:spMkLst>
            <pc:docMk/>
            <pc:sldMk cId="2565061825" sldId="695"/>
            <ac:spMk id="5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CA8EB55-7B5E-4CC4-9960-FB993E20328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3774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1198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98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6C79C66-574B-4376-A14E-240C123E58A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192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C79C66-574B-4376-A14E-240C123E58A4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28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224BA19-137A-476E-A1B1-F6AC2972A733}" type="slidenum">
              <a:rPr lang="ru-RU" sz="1200" smtClean="0"/>
              <a:pPr eaLnBrk="1" hangingPunct="1"/>
              <a:t>3</a:t>
            </a:fld>
            <a:endParaRPr lang="ru-RU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920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C79C66-574B-4376-A14E-240C123E58A4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407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2FABAD-B487-401E-9365-E54653BBE07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37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75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F6E6AE-EADF-4D3D-8A9A-E040DCBEF7C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389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7EFF9-F187-4F0E-89A4-22FDBE7947A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02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82A84F-05BD-4CAB-8BCB-92AE7447026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04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8CA68C-8E64-4C91-BA49-88459C227C3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71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C716A7-F7B0-4E65-9311-75F1E34D700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11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F96486-9661-4C3B-926A-0F232017C40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671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D5C9B8-C848-4031-8047-88C9FBDBF67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64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F7C981-0A6D-4040-95E1-4D8BE0233EAF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57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69F6BC-EC50-4F9E-87B2-CDBE2943198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40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Заголовок и текст над объек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E8DE2-DCC8-40EC-86CC-43176A1EDBA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883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/>
              <a:t>Определен интеграл                    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C4992A-8360-4F6D-BA53-5B4B15C67D3A}" type="slidenum">
              <a:rPr lang="en-US" altLang="bg-BG"/>
              <a:pPr>
                <a:defRPr/>
              </a:pPr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56240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E59857-4E12-40AE-9769-A0D280A9884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326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  <p:sldLayoutId id="2147483914" r:id="rId1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wmf"/><Relationship Id="rId26" Type="http://schemas.openxmlformats.org/officeDocument/2006/relationships/image" Target="../media/image15.wmf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20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8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29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4.wmf"/><Relationship Id="rId32" Type="http://schemas.openxmlformats.org/officeDocument/2006/relationships/image" Target="../media/image18.wmf"/><Relationship Id="rId37" Type="http://schemas.openxmlformats.org/officeDocument/2006/relationships/image" Target="../media/image23.png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6.wmf"/><Relationship Id="rId36" Type="http://schemas.openxmlformats.org/officeDocument/2006/relationships/image" Target="../media/image22.png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7.wmf"/><Relationship Id="rId35" Type="http://schemas.openxmlformats.org/officeDocument/2006/relationships/image" Target="../media/image21.png"/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24.bin"/><Relationship Id="rId26" Type="http://schemas.openxmlformats.org/officeDocument/2006/relationships/oleObject" Target="../embeddings/oleObject28.bin"/><Relationship Id="rId3" Type="http://schemas.openxmlformats.org/officeDocument/2006/relationships/image" Target="../media/image19.wmf"/><Relationship Id="rId21" Type="http://schemas.openxmlformats.org/officeDocument/2006/relationships/image" Target="../media/image28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6.wmf"/><Relationship Id="rId25" Type="http://schemas.openxmlformats.org/officeDocument/2006/relationships/image" Target="../media/image30.wmf"/><Relationship Id="rId2" Type="http://schemas.openxmlformats.org/officeDocument/2006/relationships/oleObject" Target="../embeddings/oleObject16.bin"/><Relationship Id="rId16" Type="http://schemas.openxmlformats.org/officeDocument/2006/relationships/oleObject" Target="../embeddings/oleObject23.bin"/><Relationship Id="rId20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3.wmf"/><Relationship Id="rId24" Type="http://schemas.openxmlformats.org/officeDocument/2006/relationships/oleObject" Target="../embeddings/oleObject27.bin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23" Type="http://schemas.openxmlformats.org/officeDocument/2006/relationships/image" Target="../media/image29.wmf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27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2.bin"/><Relationship Id="rId22" Type="http://schemas.openxmlformats.org/officeDocument/2006/relationships/oleObject" Target="../embeddings/oleObject26.bin"/><Relationship Id="rId27" Type="http://schemas.openxmlformats.org/officeDocument/2006/relationships/image" Target="../media/image3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emf"/><Relationship Id="rId18" Type="http://schemas.openxmlformats.org/officeDocument/2006/relationships/oleObject" Target="../embeddings/oleObject37.bin"/><Relationship Id="rId26" Type="http://schemas.openxmlformats.org/officeDocument/2006/relationships/oleObject" Target="../embeddings/oleObject41.bin"/><Relationship Id="rId21" Type="http://schemas.openxmlformats.org/officeDocument/2006/relationships/image" Target="../media/image41.wmf"/><Relationship Id="rId34" Type="http://schemas.openxmlformats.org/officeDocument/2006/relationships/oleObject" Target="../embeddings/oleObject45.bin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9.wmf"/><Relationship Id="rId25" Type="http://schemas.openxmlformats.org/officeDocument/2006/relationships/image" Target="../media/image43.wmf"/><Relationship Id="rId33" Type="http://schemas.openxmlformats.org/officeDocument/2006/relationships/image" Target="../media/image47.w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29" Type="http://schemas.openxmlformats.org/officeDocument/2006/relationships/image" Target="../media/image4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6.wmf"/><Relationship Id="rId24" Type="http://schemas.openxmlformats.org/officeDocument/2006/relationships/oleObject" Target="../embeddings/oleObject40.bin"/><Relationship Id="rId32" Type="http://schemas.openxmlformats.org/officeDocument/2006/relationships/oleObject" Target="../embeddings/oleObject44.bin"/><Relationship Id="rId37" Type="http://schemas.openxmlformats.org/officeDocument/2006/relationships/image" Target="../media/image49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23" Type="http://schemas.openxmlformats.org/officeDocument/2006/relationships/image" Target="../media/image42.wmf"/><Relationship Id="rId28" Type="http://schemas.openxmlformats.org/officeDocument/2006/relationships/oleObject" Target="../embeddings/oleObject42.bin"/><Relationship Id="rId36" Type="http://schemas.openxmlformats.org/officeDocument/2006/relationships/oleObject" Target="../embeddings/oleObject46.bin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40.wmf"/><Relationship Id="rId31" Type="http://schemas.openxmlformats.org/officeDocument/2006/relationships/image" Target="../media/image46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39.bin"/><Relationship Id="rId27" Type="http://schemas.openxmlformats.org/officeDocument/2006/relationships/image" Target="../media/image44.wmf"/><Relationship Id="rId30" Type="http://schemas.openxmlformats.org/officeDocument/2006/relationships/oleObject" Target="../embeddings/oleObject43.bin"/><Relationship Id="rId35" Type="http://schemas.openxmlformats.org/officeDocument/2006/relationships/image" Target="../media/image48.wmf"/><Relationship Id="rId8" Type="http://schemas.openxmlformats.org/officeDocument/2006/relationships/oleObject" Target="../embeddings/oleObject32.bin"/><Relationship Id="rId3" Type="http://schemas.openxmlformats.org/officeDocument/2006/relationships/image" Target="../media/image3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51.wmf"/><Relationship Id="rId4" Type="http://schemas.openxmlformats.org/officeDocument/2006/relationships/oleObject" Target="../embeddings/oleObject4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58.wmf"/><Relationship Id="rId7" Type="http://schemas.openxmlformats.org/officeDocument/2006/relationships/oleObject" Target="../embeddings/oleObject56.bin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eg"/><Relationship Id="rId5" Type="http://schemas.openxmlformats.org/officeDocument/2006/relationships/image" Target="../media/image63.wmf"/><Relationship Id="rId4" Type="http://schemas.openxmlformats.org/officeDocument/2006/relationships/oleObject" Target="../embeddings/oleObject5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3" Type="http://schemas.openxmlformats.org/officeDocument/2006/relationships/image" Target="../media/image75.png"/><Relationship Id="rId7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wmf"/><Relationship Id="rId10" Type="http://schemas.openxmlformats.org/officeDocument/2006/relationships/image" Target="../media/image68.png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75.wmf"/><Relationship Id="rId26" Type="http://schemas.openxmlformats.org/officeDocument/2006/relationships/image" Target="../media/image79.wmf"/><Relationship Id="rId21" Type="http://schemas.openxmlformats.org/officeDocument/2006/relationships/oleObject" Target="../embeddings/oleObject69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67.bin"/><Relationship Id="rId25" Type="http://schemas.openxmlformats.org/officeDocument/2006/relationships/oleObject" Target="../embeddings/oleObject71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4.wmf"/><Relationship Id="rId20" Type="http://schemas.openxmlformats.org/officeDocument/2006/relationships/image" Target="../media/image7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64.bin"/><Relationship Id="rId24" Type="http://schemas.openxmlformats.org/officeDocument/2006/relationships/image" Target="../media/image78.wmf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23" Type="http://schemas.openxmlformats.org/officeDocument/2006/relationships/oleObject" Target="../embeddings/oleObject70.bin"/><Relationship Id="rId10" Type="http://schemas.openxmlformats.org/officeDocument/2006/relationships/image" Target="../media/image71.wmf"/><Relationship Id="rId19" Type="http://schemas.openxmlformats.org/officeDocument/2006/relationships/oleObject" Target="../embeddings/oleObject68.bin"/><Relationship Id="rId4" Type="http://schemas.openxmlformats.org/officeDocument/2006/relationships/image" Target="../media/image90.png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73.emf"/><Relationship Id="rId22" Type="http://schemas.openxmlformats.org/officeDocument/2006/relationships/image" Target="../media/image77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5.emf"/><Relationship Id="rId18" Type="http://schemas.openxmlformats.org/officeDocument/2006/relationships/oleObject" Target="../embeddings/oleObject80.bin"/><Relationship Id="rId26" Type="http://schemas.openxmlformats.org/officeDocument/2006/relationships/oleObject" Target="../embeddings/oleObject84.bin"/><Relationship Id="rId39" Type="http://schemas.openxmlformats.org/officeDocument/2006/relationships/image" Target="../media/image97.emf"/><Relationship Id="rId21" Type="http://schemas.openxmlformats.org/officeDocument/2006/relationships/image" Target="../media/image79.wmf"/><Relationship Id="rId34" Type="http://schemas.openxmlformats.org/officeDocument/2006/relationships/oleObject" Target="../embeddings/oleObject88.bin"/><Relationship Id="rId42" Type="http://schemas.openxmlformats.org/officeDocument/2006/relationships/oleObject" Target="../embeddings/oleObject92.bin"/><Relationship Id="rId47" Type="http://schemas.openxmlformats.org/officeDocument/2006/relationships/image" Target="../media/image101.wmf"/><Relationship Id="rId50" Type="http://schemas.openxmlformats.org/officeDocument/2006/relationships/oleObject" Target="../embeddings/oleObject96.bin"/><Relationship Id="rId7" Type="http://schemas.openxmlformats.org/officeDocument/2006/relationships/image" Target="../media/image82.wmf"/><Relationship Id="rId2" Type="http://schemas.openxmlformats.org/officeDocument/2006/relationships/oleObject" Target="../embeddings/oleObject72.bin"/><Relationship Id="rId16" Type="http://schemas.openxmlformats.org/officeDocument/2006/relationships/oleObject" Target="../embeddings/oleObject79.bin"/><Relationship Id="rId29" Type="http://schemas.openxmlformats.org/officeDocument/2006/relationships/image" Target="../media/image92.wmf"/><Relationship Id="rId11" Type="http://schemas.openxmlformats.org/officeDocument/2006/relationships/image" Target="../media/image84.wmf"/><Relationship Id="rId24" Type="http://schemas.openxmlformats.org/officeDocument/2006/relationships/oleObject" Target="../embeddings/oleObject83.bin"/><Relationship Id="rId32" Type="http://schemas.openxmlformats.org/officeDocument/2006/relationships/oleObject" Target="../embeddings/oleObject87.bin"/><Relationship Id="rId37" Type="http://schemas.openxmlformats.org/officeDocument/2006/relationships/image" Target="../media/image96.wmf"/><Relationship Id="rId40" Type="http://schemas.openxmlformats.org/officeDocument/2006/relationships/oleObject" Target="../embeddings/oleObject91.bin"/><Relationship Id="rId45" Type="http://schemas.openxmlformats.org/officeDocument/2006/relationships/image" Target="../media/image100.wmf"/><Relationship Id="rId53" Type="http://schemas.openxmlformats.org/officeDocument/2006/relationships/image" Target="../media/image104.wmf"/><Relationship Id="rId5" Type="http://schemas.openxmlformats.org/officeDocument/2006/relationships/image" Target="../media/image81.w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88.wmf"/><Relationship Id="rId31" Type="http://schemas.openxmlformats.org/officeDocument/2006/relationships/image" Target="../media/image93.wmf"/><Relationship Id="rId44" Type="http://schemas.openxmlformats.org/officeDocument/2006/relationships/oleObject" Target="../embeddings/oleObject93.bin"/><Relationship Id="rId52" Type="http://schemas.openxmlformats.org/officeDocument/2006/relationships/oleObject" Target="../embeddings/oleObject97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78.bin"/><Relationship Id="rId22" Type="http://schemas.openxmlformats.org/officeDocument/2006/relationships/oleObject" Target="../embeddings/oleObject82.bin"/><Relationship Id="rId27" Type="http://schemas.openxmlformats.org/officeDocument/2006/relationships/image" Target="../media/image91.wmf"/><Relationship Id="rId30" Type="http://schemas.openxmlformats.org/officeDocument/2006/relationships/oleObject" Target="../embeddings/oleObject86.bin"/><Relationship Id="rId35" Type="http://schemas.openxmlformats.org/officeDocument/2006/relationships/image" Target="../media/image95.wmf"/><Relationship Id="rId43" Type="http://schemas.openxmlformats.org/officeDocument/2006/relationships/image" Target="../media/image99.wmf"/><Relationship Id="rId48" Type="http://schemas.openxmlformats.org/officeDocument/2006/relationships/oleObject" Target="../embeddings/oleObject95.bin"/><Relationship Id="rId8" Type="http://schemas.openxmlformats.org/officeDocument/2006/relationships/oleObject" Target="../embeddings/oleObject75.bin"/><Relationship Id="rId51" Type="http://schemas.openxmlformats.org/officeDocument/2006/relationships/image" Target="../media/image103.wmf"/><Relationship Id="rId3" Type="http://schemas.openxmlformats.org/officeDocument/2006/relationships/image" Target="../media/image80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87.wmf"/><Relationship Id="rId25" Type="http://schemas.openxmlformats.org/officeDocument/2006/relationships/image" Target="../media/image90.wmf"/><Relationship Id="rId33" Type="http://schemas.openxmlformats.org/officeDocument/2006/relationships/image" Target="../media/image94.wmf"/><Relationship Id="rId38" Type="http://schemas.openxmlformats.org/officeDocument/2006/relationships/oleObject" Target="../embeddings/oleObject90.bin"/><Relationship Id="rId46" Type="http://schemas.openxmlformats.org/officeDocument/2006/relationships/oleObject" Target="../embeddings/oleObject94.bin"/><Relationship Id="rId20" Type="http://schemas.openxmlformats.org/officeDocument/2006/relationships/oleObject" Target="../embeddings/oleObject81.bin"/><Relationship Id="rId41" Type="http://schemas.openxmlformats.org/officeDocument/2006/relationships/image" Target="../media/image9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4.bin"/><Relationship Id="rId15" Type="http://schemas.openxmlformats.org/officeDocument/2006/relationships/image" Target="../media/image86.wmf"/><Relationship Id="rId23" Type="http://schemas.openxmlformats.org/officeDocument/2006/relationships/image" Target="../media/image89.wmf"/><Relationship Id="rId28" Type="http://schemas.openxmlformats.org/officeDocument/2006/relationships/oleObject" Target="../embeddings/oleObject85.bin"/><Relationship Id="rId36" Type="http://schemas.openxmlformats.org/officeDocument/2006/relationships/oleObject" Target="../embeddings/oleObject89.bin"/><Relationship Id="rId49" Type="http://schemas.openxmlformats.org/officeDocument/2006/relationships/image" Target="../media/image10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110.wmf"/><Relationship Id="rId18" Type="http://schemas.openxmlformats.org/officeDocument/2006/relationships/oleObject" Target="../embeddings/oleObject106.bin"/><Relationship Id="rId3" Type="http://schemas.openxmlformats.org/officeDocument/2006/relationships/image" Target="../media/image105.wmf"/><Relationship Id="rId21" Type="http://schemas.openxmlformats.org/officeDocument/2006/relationships/image" Target="../media/image114.wmf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112.wmf"/><Relationship Id="rId25" Type="http://schemas.openxmlformats.org/officeDocument/2006/relationships/image" Target="../media/image116.wmf"/><Relationship Id="rId2" Type="http://schemas.openxmlformats.org/officeDocument/2006/relationships/oleObject" Target="../embeddings/oleObject98.bin"/><Relationship Id="rId16" Type="http://schemas.openxmlformats.org/officeDocument/2006/relationships/oleObject" Target="../embeddings/oleObject105.bin"/><Relationship Id="rId20" Type="http://schemas.openxmlformats.org/officeDocument/2006/relationships/oleObject" Target="../embeddings/oleObject10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09.wmf"/><Relationship Id="rId24" Type="http://schemas.openxmlformats.org/officeDocument/2006/relationships/oleObject" Target="../embeddings/oleObject109.bin"/><Relationship Id="rId5" Type="http://schemas.openxmlformats.org/officeDocument/2006/relationships/image" Target="../media/image106.wmf"/><Relationship Id="rId15" Type="http://schemas.openxmlformats.org/officeDocument/2006/relationships/image" Target="../media/image111.wmf"/><Relationship Id="rId23" Type="http://schemas.openxmlformats.org/officeDocument/2006/relationships/image" Target="../media/image115.wmf"/><Relationship Id="rId10" Type="http://schemas.openxmlformats.org/officeDocument/2006/relationships/oleObject" Target="../embeddings/oleObject102.bin"/><Relationship Id="rId19" Type="http://schemas.openxmlformats.org/officeDocument/2006/relationships/image" Target="../media/image113.w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08.wmf"/><Relationship Id="rId14" Type="http://schemas.openxmlformats.org/officeDocument/2006/relationships/oleObject" Target="../embeddings/oleObject104.bin"/><Relationship Id="rId22" Type="http://schemas.openxmlformats.org/officeDocument/2006/relationships/oleObject" Target="../embeddings/oleObject10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23.wmf"/><Relationship Id="rId3" Type="http://schemas.openxmlformats.org/officeDocument/2006/relationships/image" Target="../media/image118.wmf"/><Relationship Id="rId7" Type="http://schemas.openxmlformats.org/officeDocument/2006/relationships/image" Target="../media/image85.png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116.bin"/><Relationship Id="rId2" Type="http://schemas.openxmlformats.org/officeDocument/2006/relationships/oleObject" Target="../embeddings/oleObject111.bin"/><Relationship Id="rId16" Type="http://schemas.openxmlformats.org/officeDocument/2006/relationships/image" Target="../media/image122.wmf"/><Relationship Id="rId20" Type="http://schemas.openxmlformats.org/officeDocument/2006/relationships/image" Target="../media/image124.wmf"/><Relationship Id="rId1" Type="http://schemas.openxmlformats.org/officeDocument/2006/relationships/slideLayout" Target="../slideLayouts/slideLayout2.xml"/><Relationship Id="rId11" Type="http://schemas.openxmlformats.org/officeDocument/2006/relationships/oleObject" Target="../embeddings/oleObject113.bin"/><Relationship Id="rId15" Type="http://schemas.openxmlformats.org/officeDocument/2006/relationships/oleObject" Target="../embeddings/oleObject115.bin"/><Relationship Id="rId10" Type="http://schemas.openxmlformats.org/officeDocument/2006/relationships/image" Target="../media/image119.wmf"/><Relationship Id="rId19" Type="http://schemas.openxmlformats.org/officeDocument/2006/relationships/oleObject" Target="../embeddings/oleObject117.bin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21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26.jpg"/><Relationship Id="rId4" Type="http://schemas.openxmlformats.org/officeDocument/2006/relationships/image" Target="../media/image1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g"/><Relationship Id="rId2" Type="http://schemas.openxmlformats.org/officeDocument/2006/relationships/image" Target="../media/image1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0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44.png"/><Relationship Id="rId7" Type="http://schemas.openxmlformats.org/officeDocument/2006/relationships/image" Target="../media/image132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476673"/>
            <a:ext cx="8229600" cy="3312368"/>
          </a:xfrm>
        </p:spPr>
        <p:txBody>
          <a:bodyPr rtlCol="0">
            <a:normAutofit/>
          </a:bodyPr>
          <a:lstStyle/>
          <a:p>
            <a:pPr marL="274320" indent="-274320" algn="ctr" eaLnBrk="1" fontAlgn="auto" hangingPunct="1">
              <a:lnSpc>
                <a:spcPct val="140000"/>
              </a:lnSpc>
              <a:spcAft>
                <a:spcPts val="0"/>
              </a:spcAft>
              <a:buFontTx/>
              <a:buNone/>
              <a:defRPr/>
            </a:pPr>
            <a:r>
              <a:rPr lang="ru-RU" b="1" dirty="0">
                <a:solidFill>
                  <a:srgbClr val="FFFFFF"/>
                </a:solidFill>
              </a:rPr>
              <a:t> </a:t>
            </a:r>
            <a:r>
              <a:rPr lang="en-US" sz="6900" b="1" dirty="0">
                <a:solidFill>
                  <a:srgbClr val="0000CC"/>
                </a:solidFill>
                <a:latin typeface="Monotype Corsiva" pitchFamily="66" charset="0"/>
              </a:rPr>
              <a:t>O</a:t>
            </a:r>
            <a:r>
              <a:rPr lang="bg-BG" sz="6900" b="1" dirty="0">
                <a:solidFill>
                  <a:srgbClr val="0000CC"/>
                </a:solidFill>
                <a:latin typeface="Monotype Corsiva" pitchFamily="66" charset="0"/>
              </a:rPr>
              <a:t>пределен  интеграл </a:t>
            </a:r>
            <a:endParaRPr lang="ru-RU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974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1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67265" y="1751277"/>
                <a:ext cx="7821159" cy="1029651"/>
              </a:xfr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90000"/>
                  </a:lnSpc>
                  <a:buNone/>
                  <a:defRPr/>
                </a:pPr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Определение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Областта (</a:t>
                </a:r>
                <a:r>
                  <a:rPr lang="en-US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σ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) в координатната равнина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O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𝑥𝑦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, ограничена от </a:t>
                </a:r>
                <a:r>
                  <a:rPr lang="ru-RU" sz="1600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отсечката</a:t>
                </a:r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 [</a:t>
                </a:r>
                <a:r>
                  <a:rPr lang="en-US" sz="1600" b="1" i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a</a:t>
                </a:r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;</a:t>
                </a:r>
                <a:r>
                  <a:rPr lang="en-US" sz="1600" b="1" i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b</a:t>
                </a:r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]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</a:t>
                </a:r>
                <a:r>
                  <a:rPr lang="bg-BG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върху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абсцисната ос </a:t>
                </a:r>
                <a:r>
                  <a:rPr lang="en-US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Ox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,  </a:t>
                </a:r>
                <a:r>
                  <a:rPr lang="bg-BG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вертикалните 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прави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𝒙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𝒂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и 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𝒙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𝒃</m:t>
                    </m:r>
                  </m:oMath>
                </a14:m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  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и </a:t>
                </a:r>
                <a:r>
                  <a:rPr lang="ru-RU" sz="1600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графиката на функцията </a:t>
                </a:r>
                <a:r>
                  <a:rPr lang="en-US" sz="1600" b="1" i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y</a:t>
                </a:r>
                <a:r>
                  <a:rPr lang="en-US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 </a:t>
                </a:r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=</a:t>
                </a:r>
                <a:r>
                  <a:rPr lang="en-US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 </a:t>
                </a:r>
                <a:r>
                  <a:rPr lang="en-US" sz="1600" b="1" i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f</a:t>
                </a:r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(</a:t>
                </a:r>
                <a:r>
                  <a:rPr lang="en-US" sz="1600" b="1" i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x</a:t>
                </a:r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)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, се нарича </a:t>
                </a:r>
                <a:r>
                  <a:rPr lang="ru-RU" sz="1600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криволинеен трапец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.</a:t>
                </a:r>
                <a:r>
                  <a:rPr lang="ru-RU" sz="1600" dirty="0">
                    <a:latin typeface="Bookman Old Style" pitchFamily="18" charset="0"/>
                  </a:rPr>
                  <a:t>  </a:t>
                </a:r>
                <a:endParaRPr lang="ru-RU" sz="1600" dirty="0">
                  <a:solidFill>
                    <a:srgbClr val="000000"/>
                  </a:solidFill>
                  <a:latin typeface="Bookman Old Style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0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67265" y="1751277"/>
                <a:ext cx="7821159" cy="1029651"/>
              </a:xfrm>
              <a:blipFill rotWithShape="0">
                <a:blip r:embed="rId2"/>
                <a:stretch>
                  <a:fillRect l="-390" t="-4142" r="-46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7E8DE2-DCC8-40EC-86CC-43176A1EDBAD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51520" y="1408007"/>
                <a:ext cx="7821158" cy="3000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 algn="just" eaLnBrk="1" hangingPunct="1">
                  <a:lnSpc>
                    <a:spcPct val="90000"/>
                  </a:lnSpc>
                  <a:buFontTx/>
                  <a:buNone/>
                  <a:defRPr/>
                </a:pPr>
                <a:r>
                  <a:rPr lang="ru-RU" sz="15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    Нека функцията </a:t>
                </a:r>
                <a14:m>
                  <m:oMath xmlns:m="http://schemas.openxmlformats.org/officeDocument/2006/math">
                    <m:r>
                      <a:rPr lang="en-US" sz="1500" b="1" i="1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𝒇</m:t>
                    </m:r>
                    <m:d>
                      <m:dPr>
                        <m:ctrlPr>
                          <a:rPr lang="en-US" sz="1500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1500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ru-RU" sz="15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е непрекъсната в крайния, затворен интервал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1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solidFill>
                              <a:srgbClr val="000000"/>
                            </a:solidFill>
                            <a:latin typeface="Cambria Math"/>
                            <a:cs typeface="Times New Roman" pitchFamily="18" charset="0"/>
                          </a:rPr>
                          <m:t>𝑎</m:t>
                        </m:r>
                        <m:r>
                          <a:rPr lang="en-US" sz="1500" i="1">
                            <a:solidFill>
                              <a:srgbClr val="000000"/>
                            </a:solidFill>
                            <a:latin typeface="Cambria Math"/>
                            <a:cs typeface="Times New Roman" pitchFamily="18" charset="0"/>
                          </a:rPr>
                          <m:t>;</m:t>
                        </m:r>
                        <m:r>
                          <a:rPr lang="en-US" sz="1500" i="1">
                            <a:solidFill>
                              <a:srgbClr val="000000"/>
                            </a:solidFill>
                            <a:latin typeface="Cambria Math"/>
                            <a:cs typeface="Times New Roman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sz="15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408007"/>
                <a:ext cx="7821158" cy="300082"/>
              </a:xfrm>
              <a:prstGeom prst="rect">
                <a:avLst/>
              </a:prstGeom>
              <a:blipFill rotWithShape="0">
                <a:blip r:embed="rId3"/>
                <a:stretch>
                  <a:fillRect t="-12245" b="-2040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135" y="3167386"/>
            <a:ext cx="4543425" cy="2771775"/>
          </a:xfrm>
          <a:prstGeom prst="rect">
            <a:avLst/>
          </a:prstGeom>
        </p:spPr>
      </p:pic>
      <p:sp>
        <p:nvSpPr>
          <p:cNvPr id="24" name="Rectangle 46"/>
          <p:cNvSpPr>
            <a:spLocks noChangeArrowheads="1"/>
          </p:cNvSpPr>
          <p:nvPr/>
        </p:nvSpPr>
        <p:spPr bwMode="auto">
          <a:xfrm>
            <a:off x="767390" y="4614"/>
            <a:ext cx="7738913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 eaLnBrk="0" hangingPunct="0">
              <a:lnSpc>
                <a:spcPct val="90000"/>
              </a:lnSpc>
            </a:pPr>
            <a:r>
              <a:rPr lang="ru-RU" b="1" dirty="0">
                <a:solidFill>
                  <a:srgbClr val="0000CC"/>
                </a:solidFill>
                <a:latin typeface="Bookman Old Style" pitchFamily="18" charset="0"/>
                <a:cs typeface="Times New Roman" pitchFamily="18" charset="0"/>
              </a:rPr>
              <a:t>Задача.</a:t>
            </a:r>
            <a:endParaRPr lang="ru-RU" dirty="0">
              <a:solidFill>
                <a:srgbClr val="000000"/>
              </a:solidFill>
              <a:latin typeface="Bookman Old Style" pitchFamily="18" charset="0"/>
              <a:cs typeface="Times New Roman" pitchFamily="18" charset="0"/>
            </a:endParaRPr>
          </a:p>
          <a:p>
            <a:pPr algn="just" eaLnBrk="0" hangingPunct="0">
              <a:lnSpc>
                <a:spcPct val="90000"/>
              </a:lnSpc>
            </a:pPr>
            <a:r>
              <a:rPr lang="ru-RU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49466" y="479078"/>
                <a:ext cx="7776864" cy="58477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</a:rPr>
                  <a:t>     Нека</a:t>
                </a:r>
                <a:r>
                  <a:rPr lang="en-US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𝒇</m:t>
                    </m:r>
                    <m:d>
                      <m:dPr>
                        <m:ctrlPr>
                          <a:rPr lang="en-US" sz="1600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  <m:t>𝒙</m:t>
                        </m:r>
                      </m:e>
                    </m:d>
                    <m:r>
                      <a:rPr lang="bg-BG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≥</m:t>
                    </m:r>
                    <m:r>
                      <a:rPr lang="bg-BG" sz="1600" b="1" i="1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𝟎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, 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∀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𝒙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𝒂</m:t>
                        </m:r>
                        <m: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,</m:t>
                        </m:r>
                        <m: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.</a:t>
                </a:r>
                <a:r>
                  <a:rPr lang="bg-BG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Д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</a:rPr>
                  <a:t>а се намери лицето</a:t>
                </a:r>
                <a:r>
                  <a:rPr lang="ru-RU" sz="1600" dirty="0">
                    <a:solidFill>
                      <a:srgbClr val="000000"/>
                    </a:solidFill>
                  </a:rPr>
                  <a:t> </a:t>
                </a:r>
                <a:r>
                  <a:rPr lang="en-US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S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 на криволинейния трапец (</a:t>
                </a:r>
                <a:r>
                  <a:rPr lang="en-US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σ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)</a:t>
                </a:r>
                <a:r>
                  <a:rPr lang="ru-RU" sz="1600" dirty="0">
                    <a:solidFill>
                      <a:srgbClr val="000000"/>
                    </a:solidFill>
                    <a:cs typeface="Times New Roman" pitchFamily="18" charset="0"/>
                  </a:rPr>
                  <a:t>.</a:t>
                </a:r>
                <a:endParaRPr lang="en-US" sz="16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66" y="479078"/>
                <a:ext cx="7776864" cy="584775"/>
              </a:xfrm>
              <a:prstGeom prst="rect">
                <a:avLst/>
              </a:prstGeom>
              <a:blipFill rotWithShape="0">
                <a:blip r:embed="rId5"/>
                <a:stretch>
                  <a:fillRect l="-392" t="-3125" r="-470" b="-1250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73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2"/>
          <p:cNvSpPr>
            <a:spLocks noChangeAspect="1" noChangeShapeType="1"/>
          </p:cNvSpPr>
          <p:nvPr/>
        </p:nvSpPr>
        <p:spPr bwMode="auto">
          <a:xfrm flipH="1" flipV="1">
            <a:off x="580188" y="2910657"/>
            <a:ext cx="0" cy="25957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0" name="Rectangle 4" descr="Светлый диагональный 1"/>
          <p:cNvSpPr>
            <a:spLocks noChangeAspect="1" noChangeArrowheads="1"/>
          </p:cNvSpPr>
          <p:nvPr/>
        </p:nvSpPr>
        <p:spPr bwMode="auto">
          <a:xfrm>
            <a:off x="1163424" y="3857237"/>
            <a:ext cx="584429" cy="1414991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1" name="Rectangle 5" descr="Светлый диагональный 2"/>
          <p:cNvSpPr>
            <a:spLocks noChangeAspect="1" noChangeArrowheads="1"/>
          </p:cNvSpPr>
          <p:nvPr/>
        </p:nvSpPr>
        <p:spPr bwMode="auto">
          <a:xfrm>
            <a:off x="1747852" y="3618694"/>
            <a:ext cx="585623" cy="1651364"/>
          </a:xfrm>
          <a:prstGeom prst="rect">
            <a:avLst/>
          </a:prstGeom>
          <a:pattFill prst="ltUpDiag">
            <a:fgClr>
              <a:schemeClr val="bg2"/>
            </a:fgClr>
            <a:bgClr>
              <a:schemeClr val="bg1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2" name="Rectangle 6" descr="Светлый диагональный 1"/>
          <p:cNvSpPr>
            <a:spLocks noChangeAspect="1" noChangeArrowheads="1"/>
          </p:cNvSpPr>
          <p:nvPr/>
        </p:nvSpPr>
        <p:spPr bwMode="auto">
          <a:xfrm>
            <a:off x="2333475" y="4089273"/>
            <a:ext cx="583236" cy="1179701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3" name="Rectangle 7" descr="Светлый диагональный 2"/>
          <p:cNvSpPr>
            <a:spLocks noChangeAspect="1" noChangeArrowheads="1"/>
          </p:cNvSpPr>
          <p:nvPr/>
        </p:nvSpPr>
        <p:spPr bwMode="auto">
          <a:xfrm>
            <a:off x="2916711" y="3855068"/>
            <a:ext cx="583237" cy="1416075"/>
          </a:xfrm>
          <a:prstGeom prst="rect">
            <a:avLst/>
          </a:prstGeom>
          <a:pattFill prst="ltUpDiag">
            <a:fgClr>
              <a:schemeClr val="bg2"/>
            </a:fgClr>
            <a:bgClr>
              <a:schemeClr val="bg1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4" name="Rectangle 8" descr="Светлый диагональный 1"/>
          <p:cNvSpPr>
            <a:spLocks noChangeAspect="1" noChangeArrowheads="1"/>
          </p:cNvSpPr>
          <p:nvPr/>
        </p:nvSpPr>
        <p:spPr bwMode="auto">
          <a:xfrm>
            <a:off x="3499948" y="3383405"/>
            <a:ext cx="585621" cy="1887738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5" name="Freeform 9"/>
          <p:cNvSpPr>
            <a:spLocks noChangeAspect="1"/>
          </p:cNvSpPr>
          <p:nvPr/>
        </p:nvSpPr>
        <p:spPr bwMode="auto">
          <a:xfrm>
            <a:off x="1162232" y="3147031"/>
            <a:ext cx="2923337" cy="980192"/>
          </a:xfrm>
          <a:custGeom>
            <a:avLst/>
            <a:gdLst>
              <a:gd name="T0" fmla="*/ 0 w 2837"/>
              <a:gd name="T1" fmla="*/ 1694790916 h 1177"/>
              <a:gd name="T2" fmla="*/ 534212487 w 2837"/>
              <a:gd name="T3" fmla="*/ 1259200878 h 1177"/>
              <a:gd name="T4" fmla="*/ 1602636091 w 2837"/>
              <a:gd name="T5" fmla="*/ 841448999 h 1177"/>
              <a:gd name="T6" fmla="*/ 2147483647 w 2837"/>
              <a:gd name="T7" fmla="*/ 1679925378 h 1177"/>
              <a:gd name="T8" fmla="*/ 2147483647 w 2837"/>
              <a:gd name="T9" fmla="*/ 1259200878 h 1177"/>
              <a:gd name="T10" fmla="*/ 2147483647 w 2837"/>
              <a:gd name="T11" fmla="*/ 431131108 h 1177"/>
              <a:gd name="T12" fmla="*/ 2147483647 w 2837"/>
              <a:gd name="T13" fmla="*/ 0 h 117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37" h="1177">
                <a:moveTo>
                  <a:pt x="0" y="1140"/>
                </a:moveTo>
                <a:cubicBezTo>
                  <a:pt x="47" y="1091"/>
                  <a:pt x="142" y="943"/>
                  <a:pt x="284" y="847"/>
                </a:cubicBezTo>
                <a:cubicBezTo>
                  <a:pt x="426" y="751"/>
                  <a:pt x="663" y="519"/>
                  <a:pt x="852" y="566"/>
                </a:cubicBezTo>
                <a:cubicBezTo>
                  <a:pt x="1041" y="613"/>
                  <a:pt x="1230" y="1083"/>
                  <a:pt x="1419" y="1130"/>
                </a:cubicBezTo>
                <a:cubicBezTo>
                  <a:pt x="1608" y="1177"/>
                  <a:pt x="1796" y="987"/>
                  <a:pt x="1985" y="847"/>
                </a:cubicBezTo>
                <a:cubicBezTo>
                  <a:pt x="2174" y="707"/>
                  <a:pt x="2410" y="431"/>
                  <a:pt x="2552" y="290"/>
                </a:cubicBezTo>
                <a:cubicBezTo>
                  <a:pt x="2694" y="149"/>
                  <a:pt x="2778" y="60"/>
                  <a:pt x="2837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6" name="Line 10"/>
          <p:cNvSpPr>
            <a:spLocks noChangeAspect="1" noChangeShapeType="1"/>
          </p:cNvSpPr>
          <p:nvPr/>
        </p:nvSpPr>
        <p:spPr bwMode="auto">
          <a:xfrm>
            <a:off x="1163424" y="4089273"/>
            <a:ext cx="0" cy="118078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7" name="Line 11"/>
          <p:cNvSpPr>
            <a:spLocks noChangeAspect="1" noChangeShapeType="1"/>
          </p:cNvSpPr>
          <p:nvPr/>
        </p:nvSpPr>
        <p:spPr bwMode="auto">
          <a:xfrm>
            <a:off x="4085569" y="3145947"/>
            <a:ext cx="0" cy="21241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4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415097"/>
              </p:ext>
            </p:extLst>
          </p:nvPr>
        </p:nvGraphicFramePr>
        <p:xfrm>
          <a:off x="317792" y="3120408"/>
          <a:ext cx="252856" cy="313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39" imgH="190417" progId="Equation.3">
                  <p:embed/>
                </p:oleObj>
              </mc:Choice>
              <mc:Fallback>
                <p:oleObj name="Equation" r:id="rId3" imgW="139639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792" y="3120408"/>
                        <a:ext cx="252856" cy="313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286781" y="5164883"/>
            <a:ext cx="4624145" cy="249385"/>
            <a:chOff x="649511" y="4048671"/>
            <a:chExt cx="6154737" cy="365125"/>
          </a:xfrm>
        </p:grpSpPr>
        <p:sp>
          <p:nvSpPr>
            <p:cNvPr id="24579" name="Line 3"/>
            <p:cNvSpPr>
              <a:spLocks noChangeAspect="1" noChangeShapeType="1"/>
            </p:cNvSpPr>
            <p:nvPr/>
          </p:nvSpPr>
          <p:spPr bwMode="auto">
            <a:xfrm>
              <a:off x="649511" y="4204246"/>
              <a:ext cx="5832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4589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5804742"/>
                </p:ext>
              </p:extLst>
            </p:nvPr>
          </p:nvGraphicFramePr>
          <p:xfrm>
            <a:off x="6439123" y="4048671"/>
            <a:ext cx="36512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68" imgH="152268" progId="Equation.3">
                    <p:embed/>
                  </p:oleObj>
                </mc:Choice>
                <mc:Fallback>
                  <p:oleObj name="Equation" r:id="rId5" imgW="152268" imgH="1522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39123" y="4048671"/>
                          <a:ext cx="365125" cy="365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934827"/>
              </p:ext>
            </p:extLst>
          </p:nvPr>
        </p:nvGraphicFramePr>
        <p:xfrm>
          <a:off x="332104" y="5242951"/>
          <a:ext cx="275517" cy="2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02" imgH="177569" progId="Equation.3">
                  <p:embed/>
                </p:oleObj>
              </mc:Choice>
              <mc:Fallback>
                <p:oleObj name="Equation" r:id="rId7" imgW="152202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04" y="5242951"/>
                        <a:ext cx="275517" cy="2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183269"/>
              </p:ext>
            </p:extLst>
          </p:nvPr>
        </p:nvGraphicFramePr>
        <p:xfrm>
          <a:off x="939194" y="5081393"/>
          <a:ext cx="227808" cy="229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6835" imgH="139518" progId="Equation.3">
                  <p:embed/>
                </p:oleObj>
              </mc:Choice>
              <mc:Fallback>
                <p:oleObj name="Equation" r:id="rId9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194" y="5081393"/>
                        <a:ext cx="227808" cy="229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229747"/>
              </p:ext>
            </p:extLst>
          </p:nvPr>
        </p:nvGraphicFramePr>
        <p:xfrm>
          <a:off x="4109423" y="5027179"/>
          <a:ext cx="229001" cy="292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725" imgH="177415" progId="Equation.3">
                  <p:embed/>
                </p:oleObj>
              </mc:Choice>
              <mc:Fallback>
                <p:oleObj name="Equation" r:id="rId11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9423" y="5027179"/>
                        <a:ext cx="229001" cy="292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3" name="Line 17"/>
          <p:cNvSpPr>
            <a:spLocks noChangeAspect="1" noChangeShapeType="1"/>
          </p:cNvSpPr>
          <p:nvPr/>
        </p:nvSpPr>
        <p:spPr bwMode="auto">
          <a:xfrm flipH="1">
            <a:off x="1455639" y="3855068"/>
            <a:ext cx="0" cy="1416075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4" name="Line 18"/>
          <p:cNvSpPr>
            <a:spLocks noChangeAspect="1" noChangeShapeType="1"/>
          </p:cNvSpPr>
          <p:nvPr/>
        </p:nvSpPr>
        <p:spPr bwMode="auto">
          <a:xfrm>
            <a:off x="2037683" y="3616526"/>
            <a:ext cx="0" cy="1651364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5" name="Line 19"/>
          <p:cNvSpPr>
            <a:spLocks noChangeAspect="1" noChangeShapeType="1"/>
          </p:cNvSpPr>
          <p:nvPr/>
        </p:nvSpPr>
        <p:spPr bwMode="auto">
          <a:xfrm>
            <a:off x="2623304" y="4089273"/>
            <a:ext cx="0" cy="1180785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6" name="Line 20"/>
          <p:cNvSpPr>
            <a:spLocks noChangeAspect="1" noChangeShapeType="1"/>
          </p:cNvSpPr>
          <p:nvPr/>
        </p:nvSpPr>
        <p:spPr bwMode="auto">
          <a:xfrm>
            <a:off x="3207733" y="3855068"/>
            <a:ext cx="0" cy="1416075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7" name="Line 21"/>
          <p:cNvSpPr>
            <a:spLocks noChangeAspect="1" noChangeShapeType="1"/>
          </p:cNvSpPr>
          <p:nvPr/>
        </p:nvSpPr>
        <p:spPr bwMode="auto">
          <a:xfrm>
            <a:off x="3792162" y="3383405"/>
            <a:ext cx="0" cy="1887738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459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731266"/>
              </p:ext>
            </p:extLst>
          </p:nvPr>
        </p:nvGraphicFramePr>
        <p:xfrm>
          <a:off x="1065622" y="5184399"/>
          <a:ext cx="274324" cy="396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334" imgH="241195" progId="Equation.3">
                  <p:embed/>
                </p:oleObj>
              </mc:Choice>
              <mc:Fallback>
                <p:oleObj name="Equation" r:id="rId13" imgW="152334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622" y="5184399"/>
                        <a:ext cx="274324" cy="396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9" name="Oval 23"/>
          <p:cNvSpPr>
            <a:spLocks noChangeAspect="1" noChangeArrowheads="1"/>
          </p:cNvSpPr>
          <p:nvPr/>
        </p:nvSpPr>
        <p:spPr bwMode="auto">
          <a:xfrm>
            <a:off x="1126450" y="5240783"/>
            <a:ext cx="65600" cy="58551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00" name="Oval 24"/>
          <p:cNvSpPr>
            <a:spLocks noChangeAspect="1" noChangeArrowheads="1"/>
          </p:cNvSpPr>
          <p:nvPr/>
        </p:nvSpPr>
        <p:spPr bwMode="auto">
          <a:xfrm>
            <a:off x="4054559" y="5246204"/>
            <a:ext cx="65600" cy="58551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01" name="Oval 25"/>
          <p:cNvSpPr>
            <a:spLocks noChangeAspect="1" noChangeArrowheads="1"/>
          </p:cNvSpPr>
          <p:nvPr/>
        </p:nvSpPr>
        <p:spPr bwMode="auto">
          <a:xfrm>
            <a:off x="1727577" y="5251626"/>
            <a:ext cx="42938" cy="3903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460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628372"/>
              </p:ext>
            </p:extLst>
          </p:nvPr>
        </p:nvGraphicFramePr>
        <p:xfrm>
          <a:off x="1640509" y="5165967"/>
          <a:ext cx="251663" cy="391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639" imgH="241195" progId="Equation.3">
                  <p:embed/>
                </p:oleObj>
              </mc:Choice>
              <mc:Fallback>
                <p:oleObj name="Equation" r:id="rId15" imgW="13963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0509" y="5165967"/>
                        <a:ext cx="251663" cy="391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3" name="Oval 27"/>
          <p:cNvSpPr>
            <a:spLocks noChangeAspect="1" noChangeArrowheads="1"/>
          </p:cNvSpPr>
          <p:nvPr/>
        </p:nvSpPr>
        <p:spPr bwMode="auto">
          <a:xfrm>
            <a:off x="2314392" y="5251626"/>
            <a:ext cx="42938" cy="3903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04" name="Oval 28"/>
          <p:cNvSpPr>
            <a:spLocks noChangeAspect="1" noChangeArrowheads="1"/>
          </p:cNvSpPr>
          <p:nvPr/>
        </p:nvSpPr>
        <p:spPr bwMode="auto">
          <a:xfrm>
            <a:off x="2897628" y="5251626"/>
            <a:ext cx="42938" cy="3903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05" name="Oval 29"/>
          <p:cNvSpPr>
            <a:spLocks noChangeAspect="1" noChangeArrowheads="1"/>
          </p:cNvSpPr>
          <p:nvPr/>
        </p:nvSpPr>
        <p:spPr bwMode="auto">
          <a:xfrm>
            <a:off x="3479671" y="5251626"/>
            <a:ext cx="42938" cy="3903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460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865759"/>
              </p:ext>
            </p:extLst>
          </p:nvPr>
        </p:nvGraphicFramePr>
        <p:xfrm>
          <a:off x="2224938" y="5169219"/>
          <a:ext cx="320840" cy="396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7646" imgH="241091" progId="Equation.3">
                  <p:embed/>
                </p:oleObj>
              </mc:Choice>
              <mc:Fallback>
                <p:oleObj name="Equation" r:id="rId17" imgW="177646" imgH="2410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938" y="5169219"/>
                        <a:ext cx="320840" cy="396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089229"/>
              </p:ext>
            </p:extLst>
          </p:nvPr>
        </p:nvGraphicFramePr>
        <p:xfrm>
          <a:off x="3356822" y="5178979"/>
          <a:ext cx="461579" cy="397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3890" imgH="241195" progId="Equation.3">
                  <p:embed/>
                </p:oleObj>
              </mc:Choice>
              <mc:Fallback>
                <p:oleObj name="Equation" r:id="rId19" imgW="25389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6822" y="5178979"/>
                        <a:ext cx="461579" cy="3979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950453"/>
              </p:ext>
            </p:extLst>
          </p:nvPr>
        </p:nvGraphicFramePr>
        <p:xfrm>
          <a:off x="3977033" y="5184400"/>
          <a:ext cx="298178" cy="399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4957" imgH="241091" progId="Equation.3">
                  <p:embed/>
                </p:oleObj>
              </mc:Choice>
              <mc:Fallback>
                <p:oleObj name="Equation" r:id="rId21" imgW="164957" imgH="2410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7033" y="5184400"/>
                        <a:ext cx="298178" cy="399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9" name="Line 33"/>
          <p:cNvSpPr>
            <a:spLocks noChangeAspect="1" noChangeShapeType="1"/>
          </p:cNvSpPr>
          <p:nvPr/>
        </p:nvSpPr>
        <p:spPr bwMode="auto">
          <a:xfrm>
            <a:off x="1746661" y="3681582"/>
            <a:ext cx="0" cy="159281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0" name="Line 34"/>
          <p:cNvSpPr>
            <a:spLocks noChangeAspect="1" noChangeShapeType="1"/>
          </p:cNvSpPr>
          <p:nvPr/>
        </p:nvSpPr>
        <p:spPr bwMode="auto">
          <a:xfrm>
            <a:off x="2337053" y="3872417"/>
            <a:ext cx="0" cy="139655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1" name="Line 35"/>
          <p:cNvSpPr>
            <a:spLocks noChangeAspect="1" noChangeShapeType="1"/>
          </p:cNvSpPr>
          <p:nvPr/>
        </p:nvSpPr>
        <p:spPr bwMode="auto">
          <a:xfrm>
            <a:off x="2921482" y="4028553"/>
            <a:ext cx="0" cy="123825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2" name="Line 36"/>
          <p:cNvSpPr>
            <a:spLocks noChangeAspect="1" noChangeShapeType="1"/>
          </p:cNvSpPr>
          <p:nvPr/>
        </p:nvSpPr>
        <p:spPr bwMode="auto">
          <a:xfrm>
            <a:off x="3504719" y="3636043"/>
            <a:ext cx="0" cy="16220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3" name="Oval 37"/>
          <p:cNvSpPr>
            <a:spLocks noChangeAspect="1" noChangeArrowheads="1"/>
          </p:cNvSpPr>
          <p:nvPr/>
        </p:nvSpPr>
        <p:spPr bwMode="auto">
          <a:xfrm>
            <a:off x="3183879" y="5249457"/>
            <a:ext cx="42938" cy="3903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14" name="Oval 38"/>
          <p:cNvSpPr>
            <a:spLocks noChangeAspect="1" noChangeArrowheads="1"/>
          </p:cNvSpPr>
          <p:nvPr/>
        </p:nvSpPr>
        <p:spPr bwMode="auto">
          <a:xfrm>
            <a:off x="1431785" y="5246204"/>
            <a:ext cx="42938" cy="3903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15" name="Oval 39"/>
          <p:cNvSpPr>
            <a:spLocks noChangeAspect="1" noChangeArrowheads="1"/>
          </p:cNvSpPr>
          <p:nvPr/>
        </p:nvSpPr>
        <p:spPr bwMode="auto">
          <a:xfrm>
            <a:off x="2604221" y="5246204"/>
            <a:ext cx="42938" cy="3903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16" name="Oval 40"/>
          <p:cNvSpPr>
            <a:spLocks noChangeAspect="1" noChangeArrowheads="1"/>
          </p:cNvSpPr>
          <p:nvPr/>
        </p:nvSpPr>
        <p:spPr bwMode="auto">
          <a:xfrm>
            <a:off x="2019792" y="5249457"/>
            <a:ext cx="42938" cy="3903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17" name="Oval 41"/>
          <p:cNvSpPr>
            <a:spLocks noChangeAspect="1" noChangeArrowheads="1"/>
          </p:cNvSpPr>
          <p:nvPr/>
        </p:nvSpPr>
        <p:spPr bwMode="auto">
          <a:xfrm>
            <a:off x="3768308" y="5249457"/>
            <a:ext cx="42938" cy="3903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461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772395"/>
              </p:ext>
            </p:extLst>
          </p:nvPr>
        </p:nvGraphicFramePr>
        <p:xfrm>
          <a:off x="1339946" y="5208253"/>
          <a:ext cx="275517" cy="396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2334" imgH="241195" progId="Equation.3">
                  <p:embed/>
                </p:oleObj>
              </mc:Choice>
              <mc:Fallback>
                <p:oleObj name="Equation" r:id="rId23" imgW="152334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946" y="5208253"/>
                        <a:ext cx="275517" cy="396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621371"/>
              </p:ext>
            </p:extLst>
          </p:nvPr>
        </p:nvGraphicFramePr>
        <p:xfrm>
          <a:off x="1920797" y="5211507"/>
          <a:ext cx="293407" cy="391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64957" imgH="241091" progId="Equation.3">
                  <p:embed/>
                </p:oleObj>
              </mc:Choice>
              <mc:Fallback>
                <p:oleObj name="Equation" r:id="rId25" imgW="164957" imgH="2410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797" y="5211507"/>
                        <a:ext cx="293407" cy="391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200414"/>
              </p:ext>
            </p:extLst>
          </p:nvPr>
        </p:nvGraphicFramePr>
        <p:xfrm>
          <a:off x="3730141" y="5203917"/>
          <a:ext cx="294600" cy="391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64957" imgH="241091" progId="Equation.3">
                  <p:embed/>
                </p:oleObj>
              </mc:Choice>
              <mc:Fallback>
                <p:oleObj name="Equation" r:id="rId27" imgW="164957" imgH="2410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141" y="5203917"/>
                        <a:ext cx="294600" cy="391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275146"/>
              </p:ext>
            </p:extLst>
          </p:nvPr>
        </p:nvGraphicFramePr>
        <p:xfrm>
          <a:off x="5694114" y="4276249"/>
          <a:ext cx="217646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93760" imgH="457200" progId="Equation.DSMT4">
                  <p:embed/>
                </p:oleObj>
              </mc:Choice>
              <mc:Fallback>
                <p:oleObj name="Equation" r:id="rId29" imgW="11937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4114" y="4276249"/>
                        <a:ext cx="2176463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5736" y="6405562"/>
            <a:ext cx="2133600" cy="365125"/>
          </a:xfrm>
        </p:spPr>
        <p:txBody>
          <a:bodyPr/>
          <a:lstStyle/>
          <a:p>
            <a:pPr>
              <a:defRPr/>
            </a:pPr>
            <a:fld id="{FCC716A7-F7B0-4E65-9311-75F1E34D700A}" type="slidenum">
              <a:rPr lang="ru-RU" smtClean="0"/>
              <a:pPr>
                <a:defRPr/>
              </a:pPr>
              <a:t>3</a:t>
            </a:fld>
            <a:endParaRPr lang="ru-RU" dirty="0"/>
          </a:p>
        </p:txBody>
      </p:sp>
      <p:sp>
        <p:nvSpPr>
          <p:cNvPr id="75" name="Text Box 7"/>
          <p:cNvSpPr txBox="1">
            <a:spLocks noChangeArrowheads="1"/>
          </p:cNvSpPr>
          <p:nvPr/>
        </p:nvSpPr>
        <p:spPr bwMode="auto">
          <a:xfrm>
            <a:off x="-18981" y="6270154"/>
            <a:ext cx="270009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600" dirty="0"/>
              <a:t>Може да се очаква, че ако</a:t>
            </a:r>
            <a:endParaRPr lang="en-US" altLang="bg-BG" sz="1600" dirty="0"/>
          </a:p>
        </p:txBody>
      </p:sp>
      <p:graphicFrame>
        <p:nvGraphicFramePr>
          <p:cNvPr id="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330464"/>
              </p:ext>
            </p:extLst>
          </p:nvPr>
        </p:nvGraphicFramePr>
        <p:xfrm>
          <a:off x="2706688" y="6318250"/>
          <a:ext cx="777875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990360" imgH="342720" progId="Equation.DSMT4">
                  <p:embed/>
                </p:oleObj>
              </mc:Choice>
              <mc:Fallback>
                <p:oleObj name="Equation" r:id="rId31" imgW="9903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688" y="6318250"/>
                        <a:ext cx="777875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Text Box 9"/>
          <p:cNvSpPr txBox="1">
            <a:spLocks noChangeArrowheads="1"/>
          </p:cNvSpPr>
          <p:nvPr/>
        </p:nvSpPr>
        <p:spPr bwMode="auto">
          <a:xfrm>
            <a:off x="3530628" y="6229874"/>
            <a:ext cx="57318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600" dirty="0"/>
              <a:t>границата на тези суми дава лицето на трапеца</a:t>
            </a:r>
            <a:r>
              <a:rPr lang="en-US" altLang="bg-BG" sz="1600" dirty="0"/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-33012" y="0"/>
                <a:ext cx="930425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:r>
                  <a:rPr lang="bg-BG" dirty="0">
                    <a:latin typeface="Bookman Old Style" pitchFamily="18" charset="0"/>
                  </a:rPr>
                  <a:t>Нека </a:t>
                </a:r>
                <a:r>
                  <a:rPr lang="bg-BG" i="1" dirty="0">
                    <a:latin typeface="Bookman Old Style" pitchFamily="18" charset="0"/>
                  </a:rPr>
                  <a:t>функцията</a:t>
                </a:r>
                <a:r>
                  <a:rPr lang="bg-BG" dirty="0"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𝒚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𝒇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(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𝒙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0000CC"/>
                    </a:solidFill>
                    <a:latin typeface="Bookman Old Style" pitchFamily="18" charset="0"/>
                  </a:rPr>
                  <a:t> </a:t>
                </a:r>
                <a:r>
                  <a:rPr lang="bg-BG" dirty="0">
                    <a:latin typeface="Bookman Old Style" pitchFamily="18" charset="0"/>
                  </a:rPr>
                  <a:t>е дефинирана и непрекъсната в интервала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𝒂</m:t>
                        </m:r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𝒃</m:t>
                        </m:r>
                      </m:e>
                    </m:d>
                  </m:oMath>
                </a14:m>
                <a:r>
                  <a:rPr lang="bg-BG" dirty="0">
                    <a:latin typeface="Bookman Old Style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012" y="0"/>
                <a:ext cx="9304255" cy="369332"/>
              </a:xfrm>
              <a:prstGeom prst="rect">
                <a:avLst/>
              </a:prstGeom>
              <a:blipFill rotWithShape="0">
                <a:blip r:embed="rId34"/>
                <a:stretch>
                  <a:fillRect l="-459" t="-6557" r="-786" b="-2623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-71796" y="432220"/>
                <a:ext cx="9215796" cy="784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:r>
                  <a:rPr lang="bg-BG" dirty="0">
                    <a:latin typeface="Bookman Old Style" pitchFamily="18" charset="0"/>
                  </a:rPr>
                  <a:t>Разглеждаме </a:t>
                </a:r>
                <a:r>
                  <a:rPr lang="bg-BG" i="1" dirty="0">
                    <a:latin typeface="Bookman Old Style" pitchFamily="18" charset="0"/>
                  </a:rPr>
                  <a:t>разбиване</a:t>
                </a:r>
                <a:r>
                  <a:rPr lang="bg-BG" dirty="0"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bg-BG" b="1" i="1">
                        <a:solidFill>
                          <a:srgbClr val="0000CC"/>
                        </a:solidFill>
                        <a:latin typeface="Cambria Math"/>
                        <a:ea typeface="Cambria Math"/>
                      </a:rPr>
                      <m:t>𝝉</m:t>
                    </m:r>
                  </m:oMath>
                </a14:m>
                <a:r>
                  <a:rPr lang="bg-BG" dirty="0">
                    <a:latin typeface="Bookman Old Style" pitchFamily="18" charset="0"/>
                  </a:rPr>
                  <a:t> на интервала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𝒂</m:t>
                        </m:r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𝒃</m:t>
                        </m:r>
                      </m:e>
                    </m:d>
                  </m:oMath>
                </a14:m>
                <a:r>
                  <a:rPr lang="bg-BG" dirty="0">
                    <a:latin typeface="Bookman Old Style" pitchFamily="18" charset="0"/>
                  </a:rPr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bg-BG" dirty="0"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𝒂</m:t>
                        </m:r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&lt;…&lt;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𝒃</m:t>
                    </m:r>
                    <m:r>
                      <a:rPr lang="bg-BG" b="0" i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latin typeface="Bookman Old Style" pitchFamily="18" charset="0"/>
                  </a:rPr>
                  <a:t> </a:t>
                </a:r>
                <a:endParaRPr lang="bg-BG" dirty="0"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796" y="432220"/>
                <a:ext cx="9215796" cy="784830"/>
              </a:xfrm>
              <a:prstGeom prst="rect">
                <a:avLst/>
              </a:prstGeom>
              <a:blipFill rotWithShape="0">
                <a:blip r:embed="rId35"/>
                <a:stretch>
                  <a:fillRect l="-397" t="-387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-1" y="1119550"/>
                <a:ext cx="900933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bg-BG" dirty="0">
                    <a:latin typeface="Bookman Old Style" pitchFamily="18" charset="0"/>
                  </a:rPr>
                  <a:t>Дължините на получените </a:t>
                </a:r>
                <a:r>
                  <a:rPr lang="bg-BG" dirty="0" err="1">
                    <a:latin typeface="Bookman Old Style" pitchFamily="18" charset="0"/>
                  </a:rPr>
                  <a:t>подинтервали</a:t>
                </a:r>
                <a:r>
                  <a:rPr lang="bg-BG" dirty="0">
                    <a:latin typeface="Bookman Old Style" pitchFamily="18" charset="0"/>
                  </a:rPr>
                  <a:t> са съответно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∆</m:t>
                        </m:r>
                      </m:e>
                      <m:sub>
                        <m:r>
                          <a:rPr lang="bg-BG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bg-BG" b="1" i="1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∆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sub>
                    </m:sSub>
                    <m:r>
                      <a:rPr lang="bg-BG" b="1" i="1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∆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𝒏</m:t>
                        </m:r>
                      </m:sub>
                    </m:sSub>
                    <m:r>
                      <a:rPr lang="bg-BG" b="1" i="1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latin typeface="Bookman Old Style" pitchFamily="18" charset="0"/>
                  </a:rPr>
                  <a:t>.</a:t>
                </a:r>
                <a:endParaRPr lang="bg-BG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119550"/>
                <a:ext cx="9009337" cy="923330"/>
              </a:xfrm>
              <a:prstGeom prst="rect">
                <a:avLst/>
              </a:prstGeom>
              <a:blipFill rotWithShape="0">
                <a:blip r:embed="rId36"/>
                <a:stretch>
                  <a:fillRect l="-406" b="-529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-965" y="2000532"/>
                <a:ext cx="9082096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bg-BG" dirty="0">
                    <a:latin typeface="Bookman Old Style" pitchFamily="18" charset="0"/>
                  </a:rPr>
                  <a:t>Във всеки подинтервал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bg-BG" b="1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;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Bookman Old Style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𝒊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𝟏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,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𝟐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,…, 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𝒏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bg-BG" dirty="0">
                    <a:latin typeface="Bookman Old Style" pitchFamily="18" charset="0"/>
                  </a:rPr>
                  <a:t> се избира точка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𝝃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bg-BG" b="1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;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Bookman Old Style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5" y="2000532"/>
                <a:ext cx="9082096" cy="507831"/>
              </a:xfrm>
              <a:prstGeom prst="rect">
                <a:avLst/>
              </a:prstGeom>
              <a:blipFill rotWithShape="0">
                <a:blip r:embed="rId37"/>
                <a:stretch>
                  <a:fillRect l="-470" r="-201" b="-1084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883494" y="2508363"/>
                <a:ext cx="4392759" cy="36933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bg-BG" dirty="0">
                    <a:latin typeface="Bookman Old Style" pitchFamily="18" charset="0"/>
                  </a:rPr>
                  <a:t>Лицето на правоъгълник с основа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∆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bg-BG" dirty="0">
                    <a:latin typeface="Bookman Old Style" pitchFamily="18" charset="0"/>
                  </a:rPr>
                  <a:t> - </a:t>
                </a:r>
                <a:r>
                  <a:rPr lang="en-US" i="1" dirty="0">
                    <a:latin typeface="Bookman Old Style" pitchFamily="18" charset="0"/>
                  </a:rPr>
                  <a:t>i</a:t>
                </a:r>
                <a:r>
                  <a:rPr lang="bg-BG" dirty="0">
                    <a:latin typeface="Bookman Old Style" pitchFamily="18" charset="0"/>
                  </a:rPr>
                  <a:t>-тия подинтервал и височина, равна на стойността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CC"/>
                        </a:solidFill>
                        <a:latin typeface="Cambria Math"/>
                      </a:rPr>
                      <m:t>𝑓</m:t>
                    </m:r>
                    <m:r>
                      <a:rPr lang="en-US" i="1">
                        <a:solidFill>
                          <a:srgbClr val="0000CC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𝝃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i="1">
                        <a:solidFill>
                          <a:srgbClr val="0000CC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bg-BG" dirty="0">
                    <a:latin typeface="Bookman Old Style" pitchFamily="18" charset="0"/>
                  </a:rPr>
                  <a:t> на функцията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CC"/>
                        </a:solidFill>
                        <a:latin typeface="Cambria Math"/>
                      </a:rPr>
                      <m:t>𝑓</m:t>
                    </m:r>
                    <m:r>
                      <a:rPr lang="en-US" i="1">
                        <a:solidFill>
                          <a:srgbClr val="0000CC"/>
                        </a:solidFill>
                        <a:latin typeface="Cambria Math"/>
                      </a:rPr>
                      <m:t>(</m:t>
                    </m:r>
                    <m:r>
                      <a:rPr lang="en-US" b="1" i="1">
                        <a:solidFill>
                          <a:srgbClr val="0000CC"/>
                        </a:solidFill>
                        <a:latin typeface="Cambria Math"/>
                      </a:rPr>
                      <m:t>𝒙</m:t>
                    </m:r>
                    <m:r>
                      <a:rPr lang="en-US" i="1">
                        <a:solidFill>
                          <a:srgbClr val="0000CC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latin typeface="Bookman Old Style" pitchFamily="18" charset="0"/>
                  </a:rPr>
                  <a:t> </a:t>
                </a:r>
                <a:r>
                  <a:rPr lang="bg-BG" dirty="0">
                    <a:latin typeface="Bookman Old Style" pitchFamily="18" charset="0"/>
                  </a:rPr>
                  <a:t>в точката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𝝃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bg-BG" b="1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bg-BG" b="1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bg-BG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е</m:t>
                    </m:r>
                    <m:r>
                      <a:rPr lang="bg-BG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00CC"/>
                        </a:solidFill>
                        <a:latin typeface="Cambria Math"/>
                      </a:rPr>
                      <m:t>𝑓</m:t>
                    </m:r>
                    <m:r>
                      <a:rPr lang="en-US" i="1">
                        <a:solidFill>
                          <a:srgbClr val="0000CC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𝝃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i="1">
                        <a:solidFill>
                          <a:srgbClr val="0000CC"/>
                        </a:solidFill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bg-BG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∆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ea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bg-BG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bg-BG" dirty="0" err="1">
                    <a:latin typeface="Bookman Old Style" pitchFamily="18" charset="0"/>
                  </a:rPr>
                  <a:t>Геомертично</a:t>
                </a:r>
                <a:r>
                  <a:rPr lang="bg-BG" dirty="0">
                    <a:latin typeface="Bookman Old Style" pitchFamily="18" charset="0"/>
                  </a:rPr>
                  <a:t> сумата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bg-BG" dirty="0">
                  <a:latin typeface="Bookman Old Style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bg-BG" dirty="0">
                  <a:latin typeface="Bookman Old Style" pitchFamily="18" charset="0"/>
                </a:endParaRPr>
              </a:p>
              <a:p>
                <a:endParaRPr lang="bg-BG" dirty="0">
                  <a:latin typeface="Bookman Old Style" pitchFamily="18" charset="0"/>
                </a:endParaRPr>
              </a:p>
              <a:p>
                <a:r>
                  <a:rPr lang="bg-BG" dirty="0">
                    <a:latin typeface="Bookman Old Style" pitchFamily="18" charset="0"/>
                  </a:rPr>
                  <a:t> дава сбора от лицата на  всички получени правоъгълници и се нарича </a:t>
                </a:r>
                <a:r>
                  <a:rPr lang="bg-BG" b="1" dirty="0" err="1">
                    <a:solidFill>
                      <a:srgbClr val="0033CC"/>
                    </a:solidFill>
                    <a:latin typeface="Bookman Old Style" pitchFamily="18" charset="0"/>
                  </a:rPr>
                  <a:t>Риманова</a:t>
                </a:r>
                <a:r>
                  <a:rPr lang="bg-BG" b="1" dirty="0">
                    <a:solidFill>
                      <a:srgbClr val="0033CC"/>
                    </a:solidFill>
                    <a:latin typeface="Bookman Old Style" pitchFamily="18" charset="0"/>
                  </a:rPr>
                  <a:t> интегрална сума</a:t>
                </a:r>
                <a:r>
                  <a:rPr lang="bg-BG" dirty="0">
                    <a:latin typeface="Bookman Old Style" pitchFamily="18" charset="0"/>
                  </a:rPr>
                  <a:t>.</a:t>
                </a:r>
                <a:endParaRPr lang="bg-BG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494" y="2508363"/>
                <a:ext cx="4392759" cy="3693319"/>
              </a:xfrm>
              <a:prstGeom prst="rect">
                <a:avLst/>
              </a:prstGeom>
              <a:blipFill rotWithShape="0">
                <a:blip r:embed="rId38"/>
                <a:stretch>
                  <a:fillRect l="-1110" t="-660" b="-181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9417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bg-BG" sz="2000" b="1" dirty="0">
                <a:solidFill>
                  <a:srgbClr val="0000CC"/>
                </a:solidFill>
                <a:latin typeface="Bookman Old Style" pitchFamily="18" charset="0"/>
              </a:rPr>
              <a:t>Дефиниция за определен интеграл</a:t>
            </a:r>
            <a:endParaRPr lang="en-US" sz="2000" b="1" dirty="0">
              <a:solidFill>
                <a:srgbClr val="00B050"/>
              </a:solidFill>
              <a:latin typeface="Bookman Old Styl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288" y="1196271"/>
            <a:ext cx="8438577" cy="32932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bg-BG" sz="1600" b="1" dirty="0">
                <a:solidFill>
                  <a:srgbClr val="0000CC"/>
                </a:solidFill>
                <a:latin typeface="Bookman Old Style" pitchFamily="18" charset="0"/>
              </a:rPr>
              <a:t>Определение.</a:t>
            </a:r>
            <a:r>
              <a:rPr lang="bg-BG" altLang="bg-BG" sz="1600" dirty="0"/>
              <a:t> Ако съществува границата на сумите</a:t>
            </a:r>
            <a:endParaRPr lang="en-US" altLang="bg-BG" sz="1600" dirty="0"/>
          </a:p>
          <a:p>
            <a:endParaRPr lang="en-US" sz="1600" b="1" i="1" dirty="0">
              <a:solidFill>
                <a:srgbClr val="0000CC"/>
              </a:solidFill>
              <a:latin typeface="Bookman Old Style" pitchFamily="18" charset="0"/>
            </a:endParaRPr>
          </a:p>
          <a:p>
            <a:endParaRPr lang="en-US" sz="1600" b="1" i="1" dirty="0">
              <a:solidFill>
                <a:srgbClr val="0000CC"/>
              </a:solidFill>
              <a:latin typeface="Bookman Old Style" pitchFamily="18" charset="0"/>
            </a:endParaRPr>
          </a:p>
          <a:p>
            <a:endParaRPr lang="en-US" altLang="bg-BG" sz="1600" dirty="0"/>
          </a:p>
          <a:p>
            <a:r>
              <a:rPr lang="bg-BG" altLang="bg-BG" sz="1600" dirty="0"/>
              <a:t>при условие, че</a:t>
            </a:r>
            <a:r>
              <a:rPr lang="en-US" altLang="bg-BG" sz="1600" dirty="0"/>
              <a:t>                </a:t>
            </a:r>
            <a:r>
              <a:rPr lang="bg-BG" altLang="bg-BG" sz="1600" dirty="0"/>
              <a:t>и</a:t>
            </a:r>
            <a:r>
              <a:rPr lang="en-US" altLang="bg-BG" sz="1600" dirty="0"/>
              <a:t>                     </a:t>
            </a:r>
            <a:r>
              <a:rPr lang="bg-BG" altLang="bg-BG" sz="1600" dirty="0"/>
              <a:t>и тази граница не зависи от избора на</a:t>
            </a:r>
            <a:r>
              <a:rPr lang="en-US" altLang="bg-BG" sz="1600" dirty="0"/>
              <a:t>       </a:t>
            </a:r>
            <a:r>
              <a:rPr lang="bg-BG" altLang="bg-BG" sz="1600" dirty="0"/>
              <a:t>и</a:t>
            </a:r>
            <a:r>
              <a:rPr lang="en-US" altLang="bg-BG" sz="1600" dirty="0"/>
              <a:t> </a:t>
            </a:r>
          </a:p>
          <a:p>
            <a:r>
              <a:rPr lang="bg-BG" altLang="bg-BG" sz="1600" dirty="0"/>
              <a:t>       </a:t>
            </a:r>
            <a:endParaRPr lang="en-US" altLang="bg-BG" sz="1600" dirty="0"/>
          </a:p>
          <a:p>
            <a:endParaRPr lang="en-US" sz="1600" b="1" i="1" dirty="0">
              <a:solidFill>
                <a:srgbClr val="0000CC"/>
              </a:solidFill>
              <a:latin typeface="Bookman Old Style" pitchFamily="18" charset="0"/>
            </a:endParaRPr>
          </a:p>
          <a:p>
            <a:endParaRPr lang="en-US" sz="1600" b="1" i="1" dirty="0">
              <a:solidFill>
                <a:srgbClr val="0000CC"/>
              </a:solidFill>
              <a:latin typeface="Bookman Old Style" pitchFamily="18" charset="0"/>
            </a:endParaRPr>
          </a:p>
          <a:p>
            <a:r>
              <a:rPr lang="en-US" sz="1600" b="1" i="1" dirty="0">
                <a:solidFill>
                  <a:srgbClr val="0000CC"/>
                </a:solidFill>
                <a:latin typeface="Bookman Old Style" pitchFamily="18" charset="0"/>
              </a:rPr>
              <a:t>   </a:t>
            </a:r>
          </a:p>
          <a:p>
            <a:endParaRPr lang="en-US" sz="1600" b="1" i="1" dirty="0">
              <a:solidFill>
                <a:srgbClr val="0000CC"/>
              </a:solidFill>
              <a:latin typeface="Bookman Old Style" pitchFamily="18" charset="0"/>
            </a:endParaRPr>
          </a:p>
          <a:p>
            <a:endParaRPr lang="en-US" sz="1600" b="1" i="1" dirty="0">
              <a:solidFill>
                <a:srgbClr val="0000CC"/>
              </a:solidFill>
              <a:latin typeface="Bookman Old Style" pitchFamily="18" charset="0"/>
            </a:endParaRPr>
          </a:p>
          <a:p>
            <a:endParaRPr lang="en-US" sz="1600" b="1" i="1" dirty="0">
              <a:solidFill>
                <a:srgbClr val="0000CC"/>
              </a:solidFill>
              <a:latin typeface="Bookman Old Style" pitchFamily="18" charset="0"/>
            </a:endParaRPr>
          </a:p>
          <a:p>
            <a:endParaRPr lang="en-US" sz="1600" b="1" i="1" dirty="0">
              <a:solidFill>
                <a:srgbClr val="0000CC"/>
              </a:solidFill>
              <a:latin typeface="Bookman Old Style" pitchFamily="18" charset="0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9288" y="6178323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3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004557"/>
              </p:ext>
            </p:extLst>
          </p:nvPr>
        </p:nvGraphicFramePr>
        <p:xfrm>
          <a:off x="3214688" y="1406525"/>
          <a:ext cx="1892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774360" progId="Equation.DSMT4">
                  <p:embed/>
                </p:oleObj>
              </mc:Choice>
              <mc:Fallback>
                <p:oleObj name="Equation" r:id="rId2" imgW="1892160" imgH="774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1406525"/>
                        <a:ext cx="18923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952143"/>
              </p:ext>
            </p:extLst>
          </p:nvPr>
        </p:nvGraphicFramePr>
        <p:xfrm>
          <a:off x="2089150" y="2256849"/>
          <a:ext cx="774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4" imgH="203112" progId="Equation.DSMT4">
                  <p:embed/>
                </p:oleObj>
              </mc:Choice>
              <mc:Fallback>
                <p:oleObj name="Equation" r:id="rId4" imgW="774364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2256849"/>
                        <a:ext cx="7747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429230"/>
              </p:ext>
            </p:extLst>
          </p:nvPr>
        </p:nvGraphicFramePr>
        <p:xfrm>
          <a:off x="3189288" y="2178050"/>
          <a:ext cx="92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7000" imgH="342720" progId="Equation.DSMT4">
                  <p:embed/>
                </p:oleObj>
              </mc:Choice>
              <mc:Fallback>
                <p:oleObj name="Equation" r:id="rId6" imgW="9270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288" y="2178050"/>
                        <a:ext cx="927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155285"/>
              </p:ext>
            </p:extLst>
          </p:nvPr>
        </p:nvGraphicFramePr>
        <p:xfrm>
          <a:off x="7945438" y="2159000"/>
          <a:ext cx="228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" imgH="342720" progId="Equation.DSMT4">
                  <p:embed/>
                </p:oleObj>
              </mc:Choice>
              <mc:Fallback>
                <p:oleObj name="Equation" r:id="rId8" imgW="228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5438" y="2159000"/>
                        <a:ext cx="228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657743"/>
              </p:ext>
            </p:extLst>
          </p:nvPr>
        </p:nvGraphicFramePr>
        <p:xfrm>
          <a:off x="8424863" y="2198688"/>
          <a:ext cx="266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400" imgH="368280" progId="Equation.DSMT4">
                  <p:embed/>
                </p:oleObj>
              </mc:Choice>
              <mc:Fallback>
                <p:oleObj name="Equation" r:id="rId10" imgW="2664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4863" y="2198688"/>
                        <a:ext cx="266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23"/>
          <p:cNvSpPr txBox="1">
            <a:spLocks noChangeArrowheads="1"/>
          </p:cNvSpPr>
          <p:nvPr/>
        </p:nvSpPr>
        <p:spPr bwMode="auto">
          <a:xfrm>
            <a:off x="395288" y="2581591"/>
            <a:ext cx="71043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 dirty="0"/>
              <a:t>то тази граница ще наричаме определен интеграл от функцията</a:t>
            </a:r>
            <a:endParaRPr lang="en-US" altLang="bg-BG" sz="1800" dirty="0"/>
          </a:p>
        </p:txBody>
      </p:sp>
      <p:graphicFrame>
        <p:nvGraphicFramePr>
          <p:cNvPr id="49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140795"/>
              </p:ext>
            </p:extLst>
          </p:nvPr>
        </p:nvGraphicFramePr>
        <p:xfrm>
          <a:off x="7403393" y="2607507"/>
          <a:ext cx="571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1252" imgH="317362" progId="Equation.DSMT4">
                  <p:embed/>
                </p:oleObj>
              </mc:Choice>
              <mc:Fallback>
                <p:oleObj name="Equation" r:id="rId12" imgW="571252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3393" y="2607507"/>
                        <a:ext cx="571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395288" y="3047331"/>
            <a:ext cx="1492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в интервала</a:t>
            </a:r>
            <a:endParaRPr lang="en-US" altLang="bg-BG" sz="1800"/>
          </a:p>
        </p:txBody>
      </p:sp>
      <p:graphicFrame>
        <p:nvGraphicFramePr>
          <p:cNvPr id="5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689793"/>
              </p:ext>
            </p:extLst>
          </p:nvPr>
        </p:nvGraphicFramePr>
        <p:xfrm>
          <a:off x="1841500" y="3047331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34725" imgH="330057" progId="Equation.DSMT4">
                  <p:embed/>
                </p:oleObj>
              </mc:Choice>
              <mc:Fallback>
                <p:oleObj name="Equation" r:id="rId14" imgW="634725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3047331"/>
                        <a:ext cx="635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28"/>
          <p:cNvSpPr txBox="1">
            <a:spLocks noChangeArrowheads="1"/>
          </p:cNvSpPr>
          <p:nvPr/>
        </p:nvSpPr>
        <p:spPr bwMode="auto">
          <a:xfrm>
            <a:off x="2484438" y="3066381"/>
            <a:ext cx="21955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и ще означаваме с</a:t>
            </a:r>
            <a:endParaRPr lang="en-US" altLang="bg-BG" sz="1800"/>
          </a:p>
        </p:txBody>
      </p:sp>
      <p:graphicFrame>
        <p:nvGraphicFramePr>
          <p:cNvPr id="5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637196"/>
              </p:ext>
            </p:extLst>
          </p:nvPr>
        </p:nvGraphicFramePr>
        <p:xfrm>
          <a:off x="4737187" y="2827158"/>
          <a:ext cx="1079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79500" imgH="800100" progId="Equation.DSMT4">
                  <p:embed/>
                </p:oleObj>
              </mc:Choice>
              <mc:Fallback>
                <p:oleObj name="Equation" r:id="rId16" imgW="10795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87" y="2827158"/>
                        <a:ext cx="10795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238924"/>
              </p:ext>
            </p:extLst>
          </p:nvPr>
        </p:nvGraphicFramePr>
        <p:xfrm>
          <a:off x="2843213" y="3664868"/>
          <a:ext cx="3200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200400" imgH="863600" progId="Equation.DSMT4">
                  <p:embed/>
                </p:oleObj>
              </mc:Choice>
              <mc:Fallback>
                <p:oleObj name="Equation" r:id="rId18" imgW="3200400" imgH="86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664868"/>
                        <a:ext cx="3200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618536"/>
              </p:ext>
            </p:extLst>
          </p:nvPr>
        </p:nvGraphicFramePr>
        <p:xfrm>
          <a:off x="674688" y="5154829"/>
          <a:ext cx="190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417" imgH="190417" progId="Equation.DSMT4">
                  <p:embed/>
                </p:oleObj>
              </mc:Choice>
              <mc:Fallback>
                <p:oleObj name="Equation" r:id="rId20" imgW="190417" imgH="1904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8" y="5154829"/>
                        <a:ext cx="1905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850378"/>
              </p:ext>
            </p:extLst>
          </p:nvPr>
        </p:nvGraphicFramePr>
        <p:xfrm>
          <a:off x="674688" y="5527891"/>
          <a:ext cx="177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7569" imgH="266353" progId="Equation.DSMT4">
                  <p:embed/>
                </p:oleObj>
              </mc:Choice>
              <mc:Fallback>
                <p:oleObj name="Equation" r:id="rId22" imgW="177569" imgH="26635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8" y="5527891"/>
                        <a:ext cx="1778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289151"/>
              </p:ext>
            </p:extLst>
          </p:nvPr>
        </p:nvGraphicFramePr>
        <p:xfrm>
          <a:off x="5106988" y="5031004"/>
          <a:ext cx="571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71252" imgH="317362" progId="Equation.DSMT4">
                  <p:embed/>
                </p:oleObj>
              </mc:Choice>
              <mc:Fallback>
                <p:oleObj name="Equation" r:id="rId24" imgW="571252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988" y="5031004"/>
                        <a:ext cx="571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814354"/>
              </p:ext>
            </p:extLst>
          </p:nvPr>
        </p:nvGraphicFramePr>
        <p:xfrm>
          <a:off x="5175250" y="5534241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7646" imgH="190335" progId="Equation.DSMT4">
                  <p:embed/>
                </p:oleObj>
              </mc:Choice>
              <mc:Fallback>
                <p:oleObj name="Equation" r:id="rId26" imgW="177646" imgH="1903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0" y="5534241"/>
                        <a:ext cx="1778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 Box 36"/>
          <p:cNvSpPr txBox="1">
            <a:spLocks noChangeArrowheads="1"/>
          </p:cNvSpPr>
          <p:nvPr/>
        </p:nvSpPr>
        <p:spPr bwMode="auto">
          <a:xfrm>
            <a:off x="890588" y="5031004"/>
            <a:ext cx="3349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- долна граница на интеграла</a:t>
            </a:r>
            <a:endParaRPr lang="en-US" altLang="bg-BG" sz="1800"/>
          </a:p>
        </p:txBody>
      </p:sp>
      <p:sp>
        <p:nvSpPr>
          <p:cNvPr id="60" name="Rectangle 37"/>
          <p:cNvSpPr>
            <a:spLocks noChangeArrowheads="1"/>
          </p:cNvSpPr>
          <p:nvPr/>
        </p:nvSpPr>
        <p:spPr bwMode="auto">
          <a:xfrm>
            <a:off x="890588" y="5456454"/>
            <a:ext cx="32940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- горна граница на интеграла</a:t>
            </a:r>
            <a:endParaRPr lang="en-US" altLang="bg-BG" sz="1800"/>
          </a:p>
        </p:txBody>
      </p:sp>
      <p:sp>
        <p:nvSpPr>
          <p:cNvPr id="61" name="Text Box 38"/>
          <p:cNvSpPr txBox="1">
            <a:spLocks noChangeArrowheads="1"/>
          </p:cNvSpPr>
          <p:nvPr/>
        </p:nvSpPr>
        <p:spPr bwMode="auto">
          <a:xfrm>
            <a:off x="5641975" y="4992904"/>
            <a:ext cx="2955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- подинтегрална функция</a:t>
            </a:r>
            <a:r>
              <a:rPr lang="en-US" altLang="bg-BG" sz="1800"/>
              <a:t> </a:t>
            </a:r>
          </a:p>
        </p:txBody>
      </p:sp>
      <p:sp>
        <p:nvSpPr>
          <p:cNvPr id="62" name="Text Box 39"/>
          <p:cNvSpPr txBox="1">
            <a:spLocks noChangeArrowheads="1"/>
          </p:cNvSpPr>
          <p:nvPr/>
        </p:nvSpPr>
        <p:spPr bwMode="auto">
          <a:xfrm>
            <a:off x="5391150" y="5410416"/>
            <a:ext cx="3275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- интеграционна променлива</a:t>
            </a:r>
            <a:endParaRPr lang="en-US" altLang="bg-BG" sz="1800"/>
          </a:p>
        </p:txBody>
      </p:sp>
    </p:spTree>
    <p:extLst>
      <p:ext uri="{BB962C8B-B14F-4D97-AF65-F5344CB8AC3E}">
        <p14:creationId xmlns:p14="http://schemas.microsoft.com/office/powerpoint/2010/main" val="256506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  <p:bldP spid="48" grpId="0"/>
      <p:bldP spid="50" grpId="0"/>
      <p:bldP spid="52" grpId="0"/>
      <p:bldP spid="59" grpId="0"/>
      <p:bldP spid="60" grpId="0"/>
      <p:bldP spid="61" grpId="0"/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611560" y="2924944"/>
                <a:ext cx="7848872" cy="1800200"/>
              </a:xfr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>
                <a:normAutofit/>
              </a:bodyPr>
              <a:lstStyle/>
              <a:p>
                <a:pPr algn="just" eaLnBrk="1" hangingPunct="1">
                  <a:lnSpc>
                    <a:spcPct val="90000"/>
                  </a:lnSpc>
                  <a:spcBef>
                    <a:spcPct val="100000"/>
                  </a:spcBef>
                  <a:buFontTx/>
                  <a:buNone/>
                  <a:tabLst>
                    <a:tab pos="720725" algn="l"/>
                  </a:tabLst>
                </a:pPr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ТЕОРЕМА 2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(</a:t>
                </a:r>
                <a:r>
                  <a:rPr lang="ru-RU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достат</a:t>
                </a:r>
                <a:r>
                  <a:rPr lang="bg-BG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ъ</a:t>
                </a:r>
                <a:r>
                  <a:rPr lang="ru-RU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чно условие </a:t>
                </a:r>
                <a:r>
                  <a:rPr lang="bg-BG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за </a:t>
                </a:r>
                <a:r>
                  <a:rPr lang="ru-RU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интегруемост </a:t>
                </a:r>
                <a:r>
                  <a:rPr lang="ru-RU" sz="1600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в</a:t>
                </a:r>
                <a:r>
                  <a:rPr lang="ru-RU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 [</a:t>
                </a:r>
                <a:r>
                  <a:rPr lang="en-US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a</a:t>
                </a:r>
                <a:r>
                  <a:rPr lang="ru-RU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;</a:t>
                </a:r>
                <a:r>
                  <a:rPr lang="en-US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b</a:t>
                </a:r>
                <a:r>
                  <a:rPr lang="ru-RU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]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).  </a:t>
                </a:r>
              </a:p>
              <a:p>
                <a:pPr marL="0" indent="0" algn="just" eaLnBrk="1" hangingPunct="1">
                  <a:lnSpc>
                    <a:spcPct val="90000"/>
                  </a:lnSpc>
                  <a:spcBef>
                    <a:spcPct val="10000"/>
                  </a:spcBef>
                  <a:buFontTx/>
                  <a:buNone/>
                  <a:tabLst>
                    <a:tab pos="720725" algn="l"/>
                  </a:tabLst>
                </a:pP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</a:rPr>
                  <a:t>     За да е интегруема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функцията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𝑓</m:t>
                    </m:r>
                    <m:r>
                      <a:rPr lang="en-US" sz="1600" b="0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 </a:t>
                </a:r>
                <a:r>
                  <a:rPr lang="bg-BG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в 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интервала </a:t>
                </a:r>
                <a:r>
                  <a:rPr lang="ru-RU" sz="1600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[</a:t>
                </a:r>
                <a:r>
                  <a:rPr lang="en-US" sz="1600" i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a</a:t>
                </a:r>
                <a:r>
                  <a:rPr lang="ru-RU" sz="1600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;</a:t>
                </a:r>
                <a:r>
                  <a:rPr lang="en-US" sz="1600" i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b</a:t>
                </a:r>
                <a:r>
                  <a:rPr lang="ru-RU" sz="1600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]</a:t>
                </a:r>
                <a:r>
                  <a:rPr lang="en-US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 </a:t>
                </a:r>
                <a:r>
                  <a:rPr lang="bg-BG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е достатъчно да бъде изпълнено едно от следните условия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:</a:t>
                </a:r>
              </a:p>
              <a:p>
                <a:pPr algn="just">
                  <a:lnSpc>
                    <a:spcPct val="90000"/>
                  </a:lnSpc>
                  <a:spcBef>
                    <a:spcPct val="10000"/>
                  </a:spcBef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</a:rPr>
                  <a:t>	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1)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𝑓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е </a:t>
                </a:r>
                <a:r>
                  <a:rPr lang="ru-RU" sz="1600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непрекъсната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в [</a:t>
                </a:r>
                <a:r>
                  <a:rPr lang="en-US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a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;</a:t>
                </a:r>
                <a:r>
                  <a:rPr lang="en-US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b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];</a:t>
                </a:r>
              </a:p>
              <a:p>
                <a:pPr algn="just">
                  <a:lnSpc>
                    <a:spcPct val="90000"/>
                  </a:lnSpc>
                  <a:spcBef>
                    <a:spcPct val="10000"/>
                  </a:spcBef>
                  <a:buNone/>
                  <a:tabLst>
                    <a:tab pos="571500" algn="l"/>
                    <a:tab pos="720725" algn="l"/>
                  </a:tabLst>
                </a:pP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</a:rPr>
                  <a:t>	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2)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</a:rPr>
                  <a:t>	</a:t>
                </a:r>
                <a:r>
                  <a:rPr lang="en-US" sz="1600" dirty="0">
                    <a:solidFill>
                      <a:srgbClr val="000000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𝑓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е </a:t>
                </a:r>
                <a:r>
                  <a:rPr lang="ru-RU" sz="1600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ограничена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</a:t>
                </a:r>
                <a:r>
                  <a:rPr lang="ru-RU" sz="1600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и има краен брой точки на прекъсване 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в [</a:t>
                </a:r>
                <a:r>
                  <a:rPr lang="en-US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a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;</a:t>
                </a:r>
                <a:r>
                  <a:rPr lang="en-US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b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] ;</a:t>
                </a:r>
                <a:endParaRPr lang="ru-RU" sz="1600" dirty="0">
                  <a:solidFill>
                    <a:srgbClr val="000000"/>
                  </a:solidFill>
                  <a:latin typeface="Bookman Old Style" pitchFamily="18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ct val="10000"/>
                  </a:spcBef>
                  <a:buNone/>
                  <a:tabLst>
                    <a:tab pos="720725" algn="l"/>
                  </a:tabLst>
                </a:pP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</a:rPr>
                  <a:t>	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3)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𝑓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е </a:t>
                </a:r>
                <a:r>
                  <a:rPr lang="ru-RU" sz="1600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монотонна и ограничена 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в [</a:t>
                </a:r>
                <a:r>
                  <a:rPr lang="en-US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a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;</a:t>
                </a:r>
                <a:r>
                  <a:rPr lang="en-US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b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].</a:t>
                </a:r>
                <a:endParaRPr lang="ru-RU" sz="1600" dirty="0">
                  <a:solidFill>
                    <a:srgbClr val="000000"/>
                  </a:solidFill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71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611560" y="2924944"/>
                <a:ext cx="7848872" cy="1800200"/>
              </a:xfrm>
              <a:blipFill rotWithShape="0">
                <a:blip r:embed="rId2"/>
                <a:stretch>
                  <a:fillRect l="-388" t="-2373" r="-38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11560" y="116632"/>
                <a:ext cx="78488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bg-BG" b="1" dirty="0">
                    <a:solidFill>
                      <a:srgbClr val="0000CC"/>
                    </a:solidFill>
                    <a:latin typeface="Bookman Old Style" pitchFamily="18" charset="0"/>
                  </a:rPr>
                  <a:t>Необходимо условие и достатъчни условия </a:t>
                </a:r>
              </a:p>
              <a:p>
                <a:pPr algn="ctr"/>
                <a:r>
                  <a:rPr lang="bg-BG" b="1" dirty="0">
                    <a:solidFill>
                      <a:srgbClr val="0000CC"/>
                    </a:solidFill>
                    <a:latin typeface="Bookman Old Style" pitchFamily="18" charset="0"/>
                  </a:rPr>
                  <a:t>за интегруемост на функция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CC"/>
                        </a:solidFill>
                        <a:latin typeface="Cambria Math"/>
                      </a:rPr>
                      <m:t>𝒇</m:t>
                    </m:r>
                    <m:r>
                      <a:rPr lang="en-US" b="1" i="1" smtClean="0">
                        <a:solidFill>
                          <a:srgbClr val="0000CC"/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rgbClr val="0000CC"/>
                        </a:solidFill>
                        <a:latin typeface="Cambria Math"/>
                      </a:rPr>
                      <m:t>𝒙</m:t>
                    </m:r>
                    <m:r>
                      <a:rPr lang="en-US" b="1" i="1" smtClean="0">
                        <a:solidFill>
                          <a:srgbClr val="0000CC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bg-BG" b="1" dirty="0">
                    <a:solidFill>
                      <a:srgbClr val="0000CC"/>
                    </a:solidFill>
                    <a:latin typeface="Bookman Old Style" pitchFamily="18" charset="0"/>
                  </a:rPr>
                  <a:t> в краен интервал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bg-BG" b="1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𝒂</m:t>
                        </m:r>
                        <m:r>
                          <a:rPr lang="en-US" b="1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;</m:t>
                        </m:r>
                        <m:r>
                          <a:rPr lang="en-US" b="1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𝒃</m:t>
                        </m:r>
                      </m:e>
                    </m:d>
                  </m:oMath>
                </a14:m>
                <a:endParaRPr lang="en-US" b="1" dirty="0">
                  <a:solidFill>
                    <a:srgbClr val="0000CC"/>
                  </a:solidFill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16632"/>
                <a:ext cx="7848872" cy="646331"/>
              </a:xfrm>
              <a:prstGeom prst="rect">
                <a:avLst/>
              </a:prstGeom>
              <a:blipFill rotWithShape="1">
                <a:blip r:embed="rId3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11560" y="1730191"/>
                <a:ext cx="7776864" cy="9787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 eaLnBrk="1" hangingPunct="1">
                  <a:lnSpc>
                    <a:spcPct val="90000"/>
                  </a:lnSpc>
                  <a:spcBef>
                    <a:spcPct val="100000"/>
                  </a:spcBef>
                  <a:buFontTx/>
                  <a:buNone/>
                  <a:tabLst>
                    <a:tab pos="720725" algn="l"/>
                  </a:tabLst>
                </a:pPr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ТЕОРЕМА 1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(</a:t>
                </a:r>
                <a:r>
                  <a:rPr lang="ru-RU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необходимо условие </a:t>
                </a:r>
                <a:r>
                  <a:rPr lang="bg-BG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за </a:t>
                </a:r>
                <a:r>
                  <a:rPr lang="ru-RU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интегруемост</a:t>
                </a:r>
                <a:r>
                  <a:rPr lang="ru-RU" sz="1600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 в </a:t>
                </a:r>
                <a:r>
                  <a:rPr lang="ru-RU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[</a:t>
                </a:r>
                <a:r>
                  <a:rPr lang="en-US" sz="1600" b="1" i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a</a:t>
                </a:r>
                <a:r>
                  <a:rPr lang="ru-RU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;</a:t>
                </a:r>
                <a:r>
                  <a:rPr lang="en-US" sz="1600" b="1" i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b</a:t>
                </a:r>
                <a:r>
                  <a:rPr lang="ru-RU" sz="1600" b="1" dirty="0">
                    <a:solidFill>
                      <a:srgbClr val="00B050"/>
                    </a:solidFill>
                    <a:latin typeface="Bookman Old Style" pitchFamily="18" charset="0"/>
                    <a:cs typeface="Times New Roman" pitchFamily="18" charset="0"/>
                  </a:rPr>
                  <a:t>]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).</a:t>
                </a:r>
                <a:r>
                  <a:rPr lang="ru-RU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</a:t>
                </a:r>
              </a:p>
              <a:p>
                <a:pPr algn="just">
                  <a:lnSpc>
                    <a:spcPct val="90000"/>
                  </a:lnSpc>
                  <a:tabLst>
                    <a:tab pos="720725" algn="l"/>
                  </a:tabLst>
                </a:pPr>
                <a:r>
                  <a:rPr lang="ru-RU" sz="1600" i="1" dirty="0">
                    <a:solidFill>
                      <a:srgbClr val="000000"/>
                    </a:solidFill>
                    <a:latin typeface="Bookman Old Style" pitchFamily="18" charset="0"/>
                  </a:rPr>
                  <a:t>     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</a:rPr>
                  <a:t>Ако функцията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</a:rPr>
                      <m:t>𝒇</m:t>
                    </m:r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</a:rPr>
                      <m:t>(</m:t>
                    </m:r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</a:rPr>
                      <m:t>𝒙</m:t>
                    </m:r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</a:rPr>
                      <m:t>) </m:t>
                    </m:r>
                  </m:oMath>
                </a14:m>
                <a:r>
                  <a:rPr lang="ru-RU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е интегруема в интервала </a:t>
                </a:r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[</a:t>
                </a:r>
                <a:r>
                  <a:rPr lang="en-US" sz="1600" b="1" i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a</a:t>
                </a:r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;</a:t>
                </a:r>
                <a:r>
                  <a:rPr lang="en-US" sz="1600" b="1" i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b</a:t>
                </a:r>
                <a:r>
                  <a:rPr lang="ru-RU" sz="1600" b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]</a:t>
                </a:r>
                <a:r>
                  <a:rPr lang="ru-RU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, 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то тя е </a:t>
                </a:r>
                <a:r>
                  <a:rPr lang="ru-RU" sz="1600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ограничена</a:t>
                </a:r>
                <a:r>
                  <a:rPr lang="ru-RU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в този интервал, т.е. съществува число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𝑴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&gt;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𝟎</m:t>
                    </m:r>
                  </m:oMath>
                </a14:m>
                <a:r>
                  <a:rPr lang="en-US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 </a:t>
                </a:r>
                <a:r>
                  <a:rPr lang="bg-BG" sz="1600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такова, че </a:t>
                </a:r>
                <a14:m>
                  <m:oMath xmlns:m="http://schemas.openxmlformats.org/officeDocument/2006/math">
                    <m:r>
                      <a:rPr lang="bg-BG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−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𝑴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𝒇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(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𝒙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)≤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𝑴</m:t>
                    </m:r>
                  </m:oMath>
                </a14:m>
                <a:r>
                  <a:rPr lang="ru-RU" sz="1600" b="1" i="1" dirty="0">
                    <a:solidFill>
                      <a:srgbClr val="0000CC"/>
                    </a:solidFill>
                    <a:latin typeface="Bookman Old Style" pitchFamily="18" charset="0"/>
                    <a:cs typeface="Times New Roman" pitchFamily="18" charset="0"/>
                  </a:rPr>
                  <a:t> </a:t>
                </a:r>
                <a:r>
                  <a:rPr lang="ru-RU" sz="1600" i="1" dirty="0">
                    <a:solidFill>
                      <a:srgbClr val="000000"/>
                    </a:solidFill>
                    <a:latin typeface="Bookman Old Style" pitchFamily="18" charset="0"/>
                    <a:cs typeface="Times New Roman" pitchFamily="18" charset="0"/>
                  </a:rPr>
                  <a:t>.</a:t>
                </a:r>
                <a:endParaRPr lang="ru-RU" sz="1600" dirty="0">
                  <a:solidFill>
                    <a:srgbClr val="000000"/>
                  </a:solidFill>
                  <a:latin typeface="Bookman Old Style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730191"/>
                <a:ext cx="7776864" cy="978729"/>
              </a:xfrm>
              <a:prstGeom prst="rect">
                <a:avLst/>
              </a:prstGeom>
              <a:blipFill rotWithShape="0">
                <a:blip r:embed="rId4"/>
                <a:stretch>
                  <a:fillRect l="-392" t="-4375" r="-470" b="-812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7E8DE2-DCC8-40EC-86CC-43176A1EDBAD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37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76880"/>
              </p:ext>
            </p:extLst>
          </p:nvPr>
        </p:nvGraphicFramePr>
        <p:xfrm>
          <a:off x="5302795" y="1422985"/>
          <a:ext cx="3476444" cy="2011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 System" r:id="rId2" imgW="6096000" imgH="4067251" progId="GraphFile">
                  <p:embed/>
                </p:oleObj>
              </mc:Choice>
              <mc:Fallback>
                <p:oleObj name="Graph System" r:id="rId2" imgW="6096000" imgH="4067251" progId="GraphFil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795" y="1422985"/>
                        <a:ext cx="3476444" cy="2011016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71000">
                            <a:schemeClr val="accent5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5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5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5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C716A7-F7B0-4E65-9311-75F1E34D700A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179388" y="188913"/>
            <a:ext cx="76354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2000" b="1" dirty="0">
                <a:solidFill>
                  <a:srgbClr val="0000CC"/>
                </a:solidFill>
                <a:latin typeface="Bookman Old Style" panose="02050604050505020204" pitchFamily="18" charset="0"/>
              </a:rPr>
              <a:t>Геометрични приложения на определения интеграл.</a:t>
            </a:r>
            <a:endParaRPr lang="en-US" altLang="bg-BG" sz="2000" b="1" dirty="0">
              <a:solidFill>
                <a:srgbClr val="0000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117975" y="3410774"/>
            <a:ext cx="449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тогава лицето на криволинейния трапец</a:t>
            </a:r>
            <a:endParaRPr lang="en-US" altLang="bg-BG" sz="1800"/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258762" y="3417124"/>
            <a:ext cx="563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Ако</a:t>
            </a:r>
            <a:endParaRPr lang="en-US" altLang="bg-BG" sz="1800"/>
          </a:p>
        </p:txBody>
      </p:sp>
      <p:graphicFrame>
        <p:nvGraphicFramePr>
          <p:cNvPr id="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703284"/>
              </p:ext>
            </p:extLst>
          </p:nvPr>
        </p:nvGraphicFramePr>
        <p:xfrm>
          <a:off x="1195387" y="3453637"/>
          <a:ext cx="977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476" imgH="317362" progId="Equation.DSMT4">
                  <p:embed/>
                </p:oleObj>
              </mc:Choice>
              <mc:Fallback>
                <p:oleObj name="Equation" r:id="rId4" imgW="977476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387" y="3453637"/>
                        <a:ext cx="977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2276475" y="3380612"/>
            <a:ext cx="561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при</a:t>
            </a:r>
            <a:endParaRPr lang="en-US" altLang="bg-BG" sz="1800"/>
          </a:p>
        </p:txBody>
      </p:sp>
      <p:graphicFrame>
        <p:nvGraphicFramePr>
          <p:cNvPr id="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039024"/>
              </p:ext>
            </p:extLst>
          </p:nvPr>
        </p:nvGraphicFramePr>
        <p:xfrm>
          <a:off x="2995612" y="3436174"/>
          <a:ext cx="1079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79032" imgH="304668" progId="Equation.DSMT4">
                  <p:embed/>
                </p:oleObj>
              </mc:Choice>
              <mc:Fallback>
                <p:oleObj name="Equation" r:id="rId6" imgW="1079032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2" y="3436174"/>
                        <a:ext cx="10795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854455"/>
              </p:ext>
            </p:extLst>
          </p:nvPr>
        </p:nvGraphicFramePr>
        <p:xfrm>
          <a:off x="258762" y="3842574"/>
          <a:ext cx="3492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92500" imgH="330200" progId="Equation.DSMT4">
                  <p:embed/>
                </p:oleObj>
              </mc:Choice>
              <mc:Fallback>
                <p:oleObj name="Equation" r:id="rId8" imgW="34925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" y="3842574"/>
                        <a:ext cx="3492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3859212" y="3777487"/>
            <a:ext cx="374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е</a:t>
            </a:r>
            <a:r>
              <a:rPr lang="en-US" altLang="bg-BG" sz="1800"/>
              <a:t>:</a:t>
            </a:r>
          </a:p>
        </p:txBody>
      </p:sp>
      <p:graphicFrame>
        <p:nvGraphicFramePr>
          <p:cNvPr id="1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147535"/>
              </p:ext>
            </p:extLst>
          </p:nvPr>
        </p:nvGraphicFramePr>
        <p:xfrm>
          <a:off x="2174875" y="4245799"/>
          <a:ext cx="1612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12900" imgH="800100" progId="Equation.DSMT4">
                  <p:embed/>
                </p:oleObj>
              </mc:Choice>
              <mc:Fallback>
                <p:oleObj name="Equation" r:id="rId10" imgW="16129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75" y="4245799"/>
                        <a:ext cx="1612900" cy="8001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66CC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754066"/>
              </p:ext>
            </p:extLst>
          </p:nvPr>
        </p:nvGraphicFramePr>
        <p:xfrm>
          <a:off x="5389651" y="3856789"/>
          <a:ext cx="3389588" cy="2261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 System" r:id="rId12" imgW="6096000" imgH="4067251" progId="GraphFile">
                  <p:embed/>
                </p:oleObj>
              </mc:Choice>
              <mc:Fallback>
                <p:oleObj name="Graph System" r:id="rId12" imgW="6096000" imgH="4067251" progId="GraphFil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9651" y="3856789"/>
                        <a:ext cx="3389588" cy="2261130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22000">
                            <a:schemeClr val="accent5">
                              <a:lumMod val="5000"/>
                              <a:lumOff val="95000"/>
                            </a:schemeClr>
                          </a:gs>
                          <a:gs pos="20000">
                            <a:schemeClr val="accent5">
                              <a:lumMod val="45000"/>
                              <a:lumOff val="55000"/>
                            </a:scheme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667106"/>
              </p:ext>
            </p:extLst>
          </p:nvPr>
        </p:nvGraphicFramePr>
        <p:xfrm>
          <a:off x="6853237" y="4776024"/>
          <a:ext cx="123825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957" imgH="203024" progId="Equation.DSMT4">
                  <p:embed/>
                </p:oleObj>
              </mc:Choice>
              <mc:Fallback>
                <p:oleObj name="Equation" r:id="rId14" imgW="164957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3237" y="4776024"/>
                        <a:ext cx="123825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109460"/>
              </p:ext>
            </p:extLst>
          </p:nvPr>
        </p:nvGraphicFramePr>
        <p:xfrm>
          <a:off x="6061075" y="4272787"/>
          <a:ext cx="95250" cy="10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835" imgH="139518" progId="Equation.DSMT4">
                  <p:embed/>
                </p:oleObj>
              </mc:Choice>
              <mc:Fallback>
                <p:oleObj name="Equation" r:id="rId16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1075" y="4272787"/>
                        <a:ext cx="95250" cy="106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714472"/>
              </p:ext>
            </p:extLst>
          </p:nvPr>
        </p:nvGraphicFramePr>
        <p:xfrm>
          <a:off x="7788275" y="4272787"/>
          <a:ext cx="96837" cy="13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5" imgH="177415" progId="Equation.DSMT4">
                  <p:embed/>
                </p:oleObj>
              </mc:Choice>
              <mc:Fallback>
                <p:oleObj name="Equation" r:id="rId18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8275" y="4272787"/>
                        <a:ext cx="96837" cy="134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9"/>
          <p:cNvSpPr txBox="1">
            <a:spLocks noChangeArrowheads="1"/>
          </p:cNvSpPr>
          <p:nvPr/>
        </p:nvSpPr>
        <p:spPr bwMode="auto">
          <a:xfrm>
            <a:off x="187325" y="789812"/>
            <a:ext cx="5635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Ако</a:t>
            </a:r>
            <a:endParaRPr lang="en-US" altLang="bg-BG" sz="1800"/>
          </a:p>
        </p:txBody>
      </p:sp>
      <p:graphicFrame>
        <p:nvGraphicFramePr>
          <p:cNvPr id="1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652511"/>
              </p:ext>
            </p:extLst>
          </p:nvPr>
        </p:nvGraphicFramePr>
        <p:xfrm>
          <a:off x="755650" y="823149"/>
          <a:ext cx="1016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15559" imgH="317362" progId="Equation.DSMT4">
                  <p:embed/>
                </p:oleObj>
              </mc:Choice>
              <mc:Fallback>
                <p:oleObj name="Equation" r:id="rId20" imgW="1015559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823149"/>
                        <a:ext cx="1016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31"/>
          <p:cNvSpPr txBox="1">
            <a:spLocks noChangeArrowheads="1"/>
          </p:cNvSpPr>
          <p:nvPr/>
        </p:nvSpPr>
        <p:spPr bwMode="auto">
          <a:xfrm>
            <a:off x="1987550" y="772349"/>
            <a:ext cx="4032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е непрекъсната и неотрицателна в </a:t>
            </a:r>
            <a:r>
              <a:rPr lang="en-US" altLang="bg-BG" sz="1800"/>
              <a:t> </a:t>
            </a:r>
          </a:p>
        </p:txBody>
      </p:sp>
      <p:graphicFrame>
        <p:nvGraphicFramePr>
          <p:cNvPr id="2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391854"/>
              </p:ext>
            </p:extLst>
          </p:nvPr>
        </p:nvGraphicFramePr>
        <p:xfrm>
          <a:off x="5935662" y="788224"/>
          <a:ext cx="660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60113" imgH="317362" progId="Equation.DSMT4">
                  <p:embed/>
                </p:oleObj>
              </mc:Choice>
              <mc:Fallback>
                <p:oleObj name="Equation" r:id="rId22" imgW="660113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5662" y="788224"/>
                        <a:ext cx="660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043876"/>
              </p:ext>
            </p:extLst>
          </p:nvPr>
        </p:nvGraphicFramePr>
        <p:xfrm>
          <a:off x="7604125" y="788224"/>
          <a:ext cx="215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15619" imgH="266353" progId="Equation.DSMT4">
                  <p:embed/>
                </p:oleObj>
              </mc:Choice>
              <mc:Fallback>
                <p:oleObj name="Equation" r:id="rId24" imgW="215619" imgH="26635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5" y="788224"/>
                        <a:ext cx="215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37"/>
          <p:cNvSpPr txBox="1">
            <a:spLocks noChangeArrowheads="1"/>
          </p:cNvSpPr>
          <p:nvPr/>
        </p:nvSpPr>
        <p:spPr bwMode="auto">
          <a:xfrm>
            <a:off x="55562" y="1215262"/>
            <a:ext cx="2609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криволинейния трапец</a:t>
            </a:r>
            <a:endParaRPr lang="en-US" altLang="bg-BG" sz="1800"/>
          </a:p>
        </p:txBody>
      </p:sp>
      <p:sp>
        <p:nvSpPr>
          <p:cNvPr id="23" name="Rectangle 41"/>
          <p:cNvSpPr>
            <a:spLocks noChangeArrowheads="1"/>
          </p:cNvSpPr>
          <p:nvPr/>
        </p:nvSpPr>
        <p:spPr bwMode="auto">
          <a:xfrm>
            <a:off x="6667500" y="716787"/>
            <a:ext cx="163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лицето</a:t>
            </a:r>
            <a:r>
              <a:rPr lang="en-US" altLang="bg-BG" sz="1800"/>
              <a:t>     </a:t>
            </a:r>
            <a:r>
              <a:rPr lang="bg-BG" altLang="bg-BG" sz="1800"/>
              <a:t> на</a:t>
            </a:r>
            <a:r>
              <a:rPr lang="en-US" altLang="bg-BG" sz="1800"/>
              <a:t> </a:t>
            </a:r>
          </a:p>
        </p:txBody>
      </p:sp>
      <p:sp>
        <p:nvSpPr>
          <p:cNvPr id="24" name="Text Box 42"/>
          <p:cNvSpPr txBox="1">
            <a:spLocks noChangeArrowheads="1"/>
          </p:cNvSpPr>
          <p:nvPr/>
        </p:nvSpPr>
        <p:spPr bwMode="auto">
          <a:xfrm>
            <a:off x="6213475" y="121367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е</a:t>
            </a:r>
            <a:endParaRPr lang="en-US" altLang="bg-BG" sz="1800"/>
          </a:p>
        </p:txBody>
      </p:sp>
      <p:graphicFrame>
        <p:nvGraphicFramePr>
          <p:cNvPr id="25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986567"/>
              </p:ext>
            </p:extLst>
          </p:nvPr>
        </p:nvGraphicFramePr>
        <p:xfrm>
          <a:off x="2203450" y="2085212"/>
          <a:ext cx="1460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459866" imgH="799753" progId="Equation.DSMT4">
                  <p:embed/>
                </p:oleObj>
              </mc:Choice>
              <mc:Fallback>
                <p:oleObj name="Equation" r:id="rId26" imgW="1459866" imgH="79975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2085212"/>
                        <a:ext cx="1460500" cy="8001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33CC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29854"/>
              </p:ext>
            </p:extLst>
          </p:nvPr>
        </p:nvGraphicFramePr>
        <p:xfrm>
          <a:off x="6740525" y="2445574"/>
          <a:ext cx="165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4957" imgH="190335" progId="Equation.DSMT4">
                  <p:embed/>
                </p:oleObj>
              </mc:Choice>
              <mc:Fallback>
                <p:oleObj name="Equation" r:id="rId28" imgW="164957" imgH="1903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0525" y="2445574"/>
                        <a:ext cx="1651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358769"/>
              </p:ext>
            </p:extLst>
          </p:nvPr>
        </p:nvGraphicFramePr>
        <p:xfrm>
          <a:off x="5875337" y="2732912"/>
          <a:ext cx="1143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4102" imgH="126780" progId="Equation.DSMT4">
                  <p:embed/>
                </p:oleObj>
              </mc:Choice>
              <mc:Fallback>
                <p:oleObj name="Equation" r:id="rId30" imgW="114102" imgH="126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5337" y="2732912"/>
                        <a:ext cx="114300" cy="12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616270"/>
              </p:ext>
            </p:extLst>
          </p:nvPr>
        </p:nvGraphicFramePr>
        <p:xfrm>
          <a:off x="7604125" y="2732912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14151" imgH="164885" progId="Equation.DSMT4">
                  <p:embed/>
                </p:oleObj>
              </mc:Choice>
              <mc:Fallback>
                <p:oleObj name="Equation" r:id="rId32" imgW="114151" imgH="16488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5" y="2732912"/>
                        <a:ext cx="1143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590730"/>
              </p:ext>
            </p:extLst>
          </p:nvPr>
        </p:nvGraphicFramePr>
        <p:xfrm>
          <a:off x="2635250" y="1221612"/>
          <a:ext cx="3505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505200" imgH="330200" progId="Equation.DSMT4">
                  <p:embed/>
                </p:oleObj>
              </mc:Choice>
              <mc:Fallback>
                <p:oleObj name="Equation" r:id="rId34" imgW="35052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0" y="1221612"/>
                        <a:ext cx="3505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55"/>
          <p:cNvSpPr txBox="1">
            <a:spLocks noChangeArrowheads="1"/>
          </p:cNvSpPr>
          <p:nvPr/>
        </p:nvSpPr>
        <p:spPr bwMode="auto">
          <a:xfrm>
            <a:off x="1484312" y="5576124"/>
            <a:ext cx="581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2000"/>
              <a:t>т.е.</a:t>
            </a:r>
            <a:endParaRPr lang="en-US" altLang="bg-BG" sz="2000"/>
          </a:p>
        </p:txBody>
      </p:sp>
      <p:graphicFrame>
        <p:nvGraphicFramePr>
          <p:cNvPr id="32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148876"/>
              </p:ext>
            </p:extLst>
          </p:nvPr>
        </p:nvGraphicFramePr>
        <p:xfrm>
          <a:off x="2225675" y="5317362"/>
          <a:ext cx="1562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562100" imgH="800100" progId="Equation.DSMT4">
                  <p:embed/>
                </p:oleObj>
              </mc:Choice>
              <mc:Fallback>
                <p:oleObj name="Equation" r:id="rId36" imgW="15621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5317362"/>
                        <a:ext cx="1562100" cy="8001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Line 68"/>
          <p:cNvSpPr>
            <a:spLocks noChangeShapeType="1"/>
          </p:cNvSpPr>
          <p:nvPr/>
        </p:nvSpPr>
        <p:spPr bwMode="auto">
          <a:xfrm>
            <a:off x="-92719" y="5157192"/>
            <a:ext cx="5256213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6135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1" grpId="0"/>
      <p:bldP spid="17" grpId="0"/>
      <p:bldP spid="24" grpId="0"/>
      <p:bldP spid="31" grpId="0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063761"/>
              </p:ext>
            </p:extLst>
          </p:nvPr>
        </p:nvGraphicFramePr>
        <p:xfrm>
          <a:off x="5676900" y="3284538"/>
          <a:ext cx="2146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45960" imgH="850680" progId="Equation.DSMT4">
                  <p:embed/>
                </p:oleObj>
              </mc:Choice>
              <mc:Fallback>
                <p:oleObj name="Equation" r:id="rId2" imgW="214596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6900" y="3284538"/>
                        <a:ext cx="2146300" cy="850900"/>
                      </a:xfrm>
                      <a:prstGeom prst="rect">
                        <a:avLst/>
                      </a:prstGeom>
                      <a:noFill/>
                      <a:ln cmpd="dbl">
                        <a:solidFill>
                          <a:srgbClr val="0000CC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037771"/>
              </p:ext>
            </p:extLst>
          </p:nvPr>
        </p:nvGraphicFramePr>
        <p:xfrm>
          <a:off x="5605463" y="1628775"/>
          <a:ext cx="2044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4440" imgH="850680" progId="Equation.DSMT4">
                  <p:embed/>
                </p:oleObj>
              </mc:Choice>
              <mc:Fallback>
                <p:oleObj name="Equation" r:id="rId4" imgW="204444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1628775"/>
                        <a:ext cx="2044700" cy="850900"/>
                      </a:xfrm>
                      <a:prstGeom prst="rect">
                        <a:avLst/>
                      </a:prstGeom>
                      <a:noFill/>
                      <a:ln cmpd="dbl">
                        <a:solidFill>
                          <a:srgbClr val="0000CC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6" name="Rectangle 14"/>
          <p:cNvSpPr>
            <a:spLocks noChangeArrowheads="1"/>
          </p:cNvSpPr>
          <p:nvPr/>
        </p:nvSpPr>
        <p:spPr bwMode="auto">
          <a:xfrm>
            <a:off x="755650" y="655638"/>
            <a:ext cx="2155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2000"/>
              <a:t>В общия случай</a:t>
            </a:r>
            <a:r>
              <a:rPr lang="en-US" altLang="bg-BG" sz="2000"/>
              <a:t>: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650195" y="1412776"/>
            <a:ext cx="4686300" cy="395287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bg-BG"/>
              <a:t>Определен интеграл                   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C4992A-8360-4F6D-BA53-5B4B15C67D3A}" type="slidenum">
              <a:rPr lang="en-US" altLang="bg-BG" smtClean="0"/>
              <a:pPr>
                <a:defRPr/>
              </a:pPr>
              <a:t>7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86991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bg-BG" sz="2000" b="1" dirty="0">
                <a:solidFill>
                  <a:srgbClr val="0000CC"/>
                </a:solidFill>
                <a:latin typeface="Bookman Old Style" pitchFamily="18" charset="0"/>
              </a:rPr>
              <a:t>Основни свойства на определения интеграл</a:t>
            </a:r>
            <a:endParaRPr lang="en-US" sz="2000" b="1" dirty="0">
              <a:solidFill>
                <a:srgbClr val="0000CC"/>
              </a:solidFill>
              <a:latin typeface="Bookman Old Style" pitchFamily="18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997146"/>
              </p:ext>
            </p:extLst>
          </p:nvPr>
        </p:nvGraphicFramePr>
        <p:xfrm>
          <a:off x="539552" y="1011462"/>
          <a:ext cx="6254369" cy="61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68880" imgH="507960" progId="Equation.DSMT4">
                  <p:embed/>
                </p:oleObj>
              </mc:Choice>
              <mc:Fallback>
                <p:oleObj name="Equation" r:id="rId2" imgW="51688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9552" y="1011462"/>
                        <a:ext cx="6254369" cy="614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150492"/>
              </p:ext>
            </p:extLst>
          </p:nvPr>
        </p:nvGraphicFramePr>
        <p:xfrm>
          <a:off x="539552" y="1878101"/>
          <a:ext cx="6132080" cy="614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67000" imgH="507960" progId="Equation.DSMT4">
                  <p:embed/>
                </p:oleObj>
              </mc:Choice>
              <mc:Fallback>
                <p:oleObj name="Equation" r:id="rId4" imgW="50670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9552" y="1878101"/>
                        <a:ext cx="6132080" cy="614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331828"/>
              </p:ext>
            </p:extLst>
          </p:nvPr>
        </p:nvGraphicFramePr>
        <p:xfrm>
          <a:off x="539552" y="2670189"/>
          <a:ext cx="5486977" cy="614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33840" imgH="507960" progId="Equation.DSMT4">
                  <p:embed/>
                </p:oleObj>
              </mc:Choice>
              <mc:Fallback>
                <p:oleObj name="Equation" r:id="rId6" imgW="4533840" imgH="5079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670189"/>
                        <a:ext cx="5486977" cy="614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174526"/>
              </p:ext>
            </p:extLst>
          </p:nvPr>
        </p:nvGraphicFramePr>
        <p:xfrm>
          <a:off x="539552" y="3462277"/>
          <a:ext cx="4719205" cy="614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98800" imgH="507960" progId="Equation.DSMT4">
                  <p:embed/>
                </p:oleObj>
              </mc:Choice>
              <mc:Fallback>
                <p:oleObj name="Equation" r:id="rId8" imgW="38988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462277"/>
                        <a:ext cx="4719205" cy="614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356"/>
              </p:ext>
            </p:extLst>
          </p:nvPr>
        </p:nvGraphicFramePr>
        <p:xfrm>
          <a:off x="539552" y="4244950"/>
          <a:ext cx="760845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286320" imgH="812520" progId="Equation.DSMT4">
                  <p:embed/>
                </p:oleObj>
              </mc:Choice>
              <mc:Fallback>
                <p:oleObj name="Equation" r:id="rId10" imgW="6286320" imgH="8125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4244950"/>
                        <a:ext cx="7608455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1814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C716A7-F7B0-4E65-9311-75F1E34D700A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191518"/>
              </p:ext>
            </p:extLst>
          </p:nvPr>
        </p:nvGraphicFramePr>
        <p:xfrm>
          <a:off x="395536" y="188640"/>
          <a:ext cx="6671829" cy="614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11600" imgH="507960" progId="Equation.DSMT4">
                  <p:embed/>
                </p:oleObj>
              </mc:Choice>
              <mc:Fallback>
                <p:oleObj name="Equation" r:id="rId2" imgW="55116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88640"/>
                        <a:ext cx="6671829" cy="614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825646"/>
            <a:ext cx="3704680" cy="2843736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856952"/>
              </p:ext>
            </p:extLst>
          </p:nvPr>
        </p:nvGraphicFramePr>
        <p:xfrm>
          <a:off x="391479" y="4830429"/>
          <a:ext cx="4918364" cy="614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3680" imgH="507960" progId="Equation.DSMT4">
                  <p:embed/>
                </p:oleObj>
              </mc:Choice>
              <mc:Fallback>
                <p:oleObj name="Equation" r:id="rId5" imgW="40636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1479" y="4830429"/>
                        <a:ext cx="4918364" cy="614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574103"/>
              </p:ext>
            </p:extLst>
          </p:nvPr>
        </p:nvGraphicFramePr>
        <p:xfrm>
          <a:off x="413299" y="3573016"/>
          <a:ext cx="2951306" cy="1261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38280" imgH="1041120" progId="Equation.DSMT4">
                  <p:embed/>
                </p:oleObj>
              </mc:Choice>
              <mc:Fallback>
                <p:oleObj name="Equation" r:id="rId7" imgW="2438280" imgH="1041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99" y="3573016"/>
                        <a:ext cx="2951306" cy="1261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564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507030"/>
              </p:ext>
            </p:extLst>
          </p:nvPr>
        </p:nvGraphicFramePr>
        <p:xfrm>
          <a:off x="395288" y="116632"/>
          <a:ext cx="6409171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95600" imgH="787320" progId="Equation.DSMT4">
                  <p:embed/>
                </p:oleObj>
              </mc:Choice>
              <mc:Fallback>
                <p:oleObj name="Equation" r:id="rId2" imgW="529560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6632"/>
                        <a:ext cx="6409171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663095"/>
              </p:ext>
            </p:extLst>
          </p:nvPr>
        </p:nvGraphicFramePr>
        <p:xfrm>
          <a:off x="395288" y="4305300"/>
          <a:ext cx="8240712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06880" imgH="1054080" progId="Equation.DSMT4">
                  <p:embed/>
                </p:oleObj>
              </mc:Choice>
              <mc:Fallback>
                <p:oleObj name="Equation" r:id="rId4" imgW="6806880" imgH="1054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305300"/>
                        <a:ext cx="8240712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  <p:pic>
        <p:nvPicPr>
          <p:cNvPr id="10" name="Picture 11" descr="050216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23728" y="1124744"/>
            <a:ext cx="4210050" cy="2859088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372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bg-BG" sz="2000" b="1" dirty="0">
                <a:solidFill>
                  <a:srgbClr val="0000CC"/>
                </a:solidFill>
                <a:latin typeface="Bookman Old Style" pitchFamily="18" charset="0"/>
              </a:rPr>
              <a:t>Определен интеграл от четна</a:t>
            </a:r>
            <a:r>
              <a:rPr lang="en-US" sz="2000" b="1" dirty="0">
                <a:solidFill>
                  <a:srgbClr val="0000CC"/>
                </a:solidFill>
                <a:latin typeface="Bookman Old Style" pitchFamily="18" charset="0"/>
              </a:rPr>
              <a:t> </a:t>
            </a:r>
            <a:r>
              <a:rPr lang="bg-BG" sz="2000" b="1" dirty="0">
                <a:solidFill>
                  <a:srgbClr val="0000CC"/>
                </a:solidFill>
                <a:latin typeface="Bookman Old Style" pitchFamily="18" charset="0"/>
              </a:rPr>
              <a:t>и нечетна функция в симетрични граници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27645" y="835224"/>
                <a:ext cx="3684315" cy="156966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bg-BG" sz="1600" dirty="0">
                    <a:solidFill>
                      <a:schemeClr val="tx1"/>
                    </a:solidFill>
                    <a:latin typeface="Bookman Old Style" pitchFamily="18" charset="0"/>
                  </a:rPr>
                  <a:t>     Нека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/>
                      </a:rPr>
                      <m:t>𝒂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/>
                      </a:rPr>
                      <m:t>&gt;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1600" b="1" dirty="0">
                    <a:solidFill>
                      <a:schemeClr val="tx1"/>
                    </a:solidFill>
                    <a:latin typeface="Bookman Old Style" pitchFamily="18" charset="0"/>
                  </a:rPr>
                  <a:t> </a:t>
                </a:r>
                <a:r>
                  <a:rPr lang="bg-BG" sz="1600" dirty="0">
                    <a:solidFill>
                      <a:schemeClr val="tx1"/>
                    </a:solidFill>
                    <a:latin typeface="Bookman Old Style" pitchFamily="18" charset="0"/>
                  </a:rPr>
                  <a:t>и функцията</a:t>
                </a:r>
                <a:r>
                  <a:rPr lang="en-US" sz="1600" dirty="0">
                    <a:solidFill>
                      <a:schemeClr val="tx1"/>
                    </a:solidFill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33CC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</a:rPr>
                      <m:t>𝒙</m:t>
                    </m:r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∈(−</m:t>
                    </m:r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𝒂</m:t>
                    </m:r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;</m:t>
                    </m:r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𝒂</m:t>
                    </m:r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1600" b="1" dirty="0">
                    <a:solidFill>
                      <a:srgbClr val="0033CC"/>
                    </a:solidFill>
                    <a:latin typeface="Bookman Old Style" pitchFamily="18" charset="0"/>
                  </a:rPr>
                  <a:t> </a:t>
                </a:r>
                <a:r>
                  <a:rPr lang="bg-BG" sz="1600" dirty="0">
                    <a:solidFill>
                      <a:schemeClr val="tx1"/>
                    </a:solidFill>
                    <a:latin typeface="Bookman Old Style" pitchFamily="18" charset="0"/>
                  </a:rPr>
                  <a:t>е </a:t>
                </a:r>
                <a:r>
                  <a:rPr lang="bg-BG" sz="1600" b="1" dirty="0">
                    <a:solidFill>
                      <a:srgbClr val="0033CC"/>
                    </a:solidFill>
                    <a:latin typeface="Bookman Old Style" pitchFamily="18" charset="0"/>
                  </a:rPr>
                  <a:t>четна</a:t>
                </a:r>
                <a:r>
                  <a:rPr lang="bg-BG" sz="1600" dirty="0">
                    <a:solidFill>
                      <a:schemeClr val="tx1"/>
                    </a:solidFill>
                    <a:latin typeface="Bookman Old Style" pitchFamily="18" charset="0"/>
                  </a:rPr>
                  <a:t> и интегруема в интервала</a:t>
                </a:r>
                <a:r>
                  <a:rPr lang="bg-BG" sz="1600" b="1" dirty="0">
                    <a:solidFill>
                      <a:schemeClr val="tx1"/>
                    </a:solidFill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(−</m:t>
                    </m:r>
                    <m:r>
                      <a:rPr lang="en-US" sz="16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𝒂</m:t>
                    </m:r>
                    <m:r>
                      <a:rPr lang="en-US" sz="16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;</m:t>
                    </m:r>
                    <m:r>
                      <a:rPr lang="en-US" sz="16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𝒂</m:t>
                    </m:r>
                    <m:r>
                      <a:rPr lang="en-US" sz="16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bg-BG" sz="1600" dirty="0">
                    <a:solidFill>
                      <a:schemeClr val="tx1"/>
                    </a:solidFill>
                    <a:latin typeface="Bookman Old Style" pitchFamily="18" charset="0"/>
                  </a:rPr>
                  <a:t>. Тогава</a:t>
                </a:r>
              </a:p>
              <a:p>
                <a:endParaRPr lang="bg-BG" sz="1600" dirty="0">
                  <a:latin typeface="Bookman Old Style" pitchFamily="18" charset="0"/>
                </a:endParaRPr>
              </a:p>
              <a:p>
                <a:endParaRPr lang="en-US" sz="1600" dirty="0">
                  <a:solidFill>
                    <a:schemeClr val="tx1"/>
                  </a:solidFill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45" y="835224"/>
                <a:ext cx="3684315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993" t="-1163" r="-82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2195736" y="4581128"/>
            <a:ext cx="1656184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  <p:sp>
        <p:nvSpPr>
          <p:cNvPr id="2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851920" y="4581128"/>
            <a:ext cx="2088232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940152" y="4581128"/>
            <a:ext cx="2448272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979712" y="5229200"/>
            <a:ext cx="5904656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089642"/>
              </p:ext>
            </p:extLst>
          </p:nvPr>
        </p:nvGraphicFramePr>
        <p:xfrm>
          <a:off x="1475656" y="1634220"/>
          <a:ext cx="22129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507960" progId="Equation.DSMT4">
                  <p:embed/>
                </p:oleObj>
              </mc:Choice>
              <mc:Fallback>
                <p:oleObj name="Equation" r:id="rId4" imgW="1663560" imgH="5079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634220"/>
                        <a:ext cx="22129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687" y="2852936"/>
            <a:ext cx="3396074" cy="27983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159971" y="835224"/>
                <a:ext cx="3732509" cy="156966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bg-BG" sz="1600" dirty="0">
                    <a:solidFill>
                      <a:schemeClr val="tx1"/>
                    </a:solidFill>
                    <a:latin typeface="Bookman Old Style" pitchFamily="18" charset="0"/>
                  </a:rPr>
                  <a:t>     Нека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/>
                      </a:rPr>
                      <m:t>𝒂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/>
                      </a:rPr>
                      <m:t>&gt;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1600" b="1" dirty="0">
                    <a:solidFill>
                      <a:schemeClr val="tx1"/>
                    </a:solidFill>
                    <a:latin typeface="Bookman Old Style" pitchFamily="18" charset="0"/>
                  </a:rPr>
                  <a:t> </a:t>
                </a:r>
                <a:r>
                  <a:rPr lang="bg-BG" sz="1600" dirty="0">
                    <a:solidFill>
                      <a:schemeClr val="tx1"/>
                    </a:solidFill>
                    <a:latin typeface="Bookman Old Style" pitchFamily="18" charset="0"/>
                  </a:rPr>
                  <a:t>и функцията</a:t>
                </a:r>
                <a:r>
                  <a:rPr lang="en-US" sz="1600" dirty="0">
                    <a:solidFill>
                      <a:schemeClr val="tx1"/>
                    </a:solidFill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33CC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</a:rPr>
                      <m:t>𝒙</m:t>
                    </m:r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∈(−</m:t>
                    </m:r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𝒂</m:t>
                    </m:r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;</m:t>
                    </m:r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𝒂</m:t>
                    </m:r>
                    <m:r>
                      <a:rPr lang="en-US" sz="1600" b="1" i="1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1600" b="1" dirty="0">
                    <a:solidFill>
                      <a:srgbClr val="0033CC"/>
                    </a:solidFill>
                    <a:latin typeface="Bookman Old Style" pitchFamily="18" charset="0"/>
                  </a:rPr>
                  <a:t> </a:t>
                </a:r>
                <a:r>
                  <a:rPr lang="bg-BG" sz="1600" dirty="0">
                    <a:solidFill>
                      <a:schemeClr val="tx1"/>
                    </a:solidFill>
                    <a:latin typeface="Bookman Old Style" pitchFamily="18" charset="0"/>
                  </a:rPr>
                  <a:t>е </a:t>
                </a:r>
                <a:r>
                  <a:rPr lang="bg-BG" sz="1600" b="1" dirty="0">
                    <a:solidFill>
                      <a:srgbClr val="0033CC"/>
                    </a:solidFill>
                    <a:latin typeface="Bookman Old Style" pitchFamily="18" charset="0"/>
                  </a:rPr>
                  <a:t>нечетна</a:t>
                </a:r>
                <a:r>
                  <a:rPr lang="bg-BG" sz="1600" dirty="0">
                    <a:solidFill>
                      <a:schemeClr val="tx1"/>
                    </a:solidFill>
                    <a:latin typeface="Bookman Old Style" pitchFamily="18" charset="0"/>
                  </a:rPr>
                  <a:t> и интегруема в интервала</a:t>
                </a:r>
                <a:r>
                  <a:rPr lang="bg-BG" sz="1600" b="1" dirty="0">
                    <a:solidFill>
                      <a:schemeClr val="tx1"/>
                    </a:solidFill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(−</m:t>
                    </m:r>
                    <m:r>
                      <a:rPr lang="en-US" sz="16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𝒂</m:t>
                    </m:r>
                    <m:r>
                      <a:rPr lang="en-US" sz="16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;</m:t>
                    </m:r>
                    <m:r>
                      <a:rPr lang="en-US" sz="16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𝒂</m:t>
                    </m:r>
                    <m:r>
                      <a:rPr lang="en-US" sz="16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bg-BG" sz="1600" dirty="0">
                    <a:solidFill>
                      <a:schemeClr val="tx1"/>
                    </a:solidFill>
                    <a:latin typeface="Bookman Old Style" pitchFamily="18" charset="0"/>
                  </a:rPr>
                  <a:t>. Тогава</a:t>
                </a:r>
              </a:p>
              <a:p>
                <a:pPr>
                  <a:lnSpc>
                    <a:spcPct val="200000"/>
                  </a:lnSpc>
                </a:pPr>
                <a:endParaRPr lang="en-US" sz="1600" dirty="0">
                  <a:solidFill>
                    <a:schemeClr val="tx1"/>
                  </a:solidFill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971" y="835224"/>
                <a:ext cx="3732509" cy="1569660"/>
              </a:xfrm>
              <a:prstGeom prst="rect">
                <a:avLst/>
              </a:prstGeom>
              <a:blipFill rotWithShape="0">
                <a:blip r:embed="rId7"/>
                <a:stretch>
                  <a:fillRect l="-816" t="-1163" r="-81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534399"/>
              </p:ext>
            </p:extLst>
          </p:nvPr>
        </p:nvGraphicFramePr>
        <p:xfrm>
          <a:off x="6522637" y="1590983"/>
          <a:ext cx="13684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520" imgH="507960" progId="Equation.DSMT4">
                  <p:embed/>
                </p:oleObj>
              </mc:Choice>
              <mc:Fallback>
                <p:oleObj name="Equation" r:id="rId8" imgW="10285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2637" y="1590983"/>
                        <a:ext cx="136842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3057" y="2698972"/>
            <a:ext cx="3686336" cy="310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5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000" b="1" dirty="0">
                <a:solidFill>
                  <a:srgbClr val="0000CC"/>
                </a:solidFill>
                <a:latin typeface="Bookman Old Style" pitchFamily="18" charset="0"/>
              </a:rPr>
              <a:t>Формула на Нютон-Лайбниц</a:t>
            </a:r>
            <a:br>
              <a:rPr lang="bg-BG" sz="2000" b="1" dirty="0">
                <a:solidFill>
                  <a:srgbClr val="0000CC"/>
                </a:solidFill>
                <a:latin typeface="Bookman Old Style" pitchFamily="18" charset="0"/>
              </a:rPr>
            </a:br>
            <a:r>
              <a:rPr lang="bg-BG" sz="2000" b="1" dirty="0">
                <a:solidFill>
                  <a:srgbClr val="00B050"/>
                </a:solidFill>
                <a:latin typeface="Bookman Old Style" pitchFamily="18" charset="0"/>
              </a:rPr>
              <a:t>връзка между неопределен и определен интеграл</a:t>
            </a:r>
            <a:endParaRPr lang="en-US" sz="2000" b="1" dirty="0">
              <a:solidFill>
                <a:srgbClr val="0000CC"/>
              </a:solidFill>
              <a:latin typeface="Bookman Old Style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1559" y="1424113"/>
                <a:ext cx="7776865" cy="16135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bg-BG" sz="1600" b="1" dirty="0">
                    <a:solidFill>
                      <a:srgbClr val="0000CC"/>
                    </a:solidFill>
                    <a:latin typeface="Bookman Old Style" pitchFamily="18" charset="0"/>
                  </a:rPr>
                  <a:t>Основна теорема на интегралното смятане</a:t>
                </a:r>
                <a:r>
                  <a:rPr lang="bg-BG" sz="1600" b="1" dirty="0">
                    <a:solidFill>
                      <a:srgbClr val="0066CC"/>
                    </a:solidFill>
                    <a:latin typeface="Bookman Old Style" pitchFamily="18" charset="0"/>
                  </a:rPr>
                  <a:t> </a:t>
                </a:r>
              </a:p>
              <a:p>
                <a:r>
                  <a:rPr lang="bg-BG" sz="1600" dirty="0">
                    <a:latin typeface="Bookman Old Style" pitchFamily="18" charset="0"/>
                  </a:rPr>
                  <a:t>Ако функцията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33CC"/>
                        </a:solidFill>
                        <a:latin typeface="Cambria Math"/>
                      </a:rPr>
                      <m:t>𝒚</m:t>
                    </m:r>
                    <m:r>
                      <a:rPr lang="en-US" sz="1600" b="1" i="1" smtClean="0">
                        <a:solidFill>
                          <a:srgbClr val="0033CC"/>
                        </a:solidFill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solidFill>
                          <a:srgbClr val="0033CC"/>
                        </a:solidFill>
                        <a:latin typeface="Cambria Math"/>
                      </a:rPr>
                      <m:t>𝒇</m:t>
                    </m:r>
                    <m:r>
                      <a:rPr lang="en-US" sz="1600" b="1" i="1" smtClean="0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600" b="1" i="1" smtClean="0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600" b="1" i="1" smtClean="0">
                        <a:solidFill>
                          <a:srgbClr val="0033CC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1600" b="1" dirty="0">
                    <a:solidFill>
                      <a:srgbClr val="0033CC"/>
                    </a:solidFill>
                    <a:latin typeface="Bookman Old Style" pitchFamily="18" charset="0"/>
                  </a:rPr>
                  <a:t> </a:t>
                </a:r>
                <a:r>
                  <a:rPr lang="bg-BG" sz="1600" dirty="0">
                    <a:latin typeface="Bookman Old Style" pitchFamily="18" charset="0"/>
                  </a:rPr>
                  <a:t>е непрекъсната в интервала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[</m:t>
                    </m:r>
                    <m:r>
                      <a:rPr lang="en-US" sz="1600" b="0" i="1" smtClean="0">
                        <a:latin typeface="Cambria Math"/>
                      </a:rPr>
                      <m:t>𝑎</m:t>
                    </m:r>
                    <m:r>
                      <a:rPr lang="en-US" sz="1600" b="0" i="1" smtClean="0">
                        <a:latin typeface="Cambria Math"/>
                      </a:rPr>
                      <m:t>;</m:t>
                    </m:r>
                    <m:r>
                      <a:rPr lang="en-US" sz="1600" b="0" i="1" smtClean="0">
                        <a:latin typeface="Cambria Math"/>
                      </a:rPr>
                      <m:t>𝑏</m:t>
                    </m:r>
                    <m:r>
                      <a:rPr lang="en-US" sz="1600" b="0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bg-BG" sz="1600" dirty="0">
                    <a:latin typeface="Bookman Old Style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𝐹</m:t>
                    </m:r>
                    <m:r>
                      <a:rPr lang="en-US" sz="1600" b="0" i="1" smtClean="0">
                        <a:latin typeface="Cambria Math"/>
                      </a:rPr>
                      <m:t>(</m:t>
                    </m:r>
                    <m:r>
                      <a:rPr lang="en-US" sz="1600" b="0" i="1" smtClean="0">
                        <a:latin typeface="Cambria Math"/>
                      </a:rPr>
                      <m:t>𝑥</m:t>
                    </m:r>
                    <m:r>
                      <a:rPr lang="en-US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latin typeface="Bookman Old Style" pitchFamily="18" charset="0"/>
                  </a:rPr>
                  <a:t> e </a:t>
                </a:r>
                <a:r>
                  <a:rPr lang="bg-BG" sz="1600" dirty="0">
                    <a:latin typeface="Bookman Old Style" pitchFamily="18" charset="0"/>
                  </a:rPr>
                  <a:t>нейна примитивна в този интервал, то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𝒂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𝒃</m:t>
                          </m:r>
                        </m:sup>
                        <m:e>
                          <m: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𝒇</m:t>
                          </m:r>
                          <m:d>
                            <m:dPr>
                              <m:ctrlPr>
                                <a:rPr lang="en-US" sz="1600" b="1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  <m: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𝒅𝒙</m:t>
                          </m:r>
                          <m:r>
                            <a:rPr lang="bg-BG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𝑭</m:t>
                          </m:r>
                          <m: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nary>
                      <m:d>
                        <m:dPr>
                          <m:begChr m:val="|"/>
                          <m:endChr m:val=""/>
                          <m:ctrlP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1" i="1">
                                    <a:solidFill>
                                      <a:srgbClr val="0000CC"/>
                                    </a:solidFill>
                                    <a:latin typeface="Cambria Math"/>
                                  </a:rPr>
                                  <m:t>𝒃</m:t>
                                </m:r>
                              </m:e>
                            </m:mr>
                            <m:mr>
                              <m:e/>
                            </m:mr>
                            <m:mr>
                              <m:e>
                                <m:r>
                                  <a:rPr lang="en-US" sz="1600" b="1" i="1">
                                    <a:solidFill>
                                      <a:srgbClr val="0000CC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</m:mr>
                          </m:m>
                        </m:e>
                      </m:d>
                      <m:r>
                        <a:rPr lang="bg-BG" sz="1600" b="1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sz="1600" b="1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4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sz="1600" b="1" i="1" dirty="0">
                  <a:solidFill>
                    <a:srgbClr val="0000CC"/>
                  </a:solidFill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59" y="1424113"/>
                <a:ext cx="7776865" cy="1613583"/>
              </a:xfrm>
              <a:prstGeom prst="rect">
                <a:avLst/>
              </a:prstGeom>
              <a:blipFill rotWithShape="0">
                <a:blip r:embed="rId4"/>
                <a:stretch>
                  <a:fillRect l="-392" t="-113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720849" y="3878486"/>
            <a:ext cx="12715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 b="1"/>
              <a:t>Примери.</a:t>
            </a:r>
            <a:endParaRPr lang="bg-BG" altLang="bg-BG" sz="1800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252536" y="566124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bg-BG" altLang="bg-BG" sz="2000"/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365751"/>
              </p:ext>
            </p:extLst>
          </p:nvPr>
        </p:nvGraphicFramePr>
        <p:xfrm>
          <a:off x="1079624" y="4381723"/>
          <a:ext cx="609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600" imgH="800100" progId="Equation.DSMT4">
                  <p:embed/>
                </p:oleObj>
              </mc:Choice>
              <mc:Fallback>
                <p:oleObj name="Equation" r:id="rId5" imgW="6096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624" y="4381723"/>
                        <a:ext cx="609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503361" y="4597623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1)</a:t>
            </a:r>
          </a:p>
        </p:txBody>
      </p:sp>
      <p:graphicFrame>
        <p:nvGraphicFramePr>
          <p:cNvPr id="1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467835"/>
              </p:ext>
            </p:extLst>
          </p:nvPr>
        </p:nvGraphicFramePr>
        <p:xfrm>
          <a:off x="1728911" y="4381723"/>
          <a:ext cx="660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60113" imgH="710891" progId="Equation.DSMT4">
                  <p:embed/>
                </p:oleObj>
              </mc:Choice>
              <mc:Fallback>
                <p:oleObj name="Equation" r:id="rId7" imgW="660113" imgH="7108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911" y="4381723"/>
                        <a:ext cx="6604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540613"/>
              </p:ext>
            </p:extLst>
          </p:nvPr>
        </p:nvGraphicFramePr>
        <p:xfrm>
          <a:off x="2448049" y="4381723"/>
          <a:ext cx="1066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66800" imgH="698500" progId="Equation.DSMT4">
                  <p:embed/>
                </p:oleObj>
              </mc:Choice>
              <mc:Fallback>
                <p:oleObj name="Equation" r:id="rId9" imgW="1066800" imgH="698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049" y="4381723"/>
                        <a:ext cx="1066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322921"/>
              </p:ext>
            </p:extLst>
          </p:nvPr>
        </p:nvGraphicFramePr>
        <p:xfrm>
          <a:off x="3529136" y="4597623"/>
          <a:ext cx="393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93529" imgH="253890" progId="Equation.DSMT4">
                  <p:embed/>
                </p:oleObj>
              </mc:Choice>
              <mc:Fallback>
                <p:oleObj name="Equation" r:id="rId11" imgW="393529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136" y="4597623"/>
                        <a:ext cx="3937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989197784"/>
              </p:ext>
            </p:extLst>
          </p:nvPr>
        </p:nvGraphicFramePr>
        <p:xfrm>
          <a:off x="5040436" y="3876898"/>
          <a:ext cx="2447925" cy="163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 System" r:id="rId13" imgW="6096000" imgH="4067251" progId="GraphFile">
                  <p:embed/>
                </p:oleObj>
              </mc:Choice>
              <mc:Fallback>
                <p:oleObj name="Graph System" r:id="rId13" imgW="6096000" imgH="4067251" progId="GraphFil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436" y="3876898"/>
                        <a:ext cx="2447925" cy="163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835381"/>
              </p:ext>
            </p:extLst>
          </p:nvPr>
        </p:nvGraphicFramePr>
        <p:xfrm>
          <a:off x="5545261" y="4996086"/>
          <a:ext cx="127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6725" imgH="177415" progId="Equation.DSMT4">
                  <p:embed/>
                </p:oleObj>
              </mc:Choice>
              <mc:Fallback>
                <p:oleObj name="Equation" r:id="rId15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261" y="4996086"/>
                        <a:ext cx="1270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132785"/>
              </p:ext>
            </p:extLst>
          </p:nvPr>
        </p:nvGraphicFramePr>
        <p:xfrm>
          <a:off x="6858124" y="5008786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6780" imgH="164814" progId="Equation.DSMT4">
                  <p:embed/>
                </p:oleObj>
              </mc:Choice>
              <mc:Fallback>
                <p:oleObj name="Equation" r:id="rId17" imgW="126780" imgH="1648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124" y="5008786"/>
                        <a:ext cx="1270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48458"/>
              </p:ext>
            </p:extLst>
          </p:nvPr>
        </p:nvGraphicFramePr>
        <p:xfrm>
          <a:off x="5832599" y="4094386"/>
          <a:ext cx="571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71252" imgH="203112" progId="Equation.DSMT4">
                  <p:embed/>
                </p:oleObj>
              </mc:Choice>
              <mc:Fallback>
                <p:oleObj name="Equation" r:id="rId19" imgW="571252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599" y="4094386"/>
                        <a:ext cx="5715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178141"/>
              </p:ext>
            </p:extLst>
          </p:nvPr>
        </p:nvGraphicFramePr>
        <p:xfrm>
          <a:off x="7416924" y="4742086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6835" imgH="139518" progId="Equation.DSMT4">
                  <p:embed/>
                </p:oleObj>
              </mc:Choice>
              <mc:Fallback>
                <p:oleObj name="Equation" r:id="rId21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924" y="4742086"/>
                        <a:ext cx="1270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64640"/>
              </p:ext>
            </p:extLst>
          </p:nvPr>
        </p:nvGraphicFramePr>
        <p:xfrm>
          <a:off x="5472236" y="3878486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9579" imgH="164957" progId="Equation.DSMT4">
                  <p:embed/>
                </p:oleObj>
              </mc:Choice>
              <mc:Fallback>
                <p:oleObj name="Equation" r:id="rId23" imgW="139579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236" y="3878486"/>
                        <a:ext cx="1397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717532"/>
              </p:ext>
            </p:extLst>
          </p:nvPr>
        </p:nvGraphicFramePr>
        <p:xfrm>
          <a:off x="7145461" y="5219923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9579" imgH="164957" progId="Equation.DSMT4">
                  <p:embed/>
                </p:oleObj>
              </mc:Choice>
              <mc:Fallback>
                <p:oleObj name="Equation" r:id="rId25" imgW="139579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5461" y="5219923"/>
                        <a:ext cx="1397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39"/>
          <p:cNvSpPr>
            <a:spLocks noChangeArrowheads="1"/>
          </p:cNvSpPr>
          <p:nvPr/>
        </p:nvSpPr>
        <p:spPr bwMode="auto">
          <a:xfrm>
            <a:off x="252536" y="566124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bg-BG" altLang="bg-BG" sz="2000"/>
          </a:p>
        </p:txBody>
      </p:sp>
    </p:spTree>
    <p:extLst>
      <p:ext uri="{BB962C8B-B14F-4D97-AF65-F5344CB8AC3E}">
        <p14:creationId xmlns:p14="http://schemas.microsoft.com/office/powerpoint/2010/main" val="312395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979712" y="4437112"/>
            <a:ext cx="2232248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979712" y="5517232"/>
            <a:ext cx="2448272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  <p:sp>
        <p:nvSpPr>
          <p:cNvPr id="2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24" name="Rectangle 8"/>
          <p:cNvSpPr>
            <a:spLocks noChangeArrowheads="1"/>
          </p:cNvSpPr>
          <p:nvPr/>
        </p:nvSpPr>
        <p:spPr bwMode="auto">
          <a:xfrm>
            <a:off x="0" y="63777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bg-BG" altLang="bg-BG" sz="2000"/>
          </a:p>
        </p:txBody>
      </p:sp>
      <p:sp>
        <p:nvSpPr>
          <p:cNvPr id="28" name="Rectangle 20"/>
          <p:cNvSpPr>
            <a:spLocks noChangeArrowheads="1"/>
          </p:cNvSpPr>
          <p:nvPr/>
        </p:nvSpPr>
        <p:spPr bwMode="auto">
          <a:xfrm>
            <a:off x="250825" y="871141"/>
            <a:ext cx="38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2)</a:t>
            </a:r>
            <a:endParaRPr lang="en-US" altLang="bg-BG" sz="1800"/>
          </a:p>
        </p:txBody>
      </p:sp>
      <p:graphicFrame>
        <p:nvGraphicFramePr>
          <p:cNvPr id="29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623887"/>
              </p:ext>
            </p:extLst>
          </p:nvPr>
        </p:nvGraphicFramePr>
        <p:xfrm>
          <a:off x="736600" y="655241"/>
          <a:ext cx="749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300" imgH="800100" progId="Equation.DSMT4">
                  <p:embed/>
                </p:oleObj>
              </mc:Choice>
              <mc:Fallback>
                <p:oleObj name="Equation" r:id="rId2" imgW="7493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655241"/>
                        <a:ext cx="7493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923977"/>
              </p:ext>
            </p:extLst>
          </p:nvPr>
        </p:nvGraphicFramePr>
        <p:xfrm>
          <a:off x="1547813" y="663178"/>
          <a:ext cx="723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586" imgH="710891" progId="Equation.DSMT4">
                  <p:embed/>
                </p:oleObj>
              </mc:Choice>
              <mc:Fallback>
                <p:oleObj name="Equation" r:id="rId4" imgW="723586" imgH="7108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663178"/>
                        <a:ext cx="7239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649491"/>
              </p:ext>
            </p:extLst>
          </p:nvPr>
        </p:nvGraphicFramePr>
        <p:xfrm>
          <a:off x="2339975" y="655241"/>
          <a:ext cx="1371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711200" progId="Equation.DSMT4">
                  <p:embed/>
                </p:oleObj>
              </mc:Choice>
              <mc:Fallback>
                <p:oleObj name="Equation" r:id="rId6" imgW="13716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655241"/>
                        <a:ext cx="13716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80964"/>
              </p:ext>
            </p:extLst>
          </p:nvPr>
        </p:nvGraphicFramePr>
        <p:xfrm>
          <a:off x="3771900" y="701278"/>
          <a:ext cx="800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753" imgH="672808" progId="Equation.DSMT4">
                  <p:embed/>
                </p:oleObj>
              </mc:Choice>
              <mc:Fallback>
                <p:oleObj name="Equation" r:id="rId8" imgW="799753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701278"/>
                        <a:ext cx="8001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601713"/>
              </p:ext>
            </p:extLst>
          </p:nvPr>
        </p:nvGraphicFramePr>
        <p:xfrm>
          <a:off x="4643438" y="871141"/>
          <a:ext cx="3810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0835" imgH="266584" progId="Equation.DSMT4">
                  <p:embed/>
                </p:oleObj>
              </mc:Choice>
              <mc:Fallback>
                <p:oleObj name="Equation" r:id="rId10" imgW="380835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871141"/>
                        <a:ext cx="3810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23608"/>
              </p:ext>
            </p:extLst>
          </p:nvPr>
        </p:nvGraphicFramePr>
        <p:xfrm>
          <a:off x="5813425" y="269478"/>
          <a:ext cx="2520950" cy="168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 System" r:id="rId12" imgW="6096000" imgH="4067251" progId="GraphFile">
                  <p:embed/>
                </p:oleObj>
              </mc:Choice>
              <mc:Fallback>
                <p:oleObj name="Graph System" r:id="rId12" imgW="6096000" imgH="4067251" progId="GraphFil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3425" y="269478"/>
                        <a:ext cx="2520950" cy="168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947481"/>
              </p:ext>
            </p:extLst>
          </p:nvPr>
        </p:nvGraphicFramePr>
        <p:xfrm>
          <a:off x="6605588" y="1637903"/>
          <a:ext cx="1905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335" imgH="164957" progId="Equation.DSMT4">
                  <p:embed/>
                </p:oleObj>
              </mc:Choice>
              <mc:Fallback>
                <p:oleObj name="Equation" r:id="rId14" imgW="190335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5588" y="1637903"/>
                        <a:ext cx="1905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596437"/>
              </p:ext>
            </p:extLst>
          </p:nvPr>
        </p:nvGraphicFramePr>
        <p:xfrm>
          <a:off x="7685088" y="1637903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780" imgH="164814" progId="Equation.DSMT4">
                  <p:embed/>
                </p:oleObj>
              </mc:Choice>
              <mc:Fallback>
                <p:oleObj name="Equation" r:id="rId16" imgW="126780" imgH="1648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5088" y="1637903"/>
                        <a:ext cx="1270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122967"/>
              </p:ext>
            </p:extLst>
          </p:nvPr>
        </p:nvGraphicFramePr>
        <p:xfrm>
          <a:off x="8332788" y="1637903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835" imgH="139518" progId="Equation.DSMT4">
                  <p:embed/>
                </p:oleObj>
              </mc:Choice>
              <mc:Fallback>
                <p:oleObj name="Equation" r:id="rId18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2788" y="1637903"/>
                        <a:ext cx="1270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99855"/>
              </p:ext>
            </p:extLst>
          </p:nvPr>
        </p:nvGraphicFramePr>
        <p:xfrm>
          <a:off x="6892925" y="196453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9579" imgH="164957" progId="Equation.DSMT4">
                  <p:embed/>
                </p:oleObj>
              </mc:Choice>
              <mc:Fallback>
                <p:oleObj name="Equation" r:id="rId20" imgW="139579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2925" y="196453"/>
                        <a:ext cx="1397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525222"/>
              </p:ext>
            </p:extLst>
          </p:nvPr>
        </p:nvGraphicFramePr>
        <p:xfrm>
          <a:off x="5956300" y="772716"/>
          <a:ext cx="622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22030" imgH="228501" progId="Equation.DSMT4">
                  <p:embed/>
                </p:oleObj>
              </mc:Choice>
              <mc:Fallback>
                <p:oleObj name="Equation" r:id="rId22" imgW="622030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772716"/>
                        <a:ext cx="6223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228600" y="301909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bg-BG" altLang="bg-BG" sz="1800"/>
              <a:t>3)</a:t>
            </a:r>
            <a:endParaRPr lang="en-US" altLang="bg-BG" sz="1800"/>
          </a:p>
        </p:txBody>
      </p:sp>
      <p:sp>
        <p:nvSpPr>
          <p:cNvPr id="41" name="Rectangle 39"/>
          <p:cNvSpPr>
            <a:spLocks noChangeArrowheads="1"/>
          </p:cNvSpPr>
          <p:nvPr/>
        </p:nvSpPr>
        <p:spPr bwMode="auto">
          <a:xfrm>
            <a:off x="0" y="63777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bg-BG" altLang="bg-BG" sz="2000"/>
          </a:p>
        </p:txBody>
      </p:sp>
      <p:graphicFrame>
        <p:nvGraphicFramePr>
          <p:cNvPr id="4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974390"/>
              </p:ext>
            </p:extLst>
          </p:nvPr>
        </p:nvGraphicFramePr>
        <p:xfrm>
          <a:off x="792163" y="2780970"/>
          <a:ext cx="8048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99753" imgH="799753" progId="Equation.DSMT4">
                  <p:embed/>
                </p:oleObj>
              </mc:Choice>
              <mc:Fallback>
                <p:oleObj name="Equation" r:id="rId24" imgW="799753" imgH="79975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2780970"/>
                        <a:ext cx="80486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47593"/>
              </p:ext>
            </p:extLst>
          </p:nvPr>
        </p:nvGraphicFramePr>
        <p:xfrm>
          <a:off x="1670050" y="2795258"/>
          <a:ext cx="939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39392" imgH="799753" progId="Equation.DSMT4">
                  <p:embed/>
                </p:oleObj>
              </mc:Choice>
              <mc:Fallback>
                <p:oleObj name="Equation" r:id="rId26" imgW="939392" imgH="79975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2795258"/>
                        <a:ext cx="939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133644"/>
              </p:ext>
            </p:extLst>
          </p:nvPr>
        </p:nvGraphicFramePr>
        <p:xfrm>
          <a:off x="2652713" y="2592058"/>
          <a:ext cx="6731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72808" imgH="1218671" progId="Equation.DSMT4">
                  <p:embed/>
                </p:oleObj>
              </mc:Choice>
              <mc:Fallback>
                <p:oleObj name="Equation" r:id="rId28" imgW="672808" imgH="121867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2713" y="2592058"/>
                        <a:ext cx="6731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521112"/>
              </p:ext>
            </p:extLst>
          </p:nvPr>
        </p:nvGraphicFramePr>
        <p:xfrm>
          <a:off x="3289300" y="2803195"/>
          <a:ext cx="1231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231366" imgH="672808" progId="Equation.DSMT4">
                  <p:embed/>
                </p:oleObj>
              </mc:Choice>
              <mc:Fallback>
                <p:oleObj name="Equation" r:id="rId30" imgW="1231366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2803195"/>
                        <a:ext cx="12319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657912"/>
              </p:ext>
            </p:extLst>
          </p:nvPr>
        </p:nvGraphicFramePr>
        <p:xfrm>
          <a:off x="1712913" y="3858883"/>
          <a:ext cx="1739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739900" imgH="673100" progId="Equation.DSMT4">
                  <p:embed/>
                </p:oleObj>
              </mc:Choice>
              <mc:Fallback>
                <p:oleObj name="Equation" r:id="rId32" imgW="17399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913" y="3858883"/>
                        <a:ext cx="17399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857668"/>
              </p:ext>
            </p:extLst>
          </p:nvPr>
        </p:nvGraphicFramePr>
        <p:xfrm>
          <a:off x="3487738" y="3835070"/>
          <a:ext cx="1104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104900" imgH="673100" progId="Equation.DSMT4">
                  <p:embed/>
                </p:oleObj>
              </mc:Choice>
              <mc:Fallback>
                <p:oleObj name="Equation" r:id="rId34" imgW="11049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7738" y="3835070"/>
                        <a:ext cx="11049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964229"/>
              </p:ext>
            </p:extLst>
          </p:nvPr>
        </p:nvGraphicFramePr>
        <p:xfrm>
          <a:off x="4592638" y="3858883"/>
          <a:ext cx="533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533169" imgH="672808" progId="Equation.DSMT4">
                  <p:embed/>
                </p:oleObj>
              </mc:Choice>
              <mc:Fallback>
                <p:oleObj name="Equation" r:id="rId36" imgW="533169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638" y="3858883"/>
                        <a:ext cx="533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008437"/>
              </p:ext>
            </p:extLst>
          </p:nvPr>
        </p:nvGraphicFramePr>
        <p:xfrm>
          <a:off x="5813425" y="2637268"/>
          <a:ext cx="2736850" cy="182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 System" r:id="rId38" imgW="6096000" imgH="4067251" progId="GraphFile">
                  <p:embed/>
                </p:oleObj>
              </mc:Choice>
              <mc:Fallback>
                <p:oleObj name="Graph System" r:id="rId38" imgW="6096000" imgH="4067251" progId="GraphFil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3425" y="2637268"/>
                        <a:ext cx="2736850" cy="182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550048"/>
              </p:ext>
            </p:extLst>
          </p:nvPr>
        </p:nvGraphicFramePr>
        <p:xfrm>
          <a:off x="6678613" y="4077130"/>
          <a:ext cx="889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88707" imgH="164742" progId="Equation.DSMT4">
                  <p:embed/>
                </p:oleObj>
              </mc:Choice>
              <mc:Fallback>
                <p:oleObj name="Equation" r:id="rId40" imgW="88707" imgH="1647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8613" y="4077130"/>
                        <a:ext cx="889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547833"/>
              </p:ext>
            </p:extLst>
          </p:nvPr>
        </p:nvGraphicFramePr>
        <p:xfrm>
          <a:off x="6948488" y="1663303"/>
          <a:ext cx="127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26725" imgH="177415" progId="Equation.DSMT4">
                  <p:embed/>
                </p:oleObj>
              </mc:Choice>
              <mc:Fallback>
                <p:oleObj name="Equation" r:id="rId42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663303"/>
                        <a:ext cx="1270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927864"/>
              </p:ext>
            </p:extLst>
          </p:nvPr>
        </p:nvGraphicFramePr>
        <p:xfrm>
          <a:off x="6173788" y="4005693"/>
          <a:ext cx="127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26725" imgH="177415" progId="Equation.DSMT4">
                  <p:embed/>
                </p:oleObj>
              </mc:Choice>
              <mc:Fallback>
                <p:oleObj name="Equation" r:id="rId44" imgW="126725" imgH="177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788" y="4005693"/>
                        <a:ext cx="1270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373061"/>
              </p:ext>
            </p:extLst>
          </p:nvPr>
        </p:nvGraphicFramePr>
        <p:xfrm>
          <a:off x="8047038" y="4077130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26780" imgH="164814" progId="Equation.DSMT4">
                  <p:embed/>
                </p:oleObj>
              </mc:Choice>
              <mc:Fallback>
                <p:oleObj name="Equation" r:id="rId46" imgW="126780" imgH="1648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7038" y="4077130"/>
                        <a:ext cx="1270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282679"/>
              </p:ext>
            </p:extLst>
          </p:nvPr>
        </p:nvGraphicFramePr>
        <p:xfrm>
          <a:off x="8478838" y="4077130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126835" imgH="139518" progId="Equation.DSMT4">
                  <p:embed/>
                </p:oleObj>
              </mc:Choice>
              <mc:Fallback>
                <p:oleObj name="Equation" r:id="rId48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8838" y="4077130"/>
                        <a:ext cx="1270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350467"/>
              </p:ext>
            </p:extLst>
          </p:nvPr>
        </p:nvGraphicFramePr>
        <p:xfrm>
          <a:off x="6102350" y="2708705"/>
          <a:ext cx="139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139579" imgH="164957" progId="Equation.DSMT4">
                  <p:embed/>
                </p:oleObj>
              </mc:Choice>
              <mc:Fallback>
                <p:oleObj name="Equation" r:id="rId50" imgW="139579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0" y="2708705"/>
                        <a:ext cx="1397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414571"/>
              </p:ext>
            </p:extLst>
          </p:nvPr>
        </p:nvGraphicFramePr>
        <p:xfrm>
          <a:off x="8262938" y="3069068"/>
          <a:ext cx="685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685800" imgH="241300" progId="Equation.DSMT4">
                  <p:embed/>
                </p:oleObj>
              </mc:Choice>
              <mc:Fallback>
                <p:oleObj name="Equation" r:id="rId52" imgW="6858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2938" y="3069068"/>
                        <a:ext cx="6858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25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8" grpId="0"/>
      <p:bldP spid="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/>
          </a:bodyPr>
          <a:lstStyle/>
          <a:p>
            <a:r>
              <a:rPr lang="bg-BG" sz="2000" b="1" dirty="0">
                <a:solidFill>
                  <a:srgbClr val="0000CC"/>
                </a:solidFill>
                <a:latin typeface="Bookman Old Style" pitchFamily="18" charset="0"/>
              </a:rPr>
              <a:t>Интегриране по части при определен интеграл </a:t>
            </a:r>
            <a:endParaRPr lang="en-US" sz="2000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022964"/>
              </p:ext>
            </p:extLst>
          </p:nvPr>
        </p:nvGraphicFramePr>
        <p:xfrm>
          <a:off x="1979712" y="1052736"/>
          <a:ext cx="4377044" cy="818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507960" progId="Equation.DSMT4">
                  <p:embed/>
                </p:oleObj>
              </mc:Choice>
              <mc:Fallback>
                <p:oleObj name="Equation" r:id="rId2" imgW="27176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79712" y="1052736"/>
                        <a:ext cx="4377044" cy="818139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2195736" y="2492896"/>
            <a:ext cx="2376264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572000" y="2492896"/>
            <a:ext cx="1728192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300192" y="2492896"/>
            <a:ext cx="2232248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979712" y="3356992"/>
            <a:ext cx="2952328" cy="936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932040" y="3356992"/>
            <a:ext cx="3600400" cy="936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979712" y="4293096"/>
            <a:ext cx="2088232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067944" y="4293096"/>
            <a:ext cx="2232248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300192" y="4293096"/>
            <a:ext cx="1296144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309278" y="2332102"/>
            <a:ext cx="4897438" cy="360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80000"/>
              </a:lnSpc>
              <a:spcAft>
                <a:spcPts val="0"/>
              </a:spcAft>
              <a:buFontTx/>
              <a:buNone/>
            </a:pPr>
            <a:r>
              <a:rPr lang="bg-BG" altLang="bg-BG" sz="2000" b="1" dirty="0">
                <a:solidFill>
                  <a:srgbClr val="0000CC"/>
                </a:solidFill>
                <a:latin typeface="Bookman Old Style" panose="02050604050505020204" pitchFamily="18" charset="0"/>
              </a:rPr>
              <a:t>Пример. </a:t>
            </a:r>
            <a:r>
              <a:rPr lang="en-US" altLang="bg-BG" sz="2000" b="1" dirty="0">
                <a:solidFill>
                  <a:srgbClr val="0000CC"/>
                </a:solidFill>
                <a:latin typeface="Bookman Old Style" panose="02050604050505020204" pitchFamily="18" charset="0"/>
              </a:rPr>
              <a:t> </a:t>
            </a:r>
            <a:r>
              <a:rPr lang="bg-BG" altLang="bg-BG" sz="1800" dirty="0"/>
              <a:t>Пресметнете</a:t>
            </a:r>
            <a:endParaRPr lang="en-US" altLang="bg-BG" sz="1800" dirty="0"/>
          </a:p>
        </p:txBody>
      </p:sp>
      <p:graphicFrame>
        <p:nvGraphicFramePr>
          <p:cNvPr id="2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569445"/>
              </p:ext>
            </p:extLst>
          </p:nvPr>
        </p:nvGraphicFramePr>
        <p:xfrm>
          <a:off x="3046128" y="1827277"/>
          <a:ext cx="1360488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309" imgH="748975" progId="Equation.DSMT4">
                  <p:embed/>
                </p:oleObj>
              </mc:Choice>
              <mc:Fallback>
                <p:oleObj name="Equation" r:id="rId4" imgW="901309" imgH="74897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128" y="1827277"/>
                        <a:ext cx="1360488" cy="113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164816" y="3195702"/>
            <a:ext cx="8353425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bg-BG" altLang="bg-BG" sz="1800" dirty="0"/>
              <a:t> </a:t>
            </a:r>
            <a:r>
              <a:rPr lang="bg-BG" altLang="bg-BG" sz="2000" b="1" i="1" dirty="0">
                <a:solidFill>
                  <a:srgbClr val="0000CC"/>
                </a:solidFill>
                <a:latin typeface="Bookman Old Style" panose="02050604050505020204" pitchFamily="18" charset="0"/>
              </a:rPr>
              <a:t>Решение. </a:t>
            </a:r>
            <a:r>
              <a:rPr lang="bg-BG" altLang="bg-BG" sz="1800" dirty="0"/>
              <a:t>Внасяме</a:t>
            </a:r>
            <a:r>
              <a:rPr lang="en-US" altLang="bg-BG" sz="1800" dirty="0"/>
              <a:t>  </a:t>
            </a:r>
            <a:r>
              <a:rPr lang="bg-BG" altLang="bg-BG" sz="1800" dirty="0"/>
              <a:t>            под знака на  диференциала и прилагаме формулата</a:t>
            </a:r>
            <a:endParaRPr lang="en-US" altLang="bg-BG" sz="1800" dirty="0"/>
          </a:p>
        </p:txBody>
      </p:sp>
      <p:graphicFrame>
        <p:nvGraphicFramePr>
          <p:cNvPr id="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245456"/>
              </p:ext>
            </p:extLst>
          </p:nvPr>
        </p:nvGraphicFramePr>
        <p:xfrm>
          <a:off x="2752143" y="3306370"/>
          <a:ext cx="687387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114" imgH="164957" progId="Equation.DSMT4">
                  <p:embed/>
                </p:oleObj>
              </mc:Choice>
              <mc:Fallback>
                <p:oleObj name="Equation" r:id="rId6" imgW="444114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143" y="3306370"/>
                        <a:ext cx="687387" cy="24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210254"/>
              </p:ext>
            </p:extLst>
          </p:nvPr>
        </p:nvGraphicFramePr>
        <p:xfrm>
          <a:off x="445803" y="4019614"/>
          <a:ext cx="274320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28800" imgH="749300" progId="Equation.DSMT4">
                  <p:embed/>
                </p:oleObj>
              </mc:Choice>
              <mc:Fallback>
                <p:oleObj name="Equation" r:id="rId8" imgW="1828800" imgH="749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03" y="4019614"/>
                        <a:ext cx="2743200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649431"/>
              </p:ext>
            </p:extLst>
          </p:nvPr>
        </p:nvGraphicFramePr>
        <p:xfrm>
          <a:off x="3189003" y="4060889"/>
          <a:ext cx="12573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7836" imgH="634725" progId="Equation.DSMT4">
                  <p:embed/>
                </p:oleObj>
              </mc:Choice>
              <mc:Fallback>
                <p:oleObj name="Equation" r:id="rId10" imgW="837836" imgH="6347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003" y="4060889"/>
                        <a:ext cx="12573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070765"/>
              </p:ext>
            </p:extLst>
          </p:nvPr>
        </p:nvGraphicFramePr>
        <p:xfrm>
          <a:off x="4438366" y="3987864"/>
          <a:ext cx="1487487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170" imgH="748975" progId="Equation.DSMT4">
                  <p:embed/>
                </p:oleObj>
              </mc:Choice>
              <mc:Fallback>
                <p:oleObj name="Equation" r:id="rId12" imgW="990170" imgH="74897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366" y="3987864"/>
                        <a:ext cx="1487487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272363"/>
              </p:ext>
            </p:extLst>
          </p:nvPr>
        </p:nvGraphicFramePr>
        <p:xfrm>
          <a:off x="5695666" y="4249802"/>
          <a:ext cx="162242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79500" imgH="508000" progId="Equation.DSMT4">
                  <p:embed/>
                </p:oleObj>
              </mc:Choice>
              <mc:Fallback>
                <p:oleObj name="Equation" r:id="rId14" imgW="10795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666" y="4249802"/>
                        <a:ext cx="1622425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923567"/>
              </p:ext>
            </p:extLst>
          </p:nvPr>
        </p:nvGraphicFramePr>
        <p:xfrm>
          <a:off x="7318091" y="4033902"/>
          <a:ext cx="1277938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50531" imgH="634725" progId="Equation.DSMT4">
                  <p:embed/>
                </p:oleObj>
              </mc:Choice>
              <mc:Fallback>
                <p:oleObj name="Equation" r:id="rId16" imgW="850531" imgH="6347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091" y="4033902"/>
                        <a:ext cx="1277938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349765"/>
              </p:ext>
            </p:extLst>
          </p:nvPr>
        </p:nvGraphicFramePr>
        <p:xfrm>
          <a:off x="5770190" y="5313198"/>
          <a:ext cx="5334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5446" imgH="507780" progId="Equation.DSMT4">
                  <p:embed/>
                </p:oleObj>
              </mc:Choice>
              <mc:Fallback>
                <p:oleObj name="Equation" r:id="rId18" imgW="355446" imgH="507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0190" y="5313198"/>
                        <a:ext cx="5334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041303"/>
              </p:ext>
            </p:extLst>
          </p:nvPr>
        </p:nvGraphicFramePr>
        <p:xfrm>
          <a:off x="6275015" y="5240173"/>
          <a:ext cx="9350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22030" imgH="507780" progId="Equation.DSMT4">
                  <p:embed/>
                </p:oleObj>
              </mc:Choice>
              <mc:Fallback>
                <p:oleObj name="Equation" r:id="rId20" imgW="622030" imgH="507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5015" y="5240173"/>
                        <a:ext cx="93503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493757"/>
              </p:ext>
            </p:extLst>
          </p:nvPr>
        </p:nvGraphicFramePr>
        <p:xfrm>
          <a:off x="7210053" y="5456073"/>
          <a:ext cx="86042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71252" imgH="203112" progId="Equation.DSMT4">
                  <p:embed/>
                </p:oleObj>
              </mc:Choice>
              <mc:Fallback>
                <p:oleObj name="Equation" r:id="rId22" imgW="571252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0053" y="5456073"/>
                        <a:ext cx="860425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614244"/>
              </p:ext>
            </p:extLst>
          </p:nvPr>
        </p:nvGraphicFramePr>
        <p:xfrm>
          <a:off x="8075240" y="5200486"/>
          <a:ext cx="9144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09600" imgH="508000" progId="Equation.DSMT4">
                  <p:embed/>
                </p:oleObj>
              </mc:Choice>
              <mc:Fallback>
                <p:oleObj name="Equation" r:id="rId24" imgW="6096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5240" y="5200486"/>
                        <a:ext cx="914400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Определен интеграл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25848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00"/>
                            </p:stCondLst>
                            <p:childTnLst>
                              <p:par>
                                <p:cTn id="5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build="p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61844" y="764704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b="1" dirty="0">
                <a:solidFill>
                  <a:srgbClr val="0000CC"/>
                </a:solidFill>
                <a:latin typeface="Bookman Old Style" pitchFamily="18" charset="0"/>
              </a:rPr>
              <a:t>Пример 6</a:t>
            </a:r>
            <a:endParaRPr lang="en-US" sz="1600" b="1" dirty="0">
              <a:solidFill>
                <a:srgbClr val="0000CC"/>
              </a:solidFill>
              <a:latin typeface="Bookman Old Style" pitchFamily="18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020337"/>
              </p:ext>
            </p:extLst>
          </p:nvPr>
        </p:nvGraphicFramePr>
        <p:xfrm>
          <a:off x="971600" y="1165290"/>
          <a:ext cx="7403821" cy="3634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62360" imgH="2730240" progId="Equation.DSMT4">
                  <p:embed/>
                </p:oleObj>
              </mc:Choice>
              <mc:Fallback>
                <p:oleObj name="Equation" r:id="rId2" imgW="5562360" imgH="273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1600" y="1165290"/>
                        <a:ext cx="7403821" cy="36342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2528994" y="1052736"/>
            <a:ext cx="1800200" cy="792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329194" y="1052736"/>
            <a:ext cx="3816424" cy="792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763688" y="1844824"/>
            <a:ext cx="4473718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763688" y="2564904"/>
            <a:ext cx="2421491" cy="792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185178" y="2564904"/>
            <a:ext cx="2376264" cy="7920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763688" y="3356992"/>
            <a:ext cx="2781530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45218" y="3356992"/>
            <a:ext cx="3888432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763688" y="4221088"/>
            <a:ext cx="1390765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084530" y="4221088"/>
            <a:ext cx="886709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86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bg-BG" sz="2000" b="1" dirty="0">
                <a:solidFill>
                  <a:srgbClr val="0000CC"/>
                </a:solidFill>
                <a:latin typeface="Bookman Old Style" pitchFamily="18" charset="0"/>
              </a:rPr>
              <a:t>Интегриране чрез полагане при определен интеграл</a:t>
            </a:r>
            <a:endParaRPr lang="en-US" sz="2000" b="1" dirty="0">
              <a:solidFill>
                <a:srgbClr val="0000CC"/>
              </a:solidFill>
              <a:latin typeface="Bookman Old Style" pitchFamily="18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760431"/>
              </p:ext>
            </p:extLst>
          </p:nvPr>
        </p:nvGraphicFramePr>
        <p:xfrm>
          <a:off x="1259632" y="1340768"/>
          <a:ext cx="6524659" cy="96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2800" imgH="545760" progId="Equation.DSMT4">
                  <p:embed/>
                </p:oleObj>
              </mc:Choice>
              <mc:Fallback>
                <p:oleObj name="Equation" r:id="rId2" imgW="368280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59632" y="1340768"/>
                        <a:ext cx="6524659" cy="9674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8794" y="2555612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b="1" dirty="0">
                <a:solidFill>
                  <a:srgbClr val="0000CC"/>
                </a:solidFill>
                <a:latin typeface="Bookman Old Style" pitchFamily="18" charset="0"/>
              </a:rPr>
              <a:t>Пример 7</a:t>
            </a:r>
            <a:endParaRPr lang="en-US" sz="1600" b="1" dirty="0">
              <a:solidFill>
                <a:srgbClr val="0000CC"/>
              </a:solidFill>
              <a:latin typeface="Bookman Old Style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819625" y="2499499"/>
                <a:ext cx="4104456" cy="904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bg-BG" sz="1600" dirty="0">
                    <a:latin typeface="Bookman Old Style" pitchFamily="18" charset="0"/>
                  </a:rPr>
                  <a:t>Полагаме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00CC"/>
                        </a:solidFill>
                        <a:latin typeface="Cambria Math"/>
                      </a:rPr>
                      <m:t>𝒙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𝒕</m:t>
                        </m:r>
                      </m:e>
                      <m:sup>
                        <m: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bg-BG" sz="1600" dirty="0">
                    <a:latin typeface="Bookman Old Style" pitchFamily="18" charset="0"/>
                  </a:rPr>
                  <a:t>;</a:t>
                </a:r>
              </a:p>
              <a:p>
                <a:pPr marL="342900" indent="-342900">
                  <a:buAutoNum type="arabicParenR"/>
                </a:pPr>
                <a:r>
                  <a:rPr lang="bg-BG" sz="1600" dirty="0">
                    <a:latin typeface="Bookman Old Style" pitchFamily="18" charset="0"/>
                  </a:rPr>
                  <a:t>Подготовка:</a:t>
                </a:r>
                <a:r>
                  <a:rPr lang="en-US" sz="1600" dirty="0">
                    <a:latin typeface="Bookman Old Style" pitchFamily="18" charset="0"/>
                  </a:rPr>
                  <a:t>   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bg-BG" sz="1600" b="1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</m:rad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1600" b="1" dirty="0">
                    <a:solidFill>
                      <a:srgbClr val="0000CC"/>
                    </a:solidFill>
                    <a:latin typeface="Bookman Old Style" pitchFamily="18" charset="0"/>
                  </a:rPr>
                  <a:t>; </a:t>
                </a:r>
                <a:endParaRPr lang="en-US" sz="1600" b="1" dirty="0">
                  <a:latin typeface="Bookman Old Style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𝒅𝒙</m:t>
                      </m:r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b="1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solidFill>
                                        <a:srgbClr val="0000CC"/>
                                      </a:solidFill>
                                      <a:latin typeface="Cambria Math"/>
                                    </a:rPr>
                                    <m:t>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solidFill>
                                        <a:srgbClr val="0000CC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𝒅𝒕</m:t>
                      </m:r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𝒕𝒅𝒕</m:t>
                      </m:r>
                    </m:oMath>
                  </m:oMathPara>
                </a14:m>
                <a:endParaRPr lang="en-US" sz="1600" b="1" dirty="0">
                  <a:solidFill>
                    <a:srgbClr val="0000CC"/>
                  </a:solidFill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625" y="2499499"/>
                <a:ext cx="4104456" cy="904287"/>
              </a:xfrm>
              <a:prstGeom prst="rect">
                <a:avLst/>
              </a:prstGeom>
              <a:blipFill rotWithShape="1">
                <a:blip r:embed="rId7"/>
                <a:stretch>
                  <a:fillRect l="-743"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8638309"/>
                  </p:ext>
                </p:extLst>
              </p:nvPr>
            </p:nvGraphicFramePr>
            <p:xfrm>
              <a:off x="4788024" y="3848134"/>
              <a:ext cx="3791744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9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79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793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4793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bg-BG" i="1" dirty="0">
                              <a:solidFill>
                                <a:schemeClr val="bg1"/>
                              </a:solidFill>
                            </a:rPr>
                            <a:t>старо</a:t>
                          </a:r>
                          <a:endParaRPr lang="en-US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dirty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dirty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bg-BG" dirty="0"/>
                            <a:t>ново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bg-BG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1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</m:rad>
                                <m:r>
                                  <a:rPr lang="en-US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dirty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8638309"/>
                  </p:ext>
                </p:extLst>
              </p:nvPr>
            </p:nvGraphicFramePr>
            <p:xfrm>
              <a:off x="4788024" y="3848134"/>
              <a:ext cx="3791744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93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94793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94793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94793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bg-BG" i="1" dirty="0" smtClean="0">
                              <a:solidFill>
                                <a:schemeClr val="bg1"/>
                              </a:solidFill>
                            </a:rPr>
                            <a:t>старо</a:t>
                          </a:r>
                          <a:endParaRPr lang="en-US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bg-BG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0641" t="-8197" r="-20192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bg-BG" dirty="0" smtClean="0"/>
                            <a:t>ново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bg-BG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0641" t="-108197" r="-20192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dirty="0" smtClean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bg-BG" dirty="0" smtClean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ctangle 10"/>
          <p:cNvSpPr/>
          <p:nvPr/>
        </p:nvSpPr>
        <p:spPr>
          <a:xfrm>
            <a:off x="4788024" y="3478802"/>
            <a:ext cx="32287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Bookman Old Style" pitchFamily="18" charset="0"/>
              </a:rPr>
              <a:t>O</a:t>
            </a:r>
            <a:r>
              <a:rPr lang="bg-BG" sz="1600" dirty="0">
                <a:latin typeface="Bookman Old Style" pitchFamily="18" charset="0"/>
              </a:rPr>
              <a:t>пределяме новите граници: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4499992" y="2492896"/>
            <a:ext cx="0" cy="2160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1560" y="3248025"/>
            <a:ext cx="36724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1600" dirty="0">
                <a:latin typeface="Bookman Old Style" pitchFamily="18" charset="0"/>
              </a:rPr>
              <a:t>3) Заместваме в интеграла и интегрираме: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970954"/>
              </p:ext>
            </p:extLst>
          </p:nvPr>
        </p:nvGraphicFramePr>
        <p:xfrm>
          <a:off x="2216635" y="2320921"/>
          <a:ext cx="1028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85800" imgH="609600" progId="Equation.DSMT4">
                  <p:embed/>
                </p:oleObj>
              </mc:Choice>
              <mc:Fallback>
                <p:oleObj name="Equation" r:id="rId9" imgW="685800" imgH="60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635" y="2320921"/>
                        <a:ext cx="1028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680983"/>
              </p:ext>
            </p:extLst>
          </p:nvPr>
        </p:nvGraphicFramePr>
        <p:xfrm>
          <a:off x="283702" y="3926963"/>
          <a:ext cx="203676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58900" imgH="609600" progId="Equation.DSMT4">
                  <p:embed/>
                </p:oleObj>
              </mc:Choice>
              <mc:Fallback>
                <p:oleObj name="Equation" r:id="rId11" imgW="1358900" imgH="60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702" y="3926963"/>
                        <a:ext cx="203676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407691"/>
              </p:ext>
            </p:extLst>
          </p:nvPr>
        </p:nvGraphicFramePr>
        <p:xfrm>
          <a:off x="2439527" y="3973001"/>
          <a:ext cx="17541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68400" imgH="609600" progId="Equation.DSMT4">
                  <p:embed/>
                </p:oleObj>
              </mc:Choice>
              <mc:Fallback>
                <p:oleObj name="Equation" r:id="rId13" imgW="1168400" imgH="60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527" y="3973001"/>
                        <a:ext cx="175418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272822"/>
              </p:ext>
            </p:extLst>
          </p:nvPr>
        </p:nvGraphicFramePr>
        <p:xfrm>
          <a:off x="1394566" y="5010341"/>
          <a:ext cx="22479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98600" imgH="609600" progId="Equation.DSMT4">
                  <p:embed/>
                </p:oleObj>
              </mc:Choice>
              <mc:Fallback>
                <p:oleObj name="Equation" r:id="rId15" imgW="1498600" imgH="60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4566" y="5010341"/>
                        <a:ext cx="22479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156346"/>
              </p:ext>
            </p:extLst>
          </p:nvPr>
        </p:nvGraphicFramePr>
        <p:xfrm>
          <a:off x="3409028" y="5082357"/>
          <a:ext cx="2079625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84300" imgH="495300" progId="Equation.DSMT4">
                  <p:embed/>
                </p:oleObj>
              </mc:Choice>
              <mc:Fallback>
                <p:oleObj name="Equation" r:id="rId17" imgW="13843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028" y="5082357"/>
                        <a:ext cx="2079625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814682"/>
              </p:ext>
            </p:extLst>
          </p:nvPr>
        </p:nvGraphicFramePr>
        <p:xfrm>
          <a:off x="5488653" y="5289480"/>
          <a:ext cx="28432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892300" imgH="254000" progId="Equation.DSMT4">
                  <p:embed/>
                </p:oleObj>
              </mc:Choice>
              <mc:Fallback>
                <p:oleObj name="Equation" r:id="rId19" imgW="18923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8653" y="5289480"/>
                        <a:ext cx="28432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497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2289" y="764704"/>
            <a:ext cx="82089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5400" b="1" dirty="0">
                <a:solidFill>
                  <a:srgbClr val="0000CC"/>
                </a:solidFill>
                <a:latin typeface="Monotype Corsiva" pitchFamily="66" charset="0"/>
              </a:rPr>
              <a:t>Приложение на </a:t>
            </a:r>
          </a:p>
          <a:p>
            <a:pPr algn="ctr"/>
            <a:r>
              <a:rPr lang="bg-BG" sz="5400" b="1" dirty="0">
                <a:solidFill>
                  <a:srgbClr val="0000CC"/>
                </a:solidFill>
                <a:latin typeface="Monotype Corsiva" pitchFamily="66" charset="0"/>
              </a:rPr>
              <a:t>определен  интеграл</a:t>
            </a:r>
          </a:p>
          <a:p>
            <a:pPr algn="ctr"/>
            <a:r>
              <a:rPr lang="bg-BG" sz="5400" b="1" dirty="0">
                <a:solidFill>
                  <a:srgbClr val="0000CC"/>
                </a:solidFill>
                <a:latin typeface="Monotype Corsiva" pitchFamily="66" charset="0"/>
              </a:rPr>
              <a:t>за пресмятане на лице на равнинна фигура </a:t>
            </a:r>
            <a:endParaRPr lang="en-US" sz="5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12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453" y="702888"/>
            <a:ext cx="4328866" cy="27261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bg-BG" sz="2000" b="1" dirty="0">
                <a:solidFill>
                  <a:srgbClr val="0000CC"/>
                </a:solidFill>
                <a:latin typeface="Bookman Old Style" pitchFamily="18" charset="0"/>
              </a:rPr>
              <a:t>Геометричен смисъл на определения интеграл</a:t>
            </a:r>
            <a:endParaRPr lang="en-US" sz="2000" b="1" dirty="0">
              <a:solidFill>
                <a:srgbClr val="0000CC"/>
              </a:solidFill>
              <a:latin typeface="Bookman Old Style" pitchFamily="18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05493" y="3539282"/>
                <a:ext cx="7770379" cy="59035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bg-BG" sz="1600" b="1" dirty="0">
                    <a:solidFill>
                      <a:srgbClr val="0000CC"/>
                    </a:solidFill>
                    <a:latin typeface="Bookman Old Style" pitchFamily="18" charset="0"/>
                  </a:rPr>
                  <a:t>Пример. </a:t>
                </a:r>
                <a:r>
                  <a:rPr lang="ru-RU" sz="1600" dirty="0">
                    <a:latin typeface="Bookman Old Style" pitchFamily="18" charset="0"/>
                  </a:rPr>
                  <a:t>Да се намери лицето </a:t>
                </a:r>
                <a:r>
                  <a:rPr lang="en-US" sz="1600" dirty="0">
                    <a:latin typeface="Bookman Old Style" pitchFamily="18" charset="0"/>
                  </a:rPr>
                  <a:t>S </a:t>
                </a:r>
                <a:r>
                  <a:rPr lang="ru-RU" sz="1600" dirty="0">
                    <a:latin typeface="Bookman Old Style" pitchFamily="18" charset="0"/>
                  </a:rPr>
                  <a:t>на фигурата, заключена между </a:t>
                </a:r>
                <a:r>
                  <a:rPr lang="bg-BG" sz="1600" dirty="0">
                    <a:latin typeface="Bookman Old Style" pitchFamily="18" charset="0"/>
                  </a:rPr>
                  <a:t>графиките на функциите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</a:rPr>
                      <m:t>𝒚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</m:rad>
                  </m:oMath>
                </a14:m>
                <a:r>
                  <a:rPr lang="bg-BG" sz="1600" b="1" dirty="0">
                    <a:solidFill>
                      <a:srgbClr val="0000CC"/>
                    </a:solidFill>
                    <a:latin typeface="Bookman Old Style" pitchFamily="18" charset="0"/>
                  </a:rPr>
                  <a:t> </a:t>
                </a:r>
                <a:r>
                  <a:rPr lang="bg-BG" sz="1600" dirty="0">
                    <a:latin typeface="Bookman Old Style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</a:rPr>
                      <m:t>𝒚</m:t>
                    </m:r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600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sz="1600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bg-BG" sz="1600" dirty="0">
                    <a:latin typeface="Bookman Old Style" pitchFamily="18" charset="0"/>
                  </a:rPr>
                  <a:t> .</a:t>
                </a:r>
                <a:endParaRPr lang="en-US" sz="1600" dirty="0"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93" y="3539282"/>
                <a:ext cx="7770379" cy="590354"/>
              </a:xfrm>
              <a:prstGeom prst="rect">
                <a:avLst/>
              </a:prstGeom>
              <a:blipFill rotWithShape="0">
                <a:blip r:embed="rId3"/>
                <a:stretch>
                  <a:fillRect l="-471" t="-3125" r="-471" b="-13542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5986" y="1156821"/>
                <a:ext cx="4968552" cy="133645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bg-BG" sz="1600" b="1" dirty="0">
                    <a:latin typeface="Bookman Old Style" pitchFamily="18" charset="0"/>
                  </a:rPr>
                  <a:t>     </a:t>
                </a:r>
                <a:r>
                  <a:rPr lang="bg-BG" sz="1600" b="1" dirty="0">
                    <a:solidFill>
                      <a:srgbClr val="0000CC"/>
                    </a:solidFill>
                    <a:latin typeface="Bookman Old Style" pitchFamily="18" charset="0"/>
                  </a:rPr>
                  <a:t>Лице на фигурата заградена от две криви.</a:t>
                </a:r>
                <a:endParaRPr lang="bg-BG" sz="1600" i="1" dirty="0">
                  <a:solidFill>
                    <a:srgbClr val="0000CC"/>
                  </a:solidFill>
                  <a:latin typeface="Bookman Old Style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solidFill>
                            <a:srgbClr val="0000CC"/>
                          </a:solidFill>
                          <a:latin typeface="Cambria Math"/>
                        </a:rPr>
                        <m:t>𝑺</m:t>
                      </m:r>
                      <m:r>
                        <a:rPr lang="en-US" sz="1600" b="1" i="1">
                          <a:solidFill>
                            <a:srgbClr val="0000CC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600" b="1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𝒂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𝒃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1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n-US" sz="1600" b="1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>
                                      <a:solidFill>
                                        <a:srgbClr val="0000CC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bg-BG" sz="1600" b="1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600" b="1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𝒈</m:t>
                              </m:r>
                              <m:r>
                                <a:rPr lang="en-US" sz="1600" b="1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600" b="1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600" b="1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bg-BG" sz="1600" dirty="0"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86" y="1156821"/>
                <a:ext cx="4968552" cy="1336456"/>
              </a:xfrm>
              <a:prstGeom prst="rect">
                <a:avLst/>
              </a:prstGeom>
              <a:blipFill rotWithShape="0">
                <a:blip r:embed="rId4"/>
                <a:stretch>
                  <a:fillRect t="-137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12" y="4271375"/>
            <a:ext cx="2547633" cy="20991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275856" y="4202644"/>
                <a:ext cx="5868144" cy="1803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bg-BG" dirty="0">
                    <a:latin typeface="Bookman Old Style" pitchFamily="18" charset="0"/>
                  </a:rPr>
                  <a:t>Интеграционните граници </a:t>
                </a:r>
                <a:r>
                  <a:rPr lang="en-US" i="1" dirty="0">
                    <a:latin typeface="Bookman Old Style" pitchFamily="18" charset="0"/>
                  </a:rPr>
                  <a:t>a</a:t>
                </a:r>
                <a:r>
                  <a:rPr lang="en-US" dirty="0">
                    <a:latin typeface="Bookman Old Style" pitchFamily="18" charset="0"/>
                  </a:rPr>
                  <a:t> </a:t>
                </a:r>
                <a:r>
                  <a:rPr lang="bg-BG" dirty="0">
                    <a:latin typeface="Bookman Old Style" pitchFamily="18" charset="0"/>
                  </a:rPr>
                  <a:t>и</a:t>
                </a:r>
                <a:r>
                  <a:rPr lang="en-US" dirty="0">
                    <a:latin typeface="Bookman Old Style" pitchFamily="18" charset="0"/>
                  </a:rPr>
                  <a:t> </a:t>
                </a:r>
                <a:r>
                  <a:rPr lang="en-US" i="1" dirty="0">
                    <a:latin typeface="Bookman Old Style" pitchFamily="18" charset="0"/>
                  </a:rPr>
                  <a:t>b</a:t>
                </a:r>
                <a:r>
                  <a:rPr lang="bg-BG" dirty="0">
                    <a:latin typeface="Bookman Old Style" pitchFamily="18" charset="0"/>
                  </a:rPr>
                  <a:t> са равни на абсцисите на пресечните точки на двете графики, следователно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33CC"/>
                        </a:solidFill>
                        <a:latin typeface="Cambria Math"/>
                      </a:rPr>
                      <m:t>𝒂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dirty="0">
                    <a:latin typeface="Bookman Old Style" pitchFamily="18" charset="0"/>
                  </a:rPr>
                  <a:t> </a:t>
                </a:r>
                <a:r>
                  <a:rPr lang="bg-BG" dirty="0">
                    <a:latin typeface="Bookman Old Style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33CC"/>
                        </a:solidFill>
                        <a:latin typeface="Cambria Math"/>
                      </a:rPr>
                      <m:t>𝒃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/>
                      </a:rPr>
                      <m:t>=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/>
                      </a:rPr>
                      <m:t>𝟏</m:t>
                    </m:r>
                    <m:r>
                      <a:rPr lang="en-US">
                        <a:latin typeface="Cambria Math"/>
                      </a:rPr>
                      <m:t>. </m:t>
                    </m:r>
                    <m:r>
                      <a:rPr lang="bg-BG">
                        <a:latin typeface="Cambria Math"/>
                      </a:rPr>
                      <m:t>Тогава </m:t>
                    </m:r>
                  </m:oMath>
                </a14:m>
                <a:endParaRPr lang="en-US" dirty="0">
                  <a:latin typeface="Bookman Old Style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0CC"/>
                          </a:solidFill>
                          <a:latin typeface="Cambria Math"/>
                        </a:rPr>
                        <m:t>𝑺</m:t>
                      </m:r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bg-BG" b="1" i="1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bg-BG" b="1" i="1">
                              <a:latin typeface="Cambria Math"/>
                            </a:rPr>
                            <m:t>𝟏</m:t>
                          </m:r>
                        </m:sup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</m:rad>
                              <m:r>
                                <a:rPr lang="bg-BG" b="1" i="1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1" i="1">
                              <a:latin typeface="Cambria Math"/>
                            </a:rPr>
                            <m:t>𝒅𝒙</m:t>
                          </m:r>
                          <m:r>
                            <a:rPr lang="bg-BG" b="1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bg-BG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b="1" i="1">
                                      <a:latin typeface="Cambria Math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bg-BG" b="1" i="1">
                                      <a:latin typeface="Cambria Math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</m:rad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bg-BG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bg-BG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𝟑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1" i="1">
                                      <a:latin typeface="Cambria Math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d>
                        <m:dPr>
                          <m:begChr m:val="|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/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4202644"/>
                <a:ext cx="5868144" cy="1803699"/>
              </a:xfrm>
              <a:prstGeom prst="rect">
                <a:avLst/>
              </a:prstGeom>
              <a:blipFill rotWithShape="0">
                <a:blip r:embed="rId6"/>
                <a:stretch>
                  <a:fillRect l="-831" t="-135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5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7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11560" y="177695"/>
                <a:ext cx="7704856" cy="59035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bg-BG" sz="1600" b="1" dirty="0">
                    <a:solidFill>
                      <a:srgbClr val="0000CC"/>
                    </a:solidFill>
                    <a:latin typeface="Bookman Old Style" pitchFamily="18" charset="0"/>
                  </a:rPr>
                  <a:t>Пример 13. </a:t>
                </a:r>
                <a:r>
                  <a:rPr lang="ru-RU" sz="1600" dirty="0">
                    <a:latin typeface="Bookman Old Style" pitchFamily="18" charset="0"/>
                  </a:rPr>
                  <a:t>Да се намери лицето </a:t>
                </a:r>
                <a:r>
                  <a:rPr lang="en-US" sz="1600" dirty="0">
                    <a:latin typeface="Bookman Old Style" pitchFamily="18" charset="0"/>
                  </a:rPr>
                  <a:t>S </a:t>
                </a:r>
                <a:r>
                  <a:rPr lang="ru-RU" sz="1600" dirty="0">
                    <a:latin typeface="Bookman Old Style" pitchFamily="18" charset="0"/>
                  </a:rPr>
                  <a:t>на фигурата, заградена от </a:t>
                </a:r>
                <a:r>
                  <a:rPr lang="bg-BG" sz="1600" dirty="0">
                    <a:latin typeface="Bookman Old Style" pitchFamily="18" charset="0"/>
                  </a:rPr>
                  <a:t>правата с уравнение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CC"/>
                        </a:solidFill>
                        <a:latin typeface="Cambria Math"/>
                      </a:rPr>
                      <m:t>𝑥</m:t>
                    </m:r>
                    <m:r>
                      <a:rPr lang="en-US" sz="1600" b="0" i="0" smtClean="0">
                        <a:solidFill>
                          <a:srgbClr val="0000CC"/>
                        </a:solidFill>
                        <a:latin typeface="Cambria Math"/>
                      </a:rPr>
                      <m:t>+</m:t>
                    </m:r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</a:rPr>
                      <m:t>𝒚</m:t>
                    </m:r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bg-BG" sz="1600" b="1" dirty="0">
                    <a:solidFill>
                      <a:srgbClr val="0000CC"/>
                    </a:solidFill>
                    <a:latin typeface="Bookman Old Style" pitchFamily="18" charset="0"/>
                  </a:rPr>
                  <a:t> </a:t>
                </a:r>
                <a:r>
                  <a:rPr lang="bg-BG" sz="1600" dirty="0">
                    <a:latin typeface="Bookman Old Style" pitchFamily="18" charset="0"/>
                  </a:rPr>
                  <a:t>и параболата с уравнение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</a:rPr>
                      <m:t>𝒚</m:t>
                    </m:r>
                    <m:r>
                      <a:rPr lang="en-US" sz="1600" b="1" i="1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600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600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sz="1600" b="1" i="1">
                            <a:solidFill>
                              <a:srgbClr val="0000CC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bg-BG" sz="1600" dirty="0">
                    <a:latin typeface="Bookman Old Style" pitchFamily="18" charset="0"/>
                  </a:rPr>
                  <a:t> .</a:t>
                </a:r>
                <a:endParaRPr lang="en-US" sz="1600" dirty="0"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77695"/>
                <a:ext cx="7704856" cy="590354"/>
              </a:xfrm>
              <a:prstGeom prst="rect">
                <a:avLst/>
              </a:prstGeom>
              <a:blipFill rotWithShape="1">
                <a:blip r:embed="rId2"/>
                <a:stretch>
                  <a:fillRect l="-396" t="-3093" r="-475" b="-12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14" y="848781"/>
            <a:ext cx="2273264" cy="23641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637478" y="908720"/>
                <a:ext cx="5678938" cy="25731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bg-BG" sz="1600" b="1" dirty="0">
                    <a:solidFill>
                      <a:srgbClr val="0000CC"/>
                    </a:solidFill>
                    <a:latin typeface="Bookman Old Style" pitchFamily="18" charset="0"/>
                  </a:rPr>
                  <a:t>Решение</a:t>
                </a:r>
              </a:p>
              <a:p>
                <a:pPr marL="342900" indent="-342900" algn="just">
                  <a:buAutoNum type="arabicParenR"/>
                </a:pPr>
                <a:r>
                  <a:rPr lang="bg-BG" sz="1600" dirty="0">
                    <a:latin typeface="Bookman Old Style" pitchFamily="18" charset="0"/>
                  </a:rPr>
                  <a:t>От чертежа вляво е видно</a:t>
                </a:r>
                <a:r>
                  <a:rPr lang="en-US" sz="1600" dirty="0">
                    <a:latin typeface="Bookman Old Style" pitchFamily="18" charset="0"/>
                  </a:rPr>
                  <a:t>,</a:t>
                </a:r>
                <a:r>
                  <a:rPr lang="bg-BG" sz="1600" dirty="0">
                    <a:latin typeface="Bookman Old Style" pitchFamily="18" charset="0"/>
                  </a:rPr>
                  <a:t> че областта е криво-линеен трапец, ограничен отгоре от параболата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</a:rPr>
                      <m:t>𝒚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</a:rPr>
                      <m:t>𝟐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</a:rPr>
                      <m:t>𝒙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sz="1600" b="1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dirty="0">
                    <a:latin typeface="Bookman Old Style" pitchFamily="18" charset="0"/>
                  </a:rPr>
                  <a:t>, a o</a:t>
                </a:r>
                <a:r>
                  <a:rPr lang="bg-BG" sz="1600" dirty="0">
                    <a:latin typeface="Bookman Old Style" pitchFamily="18" charset="0"/>
                  </a:rPr>
                  <a:t>тдолу от правата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</a:rPr>
                      <m:t>𝒚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</a:rPr>
                      <m:t>=−</m:t>
                    </m:r>
                    <m:r>
                      <a:rPr lang="en-US" sz="1600" b="1" i="1" smtClean="0">
                        <a:solidFill>
                          <a:srgbClr val="0000CC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600" dirty="0">
                    <a:latin typeface="Bookman Old Style" pitchFamily="18" charset="0"/>
                  </a:rPr>
                  <a:t>. </a:t>
                </a:r>
                <a:r>
                  <a:rPr lang="bg-BG" sz="1600" dirty="0">
                    <a:latin typeface="Bookman Old Style" pitchFamily="18" charset="0"/>
                  </a:rPr>
                  <a:t>Двете основи на трапеца са изродени в точки – пресеч-ните точки на двете линии. Следователно лицето </a:t>
                </a:r>
                <a:r>
                  <a:rPr lang="en-US" sz="1600" dirty="0">
                    <a:latin typeface="Bookman Old Style" pitchFamily="18" charset="0"/>
                  </a:rPr>
                  <a:t>S </a:t>
                </a:r>
                <a:r>
                  <a:rPr lang="bg-BG" sz="1600" dirty="0">
                    <a:latin typeface="Bookman Old Style" pitchFamily="18" charset="0"/>
                  </a:rPr>
                  <a:t>можем да изчислим по формулата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solidFill>
                            <a:srgbClr val="0000CC"/>
                          </a:solidFill>
                          <a:latin typeface="Cambria Math"/>
                        </a:rPr>
                        <m:t>𝑺</m:t>
                      </m:r>
                      <m:r>
                        <a:rPr lang="en-US" sz="1600" b="1" i="1">
                          <a:solidFill>
                            <a:srgbClr val="0000CC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𝒂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𝒃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sz="16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𝒙</m:t>
                              </m:r>
                              <m:r>
                                <a:rPr lang="bg-BG" sz="1600" b="1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600" b="1" i="1" smtClean="0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solidFill>
                                        <a:srgbClr val="0000CC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solidFill>
                                        <a:srgbClr val="0000CC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16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−(−</m:t>
                              </m:r>
                              <m:r>
                                <a:rPr lang="en-US" sz="16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6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600" b="1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𝒅𝒙</m:t>
                          </m:r>
                        </m:e>
                      </m:nary>
                      <m:r>
                        <a:rPr lang="bg-BG" sz="16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bg-BG" sz="1600" b="1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6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𝒂</m:t>
                          </m:r>
                        </m:sub>
                        <m:sup>
                          <m:r>
                            <a:rPr lang="en-US" sz="1600" b="1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𝒃</m:t>
                          </m:r>
                        </m:sup>
                        <m:e>
                          <m:d>
                            <m:dPr>
                              <m:ctrlPr>
                                <a:rPr lang="bg-BG" sz="16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sz="16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1600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600" b="1" i="1" smtClean="0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solidFill>
                                        <a:srgbClr val="0000CC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solidFill>
                                        <a:srgbClr val="0000CC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1600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𝒅𝒙</m:t>
                      </m:r>
                      <m:r>
                        <a:rPr lang="en-US" sz="1600" b="0" i="0" smtClean="0">
                          <a:solidFill>
                            <a:srgbClr val="0000CC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bg-BG" sz="1600" dirty="0"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478" y="908720"/>
                <a:ext cx="5678938" cy="2573140"/>
              </a:xfrm>
              <a:prstGeom prst="rect">
                <a:avLst/>
              </a:prstGeom>
              <a:blipFill rotWithShape="1">
                <a:blip r:embed="rId4"/>
                <a:stretch>
                  <a:fillRect l="-644" t="-711" r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11560" y="3717032"/>
                <a:ext cx="770485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Bookman Old Style" pitchFamily="18" charset="0"/>
                  </a:rPr>
                  <a:t>2) </a:t>
                </a:r>
                <a:r>
                  <a:rPr lang="bg-BG" sz="1600" dirty="0">
                    <a:latin typeface="Bookman Old Style" pitchFamily="18" charset="0"/>
                  </a:rPr>
                  <a:t>Числата </a:t>
                </a:r>
                <a:r>
                  <a:rPr lang="en-US" sz="1600" i="1" dirty="0">
                    <a:latin typeface="Bookman Old Style" pitchFamily="18" charset="0"/>
                  </a:rPr>
                  <a:t>a</a:t>
                </a:r>
                <a:r>
                  <a:rPr lang="en-US" sz="1600" dirty="0">
                    <a:latin typeface="Bookman Old Style" pitchFamily="18" charset="0"/>
                  </a:rPr>
                  <a:t> </a:t>
                </a:r>
                <a:r>
                  <a:rPr lang="bg-BG" sz="1600" dirty="0">
                    <a:latin typeface="Bookman Old Style" pitchFamily="18" charset="0"/>
                  </a:rPr>
                  <a:t>и</a:t>
                </a:r>
                <a:r>
                  <a:rPr lang="en-US" sz="1600" dirty="0">
                    <a:latin typeface="Bookman Old Style" pitchFamily="18" charset="0"/>
                  </a:rPr>
                  <a:t> </a:t>
                </a:r>
                <a:r>
                  <a:rPr lang="en-US" sz="1600" i="1" dirty="0">
                    <a:latin typeface="Bookman Old Style" pitchFamily="18" charset="0"/>
                  </a:rPr>
                  <a:t>b</a:t>
                </a:r>
                <a:r>
                  <a:rPr lang="bg-BG" sz="1600" dirty="0">
                    <a:latin typeface="Bookman Old Style" pitchFamily="18" charset="0"/>
                  </a:rPr>
                  <a:t> са равни на абсцисите на пресечните точки на двете графики,</a:t>
                </a:r>
                <a:r>
                  <a:rPr lang="en-US" sz="1600" dirty="0">
                    <a:latin typeface="Bookman Old Style" pitchFamily="18" charset="0"/>
                  </a:rPr>
                  <a:t> </a:t>
                </a:r>
                <a:r>
                  <a:rPr lang="bg-BG" sz="1600" dirty="0">
                    <a:latin typeface="Bookman Old Style" pitchFamily="18" charset="0"/>
                  </a:rPr>
                  <a:t>т.е. те са корени на уравнението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2</m:t>
                    </m:r>
                    <m:r>
                      <a:rPr lang="en-US" sz="1600" b="0" i="1" smtClean="0">
                        <a:latin typeface="Cambria Math"/>
                      </a:rPr>
                      <m:t>𝑥</m:t>
                    </m:r>
                    <m:r>
                      <a:rPr lang="en-US" sz="1600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/>
                      </a:rPr>
                      <m:t>=−</m:t>
                    </m:r>
                    <m:r>
                      <a:rPr lang="en-US" sz="1600" b="0" i="1" smtClean="0">
                        <a:latin typeface="Cambria Math"/>
                      </a:rPr>
                      <m:t>𝑥</m:t>
                    </m:r>
                    <m:r>
                      <a:rPr lang="en-US" sz="1600" b="0" i="1" smtClean="0">
                        <a:latin typeface="Cambria Math"/>
                      </a:rPr>
                      <m:t>.</m:t>
                    </m:r>
                  </m:oMath>
                </a14:m>
                <a:r>
                  <a:rPr lang="bg-BG" sz="1600" dirty="0">
                    <a:latin typeface="Bookman Old Style" pitchFamily="18" charset="0"/>
                  </a:rPr>
                  <a:t>  Следователно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𝑎</m:t>
                    </m:r>
                    <m:r>
                      <a:rPr lang="en-US" sz="1600" i="1">
                        <a:latin typeface="Cambria Math"/>
                      </a:rPr>
                      <m:t>=0</m:t>
                    </m:r>
                  </m:oMath>
                </a14:m>
                <a:r>
                  <a:rPr lang="en-US" sz="1600" dirty="0">
                    <a:latin typeface="Bookman Old Style" pitchFamily="18" charset="0"/>
                  </a:rPr>
                  <a:t> </a:t>
                </a:r>
                <a:r>
                  <a:rPr lang="bg-BG" sz="1600" dirty="0">
                    <a:latin typeface="Bookman Old Style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𝑏</m:t>
                    </m:r>
                    <m:r>
                      <a:rPr lang="en-US" sz="1600" i="1">
                        <a:latin typeface="Cambria Math"/>
                      </a:rPr>
                      <m:t>=</m:t>
                    </m:r>
                    <m:r>
                      <a:rPr lang="bg-BG" sz="1600" b="0" i="0" smtClean="0">
                        <a:latin typeface="Cambria Math"/>
                      </a:rPr>
                      <m:t>3</m:t>
                    </m:r>
                    <m:r>
                      <a:rPr lang="en-US" sz="1600">
                        <a:latin typeface="Cambria Math"/>
                      </a:rPr>
                      <m:t>.</m:t>
                    </m:r>
                  </m:oMath>
                </a14:m>
                <a:r>
                  <a:rPr lang="bg-BG" sz="1600" dirty="0">
                    <a:latin typeface="Bookman Old Style" pitchFamily="18" charset="0"/>
                  </a:rPr>
                  <a:t> Тогава</a:t>
                </a:r>
                <a:endParaRPr lang="en-US" sz="1600" dirty="0"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717032"/>
                <a:ext cx="7704856" cy="830997"/>
              </a:xfrm>
              <a:prstGeom prst="rect">
                <a:avLst/>
              </a:prstGeom>
              <a:blipFill rotWithShape="1">
                <a:blip r:embed="rId5"/>
                <a:stretch>
                  <a:fillRect l="-396" t="-2206" r="-475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123728" y="4581128"/>
                <a:ext cx="5478359" cy="9337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𝑺</m:t>
                      </m:r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bg-BG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1" i="1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𝟑</m:t>
                          </m:r>
                        </m:sup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bg-BG" b="1" i="1"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bg-BG" b="1" i="1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1" i="1">
                              <a:latin typeface="Cambria Math"/>
                            </a:rPr>
                            <m:t>𝒅𝒙</m:t>
                          </m:r>
                        </m:e>
                      </m:nary>
                      <m:r>
                        <a:rPr lang="bg-BG" b="1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bg-BG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bg-BG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bg-BG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𝟑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1" i="1">
                                  <a:latin typeface="Cambria Math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  <m:d>
                        <m:dPr>
                          <m:begChr m:val="|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/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b="0" i="1" smtClean="0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27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/>
                                </a:rPr>
                                <m:t>27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b="1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b="1" i="1" smtClean="0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1" dirty="0">
                  <a:solidFill>
                    <a:srgbClr val="0000CC"/>
                  </a:solidFill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4581128"/>
                <a:ext cx="5478359" cy="93378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4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301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2289" y="764704"/>
            <a:ext cx="82089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5400" b="1" dirty="0">
                <a:solidFill>
                  <a:srgbClr val="0000CC"/>
                </a:solidFill>
                <a:latin typeface="Monotype Corsiva" pitchFamily="66" charset="0"/>
              </a:rPr>
              <a:t>Приложение на </a:t>
            </a:r>
          </a:p>
          <a:p>
            <a:pPr algn="ctr"/>
            <a:r>
              <a:rPr lang="bg-BG" sz="5400" b="1" dirty="0">
                <a:solidFill>
                  <a:srgbClr val="0000CC"/>
                </a:solidFill>
                <a:latin typeface="Monotype Corsiva" pitchFamily="66" charset="0"/>
              </a:rPr>
              <a:t>определен  интеграл</a:t>
            </a:r>
          </a:p>
          <a:p>
            <a:pPr algn="ctr"/>
            <a:r>
              <a:rPr lang="bg-BG" sz="5400" b="1" dirty="0">
                <a:solidFill>
                  <a:srgbClr val="0000CC"/>
                </a:solidFill>
                <a:latin typeface="Monotype Corsiva" pitchFamily="66" charset="0"/>
              </a:rPr>
              <a:t>за пресмятане на дължина на дъга от крива </a:t>
            </a:r>
            <a:endParaRPr lang="en-US" sz="5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562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A36152-8470-4DDD-A41F-C86A38562728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1561" y="260648"/>
                <a:ext cx="7776864" cy="14870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indent="457200"/>
                <a:r>
                  <a:rPr lang="bg-BG" dirty="0">
                    <a:latin typeface="Bookman Old Style" pitchFamily="18" charset="0"/>
                  </a:rPr>
                  <a:t>Дължината </a:t>
                </a:r>
                <a:r>
                  <a:rPr lang="en-US" b="1" dirty="0">
                    <a:solidFill>
                      <a:srgbClr val="0033CC"/>
                    </a:solidFill>
                    <a:latin typeface="Bookman Old Style" pitchFamily="18" charset="0"/>
                  </a:rPr>
                  <a:t>L</a:t>
                </a:r>
                <a:r>
                  <a:rPr lang="bg-BG" dirty="0">
                    <a:latin typeface="Bookman Old Style" pitchFamily="18" charset="0"/>
                  </a:rPr>
                  <a:t> на дъгата от кривата линия, която е графика на функцията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𝒚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=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𝒇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𝒙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bg-BG" b="1" dirty="0">
                    <a:solidFill>
                      <a:srgbClr val="0033CC"/>
                    </a:solidFill>
                    <a:latin typeface="Bookman Old Style" pitchFamily="18" charset="0"/>
                  </a:rPr>
                  <a:t> </a:t>
                </a:r>
                <a:r>
                  <a:rPr lang="en-US" dirty="0">
                    <a:latin typeface="Bookman Old Style" pitchFamily="18" charset="0"/>
                  </a:rPr>
                  <a:t>(</a:t>
                </a:r>
                <a:r>
                  <a:rPr lang="bg-BG" dirty="0">
                    <a:latin typeface="Bookman Old Style" pitchFamily="18" charset="0"/>
                  </a:rPr>
                  <a:t>зададена в явен вид</a:t>
                </a:r>
                <a:r>
                  <a:rPr lang="en-US" dirty="0">
                    <a:latin typeface="Bookman Old Style" pitchFamily="18" charset="0"/>
                  </a:rPr>
                  <a:t>)</a:t>
                </a:r>
                <a:r>
                  <a:rPr lang="bg-BG" dirty="0">
                    <a:latin typeface="Bookman Old Style" pitchFamily="18" charset="0"/>
                  </a:rPr>
                  <a:t> между точките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𝑨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𝒂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,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𝒂</m:t>
                        </m:r>
                      </m:e>
                    </m:d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latin typeface="Bookman Old Style" pitchFamily="18" charset="0"/>
                  </a:rPr>
                  <a:t> </a:t>
                </a:r>
                <a:r>
                  <a:rPr lang="bg-BG" dirty="0">
                    <a:latin typeface="Bookman Old Style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𝑩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𝒃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/>
                      </a:rPr>
                      <m:t>,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𝒃</m:t>
                        </m:r>
                      </m:e>
                    </m:d>
                    <m:r>
                      <a:rPr lang="en-US" b="1" i="1">
                        <a:solidFill>
                          <a:srgbClr val="0033CC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0033CC"/>
                    </a:solidFill>
                    <a:latin typeface="Bookman Old Style" pitchFamily="18" charset="0"/>
                  </a:rPr>
                  <a:t> </a:t>
                </a:r>
                <a:r>
                  <a:rPr lang="bg-BG" dirty="0">
                    <a:latin typeface="Bookman Old Style" pitchFamily="18" charset="0"/>
                  </a:rPr>
                  <a:t>може да се изчисли по формулата</a:t>
                </a:r>
              </a:p>
              <a:p>
                <a:pPr algn="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𝑳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1" i="1">
                            <a:solidFill>
                              <a:srgbClr val="0033CC"/>
                            </a:solidFill>
                            <a:latin typeface="Cambria Math"/>
                          </a:rPr>
                          <m:t>𝒂</m:t>
                        </m:r>
                      </m:sub>
                      <m:sup>
                        <m:r>
                          <a:rPr lang="en-US" b="1" i="1">
                            <a:solidFill>
                              <a:srgbClr val="0033CC"/>
                            </a:solidFill>
                            <a:latin typeface="Cambria Math"/>
                          </a:rPr>
                          <m:t>𝒃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0033CC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e>
                    </m:nary>
                  </m:oMath>
                </a14:m>
                <a:r>
                  <a:rPr lang="en-US" b="1" i="1" dirty="0">
                    <a:solidFill>
                      <a:srgbClr val="0033CC"/>
                    </a:solidFill>
                    <a:latin typeface="Bookman Old Style" pitchFamily="18" charset="0"/>
                  </a:rPr>
                  <a:t>dx</a:t>
                </a:r>
                <a:r>
                  <a:rPr lang="en-US" i="1" dirty="0">
                    <a:solidFill>
                      <a:srgbClr val="0066CC"/>
                    </a:solidFill>
                    <a:latin typeface="Bookman Old Style" pitchFamily="18" charset="0"/>
                  </a:rPr>
                  <a:t>.</a:t>
                </a:r>
                <a:r>
                  <a:rPr lang="bg-BG" i="1" dirty="0">
                    <a:solidFill>
                      <a:srgbClr val="0066CC"/>
                    </a:solidFill>
                    <a:latin typeface="Bookman Old Style" pitchFamily="18" charset="0"/>
                  </a:rPr>
                  <a:t>                                        </a:t>
                </a:r>
                <a:r>
                  <a:rPr lang="bg-BG" dirty="0">
                    <a:latin typeface="Bookman Old Style" pitchFamily="18" charset="0"/>
                  </a:rPr>
                  <a:t>(1</a:t>
                </a:r>
                <a:r>
                  <a:rPr lang="en-US" dirty="0">
                    <a:latin typeface="Bookman Old Style" pitchFamily="18" charset="0"/>
                  </a:rPr>
                  <a:t>.1</a:t>
                </a:r>
                <a:r>
                  <a:rPr lang="bg-BG" dirty="0">
                    <a:latin typeface="Bookman Old Style" pitchFamily="18" charset="0"/>
                  </a:rPr>
                  <a:t>)</a:t>
                </a:r>
                <a:endParaRPr lang="en-US" dirty="0">
                  <a:latin typeface="Bookman Old Style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1" y="260648"/>
                <a:ext cx="7776864" cy="1487010"/>
              </a:xfrm>
              <a:prstGeom prst="rect">
                <a:avLst/>
              </a:prstGeom>
              <a:blipFill rotWithShape="0">
                <a:blip r:embed="rId2"/>
                <a:stretch>
                  <a:fillRect l="-627" t="-2459" r="-70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11560" y="1747658"/>
                <a:ext cx="7776864" cy="7297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bg-BG" sz="1600" b="1" dirty="0">
                    <a:solidFill>
                      <a:srgbClr val="0000CC"/>
                    </a:solidFill>
                    <a:latin typeface="Bookman Old Style" pitchFamily="18" charset="0"/>
                  </a:rPr>
                  <a:t>Пример 1</a:t>
                </a:r>
                <a:r>
                  <a:rPr lang="en-US" sz="1600" b="1" dirty="0">
                    <a:solidFill>
                      <a:srgbClr val="0000CC"/>
                    </a:solidFill>
                    <a:latin typeface="Bookman Old Style" pitchFamily="18" charset="0"/>
                  </a:rPr>
                  <a:t>5 </a:t>
                </a:r>
                <a:r>
                  <a:rPr lang="bg-BG" sz="1600" b="1" dirty="0">
                    <a:solidFill>
                      <a:srgbClr val="0000CC"/>
                    </a:solidFill>
                    <a:latin typeface="Bookman Old Style" pitchFamily="18" charset="0"/>
                  </a:rPr>
                  <a:t>. </a:t>
                </a:r>
                <a:r>
                  <a:rPr lang="ru-RU" sz="1600" dirty="0">
                    <a:latin typeface="Bookman Old Style" pitchFamily="18" charset="0"/>
                  </a:rPr>
                  <a:t>Да </a:t>
                </a:r>
                <a:r>
                  <a:rPr lang="bg-BG" sz="1600" dirty="0">
                    <a:latin typeface="Bookman Old Style" pitchFamily="18" charset="0"/>
                  </a:rPr>
                  <a:t>се изчисли дължината </a:t>
                </a:r>
                <a:r>
                  <a:rPr lang="en-US" sz="1600" dirty="0">
                    <a:latin typeface="Bookman Old Style" pitchFamily="18" charset="0"/>
                  </a:rPr>
                  <a:t>L</a:t>
                </a:r>
                <a:r>
                  <a:rPr lang="bg-BG" sz="1600" dirty="0">
                    <a:latin typeface="Bookman Old Style" pitchFamily="18" charset="0"/>
                  </a:rPr>
                  <a:t> на дъгата от графиката на функцията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𝒚</m:t>
                    </m:r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600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1600" b="1" i="1" smtClean="0">
                            <a:latin typeface="Cambria Math"/>
                          </a:rPr>
                          <m:t>𝟒</m:t>
                        </m:r>
                      </m:den>
                    </m:f>
                    <m:r>
                      <a:rPr lang="en-US" sz="1600" b="1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1600" b="1" i="1" smtClean="0">
                            <a:latin typeface="Cambria Math"/>
                          </a:rPr>
                          <m:t>𝟐</m:t>
                        </m:r>
                      </m:den>
                    </m:f>
                    <m:func>
                      <m:func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600" b="1" i="0" smtClean="0">
                            <a:latin typeface="Cambria Math"/>
                          </a:rPr>
                          <m:t>𝐥𝐧</m:t>
                        </m:r>
                      </m:fName>
                      <m:e>
                        <m:d>
                          <m:d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 smtClean="0">
                                <a:latin typeface="Cambria Math"/>
                              </a:rPr>
                              <m:t>𝒙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1600" dirty="0">
                    <a:latin typeface="Bookman Old Style" pitchFamily="18" charset="0"/>
                  </a:rPr>
                  <a:t>, </a:t>
                </a:r>
                <a:r>
                  <a:rPr lang="bg-BG" sz="1600" dirty="0">
                    <a:latin typeface="Bookman Old Style" pitchFamily="18" charset="0"/>
                  </a:rPr>
                  <a:t>между точките с абсциси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6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b="1" dirty="0">
                    <a:latin typeface="Bookman Old Style" pitchFamily="18" charset="0"/>
                  </a:rPr>
                  <a:t> </a:t>
                </a:r>
                <a:r>
                  <a:rPr lang="bg-BG" sz="1600" dirty="0">
                    <a:latin typeface="Bookman Old Style" pitchFamily="18" charset="0"/>
                  </a:rPr>
                  <a:t>и</a:t>
                </a:r>
                <a:r>
                  <a:rPr lang="en-US" sz="1600" dirty="0">
                    <a:latin typeface="Bookman Old Style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6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1600" b="1" i="1" smtClean="0">
                        <a:latin typeface="Cambria Math"/>
                      </a:rPr>
                      <m:t>=</m:t>
                    </m:r>
                    <m:r>
                      <a:rPr lang="en-US" sz="1600" b="1" i="1" smtClean="0">
                        <a:latin typeface="Cambria Math"/>
                      </a:rPr>
                      <m:t>𝒆</m:t>
                    </m:r>
                  </m:oMath>
                </a14:m>
                <a:r>
                  <a:rPr lang="en-US" sz="1600" dirty="0">
                    <a:latin typeface="Bookman Old Style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747658"/>
                <a:ext cx="7776864" cy="729752"/>
              </a:xfrm>
              <a:prstGeom prst="rect">
                <a:avLst/>
              </a:prstGeom>
              <a:blipFill rotWithShape="0">
                <a:blip r:embed="rId3"/>
                <a:stretch>
                  <a:fillRect l="-392" t="-2521" b="-336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615363" y="2420888"/>
            <a:ext cx="136434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1600" b="1" dirty="0">
                <a:solidFill>
                  <a:srgbClr val="0000CC"/>
                </a:solidFill>
                <a:latin typeface="Bookman Old Style" pitchFamily="18" charset="0"/>
              </a:rPr>
              <a:t>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11560" y="2721824"/>
                <a:ext cx="7949449" cy="447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bg-BG" sz="1600" dirty="0">
                    <a:latin typeface="Bookman Old Style" pitchFamily="18" charset="0"/>
                  </a:rPr>
                  <a:t>Първата производна на зададената функция е равна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𝒚</m:t>
                        </m:r>
                      </m:e>
                      <m:sup>
                        <m: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600" b="1" i="1" smtClean="0">
                        <a:solidFill>
                          <a:srgbClr val="0033CC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𝒙</m:t>
                        </m:r>
                      </m:num>
                      <m:den>
                        <m: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US" sz="1600" b="1" i="1" smtClean="0">
                        <a:solidFill>
                          <a:srgbClr val="0033CC"/>
                        </a:solidFill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n-US" sz="1600" b="1" i="1" smtClean="0">
                            <a:solidFill>
                              <a:srgbClr val="0033CC"/>
                            </a:solidFill>
                            <a:latin typeface="Cambria Math"/>
                          </a:rPr>
                          <m:t>𝒙</m:t>
                        </m:r>
                      </m:den>
                    </m:f>
                    <m:r>
                      <a:rPr lang="en-US" sz="1600" b="0" i="1" smtClean="0">
                        <a:latin typeface="Cambria Math"/>
                      </a:rPr>
                      <m:t>.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721824"/>
                <a:ext cx="7949449" cy="447943"/>
              </a:xfrm>
              <a:prstGeom prst="rect">
                <a:avLst/>
              </a:prstGeom>
              <a:blipFill rotWithShape="1">
                <a:blip r:embed="rId4"/>
                <a:stretch>
                  <a:fillRect l="-383" b="-4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11559" y="3206765"/>
                <a:ext cx="7776865" cy="1069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bg-BG" sz="1600" dirty="0">
                    <a:latin typeface="Bookman Old Style" pitchFamily="18" charset="0"/>
                  </a:rPr>
                  <a:t>Следователно подинтегралният израз от формула (1</a:t>
                </a:r>
                <a:r>
                  <a:rPr lang="en-US" sz="1600" dirty="0">
                    <a:latin typeface="Bookman Old Style" pitchFamily="18" charset="0"/>
                  </a:rPr>
                  <a:t>.1</a:t>
                </a:r>
                <a:r>
                  <a:rPr lang="bg-BG" sz="1600" dirty="0">
                    <a:latin typeface="Bookman Old Style" pitchFamily="18" charset="0"/>
                  </a:rPr>
                  <a:t>) добива вида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60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CC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CC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bg-BG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1600" i="1">
                                      <a:latin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en-US" sz="1600" i="1">
                                          <a:latin typeface="Cambria Math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bg-BG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bg-BG" sz="1600" i="1">
                              <a:latin typeface="Cambria Math"/>
                            </a:rPr>
                            <m:t>1+</m:t>
                          </m:r>
                          <m:f>
                            <m:fPr>
                              <m:ctrlPr>
                                <a:rPr lang="bg-BG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i="1"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600" i="1">
                              <a:latin typeface="Cambria Math"/>
                            </a:rPr>
                            <m:t>−2.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600" i="1">
                              <a:latin typeface="Cambria Math"/>
                            </a:rPr>
                            <m:t>.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1600" i="1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b="0" i="1" smtClean="0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600" b="0" i="1" smtClean="0">
                                  <a:latin typeface="Cambria Math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b="0" i="1" smtClean="0">
                                  <a:latin typeface="Cambria Math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59" y="3206765"/>
                <a:ext cx="7776865" cy="1069524"/>
              </a:xfrm>
              <a:prstGeom prst="rect">
                <a:avLst/>
              </a:prstGeom>
              <a:blipFill rotWithShape="1">
                <a:blip r:embed="rId5"/>
                <a:stretch>
                  <a:fillRect l="-392" t="-1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259632" y="4411923"/>
                <a:ext cx="5317738" cy="745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/>
                  <a:t>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/>
                              </a:rPr>
                              <m:t>+1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+1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000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/>
                          </a:rPr>
                          <m:t>+1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den>
                    </m:f>
                    <m:r>
                      <a:rPr lang="en-US" sz="2000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solidFill>
                          <a:srgbClr val="0000CC"/>
                        </a:solidFill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solidFill>
                          <a:srgbClr val="0000CC"/>
                        </a:solidFill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4411923"/>
                <a:ext cx="5317738" cy="74526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611558" y="5085184"/>
                <a:ext cx="7776867" cy="593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bg-BG" sz="1600" dirty="0">
                    <a:latin typeface="Bookman Old Style" pitchFamily="18" charset="0"/>
                  </a:rPr>
                  <a:t>След заместване във формулата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1600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1600" b="1" i="1">
                            <a:solidFill>
                              <a:srgbClr val="0033CC"/>
                            </a:solidFill>
                            <a:latin typeface="Cambria Math"/>
                          </a:rPr>
                          <m:t>𝒂</m:t>
                        </m:r>
                      </m:sub>
                      <m:sup>
                        <m:r>
                          <a:rPr lang="en-US" sz="1600" b="1" i="1">
                            <a:solidFill>
                              <a:srgbClr val="0033CC"/>
                            </a:solidFill>
                            <a:latin typeface="Cambria Math"/>
                          </a:rPr>
                          <m:t>𝒃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US" sz="1600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b="1" i="1">
                                <a:solidFill>
                                  <a:srgbClr val="0033CC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sz="1600" b="1" i="1">
                                <a:solidFill>
                                  <a:srgbClr val="0033CC"/>
                                </a:solidFill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600" b="1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US" sz="1600" b="1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1" i="1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sz="1600" b="1" i="1">
                                        <a:solidFill>
                                          <a:srgbClr val="0033CC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sup>
                                <m:r>
                                  <a:rPr lang="en-US" sz="1600" b="1" i="1">
                                    <a:solidFill>
                                      <a:srgbClr val="0033CC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e>
                    </m:nary>
                  </m:oMath>
                </a14:m>
                <a:r>
                  <a:rPr lang="en-US" sz="1600" b="1" i="1" dirty="0">
                    <a:solidFill>
                      <a:srgbClr val="0033CC"/>
                    </a:solidFill>
                    <a:latin typeface="Bookman Old Style" pitchFamily="18" charset="0"/>
                  </a:rPr>
                  <a:t>dx</a:t>
                </a:r>
                <a:r>
                  <a:rPr lang="bg-BG" sz="1600" dirty="0">
                    <a:latin typeface="Bookman Old Style" pitchFamily="18" charset="0"/>
                  </a:rPr>
                  <a:t>  се получава: </a:t>
                </a:r>
                <a:endParaRPr lang="en-US" sz="1600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58" y="5085184"/>
                <a:ext cx="7776867" cy="593432"/>
              </a:xfrm>
              <a:prstGeom prst="rect">
                <a:avLst/>
              </a:prstGeom>
              <a:blipFill rotWithShape="1">
                <a:blip r:embed="rId7"/>
                <a:stretch>
                  <a:fillRect l="-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481856" y="5522155"/>
                <a:ext cx="7999177" cy="9028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𝑒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𝑑𝑥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d>
                        <m:dPr>
                          <m:begChr m:val="|"/>
                          <m:endChr m:val="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𝑒</m:t>
                                </m:r>
                              </m:e>
                            </m:mr>
                            <m:mr>
                              <m:e/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</m:t>
                          </m:r>
                        </m:e>
                      </m:d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limLow>
                        <m:limLow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ln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⁡(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lim>
                      </m:limLow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limLow>
                        <m:limLow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groupChr>
                        </m:e>
                        <m:li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lim>
                      </m:limLow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CC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56" y="5522155"/>
                <a:ext cx="7999177" cy="90281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ru-RU" b="1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Определен интеграл                    </a:t>
            </a:r>
            <a:endParaRPr lang="ru-RU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28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401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/>
      <p:bldP spid="28" grpId="0"/>
      <p:bldP spid="29" grpId="0"/>
      <p:bldP spid="30" grpId="0"/>
      <p:bldP spid="31" grpId="0"/>
      <p:bldP spid="3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2418A0F360747B0C6F2FCCEF3A498" ma:contentTypeVersion="9" ma:contentTypeDescription="Създаване на нов документ" ma:contentTypeScope="" ma:versionID="01dfd18eaaff34dabb3af0d8419c9ffd">
  <xsd:schema xmlns:xsd="http://www.w3.org/2001/XMLSchema" xmlns:xs="http://www.w3.org/2001/XMLSchema" xmlns:p="http://schemas.microsoft.com/office/2006/metadata/properties" xmlns:ns2="43b75579-c350-4c9a-9989-c65220e361d2" xmlns:ns3="f302a685-9e74-4afb-a667-e08d15ba5d51" targetNamespace="http://schemas.microsoft.com/office/2006/metadata/properties" ma:root="true" ma:fieldsID="9e0e09b419f3cc93faff91b945aae112" ns2:_="" ns3:_="">
    <xsd:import namespace="43b75579-c350-4c9a-9989-c65220e361d2"/>
    <xsd:import namespace="f302a685-9e74-4afb-a667-e08d15ba5d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75579-c350-4c9a-9989-c65220e361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Етикети за изображения" ma:readOnly="false" ma:fieldId="{5cf76f15-5ced-4ddc-b409-7134ff3c332f}" ma:taxonomyMulti="true" ma:sspId="f94169f7-4ae2-4031-b8fa-636baa109d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02a685-9e74-4afb-a667-e08d15ba5d5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dfb404e-4893-4f2f-bc01-3cc00cfb124e}" ma:internalName="TaxCatchAll" ma:showField="CatchAllData" ma:web="f302a685-9e74-4afb-a667-e08d15ba5d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302a685-9e74-4afb-a667-e08d15ba5d51" xsi:nil="true"/>
    <lcf76f155ced4ddcb4097134ff3c332f xmlns="43b75579-c350-4c9a-9989-c65220e361d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55B767-4D7A-483C-B5E3-E20E2D8294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b75579-c350-4c9a-9989-c65220e361d2"/>
    <ds:schemaRef ds:uri="f302a685-9e74-4afb-a667-e08d15ba5d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74E0AB-4999-4011-9483-D0C25484665B}">
  <ds:schemaRefs>
    <ds:schemaRef ds:uri="http://schemas.microsoft.com/office/2006/metadata/properties"/>
    <ds:schemaRef ds:uri="http://schemas.microsoft.com/office/infopath/2007/PartnerControls"/>
    <ds:schemaRef ds:uri="f302a685-9e74-4afb-a667-e08d15ba5d51"/>
    <ds:schemaRef ds:uri="43b75579-c350-4c9a-9989-c65220e361d2"/>
  </ds:schemaRefs>
</ds:datastoreItem>
</file>

<file path=customXml/itemProps3.xml><?xml version="1.0" encoding="utf-8"?>
<ds:datastoreItem xmlns:ds="http://schemas.openxmlformats.org/officeDocument/2006/customXml" ds:itemID="{7ADDE0E2-472C-42AE-BF19-CD7E461D66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85612</TotalTime>
  <Words>745</Words>
  <Application>Microsoft Office PowerPoint</Application>
  <PresentationFormat>On-screen Show (4:3)</PresentationFormat>
  <Paragraphs>164</Paragraphs>
  <Slides>21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Дефиниция за определен интеграл</vt:lpstr>
      <vt:lpstr>PowerPoint Presentation</vt:lpstr>
      <vt:lpstr>PowerPoint Presentation</vt:lpstr>
      <vt:lpstr>PowerPoint Presentation</vt:lpstr>
      <vt:lpstr>Основни свойства на определения интеграл</vt:lpstr>
      <vt:lpstr>PowerPoint Presentation</vt:lpstr>
      <vt:lpstr>PowerPoint Presentation</vt:lpstr>
      <vt:lpstr>Определен интеграл от четна и нечетна функция в симетрични граници</vt:lpstr>
      <vt:lpstr>Формула на Нютон-Лайбниц връзка между неопределен и определен интеграл</vt:lpstr>
      <vt:lpstr>PowerPoint Presentation</vt:lpstr>
      <vt:lpstr>Интегриране по части при определен интеграл </vt:lpstr>
      <vt:lpstr>PowerPoint Presentation</vt:lpstr>
      <vt:lpstr>Интегриране чрез полагане при определен интеграл</vt:lpstr>
      <vt:lpstr>PowerPoint Presentation</vt:lpstr>
      <vt:lpstr>Геометричен смисъл на определения интеграл</vt:lpstr>
      <vt:lpstr>PowerPoint Presentation</vt:lpstr>
      <vt:lpstr>PowerPoint Presentation</vt:lpstr>
      <vt:lpstr>PowerPoint Presentation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Определители и их применения</dc:title>
  <dc:subject>Определители и их применения</dc:subject>
  <dc:creator>Самаров К.Л.</dc:creator>
  <cp:lastModifiedBy>Teacher</cp:lastModifiedBy>
  <cp:revision>1721</cp:revision>
  <dcterms:created xsi:type="dcterms:W3CDTF">2009-03-30T19:25:44Z</dcterms:created>
  <dcterms:modified xsi:type="dcterms:W3CDTF">2023-01-02T10:00:14Z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0x010100CB92418A0F360747B0C6F2FCCEF3A498</vt:lpwstr>
  </property>
  <property fmtid="{D5CDD505-2E9C-101B-9397-08002B2CF9AE}" pid="3" name="MediaServiceImageTags">
    <vt:lpwstr/>
  </property>
</Properties>
</file>
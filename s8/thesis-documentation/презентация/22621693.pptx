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56"/>
  </p:notesMasterIdLst>
  <p:sldIdLst>
    <p:sldId id="256" r:id="rId2"/>
    <p:sldId id="259" r:id="rId3"/>
    <p:sldId id="284" r:id="rId4"/>
    <p:sldId id="261" r:id="rId5"/>
    <p:sldId id="262" r:id="rId6"/>
    <p:sldId id="264" r:id="rId7"/>
    <p:sldId id="266" r:id="rId8"/>
    <p:sldId id="286" r:id="rId9"/>
    <p:sldId id="287" r:id="rId10"/>
    <p:sldId id="270" r:id="rId11"/>
    <p:sldId id="288" r:id="rId12"/>
    <p:sldId id="274" r:id="rId13"/>
    <p:sldId id="272" r:id="rId14"/>
    <p:sldId id="278" r:id="rId15"/>
    <p:sldId id="298" r:id="rId16"/>
    <p:sldId id="299" r:id="rId17"/>
    <p:sldId id="296" r:id="rId18"/>
    <p:sldId id="291" r:id="rId19"/>
    <p:sldId id="331" r:id="rId20"/>
    <p:sldId id="308" r:id="rId21"/>
    <p:sldId id="309" r:id="rId22"/>
    <p:sldId id="305" r:id="rId23"/>
    <p:sldId id="306" r:id="rId24"/>
    <p:sldId id="310" r:id="rId25"/>
    <p:sldId id="303" r:id="rId26"/>
    <p:sldId id="300" r:id="rId27"/>
    <p:sldId id="302" r:id="rId28"/>
    <p:sldId id="311" r:id="rId29"/>
    <p:sldId id="313" r:id="rId30"/>
    <p:sldId id="312" r:id="rId31"/>
    <p:sldId id="314" r:id="rId32"/>
    <p:sldId id="301" r:id="rId33"/>
    <p:sldId id="315" r:id="rId34"/>
    <p:sldId id="316" r:id="rId35"/>
    <p:sldId id="317" r:id="rId36"/>
    <p:sldId id="318" r:id="rId37"/>
    <p:sldId id="319" r:id="rId38"/>
    <p:sldId id="321" r:id="rId39"/>
    <p:sldId id="320" r:id="rId40"/>
    <p:sldId id="304" r:id="rId41"/>
    <p:sldId id="290" r:id="rId42"/>
    <p:sldId id="322" r:id="rId43"/>
    <p:sldId id="323" r:id="rId44"/>
    <p:sldId id="324" r:id="rId45"/>
    <p:sldId id="325" r:id="rId46"/>
    <p:sldId id="326" r:id="rId47"/>
    <p:sldId id="327" r:id="rId48"/>
    <p:sldId id="328" r:id="rId49"/>
    <p:sldId id="329" r:id="rId50"/>
    <p:sldId id="330" r:id="rId51"/>
    <p:sldId id="282" r:id="rId52"/>
    <p:sldId id="332" r:id="rId53"/>
    <p:sldId id="333" r:id="rId54"/>
    <p:sldId id="334" r:id="rId5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733" userDrawn="1">
          <p15:clr>
            <a:srgbClr val="747775"/>
          </p15:clr>
        </p15:guide>
        <p15:guide id="2" pos="2880">
          <p15:clr>
            <a:srgbClr val="747775"/>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EBED"/>
    <a:srgbClr val="1E293B"/>
    <a:srgbClr val="ECA8AE"/>
    <a:srgbClr val="F3C9CD"/>
    <a:srgbClr val="FDF7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07" autoAdjust="0"/>
    <p:restoredTop sz="50971" autoAdjust="0"/>
  </p:normalViewPr>
  <p:slideViewPr>
    <p:cSldViewPr snapToGrid="0">
      <p:cViewPr>
        <p:scale>
          <a:sx n="100" d="100"/>
          <a:sy n="100" d="100"/>
        </p:scale>
        <p:origin x="893" y="-658"/>
      </p:cViewPr>
      <p:guideLst>
        <p:guide orient="horz" pos="1733"/>
        <p:guide pos="2880"/>
      </p:guideLst>
    </p:cSldViewPr>
  </p:slideViewPr>
  <p:notesTextViewPr>
    <p:cViewPr>
      <p:scale>
        <a:sx n="1" d="1"/>
        <a:sy n="1" d="1"/>
      </p:scale>
      <p:origin x="0" y="0"/>
    </p:cViewPr>
  </p:notesTextViewPr>
  <p:notesViewPr>
    <p:cSldViewPr snapToGrid="0" showGuides="1">
      <p:cViewPr varScale="1">
        <p:scale>
          <a:sx n="67" d="100"/>
          <a:sy n="67" d="100"/>
        </p:scale>
        <p:origin x="3120" y="3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3f0084d9fe8_1_0:notes"/>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 name="Google Shape;53;g3f0084d9fe8_1_0:notes"/>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4" name="Google Shape;54;g3f0084d9fe8_1_0:notes"/>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f0084d9fe8_1_96:notes"/>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g3f0084d9fe8_1_96:notes"/>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158750" indent="0">
              <a:lnSpc>
                <a:spcPct val="107000"/>
              </a:lnSpc>
              <a:spcAft>
                <a:spcPts val="800"/>
              </a:spcAft>
              <a:buNone/>
            </a:pPr>
            <a:r>
              <a:rPr lang="ru-RU" sz="1800" dirty="0">
                <a:effectLst/>
                <a:latin typeface="Arial" panose="020B0604020202020204" pitchFamily="34" charset="0"/>
                <a:ea typeface="Aptos" panose="020B0004020202020204" pitchFamily="34" charset="0"/>
                <a:cs typeface="Arial" panose="020B0604020202020204" pitchFamily="34" charset="0"/>
              </a:rPr>
              <a:t>Мотивация за проекта са растежа на свободната заетост и фрагментираните съшествуващи решения в сферата, заради които процеса по сътрудничество страда от увеличена административната тежест и липса на прозрачност.  Наблюдават се и липса на документална проследимост и неефективни механизми за подбор. </a:t>
            </a:r>
            <a:endParaRPr lang="en-150" sz="1800" dirty="0">
              <a:effectLst/>
              <a:latin typeface="Aptos" panose="020B0004020202020204" pitchFamily="34" charset="0"/>
              <a:ea typeface="Aptos" panose="020B0004020202020204" pitchFamily="34" charset="0"/>
              <a:cs typeface="Arial" panose="020B0604020202020204" pitchFamily="34" charset="0"/>
            </a:endParaRPr>
          </a:p>
        </p:txBody>
      </p:sp>
      <p:sp>
        <p:nvSpPr>
          <p:cNvPr id="150" name="Google Shape;150;g3f0084d9fe8_1_96:notes"/>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a:extLst>
            <a:ext uri="{FF2B5EF4-FFF2-40B4-BE49-F238E27FC236}">
              <a16:creationId xmlns:a16="http://schemas.microsoft.com/office/drawing/2014/main" id="{6557DCB8-43F9-0CD3-536E-F62E7CE7AB7C}"/>
            </a:ext>
          </a:extLst>
        </p:cNvPr>
        <p:cNvGrpSpPr/>
        <p:nvPr/>
      </p:nvGrpSpPr>
      <p:grpSpPr>
        <a:xfrm>
          <a:off x="0" y="0"/>
          <a:ext cx="0" cy="0"/>
          <a:chOff x="0" y="0"/>
          <a:chExt cx="0" cy="0"/>
        </a:xfrm>
      </p:grpSpPr>
      <p:sp>
        <p:nvSpPr>
          <p:cNvPr id="148" name="Google Shape;148;g3f0084d9fe8_1_96:notes">
            <a:extLst>
              <a:ext uri="{FF2B5EF4-FFF2-40B4-BE49-F238E27FC236}">
                <a16:creationId xmlns:a16="http://schemas.microsoft.com/office/drawing/2014/main" id="{165A382B-EABC-82F0-CD52-D6520B0EC87B}"/>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g3f0084d9fe8_1_96:notes">
            <a:extLst>
              <a:ext uri="{FF2B5EF4-FFF2-40B4-BE49-F238E27FC236}">
                <a16:creationId xmlns:a16="http://schemas.microsoft.com/office/drawing/2014/main" id="{226B603B-DC7F-B6CA-9E15-A2250959335D}"/>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None/>
              <a:tabLst/>
              <a:defRPr/>
            </a:pPr>
            <a:r>
              <a:rPr lang="ru-RU" dirty="0"/>
              <a:t>Решение на проблема е проектно-ориентирана платформа която обхваща целия жизнен цикъл на сътрудничеството. Клиентът публикува обява, системата изчислява съответствие със специалистите и те кандидатстват чрез оферти. Възможни са и комуникация в реално време и генериране на документи, като всичко се случва в рамките на една среда.</a:t>
            </a:r>
          </a:p>
          <a:p>
            <a:pPr>
              <a:buNone/>
            </a:pPr>
            <a:endParaRPr lang="ru-RU" dirty="0"/>
          </a:p>
        </p:txBody>
      </p:sp>
      <p:sp>
        <p:nvSpPr>
          <p:cNvPr id="150" name="Google Shape;150;g3f0084d9fe8_1_96:notes">
            <a:extLst>
              <a:ext uri="{FF2B5EF4-FFF2-40B4-BE49-F238E27FC236}">
                <a16:creationId xmlns:a16="http://schemas.microsoft.com/office/drawing/2014/main" id="{053E35E6-69C2-C080-7698-2EFD93FC8489}"/>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3</a:t>
            </a:fld>
            <a:endParaRPr/>
          </a:p>
        </p:txBody>
      </p:sp>
    </p:spTree>
    <p:extLst>
      <p:ext uri="{BB962C8B-B14F-4D97-AF65-F5344CB8AC3E}">
        <p14:creationId xmlns:p14="http://schemas.microsoft.com/office/powerpoint/2010/main" val="1669812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f0084d9fe8_1_145:notes"/>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g3f0084d9fe8_1_145:notes"/>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a:buNone/>
            </a:pPr>
            <a:r>
              <a:rPr lang="ru-RU" dirty="0"/>
              <a:t>Целта е да се създаде цялостна система за професионално сътрудничество в сферата на свободната заетост. Тя трябва обхваща целия жизнен цикъл на проектите, да използва мащабируема и сигурна архитектура и предлага интуитивен и адаптивен интерфейс.</a:t>
            </a:r>
            <a:endParaRPr dirty="0"/>
          </a:p>
        </p:txBody>
      </p:sp>
      <p:sp>
        <p:nvSpPr>
          <p:cNvPr id="201" name="Google Shape;201;g3f0084d9fe8_1_145:notes"/>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f0084d9fe8_1_171:notes"/>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7" name="Google Shape;227;g3f0084d9fe8_1_171:notes"/>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ru-RU" dirty="0"/>
              <a:t>Дефинирани са 7 задачи: управление на достъп и сигурност, управление на потребителски профили, на обяви и оферти; изпращане съобщения и известия в реално време; автоматизирани фонови задачи; генериране на PDF документи; и пълен административен контрол. </a:t>
            </a:r>
          </a:p>
          <a:p>
            <a:pPr marL="0" lvl="0" indent="0" algn="l" rtl="0">
              <a:spcBef>
                <a:spcPts val="0"/>
              </a:spcBef>
              <a:spcAft>
                <a:spcPts val="0"/>
              </a:spcAft>
              <a:buNone/>
            </a:pPr>
            <a:endParaRPr dirty="0"/>
          </a:p>
        </p:txBody>
      </p:sp>
      <p:sp>
        <p:nvSpPr>
          <p:cNvPr id="228" name="Google Shape;228;g3f0084d9fe8_1_171:notes"/>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f0084d9fe8_1_225:notes"/>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3" name="Google Shape;283;g3f0084d9fe8_1_225:notes"/>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a:buNone/>
            </a:pPr>
            <a:r>
              <a:rPr lang="ru-RU" dirty="0"/>
              <a:t>Като съществуващи решения са взети предвид Upwork и Fiverr.</a:t>
            </a:r>
            <a:r>
              <a:rPr lang="en-US" dirty="0"/>
              <a:t> </a:t>
            </a:r>
            <a:r>
              <a:rPr lang="ru-RU" dirty="0"/>
              <a:t>Upwork предоставя широк функционален обхват, но страда от претрупан интерфейс и административна тежест. Fiverr работи добре за кратки задачи, но каталожният му модел е неподходящ за сложни проекти. TalentFlow адресира тези ограничения чрез проектна ориентация, алгоритмичен подбор и единна работна среда.</a:t>
            </a:r>
            <a:r>
              <a:rPr lang="en-US" dirty="0"/>
              <a:t> </a:t>
            </a:r>
            <a:endParaRPr dirty="0"/>
          </a:p>
        </p:txBody>
      </p:sp>
      <p:sp>
        <p:nvSpPr>
          <p:cNvPr id="284" name="Google Shape;284;g3f0084d9fe8_1_225:notes"/>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3f0084d9fe8_1_289:notes"/>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9" name="Google Shape;349;g3f0084d9fe8_1_289:notes"/>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a:buNone/>
            </a:pPr>
            <a:r>
              <a:rPr lang="ru-RU" dirty="0"/>
              <a:t>Сървърното приложение е реализирано с </a:t>
            </a:r>
            <a:r>
              <a:rPr lang="en-US" dirty="0"/>
              <a:t>Java 21 </a:t>
            </a:r>
            <a:r>
              <a:rPr lang="ru-RU" dirty="0"/>
              <a:t>и </a:t>
            </a:r>
            <a:r>
              <a:rPr lang="en-US" dirty="0"/>
              <a:t>Spring Boot</a:t>
            </a:r>
            <a:r>
              <a:rPr lang="bg-BG" dirty="0"/>
              <a:t>, а клиентската част </a:t>
            </a:r>
            <a:r>
              <a:rPr lang="ru-RU" dirty="0"/>
              <a:t>с </a:t>
            </a:r>
            <a:r>
              <a:rPr lang="en-US" dirty="0"/>
              <a:t>React </a:t>
            </a:r>
            <a:r>
              <a:rPr lang="ru-RU" dirty="0"/>
              <a:t>и </a:t>
            </a:r>
            <a:r>
              <a:rPr lang="en-US" dirty="0"/>
              <a:t>TypeScript</a:t>
            </a:r>
            <a:r>
              <a:rPr lang="bg-BG" dirty="0"/>
              <a:t> за типова безопасност</a:t>
            </a:r>
            <a:r>
              <a:rPr lang="en-US" dirty="0"/>
              <a:t>.</a:t>
            </a:r>
            <a:r>
              <a:rPr lang="bg-BG" dirty="0"/>
              <a:t> </a:t>
            </a:r>
            <a:r>
              <a:rPr lang="ru-RU" dirty="0"/>
              <a:t>Данните се съхраняват в </a:t>
            </a:r>
            <a:r>
              <a:rPr lang="en-US" dirty="0"/>
              <a:t>MySQL. </a:t>
            </a:r>
            <a:r>
              <a:rPr lang="ru-RU" dirty="0"/>
              <a:t>За чата и известията се използва </a:t>
            </a:r>
            <a:r>
              <a:rPr lang="en-US" dirty="0"/>
              <a:t>STOMP  </a:t>
            </a:r>
            <a:r>
              <a:rPr lang="bg-BG" dirty="0"/>
              <a:t>върху</a:t>
            </a:r>
            <a:r>
              <a:rPr lang="ru-RU" dirty="0"/>
              <a:t> </a:t>
            </a:r>
            <a:r>
              <a:rPr lang="en-US" dirty="0"/>
              <a:t>WebSocket</a:t>
            </a:r>
            <a:r>
              <a:rPr lang="bg-BG" dirty="0"/>
              <a:t>. Документи се генерират </a:t>
            </a:r>
            <a:r>
              <a:rPr lang="ru-RU" dirty="0"/>
              <a:t>чрез </a:t>
            </a:r>
            <a:r>
              <a:rPr lang="en-US" dirty="0"/>
              <a:t>Handlebar</a:t>
            </a:r>
            <a:r>
              <a:rPr lang="bg-BG" dirty="0"/>
              <a:t>с и </a:t>
            </a:r>
            <a:r>
              <a:rPr lang="en-US" dirty="0" err="1"/>
              <a:t>openhtmltopdf</a:t>
            </a:r>
            <a:r>
              <a:rPr lang="bg-BG" dirty="0"/>
              <a:t>.</a:t>
            </a:r>
            <a:endParaRPr dirty="0"/>
          </a:p>
        </p:txBody>
      </p:sp>
      <p:sp>
        <p:nvSpPr>
          <p:cNvPr id="350" name="Google Shape;350;g3f0084d9fe8_1_289:notes"/>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a:extLst>
            <a:ext uri="{FF2B5EF4-FFF2-40B4-BE49-F238E27FC236}">
              <a16:creationId xmlns:a16="http://schemas.microsoft.com/office/drawing/2014/main" id="{5E4E05F3-282F-8AD9-8857-0D34B0A254D0}"/>
            </a:ext>
          </a:extLst>
        </p:cNvPr>
        <p:cNvGrpSpPr/>
        <p:nvPr/>
      </p:nvGrpSpPr>
      <p:grpSpPr>
        <a:xfrm>
          <a:off x="0" y="0"/>
          <a:ext cx="0" cy="0"/>
          <a:chOff x="0" y="0"/>
          <a:chExt cx="0" cy="0"/>
        </a:xfrm>
      </p:grpSpPr>
      <p:sp>
        <p:nvSpPr>
          <p:cNvPr id="404" name="Google Shape;404;g3f0084d9fe8_1_343:notes">
            <a:extLst>
              <a:ext uri="{FF2B5EF4-FFF2-40B4-BE49-F238E27FC236}">
                <a16:creationId xmlns:a16="http://schemas.microsoft.com/office/drawing/2014/main" id="{4A90439C-83B3-D9CE-9FD4-C1296771A893}"/>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5" name="Google Shape;405;g3f0084d9fe8_1_343:notes">
            <a:extLst>
              <a:ext uri="{FF2B5EF4-FFF2-40B4-BE49-F238E27FC236}">
                <a16:creationId xmlns:a16="http://schemas.microsoft.com/office/drawing/2014/main" id="{591CD15A-D421-B82D-698E-0ABE0A7C5F4D}"/>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a:lnSpc>
                <a:spcPct val="107000"/>
              </a:lnSpc>
              <a:spcAft>
                <a:spcPts val="800"/>
              </a:spcAft>
              <a:buNone/>
            </a:pPr>
            <a:r>
              <a:rPr lang="ru-RU" sz="3200" dirty="0"/>
              <a:t>Системата следва клиент-сървърна архитектура. Клиентът комуникира чрез REST и WebSocket със сървъра. Архитектурният стил е модулен монолит</a:t>
            </a:r>
            <a:r>
              <a:rPr lang="bg-BG" sz="3200" dirty="0"/>
              <a:t> и е</a:t>
            </a:r>
            <a:r>
              <a:rPr lang="ru-RU" sz="3200" dirty="0"/>
              <a:t> подходящ за текущия мащаб на системата.</a:t>
            </a:r>
            <a:endParaRPr dirty="0"/>
          </a:p>
        </p:txBody>
      </p:sp>
      <p:sp>
        <p:nvSpPr>
          <p:cNvPr id="406" name="Google Shape;406;g3f0084d9fe8_1_343:notes">
            <a:extLst>
              <a:ext uri="{FF2B5EF4-FFF2-40B4-BE49-F238E27FC236}">
                <a16:creationId xmlns:a16="http://schemas.microsoft.com/office/drawing/2014/main" id="{5A846253-5817-ABED-276D-9554774AB738}"/>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8</a:t>
            </a:fld>
            <a:endParaRPr/>
          </a:p>
        </p:txBody>
      </p:sp>
    </p:spTree>
    <p:extLst>
      <p:ext uri="{BB962C8B-B14F-4D97-AF65-F5344CB8AC3E}">
        <p14:creationId xmlns:p14="http://schemas.microsoft.com/office/powerpoint/2010/main" val="37807466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a:extLst>
            <a:ext uri="{FF2B5EF4-FFF2-40B4-BE49-F238E27FC236}">
              <a16:creationId xmlns:a16="http://schemas.microsoft.com/office/drawing/2014/main" id="{B542637A-0473-D43E-0A61-038DB4868A89}"/>
            </a:ext>
          </a:extLst>
        </p:cNvPr>
        <p:cNvGrpSpPr/>
        <p:nvPr/>
      </p:nvGrpSpPr>
      <p:grpSpPr>
        <a:xfrm>
          <a:off x="0" y="0"/>
          <a:ext cx="0" cy="0"/>
          <a:chOff x="0" y="0"/>
          <a:chExt cx="0" cy="0"/>
        </a:xfrm>
      </p:grpSpPr>
      <p:sp>
        <p:nvSpPr>
          <p:cNvPr id="404" name="Google Shape;404;g3f0084d9fe8_1_343:notes">
            <a:extLst>
              <a:ext uri="{FF2B5EF4-FFF2-40B4-BE49-F238E27FC236}">
                <a16:creationId xmlns:a16="http://schemas.microsoft.com/office/drawing/2014/main" id="{58609D7A-466B-B9A8-500C-C6507AA1804F}"/>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5" name="Google Shape;405;g3f0084d9fe8_1_343:notes">
            <a:extLst>
              <a:ext uri="{FF2B5EF4-FFF2-40B4-BE49-F238E27FC236}">
                <a16:creationId xmlns:a16="http://schemas.microsoft.com/office/drawing/2014/main" id="{2402D9BA-66E1-51CE-C3B8-6F738D1F98F0}"/>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a:buNone/>
            </a:pPr>
            <a:r>
              <a:rPr lang="ru-RU" dirty="0"/>
              <a:t>Модулите в сървърното приложение са организирани по функционални домейни, всеки от които използва многослойна организация. Controller слоят приема HTTP заявките, Service слоят реализира бизнес логиката на системата. Хранилищата абстрахират достъпа до данните, а класовете-модели представят таблиците в базата данни. DTO се използват за обмен на данни с клиента. </a:t>
            </a:r>
          </a:p>
        </p:txBody>
      </p:sp>
      <p:sp>
        <p:nvSpPr>
          <p:cNvPr id="406" name="Google Shape;406;g3f0084d9fe8_1_343:notes">
            <a:extLst>
              <a:ext uri="{FF2B5EF4-FFF2-40B4-BE49-F238E27FC236}">
                <a16:creationId xmlns:a16="http://schemas.microsoft.com/office/drawing/2014/main" id="{098F2701-A2B4-A356-618B-F5775375B754}"/>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9</a:t>
            </a:fld>
            <a:endParaRPr/>
          </a:p>
        </p:txBody>
      </p:sp>
    </p:spTree>
    <p:extLst>
      <p:ext uri="{BB962C8B-B14F-4D97-AF65-F5344CB8AC3E}">
        <p14:creationId xmlns:p14="http://schemas.microsoft.com/office/powerpoint/2010/main" val="23101734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3f0084d9fe8_1_396:notes"/>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0" name="Google Shape;460;g3f0084d9fe8_1_396:notes"/>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a:buNone/>
            </a:pPr>
            <a:r>
              <a:rPr lang="ru-RU" dirty="0"/>
              <a:t>Базата данни е релационен модел с 30 таблици, нормализиран до трета нормална форма. Използват се UUID идентификатори в двоичен формат и е реализиран механизъм за меко изтриване за бизнес обектите.</a:t>
            </a:r>
          </a:p>
          <a:p>
            <a:pPr marL="0" lvl="0" indent="0" algn="l" rtl="0">
              <a:spcBef>
                <a:spcPts val="0"/>
              </a:spcBef>
              <a:spcAft>
                <a:spcPts val="0"/>
              </a:spcAft>
              <a:buNone/>
            </a:pPr>
            <a:endParaRPr dirty="0"/>
          </a:p>
        </p:txBody>
      </p:sp>
      <p:sp>
        <p:nvSpPr>
          <p:cNvPr id="461" name="Google Shape;461;g3f0084d9fe8_1_396:notes"/>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a:extLst>
            <a:ext uri="{FF2B5EF4-FFF2-40B4-BE49-F238E27FC236}">
              <a16:creationId xmlns:a16="http://schemas.microsoft.com/office/drawing/2014/main" id="{DC5E45B0-741B-271D-E83A-9EF2EAD8B8EE}"/>
            </a:ext>
          </a:extLst>
        </p:cNvPr>
        <p:cNvGrpSpPr/>
        <p:nvPr/>
      </p:nvGrpSpPr>
      <p:grpSpPr>
        <a:xfrm>
          <a:off x="0" y="0"/>
          <a:ext cx="0" cy="0"/>
          <a:chOff x="0" y="0"/>
          <a:chExt cx="0" cy="0"/>
        </a:xfrm>
      </p:grpSpPr>
      <p:sp>
        <p:nvSpPr>
          <p:cNvPr id="459" name="Google Shape;459;g3f0084d9fe8_1_396:notes">
            <a:extLst>
              <a:ext uri="{FF2B5EF4-FFF2-40B4-BE49-F238E27FC236}">
                <a16:creationId xmlns:a16="http://schemas.microsoft.com/office/drawing/2014/main" id="{EC9F67D8-01A9-B29D-9162-2A0D15A6C147}"/>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0" name="Google Shape;460;g3f0084d9fe8_1_396:notes">
            <a:extLst>
              <a:ext uri="{FF2B5EF4-FFF2-40B4-BE49-F238E27FC236}">
                <a16:creationId xmlns:a16="http://schemas.microsoft.com/office/drawing/2014/main" id="{595E8DF4-E2C9-C081-158B-9F37923DE11F}"/>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ru-RU" dirty="0"/>
              <a:t>Централният обект е User, от който се разклоняват Client и Freelancer. Профилът на специалиста е свързан с умения, образование и сертификати, а обявата има връзки с категория, местоположение и оферти. </a:t>
            </a:r>
            <a:endParaRPr dirty="0"/>
          </a:p>
        </p:txBody>
      </p:sp>
      <p:sp>
        <p:nvSpPr>
          <p:cNvPr id="461" name="Google Shape;461;g3f0084d9fe8_1_396:notes">
            <a:extLst>
              <a:ext uri="{FF2B5EF4-FFF2-40B4-BE49-F238E27FC236}">
                <a16:creationId xmlns:a16="http://schemas.microsoft.com/office/drawing/2014/main" id="{02ECD57E-EC4A-5891-A661-0248518A0747}"/>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11</a:t>
            </a:fld>
            <a:endParaRPr/>
          </a:p>
        </p:txBody>
      </p:sp>
    </p:spTree>
    <p:extLst>
      <p:ext uri="{BB962C8B-B14F-4D97-AF65-F5344CB8AC3E}">
        <p14:creationId xmlns:p14="http://schemas.microsoft.com/office/powerpoint/2010/main" val="20052570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3f0084d9fe8_1_498:notes"/>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6" name="Google Shape;566;g3f0084d9fe8_1_498:notes"/>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ru-RU" dirty="0"/>
              <a:t>Сигурността на системата е многослойна. Автентикацията се базира на JWT с алгоритъм HS512. Авторизацията е ролево базирана . Паролите се хешират с BCrypt и се прилагат политики за сигурност, а въведени данни се валидират двустранно.</a:t>
            </a:r>
            <a:endParaRPr dirty="0"/>
          </a:p>
        </p:txBody>
      </p:sp>
      <p:sp>
        <p:nvSpPr>
          <p:cNvPr id="567" name="Google Shape;567;g3f0084d9fe8_1_498:notes"/>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3f0084d9fe8_1_447:notes"/>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3" name="Google Shape;513;g3f0084d9fe8_1_447:notes"/>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158750" indent="0">
              <a:lnSpc>
                <a:spcPct val="107000"/>
              </a:lnSpc>
              <a:spcAft>
                <a:spcPts val="800"/>
              </a:spcAft>
              <a:buNone/>
            </a:pPr>
            <a:r>
              <a:rPr lang="ru-RU" sz="1800" dirty="0">
                <a:effectLst/>
                <a:latin typeface="Arial" panose="020B0604020202020204" pitchFamily="34" charset="0"/>
                <a:ea typeface="Aptos" panose="020B0004020202020204" pitchFamily="34" charset="0"/>
                <a:cs typeface="Arial" panose="020B0604020202020204" pitchFamily="34" charset="0"/>
              </a:rPr>
              <a:t>Платформата обслужва три основни роли – Клиент, Специалист и Администратор с ясно определени права за достъп и обвързани функционалности, които демонстрацията ще разгледа.</a:t>
            </a:r>
            <a:endParaRPr lang="en-150" sz="1800" dirty="0">
              <a:effectLst/>
              <a:latin typeface="Aptos" panose="020B0004020202020204" pitchFamily="34" charset="0"/>
              <a:ea typeface="Aptos" panose="020B0004020202020204" pitchFamily="34" charset="0"/>
              <a:cs typeface="Arial" panose="020B0604020202020204" pitchFamily="34" charset="0"/>
            </a:endParaRPr>
          </a:p>
        </p:txBody>
      </p:sp>
      <p:sp>
        <p:nvSpPr>
          <p:cNvPr id="514" name="Google Shape;514;g3f0084d9fe8_1_447:notes"/>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g3f0084d9fe8_1_601:notes"/>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3f0084d9fe8_1_601:notes"/>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ru-RU" dirty="0"/>
              <a:t>Началният екран навигира гости и отвежда към регистрация и вход.</a:t>
            </a:r>
            <a:endParaRPr dirty="0"/>
          </a:p>
        </p:txBody>
      </p:sp>
      <p:sp>
        <p:nvSpPr>
          <p:cNvPr id="674" name="Google Shape;674;g3f0084d9fe8_1_601:notes"/>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a:extLst>
            <a:ext uri="{FF2B5EF4-FFF2-40B4-BE49-F238E27FC236}">
              <a16:creationId xmlns:a16="http://schemas.microsoft.com/office/drawing/2014/main" id="{E31D49D5-3C90-A5A7-FA7F-4BAEE2D97271}"/>
            </a:ext>
          </a:extLst>
        </p:cNvPr>
        <p:cNvGrpSpPr/>
        <p:nvPr/>
      </p:nvGrpSpPr>
      <p:grpSpPr>
        <a:xfrm>
          <a:off x="0" y="0"/>
          <a:ext cx="0" cy="0"/>
          <a:chOff x="0" y="0"/>
          <a:chExt cx="0" cy="0"/>
        </a:xfrm>
      </p:grpSpPr>
      <p:sp>
        <p:nvSpPr>
          <p:cNvPr id="672" name="Google Shape;672;g3f0084d9fe8_1_601:notes">
            <a:extLst>
              <a:ext uri="{FF2B5EF4-FFF2-40B4-BE49-F238E27FC236}">
                <a16:creationId xmlns:a16="http://schemas.microsoft.com/office/drawing/2014/main" id="{4B2905E6-AD6C-D540-57B2-D7F0A2BBE9E7}"/>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3f0084d9fe8_1_601:notes">
            <a:extLst>
              <a:ext uri="{FF2B5EF4-FFF2-40B4-BE49-F238E27FC236}">
                <a16:creationId xmlns:a16="http://schemas.microsoft.com/office/drawing/2014/main" id="{5F1A4216-21E0-1E91-DA68-09F9DA66D9CA}"/>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ru-RU" dirty="0"/>
              <a:t>Регистрацията се осъществява чрез основният формуляр  и включва потвърждение по имейл. </a:t>
            </a:r>
            <a:endParaRPr dirty="0"/>
          </a:p>
        </p:txBody>
      </p:sp>
      <p:sp>
        <p:nvSpPr>
          <p:cNvPr id="674" name="Google Shape;674;g3f0084d9fe8_1_601:notes">
            <a:extLst>
              <a:ext uri="{FF2B5EF4-FFF2-40B4-BE49-F238E27FC236}">
                <a16:creationId xmlns:a16="http://schemas.microsoft.com/office/drawing/2014/main" id="{E1BC0882-BFE6-D064-089D-C89474BEA2D0}"/>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15</a:t>
            </a:fld>
            <a:endParaRPr/>
          </a:p>
        </p:txBody>
      </p:sp>
    </p:spTree>
    <p:extLst>
      <p:ext uri="{BB962C8B-B14F-4D97-AF65-F5344CB8AC3E}">
        <p14:creationId xmlns:p14="http://schemas.microsoft.com/office/powerpoint/2010/main" val="6983454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a:extLst>
            <a:ext uri="{FF2B5EF4-FFF2-40B4-BE49-F238E27FC236}">
              <a16:creationId xmlns:a16="http://schemas.microsoft.com/office/drawing/2014/main" id="{F6342E36-183D-ECF7-42BB-6171F3FC749D}"/>
            </a:ext>
          </a:extLst>
        </p:cNvPr>
        <p:cNvGrpSpPr/>
        <p:nvPr/>
      </p:nvGrpSpPr>
      <p:grpSpPr>
        <a:xfrm>
          <a:off x="0" y="0"/>
          <a:ext cx="0" cy="0"/>
          <a:chOff x="0" y="0"/>
          <a:chExt cx="0" cy="0"/>
        </a:xfrm>
      </p:grpSpPr>
      <p:sp>
        <p:nvSpPr>
          <p:cNvPr id="672" name="Google Shape;672;g3f0084d9fe8_1_601:notes">
            <a:extLst>
              <a:ext uri="{FF2B5EF4-FFF2-40B4-BE49-F238E27FC236}">
                <a16:creationId xmlns:a16="http://schemas.microsoft.com/office/drawing/2014/main" id="{889FD0B0-56E4-0D79-1713-606AC2216381}"/>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3f0084d9fe8_1_601:notes">
            <a:extLst>
              <a:ext uri="{FF2B5EF4-FFF2-40B4-BE49-F238E27FC236}">
                <a16:creationId xmlns:a16="http://schemas.microsoft.com/office/drawing/2014/main" id="{CCFE0717-5F3C-0029-86C7-295E34C357B9}"/>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ru-RU" dirty="0"/>
              <a:t>Съществува и опция за администраторска регистрация на отделна страница, достъпна от специално издадена покана.</a:t>
            </a:r>
            <a:endParaRPr dirty="0"/>
          </a:p>
        </p:txBody>
      </p:sp>
      <p:sp>
        <p:nvSpPr>
          <p:cNvPr id="674" name="Google Shape;674;g3f0084d9fe8_1_601:notes">
            <a:extLst>
              <a:ext uri="{FF2B5EF4-FFF2-40B4-BE49-F238E27FC236}">
                <a16:creationId xmlns:a16="http://schemas.microsoft.com/office/drawing/2014/main" id="{3DCB48C9-2148-8319-7EB4-C026C41E772F}"/>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16</a:t>
            </a:fld>
            <a:endParaRPr/>
          </a:p>
        </p:txBody>
      </p:sp>
    </p:spTree>
    <p:extLst>
      <p:ext uri="{BB962C8B-B14F-4D97-AF65-F5344CB8AC3E}">
        <p14:creationId xmlns:p14="http://schemas.microsoft.com/office/powerpoint/2010/main" val="29712224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a:extLst>
            <a:ext uri="{FF2B5EF4-FFF2-40B4-BE49-F238E27FC236}">
              <a16:creationId xmlns:a16="http://schemas.microsoft.com/office/drawing/2014/main" id="{40EE8613-4878-37B7-0796-7517C262E870}"/>
            </a:ext>
          </a:extLst>
        </p:cNvPr>
        <p:cNvGrpSpPr/>
        <p:nvPr/>
      </p:nvGrpSpPr>
      <p:grpSpPr>
        <a:xfrm>
          <a:off x="0" y="0"/>
          <a:ext cx="0" cy="0"/>
          <a:chOff x="0" y="0"/>
          <a:chExt cx="0" cy="0"/>
        </a:xfrm>
      </p:grpSpPr>
      <p:sp>
        <p:nvSpPr>
          <p:cNvPr id="672" name="Google Shape;672;g3f0084d9fe8_1_601:notes">
            <a:extLst>
              <a:ext uri="{FF2B5EF4-FFF2-40B4-BE49-F238E27FC236}">
                <a16:creationId xmlns:a16="http://schemas.microsoft.com/office/drawing/2014/main" id="{2FD5C665-A480-017D-E0EB-66890E7158BB}"/>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3f0084d9fe8_1_601:notes">
            <a:extLst>
              <a:ext uri="{FF2B5EF4-FFF2-40B4-BE49-F238E27FC236}">
                <a16:creationId xmlns:a16="http://schemas.microsoft.com/office/drawing/2014/main" id="{F045400B-D49B-2C34-28BE-35B47C9B1F1E}"/>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ru-RU" dirty="0"/>
              <a:t>При вход се задейства двуфакторната защита с 6-цифрен код. Създадена е и система за възстановяване на забравена парола.</a:t>
            </a:r>
            <a:endParaRPr dirty="0"/>
          </a:p>
        </p:txBody>
      </p:sp>
      <p:sp>
        <p:nvSpPr>
          <p:cNvPr id="674" name="Google Shape;674;g3f0084d9fe8_1_601:notes">
            <a:extLst>
              <a:ext uri="{FF2B5EF4-FFF2-40B4-BE49-F238E27FC236}">
                <a16:creationId xmlns:a16="http://schemas.microsoft.com/office/drawing/2014/main" id="{88769592-BC66-9340-2EA4-28F16B3AFEE3}"/>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17</a:t>
            </a:fld>
            <a:endParaRPr/>
          </a:p>
        </p:txBody>
      </p:sp>
    </p:spTree>
    <p:extLst>
      <p:ext uri="{BB962C8B-B14F-4D97-AF65-F5344CB8AC3E}">
        <p14:creationId xmlns:p14="http://schemas.microsoft.com/office/powerpoint/2010/main" val="1370725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a:extLst>
            <a:ext uri="{FF2B5EF4-FFF2-40B4-BE49-F238E27FC236}">
              <a16:creationId xmlns:a16="http://schemas.microsoft.com/office/drawing/2014/main" id="{E7500934-BF1D-7150-9F99-A9ABC923F3FA}"/>
            </a:ext>
          </a:extLst>
        </p:cNvPr>
        <p:cNvGrpSpPr/>
        <p:nvPr/>
      </p:nvGrpSpPr>
      <p:grpSpPr>
        <a:xfrm>
          <a:off x="0" y="0"/>
          <a:ext cx="0" cy="0"/>
          <a:chOff x="0" y="0"/>
          <a:chExt cx="0" cy="0"/>
        </a:xfrm>
      </p:grpSpPr>
      <p:sp>
        <p:nvSpPr>
          <p:cNvPr id="672" name="Google Shape;672;g3f0084d9fe8_1_601:notes">
            <a:extLst>
              <a:ext uri="{FF2B5EF4-FFF2-40B4-BE49-F238E27FC236}">
                <a16:creationId xmlns:a16="http://schemas.microsoft.com/office/drawing/2014/main" id="{F6D0D982-BC86-16B8-1C3A-302F015DE8FA}"/>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3f0084d9fe8_1_601:notes">
            <a:extLst>
              <a:ext uri="{FF2B5EF4-FFF2-40B4-BE49-F238E27FC236}">
                <a16:creationId xmlns:a16="http://schemas.microsoft.com/office/drawing/2014/main" id="{06B4BCFF-041C-03A9-128D-B26A36C5AA44}"/>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bg-BG" dirty="0"/>
              <a:t>Основната потребителска страница служи за преглед на обяви с опции за търсене и филтриране.</a:t>
            </a:r>
            <a:endParaRPr dirty="0"/>
          </a:p>
        </p:txBody>
      </p:sp>
      <p:sp>
        <p:nvSpPr>
          <p:cNvPr id="674" name="Google Shape;674;g3f0084d9fe8_1_601:notes">
            <a:extLst>
              <a:ext uri="{FF2B5EF4-FFF2-40B4-BE49-F238E27FC236}">
                <a16:creationId xmlns:a16="http://schemas.microsoft.com/office/drawing/2014/main" id="{0EA3787C-81B6-C787-6B08-9859C95A1B3E}"/>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18</a:t>
            </a:fld>
            <a:endParaRPr/>
          </a:p>
        </p:txBody>
      </p:sp>
    </p:spTree>
    <p:extLst>
      <p:ext uri="{BB962C8B-B14F-4D97-AF65-F5344CB8AC3E}">
        <p14:creationId xmlns:p14="http://schemas.microsoft.com/office/powerpoint/2010/main" val="633664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a:extLst>
            <a:ext uri="{FF2B5EF4-FFF2-40B4-BE49-F238E27FC236}">
              <a16:creationId xmlns:a16="http://schemas.microsoft.com/office/drawing/2014/main" id="{8994F1DD-DA9F-2DBD-29FF-D09F9B45D322}"/>
            </a:ext>
          </a:extLst>
        </p:cNvPr>
        <p:cNvGrpSpPr/>
        <p:nvPr/>
      </p:nvGrpSpPr>
      <p:grpSpPr>
        <a:xfrm>
          <a:off x="0" y="0"/>
          <a:ext cx="0" cy="0"/>
          <a:chOff x="0" y="0"/>
          <a:chExt cx="0" cy="0"/>
        </a:xfrm>
      </p:grpSpPr>
      <p:sp>
        <p:nvSpPr>
          <p:cNvPr id="672" name="Google Shape;672;g3f0084d9fe8_1_601:notes">
            <a:extLst>
              <a:ext uri="{FF2B5EF4-FFF2-40B4-BE49-F238E27FC236}">
                <a16:creationId xmlns:a16="http://schemas.microsoft.com/office/drawing/2014/main" id="{761D8135-D357-643E-E0C4-1770CB758FD5}"/>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3f0084d9fe8_1_601:notes">
            <a:extLst>
              <a:ext uri="{FF2B5EF4-FFF2-40B4-BE49-F238E27FC236}">
                <a16:creationId xmlns:a16="http://schemas.microsoft.com/office/drawing/2014/main" id="{B7F476CE-5933-5BDB-F920-0D2AB16AC72B}"/>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bg-BG" dirty="0"/>
              <a:t>Специалистът вижда алгоритмично изчислен процент на съвпадение спрямо неговите професионални данни и изискванията на всяка обява.</a:t>
            </a:r>
            <a:endParaRPr dirty="0"/>
          </a:p>
        </p:txBody>
      </p:sp>
      <p:sp>
        <p:nvSpPr>
          <p:cNvPr id="674" name="Google Shape;674;g3f0084d9fe8_1_601:notes">
            <a:extLst>
              <a:ext uri="{FF2B5EF4-FFF2-40B4-BE49-F238E27FC236}">
                <a16:creationId xmlns:a16="http://schemas.microsoft.com/office/drawing/2014/main" id="{017396FC-2DA5-4832-E933-F5F6C3C6DFBE}"/>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19</a:t>
            </a:fld>
            <a:endParaRPr/>
          </a:p>
        </p:txBody>
      </p:sp>
    </p:spTree>
    <p:extLst>
      <p:ext uri="{BB962C8B-B14F-4D97-AF65-F5344CB8AC3E}">
        <p14:creationId xmlns:p14="http://schemas.microsoft.com/office/powerpoint/2010/main" val="7160087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a:extLst>
            <a:ext uri="{FF2B5EF4-FFF2-40B4-BE49-F238E27FC236}">
              <a16:creationId xmlns:a16="http://schemas.microsoft.com/office/drawing/2014/main" id="{CDB33A50-45D9-B1C3-0596-4CBD6E34063B}"/>
            </a:ext>
          </a:extLst>
        </p:cNvPr>
        <p:cNvGrpSpPr/>
        <p:nvPr/>
      </p:nvGrpSpPr>
      <p:grpSpPr>
        <a:xfrm>
          <a:off x="0" y="0"/>
          <a:ext cx="0" cy="0"/>
          <a:chOff x="0" y="0"/>
          <a:chExt cx="0" cy="0"/>
        </a:xfrm>
      </p:grpSpPr>
      <p:sp>
        <p:nvSpPr>
          <p:cNvPr id="672" name="Google Shape;672;g3f0084d9fe8_1_601:notes">
            <a:extLst>
              <a:ext uri="{FF2B5EF4-FFF2-40B4-BE49-F238E27FC236}">
                <a16:creationId xmlns:a16="http://schemas.microsoft.com/office/drawing/2014/main" id="{8B905BB2-E2F1-CA57-3AD6-D7A9E92A5741}"/>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3f0084d9fe8_1_601:notes">
            <a:extLst>
              <a:ext uri="{FF2B5EF4-FFF2-40B4-BE49-F238E27FC236}">
                <a16:creationId xmlns:a16="http://schemas.microsoft.com/office/drawing/2014/main" id="{F9B80BA0-CC8D-DFDD-1837-306E7CED9AE3}"/>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ru-RU" dirty="0"/>
              <a:t>За специалист се визуализира бутон за кандидатстване само при изпълнени условия за попълнен профил, качено резюме, активен работен статус. </a:t>
            </a:r>
            <a:endParaRPr dirty="0"/>
          </a:p>
        </p:txBody>
      </p:sp>
      <p:sp>
        <p:nvSpPr>
          <p:cNvPr id="674" name="Google Shape;674;g3f0084d9fe8_1_601:notes">
            <a:extLst>
              <a:ext uri="{FF2B5EF4-FFF2-40B4-BE49-F238E27FC236}">
                <a16:creationId xmlns:a16="http://schemas.microsoft.com/office/drawing/2014/main" id="{A3C8F673-DEDD-7811-0343-9F59452DF883}"/>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20</a:t>
            </a:fld>
            <a:endParaRPr/>
          </a:p>
        </p:txBody>
      </p:sp>
    </p:spTree>
    <p:extLst>
      <p:ext uri="{BB962C8B-B14F-4D97-AF65-F5344CB8AC3E}">
        <p14:creationId xmlns:p14="http://schemas.microsoft.com/office/powerpoint/2010/main" val="26010801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a:extLst>
            <a:ext uri="{FF2B5EF4-FFF2-40B4-BE49-F238E27FC236}">
              <a16:creationId xmlns:a16="http://schemas.microsoft.com/office/drawing/2014/main" id="{282C1F9D-A567-6714-F440-7D34E02168F3}"/>
            </a:ext>
          </a:extLst>
        </p:cNvPr>
        <p:cNvGrpSpPr/>
        <p:nvPr/>
      </p:nvGrpSpPr>
      <p:grpSpPr>
        <a:xfrm>
          <a:off x="0" y="0"/>
          <a:ext cx="0" cy="0"/>
          <a:chOff x="0" y="0"/>
          <a:chExt cx="0" cy="0"/>
        </a:xfrm>
      </p:grpSpPr>
      <p:sp>
        <p:nvSpPr>
          <p:cNvPr id="672" name="Google Shape;672;g3f0084d9fe8_1_601:notes">
            <a:extLst>
              <a:ext uri="{FF2B5EF4-FFF2-40B4-BE49-F238E27FC236}">
                <a16:creationId xmlns:a16="http://schemas.microsoft.com/office/drawing/2014/main" id="{FE90F48A-AB76-E9E0-6E3D-0366C4E23FA4}"/>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3f0084d9fe8_1_601:notes">
            <a:extLst>
              <a:ext uri="{FF2B5EF4-FFF2-40B4-BE49-F238E27FC236}">
                <a16:creationId xmlns:a16="http://schemas.microsoft.com/office/drawing/2014/main" id="{24710C69-DE59-A36E-3660-C4033F56CB98}"/>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ru-RU" dirty="0"/>
              <a:t>Клиентът създава и управлява обява с конкретни изисквания, срок и бюджет. </a:t>
            </a:r>
            <a:endParaRPr dirty="0"/>
          </a:p>
        </p:txBody>
      </p:sp>
      <p:sp>
        <p:nvSpPr>
          <p:cNvPr id="674" name="Google Shape;674;g3f0084d9fe8_1_601:notes">
            <a:extLst>
              <a:ext uri="{FF2B5EF4-FFF2-40B4-BE49-F238E27FC236}">
                <a16:creationId xmlns:a16="http://schemas.microsoft.com/office/drawing/2014/main" id="{1FED63FC-9FE7-97E0-6951-744A0BA2692C}"/>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21</a:t>
            </a:fld>
            <a:endParaRPr/>
          </a:p>
        </p:txBody>
      </p:sp>
    </p:spTree>
    <p:extLst>
      <p:ext uri="{BB962C8B-B14F-4D97-AF65-F5344CB8AC3E}">
        <p14:creationId xmlns:p14="http://schemas.microsoft.com/office/powerpoint/2010/main" val="23033285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a:extLst>
            <a:ext uri="{FF2B5EF4-FFF2-40B4-BE49-F238E27FC236}">
              <a16:creationId xmlns:a16="http://schemas.microsoft.com/office/drawing/2014/main" id="{9A4A0C55-2E8D-6D9E-32EC-D7C5E381BC88}"/>
            </a:ext>
          </a:extLst>
        </p:cNvPr>
        <p:cNvGrpSpPr/>
        <p:nvPr/>
      </p:nvGrpSpPr>
      <p:grpSpPr>
        <a:xfrm>
          <a:off x="0" y="0"/>
          <a:ext cx="0" cy="0"/>
          <a:chOff x="0" y="0"/>
          <a:chExt cx="0" cy="0"/>
        </a:xfrm>
      </p:grpSpPr>
      <p:sp>
        <p:nvSpPr>
          <p:cNvPr id="672" name="Google Shape;672;g3f0084d9fe8_1_601:notes">
            <a:extLst>
              <a:ext uri="{FF2B5EF4-FFF2-40B4-BE49-F238E27FC236}">
                <a16:creationId xmlns:a16="http://schemas.microsoft.com/office/drawing/2014/main" id="{C57F4DDC-1498-9B18-67B4-397E4AC1027D}"/>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3f0084d9fe8_1_601:notes">
            <a:extLst>
              <a:ext uri="{FF2B5EF4-FFF2-40B4-BE49-F238E27FC236}">
                <a16:creationId xmlns:a16="http://schemas.microsoft.com/office/drawing/2014/main" id="{0BA0D6B7-A21A-BA45-E395-CD62049843E8}"/>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bg-BG" dirty="0"/>
              <a:t>След създаване обявата е с активен статус и възможност да се преглежда.</a:t>
            </a:r>
            <a:endParaRPr dirty="0"/>
          </a:p>
        </p:txBody>
      </p:sp>
      <p:sp>
        <p:nvSpPr>
          <p:cNvPr id="674" name="Google Shape;674;g3f0084d9fe8_1_601:notes">
            <a:extLst>
              <a:ext uri="{FF2B5EF4-FFF2-40B4-BE49-F238E27FC236}">
                <a16:creationId xmlns:a16="http://schemas.microsoft.com/office/drawing/2014/main" id="{0C4F42F3-C1C4-4C77-A583-0ABFA502D10F}"/>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22</a:t>
            </a:fld>
            <a:endParaRPr/>
          </a:p>
        </p:txBody>
      </p:sp>
    </p:spTree>
    <p:extLst>
      <p:ext uri="{BB962C8B-B14F-4D97-AF65-F5344CB8AC3E}">
        <p14:creationId xmlns:p14="http://schemas.microsoft.com/office/powerpoint/2010/main" val="5785192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a:extLst>
            <a:ext uri="{FF2B5EF4-FFF2-40B4-BE49-F238E27FC236}">
              <a16:creationId xmlns:a16="http://schemas.microsoft.com/office/drawing/2014/main" id="{5262CEFE-9002-0FC8-F47B-CB24595A4C63}"/>
            </a:ext>
          </a:extLst>
        </p:cNvPr>
        <p:cNvGrpSpPr/>
        <p:nvPr/>
      </p:nvGrpSpPr>
      <p:grpSpPr>
        <a:xfrm>
          <a:off x="0" y="0"/>
          <a:ext cx="0" cy="0"/>
          <a:chOff x="0" y="0"/>
          <a:chExt cx="0" cy="0"/>
        </a:xfrm>
      </p:grpSpPr>
      <p:sp>
        <p:nvSpPr>
          <p:cNvPr id="672" name="Google Shape;672;g3f0084d9fe8_1_601:notes">
            <a:extLst>
              <a:ext uri="{FF2B5EF4-FFF2-40B4-BE49-F238E27FC236}">
                <a16:creationId xmlns:a16="http://schemas.microsoft.com/office/drawing/2014/main" id="{F0436568-7615-539C-152E-A29C3D7D1119}"/>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3f0084d9fe8_1_601:notes">
            <a:extLst>
              <a:ext uri="{FF2B5EF4-FFF2-40B4-BE49-F238E27FC236}">
                <a16:creationId xmlns:a16="http://schemas.microsoft.com/office/drawing/2014/main" id="{39D0B84F-02E4-08E3-B86F-BEAD751207D5}"/>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bg-BG" dirty="0"/>
              <a:t>Клиента – автор на обявата може да я управлява </a:t>
            </a:r>
            <a:r>
              <a:rPr lang="ru-RU" dirty="0"/>
              <a:t>чрез затваряне за кандидатури, повторно отваряне, преглед на оферти и изтриване</a:t>
            </a:r>
            <a:endParaRPr dirty="0"/>
          </a:p>
        </p:txBody>
      </p:sp>
      <p:sp>
        <p:nvSpPr>
          <p:cNvPr id="674" name="Google Shape;674;g3f0084d9fe8_1_601:notes">
            <a:extLst>
              <a:ext uri="{FF2B5EF4-FFF2-40B4-BE49-F238E27FC236}">
                <a16:creationId xmlns:a16="http://schemas.microsoft.com/office/drawing/2014/main" id="{4736D653-D3C2-26DB-DB8A-54C6C9139306}"/>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23</a:t>
            </a:fld>
            <a:endParaRPr/>
          </a:p>
        </p:txBody>
      </p:sp>
    </p:spTree>
    <p:extLst>
      <p:ext uri="{BB962C8B-B14F-4D97-AF65-F5344CB8AC3E}">
        <p14:creationId xmlns:p14="http://schemas.microsoft.com/office/powerpoint/2010/main" val="29872587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a:extLst>
            <a:ext uri="{FF2B5EF4-FFF2-40B4-BE49-F238E27FC236}">
              <a16:creationId xmlns:a16="http://schemas.microsoft.com/office/drawing/2014/main" id="{284C4835-9FE0-A9F7-0DFF-E05D3E78EDA9}"/>
            </a:ext>
          </a:extLst>
        </p:cNvPr>
        <p:cNvGrpSpPr/>
        <p:nvPr/>
      </p:nvGrpSpPr>
      <p:grpSpPr>
        <a:xfrm>
          <a:off x="0" y="0"/>
          <a:ext cx="0" cy="0"/>
          <a:chOff x="0" y="0"/>
          <a:chExt cx="0" cy="0"/>
        </a:xfrm>
      </p:grpSpPr>
      <p:sp>
        <p:nvSpPr>
          <p:cNvPr id="672" name="Google Shape;672;g3f0084d9fe8_1_601:notes">
            <a:extLst>
              <a:ext uri="{FF2B5EF4-FFF2-40B4-BE49-F238E27FC236}">
                <a16:creationId xmlns:a16="http://schemas.microsoft.com/office/drawing/2014/main" id="{9BBB0E29-674E-60CC-E46D-4DFD9BC38DC2}"/>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3f0084d9fe8_1_601:notes">
            <a:extLst>
              <a:ext uri="{FF2B5EF4-FFF2-40B4-BE49-F238E27FC236}">
                <a16:creationId xmlns:a16="http://schemas.microsoft.com/office/drawing/2014/main" id="{BB68F34E-2B3D-670C-376F-FA3A8A0A1A99}"/>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bg-BG" dirty="0"/>
              <a:t>Специалист може да кандидатства по обява чрез екрана за създаване на оферта с детайли за цена и срок, като при подаването ѝ се генерира едностранно подписано съгласие за поет ангажимент.</a:t>
            </a:r>
            <a:endParaRPr dirty="0"/>
          </a:p>
        </p:txBody>
      </p:sp>
      <p:sp>
        <p:nvSpPr>
          <p:cNvPr id="674" name="Google Shape;674;g3f0084d9fe8_1_601:notes">
            <a:extLst>
              <a:ext uri="{FF2B5EF4-FFF2-40B4-BE49-F238E27FC236}">
                <a16:creationId xmlns:a16="http://schemas.microsoft.com/office/drawing/2014/main" id="{2E0E977E-01F6-BDFD-FB16-AD9CAA81A03D}"/>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24</a:t>
            </a:fld>
            <a:endParaRPr/>
          </a:p>
        </p:txBody>
      </p:sp>
    </p:spTree>
    <p:extLst>
      <p:ext uri="{BB962C8B-B14F-4D97-AF65-F5344CB8AC3E}">
        <p14:creationId xmlns:p14="http://schemas.microsoft.com/office/powerpoint/2010/main" val="20183918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a:extLst>
            <a:ext uri="{FF2B5EF4-FFF2-40B4-BE49-F238E27FC236}">
              <a16:creationId xmlns:a16="http://schemas.microsoft.com/office/drawing/2014/main" id="{9B2DD764-C675-BC8A-070B-BBC50EA4A2DC}"/>
            </a:ext>
          </a:extLst>
        </p:cNvPr>
        <p:cNvGrpSpPr/>
        <p:nvPr/>
      </p:nvGrpSpPr>
      <p:grpSpPr>
        <a:xfrm>
          <a:off x="0" y="0"/>
          <a:ext cx="0" cy="0"/>
          <a:chOff x="0" y="0"/>
          <a:chExt cx="0" cy="0"/>
        </a:xfrm>
      </p:grpSpPr>
      <p:sp>
        <p:nvSpPr>
          <p:cNvPr id="672" name="Google Shape;672;g3f0084d9fe8_1_601:notes">
            <a:extLst>
              <a:ext uri="{FF2B5EF4-FFF2-40B4-BE49-F238E27FC236}">
                <a16:creationId xmlns:a16="http://schemas.microsoft.com/office/drawing/2014/main" id="{7CEBC5FE-C1B9-0C59-5794-130A5BD0AC44}"/>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3f0084d9fe8_1_601:notes">
            <a:extLst>
              <a:ext uri="{FF2B5EF4-FFF2-40B4-BE49-F238E27FC236}">
                <a16:creationId xmlns:a16="http://schemas.microsoft.com/office/drawing/2014/main" id="{FD74DDF2-B570-F5E8-A1CD-0544631B92B4}"/>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bg-BG" dirty="0"/>
              <a:t>След успешно кандидатстване за специалист се визуализират всички подадени оферти на страница Оферти.</a:t>
            </a:r>
            <a:endParaRPr dirty="0"/>
          </a:p>
        </p:txBody>
      </p:sp>
      <p:sp>
        <p:nvSpPr>
          <p:cNvPr id="674" name="Google Shape;674;g3f0084d9fe8_1_601:notes">
            <a:extLst>
              <a:ext uri="{FF2B5EF4-FFF2-40B4-BE49-F238E27FC236}">
                <a16:creationId xmlns:a16="http://schemas.microsoft.com/office/drawing/2014/main" id="{053FE456-AB73-DEE8-A45A-24A02EE6C45A}"/>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25</a:t>
            </a:fld>
            <a:endParaRPr/>
          </a:p>
        </p:txBody>
      </p:sp>
    </p:spTree>
    <p:extLst>
      <p:ext uri="{BB962C8B-B14F-4D97-AF65-F5344CB8AC3E}">
        <p14:creationId xmlns:p14="http://schemas.microsoft.com/office/powerpoint/2010/main" val="8203433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a:extLst>
            <a:ext uri="{FF2B5EF4-FFF2-40B4-BE49-F238E27FC236}">
              <a16:creationId xmlns:a16="http://schemas.microsoft.com/office/drawing/2014/main" id="{7614C9A5-A366-14BC-6440-0122DC22013E}"/>
            </a:ext>
          </a:extLst>
        </p:cNvPr>
        <p:cNvGrpSpPr/>
        <p:nvPr/>
      </p:nvGrpSpPr>
      <p:grpSpPr>
        <a:xfrm>
          <a:off x="0" y="0"/>
          <a:ext cx="0" cy="0"/>
          <a:chOff x="0" y="0"/>
          <a:chExt cx="0" cy="0"/>
        </a:xfrm>
      </p:grpSpPr>
      <p:sp>
        <p:nvSpPr>
          <p:cNvPr id="672" name="Google Shape;672;g3f0084d9fe8_1_601:notes">
            <a:extLst>
              <a:ext uri="{FF2B5EF4-FFF2-40B4-BE49-F238E27FC236}">
                <a16:creationId xmlns:a16="http://schemas.microsoft.com/office/drawing/2014/main" id="{3765B472-0C9E-0D77-9747-02311DB172DD}"/>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3f0084d9fe8_1_601:notes">
            <a:extLst>
              <a:ext uri="{FF2B5EF4-FFF2-40B4-BE49-F238E27FC236}">
                <a16:creationId xmlns:a16="http://schemas.microsoft.com/office/drawing/2014/main" id="{DD55ABE9-775D-7C0C-5A72-1716B637A9EB}"/>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bg-BG" dirty="0"/>
              <a:t>Клиент може да преглежда постъпилите оферти на две страници – обща за всички обяви</a:t>
            </a:r>
            <a:endParaRPr dirty="0"/>
          </a:p>
        </p:txBody>
      </p:sp>
      <p:sp>
        <p:nvSpPr>
          <p:cNvPr id="674" name="Google Shape;674;g3f0084d9fe8_1_601:notes">
            <a:extLst>
              <a:ext uri="{FF2B5EF4-FFF2-40B4-BE49-F238E27FC236}">
                <a16:creationId xmlns:a16="http://schemas.microsoft.com/office/drawing/2014/main" id="{ADDEFA5F-6B89-E80C-3510-9C3993C5B301}"/>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26</a:t>
            </a:fld>
            <a:endParaRPr/>
          </a:p>
        </p:txBody>
      </p:sp>
    </p:spTree>
    <p:extLst>
      <p:ext uri="{BB962C8B-B14F-4D97-AF65-F5344CB8AC3E}">
        <p14:creationId xmlns:p14="http://schemas.microsoft.com/office/powerpoint/2010/main" val="5443508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a:extLst>
            <a:ext uri="{FF2B5EF4-FFF2-40B4-BE49-F238E27FC236}">
              <a16:creationId xmlns:a16="http://schemas.microsoft.com/office/drawing/2014/main" id="{71F03E48-E0AE-3358-8208-B6DA1F99DE03}"/>
            </a:ext>
          </a:extLst>
        </p:cNvPr>
        <p:cNvGrpSpPr/>
        <p:nvPr/>
      </p:nvGrpSpPr>
      <p:grpSpPr>
        <a:xfrm>
          <a:off x="0" y="0"/>
          <a:ext cx="0" cy="0"/>
          <a:chOff x="0" y="0"/>
          <a:chExt cx="0" cy="0"/>
        </a:xfrm>
      </p:grpSpPr>
      <p:sp>
        <p:nvSpPr>
          <p:cNvPr id="672" name="Google Shape;672;g3f0084d9fe8_1_601:notes">
            <a:extLst>
              <a:ext uri="{FF2B5EF4-FFF2-40B4-BE49-F238E27FC236}">
                <a16:creationId xmlns:a16="http://schemas.microsoft.com/office/drawing/2014/main" id="{B5A524B3-0F6E-3E1A-1D5A-4AFEA94C8F13}"/>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3f0084d9fe8_1_601:notes">
            <a:extLst>
              <a:ext uri="{FF2B5EF4-FFF2-40B4-BE49-F238E27FC236}">
                <a16:creationId xmlns:a16="http://schemas.microsoft.com/office/drawing/2014/main" id="{7A01935B-B553-C24C-D4A6-446AE4887BA6}"/>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bg-BG" dirty="0"/>
              <a:t>... И за конкретна обява, с различен изглед на самата оферта.</a:t>
            </a:r>
            <a:endParaRPr dirty="0"/>
          </a:p>
        </p:txBody>
      </p:sp>
      <p:sp>
        <p:nvSpPr>
          <p:cNvPr id="674" name="Google Shape;674;g3f0084d9fe8_1_601:notes">
            <a:extLst>
              <a:ext uri="{FF2B5EF4-FFF2-40B4-BE49-F238E27FC236}">
                <a16:creationId xmlns:a16="http://schemas.microsoft.com/office/drawing/2014/main" id="{46B07B4F-9E32-8D1E-AE09-127FBA48EBE3}"/>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27</a:t>
            </a:fld>
            <a:endParaRPr/>
          </a:p>
        </p:txBody>
      </p:sp>
    </p:spTree>
    <p:extLst>
      <p:ext uri="{BB962C8B-B14F-4D97-AF65-F5344CB8AC3E}">
        <p14:creationId xmlns:p14="http://schemas.microsoft.com/office/powerpoint/2010/main" val="13265366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a:extLst>
            <a:ext uri="{FF2B5EF4-FFF2-40B4-BE49-F238E27FC236}">
              <a16:creationId xmlns:a16="http://schemas.microsoft.com/office/drawing/2014/main" id="{94922109-D186-04AD-FF33-1103A696D1EE}"/>
            </a:ext>
          </a:extLst>
        </p:cNvPr>
        <p:cNvGrpSpPr/>
        <p:nvPr/>
      </p:nvGrpSpPr>
      <p:grpSpPr>
        <a:xfrm>
          <a:off x="0" y="0"/>
          <a:ext cx="0" cy="0"/>
          <a:chOff x="0" y="0"/>
          <a:chExt cx="0" cy="0"/>
        </a:xfrm>
      </p:grpSpPr>
      <p:sp>
        <p:nvSpPr>
          <p:cNvPr id="672" name="Google Shape;672;g3f0084d9fe8_1_601:notes">
            <a:extLst>
              <a:ext uri="{FF2B5EF4-FFF2-40B4-BE49-F238E27FC236}">
                <a16:creationId xmlns:a16="http://schemas.microsoft.com/office/drawing/2014/main" id="{7E9ACEDF-DB09-1FAA-C67B-41E12BD238F3}"/>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3f0084d9fe8_1_601:notes">
            <a:extLst>
              <a:ext uri="{FF2B5EF4-FFF2-40B4-BE49-F238E27FC236}">
                <a16:creationId xmlns:a16="http://schemas.microsoft.com/office/drawing/2014/main" id="{DD7C55EE-BC8B-57A0-9907-3CBCF115A0DB}"/>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bg-BG" dirty="0"/>
              <a:t>При преглед на оферта възможните действия се определят спрямо нейния статус и ролята на потребителя</a:t>
            </a:r>
            <a:endParaRPr dirty="0"/>
          </a:p>
        </p:txBody>
      </p:sp>
      <p:sp>
        <p:nvSpPr>
          <p:cNvPr id="674" name="Google Shape;674;g3f0084d9fe8_1_601:notes">
            <a:extLst>
              <a:ext uri="{FF2B5EF4-FFF2-40B4-BE49-F238E27FC236}">
                <a16:creationId xmlns:a16="http://schemas.microsoft.com/office/drawing/2014/main" id="{E48A531F-EA42-1101-05C8-72D08B7ED882}"/>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28</a:t>
            </a:fld>
            <a:endParaRPr/>
          </a:p>
        </p:txBody>
      </p:sp>
    </p:spTree>
    <p:extLst>
      <p:ext uri="{BB962C8B-B14F-4D97-AF65-F5344CB8AC3E}">
        <p14:creationId xmlns:p14="http://schemas.microsoft.com/office/powerpoint/2010/main" val="18354468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a:extLst>
            <a:ext uri="{FF2B5EF4-FFF2-40B4-BE49-F238E27FC236}">
              <a16:creationId xmlns:a16="http://schemas.microsoft.com/office/drawing/2014/main" id="{04AB13D7-5EB2-DFFF-E71A-C1C7A8A3E0D4}"/>
            </a:ext>
          </a:extLst>
        </p:cNvPr>
        <p:cNvGrpSpPr/>
        <p:nvPr/>
      </p:nvGrpSpPr>
      <p:grpSpPr>
        <a:xfrm>
          <a:off x="0" y="0"/>
          <a:ext cx="0" cy="0"/>
          <a:chOff x="0" y="0"/>
          <a:chExt cx="0" cy="0"/>
        </a:xfrm>
      </p:grpSpPr>
      <p:sp>
        <p:nvSpPr>
          <p:cNvPr id="672" name="Google Shape;672;g3f0084d9fe8_1_601:notes">
            <a:extLst>
              <a:ext uri="{FF2B5EF4-FFF2-40B4-BE49-F238E27FC236}">
                <a16:creationId xmlns:a16="http://schemas.microsoft.com/office/drawing/2014/main" id="{7B7C2608-9207-9BA1-199A-5E562D068B76}"/>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3f0084d9fe8_1_601:notes">
            <a:extLst>
              <a:ext uri="{FF2B5EF4-FFF2-40B4-BE49-F238E27FC236}">
                <a16:creationId xmlns:a16="http://schemas.microsoft.com/office/drawing/2014/main" id="{4F5122E7-51DB-6805-F44B-4F1E7FBCFBF1}"/>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bg-BG" dirty="0"/>
              <a:t>За клиент това са отметка на чакаща оферта, приемане или отхвърляне, маркиране на офертата като успешно завършена или незадоволителна с уговаряне на частично заплащане, и изтриване на завършена оферта.</a:t>
            </a:r>
            <a:endParaRPr dirty="0"/>
          </a:p>
        </p:txBody>
      </p:sp>
      <p:sp>
        <p:nvSpPr>
          <p:cNvPr id="674" name="Google Shape;674;g3f0084d9fe8_1_601:notes">
            <a:extLst>
              <a:ext uri="{FF2B5EF4-FFF2-40B4-BE49-F238E27FC236}">
                <a16:creationId xmlns:a16="http://schemas.microsoft.com/office/drawing/2014/main" id="{A014456A-9EF5-A24D-1098-62B5916AA7BD}"/>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29</a:t>
            </a:fld>
            <a:endParaRPr/>
          </a:p>
        </p:txBody>
      </p:sp>
    </p:spTree>
    <p:extLst>
      <p:ext uri="{BB962C8B-B14F-4D97-AF65-F5344CB8AC3E}">
        <p14:creationId xmlns:p14="http://schemas.microsoft.com/office/powerpoint/2010/main" val="14446214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a:extLst>
            <a:ext uri="{FF2B5EF4-FFF2-40B4-BE49-F238E27FC236}">
              <a16:creationId xmlns:a16="http://schemas.microsoft.com/office/drawing/2014/main" id="{DFB4393D-CB0F-C436-B8F2-7EA70FA5B057}"/>
            </a:ext>
          </a:extLst>
        </p:cNvPr>
        <p:cNvGrpSpPr/>
        <p:nvPr/>
      </p:nvGrpSpPr>
      <p:grpSpPr>
        <a:xfrm>
          <a:off x="0" y="0"/>
          <a:ext cx="0" cy="0"/>
          <a:chOff x="0" y="0"/>
          <a:chExt cx="0" cy="0"/>
        </a:xfrm>
      </p:grpSpPr>
      <p:sp>
        <p:nvSpPr>
          <p:cNvPr id="672" name="Google Shape;672;g3f0084d9fe8_1_601:notes">
            <a:extLst>
              <a:ext uri="{FF2B5EF4-FFF2-40B4-BE49-F238E27FC236}">
                <a16:creationId xmlns:a16="http://schemas.microsoft.com/office/drawing/2014/main" id="{87858C0D-15FC-7EB6-2AD3-4BFD30968A1F}"/>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3f0084d9fe8_1_601:notes">
            <a:extLst>
              <a:ext uri="{FF2B5EF4-FFF2-40B4-BE49-F238E27FC236}">
                <a16:creationId xmlns:a16="http://schemas.microsoft.com/office/drawing/2014/main" id="{92AF29F0-C4AE-3E4D-F80D-3F4D6DFE7858}"/>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bg-BG" dirty="0"/>
              <a:t>А специалист може да отмени чакаща оферта, да предаде резултати по приета оферта и да изтрие финализирана такава.</a:t>
            </a:r>
            <a:endParaRPr dirty="0"/>
          </a:p>
        </p:txBody>
      </p:sp>
      <p:sp>
        <p:nvSpPr>
          <p:cNvPr id="674" name="Google Shape;674;g3f0084d9fe8_1_601:notes">
            <a:extLst>
              <a:ext uri="{FF2B5EF4-FFF2-40B4-BE49-F238E27FC236}">
                <a16:creationId xmlns:a16="http://schemas.microsoft.com/office/drawing/2014/main" id="{44305F0E-5D88-10D8-B833-BE9B245AF4F6}"/>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30</a:t>
            </a:fld>
            <a:endParaRPr/>
          </a:p>
        </p:txBody>
      </p:sp>
    </p:spTree>
    <p:extLst>
      <p:ext uri="{BB962C8B-B14F-4D97-AF65-F5344CB8AC3E}">
        <p14:creationId xmlns:p14="http://schemas.microsoft.com/office/powerpoint/2010/main" val="35931500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a:extLst>
            <a:ext uri="{FF2B5EF4-FFF2-40B4-BE49-F238E27FC236}">
              <a16:creationId xmlns:a16="http://schemas.microsoft.com/office/drawing/2014/main" id="{7A3D4AAF-5103-4126-FC50-53E2B002F902}"/>
            </a:ext>
          </a:extLst>
        </p:cNvPr>
        <p:cNvGrpSpPr/>
        <p:nvPr/>
      </p:nvGrpSpPr>
      <p:grpSpPr>
        <a:xfrm>
          <a:off x="0" y="0"/>
          <a:ext cx="0" cy="0"/>
          <a:chOff x="0" y="0"/>
          <a:chExt cx="0" cy="0"/>
        </a:xfrm>
      </p:grpSpPr>
      <p:sp>
        <p:nvSpPr>
          <p:cNvPr id="672" name="Google Shape;672;g3f0084d9fe8_1_601:notes">
            <a:extLst>
              <a:ext uri="{FF2B5EF4-FFF2-40B4-BE49-F238E27FC236}">
                <a16:creationId xmlns:a16="http://schemas.microsoft.com/office/drawing/2014/main" id="{B710FE9E-9348-5491-0ADB-060FD91EC9C8}"/>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3f0084d9fe8_1_601:notes">
            <a:extLst>
              <a:ext uri="{FF2B5EF4-FFF2-40B4-BE49-F238E27FC236}">
                <a16:creationId xmlns:a16="http://schemas.microsoft.com/office/drawing/2014/main" id="{9828430B-473D-F634-6091-5C41DC5A22EC}"/>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bg-BG" dirty="0"/>
              <a:t>Така изглеждат генерираните документи – съгласие при подаване и приемане на оферта, и информативна разписка след нейното завършване.</a:t>
            </a:r>
            <a:endParaRPr dirty="0"/>
          </a:p>
        </p:txBody>
      </p:sp>
      <p:sp>
        <p:nvSpPr>
          <p:cNvPr id="674" name="Google Shape;674;g3f0084d9fe8_1_601:notes">
            <a:extLst>
              <a:ext uri="{FF2B5EF4-FFF2-40B4-BE49-F238E27FC236}">
                <a16:creationId xmlns:a16="http://schemas.microsoft.com/office/drawing/2014/main" id="{4FCD400F-88E3-8A72-31D4-D39E9E912ED1}"/>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31</a:t>
            </a:fld>
            <a:endParaRPr/>
          </a:p>
        </p:txBody>
      </p:sp>
    </p:spTree>
    <p:extLst>
      <p:ext uri="{BB962C8B-B14F-4D97-AF65-F5344CB8AC3E}">
        <p14:creationId xmlns:p14="http://schemas.microsoft.com/office/powerpoint/2010/main" val="9938463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a:extLst>
            <a:ext uri="{FF2B5EF4-FFF2-40B4-BE49-F238E27FC236}">
              <a16:creationId xmlns:a16="http://schemas.microsoft.com/office/drawing/2014/main" id="{E546022F-A7D5-2F35-8437-AE1D0EDC9865}"/>
            </a:ext>
          </a:extLst>
        </p:cNvPr>
        <p:cNvGrpSpPr/>
        <p:nvPr/>
      </p:nvGrpSpPr>
      <p:grpSpPr>
        <a:xfrm>
          <a:off x="0" y="0"/>
          <a:ext cx="0" cy="0"/>
          <a:chOff x="0" y="0"/>
          <a:chExt cx="0" cy="0"/>
        </a:xfrm>
      </p:grpSpPr>
      <p:sp>
        <p:nvSpPr>
          <p:cNvPr id="672" name="Google Shape;672;g3f0084d9fe8_1_601:notes">
            <a:extLst>
              <a:ext uri="{FF2B5EF4-FFF2-40B4-BE49-F238E27FC236}">
                <a16:creationId xmlns:a16="http://schemas.microsoft.com/office/drawing/2014/main" id="{30E3DDD9-86BB-E3F8-9E90-697AA5E46CFB}"/>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3f0084d9fe8_1_601:notes">
            <a:extLst>
              <a:ext uri="{FF2B5EF4-FFF2-40B4-BE49-F238E27FC236}">
                <a16:creationId xmlns:a16="http://schemas.microsoft.com/office/drawing/2014/main" id="{CBA94408-C796-EF90-C8E7-81585DE23E21}"/>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bg-BG" dirty="0"/>
              <a:t>Страницата за преглед на публичните потребителски профили е достъпна за всички и включва опции за търсене, филтриране и географско сортиране.</a:t>
            </a:r>
            <a:endParaRPr dirty="0"/>
          </a:p>
        </p:txBody>
      </p:sp>
      <p:sp>
        <p:nvSpPr>
          <p:cNvPr id="674" name="Google Shape;674;g3f0084d9fe8_1_601:notes">
            <a:extLst>
              <a:ext uri="{FF2B5EF4-FFF2-40B4-BE49-F238E27FC236}">
                <a16:creationId xmlns:a16="http://schemas.microsoft.com/office/drawing/2014/main" id="{77133DBA-ACE6-FADC-D369-658ED3A5F95F}"/>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32</a:t>
            </a:fld>
            <a:endParaRPr/>
          </a:p>
        </p:txBody>
      </p:sp>
    </p:spTree>
    <p:extLst>
      <p:ext uri="{BB962C8B-B14F-4D97-AF65-F5344CB8AC3E}">
        <p14:creationId xmlns:p14="http://schemas.microsoft.com/office/powerpoint/2010/main" val="23500280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a:extLst>
            <a:ext uri="{FF2B5EF4-FFF2-40B4-BE49-F238E27FC236}">
              <a16:creationId xmlns:a16="http://schemas.microsoft.com/office/drawing/2014/main" id="{F03BB336-5B1A-341F-B756-9139731E6FBF}"/>
            </a:ext>
          </a:extLst>
        </p:cNvPr>
        <p:cNvGrpSpPr/>
        <p:nvPr/>
      </p:nvGrpSpPr>
      <p:grpSpPr>
        <a:xfrm>
          <a:off x="0" y="0"/>
          <a:ext cx="0" cy="0"/>
          <a:chOff x="0" y="0"/>
          <a:chExt cx="0" cy="0"/>
        </a:xfrm>
      </p:grpSpPr>
      <p:sp>
        <p:nvSpPr>
          <p:cNvPr id="672" name="Google Shape;672;g3f0084d9fe8_1_601:notes">
            <a:extLst>
              <a:ext uri="{FF2B5EF4-FFF2-40B4-BE49-F238E27FC236}">
                <a16:creationId xmlns:a16="http://schemas.microsoft.com/office/drawing/2014/main" id="{C3AE13B5-3604-7F17-46BD-1A996A587272}"/>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3f0084d9fe8_1_601:notes">
            <a:extLst>
              <a:ext uri="{FF2B5EF4-FFF2-40B4-BE49-F238E27FC236}">
                <a16:creationId xmlns:a16="http://schemas.microsoft.com/office/drawing/2014/main" id="{EAA2D59D-8C8F-829E-8709-D77BE17F776B}"/>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bg-BG" dirty="0"/>
              <a:t>Клиентският профил включва раздели за лична информация,  публикувани обяви и получени рецензии</a:t>
            </a:r>
            <a:endParaRPr dirty="0"/>
          </a:p>
        </p:txBody>
      </p:sp>
      <p:sp>
        <p:nvSpPr>
          <p:cNvPr id="674" name="Google Shape;674;g3f0084d9fe8_1_601:notes">
            <a:extLst>
              <a:ext uri="{FF2B5EF4-FFF2-40B4-BE49-F238E27FC236}">
                <a16:creationId xmlns:a16="http://schemas.microsoft.com/office/drawing/2014/main" id="{6164AF5E-8211-9218-7959-AB2D336E281D}"/>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33</a:t>
            </a:fld>
            <a:endParaRPr/>
          </a:p>
        </p:txBody>
      </p:sp>
    </p:spTree>
    <p:extLst>
      <p:ext uri="{BB962C8B-B14F-4D97-AF65-F5344CB8AC3E}">
        <p14:creationId xmlns:p14="http://schemas.microsoft.com/office/powerpoint/2010/main" val="4900833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a:extLst>
            <a:ext uri="{FF2B5EF4-FFF2-40B4-BE49-F238E27FC236}">
              <a16:creationId xmlns:a16="http://schemas.microsoft.com/office/drawing/2014/main" id="{8CC5B2A1-6080-3A91-84B5-5286EF6AB8A2}"/>
            </a:ext>
          </a:extLst>
        </p:cNvPr>
        <p:cNvGrpSpPr/>
        <p:nvPr/>
      </p:nvGrpSpPr>
      <p:grpSpPr>
        <a:xfrm>
          <a:off x="0" y="0"/>
          <a:ext cx="0" cy="0"/>
          <a:chOff x="0" y="0"/>
          <a:chExt cx="0" cy="0"/>
        </a:xfrm>
      </p:grpSpPr>
      <p:sp>
        <p:nvSpPr>
          <p:cNvPr id="672" name="Google Shape;672;g3f0084d9fe8_1_601:notes">
            <a:extLst>
              <a:ext uri="{FF2B5EF4-FFF2-40B4-BE49-F238E27FC236}">
                <a16:creationId xmlns:a16="http://schemas.microsoft.com/office/drawing/2014/main" id="{9D720AAC-0DF3-0BEC-F9D7-BE498D25D2DD}"/>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3f0084d9fe8_1_601:notes">
            <a:extLst>
              <a:ext uri="{FF2B5EF4-FFF2-40B4-BE49-F238E27FC236}">
                <a16:creationId xmlns:a16="http://schemas.microsoft.com/office/drawing/2014/main" id="{EDAB9565-72F2-2D38-2822-90BE86EDEA19}"/>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bg-BG" dirty="0"/>
              <a:t>А профилът на специалист – раздели за лична информация, професионални данни, запазени обяви и рецензии.</a:t>
            </a:r>
            <a:endParaRPr dirty="0"/>
          </a:p>
        </p:txBody>
      </p:sp>
      <p:sp>
        <p:nvSpPr>
          <p:cNvPr id="674" name="Google Shape;674;g3f0084d9fe8_1_601:notes">
            <a:extLst>
              <a:ext uri="{FF2B5EF4-FFF2-40B4-BE49-F238E27FC236}">
                <a16:creationId xmlns:a16="http://schemas.microsoft.com/office/drawing/2014/main" id="{EB11BA8B-0588-AC95-6EDD-59D93CF7370E}"/>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34</a:t>
            </a:fld>
            <a:endParaRPr/>
          </a:p>
        </p:txBody>
      </p:sp>
    </p:spTree>
    <p:extLst>
      <p:ext uri="{BB962C8B-B14F-4D97-AF65-F5344CB8AC3E}">
        <p14:creationId xmlns:p14="http://schemas.microsoft.com/office/powerpoint/2010/main" val="10177011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a:extLst>
            <a:ext uri="{FF2B5EF4-FFF2-40B4-BE49-F238E27FC236}">
              <a16:creationId xmlns:a16="http://schemas.microsoft.com/office/drawing/2014/main" id="{BF509C30-160A-3A72-BDB1-721DA46AAD23}"/>
            </a:ext>
          </a:extLst>
        </p:cNvPr>
        <p:cNvGrpSpPr/>
        <p:nvPr/>
      </p:nvGrpSpPr>
      <p:grpSpPr>
        <a:xfrm>
          <a:off x="0" y="0"/>
          <a:ext cx="0" cy="0"/>
          <a:chOff x="0" y="0"/>
          <a:chExt cx="0" cy="0"/>
        </a:xfrm>
      </p:grpSpPr>
      <p:sp>
        <p:nvSpPr>
          <p:cNvPr id="672" name="Google Shape;672;g3f0084d9fe8_1_601:notes">
            <a:extLst>
              <a:ext uri="{FF2B5EF4-FFF2-40B4-BE49-F238E27FC236}">
                <a16:creationId xmlns:a16="http://schemas.microsoft.com/office/drawing/2014/main" id="{3D45235C-1D8E-0B32-DA62-3392C749E7DF}"/>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3f0084d9fe8_1_601:notes">
            <a:extLst>
              <a:ext uri="{FF2B5EF4-FFF2-40B4-BE49-F238E27FC236}">
                <a16:creationId xmlns:a16="http://schemas.microsoft.com/office/drawing/2014/main" id="{6E462C64-3E70-206F-5661-BCA1CF7F35B2}"/>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bg-BG" dirty="0"/>
              <a:t>Общите настройки са разделени по екрани за сигурност, настройки на акаунт и канали за известия.</a:t>
            </a:r>
            <a:endParaRPr dirty="0"/>
          </a:p>
        </p:txBody>
      </p:sp>
      <p:sp>
        <p:nvSpPr>
          <p:cNvPr id="674" name="Google Shape;674;g3f0084d9fe8_1_601:notes">
            <a:extLst>
              <a:ext uri="{FF2B5EF4-FFF2-40B4-BE49-F238E27FC236}">
                <a16:creationId xmlns:a16="http://schemas.microsoft.com/office/drawing/2014/main" id="{F4C2B007-7E30-DB84-B29A-D4FB7DAC93D7}"/>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35</a:t>
            </a:fld>
            <a:endParaRPr/>
          </a:p>
        </p:txBody>
      </p:sp>
    </p:spTree>
    <p:extLst>
      <p:ext uri="{BB962C8B-B14F-4D97-AF65-F5344CB8AC3E}">
        <p14:creationId xmlns:p14="http://schemas.microsoft.com/office/powerpoint/2010/main" val="25861385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a:extLst>
            <a:ext uri="{FF2B5EF4-FFF2-40B4-BE49-F238E27FC236}">
              <a16:creationId xmlns:a16="http://schemas.microsoft.com/office/drawing/2014/main" id="{302C891E-7289-9E27-5FB2-C65D1A3E0C88}"/>
            </a:ext>
          </a:extLst>
        </p:cNvPr>
        <p:cNvGrpSpPr/>
        <p:nvPr/>
      </p:nvGrpSpPr>
      <p:grpSpPr>
        <a:xfrm>
          <a:off x="0" y="0"/>
          <a:ext cx="0" cy="0"/>
          <a:chOff x="0" y="0"/>
          <a:chExt cx="0" cy="0"/>
        </a:xfrm>
      </p:grpSpPr>
      <p:sp>
        <p:nvSpPr>
          <p:cNvPr id="672" name="Google Shape;672;g3f0084d9fe8_1_601:notes">
            <a:extLst>
              <a:ext uri="{FF2B5EF4-FFF2-40B4-BE49-F238E27FC236}">
                <a16:creationId xmlns:a16="http://schemas.microsoft.com/office/drawing/2014/main" id="{289E28EA-58CB-2B05-69E1-58B86C1E89C5}"/>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3f0084d9fe8_1_601:notes">
            <a:extLst>
              <a:ext uri="{FF2B5EF4-FFF2-40B4-BE49-F238E27FC236}">
                <a16:creationId xmlns:a16="http://schemas.microsoft.com/office/drawing/2014/main" id="{E165D889-976C-1DE2-F211-E24697E5F34D}"/>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bg-BG" dirty="0"/>
              <a:t>Допълнително клиент може да редактира лични или фирмени данни,</a:t>
            </a:r>
            <a:endParaRPr dirty="0"/>
          </a:p>
        </p:txBody>
      </p:sp>
      <p:sp>
        <p:nvSpPr>
          <p:cNvPr id="674" name="Google Shape;674;g3f0084d9fe8_1_601:notes">
            <a:extLst>
              <a:ext uri="{FF2B5EF4-FFF2-40B4-BE49-F238E27FC236}">
                <a16:creationId xmlns:a16="http://schemas.microsoft.com/office/drawing/2014/main" id="{2A0EE9BE-DA90-7E4D-E909-88618900334F}"/>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36</a:t>
            </a:fld>
            <a:endParaRPr/>
          </a:p>
        </p:txBody>
      </p:sp>
    </p:spTree>
    <p:extLst>
      <p:ext uri="{BB962C8B-B14F-4D97-AF65-F5344CB8AC3E}">
        <p14:creationId xmlns:p14="http://schemas.microsoft.com/office/powerpoint/2010/main" val="31002682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a:extLst>
            <a:ext uri="{FF2B5EF4-FFF2-40B4-BE49-F238E27FC236}">
              <a16:creationId xmlns:a16="http://schemas.microsoft.com/office/drawing/2014/main" id="{394F6738-2DB9-48B3-8458-98E3B5017667}"/>
            </a:ext>
          </a:extLst>
        </p:cNvPr>
        <p:cNvGrpSpPr/>
        <p:nvPr/>
      </p:nvGrpSpPr>
      <p:grpSpPr>
        <a:xfrm>
          <a:off x="0" y="0"/>
          <a:ext cx="0" cy="0"/>
          <a:chOff x="0" y="0"/>
          <a:chExt cx="0" cy="0"/>
        </a:xfrm>
      </p:grpSpPr>
      <p:sp>
        <p:nvSpPr>
          <p:cNvPr id="672" name="Google Shape;672;g3f0084d9fe8_1_601:notes">
            <a:extLst>
              <a:ext uri="{FF2B5EF4-FFF2-40B4-BE49-F238E27FC236}">
                <a16:creationId xmlns:a16="http://schemas.microsoft.com/office/drawing/2014/main" id="{D1607DC5-E17D-0EC2-8BA3-81F2DD9F47FF}"/>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3f0084d9fe8_1_601:notes">
            <a:extLst>
              <a:ext uri="{FF2B5EF4-FFF2-40B4-BE49-F238E27FC236}">
                <a16:creationId xmlns:a16="http://schemas.microsoft.com/office/drawing/2014/main" id="{5BE9BDD6-3884-BA1A-8476-76358DB36AE7}"/>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bg-BG" dirty="0"/>
              <a:t>А специалист – професионална информация като умения,</a:t>
            </a:r>
            <a:endParaRPr dirty="0"/>
          </a:p>
        </p:txBody>
      </p:sp>
      <p:sp>
        <p:nvSpPr>
          <p:cNvPr id="674" name="Google Shape;674;g3f0084d9fe8_1_601:notes">
            <a:extLst>
              <a:ext uri="{FF2B5EF4-FFF2-40B4-BE49-F238E27FC236}">
                <a16:creationId xmlns:a16="http://schemas.microsoft.com/office/drawing/2014/main" id="{85C91A50-C875-C176-88F6-2804E1B3F912}"/>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37</a:t>
            </a:fld>
            <a:endParaRPr/>
          </a:p>
        </p:txBody>
      </p:sp>
    </p:spTree>
    <p:extLst>
      <p:ext uri="{BB962C8B-B14F-4D97-AF65-F5344CB8AC3E}">
        <p14:creationId xmlns:p14="http://schemas.microsoft.com/office/powerpoint/2010/main" val="348219873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a:extLst>
            <a:ext uri="{FF2B5EF4-FFF2-40B4-BE49-F238E27FC236}">
              <a16:creationId xmlns:a16="http://schemas.microsoft.com/office/drawing/2014/main" id="{FCBEC742-2C76-145E-06CC-4A95218202E2}"/>
            </a:ext>
          </a:extLst>
        </p:cNvPr>
        <p:cNvGrpSpPr/>
        <p:nvPr/>
      </p:nvGrpSpPr>
      <p:grpSpPr>
        <a:xfrm>
          <a:off x="0" y="0"/>
          <a:ext cx="0" cy="0"/>
          <a:chOff x="0" y="0"/>
          <a:chExt cx="0" cy="0"/>
        </a:xfrm>
      </p:grpSpPr>
      <p:sp>
        <p:nvSpPr>
          <p:cNvPr id="672" name="Google Shape;672;g3f0084d9fe8_1_601:notes">
            <a:extLst>
              <a:ext uri="{FF2B5EF4-FFF2-40B4-BE49-F238E27FC236}">
                <a16:creationId xmlns:a16="http://schemas.microsoft.com/office/drawing/2014/main" id="{ED47B62B-E88A-BB61-7C6A-5ED836AF3A9A}"/>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3f0084d9fe8_1_601:notes">
            <a:extLst>
              <a:ext uri="{FF2B5EF4-FFF2-40B4-BE49-F238E27FC236}">
                <a16:creationId xmlns:a16="http://schemas.microsoft.com/office/drawing/2014/main" id="{F0C14094-AFF2-2C40-0C23-51C3816F81B4}"/>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bg-BG" dirty="0"/>
              <a:t>Работен стаж, придобити квалификации и образование</a:t>
            </a:r>
            <a:endParaRPr dirty="0"/>
          </a:p>
        </p:txBody>
      </p:sp>
      <p:sp>
        <p:nvSpPr>
          <p:cNvPr id="674" name="Google Shape;674;g3f0084d9fe8_1_601:notes">
            <a:extLst>
              <a:ext uri="{FF2B5EF4-FFF2-40B4-BE49-F238E27FC236}">
                <a16:creationId xmlns:a16="http://schemas.microsoft.com/office/drawing/2014/main" id="{943BACC0-31FD-55A5-5079-83C456EBCB2F}"/>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38</a:t>
            </a:fld>
            <a:endParaRPr/>
          </a:p>
        </p:txBody>
      </p:sp>
    </p:spTree>
    <p:extLst>
      <p:ext uri="{BB962C8B-B14F-4D97-AF65-F5344CB8AC3E}">
        <p14:creationId xmlns:p14="http://schemas.microsoft.com/office/powerpoint/2010/main" val="79296096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a:extLst>
            <a:ext uri="{FF2B5EF4-FFF2-40B4-BE49-F238E27FC236}">
              <a16:creationId xmlns:a16="http://schemas.microsoft.com/office/drawing/2014/main" id="{B0FF076D-25C2-3D3C-87D7-3F021027BF4A}"/>
            </a:ext>
          </a:extLst>
        </p:cNvPr>
        <p:cNvGrpSpPr/>
        <p:nvPr/>
      </p:nvGrpSpPr>
      <p:grpSpPr>
        <a:xfrm>
          <a:off x="0" y="0"/>
          <a:ext cx="0" cy="0"/>
          <a:chOff x="0" y="0"/>
          <a:chExt cx="0" cy="0"/>
        </a:xfrm>
      </p:grpSpPr>
      <p:sp>
        <p:nvSpPr>
          <p:cNvPr id="672" name="Google Shape;672;g3f0084d9fe8_1_601:notes">
            <a:extLst>
              <a:ext uri="{FF2B5EF4-FFF2-40B4-BE49-F238E27FC236}">
                <a16:creationId xmlns:a16="http://schemas.microsoft.com/office/drawing/2014/main" id="{BAA32B20-5ABA-0906-6A6D-5ADA896C9BE8}"/>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3f0084d9fe8_1_601:notes">
            <a:extLst>
              <a:ext uri="{FF2B5EF4-FFF2-40B4-BE49-F238E27FC236}">
                <a16:creationId xmlns:a16="http://schemas.microsoft.com/office/drawing/2014/main" id="{AC648B6E-80F8-6493-DA1C-76A4D69DE3A3}"/>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bg-BG" dirty="0"/>
              <a:t>Като от въведените данни има възможност да се генерира резюме за кандидатстване по оферти.</a:t>
            </a:r>
            <a:endParaRPr dirty="0"/>
          </a:p>
        </p:txBody>
      </p:sp>
      <p:sp>
        <p:nvSpPr>
          <p:cNvPr id="674" name="Google Shape;674;g3f0084d9fe8_1_601:notes">
            <a:extLst>
              <a:ext uri="{FF2B5EF4-FFF2-40B4-BE49-F238E27FC236}">
                <a16:creationId xmlns:a16="http://schemas.microsoft.com/office/drawing/2014/main" id="{47049CD1-7304-61CE-5D70-59D6CB56130F}"/>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39</a:t>
            </a:fld>
            <a:endParaRPr/>
          </a:p>
        </p:txBody>
      </p:sp>
    </p:spTree>
    <p:extLst>
      <p:ext uri="{BB962C8B-B14F-4D97-AF65-F5344CB8AC3E}">
        <p14:creationId xmlns:p14="http://schemas.microsoft.com/office/powerpoint/2010/main" val="36147882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a:extLst>
            <a:ext uri="{FF2B5EF4-FFF2-40B4-BE49-F238E27FC236}">
              <a16:creationId xmlns:a16="http://schemas.microsoft.com/office/drawing/2014/main" id="{A6D21DC0-CE90-9010-0E6B-C7D197F30770}"/>
            </a:ext>
          </a:extLst>
        </p:cNvPr>
        <p:cNvGrpSpPr/>
        <p:nvPr/>
      </p:nvGrpSpPr>
      <p:grpSpPr>
        <a:xfrm>
          <a:off x="0" y="0"/>
          <a:ext cx="0" cy="0"/>
          <a:chOff x="0" y="0"/>
          <a:chExt cx="0" cy="0"/>
        </a:xfrm>
      </p:grpSpPr>
      <p:sp>
        <p:nvSpPr>
          <p:cNvPr id="672" name="Google Shape;672;g3f0084d9fe8_1_601:notes">
            <a:extLst>
              <a:ext uri="{FF2B5EF4-FFF2-40B4-BE49-F238E27FC236}">
                <a16:creationId xmlns:a16="http://schemas.microsoft.com/office/drawing/2014/main" id="{0E9AAFD4-82F6-115B-30FA-3C704AE254D9}"/>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3f0084d9fe8_1_601:notes">
            <a:extLst>
              <a:ext uri="{FF2B5EF4-FFF2-40B4-BE49-F238E27FC236}">
                <a16:creationId xmlns:a16="http://schemas.microsoft.com/office/drawing/2014/main" id="{417AC64B-745F-AACB-E568-89518FEBD2F0}"/>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bg-BG" dirty="0"/>
              <a:t>Системата предоставя поток от известия с различен тип и съдържание, и страница за чат, обвързан с конкретна оферта.</a:t>
            </a:r>
            <a:endParaRPr dirty="0"/>
          </a:p>
        </p:txBody>
      </p:sp>
      <p:sp>
        <p:nvSpPr>
          <p:cNvPr id="674" name="Google Shape;674;g3f0084d9fe8_1_601:notes">
            <a:extLst>
              <a:ext uri="{FF2B5EF4-FFF2-40B4-BE49-F238E27FC236}">
                <a16:creationId xmlns:a16="http://schemas.microsoft.com/office/drawing/2014/main" id="{A7B1A556-63A3-7755-918C-FC7038C83CCC}"/>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40</a:t>
            </a:fld>
            <a:endParaRPr/>
          </a:p>
        </p:txBody>
      </p:sp>
    </p:spTree>
    <p:extLst>
      <p:ext uri="{BB962C8B-B14F-4D97-AF65-F5344CB8AC3E}">
        <p14:creationId xmlns:p14="http://schemas.microsoft.com/office/powerpoint/2010/main" val="212572485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a:extLst>
            <a:ext uri="{FF2B5EF4-FFF2-40B4-BE49-F238E27FC236}">
              <a16:creationId xmlns:a16="http://schemas.microsoft.com/office/drawing/2014/main" id="{B40A9B38-5172-0679-CFD4-9A65CEE6BC1D}"/>
            </a:ext>
          </a:extLst>
        </p:cNvPr>
        <p:cNvGrpSpPr/>
        <p:nvPr/>
      </p:nvGrpSpPr>
      <p:grpSpPr>
        <a:xfrm>
          <a:off x="0" y="0"/>
          <a:ext cx="0" cy="0"/>
          <a:chOff x="0" y="0"/>
          <a:chExt cx="0" cy="0"/>
        </a:xfrm>
      </p:grpSpPr>
      <p:sp>
        <p:nvSpPr>
          <p:cNvPr id="672" name="Google Shape;672;g3f0084d9fe8_1_601:notes">
            <a:extLst>
              <a:ext uri="{FF2B5EF4-FFF2-40B4-BE49-F238E27FC236}">
                <a16:creationId xmlns:a16="http://schemas.microsoft.com/office/drawing/2014/main" id="{2727EA77-415D-B078-258E-F3AE5574451D}"/>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3f0084d9fe8_1_601:notes">
            <a:extLst>
              <a:ext uri="{FF2B5EF4-FFF2-40B4-BE49-F238E27FC236}">
                <a16:creationId xmlns:a16="http://schemas.microsoft.com/office/drawing/2014/main" id="{566E211B-F68F-BAB8-26D5-68EF0D3CD973}"/>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ru-RU" dirty="0"/>
              <a:t>Изграден е и напълно отделен Административен панел за цялостен мониторинг, който включва преглед на основни статистики...</a:t>
            </a:r>
            <a:endParaRPr dirty="0"/>
          </a:p>
        </p:txBody>
      </p:sp>
      <p:sp>
        <p:nvSpPr>
          <p:cNvPr id="674" name="Google Shape;674;g3f0084d9fe8_1_601:notes">
            <a:extLst>
              <a:ext uri="{FF2B5EF4-FFF2-40B4-BE49-F238E27FC236}">
                <a16:creationId xmlns:a16="http://schemas.microsoft.com/office/drawing/2014/main" id="{19674392-F247-D5FB-3642-E4B01CFE2479}"/>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41</a:t>
            </a:fld>
            <a:endParaRPr/>
          </a:p>
        </p:txBody>
      </p:sp>
    </p:spTree>
    <p:extLst>
      <p:ext uri="{BB962C8B-B14F-4D97-AF65-F5344CB8AC3E}">
        <p14:creationId xmlns:p14="http://schemas.microsoft.com/office/powerpoint/2010/main" val="15450817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a:extLst>
            <a:ext uri="{FF2B5EF4-FFF2-40B4-BE49-F238E27FC236}">
              <a16:creationId xmlns:a16="http://schemas.microsoft.com/office/drawing/2014/main" id="{1AD35DF3-0D17-5D0B-1610-FA9ACF9DA864}"/>
            </a:ext>
          </a:extLst>
        </p:cNvPr>
        <p:cNvGrpSpPr/>
        <p:nvPr/>
      </p:nvGrpSpPr>
      <p:grpSpPr>
        <a:xfrm>
          <a:off x="0" y="0"/>
          <a:ext cx="0" cy="0"/>
          <a:chOff x="0" y="0"/>
          <a:chExt cx="0" cy="0"/>
        </a:xfrm>
      </p:grpSpPr>
      <p:sp>
        <p:nvSpPr>
          <p:cNvPr id="672" name="Google Shape;672;g3f0084d9fe8_1_601:notes">
            <a:extLst>
              <a:ext uri="{FF2B5EF4-FFF2-40B4-BE49-F238E27FC236}">
                <a16:creationId xmlns:a16="http://schemas.microsoft.com/office/drawing/2014/main" id="{3C874671-544A-1C5C-DF20-6A0E12BC96D1}"/>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3f0084d9fe8_1_601:notes">
            <a:extLst>
              <a:ext uri="{FF2B5EF4-FFF2-40B4-BE49-F238E27FC236}">
                <a16:creationId xmlns:a16="http://schemas.microsoft.com/office/drawing/2014/main" id="{556D80D7-D3A1-56BF-2574-520168B7FF1D}"/>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ru-RU" dirty="0"/>
              <a:t>Управление на потребители, с опции за задържане или изтриване на акаунт...</a:t>
            </a:r>
            <a:endParaRPr dirty="0"/>
          </a:p>
        </p:txBody>
      </p:sp>
      <p:sp>
        <p:nvSpPr>
          <p:cNvPr id="674" name="Google Shape;674;g3f0084d9fe8_1_601:notes">
            <a:extLst>
              <a:ext uri="{FF2B5EF4-FFF2-40B4-BE49-F238E27FC236}">
                <a16:creationId xmlns:a16="http://schemas.microsoft.com/office/drawing/2014/main" id="{FC2E43CB-B90A-705D-5F42-9CFA2BB87B50}"/>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42</a:t>
            </a:fld>
            <a:endParaRPr/>
          </a:p>
        </p:txBody>
      </p:sp>
    </p:spTree>
    <p:extLst>
      <p:ext uri="{BB962C8B-B14F-4D97-AF65-F5344CB8AC3E}">
        <p14:creationId xmlns:p14="http://schemas.microsoft.com/office/powerpoint/2010/main" val="14159077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a:extLst>
            <a:ext uri="{FF2B5EF4-FFF2-40B4-BE49-F238E27FC236}">
              <a16:creationId xmlns:a16="http://schemas.microsoft.com/office/drawing/2014/main" id="{C4F64710-BC87-655E-0C36-85C00214A54D}"/>
            </a:ext>
          </a:extLst>
        </p:cNvPr>
        <p:cNvGrpSpPr/>
        <p:nvPr/>
      </p:nvGrpSpPr>
      <p:grpSpPr>
        <a:xfrm>
          <a:off x="0" y="0"/>
          <a:ext cx="0" cy="0"/>
          <a:chOff x="0" y="0"/>
          <a:chExt cx="0" cy="0"/>
        </a:xfrm>
      </p:grpSpPr>
      <p:sp>
        <p:nvSpPr>
          <p:cNvPr id="672" name="Google Shape;672;g3f0084d9fe8_1_601:notes">
            <a:extLst>
              <a:ext uri="{FF2B5EF4-FFF2-40B4-BE49-F238E27FC236}">
                <a16:creationId xmlns:a16="http://schemas.microsoft.com/office/drawing/2014/main" id="{C0571188-780E-5BE1-E92D-DD28F7D599BE}"/>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3f0084d9fe8_1_601:notes">
            <a:extLst>
              <a:ext uri="{FF2B5EF4-FFF2-40B4-BE49-F238E27FC236}">
                <a16:creationId xmlns:a16="http://schemas.microsoft.com/office/drawing/2014/main" id="{C8C24762-893A-0DA1-3AB4-3984A264EB74}"/>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ru-RU" dirty="0"/>
              <a:t>Упраление на обяви и преглед на оферти...</a:t>
            </a:r>
            <a:endParaRPr dirty="0"/>
          </a:p>
        </p:txBody>
      </p:sp>
      <p:sp>
        <p:nvSpPr>
          <p:cNvPr id="674" name="Google Shape;674;g3f0084d9fe8_1_601:notes">
            <a:extLst>
              <a:ext uri="{FF2B5EF4-FFF2-40B4-BE49-F238E27FC236}">
                <a16:creationId xmlns:a16="http://schemas.microsoft.com/office/drawing/2014/main" id="{724D8AD3-925B-D011-56FD-2BBDA52E3892}"/>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43</a:t>
            </a:fld>
            <a:endParaRPr/>
          </a:p>
        </p:txBody>
      </p:sp>
    </p:spTree>
    <p:extLst>
      <p:ext uri="{BB962C8B-B14F-4D97-AF65-F5344CB8AC3E}">
        <p14:creationId xmlns:p14="http://schemas.microsoft.com/office/powerpoint/2010/main" val="372428629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a:extLst>
            <a:ext uri="{FF2B5EF4-FFF2-40B4-BE49-F238E27FC236}">
              <a16:creationId xmlns:a16="http://schemas.microsoft.com/office/drawing/2014/main" id="{6E482F1D-ACF6-1330-87B3-B680764F5037}"/>
            </a:ext>
          </a:extLst>
        </p:cNvPr>
        <p:cNvGrpSpPr/>
        <p:nvPr/>
      </p:nvGrpSpPr>
      <p:grpSpPr>
        <a:xfrm>
          <a:off x="0" y="0"/>
          <a:ext cx="0" cy="0"/>
          <a:chOff x="0" y="0"/>
          <a:chExt cx="0" cy="0"/>
        </a:xfrm>
      </p:grpSpPr>
      <p:sp>
        <p:nvSpPr>
          <p:cNvPr id="672" name="Google Shape;672;g3f0084d9fe8_1_601:notes">
            <a:extLst>
              <a:ext uri="{FF2B5EF4-FFF2-40B4-BE49-F238E27FC236}">
                <a16:creationId xmlns:a16="http://schemas.microsoft.com/office/drawing/2014/main" id="{7BC11C52-8310-2C3A-2C29-F5BEAEDC2455}"/>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3f0084d9fe8_1_601:notes">
            <a:extLst>
              <a:ext uri="{FF2B5EF4-FFF2-40B4-BE49-F238E27FC236}">
                <a16:creationId xmlns:a16="http://schemas.microsoft.com/office/drawing/2014/main" id="{8C8900D9-7239-1F48-6185-2911F80BD909}"/>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ru-RU" dirty="0"/>
              <a:t>Модериране на доклади за нередности с потребителски профили, рецензии и обяви... </a:t>
            </a:r>
            <a:endParaRPr dirty="0"/>
          </a:p>
        </p:txBody>
      </p:sp>
      <p:sp>
        <p:nvSpPr>
          <p:cNvPr id="674" name="Google Shape;674;g3f0084d9fe8_1_601:notes">
            <a:extLst>
              <a:ext uri="{FF2B5EF4-FFF2-40B4-BE49-F238E27FC236}">
                <a16:creationId xmlns:a16="http://schemas.microsoft.com/office/drawing/2014/main" id="{78109729-D8CF-1379-63EF-48EEFBA10607}"/>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44</a:t>
            </a:fld>
            <a:endParaRPr/>
          </a:p>
        </p:txBody>
      </p:sp>
    </p:spTree>
    <p:extLst>
      <p:ext uri="{BB962C8B-B14F-4D97-AF65-F5344CB8AC3E}">
        <p14:creationId xmlns:p14="http://schemas.microsoft.com/office/powerpoint/2010/main" val="23726789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a:extLst>
            <a:ext uri="{FF2B5EF4-FFF2-40B4-BE49-F238E27FC236}">
              <a16:creationId xmlns:a16="http://schemas.microsoft.com/office/drawing/2014/main" id="{2ADA2035-7B57-6920-57DB-394330C422F4}"/>
            </a:ext>
          </a:extLst>
        </p:cNvPr>
        <p:cNvGrpSpPr/>
        <p:nvPr/>
      </p:nvGrpSpPr>
      <p:grpSpPr>
        <a:xfrm>
          <a:off x="0" y="0"/>
          <a:ext cx="0" cy="0"/>
          <a:chOff x="0" y="0"/>
          <a:chExt cx="0" cy="0"/>
        </a:xfrm>
      </p:grpSpPr>
      <p:sp>
        <p:nvSpPr>
          <p:cNvPr id="672" name="Google Shape;672;g3f0084d9fe8_1_601:notes">
            <a:extLst>
              <a:ext uri="{FF2B5EF4-FFF2-40B4-BE49-F238E27FC236}">
                <a16:creationId xmlns:a16="http://schemas.microsoft.com/office/drawing/2014/main" id="{FE33ED60-79F0-A31A-59A8-DA46FA430DC7}"/>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3f0084d9fe8_1_601:notes">
            <a:extLst>
              <a:ext uri="{FF2B5EF4-FFF2-40B4-BE49-F238E27FC236}">
                <a16:creationId xmlns:a16="http://schemas.microsoft.com/office/drawing/2014/main" id="{1F3A4C99-F062-C2BE-1718-6E2D50891B4A}"/>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ru-RU" dirty="0"/>
              <a:t>Динамично управление на системния каталог от умения и категории...</a:t>
            </a:r>
            <a:endParaRPr dirty="0"/>
          </a:p>
        </p:txBody>
      </p:sp>
      <p:sp>
        <p:nvSpPr>
          <p:cNvPr id="674" name="Google Shape;674;g3f0084d9fe8_1_601:notes">
            <a:extLst>
              <a:ext uri="{FF2B5EF4-FFF2-40B4-BE49-F238E27FC236}">
                <a16:creationId xmlns:a16="http://schemas.microsoft.com/office/drawing/2014/main" id="{80CD5637-D4FA-A397-F3C6-CDDAE5FAC847}"/>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45</a:t>
            </a:fld>
            <a:endParaRPr/>
          </a:p>
        </p:txBody>
      </p:sp>
    </p:spTree>
    <p:extLst>
      <p:ext uri="{BB962C8B-B14F-4D97-AF65-F5344CB8AC3E}">
        <p14:creationId xmlns:p14="http://schemas.microsoft.com/office/powerpoint/2010/main" val="41587797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a:extLst>
            <a:ext uri="{FF2B5EF4-FFF2-40B4-BE49-F238E27FC236}">
              <a16:creationId xmlns:a16="http://schemas.microsoft.com/office/drawing/2014/main" id="{A3FCFA69-3BE4-4A12-61AC-DC4CE2E33C5C}"/>
            </a:ext>
          </a:extLst>
        </p:cNvPr>
        <p:cNvGrpSpPr/>
        <p:nvPr/>
      </p:nvGrpSpPr>
      <p:grpSpPr>
        <a:xfrm>
          <a:off x="0" y="0"/>
          <a:ext cx="0" cy="0"/>
          <a:chOff x="0" y="0"/>
          <a:chExt cx="0" cy="0"/>
        </a:xfrm>
      </p:grpSpPr>
      <p:sp>
        <p:nvSpPr>
          <p:cNvPr id="672" name="Google Shape;672;g3f0084d9fe8_1_601:notes">
            <a:extLst>
              <a:ext uri="{FF2B5EF4-FFF2-40B4-BE49-F238E27FC236}">
                <a16:creationId xmlns:a16="http://schemas.microsoft.com/office/drawing/2014/main" id="{D9212CAA-4D58-D5AA-3B8B-B73EA31C6068}"/>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3f0084d9fe8_1_601:notes">
            <a:extLst>
              <a:ext uri="{FF2B5EF4-FFF2-40B4-BE49-F238E27FC236}">
                <a16:creationId xmlns:a16="http://schemas.microsoft.com/office/drawing/2014/main" id="{1A0F9993-E86A-B76A-F174-7537C6CEAC85}"/>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bg-BG" dirty="0"/>
              <a:t>Изпращане на масови електронни писма и уеб известия...</a:t>
            </a:r>
            <a:endParaRPr dirty="0"/>
          </a:p>
        </p:txBody>
      </p:sp>
      <p:sp>
        <p:nvSpPr>
          <p:cNvPr id="674" name="Google Shape;674;g3f0084d9fe8_1_601:notes">
            <a:extLst>
              <a:ext uri="{FF2B5EF4-FFF2-40B4-BE49-F238E27FC236}">
                <a16:creationId xmlns:a16="http://schemas.microsoft.com/office/drawing/2014/main" id="{C2029755-FD7A-9C8D-7D2E-6D3CB2E6E328}"/>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46</a:t>
            </a:fld>
            <a:endParaRPr/>
          </a:p>
        </p:txBody>
      </p:sp>
    </p:spTree>
    <p:extLst>
      <p:ext uri="{BB962C8B-B14F-4D97-AF65-F5344CB8AC3E}">
        <p14:creationId xmlns:p14="http://schemas.microsoft.com/office/powerpoint/2010/main" val="178895224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a:extLst>
            <a:ext uri="{FF2B5EF4-FFF2-40B4-BE49-F238E27FC236}">
              <a16:creationId xmlns:a16="http://schemas.microsoft.com/office/drawing/2014/main" id="{304CDF84-AA9B-C1DA-127F-8D679709A8C6}"/>
            </a:ext>
          </a:extLst>
        </p:cNvPr>
        <p:cNvGrpSpPr/>
        <p:nvPr/>
      </p:nvGrpSpPr>
      <p:grpSpPr>
        <a:xfrm>
          <a:off x="0" y="0"/>
          <a:ext cx="0" cy="0"/>
          <a:chOff x="0" y="0"/>
          <a:chExt cx="0" cy="0"/>
        </a:xfrm>
      </p:grpSpPr>
      <p:sp>
        <p:nvSpPr>
          <p:cNvPr id="672" name="Google Shape;672;g3f0084d9fe8_1_601:notes">
            <a:extLst>
              <a:ext uri="{FF2B5EF4-FFF2-40B4-BE49-F238E27FC236}">
                <a16:creationId xmlns:a16="http://schemas.microsoft.com/office/drawing/2014/main" id="{6D244C99-8D2E-BE5E-CAD5-1C08F40C3AD2}"/>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3f0084d9fe8_1_601:notes">
            <a:extLst>
              <a:ext uri="{FF2B5EF4-FFF2-40B4-BE49-F238E27FC236}">
                <a16:creationId xmlns:a16="http://schemas.microsoft.com/office/drawing/2014/main" id="{70730D71-5C00-CEEF-6AD2-0BFDB07B3435}"/>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ru-RU" dirty="0"/>
              <a:t>Табло за системни настройки с възможност за режим на системна поддръжка и блокиране на нови регистрации...</a:t>
            </a:r>
          </a:p>
          <a:p>
            <a:pPr marL="0" lvl="0" indent="0" algn="l" rtl="0">
              <a:spcBef>
                <a:spcPts val="0"/>
              </a:spcBef>
              <a:spcAft>
                <a:spcPts val="0"/>
              </a:spcAft>
              <a:buNone/>
            </a:pPr>
            <a:endParaRPr dirty="0"/>
          </a:p>
        </p:txBody>
      </p:sp>
      <p:sp>
        <p:nvSpPr>
          <p:cNvPr id="674" name="Google Shape;674;g3f0084d9fe8_1_601:notes">
            <a:extLst>
              <a:ext uri="{FF2B5EF4-FFF2-40B4-BE49-F238E27FC236}">
                <a16:creationId xmlns:a16="http://schemas.microsoft.com/office/drawing/2014/main" id="{A70D86DD-9327-C380-FDF5-A18E177DE0E9}"/>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47</a:t>
            </a:fld>
            <a:endParaRPr/>
          </a:p>
        </p:txBody>
      </p:sp>
    </p:spTree>
    <p:extLst>
      <p:ext uri="{BB962C8B-B14F-4D97-AF65-F5344CB8AC3E}">
        <p14:creationId xmlns:p14="http://schemas.microsoft.com/office/powerpoint/2010/main" val="211840725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a:extLst>
            <a:ext uri="{FF2B5EF4-FFF2-40B4-BE49-F238E27FC236}">
              <a16:creationId xmlns:a16="http://schemas.microsoft.com/office/drawing/2014/main" id="{D1E2D299-BB96-C14F-4B06-93DAEEA3781F}"/>
            </a:ext>
          </a:extLst>
        </p:cNvPr>
        <p:cNvGrpSpPr/>
        <p:nvPr/>
      </p:nvGrpSpPr>
      <p:grpSpPr>
        <a:xfrm>
          <a:off x="0" y="0"/>
          <a:ext cx="0" cy="0"/>
          <a:chOff x="0" y="0"/>
          <a:chExt cx="0" cy="0"/>
        </a:xfrm>
      </p:grpSpPr>
      <p:sp>
        <p:nvSpPr>
          <p:cNvPr id="672" name="Google Shape;672;g3f0084d9fe8_1_601:notes">
            <a:extLst>
              <a:ext uri="{FF2B5EF4-FFF2-40B4-BE49-F238E27FC236}">
                <a16:creationId xmlns:a16="http://schemas.microsoft.com/office/drawing/2014/main" id="{DA90889D-4968-DF5C-0A89-55CA1E922135}"/>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3f0084d9fe8_1_601:notes">
            <a:extLst>
              <a:ext uri="{FF2B5EF4-FFF2-40B4-BE49-F238E27FC236}">
                <a16:creationId xmlns:a16="http://schemas.microsoft.com/office/drawing/2014/main" id="{905C095B-8990-CEFA-7A71-56EFDB187FB0}"/>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bg-BG" dirty="0"/>
              <a:t>Лични потребителски настройки...</a:t>
            </a:r>
            <a:endParaRPr dirty="0"/>
          </a:p>
        </p:txBody>
      </p:sp>
      <p:sp>
        <p:nvSpPr>
          <p:cNvPr id="674" name="Google Shape;674;g3f0084d9fe8_1_601:notes">
            <a:extLst>
              <a:ext uri="{FF2B5EF4-FFF2-40B4-BE49-F238E27FC236}">
                <a16:creationId xmlns:a16="http://schemas.microsoft.com/office/drawing/2014/main" id="{A3A9E4EE-0B8D-7861-A5F0-1C034E7F61F1}"/>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48</a:t>
            </a:fld>
            <a:endParaRPr/>
          </a:p>
        </p:txBody>
      </p:sp>
    </p:spTree>
    <p:extLst>
      <p:ext uri="{BB962C8B-B14F-4D97-AF65-F5344CB8AC3E}">
        <p14:creationId xmlns:p14="http://schemas.microsoft.com/office/powerpoint/2010/main" val="332314674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a:extLst>
            <a:ext uri="{FF2B5EF4-FFF2-40B4-BE49-F238E27FC236}">
              <a16:creationId xmlns:a16="http://schemas.microsoft.com/office/drawing/2014/main" id="{1E5D4C41-310C-37ED-AA26-D51CAF332365}"/>
            </a:ext>
          </a:extLst>
        </p:cNvPr>
        <p:cNvGrpSpPr/>
        <p:nvPr/>
      </p:nvGrpSpPr>
      <p:grpSpPr>
        <a:xfrm>
          <a:off x="0" y="0"/>
          <a:ext cx="0" cy="0"/>
          <a:chOff x="0" y="0"/>
          <a:chExt cx="0" cy="0"/>
        </a:xfrm>
      </p:grpSpPr>
      <p:sp>
        <p:nvSpPr>
          <p:cNvPr id="672" name="Google Shape;672;g3f0084d9fe8_1_601:notes">
            <a:extLst>
              <a:ext uri="{FF2B5EF4-FFF2-40B4-BE49-F238E27FC236}">
                <a16:creationId xmlns:a16="http://schemas.microsoft.com/office/drawing/2014/main" id="{6C8A2D04-A618-5CA4-C24D-B6DBABEA791A}"/>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3f0084d9fe8_1_601:notes">
            <a:extLst>
              <a:ext uri="{FF2B5EF4-FFF2-40B4-BE49-F238E27FC236}">
                <a16:creationId xmlns:a16="http://schemas.microsoft.com/office/drawing/2014/main" id="{7EC48E35-AED6-45CE-4121-C5243BC0B397}"/>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bg-BG" dirty="0"/>
              <a:t>И преглед и добавяне на администратори на системата.</a:t>
            </a:r>
            <a:endParaRPr dirty="0"/>
          </a:p>
        </p:txBody>
      </p:sp>
      <p:sp>
        <p:nvSpPr>
          <p:cNvPr id="674" name="Google Shape;674;g3f0084d9fe8_1_601:notes">
            <a:extLst>
              <a:ext uri="{FF2B5EF4-FFF2-40B4-BE49-F238E27FC236}">
                <a16:creationId xmlns:a16="http://schemas.microsoft.com/office/drawing/2014/main" id="{FE07B597-ED0E-2544-7181-2849799A3EA6}"/>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49</a:t>
            </a:fld>
            <a:endParaRPr/>
          </a:p>
        </p:txBody>
      </p:sp>
    </p:spTree>
    <p:extLst>
      <p:ext uri="{BB962C8B-B14F-4D97-AF65-F5344CB8AC3E}">
        <p14:creationId xmlns:p14="http://schemas.microsoft.com/office/powerpoint/2010/main" val="136271417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53F23912-34AA-DA55-1EA7-E44F64D9E6B8}"/>
            </a:ext>
          </a:extLst>
        </p:cNvPr>
        <p:cNvGrpSpPr/>
        <p:nvPr/>
      </p:nvGrpSpPr>
      <p:grpSpPr>
        <a:xfrm>
          <a:off x="0" y="0"/>
          <a:ext cx="0" cy="0"/>
          <a:chOff x="0" y="0"/>
          <a:chExt cx="0" cy="0"/>
        </a:xfrm>
      </p:grpSpPr>
      <p:sp>
        <p:nvSpPr>
          <p:cNvPr id="199" name="Google Shape;199;g3f0084d9fe8_1_145:notes">
            <a:extLst>
              <a:ext uri="{FF2B5EF4-FFF2-40B4-BE49-F238E27FC236}">
                <a16:creationId xmlns:a16="http://schemas.microsoft.com/office/drawing/2014/main" id="{C410F6BE-93C9-EA22-37B8-95A55C86F33B}"/>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g3f0084d9fe8_1_145:notes">
            <a:extLst>
              <a:ext uri="{FF2B5EF4-FFF2-40B4-BE49-F238E27FC236}">
                <a16:creationId xmlns:a16="http://schemas.microsoft.com/office/drawing/2014/main" id="{F85C1311-4412-27A8-6FEC-A18DC0F19209}"/>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158750" indent="0">
              <a:buNone/>
            </a:pPr>
            <a:r>
              <a:rPr lang="ru-RU" dirty="0"/>
              <a:t>Реализирана е цялостна уеб платформа, която обединява управление на профили, обяви, оферти, комуникация, генериране на документи и административен контрол. Като бъдещо развитие са планирани мобилно приложение, интеграция на плащания, съпоставяне и модерация базирани на изкуствен интелект, и поддръжка на множество езици и валути.</a:t>
            </a:r>
          </a:p>
        </p:txBody>
      </p:sp>
      <p:sp>
        <p:nvSpPr>
          <p:cNvPr id="201" name="Google Shape;201;g3f0084d9fe8_1_145:notes">
            <a:extLst>
              <a:ext uri="{FF2B5EF4-FFF2-40B4-BE49-F238E27FC236}">
                <a16:creationId xmlns:a16="http://schemas.microsoft.com/office/drawing/2014/main" id="{88AF131F-4962-AEAA-CB6F-8A39E3B425A4}"/>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50</a:t>
            </a:fld>
            <a:endParaRPr/>
          </a:p>
        </p:txBody>
      </p:sp>
    </p:spTree>
    <p:extLst>
      <p:ext uri="{BB962C8B-B14F-4D97-AF65-F5344CB8AC3E}">
        <p14:creationId xmlns:p14="http://schemas.microsoft.com/office/powerpoint/2010/main" val="155339868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g3f0084d9fe8_1_685:notes"/>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1" name="Google Shape;761;g3f0084d9fe8_1_685:notes"/>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ru-RU" dirty="0"/>
              <a:t>Благодаря за вниманието.</a:t>
            </a:r>
            <a:endParaRPr dirty="0"/>
          </a:p>
        </p:txBody>
      </p:sp>
      <p:sp>
        <p:nvSpPr>
          <p:cNvPr id="762" name="Google Shape;762;g3f0084d9fe8_1_685:notes"/>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51</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15B796D4-F6DE-9AA0-A6FD-3095F895D256}"/>
            </a:ext>
          </a:extLst>
        </p:cNvPr>
        <p:cNvGrpSpPr/>
        <p:nvPr/>
      </p:nvGrpSpPr>
      <p:grpSpPr>
        <a:xfrm>
          <a:off x="0" y="0"/>
          <a:ext cx="0" cy="0"/>
          <a:chOff x="0" y="0"/>
          <a:chExt cx="0" cy="0"/>
        </a:xfrm>
      </p:grpSpPr>
      <p:sp>
        <p:nvSpPr>
          <p:cNvPr id="199" name="Google Shape;199;g3f0084d9fe8_1_145:notes">
            <a:extLst>
              <a:ext uri="{FF2B5EF4-FFF2-40B4-BE49-F238E27FC236}">
                <a16:creationId xmlns:a16="http://schemas.microsoft.com/office/drawing/2014/main" id="{8E354338-3D32-55BA-BDD1-EDD3C0DA82CA}"/>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g3f0084d9fe8_1_145:notes">
            <a:extLst>
              <a:ext uri="{FF2B5EF4-FFF2-40B4-BE49-F238E27FC236}">
                <a16:creationId xmlns:a16="http://schemas.microsoft.com/office/drawing/2014/main" id="{19DD59C9-8CD2-4C87-757F-1DA96225017E}"/>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a:lnSpc>
                <a:spcPct val="107000"/>
              </a:lnSpc>
              <a:spcAft>
                <a:spcPts val="800"/>
              </a:spcAft>
              <a:buNone/>
            </a:pPr>
            <a:r>
              <a:rPr lang="bg-BG" sz="1800" dirty="0">
                <a:effectLst/>
                <a:latin typeface="Arial" panose="020B0604020202020204" pitchFamily="34" charset="0"/>
                <a:ea typeface="Aptos" panose="020B0004020202020204" pitchFamily="34" charset="0"/>
                <a:cs typeface="Arial" panose="020B0604020202020204" pitchFamily="34" charset="0"/>
              </a:rPr>
              <a:t>Алгоритъмът за съпоставяне е една от основните функционалности на платформата. Когато специалист разглежда отворените обяви, системата автоматично изчислява степен на съвпадение между неговия профил и изискванията на всяка обява.</a:t>
            </a:r>
            <a:endParaRPr lang="en-150" sz="1800" dirty="0">
              <a:effectLst/>
              <a:latin typeface="Aptos" panose="020B0004020202020204" pitchFamily="34" charset="0"/>
              <a:ea typeface="Aptos" panose="020B0004020202020204" pitchFamily="34" charset="0"/>
              <a:cs typeface="Arial" panose="020B0604020202020204" pitchFamily="34" charset="0"/>
            </a:endParaRPr>
          </a:p>
          <a:p>
            <a:pPr>
              <a:lnSpc>
                <a:spcPct val="107000"/>
              </a:lnSpc>
              <a:spcAft>
                <a:spcPts val="800"/>
              </a:spcAft>
              <a:buNone/>
            </a:pPr>
            <a:r>
              <a:rPr lang="bg-BG" sz="1800" dirty="0">
                <a:effectLst/>
                <a:latin typeface="Arial" panose="020B0604020202020204" pitchFamily="34" charset="0"/>
                <a:ea typeface="Aptos" panose="020B0004020202020204" pitchFamily="34" charset="0"/>
                <a:cs typeface="Arial" panose="020B0604020202020204" pitchFamily="34" charset="0"/>
              </a:rPr>
              <a:t>Критериите и техните тегла са определени след проучване на утвърдени платформи като Upwork, които използват сходна приоритизация на факторите. Най-голяма тежест имат уменията, които формират 40% от крайната оценка. Причината е, че те са основно условие за успешно изпълнение на дадена задача. Дори кандидатът да отговаря на останалите критерии, липсата на необходимите технически умения значително намалява неговата пригодност за обявата. Следващият по важност критерий е професионалната категория с тежест от 25%. Чрез нея се определя дали специалистът работи в областта, към която принадлежи конкретната обява. Професионалноото ниво формира още 20% от оценката, тъй като показва до каква степен кандидатът може да работи самостоятелно и да се справя с по-сложни задачи. Локацията има най-малка тежест от 15%, защото фрийланс работата в повечето случаи се извършва дистанционно. При пълно съвпадение на местоположението се присъжда максималната стойност за този критерий. Когато специалистът и клиентът се намират в различни градове, но в една и съща държава, се дава частична оценка от 0,5. По този начин се отчита вероятната близост по отношение на часова зона, език и начин на комуникация.</a:t>
            </a:r>
            <a:endParaRPr lang="en-150" sz="1800" dirty="0">
              <a:effectLst/>
              <a:latin typeface="Aptos" panose="020B0004020202020204" pitchFamily="34" charset="0"/>
              <a:ea typeface="Aptos" panose="020B0004020202020204" pitchFamily="34" charset="0"/>
              <a:cs typeface="Arial" panose="020B0604020202020204" pitchFamily="34" charset="0"/>
            </a:endParaRPr>
          </a:p>
          <a:p>
            <a:pPr marL="158750" indent="0">
              <a:lnSpc>
                <a:spcPct val="107000"/>
              </a:lnSpc>
              <a:spcAft>
                <a:spcPts val="800"/>
              </a:spcAft>
              <a:buNone/>
            </a:pPr>
            <a:r>
              <a:rPr lang="bg-BG" sz="1800" dirty="0">
                <a:effectLst/>
                <a:latin typeface="Arial" panose="020B0604020202020204" pitchFamily="34" charset="0"/>
                <a:ea typeface="Aptos" panose="020B0004020202020204" pitchFamily="34" charset="0"/>
                <a:cs typeface="Arial" panose="020B0604020202020204" pitchFamily="34" charset="0"/>
              </a:rPr>
              <a:t>Теглата не са окончателни и след като платформата започне да се използва с реални потребители, те могат да бъдат коригирани според наблюдаваното поведение. Например, ако данните покажат, че клиентите значително по-често избират специалисти от същия град, тежестта на локацията може да бъде увеличена. Относно оценката на алгоритъма, системата вече съхранява част от необходимите данни, например статуса на офертите и оценките, поставени от клиентите. Тоест така след натрупване на достатъчен брой завършени проекти ще може да се анализира дали по-високото изчислено съвпадение действително води до по-голяма вероятност за приемане на оферта и успешно изпълнение на проект. </a:t>
            </a:r>
            <a:endParaRPr lang="en-150" sz="1800" dirty="0">
              <a:effectLst/>
              <a:latin typeface="Aptos" panose="020B0004020202020204" pitchFamily="34" charset="0"/>
              <a:ea typeface="Aptos" panose="020B0004020202020204" pitchFamily="34" charset="0"/>
              <a:cs typeface="Arial" panose="020B0604020202020204" pitchFamily="34" charset="0"/>
            </a:endParaRPr>
          </a:p>
          <a:p>
            <a:pPr>
              <a:buNone/>
            </a:pPr>
            <a:endParaRPr dirty="0"/>
          </a:p>
        </p:txBody>
      </p:sp>
      <p:sp>
        <p:nvSpPr>
          <p:cNvPr id="201" name="Google Shape;201;g3f0084d9fe8_1_145:notes">
            <a:extLst>
              <a:ext uri="{FF2B5EF4-FFF2-40B4-BE49-F238E27FC236}">
                <a16:creationId xmlns:a16="http://schemas.microsoft.com/office/drawing/2014/main" id="{9E0573BC-B541-C287-CD30-7EF2E5ED0C98}"/>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52</a:t>
            </a:fld>
            <a:endParaRPr/>
          </a:p>
        </p:txBody>
      </p:sp>
    </p:spTree>
    <p:extLst>
      <p:ext uri="{BB962C8B-B14F-4D97-AF65-F5344CB8AC3E}">
        <p14:creationId xmlns:p14="http://schemas.microsoft.com/office/powerpoint/2010/main" val="109466389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B0A60BB6-00F9-2214-B98F-AD773D60137F}"/>
            </a:ext>
          </a:extLst>
        </p:cNvPr>
        <p:cNvGrpSpPr/>
        <p:nvPr/>
      </p:nvGrpSpPr>
      <p:grpSpPr>
        <a:xfrm>
          <a:off x="0" y="0"/>
          <a:ext cx="0" cy="0"/>
          <a:chOff x="0" y="0"/>
          <a:chExt cx="0" cy="0"/>
        </a:xfrm>
      </p:grpSpPr>
      <p:sp>
        <p:nvSpPr>
          <p:cNvPr id="199" name="Google Shape;199;g3f0084d9fe8_1_145:notes">
            <a:extLst>
              <a:ext uri="{FF2B5EF4-FFF2-40B4-BE49-F238E27FC236}">
                <a16:creationId xmlns:a16="http://schemas.microsoft.com/office/drawing/2014/main" id="{D997AFBF-C0F3-909A-C17C-948D5B49A4E1}"/>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g3f0084d9fe8_1_145:notes">
            <a:extLst>
              <a:ext uri="{FF2B5EF4-FFF2-40B4-BE49-F238E27FC236}">
                <a16:creationId xmlns:a16="http://schemas.microsoft.com/office/drawing/2014/main" id="{85B0BC12-BC61-5D35-D8EE-F365B818C3A0}"/>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a:lnSpc>
                <a:spcPct val="107000"/>
              </a:lnSpc>
              <a:spcAft>
                <a:spcPts val="800"/>
              </a:spcAft>
              <a:buNone/>
            </a:pPr>
            <a:r>
              <a:rPr lang="bg-BG" sz="1800" dirty="0">
                <a:effectLst/>
                <a:latin typeface="Arial" panose="020B0604020202020204" pitchFamily="34" charset="0"/>
                <a:ea typeface="Aptos" panose="020B0004020202020204" pitchFamily="34" charset="0"/>
                <a:cs typeface="Arial" panose="020B0604020202020204" pitchFamily="34" charset="0"/>
              </a:rPr>
              <a:t>Системата е съзнателно проектирана с оглед на бъдещо мащабиране и редица архитектурни решения в са взети с оглед на продукционна готовност. На архитектурно ниво автентикацията е реализирана чрез stateless JWT, което позволява приложението да бъде мащабирано хоризонтално, без да е необходимо споделено хранилище за потребителски сесии. Проектът е организиран модулно според отделните бизнес домейни, така че при необходимост части от системата да могат по-лесно да бъдат отделени като самостоятелни микросървизи. Освен това потребителските файлове вече се съхраняват в облачно хранилище, което намалява зависимостта от локалната файлова система.</a:t>
            </a:r>
            <a:endParaRPr lang="en-150" sz="1800" dirty="0">
              <a:effectLst/>
              <a:latin typeface="Aptos" panose="020B0004020202020204" pitchFamily="34" charset="0"/>
              <a:ea typeface="Aptos" panose="020B0004020202020204" pitchFamily="34" charset="0"/>
              <a:cs typeface="Arial" panose="020B0604020202020204" pitchFamily="34" charset="0"/>
            </a:endParaRPr>
          </a:p>
          <a:p>
            <a:pPr>
              <a:lnSpc>
                <a:spcPct val="107000"/>
              </a:lnSpc>
              <a:spcAft>
                <a:spcPts val="800"/>
              </a:spcAft>
              <a:buNone/>
            </a:pPr>
            <a:r>
              <a:rPr lang="bg-BG" sz="1800" dirty="0">
                <a:effectLst/>
                <a:latin typeface="Arial" panose="020B0604020202020204" pitchFamily="34" charset="0"/>
                <a:ea typeface="Aptos" panose="020B0004020202020204" pitchFamily="34" charset="0"/>
                <a:cs typeface="Arial" panose="020B0604020202020204" pitchFamily="34" charset="0"/>
              </a:rPr>
              <a:t>При по-голямо натоварване архитектурата може да бъде разширена чрез добавяне на load balancer пред няколко инстанции на приложението. За данни, които се променят сравнително рядко, като категории и локации, може да се използва Redis кеш. Redis Pub/Sub би могъл да осигури обмена на WebSocket съобщения между различните инстанции. Допълнително може да бъде въведено rate limiting за защита срещу brute-force атаки. При достигане на достатъчно голям мащаб модулите за известия и съобщения могат да бъдат отделени като самостоятелни микросървизи.</a:t>
            </a:r>
            <a:endParaRPr lang="en-150" sz="1800" dirty="0">
              <a:effectLst/>
              <a:latin typeface="Aptos" panose="020B0004020202020204" pitchFamily="34" charset="0"/>
              <a:ea typeface="Aptos" panose="020B0004020202020204" pitchFamily="34" charset="0"/>
              <a:cs typeface="Arial" panose="020B0604020202020204" pitchFamily="34" charset="0"/>
            </a:endParaRPr>
          </a:p>
          <a:p>
            <a:pPr>
              <a:lnSpc>
                <a:spcPct val="107000"/>
              </a:lnSpc>
              <a:spcAft>
                <a:spcPts val="800"/>
              </a:spcAft>
              <a:buNone/>
            </a:pPr>
            <a:r>
              <a:rPr lang="bg-BG" sz="1800" dirty="0">
                <a:effectLst/>
                <a:latin typeface="Arial" panose="020B0604020202020204" pitchFamily="34" charset="0"/>
                <a:ea typeface="Aptos" panose="020B0004020202020204" pitchFamily="34" charset="0"/>
                <a:cs typeface="Arial" panose="020B0604020202020204" pitchFamily="34" charset="0"/>
              </a:rPr>
              <a:t>На ниво база данни текущата конфигурация може да бъде заменен с Flyway миграции, което ще осигури по-надеждно и проследимо прилагане на промените. За подобряване на търсенето може да бъде добавен FULLTEXT индекс, а за заявките, които ще се изпълняват периодично чрез scheduler, могат да бъдат създадени допълнителни композитни индекси.</a:t>
            </a:r>
            <a:endParaRPr lang="en-150" sz="1800" dirty="0">
              <a:effectLst/>
              <a:latin typeface="Aptos" panose="020B0004020202020204" pitchFamily="34" charset="0"/>
              <a:ea typeface="Aptos" panose="020B0004020202020204" pitchFamily="34" charset="0"/>
              <a:cs typeface="Arial" panose="020B0604020202020204" pitchFamily="34" charset="0"/>
            </a:endParaRPr>
          </a:p>
          <a:p>
            <a:pPr marL="158750" indent="0">
              <a:lnSpc>
                <a:spcPct val="107000"/>
              </a:lnSpc>
              <a:spcAft>
                <a:spcPts val="800"/>
              </a:spcAft>
              <a:buNone/>
            </a:pPr>
            <a:r>
              <a:rPr lang="bg-BG" sz="1800" dirty="0">
                <a:effectLst/>
                <a:latin typeface="Arial" panose="020B0604020202020204" pitchFamily="34" charset="0"/>
                <a:ea typeface="Aptos" panose="020B0004020202020204" pitchFamily="34" charset="0"/>
                <a:cs typeface="Arial" panose="020B0604020202020204" pitchFamily="34" charset="0"/>
              </a:rPr>
              <a:t>На инфраструктурно ниво следващите стъпки включват контейнеризация на приложението с Docker и изграждане на CI/CD pipeline за автоматизирано тестване и внедряване. Необходимо е също комуникацията да бъде защитена чрез HTTPS, а наблюдението на състоянието и производителността на системата да се реализира чрез инструменти като Prometheus и Grafana.</a:t>
            </a:r>
            <a:endParaRPr lang="en-150" sz="1800" dirty="0">
              <a:effectLst/>
              <a:latin typeface="Aptos" panose="020B0004020202020204" pitchFamily="34" charset="0"/>
              <a:ea typeface="Aptos" panose="020B0004020202020204" pitchFamily="34" charset="0"/>
              <a:cs typeface="Arial" panose="020B0604020202020204" pitchFamily="34" charset="0"/>
            </a:endParaRPr>
          </a:p>
          <a:p>
            <a:pPr>
              <a:buNone/>
            </a:pPr>
            <a:endParaRPr dirty="0"/>
          </a:p>
        </p:txBody>
      </p:sp>
      <p:sp>
        <p:nvSpPr>
          <p:cNvPr id="201" name="Google Shape;201;g3f0084d9fe8_1_145:notes">
            <a:extLst>
              <a:ext uri="{FF2B5EF4-FFF2-40B4-BE49-F238E27FC236}">
                <a16:creationId xmlns:a16="http://schemas.microsoft.com/office/drawing/2014/main" id="{6060C097-9EE5-FC50-50A6-8714F28FA5D2}"/>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53</a:t>
            </a:fld>
            <a:endParaRPr/>
          </a:p>
        </p:txBody>
      </p:sp>
    </p:spTree>
    <p:extLst>
      <p:ext uri="{BB962C8B-B14F-4D97-AF65-F5344CB8AC3E}">
        <p14:creationId xmlns:p14="http://schemas.microsoft.com/office/powerpoint/2010/main" val="367227416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a:extLst>
            <a:ext uri="{FF2B5EF4-FFF2-40B4-BE49-F238E27FC236}">
              <a16:creationId xmlns:a16="http://schemas.microsoft.com/office/drawing/2014/main" id="{F1500869-5AA2-8CF6-36FD-66622745F4FE}"/>
            </a:ext>
          </a:extLst>
        </p:cNvPr>
        <p:cNvGrpSpPr/>
        <p:nvPr/>
      </p:nvGrpSpPr>
      <p:grpSpPr>
        <a:xfrm>
          <a:off x="0" y="0"/>
          <a:ext cx="0" cy="0"/>
          <a:chOff x="0" y="0"/>
          <a:chExt cx="0" cy="0"/>
        </a:xfrm>
      </p:grpSpPr>
      <p:sp>
        <p:nvSpPr>
          <p:cNvPr id="52" name="Google Shape;52;g3f0084d9fe8_1_0:notes">
            <a:extLst>
              <a:ext uri="{FF2B5EF4-FFF2-40B4-BE49-F238E27FC236}">
                <a16:creationId xmlns:a16="http://schemas.microsoft.com/office/drawing/2014/main" id="{906FE5CC-43D2-FEF2-B329-3D55C0AB520E}"/>
              </a:ext>
            </a:extLst>
          </p:cNvPr>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 name="Google Shape;53;g3f0084d9fe8_1_0:notes">
            <a:extLst>
              <a:ext uri="{FF2B5EF4-FFF2-40B4-BE49-F238E27FC236}">
                <a16:creationId xmlns:a16="http://schemas.microsoft.com/office/drawing/2014/main" id="{D9281991-686E-5272-2BF6-E3AE23C8DF32}"/>
              </a:ext>
            </a:extLst>
          </p:cNvPr>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4" name="Google Shape;54;g3f0084d9fe8_1_0:notes">
            <a:extLst>
              <a:ext uri="{FF2B5EF4-FFF2-40B4-BE49-F238E27FC236}">
                <a16:creationId xmlns:a16="http://schemas.microsoft.com/office/drawing/2014/main" id="{F0894B9E-9207-3588-5F5D-E58E451CDCF1}"/>
              </a:ext>
            </a:extLst>
          </p:cNvPr>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bg"/>
              <a:t>54</a:t>
            </a:fld>
            <a:endParaRPr/>
          </a:p>
        </p:txBody>
      </p:sp>
    </p:spTree>
    <p:extLst>
      <p:ext uri="{BB962C8B-B14F-4D97-AF65-F5344CB8AC3E}">
        <p14:creationId xmlns:p14="http://schemas.microsoft.com/office/powerpoint/2010/main" val="10285481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bg"/>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bg"/>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bg"/>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bg"/>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bg"/>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bg"/>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bg"/>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bg"/>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bg"/>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bg"/>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bg"/>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bg"/>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5.png"/><Relationship Id="rId3" Type="http://schemas.openxmlformats.org/officeDocument/2006/relationships/image" Target="../media/image3.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4.png"/><Relationship Id="rId2" Type="http://schemas.openxmlformats.org/officeDocument/2006/relationships/notesSlide" Target="../notesSlides/notesSlide7.xml"/><Relationship Id="rId16" Type="http://schemas.microsoft.com/office/2007/relationships/hdphoto" Target="../media/hdphoto1.wdp"/><Relationship Id="rId20" Type="http://schemas.openxmlformats.org/officeDocument/2006/relationships/image" Target="../media/image27.png"/><Relationship Id="rId1" Type="http://schemas.openxmlformats.org/officeDocument/2006/relationships/slideLayout" Target="../slideLayouts/slideLayout12.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4.png"/><Relationship Id="rId15" Type="http://schemas.openxmlformats.org/officeDocument/2006/relationships/image" Target="../media/image23.png"/><Relationship Id="rId10" Type="http://schemas.openxmlformats.org/officeDocument/2006/relationships/image" Target="../media/image18.png"/><Relationship Id="rId19" Type="http://schemas.openxmlformats.org/officeDocument/2006/relationships/image" Target="../media/image26.png"/><Relationship Id="rId4" Type="http://schemas.openxmlformats.org/officeDocument/2006/relationships/image" Target="../media/image2.png"/><Relationship Id="rId9" Type="http://schemas.openxmlformats.org/officeDocument/2006/relationships/image" Target="../media/image17.png"/><Relationship Id="rId1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43.png"/><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45.png"/></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52.png"/></Relationships>
</file>

<file path=ppt/slides/_rels/slide1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54.png"/></Relationships>
</file>

<file path=ppt/slides/_rels/slide2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61.png"/></Relationships>
</file>

<file path=ppt/slides/_rels/slide2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63.png"/></Relationships>
</file>

<file path=ppt/slides/_rels/slide2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65.png"/></Relationships>
</file>

<file path=ppt/slides/_rels/slide2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3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0.xml"/><Relationship Id="rId1" Type="http://schemas.openxmlformats.org/officeDocument/2006/relationships/slideLayout" Target="../slideLayouts/slideLayout12.xml"/><Relationship Id="rId5" Type="http://schemas.openxmlformats.org/officeDocument/2006/relationships/image" Target="../media/image73.png"/><Relationship Id="rId4" Type="http://schemas.openxmlformats.org/officeDocument/2006/relationships/image" Target="../media/image72.png"/></Relationships>
</file>

<file path=ppt/slides/_rels/slide3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1.xml"/><Relationship Id="rId1" Type="http://schemas.openxmlformats.org/officeDocument/2006/relationships/slideLayout" Target="../slideLayouts/slideLayout12.xml"/><Relationship Id="rId4" Type="http://schemas.openxmlformats.org/officeDocument/2006/relationships/image" Target="../media/image75.png"/></Relationships>
</file>

<file path=ppt/slides/_rels/slide3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2.xml"/><Relationship Id="rId1" Type="http://schemas.openxmlformats.org/officeDocument/2006/relationships/slideLayout" Target="../slideLayouts/slideLayout12.xml"/><Relationship Id="rId4" Type="http://schemas.openxmlformats.org/officeDocument/2006/relationships/image" Target="../media/image77.png"/></Relationships>
</file>

<file path=ppt/slides/_rels/slide3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33.xml"/><Relationship Id="rId1" Type="http://schemas.openxmlformats.org/officeDocument/2006/relationships/slideLayout" Target="../slideLayouts/slideLayout12.xml"/><Relationship Id="rId5" Type="http://schemas.openxmlformats.org/officeDocument/2006/relationships/image" Target="../media/image80.png"/><Relationship Id="rId4" Type="http://schemas.openxmlformats.org/officeDocument/2006/relationships/image" Target="../media/image79.png"/></Relationships>
</file>

<file path=ppt/slides/_rels/slide3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34.xml"/><Relationship Id="rId1" Type="http://schemas.openxmlformats.org/officeDocument/2006/relationships/slideLayout" Target="../slideLayouts/slideLayout12.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35.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35.xml"/><Relationship Id="rId1" Type="http://schemas.openxmlformats.org/officeDocument/2006/relationships/slideLayout" Target="../slideLayouts/slideLayout12.xml"/><Relationship Id="rId5" Type="http://schemas.openxmlformats.org/officeDocument/2006/relationships/image" Target="../media/image87.png"/><Relationship Id="rId4" Type="http://schemas.openxmlformats.org/officeDocument/2006/relationships/image" Target="../media/image86.png"/></Relationships>
</file>

<file path=ppt/slides/_rels/slide36.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37.xml"/><Relationship Id="rId1" Type="http://schemas.openxmlformats.org/officeDocument/2006/relationships/slideLayout" Target="../slideLayouts/slideLayout12.xml"/><Relationship Id="rId4" Type="http://schemas.openxmlformats.org/officeDocument/2006/relationships/image" Target="../media/image90.png"/></Relationships>
</file>

<file path=ppt/slides/_rels/slide38.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38.xml"/><Relationship Id="rId1" Type="http://schemas.openxmlformats.org/officeDocument/2006/relationships/slideLayout" Target="../slideLayouts/slideLayout12.xml"/><Relationship Id="rId5" Type="http://schemas.openxmlformats.org/officeDocument/2006/relationships/image" Target="../media/image93.png"/><Relationship Id="rId4" Type="http://schemas.openxmlformats.org/officeDocument/2006/relationships/image" Target="../media/image92.png"/></Relationships>
</file>

<file path=ppt/slides/_rels/slide39.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39.xml"/><Relationship Id="rId1" Type="http://schemas.openxmlformats.org/officeDocument/2006/relationships/slideLayout" Target="../slideLayouts/slideLayout12.xml"/><Relationship Id="rId4" Type="http://schemas.openxmlformats.org/officeDocument/2006/relationships/image" Target="../media/image95.png"/></Relationships>
</file>

<file path=ppt/slides/_rels/slide40.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40.xml"/><Relationship Id="rId1" Type="http://schemas.openxmlformats.org/officeDocument/2006/relationships/slideLayout" Target="../slideLayouts/slideLayout12.xml"/><Relationship Id="rId4" Type="http://schemas.openxmlformats.org/officeDocument/2006/relationships/image" Target="../media/image97.png"/></Relationships>
</file>

<file path=ppt/slides/_rels/slide41.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42.xml"/><Relationship Id="rId1" Type="http://schemas.openxmlformats.org/officeDocument/2006/relationships/slideLayout" Target="../slideLayouts/slideLayout12.xml"/><Relationship Id="rId5" Type="http://schemas.openxmlformats.org/officeDocument/2006/relationships/image" Target="../media/image101.png"/><Relationship Id="rId4" Type="http://schemas.openxmlformats.org/officeDocument/2006/relationships/image" Target="../media/image100.png"/></Relationships>
</file>

<file path=ppt/slides/_rels/slide43.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43.xml"/><Relationship Id="rId1" Type="http://schemas.openxmlformats.org/officeDocument/2006/relationships/slideLayout" Target="../slideLayouts/slideLayout12.xml"/><Relationship Id="rId4" Type="http://schemas.openxmlformats.org/officeDocument/2006/relationships/image" Target="../media/image103.png"/></Relationships>
</file>

<file path=ppt/slides/_rels/slide44.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105.png"/></Relationships>
</file>

<file path=ppt/slides/_rels/slide45.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45.xml"/><Relationship Id="rId1" Type="http://schemas.openxmlformats.org/officeDocument/2006/relationships/slideLayout" Target="../slideLayouts/slideLayout12.xml"/><Relationship Id="rId4" Type="http://schemas.openxmlformats.org/officeDocument/2006/relationships/image" Target="../media/image107.png"/></Relationships>
</file>

<file path=ppt/slides/_rels/slide46.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46.xml"/><Relationship Id="rId1" Type="http://schemas.openxmlformats.org/officeDocument/2006/relationships/slideLayout" Target="../slideLayouts/slideLayout12.xml"/><Relationship Id="rId5" Type="http://schemas.openxmlformats.org/officeDocument/2006/relationships/image" Target="../media/image110.png"/><Relationship Id="rId4" Type="http://schemas.openxmlformats.org/officeDocument/2006/relationships/image" Target="../media/image109.png"/></Relationships>
</file>

<file path=ppt/slides/_rels/slide47.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47.xml"/><Relationship Id="rId1" Type="http://schemas.openxmlformats.org/officeDocument/2006/relationships/slideLayout" Target="../slideLayouts/slideLayout12.xml"/><Relationship Id="rId5" Type="http://schemas.openxmlformats.org/officeDocument/2006/relationships/image" Target="../media/image113.png"/><Relationship Id="rId4" Type="http://schemas.openxmlformats.org/officeDocument/2006/relationships/image" Target="../media/image112.png"/></Relationships>
</file>

<file path=ppt/slides/_rels/slide48.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48.xml"/><Relationship Id="rId1" Type="http://schemas.openxmlformats.org/officeDocument/2006/relationships/slideLayout" Target="../slideLayouts/slideLayout12.xml"/><Relationship Id="rId5" Type="http://schemas.openxmlformats.org/officeDocument/2006/relationships/image" Target="../media/image116.png"/><Relationship Id="rId4" Type="http://schemas.openxmlformats.org/officeDocument/2006/relationships/image" Target="../media/image115.png"/></Relationships>
</file>

<file path=ppt/slides/_rels/slide49.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51.xml"/><Relationship Id="rId1" Type="http://schemas.openxmlformats.org/officeDocument/2006/relationships/slideLayout" Target="../slideLayouts/slideLayout12.xml"/><Relationship Id="rId6" Type="http://schemas.openxmlformats.org/officeDocument/2006/relationships/image" Target="../media/image121.png"/><Relationship Id="rId5" Type="http://schemas.openxmlformats.org/officeDocument/2006/relationships/image" Target="../media/image120.png"/><Relationship Id="rId4" Type="http://schemas.openxmlformats.org/officeDocument/2006/relationships/image" Target="../media/image119.png"/></Relationships>
</file>

<file path=ppt/slides/_rels/slide5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2.xml"/><Relationship Id="rId1" Type="http://schemas.openxmlformats.org/officeDocument/2006/relationships/slideLayout" Target="../slideLayouts/slideLayout12.xml"/><Relationship Id="rId4" Type="http://schemas.openxmlformats.org/officeDocument/2006/relationships/image" Target="../media/image122.png"/></Relationships>
</file>

<file path=ppt/slides/_rels/slide53.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53.xml"/><Relationship Id="rId1" Type="http://schemas.openxmlformats.org/officeDocument/2006/relationships/slideLayout" Target="../slideLayouts/slideLayout12.xml"/><Relationship Id="rId6" Type="http://schemas.openxmlformats.org/officeDocument/2006/relationships/image" Target="../media/image126.png"/><Relationship Id="rId5" Type="http://schemas.openxmlformats.org/officeDocument/2006/relationships/image" Target="../media/image125.png"/><Relationship Id="rId4" Type="http://schemas.openxmlformats.org/officeDocument/2006/relationships/image" Target="../media/image124.png"/></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54.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5"/>
        <p:cNvGrpSpPr/>
        <p:nvPr/>
      </p:nvGrpSpPr>
      <p:grpSpPr>
        <a:xfrm>
          <a:off x="0" y="0"/>
          <a:ext cx="0" cy="0"/>
          <a:chOff x="0" y="0"/>
          <a:chExt cx="0" cy="0"/>
        </a:xfrm>
      </p:grpSpPr>
      <p:sp>
        <p:nvSpPr>
          <p:cNvPr id="56" name="Google Shape;56;p14"/>
          <p:cNvSpPr/>
          <p:nvPr/>
        </p:nvSpPr>
        <p:spPr>
          <a:xfrm>
            <a:off x="726948" y="377849"/>
            <a:ext cx="6172200" cy="476631"/>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2A4A4"/>
              </a:buClr>
              <a:buSzPts val="1000"/>
              <a:buFont typeface="Calibri"/>
              <a:buNone/>
            </a:pPr>
            <a:r>
              <a:rPr lang="bg" sz="1800" b="1" i="0" u="none" strike="noStrike" cap="none" dirty="0">
                <a:solidFill>
                  <a:schemeClr val="tx1"/>
                </a:solidFill>
                <a:latin typeface="Calibri"/>
                <a:ea typeface="Calibri"/>
                <a:cs typeface="Calibri"/>
                <a:sym typeface="Calibri"/>
              </a:rPr>
              <a:t>ТЕХНИЧЕСКИ УНИВЕРСИТЕТ – ВАРНА</a:t>
            </a:r>
          </a:p>
          <a:p>
            <a:pPr marL="0" marR="0" lvl="0" indent="0" algn="l" rtl="0">
              <a:spcBef>
                <a:spcPts val="0"/>
              </a:spcBef>
              <a:spcAft>
                <a:spcPts val="0"/>
              </a:spcAft>
              <a:buClr>
                <a:srgbClr val="E2A4A4"/>
              </a:buClr>
              <a:buSzPts val="1000"/>
              <a:buFont typeface="Calibri"/>
              <a:buNone/>
            </a:pPr>
            <a:r>
              <a:rPr lang="bg" sz="1800" b="1" i="0" u="none" strike="noStrike" cap="none" dirty="0">
                <a:solidFill>
                  <a:schemeClr val="tx1"/>
                </a:solidFill>
                <a:latin typeface="Calibri"/>
                <a:ea typeface="Calibri"/>
                <a:cs typeface="Calibri"/>
                <a:sym typeface="Calibri"/>
              </a:rPr>
              <a:t>ФАКУЛТЕТ ПО ИЗЧИСЛИТЕЛНА ТЕХНИКА И АВТОМАТИЗАЦИЯ</a:t>
            </a:r>
            <a:endParaRPr sz="1800" b="0" i="0" u="none" strike="noStrike" cap="none" dirty="0">
              <a:solidFill>
                <a:schemeClr val="tx1"/>
              </a:solidFill>
              <a:latin typeface="Calibri"/>
              <a:ea typeface="Calibri"/>
              <a:cs typeface="Calibri"/>
              <a:sym typeface="Calibri"/>
            </a:endParaRPr>
          </a:p>
        </p:txBody>
      </p:sp>
      <p:sp>
        <p:nvSpPr>
          <p:cNvPr id="57" name="Google Shape;57;p14"/>
          <p:cNvSpPr/>
          <p:nvPr/>
        </p:nvSpPr>
        <p:spPr>
          <a:xfrm>
            <a:off x="685800" y="1435037"/>
            <a:ext cx="7200900" cy="709803"/>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5400"/>
              <a:buFont typeface="Cambria"/>
              <a:buNone/>
            </a:pPr>
            <a:r>
              <a:rPr lang="bg-BG" sz="5400" b="1" dirty="0">
                <a:solidFill>
                  <a:srgbClr val="1E293B"/>
                </a:solidFill>
                <a:latin typeface="Cambria"/>
                <a:ea typeface="Cambria"/>
                <a:cs typeface="Calibri"/>
                <a:sym typeface="Cambria"/>
              </a:rPr>
              <a:t>Дипломна работа</a:t>
            </a:r>
            <a:endParaRPr sz="5400" b="0" i="0" u="none" strike="noStrike" cap="none" dirty="0">
              <a:solidFill>
                <a:schemeClr val="dk1"/>
              </a:solidFill>
              <a:latin typeface="Calibri"/>
              <a:ea typeface="Calibri"/>
              <a:cs typeface="Calibri"/>
              <a:sym typeface="Calibri"/>
            </a:endParaRPr>
          </a:p>
        </p:txBody>
      </p:sp>
      <p:sp>
        <p:nvSpPr>
          <p:cNvPr id="58" name="Google Shape;58;p14"/>
          <p:cNvSpPr/>
          <p:nvPr/>
        </p:nvSpPr>
        <p:spPr>
          <a:xfrm>
            <a:off x="634365" y="2266569"/>
            <a:ext cx="5897880" cy="48006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475569"/>
              </a:buClr>
              <a:buSzPts val="1200"/>
              <a:buFont typeface="Calibri"/>
              <a:buNone/>
            </a:pPr>
            <a:r>
              <a:rPr lang="bg" sz="1800" b="0" i="0" u="none" strike="noStrike" cap="none" dirty="0">
                <a:solidFill>
                  <a:srgbClr val="475569"/>
                </a:solidFill>
                <a:latin typeface="Calibri"/>
                <a:ea typeface="Calibri"/>
                <a:cs typeface="Calibri"/>
                <a:sym typeface="Calibri"/>
              </a:rPr>
              <a:t>Проектиране и реализация на уеб базирана платформа за свързване на независими специалисти и клиенти</a:t>
            </a:r>
            <a:endParaRPr sz="1800" b="0" i="0" u="none" strike="noStrike" cap="none" dirty="0">
              <a:solidFill>
                <a:schemeClr val="dk1"/>
              </a:solidFill>
              <a:latin typeface="Calibri"/>
              <a:ea typeface="Calibri"/>
              <a:cs typeface="Calibri"/>
              <a:sym typeface="Calibri"/>
            </a:endParaRPr>
          </a:p>
        </p:txBody>
      </p:sp>
      <p:sp>
        <p:nvSpPr>
          <p:cNvPr id="59" name="Google Shape;59;p14"/>
          <p:cNvSpPr/>
          <p:nvPr/>
        </p:nvSpPr>
        <p:spPr>
          <a:xfrm>
            <a:off x="685800" y="2983230"/>
            <a:ext cx="82296" cy="82296"/>
          </a:xfrm>
          <a:prstGeom prst="ellipse">
            <a:avLst/>
          </a:prstGeom>
          <a:solidFill>
            <a:srgbClr val="E2A4A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0" name="Google Shape;60;p14"/>
          <p:cNvSpPr/>
          <p:nvPr/>
        </p:nvSpPr>
        <p:spPr>
          <a:xfrm>
            <a:off x="864108" y="2983230"/>
            <a:ext cx="82296" cy="82296"/>
          </a:xfrm>
          <a:prstGeom prst="ellipse">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1" name="Google Shape;61;p14"/>
          <p:cNvSpPr/>
          <p:nvPr/>
        </p:nvSpPr>
        <p:spPr>
          <a:xfrm>
            <a:off x="1042416" y="2983230"/>
            <a:ext cx="82296" cy="82296"/>
          </a:xfrm>
          <a:prstGeom prst="ellipse">
            <a:avLst/>
          </a:prstGeom>
          <a:solidFill>
            <a:srgbClr val="E2A4A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2" name="Google Shape;62;p14"/>
          <p:cNvSpPr/>
          <p:nvPr/>
        </p:nvSpPr>
        <p:spPr>
          <a:xfrm>
            <a:off x="654939" y="3884398"/>
            <a:ext cx="5113020" cy="1062990"/>
          </a:xfrm>
          <a:prstGeom prst="roundRect">
            <a:avLst>
              <a:gd name="adj" fmla="val 10323"/>
            </a:avLst>
          </a:prstGeom>
          <a:solidFill>
            <a:srgbClr val="FFFFFF"/>
          </a:solidFill>
          <a:ln w="12700" cap="flat" cmpd="sng">
            <a:solidFill>
              <a:srgbClr val="E7DCDC"/>
            </a:solidFill>
            <a:prstDash val="solid"/>
            <a:round/>
            <a:headEnd type="none" w="sm" len="sm"/>
            <a:tailEnd type="none" w="sm" len="sm"/>
          </a:ln>
          <a:effectLst>
            <a:outerShdw blurRad="203200" dist="63500" dir="5400000" algn="bl" rotWithShape="0">
              <a:srgbClr val="1E293B">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dirty="0"/>
          </a:p>
        </p:txBody>
      </p:sp>
      <p:sp>
        <p:nvSpPr>
          <p:cNvPr id="63" name="Google Shape;63;p14"/>
          <p:cNvSpPr/>
          <p:nvPr/>
        </p:nvSpPr>
        <p:spPr>
          <a:xfrm>
            <a:off x="946404" y="4052419"/>
            <a:ext cx="1645920" cy="1783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2A4A4"/>
              </a:buClr>
              <a:buSzPts val="700"/>
              <a:buFont typeface="Calibri"/>
              <a:buNone/>
            </a:pPr>
            <a:r>
              <a:rPr lang="bg" sz="1000" b="1" i="0" u="none" strike="noStrike" cap="none" dirty="0">
                <a:solidFill>
                  <a:schemeClr val="accent2">
                    <a:lumMod val="50000"/>
                    <a:lumOff val="50000"/>
                  </a:schemeClr>
                </a:solidFill>
                <a:latin typeface="Calibri"/>
                <a:ea typeface="Calibri"/>
                <a:cs typeface="Calibri"/>
                <a:sym typeface="Calibri"/>
              </a:rPr>
              <a:t>ДИПЛОМАНТ</a:t>
            </a:r>
            <a:endParaRPr sz="1000" b="0" i="0" u="none" strike="noStrike" cap="none" dirty="0">
              <a:solidFill>
                <a:schemeClr val="accent2">
                  <a:lumMod val="50000"/>
                  <a:lumOff val="50000"/>
                </a:schemeClr>
              </a:solidFill>
              <a:latin typeface="Calibri"/>
              <a:ea typeface="Calibri"/>
              <a:cs typeface="Calibri"/>
              <a:sym typeface="Calibri"/>
            </a:endParaRPr>
          </a:p>
        </p:txBody>
      </p:sp>
      <p:sp>
        <p:nvSpPr>
          <p:cNvPr id="64" name="Google Shape;64;p14"/>
          <p:cNvSpPr/>
          <p:nvPr/>
        </p:nvSpPr>
        <p:spPr>
          <a:xfrm>
            <a:off x="946403" y="4244443"/>
            <a:ext cx="1824987" cy="2331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200"/>
              <a:buFont typeface="Cambria"/>
              <a:buNone/>
            </a:pPr>
            <a:r>
              <a:rPr lang="bg" sz="1600" b="1" dirty="0">
                <a:solidFill>
                  <a:srgbClr val="1E293B"/>
                </a:solidFill>
                <a:latin typeface="Cambria"/>
                <a:ea typeface="Cambria"/>
                <a:cs typeface="Calibri"/>
                <a:sym typeface="Cambria"/>
              </a:rPr>
              <a:t>Теодора Стойчева</a:t>
            </a:r>
            <a:endParaRPr sz="1600" b="0" i="0" u="none" strike="noStrike" cap="none" dirty="0">
              <a:solidFill>
                <a:schemeClr val="dk1"/>
              </a:solidFill>
              <a:latin typeface="Calibri"/>
              <a:ea typeface="Calibri"/>
              <a:cs typeface="Calibri"/>
              <a:sym typeface="Calibri"/>
            </a:endParaRPr>
          </a:p>
        </p:txBody>
      </p:sp>
      <p:sp>
        <p:nvSpPr>
          <p:cNvPr id="65" name="Google Shape;65;p14"/>
          <p:cNvSpPr/>
          <p:nvPr/>
        </p:nvSpPr>
        <p:spPr>
          <a:xfrm>
            <a:off x="946404" y="4505047"/>
            <a:ext cx="1645920" cy="2057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800"/>
              <a:buFont typeface="Calibri"/>
              <a:buNone/>
            </a:pPr>
            <a:r>
              <a:rPr lang="bg" sz="1600" b="0" i="0" u="none" strike="noStrike" cap="none" dirty="0">
                <a:solidFill>
                  <a:srgbClr val="475569"/>
                </a:solidFill>
                <a:latin typeface="Calibri"/>
                <a:ea typeface="Calibri"/>
                <a:cs typeface="Calibri"/>
                <a:sym typeface="Calibri"/>
              </a:rPr>
              <a:t>Фак. №: </a:t>
            </a:r>
            <a:r>
              <a:rPr lang="bg" sz="1600" dirty="0">
                <a:solidFill>
                  <a:srgbClr val="475569"/>
                </a:solidFill>
                <a:latin typeface="Calibri"/>
                <a:ea typeface="Calibri"/>
                <a:cs typeface="Calibri"/>
                <a:sym typeface="Calibri"/>
              </a:rPr>
              <a:t>22621693</a:t>
            </a:r>
            <a:endParaRPr sz="1600" b="0" i="0" u="none" strike="noStrike" cap="none" dirty="0">
              <a:solidFill>
                <a:schemeClr val="dk1"/>
              </a:solidFill>
              <a:latin typeface="Calibri"/>
              <a:ea typeface="Calibri"/>
              <a:cs typeface="Calibri"/>
              <a:sym typeface="Calibri"/>
            </a:endParaRPr>
          </a:p>
        </p:txBody>
      </p:sp>
      <p:sp>
        <p:nvSpPr>
          <p:cNvPr id="70" name="Google Shape;70;p14"/>
          <p:cNvSpPr/>
          <p:nvPr/>
        </p:nvSpPr>
        <p:spPr>
          <a:xfrm>
            <a:off x="6726364" y="2684248"/>
            <a:ext cx="857250" cy="857250"/>
          </a:xfrm>
          <a:prstGeom prst="ellipse">
            <a:avLst/>
          </a:prstGeom>
          <a:solidFill>
            <a:srgbClr val="F3DADA"/>
          </a:solidFill>
          <a:ln>
            <a:noFill/>
          </a:ln>
          <a:effectLst>
            <a:outerShdw blurRad="177800" dist="50800" dir="5400000" algn="bl" rotWithShape="0">
              <a:srgbClr val="1E293B">
                <a:alpha val="1215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71" name="Google Shape;71;p14" descr="/home/claude/talentflow-template/icons/react-primary.png"/>
          <p:cNvPicPr preferRelativeResize="0"/>
          <p:nvPr/>
        </p:nvPicPr>
        <p:blipFill rotWithShape="1">
          <a:blip r:embed="rId4">
            <a:alphaModFix/>
          </a:blip>
          <a:srcRect/>
          <a:stretch/>
        </p:blipFill>
        <p:spPr>
          <a:xfrm>
            <a:off x="6952678" y="2910562"/>
            <a:ext cx="404622" cy="404622"/>
          </a:xfrm>
          <a:prstGeom prst="rect">
            <a:avLst/>
          </a:prstGeom>
          <a:noFill/>
          <a:ln>
            <a:noFill/>
          </a:ln>
        </p:spPr>
      </p:pic>
      <p:sp>
        <p:nvSpPr>
          <p:cNvPr id="72" name="Google Shape;72;p14"/>
          <p:cNvSpPr/>
          <p:nvPr/>
        </p:nvSpPr>
        <p:spPr>
          <a:xfrm>
            <a:off x="7377874" y="3027148"/>
            <a:ext cx="857250" cy="857250"/>
          </a:xfrm>
          <a:prstGeom prst="ellipse">
            <a:avLst/>
          </a:prstGeom>
          <a:solidFill>
            <a:srgbClr val="1E293B"/>
          </a:solidFill>
          <a:ln>
            <a:noFill/>
          </a:ln>
          <a:effectLst>
            <a:outerShdw blurRad="177800" dist="50800" dir="5400000" algn="bl" rotWithShape="0">
              <a:srgbClr val="1E293B">
                <a:alpha val="1215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73" name="Google Shape;73;p14" descr="/home/claude/talentflow-template/icons/server-white.png"/>
          <p:cNvPicPr preferRelativeResize="0"/>
          <p:nvPr/>
        </p:nvPicPr>
        <p:blipFill rotWithShape="1">
          <a:blip r:embed="rId5">
            <a:alphaModFix/>
          </a:blip>
          <a:srcRect/>
          <a:stretch/>
        </p:blipFill>
        <p:spPr>
          <a:xfrm>
            <a:off x="7614475" y="3253462"/>
            <a:ext cx="404622" cy="404622"/>
          </a:xfrm>
          <a:prstGeom prst="rect">
            <a:avLst/>
          </a:prstGeom>
          <a:noFill/>
          <a:ln>
            <a:noFill/>
          </a:ln>
        </p:spPr>
      </p:pic>
      <p:sp>
        <p:nvSpPr>
          <p:cNvPr id="74" name="Google Shape;74;p14"/>
          <p:cNvSpPr/>
          <p:nvPr/>
        </p:nvSpPr>
        <p:spPr>
          <a:xfrm>
            <a:off x="8029384" y="2684248"/>
            <a:ext cx="857250" cy="857250"/>
          </a:xfrm>
          <a:prstGeom prst="ellipse">
            <a:avLst/>
          </a:prstGeom>
          <a:solidFill>
            <a:srgbClr val="F3DADA"/>
          </a:solidFill>
          <a:ln>
            <a:noFill/>
          </a:ln>
          <a:effectLst>
            <a:outerShdw blurRad="177800" dist="50800" dir="5400000" algn="bl" rotWithShape="0">
              <a:srgbClr val="1E293B">
                <a:alpha val="1215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75" name="Google Shape;75;p14" descr="/home/claude/talentflow-template/icons/database-primary.png"/>
          <p:cNvPicPr preferRelativeResize="0"/>
          <p:nvPr/>
        </p:nvPicPr>
        <p:blipFill rotWithShape="1">
          <a:blip r:embed="rId6">
            <a:alphaModFix/>
          </a:blip>
          <a:srcRect/>
          <a:stretch/>
        </p:blipFill>
        <p:spPr>
          <a:xfrm>
            <a:off x="8255698" y="2910562"/>
            <a:ext cx="404622" cy="404622"/>
          </a:xfrm>
          <a:prstGeom prst="rect">
            <a:avLst/>
          </a:prstGeom>
          <a:noFill/>
          <a:ln>
            <a:noFill/>
          </a:ln>
        </p:spPr>
      </p:pic>
      <p:pic>
        <p:nvPicPr>
          <p:cNvPr id="4" name="Picture 3" descr="A blue symbol with a lightning bolt&#10;&#10;AI-generated content may be incorrect.">
            <a:extLst>
              <a:ext uri="{FF2B5EF4-FFF2-40B4-BE49-F238E27FC236}">
                <a16:creationId xmlns:a16="http://schemas.microsoft.com/office/drawing/2014/main" id="{05CEC235-3852-E0E4-75AE-FE492CEFB42C}"/>
              </a:ext>
            </a:extLst>
          </p:cNvPr>
          <p:cNvPicPr>
            <a:picLocks noChangeAspect="1"/>
          </p:cNvPicPr>
          <p:nvPr/>
        </p:nvPicPr>
        <p:blipFill>
          <a:blip r:embed="rId7"/>
          <a:stretch>
            <a:fillRect/>
          </a:stretch>
        </p:blipFill>
        <p:spPr>
          <a:xfrm>
            <a:off x="6897624" y="1171004"/>
            <a:ext cx="1612011" cy="1742987"/>
          </a:xfrm>
          <a:prstGeom prst="rect">
            <a:avLst/>
          </a:prstGeom>
        </p:spPr>
      </p:pic>
      <p:cxnSp>
        <p:nvCxnSpPr>
          <p:cNvPr id="16" name="Google Shape;66;p14">
            <a:extLst>
              <a:ext uri="{FF2B5EF4-FFF2-40B4-BE49-F238E27FC236}">
                <a16:creationId xmlns:a16="http://schemas.microsoft.com/office/drawing/2014/main" id="{E4B32CC7-A25E-3A15-D18B-795BAE31349C}"/>
              </a:ext>
            </a:extLst>
          </p:cNvPr>
          <p:cNvCxnSpPr/>
          <p:nvPr/>
        </p:nvCxnSpPr>
        <p:spPr>
          <a:xfrm>
            <a:off x="3068573" y="4052419"/>
            <a:ext cx="0" cy="816102"/>
          </a:xfrm>
          <a:prstGeom prst="straightConnector1">
            <a:avLst/>
          </a:prstGeom>
          <a:noFill/>
          <a:ln w="12700" cap="flat" cmpd="sng">
            <a:solidFill>
              <a:srgbClr val="E7DCDC"/>
            </a:solidFill>
            <a:prstDash val="solid"/>
            <a:round/>
            <a:headEnd type="none" w="sm" len="sm"/>
            <a:tailEnd type="none" w="sm" len="sm"/>
          </a:ln>
        </p:spPr>
      </p:cxnSp>
      <p:sp>
        <p:nvSpPr>
          <p:cNvPr id="17" name="Google Shape;67;p14">
            <a:extLst>
              <a:ext uri="{FF2B5EF4-FFF2-40B4-BE49-F238E27FC236}">
                <a16:creationId xmlns:a16="http://schemas.microsoft.com/office/drawing/2014/main" id="{6115A061-9EA9-11B5-4E09-C95E9F470495}"/>
              </a:ext>
            </a:extLst>
          </p:cNvPr>
          <p:cNvSpPr/>
          <p:nvPr/>
        </p:nvSpPr>
        <p:spPr>
          <a:xfrm>
            <a:off x="3365753" y="4052419"/>
            <a:ext cx="1577340" cy="1783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2A4A4"/>
              </a:buClr>
              <a:buSzPts val="700"/>
              <a:buFont typeface="Calibri"/>
              <a:buNone/>
            </a:pPr>
            <a:r>
              <a:rPr lang="bg" sz="1000" b="1" i="0" u="none" strike="noStrike" cap="none" dirty="0">
                <a:solidFill>
                  <a:schemeClr val="accent2">
                    <a:lumMod val="50000"/>
                    <a:lumOff val="50000"/>
                  </a:schemeClr>
                </a:solidFill>
                <a:latin typeface="Calibri"/>
                <a:ea typeface="Calibri"/>
                <a:cs typeface="Calibri"/>
                <a:sym typeface="Calibri"/>
              </a:rPr>
              <a:t>НАУЧЕН РЪКОВОДИТЕЛ</a:t>
            </a:r>
            <a:endParaRPr sz="1000" b="0" i="0" u="none" strike="noStrike" cap="none" dirty="0">
              <a:solidFill>
                <a:schemeClr val="accent2">
                  <a:lumMod val="50000"/>
                  <a:lumOff val="50000"/>
                </a:schemeClr>
              </a:solidFill>
              <a:latin typeface="Calibri"/>
              <a:ea typeface="Calibri"/>
              <a:cs typeface="Calibri"/>
              <a:sym typeface="Calibri"/>
            </a:endParaRPr>
          </a:p>
        </p:txBody>
      </p:sp>
      <p:sp>
        <p:nvSpPr>
          <p:cNvPr id="18" name="Google Shape;68;p14">
            <a:extLst>
              <a:ext uri="{FF2B5EF4-FFF2-40B4-BE49-F238E27FC236}">
                <a16:creationId xmlns:a16="http://schemas.microsoft.com/office/drawing/2014/main" id="{930C8C4D-8A62-0C7F-96B0-70EA574EC067}"/>
              </a:ext>
            </a:extLst>
          </p:cNvPr>
          <p:cNvSpPr/>
          <p:nvPr/>
        </p:nvSpPr>
        <p:spPr>
          <a:xfrm>
            <a:off x="3365752" y="4244443"/>
            <a:ext cx="1819265" cy="2606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200"/>
              <a:buFont typeface="Cambria"/>
              <a:buNone/>
            </a:pPr>
            <a:r>
              <a:rPr lang="bg" sz="1600" b="1" i="0" u="none" strike="noStrike" cap="none" dirty="0">
                <a:solidFill>
                  <a:srgbClr val="1E293B"/>
                </a:solidFill>
                <a:latin typeface="Cambria"/>
                <a:ea typeface="Cambria"/>
                <a:cs typeface="Cambria"/>
                <a:sym typeface="Cambria"/>
              </a:rPr>
              <a:t>Даниела Петрова</a:t>
            </a:r>
            <a:endParaRPr sz="1600" b="0" i="0" u="none" strike="noStrike" cap="none" dirty="0">
              <a:solidFill>
                <a:schemeClr val="dk1"/>
              </a:solidFill>
              <a:latin typeface="Calibri"/>
              <a:ea typeface="Calibri"/>
              <a:cs typeface="Calibri"/>
              <a:sym typeface="Calibri"/>
            </a:endParaRPr>
          </a:p>
        </p:txBody>
      </p:sp>
      <p:sp>
        <p:nvSpPr>
          <p:cNvPr id="19" name="Google Shape;69;p14">
            <a:extLst>
              <a:ext uri="{FF2B5EF4-FFF2-40B4-BE49-F238E27FC236}">
                <a16:creationId xmlns:a16="http://schemas.microsoft.com/office/drawing/2014/main" id="{D8453B51-47BA-132C-E99E-24C014DA8FD3}"/>
              </a:ext>
            </a:extLst>
          </p:cNvPr>
          <p:cNvSpPr/>
          <p:nvPr/>
        </p:nvSpPr>
        <p:spPr>
          <a:xfrm>
            <a:off x="3365753" y="4505047"/>
            <a:ext cx="1577340" cy="2057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800"/>
              <a:buFont typeface="Calibri"/>
              <a:buNone/>
            </a:pPr>
            <a:r>
              <a:rPr lang="ru-RU" sz="1600" b="0" i="0" u="none" strike="noStrike" cap="none" dirty="0">
                <a:solidFill>
                  <a:srgbClr val="475569"/>
                </a:solidFill>
                <a:latin typeface="Calibri"/>
                <a:ea typeface="Calibri"/>
                <a:cs typeface="Calibri"/>
                <a:sym typeface="Calibri"/>
              </a:rPr>
              <a:t>гл</a:t>
            </a:r>
            <a:r>
              <a:rPr lang="bg" sz="1600" b="0" i="0" u="none" strike="noStrike" cap="none" dirty="0">
                <a:solidFill>
                  <a:srgbClr val="475569"/>
                </a:solidFill>
                <a:latin typeface="Calibri"/>
                <a:ea typeface="Calibri"/>
                <a:cs typeface="Calibri"/>
                <a:sym typeface="Calibri"/>
              </a:rPr>
              <a:t>. </a:t>
            </a:r>
            <a:r>
              <a:rPr lang="ru-RU" sz="1600" dirty="0">
                <a:solidFill>
                  <a:srgbClr val="475569"/>
                </a:solidFill>
                <a:latin typeface="Calibri"/>
                <a:ea typeface="Calibri"/>
                <a:cs typeface="Calibri"/>
                <a:sym typeface="Calibri"/>
              </a:rPr>
              <a:t>ас</a:t>
            </a:r>
            <a:r>
              <a:rPr lang="bg" sz="1600" dirty="0">
                <a:solidFill>
                  <a:srgbClr val="475569"/>
                </a:solidFill>
                <a:latin typeface="Calibri"/>
                <a:ea typeface="Calibri"/>
                <a:cs typeface="Calibri"/>
                <a:sym typeface="Calibri"/>
              </a:rPr>
              <a:t>. </a:t>
            </a:r>
            <a:r>
              <a:rPr lang="ru-RU" sz="1600" dirty="0">
                <a:solidFill>
                  <a:srgbClr val="475569"/>
                </a:solidFill>
                <a:latin typeface="Calibri"/>
                <a:ea typeface="Calibri"/>
                <a:cs typeface="Calibri"/>
                <a:sym typeface="Calibri"/>
              </a:rPr>
              <a:t>д</a:t>
            </a:r>
            <a:r>
              <a:rPr lang="bg" sz="1600" dirty="0">
                <a:solidFill>
                  <a:srgbClr val="475569"/>
                </a:solidFill>
                <a:latin typeface="Calibri"/>
                <a:ea typeface="Calibri"/>
                <a:cs typeface="Calibri"/>
                <a:sym typeface="Calibri"/>
              </a:rPr>
              <a:t>-р</a:t>
            </a:r>
            <a:endParaRPr sz="16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1"/>
        <p:cNvGrpSpPr/>
        <p:nvPr/>
      </p:nvGrpSpPr>
      <p:grpSpPr>
        <a:xfrm>
          <a:off x="0" y="0"/>
          <a:ext cx="0" cy="0"/>
          <a:chOff x="0" y="0"/>
          <a:chExt cx="0" cy="0"/>
        </a:xfrm>
      </p:grpSpPr>
      <p:sp>
        <p:nvSpPr>
          <p:cNvPr id="152" name="Google Shape;152;p17"/>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3" name="Google Shape;153;p17"/>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4" name="Google Shape;154;p17"/>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ВЪВЕДЕНИЕ</a:t>
            </a:r>
            <a:endParaRPr sz="1100" b="0" i="0" u="none" strike="noStrike" cap="none" dirty="0">
              <a:solidFill>
                <a:schemeClr val="dk1"/>
              </a:solidFill>
              <a:latin typeface="Calibri"/>
              <a:ea typeface="Calibri"/>
              <a:cs typeface="Calibri"/>
              <a:sym typeface="Calibri"/>
            </a:endParaRPr>
          </a:p>
        </p:txBody>
      </p:sp>
      <p:sp>
        <p:nvSpPr>
          <p:cNvPr id="159" name="Google Shape;159;p17"/>
          <p:cNvSpPr/>
          <p:nvPr/>
        </p:nvSpPr>
        <p:spPr>
          <a:xfrm>
            <a:off x="676837" y="294894"/>
            <a:ext cx="589788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300" b="1" i="0" u="none" strike="noStrike" cap="none" dirty="0">
                <a:solidFill>
                  <a:srgbClr val="1E293B"/>
                </a:solidFill>
                <a:latin typeface="Cambria"/>
                <a:ea typeface="Cambria"/>
                <a:cs typeface="Cambria"/>
                <a:sym typeface="Cambria"/>
              </a:rPr>
              <a:t>Мотивация</a:t>
            </a:r>
            <a:endParaRPr sz="2300" b="0" i="0" u="none" strike="noStrike" cap="none" dirty="0">
              <a:solidFill>
                <a:schemeClr val="dk1"/>
              </a:solidFill>
              <a:latin typeface="Calibri"/>
              <a:ea typeface="Calibri"/>
              <a:cs typeface="Calibri"/>
              <a:sym typeface="Calibri"/>
            </a:endParaRPr>
          </a:p>
        </p:txBody>
      </p:sp>
      <p:sp>
        <p:nvSpPr>
          <p:cNvPr id="161" name="Google Shape;161;p17"/>
          <p:cNvSpPr/>
          <p:nvPr/>
        </p:nvSpPr>
        <p:spPr>
          <a:xfrm>
            <a:off x="1063461" y="2657176"/>
            <a:ext cx="3422731" cy="1920449"/>
          </a:xfrm>
          <a:prstGeom prst="roundRect">
            <a:avLst>
              <a:gd name="adj" fmla="val 2887"/>
            </a:avLst>
          </a:prstGeom>
          <a:solidFill>
            <a:srgbClr val="1E293B"/>
          </a:solidFill>
          <a:ln>
            <a:solidFill>
              <a:srgbClr val="1E293B"/>
            </a:solidFill>
          </a:ln>
          <a:effectLst>
            <a:outerShdw blurRad="177800" dist="50800" dir="54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dirty="0"/>
          </a:p>
        </p:txBody>
      </p:sp>
      <p:sp>
        <p:nvSpPr>
          <p:cNvPr id="162" name="Google Shape;162;p17"/>
          <p:cNvSpPr/>
          <p:nvPr/>
        </p:nvSpPr>
        <p:spPr>
          <a:xfrm>
            <a:off x="1180047" y="2777191"/>
            <a:ext cx="342900" cy="342900"/>
          </a:xfrm>
          <a:prstGeom prst="ellipse">
            <a:avLst/>
          </a:prstGeom>
          <a:solidFill>
            <a:srgbClr val="27344A"/>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dirty="0"/>
          </a:p>
        </p:txBody>
      </p:sp>
      <p:pic>
        <p:nvPicPr>
          <p:cNvPr id="163" name="Google Shape;163;p17" descr="/home/claude/talentflow-template/icons/lightbulb-white.png"/>
          <p:cNvPicPr preferRelativeResize="0"/>
          <p:nvPr/>
        </p:nvPicPr>
        <p:blipFill rotWithShape="1">
          <a:blip r:embed="rId3">
            <a:alphaModFix/>
          </a:blip>
          <a:srcRect/>
          <a:stretch/>
        </p:blipFill>
        <p:spPr>
          <a:xfrm>
            <a:off x="1255485" y="2852629"/>
            <a:ext cx="192024" cy="192024"/>
          </a:xfrm>
          <a:prstGeom prst="rect">
            <a:avLst/>
          </a:prstGeom>
          <a:noFill/>
          <a:ln>
            <a:noFill/>
          </a:ln>
        </p:spPr>
      </p:pic>
      <p:sp>
        <p:nvSpPr>
          <p:cNvPr id="164" name="Google Shape;164;p17"/>
          <p:cNvSpPr/>
          <p:nvPr/>
        </p:nvSpPr>
        <p:spPr>
          <a:xfrm>
            <a:off x="1598385" y="2811481"/>
            <a:ext cx="1005840" cy="27432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FFFFFF"/>
              </a:buClr>
              <a:buSzPts val="1400"/>
              <a:buFont typeface="Cambria"/>
              <a:buNone/>
            </a:pPr>
            <a:r>
              <a:rPr lang="bg" sz="1600" b="1" i="0" u="none" strike="noStrike" cap="none" dirty="0">
                <a:solidFill>
                  <a:srgbClr val="FFFFFF"/>
                </a:solidFill>
                <a:latin typeface="Cambria"/>
                <a:ea typeface="Cambria"/>
                <a:cs typeface="Cambria"/>
                <a:sym typeface="Cambria"/>
              </a:rPr>
              <a:t>Проблем</a:t>
            </a:r>
            <a:endParaRPr sz="1600" b="0" i="0" u="none" strike="noStrike" cap="none" dirty="0">
              <a:solidFill>
                <a:schemeClr val="dk1"/>
              </a:solidFill>
              <a:latin typeface="Calibri"/>
              <a:ea typeface="Calibri"/>
              <a:cs typeface="Calibri"/>
              <a:sym typeface="Calibri"/>
            </a:endParaRPr>
          </a:p>
        </p:txBody>
      </p:sp>
      <p:sp>
        <p:nvSpPr>
          <p:cNvPr id="165" name="Google Shape;165;p17"/>
          <p:cNvSpPr/>
          <p:nvPr/>
        </p:nvSpPr>
        <p:spPr>
          <a:xfrm>
            <a:off x="1180047" y="3142972"/>
            <a:ext cx="3198114" cy="1339826"/>
          </a:xfrm>
          <a:prstGeom prst="rect">
            <a:avLst/>
          </a:prstGeom>
          <a:noFill/>
          <a:ln>
            <a:noFill/>
          </a:ln>
        </p:spPr>
        <p:txBody>
          <a:bodyPr spcFirstLastPara="1" wrap="square" lIns="0" tIns="0" rIns="0" bIns="0" anchor="t" anchorCtr="0">
            <a:noAutofit/>
          </a:bodyPr>
          <a:lstStyle/>
          <a:p>
            <a:pPr marL="171450" marR="0" lvl="0" indent="-171450" algn="l" rtl="0">
              <a:lnSpc>
                <a:spcPct val="120000"/>
              </a:lnSpc>
              <a:spcBef>
                <a:spcPts val="0"/>
              </a:spcBef>
              <a:spcAft>
                <a:spcPts val="0"/>
              </a:spcAft>
              <a:buClr>
                <a:srgbClr val="CBD5E1"/>
              </a:buClr>
              <a:buSzPts val="800"/>
              <a:buFont typeface="Arial" panose="020B0604020202020204" pitchFamily="34" charset="0"/>
              <a:buChar char="•"/>
            </a:pPr>
            <a:r>
              <a:rPr lang="ru-RU" sz="1600" dirty="0">
                <a:solidFill>
                  <a:schemeClr val="tx2"/>
                </a:solidFill>
                <a:latin typeface="Calibri"/>
                <a:ea typeface="Calibri"/>
                <a:cs typeface="Calibri"/>
                <a:sym typeface="Calibri"/>
              </a:rPr>
              <a:t>Технологична фрагментация</a:t>
            </a:r>
          </a:p>
          <a:p>
            <a:pPr marL="171450" marR="0" lvl="0" indent="-171450" algn="l" rtl="0">
              <a:lnSpc>
                <a:spcPct val="120000"/>
              </a:lnSpc>
              <a:spcBef>
                <a:spcPts val="0"/>
              </a:spcBef>
              <a:spcAft>
                <a:spcPts val="0"/>
              </a:spcAft>
              <a:buClr>
                <a:srgbClr val="CBD5E1"/>
              </a:buClr>
              <a:buSzPts val="800"/>
              <a:buFont typeface="Arial" panose="020B0604020202020204" pitchFamily="34" charset="0"/>
              <a:buChar char="•"/>
            </a:pPr>
            <a:r>
              <a:rPr lang="ru-RU" sz="1600" dirty="0">
                <a:solidFill>
                  <a:schemeClr val="tx2"/>
                </a:solidFill>
                <a:latin typeface="Calibri"/>
                <a:ea typeface="Calibri"/>
                <a:cs typeface="Calibri"/>
                <a:sym typeface="Calibri"/>
              </a:rPr>
              <a:t>Ограничени каталожни модели</a:t>
            </a:r>
          </a:p>
          <a:p>
            <a:pPr marL="171450" marR="0" lvl="0" indent="-171450" algn="l" rtl="0">
              <a:lnSpc>
                <a:spcPct val="120000"/>
              </a:lnSpc>
              <a:spcBef>
                <a:spcPts val="0"/>
              </a:spcBef>
              <a:spcAft>
                <a:spcPts val="0"/>
              </a:spcAft>
              <a:buClr>
                <a:srgbClr val="CBD5E1"/>
              </a:buClr>
              <a:buSzPts val="800"/>
              <a:buFont typeface="Arial" panose="020B0604020202020204" pitchFamily="34" charset="0"/>
              <a:buChar char="•"/>
            </a:pPr>
            <a:r>
              <a:rPr lang="ru-RU" sz="1600" dirty="0">
                <a:solidFill>
                  <a:schemeClr val="tx2"/>
                </a:solidFill>
                <a:latin typeface="Calibri"/>
                <a:ea typeface="Calibri"/>
                <a:cs typeface="Calibri"/>
                <a:sym typeface="Calibri"/>
              </a:rPr>
              <a:t>Д</a:t>
            </a:r>
            <a:r>
              <a:rPr lang="ru-RU" sz="1600" b="0" i="0" u="none" strike="noStrike" cap="none" dirty="0">
                <a:solidFill>
                  <a:schemeClr val="tx2"/>
                </a:solidFill>
                <a:latin typeface="Calibri"/>
                <a:ea typeface="Calibri"/>
                <a:cs typeface="Calibri"/>
                <a:sym typeface="Calibri"/>
              </a:rPr>
              <a:t>окументална проследимост</a:t>
            </a:r>
          </a:p>
          <a:p>
            <a:pPr marL="171450" marR="0" lvl="0" indent="-171450" algn="l" rtl="0">
              <a:lnSpc>
                <a:spcPct val="120000"/>
              </a:lnSpc>
              <a:spcBef>
                <a:spcPts val="0"/>
              </a:spcBef>
              <a:spcAft>
                <a:spcPts val="0"/>
              </a:spcAft>
              <a:buClr>
                <a:srgbClr val="CBD5E1"/>
              </a:buClr>
              <a:buSzPts val="800"/>
              <a:buFont typeface="Arial" panose="020B0604020202020204" pitchFamily="34" charset="0"/>
              <a:buChar char="•"/>
            </a:pPr>
            <a:r>
              <a:rPr lang="ru-RU" sz="1600" dirty="0">
                <a:solidFill>
                  <a:schemeClr val="tx2"/>
                </a:solidFill>
                <a:latin typeface="Calibri"/>
                <a:ea typeface="Calibri"/>
                <a:cs typeface="Calibri"/>
                <a:sym typeface="Calibri"/>
              </a:rPr>
              <a:t>Неефективен подбор</a:t>
            </a:r>
            <a:endParaRPr lang="bg" sz="1600" b="0" i="0" u="none" strike="noStrike" cap="none" dirty="0">
              <a:solidFill>
                <a:schemeClr val="tx2"/>
              </a:solidFill>
              <a:latin typeface="Calibri"/>
              <a:ea typeface="Calibri"/>
              <a:cs typeface="Calibri"/>
              <a:sym typeface="Calibri"/>
            </a:endParaRPr>
          </a:p>
        </p:txBody>
      </p:sp>
      <p:sp>
        <p:nvSpPr>
          <p:cNvPr id="166" name="Google Shape;166;p17"/>
          <p:cNvSpPr/>
          <p:nvPr/>
        </p:nvSpPr>
        <p:spPr>
          <a:xfrm>
            <a:off x="2565827" y="720090"/>
            <a:ext cx="4005893" cy="1649775"/>
          </a:xfrm>
          <a:prstGeom prst="roundRect">
            <a:avLst>
              <a:gd name="adj" fmla="val 6154"/>
            </a:avLst>
          </a:prstGeom>
          <a:solidFill>
            <a:srgbClr val="FDF7F7"/>
          </a:solidFill>
          <a:ln w="12700">
            <a:solidFill>
              <a:srgbClr val="ECA8AE"/>
            </a:solidFill>
            <a:prstDash val="dash"/>
          </a:ln>
          <a:effectLst>
            <a:outerShdw blurRad="177800" dist="50800" dir="5400000" algn="bl" rotWithShape="0">
              <a:srgbClr val="1E293B">
                <a:alpha val="7843"/>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dirty="0"/>
          </a:p>
        </p:txBody>
      </p:sp>
      <p:sp>
        <p:nvSpPr>
          <p:cNvPr id="167" name="Google Shape;167;p17"/>
          <p:cNvSpPr/>
          <p:nvPr/>
        </p:nvSpPr>
        <p:spPr>
          <a:xfrm>
            <a:off x="2682412" y="842906"/>
            <a:ext cx="342900" cy="342900"/>
          </a:xfrm>
          <a:prstGeom prst="ellipse">
            <a:avLst/>
          </a:prstGeom>
          <a:solidFill>
            <a:srgbClr val="F3DADA"/>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168" name="Google Shape;168;p17" descr="/home/claude/talentflow-template/icons/chartline-primary.png"/>
          <p:cNvPicPr preferRelativeResize="0"/>
          <p:nvPr/>
        </p:nvPicPr>
        <p:blipFill rotWithShape="1">
          <a:blip r:embed="rId4">
            <a:alphaModFix/>
          </a:blip>
          <a:srcRect/>
          <a:stretch/>
        </p:blipFill>
        <p:spPr>
          <a:xfrm>
            <a:off x="2757850" y="906152"/>
            <a:ext cx="192024" cy="192024"/>
          </a:xfrm>
          <a:prstGeom prst="rect">
            <a:avLst/>
          </a:prstGeom>
          <a:noFill/>
          <a:ln>
            <a:noFill/>
          </a:ln>
        </p:spPr>
      </p:pic>
      <p:sp>
        <p:nvSpPr>
          <p:cNvPr id="169" name="Google Shape;169;p17"/>
          <p:cNvSpPr/>
          <p:nvPr/>
        </p:nvSpPr>
        <p:spPr>
          <a:xfrm>
            <a:off x="3141022" y="819412"/>
            <a:ext cx="1912032" cy="34290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1E293B"/>
              </a:buClr>
              <a:buSzPts val="1100"/>
              <a:buFont typeface="Cambria"/>
              <a:buNone/>
            </a:pPr>
            <a:r>
              <a:rPr lang="bg" sz="1600" b="1" i="0" u="none" strike="noStrike" cap="none" dirty="0">
                <a:solidFill>
                  <a:srgbClr val="1E293B"/>
                </a:solidFill>
                <a:latin typeface="Cambria"/>
                <a:ea typeface="Cambria"/>
                <a:cs typeface="Cambria"/>
                <a:sym typeface="Cambria"/>
              </a:rPr>
              <a:t>Контекст</a:t>
            </a:r>
            <a:endParaRPr sz="1600" b="0" i="0" u="none" strike="noStrike" cap="none" dirty="0">
              <a:solidFill>
                <a:schemeClr val="dk1"/>
              </a:solidFill>
              <a:latin typeface="Calibri"/>
              <a:ea typeface="Calibri"/>
              <a:cs typeface="Calibri"/>
              <a:sym typeface="Calibri"/>
            </a:endParaRPr>
          </a:p>
        </p:txBody>
      </p:sp>
      <p:sp>
        <p:nvSpPr>
          <p:cNvPr id="170" name="Google Shape;170;p17"/>
          <p:cNvSpPr/>
          <p:nvPr/>
        </p:nvSpPr>
        <p:spPr>
          <a:xfrm>
            <a:off x="2737277" y="1233206"/>
            <a:ext cx="4136842" cy="1327765"/>
          </a:xfrm>
          <a:prstGeom prst="rect">
            <a:avLst/>
          </a:prstGeom>
          <a:noFill/>
          <a:ln>
            <a:noFill/>
          </a:ln>
        </p:spPr>
        <p:txBody>
          <a:bodyPr spcFirstLastPara="1" wrap="square" lIns="0" tIns="0" rIns="0" bIns="0" anchor="t" anchorCtr="0">
            <a:noAutofit/>
          </a:bodyPr>
          <a:lstStyle/>
          <a:p>
            <a:pPr marL="171450" marR="0" lvl="0" indent="-171450" algn="l" rtl="0">
              <a:lnSpc>
                <a:spcPct val="120000"/>
              </a:lnSpc>
              <a:spcBef>
                <a:spcPts val="0"/>
              </a:spcBef>
              <a:spcAft>
                <a:spcPts val="0"/>
              </a:spcAft>
              <a:buClr>
                <a:srgbClr val="475569"/>
              </a:buClr>
              <a:buSzPts val="800"/>
              <a:buFont typeface="Arial" panose="020B0604020202020204" pitchFamily="34" charset="0"/>
              <a:buChar char="•"/>
            </a:pPr>
            <a:r>
              <a:rPr lang="ru-RU" sz="1600" dirty="0">
                <a:solidFill>
                  <a:schemeClr val="dk1"/>
                </a:solidFill>
                <a:latin typeface="Calibri"/>
                <a:ea typeface="Calibri"/>
                <a:cs typeface="Calibri"/>
                <a:sym typeface="Calibri"/>
              </a:rPr>
              <a:t>Растеж на свободната заетост</a:t>
            </a:r>
          </a:p>
          <a:p>
            <a:pPr marL="171450" marR="0" lvl="0" indent="-171450" algn="l" rtl="0">
              <a:lnSpc>
                <a:spcPct val="120000"/>
              </a:lnSpc>
              <a:spcBef>
                <a:spcPts val="0"/>
              </a:spcBef>
              <a:spcAft>
                <a:spcPts val="0"/>
              </a:spcAft>
              <a:buClr>
                <a:srgbClr val="475569"/>
              </a:buClr>
              <a:buSzPts val="800"/>
              <a:buFont typeface="Arial" panose="020B0604020202020204" pitchFamily="34" charset="0"/>
              <a:buChar char="•"/>
            </a:pPr>
            <a:r>
              <a:rPr lang="ru-RU" sz="1600" dirty="0">
                <a:solidFill>
                  <a:schemeClr val="dk1"/>
                </a:solidFill>
                <a:latin typeface="Calibri"/>
                <a:ea typeface="Calibri"/>
                <a:cs typeface="Calibri"/>
                <a:sym typeface="Calibri"/>
              </a:rPr>
              <a:t>Развитие на дигиталната икономика</a:t>
            </a:r>
          </a:p>
          <a:p>
            <a:pPr marL="171450" marR="0" lvl="0" indent="-171450" algn="l" rtl="0">
              <a:lnSpc>
                <a:spcPct val="120000"/>
              </a:lnSpc>
              <a:spcBef>
                <a:spcPts val="0"/>
              </a:spcBef>
              <a:spcAft>
                <a:spcPts val="0"/>
              </a:spcAft>
              <a:buClr>
                <a:srgbClr val="475569"/>
              </a:buClr>
              <a:buSzPts val="800"/>
              <a:buFont typeface="Arial" panose="020B0604020202020204" pitchFamily="34" charset="0"/>
              <a:buChar char="•"/>
            </a:pPr>
            <a:r>
              <a:rPr lang="ru-RU" sz="1600" dirty="0">
                <a:solidFill>
                  <a:schemeClr val="dk1"/>
                </a:solidFill>
                <a:latin typeface="Calibri"/>
                <a:ea typeface="Calibri"/>
                <a:cs typeface="Calibri"/>
                <a:sym typeface="Calibri"/>
              </a:rPr>
              <a:t>Гъвкави форми на сътрудничество</a:t>
            </a:r>
          </a:p>
          <a:p>
            <a:pPr marR="0" lvl="0" algn="l" rtl="0">
              <a:lnSpc>
                <a:spcPct val="120000"/>
              </a:lnSpc>
              <a:spcBef>
                <a:spcPts val="0"/>
              </a:spcBef>
              <a:spcAft>
                <a:spcPts val="0"/>
              </a:spcAft>
              <a:buClr>
                <a:srgbClr val="475569"/>
              </a:buClr>
              <a:buSzPts val="800"/>
            </a:pPr>
            <a:endParaRPr lang="ru-RU" dirty="0">
              <a:solidFill>
                <a:schemeClr val="dk1"/>
              </a:solidFill>
              <a:latin typeface="Calibri"/>
              <a:ea typeface="Calibri"/>
              <a:cs typeface="Calibri"/>
              <a:sym typeface="Calibri"/>
            </a:endParaRPr>
          </a:p>
          <a:p>
            <a:pPr marL="171450" marR="0" lvl="0" indent="-171450" algn="l" rtl="0">
              <a:lnSpc>
                <a:spcPct val="120000"/>
              </a:lnSpc>
              <a:spcBef>
                <a:spcPts val="0"/>
              </a:spcBef>
              <a:spcAft>
                <a:spcPts val="0"/>
              </a:spcAft>
              <a:buClr>
                <a:srgbClr val="475569"/>
              </a:buClr>
              <a:buSzPts val="800"/>
              <a:buFont typeface="Arial" panose="020B0604020202020204" pitchFamily="34" charset="0"/>
              <a:buChar char="•"/>
            </a:pPr>
            <a:endParaRPr lang="ru-RU" b="0" i="0" u="none" strike="noStrike" cap="none" dirty="0">
              <a:solidFill>
                <a:schemeClr val="dk1"/>
              </a:solidFill>
              <a:latin typeface="Calibri"/>
              <a:ea typeface="Calibri"/>
              <a:cs typeface="Calibri"/>
              <a:sym typeface="Calibri"/>
            </a:endParaRPr>
          </a:p>
        </p:txBody>
      </p:sp>
      <p:sp>
        <p:nvSpPr>
          <p:cNvPr id="171" name="Google Shape;171;p17"/>
          <p:cNvSpPr/>
          <p:nvPr/>
        </p:nvSpPr>
        <p:spPr>
          <a:xfrm>
            <a:off x="4664687" y="2651233"/>
            <a:ext cx="3573607" cy="1664189"/>
          </a:xfrm>
          <a:prstGeom prst="roundRect">
            <a:avLst>
              <a:gd name="adj" fmla="val 6154"/>
            </a:avLst>
          </a:prstGeom>
          <a:solidFill>
            <a:srgbClr val="FFFFFF"/>
          </a:solidFill>
          <a:ln w="12700" cap="flat" cmpd="sng">
            <a:solidFill>
              <a:srgbClr val="E7DCDC"/>
            </a:solidFill>
            <a:prstDash val="solid"/>
            <a:round/>
            <a:headEnd type="none" w="sm" len="sm"/>
            <a:tailEnd type="none" w="sm" len="sm"/>
          </a:ln>
          <a:effectLst>
            <a:outerShdw blurRad="177800" dist="50800" dir="5400000" algn="bl" rotWithShape="0">
              <a:srgbClr val="1E293B">
                <a:alpha val="7843"/>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72" name="Google Shape;172;p17"/>
          <p:cNvSpPr/>
          <p:nvPr/>
        </p:nvSpPr>
        <p:spPr>
          <a:xfrm>
            <a:off x="4864123" y="2777010"/>
            <a:ext cx="342900" cy="308791"/>
          </a:xfrm>
          <a:prstGeom prst="ellipse">
            <a:avLst/>
          </a:prstGeom>
          <a:solidFill>
            <a:srgbClr val="F3DADA"/>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173" name="Google Shape;173;p17" descr="/home/claude/talentflow-template/icons/puzzle-primary.png"/>
          <p:cNvPicPr preferRelativeResize="0"/>
          <p:nvPr/>
        </p:nvPicPr>
        <p:blipFill rotWithShape="1">
          <a:blip r:embed="rId5">
            <a:alphaModFix/>
          </a:blip>
          <a:srcRect/>
          <a:stretch/>
        </p:blipFill>
        <p:spPr>
          <a:xfrm>
            <a:off x="4957341" y="2838732"/>
            <a:ext cx="192024" cy="172924"/>
          </a:xfrm>
          <a:prstGeom prst="rect">
            <a:avLst/>
          </a:prstGeom>
          <a:noFill/>
          <a:ln>
            <a:noFill/>
          </a:ln>
        </p:spPr>
      </p:pic>
      <p:sp>
        <p:nvSpPr>
          <p:cNvPr id="174" name="Google Shape;174;p17"/>
          <p:cNvSpPr/>
          <p:nvPr/>
        </p:nvSpPr>
        <p:spPr>
          <a:xfrm>
            <a:off x="5282460" y="2797584"/>
            <a:ext cx="1650083" cy="247034"/>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1E293B"/>
              </a:buClr>
              <a:buSzPts val="1100"/>
              <a:buFont typeface="Cambria"/>
              <a:buNone/>
            </a:pPr>
            <a:r>
              <a:rPr lang="bg-BG" sz="1600" b="1" dirty="0">
                <a:solidFill>
                  <a:srgbClr val="1E293B"/>
                </a:solidFill>
                <a:latin typeface="Cambria"/>
                <a:ea typeface="Cambria"/>
                <a:cs typeface="Calibri"/>
                <a:sym typeface="Cambria"/>
              </a:rPr>
              <a:t>Последствия</a:t>
            </a:r>
            <a:endParaRPr sz="1600" b="0" i="0" u="none" strike="noStrike" cap="none" dirty="0">
              <a:solidFill>
                <a:schemeClr val="dk1"/>
              </a:solidFill>
              <a:latin typeface="Calibri"/>
              <a:ea typeface="Calibri"/>
              <a:cs typeface="Calibri"/>
              <a:sym typeface="Calibri"/>
            </a:endParaRPr>
          </a:p>
        </p:txBody>
      </p:sp>
      <p:sp>
        <p:nvSpPr>
          <p:cNvPr id="2" name="Google Shape;170;p17">
            <a:extLst>
              <a:ext uri="{FF2B5EF4-FFF2-40B4-BE49-F238E27FC236}">
                <a16:creationId xmlns:a16="http://schemas.microsoft.com/office/drawing/2014/main" id="{FD272EB3-CFD1-0885-B7FA-CFBA58C0254E}"/>
              </a:ext>
            </a:extLst>
          </p:cNvPr>
          <p:cNvSpPr/>
          <p:nvPr/>
        </p:nvSpPr>
        <p:spPr>
          <a:xfrm>
            <a:off x="4741535" y="3135164"/>
            <a:ext cx="3496759" cy="1062401"/>
          </a:xfrm>
          <a:prstGeom prst="rect">
            <a:avLst/>
          </a:prstGeom>
          <a:noFill/>
          <a:ln>
            <a:noFill/>
          </a:ln>
        </p:spPr>
        <p:txBody>
          <a:bodyPr spcFirstLastPara="1" wrap="square" lIns="0" tIns="0" rIns="0" bIns="0" anchor="t" anchorCtr="0">
            <a:noAutofit/>
          </a:bodyPr>
          <a:lstStyle/>
          <a:p>
            <a:pPr marL="171450" marR="0" lvl="0" indent="-171450" algn="l" rtl="0">
              <a:lnSpc>
                <a:spcPct val="120000"/>
              </a:lnSpc>
              <a:spcBef>
                <a:spcPts val="0"/>
              </a:spcBef>
              <a:spcAft>
                <a:spcPts val="0"/>
              </a:spcAft>
              <a:buClr>
                <a:srgbClr val="CBD5E1"/>
              </a:buClr>
              <a:buSzPts val="800"/>
              <a:buFont typeface="Arial" panose="020B0604020202020204" pitchFamily="34" charset="0"/>
              <a:buChar char="•"/>
            </a:pPr>
            <a:r>
              <a:rPr lang="ru-RU" sz="1600" dirty="0">
                <a:solidFill>
                  <a:schemeClr val="tx1"/>
                </a:solidFill>
                <a:latin typeface="Calibri"/>
                <a:ea typeface="Calibri"/>
                <a:cs typeface="Calibri"/>
                <a:sym typeface="Calibri"/>
              </a:rPr>
              <a:t>Административна тежест</a:t>
            </a:r>
          </a:p>
          <a:p>
            <a:pPr marL="171450" marR="0" lvl="0" indent="-171450" algn="l" rtl="0">
              <a:lnSpc>
                <a:spcPct val="120000"/>
              </a:lnSpc>
              <a:spcBef>
                <a:spcPts val="0"/>
              </a:spcBef>
              <a:spcAft>
                <a:spcPts val="0"/>
              </a:spcAft>
              <a:buClr>
                <a:srgbClr val="CBD5E1"/>
              </a:buClr>
              <a:buSzPts val="800"/>
              <a:buFont typeface="Arial" panose="020B0604020202020204" pitchFamily="34" charset="0"/>
              <a:buChar char="•"/>
            </a:pPr>
            <a:r>
              <a:rPr lang="ru-RU" sz="1600" dirty="0">
                <a:solidFill>
                  <a:schemeClr val="tx1"/>
                </a:solidFill>
                <a:latin typeface="Calibri"/>
                <a:ea typeface="Calibri"/>
                <a:cs typeface="Calibri"/>
                <a:sym typeface="Calibri"/>
              </a:rPr>
              <a:t>Намалена прозрачност</a:t>
            </a:r>
          </a:p>
          <a:p>
            <a:pPr marL="171450" marR="0" lvl="0" indent="-171450" algn="l" rtl="0">
              <a:lnSpc>
                <a:spcPct val="120000"/>
              </a:lnSpc>
              <a:spcBef>
                <a:spcPts val="0"/>
              </a:spcBef>
              <a:spcAft>
                <a:spcPts val="0"/>
              </a:spcAft>
              <a:buClr>
                <a:srgbClr val="CBD5E1"/>
              </a:buClr>
              <a:buSzPts val="800"/>
              <a:buFont typeface="Arial" panose="020B0604020202020204" pitchFamily="34" charset="0"/>
              <a:buChar char="•"/>
            </a:pPr>
            <a:r>
              <a:rPr lang="ru-RU" sz="1600" dirty="0">
                <a:solidFill>
                  <a:schemeClr val="tx1"/>
                </a:solidFill>
                <a:latin typeface="Calibri"/>
                <a:ea typeface="Calibri"/>
                <a:cs typeface="Calibri"/>
                <a:sym typeface="Calibri"/>
              </a:rPr>
              <a:t>Р</a:t>
            </a:r>
            <a:r>
              <a:rPr lang="bg-BG" sz="1600" dirty="0">
                <a:solidFill>
                  <a:schemeClr val="tx1"/>
                </a:solidFill>
                <a:latin typeface="Calibri"/>
                <a:ea typeface="Calibri"/>
                <a:cs typeface="Calibri"/>
                <a:sym typeface="Calibri"/>
              </a:rPr>
              <a:t>азпокъсване на информация</a:t>
            </a:r>
            <a:endParaRPr lang="ru-RU" sz="1600" dirty="0">
              <a:solidFill>
                <a:schemeClr val="tx1"/>
              </a:solidFill>
              <a:latin typeface="Calibri"/>
              <a:ea typeface="Calibri"/>
              <a:cs typeface="Calibri"/>
              <a:sym typeface="Calibri"/>
            </a:endParaRPr>
          </a:p>
          <a:p>
            <a:pPr marL="171450" marR="0" lvl="0" indent="-171450" algn="l" rtl="0">
              <a:lnSpc>
                <a:spcPct val="120000"/>
              </a:lnSpc>
              <a:spcBef>
                <a:spcPts val="0"/>
              </a:spcBef>
              <a:spcAft>
                <a:spcPts val="0"/>
              </a:spcAft>
              <a:buClr>
                <a:srgbClr val="475569"/>
              </a:buClr>
              <a:buSzPts val="800"/>
              <a:buFont typeface="Arial" panose="020B0604020202020204" pitchFamily="34" charset="0"/>
              <a:buChar char="•"/>
            </a:pPr>
            <a:endParaRPr lang="ru-RU" sz="1600" dirty="0">
              <a:solidFill>
                <a:schemeClr val="tx1"/>
              </a:solidFill>
              <a:latin typeface="Calibri"/>
              <a:ea typeface="Calibri"/>
              <a:cs typeface="Calibri"/>
              <a:sym typeface="Calibri"/>
            </a:endParaRPr>
          </a:p>
          <a:p>
            <a:pPr marL="171450" marR="0" lvl="0" indent="-171450" algn="l" rtl="0">
              <a:lnSpc>
                <a:spcPct val="120000"/>
              </a:lnSpc>
              <a:spcBef>
                <a:spcPts val="0"/>
              </a:spcBef>
              <a:spcAft>
                <a:spcPts val="0"/>
              </a:spcAft>
              <a:buClr>
                <a:srgbClr val="475569"/>
              </a:buClr>
              <a:buSzPts val="800"/>
              <a:buFont typeface="Arial" panose="020B0604020202020204" pitchFamily="34" charset="0"/>
              <a:buChar char="•"/>
            </a:pPr>
            <a:endParaRPr lang="ru-RU" sz="1600" b="0" i="0" u="none" strike="noStrike" cap="none" dirty="0">
              <a:solidFill>
                <a:schemeClr val="tx1"/>
              </a:solidFill>
              <a:latin typeface="Calibri"/>
              <a:ea typeface="Calibri"/>
              <a:cs typeface="Calibri"/>
              <a:sym typeface="Calibri"/>
            </a:endParaRPr>
          </a:p>
        </p:txBody>
      </p:sp>
      <p:sp>
        <p:nvSpPr>
          <p:cNvPr id="5" name="Google Shape;165;p17">
            <a:extLst>
              <a:ext uri="{FF2B5EF4-FFF2-40B4-BE49-F238E27FC236}">
                <a16:creationId xmlns:a16="http://schemas.microsoft.com/office/drawing/2014/main" id="{4395D27A-1C33-2624-3631-A3ADF79A7C8A}"/>
              </a:ext>
            </a:extLst>
          </p:cNvPr>
          <p:cNvSpPr/>
          <p:nvPr/>
        </p:nvSpPr>
        <p:spPr>
          <a:xfrm>
            <a:off x="884966" y="2913436"/>
            <a:ext cx="3038684" cy="1500760"/>
          </a:xfrm>
          <a:prstGeom prst="rect">
            <a:avLst/>
          </a:prstGeom>
          <a:noFill/>
          <a:ln>
            <a:noFill/>
          </a:ln>
        </p:spPr>
        <p:txBody>
          <a:bodyPr spcFirstLastPara="1" wrap="square" lIns="0" tIns="0" rIns="0" bIns="0" anchor="t" anchorCtr="0">
            <a:noAutofit/>
          </a:bodyPr>
          <a:lstStyle/>
          <a:p>
            <a:pPr marL="171450" marR="0" lvl="0" indent="-171450" algn="l" rtl="0">
              <a:lnSpc>
                <a:spcPct val="120000"/>
              </a:lnSpc>
              <a:spcBef>
                <a:spcPts val="0"/>
              </a:spcBef>
              <a:spcAft>
                <a:spcPts val="0"/>
              </a:spcAft>
              <a:buClr>
                <a:srgbClr val="CBD5E1"/>
              </a:buClr>
              <a:buSzPts val="800"/>
              <a:buFont typeface="Arial" panose="020B0604020202020204" pitchFamily="34" charset="0"/>
              <a:buChar char="•"/>
            </a:pPr>
            <a:endParaRPr lang="ru-RU" sz="1300" dirty="0">
              <a:solidFill>
                <a:srgbClr val="CBD5E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rgbClr val="FDF7F7">
                <a:lumMod val="97000"/>
                <a:lumOff val="3000"/>
                <a:alpha val="99000"/>
              </a:srgbClr>
            </a:gs>
            <a:gs pos="100000">
              <a:srgbClr val="F3C9CD">
                <a:alpha val="0"/>
                <a:lumMod val="44000"/>
                <a:lumOff val="56000"/>
              </a:srgbClr>
            </a:gs>
            <a:gs pos="100000">
              <a:srgbClr val="ECA8AE">
                <a:alpha val="0"/>
              </a:srgbClr>
            </a:gs>
          </a:gsLst>
          <a:path path="circle">
            <a:fillToRect l="100000" t="100000"/>
          </a:path>
          <a:tileRect r="-100000" b="-100000"/>
        </a:gradFill>
        <a:effectLst/>
      </p:bgPr>
    </p:bg>
    <p:spTree>
      <p:nvGrpSpPr>
        <p:cNvPr id="1" name="Shape 151">
          <a:extLst>
            <a:ext uri="{FF2B5EF4-FFF2-40B4-BE49-F238E27FC236}">
              <a16:creationId xmlns:a16="http://schemas.microsoft.com/office/drawing/2014/main" id="{33FB6AF7-EC7E-F887-B8C9-E5F8A9EC6E9F}"/>
            </a:ext>
          </a:extLst>
        </p:cNvPr>
        <p:cNvGrpSpPr/>
        <p:nvPr/>
      </p:nvGrpSpPr>
      <p:grpSpPr>
        <a:xfrm>
          <a:off x="0" y="0"/>
          <a:ext cx="0" cy="0"/>
          <a:chOff x="0" y="0"/>
          <a:chExt cx="0" cy="0"/>
        </a:xfrm>
      </p:grpSpPr>
      <p:sp>
        <p:nvSpPr>
          <p:cNvPr id="152" name="Google Shape;152;p17">
            <a:extLst>
              <a:ext uri="{FF2B5EF4-FFF2-40B4-BE49-F238E27FC236}">
                <a16:creationId xmlns:a16="http://schemas.microsoft.com/office/drawing/2014/main" id="{92CCC49C-3EFD-B8E9-5B21-939714F67719}"/>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3" name="Google Shape;153;p17">
            <a:extLst>
              <a:ext uri="{FF2B5EF4-FFF2-40B4-BE49-F238E27FC236}">
                <a16:creationId xmlns:a16="http://schemas.microsoft.com/office/drawing/2014/main" id="{F456F55B-1039-EE2C-A757-A0A3D4B9F3DA}"/>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4" name="Google Shape;154;p17">
            <a:extLst>
              <a:ext uri="{FF2B5EF4-FFF2-40B4-BE49-F238E27FC236}">
                <a16:creationId xmlns:a16="http://schemas.microsoft.com/office/drawing/2014/main" id="{FDAA4C90-A04D-027C-31BD-534B6E4AEEC5}"/>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ВЪВЕДЕНИЕ</a:t>
            </a:r>
            <a:endParaRPr sz="1100" b="0" i="0" u="none" strike="noStrike" cap="none" dirty="0">
              <a:solidFill>
                <a:schemeClr val="dk1"/>
              </a:solidFill>
              <a:latin typeface="Calibri"/>
              <a:ea typeface="Calibri"/>
              <a:cs typeface="Calibri"/>
              <a:sym typeface="Calibri"/>
            </a:endParaRPr>
          </a:p>
        </p:txBody>
      </p:sp>
      <p:sp>
        <p:nvSpPr>
          <p:cNvPr id="159" name="Google Shape;159;p17">
            <a:extLst>
              <a:ext uri="{FF2B5EF4-FFF2-40B4-BE49-F238E27FC236}">
                <a16:creationId xmlns:a16="http://schemas.microsoft.com/office/drawing/2014/main" id="{C839FBC5-862A-2D31-B76B-71415B83BAFF}"/>
              </a:ext>
            </a:extLst>
          </p:cNvPr>
          <p:cNvSpPr/>
          <p:nvPr/>
        </p:nvSpPr>
        <p:spPr>
          <a:xfrm>
            <a:off x="676837" y="294894"/>
            <a:ext cx="589788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300" b="1" i="0" u="none" strike="noStrike" cap="none" dirty="0">
                <a:solidFill>
                  <a:srgbClr val="1E293B"/>
                </a:solidFill>
                <a:latin typeface="Cambria"/>
                <a:ea typeface="Cambria"/>
                <a:cs typeface="Cambria"/>
                <a:sym typeface="Cambria"/>
              </a:rPr>
              <a:t>Идея, </a:t>
            </a:r>
            <a:endParaRPr sz="2300" b="0" i="0" u="none" strike="noStrike" cap="none" dirty="0">
              <a:solidFill>
                <a:schemeClr val="dk1"/>
              </a:solidFill>
              <a:latin typeface="Calibri"/>
              <a:ea typeface="Calibri"/>
              <a:cs typeface="Calibri"/>
              <a:sym typeface="Calibri"/>
            </a:endParaRPr>
          </a:p>
        </p:txBody>
      </p:sp>
      <p:sp>
        <p:nvSpPr>
          <p:cNvPr id="17" name="Shape 3">
            <a:extLst>
              <a:ext uri="{FF2B5EF4-FFF2-40B4-BE49-F238E27FC236}">
                <a16:creationId xmlns:a16="http://schemas.microsoft.com/office/drawing/2014/main" id="{4F17D636-AEC6-F571-3F9C-B079DFAE4179}"/>
              </a:ext>
            </a:extLst>
          </p:cNvPr>
          <p:cNvSpPr/>
          <p:nvPr/>
        </p:nvSpPr>
        <p:spPr>
          <a:xfrm>
            <a:off x="2872667" y="3127808"/>
            <a:ext cx="464820" cy="0"/>
          </a:xfrm>
          <a:prstGeom prst="line">
            <a:avLst/>
          </a:prstGeom>
          <a:noFill/>
          <a:ln w="17780">
            <a:solidFill>
              <a:srgbClr val="D76F7B"/>
            </a:solidFill>
            <a:prstDash val="solid"/>
            <a:tailEnd type="triangle"/>
          </a:ln>
        </p:spPr>
        <p:txBody>
          <a:bodyPr/>
          <a:lstStyle/>
          <a:p>
            <a:endParaRPr lang="en-150"/>
          </a:p>
        </p:txBody>
      </p:sp>
      <p:sp>
        <p:nvSpPr>
          <p:cNvPr id="20" name="Shape 6">
            <a:extLst>
              <a:ext uri="{FF2B5EF4-FFF2-40B4-BE49-F238E27FC236}">
                <a16:creationId xmlns:a16="http://schemas.microsoft.com/office/drawing/2014/main" id="{77B85C6D-E438-FA20-31C9-A210588F6FA4}"/>
              </a:ext>
            </a:extLst>
          </p:cNvPr>
          <p:cNvSpPr/>
          <p:nvPr/>
        </p:nvSpPr>
        <p:spPr>
          <a:xfrm>
            <a:off x="1889687" y="2710613"/>
            <a:ext cx="1161288" cy="813992"/>
          </a:xfrm>
          <a:prstGeom prst="roundRect">
            <a:avLst>
              <a:gd name="adj" fmla="val 10000"/>
            </a:avLst>
          </a:prstGeom>
          <a:solidFill>
            <a:srgbClr val="FFFFFF"/>
          </a:solidFill>
          <a:ln w="12700">
            <a:solidFill>
              <a:srgbClr val="ECA8AE"/>
            </a:solidFill>
            <a:prstDash val="solid"/>
          </a:ln>
        </p:spPr>
        <p:txBody>
          <a:bodyPr/>
          <a:lstStyle/>
          <a:p>
            <a:endParaRPr lang="en-150"/>
          </a:p>
        </p:txBody>
      </p:sp>
      <p:sp>
        <p:nvSpPr>
          <p:cNvPr id="21" name="Text 7">
            <a:extLst>
              <a:ext uri="{FF2B5EF4-FFF2-40B4-BE49-F238E27FC236}">
                <a16:creationId xmlns:a16="http://schemas.microsoft.com/office/drawing/2014/main" id="{8A3569D7-566C-C24B-A0B0-61AE91137CBC}"/>
              </a:ext>
            </a:extLst>
          </p:cNvPr>
          <p:cNvSpPr/>
          <p:nvPr/>
        </p:nvSpPr>
        <p:spPr>
          <a:xfrm>
            <a:off x="1889687" y="2788425"/>
            <a:ext cx="1161288" cy="658368"/>
          </a:xfrm>
          <a:prstGeom prst="rect">
            <a:avLst/>
          </a:prstGeom>
          <a:noFill/>
          <a:ln/>
        </p:spPr>
        <p:txBody>
          <a:bodyPr wrap="square" lIns="0" tIns="0" rIns="0" bIns="0" rtlCol="0" anchor="ctr">
            <a:normAutofit/>
          </a:bodyPr>
          <a:lstStyle/>
          <a:p>
            <a:pPr marL="0" indent="0" algn="ctr">
              <a:buNone/>
            </a:pPr>
            <a:r>
              <a:rPr lang="bg-BG" b="1" dirty="0">
                <a:solidFill>
                  <a:srgbClr val="142033"/>
                </a:solidFill>
                <a:latin typeface="Calibri" panose="020F0502020204030204" pitchFamily="34" charset="0"/>
                <a:ea typeface="Calibri" panose="020F0502020204030204" pitchFamily="34" charset="0"/>
                <a:cs typeface="Calibri" panose="020F0502020204030204" pitchFamily="34" charset="0"/>
              </a:rPr>
              <a:t>Клиент публикува обява</a:t>
            </a:r>
            <a:endParaRPr lang="en-US" b="1" dirty="0">
              <a:latin typeface="Calibri" panose="020F0502020204030204" pitchFamily="34" charset="0"/>
              <a:ea typeface="Calibri" panose="020F0502020204030204" pitchFamily="34" charset="0"/>
              <a:cs typeface="Calibri" panose="020F0502020204030204" pitchFamily="34" charset="0"/>
            </a:endParaRPr>
          </a:p>
        </p:txBody>
      </p:sp>
      <p:sp>
        <p:nvSpPr>
          <p:cNvPr id="22" name="Shape 8">
            <a:extLst>
              <a:ext uri="{FF2B5EF4-FFF2-40B4-BE49-F238E27FC236}">
                <a16:creationId xmlns:a16="http://schemas.microsoft.com/office/drawing/2014/main" id="{A662F137-C241-ED85-436E-90E88503E05B}"/>
              </a:ext>
            </a:extLst>
          </p:cNvPr>
          <p:cNvSpPr/>
          <p:nvPr/>
        </p:nvSpPr>
        <p:spPr>
          <a:xfrm>
            <a:off x="3337487" y="2710613"/>
            <a:ext cx="1089660" cy="813992"/>
          </a:xfrm>
          <a:prstGeom prst="roundRect">
            <a:avLst>
              <a:gd name="adj" fmla="val 10000"/>
            </a:avLst>
          </a:prstGeom>
          <a:solidFill>
            <a:srgbClr val="FFFFFF"/>
          </a:solidFill>
          <a:ln w="12700">
            <a:solidFill>
              <a:srgbClr val="ECA8AE"/>
            </a:solidFill>
            <a:prstDash val="solid"/>
          </a:ln>
        </p:spPr>
        <p:txBody>
          <a:bodyPr/>
          <a:lstStyle/>
          <a:p>
            <a:endParaRPr lang="en-150"/>
          </a:p>
        </p:txBody>
      </p:sp>
      <p:sp>
        <p:nvSpPr>
          <p:cNvPr id="23" name="Text 9">
            <a:extLst>
              <a:ext uri="{FF2B5EF4-FFF2-40B4-BE49-F238E27FC236}">
                <a16:creationId xmlns:a16="http://schemas.microsoft.com/office/drawing/2014/main" id="{59DA5253-F973-E87E-F69E-16DD5AFF3014}"/>
              </a:ext>
            </a:extLst>
          </p:cNvPr>
          <p:cNvSpPr/>
          <p:nvPr/>
        </p:nvSpPr>
        <p:spPr>
          <a:xfrm>
            <a:off x="3412163" y="2778064"/>
            <a:ext cx="940308" cy="658368"/>
          </a:xfrm>
          <a:prstGeom prst="rect">
            <a:avLst/>
          </a:prstGeom>
          <a:noFill/>
          <a:ln/>
        </p:spPr>
        <p:txBody>
          <a:bodyPr wrap="square" lIns="0" tIns="0" rIns="0" bIns="0" rtlCol="0" anchor="ctr">
            <a:normAutofit/>
          </a:bodyPr>
          <a:lstStyle/>
          <a:p>
            <a:pPr marL="0" indent="0" algn="ctr">
              <a:buNone/>
            </a:pPr>
            <a:r>
              <a:rPr lang="bg-BG" b="1" dirty="0">
                <a:solidFill>
                  <a:srgbClr val="142033"/>
                </a:solidFill>
                <a:latin typeface="Calibri" panose="020F0502020204030204" pitchFamily="34" charset="0"/>
                <a:ea typeface="Calibri" panose="020F0502020204030204" pitchFamily="34" charset="0"/>
                <a:cs typeface="Calibri" panose="020F0502020204030204" pitchFamily="34" charset="0"/>
              </a:rPr>
              <a:t>Специалист подава оферта</a:t>
            </a:r>
            <a:endParaRPr lang="en-US" b="1" dirty="0">
              <a:latin typeface="Calibri" panose="020F0502020204030204" pitchFamily="34" charset="0"/>
              <a:ea typeface="Calibri" panose="020F0502020204030204" pitchFamily="34" charset="0"/>
              <a:cs typeface="Calibri" panose="020F0502020204030204" pitchFamily="34" charset="0"/>
            </a:endParaRPr>
          </a:p>
        </p:txBody>
      </p:sp>
      <p:sp>
        <p:nvSpPr>
          <p:cNvPr id="24" name="Shape 10">
            <a:extLst>
              <a:ext uri="{FF2B5EF4-FFF2-40B4-BE49-F238E27FC236}">
                <a16:creationId xmlns:a16="http://schemas.microsoft.com/office/drawing/2014/main" id="{FFF32E4F-0DA6-6B18-9076-0498E1BDA452}"/>
              </a:ext>
            </a:extLst>
          </p:cNvPr>
          <p:cNvSpPr/>
          <p:nvPr/>
        </p:nvSpPr>
        <p:spPr>
          <a:xfrm>
            <a:off x="4713659" y="2695768"/>
            <a:ext cx="1249680" cy="822960"/>
          </a:xfrm>
          <a:prstGeom prst="roundRect">
            <a:avLst>
              <a:gd name="adj" fmla="val 10000"/>
            </a:avLst>
          </a:prstGeom>
          <a:solidFill>
            <a:srgbClr val="FFFFFF"/>
          </a:solidFill>
          <a:ln w="12700">
            <a:solidFill>
              <a:srgbClr val="ECA8AE"/>
            </a:solidFill>
            <a:prstDash val="solid"/>
          </a:ln>
        </p:spPr>
        <p:txBody>
          <a:bodyPr/>
          <a:lstStyle/>
          <a:p>
            <a:endParaRPr lang="en-150" b="1">
              <a:latin typeface="Calibri" panose="020F0502020204030204" pitchFamily="34" charset="0"/>
              <a:ea typeface="Calibri" panose="020F0502020204030204" pitchFamily="34" charset="0"/>
              <a:cs typeface="Calibri" panose="020F0502020204030204" pitchFamily="34" charset="0"/>
            </a:endParaRPr>
          </a:p>
        </p:txBody>
      </p:sp>
      <p:sp>
        <p:nvSpPr>
          <p:cNvPr id="25" name="Text 11">
            <a:extLst>
              <a:ext uri="{FF2B5EF4-FFF2-40B4-BE49-F238E27FC236}">
                <a16:creationId xmlns:a16="http://schemas.microsoft.com/office/drawing/2014/main" id="{68F548D1-13BE-85CF-A24A-75AD46D6EE55}"/>
              </a:ext>
            </a:extLst>
          </p:cNvPr>
          <p:cNvSpPr/>
          <p:nvPr/>
        </p:nvSpPr>
        <p:spPr>
          <a:xfrm>
            <a:off x="4784234" y="2788425"/>
            <a:ext cx="1108529" cy="658368"/>
          </a:xfrm>
          <a:prstGeom prst="rect">
            <a:avLst/>
          </a:prstGeom>
          <a:noFill/>
          <a:ln/>
        </p:spPr>
        <p:txBody>
          <a:bodyPr wrap="square" lIns="0" tIns="0" rIns="0" bIns="0" rtlCol="0" anchor="ctr">
            <a:normAutofit/>
          </a:bodyPr>
          <a:lstStyle/>
          <a:p>
            <a:pPr marL="0" indent="0" algn="ctr">
              <a:buNone/>
            </a:pPr>
            <a:r>
              <a:rPr lang="bg-BG" b="1" dirty="0">
                <a:solidFill>
                  <a:srgbClr val="142033"/>
                </a:solidFill>
                <a:latin typeface="Calibri" panose="020F0502020204030204" pitchFamily="34" charset="0"/>
                <a:ea typeface="Calibri" panose="020F0502020204030204" pitchFamily="34" charset="0"/>
                <a:cs typeface="Calibri" panose="020F0502020204030204" pitchFamily="34" charset="0"/>
              </a:rPr>
              <a:t>Комуникация в реално време</a:t>
            </a:r>
            <a:endParaRPr lang="en-US" b="1" dirty="0">
              <a:latin typeface="Calibri" panose="020F0502020204030204" pitchFamily="34" charset="0"/>
              <a:ea typeface="Calibri" panose="020F0502020204030204" pitchFamily="34" charset="0"/>
              <a:cs typeface="Calibri" panose="020F0502020204030204" pitchFamily="34" charset="0"/>
            </a:endParaRPr>
          </a:p>
        </p:txBody>
      </p:sp>
      <p:sp>
        <p:nvSpPr>
          <p:cNvPr id="26" name="Shape 12">
            <a:extLst>
              <a:ext uri="{FF2B5EF4-FFF2-40B4-BE49-F238E27FC236}">
                <a16:creationId xmlns:a16="http://schemas.microsoft.com/office/drawing/2014/main" id="{995582DF-2291-4795-1E4B-29655996DCD9}"/>
              </a:ext>
            </a:extLst>
          </p:cNvPr>
          <p:cNvSpPr/>
          <p:nvPr/>
        </p:nvSpPr>
        <p:spPr>
          <a:xfrm>
            <a:off x="6257471" y="2710613"/>
            <a:ext cx="1107948" cy="808115"/>
          </a:xfrm>
          <a:prstGeom prst="roundRect">
            <a:avLst>
              <a:gd name="adj" fmla="val 10000"/>
            </a:avLst>
          </a:prstGeom>
          <a:solidFill>
            <a:srgbClr val="FFFFFF"/>
          </a:solidFill>
          <a:ln w="12700">
            <a:solidFill>
              <a:srgbClr val="ECA8AE"/>
            </a:solidFill>
            <a:prstDash val="solid"/>
          </a:ln>
        </p:spPr>
        <p:txBody>
          <a:bodyPr/>
          <a:lstStyle/>
          <a:p>
            <a:endParaRPr lang="en-150"/>
          </a:p>
        </p:txBody>
      </p:sp>
      <p:sp>
        <p:nvSpPr>
          <p:cNvPr id="27" name="Text 13">
            <a:extLst>
              <a:ext uri="{FF2B5EF4-FFF2-40B4-BE49-F238E27FC236}">
                <a16:creationId xmlns:a16="http://schemas.microsoft.com/office/drawing/2014/main" id="{093D29BB-48DD-C0D2-6E4B-9A70E37958EA}"/>
              </a:ext>
            </a:extLst>
          </p:cNvPr>
          <p:cNvSpPr/>
          <p:nvPr/>
        </p:nvSpPr>
        <p:spPr>
          <a:xfrm>
            <a:off x="6333671" y="2798624"/>
            <a:ext cx="970788" cy="658368"/>
          </a:xfrm>
          <a:prstGeom prst="rect">
            <a:avLst/>
          </a:prstGeom>
          <a:noFill/>
          <a:ln/>
        </p:spPr>
        <p:txBody>
          <a:bodyPr wrap="square" lIns="0" tIns="0" rIns="0" bIns="0" rtlCol="0" anchor="ctr">
            <a:normAutofit/>
          </a:bodyPr>
          <a:lstStyle/>
          <a:p>
            <a:pPr marL="0" indent="0" algn="ctr">
              <a:buNone/>
            </a:pPr>
            <a:r>
              <a:rPr lang="bg-BG" b="1" dirty="0">
                <a:solidFill>
                  <a:srgbClr val="142033"/>
                </a:solidFill>
                <a:latin typeface="Calibri" panose="020F0502020204030204" pitchFamily="34" charset="0"/>
                <a:ea typeface="Calibri" panose="020F0502020204030204" pitchFamily="34" charset="0"/>
                <a:cs typeface="Calibri" panose="020F0502020204030204" pitchFamily="34" charset="0"/>
              </a:rPr>
              <a:t>Управление на работен процес</a:t>
            </a:r>
            <a:endParaRPr lang="en-US" b="1" dirty="0">
              <a:latin typeface="Calibri" panose="020F0502020204030204" pitchFamily="34" charset="0"/>
              <a:ea typeface="Calibri" panose="020F0502020204030204" pitchFamily="34" charset="0"/>
              <a:cs typeface="Calibri" panose="020F0502020204030204" pitchFamily="34" charset="0"/>
            </a:endParaRPr>
          </a:p>
        </p:txBody>
      </p:sp>
      <p:sp>
        <p:nvSpPr>
          <p:cNvPr id="28" name="Shape 12">
            <a:extLst>
              <a:ext uri="{FF2B5EF4-FFF2-40B4-BE49-F238E27FC236}">
                <a16:creationId xmlns:a16="http://schemas.microsoft.com/office/drawing/2014/main" id="{4CAB2A8D-EB13-9F85-8719-90FB4138BA3F}"/>
              </a:ext>
            </a:extLst>
          </p:cNvPr>
          <p:cNvSpPr/>
          <p:nvPr/>
        </p:nvSpPr>
        <p:spPr>
          <a:xfrm>
            <a:off x="7659551" y="2710613"/>
            <a:ext cx="1107948" cy="808115"/>
          </a:xfrm>
          <a:prstGeom prst="roundRect">
            <a:avLst>
              <a:gd name="adj" fmla="val 10000"/>
            </a:avLst>
          </a:prstGeom>
          <a:solidFill>
            <a:srgbClr val="FFFFFF"/>
          </a:solidFill>
          <a:ln w="12700">
            <a:solidFill>
              <a:srgbClr val="ECA8AE"/>
            </a:solidFill>
            <a:prstDash val="solid"/>
          </a:ln>
        </p:spPr>
        <p:txBody>
          <a:bodyPr/>
          <a:lstStyle/>
          <a:p>
            <a:endParaRPr lang="en-150"/>
          </a:p>
        </p:txBody>
      </p:sp>
      <p:sp>
        <p:nvSpPr>
          <p:cNvPr id="29" name="Text 13">
            <a:extLst>
              <a:ext uri="{FF2B5EF4-FFF2-40B4-BE49-F238E27FC236}">
                <a16:creationId xmlns:a16="http://schemas.microsoft.com/office/drawing/2014/main" id="{9DD73432-C290-9780-1D25-72056A8E8F71}"/>
              </a:ext>
            </a:extLst>
          </p:cNvPr>
          <p:cNvSpPr/>
          <p:nvPr/>
        </p:nvSpPr>
        <p:spPr>
          <a:xfrm>
            <a:off x="7735751" y="2798624"/>
            <a:ext cx="970788" cy="658368"/>
          </a:xfrm>
          <a:prstGeom prst="rect">
            <a:avLst/>
          </a:prstGeom>
          <a:noFill/>
          <a:ln/>
        </p:spPr>
        <p:txBody>
          <a:bodyPr wrap="square" lIns="0" tIns="0" rIns="0" bIns="0" rtlCol="0" anchor="ctr">
            <a:normAutofit/>
          </a:bodyPr>
          <a:lstStyle/>
          <a:p>
            <a:pPr marL="0" indent="0" algn="ctr">
              <a:buNone/>
            </a:pPr>
            <a:r>
              <a:rPr lang="bg-BG" b="1" dirty="0">
                <a:solidFill>
                  <a:srgbClr val="142033"/>
                </a:solidFill>
                <a:latin typeface="Calibri" panose="020F0502020204030204" pitchFamily="34" charset="0"/>
                <a:ea typeface="Calibri" panose="020F0502020204030204" pitchFamily="34" charset="0"/>
                <a:cs typeface="Calibri" panose="020F0502020204030204" pitchFamily="34" charset="0"/>
              </a:rPr>
              <a:t>Генериране на документи</a:t>
            </a:r>
            <a:endParaRPr lang="en-US" b="1" dirty="0">
              <a:latin typeface="Calibri" panose="020F0502020204030204" pitchFamily="34" charset="0"/>
              <a:ea typeface="Calibri" panose="020F0502020204030204" pitchFamily="34" charset="0"/>
              <a:cs typeface="Calibri" panose="020F0502020204030204" pitchFamily="34" charset="0"/>
            </a:endParaRPr>
          </a:p>
        </p:txBody>
      </p:sp>
      <p:sp>
        <p:nvSpPr>
          <p:cNvPr id="30" name="Shape 12">
            <a:extLst>
              <a:ext uri="{FF2B5EF4-FFF2-40B4-BE49-F238E27FC236}">
                <a16:creationId xmlns:a16="http://schemas.microsoft.com/office/drawing/2014/main" id="{520E27C3-6011-FF16-8CD8-7BBC47603300}"/>
              </a:ext>
            </a:extLst>
          </p:cNvPr>
          <p:cNvSpPr/>
          <p:nvPr/>
        </p:nvSpPr>
        <p:spPr>
          <a:xfrm>
            <a:off x="1878257" y="3786177"/>
            <a:ext cx="1184148" cy="537416"/>
          </a:xfrm>
          <a:prstGeom prst="roundRect">
            <a:avLst>
              <a:gd name="adj" fmla="val 10000"/>
            </a:avLst>
          </a:prstGeom>
          <a:solidFill>
            <a:srgbClr val="FFFFFF"/>
          </a:solidFill>
          <a:ln w="12700">
            <a:solidFill>
              <a:srgbClr val="ECA8AE"/>
            </a:solidFill>
            <a:prstDash val="solid"/>
          </a:ln>
        </p:spPr>
        <p:txBody>
          <a:bodyPr/>
          <a:lstStyle/>
          <a:p>
            <a:endParaRPr lang="en-150" dirty="0"/>
          </a:p>
        </p:txBody>
      </p:sp>
      <p:sp>
        <p:nvSpPr>
          <p:cNvPr id="31" name="Text 13">
            <a:extLst>
              <a:ext uri="{FF2B5EF4-FFF2-40B4-BE49-F238E27FC236}">
                <a16:creationId xmlns:a16="http://schemas.microsoft.com/office/drawing/2014/main" id="{DD77D7A7-5B21-8C14-6E42-4EC103BCFC1B}"/>
              </a:ext>
            </a:extLst>
          </p:cNvPr>
          <p:cNvSpPr/>
          <p:nvPr/>
        </p:nvSpPr>
        <p:spPr>
          <a:xfrm>
            <a:off x="1931596" y="3863184"/>
            <a:ext cx="1077468" cy="388912"/>
          </a:xfrm>
          <a:prstGeom prst="rect">
            <a:avLst/>
          </a:prstGeom>
          <a:noFill/>
          <a:ln/>
        </p:spPr>
        <p:txBody>
          <a:bodyPr wrap="square" lIns="0" tIns="0" rIns="0" bIns="0" rtlCol="0" anchor="ctr">
            <a:noAutofit/>
          </a:bodyPr>
          <a:lstStyle/>
          <a:p>
            <a:pPr marL="0" indent="0" algn="ctr">
              <a:buNone/>
            </a:pPr>
            <a:r>
              <a:rPr lang="bg-BG" b="1" dirty="0">
                <a:solidFill>
                  <a:srgbClr val="142033"/>
                </a:solidFill>
                <a:latin typeface="Calibri" panose="020F0502020204030204" pitchFamily="34" charset="0"/>
                <a:ea typeface="Calibri" panose="020F0502020204030204" pitchFamily="34" charset="0"/>
                <a:cs typeface="Calibri" panose="020F0502020204030204" pitchFamily="34" charset="0"/>
              </a:rPr>
              <a:t>Степен на съответствие</a:t>
            </a:r>
          </a:p>
        </p:txBody>
      </p:sp>
      <p:sp>
        <p:nvSpPr>
          <p:cNvPr id="32" name="Shape 12">
            <a:extLst>
              <a:ext uri="{FF2B5EF4-FFF2-40B4-BE49-F238E27FC236}">
                <a16:creationId xmlns:a16="http://schemas.microsoft.com/office/drawing/2014/main" id="{BECE6FB1-2DA7-0E15-ED80-6F6147351505}"/>
              </a:ext>
            </a:extLst>
          </p:cNvPr>
          <p:cNvSpPr/>
          <p:nvPr/>
        </p:nvSpPr>
        <p:spPr>
          <a:xfrm>
            <a:off x="592001" y="2725561"/>
            <a:ext cx="970788" cy="793168"/>
          </a:xfrm>
          <a:prstGeom prst="roundRect">
            <a:avLst>
              <a:gd name="adj" fmla="val 10000"/>
            </a:avLst>
          </a:prstGeom>
          <a:solidFill>
            <a:srgbClr val="FFFFFF"/>
          </a:solidFill>
          <a:ln w="12700">
            <a:solidFill>
              <a:srgbClr val="ECA8AE"/>
            </a:solidFill>
            <a:prstDash val="solid"/>
          </a:ln>
        </p:spPr>
        <p:txBody>
          <a:bodyPr/>
          <a:lstStyle/>
          <a:p>
            <a:endParaRPr lang="en-150" dirty="0"/>
          </a:p>
        </p:txBody>
      </p:sp>
      <p:sp>
        <p:nvSpPr>
          <p:cNvPr id="34" name="Text 13">
            <a:extLst>
              <a:ext uri="{FF2B5EF4-FFF2-40B4-BE49-F238E27FC236}">
                <a16:creationId xmlns:a16="http://schemas.microsoft.com/office/drawing/2014/main" id="{D0565487-1EEF-3E8C-AA90-CF3A3F6EF926}"/>
              </a:ext>
            </a:extLst>
          </p:cNvPr>
          <p:cNvSpPr/>
          <p:nvPr/>
        </p:nvSpPr>
        <p:spPr>
          <a:xfrm>
            <a:off x="531041" y="2800434"/>
            <a:ext cx="1077468" cy="646191"/>
          </a:xfrm>
          <a:prstGeom prst="rect">
            <a:avLst/>
          </a:prstGeom>
          <a:noFill/>
          <a:ln/>
        </p:spPr>
        <p:txBody>
          <a:bodyPr wrap="square" lIns="0" tIns="0" rIns="0" bIns="0" rtlCol="0" anchor="ctr">
            <a:normAutofit/>
          </a:bodyPr>
          <a:lstStyle/>
          <a:p>
            <a:pPr marL="0" indent="0" algn="ctr">
              <a:buNone/>
            </a:pPr>
            <a:r>
              <a:rPr lang="bg-BG" b="1" dirty="0">
                <a:solidFill>
                  <a:srgbClr val="142033"/>
                </a:solidFill>
                <a:latin typeface="Calibri" panose="020F0502020204030204" pitchFamily="34" charset="0"/>
                <a:ea typeface="Calibri" panose="020F0502020204030204" pitchFamily="34" charset="0"/>
                <a:cs typeface="Calibri" panose="020F0502020204030204" pitchFamily="34" charset="0"/>
              </a:rPr>
              <a:t>Детайлен</a:t>
            </a:r>
          </a:p>
          <a:p>
            <a:pPr marL="0" indent="0" algn="ctr">
              <a:buNone/>
            </a:pPr>
            <a:r>
              <a:rPr lang="bg-BG" b="1" dirty="0">
                <a:solidFill>
                  <a:srgbClr val="142033"/>
                </a:solidFill>
                <a:latin typeface="Calibri" panose="020F0502020204030204" pitchFamily="34" charset="0"/>
                <a:ea typeface="Calibri" panose="020F0502020204030204" pitchFamily="34" charset="0"/>
                <a:cs typeface="Calibri" panose="020F0502020204030204" pitchFamily="34" charset="0"/>
              </a:rPr>
              <a:t>работен профил</a:t>
            </a:r>
          </a:p>
        </p:txBody>
      </p:sp>
      <p:sp>
        <p:nvSpPr>
          <p:cNvPr id="35" name="Shape 3">
            <a:extLst>
              <a:ext uri="{FF2B5EF4-FFF2-40B4-BE49-F238E27FC236}">
                <a16:creationId xmlns:a16="http://schemas.microsoft.com/office/drawing/2014/main" id="{D765F316-477E-A76B-8BAD-AFF2A053A5C7}"/>
              </a:ext>
            </a:extLst>
          </p:cNvPr>
          <p:cNvSpPr/>
          <p:nvPr/>
        </p:nvSpPr>
        <p:spPr>
          <a:xfrm>
            <a:off x="1562789" y="3127808"/>
            <a:ext cx="326898" cy="0"/>
          </a:xfrm>
          <a:prstGeom prst="line">
            <a:avLst/>
          </a:prstGeom>
          <a:noFill/>
          <a:ln w="17780">
            <a:solidFill>
              <a:srgbClr val="D76F7B"/>
            </a:solidFill>
            <a:prstDash val="solid"/>
            <a:tailEnd type="triangle"/>
          </a:ln>
        </p:spPr>
        <p:txBody>
          <a:bodyPr/>
          <a:lstStyle/>
          <a:p>
            <a:endParaRPr lang="en-150"/>
          </a:p>
        </p:txBody>
      </p:sp>
      <p:sp>
        <p:nvSpPr>
          <p:cNvPr id="36" name="Shape 3">
            <a:extLst>
              <a:ext uri="{FF2B5EF4-FFF2-40B4-BE49-F238E27FC236}">
                <a16:creationId xmlns:a16="http://schemas.microsoft.com/office/drawing/2014/main" id="{5DAE26EC-E6A8-CBA8-4AF0-55B7946C8759}"/>
              </a:ext>
            </a:extLst>
          </p:cNvPr>
          <p:cNvSpPr/>
          <p:nvPr/>
        </p:nvSpPr>
        <p:spPr>
          <a:xfrm>
            <a:off x="4427147" y="3127237"/>
            <a:ext cx="326898" cy="0"/>
          </a:xfrm>
          <a:prstGeom prst="line">
            <a:avLst/>
          </a:prstGeom>
          <a:noFill/>
          <a:ln w="17780">
            <a:solidFill>
              <a:srgbClr val="D76F7B"/>
            </a:solidFill>
            <a:prstDash val="solid"/>
            <a:tailEnd type="triangle"/>
          </a:ln>
        </p:spPr>
        <p:txBody>
          <a:bodyPr/>
          <a:lstStyle/>
          <a:p>
            <a:endParaRPr lang="en-150"/>
          </a:p>
        </p:txBody>
      </p:sp>
      <p:sp>
        <p:nvSpPr>
          <p:cNvPr id="37" name="Shape 3">
            <a:extLst>
              <a:ext uri="{FF2B5EF4-FFF2-40B4-BE49-F238E27FC236}">
                <a16:creationId xmlns:a16="http://schemas.microsoft.com/office/drawing/2014/main" id="{87829836-56B4-80A0-AE55-922BEEF76431}"/>
              </a:ext>
            </a:extLst>
          </p:cNvPr>
          <p:cNvSpPr/>
          <p:nvPr/>
        </p:nvSpPr>
        <p:spPr>
          <a:xfrm>
            <a:off x="5963339" y="3127237"/>
            <a:ext cx="326898" cy="0"/>
          </a:xfrm>
          <a:prstGeom prst="line">
            <a:avLst/>
          </a:prstGeom>
          <a:noFill/>
          <a:ln w="17780">
            <a:solidFill>
              <a:srgbClr val="D76F7B"/>
            </a:solidFill>
            <a:prstDash val="solid"/>
            <a:tailEnd type="triangle"/>
          </a:ln>
        </p:spPr>
        <p:txBody>
          <a:bodyPr/>
          <a:lstStyle/>
          <a:p>
            <a:endParaRPr lang="en-150"/>
          </a:p>
        </p:txBody>
      </p:sp>
      <p:sp>
        <p:nvSpPr>
          <p:cNvPr id="38" name="Shape 3">
            <a:extLst>
              <a:ext uri="{FF2B5EF4-FFF2-40B4-BE49-F238E27FC236}">
                <a16:creationId xmlns:a16="http://schemas.microsoft.com/office/drawing/2014/main" id="{EC417874-B18D-D44B-BB6A-4CEE2EA1BF69}"/>
              </a:ext>
            </a:extLst>
          </p:cNvPr>
          <p:cNvSpPr/>
          <p:nvPr/>
        </p:nvSpPr>
        <p:spPr>
          <a:xfrm>
            <a:off x="7365419" y="3127237"/>
            <a:ext cx="326898" cy="0"/>
          </a:xfrm>
          <a:prstGeom prst="line">
            <a:avLst/>
          </a:prstGeom>
          <a:noFill/>
          <a:ln w="17780">
            <a:solidFill>
              <a:srgbClr val="D76F7B"/>
            </a:solidFill>
            <a:prstDash val="solid"/>
            <a:tailEnd type="triangle"/>
          </a:ln>
        </p:spPr>
        <p:txBody>
          <a:bodyPr/>
          <a:lstStyle/>
          <a:p>
            <a:endParaRPr lang="en-150"/>
          </a:p>
        </p:txBody>
      </p:sp>
      <p:sp>
        <p:nvSpPr>
          <p:cNvPr id="39" name="Shape 3">
            <a:extLst>
              <a:ext uri="{FF2B5EF4-FFF2-40B4-BE49-F238E27FC236}">
                <a16:creationId xmlns:a16="http://schemas.microsoft.com/office/drawing/2014/main" id="{F08E4D19-A8EE-9914-B850-E50DD119ADB1}"/>
              </a:ext>
            </a:extLst>
          </p:cNvPr>
          <p:cNvSpPr/>
          <p:nvPr/>
        </p:nvSpPr>
        <p:spPr>
          <a:xfrm>
            <a:off x="2470331" y="3518728"/>
            <a:ext cx="0" cy="277341"/>
          </a:xfrm>
          <a:prstGeom prst="line">
            <a:avLst/>
          </a:prstGeom>
          <a:noFill/>
          <a:ln w="17780">
            <a:solidFill>
              <a:srgbClr val="D76F7B"/>
            </a:solidFill>
            <a:prstDash val="solid"/>
            <a:tailEnd type="triangle"/>
          </a:ln>
        </p:spPr>
        <p:txBody>
          <a:bodyPr/>
          <a:lstStyle/>
          <a:p>
            <a:endParaRPr lang="en-150"/>
          </a:p>
        </p:txBody>
      </p:sp>
      <p:sp>
        <p:nvSpPr>
          <p:cNvPr id="41" name="Shape 3">
            <a:extLst>
              <a:ext uri="{FF2B5EF4-FFF2-40B4-BE49-F238E27FC236}">
                <a16:creationId xmlns:a16="http://schemas.microsoft.com/office/drawing/2014/main" id="{69A88BD7-FFAA-8B1C-A78E-0A829F9F331D}"/>
              </a:ext>
            </a:extLst>
          </p:cNvPr>
          <p:cNvSpPr/>
          <p:nvPr/>
        </p:nvSpPr>
        <p:spPr>
          <a:xfrm>
            <a:off x="616212" y="4451490"/>
            <a:ext cx="8151287" cy="0"/>
          </a:xfrm>
          <a:prstGeom prst="line">
            <a:avLst/>
          </a:prstGeom>
          <a:noFill/>
          <a:ln w="17780">
            <a:solidFill>
              <a:srgbClr val="D76F7B"/>
            </a:solidFill>
            <a:prstDash val="solid"/>
            <a:tailEnd type="triangle"/>
          </a:ln>
        </p:spPr>
        <p:txBody>
          <a:bodyPr/>
          <a:lstStyle/>
          <a:p>
            <a:endParaRPr lang="en-150"/>
          </a:p>
        </p:txBody>
      </p:sp>
      <p:sp>
        <p:nvSpPr>
          <p:cNvPr id="42" name="Shape 8">
            <a:extLst>
              <a:ext uri="{FF2B5EF4-FFF2-40B4-BE49-F238E27FC236}">
                <a16:creationId xmlns:a16="http://schemas.microsoft.com/office/drawing/2014/main" id="{3857A646-33DF-B10E-9B9C-8CB7083F4B8A}"/>
              </a:ext>
            </a:extLst>
          </p:cNvPr>
          <p:cNvSpPr/>
          <p:nvPr/>
        </p:nvSpPr>
        <p:spPr>
          <a:xfrm>
            <a:off x="3828596" y="3853056"/>
            <a:ext cx="1524000" cy="813992"/>
          </a:xfrm>
          <a:prstGeom prst="roundRect">
            <a:avLst>
              <a:gd name="adj" fmla="val 10000"/>
            </a:avLst>
          </a:prstGeom>
          <a:solidFill>
            <a:srgbClr val="FFFFFF"/>
          </a:solidFill>
          <a:ln w="12700">
            <a:solidFill>
              <a:srgbClr val="ECA8AE"/>
            </a:solidFill>
            <a:prstDash val="solid"/>
          </a:ln>
        </p:spPr>
        <p:txBody>
          <a:bodyPr/>
          <a:lstStyle/>
          <a:p>
            <a:endParaRPr lang="en-150"/>
          </a:p>
        </p:txBody>
      </p:sp>
      <p:sp>
        <p:nvSpPr>
          <p:cNvPr id="43" name="Text 9">
            <a:extLst>
              <a:ext uri="{FF2B5EF4-FFF2-40B4-BE49-F238E27FC236}">
                <a16:creationId xmlns:a16="http://schemas.microsoft.com/office/drawing/2014/main" id="{A22277BD-AC8F-2921-5298-17C496D4EBBD}"/>
              </a:ext>
            </a:extLst>
          </p:cNvPr>
          <p:cNvSpPr/>
          <p:nvPr/>
        </p:nvSpPr>
        <p:spPr>
          <a:xfrm>
            <a:off x="3898223" y="3930868"/>
            <a:ext cx="1384745" cy="658368"/>
          </a:xfrm>
          <a:prstGeom prst="rect">
            <a:avLst/>
          </a:prstGeom>
          <a:noFill/>
          <a:ln/>
        </p:spPr>
        <p:txBody>
          <a:bodyPr wrap="square" lIns="0" tIns="0" rIns="0" bIns="0" rtlCol="0" anchor="ctr">
            <a:normAutofit/>
          </a:bodyPr>
          <a:lstStyle/>
          <a:p>
            <a:pPr marL="0" indent="0" algn="ctr">
              <a:buNone/>
            </a:pPr>
            <a:r>
              <a:rPr lang="bg-BG" b="1" dirty="0">
                <a:solidFill>
                  <a:srgbClr val="142033"/>
                </a:solidFill>
                <a:latin typeface="Calibri" panose="020F0502020204030204" pitchFamily="34" charset="0"/>
                <a:ea typeface="Calibri" panose="020F0502020204030204" pitchFamily="34" charset="0"/>
                <a:cs typeface="Calibri" panose="020F0502020204030204" pitchFamily="34" charset="0"/>
              </a:rPr>
              <a:t>Централизиран административен контрол</a:t>
            </a:r>
            <a:endParaRPr lang="en-US" b="1" dirty="0">
              <a:latin typeface="Calibri" panose="020F0502020204030204" pitchFamily="34" charset="0"/>
              <a:ea typeface="Calibri" panose="020F0502020204030204" pitchFamily="34" charset="0"/>
              <a:cs typeface="Calibri" panose="020F0502020204030204" pitchFamily="34" charset="0"/>
            </a:endParaRPr>
          </a:p>
        </p:txBody>
      </p:sp>
      <p:sp>
        <p:nvSpPr>
          <p:cNvPr id="44" name="Google Shape;222;p19">
            <a:extLst>
              <a:ext uri="{FF2B5EF4-FFF2-40B4-BE49-F238E27FC236}">
                <a16:creationId xmlns:a16="http://schemas.microsoft.com/office/drawing/2014/main" id="{66243256-C624-1E92-0D00-AEE9E592F455}"/>
              </a:ext>
            </a:extLst>
          </p:cNvPr>
          <p:cNvSpPr/>
          <p:nvPr/>
        </p:nvSpPr>
        <p:spPr>
          <a:xfrm>
            <a:off x="618138" y="883448"/>
            <a:ext cx="8149361" cy="1534491"/>
          </a:xfrm>
          <a:prstGeom prst="roundRect">
            <a:avLst>
              <a:gd name="adj" fmla="val 12000"/>
            </a:avLst>
          </a:prstGeom>
          <a:solidFill>
            <a:srgbClr val="FFFFFF"/>
          </a:solidFill>
          <a:ln w="12700" cap="flat" cmpd="sng">
            <a:solidFill>
              <a:srgbClr val="E7DCDC"/>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dirty="0"/>
          </a:p>
        </p:txBody>
      </p:sp>
      <p:pic>
        <p:nvPicPr>
          <p:cNvPr id="45" name="Google Shape;223;p19" descr="/home/claude/talentflow-template/icons/bullseye-accent.png">
            <a:extLst>
              <a:ext uri="{FF2B5EF4-FFF2-40B4-BE49-F238E27FC236}">
                <a16:creationId xmlns:a16="http://schemas.microsoft.com/office/drawing/2014/main" id="{52D025B2-508D-9D8A-0DE9-B93B18302358}"/>
              </a:ext>
            </a:extLst>
          </p:cNvPr>
          <p:cNvPicPr preferRelativeResize="0"/>
          <p:nvPr/>
        </p:nvPicPr>
        <p:blipFill rotWithShape="1">
          <a:blip r:embed="rId3">
            <a:alphaModFix/>
          </a:blip>
          <a:srcRect/>
          <a:stretch/>
        </p:blipFill>
        <p:spPr>
          <a:xfrm>
            <a:off x="766360" y="1498816"/>
            <a:ext cx="370332" cy="370332"/>
          </a:xfrm>
          <a:prstGeom prst="rect">
            <a:avLst/>
          </a:prstGeom>
          <a:noFill/>
          <a:ln>
            <a:noFill/>
          </a:ln>
        </p:spPr>
      </p:pic>
      <p:sp>
        <p:nvSpPr>
          <p:cNvPr id="47" name="Google Shape;170;p17">
            <a:extLst>
              <a:ext uri="{FF2B5EF4-FFF2-40B4-BE49-F238E27FC236}">
                <a16:creationId xmlns:a16="http://schemas.microsoft.com/office/drawing/2014/main" id="{492E35BF-F812-36D5-D92A-961F1439FC99}"/>
              </a:ext>
            </a:extLst>
          </p:cNvPr>
          <p:cNvSpPr/>
          <p:nvPr/>
        </p:nvSpPr>
        <p:spPr>
          <a:xfrm>
            <a:off x="1284914" y="1084177"/>
            <a:ext cx="7423552" cy="1273037"/>
          </a:xfrm>
          <a:prstGeom prst="rect">
            <a:avLst/>
          </a:prstGeom>
          <a:noFill/>
          <a:ln>
            <a:noFill/>
          </a:ln>
        </p:spPr>
        <p:txBody>
          <a:bodyPr spcFirstLastPara="1" wrap="square" lIns="0" tIns="0" rIns="0" bIns="0" anchor="t" anchorCtr="0">
            <a:noAutofit/>
          </a:bodyPr>
          <a:lstStyle/>
          <a:p>
            <a:pPr marR="0" lvl="0" algn="l" rtl="0">
              <a:lnSpc>
                <a:spcPct val="120000"/>
              </a:lnSpc>
              <a:spcBef>
                <a:spcPts val="0"/>
              </a:spcBef>
              <a:spcAft>
                <a:spcPts val="0"/>
              </a:spcAft>
              <a:buClr>
                <a:schemeClr val="tx2">
                  <a:lumMod val="50000"/>
                </a:schemeClr>
              </a:buClr>
              <a:buSzPct val="63000"/>
            </a:pPr>
            <a:r>
              <a:rPr lang="ru-RU" b="1" i="1" u="none" strike="noStrike" cap="none" dirty="0">
                <a:solidFill>
                  <a:srgbClr val="1E293B"/>
                </a:solidFill>
                <a:latin typeface="Calibri" panose="020F0502020204030204" pitchFamily="34" charset="0"/>
                <a:ea typeface="Calibri" panose="020F0502020204030204" pitchFamily="34" charset="0"/>
                <a:cs typeface="Calibri" panose="020F0502020204030204" pitchFamily="34" charset="0"/>
                <a:sym typeface="Calibri"/>
              </a:rPr>
              <a:t>Уеб базирана проектно-ориентирана платформа </a:t>
            </a:r>
            <a:r>
              <a:rPr lang="bg-BG" b="1" i="1" u="none" strike="noStrike" cap="none" dirty="0">
                <a:solidFill>
                  <a:srgbClr val="1E293B"/>
                </a:solidFill>
                <a:latin typeface="Calibri" panose="020F0502020204030204" pitchFamily="34" charset="0"/>
                <a:ea typeface="Calibri" panose="020F0502020204030204" pitchFamily="34" charset="0"/>
                <a:cs typeface="Calibri" panose="020F0502020204030204" pitchFamily="34" charset="0"/>
                <a:sym typeface="Calibri"/>
              </a:rPr>
              <a:t>за к</a:t>
            </a:r>
            <a:r>
              <a:rPr lang="ru-RU" b="1" i="1" dirty="0">
                <a:solidFill>
                  <a:srgbClr val="1E293B"/>
                </a:solidFill>
                <a:latin typeface="Calibri" panose="020F0502020204030204" pitchFamily="34" charset="0"/>
                <a:ea typeface="Calibri" panose="020F0502020204030204" pitchFamily="34" charset="0"/>
                <a:cs typeface="Calibri" panose="020F0502020204030204" pitchFamily="34" charset="0"/>
                <a:sym typeface="Calibri"/>
              </a:rPr>
              <a:t>андидатстване по обяви след системно изчисляване на процентно съвпадение, с известяване и комуникация в реално време, автоматизирано управление на лични и работни документи и модерация на съдържание и системно администриране.</a:t>
            </a:r>
          </a:p>
          <a:p>
            <a:pPr marL="171450" marR="0" lvl="0" indent="-171450" algn="l" rtl="0">
              <a:lnSpc>
                <a:spcPct val="120000"/>
              </a:lnSpc>
              <a:spcBef>
                <a:spcPts val="0"/>
              </a:spcBef>
              <a:spcAft>
                <a:spcPts val="0"/>
              </a:spcAft>
              <a:buClr>
                <a:srgbClr val="475569"/>
              </a:buClr>
              <a:buSzPts val="800"/>
              <a:buFont typeface="Arial" panose="020B0604020202020204" pitchFamily="34" charset="0"/>
              <a:buChar char="•"/>
            </a:pPr>
            <a:endParaRPr lang="ru-RU" b="1" dirty="0">
              <a:solidFill>
                <a:srgbClr val="1E293B"/>
              </a:solidFill>
              <a:latin typeface="Calibri" panose="020F0502020204030204" pitchFamily="34" charset="0"/>
              <a:ea typeface="Calibri" panose="020F0502020204030204" pitchFamily="34" charset="0"/>
              <a:cs typeface="Calibri" panose="020F0502020204030204" pitchFamily="34" charset="0"/>
              <a:sym typeface="Calibri"/>
            </a:endParaRPr>
          </a:p>
          <a:p>
            <a:pPr marL="171450" marR="0" lvl="0" indent="-171450" algn="l" rtl="0">
              <a:lnSpc>
                <a:spcPct val="120000"/>
              </a:lnSpc>
              <a:spcBef>
                <a:spcPts val="0"/>
              </a:spcBef>
              <a:spcAft>
                <a:spcPts val="0"/>
              </a:spcAft>
              <a:buClr>
                <a:srgbClr val="475569"/>
              </a:buClr>
              <a:buSzPts val="800"/>
              <a:buFont typeface="Arial" panose="020B0604020202020204" pitchFamily="34" charset="0"/>
              <a:buChar char="•"/>
            </a:pPr>
            <a:endParaRPr lang="ru-RU" b="1" dirty="0">
              <a:solidFill>
                <a:srgbClr val="1E293B"/>
              </a:solidFill>
              <a:latin typeface="Calibri" panose="020F0502020204030204" pitchFamily="34" charset="0"/>
              <a:ea typeface="Calibri" panose="020F0502020204030204" pitchFamily="34" charset="0"/>
              <a:cs typeface="Calibri" panose="020F0502020204030204" pitchFamily="34" charset="0"/>
              <a:sym typeface="Calibri"/>
            </a:endParaRPr>
          </a:p>
          <a:p>
            <a:pPr marL="171450" marR="0" lvl="0" indent="-171450" algn="l" rtl="0">
              <a:lnSpc>
                <a:spcPct val="120000"/>
              </a:lnSpc>
              <a:spcBef>
                <a:spcPts val="0"/>
              </a:spcBef>
              <a:spcAft>
                <a:spcPts val="0"/>
              </a:spcAft>
              <a:buClr>
                <a:srgbClr val="475569"/>
              </a:buClr>
              <a:buSzPts val="800"/>
              <a:buFont typeface="Arial" panose="020B0604020202020204" pitchFamily="34" charset="0"/>
              <a:buChar char="•"/>
            </a:pPr>
            <a:endParaRPr lang="ru-RU" b="1" i="0" u="none" strike="noStrike" cap="none" dirty="0">
              <a:solidFill>
                <a:srgbClr val="1E293B"/>
              </a:solidFill>
              <a:latin typeface="Calibri" panose="020F0502020204030204" pitchFamily="34" charset="0"/>
              <a:ea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3222697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2"/>
        <p:cNvGrpSpPr/>
        <p:nvPr/>
      </p:nvGrpSpPr>
      <p:grpSpPr>
        <a:xfrm>
          <a:off x="0" y="0"/>
          <a:ext cx="0" cy="0"/>
          <a:chOff x="0" y="0"/>
          <a:chExt cx="0" cy="0"/>
        </a:xfrm>
      </p:grpSpPr>
      <p:sp>
        <p:nvSpPr>
          <p:cNvPr id="203" name="Google Shape;203;p19"/>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04" name="Google Shape;204;p19"/>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05" name="Google Shape;205;p19"/>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ЦЕЛИ И ЗАДАЧИ</a:t>
            </a:r>
            <a:endParaRPr sz="1100" b="0" i="0" u="none" strike="noStrike" cap="none" dirty="0">
              <a:solidFill>
                <a:schemeClr val="dk1"/>
              </a:solidFill>
              <a:latin typeface="Calibri"/>
              <a:ea typeface="Calibri"/>
              <a:cs typeface="Calibri"/>
              <a:sym typeface="Calibri"/>
            </a:endParaRPr>
          </a:p>
        </p:txBody>
      </p:sp>
      <p:sp>
        <p:nvSpPr>
          <p:cNvPr id="210" name="Google Shape;210;p19"/>
          <p:cNvSpPr/>
          <p:nvPr/>
        </p:nvSpPr>
        <p:spPr>
          <a:xfrm>
            <a:off x="685800" y="200406"/>
            <a:ext cx="589788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300" b="1" i="0" u="none" strike="noStrike" cap="none" dirty="0">
                <a:solidFill>
                  <a:srgbClr val="1E293B"/>
                </a:solidFill>
                <a:latin typeface="Cambria"/>
                <a:ea typeface="Cambria"/>
                <a:cs typeface="Cambria"/>
                <a:sym typeface="Cambria"/>
              </a:rPr>
              <a:t>Цел на разработката</a:t>
            </a:r>
            <a:endParaRPr sz="2300" b="0" i="0" u="none" strike="noStrike" cap="none" dirty="0">
              <a:solidFill>
                <a:schemeClr val="dk1"/>
              </a:solidFill>
              <a:latin typeface="Calibri"/>
              <a:ea typeface="Calibri"/>
              <a:cs typeface="Calibri"/>
              <a:sym typeface="Calibri"/>
            </a:endParaRPr>
          </a:p>
        </p:txBody>
      </p:sp>
      <p:sp>
        <p:nvSpPr>
          <p:cNvPr id="213" name="Google Shape;213;p19"/>
          <p:cNvSpPr/>
          <p:nvPr/>
        </p:nvSpPr>
        <p:spPr>
          <a:xfrm>
            <a:off x="685800" y="1982724"/>
            <a:ext cx="2579294" cy="2472690"/>
          </a:xfrm>
          <a:prstGeom prst="roundRect">
            <a:avLst>
              <a:gd name="adj" fmla="val 5185"/>
            </a:avLst>
          </a:prstGeom>
          <a:solidFill>
            <a:srgbClr val="FDF7F7"/>
          </a:solidFill>
          <a:ln>
            <a:noFill/>
          </a:ln>
          <a:effectLst>
            <a:outerShdw blurRad="152400" dist="50800" dir="5400000" algn="bl" rotWithShape="0">
              <a:srgbClr val="1E293B">
                <a:alpha val="7058"/>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dirty="0"/>
          </a:p>
        </p:txBody>
      </p:sp>
      <p:sp>
        <p:nvSpPr>
          <p:cNvPr id="215" name="Google Shape;215;p19"/>
          <p:cNvSpPr/>
          <p:nvPr/>
        </p:nvSpPr>
        <p:spPr>
          <a:xfrm>
            <a:off x="762256" y="2461260"/>
            <a:ext cx="2426382" cy="1794510"/>
          </a:xfrm>
          <a:prstGeom prst="rect">
            <a:avLst/>
          </a:prstGeom>
          <a:noFill/>
          <a:ln>
            <a:noFill/>
          </a:ln>
        </p:spPr>
        <p:txBody>
          <a:bodyPr spcFirstLastPara="1" wrap="square" lIns="0" tIns="0" rIns="0" bIns="0" anchor="t" anchorCtr="0">
            <a:noAutofit/>
          </a:bodyPr>
          <a:lstStyle/>
          <a:p>
            <a:pPr marL="285750" marR="0" lvl="0" indent="-285750" rtl="0">
              <a:lnSpc>
                <a:spcPct val="120000"/>
              </a:lnSpc>
              <a:spcBef>
                <a:spcPts val="0"/>
              </a:spcBef>
              <a:spcAft>
                <a:spcPts val="0"/>
              </a:spcAft>
              <a:buClr>
                <a:srgbClr val="475569"/>
              </a:buClr>
              <a:buSzPts val="900"/>
              <a:buFont typeface="Arial" panose="020B0604020202020204" pitchFamily="34" charset="0"/>
              <a:buChar char="•"/>
            </a:pPr>
            <a:r>
              <a:rPr lang="ru-RU" sz="1300" b="0" i="0" u="none" strike="noStrike" cap="none" dirty="0">
                <a:solidFill>
                  <a:srgbClr val="475569"/>
                </a:solidFill>
                <a:latin typeface="Calibri"/>
                <a:ea typeface="Calibri"/>
                <a:cs typeface="Calibri"/>
                <a:sym typeface="Calibri"/>
              </a:rPr>
              <a:t>Обединяване на целия жизнен цикъл на проекта</a:t>
            </a:r>
          </a:p>
          <a:p>
            <a:pPr marR="0" lvl="0" rtl="0">
              <a:lnSpc>
                <a:spcPct val="120000"/>
              </a:lnSpc>
              <a:spcBef>
                <a:spcPts val="0"/>
              </a:spcBef>
              <a:spcAft>
                <a:spcPts val="0"/>
              </a:spcAft>
              <a:buClr>
                <a:srgbClr val="475569"/>
              </a:buClr>
              <a:buSzPts val="900"/>
            </a:pPr>
            <a:endParaRPr lang="ru-RU" sz="500" b="0" i="0" u="none" strike="noStrike" cap="none" dirty="0">
              <a:solidFill>
                <a:srgbClr val="475569"/>
              </a:solidFill>
              <a:latin typeface="Calibri"/>
              <a:ea typeface="Calibri"/>
              <a:cs typeface="Calibri"/>
              <a:sym typeface="Calibri"/>
            </a:endParaRPr>
          </a:p>
          <a:p>
            <a:pPr marL="285750" marR="0" lvl="0" indent="-285750" rtl="0">
              <a:lnSpc>
                <a:spcPct val="120000"/>
              </a:lnSpc>
              <a:spcBef>
                <a:spcPts val="0"/>
              </a:spcBef>
              <a:spcAft>
                <a:spcPts val="0"/>
              </a:spcAft>
              <a:buClr>
                <a:srgbClr val="475569"/>
              </a:buClr>
              <a:buSzPts val="900"/>
              <a:buFont typeface="Arial" panose="020B0604020202020204" pitchFamily="34" charset="0"/>
              <a:buChar char="•"/>
            </a:pPr>
            <a:r>
              <a:rPr lang="ru-RU" sz="1300" b="0" i="0" u="none" strike="noStrike" cap="none" dirty="0">
                <a:solidFill>
                  <a:srgbClr val="475569"/>
                </a:solidFill>
                <a:latin typeface="Calibri"/>
                <a:ea typeface="Calibri"/>
                <a:cs typeface="Calibri"/>
                <a:sym typeface="Calibri"/>
              </a:rPr>
              <a:t>Управление на обяви, оферти и документация</a:t>
            </a:r>
          </a:p>
          <a:p>
            <a:pPr marR="0" lvl="0" rtl="0">
              <a:lnSpc>
                <a:spcPct val="120000"/>
              </a:lnSpc>
              <a:spcBef>
                <a:spcPts val="0"/>
              </a:spcBef>
              <a:spcAft>
                <a:spcPts val="0"/>
              </a:spcAft>
              <a:buClr>
                <a:srgbClr val="475569"/>
              </a:buClr>
              <a:buSzPts val="900"/>
            </a:pPr>
            <a:endParaRPr lang="ru-RU" sz="500" b="0" i="0" u="none" strike="noStrike" cap="none" dirty="0">
              <a:solidFill>
                <a:srgbClr val="475569"/>
              </a:solidFill>
              <a:latin typeface="Calibri"/>
              <a:ea typeface="Calibri"/>
              <a:cs typeface="Calibri"/>
              <a:sym typeface="Calibri"/>
            </a:endParaRPr>
          </a:p>
          <a:p>
            <a:pPr marL="285750" marR="0" lvl="0" indent="-285750" rtl="0">
              <a:lnSpc>
                <a:spcPct val="120000"/>
              </a:lnSpc>
              <a:spcBef>
                <a:spcPts val="0"/>
              </a:spcBef>
              <a:spcAft>
                <a:spcPts val="0"/>
              </a:spcAft>
              <a:buClr>
                <a:srgbClr val="475569"/>
              </a:buClr>
              <a:buSzPts val="900"/>
              <a:buFont typeface="Arial" panose="020B0604020202020204" pitchFamily="34" charset="0"/>
              <a:buChar char="•"/>
            </a:pPr>
            <a:r>
              <a:rPr lang="ru-RU" sz="1300" b="0" i="0" u="none" strike="noStrike" cap="none" dirty="0">
                <a:solidFill>
                  <a:srgbClr val="475569"/>
                </a:solidFill>
                <a:latin typeface="Calibri"/>
                <a:ea typeface="Calibri"/>
                <a:cs typeface="Calibri"/>
                <a:sym typeface="Calibri"/>
              </a:rPr>
              <a:t>Интегриране на комуникация и административен контрол</a:t>
            </a:r>
            <a:endParaRPr sz="1300" b="0" i="0" u="none" strike="noStrike" cap="none" dirty="0">
              <a:solidFill>
                <a:schemeClr val="dk1"/>
              </a:solidFill>
              <a:latin typeface="Calibri"/>
              <a:ea typeface="Calibri"/>
              <a:cs typeface="Calibri"/>
              <a:sym typeface="Calibri"/>
            </a:endParaRPr>
          </a:p>
        </p:txBody>
      </p:sp>
      <p:sp>
        <p:nvSpPr>
          <p:cNvPr id="216" name="Google Shape;216;p19"/>
          <p:cNvSpPr/>
          <p:nvPr/>
        </p:nvSpPr>
        <p:spPr>
          <a:xfrm>
            <a:off x="3487979" y="1982724"/>
            <a:ext cx="2579294" cy="2472690"/>
          </a:xfrm>
          <a:prstGeom prst="roundRect">
            <a:avLst>
              <a:gd name="adj" fmla="val 5185"/>
            </a:avLst>
          </a:prstGeom>
          <a:solidFill>
            <a:srgbClr val="F3DADA"/>
          </a:solidFill>
          <a:ln>
            <a:noFill/>
          </a:ln>
          <a:effectLst>
            <a:outerShdw blurRad="152400" dist="50800" dir="5400000" algn="bl" rotWithShape="0">
              <a:srgbClr val="1E293B">
                <a:alpha val="7058"/>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19" name="Google Shape;219;p19"/>
          <p:cNvSpPr/>
          <p:nvPr/>
        </p:nvSpPr>
        <p:spPr>
          <a:xfrm>
            <a:off x="6295072" y="1982724"/>
            <a:ext cx="2579293" cy="2472690"/>
          </a:xfrm>
          <a:prstGeom prst="roundRect">
            <a:avLst>
              <a:gd name="adj" fmla="val 5185"/>
            </a:avLst>
          </a:prstGeom>
          <a:solidFill>
            <a:srgbClr val="FDF7F7"/>
          </a:solidFill>
          <a:ln>
            <a:noFill/>
          </a:ln>
          <a:effectLst>
            <a:outerShdw blurRad="152400" dist="50800" dir="5400000" algn="bl" rotWithShape="0">
              <a:srgbClr val="1E293B">
                <a:alpha val="7058"/>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22" name="Google Shape;222;p19"/>
          <p:cNvSpPr/>
          <p:nvPr/>
        </p:nvSpPr>
        <p:spPr>
          <a:xfrm>
            <a:off x="685800" y="762000"/>
            <a:ext cx="8149361" cy="937260"/>
          </a:xfrm>
          <a:prstGeom prst="roundRect">
            <a:avLst>
              <a:gd name="adj" fmla="val 12000"/>
            </a:avLst>
          </a:prstGeom>
          <a:solidFill>
            <a:srgbClr val="FFFFFF"/>
          </a:solidFill>
          <a:ln w="12700" cap="flat" cmpd="sng">
            <a:solidFill>
              <a:srgbClr val="E7DCDC"/>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dirty="0"/>
          </a:p>
        </p:txBody>
      </p:sp>
      <p:pic>
        <p:nvPicPr>
          <p:cNvPr id="223" name="Google Shape;223;p19" descr="/home/claude/talentflow-template/icons/bullseye-accent.png"/>
          <p:cNvPicPr preferRelativeResize="0"/>
          <p:nvPr/>
        </p:nvPicPr>
        <p:blipFill rotWithShape="1">
          <a:blip r:embed="rId3">
            <a:alphaModFix/>
          </a:blip>
          <a:srcRect/>
          <a:stretch/>
        </p:blipFill>
        <p:spPr>
          <a:xfrm>
            <a:off x="828846" y="1045464"/>
            <a:ext cx="370332" cy="370332"/>
          </a:xfrm>
          <a:prstGeom prst="rect">
            <a:avLst/>
          </a:prstGeom>
          <a:noFill/>
          <a:ln>
            <a:noFill/>
          </a:ln>
        </p:spPr>
      </p:pic>
      <p:sp>
        <p:nvSpPr>
          <p:cNvPr id="224" name="Google Shape;224;p19"/>
          <p:cNvSpPr/>
          <p:nvPr/>
        </p:nvSpPr>
        <p:spPr>
          <a:xfrm>
            <a:off x="1342224" y="887730"/>
            <a:ext cx="7532141" cy="68580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475569"/>
              </a:buClr>
              <a:buSzPts val="1000"/>
              <a:buFont typeface="Calibri"/>
              <a:buNone/>
            </a:pPr>
            <a:r>
              <a:rPr lang="ru-RU" i="1" u="none" strike="noStrike" cap="none" dirty="0">
                <a:solidFill>
                  <a:srgbClr val="1E293B"/>
                </a:solidFill>
                <a:latin typeface="Calibri"/>
                <a:ea typeface="Calibri"/>
                <a:cs typeface="Calibri"/>
                <a:sym typeface="Calibri"/>
              </a:rPr>
              <a:t>Проектиране и реализация на </a:t>
            </a:r>
            <a:r>
              <a:rPr lang="bg-BG" i="1" dirty="0">
                <a:solidFill>
                  <a:srgbClr val="1E293B"/>
                </a:solidFill>
                <a:latin typeface="Calibri"/>
                <a:ea typeface="Calibri"/>
                <a:cs typeface="Calibri"/>
                <a:sym typeface="Calibri"/>
              </a:rPr>
              <a:t>цялостна</a:t>
            </a:r>
            <a:r>
              <a:rPr lang="ru-RU" i="1" u="none" strike="noStrike" cap="none" dirty="0">
                <a:solidFill>
                  <a:srgbClr val="1E293B"/>
                </a:solidFill>
                <a:latin typeface="Calibri"/>
                <a:ea typeface="Calibri"/>
                <a:cs typeface="Calibri"/>
                <a:sym typeface="Calibri"/>
              </a:rPr>
              <a:t> уеб платформа за дигитално професионално сътрудничество в сферата на свободната заетост.</a:t>
            </a:r>
          </a:p>
        </p:txBody>
      </p:sp>
      <p:sp>
        <p:nvSpPr>
          <p:cNvPr id="2" name="Google Shape;169;p17">
            <a:extLst>
              <a:ext uri="{FF2B5EF4-FFF2-40B4-BE49-F238E27FC236}">
                <a16:creationId xmlns:a16="http://schemas.microsoft.com/office/drawing/2014/main" id="{6D29E8B0-96AC-E33B-A475-7DEA432805DC}"/>
              </a:ext>
            </a:extLst>
          </p:cNvPr>
          <p:cNvSpPr/>
          <p:nvPr/>
        </p:nvSpPr>
        <p:spPr>
          <a:xfrm>
            <a:off x="828846" y="2023872"/>
            <a:ext cx="2426383" cy="34290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1E293B"/>
              </a:buClr>
              <a:buSzPts val="1100"/>
              <a:buFont typeface="Cambria"/>
              <a:buNone/>
            </a:pPr>
            <a:r>
              <a:rPr lang="bg" b="1" i="0" u="none" strike="noStrike" cap="none" dirty="0">
                <a:solidFill>
                  <a:srgbClr val="1E293B"/>
                </a:solidFill>
                <a:latin typeface="Cambria"/>
                <a:ea typeface="Cambria"/>
                <a:cs typeface="Cambria"/>
                <a:sym typeface="Cambria"/>
              </a:rPr>
              <a:t>Функционално измерение</a:t>
            </a:r>
            <a:endParaRPr b="0" i="0" u="none" strike="noStrike" cap="none" dirty="0">
              <a:solidFill>
                <a:schemeClr val="dk1"/>
              </a:solidFill>
              <a:latin typeface="Calibri"/>
              <a:ea typeface="Calibri"/>
              <a:cs typeface="Calibri"/>
              <a:sym typeface="Calibri"/>
            </a:endParaRPr>
          </a:p>
        </p:txBody>
      </p:sp>
      <p:sp>
        <p:nvSpPr>
          <p:cNvPr id="3" name="Google Shape;169;p17">
            <a:extLst>
              <a:ext uri="{FF2B5EF4-FFF2-40B4-BE49-F238E27FC236}">
                <a16:creationId xmlns:a16="http://schemas.microsoft.com/office/drawing/2014/main" id="{DF4B6A47-970F-AB98-0E1B-4548FED665B7}"/>
              </a:ext>
            </a:extLst>
          </p:cNvPr>
          <p:cNvSpPr/>
          <p:nvPr/>
        </p:nvSpPr>
        <p:spPr>
          <a:xfrm>
            <a:off x="3634740" y="2023872"/>
            <a:ext cx="2236392" cy="34290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1E293B"/>
              </a:buClr>
              <a:buSzPts val="1100"/>
              <a:buFont typeface="Cambria"/>
              <a:buNone/>
            </a:pPr>
            <a:r>
              <a:rPr lang="bg" b="1" i="0" u="none" strike="noStrike" cap="none" dirty="0">
                <a:solidFill>
                  <a:srgbClr val="1E293B"/>
                </a:solidFill>
                <a:latin typeface="Cambria"/>
                <a:ea typeface="Cambria"/>
                <a:cs typeface="Cambria"/>
                <a:sym typeface="Cambria"/>
              </a:rPr>
              <a:t>Технологично измерение</a:t>
            </a:r>
            <a:endParaRPr b="0" i="0" u="none" strike="noStrike" cap="none" dirty="0">
              <a:solidFill>
                <a:schemeClr val="dk1"/>
              </a:solidFill>
              <a:latin typeface="Calibri"/>
              <a:ea typeface="Calibri"/>
              <a:cs typeface="Calibri"/>
              <a:sym typeface="Calibri"/>
            </a:endParaRPr>
          </a:p>
        </p:txBody>
      </p:sp>
      <p:sp>
        <p:nvSpPr>
          <p:cNvPr id="4" name="Google Shape;169;p17">
            <a:extLst>
              <a:ext uri="{FF2B5EF4-FFF2-40B4-BE49-F238E27FC236}">
                <a16:creationId xmlns:a16="http://schemas.microsoft.com/office/drawing/2014/main" id="{59D9D196-B535-171B-7CCD-29FCB2CD5822}"/>
              </a:ext>
            </a:extLst>
          </p:cNvPr>
          <p:cNvSpPr/>
          <p:nvPr/>
        </p:nvSpPr>
        <p:spPr>
          <a:xfrm>
            <a:off x="6433367" y="2028444"/>
            <a:ext cx="2302701" cy="34290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1E293B"/>
              </a:buClr>
              <a:buSzPts val="1100"/>
              <a:buFont typeface="Cambria"/>
              <a:buNone/>
            </a:pPr>
            <a:r>
              <a:rPr lang="bg" b="1" i="0" u="none" strike="noStrike" cap="none" dirty="0">
                <a:solidFill>
                  <a:srgbClr val="1E293B"/>
                </a:solidFill>
                <a:latin typeface="Cambria"/>
                <a:ea typeface="Cambria"/>
                <a:cs typeface="Cambria"/>
                <a:sym typeface="Cambria"/>
              </a:rPr>
              <a:t>Потребителско измерение</a:t>
            </a:r>
            <a:endParaRPr b="0" i="0" u="none" strike="noStrike" cap="none" dirty="0">
              <a:solidFill>
                <a:schemeClr val="dk1"/>
              </a:solidFill>
              <a:latin typeface="Calibri"/>
              <a:ea typeface="Calibri"/>
              <a:cs typeface="Calibri"/>
              <a:sym typeface="Calibri"/>
            </a:endParaRPr>
          </a:p>
        </p:txBody>
      </p:sp>
      <p:sp>
        <p:nvSpPr>
          <p:cNvPr id="6" name="Google Shape;215;p19">
            <a:extLst>
              <a:ext uri="{FF2B5EF4-FFF2-40B4-BE49-F238E27FC236}">
                <a16:creationId xmlns:a16="http://schemas.microsoft.com/office/drawing/2014/main" id="{674426B4-035B-0621-32B5-93E07D0C37E3}"/>
              </a:ext>
            </a:extLst>
          </p:cNvPr>
          <p:cNvSpPr/>
          <p:nvPr/>
        </p:nvSpPr>
        <p:spPr>
          <a:xfrm>
            <a:off x="3564435" y="2494788"/>
            <a:ext cx="2426382" cy="1794510"/>
          </a:xfrm>
          <a:prstGeom prst="rect">
            <a:avLst/>
          </a:prstGeom>
          <a:noFill/>
          <a:ln>
            <a:noFill/>
          </a:ln>
        </p:spPr>
        <p:txBody>
          <a:bodyPr spcFirstLastPara="1" wrap="square" lIns="0" tIns="0" rIns="0" bIns="0" anchor="t" anchorCtr="0">
            <a:noAutofit/>
          </a:bodyPr>
          <a:lstStyle/>
          <a:p>
            <a:pPr marL="285750" marR="0" lvl="0" indent="-285750" rtl="0">
              <a:lnSpc>
                <a:spcPct val="120000"/>
              </a:lnSpc>
              <a:spcBef>
                <a:spcPts val="0"/>
              </a:spcBef>
              <a:spcAft>
                <a:spcPts val="0"/>
              </a:spcAft>
              <a:buClr>
                <a:srgbClr val="475569"/>
              </a:buClr>
              <a:buSzPts val="900"/>
              <a:buFont typeface="Arial" panose="020B0604020202020204" pitchFamily="34" charset="0"/>
              <a:buChar char="•"/>
            </a:pPr>
            <a:r>
              <a:rPr lang="ru-RU" sz="1300" dirty="0">
                <a:solidFill>
                  <a:srgbClr val="475569"/>
                </a:solidFill>
                <a:latin typeface="Calibri"/>
                <a:ea typeface="Calibri"/>
                <a:cs typeface="Calibri"/>
                <a:sym typeface="Calibri"/>
              </a:rPr>
              <a:t>М</a:t>
            </a:r>
            <a:r>
              <a:rPr lang="ru-RU" sz="1300" b="0" i="0" u="none" strike="noStrike" cap="none" dirty="0">
                <a:solidFill>
                  <a:srgbClr val="475569"/>
                </a:solidFill>
                <a:latin typeface="Calibri"/>
                <a:ea typeface="Calibri"/>
                <a:cs typeface="Calibri"/>
                <a:sym typeface="Calibri"/>
              </a:rPr>
              <a:t>ащабируема клиент-сървърна архитектура</a:t>
            </a:r>
          </a:p>
          <a:p>
            <a:pPr marL="285750" marR="0" lvl="0" indent="-285750" rtl="0">
              <a:lnSpc>
                <a:spcPct val="120000"/>
              </a:lnSpc>
              <a:spcBef>
                <a:spcPts val="0"/>
              </a:spcBef>
              <a:spcAft>
                <a:spcPts val="0"/>
              </a:spcAft>
              <a:buClr>
                <a:srgbClr val="475569"/>
              </a:buClr>
              <a:buSzPts val="900"/>
              <a:buFont typeface="Arial" panose="020B0604020202020204" pitchFamily="34" charset="0"/>
              <a:buChar char="•"/>
            </a:pPr>
            <a:endParaRPr lang="ru-RU" sz="500" b="0" i="0" u="none" strike="noStrike" cap="none" dirty="0">
              <a:solidFill>
                <a:srgbClr val="475569"/>
              </a:solidFill>
              <a:latin typeface="Calibri"/>
              <a:ea typeface="Calibri"/>
              <a:cs typeface="Calibri"/>
              <a:sym typeface="Calibri"/>
            </a:endParaRPr>
          </a:p>
          <a:p>
            <a:pPr marL="285750" marR="0" lvl="0" indent="-285750" rtl="0">
              <a:lnSpc>
                <a:spcPct val="120000"/>
              </a:lnSpc>
              <a:spcBef>
                <a:spcPts val="0"/>
              </a:spcBef>
              <a:spcAft>
                <a:spcPts val="0"/>
              </a:spcAft>
              <a:buClr>
                <a:srgbClr val="475569"/>
              </a:buClr>
              <a:buSzPts val="900"/>
              <a:buFont typeface="Arial" panose="020B0604020202020204" pitchFamily="34" charset="0"/>
              <a:buChar char="•"/>
            </a:pPr>
            <a:r>
              <a:rPr lang="ru-RU" sz="1300" b="0" i="0" u="none" strike="noStrike" cap="none" dirty="0">
                <a:solidFill>
                  <a:srgbClr val="475569"/>
                </a:solidFill>
                <a:latin typeface="Calibri"/>
                <a:ea typeface="Calibri"/>
                <a:cs typeface="Calibri"/>
                <a:sym typeface="Calibri"/>
              </a:rPr>
              <a:t>Надеждна връзка с релационна база данни</a:t>
            </a:r>
          </a:p>
          <a:p>
            <a:pPr marL="285750" marR="0" lvl="0" indent="-285750" rtl="0">
              <a:lnSpc>
                <a:spcPct val="120000"/>
              </a:lnSpc>
              <a:spcBef>
                <a:spcPts val="0"/>
              </a:spcBef>
              <a:spcAft>
                <a:spcPts val="0"/>
              </a:spcAft>
              <a:buClr>
                <a:srgbClr val="475569"/>
              </a:buClr>
              <a:buSzPts val="900"/>
              <a:buFont typeface="Arial" panose="020B0604020202020204" pitchFamily="34" charset="0"/>
              <a:buChar char="•"/>
            </a:pPr>
            <a:endParaRPr lang="ru-RU" sz="500" b="0" i="0" u="none" strike="noStrike" cap="none" dirty="0">
              <a:solidFill>
                <a:srgbClr val="475569"/>
              </a:solidFill>
              <a:latin typeface="Calibri"/>
              <a:ea typeface="Calibri"/>
              <a:cs typeface="Calibri"/>
              <a:sym typeface="Calibri"/>
            </a:endParaRPr>
          </a:p>
          <a:p>
            <a:pPr marL="285750" marR="0" lvl="0" indent="-285750" rtl="0">
              <a:lnSpc>
                <a:spcPct val="120000"/>
              </a:lnSpc>
              <a:spcBef>
                <a:spcPts val="0"/>
              </a:spcBef>
              <a:spcAft>
                <a:spcPts val="0"/>
              </a:spcAft>
              <a:buClr>
                <a:srgbClr val="475569"/>
              </a:buClr>
              <a:buSzPts val="900"/>
              <a:buFont typeface="Arial" panose="020B0604020202020204" pitchFamily="34" charset="0"/>
              <a:buChar char="•"/>
            </a:pPr>
            <a:r>
              <a:rPr lang="ru-RU" sz="1300" b="0" i="0" u="none" strike="noStrike" cap="none" dirty="0">
                <a:solidFill>
                  <a:srgbClr val="475569"/>
                </a:solidFill>
                <a:latin typeface="Calibri"/>
                <a:ea typeface="Calibri"/>
                <a:cs typeface="Calibri"/>
                <a:sym typeface="Calibri"/>
              </a:rPr>
              <a:t>Многослойна сигурност и ролеви достъп</a:t>
            </a:r>
            <a:endParaRPr sz="1300" b="0" i="0" u="none" strike="noStrike" cap="none" dirty="0">
              <a:solidFill>
                <a:schemeClr val="dk1"/>
              </a:solidFill>
              <a:latin typeface="Calibri"/>
              <a:ea typeface="Calibri"/>
              <a:cs typeface="Calibri"/>
              <a:sym typeface="Calibri"/>
            </a:endParaRPr>
          </a:p>
        </p:txBody>
      </p:sp>
      <p:sp>
        <p:nvSpPr>
          <p:cNvPr id="7" name="Google Shape;215;p19">
            <a:extLst>
              <a:ext uri="{FF2B5EF4-FFF2-40B4-BE49-F238E27FC236}">
                <a16:creationId xmlns:a16="http://schemas.microsoft.com/office/drawing/2014/main" id="{DFD1F99C-EA11-7952-2FA3-63EEFFC268E7}"/>
              </a:ext>
            </a:extLst>
          </p:cNvPr>
          <p:cNvSpPr/>
          <p:nvPr/>
        </p:nvSpPr>
        <p:spPr>
          <a:xfrm>
            <a:off x="6371526" y="2494788"/>
            <a:ext cx="2426382" cy="1794510"/>
          </a:xfrm>
          <a:prstGeom prst="rect">
            <a:avLst/>
          </a:prstGeom>
          <a:noFill/>
          <a:ln>
            <a:noFill/>
          </a:ln>
        </p:spPr>
        <p:txBody>
          <a:bodyPr spcFirstLastPara="1" wrap="square" lIns="0" tIns="0" rIns="0" bIns="0" anchor="t" anchorCtr="0">
            <a:noAutofit/>
          </a:bodyPr>
          <a:lstStyle/>
          <a:p>
            <a:pPr marL="285750" marR="0" lvl="0" indent="-285750" rtl="0">
              <a:lnSpc>
                <a:spcPct val="120000"/>
              </a:lnSpc>
              <a:spcBef>
                <a:spcPts val="0"/>
              </a:spcBef>
              <a:spcAft>
                <a:spcPts val="0"/>
              </a:spcAft>
              <a:buClr>
                <a:srgbClr val="475569"/>
              </a:buClr>
              <a:buSzPts val="900"/>
              <a:buFont typeface="Arial" panose="020B0604020202020204" pitchFamily="34" charset="0"/>
              <a:buChar char="•"/>
            </a:pPr>
            <a:r>
              <a:rPr lang="ru-RU" sz="1300" b="0" i="0" u="none" strike="noStrike" cap="none" dirty="0">
                <a:solidFill>
                  <a:srgbClr val="475569"/>
                </a:solidFill>
                <a:latin typeface="Calibri"/>
                <a:ea typeface="Calibri"/>
                <a:cs typeface="Calibri"/>
                <a:sym typeface="Calibri"/>
              </a:rPr>
              <a:t>Интуитивен, ергономичен и адаптивен интерфейс</a:t>
            </a:r>
          </a:p>
          <a:p>
            <a:pPr marR="0" lvl="0" rtl="0">
              <a:lnSpc>
                <a:spcPct val="120000"/>
              </a:lnSpc>
              <a:spcBef>
                <a:spcPts val="0"/>
              </a:spcBef>
              <a:spcAft>
                <a:spcPts val="0"/>
              </a:spcAft>
              <a:buClr>
                <a:srgbClr val="475569"/>
              </a:buClr>
              <a:buSzPts val="900"/>
            </a:pPr>
            <a:endParaRPr lang="ru-RU" sz="500" b="0" i="0" u="none" strike="noStrike" cap="none" dirty="0">
              <a:solidFill>
                <a:srgbClr val="475569"/>
              </a:solidFill>
              <a:latin typeface="Calibri"/>
              <a:ea typeface="Calibri"/>
              <a:cs typeface="Calibri"/>
              <a:sym typeface="Calibri"/>
            </a:endParaRPr>
          </a:p>
          <a:p>
            <a:pPr marL="285750" marR="0" lvl="0" indent="-285750" rtl="0">
              <a:lnSpc>
                <a:spcPct val="120000"/>
              </a:lnSpc>
              <a:spcBef>
                <a:spcPts val="0"/>
              </a:spcBef>
              <a:spcAft>
                <a:spcPts val="0"/>
              </a:spcAft>
              <a:buClr>
                <a:srgbClr val="475569"/>
              </a:buClr>
              <a:buSzPts val="900"/>
              <a:buFont typeface="Arial" panose="020B0604020202020204" pitchFamily="34" charset="0"/>
              <a:buChar char="•"/>
            </a:pPr>
            <a:r>
              <a:rPr lang="ru-RU" sz="1300" b="0" i="0" u="none" strike="noStrike" cap="none" dirty="0">
                <a:solidFill>
                  <a:srgbClr val="475569"/>
                </a:solidFill>
                <a:latin typeface="Calibri"/>
                <a:ea typeface="Calibri"/>
                <a:cs typeface="Calibri"/>
                <a:sym typeface="Calibri"/>
              </a:rPr>
              <a:t>Прозрачна и улеснена доверена среда</a:t>
            </a:r>
          </a:p>
          <a:p>
            <a:pPr marR="0" lvl="0" rtl="0">
              <a:lnSpc>
                <a:spcPct val="120000"/>
              </a:lnSpc>
              <a:spcBef>
                <a:spcPts val="0"/>
              </a:spcBef>
              <a:spcAft>
                <a:spcPts val="0"/>
              </a:spcAft>
              <a:buClr>
                <a:srgbClr val="475569"/>
              </a:buClr>
              <a:buSzPts val="900"/>
            </a:pPr>
            <a:endParaRPr lang="ru-RU" sz="500" b="0" i="0" u="none" strike="noStrike" cap="none" dirty="0">
              <a:solidFill>
                <a:srgbClr val="475569"/>
              </a:solidFill>
              <a:latin typeface="Calibri"/>
              <a:ea typeface="Calibri"/>
              <a:cs typeface="Calibri"/>
              <a:sym typeface="Calibri"/>
            </a:endParaRPr>
          </a:p>
          <a:p>
            <a:pPr marL="285750" marR="0" lvl="0" indent="-285750" rtl="0">
              <a:lnSpc>
                <a:spcPct val="120000"/>
              </a:lnSpc>
              <a:spcBef>
                <a:spcPts val="0"/>
              </a:spcBef>
              <a:spcAft>
                <a:spcPts val="0"/>
              </a:spcAft>
              <a:buClr>
                <a:srgbClr val="475569"/>
              </a:buClr>
              <a:buSzPts val="900"/>
              <a:buFont typeface="Arial" panose="020B0604020202020204" pitchFamily="34" charset="0"/>
              <a:buChar char="•"/>
            </a:pPr>
            <a:r>
              <a:rPr lang="ru-RU" sz="1300" b="0" i="0" u="none" strike="noStrike" cap="none" dirty="0">
                <a:solidFill>
                  <a:srgbClr val="475569"/>
                </a:solidFill>
                <a:latin typeface="Calibri"/>
                <a:ea typeface="Calibri"/>
                <a:cs typeface="Calibri"/>
                <a:sym typeface="Calibri"/>
              </a:rPr>
              <a:t>Обособен функционален административен панел</a:t>
            </a:r>
            <a:endParaRPr sz="13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9"/>
        <p:cNvGrpSpPr/>
        <p:nvPr/>
      </p:nvGrpSpPr>
      <p:grpSpPr>
        <a:xfrm>
          <a:off x="0" y="0"/>
          <a:ext cx="0" cy="0"/>
          <a:chOff x="0" y="0"/>
          <a:chExt cx="0" cy="0"/>
        </a:xfrm>
      </p:grpSpPr>
      <p:sp>
        <p:nvSpPr>
          <p:cNvPr id="230" name="Google Shape;230;p20"/>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31" name="Google Shape;231;p20"/>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32" name="Google Shape;232;p20"/>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 ЦЕЛИ И ЗАДАЧИ</a:t>
            </a:r>
            <a:endParaRPr sz="1100" b="0" i="0" u="none" strike="noStrike" cap="none" dirty="0">
              <a:solidFill>
                <a:schemeClr val="dk1"/>
              </a:solidFill>
              <a:latin typeface="Calibri"/>
              <a:ea typeface="Calibri"/>
              <a:cs typeface="Calibri"/>
              <a:sym typeface="Calibri"/>
            </a:endParaRPr>
          </a:p>
        </p:txBody>
      </p:sp>
      <p:sp>
        <p:nvSpPr>
          <p:cNvPr id="237" name="Google Shape;237;p20"/>
          <p:cNvSpPr/>
          <p:nvPr/>
        </p:nvSpPr>
        <p:spPr>
          <a:xfrm>
            <a:off x="685800" y="183642"/>
            <a:ext cx="589788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300" b="1" i="0" u="none" strike="noStrike" cap="none" dirty="0">
                <a:solidFill>
                  <a:srgbClr val="1E293B"/>
                </a:solidFill>
                <a:latin typeface="Cambria"/>
                <a:ea typeface="Cambria"/>
                <a:cs typeface="Cambria"/>
                <a:sym typeface="Cambria"/>
              </a:rPr>
              <a:t>Задачи за изпълнение</a:t>
            </a:r>
            <a:endParaRPr sz="2300" b="0" i="0" u="none" strike="noStrike" cap="none" dirty="0">
              <a:solidFill>
                <a:schemeClr val="dk1"/>
              </a:solidFill>
              <a:latin typeface="Calibri"/>
              <a:ea typeface="Calibri"/>
              <a:cs typeface="Calibri"/>
              <a:sym typeface="Calibri"/>
            </a:endParaRPr>
          </a:p>
        </p:txBody>
      </p:sp>
      <p:sp>
        <p:nvSpPr>
          <p:cNvPr id="239" name="Google Shape;239;p20"/>
          <p:cNvSpPr/>
          <p:nvPr/>
        </p:nvSpPr>
        <p:spPr>
          <a:xfrm>
            <a:off x="497319" y="689610"/>
            <a:ext cx="8149361" cy="514350"/>
          </a:xfrm>
          <a:prstGeom prst="roundRect">
            <a:avLst>
              <a:gd name="adj" fmla="val 16000"/>
            </a:avLst>
          </a:prstGeom>
          <a:solidFill>
            <a:srgbClr val="FFFFFF"/>
          </a:solidFill>
          <a:ln w="12700" cap="flat" cmpd="sng">
            <a:solidFill>
              <a:srgbClr val="E7DCDC"/>
            </a:solidFill>
            <a:prstDash val="solid"/>
            <a:round/>
            <a:headEnd type="none" w="sm" len="sm"/>
            <a:tailEnd type="none" w="sm" len="sm"/>
          </a:ln>
          <a:effectLst>
            <a:outerShdw blurRad="127000" dist="38100" dir="5400000" algn="bl" rotWithShape="0">
              <a:srgbClr val="1E293B">
                <a:alpha val="5882"/>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40" name="Google Shape;240;p20"/>
          <p:cNvSpPr/>
          <p:nvPr/>
        </p:nvSpPr>
        <p:spPr>
          <a:xfrm>
            <a:off x="620763" y="734187"/>
            <a:ext cx="425196" cy="425196"/>
          </a:xfrm>
          <a:prstGeom prst="roundRect">
            <a:avLst>
              <a:gd name="adj" fmla="val 19355"/>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41" name="Google Shape;241;p20"/>
          <p:cNvSpPr/>
          <p:nvPr/>
        </p:nvSpPr>
        <p:spPr>
          <a:xfrm>
            <a:off x="620763" y="734187"/>
            <a:ext cx="425196" cy="4251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mbria"/>
              <a:buNone/>
            </a:pPr>
            <a:r>
              <a:rPr lang="bg" b="1" i="0" u="none" strike="noStrike" cap="none" dirty="0">
                <a:solidFill>
                  <a:srgbClr val="FFFFFF"/>
                </a:solidFill>
                <a:latin typeface="Cambria"/>
                <a:ea typeface="Cambria"/>
                <a:cs typeface="Cambria"/>
                <a:sym typeface="Cambria"/>
              </a:rPr>
              <a:t>1</a:t>
            </a:r>
            <a:endParaRPr b="0" i="0" u="none" strike="noStrike" cap="none" dirty="0">
              <a:solidFill>
                <a:schemeClr val="dk1"/>
              </a:solidFill>
              <a:latin typeface="Calibri"/>
              <a:ea typeface="Calibri"/>
              <a:cs typeface="Calibri"/>
              <a:sym typeface="Calibri"/>
            </a:endParaRPr>
          </a:p>
        </p:txBody>
      </p:sp>
      <p:sp>
        <p:nvSpPr>
          <p:cNvPr id="242" name="Google Shape;242;p20"/>
          <p:cNvSpPr/>
          <p:nvPr/>
        </p:nvSpPr>
        <p:spPr>
          <a:xfrm>
            <a:off x="1217409" y="744474"/>
            <a:ext cx="7257821" cy="40462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100"/>
              <a:buFont typeface="Calibri"/>
              <a:buNone/>
            </a:pPr>
            <a:r>
              <a:rPr lang="bg" b="1" i="0" u="none" strike="noStrike" cap="none" dirty="0">
                <a:solidFill>
                  <a:srgbClr val="1E293B"/>
                </a:solidFill>
                <a:latin typeface="Calibri"/>
                <a:ea typeface="Calibri"/>
                <a:cs typeface="Calibri"/>
                <a:sym typeface="Calibri"/>
              </a:rPr>
              <a:t>Управление на достъп и сигурност </a:t>
            </a:r>
            <a:r>
              <a:rPr lang="ru-RU" b="1" i="0" u="none" strike="noStrike" cap="none" dirty="0">
                <a:solidFill>
                  <a:srgbClr val="1E293B"/>
                </a:solidFill>
                <a:latin typeface="Calibri"/>
                <a:ea typeface="Calibri"/>
                <a:cs typeface="Calibri"/>
                <a:sym typeface="Calibri"/>
              </a:rPr>
              <a:t>- JWT, 2FA, ролево разпределение на функционалности</a:t>
            </a:r>
            <a:r>
              <a:rPr lang="bg" b="1" i="0" u="none" strike="noStrike" cap="none" dirty="0">
                <a:solidFill>
                  <a:srgbClr val="1E293B"/>
                </a:solidFill>
                <a:latin typeface="Calibri"/>
                <a:ea typeface="Calibri"/>
                <a:cs typeface="Calibri"/>
                <a:sym typeface="Calibri"/>
              </a:rPr>
              <a:t>   </a:t>
            </a:r>
            <a:endParaRPr b="0" i="0" u="none" strike="noStrike" cap="none" dirty="0">
              <a:solidFill>
                <a:schemeClr val="dk1"/>
              </a:solidFill>
              <a:latin typeface="Calibri"/>
              <a:ea typeface="Calibri"/>
              <a:cs typeface="Calibri"/>
              <a:sym typeface="Calibri"/>
            </a:endParaRPr>
          </a:p>
        </p:txBody>
      </p:sp>
      <p:sp>
        <p:nvSpPr>
          <p:cNvPr id="243" name="Google Shape;243;p20"/>
          <p:cNvSpPr/>
          <p:nvPr/>
        </p:nvSpPr>
        <p:spPr>
          <a:xfrm>
            <a:off x="497319" y="1327404"/>
            <a:ext cx="8149361" cy="514350"/>
          </a:xfrm>
          <a:prstGeom prst="roundRect">
            <a:avLst>
              <a:gd name="adj" fmla="val 16000"/>
            </a:avLst>
          </a:prstGeom>
          <a:solidFill>
            <a:srgbClr val="FDF7F7"/>
          </a:solidFill>
          <a:ln w="12700" cap="flat" cmpd="sng">
            <a:solidFill>
              <a:srgbClr val="E7DCDC"/>
            </a:solidFill>
            <a:prstDash val="solid"/>
            <a:round/>
            <a:headEnd type="none" w="sm" len="sm"/>
            <a:tailEnd type="none" w="sm" len="sm"/>
          </a:ln>
          <a:effectLst>
            <a:outerShdw blurRad="127000" dist="38100" dir="5400000" algn="bl" rotWithShape="0">
              <a:srgbClr val="1E293B">
                <a:alpha val="5882"/>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44" name="Google Shape;244;p20"/>
          <p:cNvSpPr/>
          <p:nvPr/>
        </p:nvSpPr>
        <p:spPr>
          <a:xfrm>
            <a:off x="620763" y="1371981"/>
            <a:ext cx="425196" cy="425196"/>
          </a:xfrm>
          <a:prstGeom prst="roundRect">
            <a:avLst>
              <a:gd name="adj" fmla="val 19355"/>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45" name="Google Shape;245;p20"/>
          <p:cNvSpPr/>
          <p:nvPr/>
        </p:nvSpPr>
        <p:spPr>
          <a:xfrm>
            <a:off x="620763" y="1371981"/>
            <a:ext cx="425196" cy="4251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mbria"/>
              <a:buNone/>
            </a:pPr>
            <a:r>
              <a:rPr lang="bg" b="1" i="0" u="none" strike="noStrike" cap="none" dirty="0">
                <a:solidFill>
                  <a:srgbClr val="FFFFFF"/>
                </a:solidFill>
                <a:latin typeface="Cambria"/>
                <a:ea typeface="Cambria"/>
                <a:cs typeface="Cambria"/>
                <a:sym typeface="Cambria"/>
              </a:rPr>
              <a:t>2</a:t>
            </a:r>
            <a:endParaRPr b="0" i="0" u="none" strike="noStrike" cap="none" dirty="0">
              <a:solidFill>
                <a:schemeClr val="dk1"/>
              </a:solidFill>
              <a:latin typeface="Calibri"/>
              <a:ea typeface="Calibri"/>
              <a:cs typeface="Calibri"/>
              <a:sym typeface="Calibri"/>
            </a:endParaRPr>
          </a:p>
        </p:txBody>
      </p:sp>
      <p:sp>
        <p:nvSpPr>
          <p:cNvPr id="246" name="Google Shape;246;p20"/>
          <p:cNvSpPr/>
          <p:nvPr/>
        </p:nvSpPr>
        <p:spPr>
          <a:xfrm>
            <a:off x="1217409" y="1382268"/>
            <a:ext cx="7257821" cy="40462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100"/>
              <a:buFont typeface="Calibri"/>
              <a:buNone/>
            </a:pPr>
            <a:r>
              <a:rPr lang="bg" b="1" i="0" u="none" strike="noStrike" cap="none" dirty="0">
                <a:solidFill>
                  <a:srgbClr val="1E293B"/>
                </a:solidFill>
                <a:latin typeface="Calibri"/>
                <a:ea typeface="Calibri"/>
                <a:cs typeface="Calibri"/>
                <a:sym typeface="Calibri"/>
              </a:rPr>
              <a:t>Структуриране на потребителска информация в личен профил</a:t>
            </a:r>
            <a:endParaRPr b="0" i="0" u="none" strike="noStrike" cap="none" dirty="0">
              <a:solidFill>
                <a:schemeClr val="dk1"/>
              </a:solidFill>
              <a:latin typeface="Calibri"/>
              <a:ea typeface="Calibri"/>
              <a:cs typeface="Calibri"/>
              <a:sym typeface="Calibri"/>
            </a:endParaRPr>
          </a:p>
        </p:txBody>
      </p:sp>
      <p:sp>
        <p:nvSpPr>
          <p:cNvPr id="247" name="Google Shape;247;p20"/>
          <p:cNvSpPr/>
          <p:nvPr/>
        </p:nvSpPr>
        <p:spPr>
          <a:xfrm>
            <a:off x="497319" y="1965198"/>
            <a:ext cx="8149361" cy="514350"/>
          </a:xfrm>
          <a:prstGeom prst="roundRect">
            <a:avLst>
              <a:gd name="adj" fmla="val 16000"/>
            </a:avLst>
          </a:prstGeom>
          <a:solidFill>
            <a:srgbClr val="FFFFFF"/>
          </a:solidFill>
          <a:ln w="12700" cap="flat" cmpd="sng">
            <a:solidFill>
              <a:srgbClr val="E7DCDC"/>
            </a:solidFill>
            <a:prstDash val="solid"/>
            <a:round/>
            <a:headEnd type="none" w="sm" len="sm"/>
            <a:tailEnd type="none" w="sm" len="sm"/>
          </a:ln>
          <a:effectLst>
            <a:outerShdw blurRad="127000" dist="38100" dir="5400000" algn="bl" rotWithShape="0">
              <a:srgbClr val="1E293B">
                <a:alpha val="5882"/>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48" name="Google Shape;248;p20"/>
          <p:cNvSpPr/>
          <p:nvPr/>
        </p:nvSpPr>
        <p:spPr>
          <a:xfrm>
            <a:off x="620763" y="2009775"/>
            <a:ext cx="425196" cy="425196"/>
          </a:xfrm>
          <a:prstGeom prst="roundRect">
            <a:avLst>
              <a:gd name="adj" fmla="val 19355"/>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49" name="Google Shape;249;p20"/>
          <p:cNvSpPr/>
          <p:nvPr/>
        </p:nvSpPr>
        <p:spPr>
          <a:xfrm>
            <a:off x="620763" y="2009775"/>
            <a:ext cx="425196" cy="4251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mbria"/>
              <a:buNone/>
            </a:pPr>
            <a:r>
              <a:rPr lang="bg" b="1" i="0" u="none" strike="noStrike" cap="none" dirty="0">
                <a:solidFill>
                  <a:srgbClr val="FFFFFF"/>
                </a:solidFill>
                <a:latin typeface="Cambria"/>
                <a:ea typeface="Cambria"/>
                <a:cs typeface="Cambria"/>
                <a:sym typeface="Cambria"/>
              </a:rPr>
              <a:t>3</a:t>
            </a:r>
            <a:endParaRPr b="0" i="0" u="none" strike="noStrike" cap="none" dirty="0">
              <a:solidFill>
                <a:schemeClr val="dk1"/>
              </a:solidFill>
              <a:latin typeface="Calibri"/>
              <a:ea typeface="Calibri"/>
              <a:cs typeface="Calibri"/>
              <a:sym typeface="Calibri"/>
            </a:endParaRPr>
          </a:p>
        </p:txBody>
      </p:sp>
      <p:sp>
        <p:nvSpPr>
          <p:cNvPr id="250" name="Google Shape;250;p20"/>
          <p:cNvSpPr/>
          <p:nvPr/>
        </p:nvSpPr>
        <p:spPr>
          <a:xfrm>
            <a:off x="1217409" y="2020062"/>
            <a:ext cx="7257821" cy="40462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100"/>
              <a:buFont typeface="Calibri"/>
              <a:buNone/>
            </a:pPr>
            <a:r>
              <a:rPr lang="bg" b="1" i="0" u="none" strike="noStrike" cap="none" dirty="0">
                <a:solidFill>
                  <a:srgbClr val="1E293B"/>
                </a:solidFill>
                <a:latin typeface="Calibri"/>
                <a:ea typeface="Calibri"/>
                <a:cs typeface="Calibri"/>
                <a:sym typeface="Calibri"/>
              </a:rPr>
              <a:t>Управление на работни обяви и оферти</a:t>
            </a:r>
            <a:endParaRPr b="0" i="0" u="none" strike="noStrike" cap="none" dirty="0">
              <a:solidFill>
                <a:schemeClr val="dk1"/>
              </a:solidFill>
              <a:latin typeface="Calibri"/>
              <a:ea typeface="Calibri"/>
              <a:cs typeface="Calibri"/>
              <a:sym typeface="Calibri"/>
            </a:endParaRPr>
          </a:p>
        </p:txBody>
      </p:sp>
      <p:sp>
        <p:nvSpPr>
          <p:cNvPr id="251" name="Google Shape;251;p20"/>
          <p:cNvSpPr/>
          <p:nvPr/>
        </p:nvSpPr>
        <p:spPr>
          <a:xfrm>
            <a:off x="497319" y="2602992"/>
            <a:ext cx="8149361" cy="514350"/>
          </a:xfrm>
          <a:prstGeom prst="roundRect">
            <a:avLst>
              <a:gd name="adj" fmla="val 16000"/>
            </a:avLst>
          </a:prstGeom>
          <a:solidFill>
            <a:srgbClr val="FDF7F7"/>
          </a:solidFill>
          <a:ln w="12700" cap="flat" cmpd="sng">
            <a:solidFill>
              <a:srgbClr val="E7DCDC"/>
            </a:solidFill>
            <a:prstDash val="solid"/>
            <a:round/>
            <a:headEnd type="none" w="sm" len="sm"/>
            <a:tailEnd type="none" w="sm" len="sm"/>
          </a:ln>
          <a:effectLst>
            <a:outerShdw blurRad="127000" dist="38100" dir="5400000" algn="bl" rotWithShape="0">
              <a:srgbClr val="1E293B">
                <a:alpha val="5882"/>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52" name="Google Shape;252;p20"/>
          <p:cNvSpPr/>
          <p:nvPr/>
        </p:nvSpPr>
        <p:spPr>
          <a:xfrm>
            <a:off x="620763" y="2647569"/>
            <a:ext cx="425196" cy="425196"/>
          </a:xfrm>
          <a:prstGeom prst="roundRect">
            <a:avLst>
              <a:gd name="adj" fmla="val 19355"/>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53" name="Google Shape;253;p20"/>
          <p:cNvSpPr/>
          <p:nvPr/>
        </p:nvSpPr>
        <p:spPr>
          <a:xfrm>
            <a:off x="620763" y="2647569"/>
            <a:ext cx="425196" cy="4251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mbria"/>
              <a:buNone/>
            </a:pPr>
            <a:r>
              <a:rPr lang="bg" b="1" i="0" u="none" strike="noStrike" cap="none" dirty="0">
                <a:solidFill>
                  <a:srgbClr val="FFFFFF"/>
                </a:solidFill>
                <a:latin typeface="Cambria"/>
                <a:ea typeface="Cambria"/>
                <a:cs typeface="Cambria"/>
                <a:sym typeface="Cambria"/>
              </a:rPr>
              <a:t>4</a:t>
            </a:r>
            <a:endParaRPr b="0" i="0" u="none" strike="noStrike" cap="none" dirty="0">
              <a:solidFill>
                <a:schemeClr val="dk1"/>
              </a:solidFill>
              <a:latin typeface="Calibri"/>
              <a:ea typeface="Calibri"/>
              <a:cs typeface="Calibri"/>
              <a:sym typeface="Calibri"/>
            </a:endParaRPr>
          </a:p>
        </p:txBody>
      </p:sp>
      <p:sp>
        <p:nvSpPr>
          <p:cNvPr id="254" name="Google Shape;254;p20"/>
          <p:cNvSpPr/>
          <p:nvPr/>
        </p:nvSpPr>
        <p:spPr>
          <a:xfrm>
            <a:off x="1217409" y="2657856"/>
            <a:ext cx="7257821" cy="40462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100"/>
              <a:buFont typeface="Calibri"/>
              <a:buNone/>
            </a:pPr>
            <a:r>
              <a:rPr lang="bg" b="1" i="0" u="none" strike="noStrike" cap="none" dirty="0">
                <a:solidFill>
                  <a:srgbClr val="1E293B"/>
                </a:solidFill>
                <a:latin typeface="Calibri"/>
                <a:ea typeface="Calibri"/>
                <a:cs typeface="Calibri"/>
                <a:sym typeface="Calibri"/>
              </a:rPr>
              <a:t>Обмен на съобщения, системни известия, електронни писма</a:t>
            </a:r>
            <a:endParaRPr b="0" i="0" u="none" strike="noStrike" cap="none" dirty="0">
              <a:solidFill>
                <a:schemeClr val="dk1"/>
              </a:solidFill>
              <a:latin typeface="Calibri"/>
              <a:ea typeface="Calibri"/>
              <a:cs typeface="Calibri"/>
              <a:sym typeface="Calibri"/>
            </a:endParaRPr>
          </a:p>
        </p:txBody>
      </p:sp>
      <p:sp>
        <p:nvSpPr>
          <p:cNvPr id="255" name="Google Shape;255;p20"/>
          <p:cNvSpPr/>
          <p:nvPr/>
        </p:nvSpPr>
        <p:spPr>
          <a:xfrm>
            <a:off x="497319" y="3240786"/>
            <a:ext cx="8149361" cy="514350"/>
          </a:xfrm>
          <a:prstGeom prst="roundRect">
            <a:avLst>
              <a:gd name="adj" fmla="val 16000"/>
            </a:avLst>
          </a:prstGeom>
          <a:solidFill>
            <a:srgbClr val="FFFFFF"/>
          </a:solidFill>
          <a:ln w="12700" cap="flat" cmpd="sng">
            <a:solidFill>
              <a:srgbClr val="E7DCDC"/>
            </a:solidFill>
            <a:prstDash val="solid"/>
            <a:round/>
            <a:headEnd type="none" w="sm" len="sm"/>
            <a:tailEnd type="none" w="sm" len="sm"/>
          </a:ln>
          <a:effectLst>
            <a:outerShdw blurRad="127000" dist="38100" dir="5400000" algn="bl" rotWithShape="0">
              <a:srgbClr val="1E293B">
                <a:alpha val="5882"/>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56" name="Google Shape;256;p20"/>
          <p:cNvSpPr/>
          <p:nvPr/>
        </p:nvSpPr>
        <p:spPr>
          <a:xfrm>
            <a:off x="620763" y="3285363"/>
            <a:ext cx="425196" cy="425196"/>
          </a:xfrm>
          <a:prstGeom prst="roundRect">
            <a:avLst>
              <a:gd name="adj" fmla="val 19355"/>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57" name="Google Shape;257;p20"/>
          <p:cNvSpPr/>
          <p:nvPr/>
        </p:nvSpPr>
        <p:spPr>
          <a:xfrm>
            <a:off x="620763" y="3285363"/>
            <a:ext cx="425196" cy="4251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mbria"/>
              <a:buNone/>
            </a:pPr>
            <a:r>
              <a:rPr lang="bg" b="1" dirty="0">
                <a:solidFill>
                  <a:srgbClr val="FFFFFF"/>
                </a:solidFill>
                <a:latin typeface="Cambria"/>
                <a:ea typeface="Cambria"/>
                <a:cs typeface="Calibri"/>
                <a:sym typeface="Cambria"/>
              </a:rPr>
              <a:t>5</a:t>
            </a:r>
            <a:endParaRPr b="0" i="0" u="none" strike="noStrike" cap="none" dirty="0">
              <a:solidFill>
                <a:schemeClr val="dk1"/>
              </a:solidFill>
              <a:latin typeface="Calibri"/>
              <a:ea typeface="Calibri"/>
              <a:cs typeface="Calibri"/>
              <a:sym typeface="Calibri"/>
            </a:endParaRPr>
          </a:p>
        </p:txBody>
      </p:sp>
      <p:sp>
        <p:nvSpPr>
          <p:cNvPr id="258" name="Google Shape;258;p20"/>
          <p:cNvSpPr/>
          <p:nvPr/>
        </p:nvSpPr>
        <p:spPr>
          <a:xfrm>
            <a:off x="1217409" y="3295650"/>
            <a:ext cx="7257821" cy="40462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100"/>
              <a:buFont typeface="Calibri"/>
              <a:buNone/>
            </a:pPr>
            <a:r>
              <a:rPr lang="bg" b="1" dirty="0">
                <a:solidFill>
                  <a:srgbClr val="1E293B"/>
                </a:solidFill>
                <a:latin typeface="Calibri"/>
                <a:ea typeface="Calibri"/>
                <a:cs typeface="Calibri"/>
                <a:sym typeface="Calibri"/>
              </a:rPr>
              <a:t>Изпълнение на автоматизирани фонови задачи</a:t>
            </a:r>
            <a:endParaRPr b="0" i="0" u="none" strike="noStrike" cap="none" dirty="0">
              <a:solidFill>
                <a:schemeClr val="dk1"/>
              </a:solidFill>
              <a:latin typeface="Calibri"/>
              <a:ea typeface="Calibri"/>
              <a:cs typeface="Calibri"/>
              <a:sym typeface="Calibri"/>
            </a:endParaRPr>
          </a:p>
        </p:txBody>
      </p:sp>
      <p:sp>
        <p:nvSpPr>
          <p:cNvPr id="3" name="Google Shape;255;p20">
            <a:extLst>
              <a:ext uri="{FF2B5EF4-FFF2-40B4-BE49-F238E27FC236}">
                <a16:creationId xmlns:a16="http://schemas.microsoft.com/office/drawing/2014/main" id="{86093C00-B15A-CF0C-396C-D0C1B9C66C35}"/>
              </a:ext>
            </a:extLst>
          </p:cNvPr>
          <p:cNvSpPr/>
          <p:nvPr/>
        </p:nvSpPr>
        <p:spPr>
          <a:xfrm>
            <a:off x="497319" y="3878580"/>
            <a:ext cx="8149361" cy="514350"/>
          </a:xfrm>
          <a:prstGeom prst="roundRect">
            <a:avLst>
              <a:gd name="adj" fmla="val 16000"/>
            </a:avLst>
          </a:prstGeom>
          <a:solidFill>
            <a:srgbClr val="FFFFFF"/>
          </a:solidFill>
          <a:ln w="12700" cap="flat" cmpd="sng">
            <a:solidFill>
              <a:srgbClr val="E7DCDC"/>
            </a:solidFill>
            <a:prstDash val="solid"/>
            <a:round/>
            <a:headEnd type="none" w="sm" len="sm"/>
            <a:tailEnd type="none" w="sm" len="sm"/>
          </a:ln>
          <a:effectLst>
            <a:outerShdw blurRad="127000" dist="38100" dir="5400000" algn="bl" rotWithShape="0">
              <a:srgbClr val="1E293B">
                <a:alpha val="5882"/>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 name="Google Shape;256;p20">
            <a:extLst>
              <a:ext uri="{FF2B5EF4-FFF2-40B4-BE49-F238E27FC236}">
                <a16:creationId xmlns:a16="http://schemas.microsoft.com/office/drawing/2014/main" id="{C21B448B-3762-4FD1-44A6-11C2504621C4}"/>
              </a:ext>
            </a:extLst>
          </p:cNvPr>
          <p:cNvSpPr/>
          <p:nvPr/>
        </p:nvSpPr>
        <p:spPr>
          <a:xfrm>
            <a:off x="620763" y="3923157"/>
            <a:ext cx="425196" cy="425196"/>
          </a:xfrm>
          <a:prstGeom prst="roundRect">
            <a:avLst>
              <a:gd name="adj" fmla="val 19355"/>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dirty="0"/>
          </a:p>
        </p:txBody>
      </p:sp>
      <p:sp>
        <p:nvSpPr>
          <p:cNvPr id="5" name="Google Shape;258;p20">
            <a:extLst>
              <a:ext uri="{FF2B5EF4-FFF2-40B4-BE49-F238E27FC236}">
                <a16:creationId xmlns:a16="http://schemas.microsoft.com/office/drawing/2014/main" id="{A9F57E4C-264D-5D38-5BAF-8D49122B9CFD}"/>
              </a:ext>
            </a:extLst>
          </p:cNvPr>
          <p:cNvSpPr/>
          <p:nvPr/>
        </p:nvSpPr>
        <p:spPr>
          <a:xfrm>
            <a:off x="1217409" y="3933444"/>
            <a:ext cx="7257821" cy="40462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100"/>
              <a:buFont typeface="Calibri"/>
              <a:buNone/>
            </a:pPr>
            <a:r>
              <a:rPr lang="bg" b="1" i="0" u="none" strike="noStrike" cap="none" dirty="0">
                <a:solidFill>
                  <a:srgbClr val="1E293B"/>
                </a:solidFill>
                <a:latin typeface="Calibri"/>
                <a:ea typeface="Calibri"/>
                <a:cs typeface="Calibri"/>
                <a:sym typeface="Calibri"/>
              </a:rPr>
              <a:t>Системно генериране на професионални доку</a:t>
            </a:r>
            <a:r>
              <a:rPr lang="bg" b="1" dirty="0">
                <a:solidFill>
                  <a:srgbClr val="1E293B"/>
                </a:solidFill>
                <a:latin typeface="Calibri"/>
                <a:ea typeface="Calibri"/>
                <a:cs typeface="Calibri"/>
                <a:sym typeface="Calibri"/>
              </a:rPr>
              <a:t>менти</a:t>
            </a:r>
            <a:endParaRPr b="0" i="0" u="none" strike="noStrike" cap="none" dirty="0">
              <a:solidFill>
                <a:schemeClr val="dk1"/>
              </a:solidFill>
              <a:latin typeface="Calibri"/>
              <a:ea typeface="Calibri"/>
              <a:cs typeface="Calibri"/>
              <a:sym typeface="Calibri"/>
            </a:endParaRPr>
          </a:p>
        </p:txBody>
      </p:sp>
      <p:sp>
        <p:nvSpPr>
          <p:cNvPr id="6" name="Google Shape;255;p20">
            <a:extLst>
              <a:ext uri="{FF2B5EF4-FFF2-40B4-BE49-F238E27FC236}">
                <a16:creationId xmlns:a16="http://schemas.microsoft.com/office/drawing/2014/main" id="{3C8D273F-1BCA-D743-3702-CE1F16539933}"/>
              </a:ext>
            </a:extLst>
          </p:cNvPr>
          <p:cNvSpPr/>
          <p:nvPr/>
        </p:nvSpPr>
        <p:spPr>
          <a:xfrm>
            <a:off x="497319" y="4514850"/>
            <a:ext cx="8149361" cy="514350"/>
          </a:xfrm>
          <a:prstGeom prst="roundRect">
            <a:avLst>
              <a:gd name="adj" fmla="val 16000"/>
            </a:avLst>
          </a:prstGeom>
          <a:solidFill>
            <a:srgbClr val="FFFFFF"/>
          </a:solidFill>
          <a:ln w="12700" cap="flat" cmpd="sng">
            <a:solidFill>
              <a:srgbClr val="E7DCDC"/>
            </a:solidFill>
            <a:prstDash val="solid"/>
            <a:round/>
            <a:headEnd type="none" w="sm" len="sm"/>
            <a:tailEnd type="none" w="sm" len="sm"/>
          </a:ln>
          <a:effectLst>
            <a:outerShdw blurRad="127000" dist="38100" dir="5400000" algn="bl" rotWithShape="0">
              <a:srgbClr val="1E293B">
                <a:alpha val="5882"/>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7" name="Google Shape;256;p20">
            <a:extLst>
              <a:ext uri="{FF2B5EF4-FFF2-40B4-BE49-F238E27FC236}">
                <a16:creationId xmlns:a16="http://schemas.microsoft.com/office/drawing/2014/main" id="{1BF64DF6-E6D0-BF27-DC8F-EA0AECB20FDA}"/>
              </a:ext>
            </a:extLst>
          </p:cNvPr>
          <p:cNvSpPr/>
          <p:nvPr/>
        </p:nvSpPr>
        <p:spPr>
          <a:xfrm>
            <a:off x="620763" y="4559427"/>
            <a:ext cx="425196" cy="425196"/>
          </a:xfrm>
          <a:prstGeom prst="roundRect">
            <a:avLst>
              <a:gd name="adj" fmla="val 19355"/>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8" name="Google Shape;258;p20">
            <a:extLst>
              <a:ext uri="{FF2B5EF4-FFF2-40B4-BE49-F238E27FC236}">
                <a16:creationId xmlns:a16="http://schemas.microsoft.com/office/drawing/2014/main" id="{E7C47211-E20F-2015-6B6C-D364784FD164}"/>
              </a:ext>
            </a:extLst>
          </p:cNvPr>
          <p:cNvSpPr/>
          <p:nvPr/>
        </p:nvSpPr>
        <p:spPr>
          <a:xfrm>
            <a:off x="1217409" y="4569714"/>
            <a:ext cx="7257821" cy="40462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100"/>
              <a:buFont typeface="Calibri"/>
              <a:buNone/>
            </a:pPr>
            <a:r>
              <a:rPr lang="bg" b="1" dirty="0">
                <a:solidFill>
                  <a:srgbClr val="1E293B"/>
                </a:solidFill>
                <a:latin typeface="Calibri"/>
                <a:ea typeface="Calibri"/>
                <a:cs typeface="Calibri"/>
                <a:sym typeface="Calibri"/>
              </a:rPr>
              <a:t>Административна ко</a:t>
            </a:r>
            <a:r>
              <a:rPr lang="bg" b="1" i="0" u="none" strike="noStrike" cap="none" dirty="0">
                <a:solidFill>
                  <a:srgbClr val="1E293B"/>
                </a:solidFill>
                <a:latin typeface="Calibri"/>
                <a:ea typeface="Calibri"/>
                <a:cs typeface="Calibri"/>
                <a:sym typeface="Calibri"/>
              </a:rPr>
              <a:t>нфигурация и поддръжка на системата</a:t>
            </a:r>
            <a:endParaRPr b="0" i="0" u="none" strike="noStrike" cap="none" dirty="0">
              <a:solidFill>
                <a:schemeClr val="dk1"/>
              </a:solidFill>
              <a:latin typeface="Calibri"/>
              <a:ea typeface="Calibri"/>
              <a:cs typeface="Calibri"/>
              <a:sym typeface="Calibri"/>
            </a:endParaRPr>
          </a:p>
        </p:txBody>
      </p:sp>
      <p:sp>
        <p:nvSpPr>
          <p:cNvPr id="15" name="Google Shape;257;p20">
            <a:extLst>
              <a:ext uri="{FF2B5EF4-FFF2-40B4-BE49-F238E27FC236}">
                <a16:creationId xmlns:a16="http://schemas.microsoft.com/office/drawing/2014/main" id="{07E9A709-91AA-0679-7774-559096E66F72}"/>
              </a:ext>
            </a:extLst>
          </p:cNvPr>
          <p:cNvSpPr/>
          <p:nvPr/>
        </p:nvSpPr>
        <p:spPr>
          <a:xfrm>
            <a:off x="620242" y="3923157"/>
            <a:ext cx="425196" cy="4251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mbria"/>
              <a:buNone/>
            </a:pPr>
            <a:r>
              <a:rPr lang="bg" b="1" i="0" u="none" strike="noStrike" cap="none" dirty="0">
                <a:solidFill>
                  <a:srgbClr val="FFFFFF"/>
                </a:solidFill>
                <a:latin typeface="Cambria"/>
                <a:ea typeface="Cambria"/>
                <a:cs typeface="Calibri"/>
                <a:sym typeface="Cambria"/>
              </a:rPr>
              <a:t>6</a:t>
            </a:r>
            <a:endParaRPr b="0" i="0" u="none" strike="noStrike" cap="none" dirty="0">
              <a:solidFill>
                <a:schemeClr val="dk1"/>
              </a:solidFill>
              <a:latin typeface="Calibri"/>
              <a:ea typeface="Calibri"/>
              <a:cs typeface="Calibri"/>
              <a:sym typeface="Calibri"/>
            </a:endParaRPr>
          </a:p>
        </p:txBody>
      </p:sp>
      <p:sp>
        <p:nvSpPr>
          <p:cNvPr id="16" name="Google Shape;257;p20">
            <a:extLst>
              <a:ext uri="{FF2B5EF4-FFF2-40B4-BE49-F238E27FC236}">
                <a16:creationId xmlns:a16="http://schemas.microsoft.com/office/drawing/2014/main" id="{73AFFD26-BAF3-CC0F-F9A0-9858B83DF261}"/>
              </a:ext>
            </a:extLst>
          </p:cNvPr>
          <p:cNvSpPr/>
          <p:nvPr/>
        </p:nvSpPr>
        <p:spPr>
          <a:xfrm>
            <a:off x="620242" y="4559427"/>
            <a:ext cx="425196" cy="4251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mbria"/>
              <a:buNone/>
            </a:pPr>
            <a:r>
              <a:rPr lang="bg" b="1" i="0" u="none" strike="noStrike" cap="none" dirty="0">
                <a:solidFill>
                  <a:srgbClr val="FFFFFF"/>
                </a:solidFill>
                <a:latin typeface="Cambria"/>
                <a:ea typeface="Cambria"/>
                <a:cs typeface="Calibri"/>
                <a:sym typeface="Cambria"/>
              </a:rPr>
              <a:t>7</a:t>
            </a:r>
            <a:endParaRPr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5"/>
        <p:cNvGrpSpPr/>
        <p:nvPr/>
      </p:nvGrpSpPr>
      <p:grpSpPr>
        <a:xfrm>
          <a:off x="0" y="0"/>
          <a:ext cx="0" cy="0"/>
          <a:chOff x="0" y="0"/>
          <a:chExt cx="0" cy="0"/>
        </a:xfrm>
      </p:grpSpPr>
      <p:sp>
        <p:nvSpPr>
          <p:cNvPr id="286" name="Google Shape;286;p22"/>
          <p:cNvSpPr/>
          <p:nvPr/>
        </p:nvSpPr>
        <p:spPr>
          <a:xfrm>
            <a:off x="11659"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87" name="Google Shape;287;p22"/>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88" name="Google Shape;288;p22"/>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АНАЛИЗ</a:t>
            </a:r>
            <a:endParaRPr sz="1100" b="0" i="0" u="none" strike="noStrike" cap="none" dirty="0">
              <a:solidFill>
                <a:schemeClr val="dk1"/>
              </a:solidFill>
              <a:latin typeface="Calibri"/>
              <a:ea typeface="Calibri"/>
              <a:cs typeface="Calibri"/>
              <a:sym typeface="Calibri"/>
            </a:endParaRPr>
          </a:p>
        </p:txBody>
      </p:sp>
      <p:sp>
        <p:nvSpPr>
          <p:cNvPr id="293" name="Google Shape;293;p22"/>
          <p:cNvSpPr/>
          <p:nvPr/>
        </p:nvSpPr>
        <p:spPr>
          <a:xfrm>
            <a:off x="685800" y="164592"/>
            <a:ext cx="589788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300" b="1" i="0" u="none" strike="noStrike" cap="none" dirty="0">
                <a:solidFill>
                  <a:srgbClr val="1E293B"/>
                </a:solidFill>
                <a:latin typeface="Cambria"/>
                <a:ea typeface="Cambria"/>
                <a:cs typeface="Cambria"/>
                <a:sym typeface="Cambria"/>
              </a:rPr>
              <a:t>Сравнение на съществуващи решения</a:t>
            </a:r>
            <a:endParaRPr sz="2300" b="0" i="0" u="none" strike="noStrike" cap="none" dirty="0">
              <a:solidFill>
                <a:schemeClr val="dk1"/>
              </a:solidFill>
              <a:latin typeface="Calibri"/>
              <a:ea typeface="Calibri"/>
              <a:cs typeface="Calibri"/>
              <a:sym typeface="Calibri"/>
            </a:endParaRPr>
          </a:p>
        </p:txBody>
      </p:sp>
      <p:sp>
        <p:nvSpPr>
          <p:cNvPr id="295" name="Google Shape;295;p22"/>
          <p:cNvSpPr/>
          <p:nvPr/>
        </p:nvSpPr>
        <p:spPr>
          <a:xfrm>
            <a:off x="685800" y="875654"/>
            <a:ext cx="2579294" cy="3159020"/>
          </a:xfrm>
          <a:prstGeom prst="roundRect">
            <a:avLst>
              <a:gd name="adj" fmla="val 3944"/>
            </a:avLst>
          </a:prstGeom>
          <a:solidFill>
            <a:srgbClr val="FFFFFF"/>
          </a:solidFill>
          <a:ln w="12700" cap="flat" cmpd="sng">
            <a:solidFill>
              <a:srgbClr val="E7DCDC"/>
            </a:solidFill>
            <a:prstDash val="solid"/>
            <a:round/>
            <a:headEnd type="none" w="sm" len="sm"/>
            <a:tailEnd type="none" w="sm" len="sm"/>
          </a:ln>
          <a:effectLst>
            <a:outerShdw blurRad="203200" dist="63500" dir="5400000" algn="bl" rotWithShape="0">
              <a:srgbClr val="1E293B">
                <a:alpha val="7843"/>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99" name="Google Shape;299;p22"/>
          <p:cNvSpPr/>
          <p:nvPr/>
        </p:nvSpPr>
        <p:spPr>
          <a:xfrm>
            <a:off x="794023" y="1838725"/>
            <a:ext cx="2362847" cy="1889760"/>
          </a:xfrm>
          <a:prstGeom prst="rect">
            <a:avLst/>
          </a:prstGeom>
          <a:noFill/>
          <a:ln>
            <a:noFill/>
          </a:ln>
        </p:spPr>
        <p:txBody>
          <a:bodyPr spcFirstLastPara="1" wrap="square" lIns="0" tIns="0" rIns="0" bIns="0" anchor="t" anchorCtr="0">
            <a:noAutofit/>
          </a:bodyPr>
          <a:lstStyle/>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r>
              <a:rPr lang="bg" sz="1300" dirty="0">
                <a:solidFill>
                  <a:srgbClr val="475569"/>
                </a:solidFill>
                <a:latin typeface="Calibri"/>
                <a:ea typeface="Calibri"/>
                <a:cs typeface="Calibri"/>
                <a:sym typeface="Calibri"/>
              </a:rPr>
              <a:t>Каталожен и проектен</a:t>
            </a:r>
            <a:r>
              <a:rPr lang="bg" sz="1300" b="0" i="0" u="none" strike="noStrike" cap="none" dirty="0">
                <a:solidFill>
                  <a:srgbClr val="475569"/>
                </a:solidFill>
                <a:latin typeface="Calibri"/>
                <a:ea typeface="Calibri"/>
                <a:cs typeface="Calibri"/>
                <a:sym typeface="Calibri"/>
              </a:rPr>
              <a:t> модел</a:t>
            </a:r>
          </a:p>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r>
              <a:rPr lang="bg" sz="1300" dirty="0">
                <a:solidFill>
                  <a:srgbClr val="475569"/>
                </a:solidFill>
                <a:latin typeface="Calibri"/>
                <a:ea typeface="Calibri"/>
                <a:cs typeface="Calibri"/>
                <a:sym typeface="Calibri"/>
              </a:rPr>
              <a:t>Богат функционален обхват</a:t>
            </a:r>
            <a:endParaRPr lang="bg" sz="1300" b="0" i="0" u="none" strike="noStrike" cap="none" dirty="0">
              <a:solidFill>
                <a:srgbClr val="475569"/>
              </a:solidFill>
              <a:latin typeface="Calibri"/>
              <a:ea typeface="Calibri"/>
              <a:cs typeface="Calibri"/>
              <a:sym typeface="Calibri"/>
            </a:endParaRPr>
          </a:p>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r>
              <a:rPr lang="bg" sz="1300" b="0" i="0" u="none" strike="noStrike" cap="none" dirty="0">
                <a:solidFill>
                  <a:srgbClr val="475569"/>
                </a:solidFill>
                <a:latin typeface="Calibri"/>
                <a:ea typeface="Calibri"/>
                <a:cs typeface="Calibri"/>
                <a:sym typeface="Calibri"/>
              </a:rPr>
              <a:t>Претрупан интерфейс</a:t>
            </a:r>
          </a:p>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r>
              <a:rPr lang="bg" sz="1300" dirty="0">
                <a:solidFill>
                  <a:srgbClr val="475569"/>
                </a:solidFill>
                <a:latin typeface="Calibri"/>
                <a:ea typeface="Calibri"/>
                <a:cs typeface="Calibri"/>
                <a:sym typeface="Calibri"/>
              </a:rPr>
              <a:t>Сложна навигация</a:t>
            </a:r>
          </a:p>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r>
              <a:rPr lang="bg" sz="1300" b="0" i="0" u="none" strike="noStrike" cap="none" dirty="0">
                <a:solidFill>
                  <a:srgbClr val="475569"/>
                </a:solidFill>
                <a:latin typeface="Calibri"/>
                <a:ea typeface="Calibri"/>
                <a:cs typeface="Calibri"/>
                <a:sym typeface="Calibri"/>
              </a:rPr>
              <a:t>Бавна регистрация и верификация</a:t>
            </a:r>
          </a:p>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r>
              <a:rPr lang="bg" sz="1300" dirty="0">
                <a:solidFill>
                  <a:srgbClr val="475569"/>
                </a:solidFill>
                <a:latin typeface="Calibri"/>
                <a:ea typeface="Calibri"/>
                <a:cs typeface="Calibri"/>
                <a:sym typeface="Calibri"/>
              </a:rPr>
              <a:t>Административна тежест</a:t>
            </a:r>
          </a:p>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endParaRPr sz="1300" b="0" i="0" u="none" strike="noStrike" cap="none" dirty="0">
              <a:solidFill>
                <a:schemeClr val="dk1"/>
              </a:solidFill>
              <a:latin typeface="Calibri"/>
              <a:ea typeface="Calibri"/>
              <a:cs typeface="Calibri"/>
              <a:sym typeface="Calibri"/>
            </a:endParaRPr>
          </a:p>
        </p:txBody>
      </p:sp>
      <p:sp>
        <p:nvSpPr>
          <p:cNvPr id="304" name="Google Shape;304;p22"/>
          <p:cNvSpPr/>
          <p:nvPr/>
        </p:nvSpPr>
        <p:spPr>
          <a:xfrm>
            <a:off x="3470833" y="875654"/>
            <a:ext cx="2579294" cy="3159020"/>
          </a:xfrm>
          <a:prstGeom prst="roundRect">
            <a:avLst>
              <a:gd name="adj" fmla="val 3944"/>
            </a:avLst>
          </a:prstGeom>
          <a:solidFill>
            <a:srgbClr val="F6EBED"/>
          </a:solidFill>
          <a:ln>
            <a:noFill/>
          </a:ln>
          <a:effectLst>
            <a:outerShdw blurRad="203200" dist="63500" dir="5400000" algn="bl" rotWithShape="0">
              <a:srgbClr val="1E293B">
                <a:alpha val="16078"/>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13" name="Google Shape;313;p22"/>
          <p:cNvSpPr/>
          <p:nvPr/>
        </p:nvSpPr>
        <p:spPr>
          <a:xfrm>
            <a:off x="6255868" y="875654"/>
            <a:ext cx="2579293" cy="3159020"/>
          </a:xfrm>
          <a:prstGeom prst="roundRect">
            <a:avLst>
              <a:gd name="adj" fmla="val 3944"/>
            </a:avLst>
          </a:prstGeom>
          <a:solidFill>
            <a:srgbClr val="FFFFFF"/>
          </a:solidFill>
          <a:ln w="12700" cap="flat" cmpd="sng">
            <a:solidFill>
              <a:srgbClr val="E7DCDC"/>
            </a:solidFill>
            <a:prstDash val="solid"/>
            <a:round/>
            <a:headEnd type="none" w="sm" len="sm"/>
            <a:tailEnd type="none" w="sm" len="sm"/>
          </a:ln>
          <a:effectLst>
            <a:outerShdw blurRad="203200" dist="63500" dir="5400000" algn="bl" rotWithShape="0">
              <a:srgbClr val="1E293B">
                <a:alpha val="7843"/>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22" name="Google Shape;322;p22"/>
          <p:cNvSpPr/>
          <p:nvPr/>
        </p:nvSpPr>
        <p:spPr>
          <a:xfrm>
            <a:off x="685800" y="4250701"/>
            <a:ext cx="8149361" cy="651510"/>
          </a:xfrm>
          <a:prstGeom prst="roundRect">
            <a:avLst>
              <a:gd name="adj" fmla="val 12632"/>
            </a:avLst>
          </a:prstGeom>
          <a:solidFill>
            <a:srgbClr val="FDF7F7"/>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323" name="Google Shape;323;p22" descr="/home/claude/talentflow-template/icons/checkcircle-accent.png"/>
          <p:cNvPicPr preferRelativeResize="0"/>
          <p:nvPr/>
        </p:nvPicPr>
        <p:blipFill rotWithShape="1">
          <a:blip r:embed="rId3">
            <a:alphaModFix/>
          </a:blip>
          <a:srcRect/>
          <a:stretch/>
        </p:blipFill>
        <p:spPr>
          <a:xfrm>
            <a:off x="836676" y="4466728"/>
            <a:ext cx="219456" cy="219456"/>
          </a:xfrm>
          <a:prstGeom prst="rect">
            <a:avLst/>
          </a:prstGeom>
          <a:noFill/>
          <a:ln>
            <a:noFill/>
          </a:ln>
        </p:spPr>
      </p:pic>
      <p:sp>
        <p:nvSpPr>
          <p:cNvPr id="324" name="Google Shape;324;p22"/>
          <p:cNvSpPr/>
          <p:nvPr/>
        </p:nvSpPr>
        <p:spPr>
          <a:xfrm>
            <a:off x="1152144" y="4250701"/>
            <a:ext cx="7532141" cy="6515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900"/>
              <a:buFont typeface="Calibri"/>
              <a:buNone/>
            </a:pPr>
            <a:r>
              <a:rPr lang="ru-RU" b="0" i="1" u="none" strike="noStrike" cap="none" dirty="0">
                <a:solidFill>
                  <a:srgbClr val="475569"/>
                </a:solidFill>
                <a:latin typeface="Calibri"/>
                <a:ea typeface="Calibri"/>
                <a:cs typeface="Calibri"/>
                <a:sym typeface="Calibri"/>
              </a:rPr>
              <a:t>TalentFlow адресира ограниченията на съществуващите решения чрез проектна ориентация, алгоритмичен подбор и единна работна среда.</a:t>
            </a:r>
            <a:endParaRPr b="0" i="0" u="none" strike="noStrike" cap="none" dirty="0">
              <a:solidFill>
                <a:schemeClr val="dk1"/>
              </a:solidFill>
              <a:latin typeface="Calibri"/>
              <a:ea typeface="Calibri"/>
              <a:cs typeface="Calibri"/>
              <a:sym typeface="Calibri"/>
            </a:endParaRPr>
          </a:p>
        </p:txBody>
      </p:sp>
      <p:pic>
        <p:nvPicPr>
          <p:cNvPr id="3074" name="Picture 2" descr="Upwork Logo PNG Transparent &amp; SVG Vector - Freebie Supply">
            <a:extLst>
              <a:ext uri="{FF2B5EF4-FFF2-40B4-BE49-F238E27FC236}">
                <a16:creationId xmlns:a16="http://schemas.microsoft.com/office/drawing/2014/main" id="{97AA8268-65F9-0BCC-F184-6F881D3D62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7148" y="981863"/>
            <a:ext cx="1736598" cy="518869"/>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941A4AA4-9EE9-C393-EC37-E71492778D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23773" y="954168"/>
            <a:ext cx="1594358" cy="48384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C815AFE0-2A31-6D97-162F-5559E5D64F08}"/>
              </a:ext>
            </a:extLst>
          </p:cNvPr>
          <p:cNvPicPr>
            <a:picLocks noChangeAspect="1"/>
          </p:cNvPicPr>
          <p:nvPr/>
        </p:nvPicPr>
        <p:blipFill>
          <a:blip r:embed="rId6"/>
          <a:srcRect l="21277"/>
          <a:stretch/>
        </p:blipFill>
        <p:spPr>
          <a:xfrm>
            <a:off x="3737176" y="923405"/>
            <a:ext cx="2046610" cy="577327"/>
          </a:xfrm>
          <a:prstGeom prst="rect">
            <a:avLst/>
          </a:prstGeom>
        </p:spPr>
      </p:pic>
      <p:sp>
        <p:nvSpPr>
          <p:cNvPr id="4" name="Google Shape;299;p22">
            <a:extLst>
              <a:ext uri="{FF2B5EF4-FFF2-40B4-BE49-F238E27FC236}">
                <a16:creationId xmlns:a16="http://schemas.microsoft.com/office/drawing/2014/main" id="{4CB8F3A6-6C61-869F-0B18-CF64009739A9}"/>
              </a:ext>
            </a:extLst>
          </p:cNvPr>
          <p:cNvSpPr/>
          <p:nvPr/>
        </p:nvSpPr>
        <p:spPr>
          <a:xfrm>
            <a:off x="6472314" y="1832200"/>
            <a:ext cx="2362847" cy="1880383"/>
          </a:xfrm>
          <a:prstGeom prst="rect">
            <a:avLst/>
          </a:prstGeom>
          <a:noFill/>
          <a:ln>
            <a:noFill/>
          </a:ln>
        </p:spPr>
        <p:txBody>
          <a:bodyPr spcFirstLastPara="1" wrap="square" lIns="0" tIns="0" rIns="0" bIns="0" anchor="t" anchorCtr="0">
            <a:noAutofit/>
          </a:bodyPr>
          <a:lstStyle/>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r>
              <a:rPr lang="bg" sz="1300" dirty="0">
                <a:solidFill>
                  <a:srgbClr val="475569"/>
                </a:solidFill>
                <a:latin typeface="Calibri"/>
                <a:ea typeface="Calibri"/>
                <a:cs typeface="Calibri"/>
                <a:sym typeface="Calibri"/>
              </a:rPr>
              <a:t>Каталожен </a:t>
            </a:r>
            <a:r>
              <a:rPr lang="bg" sz="1300" b="0" i="0" u="none" strike="noStrike" cap="none" dirty="0">
                <a:solidFill>
                  <a:srgbClr val="475569"/>
                </a:solidFill>
                <a:latin typeface="Calibri"/>
                <a:ea typeface="Calibri"/>
                <a:cs typeface="Calibri"/>
                <a:sym typeface="Calibri"/>
              </a:rPr>
              <a:t>модел</a:t>
            </a:r>
          </a:p>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r>
              <a:rPr lang="bg" sz="1300" dirty="0">
                <a:solidFill>
                  <a:srgbClr val="475569"/>
                </a:solidFill>
                <a:latin typeface="Calibri"/>
                <a:ea typeface="Calibri"/>
                <a:cs typeface="Calibri"/>
                <a:sym typeface="Calibri"/>
              </a:rPr>
              <a:t>Подходящ при микро-задачи</a:t>
            </a:r>
          </a:p>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r>
              <a:rPr lang="bg" sz="1300" dirty="0">
                <a:solidFill>
                  <a:srgbClr val="475569"/>
                </a:solidFill>
                <a:latin typeface="Calibri"/>
                <a:ea typeface="Calibri"/>
                <a:cs typeface="Calibri"/>
                <a:sym typeface="Calibri"/>
              </a:rPr>
              <a:t>Неефективен за сложни проекти</a:t>
            </a:r>
          </a:p>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r>
              <a:rPr lang="bg" sz="1300" dirty="0">
                <a:solidFill>
                  <a:srgbClr val="475569"/>
                </a:solidFill>
                <a:latin typeface="Calibri"/>
                <a:ea typeface="Calibri"/>
                <a:cs typeface="Calibri"/>
                <a:sym typeface="Calibri"/>
              </a:rPr>
              <a:t>Пасивна роля на специалиста</a:t>
            </a:r>
          </a:p>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r>
              <a:rPr lang="bg" sz="1300" dirty="0">
                <a:solidFill>
                  <a:srgbClr val="475569"/>
                </a:solidFill>
                <a:latin typeface="Calibri"/>
                <a:ea typeface="Calibri"/>
                <a:cs typeface="Calibri"/>
                <a:sym typeface="Calibri"/>
              </a:rPr>
              <a:t>Липса на кандидатстване</a:t>
            </a:r>
          </a:p>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r>
              <a:rPr lang="bg" sz="1300" dirty="0">
                <a:solidFill>
                  <a:srgbClr val="475569"/>
                </a:solidFill>
                <a:latin typeface="Calibri"/>
                <a:ea typeface="Calibri"/>
                <a:cs typeface="Calibri"/>
                <a:sym typeface="Calibri"/>
              </a:rPr>
              <a:t>Ограничено съпоставяне на изисквания с квалификации</a:t>
            </a:r>
          </a:p>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endParaRPr sz="1300" b="0" i="0" u="none" strike="noStrike" cap="none" dirty="0">
              <a:solidFill>
                <a:schemeClr val="dk1"/>
              </a:solidFill>
              <a:latin typeface="Calibri"/>
              <a:ea typeface="Calibri"/>
              <a:cs typeface="Calibri"/>
              <a:sym typeface="Calibri"/>
            </a:endParaRPr>
          </a:p>
        </p:txBody>
      </p:sp>
      <p:sp>
        <p:nvSpPr>
          <p:cNvPr id="5" name="Google Shape;299;p22">
            <a:extLst>
              <a:ext uri="{FF2B5EF4-FFF2-40B4-BE49-F238E27FC236}">
                <a16:creationId xmlns:a16="http://schemas.microsoft.com/office/drawing/2014/main" id="{76664F41-C4ED-FF86-7384-214A88327104}"/>
              </a:ext>
            </a:extLst>
          </p:cNvPr>
          <p:cNvSpPr/>
          <p:nvPr/>
        </p:nvSpPr>
        <p:spPr>
          <a:xfrm>
            <a:off x="3570588" y="1821589"/>
            <a:ext cx="2379784" cy="1821180"/>
          </a:xfrm>
          <a:prstGeom prst="rect">
            <a:avLst/>
          </a:prstGeom>
          <a:noFill/>
          <a:ln>
            <a:noFill/>
          </a:ln>
        </p:spPr>
        <p:txBody>
          <a:bodyPr spcFirstLastPara="1" wrap="square" lIns="0" tIns="0" rIns="0" bIns="0" anchor="t" anchorCtr="0">
            <a:noAutofit/>
          </a:bodyPr>
          <a:lstStyle/>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r>
              <a:rPr lang="bg" sz="1300" dirty="0">
                <a:solidFill>
                  <a:srgbClr val="475569"/>
                </a:solidFill>
                <a:latin typeface="Calibri"/>
                <a:ea typeface="Calibri"/>
                <a:cs typeface="Calibri"/>
                <a:sym typeface="Calibri"/>
              </a:rPr>
              <a:t>Проектно-ориентиран модел</a:t>
            </a:r>
          </a:p>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r>
              <a:rPr lang="bg" sz="1300" dirty="0">
                <a:solidFill>
                  <a:srgbClr val="475569"/>
                </a:solidFill>
                <a:latin typeface="Calibri"/>
                <a:ea typeface="Calibri"/>
                <a:cs typeface="Calibri"/>
                <a:sym typeface="Calibri"/>
              </a:rPr>
              <a:t>Опростен и фокусиран потребителски интерфейс</a:t>
            </a:r>
          </a:p>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r>
              <a:rPr lang="bg" sz="1300" dirty="0">
                <a:solidFill>
                  <a:srgbClr val="475569"/>
                </a:solidFill>
                <a:latin typeface="Calibri"/>
                <a:ea typeface="Calibri"/>
                <a:cs typeface="Calibri"/>
                <a:sym typeface="Calibri"/>
              </a:rPr>
              <a:t>Автоматизирано управление на статуси, документи, събития</a:t>
            </a:r>
          </a:p>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r>
              <a:rPr lang="bg" sz="1300" dirty="0">
                <a:solidFill>
                  <a:srgbClr val="475569"/>
                </a:solidFill>
                <a:latin typeface="Calibri"/>
                <a:ea typeface="Calibri"/>
                <a:cs typeface="Calibri"/>
                <a:sym typeface="Calibri"/>
              </a:rPr>
              <a:t>Конкретни технически задания</a:t>
            </a:r>
          </a:p>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r>
              <a:rPr lang="bg" sz="1300" dirty="0">
                <a:solidFill>
                  <a:srgbClr val="475569"/>
                </a:solidFill>
                <a:latin typeface="Calibri"/>
                <a:ea typeface="Calibri"/>
                <a:cs typeface="Calibri"/>
                <a:sym typeface="Calibri"/>
              </a:rPr>
              <a:t>Активно кандидатстване</a:t>
            </a:r>
          </a:p>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r>
              <a:rPr lang="bg" sz="1300" dirty="0">
                <a:solidFill>
                  <a:srgbClr val="475569"/>
                </a:solidFill>
                <a:latin typeface="Calibri"/>
                <a:ea typeface="Calibri"/>
                <a:cs typeface="Calibri"/>
                <a:sym typeface="Calibri"/>
              </a:rPr>
              <a:t>Изчислено съответствие</a:t>
            </a:r>
          </a:p>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endParaRPr lang="bg" sz="1300" dirty="0">
              <a:solidFill>
                <a:srgbClr val="475569"/>
              </a:solidFill>
              <a:latin typeface="Calibri"/>
              <a:ea typeface="Calibri"/>
              <a:cs typeface="Calibri"/>
              <a:sym typeface="Calibri"/>
            </a:endParaRPr>
          </a:p>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endParaRPr sz="13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1"/>
        <p:cNvGrpSpPr/>
        <p:nvPr/>
      </p:nvGrpSpPr>
      <p:grpSpPr>
        <a:xfrm>
          <a:off x="0" y="0"/>
          <a:ext cx="0" cy="0"/>
          <a:chOff x="0" y="0"/>
          <a:chExt cx="0" cy="0"/>
        </a:xfrm>
      </p:grpSpPr>
      <p:sp>
        <p:nvSpPr>
          <p:cNvPr id="352" name="Google Shape;352;p24"/>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53" name="Google Shape;353;p24"/>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54" name="Google Shape;354;p24"/>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 ТЕХНОЛОГИИ</a:t>
            </a:r>
            <a:endParaRPr sz="1100" b="0" i="0" u="none" strike="noStrike" cap="none" dirty="0">
              <a:solidFill>
                <a:schemeClr val="dk1"/>
              </a:solidFill>
              <a:latin typeface="Calibri"/>
              <a:ea typeface="Calibri"/>
              <a:cs typeface="Calibri"/>
              <a:sym typeface="Calibri"/>
            </a:endParaRPr>
          </a:p>
        </p:txBody>
      </p:sp>
      <p:sp>
        <p:nvSpPr>
          <p:cNvPr id="359" name="Google Shape;359;p24"/>
          <p:cNvSpPr/>
          <p:nvPr/>
        </p:nvSpPr>
        <p:spPr>
          <a:xfrm>
            <a:off x="685800" y="138684"/>
            <a:ext cx="589788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300" b="1" i="0" u="none" strike="noStrike" cap="none" dirty="0">
                <a:solidFill>
                  <a:srgbClr val="1E293B"/>
                </a:solidFill>
                <a:latin typeface="Cambria"/>
                <a:ea typeface="Cambria"/>
                <a:cs typeface="Cambria"/>
                <a:sym typeface="Cambria"/>
              </a:rPr>
              <a:t>Избор на технологии</a:t>
            </a:r>
            <a:endParaRPr sz="2300" b="0" i="0" u="none" strike="noStrike" cap="none" dirty="0">
              <a:solidFill>
                <a:schemeClr val="dk1"/>
              </a:solidFill>
              <a:latin typeface="Calibri"/>
              <a:ea typeface="Calibri"/>
              <a:cs typeface="Calibri"/>
              <a:sym typeface="Calibri"/>
            </a:endParaRPr>
          </a:p>
        </p:txBody>
      </p:sp>
      <p:sp>
        <p:nvSpPr>
          <p:cNvPr id="361" name="Google Shape;361;p24"/>
          <p:cNvSpPr/>
          <p:nvPr/>
        </p:nvSpPr>
        <p:spPr>
          <a:xfrm>
            <a:off x="493776" y="788481"/>
            <a:ext cx="3971811" cy="1695639"/>
          </a:xfrm>
          <a:prstGeom prst="roundRect">
            <a:avLst>
              <a:gd name="adj" fmla="val 6154"/>
            </a:avLst>
          </a:prstGeom>
          <a:solidFill>
            <a:srgbClr val="FDF7F7"/>
          </a:solidFill>
          <a:ln>
            <a:noFill/>
          </a:ln>
          <a:effectLst>
            <a:outerShdw blurRad="177800" dist="50800" dir="54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62" name="Google Shape;362;p24"/>
          <p:cNvSpPr/>
          <p:nvPr/>
        </p:nvSpPr>
        <p:spPr>
          <a:xfrm>
            <a:off x="552069" y="839535"/>
            <a:ext cx="342900" cy="342900"/>
          </a:xfrm>
          <a:prstGeom prst="ellipse">
            <a:avLst/>
          </a:prstGeom>
          <a:solidFill>
            <a:srgbClr val="27344A"/>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363" name="Google Shape;363;p24" descr="/home/claude/talentflow-template/icons/server-white.png"/>
          <p:cNvPicPr preferRelativeResize="0"/>
          <p:nvPr/>
        </p:nvPicPr>
        <p:blipFill rotWithShape="1">
          <a:blip r:embed="rId3">
            <a:alphaModFix/>
          </a:blip>
          <a:srcRect/>
          <a:stretch/>
        </p:blipFill>
        <p:spPr>
          <a:xfrm>
            <a:off x="627507" y="914973"/>
            <a:ext cx="192024" cy="192024"/>
          </a:xfrm>
          <a:prstGeom prst="rect">
            <a:avLst/>
          </a:prstGeom>
          <a:noFill/>
          <a:ln>
            <a:noFill/>
          </a:ln>
        </p:spPr>
      </p:pic>
      <p:sp>
        <p:nvSpPr>
          <p:cNvPr id="364" name="Google Shape;364;p24"/>
          <p:cNvSpPr/>
          <p:nvPr/>
        </p:nvSpPr>
        <p:spPr>
          <a:xfrm>
            <a:off x="970407" y="868810"/>
            <a:ext cx="3587763" cy="27432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FFFFFF"/>
              </a:buClr>
              <a:buSzPts val="1100"/>
              <a:buFont typeface="Cambria"/>
              <a:buNone/>
            </a:pPr>
            <a:r>
              <a:rPr lang="bg-BG" b="1" i="0" u="none" strike="noStrike" cap="none" dirty="0">
                <a:solidFill>
                  <a:srgbClr val="1E293B"/>
                </a:solidFill>
                <a:latin typeface="Cambria"/>
                <a:ea typeface="Cambria"/>
                <a:cs typeface="Calibri"/>
                <a:sym typeface="Cambria"/>
              </a:rPr>
              <a:t>Сървърни технологии</a:t>
            </a:r>
            <a:endParaRPr b="0" i="0" u="none" strike="noStrike" cap="none" dirty="0">
              <a:solidFill>
                <a:srgbClr val="1E293B"/>
              </a:solidFill>
              <a:latin typeface="Calibri"/>
              <a:ea typeface="Calibri"/>
              <a:cs typeface="Calibri"/>
              <a:sym typeface="Calibri"/>
            </a:endParaRPr>
          </a:p>
        </p:txBody>
      </p:sp>
      <p:sp>
        <p:nvSpPr>
          <p:cNvPr id="366" name="Google Shape;366;p24"/>
          <p:cNvSpPr/>
          <p:nvPr/>
        </p:nvSpPr>
        <p:spPr>
          <a:xfrm>
            <a:off x="4671327" y="788481"/>
            <a:ext cx="3971811" cy="1695639"/>
          </a:xfrm>
          <a:prstGeom prst="roundRect">
            <a:avLst>
              <a:gd name="adj" fmla="val 6154"/>
            </a:avLst>
          </a:prstGeom>
          <a:solidFill>
            <a:srgbClr val="FFFFFF"/>
          </a:solidFill>
          <a:ln w="12700" cap="flat" cmpd="sng">
            <a:solidFill>
              <a:srgbClr val="E7DCDC"/>
            </a:solidFill>
            <a:prstDash val="solid"/>
            <a:round/>
            <a:headEnd type="none" w="sm" len="sm"/>
            <a:tailEnd type="none" w="sm" len="sm"/>
          </a:ln>
          <a:effectLst>
            <a:outerShdw blurRad="177800" dist="50800" dir="5400000" algn="bl" rotWithShape="0">
              <a:srgbClr val="1E293B">
                <a:alpha val="7843"/>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dirty="0"/>
          </a:p>
        </p:txBody>
      </p:sp>
      <p:sp>
        <p:nvSpPr>
          <p:cNvPr id="367" name="Google Shape;367;p24"/>
          <p:cNvSpPr/>
          <p:nvPr/>
        </p:nvSpPr>
        <p:spPr>
          <a:xfrm>
            <a:off x="4723651" y="839535"/>
            <a:ext cx="342900" cy="342900"/>
          </a:xfrm>
          <a:prstGeom prst="ellipse">
            <a:avLst/>
          </a:prstGeom>
          <a:solidFill>
            <a:srgbClr val="F3DADA"/>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368" name="Google Shape;368;p24" descr="/home/claude/talentflow-template/icons/react-primary.png"/>
          <p:cNvPicPr preferRelativeResize="0"/>
          <p:nvPr/>
        </p:nvPicPr>
        <p:blipFill rotWithShape="1">
          <a:blip r:embed="rId4">
            <a:alphaModFix/>
          </a:blip>
          <a:srcRect/>
          <a:stretch/>
        </p:blipFill>
        <p:spPr>
          <a:xfrm>
            <a:off x="4799089" y="914973"/>
            <a:ext cx="192024" cy="192024"/>
          </a:xfrm>
          <a:prstGeom prst="rect">
            <a:avLst/>
          </a:prstGeom>
          <a:noFill/>
          <a:ln>
            <a:noFill/>
          </a:ln>
        </p:spPr>
      </p:pic>
      <p:sp>
        <p:nvSpPr>
          <p:cNvPr id="369" name="Google Shape;369;p24"/>
          <p:cNvSpPr/>
          <p:nvPr/>
        </p:nvSpPr>
        <p:spPr>
          <a:xfrm>
            <a:off x="5141989" y="870015"/>
            <a:ext cx="3587763" cy="27432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1E293B"/>
              </a:buClr>
              <a:buSzPts val="1100"/>
              <a:buFont typeface="Cambria"/>
              <a:buNone/>
            </a:pPr>
            <a:r>
              <a:rPr lang="bg" b="1" dirty="0">
                <a:solidFill>
                  <a:srgbClr val="1E293B"/>
                </a:solidFill>
                <a:latin typeface="Cambria"/>
                <a:ea typeface="Cambria"/>
                <a:cs typeface="Calibri"/>
                <a:sym typeface="Cambria"/>
              </a:rPr>
              <a:t>Клиентско приложение</a:t>
            </a:r>
            <a:endParaRPr b="0" i="0" u="none" strike="noStrike" cap="none" dirty="0">
              <a:solidFill>
                <a:schemeClr val="dk1"/>
              </a:solidFill>
              <a:latin typeface="Calibri"/>
              <a:ea typeface="Calibri"/>
              <a:cs typeface="Calibri"/>
              <a:sym typeface="Calibri"/>
            </a:endParaRPr>
          </a:p>
        </p:txBody>
      </p:sp>
      <p:sp>
        <p:nvSpPr>
          <p:cNvPr id="371" name="Google Shape;371;p24"/>
          <p:cNvSpPr/>
          <p:nvPr/>
        </p:nvSpPr>
        <p:spPr>
          <a:xfrm>
            <a:off x="493775" y="2706624"/>
            <a:ext cx="3971811" cy="1895856"/>
          </a:xfrm>
          <a:prstGeom prst="roundRect">
            <a:avLst>
              <a:gd name="adj" fmla="val 6154"/>
            </a:avLst>
          </a:prstGeom>
          <a:solidFill>
            <a:srgbClr val="FDF7F7"/>
          </a:solidFill>
          <a:ln>
            <a:noFill/>
          </a:ln>
          <a:effectLst>
            <a:outerShdw blurRad="177800" dist="50800" dir="5400000" algn="bl" rotWithShape="0">
              <a:srgbClr val="1E293B">
                <a:alpha val="7843"/>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b="1" dirty="0"/>
          </a:p>
        </p:txBody>
      </p:sp>
      <p:sp>
        <p:nvSpPr>
          <p:cNvPr id="372" name="Google Shape;372;p24"/>
          <p:cNvSpPr/>
          <p:nvPr/>
        </p:nvSpPr>
        <p:spPr>
          <a:xfrm>
            <a:off x="552069" y="2789050"/>
            <a:ext cx="342900" cy="342900"/>
          </a:xfrm>
          <a:prstGeom prst="ellipse">
            <a:avLst/>
          </a:prstGeom>
          <a:solidFill>
            <a:srgbClr val="F3DADA"/>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373" name="Google Shape;373;p24" descr="/home/claude/talentflow-template/icons/database-primary.png"/>
          <p:cNvPicPr preferRelativeResize="0"/>
          <p:nvPr/>
        </p:nvPicPr>
        <p:blipFill rotWithShape="1">
          <a:blip r:embed="rId5">
            <a:alphaModFix/>
          </a:blip>
          <a:srcRect/>
          <a:stretch/>
        </p:blipFill>
        <p:spPr>
          <a:xfrm>
            <a:off x="627507" y="2864488"/>
            <a:ext cx="192024" cy="192024"/>
          </a:xfrm>
          <a:prstGeom prst="rect">
            <a:avLst/>
          </a:prstGeom>
          <a:noFill/>
          <a:ln>
            <a:noFill/>
          </a:ln>
        </p:spPr>
      </p:pic>
      <p:sp>
        <p:nvSpPr>
          <p:cNvPr id="374" name="Google Shape;374;p24"/>
          <p:cNvSpPr/>
          <p:nvPr/>
        </p:nvSpPr>
        <p:spPr>
          <a:xfrm>
            <a:off x="970407" y="2817626"/>
            <a:ext cx="3587763" cy="27432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1E293B"/>
              </a:buClr>
              <a:buSzPts val="1100"/>
              <a:buFont typeface="Cambria"/>
              <a:buNone/>
            </a:pPr>
            <a:r>
              <a:rPr lang="bg" b="1" i="0" u="none" strike="noStrike" cap="none" dirty="0">
                <a:solidFill>
                  <a:srgbClr val="1E293B"/>
                </a:solidFill>
                <a:latin typeface="Cambria"/>
                <a:ea typeface="Cambria"/>
                <a:cs typeface="Cambria"/>
                <a:sym typeface="Cambria"/>
              </a:rPr>
              <a:t>Данни и комуникация</a:t>
            </a:r>
            <a:endParaRPr b="0" i="0" u="none" strike="noStrike" cap="none" dirty="0">
              <a:solidFill>
                <a:schemeClr val="dk1"/>
              </a:solidFill>
              <a:latin typeface="Calibri"/>
              <a:ea typeface="Calibri"/>
              <a:cs typeface="Calibri"/>
              <a:sym typeface="Calibri"/>
            </a:endParaRPr>
          </a:p>
        </p:txBody>
      </p:sp>
      <p:sp>
        <p:nvSpPr>
          <p:cNvPr id="376" name="Google Shape;376;p24"/>
          <p:cNvSpPr/>
          <p:nvPr/>
        </p:nvSpPr>
        <p:spPr>
          <a:xfrm>
            <a:off x="4671326" y="2706624"/>
            <a:ext cx="3971811" cy="1895856"/>
          </a:xfrm>
          <a:prstGeom prst="roundRect">
            <a:avLst>
              <a:gd name="adj" fmla="val 6154"/>
            </a:avLst>
          </a:prstGeom>
          <a:solidFill>
            <a:srgbClr val="FFFFFF"/>
          </a:solidFill>
          <a:ln w="12700" cap="flat" cmpd="sng">
            <a:solidFill>
              <a:srgbClr val="E7DCDC"/>
            </a:solidFill>
            <a:prstDash val="solid"/>
            <a:round/>
            <a:headEnd type="none" w="sm" len="sm"/>
            <a:tailEnd type="none" w="sm" len="sm"/>
          </a:ln>
          <a:effectLst>
            <a:outerShdw blurRad="177800" dist="50800" dir="5400000" algn="bl" rotWithShape="0">
              <a:srgbClr val="1E293B">
                <a:alpha val="7843"/>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77" name="Google Shape;377;p24"/>
          <p:cNvSpPr/>
          <p:nvPr/>
        </p:nvSpPr>
        <p:spPr>
          <a:xfrm>
            <a:off x="4750192" y="2789050"/>
            <a:ext cx="342900" cy="342900"/>
          </a:xfrm>
          <a:prstGeom prst="ellipse">
            <a:avLst/>
          </a:prstGeom>
          <a:solidFill>
            <a:srgbClr val="F3DADA"/>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378" name="Google Shape;378;p24" descr="/home/claude/talentflow-template/icons/gears-primary.png"/>
          <p:cNvPicPr preferRelativeResize="0"/>
          <p:nvPr/>
        </p:nvPicPr>
        <p:blipFill rotWithShape="1">
          <a:blip r:embed="rId6">
            <a:alphaModFix/>
          </a:blip>
          <a:srcRect/>
          <a:stretch/>
        </p:blipFill>
        <p:spPr>
          <a:xfrm>
            <a:off x="4825630" y="2864488"/>
            <a:ext cx="192024" cy="192024"/>
          </a:xfrm>
          <a:prstGeom prst="rect">
            <a:avLst/>
          </a:prstGeom>
          <a:noFill/>
          <a:ln>
            <a:noFill/>
          </a:ln>
        </p:spPr>
      </p:pic>
      <p:sp>
        <p:nvSpPr>
          <p:cNvPr id="379" name="Google Shape;379;p24"/>
          <p:cNvSpPr/>
          <p:nvPr/>
        </p:nvSpPr>
        <p:spPr>
          <a:xfrm>
            <a:off x="5168530" y="2823340"/>
            <a:ext cx="3587763" cy="27432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1E293B"/>
              </a:buClr>
              <a:buSzPts val="1100"/>
              <a:buFont typeface="Cambria"/>
              <a:buNone/>
            </a:pPr>
            <a:r>
              <a:rPr lang="bg" b="1" i="0" u="none" strike="noStrike" cap="none" dirty="0">
                <a:solidFill>
                  <a:srgbClr val="1E293B"/>
                </a:solidFill>
                <a:latin typeface="Cambria"/>
                <a:ea typeface="Cambria"/>
                <a:cs typeface="Cambria"/>
                <a:sym typeface="Cambria"/>
              </a:rPr>
              <a:t>Интеграции</a:t>
            </a:r>
            <a:endParaRPr b="0" i="0" u="none" strike="noStrike" cap="none" dirty="0">
              <a:solidFill>
                <a:schemeClr val="dk1"/>
              </a:solidFill>
              <a:latin typeface="Calibri"/>
              <a:ea typeface="Calibri"/>
              <a:cs typeface="Calibri"/>
              <a:sym typeface="Calibri"/>
            </a:endParaRPr>
          </a:p>
        </p:txBody>
      </p:sp>
      <p:pic>
        <p:nvPicPr>
          <p:cNvPr id="2" name="Image 0" descr="/mnt/data/docx_media/image4.png">
            <a:extLst>
              <a:ext uri="{FF2B5EF4-FFF2-40B4-BE49-F238E27FC236}">
                <a16:creationId xmlns:a16="http://schemas.microsoft.com/office/drawing/2014/main" id="{FC7C53DD-F274-31A9-35D2-44A5465E34A5}"/>
              </a:ext>
            </a:extLst>
          </p:cNvPr>
          <p:cNvPicPr>
            <a:picLocks noChangeAspect="1"/>
          </p:cNvPicPr>
          <p:nvPr/>
        </p:nvPicPr>
        <p:blipFill>
          <a:blip r:embed="rId7"/>
          <a:stretch>
            <a:fillRect/>
          </a:stretch>
        </p:blipFill>
        <p:spPr>
          <a:xfrm>
            <a:off x="3419272" y="2049746"/>
            <a:ext cx="218106" cy="399439"/>
          </a:xfrm>
          <a:prstGeom prst="rect">
            <a:avLst/>
          </a:prstGeom>
        </p:spPr>
      </p:pic>
      <p:pic>
        <p:nvPicPr>
          <p:cNvPr id="3" name="Image 1" descr="/mnt/data/docx_media/image5.png">
            <a:extLst>
              <a:ext uri="{FF2B5EF4-FFF2-40B4-BE49-F238E27FC236}">
                <a16:creationId xmlns:a16="http://schemas.microsoft.com/office/drawing/2014/main" id="{2D9497D7-56ED-C1DD-88B0-86F6B1EF2BB0}"/>
              </a:ext>
            </a:extLst>
          </p:cNvPr>
          <p:cNvPicPr>
            <a:picLocks noChangeAspect="1"/>
          </p:cNvPicPr>
          <p:nvPr/>
        </p:nvPicPr>
        <p:blipFill>
          <a:blip r:embed="rId8"/>
          <a:stretch>
            <a:fillRect/>
          </a:stretch>
        </p:blipFill>
        <p:spPr>
          <a:xfrm>
            <a:off x="3693956" y="2234907"/>
            <a:ext cx="711025" cy="183491"/>
          </a:xfrm>
          <a:prstGeom prst="rect">
            <a:avLst/>
          </a:prstGeom>
        </p:spPr>
      </p:pic>
      <p:pic>
        <p:nvPicPr>
          <p:cNvPr id="4" name="Image 2" descr="/mnt/data/docx_media/image6.png">
            <a:extLst>
              <a:ext uri="{FF2B5EF4-FFF2-40B4-BE49-F238E27FC236}">
                <a16:creationId xmlns:a16="http://schemas.microsoft.com/office/drawing/2014/main" id="{F28D60AB-5542-D69F-727A-7991BA307EB3}"/>
              </a:ext>
            </a:extLst>
          </p:cNvPr>
          <p:cNvPicPr>
            <a:picLocks noChangeAspect="1"/>
          </p:cNvPicPr>
          <p:nvPr/>
        </p:nvPicPr>
        <p:blipFill>
          <a:blip r:embed="rId9"/>
          <a:stretch>
            <a:fillRect/>
          </a:stretch>
        </p:blipFill>
        <p:spPr>
          <a:xfrm>
            <a:off x="3810623" y="4199000"/>
            <a:ext cx="594358" cy="312038"/>
          </a:xfrm>
          <a:prstGeom prst="rect">
            <a:avLst/>
          </a:prstGeom>
        </p:spPr>
      </p:pic>
      <p:pic>
        <p:nvPicPr>
          <p:cNvPr id="5" name="Image 3" descr="/mnt/data/docx_media/image7.png">
            <a:extLst>
              <a:ext uri="{FF2B5EF4-FFF2-40B4-BE49-F238E27FC236}">
                <a16:creationId xmlns:a16="http://schemas.microsoft.com/office/drawing/2014/main" id="{B8CB0B3C-F158-E97B-761D-A17EF8725CB2}"/>
              </a:ext>
            </a:extLst>
          </p:cNvPr>
          <p:cNvPicPr>
            <a:picLocks noChangeAspect="1"/>
          </p:cNvPicPr>
          <p:nvPr/>
        </p:nvPicPr>
        <p:blipFill>
          <a:blip r:embed="rId10"/>
          <a:stretch>
            <a:fillRect/>
          </a:stretch>
        </p:blipFill>
        <p:spPr>
          <a:xfrm>
            <a:off x="7354228" y="2116486"/>
            <a:ext cx="342900" cy="306005"/>
          </a:xfrm>
          <a:prstGeom prst="rect">
            <a:avLst/>
          </a:prstGeom>
        </p:spPr>
      </p:pic>
      <p:pic>
        <p:nvPicPr>
          <p:cNvPr id="6" name="Image 4" descr="/mnt/data/docx_media/image8.png">
            <a:extLst>
              <a:ext uri="{FF2B5EF4-FFF2-40B4-BE49-F238E27FC236}">
                <a16:creationId xmlns:a16="http://schemas.microsoft.com/office/drawing/2014/main" id="{9DE24068-5714-EF62-E0A0-54F820A1F366}"/>
              </a:ext>
            </a:extLst>
          </p:cNvPr>
          <p:cNvPicPr>
            <a:picLocks noChangeAspect="1"/>
          </p:cNvPicPr>
          <p:nvPr/>
        </p:nvPicPr>
        <p:blipFill>
          <a:blip r:embed="rId11"/>
          <a:stretch>
            <a:fillRect/>
          </a:stretch>
        </p:blipFill>
        <p:spPr>
          <a:xfrm>
            <a:off x="7764830" y="2116486"/>
            <a:ext cx="308494" cy="308494"/>
          </a:xfrm>
          <a:prstGeom prst="rect">
            <a:avLst/>
          </a:prstGeom>
        </p:spPr>
      </p:pic>
      <p:pic>
        <p:nvPicPr>
          <p:cNvPr id="7" name="Image 5" descr="/mnt/data/docx_media/image9.png">
            <a:extLst>
              <a:ext uri="{FF2B5EF4-FFF2-40B4-BE49-F238E27FC236}">
                <a16:creationId xmlns:a16="http://schemas.microsoft.com/office/drawing/2014/main" id="{460F6A6E-B7F5-8A0B-2079-0E660A7DAC0F}"/>
              </a:ext>
            </a:extLst>
          </p:cNvPr>
          <p:cNvPicPr>
            <a:picLocks noChangeAspect="1"/>
          </p:cNvPicPr>
          <p:nvPr/>
        </p:nvPicPr>
        <p:blipFill>
          <a:blip r:embed="rId12"/>
          <a:stretch>
            <a:fillRect/>
          </a:stretch>
        </p:blipFill>
        <p:spPr>
          <a:xfrm>
            <a:off x="8152586" y="2118649"/>
            <a:ext cx="427885" cy="261634"/>
          </a:xfrm>
          <a:prstGeom prst="rect">
            <a:avLst/>
          </a:prstGeom>
        </p:spPr>
      </p:pic>
      <p:pic>
        <p:nvPicPr>
          <p:cNvPr id="4098" name="Picture 2" descr="Maven icon - Free Download PNG &amp; SVG | Streamline">
            <a:extLst>
              <a:ext uri="{FF2B5EF4-FFF2-40B4-BE49-F238E27FC236}">
                <a16:creationId xmlns:a16="http://schemas.microsoft.com/office/drawing/2014/main" id="{2ADE0B11-9F2F-C629-603A-1654C9D72926}"/>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t="34067" b="35680"/>
          <a:stretch/>
        </p:blipFill>
        <p:spPr bwMode="auto">
          <a:xfrm>
            <a:off x="2863016" y="2267221"/>
            <a:ext cx="499721" cy="151177"/>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A98F2255-C818-189F-4064-DFE07504683F}"/>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011328" y="2100541"/>
            <a:ext cx="342900" cy="337894"/>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Hibernate SVG and transparent PNG icons | TechIcons">
            <a:extLst>
              <a:ext uri="{FF2B5EF4-FFF2-40B4-BE49-F238E27FC236}">
                <a16:creationId xmlns:a16="http://schemas.microsoft.com/office/drawing/2014/main" id="{50A74518-10F9-AAEE-5A6C-2B2324A45684}"/>
              </a:ext>
            </a:extLst>
          </p:cNvPr>
          <p:cNvPicPr>
            <a:picLocks noChangeAspect="1" noChangeArrowheads="1"/>
          </p:cNvPicPr>
          <p:nvPr/>
        </p:nvPicPr>
        <p:blipFill>
          <a:blip r:embed="rId15">
            <a:extLst>
              <a:ext uri="{BEBA8EAE-BF5A-486C-A8C5-ECC9F3942E4B}">
                <a14:imgProps xmlns:a14="http://schemas.microsoft.com/office/drawing/2010/main">
                  <a14:imgLayer r:embed="rId16">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3432098" y="4211190"/>
            <a:ext cx="345569" cy="345569"/>
          </a:xfrm>
          <a:prstGeom prst="rect">
            <a:avLst/>
          </a:prstGeom>
          <a:noFill/>
          <a:extLst>
            <a:ext uri="{909E8E84-426E-40DD-AFC4-6F175D3DCCD1}">
              <a14:hiddenFill xmlns:a14="http://schemas.microsoft.com/office/drawing/2010/main">
                <a:solidFill>
                  <a:srgbClr val="FFFFFF"/>
                </a:solidFill>
              </a14:hiddenFill>
            </a:ext>
          </a:extLst>
        </p:spPr>
      </p:pic>
      <p:pic>
        <p:nvPicPr>
          <p:cNvPr id="4110" name="Picture 14" descr="Websocket Logo PNG Transparent &amp; SVG Vector - Freebie Supply">
            <a:extLst>
              <a:ext uri="{FF2B5EF4-FFF2-40B4-BE49-F238E27FC236}">
                <a16:creationId xmlns:a16="http://schemas.microsoft.com/office/drawing/2014/main" id="{5D59546C-1744-3AFE-D9B0-D59EFA2F2732}"/>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972202" y="4158616"/>
            <a:ext cx="508311" cy="383363"/>
          </a:xfrm>
          <a:prstGeom prst="rect">
            <a:avLst/>
          </a:prstGeom>
          <a:noFill/>
          <a:extLst>
            <a:ext uri="{909E8E84-426E-40DD-AFC4-6F175D3DCCD1}">
              <a14:hiddenFill xmlns:a14="http://schemas.microsoft.com/office/drawing/2010/main">
                <a:solidFill>
                  <a:srgbClr val="FFFFFF"/>
                </a:solidFill>
              </a14:hiddenFill>
            </a:ext>
          </a:extLst>
        </p:spPr>
      </p:pic>
      <p:pic>
        <p:nvPicPr>
          <p:cNvPr id="4112" name="Picture 16" descr="File uploading, processing &amp; delivery for web and mobile apps | Uploadcare">
            <a:extLst>
              <a:ext uri="{FF2B5EF4-FFF2-40B4-BE49-F238E27FC236}">
                <a16:creationId xmlns:a16="http://schemas.microsoft.com/office/drawing/2014/main" id="{E71D3E2F-B957-CD78-A2E8-C9CF4093F67D}"/>
              </a:ext>
            </a:extLst>
          </p:cNvPr>
          <p:cNvPicPr>
            <a:picLocks noChangeAspect="1" noChangeArrowheads="1"/>
          </p:cNvPicPr>
          <p:nvPr/>
        </p:nvPicPr>
        <p:blipFill rotWithShape="1">
          <a:blip r:embed="rId18">
            <a:extLst>
              <a:ext uri="{28A0092B-C50C-407E-A947-70E740481C1C}">
                <a14:useLocalDpi xmlns:a14="http://schemas.microsoft.com/office/drawing/2010/main" val="0"/>
              </a:ext>
            </a:extLst>
          </a:blip>
          <a:srcRect l="3083" t="42852" r="-3083" b="38871"/>
          <a:stretch/>
        </p:blipFill>
        <p:spPr bwMode="auto">
          <a:xfrm>
            <a:off x="7599679" y="4373597"/>
            <a:ext cx="1130073" cy="206532"/>
          </a:xfrm>
          <a:prstGeom prst="rect">
            <a:avLst/>
          </a:prstGeom>
          <a:noFill/>
          <a:extLst>
            <a:ext uri="{909E8E84-426E-40DD-AFC4-6F175D3DCCD1}">
              <a14:hiddenFill xmlns:a14="http://schemas.microsoft.com/office/drawing/2010/main">
                <a:solidFill>
                  <a:srgbClr val="FFFFFF"/>
                </a:solidFill>
              </a14:hiddenFill>
            </a:ext>
          </a:extLst>
        </p:spPr>
      </p:pic>
      <p:pic>
        <p:nvPicPr>
          <p:cNvPr id="4114" name="Picture 18" descr="Handlebars original wordmark logo - free Icon PNG, SVG">
            <a:extLst>
              <a:ext uri="{FF2B5EF4-FFF2-40B4-BE49-F238E27FC236}">
                <a16:creationId xmlns:a16="http://schemas.microsoft.com/office/drawing/2014/main" id="{08E9D13A-3A4B-C83B-0285-93AEBBEBD30A}"/>
              </a:ext>
            </a:extLst>
          </p:cNvPr>
          <p:cNvPicPr>
            <a:picLocks noChangeAspect="1" noChangeArrowheads="1"/>
          </p:cNvPicPr>
          <p:nvPr/>
        </p:nvPicPr>
        <p:blipFill rotWithShape="1">
          <a:blip r:embed="rId19">
            <a:extLst>
              <a:ext uri="{28A0092B-C50C-407E-A947-70E740481C1C}">
                <a14:useLocalDpi xmlns:a14="http://schemas.microsoft.com/office/drawing/2010/main" val="0"/>
              </a:ext>
            </a:extLst>
          </a:blip>
          <a:srcRect t="50000" b="24734"/>
          <a:stretch/>
        </p:blipFill>
        <p:spPr bwMode="auto">
          <a:xfrm>
            <a:off x="7063195" y="4389630"/>
            <a:ext cx="661488" cy="167129"/>
          </a:xfrm>
          <a:prstGeom prst="rect">
            <a:avLst/>
          </a:prstGeom>
          <a:noFill/>
          <a:extLst>
            <a:ext uri="{909E8E84-426E-40DD-AFC4-6F175D3DCCD1}">
              <a14:hiddenFill xmlns:a14="http://schemas.microsoft.com/office/drawing/2010/main">
                <a:solidFill>
                  <a:srgbClr val="FFFFFF"/>
                </a:solidFill>
              </a14:hiddenFill>
            </a:ext>
          </a:extLst>
        </p:spPr>
      </p:pic>
      <p:pic>
        <p:nvPicPr>
          <p:cNvPr id="4116" name="Picture 20" descr="Thymeleaf">
            <a:extLst>
              <a:ext uri="{FF2B5EF4-FFF2-40B4-BE49-F238E27FC236}">
                <a16:creationId xmlns:a16="http://schemas.microsoft.com/office/drawing/2014/main" id="{86119E6A-3C94-C2EF-0C21-6E32F976DF0A}"/>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893680" y="4344834"/>
            <a:ext cx="235295" cy="235295"/>
          </a:xfrm>
          <a:prstGeom prst="rect">
            <a:avLst/>
          </a:prstGeom>
          <a:noFill/>
          <a:extLst>
            <a:ext uri="{909E8E84-426E-40DD-AFC4-6F175D3DCCD1}">
              <a14:hiddenFill xmlns:a14="http://schemas.microsoft.com/office/drawing/2010/main">
                <a:solidFill>
                  <a:srgbClr val="FFFFFF"/>
                </a:solidFill>
              </a14:hiddenFill>
            </a:ext>
          </a:extLst>
        </p:spPr>
      </p:pic>
      <p:sp>
        <p:nvSpPr>
          <p:cNvPr id="10" name="Google Shape;299;p22">
            <a:extLst>
              <a:ext uri="{FF2B5EF4-FFF2-40B4-BE49-F238E27FC236}">
                <a16:creationId xmlns:a16="http://schemas.microsoft.com/office/drawing/2014/main" id="{5EA73913-2C5B-7105-1F12-1EEA44269C36}"/>
              </a:ext>
            </a:extLst>
          </p:cNvPr>
          <p:cNvSpPr/>
          <p:nvPr/>
        </p:nvSpPr>
        <p:spPr>
          <a:xfrm>
            <a:off x="685799" y="1243462"/>
            <a:ext cx="3719181" cy="1167559"/>
          </a:xfrm>
          <a:prstGeom prst="rect">
            <a:avLst/>
          </a:prstGeom>
          <a:noFill/>
          <a:ln>
            <a:noFill/>
          </a:ln>
        </p:spPr>
        <p:txBody>
          <a:bodyPr spcFirstLastPara="1" wrap="square" lIns="0" tIns="0" rIns="0" bIns="0" anchor="t" anchorCtr="0">
            <a:noAutofit/>
          </a:bodyPr>
          <a:lstStyle/>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r>
              <a:rPr lang="en-US" sz="1300" b="1" dirty="0">
                <a:solidFill>
                  <a:srgbClr val="475569"/>
                </a:solidFill>
                <a:latin typeface="Calibri"/>
                <a:ea typeface="Calibri"/>
                <a:cs typeface="Calibri"/>
                <a:sym typeface="Calibri"/>
              </a:rPr>
              <a:t>Java 21, Spring Boot </a:t>
            </a:r>
            <a:r>
              <a:rPr lang="en-US" sz="1300" dirty="0">
                <a:solidFill>
                  <a:srgbClr val="475569"/>
                </a:solidFill>
                <a:latin typeface="Calibri"/>
                <a:ea typeface="Calibri"/>
                <a:cs typeface="Calibri"/>
                <a:sym typeface="Calibri"/>
              </a:rPr>
              <a:t>– </a:t>
            </a:r>
            <a:r>
              <a:rPr lang="bg-BG" sz="1300" dirty="0">
                <a:solidFill>
                  <a:srgbClr val="475569"/>
                </a:solidFill>
                <a:latin typeface="Calibri"/>
                <a:ea typeface="Calibri"/>
                <a:cs typeface="Calibri"/>
                <a:sym typeface="Calibri"/>
              </a:rPr>
              <a:t>стабилност, голяма екосистема, вградена сигурност</a:t>
            </a:r>
          </a:p>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r>
              <a:rPr lang="en-US" sz="1300" b="1" i="0" u="none" strike="noStrike" cap="none" dirty="0">
                <a:solidFill>
                  <a:srgbClr val="475569"/>
                </a:solidFill>
                <a:latin typeface="Calibri"/>
                <a:ea typeface="Calibri"/>
                <a:cs typeface="Calibri"/>
                <a:sym typeface="Calibri"/>
              </a:rPr>
              <a:t>Maven</a:t>
            </a:r>
            <a:r>
              <a:rPr lang="en-US" sz="1300" b="0" i="0" u="none" strike="noStrike" cap="none" dirty="0">
                <a:solidFill>
                  <a:srgbClr val="475569"/>
                </a:solidFill>
                <a:latin typeface="Calibri"/>
                <a:ea typeface="Calibri"/>
                <a:cs typeface="Calibri"/>
                <a:sym typeface="Calibri"/>
              </a:rPr>
              <a:t> – </a:t>
            </a:r>
            <a:r>
              <a:rPr lang="bg-BG" sz="1300" b="0" i="0" u="none" strike="noStrike" cap="none" dirty="0">
                <a:solidFill>
                  <a:srgbClr val="475569"/>
                </a:solidFill>
                <a:latin typeface="Calibri"/>
                <a:ea typeface="Calibri"/>
                <a:cs typeface="Calibri"/>
                <a:sym typeface="Calibri"/>
              </a:rPr>
              <a:t>управление на зависимости, изграждане</a:t>
            </a:r>
            <a:endParaRPr lang="bg" sz="1300" b="0" i="0" u="none" strike="noStrike" cap="none" dirty="0">
              <a:solidFill>
                <a:srgbClr val="475569"/>
              </a:solidFill>
              <a:latin typeface="Calibri"/>
              <a:ea typeface="Calibri"/>
              <a:cs typeface="Calibri"/>
              <a:sym typeface="Calibri"/>
            </a:endParaRPr>
          </a:p>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r>
              <a:rPr lang="en-US" sz="1300" b="1" dirty="0">
                <a:solidFill>
                  <a:srgbClr val="475569"/>
                </a:solidFill>
                <a:latin typeface="Calibri"/>
                <a:ea typeface="Calibri"/>
                <a:cs typeface="Calibri"/>
                <a:sym typeface="Calibri"/>
              </a:rPr>
              <a:t>Spring Security </a:t>
            </a:r>
            <a:r>
              <a:rPr lang="en-US" sz="1300" dirty="0">
                <a:solidFill>
                  <a:srgbClr val="475569"/>
                </a:solidFill>
                <a:latin typeface="Calibri"/>
                <a:ea typeface="Calibri"/>
                <a:cs typeface="Calibri"/>
                <a:sym typeface="Calibri"/>
              </a:rPr>
              <a:t>– </a:t>
            </a:r>
            <a:r>
              <a:rPr lang="bg-BG" sz="1300" dirty="0">
                <a:solidFill>
                  <a:srgbClr val="475569"/>
                </a:solidFill>
                <a:latin typeface="Calibri"/>
                <a:ea typeface="Calibri"/>
                <a:cs typeface="Calibri"/>
                <a:sym typeface="Calibri"/>
              </a:rPr>
              <a:t>автентикация, </a:t>
            </a:r>
          </a:p>
          <a:p>
            <a:pPr marR="0" lvl="0" algn="l" rtl="0">
              <a:lnSpc>
                <a:spcPct val="115000"/>
              </a:lnSpc>
              <a:spcBef>
                <a:spcPts val="0"/>
              </a:spcBef>
              <a:spcAft>
                <a:spcPts val="0"/>
              </a:spcAft>
              <a:buClr>
                <a:srgbClr val="475569"/>
              </a:buClr>
              <a:buSzPct val="150000"/>
            </a:pPr>
            <a:r>
              <a:rPr lang="bg-BG" sz="1300" b="0" i="0" u="none" strike="noStrike" cap="none" dirty="0">
                <a:solidFill>
                  <a:srgbClr val="475569"/>
                </a:solidFill>
                <a:latin typeface="Calibri"/>
                <a:ea typeface="Calibri"/>
                <a:cs typeface="Calibri"/>
                <a:sym typeface="Calibri"/>
              </a:rPr>
              <a:t>    оторизация, достъп</a:t>
            </a:r>
            <a:endParaRPr lang="bg" sz="1300" b="0" i="0" u="none" strike="noStrike" cap="none" dirty="0">
              <a:solidFill>
                <a:srgbClr val="475569"/>
              </a:solidFill>
              <a:latin typeface="Calibri"/>
              <a:ea typeface="Calibri"/>
              <a:cs typeface="Calibri"/>
              <a:sym typeface="Calibri"/>
            </a:endParaRPr>
          </a:p>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endParaRPr sz="1300" b="0" i="0" u="none" strike="noStrike" cap="none" dirty="0">
              <a:solidFill>
                <a:schemeClr val="dk1"/>
              </a:solidFill>
              <a:latin typeface="Calibri"/>
              <a:ea typeface="Calibri"/>
              <a:cs typeface="Calibri"/>
              <a:sym typeface="Calibri"/>
            </a:endParaRPr>
          </a:p>
        </p:txBody>
      </p:sp>
      <p:sp>
        <p:nvSpPr>
          <p:cNvPr id="13" name="Google Shape;299;p22">
            <a:extLst>
              <a:ext uri="{FF2B5EF4-FFF2-40B4-BE49-F238E27FC236}">
                <a16:creationId xmlns:a16="http://schemas.microsoft.com/office/drawing/2014/main" id="{F74865A1-F7AE-599E-7035-2344AAE13B74}"/>
              </a:ext>
            </a:extLst>
          </p:cNvPr>
          <p:cNvSpPr/>
          <p:nvPr/>
        </p:nvSpPr>
        <p:spPr>
          <a:xfrm>
            <a:off x="4857795" y="1229413"/>
            <a:ext cx="3570016" cy="1167559"/>
          </a:xfrm>
          <a:prstGeom prst="rect">
            <a:avLst/>
          </a:prstGeom>
          <a:noFill/>
          <a:ln>
            <a:noFill/>
          </a:ln>
        </p:spPr>
        <p:txBody>
          <a:bodyPr spcFirstLastPara="1" wrap="square" lIns="0" tIns="0" rIns="0" bIns="0" anchor="t" anchorCtr="0">
            <a:noAutofit/>
          </a:bodyPr>
          <a:lstStyle/>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r>
              <a:rPr lang="en-US" sz="1300" b="1" dirty="0">
                <a:solidFill>
                  <a:srgbClr val="475569"/>
                </a:solidFill>
                <a:latin typeface="Calibri"/>
                <a:ea typeface="Calibri"/>
                <a:cs typeface="Calibri"/>
                <a:sym typeface="Calibri"/>
              </a:rPr>
              <a:t>React 19 </a:t>
            </a:r>
            <a:r>
              <a:rPr lang="en-US" sz="1300" dirty="0">
                <a:solidFill>
                  <a:srgbClr val="475569"/>
                </a:solidFill>
                <a:latin typeface="Calibri"/>
                <a:ea typeface="Calibri"/>
                <a:cs typeface="Calibri"/>
                <a:sym typeface="Calibri"/>
              </a:rPr>
              <a:t>– </a:t>
            </a:r>
            <a:r>
              <a:rPr lang="bg-BG" sz="1300" dirty="0">
                <a:solidFill>
                  <a:srgbClr val="475569"/>
                </a:solidFill>
                <a:latin typeface="Calibri"/>
                <a:ea typeface="Calibri"/>
                <a:cs typeface="Calibri"/>
                <a:sym typeface="Calibri"/>
              </a:rPr>
              <a:t>преизползваемост, интерактивност</a:t>
            </a:r>
          </a:p>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r>
              <a:rPr lang="en-US" sz="1300" b="1" dirty="0">
                <a:solidFill>
                  <a:srgbClr val="475569"/>
                </a:solidFill>
                <a:latin typeface="Calibri"/>
                <a:ea typeface="Calibri"/>
                <a:cs typeface="Calibri"/>
                <a:sym typeface="Calibri"/>
              </a:rPr>
              <a:t>TypeScript </a:t>
            </a:r>
            <a:r>
              <a:rPr lang="bg-BG" sz="1300" dirty="0">
                <a:solidFill>
                  <a:srgbClr val="475569"/>
                </a:solidFill>
                <a:latin typeface="Calibri"/>
                <a:ea typeface="Calibri"/>
                <a:cs typeface="Calibri"/>
                <a:sym typeface="Calibri"/>
              </a:rPr>
              <a:t>– типова безопасност</a:t>
            </a:r>
            <a:endParaRPr lang="bg-BG" sz="1300" b="1" dirty="0">
              <a:solidFill>
                <a:srgbClr val="475569"/>
              </a:solidFill>
              <a:latin typeface="Calibri"/>
              <a:ea typeface="Calibri"/>
              <a:cs typeface="Calibri"/>
              <a:sym typeface="Calibri"/>
            </a:endParaRPr>
          </a:p>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r>
              <a:rPr lang="en-US" sz="1300" b="1" i="0" u="none" strike="noStrike" cap="none" dirty="0">
                <a:solidFill>
                  <a:srgbClr val="475569"/>
                </a:solidFill>
                <a:latin typeface="Calibri"/>
                <a:ea typeface="Calibri"/>
                <a:cs typeface="Calibri"/>
                <a:sym typeface="Calibri"/>
              </a:rPr>
              <a:t>Vite</a:t>
            </a:r>
            <a:r>
              <a:rPr lang="en-US" sz="1300" b="0" i="0" u="none" strike="noStrike" cap="none" dirty="0">
                <a:solidFill>
                  <a:srgbClr val="475569"/>
                </a:solidFill>
                <a:latin typeface="Calibri"/>
                <a:ea typeface="Calibri"/>
                <a:cs typeface="Calibri"/>
                <a:sym typeface="Calibri"/>
              </a:rPr>
              <a:t> – </a:t>
            </a:r>
            <a:r>
              <a:rPr lang="bg-BG" sz="1300" b="0" i="0" u="none" strike="noStrike" cap="none" dirty="0">
                <a:solidFill>
                  <a:srgbClr val="475569"/>
                </a:solidFill>
                <a:latin typeface="Calibri"/>
                <a:ea typeface="Calibri"/>
                <a:cs typeface="Calibri"/>
                <a:sym typeface="Calibri"/>
              </a:rPr>
              <a:t>изграждане, мигновено обновяване</a:t>
            </a:r>
            <a:endParaRPr lang="bg" sz="1300" b="0" i="0" u="none" strike="noStrike" cap="none" dirty="0">
              <a:solidFill>
                <a:srgbClr val="475569"/>
              </a:solidFill>
              <a:latin typeface="Calibri"/>
              <a:ea typeface="Calibri"/>
              <a:cs typeface="Calibri"/>
              <a:sym typeface="Calibri"/>
            </a:endParaRPr>
          </a:p>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r>
              <a:rPr lang="en-US" sz="1300" b="1" dirty="0">
                <a:solidFill>
                  <a:srgbClr val="475569"/>
                </a:solidFill>
                <a:latin typeface="Calibri"/>
                <a:ea typeface="Calibri"/>
                <a:cs typeface="Calibri"/>
                <a:sym typeface="Calibri"/>
              </a:rPr>
              <a:t>Tailwind CSS </a:t>
            </a:r>
            <a:r>
              <a:rPr lang="en-US" sz="1300" dirty="0">
                <a:solidFill>
                  <a:srgbClr val="475569"/>
                </a:solidFill>
                <a:latin typeface="Calibri"/>
                <a:ea typeface="Calibri"/>
                <a:cs typeface="Calibri"/>
                <a:sym typeface="Calibri"/>
              </a:rPr>
              <a:t>–</a:t>
            </a:r>
            <a:r>
              <a:rPr lang="bg-BG" sz="1300" dirty="0">
                <a:solidFill>
                  <a:srgbClr val="475569"/>
                </a:solidFill>
                <a:latin typeface="Calibri"/>
                <a:ea typeface="Calibri"/>
                <a:cs typeface="Calibri"/>
                <a:sym typeface="Calibri"/>
              </a:rPr>
              <a:t> адаптивен дизайн</a:t>
            </a:r>
            <a:endParaRPr lang="en-US" sz="1300" dirty="0">
              <a:solidFill>
                <a:srgbClr val="475569"/>
              </a:solidFill>
              <a:latin typeface="Calibri"/>
              <a:ea typeface="Calibri"/>
              <a:cs typeface="Calibri"/>
              <a:sym typeface="Calibri"/>
            </a:endParaRPr>
          </a:p>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r>
              <a:rPr lang="en-US" sz="1300" b="1" dirty="0">
                <a:solidFill>
                  <a:srgbClr val="475569"/>
                </a:solidFill>
                <a:latin typeface="Calibri"/>
                <a:ea typeface="Calibri"/>
                <a:cs typeface="Calibri"/>
                <a:sym typeface="Calibri"/>
              </a:rPr>
              <a:t>Framer Motion, Recharts</a:t>
            </a:r>
            <a:r>
              <a:rPr lang="en-US" sz="1300" dirty="0">
                <a:solidFill>
                  <a:srgbClr val="475569"/>
                </a:solidFill>
                <a:latin typeface="Calibri"/>
                <a:ea typeface="Calibri"/>
                <a:cs typeface="Calibri"/>
                <a:sym typeface="Calibri"/>
              </a:rPr>
              <a:t> </a:t>
            </a:r>
            <a:endParaRPr lang="bg" sz="1300" b="0" i="0" u="none" strike="noStrike" cap="none" dirty="0">
              <a:solidFill>
                <a:srgbClr val="475569"/>
              </a:solidFill>
              <a:latin typeface="Calibri"/>
              <a:ea typeface="Calibri"/>
              <a:cs typeface="Calibri"/>
              <a:sym typeface="Calibri"/>
            </a:endParaRPr>
          </a:p>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endParaRPr sz="1300" b="0" i="0" u="none" strike="noStrike" cap="none" dirty="0">
              <a:solidFill>
                <a:schemeClr val="dk1"/>
              </a:solidFill>
              <a:latin typeface="Calibri"/>
              <a:ea typeface="Calibri"/>
              <a:cs typeface="Calibri"/>
              <a:sym typeface="Calibri"/>
            </a:endParaRPr>
          </a:p>
        </p:txBody>
      </p:sp>
      <p:sp>
        <p:nvSpPr>
          <p:cNvPr id="14" name="Google Shape;299;p22">
            <a:extLst>
              <a:ext uri="{FF2B5EF4-FFF2-40B4-BE49-F238E27FC236}">
                <a16:creationId xmlns:a16="http://schemas.microsoft.com/office/drawing/2014/main" id="{7246E045-1089-94A9-C626-35A1B71CD29B}"/>
              </a:ext>
            </a:extLst>
          </p:cNvPr>
          <p:cNvSpPr/>
          <p:nvPr/>
        </p:nvSpPr>
        <p:spPr>
          <a:xfrm>
            <a:off x="685800" y="3177275"/>
            <a:ext cx="3570016" cy="1167559"/>
          </a:xfrm>
          <a:prstGeom prst="rect">
            <a:avLst/>
          </a:prstGeom>
          <a:noFill/>
          <a:ln>
            <a:noFill/>
          </a:ln>
        </p:spPr>
        <p:txBody>
          <a:bodyPr spcFirstLastPara="1" wrap="square" lIns="0" tIns="0" rIns="0" bIns="0" anchor="t" anchorCtr="0">
            <a:noAutofit/>
          </a:bodyPr>
          <a:lstStyle/>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r>
              <a:rPr lang="en-US" sz="1300" b="1" dirty="0">
                <a:solidFill>
                  <a:srgbClr val="475569"/>
                </a:solidFill>
                <a:latin typeface="Calibri"/>
                <a:ea typeface="Calibri"/>
                <a:cs typeface="Calibri"/>
                <a:sym typeface="Calibri"/>
              </a:rPr>
              <a:t>MySQL </a:t>
            </a:r>
            <a:r>
              <a:rPr lang="en-US" sz="1300" dirty="0">
                <a:solidFill>
                  <a:srgbClr val="475569"/>
                </a:solidFill>
                <a:latin typeface="Calibri"/>
                <a:ea typeface="Calibri"/>
                <a:cs typeface="Calibri"/>
                <a:sym typeface="Calibri"/>
              </a:rPr>
              <a:t>– </a:t>
            </a:r>
            <a:r>
              <a:rPr lang="bg-BG" sz="1300" dirty="0">
                <a:solidFill>
                  <a:srgbClr val="475569"/>
                </a:solidFill>
                <a:latin typeface="Calibri"/>
                <a:ea typeface="Calibri"/>
                <a:cs typeface="Calibri"/>
                <a:sym typeface="Calibri"/>
              </a:rPr>
              <a:t>транзакционна цялост, надеждност</a:t>
            </a:r>
          </a:p>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r>
              <a:rPr lang="en-US" sz="1300" b="1" i="0" u="none" strike="noStrike" cap="none" dirty="0">
                <a:solidFill>
                  <a:srgbClr val="475569"/>
                </a:solidFill>
                <a:latin typeface="Calibri"/>
                <a:ea typeface="Calibri"/>
                <a:cs typeface="Calibri"/>
                <a:sym typeface="Calibri"/>
              </a:rPr>
              <a:t>STOMP</a:t>
            </a:r>
            <a:r>
              <a:rPr lang="en-US" sz="1300" b="0" i="0" u="none" strike="noStrike" cap="none" dirty="0">
                <a:solidFill>
                  <a:srgbClr val="475569"/>
                </a:solidFill>
                <a:latin typeface="Calibri"/>
                <a:ea typeface="Calibri"/>
                <a:cs typeface="Calibri"/>
                <a:sym typeface="Calibri"/>
              </a:rPr>
              <a:t> – </a:t>
            </a:r>
            <a:r>
              <a:rPr lang="bg-BG" sz="1300" b="0" i="0" u="none" strike="noStrike" cap="none" dirty="0">
                <a:solidFill>
                  <a:srgbClr val="475569"/>
                </a:solidFill>
                <a:latin typeface="Calibri"/>
                <a:ea typeface="Calibri"/>
                <a:cs typeface="Calibri"/>
                <a:sym typeface="Calibri"/>
              </a:rPr>
              <a:t>абониране за канали, комуникация</a:t>
            </a:r>
            <a:endParaRPr lang="bg" sz="1300" b="0" i="0" u="none" strike="noStrike" cap="none" dirty="0">
              <a:solidFill>
                <a:srgbClr val="475569"/>
              </a:solidFill>
              <a:latin typeface="Calibri"/>
              <a:ea typeface="Calibri"/>
              <a:cs typeface="Calibri"/>
              <a:sym typeface="Calibri"/>
            </a:endParaRPr>
          </a:p>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r>
              <a:rPr lang="en-US" sz="1300" b="1" dirty="0">
                <a:solidFill>
                  <a:srgbClr val="475569"/>
                </a:solidFill>
                <a:latin typeface="Calibri"/>
                <a:ea typeface="Calibri"/>
                <a:cs typeface="Calibri"/>
                <a:sym typeface="Calibri"/>
              </a:rPr>
              <a:t>WebSocket, SockJS</a:t>
            </a:r>
            <a:r>
              <a:rPr lang="bg-BG" sz="1300" dirty="0">
                <a:solidFill>
                  <a:srgbClr val="475569"/>
                </a:solidFill>
                <a:latin typeface="Calibri"/>
                <a:ea typeface="Calibri"/>
                <a:cs typeface="Calibri"/>
                <a:sym typeface="Calibri"/>
              </a:rPr>
              <a:t> – двупосочна връзка</a:t>
            </a:r>
            <a:endParaRPr lang="en-US" sz="1300" dirty="0">
              <a:solidFill>
                <a:srgbClr val="475569"/>
              </a:solidFill>
              <a:latin typeface="Calibri"/>
              <a:ea typeface="Calibri"/>
              <a:cs typeface="Calibri"/>
              <a:sym typeface="Calibri"/>
            </a:endParaRPr>
          </a:p>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r>
              <a:rPr lang="en-US" sz="1300" b="1" i="0" u="none" strike="noStrike" cap="none" dirty="0">
                <a:solidFill>
                  <a:srgbClr val="475569"/>
                </a:solidFill>
                <a:latin typeface="Calibri"/>
                <a:ea typeface="Calibri"/>
                <a:cs typeface="Calibri"/>
                <a:sym typeface="Calibri"/>
              </a:rPr>
              <a:t>SMTP, Gmail</a:t>
            </a:r>
            <a:r>
              <a:rPr lang="bg-BG" sz="1300" dirty="0">
                <a:solidFill>
                  <a:srgbClr val="475569"/>
                </a:solidFill>
                <a:latin typeface="Calibri"/>
                <a:ea typeface="Calibri"/>
                <a:cs typeface="Calibri"/>
                <a:sym typeface="Calibri"/>
              </a:rPr>
              <a:t> – надеждни транзакционни съобщения</a:t>
            </a:r>
            <a:endParaRPr lang="bg" sz="1300" b="1" i="0" u="none" strike="noStrike" cap="none" dirty="0">
              <a:solidFill>
                <a:srgbClr val="475569"/>
              </a:solidFill>
              <a:latin typeface="Calibri"/>
              <a:ea typeface="Calibri"/>
              <a:cs typeface="Calibri"/>
              <a:sym typeface="Calibri"/>
            </a:endParaRPr>
          </a:p>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endParaRPr sz="1300" b="0" i="0" u="none" strike="noStrike" cap="none" dirty="0">
              <a:solidFill>
                <a:schemeClr val="dk1"/>
              </a:solidFill>
              <a:latin typeface="Calibri"/>
              <a:ea typeface="Calibri"/>
              <a:cs typeface="Calibri"/>
              <a:sym typeface="Calibri"/>
            </a:endParaRPr>
          </a:p>
        </p:txBody>
      </p:sp>
      <p:sp>
        <p:nvSpPr>
          <p:cNvPr id="15" name="Google Shape;299;p22">
            <a:extLst>
              <a:ext uri="{FF2B5EF4-FFF2-40B4-BE49-F238E27FC236}">
                <a16:creationId xmlns:a16="http://schemas.microsoft.com/office/drawing/2014/main" id="{FAADB724-538D-47E1-C2E2-FEA312B79E9F}"/>
              </a:ext>
            </a:extLst>
          </p:cNvPr>
          <p:cNvSpPr/>
          <p:nvPr/>
        </p:nvSpPr>
        <p:spPr>
          <a:xfrm>
            <a:off x="4872223" y="3155885"/>
            <a:ext cx="3570016" cy="1167559"/>
          </a:xfrm>
          <a:prstGeom prst="rect">
            <a:avLst/>
          </a:prstGeom>
          <a:noFill/>
          <a:ln>
            <a:noFill/>
          </a:ln>
        </p:spPr>
        <p:txBody>
          <a:bodyPr spcFirstLastPara="1" wrap="square" lIns="0" tIns="0" rIns="0" bIns="0" anchor="t" anchorCtr="0">
            <a:noAutofit/>
          </a:bodyPr>
          <a:lstStyle/>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r>
              <a:rPr lang="en-US" sz="1300" b="1" dirty="0">
                <a:solidFill>
                  <a:srgbClr val="475569"/>
                </a:solidFill>
                <a:latin typeface="Calibri"/>
                <a:ea typeface="Calibri"/>
                <a:cs typeface="Calibri"/>
                <a:sym typeface="Calibri"/>
              </a:rPr>
              <a:t>Uploadcare </a:t>
            </a:r>
            <a:r>
              <a:rPr lang="en-US" sz="1300" dirty="0">
                <a:solidFill>
                  <a:srgbClr val="475569"/>
                </a:solidFill>
                <a:latin typeface="Calibri"/>
                <a:ea typeface="Calibri"/>
                <a:cs typeface="Calibri"/>
                <a:sym typeface="Calibri"/>
              </a:rPr>
              <a:t>– </a:t>
            </a:r>
            <a:r>
              <a:rPr lang="bg-BG" sz="1300" dirty="0">
                <a:solidFill>
                  <a:srgbClr val="475569"/>
                </a:solidFill>
                <a:latin typeface="Calibri"/>
                <a:ea typeface="Calibri"/>
                <a:cs typeface="Calibri"/>
                <a:sym typeface="Calibri"/>
              </a:rPr>
              <a:t>сигурно облачно съхранение</a:t>
            </a:r>
          </a:p>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r>
              <a:rPr lang="en-US" sz="1300" b="1" i="0" u="none" strike="noStrike" cap="none" dirty="0">
                <a:solidFill>
                  <a:srgbClr val="475569"/>
                </a:solidFill>
                <a:latin typeface="Calibri"/>
                <a:ea typeface="Calibri"/>
                <a:cs typeface="Calibri"/>
                <a:sym typeface="Calibri"/>
              </a:rPr>
              <a:t>Handlebars, OpenHTMLtoPDF</a:t>
            </a:r>
            <a:r>
              <a:rPr lang="en-US" sz="1300" b="0" i="0" u="none" strike="noStrike" cap="none" dirty="0">
                <a:solidFill>
                  <a:srgbClr val="475569"/>
                </a:solidFill>
                <a:latin typeface="Calibri"/>
                <a:ea typeface="Calibri"/>
                <a:cs typeface="Calibri"/>
                <a:sym typeface="Calibri"/>
              </a:rPr>
              <a:t> – </a:t>
            </a:r>
            <a:r>
              <a:rPr lang="bg-BG" sz="1300" b="0" i="0" u="none" strike="noStrike" cap="none" dirty="0">
                <a:solidFill>
                  <a:srgbClr val="475569"/>
                </a:solidFill>
                <a:latin typeface="Calibri"/>
                <a:ea typeface="Calibri"/>
                <a:cs typeface="Calibri"/>
                <a:sym typeface="Calibri"/>
              </a:rPr>
              <a:t>преизползваеми шаблони, автоматизирано </a:t>
            </a:r>
            <a:r>
              <a:rPr lang="en-US" sz="1300" b="0" i="0" u="none" strike="noStrike" cap="none" dirty="0">
                <a:solidFill>
                  <a:srgbClr val="475569"/>
                </a:solidFill>
                <a:latin typeface="Calibri"/>
                <a:ea typeface="Calibri"/>
                <a:cs typeface="Calibri"/>
                <a:sym typeface="Calibri"/>
              </a:rPr>
              <a:t>PDF </a:t>
            </a:r>
            <a:r>
              <a:rPr lang="bg-BG" sz="1300" b="0" i="0" u="none" strike="noStrike" cap="none" dirty="0">
                <a:solidFill>
                  <a:srgbClr val="475569"/>
                </a:solidFill>
                <a:latin typeface="Calibri"/>
                <a:ea typeface="Calibri"/>
                <a:cs typeface="Calibri"/>
                <a:sym typeface="Calibri"/>
              </a:rPr>
              <a:t>генериране</a:t>
            </a:r>
            <a:endParaRPr lang="bg" sz="1300" b="0" i="0" u="none" strike="noStrike" cap="none" dirty="0">
              <a:solidFill>
                <a:srgbClr val="475569"/>
              </a:solidFill>
              <a:latin typeface="Calibri"/>
              <a:ea typeface="Calibri"/>
              <a:cs typeface="Calibri"/>
              <a:sym typeface="Calibri"/>
            </a:endParaRPr>
          </a:p>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r>
              <a:rPr lang="en-US" sz="1300" b="1" i="0" u="none" strike="noStrike" cap="none" dirty="0">
                <a:solidFill>
                  <a:srgbClr val="475569"/>
                </a:solidFill>
                <a:latin typeface="Calibri"/>
                <a:ea typeface="Calibri"/>
                <a:cs typeface="Calibri"/>
                <a:sym typeface="Calibri"/>
              </a:rPr>
              <a:t>Thymeleaf</a:t>
            </a:r>
            <a:r>
              <a:rPr lang="en-US" sz="1300" dirty="0">
                <a:solidFill>
                  <a:srgbClr val="475569"/>
                </a:solidFill>
                <a:latin typeface="Calibri"/>
                <a:ea typeface="Calibri"/>
                <a:cs typeface="Calibri"/>
                <a:sym typeface="Calibri"/>
              </a:rPr>
              <a:t> - </a:t>
            </a:r>
            <a:r>
              <a:rPr lang="bg-BG" sz="1300" dirty="0">
                <a:solidFill>
                  <a:srgbClr val="475569"/>
                </a:solidFill>
                <a:latin typeface="Calibri"/>
                <a:ea typeface="Calibri"/>
                <a:cs typeface="Calibri"/>
                <a:sym typeface="Calibri"/>
              </a:rPr>
              <a:t>динамични </a:t>
            </a:r>
            <a:r>
              <a:rPr lang="en-US" sz="1300" dirty="0">
                <a:solidFill>
                  <a:srgbClr val="475569"/>
                </a:solidFill>
                <a:latin typeface="Calibri"/>
                <a:ea typeface="Calibri"/>
                <a:cs typeface="Calibri"/>
                <a:sym typeface="Calibri"/>
              </a:rPr>
              <a:t>HTML </a:t>
            </a:r>
            <a:r>
              <a:rPr lang="bg-BG" sz="1300" dirty="0">
                <a:solidFill>
                  <a:srgbClr val="475569"/>
                </a:solidFill>
                <a:latin typeface="Calibri"/>
                <a:ea typeface="Calibri"/>
                <a:cs typeface="Calibri"/>
                <a:sym typeface="Calibri"/>
              </a:rPr>
              <a:t>шаблони, </a:t>
            </a:r>
            <a:r>
              <a:rPr lang="en-US" sz="1300" dirty="0">
                <a:solidFill>
                  <a:srgbClr val="475569"/>
                </a:solidFill>
                <a:latin typeface="Calibri"/>
                <a:ea typeface="Calibri"/>
                <a:cs typeface="Calibri"/>
                <a:sym typeface="Calibri"/>
              </a:rPr>
              <a:t>Spring</a:t>
            </a:r>
            <a:r>
              <a:rPr lang="bg-BG" sz="1300" dirty="0">
                <a:solidFill>
                  <a:srgbClr val="475569"/>
                </a:solidFill>
                <a:latin typeface="Calibri"/>
                <a:ea typeface="Calibri"/>
                <a:cs typeface="Calibri"/>
                <a:sym typeface="Calibri"/>
              </a:rPr>
              <a:t> интеграция</a:t>
            </a:r>
            <a:r>
              <a:rPr lang="en-US" sz="1300" dirty="0">
                <a:solidFill>
                  <a:srgbClr val="475569"/>
                </a:solidFill>
                <a:latin typeface="Calibri"/>
                <a:ea typeface="Calibri"/>
                <a:cs typeface="Calibri"/>
                <a:sym typeface="Calibri"/>
              </a:rPr>
              <a:t> </a:t>
            </a:r>
            <a:endParaRPr lang="bg" sz="1300" b="0" i="0" u="none" strike="noStrike" cap="none" dirty="0">
              <a:solidFill>
                <a:srgbClr val="475569"/>
              </a:solidFill>
              <a:latin typeface="Calibri"/>
              <a:ea typeface="Calibri"/>
              <a:cs typeface="Calibri"/>
              <a:sym typeface="Calibri"/>
            </a:endParaRPr>
          </a:p>
          <a:p>
            <a:pPr marL="171450" marR="0" lvl="0" indent="-171450" algn="l" rtl="0">
              <a:lnSpc>
                <a:spcPct val="115000"/>
              </a:lnSpc>
              <a:spcBef>
                <a:spcPts val="0"/>
              </a:spcBef>
              <a:spcAft>
                <a:spcPts val="0"/>
              </a:spcAft>
              <a:buClr>
                <a:srgbClr val="475569"/>
              </a:buClr>
              <a:buSzPct val="150000"/>
              <a:buFont typeface="Arial" panose="020B0604020202020204" pitchFamily="34" charset="0"/>
              <a:buChar char="•"/>
            </a:pPr>
            <a:endParaRPr sz="13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07">
          <a:extLst>
            <a:ext uri="{FF2B5EF4-FFF2-40B4-BE49-F238E27FC236}">
              <a16:creationId xmlns:a16="http://schemas.microsoft.com/office/drawing/2014/main" id="{5FF6C116-CBCD-8941-6A76-05230EF8D420}"/>
            </a:ext>
          </a:extLst>
        </p:cNvPr>
        <p:cNvGrpSpPr/>
        <p:nvPr/>
      </p:nvGrpSpPr>
      <p:grpSpPr>
        <a:xfrm>
          <a:off x="0" y="0"/>
          <a:ext cx="0" cy="0"/>
          <a:chOff x="0" y="0"/>
          <a:chExt cx="0" cy="0"/>
        </a:xfrm>
      </p:grpSpPr>
      <p:sp>
        <p:nvSpPr>
          <p:cNvPr id="408" name="Google Shape;408;p26">
            <a:extLst>
              <a:ext uri="{FF2B5EF4-FFF2-40B4-BE49-F238E27FC236}">
                <a16:creationId xmlns:a16="http://schemas.microsoft.com/office/drawing/2014/main" id="{30867CBC-0847-23BB-1442-3A92A6B2F013}"/>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09" name="Google Shape;409;p26">
            <a:extLst>
              <a:ext uri="{FF2B5EF4-FFF2-40B4-BE49-F238E27FC236}">
                <a16:creationId xmlns:a16="http://schemas.microsoft.com/office/drawing/2014/main" id="{C78AC6E3-C3B6-63F1-4DEF-DE4792FC7A42}"/>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dirty="0"/>
          </a:p>
        </p:txBody>
      </p:sp>
      <p:sp>
        <p:nvSpPr>
          <p:cNvPr id="410" name="Google Shape;410;p26">
            <a:extLst>
              <a:ext uri="{FF2B5EF4-FFF2-40B4-BE49-F238E27FC236}">
                <a16:creationId xmlns:a16="http://schemas.microsoft.com/office/drawing/2014/main" id="{AD4C2C62-A0E4-5688-F344-ABDF02F15566}"/>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АРХИТЕКТУРА</a:t>
            </a:r>
            <a:endParaRPr sz="1100" b="0" i="0" u="none" strike="noStrike" cap="none" dirty="0">
              <a:solidFill>
                <a:schemeClr val="dk1"/>
              </a:solidFill>
              <a:latin typeface="Calibri"/>
              <a:ea typeface="Calibri"/>
              <a:cs typeface="Calibri"/>
              <a:sym typeface="Calibri"/>
            </a:endParaRPr>
          </a:p>
        </p:txBody>
      </p:sp>
      <p:sp>
        <p:nvSpPr>
          <p:cNvPr id="415" name="Google Shape;415;p26">
            <a:extLst>
              <a:ext uri="{FF2B5EF4-FFF2-40B4-BE49-F238E27FC236}">
                <a16:creationId xmlns:a16="http://schemas.microsoft.com/office/drawing/2014/main" id="{F27145FA-D43F-26E4-1BC7-4615B4B3783E}"/>
              </a:ext>
            </a:extLst>
          </p:cNvPr>
          <p:cNvSpPr/>
          <p:nvPr/>
        </p:nvSpPr>
        <p:spPr>
          <a:xfrm>
            <a:off x="685799" y="123444"/>
            <a:ext cx="589788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300" b="1" i="0" u="none" strike="noStrike" cap="none" dirty="0">
                <a:solidFill>
                  <a:srgbClr val="1E293B"/>
                </a:solidFill>
                <a:latin typeface="Cambria"/>
                <a:ea typeface="Cambria"/>
                <a:cs typeface="Cambria"/>
                <a:sym typeface="Cambria"/>
              </a:rPr>
              <a:t>Архитектура на системата</a:t>
            </a:r>
            <a:endParaRPr sz="2300" b="0" i="0" u="none" strike="noStrike" cap="none" dirty="0">
              <a:solidFill>
                <a:schemeClr val="dk1"/>
              </a:solidFill>
              <a:latin typeface="Calibri"/>
              <a:ea typeface="Calibri"/>
              <a:cs typeface="Calibri"/>
              <a:sym typeface="Calibri"/>
            </a:endParaRPr>
          </a:p>
        </p:txBody>
      </p:sp>
      <p:pic>
        <p:nvPicPr>
          <p:cNvPr id="5" name="Picture 4" descr="A group of rectangular labels with text&#10;&#10;AI-generated content may be incorrect.">
            <a:extLst>
              <a:ext uri="{FF2B5EF4-FFF2-40B4-BE49-F238E27FC236}">
                <a16:creationId xmlns:a16="http://schemas.microsoft.com/office/drawing/2014/main" id="{BFADA6DB-6733-102A-33D8-DCF8001A17B0}"/>
              </a:ext>
            </a:extLst>
          </p:cNvPr>
          <p:cNvPicPr>
            <a:picLocks noChangeAspect="1"/>
          </p:cNvPicPr>
          <p:nvPr/>
        </p:nvPicPr>
        <p:blipFill>
          <a:blip r:embed="rId3"/>
          <a:stretch>
            <a:fillRect/>
          </a:stretch>
        </p:blipFill>
        <p:spPr>
          <a:xfrm>
            <a:off x="495046" y="816414"/>
            <a:ext cx="8391128" cy="3799597"/>
          </a:xfrm>
          <a:prstGeom prst="rect">
            <a:avLst/>
          </a:prstGeom>
        </p:spPr>
      </p:pic>
      <p:sp>
        <p:nvSpPr>
          <p:cNvPr id="6" name="Rectangle: Single Corner Rounded 5">
            <a:extLst>
              <a:ext uri="{FF2B5EF4-FFF2-40B4-BE49-F238E27FC236}">
                <a16:creationId xmlns:a16="http://schemas.microsoft.com/office/drawing/2014/main" id="{4EA7EC3F-7B6D-B426-F004-C4063FC6AE37}"/>
              </a:ext>
            </a:extLst>
          </p:cNvPr>
          <p:cNvSpPr/>
          <p:nvPr/>
        </p:nvSpPr>
        <p:spPr>
          <a:xfrm>
            <a:off x="396905" y="747423"/>
            <a:ext cx="8611923" cy="4193120"/>
          </a:xfrm>
          <a:prstGeom prst="round1Rect">
            <a:avLst/>
          </a:prstGeom>
          <a:noFill/>
          <a:ln w="12700">
            <a:solidFill>
              <a:srgbClr val="1E293B"/>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150"/>
          </a:p>
        </p:txBody>
      </p:sp>
    </p:spTree>
    <p:extLst>
      <p:ext uri="{BB962C8B-B14F-4D97-AF65-F5344CB8AC3E}">
        <p14:creationId xmlns:p14="http://schemas.microsoft.com/office/powerpoint/2010/main" val="901906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07">
          <a:extLst>
            <a:ext uri="{FF2B5EF4-FFF2-40B4-BE49-F238E27FC236}">
              <a16:creationId xmlns:a16="http://schemas.microsoft.com/office/drawing/2014/main" id="{E1316C51-4ACC-A6B9-2424-98254A405074}"/>
            </a:ext>
          </a:extLst>
        </p:cNvPr>
        <p:cNvGrpSpPr/>
        <p:nvPr/>
      </p:nvGrpSpPr>
      <p:grpSpPr>
        <a:xfrm>
          <a:off x="0" y="0"/>
          <a:ext cx="0" cy="0"/>
          <a:chOff x="0" y="0"/>
          <a:chExt cx="0" cy="0"/>
        </a:xfrm>
      </p:grpSpPr>
      <p:sp>
        <p:nvSpPr>
          <p:cNvPr id="408" name="Google Shape;408;p26">
            <a:extLst>
              <a:ext uri="{FF2B5EF4-FFF2-40B4-BE49-F238E27FC236}">
                <a16:creationId xmlns:a16="http://schemas.microsoft.com/office/drawing/2014/main" id="{5C2B812E-6CE9-09EB-EE34-115AF6AE24E7}"/>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09" name="Google Shape;409;p26">
            <a:extLst>
              <a:ext uri="{FF2B5EF4-FFF2-40B4-BE49-F238E27FC236}">
                <a16:creationId xmlns:a16="http://schemas.microsoft.com/office/drawing/2014/main" id="{3150D6DB-B110-F364-D3B2-DAF67E832A1C}"/>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dirty="0"/>
          </a:p>
        </p:txBody>
      </p:sp>
      <p:sp>
        <p:nvSpPr>
          <p:cNvPr id="410" name="Google Shape;410;p26">
            <a:extLst>
              <a:ext uri="{FF2B5EF4-FFF2-40B4-BE49-F238E27FC236}">
                <a16:creationId xmlns:a16="http://schemas.microsoft.com/office/drawing/2014/main" id="{5125F7CF-9D43-85B9-0C19-9E59C759E3B8}"/>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АРХИТЕКТУРА</a:t>
            </a:r>
            <a:endParaRPr sz="1100" b="0" i="0" u="none" strike="noStrike" cap="none" dirty="0">
              <a:solidFill>
                <a:schemeClr val="dk1"/>
              </a:solidFill>
              <a:latin typeface="Calibri"/>
              <a:ea typeface="Calibri"/>
              <a:cs typeface="Calibri"/>
              <a:sym typeface="Calibri"/>
            </a:endParaRPr>
          </a:p>
        </p:txBody>
      </p:sp>
      <p:sp>
        <p:nvSpPr>
          <p:cNvPr id="415" name="Google Shape;415;p26">
            <a:extLst>
              <a:ext uri="{FF2B5EF4-FFF2-40B4-BE49-F238E27FC236}">
                <a16:creationId xmlns:a16="http://schemas.microsoft.com/office/drawing/2014/main" id="{76081E16-2B66-F4FC-CAC6-76FE44D5332F}"/>
              </a:ext>
            </a:extLst>
          </p:cNvPr>
          <p:cNvSpPr/>
          <p:nvPr/>
        </p:nvSpPr>
        <p:spPr>
          <a:xfrm>
            <a:off x="685799" y="123444"/>
            <a:ext cx="589788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300" b="1" i="0" u="none" strike="noStrike" cap="none" dirty="0">
                <a:solidFill>
                  <a:srgbClr val="1E293B"/>
                </a:solidFill>
                <a:latin typeface="Cambria"/>
                <a:ea typeface="Cambria"/>
                <a:cs typeface="Cambria"/>
                <a:sym typeface="Cambria"/>
              </a:rPr>
              <a:t>Сървърна микроархитектура</a:t>
            </a:r>
            <a:endParaRPr sz="2300" b="0" i="0" u="none" strike="noStrike" cap="none" dirty="0">
              <a:solidFill>
                <a:schemeClr val="dk1"/>
              </a:solidFill>
              <a:latin typeface="Calibri"/>
              <a:ea typeface="Calibri"/>
              <a:cs typeface="Calibri"/>
              <a:sym typeface="Calibri"/>
            </a:endParaRPr>
          </a:p>
        </p:txBody>
      </p:sp>
      <p:pic>
        <p:nvPicPr>
          <p:cNvPr id="2" name="Image 0" descr="/mnt/data/docx_media/image11.png">
            <a:extLst>
              <a:ext uri="{FF2B5EF4-FFF2-40B4-BE49-F238E27FC236}">
                <a16:creationId xmlns:a16="http://schemas.microsoft.com/office/drawing/2014/main" id="{F6F464A4-5AA4-2421-AEF7-6E675BD3A334}"/>
              </a:ext>
            </a:extLst>
          </p:cNvPr>
          <p:cNvPicPr>
            <a:picLocks noChangeAspect="1"/>
          </p:cNvPicPr>
          <p:nvPr/>
        </p:nvPicPr>
        <p:blipFill>
          <a:blip r:embed="rId3"/>
          <a:stretch>
            <a:fillRect/>
          </a:stretch>
        </p:blipFill>
        <p:spPr>
          <a:xfrm>
            <a:off x="685799" y="739674"/>
            <a:ext cx="4179963" cy="4130496"/>
          </a:xfrm>
          <a:prstGeom prst="rect">
            <a:avLst/>
          </a:prstGeom>
        </p:spPr>
      </p:pic>
      <p:sp>
        <p:nvSpPr>
          <p:cNvPr id="3" name="Rectangle 2">
            <a:extLst>
              <a:ext uri="{FF2B5EF4-FFF2-40B4-BE49-F238E27FC236}">
                <a16:creationId xmlns:a16="http://schemas.microsoft.com/office/drawing/2014/main" id="{34CDDAF0-F048-BC4E-0B95-6B4DBDE13951}"/>
              </a:ext>
            </a:extLst>
          </p:cNvPr>
          <p:cNvSpPr/>
          <p:nvPr/>
        </p:nvSpPr>
        <p:spPr>
          <a:xfrm>
            <a:off x="685799" y="679938"/>
            <a:ext cx="4179963" cy="4249968"/>
          </a:xfrm>
          <a:prstGeom prst="rect">
            <a:avLst/>
          </a:prstGeom>
          <a:noFill/>
          <a:ln w="12700">
            <a:solidFill>
              <a:srgbClr val="1E293B"/>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150"/>
          </a:p>
        </p:txBody>
      </p:sp>
      <p:sp>
        <p:nvSpPr>
          <p:cNvPr id="4" name="Shape 3">
            <a:extLst>
              <a:ext uri="{FF2B5EF4-FFF2-40B4-BE49-F238E27FC236}">
                <a16:creationId xmlns:a16="http://schemas.microsoft.com/office/drawing/2014/main" id="{670303D0-2978-F1B8-6E79-04DD05C83213}"/>
              </a:ext>
            </a:extLst>
          </p:cNvPr>
          <p:cNvSpPr/>
          <p:nvPr/>
        </p:nvSpPr>
        <p:spPr>
          <a:xfrm>
            <a:off x="5100762" y="739674"/>
            <a:ext cx="3701332" cy="1206012"/>
          </a:xfrm>
          <a:prstGeom prst="roundRect">
            <a:avLst>
              <a:gd name="adj" fmla="val 7500"/>
            </a:avLst>
          </a:prstGeom>
          <a:solidFill>
            <a:srgbClr val="FFFFFF"/>
          </a:solidFill>
          <a:ln w="12700">
            <a:solidFill>
              <a:srgbClr val="E4D4D8">
                <a:alpha val="80000"/>
              </a:srgbClr>
            </a:solidFill>
            <a:prstDash val="solid"/>
          </a:ln>
        </p:spPr>
        <p:txBody>
          <a:bodyPr/>
          <a:lstStyle/>
          <a:p>
            <a:endParaRPr lang="en-150"/>
          </a:p>
        </p:txBody>
      </p:sp>
      <p:sp>
        <p:nvSpPr>
          <p:cNvPr id="5" name="Text 4">
            <a:extLst>
              <a:ext uri="{FF2B5EF4-FFF2-40B4-BE49-F238E27FC236}">
                <a16:creationId xmlns:a16="http://schemas.microsoft.com/office/drawing/2014/main" id="{1D0FA910-7DE0-A837-E324-43095BA2E738}"/>
              </a:ext>
            </a:extLst>
          </p:cNvPr>
          <p:cNvSpPr/>
          <p:nvPr/>
        </p:nvSpPr>
        <p:spPr>
          <a:xfrm>
            <a:off x="5333330" y="891385"/>
            <a:ext cx="3313903" cy="351754"/>
          </a:xfrm>
          <a:prstGeom prst="rect">
            <a:avLst/>
          </a:prstGeom>
          <a:noFill/>
          <a:ln/>
        </p:spPr>
        <p:txBody>
          <a:bodyPr wrap="square" lIns="0" tIns="0" rIns="0" bIns="0" rtlCol="0" anchor="ctr"/>
          <a:lstStyle/>
          <a:p>
            <a:pPr marL="0" indent="0">
              <a:buNone/>
            </a:pPr>
            <a:r>
              <a:rPr lang="en-US" sz="1500" b="1" dirty="0">
                <a:solidFill>
                  <a:srgbClr val="142033"/>
                </a:solidFill>
              </a:rPr>
              <a:t>Package by Feature</a:t>
            </a:r>
            <a:endParaRPr lang="en-US" sz="1500" dirty="0"/>
          </a:p>
        </p:txBody>
      </p:sp>
      <p:sp>
        <p:nvSpPr>
          <p:cNvPr id="6" name="Text 5">
            <a:extLst>
              <a:ext uri="{FF2B5EF4-FFF2-40B4-BE49-F238E27FC236}">
                <a16:creationId xmlns:a16="http://schemas.microsoft.com/office/drawing/2014/main" id="{7685BB40-F636-E4A1-D4E3-C4D7A87F8D82}"/>
              </a:ext>
            </a:extLst>
          </p:cNvPr>
          <p:cNvSpPr/>
          <p:nvPr/>
        </p:nvSpPr>
        <p:spPr>
          <a:xfrm>
            <a:off x="5333329" y="1179380"/>
            <a:ext cx="3450865" cy="537955"/>
          </a:xfrm>
          <a:prstGeom prst="rect">
            <a:avLst/>
          </a:prstGeom>
          <a:noFill/>
          <a:ln/>
        </p:spPr>
        <p:txBody>
          <a:bodyPr wrap="square" lIns="381" tIns="381" rIns="381" bIns="381" rtlCol="0" anchor="ctr">
            <a:noAutofit/>
          </a:bodyPr>
          <a:lstStyle/>
          <a:p>
            <a:pPr marL="0" indent="0">
              <a:buNone/>
            </a:pPr>
            <a:r>
              <a:rPr lang="en-US" dirty="0">
                <a:solidFill>
                  <a:srgbClr val="66728A"/>
                </a:solidFill>
                <a:latin typeface="Calibri" panose="020F0502020204030204" pitchFamily="34" charset="0"/>
                <a:ea typeface="Calibri" panose="020F0502020204030204" pitchFamily="34" charset="0"/>
                <a:cs typeface="Calibri" panose="020F0502020204030204" pitchFamily="34" charset="0"/>
              </a:rPr>
              <a:t>Кодът е организиран по функционални домейни, а не само по технически слоеве.</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7" name="Shape 6">
            <a:extLst>
              <a:ext uri="{FF2B5EF4-FFF2-40B4-BE49-F238E27FC236}">
                <a16:creationId xmlns:a16="http://schemas.microsoft.com/office/drawing/2014/main" id="{8CCD81D0-2D86-8448-E4C8-3A4B67294AE0}"/>
              </a:ext>
            </a:extLst>
          </p:cNvPr>
          <p:cNvSpPr/>
          <p:nvPr/>
        </p:nvSpPr>
        <p:spPr>
          <a:xfrm>
            <a:off x="5100762" y="2111274"/>
            <a:ext cx="3701332" cy="1206012"/>
          </a:xfrm>
          <a:prstGeom prst="roundRect">
            <a:avLst>
              <a:gd name="adj" fmla="val 7500"/>
            </a:avLst>
          </a:prstGeom>
          <a:solidFill>
            <a:srgbClr val="FFFFFF"/>
          </a:solidFill>
          <a:ln w="12700">
            <a:solidFill>
              <a:srgbClr val="E4D4D8">
                <a:alpha val="80000"/>
              </a:srgbClr>
            </a:solidFill>
            <a:prstDash val="solid"/>
          </a:ln>
        </p:spPr>
        <p:txBody>
          <a:bodyPr/>
          <a:lstStyle/>
          <a:p>
            <a:endParaRPr lang="en-150"/>
          </a:p>
        </p:txBody>
      </p:sp>
      <p:sp>
        <p:nvSpPr>
          <p:cNvPr id="8" name="Text 7">
            <a:extLst>
              <a:ext uri="{FF2B5EF4-FFF2-40B4-BE49-F238E27FC236}">
                <a16:creationId xmlns:a16="http://schemas.microsoft.com/office/drawing/2014/main" id="{311DF31F-B8A8-69E6-193B-E7A95AC48B8D}"/>
              </a:ext>
            </a:extLst>
          </p:cNvPr>
          <p:cNvSpPr/>
          <p:nvPr/>
        </p:nvSpPr>
        <p:spPr>
          <a:xfrm>
            <a:off x="5333329" y="2240766"/>
            <a:ext cx="3313903" cy="351754"/>
          </a:xfrm>
          <a:prstGeom prst="rect">
            <a:avLst/>
          </a:prstGeom>
          <a:noFill/>
          <a:ln/>
        </p:spPr>
        <p:txBody>
          <a:bodyPr wrap="square" lIns="0" tIns="0" rIns="0" bIns="0" rtlCol="0" anchor="ctr"/>
          <a:lstStyle/>
          <a:p>
            <a:pPr marL="0" indent="0">
              <a:buNone/>
            </a:pPr>
            <a:r>
              <a:rPr lang="en-US" sz="1500" b="1" dirty="0">
                <a:solidFill>
                  <a:srgbClr val="142033"/>
                </a:solidFill>
              </a:rPr>
              <a:t>22 домейн модула</a:t>
            </a:r>
            <a:endParaRPr lang="en-US" sz="1500" dirty="0"/>
          </a:p>
        </p:txBody>
      </p:sp>
      <p:sp>
        <p:nvSpPr>
          <p:cNvPr id="9" name="Text 8">
            <a:extLst>
              <a:ext uri="{FF2B5EF4-FFF2-40B4-BE49-F238E27FC236}">
                <a16:creationId xmlns:a16="http://schemas.microsoft.com/office/drawing/2014/main" id="{10BBF159-C855-9797-9C5E-F13FB1A2A34B}"/>
              </a:ext>
            </a:extLst>
          </p:cNvPr>
          <p:cNvSpPr/>
          <p:nvPr/>
        </p:nvSpPr>
        <p:spPr>
          <a:xfrm>
            <a:off x="5333329" y="2569061"/>
            <a:ext cx="3450865" cy="537955"/>
          </a:xfrm>
          <a:prstGeom prst="rect">
            <a:avLst/>
          </a:prstGeom>
          <a:noFill/>
          <a:ln/>
        </p:spPr>
        <p:txBody>
          <a:bodyPr wrap="square" lIns="381" tIns="381" rIns="381" bIns="381" rtlCol="0" anchor="ctr">
            <a:noAutofit/>
          </a:bodyPr>
          <a:lstStyle/>
          <a:p>
            <a:pPr marL="0" indent="0">
              <a:buNone/>
            </a:pPr>
            <a:r>
              <a:rPr lang="en-US" dirty="0">
                <a:solidFill>
                  <a:srgbClr val="66728A"/>
                </a:solidFill>
                <a:latin typeface="Calibri" panose="020F0502020204030204" pitchFamily="34" charset="0"/>
                <a:ea typeface="Calibri" panose="020F0502020204030204" pitchFamily="34" charset="0"/>
                <a:cs typeface="Calibri" panose="020F0502020204030204" pitchFamily="34" charset="0"/>
              </a:rPr>
              <a:t>auth, posting, offer, conversation, message, notification, review, flag, profile, statistics и др.</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0" name="Shape 9">
            <a:extLst>
              <a:ext uri="{FF2B5EF4-FFF2-40B4-BE49-F238E27FC236}">
                <a16:creationId xmlns:a16="http://schemas.microsoft.com/office/drawing/2014/main" id="{C49D2317-D062-0A5D-5A44-ED700D2469C0}"/>
              </a:ext>
            </a:extLst>
          </p:cNvPr>
          <p:cNvSpPr/>
          <p:nvPr/>
        </p:nvSpPr>
        <p:spPr>
          <a:xfrm>
            <a:off x="5100762" y="3482874"/>
            <a:ext cx="3701332" cy="1206012"/>
          </a:xfrm>
          <a:prstGeom prst="roundRect">
            <a:avLst>
              <a:gd name="adj" fmla="val 7500"/>
            </a:avLst>
          </a:prstGeom>
          <a:solidFill>
            <a:srgbClr val="FFFFFF"/>
          </a:solidFill>
          <a:ln w="12700">
            <a:solidFill>
              <a:srgbClr val="E4D4D8">
                <a:alpha val="80000"/>
              </a:srgbClr>
            </a:solidFill>
            <a:prstDash val="solid"/>
          </a:ln>
        </p:spPr>
        <p:txBody>
          <a:bodyPr/>
          <a:lstStyle/>
          <a:p>
            <a:endParaRPr lang="en-150"/>
          </a:p>
        </p:txBody>
      </p:sp>
      <p:sp>
        <p:nvSpPr>
          <p:cNvPr id="11" name="Text 10">
            <a:extLst>
              <a:ext uri="{FF2B5EF4-FFF2-40B4-BE49-F238E27FC236}">
                <a16:creationId xmlns:a16="http://schemas.microsoft.com/office/drawing/2014/main" id="{075FAAB6-5053-082E-3894-87E4A00E011D}"/>
              </a:ext>
            </a:extLst>
          </p:cNvPr>
          <p:cNvSpPr/>
          <p:nvPr/>
        </p:nvSpPr>
        <p:spPr>
          <a:xfrm>
            <a:off x="5333329" y="3612366"/>
            <a:ext cx="3313903" cy="351754"/>
          </a:xfrm>
          <a:prstGeom prst="rect">
            <a:avLst/>
          </a:prstGeom>
          <a:noFill/>
          <a:ln/>
        </p:spPr>
        <p:txBody>
          <a:bodyPr wrap="square" lIns="0" tIns="0" rIns="0" bIns="0" rtlCol="0" anchor="ctr"/>
          <a:lstStyle/>
          <a:p>
            <a:pPr marL="0" indent="0">
              <a:buNone/>
            </a:pPr>
            <a:r>
              <a:rPr lang="en-US" sz="1500" b="1" dirty="0">
                <a:solidFill>
                  <a:srgbClr val="142033"/>
                </a:solidFill>
              </a:rPr>
              <a:t>Entity </a:t>
            </a:r>
            <a:r>
              <a:rPr lang="bg-BG" sz="1500" b="1" dirty="0">
                <a:solidFill>
                  <a:srgbClr val="142033"/>
                </a:solidFill>
              </a:rPr>
              <a:t>-</a:t>
            </a:r>
            <a:r>
              <a:rPr lang="en-US" sz="1500" b="1" dirty="0">
                <a:solidFill>
                  <a:srgbClr val="142033"/>
                </a:solidFill>
              </a:rPr>
              <a:t> DTO разделение</a:t>
            </a:r>
            <a:endParaRPr lang="en-US" sz="1500" dirty="0"/>
          </a:p>
        </p:txBody>
      </p:sp>
      <p:sp>
        <p:nvSpPr>
          <p:cNvPr id="12" name="Text 11">
            <a:extLst>
              <a:ext uri="{FF2B5EF4-FFF2-40B4-BE49-F238E27FC236}">
                <a16:creationId xmlns:a16="http://schemas.microsoft.com/office/drawing/2014/main" id="{4185B9E1-C3C9-3DD2-9F81-1E1BA85C721A}"/>
              </a:ext>
            </a:extLst>
          </p:cNvPr>
          <p:cNvSpPr/>
          <p:nvPr/>
        </p:nvSpPr>
        <p:spPr>
          <a:xfrm>
            <a:off x="5351229" y="3960539"/>
            <a:ext cx="3450865" cy="537955"/>
          </a:xfrm>
          <a:prstGeom prst="rect">
            <a:avLst/>
          </a:prstGeom>
          <a:noFill/>
          <a:ln/>
        </p:spPr>
        <p:txBody>
          <a:bodyPr wrap="square" lIns="381" tIns="381" rIns="381" bIns="381" rtlCol="0" anchor="ctr">
            <a:noAutofit/>
          </a:bodyPr>
          <a:lstStyle/>
          <a:p>
            <a:pPr marL="0" indent="0">
              <a:buNone/>
            </a:pPr>
            <a:r>
              <a:rPr lang="en-US" dirty="0">
                <a:solidFill>
                  <a:srgbClr val="66728A"/>
                </a:solidFill>
                <a:latin typeface="Calibri" panose="020F0502020204030204" pitchFamily="34" charset="0"/>
                <a:ea typeface="Calibri" panose="020F0502020204030204" pitchFamily="34" charset="0"/>
                <a:cs typeface="Calibri" panose="020F0502020204030204" pitchFamily="34" charset="0"/>
              </a:rPr>
              <a:t>Чувствителните данни не се излагат директно към клиентската част.</a:t>
            </a: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734014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62"/>
        <p:cNvGrpSpPr/>
        <p:nvPr/>
      </p:nvGrpSpPr>
      <p:grpSpPr>
        <a:xfrm>
          <a:off x="0" y="0"/>
          <a:ext cx="0" cy="0"/>
          <a:chOff x="0" y="0"/>
          <a:chExt cx="0" cy="0"/>
        </a:xfrm>
      </p:grpSpPr>
      <p:sp>
        <p:nvSpPr>
          <p:cNvPr id="463" name="Google Shape;463;p28"/>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64" name="Google Shape;464;p28"/>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65" name="Google Shape;465;p28"/>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БАЗА ДАННИ</a:t>
            </a:r>
            <a:endParaRPr sz="1100" b="0" i="0" u="none" strike="noStrike" cap="none" dirty="0">
              <a:solidFill>
                <a:schemeClr val="dk1"/>
              </a:solidFill>
              <a:latin typeface="Calibri"/>
              <a:ea typeface="Calibri"/>
              <a:cs typeface="Calibri"/>
              <a:sym typeface="Calibri"/>
            </a:endParaRPr>
          </a:p>
        </p:txBody>
      </p:sp>
      <p:sp>
        <p:nvSpPr>
          <p:cNvPr id="470" name="Google Shape;470;p28"/>
          <p:cNvSpPr/>
          <p:nvPr/>
        </p:nvSpPr>
        <p:spPr>
          <a:xfrm>
            <a:off x="685800" y="128314"/>
            <a:ext cx="589788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300" b="1" i="0" u="none" strike="noStrike" cap="none" dirty="0">
                <a:solidFill>
                  <a:srgbClr val="1E293B"/>
                </a:solidFill>
                <a:latin typeface="Cambria"/>
                <a:ea typeface="Cambria"/>
                <a:cs typeface="Cambria"/>
                <a:sym typeface="Cambria"/>
              </a:rPr>
              <a:t>Обща диаграма на базата данни</a:t>
            </a:r>
            <a:endParaRPr sz="2300" b="0" i="0" u="none" strike="noStrike" cap="none" dirty="0">
              <a:solidFill>
                <a:schemeClr val="dk1"/>
              </a:solidFill>
              <a:latin typeface="Calibri"/>
              <a:ea typeface="Calibri"/>
              <a:cs typeface="Calibri"/>
              <a:sym typeface="Calibri"/>
            </a:endParaRPr>
          </a:p>
        </p:txBody>
      </p:sp>
      <p:pic>
        <p:nvPicPr>
          <p:cNvPr id="3" name="Picture 2" descr="A diagram of a computer program&#10;&#10;AI-generated content may be incorrect.">
            <a:extLst>
              <a:ext uri="{FF2B5EF4-FFF2-40B4-BE49-F238E27FC236}">
                <a16:creationId xmlns:a16="http://schemas.microsoft.com/office/drawing/2014/main" id="{FC97BD28-BFEB-5B57-F33C-2F5B2D25D173}"/>
              </a:ext>
            </a:extLst>
          </p:cNvPr>
          <p:cNvPicPr>
            <a:picLocks noChangeAspect="1"/>
          </p:cNvPicPr>
          <p:nvPr/>
        </p:nvPicPr>
        <p:blipFill>
          <a:blip r:embed="rId3"/>
          <a:stretch>
            <a:fillRect/>
          </a:stretch>
        </p:blipFill>
        <p:spPr>
          <a:xfrm>
            <a:off x="586657" y="618112"/>
            <a:ext cx="8284027" cy="4196202"/>
          </a:xfrm>
          <a:prstGeom prst="rect">
            <a:avLst/>
          </a:prstGeom>
        </p:spPr>
      </p:pic>
      <p:sp>
        <p:nvSpPr>
          <p:cNvPr id="4" name="Rectangle 3">
            <a:extLst>
              <a:ext uri="{FF2B5EF4-FFF2-40B4-BE49-F238E27FC236}">
                <a16:creationId xmlns:a16="http://schemas.microsoft.com/office/drawing/2014/main" id="{927C2E6C-545B-B8C8-BCD5-174DEC4BB2F8}"/>
              </a:ext>
            </a:extLst>
          </p:cNvPr>
          <p:cNvSpPr/>
          <p:nvPr/>
        </p:nvSpPr>
        <p:spPr>
          <a:xfrm>
            <a:off x="500932" y="569412"/>
            <a:ext cx="8491993" cy="4336542"/>
          </a:xfrm>
          <a:prstGeom prst="rect">
            <a:avLst/>
          </a:prstGeom>
          <a:noFill/>
          <a:ln w="12700">
            <a:solidFill>
              <a:srgbClr val="1E293B"/>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15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62">
          <a:extLst>
            <a:ext uri="{FF2B5EF4-FFF2-40B4-BE49-F238E27FC236}">
              <a16:creationId xmlns:a16="http://schemas.microsoft.com/office/drawing/2014/main" id="{074C6F44-00DE-3DA5-578B-56613FF5B7DC}"/>
            </a:ext>
          </a:extLst>
        </p:cNvPr>
        <p:cNvGrpSpPr/>
        <p:nvPr/>
      </p:nvGrpSpPr>
      <p:grpSpPr>
        <a:xfrm>
          <a:off x="0" y="0"/>
          <a:ext cx="0" cy="0"/>
          <a:chOff x="0" y="0"/>
          <a:chExt cx="0" cy="0"/>
        </a:xfrm>
      </p:grpSpPr>
      <p:sp>
        <p:nvSpPr>
          <p:cNvPr id="463" name="Google Shape;463;p28">
            <a:extLst>
              <a:ext uri="{FF2B5EF4-FFF2-40B4-BE49-F238E27FC236}">
                <a16:creationId xmlns:a16="http://schemas.microsoft.com/office/drawing/2014/main" id="{FEC9E940-1C2B-26A5-E5F3-26BB7885729E}"/>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64" name="Google Shape;464;p28">
            <a:extLst>
              <a:ext uri="{FF2B5EF4-FFF2-40B4-BE49-F238E27FC236}">
                <a16:creationId xmlns:a16="http://schemas.microsoft.com/office/drawing/2014/main" id="{FC78DE3C-D142-BD86-7659-C4A9F72BD70B}"/>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65" name="Google Shape;465;p28">
            <a:extLst>
              <a:ext uri="{FF2B5EF4-FFF2-40B4-BE49-F238E27FC236}">
                <a16:creationId xmlns:a16="http://schemas.microsoft.com/office/drawing/2014/main" id="{EBC7B991-B97D-1B32-FB38-687204A9E851}"/>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БАЗА ДАННИ</a:t>
            </a:r>
            <a:endParaRPr sz="1100" b="0" i="0" u="none" strike="noStrike" cap="none" dirty="0">
              <a:solidFill>
                <a:schemeClr val="dk1"/>
              </a:solidFill>
              <a:latin typeface="Calibri"/>
              <a:ea typeface="Calibri"/>
              <a:cs typeface="Calibri"/>
              <a:sym typeface="Calibri"/>
            </a:endParaRPr>
          </a:p>
        </p:txBody>
      </p:sp>
      <p:sp>
        <p:nvSpPr>
          <p:cNvPr id="470" name="Google Shape;470;p28">
            <a:extLst>
              <a:ext uri="{FF2B5EF4-FFF2-40B4-BE49-F238E27FC236}">
                <a16:creationId xmlns:a16="http://schemas.microsoft.com/office/drawing/2014/main" id="{01A06774-5789-7BDE-C051-C48470E58ECA}"/>
              </a:ext>
            </a:extLst>
          </p:cNvPr>
          <p:cNvSpPr/>
          <p:nvPr/>
        </p:nvSpPr>
        <p:spPr>
          <a:xfrm>
            <a:off x="685800" y="128314"/>
            <a:ext cx="589788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BG" sz="2300" b="1" dirty="0">
                <a:solidFill>
                  <a:srgbClr val="1E293B"/>
                </a:solidFill>
                <a:latin typeface="Cambria"/>
                <a:ea typeface="Cambria"/>
                <a:cs typeface="Calibri"/>
                <a:sym typeface="Cambria"/>
              </a:rPr>
              <a:t>Основни таблици в базата данни</a:t>
            </a:r>
            <a:endParaRPr sz="2300" b="0" i="0" u="none" strike="noStrike" cap="none" dirty="0">
              <a:solidFill>
                <a:schemeClr val="dk1"/>
              </a:solidFill>
              <a:latin typeface="Calibri"/>
              <a:ea typeface="Calibri"/>
              <a:cs typeface="Calibri"/>
              <a:sym typeface="Calibri"/>
            </a:endParaRPr>
          </a:p>
        </p:txBody>
      </p:sp>
      <p:pic>
        <p:nvPicPr>
          <p:cNvPr id="3" name="Picture 2" descr="A diagram of a computer&#10;&#10;AI-generated content may be incorrect.">
            <a:extLst>
              <a:ext uri="{FF2B5EF4-FFF2-40B4-BE49-F238E27FC236}">
                <a16:creationId xmlns:a16="http://schemas.microsoft.com/office/drawing/2014/main" id="{0EEECA82-9D93-F867-9EC5-21301276B868}"/>
              </a:ext>
            </a:extLst>
          </p:cNvPr>
          <p:cNvPicPr>
            <a:picLocks noChangeAspect="1"/>
          </p:cNvPicPr>
          <p:nvPr/>
        </p:nvPicPr>
        <p:blipFill>
          <a:blip r:embed="rId3"/>
          <a:stretch>
            <a:fillRect/>
          </a:stretch>
        </p:blipFill>
        <p:spPr>
          <a:xfrm>
            <a:off x="1370149" y="698840"/>
            <a:ext cx="5897880" cy="4194428"/>
          </a:xfrm>
          <a:prstGeom prst="rect">
            <a:avLst/>
          </a:prstGeom>
        </p:spPr>
      </p:pic>
      <p:sp>
        <p:nvSpPr>
          <p:cNvPr id="5" name="Rectangle 4">
            <a:extLst>
              <a:ext uri="{FF2B5EF4-FFF2-40B4-BE49-F238E27FC236}">
                <a16:creationId xmlns:a16="http://schemas.microsoft.com/office/drawing/2014/main" id="{943E202C-F526-0038-C2C4-370F3DACCD53}"/>
              </a:ext>
            </a:extLst>
          </p:cNvPr>
          <p:cNvSpPr/>
          <p:nvPr/>
        </p:nvSpPr>
        <p:spPr>
          <a:xfrm>
            <a:off x="1370149" y="627783"/>
            <a:ext cx="6008662" cy="4336542"/>
          </a:xfrm>
          <a:prstGeom prst="rect">
            <a:avLst/>
          </a:prstGeom>
          <a:noFill/>
          <a:ln w="12700">
            <a:solidFill>
              <a:srgbClr val="1E293B"/>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150"/>
          </a:p>
        </p:txBody>
      </p:sp>
    </p:spTree>
    <p:extLst>
      <p:ext uri="{BB962C8B-B14F-4D97-AF65-F5344CB8AC3E}">
        <p14:creationId xmlns:p14="http://schemas.microsoft.com/office/powerpoint/2010/main" val="9255699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68"/>
        <p:cNvGrpSpPr/>
        <p:nvPr/>
      </p:nvGrpSpPr>
      <p:grpSpPr>
        <a:xfrm>
          <a:off x="0" y="0"/>
          <a:ext cx="0" cy="0"/>
          <a:chOff x="0" y="0"/>
          <a:chExt cx="0" cy="0"/>
        </a:xfrm>
      </p:grpSpPr>
      <p:sp>
        <p:nvSpPr>
          <p:cNvPr id="569" name="Google Shape;569;p32"/>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70" name="Google Shape;570;p32"/>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71" name="Google Shape;571;p32"/>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СИГУРНОСТ</a:t>
            </a:r>
            <a:endParaRPr sz="1100" b="0" i="0" u="none" strike="noStrike" cap="none" dirty="0">
              <a:solidFill>
                <a:schemeClr val="dk1"/>
              </a:solidFill>
              <a:latin typeface="Calibri"/>
              <a:ea typeface="Calibri"/>
              <a:cs typeface="Calibri"/>
              <a:sym typeface="Calibri"/>
            </a:endParaRPr>
          </a:p>
        </p:txBody>
      </p:sp>
      <p:sp>
        <p:nvSpPr>
          <p:cNvPr id="576" name="Google Shape;576;p32"/>
          <p:cNvSpPr/>
          <p:nvPr/>
        </p:nvSpPr>
        <p:spPr>
          <a:xfrm>
            <a:off x="685800" y="253746"/>
            <a:ext cx="589788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300" b="1" i="0" u="none" strike="noStrike" cap="none" dirty="0">
                <a:solidFill>
                  <a:srgbClr val="1E293B"/>
                </a:solidFill>
                <a:latin typeface="Cambria"/>
                <a:ea typeface="Cambria"/>
                <a:cs typeface="Cambria"/>
                <a:sym typeface="Cambria"/>
              </a:rPr>
              <a:t>Сигурност и защита на системата</a:t>
            </a:r>
            <a:endParaRPr sz="2300" b="0" i="0" u="none" strike="noStrike" cap="none" dirty="0">
              <a:solidFill>
                <a:schemeClr val="dk1"/>
              </a:solidFill>
              <a:latin typeface="Calibri"/>
              <a:ea typeface="Calibri"/>
              <a:cs typeface="Calibri"/>
              <a:sym typeface="Calibri"/>
            </a:endParaRPr>
          </a:p>
        </p:txBody>
      </p:sp>
      <p:sp>
        <p:nvSpPr>
          <p:cNvPr id="578" name="Google Shape;578;p32"/>
          <p:cNvSpPr/>
          <p:nvPr/>
        </p:nvSpPr>
        <p:spPr>
          <a:xfrm>
            <a:off x="685800" y="1053148"/>
            <a:ext cx="1883036" cy="3326130"/>
          </a:xfrm>
          <a:prstGeom prst="roundRect">
            <a:avLst>
              <a:gd name="adj" fmla="val 5099"/>
            </a:avLst>
          </a:prstGeom>
          <a:solidFill>
            <a:srgbClr val="1E293B"/>
          </a:solidFill>
          <a:ln>
            <a:noFill/>
          </a:ln>
          <a:effectLst>
            <a:outerShdw blurRad="177800" dist="50800" dir="54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79" name="Google Shape;579;p32"/>
          <p:cNvSpPr/>
          <p:nvPr/>
        </p:nvSpPr>
        <p:spPr>
          <a:xfrm>
            <a:off x="877824" y="1245172"/>
            <a:ext cx="342900" cy="342900"/>
          </a:xfrm>
          <a:prstGeom prst="ellipse">
            <a:avLst/>
          </a:prstGeom>
          <a:solidFill>
            <a:srgbClr val="27344A"/>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580" name="Google Shape;580;p32" descr="/home/claude/talentflow-template/icons/key-white.png"/>
          <p:cNvPicPr preferRelativeResize="0"/>
          <p:nvPr/>
        </p:nvPicPr>
        <p:blipFill rotWithShape="1">
          <a:blip r:embed="rId3">
            <a:alphaModFix/>
          </a:blip>
          <a:srcRect/>
          <a:stretch/>
        </p:blipFill>
        <p:spPr>
          <a:xfrm>
            <a:off x="953262" y="1320610"/>
            <a:ext cx="192024" cy="192024"/>
          </a:xfrm>
          <a:prstGeom prst="rect">
            <a:avLst/>
          </a:prstGeom>
          <a:noFill/>
          <a:ln>
            <a:noFill/>
          </a:ln>
        </p:spPr>
      </p:pic>
      <p:sp>
        <p:nvSpPr>
          <p:cNvPr id="581" name="Google Shape;581;p32"/>
          <p:cNvSpPr/>
          <p:nvPr/>
        </p:nvSpPr>
        <p:spPr>
          <a:xfrm>
            <a:off x="877824" y="1670368"/>
            <a:ext cx="1498987" cy="27432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FFFFFF"/>
              </a:buClr>
              <a:buSzPts val="1100"/>
              <a:buFont typeface="Cambria"/>
              <a:buNone/>
            </a:pPr>
            <a:r>
              <a:rPr lang="bg" sz="1100" b="1" i="0" u="none" strike="noStrike" cap="none">
                <a:solidFill>
                  <a:srgbClr val="FFFFFF"/>
                </a:solidFill>
                <a:latin typeface="Cambria"/>
                <a:ea typeface="Cambria"/>
                <a:cs typeface="Cambria"/>
                <a:sym typeface="Cambria"/>
              </a:rPr>
              <a:t>Автентикация</a:t>
            </a:r>
            <a:endParaRPr sz="1100" b="0" i="0" u="none" strike="noStrike" cap="none">
              <a:solidFill>
                <a:schemeClr val="dk1"/>
              </a:solidFill>
              <a:latin typeface="Calibri"/>
              <a:ea typeface="Calibri"/>
              <a:cs typeface="Calibri"/>
              <a:sym typeface="Calibri"/>
            </a:endParaRPr>
          </a:p>
        </p:txBody>
      </p:sp>
      <p:sp>
        <p:nvSpPr>
          <p:cNvPr id="582" name="Google Shape;582;p32"/>
          <p:cNvSpPr/>
          <p:nvPr/>
        </p:nvSpPr>
        <p:spPr>
          <a:xfrm>
            <a:off x="877824" y="1958404"/>
            <a:ext cx="1498987" cy="2228850"/>
          </a:xfrm>
          <a:prstGeom prst="rect">
            <a:avLst/>
          </a:prstGeom>
          <a:noFill/>
          <a:ln>
            <a:noFill/>
          </a:ln>
        </p:spPr>
        <p:txBody>
          <a:bodyPr spcFirstLastPara="1" wrap="square" lIns="0" tIns="0" rIns="0" bIns="0" anchor="t" anchorCtr="0">
            <a:noAutofit/>
          </a:bodyPr>
          <a:lstStyle/>
          <a:p>
            <a:pPr marL="171450" marR="0" lvl="0" indent="-171450" algn="l" rtl="0">
              <a:lnSpc>
                <a:spcPct val="120000"/>
              </a:lnSpc>
              <a:spcBef>
                <a:spcPts val="0"/>
              </a:spcBef>
              <a:spcAft>
                <a:spcPts val="0"/>
              </a:spcAft>
              <a:buClr>
                <a:srgbClr val="CBD5E1"/>
              </a:buClr>
              <a:buSzPts val="800"/>
              <a:buFont typeface="Arial" panose="020B0604020202020204" pitchFamily="34" charset="0"/>
              <a:buChar char="•"/>
            </a:pPr>
            <a:r>
              <a:rPr lang="ru-RU" sz="1200" b="0" i="0" u="none" strike="noStrike" cap="none" dirty="0">
                <a:solidFill>
                  <a:srgbClr val="CBD5E1"/>
                </a:solidFill>
                <a:latin typeface="Calibri"/>
                <a:ea typeface="Calibri"/>
                <a:cs typeface="Calibri"/>
                <a:sym typeface="Calibri"/>
              </a:rPr>
              <a:t>JWT токени с алгоритъм HS512</a:t>
            </a:r>
          </a:p>
          <a:p>
            <a:pPr marL="171450" marR="0" lvl="0" indent="-171450" algn="l" rtl="0">
              <a:lnSpc>
                <a:spcPct val="120000"/>
              </a:lnSpc>
              <a:spcBef>
                <a:spcPts val="0"/>
              </a:spcBef>
              <a:spcAft>
                <a:spcPts val="0"/>
              </a:spcAft>
              <a:buClr>
                <a:srgbClr val="CBD5E1"/>
              </a:buClr>
              <a:buSzPts val="800"/>
              <a:buFont typeface="Arial" panose="020B0604020202020204" pitchFamily="34" charset="0"/>
              <a:buChar char="•"/>
            </a:pPr>
            <a:r>
              <a:rPr lang="ru-RU" sz="1200" b="0" i="0" u="none" strike="noStrike" cap="none" dirty="0">
                <a:solidFill>
                  <a:srgbClr val="CBD5E1"/>
                </a:solidFill>
                <a:latin typeface="Calibri"/>
                <a:ea typeface="Calibri"/>
                <a:cs typeface="Calibri"/>
                <a:sym typeface="Calibri"/>
              </a:rPr>
              <a:t>Двуфакторно удостоверяване чрез 6-цифрен код</a:t>
            </a:r>
          </a:p>
          <a:p>
            <a:pPr marL="171450" marR="0" lvl="0" indent="-171450" algn="l" rtl="0">
              <a:lnSpc>
                <a:spcPct val="120000"/>
              </a:lnSpc>
              <a:spcBef>
                <a:spcPts val="0"/>
              </a:spcBef>
              <a:spcAft>
                <a:spcPts val="0"/>
              </a:spcAft>
              <a:buClr>
                <a:srgbClr val="CBD5E1"/>
              </a:buClr>
              <a:buSzPts val="800"/>
              <a:buFont typeface="Arial" panose="020B0604020202020204" pitchFamily="34" charset="0"/>
              <a:buChar char="•"/>
            </a:pPr>
            <a:r>
              <a:rPr lang="ru-RU" sz="1200" b="0" i="0" u="none" strike="noStrike" cap="none" dirty="0">
                <a:solidFill>
                  <a:srgbClr val="CBD5E1"/>
                </a:solidFill>
                <a:latin typeface="Calibri"/>
                <a:ea typeface="Calibri"/>
                <a:cs typeface="Calibri"/>
                <a:sym typeface="Calibri"/>
              </a:rPr>
              <a:t>Потвърждение на електронна поща</a:t>
            </a:r>
          </a:p>
          <a:p>
            <a:pPr marL="171450" marR="0" lvl="0" indent="-171450" algn="l" rtl="0">
              <a:lnSpc>
                <a:spcPct val="120000"/>
              </a:lnSpc>
              <a:spcBef>
                <a:spcPts val="0"/>
              </a:spcBef>
              <a:spcAft>
                <a:spcPts val="0"/>
              </a:spcAft>
              <a:buClr>
                <a:srgbClr val="CBD5E1"/>
              </a:buClr>
              <a:buSzPts val="800"/>
              <a:buFont typeface="Arial" panose="020B0604020202020204" pitchFamily="34" charset="0"/>
              <a:buChar char="•"/>
            </a:pPr>
            <a:r>
              <a:rPr lang="ru-RU" sz="1200" b="0" i="0" u="none" strike="noStrike" cap="none" dirty="0">
                <a:solidFill>
                  <a:srgbClr val="CBD5E1"/>
                </a:solidFill>
                <a:latin typeface="Calibri"/>
                <a:ea typeface="Calibri"/>
                <a:cs typeface="Calibri"/>
                <a:sym typeface="Calibri"/>
              </a:rPr>
              <a:t>Управление на доверени устройства</a:t>
            </a:r>
            <a:endParaRPr sz="1200" b="0" i="0" u="none" strike="noStrike" cap="none" dirty="0">
              <a:solidFill>
                <a:schemeClr val="dk1"/>
              </a:solidFill>
              <a:latin typeface="Calibri"/>
              <a:ea typeface="Calibri"/>
              <a:cs typeface="Calibri"/>
              <a:sym typeface="Calibri"/>
            </a:endParaRPr>
          </a:p>
        </p:txBody>
      </p:sp>
      <p:sp>
        <p:nvSpPr>
          <p:cNvPr id="583" name="Google Shape;583;p32"/>
          <p:cNvSpPr/>
          <p:nvPr/>
        </p:nvSpPr>
        <p:spPr>
          <a:xfrm>
            <a:off x="2774575" y="1053148"/>
            <a:ext cx="1883036" cy="3326130"/>
          </a:xfrm>
          <a:prstGeom prst="roundRect">
            <a:avLst>
              <a:gd name="adj" fmla="val 5099"/>
            </a:avLst>
          </a:prstGeom>
          <a:solidFill>
            <a:srgbClr val="FFFFFF"/>
          </a:solidFill>
          <a:ln w="12700" cap="flat" cmpd="sng">
            <a:solidFill>
              <a:srgbClr val="E7DCDC"/>
            </a:solidFill>
            <a:prstDash val="solid"/>
            <a:round/>
            <a:headEnd type="none" w="sm" len="sm"/>
            <a:tailEnd type="none" w="sm" len="sm"/>
          </a:ln>
          <a:effectLst>
            <a:outerShdw blurRad="177800" dist="50800" dir="5400000" algn="bl" rotWithShape="0">
              <a:srgbClr val="1E293B">
                <a:alpha val="7843"/>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84" name="Google Shape;584;p32"/>
          <p:cNvSpPr/>
          <p:nvPr/>
        </p:nvSpPr>
        <p:spPr>
          <a:xfrm>
            <a:off x="2966600" y="1245172"/>
            <a:ext cx="342900" cy="342900"/>
          </a:xfrm>
          <a:prstGeom prst="ellipse">
            <a:avLst/>
          </a:prstGeom>
          <a:solidFill>
            <a:srgbClr val="F3DADA"/>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585" name="Google Shape;585;p32" descr="/home/claude/talentflow-template/icons/usershield-primary.png"/>
          <p:cNvPicPr preferRelativeResize="0"/>
          <p:nvPr/>
        </p:nvPicPr>
        <p:blipFill rotWithShape="1">
          <a:blip r:embed="rId4">
            <a:alphaModFix/>
          </a:blip>
          <a:srcRect/>
          <a:stretch/>
        </p:blipFill>
        <p:spPr>
          <a:xfrm>
            <a:off x="3042038" y="1320610"/>
            <a:ext cx="192024" cy="192024"/>
          </a:xfrm>
          <a:prstGeom prst="rect">
            <a:avLst/>
          </a:prstGeom>
          <a:noFill/>
          <a:ln>
            <a:noFill/>
          </a:ln>
        </p:spPr>
      </p:pic>
      <p:sp>
        <p:nvSpPr>
          <p:cNvPr id="586" name="Google Shape;586;p32"/>
          <p:cNvSpPr/>
          <p:nvPr/>
        </p:nvSpPr>
        <p:spPr>
          <a:xfrm>
            <a:off x="2966600" y="1670368"/>
            <a:ext cx="1498988" cy="27432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1E293B"/>
              </a:buClr>
              <a:buSzPts val="1100"/>
              <a:buFont typeface="Cambria"/>
              <a:buNone/>
            </a:pPr>
            <a:r>
              <a:rPr lang="bg" sz="1100" b="1" i="0" u="none" strike="noStrike" cap="none">
                <a:solidFill>
                  <a:srgbClr val="1E293B"/>
                </a:solidFill>
                <a:latin typeface="Cambria"/>
                <a:ea typeface="Cambria"/>
                <a:cs typeface="Cambria"/>
                <a:sym typeface="Cambria"/>
              </a:rPr>
              <a:t>Авторизация</a:t>
            </a:r>
            <a:endParaRPr sz="1100" b="0" i="0" u="none" strike="noStrike" cap="none">
              <a:solidFill>
                <a:schemeClr val="dk1"/>
              </a:solidFill>
              <a:latin typeface="Calibri"/>
              <a:ea typeface="Calibri"/>
              <a:cs typeface="Calibri"/>
              <a:sym typeface="Calibri"/>
            </a:endParaRPr>
          </a:p>
        </p:txBody>
      </p:sp>
      <p:sp>
        <p:nvSpPr>
          <p:cNvPr id="588" name="Google Shape;588;p32"/>
          <p:cNvSpPr/>
          <p:nvPr/>
        </p:nvSpPr>
        <p:spPr>
          <a:xfrm>
            <a:off x="4863351" y="1053148"/>
            <a:ext cx="1883036" cy="3326130"/>
          </a:xfrm>
          <a:prstGeom prst="roundRect">
            <a:avLst>
              <a:gd name="adj" fmla="val 5099"/>
            </a:avLst>
          </a:prstGeom>
          <a:solidFill>
            <a:srgbClr val="FDF7F7"/>
          </a:solidFill>
          <a:ln>
            <a:noFill/>
          </a:ln>
          <a:effectLst>
            <a:outerShdw blurRad="177800" dist="50800" dir="5400000" algn="bl" rotWithShape="0">
              <a:srgbClr val="1E293B">
                <a:alpha val="7843"/>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89" name="Google Shape;589;p32"/>
          <p:cNvSpPr/>
          <p:nvPr/>
        </p:nvSpPr>
        <p:spPr>
          <a:xfrm>
            <a:off x="5055375" y="1245172"/>
            <a:ext cx="342900" cy="342900"/>
          </a:xfrm>
          <a:prstGeom prst="ellipse">
            <a:avLst/>
          </a:prstGeom>
          <a:solidFill>
            <a:srgbClr val="F3DADA"/>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590" name="Google Shape;590;p32" descr="/home/claude/talentflow-template/icons/lock-primary.png"/>
          <p:cNvPicPr preferRelativeResize="0"/>
          <p:nvPr/>
        </p:nvPicPr>
        <p:blipFill rotWithShape="1">
          <a:blip r:embed="rId5">
            <a:alphaModFix/>
          </a:blip>
          <a:srcRect/>
          <a:stretch/>
        </p:blipFill>
        <p:spPr>
          <a:xfrm>
            <a:off x="5130813" y="1320610"/>
            <a:ext cx="192024" cy="192024"/>
          </a:xfrm>
          <a:prstGeom prst="rect">
            <a:avLst/>
          </a:prstGeom>
          <a:noFill/>
          <a:ln>
            <a:noFill/>
          </a:ln>
        </p:spPr>
      </p:pic>
      <p:sp>
        <p:nvSpPr>
          <p:cNvPr id="591" name="Google Shape;591;p32"/>
          <p:cNvSpPr/>
          <p:nvPr/>
        </p:nvSpPr>
        <p:spPr>
          <a:xfrm>
            <a:off x="5055375" y="1670368"/>
            <a:ext cx="1498988" cy="27432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1E293B"/>
              </a:buClr>
              <a:buSzPts val="1100"/>
              <a:buFont typeface="Cambria"/>
              <a:buNone/>
            </a:pPr>
            <a:r>
              <a:rPr lang="bg" sz="1100" b="1" i="0" u="none" strike="noStrike" cap="none">
                <a:solidFill>
                  <a:srgbClr val="1E293B"/>
                </a:solidFill>
                <a:latin typeface="Cambria"/>
                <a:ea typeface="Cambria"/>
                <a:cs typeface="Cambria"/>
                <a:sym typeface="Cambria"/>
              </a:rPr>
              <a:t>Защита на данни</a:t>
            </a:r>
            <a:endParaRPr sz="1100" b="0" i="0" u="none" strike="noStrike" cap="none">
              <a:solidFill>
                <a:schemeClr val="dk1"/>
              </a:solidFill>
              <a:latin typeface="Calibri"/>
              <a:ea typeface="Calibri"/>
              <a:cs typeface="Calibri"/>
              <a:sym typeface="Calibri"/>
            </a:endParaRPr>
          </a:p>
        </p:txBody>
      </p:sp>
      <p:sp>
        <p:nvSpPr>
          <p:cNvPr id="592" name="Google Shape;592;p32"/>
          <p:cNvSpPr/>
          <p:nvPr/>
        </p:nvSpPr>
        <p:spPr>
          <a:xfrm>
            <a:off x="5055374" y="1958404"/>
            <a:ext cx="1585455" cy="2228850"/>
          </a:xfrm>
          <a:prstGeom prst="rect">
            <a:avLst/>
          </a:prstGeom>
          <a:noFill/>
          <a:ln>
            <a:noFill/>
          </a:ln>
        </p:spPr>
        <p:txBody>
          <a:bodyPr spcFirstLastPara="1" wrap="square" lIns="0" tIns="0" rIns="0" bIns="0" anchor="t" anchorCtr="0">
            <a:noAutofit/>
          </a:bodyPr>
          <a:lstStyle/>
          <a:p>
            <a:pPr marL="171450" marR="0" lvl="0" indent="-171450" algn="l" rtl="0">
              <a:lnSpc>
                <a:spcPct val="120000"/>
              </a:lnSpc>
              <a:spcBef>
                <a:spcPts val="0"/>
              </a:spcBef>
              <a:spcAft>
                <a:spcPts val="0"/>
              </a:spcAft>
              <a:buClr>
                <a:srgbClr val="475569"/>
              </a:buClr>
              <a:buSzPts val="800"/>
              <a:buFont typeface="Arial" panose="020B0604020202020204" pitchFamily="34" charset="0"/>
              <a:buChar char="•"/>
            </a:pPr>
            <a:r>
              <a:rPr lang="ru-RU" sz="1200" b="0" i="0" u="none" strike="noStrike" cap="none" dirty="0">
                <a:solidFill>
                  <a:srgbClr val="475569"/>
                </a:solidFill>
                <a:latin typeface="Calibri"/>
                <a:ea typeface="Calibri"/>
                <a:cs typeface="Calibri"/>
                <a:sym typeface="Calibri"/>
              </a:rPr>
              <a:t>BCrypt хеширане на пароли</a:t>
            </a:r>
          </a:p>
          <a:p>
            <a:pPr marL="171450" marR="0" lvl="0" indent="-171450" algn="l" rtl="0">
              <a:lnSpc>
                <a:spcPct val="120000"/>
              </a:lnSpc>
              <a:spcBef>
                <a:spcPts val="0"/>
              </a:spcBef>
              <a:spcAft>
                <a:spcPts val="0"/>
              </a:spcAft>
              <a:buClr>
                <a:srgbClr val="475569"/>
              </a:buClr>
              <a:buSzPts val="800"/>
              <a:buFont typeface="Arial" panose="020B0604020202020204" pitchFamily="34" charset="0"/>
              <a:buChar char="•"/>
            </a:pPr>
            <a:r>
              <a:rPr lang="ru-RU" sz="1200" b="0" i="0" u="none" strike="noStrike" cap="none" dirty="0">
                <a:solidFill>
                  <a:srgbClr val="475569"/>
                </a:solidFill>
                <a:latin typeface="Calibri"/>
                <a:ea typeface="Calibri"/>
                <a:cs typeface="Calibri"/>
                <a:sym typeface="Calibri"/>
              </a:rPr>
              <a:t>Криптографско подписване на токени</a:t>
            </a:r>
          </a:p>
          <a:p>
            <a:pPr marL="171450" marR="0" lvl="0" indent="-171450" algn="l" rtl="0">
              <a:lnSpc>
                <a:spcPct val="120000"/>
              </a:lnSpc>
              <a:spcBef>
                <a:spcPts val="0"/>
              </a:spcBef>
              <a:spcAft>
                <a:spcPts val="0"/>
              </a:spcAft>
              <a:buClr>
                <a:srgbClr val="475569"/>
              </a:buClr>
              <a:buSzPts val="800"/>
              <a:buFont typeface="Arial" panose="020B0604020202020204" pitchFamily="34" charset="0"/>
              <a:buChar char="•"/>
            </a:pPr>
            <a:r>
              <a:rPr lang="ru-RU" sz="1200" b="0" i="0" u="none" strike="noStrike" cap="none" dirty="0">
                <a:solidFill>
                  <a:srgbClr val="475569"/>
                </a:solidFill>
                <a:latin typeface="Calibri"/>
                <a:ea typeface="Calibri"/>
                <a:cs typeface="Calibri"/>
                <a:sym typeface="Calibri"/>
              </a:rPr>
              <a:t>CORS и CSP политики за сигурност</a:t>
            </a:r>
          </a:p>
          <a:p>
            <a:pPr marL="171450" marR="0" lvl="0" indent="-171450" algn="l" rtl="0">
              <a:lnSpc>
                <a:spcPct val="120000"/>
              </a:lnSpc>
              <a:spcBef>
                <a:spcPts val="0"/>
              </a:spcBef>
              <a:spcAft>
                <a:spcPts val="0"/>
              </a:spcAft>
              <a:buClr>
                <a:srgbClr val="475569"/>
              </a:buClr>
              <a:buSzPts val="800"/>
              <a:buFont typeface="Arial" panose="020B0604020202020204" pitchFamily="34" charset="0"/>
              <a:buChar char="•"/>
            </a:pPr>
            <a:r>
              <a:rPr lang="ru-RU" sz="1200" b="0" i="0" u="none" strike="noStrike" cap="none" dirty="0">
                <a:solidFill>
                  <a:srgbClr val="475569"/>
                </a:solidFill>
                <a:latin typeface="Calibri"/>
                <a:ea typeface="Calibri"/>
                <a:cs typeface="Calibri"/>
                <a:sym typeface="Calibri"/>
              </a:rPr>
              <a:t>Каскадно „меко“ изтриване на акаунти</a:t>
            </a:r>
            <a:endParaRPr sz="1200" b="0" i="0" u="none" strike="noStrike" cap="none" dirty="0">
              <a:solidFill>
                <a:schemeClr val="dk1"/>
              </a:solidFill>
              <a:latin typeface="Calibri"/>
              <a:ea typeface="Calibri"/>
              <a:cs typeface="Calibri"/>
              <a:sym typeface="Calibri"/>
            </a:endParaRPr>
          </a:p>
        </p:txBody>
      </p:sp>
      <p:sp>
        <p:nvSpPr>
          <p:cNvPr id="593" name="Google Shape;593;p32"/>
          <p:cNvSpPr/>
          <p:nvPr/>
        </p:nvSpPr>
        <p:spPr>
          <a:xfrm>
            <a:off x="6952126" y="1053148"/>
            <a:ext cx="1883035" cy="3326130"/>
          </a:xfrm>
          <a:prstGeom prst="roundRect">
            <a:avLst>
              <a:gd name="adj" fmla="val 5099"/>
            </a:avLst>
          </a:prstGeom>
          <a:solidFill>
            <a:srgbClr val="FFFFFF"/>
          </a:solidFill>
          <a:ln w="12700" cap="flat" cmpd="sng">
            <a:solidFill>
              <a:srgbClr val="E7DCDC"/>
            </a:solidFill>
            <a:prstDash val="solid"/>
            <a:round/>
            <a:headEnd type="none" w="sm" len="sm"/>
            <a:tailEnd type="none" w="sm" len="sm"/>
          </a:ln>
          <a:effectLst>
            <a:outerShdw blurRad="177800" dist="50800" dir="5400000" algn="bl" rotWithShape="0">
              <a:srgbClr val="1E293B">
                <a:alpha val="7843"/>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94" name="Google Shape;594;p32"/>
          <p:cNvSpPr/>
          <p:nvPr/>
        </p:nvSpPr>
        <p:spPr>
          <a:xfrm>
            <a:off x="7144150" y="1245172"/>
            <a:ext cx="342900" cy="342900"/>
          </a:xfrm>
          <a:prstGeom prst="ellipse">
            <a:avLst/>
          </a:prstGeom>
          <a:solidFill>
            <a:srgbClr val="F3DADA"/>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595" name="Google Shape;595;p32" descr="/home/claude/talentflow-template/icons/shield-primary.png"/>
          <p:cNvPicPr preferRelativeResize="0"/>
          <p:nvPr/>
        </p:nvPicPr>
        <p:blipFill rotWithShape="1">
          <a:blip r:embed="rId6">
            <a:alphaModFix/>
          </a:blip>
          <a:srcRect/>
          <a:stretch/>
        </p:blipFill>
        <p:spPr>
          <a:xfrm>
            <a:off x="7219588" y="1320610"/>
            <a:ext cx="192024" cy="192024"/>
          </a:xfrm>
          <a:prstGeom prst="rect">
            <a:avLst/>
          </a:prstGeom>
          <a:noFill/>
          <a:ln>
            <a:noFill/>
          </a:ln>
        </p:spPr>
      </p:pic>
      <p:sp>
        <p:nvSpPr>
          <p:cNvPr id="596" name="Google Shape;596;p32"/>
          <p:cNvSpPr/>
          <p:nvPr/>
        </p:nvSpPr>
        <p:spPr>
          <a:xfrm>
            <a:off x="7144150" y="1670368"/>
            <a:ext cx="1498988" cy="274320"/>
          </a:xfrm>
          <a:prstGeom prst="rect">
            <a:avLst/>
          </a:prstGeom>
          <a:noFill/>
          <a:ln>
            <a:noFill/>
          </a:ln>
        </p:spPr>
        <p:txBody>
          <a:bodyPr spcFirstLastPara="1" wrap="square" lIns="0" tIns="0" rIns="0" bIns="0" anchor="ctr" anchorCtr="0">
            <a:noAutofit/>
          </a:bodyPr>
          <a:lstStyle/>
          <a:p>
            <a:pPr marL="0" marR="0" lvl="0" indent="0" algn="l" rtl="0">
              <a:lnSpc>
                <a:spcPct val="105000"/>
              </a:lnSpc>
              <a:spcBef>
                <a:spcPts val="0"/>
              </a:spcBef>
              <a:spcAft>
                <a:spcPts val="0"/>
              </a:spcAft>
              <a:buClr>
                <a:srgbClr val="1E293B"/>
              </a:buClr>
              <a:buSzPts val="1100"/>
              <a:buFont typeface="Cambria"/>
              <a:buNone/>
            </a:pPr>
            <a:r>
              <a:rPr lang="bg" sz="1100" b="1" i="0" u="none" strike="noStrike" cap="none">
                <a:solidFill>
                  <a:srgbClr val="1E293B"/>
                </a:solidFill>
                <a:latin typeface="Cambria"/>
                <a:ea typeface="Cambria"/>
                <a:cs typeface="Cambria"/>
                <a:sym typeface="Cambria"/>
              </a:rPr>
              <a:t>Валидация на входа</a:t>
            </a:r>
            <a:endParaRPr sz="1100" b="0" i="0" u="none" strike="noStrike" cap="none">
              <a:solidFill>
                <a:schemeClr val="dk1"/>
              </a:solidFill>
              <a:latin typeface="Calibri"/>
              <a:ea typeface="Calibri"/>
              <a:cs typeface="Calibri"/>
              <a:sym typeface="Calibri"/>
            </a:endParaRPr>
          </a:p>
        </p:txBody>
      </p:sp>
      <p:sp>
        <p:nvSpPr>
          <p:cNvPr id="597" name="Google Shape;597;p32"/>
          <p:cNvSpPr/>
          <p:nvPr/>
        </p:nvSpPr>
        <p:spPr>
          <a:xfrm>
            <a:off x="7144150" y="1958404"/>
            <a:ext cx="1595990" cy="2378964"/>
          </a:xfrm>
          <a:prstGeom prst="rect">
            <a:avLst/>
          </a:prstGeom>
          <a:noFill/>
          <a:ln>
            <a:noFill/>
          </a:ln>
        </p:spPr>
        <p:txBody>
          <a:bodyPr spcFirstLastPara="1" wrap="square" lIns="0" tIns="0" rIns="0" bIns="0" anchor="t" anchorCtr="0">
            <a:noAutofit/>
          </a:bodyPr>
          <a:lstStyle/>
          <a:p>
            <a:pPr marL="171450" marR="0" lvl="0" indent="-171450" algn="l" rtl="0">
              <a:lnSpc>
                <a:spcPct val="120000"/>
              </a:lnSpc>
              <a:spcBef>
                <a:spcPts val="0"/>
              </a:spcBef>
              <a:spcAft>
                <a:spcPts val="0"/>
              </a:spcAft>
              <a:buClr>
                <a:srgbClr val="475569"/>
              </a:buClr>
              <a:buSzPts val="800"/>
              <a:buFont typeface="Arial" panose="020B0604020202020204" pitchFamily="34" charset="0"/>
              <a:buChar char="•"/>
            </a:pPr>
            <a:r>
              <a:rPr lang="ru-RU" sz="1200" b="0" i="0" u="none" strike="noStrike" cap="none" dirty="0">
                <a:solidFill>
                  <a:srgbClr val="475569"/>
                </a:solidFill>
                <a:latin typeface="Calibri"/>
                <a:ea typeface="Calibri"/>
                <a:cs typeface="Calibri"/>
                <a:sym typeface="Calibri"/>
              </a:rPr>
              <a:t>Клиентска и сървърна валидация</a:t>
            </a:r>
          </a:p>
          <a:p>
            <a:pPr marL="171450" marR="0" lvl="0" indent="-171450" algn="l" rtl="0">
              <a:lnSpc>
                <a:spcPct val="120000"/>
              </a:lnSpc>
              <a:spcBef>
                <a:spcPts val="0"/>
              </a:spcBef>
              <a:spcAft>
                <a:spcPts val="0"/>
              </a:spcAft>
              <a:buClr>
                <a:srgbClr val="475569"/>
              </a:buClr>
              <a:buSzPts val="800"/>
              <a:buFont typeface="Arial" panose="020B0604020202020204" pitchFamily="34" charset="0"/>
              <a:buChar char="•"/>
            </a:pPr>
            <a:r>
              <a:rPr lang="ru-RU" sz="1200" b="0" i="0" u="none" strike="noStrike" cap="none" dirty="0">
                <a:solidFill>
                  <a:srgbClr val="475569"/>
                </a:solidFill>
                <a:latin typeface="Calibri"/>
                <a:ea typeface="Calibri"/>
                <a:cs typeface="Calibri"/>
                <a:sym typeface="Calibri"/>
              </a:rPr>
              <a:t>Проверка на пароли и телефонни номера</a:t>
            </a:r>
          </a:p>
          <a:p>
            <a:pPr marL="171450" marR="0" lvl="0" indent="-171450" algn="l" rtl="0">
              <a:lnSpc>
                <a:spcPct val="120000"/>
              </a:lnSpc>
              <a:spcBef>
                <a:spcPts val="0"/>
              </a:spcBef>
              <a:spcAft>
                <a:spcPts val="0"/>
              </a:spcAft>
              <a:buClr>
                <a:srgbClr val="475569"/>
              </a:buClr>
              <a:buSzPts val="800"/>
              <a:buFont typeface="Arial" panose="020B0604020202020204" pitchFamily="34" charset="0"/>
              <a:buChar char="•"/>
            </a:pPr>
            <a:r>
              <a:rPr lang="ru-RU" sz="1200" b="0" i="0" u="none" strike="noStrike" cap="none" dirty="0">
                <a:solidFill>
                  <a:srgbClr val="475569"/>
                </a:solidFill>
                <a:latin typeface="Calibri"/>
                <a:ea typeface="Calibri"/>
                <a:cs typeface="Calibri"/>
                <a:sym typeface="Calibri"/>
              </a:rPr>
              <a:t>Проверка за дублирани данни</a:t>
            </a:r>
          </a:p>
          <a:p>
            <a:pPr marL="171450" marR="0" lvl="0" indent="-171450" algn="l" rtl="0">
              <a:lnSpc>
                <a:spcPct val="120000"/>
              </a:lnSpc>
              <a:spcBef>
                <a:spcPts val="0"/>
              </a:spcBef>
              <a:spcAft>
                <a:spcPts val="0"/>
              </a:spcAft>
              <a:buClr>
                <a:srgbClr val="475569"/>
              </a:buClr>
              <a:buSzPts val="800"/>
              <a:buFont typeface="Arial" panose="020B0604020202020204" pitchFamily="34" charset="0"/>
              <a:buChar char="•"/>
            </a:pPr>
            <a:r>
              <a:rPr lang="ru-RU" sz="1200" b="0" i="0" u="none" strike="noStrike" cap="none" dirty="0">
                <a:solidFill>
                  <a:srgbClr val="475569"/>
                </a:solidFill>
                <a:latin typeface="Calibri"/>
                <a:ea typeface="Calibri"/>
                <a:cs typeface="Calibri"/>
                <a:sym typeface="Calibri"/>
              </a:rPr>
              <a:t>Стандартизирани отговори при грешка</a:t>
            </a:r>
            <a:endParaRPr sz="1200" b="0" i="0" u="none" strike="noStrike" cap="none" dirty="0">
              <a:solidFill>
                <a:schemeClr val="dk1"/>
              </a:solidFill>
              <a:latin typeface="Calibri"/>
              <a:ea typeface="Calibri"/>
              <a:cs typeface="Calibri"/>
              <a:sym typeface="Calibri"/>
            </a:endParaRPr>
          </a:p>
        </p:txBody>
      </p:sp>
      <p:sp>
        <p:nvSpPr>
          <p:cNvPr id="3" name="Google Shape;582;p32">
            <a:extLst>
              <a:ext uri="{FF2B5EF4-FFF2-40B4-BE49-F238E27FC236}">
                <a16:creationId xmlns:a16="http://schemas.microsoft.com/office/drawing/2014/main" id="{D43D4F78-BD4F-135A-58D9-28BFDF75882D}"/>
              </a:ext>
            </a:extLst>
          </p:cNvPr>
          <p:cNvSpPr/>
          <p:nvPr/>
        </p:nvSpPr>
        <p:spPr>
          <a:xfrm>
            <a:off x="2911736" y="1958404"/>
            <a:ext cx="1498987" cy="2228850"/>
          </a:xfrm>
          <a:prstGeom prst="rect">
            <a:avLst/>
          </a:prstGeom>
          <a:noFill/>
          <a:ln>
            <a:noFill/>
          </a:ln>
        </p:spPr>
        <p:txBody>
          <a:bodyPr spcFirstLastPara="1" wrap="square" lIns="0" tIns="0" rIns="0" bIns="0" anchor="t" anchorCtr="0">
            <a:noAutofit/>
          </a:bodyPr>
          <a:lstStyle/>
          <a:p>
            <a:pPr marL="171450" marR="0" lvl="0" indent="-171450" algn="l" rtl="0">
              <a:lnSpc>
                <a:spcPct val="120000"/>
              </a:lnSpc>
              <a:spcBef>
                <a:spcPts val="0"/>
              </a:spcBef>
              <a:spcAft>
                <a:spcPts val="0"/>
              </a:spcAft>
              <a:buClr>
                <a:srgbClr val="CBD5E1"/>
              </a:buClr>
              <a:buSzPts val="800"/>
              <a:buFont typeface="Arial" panose="020B0604020202020204" pitchFamily="34" charset="0"/>
              <a:buChar char="•"/>
            </a:pPr>
            <a:r>
              <a:rPr lang="ru-RU" sz="1200" b="0" i="0" u="none" strike="noStrike" cap="none" dirty="0">
                <a:solidFill>
                  <a:schemeClr val="dk1"/>
                </a:solidFill>
                <a:latin typeface="Calibri"/>
                <a:ea typeface="Calibri"/>
                <a:cs typeface="Calibri"/>
                <a:sym typeface="Calibri"/>
              </a:rPr>
              <a:t>Ролево базиран контрол на достъпа</a:t>
            </a:r>
          </a:p>
          <a:p>
            <a:pPr marL="171450" marR="0" lvl="0" indent="-171450" algn="l" rtl="0">
              <a:lnSpc>
                <a:spcPct val="120000"/>
              </a:lnSpc>
              <a:spcBef>
                <a:spcPts val="0"/>
              </a:spcBef>
              <a:spcAft>
                <a:spcPts val="0"/>
              </a:spcAft>
              <a:buClr>
                <a:srgbClr val="CBD5E1"/>
              </a:buClr>
              <a:buSzPts val="800"/>
              <a:buFont typeface="Arial" panose="020B0604020202020204" pitchFamily="34" charset="0"/>
              <a:buChar char="•"/>
            </a:pPr>
            <a:r>
              <a:rPr lang="ru-RU" sz="1200" dirty="0">
                <a:solidFill>
                  <a:schemeClr val="dk1"/>
                </a:solidFill>
                <a:latin typeface="Calibri"/>
                <a:ea typeface="Calibri"/>
                <a:cs typeface="Calibri"/>
                <a:sym typeface="Calibri"/>
              </a:rPr>
              <a:t>Защитени </a:t>
            </a:r>
            <a:r>
              <a:rPr lang="ru-RU" sz="1200" b="0" i="0" u="none" strike="noStrike" cap="none" dirty="0">
                <a:solidFill>
                  <a:schemeClr val="dk1"/>
                </a:solidFill>
                <a:latin typeface="Calibri"/>
                <a:ea typeface="Calibri"/>
                <a:cs typeface="Calibri"/>
                <a:sym typeface="Calibri"/>
              </a:rPr>
              <a:t>маршрути и крайни точки</a:t>
            </a:r>
          </a:p>
          <a:p>
            <a:pPr marL="171450" marR="0" lvl="0" indent="-171450" algn="l" rtl="0">
              <a:lnSpc>
                <a:spcPct val="120000"/>
              </a:lnSpc>
              <a:spcBef>
                <a:spcPts val="0"/>
              </a:spcBef>
              <a:spcAft>
                <a:spcPts val="0"/>
              </a:spcAft>
              <a:buClr>
                <a:srgbClr val="CBD5E1"/>
              </a:buClr>
              <a:buSzPts val="800"/>
              <a:buFont typeface="Arial" panose="020B0604020202020204" pitchFamily="34" charset="0"/>
              <a:buChar char="•"/>
            </a:pPr>
            <a:r>
              <a:rPr lang="ru-RU" sz="1200" b="0" i="0" u="none" strike="noStrike" cap="none" dirty="0">
                <a:solidFill>
                  <a:schemeClr val="dk1"/>
                </a:solidFill>
                <a:latin typeface="Calibri"/>
                <a:ea typeface="Calibri"/>
                <a:cs typeface="Calibri"/>
                <a:sym typeface="Calibri"/>
              </a:rPr>
              <a:t>Ограничен административен достъп</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15"/>
        <p:cNvGrpSpPr/>
        <p:nvPr/>
      </p:nvGrpSpPr>
      <p:grpSpPr>
        <a:xfrm>
          <a:off x="0" y="0"/>
          <a:ext cx="0" cy="0"/>
          <a:chOff x="0" y="0"/>
          <a:chExt cx="0" cy="0"/>
        </a:xfrm>
      </p:grpSpPr>
      <p:pic>
        <p:nvPicPr>
          <p:cNvPr id="7" name="Picture 6" descr="A black screen with white ovals&#10;&#10;AI-generated content may be incorrect.">
            <a:extLst>
              <a:ext uri="{FF2B5EF4-FFF2-40B4-BE49-F238E27FC236}">
                <a16:creationId xmlns:a16="http://schemas.microsoft.com/office/drawing/2014/main" id="{7AA1A97C-8EC9-17AA-47F7-EE2139FAEBD0}"/>
              </a:ext>
            </a:extLst>
          </p:cNvPr>
          <p:cNvPicPr>
            <a:picLocks noChangeAspect="1"/>
          </p:cNvPicPr>
          <p:nvPr/>
        </p:nvPicPr>
        <p:blipFill>
          <a:blip r:embed="rId3"/>
          <a:stretch>
            <a:fillRect/>
          </a:stretch>
        </p:blipFill>
        <p:spPr>
          <a:xfrm>
            <a:off x="771524" y="602261"/>
            <a:ext cx="5784847" cy="4261304"/>
          </a:xfrm>
          <a:prstGeom prst="rect">
            <a:avLst/>
          </a:prstGeom>
        </p:spPr>
      </p:pic>
      <p:sp>
        <p:nvSpPr>
          <p:cNvPr id="516" name="Google Shape;516;p30"/>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17" name="Google Shape;517;p30"/>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18" name="Google Shape;518;p30"/>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 UML ДИАГРАМА</a:t>
            </a:r>
            <a:endParaRPr sz="1100" b="0" i="0" u="none" strike="noStrike" cap="none" dirty="0">
              <a:solidFill>
                <a:schemeClr val="dk1"/>
              </a:solidFill>
              <a:latin typeface="Calibri"/>
              <a:ea typeface="Calibri"/>
              <a:cs typeface="Calibri"/>
              <a:sym typeface="Calibri"/>
            </a:endParaRPr>
          </a:p>
        </p:txBody>
      </p:sp>
      <p:sp>
        <p:nvSpPr>
          <p:cNvPr id="523" name="Google Shape;523;p30"/>
          <p:cNvSpPr/>
          <p:nvPr/>
        </p:nvSpPr>
        <p:spPr>
          <a:xfrm>
            <a:off x="685799" y="123444"/>
            <a:ext cx="7263384"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300" b="1" dirty="0">
                <a:solidFill>
                  <a:srgbClr val="1E293B"/>
                </a:solidFill>
                <a:latin typeface="Cambria"/>
                <a:ea typeface="Cambria"/>
                <a:cs typeface="Cambria"/>
                <a:sym typeface="Cambria"/>
              </a:rPr>
              <a:t>Ди</a:t>
            </a:r>
            <a:r>
              <a:rPr lang="bg" sz="2300" b="1" i="0" u="none" strike="noStrike" cap="none" dirty="0">
                <a:solidFill>
                  <a:srgbClr val="1E293B"/>
                </a:solidFill>
                <a:latin typeface="Cambria"/>
                <a:ea typeface="Cambria"/>
                <a:cs typeface="Cambria"/>
                <a:sym typeface="Cambria"/>
              </a:rPr>
              <a:t>аграма с основни функционалности</a:t>
            </a:r>
            <a:endParaRPr sz="2300" b="0" i="0" u="none" strike="noStrike" cap="none" dirty="0">
              <a:solidFill>
                <a:schemeClr val="dk1"/>
              </a:solidFill>
              <a:latin typeface="Calibri"/>
              <a:ea typeface="Calibri"/>
              <a:cs typeface="Calibri"/>
              <a:sym typeface="Calibri"/>
            </a:endParaRPr>
          </a:p>
        </p:txBody>
      </p:sp>
      <p:sp>
        <p:nvSpPr>
          <p:cNvPr id="8" name="Google Shape;583;p32">
            <a:extLst>
              <a:ext uri="{FF2B5EF4-FFF2-40B4-BE49-F238E27FC236}">
                <a16:creationId xmlns:a16="http://schemas.microsoft.com/office/drawing/2014/main" id="{0BB38FB0-7AE1-0984-8C58-D4D393E672CA}"/>
              </a:ext>
            </a:extLst>
          </p:cNvPr>
          <p:cNvSpPr/>
          <p:nvPr/>
        </p:nvSpPr>
        <p:spPr>
          <a:xfrm>
            <a:off x="6925951" y="548640"/>
            <a:ext cx="1883036" cy="1164336"/>
          </a:xfrm>
          <a:prstGeom prst="roundRect">
            <a:avLst>
              <a:gd name="adj" fmla="val 5099"/>
            </a:avLst>
          </a:prstGeom>
          <a:solidFill>
            <a:srgbClr val="FFFFFF"/>
          </a:solidFill>
          <a:ln w="12700" cap="flat" cmpd="sng">
            <a:solidFill>
              <a:srgbClr val="E7DCDC"/>
            </a:solidFill>
            <a:prstDash val="solid"/>
            <a:round/>
            <a:headEnd type="none" w="sm" len="sm"/>
            <a:tailEnd type="none" w="sm" len="sm"/>
          </a:ln>
          <a:effectLst>
            <a:outerShdw blurRad="177800" dist="50800" dir="5400000" algn="bl" rotWithShape="0">
              <a:srgbClr val="1E293B">
                <a:alpha val="7843"/>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9" name="Google Shape;583;p32">
            <a:extLst>
              <a:ext uri="{FF2B5EF4-FFF2-40B4-BE49-F238E27FC236}">
                <a16:creationId xmlns:a16="http://schemas.microsoft.com/office/drawing/2014/main" id="{45939A3D-D4D7-9E0D-7607-2209B699FDA3}"/>
              </a:ext>
            </a:extLst>
          </p:cNvPr>
          <p:cNvSpPr/>
          <p:nvPr/>
        </p:nvSpPr>
        <p:spPr>
          <a:xfrm>
            <a:off x="6925951" y="2266189"/>
            <a:ext cx="1883036" cy="1164336"/>
          </a:xfrm>
          <a:prstGeom prst="roundRect">
            <a:avLst>
              <a:gd name="adj" fmla="val 5099"/>
            </a:avLst>
          </a:prstGeom>
          <a:solidFill>
            <a:srgbClr val="FFFFFF"/>
          </a:solidFill>
          <a:ln w="12700" cap="flat" cmpd="sng">
            <a:solidFill>
              <a:srgbClr val="E7DCDC"/>
            </a:solidFill>
            <a:prstDash val="solid"/>
            <a:round/>
            <a:headEnd type="none" w="sm" len="sm"/>
            <a:tailEnd type="none" w="sm" len="sm"/>
          </a:ln>
          <a:effectLst>
            <a:outerShdw blurRad="177800" dist="50800" dir="5400000" algn="bl" rotWithShape="0">
              <a:srgbClr val="1E293B">
                <a:alpha val="7843"/>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dirty="0"/>
          </a:p>
        </p:txBody>
      </p:sp>
      <p:sp>
        <p:nvSpPr>
          <p:cNvPr id="10" name="Google Shape;583;p32">
            <a:extLst>
              <a:ext uri="{FF2B5EF4-FFF2-40B4-BE49-F238E27FC236}">
                <a16:creationId xmlns:a16="http://schemas.microsoft.com/office/drawing/2014/main" id="{E8DE1FE6-9115-05AD-C98D-ECBF225A5DB1}"/>
              </a:ext>
            </a:extLst>
          </p:cNvPr>
          <p:cNvSpPr/>
          <p:nvPr/>
        </p:nvSpPr>
        <p:spPr>
          <a:xfrm>
            <a:off x="6925951" y="3752850"/>
            <a:ext cx="1883036" cy="1164336"/>
          </a:xfrm>
          <a:prstGeom prst="roundRect">
            <a:avLst>
              <a:gd name="adj" fmla="val 5099"/>
            </a:avLst>
          </a:prstGeom>
          <a:solidFill>
            <a:srgbClr val="FFFFFF"/>
          </a:solidFill>
          <a:ln w="12700" cap="flat" cmpd="sng">
            <a:solidFill>
              <a:srgbClr val="E7DCDC"/>
            </a:solidFill>
            <a:prstDash val="solid"/>
            <a:round/>
            <a:headEnd type="none" w="sm" len="sm"/>
            <a:tailEnd type="none" w="sm" len="sm"/>
          </a:ln>
          <a:effectLst>
            <a:outerShdw blurRad="177800" dist="50800" dir="5400000" algn="bl" rotWithShape="0">
              <a:srgbClr val="1E293B">
                <a:alpha val="7843"/>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3" name="Google Shape;597;p32">
            <a:extLst>
              <a:ext uri="{FF2B5EF4-FFF2-40B4-BE49-F238E27FC236}">
                <a16:creationId xmlns:a16="http://schemas.microsoft.com/office/drawing/2014/main" id="{BB5608CE-3172-254C-DC8C-843DC4A5E02E}"/>
              </a:ext>
            </a:extLst>
          </p:cNvPr>
          <p:cNvSpPr/>
          <p:nvPr/>
        </p:nvSpPr>
        <p:spPr>
          <a:xfrm>
            <a:off x="7030344" y="602261"/>
            <a:ext cx="1705985" cy="1016989"/>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475569"/>
              </a:buClr>
              <a:buSzPts val="800"/>
              <a:buFont typeface="Calibri"/>
              <a:buNone/>
            </a:pPr>
            <a:r>
              <a:rPr lang="bg-BG" b="1" i="0" u="none" strike="noStrike" cap="none" dirty="0">
                <a:solidFill>
                  <a:srgbClr val="475569"/>
                </a:solidFill>
                <a:latin typeface="Calibri"/>
                <a:ea typeface="Calibri"/>
                <a:cs typeface="Calibri"/>
                <a:sym typeface="Calibri"/>
              </a:rPr>
              <a:t>Клиент</a:t>
            </a:r>
          </a:p>
          <a:p>
            <a:pPr marL="0" marR="0" lvl="0" indent="0" algn="l" rtl="0">
              <a:lnSpc>
                <a:spcPct val="120000"/>
              </a:lnSpc>
              <a:spcBef>
                <a:spcPts val="0"/>
              </a:spcBef>
              <a:spcAft>
                <a:spcPts val="0"/>
              </a:spcAft>
              <a:buClr>
                <a:srgbClr val="475569"/>
              </a:buClr>
              <a:buSzPts val="800"/>
              <a:buFont typeface="Calibri"/>
              <a:buNone/>
            </a:pPr>
            <a:r>
              <a:rPr lang="bg-BG" sz="1300" i="0" u="none" strike="noStrike" cap="none" dirty="0">
                <a:solidFill>
                  <a:srgbClr val="1E293B"/>
                </a:solidFill>
                <a:latin typeface="Calibri"/>
                <a:ea typeface="Calibri"/>
                <a:cs typeface="Calibri"/>
                <a:sym typeface="Calibri"/>
              </a:rPr>
              <a:t>Управление на обявви и получени оферти, чат, редактиране на профил</a:t>
            </a:r>
            <a:endParaRPr sz="1300" i="0" u="none" strike="noStrike" cap="none" dirty="0">
              <a:solidFill>
                <a:srgbClr val="1E293B"/>
              </a:solidFill>
              <a:latin typeface="Calibri"/>
              <a:ea typeface="Calibri"/>
              <a:cs typeface="Calibri"/>
              <a:sym typeface="Calibri"/>
            </a:endParaRPr>
          </a:p>
        </p:txBody>
      </p:sp>
      <p:sp>
        <p:nvSpPr>
          <p:cNvPr id="2" name="Google Shape;597;p32">
            <a:extLst>
              <a:ext uri="{FF2B5EF4-FFF2-40B4-BE49-F238E27FC236}">
                <a16:creationId xmlns:a16="http://schemas.microsoft.com/office/drawing/2014/main" id="{344FAC3F-01C3-BFC6-6011-D97214E3A358}"/>
              </a:ext>
            </a:extLst>
          </p:cNvPr>
          <p:cNvSpPr/>
          <p:nvPr/>
        </p:nvSpPr>
        <p:spPr>
          <a:xfrm>
            <a:off x="7014476" y="2339862"/>
            <a:ext cx="1705985" cy="1016989"/>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475569"/>
              </a:buClr>
              <a:buSzPts val="800"/>
              <a:buFont typeface="Calibri"/>
              <a:buNone/>
            </a:pPr>
            <a:r>
              <a:rPr lang="bg-BG" b="1" i="0" u="none" strike="noStrike" cap="none" dirty="0">
                <a:solidFill>
                  <a:srgbClr val="475569"/>
                </a:solidFill>
                <a:latin typeface="Calibri"/>
                <a:ea typeface="Calibri"/>
                <a:cs typeface="Calibri"/>
                <a:sym typeface="Calibri"/>
              </a:rPr>
              <a:t>Специалист</a:t>
            </a:r>
          </a:p>
          <a:p>
            <a:pPr marL="0" marR="0" lvl="0" indent="0" algn="l" rtl="0">
              <a:lnSpc>
                <a:spcPct val="120000"/>
              </a:lnSpc>
              <a:spcBef>
                <a:spcPts val="0"/>
              </a:spcBef>
              <a:spcAft>
                <a:spcPts val="0"/>
              </a:spcAft>
              <a:buClr>
                <a:srgbClr val="475569"/>
              </a:buClr>
              <a:buSzPts val="800"/>
              <a:buFont typeface="Calibri"/>
              <a:buNone/>
            </a:pPr>
            <a:r>
              <a:rPr lang="bg-BG" sz="1300" i="0" u="none" strike="noStrike" cap="none" dirty="0">
                <a:solidFill>
                  <a:srgbClr val="1E293B"/>
                </a:solidFill>
                <a:latin typeface="Calibri"/>
                <a:ea typeface="Calibri"/>
                <a:cs typeface="Calibri"/>
                <a:sym typeface="Calibri"/>
              </a:rPr>
              <a:t>Преглед обяви, подаване оферти, чат, управление на профил</a:t>
            </a:r>
            <a:endParaRPr sz="1300" i="0" u="none" strike="noStrike" cap="none" dirty="0">
              <a:solidFill>
                <a:srgbClr val="1E293B"/>
              </a:solidFill>
              <a:latin typeface="Calibri"/>
              <a:ea typeface="Calibri"/>
              <a:cs typeface="Calibri"/>
              <a:sym typeface="Calibri"/>
            </a:endParaRPr>
          </a:p>
        </p:txBody>
      </p:sp>
      <p:sp>
        <p:nvSpPr>
          <p:cNvPr id="3" name="Google Shape;597;p32">
            <a:extLst>
              <a:ext uri="{FF2B5EF4-FFF2-40B4-BE49-F238E27FC236}">
                <a16:creationId xmlns:a16="http://schemas.microsoft.com/office/drawing/2014/main" id="{0E3E352A-B40D-A580-D359-C7C918827586}"/>
              </a:ext>
            </a:extLst>
          </p:cNvPr>
          <p:cNvSpPr/>
          <p:nvPr/>
        </p:nvSpPr>
        <p:spPr>
          <a:xfrm>
            <a:off x="7030344" y="3826523"/>
            <a:ext cx="1778643" cy="1016989"/>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475569"/>
              </a:buClr>
              <a:buSzPts val="800"/>
              <a:buFont typeface="Calibri"/>
              <a:buNone/>
            </a:pPr>
            <a:r>
              <a:rPr lang="bg-BG" b="1" i="0" u="none" strike="noStrike" cap="none" dirty="0">
                <a:solidFill>
                  <a:srgbClr val="475569"/>
                </a:solidFill>
                <a:latin typeface="Calibri"/>
                <a:ea typeface="Calibri"/>
                <a:cs typeface="Calibri"/>
                <a:sym typeface="Calibri"/>
              </a:rPr>
              <a:t>Администратор</a:t>
            </a:r>
          </a:p>
          <a:p>
            <a:pPr marL="0" marR="0" lvl="0" indent="0" algn="l" rtl="0">
              <a:lnSpc>
                <a:spcPct val="120000"/>
              </a:lnSpc>
              <a:spcBef>
                <a:spcPts val="0"/>
              </a:spcBef>
              <a:spcAft>
                <a:spcPts val="0"/>
              </a:spcAft>
              <a:buClr>
                <a:srgbClr val="475569"/>
              </a:buClr>
              <a:buSzPts val="800"/>
              <a:buFont typeface="Calibri"/>
              <a:buNone/>
            </a:pPr>
            <a:r>
              <a:rPr lang="bg-BG" sz="1300" dirty="0">
                <a:solidFill>
                  <a:srgbClr val="1E293B"/>
                </a:solidFill>
                <a:latin typeface="Calibri"/>
                <a:ea typeface="Calibri"/>
                <a:cs typeface="Calibri"/>
                <a:sym typeface="Calibri"/>
              </a:rPr>
              <a:t>Управление на системен каталог, модерация, конфигурация</a:t>
            </a:r>
            <a:endParaRPr sz="1300" i="0" u="none" strike="noStrike" cap="none" dirty="0">
              <a:solidFill>
                <a:srgbClr val="1E293B"/>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p:cNvGrpSpPr/>
        <p:nvPr/>
      </p:nvGrpSpPr>
      <p:grpSpPr>
        <a:xfrm>
          <a:off x="0" y="0"/>
          <a:ext cx="0" cy="0"/>
          <a:chOff x="0" y="0"/>
          <a:chExt cx="0" cy="0"/>
        </a:xfrm>
      </p:grpSpPr>
      <p:sp>
        <p:nvSpPr>
          <p:cNvPr id="676" name="Google Shape;676;p36"/>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7" name="Google Shape;677;p36"/>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8" name="Google Shape;678;p36"/>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ДЕМОНСТРАЦИЯ</a:t>
            </a:r>
            <a:endParaRPr sz="1100" b="0" i="0" u="none" strike="noStrike" cap="none" dirty="0">
              <a:solidFill>
                <a:schemeClr val="dk1"/>
              </a:solidFill>
              <a:latin typeface="Calibri"/>
              <a:ea typeface="Calibri"/>
              <a:cs typeface="Calibri"/>
              <a:sym typeface="Calibri"/>
            </a:endParaRPr>
          </a:p>
        </p:txBody>
      </p:sp>
      <p:sp>
        <p:nvSpPr>
          <p:cNvPr id="683" name="Google Shape;683;p36"/>
          <p:cNvSpPr/>
          <p:nvPr/>
        </p:nvSpPr>
        <p:spPr>
          <a:xfrm>
            <a:off x="342900" y="90377"/>
            <a:ext cx="313182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000" b="1" dirty="0">
                <a:solidFill>
                  <a:srgbClr val="1E293B"/>
                </a:solidFill>
                <a:latin typeface="Cambria"/>
                <a:ea typeface="Cambria"/>
                <a:cs typeface="Calibri"/>
                <a:sym typeface="Cambria"/>
              </a:rPr>
              <a:t>Начален екран</a:t>
            </a:r>
            <a:endParaRPr sz="2000" b="0" i="0" u="none" strike="noStrike" cap="none" dirty="0">
              <a:solidFill>
                <a:schemeClr val="dk1"/>
              </a:solidFill>
              <a:latin typeface="Calibri"/>
              <a:ea typeface="Calibri"/>
              <a:cs typeface="Calibri"/>
              <a:sym typeface="Calibri"/>
            </a:endParaRPr>
          </a:p>
        </p:txBody>
      </p:sp>
      <p:pic>
        <p:nvPicPr>
          <p:cNvPr id="5" name="Picture 4">
            <a:extLst>
              <a:ext uri="{FF2B5EF4-FFF2-40B4-BE49-F238E27FC236}">
                <a16:creationId xmlns:a16="http://schemas.microsoft.com/office/drawing/2014/main" id="{924F7655-FE84-BF05-3F51-65F75B101945}"/>
              </a:ext>
            </a:extLst>
          </p:cNvPr>
          <p:cNvPicPr>
            <a:picLocks noChangeAspect="1"/>
          </p:cNvPicPr>
          <p:nvPr/>
        </p:nvPicPr>
        <p:blipFill>
          <a:blip r:embed="rId3"/>
          <a:stretch>
            <a:fillRect/>
          </a:stretch>
        </p:blipFill>
        <p:spPr>
          <a:xfrm>
            <a:off x="899160" y="515573"/>
            <a:ext cx="4287453" cy="2543849"/>
          </a:xfrm>
          <a:prstGeom prst="rect">
            <a:avLst/>
          </a:prstGeom>
          <a:ln>
            <a:solidFill>
              <a:schemeClr val="bg1">
                <a:lumMod val="65000"/>
              </a:schemeClr>
            </a:solidFill>
          </a:ln>
        </p:spPr>
      </p:pic>
      <p:pic>
        <p:nvPicPr>
          <p:cNvPr id="11" name="Picture 10">
            <a:extLst>
              <a:ext uri="{FF2B5EF4-FFF2-40B4-BE49-F238E27FC236}">
                <a16:creationId xmlns:a16="http://schemas.microsoft.com/office/drawing/2014/main" id="{0595CE78-BC77-C914-7037-EA5D079B58ED}"/>
              </a:ext>
            </a:extLst>
          </p:cNvPr>
          <p:cNvPicPr>
            <a:picLocks noChangeAspect="1"/>
          </p:cNvPicPr>
          <p:nvPr/>
        </p:nvPicPr>
        <p:blipFill>
          <a:blip r:embed="rId4"/>
          <a:stretch>
            <a:fillRect/>
          </a:stretch>
        </p:blipFill>
        <p:spPr>
          <a:xfrm>
            <a:off x="5311259" y="204255"/>
            <a:ext cx="2933581" cy="2420835"/>
          </a:xfrm>
          <a:prstGeom prst="rect">
            <a:avLst/>
          </a:prstGeom>
          <a:ln>
            <a:solidFill>
              <a:schemeClr val="bg1">
                <a:lumMod val="65000"/>
              </a:schemeClr>
            </a:solidFill>
          </a:ln>
        </p:spPr>
      </p:pic>
      <p:pic>
        <p:nvPicPr>
          <p:cNvPr id="13" name="Picture 12">
            <a:extLst>
              <a:ext uri="{FF2B5EF4-FFF2-40B4-BE49-F238E27FC236}">
                <a16:creationId xmlns:a16="http://schemas.microsoft.com/office/drawing/2014/main" id="{EE54DA9D-7763-ADEF-EA69-333A86334157}"/>
              </a:ext>
            </a:extLst>
          </p:cNvPr>
          <p:cNvPicPr>
            <a:picLocks noChangeAspect="1"/>
          </p:cNvPicPr>
          <p:nvPr/>
        </p:nvPicPr>
        <p:blipFill>
          <a:blip r:embed="rId5"/>
          <a:stretch>
            <a:fillRect/>
          </a:stretch>
        </p:blipFill>
        <p:spPr>
          <a:xfrm>
            <a:off x="5742873" y="2790851"/>
            <a:ext cx="2713136" cy="2255074"/>
          </a:xfrm>
          <a:prstGeom prst="rect">
            <a:avLst/>
          </a:prstGeom>
          <a:ln>
            <a:solidFill>
              <a:schemeClr val="bg1">
                <a:lumMod val="65000"/>
              </a:schemeClr>
            </a:solidFill>
          </a:ln>
        </p:spPr>
      </p:pic>
      <p:pic>
        <p:nvPicPr>
          <p:cNvPr id="15" name="Picture 14">
            <a:extLst>
              <a:ext uri="{FF2B5EF4-FFF2-40B4-BE49-F238E27FC236}">
                <a16:creationId xmlns:a16="http://schemas.microsoft.com/office/drawing/2014/main" id="{F73EECA8-9244-F16F-27FE-85456F1FCE4F}"/>
              </a:ext>
            </a:extLst>
          </p:cNvPr>
          <p:cNvPicPr>
            <a:picLocks noChangeAspect="1"/>
          </p:cNvPicPr>
          <p:nvPr/>
        </p:nvPicPr>
        <p:blipFill>
          <a:blip r:embed="rId6"/>
          <a:stretch>
            <a:fillRect/>
          </a:stretch>
        </p:blipFill>
        <p:spPr>
          <a:xfrm>
            <a:off x="1908810" y="3198233"/>
            <a:ext cx="3676344" cy="1672010"/>
          </a:xfrm>
          <a:prstGeom prst="rect">
            <a:avLst/>
          </a:prstGeom>
          <a:ln>
            <a:solidFill>
              <a:schemeClr val="bg1">
                <a:lumMod val="85000"/>
              </a:schemeClr>
            </a:solid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a:extLst>
            <a:ext uri="{FF2B5EF4-FFF2-40B4-BE49-F238E27FC236}">
              <a16:creationId xmlns:a16="http://schemas.microsoft.com/office/drawing/2014/main" id="{10EFA3EE-6ECF-12D6-E247-89D1C2154A40}"/>
            </a:ext>
          </a:extLst>
        </p:cNvPr>
        <p:cNvGrpSpPr/>
        <p:nvPr/>
      </p:nvGrpSpPr>
      <p:grpSpPr>
        <a:xfrm>
          <a:off x="0" y="0"/>
          <a:ext cx="0" cy="0"/>
          <a:chOff x="0" y="0"/>
          <a:chExt cx="0" cy="0"/>
        </a:xfrm>
      </p:grpSpPr>
      <p:sp>
        <p:nvSpPr>
          <p:cNvPr id="676" name="Google Shape;676;p36">
            <a:extLst>
              <a:ext uri="{FF2B5EF4-FFF2-40B4-BE49-F238E27FC236}">
                <a16:creationId xmlns:a16="http://schemas.microsoft.com/office/drawing/2014/main" id="{2E8B271A-7303-EAD0-CFDD-0F99361F9CEF}"/>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7" name="Google Shape;677;p36">
            <a:extLst>
              <a:ext uri="{FF2B5EF4-FFF2-40B4-BE49-F238E27FC236}">
                <a16:creationId xmlns:a16="http://schemas.microsoft.com/office/drawing/2014/main" id="{78D80550-D74B-B799-4387-FB1F86949BBE}"/>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8" name="Google Shape;678;p36">
            <a:extLst>
              <a:ext uri="{FF2B5EF4-FFF2-40B4-BE49-F238E27FC236}">
                <a16:creationId xmlns:a16="http://schemas.microsoft.com/office/drawing/2014/main" id="{916C9251-92B3-5733-17DF-85BF7C44B28E}"/>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ДЕМОНСТРАЦИЯ</a:t>
            </a:r>
            <a:endParaRPr sz="1100" b="0" i="0" u="none" strike="noStrike" cap="none" dirty="0">
              <a:solidFill>
                <a:schemeClr val="dk1"/>
              </a:solidFill>
              <a:latin typeface="Calibri"/>
              <a:ea typeface="Calibri"/>
              <a:cs typeface="Calibri"/>
              <a:sym typeface="Calibri"/>
            </a:endParaRPr>
          </a:p>
        </p:txBody>
      </p:sp>
      <p:sp>
        <p:nvSpPr>
          <p:cNvPr id="683" name="Google Shape;683;p36">
            <a:extLst>
              <a:ext uri="{FF2B5EF4-FFF2-40B4-BE49-F238E27FC236}">
                <a16:creationId xmlns:a16="http://schemas.microsoft.com/office/drawing/2014/main" id="{70A97DC8-D82D-8D02-580A-C81D5DE0BEBF}"/>
              </a:ext>
            </a:extLst>
          </p:cNvPr>
          <p:cNvSpPr/>
          <p:nvPr/>
        </p:nvSpPr>
        <p:spPr>
          <a:xfrm>
            <a:off x="342900" y="90377"/>
            <a:ext cx="313182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000" b="1" dirty="0">
                <a:solidFill>
                  <a:srgbClr val="1E293B"/>
                </a:solidFill>
                <a:latin typeface="Cambria"/>
                <a:ea typeface="Cambria"/>
                <a:cs typeface="Calibri"/>
                <a:sym typeface="Cambria"/>
              </a:rPr>
              <a:t>Регистрация</a:t>
            </a:r>
            <a:endParaRPr sz="2000" b="0" i="0" u="none" strike="noStrike" cap="none" dirty="0">
              <a:solidFill>
                <a:schemeClr val="dk1"/>
              </a:solidFill>
              <a:latin typeface="Calibri"/>
              <a:ea typeface="Calibri"/>
              <a:cs typeface="Calibri"/>
              <a:sym typeface="Calibri"/>
            </a:endParaRPr>
          </a:p>
        </p:txBody>
      </p:sp>
      <p:pic>
        <p:nvPicPr>
          <p:cNvPr id="6" name="Picture 5">
            <a:extLst>
              <a:ext uri="{FF2B5EF4-FFF2-40B4-BE49-F238E27FC236}">
                <a16:creationId xmlns:a16="http://schemas.microsoft.com/office/drawing/2014/main" id="{1309FD2A-6FBA-031E-28B4-4D4F4512A00B}"/>
              </a:ext>
            </a:extLst>
          </p:cNvPr>
          <p:cNvPicPr>
            <a:picLocks noChangeAspect="1"/>
          </p:cNvPicPr>
          <p:nvPr/>
        </p:nvPicPr>
        <p:blipFill>
          <a:blip r:embed="rId3"/>
          <a:stretch>
            <a:fillRect/>
          </a:stretch>
        </p:blipFill>
        <p:spPr>
          <a:xfrm>
            <a:off x="969667" y="470092"/>
            <a:ext cx="3131820" cy="4583031"/>
          </a:xfrm>
          <a:prstGeom prst="rect">
            <a:avLst/>
          </a:prstGeom>
          <a:ln>
            <a:solidFill>
              <a:schemeClr val="bg1">
                <a:lumMod val="65000"/>
              </a:schemeClr>
            </a:solidFill>
          </a:ln>
        </p:spPr>
      </p:pic>
      <p:pic>
        <p:nvPicPr>
          <p:cNvPr id="4" name="Picture 3" descr="A screenshot of a email&#10;&#10;AI-generated content may be incorrect.">
            <a:extLst>
              <a:ext uri="{FF2B5EF4-FFF2-40B4-BE49-F238E27FC236}">
                <a16:creationId xmlns:a16="http://schemas.microsoft.com/office/drawing/2014/main" id="{976EB056-65A6-2992-CA02-D47BD84955AC}"/>
              </a:ext>
            </a:extLst>
          </p:cNvPr>
          <p:cNvPicPr>
            <a:picLocks noChangeAspect="1"/>
          </p:cNvPicPr>
          <p:nvPr/>
        </p:nvPicPr>
        <p:blipFill>
          <a:blip r:embed="rId4"/>
          <a:srcRect l="7769" t="5373" r="8884" b="10036"/>
          <a:stretch/>
        </p:blipFill>
        <p:spPr>
          <a:xfrm>
            <a:off x="5042515" y="515573"/>
            <a:ext cx="3306586" cy="2897947"/>
          </a:xfrm>
          <a:prstGeom prst="rect">
            <a:avLst/>
          </a:prstGeom>
          <a:ln>
            <a:solidFill>
              <a:schemeClr val="bg1">
                <a:lumMod val="75000"/>
              </a:schemeClr>
            </a:solidFill>
          </a:ln>
        </p:spPr>
      </p:pic>
      <p:pic>
        <p:nvPicPr>
          <p:cNvPr id="7" name="Picture 6" descr="A screenshot of a web page&#10;&#10;AI-generated content may be incorrect.">
            <a:extLst>
              <a:ext uri="{FF2B5EF4-FFF2-40B4-BE49-F238E27FC236}">
                <a16:creationId xmlns:a16="http://schemas.microsoft.com/office/drawing/2014/main" id="{1AAE37F2-B520-40BA-FC64-131072D1D1B0}"/>
              </a:ext>
            </a:extLst>
          </p:cNvPr>
          <p:cNvPicPr>
            <a:picLocks noChangeAspect="1"/>
          </p:cNvPicPr>
          <p:nvPr/>
        </p:nvPicPr>
        <p:blipFill>
          <a:blip r:embed="rId5"/>
          <a:srcRect l="5111" t="8395" r="10200" b="5697"/>
          <a:stretch/>
        </p:blipFill>
        <p:spPr>
          <a:xfrm>
            <a:off x="5568048" y="3570615"/>
            <a:ext cx="2255520" cy="1345348"/>
          </a:xfrm>
          <a:prstGeom prst="rect">
            <a:avLst/>
          </a:prstGeom>
          <a:ln w="3175">
            <a:solidFill>
              <a:schemeClr val="bg1">
                <a:lumMod val="65000"/>
              </a:schemeClr>
            </a:solidFill>
          </a:ln>
        </p:spPr>
      </p:pic>
    </p:spTree>
    <p:extLst>
      <p:ext uri="{BB962C8B-B14F-4D97-AF65-F5344CB8AC3E}">
        <p14:creationId xmlns:p14="http://schemas.microsoft.com/office/powerpoint/2010/main" val="21305017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a:extLst>
            <a:ext uri="{FF2B5EF4-FFF2-40B4-BE49-F238E27FC236}">
              <a16:creationId xmlns:a16="http://schemas.microsoft.com/office/drawing/2014/main" id="{32ADD74D-1675-D03B-CDF9-1DC70B73FA3B}"/>
            </a:ext>
          </a:extLst>
        </p:cNvPr>
        <p:cNvGrpSpPr/>
        <p:nvPr/>
      </p:nvGrpSpPr>
      <p:grpSpPr>
        <a:xfrm>
          <a:off x="0" y="0"/>
          <a:ext cx="0" cy="0"/>
          <a:chOff x="0" y="0"/>
          <a:chExt cx="0" cy="0"/>
        </a:xfrm>
      </p:grpSpPr>
      <p:sp>
        <p:nvSpPr>
          <p:cNvPr id="676" name="Google Shape;676;p36">
            <a:extLst>
              <a:ext uri="{FF2B5EF4-FFF2-40B4-BE49-F238E27FC236}">
                <a16:creationId xmlns:a16="http://schemas.microsoft.com/office/drawing/2014/main" id="{00021743-7F0D-4E3E-A72E-98834429966C}"/>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7" name="Google Shape;677;p36">
            <a:extLst>
              <a:ext uri="{FF2B5EF4-FFF2-40B4-BE49-F238E27FC236}">
                <a16:creationId xmlns:a16="http://schemas.microsoft.com/office/drawing/2014/main" id="{BD4631D5-F654-AF5D-83F7-3001E8041E22}"/>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8" name="Google Shape;678;p36">
            <a:extLst>
              <a:ext uri="{FF2B5EF4-FFF2-40B4-BE49-F238E27FC236}">
                <a16:creationId xmlns:a16="http://schemas.microsoft.com/office/drawing/2014/main" id="{3A7CEBCA-1C02-EB0E-EC01-2A2B0D0E7180}"/>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ДЕМОНСТРАЦИЯ</a:t>
            </a:r>
            <a:endParaRPr sz="1100" b="0" i="0" u="none" strike="noStrike" cap="none" dirty="0">
              <a:solidFill>
                <a:schemeClr val="dk1"/>
              </a:solidFill>
              <a:latin typeface="Calibri"/>
              <a:ea typeface="Calibri"/>
              <a:cs typeface="Calibri"/>
              <a:sym typeface="Calibri"/>
            </a:endParaRPr>
          </a:p>
        </p:txBody>
      </p:sp>
      <p:sp>
        <p:nvSpPr>
          <p:cNvPr id="683" name="Google Shape;683;p36">
            <a:extLst>
              <a:ext uri="{FF2B5EF4-FFF2-40B4-BE49-F238E27FC236}">
                <a16:creationId xmlns:a16="http://schemas.microsoft.com/office/drawing/2014/main" id="{F33F30CA-7EB6-E7EF-1BB6-38915FAF9171}"/>
              </a:ext>
            </a:extLst>
          </p:cNvPr>
          <p:cNvSpPr/>
          <p:nvPr/>
        </p:nvSpPr>
        <p:spPr>
          <a:xfrm>
            <a:off x="342900" y="90377"/>
            <a:ext cx="422910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000" b="1" dirty="0">
                <a:solidFill>
                  <a:srgbClr val="1E293B"/>
                </a:solidFill>
                <a:latin typeface="Cambria"/>
                <a:ea typeface="Cambria"/>
                <a:cs typeface="Calibri"/>
                <a:sym typeface="Cambria"/>
              </a:rPr>
              <a:t>Регистрация на администратор</a:t>
            </a:r>
            <a:endParaRPr sz="2000" b="0" i="0" u="none" strike="noStrike" cap="none" dirty="0">
              <a:solidFill>
                <a:schemeClr val="dk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EA684838-9AEE-8568-CA43-0464EEBF80C9}"/>
              </a:ext>
            </a:extLst>
          </p:cNvPr>
          <p:cNvPicPr>
            <a:picLocks noChangeAspect="1"/>
          </p:cNvPicPr>
          <p:nvPr/>
        </p:nvPicPr>
        <p:blipFill rotWithShape="1">
          <a:blip r:embed="rId3">
            <a:extLst>
              <a:ext uri="{28A0092B-C50C-407E-A947-70E740481C1C}">
                <a14:useLocalDpi xmlns:a14="http://schemas.microsoft.com/office/drawing/2010/main" val="0"/>
              </a:ext>
            </a:extLst>
          </a:blip>
          <a:srcRect l="2557" t="1164" r="2424" b="22460"/>
          <a:stretch/>
        </p:blipFill>
        <p:spPr bwMode="auto">
          <a:xfrm>
            <a:off x="454343" y="1535430"/>
            <a:ext cx="4014570" cy="2361565"/>
          </a:xfrm>
          <a:prstGeom prst="rect">
            <a:avLst/>
          </a:prstGeom>
          <a:ln>
            <a:solidFill>
              <a:schemeClr val="bg1">
                <a:lumMod val="65000"/>
              </a:schemeClr>
            </a:solidFill>
          </a:ln>
          <a:extLst>
            <a:ext uri="{53640926-AAD7-44D8-BBD7-CCE9431645EC}">
              <a14:shadowObscured xmlns:a14="http://schemas.microsoft.com/office/drawing/2010/main"/>
            </a:ext>
          </a:extLst>
        </p:spPr>
      </p:pic>
      <p:pic>
        <p:nvPicPr>
          <p:cNvPr id="8" name="Picture 7" descr="A screenshot of a login form&#10;&#10;AI-generated content may be incorrect.">
            <a:extLst>
              <a:ext uri="{FF2B5EF4-FFF2-40B4-BE49-F238E27FC236}">
                <a16:creationId xmlns:a16="http://schemas.microsoft.com/office/drawing/2014/main" id="{149F0E11-92D3-54D1-EB60-E49090D0AC16}"/>
              </a:ext>
            </a:extLst>
          </p:cNvPr>
          <p:cNvPicPr>
            <a:picLocks noChangeAspect="1"/>
          </p:cNvPicPr>
          <p:nvPr/>
        </p:nvPicPr>
        <p:blipFill>
          <a:blip r:embed="rId4"/>
          <a:srcRect l="5892" t="4829" r="5890" b="9777"/>
          <a:stretch/>
        </p:blipFill>
        <p:spPr>
          <a:xfrm>
            <a:off x="4751805" y="248694"/>
            <a:ext cx="3937851" cy="4788577"/>
          </a:xfrm>
          <a:prstGeom prst="rect">
            <a:avLst/>
          </a:prstGeom>
          <a:ln>
            <a:solidFill>
              <a:schemeClr val="bg1">
                <a:lumMod val="65000"/>
              </a:schemeClr>
            </a:solidFill>
          </a:ln>
        </p:spPr>
      </p:pic>
    </p:spTree>
    <p:extLst>
      <p:ext uri="{BB962C8B-B14F-4D97-AF65-F5344CB8AC3E}">
        <p14:creationId xmlns:p14="http://schemas.microsoft.com/office/powerpoint/2010/main" val="3706373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a:extLst>
            <a:ext uri="{FF2B5EF4-FFF2-40B4-BE49-F238E27FC236}">
              <a16:creationId xmlns:a16="http://schemas.microsoft.com/office/drawing/2014/main" id="{463DAD27-D448-639C-4002-375AB8678794}"/>
            </a:ext>
          </a:extLst>
        </p:cNvPr>
        <p:cNvGrpSpPr/>
        <p:nvPr/>
      </p:nvGrpSpPr>
      <p:grpSpPr>
        <a:xfrm>
          <a:off x="0" y="0"/>
          <a:ext cx="0" cy="0"/>
          <a:chOff x="0" y="0"/>
          <a:chExt cx="0" cy="0"/>
        </a:xfrm>
      </p:grpSpPr>
      <p:sp>
        <p:nvSpPr>
          <p:cNvPr id="676" name="Google Shape;676;p36">
            <a:extLst>
              <a:ext uri="{FF2B5EF4-FFF2-40B4-BE49-F238E27FC236}">
                <a16:creationId xmlns:a16="http://schemas.microsoft.com/office/drawing/2014/main" id="{171C37CC-3140-04C1-4F2D-0DBF77FB7398}"/>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7" name="Google Shape;677;p36">
            <a:extLst>
              <a:ext uri="{FF2B5EF4-FFF2-40B4-BE49-F238E27FC236}">
                <a16:creationId xmlns:a16="http://schemas.microsoft.com/office/drawing/2014/main" id="{F7BB9FA1-9B64-F753-F4E2-2FAFEE90C25F}"/>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8" name="Google Shape;678;p36">
            <a:extLst>
              <a:ext uri="{FF2B5EF4-FFF2-40B4-BE49-F238E27FC236}">
                <a16:creationId xmlns:a16="http://schemas.microsoft.com/office/drawing/2014/main" id="{59B71AE7-BD0F-DFE9-CBE6-CE849E81E28B}"/>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ДЕМОНСТРАЦИЯ</a:t>
            </a:r>
            <a:endParaRPr sz="1100" b="0" i="0" u="none" strike="noStrike" cap="none" dirty="0">
              <a:solidFill>
                <a:schemeClr val="dk1"/>
              </a:solidFill>
              <a:latin typeface="Calibri"/>
              <a:ea typeface="Calibri"/>
              <a:cs typeface="Calibri"/>
              <a:sym typeface="Calibri"/>
            </a:endParaRPr>
          </a:p>
        </p:txBody>
      </p:sp>
      <p:sp>
        <p:nvSpPr>
          <p:cNvPr id="683" name="Google Shape;683;p36">
            <a:extLst>
              <a:ext uri="{FF2B5EF4-FFF2-40B4-BE49-F238E27FC236}">
                <a16:creationId xmlns:a16="http://schemas.microsoft.com/office/drawing/2014/main" id="{1CFCC604-62C2-96D2-268C-0B159097A4F4}"/>
              </a:ext>
            </a:extLst>
          </p:cNvPr>
          <p:cNvSpPr/>
          <p:nvPr/>
        </p:nvSpPr>
        <p:spPr>
          <a:xfrm>
            <a:off x="342900" y="90377"/>
            <a:ext cx="313182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000" b="1" dirty="0">
                <a:solidFill>
                  <a:srgbClr val="1E293B"/>
                </a:solidFill>
                <a:latin typeface="Cambria"/>
                <a:ea typeface="Cambria"/>
                <a:cs typeface="Calibri"/>
                <a:sym typeface="Cambria"/>
              </a:rPr>
              <a:t>Вход</a:t>
            </a:r>
            <a:endParaRPr sz="2000" b="0" i="0" u="none" strike="noStrike" cap="none" dirty="0">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AD971531-E3D8-B795-451B-04F697CE5429}"/>
              </a:ext>
            </a:extLst>
          </p:cNvPr>
          <p:cNvPicPr>
            <a:picLocks noChangeAspect="1"/>
          </p:cNvPicPr>
          <p:nvPr/>
        </p:nvPicPr>
        <p:blipFill>
          <a:blip r:embed="rId3"/>
          <a:stretch>
            <a:fillRect/>
          </a:stretch>
        </p:blipFill>
        <p:spPr>
          <a:xfrm>
            <a:off x="457005" y="1135076"/>
            <a:ext cx="2902962" cy="2873348"/>
          </a:xfrm>
          <a:prstGeom prst="rect">
            <a:avLst/>
          </a:prstGeom>
          <a:ln>
            <a:solidFill>
              <a:schemeClr val="bg1">
                <a:lumMod val="65000"/>
              </a:schemeClr>
            </a:solidFill>
          </a:ln>
        </p:spPr>
      </p:pic>
      <p:pic>
        <p:nvPicPr>
          <p:cNvPr id="8" name="Picture 7">
            <a:extLst>
              <a:ext uri="{FF2B5EF4-FFF2-40B4-BE49-F238E27FC236}">
                <a16:creationId xmlns:a16="http://schemas.microsoft.com/office/drawing/2014/main" id="{467EE212-FEFD-B577-EF2B-0A633219E7CD}"/>
              </a:ext>
            </a:extLst>
          </p:cNvPr>
          <p:cNvPicPr>
            <a:picLocks noChangeAspect="1"/>
          </p:cNvPicPr>
          <p:nvPr/>
        </p:nvPicPr>
        <p:blipFill>
          <a:blip r:embed="rId4"/>
          <a:stretch>
            <a:fillRect/>
          </a:stretch>
        </p:blipFill>
        <p:spPr>
          <a:xfrm>
            <a:off x="6303875" y="166577"/>
            <a:ext cx="2539380" cy="2342057"/>
          </a:xfrm>
          <a:prstGeom prst="rect">
            <a:avLst/>
          </a:prstGeom>
          <a:ln>
            <a:solidFill>
              <a:schemeClr val="bg1">
                <a:lumMod val="65000"/>
              </a:schemeClr>
            </a:solidFill>
          </a:ln>
        </p:spPr>
      </p:pic>
      <p:pic>
        <p:nvPicPr>
          <p:cNvPr id="10" name="Picture 9" descr="A screenshot of a login page&#10;&#10;AI-generated content may be incorrect.">
            <a:extLst>
              <a:ext uri="{FF2B5EF4-FFF2-40B4-BE49-F238E27FC236}">
                <a16:creationId xmlns:a16="http://schemas.microsoft.com/office/drawing/2014/main" id="{23143319-915A-1FE9-9A31-9A75C451CA11}"/>
              </a:ext>
            </a:extLst>
          </p:cNvPr>
          <p:cNvPicPr>
            <a:picLocks noChangeAspect="1"/>
          </p:cNvPicPr>
          <p:nvPr/>
        </p:nvPicPr>
        <p:blipFill>
          <a:blip r:embed="rId5"/>
          <a:srcRect l="6215" t="10646" r="8600" b="19428"/>
          <a:stretch/>
        </p:blipFill>
        <p:spPr>
          <a:xfrm>
            <a:off x="6303875" y="2595065"/>
            <a:ext cx="2539380" cy="2463859"/>
          </a:xfrm>
          <a:prstGeom prst="rect">
            <a:avLst/>
          </a:prstGeom>
          <a:ln>
            <a:solidFill>
              <a:schemeClr val="bg1">
                <a:lumMod val="65000"/>
              </a:schemeClr>
            </a:solidFill>
          </a:ln>
        </p:spPr>
      </p:pic>
      <p:pic>
        <p:nvPicPr>
          <p:cNvPr id="14" name="Picture 13" descr="A screenshot of a login form&#10;&#10;AI-generated content may be incorrect.">
            <a:extLst>
              <a:ext uri="{FF2B5EF4-FFF2-40B4-BE49-F238E27FC236}">
                <a16:creationId xmlns:a16="http://schemas.microsoft.com/office/drawing/2014/main" id="{15C19646-F095-7E08-871B-55F32275FEF0}"/>
              </a:ext>
            </a:extLst>
          </p:cNvPr>
          <p:cNvPicPr>
            <a:picLocks noChangeAspect="1"/>
          </p:cNvPicPr>
          <p:nvPr/>
        </p:nvPicPr>
        <p:blipFill>
          <a:blip r:embed="rId6"/>
          <a:srcRect l="4018" t="10581" r="5087" b="975"/>
          <a:stretch/>
        </p:blipFill>
        <p:spPr>
          <a:xfrm>
            <a:off x="3645522" y="166577"/>
            <a:ext cx="2372798" cy="2873348"/>
          </a:xfrm>
          <a:prstGeom prst="rect">
            <a:avLst/>
          </a:prstGeom>
          <a:ln>
            <a:solidFill>
              <a:schemeClr val="bg1">
                <a:lumMod val="65000"/>
              </a:schemeClr>
            </a:solidFill>
          </a:ln>
        </p:spPr>
      </p:pic>
      <p:pic>
        <p:nvPicPr>
          <p:cNvPr id="17" name="Picture 16" descr="A screenshot of a login page&#10;&#10;AI-generated content may be incorrect.">
            <a:extLst>
              <a:ext uri="{FF2B5EF4-FFF2-40B4-BE49-F238E27FC236}">
                <a16:creationId xmlns:a16="http://schemas.microsoft.com/office/drawing/2014/main" id="{A241F1C1-41DF-00E8-117F-3D5B6C7586D2}"/>
              </a:ext>
            </a:extLst>
          </p:cNvPr>
          <p:cNvPicPr>
            <a:picLocks noChangeAspect="1"/>
          </p:cNvPicPr>
          <p:nvPr/>
        </p:nvPicPr>
        <p:blipFill>
          <a:blip r:embed="rId7"/>
          <a:srcRect l="18313" t="5948" r="16250" b="22229"/>
          <a:stretch/>
        </p:blipFill>
        <p:spPr>
          <a:xfrm>
            <a:off x="3954926" y="3133777"/>
            <a:ext cx="1753990" cy="1925147"/>
          </a:xfrm>
          <a:prstGeom prst="rect">
            <a:avLst/>
          </a:prstGeom>
          <a:ln>
            <a:solidFill>
              <a:schemeClr val="bg1">
                <a:lumMod val="65000"/>
              </a:schemeClr>
            </a:solidFill>
          </a:ln>
        </p:spPr>
      </p:pic>
    </p:spTree>
    <p:extLst>
      <p:ext uri="{BB962C8B-B14F-4D97-AF65-F5344CB8AC3E}">
        <p14:creationId xmlns:p14="http://schemas.microsoft.com/office/powerpoint/2010/main" val="19349050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a:extLst>
            <a:ext uri="{FF2B5EF4-FFF2-40B4-BE49-F238E27FC236}">
              <a16:creationId xmlns:a16="http://schemas.microsoft.com/office/drawing/2014/main" id="{C0A32AED-37B9-5CB0-7E1A-2DCE3593630B}"/>
            </a:ext>
          </a:extLst>
        </p:cNvPr>
        <p:cNvGrpSpPr/>
        <p:nvPr/>
      </p:nvGrpSpPr>
      <p:grpSpPr>
        <a:xfrm>
          <a:off x="0" y="0"/>
          <a:ext cx="0" cy="0"/>
          <a:chOff x="0" y="0"/>
          <a:chExt cx="0" cy="0"/>
        </a:xfrm>
      </p:grpSpPr>
      <p:sp>
        <p:nvSpPr>
          <p:cNvPr id="676" name="Google Shape;676;p36">
            <a:extLst>
              <a:ext uri="{FF2B5EF4-FFF2-40B4-BE49-F238E27FC236}">
                <a16:creationId xmlns:a16="http://schemas.microsoft.com/office/drawing/2014/main" id="{E7948D10-413C-C130-58A5-7ED69DB4E1EF}"/>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7" name="Google Shape;677;p36">
            <a:extLst>
              <a:ext uri="{FF2B5EF4-FFF2-40B4-BE49-F238E27FC236}">
                <a16:creationId xmlns:a16="http://schemas.microsoft.com/office/drawing/2014/main" id="{2AB8184B-96CE-96B7-E850-17BA4C94E9F7}"/>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8" name="Google Shape;678;p36">
            <a:extLst>
              <a:ext uri="{FF2B5EF4-FFF2-40B4-BE49-F238E27FC236}">
                <a16:creationId xmlns:a16="http://schemas.microsoft.com/office/drawing/2014/main" id="{A831D9BA-D8D9-606A-6D74-45DEE823A1E7}"/>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ДЕМОНСТРАЦИЯ</a:t>
            </a:r>
            <a:endParaRPr sz="1100" b="0" i="0" u="none" strike="noStrike" cap="none" dirty="0">
              <a:solidFill>
                <a:schemeClr val="dk1"/>
              </a:solidFill>
              <a:latin typeface="Calibri"/>
              <a:ea typeface="Calibri"/>
              <a:cs typeface="Calibri"/>
              <a:sym typeface="Calibri"/>
            </a:endParaRPr>
          </a:p>
        </p:txBody>
      </p:sp>
      <p:sp>
        <p:nvSpPr>
          <p:cNvPr id="683" name="Google Shape;683;p36">
            <a:extLst>
              <a:ext uri="{FF2B5EF4-FFF2-40B4-BE49-F238E27FC236}">
                <a16:creationId xmlns:a16="http://schemas.microsoft.com/office/drawing/2014/main" id="{307A8907-783A-3573-7CEA-CC406AD051E8}"/>
              </a:ext>
            </a:extLst>
          </p:cNvPr>
          <p:cNvSpPr/>
          <p:nvPr/>
        </p:nvSpPr>
        <p:spPr>
          <a:xfrm>
            <a:off x="342900" y="90377"/>
            <a:ext cx="313182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000" b="1" dirty="0">
                <a:solidFill>
                  <a:srgbClr val="1E293B"/>
                </a:solidFill>
                <a:latin typeface="Cambria"/>
                <a:ea typeface="Cambria"/>
                <a:cs typeface="Calibri"/>
                <a:sym typeface="Cambria"/>
              </a:rPr>
              <a:t>Обяви</a:t>
            </a:r>
            <a:endParaRPr sz="2000" b="0" i="0" u="none" strike="noStrike" cap="none" dirty="0">
              <a:solidFill>
                <a:schemeClr val="dk1"/>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1CE85FC7-7849-F672-7593-A2971BC06F91}"/>
              </a:ext>
            </a:extLst>
          </p:cNvPr>
          <p:cNvPicPr>
            <a:picLocks noChangeAspect="1"/>
          </p:cNvPicPr>
          <p:nvPr/>
        </p:nvPicPr>
        <p:blipFill>
          <a:blip r:embed="rId3"/>
          <a:stretch>
            <a:fillRect/>
          </a:stretch>
        </p:blipFill>
        <p:spPr>
          <a:xfrm>
            <a:off x="464832" y="754772"/>
            <a:ext cx="5654163" cy="4068687"/>
          </a:xfrm>
          <a:prstGeom prst="rect">
            <a:avLst/>
          </a:prstGeom>
          <a:ln>
            <a:solidFill>
              <a:schemeClr val="bg1">
                <a:lumMod val="65000"/>
              </a:schemeClr>
            </a:solidFill>
          </a:ln>
        </p:spPr>
      </p:pic>
      <p:pic>
        <p:nvPicPr>
          <p:cNvPr id="6" name="Picture 5">
            <a:extLst>
              <a:ext uri="{FF2B5EF4-FFF2-40B4-BE49-F238E27FC236}">
                <a16:creationId xmlns:a16="http://schemas.microsoft.com/office/drawing/2014/main" id="{F43D2428-FC62-9E34-DF1D-2F50AF3DBDF6}"/>
              </a:ext>
            </a:extLst>
          </p:cNvPr>
          <p:cNvPicPr>
            <a:picLocks noChangeAspect="1"/>
          </p:cNvPicPr>
          <p:nvPr/>
        </p:nvPicPr>
        <p:blipFill>
          <a:blip r:embed="rId4"/>
          <a:stretch>
            <a:fillRect/>
          </a:stretch>
        </p:blipFill>
        <p:spPr>
          <a:xfrm>
            <a:off x="6240927" y="754772"/>
            <a:ext cx="2736073" cy="3680069"/>
          </a:xfrm>
          <a:prstGeom prst="rect">
            <a:avLst/>
          </a:prstGeom>
          <a:ln>
            <a:solidFill>
              <a:schemeClr val="bg1">
                <a:lumMod val="65000"/>
              </a:schemeClr>
            </a:solidFill>
          </a:ln>
        </p:spPr>
      </p:pic>
    </p:spTree>
    <p:extLst>
      <p:ext uri="{BB962C8B-B14F-4D97-AF65-F5344CB8AC3E}">
        <p14:creationId xmlns:p14="http://schemas.microsoft.com/office/powerpoint/2010/main" val="4764763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a:extLst>
            <a:ext uri="{FF2B5EF4-FFF2-40B4-BE49-F238E27FC236}">
              <a16:creationId xmlns:a16="http://schemas.microsoft.com/office/drawing/2014/main" id="{3E96FFE0-3836-6CF2-3AFF-11300DB94BD8}"/>
            </a:ext>
          </a:extLst>
        </p:cNvPr>
        <p:cNvGrpSpPr/>
        <p:nvPr/>
      </p:nvGrpSpPr>
      <p:grpSpPr>
        <a:xfrm>
          <a:off x="0" y="0"/>
          <a:ext cx="0" cy="0"/>
          <a:chOff x="0" y="0"/>
          <a:chExt cx="0" cy="0"/>
        </a:xfrm>
      </p:grpSpPr>
      <p:sp>
        <p:nvSpPr>
          <p:cNvPr id="676" name="Google Shape;676;p36">
            <a:extLst>
              <a:ext uri="{FF2B5EF4-FFF2-40B4-BE49-F238E27FC236}">
                <a16:creationId xmlns:a16="http://schemas.microsoft.com/office/drawing/2014/main" id="{37175089-1D2D-2176-60C7-579573DC0DEE}"/>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7" name="Google Shape;677;p36">
            <a:extLst>
              <a:ext uri="{FF2B5EF4-FFF2-40B4-BE49-F238E27FC236}">
                <a16:creationId xmlns:a16="http://schemas.microsoft.com/office/drawing/2014/main" id="{8BFC6DE7-D70A-9B11-DD49-6B30915FFA85}"/>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8" name="Google Shape;678;p36">
            <a:extLst>
              <a:ext uri="{FF2B5EF4-FFF2-40B4-BE49-F238E27FC236}">
                <a16:creationId xmlns:a16="http://schemas.microsoft.com/office/drawing/2014/main" id="{C1EC0CD5-0403-B525-B4BF-BC5B21D5CD53}"/>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ДЕМОНСТРАЦИЯ</a:t>
            </a:r>
            <a:endParaRPr sz="1100" b="0" i="0" u="none" strike="noStrike" cap="none" dirty="0">
              <a:solidFill>
                <a:schemeClr val="dk1"/>
              </a:solidFill>
              <a:latin typeface="Calibri"/>
              <a:ea typeface="Calibri"/>
              <a:cs typeface="Calibri"/>
              <a:sym typeface="Calibri"/>
            </a:endParaRPr>
          </a:p>
        </p:txBody>
      </p:sp>
      <p:sp>
        <p:nvSpPr>
          <p:cNvPr id="683" name="Google Shape;683;p36">
            <a:extLst>
              <a:ext uri="{FF2B5EF4-FFF2-40B4-BE49-F238E27FC236}">
                <a16:creationId xmlns:a16="http://schemas.microsoft.com/office/drawing/2014/main" id="{DBA0FD4B-7594-6964-B809-62531FD9E33A}"/>
              </a:ext>
            </a:extLst>
          </p:cNvPr>
          <p:cNvSpPr/>
          <p:nvPr/>
        </p:nvSpPr>
        <p:spPr>
          <a:xfrm>
            <a:off x="342900" y="90377"/>
            <a:ext cx="313182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000" b="1" dirty="0">
                <a:solidFill>
                  <a:srgbClr val="1E293B"/>
                </a:solidFill>
                <a:latin typeface="Cambria"/>
                <a:ea typeface="Cambria"/>
                <a:cs typeface="Calibri"/>
                <a:sym typeface="Cambria"/>
              </a:rPr>
              <a:t>Преглед на обява</a:t>
            </a:r>
            <a:endParaRPr sz="2000" b="0" i="0" u="none" strike="noStrike" cap="none" dirty="0">
              <a:solidFill>
                <a:schemeClr val="dk1"/>
              </a:solidFill>
              <a:latin typeface="Calibri"/>
              <a:ea typeface="Calibri"/>
              <a:cs typeface="Calibri"/>
              <a:sym typeface="Calibri"/>
            </a:endParaRPr>
          </a:p>
        </p:txBody>
      </p:sp>
      <p:sp>
        <p:nvSpPr>
          <p:cNvPr id="3" name="Google Shape;679;p36">
            <a:extLst>
              <a:ext uri="{FF2B5EF4-FFF2-40B4-BE49-F238E27FC236}">
                <a16:creationId xmlns:a16="http://schemas.microsoft.com/office/drawing/2014/main" id="{DCE55E22-9F8F-ECF5-C241-DD993D9270BE}"/>
              </a:ext>
            </a:extLst>
          </p:cNvPr>
          <p:cNvSpPr/>
          <p:nvPr/>
        </p:nvSpPr>
        <p:spPr>
          <a:xfrm>
            <a:off x="7355840" y="0"/>
            <a:ext cx="1788160" cy="288036"/>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 name="Google Shape;679;p36">
            <a:extLst>
              <a:ext uri="{FF2B5EF4-FFF2-40B4-BE49-F238E27FC236}">
                <a16:creationId xmlns:a16="http://schemas.microsoft.com/office/drawing/2014/main" id="{7A9A6566-84A6-3BD6-94E2-BF8587C3CAF3}"/>
              </a:ext>
            </a:extLst>
          </p:cNvPr>
          <p:cNvSpPr/>
          <p:nvPr/>
        </p:nvSpPr>
        <p:spPr>
          <a:xfrm>
            <a:off x="7355840" y="107283"/>
            <a:ext cx="1788160" cy="361506"/>
          </a:xfrm>
          <a:prstGeom prst="roundRect">
            <a:avLst>
              <a:gd name="adj" fmla="val 50000"/>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 name="Google Shape;680;p36">
            <a:extLst>
              <a:ext uri="{FF2B5EF4-FFF2-40B4-BE49-F238E27FC236}">
                <a16:creationId xmlns:a16="http://schemas.microsoft.com/office/drawing/2014/main" id="{ABBE70E2-8A35-D149-8FEB-5ECCABA30532}"/>
              </a:ext>
            </a:extLst>
          </p:cNvPr>
          <p:cNvSpPr/>
          <p:nvPr/>
        </p:nvSpPr>
        <p:spPr>
          <a:xfrm>
            <a:off x="7608309" y="90377"/>
            <a:ext cx="1283221" cy="2880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E293B"/>
              </a:buClr>
              <a:buSzPts val="800"/>
              <a:buFont typeface="Calibri"/>
              <a:buNone/>
            </a:pPr>
            <a:r>
              <a:rPr lang="bg" sz="1600" b="1" i="0" u="none" strike="noStrike" cap="none" dirty="0">
                <a:solidFill>
                  <a:schemeClr val="bg1"/>
                </a:solidFill>
                <a:latin typeface="Calibri"/>
                <a:ea typeface="Calibri"/>
                <a:cs typeface="Calibri"/>
                <a:sym typeface="Calibri"/>
              </a:rPr>
              <a:t>СПЕЦИАЛИСТ</a:t>
            </a:r>
            <a:endParaRPr sz="1600" b="0" i="0" u="none" strike="noStrike" cap="none" dirty="0">
              <a:solidFill>
                <a:schemeClr val="bg1"/>
              </a:solidFill>
              <a:latin typeface="Calibri"/>
              <a:ea typeface="Calibri"/>
              <a:cs typeface="Calibri"/>
              <a:sym typeface="Calibri"/>
            </a:endParaRPr>
          </a:p>
        </p:txBody>
      </p:sp>
      <p:pic>
        <p:nvPicPr>
          <p:cNvPr id="7" name="Picture 6">
            <a:extLst>
              <a:ext uri="{FF2B5EF4-FFF2-40B4-BE49-F238E27FC236}">
                <a16:creationId xmlns:a16="http://schemas.microsoft.com/office/drawing/2014/main" id="{ADBB5063-C650-C232-13C7-038978EE4BE1}"/>
              </a:ext>
            </a:extLst>
          </p:cNvPr>
          <p:cNvPicPr>
            <a:picLocks noChangeAspect="1"/>
          </p:cNvPicPr>
          <p:nvPr/>
        </p:nvPicPr>
        <p:blipFill>
          <a:blip r:embed="rId3"/>
          <a:stretch>
            <a:fillRect/>
          </a:stretch>
        </p:blipFill>
        <p:spPr>
          <a:xfrm>
            <a:off x="1077452" y="972503"/>
            <a:ext cx="3278648" cy="3833864"/>
          </a:xfrm>
          <a:prstGeom prst="rect">
            <a:avLst/>
          </a:prstGeom>
          <a:ln>
            <a:solidFill>
              <a:schemeClr val="tx2">
                <a:lumMod val="75000"/>
              </a:schemeClr>
            </a:solidFill>
          </a:ln>
        </p:spPr>
      </p:pic>
      <p:pic>
        <p:nvPicPr>
          <p:cNvPr id="10" name="Picture 9">
            <a:extLst>
              <a:ext uri="{FF2B5EF4-FFF2-40B4-BE49-F238E27FC236}">
                <a16:creationId xmlns:a16="http://schemas.microsoft.com/office/drawing/2014/main" id="{189156AA-7C2D-9FEF-8E7A-E9A5FED25727}"/>
              </a:ext>
            </a:extLst>
          </p:cNvPr>
          <p:cNvPicPr>
            <a:picLocks noChangeAspect="1"/>
          </p:cNvPicPr>
          <p:nvPr/>
        </p:nvPicPr>
        <p:blipFill>
          <a:blip r:embed="rId4"/>
          <a:stretch>
            <a:fillRect/>
          </a:stretch>
        </p:blipFill>
        <p:spPr>
          <a:xfrm>
            <a:off x="4787902" y="1051769"/>
            <a:ext cx="3583325" cy="3328888"/>
          </a:xfrm>
          <a:prstGeom prst="rect">
            <a:avLst/>
          </a:prstGeom>
          <a:ln>
            <a:solidFill>
              <a:schemeClr val="tx2">
                <a:lumMod val="75000"/>
              </a:schemeClr>
            </a:solidFill>
          </a:ln>
        </p:spPr>
      </p:pic>
    </p:spTree>
    <p:extLst>
      <p:ext uri="{BB962C8B-B14F-4D97-AF65-F5344CB8AC3E}">
        <p14:creationId xmlns:p14="http://schemas.microsoft.com/office/powerpoint/2010/main" val="13856338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a:extLst>
            <a:ext uri="{FF2B5EF4-FFF2-40B4-BE49-F238E27FC236}">
              <a16:creationId xmlns:a16="http://schemas.microsoft.com/office/drawing/2014/main" id="{8FC4BBF3-2885-9C9D-6627-78F1D6DC3748}"/>
            </a:ext>
          </a:extLst>
        </p:cNvPr>
        <p:cNvGrpSpPr/>
        <p:nvPr/>
      </p:nvGrpSpPr>
      <p:grpSpPr>
        <a:xfrm>
          <a:off x="0" y="0"/>
          <a:ext cx="0" cy="0"/>
          <a:chOff x="0" y="0"/>
          <a:chExt cx="0" cy="0"/>
        </a:xfrm>
      </p:grpSpPr>
      <p:sp>
        <p:nvSpPr>
          <p:cNvPr id="2" name="Google Shape;679;p36">
            <a:extLst>
              <a:ext uri="{FF2B5EF4-FFF2-40B4-BE49-F238E27FC236}">
                <a16:creationId xmlns:a16="http://schemas.microsoft.com/office/drawing/2014/main" id="{EFC9EF72-5ABA-E629-0687-6374AA29CBE9}"/>
              </a:ext>
            </a:extLst>
          </p:cNvPr>
          <p:cNvSpPr/>
          <p:nvPr/>
        </p:nvSpPr>
        <p:spPr>
          <a:xfrm>
            <a:off x="7355840" y="0"/>
            <a:ext cx="1788160" cy="288036"/>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6" name="Google Shape;676;p36">
            <a:extLst>
              <a:ext uri="{FF2B5EF4-FFF2-40B4-BE49-F238E27FC236}">
                <a16:creationId xmlns:a16="http://schemas.microsoft.com/office/drawing/2014/main" id="{7EA13C0C-A056-FC1A-FAE7-776268146530}"/>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7" name="Google Shape;677;p36">
            <a:extLst>
              <a:ext uri="{FF2B5EF4-FFF2-40B4-BE49-F238E27FC236}">
                <a16:creationId xmlns:a16="http://schemas.microsoft.com/office/drawing/2014/main" id="{FCDE792B-0CD1-E34C-131A-9BD2517E50D0}"/>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8" name="Google Shape;678;p36">
            <a:extLst>
              <a:ext uri="{FF2B5EF4-FFF2-40B4-BE49-F238E27FC236}">
                <a16:creationId xmlns:a16="http://schemas.microsoft.com/office/drawing/2014/main" id="{5E18DD2A-42D2-7D57-3D52-9C89C7CFDF98}"/>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ДЕМОНСТРАЦИЯ</a:t>
            </a:r>
            <a:endParaRPr sz="1100" b="0" i="0" u="none" strike="noStrike" cap="none" dirty="0">
              <a:solidFill>
                <a:schemeClr val="dk1"/>
              </a:solidFill>
              <a:latin typeface="Calibri"/>
              <a:ea typeface="Calibri"/>
              <a:cs typeface="Calibri"/>
              <a:sym typeface="Calibri"/>
            </a:endParaRPr>
          </a:p>
        </p:txBody>
      </p:sp>
      <p:sp>
        <p:nvSpPr>
          <p:cNvPr id="679" name="Google Shape;679;p36">
            <a:extLst>
              <a:ext uri="{FF2B5EF4-FFF2-40B4-BE49-F238E27FC236}">
                <a16:creationId xmlns:a16="http://schemas.microsoft.com/office/drawing/2014/main" id="{ED25A390-9164-786C-24AD-BF4D98AFD6D2}"/>
              </a:ext>
            </a:extLst>
          </p:cNvPr>
          <p:cNvSpPr/>
          <p:nvPr/>
        </p:nvSpPr>
        <p:spPr>
          <a:xfrm>
            <a:off x="7355840" y="107283"/>
            <a:ext cx="1788160" cy="361506"/>
          </a:xfrm>
          <a:prstGeom prst="roundRect">
            <a:avLst>
              <a:gd name="adj" fmla="val 50000"/>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80" name="Google Shape;680;p36">
            <a:extLst>
              <a:ext uri="{FF2B5EF4-FFF2-40B4-BE49-F238E27FC236}">
                <a16:creationId xmlns:a16="http://schemas.microsoft.com/office/drawing/2014/main" id="{03FBA5D2-5506-78C5-47AA-731D05098120}"/>
              </a:ext>
            </a:extLst>
          </p:cNvPr>
          <p:cNvSpPr/>
          <p:nvPr/>
        </p:nvSpPr>
        <p:spPr>
          <a:xfrm>
            <a:off x="7608309" y="90377"/>
            <a:ext cx="1283221" cy="2880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E293B"/>
              </a:buClr>
              <a:buSzPts val="800"/>
              <a:buFont typeface="Calibri"/>
              <a:buNone/>
            </a:pPr>
            <a:r>
              <a:rPr lang="bg" sz="1600" b="1" i="0" u="none" strike="noStrike" cap="none" dirty="0">
                <a:solidFill>
                  <a:schemeClr val="bg1"/>
                </a:solidFill>
                <a:latin typeface="Calibri"/>
                <a:ea typeface="Calibri"/>
                <a:cs typeface="Calibri"/>
                <a:sym typeface="Calibri"/>
              </a:rPr>
              <a:t>СПЕЦИАЛИСТ</a:t>
            </a:r>
            <a:endParaRPr sz="1600" b="0" i="0" u="none" strike="noStrike" cap="none" dirty="0">
              <a:solidFill>
                <a:schemeClr val="bg1"/>
              </a:solidFill>
              <a:latin typeface="Calibri"/>
              <a:ea typeface="Calibri"/>
              <a:cs typeface="Calibri"/>
              <a:sym typeface="Calibri"/>
            </a:endParaRPr>
          </a:p>
        </p:txBody>
      </p:sp>
      <p:sp>
        <p:nvSpPr>
          <p:cNvPr id="3" name="Google Shape;683;p36">
            <a:extLst>
              <a:ext uri="{FF2B5EF4-FFF2-40B4-BE49-F238E27FC236}">
                <a16:creationId xmlns:a16="http://schemas.microsoft.com/office/drawing/2014/main" id="{5AD872B3-D0C8-AF3E-0A68-9EB1C95E3102}"/>
              </a:ext>
            </a:extLst>
          </p:cNvPr>
          <p:cNvSpPr/>
          <p:nvPr/>
        </p:nvSpPr>
        <p:spPr>
          <a:xfrm>
            <a:off x="342900" y="90377"/>
            <a:ext cx="616458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ru-RU" sz="2000" b="1" dirty="0">
                <a:solidFill>
                  <a:srgbClr val="1E293B"/>
                </a:solidFill>
                <a:latin typeface="Cambria"/>
                <a:ea typeface="Cambria"/>
                <a:cs typeface="Calibri"/>
                <a:sym typeface="Cambria"/>
              </a:rPr>
              <a:t>Преглед на обява, условия за кандидатстване</a:t>
            </a:r>
            <a:endParaRPr lang="ru-RU" sz="2000" b="0" i="0" u="none" strike="noStrike" cap="none" dirty="0">
              <a:solidFill>
                <a:schemeClr val="dk1"/>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5DDC8C11-4281-14A7-7A36-D5A233FA79E2}"/>
              </a:ext>
            </a:extLst>
          </p:cNvPr>
          <p:cNvPicPr>
            <a:picLocks noChangeAspect="1"/>
          </p:cNvPicPr>
          <p:nvPr/>
        </p:nvPicPr>
        <p:blipFill>
          <a:blip r:embed="rId3"/>
          <a:srcRect r="33265"/>
          <a:stretch/>
        </p:blipFill>
        <p:spPr>
          <a:xfrm>
            <a:off x="492759" y="622856"/>
            <a:ext cx="4566921" cy="2828988"/>
          </a:xfrm>
          <a:prstGeom prst="rect">
            <a:avLst/>
          </a:prstGeom>
        </p:spPr>
      </p:pic>
      <p:pic>
        <p:nvPicPr>
          <p:cNvPr id="6" name="Picture 5">
            <a:extLst>
              <a:ext uri="{FF2B5EF4-FFF2-40B4-BE49-F238E27FC236}">
                <a16:creationId xmlns:a16="http://schemas.microsoft.com/office/drawing/2014/main" id="{0577538D-0D3D-C561-F3E8-E90768B8B200}"/>
              </a:ext>
            </a:extLst>
          </p:cNvPr>
          <p:cNvPicPr>
            <a:picLocks noChangeAspect="1"/>
          </p:cNvPicPr>
          <p:nvPr/>
        </p:nvPicPr>
        <p:blipFill>
          <a:blip r:embed="rId3"/>
          <a:srcRect l="66735" t="49693"/>
          <a:stretch/>
        </p:blipFill>
        <p:spPr>
          <a:xfrm>
            <a:off x="498236" y="3451844"/>
            <a:ext cx="2310604" cy="1444546"/>
          </a:xfrm>
          <a:prstGeom prst="rect">
            <a:avLst/>
          </a:prstGeom>
        </p:spPr>
      </p:pic>
      <p:pic>
        <p:nvPicPr>
          <p:cNvPr id="7" name="Picture 6">
            <a:extLst>
              <a:ext uri="{FF2B5EF4-FFF2-40B4-BE49-F238E27FC236}">
                <a16:creationId xmlns:a16="http://schemas.microsoft.com/office/drawing/2014/main" id="{2619D761-8FC6-5170-1AF3-303A70332A7D}"/>
              </a:ext>
            </a:extLst>
          </p:cNvPr>
          <p:cNvPicPr>
            <a:picLocks noChangeAspect="1"/>
          </p:cNvPicPr>
          <p:nvPr/>
        </p:nvPicPr>
        <p:blipFill>
          <a:blip r:embed="rId3"/>
          <a:srcRect l="66735" t="49693"/>
          <a:stretch/>
        </p:blipFill>
        <p:spPr>
          <a:xfrm>
            <a:off x="2762648" y="3451844"/>
            <a:ext cx="2310604" cy="1444546"/>
          </a:xfrm>
          <a:prstGeom prst="rect">
            <a:avLst/>
          </a:prstGeom>
        </p:spPr>
      </p:pic>
      <p:graphicFrame>
        <p:nvGraphicFramePr>
          <p:cNvPr id="8" name="Table 7">
            <a:extLst>
              <a:ext uri="{FF2B5EF4-FFF2-40B4-BE49-F238E27FC236}">
                <a16:creationId xmlns:a16="http://schemas.microsoft.com/office/drawing/2014/main" id="{AFB62F4E-0071-C464-EB4C-4E499E31B34B}"/>
              </a:ext>
            </a:extLst>
          </p:cNvPr>
          <p:cNvGraphicFramePr>
            <a:graphicFrameLocks noGrp="1"/>
          </p:cNvGraphicFramePr>
          <p:nvPr>
            <p:extLst>
              <p:ext uri="{D42A27DB-BD31-4B8C-83A1-F6EECF244321}">
                <p14:modId xmlns:p14="http://schemas.microsoft.com/office/powerpoint/2010/main" val="1614684004"/>
              </p:ext>
            </p:extLst>
          </p:nvPr>
        </p:nvGraphicFramePr>
        <p:xfrm>
          <a:off x="5209539" y="622856"/>
          <a:ext cx="3782061" cy="3620964"/>
        </p:xfrm>
        <a:graphic>
          <a:graphicData uri="http://schemas.openxmlformats.org/drawingml/2006/table">
            <a:tbl>
              <a:tblPr firstRow="1" bandRow="1">
                <a:tableStyleId>{0E3FDE45-AF77-4B5C-9715-49D594BDF05E}</a:tableStyleId>
              </a:tblPr>
              <a:tblGrid>
                <a:gridCol w="1709422">
                  <a:extLst>
                    <a:ext uri="{9D8B030D-6E8A-4147-A177-3AD203B41FA5}">
                      <a16:colId xmlns:a16="http://schemas.microsoft.com/office/drawing/2014/main" val="3159983359"/>
                    </a:ext>
                  </a:extLst>
                </a:gridCol>
                <a:gridCol w="1120140">
                  <a:extLst>
                    <a:ext uri="{9D8B030D-6E8A-4147-A177-3AD203B41FA5}">
                      <a16:colId xmlns:a16="http://schemas.microsoft.com/office/drawing/2014/main" val="3526619527"/>
                    </a:ext>
                  </a:extLst>
                </a:gridCol>
                <a:gridCol w="952499">
                  <a:extLst>
                    <a:ext uri="{9D8B030D-6E8A-4147-A177-3AD203B41FA5}">
                      <a16:colId xmlns:a16="http://schemas.microsoft.com/office/drawing/2014/main" val="1110733646"/>
                    </a:ext>
                  </a:extLst>
                </a:gridCol>
              </a:tblGrid>
              <a:tr h="0">
                <a:tc>
                  <a:txBody>
                    <a:bodyPr/>
                    <a:lstStyle/>
                    <a:p>
                      <a:pPr algn="just">
                        <a:lnSpc>
                          <a:spcPts val="1700"/>
                        </a:lnSpc>
                        <a:spcBef>
                          <a:spcPts val="600"/>
                        </a:spcBef>
                        <a:spcAft>
                          <a:spcPts val="600"/>
                        </a:spcAft>
                        <a:buNone/>
                      </a:pPr>
                      <a:r>
                        <a:rPr lang="bg-BG" sz="1400" dirty="0">
                          <a:solidFill>
                            <a:srgbClr val="1E293B"/>
                          </a:solidFill>
                          <a:effectLst/>
                          <a:latin typeface="Calibri" panose="020F0502020204030204" pitchFamily="34" charset="0"/>
                          <a:ea typeface="Calibri" panose="020F0502020204030204" pitchFamily="34" charset="0"/>
                          <a:cs typeface="Calibri" panose="020F0502020204030204" pitchFamily="34" charset="0"/>
                        </a:rPr>
                        <a:t>Условие</a:t>
                      </a:r>
                      <a:endParaRPr lang="en-150" sz="1400" dirty="0">
                        <a:solidFill>
                          <a:srgbClr val="1E293B"/>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tc>
                  <a:txBody>
                    <a:bodyPr/>
                    <a:lstStyle/>
                    <a:p>
                      <a:pPr algn="l">
                        <a:lnSpc>
                          <a:spcPts val="1700"/>
                        </a:lnSpc>
                        <a:spcBef>
                          <a:spcPts val="600"/>
                        </a:spcBef>
                        <a:spcAft>
                          <a:spcPts val="600"/>
                        </a:spcAft>
                        <a:buNone/>
                      </a:pPr>
                      <a:r>
                        <a:rPr lang="bg-BG" sz="1400" dirty="0">
                          <a:solidFill>
                            <a:srgbClr val="1E293B"/>
                          </a:solidFill>
                          <a:effectLst/>
                          <a:latin typeface="Calibri" panose="020F0502020204030204" pitchFamily="34" charset="0"/>
                          <a:ea typeface="Calibri" panose="020F0502020204030204" pitchFamily="34" charset="0"/>
                          <a:cs typeface="Calibri" panose="020F0502020204030204" pitchFamily="34" charset="0"/>
                        </a:rPr>
                        <a:t>Бутон</a:t>
                      </a:r>
                      <a:endParaRPr lang="en-150" sz="1400" dirty="0">
                        <a:solidFill>
                          <a:srgbClr val="1E293B"/>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tc>
                  <a:txBody>
                    <a:bodyPr/>
                    <a:lstStyle/>
                    <a:p>
                      <a:pPr algn="l">
                        <a:lnSpc>
                          <a:spcPts val="1700"/>
                        </a:lnSpc>
                        <a:spcBef>
                          <a:spcPts val="600"/>
                        </a:spcBef>
                        <a:spcAft>
                          <a:spcPts val="600"/>
                        </a:spcAft>
                        <a:buNone/>
                      </a:pPr>
                      <a:r>
                        <a:rPr lang="bg-BG" sz="1400" dirty="0">
                          <a:solidFill>
                            <a:srgbClr val="1E293B"/>
                          </a:solidFill>
                          <a:effectLst/>
                          <a:latin typeface="Calibri" panose="020F0502020204030204" pitchFamily="34" charset="0"/>
                          <a:ea typeface="Calibri" panose="020F0502020204030204" pitchFamily="34" charset="0"/>
                          <a:cs typeface="Calibri" panose="020F0502020204030204" pitchFamily="34" charset="0"/>
                        </a:rPr>
                        <a:t>Действие</a:t>
                      </a:r>
                      <a:endParaRPr lang="en-150" sz="1400" dirty="0">
                        <a:solidFill>
                          <a:srgbClr val="1E293B"/>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extLst>
                  <a:ext uri="{0D108BD9-81ED-4DB2-BD59-A6C34878D82A}">
                    <a16:rowId xmlns:a16="http://schemas.microsoft.com/office/drawing/2014/main" val="1428849218"/>
                  </a:ext>
                </a:extLst>
              </a:tr>
              <a:tr h="0">
                <a:tc>
                  <a:txBody>
                    <a:bodyPr/>
                    <a:lstStyle/>
                    <a:p>
                      <a:pPr algn="l">
                        <a:lnSpc>
                          <a:spcPts val="1700"/>
                        </a:lnSpc>
                        <a:spcBef>
                          <a:spcPts val="600"/>
                        </a:spcBef>
                        <a:spcAft>
                          <a:spcPts val="600"/>
                        </a:spcAft>
                        <a:buNone/>
                      </a:pPr>
                      <a:r>
                        <a:rPr lang="bg-BG" sz="1400" dirty="0">
                          <a:solidFill>
                            <a:srgbClr val="1E293B"/>
                          </a:solidFill>
                          <a:effectLst/>
                          <a:latin typeface="Calibri" panose="020F0502020204030204" pitchFamily="34" charset="0"/>
                          <a:ea typeface="Calibri" panose="020F0502020204030204" pitchFamily="34" charset="0"/>
                          <a:cs typeface="Calibri" panose="020F0502020204030204" pitchFamily="34" charset="0"/>
                        </a:rPr>
                        <a:t>Не съществува качено резюме</a:t>
                      </a:r>
                      <a:endParaRPr lang="en-150" sz="1400" dirty="0">
                        <a:solidFill>
                          <a:srgbClr val="1E293B"/>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tc>
                  <a:txBody>
                    <a:bodyPr/>
                    <a:lstStyle/>
                    <a:p>
                      <a:pPr algn="l">
                        <a:lnSpc>
                          <a:spcPts val="1700"/>
                        </a:lnSpc>
                        <a:spcBef>
                          <a:spcPts val="600"/>
                        </a:spcBef>
                        <a:spcAft>
                          <a:spcPts val="600"/>
                        </a:spcAft>
                        <a:buNone/>
                      </a:pPr>
                      <a:r>
                        <a:rPr lang="en-US" sz="1400" b="1" dirty="0">
                          <a:solidFill>
                            <a:srgbClr val="1E293B"/>
                          </a:solidFill>
                          <a:effectLst/>
                          <a:latin typeface="Calibri" panose="020F0502020204030204" pitchFamily="34" charset="0"/>
                          <a:ea typeface="Calibri" panose="020F0502020204030204" pitchFamily="34" charset="0"/>
                          <a:cs typeface="Calibri" panose="020F0502020204030204" pitchFamily="34" charset="0"/>
                        </a:rPr>
                        <a:t>Upload CV to apply</a:t>
                      </a:r>
                      <a:endParaRPr lang="en-150" sz="1400" b="1" dirty="0">
                        <a:solidFill>
                          <a:srgbClr val="1E293B"/>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tc>
                  <a:txBody>
                    <a:bodyPr/>
                    <a:lstStyle/>
                    <a:p>
                      <a:pPr algn="l">
                        <a:lnSpc>
                          <a:spcPts val="1700"/>
                        </a:lnSpc>
                        <a:spcBef>
                          <a:spcPts val="600"/>
                        </a:spcBef>
                        <a:spcAft>
                          <a:spcPts val="600"/>
                        </a:spcAft>
                        <a:buNone/>
                      </a:pPr>
                      <a:r>
                        <a:rPr lang="bg-BG" sz="1400">
                          <a:solidFill>
                            <a:srgbClr val="1E293B"/>
                          </a:solidFill>
                          <a:effectLst/>
                          <a:latin typeface="Calibri" panose="020F0502020204030204" pitchFamily="34" charset="0"/>
                          <a:ea typeface="Calibri" panose="020F0502020204030204" pitchFamily="34" charset="0"/>
                          <a:cs typeface="Calibri" panose="020F0502020204030204" pitchFamily="34" charset="0"/>
                        </a:rPr>
                        <a:t>Няма</a:t>
                      </a:r>
                      <a:endParaRPr lang="en-150" sz="1400">
                        <a:solidFill>
                          <a:srgbClr val="1E293B"/>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extLst>
                  <a:ext uri="{0D108BD9-81ED-4DB2-BD59-A6C34878D82A}">
                    <a16:rowId xmlns:a16="http://schemas.microsoft.com/office/drawing/2014/main" val="284688655"/>
                  </a:ext>
                </a:extLst>
              </a:tr>
              <a:tr h="0">
                <a:tc>
                  <a:txBody>
                    <a:bodyPr/>
                    <a:lstStyle/>
                    <a:p>
                      <a:pPr algn="l">
                        <a:lnSpc>
                          <a:spcPts val="1700"/>
                        </a:lnSpc>
                        <a:spcBef>
                          <a:spcPts val="600"/>
                        </a:spcBef>
                        <a:spcAft>
                          <a:spcPts val="600"/>
                        </a:spcAft>
                        <a:buNone/>
                      </a:pPr>
                      <a:r>
                        <a:rPr lang="bg-BG" sz="1400">
                          <a:solidFill>
                            <a:srgbClr val="1E293B"/>
                          </a:solidFill>
                          <a:effectLst/>
                          <a:latin typeface="Calibri" panose="020F0502020204030204" pitchFamily="34" charset="0"/>
                          <a:ea typeface="Calibri" panose="020F0502020204030204" pitchFamily="34" charset="0"/>
                          <a:cs typeface="Calibri" panose="020F0502020204030204" pitchFamily="34" charset="0"/>
                        </a:rPr>
                        <a:t>Данните за профила не са попълнени</a:t>
                      </a:r>
                      <a:endParaRPr lang="en-150" sz="1400">
                        <a:solidFill>
                          <a:srgbClr val="1E293B"/>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tc>
                  <a:txBody>
                    <a:bodyPr/>
                    <a:lstStyle/>
                    <a:p>
                      <a:pPr algn="l">
                        <a:lnSpc>
                          <a:spcPts val="1700"/>
                        </a:lnSpc>
                        <a:spcBef>
                          <a:spcPts val="600"/>
                        </a:spcBef>
                        <a:spcAft>
                          <a:spcPts val="600"/>
                        </a:spcAft>
                        <a:buNone/>
                      </a:pPr>
                      <a:r>
                        <a:rPr lang="en-US" sz="1400" b="1" dirty="0">
                          <a:solidFill>
                            <a:srgbClr val="1E293B"/>
                          </a:solidFill>
                          <a:effectLst/>
                          <a:latin typeface="Calibri" panose="020F0502020204030204" pitchFamily="34" charset="0"/>
                          <a:ea typeface="Calibri" panose="020F0502020204030204" pitchFamily="34" charset="0"/>
                          <a:cs typeface="Calibri" panose="020F0502020204030204" pitchFamily="34" charset="0"/>
                        </a:rPr>
                        <a:t>Complete profile to apply</a:t>
                      </a:r>
                      <a:endParaRPr lang="en-150" sz="1400" b="1" dirty="0">
                        <a:solidFill>
                          <a:srgbClr val="1E293B"/>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tc>
                  <a:txBody>
                    <a:bodyPr/>
                    <a:lstStyle/>
                    <a:p>
                      <a:pPr algn="l">
                        <a:lnSpc>
                          <a:spcPts val="1700"/>
                        </a:lnSpc>
                        <a:spcBef>
                          <a:spcPts val="600"/>
                        </a:spcBef>
                        <a:spcAft>
                          <a:spcPts val="600"/>
                        </a:spcAft>
                        <a:buNone/>
                      </a:pPr>
                      <a:r>
                        <a:rPr lang="bg-BG" sz="1400">
                          <a:solidFill>
                            <a:srgbClr val="1E293B"/>
                          </a:solidFill>
                          <a:effectLst/>
                          <a:latin typeface="Calibri" panose="020F0502020204030204" pitchFamily="34" charset="0"/>
                          <a:ea typeface="Calibri" panose="020F0502020204030204" pitchFamily="34" charset="0"/>
                          <a:cs typeface="Calibri" panose="020F0502020204030204" pitchFamily="34" charset="0"/>
                        </a:rPr>
                        <a:t>Няма</a:t>
                      </a:r>
                      <a:endParaRPr lang="en-150" sz="1400">
                        <a:solidFill>
                          <a:srgbClr val="1E293B"/>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extLst>
                  <a:ext uri="{0D108BD9-81ED-4DB2-BD59-A6C34878D82A}">
                    <a16:rowId xmlns:a16="http://schemas.microsoft.com/office/drawing/2014/main" val="2329842084"/>
                  </a:ext>
                </a:extLst>
              </a:tr>
              <a:tr h="0">
                <a:tc>
                  <a:txBody>
                    <a:bodyPr/>
                    <a:lstStyle/>
                    <a:p>
                      <a:pPr algn="l">
                        <a:lnSpc>
                          <a:spcPts val="1700"/>
                        </a:lnSpc>
                        <a:spcBef>
                          <a:spcPts val="600"/>
                        </a:spcBef>
                        <a:spcAft>
                          <a:spcPts val="600"/>
                        </a:spcAft>
                        <a:buNone/>
                      </a:pPr>
                      <a:r>
                        <a:rPr lang="bg-BG" sz="1400">
                          <a:solidFill>
                            <a:srgbClr val="1E293B"/>
                          </a:solidFill>
                          <a:effectLst/>
                          <a:latin typeface="Calibri" panose="020F0502020204030204" pitchFamily="34" charset="0"/>
                          <a:ea typeface="Calibri" panose="020F0502020204030204" pitchFamily="34" charset="0"/>
                          <a:cs typeface="Calibri" panose="020F0502020204030204" pitchFamily="34" charset="0"/>
                        </a:rPr>
                        <a:t>Статусът е „Не е на разположение“</a:t>
                      </a:r>
                      <a:endParaRPr lang="en-150" sz="1400">
                        <a:solidFill>
                          <a:srgbClr val="1E293B"/>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tc>
                  <a:txBody>
                    <a:bodyPr/>
                    <a:lstStyle/>
                    <a:p>
                      <a:pPr algn="l">
                        <a:lnSpc>
                          <a:spcPts val="1700"/>
                        </a:lnSpc>
                        <a:spcBef>
                          <a:spcPts val="600"/>
                        </a:spcBef>
                        <a:spcAft>
                          <a:spcPts val="600"/>
                        </a:spcAft>
                        <a:buNone/>
                      </a:pPr>
                      <a:r>
                        <a:rPr lang="en-US" sz="1400" b="1" dirty="0">
                          <a:solidFill>
                            <a:srgbClr val="1E293B"/>
                          </a:solidFill>
                          <a:effectLst/>
                          <a:latin typeface="Calibri" panose="020F0502020204030204" pitchFamily="34" charset="0"/>
                          <a:ea typeface="Calibri" panose="020F0502020204030204" pitchFamily="34" charset="0"/>
                          <a:cs typeface="Calibri" panose="020F0502020204030204" pitchFamily="34" charset="0"/>
                        </a:rPr>
                        <a:t>Cannot apply; unavailable</a:t>
                      </a:r>
                      <a:endParaRPr lang="en-150" sz="1400" b="1" dirty="0">
                        <a:solidFill>
                          <a:srgbClr val="1E293B"/>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tc>
                  <a:txBody>
                    <a:bodyPr/>
                    <a:lstStyle/>
                    <a:p>
                      <a:pPr algn="l">
                        <a:lnSpc>
                          <a:spcPts val="1700"/>
                        </a:lnSpc>
                        <a:spcBef>
                          <a:spcPts val="600"/>
                        </a:spcBef>
                        <a:spcAft>
                          <a:spcPts val="600"/>
                        </a:spcAft>
                        <a:buNone/>
                      </a:pPr>
                      <a:r>
                        <a:rPr lang="bg-BG" sz="1400" dirty="0">
                          <a:solidFill>
                            <a:srgbClr val="1E293B"/>
                          </a:solidFill>
                          <a:effectLst/>
                          <a:latin typeface="Calibri" panose="020F0502020204030204" pitchFamily="34" charset="0"/>
                          <a:ea typeface="Calibri" panose="020F0502020204030204" pitchFamily="34" charset="0"/>
                          <a:cs typeface="Calibri" panose="020F0502020204030204" pitchFamily="34" charset="0"/>
                        </a:rPr>
                        <a:t>Няма</a:t>
                      </a:r>
                      <a:endParaRPr lang="en-150" sz="1400" dirty="0">
                        <a:solidFill>
                          <a:srgbClr val="1E293B"/>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extLst>
                  <a:ext uri="{0D108BD9-81ED-4DB2-BD59-A6C34878D82A}">
                    <a16:rowId xmlns:a16="http://schemas.microsoft.com/office/drawing/2014/main" val="788737217"/>
                  </a:ext>
                </a:extLst>
              </a:tr>
              <a:tr h="0">
                <a:tc>
                  <a:txBody>
                    <a:bodyPr/>
                    <a:lstStyle/>
                    <a:p>
                      <a:pPr algn="l">
                        <a:lnSpc>
                          <a:spcPts val="1700"/>
                        </a:lnSpc>
                        <a:spcBef>
                          <a:spcPts val="600"/>
                        </a:spcBef>
                        <a:spcAft>
                          <a:spcPts val="600"/>
                        </a:spcAft>
                        <a:buNone/>
                      </a:pPr>
                      <a:r>
                        <a:rPr lang="bg-BG" sz="1400">
                          <a:solidFill>
                            <a:srgbClr val="1E293B"/>
                          </a:solidFill>
                          <a:effectLst/>
                          <a:latin typeface="Calibri" panose="020F0502020204030204" pitchFamily="34" charset="0"/>
                          <a:ea typeface="Calibri" panose="020F0502020204030204" pitchFamily="34" charset="0"/>
                          <a:cs typeface="Calibri" panose="020F0502020204030204" pitchFamily="34" charset="0"/>
                        </a:rPr>
                        <a:t>Вече има активна оферта по обявата</a:t>
                      </a:r>
                      <a:endParaRPr lang="en-150" sz="1400">
                        <a:solidFill>
                          <a:srgbClr val="1E293B"/>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tc>
                  <a:txBody>
                    <a:bodyPr/>
                    <a:lstStyle/>
                    <a:p>
                      <a:pPr algn="l">
                        <a:lnSpc>
                          <a:spcPts val="1700"/>
                        </a:lnSpc>
                        <a:spcBef>
                          <a:spcPts val="600"/>
                        </a:spcBef>
                        <a:spcAft>
                          <a:spcPts val="600"/>
                        </a:spcAft>
                        <a:buNone/>
                      </a:pPr>
                      <a:r>
                        <a:rPr lang="en-US" sz="1400" b="1" dirty="0">
                          <a:solidFill>
                            <a:srgbClr val="1E293B"/>
                          </a:solidFill>
                          <a:effectLst/>
                          <a:latin typeface="Calibri" panose="020F0502020204030204" pitchFamily="34" charset="0"/>
                          <a:ea typeface="Calibri" panose="020F0502020204030204" pitchFamily="34" charset="0"/>
                          <a:cs typeface="Calibri" panose="020F0502020204030204" pitchFamily="34" charset="0"/>
                        </a:rPr>
                        <a:t>View offer</a:t>
                      </a:r>
                      <a:endParaRPr lang="en-150" sz="1400" b="1" dirty="0">
                        <a:solidFill>
                          <a:srgbClr val="1E293B"/>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tc>
                  <a:txBody>
                    <a:bodyPr/>
                    <a:lstStyle/>
                    <a:p>
                      <a:pPr algn="l">
                        <a:lnSpc>
                          <a:spcPts val="1700"/>
                        </a:lnSpc>
                        <a:spcBef>
                          <a:spcPts val="600"/>
                        </a:spcBef>
                        <a:spcAft>
                          <a:spcPts val="600"/>
                        </a:spcAft>
                        <a:buNone/>
                      </a:pPr>
                      <a:r>
                        <a:rPr lang="bg-BG" sz="1400" dirty="0">
                          <a:solidFill>
                            <a:srgbClr val="1E293B"/>
                          </a:solidFill>
                          <a:effectLst/>
                          <a:latin typeface="Calibri" panose="020F0502020204030204" pitchFamily="34" charset="0"/>
                          <a:ea typeface="Calibri" panose="020F0502020204030204" pitchFamily="34" charset="0"/>
                          <a:cs typeface="Calibri" panose="020F0502020204030204" pitchFamily="34" charset="0"/>
                        </a:rPr>
                        <a:t>Преглед оферта</a:t>
                      </a:r>
                      <a:endParaRPr lang="en-150" sz="1400" dirty="0">
                        <a:solidFill>
                          <a:srgbClr val="1E293B"/>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extLst>
                  <a:ext uri="{0D108BD9-81ED-4DB2-BD59-A6C34878D82A}">
                    <a16:rowId xmlns:a16="http://schemas.microsoft.com/office/drawing/2014/main" val="1173918838"/>
                  </a:ext>
                </a:extLst>
              </a:tr>
              <a:tr h="0">
                <a:tc>
                  <a:txBody>
                    <a:bodyPr/>
                    <a:lstStyle/>
                    <a:p>
                      <a:pPr algn="l">
                        <a:lnSpc>
                          <a:spcPts val="1700"/>
                        </a:lnSpc>
                        <a:spcBef>
                          <a:spcPts val="600"/>
                        </a:spcBef>
                        <a:spcAft>
                          <a:spcPts val="600"/>
                        </a:spcAft>
                        <a:buNone/>
                      </a:pPr>
                      <a:r>
                        <a:rPr lang="bg-BG" sz="1400">
                          <a:solidFill>
                            <a:srgbClr val="1E293B"/>
                          </a:solidFill>
                          <a:effectLst/>
                          <a:latin typeface="Calibri" panose="020F0502020204030204" pitchFamily="34" charset="0"/>
                          <a:ea typeface="Calibri" panose="020F0502020204030204" pitchFamily="34" charset="0"/>
                          <a:cs typeface="Calibri" panose="020F0502020204030204" pitchFamily="34" charset="0"/>
                        </a:rPr>
                        <a:t>Обявата е със статус „Затворена“</a:t>
                      </a:r>
                      <a:endParaRPr lang="en-150" sz="1400">
                        <a:solidFill>
                          <a:srgbClr val="1E293B"/>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tc>
                  <a:txBody>
                    <a:bodyPr/>
                    <a:lstStyle/>
                    <a:p>
                      <a:pPr algn="l">
                        <a:lnSpc>
                          <a:spcPts val="1700"/>
                        </a:lnSpc>
                        <a:spcBef>
                          <a:spcPts val="600"/>
                        </a:spcBef>
                        <a:spcAft>
                          <a:spcPts val="600"/>
                        </a:spcAft>
                        <a:buNone/>
                      </a:pPr>
                      <a:r>
                        <a:rPr lang="en-US" sz="1400" b="1" dirty="0">
                          <a:solidFill>
                            <a:srgbClr val="1E293B"/>
                          </a:solidFill>
                          <a:effectLst/>
                          <a:latin typeface="Calibri" panose="020F0502020204030204" pitchFamily="34" charset="0"/>
                          <a:ea typeface="Calibri" panose="020F0502020204030204" pitchFamily="34" charset="0"/>
                          <a:cs typeface="Calibri" panose="020F0502020204030204" pitchFamily="34" charset="0"/>
                        </a:rPr>
                        <a:t>Applications closed</a:t>
                      </a:r>
                      <a:endParaRPr lang="en-150" sz="1400" b="1" dirty="0">
                        <a:solidFill>
                          <a:srgbClr val="1E293B"/>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tc>
                  <a:txBody>
                    <a:bodyPr/>
                    <a:lstStyle/>
                    <a:p>
                      <a:pPr algn="l">
                        <a:lnSpc>
                          <a:spcPts val="1700"/>
                        </a:lnSpc>
                        <a:spcBef>
                          <a:spcPts val="600"/>
                        </a:spcBef>
                        <a:spcAft>
                          <a:spcPts val="600"/>
                        </a:spcAft>
                        <a:buNone/>
                      </a:pPr>
                      <a:r>
                        <a:rPr lang="bg-BG" sz="1400">
                          <a:solidFill>
                            <a:srgbClr val="1E293B"/>
                          </a:solidFill>
                          <a:effectLst/>
                          <a:latin typeface="Calibri" panose="020F0502020204030204" pitchFamily="34" charset="0"/>
                          <a:ea typeface="Calibri" panose="020F0502020204030204" pitchFamily="34" charset="0"/>
                          <a:cs typeface="Calibri" panose="020F0502020204030204" pitchFamily="34" charset="0"/>
                        </a:rPr>
                        <a:t>Няма</a:t>
                      </a:r>
                      <a:endParaRPr lang="en-150" sz="1400">
                        <a:solidFill>
                          <a:srgbClr val="1E293B"/>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extLst>
                  <a:ext uri="{0D108BD9-81ED-4DB2-BD59-A6C34878D82A}">
                    <a16:rowId xmlns:a16="http://schemas.microsoft.com/office/drawing/2014/main" val="2549737363"/>
                  </a:ext>
                </a:extLst>
              </a:tr>
              <a:tr h="0">
                <a:tc>
                  <a:txBody>
                    <a:bodyPr/>
                    <a:lstStyle/>
                    <a:p>
                      <a:pPr algn="l">
                        <a:lnSpc>
                          <a:spcPts val="1700"/>
                        </a:lnSpc>
                        <a:spcBef>
                          <a:spcPts val="600"/>
                        </a:spcBef>
                        <a:spcAft>
                          <a:spcPts val="600"/>
                        </a:spcAft>
                        <a:buNone/>
                      </a:pPr>
                      <a:r>
                        <a:rPr lang="bg-BG" sz="1400">
                          <a:solidFill>
                            <a:srgbClr val="1E293B"/>
                          </a:solidFill>
                          <a:effectLst/>
                          <a:latin typeface="Calibri" panose="020F0502020204030204" pitchFamily="34" charset="0"/>
                          <a:ea typeface="Calibri" panose="020F0502020204030204" pitchFamily="34" charset="0"/>
                          <a:cs typeface="Calibri" panose="020F0502020204030204" pitchFamily="34" charset="0"/>
                        </a:rPr>
                        <a:t>Попълнен профил и резюме, активен статус, активна обява без оферта</a:t>
                      </a:r>
                      <a:endParaRPr lang="en-150" sz="1400">
                        <a:solidFill>
                          <a:srgbClr val="1E293B"/>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tc>
                  <a:txBody>
                    <a:bodyPr/>
                    <a:lstStyle/>
                    <a:p>
                      <a:pPr algn="l">
                        <a:lnSpc>
                          <a:spcPts val="1700"/>
                        </a:lnSpc>
                        <a:spcBef>
                          <a:spcPts val="600"/>
                        </a:spcBef>
                        <a:spcAft>
                          <a:spcPts val="600"/>
                        </a:spcAft>
                        <a:buNone/>
                      </a:pPr>
                      <a:r>
                        <a:rPr lang="en-US" sz="1400" b="1" dirty="0">
                          <a:solidFill>
                            <a:srgbClr val="1E293B"/>
                          </a:solidFill>
                          <a:effectLst/>
                          <a:latin typeface="Calibri" panose="020F0502020204030204" pitchFamily="34" charset="0"/>
                          <a:ea typeface="Calibri" panose="020F0502020204030204" pitchFamily="34" charset="0"/>
                          <a:cs typeface="Calibri" panose="020F0502020204030204" pitchFamily="34" charset="0"/>
                        </a:rPr>
                        <a:t>Apply</a:t>
                      </a:r>
                      <a:endParaRPr lang="en-150" sz="1400" b="1" dirty="0">
                        <a:solidFill>
                          <a:srgbClr val="1E293B"/>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tc>
                  <a:txBody>
                    <a:bodyPr/>
                    <a:lstStyle/>
                    <a:p>
                      <a:pPr algn="l">
                        <a:lnSpc>
                          <a:spcPts val="1700"/>
                        </a:lnSpc>
                        <a:spcBef>
                          <a:spcPts val="600"/>
                        </a:spcBef>
                        <a:spcAft>
                          <a:spcPts val="600"/>
                        </a:spcAft>
                        <a:buNone/>
                      </a:pPr>
                      <a:r>
                        <a:rPr lang="bg-BG" sz="1400" dirty="0">
                          <a:solidFill>
                            <a:srgbClr val="1E293B"/>
                          </a:solidFill>
                          <a:effectLst/>
                          <a:latin typeface="Calibri" panose="020F0502020204030204" pitchFamily="34" charset="0"/>
                          <a:ea typeface="Calibri" panose="020F0502020204030204" pitchFamily="34" charset="0"/>
                          <a:cs typeface="Calibri" panose="020F0502020204030204" pitchFamily="34" charset="0"/>
                        </a:rPr>
                        <a:t>Създаване оферта</a:t>
                      </a:r>
                      <a:endParaRPr lang="en-150" sz="1400" dirty="0">
                        <a:solidFill>
                          <a:srgbClr val="1E293B"/>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extLst>
                  <a:ext uri="{0D108BD9-81ED-4DB2-BD59-A6C34878D82A}">
                    <a16:rowId xmlns:a16="http://schemas.microsoft.com/office/drawing/2014/main" val="3879878106"/>
                  </a:ext>
                </a:extLst>
              </a:tr>
            </a:tbl>
          </a:graphicData>
        </a:graphic>
      </p:graphicFrame>
    </p:spTree>
    <p:extLst>
      <p:ext uri="{BB962C8B-B14F-4D97-AF65-F5344CB8AC3E}">
        <p14:creationId xmlns:p14="http://schemas.microsoft.com/office/powerpoint/2010/main" val="8101010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a:extLst>
            <a:ext uri="{FF2B5EF4-FFF2-40B4-BE49-F238E27FC236}">
              <a16:creationId xmlns:a16="http://schemas.microsoft.com/office/drawing/2014/main" id="{676D45BC-19FF-D308-AB6A-5696D98DAB1C}"/>
            </a:ext>
          </a:extLst>
        </p:cNvPr>
        <p:cNvGrpSpPr/>
        <p:nvPr/>
      </p:nvGrpSpPr>
      <p:grpSpPr>
        <a:xfrm>
          <a:off x="0" y="0"/>
          <a:ext cx="0" cy="0"/>
          <a:chOff x="0" y="0"/>
          <a:chExt cx="0" cy="0"/>
        </a:xfrm>
      </p:grpSpPr>
      <p:sp>
        <p:nvSpPr>
          <p:cNvPr id="2" name="Google Shape;679;p36">
            <a:extLst>
              <a:ext uri="{FF2B5EF4-FFF2-40B4-BE49-F238E27FC236}">
                <a16:creationId xmlns:a16="http://schemas.microsoft.com/office/drawing/2014/main" id="{169487A4-7083-7698-CF94-92ABCE56E5C7}"/>
              </a:ext>
            </a:extLst>
          </p:cNvPr>
          <p:cNvSpPr/>
          <p:nvPr/>
        </p:nvSpPr>
        <p:spPr>
          <a:xfrm>
            <a:off x="7355840" y="0"/>
            <a:ext cx="1788160" cy="288036"/>
          </a:xfrm>
          <a:prstGeom prst="rect">
            <a:avLst/>
          </a:prstGeom>
          <a:solidFill>
            <a:srgbClr val="F3DADA"/>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6" name="Google Shape;676;p36">
            <a:extLst>
              <a:ext uri="{FF2B5EF4-FFF2-40B4-BE49-F238E27FC236}">
                <a16:creationId xmlns:a16="http://schemas.microsoft.com/office/drawing/2014/main" id="{56C90C6D-B81A-1644-D284-60BCA20DAAC1}"/>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7" name="Google Shape;677;p36">
            <a:extLst>
              <a:ext uri="{FF2B5EF4-FFF2-40B4-BE49-F238E27FC236}">
                <a16:creationId xmlns:a16="http://schemas.microsoft.com/office/drawing/2014/main" id="{EB5B843B-789F-2DE3-CC6D-1683CA3186D6}"/>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8" name="Google Shape;678;p36">
            <a:extLst>
              <a:ext uri="{FF2B5EF4-FFF2-40B4-BE49-F238E27FC236}">
                <a16:creationId xmlns:a16="http://schemas.microsoft.com/office/drawing/2014/main" id="{813795FD-CA93-E316-A977-9313DCAAF62A}"/>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ДЕМОНСТРАЦИЯ</a:t>
            </a:r>
            <a:endParaRPr sz="1100" b="0" i="0" u="none" strike="noStrike" cap="none" dirty="0">
              <a:solidFill>
                <a:schemeClr val="dk1"/>
              </a:solidFill>
              <a:latin typeface="Calibri"/>
              <a:ea typeface="Calibri"/>
              <a:cs typeface="Calibri"/>
              <a:sym typeface="Calibri"/>
            </a:endParaRPr>
          </a:p>
        </p:txBody>
      </p:sp>
      <p:sp>
        <p:nvSpPr>
          <p:cNvPr id="679" name="Google Shape;679;p36">
            <a:extLst>
              <a:ext uri="{FF2B5EF4-FFF2-40B4-BE49-F238E27FC236}">
                <a16:creationId xmlns:a16="http://schemas.microsoft.com/office/drawing/2014/main" id="{FA781ABD-54E8-4C09-524C-19BFB41899FA}"/>
              </a:ext>
            </a:extLst>
          </p:cNvPr>
          <p:cNvSpPr/>
          <p:nvPr/>
        </p:nvSpPr>
        <p:spPr>
          <a:xfrm>
            <a:off x="7355840" y="107283"/>
            <a:ext cx="1788160" cy="361506"/>
          </a:xfrm>
          <a:prstGeom prst="roundRect">
            <a:avLst>
              <a:gd name="adj" fmla="val 50000"/>
            </a:avLst>
          </a:prstGeom>
          <a:solidFill>
            <a:srgbClr val="F3DADA"/>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80" name="Google Shape;680;p36">
            <a:extLst>
              <a:ext uri="{FF2B5EF4-FFF2-40B4-BE49-F238E27FC236}">
                <a16:creationId xmlns:a16="http://schemas.microsoft.com/office/drawing/2014/main" id="{B58965CC-BF66-38B6-25F3-B932683D532B}"/>
              </a:ext>
            </a:extLst>
          </p:cNvPr>
          <p:cNvSpPr/>
          <p:nvPr/>
        </p:nvSpPr>
        <p:spPr>
          <a:xfrm>
            <a:off x="7769339" y="90377"/>
            <a:ext cx="1024141" cy="2880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E293B"/>
              </a:buClr>
              <a:buSzPts val="800"/>
              <a:buFont typeface="Calibri"/>
              <a:buNone/>
            </a:pPr>
            <a:r>
              <a:rPr lang="bg" sz="1600" b="1" i="0" u="none" strike="noStrike" cap="none" dirty="0">
                <a:solidFill>
                  <a:srgbClr val="1E293B"/>
                </a:solidFill>
                <a:latin typeface="Calibri"/>
                <a:ea typeface="Calibri"/>
                <a:cs typeface="Calibri"/>
                <a:sym typeface="Calibri"/>
              </a:rPr>
              <a:t>КЛИЕНТ</a:t>
            </a:r>
            <a:endParaRPr sz="1600" b="0" i="0" u="none" strike="noStrike" cap="none" dirty="0">
              <a:solidFill>
                <a:schemeClr val="dk1"/>
              </a:solidFill>
              <a:latin typeface="Calibri"/>
              <a:ea typeface="Calibri"/>
              <a:cs typeface="Calibri"/>
              <a:sym typeface="Calibri"/>
            </a:endParaRPr>
          </a:p>
        </p:txBody>
      </p:sp>
      <p:sp>
        <p:nvSpPr>
          <p:cNvPr id="683" name="Google Shape;683;p36">
            <a:extLst>
              <a:ext uri="{FF2B5EF4-FFF2-40B4-BE49-F238E27FC236}">
                <a16:creationId xmlns:a16="http://schemas.microsoft.com/office/drawing/2014/main" id="{3A50EA01-8B95-25D4-FB32-CB02AF6E5AEE}"/>
              </a:ext>
            </a:extLst>
          </p:cNvPr>
          <p:cNvSpPr/>
          <p:nvPr/>
        </p:nvSpPr>
        <p:spPr>
          <a:xfrm>
            <a:off x="342900" y="90377"/>
            <a:ext cx="446532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000" b="1" dirty="0">
                <a:solidFill>
                  <a:srgbClr val="1E293B"/>
                </a:solidFill>
                <a:latin typeface="Cambria"/>
                <a:ea typeface="Cambria"/>
                <a:cs typeface="Calibri"/>
                <a:sym typeface="Cambria"/>
              </a:rPr>
              <a:t>Създаване, редактиране на обява</a:t>
            </a:r>
            <a:endParaRPr sz="2000" b="0" i="0" u="none" strike="noStrike" cap="none" dirty="0">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B0AC76E8-C20C-EBDE-2844-43CBDDEC7C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0273" y="515573"/>
            <a:ext cx="4203454" cy="4475590"/>
          </a:xfrm>
          <a:prstGeom prst="rect">
            <a:avLst/>
          </a:prstGeom>
          <a:ln>
            <a:solidFill>
              <a:schemeClr val="bg1">
                <a:lumMod val="65000"/>
              </a:schemeClr>
            </a:solidFill>
          </a:ln>
        </p:spPr>
      </p:pic>
    </p:spTree>
    <p:extLst>
      <p:ext uri="{BB962C8B-B14F-4D97-AF65-F5344CB8AC3E}">
        <p14:creationId xmlns:p14="http://schemas.microsoft.com/office/powerpoint/2010/main" val="32515488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a:extLst>
            <a:ext uri="{FF2B5EF4-FFF2-40B4-BE49-F238E27FC236}">
              <a16:creationId xmlns:a16="http://schemas.microsoft.com/office/drawing/2014/main" id="{B7CFA4D5-D6F7-D922-72F9-AC81127F7819}"/>
            </a:ext>
          </a:extLst>
        </p:cNvPr>
        <p:cNvGrpSpPr/>
        <p:nvPr/>
      </p:nvGrpSpPr>
      <p:grpSpPr>
        <a:xfrm>
          <a:off x="0" y="0"/>
          <a:ext cx="0" cy="0"/>
          <a:chOff x="0" y="0"/>
          <a:chExt cx="0" cy="0"/>
        </a:xfrm>
      </p:grpSpPr>
      <p:sp>
        <p:nvSpPr>
          <p:cNvPr id="676" name="Google Shape;676;p36">
            <a:extLst>
              <a:ext uri="{FF2B5EF4-FFF2-40B4-BE49-F238E27FC236}">
                <a16:creationId xmlns:a16="http://schemas.microsoft.com/office/drawing/2014/main" id="{F4CC8832-88C6-4BB9-F0DA-AD94C61F325E}"/>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7" name="Google Shape;677;p36">
            <a:extLst>
              <a:ext uri="{FF2B5EF4-FFF2-40B4-BE49-F238E27FC236}">
                <a16:creationId xmlns:a16="http://schemas.microsoft.com/office/drawing/2014/main" id="{386490F2-BABD-012E-A2F7-A2B5DDBDF711}"/>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8" name="Google Shape;678;p36">
            <a:extLst>
              <a:ext uri="{FF2B5EF4-FFF2-40B4-BE49-F238E27FC236}">
                <a16:creationId xmlns:a16="http://schemas.microsoft.com/office/drawing/2014/main" id="{AF90DB9E-5076-8492-65E0-6C7D97CA615D}"/>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ДЕМОНСТРАЦИЯ</a:t>
            </a:r>
            <a:endParaRPr sz="1100" b="0" i="0" u="none" strike="noStrike" cap="none" dirty="0">
              <a:solidFill>
                <a:schemeClr val="dk1"/>
              </a:solidFill>
              <a:latin typeface="Calibri"/>
              <a:ea typeface="Calibri"/>
              <a:cs typeface="Calibri"/>
              <a:sym typeface="Calibri"/>
            </a:endParaRPr>
          </a:p>
        </p:txBody>
      </p:sp>
      <p:sp>
        <p:nvSpPr>
          <p:cNvPr id="683" name="Google Shape;683;p36">
            <a:extLst>
              <a:ext uri="{FF2B5EF4-FFF2-40B4-BE49-F238E27FC236}">
                <a16:creationId xmlns:a16="http://schemas.microsoft.com/office/drawing/2014/main" id="{C6356617-8892-744A-97C5-040FF9B91FBD}"/>
              </a:ext>
            </a:extLst>
          </p:cNvPr>
          <p:cNvSpPr/>
          <p:nvPr/>
        </p:nvSpPr>
        <p:spPr>
          <a:xfrm>
            <a:off x="342900" y="90377"/>
            <a:ext cx="313182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000" b="1" dirty="0">
                <a:solidFill>
                  <a:srgbClr val="1E293B"/>
                </a:solidFill>
                <a:latin typeface="Cambria"/>
                <a:ea typeface="Cambria"/>
                <a:cs typeface="Calibri"/>
                <a:sym typeface="Cambria"/>
              </a:rPr>
              <a:t>Преглед на обява</a:t>
            </a:r>
            <a:endParaRPr sz="2000" b="0" i="0" u="none" strike="noStrike" cap="none" dirty="0">
              <a:solidFill>
                <a:schemeClr val="dk1"/>
              </a:solidFill>
              <a:latin typeface="Calibri"/>
              <a:ea typeface="Calibri"/>
              <a:cs typeface="Calibri"/>
              <a:sym typeface="Calibri"/>
            </a:endParaRPr>
          </a:p>
        </p:txBody>
      </p:sp>
      <p:pic>
        <p:nvPicPr>
          <p:cNvPr id="8" name="Picture 7">
            <a:extLst>
              <a:ext uri="{FF2B5EF4-FFF2-40B4-BE49-F238E27FC236}">
                <a16:creationId xmlns:a16="http://schemas.microsoft.com/office/drawing/2014/main" id="{B3E3F4B0-AB58-0B02-BA3E-62CB9DE8334C}"/>
              </a:ext>
            </a:extLst>
          </p:cNvPr>
          <p:cNvPicPr>
            <a:picLocks noChangeAspect="1"/>
          </p:cNvPicPr>
          <p:nvPr/>
        </p:nvPicPr>
        <p:blipFill>
          <a:blip r:embed="rId3"/>
          <a:stretch>
            <a:fillRect/>
          </a:stretch>
        </p:blipFill>
        <p:spPr>
          <a:xfrm>
            <a:off x="1816229" y="468789"/>
            <a:ext cx="5495818" cy="4507746"/>
          </a:xfrm>
          <a:prstGeom prst="rect">
            <a:avLst/>
          </a:prstGeom>
          <a:ln>
            <a:solidFill>
              <a:schemeClr val="bg1">
                <a:lumMod val="65000"/>
              </a:schemeClr>
            </a:solidFill>
          </a:ln>
        </p:spPr>
      </p:pic>
    </p:spTree>
    <p:extLst>
      <p:ext uri="{BB962C8B-B14F-4D97-AF65-F5344CB8AC3E}">
        <p14:creationId xmlns:p14="http://schemas.microsoft.com/office/powerpoint/2010/main" val="5889538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a:extLst>
            <a:ext uri="{FF2B5EF4-FFF2-40B4-BE49-F238E27FC236}">
              <a16:creationId xmlns:a16="http://schemas.microsoft.com/office/drawing/2014/main" id="{9E38048B-514F-923A-112D-250180B163C3}"/>
            </a:ext>
          </a:extLst>
        </p:cNvPr>
        <p:cNvGrpSpPr/>
        <p:nvPr/>
      </p:nvGrpSpPr>
      <p:grpSpPr>
        <a:xfrm>
          <a:off x="0" y="0"/>
          <a:ext cx="0" cy="0"/>
          <a:chOff x="0" y="0"/>
          <a:chExt cx="0" cy="0"/>
        </a:xfrm>
      </p:grpSpPr>
      <p:sp>
        <p:nvSpPr>
          <p:cNvPr id="2" name="Google Shape;679;p36">
            <a:extLst>
              <a:ext uri="{FF2B5EF4-FFF2-40B4-BE49-F238E27FC236}">
                <a16:creationId xmlns:a16="http://schemas.microsoft.com/office/drawing/2014/main" id="{06EADEDE-8A6C-7F4D-72EB-ED22AC25129D}"/>
              </a:ext>
            </a:extLst>
          </p:cNvPr>
          <p:cNvSpPr/>
          <p:nvPr/>
        </p:nvSpPr>
        <p:spPr>
          <a:xfrm>
            <a:off x="7355840" y="0"/>
            <a:ext cx="1788160" cy="288036"/>
          </a:xfrm>
          <a:prstGeom prst="rect">
            <a:avLst/>
          </a:prstGeom>
          <a:solidFill>
            <a:srgbClr val="F3DADA"/>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6" name="Google Shape;676;p36">
            <a:extLst>
              <a:ext uri="{FF2B5EF4-FFF2-40B4-BE49-F238E27FC236}">
                <a16:creationId xmlns:a16="http://schemas.microsoft.com/office/drawing/2014/main" id="{D5CDC21F-FA5C-E0D5-A467-244236AE4F83}"/>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7" name="Google Shape;677;p36">
            <a:extLst>
              <a:ext uri="{FF2B5EF4-FFF2-40B4-BE49-F238E27FC236}">
                <a16:creationId xmlns:a16="http://schemas.microsoft.com/office/drawing/2014/main" id="{D329103A-7F0D-D285-1E28-7D73DCE06FDC}"/>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8" name="Google Shape;678;p36">
            <a:extLst>
              <a:ext uri="{FF2B5EF4-FFF2-40B4-BE49-F238E27FC236}">
                <a16:creationId xmlns:a16="http://schemas.microsoft.com/office/drawing/2014/main" id="{F424C37B-0063-2F51-3149-42558794D3F4}"/>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ДЕМОНСТРАЦИЯ</a:t>
            </a:r>
            <a:endParaRPr sz="1100" b="0" i="0" u="none" strike="noStrike" cap="none" dirty="0">
              <a:solidFill>
                <a:schemeClr val="dk1"/>
              </a:solidFill>
              <a:latin typeface="Calibri"/>
              <a:ea typeface="Calibri"/>
              <a:cs typeface="Calibri"/>
              <a:sym typeface="Calibri"/>
            </a:endParaRPr>
          </a:p>
        </p:txBody>
      </p:sp>
      <p:sp>
        <p:nvSpPr>
          <p:cNvPr id="679" name="Google Shape;679;p36">
            <a:extLst>
              <a:ext uri="{FF2B5EF4-FFF2-40B4-BE49-F238E27FC236}">
                <a16:creationId xmlns:a16="http://schemas.microsoft.com/office/drawing/2014/main" id="{23B73704-3AA5-654E-0997-F785C6866183}"/>
              </a:ext>
            </a:extLst>
          </p:cNvPr>
          <p:cNvSpPr/>
          <p:nvPr/>
        </p:nvSpPr>
        <p:spPr>
          <a:xfrm>
            <a:off x="7355840" y="107283"/>
            <a:ext cx="1788160" cy="361506"/>
          </a:xfrm>
          <a:prstGeom prst="roundRect">
            <a:avLst>
              <a:gd name="adj" fmla="val 50000"/>
            </a:avLst>
          </a:prstGeom>
          <a:solidFill>
            <a:srgbClr val="F3DADA"/>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80" name="Google Shape;680;p36">
            <a:extLst>
              <a:ext uri="{FF2B5EF4-FFF2-40B4-BE49-F238E27FC236}">
                <a16:creationId xmlns:a16="http://schemas.microsoft.com/office/drawing/2014/main" id="{67491717-77BB-55B9-D64A-7513C261D26F}"/>
              </a:ext>
            </a:extLst>
          </p:cNvPr>
          <p:cNvSpPr/>
          <p:nvPr/>
        </p:nvSpPr>
        <p:spPr>
          <a:xfrm>
            <a:off x="7769339" y="90377"/>
            <a:ext cx="1024141" cy="2880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E293B"/>
              </a:buClr>
              <a:buSzPts val="800"/>
              <a:buFont typeface="Calibri"/>
              <a:buNone/>
            </a:pPr>
            <a:r>
              <a:rPr lang="bg" sz="1600" b="1" i="0" u="none" strike="noStrike" cap="none" dirty="0">
                <a:solidFill>
                  <a:srgbClr val="1E293B"/>
                </a:solidFill>
                <a:latin typeface="Calibri"/>
                <a:ea typeface="Calibri"/>
                <a:cs typeface="Calibri"/>
                <a:sym typeface="Calibri"/>
              </a:rPr>
              <a:t>КЛИЕНТ</a:t>
            </a:r>
            <a:endParaRPr sz="1600" b="0" i="0" u="none" strike="noStrike" cap="none" dirty="0">
              <a:solidFill>
                <a:schemeClr val="dk1"/>
              </a:solidFill>
              <a:latin typeface="Calibri"/>
              <a:ea typeface="Calibri"/>
              <a:cs typeface="Calibri"/>
              <a:sym typeface="Calibri"/>
            </a:endParaRPr>
          </a:p>
        </p:txBody>
      </p:sp>
      <p:sp>
        <p:nvSpPr>
          <p:cNvPr id="683" name="Google Shape;683;p36">
            <a:extLst>
              <a:ext uri="{FF2B5EF4-FFF2-40B4-BE49-F238E27FC236}">
                <a16:creationId xmlns:a16="http://schemas.microsoft.com/office/drawing/2014/main" id="{03371612-596C-B4D5-374A-62A7953B81C0}"/>
              </a:ext>
            </a:extLst>
          </p:cNvPr>
          <p:cNvSpPr/>
          <p:nvPr/>
        </p:nvSpPr>
        <p:spPr>
          <a:xfrm>
            <a:off x="342900" y="90377"/>
            <a:ext cx="516636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000" b="1" dirty="0">
                <a:solidFill>
                  <a:srgbClr val="1E293B"/>
                </a:solidFill>
                <a:latin typeface="Cambria"/>
                <a:ea typeface="Cambria"/>
                <a:cs typeface="Calibri"/>
                <a:sym typeface="Cambria"/>
              </a:rPr>
              <a:t>Преглед на обява за автор</a:t>
            </a:r>
            <a:r>
              <a:rPr lang="bg-BG" sz="2000" b="1" dirty="0">
                <a:solidFill>
                  <a:srgbClr val="1E293B"/>
                </a:solidFill>
                <a:latin typeface="Cambria"/>
                <a:ea typeface="Cambria"/>
                <a:cs typeface="Calibri"/>
                <a:sym typeface="Cambria"/>
              </a:rPr>
              <a:t>, управление</a:t>
            </a:r>
            <a:endParaRPr sz="2000" b="0" i="0" u="none" strike="noStrike" cap="none" dirty="0">
              <a:solidFill>
                <a:schemeClr val="dk1"/>
              </a:solidFill>
              <a:latin typeface="Calibri"/>
              <a:ea typeface="Calibri"/>
              <a:cs typeface="Calibri"/>
              <a:sym typeface="Calibri"/>
            </a:endParaRPr>
          </a:p>
        </p:txBody>
      </p:sp>
      <p:pic>
        <p:nvPicPr>
          <p:cNvPr id="6" name="Picture 5">
            <a:extLst>
              <a:ext uri="{FF2B5EF4-FFF2-40B4-BE49-F238E27FC236}">
                <a16:creationId xmlns:a16="http://schemas.microsoft.com/office/drawing/2014/main" id="{DEB2796E-7E04-0901-A833-D7677443A33F}"/>
              </a:ext>
            </a:extLst>
          </p:cNvPr>
          <p:cNvPicPr>
            <a:picLocks noChangeAspect="1"/>
          </p:cNvPicPr>
          <p:nvPr/>
        </p:nvPicPr>
        <p:blipFill>
          <a:blip r:embed="rId3"/>
          <a:stretch>
            <a:fillRect/>
          </a:stretch>
        </p:blipFill>
        <p:spPr>
          <a:xfrm>
            <a:off x="447357" y="1014128"/>
            <a:ext cx="4008701" cy="3115243"/>
          </a:xfrm>
          <a:prstGeom prst="rect">
            <a:avLst/>
          </a:prstGeom>
        </p:spPr>
      </p:pic>
      <p:graphicFrame>
        <p:nvGraphicFramePr>
          <p:cNvPr id="7" name="Table 6">
            <a:extLst>
              <a:ext uri="{FF2B5EF4-FFF2-40B4-BE49-F238E27FC236}">
                <a16:creationId xmlns:a16="http://schemas.microsoft.com/office/drawing/2014/main" id="{FF4330AA-A7D5-792B-A740-13F344D972DA}"/>
              </a:ext>
            </a:extLst>
          </p:cNvPr>
          <p:cNvGraphicFramePr>
            <a:graphicFrameLocks noGrp="1"/>
          </p:cNvGraphicFramePr>
          <p:nvPr>
            <p:extLst>
              <p:ext uri="{D42A27DB-BD31-4B8C-83A1-F6EECF244321}">
                <p14:modId xmlns:p14="http://schemas.microsoft.com/office/powerpoint/2010/main" val="664537527"/>
              </p:ext>
            </p:extLst>
          </p:nvPr>
        </p:nvGraphicFramePr>
        <p:xfrm>
          <a:off x="4731965" y="771110"/>
          <a:ext cx="4191000" cy="4008109"/>
        </p:xfrm>
        <a:graphic>
          <a:graphicData uri="http://schemas.openxmlformats.org/drawingml/2006/table">
            <a:tbl>
              <a:tblPr firstRow="1" firstCol="1" bandRow="1">
                <a:tableStyleId>{9D7B26C5-4107-4FEC-AEDC-1716B250A1EF}</a:tableStyleId>
              </a:tblPr>
              <a:tblGrid>
                <a:gridCol w="1397000">
                  <a:extLst>
                    <a:ext uri="{9D8B030D-6E8A-4147-A177-3AD203B41FA5}">
                      <a16:colId xmlns:a16="http://schemas.microsoft.com/office/drawing/2014/main" val="1625396937"/>
                    </a:ext>
                  </a:extLst>
                </a:gridCol>
                <a:gridCol w="1397000">
                  <a:extLst>
                    <a:ext uri="{9D8B030D-6E8A-4147-A177-3AD203B41FA5}">
                      <a16:colId xmlns:a16="http://schemas.microsoft.com/office/drawing/2014/main" val="1336266452"/>
                    </a:ext>
                  </a:extLst>
                </a:gridCol>
                <a:gridCol w="1397000">
                  <a:extLst>
                    <a:ext uri="{9D8B030D-6E8A-4147-A177-3AD203B41FA5}">
                      <a16:colId xmlns:a16="http://schemas.microsoft.com/office/drawing/2014/main" val="2986565625"/>
                    </a:ext>
                  </a:extLst>
                </a:gridCol>
              </a:tblGrid>
              <a:tr h="363670">
                <a:tc>
                  <a:txBody>
                    <a:bodyPr/>
                    <a:lstStyle/>
                    <a:p>
                      <a:pPr algn="l">
                        <a:lnSpc>
                          <a:spcPts val="1700"/>
                        </a:lnSpc>
                        <a:spcBef>
                          <a:spcPts val="1200"/>
                        </a:spcBef>
                        <a:buNone/>
                      </a:pPr>
                      <a:r>
                        <a:rPr lang="bg-BG" sz="1400" dirty="0">
                          <a:effectLst/>
                          <a:latin typeface="Calibri" panose="020F0502020204030204" pitchFamily="34" charset="0"/>
                          <a:ea typeface="Calibri" panose="020F0502020204030204" pitchFamily="34" charset="0"/>
                          <a:cs typeface="Calibri" panose="020F0502020204030204" pitchFamily="34" charset="0"/>
                        </a:rPr>
                        <a:t>Бутон</a:t>
                      </a:r>
                      <a:endParaRPr lang="en-150" sz="14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algn="l">
                        <a:lnSpc>
                          <a:spcPts val="1700"/>
                        </a:lnSpc>
                        <a:buNone/>
                      </a:pPr>
                      <a:r>
                        <a:rPr lang="bg-BG" sz="1400">
                          <a:effectLst/>
                          <a:latin typeface="Calibri" panose="020F0502020204030204" pitchFamily="34" charset="0"/>
                          <a:ea typeface="Calibri" panose="020F0502020204030204" pitchFamily="34" charset="0"/>
                          <a:cs typeface="Calibri" panose="020F0502020204030204" pitchFamily="34" charset="0"/>
                        </a:rPr>
                        <a:t>Условие</a:t>
                      </a:r>
                      <a:endParaRPr lang="en-150" sz="14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algn="l">
                        <a:lnSpc>
                          <a:spcPts val="1700"/>
                        </a:lnSpc>
                        <a:spcAft>
                          <a:spcPts val="1200"/>
                        </a:spcAft>
                        <a:buNone/>
                      </a:pPr>
                      <a:r>
                        <a:rPr lang="bg-BG" sz="1400">
                          <a:effectLst/>
                          <a:latin typeface="Calibri" panose="020F0502020204030204" pitchFamily="34" charset="0"/>
                          <a:ea typeface="Calibri" panose="020F0502020204030204" pitchFamily="34" charset="0"/>
                          <a:cs typeface="Calibri" panose="020F0502020204030204" pitchFamily="34" charset="0"/>
                        </a:rPr>
                        <a:t>Активност</a:t>
                      </a:r>
                      <a:endParaRPr lang="en-150" sz="14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83598375"/>
                  </a:ext>
                </a:extLst>
              </a:tr>
              <a:tr h="363670">
                <a:tc>
                  <a:txBody>
                    <a:bodyPr/>
                    <a:lstStyle/>
                    <a:p>
                      <a:pPr algn="l">
                        <a:lnSpc>
                          <a:spcPts val="1700"/>
                        </a:lnSpc>
                        <a:spcBef>
                          <a:spcPts val="1200"/>
                        </a:spcBef>
                        <a:buNone/>
                      </a:pPr>
                      <a:r>
                        <a:rPr lang="en-US" sz="1400" dirty="0">
                          <a:effectLst/>
                          <a:latin typeface="Calibri" panose="020F0502020204030204" pitchFamily="34" charset="0"/>
                          <a:ea typeface="Calibri" panose="020F0502020204030204" pitchFamily="34" charset="0"/>
                          <a:cs typeface="Calibri" panose="020F0502020204030204" pitchFamily="34" charset="0"/>
                        </a:rPr>
                        <a:t>View Offers</a:t>
                      </a:r>
                      <a:endParaRPr lang="en-150" sz="14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algn="l">
                        <a:lnSpc>
                          <a:spcPts val="1700"/>
                        </a:lnSpc>
                        <a:buNone/>
                      </a:pPr>
                      <a:r>
                        <a:rPr lang="bg-BG" sz="1400">
                          <a:effectLst/>
                          <a:latin typeface="Calibri" panose="020F0502020204030204" pitchFamily="34" charset="0"/>
                          <a:ea typeface="Calibri" panose="020F0502020204030204" pitchFamily="34" charset="0"/>
                          <a:cs typeface="Calibri" panose="020F0502020204030204" pitchFamily="34" charset="0"/>
                        </a:rPr>
                        <a:t>Обявата има оферти</a:t>
                      </a:r>
                      <a:endParaRPr lang="en-150" sz="14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algn="l">
                        <a:lnSpc>
                          <a:spcPts val="1700"/>
                        </a:lnSpc>
                        <a:spcAft>
                          <a:spcPts val="1200"/>
                        </a:spcAft>
                        <a:buNone/>
                      </a:pPr>
                      <a:r>
                        <a:rPr lang="bg-BG" sz="1400">
                          <a:effectLst/>
                          <a:latin typeface="Calibri" panose="020F0502020204030204" pitchFamily="34" charset="0"/>
                          <a:ea typeface="Calibri" panose="020F0502020204030204" pitchFamily="34" charset="0"/>
                          <a:cs typeface="Calibri" panose="020F0502020204030204" pitchFamily="34" charset="0"/>
                        </a:rPr>
                        <a:t>Активен</a:t>
                      </a:r>
                      <a:endParaRPr lang="en-150" sz="14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88942572"/>
                  </a:ext>
                </a:extLst>
              </a:tr>
              <a:tr h="767351">
                <a:tc>
                  <a:txBody>
                    <a:bodyPr/>
                    <a:lstStyle/>
                    <a:p>
                      <a:pPr algn="l">
                        <a:lnSpc>
                          <a:spcPts val="1700"/>
                        </a:lnSpc>
                        <a:spcBef>
                          <a:spcPts val="1200"/>
                        </a:spcBef>
                        <a:buNone/>
                      </a:pPr>
                      <a:r>
                        <a:rPr lang="ru-RU" sz="1400" dirty="0">
                          <a:effectLst/>
                          <a:latin typeface="Calibri" panose="020F0502020204030204" pitchFamily="34" charset="0"/>
                          <a:ea typeface="Calibri" panose="020F0502020204030204" pitchFamily="34" charset="0"/>
                          <a:cs typeface="Calibri" panose="020F0502020204030204" pitchFamily="34" charset="0"/>
                        </a:rPr>
                        <a:t>Close</a:t>
                      </a:r>
                      <a:endParaRPr lang="en-150" sz="14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algn="l">
                        <a:lnSpc>
                          <a:spcPts val="1700"/>
                        </a:lnSpc>
                        <a:buNone/>
                      </a:pPr>
                      <a:r>
                        <a:rPr lang="bg-BG" sz="1400" dirty="0">
                          <a:effectLst/>
                          <a:latin typeface="Calibri" panose="020F0502020204030204" pitchFamily="34" charset="0"/>
                          <a:ea typeface="Calibri" panose="020F0502020204030204" pitchFamily="34" charset="0"/>
                          <a:cs typeface="Calibri" panose="020F0502020204030204" pitchFamily="34" charset="0"/>
                        </a:rPr>
                        <a:t>Обявата е отворена и няма оферти</a:t>
                      </a:r>
                      <a:endParaRPr lang="en-150" sz="14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algn="l">
                        <a:lnSpc>
                          <a:spcPts val="1700"/>
                        </a:lnSpc>
                        <a:spcAft>
                          <a:spcPts val="1200"/>
                        </a:spcAft>
                        <a:buNone/>
                      </a:pPr>
                      <a:r>
                        <a:rPr lang="bg-BG" sz="1400">
                          <a:effectLst/>
                          <a:latin typeface="Calibri" panose="020F0502020204030204" pitchFamily="34" charset="0"/>
                          <a:ea typeface="Calibri" panose="020F0502020204030204" pitchFamily="34" charset="0"/>
                          <a:cs typeface="Calibri" panose="020F0502020204030204" pitchFamily="34" charset="0"/>
                        </a:rPr>
                        <a:t>Активен</a:t>
                      </a:r>
                      <a:endParaRPr lang="en-150" sz="14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26322840"/>
                  </a:ext>
                </a:extLst>
              </a:tr>
              <a:tr h="767351">
                <a:tc>
                  <a:txBody>
                    <a:bodyPr/>
                    <a:lstStyle/>
                    <a:p>
                      <a:pPr algn="l">
                        <a:lnSpc>
                          <a:spcPts val="1700"/>
                        </a:lnSpc>
                        <a:spcBef>
                          <a:spcPts val="1200"/>
                        </a:spcBef>
                        <a:buNone/>
                      </a:pPr>
                      <a:r>
                        <a:rPr lang="ru-RU" sz="1400">
                          <a:effectLst/>
                          <a:latin typeface="Calibri" panose="020F0502020204030204" pitchFamily="34" charset="0"/>
                          <a:ea typeface="Calibri" panose="020F0502020204030204" pitchFamily="34" charset="0"/>
                          <a:cs typeface="Calibri" panose="020F0502020204030204" pitchFamily="34" charset="0"/>
                        </a:rPr>
                        <a:t>Reopen</a:t>
                      </a:r>
                      <a:endParaRPr lang="en-150" sz="14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algn="l">
                        <a:lnSpc>
                          <a:spcPts val="1700"/>
                        </a:lnSpc>
                        <a:buNone/>
                      </a:pPr>
                      <a:r>
                        <a:rPr lang="bg-BG" sz="1400" dirty="0">
                          <a:effectLst/>
                          <a:latin typeface="Calibri" panose="020F0502020204030204" pitchFamily="34" charset="0"/>
                          <a:ea typeface="Calibri" panose="020F0502020204030204" pitchFamily="34" charset="0"/>
                          <a:cs typeface="Calibri" panose="020F0502020204030204" pitchFamily="34" charset="0"/>
                        </a:rPr>
                        <a:t>Обявата е затворена</a:t>
                      </a:r>
                      <a:endParaRPr lang="en-150" sz="14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algn="l">
                        <a:lnSpc>
                          <a:spcPts val="1700"/>
                        </a:lnSpc>
                        <a:spcAft>
                          <a:spcPts val="1200"/>
                        </a:spcAft>
                        <a:buNone/>
                      </a:pPr>
                      <a:r>
                        <a:rPr lang="ru-RU" sz="1400">
                          <a:effectLst/>
                          <a:latin typeface="Calibri" panose="020F0502020204030204" pitchFamily="34" charset="0"/>
                          <a:ea typeface="Calibri" panose="020F0502020204030204" pitchFamily="34" charset="0"/>
                          <a:cs typeface="Calibri" panose="020F0502020204030204" pitchFamily="34" charset="0"/>
                        </a:rPr>
                        <a:t>Активен само ако крайният срок </a:t>
                      </a:r>
                      <a:r>
                        <a:rPr lang="bg-BG" sz="1400">
                          <a:effectLst/>
                          <a:latin typeface="Calibri" panose="020F0502020204030204" pitchFamily="34" charset="0"/>
                          <a:ea typeface="Calibri" panose="020F0502020204030204" pitchFamily="34" charset="0"/>
                          <a:cs typeface="Calibri" panose="020F0502020204030204" pitchFamily="34" charset="0"/>
                        </a:rPr>
                        <a:t>е предстоящ</a:t>
                      </a:r>
                      <a:endParaRPr lang="en-150" sz="14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45745036"/>
                  </a:ext>
                </a:extLst>
              </a:tr>
              <a:tr h="1171032">
                <a:tc>
                  <a:txBody>
                    <a:bodyPr/>
                    <a:lstStyle/>
                    <a:p>
                      <a:pPr algn="l">
                        <a:lnSpc>
                          <a:spcPts val="1700"/>
                        </a:lnSpc>
                        <a:spcBef>
                          <a:spcPts val="1200"/>
                        </a:spcBef>
                        <a:buNone/>
                      </a:pPr>
                      <a:r>
                        <a:rPr lang="ru-RU" sz="1400">
                          <a:effectLst/>
                          <a:latin typeface="Calibri" panose="020F0502020204030204" pitchFamily="34" charset="0"/>
                          <a:ea typeface="Calibri" panose="020F0502020204030204" pitchFamily="34" charset="0"/>
                          <a:cs typeface="Calibri" panose="020F0502020204030204" pitchFamily="34" charset="0"/>
                        </a:rPr>
                        <a:t>Edit deadline to reopen</a:t>
                      </a:r>
                      <a:endParaRPr lang="en-150" sz="14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algn="l">
                        <a:lnSpc>
                          <a:spcPts val="1700"/>
                        </a:lnSpc>
                        <a:buNone/>
                      </a:pPr>
                      <a:r>
                        <a:rPr lang="ru-RU" sz="1400">
                          <a:effectLst/>
                          <a:latin typeface="Calibri" panose="020F0502020204030204" pitchFamily="34" charset="0"/>
                          <a:ea typeface="Calibri" panose="020F0502020204030204" pitchFamily="34" charset="0"/>
                          <a:cs typeface="Calibri" panose="020F0502020204030204" pitchFamily="34" charset="0"/>
                        </a:rPr>
                        <a:t>Обявата е затворена, но срокът </a:t>
                      </a:r>
                      <a:r>
                        <a:rPr lang="bg-BG" sz="1400">
                          <a:effectLst/>
                          <a:latin typeface="Calibri" panose="020F0502020204030204" pitchFamily="34" charset="0"/>
                          <a:ea typeface="Calibri" panose="020F0502020204030204" pitchFamily="34" charset="0"/>
                          <a:cs typeface="Calibri" panose="020F0502020204030204" pitchFamily="34" charset="0"/>
                        </a:rPr>
                        <a:t>е изтекъл</a:t>
                      </a:r>
                      <a:endParaRPr lang="en-150" sz="14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algn="l">
                        <a:lnSpc>
                          <a:spcPts val="1700"/>
                        </a:lnSpc>
                        <a:spcAft>
                          <a:spcPts val="1200"/>
                        </a:spcAft>
                        <a:buNone/>
                      </a:pPr>
                      <a:r>
                        <a:rPr lang="ru-RU" sz="1400">
                          <a:effectLst/>
                          <a:latin typeface="Calibri" panose="020F0502020204030204" pitchFamily="34" charset="0"/>
                          <a:ea typeface="Calibri" panose="020F0502020204030204" pitchFamily="34" charset="0"/>
                          <a:cs typeface="Calibri" panose="020F0502020204030204" pitchFamily="34" charset="0"/>
                        </a:rPr>
                        <a:t>Неактивен</a:t>
                      </a:r>
                      <a:r>
                        <a:rPr lang="bg-BG" sz="1400">
                          <a:effectLst/>
                          <a:latin typeface="Calibri" panose="020F0502020204030204" pitchFamily="34" charset="0"/>
                          <a:ea typeface="Calibri" panose="020F0502020204030204" pitchFamily="34" charset="0"/>
                          <a:cs typeface="Calibri" panose="020F0502020204030204" pitchFamily="34" charset="0"/>
                        </a:rPr>
                        <a:t>;</a:t>
                      </a:r>
                      <a:r>
                        <a:rPr lang="ru-RU" sz="1400">
                          <a:effectLst/>
                          <a:latin typeface="Calibri" panose="020F0502020204030204" pitchFamily="34" charset="0"/>
                          <a:ea typeface="Calibri" panose="020F0502020204030204" pitchFamily="34" charset="0"/>
                          <a:cs typeface="Calibri" panose="020F0502020204030204" pitchFamily="34" charset="0"/>
                        </a:rPr>
                        <a:t> показва, че срокът трябва да </a:t>
                      </a:r>
                      <a:r>
                        <a:rPr lang="bg-BG" sz="1400">
                          <a:effectLst/>
                          <a:latin typeface="Calibri" panose="020F0502020204030204" pitchFamily="34" charset="0"/>
                          <a:ea typeface="Calibri" panose="020F0502020204030204" pitchFamily="34" charset="0"/>
                          <a:cs typeface="Calibri" panose="020F0502020204030204" pitchFamily="34" charset="0"/>
                        </a:rPr>
                        <a:t>б</a:t>
                      </a:r>
                      <a:r>
                        <a:rPr lang="ru-RU" sz="1400">
                          <a:effectLst/>
                          <a:latin typeface="Calibri" panose="020F0502020204030204" pitchFamily="34" charset="0"/>
                          <a:ea typeface="Calibri" panose="020F0502020204030204" pitchFamily="34" charset="0"/>
                          <a:cs typeface="Calibri" panose="020F0502020204030204" pitchFamily="34" charset="0"/>
                        </a:rPr>
                        <a:t>ъде редактиран</a:t>
                      </a:r>
                      <a:endParaRPr lang="en-150" sz="14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06462845"/>
                  </a:ext>
                </a:extLst>
              </a:tr>
              <a:tr h="363670">
                <a:tc>
                  <a:txBody>
                    <a:bodyPr/>
                    <a:lstStyle/>
                    <a:p>
                      <a:pPr algn="l">
                        <a:lnSpc>
                          <a:spcPts val="1700"/>
                        </a:lnSpc>
                        <a:spcBef>
                          <a:spcPts val="1200"/>
                        </a:spcBef>
                        <a:buNone/>
                      </a:pPr>
                      <a:r>
                        <a:rPr lang="ru-RU" sz="1400" dirty="0">
                          <a:effectLst/>
                          <a:latin typeface="Calibri" panose="020F0502020204030204" pitchFamily="34" charset="0"/>
                          <a:ea typeface="Calibri" panose="020F0502020204030204" pitchFamily="34" charset="0"/>
                          <a:cs typeface="Calibri" panose="020F0502020204030204" pitchFamily="34" charset="0"/>
                        </a:rPr>
                        <a:t>Delete</a:t>
                      </a:r>
                      <a:endParaRPr lang="en-150" sz="14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algn="l">
                        <a:lnSpc>
                          <a:spcPts val="1700"/>
                        </a:lnSpc>
                        <a:buNone/>
                      </a:pPr>
                      <a:r>
                        <a:rPr lang="ru-RU" sz="1400">
                          <a:effectLst/>
                          <a:latin typeface="Calibri" panose="020F0502020204030204" pitchFamily="34" charset="0"/>
                          <a:ea typeface="Calibri" panose="020F0502020204030204" pitchFamily="34" charset="0"/>
                          <a:cs typeface="Calibri" panose="020F0502020204030204" pitchFamily="34" charset="0"/>
                        </a:rPr>
                        <a:t>Обявата е затворена</a:t>
                      </a:r>
                      <a:endParaRPr lang="en-150" sz="14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algn="l">
                        <a:lnSpc>
                          <a:spcPts val="1700"/>
                        </a:lnSpc>
                        <a:spcAft>
                          <a:spcPts val="1200"/>
                        </a:spcAft>
                        <a:buNone/>
                      </a:pPr>
                      <a:r>
                        <a:rPr lang="ru-RU" sz="1400" dirty="0">
                          <a:effectLst/>
                          <a:latin typeface="Calibri" panose="020F0502020204030204" pitchFamily="34" charset="0"/>
                          <a:ea typeface="Calibri" panose="020F0502020204030204" pitchFamily="34" charset="0"/>
                          <a:cs typeface="Calibri" panose="020F0502020204030204" pitchFamily="34" charset="0"/>
                        </a:rPr>
                        <a:t>Активен</a:t>
                      </a:r>
                      <a:endParaRPr lang="en-150" sz="14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5231357"/>
                  </a:ext>
                </a:extLst>
              </a:tr>
            </a:tbl>
          </a:graphicData>
        </a:graphic>
      </p:graphicFrame>
    </p:spTree>
    <p:extLst>
      <p:ext uri="{BB962C8B-B14F-4D97-AF65-F5344CB8AC3E}">
        <p14:creationId xmlns:p14="http://schemas.microsoft.com/office/powerpoint/2010/main" val="35771637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a:extLst>
            <a:ext uri="{FF2B5EF4-FFF2-40B4-BE49-F238E27FC236}">
              <a16:creationId xmlns:a16="http://schemas.microsoft.com/office/drawing/2014/main" id="{0B201166-32F8-BA6F-573A-380C20265EA9}"/>
            </a:ext>
          </a:extLst>
        </p:cNvPr>
        <p:cNvGrpSpPr/>
        <p:nvPr/>
      </p:nvGrpSpPr>
      <p:grpSpPr>
        <a:xfrm>
          <a:off x="0" y="0"/>
          <a:ext cx="0" cy="0"/>
          <a:chOff x="0" y="0"/>
          <a:chExt cx="0" cy="0"/>
        </a:xfrm>
      </p:grpSpPr>
      <p:sp>
        <p:nvSpPr>
          <p:cNvPr id="2" name="Google Shape;679;p36">
            <a:extLst>
              <a:ext uri="{FF2B5EF4-FFF2-40B4-BE49-F238E27FC236}">
                <a16:creationId xmlns:a16="http://schemas.microsoft.com/office/drawing/2014/main" id="{AADCE964-FADB-76F3-E1D4-5B3654370DDD}"/>
              </a:ext>
            </a:extLst>
          </p:cNvPr>
          <p:cNvSpPr/>
          <p:nvPr/>
        </p:nvSpPr>
        <p:spPr>
          <a:xfrm>
            <a:off x="7355840" y="0"/>
            <a:ext cx="1788160" cy="288036"/>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6" name="Google Shape;676;p36">
            <a:extLst>
              <a:ext uri="{FF2B5EF4-FFF2-40B4-BE49-F238E27FC236}">
                <a16:creationId xmlns:a16="http://schemas.microsoft.com/office/drawing/2014/main" id="{E454A0A6-63C0-4818-4420-E1830E029491}"/>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7" name="Google Shape;677;p36">
            <a:extLst>
              <a:ext uri="{FF2B5EF4-FFF2-40B4-BE49-F238E27FC236}">
                <a16:creationId xmlns:a16="http://schemas.microsoft.com/office/drawing/2014/main" id="{ED590BB2-6F97-E0F0-65AC-955CF8E9E657}"/>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8" name="Google Shape;678;p36">
            <a:extLst>
              <a:ext uri="{FF2B5EF4-FFF2-40B4-BE49-F238E27FC236}">
                <a16:creationId xmlns:a16="http://schemas.microsoft.com/office/drawing/2014/main" id="{455589E7-4540-B62C-2BFD-0F899B00288E}"/>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ДЕМОНСТРАЦИЯ</a:t>
            </a:r>
            <a:endParaRPr sz="1100" b="0" i="0" u="none" strike="noStrike" cap="none" dirty="0">
              <a:solidFill>
                <a:schemeClr val="dk1"/>
              </a:solidFill>
              <a:latin typeface="Calibri"/>
              <a:ea typeface="Calibri"/>
              <a:cs typeface="Calibri"/>
              <a:sym typeface="Calibri"/>
            </a:endParaRPr>
          </a:p>
        </p:txBody>
      </p:sp>
      <p:sp>
        <p:nvSpPr>
          <p:cNvPr id="679" name="Google Shape;679;p36">
            <a:extLst>
              <a:ext uri="{FF2B5EF4-FFF2-40B4-BE49-F238E27FC236}">
                <a16:creationId xmlns:a16="http://schemas.microsoft.com/office/drawing/2014/main" id="{F36A7423-75CF-D6BA-67A7-88ED07F2D629}"/>
              </a:ext>
            </a:extLst>
          </p:cNvPr>
          <p:cNvSpPr/>
          <p:nvPr/>
        </p:nvSpPr>
        <p:spPr>
          <a:xfrm>
            <a:off x="7355840" y="107283"/>
            <a:ext cx="1788160" cy="361506"/>
          </a:xfrm>
          <a:prstGeom prst="roundRect">
            <a:avLst>
              <a:gd name="adj" fmla="val 50000"/>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80" name="Google Shape;680;p36">
            <a:extLst>
              <a:ext uri="{FF2B5EF4-FFF2-40B4-BE49-F238E27FC236}">
                <a16:creationId xmlns:a16="http://schemas.microsoft.com/office/drawing/2014/main" id="{1F97C01E-991C-BE13-A396-429FDF3D2624}"/>
              </a:ext>
            </a:extLst>
          </p:cNvPr>
          <p:cNvSpPr/>
          <p:nvPr/>
        </p:nvSpPr>
        <p:spPr>
          <a:xfrm>
            <a:off x="7608309" y="90377"/>
            <a:ext cx="1283221" cy="2880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E293B"/>
              </a:buClr>
              <a:buSzPts val="800"/>
              <a:buFont typeface="Calibri"/>
              <a:buNone/>
            </a:pPr>
            <a:r>
              <a:rPr lang="bg" sz="1600" b="1" i="0" u="none" strike="noStrike" cap="none" dirty="0">
                <a:solidFill>
                  <a:schemeClr val="bg1"/>
                </a:solidFill>
                <a:latin typeface="Calibri"/>
                <a:ea typeface="Calibri"/>
                <a:cs typeface="Calibri"/>
                <a:sym typeface="Calibri"/>
              </a:rPr>
              <a:t>СПЕЦИАЛИСТ</a:t>
            </a:r>
            <a:endParaRPr sz="1600" b="0" i="0" u="none" strike="noStrike" cap="none" dirty="0">
              <a:solidFill>
                <a:schemeClr val="bg1"/>
              </a:solidFill>
              <a:latin typeface="Calibri"/>
              <a:ea typeface="Calibri"/>
              <a:cs typeface="Calibri"/>
              <a:sym typeface="Calibri"/>
            </a:endParaRPr>
          </a:p>
        </p:txBody>
      </p:sp>
      <p:sp>
        <p:nvSpPr>
          <p:cNvPr id="3" name="Google Shape;683;p36">
            <a:extLst>
              <a:ext uri="{FF2B5EF4-FFF2-40B4-BE49-F238E27FC236}">
                <a16:creationId xmlns:a16="http://schemas.microsoft.com/office/drawing/2014/main" id="{B2404F2C-21C6-8F50-EAFA-034FB46F0102}"/>
              </a:ext>
            </a:extLst>
          </p:cNvPr>
          <p:cNvSpPr/>
          <p:nvPr/>
        </p:nvSpPr>
        <p:spPr>
          <a:xfrm>
            <a:off x="342900" y="90377"/>
            <a:ext cx="313182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000" b="1" dirty="0">
                <a:solidFill>
                  <a:srgbClr val="1E293B"/>
                </a:solidFill>
                <a:latin typeface="Cambria"/>
                <a:ea typeface="Cambria"/>
                <a:cs typeface="Calibri"/>
                <a:sym typeface="Cambria"/>
              </a:rPr>
              <a:t>Създаване на оферта</a:t>
            </a:r>
            <a:endParaRPr sz="2000" b="0" i="0" u="none" strike="noStrike" cap="none" dirty="0">
              <a:solidFill>
                <a:schemeClr val="dk1"/>
              </a:solidFill>
              <a:latin typeface="Calibri"/>
              <a:ea typeface="Calibri"/>
              <a:cs typeface="Calibri"/>
              <a:sym typeface="Calibri"/>
            </a:endParaRPr>
          </a:p>
        </p:txBody>
      </p:sp>
      <p:pic>
        <p:nvPicPr>
          <p:cNvPr id="10" name="Picture 9" descr="A screenshot of a chat&#10;&#10;AI-generated content may be incorrect.">
            <a:extLst>
              <a:ext uri="{FF2B5EF4-FFF2-40B4-BE49-F238E27FC236}">
                <a16:creationId xmlns:a16="http://schemas.microsoft.com/office/drawing/2014/main" id="{A71C8D32-E66C-D223-044E-4BC967CF688B}"/>
              </a:ext>
            </a:extLst>
          </p:cNvPr>
          <p:cNvPicPr>
            <a:picLocks noChangeAspect="1"/>
          </p:cNvPicPr>
          <p:nvPr/>
        </p:nvPicPr>
        <p:blipFill>
          <a:blip r:embed="rId3"/>
          <a:stretch>
            <a:fillRect/>
          </a:stretch>
        </p:blipFill>
        <p:spPr>
          <a:xfrm>
            <a:off x="1002031" y="576072"/>
            <a:ext cx="7402830" cy="4441699"/>
          </a:xfrm>
          <a:prstGeom prst="rect">
            <a:avLst/>
          </a:prstGeom>
          <a:ln>
            <a:solidFill>
              <a:schemeClr val="bg1">
                <a:lumMod val="65000"/>
              </a:schemeClr>
            </a:solidFill>
          </a:ln>
        </p:spPr>
      </p:pic>
    </p:spTree>
    <p:extLst>
      <p:ext uri="{BB962C8B-B14F-4D97-AF65-F5344CB8AC3E}">
        <p14:creationId xmlns:p14="http://schemas.microsoft.com/office/powerpoint/2010/main" val="24823140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a:extLst>
            <a:ext uri="{FF2B5EF4-FFF2-40B4-BE49-F238E27FC236}">
              <a16:creationId xmlns:a16="http://schemas.microsoft.com/office/drawing/2014/main" id="{01B429F4-DE9A-A130-8778-1B86012A2AE6}"/>
            </a:ext>
          </a:extLst>
        </p:cNvPr>
        <p:cNvGrpSpPr/>
        <p:nvPr/>
      </p:nvGrpSpPr>
      <p:grpSpPr>
        <a:xfrm>
          <a:off x="0" y="0"/>
          <a:ext cx="0" cy="0"/>
          <a:chOff x="0" y="0"/>
          <a:chExt cx="0" cy="0"/>
        </a:xfrm>
      </p:grpSpPr>
      <p:sp>
        <p:nvSpPr>
          <p:cNvPr id="2" name="Google Shape;679;p36">
            <a:extLst>
              <a:ext uri="{FF2B5EF4-FFF2-40B4-BE49-F238E27FC236}">
                <a16:creationId xmlns:a16="http://schemas.microsoft.com/office/drawing/2014/main" id="{79286028-8628-3C9B-8404-254A99B225B1}"/>
              </a:ext>
            </a:extLst>
          </p:cNvPr>
          <p:cNvSpPr/>
          <p:nvPr/>
        </p:nvSpPr>
        <p:spPr>
          <a:xfrm>
            <a:off x="7355840" y="0"/>
            <a:ext cx="1788160" cy="288036"/>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6" name="Google Shape;676;p36">
            <a:extLst>
              <a:ext uri="{FF2B5EF4-FFF2-40B4-BE49-F238E27FC236}">
                <a16:creationId xmlns:a16="http://schemas.microsoft.com/office/drawing/2014/main" id="{0BE7ACF6-445F-4E67-0F1E-1E273209B626}"/>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7" name="Google Shape;677;p36">
            <a:extLst>
              <a:ext uri="{FF2B5EF4-FFF2-40B4-BE49-F238E27FC236}">
                <a16:creationId xmlns:a16="http://schemas.microsoft.com/office/drawing/2014/main" id="{A1DDC512-CB87-2828-53D9-C11A16E112CD}"/>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8" name="Google Shape;678;p36">
            <a:extLst>
              <a:ext uri="{FF2B5EF4-FFF2-40B4-BE49-F238E27FC236}">
                <a16:creationId xmlns:a16="http://schemas.microsoft.com/office/drawing/2014/main" id="{E966973D-5B71-328C-B0E8-1627E28F0FED}"/>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ДЕМОНСТРАЦИЯ</a:t>
            </a:r>
            <a:endParaRPr sz="1100" b="0" i="0" u="none" strike="noStrike" cap="none" dirty="0">
              <a:solidFill>
                <a:schemeClr val="dk1"/>
              </a:solidFill>
              <a:latin typeface="Calibri"/>
              <a:ea typeface="Calibri"/>
              <a:cs typeface="Calibri"/>
              <a:sym typeface="Calibri"/>
            </a:endParaRPr>
          </a:p>
        </p:txBody>
      </p:sp>
      <p:sp>
        <p:nvSpPr>
          <p:cNvPr id="679" name="Google Shape;679;p36">
            <a:extLst>
              <a:ext uri="{FF2B5EF4-FFF2-40B4-BE49-F238E27FC236}">
                <a16:creationId xmlns:a16="http://schemas.microsoft.com/office/drawing/2014/main" id="{99B84059-C564-F7CC-BD5F-111CF87196C9}"/>
              </a:ext>
            </a:extLst>
          </p:cNvPr>
          <p:cNvSpPr/>
          <p:nvPr/>
        </p:nvSpPr>
        <p:spPr>
          <a:xfrm>
            <a:off x="7355840" y="107283"/>
            <a:ext cx="1788160" cy="361506"/>
          </a:xfrm>
          <a:prstGeom prst="roundRect">
            <a:avLst>
              <a:gd name="adj" fmla="val 50000"/>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80" name="Google Shape;680;p36">
            <a:extLst>
              <a:ext uri="{FF2B5EF4-FFF2-40B4-BE49-F238E27FC236}">
                <a16:creationId xmlns:a16="http://schemas.microsoft.com/office/drawing/2014/main" id="{AC203683-372A-D873-4ABD-1D8F6FDB04DC}"/>
              </a:ext>
            </a:extLst>
          </p:cNvPr>
          <p:cNvSpPr/>
          <p:nvPr/>
        </p:nvSpPr>
        <p:spPr>
          <a:xfrm>
            <a:off x="7608309" y="90377"/>
            <a:ext cx="1283221" cy="2880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E293B"/>
              </a:buClr>
              <a:buSzPts val="800"/>
              <a:buFont typeface="Calibri"/>
              <a:buNone/>
            </a:pPr>
            <a:r>
              <a:rPr lang="bg" sz="1600" b="1" i="0" u="none" strike="noStrike" cap="none" dirty="0">
                <a:solidFill>
                  <a:schemeClr val="bg1"/>
                </a:solidFill>
                <a:latin typeface="Calibri"/>
                <a:ea typeface="Calibri"/>
                <a:cs typeface="Calibri"/>
                <a:sym typeface="Calibri"/>
              </a:rPr>
              <a:t>СПЕЦИАЛИСТ</a:t>
            </a:r>
            <a:endParaRPr sz="1600" b="0" i="0" u="none" strike="noStrike" cap="none" dirty="0">
              <a:solidFill>
                <a:schemeClr val="bg1"/>
              </a:solidFill>
              <a:latin typeface="Calibri"/>
              <a:ea typeface="Calibri"/>
              <a:cs typeface="Calibri"/>
              <a:sym typeface="Calibri"/>
            </a:endParaRPr>
          </a:p>
        </p:txBody>
      </p:sp>
      <p:sp>
        <p:nvSpPr>
          <p:cNvPr id="3" name="Google Shape;683;p36">
            <a:extLst>
              <a:ext uri="{FF2B5EF4-FFF2-40B4-BE49-F238E27FC236}">
                <a16:creationId xmlns:a16="http://schemas.microsoft.com/office/drawing/2014/main" id="{73DAA1E3-C25B-31BE-4D08-704649A35299}"/>
              </a:ext>
            </a:extLst>
          </p:cNvPr>
          <p:cNvSpPr/>
          <p:nvPr/>
        </p:nvSpPr>
        <p:spPr>
          <a:xfrm>
            <a:off x="342900" y="90377"/>
            <a:ext cx="313182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000" b="1" dirty="0">
                <a:solidFill>
                  <a:srgbClr val="1E293B"/>
                </a:solidFill>
                <a:latin typeface="Cambria"/>
                <a:ea typeface="Cambria"/>
                <a:cs typeface="Calibri"/>
                <a:sym typeface="Cambria"/>
              </a:rPr>
              <a:t>Оферти</a:t>
            </a:r>
            <a:endParaRPr sz="2000" b="0" i="0" u="none" strike="noStrike" cap="none" dirty="0">
              <a:solidFill>
                <a:schemeClr val="dk1"/>
              </a:solidFill>
              <a:latin typeface="Calibri"/>
              <a:ea typeface="Calibri"/>
              <a:cs typeface="Calibri"/>
              <a:sym typeface="Calibri"/>
            </a:endParaRPr>
          </a:p>
        </p:txBody>
      </p:sp>
      <p:pic>
        <p:nvPicPr>
          <p:cNvPr id="5" name="Picture 4">
            <a:extLst>
              <a:ext uri="{FF2B5EF4-FFF2-40B4-BE49-F238E27FC236}">
                <a16:creationId xmlns:a16="http://schemas.microsoft.com/office/drawing/2014/main" id="{13999813-A658-F953-2AF7-908E3AEE05D3}"/>
              </a:ext>
            </a:extLst>
          </p:cNvPr>
          <p:cNvPicPr>
            <a:picLocks noChangeAspect="1"/>
          </p:cNvPicPr>
          <p:nvPr/>
        </p:nvPicPr>
        <p:blipFill>
          <a:blip r:embed="rId3"/>
          <a:stretch>
            <a:fillRect/>
          </a:stretch>
        </p:blipFill>
        <p:spPr>
          <a:xfrm>
            <a:off x="403225" y="656383"/>
            <a:ext cx="5612446" cy="4189937"/>
          </a:xfrm>
          <a:prstGeom prst="rect">
            <a:avLst/>
          </a:prstGeom>
          <a:ln>
            <a:solidFill>
              <a:schemeClr val="bg1">
                <a:lumMod val="65000"/>
              </a:schemeClr>
            </a:solidFill>
          </a:ln>
        </p:spPr>
      </p:pic>
      <p:pic>
        <p:nvPicPr>
          <p:cNvPr id="7" name="Picture 6">
            <a:extLst>
              <a:ext uri="{FF2B5EF4-FFF2-40B4-BE49-F238E27FC236}">
                <a16:creationId xmlns:a16="http://schemas.microsoft.com/office/drawing/2014/main" id="{CF5D94C6-CE3B-E469-C390-28BADFAD6ECE}"/>
              </a:ext>
            </a:extLst>
          </p:cNvPr>
          <p:cNvPicPr>
            <a:picLocks noChangeAspect="1"/>
          </p:cNvPicPr>
          <p:nvPr/>
        </p:nvPicPr>
        <p:blipFill>
          <a:blip r:embed="rId4"/>
          <a:stretch>
            <a:fillRect/>
          </a:stretch>
        </p:blipFill>
        <p:spPr>
          <a:xfrm>
            <a:off x="6155255" y="656383"/>
            <a:ext cx="2906107" cy="3675888"/>
          </a:xfrm>
          <a:prstGeom prst="rect">
            <a:avLst/>
          </a:prstGeom>
          <a:ln>
            <a:solidFill>
              <a:schemeClr val="bg1">
                <a:lumMod val="65000"/>
              </a:schemeClr>
            </a:solidFill>
          </a:ln>
        </p:spPr>
      </p:pic>
    </p:spTree>
    <p:extLst>
      <p:ext uri="{BB962C8B-B14F-4D97-AF65-F5344CB8AC3E}">
        <p14:creationId xmlns:p14="http://schemas.microsoft.com/office/powerpoint/2010/main" val="31590759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a:extLst>
            <a:ext uri="{FF2B5EF4-FFF2-40B4-BE49-F238E27FC236}">
              <a16:creationId xmlns:a16="http://schemas.microsoft.com/office/drawing/2014/main" id="{34DE9919-F6AF-47FB-8656-84FDAFB70BB5}"/>
            </a:ext>
          </a:extLst>
        </p:cNvPr>
        <p:cNvGrpSpPr/>
        <p:nvPr/>
      </p:nvGrpSpPr>
      <p:grpSpPr>
        <a:xfrm>
          <a:off x="0" y="0"/>
          <a:ext cx="0" cy="0"/>
          <a:chOff x="0" y="0"/>
          <a:chExt cx="0" cy="0"/>
        </a:xfrm>
      </p:grpSpPr>
      <p:sp>
        <p:nvSpPr>
          <p:cNvPr id="2" name="Google Shape;679;p36">
            <a:extLst>
              <a:ext uri="{FF2B5EF4-FFF2-40B4-BE49-F238E27FC236}">
                <a16:creationId xmlns:a16="http://schemas.microsoft.com/office/drawing/2014/main" id="{B03C1677-1913-CC4B-C840-349EC79F8D01}"/>
              </a:ext>
            </a:extLst>
          </p:cNvPr>
          <p:cNvSpPr/>
          <p:nvPr/>
        </p:nvSpPr>
        <p:spPr>
          <a:xfrm>
            <a:off x="7355840" y="0"/>
            <a:ext cx="1788160" cy="288036"/>
          </a:xfrm>
          <a:prstGeom prst="rect">
            <a:avLst/>
          </a:prstGeom>
          <a:solidFill>
            <a:srgbClr val="F3DADA"/>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6" name="Google Shape;676;p36">
            <a:extLst>
              <a:ext uri="{FF2B5EF4-FFF2-40B4-BE49-F238E27FC236}">
                <a16:creationId xmlns:a16="http://schemas.microsoft.com/office/drawing/2014/main" id="{C112736D-F551-A31B-D4E4-1ABF85AB4704}"/>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7" name="Google Shape;677;p36">
            <a:extLst>
              <a:ext uri="{FF2B5EF4-FFF2-40B4-BE49-F238E27FC236}">
                <a16:creationId xmlns:a16="http://schemas.microsoft.com/office/drawing/2014/main" id="{738A4B72-3088-477A-D9AB-03A51CFD3E15}"/>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8" name="Google Shape;678;p36">
            <a:extLst>
              <a:ext uri="{FF2B5EF4-FFF2-40B4-BE49-F238E27FC236}">
                <a16:creationId xmlns:a16="http://schemas.microsoft.com/office/drawing/2014/main" id="{7173469E-186E-DF33-A020-738CD9B61AAA}"/>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ДЕМОНСТРАЦИЯ</a:t>
            </a:r>
            <a:endParaRPr sz="1100" b="0" i="0" u="none" strike="noStrike" cap="none" dirty="0">
              <a:solidFill>
                <a:schemeClr val="dk1"/>
              </a:solidFill>
              <a:latin typeface="Calibri"/>
              <a:ea typeface="Calibri"/>
              <a:cs typeface="Calibri"/>
              <a:sym typeface="Calibri"/>
            </a:endParaRPr>
          </a:p>
        </p:txBody>
      </p:sp>
      <p:sp>
        <p:nvSpPr>
          <p:cNvPr id="679" name="Google Shape;679;p36">
            <a:extLst>
              <a:ext uri="{FF2B5EF4-FFF2-40B4-BE49-F238E27FC236}">
                <a16:creationId xmlns:a16="http://schemas.microsoft.com/office/drawing/2014/main" id="{A4A4A6CA-A425-D870-451F-624ED6915683}"/>
              </a:ext>
            </a:extLst>
          </p:cNvPr>
          <p:cNvSpPr/>
          <p:nvPr/>
        </p:nvSpPr>
        <p:spPr>
          <a:xfrm>
            <a:off x="7355840" y="107283"/>
            <a:ext cx="1788160" cy="361506"/>
          </a:xfrm>
          <a:prstGeom prst="roundRect">
            <a:avLst>
              <a:gd name="adj" fmla="val 50000"/>
            </a:avLst>
          </a:prstGeom>
          <a:solidFill>
            <a:srgbClr val="F3DADA"/>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80" name="Google Shape;680;p36">
            <a:extLst>
              <a:ext uri="{FF2B5EF4-FFF2-40B4-BE49-F238E27FC236}">
                <a16:creationId xmlns:a16="http://schemas.microsoft.com/office/drawing/2014/main" id="{8599C4DD-2EFC-410F-279F-2A8835903E0C}"/>
              </a:ext>
            </a:extLst>
          </p:cNvPr>
          <p:cNvSpPr/>
          <p:nvPr/>
        </p:nvSpPr>
        <p:spPr>
          <a:xfrm>
            <a:off x="7769339" y="90377"/>
            <a:ext cx="1024141" cy="2880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E293B"/>
              </a:buClr>
              <a:buSzPts val="800"/>
              <a:buFont typeface="Calibri"/>
              <a:buNone/>
            </a:pPr>
            <a:r>
              <a:rPr lang="bg" sz="1600" b="1" i="0" u="none" strike="noStrike" cap="none" dirty="0">
                <a:solidFill>
                  <a:srgbClr val="1E293B"/>
                </a:solidFill>
                <a:latin typeface="Calibri"/>
                <a:ea typeface="Calibri"/>
                <a:cs typeface="Calibri"/>
                <a:sym typeface="Calibri"/>
              </a:rPr>
              <a:t>КЛИЕНТ</a:t>
            </a:r>
            <a:endParaRPr sz="1600" b="0" i="0" u="none" strike="noStrike" cap="none" dirty="0">
              <a:solidFill>
                <a:schemeClr val="dk1"/>
              </a:solidFill>
              <a:latin typeface="Calibri"/>
              <a:ea typeface="Calibri"/>
              <a:cs typeface="Calibri"/>
              <a:sym typeface="Calibri"/>
            </a:endParaRPr>
          </a:p>
        </p:txBody>
      </p:sp>
      <p:sp>
        <p:nvSpPr>
          <p:cNvPr id="683" name="Google Shape;683;p36">
            <a:extLst>
              <a:ext uri="{FF2B5EF4-FFF2-40B4-BE49-F238E27FC236}">
                <a16:creationId xmlns:a16="http://schemas.microsoft.com/office/drawing/2014/main" id="{BE29D25D-B0E1-8F78-5A47-1D56689E5476}"/>
              </a:ext>
            </a:extLst>
          </p:cNvPr>
          <p:cNvSpPr/>
          <p:nvPr/>
        </p:nvSpPr>
        <p:spPr>
          <a:xfrm>
            <a:off x="342900" y="90377"/>
            <a:ext cx="313182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000" b="1" dirty="0">
                <a:solidFill>
                  <a:srgbClr val="1E293B"/>
                </a:solidFill>
                <a:latin typeface="Cambria"/>
                <a:ea typeface="Cambria"/>
                <a:cs typeface="Calibri"/>
                <a:sym typeface="Cambria"/>
              </a:rPr>
              <a:t>Оферти</a:t>
            </a:r>
            <a:endParaRPr sz="2000" b="0" i="0" u="none" strike="noStrike" cap="none" dirty="0">
              <a:solidFill>
                <a:schemeClr val="dk1"/>
              </a:solidFill>
              <a:latin typeface="Calibri"/>
              <a:ea typeface="Calibri"/>
              <a:cs typeface="Calibri"/>
              <a:sym typeface="Calibri"/>
            </a:endParaRPr>
          </a:p>
        </p:txBody>
      </p:sp>
      <p:pic>
        <p:nvPicPr>
          <p:cNvPr id="5" name="Picture 4">
            <a:extLst>
              <a:ext uri="{FF2B5EF4-FFF2-40B4-BE49-F238E27FC236}">
                <a16:creationId xmlns:a16="http://schemas.microsoft.com/office/drawing/2014/main" id="{9A082C68-382B-9E37-FFAF-14D4B380820B}"/>
              </a:ext>
            </a:extLst>
          </p:cNvPr>
          <p:cNvPicPr>
            <a:picLocks noChangeAspect="1"/>
          </p:cNvPicPr>
          <p:nvPr/>
        </p:nvPicPr>
        <p:blipFill>
          <a:blip r:embed="rId3"/>
          <a:stretch>
            <a:fillRect/>
          </a:stretch>
        </p:blipFill>
        <p:spPr>
          <a:xfrm>
            <a:off x="477593" y="599745"/>
            <a:ext cx="5447302" cy="4232935"/>
          </a:xfrm>
          <a:prstGeom prst="rect">
            <a:avLst/>
          </a:prstGeom>
          <a:solidFill>
            <a:schemeClr val="tx2">
              <a:lumMod val="75000"/>
            </a:schemeClr>
          </a:solidFill>
          <a:ln>
            <a:solidFill>
              <a:schemeClr val="bg1">
                <a:lumMod val="65000"/>
              </a:schemeClr>
            </a:solidFill>
          </a:ln>
        </p:spPr>
      </p:pic>
      <p:pic>
        <p:nvPicPr>
          <p:cNvPr id="8" name="Picture 7">
            <a:extLst>
              <a:ext uri="{FF2B5EF4-FFF2-40B4-BE49-F238E27FC236}">
                <a16:creationId xmlns:a16="http://schemas.microsoft.com/office/drawing/2014/main" id="{9F1D8CD6-70C2-27EC-B0C1-8F18A536DA9B}"/>
              </a:ext>
            </a:extLst>
          </p:cNvPr>
          <p:cNvPicPr>
            <a:picLocks noChangeAspect="1"/>
          </p:cNvPicPr>
          <p:nvPr/>
        </p:nvPicPr>
        <p:blipFill>
          <a:blip r:embed="rId4"/>
          <a:stretch>
            <a:fillRect/>
          </a:stretch>
        </p:blipFill>
        <p:spPr>
          <a:xfrm>
            <a:off x="6059588" y="587185"/>
            <a:ext cx="2942863" cy="3898116"/>
          </a:xfrm>
          <a:prstGeom prst="rect">
            <a:avLst/>
          </a:prstGeom>
          <a:ln>
            <a:solidFill>
              <a:schemeClr val="bg1">
                <a:lumMod val="65000"/>
              </a:schemeClr>
            </a:solidFill>
          </a:ln>
        </p:spPr>
      </p:pic>
    </p:spTree>
    <p:extLst>
      <p:ext uri="{BB962C8B-B14F-4D97-AF65-F5344CB8AC3E}">
        <p14:creationId xmlns:p14="http://schemas.microsoft.com/office/powerpoint/2010/main" val="3364420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a:extLst>
            <a:ext uri="{FF2B5EF4-FFF2-40B4-BE49-F238E27FC236}">
              <a16:creationId xmlns:a16="http://schemas.microsoft.com/office/drawing/2014/main" id="{E1F46F10-862E-0EBA-D1B9-787E4F1A9111}"/>
            </a:ext>
          </a:extLst>
        </p:cNvPr>
        <p:cNvGrpSpPr/>
        <p:nvPr/>
      </p:nvGrpSpPr>
      <p:grpSpPr>
        <a:xfrm>
          <a:off x="0" y="0"/>
          <a:ext cx="0" cy="0"/>
          <a:chOff x="0" y="0"/>
          <a:chExt cx="0" cy="0"/>
        </a:xfrm>
      </p:grpSpPr>
      <p:sp>
        <p:nvSpPr>
          <p:cNvPr id="2" name="Google Shape;679;p36">
            <a:extLst>
              <a:ext uri="{FF2B5EF4-FFF2-40B4-BE49-F238E27FC236}">
                <a16:creationId xmlns:a16="http://schemas.microsoft.com/office/drawing/2014/main" id="{1EBF2CBE-C552-22BF-6F0F-80CD03F8E6C8}"/>
              </a:ext>
            </a:extLst>
          </p:cNvPr>
          <p:cNvSpPr/>
          <p:nvPr/>
        </p:nvSpPr>
        <p:spPr>
          <a:xfrm>
            <a:off x="7355840" y="0"/>
            <a:ext cx="1788160" cy="288036"/>
          </a:xfrm>
          <a:prstGeom prst="rect">
            <a:avLst/>
          </a:prstGeom>
          <a:solidFill>
            <a:srgbClr val="F3DADA"/>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6" name="Google Shape;676;p36">
            <a:extLst>
              <a:ext uri="{FF2B5EF4-FFF2-40B4-BE49-F238E27FC236}">
                <a16:creationId xmlns:a16="http://schemas.microsoft.com/office/drawing/2014/main" id="{25F3FA5B-A004-0857-CECE-82A14A088384}"/>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7" name="Google Shape;677;p36">
            <a:extLst>
              <a:ext uri="{FF2B5EF4-FFF2-40B4-BE49-F238E27FC236}">
                <a16:creationId xmlns:a16="http://schemas.microsoft.com/office/drawing/2014/main" id="{3CC73815-40D9-E973-9A71-7A5CEA6C31E5}"/>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8" name="Google Shape;678;p36">
            <a:extLst>
              <a:ext uri="{FF2B5EF4-FFF2-40B4-BE49-F238E27FC236}">
                <a16:creationId xmlns:a16="http://schemas.microsoft.com/office/drawing/2014/main" id="{19738A65-3EDF-39F1-1200-F5C8CF7AD12D}"/>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ДЕМОНСТРАЦИЯ</a:t>
            </a:r>
            <a:endParaRPr sz="1100" b="0" i="0" u="none" strike="noStrike" cap="none" dirty="0">
              <a:solidFill>
                <a:schemeClr val="dk1"/>
              </a:solidFill>
              <a:latin typeface="Calibri"/>
              <a:ea typeface="Calibri"/>
              <a:cs typeface="Calibri"/>
              <a:sym typeface="Calibri"/>
            </a:endParaRPr>
          </a:p>
        </p:txBody>
      </p:sp>
      <p:sp>
        <p:nvSpPr>
          <p:cNvPr id="679" name="Google Shape;679;p36">
            <a:extLst>
              <a:ext uri="{FF2B5EF4-FFF2-40B4-BE49-F238E27FC236}">
                <a16:creationId xmlns:a16="http://schemas.microsoft.com/office/drawing/2014/main" id="{2F3E96F5-934D-559F-54C7-519BB8D405B3}"/>
              </a:ext>
            </a:extLst>
          </p:cNvPr>
          <p:cNvSpPr/>
          <p:nvPr/>
        </p:nvSpPr>
        <p:spPr>
          <a:xfrm>
            <a:off x="7355840" y="107283"/>
            <a:ext cx="1788160" cy="361506"/>
          </a:xfrm>
          <a:prstGeom prst="roundRect">
            <a:avLst>
              <a:gd name="adj" fmla="val 50000"/>
            </a:avLst>
          </a:prstGeom>
          <a:solidFill>
            <a:srgbClr val="F3DADA"/>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80" name="Google Shape;680;p36">
            <a:extLst>
              <a:ext uri="{FF2B5EF4-FFF2-40B4-BE49-F238E27FC236}">
                <a16:creationId xmlns:a16="http://schemas.microsoft.com/office/drawing/2014/main" id="{69C6FEB7-6729-674D-63F4-7F465D3CC63A}"/>
              </a:ext>
            </a:extLst>
          </p:cNvPr>
          <p:cNvSpPr/>
          <p:nvPr/>
        </p:nvSpPr>
        <p:spPr>
          <a:xfrm>
            <a:off x="7769339" y="90377"/>
            <a:ext cx="1024141" cy="2880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E293B"/>
              </a:buClr>
              <a:buSzPts val="800"/>
              <a:buFont typeface="Calibri"/>
              <a:buNone/>
            </a:pPr>
            <a:r>
              <a:rPr lang="bg" sz="1600" b="1" i="0" u="none" strike="noStrike" cap="none" dirty="0">
                <a:solidFill>
                  <a:srgbClr val="1E293B"/>
                </a:solidFill>
                <a:latin typeface="Calibri"/>
                <a:ea typeface="Calibri"/>
                <a:cs typeface="Calibri"/>
                <a:sym typeface="Calibri"/>
              </a:rPr>
              <a:t>КЛИЕНТ</a:t>
            </a:r>
            <a:endParaRPr sz="1600" b="0" i="0" u="none" strike="noStrike" cap="none" dirty="0">
              <a:solidFill>
                <a:schemeClr val="dk1"/>
              </a:solidFill>
              <a:latin typeface="Calibri"/>
              <a:ea typeface="Calibri"/>
              <a:cs typeface="Calibri"/>
              <a:sym typeface="Calibri"/>
            </a:endParaRPr>
          </a:p>
        </p:txBody>
      </p:sp>
      <p:sp>
        <p:nvSpPr>
          <p:cNvPr id="683" name="Google Shape;683;p36">
            <a:extLst>
              <a:ext uri="{FF2B5EF4-FFF2-40B4-BE49-F238E27FC236}">
                <a16:creationId xmlns:a16="http://schemas.microsoft.com/office/drawing/2014/main" id="{F29C47C0-2E44-CD8B-6626-0C84EA29568F}"/>
              </a:ext>
            </a:extLst>
          </p:cNvPr>
          <p:cNvSpPr/>
          <p:nvPr/>
        </p:nvSpPr>
        <p:spPr>
          <a:xfrm>
            <a:off x="342900" y="90377"/>
            <a:ext cx="313182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000" b="1" dirty="0">
                <a:solidFill>
                  <a:srgbClr val="1E293B"/>
                </a:solidFill>
                <a:latin typeface="Cambria"/>
                <a:ea typeface="Cambria"/>
                <a:cs typeface="Calibri"/>
                <a:sym typeface="Cambria"/>
              </a:rPr>
              <a:t>Оферти към обява</a:t>
            </a:r>
            <a:endParaRPr sz="2000" b="0" i="0" u="none" strike="noStrike" cap="none" dirty="0">
              <a:solidFill>
                <a:schemeClr val="dk1"/>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B29A63C8-006D-02BC-B462-1090CB503B35}"/>
              </a:ext>
            </a:extLst>
          </p:cNvPr>
          <p:cNvPicPr>
            <a:picLocks noChangeAspect="1"/>
          </p:cNvPicPr>
          <p:nvPr/>
        </p:nvPicPr>
        <p:blipFill>
          <a:blip r:embed="rId3"/>
          <a:stretch>
            <a:fillRect/>
          </a:stretch>
        </p:blipFill>
        <p:spPr>
          <a:xfrm>
            <a:off x="482079" y="700881"/>
            <a:ext cx="5345983" cy="4030663"/>
          </a:xfrm>
          <a:prstGeom prst="rect">
            <a:avLst/>
          </a:prstGeom>
          <a:ln>
            <a:solidFill>
              <a:schemeClr val="bg1">
                <a:lumMod val="65000"/>
              </a:schemeClr>
            </a:solidFill>
          </a:ln>
        </p:spPr>
      </p:pic>
      <p:pic>
        <p:nvPicPr>
          <p:cNvPr id="7" name="Picture 6">
            <a:extLst>
              <a:ext uri="{FF2B5EF4-FFF2-40B4-BE49-F238E27FC236}">
                <a16:creationId xmlns:a16="http://schemas.microsoft.com/office/drawing/2014/main" id="{CD3755A2-5EB0-31B2-4124-B92DAEE9BB9E}"/>
              </a:ext>
            </a:extLst>
          </p:cNvPr>
          <p:cNvPicPr>
            <a:picLocks noChangeAspect="1"/>
          </p:cNvPicPr>
          <p:nvPr/>
        </p:nvPicPr>
        <p:blipFill>
          <a:blip r:embed="rId4"/>
          <a:stretch>
            <a:fillRect/>
          </a:stretch>
        </p:blipFill>
        <p:spPr>
          <a:xfrm>
            <a:off x="5967241" y="700881"/>
            <a:ext cx="3000356" cy="3756819"/>
          </a:xfrm>
          <a:prstGeom prst="rect">
            <a:avLst/>
          </a:prstGeom>
          <a:ln>
            <a:solidFill>
              <a:schemeClr val="bg1">
                <a:lumMod val="65000"/>
              </a:schemeClr>
            </a:solidFill>
          </a:ln>
        </p:spPr>
      </p:pic>
    </p:spTree>
    <p:extLst>
      <p:ext uri="{BB962C8B-B14F-4D97-AF65-F5344CB8AC3E}">
        <p14:creationId xmlns:p14="http://schemas.microsoft.com/office/powerpoint/2010/main" val="15919182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a:extLst>
            <a:ext uri="{FF2B5EF4-FFF2-40B4-BE49-F238E27FC236}">
              <a16:creationId xmlns:a16="http://schemas.microsoft.com/office/drawing/2014/main" id="{B679068B-3D56-5F2B-03C2-B0E2043EE184}"/>
            </a:ext>
          </a:extLst>
        </p:cNvPr>
        <p:cNvGrpSpPr/>
        <p:nvPr/>
      </p:nvGrpSpPr>
      <p:grpSpPr>
        <a:xfrm>
          <a:off x="0" y="0"/>
          <a:ext cx="0" cy="0"/>
          <a:chOff x="0" y="0"/>
          <a:chExt cx="0" cy="0"/>
        </a:xfrm>
      </p:grpSpPr>
      <p:sp>
        <p:nvSpPr>
          <p:cNvPr id="676" name="Google Shape;676;p36">
            <a:extLst>
              <a:ext uri="{FF2B5EF4-FFF2-40B4-BE49-F238E27FC236}">
                <a16:creationId xmlns:a16="http://schemas.microsoft.com/office/drawing/2014/main" id="{040D9F7F-CDDA-2647-AB1D-54F3CDBB2B46}"/>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7" name="Google Shape;677;p36">
            <a:extLst>
              <a:ext uri="{FF2B5EF4-FFF2-40B4-BE49-F238E27FC236}">
                <a16:creationId xmlns:a16="http://schemas.microsoft.com/office/drawing/2014/main" id="{4A673CB3-4308-9975-3CAE-71EB5506D648}"/>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8" name="Google Shape;678;p36">
            <a:extLst>
              <a:ext uri="{FF2B5EF4-FFF2-40B4-BE49-F238E27FC236}">
                <a16:creationId xmlns:a16="http://schemas.microsoft.com/office/drawing/2014/main" id="{5BAED29B-4014-492F-5C06-81F4CD07BB6F}"/>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ДЕМОНСТРАЦИЯ</a:t>
            </a:r>
            <a:endParaRPr sz="1100" b="0" i="0" u="none" strike="noStrike" cap="none" dirty="0">
              <a:solidFill>
                <a:schemeClr val="dk1"/>
              </a:solidFill>
              <a:latin typeface="Calibri"/>
              <a:ea typeface="Calibri"/>
              <a:cs typeface="Calibri"/>
              <a:sym typeface="Calibri"/>
            </a:endParaRPr>
          </a:p>
        </p:txBody>
      </p:sp>
      <p:sp>
        <p:nvSpPr>
          <p:cNvPr id="3" name="Google Shape;683;p36">
            <a:extLst>
              <a:ext uri="{FF2B5EF4-FFF2-40B4-BE49-F238E27FC236}">
                <a16:creationId xmlns:a16="http://schemas.microsoft.com/office/drawing/2014/main" id="{10EE809E-6CD7-87B8-DCCB-C4C9251C9A2C}"/>
              </a:ext>
            </a:extLst>
          </p:cNvPr>
          <p:cNvSpPr/>
          <p:nvPr/>
        </p:nvSpPr>
        <p:spPr>
          <a:xfrm>
            <a:off x="342900" y="90377"/>
            <a:ext cx="313182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000" b="1" dirty="0">
                <a:solidFill>
                  <a:srgbClr val="1E293B"/>
                </a:solidFill>
                <a:latin typeface="Cambria"/>
                <a:ea typeface="Cambria"/>
                <a:cs typeface="Calibri"/>
                <a:sym typeface="Cambria"/>
              </a:rPr>
              <a:t>Преглед на оферта</a:t>
            </a:r>
            <a:endParaRPr sz="2000" b="0" i="0" u="none" strike="noStrike" cap="none" dirty="0">
              <a:solidFill>
                <a:schemeClr val="dk1"/>
              </a:solidFill>
              <a:latin typeface="Calibri"/>
              <a:ea typeface="Calibri"/>
              <a:cs typeface="Calibri"/>
              <a:sym typeface="Calibri"/>
            </a:endParaRPr>
          </a:p>
        </p:txBody>
      </p:sp>
      <p:pic>
        <p:nvPicPr>
          <p:cNvPr id="5" name="Picture 4" descr="A screenshot of a computer&#10;&#10;AI-generated content may be incorrect.">
            <a:extLst>
              <a:ext uri="{FF2B5EF4-FFF2-40B4-BE49-F238E27FC236}">
                <a16:creationId xmlns:a16="http://schemas.microsoft.com/office/drawing/2014/main" id="{F9AC2097-15CF-B9AF-34ED-DE6F52924743}"/>
              </a:ext>
            </a:extLst>
          </p:cNvPr>
          <p:cNvPicPr>
            <a:picLocks noChangeAspect="1"/>
          </p:cNvPicPr>
          <p:nvPr/>
        </p:nvPicPr>
        <p:blipFill>
          <a:blip r:embed="rId3"/>
          <a:stretch>
            <a:fillRect/>
          </a:stretch>
        </p:blipFill>
        <p:spPr>
          <a:xfrm>
            <a:off x="1314417" y="542282"/>
            <a:ext cx="6293892" cy="4510841"/>
          </a:xfrm>
          <a:prstGeom prst="rect">
            <a:avLst/>
          </a:prstGeom>
          <a:ln>
            <a:solidFill>
              <a:schemeClr val="bg1">
                <a:lumMod val="65000"/>
              </a:schemeClr>
            </a:solidFill>
          </a:ln>
        </p:spPr>
      </p:pic>
    </p:spTree>
    <p:extLst>
      <p:ext uri="{BB962C8B-B14F-4D97-AF65-F5344CB8AC3E}">
        <p14:creationId xmlns:p14="http://schemas.microsoft.com/office/powerpoint/2010/main" val="32118604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a:extLst>
            <a:ext uri="{FF2B5EF4-FFF2-40B4-BE49-F238E27FC236}">
              <a16:creationId xmlns:a16="http://schemas.microsoft.com/office/drawing/2014/main" id="{C56594B7-B7D0-01F0-BDB4-2254770CE55C}"/>
            </a:ext>
          </a:extLst>
        </p:cNvPr>
        <p:cNvGrpSpPr/>
        <p:nvPr/>
      </p:nvGrpSpPr>
      <p:grpSpPr>
        <a:xfrm>
          <a:off x="0" y="0"/>
          <a:ext cx="0" cy="0"/>
          <a:chOff x="0" y="0"/>
          <a:chExt cx="0" cy="0"/>
        </a:xfrm>
      </p:grpSpPr>
      <p:sp>
        <p:nvSpPr>
          <p:cNvPr id="2" name="Google Shape;679;p36">
            <a:extLst>
              <a:ext uri="{FF2B5EF4-FFF2-40B4-BE49-F238E27FC236}">
                <a16:creationId xmlns:a16="http://schemas.microsoft.com/office/drawing/2014/main" id="{98D33987-F5C2-1015-040A-87ED95C8D3D0}"/>
              </a:ext>
            </a:extLst>
          </p:cNvPr>
          <p:cNvSpPr/>
          <p:nvPr/>
        </p:nvSpPr>
        <p:spPr>
          <a:xfrm>
            <a:off x="7355840" y="0"/>
            <a:ext cx="1788160" cy="288036"/>
          </a:xfrm>
          <a:prstGeom prst="rect">
            <a:avLst/>
          </a:prstGeom>
          <a:solidFill>
            <a:srgbClr val="F3DADA"/>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6" name="Google Shape;676;p36">
            <a:extLst>
              <a:ext uri="{FF2B5EF4-FFF2-40B4-BE49-F238E27FC236}">
                <a16:creationId xmlns:a16="http://schemas.microsoft.com/office/drawing/2014/main" id="{4D303F0D-B668-6FFD-6E7F-DADB7B8E74A8}"/>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7" name="Google Shape;677;p36">
            <a:extLst>
              <a:ext uri="{FF2B5EF4-FFF2-40B4-BE49-F238E27FC236}">
                <a16:creationId xmlns:a16="http://schemas.microsoft.com/office/drawing/2014/main" id="{F3FACF9D-9A76-0A58-8B77-7BE24CF61341}"/>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8" name="Google Shape;678;p36">
            <a:extLst>
              <a:ext uri="{FF2B5EF4-FFF2-40B4-BE49-F238E27FC236}">
                <a16:creationId xmlns:a16="http://schemas.microsoft.com/office/drawing/2014/main" id="{739E5CC7-3AE5-D3F3-39CE-A5BD37BDA842}"/>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ДЕМОНСТРАЦИЯ</a:t>
            </a:r>
            <a:endParaRPr sz="1100" b="0" i="0" u="none" strike="noStrike" cap="none" dirty="0">
              <a:solidFill>
                <a:schemeClr val="dk1"/>
              </a:solidFill>
              <a:latin typeface="Calibri"/>
              <a:ea typeface="Calibri"/>
              <a:cs typeface="Calibri"/>
              <a:sym typeface="Calibri"/>
            </a:endParaRPr>
          </a:p>
        </p:txBody>
      </p:sp>
      <p:sp>
        <p:nvSpPr>
          <p:cNvPr id="679" name="Google Shape;679;p36">
            <a:extLst>
              <a:ext uri="{FF2B5EF4-FFF2-40B4-BE49-F238E27FC236}">
                <a16:creationId xmlns:a16="http://schemas.microsoft.com/office/drawing/2014/main" id="{BFF4E689-70A1-7A26-BA1C-20F410E6D30E}"/>
              </a:ext>
            </a:extLst>
          </p:cNvPr>
          <p:cNvSpPr/>
          <p:nvPr/>
        </p:nvSpPr>
        <p:spPr>
          <a:xfrm>
            <a:off x="7355840" y="107283"/>
            <a:ext cx="1788160" cy="361506"/>
          </a:xfrm>
          <a:prstGeom prst="roundRect">
            <a:avLst>
              <a:gd name="adj" fmla="val 50000"/>
            </a:avLst>
          </a:prstGeom>
          <a:solidFill>
            <a:srgbClr val="F3DADA"/>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80" name="Google Shape;680;p36">
            <a:extLst>
              <a:ext uri="{FF2B5EF4-FFF2-40B4-BE49-F238E27FC236}">
                <a16:creationId xmlns:a16="http://schemas.microsoft.com/office/drawing/2014/main" id="{18ED8D91-943E-941B-38E9-8CAF761A7F85}"/>
              </a:ext>
            </a:extLst>
          </p:cNvPr>
          <p:cNvSpPr/>
          <p:nvPr/>
        </p:nvSpPr>
        <p:spPr>
          <a:xfrm>
            <a:off x="7769339" y="90377"/>
            <a:ext cx="1024141" cy="2880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E293B"/>
              </a:buClr>
              <a:buSzPts val="800"/>
              <a:buFont typeface="Calibri"/>
              <a:buNone/>
            </a:pPr>
            <a:r>
              <a:rPr lang="bg" sz="1600" b="1" i="0" u="none" strike="noStrike" cap="none" dirty="0">
                <a:solidFill>
                  <a:srgbClr val="1E293B"/>
                </a:solidFill>
                <a:latin typeface="Calibri"/>
                <a:ea typeface="Calibri"/>
                <a:cs typeface="Calibri"/>
                <a:sym typeface="Calibri"/>
              </a:rPr>
              <a:t>КЛИЕНТ</a:t>
            </a:r>
            <a:endParaRPr sz="1600" b="0" i="0" u="none" strike="noStrike" cap="none" dirty="0">
              <a:solidFill>
                <a:schemeClr val="dk1"/>
              </a:solidFill>
              <a:latin typeface="Calibri"/>
              <a:ea typeface="Calibri"/>
              <a:cs typeface="Calibri"/>
              <a:sym typeface="Calibri"/>
            </a:endParaRPr>
          </a:p>
        </p:txBody>
      </p:sp>
      <p:sp>
        <p:nvSpPr>
          <p:cNvPr id="683" name="Google Shape;683;p36">
            <a:extLst>
              <a:ext uri="{FF2B5EF4-FFF2-40B4-BE49-F238E27FC236}">
                <a16:creationId xmlns:a16="http://schemas.microsoft.com/office/drawing/2014/main" id="{E600201A-A3D5-10B2-6405-1BA637FDCCB7}"/>
              </a:ext>
            </a:extLst>
          </p:cNvPr>
          <p:cNvSpPr/>
          <p:nvPr/>
        </p:nvSpPr>
        <p:spPr>
          <a:xfrm>
            <a:off x="342900" y="90377"/>
            <a:ext cx="313182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000" b="1" dirty="0">
                <a:solidFill>
                  <a:srgbClr val="1E293B"/>
                </a:solidFill>
                <a:latin typeface="Cambria"/>
                <a:ea typeface="Cambria"/>
                <a:cs typeface="Calibri"/>
                <a:sym typeface="Cambria"/>
              </a:rPr>
              <a:t>Управление на оферта</a:t>
            </a:r>
            <a:endParaRPr sz="2000" b="0" i="0" u="none" strike="noStrike" cap="none" dirty="0">
              <a:solidFill>
                <a:schemeClr val="dk1"/>
              </a:solidFill>
              <a:latin typeface="Calibri"/>
              <a:ea typeface="Calibri"/>
              <a:cs typeface="Calibri"/>
              <a:sym typeface="Calibri"/>
            </a:endParaRPr>
          </a:p>
        </p:txBody>
      </p:sp>
      <p:graphicFrame>
        <p:nvGraphicFramePr>
          <p:cNvPr id="8" name="Table 7">
            <a:extLst>
              <a:ext uri="{FF2B5EF4-FFF2-40B4-BE49-F238E27FC236}">
                <a16:creationId xmlns:a16="http://schemas.microsoft.com/office/drawing/2014/main" id="{1B554C18-5422-E362-85EB-52917C733BA8}"/>
              </a:ext>
            </a:extLst>
          </p:cNvPr>
          <p:cNvGraphicFramePr>
            <a:graphicFrameLocks noGrp="1"/>
          </p:cNvGraphicFramePr>
          <p:nvPr>
            <p:extLst>
              <p:ext uri="{D42A27DB-BD31-4B8C-83A1-F6EECF244321}">
                <p14:modId xmlns:p14="http://schemas.microsoft.com/office/powerpoint/2010/main" val="2374527215"/>
              </p:ext>
            </p:extLst>
          </p:nvPr>
        </p:nvGraphicFramePr>
        <p:xfrm>
          <a:off x="4826987" y="725196"/>
          <a:ext cx="4282439" cy="4580394"/>
        </p:xfrm>
        <a:graphic>
          <a:graphicData uri="http://schemas.openxmlformats.org/drawingml/2006/table">
            <a:tbl>
              <a:tblPr firstRow="1" bandRow="1">
                <a:tableStyleId>{9D7B26C5-4107-4FEC-AEDC-1716B250A1EF}</a:tableStyleId>
              </a:tblPr>
              <a:tblGrid>
                <a:gridCol w="1143000">
                  <a:extLst>
                    <a:ext uri="{9D8B030D-6E8A-4147-A177-3AD203B41FA5}">
                      <a16:colId xmlns:a16="http://schemas.microsoft.com/office/drawing/2014/main" val="2301828593"/>
                    </a:ext>
                  </a:extLst>
                </a:gridCol>
                <a:gridCol w="1769212">
                  <a:extLst>
                    <a:ext uri="{9D8B030D-6E8A-4147-A177-3AD203B41FA5}">
                      <a16:colId xmlns:a16="http://schemas.microsoft.com/office/drawing/2014/main" val="2552174887"/>
                    </a:ext>
                  </a:extLst>
                </a:gridCol>
                <a:gridCol w="1370227">
                  <a:extLst>
                    <a:ext uri="{9D8B030D-6E8A-4147-A177-3AD203B41FA5}">
                      <a16:colId xmlns:a16="http://schemas.microsoft.com/office/drawing/2014/main" val="1989688165"/>
                    </a:ext>
                  </a:extLst>
                </a:gridCol>
              </a:tblGrid>
              <a:tr h="230869">
                <a:tc>
                  <a:txBody>
                    <a:bodyPr/>
                    <a:lstStyle/>
                    <a:p>
                      <a:pPr>
                        <a:spcBef>
                          <a:spcPts val="180"/>
                        </a:spcBef>
                        <a:spcAft>
                          <a:spcPts val="180"/>
                        </a:spcAft>
                        <a:buNone/>
                      </a:pPr>
                      <a:r>
                        <a:rPr lang="bg-BG" sz="1200" b="1" dirty="0">
                          <a:effectLst/>
                          <a:latin typeface="Calibri" panose="020F0502020204030204" pitchFamily="34" charset="0"/>
                          <a:ea typeface="Calibri" panose="020F0502020204030204" pitchFamily="34" charset="0"/>
                          <a:cs typeface="Calibri" panose="020F0502020204030204" pitchFamily="34" charset="0"/>
                        </a:rPr>
                        <a:t>Статус</a:t>
                      </a:r>
                      <a:endParaRPr lang="en-150" sz="12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a:noFill/>
                    </a:lnL>
                    <a:lnR>
                      <a:noFill/>
                    </a:lnR>
                    <a:lnT w="12700" cmpd="sng">
                      <a:noFill/>
                    </a:lnT>
                    <a:lnB w="12700" cmpd="sng">
                      <a:noFill/>
                    </a:lnB>
                    <a:lnTlToBr w="12700" cmpd="sng">
                      <a:noFill/>
                      <a:prstDash val="solid"/>
                    </a:lnTlToBr>
                    <a:lnBlToTr w="12700" cmpd="sng">
                      <a:noFill/>
                      <a:prstDash val="solid"/>
                    </a:lnBlToTr>
                  </a:tcPr>
                </a:tc>
                <a:tc>
                  <a:txBody>
                    <a:bodyPr/>
                    <a:lstStyle/>
                    <a:p>
                      <a:pPr>
                        <a:spcBef>
                          <a:spcPts val="180"/>
                        </a:spcBef>
                        <a:spcAft>
                          <a:spcPts val="180"/>
                        </a:spcAft>
                        <a:buNone/>
                      </a:pPr>
                      <a:r>
                        <a:rPr lang="bg-BG" sz="1200" b="1" dirty="0">
                          <a:effectLst/>
                          <a:latin typeface="Calibri" panose="020F0502020204030204" pitchFamily="34" charset="0"/>
                          <a:ea typeface="Calibri" panose="020F0502020204030204" pitchFamily="34" charset="0"/>
                          <a:cs typeface="Calibri" panose="020F0502020204030204" pitchFamily="34" charset="0"/>
                        </a:rPr>
                        <a:t>Действия</a:t>
                      </a:r>
                      <a:endParaRPr lang="en-150" sz="12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a:noFill/>
                    </a:lnL>
                    <a:lnR>
                      <a:noFill/>
                    </a:lnR>
                    <a:lnT w="12700" cmpd="sng">
                      <a:noFill/>
                    </a:lnT>
                    <a:lnB w="12700" cmpd="sng">
                      <a:noFill/>
                    </a:lnB>
                    <a:lnTlToBr w="12700" cmpd="sng">
                      <a:noFill/>
                      <a:prstDash val="solid"/>
                    </a:lnTlToBr>
                    <a:lnBlToTr w="12700" cmpd="sng">
                      <a:noFill/>
                      <a:prstDash val="solid"/>
                    </a:lnBlToTr>
                  </a:tcPr>
                </a:tc>
                <a:tc>
                  <a:txBody>
                    <a:bodyPr/>
                    <a:lstStyle/>
                    <a:p>
                      <a:pPr>
                        <a:spcBef>
                          <a:spcPts val="180"/>
                        </a:spcBef>
                        <a:spcAft>
                          <a:spcPts val="180"/>
                        </a:spcAft>
                        <a:buNone/>
                      </a:pPr>
                      <a:r>
                        <a:rPr lang="bg-BG" sz="1200" b="1" dirty="0">
                          <a:effectLst/>
                          <a:latin typeface="Calibri" panose="020F0502020204030204" pitchFamily="34" charset="0"/>
                          <a:ea typeface="Calibri" panose="020F0502020204030204" pitchFamily="34" charset="0"/>
                          <a:cs typeface="Calibri" panose="020F0502020204030204" pitchFamily="34" charset="0"/>
                        </a:rPr>
                        <a:t>Условия</a:t>
                      </a:r>
                      <a:endParaRPr lang="en-150" sz="12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83694088"/>
                  </a:ext>
                </a:extLst>
              </a:tr>
              <a:tr h="378966">
                <a:tc>
                  <a:txBody>
                    <a:bodyPr/>
                    <a:lstStyle/>
                    <a:p>
                      <a:pPr>
                        <a:spcBef>
                          <a:spcPts val="180"/>
                        </a:spcBef>
                        <a:spcAft>
                          <a:spcPts val="180"/>
                        </a:spcAft>
                        <a:buNone/>
                      </a:pPr>
                      <a:r>
                        <a:rPr lang="bg-BG" sz="1200" b="1" dirty="0">
                          <a:effectLst/>
                          <a:latin typeface="Calibri" panose="020F0502020204030204" pitchFamily="34" charset="0"/>
                          <a:ea typeface="Calibri" panose="020F0502020204030204" pitchFamily="34" charset="0"/>
                          <a:cs typeface="Calibri" panose="020F0502020204030204" pitchFamily="34" charset="0"/>
                        </a:rPr>
                        <a:t>Чакаща (pending)</a:t>
                      </a:r>
                      <a:endParaRPr lang="en-150" sz="1200" b="1"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a:noFill/>
                    </a:lnL>
                    <a:lnR>
                      <a:noFill/>
                    </a:lnR>
                    <a:lnT w="12700" cmpd="sng">
                      <a:noFill/>
                    </a:lnT>
                    <a:lnB>
                      <a:noFill/>
                    </a:lnB>
                    <a:lnTlToBr w="12700" cmpd="sng">
                      <a:noFill/>
                      <a:prstDash val="solid"/>
                    </a:lnTlToBr>
                    <a:lnBlToTr w="12700" cmpd="sng">
                      <a:noFill/>
                      <a:prstDash val="solid"/>
                    </a:lnBlToTr>
                  </a:tcPr>
                </a:tc>
                <a:tc>
                  <a:txBody>
                    <a:bodyPr/>
                    <a:lstStyle/>
                    <a:p>
                      <a:pPr>
                        <a:spcBef>
                          <a:spcPts val="180"/>
                        </a:spcBef>
                        <a:spcAft>
                          <a:spcPts val="180"/>
                        </a:spcAft>
                        <a:buNone/>
                      </a:pPr>
                      <a:r>
                        <a:rPr lang="bg-BG" sz="1200" dirty="0">
                          <a:effectLst/>
                          <a:latin typeface="Calibri" panose="020F0502020204030204" pitchFamily="34" charset="0"/>
                          <a:ea typeface="Calibri" panose="020F0502020204030204" pitchFamily="34" charset="0"/>
                          <a:cs typeface="Calibri" panose="020F0502020204030204" pitchFamily="34" charset="0"/>
                        </a:rPr>
                        <a:t>Запазване; Приемане; Отхвърляне</a:t>
                      </a:r>
                      <a:endParaRPr lang="en-150" sz="12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a:noFill/>
                    </a:lnL>
                    <a:lnR>
                      <a:noFill/>
                    </a:lnR>
                    <a:lnT w="12700" cmpd="sng">
                      <a:noFill/>
                    </a:lnT>
                    <a:lnB>
                      <a:noFill/>
                    </a:lnB>
                    <a:lnTlToBr w="12700" cmpd="sng">
                      <a:noFill/>
                      <a:prstDash val="solid"/>
                    </a:lnTlToBr>
                    <a:lnBlToTr w="12700" cmpd="sng">
                      <a:noFill/>
                      <a:prstDash val="solid"/>
                    </a:lnBlToTr>
                  </a:tcPr>
                </a:tc>
                <a:tc>
                  <a:txBody>
                    <a:bodyPr/>
                    <a:lstStyle/>
                    <a:p>
                      <a:pPr>
                        <a:spcBef>
                          <a:spcPts val="180"/>
                        </a:spcBef>
                        <a:spcAft>
                          <a:spcPts val="180"/>
                        </a:spcAft>
                        <a:buNone/>
                      </a:pPr>
                      <a:r>
                        <a:rPr lang="bg-BG" sz="1200">
                          <a:effectLst/>
                          <a:latin typeface="Calibri" panose="020F0502020204030204" pitchFamily="34" charset="0"/>
                          <a:ea typeface="Calibri" panose="020F0502020204030204" pitchFamily="34" charset="0"/>
                          <a:cs typeface="Calibri" panose="020F0502020204030204" pitchFamily="34" charset="0"/>
                        </a:rPr>
                        <a:t>Обявата трябва да е активна. </a:t>
                      </a:r>
                      <a:endParaRPr lang="en-150" sz="12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a:noFill/>
                    </a:lnL>
                    <a:lnR>
                      <a:noFill/>
                    </a:lnR>
                    <a:lnT w="127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030862517"/>
                  </a:ext>
                </a:extLst>
              </a:tr>
              <a:tr h="502367">
                <a:tc>
                  <a:txBody>
                    <a:bodyPr/>
                    <a:lstStyle/>
                    <a:p>
                      <a:pPr>
                        <a:spcBef>
                          <a:spcPts val="180"/>
                        </a:spcBef>
                        <a:spcAft>
                          <a:spcPts val="180"/>
                        </a:spcAft>
                        <a:buNone/>
                      </a:pPr>
                      <a:r>
                        <a:rPr lang="bg-BG" sz="1200" b="1" dirty="0">
                          <a:effectLst/>
                          <a:latin typeface="Calibri" panose="020F0502020204030204" pitchFamily="34" charset="0"/>
                          <a:ea typeface="Calibri" panose="020F0502020204030204" pitchFamily="34" charset="0"/>
                          <a:cs typeface="Calibri" panose="020F0502020204030204" pitchFamily="34" charset="0"/>
                        </a:rPr>
                        <a:t>Отбелязана (shortlisted)</a:t>
                      </a:r>
                      <a:endParaRPr lang="en-150" sz="1200" b="1"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a:noFill/>
                    </a:lnL>
                    <a:lnR>
                      <a:noFill/>
                    </a:lnR>
                    <a:lnT>
                      <a:noFill/>
                    </a:lnT>
                    <a:lnB>
                      <a:noFill/>
                    </a:lnB>
                    <a:lnTlToBr w="12700" cmpd="sng">
                      <a:noFill/>
                      <a:prstDash val="solid"/>
                    </a:lnTlToBr>
                    <a:lnBlToTr w="12700" cmpd="sng">
                      <a:noFill/>
                      <a:prstDash val="solid"/>
                    </a:lnBlToTr>
                  </a:tcPr>
                </a:tc>
                <a:tc>
                  <a:txBody>
                    <a:bodyPr/>
                    <a:lstStyle/>
                    <a:p>
                      <a:pPr>
                        <a:spcBef>
                          <a:spcPts val="180"/>
                        </a:spcBef>
                        <a:spcAft>
                          <a:spcPts val="180"/>
                        </a:spcAft>
                        <a:buNone/>
                      </a:pPr>
                      <a:r>
                        <a:rPr lang="bg-BG" sz="1200" dirty="0">
                          <a:effectLst/>
                          <a:latin typeface="Calibri" panose="020F0502020204030204" pitchFamily="34" charset="0"/>
                          <a:ea typeface="Calibri" panose="020F0502020204030204" pitchFamily="34" charset="0"/>
                          <a:cs typeface="Calibri" panose="020F0502020204030204" pitchFamily="34" charset="0"/>
                        </a:rPr>
                        <a:t>Премахване; Приемане; Отхвърляне</a:t>
                      </a:r>
                      <a:endParaRPr lang="en-150" sz="12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a:noFill/>
                    </a:lnL>
                    <a:lnR>
                      <a:noFill/>
                    </a:lnR>
                    <a:lnT>
                      <a:noFill/>
                    </a:lnT>
                    <a:lnB>
                      <a:noFill/>
                    </a:lnB>
                    <a:lnTlToBr w="12700" cmpd="sng">
                      <a:noFill/>
                      <a:prstDash val="solid"/>
                    </a:lnTlToBr>
                    <a:lnBlToTr w="12700" cmpd="sng">
                      <a:noFill/>
                      <a:prstDash val="solid"/>
                    </a:lnBlToTr>
                  </a:tcPr>
                </a:tc>
                <a:tc>
                  <a:txBody>
                    <a:bodyPr/>
                    <a:lstStyle/>
                    <a:p>
                      <a:pPr>
                        <a:spcBef>
                          <a:spcPts val="180"/>
                        </a:spcBef>
                        <a:spcAft>
                          <a:spcPts val="180"/>
                        </a:spcAft>
                        <a:buNone/>
                      </a:pPr>
                      <a:r>
                        <a:rPr lang="bg-BG" sz="1200">
                          <a:effectLst/>
                          <a:latin typeface="Calibri" panose="020F0502020204030204" pitchFamily="34" charset="0"/>
                          <a:ea typeface="Calibri" panose="020F0502020204030204" pitchFamily="34" charset="0"/>
                          <a:cs typeface="Calibri" panose="020F0502020204030204" pitchFamily="34" charset="0"/>
                        </a:rPr>
                        <a:t>Обявата трябва да е активна. </a:t>
                      </a:r>
                      <a:endParaRPr lang="en-150" sz="12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43988783"/>
                  </a:ext>
                </a:extLst>
              </a:tr>
              <a:tr h="513775">
                <a:tc>
                  <a:txBody>
                    <a:bodyPr/>
                    <a:lstStyle/>
                    <a:p>
                      <a:pPr>
                        <a:spcBef>
                          <a:spcPts val="180"/>
                        </a:spcBef>
                        <a:spcAft>
                          <a:spcPts val="180"/>
                        </a:spcAft>
                        <a:buNone/>
                      </a:pPr>
                      <a:r>
                        <a:rPr lang="bg-BG" sz="1200" b="1">
                          <a:effectLst/>
                          <a:latin typeface="Calibri" panose="020F0502020204030204" pitchFamily="34" charset="0"/>
                          <a:ea typeface="Calibri" panose="020F0502020204030204" pitchFamily="34" charset="0"/>
                          <a:cs typeface="Calibri" panose="020F0502020204030204" pitchFamily="34" charset="0"/>
                        </a:rPr>
                        <a:t>Отменена (canceled)</a:t>
                      </a:r>
                      <a:endParaRPr lang="en-150" sz="1200" b="1">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a:noFill/>
                    </a:lnL>
                    <a:lnR>
                      <a:noFill/>
                    </a:lnR>
                    <a:lnT>
                      <a:noFill/>
                    </a:lnT>
                    <a:lnB>
                      <a:noFill/>
                    </a:lnB>
                    <a:lnTlToBr w="12700" cmpd="sng">
                      <a:noFill/>
                      <a:prstDash val="solid"/>
                    </a:lnTlToBr>
                    <a:lnBlToTr w="12700" cmpd="sng">
                      <a:noFill/>
                      <a:prstDash val="solid"/>
                    </a:lnBlToTr>
                  </a:tcPr>
                </a:tc>
                <a:tc>
                  <a:txBody>
                    <a:bodyPr/>
                    <a:lstStyle/>
                    <a:p>
                      <a:pPr>
                        <a:spcBef>
                          <a:spcPts val="180"/>
                        </a:spcBef>
                        <a:spcAft>
                          <a:spcPts val="180"/>
                        </a:spcAft>
                        <a:buNone/>
                      </a:pPr>
                      <a:r>
                        <a:rPr lang="bg-BG" sz="1200" dirty="0">
                          <a:effectLst/>
                          <a:latin typeface="Calibri" panose="020F0502020204030204" pitchFamily="34" charset="0"/>
                          <a:ea typeface="Calibri" panose="020F0502020204030204" pitchFamily="34" charset="0"/>
                          <a:cs typeface="Calibri" panose="020F0502020204030204" pitchFamily="34" charset="0"/>
                        </a:rPr>
                        <a:t>Изтриване</a:t>
                      </a:r>
                      <a:endParaRPr lang="en-150" sz="12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a:noFill/>
                    </a:lnL>
                    <a:lnR>
                      <a:noFill/>
                    </a:lnR>
                    <a:lnT>
                      <a:noFill/>
                    </a:lnT>
                    <a:lnB>
                      <a:noFill/>
                    </a:lnB>
                    <a:lnTlToBr w="12700" cmpd="sng">
                      <a:noFill/>
                      <a:prstDash val="solid"/>
                    </a:lnTlToBr>
                    <a:lnBlToTr w="12700" cmpd="sng">
                      <a:noFill/>
                      <a:prstDash val="solid"/>
                    </a:lnBlToTr>
                  </a:tcPr>
                </a:tc>
                <a:tc>
                  <a:txBody>
                    <a:bodyPr/>
                    <a:lstStyle/>
                    <a:p>
                      <a:pPr>
                        <a:spcBef>
                          <a:spcPts val="180"/>
                        </a:spcBef>
                        <a:spcAft>
                          <a:spcPts val="180"/>
                        </a:spcAft>
                        <a:buNone/>
                      </a:pPr>
                      <a:r>
                        <a:rPr lang="bg-BG" sz="1200" dirty="0">
                          <a:effectLst/>
                          <a:latin typeface="Calibri" panose="020F0502020204030204" pitchFamily="34" charset="0"/>
                          <a:ea typeface="Calibri" panose="020F0502020204030204" pitchFamily="34" charset="0"/>
                          <a:cs typeface="Calibri" panose="020F0502020204030204" pitchFamily="34" charset="0"/>
                        </a:rPr>
                        <a:t>Възможно само от собственика</a:t>
                      </a:r>
                      <a:endParaRPr lang="en-150" sz="12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387409612"/>
                  </a:ext>
                </a:extLst>
              </a:tr>
              <a:tr h="658946">
                <a:tc>
                  <a:txBody>
                    <a:bodyPr/>
                    <a:lstStyle/>
                    <a:p>
                      <a:pPr>
                        <a:spcBef>
                          <a:spcPts val="180"/>
                        </a:spcBef>
                        <a:spcAft>
                          <a:spcPts val="180"/>
                        </a:spcAft>
                        <a:buNone/>
                      </a:pPr>
                      <a:r>
                        <a:rPr lang="bg-BG" sz="1200" b="1">
                          <a:effectLst/>
                          <a:latin typeface="Calibri" panose="020F0502020204030204" pitchFamily="34" charset="0"/>
                          <a:ea typeface="Calibri" panose="020F0502020204030204" pitchFamily="34" charset="0"/>
                          <a:cs typeface="Calibri" panose="020F0502020204030204" pitchFamily="34" charset="0"/>
                        </a:rPr>
                        <a:t>Приета (accepted)</a:t>
                      </a:r>
                      <a:endParaRPr lang="en-150" sz="1200" b="1">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a:noFill/>
                    </a:lnL>
                    <a:lnR>
                      <a:noFill/>
                    </a:lnR>
                    <a:lnT>
                      <a:noFill/>
                    </a:lnT>
                    <a:lnB>
                      <a:noFill/>
                    </a:lnB>
                    <a:lnTlToBr w="12700" cmpd="sng">
                      <a:noFill/>
                      <a:prstDash val="solid"/>
                    </a:lnTlToBr>
                    <a:lnBlToTr w="12700" cmpd="sng">
                      <a:noFill/>
                      <a:prstDash val="solid"/>
                    </a:lnBlToTr>
                  </a:tcPr>
                </a:tc>
                <a:tc>
                  <a:txBody>
                    <a:bodyPr/>
                    <a:lstStyle/>
                    <a:p>
                      <a:pPr>
                        <a:spcBef>
                          <a:spcPts val="180"/>
                        </a:spcBef>
                        <a:spcAft>
                          <a:spcPts val="180"/>
                        </a:spcAft>
                        <a:buNone/>
                      </a:pPr>
                      <a:r>
                        <a:rPr lang="bg-BG" sz="1200" dirty="0">
                          <a:effectLst/>
                          <a:latin typeface="Calibri" panose="020F0502020204030204" pitchFamily="34" charset="0"/>
                          <a:ea typeface="Calibri" panose="020F0502020204030204" pitchFamily="34" charset="0"/>
                          <a:cs typeface="Calibri" panose="020F0502020204030204" pitchFamily="34" charset="0"/>
                        </a:rPr>
                        <a:t>Маркиране завършена; Маркиране незадоволителна</a:t>
                      </a:r>
                      <a:endParaRPr lang="en-150" sz="12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a:noFill/>
                    </a:lnL>
                    <a:lnR>
                      <a:noFill/>
                    </a:lnR>
                    <a:lnT>
                      <a:noFill/>
                    </a:lnT>
                    <a:lnB>
                      <a:noFill/>
                    </a:lnB>
                    <a:lnTlToBr w="12700" cmpd="sng">
                      <a:noFill/>
                      <a:prstDash val="solid"/>
                    </a:lnTlToBr>
                    <a:lnBlToTr w="12700" cmpd="sng">
                      <a:noFill/>
                      <a:prstDash val="solid"/>
                    </a:lnBlToTr>
                  </a:tcPr>
                </a:tc>
                <a:tc>
                  <a:txBody>
                    <a:bodyPr/>
                    <a:lstStyle/>
                    <a:p>
                      <a:pPr>
                        <a:spcBef>
                          <a:spcPts val="180"/>
                        </a:spcBef>
                        <a:spcAft>
                          <a:spcPts val="180"/>
                        </a:spcAft>
                        <a:buNone/>
                      </a:pPr>
                      <a:r>
                        <a:rPr lang="bg-BG" sz="1200" dirty="0">
                          <a:effectLst/>
                          <a:latin typeface="Calibri" panose="020F0502020204030204" pitchFamily="34" charset="0"/>
                          <a:ea typeface="Calibri" panose="020F0502020204030204" pitchFamily="34" charset="0"/>
                          <a:cs typeface="Calibri" panose="020F0502020204030204" pitchFamily="34" charset="0"/>
                        </a:rPr>
                        <a:t>Достъпни само след изтичане на срока.</a:t>
                      </a:r>
                      <a:endParaRPr lang="en-150" sz="12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900668057"/>
                  </a:ext>
                </a:extLst>
              </a:tr>
              <a:tr h="439297">
                <a:tc>
                  <a:txBody>
                    <a:bodyPr/>
                    <a:lstStyle/>
                    <a:p>
                      <a:pPr>
                        <a:spcBef>
                          <a:spcPts val="180"/>
                        </a:spcBef>
                        <a:spcAft>
                          <a:spcPts val="180"/>
                        </a:spcAft>
                        <a:buNone/>
                      </a:pPr>
                      <a:r>
                        <a:rPr lang="bg-BG" sz="1200" b="1">
                          <a:effectLst/>
                          <a:latin typeface="Calibri" panose="020F0502020204030204" pitchFamily="34" charset="0"/>
                          <a:ea typeface="Calibri" panose="020F0502020204030204" pitchFamily="34" charset="0"/>
                          <a:cs typeface="Calibri" panose="020F0502020204030204" pitchFamily="34" charset="0"/>
                        </a:rPr>
                        <a:t>Отхвърлена (rejected)</a:t>
                      </a:r>
                      <a:endParaRPr lang="en-150" sz="1200" b="1">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a:noFill/>
                    </a:lnL>
                    <a:lnR>
                      <a:noFill/>
                    </a:lnR>
                    <a:lnT>
                      <a:noFill/>
                    </a:lnT>
                    <a:lnB>
                      <a:noFill/>
                    </a:lnB>
                    <a:lnTlToBr w="12700" cmpd="sng">
                      <a:noFill/>
                      <a:prstDash val="solid"/>
                    </a:lnTlToBr>
                    <a:lnBlToTr w="12700" cmpd="sng">
                      <a:noFill/>
                      <a:prstDash val="solid"/>
                    </a:lnBlToTr>
                  </a:tcPr>
                </a:tc>
                <a:tc>
                  <a:txBody>
                    <a:bodyPr/>
                    <a:lstStyle/>
                    <a:p>
                      <a:pPr>
                        <a:spcBef>
                          <a:spcPts val="180"/>
                        </a:spcBef>
                        <a:spcAft>
                          <a:spcPts val="180"/>
                        </a:spcAft>
                        <a:buNone/>
                      </a:pPr>
                      <a:r>
                        <a:rPr lang="bg-BG" sz="1200" dirty="0">
                          <a:effectLst/>
                          <a:latin typeface="Calibri" panose="020F0502020204030204" pitchFamily="34" charset="0"/>
                          <a:ea typeface="Calibri" panose="020F0502020204030204" pitchFamily="34" charset="0"/>
                          <a:cs typeface="Calibri" panose="020F0502020204030204" pitchFamily="34" charset="0"/>
                        </a:rPr>
                        <a:t>Изтриване</a:t>
                      </a:r>
                      <a:endParaRPr lang="en-150" sz="12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a:noFill/>
                    </a:lnL>
                    <a:lnR>
                      <a:noFill/>
                    </a:lnR>
                    <a:lnT>
                      <a:noFill/>
                    </a:lnT>
                    <a:lnB>
                      <a:noFill/>
                    </a:lnB>
                    <a:lnTlToBr w="12700" cmpd="sng">
                      <a:noFill/>
                      <a:prstDash val="solid"/>
                    </a:lnTlToBr>
                    <a:lnBlToTr w="12700" cmpd="sng">
                      <a:noFill/>
                      <a:prstDash val="solid"/>
                    </a:lnBlToTr>
                  </a:tcPr>
                </a:tc>
                <a:tc>
                  <a:txBody>
                    <a:bodyPr/>
                    <a:lstStyle/>
                    <a:p>
                      <a:pPr>
                        <a:spcBef>
                          <a:spcPts val="180"/>
                        </a:spcBef>
                        <a:spcAft>
                          <a:spcPts val="180"/>
                        </a:spcAft>
                        <a:buNone/>
                      </a:pPr>
                      <a:r>
                        <a:rPr lang="bg-BG" sz="1200" dirty="0">
                          <a:effectLst/>
                          <a:latin typeface="Calibri" panose="020F0502020204030204" pitchFamily="34" charset="0"/>
                          <a:ea typeface="Calibri" panose="020F0502020204030204" pitchFamily="34" charset="0"/>
                          <a:cs typeface="Calibri" panose="020F0502020204030204" pitchFamily="34" charset="0"/>
                        </a:rPr>
                        <a:t>Възможно само от собственика</a:t>
                      </a:r>
                      <a:endParaRPr lang="en-150" sz="12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095056358"/>
                  </a:ext>
                </a:extLst>
              </a:tr>
              <a:tr h="658946">
                <a:tc>
                  <a:txBody>
                    <a:bodyPr/>
                    <a:lstStyle/>
                    <a:p>
                      <a:pPr>
                        <a:spcBef>
                          <a:spcPts val="180"/>
                        </a:spcBef>
                        <a:spcAft>
                          <a:spcPts val="180"/>
                        </a:spcAft>
                        <a:buNone/>
                      </a:pPr>
                      <a:r>
                        <a:rPr lang="bg-BG" sz="1200" b="1" dirty="0">
                          <a:effectLst/>
                          <a:latin typeface="Calibri" panose="020F0502020204030204" pitchFamily="34" charset="0"/>
                          <a:ea typeface="Calibri" panose="020F0502020204030204" pitchFamily="34" charset="0"/>
                          <a:cs typeface="Calibri" panose="020F0502020204030204" pitchFamily="34" charset="0"/>
                        </a:rPr>
                        <a:t>Доставена (delivered)</a:t>
                      </a:r>
                      <a:endParaRPr lang="en-150" sz="1200" b="1"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a:noFill/>
                    </a:lnL>
                    <a:lnR>
                      <a:noFill/>
                    </a:lnR>
                    <a:lnT>
                      <a:noFill/>
                    </a:lnT>
                    <a:lnB>
                      <a:noFill/>
                    </a:lnB>
                    <a:lnTlToBr w="12700" cmpd="sng">
                      <a:noFill/>
                      <a:prstDash val="solid"/>
                    </a:lnTlToBr>
                    <a:lnBlToTr w="12700" cmpd="sng">
                      <a:noFill/>
                      <a:prstDash val="solid"/>
                    </a:lnBlToTr>
                  </a:tcPr>
                </a:tc>
                <a:tc>
                  <a:txBody>
                    <a:bodyPr/>
                    <a:lstStyle/>
                    <a:p>
                      <a:pPr>
                        <a:spcBef>
                          <a:spcPts val="180"/>
                        </a:spcBef>
                        <a:spcAft>
                          <a:spcPts val="180"/>
                        </a:spcAft>
                        <a:buNone/>
                      </a:pPr>
                      <a:r>
                        <a:rPr lang="bg-BG" sz="1200" dirty="0">
                          <a:effectLst/>
                          <a:latin typeface="Calibri" panose="020F0502020204030204" pitchFamily="34" charset="0"/>
                          <a:ea typeface="Calibri" panose="020F0502020204030204" pitchFamily="34" charset="0"/>
                          <a:cs typeface="Calibri" panose="020F0502020204030204" pitchFamily="34" charset="0"/>
                        </a:rPr>
                        <a:t>Маркиране завършена; Маркиране незадоволителна</a:t>
                      </a:r>
                      <a:endParaRPr lang="en-150" sz="12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a:noFill/>
                    </a:lnL>
                    <a:lnR>
                      <a:noFill/>
                    </a:lnR>
                    <a:lnT>
                      <a:noFill/>
                    </a:lnT>
                    <a:lnB>
                      <a:noFill/>
                    </a:lnB>
                    <a:lnTlToBr w="12700" cmpd="sng">
                      <a:noFill/>
                      <a:prstDash val="solid"/>
                    </a:lnTlToBr>
                    <a:lnBlToTr w="12700" cmpd="sng">
                      <a:noFill/>
                      <a:prstDash val="solid"/>
                    </a:lnBlToTr>
                  </a:tcPr>
                </a:tc>
                <a:tc>
                  <a:txBody>
                    <a:bodyPr/>
                    <a:lstStyle/>
                    <a:p>
                      <a:pPr>
                        <a:spcBef>
                          <a:spcPts val="180"/>
                        </a:spcBef>
                        <a:spcAft>
                          <a:spcPts val="180"/>
                        </a:spcAft>
                        <a:buNone/>
                      </a:pPr>
                      <a:r>
                        <a:rPr lang="bg-BG" sz="1200" dirty="0">
                          <a:effectLst/>
                          <a:latin typeface="Calibri" panose="020F0502020204030204" pitchFamily="34" charset="0"/>
                          <a:ea typeface="Calibri" panose="020F0502020204030204" pitchFamily="34" charset="0"/>
                          <a:cs typeface="Calibri" panose="020F0502020204030204" pitchFamily="34" charset="0"/>
                        </a:rPr>
                        <a:t>Възможно само от собственика</a:t>
                      </a:r>
                      <a:endParaRPr lang="en-150" sz="12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123035852"/>
                  </a:ext>
                </a:extLst>
              </a:tr>
              <a:tr h="439297">
                <a:tc>
                  <a:txBody>
                    <a:bodyPr/>
                    <a:lstStyle/>
                    <a:p>
                      <a:pPr>
                        <a:spcBef>
                          <a:spcPts val="180"/>
                        </a:spcBef>
                        <a:spcAft>
                          <a:spcPts val="180"/>
                        </a:spcAft>
                        <a:buNone/>
                      </a:pPr>
                      <a:r>
                        <a:rPr lang="bg-BG" sz="1200" b="1" dirty="0">
                          <a:effectLst/>
                          <a:latin typeface="Calibri" panose="020F0502020204030204" pitchFamily="34" charset="0"/>
                          <a:ea typeface="Calibri" panose="020F0502020204030204" pitchFamily="34" charset="0"/>
                          <a:cs typeface="Calibri" panose="020F0502020204030204" pitchFamily="34" charset="0"/>
                        </a:rPr>
                        <a:t>Завършена (completed)</a:t>
                      </a:r>
                      <a:endParaRPr lang="en-150" sz="1200" b="1"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a:noFill/>
                    </a:lnL>
                    <a:lnR>
                      <a:noFill/>
                    </a:lnR>
                    <a:lnT>
                      <a:noFill/>
                    </a:lnT>
                    <a:lnB>
                      <a:noFill/>
                    </a:lnB>
                    <a:lnTlToBr w="12700" cmpd="sng">
                      <a:noFill/>
                      <a:prstDash val="solid"/>
                    </a:lnTlToBr>
                    <a:lnBlToTr w="12700" cmpd="sng">
                      <a:noFill/>
                      <a:prstDash val="solid"/>
                    </a:lnBlToTr>
                  </a:tcPr>
                </a:tc>
                <a:tc>
                  <a:txBody>
                    <a:bodyPr/>
                    <a:lstStyle/>
                    <a:p>
                      <a:pPr>
                        <a:spcBef>
                          <a:spcPts val="180"/>
                        </a:spcBef>
                        <a:spcAft>
                          <a:spcPts val="180"/>
                        </a:spcAft>
                        <a:buNone/>
                      </a:pPr>
                      <a:r>
                        <a:rPr lang="bg-BG" sz="1200" dirty="0">
                          <a:effectLst/>
                          <a:latin typeface="Calibri" panose="020F0502020204030204" pitchFamily="34" charset="0"/>
                          <a:ea typeface="Calibri" panose="020F0502020204030204" pitchFamily="34" charset="0"/>
                          <a:cs typeface="Calibri" panose="020F0502020204030204" pitchFamily="34" charset="0"/>
                        </a:rPr>
                        <a:t>Съобщение; Изтриване</a:t>
                      </a:r>
                      <a:endParaRPr lang="en-150" sz="12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a:noFill/>
                    </a:lnL>
                    <a:lnR>
                      <a:noFill/>
                    </a:lnR>
                    <a:lnT>
                      <a:noFill/>
                    </a:lnT>
                    <a:lnB>
                      <a:noFill/>
                    </a:lnB>
                    <a:lnTlToBr w="12700" cmpd="sng">
                      <a:noFill/>
                      <a:prstDash val="solid"/>
                    </a:lnTlToBr>
                    <a:lnBlToTr w="12700" cmpd="sng">
                      <a:noFill/>
                      <a:prstDash val="solid"/>
                    </a:lnBlToTr>
                  </a:tcPr>
                </a:tc>
                <a:tc>
                  <a:txBody>
                    <a:bodyPr/>
                    <a:lstStyle/>
                    <a:p>
                      <a:pPr>
                        <a:spcBef>
                          <a:spcPts val="180"/>
                        </a:spcBef>
                        <a:spcAft>
                          <a:spcPts val="180"/>
                        </a:spcAft>
                        <a:buNone/>
                      </a:pPr>
                      <a:r>
                        <a:rPr lang="bg-BG" sz="1200" dirty="0">
                          <a:effectLst/>
                          <a:latin typeface="Calibri" panose="020F0502020204030204" pitchFamily="34" charset="0"/>
                          <a:ea typeface="Calibri" panose="020F0502020204030204" pitchFamily="34" charset="0"/>
                          <a:cs typeface="Calibri" panose="020F0502020204030204" pitchFamily="34" charset="0"/>
                        </a:rPr>
                        <a:t>Възможно само от собственика</a:t>
                      </a:r>
                      <a:endParaRPr lang="en-150" sz="12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000159887"/>
                  </a:ext>
                </a:extLst>
              </a:tr>
              <a:tr h="757931">
                <a:tc>
                  <a:txBody>
                    <a:bodyPr/>
                    <a:lstStyle/>
                    <a:p>
                      <a:pPr>
                        <a:spcBef>
                          <a:spcPts val="180"/>
                        </a:spcBef>
                        <a:spcAft>
                          <a:spcPts val="180"/>
                        </a:spcAft>
                        <a:buNone/>
                      </a:pPr>
                      <a:r>
                        <a:rPr lang="bg-BG" sz="1200" b="1" dirty="0">
                          <a:effectLst/>
                          <a:latin typeface="Calibri" panose="020F0502020204030204" pitchFamily="34" charset="0"/>
                          <a:ea typeface="Calibri" panose="020F0502020204030204" pitchFamily="34" charset="0"/>
                          <a:cs typeface="Calibri" panose="020F0502020204030204" pitchFamily="34" charset="0"/>
                        </a:rPr>
                        <a:t>Незадоволит.</a:t>
                      </a:r>
                    </a:p>
                    <a:p>
                      <a:pPr>
                        <a:spcBef>
                          <a:spcPts val="180"/>
                        </a:spcBef>
                        <a:spcAft>
                          <a:spcPts val="180"/>
                        </a:spcAft>
                        <a:buNone/>
                      </a:pPr>
                      <a:r>
                        <a:rPr lang="bg-BG" sz="1200" b="1" dirty="0">
                          <a:effectLst/>
                          <a:latin typeface="Calibri" panose="020F0502020204030204" pitchFamily="34" charset="0"/>
                          <a:ea typeface="Calibri" panose="020F0502020204030204" pitchFamily="34" charset="0"/>
                          <a:cs typeface="Calibri" panose="020F0502020204030204" pitchFamily="34" charset="0"/>
                        </a:rPr>
                        <a:t>(unsatisfactory)</a:t>
                      </a:r>
                      <a:endParaRPr lang="en-150" sz="1200" b="1"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a:noFill/>
                    </a:lnL>
                    <a:lnR>
                      <a:noFill/>
                    </a:lnR>
                    <a:lnT>
                      <a:noFill/>
                    </a:lnT>
                    <a:lnB w="12700" cmpd="sng">
                      <a:noFill/>
                    </a:lnB>
                    <a:lnTlToBr w="12700" cmpd="sng">
                      <a:noFill/>
                      <a:prstDash val="solid"/>
                    </a:lnTlToBr>
                    <a:lnBlToTr w="12700" cmpd="sng">
                      <a:noFill/>
                      <a:prstDash val="solid"/>
                    </a:lnBlToTr>
                  </a:tcPr>
                </a:tc>
                <a:tc>
                  <a:txBody>
                    <a:bodyPr/>
                    <a:lstStyle/>
                    <a:p>
                      <a:pPr>
                        <a:spcBef>
                          <a:spcPts val="180"/>
                        </a:spcBef>
                        <a:spcAft>
                          <a:spcPts val="180"/>
                        </a:spcAft>
                        <a:buNone/>
                      </a:pPr>
                      <a:r>
                        <a:rPr lang="bg-BG" sz="1200" dirty="0">
                          <a:effectLst/>
                          <a:latin typeface="Calibri" panose="020F0502020204030204" pitchFamily="34" charset="0"/>
                          <a:ea typeface="Calibri" panose="020F0502020204030204" pitchFamily="34" charset="0"/>
                          <a:cs typeface="Calibri" panose="020F0502020204030204" pitchFamily="34" charset="0"/>
                        </a:rPr>
                        <a:t>Съобщение; Изтриване</a:t>
                      </a:r>
                      <a:endParaRPr lang="en-150" sz="12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a:noFill/>
                    </a:lnL>
                    <a:lnR>
                      <a:noFill/>
                    </a:lnR>
                    <a:lnT>
                      <a:noFill/>
                    </a:lnT>
                    <a:lnB w="12700" cmpd="sng">
                      <a:noFill/>
                    </a:lnB>
                    <a:lnTlToBr w="12700" cmpd="sng">
                      <a:noFill/>
                      <a:prstDash val="solid"/>
                    </a:lnTlToBr>
                    <a:lnBlToTr w="12700" cmpd="sng">
                      <a:noFill/>
                      <a:prstDash val="solid"/>
                    </a:lnBlToTr>
                  </a:tcPr>
                </a:tc>
                <a:tc>
                  <a:txBody>
                    <a:bodyPr/>
                    <a:lstStyle/>
                    <a:p>
                      <a:pPr>
                        <a:spcBef>
                          <a:spcPts val="180"/>
                        </a:spcBef>
                        <a:spcAft>
                          <a:spcPts val="180"/>
                        </a:spcAft>
                        <a:buNone/>
                      </a:pPr>
                      <a:r>
                        <a:rPr lang="bg-BG" sz="1200" dirty="0">
                          <a:effectLst/>
                          <a:latin typeface="Calibri" panose="020F0502020204030204" pitchFamily="34" charset="0"/>
                          <a:ea typeface="Calibri" panose="020F0502020204030204" pitchFamily="34" charset="0"/>
                          <a:cs typeface="Calibri" panose="020F0502020204030204" pitchFamily="34" charset="0"/>
                        </a:rPr>
                        <a:t>Възможно само от собственика</a:t>
                      </a:r>
                      <a:endParaRPr lang="en-150" sz="12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06792924"/>
                  </a:ext>
                </a:extLst>
              </a:tr>
            </a:tbl>
          </a:graphicData>
        </a:graphic>
      </p:graphicFrame>
      <p:pic>
        <p:nvPicPr>
          <p:cNvPr id="10" name="Picture 9" descr="A screenshot of a phone&#10;&#10;AI-generated content may be incorrect.">
            <a:extLst>
              <a:ext uri="{FF2B5EF4-FFF2-40B4-BE49-F238E27FC236}">
                <a16:creationId xmlns:a16="http://schemas.microsoft.com/office/drawing/2014/main" id="{ACFC47ED-80BF-7F65-FB53-BD2DB2BE9744}"/>
              </a:ext>
            </a:extLst>
          </p:cNvPr>
          <p:cNvPicPr>
            <a:picLocks noChangeAspect="1"/>
          </p:cNvPicPr>
          <p:nvPr/>
        </p:nvPicPr>
        <p:blipFill>
          <a:blip r:embed="rId3"/>
          <a:srcRect l="11390" t="20889" r="13662" b="7111"/>
          <a:stretch/>
        </p:blipFill>
        <p:spPr>
          <a:xfrm>
            <a:off x="477685" y="2061096"/>
            <a:ext cx="1966197" cy="2068324"/>
          </a:xfrm>
          <a:prstGeom prst="rect">
            <a:avLst/>
          </a:prstGeom>
        </p:spPr>
      </p:pic>
      <p:pic>
        <p:nvPicPr>
          <p:cNvPr id="12" name="Picture 11" descr="A screenshot of a phone&#10;&#10;AI-generated content may be incorrect.">
            <a:extLst>
              <a:ext uri="{FF2B5EF4-FFF2-40B4-BE49-F238E27FC236}">
                <a16:creationId xmlns:a16="http://schemas.microsoft.com/office/drawing/2014/main" id="{7E94888D-97A7-8D1D-070C-4F6498781E34}"/>
              </a:ext>
            </a:extLst>
          </p:cNvPr>
          <p:cNvPicPr>
            <a:picLocks noChangeAspect="1"/>
          </p:cNvPicPr>
          <p:nvPr/>
        </p:nvPicPr>
        <p:blipFill>
          <a:blip r:embed="rId4"/>
          <a:stretch>
            <a:fillRect/>
          </a:stretch>
        </p:blipFill>
        <p:spPr>
          <a:xfrm>
            <a:off x="2689340" y="725196"/>
            <a:ext cx="1966197" cy="1692683"/>
          </a:xfrm>
          <a:prstGeom prst="rect">
            <a:avLst/>
          </a:prstGeom>
        </p:spPr>
      </p:pic>
      <p:pic>
        <p:nvPicPr>
          <p:cNvPr id="14" name="Picture 13" descr="A screenshot of a screenshot of a computer screen&#10;&#10;AI-generated content may be incorrect.">
            <a:extLst>
              <a:ext uri="{FF2B5EF4-FFF2-40B4-BE49-F238E27FC236}">
                <a16:creationId xmlns:a16="http://schemas.microsoft.com/office/drawing/2014/main" id="{40FA5683-0E67-A964-FB26-9DE8A8884A27}"/>
              </a:ext>
            </a:extLst>
          </p:cNvPr>
          <p:cNvPicPr>
            <a:picLocks noChangeAspect="1"/>
          </p:cNvPicPr>
          <p:nvPr/>
        </p:nvPicPr>
        <p:blipFill>
          <a:blip r:embed="rId5"/>
          <a:stretch>
            <a:fillRect/>
          </a:stretch>
        </p:blipFill>
        <p:spPr>
          <a:xfrm>
            <a:off x="2446043" y="2537315"/>
            <a:ext cx="2380944" cy="2121205"/>
          </a:xfrm>
          <a:prstGeom prst="rect">
            <a:avLst/>
          </a:prstGeom>
        </p:spPr>
      </p:pic>
      <p:pic>
        <p:nvPicPr>
          <p:cNvPr id="16" name="Picture 15" descr="A screenshot of a phone&#10;&#10;AI-generated content may be incorrect.">
            <a:extLst>
              <a:ext uri="{FF2B5EF4-FFF2-40B4-BE49-F238E27FC236}">
                <a16:creationId xmlns:a16="http://schemas.microsoft.com/office/drawing/2014/main" id="{EB880E1A-0E91-F5EF-209E-9E1082408B61}"/>
              </a:ext>
            </a:extLst>
          </p:cNvPr>
          <p:cNvPicPr>
            <a:picLocks noChangeAspect="1"/>
          </p:cNvPicPr>
          <p:nvPr/>
        </p:nvPicPr>
        <p:blipFill>
          <a:blip r:embed="rId6"/>
          <a:stretch>
            <a:fillRect/>
          </a:stretch>
        </p:blipFill>
        <p:spPr>
          <a:xfrm>
            <a:off x="620839" y="740006"/>
            <a:ext cx="1966197" cy="1199527"/>
          </a:xfrm>
          <a:prstGeom prst="rect">
            <a:avLst/>
          </a:prstGeom>
        </p:spPr>
      </p:pic>
    </p:spTree>
    <p:extLst>
      <p:ext uri="{BB962C8B-B14F-4D97-AF65-F5344CB8AC3E}">
        <p14:creationId xmlns:p14="http://schemas.microsoft.com/office/powerpoint/2010/main" val="26684449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a:extLst>
            <a:ext uri="{FF2B5EF4-FFF2-40B4-BE49-F238E27FC236}">
              <a16:creationId xmlns:a16="http://schemas.microsoft.com/office/drawing/2014/main" id="{EC9EAB7D-3D07-E222-F6F5-B21F25FE2B35}"/>
            </a:ext>
          </a:extLst>
        </p:cNvPr>
        <p:cNvGrpSpPr/>
        <p:nvPr/>
      </p:nvGrpSpPr>
      <p:grpSpPr>
        <a:xfrm>
          <a:off x="0" y="0"/>
          <a:ext cx="0" cy="0"/>
          <a:chOff x="0" y="0"/>
          <a:chExt cx="0" cy="0"/>
        </a:xfrm>
      </p:grpSpPr>
      <p:sp>
        <p:nvSpPr>
          <p:cNvPr id="2" name="Google Shape;679;p36">
            <a:extLst>
              <a:ext uri="{FF2B5EF4-FFF2-40B4-BE49-F238E27FC236}">
                <a16:creationId xmlns:a16="http://schemas.microsoft.com/office/drawing/2014/main" id="{EC3CD3DD-EF92-FC5B-D227-511F292FE02B}"/>
              </a:ext>
            </a:extLst>
          </p:cNvPr>
          <p:cNvSpPr/>
          <p:nvPr/>
        </p:nvSpPr>
        <p:spPr>
          <a:xfrm>
            <a:off x="7355840" y="0"/>
            <a:ext cx="1788160" cy="288036"/>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6" name="Google Shape;676;p36">
            <a:extLst>
              <a:ext uri="{FF2B5EF4-FFF2-40B4-BE49-F238E27FC236}">
                <a16:creationId xmlns:a16="http://schemas.microsoft.com/office/drawing/2014/main" id="{4921D4FC-3EEE-65B9-364F-224D97AF2B8D}"/>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7" name="Google Shape;677;p36">
            <a:extLst>
              <a:ext uri="{FF2B5EF4-FFF2-40B4-BE49-F238E27FC236}">
                <a16:creationId xmlns:a16="http://schemas.microsoft.com/office/drawing/2014/main" id="{9FBA2F20-0D5C-E75F-EDD1-0BA1B767C624}"/>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8" name="Google Shape;678;p36">
            <a:extLst>
              <a:ext uri="{FF2B5EF4-FFF2-40B4-BE49-F238E27FC236}">
                <a16:creationId xmlns:a16="http://schemas.microsoft.com/office/drawing/2014/main" id="{C8ED5247-EFE3-F09C-0984-909BEC2B83C3}"/>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ДЕМОНСТРАЦИЯ</a:t>
            </a:r>
            <a:endParaRPr sz="1100" b="0" i="0" u="none" strike="noStrike" cap="none" dirty="0">
              <a:solidFill>
                <a:schemeClr val="dk1"/>
              </a:solidFill>
              <a:latin typeface="Calibri"/>
              <a:ea typeface="Calibri"/>
              <a:cs typeface="Calibri"/>
              <a:sym typeface="Calibri"/>
            </a:endParaRPr>
          </a:p>
        </p:txBody>
      </p:sp>
      <p:sp>
        <p:nvSpPr>
          <p:cNvPr id="679" name="Google Shape;679;p36">
            <a:extLst>
              <a:ext uri="{FF2B5EF4-FFF2-40B4-BE49-F238E27FC236}">
                <a16:creationId xmlns:a16="http://schemas.microsoft.com/office/drawing/2014/main" id="{7F1A07C3-CED5-8BD0-053F-D910DD3D61BC}"/>
              </a:ext>
            </a:extLst>
          </p:cNvPr>
          <p:cNvSpPr/>
          <p:nvPr/>
        </p:nvSpPr>
        <p:spPr>
          <a:xfrm>
            <a:off x="7355840" y="107283"/>
            <a:ext cx="1788160" cy="361506"/>
          </a:xfrm>
          <a:prstGeom prst="roundRect">
            <a:avLst>
              <a:gd name="adj" fmla="val 50000"/>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80" name="Google Shape;680;p36">
            <a:extLst>
              <a:ext uri="{FF2B5EF4-FFF2-40B4-BE49-F238E27FC236}">
                <a16:creationId xmlns:a16="http://schemas.microsoft.com/office/drawing/2014/main" id="{48B61C5C-05C1-FE98-ADBF-D00C4C84DAE2}"/>
              </a:ext>
            </a:extLst>
          </p:cNvPr>
          <p:cNvSpPr/>
          <p:nvPr/>
        </p:nvSpPr>
        <p:spPr>
          <a:xfrm>
            <a:off x="7608309" y="90377"/>
            <a:ext cx="1283221" cy="2880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E293B"/>
              </a:buClr>
              <a:buSzPts val="800"/>
              <a:buFont typeface="Calibri"/>
              <a:buNone/>
            </a:pPr>
            <a:r>
              <a:rPr lang="bg" sz="1600" b="1" i="0" u="none" strike="noStrike" cap="none" dirty="0">
                <a:solidFill>
                  <a:schemeClr val="bg1"/>
                </a:solidFill>
                <a:latin typeface="Calibri"/>
                <a:ea typeface="Calibri"/>
                <a:cs typeface="Calibri"/>
                <a:sym typeface="Calibri"/>
              </a:rPr>
              <a:t>СПЕЦИАЛИСТ</a:t>
            </a:r>
            <a:endParaRPr sz="1600" b="0" i="0" u="none" strike="noStrike" cap="none" dirty="0">
              <a:solidFill>
                <a:schemeClr val="bg1"/>
              </a:solidFill>
              <a:latin typeface="Calibri"/>
              <a:ea typeface="Calibri"/>
              <a:cs typeface="Calibri"/>
              <a:sym typeface="Calibri"/>
            </a:endParaRPr>
          </a:p>
        </p:txBody>
      </p:sp>
      <p:sp>
        <p:nvSpPr>
          <p:cNvPr id="3" name="Google Shape;683;p36">
            <a:extLst>
              <a:ext uri="{FF2B5EF4-FFF2-40B4-BE49-F238E27FC236}">
                <a16:creationId xmlns:a16="http://schemas.microsoft.com/office/drawing/2014/main" id="{D4EEE4C5-9179-B082-4751-548A9550F035}"/>
              </a:ext>
            </a:extLst>
          </p:cNvPr>
          <p:cNvSpPr/>
          <p:nvPr/>
        </p:nvSpPr>
        <p:spPr>
          <a:xfrm>
            <a:off x="342900" y="90377"/>
            <a:ext cx="313182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000" b="1" dirty="0">
                <a:solidFill>
                  <a:srgbClr val="1E293B"/>
                </a:solidFill>
                <a:latin typeface="Cambria"/>
                <a:ea typeface="Cambria"/>
                <a:cs typeface="Calibri"/>
                <a:sym typeface="Cambria"/>
              </a:rPr>
              <a:t>Управление на оферта</a:t>
            </a:r>
            <a:endParaRPr sz="2000" b="0" i="0" u="none" strike="noStrike" cap="none" dirty="0">
              <a:solidFill>
                <a:schemeClr val="dk1"/>
              </a:solidFill>
              <a:latin typeface="Calibri"/>
              <a:ea typeface="Calibri"/>
              <a:cs typeface="Calibri"/>
              <a:sym typeface="Calibri"/>
            </a:endParaRPr>
          </a:p>
        </p:txBody>
      </p:sp>
      <p:graphicFrame>
        <p:nvGraphicFramePr>
          <p:cNvPr id="6" name="Table 5">
            <a:extLst>
              <a:ext uri="{FF2B5EF4-FFF2-40B4-BE49-F238E27FC236}">
                <a16:creationId xmlns:a16="http://schemas.microsoft.com/office/drawing/2014/main" id="{0122EA9A-38B0-F5DD-BBC3-6C334A62A5B6}"/>
              </a:ext>
            </a:extLst>
          </p:cNvPr>
          <p:cNvGraphicFramePr>
            <a:graphicFrameLocks noGrp="1"/>
          </p:cNvGraphicFramePr>
          <p:nvPr>
            <p:extLst>
              <p:ext uri="{D42A27DB-BD31-4B8C-83A1-F6EECF244321}">
                <p14:modId xmlns:p14="http://schemas.microsoft.com/office/powerpoint/2010/main" val="548581990"/>
              </p:ext>
            </p:extLst>
          </p:nvPr>
        </p:nvGraphicFramePr>
        <p:xfrm>
          <a:off x="4533900" y="558244"/>
          <a:ext cx="4610100" cy="4037359"/>
        </p:xfrm>
        <a:graphic>
          <a:graphicData uri="http://schemas.openxmlformats.org/drawingml/2006/table">
            <a:tbl>
              <a:tblPr firstRow="1" bandRow="1">
                <a:tableStyleId>{0E3FDE45-AF77-4B5C-9715-49D594BDF05E}</a:tableStyleId>
              </a:tblPr>
              <a:tblGrid>
                <a:gridCol w="1330668">
                  <a:extLst>
                    <a:ext uri="{9D8B030D-6E8A-4147-A177-3AD203B41FA5}">
                      <a16:colId xmlns:a16="http://schemas.microsoft.com/office/drawing/2014/main" val="3159983359"/>
                    </a:ext>
                  </a:extLst>
                </a:gridCol>
                <a:gridCol w="1757128">
                  <a:extLst>
                    <a:ext uri="{9D8B030D-6E8A-4147-A177-3AD203B41FA5}">
                      <a16:colId xmlns:a16="http://schemas.microsoft.com/office/drawing/2014/main" val="3526619527"/>
                    </a:ext>
                  </a:extLst>
                </a:gridCol>
                <a:gridCol w="1522304">
                  <a:extLst>
                    <a:ext uri="{9D8B030D-6E8A-4147-A177-3AD203B41FA5}">
                      <a16:colId xmlns:a16="http://schemas.microsoft.com/office/drawing/2014/main" val="1110733646"/>
                    </a:ext>
                  </a:extLst>
                </a:gridCol>
              </a:tblGrid>
              <a:tr h="226616">
                <a:tc>
                  <a:txBody>
                    <a:bodyPr/>
                    <a:lstStyle/>
                    <a:p>
                      <a:pPr>
                        <a:spcBef>
                          <a:spcPts val="180"/>
                        </a:spcBef>
                        <a:spcAft>
                          <a:spcPts val="180"/>
                        </a:spcAft>
                        <a:buNone/>
                      </a:pPr>
                      <a:r>
                        <a:rPr lang="bg-BG" sz="1200" b="1" dirty="0">
                          <a:effectLst/>
                          <a:latin typeface="Calibri" panose="020F0502020204030204" pitchFamily="34" charset="0"/>
                          <a:ea typeface="Calibri" panose="020F0502020204030204" pitchFamily="34" charset="0"/>
                          <a:cs typeface="Calibri" panose="020F0502020204030204" pitchFamily="34" charset="0"/>
                        </a:rPr>
                        <a:t>Статус</a:t>
                      </a:r>
                      <a:endParaRPr lang="en-150" sz="12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tc>
                  <a:txBody>
                    <a:bodyPr/>
                    <a:lstStyle/>
                    <a:p>
                      <a:pPr>
                        <a:spcBef>
                          <a:spcPts val="180"/>
                        </a:spcBef>
                        <a:spcAft>
                          <a:spcPts val="180"/>
                        </a:spcAft>
                        <a:buNone/>
                      </a:pPr>
                      <a:r>
                        <a:rPr lang="bg-BG" sz="1200" b="1" dirty="0">
                          <a:effectLst/>
                          <a:latin typeface="Calibri" panose="020F0502020204030204" pitchFamily="34" charset="0"/>
                          <a:ea typeface="Calibri" panose="020F0502020204030204" pitchFamily="34" charset="0"/>
                          <a:cs typeface="Calibri" panose="020F0502020204030204" pitchFamily="34" charset="0"/>
                        </a:rPr>
                        <a:t>Действия</a:t>
                      </a:r>
                      <a:endParaRPr lang="en-150" sz="12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tc>
                  <a:txBody>
                    <a:bodyPr/>
                    <a:lstStyle/>
                    <a:p>
                      <a:pPr>
                        <a:spcBef>
                          <a:spcPts val="180"/>
                        </a:spcBef>
                        <a:spcAft>
                          <a:spcPts val="180"/>
                        </a:spcAft>
                        <a:buNone/>
                      </a:pPr>
                      <a:r>
                        <a:rPr lang="bg-BG" sz="1200" b="1" dirty="0">
                          <a:effectLst/>
                          <a:latin typeface="Calibri" panose="020F0502020204030204" pitchFamily="34" charset="0"/>
                          <a:ea typeface="Calibri" panose="020F0502020204030204" pitchFamily="34" charset="0"/>
                          <a:cs typeface="Calibri" panose="020F0502020204030204" pitchFamily="34" charset="0"/>
                        </a:rPr>
                        <a:t>Условия</a:t>
                      </a:r>
                      <a:endParaRPr lang="en-150" sz="12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extLst>
                  <a:ext uri="{0D108BD9-81ED-4DB2-BD59-A6C34878D82A}">
                    <a16:rowId xmlns:a16="http://schemas.microsoft.com/office/drawing/2014/main" val="1428849218"/>
                  </a:ext>
                </a:extLst>
              </a:tr>
              <a:tr h="601696">
                <a:tc>
                  <a:txBody>
                    <a:bodyPr/>
                    <a:lstStyle/>
                    <a:p>
                      <a:pPr>
                        <a:spcBef>
                          <a:spcPts val="180"/>
                        </a:spcBef>
                        <a:spcAft>
                          <a:spcPts val="180"/>
                        </a:spcAft>
                        <a:buNone/>
                      </a:pPr>
                      <a:r>
                        <a:rPr lang="bg-BG" sz="1200" b="1" dirty="0">
                          <a:effectLst/>
                          <a:latin typeface="Calibri" panose="020F0502020204030204" pitchFamily="34" charset="0"/>
                          <a:ea typeface="Calibri" panose="020F0502020204030204" pitchFamily="34" charset="0"/>
                          <a:cs typeface="Calibri" panose="020F0502020204030204" pitchFamily="34" charset="0"/>
                        </a:rPr>
                        <a:t>Чакаща (pending)</a:t>
                      </a:r>
                      <a:endParaRPr lang="en-150" sz="1200" b="1"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tc>
                  <a:txBody>
                    <a:bodyPr/>
                    <a:lstStyle/>
                    <a:p>
                      <a:pPr>
                        <a:spcBef>
                          <a:spcPts val="180"/>
                        </a:spcBef>
                        <a:spcAft>
                          <a:spcPts val="180"/>
                        </a:spcAft>
                        <a:buNone/>
                      </a:pPr>
                      <a:r>
                        <a:rPr lang="bg-BG" sz="1200" dirty="0">
                          <a:effectLst/>
                          <a:latin typeface="Calibri" panose="020F0502020204030204" pitchFamily="34" charset="0"/>
                          <a:ea typeface="Calibri" panose="020F0502020204030204" pitchFamily="34" charset="0"/>
                          <a:cs typeface="Calibri" panose="020F0502020204030204" pitchFamily="34" charset="0"/>
                        </a:rPr>
                        <a:t>Съобщение; Отмяна</a:t>
                      </a:r>
                      <a:endParaRPr lang="en-150" sz="12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tc>
                  <a:txBody>
                    <a:bodyPr/>
                    <a:lstStyle/>
                    <a:p>
                      <a:pPr>
                        <a:spcBef>
                          <a:spcPts val="180"/>
                        </a:spcBef>
                        <a:spcAft>
                          <a:spcPts val="180"/>
                        </a:spcAft>
                        <a:buNone/>
                      </a:pPr>
                      <a:r>
                        <a:rPr lang="bg-BG" sz="1200" dirty="0">
                          <a:effectLst/>
                          <a:latin typeface="Calibri" panose="020F0502020204030204" pitchFamily="34" charset="0"/>
                          <a:ea typeface="Calibri" panose="020F0502020204030204" pitchFamily="34" charset="0"/>
                          <a:cs typeface="Calibri" panose="020F0502020204030204" pitchFamily="34" charset="0"/>
                        </a:rPr>
                        <a:t>Активна обява, Available или Busy специалист</a:t>
                      </a:r>
                      <a:endParaRPr lang="en-150" sz="12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extLst>
                  <a:ext uri="{0D108BD9-81ED-4DB2-BD59-A6C34878D82A}">
                    <a16:rowId xmlns:a16="http://schemas.microsoft.com/office/drawing/2014/main" val="310822560"/>
                  </a:ext>
                </a:extLst>
              </a:tr>
              <a:tr h="601696">
                <a:tc>
                  <a:txBody>
                    <a:bodyPr/>
                    <a:lstStyle/>
                    <a:p>
                      <a:pPr>
                        <a:spcBef>
                          <a:spcPts val="180"/>
                        </a:spcBef>
                        <a:spcAft>
                          <a:spcPts val="180"/>
                        </a:spcAft>
                        <a:buNone/>
                      </a:pPr>
                      <a:r>
                        <a:rPr lang="bg-BG" sz="1200" b="1">
                          <a:effectLst/>
                          <a:latin typeface="Calibri" panose="020F0502020204030204" pitchFamily="34" charset="0"/>
                          <a:ea typeface="Calibri" panose="020F0502020204030204" pitchFamily="34" charset="0"/>
                          <a:cs typeface="Calibri" panose="020F0502020204030204" pitchFamily="34" charset="0"/>
                        </a:rPr>
                        <a:t>Отбелязана (shortlisted)</a:t>
                      </a:r>
                      <a:endParaRPr lang="en-150" sz="1200" b="1">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tc>
                  <a:txBody>
                    <a:bodyPr/>
                    <a:lstStyle/>
                    <a:p>
                      <a:pPr>
                        <a:spcBef>
                          <a:spcPts val="180"/>
                        </a:spcBef>
                        <a:spcAft>
                          <a:spcPts val="180"/>
                        </a:spcAft>
                        <a:buNone/>
                      </a:pPr>
                      <a:r>
                        <a:rPr lang="bg-BG" sz="1200" dirty="0">
                          <a:effectLst/>
                          <a:latin typeface="Calibri" panose="020F0502020204030204" pitchFamily="34" charset="0"/>
                          <a:ea typeface="Calibri" panose="020F0502020204030204" pitchFamily="34" charset="0"/>
                          <a:cs typeface="Calibri" panose="020F0502020204030204" pitchFamily="34" charset="0"/>
                        </a:rPr>
                        <a:t>Съобщение; Отмяна</a:t>
                      </a:r>
                      <a:endParaRPr lang="en-150" sz="12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tc>
                  <a:txBody>
                    <a:bodyPr/>
                    <a:lstStyle/>
                    <a:p>
                      <a:pPr>
                        <a:spcBef>
                          <a:spcPts val="180"/>
                        </a:spcBef>
                        <a:spcAft>
                          <a:spcPts val="180"/>
                        </a:spcAft>
                        <a:buNone/>
                      </a:pPr>
                      <a:r>
                        <a:rPr lang="bg-BG" sz="1200" dirty="0">
                          <a:effectLst/>
                          <a:latin typeface="Calibri" panose="020F0502020204030204" pitchFamily="34" charset="0"/>
                          <a:ea typeface="Calibri" panose="020F0502020204030204" pitchFamily="34" charset="0"/>
                          <a:cs typeface="Calibri" panose="020F0502020204030204" pitchFamily="34" charset="0"/>
                        </a:rPr>
                        <a:t>Активна обява, Available или Busy специалист</a:t>
                      </a:r>
                      <a:endParaRPr lang="en-150" sz="12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extLst>
                  <a:ext uri="{0D108BD9-81ED-4DB2-BD59-A6C34878D82A}">
                    <a16:rowId xmlns:a16="http://schemas.microsoft.com/office/drawing/2014/main" val="798188050"/>
                  </a:ext>
                </a:extLst>
              </a:tr>
              <a:tr h="401131">
                <a:tc>
                  <a:txBody>
                    <a:bodyPr/>
                    <a:lstStyle/>
                    <a:p>
                      <a:pPr>
                        <a:spcBef>
                          <a:spcPts val="180"/>
                        </a:spcBef>
                        <a:spcAft>
                          <a:spcPts val="180"/>
                        </a:spcAft>
                        <a:buNone/>
                      </a:pPr>
                      <a:r>
                        <a:rPr lang="bg-BG" sz="1200" b="1">
                          <a:effectLst/>
                          <a:latin typeface="Calibri" panose="020F0502020204030204" pitchFamily="34" charset="0"/>
                          <a:ea typeface="Calibri" panose="020F0502020204030204" pitchFamily="34" charset="0"/>
                          <a:cs typeface="Calibri" panose="020F0502020204030204" pitchFamily="34" charset="0"/>
                        </a:rPr>
                        <a:t>Отменена (canceled)</a:t>
                      </a:r>
                      <a:endParaRPr lang="en-150" sz="1200" b="1">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tc>
                  <a:txBody>
                    <a:bodyPr/>
                    <a:lstStyle/>
                    <a:p>
                      <a:pPr>
                        <a:spcBef>
                          <a:spcPts val="180"/>
                        </a:spcBef>
                        <a:spcAft>
                          <a:spcPts val="180"/>
                        </a:spcAft>
                        <a:buNone/>
                      </a:pPr>
                      <a:r>
                        <a:rPr lang="bg-BG" sz="1200" dirty="0">
                          <a:effectLst/>
                          <a:latin typeface="Calibri" panose="020F0502020204030204" pitchFamily="34" charset="0"/>
                          <a:ea typeface="Calibri" panose="020F0502020204030204" pitchFamily="34" charset="0"/>
                          <a:cs typeface="Calibri" panose="020F0502020204030204" pitchFamily="34" charset="0"/>
                        </a:rPr>
                        <a:t>Съобщение;Изтриване</a:t>
                      </a:r>
                      <a:endParaRPr lang="en-150" sz="12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tc>
                  <a:txBody>
                    <a:bodyPr/>
                    <a:lstStyle/>
                    <a:p>
                      <a:pPr>
                        <a:spcBef>
                          <a:spcPts val="180"/>
                        </a:spcBef>
                        <a:spcAft>
                          <a:spcPts val="180"/>
                        </a:spcAft>
                        <a:buNone/>
                      </a:pPr>
                      <a:endParaRPr lang="en-150" sz="12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extLst>
                  <a:ext uri="{0D108BD9-81ED-4DB2-BD59-A6C34878D82A}">
                    <a16:rowId xmlns:a16="http://schemas.microsoft.com/office/drawing/2014/main" val="284688655"/>
                  </a:ext>
                </a:extLst>
              </a:tr>
              <a:tr h="401131">
                <a:tc>
                  <a:txBody>
                    <a:bodyPr/>
                    <a:lstStyle/>
                    <a:p>
                      <a:pPr>
                        <a:spcBef>
                          <a:spcPts val="180"/>
                        </a:spcBef>
                        <a:spcAft>
                          <a:spcPts val="180"/>
                        </a:spcAft>
                        <a:buNone/>
                      </a:pPr>
                      <a:r>
                        <a:rPr lang="bg-BG" sz="1200" b="1">
                          <a:effectLst/>
                          <a:latin typeface="Calibri" panose="020F0502020204030204" pitchFamily="34" charset="0"/>
                          <a:ea typeface="Calibri" panose="020F0502020204030204" pitchFamily="34" charset="0"/>
                          <a:cs typeface="Calibri" panose="020F0502020204030204" pitchFamily="34" charset="0"/>
                        </a:rPr>
                        <a:t>Приета (accepted)</a:t>
                      </a:r>
                      <a:endParaRPr lang="en-150" sz="1200" b="1">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tc>
                  <a:txBody>
                    <a:bodyPr/>
                    <a:lstStyle/>
                    <a:p>
                      <a:pPr>
                        <a:spcBef>
                          <a:spcPts val="180"/>
                        </a:spcBef>
                        <a:spcAft>
                          <a:spcPts val="180"/>
                        </a:spcAft>
                        <a:buNone/>
                      </a:pPr>
                      <a:r>
                        <a:rPr lang="bg-BG" sz="1200" dirty="0">
                          <a:effectLst/>
                          <a:latin typeface="Calibri" panose="020F0502020204030204" pitchFamily="34" charset="0"/>
                          <a:ea typeface="Calibri" panose="020F0502020204030204" pitchFamily="34" charset="0"/>
                          <a:cs typeface="Calibri" panose="020F0502020204030204" pitchFamily="34" charset="0"/>
                        </a:rPr>
                        <a:t>Съобщение; Маркиране доставена</a:t>
                      </a:r>
                      <a:endParaRPr lang="en-150" sz="12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tc>
                  <a:txBody>
                    <a:bodyPr/>
                    <a:lstStyle/>
                    <a:p>
                      <a:pPr>
                        <a:spcBef>
                          <a:spcPts val="180"/>
                        </a:spcBef>
                        <a:spcAft>
                          <a:spcPts val="180"/>
                        </a:spcAft>
                        <a:buNone/>
                      </a:pPr>
                      <a:r>
                        <a:rPr lang="bg-BG" sz="1200" dirty="0">
                          <a:effectLst/>
                          <a:latin typeface="Calibri" panose="020F0502020204030204" pitchFamily="34" charset="0"/>
                          <a:ea typeface="Calibri" panose="020F0502020204030204" pitchFamily="34" charset="0"/>
                          <a:cs typeface="Calibri" panose="020F0502020204030204" pitchFamily="34" charset="0"/>
                        </a:rPr>
                        <a:t>Възможно само от собственика</a:t>
                      </a:r>
                      <a:endParaRPr lang="en-150" sz="12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extLst>
                  <a:ext uri="{0D108BD9-81ED-4DB2-BD59-A6C34878D82A}">
                    <a16:rowId xmlns:a16="http://schemas.microsoft.com/office/drawing/2014/main" val="2329842084"/>
                  </a:ext>
                </a:extLst>
              </a:tr>
              <a:tr h="401131">
                <a:tc>
                  <a:txBody>
                    <a:bodyPr/>
                    <a:lstStyle/>
                    <a:p>
                      <a:pPr>
                        <a:spcBef>
                          <a:spcPts val="180"/>
                        </a:spcBef>
                        <a:spcAft>
                          <a:spcPts val="180"/>
                        </a:spcAft>
                        <a:buNone/>
                      </a:pPr>
                      <a:r>
                        <a:rPr lang="bg-BG" sz="1200" b="1">
                          <a:effectLst/>
                          <a:latin typeface="Calibri" panose="020F0502020204030204" pitchFamily="34" charset="0"/>
                          <a:ea typeface="Calibri" panose="020F0502020204030204" pitchFamily="34" charset="0"/>
                          <a:cs typeface="Calibri" panose="020F0502020204030204" pitchFamily="34" charset="0"/>
                        </a:rPr>
                        <a:t>Отхвърлена (rejected)</a:t>
                      </a:r>
                      <a:endParaRPr lang="en-150" sz="1200" b="1">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tc>
                  <a:txBody>
                    <a:bodyPr/>
                    <a:lstStyle/>
                    <a:p>
                      <a:pPr>
                        <a:spcBef>
                          <a:spcPts val="180"/>
                        </a:spcBef>
                        <a:spcAft>
                          <a:spcPts val="180"/>
                        </a:spcAft>
                        <a:buNone/>
                      </a:pPr>
                      <a:r>
                        <a:rPr lang="bg-BG" sz="1200" dirty="0">
                          <a:effectLst/>
                          <a:latin typeface="Calibri" panose="020F0502020204030204" pitchFamily="34" charset="0"/>
                          <a:ea typeface="Calibri" panose="020F0502020204030204" pitchFamily="34" charset="0"/>
                          <a:cs typeface="Calibri" panose="020F0502020204030204" pitchFamily="34" charset="0"/>
                        </a:rPr>
                        <a:t>Съобщение;Изтриване</a:t>
                      </a:r>
                      <a:endParaRPr lang="en-150" sz="12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tc>
                  <a:txBody>
                    <a:bodyPr/>
                    <a:lstStyle/>
                    <a:p>
                      <a:pPr>
                        <a:spcBef>
                          <a:spcPts val="180"/>
                        </a:spcBef>
                        <a:spcAft>
                          <a:spcPts val="180"/>
                        </a:spcAft>
                        <a:buNone/>
                      </a:pPr>
                      <a:r>
                        <a:rPr lang="bg-BG" sz="1200" dirty="0">
                          <a:effectLst/>
                          <a:latin typeface="Calibri" panose="020F0502020204030204" pitchFamily="34" charset="0"/>
                          <a:ea typeface="Calibri" panose="020F0502020204030204" pitchFamily="34" charset="0"/>
                          <a:cs typeface="Calibri" panose="020F0502020204030204" pitchFamily="34" charset="0"/>
                        </a:rPr>
                        <a:t>Възможно само от собственика</a:t>
                      </a:r>
                      <a:endParaRPr lang="en-150" sz="12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extLst>
                  <a:ext uri="{0D108BD9-81ED-4DB2-BD59-A6C34878D82A}">
                    <a16:rowId xmlns:a16="http://schemas.microsoft.com/office/drawing/2014/main" val="788737217"/>
                  </a:ext>
                </a:extLst>
              </a:tr>
              <a:tr h="401131">
                <a:tc>
                  <a:txBody>
                    <a:bodyPr/>
                    <a:lstStyle/>
                    <a:p>
                      <a:pPr>
                        <a:spcBef>
                          <a:spcPts val="180"/>
                        </a:spcBef>
                        <a:spcAft>
                          <a:spcPts val="180"/>
                        </a:spcAft>
                        <a:buNone/>
                      </a:pPr>
                      <a:r>
                        <a:rPr lang="bg-BG" sz="1200" b="1">
                          <a:effectLst/>
                          <a:latin typeface="Calibri" panose="020F0502020204030204" pitchFamily="34" charset="0"/>
                          <a:ea typeface="Calibri" panose="020F0502020204030204" pitchFamily="34" charset="0"/>
                          <a:cs typeface="Calibri" panose="020F0502020204030204" pitchFamily="34" charset="0"/>
                        </a:rPr>
                        <a:t>Доставена (delivered)</a:t>
                      </a:r>
                      <a:endParaRPr lang="en-150" sz="1200" b="1">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tc>
                  <a:txBody>
                    <a:bodyPr/>
                    <a:lstStyle/>
                    <a:p>
                      <a:pPr>
                        <a:spcBef>
                          <a:spcPts val="180"/>
                        </a:spcBef>
                        <a:spcAft>
                          <a:spcPts val="180"/>
                        </a:spcAft>
                        <a:buNone/>
                      </a:pPr>
                      <a:r>
                        <a:rPr lang="bg-BG" sz="1200" dirty="0">
                          <a:effectLst/>
                          <a:latin typeface="Calibri" panose="020F0502020204030204" pitchFamily="34" charset="0"/>
                          <a:ea typeface="Calibri" panose="020F0502020204030204" pitchFamily="34" charset="0"/>
                          <a:cs typeface="Calibri" panose="020F0502020204030204" pitchFamily="34" charset="0"/>
                        </a:rPr>
                        <a:t>Съобщение</a:t>
                      </a:r>
                      <a:endParaRPr lang="en-150" sz="12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tc>
                  <a:txBody>
                    <a:bodyPr/>
                    <a:lstStyle/>
                    <a:p>
                      <a:pPr>
                        <a:spcBef>
                          <a:spcPts val="180"/>
                        </a:spcBef>
                        <a:spcAft>
                          <a:spcPts val="180"/>
                        </a:spcAft>
                        <a:buNone/>
                      </a:pPr>
                      <a:endParaRPr lang="en-150" sz="12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extLst>
                  <a:ext uri="{0D108BD9-81ED-4DB2-BD59-A6C34878D82A}">
                    <a16:rowId xmlns:a16="http://schemas.microsoft.com/office/drawing/2014/main" val="1173918838"/>
                  </a:ext>
                </a:extLst>
              </a:tr>
              <a:tr h="601696">
                <a:tc>
                  <a:txBody>
                    <a:bodyPr/>
                    <a:lstStyle/>
                    <a:p>
                      <a:pPr>
                        <a:spcBef>
                          <a:spcPts val="180"/>
                        </a:spcBef>
                        <a:spcAft>
                          <a:spcPts val="180"/>
                        </a:spcAft>
                        <a:buNone/>
                      </a:pPr>
                      <a:r>
                        <a:rPr lang="bg-BG" sz="1200" b="1">
                          <a:effectLst/>
                          <a:latin typeface="Calibri" panose="020F0502020204030204" pitchFamily="34" charset="0"/>
                          <a:ea typeface="Calibri" panose="020F0502020204030204" pitchFamily="34" charset="0"/>
                          <a:cs typeface="Calibri" panose="020F0502020204030204" pitchFamily="34" charset="0"/>
                        </a:rPr>
                        <a:t>Завършена успешно (completed)</a:t>
                      </a:r>
                      <a:endParaRPr lang="en-150" sz="1200" b="1">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tc>
                  <a:txBody>
                    <a:bodyPr/>
                    <a:lstStyle/>
                    <a:p>
                      <a:pPr>
                        <a:spcBef>
                          <a:spcPts val="180"/>
                        </a:spcBef>
                        <a:spcAft>
                          <a:spcPts val="180"/>
                        </a:spcAft>
                        <a:buNone/>
                      </a:pPr>
                      <a:r>
                        <a:rPr lang="bg-BG" sz="1200" dirty="0">
                          <a:effectLst/>
                          <a:latin typeface="Calibri" panose="020F0502020204030204" pitchFamily="34" charset="0"/>
                          <a:ea typeface="Calibri" panose="020F0502020204030204" pitchFamily="34" charset="0"/>
                          <a:cs typeface="Calibri" panose="020F0502020204030204" pitchFamily="34" charset="0"/>
                        </a:rPr>
                        <a:t>Съобщение;Изтриване</a:t>
                      </a:r>
                      <a:endParaRPr lang="en-150" sz="12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tc>
                  <a:txBody>
                    <a:bodyPr/>
                    <a:lstStyle/>
                    <a:p>
                      <a:pPr>
                        <a:spcBef>
                          <a:spcPts val="180"/>
                        </a:spcBef>
                        <a:spcAft>
                          <a:spcPts val="180"/>
                        </a:spcAft>
                        <a:buNone/>
                      </a:pPr>
                      <a:r>
                        <a:rPr lang="bg-BG" sz="1200" dirty="0">
                          <a:effectLst/>
                          <a:latin typeface="Calibri" panose="020F0502020204030204" pitchFamily="34" charset="0"/>
                          <a:ea typeface="Calibri" panose="020F0502020204030204" pitchFamily="34" charset="0"/>
                          <a:cs typeface="Calibri" panose="020F0502020204030204" pitchFamily="34" charset="0"/>
                        </a:rPr>
                        <a:t>Възможно само от собственика</a:t>
                      </a:r>
                      <a:endParaRPr lang="en-150" sz="12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extLst>
                  <a:ext uri="{0D108BD9-81ED-4DB2-BD59-A6C34878D82A}">
                    <a16:rowId xmlns:a16="http://schemas.microsoft.com/office/drawing/2014/main" val="2549737363"/>
                  </a:ext>
                </a:extLst>
              </a:tr>
              <a:tr h="401131">
                <a:tc>
                  <a:txBody>
                    <a:bodyPr/>
                    <a:lstStyle/>
                    <a:p>
                      <a:pPr>
                        <a:spcBef>
                          <a:spcPts val="180"/>
                        </a:spcBef>
                        <a:spcAft>
                          <a:spcPts val="180"/>
                        </a:spcAft>
                        <a:buNone/>
                      </a:pPr>
                      <a:r>
                        <a:rPr lang="bg-BG" sz="1200" b="1" dirty="0">
                          <a:effectLst/>
                          <a:latin typeface="Calibri" panose="020F0502020204030204" pitchFamily="34" charset="0"/>
                          <a:ea typeface="Calibri" panose="020F0502020204030204" pitchFamily="34" charset="0"/>
                          <a:cs typeface="Calibri" panose="020F0502020204030204" pitchFamily="34" charset="0"/>
                        </a:rPr>
                        <a:t>Незадоволителна (unsatisfactory)</a:t>
                      </a:r>
                      <a:endParaRPr lang="en-150" sz="1200" b="1"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tc>
                  <a:txBody>
                    <a:bodyPr/>
                    <a:lstStyle/>
                    <a:p>
                      <a:pPr>
                        <a:spcBef>
                          <a:spcPts val="180"/>
                        </a:spcBef>
                        <a:spcAft>
                          <a:spcPts val="180"/>
                        </a:spcAft>
                        <a:buNone/>
                      </a:pPr>
                      <a:r>
                        <a:rPr lang="bg-BG" sz="1200" dirty="0">
                          <a:effectLst/>
                          <a:latin typeface="Calibri" panose="020F0502020204030204" pitchFamily="34" charset="0"/>
                          <a:ea typeface="Calibri" panose="020F0502020204030204" pitchFamily="34" charset="0"/>
                          <a:cs typeface="Calibri" panose="020F0502020204030204" pitchFamily="34" charset="0"/>
                        </a:rPr>
                        <a:t>Съобщение;Изтриване</a:t>
                      </a:r>
                      <a:endParaRPr lang="en-150" sz="12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tc>
                  <a:txBody>
                    <a:bodyPr/>
                    <a:lstStyle/>
                    <a:p>
                      <a:pPr>
                        <a:spcBef>
                          <a:spcPts val="180"/>
                        </a:spcBef>
                        <a:spcAft>
                          <a:spcPts val="180"/>
                        </a:spcAft>
                        <a:buNone/>
                      </a:pPr>
                      <a:r>
                        <a:rPr lang="bg-BG" sz="1200" dirty="0">
                          <a:effectLst/>
                          <a:latin typeface="Calibri" panose="020F0502020204030204" pitchFamily="34" charset="0"/>
                          <a:ea typeface="Calibri" panose="020F0502020204030204" pitchFamily="34" charset="0"/>
                          <a:cs typeface="Calibri" panose="020F0502020204030204" pitchFamily="34" charset="0"/>
                        </a:rPr>
                        <a:t>Възможно само от собственика</a:t>
                      </a:r>
                      <a:endParaRPr lang="en-150" sz="12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tcPr>
                </a:tc>
                <a:extLst>
                  <a:ext uri="{0D108BD9-81ED-4DB2-BD59-A6C34878D82A}">
                    <a16:rowId xmlns:a16="http://schemas.microsoft.com/office/drawing/2014/main" val="3879878106"/>
                  </a:ext>
                </a:extLst>
              </a:tr>
            </a:tbl>
          </a:graphicData>
        </a:graphic>
      </p:graphicFrame>
      <p:pic>
        <p:nvPicPr>
          <p:cNvPr id="8" name="Picture 7">
            <a:extLst>
              <a:ext uri="{FF2B5EF4-FFF2-40B4-BE49-F238E27FC236}">
                <a16:creationId xmlns:a16="http://schemas.microsoft.com/office/drawing/2014/main" id="{81CE21CE-AD07-81DD-5D68-FCAE14B64A50}"/>
              </a:ext>
            </a:extLst>
          </p:cNvPr>
          <p:cNvPicPr>
            <a:picLocks noChangeAspect="1"/>
          </p:cNvPicPr>
          <p:nvPr/>
        </p:nvPicPr>
        <p:blipFill>
          <a:blip r:embed="rId3"/>
          <a:stretch>
            <a:fillRect/>
          </a:stretch>
        </p:blipFill>
        <p:spPr>
          <a:xfrm>
            <a:off x="1275181" y="612983"/>
            <a:ext cx="2154987" cy="1309569"/>
          </a:xfrm>
          <a:prstGeom prst="rect">
            <a:avLst/>
          </a:prstGeom>
        </p:spPr>
      </p:pic>
      <p:pic>
        <p:nvPicPr>
          <p:cNvPr id="10" name="Picture 9">
            <a:extLst>
              <a:ext uri="{FF2B5EF4-FFF2-40B4-BE49-F238E27FC236}">
                <a16:creationId xmlns:a16="http://schemas.microsoft.com/office/drawing/2014/main" id="{35942E1B-5917-D44C-B650-6ABC21EE3470}"/>
              </a:ext>
            </a:extLst>
          </p:cNvPr>
          <p:cNvPicPr>
            <a:picLocks noChangeAspect="1"/>
          </p:cNvPicPr>
          <p:nvPr/>
        </p:nvPicPr>
        <p:blipFill>
          <a:blip r:embed="rId4"/>
          <a:stretch>
            <a:fillRect/>
          </a:stretch>
        </p:blipFill>
        <p:spPr>
          <a:xfrm>
            <a:off x="1275179" y="3579724"/>
            <a:ext cx="2154987" cy="1332174"/>
          </a:xfrm>
          <a:prstGeom prst="rect">
            <a:avLst/>
          </a:prstGeom>
        </p:spPr>
      </p:pic>
      <p:pic>
        <p:nvPicPr>
          <p:cNvPr id="12" name="Picture 11" descr="A screenshot of a message&#10;&#10;AI-generated content may be incorrect.">
            <a:extLst>
              <a:ext uri="{FF2B5EF4-FFF2-40B4-BE49-F238E27FC236}">
                <a16:creationId xmlns:a16="http://schemas.microsoft.com/office/drawing/2014/main" id="{1CB1D0F3-B1DA-1430-59A2-F5E529056239}"/>
              </a:ext>
            </a:extLst>
          </p:cNvPr>
          <p:cNvPicPr>
            <a:picLocks noChangeAspect="1"/>
          </p:cNvPicPr>
          <p:nvPr/>
        </p:nvPicPr>
        <p:blipFill>
          <a:blip r:embed="rId5"/>
          <a:stretch>
            <a:fillRect/>
          </a:stretch>
        </p:blipFill>
        <p:spPr>
          <a:xfrm>
            <a:off x="1275180" y="2081470"/>
            <a:ext cx="2154987" cy="1339336"/>
          </a:xfrm>
          <a:prstGeom prst="rect">
            <a:avLst/>
          </a:prstGeom>
        </p:spPr>
      </p:pic>
    </p:spTree>
    <p:extLst>
      <p:ext uri="{BB962C8B-B14F-4D97-AF65-F5344CB8AC3E}">
        <p14:creationId xmlns:p14="http://schemas.microsoft.com/office/powerpoint/2010/main" val="1013165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a:extLst>
            <a:ext uri="{FF2B5EF4-FFF2-40B4-BE49-F238E27FC236}">
              <a16:creationId xmlns:a16="http://schemas.microsoft.com/office/drawing/2014/main" id="{18BC540C-9E2C-FC4E-E43A-6F636C5C59A7}"/>
            </a:ext>
          </a:extLst>
        </p:cNvPr>
        <p:cNvGrpSpPr/>
        <p:nvPr/>
      </p:nvGrpSpPr>
      <p:grpSpPr>
        <a:xfrm>
          <a:off x="0" y="0"/>
          <a:ext cx="0" cy="0"/>
          <a:chOff x="0" y="0"/>
          <a:chExt cx="0" cy="0"/>
        </a:xfrm>
      </p:grpSpPr>
      <p:sp>
        <p:nvSpPr>
          <p:cNvPr id="676" name="Google Shape;676;p36">
            <a:extLst>
              <a:ext uri="{FF2B5EF4-FFF2-40B4-BE49-F238E27FC236}">
                <a16:creationId xmlns:a16="http://schemas.microsoft.com/office/drawing/2014/main" id="{D451EDDD-A18A-5751-EE85-F3561A449BB8}"/>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7" name="Google Shape;677;p36">
            <a:extLst>
              <a:ext uri="{FF2B5EF4-FFF2-40B4-BE49-F238E27FC236}">
                <a16:creationId xmlns:a16="http://schemas.microsoft.com/office/drawing/2014/main" id="{DFFBFE53-9E53-662D-781E-E1B3F695C9B4}"/>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8" name="Google Shape;678;p36">
            <a:extLst>
              <a:ext uri="{FF2B5EF4-FFF2-40B4-BE49-F238E27FC236}">
                <a16:creationId xmlns:a16="http://schemas.microsoft.com/office/drawing/2014/main" id="{E234D6AD-CE1F-0491-08EC-E2AD68E07157}"/>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ДЕМОНСТРАЦИЯ</a:t>
            </a:r>
            <a:endParaRPr sz="1100" b="0" i="0" u="none" strike="noStrike" cap="none" dirty="0">
              <a:solidFill>
                <a:schemeClr val="dk1"/>
              </a:solidFill>
              <a:latin typeface="Calibri"/>
              <a:ea typeface="Calibri"/>
              <a:cs typeface="Calibri"/>
              <a:sym typeface="Calibri"/>
            </a:endParaRPr>
          </a:p>
        </p:txBody>
      </p:sp>
      <p:sp>
        <p:nvSpPr>
          <p:cNvPr id="683" name="Google Shape;683;p36">
            <a:extLst>
              <a:ext uri="{FF2B5EF4-FFF2-40B4-BE49-F238E27FC236}">
                <a16:creationId xmlns:a16="http://schemas.microsoft.com/office/drawing/2014/main" id="{0B7237BC-501A-E53F-B7FD-CBB627B10102}"/>
              </a:ext>
            </a:extLst>
          </p:cNvPr>
          <p:cNvSpPr/>
          <p:nvPr/>
        </p:nvSpPr>
        <p:spPr>
          <a:xfrm>
            <a:off x="342900" y="90377"/>
            <a:ext cx="313182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000" b="1" dirty="0">
                <a:solidFill>
                  <a:srgbClr val="1E293B"/>
                </a:solidFill>
                <a:latin typeface="Cambria"/>
                <a:ea typeface="Cambria"/>
                <a:cs typeface="Calibri"/>
                <a:sym typeface="Cambria"/>
              </a:rPr>
              <a:t>Документи към оферта</a:t>
            </a:r>
            <a:endParaRPr sz="2000" b="0" i="0" u="none" strike="noStrike" cap="none" dirty="0">
              <a:solidFill>
                <a:schemeClr val="dk1"/>
              </a:solidFill>
              <a:latin typeface="Calibri"/>
              <a:ea typeface="Calibri"/>
              <a:cs typeface="Calibri"/>
              <a:sym typeface="Calibri"/>
            </a:endParaRPr>
          </a:p>
        </p:txBody>
      </p:sp>
      <p:pic>
        <p:nvPicPr>
          <p:cNvPr id="4" name="Picture 3" descr="A screenshot of a service agreement&#10;&#10;AI-generated content may be incorrect.">
            <a:extLst>
              <a:ext uri="{FF2B5EF4-FFF2-40B4-BE49-F238E27FC236}">
                <a16:creationId xmlns:a16="http://schemas.microsoft.com/office/drawing/2014/main" id="{AF26FB4B-7306-FD4C-A880-4F2AD07AC2C3}"/>
              </a:ext>
            </a:extLst>
          </p:cNvPr>
          <p:cNvPicPr>
            <a:picLocks noChangeAspect="1"/>
          </p:cNvPicPr>
          <p:nvPr/>
        </p:nvPicPr>
        <p:blipFill>
          <a:blip r:embed="rId3"/>
          <a:stretch>
            <a:fillRect/>
          </a:stretch>
        </p:blipFill>
        <p:spPr>
          <a:xfrm>
            <a:off x="381000" y="742797"/>
            <a:ext cx="3958543" cy="3863012"/>
          </a:xfrm>
          <a:prstGeom prst="rect">
            <a:avLst/>
          </a:prstGeom>
          <a:ln>
            <a:solidFill>
              <a:schemeClr val="bg1">
                <a:lumMod val="65000"/>
              </a:schemeClr>
            </a:solidFill>
          </a:ln>
        </p:spPr>
      </p:pic>
      <p:pic>
        <p:nvPicPr>
          <p:cNvPr id="6" name="Picture 5" descr="A screenshot of a receipt&#10;&#10;AI-generated content may be incorrect.">
            <a:extLst>
              <a:ext uri="{FF2B5EF4-FFF2-40B4-BE49-F238E27FC236}">
                <a16:creationId xmlns:a16="http://schemas.microsoft.com/office/drawing/2014/main" id="{662DFE2A-F64A-8906-7CA1-2C3C1203DE6E}"/>
              </a:ext>
            </a:extLst>
          </p:cNvPr>
          <p:cNvPicPr>
            <a:picLocks noChangeAspect="1"/>
          </p:cNvPicPr>
          <p:nvPr/>
        </p:nvPicPr>
        <p:blipFill>
          <a:blip r:embed="rId4"/>
          <a:stretch>
            <a:fillRect/>
          </a:stretch>
        </p:blipFill>
        <p:spPr>
          <a:xfrm>
            <a:off x="4377643" y="742797"/>
            <a:ext cx="4676702" cy="3402013"/>
          </a:xfrm>
          <a:prstGeom prst="rect">
            <a:avLst/>
          </a:prstGeom>
          <a:ln>
            <a:solidFill>
              <a:schemeClr val="bg1">
                <a:lumMod val="65000"/>
              </a:schemeClr>
            </a:solidFill>
          </a:ln>
        </p:spPr>
      </p:pic>
    </p:spTree>
    <p:extLst>
      <p:ext uri="{BB962C8B-B14F-4D97-AF65-F5344CB8AC3E}">
        <p14:creationId xmlns:p14="http://schemas.microsoft.com/office/powerpoint/2010/main" val="36946765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a:extLst>
            <a:ext uri="{FF2B5EF4-FFF2-40B4-BE49-F238E27FC236}">
              <a16:creationId xmlns:a16="http://schemas.microsoft.com/office/drawing/2014/main" id="{E43CBAC2-091D-B4C7-B219-D8DDD0E4C1D7}"/>
            </a:ext>
          </a:extLst>
        </p:cNvPr>
        <p:cNvGrpSpPr/>
        <p:nvPr/>
      </p:nvGrpSpPr>
      <p:grpSpPr>
        <a:xfrm>
          <a:off x="0" y="0"/>
          <a:ext cx="0" cy="0"/>
          <a:chOff x="0" y="0"/>
          <a:chExt cx="0" cy="0"/>
        </a:xfrm>
      </p:grpSpPr>
      <p:sp>
        <p:nvSpPr>
          <p:cNvPr id="676" name="Google Shape;676;p36">
            <a:extLst>
              <a:ext uri="{FF2B5EF4-FFF2-40B4-BE49-F238E27FC236}">
                <a16:creationId xmlns:a16="http://schemas.microsoft.com/office/drawing/2014/main" id="{09B6DD9B-58D9-FA5E-544F-BE410B9182F5}"/>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7" name="Google Shape;677;p36">
            <a:extLst>
              <a:ext uri="{FF2B5EF4-FFF2-40B4-BE49-F238E27FC236}">
                <a16:creationId xmlns:a16="http://schemas.microsoft.com/office/drawing/2014/main" id="{B72685CB-0682-F6E8-DAB5-E7BA0DC9EA29}"/>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8" name="Google Shape;678;p36">
            <a:extLst>
              <a:ext uri="{FF2B5EF4-FFF2-40B4-BE49-F238E27FC236}">
                <a16:creationId xmlns:a16="http://schemas.microsoft.com/office/drawing/2014/main" id="{3524CDAF-227A-B4F5-B8DA-B186A111A3A2}"/>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ДЕМОНСТРАЦИЯ</a:t>
            </a:r>
            <a:endParaRPr sz="1100" b="0" i="0" u="none" strike="noStrike" cap="none" dirty="0">
              <a:solidFill>
                <a:schemeClr val="dk1"/>
              </a:solidFill>
              <a:latin typeface="Calibri"/>
              <a:ea typeface="Calibri"/>
              <a:cs typeface="Calibri"/>
              <a:sym typeface="Calibri"/>
            </a:endParaRPr>
          </a:p>
        </p:txBody>
      </p:sp>
      <p:sp>
        <p:nvSpPr>
          <p:cNvPr id="683" name="Google Shape;683;p36">
            <a:extLst>
              <a:ext uri="{FF2B5EF4-FFF2-40B4-BE49-F238E27FC236}">
                <a16:creationId xmlns:a16="http://schemas.microsoft.com/office/drawing/2014/main" id="{08825152-26C0-A374-6FE7-F55E94B7C069}"/>
              </a:ext>
            </a:extLst>
          </p:cNvPr>
          <p:cNvSpPr/>
          <p:nvPr/>
        </p:nvSpPr>
        <p:spPr>
          <a:xfrm>
            <a:off x="342900" y="90377"/>
            <a:ext cx="313182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000" b="1" dirty="0">
                <a:solidFill>
                  <a:srgbClr val="1E293B"/>
                </a:solidFill>
                <a:latin typeface="Cambria"/>
                <a:ea typeface="Cambria"/>
                <a:cs typeface="Calibri"/>
                <a:sym typeface="Cambria"/>
              </a:rPr>
              <a:t>Потребители</a:t>
            </a:r>
            <a:endParaRPr sz="2000" b="0" i="0" u="none" strike="noStrike" cap="none" dirty="0">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90D132E1-6BA1-2DEA-67C1-760285E01B18}"/>
              </a:ext>
            </a:extLst>
          </p:cNvPr>
          <p:cNvPicPr>
            <a:picLocks noChangeAspect="1"/>
          </p:cNvPicPr>
          <p:nvPr/>
        </p:nvPicPr>
        <p:blipFill>
          <a:blip r:embed="rId3"/>
          <a:stretch>
            <a:fillRect/>
          </a:stretch>
        </p:blipFill>
        <p:spPr>
          <a:xfrm>
            <a:off x="404873" y="938956"/>
            <a:ext cx="5805427" cy="3710150"/>
          </a:xfrm>
          <a:prstGeom prst="rect">
            <a:avLst/>
          </a:prstGeom>
          <a:ln>
            <a:solidFill>
              <a:schemeClr val="bg1">
                <a:lumMod val="65000"/>
              </a:schemeClr>
            </a:solidFill>
          </a:ln>
        </p:spPr>
      </p:pic>
      <p:pic>
        <p:nvPicPr>
          <p:cNvPr id="7" name="Picture 6">
            <a:extLst>
              <a:ext uri="{FF2B5EF4-FFF2-40B4-BE49-F238E27FC236}">
                <a16:creationId xmlns:a16="http://schemas.microsoft.com/office/drawing/2014/main" id="{57DA3E63-2AC2-2F16-BAB1-121D253C5B9D}"/>
              </a:ext>
            </a:extLst>
          </p:cNvPr>
          <p:cNvPicPr>
            <a:picLocks noChangeAspect="1"/>
          </p:cNvPicPr>
          <p:nvPr/>
        </p:nvPicPr>
        <p:blipFill>
          <a:blip r:embed="rId4"/>
          <a:stretch>
            <a:fillRect/>
          </a:stretch>
        </p:blipFill>
        <p:spPr>
          <a:xfrm>
            <a:off x="6272273" y="938956"/>
            <a:ext cx="2751097" cy="2284298"/>
          </a:xfrm>
          <a:prstGeom prst="rect">
            <a:avLst/>
          </a:prstGeom>
          <a:ln>
            <a:solidFill>
              <a:schemeClr val="bg1">
                <a:lumMod val="65000"/>
              </a:schemeClr>
            </a:solidFill>
          </a:ln>
        </p:spPr>
      </p:pic>
    </p:spTree>
    <p:extLst>
      <p:ext uri="{BB962C8B-B14F-4D97-AF65-F5344CB8AC3E}">
        <p14:creationId xmlns:p14="http://schemas.microsoft.com/office/powerpoint/2010/main" val="19071971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a:extLst>
            <a:ext uri="{FF2B5EF4-FFF2-40B4-BE49-F238E27FC236}">
              <a16:creationId xmlns:a16="http://schemas.microsoft.com/office/drawing/2014/main" id="{B4CB9017-3DDB-1565-F43F-349B797B93C9}"/>
            </a:ext>
          </a:extLst>
        </p:cNvPr>
        <p:cNvGrpSpPr/>
        <p:nvPr/>
      </p:nvGrpSpPr>
      <p:grpSpPr>
        <a:xfrm>
          <a:off x="0" y="0"/>
          <a:ext cx="0" cy="0"/>
          <a:chOff x="0" y="0"/>
          <a:chExt cx="0" cy="0"/>
        </a:xfrm>
      </p:grpSpPr>
      <p:sp>
        <p:nvSpPr>
          <p:cNvPr id="2" name="Google Shape;679;p36">
            <a:extLst>
              <a:ext uri="{FF2B5EF4-FFF2-40B4-BE49-F238E27FC236}">
                <a16:creationId xmlns:a16="http://schemas.microsoft.com/office/drawing/2014/main" id="{96C38EEA-2BB1-DA8D-F7CC-67689E2A8BB6}"/>
              </a:ext>
            </a:extLst>
          </p:cNvPr>
          <p:cNvSpPr/>
          <p:nvPr/>
        </p:nvSpPr>
        <p:spPr>
          <a:xfrm>
            <a:off x="7355840" y="0"/>
            <a:ext cx="1788160" cy="288036"/>
          </a:xfrm>
          <a:prstGeom prst="rect">
            <a:avLst/>
          </a:prstGeom>
          <a:solidFill>
            <a:srgbClr val="F3DADA"/>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6" name="Google Shape;676;p36">
            <a:extLst>
              <a:ext uri="{FF2B5EF4-FFF2-40B4-BE49-F238E27FC236}">
                <a16:creationId xmlns:a16="http://schemas.microsoft.com/office/drawing/2014/main" id="{663CF73B-74B3-2629-7E3E-DDF3758D1D83}"/>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7" name="Google Shape;677;p36">
            <a:extLst>
              <a:ext uri="{FF2B5EF4-FFF2-40B4-BE49-F238E27FC236}">
                <a16:creationId xmlns:a16="http://schemas.microsoft.com/office/drawing/2014/main" id="{A55543A8-0455-4879-EA8A-FC0811488425}"/>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8" name="Google Shape;678;p36">
            <a:extLst>
              <a:ext uri="{FF2B5EF4-FFF2-40B4-BE49-F238E27FC236}">
                <a16:creationId xmlns:a16="http://schemas.microsoft.com/office/drawing/2014/main" id="{D96BE0E8-912A-1867-F813-573B870AFD02}"/>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ДЕМОНСТРАЦИЯ</a:t>
            </a:r>
            <a:endParaRPr sz="1100" b="0" i="0" u="none" strike="noStrike" cap="none" dirty="0">
              <a:solidFill>
                <a:schemeClr val="dk1"/>
              </a:solidFill>
              <a:latin typeface="Calibri"/>
              <a:ea typeface="Calibri"/>
              <a:cs typeface="Calibri"/>
              <a:sym typeface="Calibri"/>
            </a:endParaRPr>
          </a:p>
        </p:txBody>
      </p:sp>
      <p:sp>
        <p:nvSpPr>
          <p:cNvPr id="679" name="Google Shape;679;p36">
            <a:extLst>
              <a:ext uri="{FF2B5EF4-FFF2-40B4-BE49-F238E27FC236}">
                <a16:creationId xmlns:a16="http://schemas.microsoft.com/office/drawing/2014/main" id="{53B47B07-630B-A05F-BC43-DDA6223702F2}"/>
              </a:ext>
            </a:extLst>
          </p:cNvPr>
          <p:cNvSpPr/>
          <p:nvPr/>
        </p:nvSpPr>
        <p:spPr>
          <a:xfrm>
            <a:off x="7355840" y="107283"/>
            <a:ext cx="1788160" cy="361506"/>
          </a:xfrm>
          <a:prstGeom prst="roundRect">
            <a:avLst>
              <a:gd name="adj" fmla="val 50000"/>
            </a:avLst>
          </a:prstGeom>
          <a:solidFill>
            <a:srgbClr val="F3DADA"/>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80" name="Google Shape;680;p36">
            <a:extLst>
              <a:ext uri="{FF2B5EF4-FFF2-40B4-BE49-F238E27FC236}">
                <a16:creationId xmlns:a16="http://schemas.microsoft.com/office/drawing/2014/main" id="{85C0D03E-7F09-306D-01A1-CE3A4859D712}"/>
              </a:ext>
            </a:extLst>
          </p:cNvPr>
          <p:cNvSpPr/>
          <p:nvPr/>
        </p:nvSpPr>
        <p:spPr>
          <a:xfrm>
            <a:off x="7769339" y="90377"/>
            <a:ext cx="1024141" cy="2880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E293B"/>
              </a:buClr>
              <a:buSzPts val="800"/>
              <a:buFont typeface="Calibri"/>
              <a:buNone/>
            </a:pPr>
            <a:r>
              <a:rPr lang="bg" sz="1600" b="1" i="0" u="none" strike="noStrike" cap="none" dirty="0">
                <a:solidFill>
                  <a:srgbClr val="1E293B"/>
                </a:solidFill>
                <a:latin typeface="Calibri"/>
                <a:ea typeface="Calibri"/>
                <a:cs typeface="Calibri"/>
                <a:sym typeface="Calibri"/>
              </a:rPr>
              <a:t>КЛИЕНТ</a:t>
            </a:r>
            <a:endParaRPr sz="1600" b="0" i="0" u="none" strike="noStrike" cap="none" dirty="0">
              <a:solidFill>
                <a:schemeClr val="dk1"/>
              </a:solidFill>
              <a:latin typeface="Calibri"/>
              <a:ea typeface="Calibri"/>
              <a:cs typeface="Calibri"/>
              <a:sym typeface="Calibri"/>
            </a:endParaRPr>
          </a:p>
        </p:txBody>
      </p:sp>
      <p:sp>
        <p:nvSpPr>
          <p:cNvPr id="683" name="Google Shape;683;p36">
            <a:extLst>
              <a:ext uri="{FF2B5EF4-FFF2-40B4-BE49-F238E27FC236}">
                <a16:creationId xmlns:a16="http://schemas.microsoft.com/office/drawing/2014/main" id="{A6E7799B-94FA-6048-53EB-E60DF66F3B25}"/>
              </a:ext>
            </a:extLst>
          </p:cNvPr>
          <p:cNvSpPr/>
          <p:nvPr/>
        </p:nvSpPr>
        <p:spPr>
          <a:xfrm>
            <a:off x="342900" y="90377"/>
            <a:ext cx="313182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000" b="1" i="0" u="none" strike="noStrike" cap="none" dirty="0">
                <a:solidFill>
                  <a:srgbClr val="1E293B"/>
                </a:solidFill>
                <a:latin typeface="Cambria"/>
                <a:ea typeface="Cambria"/>
                <a:cs typeface="Calibri"/>
                <a:sym typeface="Cambria"/>
              </a:rPr>
              <a:t>Потребителски профил</a:t>
            </a:r>
            <a:endParaRPr sz="2000" b="0" i="0" u="none" strike="noStrike" cap="none" dirty="0">
              <a:solidFill>
                <a:schemeClr val="dk1"/>
              </a:solidFill>
              <a:latin typeface="Calibri"/>
              <a:ea typeface="Calibri"/>
              <a:cs typeface="Calibri"/>
              <a:sym typeface="Calibri"/>
            </a:endParaRPr>
          </a:p>
        </p:txBody>
      </p:sp>
      <p:pic>
        <p:nvPicPr>
          <p:cNvPr id="6" name="Picture 5">
            <a:extLst>
              <a:ext uri="{FF2B5EF4-FFF2-40B4-BE49-F238E27FC236}">
                <a16:creationId xmlns:a16="http://schemas.microsoft.com/office/drawing/2014/main" id="{8A259089-F6AD-EFBF-49FC-AAA27EE7E1B2}"/>
              </a:ext>
            </a:extLst>
          </p:cNvPr>
          <p:cNvPicPr>
            <a:picLocks noChangeAspect="1"/>
          </p:cNvPicPr>
          <p:nvPr/>
        </p:nvPicPr>
        <p:blipFill>
          <a:blip r:embed="rId3"/>
          <a:stretch>
            <a:fillRect/>
          </a:stretch>
        </p:blipFill>
        <p:spPr>
          <a:xfrm>
            <a:off x="482033" y="662358"/>
            <a:ext cx="4114800" cy="1223592"/>
          </a:xfrm>
          <a:prstGeom prst="rect">
            <a:avLst/>
          </a:prstGeom>
          <a:ln>
            <a:solidFill>
              <a:schemeClr val="bg1">
                <a:lumMod val="65000"/>
              </a:schemeClr>
            </a:solidFill>
          </a:ln>
        </p:spPr>
      </p:pic>
      <p:pic>
        <p:nvPicPr>
          <p:cNvPr id="13" name="Picture 12">
            <a:extLst>
              <a:ext uri="{FF2B5EF4-FFF2-40B4-BE49-F238E27FC236}">
                <a16:creationId xmlns:a16="http://schemas.microsoft.com/office/drawing/2014/main" id="{551CA271-7061-5609-212B-2C2B4C413444}"/>
              </a:ext>
            </a:extLst>
          </p:cNvPr>
          <p:cNvPicPr>
            <a:picLocks noChangeAspect="1"/>
          </p:cNvPicPr>
          <p:nvPr/>
        </p:nvPicPr>
        <p:blipFill>
          <a:blip r:embed="rId4"/>
          <a:stretch>
            <a:fillRect/>
          </a:stretch>
        </p:blipFill>
        <p:spPr>
          <a:xfrm>
            <a:off x="482033" y="2032735"/>
            <a:ext cx="4114800" cy="2878282"/>
          </a:xfrm>
          <a:prstGeom prst="rect">
            <a:avLst/>
          </a:prstGeom>
          <a:ln>
            <a:solidFill>
              <a:schemeClr val="bg1">
                <a:lumMod val="65000"/>
              </a:schemeClr>
            </a:solidFill>
          </a:ln>
        </p:spPr>
      </p:pic>
      <p:pic>
        <p:nvPicPr>
          <p:cNvPr id="17" name="Picture 16">
            <a:extLst>
              <a:ext uri="{FF2B5EF4-FFF2-40B4-BE49-F238E27FC236}">
                <a16:creationId xmlns:a16="http://schemas.microsoft.com/office/drawing/2014/main" id="{5A425727-9B55-E907-B159-153EC082CB97}"/>
              </a:ext>
            </a:extLst>
          </p:cNvPr>
          <p:cNvPicPr>
            <a:picLocks noChangeAspect="1"/>
          </p:cNvPicPr>
          <p:nvPr/>
        </p:nvPicPr>
        <p:blipFill>
          <a:blip r:embed="rId5"/>
          <a:stretch>
            <a:fillRect/>
          </a:stretch>
        </p:blipFill>
        <p:spPr>
          <a:xfrm>
            <a:off x="4735966" y="662358"/>
            <a:ext cx="3651900" cy="3739897"/>
          </a:xfrm>
          <a:prstGeom prst="rect">
            <a:avLst/>
          </a:prstGeom>
          <a:ln>
            <a:solidFill>
              <a:schemeClr val="bg1">
                <a:lumMod val="65000"/>
              </a:schemeClr>
            </a:solidFill>
          </a:ln>
        </p:spPr>
      </p:pic>
    </p:spTree>
    <p:extLst>
      <p:ext uri="{BB962C8B-B14F-4D97-AF65-F5344CB8AC3E}">
        <p14:creationId xmlns:p14="http://schemas.microsoft.com/office/powerpoint/2010/main" val="23857746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a:extLst>
            <a:ext uri="{FF2B5EF4-FFF2-40B4-BE49-F238E27FC236}">
              <a16:creationId xmlns:a16="http://schemas.microsoft.com/office/drawing/2014/main" id="{A7D49911-9C92-9310-81F5-122450A5E505}"/>
            </a:ext>
          </a:extLst>
        </p:cNvPr>
        <p:cNvGrpSpPr/>
        <p:nvPr/>
      </p:nvGrpSpPr>
      <p:grpSpPr>
        <a:xfrm>
          <a:off x="0" y="0"/>
          <a:ext cx="0" cy="0"/>
          <a:chOff x="0" y="0"/>
          <a:chExt cx="0" cy="0"/>
        </a:xfrm>
      </p:grpSpPr>
      <p:sp>
        <p:nvSpPr>
          <p:cNvPr id="2" name="Google Shape;679;p36">
            <a:extLst>
              <a:ext uri="{FF2B5EF4-FFF2-40B4-BE49-F238E27FC236}">
                <a16:creationId xmlns:a16="http://schemas.microsoft.com/office/drawing/2014/main" id="{96ED872F-7157-32E7-689E-2BE74A8B4013}"/>
              </a:ext>
            </a:extLst>
          </p:cNvPr>
          <p:cNvSpPr/>
          <p:nvPr/>
        </p:nvSpPr>
        <p:spPr>
          <a:xfrm>
            <a:off x="7355840" y="0"/>
            <a:ext cx="1788160" cy="288036"/>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6" name="Google Shape;676;p36">
            <a:extLst>
              <a:ext uri="{FF2B5EF4-FFF2-40B4-BE49-F238E27FC236}">
                <a16:creationId xmlns:a16="http://schemas.microsoft.com/office/drawing/2014/main" id="{A50332A2-F89B-176B-4493-949319B92F2C}"/>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7" name="Google Shape;677;p36">
            <a:extLst>
              <a:ext uri="{FF2B5EF4-FFF2-40B4-BE49-F238E27FC236}">
                <a16:creationId xmlns:a16="http://schemas.microsoft.com/office/drawing/2014/main" id="{800F6BCE-0F46-6CF4-3C52-FD8A056A6D8C}"/>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8" name="Google Shape;678;p36">
            <a:extLst>
              <a:ext uri="{FF2B5EF4-FFF2-40B4-BE49-F238E27FC236}">
                <a16:creationId xmlns:a16="http://schemas.microsoft.com/office/drawing/2014/main" id="{0BD0DA64-05A4-4D8B-EA43-E9E9AE7F72B6}"/>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ДЕМОНСТРАЦИЯ</a:t>
            </a:r>
            <a:endParaRPr sz="1100" b="0" i="0" u="none" strike="noStrike" cap="none" dirty="0">
              <a:solidFill>
                <a:schemeClr val="dk1"/>
              </a:solidFill>
              <a:latin typeface="Calibri"/>
              <a:ea typeface="Calibri"/>
              <a:cs typeface="Calibri"/>
              <a:sym typeface="Calibri"/>
            </a:endParaRPr>
          </a:p>
        </p:txBody>
      </p:sp>
      <p:sp>
        <p:nvSpPr>
          <p:cNvPr id="679" name="Google Shape;679;p36">
            <a:extLst>
              <a:ext uri="{FF2B5EF4-FFF2-40B4-BE49-F238E27FC236}">
                <a16:creationId xmlns:a16="http://schemas.microsoft.com/office/drawing/2014/main" id="{A719BD3B-FBE0-3063-030F-6D9907504332}"/>
              </a:ext>
            </a:extLst>
          </p:cNvPr>
          <p:cNvSpPr/>
          <p:nvPr/>
        </p:nvSpPr>
        <p:spPr>
          <a:xfrm>
            <a:off x="7355840" y="107283"/>
            <a:ext cx="1788160" cy="361506"/>
          </a:xfrm>
          <a:prstGeom prst="roundRect">
            <a:avLst>
              <a:gd name="adj" fmla="val 50000"/>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80" name="Google Shape;680;p36">
            <a:extLst>
              <a:ext uri="{FF2B5EF4-FFF2-40B4-BE49-F238E27FC236}">
                <a16:creationId xmlns:a16="http://schemas.microsoft.com/office/drawing/2014/main" id="{DD437F78-AFCC-DBED-AFE2-F195ACFC7BCD}"/>
              </a:ext>
            </a:extLst>
          </p:cNvPr>
          <p:cNvSpPr/>
          <p:nvPr/>
        </p:nvSpPr>
        <p:spPr>
          <a:xfrm>
            <a:off x="7608309" y="90377"/>
            <a:ext cx="1283221" cy="2880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E293B"/>
              </a:buClr>
              <a:buSzPts val="800"/>
              <a:buFont typeface="Calibri"/>
              <a:buNone/>
            </a:pPr>
            <a:r>
              <a:rPr lang="bg" sz="1600" b="1" i="0" u="none" strike="noStrike" cap="none" dirty="0">
                <a:solidFill>
                  <a:schemeClr val="bg1"/>
                </a:solidFill>
                <a:latin typeface="Calibri"/>
                <a:ea typeface="Calibri"/>
                <a:cs typeface="Calibri"/>
                <a:sym typeface="Calibri"/>
              </a:rPr>
              <a:t>СПЕЦИАЛИСТ</a:t>
            </a:r>
            <a:endParaRPr sz="1600" b="0" i="0" u="none" strike="noStrike" cap="none" dirty="0">
              <a:solidFill>
                <a:schemeClr val="bg1"/>
              </a:solidFill>
              <a:latin typeface="Calibri"/>
              <a:ea typeface="Calibri"/>
              <a:cs typeface="Calibri"/>
              <a:sym typeface="Calibri"/>
            </a:endParaRPr>
          </a:p>
        </p:txBody>
      </p:sp>
      <p:sp>
        <p:nvSpPr>
          <p:cNvPr id="3" name="Google Shape;683;p36">
            <a:extLst>
              <a:ext uri="{FF2B5EF4-FFF2-40B4-BE49-F238E27FC236}">
                <a16:creationId xmlns:a16="http://schemas.microsoft.com/office/drawing/2014/main" id="{FC964176-2340-20A1-BBF6-DB0C271E64AF}"/>
              </a:ext>
            </a:extLst>
          </p:cNvPr>
          <p:cNvSpPr/>
          <p:nvPr/>
        </p:nvSpPr>
        <p:spPr>
          <a:xfrm>
            <a:off x="403860" y="107283"/>
            <a:ext cx="313182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000" b="1" dirty="0">
                <a:solidFill>
                  <a:srgbClr val="1E293B"/>
                </a:solidFill>
                <a:latin typeface="Cambria"/>
                <a:ea typeface="Cambria"/>
                <a:cs typeface="Calibri"/>
                <a:sym typeface="Cambria"/>
              </a:rPr>
              <a:t>Потребителски профил</a:t>
            </a:r>
            <a:endParaRPr sz="2000" b="0" i="0" u="none" strike="noStrike" cap="none" dirty="0">
              <a:solidFill>
                <a:schemeClr val="dk1"/>
              </a:solidFill>
              <a:latin typeface="Calibri"/>
              <a:ea typeface="Calibri"/>
              <a:cs typeface="Calibri"/>
              <a:sym typeface="Calibri"/>
            </a:endParaRPr>
          </a:p>
        </p:txBody>
      </p:sp>
      <p:pic>
        <p:nvPicPr>
          <p:cNvPr id="5" name="Picture 4">
            <a:extLst>
              <a:ext uri="{FF2B5EF4-FFF2-40B4-BE49-F238E27FC236}">
                <a16:creationId xmlns:a16="http://schemas.microsoft.com/office/drawing/2014/main" id="{5FBBA28A-BF8B-A97E-5D43-D88CE70D43F4}"/>
              </a:ext>
            </a:extLst>
          </p:cNvPr>
          <p:cNvPicPr>
            <a:picLocks noChangeAspect="1"/>
          </p:cNvPicPr>
          <p:nvPr/>
        </p:nvPicPr>
        <p:blipFill>
          <a:blip r:embed="rId3"/>
          <a:stretch>
            <a:fillRect/>
          </a:stretch>
        </p:blipFill>
        <p:spPr>
          <a:xfrm>
            <a:off x="403860" y="507759"/>
            <a:ext cx="3642360" cy="1023859"/>
          </a:xfrm>
          <a:prstGeom prst="rect">
            <a:avLst/>
          </a:prstGeom>
          <a:ln>
            <a:solidFill>
              <a:schemeClr val="bg1">
                <a:lumMod val="65000"/>
              </a:schemeClr>
            </a:solidFill>
          </a:ln>
        </p:spPr>
      </p:pic>
      <p:pic>
        <p:nvPicPr>
          <p:cNvPr id="14" name="Picture 13">
            <a:extLst>
              <a:ext uri="{FF2B5EF4-FFF2-40B4-BE49-F238E27FC236}">
                <a16:creationId xmlns:a16="http://schemas.microsoft.com/office/drawing/2014/main" id="{CA12E206-4BDF-4B1C-59F7-D7503384030F}"/>
              </a:ext>
            </a:extLst>
          </p:cNvPr>
          <p:cNvPicPr>
            <a:picLocks noChangeAspect="1"/>
          </p:cNvPicPr>
          <p:nvPr/>
        </p:nvPicPr>
        <p:blipFill>
          <a:blip r:embed="rId4" cstate="print">
            <a:extLst>
              <a:ext uri="{28A0092B-C50C-407E-A947-70E740481C1C}">
                <a14:useLocalDpi xmlns:a14="http://schemas.microsoft.com/office/drawing/2010/main" val="0"/>
              </a:ext>
            </a:extLst>
          </a:blip>
          <a:srcRect t="27166" b="-1"/>
          <a:stretch/>
        </p:blipFill>
        <p:spPr>
          <a:xfrm>
            <a:off x="403860" y="1592580"/>
            <a:ext cx="4488180" cy="3443637"/>
          </a:xfrm>
          <a:prstGeom prst="rect">
            <a:avLst/>
          </a:prstGeom>
          <a:ln>
            <a:solidFill>
              <a:schemeClr val="bg1">
                <a:lumMod val="65000"/>
              </a:schemeClr>
            </a:solidFill>
          </a:ln>
        </p:spPr>
      </p:pic>
      <p:pic>
        <p:nvPicPr>
          <p:cNvPr id="18" name="Picture 17">
            <a:extLst>
              <a:ext uri="{FF2B5EF4-FFF2-40B4-BE49-F238E27FC236}">
                <a16:creationId xmlns:a16="http://schemas.microsoft.com/office/drawing/2014/main" id="{B2C156BE-38F7-149D-2A6E-B66CC0D6276E}"/>
              </a:ext>
            </a:extLst>
          </p:cNvPr>
          <p:cNvPicPr>
            <a:picLocks noChangeAspect="1"/>
          </p:cNvPicPr>
          <p:nvPr/>
        </p:nvPicPr>
        <p:blipFill>
          <a:blip r:embed="rId5"/>
          <a:stretch>
            <a:fillRect/>
          </a:stretch>
        </p:blipFill>
        <p:spPr>
          <a:xfrm>
            <a:off x="4953000" y="1158240"/>
            <a:ext cx="3370869" cy="2225040"/>
          </a:xfrm>
          <a:prstGeom prst="rect">
            <a:avLst/>
          </a:prstGeom>
          <a:ln>
            <a:solidFill>
              <a:schemeClr val="bg1">
                <a:lumMod val="65000"/>
              </a:schemeClr>
            </a:solidFill>
          </a:ln>
        </p:spPr>
      </p:pic>
      <p:pic>
        <p:nvPicPr>
          <p:cNvPr id="20" name="Picture 19">
            <a:extLst>
              <a:ext uri="{FF2B5EF4-FFF2-40B4-BE49-F238E27FC236}">
                <a16:creationId xmlns:a16="http://schemas.microsoft.com/office/drawing/2014/main" id="{3147B675-B5A9-0CD6-9251-DA4514243923}"/>
              </a:ext>
            </a:extLst>
          </p:cNvPr>
          <p:cNvPicPr>
            <a:picLocks noChangeAspect="1"/>
          </p:cNvPicPr>
          <p:nvPr/>
        </p:nvPicPr>
        <p:blipFill>
          <a:blip r:embed="rId6"/>
          <a:stretch>
            <a:fillRect/>
          </a:stretch>
        </p:blipFill>
        <p:spPr>
          <a:xfrm>
            <a:off x="4953000" y="3469778"/>
            <a:ext cx="3370869" cy="1205905"/>
          </a:xfrm>
          <a:prstGeom prst="rect">
            <a:avLst/>
          </a:prstGeom>
          <a:ln>
            <a:solidFill>
              <a:schemeClr val="bg1">
                <a:lumMod val="65000"/>
              </a:schemeClr>
            </a:solidFill>
          </a:ln>
        </p:spPr>
      </p:pic>
    </p:spTree>
    <p:extLst>
      <p:ext uri="{BB962C8B-B14F-4D97-AF65-F5344CB8AC3E}">
        <p14:creationId xmlns:p14="http://schemas.microsoft.com/office/powerpoint/2010/main" val="28924732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a:extLst>
            <a:ext uri="{FF2B5EF4-FFF2-40B4-BE49-F238E27FC236}">
              <a16:creationId xmlns:a16="http://schemas.microsoft.com/office/drawing/2014/main" id="{5821559C-54D9-74DF-23B9-C5DF0AD44502}"/>
            </a:ext>
          </a:extLst>
        </p:cNvPr>
        <p:cNvGrpSpPr/>
        <p:nvPr/>
      </p:nvGrpSpPr>
      <p:grpSpPr>
        <a:xfrm>
          <a:off x="0" y="0"/>
          <a:ext cx="0" cy="0"/>
          <a:chOff x="0" y="0"/>
          <a:chExt cx="0" cy="0"/>
        </a:xfrm>
      </p:grpSpPr>
      <p:sp>
        <p:nvSpPr>
          <p:cNvPr id="676" name="Google Shape;676;p36">
            <a:extLst>
              <a:ext uri="{FF2B5EF4-FFF2-40B4-BE49-F238E27FC236}">
                <a16:creationId xmlns:a16="http://schemas.microsoft.com/office/drawing/2014/main" id="{D53C9EB6-D31A-30F6-053D-FCDA65C8C5EF}"/>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7" name="Google Shape;677;p36">
            <a:extLst>
              <a:ext uri="{FF2B5EF4-FFF2-40B4-BE49-F238E27FC236}">
                <a16:creationId xmlns:a16="http://schemas.microsoft.com/office/drawing/2014/main" id="{7912CDBD-B411-1464-B28A-AFD8BD8CA4B3}"/>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8" name="Google Shape;678;p36">
            <a:extLst>
              <a:ext uri="{FF2B5EF4-FFF2-40B4-BE49-F238E27FC236}">
                <a16:creationId xmlns:a16="http://schemas.microsoft.com/office/drawing/2014/main" id="{52E8F21C-C7C1-F2BE-9CC0-7DBBC327569C}"/>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ДЕМОНСТРАЦИЯ</a:t>
            </a:r>
            <a:endParaRPr sz="1100" b="0" i="0" u="none" strike="noStrike" cap="none" dirty="0">
              <a:solidFill>
                <a:schemeClr val="dk1"/>
              </a:solidFill>
              <a:latin typeface="Calibri"/>
              <a:ea typeface="Calibri"/>
              <a:cs typeface="Calibri"/>
              <a:sym typeface="Calibri"/>
            </a:endParaRPr>
          </a:p>
        </p:txBody>
      </p:sp>
      <p:sp>
        <p:nvSpPr>
          <p:cNvPr id="683" name="Google Shape;683;p36">
            <a:extLst>
              <a:ext uri="{FF2B5EF4-FFF2-40B4-BE49-F238E27FC236}">
                <a16:creationId xmlns:a16="http://schemas.microsoft.com/office/drawing/2014/main" id="{634F734D-BE9E-6B1A-480A-DC36C97A0801}"/>
              </a:ext>
            </a:extLst>
          </p:cNvPr>
          <p:cNvSpPr/>
          <p:nvPr/>
        </p:nvSpPr>
        <p:spPr>
          <a:xfrm>
            <a:off x="342900" y="90377"/>
            <a:ext cx="373380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000" b="1" i="0" u="none" strike="noStrike" cap="none" dirty="0">
                <a:solidFill>
                  <a:srgbClr val="1E293B"/>
                </a:solidFill>
                <a:latin typeface="Cambria"/>
                <a:ea typeface="Cambria"/>
                <a:cs typeface="Calibri"/>
                <a:sym typeface="Cambria"/>
              </a:rPr>
              <a:t>Потребителски настройки</a:t>
            </a:r>
            <a:endParaRPr sz="2000" b="0" i="0" u="none" strike="noStrike" cap="none" dirty="0">
              <a:solidFill>
                <a:schemeClr val="dk1"/>
              </a:solidFill>
              <a:latin typeface="Calibri"/>
              <a:ea typeface="Calibri"/>
              <a:cs typeface="Calibri"/>
              <a:sym typeface="Calibri"/>
            </a:endParaRPr>
          </a:p>
        </p:txBody>
      </p:sp>
      <p:pic>
        <p:nvPicPr>
          <p:cNvPr id="7" name="Picture 6">
            <a:extLst>
              <a:ext uri="{FF2B5EF4-FFF2-40B4-BE49-F238E27FC236}">
                <a16:creationId xmlns:a16="http://schemas.microsoft.com/office/drawing/2014/main" id="{DCFA0BBD-1B20-D0B7-779E-FB192BA95AFF}"/>
              </a:ext>
            </a:extLst>
          </p:cNvPr>
          <p:cNvPicPr>
            <a:picLocks noChangeAspect="1"/>
          </p:cNvPicPr>
          <p:nvPr/>
        </p:nvPicPr>
        <p:blipFill>
          <a:blip r:embed="rId3"/>
          <a:stretch>
            <a:fillRect/>
          </a:stretch>
        </p:blipFill>
        <p:spPr>
          <a:xfrm>
            <a:off x="3124281" y="515573"/>
            <a:ext cx="3791623" cy="3964987"/>
          </a:xfrm>
          <a:prstGeom prst="rect">
            <a:avLst/>
          </a:prstGeom>
          <a:ln>
            <a:solidFill>
              <a:schemeClr val="bg1">
                <a:lumMod val="65000"/>
              </a:schemeClr>
            </a:solidFill>
          </a:ln>
        </p:spPr>
      </p:pic>
      <p:pic>
        <p:nvPicPr>
          <p:cNvPr id="14" name="Picture 13">
            <a:extLst>
              <a:ext uri="{FF2B5EF4-FFF2-40B4-BE49-F238E27FC236}">
                <a16:creationId xmlns:a16="http://schemas.microsoft.com/office/drawing/2014/main" id="{50E30610-9732-9F74-E2D0-51CE4145BECD}"/>
              </a:ext>
            </a:extLst>
          </p:cNvPr>
          <p:cNvPicPr>
            <a:picLocks noChangeAspect="1"/>
          </p:cNvPicPr>
          <p:nvPr/>
        </p:nvPicPr>
        <p:blipFill>
          <a:blip r:embed="rId4"/>
          <a:stretch>
            <a:fillRect/>
          </a:stretch>
        </p:blipFill>
        <p:spPr>
          <a:xfrm>
            <a:off x="393997" y="515573"/>
            <a:ext cx="2651191" cy="3660187"/>
          </a:xfrm>
          <a:prstGeom prst="rect">
            <a:avLst/>
          </a:prstGeom>
          <a:ln>
            <a:solidFill>
              <a:schemeClr val="bg1">
                <a:lumMod val="65000"/>
              </a:schemeClr>
            </a:solidFill>
          </a:ln>
        </p:spPr>
      </p:pic>
      <p:pic>
        <p:nvPicPr>
          <p:cNvPr id="16" name="Picture 15">
            <a:extLst>
              <a:ext uri="{FF2B5EF4-FFF2-40B4-BE49-F238E27FC236}">
                <a16:creationId xmlns:a16="http://schemas.microsoft.com/office/drawing/2014/main" id="{B91890AF-2531-1844-9D8C-159BD68B3C1B}"/>
              </a:ext>
            </a:extLst>
          </p:cNvPr>
          <p:cNvPicPr>
            <a:picLocks noChangeAspect="1"/>
          </p:cNvPicPr>
          <p:nvPr/>
        </p:nvPicPr>
        <p:blipFill>
          <a:blip r:embed="rId5"/>
          <a:stretch>
            <a:fillRect/>
          </a:stretch>
        </p:blipFill>
        <p:spPr>
          <a:xfrm>
            <a:off x="6994997" y="515573"/>
            <a:ext cx="2022698" cy="2098499"/>
          </a:xfrm>
          <a:prstGeom prst="rect">
            <a:avLst/>
          </a:prstGeom>
          <a:ln>
            <a:solidFill>
              <a:schemeClr val="bg1">
                <a:lumMod val="65000"/>
              </a:schemeClr>
            </a:solidFill>
          </a:ln>
        </p:spPr>
      </p:pic>
    </p:spTree>
    <p:extLst>
      <p:ext uri="{BB962C8B-B14F-4D97-AF65-F5344CB8AC3E}">
        <p14:creationId xmlns:p14="http://schemas.microsoft.com/office/powerpoint/2010/main" val="30558304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a:extLst>
            <a:ext uri="{FF2B5EF4-FFF2-40B4-BE49-F238E27FC236}">
              <a16:creationId xmlns:a16="http://schemas.microsoft.com/office/drawing/2014/main" id="{EAE0352C-3C2B-535B-2C32-085B2419EC44}"/>
            </a:ext>
          </a:extLst>
        </p:cNvPr>
        <p:cNvGrpSpPr/>
        <p:nvPr/>
      </p:nvGrpSpPr>
      <p:grpSpPr>
        <a:xfrm>
          <a:off x="0" y="0"/>
          <a:ext cx="0" cy="0"/>
          <a:chOff x="0" y="0"/>
          <a:chExt cx="0" cy="0"/>
        </a:xfrm>
      </p:grpSpPr>
      <p:sp>
        <p:nvSpPr>
          <p:cNvPr id="2" name="Google Shape;679;p36">
            <a:extLst>
              <a:ext uri="{FF2B5EF4-FFF2-40B4-BE49-F238E27FC236}">
                <a16:creationId xmlns:a16="http://schemas.microsoft.com/office/drawing/2014/main" id="{A8049C22-8CAF-BCEE-0C44-F770F5378895}"/>
              </a:ext>
            </a:extLst>
          </p:cNvPr>
          <p:cNvSpPr/>
          <p:nvPr/>
        </p:nvSpPr>
        <p:spPr>
          <a:xfrm>
            <a:off x="7355840" y="0"/>
            <a:ext cx="1788160" cy="288036"/>
          </a:xfrm>
          <a:prstGeom prst="rect">
            <a:avLst/>
          </a:prstGeom>
          <a:solidFill>
            <a:srgbClr val="F3DADA"/>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6" name="Google Shape;676;p36">
            <a:extLst>
              <a:ext uri="{FF2B5EF4-FFF2-40B4-BE49-F238E27FC236}">
                <a16:creationId xmlns:a16="http://schemas.microsoft.com/office/drawing/2014/main" id="{A4A24C43-4639-0423-B770-AA24AE0AF6B3}"/>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7" name="Google Shape;677;p36">
            <a:extLst>
              <a:ext uri="{FF2B5EF4-FFF2-40B4-BE49-F238E27FC236}">
                <a16:creationId xmlns:a16="http://schemas.microsoft.com/office/drawing/2014/main" id="{01734508-E73D-2DA7-E5CF-105286389BC4}"/>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8" name="Google Shape;678;p36">
            <a:extLst>
              <a:ext uri="{FF2B5EF4-FFF2-40B4-BE49-F238E27FC236}">
                <a16:creationId xmlns:a16="http://schemas.microsoft.com/office/drawing/2014/main" id="{566FCECD-58A5-9FD3-D0F4-E0E81CB1A9DB}"/>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ДЕМОНСТРАЦИЯ</a:t>
            </a:r>
            <a:endParaRPr sz="1100" b="0" i="0" u="none" strike="noStrike" cap="none" dirty="0">
              <a:solidFill>
                <a:schemeClr val="dk1"/>
              </a:solidFill>
              <a:latin typeface="Calibri"/>
              <a:ea typeface="Calibri"/>
              <a:cs typeface="Calibri"/>
              <a:sym typeface="Calibri"/>
            </a:endParaRPr>
          </a:p>
        </p:txBody>
      </p:sp>
      <p:sp>
        <p:nvSpPr>
          <p:cNvPr id="679" name="Google Shape;679;p36">
            <a:extLst>
              <a:ext uri="{FF2B5EF4-FFF2-40B4-BE49-F238E27FC236}">
                <a16:creationId xmlns:a16="http://schemas.microsoft.com/office/drawing/2014/main" id="{59476D1C-AB0E-8800-47DC-A2AE78C4C3A9}"/>
              </a:ext>
            </a:extLst>
          </p:cNvPr>
          <p:cNvSpPr/>
          <p:nvPr/>
        </p:nvSpPr>
        <p:spPr>
          <a:xfrm>
            <a:off x="7355840" y="107283"/>
            <a:ext cx="1788160" cy="361506"/>
          </a:xfrm>
          <a:prstGeom prst="roundRect">
            <a:avLst>
              <a:gd name="adj" fmla="val 50000"/>
            </a:avLst>
          </a:prstGeom>
          <a:solidFill>
            <a:srgbClr val="F3DADA"/>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80" name="Google Shape;680;p36">
            <a:extLst>
              <a:ext uri="{FF2B5EF4-FFF2-40B4-BE49-F238E27FC236}">
                <a16:creationId xmlns:a16="http://schemas.microsoft.com/office/drawing/2014/main" id="{57334F6B-5139-7356-DC91-2F8DE6056209}"/>
              </a:ext>
            </a:extLst>
          </p:cNvPr>
          <p:cNvSpPr/>
          <p:nvPr/>
        </p:nvSpPr>
        <p:spPr>
          <a:xfrm>
            <a:off x="7769339" y="90377"/>
            <a:ext cx="1024141" cy="2880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E293B"/>
              </a:buClr>
              <a:buSzPts val="800"/>
              <a:buFont typeface="Calibri"/>
              <a:buNone/>
            </a:pPr>
            <a:r>
              <a:rPr lang="bg" sz="1600" b="1" i="0" u="none" strike="noStrike" cap="none" dirty="0">
                <a:solidFill>
                  <a:srgbClr val="1E293B"/>
                </a:solidFill>
                <a:latin typeface="Calibri"/>
                <a:ea typeface="Calibri"/>
                <a:cs typeface="Calibri"/>
                <a:sym typeface="Calibri"/>
              </a:rPr>
              <a:t>КЛИЕНТ</a:t>
            </a:r>
            <a:endParaRPr sz="1600" b="0" i="0" u="none" strike="noStrike" cap="none" dirty="0">
              <a:solidFill>
                <a:schemeClr val="dk1"/>
              </a:solidFill>
              <a:latin typeface="Calibri"/>
              <a:ea typeface="Calibri"/>
              <a:cs typeface="Calibri"/>
              <a:sym typeface="Calibri"/>
            </a:endParaRPr>
          </a:p>
        </p:txBody>
      </p:sp>
      <p:sp>
        <p:nvSpPr>
          <p:cNvPr id="683" name="Google Shape;683;p36">
            <a:extLst>
              <a:ext uri="{FF2B5EF4-FFF2-40B4-BE49-F238E27FC236}">
                <a16:creationId xmlns:a16="http://schemas.microsoft.com/office/drawing/2014/main" id="{FCF41297-42D4-79F0-E3AA-14E7F712B198}"/>
              </a:ext>
            </a:extLst>
          </p:cNvPr>
          <p:cNvSpPr/>
          <p:nvPr/>
        </p:nvSpPr>
        <p:spPr>
          <a:xfrm>
            <a:off x="342900" y="90377"/>
            <a:ext cx="373380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000" b="1" i="0" u="none" strike="noStrike" cap="none" dirty="0">
                <a:solidFill>
                  <a:srgbClr val="1E293B"/>
                </a:solidFill>
                <a:latin typeface="Cambria"/>
                <a:ea typeface="Cambria"/>
                <a:cs typeface="Calibri"/>
                <a:sym typeface="Cambria"/>
              </a:rPr>
              <a:t>Потребителски настройки</a:t>
            </a:r>
            <a:endParaRPr sz="2000" b="0" i="0" u="none" strike="noStrike" cap="none" dirty="0">
              <a:solidFill>
                <a:schemeClr val="dk1"/>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3E2E4056-4F1B-3C89-1F26-98D929A1EC66}"/>
              </a:ext>
            </a:extLst>
          </p:cNvPr>
          <p:cNvPicPr>
            <a:picLocks noChangeAspect="1"/>
          </p:cNvPicPr>
          <p:nvPr/>
        </p:nvPicPr>
        <p:blipFill>
          <a:blip r:embed="rId3"/>
          <a:stretch>
            <a:fillRect/>
          </a:stretch>
        </p:blipFill>
        <p:spPr>
          <a:xfrm>
            <a:off x="2702536" y="575955"/>
            <a:ext cx="3738927" cy="4280516"/>
          </a:xfrm>
          <a:prstGeom prst="rect">
            <a:avLst/>
          </a:prstGeom>
          <a:ln>
            <a:solidFill>
              <a:schemeClr val="bg1">
                <a:lumMod val="65000"/>
              </a:schemeClr>
            </a:solidFill>
          </a:ln>
        </p:spPr>
      </p:pic>
    </p:spTree>
    <p:extLst>
      <p:ext uri="{BB962C8B-B14F-4D97-AF65-F5344CB8AC3E}">
        <p14:creationId xmlns:p14="http://schemas.microsoft.com/office/powerpoint/2010/main" val="20438728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a:extLst>
            <a:ext uri="{FF2B5EF4-FFF2-40B4-BE49-F238E27FC236}">
              <a16:creationId xmlns:a16="http://schemas.microsoft.com/office/drawing/2014/main" id="{29B7EB83-A365-2565-4136-8508302D6266}"/>
            </a:ext>
          </a:extLst>
        </p:cNvPr>
        <p:cNvGrpSpPr/>
        <p:nvPr/>
      </p:nvGrpSpPr>
      <p:grpSpPr>
        <a:xfrm>
          <a:off x="0" y="0"/>
          <a:ext cx="0" cy="0"/>
          <a:chOff x="0" y="0"/>
          <a:chExt cx="0" cy="0"/>
        </a:xfrm>
      </p:grpSpPr>
      <p:sp>
        <p:nvSpPr>
          <p:cNvPr id="2" name="Google Shape;679;p36">
            <a:extLst>
              <a:ext uri="{FF2B5EF4-FFF2-40B4-BE49-F238E27FC236}">
                <a16:creationId xmlns:a16="http://schemas.microsoft.com/office/drawing/2014/main" id="{1FAE7233-63F1-8292-7474-3B77B8193851}"/>
              </a:ext>
            </a:extLst>
          </p:cNvPr>
          <p:cNvSpPr/>
          <p:nvPr/>
        </p:nvSpPr>
        <p:spPr>
          <a:xfrm>
            <a:off x="7355840" y="0"/>
            <a:ext cx="1788160" cy="288036"/>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6" name="Google Shape;676;p36">
            <a:extLst>
              <a:ext uri="{FF2B5EF4-FFF2-40B4-BE49-F238E27FC236}">
                <a16:creationId xmlns:a16="http://schemas.microsoft.com/office/drawing/2014/main" id="{354EC667-D7CA-4F9D-D63B-0467059CAAC0}"/>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7" name="Google Shape;677;p36">
            <a:extLst>
              <a:ext uri="{FF2B5EF4-FFF2-40B4-BE49-F238E27FC236}">
                <a16:creationId xmlns:a16="http://schemas.microsoft.com/office/drawing/2014/main" id="{73E9C6A8-801F-6EDB-FB64-02BCA16D8F95}"/>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8" name="Google Shape;678;p36">
            <a:extLst>
              <a:ext uri="{FF2B5EF4-FFF2-40B4-BE49-F238E27FC236}">
                <a16:creationId xmlns:a16="http://schemas.microsoft.com/office/drawing/2014/main" id="{B3D444B9-250C-8563-4F8E-5974E29983E9}"/>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ДЕМОНСТРАЦИЯ</a:t>
            </a:r>
            <a:endParaRPr sz="1100" b="0" i="0" u="none" strike="noStrike" cap="none" dirty="0">
              <a:solidFill>
                <a:schemeClr val="dk1"/>
              </a:solidFill>
              <a:latin typeface="Calibri"/>
              <a:ea typeface="Calibri"/>
              <a:cs typeface="Calibri"/>
              <a:sym typeface="Calibri"/>
            </a:endParaRPr>
          </a:p>
        </p:txBody>
      </p:sp>
      <p:sp>
        <p:nvSpPr>
          <p:cNvPr id="679" name="Google Shape;679;p36">
            <a:extLst>
              <a:ext uri="{FF2B5EF4-FFF2-40B4-BE49-F238E27FC236}">
                <a16:creationId xmlns:a16="http://schemas.microsoft.com/office/drawing/2014/main" id="{F1C22585-B63C-59A4-26C6-CD019DC72E8D}"/>
              </a:ext>
            </a:extLst>
          </p:cNvPr>
          <p:cNvSpPr/>
          <p:nvPr/>
        </p:nvSpPr>
        <p:spPr>
          <a:xfrm>
            <a:off x="7355840" y="107283"/>
            <a:ext cx="1788160" cy="361506"/>
          </a:xfrm>
          <a:prstGeom prst="roundRect">
            <a:avLst>
              <a:gd name="adj" fmla="val 50000"/>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80" name="Google Shape;680;p36">
            <a:extLst>
              <a:ext uri="{FF2B5EF4-FFF2-40B4-BE49-F238E27FC236}">
                <a16:creationId xmlns:a16="http://schemas.microsoft.com/office/drawing/2014/main" id="{CC8D1297-E7E9-8EE5-5372-BBB7AEAEC606}"/>
              </a:ext>
            </a:extLst>
          </p:cNvPr>
          <p:cNvSpPr/>
          <p:nvPr/>
        </p:nvSpPr>
        <p:spPr>
          <a:xfrm>
            <a:off x="7608309" y="90377"/>
            <a:ext cx="1283221" cy="2880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E293B"/>
              </a:buClr>
              <a:buSzPts val="800"/>
              <a:buFont typeface="Calibri"/>
              <a:buNone/>
            </a:pPr>
            <a:r>
              <a:rPr lang="bg" sz="1600" b="1" i="0" u="none" strike="noStrike" cap="none" dirty="0">
                <a:solidFill>
                  <a:schemeClr val="bg1"/>
                </a:solidFill>
                <a:latin typeface="Calibri"/>
                <a:ea typeface="Calibri"/>
                <a:cs typeface="Calibri"/>
                <a:sym typeface="Calibri"/>
              </a:rPr>
              <a:t>СПЕЦИАЛИСТ</a:t>
            </a:r>
            <a:endParaRPr sz="1600" b="0" i="0" u="none" strike="noStrike" cap="none" dirty="0">
              <a:solidFill>
                <a:schemeClr val="bg1"/>
              </a:solidFill>
              <a:latin typeface="Calibri"/>
              <a:ea typeface="Calibri"/>
              <a:cs typeface="Calibri"/>
              <a:sym typeface="Calibri"/>
            </a:endParaRPr>
          </a:p>
        </p:txBody>
      </p:sp>
      <p:sp>
        <p:nvSpPr>
          <p:cNvPr id="3" name="Google Shape;683;p36">
            <a:extLst>
              <a:ext uri="{FF2B5EF4-FFF2-40B4-BE49-F238E27FC236}">
                <a16:creationId xmlns:a16="http://schemas.microsoft.com/office/drawing/2014/main" id="{4E1F708F-E60D-9610-3B8E-954DD50E6D96}"/>
              </a:ext>
            </a:extLst>
          </p:cNvPr>
          <p:cNvSpPr/>
          <p:nvPr/>
        </p:nvSpPr>
        <p:spPr>
          <a:xfrm>
            <a:off x="403860" y="107283"/>
            <a:ext cx="390144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000" b="1" dirty="0">
                <a:solidFill>
                  <a:srgbClr val="1E293B"/>
                </a:solidFill>
                <a:latin typeface="Cambria"/>
                <a:ea typeface="Cambria"/>
                <a:cs typeface="Calibri"/>
                <a:sym typeface="Cambria"/>
              </a:rPr>
              <a:t>Потребителски настройки</a:t>
            </a:r>
            <a:endParaRPr sz="2000" b="0" i="0" u="none" strike="noStrike" cap="none" dirty="0">
              <a:solidFill>
                <a:schemeClr val="dk1"/>
              </a:solidFill>
              <a:latin typeface="Calibri"/>
              <a:ea typeface="Calibri"/>
              <a:cs typeface="Calibri"/>
              <a:sym typeface="Calibri"/>
            </a:endParaRPr>
          </a:p>
        </p:txBody>
      </p:sp>
      <p:pic>
        <p:nvPicPr>
          <p:cNvPr id="6" name="Picture 5">
            <a:extLst>
              <a:ext uri="{FF2B5EF4-FFF2-40B4-BE49-F238E27FC236}">
                <a16:creationId xmlns:a16="http://schemas.microsoft.com/office/drawing/2014/main" id="{8C71E2DD-967F-344F-B806-E1881886F2C8}"/>
              </a:ext>
            </a:extLst>
          </p:cNvPr>
          <p:cNvPicPr>
            <a:picLocks noChangeAspect="1"/>
          </p:cNvPicPr>
          <p:nvPr/>
        </p:nvPicPr>
        <p:blipFill>
          <a:blip r:embed="rId3"/>
          <a:stretch>
            <a:fillRect/>
          </a:stretch>
        </p:blipFill>
        <p:spPr>
          <a:xfrm>
            <a:off x="672962" y="569188"/>
            <a:ext cx="3152278" cy="4294049"/>
          </a:xfrm>
          <a:prstGeom prst="rect">
            <a:avLst/>
          </a:prstGeom>
          <a:ln>
            <a:solidFill>
              <a:schemeClr val="bg1">
                <a:lumMod val="65000"/>
              </a:schemeClr>
            </a:solidFill>
          </a:ln>
        </p:spPr>
      </p:pic>
      <p:pic>
        <p:nvPicPr>
          <p:cNvPr id="8" name="Picture 7">
            <a:extLst>
              <a:ext uri="{FF2B5EF4-FFF2-40B4-BE49-F238E27FC236}">
                <a16:creationId xmlns:a16="http://schemas.microsoft.com/office/drawing/2014/main" id="{5DAB19DE-38BD-F61D-AB89-E5614483A371}"/>
              </a:ext>
            </a:extLst>
          </p:cNvPr>
          <p:cNvPicPr>
            <a:picLocks noChangeAspect="1"/>
          </p:cNvPicPr>
          <p:nvPr/>
        </p:nvPicPr>
        <p:blipFill>
          <a:blip r:embed="rId4"/>
          <a:stretch>
            <a:fillRect/>
          </a:stretch>
        </p:blipFill>
        <p:spPr>
          <a:xfrm>
            <a:off x="5092649" y="569187"/>
            <a:ext cx="3638861" cy="4294049"/>
          </a:xfrm>
          <a:prstGeom prst="rect">
            <a:avLst/>
          </a:prstGeom>
          <a:solidFill>
            <a:schemeClr val="tx2">
              <a:lumMod val="75000"/>
            </a:schemeClr>
          </a:solidFill>
          <a:ln>
            <a:solidFill>
              <a:schemeClr val="bg1">
                <a:lumMod val="65000"/>
              </a:schemeClr>
            </a:solidFill>
          </a:ln>
        </p:spPr>
      </p:pic>
    </p:spTree>
    <p:extLst>
      <p:ext uri="{BB962C8B-B14F-4D97-AF65-F5344CB8AC3E}">
        <p14:creationId xmlns:p14="http://schemas.microsoft.com/office/powerpoint/2010/main" val="30031060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a:extLst>
            <a:ext uri="{FF2B5EF4-FFF2-40B4-BE49-F238E27FC236}">
              <a16:creationId xmlns:a16="http://schemas.microsoft.com/office/drawing/2014/main" id="{646B9A9C-B9EF-6D1B-B996-972EEFB054DD}"/>
            </a:ext>
          </a:extLst>
        </p:cNvPr>
        <p:cNvGrpSpPr/>
        <p:nvPr/>
      </p:nvGrpSpPr>
      <p:grpSpPr>
        <a:xfrm>
          <a:off x="0" y="0"/>
          <a:ext cx="0" cy="0"/>
          <a:chOff x="0" y="0"/>
          <a:chExt cx="0" cy="0"/>
        </a:xfrm>
      </p:grpSpPr>
      <p:sp>
        <p:nvSpPr>
          <p:cNvPr id="2" name="Google Shape;679;p36">
            <a:extLst>
              <a:ext uri="{FF2B5EF4-FFF2-40B4-BE49-F238E27FC236}">
                <a16:creationId xmlns:a16="http://schemas.microsoft.com/office/drawing/2014/main" id="{15DFC9D5-D6F8-586A-8F4E-EE632935E4FC}"/>
              </a:ext>
            </a:extLst>
          </p:cNvPr>
          <p:cNvSpPr/>
          <p:nvPr/>
        </p:nvSpPr>
        <p:spPr>
          <a:xfrm>
            <a:off x="7355840" y="0"/>
            <a:ext cx="1788160" cy="288036"/>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6" name="Google Shape;676;p36">
            <a:extLst>
              <a:ext uri="{FF2B5EF4-FFF2-40B4-BE49-F238E27FC236}">
                <a16:creationId xmlns:a16="http://schemas.microsoft.com/office/drawing/2014/main" id="{8634F517-0D8D-F66B-7F2A-AEE44FFB9FD0}"/>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7" name="Google Shape;677;p36">
            <a:extLst>
              <a:ext uri="{FF2B5EF4-FFF2-40B4-BE49-F238E27FC236}">
                <a16:creationId xmlns:a16="http://schemas.microsoft.com/office/drawing/2014/main" id="{7CB128D7-3F04-C971-41F6-2B3353FEE26D}"/>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8" name="Google Shape;678;p36">
            <a:extLst>
              <a:ext uri="{FF2B5EF4-FFF2-40B4-BE49-F238E27FC236}">
                <a16:creationId xmlns:a16="http://schemas.microsoft.com/office/drawing/2014/main" id="{5757CE47-7679-2A61-FBCC-EEBCE2431294}"/>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ДЕМОНСТРАЦИЯ</a:t>
            </a:r>
            <a:endParaRPr sz="1100" b="0" i="0" u="none" strike="noStrike" cap="none" dirty="0">
              <a:solidFill>
                <a:schemeClr val="dk1"/>
              </a:solidFill>
              <a:latin typeface="Calibri"/>
              <a:ea typeface="Calibri"/>
              <a:cs typeface="Calibri"/>
              <a:sym typeface="Calibri"/>
            </a:endParaRPr>
          </a:p>
        </p:txBody>
      </p:sp>
      <p:sp>
        <p:nvSpPr>
          <p:cNvPr id="679" name="Google Shape;679;p36">
            <a:extLst>
              <a:ext uri="{FF2B5EF4-FFF2-40B4-BE49-F238E27FC236}">
                <a16:creationId xmlns:a16="http://schemas.microsoft.com/office/drawing/2014/main" id="{78E167D5-8610-7EB2-1263-0EDBEC243BBD}"/>
              </a:ext>
            </a:extLst>
          </p:cNvPr>
          <p:cNvSpPr/>
          <p:nvPr/>
        </p:nvSpPr>
        <p:spPr>
          <a:xfrm>
            <a:off x="7355840" y="107283"/>
            <a:ext cx="1788160" cy="361506"/>
          </a:xfrm>
          <a:prstGeom prst="roundRect">
            <a:avLst>
              <a:gd name="adj" fmla="val 50000"/>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80" name="Google Shape;680;p36">
            <a:extLst>
              <a:ext uri="{FF2B5EF4-FFF2-40B4-BE49-F238E27FC236}">
                <a16:creationId xmlns:a16="http://schemas.microsoft.com/office/drawing/2014/main" id="{66AB4984-C866-D646-A33A-705E4283A473}"/>
              </a:ext>
            </a:extLst>
          </p:cNvPr>
          <p:cNvSpPr/>
          <p:nvPr/>
        </p:nvSpPr>
        <p:spPr>
          <a:xfrm>
            <a:off x="7608309" y="90377"/>
            <a:ext cx="1283221" cy="2880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E293B"/>
              </a:buClr>
              <a:buSzPts val="800"/>
              <a:buFont typeface="Calibri"/>
              <a:buNone/>
            </a:pPr>
            <a:r>
              <a:rPr lang="bg" sz="1600" b="1" i="0" u="none" strike="noStrike" cap="none" dirty="0">
                <a:solidFill>
                  <a:schemeClr val="bg1"/>
                </a:solidFill>
                <a:latin typeface="Calibri"/>
                <a:ea typeface="Calibri"/>
                <a:cs typeface="Calibri"/>
                <a:sym typeface="Calibri"/>
              </a:rPr>
              <a:t>СПЕЦИАЛИСТ</a:t>
            </a:r>
            <a:endParaRPr sz="1600" b="0" i="0" u="none" strike="noStrike" cap="none" dirty="0">
              <a:solidFill>
                <a:schemeClr val="bg1"/>
              </a:solidFill>
              <a:latin typeface="Calibri"/>
              <a:ea typeface="Calibri"/>
              <a:cs typeface="Calibri"/>
              <a:sym typeface="Calibri"/>
            </a:endParaRPr>
          </a:p>
        </p:txBody>
      </p:sp>
      <p:sp>
        <p:nvSpPr>
          <p:cNvPr id="3" name="Google Shape;683;p36">
            <a:extLst>
              <a:ext uri="{FF2B5EF4-FFF2-40B4-BE49-F238E27FC236}">
                <a16:creationId xmlns:a16="http://schemas.microsoft.com/office/drawing/2014/main" id="{91A7075E-BF22-1EBC-F15B-6B27BBC1E70F}"/>
              </a:ext>
            </a:extLst>
          </p:cNvPr>
          <p:cNvSpPr/>
          <p:nvPr/>
        </p:nvSpPr>
        <p:spPr>
          <a:xfrm>
            <a:off x="403860" y="107283"/>
            <a:ext cx="390144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000" b="1" dirty="0">
                <a:solidFill>
                  <a:srgbClr val="1E293B"/>
                </a:solidFill>
                <a:latin typeface="Cambria"/>
                <a:ea typeface="Cambria"/>
                <a:cs typeface="Calibri"/>
                <a:sym typeface="Cambria"/>
              </a:rPr>
              <a:t>Професионални детайли</a:t>
            </a:r>
            <a:endParaRPr sz="2000" b="0" i="0" u="none" strike="noStrike" cap="none" dirty="0">
              <a:solidFill>
                <a:schemeClr val="dk1"/>
              </a:solidFill>
              <a:latin typeface="Calibri"/>
              <a:ea typeface="Calibri"/>
              <a:cs typeface="Calibri"/>
              <a:sym typeface="Calibri"/>
            </a:endParaRPr>
          </a:p>
        </p:txBody>
      </p:sp>
      <p:pic>
        <p:nvPicPr>
          <p:cNvPr id="10" name="Picture 9">
            <a:extLst>
              <a:ext uri="{FF2B5EF4-FFF2-40B4-BE49-F238E27FC236}">
                <a16:creationId xmlns:a16="http://schemas.microsoft.com/office/drawing/2014/main" id="{C8B8EAC9-23C5-0DAF-5AE4-7F487357F7FF}"/>
              </a:ext>
            </a:extLst>
          </p:cNvPr>
          <p:cNvPicPr>
            <a:picLocks noChangeAspect="1"/>
          </p:cNvPicPr>
          <p:nvPr/>
        </p:nvPicPr>
        <p:blipFill>
          <a:blip r:embed="rId3"/>
          <a:stretch>
            <a:fillRect/>
          </a:stretch>
        </p:blipFill>
        <p:spPr>
          <a:xfrm>
            <a:off x="6128397" y="851059"/>
            <a:ext cx="2768204" cy="3543300"/>
          </a:xfrm>
          <a:prstGeom prst="rect">
            <a:avLst/>
          </a:prstGeom>
          <a:ln>
            <a:solidFill>
              <a:schemeClr val="bg1">
                <a:lumMod val="65000"/>
              </a:schemeClr>
            </a:solidFill>
          </a:ln>
        </p:spPr>
      </p:pic>
      <p:pic>
        <p:nvPicPr>
          <p:cNvPr id="5" name="Picture 4">
            <a:extLst>
              <a:ext uri="{FF2B5EF4-FFF2-40B4-BE49-F238E27FC236}">
                <a16:creationId xmlns:a16="http://schemas.microsoft.com/office/drawing/2014/main" id="{0A3D0262-E9F0-3F51-F292-D0EF48E99A56}"/>
              </a:ext>
            </a:extLst>
          </p:cNvPr>
          <p:cNvPicPr>
            <a:picLocks noChangeAspect="1"/>
          </p:cNvPicPr>
          <p:nvPr/>
        </p:nvPicPr>
        <p:blipFill>
          <a:blip r:embed="rId4"/>
          <a:stretch>
            <a:fillRect/>
          </a:stretch>
        </p:blipFill>
        <p:spPr>
          <a:xfrm>
            <a:off x="403860" y="851059"/>
            <a:ext cx="2611742" cy="3730307"/>
          </a:xfrm>
          <a:prstGeom prst="rect">
            <a:avLst/>
          </a:prstGeom>
          <a:ln>
            <a:solidFill>
              <a:schemeClr val="bg1">
                <a:lumMod val="65000"/>
              </a:schemeClr>
            </a:solidFill>
          </a:ln>
        </p:spPr>
      </p:pic>
      <p:pic>
        <p:nvPicPr>
          <p:cNvPr id="9" name="Picture 8">
            <a:extLst>
              <a:ext uri="{FF2B5EF4-FFF2-40B4-BE49-F238E27FC236}">
                <a16:creationId xmlns:a16="http://schemas.microsoft.com/office/drawing/2014/main" id="{1269F8F4-D54A-CFC9-5468-3D597BB91D40}"/>
              </a:ext>
            </a:extLst>
          </p:cNvPr>
          <p:cNvPicPr>
            <a:picLocks noChangeAspect="1"/>
          </p:cNvPicPr>
          <p:nvPr/>
        </p:nvPicPr>
        <p:blipFill>
          <a:blip r:embed="rId5"/>
          <a:srcRect b="13423"/>
          <a:stretch/>
        </p:blipFill>
        <p:spPr>
          <a:xfrm>
            <a:off x="3120260" y="851059"/>
            <a:ext cx="2903479" cy="3339941"/>
          </a:xfrm>
          <a:prstGeom prst="rect">
            <a:avLst/>
          </a:prstGeom>
          <a:ln>
            <a:solidFill>
              <a:schemeClr val="bg1">
                <a:lumMod val="65000"/>
              </a:schemeClr>
            </a:solidFill>
          </a:ln>
        </p:spPr>
      </p:pic>
    </p:spTree>
    <p:extLst>
      <p:ext uri="{BB962C8B-B14F-4D97-AF65-F5344CB8AC3E}">
        <p14:creationId xmlns:p14="http://schemas.microsoft.com/office/powerpoint/2010/main" val="30904229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a:extLst>
            <a:ext uri="{FF2B5EF4-FFF2-40B4-BE49-F238E27FC236}">
              <a16:creationId xmlns:a16="http://schemas.microsoft.com/office/drawing/2014/main" id="{3BB7E296-7435-6A3D-FE1C-9BA21B9A252E}"/>
            </a:ext>
          </a:extLst>
        </p:cNvPr>
        <p:cNvGrpSpPr/>
        <p:nvPr/>
      </p:nvGrpSpPr>
      <p:grpSpPr>
        <a:xfrm>
          <a:off x="0" y="0"/>
          <a:ext cx="0" cy="0"/>
          <a:chOff x="0" y="0"/>
          <a:chExt cx="0" cy="0"/>
        </a:xfrm>
      </p:grpSpPr>
      <p:sp>
        <p:nvSpPr>
          <p:cNvPr id="2" name="Google Shape;679;p36">
            <a:extLst>
              <a:ext uri="{FF2B5EF4-FFF2-40B4-BE49-F238E27FC236}">
                <a16:creationId xmlns:a16="http://schemas.microsoft.com/office/drawing/2014/main" id="{80208DF8-E73E-47D4-A98E-A73723B4B6EA}"/>
              </a:ext>
            </a:extLst>
          </p:cNvPr>
          <p:cNvSpPr/>
          <p:nvPr/>
        </p:nvSpPr>
        <p:spPr>
          <a:xfrm>
            <a:off x="7355840" y="0"/>
            <a:ext cx="1788160" cy="288036"/>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6" name="Google Shape;676;p36">
            <a:extLst>
              <a:ext uri="{FF2B5EF4-FFF2-40B4-BE49-F238E27FC236}">
                <a16:creationId xmlns:a16="http://schemas.microsoft.com/office/drawing/2014/main" id="{F668A123-978F-B70F-9320-C479DFF8481C}"/>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7" name="Google Shape;677;p36">
            <a:extLst>
              <a:ext uri="{FF2B5EF4-FFF2-40B4-BE49-F238E27FC236}">
                <a16:creationId xmlns:a16="http://schemas.microsoft.com/office/drawing/2014/main" id="{0E64E827-F1CB-2508-9393-C7125D4AC505}"/>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8" name="Google Shape;678;p36">
            <a:extLst>
              <a:ext uri="{FF2B5EF4-FFF2-40B4-BE49-F238E27FC236}">
                <a16:creationId xmlns:a16="http://schemas.microsoft.com/office/drawing/2014/main" id="{02D4F801-3D7E-B914-4591-FB2A5DE4A7EB}"/>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ДЕМОНСТРАЦИЯ</a:t>
            </a:r>
            <a:endParaRPr sz="1100" b="0" i="0" u="none" strike="noStrike" cap="none" dirty="0">
              <a:solidFill>
                <a:schemeClr val="dk1"/>
              </a:solidFill>
              <a:latin typeface="Calibri"/>
              <a:ea typeface="Calibri"/>
              <a:cs typeface="Calibri"/>
              <a:sym typeface="Calibri"/>
            </a:endParaRPr>
          </a:p>
        </p:txBody>
      </p:sp>
      <p:sp>
        <p:nvSpPr>
          <p:cNvPr id="679" name="Google Shape;679;p36">
            <a:extLst>
              <a:ext uri="{FF2B5EF4-FFF2-40B4-BE49-F238E27FC236}">
                <a16:creationId xmlns:a16="http://schemas.microsoft.com/office/drawing/2014/main" id="{DA0CC06F-EC95-20AA-2152-D5437E70F1CB}"/>
              </a:ext>
            </a:extLst>
          </p:cNvPr>
          <p:cNvSpPr/>
          <p:nvPr/>
        </p:nvSpPr>
        <p:spPr>
          <a:xfrm>
            <a:off x="7355840" y="107283"/>
            <a:ext cx="1788160" cy="361506"/>
          </a:xfrm>
          <a:prstGeom prst="roundRect">
            <a:avLst>
              <a:gd name="adj" fmla="val 50000"/>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80" name="Google Shape;680;p36">
            <a:extLst>
              <a:ext uri="{FF2B5EF4-FFF2-40B4-BE49-F238E27FC236}">
                <a16:creationId xmlns:a16="http://schemas.microsoft.com/office/drawing/2014/main" id="{146F633B-78D8-8508-6B5C-4F6DF2876CDD}"/>
              </a:ext>
            </a:extLst>
          </p:cNvPr>
          <p:cNvSpPr/>
          <p:nvPr/>
        </p:nvSpPr>
        <p:spPr>
          <a:xfrm>
            <a:off x="7608309" y="90377"/>
            <a:ext cx="1283221" cy="2880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E293B"/>
              </a:buClr>
              <a:buSzPts val="800"/>
              <a:buFont typeface="Calibri"/>
              <a:buNone/>
            </a:pPr>
            <a:r>
              <a:rPr lang="bg" sz="1600" b="1" i="0" u="none" strike="noStrike" cap="none" dirty="0">
                <a:solidFill>
                  <a:schemeClr val="bg1"/>
                </a:solidFill>
                <a:latin typeface="Calibri"/>
                <a:ea typeface="Calibri"/>
                <a:cs typeface="Calibri"/>
                <a:sym typeface="Calibri"/>
              </a:rPr>
              <a:t>СПЕЦИАЛИСТ</a:t>
            </a:r>
            <a:endParaRPr sz="1600" b="0" i="0" u="none" strike="noStrike" cap="none" dirty="0">
              <a:solidFill>
                <a:schemeClr val="bg1"/>
              </a:solidFill>
              <a:latin typeface="Calibri"/>
              <a:ea typeface="Calibri"/>
              <a:cs typeface="Calibri"/>
              <a:sym typeface="Calibri"/>
            </a:endParaRPr>
          </a:p>
        </p:txBody>
      </p:sp>
      <p:sp>
        <p:nvSpPr>
          <p:cNvPr id="3" name="Google Shape;683;p36">
            <a:extLst>
              <a:ext uri="{FF2B5EF4-FFF2-40B4-BE49-F238E27FC236}">
                <a16:creationId xmlns:a16="http://schemas.microsoft.com/office/drawing/2014/main" id="{9F0CF095-4198-8C70-91E2-86A0F65498E3}"/>
              </a:ext>
            </a:extLst>
          </p:cNvPr>
          <p:cNvSpPr/>
          <p:nvPr/>
        </p:nvSpPr>
        <p:spPr>
          <a:xfrm>
            <a:off x="403860" y="107283"/>
            <a:ext cx="390144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000" b="1" dirty="0">
                <a:solidFill>
                  <a:srgbClr val="1E293B"/>
                </a:solidFill>
                <a:latin typeface="Cambria"/>
                <a:ea typeface="Cambria"/>
                <a:cs typeface="Calibri"/>
                <a:sym typeface="Cambria"/>
              </a:rPr>
              <a:t>Резюме</a:t>
            </a:r>
            <a:endParaRPr sz="2000" b="0" i="0" u="none" strike="noStrike" cap="none" dirty="0">
              <a:solidFill>
                <a:schemeClr val="dk1"/>
              </a:solidFill>
              <a:latin typeface="Calibri"/>
              <a:ea typeface="Calibri"/>
              <a:cs typeface="Calibri"/>
              <a:sym typeface="Calibri"/>
            </a:endParaRPr>
          </a:p>
        </p:txBody>
      </p:sp>
      <p:pic>
        <p:nvPicPr>
          <p:cNvPr id="5" name="Picture 4">
            <a:extLst>
              <a:ext uri="{FF2B5EF4-FFF2-40B4-BE49-F238E27FC236}">
                <a16:creationId xmlns:a16="http://schemas.microsoft.com/office/drawing/2014/main" id="{DCFAD425-8D91-2625-3A9E-8148F193DF03}"/>
              </a:ext>
            </a:extLst>
          </p:cNvPr>
          <p:cNvPicPr>
            <a:picLocks noChangeAspect="1"/>
          </p:cNvPicPr>
          <p:nvPr/>
        </p:nvPicPr>
        <p:blipFill>
          <a:blip r:embed="rId3"/>
          <a:stretch>
            <a:fillRect/>
          </a:stretch>
        </p:blipFill>
        <p:spPr>
          <a:xfrm>
            <a:off x="667951" y="576072"/>
            <a:ext cx="3373258" cy="3413760"/>
          </a:xfrm>
          <a:prstGeom prst="rect">
            <a:avLst/>
          </a:prstGeom>
          <a:ln>
            <a:solidFill>
              <a:schemeClr val="bg1">
                <a:lumMod val="65000"/>
              </a:schemeClr>
            </a:solidFill>
          </a:ln>
        </p:spPr>
      </p:pic>
      <p:pic>
        <p:nvPicPr>
          <p:cNvPr id="10" name="Picture 9">
            <a:extLst>
              <a:ext uri="{FF2B5EF4-FFF2-40B4-BE49-F238E27FC236}">
                <a16:creationId xmlns:a16="http://schemas.microsoft.com/office/drawing/2014/main" id="{B3320075-860E-46AA-97A7-87049B62C74B}"/>
              </a:ext>
            </a:extLst>
          </p:cNvPr>
          <p:cNvPicPr>
            <a:picLocks noChangeAspect="1"/>
          </p:cNvPicPr>
          <p:nvPr/>
        </p:nvPicPr>
        <p:blipFill>
          <a:blip r:embed="rId4"/>
          <a:stretch>
            <a:fillRect/>
          </a:stretch>
        </p:blipFill>
        <p:spPr>
          <a:xfrm>
            <a:off x="4305300" y="576072"/>
            <a:ext cx="4377353" cy="4134167"/>
          </a:xfrm>
          <a:prstGeom prst="rect">
            <a:avLst/>
          </a:prstGeom>
          <a:ln>
            <a:solidFill>
              <a:schemeClr val="bg1">
                <a:lumMod val="65000"/>
              </a:schemeClr>
            </a:solidFill>
          </a:ln>
        </p:spPr>
      </p:pic>
    </p:spTree>
    <p:extLst>
      <p:ext uri="{BB962C8B-B14F-4D97-AF65-F5344CB8AC3E}">
        <p14:creationId xmlns:p14="http://schemas.microsoft.com/office/powerpoint/2010/main" val="21743874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a:extLst>
            <a:ext uri="{FF2B5EF4-FFF2-40B4-BE49-F238E27FC236}">
              <a16:creationId xmlns:a16="http://schemas.microsoft.com/office/drawing/2014/main" id="{D937DD77-DF65-AFCB-EB61-474AFE5CFE73}"/>
            </a:ext>
          </a:extLst>
        </p:cNvPr>
        <p:cNvGrpSpPr/>
        <p:nvPr/>
      </p:nvGrpSpPr>
      <p:grpSpPr>
        <a:xfrm>
          <a:off x="0" y="0"/>
          <a:ext cx="0" cy="0"/>
          <a:chOff x="0" y="0"/>
          <a:chExt cx="0" cy="0"/>
        </a:xfrm>
      </p:grpSpPr>
      <p:sp>
        <p:nvSpPr>
          <p:cNvPr id="676" name="Google Shape;676;p36">
            <a:extLst>
              <a:ext uri="{FF2B5EF4-FFF2-40B4-BE49-F238E27FC236}">
                <a16:creationId xmlns:a16="http://schemas.microsoft.com/office/drawing/2014/main" id="{D1E11769-F677-3F5F-657B-1726B0FB0E6E}"/>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7" name="Google Shape;677;p36">
            <a:extLst>
              <a:ext uri="{FF2B5EF4-FFF2-40B4-BE49-F238E27FC236}">
                <a16:creationId xmlns:a16="http://schemas.microsoft.com/office/drawing/2014/main" id="{369EE1C4-9A68-FF3C-563F-C6D9AFFA0C2E}"/>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8" name="Google Shape;678;p36">
            <a:extLst>
              <a:ext uri="{FF2B5EF4-FFF2-40B4-BE49-F238E27FC236}">
                <a16:creationId xmlns:a16="http://schemas.microsoft.com/office/drawing/2014/main" id="{24C5C82C-3615-C43E-9D92-7C1061EF4149}"/>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ДЕМОНСТРАЦИЯ</a:t>
            </a:r>
            <a:endParaRPr sz="1100" b="0" i="0" u="none" strike="noStrike" cap="none" dirty="0">
              <a:solidFill>
                <a:schemeClr val="dk1"/>
              </a:solidFill>
              <a:latin typeface="Calibri"/>
              <a:ea typeface="Calibri"/>
              <a:cs typeface="Calibri"/>
              <a:sym typeface="Calibri"/>
            </a:endParaRPr>
          </a:p>
        </p:txBody>
      </p:sp>
      <p:sp>
        <p:nvSpPr>
          <p:cNvPr id="683" name="Google Shape;683;p36">
            <a:extLst>
              <a:ext uri="{FF2B5EF4-FFF2-40B4-BE49-F238E27FC236}">
                <a16:creationId xmlns:a16="http://schemas.microsoft.com/office/drawing/2014/main" id="{A1361CAD-035B-AF34-F234-D9E94B375FA2}"/>
              </a:ext>
            </a:extLst>
          </p:cNvPr>
          <p:cNvSpPr/>
          <p:nvPr/>
        </p:nvSpPr>
        <p:spPr>
          <a:xfrm>
            <a:off x="342900" y="90377"/>
            <a:ext cx="313182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000" b="1" dirty="0">
                <a:solidFill>
                  <a:srgbClr val="1E293B"/>
                </a:solidFill>
                <a:latin typeface="Cambria"/>
                <a:ea typeface="Cambria"/>
                <a:cs typeface="Calibri"/>
                <a:sym typeface="Cambria"/>
              </a:rPr>
              <a:t>Комуникационни канали</a:t>
            </a:r>
            <a:endParaRPr sz="2000" b="0" i="0" u="none" strike="noStrike" cap="none" dirty="0">
              <a:solidFill>
                <a:schemeClr val="dk1"/>
              </a:solidFill>
              <a:latin typeface="Calibri"/>
              <a:ea typeface="Calibri"/>
              <a:cs typeface="Calibri"/>
              <a:sym typeface="Calibri"/>
            </a:endParaRPr>
          </a:p>
        </p:txBody>
      </p:sp>
      <p:pic>
        <p:nvPicPr>
          <p:cNvPr id="5" name="Picture 4">
            <a:extLst>
              <a:ext uri="{FF2B5EF4-FFF2-40B4-BE49-F238E27FC236}">
                <a16:creationId xmlns:a16="http://schemas.microsoft.com/office/drawing/2014/main" id="{485D5C42-F53F-A612-AC10-2FD6682494A9}"/>
              </a:ext>
            </a:extLst>
          </p:cNvPr>
          <p:cNvPicPr>
            <a:picLocks noChangeAspect="1"/>
          </p:cNvPicPr>
          <p:nvPr/>
        </p:nvPicPr>
        <p:blipFill>
          <a:blip r:embed="rId3"/>
          <a:srcRect r="2156"/>
          <a:stretch/>
        </p:blipFill>
        <p:spPr>
          <a:xfrm>
            <a:off x="1283971" y="1257254"/>
            <a:ext cx="3131820" cy="3229426"/>
          </a:xfrm>
          <a:prstGeom prst="rect">
            <a:avLst/>
          </a:prstGeom>
          <a:ln>
            <a:solidFill>
              <a:schemeClr val="bg1">
                <a:lumMod val="65000"/>
              </a:schemeClr>
            </a:solidFill>
          </a:ln>
        </p:spPr>
      </p:pic>
      <p:pic>
        <p:nvPicPr>
          <p:cNvPr id="8" name="Picture 7">
            <a:extLst>
              <a:ext uri="{FF2B5EF4-FFF2-40B4-BE49-F238E27FC236}">
                <a16:creationId xmlns:a16="http://schemas.microsoft.com/office/drawing/2014/main" id="{341A04B9-214A-0D93-0D70-E36ACEC788E5}"/>
              </a:ext>
            </a:extLst>
          </p:cNvPr>
          <p:cNvPicPr>
            <a:picLocks noChangeAspect="1"/>
          </p:cNvPicPr>
          <p:nvPr/>
        </p:nvPicPr>
        <p:blipFill>
          <a:blip r:embed="rId4"/>
          <a:stretch>
            <a:fillRect/>
          </a:stretch>
        </p:blipFill>
        <p:spPr>
          <a:xfrm>
            <a:off x="4728211" y="156914"/>
            <a:ext cx="4076700" cy="4829672"/>
          </a:xfrm>
          <a:prstGeom prst="rect">
            <a:avLst/>
          </a:prstGeom>
          <a:ln>
            <a:solidFill>
              <a:schemeClr val="bg1">
                <a:lumMod val="65000"/>
              </a:schemeClr>
            </a:solidFill>
          </a:ln>
        </p:spPr>
      </p:pic>
    </p:spTree>
    <p:extLst>
      <p:ext uri="{BB962C8B-B14F-4D97-AF65-F5344CB8AC3E}">
        <p14:creationId xmlns:p14="http://schemas.microsoft.com/office/powerpoint/2010/main" val="29041286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a:extLst>
            <a:ext uri="{FF2B5EF4-FFF2-40B4-BE49-F238E27FC236}">
              <a16:creationId xmlns:a16="http://schemas.microsoft.com/office/drawing/2014/main" id="{50CF28A0-A3D8-AEF7-B2C9-28AE154C213B}"/>
            </a:ext>
          </a:extLst>
        </p:cNvPr>
        <p:cNvGrpSpPr/>
        <p:nvPr/>
      </p:nvGrpSpPr>
      <p:grpSpPr>
        <a:xfrm>
          <a:off x="0" y="0"/>
          <a:ext cx="0" cy="0"/>
          <a:chOff x="0" y="0"/>
          <a:chExt cx="0" cy="0"/>
        </a:xfrm>
      </p:grpSpPr>
      <p:sp>
        <p:nvSpPr>
          <p:cNvPr id="2" name="Google Shape;679;p36">
            <a:extLst>
              <a:ext uri="{FF2B5EF4-FFF2-40B4-BE49-F238E27FC236}">
                <a16:creationId xmlns:a16="http://schemas.microsoft.com/office/drawing/2014/main" id="{3AADF4AE-8ABC-B3CD-0DDE-D43C0F4C392D}"/>
              </a:ext>
            </a:extLst>
          </p:cNvPr>
          <p:cNvSpPr/>
          <p:nvPr/>
        </p:nvSpPr>
        <p:spPr>
          <a:xfrm>
            <a:off x="7355840" y="0"/>
            <a:ext cx="1788160" cy="288036"/>
          </a:xfrm>
          <a:prstGeom prst="rect">
            <a:avLst/>
          </a:prstGeom>
          <a:solidFill>
            <a:schemeClr val="tx2">
              <a:lumMod val="75000"/>
            </a:schemeClr>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6" name="Google Shape;676;p36">
            <a:extLst>
              <a:ext uri="{FF2B5EF4-FFF2-40B4-BE49-F238E27FC236}">
                <a16:creationId xmlns:a16="http://schemas.microsoft.com/office/drawing/2014/main" id="{274D46AD-B90B-3262-A53F-529AFD898690}"/>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7" name="Google Shape;677;p36">
            <a:extLst>
              <a:ext uri="{FF2B5EF4-FFF2-40B4-BE49-F238E27FC236}">
                <a16:creationId xmlns:a16="http://schemas.microsoft.com/office/drawing/2014/main" id="{6C3160AC-E895-4545-D9A4-80E450A38148}"/>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8" name="Google Shape;678;p36">
            <a:extLst>
              <a:ext uri="{FF2B5EF4-FFF2-40B4-BE49-F238E27FC236}">
                <a16:creationId xmlns:a16="http://schemas.microsoft.com/office/drawing/2014/main" id="{9764FF7B-577C-A11F-0F56-BEC9C3D73905}"/>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ДЕМОНСТРАЦИЯ</a:t>
            </a:r>
            <a:endParaRPr sz="1100" b="0" i="0" u="none" strike="noStrike" cap="none" dirty="0">
              <a:solidFill>
                <a:schemeClr val="dk1"/>
              </a:solidFill>
              <a:latin typeface="Calibri"/>
              <a:ea typeface="Calibri"/>
              <a:cs typeface="Calibri"/>
              <a:sym typeface="Calibri"/>
            </a:endParaRPr>
          </a:p>
        </p:txBody>
      </p:sp>
      <p:sp>
        <p:nvSpPr>
          <p:cNvPr id="679" name="Google Shape;679;p36">
            <a:extLst>
              <a:ext uri="{FF2B5EF4-FFF2-40B4-BE49-F238E27FC236}">
                <a16:creationId xmlns:a16="http://schemas.microsoft.com/office/drawing/2014/main" id="{AD07ED26-E9EF-3A3B-7580-AFEE56BA3114}"/>
              </a:ext>
            </a:extLst>
          </p:cNvPr>
          <p:cNvSpPr/>
          <p:nvPr/>
        </p:nvSpPr>
        <p:spPr>
          <a:xfrm>
            <a:off x="7355840" y="107283"/>
            <a:ext cx="1788160" cy="361506"/>
          </a:xfrm>
          <a:prstGeom prst="roundRect">
            <a:avLst>
              <a:gd name="adj" fmla="val 50000"/>
            </a:avLst>
          </a:prstGeom>
          <a:solidFill>
            <a:schemeClr val="tx2">
              <a:lumMod val="75000"/>
            </a:schemeClr>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80" name="Google Shape;680;p36">
            <a:extLst>
              <a:ext uri="{FF2B5EF4-FFF2-40B4-BE49-F238E27FC236}">
                <a16:creationId xmlns:a16="http://schemas.microsoft.com/office/drawing/2014/main" id="{97DA88A2-480A-68B6-9B29-FD268F9E92D9}"/>
              </a:ext>
            </a:extLst>
          </p:cNvPr>
          <p:cNvSpPr/>
          <p:nvPr/>
        </p:nvSpPr>
        <p:spPr>
          <a:xfrm>
            <a:off x="7423655" y="90377"/>
            <a:ext cx="1652530" cy="2880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E293B"/>
              </a:buClr>
              <a:buSzPts val="800"/>
              <a:buFont typeface="Calibri"/>
              <a:buNone/>
            </a:pPr>
            <a:r>
              <a:rPr lang="bg" sz="1600" b="1" i="0" u="none" strike="noStrike" cap="none" dirty="0">
                <a:solidFill>
                  <a:srgbClr val="1E293B"/>
                </a:solidFill>
                <a:latin typeface="Calibri"/>
                <a:ea typeface="Calibri"/>
                <a:cs typeface="Calibri"/>
                <a:sym typeface="Calibri"/>
              </a:rPr>
              <a:t>АДМИНИСТРАТОР</a:t>
            </a:r>
            <a:endParaRPr sz="1600" b="0" i="0" u="none" strike="noStrike" cap="none" dirty="0">
              <a:solidFill>
                <a:srgbClr val="1E293B"/>
              </a:solidFill>
              <a:latin typeface="Calibri"/>
              <a:ea typeface="Calibri"/>
              <a:cs typeface="Calibri"/>
              <a:sym typeface="Calibri"/>
            </a:endParaRPr>
          </a:p>
        </p:txBody>
      </p:sp>
      <p:sp>
        <p:nvSpPr>
          <p:cNvPr id="3" name="Google Shape;683;p36">
            <a:extLst>
              <a:ext uri="{FF2B5EF4-FFF2-40B4-BE49-F238E27FC236}">
                <a16:creationId xmlns:a16="http://schemas.microsoft.com/office/drawing/2014/main" id="{366FB5E5-AC8A-273B-7761-9A969444D82E}"/>
              </a:ext>
            </a:extLst>
          </p:cNvPr>
          <p:cNvSpPr/>
          <p:nvPr/>
        </p:nvSpPr>
        <p:spPr>
          <a:xfrm>
            <a:off x="342900" y="90377"/>
            <a:ext cx="313182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000" b="1" dirty="0">
                <a:solidFill>
                  <a:srgbClr val="1E293B"/>
                </a:solidFill>
                <a:latin typeface="Cambria"/>
                <a:ea typeface="Cambria"/>
                <a:cs typeface="Calibri"/>
                <a:sym typeface="Cambria"/>
              </a:rPr>
              <a:t>Административно табло</a:t>
            </a:r>
            <a:endParaRPr sz="2000" b="0" i="0" u="none" strike="noStrike" cap="none" dirty="0">
              <a:solidFill>
                <a:schemeClr val="dk1"/>
              </a:solidFill>
              <a:latin typeface="Calibri"/>
              <a:ea typeface="Calibri"/>
              <a:cs typeface="Calibri"/>
              <a:sym typeface="Calibri"/>
            </a:endParaRPr>
          </a:p>
        </p:txBody>
      </p:sp>
      <p:pic>
        <p:nvPicPr>
          <p:cNvPr id="5" name="Picture 4">
            <a:extLst>
              <a:ext uri="{FF2B5EF4-FFF2-40B4-BE49-F238E27FC236}">
                <a16:creationId xmlns:a16="http://schemas.microsoft.com/office/drawing/2014/main" id="{01177133-7B45-F253-9132-EFAFCD7701B7}"/>
              </a:ext>
            </a:extLst>
          </p:cNvPr>
          <p:cNvPicPr>
            <a:picLocks noChangeAspect="1"/>
          </p:cNvPicPr>
          <p:nvPr/>
        </p:nvPicPr>
        <p:blipFill>
          <a:blip r:embed="rId3"/>
          <a:stretch>
            <a:fillRect/>
          </a:stretch>
        </p:blipFill>
        <p:spPr>
          <a:xfrm>
            <a:off x="922601" y="635775"/>
            <a:ext cx="7406059" cy="4417348"/>
          </a:xfrm>
          <a:prstGeom prst="rect">
            <a:avLst/>
          </a:prstGeom>
          <a:ln>
            <a:solidFill>
              <a:schemeClr val="bg1">
                <a:lumMod val="65000"/>
              </a:schemeClr>
            </a:solidFill>
          </a:ln>
        </p:spPr>
      </p:pic>
    </p:spTree>
    <p:extLst>
      <p:ext uri="{BB962C8B-B14F-4D97-AF65-F5344CB8AC3E}">
        <p14:creationId xmlns:p14="http://schemas.microsoft.com/office/powerpoint/2010/main" val="26275994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a:extLst>
            <a:ext uri="{FF2B5EF4-FFF2-40B4-BE49-F238E27FC236}">
              <a16:creationId xmlns:a16="http://schemas.microsoft.com/office/drawing/2014/main" id="{B0F9D81B-E410-79EA-D28A-7034710817D4}"/>
            </a:ext>
          </a:extLst>
        </p:cNvPr>
        <p:cNvGrpSpPr/>
        <p:nvPr/>
      </p:nvGrpSpPr>
      <p:grpSpPr>
        <a:xfrm>
          <a:off x="0" y="0"/>
          <a:ext cx="0" cy="0"/>
          <a:chOff x="0" y="0"/>
          <a:chExt cx="0" cy="0"/>
        </a:xfrm>
      </p:grpSpPr>
      <p:sp>
        <p:nvSpPr>
          <p:cNvPr id="2" name="Google Shape;679;p36">
            <a:extLst>
              <a:ext uri="{FF2B5EF4-FFF2-40B4-BE49-F238E27FC236}">
                <a16:creationId xmlns:a16="http://schemas.microsoft.com/office/drawing/2014/main" id="{E5CC6CDA-8A42-4F50-C41B-BD71DF455586}"/>
              </a:ext>
            </a:extLst>
          </p:cNvPr>
          <p:cNvSpPr/>
          <p:nvPr/>
        </p:nvSpPr>
        <p:spPr>
          <a:xfrm>
            <a:off x="7355840" y="0"/>
            <a:ext cx="1788160" cy="288036"/>
          </a:xfrm>
          <a:prstGeom prst="rect">
            <a:avLst/>
          </a:prstGeom>
          <a:solidFill>
            <a:schemeClr val="tx2">
              <a:lumMod val="75000"/>
            </a:schemeClr>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6" name="Google Shape;676;p36">
            <a:extLst>
              <a:ext uri="{FF2B5EF4-FFF2-40B4-BE49-F238E27FC236}">
                <a16:creationId xmlns:a16="http://schemas.microsoft.com/office/drawing/2014/main" id="{3C5956DC-1C70-774D-CF04-682C5AE5596C}"/>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7" name="Google Shape;677;p36">
            <a:extLst>
              <a:ext uri="{FF2B5EF4-FFF2-40B4-BE49-F238E27FC236}">
                <a16:creationId xmlns:a16="http://schemas.microsoft.com/office/drawing/2014/main" id="{A90DF2C7-A286-E7F5-2153-073AE0FEEEF5}"/>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8" name="Google Shape;678;p36">
            <a:extLst>
              <a:ext uri="{FF2B5EF4-FFF2-40B4-BE49-F238E27FC236}">
                <a16:creationId xmlns:a16="http://schemas.microsoft.com/office/drawing/2014/main" id="{485DE8B4-B9C6-24CD-0480-0384832F387A}"/>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ДЕМОНСТРАЦИЯ</a:t>
            </a:r>
            <a:endParaRPr sz="1100" b="0" i="0" u="none" strike="noStrike" cap="none" dirty="0">
              <a:solidFill>
                <a:schemeClr val="dk1"/>
              </a:solidFill>
              <a:latin typeface="Calibri"/>
              <a:ea typeface="Calibri"/>
              <a:cs typeface="Calibri"/>
              <a:sym typeface="Calibri"/>
            </a:endParaRPr>
          </a:p>
        </p:txBody>
      </p:sp>
      <p:sp>
        <p:nvSpPr>
          <p:cNvPr id="679" name="Google Shape;679;p36">
            <a:extLst>
              <a:ext uri="{FF2B5EF4-FFF2-40B4-BE49-F238E27FC236}">
                <a16:creationId xmlns:a16="http://schemas.microsoft.com/office/drawing/2014/main" id="{A6B8C992-C3FF-8DE8-9077-092D48E2A1BD}"/>
              </a:ext>
            </a:extLst>
          </p:cNvPr>
          <p:cNvSpPr/>
          <p:nvPr/>
        </p:nvSpPr>
        <p:spPr>
          <a:xfrm>
            <a:off x="7355840" y="107283"/>
            <a:ext cx="1788160" cy="361506"/>
          </a:xfrm>
          <a:prstGeom prst="roundRect">
            <a:avLst>
              <a:gd name="adj" fmla="val 50000"/>
            </a:avLst>
          </a:prstGeom>
          <a:solidFill>
            <a:schemeClr val="tx2">
              <a:lumMod val="75000"/>
            </a:schemeClr>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80" name="Google Shape;680;p36">
            <a:extLst>
              <a:ext uri="{FF2B5EF4-FFF2-40B4-BE49-F238E27FC236}">
                <a16:creationId xmlns:a16="http://schemas.microsoft.com/office/drawing/2014/main" id="{E6A79417-53EA-2FA6-C5B1-A2A744BAA511}"/>
              </a:ext>
            </a:extLst>
          </p:cNvPr>
          <p:cNvSpPr/>
          <p:nvPr/>
        </p:nvSpPr>
        <p:spPr>
          <a:xfrm>
            <a:off x="7423655" y="90377"/>
            <a:ext cx="1652530" cy="2880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E293B"/>
              </a:buClr>
              <a:buSzPts val="800"/>
              <a:buFont typeface="Calibri"/>
              <a:buNone/>
            </a:pPr>
            <a:r>
              <a:rPr lang="bg" sz="1600" b="1" i="0" u="none" strike="noStrike" cap="none" dirty="0">
                <a:solidFill>
                  <a:srgbClr val="1E293B"/>
                </a:solidFill>
                <a:latin typeface="Calibri"/>
                <a:ea typeface="Calibri"/>
                <a:cs typeface="Calibri"/>
                <a:sym typeface="Calibri"/>
              </a:rPr>
              <a:t>АДМИНИСТРАТОР</a:t>
            </a:r>
            <a:endParaRPr sz="1600" b="0" i="0" u="none" strike="noStrike" cap="none" dirty="0">
              <a:solidFill>
                <a:srgbClr val="1E293B"/>
              </a:solidFill>
              <a:latin typeface="Calibri"/>
              <a:ea typeface="Calibri"/>
              <a:cs typeface="Calibri"/>
              <a:sym typeface="Calibri"/>
            </a:endParaRPr>
          </a:p>
        </p:txBody>
      </p:sp>
      <p:sp>
        <p:nvSpPr>
          <p:cNvPr id="3" name="Google Shape;683;p36">
            <a:extLst>
              <a:ext uri="{FF2B5EF4-FFF2-40B4-BE49-F238E27FC236}">
                <a16:creationId xmlns:a16="http://schemas.microsoft.com/office/drawing/2014/main" id="{F96816F9-4780-3C48-198E-0E44E993762B}"/>
              </a:ext>
            </a:extLst>
          </p:cNvPr>
          <p:cNvSpPr/>
          <p:nvPr/>
        </p:nvSpPr>
        <p:spPr>
          <a:xfrm>
            <a:off x="342900" y="90377"/>
            <a:ext cx="388620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000" b="1" dirty="0">
                <a:solidFill>
                  <a:srgbClr val="1E293B"/>
                </a:solidFill>
                <a:latin typeface="Cambria"/>
                <a:ea typeface="Cambria"/>
                <a:cs typeface="Calibri"/>
                <a:sym typeface="Cambria"/>
              </a:rPr>
              <a:t>Управление на потребители</a:t>
            </a:r>
            <a:endParaRPr sz="2000" b="0" i="0" u="none" strike="noStrike" cap="none" dirty="0">
              <a:solidFill>
                <a:schemeClr val="dk1"/>
              </a:solidFill>
              <a:latin typeface="Calibri"/>
              <a:ea typeface="Calibri"/>
              <a:cs typeface="Calibri"/>
              <a:sym typeface="Calibri"/>
            </a:endParaRPr>
          </a:p>
        </p:txBody>
      </p:sp>
      <p:pic>
        <p:nvPicPr>
          <p:cNvPr id="6" name="Picture 5">
            <a:extLst>
              <a:ext uri="{FF2B5EF4-FFF2-40B4-BE49-F238E27FC236}">
                <a16:creationId xmlns:a16="http://schemas.microsoft.com/office/drawing/2014/main" id="{51D5D122-8E45-D55B-3D44-981EB49C2933}"/>
              </a:ext>
            </a:extLst>
          </p:cNvPr>
          <p:cNvPicPr>
            <a:picLocks noChangeAspect="1"/>
          </p:cNvPicPr>
          <p:nvPr/>
        </p:nvPicPr>
        <p:blipFill>
          <a:blip r:embed="rId3"/>
          <a:stretch>
            <a:fillRect/>
          </a:stretch>
        </p:blipFill>
        <p:spPr>
          <a:xfrm>
            <a:off x="400384" y="515573"/>
            <a:ext cx="5655214" cy="3840480"/>
          </a:xfrm>
          <a:prstGeom prst="rect">
            <a:avLst/>
          </a:prstGeom>
          <a:ln>
            <a:solidFill>
              <a:schemeClr val="bg1">
                <a:lumMod val="65000"/>
              </a:schemeClr>
            </a:solidFill>
          </a:ln>
        </p:spPr>
      </p:pic>
      <p:pic>
        <p:nvPicPr>
          <p:cNvPr id="8" name="Picture 7">
            <a:extLst>
              <a:ext uri="{FF2B5EF4-FFF2-40B4-BE49-F238E27FC236}">
                <a16:creationId xmlns:a16="http://schemas.microsoft.com/office/drawing/2014/main" id="{1CD4DB37-9149-8042-1E65-7DADA390412F}"/>
              </a:ext>
            </a:extLst>
          </p:cNvPr>
          <p:cNvPicPr>
            <a:picLocks noChangeAspect="1"/>
          </p:cNvPicPr>
          <p:nvPr/>
        </p:nvPicPr>
        <p:blipFill>
          <a:blip r:embed="rId4"/>
          <a:stretch>
            <a:fillRect/>
          </a:stretch>
        </p:blipFill>
        <p:spPr>
          <a:xfrm>
            <a:off x="6223113" y="504143"/>
            <a:ext cx="2028971" cy="2665777"/>
          </a:xfrm>
          <a:prstGeom prst="rect">
            <a:avLst/>
          </a:prstGeom>
          <a:ln>
            <a:solidFill>
              <a:schemeClr val="bg1">
                <a:lumMod val="65000"/>
              </a:schemeClr>
            </a:solidFill>
          </a:ln>
        </p:spPr>
      </p:pic>
      <p:pic>
        <p:nvPicPr>
          <p:cNvPr id="12" name="Picture 11">
            <a:extLst>
              <a:ext uri="{FF2B5EF4-FFF2-40B4-BE49-F238E27FC236}">
                <a16:creationId xmlns:a16="http://schemas.microsoft.com/office/drawing/2014/main" id="{58F07C6F-C985-95CC-E3A2-D993E3D0C954}"/>
              </a:ext>
            </a:extLst>
          </p:cNvPr>
          <p:cNvPicPr>
            <a:picLocks noChangeAspect="1"/>
          </p:cNvPicPr>
          <p:nvPr/>
        </p:nvPicPr>
        <p:blipFill>
          <a:blip r:embed="rId5"/>
          <a:stretch>
            <a:fillRect/>
          </a:stretch>
        </p:blipFill>
        <p:spPr>
          <a:xfrm>
            <a:off x="6223113" y="3257550"/>
            <a:ext cx="2331429" cy="1535430"/>
          </a:xfrm>
          <a:prstGeom prst="rect">
            <a:avLst/>
          </a:prstGeom>
          <a:ln>
            <a:solidFill>
              <a:schemeClr val="bg1">
                <a:lumMod val="65000"/>
              </a:schemeClr>
            </a:solidFill>
          </a:ln>
        </p:spPr>
      </p:pic>
    </p:spTree>
    <p:extLst>
      <p:ext uri="{BB962C8B-B14F-4D97-AF65-F5344CB8AC3E}">
        <p14:creationId xmlns:p14="http://schemas.microsoft.com/office/powerpoint/2010/main" val="18365202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a:extLst>
            <a:ext uri="{FF2B5EF4-FFF2-40B4-BE49-F238E27FC236}">
              <a16:creationId xmlns:a16="http://schemas.microsoft.com/office/drawing/2014/main" id="{2A1971D3-CBFC-13D4-9A13-B344527AF72B}"/>
            </a:ext>
          </a:extLst>
        </p:cNvPr>
        <p:cNvGrpSpPr/>
        <p:nvPr/>
      </p:nvGrpSpPr>
      <p:grpSpPr>
        <a:xfrm>
          <a:off x="0" y="0"/>
          <a:ext cx="0" cy="0"/>
          <a:chOff x="0" y="0"/>
          <a:chExt cx="0" cy="0"/>
        </a:xfrm>
      </p:grpSpPr>
      <p:sp>
        <p:nvSpPr>
          <p:cNvPr id="2" name="Google Shape;679;p36">
            <a:extLst>
              <a:ext uri="{FF2B5EF4-FFF2-40B4-BE49-F238E27FC236}">
                <a16:creationId xmlns:a16="http://schemas.microsoft.com/office/drawing/2014/main" id="{EE0C1986-1B4E-CF39-E972-AEE973DFE0EF}"/>
              </a:ext>
            </a:extLst>
          </p:cNvPr>
          <p:cNvSpPr/>
          <p:nvPr/>
        </p:nvSpPr>
        <p:spPr>
          <a:xfrm>
            <a:off x="7355840" y="0"/>
            <a:ext cx="1788160" cy="288036"/>
          </a:xfrm>
          <a:prstGeom prst="rect">
            <a:avLst/>
          </a:prstGeom>
          <a:solidFill>
            <a:schemeClr val="tx2">
              <a:lumMod val="75000"/>
            </a:schemeClr>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6" name="Google Shape;676;p36">
            <a:extLst>
              <a:ext uri="{FF2B5EF4-FFF2-40B4-BE49-F238E27FC236}">
                <a16:creationId xmlns:a16="http://schemas.microsoft.com/office/drawing/2014/main" id="{5CF81D59-4232-B032-BC9E-8E16E169E192}"/>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7" name="Google Shape;677;p36">
            <a:extLst>
              <a:ext uri="{FF2B5EF4-FFF2-40B4-BE49-F238E27FC236}">
                <a16:creationId xmlns:a16="http://schemas.microsoft.com/office/drawing/2014/main" id="{FEF33D3C-1A20-0C2D-E102-4267A0F84507}"/>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8" name="Google Shape;678;p36">
            <a:extLst>
              <a:ext uri="{FF2B5EF4-FFF2-40B4-BE49-F238E27FC236}">
                <a16:creationId xmlns:a16="http://schemas.microsoft.com/office/drawing/2014/main" id="{2334D81C-21DD-D296-6159-3B690F802A6C}"/>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ДЕМОНСТРАЦИЯ</a:t>
            </a:r>
            <a:endParaRPr sz="1100" b="0" i="0" u="none" strike="noStrike" cap="none" dirty="0">
              <a:solidFill>
                <a:schemeClr val="dk1"/>
              </a:solidFill>
              <a:latin typeface="Calibri"/>
              <a:ea typeface="Calibri"/>
              <a:cs typeface="Calibri"/>
              <a:sym typeface="Calibri"/>
            </a:endParaRPr>
          </a:p>
        </p:txBody>
      </p:sp>
      <p:sp>
        <p:nvSpPr>
          <p:cNvPr id="679" name="Google Shape;679;p36">
            <a:extLst>
              <a:ext uri="{FF2B5EF4-FFF2-40B4-BE49-F238E27FC236}">
                <a16:creationId xmlns:a16="http://schemas.microsoft.com/office/drawing/2014/main" id="{F72ABC8E-EF1A-9996-A200-31114C2A9273}"/>
              </a:ext>
            </a:extLst>
          </p:cNvPr>
          <p:cNvSpPr/>
          <p:nvPr/>
        </p:nvSpPr>
        <p:spPr>
          <a:xfrm>
            <a:off x="7355840" y="107283"/>
            <a:ext cx="1788160" cy="361506"/>
          </a:xfrm>
          <a:prstGeom prst="roundRect">
            <a:avLst>
              <a:gd name="adj" fmla="val 50000"/>
            </a:avLst>
          </a:prstGeom>
          <a:solidFill>
            <a:schemeClr val="tx2">
              <a:lumMod val="75000"/>
            </a:schemeClr>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80" name="Google Shape;680;p36">
            <a:extLst>
              <a:ext uri="{FF2B5EF4-FFF2-40B4-BE49-F238E27FC236}">
                <a16:creationId xmlns:a16="http://schemas.microsoft.com/office/drawing/2014/main" id="{7EC2B02F-1F4D-AD9D-3F1D-20FC14AF397F}"/>
              </a:ext>
            </a:extLst>
          </p:cNvPr>
          <p:cNvSpPr/>
          <p:nvPr/>
        </p:nvSpPr>
        <p:spPr>
          <a:xfrm>
            <a:off x="7423655" y="90377"/>
            <a:ext cx="1652530" cy="2880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E293B"/>
              </a:buClr>
              <a:buSzPts val="800"/>
              <a:buFont typeface="Calibri"/>
              <a:buNone/>
            </a:pPr>
            <a:r>
              <a:rPr lang="bg" sz="1600" b="1" i="0" u="none" strike="noStrike" cap="none" dirty="0">
                <a:solidFill>
                  <a:srgbClr val="1E293B"/>
                </a:solidFill>
                <a:latin typeface="Calibri"/>
                <a:ea typeface="Calibri"/>
                <a:cs typeface="Calibri"/>
                <a:sym typeface="Calibri"/>
              </a:rPr>
              <a:t>АДМИНИСТРАТОР</a:t>
            </a:r>
            <a:endParaRPr sz="1600" b="0" i="0" u="none" strike="noStrike" cap="none" dirty="0">
              <a:solidFill>
                <a:srgbClr val="1E293B"/>
              </a:solidFill>
              <a:latin typeface="Calibri"/>
              <a:ea typeface="Calibri"/>
              <a:cs typeface="Calibri"/>
              <a:sym typeface="Calibri"/>
            </a:endParaRPr>
          </a:p>
        </p:txBody>
      </p:sp>
      <p:sp>
        <p:nvSpPr>
          <p:cNvPr id="3" name="Google Shape;683;p36">
            <a:extLst>
              <a:ext uri="{FF2B5EF4-FFF2-40B4-BE49-F238E27FC236}">
                <a16:creationId xmlns:a16="http://schemas.microsoft.com/office/drawing/2014/main" id="{2CECE485-CBE8-C710-6BC3-AAD99C526C45}"/>
              </a:ext>
            </a:extLst>
          </p:cNvPr>
          <p:cNvSpPr/>
          <p:nvPr/>
        </p:nvSpPr>
        <p:spPr>
          <a:xfrm>
            <a:off x="342900" y="90377"/>
            <a:ext cx="388620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000" b="1" dirty="0">
                <a:solidFill>
                  <a:srgbClr val="1E293B"/>
                </a:solidFill>
                <a:latin typeface="Cambria"/>
                <a:ea typeface="Cambria"/>
                <a:cs typeface="Calibri"/>
                <a:sym typeface="Cambria"/>
              </a:rPr>
              <a:t>Управление на обяви</a:t>
            </a:r>
            <a:endParaRPr sz="2000" b="0" i="0" u="none" strike="noStrike" cap="none" dirty="0">
              <a:solidFill>
                <a:schemeClr val="dk1"/>
              </a:solidFill>
              <a:latin typeface="Calibri"/>
              <a:ea typeface="Calibri"/>
              <a:cs typeface="Calibri"/>
              <a:sym typeface="Calibri"/>
            </a:endParaRPr>
          </a:p>
        </p:txBody>
      </p:sp>
      <p:pic>
        <p:nvPicPr>
          <p:cNvPr id="9" name="Picture 8">
            <a:extLst>
              <a:ext uri="{FF2B5EF4-FFF2-40B4-BE49-F238E27FC236}">
                <a16:creationId xmlns:a16="http://schemas.microsoft.com/office/drawing/2014/main" id="{619B8A7D-5675-AF1B-0EBA-B6ED5BD1D2C8}"/>
              </a:ext>
            </a:extLst>
          </p:cNvPr>
          <p:cNvPicPr>
            <a:picLocks noChangeAspect="1"/>
          </p:cNvPicPr>
          <p:nvPr/>
        </p:nvPicPr>
        <p:blipFill>
          <a:blip r:embed="rId3"/>
          <a:stretch>
            <a:fillRect/>
          </a:stretch>
        </p:blipFill>
        <p:spPr>
          <a:xfrm>
            <a:off x="433387" y="942293"/>
            <a:ext cx="4806675" cy="3367018"/>
          </a:xfrm>
          <a:prstGeom prst="rect">
            <a:avLst/>
          </a:prstGeom>
          <a:ln>
            <a:solidFill>
              <a:schemeClr val="bg1">
                <a:lumMod val="65000"/>
              </a:schemeClr>
            </a:solidFill>
          </a:ln>
        </p:spPr>
      </p:pic>
      <p:pic>
        <p:nvPicPr>
          <p:cNvPr id="11" name="Picture 10">
            <a:extLst>
              <a:ext uri="{FF2B5EF4-FFF2-40B4-BE49-F238E27FC236}">
                <a16:creationId xmlns:a16="http://schemas.microsoft.com/office/drawing/2014/main" id="{3BDCF0C3-AA7C-329D-5C21-55BB7287326E}"/>
              </a:ext>
            </a:extLst>
          </p:cNvPr>
          <p:cNvPicPr>
            <a:picLocks noChangeAspect="1"/>
          </p:cNvPicPr>
          <p:nvPr/>
        </p:nvPicPr>
        <p:blipFill>
          <a:blip r:embed="rId4"/>
          <a:stretch>
            <a:fillRect/>
          </a:stretch>
        </p:blipFill>
        <p:spPr>
          <a:xfrm>
            <a:off x="5330550" y="942293"/>
            <a:ext cx="3745635" cy="3531108"/>
          </a:xfrm>
          <a:prstGeom prst="rect">
            <a:avLst/>
          </a:prstGeom>
          <a:ln>
            <a:solidFill>
              <a:schemeClr val="bg1">
                <a:lumMod val="65000"/>
              </a:schemeClr>
            </a:solidFill>
          </a:ln>
        </p:spPr>
      </p:pic>
    </p:spTree>
    <p:extLst>
      <p:ext uri="{BB962C8B-B14F-4D97-AF65-F5344CB8AC3E}">
        <p14:creationId xmlns:p14="http://schemas.microsoft.com/office/powerpoint/2010/main" val="25914841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a:extLst>
            <a:ext uri="{FF2B5EF4-FFF2-40B4-BE49-F238E27FC236}">
              <a16:creationId xmlns:a16="http://schemas.microsoft.com/office/drawing/2014/main" id="{6BAA3BBE-1A4B-22B3-7FCA-95484A219DA8}"/>
            </a:ext>
          </a:extLst>
        </p:cNvPr>
        <p:cNvGrpSpPr/>
        <p:nvPr/>
      </p:nvGrpSpPr>
      <p:grpSpPr>
        <a:xfrm>
          <a:off x="0" y="0"/>
          <a:ext cx="0" cy="0"/>
          <a:chOff x="0" y="0"/>
          <a:chExt cx="0" cy="0"/>
        </a:xfrm>
      </p:grpSpPr>
      <p:sp>
        <p:nvSpPr>
          <p:cNvPr id="2" name="Google Shape;679;p36">
            <a:extLst>
              <a:ext uri="{FF2B5EF4-FFF2-40B4-BE49-F238E27FC236}">
                <a16:creationId xmlns:a16="http://schemas.microsoft.com/office/drawing/2014/main" id="{9DC050E7-ECCE-DC4D-2729-03107B4E0E6F}"/>
              </a:ext>
            </a:extLst>
          </p:cNvPr>
          <p:cNvSpPr/>
          <p:nvPr/>
        </p:nvSpPr>
        <p:spPr>
          <a:xfrm>
            <a:off x="7355840" y="0"/>
            <a:ext cx="1788160" cy="288036"/>
          </a:xfrm>
          <a:prstGeom prst="rect">
            <a:avLst/>
          </a:prstGeom>
          <a:solidFill>
            <a:schemeClr val="tx2">
              <a:lumMod val="75000"/>
            </a:schemeClr>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6" name="Google Shape;676;p36">
            <a:extLst>
              <a:ext uri="{FF2B5EF4-FFF2-40B4-BE49-F238E27FC236}">
                <a16:creationId xmlns:a16="http://schemas.microsoft.com/office/drawing/2014/main" id="{A840E19F-8867-C2EC-1C2A-C30C07E4768D}"/>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7" name="Google Shape;677;p36">
            <a:extLst>
              <a:ext uri="{FF2B5EF4-FFF2-40B4-BE49-F238E27FC236}">
                <a16:creationId xmlns:a16="http://schemas.microsoft.com/office/drawing/2014/main" id="{97455F59-5457-6517-56D0-DFB16472B497}"/>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8" name="Google Shape;678;p36">
            <a:extLst>
              <a:ext uri="{FF2B5EF4-FFF2-40B4-BE49-F238E27FC236}">
                <a16:creationId xmlns:a16="http://schemas.microsoft.com/office/drawing/2014/main" id="{E1CFFD6B-B582-98E7-FF89-9B0CA71A6833}"/>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ДЕМОНСТРАЦИЯ</a:t>
            </a:r>
            <a:endParaRPr sz="1100" b="0" i="0" u="none" strike="noStrike" cap="none" dirty="0">
              <a:solidFill>
                <a:schemeClr val="dk1"/>
              </a:solidFill>
              <a:latin typeface="Calibri"/>
              <a:ea typeface="Calibri"/>
              <a:cs typeface="Calibri"/>
              <a:sym typeface="Calibri"/>
            </a:endParaRPr>
          </a:p>
        </p:txBody>
      </p:sp>
      <p:sp>
        <p:nvSpPr>
          <p:cNvPr id="679" name="Google Shape;679;p36">
            <a:extLst>
              <a:ext uri="{FF2B5EF4-FFF2-40B4-BE49-F238E27FC236}">
                <a16:creationId xmlns:a16="http://schemas.microsoft.com/office/drawing/2014/main" id="{5BAB57B6-DDD0-A82F-9557-31FB52CAC80A}"/>
              </a:ext>
            </a:extLst>
          </p:cNvPr>
          <p:cNvSpPr/>
          <p:nvPr/>
        </p:nvSpPr>
        <p:spPr>
          <a:xfrm>
            <a:off x="7355840" y="107283"/>
            <a:ext cx="1788160" cy="361506"/>
          </a:xfrm>
          <a:prstGeom prst="roundRect">
            <a:avLst>
              <a:gd name="adj" fmla="val 50000"/>
            </a:avLst>
          </a:prstGeom>
          <a:solidFill>
            <a:schemeClr val="tx2">
              <a:lumMod val="75000"/>
            </a:schemeClr>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80" name="Google Shape;680;p36">
            <a:extLst>
              <a:ext uri="{FF2B5EF4-FFF2-40B4-BE49-F238E27FC236}">
                <a16:creationId xmlns:a16="http://schemas.microsoft.com/office/drawing/2014/main" id="{1E4942BF-0DE4-2D7C-2FF7-94F6195C098D}"/>
              </a:ext>
            </a:extLst>
          </p:cNvPr>
          <p:cNvSpPr/>
          <p:nvPr/>
        </p:nvSpPr>
        <p:spPr>
          <a:xfrm>
            <a:off x="7423655" y="90377"/>
            <a:ext cx="1652530" cy="2880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E293B"/>
              </a:buClr>
              <a:buSzPts val="800"/>
              <a:buFont typeface="Calibri"/>
              <a:buNone/>
            </a:pPr>
            <a:r>
              <a:rPr lang="bg" sz="1600" b="1" i="0" u="none" strike="noStrike" cap="none" dirty="0">
                <a:solidFill>
                  <a:srgbClr val="1E293B"/>
                </a:solidFill>
                <a:latin typeface="Calibri"/>
                <a:ea typeface="Calibri"/>
                <a:cs typeface="Calibri"/>
                <a:sym typeface="Calibri"/>
              </a:rPr>
              <a:t>АДМИНИСТРАТОР</a:t>
            </a:r>
            <a:endParaRPr sz="1600" b="0" i="0" u="none" strike="noStrike" cap="none" dirty="0">
              <a:solidFill>
                <a:srgbClr val="1E293B"/>
              </a:solidFill>
              <a:latin typeface="Calibri"/>
              <a:ea typeface="Calibri"/>
              <a:cs typeface="Calibri"/>
              <a:sym typeface="Calibri"/>
            </a:endParaRPr>
          </a:p>
        </p:txBody>
      </p:sp>
      <p:sp>
        <p:nvSpPr>
          <p:cNvPr id="3" name="Google Shape;683;p36">
            <a:extLst>
              <a:ext uri="{FF2B5EF4-FFF2-40B4-BE49-F238E27FC236}">
                <a16:creationId xmlns:a16="http://schemas.microsoft.com/office/drawing/2014/main" id="{E1B2C4E6-F43E-F5FC-51B4-90314EC7EA38}"/>
              </a:ext>
            </a:extLst>
          </p:cNvPr>
          <p:cNvSpPr/>
          <p:nvPr/>
        </p:nvSpPr>
        <p:spPr>
          <a:xfrm>
            <a:off x="342900" y="90377"/>
            <a:ext cx="388620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000" b="1" dirty="0">
                <a:solidFill>
                  <a:srgbClr val="1E293B"/>
                </a:solidFill>
                <a:latin typeface="Cambria"/>
                <a:ea typeface="Cambria"/>
                <a:cs typeface="Calibri"/>
                <a:sym typeface="Cambria"/>
              </a:rPr>
              <a:t>Управление на доклади</a:t>
            </a:r>
            <a:endParaRPr sz="2000" b="0" i="0" u="none" strike="noStrike" cap="none" dirty="0">
              <a:solidFill>
                <a:schemeClr val="dk1"/>
              </a:solidFill>
              <a:latin typeface="Calibri"/>
              <a:ea typeface="Calibri"/>
              <a:cs typeface="Calibri"/>
              <a:sym typeface="Calibri"/>
            </a:endParaRPr>
          </a:p>
        </p:txBody>
      </p:sp>
      <p:pic>
        <p:nvPicPr>
          <p:cNvPr id="5" name="Picture 4">
            <a:extLst>
              <a:ext uri="{FF2B5EF4-FFF2-40B4-BE49-F238E27FC236}">
                <a16:creationId xmlns:a16="http://schemas.microsoft.com/office/drawing/2014/main" id="{BBC3CBEE-1C59-6032-722B-8EB9C7A751C5}"/>
              </a:ext>
            </a:extLst>
          </p:cNvPr>
          <p:cNvPicPr>
            <a:picLocks noChangeAspect="1"/>
          </p:cNvPicPr>
          <p:nvPr/>
        </p:nvPicPr>
        <p:blipFill>
          <a:blip r:embed="rId3"/>
          <a:stretch>
            <a:fillRect/>
          </a:stretch>
        </p:blipFill>
        <p:spPr>
          <a:xfrm>
            <a:off x="4959111" y="754063"/>
            <a:ext cx="4047344" cy="3558857"/>
          </a:xfrm>
          <a:prstGeom prst="rect">
            <a:avLst/>
          </a:prstGeom>
          <a:ln>
            <a:solidFill>
              <a:schemeClr val="bg1">
                <a:lumMod val="65000"/>
              </a:schemeClr>
            </a:solidFill>
          </a:ln>
        </p:spPr>
      </p:pic>
      <p:pic>
        <p:nvPicPr>
          <p:cNvPr id="7" name="Picture 6">
            <a:extLst>
              <a:ext uri="{FF2B5EF4-FFF2-40B4-BE49-F238E27FC236}">
                <a16:creationId xmlns:a16="http://schemas.microsoft.com/office/drawing/2014/main" id="{DC43CF5F-0C4C-7A4C-9885-3C62C5CC25E1}"/>
              </a:ext>
            </a:extLst>
          </p:cNvPr>
          <p:cNvPicPr>
            <a:picLocks noChangeAspect="1"/>
          </p:cNvPicPr>
          <p:nvPr/>
        </p:nvPicPr>
        <p:blipFill>
          <a:blip r:embed="rId4"/>
          <a:stretch>
            <a:fillRect/>
          </a:stretch>
        </p:blipFill>
        <p:spPr>
          <a:xfrm>
            <a:off x="444620" y="754063"/>
            <a:ext cx="4412771" cy="4241290"/>
          </a:xfrm>
          <a:prstGeom prst="rect">
            <a:avLst/>
          </a:prstGeom>
          <a:ln>
            <a:solidFill>
              <a:schemeClr val="bg1">
                <a:lumMod val="65000"/>
              </a:schemeClr>
            </a:solidFill>
          </a:ln>
        </p:spPr>
      </p:pic>
    </p:spTree>
    <p:extLst>
      <p:ext uri="{BB962C8B-B14F-4D97-AF65-F5344CB8AC3E}">
        <p14:creationId xmlns:p14="http://schemas.microsoft.com/office/powerpoint/2010/main" val="42663967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a:extLst>
            <a:ext uri="{FF2B5EF4-FFF2-40B4-BE49-F238E27FC236}">
              <a16:creationId xmlns:a16="http://schemas.microsoft.com/office/drawing/2014/main" id="{25DC5294-6250-CDE0-F3BE-E096EAFA5988}"/>
            </a:ext>
          </a:extLst>
        </p:cNvPr>
        <p:cNvGrpSpPr/>
        <p:nvPr/>
      </p:nvGrpSpPr>
      <p:grpSpPr>
        <a:xfrm>
          <a:off x="0" y="0"/>
          <a:ext cx="0" cy="0"/>
          <a:chOff x="0" y="0"/>
          <a:chExt cx="0" cy="0"/>
        </a:xfrm>
      </p:grpSpPr>
      <p:sp>
        <p:nvSpPr>
          <p:cNvPr id="2" name="Google Shape;679;p36">
            <a:extLst>
              <a:ext uri="{FF2B5EF4-FFF2-40B4-BE49-F238E27FC236}">
                <a16:creationId xmlns:a16="http://schemas.microsoft.com/office/drawing/2014/main" id="{716BB615-A163-87E7-1A73-33AD16DF1905}"/>
              </a:ext>
            </a:extLst>
          </p:cNvPr>
          <p:cNvSpPr/>
          <p:nvPr/>
        </p:nvSpPr>
        <p:spPr>
          <a:xfrm>
            <a:off x="7355840" y="0"/>
            <a:ext cx="1788160" cy="288036"/>
          </a:xfrm>
          <a:prstGeom prst="rect">
            <a:avLst/>
          </a:prstGeom>
          <a:solidFill>
            <a:schemeClr val="tx2">
              <a:lumMod val="75000"/>
            </a:schemeClr>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6" name="Google Shape;676;p36">
            <a:extLst>
              <a:ext uri="{FF2B5EF4-FFF2-40B4-BE49-F238E27FC236}">
                <a16:creationId xmlns:a16="http://schemas.microsoft.com/office/drawing/2014/main" id="{5DF2073F-A480-4B6D-51D0-0AFAF5944EE8}"/>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7" name="Google Shape;677;p36">
            <a:extLst>
              <a:ext uri="{FF2B5EF4-FFF2-40B4-BE49-F238E27FC236}">
                <a16:creationId xmlns:a16="http://schemas.microsoft.com/office/drawing/2014/main" id="{9BB20BDA-A576-6C03-2B12-655498A095C5}"/>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8" name="Google Shape;678;p36">
            <a:extLst>
              <a:ext uri="{FF2B5EF4-FFF2-40B4-BE49-F238E27FC236}">
                <a16:creationId xmlns:a16="http://schemas.microsoft.com/office/drawing/2014/main" id="{30D4228D-B7DF-EDEB-B09B-9F079D5FADE2}"/>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ДЕМОНСТРАЦИЯ</a:t>
            </a:r>
            <a:endParaRPr sz="1100" b="0" i="0" u="none" strike="noStrike" cap="none" dirty="0">
              <a:solidFill>
                <a:schemeClr val="dk1"/>
              </a:solidFill>
              <a:latin typeface="Calibri"/>
              <a:ea typeface="Calibri"/>
              <a:cs typeface="Calibri"/>
              <a:sym typeface="Calibri"/>
            </a:endParaRPr>
          </a:p>
        </p:txBody>
      </p:sp>
      <p:sp>
        <p:nvSpPr>
          <p:cNvPr id="679" name="Google Shape;679;p36">
            <a:extLst>
              <a:ext uri="{FF2B5EF4-FFF2-40B4-BE49-F238E27FC236}">
                <a16:creationId xmlns:a16="http://schemas.microsoft.com/office/drawing/2014/main" id="{7931C3E9-E410-5CC6-421B-9CF80950EDB1}"/>
              </a:ext>
            </a:extLst>
          </p:cNvPr>
          <p:cNvSpPr/>
          <p:nvPr/>
        </p:nvSpPr>
        <p:spPr>
          <a:xfrm>
            <a:off x="7355840" y="107283"/>
            <a:ext cx="1788160" cy="361506"/>
          </a:xfrm>
          <a:prstGeom prst="roundRect">
            <a:avLst>
              <a:gd name="adj" fmla="val 50000"/>
            </a:avLst>
          </a:prstGeom>
          <a:solidFill>
            <a:schemeClr val="tx2">
              <a:lumMod val="75000"/>
            </a:schemeClr>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80" name="Google Shape;680;p36">
            <a:extLst>
              <a:ext uri="{FF2B5EF4-FFF2-40B4-BE49-F238E27FC236}">
                <a16:creationId xmlns:a16="http://schemas.microsoft.com/office/drawing/2014/main" id="{875CBD14-55C8-A9AE-8673-FE468A803A97}"/>
              </a:ext>
            </a:extLst>
          </p:cNvPr>
          <p:cNvSpPr/>
          <p:nvPr/>
        </p:nvSpPr>
        <p:spPr>
          <a:xfrm>
            <a:off x="7423655" y="90377"/>
            <a:ext cx="1652530" cy="2880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E293B"/>
              </a:buClr>
              <a:buSzPts val="800"/>
              <a:buFont typeface="Calibri"/>
              <a:buNone/>
            </a:pPr>
            <a:r>
              <a:rPr lang="bg" sz="1600" b="1" i="0" u="none" strike="noStrike" cap="none" dirty="0">
                <a:solidFill>
                  <a:srgbClr val="1E293B"/>
                </a:solidFill>
                <a:latin typeface="Calibri"/>
                <a:ea typeface="Calibri"/>
                <a:cs typeface="Calibri"/>
                <a:sym typeface="Calibri"/>
              </a:rPr>
              <a:t>АДМИНИСТРАТОР</a:t>
            </a:r>
            <a:endParaRPr sz="1600" b="0" i="0" u="none" strike="noStrike" cap="none" dirty="0">
              <a:solidFill>
                <a:srgbClr val="1E293B"/>
              </a:solidFill>
              <a:latin typeface="Calibri"/>
              <a:ea typeface="Calibri"/>
              <a:cs typeface="Calibri"/>
              <a:sym typeface="Calibri"/>
            </a:endParaRPr>
          </a:p>
        </p:txBody>
      </p:sp>
      <p:sp>
        <p:nvSpPr>
          <p:cNvPr id="3" name="Google Shape;683;p36">
            <a:extLst>
              <a:ext uri="{FF2B5EF4-FFF2-40B4-BE49-F238E27FC236}">
                <a16:creationId xmlns:a16="http://schemas.microsoft.com/office/drawing/2014/main" id="{6EDC281A-3DF4-3F00-DF4D-12B3E8389248}"/>
              </a:ext>
            </a:extLst>
          </p:cNvPr>
          <p:cNvSpPr/>
          <p:nvPr/>
        </p:nvSpPr>
        <p:spPr>
          <a:xfrm>
            <a:off x="342900" y="90377"/>
            <a:ext cx="489204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000" b="1" dirty="0">
                <a:solidFill>
                  <a:srgbClr val="1E293B"/>
                </a:solidFill>
                <a:latin typeface="Cambria"/>
                <a:ea typeface="Cambria"/>
                <a:cs typeface="Calibri"/>
                <a:sym typeface="Cambria"/>
              </a:rPr>
              <a:t>Управление на системен каталог</a:t>
            </a:r>
            <a:endParaRPr sz="2000" b="0" i="0" u="none" strike="noStrike" cap="none" dirty="0">
              <a:solidFill>
                <a:schemeClr val="dk1"/>
              </a:solidFill>
              <a:latin typeface="Calibri"/>
              <a:ea typeface="Calibri"/>
              <a:cs typeface="Calibri"/>
              <a:sym typeface="Calibri"/>
            </a:endParaRPr>
          </a:p>
        </p:txBody>
      </p:sp>
      <p:pic>
        <p:nvPicPr>
          <p:cNvPr id="9" name="Picture 8">
            <a:extLst>
              <a:ext uri="{FF2B5EF4-FFF2-40B4-BE49-F238E27FC236}">
                <a16:creationId xmlns:a16="http://schemas.microsoft.com/office/drawing/2014/main" id="{25D0A0EF-ED9F-31CB-AA83-B6B6B445A6CE}"/>
              </a:ext>
            </a:extLst>
          </p:cNvPr>
          <p:cNvPicPr>
            <a:picLocks noChangeAspect="1"/>
          </p:cNvPicPr>
          <p:nvPr/>
        </p:nvPicPr>
        <p:blipFill>
          <a:blip r:embed="rId3"/>
          <a:srcRect b="11556"/>
          <a:stretch/>
        </p:blipFill>
        <p:spPr>
          <a:xfrm>
            <a:off x="835344" y="622855"/>
            <a:ext cx="3146610" cy="4395074"/>
          </a:xfrm>
          <a:prstGeom prst="rect">
            <a:avLst/>
          </a:prstGeom>
          <a:ln>
            <a:solidFill>
              <a:schemeClr val="bg1">
                <a:lumMod val="65000"/>
              </a:schemeClr>
            </a:solidFill>
          </a:ln>
        </p:spPr>
      </p:pic>
      <p:pic>
        <p:nvPicPr>
          <p:cNvPr id="11" name="Picture 10">
            <a:extLst>
              <a:ext uri="{FF2B5EF4-FFF2-40B4-BE49-F238E27FC236}">
                <a16:creationId xmlns:a16="http://schemas.microsoft.com/office/drawing/2014/main" id="{EE8DD86D-50DC-20E6-3CDC-4B7259F5F004}"/>
              </a:ext>
            </a:extLst>
          </p:cNvPr>
          <p:cNvPicPr>
            <a:picLocks noChangeAspect="1"/>
          </p:cNvPicPr>
          <p:nvPr/>
        </p:nvPicPr>
        <p:blipFill>
          <a:blip r:embed="rId4"/>
          <a:srcRect b="11556"/>
          <a:stretch/>
        </p:blipFill>
        <p:spPr>
          <a:xfrm>
            <a:off x="4357241" y="622855"/>
            <a:ext cx="3448088" cy="4395073"/>
          </a:xfrm>
          <a:prstGeom prst="rect">
            <a:avLst/>
          </a:prstGeom>
          <a:ln>
            <a:solidFill>
              <a:schemeClr val="bg1">
                <a:lumMod val="65000"/>
              </a:schemeClr>
            </a:solidFill>
          </a:ln>
        </p:spPr>
      </p:pic>
    </p:spTree>
    <p:extLst>
      <p:ext uri="{BB962C8B-B14F-4D97-AF65-F5344CB8AC3E}">
        <p14:creationId xmlns:p14="http://schemas.microsoft.com/office/powerpoint/2010/main" val="13863920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a:extLst>
            <a:ext uri="{FF2B5EF4-FFF2-40B4-BE49-F238E27FC236}">
              <a16:creationId xmlns:a16="http://schemas.microsoft.com/office/drawing/2014/main" id="{263DB633-CDA5-A05D-99B5-2CF5FCFFB841}"/>
            </a:ext>
          </a:extLst>
        </p:cNvPr>
        <p:cNvGrpSpPr/>
        <p:nvPr/>
      </p:nvGrpSpPr>
      <p:grpSpPr>
        <a:xfrm>
          <a:off x="0" y="0"/>
          <a:ext cx="0" cy="0"/>
          <a:chOff x="0" y="0"/>
          <a:chExt cx="0" cy="0"/>
        </a:xfrm>
      </p:grpSpPr>
      <p:sp>
        <p:nvSpPr>
          <p:cNvPr id="2" name="Google Shape;679;p36">
            <a:extLst>
              <a:ext uri="{FF2B5EF4-FFF2-40B4-BE49-F238E27FC236}">
                <a16:creationId xmlns:a16="http://schemas.microsoft.com/office/drawing/2014/main" id="{10596ABC-AF43-6DC0-E85A-FB9FFDAF1F30}"/>
              </a:ext>
            </a:extLst>
          </p:cNvPr>
          <p:cNvSpPr/>
          <p:nvPr/>
        </p:nvSpPr>
        <p:spPr>
          <a:xfrm>
            <a:off x="7355840" y="0"/>
            <a:ext cx="1788160" cy="288036"/>
          </a:xfrm>
          <a:prstGeom prst="rect">
            <a:avLst/>
          </a:prstGeom>
          <a:solidFill>
            <a:schemeClr val="tx2">
              <a:lumMod val="75000"/>
            </a:schemeClr>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6" name="Google Shape;676;p36">
            <a:extLst>
              <a:ext uri="{FF2B5EF4-FFF2-40B4-BE49-F238E27FC236}">
                <a16:creationId xmlns:a16="http://schemas.microsoft.com/office/drawing/2014/main" id="{E214F303-B304-4034-3783-CCE389F328B2}"/>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7" name="Google Shape;677;p36">
            <a:extLst>
              <a:ext uri="{FF2B5EF4-FFF2-40B4-BE49-F238E27FC236}">
                <a16:creationId xmlns:a16="http://schemas.microsoft.com/office/drawing/2014/main" id="{1C913EBC-4D77-B628-BD8D-985D74D42B1E}"/>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8" name="Google Shape;678;p36">
            <a:extLst>
              <a:ext uri="{FF2B5EF4-FFF2-40B4-BE49-F238E27FC236}">
                <a16:creationId xmlns:a16="http://schemas.microsoft.com/office/drawing/2014/main" id="{663BFA09-5B8D-811B-5ABF-8E5691508574}"/>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ДЕМОНСТРАЦИЯ</a:t>
            </a:r>
            <a:endParaRPr sz="1100" b="0" i="0" u="none" strike="noStrike" cap="none" dirty="0">
              <a:solidFill>
                <a:schemeClr val="dk1"/>
              </a:solidFill>
              <a:latin typeface="Calibri"/>
              <a:ea typeface="Calibri"/>
              <a:cs typeface="Calibri"/>
              <a:sym typeface="Calibri"/>
            </a:endParaRPr>
          </a:p>
        </p:txBody>
      </p:sp>
      <p:sp>
        <p:nvSpPr>
          <p:cNvPr id="679" name="Google Shape;679;p36">
            <a:extLst>
              <a:ext uri="{FF2B5EF4-FFF2-40B4-BE49-F238E27FC236}">
                <a16:creationId xmlns:a16="http://schemas.microsoft.com/office/drawing/2014/main" id="{83D104AC-FC58-4DF5-746D-677AD0ED2404}"/>
              </a:ext>
            </a:extLst>
          </p:cNvPr>
          <p:cNvSpPr/>
          <p:nvPr/>
        </p:nvSpPr>
        <p:spPr>
          <a:xfrm>
            <a:off x="7355840" y="107283"/>
            <a:ext cx="1788160" cy="361506"/>
          </a:xfrm>
          <a:prstGeom prst="roundRect">
            <a:avLst>
              <a:gd name="adj" fmla="val 50000"/>
            </a:avLst>
          </a:prstGeom>
          <a:solidFill>
            <a:schemeClr val="tx2">
              <a:lumMod val="75000"/>
            </a:schemeClr>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80" name="Google Shape;680;p36">
            <a:extLst>
              <a:ext uri="{FF2B5EF4-FFF2-40B4-BE49-F238E27FC236}">
                <a16:creationId xmlns:a16="http://schemas.microsoft.com/office/drawing/2014/main" id="{2E86FE9D-4131-443F-1CDB-4875120C8E00}"/>
              </a:ext>
            </a:extLst>
          </p:cNvPr>
          <p:cNvSpPr/>
          <p:nvPr/>
        </p:nvSpPr>
        <p:spPr>
          <a:xfrm>
            <a:off x="7423655" y="90377"/>
            <a:ext cx="1652530" cy="2880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E293B"/>
              </a:buClr>
              <a:buSzPts val="800"/>
              <a:buFont typeface="Calibri"/>
              <a:buNone/>
            </a:pPr>
            <a:r>
              <a:rPr lang="bg" sz="1600" b="1" i="0" u="none" strike="noStrike" cap="none" dirty="0">
                <a:solidFill>
                  <a:srgbClr val="1E293B"/>
                </a:solidFill>
                <a:latin typeface="Calibri"/>
                <a:ea typeface="Calibri"/>
                <a:cs typeface="Calibri"/>
                <a:sym typeface="Calibri"/>
              </a:rPr>
              <a:t>АДМИНИСТРАТОР</a:t>
            </a:r>
            <a:endParaRPr sz="1600" b="0" i="0" u="none" strike="noStrike" cap="none" dirty="0">
              <a:solidFill>
                <a:srgbClr val="1E293B"/>
              </a:solidFill>
              <a:latin typeface="Calibri"/>
              <a:ea typeface="Calibri"/>
              <a:cs typeface="Calibri"/>
              <a:sym typeface="Calibri"/>
            </a:endParaRPr>
          </a:p>
        </p:txBody>
      </p:sp>
      <p:sp>
        <p:nvSpPr>
          <p:cNvPr id="3" name="Google Shape;683;p36">
            <a:extLst>
              <a:ext uri="{FF2B5EF4-FFF2-40B4-BE49-F238E27FC236}">
                <a16:creationId xmlns:a16="http://schemas.microsoft.com/office/drawing/2014/main" id="{4D40DFD0-1B39-B0C9-69C1-733BE8A9CA1A}"/>
              </a:ext>
            </a:extLst>
          </p:cNvPr>
          <p:cNvSpPr/>
          <p:nvPr/>
        </p:nvSpPr>
        <p:spPr>
          <a:xfrm>
            <a:off x="342900" y="90377"/>
            <a:ext cx="489204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000" b="1" i="0" u="none" strike="noStrike" cap="none" dirty="0">
                <a:solidFill>
                  <a:srgbClr val="1E293B"/>
                </a:solidFill>
                <a:latin typeface="Cambria"/>
                <a:ea typeface="Cambria"/>
                <a:cs typeface="Calibri"/>
                <a:sym typeface="Cambria"/>
              </a:rPr>
              <a:t>Комуникация</a:t>
            </a:r>
            <a:endParaRPr sz="2000" b="0" i="0" u="none" strike="noStrike" cap="none" dirty="0">
              <a:solidFill>
                <a:schemeClr val="dk1"/>
              </a:solidFill>
              <a:latin typeface="Calibri"/>
              <a:ea typeface="Calibri"/>
              <a:cs typeface="Calibri"/>
              <a:sym typeface="Calibri"/>
            </a:endParaRPr>
          </a:p>
        </p:txBody>
      </p:sp>
      <p:pic>
        <p:nvPicPr>
          <p:cNvPr id="7" name="Picture 6">
            <a:extLst>
              <a:ext uri="{FF2B5EF4-FFF2-40B4-BE49-F238E27FC236}">
                <a16:creationId xmlns:a16="http://schemas.microsoft.com/office/drawing/2014/main" id="{DCB6A0DF-5D84-F950-BBE7-B194B877FBC2}"/>
              </a:ext>
            </a:extLst>
          </p:cNvPr>
          <p:cNvPicPr>
            <a:picLocks noChangeAspect="1"/>
          </p:cNvPicPr>
          <p:nvPr/>
        </p:nvPicPr>
        <p:blipFill>
          <a:blip r:embed="rId3"/>
          <a:stretch>
            <a:fillRect/>
          </a:stretch>
        </p:blipFill>
        <p:spPr>
          <a:xfrm>
            <a:off x="6042897" y="2140616"/>
            <a:ext cx="2373871" cy="2895601"/>
          </a:xfrm>
          <a:prstGeom prst="rect">
            <a:avLst/>
          </a:prstGeom>
          <a:ln>
            <a:solidFill>
              <a:schemeClr val="bg1">
                <a:lumMod val="65000"/>
              </a:schemeClr>
            </a:solidFill>
          </a:ln>
        </p:spPr>
      </p:pic>
      <p:pic>
        <p:nvPicPr>
          <p:cNvPr id="10" name="Picture 9">
            <a:extLst>
              <a:ext uri="{FF2B5EF4-FFF2-40B4-BE49-F238E27FC236}">
                <a16:creationId xmlns:a16="http://schemas.microsoft.com/office/drawing/2014/main" id="{7296D080-FA21-9F32-6C15-1C90FB524C6C}"/>
              </a:ext>
            </a:extLst>
          </p:cNvPr>
          <p:cNvPicPr>
            <a:picLocks noChangeAspect="1"/>
          </p:cNvPicPr>
          <p:nvPr/>
        </p:nvPicPr>
        <p:blipFill>
          <a:blip r:embed="rId4"/>
          <a:stretch>
            <a:fillRect/>
          </a:stretch>
        </p:blipFill>
        <p:spPr>
          <a:xfrm>
            <a:off x="3602522" y="273559"/>
            <a:ext cx="2211696" cy="4765087"/>
          </a:xfrm>
          <a:prstGeom prst="rect">
            <a:avLst/>
          </a:prstGeom>
          <a:ln>
            <a:solidFill>
              <a:schemeClr val="bg1">
                <a:lumMod val="65000"/>
              </a:schemeClr>
            </a:solidFill>
          </a:ln>
        </p:spPr>
      </p:pic>
      <p:pic>
        <p:nvPicPr>
          <p:cNvPr id="13" name="Picture 12">
            <a:extLst>
              <a:ext uri="{FF2B5EF4-FFF2-40B4-BE49-F238E27FC236}">
                <a16:creationId xmlns:a16="http://schemas.microsoft.com/office/drawing/2014/main" id="{C7C02C8C-7910-A04C-8F34-C8F0BBFC208A}"/>
              </a:ext>
            </a:extLst>
          </p:cNvPr>
          <p:cNvPicPr>
            <a:picLocks noChangeAspect="1"/>
          </p:cNvPicPr>
          <p:nvPr/>
        </p:nvPicPr>
        <p:blipFill>
          <a:blip r:embed="rId5"/>
          <a:stretch>
            <a:fillRect/>
          </a:stretch>
        </p:blipFill>
        <p:spPr>
          <a:xfrm>
            <a:off x="980985" y="710803"/>
            <a:ext cx="2331898" cy="4327843"/>
          </a:xfrm>
          <a:prstGeom prst="rect">
            <a:avLst/>
          </a:prstGeom>
          <a:ln>
            <a:solidFill>
              <a:schemeClr val="bg1">
                <a:lumMod val="65000"/>
              </a:schemeClr>
            </a:solidFill>
          </a:ln>
        </p:spPr>
      </p:pic>
    </p:spTree>
    <p:extLst>
      <p:ext uri="{BB962C8B-B14F-4D97-AF65-F5344CB8AC3E}">
        <p14:creationId xmlns:p14="http://schemas.microsoft.com/office/powerpoint/2010/main" val="3076627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a:extLst>
            <a:ext uri="{FF2B5EF4-FFF2-40B4-BE49-F238E27FC236}">
              <a16:creationId xmlns:a16="http://schemas.microsoft.com/office/drawing/2014/main" id="{EAEA5BE5-8D2B-6171-486F-81185EBFF790}"/>
            </a:ext>
          </a:extLst>
        </p:cNvPr>
        <p:cNvGrpSpPr/>
        <p:nvPr/>
      </p:nvGrpSpPr>
      <p:grpSpPr>
        <a:xfrm>
          <a:off x="0" y="0"/>
          <a:ext cx="0" cy="0"/>
          <a:chOff x="0" y="0"/>
          <a:chExt cx="0" cy="0"/>
        </a:xfrm>
      </p:grpSpPr>
      <p:sp>
        <p:nvSpPr>
          <p:cNvPr id="2" name="Google Shape;679;p36">
            <a:extLst>
              <a:ext uri="{FF2B5EF4-FFF2-40B4-BE49-F238E27FC236}">
                <a16:creationId xmlns:a16="http://schemas.microsoft.com/office/drawing/2014/main" id="{00490D48-BB9C-12E5-88DE-6BE6C28AA5C0}"/>
              </a:ext>
            </a:extLst>
          </p:cNvPr>
          <p:cNvSpPr/>
          <p:nvPr/>
        </p:nvSpPr>
        <p:spPr>
          <a:xfrm>
            <a:off x="7355840" y="0"/>
            <a:ext cx="1788160" cy="288036"/>
          </a:xfrm>
          <a:prstGeom prst="rect">
            <a:avLst/>
          </a:prstGeom>
          <a:solidFill>
            <a:schemeClr val="tx2">
              <a:lumMod val="75000"/>
            </a:schemeClr>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6" name="Google Shape;676;p36">
            <a:extLst>
              <a:ext uri="{FF2B5EF4-FFF2-40B4-BE49-F238E27FC236}">
                <a16:creationId xmlns:a16="http://schemas.microsoft.com/office/drawing/2014/main" id="{1985D96C-C6BA-0569-6CC3-7398403E5269}"/>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7" name="Google Shape;677;p36">
            <a:extLst>
              <a:ext uri="{FF2B5EF4-FFF2-40B4-BE49-F238E27FC236}">
                <a16:creationId xmlns:a16="http://schemas.microsoft.com/office/drawing/2014/main" id="{06DAA222-531E-316F-156F-297136EB470E}"/>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8" name="Google Shape;678;p36">
            <a:extLst>
              <a:ext uri="{FF2B5EF4-FFF2-40B4-BE49-F238E27FC236}">
                <a16:creationId xmlns:a16="http://schemas.microsoft.com/office/drawing/2014/main" id="{EA2971FB-4F53-1E42-1529-B16AA72CA240}"/>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ДЕМОНСТРАЦИЯ</a:t>
            </a:r>
            <a:endParaRPr sz="1100" b="0" i="0" u="none" strike="noStrike" cap="none" dirty="0">
              <a:solidFill>
                <a:schemeClr val="dk1"/>
              </a:solidFill>
              <a:latin typeface="Calibri"/>
              <a:ea typeface="Calibri"/>
              <a:cs typeface="Calibri"/>
              <a:sym typeface="Calibri"/>
            </a:endParaRPr>
          </a:p>
        </p:txBody>
      </p:sp>
      <p:sp>
        <p:nvSpPr>
          <p:cNvPr id="679" name="Google Shape;679;p36">
            <a:extLst>
              <a:ext uri="{FF2B5EF4-FFF2-40B4-BE49-F238E27FC236}">
                <a16:creationId xmlns:a16="http://schemas.microsoft.com/office/drawing/2014/main" id="{9B6EB10E-31C1-875D-AB82-387FB14DCD36}"/>
              </a:ext>
            </a:extLst>
          </p:cNvPr>
          <p:cNvSpPr/>
          <p:nvPr/>
        </p:nvSpPr>
        <p:spPr>
          <a:xfrm>
            <a:off x="7355840" y="107283"/>
            <a:ext cx="1788160" cy="361506"/>
          </a:xfrm>
          <a:prstGeom prst="roundRect">
            <a:avLst>
              <a:gd name="adj" fmla="val 50000"/>
            </a:avLst>
          </a:prstGeom>
          <a:solidFill>
            <a:schemeClr val="tx2">
              <a:lumMod val="75000"/>
            </a:schemeClr>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80" name="Google Shape;680;p36">
            <a:extLst>
              <a:ext uri="{FF2B5EF4-FFF2-40B4-BE49-F238E27FC236}">
                <a16:creationId xmlns:a16="http://schemas.microsoft.com/office/drawing/2014/main" id="{CBABD640-4A76-B764-C05E-2331FF74C34E}"/>
              </a:ext>
            </a:extLst>
          </p:cNvPr>
          <p:cNvSpPr/>
          <p:nvPr/>
        </p:nvSpPr>
        <p:spPr>
          <a:xfrm>
            <a:off x="7423655" y="90377"/>
            <a:ext cx="1652530" cy="2880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E293B"/>
              </a:buClr>
              <a:buSzPts val="800"/>
              <a:buFont typeface="Calibri"/>
              <a:buNone/>
            </a:pPr>
            <a:r>
              <a:rPr lang="bg" sz="1600" b="1" i="0" u="none" strike="noStrike" cap="none" dirty="0">
                <a:solidFill>
                  <a:srgbClr val="1E293B"/>
                </a:solidFill>
                <a:latin typeface="Calibri"/>
                <a:ea typeface="Calibri"/>
                <a:cs typeface="Calibri"/>
                <a:sym typeface="Calibri"/>
              </a:rPr>
              <a:t>АДМИНИСТРАТОР</a:t>
            </a:r>
            <a:endParaRPr sz="1600" b="0" i="0" u="none" strike="noStrike" cap="none" dirty="0">
              <a:solidFill>
                <a:srgbClr val="1E293B"/>
              </a:solidFill>
              <a:latin typeface="Calibri"/>
              <a:ea typeface="Calibri"/>
              <a:cs typeface="Calibri"/>
              <a:sym typeface="Calibri"/>
            </a:endParaRPr>
          </a:p>
        </p:txBody>
      </p:sp>
      <p:sp>
        <p:nvSpPr>
          <p:cNvPr id="3" name="Google Shape;683;p36">
            <a:extLst>
              <a:ext uri="{FF2B5EF4-FFF2-40B4-BE49-F238E27FC236}">
                <a16:creationId xmlns:a16="http://schemas.microsoft.com/office/drawing/2014/main" id="{C8406BE3-C4D4-516E-A03D-C2B5B7A15127}"/>
              </a:ext>
            </a:extLst>
          </p:cNvPr>
          <p:cNvSpPr/>
          <p:nvPr/>
        </p:nvSpPr>
        <p:spPr>
          <a:xfrm>
            <a:off x="342900" y="90377"/>
            <a:ext cx="489204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000" b="1" i="0" u="none" strike="noStrike" cap="none" dirty="0">
                <a:solidFill>
                  <a:srgbClr val="1E293B"/>
                </a:solidFill>
                <a:latin typeface="Cambria"/>
                <a:ea typeface="Cambria"/>
                <a:cs typeface="Calibri"/>
                <a:sym typeface="Cambria"/>
              </a:rPr>
              <a:t>Системна конфигурация</a:t>
            </a:r>
            <a:endParaRPr sz="2000" b="0" i="0" u="none" strike="noStrike" cap="none" dirty="0">
              <a:solidFill>
                <a:schemeClr val="dk1"/>
              </a:solidFill>
              <a:latin typeface="Calibri"/>
              <a:ea typeface="Calibri"/>
              <a:cs typeface="Calibri"/>
              <a:sym typeface="Calibri"/>
            </a:endParaRPr>
          </a:p>
        </p:txBody>
      </p:sp>
      <p:pic>
        <p:nvPicPr>
          <p:cNvPr id="8" name="Picture 7">
            <a:extLst>
              <a:ext uri="{FF2B5EF4-FFF2-40B4-BE49-F238E27FC236}">
                <a16:creationId xmlns:a16="http://schemas.microsoft.com/office/drawing/2014/main" id="{88B23F47-3F91-4656-FBAE-9B83A301E998}"/>
              </a:ext>
            </a:extLst>
          </p:cNvPr>
          <p:cNvPicPr>
            <a:picLocks noChangeAspect="1"/>
          </p:cNvPicPr>
          <p:nvPr/>
        </p:nvPicPr>
        <p:blipFill>
          <a:blip r:embed="rId3"/>
          <a:stretch>
            <a:fillRect/>
          </a:stretch>
        </p:blipFill>
        <p:spPr>
          <a:xfrm>
            <a:off x="4849576" y="2834110"/>
            <a:ext cx="2506264" cy="2219013"/>
          </a:xfrm>
          <a:prstGeom prst="rect">
            <a:avLst/>
          </a:prstGeom>
          <a:ln>
            <a:solidFill>
              <a:schemeClr val="bg1">
                <a:lumMod val="65000"/>
              </a:schemeClr>
            </a:solidFill>
          </a:ln>
        </p:spPr>
      </p:pic>
      <p:pic>
        <p:nvPicPr>
          <p:cNvPr id="11" name="Picture 10">
            <a:extLst>
              <a:ext uri="{FF2B5EF4-FFF2-40B4-BE49-F238E27FC236}">
                <a16:creationId xmlns:a16="http://schemas.microsoft.com/office/drawing/2014/main" id="{A2E46F45-BA2B-4C4E-6867-CFF9BFD1BBBB}"/>
              </a:ext>
            </a:extLst>
          </p:cNvPr>
          <p:cNvPicPr>
            <a:picLocks noChangeAspect="1"/>
          </p:cNvPicPr>
          <p:nvPr/>
        </p:nvPicPr>
        <p:blipFill>
          <a:blip r:embed="rId4"/>
          <a:stretch>
            <a:fillRect/>
          </a:stretch>
        </p:blipFill>
        <p:spPr>
          <a:xfrm>
            <a:off x="697771" y="653286"/>
            <a:ext cx="3625484" cy="4125854"/>
          </a:xfrm>
          <a:prstGeom prst="rect">
            <a:avLst/>
          </a:prstGeom>
          <a:ln>
            <a:solidFill>
              <a:schemeClr val="bg1">
                <a:lumMod val="65000"/>
              </a:schemeClr>
            </a:solidFill>
          </a:ln>
        </p:spPr>
      </p:pic>
      <p:pic>
        <p:nvPicPr>
          <p:cNvPr id="14" name="Picture 13">
            <a:extLst>
              <a:ext uri="{FF2B5EF4-FFF2-40B4-BE49-F238E27FC236}">
                <a16:creationId xmlns:a16="http://schemas.microsoft.com/office/drawing/2014/main" id="{9AF06D15-A044-AD20-47B7-F91F696F0AA1}"/>
              </a:ext>
            </a:extLst>
          </p:cNvPr>
          <p:cNvPicPr>
            <a:picLocks noChangeAspect="1"/>
          </p:cNvPicPr>
          <p:nvPr/>
        </p:nvPicPr>
        <p:blipFill>
          <a:blip r:embed="rId5"/>
          <a:stretch>
            <a:fillRect/>
          </a:stretch>
        </p:blipFill>
        <p:spPr>
          <a:xfrm>
            <a:off x="4849576" y="434344"/>
            <a:ext cx="2523176" cy="2219013"/>
          </a:xfrm>
          <a:prstGeom prst="rect">
            <a:avLst/>
          </a:prstGeom>
          <a:ln>
            <a:solidFill>
              <a:schemeClr val="bg1">
                <a:lumMod val="65000"/>
              </a:schemeClr>
            </a:solidFill>
          </a:ln>
        </p:spPr>
      </p:pic>
    </p:spTree>
    <p:extLst>
      <p:ext uri="{BB962C8B-B14F-4D97-AF65-F5344CB8AC3E}">
        <p14:creationId xmlns:p14="http://schemas.microsoft.com/office/powerpoint/2010/main" val="30157301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a:extLst>
            <a:ext uri="{FF2B5EF4-FFF2-40B4-BE49-F238E27FC236}">
              <a16:creationId xmlns:a16="http://schemas.microsoft.com/office/drawing/2014/main" id="{EE9D9475-887D-72FB-EB00-AF0475317EA9}"/>
            </a:ext>
          </a:extLst>
        </p:cNvPr>
        <p:cNvGrpSpPr/>
        <p:nvPr/>
      </p:nvGrpSpPr>
      <p:grpSpPr>
        <a:xfrm>
          <a:off x="0" y="0"/>
          <a:ext cx="0" cy="0"/>
          <a:chOff x="0" y="0"/>
          <a:chExt cx="0" cy="0"/>
        </a:xfrm>
      </p:grpSpPr>
      <p:sp>
        <p:nvSpPr>
          <p:cNvPr id="2" name="Google Shape;679;p36">
            <a:extLst>
              <a:ext uri="{FF2B5EF4-FFF2-40B4-BE49-F238E27FC236}">
                <a16:creationId xmlns:a16="http://schemas.microsoft.com/office/drawing/2014/main" id="{0FEBEEBE-8A5D-746B-749D-8AC422B8D239}"/>
              </a:ext>
            </a:extLst>
          </p:cNvPr>
          <p:cNvSpPr/>
          <p:nvPr/>
        </p:nvSpPr>
        <p:spPr>
          <a:xfrm>
            <a:off x="7355840" y="0"/>
            <a:ext cx="1788160" cy="288036"/>
          </a:xfrm>
          <a:prstGeom prst="rect">
            <a:avLst/>
          </a:prstGeom>
          <a:solidFill>
            <a:schemeClr val="tx2">
              <a:lumMod val="75000"/>
            </a:schemeClr>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6" name="Google Shape;676;p36">
            <a:extLst>
              <a:ext uri="{FF2B5EF4-FFF2-40B4-BE49-F238E27FC236}">
                <a16:creationId xmlns:a16="http://schemas.microsoft.com/office/drawing/2014/main" id="{8151FB85-E67B-8521-E376-953343527E0F}"/>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7" name="Google Shape;677;p36">
            <a:extLst>
              <a:ext uri="{FF2B5EF4-FFF2-40B4-BE49-F238E27FC236}">
                <a16:creationId xmlns:a16="http://schemas.microsoft.com/office/drawing/2014/main" id="{0CBC0824-2592-FD91-DF47-DB002575538D}"/>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8" name="Google Shape;678;p36">
            <a:extLst>
              <a:ext uri="{FF2B5EF4-FFF2-40B4-BE49-F238E27FC236}">
                <a16:creationId xmlns:a16="http://schemas.microsoft.com/office/drawing/2014/main" id="{6D7933AF-3C4D-F0CB-6DB7-CEF5E21C881D}"/>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ДЕМОНСТРАЦИЯ</a:t>
            </a:r>
            <a:endParaRPr sz="1100" b="0" i="0" u="none" strike="noStrike" cap="none" dirty="0">
              <a:solidFill>
                <a:schemeClr val="dk1"/>
              </a:solidFill>
              <a:latin typeface="Calibri"/>
              <a:ea typeface="Calibri"/>
              <a:cs typeface="Calibri"/>
              <a:sym typeface="Calibri"/>
            </a:endParaRPr>
          </a:p>
        </p:txBody>
      </p:sp>
      <p:sp>
        <p:nvSpPr>
          <p:cNvPr id="679" name="Google Shape;679;p36">
            <a:extLst>
              <a:ext uri="{FF2B5EF4-FFF2-40B4-BE49-F238E27FC236}">
                <a16:creationId xmlns:a16="http://schemas.microsoft.com/office/drawing/2014/main" id="{5EC79693-F976-C90A-D793-F218A753DD63}"/>
              </a:ext>
            </a:extLst>
          </p:cNvPr>
          <p:cNvSpPr/>
          <p:nvPr/>
        </p:nvSpPr>
        <p:spPr>
          <a:xfrm>
            <a:off x="7355840" y="107283"/>
            <a:ext cx="1788160" cy="361506"/>
          </a:xfrm>
          <a:prstGeom prst="roundRect">
            <a:avLst>
              <a:gd name="adj" fmla="val 50000"/>
            </a:avLst>
          </a:prstGeom>
          <a:solidFill>
            <a:schemeClr val="tx2">
              <a:lumMod val="75000"/>
            </a:schemeClr>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80" name="Google Shape;680;p36">
            <a:extLst>
              <a:ext uri="{FF2B5EF4-FFF2-40B4-BE49-F238E27FC236}">
                <a16:creationId xmlns:a16="http://schemas.microsoft.com/office/drawing/2014/main" id="{134E934D-17D3-4C67-0B3F-E66CE1336875}"/>
              </a:ext>
            </a:extLst>
          </p:cNvPr>
          <p:cNvSpPr/>
          <p:nvPr/>
        </p:nvSpPr>
        <p:spPr>
          <a:xfrm>
            <a:off x="7423655" y="90377"/>
            <a:ext cx="1652530" cy="2880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E293B"/>
              </a:buClr>
              <a:buSzPts val="800"/>
              <a:buFont typeface="Calibri"/>
              <a:buNone/>
            </a:pPr>
            <a:r>
              <a:rPr lang="bg" sz="1600" b="1" i="0" u="none" strike="noStrike" cap="none" dirty="0">
                <a:solidFill>
                  <a:srgbClr val="1E293B"/>
                </a:solidFill>
                <a:latin typeface="Calibri"/>
                <a:ea typeface="Calibri"/>
                <a:cs typeface="Calibri"/>
                <a:sym typeface="Calibri"/>
              </a:rPr>
              <a:t>АДМИНИСТРАТОР</a:t>
            </a:r>
            <a:endParaRPr sz="1600" b="0" i="0" u="none" strike="noStrike" cap="none" dirty="0">
              <a:solidFill>
                <a:srgbClr val="1E293B"/>
              </a:solidFill>
              <a:latin typeface="Calibri"/>
              <a:ea typeface="Calibri"/>
              <a:cs typeface="Calibri"/>
              <a:sym typeface="Calibri"/>
            </a:endParaRPr>
          </a:p>
        </p:txBody>
      </p:sp>
      <p:sp>
        <p:nvSpPr>
          <p:cNvPr id="3" name="Google Shape;683;p36">
            <a:extLst>
              <a:ext uri="{FF2B5EF4-FFF2-40B4-BE49-F238E27FC236}">
                <a16:creationId xmlns:a16="http://schemas.microsoft.com/office/drawing/2014/main" id="{6747157C-8387-F3A0-E157-C20167F570D7}"/>
              </a:ext>
            </a:extLst>
          </p:cNvPr>
          <p:cNvSpPr/>
          <p:nvPr/>
        </p:nvSpPr>
        <p:spPr>
          <a:xfrm>
            <a:off x="342900" y="90377"/>
            <a:ext cx="489204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BG" sz="2000" b="1" dirty="0">
                <a:solidFill>
                  <a:srgbClr val="1E293B"/>
                </a:solidFill>
                <a:latin typeface="Cambria"/>
                <a:ea typeface="Cambria"/>
                <a:cs typeface="Calibri"/>
                <a:sym typeface="Cambria"/>
              </a:rPr>
              <a:t>Администраторски профил</a:t>
            </a:r>
            <a:endParaRPr sz="2000" b="0" i="0" u="none" strike="noStrike" cap="none" dirty="0">
              <a:solidFill>
                <a:schemeClr val="dk1"/>
              </a:solidFill>
              <a:latin typeface="Calibri"/>
              <a:ea typeface="Calibri"/>
              <a:cs typeface="Calibri"/>
              <a:sym typeface="Calibri"/>
            </a:endParaRPr>
          </a:p>
        </p:txBody>
      </p:sp>
      <p:pic>
        <p:nvPicPr>
          <p:cNvPr id="5" name="Picture 4">
            <a:extLst>
              <a:ext uri="{FF2B5EF4-FFF2-40B4-BE49-F238E27FC236}">
                <a16:creationId xmlns:a16="http://schemas.microsoft.com/office/drawing/2014/main" id="{CF905466-1928-F1DF-74D5-3CD68E2A6CE0}"/>
              </a:ext>
            </a:extLst>
          </p:cNvPr>
          <p:cNvPicPr>
            <a:picLocks noChangeAspect="1"/>
          </p:cNvPicPr>
          <p:nvPr/>
        </p:nvPicPr>
        <p:blipFill>
          <a:blip r:embed="rId3"/>
          <a:stretch>
            <a:fillRect/>
          </a:stretch>
        </p:blipFill>
        <p:spPr>
          <a:xfrm>
            <a:off x="799244" y="640080"/>
            <a:ext cx="1931067" cy="4312920"/>
          </a:xfrm>
          <a:prstGeom prst="rect">
            <a:avLst/>
          </a:prstGeom>
          <a:ln>
            <a:solidFill>
              <a:schemeClr val="bg1">
                <a:lumMod val="65000"/>
              </a:schemeClr>
            </a:solidFill>
          </a:ln>
        </p:spPr>
      </p:pic>
      <p:pic>
        <p:nvPicPr>
          <p:cNvPr id="7" name="Picture 6">
            <a:extLst>
              <a:ext uri="{FF2B5EF4-FFF2-40B4-BE49-F238E27FC236}">
                <a16:creationId xmlns:a16="http://schemas.microsoft.com/office/drawing/2014/main" id="{5672D627-333C-5164-632F-B9EAA15DFA92}"/>
              </a:ext>
            </a:extLst>
          </p:cNvPr>
          <p:cNvPicPr>
            <a:picLocks noChangeAspect="1"/>
          </p:cNvPicPr>
          <p:nvPr/>
        </p:nvPicPr>
        <p:blipFill>
          <a:blip r:embed="rId4"/>
          <a:stretch>
            <a:fillRect/>
          </a:stretch>
        </p:blipFill>
        <p:spPr>
          <a:xfrm>
            <a:off x="2881971" y="651510"/>
            <a:ext cx="2245133" cy="3186416"/>
          </a:xfrm>
          <a:prstGeom prst="rect">
            <a:avLst/>
          </a:prstGeom>
          <a:ln>
            <a:solidFill>
              <a:schemeClr val="bg1">
                <a:lumMod val="65000"/>
              </a:schemeClr>
            </a:solidFill>
          </a:ln>
        </p:spPr>
      </p:pic>
      <p:pic>
        <p:nvPicPr>
          <p:cNvPr id="10" name="Picture 9">
            <a:extLst>
              <a:ext uri="{FF2B5EF4-FFF2-40B4-BE49-F238E27FC236}">
                <a16:creationId xmlns:a16="http://schemas.microsoft.com/office/drawing/2014/main" id="{2B07C6A2-B7DD-40BD-0977-52A721505FCC}"/>
              </a:ext>
            </a:extLst>
          </p:cNvPr>
          <p:cNvPicPr>
            <a:picLocks noChangeAspect="1"/>
          </p:cNvPicPr>
          <p:nvPr/>
        </p:nvPicPr>
        <p:blipFill>
          <a:blip r:embed="rId5"/>
          <a:stretch>
            <a:fillRect/>
          </a:stretch>
        </p:blipFill>
        <p:spPr>
          <a:xfrm>
            <a:off x="5234940" y="148456"/>
            <a:ext cx="1719491" cy="4819174"/>
          </a:xfrm>
          <a:prstGeom prst="rect">
            <a:avLst/>
          </a:prstGeom>
          <a:ln>
            <a:solidFill>
              <a:schemeClr val="bg1">
                <a:lumMod val="65000"/>
              </a:schemeClr>
            </a:solidFill>
          </a:ln>
        </p:spPr>
      </p:pic>
    </p:spTree>
    <p:extLst>
      <p:ext uri="{BB962C8B-B14F-4D97-AF65-F5344CB8AC3E}">
        <p14:creationId xmlns:p14="http://schemas.microsoft.com/office/powerpoint/2010/main" val="24282196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5">
          <a:extLst>
            <a:ext uri="{FF2B5EF4-FFF2-40B4-BE49-F238E27FC236}">
              <a16:creationId xmlns:a16="http://schemas.microsoft.com/office/drawing/2014/main" id="{F4F14A0F-FA70-8A03-C695-25C40CB3335D}"/>
            </a:ext>
          </a:extLst>
        </p:cNvPr>
        <p:cNvGrpSpPr/>
        <p:nvPr/>
      </p:nvGrpSpPr>
      <p:grpSpPr>
        <a:xfrm>
          <a:off x="0" y="0"/>
          <a:ext cx="0" cy="0"/>
          <a:chOff x="0" y="0"/>
          <a:chExt cx="0" cy="0"/>
        </a:xfrm>
      </p:grpSpPr>
      <p:sp>
        <p:nvSpPr>
          <p:cNvPr id="2" name="Google Shape;679;p36">
            <a:extLst>
              <a:ext uri="{FF2B5EF4-FFF2-40B4-BE49-F238E27FC236}">
                <a16:creationId xmlns:a16="http://schemas.microsoft.com/office/drawing/2014/main" id="{470B52CF-618E-04E9-2DB4-B4DDF8FC8082}"/>
              </a:ext>
            </a:extLst>
          </p:cNvPr>
          <p:cNvSpPr/>
          <p:nvPr/>
        </p:nvSpPr>
        <p:spPr>
          <a:xfrm>
            <a:off x="7355840" y="0"/>
            <a:ext cx="1788160" cy="288036"/>
          </a:xfrm>
          <a:prstGeom prst="rect">
            <a:avLst/>
          </a:prstGeom>
          <a:solidFill>
            <a:schemeClr val="tx2">
              <a:lumMod val="75000"/>
            </a:schemeClr>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6" name="Google Shape;676;p36">
            <a:extLst>
              <a:ext uri="{FF2B5EF4-FFF2-40B4-BE49-F238E27FC236}">
                <a16:creationId xmlns:a16="http://schemas.microsoft.com/office/drawing/2014/main" id="{6455F17C-DAF0-440D-310B-F9B1E2A8B526}"/>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7" name="Google Shape;677;p36">
            <a:extLst>
              <a:ext uri="{FF2B5EF4-FFF2-40B4-BE49-F238E27FC236}">
                <a16:creationId xmlns:a16="http://schemas.microsoft.com/office/drawing/2014/main" id="{10799242-8428-FE50-C7F4-457456FC0130}"/>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8" name="Google Shape;678;p36">
            <a:extLst>
              <a:ext uri="{FF2B5EF4-FFF2-40B4-BE49-F238E27FC236}">
                <a16:creationId xmlns:a16="http://schemas.microsoft.com/office/drawing/2014/main" id="{6D7BB2A2-4473-323E-F311-A65A3A01B5BE}"/>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ДЕМОНСТРАЦИЯ</a:t>
            </a:r>
            <a:endParaRPr sz="1100" b="0" i="0" u="none" strike="noStrike" cap="none" dirty="0">
              <a:solidFill>
                <a:schemeClr val="dk1"/>
              </a:solidFill>
              <a:latin typeface="Calibri"/>
              <a:ea typeface="Calibri"/>
              <a:cs typeface="Calibri"/>
              <a:sym typeface="Calibri"/>
            </a:endParaRPr>
          </a:p>
        </p:txBody>
      </p:sp>
      <p:sp>
        <p:nvSpPr>
          <p:cNvPr id="679" name="Google Shape;679;p36">
            <a:extLst>
              <a:ext uri="{FF2B5EF4-FFF2-40B4-BE49-F238E27FC236}">
                <a16:creationId xmlns:a16="http://schemas.microsoft.com/office/drawing/2014/main" id="{3065DCAB-022C-2055-0BF5-8A10AE1D978C}"/>
              </a:ext>
            </a:extLst>
          </p:cNvPr>
          <p:cNvSpPr/>
          <p:nvPr/>
        </p:nvSpPr>
        <p:spPr>
          <a:xfrm>
            <a:off x="7355840" y="107283"/>
            <a:ext cx="1788160" cy="361506"/>
          </a:xfrm>
          <a:prstGeom prst="roundRect">
            <a:avLst>
              <a:gd name="adj" fmla="val 50000"/>
            </a:avLst>
          </a:prstGeom>
          <a:solidFill>
            <a:schemeClr val="tx2">
              <a:lumMod val="75000"/>
            </a:schemeClr>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80" name="Google Shape;680;p36">
            <a:extLst>
              <a:ext uri="{FF2B5EF4-FFF2-40B4-BE49-F238E27FC236}">
                <a16:creationId xmlns:a16="http://schemas.microsoft.com/office/drawing/2014/main" id="{9B39947C-B755-0A1A-D263-814231E454A1}"/>
              </a:ext>
            </a:extLst>
          </p:cNvPr>
          <p:cNvSpPr/>
          <p:nvPr/>
        </p:nvSpPr>
        <p:spPr>
          <a:xfrm>
            <a:off x="7423655" y="90377"/>
            <a:ext cx="1652530" cy="2880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E293B"/>
              </a:buClr>
              <a:buSzPts val="800"/>
              <a:buFont typeface="Calibri"/>
              <a:buNone/>
            </a:pPr>
            <a:r>
              <a:rPr lang="bg" sz="1600" b="1" i="0" u="none" strike="noStrike" cap="none" dirty="0">
                <a:solidFill>
                  <a:srgbClr val="1E293B"/>
                </a:solidFill>
                <a:latin typeface="Calibri"/>
                <a:ea typeface="Calibri"/>
                <a:cs typeface="Calibri"/>
                <a:sym typeface="Calibri"/>
              </a:rPr>
              <a:t>АДМИНИСТРАТОР</a:t>
            </a:r>
            <a:endParaRPr sz="1600" b="0" i="0" u="none" strike="noStrike" cap="none" dirty="0">
              <a:solidFill>
                <a:srgbClr val="1E293B"/>
              </a:solidFill>
              <a:latin typeface="Calibri"/>
              <a:ea typeface="Calibri"/>
              <a:cs typeface="Calibri"/>
              <a:sym typeface="Calibri"/>
            </a:endParaRPr>
          </a:p>
        </p:txBody>
      </p:sp>
      <p:sp>
        <p:nvSpPr>
          <p:cNvPr id="3" name="Google Shape;683;p36">
            <a:extLst>
              <a:ext uri="{FF2B5EF4-FFF2-40B4-BE49-F238E27FC236}">
                <a16:creationId xmlns:a16="http://schemas.microsoft.com/office/drawing/2014/main" id="{4D3970CE-5C6F-2560-0023-5DCC36D16ED0}"/>
              </a:ext>
            </a:extLst>
          </p:cNvPr>
          <p:cNvSpPr/>
          <p:nvPr/>
        </p:nvSpPr>
        <p:spPr>
          <a:xfrm>
            <a:off x="342900" y="90377"/>
            <a:ext cx="489204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BG" sz="2000" b="1" dirty="0">
                <a:solidFill>
                  <a:srgbClr val="1E293B"/>
                </a:solidFill>
                <a:latin typeface="Cambria"/>
                <a:ea typeface="Cambria"/>
                <a:cs typeface="Calibri"/>
                <a:sym typeface="Cambria"/>
              </a:rPr>
              <a:t>Преглед на администратори</a:t>
            </a:r>
            <a:endParaRPr sz="2000" b="0" i="0" u="none" strike="noStrike" cap="none" dirty="0">
              <a:solidFill>
                <a:schemeClr val="dk1"/>
              </a:solidFill>
              <a:latin typeface="Calibri"/>
              <a:ea typeface="Calibri"/>
              <a:cs typeface="Calibri"/>
              <a:sym typeface="Calibri"/>
            </a:endParaRPr>
          </a:p>
        </p:txBody>
      </p:sp>
      <p:pic>
        <p:nvPicPr>
          <p:cNvPr id="9" name="Picture 8" descr="A screenshot of a web page&#10;&#10;AI-generated content may be incorrect.">
            <a:extLst>
              <a:ext uri="{FF2B5EF4-FFF2-40B4-BE49-F238E27FC236}">
                <a16:creationId xmlns:a16="http://schemas.microsoft.com/office/drawing/2014/main" id="{70ABE31B-CCD7-CAED-FCE9-45D48AB98970}"/>
              </a:ext>
            </a:extLst>
          </p:cNvPr>
          <p:cNvPicPr>
            <a:picLocks noChangeAspect="1"/>
          </p:cNvPicPr>
          <p:nvPr/>
        </p:nvPicPr>
        <p:blipFill>
          <a:blip r:embed="rId3"/>
          <a:stretch>
            <a:fillRect/>
          </a:stretch>
        </p:blipFill>
        <p:spPr>
          <a:xfrm>
            <a:off x="2410020" y="495459"/>
            <a:ext cx="4143180" cy="4385656"/>
          </a:xfrm>
          <a:prstGeom prst="rect">
            <a:avLst/>
          </a:prstGeom>
        </p:spPr>
      </p:pic>
    </p:spTree>
    <p:extLst>
      <p:ext uri="{BB962C8B-B14F-4D97-AF65-F5344CB8AC3E}">
        <p14:creationId xmlns:p14="http://schemas.microsoft.com/office/powerpoint/2010/main" val="25731501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2">
          <a:extLst>
            <a:ext uri="{FF2B5EF4-FFF2-40B4-BE49-F238E27FC236}">
              <a16:creationId xmlns:a16="http://schemas.microsoft.com/office/drawing/2014/main" id="{6CBE953D-A51E-30BE-BE54-EE605C44EB03}"/>
            </a:ext>
          </a:extLst>
        </p:cNvPr>
        <p:cNvGrpSpPr/>
        <p:nvPr/>
      </p:nvGrpSpPr>
      <p:grpSpPr>
        <a:xfrm>
          <a:off x="0" y="0"/>
          <a:ext cx="0" cy="0"/>
          <a:chOff x="0" y="0"/>
          <a:chExt cx="0" cy="0"/>
        </a:xfrm>
      </p:grpSpPr>
      <p:sp>
        <p:nvSpPr>
          <p:cNvPr id="203" name="Google Shape;203;p19">
            <a:extLst>
              <a:ext uri="{FF2B5EF4-FFF2-40B4-BE49-F238E27FC236}">
                <a16:creationId xmlns:a16="http://schemas.microsoft.com/office/drawing/2014/main" id="{E1CB4ED7-EE0D-846B-395E-1C8027AA9505}"/>
              </a:ext>
            </a:extLst>
          </p:cNvPr>
          <p:cNvSpPr/>
          <p:nvPr/>
        </p:nvSpPr>
        <p:spPr>
          <a:xfrm>
            <a:off x="0" y="1885950"/>
            <a:ext cx="342900" cy="1371600"/>
          </a:xfrm>
          <a:prstGeom prst="roundRect">
            <a:avLst>
              <a:gd name="adj" fmla="val 24000"/>
            </a:avLst>
          </a:prstGeom>
          <a:solidFill>
            <a:srgbClr val="1E293B"/>
          </a:solidFill>
          <a:ln>
            <a:noFill/>
          </a:ln>
          <a:effectLst>
            <a:outerShdw blurRad="127000" dist="38100" dir="16200000" algn="bl" rotWithShape="0">
              <a:srgbClr val="1E293B">
                <a:alpha val="18039"/>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04" name="Google Shape;204;p19">
            <a:extLst>
              <a:ext uri="{FF2B5EF4-FFF2-40B4-BE49-F238E27FC236}">
                <a16:creationId xmlns:a16="http://schemas.microsoft.com/office/drawing/2014/main" id="{60B92833-0ECF-F7E1-5AA0-35E27CFF76E2}"/>
              </a:ext>
            </a:extLst>
          </p:cNvPr>
          <p:cNvSpPr/>
          <p:nvPr/>
        </p:nvSpPr>
        <p:spPr>
          <a:xfrm>
            <a:off x="0" y="1885950"/>
            <a:ext cx="171450" cy="1371600"/>
          </a:xfrm>
          <a:prstGeom prst="rect">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05" name="Google Shape;205;p19">
            <a:extLst>
              <a:ext uri="{FF2B5EF4-FFF2-40B4-BE49-F238E27FC236}">
                <a16:creationId xmlns:a16="http://schemas.microsoft.com/office/drawing/2014/main" id="{0144B160-BB3F-E1DA-BEB5-74043F696318}"/>
              </a:ext>
            </a:extLst>
          </p:cNvPr>
          <p:cNvSpPr/>
          <p:nvPr/>
        </p:nvSpPr>
        <p:spPr>
          <a:xfrm rot="-5400000">
            <a:off x="-514350" y="2400300"/>
            <a:ext cx="1371600"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bg" sz="1100" b="1" i="0" u="none" strike="noStrike" cap="none" dirty="0">
                <a:solidFill>
                  <a:srgbClr val="FFFFFF"/>
                </a:solidFill>
                <a:latin typeface="Calibri"/>
                <a:ea typeface="Calibri"/>
                <a:cs typeface="Calibri"/>
                <a:sym typeface="Calibri"/>
              </a:rPr>
              <a:t>ЗАК</a:t>
            </a:r>
            <a:r>
              <a:rPr lang="bg" sz="1100" b="1" dirty="0">
                <a:solidFill>
                  <a:srgbClr val="FFFFFF"/>
                </a:solidFill>
                <a:latin typeface="Calibri"/>
                <a:ea typeface="Calibri"/>
                <a:cs typeface="Calibri"/>
                <a:sym typeface="Calibri"/>
              </a:rPr>
              <a:t>ЛЮЧЕНИЕ</a:t>
            </a:r>
            <a:endParaRPr sz="1100" b="0" i="0" u="none" strike="noStrike" cap="none" dirty="0">
              <a:solidFill>
                <a:schemeClr val="dk1"/>
              </a:solidFill>
              <a:latin typeface="Calibri"/>
              <a:ea typeface="Calibri"/>
              <a:cs typeface="Calibri"/>
              <a:sym typeface="Calibri"/>
            </a:endParaRPr>
          </a:p>
        </p:txBody>
      </p:sp>
      <p:sp>
        <p:nvSpPr>
          <p:cNvPr id="210" name="Google Shape;210;p19">
            <a:extLst>
              <a:ext uri="{FF2B5EF4-FFF2-40B4-BE49-F238E27FC236}">
                <a16:creationId xmlns:a16="http://schemas.microsoft.com/office/drawing/2014/main" id="{C7130E17-AD8D-E587-B8A5-60462F64E272}"/>
              </a:ext>
            </a:extLst>
          </p:cNvPr>
          <p:cNvSpPr/>
          <p:nvPr/>
        </p:nvSpPr>
        <p:spPr>
          <a:xfrm>
            <a:off x="685800" y="200406"/>
            <a:ext cx="589788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300"/>
              <a:buFont typeface="Cambria"/>
              <a:buNone/>
            </a:pPr>
            <a:r>
              <a:rPr lang="bg" sz="2300" b="1" i="0" u="none" strike="noStrike" cap="none" dirty="0">
                <a:solidFill>
                  <a:srgbClr val="1E293B"/>
                </a:solidFill>
                <a:latin typeface="Cambria"/>
                <a:ea typeface="Cambria"/>
                <a:cs typeface="Cambria"/>
                <a:sym typeface="Cambria"/>
              </a:rPr>
              <a:t>Резултати и развитие</a:t>
            </a:r>
            <a:endParaRPr sz="2300" b="0" i="0" u="none" strike="noStrike" cap="none" dirty="0">
              <a:solidFill>
                <a:schemeClr val="dk1"/>
              </a:solidFill>
              <a:latin typeface="Calibri"/>
              <a:ea typeface="Calibri"/>
              <a:cs typeface="Calibri"/>
              <a:sym typeface="Calibri"/>
            </a:endParaRPr>
          </a:p>
        </p:txBody>
      </p:sp>
      <p:sp>
        <p:nvSpPr>
          <p:cNvPr id="222" name="Google Shape;222;p19">
            <a:extLst>
              <a:ext uri="{FF2B5EF4-FFF2-40B4-BE49-F238E27FC236}">
                <a16:creationId xmlns:a16="http://schemas.microsoft.com/office/drawing/2014/main" id="{43963750-455D-D725-DF96-5C0C8BC2B2F7}"/>
              </a:ext>
            </a:extLst>
          </p:cNvPr>
          <p:cNvSpPr/>
          <p:nvPr/>
        </p:nvSpPr>
        <p:spPr>
          <a:xfrm>
            <a:off x="685800" y="762000"/>
            <a:ext cx="8149361" cy="937260"/>
          </a:xfrm>
          <a:prstGeom prst="roundRect">
            <a:avLst>
              <a:gd name="adj" fmla="val 12000"/>
            </a:avLst>
          </a:prstGeom>
          <a:solidFill>
            <a:srgbClr val="FFFFFF"/>
          </a:solidFill>
          <a:ln w="12700" cap="flat" cmpd="sng">
            <a:solidFill>
              <a:srgbClr val="E7DCDC"/>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dirty="0"/>
          </a:p>
        </p:txBody>
      </p:sp>
      <p:pic>
        <p:nvPicPr>
          <p:cNvPr id="223" name="Google Shape;223;p19" descr="/home/claude/talentflow-template/icons/bullseye-accent.png">
            <a:extLst>
              <a:ext uri="{FF2B5EF4-FFF2-40B4-BE49-F238E27FC236}">
                <a16:creationId xmlns:a16="http://schemas.microsoft.com/office/drawing/2014/main" id="{A21451A0-5615-B38D-C0CC-6F5DAC2AA06B}"/>
              </a:ext>
            </a:extLst>
          </p:cNvPr>
          <p:cNvPicPr preferRelativeResize="0"/>
          <p:nvPr/>
        </p:nvPicPr>
        <p:blipFill rotWithShape="1">
          <a:blip r:embed="rId3">
            <a:alphaModFix/>
          </a:blip>
          <a:srcRect/>
          <a:stretch/>
        </p:blipFill>
        <p:spPr>
          <a:xfrm>
            <a:off x="828846" y="1045464"/>
            <a:ext cx="370332" cy="370332"/>
          </a:xfrm>
          <a:prstGeom prst="rect">
            <a:avLst/>
          </a:prstGeom>
          <a:noFill/>
          <a:ln>
            <a:noFill/>
          </a:ln>
        </p:spPr>
      </p:pic>
      <p:sp>
        <p:nvSpPr>
          <p:cNvPr id="224" name="Google Shape;224;p19">
            <a:extLst>
              <a:ext uri="{FF2B5EF4-FFF2-40B4-BE49-F238E27FC236}">
                <a16:creationId xmlns:a16="http://schemas.microsoft.com/office/drawing/2014/main" id="{EBE23A58-0AB9-F771-9B4A-55E7F5A36C1E}"/>
              </a:ext>
            </a:extLst>
          </p:cNvPr>
          <p:cNvSpPr/>
          <p:nvPr/>
        </p:nvSpPr>
        <p:spPr>
          <a:xfrm>
            <a:off x="1342224" y="887730"/>
            <a:ext cx="7189593" cy="68580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475569"/>
              </a:buClr>
              <a:buSzPts val="1000"/>
              <a:buFont typeface="Calibri"/>
              <a:buNone/>
            </a:pPr>
            <a:r>
              <a:rPr lang="ru-RU" i="1" dirty="0">
                <a:solidFill>
                  <a:srgbClr val="1E293B"/>
                </a:solidFill>
                <a:latin typeface="Calibri"/>
                <a:ea typeface="Calibri"/>
                <a:cs typeface="Calibri"/>
                <a:sym typeface="Calibri"/>
              </a:rPr>
              <a:t>Цялостна и </a:t>
            </a:r>
            <a:r>
              <a:rPr lang="ru-RU" i="1" u="none" strike="noStrike" cap="none" dirty="0">
                <a:solidFill>
                  <a:srgbClr val="1E293B"/>
                </a:solidFill>
                <a:latin typeface="Calibri"/>
                <a:ea typeface="Calibri"/>
                <a:cs typeface="Calibri"/>
                <a:sym typeface="Calibri"/>
              </a:rPr>
              <a:t>сигурна уеб базирана платформа, която обединява управление на профили и обяви, кандидатстване</a:t>
            </a:r>
            <a:r>
              <a:rPr lang="ru-RU" i="1" dirty="0">
                <a:solidFill>
                  <a:srgbClr val="1E293B"/>
                </a:solidFill>
                <a:latin typeface="Calibri"/>
                <a:ea typeface="Calibri"/>
                <a:cs typeface="Calibri"/>
                <a:sym typeface="Calibri"/>
              </a:rPr>
              <a:t>,</a:t>
            </a:r>
            <a:r>
              <a:rPr lang="ru-RU" i="1" u="none" strike="noStrike" cap="none" dirty="0">
                <a:solidFill>
                  <a:srgbClr val="1E293B"/>
                </a:solidFill>
                <a:latin typeface="Calibri"/>
                <a:ea typeface="Calibri"/>
                <a:cs typeface="Calibri"/>
                <a:sym typeface="Calibri"/>
              </a:rPr>
              <a:t> комуникация, генериране на документи и административен контрол.</a:t>
            </a:r>
          </a:p>
        </p:txBody>
      </p:sp>
      <p:sp>
        <p:nvSpPr>
          <p:cNvPr id="5" name="Shape 2">
            <a:extLst>
              <a:ext uri="{FF2B5EF4-FFF2-40B4-BE49-F238E27FC236}">
                <a16:creationId xmlns:a16="http://schemas.microsoft.com/office/drawing/2014/main" id="{38C46C8E-56AC-A9A9-7D22-8C479800532E}"/>
              </a:ext>
            </a:extLst>
          </p:cNvPr>
          <p:cNvSpPr/>
          <p:nvPr/>
        </p:nvSpPr>
        <p:spPr>
          <a:xfrm>
            <a:off x="828846" y="2002346"/>
            <a:ext cx="2342979" cy="1128712"/>
          </a:xfrm>
          <a:prstGeom prst="roundRect">
            <a:avLst>
              <a:gd name="adj" fmla="val 6207"/>
            </a:avLst>
          </a:prstGeom>
          <a:solidFill>
            <a:srgbClr val="FFFFFF"/>
          </a:solidFill>
          <a:ln w="19050">
            <a:solidFill>
              <a:srgbClr val="ECA8AE">
                <a:alpha val="80000"/>
              </a:srgbClr>
            </a:solidFill>
            <a:prstDash val="dash"/>
          </a:ln>
        </p:spPr>
        <p:txBody>
          <a:bodyPr/>
          <a:lstStyle/>
          <a:p>
            <a:endParaRPr lang="en-150" sz="1050"/>
          </a:p>
        </p:txBody>
      </p:sp>
      <p:sp>
        <p:nvSpPr>
          <p:cNvPr id="8" name="Text 3">
            <a:extLst>
              <a:ext uri="{FF2B5EF4-FFF2-40B4-BE49-F238E27FC236}">
                <a16:creationId xmlns:a16="http://schemas.microsoft.com/office/drawing/2014/main" id="{746AFE6A-52B0-BAF5-6604-DFBB66D9F735}"/>
              </a:ext>
            </a:extLst>
          </p:cNvPr>
          <p:cNvSpPr/>
          <p:nvPr/>
        </p:nvSpPr>
        <p:spPr>
          <a:xfrm>
            <a:off x="939308" y="2029118"/>
            <a:ext cx="1932958" cy="272448"/>
          </a:xfrm>
          <a:prstGeom prst="rect">
            <a:avLst/>
          </a:prstGeom>
          <a:noFill/>
          <a:ln/>
        </p:spPr>
        <p:txBody>
          <a:bodyPr wrap="square" lIns="0" tIns="0" rIns="0" bIns="0" rtlCol="0" anchor="ctr"/>
          <a:lstStyle/>
          <a:p>
            <a:r>
              <a:rPr lang="en-US" sz="1600" b="1" dirty="0">
                <a:solidFill>
                  <a:srgbClr val="142033"/>
                </a:solidFill>
                <a:latin typeface="Calibri" panose="020F0502020204030204" pitchFamily="34" charset="0"/>
                <a:ea typeface="Calibri" panose="020F0502020204030204" pitchFamily="34" charset="0"/>
                <a:cs typeface="Calibri" panose="020F0502020204030204" pitchFamily="34" charset="0"/>
              </a:rPr>
              <a:t>Плащания</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9" name="Text 4">
            <a:extLst>
              <a:ext uri="{FF2B5EF4-FFF2-40B4-BE49-F238E27FC236}">
                <a16:creationId xmlns:a16="http://schemas.microsoft.com/office/drawing/2014/main" id="{A6D6F642-4B94-93AB-F6BE-2CDE77A3902D}"/>
              </a:ext>
            </a:extLst>
          </p:cNvPr>
          <p:cNvSpPr/>
          <p:nvPr/>
        </p:nvSpPr>
        <p:spPr>
          <a:xfrm>
            <a:off x="911864" y="2417798"/>
            <a:ext cx="2259961" cy="742328"/>
          </a:xfrm>
          <a:prstGeom prst="rect">
            <a:avLst/>
          </a:prstGeom>
          <a:noFill/>
          <a:ln/>
        </p:spPr>
        <p:txBody>
          <a:bodyPr wrap="square" lIns="286" tIns="286" rIns="286" bIns="286" rtlCol="0" anchor="ctr">
            <a:noAutofit/>
          </a:bodyPr>
          <a:lstStyle/>
          <a:p>
            <a:pPr marL="285750" indent="-285750">
              <a:buSzPct val="50000"/>
              <a:buFont typeface="Arial" panose="020B0604020202020204" pitchFamily="34" charset="0"/>
              <a:buChar char="•"/>
            </a:pPr>
            <a:r>
              <a:rPr lang="en-US" sz="1300" dirty="0">
                <a:solidFill>
                  <a:srgbClr val="1E293B"/>
                </a:solidFill>
                <a:latin typeface="Calibri" panose="020F0502020204030204" pitchFamily="34" charset="0"/>
                <a:ea typeface="Calibri" panose="020F0502020204030204" pitchFamily="34" charset="0"/>
                <a:cs typeface="Calibri" panose="020F0502020204030204" pitchFamily="34" charset="0"/>
              </a:rPr>
              <a:t>Stripe Connect / PayPal</a:t>
            </a:r>
          </a:p>
          <a:p>
            <a:pPr marL="285750" indent="-285750">
              <a:buSzPct val="50000"/>
              <a:buFont typeface="Arial" panose="020B0604020202020204" pitchFamily="34" charset="0"/>
              <a:buChar char="•"/>
            </a:pPr>
            <a:r>
              <a:rPr lang="bg-BG" sz="1300" dirty="0">
                <a:solidFill>
                  <a:srgbClr val="1E293B"/>
                </a:solidFill>
                <a:latin typeface="Calibri" panose="020F0502020204030204" pitchFamily="34" charset="0"/>
                <a:ea typeface="Calibri" panose="020F0502020204030204" pitchFamily="34" charset="0"/>
                <a:cs typeface="Calibri" panose="020F0502020204030204" pitchFamily="34" charset="0"/>
              </a:rPr>
              <a:t>Защитено депозиране</a:t>
            </a:r>
          </a:p>
          <a:p>
            <a:pPr marL="285750" indent="-285750">
              <a:buSzPct val="50000"/>
              <a:buFont typeface="Arial" panose="020B0604020202020204" pitchFamily="34" charset="0"/>
              <a:buChar char="•"/>
            </a:pPr>
            <a:r>
              <a:rPr lang="bg-BG" sz="1300" dirty="0">
                <a:solidFill>
                  <a:srgbClr val="1E293B"/>
                </a:solidFill>
                <a:latin typeface="Calibri" panose="020F0502020204030204" pitchFamily="34" charset="0"/>
                <a:ea typeface="Calibri" panose="020F0502020204030204" pitchFamily="34" charset="0"/>
                <a:cs typeface="Calibri" panose="020F0502020204030204" pitchFamily="34" charset="0"/>
              </a:rPr>
              <a:t>Автоматично освобождаване</a:t>
            </a:r>
            <a:endParaRPr lang="en-US" sz="1300" dirty="0">
              <a:solidFill>
                <a:srgbClr val="1E293B"/>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US" sz="1300" dirty="0">
              <a:solidFill>
                <a:srgbClr val="1E293B"/>
              </a:solidFill>
              <a:latin typeface="Calibri" panose="020F0502020204030204" pitchFamily="34" charset="0"/>
              <a:ea typeface="Calibri" panose="020F0502020204030204" pitchFamily="34" charset="0"/>
              <a:cs typeface="Calibri" panose="020F0502020204030204" pitchFamily="34" charset="0"/>
            </a:endParaRPr>
          </a:p>
        </p:txBody>
      </p:sp>
      <p:sp>
        <p:nvSpPr>
          <p:cNvPr id="10" name="Shape 5">
            <a:extLst>
              <a:ext uri="{FF2B5EF4-FFF2-40B4-BE49-F238E27FC236}">
                <a16:creationId xmlns:a16="http://schemas.microsoft.com/office/drawing/2014/main" id="{7541FF0B-6C66-FB3C-3A82-1D0B2E45CA64}"/>
              </a:ext>
            </a:extLst>
          </p:cNvPr>
          <p:cNvSpPr/>
          <p:nvPr/>
        </p:nvSpPr>
        <p:spPr>
          <a:xfrm>
            <a:off x="3572046" y="2002346"/>
            <a:ext cx="2342979" cy="1128712"/>
          </a:xfrm>
          <a:prstGeom prst="roundRect">
            <a:avLst>
              <a:gd name="adj" fmla="val 6207"/>
            </a:avLst>
          </a:prstGeom>
          <a:solidFill>
            <a:srgbClr val="FFFFFF"/>
          </a:solidFill>
          <a:ln w="19050">
            <a:solidFill>
              <a:srgbClr val="ECA8AE">
                <a:alpha val="80000"/>
              </a:srgbClr>
            </a:solidFill>
            <a:prstDash val="dash"/>
          </a:ln>
        </p:spPr>
        <p:txBody>
          <a:bodyPr/>
          <a:lstStyle/>
          <a:p>
            <a:endParaRPr lang="en-150" sz="1050"/>
          </a:p>
        </p:txBody>
      </p:sp>
      <p:sp>
        <p:nvSpPr>
          <p:cNvPr id="11" name="Text 6">
            <a:extLst>
              <a:ext uri="{FF2B5EF4-FFF2-40B4-BE49-F238E27FC236}">
                <a16:creationId xmlns:a16="http://schemas.microsoft.com/office/drawing/2014/main" id="{37C6747A-4641-1DAA-1E1D-CAE35C3DB920}"/>
              </a:ext>
            </a:extLst>
          </p:cNvPr>
          <p:cNvSpPr/>
          <p:nvPr/>
        </p:nvSpPr>
        <p:spPr>
          <a:xfrm>
            <a:off x="3685003" y="2029118"/>
            <a:ext cx="2150954" cy="272448"/>
          </a:xfrm>
          <a:prstGeom prst="rect">
            <a:avLst/>
          </a:prstGeom>
          <a:noFill/>
          <a:ln/>
        </p:spPr>
        <p:txBody>
          <a:bodyPr wrap="square" lIns="0" tIns="0" rIns="0" bIns="0" rtlCol="0" anchor="ctr"/>
          <a:lstStyle/>
          <a:p>
            <a:r>
              <a:rPr lang="en-US" sz="1600" b="1" dirty="0">
                <a:solidFill>
                  <a:srgbClr val="142033"/>
                </a:solidFill>
                <a:latin typeface="Calibri" panose="020F0502020204030204" pitchFamily="34" charset="0"/>
                <a:ea typeface="Calibri" panose="020F0502020204030204" pitchFamily="34" charset="0"/>
                <a:cs typeface="Calibri" panose="020F0502020204030204" pitchFamily="34" charset="0"/>
              </a:rPr>
              <a:t>Мобилно приложение</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12" name="Text 7">
            <a:extLst>
              <a:ext uri="{FF2B5EF4-FFF2-40B4-BE49-F238E27FC236}">
                <a16:creationId xmlns:a16="http://schemas.microsoft.com/office/drawing/2014/main" id="{32828477-6782-88D3-BF46-8DB1A5B336E7}"/>
              </a:ext>
            </a:extLst>
          </p:cNvPr>
          <p:cNvSpPr/>
          <p:nvPr/>
        </p:nvSpPr>
        <p:spPr>
          <a:xfrm>
            <a:off x="3657771" y="2309140"/>
            <a:ext cx="2309090" cy="794496"/>
          </a:xfrm>
          <a:prstGeom prst="rect">
            <a:avLst/>
          </a:prstGeom>
          <a:noFill/>
          <a:ln/>
        </p:spPr>
        <p:txBody>
          <a:bodyPr wrap="square" lIns="286" tIns="286" rIns="286" bIns="286" rtlCol="0" anchor="ctr">
            <a:noAutofit/>
          </a:bodyPr>
          <a:lstStyle/>
          <a:p>
            <a:pPr marL="285750" indent="-285750">
              <a:buFont typeface="Arial" panose="020B0604020202020204" pitchFamily="34" charset="0"/>
              <a:buChar char="•"/>
            </a:pPr>
            <a:r>
              <a:rPr lang="en-US" sz="1300" dirty="0">
                <a:solidFill>
                  <a:srgbClr val="1E293B"/>
                </a:solidFill>
                <a:latin typeface="Calibri" panose="020F0502020204030204" pitchFamily="34" charset="0"/>
                <a:ea typeface="Calibri" panose="020F0502020204030204" pitchFamily="34" charset="0"/>
                <a:cs typeface="Calibri" panose="020F0502020204030204" pitchFamily="34" charset="0"/>
              </a:rPr>
              <a:t>React Native, Kotlin</a:t>
            </a:r>
            <a:endParaRPr lang="bg-BG" sz="1300" dirty="0">
              <a:solidFill>
                <a:srgbClr val="1E293B"/>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300" dirty="0">
                <a:solidFill>
                  <a:srgbClr val="1E293B"/>
                </a:solidFill>
                <a:latin typeface="Calibri" panose="020F0502020204030204" pitchFamily="34" charset="0"/>
                <a:ea typeface="Calibri" panose="020F0502020204030204" pitchFamily="34" charset="0"/>
                <a:cs typeface="Calibri" panose="020F0502020204030204" pitchFamily="34" charset="0"/>
              </a:rPr>
              <a:t>Push </a:t>
            </a:r>
            <a:r>
              <a:rPr lang="bg-BG" sz="1300" dirty="0">
                <a:solidFill>
                  <a:srgbClr val="1E293B"/>
                </a:solidFill>
                <a:latin typeface="Calibri" panose="020F0502020204030204" pitchFamily="34" charset="0"/>
                <a:ea typeface="Calibri" panose="020F0502020204030204" pitchFamily="34" charset="0"/>
                <a:cs typeface="Calibri" panose="020F0502020204030204" pitchFamily="34" charset="0"/>
              </a:rPr>
              <a:t>известия, офлайн съобщения</a:t>
            </a:r>
          </a:p>
          <a:p>
            <a:pPr marL="285750" indent="-285750">
              <a:buFont typeface="Arial" panose="020B0604020202020204" pitchFamily="34" charset="0"/>
              <a:buChar char="•"/>
            </a:pPr>
            <a:r>
              <a:rPr lang="bg-BG" sz="1300" dirty="0">
                <a:solidFill>
                  <a:srgbClr val="1E293B"/>
                </a:solidFill>
                <a:latin typeface="Calibri" panose="020F0502020204030204" pitchFamily="34" charset="0"/>
                <a:ea typeface="Calibri" panose="020F0502020204030204" pitchFamily="34" charset="0"/>
                <a:cs typeface="Calibri" panose="020F0502020204030204" pitchFamily="34" charset="0"/>
              </a:rPr>
              <a:t>Съществуващ </a:t>
            </a:r>
            <a:r>
              <a:rPr lang="en-US" sz="1300" dirty="0">
                <a:solidFill>
                  <a:srgbClr val="1E293B"/>
                </a:solidFill>
                <a:latin typeface="Calibri" panose="020F0502020204030204" pitchFamily="34" charset="0"/>
                <a:ea typeface="Calibri" panose="020F0502020204030204" pitchFamily="34" charset="0"/>
                <a:cs typeface="Calibri" panose="020F0502020204030204" pitchFamily="34" charset="0"/>
              </a:rPr>
              <a:t>REST API</a:t>
            </a:r>
          </a:p>
        </p:txBody>
      </p:sp>
      <p:sp>
        <p:nvSpPr>
          <p:cNvPr id="13" name="Shape 8">
            <a:extLst>
              <a:ext uri="{FF2B5EF4-FFF2-40B4-BE49-F238E27FC236}">
                <a16:creationId xmlns:a16="http://schemas.microsoft.com/office/drawing/2014/main" id="{E666F0DA-324F-CA05-BE61-9CEE92AFFF9F}"/>
              </a:ext>
            </a:extLst>
          </p:cNvPr>
          <p:cNvSpPr/>
          <p:nvPr/>
        </p:nvSpPr>
        <p:spPr>
          <a:xfrm>
            <a:off x="6315246" y="2002346"/>
            <a:ext cx="2342979" cy="1128712"/>
          </a:xfrm>
          <a:prstGeom prst="roundRect">
            <a:avLst>
              <a:gd name="adj" fmla="val 6207"/>
            </a:avLst>
          </a:prstGeom>
          <a:solidFill>
            <a:srgbClr val="FFFFFF"/>
          </a:solidFill>
          <a:ln w="19050">
            <a:solidFill>
              <a:srgbClr val="ECA8AE">
                <a:alpha val="80000"/>
              </a:srgbClr>
            </a:solidFill>
            <a:prstDash val="dash"/>
          </a:ln>
        </p:spPr>
        <p:txBody>
          <a:bodyPr/>
          <a:lstStyle/>
          <a:p>
            <a:endParaRPr lang="en-150" sz="1050"/>
          </a:p>
        </p:txBody>
      </p:sp>
      <p:sp>
        <p:nvSpPr>
          <p:cNvPr id="14" name="Text 9">
            <a:extLst>
              <a:ext uri="{FF2B5EF4-FFF2-40B4-BE49-F238E27FC236}">
                <a16:creationId xmlns:a16="http://schemas.microsoft.com/office/drawing/2014/main" id="{8BC172F2-6339-9976-D3DD-F8B0A58D4705}"/>
              </a:ext>
            </a:extLst>
          </p:cNvPr>
          <p:cNvSpPr/>
          <p:nvPr/>
        </p:nvSpPr>
        <p:spPr>
          <a:xfrm>
            <a:off x="6458338" y="2055017"/>
            <a:ext cx="2189882" cy="272448"/>
          </a:xfrm>
          <a:prstGeom prst="rect">
            <a:avLst/>
          </a:prstGeom>
          <a:noFill/>
          <a:ln/>
        </p:spPr>
        <p:txBody>
          <a:bodyPr wrap="square" lIns="0" tIns="0" rIns="0" bIns="0" rtlCol="0" anchor="ctr"/>
          <a:lstStyle/>
          <a:p>
            <a:r>
              <a:rPr lang="bg-BG" sz="1600" b="1" dirty="0">
                <a:solidFill>
                  <a:srgbClr val="142033"/>
                </a:solidFill>
                <a:latin typeface="Calibri" panose="020F0502020204030204" pitchFamily="34" charset="0"/>
                <a:ea typeface="Calibri" panose="020F0502020204030204" pitchFamily="34" charset="0"/>
                <a:cs typeface="Calibri" panose="020F0502020204030204" pitchFamily="34" charset="0"/>
              </a:rPr>
              <a:t>Управление на проекти</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15" name="Text 10">
            <a:extLst>
              <a:ext uri="{FF2B5EF4-FFF2-40B4-BE49-F238E27FC236}">
                <a16:creationId xmlns:a16="http://schemas.microsoft.com/office/drawing/2014/main" id="{B4A536D2-AC0F-7DB8-15E5-155BBF97B419}"/>
              </a:ext>
            </a:extLst>
          </p:cNvPr>
          <p:cNvSpPr/>
          <p:nvPr/>
        </p:nvSpPr>
        <p:spPr>
          <a:xfrm>
            <a:off x="6458338" y="2338176"/>
            <a:ext cx="2189881" cy="633552"/>
          </a:xfrm>
          <a:prstGeom prst="rect">
            <a:avLst/>
          </a:prstGeom>
          <a:noFill/>
          <a:ln/>
        </p:spPr>
        <p:txBody>
          <a:bodyPr wrap="square" lIns="286" tIns="286" rIns="286" bIns="286" rtlCol="0" anchor="ctr">
            <a:noAutofit/>
          </a:bodyPr>
          <a:lstStyle/>
          <a:p>
            <a:pPr marL="285750" indent="-285750">
              <a:buFont typeface="Arial" panose="020B0604020202020204" pitchFamily="34" charset="0"/>
              <a:buChar char="•"/>
            </a:pPr>
            <a:r>
              <a:rPr lang="bg-BG" sz="1300" dirty="0">
                <a:solidFill>
                  <a:srgbClr val="1E293B"/>
                </a:solidFill>
                <a:latin typeface="Calibri" panose="020F0502020204030204" pitchFamily="34" charset="0"/>
                <a:ea typeface="Calibri" panose="020F0502020204030204" pitchFamily="34" charset="0"/>
                <a:cs typeface="Calibri" panose="020F0502020204030204" pitchFamily="34" charset="0"/>
              </a:rPr>
              <a:t>Етапи и задачи</a:t>
            </a:r>
          </a:p>
          <a:p>
            <a:pPr marL="285750" indent="-285750">
              <a:buFont typeface="Arial" panose="020B0604020202020204" pitchFamily="34" charset="0"/>
              <a:buChar char="•"/>
            </a:pPr>
            <a:r>
              <a:rPr lang="bg-BG" sz="1300" dirty="0">
                <a:solidFill>
                  <a:srgbClr val="1E293B"/>
                </a:solidFill>
                <a:latin typeface="Calibri" panose="020F0502020204030204" pitchFamily="34" charset="0"/>
                <a:ea typeface="Calibri" panose="020F0502020204030204" pitchFamily="34" charset="0"/>
                <a:cs typeface="Calibri" panose="020F0502020204030204" pitchFamily="34" charset="0"/>
              </a:rPr>
              <a:t>Срокове и напредък</a:t>
            </a:r>
          </a:p>
          <a:p>
            <a:pPr marL="285750" indent="-285750">
              <a:buFont typeface="Arial" panose="020B0604020202020204" pitchFamily="34" charset="0"/>
              <a:buChar char="•"/>
            </a:pPr>
            <a:r>
              <a:rPr lang="bg-BG" sz="1300" dirty="0">
                <a:solidFill>
                  <a:srgbClr val="1E293B"/>
                </a:solidFill>
                <a:latin typeface="Calibri" panose="020F0502020204030204" pitchFamily="34" charset="0"/>
                <a:ea typeface="Calibri" panose="020F0502020204030204" pitchFamily="34" charset="0"/>
                <a:cs typeface="Calibri" panose="020F0502020204030204" pitchFamily="34" charset="0"/>
              </a:rPr>
              <a:t>Одобряване на резултати</a:t>
            </a:r>
            <a:endParaRPr lang="en-US" sz="1300" dirty="0">
              <a:solidFill>
                <a:srgbClr val="1E293B"/>
              </a:solidFill>
              <a:latin typeface="Calibri" panose="020F0502020204030204" pitchFamily="34" charset="0"/>
              <a:ea typeface="Calibri" panose="020F0502020204030204" pitchFamily="34" charset="0"/>
              <a:cs typeface="Calibri" panose="020F0502020204030204" pitchFamily="34" charset="0"/>
            </a:endParaRPr>
          </a:p>
        </p:txBody>
      </p:sp>
      <p:sp>
        <p:nvSpPr>
          <p:cNvPr id="16" name="Shape 11">
            <a:extLst>
              <a:ext uri="{FF2B5EF4-FFF2-40B4-BE49-F238E27FC236}">
                <a16:creationId xmlns:a16="http://schemas.microsoft.com/office/drawing/2014/main" id="{9A85D5C3-ADF6-8CB7-CA60-98210353F457}"/>
              </a:ext>
            </a:extLst>
          </p:cNvPr>
          <p:cNvSpPr/>
          <p:nvPr/>
        </p:nvSpPr>
        <p:spPr>
          <a:xfrm>
            <a:off x="1831828" y="3356386"/>
            <a:ext cx="2562633" cy="1128712"/>
          </a:xfrm>
          <a:prstGeom prst="roundRect">
            <a:avLst>
              <a:gd name="adj" fmla="val 6207"/>
            </a:avLst>
          </a:prstGeom>
          <a:solidFill>
            <a:srgbClr val="F3C9CD"/>
          </a:solidFill>
          <a:ln w="12700">
            <a:solidFill>
              <a:srgbClr val="E4D4D8">
                <a:alpha val="80000"/>
              </a:srgbClr>
            </a:solidFill>
            <a:prstDash val="solid"/>
          </a:ln>
        </p:spPr>
        <p:txBody>
          <a:bodyPr/>
          <a:lstStyle/>
          <a:p>
            <a:endParaRPr lang="en-150" sz="1050"/>
          </a:p>
        </p:txBody>
      </p:sp>
      <p:sp>
        <p:nvSpPr>
          <p:cNvPr id="17" name="Text 12">
            <a:extLst>
              <a:ext uri="{FF2B5EF4-FFF2-40B4-BE49-F238E27FC236}">
                <a16:creationId xmlns:a16="http://schemas.microsoft.com/office/drawing/2014/main" id="{C7A3DC6D-CFBE-D869-011F-E84C02753008}"/>
              </a:ext>
            </a:extLst>
          </p:cNvPr>
          <p:cNvSpPr/>
          <p:nvPr/>
        </p:nvSpPr>
        <p:spPr>
          <a:xfrm>
            <a:off x="1905787" y="3382864"/>
            <a:ext cx="2152612" cy="272448"/>
          </a:xfrm>
          <a:prstGeom prst="rect">
            <a:avLst/>
          </a:prstGeom>
          <a:noFill/>
          <a:ln/>
        </p:spPr>
        <p:txBody>
          <a:bodyPr wrap="square" lIns="0" tIns="0" rIns="0" bIns="0" rtlCol="0" anchor="ctr"/>
          <a:lstStyle/>
          <a:p>
            <a:r>
              <a:rPr lang="bg-BG" sz="1600" b="1" dirty="0">
                <a:solidFill>
                  <a:srgbClr val="142033"/>
                </a:solidFill>
                <a:latin typeface="Calibri" panose="020F0502020204030204" pitchFamily="34" charset="0"/>
                <a:ea typeface="Calibri" panose="020F0502020204030204" pitchFamily="34" charset="0"/>
                <a:cs typeface="Calibri" panose="020F0502020204030204" pitchFamily="34" charset="0"/>
              </a:rPr>
              <a:t>Достъпност</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18" name="Text 13">
            <a:extLst>
              <a:ext uri="{FF2B5EF4-FFF2-40B4-BE49-F238E27FC236}">
                <a16:creationId xmlns:a16="http://schemas.microsoft.com/office/drawing/2014/main" id="{6917FCB9-9277-7B87-6634-6D83D4F686D8}"/>
              </a:ext>
            </a:extLst>
          </p:cNvPr>
          <p:cNvSpPr/>
          <p:nvPr/>
        </p:nvSpPr>
        <p:spPr>
          <a:xfrm>
            <a:off x="1905787" y="3735762"/>
            <a:ext cx="2418239" cy="645738"/>
          </a:xfrm>
          <a:prstGeom prst="rect">
            <a:avLst/>
          </a:prstGeom>
          <a:noFill/>
          <a:ln/>
        </p:spPr>
        <p:txBody>
          <a:bodyPr wrap="square" lIns="286" tIns="286" rIns="286" bIns="286" rtlCol="0" anchor="ctr">
            <a:noAutofit/>
          </a:bodyPr>
          <a:lstStyle/>
          <a:p>
            <a:pPr marL="285750" indent="-285750">
              <a:buFont typeface="Arial" panose="020B0604020202020204" pitchFamily="34" charset="0"/>
              <a:buChar char="•"/>
            </a:pPr>
            <a:r>
              <a:rPr lang="bg-BG" sz="1300" dirty="0">
                <a:solidFill>
                  <a:srgbClr val="1E293B"/>
                </a:solidFill>
                <a:latin typeface="Calibri" panose="020F0502020204030204" pitchFamily="34" charset="0"/>
                <a:ea typeface="Calibri" panose="020F0502020204030204" pitchFamily="34" charset="0"/>
                <a:cs typeface="Calibri" panose="020F0502020204030204" pitchFamily="34" charset="0"/>
              </a:rPr>
              <a:t>Многоезичен интерфейс</a:t>
            </a:r>
          </a:p>
          <a:p>
            <a:pPr marL="285750" indent="-285750">
              <a:buFont typeface="Arial" panose="020B0604020202020204" pitchFamily="34" charset="0"/>
              <a:buChar char="•"/>
            </a:pPr>
            <a:r>
              <a:rPr lang="bg-BG" sz="1300" dirty="0">
                <a:solidFill>
                  <a:srgbClr val="1E293B"/>
                </a:solidFill>
                <a:latin typeface="Calibri" panose="020F0502020204030204" pitchFamily="34" charset="0"/>
                <a:ea typeface="Calibri" panose="020F0502020204030204" pitchFamily="34" charset="0"/>
                <a:cs typeface="Calibri" panose="020F0502020204030204" pitchFamily="34" charset="0"/>
              </a:rPr>
              <a:t>Локализация на валути, данни</a:t>
            </a:r>
          </a:p>
          <a:p>
            <a:pPr marL="285750" indent="-285750">
              <a:buFont typeface="Arial" panose="020B0604020202020204" pitchFamily="34" charset="0"/>
              <a:buChar char="•"/>
            </a:pPr>
            <a:r>
              <a:rPr lang="en-US" sz="1300" dirty="0">
                <a:solidFill>
                  <a:srgbClr val="1E293B"/>
                </a:solidFill>
                <a:latin typeface="Calibri" panose="020F0502020204030204" pitchFamily="34" charset="0"/>
                <a:ea typeface="Calibri" panose="020F0502020204030204" pitchFamily="34" charset="0"/>
                <a:cs typeface="Calibri" panose="020F0502020204030204" pitchFamily="34" charset="0"/>
              </a:rPr>
              <a:t>WCAG </a:t>
            </a:r>
            <a:r>
              <a:rPr lang="bg-BG" sz="1300" dirty="0">
                <a:solidFill>
                  <a:srgbClr val="1E293B"/>
                </a:solidFill>
                <a:latin typeface="Calibri" panose="020F0502020204030204" pitchFamily="34" charset="0"/>
                <a:ea typeface="Calibri" panose="020F0502020204030204" pitchFamily="34" charset="0"/>
                <a:cs typeface="Calibri" panose="020F0502020204030204" pitchFamily="34" charset="0"/>
              </a:rPr>
              <a:t>съответствие</a:t>
            </a:r>
            <a:endParaRPr lang="en-US" sz="1300" dirty="0">
              <a:solidFill>
                <a:srgbClr val="1E293B"/>
              </a:solidFill>
              <a:latin typeface="Calibri" panose="020F0502020204030204" pitchFamily="34" charset="0"/>
              <a:ea typeface="Calibri" panose="020F0502020204030204" pitchFamily="34" charset="0"/>
              <a:cs typeface="Calibri" panose="020F0502020204030204" pitchFamily="34" charset="0"/>
            </a:endParaRPr>
          </a:p>
        </p:txBody>
      </p:sp>
      <p:sp>
        <p:nvSpPr>
          <p:cNvPr id="19" name="Shape 14">
            <a:extLst>
              <a:ext uri="{FF2B5EF4-FFF2-40B4-BE49-F238E27FC236}">
                <a16:creationId xmlns:a16="http://schemas.microsoft.com/office/drawing/2014/main" id="{BE4B77FC-A39A-E2F0-B964-FBAFDEA4EC2A}"/>
              </a:ext>
            </a:extLst>
          </p:cNvPr>
          <p:cNvSpPr/>
          <p:nvPr/>
        </p:nvSpPr>
        <p:spPr>
          <a:xfrm>
            <a:off x="4712188" y="3356386"/>
            <a:ext cx="2562633" cy="1128712"/>
          </a:xfrm>
          <a:prstGeom prst="roundRect">
            <a:avLst>
              <a:gd name="adj" fmla="val 6207"/>
            </a:avLst>
          </a:prstGeom>
          <a:solidFill>
            <a:srgbClr val="F3C9CD"/>
          </a:solidFill>
          <a:ln w="12700">
            <a:solidFill>
              <a:srgbClr val="E4D4D8">
                <a:alpha val="80000"/>
              </a:srgbClr>
            </a:solidFill>
            <a:prstDash val="solid"/>
          </a:ln>
        </p:spPr>
        <p:txBody>
          <a:bodyPr/>
          <a:lstStyle/>
          <a:p>
            <a:endParaRPr lang="en-150" sz="1050"/>
          </a:p>
        </p:txBody>
      </p:sp>
      <p:sp>
        <p:nvSpPr>
          <p:cNvPr id="20" name="Text 15">
            <a:extLst>
              <a:ext uri="{FF2B5EF4-FFF2-40B4-BE49-F238E27FC236}">
                <a16:creationId xmlns:a16="http://schemas.microsoft.com/office/drawing/2014/main" id="{4EE3A346-E99C-96E6-A15B-0AA18FCCB647}"/>
              </a:ext>
            </a:extLst>
          </p:cNvPr>
          <p:cNvSpPr/>
          <p:nvPr/>
        </p:nvSpPr>
        <p:spPr>
          <a:xfrm>
            <a:off x="4838719" y="3388008"/>
            <a:ext cx="2152612" cy="272448"/>
          </a:xfrm>
          <a:prstGeom prst="rect">
            <a:avLst/>
          </a:prstGeom>
          <a:noFill/>
          <a:ln/>
        </p:spPr>
        <p:txBody>
          <a:bodyPr wrap="square" lIns="0" tIns="0" rIns="0" bIns="0" rtlCol="0" anchor="ctr"/>
          <a:lstStyle/>
          <a:p>
            <a:r>
              <a:rPr lang="en-US" sz="1600" b="1" dirty="0">
                <a:solidFill>
                  <a:srgbClr val="142033"/>
                </a:solidFill>
                <a:latin typeface="Calibri" panose="020F0502020204030204" pitchFamily="34" charset="0"/>
                <a:ea typeface="Calibri" panose="020F0502020204030204" pitchFamily="34" charset="0"/>
                <a:cs typeface="Calibri" panose="020F0502020204030204" pitchFamily="34" charset="0"/>
              </a:rPr>
              <a:t>AI функционалности</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21" name="Text 16">
            <a:extLst>
              <a:ext uri="{FF2B5EF4-FFF2-40B4-BE49-F238E27FC236}">
                <a16:creationId xmlns:a16="http://schemas.microsoft.com/office/drawing/2014/main" id="{C2FDD877-8DB3-C680-EC01-B630A6901362}"/>
              </a:ext>
            </a:extLst>
          </p:cNvPr>
          <p:cNvSpPr/>
          <p:nvPr/>
        </p:nvSpPr>
        <p:spPr>
          <a:xfrm>
            <a:off x="4801369" y="3626418"/>
            <a:ext cx="2436844" cy="802800"/>
          </a:xfrm>
          <a:prstGeom prst="rect">
            <a:avLst/>
          </a:prstGeom>
          <a:noFill/>
          <a:ln/>
        </p:spPr>
        <p:txBody>
          <a:bodyPr wrap="square" lIns="286" tIns="286" rIns="286" bIns="286" rtlCol="0" anchor="ctr">
            <a:noAutofit/>
          </a:bodyPr>
          <a:lstStyle/>
          <a:p>
            <a:pPr marL="285750" indent="-285750">
              <a:buFont typeface="Arial" panose="020B0604020202020204" pitchFamily="34" charset="0"/>
              <a:buChar char="•"/>
            </a:pPr>
            <a:r>
              <a:rPr lang="bg-BG" sz="1300" dirty="0">
                <a:solidFill>
                  <a:srgbClr val="1E293B"/>
                </a:solidFill>
                <a:latin typeface="Calibri" panose="020F0502020204030204" pitchFamily="34" charset="0"/>
                <a:ea typeface="Calibri" panose="020F0502020204030204" pitchFamily="34" charset="0"/>
                <a:cs typeface="Calibri" panose="020F0502020204030204" pitchFamily="34" charset="0"/>
              </a:rPr>
              <a:t>Интелигентно съпоставяне</a:t>
            </a:r>
          </a:p>
          <a:p>
            <a:pPr marL="285750" indent="-285750">
              <a:buFont typeface="Arial" panose="020B0604020202020204" pitchFamily="34" charset="0"/>
              <a:buChar char="•"/>
            </a:pPr>
            <a:r>
              <a:rPr lang="bg-BG" sz="1300" dirty="0">
                <a:solidFill>
                  <a:srgbClr val="1E293B"/>
                </a:solidFill>
                <a:latin typeface="Calibri" panose="020F0502020204030204" pitchFamily="34" charset="0"/>
                <a:ea typeface="Calibri" panose="020F0502020204030204" pitchFamily="34" charset="0"/>
                <a:cs typeface="Calibri" panose="020F0502020204030204" pitchFamily="34" charset="0"/>
              </a:rPr>
              <a:t>Автоматизирана модерация</a:t>
            </a:r>
          </a:p>
          <a:p>
            <a:pPr marL="285750" indent="-285750">
              <a:buFont typeface="Arial" panose="020B0604020202020204" pitchFamily="34" charset="0"/>
              <a:buChar char="•"/>
            </a:pPr>
            <a:r>
              <a:rPr lang="bg-BG" sz="1300" dirty="0">
                <a:solidFill>
                  <a:srgbClr val="1E293B"/>
                </a:solidFill>
                <a:latin typeface="Calibri" panose="020F0502020204030204" pitchFamily="34" charset="0"/>
                <a:ea typeface="Calibri" panose="020F0502020204030204" pitchFamily="34" charset="0"/>
                <a:cs typeface="Calibri" panose="020F0502020204030204" pitchFamily="34" charset="0"/>
              </a:rPr>
              <a:t>Предвиждане на спорове</a:t>
            </a:r>
            <a:endParaRPr lang="en-US" sz="1300" dirty="0">
              <a:solidFill>
                <a:srgbClr val="1E293B"/>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752179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63"/>
        <p:cNvGrpSpPr/>
        <p:nvPr/>
      </p:nvGrpSpPr>
      <p:grpSpPr>
        <a:xfrm>
          <a:off x="0" y="0"/>
          <a:ext cx="0" cy="0"/>
          <a:chOff x="0" y="0"/>
          <a:chExt cx="0" cy="0"/>
        </a:xfrm>
      </p:grpSpPr>
      <p:sp>
        <p:nvSpPr>
          <p:cNvPr id="764" name="Google Shape;764;p40"/>
          <p:cNvSpPr/>
          <p:nvPr/>
        </p:nvSpPr>
        <p:spPr>
          <a:xfrm>
            <a:off x="945281" y="1544782"/>
            <a:ext cx="7566431" cy="723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2A4A4"/>
              </a:buClr>
              <a:buSzPts val="1100"/>
              <a:buFont typeface="Calibri"/>
              <a:buNone/>
            </a:pPr>
            <a:r>
              <a:rPr lang="bg" sz="4000" b="1" i="0" u="none" strike="noStrike" cap="none" dirty="0">
                <a:solidFill>
                  <a:srgbClr val="E2A4A4"/>
                </a:solidFill>
                <a:latin typeface="Cambria" panose="02040503050406030204" pitchFamily="18" charset="0"/>
                <a:ea typeface="Cambria" panose="02040503050406030204" pitchFamily="18" charset="0"/>
                <a:cs typeface="Calibri"/>
                <a:sym typeface="Calibri"/>
              </a:rPr>
              <a:t>БЛАГОДАРЯ ЗА ВНИМАНИЕТО</a:t>
            </a:r>
            <a:r>
              <a:rPr lang="en-US" sz="4000" b="1" i="0" u="none" strike="noStrike" cap="none" dirty="0">
                <a:solidFill>
                  <a:srgbClr val="E2A4A4"/>
                </a:solidFill>
                <a:latin typeface="Cambria" panose="02040503050406030204" pitchFamily="18" charset="0"/>
                <a:ea typeface="Cambria" panose="02040503050406030204" pitchFamily="18" charset="0"/>
                <a:cs typeface="Calibri"/>
                <a:sym typeface="Calibri"/>
              </a:rPr>
              <a:t>!</a:t>
            </a:r>
            <a:endParaRPr sz="4000" b="0" i="0" u="none" strike="noStrike" cap="none" dirty="0">
              <a:solidFill>
                <a:schemeClr val="dk1"/>
              </a:solidFill>
              <a:latin typeface="Cambria" panose="02040503050406030204" pitchFamily="18" charset="0"/>
              <a:ea typeface="Cambria" panose="02040503050406030204" pitchFamily="18" charset="0"/>
              <a:cs typeface="Calibri"/>
              <a:sym typeface="Calibri"/>
            </a:endParaRPr>
          </a:p>
        </p:txBody>
      </p:sp>
      <p:sp>
        <p:nvSpPr>
          <p:cNvPr id="767" name="Google Shape;767;p40"/>
          <p:cNvSpPr/>
          <p:nvPr/>
        </p:nvSpPr>
        <p:spPr>
          <a:xfrm>
            <a:off x="5980716" y="2961410"/>
            <a:ext cx="2453564" cy="754380"/>
          </a:xfrm>
          <a:prstGeom prst="roundRect">
            <a:avLst>
              <a:gd name="adj" fmla="val 12727"/>
            </a:avLst>
          </a:prstGeom>
          <a:solidFill>
            <a:srgbClr val="16213A"/>
          </a:solidFill>
          <a:ln w="12700" cap="flat" cmpd="sng">
            <a:solidFill>
              <a:srgbClr val="27344A"/>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768" name="Google Shape;768;p40" descr="/home/claude/talentflow-template/icons/code-accent.png"/>
          <p:cNvPicPr preferRelativeResize="0"/>
          <p:nvPr/>
        </p:nvPicPr>
        <p:blipFill rotWithShape="1">
          <a:blip r:embed="rId4">
            <a:alphaModFix/>
          </a:blip>
          <a:srcRect/>
          <a:stretch/>
        </p:blipFill>
        <p:spPr>
          <a:xfrm>
            <a:off x="6097301" y="3077996"/>
            <a:ext cx="233172" cy="233172"/>
          </a:xfrm>
          <a:prstGeom prst="rect">
            <a:avLst/>
          </a:prstGeom>
          <a:noFill/>
          <a:ln>
            <a:noFill/>
          </a:ln>
        </p:spPr>
      </p:pic>
      <p:sp>
        <p:nvSpPr>
          <p:cNvPr id="769" name="Google Shape;769;p40"/>
          <p:cNvSpPr/>
          <p:nvPr/>
        </p:nvSpPr>
        <p:spPr>
          <a:xfrm>
            <a:off x="6412769" y="3074567"/>
            <a:ext cx="1870634" cy="1920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700"/>
              <a:buFont typeface="Calibri"/>
              <a:buNone/>
            </a:pPr>
            <a:r>
              <a:rPr lang="bg" sz="1200" b="1" i="0" u="none" strike="noStrike" cap="none" dirty="0">
                <a:solidFill>
                  <a:srgbClr val="94A3B8"/>
                </a:solidFill>
                <a:latin typeface="Calibri"/>
                <a:ea typeface="Calibri"/>
                <a:cs typeface="Calibri"/>
                <a:sym typeface="Calibri"/>
              </a:rPr>
              <a:t>ХРАНИЛИЩЕ</a:t>
            </a:r>
            <a:endParaRPr sz="1200" b="0" i="0" u="none" strike="noStrike" cap="none" dirty="0">
              <a:solidFill>
                <a:schemeClr val="dk1"/>
              </a:solidFill>
              <a:latin typeface="Calibri"/>
              <a:ea typeface="Calibri"/>
              <a:cs typeface="Calibri"/>
              <a:sym typeface="Calibri"/>
            </a:endParaRPr>
          </a:p>
        </p:txBody>
      </p:sp>
      <p:sp>
        <p:nvSpPr>
          <p:cNvPr id="770" name="Google Shape;770;p40"/>
          <p:cNvSpPr/>
          <p:nvPr/>
        </p:nvSpPr>
        <p:spPr>
          <a:xfrm>
            <a:off x="6363048" y="3324884"/>
            <a:ext cx="1970075" cy="2331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00"/>
              <a:buFont typeface="Calibri"/>
              <a:buNone/>
            </a:pPr>
            <a:r>
              <a:rPr lang="en-US" sz="1600" b="0" i="0" u="none" strike="noStrike" cap="none" dirty="0">
                <a:solidFill>
                  <a:srgbClr val="FFFFFF"/>
                </a:solidFill>
                <a:latin typeface="Calibri"/>
                <a:ea typeface="Calibri"/>
                <a:cs typeface="Calibri"/>
                <a:sym typeface="Calibri"/>
              </a:rPr>
              <a:t>tstoycheva93/freelance</a:t>
            </a:r>
            <a:endParaRPr lang="en-US" sz="1600" b="0" i="0" u="none" strike="noStrike" cap="none" dirty="0">
              <a:solidFill>
                <a:schemeClr val="dk1"/>
              </a:solidFill>
              <a:latin typeface="Calibri"/>
              <a:ea typeface="Calibri"/>
              <a:cs typeface="Calibri"/>
              <a:sym typeface="Calibri"/>
            </a:endParaRPr>
          </a:p>
        </p:txBody>
      </p:sp>
      <p:sp>
        <p:nvSpPr>
          <p:cNvPr id="771" name="Google Shape;771;p40"/>
          <p:cNvSpPr/>
          <p:nvPr/>
        </p:nvSpPr>
        <p:spPr>
          <a:xfrm>
            <a:off x="3376275" y="2961410"/>
            <a:ext cx="2453564" cy="754380"/>
          </a:xfrm>
          <a:prstGeom prst="roundRect">
            <a:avLst>
              <a:gd name="adj" fmla="val 12727"/>
            </a:avLst>
          </a:prstGeom>
          <a:solidFill>
            <a:srgbClr val="16213A"/>
          </a:solidFill>
          <a:ln w="12700" cap="flat" cmpd="sng">
            <a:solidFill>
              <a:srgbClr val="27344A"/>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772" name="Google Shape;772;p40" descr="/home/claude/talentflow-template/icons/briefcase-accent.png"/>
          <p:cNvPicPr preferRelativeResize="0"/>
          <p:nvPr/>
        </p:nvPicPr>
        <p:blipFill rotWithShape="1">
          <a:blip r:embed="rId5">
            <a:alphaModFix/>
          </a:blip>
          <a:srcRect/>
          <a:stretch/>
        </p:blipFill>
        <p:spPr>
          <a:xfrm>
            <a:off x="3527152" y="3126002"/>
            <a:ext cx="233172" cy="233172"/>
          </a:xfrm>
          <a:prstGeom prst="rect">
            <a:avLst/>
          </a:prstGeom>
          <a:noFill/>
          <a:ln>
            <a:noFill/>
          </a:ln>
        </p:spPr>
      </p:pic>
      <p:sp>
        <p:nvSpPr>
          <p:cNvPr id="773" name="Google Shape;773;p40"/>
          <p:cNvSpPr/>
          <p:nvPr/>
        </p:nvSpPr>
        <p:spPr>
          <a:xfrm>
            <a:off x="3859764" y="3123716"/>
            <a:ext cx="1870634" cy="1920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700"/>
              <a:buFont typeface="Calibri"/>
              <a:buNone/>
            </a:pPr>
            <a:r>
              <a:rPr lang="bg" sz="1200" b="1" i="0" u="none" strike="noStrike" cap="none" dirty="0">
                <a:solidFill>
                  <a:srgbClr val="94A3B8"/>
                </a:solidFill>
                <a:latin typeface="Calibri"/>
                <a:ea typeface="Calibri"/>
                <a:cs typeface="Calibri"/>
                <a:sym typeface="Calibri"/>
              </a:rPr>
              <a:t>ИЗГОТВИЛ</a:t>
            </a:r>
            <a:endParaRPr sz="600" b="0" i="0" u="none" strike="noStrike" cap="none" dirty="0">
              <a:solidFill>
                <a:schemeClr val="dk1"/>
              </a:solidFill>
              <a:latin typeface="Calibri"/>
              <a:ea typeface="Calibri"/>
              <a:cs typeface="Calibri"/>
              <a:sym typeface="Calibri"/>
            </a:endParaRPr>
          </a:p>
        </p:txBody>
      </p:sp>
      <p:sp>
        <p:nvSpPr>
          <p:cNvPr id="774" name="Google Shape;774;p40"/>
          <p:cNvSpPr/>
          <p:nvPr/>
        </p:nvSpPr>
        <p:spPr>
          <a:xfrm>
            <a:off x="3842620" y="3334028"/>
            <a:ext cx="1603402" cy="2331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00"/>
              <a:buFont typeface="Calibri"/>
              <a:buNone/>
            </a:pPr>
            <a:r>
              <a:rPr lang="bg" sz="1600" b="0" i="0" u="none" strike="noStrike" cap="none" dirty="0">
                <a:solidFill>
                  <a:srgbClr val="FFFFFF"/>
                </a:solidFill>
                <a:latin typeface="Calibri"/>
                <a:ea typeface="Calibri"/>
                <a:cs typeface="Calibri"/>
                <a:sym typeface="Calibri"/>
              </a:rPr>
              <a:t>Теодора Стойчева</a:t>
            </a:r>
            <a:endParaRPr sz="1600" b="0" i="0" u="none" strike="noStrike" cap="none" dirty="0">
              <a:solidFill>
                <a:schemeClr val="dk1"/>
              </a:solidFill>
              <a:latin typeface="Calibri"/>
              <a:ea typeface="Calibri"/>
              <a:cs typeface="Calibri"/>
              <a:sym typeface="Calibri"/>
            </a:endParaRPr>
          </a:p>
        </p:txBody>
      </p:sp>
      <p:sp>
        <p:nvSpPr>
          <p:cNvPr id="775" name="Google Shape;775;p40"/>
          <p:cNvSpPr/>
          <p:nvPr/>
        </p:nvSpPr>
        <p:spPr>
          <a:xfrm>
            <a:off x="716972" y="2956838"/>
            <a:ext cx="2453563" cy="754380"/>
          </a:xfrm>
          <a:prstGeom prst="roundRect">
            <a:avLst>
              <a:gd name="adj" fmla="val 12727"/>
            </a:avLst>
          </a:prstGeom>
          <a:solidFill>
            <a:srgbClr val="16213A"/>
          </a:solidFill>
          <a:ln w="12700" cap="flat" cmpd="sng">
            <a:solidFill>
              <a:srgbClr val="27344A"/>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776" name="Google Shape;776;p40" descr="/home/claude/talentflow-template/icons/gradcap-accent.png"/>
          <p:cNvPicPr preferRelativeResize="0"/>
          <p:nvPr/>
        </p:nvPicPr>
        <p:blipFill rotWithShape="1">
          <a:blip r:embed="rId6">
            <a:alphaModFix/>
          </a:blip>
          <a:srcRect/>
          <a:stretch/>
        </p:blipFill>
        <p:spPr>
          <a:xfrm>
            <a:off x="867848" y="3121430"/>
            <a:ext cx="233172" cy="233172"/>
          </a:xfrm>
          <a:prstGeom prst="rect">
            <a:avLst/>
          </a:prstGeom>
          <a:noFill/>
          <a:ln>
            <a:noFill/>
          </a:ln>
        </p:spPr>
      </p:pic>
      <p:sp>
        <p:nvSpPr>
          <p:cNvPr id="777" name="Google Shape;777;p40"/>
          <p:cNvSpPr/>
          <p:nvPr/>
        </p:nvSpPr>
        <p:spPr>
          <a:xfrm>
            <a:off x="1189030" y="3119144"/>
            <a:ext cx="1870634" cy="1920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4A3B8"/>
              </a:buClr>
              <a:buSzPts val="700"/>
              <a:buFont typeface="Calibri"/>
              <a:buNone/>
            </a:pPr>
            <a:r>
              <a:rPr lang="bg" sz="1200" b="1" i="0" u="none" strike="noStrike" cap="none" dirty="0">
                <a:solidFill>
                  <a:srgbClr val="94A3B8"/>
                </a:solidFill>
                <a:latin typeface="Calibri"/>
                <a:ea typeface="Calibri"/>
                <a:cs typeface="Calibri"/>
                <a:sym typeface="Calibri"/>
              </a:rPr>
              <a:t>ФАКУЛТЕТЕН №</a:t>
            </a:r>
            <a:endParaRPr sz="1200" b="0" i="0" u="none" strike="noStrike" cap="none" dirty="0">
              <a:solidFill>
                <a:schemeClr val="dk1"/>
              </a:solidFill>
              <a:latin typeface="Calibri"/>
              <a:ea typeface="Calibri"/>
              <a:cs typeface="Calibri"/>
              <a:sym typeface="Calibri"/>
            </a:endParaRPr>
          </a:p>
        </p:txBody>
      </p:sp>
      <p:sp>
        <p:nvSpPr>
          <p:cNvPr id="778" name="Google Shape;778;p40"/>
          <p:cNvSpPr/>
          <p:nvPr/>
        </p:nvSpPr>
        <p:spPr>
          <a:xfrm>
            <a:off x="1183316" y="3329456"/>
            <a:ext cx="1870634" cy="2331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00"/>
              <a:buFont typeface="Calibri"/>
              <a:buNone/>
            </a:pPr>
            <a:r>
              <a:rPr lang="bg" sz="1600" b="0" i="0" u="none" strike="noStrike" cap="none" dirty="0">
                <a:solidFill>
                  <a:srgbClr val="FFFFFF"/>
                </a:solidFill>
                <a:latin typeface="Calibri"/>
                <a:ea typeface="Calibri"/>
                <a:cs typeface="Calibri"/>
                <a:sym typeface="Calibri"/>
              </a:rPr>
              <a:t>22621693</a:t>
            </a:r>
            <a:endParaRPr sz="16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2">
          <a:extLst>
            <a:ext uri="{FF2B5EF4-FFF2-40B4-BE49-F238E27FC236}">
              <a16:creationId xmlns:a16="http://schemas.microsoft.com/office/drawing/2014/main" id="{FEB4D1FC-D3A7-130B-E9BF-5D7CFDF7E290}"/>
            </a:ext>
          </a:extLst>
        </p:cNvPr>
        <p:cNvGrpSpPr/>
        <p:nvPr/>
      </p:nvGrpSpPr>
      <p:grpSpPr>
        <a:xfrm>
          <a:off x="0" y="0"/>
          <a:ext cx="0" cy="0"/>
          <a:chOff x="0" y="0"/>
          <a:chExt cx="0" cy="0"/>
        </a:xfrm>
      </p:grpSpPr>
      <p:sp>
        <p:nvSpPr>
          <p:cNvPr id="222" name="Google Shape;222;p19">
            <a:extLst>
              <a:ext uri="{FF2B5EF4-FFF2-40B4-BE49-F238E27FC236}">
                <a16:creationId xmlns:a16="http://schemas.microsoft.com/office/drawing/2014/main" id="{EEBD917D-847E-CC0D-146F-64786C055D11}"/>
              </a:ext>
            </a:extLst>
          </p:cNvPr>
          <p:cNvSpPr/>
          <p:nvPr/>
        </p:nvSpPr>
        <p:spPr>
          <a:xfrm>
            <a:off x="497319" y="351453"/>
            <a:ext cx="8149361" cy="1809750"/>
          </a:xfrm>
          <a:prstGeom prst="roundRect">
            <a:avLst>
              <a:gd name="adj" fmla="val 12000"/>
            </a:avLst>
          </a:prstGeom>
          <a:solidFill>
            <a:srgbClr val="FFFFFF"/>
          </a:solidFill>
          <a:ln w="12700" cap="flat" cmpd="sng">
            <a:solidFill>
              <a:srgbClr val="E7DCDC"/>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dirty="0"/>
          </a:p>
        </p:txBody>
      </p:sp>
      <p:sp>
        <p:nvSpPr>
          <p:cNvPr id="224" name="Google Shape;224;p19">
            <a:extLst>
              <a:ext uri="{FF2B5EF4-FFF2-40B4-BE49-F238E27FC236}">
                <a16:creationId xmlns:a16="http://schemas.microsoft.com/office/drawing/2014/main" id="{CC3CB08F-0566-9B98-FE77-22F4DEE7E78F}"/>
              </a:ext>
            </a:extLst>
          </p:cNvPr>
          <p:cNvSpPr/>
          <p:nvPr/>
        </p:nvSpPr>
        <p:spPr>
          <a:xfrm>
            <a:off x="719740" y="477183"/>
            <a:ext cx="7327557" cy="1558908"/>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475569"/>
              </a:buClr>
              <a:buSzPts val="1000"/>
              <a:buFont typeface="Calibri"/>
              <a:buNone/>
            </a:pPr>
            <a:r>
              <a:rPr lang="ru-RU" sz="2000" i="1" dirty="0">
                <a:solidFill>
                  <a:srgbClr val="4C4F69"/>
                </a:solidFill>
                <a:effectLst/>
                <a:latin typeface="Calibri" panose="020F0502020204030204" pitchFamily="34" charset="0"/>
                <a:ea typeface="Calibri" panose="020F0502020204030204" pitchFamily="34" charset="0"/>
                <a:cs typeface="Calibri" panose="020F0502020204030204" pitchFamily="34" charset="0"/>
              </a:rPr>
              <a:t>Как са определени теглата 40% за умения, 25% за категория, 20% за опит и 15% за местоположение в алгоритъма за съпоставяне и как бихте оценили качеството му върху реални данни?</a:t>
            </a:r>
            <a:endParaRPr lang="ru-RU" sz="2000" i="1" u="none" strike="noStrike" cap="none" dirty="0">
              <a:solidFill>
                <a:srgbClr val="1E293B"/>
              </a:solidFill>
              <a:latin typeface="Calibri" panose="020F0502020204030204" pitchFamily="34" charset="0"/>
              <a:ea typeface="Calibri" panose="020F0502020204030204" pitchFamily="34" charset="0"/>
              <a:cs typeface="Calibri" panose="020F0502020204030204" pitchFamily="34" charset="0"/>
              <a:sym typeface="Calibri"/>
            </a:endParaRPr>
          </a:p>
        </p:txBody>
      </p:sp>
      <p:pic>
        <p:nvPicPr>
          <p:cNvPr id="5" name="Picture 4" descr="A screenshot of a game&#10;&#10;AI-generated content may be incorrect.">
            <a:extLst>
              <a:ext uri="{FF2B5EF4-FFF2-40B4-BE49-F238E27FC236}">
                <a16:creationId xmlns:a16="http://schemas.microsoft.com/office/drawing/2014/main" id="{9B47DE77-F683-7D06-3511-5DBA5EFC3C93}"/>
              </a:ext>
            </a:extLst>
          </p:cNvPr>
          <p:cNvPicPr>
            <a:picLocks noChangeAspect="1"/>
          </p:cNvPicPr>
          <p:nvPr/>
        </p:nvPicPr>
        <p:blipFill>
          <a:blip r:embed="rId3"/>
          <a:srcRect b="72502"/>
          <a:stretch/>
        </p:blipFill>
        <p:spPr>
          <a:xfrm>
            <a:off x="366374" y="2982299"/>
            <a:ext cx="4075351" cy="1041062"/>
          </a:xfrm>
          <a:prstGeom prst="rect">
            <a:avLst/>
          </a:prstGeom>
        </p:spPr>
      </p:pic>
      <p:pic>
        <p:nvPicPr>
          <p:cNvPr id="7" name="Picture 6">
            <a:extLst>
              <a:ext uri="{FF2B5EF4-FFF2-40B4-BE49-F238E27FC236}">
                <a16:creationId xmlns:a16="http://schemas.microsoft.com/office/drawing/2014/main" id="{CD64CC81-45EF-A1A8-464A-2FB3DBAED054}"/>
              </a:ext>
            </a:extLst>
          </p:cNvPr>
          <p:cNvPicPr>
            <a:picLocks noChangeAspect="1"/>
          </p:cNvPicPr>
          <p:nvPr/>
        </p:nvPicPr>
        <p:blipFill>
          <a:blip r:embed="rId4"/>
          <a:stretch>
            <a:fillRect/>
          </a:stretch>
        </p:blipFill>
        <p:spPr>
          <a:xfrm>
            <a:off x="5370907" y="2286933"/>
            <a:ext cx="2736773" cy="2744504"/>
          </a:xfrm>
          <a:prstGeom prst="rect">
            <a:avLst/>
          </a:prstGeom>
        </p:spPr>
      </p:pic>
    </p:spTree>
    <p:extLst>
      <p:ext uri="{BB962C8B-B14F-4D97-AF65-F5344CB8AC3E}">
        <p14:creationId xmlns:p14="http://schemas.microsoft.com/office/powerpoint/2010/main" val="10052451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2">
          <a:extLst>
            <a:ext uri="{FF2B5EF4-FFF2-40B4-BE49-F238E27FC236}">
              <a16:creationId xmlns:a16="http://schemas.microsoft.com/office/drawing/2014/main" id="{41622B91-901A-4375-A855-C2DC62D63341}"/>
            </a:ext>
          </a:extLst>
        </p:cNvPr>
        <p:cNvGrpSpPr/>
        <p:nvPr/>
      </p:nvGrpSpPr>
      <p:grpSpPr>
        <a:xfrm>
          <a:off x="0" y="0"/>
          <a:ext cx="0" cy="0"/>
          <a:chOff x="0" y="0"/>
          <a:chExt cx="0" cy="0"/>
        </a:xfrm>
      </p:grpSpPr>
      <p:sp>
        <p:nvSpPr>
          <p:cNvPr id="5" name="Google Shape;222;p19">
            <a:extLst>
              <a:ext uri="{FF2B5EF4-FFF2-40B4-BE49-F238E27FC236}">
                <a16:creationId xmlns:a16="http://schemas.microsoft.com/office/drawing/2014/main" id="{008C8D74-D5B9-BB14-CD56-A74936F04CAB}"/>
              </a:ext>
            </a:extLst>
          </p:cNvPr>
          <p:cNvSpPr/>
          <p:nvPr/>
        </p:nvSpPr>
        <p:spPr>
          <a:xfrm>
            <a:off x="497319" y="398106"/>
            <a:ext cx="8149361" cy="1809750"/>
          </a:xfrm>
          <a:prstGeom prst="roundRect">
            <a:avLst>
              <a:gd name="adj" fmla="val 12000"/>
            </a:avLst>
          </a:prstGeom>
          <a:solidFill>
            <a:srgbClr val="FFFFFF"/>
          </a:solidFill>
          <a:ln w="12700" cap="flat" cmpd="sng">
            <a:solidFill>
              <a:srgbClr val="E7DCDC"/>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dirty="0"/>
          </a:p>
        </p:txBody>
      </p:sp>
      <p:sp>
        <p:nvSpPr>
          <p:cNvPr id="8" name="Google Shape;224;p19">
            <a:extLst>
              <a:ext uri="{FF2B5EF4-FFF2-40B4-BE49-F238E27FC236}">
                <a16:creationId xmlns:a16="http://schemas.microsoft.com/office/drawing/2014/main" id="{E46ACD10-5793-FDB7-ABCB-A4027CB68759}"/>
              </a:ext>
            </a:extLst>
          </p:cNvPr>
          <p:cNvSpPr/>
          <p:nvPr/>
        </p:nvSpPr>
        <p:spPr>
          <a:xfrm>
            <a:off x="719740" y="523836"/>
            <a:ext cx="7327557" cy="1558908"/>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475569"/>
              </a:buClr>
              <a:buSzPts val="1000"/>
              <a:buFont typeface="Calibri"/>
              <a:buNone/>
            </a:pPr>
            <a:r>
              <a:rPr lang="ru-RU" sz="2000" i="1" dirty="0">
                <a:solidFill>
                  <a:srgbClr val="4C4F69"/>
                </a:solidFill>
                <a:effectLst/>
                <a:latin typeface="Calibri" panose="020F0502020204030204" pitchFamily="34" charset="0"/>
                <a:ea typeface="Calibri" panose="020F0502020204030204" pitchFamily="34" charset="0"/>
                <a:cs typeface="Calibri" panose="020F0502020204030204" pitchFamily="34" charset="0"/>
              </a:rPr>
              <a:t>Какви промени в архитектурата, управлението на базата</a:t>
            </a:r>
          </a:p>
          <a:p>
            <a:pPr marL="0" marR="0" lvl="0" indent="0" algn="l" rtl="0">
              <a:lnSpc>
                <a:spcPct val="125000"/>
              </a:lnSpc>
              <a:spcBef>
                <a:spcPts val="0"/>
              </a:spcBef>
              <a:spcAft>
                <a:spcPts val="0"/>
              </a:spcAft>
              <a:buClr>
                <a:srgbClr val="475569"/>
              </a:buClr>
              <a:buSzPts val="1000"/>
              <a:buFont typeface="Calibri"/>
              <a:buNone/>
            </a:pPr>
            <a:r>
              <a:rPr lang="ru-RU" sz="2000" i="1" dirty="0">
                <a:solidFill>
                  <a:srgbClr val="4C4F69"/>
                </a:solidFill>
                <a:effectLst/>
                <a:latin typeface="Calibri" panose="020F0502020204030204" pitchFamily="34" charset="0"/>
                <a:ea typeface="Calibri" panose="020F0502020204030204" pitchFamily="34" charset="0"/>
                <a:cs typeface="Calibri" panose="020F0502020204030204" pitchFamily="34" charset="0"/>
              </a:rPr>
              <a:t>данни и инфраструктурата са необходими, за да се внедри</a:t>
            </a:r>
          </a:p>
          <a:p>
            <a:pPr marL="0" marR="0" lvl="0" indent="0" algn="l" rtl="0">
              <a:lnSpc>
                <a:spcPct val="125000"/>
              </a:lnSpc>
              <a:spcBef>
                <a:spcPts val="0"/>
              </a:spcBef>
              <a:spcAft>
                <a:spcPts val="0"/>
              </a:spcAft>
              <a:buClr>
                <a:srgbClr val="475569"/>
              </a:buClr>
              <a:buSzPts val="1000"/>
              <a:buFont typeface="Calibri"/>
              <a:buNone/>
            </a:pPr>
            <a:r>
              <a:rPr lang="ru-RU" sz="2000" i="1" dirty="0">
                <a:solidFill>
                  <a:srgbClr val="4C4F69"/>
                </a:solidFill>
                <a:effectLst/>
                <a:latin typeface="Calibri" panose="020F0502020204030204" pitchFamily="34" charset="0"/>
                <a:ea typeface="Calibri" panose="020F0502020204030204" pitchFamily="34" charset="0"/>
                <a:cs typeface="Calibri" panose="020F0502020204030204" pitchFamily="34" charset="0"/>
              </a:rPr>
              <a:t>надеждно в продукционна среда при нарастващо</a:t>
            </a:r>
          </a:p>
          <a:p>
            <a:pPr marL="0" marR="0" lvl="0" indent="0" algn="l" rtl="0">
              <a:lnSpc>
                <a:spcPct val="125000"/>
              </a:lnSpc>
              <a:spcBef>
                <a:spcPts val="0"/>
              </a:spcBef>
              <a:spcAft>
                <a:spcPts val="0"/>
              </a:spcAft>
              <a:buClr>
                <a:srgbClr val="475569"/>
              </a:buClr>
              <a:buSzPts val="1000"/>
              <a:buFont typeface="Calibri"/>
              <a:buNone/>
            </a:pPr>
            <a:r>
              <a:rPr lang="ru-RU" sz="2000" i="1" dirty="0">
                <a:solidFill>
                  <a:srgbClr val="4C4F69"/>
                </a:solidFill>
                <a:effectLst/>
                <a:latin typeface="Calibri" panose="020F0502020204030204" pitchFamily="34" charset="0"/>
                <a:ea typeface="Calibri" panose="020F0502020204030204" pitchFamily="34" charset="0"/>
                <a:cs typeface="Calibri" panose="020F0502020204030204" pitchFamily="34" charset="0"/>
              </a:rPr>
              <a:t>натоварване?</a:t>
            </a:r>
            <a:endParaRPr lang="ru-RU" sz="2000" i="1" u="none" strike="noStrike" cap="none" dirty="0">
              <a:solidFill>
                <a:srgbClr val="1E293B"/>
              </a:solidFill>
              <a:latin typeface="Calibri" panose="020F0502020204030204" pitchFamily="34" charset="0"/>
              <a:ea typeface="Calibri" panose="020F0502020204030204" pitchFamily="34" charset="0"/>
              <a:cs typeface="Calibri" panose="020F0502020204030204" pitchFamily="34" charset="0"/>
              <a:sym typeface="Calibri"/>
            </a:endParaRPr>
          </a:p>
        </p:txBody>
      </p:sp>
      <p:pic>
        <p:nvPicPr>
          <p:cNvPr id="1026" name="Picture 2" descr="Docker - Download transparent vector logo in SVG or PNG">
            <a:extLst>
              <a:ext uri="{FF2B5EF4-FFF2-40B4-BE49-F238E27FC236}">
                <a16:creationId xmlns:a16="http://schemas.microsoft.com/office/drawing/2014/main" id="{4ADD493C-6C6C-A5C1-560B-6B2B9FF19F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2962" y="3623359"/>
            <a:ext cx="1100915" cy="86942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icroservice - Free web icons">
            <a:extLst>
              <a:ext uri="{FF2B5EF4-FFF2-40B4-BE49-F238E27FC236}">
                <a16:creationId xmlns:a16="http://schemas.microsoft.com/office/drawing/2014/main" id="{17851509-D52B-7252-70E6-CA7C9CC845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8456" y="2496761"/>
            <a:ext cx="1001486" cy="100148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Redis SVG and transparent PNG icons | TechIcons">
            <a:extLst>
              <a:ext uri="{FF2B5EF4-FFF2-40B4-BE49-F238E27FC236}">
                <a16:creationId xmlns:a16="http://schemas.microsoft.com/office/drawing/2014/main" id="{6C98701D-B922-53FF-B4A5-DCD96213E43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87285" y="3638493"/>
            <a:ext cx="981171" cy="98117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GitHub - flyway/flyway: Flyway by Redgate • Database Migrations Made Easy.  · GitHub">
            <a:extLst>
              <a:ext uri="{FF2B5EF4-FFF2-40B4-BE49-F238E27FC236}">
                <a16:creationId xmlns:a16="http://schemas.microsoft.com/office/drawing/2014/main" id="{85E4E8AB-8317-626C-02EE-3013C7FDC00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87285" y="2560881"/>
            <a:ext cx="952500" cy="952500"/>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222;p19">
            <a:extLst>
              <a:ext uri="{FF2B5EF4-FFF2-40B4-BE49-F238E27FC236}">
                <a16:creationId xmlns:a16="http://schemas.microsoft.com/office/drawing/2014/main" id="{97D00323-8CF1-7DF6-7B67-74D129D3F5C8}"/>
              </a:ext>
            </a:extLst>
          </p:cNvPr>
          <p:cNvSpPr/>
          <p:nvPr/>
        </p:nvSpPr>
        <p:spPr>
          <a:xfrm>
            <a:off x="482086" y="2418515"/>
            <a:ext cx="3674631" cy="2261148"/>
          </a:xfrm>
          <a:prstGeom prst="roundRect">
            <a:avLst>
              <a:gd name="adj" fmla="val 12000"/>
            </a:avLst>
          </a:prstGeom>
          <a:solidFill>
            <a:srgbClr val="F6EBED"/>
          </a:solidFill>
          <a:ln w="12700" cap="flat" cmpd="sng">
            <a:solidFill>
              <a:srgbClr val="E7DCDC"/>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dirty="0"/>
          </a:p>
        </p:txBody>
      </p:sp>
      <p:sp>
        <p:nvSpPr>
          <p:cNvPr id="6" name="Google Shape;224;p19">
            <a:extLst>
              <a:ext uri="{FF2B5EF4-FFF2-40B4-BE49-F238E27FC236}">
                <a16:creationId xmlns:a16="http://schemas.microsoft.com/office/drawing/2014/main" id="{076CA0F6-9368-4037-D613-F7B561DFDE0F}"/>
              </a:ext>
            </a:extLst>
          </p:cNvPr>
          <p:cNvSpPr/>
          <p:nvPr/>
        </p:nvSpPr>
        <p:spPr>
          <a:xfrm>
            <a:off x="627019" y="2640870"/>
            <a:ext cx="3808918" cy="1816437"/>
          </a:xfrm>
          <a:prstGeom prst="rect">
            <a:avLst/>
          </a:prstGeom>
          <a:noFill/>
          <a:ln>
            <a:noFill/>
          </a:ln>
        </p:spPr>
        <p:txBody>
          <a:bodyPr spcFirstLastPara="1" wrap="square" lIns="0" tIns="0" rIns="0" bIns="0" anchor="ctr" anchorCtr="0">
            <a:noAutofit/>
          </a:bodyPr>
          <a:lstStyle/>
          <a:p>
            <a:pPr marL="342900" marR="0" lvl="0" indent="-342900" algn="l" rtl="0">
              <a:lnSpc>
                <a:spcPct val="125000"/>
              </a:lnSpc>
              <a:spcBef>
                <a:spcPts val="0"/>
              </a:spcBef>
              <a:spcAft>
                <a:spcPts val="0"/>
              </a:spcAft>
              <a:buClr>
                <a:srgbClr val="475569"/>
              </a:buClr>
              <a:buSzPts val="1000"/>
              <a:buFont typeface="Arial" panose="020B0604020202020204" pitchFamily="34" charset="0"/>
              <a:buChar char="•"/>
            </a:pPr>
            <a:r>
              <a:rPr lang="bg-BG" sz="1700" dirty="0">
                <a:solidFill>
                  <a:srgbClr val="4C4F69"/>
                </a:solidFill>
                <a:latin typeface="Calibri" panose="020F0502020204030204" pitchFamily="34" charset="0"/>
                <a:ea typeface="Calibri" panose="020F0502020204030204" pitchFamily="34" charset="0"/>
                <a:cs typeface="Calibri" panose="020F0502020204030204" pitchFamily="34" charset="0"/>
                <a:sym typeface="Calibri"/>
              </a:rPr>
              <a:t>Хоризонтално мащабиране</a:t>
            </a:r>
          </a:p>
          <a:p>
            <a:pPr marL="342900" marR="0" lvl="0" indent="-342900" algn="l" rtl="0">
              <a:lnSpc>
                <a:spcPct val="125000"/>
              </a:lnSpc>
              <a:spcBef>
                <a:spcPts val="0"/>
              </a:spcBef>
              <a:spcAft>
                <a:spcPts val="0"/>
              </a:spcAft>
              <a:buClr>
                <a:srgbClr val="475569"/>
              </a:buClr>
              <a:buSzPts val="1000"/>
              <a:buFont typeface="Arial" panose="020B0604020202020204" pitchFamily="34" charset="0"/>
              <a:buChar char="•"/>
            </a:pPr>
            <a:r>
              <a:rPr lang="bg-BG" sz="1700" u="none" strike="noStrike" cap="none" dirty="0">
                <a:solidFill>
                  <a:srgbClr val="4C4F69"/>
                </a:solidFill>
                <a:latin typeface="Calibri" panose="020F0502020204030204" pitchFamily="34" charset="0"/>
                <a:ea typeface="Calibri" panose="020F0502020204030204" pitchFamily="34" charset="0"/>
                <a:cs typeface="Calibri" panose="020F0502020204030204" pitchFamily="34" charset="0"/>
                <a:sym typeface="Calibri"/>
              </a:rPr>
              <a:t>Микрос</a:t>
            </a:r>
            <a:r>
              <a:rPr lang="bg-BG" sz="1700" dirty="0">
                <a:solidFill>
                  <a:srgbClr val="4C4F69"/>
                </a:solidFill>
                <a:latin typeface="Calibri" panose="020F0502020204030204" pitchFamily="34" charset="0"/>
                <a:ea typeface="Calibri" panose="020F0502020204030204" pitchFamily="34" charset="0"/>
                <a:cs typeface="Calibri" panose="020F0502020204030204" pitchFamily="34" charset="0"/>
                <a:sym typeface="Calibri"/>
              </a:rPr>
              <a:t>ървисна архитектура</a:t>
            </a:r>
            <a:endParaRPr lang="en-US" sz="1700" dirty="0">
              <a:solidFill>
                <a:srgbClr val="4C4F69"/>
              </a:solidFill>
              <a:latin typeface="Calibri" panose="020F0502020204030204" pitchFamily="34" charset="0"/>
              <a:ea typeface="Calibri" panose="020F0502020204030204" pitchFamily="34" charset="0"/>
              <a:cs typeface="Calibri" panose="020F0502020204030204" pitchFamily="34" charset="0"/>
              <a:sym typeface="Calibri"/>
            </a:endParaRPr>
          </a:p>
          <a:p>
            <a:pPr marL="342900" marR="0" lvl="0" indent="-342900" algn="l" rtl="0">
              <a:lnSpc>
                <a:spcPct val="125000"/>
              </a:lnSpc>
              <a:spcBef>
                <a:spcPts val="0"/>
              </a:spcBef>
              <a:spcAft>
                <a:spcPts val="0"/>
              </a:spcAft>
              <a:buClr>
                <a:srgbClr val="475569"/>
              </a:buClr>
              <a:buSzPts val="1000"/>
              <a:buFont typeface="Arial" panose="020B0604020202020204" pitchFamily="34" charset="0"/>
              <a:buChar char="•"/>
            </a:pPr>
            <a:r>
              <a:rPr lang="en-US" sz="1700" dirty="0">
                <a:solidFill>
                  <a:srgbClr val="4C4F69"/>
                </a:solidFill>
                <a:latin typeface="Calibri" panose="020F0502020204030204" pitchFamily="34" charset="0"/>
                <a:ea typeface="Calibri" panose="020F0502020204030204" pitchFamily="34" charset="0"/>
                <a:cs typeface="Calibri" panose="020F0502020204030204" pitchFamily="34" charset="0"/>
                <a:sym typeface="Calibri"/>
              </a:rPr>
              <a:t>Redis </a:t>
            </a:r>
            <a:r>
              <a:rPr lang="bg-BG" sz="1700" dirty="0">
                <a:solidFill>
                  <a:srgbClr val="4C4F69"/>
                </a:solidFill>
                <a:latin typeface="Calibri" panose="020F0502020204030204" pitchFamily="34" charset="0"/>
                <a:ea typeface="Calibri" panose="020F0502020204030204" pitchFamily="34" charset="0"/>
                <a:cs typeface="Calibri" panose="020F0502020204030204" pitchFamily="34" charset="0"/>
                <a:sym typeface="Calibri"/>
              </a:rPr>
              <a:t>кеш</a:t>
            </a:r>
            <a:endParaRPr lang="en-US" sz="1700" dirty="0">
              <a:solidFill>
                <a:srgbClr val="4C4F69"/>
              </a:solidFill>
              <a:latin typeface="Calibri" panose="020F0502020204030204" pitchFamily="34" charset="0"/>
              <a:ea typeface="Calibri" panose="020F0502020204030204" pitchFamily="34" charset="0"/>
              <a:cs typeface="Calibri" panose="020F0502020204030204" pitchFamily="34" charset="0"/>
              <a:sym typeface="Calibri"/>
            </a:endParaRPr>
          </a:p>
          <a:p>
            <a:pPr marL="342900" marR="0" lvl="0" indent="-342900" algn="l" rtl="0">
              <a:lnSpc>
                <a:spcPct val="125000"/>
              </a:lnSpc>
              <a:spcBef>
                <a:spcPts val="0"/>
              </a:spcBef>
              <a:spcAft>
                <a:spcPts val="0"/>
              </a:spcAft>
              <a:buClr>
                <a:srgbClr val="475569"/>
              </a:buClr>
              <a:buSzPts val="1000"/>
              <a:buFont typeface="Arial" panose="020B0604020202020204" pitchFamily="34" charset="0"/>
              <a:buChar char="•"/>
            </a:pPr>
            <a:r>
              <a:rPr lang="en-US" sz="1700" u="none" strike="noStrike" cap="none" dirty="0">
                <a:solidFill>
                  <a:srgbClr val="4C4F69"/>
                </a:solidFill>
                <a:latin typeface="Calibri" panose="020F0502020204030204" pitchFamily="34" charset="0"/>
                <a:ea typeface="Calibri" panose="020F0502020204030204" pitchFamily="34" charset="0"/>
                <a:cs typeface="Calibri" panose="020F0502020204030204" pitchFamily="34" charset="0"/>
                <a:sym typeface="Calibri"/>
              </a:rPr>
              <a:t>Flyway</a:t>
            </a:r>
            <a:r>
              <a:rPr lang="bg-BG" sz="1700" dirty="0">
                <a:solidFill>
                  <a:srgbClr val="4C4F69"/>
                </a:solidFill>
                <a:latin typeface="Calibri" panose="020F0502020204030204" pitchFamily="34" charset="0"/>
                <a:ea typeface="Calibri" panose="020F0502020204030204" pitchFamily="34" charset="0"/>
                <a:cs typeface="Calibri" panose="020F0502020204030204" pitchFamily="34" charset="0"/>
                <a:sym typeface="Calibri"/>
              </a:rPr>
              <a:t> миграции</a:t>
            </a:r>
            <a:endParaRPr lang="en-US" sz="1700" u="none" strike="noStrike" cap="none" dirty="0">
              <a:solidFill>
                <a:srgbClr val="4C4F69"/>
              </a:solidFill>
              <a:latin typeface="Calibri" panose="020F0502020204030204" pitchFamily="34" charset="0"/>
              <a:ea typeface="Calibri" panose="020F0502020204030204" pitchFamily="34" charset="0"/>
              <a:cs typeface="Calibri" panose="020F0502020204030204" pitchFamily="34" charset="0"/>
              <a:sym typeface="Calibri"/>
            </a:endParaRPr>
          </a:p>
          <a:p>
            <a:pPr marL="342900" marR="0" lvl="0" indent="-342900" algn="l" rtl="0">
              <a:lnSpc>
                <a:spcPct val="125000"/>
              </a:lnSpc>
              <a:spcBef>
                <a:spcPts val="0"/>
              </a:spcBef>
              <a:spcAft>
                <a:spcPts val="0"/>
              </a:spcAft>
              <a:buClr>
                <a:srgbClr val="475569"/>
              </a:buClr>
              <a:buSzPts val="1000"/>
              <a:buFont typeface="Arial" panose="020B0604020202020204" pitchFamily="34" charset="0"/>
              <a:buChar char="•"/>
            </a:pPr>
            <a:r>
              <a:rPr lang="bg-BG" sz="1700" dirty="0">
                <a:solidFill>
                  <a:srgbClr val="4C4F69"/>
                </a:solidFill>
                <a:latin typeface="Calibri" panose="020F0502020204030204" pitchFamily="34" charset="0"/>
                <a:ea typeface="Calibri" panose="020F0502020204030204" pitchFamily="34" charset="0"/>
                <a:cs typeface="Calibri" panose="020F0502020204030204" pitchFamily="34" charset="0"/>
                <a:sym typeface="Calibri"/>
              </a:rPr>
              <a:t>Контейнеризация</a:t>
            </a:r>
          </a:p>
          <a:p>
            <a:pPr marL="342900" marR="0" lvl="0" indent="-342900" algn="l" rtl="0">
              <a:lnSpc>
                <a:spcPct val="125000"/>
              </a:lnSpc>
              <a:spcBef>
                <a:spcPts val="0"/>
              </a:spcBef>
              <a:spcAft>
                <a:spcPts val="0"/>
              </a:spcAft>
              <a:buClr>
                <a:srgbClr val="475569"/>
              </a:buClr>
              <a:buSzPts val="1000"/>
              <a:buFont typeface="Arial" panose="020B0604020202020204" pitchFamily="34" charset="0"/>
              <a:buChar char="•"/>
            </a:pPr>
            <a:r>
              <a:rPr lang="bg-BG" sz="1700" dirty="0">
                <a:solidFill>
                  <a:srgbClr val="4C4F69"/>
                </a:solidFill>
                <a:latin typeface="Calibri" panose="020F0502020204030204" pitchFamily="34" charset="0"/>
                <a:ea typeface="Calibri" panose="020F0502020204030204" pitchFamily="34" charset="0"/>
                <a:cs typeface="Calibri" panose="020F0502020204030204" pitchFamily="34" charset="0"/>
                <a:sym typeface="Calibri"/>
              </a:rPr>
              <a:t>Наблюдение</a:t>
            </a:r>
          </a:p>
        </p:txBody>
      </p:sp>
    </p:spTree>
    <p:extLst>
      <p:ext uri="{BB962C8B-B14F-4D97-AF65-F5344CB8AC3E}">
        <p14:creationId xmlns:p14="http://schemas.microsoft.com/office/powerpoint/2010/main" val="25351980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5">
          <a:extLst>
            <a:ext uri="{FF2B5EF4-FFF2-40B4-BE49-F238E27FC236}">
              <a16:creationId xmlns:a16="http://schemas.microsoft.com/office/drawing/2014/main" id="{683B9B25-D34B-032D-CF8D-21233BC3EAFC}"/>
            </a:ext>
          </a:extLst>
        </p:cNvPr>
        <p:cNvGrpSpPr/>
        <p:nvPr/>
      </p:nvGrpSpPr>
      <p:grpSpPr>
        <a:xfrm>
          <a:off x="0" y="0"/>
          <a:ext cx="0" cy="0"/>
          <a:chOff x="0" y="0"/>
          <a:chExt cx="0" cy="0"/>
        </a:xfrm>
      </p:grpSpPr>
      <p:sp>
        <p:nvSpPr>
          <p:cNvPr id="56" name="Google Shape;56;p14">
            <a:extLst>
              <a:ext uri="{FF2B5EF4-FFF2-40B4-BE49-F238E27FC236}">
                <a16:creationId xmlns:a16="http://schemas.microsoft.com/office/drawing/2014/main" id="{1A649C99-626F-8DEF-5BFA-5BF742430873}"/>
              </a:ext>
            </a:extLst>
          </p:cNvPr>
          <p:cNvSpPr/>
          <p:nvPr/>
        </p:nvSpPr>
        <p:spPr>
          <a:xfrm>
            <a:off x="726948" y="377849"/>
            <a:ext cx="6172200" cy="476631"/>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2A4A4"/>
              </a:buClr>
              <a:buSzPts val="1000"/>
              <a:buFont typeface="Calibri"/>
              <a:buNone/>
            </a:pPr>
            <a:r>
              <a:rPr lang="bg" sz="1800" b="1" i="0" u="none" strike="noStrike" cap="none" dirty="0">
                <a:solidFill>
                  <a:schemeClr val="tx1"/>
                </a:solidFill>
                <a:latin typeface="Calibri"/>
                <a:ea typeface="Calibri"/>
                <a:cs typeface="Calibri"/>
                <a:sym typeface="Calibri"/>
              </a:rPr>
              <a:t>ТЕХНИЧЕСКИ УНИВЕРСИТЕТ – ВАРНА</a:t>
            </a:r>
          </a:p>
          <a:p>
            <a:pPr marL="0" marR="0" lvl="0" indent="0" algn="l" rtl="0">
              <a:spcBef>
                <a:spcPts val="0"/>
              </a:spcBef>
              <a:spcAft>
                <a:spcPts val="0"/>
              </a:spcAft>
              <a:buClr>
                <a:srgbClr val="E2A4A4"/>
              </a:buClr>
              <a:buSzPts val="1000"/>
              <a:buFont typeface="Calibri"/>
              <a:buNone/>
            </a:pPr>
            <a:r>
              <a:rPr lang="bg" sz="1800" b="1" i="0" u="none" strike="noStrike" cap="none" dirty="0">
                <a:solidFill>
                  <a:schemeClr val="tx1"/>
                </a:solidFill>
                <a:latin typeface="Calibri"/>
                <a:ea typeface="Calibri"/>
                <a:cs typeface="Calibri"/>
                <a:sym typeface="Calibri"/>
              </a:rPr>
              <a:t>ФАКУЛТЕТ ПО ИЗЧИСЛИТЕЛНА ТЕХНИКА И АВТОМАТИЗАЦИЯ</a:t>
            </a:r>
            <a:endParaRPr sz="1800" b="0" i="0" u="none" strike="noStrike" cap="none" dirty="0">
              <a:solidFill>
                <a:schemeClr val="tx1"/>
              </a:solidFill>
              <a:latin typeface="Calibri"/>
              <a:ea typeface="Calibri"/>
              <a:cs typeface="Calibri"/>
              <a:sym typeface="Calibri"/>
            </a:endParaRPr>
          </a:p>
        </p:txBody>
      </p:sp>
      <p:sp>
        <p:nvSpPr>
          <p:cNvPr id="57" name="Google Shape;57;p14">
            <a:extLst>
              <a:ext uri="{FF2B5EF4-FFF2-40B4-BE49-F238E27FC236}">
                <a16:creationId xmlns:a16="http://schemas.microsoft.com/office/drawing/2014/main" id="{E1D94C1C-23C8-7777-7224-049BE3A6A986}"/>
              </a:ext>
            </a:extLst>
          </p:cNvPr>
          <p:cNvSpPr/>
          <p:nvPr/>
        </p:nvSpPr>
        <p:spPr>
          <a:xfrm>
            <a:off x="685800" y="1435037"/>
            <a:ext cx="7200900" cy="709803"/>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5400"/>
              <a:buFont typeface="Cambria"/>
              <a:buNone/>
            </a:pPr>
            <a:r>
              <a:rPr lang="bg-BG" sz="5400" b="1" dirty="0">
                <a:solidFill>
                  <a:srgbClr val="1E293B"/>
                </a:solidFill>
                <a:latin typeface="Cambria"/>
                <a:ea typeface="Cambria"/>
                <a:cs typeface="Calibri"/>
                <a:sym typeface="Cambria"/>
              </a:rPr>
              <a:t>Дипломна работа</a:t>
            </a:r>
            <a:endParaRPr sz="5400" b="0" i="0" u="none" strike="noStrike" cap="none" dirty="0">
              <a:solidFill>
                <a:schemeClr val="dk1"/>
              </a:solidFill>
              <a:latin typeface="Calibri"/>
              <a:ea typeface="Calibri"/>
              <a:cs typeface="Calibri"/>
              <a:sym typeface="Calibri"/>
            </a:endParaRPr>
          </a:p>
        </p:txBody>
      </p:sp>
      <p:sp>
        <p:nvSpPr>
          <p:cNvPr id="58" name="Google Shape;58;p14">
            <a:extLst>
              <a:ext uri="{FF2B5EF4-FFF2-40B4-BE49-F238E27FC236}">
                <a16:creationId xmlns:a16="http://schemas.microsoft.com/office/drawing/2014/main" id="{13689DFD-A9F0-194B-2AD2-84254EEFBD15}"/>
              </a:ext>
            </a:extLst>
          </p:cNvPr>
          <p:cNvSpPr/>
          <p:nvPr/>
        </p:nvSpPr>
        <p:spPr>
          <a:xfrm>
            <a:off x="634365" y="2266569"/>
            <a:ext cx="5897880" cy="48006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475569"/>
              </a:buClr>
              <a:buSzPts val="1200"/>
              <a:buFont typeface="Calibri"/>
              <a:buNone/>
            </a:pPr>
            <a:r>
              <a:rPr lang="bg" sz="1800" b="0" i="0" u="none" strike="noStrike" cap="none" dirty="0">
                <a:solidFill>
                  <a:srgbClr val="475569"/>
                </a:solidFill>
                <a:latin typeface="Calibri"/>
                <a:ea typeface="Calibri"/>
                <a:cs typeface="Calibri"/>
                <a:sym typeface="Calibri"/>
              </a:rPr>
              <a:t>Проектиране и реализация на уеб базирана платформа за свързване на независими специалисти и клиенти</a:t>
            </a:r>
            <a:endParaRPr sz="1800" b="0" i="0" u="none" strike="noStrike" cap="none" dirty="0">
              <a:solidFill>
                <a:schemeClr val="dk1"/>
              </a:solidFill>
              <a:latin typeface="Calibri"/>
              <a:ea typeface="Calibri"/>
              <a:cs typeface="Calibri"/>
              <a:sym typeface="Calibri"/>
            </a:endParaRPr>
          </a:p>
        </p:txBody>
      </p:sp>
      <p:sp>
        <p:nvSpPr>
          <p:cNvPr id="59" name="Google Shape;59;p14">
            <a:extLst>
              <a:ext uri="{FF2B5EF4-FFF2-40B4-BE49-F238E27FC236}">
                <a16:creationId xmlns:a16="http://schemas.microsoft.com/office/drawing/2014/main" id="{E0868196-0AE8-2120-DF97-0CB72F68B892}"/>
              </a:ext>
            </a:extLst>
          </p:cNvPr>
          <p:cNvSpPr/>
          <p:nvPr/>
        </p:nvSpPr>
        <p:spPr>
          <a:xfrm>
            <a:off x="685800" y="2983230"/>
            <a:ext cx="82296" cy="82296"/>
          </a:xfrm>
          <a:prstGeom prst="ellipse">
            <a:avLst/>
          </a:prstGeom>
          <a:solidFill>
            <a:srgbClr val="E2A4A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0" name="Google Shape;60;p14">
            <a:extLst>
              <a:ext uri="{FF2B5EF4-FFF2-40B4-BE49-F238E27FC236}">
                <a16:creationId xmlns:a16="http://schemas.microsoft.com/office/drawing/2014/main" id="{69AA84DF-4EB9-C63F-4E1C-482D435E6580}"/>
              </a:ext>
            </a:extLst>
          </p:cNvPr>
          <p:cNvSpPr/>
          <p:nvPr/>
        </p:nvSpPr>
        <p:spPr>
          <a:xfrm>
            <a:off x="864108" y="2983230"/>
            <a:ext cx="82296" cy="82296"/>
          </a:xfrm>
          <a:prstGeom prst="ellipse">
            <a:avLst/>
          </a:prstGeom>
          <a:solidFill>
            <a:srgbClr val="1E293B"/>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1" name="Google Shape;61;p14">
            <a:extLst>
              <a:ext uri="{FF2B5EF4-FFF2-40B4-BE49-F238E27FC236}">
                <a16:creationId xmlns:a16="http://schemas.microsoft.com/office/drawing/2014/main" id="{30345998-7863-0892-1641-0B0C351EFFD2}"/>
              </a:ext>
            </a:extLst>
          </p:cNvPr>
          <p:cNvSpPr/>
          <p:nvPr/>
        </p:nvSpPr>
        <p:spPr>
          <a:xfrm>
            <a:off x="1042416" y="2983230"/>
            <a:ext cx="82296" cy="82296"/>
          </a:xfrm>
          <a:prstGeom prst="ellipse">
            <a:avLst/>
          </a:prstGeom>
          <a:solidFill>
            <a:srgbClr val="E2A4A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2" name="Google Shape;62;p14">
            <a:extLst>
              <a:ext uri="{FF2B5EF4-FFF2-40B4-BE49-F238E27FC236}">
                <a16:creationId xmlns:a16="http://schemas.microsoft.com/office/drawing/2014/main" id="{A000B4FB-9730-AEED-4A74-D6AB15140065}"/>
              </a:ext>
            </a:extLst>
          </p:cNvPr>
          <p:cNvSpPr/>
          <p:nvPr/>
        </p:nvSpPr>
        <p:spPr>
          <a:xfrm>
            <a:off x="654939" y="3884398"/>
            <a:ext cx="5113020" cy="1062990"/>
          </a:xfrm>
          <a:prstGeom prst="roundRect">
            <a:avLst>
              <a:gd name="adj" fmla="val 10323"/>
            </a:avLst>
          </a:prstGeom>
          <a:solidFill>
            <a:srgbClr val="FFFFFF"/>
          </a:solidFill>
          <a:ln w="12700" cap="flat" cmpd="sng">
            <a:solidFill>
              <a:srgbClr val="E7DCDC"/>
            </a:solidFill>
            <a:prstDash val="solid"/>
            <a:round/>
            <a:headEnd type="none" w="sm" len="sm"/>
            <a:tailEnd type="none" w="sm" len="sm"/>
          </a:ln>
          <a:effectLst>
            <a:outerShdw blurRad="203200" dist="63500" dir="5400000" algn="bl" rotWithShape="0">
              <a:srgbClr val="1E293B">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dirty="0"/>
          </a:p>
        </p:txBody>
      </p:sp>
      <p:sp>
        <p:nvSpPr>
          <p:cNvPr id="63" name="Google Shape;63;p14">
            <a:extLst>
              <a:ext uri="{FF2B5EF4-FFF2-40B4-BE49-F238E27FC236}">
                <a16:creationId xmlns:a16="http://schemas.microsoft.com/office/drawing/2014/main" id="{B1DB5072-EF5C-D558-0C42-378B211756EB}"/>
              </a:ext>
            </a:extLst>
          </p:cNvPr>
          <p:cNvSpPr/>
          <p:nvPr/>
        </p:nvSpPr>
        <p:spPr>
          <a:xfrm>
            <a:off x="946404" y="4052419"/>
            <a:ext cx="1645920" cy="1783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2A4A4"/>
              </a:buClr>
              <a:buSzPts val="700"/>
              <a:buFont typeface="Calibri"/>
              <a:buNone/>
            </a:pPr>
            <a:r>
              <a:rPr lang="bg" sz="1000" b="1" i="0" u="none" strike="noStrike" cap="none" dirty="0">
                <a:solidFill>
                  <a:schemeClr val="accent2">
                    <a:lumMod val="50000"/>
                    <a:lumOff val="50000"/>
                  </a:schemeClr>
                </a:solidFill>
                <a:latin typeface="Calibri"/>
                <a:ea typeface="Calibri"/>
                <a:cs typeface="Calibri"/>
                <a:sym typeface="Calibri"/>
              </a:rPr>
              <a:t>ДИПЛОМАНТ</a:t>
            </a:r>
            <a:endParaRPr sz="1000" b="0" i="0" u="none" strike="noStrike" cap="none" dirty="0">
              <a:solidFill>
                <a:schemeClr val="accent2">
                  <a:lumMod val="50000"/>
                  <a:lumOff val="50000"/>
                </a:schemeClr>
              </a:solidFill>
              <a:latin typeface="Calibri"/>
              <a:ea typeface="Calibri"/>
              <a:cs typeface="Calibri"/>
              <a:sym typeface="Calibri"/>
            </a:endParaRPr>
          </a:p>
        </p:txBody>
      </p:sp>
      <p:sp>
        <p:nvSpPr>
          <p:cNvPr id="64" name="Google Shape;64;p14">
            <a:extLst>
              <a:ext uri="{FF2B5EF4-FFF2-40B4-BE49-F238E27FC236}">
                <a16:creationId xmlns:a16="http://schemas.microsoft.com/office/drawing/2014/main" id="{017BC8F3-A5A8-1CDE-FB06-EDCAEE024CC4}"/>
              </a:ext>
            </a:extLst>
          </p:cNvPr>
          <p:cNvSpPr/>
          <p:nvPr/>
        </p:nvSpPr>
        <p:spPr>
          <a:xfrm>
            <a:off x="946403" y="4244443"/>
            <a:ext cx="1824987" cy="2331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200"/>
              <a:buFont typeface="Cambria"/>
              <a:buNone/>
            </a:pPr>
            <a:r>
              <a:rPr lang="bg" sz="1600" b="1" dirty="0">
                <a:solidFill>
                  <a:srgbClr val="1E293B"/>
                </a:solidFill>
                <a:latin typeface="Cambria"/>
                <a:ea typeface="Cambria"/>
                <a:cs typeface="Calibri"/>
                <a:sym typeface="Cambria"/>
              </a:rPr>
              <a:t>Теодора Стойчева</a:t>
            </a:r>
            <a:endParaRPr sz="1600" b="0" i="0" u="none" strike="noStrike" cap="none" dirty="0">
              <a:solidFill>
                <a:schemeClr val="dk1"/>
              </a:solidFill>
              <a:latin typeface="Calibri"/>
              <a:ea typeface="Calibri"/>
              <a:cs typeface="Calibri"/>
              <a:sym typeface="Calibri"/>
            </a:endParaRPr>
          </a:p>
        </p:txBody>
      </p:sp>
      <p:sp>
        <p:nvSpPr>
          <p:cNvPr id="65" name="Google Shape;65;p14">
            <a:extLst>
              <a:ext uri="{FF2B5EF4-FFF2-40B4-BE49-F238E27FC236}">
                <a16:creationId xmlns:a16="http://schemas.microsoft.com/office/drawing/2014/main" id="{B0444DFD-4234-04B5-676D-A42F569F92C0}"/>
              </a:ext>
            </a:extLst>
          </p:cNvPr>
          <p:cNvSpPr/>
          <p:nvPr/>
        </p:nvSpPr>
        <p:spPr>
          <a:xfrm>
            <a:off x="946404" y="4505047"/>
            <a:ext cx="1645920" cy="2057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800"/>
              <a:buFont typeface="Calibri"/>
              <a:buNone/>
            </a:pPr>
            <a:r>
              <a:rPr lang="bg" sz="1600" b="0" i="0" u="none" strike="noStrike" cap="none" dirty="0">
                <a:solidFill>
                  <a:srgbClr val="475569"/>
                </a:solidFill>
                <a:latin typeface="Calibri"/>
                <a:ea typeface="Calibri"/>
                <a:cs typeface="Calibri"/>
                <a:sym typeface="Calibri"/>
              </a:rPr>
              <a:t>Фак. №: </a:t>
            </a:r>
            <a:r>
              <a:rPr lang="bg" sz="1600" dirty="0">
                <a:solidFill>
                  <a:srgbClr val="475569"/>
                </a:solidFill>
                <a:latin typeface="Calibri"/>
                <a:ea typeface="Calibri"/>
                <a:cs typeface="Calibri"/>
                <a:sym typeface="Calibri"/>
              </a:rPr>
              <a:t>22621693</a:t>
            </a:r>
            <a:endParaRPr sz="1600" b="0" i="0" u="none" strike="noStrike" cap="none" dirty="0">
              <a:solidFill>
                <a:schemeClr val="dk1"/>
              </a:solidFill>
              <a:latin typeface="Calibri"/>
              <a:ea typeface="Calibri"/>
              <a:cs typeface="Calibri"/>
              <a:sym typeface="Calibri"/>
            </a:endParaRPr>
          </a:p>
        </p:txBody>
      </p:sp>
      <p:sp>
        <p:nvSpPr>
          <p:cNvPr id="70" name="Google Shape;70;p14">
            <a:extLst>
              <a:ext uri="{FF2B5EF4-FFF2-40B4-BE49-F238E27FC236}">
                <a16:creationId xmlns:a16="http://schemas.microsoft.com/office/drawing/2014/main" id="{BE3C9699-6E44-21F0-5933-FD1CB67E0361}"/>
              </a:ext>
            </a:extLst>
          </p:cNvPr>
          <p:cNvSpPr/>
          <p:nvPr/>
        </p:nvSpPr>
        <p:spPr>
          <a:xfrm>
            <a:off x="6726364" y="2684248"/>
            <a:ext cx="857250" cy="857250"/>
          </a:xfrm>
          <a:prstGeom prst="ellipse">
            <a:avLst/>
          </a:prstGeom>
          <a:solidFill>
            <a:srgbClr val="F3DADA"/>
          </a:solidFill>
          <a:ln>
            <a:noFill/>
          </a:ln>
          <a:effectLst>
            <a:outerShdw blurRad="177800" dist="50800" dir="5400000" algn="bl" rotWithShape="0">
              <a:srgbClr val="1E293B">
                <a:alpha val="1215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71" name="Google Shape;71;p14" descr="/home/claude/talentflow-template/icons/react-primary.png">
            <a:extLst>
              <a:ext uri="{FF2B5EF4-FFF2-40B4-BE49-F238E27FC236}">
                <a16:creationId xmlns:a16="http://schemas.microsoft.com/office/drawing/2014/main" id="{F9B0C246-5790-3926-2FB4-0993697DAB55}"/>
              </a:ext>
            </a:extLst>
          </p:cNvPr>
          <p:cNvPicPr preferRelativeResize="0"/>
          <p:nvPr/>
        </p:nvPicPr>
        <p:blipFill rotWithShape="1">
          <a:blip r:embed="rId4">
            <a:alphaModFix/>
          </a:blip>
          <a:srcRect/>
          <a:stretch/>
        </p:blipFill>
        <p:spPr>
          <a:xfrm>
            <a:off x="6952678" y="2910562"/>
            <a:ext cx="404622" cy="404622"/>
          </a:xfrm>
          <a:prstGeom prst="rect">
            <a:avLst/>
          </a:prstGeom>
          <a:noFill/>
          <a:ln>
            <a:noFill/>
          </a:ln>
        </p:spPr>
      </p:pic>
      <p:sp>
        <p:nvSpPr>
          <p:cNvPr id="72" name="Google Shape;72;p14">
            <a:extLst>
              <a:ext uri="{FF2B5EF4-FFF2-40B4-BE49-F238E27FC236}">
                <a16:creationId xmlns:a16="http://schemas.microsoft.com/office/drawing/2014/main" id="{B01AC5BB-EE64-BD73-A6CD-F9B299AA9F01}"/>
              </a:ext>
            </a:extLst>
          </p:cNvPr>
          <p:cNvSpPr/>
          <p:nvPr/>
        </p:nvSpPr>
        <p:spPr>
          <a:xfrm>
            <a:off x="7377874" y="3027148"/>
            <a:ext cx="857250" cy="857250"/>
          </a:xfrm>
          <a:prstGeom prst="ellipse">
            <a:avLst/>
          </a:prstGeom>
          <a:solidFill>
            <a:srgbClr val="1E293B"/>
          </a:solidFill>
          <a:ln>
            <a:noFill/>
          </a:ln>
          <a:effectLst>
            <a:outerShdw blurRad="177800" dist="50800" dir="5400000" algn="bl" rotWithShape="0">
              <a:srgbClr val="1E293B">
                <a:alpha val="1215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73" name="Google Shape;73;p14" descr="/home/claude/talentflow-template/icons/server-white.png">
            <a:extLst>
              <a:ext uri="{FF2B5EF4-FFF2-40B4-BE49-F238E27FC236}">
                <a16:creationId xmlns:a16="http://schemas.microsoft.com/office/drawing/2014/main" id="{ED05D42B-CA9B-78A7-4EE9-178FA8FBEFC5}"/>
              </a:ext>
            </a:extLst>
          </p:cNvPr>
          <p:cNvPicPr preferRelativeResize="0"/>
          <p:nvPr/>
        </p:nvPicPr>
        <p:blipFill rotWithShape="1">
          <a:blip r:embed="rId5">
            <a:alphaModFix/>
          </a:blip>
          <a:srcRect/>
          <a:stretch/>
        </p:blipFill>
        <p:spPr>
          <a:xfrm>
            <a:off x="7614475" y="3253462"/>
            <a:ext cx="404622" cy="404622"/>
          </a:xfrm>
          <a:prstGeom prst="rect">
            <a:avLst/>
          </a:prstGeom>
          <a:noFill/>
          <a:ln>
            <a:noFill/>
          </a:ln>
        </p:spPr>
      </p:pic>
      <p:sp>
        <p:nvSpPr>
          <p:cNvPr id="74" name="Google Shape;74;p14">
            <a:extLst>
              <a:ext uri="{FF2B5EF4-FFF2-40B4-BE49-F238E27FC236}">
                <a16:creationId xmlns:a16="http://schemas.microsoft.com/office/drawing/2014/main" id="{A5A073DA-B54C-9D3F-9654-3B2E6B6B9BBA}"/>
              </a:ext>
            </a:extLst>
          </p:cNvPr>
          <p:cNvSpPr/>
          <p:nvPr/>
        </p:nvSpPr>
        <p:spPr>
          <a:xfrm>
            <a:off x="8029384" y="2684248"/>
            <a:ext cx="857250" cy="857250"/>
          </a:xfrm>
          <a:prstGeom prst="ellipse">
            <a:avLst/>
          </a:prstGeom>
          <a:solidFill>
            <a:srgbClr val="F3DADA"/>
          </a:solidFill>
          <a:ln>
            <a:noFill/>
          </a:ln>
          <a:effectLst>
            <a:outerShdw blurRad="177800" dist="50800" dir="5400000" algn="bl" rotWithShape="0">
              <a:srgbClr val="1E293B">
                <a:alpha val="1215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75" name="Google Shape;75;p14" descr="/home/claude/talentflow-template/icons/database-primary.png">
            <a:extLst>
              <a:ext uri="{FF2B5EF4-FFF2-40B4-BE49-F238E27FC236}">
                <a16:creationId xmlns:a16="http://schemas.microsoft.com/office/drawing/2014/main" id="{6FB5ECEB-BCDF-789A-5BD1-9B552A03D897}"/>
              </a:ext>
            </a:extLst>
          </p:cNvPr>
          <p:cNvPicPr preferRelativeResize="0"/>
          <p:nvPr/>
        </p:nvPicPr>
        <p:blipFill rotWithShape="1">
          <a:blip r:embed="rId6">
            <a:alphaModFix/>
          </a:blip>
          <a:srcRect/>
          <a:stretch/>
        </p:blipFill>
        <p:spPr>
          <a:xfrm>
            <a:off x="8255698" y="2910562"/>
            <a:ext cx="404622" cy="404622"/>
          </a:xfrm>
          <a:prstGeom prst="rect">
            <a:avLst/>
          </a:prstGeom>
          <a:noFill/>
          <a:ln>
            <a:noFill/>
          </a:ln>
        </p:spPr>
      </p:pic>
      <p:pic>
        <p:nvPicPr>
          <p:cNvPr id="4" name="Picture 3" descr="A blue symbol with a lightning bolt&#10;&#10;AI-generated content may be incorrect.">
            <a:extLst>
              <a:ext uri="{FF2B5EF4-FFF2-40B4-BE49-F238E27FC236}">
                <a16:creationId xmlns:a16="http://schemas.microsoft.com/office/drawing/2014/main" id="{798479E7-260D-B33C-5238-BD2431AF70AF}"/>
              </a:ext>
            </a:extLst>
          </p:cNvPr>
          <p:cNvPicPr>
            <a:picLocks noChangeAspect="1"/>
          </p:cNvPicPr>
          <p:nvPr/>
        </p:nvPicPr>
        <p:blipFill>
          <a:blip r:embed="rId7"/>
          <a:stretch>
            <a:fillRect/>
          </a:stretch>
        </p:blipFill>
        <p:spPr>
          <a:xfrm>
            <a:off x="6897624" y="1171004"/>
            <a:ext cx="1612011" cy="1742987"/>
          </a:xfrm>
          <a:prstGeom prst="rect">
            <a:avLst/>
          </a:prstGeom>
        </p:spPr>
      </p:pic>
      <p:cxnSp>
        <p:nvCxnSpPr>
          <p:cNvPr id="16" name="Google Shape;66;p14">
            <a:extLst>
              <a:ext uri="{FF2B5EF4-FFF2-40B4-BE49-F238E27FC236}">
                <a16:creationId xmlns:a16="http://schemas.microsoft.com/office/drawing/2014/main" id="{2ABF9DB9-FD45-B6A5-35E5-308A500ACA4D}"/>
              </a:ext>
            </a:extLst>
          </p:cNvPr>
          <p:cNvCxnSpPr/>
          <p:nvPr/>
        </p:nvCxnSpPr>
        <p:spPr>
          <a:xfrm>
            <a:off x="3068573" y="4052419"/>
            <a:ext cx="0" cy="816102"/>
          </a:xfrm>
          <a:prstGeom prst="straightConnector1">
            <a:avLst/>
          </a:prstGeom>
          <a:noFill/>
          <a:ln w="12700" cap="flat" cmpd="sng">
            <a:solidFill>
              <a:srgbClr val="E7DCDC"/>
            </a:solidFill>
            <a:prstDash val="solid"/>
            <a:round/>
            <a:headEnd type="none" w="sm" len="sm"/>
            <a:tailEnd type="none" w="sm" len="sm"/>
          </a:ln>
        </p:spPr>
      </p:cxnSp>
      <p:sp>
        <p:nvSpPr>
          <p:cNvPr id="17" name="Google Shape;67;p14">
            <a:extLst>
              <a:ext uri="{FF2B5EF4-FFF2-40B4-BE49-F238E27FC236}">
                <a16:creationId xmlns:a16="http://schemas.microsoft.com/office/drawing/2014/main" id="{0A0CAE50-60FE-6B38-2E96-319EB25605EC}"/>
              </a:ext>
            </a:extLst>
          </p:cNvPr>
          <p:cNvSpPr/>
          <p:nvPr/>
        </p:nvSpPr>
        <p:spPr>
          <a:xfrm>
            <a:off x="3365753" y="4052419"/>
            <a:ext cx="1577340" cy="1783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2A4A4"/>
              </a:buClr>
              <a:buSzPts val="700"/>
              <a:buFont typeface="Calibri"/>
              <a:buNone/>
            </a:pPr>
            <a:r>
              <a:rPr lang="bg" sz="1000" b="1" i="0" u="none" strike="noStrike" cap="none" dirty="0">
                <a:solidFill>
                  <a:schemeClr val="accent2">
                    <a:lumMod val="50000"/>
                    <a:lumOff val="50000"/>
                  </a:schemeClr>
                </a:solidFill>
                <a:latin typeface="Calibri"/>
                <a:ea typeface="Calibri"/>
                <a:cs typeface="Calibri"/>
                <a:sym typeface="Calibri"/>
              </a:rPr>
              <a:t>НАУЧЕН РЪКОВОДИТЕЛ</a:t>
            </a:r>
            <a:endParaRPr sz="1000" b="0" i="0" u="none" strike="noStrike" cap="none" dirty="0">
              <a:solidFill>
                <a:schemeClr val="accent2">
                  <a:lumMod val="50000"/>
                  <a:lumOff val="50000"/>
                </a:schemeClr>
              </a:solidFill>
              <a:latin typeface="Calibri"/>
              <a:ea typeface="Calibri"/>
              <a:cs typeface="Calibri"/>
              <a:sym typeface="Calibri"/>
            </a:endParaRPr>
          </a:p>
        </p:txBody>
      </p:sp>
      <p:sp>
        <p:nvSpPr>
          <p:cNvPr id="18" name="Google Shape;68;p14">
            <a:extLst>
              <a:ext uri="{FF2B5EF4-FFF2-40B4-BE49-F238E27FC236}">
                <a16:creationId xmlns:a16="http://schemas.microsoft.com/office/drawing/2014/main" id="{6F020943-988B-8569-980E-EA79CC2BBBCF}"/>
              </a:ext>
            </a:extLst>
          </p:cNvPr>
          <p:cNvSpPr/>
          <p:nvPr/>
        </p:nvSpPr>
        <p:spPr>
          <a:xfrm>
            <a:off x="3365752" y="4244443"/>
            <a:ext cx="1819265" cy="2606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200"/>
              <a:buFont typeface="Cambria"/>
              <a:buNone/>
            </a:pPr>
            <a:r>
              <a:rPr lang="bg" sz="1600" b="1" i="0" u="none" strike="noStrike" cap="none" dirty="0">
                <a:solidFill>
                  <a:srgbClr val="1E293B"/>
                </a:solidFill>
                <a:latin typeface="Cambria"/>
                <a:ea typeface="Cambria"/>
                <a:cs typeface="Cambria"/>
                <a:sym typeface="Cambria"/>
              </a:rPr>
              <a:t>Даниела Петрова</a:t>
            </a:r>
            <a:endParaRPr sz="1600" b="0" i="0" u="none" strike="noStrike" cap="none" dirty="0">
              <a:solidFill>
                <a:schemeClr val="dk1"/>
              </a:solidFill>
              <a:latin typeface="Calibri"/>
              <a:ea typeface="Calibri"/>
              <a:cs typeface="Calibri"/>
              <a:sym typeface="Calibri"/>
            </a:endParaRPr>
          </a:p>
        </p:txBody>
      </p:sp>
      <p:sp>
        <p:nvSpPr>
          <p:cNvPr id="19" name="Google Shape;69;p14">
            <a:extLst>
              <a:ext uri="{FF2B5EF4-FFF2-40B4-BE49-F238E27FC236}">
                <a16:creationId xmlns:a16="http://schemas.microsoft.com/office/drawing/2014/main" id="{032FDBE7-899B-3798-F9DF-E5352DC51B89}"/>
              </a:ext>
            </a:extLst>
          </p:cNvPr>
          <p:cNvSpPr/>
          <p:nvPr/>
        </p:nvSpPr>
        <p:spPr>
          <a:xfrm>
            <a:off x="3365753" y="4505047"/>
            <a:ext cx="1577340" cy="2057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75569"/>
              </a:buClr>
              <a:buSzPts val="800"/>
              <a:buFont typeface="Calibri"/>
              <a:buNone/>
            </a:pPr>
            <a:r>
              <a:rPr lang="ru-RU" sz="1600" b="0" i="0" u="none" strike="noStrike" cap="none" dirty="0">
                <a:solidFill>
                  <a:srgbClr val="475569"/>
                </a:solidFill>
                <a:latin typeface="Calibri"/>
                <a:ea typeface="Calibri"/>
                <a:cs typeface="Calibri"/>
                <a:sym typeface="Calibri"/>
              </a:rPr>
              <a:t>гл</a:t>
            </a:r>
            <a:r>
              <a:rPr lang="bg" sz="1600" b="0" i="0" u="none" strike="noStrike" cap="none" dirty="0">
                <a:solidFill>
                  <a:srgbClr val="475569"/>
                </a:solidFill>
                <a:latin typeface="Calibri"/>
                <a:ea typeface="Calibri"/>
                <a:cs typeface="Calibri"/>
                <a:sym typeface="Calibri"/>
              </a:rPr>
              <a:t>. </a:t>
            </a:r>
            <a:r>
              <a:rPr lang="ru-RU" sz="1600" dirty="0">
                <a:solidFill>
                  <a:srgbClr val="475569"/>
                </a:solidFill>
                <a:latin typeface="Calibri"/>
                <a:ea typeface="Calibri"/>
                <a:cs typeface="Calibri"/>
                <a:sym typeface="Calibri"/>
              </a:rPr>
              <a:t>ас</a:t>
            </a:r>
            <a:r>
              <a:rPr lang="bg" sz="1600" dirty="0">
                <a:solidFill>
                  <a:srgbClr val="475569"/>
                </a:solidFill>
                <a:latin typeface="Calibri"/>
                <a:ea typeface="Calibri"/>
                <a:cs typeface="Calibri"/>
                <a:sym typeface="Calibri"/>
              </a:rPr>
              <a:t>. </a:t>
            </a:r>
            <a:r>
              <a:rPr lang="ru-RU" sz="1600" dirty="0">
                <a:solidFill>
                  <a:srgbClr val="475569"/>
                </a:solidFill>
                <a:latin typeface="Calibri"/>
                <a:ea typeface="Calibri"/>
                <a:cs typeface="Calibri"/>
                <a:sym typeface="Calibri"/>
              </a:rPr>
              <a:t>д</a:t>
            </a:r>
            <a:r>
              <a:rPr lang="bg" sz="1600" dirty="0">
                <a:solidFill>
                  <a:srgbClr val="475569"/>
                </a:solidFill>
                <a:latin typeface="Calibri"/>
                <a:ea typeface="Calibri"/>
                <a:cs typeface="Calibri"/>
                <a:sym typeface="Calibri"/>
              </a:rPr>
              <a:t>-р</a:t>
            </a:r>
            <a:endParaRPr sz="16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1290687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1961</TotalTime>
  <Words>3165</Words>
  <Application>Microsoft Office PowerPoint</Application>
  <PresentationFormat>On-screen Show (16:9)</PresentationFormat>
  <Paragraphs>512</Paragraphs>
  <Slides>54</Slides>
  <Notes>54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54</vt:i4>
      </vt:variant>
    </vt:vector>
  </HeadingPairs>
  <TitlesOfParts>
    <vt:vector size="59" baseType="lpstr">
      <vt:lpstr>Aptos</vt:lpstr>
      <vt:lpstr>Arial</vt:lpstr>
      <vt:lpstr>Calibri</vt:lpstr>
      <vt:lpstr>Cambria</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Teodora Stoycheva</cp:lastModifiedBy>
  <cp:revision>171</cp:revision>
  <dcterms:modified xsi:type="dcterms:W3CDTF">2026-07-14T22:41:14Z</dcterms:modified>
</cp:coreProperties>
</file>
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7" r:id="rId1"/>
    <p:sldMasterId id="2147483829" r:id="rId2"/>
  </p:sldMasterIdLst>
  <p:notesMasterIdLst>
    <p:notesMasterId r:id="rId33"/>
  </p:notesMasterIdLst>
  <p:sldIdLst>
    <p:sldId id="256" r:id="rId3"/>
    <p:sldId id="257" r:id="rId4"/>
    <p:sldId id="258" r:id="rId5"/>
    <p:sldId id="283" r:id="rId6"/>
    <p:sldId id="259" r:id="rId7"/>
    <p:sldId id="260" r:id="rId8"/>
    <p:sldId id="265" r:id="rId9"/>
    <p:sldId id="261" r:id="rId10"/>
    <p:sldId id="262" r:id="rId11"/>
    <p:sldId id="263" r:id="rId12"/>
    <p:sldId id="264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4" r:id="rId29"/>
    <p:sldId id="282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030" autoAdjust="0"/>
  </p:normalViewPr>
  <p:slideViewPr>
    <p:cSldViewPr snapToGrid="0">
      <p:cViewPr>
        <p:scale>
          <a:sx n="79" d="100"/>
          <a:sy n="79" d="100"/>
        </p:scale>
        <p:origin x="-710" y="-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2D82D4-6C41-4429-B8A5-9CF7AE610092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746083-55BF-4F6C-B169-B16634E85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880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Уважаеми господин председател на държавната изпитна комисия, уважаеми членове, колеги и гости, ще представя на Вашето внимание дипломна работа на тема – „Проектиране и реализация на web приложение за изучаване на чужди езици“.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46083-55BF-4F6C-B169-B16634E85C4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0756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Целта на дипломната работа е да се проектира система за изучаване на чужди езици. Приложението ще предлага възможността на потребителите да изучават езици чрез различни методи за обучение – уроци, съставени от различни типове интерактивни упражнения, както и чрез на флашкарти. А чрез наличието на администраторски панел по лесен и удобен начин ще може да се добавя или редактира съдържанието в системата.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46083-55BF-4F6C-B169-B16634E85C4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2133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Важно е такъв тип система да бъде достъпна до широк кръг потребители, поради тази причина за първоначална реализация на приложението е избрано то да бъде уеб-базирано. Това е с цел то да бъде достъпно за използване от различни устройства, което е възможно чрез своя 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responsive </a:t>
            </a:r>
            <a:r>
              <a:rPr lang="bg-BG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дизайн. Потребителите няма нужда да инсталират нищо, единствено е нужно да имат достъп до устройство с интернет.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46083-55BF-4F6C-B169-B16634E85C4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2656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Беше извършен конкурентен анализ на 3 приложения (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Duolingo,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Glosika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Babbel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bg-BG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подобни на разработеното. От анализа бяха изведени силните и слабите страни на тези конкуренти. Преимстава им са, че са богато съдържание, като например 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Duolingo </a:t>
            </a:r>
            <a:r>
              <a:rPr lang="bg-BG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предлага изучаване на измислени езици от автори на поредици, както и че имат добре разработен състезателен характер. Слабите страни са, че за момента не предлагат съдържание за българоговорящи потребители, част от тях са платени и се фокусират върху конкретен метод за обучение.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46083-55BF-4F6C-B169-B16634E85C4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70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 слайда са показани основните технологии, използвани по време на разработване на системата. 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Node.js </a:t>
            </a:r>
            <a:r>
              <a:rPr lang="bg-BG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е езикът използван за 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backend </a:t>
            </a:r>
            <a:r>
              <a:rPr lang="bg-BG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разработката на приложението, който е подходящ инструмет за създаване на приложения, извършващи множество заявки към база данни. За 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frontend </a:t>
            </a:r>
            <a:r>
              <a:rPr lang="bg-BG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езици са използвани 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HTML/CSS, JavaScript </a:t>
            </a:r>
            <a:r>
              <a:rPr lang="bg-BG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EJS</a:t>
            </a:r>
            <a:r>
              <a:rPr lang="bg-BG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използван за създаване на динамични страници. 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MySQL </a:t>
            </a:r>
            <a:r>
              <a:rPr lang="bg-BG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е избраната система за управление на базата данни, а чрез 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Stripe </a:t>
            </a:r>
            <a:r>
              <a:rPr lang="bg-BG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се тества извършване на банкови плащания през системата. 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46083-55BF-4F6C-B169-B16634E85C4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1326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В текущата разработка архитектурата разделя приложението на четири отделни слоя: слой на изгледа (view), слой на контролера (controller), бизнес логика (service) и слой на хранилище (repository). Всеки слой е отговорен за конкретни задачи, като насърчава разделянето на проблемите и подобрява цялостната структура на приложението.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46083-55BF-4F6C-B169-B16634E85C4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7515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Системата има 3 типа потребители – обикновен потребител, администратор и главен администратор. Формите за вход на на обикновените потребители и администраторите са отделени, като всеки води до страницата предназначена за дадения потребител.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46083-55BF-4F6C-B169-B16634E85C4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036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На този слайд е показана схемата на базата данни, който е конструиран след като </a:t>
            </a:r>
            <a:r>
              <a:rPr lang="bg-BG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са изяснени основните функционалности в системата и начина, по който ще си взаимодействат отделните компоненти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46083-55BF-4F6C-B169-B16634E85C4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367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bg-BG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Преминаваме към реализацията на системата.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bg-BG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При първоначален достъп до системата се визуализира началната страница, от където може да се навигира към страниците за създаване на профил и вход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46083-55BF-4F6C-B169-B16634E85C4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5223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Създаването на профил се извършва в 2 стъпки. Първо се избира езикът, който потребителят желае да започне да изучава. В последствие потребителите могат да започнат да изучават и други езици, добавени в системата. След това се въвеждат данните за регистрация. При регистрация се извършват нужните проверки за въведените потребителски данни – потребителското име да е с латински букви, паролата да не бъде по-кратка от 8 символа, след което се изършва и хеширане на паролата.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46083-55BF-4F6C-B169-B16634E85C4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0040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sz="1800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При вход се проверяват данните за потребителя в базата данни. Ако такъв потребител не съществува, се извежда съобщение за грешка.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46083-55BF-4F6C-B169-B16634E85C4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8682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След успешен вход, потребителите получават достъп до страницата, от която могат да започнат изучаването на избрания език.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46083-55BF-4F6C-B169-B16634E85C4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7060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Уроците, до които имат достъп потребителите са оцветени в жълт цвят, за да преминат към останалите трябва да приключат успешно първо предишния урок. От това изскачащо меню потребителите могат да преглеждат и основните знания, които ще придобият от този урок.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46083-55BF-4F6C-B169-B16634E85C4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7691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този слайд са показани 2 комбинации от безплатните упражнения – четене с отговор за съставяне на изречение и слушане с множествен отговор.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46083-55BF-4F6C-B169-B16634E85C4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1844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 грешен отговор се извежда съобщение за грешка и се предоставя правилният отговор, за да имат възможността потребителите да го запомнят. Също така сгрешеното упражнение се добавя като препоръчана флашкарта.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46083-55BF-4F6C-B169-B16634E85C4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0734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 правилен отговор потребителят има правото да продължи към слевдащото упражнение. След приключване на всички упражнения се отключва следващият урок и потребителят получава монети, които може да използва в магазина на приложението.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46083-55BF-4F6C-B169-B16634E85C4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3642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Разработени са също платени упражнения, които потребителите могат да достъпят единствено при наличие на абонамент. Те са с различна структура от безплатните упражнения – чрез кратка история потребителите трябва да подредят в правилната последователност отделните сцени от историята.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46083-55BF-4F6C-B169-B16634E85C4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6357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В магазина потребителите могат да закупят продукти с монети или чрез плащане с банкова карта. Приложението предоставя възможност за закупуване на абонамент напълно безплатно чрез спечелените монети от преминаването на уроци.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46083-55BF-4F6C-B169-B16634E85C4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5210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Друг предоставен метод за изучаване на езици е чрез флашкарти. Те са се доказали като изключително полезен метод за запомняне на нова информация. Допълнително потребителите могат да оценяват нивото на познаване на флашкартата, като в последствие могат да преглеждат само тези, оценени с ниски оценки.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46083-55BF-4F6C-B169-B16634E85C4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7342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Могат също така да преглеждат грешките, които са извършили в уроците, и да ги добавят като флашкарти, за да ги изучават допълнително.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46083-55BF-4F6C-B169-B16634E85C4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2731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От администраторския панел администраторите могат да добавят или извършват всякакви корекции по системата ...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46083-55BF-4F6C-B169-B16634E85C4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8079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… </a:t>
            </a:r>
            <a:r>
              <a:rPr lang="bg-BG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като да добавят нови езици, раздели и упражнения. При добавяне на безплатни упражнения, администраторите трябва да въведат коректни данни за възможни отговори и правилен отговор, така че правилните отговор да може да се получи от възможните отговори. Ако това не е изпълнено, упражнението не се добавя и се изписва съобщение за грешка на данните. 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46083-55BF-4F6C-B169-B16634E85C4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8459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Също така могат да добавят нови продукти в магазина или да извършват корекции по съществуващите ...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46083-55BF-4F6C-B169-B16634E85C4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2941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... както и да редактират или изтриват уроци и раздели. При изтриване на уроците, за да се запази последователността, се извършват корекции по останалите уроци. По този начин се гарантира, че няма да се получат конфликти при прогреса на потребителите и последователността на уроците.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46083-55BF-4F6C-B169-B16634E85C4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24545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За всяко извършено действие от страна на администратора се извежда съобщения за успех или неуспех.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46083-55BF-4F6C-B169-B16634E85C4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9324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Приложението поддържа също така 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responsive </a:t>
            </a:r>
            <a:r>
              <a:rPr lang="bg-BG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дизайн, за да бъде напълно използваемо и от мобилни устройства.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46083-55BF-4F6C-B169-B16634E85C4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3967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46083-55BF-4F6C-B169-B16634E85C4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45862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bg-BG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При изтриване на урок е нужно да се гарантира, че прогресът на потребителите и последователността на останалите уроци няма да бъде нарушен. Поради тази причина трябва да се редактират отделните таблици, служещи за запазване на тази информация. За тази цел се използват 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SQL </a:t>
            </a:r>
            <a:r>
              <a:rPr lang="bg-BG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транзакции, за да се гарантира, че ако се получи конфликт при редактиране на някоя таблица, то промените няма да се извършат само частично, а администраторите ще бъдат уведомени, че промяната не е била успешна.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bg-BG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Уроци могат да се добавят единствено към последния добавен раздел. Това се прави с цел предотваратяване на объркване от страна на потребителите и администраторите. По този начин потребителите ще следват пътеката си на обучение и ще се връщат назад, единствено ако желаят да повторят някой урок, но не и за да отключат следващ.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bg-BG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Тъй като текущата реализация е насочена към изучаване на чужди езици, вградените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javascript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bg-BG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функции за превръщане на текст в говор не поддържат български език. За бъдеща реализация, в която системата би могла да се разшири и за чуждестранни потребители, желаещи да изучават български език, могат да се имплементират библиотеки като 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Microsoft Azure Cognitive Services </a:t>
            </a:r>
            <a:r>
              <a:rPr lang="bg-BG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за подобряване на упражненията за слушане.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46083-55BF-4F6C-B169-B16634E85C4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37762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Тази функционалност беше разработена след рецензия, по препоръка на доц. Божикова. При преминаване на урок, се изчислява процентно успеваемостта на потребителя за този урок на база грешните отговори и общия брой въпроси. След което тази информация се съхранява в базата данни и се извежда в изскачащото меню за конкретния урок.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46083-55BF-4F6C-B169-B16634E85C4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675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00CF780-7E78-4337-9B8A-800AEA0FBB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AAE737C-AD25-1BDA-0F99-EF2AB01680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28857E6-4BB9-6433-0418-01A8501CD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81512-1DEB-4777-9271-7944E09A58D0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FD90D5D-EBAD-DF6D-92B9-BB22057B0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84EAB8D-3913-3655-42D0-AA3B1340F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AD5CE-E909-4BDA-8A69-83E3119D9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00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0D02765-C9F6-4153-B15B-E860CA58C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7B03101-1114-09AC-AE94-5B17E468B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E9FAAB8-64ED-7BD0-D1D2-F7AFE1354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81512-1DEB-4777-9271-7944E09A58D0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AEDDF2B-2AAC-C3A9-E8ED-9EB82685B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43786FE-B040-2BE9-FB7C-A4F3D82A8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AD5CE-E909-4BDA-8A69-83E3119D9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575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4880693-0326-A4AE-6458-459935A31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1316B16-90E8-2A63-F13E-665792034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965CE95-97DB-FDF4-4F5A-1C0389ABD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81512-1DEB-4777-9271-7944E09A58D0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18135AE-6869-2936-2B64-64B8444A1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8F547D3-98ED-4CCC-5A6D-A9501FEA4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AD5CE-E909-4BDA-8A69-83E3119D9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575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7EC773-3276-500E-BD8A-A7DE48948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4F545BE-317F-FC76-D970-C8F8911CAA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EA9376E-161F-63C3-6FF3-90F0AA8A08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509FEB4-6CA8-0E30-E8CF-4A9ABC097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81512-1DEB-4777-9271-7944E09A58D0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C6E9399-FF22-695A-9508-B78BA74B5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D1D48C1-8546-6924-C78E-02E9BC65E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AD5CE-E909-4BDA-8A69-83E3119D9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750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D966FE9-1B89-EEB5-7F66-2E000B53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2654E31-C16F-25B3-71CF-0000B03683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2C5474C-EB07-02DA-9061-668D6F2C39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8F9E4B5B-6AAD-45AC-8F39-89D6A1F55A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A31786BD-A213-C042-CF6E-288EBD088D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5A5E9B88-2E8D-2CCB-5BAB-6B462CD31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81512-1DEB-4777-9271-7944E09A58D0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ECE4FB5B-3750-59F8-3639-545EDFC38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D9643A3E-14C3-85A8-A60D-5C3EBB8E8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AD5CE-E909-4BDA-8A69-83E3119D9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950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7151240-32B9-9982-862A-DF6665912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8F50785E-2D21-D867-584C-820E0E9EE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81512-1DEB-4777-9271-7944E09A58D0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1C061C81-AAF9-745D-7F2F-7CF646B65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171F92C-38E5-24F2-AAB9-89469983D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AD5CE-E909-4BDA-8A69-83E3119D9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323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C04A1280-E550-A8B8-D89E-6D06637DD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81512-1DEB-4777-9271-7944E09A58D0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0AD043A9-89DD-859B-ED11-D4ACA2A04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38DE7E2-7BC9-FAE1-BFB1-DBACC8119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AD5CE-E909-4BDA-8A69-83E3119D9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913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91F489D-15AD-F734-C7FE-14CB24356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BA8ACD3-06D3-7BBD-5E1E-9A75D5C42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00E2548-F78C-F2A9-68AE-9B23FF0BA5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B62A2A9-16D9-D4F8-48A3-3B2BDDCA6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81512-1DEB-4777-9271-7944E09A58D0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C565642-D389-CC04-3C7F-481D28A90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C34267E-BF2C-F956-976A-3A3C741B8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AD5CE-E909-4BDA-8A69-83E3119D9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450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A28A18A-DC1C-918F-9F54-C34326EA1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03840DC6-EF91-E312-1867-E2324EC7B1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0383C44A-C3FC-7F92-68BD-17E6027248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315429C-C320-2190-9E58-5908EAF4C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81512-1DEB-4777-9271-7944E09A58D0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CBA73D1-43F8-4627-C201-89C16C4F3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E1C9116-F95D-93DC-20B2-2B287B559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AD5CE-E909-4BDA-8A69-83E3119D9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450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7FA44F9-D069-BC7F-B7D3-9E898691B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863D09C4-8105-69A3-B7C9-8F5FB013E9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19EDB20-B2AB-02E6-E08C-5ECC1C803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81512-1DEB-4777-9271-7944E09A58D0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BCD5FCB-1699-F631-3A49-6F8554E55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0C2999B-AB68-6525-0716-EEC08E52B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AD5CE-E909-4BDA-8A69-83E3119D9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298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B5F07C17-C657-2EE2-0D97-E7194D7F05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F9BDA3DC-7EB4-FCA2-F0F0-1BA3DF3C7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B20F8C2-8246-14F1-D8A3-0A6C3BE30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81512-1DEB-4777-9271-7944E09A58D0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D95699E-224E-7F05-6792-E5C675FC6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619652D-9A0F-98B5-DA2D-89D1302EE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AD5CE-E909-4BDA-8A69-83E3119D9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0347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81512-1DEB-4777-9271-7944E09A58D0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2FAD5CE-E909-4BDA-8A69-83E3119D9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2230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81512-1DEB-4777-9271-7944E09A58D0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AD5CE-E909-4BDA-8A69-83E3119D9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4287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81512-1DEB-4777-9271-7944E09A58D0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2FAD5CE-E909-4BDA-8A69-83E3119D9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8912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81512-1DEB-4777-9271-7944E09A58D0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2FAD5CE-E909-4BDA-8A69-83E3119D9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1074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81512-1DEB-4777-9271-7944E09A58D0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2FAD5CE-E909-4BDA-8A69-83E3119D9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075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81512-1DEB-4777-9271-7944E09A58D0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AD5CE-E909-4BDA-8A69-83E3119D9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976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81512-1DEB-4777-9271-7944E09A58D0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AD5CE-E909-4BDA-8A69-83E3119D9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5691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81512-1DEB-4777-9271-7944E09A58D0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AD5CE-E909-4BDA-8A69-83E3119D9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8186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81512-1DEB-4777-9271-7944E09A58D0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2FAD5CE-E909-4BDA-8A69-83E3119D9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8040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81512-1DEB-4777-9271-7944E09A58D0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2FAD5CE-E909-4BDA-8A69-83E3119D9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1828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81512-1DEB-4777-9271-7944E09A58D0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2FAD5CE-E909-4BDA-8A69-83E3119D9A4E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311370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81512-1DEB-4777-9271-7944E09A58D0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2FAD5CE-E909-4BDA-8A69-83E3119D9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5341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81512-1DEB-4777-9271-7944E09A58D0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2FAD5CE-E909-4BDA-8A69-83E3119D9A4E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947872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81512-1DEB-4777-9271-7944E09A58D0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2FAD5CE-E909-4BDA-8A69-83E3119D9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2671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81512-1DEB-4777-9271-7944E09A58D0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AD5CE-E909-4BDA-8A69-83E3119D9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14520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81512-1DEB-4777-9271-7944E09A58D0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AD5CE-E909-4BDA-8A69-83E3119D9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202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EFD6FAA9-8774-28A6-38A7-0931225AD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5D01240-7E04-3135-F8F8-C05837042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4FE2F6C-A926-D945-AE43-3204B3B575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F81512-1DEB-4777-9271-7944E09A58D0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1B2607C-8413-5147-9058-6354D5A848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4341112-9AAE-DDD8-9BD2-A35693978D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FAD5CE-E909-4BDA-8A69-83E3119D9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634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19" r:id="rId2"/>
    <p:sldLayoutId id="2147483820" r:id="rId3"/>
    <p:sldLayoutId id="2147483821" r:id="rId4"/>
    <p:sldLayoutId id="2147483822" r:id="rId5"/>
    <p:sldLayoutId id="2147483823" r:id="rId6"/>
    <p:sldLayoutId id="2147483824" r:id="rId7"/>
    <p:sldLayoutId id="2147483825" r:id="rId8"/>
    <p:sldLayoutId id="2147483826" r:id="rId9"/>
    <p:sldLayoutId id="2147483827" r:id="rId10"/>
    <p:sldLayoutId id="214748382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F81512-1DEB-4777-9271-7944E09A58D0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2FAD5CE-E909-4BDA-8A69-83E3119D9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413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  <p:sldLayoutId id="2147483841" r:id="rId12"/>
    <p:sldLayoutId id="2147483842" r:id="rId13"/>
    <p:sldLayoutId id="2147483843" r:id="rId14"/>
    <p:sldLayoutId id="2147483844" r:id="rId15"/>
    <p:sldLayoutId id="214748384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47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6.jpeg"/><Relationship Id="rId5" Type="http://schemas.openxmlformats.org/officeDocument/2006/relationships/image" Target="../media/image45.jpeg"/><Relationship Id="rId4" Type="http://schemas.openxmlformats.org/officeDocument/2006/relationships/image" Target="../media/image44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79E6E86E-C671-DEC0-4AB9-8C5EA62FF68C}"/>
              </a:ext>
            </a:extLst>
          </p:cNvPr>
          <p:cNvSpPr txBox="1"/>
          <p:nvPr/>
        </p:nvSpPr>
        <p:spPr>
          <a:xfrm>
            <a:off x="3360133" y="268249"/>
            <a:ext cx="5108513" cy="4662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bg-BG" sz="2700" dirty="0">
                <a:ea typeface="+mj-ea"/>
                <a:cs typeface="+mj-cs"/>
              </a:rPr>
              <a:t>ТЕХНИЧЕСКИ УНИВЕРИТЕТ ВАРНА</a:t>
            </a:r>
            <a:endParaRPr lang="bg-BG" sz="27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0940F26B-A87B-EA12-EFCF-E39135D6A902}"/>
              </a:ext>
            </a:extLst>
          </p:cNvPr>
          <p:cNvSpPr txBox="1"/>
          <p:nvPr/>
        </p:nvSpPr>
        <p:spPr>
          <a:xfrm>
            <a:off x="3261122" y="2636912"/>
            <a:ext cx="5435847" cy="840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bg-BG" sz="5400" dirty="0">
                <a:ea typeface="+mj-ea"/>
                <a:cs typeface="+mj-cs"/>
              </a:rPr>
              <a:t>Дипломна работа</a:t>
            </a:r>
            <a:endParaRPr lang="bg-BG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3BF0B85E-3DF7-092D-EF6B-0108C0BD190B}"/>
              </a:ext>
            </a:extLst>
          </p:cNvPr>
          <p:cNvSpPr txBox="1"/>
          <p:nvPr/>
        </p:nvSpPr>
        <p:spPr>
          <a:xfrm>
            <a:off x="2162621" y="3477142"/>
            <a:ext cx="7632848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bg-BG" sz="2400" dirty="0"/>
              <a:t>Тема: „</a:t>
            </a:r>
            <a:r>
              <a:rPr lang="ru-RU" sz="2400" dirty="0"/>
              <a:t>Проектиране и реализация на web приложение за изучаване на чужди езици</a:t>
            </a:r>
            <a:r>
              <a:rPr lang="bg-BG" sz="2400" dirty="0"/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E3D1DD0C-8B43-D235-721F-1A0BCA59E324}"/>
              </a:ext>
            </a:extLst>
          </p:cNvPr>
          <p:cNvSpPr txBox="1"/>
          <p:nvPr/>
        </p:nvSpPr>
        <p:spPr>
          <a:xfrm>
            <a:off x="926783" y="5202906"/>
            <a:ext cx="3623877" cy="5355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bg-BG" sz="1600" dirty="0"/>
              <a:t>Дипломант: Сонер Серджанов Кабилов</a:t>
            </a:r>
          </a:p>
          <a:p>
            <a:pPr>
              <a:lnSpc>
                <a:spcPct val="90000"/>
              </a:lnSpc>
            </a:pPr>
            <a:r>
              <a:rPr lang="bg-BG" sz="1600" dirty="0"/>
              <a:t>Фак. №</a:t>
            </a:r>
            <a:r>
              <a:rPr lang="en-US" sz="1600" dirty="0"/>
              <a:t> </a:t>
            </a:r>
            <a:r>
              <a:rPr lang="bg-BG" sz="1600" dirty="0"/>
              <a:t>20621507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CF91B570-7441-7BFE-20A0-186D6AAFA675}"/>
              </a:ext>
            </a:extLst>
          </p:cNvPr>
          <p:cNvSpPr txBox="1"/>
          <p:nvPr/>
        </p:nvSpPr>
        <p:spPr>
          <a:xfrm>
            <a:off x="8306361" y="5202907"/>
            <a:ext cx="2519216" cy="5355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bg-BG" sz="1600" dirty="0"/>
              <a:t>Научен ръководител:</a:t>
            </a:r>
          </a:p>
          <a:p>
            <a:pPr>
              <a:lnSpc>
                <a:spcPct val="90000"/>
              </a:lnSpc>
            </a:pPr>
            <a:r>
              <a:rPr lang="bg-BG" sz="1600" dirty="0"/>
              <a:t>/ас. д-р Даниела Петрова</a:t>
            </a:r>
            <a:r>
              <a:rPr lang="ru-RU" sz="1600" dirty="0"/>
              <a:t>/</a:t>
            </a:r>
            <a:endParaRPr lang="bg-BG" sz="1600" dirty="0"/>
          </a:p>
        </p:txBody>
      </p:sp>
      <p:pic>
        <p:nvPicPr>
          <p:cNvPr id="17" name="logtuv2.png">
            <a:extLst>
              <a:ext uri="{FF2B5EF4-FFF2-40B4-BE49-F238E27FC236}">
                <a16:creationId xmlns:a16="http://schemas.microsoft.com/office/drawing/2014/main" xmlns="" id="{CCEAB389-A72B-D89B-29C5-18685BC438E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74330" y="985707"/>
            <a:ext cx="1080120" cy="1231090"/>
          </a:xfrm>
          <a:prstGeom prst="rect">
            <a:avLst/>
          </a:prstGeom>
          <a:noFill/>
          <a:ln w="12700">
            <a:noFill/>
            <a:miter lim="400000"/>
          </a:ln>
        </p:spPr>
      </p:pic>
    </p:spTree>
    <p:extLst>
      <p:ext uri="{BB962C8B-B14F-4D97-AF65-F5344CB8AC3E}">
        <p14:creationId xmlns:p14="http://schemas.microsoft.com/office/powerpoint/2010/main" val="3397504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76E720F-5B39-BDB1-D286-35159BE76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bg-BG" sz="3600" dirty="0"/>
              <a:t>Цели и задачи на дипломната работа</a:t>
            </a:r>
            <a:br>
              <a:rPr lang="bg-BG" sz="3600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FFE585B-3671-9CE7-3B74-F931D35B7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bg-BG" sz="2400" dirty="0"/>
              <a:t>Проектиране на система за изучаване на чужди езици</a:t>
            </a:r>
          </a:p>
          <a:p>
            <a:pPr>
              <a:lnSpc>
                <a:spcPct val="150000"/>
              </a:lnSpc>
            </a:pPr>
            <a:r>
              <a:rPr lang="bg-BG" sz="2400" dirty="0"/>
              <a:t>Различни методи за обучение</a:t>
            </a:r>
          </a:p>
          <a:p>
            <a:pPr>
              <a:lnSpc>
                <a:spcPct val="150000"/>
              </a:lnSpc>
            </a:pPr>
            <a:r>
              <a:rPr lang="bg-BG" sz="2400" dirty="0"/>
              <a:t>Интерактивен интерфейс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bg-BG" sz="2400" dirty="0"/>
              <a:t>Администраторски панел за добавяне, редактиране и изтриване на съдържание</a:t>
            </a:r>
          </a:p>
        </p:txBody>
      </p:sp>
    </p:spTree>
    <p:extLst>
      <p:ext uri="{BB962C8B-B14F-4D97-AF65-F5344CB8AC3E}">
        <p14:creationId xmlns:p14="http://schemas.microsoft.com/office/powerpoint/2010/main" val="2296173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76E720F-5B39-BDB1-D286-35159BE76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bg-BG" dirty="0"/>
              <a:t>Защо уеб-базирана система?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FFE585B-3671-9CE7-3B74-F931D35B7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bg-BG" sz="2400" dirty="0"/>
              <a:t>Достъпна от различни устройства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Responsive </a:t>
            </a:r>
            <a:r>
              <a:rPr lang="bg-BG" sz="2400" dirty="0"/>
              <a:t>дизайн</a:t>
            </a:r>
          </a:p>
          <a:p>
            <a:pPr>
              <a:lnSpc>
                <a:spcPct val="150000"/>
              </a:lnSpc>
            </a:pPr>
            <a:r>
              <a:rPr lang="bg-BG" sz="2400" dirty="0"/>
              <a:t>Без инсталация. Изисква единствено интернет и браузър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76016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76E720F-5B39-BDB1-D286-35159BE76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bg-BG" dirty="0"/>
              <a:t>Обзор на съществуващи решения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FFE585B-3671-9CE7-3B74-F931D35B7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4070006" cy="377762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bg-BG" sz="2400" dirty="0"/>
              <a:t>Предимства:</a:t>
            </a:r>
          </a:p>
          <a:p>
            <a:pPr>
              <a:lnSpc>
                <a:spcPct val="150000"/>
              </a:lnSpc>
            </a:pPr>
            <a:r>
              <a:rPr lang="bg-BG" sz="2000" dirty="0"/>
              <a:t>Голям избор за езици за изучаване;</a:t>
            </a:r>
          </a:p>
          <a:p>
            <a:pPr>
              <a:lnSpc>
                <a:spcPct val="150000"/>
              </a:lnSpc>
            </a:pPr>
            <a:r>
              <a:rPr lang="bg-BG" sz="2000" dirty="0"/>
              <a:t>Състезателен характер.</a:t>
            </a:r>
            <a:endParaRPr lang="en-US" sz="20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A30FF4DE-2CD9-24BA-16BE-BE032C56C822}"/>
              </a:ext>
            </a:extLst>
          </p:cNvPr>
          <p:cNvSpPr txBox="1">
            <a:spLocks/>
          </p:cNvSpPr>
          <p:nvPr/>
        </p:nvSpPr>
        <p:spPr>
          <a:xfrm>
            <a:off x="6840046" y="2133600"/>
            <a:ext cx="4735927" cy="3777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 3" charset="2"/>
              <a:buNone/>
            </a:pPr>
            <a:r>
              <a:rPr lang="bg-BG" sz="2400" dirty="0"/>
              <a:t>Недостатъци:</a:t>
            </a:r>
          </a:p>
          <a:p>
            <a:pPr>
              <a:lnSpc>
                <a:spcPct val="150000"/>
              </a:lnSpc>
            </a:pPr>
            <a:r>
              <a:rPr lang="bg-BG" sz="2000" dirty="0"/>
              <a:t>Не съществува приложение, поддържащо български език;</a:t>
            </a:r>
          </a:p>
          <a:p>
            <a:pPr>
              <a:lnSpc>
                <a:spcPct val="150000"/>
              </a:lnSpc>
            </a:pPr>
            <a:r>
              <a:rPr lang="bg-BG" sz="2000" dirty="0"/>
              <a:t>Част от тези приложения са платени;</a:t>
            </a:r>
          </a:p>
          <a:p>
            <a:pPr>
              <a:lnSpc>
                <a:spcPct val="150000"/>
              </a:lnSpc>
            </a:pPr>
            <a:r>
              <a:rPr lang="bg-BG" sz="2000" dirty="0"/>
              <a:t>Фокус върху конкретен метод за обучение.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17505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76E720F-5B39-BDB1-D286-35159BE76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bg-BG" dirty="0"/>
              <a:t>Използвани технологии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FFE585B-3671-9CE7-3B74-F931D35B7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165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Node.js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HTML/CSS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EJS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JavaScript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MySQL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Stripe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22B75DB2-BDF3-167B-6234-BF7D49D3C20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7672" y="1708186"/>
            <a:ext cx="1723528" cy="10572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D9C90C1C-E4D4-E3D5-5773-1540780B8C56}"/>
              </a:ext>
            </a:extLst>
          </p:cNvPr>
          <p:cNvGrpSpPr/>
          <p:nvPr/>
        </p:nvGrpSpPr>
        <p:grpSpPr>
          <a:xfrm>
            <a:off x="8373815" y="1680477"/>
            <a:ext cx="2012269" cy="1145077"/>
            <a:chOff x="0" y="0"/>
            <a:chExt cx="1333500" cy="75882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xmlns="" id="{6420BEB9-1D77-EE95-CA1D-DF4EF4BBAAA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758825" cy="758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xmlns="" id="{69B4D427-3F69-FAAB-9E35-5B172F97179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7250" y="28575"/>
              <a:ext cx="476250" cy="67246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40707E84-5F92-A541-107A-9855F9742D9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2918" y="3245182"/>
            <a:ext cx="1172858" cy="1172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B479B13B-6F63-CCDB-4EDE-E5A8571C93C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7711" y="4626604"/>
            <a:ext cx="1230561" cy="12305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6382F284-9D9F-0E1E-8CEE-F91AF8C0087F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297" y="3124290"/>
            <a:ext cx="2345715" cy="13194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EDF8FBF8-AEB2-0EDC-E450-46436D6F872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5386" y="5017409"/>
            <a:ext cx="2034803" cy="8528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58432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C498F3-C688-BE2F-7BF9-8AF4BE933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23353"/>
            <a:ext cx="8911687" cy="1280890"/>
          </a:xfrm>
        </p:spPr>
        <p:txBody>
          <a:bodyPr/>
          <a:lstStyle/>
          <a:p>
            <a:pPr algn="ctr"/>
            <a:r>
              <a:rPr lang="bg-BG" dirty="0"/>
              <a:t>Архитектура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FA89BE74-19F9-0E44-87E8-8371522E8548}"/>
              </a:ext>
            </a:extLst>
          </p:cNvPr>
          <p:cNvGrpSpPr/>
          <p:nvPr/>
        </p:nvGrpSpPr>
        <p:grpSpPr>
          <a:xfrm>
            <a:off x="2551622" y="1904243"/>
            <a:ext cx="7088754" cy="4078597"/>
            <a:chOff x="60622" y="54667"/>
            <a:chExt cx="4051602" cy="207204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xmlns="" id="{952EAB54-CEB6-44BC-341E-6CA0FC9924BE}"/>
                </a:ext>
              </a:extLst>
            </p:cNvPr>
            <p:cNvSpPr/>
            <p:nvPr/>
          </p:nvSpPr>
          <p:spPr>
            <a:xfrm>
              <a:off x="60622" y="54667"/>
              <a:ext cx="831406" cy="5914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6" name="Text Box 2">
              <a:extLst>
                <a:ext uri="{FF2B5EF4-FFF2-40B4-BE49-F238E27FC236}">
                  <a16:creationId xmlns:a16="http://schemas.microsoft.com/office/drawing/2014/main" xmlns="" id="{88FABC38-913B-42AF-C3D3-FDDA941E58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345" y="234294"/>
              <a:ext cx="749960" cy="25243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40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CLIENT</a:t>
              </a:r>
              <a:endParaRPr lang="en-US" sz="1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xmlns="" id="{F7F7178A-71FB-D722-7192-8E199479D7D0}"/>
                </a:ext>
              </a:extLst>
            </p:cNvPr>
            <p:cNvSpPr/>
            <p:nvPr/>
          </p:nvSpPr>
          <p:spPr>
            <a:xfrm>
              <a:off x="1394061" y="219654"/>
              <a:ext cx="1244609" cy="29752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Text Box 2">
              <a:extLst>
                <a:ext uri="{FF2B5EF4-FFF2-40B4-BE49-F238E27FC236}">
                  <a16:creationId xmlns:a16="http://schemas.microsoft.com/office/drawing/2014/main" xmlns="" id="{0E8825C9-7A8D-4F2E-D980-620E4E5221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6670" y="245580"/>
              <a:ext cx="608530" cy="1864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40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VIEW</a:t>
              </a:r>
              <a:endParaRPr lang="en-US" sz="105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F8BC832B-260C-2819-F313-FA7F237D8996}"/>
                </a:ext>
              </a:extLst>
            </p:cNvPr>
            <p:cNvSpPr/>
            <p:nvPr/>
          </p:nvSpPr>
          <p:spPr>
            <a:xfrm>
              <a:off x="1324874" y="944875"/>
              <a:ext cx="1433929" cy="33471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" name="Text Box 2">
              <a:extLst>
                <a:ext uri="{FF2B5EF4-FFF2-40B4-BE49-F238E27FC236}">
                  <a16:creationId xmlns:a16="http://schemas.microsoft.com/office/drawing/2014/main" xmlns="" id="{498A1ABE-E6F6-7905-5795-47D1F2D4FF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1923" y="994972"/>
              <a:ext cx="1317973" cy="25568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40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CONTROLLER</a:t>
              </a:r>
              <a:endParaRPr lang="en-US" sz="1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xmlns="" id="{93D06E0E-FC4D-3EE2-030C-ED1590A85844}"/>
                </a:ext>
              </a:extLst>
            </p:cNvPr>
            <p:cNvSpPr/>
            <p:nvPr/>
          </p:nvSpPr>
          <p:spPr>
            <a:xfrm>
              <a:off x="1397519" y="1735179"/>
              <a:ext cx="1247606" cy="3068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2" name="Text Box 2">
              <a:extLst>
                <a:ext uri="{FF2B5EF4-FFF2-40B4-BE49-F238E27FC236}">
                  <a16:creationId xmlns:a16="http://schemas.microsoft.com/office/drawing/2014/main" xmlns="" id="{4020D6C0-9BB9-2288-1B18-14F909DF99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9900" y="1765127"/>
              <a:ext cx="843876" cy="24494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40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SERVICE</a:t>
              </a:r>
              <a:endParaRPr lang="en-US" sz="14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3" name="Flowchart: Magnetic Disk 12">
              <a:extLst>
                <a:ext uri="{FF2B5EF4-FFF2-40B4-BE49-F238E27FC236}">
                  <a16:creationId xmlns:a16="http://schemas.microsoft.com/office/drawing/2014/main" xmlns="" id="{FE008B77-BD2C-7B27-9271-6332AADCB571}"/>
                </a:ext>
              </a:extLst>
            </p:cNvPr>
            <p:cNvSpPr/>
            <p:nvPr/>
          </p:nvSpPr>
          <p:spPr>
            <a:xfrm>
              <a:off x="3215952" y="1532522"/>
              <a:ext cx="896272" cy="594185"/>
            </a:xfrm>
            <a:prstGeom prst="flowChartMagneticDisk">
              <a:avLst/>
            </a:prstGeom>
            <a:solidFill>
              <a:schemeClr val="bg1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4" name="Text Box 2">
              <a:extLst>
                <a:ext uri="{FF2B5EF4-FFF2-40B4-BE49-F238E27FC236}">
                  <a16:creationId xmlns:a16="http://schemas.microsoft.com/office/drawing/2014/main" xmlns="" id="{497A18AA-6286-C502-0B82-68DCD6A813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6335" y="1790319"/>
              <a:ext cx="855505" cy="24638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DATABASE</a:t>
              </a:r>
              <a:endParaRPr lang="en-US" sz="12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xmlns="" id="{42EC978E-6D24-EECA-5B57-9C00E755B82F}"/>
                </a:ext>
              </a:extLst>
            </p:cNvPr>
            <p:cNvCxnSpPr/>
            <p:nvPr/>
          </p:nvCxnSpPr>
          <p:spPr>
            <a:xfrm>
              <a:off x="892028" y="363434"/>
              <a:ext cx="475858" cy="0"/>
            </a:xfrm>
            <a:prstGeom prst="straightConnector1">
              <a:avLst/>
            </a:prstGeom>
            <a:ln w="44450"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xmlns="" id="{4C0F6583-450E-59C5-5733-577B8AB15459}"/>
                </a:ext>
              </a:extLst>
            </p:cNvPr>
            <p:cNvCxnSpPr/>
            <p:nvPr/>
          </p:nvCxnSpPr>
          <p:spPr>
            <a:xfrm>
              <a:off x="2006773" y="539149"/>
              <a:ext cx="4721" cy="380836"/>
            </a:xfrm>
            <a:prstGeom prst="straightConnector1">
              <a:avLst/>
            </a:prstGeom>
            <a:ln w="44450"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xmlns="" id="{27459974-087C-8ECD-38B8-9775E4A3D0EB}"/>
                </a:ext>
              </a:extLst>
            </p:cNvPr>
            <p:cNvCxnSpPr/>
            <p:nvPr/>
          </p:nvCxnSpPr>
          <p:spPr>
            <a:xfrm>
              <a:off x="2697156" y="1892438"/>
              <a:ext cx="475858" cy="0"/>
            </a:xfrm>
            <a:prstGeom prst="straightConnector1">
              <a:avLst/>
            </a:prstGeom>
            <a:ln w="44450"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xmlns="" id="{560F4BB7-FF69-BFFD-4974-A004719B1763}"/>
                </a:ext>
              </a:extLst>
            </p:cNvPr>
            <p:cNvCxnSpPr/>
            <p:nvPr/>
          </p:nvCxnSpPr>
          <p:spPr>
            <a:xfrm>
              <a:off x="1811050" y="1302420"/>
              <a:ext cx="0" cy="396240"/>
            </a:xfrm>
            <a:prstGeom prst="straightConnector1">
              <a:avLst/>
            </a:prstGeom>
            <a:ln w="444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xmlns="" id="{D2943322-9075-FFF1-2A17-E3D802013A21}"/>
                </a:ext>
              </a:extLst>
            </p:cNvPr>
            <p:cNvCxnSpPr/>
            <p:nvPr/>
          </p:nvCxnSpPr>
          <p:spPr>
            <a:xfrm flipV="1">
              <a:off x="2237067" y="1302420"/>
              <a:ext cx="0" cy="381000"/>
            </a:xfrm>
            <a:prstGeom prst="straightConnector1">
              <a:avLst/>
            </a:prstGeom>
            <a:ln w="444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3874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C498F3-C688-BE2F-7BF9-8AF4BE933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24110"/>
            <a:ext cx="8911687" cy="1280890"/>
          </a:xfrm>
        </p:spPr>
        <p:txBody>
          <a:bodyPr/>
          <a:lstStyle/>
          <a:p>
            <a:pPr algn="ctr"/>
            <a:r>
              <a:rPr lang="bg-BG" dirty="0"/>
              <a:t>Типове потребители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AA0EC356-CC66-EFE3-90B4-9573C70FDC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200" y="1353185"/>
            <a:ext cx="5528779" cy="53238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81DF8DB8-E5C9-DB6B-546A-C2DC024FC2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1154" y="1353185"/>
            <a:ext cx="4016906" cy="532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05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4169893-8DAE-36B5-7451-4066F6948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140118"/>
            <a:ext cx="8911687" cy="1280890"/>
          </a:xfrm>
        </p:spPr>
        <p:txBody>
          <a:bodyPr/>
          <a:lstStyle/>
          <a:p>
            <a:pPr algn="ctr"/>
            <a:r>
              <a:rPr lang="bg-BG" dirty="0"/>
              <a:t>Реализация на база данни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6DCF8131-C62A-C156-2931-B29C7A521751}"/>
              </a:ext>
            </a:extLst>
          </p:cNvPr>
          <p:cNvGrpSpPr/>
          <p:nvPr/>
        </p:nvGrpSpPr>
        <p:grpSpPr>
          <a:xfrm>
            <a:off x="2834702" y="780563"/>
            <a:ext cx="6522594" cy="5898572"/>
            <a:chOff x="609600" y="618837"/>
            <a:chExt cx="5940425" cy="53721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xmlns="" id="{2166FF5F-1283-29E4-0F72-961B82643C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600" y="618837"/>
              <a:ext cx="5935345" cy="27419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xmlns="" id="{E0FA9244-9109-F5A0-4374-1061C395757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600" y="3362037"/>
              <a:ext cx="5940425" cy="26289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358483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C498F3-C688-BE2F-7BF9-8AF4BE933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697" y="557435"/>
            <a:ext cx="8911687" cy="1280890"/>
          </a:xfrm>
        </p:spPr>
        <p:txBody>
          <a:bodyPr/>
          <a:lstStyle/>
          <a:p>
            <a:pPr algn="ctr"/>
            <a:r>
              <a:rPr lang="bg-BG" dirty="0"/>
              <a:t>Начален екран</a:t>
            </a:r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xmlns="" id="{B4D29179-0984-B9C7-C7A5-8E13B3E3CD3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32" b="8605"/>
          <a:stretch/>
        </p:blipFill>
        <p:spPr bwMode="auto">
          <a:xfrm>
            <a:off x="1647615" y="1838325"/>
            <a:ext cx="8896769" cy="3562350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608960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C498F3-C688-BE2F-7BF9-8AF4BE933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547700"/>
            <a:ext cx="8911687" cy="1280890"/>
          </a:xfrm>
        </p:spPr>
        <p:txBody>
          <a:bodyPr/>
          <a:lstStyle/>
          <a:p>
            <a:pPr algn="ctr"/>
            <a:r>
              <a:rPr lang="bg-BG" dirty="0"/>
              <a:t>Регистрация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09665839-FD06-160B-E657-A4D5456B1B1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97" b="26328"/>
          <a:stretch/>
        </p:blipFill>
        <p:spPr bwMode="auto">
          <a:xfrm>
            <a:off x="2819399" y="1458293"/>
            <a:ext cx="6553200" cy="2207864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0583C993-993A-BED7-E946-00A8F5F48E3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51" b="15400"/>
          <a:stretch/>
        </p:blipFill>
        <p:spPr bwMode="auto">
          <a:xfrm>
            <a:off x="2819399" y="4146413"/>
            <a:ext cx="6553199" cy="2487537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ED7DB913-A001-7283-6472-6043D0401F8D}"/>
              </a:ext>
            </a:extLst>
          </p:cNvPr>
          <p:cNvSpPr txBox="1"/>
          <p:nvPr/>
        </p:nvSpPr>
        <p:spPr>
          <a:xfrm>
            <a:off x="1877353" y="2269837"/>
            <a:ext cx="7048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3200" i="1" dirty="0">
                <a:latin typeface="Bookman Old Style" panose="02050604050505020204" pitchFamily="18" charset="0"/>
              </a:rPr>
              <a:t>1)</a:t>
            </a:r>
            <a:endParaRPr lang="en-US" sz="3200" i="1" dirty="0">
              <a:latin typeface="Bookman Old Style" panose="020506040505050202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AD1AA762-81F8-A326-6262-8C828FAB87AE}"/>
              </a:ext>
            </a:extLst>
          </p:cNvPr>
          <p:cNvSpPr txBox="1"/>
          <p:nvPr/>
        </p:nvSpPr>
        <p:spPr>
          <a:xfrm>
            <a:off x="1877353" y="5097793"/>
            <a:ext cx="7048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3200" i="1" dirty="0">
                <a:latin typeface="Bookman Old Style" panose="02050604050505020204" pitchFamily="18" charset="0"/>
              </a:rPr>
              <a:t>2)</a:t>
            </a:r>
            <a:endParaRPr lang="en-US" sz="3200" i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5072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C498F3-C688-BE2F-7BF9-8AF4BE933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498443"/>
            <a:ext cx="8911687" cy="1280890"/>
          </a:xfrm>
        </p:spPr>
        <p:txBody>
          <a:bodyPr/>
          <a:lstStyle/>
          <a:p>
            <a:pPr algn="ctr"/>
            <a:r>
              <a:rPr lang="bg-BG" dirty="0"/>
              <a:t>Вход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51A70DC1-9747-2B42-203B-1515FC69063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74" b="49705"/>
          <a:stretch/>
        </p:blipFill>
        <p:spPr bwMode="auto">
          <a:xfrm>
            <a:off x="2493871" y="1538938"/>
            <a:ext cx="7204256" cy="1615642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C5E70ECF-045B-F7BD-128C-2BEE5D79B94A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2" b="10841"/>
          <a:stretch/>
        </p:blipFill>
        <p:spPr bwMode="auto">
          <a:xfrm>
            <a:off x="4610099" y="3703421"/>
            <a:ext cx="2971800" cy="2270560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968240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C498F3-C688-BE2F-7BF9-8AF4BE933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498443"/>
            <a:ext cx="8911687" cy="1280890"/>
          </a:xfrm>
        </p:spPr>
        <p:txBody>
          <a:bodyPr/>
          <a:lstStyle/>
          <a:p>
            <a:pPr algn="ctr"/>
            <a:r>
              <a:rPr lang="bg-BG" dirty="0"/>
              <a:t>Раздели и уроци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A6C6FC5-BA14-3E53-FF11-5BAA4CE5B6D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83"/>
          <a:stretch/>
        </p:blipFill>
        <p:spPr bwMode="auto">
          <a:xfrm>
            <a:off x="1743074" y="1536334"/>
            <a:ext cx="8705850" cy="4509232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0804170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C498F3-C688-BE2F-7BF9-8AF4BE933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498443"/>
            <a:ext cx="8911687" cy="1280890"/>
          </a:xfrm>
        </p:spPr>
        <p:txBody>
          <a:bodyPr/>
          <a:lstStyle/>
          <a:p>
            <a:pPr algn="ctr"/>
            <a:r>
              <a:rPr lang="bg-BG" dirty="0"/>
              <a:t>Избор на урок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8BB8B462-D317-1621-0792-54AF2C9BC9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8469" y="1869032"/>
            <a:ext cx="3048000" cy="3119936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60EBE0C2-F421-D4BE-6D68-E0CC60A37E1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349"/>
          <a:stretch/>
        </p:blipFill>
        <p:spPr bwMode="auto">
          <a:xfrm>
            <a:off x="6755532" y="1869032"/>
            <a:ext cx="3159993" cy="3119935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230999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C498F3-C688-BE2F-7BF9-8AF4BE933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498443"/>
            <a:ext cx="8911687" cy="1280890"/>
          </a:xfrm>
        </p:spPr>
        <p:txBody>
          <a:bodyPr/>
          <a:lstStyle/>
          <a:p>
            <a:pPr algn="ctr"/>
            <a:r>
              <a:rPr lang="bg-BG" dirty="0"/>
              <a:t>Видове безплатни упражнения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9700A50E-536E-24EB-34A6-CD6B066F940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60" r="21998" b="42754"/>
          <a:stretch/>
        </p:blipFill>
        <p:spPr bwMode="auto">
          <a:xfrm>
            <a:off x="7591424" y="2455197"/>
            <a:ext cx="4019552" cy="1947606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86E94D8E-799A-2495-FCB4-66816B93C0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128" y="1779333"/>
            <a:ext cx="7223986" cy="337930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72527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C498F3-C688-BE2F-7BF9-8AF4BE933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498443"/>
            <a:ext cx="8911687" cy="1280890"/>
          </a:xfrm>
        </p:spPr>
        <p:txBody>
          <a:bodyPr/>
          <a:lstStyle/>
          <a:p>
            <a:pPr algn="ctr"/>
            <a:r>
              <a:rPr lang="bg-BG" dirty="0"/>
              <a:t>Грешен отговор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A294F4CC-F5BA-EE05-0AA2-B9D4C8102A9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882" y="1779333"/>
            <a:ext cx="8696234" cy="4067128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07249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C498F3-C688-BE2F-7BF9-8AF4BE933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498443"/>
            <a:ext cx="8911687" cy="1280890"/>
          </a:xfrm>
        </p:spPr>
        <p:txBody>
          <a:bodyPr/>
          <a:lstStyle/>
          <a:p>
            <a:pPr algn="ctr"/>
            <a:r>
              <a:rPr lang="bg-BG" dirty="0"/>
              <a:t>Правилен отговор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3E1E1B87-30AE-CE45-4774-4B3048EBBF8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0436" y="1779333"/>
            <a:ext cx="8971126" cy="4229546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654414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C498F3-C688-BE2F-7BF9-8AF4BE933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498443"/>
            <a:ext cx="8911687" cy="1280890"/>
          </a:xfrm>
        </p:spPr>
        <p:txBody>
          <a:bodyPr/>
          <a:lstStyle/>
          <a:p>
            <a:pPr algn="ctr"/>
            <a:r>
              <a:rPr lang="bg-BG" dirty="0"/>
              <a:t>Платени уроци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83FF0792-B24A-463A-8610-B8E10D40467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799" y="1434906"/>
            <a:ext cx="8534400" cy="3988188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026430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C498F3-C688-BE2F-7BF9-8AF4BE933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498443"/>
            <a:ext cx="8911687" cy="1280890"/>
          </a:xfrm>
        </p:spPr>
        <p:txBody>
          <a:bodyPr/>
          <a:lstStyle/>
          <a:p>
            <a:pPr algn="ctr"/>
            <a:r>
              <a:rPr lang="bg-BG" dirty="0"/>
              <a:t>Магазин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29FCED05-C345-0A90-E26A-6520E913B53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512" y="1362363"/>
            <a:ext cx="7111306" cy="3338946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D527225B-8543-B736-FAA2-3E065F96D2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3513" y="3031836"/>
            <a:ext cx="6115878" cy="3210836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884219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C498F3-C688-BE2F-7BF9-8AF4BE933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498443"/>
            <a:ext cx="8911687" cy="1280890"/>
          </a:xfrm>
        </p:spPr>
        <p:txBody>
          <a:bodyPr/>
          <a:lstStyle/>
          <a:p>
            <a:pPr algn="ctr"/>
            <a:r>
              <a:rPr lang="bg-BG" dirty="0"/>
              <a:t>Флашкарти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4D43D365-55A0-9FD6-99CD-E197A5238B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7163" y="3338893"/>
            <a:ext cx="3048000" cy="2753362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53A4B55-73E6-050F-C5D0-61D6967130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116" y="1779333"/>
            <a:ext cx="6744552" cy="28172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85DEA5A6-DD2C-6F9B-AFEE-89CA9C5F2A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475" y="1779333"/>
            <a:ext cx="7436010" cy="310604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484864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C498F3-C688-BE2F-7BF9-8AF4BE933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498443"/>
            <a:ext cx="8911687" cy="1280890"/>
          </a:xfrm>
        </p:spPr>
        <p:txBody>
          <a:bodyPr/>
          <a:lstStyle/>
          <a:p>
            <a:pPr algn="ctr"/>
            <a:r>
              <a:rPr lang="bg-BG" dirty="0"/>
              <a:t>Препоръчани флашкарти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1693F62C-09D1-9643-C660-A8A5AF899E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3799" y="1500817"/>
            <a:ext cx="5284400" cy="473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8920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C498F3-C688-BE2F-7BF9-8AF4BE933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498443"/>
            <a:ext cx="8911687" cy="1280890"/>
          </a:xfrm>
        </p:spPr>
        <p:txBody>
          <a:bodyPr/>
          <a:lstStyle/>
          <a:p>
            <a:pPr algn="ctr"/>
            <a:r>
              <a:rPr lang="bg-BG" dirty="0"/>
              <a:t>Администраторски панел – преглед на езици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5FF6915C-3EE4-2AE7-5D0D-E18DBC39EB5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3986"/>
          <a:stretch/>
        </p:blipFill>
        <p:spPr bwMode="auto">
          <a:xfrm>
            <a:off x="829710" y="2902228"/>
            <a:ext cx="6852062" cy="1967946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2968CBC-F428-3063-B0C1-D2A385D716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9311" y="2013315"/>
            <a:ext cx="2973306" cy="4197155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329497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C498F3-C688-BE2F-7BF9-8AF4BE933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498443"/>
            <a:ext cx="8911687" cy="1280890"/>
          </a:xfrm>
        </p:spPr>
        <p:txBody>
          <a:bodyPr/>
          <a:lstStyle/>
          <a:p>
            <a:pPr algn="ctr"/>
            <a:r>
              <a:rPr lang="bg-BG" dirty="0"/>
              <a:t>Добавяне на съдържание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23139A50-01C1-8064-D2EF-E8189E69123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3333"/>
          <a:stretch/>
        </p:blipFill>
        <p:spPr bwMode="auto">
          <a:xfrm>
            <a:off x="1106206" y="1779333"/>
            <a:ext cx="2704144" cy="1769166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807DC79D-108C-7BB5-A58F-5F37C51B3B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6476" y="3060223"/>
            <a:ext cx="2339012" cy="2275072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EAA3203B-B5EA-6B3F-7F90-EEE2DBAB91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5616" y="1793342"/>
            <a:ext cx="1710230" cy="3673180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1F196A37-91DB-861A-2605-037B40F64A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4400" y="2179103"/>
            <a:ext cx="2716698" cy="2901658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80327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C498F3-C688-BE2F-7BF9-8AF4BE933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498443"/>
            <a:ext cx="8911687" cy="1280890"/>
          </a:xfrm>
        </p:spPr>
        <p:txBody>
          <a:bodyPr/>
          <a:lstStyle/>
          <a:p>
            <a:pPr algn="ctr"/>
            <a:r>
              <a:rPr lang="bg-BG" dirty="0"/>
              <a:t>Администраторски панел - магазин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763DA8B1-F8DB-37DB-562E-87588C9A43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2344955"/>
            <a:ext cx="2497579" cy="3115739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71FCE94-D56A-3D07-D995-F9BC2134FD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7137" y="1341443"/>
            <a:ext cx="1903694" cy="5122764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660846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C498F3-C688-BE2F-7BF9-8AF4BE933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498443"/>
            <a:ext cx="8911687" cy="1280890"/>
          </a:xfrm>
        </p:spPr>
        <p:txBody>
          <a:bodyPr/>
          <a:lstStyle/>
          <a:p>
            <a:pPr algn="ctr"/>
            <a:r>
              <a:rPr lang="bg-BG" dirty="0"/>
              <a:t>Преглед на уроци и упражнения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012F17A4-56C1-6F22-F255-23C3EBC743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4246" y="2110467"/>
            <a:ext cx="3034650" cy="2637065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2AC9C7C4-5CBD-5328-2CA6-3D823829A9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398411"/>
            <a:ext cx="3743740" cy="4680441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41973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C498F3-C688-BE2F-7BF9-8AF4BE933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498443"/>
            <a:ext cx="8911687" cy="1280890"/>
          </a:xfrm>
        </p:spPr>
        <p:txBody>
          <a:bodyPr/>
          <a:lstStyle/>
          <a:p>
            <a:pPr algn="ctr"/>
            <a:r>
              <a:rPr lang="bg-BG" dirty="0"/>
              <a:t>Валидации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6D4D93AC-928F-130D-0ED1-541B80E86C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172" y="1363820"/>
            <a:ext cx="6589752" cy="2687913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1D018EC9-3788-C4E2-7CF3-723848EFA4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3331" y="3051397"/>
            <a:ext cx="7618784" cy="2442783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672840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C498F3-C688-BE2F-7BF9-8AF4BE933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498443"/>
            <a:ext cx="8911687" cy="1280890"/>
          </a:xfrm>
        </p:spPr>
        <p:txBody>
          <a:bodyPr/>
          <a:lstStyle/>
          <a:p>
            <a:pPr algn="ctr"/>
            <a:r>
              <a:rPr lang="en-US" dirty="0"/>
              <a:t>Responsive </a:t>
            </a:r>
            <a:r>
              <a:rPr lang="bg-BG" dirty="0"/>
              <a:t>дизайн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91F9003B-7C02-2A49-3F6D-3CC8C81D1310}"/>
              </a:ext>
            </a:extLst>
          </p:cNvPr>
          <p:cNvGrpSpPr/>
          <p:nvPr/>
        </p:nvGrpSpPr>
        <p:grpSpPr>
          <a:xfrm>
            <a:off x="1094698" y="1308513"/>
            <a:ext cx="4202858" cy="4061813"/>
            <a:chOff x="0" y="0"/>
            <a:chExt cx="3462930" cy="334645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xmlns="" id="{F731E603-D98B-CECE-5410-09BF4D03A2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544320" cy="3346450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xmlns="" id="{CDD6085A-368A-519C-678E-C3406DFAF70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3690" y="0"/>
              <a:ext cx="1539240" cy="3336290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3A2650FF-6F1B-C306-FA88-732269DE6BB7}"/>
              </a:ext>
            </a:extLst>
          </p:cNvPr>
          <p:cNvGrpSpPr/>
          <p:nvPr/>
        </p:nvGrpSpPr>
        <p:grpSpPr>
          <a:xfrm>
            <a:off x="6206352" y="2370956"/>
            <a:ext cx="4345491" cy="4120067"/>
            <a:chOff x="0" y="0"/>
            <a:chExt cx="3403504" cy="322643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xmlns="" id="{9E524DCA-36FE-C065-19E2-3BDBED95C5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81155"/>
              <a:ext cx="1584325" cy="3038475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8F9F2F87-5342-3000-E3FA-C59ED091CC8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15064" y="0"/>
              <a:ext cx="1488440" cy="3226435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23500576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76E720F-5B39-BDB1-D286-35159BE76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bg-BG" dirty="0"/>
              <a:t>Бъдещо развитие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FFE585B-3671-9CE7-3B74-F931D35B7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bg-BG" sz="2400" dirty="0"/>
              <a:t>Създаване на мобилно приложение;</a:t>
            </a:r>
          </a:p>
          <a:p>
            <a:pPr>
              <a:lnSpc>
                <a:spcPct val="150000"/>
              </a:lnSpc>
            </a:pPr>
            <a:r>
              <a:rPr lang="ru-RU" sz="2400" dirty="0"/>
              <a:t>Създаване на повече разнообразие за видове упражнения и уроци;</a:t>
            </a:r>
          </a:p>
          <a:p>
            <a:pPr>
              <a:lnSpc>
                <a:spcPct val="150000"/>
              </a:lnSpc>
            </a:pPr>
            <a:r>
              <a:rPr lang="ru-RU" sz="2400" dirty="0"/>
              <a:t>Добавяне на изкуствен интелект за подобряване на обучението.</a:t>
            </a:r>
          </a:p>
          <a:p>
            <a:pPr>
              <a:lnSpc>
                <a:spcPct val="150000"/>
              </a:lnSpc>
            </a:pPr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2002592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13711471-95E4-A534-1718-8F7B1043DE73}"/>
              </a:ext>
            </a:extLst>
          </p:cNvPr>
          <p:cNvSpPr txBox="1"/>
          <p:nvPr/>
        </p:nvSpPr>
        <p:spPr>
          <a:xfrm>
            <a:off x="1385415" y="2588770"/>
            <a:ext cx="9421170" cy="840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bg-BG" sz="5400" dirty="0">
                <a:ea typeface="+mj-ea"/>
                <a:cs typeface="+mj-cs"/>
              </a:rPr>
              <a:t>Благодаря за вниманието!</a:t>
            </a:r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4941277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76E720F-5B39-BDB1-D286-35159BE76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bg-BG" dirty="0"/>
              <a:t>Отговори на въпроси и забележки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FFE585B-3671-9CE7-3B74-F931D35B7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/>
              <a:t>Как след изтриване на урок (от страна на администратора) се запазва последователността на уроците, т.е структурата на обучение?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/>
              <a:t>Може ли да се добави урок, например в средата на последователността от уроци?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/>
              <a:t>Как стои въпроса с изучаване на български език?</a:t>
            </a:r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10044627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76E720F-5B39-BDB1-D286-35159BE76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bg-BG" dirty="0"/>
              <a:t>Отговори на въпроси и забележки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FFE585B-3671-9CE7-3B74-F931D35B7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4"/>
            </a:pPr>
            <a:r>
              <a:rPr lang="ru-RU" sz="2400" dirty="0"/>
              <a:t>Следи ли се, как точно и от кого успеваемостта на обучаемия?</a:t>
            </a:r>
            <a:endParaRPr lang="bg-BG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C19A442-D20B-C957-EC16-88417768DB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4303" y="3497474"/>
            <a:ext cx="2517916" cy="2642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511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Wisp" id="{7CB32D59-10C0-40DD-B7BD-2E94284A981C}" vid="{24B1A44C-C006-48B2-A4D7-E5549B3D8CD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1004</TotalTime>
  <Words>1675</Words>
  <Application>Microsoft Office PowerPoint</Application>
  <PresentationFormat>Custom</PresentationFormat>
  <Paragraphs>130</Paragraphs>
  <Slides>30</Slides>
  <Notes>29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32" baseType="lpstr">
      <vt:lpstr>Office Theme</vt:lpstr>
      <vt:lpstr>Wisp</vt:lpstr>
      <vt:lpstr>PowerPoint Presentation</vt:lpstr>
      <vt:lpstr>Цели и задачи на дипломната работа </vt:lpstr>
      <vt:lpstr>Защо уеб-базирана система?</vt:lpstr>
      <vt:lpstr>Обзор на съществуващи решения</vt:lpstr>
      <vt:lpstr>Използвани технологии</vt:lpstr>
      <vt:lpstr>Архитектура</vt:lpstr>
      <vt:lpstr>Типове потребители</vt:lpstr>
      <vt:lpstr>Реализация на база данни</vt:lpstr>
      <vt:lpstr>Начален екран</vt:lpstr>
      <vt:lpstr>Регистрация</vt:lpstr>
      <vt:lpstr>Вход</vt:lpstr>
      <vt:lpstr>Раздели и уроци</vt:lpstr>
      <vt:lpstr>Избор на урок</vt:lpstr>
      <vt:lpstr>Видове безплатни упражнения</vt:lpstr>
      <vt:lpstr>Грешен отговор</vt:lpstr>
      <vt:lpstr>Правилен отговор</vt:lpstr>
      <vt:lpstr>Платени уроци</vt:lpstr>
      <vt:lpstr>Магазин</vt:lpstr>
      <vt:lpstr>Флашкарти</vt:lpstr>
      <vt:lpstr>Препоръчани флашкарти</vt:lpstr>
      <vt:lpstr>Администраторски панел – преглед на езици</vt:lpstr>
      <vt:lpstr>Добавяне на съдържание</vt:lpstr>
      <vt:lpstr>Администраторски панел - магазин</vt:lpstr>
      <vt:lpstr>Преглед на уроци и упражнения</vt:lpstr>
      <vt:lpstr>Валидации</vt:lpstr>
      <vt:lpstr>Responsive дизайн</vt:lpstr>
      <vt:lpstr>Бъдещо развитие</vt:lpstr>
      <vt:lpstr>PowerPoint Presentation</vt:lpstr>
      <vt:lpstr>Отговори на въпроси и забележки</vt:lpstr>
      <vt:lpstr>Отговори на въпроси и забележки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Soner Kabilov</dc:creator>
  <cp:lastModifiedBy> </cp:lastModifiedBy>
  <cp:revision>12</cp:revision>
  <dcterms:created xsi:type="dcterms:W3CDTF">2024-06-30T20:12:44Z</dcterms:created>
  <dcterms:modified xsi:type="dcterms:W3CDTF">2025-04-05T15:58:10Z</dcterms:modified>
</cp:coreProperties>
</file>
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71" r:id="rId11"/>
    <p:sldId id="264" r:id="rId12"/>
    <p:sldId id="272" r:id="rId13"/>
    <p:sldId id="265" r:id="rId14"/>
    <p:sldId id="266" r:id="rId15"/>
    <p:sldId id="273" r:id="rId16"/>
    <p:sldId id="270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48" autoAdjust="0"/>
  </p:normalViewPr>
  <p:slideViewPr>
    <p:cSldViewPr snapToGrid="0">
      <p:cViewPr varScale="1">
        <p:scale>
          <a:sx n="72" d="100"/>
          <a:sy n="72" d="100"/>
        </p:scale>
        <p:origin x="107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5DF-AD0D-41F4-9105-9EC8B0FEAEFD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77705-15E5-42B1-9C4E-CC82E86792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291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Няма нужда тук да обясняваш какво е диаграмата,</a:t>
            </a:r>
            <a:r>
              <a:rPr lang="bg-BG" baseline="0" dirty="0"/>
              <a:t> а по-скоро може да сложиш кратко резюме за функционалностите на всеки тип потребител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177705-15E5-42B1-9C4E-CC82E86792D4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15303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Тук трябва да обясниш всичко по входа, проверки, </a:t>
            </a:r>
            <a:r>
              <a:rPr lang="bg-BG" dirty="0" err="1"/>
              <a:t>хеширане</a:t>
            </a:r>
            <a:r>
              <a:rPr lang="bg-BG" dirty="0"/>
              <a:t>, пароли</a:t>
            </a:r>
            <a:r>
              <a:rPr lang="bg-BG" baseline="0" dirty="0"/>
              <a:t> …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177705-15E5-42B1-9C4E-CC82E86792D4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470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35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605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8698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9838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55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6376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816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587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341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140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3136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4468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8755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25569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780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2104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907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AB34D-B0F8-45AF-99E2-C34F66BB46F4}" type="datetimeFigureOut">
              <a:rPr lang="bg-BG" smtClean="0"/>
              <a:t>11.6.2025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98059-094E-4A66-968E-3DC5B712616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459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4CBD-1C0B-A434-4BBC-FE071001A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1124" y="1186312"/>
            <a:ext cx="6527438" cy="2636657"/>
          </a:xfrm>
        </p:spPr>
        <p:txBody>
          <a:bodyPr>
            <a:normAutofit fontScale="90000"/>
          </a:bodyPr>
          <a:lstStyle/>
          <a:p>
            <a:pPr algn="ctr"/>
            <a:r>
              <a:rPr lang="bg-BG" sz="2800" kern="100" dirty="0">
                <a:effectLst/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Проектиране и разработване информационна система за управление на дейността на мотокъща с възможности за администриране, сервиз и продажби</a:t>
            </a:r>
            <a:br>
              <a:rPr lang="bg-BG" sz="2800" kern="1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bg-BG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43BC5-7CB1-FCF3-1A16-5DB19CE04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6972" y="358431"/>
            <a:ext cx="7640384" cy="860769"/>
          </a:xfrm>
        </p:spPr>
        <p:txBody>
          <a:bodyPr>
            <a:normAutofit/>
          </a:bodyPr>
          <a:lstStyle/>
          <a:p>
            <a:r>
              <a:rPr lang="bg-BG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Факултет по изчислителна техника и технологии</a:t>
            </a:r>
          </a:p>
        </p:txBody>
      </p:sp>
      <p:pic>
        <p:nvPicPr>
          <p:cNvPr id="5" name="Picture 4" descr="A blue logo with a arrow and a symbol&#10;&#10;AI-generated content may be incorrect.">
            <a:extLst>
              <a:ext uri="{FF2B5EF4-FFF2-40B4-BE49-F238E27FC236}">
                <a16:creationId xmlns:a16="http://schemas.microsoft.com/office/drawing/2014/main" id="{927764AC-EE16-BAB0-671C-3A1A0ECF4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32" y="1716986"/>
            <a:ext cx="2980354" cy="29803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87274E9-103C-2A74-9180-E9E618FD2368}"/>
              </a:ext>
            </a:extLst>
          </p:cNvPr>
          <p:cNvSpPr txBox="1">
            <a:spLocks/>
          </p:cNvSpPr>
          <p:nvPr/>
        </p:nvSpPr>
        <p:spPr>
          <a:xfrm>
            <a:off x="5444066" y="4963319"/>
            <a:ext cx="667173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bg-BG" sz="18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Изготвил: Любослав Станимиров Андреев</a:t>
            </a:r>
          </a:p>
          <a:p>
            <a:pPr algn="r"/>
            <a:r>
              <a:rPr lang="bg-BG" sz="18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Ф-н: 21621312</a:t>
            </a:r>
          </a:p>
          <a:p>
            <a:pPr algn="r"/>
            <a:r>
              <a:rPr lang="bg-BG" sz="1800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Ръководител: гл.ас.д-р даниела петрова</a:t>
            </a:r>
          </a:p>
        </p:txBody>
      </p:sp>
    </p:spTree>
    <p:extLst>
      <p:ext uri="{BB962C8B-B14F-4D97-AF65-F5344CB8AC3E}">
        <p14:creationId xmlns:p14="http://schemas.microsoft.com/office/powerpoint/2010/main" val="33938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4710-9CB5-24B5-0A46-CC9D9492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53825"/>
          </a:xfrm>
        </p:spPr>
        <p:txBody>
          <a:bodyPr/>
          <a:lstStyle/>
          <a:p>
            <a:pPr algn="ctr"/>
            <a:r>
              <a:rPr lang="bg-BG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Мотивация и идея</a:t>
            </a:r>
            <a:endParaRPr lang="bg-BG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7EC6-46F7-FA0A-67A0-3F1EF7EF4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latin typeface="Cambria" pitchFamily="18" charset="0"/>
                <a:ea typeface="Cambria" pitchFamily="18" charset="0"/>
              </a:rPr>
              <a:t>Семейна страст към мотоциклетите, превърната в личен бизнес.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latin typeface="Cambria" pitchFamily="18" charset="0"/>
                <a:ea typeface="Cambria" pitchFamily="18" charset="0"/>
              </a:rPr>
              <a:t>Необходимост от организация и контрол върху работния процес – от покупката до продажбата на мотора.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latin typeface="Cambria" pitchFamily="18" charset="0"/>
                <a:ea typeface="Cambria" pitchFamily="18" charset="0"/>
              </a:rPr>
              <a:t>Създаване на лично приложение, което да улесни ежедневната ми работа – каталог, състояние, пълна инф. и история на моторите.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>
                <a:latin typeface="Cambria" pitchFamily="18" charset="0"/>
                <a:ea typeface="Cambria" pitchFamily="18" charset="0"/>
              </a:rPr>
              <a:t>Локално решение, съобразено с нуждите на реалния ми бизнес.</a:t>
            </a:r>
            <a:endParaRPr lang="bg-BG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88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78EF-37DA-A3CC-6F19-DD6D2801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Цел на разработка</a:t>
            </a:r>
            <a:endParaRPr lang="bg-BG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0AA6-467C-7009-15D4-250F25F50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ambria" pitchFamily="18" charset="0"/>
                <a:ea typeface="Cambria" pitchFamily="18" charset="0"/>
              </a:rPr>
              <a:t>Създаване на лесен за употреба софтуер с функционалности, които спомагат за работата на мотокъща.</a:t>
            </a:r>
          </a:p>
          <a:p>
            <a:r>
              <a:rPr lang="ru-RU" dirty="0">
                <a:latin typeface="Cambria" pitchFamily="18" charset="0"/>
                <a:ea typeface="Cambria" pitchFamily="18" charset="0"/>
              </a:rPr>
              <a:t>Автоматично изчисление на вложени средства и реализирана печалба.</a:t>
            </a:r>
          </a:p>
          <a:p>
            <a:r>
              <a:rPr lang="ru-RU" dirty="0">
                <a:latin typeface="Cambria" pitchFamily="18" charset="0"/>
                <a:ea typeface="Cambria" pitchFamily="18" charset="0"/>
              </a:rPr>
              <a:t>Съхранение и анализ на информацията с цел оптимизация на дейността.</a:t>
            </a:r>
          </a:p>
          <a:p>
            <a:pPr marL="0" indent="0">
              <a:buNone/>
            </a:pPr>
            <a:endParaRPr lang="bg-BG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5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7D37-31D1-9F6F-31A4-F9896092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437" y="618518"/>
            <a:ext cx="9728974" cy="1478570"/>
          </a:xfrm>
        </p:spPr>
        <p:txBody>
          <a:bodyPr/>
          <a:lstStyle/>
          <a:p>
            <a:r>
              <a:rPr lang="bg-BG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Разгледани съществуващи решения</a:t>
            </a:r>
            <a:endParaRPr lang="bg-BG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C6BB-A8FD-7A65-917F-12C06E758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312630"/>
            <a:ext cx="9905999" cy="147857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    </a:t>
            </a:r>
            <a:r>
              <a:rPr lang="en-US" sz="1800" dirty="0">
                <a:effectLst/>
                <a:latin typeface="Cambria" pitchFamily="18" charset="0"/>
                <a:ea typeface="Cambria" pitchFamily="18" charset="0"/>
              </a:rPr>
              <a:t>  </a:t>
            </a:r>
            <a:r>
              <a:rPr lang="bg-BG" sz="1800" dirty="0" err="1">
                <a:effectLst/>
                <a:latin typeface="Cambria" pitchFamily="18" charset="0"/>
                <a:ea typeface="Cambria" pitchFamily="18" charset="0"/>
              </a:rPr>
              <a:t>MotoPro</a:t>
            </a:r>
            <a:r>
              <a:rPr lang="en-US" sz="1800" dirty="0">
                <a:effectLst/>
                <a:latin typeface="Cambria" pitchFamily="18" charset="0"/>
                <a:ea typeface="Cambria" pitchFamily="18" charset="0"/>
              </a:rPr>
              <a:t>                                 </a:t>
            </a:r>
            <a:r>
              <a:rPr lang="bg-BG" sz="1800" dirty="0">
                <a:effectLst/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>
                <a:effectLst/>
                <a:latin typeface="Cambria" pitchFamily="18" charset="0"/>
                <a:ea typeface="Cambria" pitchFamily="18" charset="0"/>
              </a:rPr>
              <a:t>     </a:t>
            </a:r>
            <a:r>
              <a:rPr lang="bg-BG" sz="1800" dirty="0">
                <a:effectLst/>
                <a:latin typeface="Cambria" pitchFamily="18" charset="0"/>
                <a:ea typeface="Cambria" pitchFamily="18" charset="0"/>
              </a:rPr>
              <a:t>  </a:t>
            </a:r>
            <a:r>
              <a:rPr lang="en-US" sz="1800" dirty="0">
                <a:effectLst/>
                <a:latin typeface="Cambria" pitchFamily="18" charset="0"/>
                <a:ea typeface="Cambria" pitchFamily="18" charset="0"/>
              </a:rPr>
              <a:t> SHOP BOSS                            </a:t>
            </a:r>
            <a:r>
              <a:rPr lang="bg-BG" sz="1800" dirty="0">
                <a:effectLst/>
                <a:latin typeface="Cambria" pitchFamily="18" charset="0"/>
                <a:ea typeface="Cambria" pitchFamily="18" charset="0"/>
              </a:rPr>
              <a:t>       </a:t>
            </a:r>
            <a:r>
              <a:rPr lang="bg-BG" sz="1800" dirty="0" err="1">
                <a:effectLst/>
                <a:latin typeface="Cambria" pitchFamily="18" charset="0"/>
                <a:ea typeface="Cambria" pitchFamily="18" charset="0"/>
              </a:rPr>
              <a:t>Car</a:t>
            </a:r>
            <a:r>
              <a:rPr lang="bg-BG" sz="1800" dirty="0">
                <a:effectLst/>
                <a:latin typeface="Cambria" pitchFamily="18" charset="0"/>
                <a:ea typeface="Cambria" pitchFamily="18" charset="0"/>
              </a:rPr>
              <a:t> Dealer Management System </a:t>
            </a:r>
          </a:p>
          <a:p>
            <a:pPr>
              <a:buFont typeface="Wingdings" panose="05000000000000000000" pitchFamily="2" charset="2"/>
              <a:buChar char="ü"/>
            </a:pPr>
            <a:endParaRPr lang="bg-BG" dirty="0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B0EB228-1CD2-E0CA-0738-D10935AD2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2" y="2545370"/>
            <a:ext cx="1889710" cy="14886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 descr="A logo with white text&#10;&#10;AI-generated content may be incorrect.">
            <a:extLst>
              <a:ext uri="{FF2B5EF4-FFF2-40B4-BE49-F238E27FC236}">
                <a16:creationId xmlns:a16="http://schemas.microsoft.com/office/drawing/2014/main" id="{D7EC1A7C-CD67-AC5A-0239-7AF75B1CB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543" y="2545370"/>
            <a:ext cx="2066172" cy="14726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0198EBD3-D2FA-4294-02C5-0709064B6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274" y="2561414"/>
            <a:ext cx="3193509" cy="14726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9902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3870-D79E-54E2-DFDF-E9C10A91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600" dirty="0"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Използвани технологии</a:t>
            </a:r>
            <a:b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dirty="0"/>
          </a:p>
        </p:txBody>
      </p:sp>
      <p:pic>
        <p:nvPicPr>
          <p:cNvPr id="5" name="Content Placeholder 4" descr="A hexagon with white letters and a hashtag&#10;&#10;AI-generated content may be incorrect.">
            <a:extLst>
              <a:ext uri="{FF2B5EF4-FFF2-40B4-BE49-F238E27FC236}">
                <a16:creationId xmlns:a16="http://schemas.microsoft.com/office/drawing/2014/main" id="{FB740B62-28A9-0D4A-92CF-0422F1B93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53" y="4321554"/>
            <a:ext cx="1715296" cy="17152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 descr="A dolphin and text on a white background&#10;&#10;AI-generated content may be incorrect.">
            <a:extLst>
              <a:ext uri="{FF2B5EF4-FFF2-40B4-BE49-F238E27FC236}">
                <a16:creationId xmlns:a16="http://schemas.microsoft.com/office/drawing/2014/main" id="{E97B63E1-2A0A-0338-8673-989461B0F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224" y="1895475"/>
            <a:ext cx="2971800" cy="15335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Picture 8" descr="A white letter on a purple background&#10;&#10;AI-generated content may be incorrect.">
            <a:extLst>
              <a:ext uri="{FF2B5EF4-FFF2-40B4-BE49-F238E27FC236}">
                <a16:creationId xmlns:a16="http://schemas.microsoft.com/office/drawing/2014/main" id="{85EA06DE-9774-18AD-1A61-9A5B26D30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759" y="4321554"/>
            <a:ext cx="1715296" cy="17152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Picture 10" descr="A purple hexagon with a white background&#10;&#10;AI-generated content may be incorrect.">
            <a:extLst>
              <a:ext uri="{FF2B5EF4-FFF2-40B4-BE49-F238E27FC236}">
                <a16:creationId xmlns:a16="http://schemas.microsoft.com/office/drawing/2014/main" id="{BD6F9D10-3B9B-AC1B-4D56-0CB2DDF6F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23" y="1905396"/>
            <a:ext cx="1715296" cy="17152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 descr="A blue background with black letters&#10;&#10;AI-generated content may be incorrect.">
            <a:extLst>
              <a:ext uri="{FF2B5EF4-FFF2-40B4-BE49-F238E27FC236}">
                <a16:creationId xmlns:a16="http://schemas.microsoft.com/office/drawing/2014/main" id="{2BE417CE-9192-1C89-DB6C-E8651742C1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106" y="1895474"/>
            <a:ext cx="3028950" cy="15335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1295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3CC3-5A99-8730-D8CD-EA62A6280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mbria" pitchFamily="18" charset="0"/>
                <a:ea typeface="Cambria" pitchFamily="18" charset="0"/>
              </a:rPr>
              <a:t>UML </a:t>
            </a:r>
            <a:r>
              <a:rPr lang="bg-BG" sz="3200" dirty="0">
                <a:latin typeface="Cambria" pitchFamily="18" charset="0"/>
                <a:ea typeface="Cambria" pitchFamily="18" charset="0"/>
              </a:rPr>
              <a:t>диаграма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0CC7A97-AF89-8876-8858-116DD12FD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629" y="49213"/>
            <a:ext cx="6901542" cy="674625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49694B7-F9FE-CA0B-C83C-CC01EE510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343" y="2320372"/>
            <a:ext cx="44592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Администратор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управлява основните данни в системата.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Собственик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следи статистики, служители и фактури.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Механик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извършва и приключва ремонти.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Купувач / Продавач</a:t>
            </a:r>
            <a:r>
              <a:rPr kumimoji="0" lang="bg-BG" altLang="bg-BG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участва в покупко-продажба на МПС и генерира документи (фактури, договори).</a:t>
            </a:r>
          </a:p>
        </p:txBody>
      </p:sp>
    </p:spTree>
    <p:extLst>
      <p:ext uri="{BB962C8B-B14F-4D97-AF65-F5344CB8AC3E}">
        <p14:creationId xmlns:p14="http://schemas.microsoft.com/office/powerpoint/2010/main" val="424733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E8EB-CE3C-11C3-71E4-89253305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6808" y="-169422"/>
            <a:ext cx="9905998" cy="1478570"/>
          </a:xfrm>
        </p:spPr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База данни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D0B85B-040F-1CDC-A74C-1D9B7C73B6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924" y="1530664"/>
            <a:ext cx="3734203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bg-BG" altLang="bg-BG" sz="2200" dirty="0">
                <a:latin typeface="Cambria" pitchFamily="18" charset="0"/>
                <a:ea typeface="Cambria" pitchFamily="18" charset="0"/>
              </a:rPr>
              <a:t> 7 таблици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bg-BG" altLang="bg-BG" sz="2200" dirty="0">
                <a:latin typeface="Cambria" pitchFamily="18" charset="0"/>
                <a:ea typeface="Cambria" pitchFamily="18" charset="0"/>
              </a:rPr>
              <a:t>  </a:t>
            </a: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user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company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register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invoices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</a:t>
            </a:r>
            <a:r>
              <a:rPr lang="en-US" altLang="bg-BG" sz="2200" dirty="0" err="1">
                <a:latin typeface="Cambria" pitchFamily="18" charset="0"/>
                <a:ea typeface="Cambria" pitchFamily="18" charset="0"/>
              </a:rPr>
              <a:t>repair_register</a:t>
            </a:r>
            <a:endParaRPr lang="en-US" altLang="bg-BG" sz="2200" dirty="0">
              <a:latin typeface="Cambria" pitchFamily="18" charset="0"/>
              <a:ea typeface="Cambria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parts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bg-BG" sz="2200" dirty="0">
                <a:latin typeface="Cambria" pitchFamily="18" charset="0"/>
                <a:ea typeface="Cambria" pitchFamily="18" charset="0"/>
              </a:rPr>
              <a:t>  </a:t>
            </a:r>
            <a:r>
              <a:rPr lang="en-US" altLang="bg-BG" sz="2200" dirty="0" err="1">
                <a:latin typeface="Cambria" pitchFamily="18" charset="0"/>
                <a:ea typeface="Cambria" pitchFamily="18" charset="0"/>
              </a:rPr>
              <a:t>vehiclespecification</a:t>
            </a:r>
            <a:endParaRPr lang="en-US" altLang="bg-BG" sz="2200" dirty="0">
              <a:latin typeface="Cambria" pitchFamily="18" charset="0"/>
              <a:ea typeface="Cambria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bg-BG" altLang="bg-BG" sz="2200" dirty="0">
              <a:latin typeface="Cambria" pitchFamily="18" charset="0"/>
              <a:ea typeface="Cambria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bg-BG" altLang="bg-BG" sz="2200" i="0" u="none" strike="noStrike" cap="none" normalizeH="0" baseline="0" dirty="0">
                <a:ln>
                  <a:noFill/>
                </a:ln>
                <a:effectLst/>
                <a:latin typeface="Cambria" pitchFamily="18" charset="0"/>
                <a:ea typeface="Cambria" pitchFamily="18" charset="0"/>
              </a:rPr>
              <a:t> Връзки между </a:t>
            </a:r>
            <a:r>
              <a:rPr lang="bg-BG" altLang="bg-BG" sz="2200" dirty="0">
                <a:latin typeface="Cambria" pitchFamily="18" charset="0"/>
                <a:ea typeface="Cambria" pitchFamily="18" charset="0"/>
              </a:rPr>
              <a:t>таблиците  (1:М)/(М:1)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bg-BG" altLang="bg-BG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bg-BG" altLang="bg-BG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BFB64-CBBC-5FEA-0E8A-C8F5176D5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127" y="111313"/>
            <a:ext cx="7488239" cy="663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99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9154-03BB-C4A5-E424-EA8A2D3D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272374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Начален ИЗГЛЕД</a:t>
            </a:r>
          </a:p>
        </p:txBody>
      </p:sp>
      <p:pic>
        <p:nvPicPr>
          <p:cNvPr id="5" name="Content Placeholder 4" descr="A cartoon character with a person standing next to a machine&#10;&#10;AI-generated content may be incorrect.">
            <a:extLst>
              <a:ext uri="{FF2B5EF4-FFF2-40B4-BE49-F238E27FC236}">
                <a16:creationId xmlns:a16="http://schemas.microsoft.com/office/drawing/2014/main" id="{B4EA1366-A613-D651-8EBF-27CBE9A01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8" b="3"/>
          <a:stretch>
            <a:fillRect/>
          </a:stretch>
        </p:blipFill>
        <p:spPr>
          <a:xfrm>
            <a:off x="1721704" y="844011"/>
            <a:ext cx="8748591" cy="5746179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6602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1946-EB0C-04AC-2FE8-6D43E8B8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379" y="-336108"/>
            <a:ext cx="9905998" cy="1478570"/>
          </a:xfrm>
        </p:spPr>
        <p:txBody>
          <a:bodyPr>
            <a:normAutofit/>
          </a:bodyPr>
          <a:lstStyle/>
          <a:p>
            <a:r>
              <a:rPr lang="bg-BG" dirty="0">
                <a:latin typeface="Cambria" pitchFamily="18" charset="0"/>
                <a:ea typeface="Cambria" pitchFamily="18" charset="0"/>
              </a:rPr>
              <a:t>Администраторски изглед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DBC244-151F-7E39-C356-BD22A736C3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9" y="1488019"/>
            <a:ext cx="5784811" cy="3695427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screenshot of a car service&#10;&#10;AI-generated content may be incorrect.">
            <a:extLst>
              <a:ext uri="{FF2B5EF4-FFF2-40B4-BE49-F238E27FC236}">
                <a16:creationId xmlns:a16="http://schemas.microsoft.com/office/drawing/2014/main" id="{20A770D3-5B79-41B9-D86B-FA6F4F4BD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498" y="1488019"/>
            <a:ext cx="6100243" cy="3695427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3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artoon of a car with a shock absorber and a box&#10;&#10;AI-generated content may be incorrect.">
            <a:extLst>
              <a:ext uri="{FF2B5EF4-FFF2-40B4-BE49-F238E27FC236}">
                <a16:creationId xmlns:a16="http://schemas.microsoft.com/office/drawing/2014/main" id="{A34BB2E9-582C-D900-72F9-36A86C67B3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940" y="1479347"/>
            <a:ext cx="5883458" cy="389930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9BAE1-F86A-61A6-03E6-B627877D7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2" y="1479347"/>
            <a:ext cx="5967398" cy="389930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0879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4328-398B-A8B2-74F9-95E8A9B8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315338"/>
            <a:ext cx="9905998" cy="1478570"/>
          </a:xfrm>
        </p:spPr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Изглед на Собственик</a:t>
            </a:r>
          </a:p>
        </p:txBody>
      </p:sp>
      <p:pic>
        <p:nvPicPr>
          <p:cNvPr id="5" name="Content Placeholder 4" descr="A cartoon of a child&#10;&#10;AI-generated content may be incorrect.">
            <a:extLst>
              <a:ext uri="{FF2B5EF4-FFF2-40B4-BE49-F238E27FC236}">
                <a16:creationId xmlns:a16="http://schemas.microsoft.com/office/drawing/2014/main" id="{FCFB4616-16A6-A573-11CC-EA492CF07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0" y="1605517"/>
            <a:ext cx="6059465" cy="4125432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C1A52B-7959-0170-E6C8-A443EB8B4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723" y="1605516"/>
            <a:ext cx="5823598" cy="41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4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3B2855-C594-E27D-F7BF-17006F20B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4" y="920418"/>
            <a:ext cx="6161132" cy="441712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18DC63-8BC4-0534-D6E5-08F755D4A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410" y="920418"/>
            <a:ext cx="5862691" cy="4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6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FFFC-21B2-159D-E1DA-4AA09762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256971"/>
            <a:ext cx="9905998" cy="1478570"/>
          </a:xfrm>
        </p:spPr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Изглед на мЕХАНИК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B74C9-2B14-8628-5021-BA2DF9CD0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282" y="1114595"/>
            <a:ext cx="8488639" cy="5257022"/>
          </a:xfrm>
        </p:spPr>
      </p:pic>
    </p:spTree>
    <p:extLst>
      <p:ext uri="{BB962C8B-B14F-4D97-AF65-F5344CB8AC3E}">
        <p14:creationId xmlns:p14="http://schemas.microsoft.com/office/powerpoint/2010/main" val="95587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0533-6BAD-76ED-9499-55EB90F5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101329"/>
            <a:ext cx="9905998" cy="1478570"/>
          </a:xfrm>
        </p:spPr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ИЗГЛЕД НА КУПУВАЧ/ПРОДАВАЧ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F66719-90E5-6650-6672-472C43F15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" y="1377241"/>
            <a:ext cx="5747414" cy="399220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237076-79BC-7FF0-BB40-ED5194154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479" y="1377241"/>
            <a:ext cx="6317255" cy="39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10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AD659A-0F4C-6037-B3FB-9B92FD85A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1" y="1325411"/>
            <a:ext cx="5981352" cy="420717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D2C054-19C5-231A-067B-7E886375A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5411"/>
            <a:ext cx="6036799" cy="420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96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7283-FCB6-C7B3-F722-8C0C87D3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Бъдещо развитие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CC2E-8732-3978-742D-87EB1A52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64" y="2405130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bg-BG" sz="2200" kern="100" dirty="0">
                <a:effectLst/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По-добър интерфейс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200" kern="100" dirty="0">
                <a:effectLst/>
                <a:latin typeface="Cambria" pitchFamily="18" charset="0"/>
                <a:ea typeface="Cambria" pitchFamily="18" charset="0"/>
                <a:cs typeface="Times New Roman" panose="02020603050405020304" pitchFamily="18" charset="0"/>
              </a:rPr>
              <a:t>Мобилна версия на приложението за Android и iOS.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>
                <a:latin typeface="Cambria" pitchFamily="18" charset="0"/>
                <a:ea typeface="Cambria" pitchFamily="18" charset="0"/>
              </a:rPr>
              <a:t>Централизирана база данни която се управлява от сървър, за да може множество потребители да работят с приложението паралелно.</a:t>
            </a:r>
          </a:p>
          <a:p>
            <a:pPr marL="0" indent="0">
              <a:buNone/>
            </a:pPr>
            <a:endParaRPr lang="bg-BG" sz="1800" dirty="0">
              <a:solidFill>
                <a:schemeClr val="bg1"/>
              </a:solidFill>
            </a:endParaRPr>
          </a:p>
        </p:txBody>
      </p:sp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F728A529-4CF5-EBDB-0D33-1353F53AF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644" y="4638516"/>
            <a:ext cx="2519693" cy="130832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Picture 8" descr="A computer screen with a message&#10;&#10;AI-generated content may be incorrect.">
            <a:extLst>
              <a:ext uri="{FF2B5EF4-FFF2-40B4-BE49-F238E27FC236}">
                <a16:creationId xmlns:a16="http://schemas.microsoft.com/office/drawing/2014/main" id="{F19981E4-818D-7311-4176-C15873862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74" y="4638516"/>
            <a:ext cx="2469672" cy="13876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3" name="Picture 12" descr="A hand holding a phone&#10;&#10;AI-generated content may be incorrect.">
            <a:extLst>
              <a:ext uri="{FF2B5EF4-FFF2-40B4-BE49-F238E27FC236}">
                <a16:creationId xmlns:a16="http://schemas.microsoft.com/office/drawing/2014/main" id="{00D8A8B3-77EC-41FF-A36C-5AA2BCB4F3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879" y="4638516"/>
            <a:ext cx="2397632" cy="13876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45352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54AE-0F30-DCE9-B5C8-C58BAEEC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Благодаря за вниманието!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72D7-32E6-72F3-D849-B70D635F7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65" y="3086066"/>
            <a:ext cx="9905999" cy="3541714"/>
          </a:xfrm>
        </p:spPr>
        <p:txBody>
          <a:bodyPr/>
          <a:lstStyle/>
          <a:p>
            <a:r>
              <a:rPr lang="bg-BG" sz="2400" dirty="0">
                <a:latin typeface="Cambria" pitchFamily="18" charset="0"/>
                <a:ea typeface="Cambria" pitchFamily="18" charset="0"/>
              </a:rPr>
              <a:t>Изготвил: Любослав Станимиров Андреев</a:t>
            </a:r>
          </a:p>
          <a:p>
            <a:r>
              <a:rPr lang="bg-BG" sz="2400" dirty="0">
                <a:latin typeface="Cambria" pitchFamily="18" charset="0"/>
                <a:ea typeface="Cambria" pitchFamily="18" charset="0"/>
              </a:rPr>
              <a:t>Ф-н: 21621312</a:t>
            </a:r>
          </a:p>
          <a:p>
            <a:r>
              <a:rPr lang="bg-BG" sz="2400" dirty="0">
                <a:latin typeface="Cambria" pitchFamily="18" charset="0"/>
                <a:ea typeface="Cambria" pitchFamily="18" charset="0"/>
              </a:rPr>
              <a:t>Ръководител: гл.ас. д-р Даниела </a:t>
            </a:r>
            <a:r>
              <a:rPr lang="bg-BG" dirty="0">
                <a:latin typeface="Cambria" pitchFamily="18" charset="0"/>
                <a:ea typeface="Cambria" pitchFamily="18" charset="0"/>
              </a:rPr>
              <a:t>П</a:t>
            </a:r>
            <a:r>
              <a:rPr lang="bg-BG" sz="2400" dirty="0">
                <a:latin typeface="Cambria" pitchFamily="18" charset="0"/>
                <a:ea typeface="Cambria" pitchFamily="18" charset="0"/>
              </a:rPr>
              <a:t>етрова</a:t>
            </a:r>
          </a:p>
          <a:p>
            <a:pPr algn="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20246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988B-BA34-AB97-F1E1-12CD6B11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atin typeface="Cambria" pitchFamily="18" charset="0"/>
                <a:ea typeface="Cambria" pitchFamily="18" charset="0"/>
              </a:rPr>
              <a:t>Въпроси от рецензента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F6F37-B46D-580E-344A-6B0835E38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42833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266</TotalTime>
  <Words>347</Words>
  <Application>Microsoft Office PowerPoint</Application>
  <PresentationFormat>Widescreen</PresentationFormat>
  <Paragraphs>54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Cambria</vt:lpstr>
      <vt:lpstr>Times New Roman</vt:lpstr>
      <vt:lpstr>Tw Cen MT</vt:lpstr>
      <vt:lpstr>Wingdings</vt:lpstr>
      <vt:lpstr>Circuit</vt:lpstr>
      <vt:lpstr>Проектиране и разработване информационна система за управление на дейността на мотокъща с възможности за администриране, сервиз и продажби </vt:lpstr>
      <vt:lpstr>Мотивация и идея</vt:lpstr>
      <vt:lpstr>Цел на разработка</vt:lpstr>
      <vt:lpstr>Разгледани съществуващи решения</vt:lpstr>
      <vt:lpstr>Използвани технологии </vt:lpstr>
      <vt:lpstr>UML диаграма</vt:lpstr>
      <vt:lpstr>База данни </vt:lpstr>
      <vt:lpstr>Начален ИЗГЛЕД</vt:lpstr>
      <vt:lpstr>Администраторски изглед</vt:lpstr>
      <vt:lpstr>PowerPoint Presentation</vt:lpstr>
      <vt:lpstr>Изглед на Собственик</vt:lpstr>
      <vt:lpstr>PowerPoint Presentation</vt:lpstr>
      <vt:lpstr>Изглед на мЕХАНИК</vt:lpstr>
      <vt:lpstr>ИЗГЛЕД НА КУПУВАЧ/ПРОДАВАЧ</vt:lpstr>
      <vt:lpstr>PowerPoint Presentation</vt:lpstr>
      <vt:lpstr>Бъдещо развитие</vt:lpstr>
      <vt:lpstr>Благодаря за вниманието!</vt:lpstr>
      <vt:lpstr>Въпроси от рецензента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Проектиране и разработване информационна система за управление на дейността на мотокъща с възможности за администриране, сервиз и продажби </dc:title>
  <dc:creator>ЛЮБОСЛАВ СТАНИМИРОВ АНДРЕЕВ КСТ 3к - 21621312</dc:creator>
  <cp:lastModifiedBy>ЛЮБОСЛАВ СТАНИМИРОВ АНДРЕЕВ КСТ 3к - 21621312</cp:lastModifiedBy>
  <cp:revision>13</cp:revision>
  <dcterms:created xsi:type="dcterms:W3CDTF">2025-06-08T17:22:06Z</dcterms:created>
  <dcterms:modified xsi:type="dcterms:W3CDTF">2025-06-11T08:34:02Z</dcterms:modified>
</cp:coreProperties>
</file>
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59"/>
  </p:notesMasterIdLst>
  <p:sldIdLst>
    <p:sldId id="256" r:id="rId5"/>
    <p:sldId id="402" r:id="rId6"/>
    <p:sldId id="381" r:id="rId7"/>
    <p:sldId id="403" r:id="rId8"/>
    <p:sldId id="454" r:id="rId9"/>
    <p:sldId id="459" r:id="rId10"/>
    <p:sldId id="404" r:id="rId11"/>
    <p:sldId id="405" r:id="rId12"/>
    <p:sldId id="406" r:id="rId13"/>
    <p:sldId id="408" r:id="rId14"/>
    <p:sldId id="407" r:id="rId15"/>
    <p:sldId id="409" r:id="rId16"/>
    <p:sldId id="410" r:id="rId17"/>
    <p:sldId id="411" r:id="rId18"/>
    <p:sldId id="412" r:id="rId19"/>
    <p:sldId id="413" r:id="rId20"/>
    <p:sldId id="414" r:id="rId21"/>
    <p:sldId id="415" r:id="rId22"/>
    <p:sldId id="448" r:id="rId23"/>
    <p:sldId id="416" r:id="rId24"/>
    <p:sldId id="417" r:id="rId25"/>
    <p:sldId id="418" r:id="rId26"/>
    <p:sldId id="420" r:id="rId27"/>
    <p:sldId id="421" r:id="rId28"/>
    <p:sldId id="422" r:id="rId29"/>
    <p:sldId id="423" r:id="rId30"/>
    <p:sldId id="424" r:id="rId31"/>
    <p:sldId id="425" r:id="rId32"/>
    <p:sldId id="426" r:id="rId33"/>
    <p:sldId id="428" r:id="rId34"/>
    <p:sldId id="427" r:id="rId35"/>
    <p:sldId id="429" r:id="rId36"/>
    <p:sldId id="430" r:id="rId37"/>
    <p:sldId id="431" r:id="rId38"/>
    <p:sldId id="432" r:id="rId39"/>
    <p:sldId id="433" r:id="rId40"/>
    <p:sldId id="434" r:id="rId41"/>
    <p:sldId id="435" r:id="rId42"/>
    <p:sldId id="436" r:id="rId43"/>
    <p:sldId id="449" r:id="rId44"/>
    <p:sldId id="450" r:id="rId45"/>
    <p:sldId id="437" r:id="rId46"/>
    <p:sldId id="447" r:id="rId47"/>
    <p:sldId id="439" r:id="rId48"/>
    <p:sldId id="438" r:id="rId49"/>
    <p:sldId id="451" r:id="rId50"/>
    <p:sldId id="452" r:id="rId51"/>
    <p:sldId id="453" r:id="rId52"/>
    <p:sldId id="440" r:id="rId53"/>
    <p:sldId id="441" r:id="rId54"/>
    <p:sldId id="455" r:id="rId55"/>
    <p:sldId id="457" r:id="rId56"/>
    <p:sldId id="443" r:id="rId57"/>
    <p:sldId id="458" r:id="rId58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2B8082-A292-4017-BB0B-0B40199D80B8}" v="3" dt="2024-04-03T11:43:39.3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6/11/relationships/changesInfo" Target="changesInfos/changesInfo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ЯНА  АМПОВА СИТ 2к - 22621751" userId="S::s22621751@onlineedu.tu-varna.bg::e3fef173-1d60-411b-802f-d8b58aa20486" providerId="AD" clId="Web-{2F39E2F4-5568-412A-969A-9FF9164C9D7E}"/>
    <pc:docChg chg="delSld">
      <pc:chgData name="ЯНА  АМПОВА СИТ 2к - 22621751" userId="S::s22621751@onlineedu.tu-varna.bg::e3fef173-1d60-411b-802f-d8b58aa20486" providerId="AD" clId="Web-{2F39E2F4-5568-412A-969A-9FF9164C9D7E}" dt="2024-03-30T10:58:32.953" v="0"/>
      <pc:docMkLst>
        <pc:docMk/>
      </pc:docMkLst>
      <pc:sldChg chg="del">
        <pc:chgData name="ЯНА  АМПОВА СИТ 2к - 22621751" userId="S::s22621751@onlineedu.tu-varna.bg::e3fef173-1d60-411b-802f-d8b58aa20486" providerId="AD" clId="Web-{2F39E2F4-5568-412A-969A-9FF9164C9D7E}" dt="2024-03-30T10:58:32.953" v="0"/>
        <pc:sldMkLst>
          <pc:docMk/>
          <pc:sldMk cId="1666248137" sldId="460"/>
        </pc:sldMkLst>
      </pc:sldChg>
    </pc:docChg>
  </pc:docChgLst>
  <pc:docChgLst>
    <pc:chgData name="КАЛОЯН АНДРЕЕВ АНДРЕЕВ СИТ 2к - 22621733" userId="S::s22621733@onlineedu.tu-varna.bg::d646115a-28b6-4615-8cfd-698e8ee3e972" providerId="AD" clId="Web-{A9F62078-1E4C-4DF0-B776-242F94BD518F}"/>
    <pc:docChg chg="modSld">
      <pc:chgData name="КАЛОЯН АНДРЕЕВ АНДРЕЕВ СИТ 2к - 22621733" userId="S::s22621733@onlineedu.tu-varna.bg::d646115a-28b6-4615-8cfd-698e8ee3e972" providerId="AD" clId="Web-{A9F62078-1E4C-4DF0-B776-242F94BD518F}" dt="2024-03-26T16:28:39.129" v="0"/>
      <pc:docMkLst>
        <pc:docMk/>
      </pc:docMkLst>
      <pc:sldChg chg="modSp">
        <pc:chgData name="КАЛОЯН АНДРЕЕВ АНДРЕЕВ СИТ 2к - 22621733" userId="S::s22621733@onlineedu.tu-varna.bg::d646115a-28b6-4615-8cfd-698e8ee3e972" providerId="AD" clId="Web-{A9F62078-1E4C-4DF0-B776-242F94BD518F}" dt="2024-03-26T16:28:39.129" v="0"/>
        <pc:sldMkLst>
          <pc:docMk/>
          <pc:sldMk cId="0" sldId="438"/>
        </pc:sldMkLst>
        <pc:graphicFrameChg chg="modGraphic">
          <ac:chgData name="КАЛОЯН АНДРЕЕВ АНДРЕЕВ СИТ 2к - 22621733" userId="S::s22621733@onlineedu.tu-varna.bg::d646115a-28b6-4615-8cfd-698e8ee3e972" providerId="AD" clId="Web-{A9F62078-1E4C-4DF0-B776-242F94BD518F}" dt="2024-03-26T16:28:39.129" v="0"/>
          <ac:graphicFrameMkLst>
            <pc:docMk/>
            <pc:sldMk cId="0" sldId="438"/>
            <ac:graphicFrameMk id="5" creationId="{88F423AD-9A08-4CAC-943C-9639EEC988B6}"/>
          </ac:graphicFrameMkLst>
        </pc:graphicFrameChg>
      </pc:sldChg>
    </pc:docChg>
  </pc:docChgLst>
  <pc:docChgLst>
    <pc:chgData name="МАРТИН РУМЕНОВ ФИЛКОВ СИТ 2к - 22621627" userId="S::s22621627@onlineedu.tu-varna.bg::c90a16b8-73b9-46db-8d3d-c37db4431836" providerId="AD" clId="Web-{EF03B09D-D339-4933-B5CE-C8E48800F533}"/>
    <pc:docChg chg="modSld">
      <pc:chgData name="МАРТИН РУМЕНОВ ФИЛКОВ СИТ 2к - 22621627" userId="S::s22621627@onlineedu.tu-varna.bg::c90a16b8-73b9-46db-8d3d-c37db4431836" providerId="AD" clId="Web-{EF03B09D-D339-4933-B5CE-C8E48800F533}" dt="2024-03-23T14:01:53.354" v="1" actId="14100"/>
      <pc:docMkLst>
        <pc:docMk/>
      </pc:docMkLst>
      <pc:sldChg chg="modSp">
        <pc:chgData name="МАРТИН РУМЕНОВ ФИЛКОВ СИТ 2к - 22621627" userId="S::s22621627@onlineedu.tu-varna.bg::c90a16b8-73b9-46db-8d3d-c37db4431836" providerId="AD" clId="Web-{EF03B09D-D339-4933-B5CE-C8E48800F533}" dt="2024-03-23T14:01:53.354" v="1" actId="14100"/>
        <pc:sldMkLst>
          <pc:docMk/>
          <pc:sldMk cId="0" sldId="447"/>
        </pc:sldMkLst>
        <pc:spChg chg="mod">
          <ac:chgData name="МАРТИН РУМЕНОВ ФИЛКОВ СИТ 2к - 22621627" userId="S::s22621627@onlineedu.tu-varna.bg::c90a16b8-73b9-46db-8d3d-c37db4431836" providerId="AD" clId="Web-{EF03B09D-D339-4933-B5CE-C8E48800F533}" dt="2024-03-23T14:01:53.354" v="1" actId="14100"/>
          <ac:spMkLst>
            <pc:docMk/>
            <pc:sldMk cId="0" sldId="447"/>
            <ac:spMk id="3" creationId="{00000000-0000-0000-0000-000000000000}"/>
          </ac:spMkLst>
        </pc:spChg>
      </pc:sldChg>
    </pc:docChg>
  </pc:docChgLst>
  <pc:docChgLst>
    <pc:chgData name="СВИЛЕН РОСЕНОВ УРУМОВ СИТ 2к - 22621614" userId="S::s22621614@onlineedu.tu-varna.bg::4cb5748d-09f2-4fe3-9883-6e92e796ed1e" providerId="AD" clId="Web-{AED5FEF7-15A3-42C6-A291-68A26F8A9520}"/>
    <pc:docChg chg="modSld">
      <pc:chgData name="СВИЛЕН РОСЕНОВ УРУМОВ СИТ 2к - 22621614" userId="S::s22621614@onlineedu.tu-varna.bg::4cb5748d-09f2-4fe3-9883-6e92e796ed1e" providerId="AD" clId="Web-{AED5FEF7-15A3-42C6-A291-68A26F8A9520}" dt="2024-03-23T11:47:09.259" v="0" actId="14100"/>
      <pc:docMkLst>
        <pc:docMk/>
      </pc:docMkLst>
      <pc:sldChg chg="modSp">
        <pc:chgData name="СВИЛЕН РОСЕНОВ УРУМОВ СИТ 2к - 22621614" userId="S::s22621614@onlineedu.tu-varna.bg::4cb5748d-09f2-4fe3-9883-6e92e796ed1e" providerId="AD" clId="Web-{AED5FEF7-15A3-42C6-A291-68A26F8A9520}" dt="2024-03-23T11:47:09.259" v="0" actId="14100"/>
        <pc:sldMkLst>
          <pc:docMk/>
          <pc:sldMk cId="0" sldId="441"/>
        </pc:sldMkLst>
        <pc:spChg chg="mod">
          <ac:chgData name="СВИЛЕН РОСЕНОВ УРУМОВ СИТ 2к - 22621614" userId="S::s22621614@onlineedu.tu-varna.bg::4cb5748d-09f2-4fe3-9883-6e92e796ed1e" providerId="AD" clId="Web-{AED5FEF7-15A3-42C6-A291-68A26F8A9520}" dt="2024-03-23T11:47:09.259" v="0" actId="14100"/>
          <ac:spMkLst>
            <pc:docMk/>
            <pc:sldMk cId="0" sldId="441"/>
            <ac:spMk id="4" creationId="{00000000-0000-0000-0000-000000000000}"/>
          </ac:spMkLst>
        </pc:spChg>
      </pc:sldChg>
    </pc:docChg>
  </pc:docChgLst>
  <pc:docChgLst>
    <pc:chgData name="ДАВИД КРАСИМИРОВ ВАСИЛЕВ СИТ 2к - 22621727" userId="S::s22621727@onlineedu.tu-varna.bg::2c7ad490-3047-44a5-9c24-61e6f4fc123a" providerId="AD" clId="Web-{F6C96C01-E961-4390-8508-B63432249CBE}"/>
    <pc:docChg chg="delSld">
      <pc:chgData name="ДАВИД КРАСИМИРОВ ВАСИЛЕВ СИТ 2к - 22621727" userId="S::s22621727@onlineedu.tu-varna.bg::2c7ad490-3047-44a5-9c24-61e6f4fc123a" providerId="AD" clId="Web-{F6C96C01-E961-4390-8508-B63432249CBE}" dt="2024-03-21T10:17:42.406" v="0"/>
      <pc:docMkLst>
        <pc:docMk/>
      </pc:docMkLst>
      <pc:sldChg chg="del">
        <pc:chgData name="ДАВИД КРАСИМИРОВ ВАСИЛЕВ СИТ 2к - 22621727" userId="S::s22621727@onlineedu.tu-varna.bg::2c7ad490-3047-44a5-9c24-61e6f4fc123a" providerId="AD" clId="Web-{F6C96C01-E961-4390-8508-B63432249CBE}" dt="2024-03-21T10:17:42.406" v="0"/>
        <pc:sldMkLst>
          <pc:docMk/>
          <pc:sldMk cId="0" sldId="456"/>
        </pc:sldMkLst>
      </pc:sldChg>
    </pc:docChg>
  </pc:docChgLst>
  <pc:docChgLst>
    <pc:chgData name="АНТОН ЧАВДАРОВ АНТОНОВ СИТ 2к - 22621643" userId="S::s22621643@onlineedu.tu-varna.bg::80ece6ec-8317-4a30-a793-8ac648fcd58d" providerId="AD" clId="Web-{FB5A9E64-CF94-16E0-1073-8BFE220CC4E0}"/>
    <pc:docChg chg="modSld">
      <pc:chgData name="АНТОН ЧАВДАРОВ АНТОНОВ СИТ 2к - 22621643" userId="S::s22621643@onlineedu.tu-varna.bg::80ece6ec-8317-4a30-a793-8ac648fcd58d" providerId="AD" clId="Web-{FB5A9E64-CF94-16E0-1073-8BFE220CC4E0}" dt="2024-04-02T20:10:57.340" v="0"/>
      <pc:docMkLst>
        <pc:docMk/>
      </pc:docMkLst>
      <pc:sldChg chg="modSp">
        <pc:chgData name="АНТОН ЧАВДАРОВ АНТОНОВ СИТ 2к - 22621643" userId="S::s22621643@onlineedu.tu-varna.bg::80ece6ec-8317-4a30-a793-8ac648fcd58d" providerId="AD" clId="Web-{FB5A9E64-CF94-16E0-1073-8BFE220CC4E0}" dt="2024-04-02T20:10:57.340" v="0"/>
        <pc:sldMkLst>
          <pc:docMk/>
          <pc:sldMk cId="0" sldId="438"/>
        </pc:sldMkLst>
        <pc:graphicFrameChg chg="modGraphic">
          <ac:chgData name="АНТОН ЧАВДАРОВ АНТОНОВ СИТ 2к - 22621643" userId="S::s22621643@onlineedu.tu-varna.bg::80ece6ec-8317-4a30-a793-8ac648fcd58d" providerId="AD" clId="Web-{FB5A9E64-CF94-16E0-1073-8BFE220CC4E0}" dt="2024-04-02T20:10:57.340" v="0"/>
          <ac:graphicFrameMkLst>
            <pc:docMk/>
            <pc:sldMk cId="0" sldId="438"/>
            <ac:graphicFrameMk id="5" creationId="{88F423AD-9A08-4CAC-943C-9639EEC988B6}"/>
          </ac:graphicFrameMkLst>
        </pc:graphicFrameChg>
      </pc:sldChg>
    </pc:docChg>
  </pc:docChgLst>
  <pc:docChgLst>
    <pc:chgData name="ГАБРИЕЛА ДИМИТРОВА ЯНЕВА СИТ 2к - 22621642" userId="S::s22621642@onlineedu.tu-varna.bg::ee91c493-7883-450f-b7df-0cfe6b810640" providerId="AD" clId="Web-{B7C0F0BB-D6CB-A9BB-8CF2-21B9A44C0BDA}"/>
    <pc:docChg chg="addSld">
      <pc:chgData name="ГАБРИЕЛА ДИМИТРОВА ЯНЕВА СИТ 2к - 22621642" userId="S::s22621642@onlineedu.tu-varna.bg::ee91c493-7883-450f-b7df-0cfe6b810640" providerId="AD" clId="Web-{B7C0F0BB-D6CB-A9BB-8CF2-21B9A44C0BDA}" dt="2024-03-29T07:42:48.110" v="0"/>
      <pc:docMkLst>
        <pc:docMk/>
      </pc:docMkLst>
      <pc:sldChg chg="new">
        <pc:chgData name="ГАБРИЕЛА ДИМИТРОВА ЯНЕВА СИТ 2к - 22621642" userId="S::s22621642@onlineedu.tu-varna.bg::ee91c493-7883-450f-b7df-0cfe6b810640" providerId="AD" clId="Web-{B7C0F0BB-D6CB-A9BB-8CF2-21B9A44C0BDA}" dt="2024-03-29T07:42:48.110" v="0"/>
        <pc:sldMkLst>
          <pc:docMk/>
          <pc:sldMk cId="1666248137" sldId="460"/>
        </pc:sldMkLst>
      </pc:sldChg>
    </pc:docChg>
  </pc:docChgLst>
  <pc:docChgLst>
    <pc:chgData name="ДИЯН РАДОСЛАВОВ ДИМИТРОВ СИТ 2к - 22621686" userId="S::s22621686@onlineedu.tu-varna.bg::e4e943a8-ae55-4284-9721-7c1720d9d00b" providerId="AD" clId="Web-{3DB984E8-F93C-41DB-BF7A-BE5913415821}"/>
    <pc:docChg chg="modSld">
      <pc:chgData name="ДИЯН РАДОСЛАВОВ ДИМИТРОВ СИТ 2к - 22621686" userId="S::s22621686@onlineedu.tu-varna.bg::e4e943a8-ae55-4284-9721-7c1720d9d00b" providerId="AD" clId="Web-{3DB984E8-F93C-41DB-BF7A-BE5913415821}" dt="2024-03-28T21:23:02.133" v="1" actId="1076"/>
      <pc:docMkLst>
        <pc:docMk/>
      </pc:docMkLst>
      <pc:sldChg chg="modSp">
        <pc:chgData name="ДИЯН РАДОСЛАВОВ ДИМИТРОВ СИТ 2к - 22621686" userId="S::s22621686@onlineedu.tu-varna.bg::e4e943a8-ae55-4284-9721-7c1720d9d00b" providerId="AD" clId="Web-{3DB984E8-F93C-41DB-BF7A-BE5913415821}" dt="2024-03-28T21:23:02.133" v="1" actId="1076"/>
        <pc:sldMkLst>
          <pc:docMk/>
          <pc:sldMk cId="2755045368" sldId="423"/>
        </pc:sldMkLst>
        <pc:picChg chg="mod">
          <ac:chgData name="ДИЯН РАДОСЛАВОВ ДИМИТРОВ СИТ 2к - 22621686" userId="S::s22621686@onlineedu.tu-varna.bg::e4e943a8-ae55-4284-9721-7c1720d9d00b" providerId="AD" clId="Web-{3DB984E8-F93C-41DB-BF7A-BE5913415821}" dt="2024-03-28T21:23:02.133" v="1" actId="1076"/>
          <ac:picMkLst>
            <pc:docMk/>
            <pc:sldMk cId="2755045368" sldId="423"/>
            <ac:picMk id="3074" creationId="{00000000-0000-0000-0000-000000000000}"/>
          </ac:picMkLst>
        </pc:picChg>
      </pc:sldChg>
    </pc:docChg>
  </pc:docChgLst>
  <pc:docChgLst>
    <pc:chgData name="ЗДРАВКО СТЕФАНОВ ПЕНЕВ СИТ 2к - 22621668" userId="S::s22621668@onlineedu.tu-varna.bg::4f34fb88-1f67-4021-8e5d-eb959167b501" providerId="AD" clId="Web-{C78FC6ED-7F65-AD53-BE4C-3A48F0BBB762}"/>
    <pc:docChg chg="modSld">
      <pc:chgData name="ЗДРАВКО СТЕФАНОВ ПЕНЕВ СИТ 2к - 22621668" userId="S::s22621668@onlineedu.tu-varna.bg::4f34fb88-1f67-4021-8e5d-eb959167b501" providerId="AD" clId="Web-{C78FC6ED-7F65-AD53-BE4C-3A48F0BBB762}" dt="2024-03-26T11:09:24.808" v="2" actId="20577"/>
      <pc:docMkLst>
        <pc:docMk/>
      </pc:docMkLst>
      <pc:sldChg chg="modSp">
        <pc:chgData name="ЗДРАВКО СТЕФАНОВ ПЕНЕВ СИТ 2к - 22621668" userId="S::s22621668@onlineedu.tu-varna.bg::4f34fb88-1f67-4021-8e5d-eb959167b501" providerId="AD" clId="Web-{C78FC6ED-7F65-AD53-BE4C-3A48F0BBB762}" dt="2024-03-26T11:09:24.808" v="2" actId="20577"/>
        <pc:sldMkLst>
          <pc:docMk/>
          <pc:sldMk cId="0" sldId="434"/>
        </pc:sldMkLst>
        <pc:spChg chg="mod">
          <ac:chgData name="ЗДРАВКО СТЕФАНОВ ПЕНЕВ СИТ 2к - 22621668" userId="S::s22621668@onlineedu.tu-varna.bg::4f34fb88-1f67-4021-8e5d-eb959167b501" providerId="AD" clId="Web-{C78FC6ED-7F65-AD53-BE4C-3A48F0BBB762}" dt="2024-03-26T11:09:24.808" v="2" actId="20577"/>
          <ac:spMkLst>
            <pc:docMk/>
            <pc:sldMk cId="0" sldId="434"/>
            <ac:spMk id="3" creationId="{00000000-0000-0000-0000-000000000000}"/>
          </ac:spMkLst>
        </pc:spChg>
      </pc:sldChg>
    </pc:docChg>
  </pc:docChgLst>
  <pc:docChgLst>
    <pc:chgData name="НИЯ КИРИЛОВА ПЕНЧЕВА СИТ 2к - 22621665" userId="S::s22621665@onlineedu.tu-varna.bg::e79f06bd-da24-4e82-8c1a-f0adaf4ff472" providerId="AD" clId="Web-{492B8082-A292-4017-BB0B-0B40199D80B8}"/>
    <pc:docChg chg="modSld">
      <pc:chgData name="НИЯ КИРИЛОВА ПЕНЧЕВА СИТ 2к - 22621665" userId="S::s22621665@onlineedu.tu-varna.bg::e79f06bd-da24-4e82-8c1a-f0adaf4ff472" providerId="AD" clId="Web-{492B8082-A292-4017-BB0B-0B40199D80B8}" dt="2024-04-03T11:43:39.370" v="2" actId="20577"/>
      <pc:docMkLst>
        <pc:docMk/>
      </pc:docMkLst>
      <pc:sldChg chg="modSp">
        <pc:chgData name="НИЯ КИРИЛОВА ПЕНЧЕВА СИТ 2к - 22621665" userId="S::s22621665@onlineedu.tu-varna.bg::e79f06bd-da24-4e82-8c1a-f0adaf4ff472" providerId="AD" clId="Web-{492B8082-A292-4017-BB0B-0B40199D80B8}" dt="2024-04-03T11:43:37.464" v="1" actId="20577"/>
        <pc:sldMkLst>
          <pc:docMk/>
          <pc:sldMk cId="2755045368" sldId="381"/>
        </pc:sldMkLst>
        <pc:spChg chg="mod">
          <ac:chgData name="НИЯ КИРИЛОВА ПЕНЧЕВА СИТ 2к - 22621665" userId="S::s22621665@onlineedu.tu-varna.bg::e79f06bd-da24-4e82-8c1a-f0adaf4ff472" providerId="AD" clId="Web-{492B8082-A292-4017-BB0B-0B40199D80B8}" dt="2024-04-03T11:43:37.464" v="1" actId="20577"/>
          <ac:spMkLst>
            <pc:docMk/>
            <pc:sldMk cId="2755045368" sldId="381"/>
            <ac:spMk id="3" creationId="{00000000-0000-0000-0000-000000000000}"/>
          </ac:spMkLst>
        </pc:spChg>
      </pc:sldChg>
      <pc:sldChg chg="modSp">
        <pc:chgData name="НИЯ КИРИЛОВА ПЕНЧЕВА СИТ 2к - 22621665" userId="S::s22621665@onlineedu.tu-varna.bg::e79f06bd-da24-4e82-8c1a-f0adaf4ff472" providerId="AD" clId="Web-{492B8082-A292-4017-BB0B-0B40199D80B8}" dt="2024-04-03T11:43:32.995" v="0" actId="20577"/>
        <pc:sldMkLst>
          <pc:docMk/>
          <pc:sldMk cId="2755045368" sldId="402"/>
        </pc:sldMkLst>
        <pc:spChg chg="mod">
          <ac:chgData name="НИЯ КИРИЛОВА ПЕНЧЕВА СИТ 2к - 22621665" userId="S::s22621665@onlineedu.tu-varna.bg::e79f06bd-da24-4e82-8c1a-f0adaf4ff472" providerId="AD" clId="Web-{492B8082-A292-4017-BB0B-0B40199D80B8}" dt="2024-04-03T11:43:32.995" v="0" actId="20577"/>
          <ac:spMkLst>
            <pc:docMk/>
            <pc:sldMk cId="2755045368" sldId="402"/>
            <ac:spMk id="3" creationId="{00000000-0000-0000-0000-000000000000}"/>
          </ac:spMkLst>
        </pc:spChg>
      </pc:sldChg>
      <pc:sldChg chg="modSp">
        <pc:chgData name="НИЯ КИРИЛОВА ПЕНЧЕВА СИТ 2к - 22621665" userId="S::s22621665@onlineedu.tu-varna.bg::e79f06bd-da24-4e82-8c1a-f0adaf4ff472" providerId="AD" clId="Web-{492B8082-A292-4017-BB0B-0B40199D80B8}" dt="2024-04-03T11:43:39.370" v="2" actId="20577"/>
        <pc:sldMkLst>
          <pc:docMk/>
          <pc:sldMk cId="2755045368" sldId="403"/>
        </pc:sldMkLst>
        <pc:spChg chg="mod">
          <ac:chgData name="НИЯ КИРИЛОВА ПЕНЧЕВА СИТ 2к - 22621665" userId="S::s22621665@onlineedu.tu-varna.bg::e79f06bd-da24-4e82-8c1a-f0adaf4ff472" providerId="AD" clId="Web-{492B8082-A292-4017-BB0B-0B40199D80B8}" dt="2024-04-03T11:43:39.370" v="2" actId="20577"/>
          <ac:spMkLst>
            <pc:docMk/>
            <pc:sldMk cId="2755045368" sldId="403"/>
            <ac:spMk id="3" creationId="{00000000-0000-0000-0000-000000000000}"/>
          </ac:spMkLst>
        </pc:spChg>
      </pc:sldChg>
    </pc:docChg>
  </pc:docChgLst>
  <pc:docChgLst>
    <pc:chgData name="ДАВИД КРАСИМИРОВ ВАСИЛЕВ СИТ 2к - 22621727" userId="S::s22621727@onlineedu.tu-varna.bg::2c7ad490-3047-44a5-9c24-61e6f4fc123a" providerId="AD" clId="Web-{20E92525-1929-4F2E-B902-D335F256198E}"/>
    <pc:docChg chg="sldOrd">
      <pc:chgData name="ДАВИД КРАСИМИРОВ ВАСИЛЕВ СИТ 2к - 22621727" userId="S::s22621727@onlineedu.tu-varna.bg::2c7ad490-3047-44a5-9c24-61e6f4fc123a" providerId="AD" clId="Web-{20E92525-1929-4F2E-B902-D335F256198E}" dt="2024-03-27T21:14:05.896" v="0"/>
      <pc:docMkLst>
        <pc:docMk/>
      </pc:docMkLst>
      <pc:sldChg chg="ord">
        <pc:chgData name="ДАВИД КРАСИМИРОВ ВАСИЛЕВ СИТ 2к - 22621727" userId="S::s22621727@onlineedu.tu-varna.bg::2c7ad490-3047-44a5-9c24-61e6f4fc123a" providerId="AD" clId="Web-{20E92525-1929-4F2E-B902-D335F256198E}" dt="2024-03-27T21:14:05.896" v="0"/>
        <pc:sldMkLst>
          <pc:docMk/>
          <pc:sldMk cId="0" sldId="427"/>
        </pc:sldMkLst>
      </pc:sldChg>
    </pc:docChg>
  </pc:docChgLst>
  <pc:docChgLst>
    <pc:chgData name="ЯНА  АМПОВА СИТ 2к - 22621751" userId="S::s22621751@onlineedu.tu-varna.bg::e3fef173-1d60-411b-802f-d8b58aa20486" providerId="AD" clId="Web-{B38CD5FB-8336-410C-9938-4137282829A8}"/>
    <pc:docChg chg="modSld">
      <pc:chgData name="ЯНА  АМПОВА СИТ 2к - 22621751" userId="S::s22621751@onlineedu.tu-varna.bg::e3fef173-1d60-411b-802f-d8b58aa20486" providerId="AD" clId="Web-{B38CD5FB-8336-410C-9938-4137282829A8}" dt="2024-03-24T15:01:55.359" v="2" actId="1076"/>
      <pc:docMkLst>
        <pc:docMk/>
      </pc:docMkLst>
      <pc:sldChg chg="modSp">
        <pc:chgData name="ЯНА  АМПОВА СИТ 2к - 22621751" userId="S::s22621751@onlineedu.tu-varna.bg::e3fef173-1d60-411b-802f-d8b58aa20486" providerId="AD" clId="Web-{B38CD5FB-8336-410C-9938-4137282829A8}" dt="2024-03-24T15:01:55.359" v="2" actId="1076"/>
        <pc:sldMkLst>
          <pc:docMk/>
          <pc:sldMk cId="0" sldId="439"/>
        </pc:sldMkLst>
        <pc:picChg chg="mod">
          <ac:chgData name="ЯНА  АМПОВА СИТ 2к - 22621751" userId="S::s22621751@onlineedu.tu-varna.bg::e3fef173-1d60-411b-802f-d8b58aa20486" providerId="AD" clId="Web-{B38CD5FB-8336-410C-9938-4137282829A8}" dt="2024-03-24T15:01:55.359" v="2" actId="1076"/>
          <ac:picMkLst>
            <pc:docMk/>
            <pc:sldMk cId="0" sldId="439"/>
            <ac:picMk id="1027" creationId="{00000000-0000-0000-0000-000000000000}"/>
          </ac:picMkLst>
        </pc:picChg>
      </pc:sldChg>
    </pc:docChg>
  </pc:docChgLst>
  <pc:docChgLst>
    <pc:chgData name="ЛЮБОСЛАВ ПЛАМЕНОВ НИКОЛОВ СИТ 2к - 22621626" userId="S::s22621626@onlineedu.tu-varna.bg::eba9aad1-7aa8-4414-beb3-d99d1fca8463" providerId="AD" clId="Web-{006C9EE0-3C93-B9EE-0464-FB38D08FDB44}"/>
    <pc:docChg chg="addSld">
      <pc:chgData name="ЛЮБОСЛАВ ПЛАМЕНОВ НИКОЛОВ СИТ 2к - 22621626" userId="S::s22621626@onlineedu.tu-varna.bg::eba9aad1-7aa8-4414-beb3-d99d1fca8463" providerId="AD" clId="Web-{006C9EE0-3C93-B9EE-0464-FB38D08FDB44}" dt="2024-03-28T18:56:43.429" v="0"/>
      <pc:docMkLst>
        <pc:docMk/>
      </pc:docMkLst>
      <pc:sldChg chg="add replId">
        <pc:chgData name="ЛЮБОСЛАВ ПЛАМЕНОВ НИКОЛОВ СИТ 2к - 22621626" userId="S::s22621626@onlineedu.tu-varna.bg::eba9aad1-7aa8-4414-beb3-d99d1fca8463" providerId="AD" clId="Web-{006C9EE0-3C93-B9EE-0464-FB38D08FDB44}" dt="2024-03-28T18:56:43.429" v="0"/>
        <pc:sldMkLst>
          <pc:docMk/>
          <pc:sldMk cId="2920738977" sldId="45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92332A-55AF-4551-8E83-32AC6773F37C}" type="datetimeFigureOut">
              <a:rPr lang="bg-BG" smtClean="0"/>
              <a:pPr/>
              <a:t>4.4.2024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8BE4E-C978-4DDD-BFFE-20E7B8E0D29B}" type="slidenum">
              <a:rPr lang="bg-BG" smtClean="0"/>
              <a:pPr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89593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4.4.2024 г.</a:t>
            </a:fld>
            <a:endParaRPr lang="bg-BG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4.4.2024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4.4.2024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4.4.2024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4.4.2024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4.4.2024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4.4.2024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4.4.2024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4.4.2024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4.4.2024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2AA38-B623-4529-8E38-4C26B6BE11C2}" type="datetimeFigureOut">
              <a:rPr lang="bg-BG" smtClean="0"/>
              <a:pPr/>
              <a:t>4.4.2024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CD2AA38-B623-4529-8E38-4C26B6BE11C2}" type="datetimeFigureOut">
              <a:rPr lang="bg-BG" smtClean="0"/>
              <a:pPr/>
              <a:t>4.4.2024 г.</a:t>
            </a:fld>
            <a:endParaRPr lang="bg-BG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24109040-8F74-4CAF-B14B-2C048A8F2A9A}" type="slidenum">
              <a:rPr lang="bg-BG" smtClean="0"/>
              <a:pPr/>
              <a:t>‹#›</a:t>
            </a:fld>
            <a:endParaRPr lang="bg-BG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72" y="928670"/>
            <a:ext cx="7851648" cy="5186386"/>
          </a:xfrm>
        </p:spPr>
        <p:txBody>
          <a:bodyPr rIns="0">
            <a:noAutofit/>
          </a:bodyPr>
          <a:lstStyle/>
          <a:p>
            <a:r>
              <a:rPr lang="en-US" sz="5500" err="1">
                <a:latin typeface="Times New Roman" pitchFamily="18" charset="0"/>
                <a:cs typeface="Times New Roman" pitchFamily="18" charset="0"/>
              </a:rPr>
              <a:t>Прехвърляне</a:t>
            </a:r>
            <a:r>
              <a:rPr lang="en-US" sz="55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5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55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500" err="1">
                <a:latin typeface="Times New Roman" pitchFamily="18" charset="0"/>
                <a:cs typeface="Times New Roman" pitchFamily="18" charset="0"/>
              </a:rPr>
              <a:t>данни</a:t>
            </a:r>
            <a:r>
              <a:rPr lang="en-US" sz="550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5500" err="1">
                <a:latin typeface="Times New Roman" pitchFamily="18" charset="0"/>
                <a:cs typeface="Times New Roman" pitchFamily="18" charset="0"/>
              </a:rPr>
              <a:t>Промяна</a:t>
            </a:r>
            <a:r>
              <a:rPr lang="en-US" sz="55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5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55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500" err="1">
                <a:latin typeface="Times New Roman" pitchFamily="18" charset="0"/>
                <a:cs typeface="Times New Roman" pitchFamily="18" charset="0"/>
              </a:rPr>
              <a:t>формата</a:t>
            </a:r>
            <a:r>
              <a:rPr lang="en-US" sz="55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5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55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500" err="1">
                <a:latin typeface="Times New Roman" pitchFamily="18" charset="0"/>
                <a:cs typeface="Times New Roman" pitchFamily="18" charset="0"/>
              </a:rPr>
              <a:t>число</a:t>
            </a:r>
            <a:r>
              <a:rPr lang="en-US" sz="5500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5500">
                <a:latin typeface="Times New Roman" pitchFamily="18" charset="0"/>
                <a:cs typeface="Times New Roman" pitchFamily="18" charset="0"/>
              </a:rPr>
            </a:br>
            <a:r>
              <a:rPr lang="en-US" sz="5500" err="1">
                <a:latin typeface="Times New Roman" pitchFamily="18" charset="0"/>
                <a:cs typeface="Times New Roman" pitchFamily="18" charset="0"/>
              </a:rPr>
              <a:t>Аритметични</a:t>
            </a:r>
            <a:r>
              <a:rPr lang="en-US" sz="55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500" err="1">
                <a:latin typeface="Times New Roman" pitchFamily="18" charset="0"/>
                <a:cs typeface="Times New Roman" pitchFamily="18" charset="0"/>
              </a:rPr>
              <a:t>команди</a:t>
            </a:r>
            <a:r>
              <a:rPr lang="en-US" sz="550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5500" err="1">
                <a:latin typeface="Times New Roman" pitchFamily="18" charset="0"/>
                <a:cs typeface="Times New Roman" pitchFamily="18" charset="0"/>
              </a:rPr>
              <a:t>Линейни</a:t>
            </a:r>
            <a:r>
              <a:rPr lang="en-US" sz="55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800" err="1">
                <a:latin typeface="Times New Roman" pitchFamily="18" charset="0"/>
                <a:cs typeface="Times New Roman" pitchFamily="18" charset="0"/>
              </a:rPr>
              <a:t>програми</a:t>
            </a:r>
            <a:r>
              <a:rPr lang="en-US" sz="4800">
                <a:latin typeface="Times New Roman" pitchFamily="18" charset="0"/>
                <a:cs typeface="Times New Roman" pitchFamily="18" charset="0"/>
              </a:rPr>
              <a:t>.</a:t>
            </a:r>
            <a:endParaRPr lang="bg-BG" sz="48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357298"/>
            <a:ext cx="8572560" cy="5286412"/>
          </a:xfrm>
        </p:spPr>
        <p:txBody>
          <a:bodyPr vert="horz" lIns="91440" tIns="45720" rIns="91440" bIns="45720" anchor="t">
            <a:noAutofit/>
          </a:bodyPr>
          <a:lstStyle/>
          <a:p>
            <a:pPr marL="0" algn="just">
              <a:lnSpc>
                <a:spcPct val="130792"/>
              </a:lnSpc>
              <a:spcBef>
                <a:spcPts val="0"/>
              </a:spcBef>
            </a:pPr>
            <a:r>
              <a:rPr lang="bg-BG" sz="2400" u="sng">
                <a:latin typeface="Times New Roman" pitchFamily="18" charset="0"/>
                <a:cs typeface="Times New Roman" pitchFamily="18" charset="0"/>
              </a:rPr>
              <a:t>1. Директива DB </a:t>
            </a:r>
            <a:endParaRPr lang="en-US"/>
          </a:p>
          <a:p>
            <a:pPr marL="0" algn="just">
              <a:lnSpc>
                <a:spcPct val="112107"/>
              </a:lnSpc>
              <a:spcBef>
                <a:spcPts val="0"/>
              </a:spcBef>
            </a:pPr>
            <a:r>
              <a:rPr lang="bg-BG" sz="2400">
                <a:latin typeface="Times New Roman" pitchFamily="18" charset="0"/>
                <a:cs typeface="Times New Roman" pitchFamily="18" charset="0"/>
              </a:rPr>
              <a:t>Тази директива определя за формàта на името дължина 1 байт. (DB – define byte). Синтаксисът на директивата е следния</a:t>
            </a:r>
          </a:p>
          <a:p>
            <a:pPr marL="0" algn="just">
              <a:lnSpc>
                <a:spcPct val="112107"/>
              </a:lnSpc>
              <a:spcBef>
                <a:spcPts val="0"/>
              </a:spcBef>
            </a:pPr>
            <a:r>
              <a:rPr lang="bg-BG" sz="2400" b="1">
                <a:latin typeface="Times New Roman" pitchFamily="18" charset="0"/>
                <a:cs typeface="Times New Roman" pitchFamily="18" charset="0"/>
              </a:rPr>
              <a:t>[&lt;име&gt;] DB [&lt;операнд&gt;] {,&lt;операнд&gt;} [;&lt;коментар&gt;] </a:t>
            </a:r>
          </a:p>
          <a:p>
            <a:pPr marL="0" algn="just">
              <a:lnSpc>
                <a:spcPct val="112107"/>
              </a:lnSpc>
              <a:spcBef>
                <a:spcPts val="0"/>
              </a:spcBef>
            </a:pPr>
            <a:r>
              <a:rPr lang="bg-BG" sz="2400">
                <a:latin typeface="Times New Roman" pitchFamily="18" charset="0"/>
                <a:cs typeface="Times New Roman" pitchFamily="18" charset="0"/>
              </a:rPr>
              <a:t>Срещайки такава директива, асемблерът формира машинния вид 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числата и ги записва в последователни клетки на паметта. В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директивата данните се задават по два начина: </a:t>
            </a:r>
          </a:p>
          <a:p>
            <a:pPr marL="0" algn="just">
              <a:lnSpc>
                <a:spcPct val="112107"/>
              </a:lnSpc>
              <a:spcBef>
                <a:spcPts val="0"/>
              </a:spcBef>
            </a:pPr>
            <a:r>
              <a:rPr lang="bg-BG" sz="2400">
                <a:latin typeface="Times New Roman" pitchFamily="18" charset="0"/>
                <a:cs typeface="Times New Roman" pitchFamily="18" charset="0"/>
              </a:rPr>
              <a:t>• Променливи с неизвестна (неопределена) стойност; 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marL="0" algn="just">
              <a:lnSpc>
                <a:spcPct val="112107"/>
              </a:lnSpc>
              <a:spcBef>
                <a:spcPts val="0"/>
              </a:spcBef>
            </a:pPr>
            <a:r>
              <a:rPr lang="en-US" sz="2400"/>
              <a:t> </a:t>
            </a:r>
            <a:r>
              <a:rPr lang="en-US" sz="2400" b="1"/>
              <a:t>               </a:t>
            </a:r>
            <a:r>
              <a:rPr lang="bg-BG" sz="2400" b="1"/>
              <a:t>Xmax DB ?</a:t>
            </a:r>
            <a:endParaRPr lang="en-US" sz="2400" b="1"/>
          </a:p>
          <a:p>
            <a:pPr marL="0" algn="just">
              <a:lnSpc>
                <a:spcPct val="112107"/>
              </a:lnSpc>
              <a:spcBef>
                <a:spcPts val="0"/>
              </a:spcBef>
            </a:pPr>
            <a:r>
              <a:rPr lang="bg-BG" sz="2400">
                <a:latin typeface="Times New Roman" pitchFamily="18" charset="0"/>
                <a:cs typeface="Times New Roman" pitchFamily="18" charset="0"/>
              </a:rPr>
              <a:t>Така разпределената в паметта променлива се идентифицира с физическия адрес на клетката, а не с нейното съдържание! Само при алгоритмична интерпретация на името на променливата може да се говори за нейната стойност. </a:t>
            </a:r>
          </a:p>
          <a:p>
            <a:pPr marL="0">
              <a:lnSpc>
                <a:spcPct val="130792"/>
              </a:lnSpc>
              <a:spcBef>
                <a:spcPts val="0"/>
              </a:spcBef>
            </a:pPr>
            <a:r>
              <a:rPr lang="bg-BG" sz="240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>
              <a:lnSpc>
                <a:spcPct val="119581"/>
              </a:lnSpc>
              <a:spcBef>
                <a:spcPts val="0"/>
              </a:spcBef>
            </a:pP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pPr marL="0">
              <a:lnSpc>
                <a:spcPct val="119581"/>
              </a:lnSpc>
              <a:spcBef>
                <a:spcPts val="0"/>
              </a:spcBef>
            </a:pPr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57158" y="428604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I.</a:t>
            </a:r>
            <a:r>
              <a:rPr lang="bg-BG" sz="3600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928802"/>
            <a:ext cx="8643998" cy="4786346"/>
          </a:xfrm>
        </p:spPr>
        <p:txBody>
          <a:bodyPr vert="horz" lIns="91440" tIns="45720" rIns="91440" bIns="45720" anchor="t">
            <a:noAutofit/>
          </a:bodyPr>
          <a:lstStyle/>
          <a:p>
            <a:pPr marL="0" algn="just">
              <a:lnSpc>
                <a:spcPct val="119581"/>
              </a:lnSpc>
              <a:spcBef>
                <a:spcPts val="0"/>
              </a:spcBef>
            </a:pPr>
            <a:r>
              <a:rPr lang="bg-BG" sz="2400" u="sng">
                <a:latin typeface="Times New Roman" pitchFamily="18" charset="0"/>
                <a:cs typeface="Times New Roman" pitchFamily="18" charset="0"/>
              </a:rPr>
              <a:t>1. Директива DB </a:t>
            </a:r>
            <a:endParaRPr lang="en-US"/>
          </a:p>
          <a:p>
            <a:pPr marL="0" algn="just">
              <a:lnSpc>
                <a:spcPct val="119581"/>
              </a:lnSpc>
              <a:spcBef>
                <a:spcPts val="0"/>
              </a:spcBef>
            </a:pPr>
            <a:r>
              <a:rPr lang="bg-BG" sz="2400">
                <a:latin typeface="Times New Roman" pitchFamily="18" charset="0"/>
                <a:cs typeface="Times New Roman" pitchFamily="18" charset="0"/>
              </a:rPr>
              <a:t>• Константи, които имат стойност в интервала [-128, 255]. Като се имат впредвид числа със и без знак; 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bg-BG" sz="2400" b="1">
                <a:latin typeface="Times New Roman" pitchFamily="18" charset="0"/>
                <a:cs typeface="Times New Roman" pitchFamily="18" charset="0"/>
              </a:rPr>
              <a:t>AA1 DB 254 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; стойността на променливата АА1 е 0FEh </a:t>
            </a:r>
          </a:p>
          <a:p>
            <a:pPr algn="just"/>
            <a:r>
              <a:rPr lang="bg-BG" sz="2400" b="1">
                <a:latin typeface="Times New Roman" pitchFamily="18" charset="0"/>
                <a:cs typeface="Times New Roman" pitchFamily="18" charset="0"/>
              </a:rPr>
              <a:t> AB2 DB -2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 ; 0FEh (изразява допълнителния код 256-2=254) 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bg-BG" sz="2400">
                <a:latin typeface="Times New Roman" pitchFamily="18" charset="0"/>
                <a:cs typeface="Times New Roman" pitchFamily="18" charset="0"/>
              </a:rPr>
              <a:t>За първата променлива стойността се интерпретира каточисло без знак, а за втората като число със знак в допълнителен код. </a:t>
            </a:r>
          </a:p>
          <a:p>
            <a:pPr algn="just"/>
            <a:r>
              <a:rPr lang="bg-BG" sz="2400">
                <a:latin typeface="Times New Roman" pitchFamily="18" charset="0"/>
                <a:cs typeface="Times New Roman" pitchFamily="18" charset="0"/>
              </a:rPr>
              <a:t>Двоичните комбинации фактически съвпадат, но интерпретацията е за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сметка на програмиста!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I.</a:t>
            </a:r>
            <a:r>
              <a:rPr lang="bg-BG" sz="3600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928802"/>
            <a:ext cx="8643998" cy="4786346"/>
          </a:xfrm>
        </p:spPr>
        <p:txBody>
          <a:bodyPr vert="horz" lIns="91440" tIns="45720" rIns="91440" bIns="45720" anchor="t">
            <a:noAutofit/>
          </a:bodyPr>
          <a:lstStyle/>
          <a:p>
            <a:pPr marL="0">
              <a:lnSpc>
                <a:spcPct val="119581"/>
              </a:lnSpc>
              <a:spcBef>
                <a:spcPts val="0"/>
              </a:spcBef>
            </a:pPr>
            <a:r>
              <a:rPr lang="bg-BG" sz="2400" u="sng">
                <a:latin typeface="Times New Roman" pitchFamily="18" charset="0"/>
                <a:cs typeface="Times New Roman" pitchFamily="18" charset="0"/>
              </a:rPr>
              <a:t>1. Директива DB </a:t>
            </a:r>
            <a:endParaRPr lang="en-US"/>
          </a:p>
          <a:p>
            <a:r>
              <a:rPr lang="bg-BG" sz="2400">
                <a:latin typeface="Times New Roman" pitchFamily="18" charset="0"/>
                <a:cs typeface="Times New Roman" pitchFamily="18" charset="0"/>
              </a:rPr>
              <a:t>Освен за задаване на числена стойност, директивата може да се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използва и за задаване на символна стойност. В този случай стойността се загражда с единични или двойни кавички: </a:t>
            </a:r>
          </a:p>
          <a:p>
            <a:r>
              <a:rPr lang="bg-BG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400" b="1">
                <a:latin typeface="Times New Roman" pitchFamily="18" charset="0"/>
                <a:cs typeface="Times New Roman" pitchFamily="18" charset="0"/>
              </a:rPr>
              <a:t>QQ DB 2Fh 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; числена стойност 2F(16)</a:t>
            </a:r>
          </a:p>
          <a:p>
            <a:r>
              <a:rPr lang="bg-BG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400" b="1">
                <a:latin typeface="Times New Roman" pitchFamily="18" charset="0"/>
                <a:cs typeface="Times New Roman" pitchFamily="18" charset="0"/>
              </a:rPr>
              <a:t>QQ DB “/” 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; символна стойност (символ /) </a:t>
            </a:r>
          </a:p>
          <a:p>
            <a:r>
              <a:rPr lang="bg-BG" sz="2400">
                <a:latin typeface="Times New Roman" pitchFamily="18" charset="0"/>
                <a:cs typeface="Times New Roman" pitchFamily="18" charset="0"/>
              </a:rPr>
              <a:t>За задаване на символни стойности втората директива е по-удобна. </a:t>
            </a:r>
          </a:p>
          <a:p>
            <a:r>
              <a:rPr lang="bg-BG" sz="2400">
                <a:latin typeface="Times New Roman" pitchFamily="18" charset="0"/>
                <a:cs typeface="Times New Roman" pitchFamily="18" charset="0"/>
              </a:rPr>
              <a:t>Стойността (кодът) на символа, като начална стойност на обявената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променлива, се определя според ASCII-таблицата. </a:t>
            </a:r>
          </a:p>
          <a:p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pPr marL="0">
              <a:lnSpc>
                <a:spcPct val="119581"/>
              </a:lnSpc>
              <a:spcBef>
                <a:spcPts val="0"/>
              </a:spcBef>
            </a:pPr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I.</a:t>
            </a:r>
            <a:r>
              <a:rPr lang="bg-BG" sz="3600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I.</a:t>
            </a:r>
            <a:r>
              <a:rPr lang="bg-BG" sz="3600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  <p:pic>
        <p:nvPicPr>
          <p:cNvPr id="4098" name="Picture 2" descr="https://upload.wikimedia.org/wikipedia/commons/b/b3/ASCII-Table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772817"/>
            <a:ext cx="6918037" cy="49150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I.</a:t>
            </a:r>
            <a:r>
              <a:rPr lang="bg-BG" sz="3600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  <p:pic>
        <p:nvPicPr>
          <p:cNvPr id="4098" name="Picture 2" descr="https://upload.wikimedia.org/wikipedia/commons/b/b3/ASCII-Table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772817"/>
            <a:ext cx="6918037" cy="49150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0738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643050"/>
            <a:ext cx="8786874" cy="5072098"/>
          </a:xfrm>
        </p:spPr>
        <p:txBody>
          <a:bodyPr>
            <a:noAutofit/>
          </a:bodyPr>
          <a:lstStyle/>
          <a:p>
            <a:pPr algn="just"/>
            <a:r>
              <a:rPr lang="bg-BG" sz="2100" u="sng">
                <a:latin typeface="Times New Roman" pitchFamily="18" charset="0"/>
                <a:cs typeface="Times New Roman" pitchFamily="18" charset="0"/>
              </a:rPr>
              <a:t>2 Директива DW </a:t>
            </a:r>
          </a:p>
          <a:p>
            <a:pPr algn="just"/>
            <a:r>
              <a:rPr lang="bg-BG" sz="2100">
                <a:latin typeface="Times New Roman" pitchFamily="18" charset="0"/>
                <a:cs typeface="Times New Roman" pitchFamily="18" charset="0"/>
              </a:rPr>
              <a:t>Директивата DW (define word – определи дума) описва променливи с дължина дума (16 бита). Конструкцията й и правилата на нейното използване са идентични на директивата DB. </a:t>
            </a:r>
          </a:p>
          <a:p>
            <a:pPr algn="just"/>
            <a:r>
              <a:rPr lang="bg-BG" sz="2100">
                <a:latin typeface="Times New Roman" pitchFamily="18" charset="0"/>
                <a:cs typeface="Times New Roman" pitchFamily="18" charset="0"/>
              </a:rPr>
              <a:t>= Операнд ? </a:t>
            </a:r>
          </a:p>
          <a:p>
            <a:pPr algn="just"/>
            <a:r>
              <a:rPr lang="bg-BG" sz="2100" b="1">
                <a:latin typeface="Times New Roman" pitchFamily="18" charset="0"/>
                <a:cs typeface="Times New Roman" pitchFamily="18" charset="0"/>
              </a:rPr>
              <a:t>A  DW  ? </a:t>
            </a:r>
          </a:p>
          <a:p>
            <a:pPr algn="just"/>
            <a:r>
              <a:rPr lang="bg-BG" sz="2100">
                <a:latin typeface="Times New Roman" pitchFamily="18" charset="0"/>
                <a:cs typeface="Times New Roman" pitchFamily="18" charset="0"/>
              </a:rPr>
              <a:t>Според тази директива асемблерът отделя в паметта за променливата А два байта без да променя тяхното съдържание.</a:t>
            </a:r>
          </a:p>
          <a:p>
            <a:pPr algn="just"/>
            <a:r>
              <a:rPr lang="bg-BG" sz="2100">
                <a:latin typeface="Times New Roman" pitchFamily="18" charset="0"/>
                <a:cs typeface="Times New Roman" pitchFamily="18" charset="0"/>
              </a:rPr>
              <a:t> = Операнд константа със стойност в интервала [-32768, 65535]</a:t>
            </a:r>
          </a:p>
          <a:p>
            <a:pPr algn="just"/>
            <a:r>
              <a:rPr lang="bg-BG" sz="2100" b="1">
                <a:latin typeface="Times New Roman" pitchFamily="18" charset="0"/>
                <a:cs typeface="Times New Roman" pitchFamily="18" charset="0"/>
              </a:rPr>
              <a:t>BB  DW  1234h </a:t>
            </a:r>
          </a:p>
          <a:p>
            <a:pPr algn="just"/>
            <a:r>
              <a:rPr lang="bg-BG" sz="2100" b="1">
                <a:latin typeface="Times New Roman" pitchFamily="18" charset="0"/>
                <a:cs typeface="Times New Roman" pitchFamily="18" charset="0"/>
              </a:rPr>
              <a:t>CC  DW  -8 </a:t>
            </a:r>
          </a:p>
          <a:p>
            <a:pPr algn="just"/>
            <a:r>
              <a:rPr lang="bg-BG" sz="2100">
                <a:latin typeface="Times New Roman" pitchFamily="18" charset="0"/>
                <a:cs typeface="Times New Roman" pitchFamily="18" charset="0"/>
              </a:rPr>
              <a:t>За променливите ВВ и СС се определят клетки с дължина по 2 байта и в тях се записва двоичният еквивалент</a:t>
            </a:r>
            <a:r>
              <a:rPr lang="en-US" sz="21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100">
                <a:latin typeface="Times New Roman" pitchFamily="18" charset="0"/>
                <a:cs typeface="Times New Roman" pitchFamily="18" charset="0"/>
              </a:rPr>
              <a:t>на декларираните начални стойности  в допълнителен код.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I.</a:t>
            </a:r>
            <a:r>
              <a:rPr lang="bg-BG" sz="4400" b="1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43050"/>
            <a:ext cx="9144000" cy="5072098"/>
          </a:xfrm>
        </p:spPr>
        <p:txBody>
          <a:bodyPr>
            <a:noAutofit/>
          </a:bodyPr>
          <a:lstStyle/>
          <a:p>
            <a:pPr algn="just"/>
            <a:r>
              <a:rPr lang="bg-BG" sz="2300" u="sng">
                <a:latin typeface="Times New Roman" pitchFamily="18" charset="0"/>
                <a:cs typeface="Times New Roman" pitchFamily="18" charset="0"/>
              </a:rPr>
              <a:t>2 Директива DW </a:t>
            </a:r>
          </a:p>
          <a:p>
            <a:r>
              <a:rPr lang="bg-BG" sz="2300">
                <a:latin typeface="Times New Roman" pitchFamily="18" charset="0"/>
                <a:cs typeface="Times New Roman" pitchFamily="18" charset="0"/>
              </a:rPr>
              <a:t>=Когато операндът е низ от един или два символа: </a:t>
            </a:r>
          </a:p>
          <a:p>
            <a:r>
              <a:rPr lang="bg-BG" sz="23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300" b="1">
                <a:latin typeface="Times New Roman" pitchFamily="18" charset="0"/>
                <a:cs typeface="Times New Roman" pitchFamily="18" charset="0"/>
              </a:rPr>
              <a:t>S1 DW “01” </a:t>
            </a:r>
          </a:p>
          <a:p>
            <a:r>
              <a:rPr lang="bg-BG" sz="2300" b="1">
                <a:latin typeface="Times New Roman" pitchFamily="18" charset="0"/>
                <a:cs typeface="Times New Roman" pitchFamily="18" charset="0"/>
              </a:rPr>
              <a:t> S2 DW “1” </a:t>
            </a:r>
          </a:p>
          <a:p>
            <a:pPr algn="just"/>
            <a:r>
              <a:rPr lang="bg-BG" sz="2300">
                <a:latin typeface="Times New Roman" pitchFamily="18" charset="0"/>
                <a:cs typeface="Times New Roman" pitchFamily="18" charset="0"/>
              </a:rPr>
              <a:t> то на променливата се присвоява конкатенираната от двата ASCII кода последователност (30h≡”0”, 31h≡”1” ; S1=3031h). След образуването на тази двубайтова последователност тя се записва в паметта според указания ред – с младшия байт напред. Когато в директивата е указан само един символ, той се допълва отляво с нула (S2=0031h). </a:t>
            </a:r>
          </a:p>
          <a:p>
            <a:pPr algn="just"/>
            <a:r>
              <a:rPr lang="bg-BG" sz="2300">
                <a:latin typeface="Times New Roman" pitchFamily="18" charset="0"/>
                <a:cs typeface="Times New Roman" pitchFamily="18" charset="0"/>
              </a:rPr>
              <a:t>Разместването на кодовете на байтовете при записване на символните низове в паметта може да доведе до объркване, ето защо декларирането на символни низове с тази директива се избягва. </a:t>
            </a:r>
          </a:p>
          <a:p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I.</a:t>
            </a:r>
            <a:r>
              <a:rPr lang="bg-BG" sz="4400" b="1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857364"/>
            <a:ext cx="8858312" cy="4857784"/>
          </a:xfrm>
        </p:spPr>
        <p:txBody>
          <a:bodyPr>
            <a:noAutofit/>
          </a:bodyPr>
          <a:lstStyle/>
          <a:p>
            <a:pPr algn="just"/>
            <a:r>
              <a:rPr lang="bg-BG" sz="2300" u="sng">
                <a:latin typeface="Times New Roman" pitchFamily="18" charset="0"/>
                <a:cs typeface="Times New Roman" pitchFamily="18" charset="0"/>
              </a:rPr>
              <a:t>2. Директива DW </a:t>
            </a:r>
          </a:p>
          <a:p>
            <a:pPr algn="just"/>
            <a:r>
              <a:rPr lang="bg-BG" sz="230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Операнд със стойност адрес</a:t>
            </a:r>
          </a:p>
          <a:p>
            <a:pPr algn="just"/>
            <a:r>
              <a:rPr lang="bg-BG" sz="2400">
                <a:latin typeface="Times New Roman" pitchFamily="18" charset="0"/>
                <a:cs typeface="Times New Roman" pitchFamily="18" charset="0"/>
              </a:rPr>
              <a:t>Като операнд в директивата DW може да се употреби израз, чиято стойност има смисъл на адрес на клетка в паметта. В повечето случаи това са имена на променливи или на етикети. Ето защо са възможниследните примери: </a:t>
            </a:r>
          </a:p>
          <a:p>
            <a:pPr algn="just"/>
            <a:r>
              <a:rPr lang="bg-BG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400" b="1">
                <a:latin typeface="Times New Roman" pitchFamily="18" charset="0"/>
                <a:cs typeface="Times New Roman" pitchFamily="18" charset="0"/>
              </a:rPr>
              <a:t>C DW ? </a:t>
            </a:r>
          </a:p>
          <a:p>
            <a:pPr algn="just"/>
            <a:r>
              <a:rPr lang="bg-BG" sz="2400" b="1">
                <a:latin typeface="Times New Roman" pitchFamily="18" charset="0"/>
                <a:cs typeface="Times New Roman" pitchFamily="18" charset="0"/>
              </a:rPr>
              <a:t> D DW C </a:t>
            </a:r>
          </a:p>
          <a:p>
            <a:pPr algn="just"/>
            <a:r>
              <a:rPr lang="bg-BG" sz="2400">
                <a:latin typeface="Times New Roman" pitchFamily="18" charset="0"/>
                <a:cs typeface="Times New Roman" pitchFamily="18" charset="0"/>
              </a:rPr>
              <a:t>С тези две директиви променливата D получава за стойност адреса на променливата С. </a:t>
            </a:r>
          </a:p>
          <a:p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I.</a:t>
            </a:r>
            <a:r>
              <a:rPr lang="bg-BG" sz="4400" b="1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928802"/>
            <a:ext cx="8858312" cy="4143404"/>
          </a:xfrm>
        </p:spPr>
        <p:txBody>
          <a:bodyPr>
            <a:noAutofit/>
          </a:bodyPr>
          <a:lstStyle/>
          <a:p>
            <a:pPr marL="0">
              <a:lnSpc>
                <a:spcPts val="3200"/>
              </a:lnSpc>
              <a:spcBef>
                <a:spcPts val="0"/>
              </a:spcBef>
            </a:pPr>
            <a:r>
              <a:rPr lang="bg-BG" sz="2400" u="sng">
                <a:latin typeface="Times New Roman" pitchFamily="18" charset="0"/>
                <a:cs typeface="Times New Roman" pitchFamily="18" charset="0"/>
              </a:rPr>
              <a:t>3. Директива DD </a:t>
            </a:r>
          </a:p>
          <a:p>
            <a:pPr marL="0" algn="just">
              <a:lnSpc>
                <a:spcPts val="3200"/>
              </a:lnSpc>
              <a:spcBef>
                <a:spcPts val="0"/>
              </a:spcBef>
            </a:pPr>
            <a:r>
              <a:rPr lang="bg-BG" sz="2400">
                <a:latin typeface="Times New Roman" pitchFamily="18" charset="0"/>
                <a:cs typeface="Times New Roman" pitchFamily="18" charset="0"/>
              </a:rPr>
              <a:t>С директивата DD (define double word) се описват променливи, за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които е необходим формат с двойна дума, т.е. 32 бита. Такива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променливи имат тип 4, който се означава със стандартната константа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DWORD, имаща стойност 4. </a:t>
            </a:r>
          </a:p>
          <a:p>
            <a:pPr marL="0" algn="just">
              <a:lnSpc>
                <a:spcPts val="3200"/>
              </a:lnSpc>
              <a:spcBef>
                <a:spcPts val="0"/>
              </a:spcBef>
            </a:pPr>
            <a:r>
              <a:rPr lang="bg-BG" sz="2400">
                <a:latin typeface="Times New Roman" pitchFamily="18" charset="0"/>
                <a:cs typeface="Times New Roman" pitchFamily="18" charset="0"/>
              </a:rPr>
              <a:t>= Операнд ? </a:t>
            </a:r>
          </a:p>
          <a:p>
            <a:pPr marL="0" algn="just">
              <a:lnSpc>
                <a:spcPts val="3200"/>
              </a:lnSpc>
              <a:spcBef>
                <a:spcPts val="0"/>
              </a:spcBef>
            </a:pPr>
            <a:r>
              <a:rPr lang="bg-BG" sz="2400" b="1">
                <a:latin typeface="Times New Roman" pitchFamily="18" charset="0"/>
                <a:cs typeface="Times New Roman" pitchFamily="18" charset="0"/>
              </a:rPr>
              <a:t>АА DD ? </a:t>
            </a:r>
          </a:p>
          <a:p>
            <a:pPr marL="0" algn="just">
              <a:lnSpc>
                <a:spcPts val="3200"/>
              </a:lnSpc>
              <a:spcBef>
                <a:spcPts val="0"/>
              </a:spcBef>
            </a:pPr>
            <a:r>
              <a:rPr lang="bg-BG" sz="2400">
                <a:latin typeface="Times New Roman" pitchFamily="18" charset="0"/>
                <a:cs typeface="Times New Roman" pitchFamily="18" charset="0"/>
              </a:rPr>
              <a:t>За стойностите на променливата АА директивата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заделя 4 байта в паметта, без да определя начална стойност. 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I.</a:t>
            </a:r>
            <a:r>
              <a:rPr lang="bg-BG" sz="4400" b="1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14488"/>
            <a:ext cx="5286380" cy="4214842"/>
          </a:xfrm>
        </p:spPr>
        <p:txBody>
          <a:bodyPr>
            <a:noAutofit/>
          </a:bodyPr>
          <a:lstStyle/>
          <a:p>
            <a:pPr marL="0">
              <a:lnSpc>
                <a:spcPts val="3200"/>
              </a:lnSpc>
              <a:spcBef>
                <a:spcPts val="0"/>
              </a:spcBef>
            </a:pPr>
            <a:r>
              <a:rPr lang="bg-BG" sz="2200" u="sng">
                <a:latin typeface="Times New Roman" pitchFamily="18" charset="0"/>
                <a:cs typeface="Times New Roman" pitchFamily="18" charset="0"/>
              </a:rPr>
              <a:t>3. Директива DD </a:t>
            </a:r>
          </a:p>
          <a:p>
            <a:pPr lvl="0" algn="just"/>
            <a:r>
              <a:rPr lang="en-US" sz="220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bg-BG" sz="2200">
                <a:latin typeface="Times New Roman" pitchFamily="18" charset="0"/>
                <a:cs typeface="Times New Roman" pitchFamily="18" charset="0"/>
              </a:rPr>
              <a:t>Операнд константа със стойност в интервала [-2³², 2³² -1]</a:t>
            </a:r>
          </a:p>
          <a:p>
            <a:pPr algn="just"/>
            <a:r>
              <a:rPr lang="bg-BG" sz="2200" b="1">
                <a:latin typeface="Times New Roman" pitchFamily="18" charset="0"/>
                <a:cs typeface="Times New Roman" pitchFamily="18" charset="0"/>
              </a:rPr>
              <a:t>BAC DD 123456h </a:t>
            </a:r>
          </a:p>
          <a:p>
            <a:pPr algn="just"/>
            <a:r>
              <a:rPr lang="bg-BG" sz="2200">
                <a:latin typeface="Times New Roman" pitchFamily="18" charset="0"/>
                <a:cs typeface="Times New Roman" pitchFamily="18" charset="0"/>
              </a:rPr>
              <a:t>За променливата ВАС се отделят 4 последователни байта в паметта. В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200">
                <a:latin typeface="Times New Roman" pitchFamily="18" charset="0"/>
                <a:cs typeface="Times New Roman" pitchFamily="18" charset="0"/>
              </a:rPr>
              <a:t>тях се записва като начална стойност двоичния еквивалент на указания16-чен операнд, 0000 0000 0001 0010 0011 0100 0101 0110 който се записва с младшите байтове напред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g-BG" sz="2200">
                <a:latin typeface="Times New Roman" pitchFamily="18" charset="0"/>
                <a:cs typeface="Times New Roman" pitchFamily="18" charset="0"/>
              </a:rPr>
              <a:t>Променливата ВАС заема 4 клетки в паметта, а нейното име се отъждествява с началния адрес m.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I.</a:t>
            </a:r>
            <a:r>
              <a:rPr lang="bg-BG" sz="4400" b="1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pic>
        <p:nvPicPr>
          <p:cNvPr id="12" name="Picture 11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57786" y="1857364"/>
            <a:ext cx="3786214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14488"/>
            <a:ext cx="8929718" cy="5000660"/>
          </a:xfrm>
        </p:spPr>
        <p:txBody>
          <a:bodyPr>
            <a:noAutofit/>
          </a:bodyPr>
          <a:lstStyle/>
          <a:p>
            <a:pPr marL="0">
              <a:lnSpc>
                <a:spcPts val="3200"/>
              </a:lnSpc>
              <a:spcBef>
                <a:spcPts val="0"/>
              </a:spcBef>
            </a:pPr>
            <a:r>
              <a:rPr lang="bg-BG" sz="2200" u="sng">
                <a:latin typeface="Times New Roman" pitchFamily="18" charset="0"/>
                <a:cs typeface="Times New Roman" pitchFamily="18" charset="0"/>
              </a:rPr>
              <a:t>3. Директива DD </a:t>
            </a:r>
          </a:p>
          <a:p>
            <a:r>
              <a:rPr lang="bg-BG" sz="2300">
                <a:latin typeface="Times New Roman" pitchFamily="18" charset="0"/>
                <a:cs typeface="Times New Roman" pitchFamily="18" charset="0"/>
              </a:rPr>
              <a:t>= Константен израз със стойност в интервала [-</a:t>
            </a:r>
            <a:r>
              <a:rPr lang="en-US" sz="2300">
                <a:latin typeface="Times New Roman" pitchFamily="18" charset="0"/>
                <a:cs typeface="Times New Roman" pitchFamily="18" charset="0"/>
              </a:rPr>
              <a:t>2¹⁵</a:t>
            </a:r>
            <a:r>
              <a:rPr lang="bg-BG" sz="230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300">
                <a:latin typeface="Times New Roman" pitchFamily="18" charset="0"/>
                <a:cs typeface="Times New Roman" pitchFamily="18" charset="0"/>
              </a:rPr>
              <a:t> 2¹⁶</a:t>
            </a:r>
            <a:r>
              <a:rPr lang="bg-BG" sz="2300">
                <a:latin typeface="Times New Roman" pitchFamily="18" charset="0"/>
                <a:cs typeface="Times New Roman" pitchFamily="18" charset="0"/>
              </a:rPr>
              <a:t> -1]</a:t>
            </a:r>
          </a:p>
          <a:p>
            <a:pPr algn="just"/>
            <a:r>
              <a:rPr lang="bg-BG" sz="2300">
                <a:latin typeface="Times New Roman" pitchFamily="18" charset="0"/>
                <a:cs typeface="Times New Roman" pitchFamily="18" charset="0"/>
              </a:rPr>
              <a:t>Тук максималната стойност е два пъти по-малка. Проблемът е в</a:t>
            </a:r>
            <a:r>
              <a:rPr lang="en-US" sz="23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300">
                <a:latin typeface="Times New Roman" pitchFamily="18" charset="0"/>
                <a:cs typeface="Times New Roman" pitchFamily="18" charset="0"/>
              </a:rPr>
              <a:t>това, че стойностите, които може да изчисли асемблерът са във</a:t>
            </a:r>
            <a:r>
              <a:rPr lang="en-US" sz="23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300">
                <a:latin typeface="Times New Roman" pitchFamily="18" charset="0"/>
                <a:cs typeface="Times New Roman" pitchFamily="18" charset="0"/>
              </a:rPr>
              <a:t>формàта на 16-битовата дължина, т.е. резултатите се вземат по модул</a:t>
            </a:r>
            <a:r>
              <a:rPr lang="en-US" sz="2300">
                <a:latin typeface="Times New Roman" pitchFamily="18" charset="0"/>
                <a:cs typeface="Times New Roman" pitchFamily="18" charset="0"/>
              </a:rPr>
              <a:t> 2¹</a:t>
            </a:r>
            <a:r>
              <a:rPr lang="en-US" sz="2300">
                <a:latin typeface="Constantia"/>
                <a:cs typeface="Times New Roman" pitchFamily="18" charset="0"/>
              </a:rPr>
              <a:t>⁶</a:t>
            </a:r>
            <a:r>
              <a:rPr lang="bg-BG" sz="2300">
                <a:latin typeface="Times New Roman" pitchFamily="18" charset="0"/>
                <a:cs typeface="Times New Roman" pitchFamily="18" charset="0"/>
              </a:rPr>
              <a:t> , (10000h). Ето защо да се разчита на по-дълги резултати не е</a:t>
            </a:r>
            <a:r>
              <a:rPr lang="en-US" sz="23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300">
                <a:latin typeface="Times New Roman" pitchFamily="18" charset="0"/>
                <a:cs typeface="Times New Roman" pitchFamily="18" charset="0"/>
              </a:rPr>
              <a:t>възможно. Единственото изключение е явното задаване в директивата</a:t>
            </a:r>
            <a:r>
              <a:rPr lang="en-US" sz="23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300">
                <a:latin typeface="Times New Roman" pitchFamily="18" charset="0"/>
                <a:cs typeface="Times New Roman" pitchFamily="18" charset="0"/>
              </a:rPr>
              <a:t>DD “голямо” число. Ако обаче бъде описана поне една операция, резултатът ще бъде орязан във формат 16 бита. Така например по</a:t>
            </a:r>
            <a:r>
              <a:rPr lang="en-US" sz="23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300">
                <a:latin typeface="Times New Roman" pitchFamily="18" charset="0"/>
                <a:cs typeface="Times New Roman" pitchFamily="18" charset="0"/>
              </a:rPr>
              <a:t>силата на директивата</a:t>
            </a:r>
          </a:p>
          <a:p>
            <a:r>
              <a:rPr lang="bg-BG" sz="23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b="1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bg-BG" sz="2300" b="1">
                <a:latin typeface="Times New Roman" pitchFamily="18" charset="0"/>
                <a:cs typeface="Times New Roman" pitchFamily="18" charset="0"/>
              </a:rPr>
              <a:t>X DD 8000h + 8002h </a:t>
            </a:r>
          </a:p>
          <a:p>
            <a:pPr algn="just"/>
            <a:r>
              <a:rPr lang="bg-BG" sz="2300">
                <a:latin typeface="Times New Roman" pitchFamily="18" charset="0"/>
                <a:cs typeface="Times New Roman" pitchFamily="18" charset="0"/>
              </a:rPr>
              <a:t>началната стойност на променливата Х ще бъде числото 2, а не</a:t>
            </a:r>
            <a:r>
              <a:rPr lang="en-US" sz="23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300">
                <a:latin typeface="Times New Roman" pitchFamily="18" charset="0"/>
                <a:cs typeface="Times New Roman" pitchFamily="18" charset="0"/>
              </a:rPr>
              <a:t>числото 10002h.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642918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I.</a:t>
            </a:r>
            <a:r>
              <a:rPr lang="bg-BG" sz="4400" b="1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х86 процесор.</a:t>
            </a: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71678"/>
            <a:ext cx="8929718" cy="4500594"/>
          </a:xfrm>
        </p:spPr>
        <p:txBody>
          <a:bodyPr>
            <a:noAutofit/>
          </a:bodyPr>
          <a:lstStyle/>
          <a:p>
            <a:r>
              <a:rPr lang="en-US" sz="2400" err="1">
                <a:latin typeface="Times New Roman" pitchFamily="18" charset="0"/>
                <a:cs typeface="Times New Roman" pitchFamily="18" charset="0"/>
              </a:rPr>
              <a:t>Асемблерът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на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ARM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поддържа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байтове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цели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числа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типове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с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плаваща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запетая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низове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Тези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директиви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използват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разпределяне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фиксирано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количество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пространство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паметта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желание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инициализиране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паметта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 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.byte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изрази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 -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Дефиниране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константа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с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дължина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байт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.byte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очаква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нула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или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повече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изрази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разделени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със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запетаи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Всеки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израз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събира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следващия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байт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Ако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дадени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изрази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тогава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броячът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адреси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е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напреднал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запазени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байтове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00034" y="571480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I.</a:t>
            </a:r>
            <a:r>
              <a:rPr lang="bg-BG" sz="4400" b="1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I.2.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928802"/>
            <a:ext cx="8715436" cy="4714908"/>
          </a:xfrm>
        </p:spPr>
        <p:txBody>
          <a:bodyPr>
            <a:noAutofit/>
          </a:bodyPr>
          <a:lstStyle/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hword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изрази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.short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изрази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Дефиниране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константа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с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дължина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байта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процесора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ARM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тези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две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директиви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правят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абсолютно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едно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също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нещо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очакват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нула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или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повече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изрази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разделени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със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запетаи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и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излъчват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16-битово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число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всеки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израз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err="1">
                <a:latin typeface="Times New Roman" pitchFamily="18" charset="0"/>
                <a:cs typeface="Times New Roman" pitchFamily="18" charset="0"/>
              </a:rPr>
              <a:t>Ако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дадени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изрази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тогава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броячът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адресите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е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напреднал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няма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байтове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I.</a:t>
            </a:r>
            <a:r>
              <a:rPr lang="bg-BG" sz="4400" b="1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I.2.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2000240"/>
            <a:ext cx="8715436" cy="4643470"/>
          </a:xfrm>
        </p:spPr>
        <p:txBody>
          <a:bodyPr>
            <a:noAutofit/>
          </a:bodyPr>
          <a:lstStyle/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. word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изрази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. long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изрази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Дефиниране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константа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с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дължина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4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байта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процесора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ARM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тези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две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директиви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правят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абсолютно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едно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също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нещо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очакват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нула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или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повече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изрази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разделени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със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запетаи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ще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излъчват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четири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байта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всеки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даден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израз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Ако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дадени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изрази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тогава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броячът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адреси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е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напреднал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запазени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байтове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pPr marL="0">
              <a:lnSpc>
                <a:spcPts val="3200"/>
              </a:lnSpc>
              <a:spcBef>
                <a:spcPts val="0"/>
              </a:spcBef>
            </a:pPr>
            <a:endParaRPr lang="bg-BG" sz="23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I.</a:t>
            </a:r>
            <a:r>
              <a:rPr lang="bg-BG" sz="4400" b="1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I.2.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643050"/>
            <a:ext cx="8715436" cy="5000660"/>
          </a:xfrm>
        </p:spPr>
        <p:txBody>
          <a:bodyPr>
            <a:noAutofit/>
          </a:bodyPr>
          <a:lstStyle/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ascii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"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низ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"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Директивата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.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ascii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очаква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нула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или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повече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низови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литерали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всеки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ограден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кавички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разделен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със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запетаи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Той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сглобява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всеки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низ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без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завършващ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ASCII NULL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знак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) в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последователни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адреси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asciz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"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низ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"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.string "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низ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"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Директивата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.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asciz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е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подобна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директивата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.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ascii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всеки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низ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е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последван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от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ASCII NULL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знак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нула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). „Z“ в .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asciz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означава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нула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 .string е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просто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друго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име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.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asciz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I.</a:t>
            </a:r>
            <a:r>
              <a:rPr lang="bg-BG" sz="4400" b="1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I.2.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643050"/>
            <a:ext cx="8715436" cy="5000660"/>
          </a:xfrm>
        </p:spPr>
        <p:txBody>
          <a:bodyPr>
            <a:noAutofit/>
          </a:bodyPr>
          <a:lstStyle/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.float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flonums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.single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flonums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Тази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директива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събира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нула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или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повече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числа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с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плаваща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запетая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разделени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със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запетаи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З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а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ARM,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4-байтови IEEE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стандартни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числа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с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единична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точност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 .float и .single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иноними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.double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flonums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Директивата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.double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очаква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нула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или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повече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числа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с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плаваща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запетая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разделени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със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запетаи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В ARM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съхраняват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като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8-байтови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стандартни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IEEE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числа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с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двойна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точност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I.</a:t>
            </a:r>
            <a:r>
              <a:rPr lang="bg-BG" sz="4400" b="1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I.2.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500174"/>
            <a:ext cx="8715436" cy="3143272"/>
          </a:xfrm>
        </p:spPr>
        <p:txBody>
          <a:bodyPr>
            <a:noAutofit/>
          </a:bodyPr>
          <a:lstStyle/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Обявяване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константа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Дава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символно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име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числова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константа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която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може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е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дефинирана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чрез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израз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. 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Примери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за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използване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директивата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„=“: </a:t>
            </a:r>
          </a:p>
          <a:p>
            <a:pPr algn="just"/>
            <a:r>
              <a:rPr lang="en-US" sz="2400" err="1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= 2 //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присвоява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стойността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символа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„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abc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“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>
                <a:latin typeface="Times New Roman" pitchFamily="18" charset="0"/>
                <a:cs typeface="Times New Roman" pitchFamily="18" charset="0"/>
              </a:rPr>
              <a:t>xyz = label+8 //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присвоява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адреса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(label+8)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символ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„xyz“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err="1">
                <a:latin typeface="Times New Roman" pitchFamily="18" charset="0"/>
                <a:cs typeface="Times New Roman" pitchFamily="18" charset="0"/>
              </a:rPr>
              <a:t>fiq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= 0x1C //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присвоява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абсолютния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адрес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0x1C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„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fiq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“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pPr marL="0">
              <a:lnSpc>
                <a:spcPts val="3200"/>
              </a:lnSpc>
              <a:spcBef>
                <a:spcPts val="0"/>
              </a:spcBef>
            </a:pPr>
            <a:endParaRPr lang="bg-BG" sz="23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I.</a:t>
            </a:r>
            <a:r>
              <a:rPr lang="bg-BG" sz="4400" b="1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I.2.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00232" y="4500571"/>
            <a:ext cx="5095875" cy="235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2285992"/>
            <a:ext cx="8715436" cy="3143272"/>
          </a:xfrm>
        </p:spPr>
        <p:txBody>
          <a:bodyPr>
            <a:noAutofit/>
          </a:bodyPr>
          <a:lstStyle/>
          <a:p>
            <a:r>
              <a:rPr lang="bg-BG" sz="2400">
                <a:latin typeface="Times New Roman" pitchFamily="18" charset="0"/>
                <a:cs typeface="Times New Roman" pitchFamily="18" charset="0"/>
              </a:rPr>
              <a:t>Числови формати</a:t>
            </a:r>
          </a:p>
          <a:p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2_</a:t>
            </a:r>
            <a:r>
              <a:rPr lang="en-US" sz="2400" i="1">
                <a:latin typeface="Times New Roman" pitchFamily="18" charset="0"/>
                <a:cs typeface="Times New Roman" pitchFamily="18" charset="0"/>
              </a:rPr>
              <a:t>nnn</a:t>
            </a:r>
            <a:r>
              <a:rPr lang="bg-BG" sz="24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Binary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Base 2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8_</a:t>
            </a:r>
            <a:r>
              <a:rPr lang="en-US" sz="2400" i="1">
                <a:latin typeface="Times New Roman" pitchFamily="18" charset="0"/>
                <a:cs typeface="Times New Roman" pitchFamily="18" charset="0"/>
              </a:rPr>
              <a:t>nnn</a:t>
            </a:r>
            <a:r>
              <a:rPr lang="bg-BG" sz="24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Octal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	 Base 8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i="1" err="1">
                <a:latin typeface="Times New Roman" pitchFamily="18" charset="0"/>
                <a:cs typeface="Times New Roman" pitchFamily="18" charset="0"/>
              </a:rPr>
              <a:t>nnn</a:t>
            </a:r>
            <a:r>
              <a:rPr lang="bg-BG" sz="24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Decimal    	 Base 10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0x</a:t>
            </a:r>
            <a:r>
              <a:rPr lang="en-US" sz="2400" i="1">
                <a:latin typeface="Times New Roman" pitchFamily="18" charset="0"/>
                <a:cs typeface="Times New Roman" pitchFamily="18" charset="0"/>
              </a:rPr>
              <a:t>nnn 	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Hexadecimal    Base 16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pPr marL="0">
              <a:lnSpc>
                <a:spcPts val="3200"/>
              </a:lnSpc>
              <a:spcBef>
                <a:spcPts val="0"/>
              </a:spcBef>
            </a:pPr>
            <a:endParaRPr lang="bg-BG" sz="23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1045342"/>
          </a:xfrm>
        </p:spPr>
        <p:txBody>
          <a:bodyPr>
            <a:normAutofit fontScale="90000"/>
          </a:bodyPr>
          <a:lstStyle/>
          <a:p>
            <a:r>
              <a:rPr lang="en-US" sz="360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I.</a:t>
            </a:r>
            <a:r>
              <a:rPr lang="bg-BG" sz="4400" b="1"/>
              <a:t>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Въвеждане на данни.</a:t>
            </a:r>
            <a:br>
              <a:rPr lang="en-US" sz="4400" b="1">
                <a:latin typeface="Times New Roman" pitchFamily="18" charset="0"/>
                <a:cs typeface="Times New Roman" pitchFamily="18" charset="0"/>
              </a:rPr>
            </a:br>
            <a:r>
              <a:rPr lang="en-US" sz="4400" b="1">
                <a:latin typeface="Times New Roman" pitchFamily="18" charset="0"/>
                <a:cs typeface="Times New Roman" pitchFamily="18" charset="0"/>
              </a:rPr>
              <a:t>I.2. 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4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400" b="1">
                <a:latin typeface="Times New Roman" pitchFamily="18" charset="0"/>
                <a:cs typeface="Times New Roman" pitchFamily="18" charset="0"/>
              </a:rPr>
              <a:t> процесор.</a:t>
            </a: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643050"/>
            <a:ext cx="8715436" cy="5000660"/>
          </a:xfrm>
        </p:spPr>
        <p:txBody>
          <a:bodyPr>
            <a:noAutofit/>
          </a:bodyPr>
          <a:lstStyle/>
          <a:p>
            <a:r>
              <a:rPr lang="bg-BG" sz="2500" b="1">
                <a:latin typeface="Times New Roman" pitchFamily="18" charset="0"/>
                <a:cs typeface="Times New Roman" pitchFamily="18" charset="0"/>
              </a:rPr>
              <a:t>Инструкция за прехвърляне MOV</a:t>
            </a:r>
          </a:p>
          <a:p>
            <a:r>
              <a:rPr lang="bg-BG" sz="2500">
                <a:latin typeface="Times New Roman" pitchFamily="18" charset="0"/>
                <a:cs typeface="Times New Roman" pitchFamily="18" charset="0"/>
              </a:rPr>
              <a:t>MOV op1, op2 ; op1 := op2</a:t>
            </a:r>
          </a:p>
          <a:p>
            <a:r>
              <a:rPr lang="bg-BG" sz="2500">
                <a:latin typeface="Times New Roman" pitchFamily="18" charset="0"/>
                <a:cs typeface="Times New Roman" pitchFamily="18" charset="0"/>
              </a:rPr>
              <a:t>Формàтите на двата операнда следва да съвпадат. Например:</a:t>
            </a:r>
          </a:p>
          <a:p>
            <a:r>
              <a:rPr lang="bg-BG" sz="2500">
                <a:latin typeface="Times New Roman" pitchFamily="18" charset="0"/>
                <a:cs typeface="Times New Roman" pitchFamily="18" charset="0"/>
              </a:rPr>
              <a:t>MOV DI, ES ; прехвърляне на дума</a:t>
            </a:r>
          </a:p>
          <a:p>
            <a:r>
              <a:rPr lang="bg-BG" sz="2500">
                <a:latin typeface="Times New Roman" pitchFamily="18" charset="0"/>
                <a:cs typeface="Times New Roman" pitchFamily="18" charset="0"/>
              </a:rPr>
              <a:t>MOV CH, X ; прехвърляне на байт</a:t>
            </a:r>
          </a:p>
          <a:p>
            <a:r>
              <a:rPr lang="bg-BG" sz="2500">
                <a:latin typeface="Times New Roman" pitchFamily="18" charset="0"/>
                <a:cs typeface="Times New Roman" pitchFamily="18" charset="0"/>
              </a:rPr>
              <a:t>MOV DX, AL ; грешка! Регистрите са с различен формат</a:t>
            </a:r>
          </a:p>
          <a:p>
            <a:r>
              <a:rPr lang="bg-BG" sz="2500">
                <a:latin typeface="Times New Roman" pitchFamily="18" charset="0"/>
                <a:cs typeface="Times New Roman" pitchFamily="18" charset="0"/>
              </a:rPr>
              <a:t>MOV BH, 300 ; грешка! Непосредственият операнд е голям</a:t>
            </a:r>
          </a:p>
          <a:p>
            <a:r>
              <a:rPr lang="bg-BG" sz="2500">
                <a:latin typeface="Times New Roman" pitchFamily="18" charset="0"/>
                <a:cs typeface="Times New Roman" pitchFamily="18" charset="0"/>
              </a:rPr>
              <a:t>При прехвърляне не е възможно удължаване или скъсяване на форматите на операндите.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1045342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. Прехвърляне на данни.</a:t>
            </a:r>
            <a:br>
              <a:rPr lang="bg-BG" sz="4000" b="1">
                <a:latin typeface="Times New Roman" pitchFamily="18" charset="0"/>
                <a:cs typeface="Times New Roman" pitchFamily="18" charset="0"/>
              </a:rPr>
            </a:br>
            <a:r>
              <a:rPr lang="bg-BG" sz="4000" b="1">
                <a:latin typeface="Times New Roman" pitchFamily="18" charset="0"/>
                <a:cs typeface="Times New Roman" pitchFamily="18" charset="0"/>
              </a:rPr>
              <a:t>II.1. x86</a:t>
            </a: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571612"/>
            <a:ext cx="8715436" cy="5000660"/>
          </a:xfrm>
        </p:spPr>
        <p:txBody>
          <a:bodyPr>
            <a:noAutofit/>
          </a:bodyPr>
          <a:lstStyle/>
          <a:p>
            <a:r>
              <a:rPr lang="bg-BG" sz="2400" b="1">
                <a:latin typeface="Times New Roman" pitchFamily="18" charset="0"/>
                <a:cs typeface="Times New Roman" pitchFamily="18" charset="0"/>
              </a:rPr>
              <a:t>Инструкция за размяна XCHG</a:t>
            </a:r>
          </a:p>
          <a:p>
            <a:r>
              <a:rPr lang="bg-BG" sz="2400">
                <a:latin typeface="Times New Roman" pitchFamily="18" charset="0"/>
                <a:cs typeface="Times New Roman" pitchFamily="18" charset="0"/>
              </a:rPr>
              <a:t>XCHG op1, op2 ; op1 := op2</a:t>
            </a:r>
          </a:p>
          <a:p>
            <a:r>
              <a:rPr lang="bg-BG" sz="2400">
                <a:latin typeface="Times New Roman" pitchFamily="18" charset="0"/>
                <a:cs typeface="Times New Roman" pitchFamily="18" charset="0"/>
              </a:rPr>
              <a:t>Тя разменя местоположението на два операнда, които са от един и същи тип (формàт). Тази команда не променя съдържанието на регистъра на признаците. </a:t>
            </a:r>
          </a:p>
          <a:p>
            <a:r>
              <a:rPr lang="bg-BG" sz="2400">
                <a:latin typeface="Times New Roman" pitchFamily="18" charset="0"/>
                <a:cs typeface="Times New Roman" pitchFamily="18" charset="0"/>
              </a:rPr>
              <a:t>MOV AX, 62 ; (AX)=62</a:t>
            </a:r>
          </a:p>
          <a:p>
            <a:r>
              <a:rPr lang="bg-BG" sz="2400">
                <a:latin typeface="Times New Roman" pitchFamily="18" charset="0"/>
                <a:cs typeface="Times New Roman" pitchFamily="18" charset="0"/>
              </a:rPr>
              <a:t>MOV SI, 135 ; (SI)=135</a:t>
            </a:r>
          </a:p>
          <a:p>
            <a:r>
              <a:rPr lang="bg-BG" sz="2400">
                <a:latin typeface="Times New Roman" pitchFamily="18" charset="0"/>
                <a:cs typeface="Times New Roman" pitchFamily="18" charset="0"/>
              </a:rPr>
              <a:t>XCHG AX, SI ; (AX)=135, (SI)=62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 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MOV AL, X ;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прехвърляне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Х в AL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XCHG AL, Y ;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размяна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съдържанието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AL и Y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MOV X, AL ;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прехвърляне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AL в X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1045342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. Прехвърляне на данни.</a:t>
            </a:r>
            <a:br>
              <a:rPr lang="bg-BG" sz="4000" b="1">
                <a:latin typeface="Times New Roman" pitchFamily="18" charset="0"/>
                <a:cs typeface="Times New Roman" pitchFamily="18" charset="0"/>
              </a:rPr>
            </a:br>
            <a:r>
              <a:rPr lang="bg-BG" sz="4000" b="1">
                <a:latin typeface="Times New Roman" pitchFamily="18" charset="0"/>
                <a:cs typeface="Times New Roman" pitchFamily="18" charset="0"/>
              </a:rPr>
              <a:t>II.1. x86</a:t>
            </a: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571612"/>
            <a:ext cx="8715436" cy="5000660"/>
          </a:xfrm>
        </p:spPr>
        <p:txBody>
          <a:bodyPr>
            <a:noAutofit/>
          </a:bodyPr>
          <a:lstStyle/>
          <a:p>
            <a:r>
              <a:rPr lang="ru-RU" sz="2400" b="1">
                <a:latin typeface="Times New Roman" pitchFamily="18" charset="0"/>
                <a:cs typeface="Times New Roman" pitchFamily="18" charset="0"/>
              </a:rPr>
              <a:t>Инструкции за преместване.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MOV </a:t>
            </a:r>
            <a:r>
              <a:rPr lang="en-US" sz="2400" err="1">
                <a:latin typeface="Times New Roman" pitchFamily="18" charset="0"/>
                <a:cs typeface="Times New Roman" pitchFamily="18" charset="0"/>
              </a:rPr>
              <a:t>Rd,N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>
                <a:latin typeface="Times New Roman" pitchFamily="18" charset="0"/>
                <a:cs typeface="Times New Roman" pitchFamily="18" charset="0"/>
              </a:rPr>
              <a:t>Т</a:t>
            </a:r>
            <a:r>
              <a:rPr lang="bg-BG" sz="2400">
                <a:latin typeface="Times New Roman" pitchFamily="18" charset="0"/>
                <a:cs typeface="Times New Roman" pitchFamily="18" charset="0"/>
              </a:rPr>
              <a:t>я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 копира N в дестинационен регистър Rd, където N е регистър или незабавна стойност. Тази инструкция е полезна за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задаване на начални стойности и прехвърляне на данни между регистрите.</a:t>
            </a:r>
          </a:p>
          <a:p>
            <a:r>
              <a:rPr lang="bg-BG" sz="2400" b="1">
                <a:latin typeface="Times New Roman" pitchFamily="18" charset="0"/>
                <a:cs typeface="Times New Roman" pitchFamily="18" charset="0"/>
              </a:rPr>
              <a:t>Инструкции за достъп до регистър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bg-BG" sz="2400">
                <a:latin typeface="Times New Roman" pitchFamily="18" charset="0"/>
                <a:cs typeface="Times New Roman" pitchFamily="18" charset="0"/>
              </a:rPr>
              <a:t>Инструкцията LDR (Load Register) може да зареди 32-битова дума от паметта в регистър. Докато инструкциите STR (Store Register) ще съхраняват 32-битова дума от регистър в паметта.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LDR R0, [R1] </a:t>
            </a:r>
          </a:p>
          <a:p>
            <a:r>
              <a:rPr lang="en-US" sz="2400">
                <a:latin typeface="Times New Roman" pitchFamily="18" charset="0"/>
                <a:cs typeface="Times New Roman" pitchFamily="18" charset="0"/>
              </a:rPr>
              <a:t>STR R0, [R1] </a:t>
            </a:r>
          </a:p>
          <a:p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29600" cy="1045342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. Прехвърляне на данни.</a:t>
            </a:r>
            <a:br>
              <a:rPr lang="bg-BG" sz="4000" b="1">
                <a:latin typeface="Times New Roman" pitchFamily="18" charset="0"/>
                <a:cs typeface="Times New Roman" pitchFamily="18" charset="0"/>
              </a:rPr>
            </a:br>
            <a:r>
              <a:rPr lang="bg-BG" sz="4000" b="1">
                <a:latin typeface="Times New Roman" pitchFamily="18" charset="0"/>
                <a:cs typeface="Times New Roman" pitchFamily="18" charset="0"/>
              </a:rPr>
              <a:t>II.1. 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ARM</a:t>
            </a:r>
            <a:endParaRPr lang="bg-BG" sz="40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571612"/>
            <a:ext cx="8715436" cy="5000660"/>
          </a:xfrm>
        </p:spPr>
        <p:txBody>
          <a:bodyPr>
            <a:noAutofit/>
          </a:bodyPr>
          <a:lstStyle/>
          <a:p>
            <a:r>
              <a:rPr lang="ru-RU" sz="2400">
                <a:latin typeface="Times New Roman" pitchFamily="18" charset="0"/>
                <a:cs typeface="Times New Roman" pitchFamily="18" charset="0"/>
              </a:rPr>
              <a:t>Разглеждаме следната задача: BX:=(BX)+(AL) . Задачата е да се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съберат две числа с различен формàт – дума с байт. Това ще стане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възможно, ако удължим по-късия формàт до по-дългия. Възможни са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два случая: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</a:rPr>
              <a:t>1. Ако числото е без знаково. Нека (AL)=5Fh.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</a:rPr>
              <a:t>В този случай отляво на числото се добавят незначещи нули. Това се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постига с команда: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</a:rPr>
              <a:t>MOV AH, 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</a:rPr>
              <a:t>Така съдържанието на АХ става (АХ)=005Fh. Тогава събирането се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</a:rPr>
              <a:t>осъществява с командата: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</a:rPr>
              <a:t>ADD BX, AX ; BX:=(BX)+(AL)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00034" y="500042"/>
            <a:ext cx="8229600" cy="1045342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Промяна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формата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число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000">
                <a:latin typeface="Times New Roman" pitchFamily="18" charset="0"/>
                <a:cs typeface="Times New Roman" pitchFamily="18" charset="0"/>
              </a:rPr>
            </a:br>
            <a:r>
              <a:rPr lang="bg-BG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x86</a:t>
            </a:r>
            <a:endParaRPr lang="bg-BG" sz="40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571612"/>
            <a:ext cx="8715436" cy="4786346"/>
          </a:xfrm>
        </p:spPr>
        <p:txBody>
          <a:bodyPr>
            <a:noAutofit/>
          </a:bodyPr>
          <a:lstStyle/>
          <a:p>
            <a:r>
              <a:rPr lang="ru-RU" sz="2500">
                <a:latin typeface="Times New Roman" pitchFamily="18" charset="0"/>
                <a:cs typeface="Times New Roman" pitchFamily="18" charset="0"/>
              </a:rPr>
              <a:t>2. Ако числото е със знак. Нека числото е отрицателно –5Fh.</a:t>
            </a:r>
            <a:br>
              <a:rPr lang="ru-RU" sz="2500">
                <a:latin typeface="Times New Roman" pitchFamily="18" charset="0"/>
                <a:cs typeface="Times New Roman" pitchFamily="18" charset="0"/>
              </a:rPr>
            </a:br>
            <a:r>
              <a:rPr lang="ru-RU" sz="2500">
                <a:latin typeface="Times New Roman" pitchFamily="18" charset="0"/>
                <a:cs typeface="Times New Roman" pitchFamily="18" charset="0"/>
              </a:rPr>
              <a:t>Тъй като тогава числото ще бъде в представено в допълнителен код:</a:t>
            </a:r>
            <a:br>
              <a:rPr lang="ru-RU" sz="2500">
                <a:latin typeface="Times New Roman" pitchFamily="18" charset="0"/>
                <a:cs typeface="Times New Roman" pitchFamily="18" charset="0"/>
              </a:rPr>
            </a:br>
            <a:r>
              <a:rPr lang="en-US" sz="250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ru-RU" sz="2500">
                <a:latin typeface="Times New Roman" pitchFamily="18" charset="0"/>
                <a:cs typeface="Times New Roman" pitchFamily="18" charset="0"/>
              </a:rPr>
              <a:t>[-5Fh]дк=00А1h,</a:t>
            </a:r>
            <a:br>
              <a:rPr lang="ru-RU" sz="2500">
                <a:latin typeface="Times New Roman" pitchFamily="18" charset="0"/>
                <a:cs typeface="Times New Roman" pitchFamily="18" charset="0"/>
              </a:rPr>
            </a:br>
            <a:r>
              <a:rPr lang="ru-RU" sz="2500">
                <a:latin typeface="Times New Roman" pitchFamily="18" charset="0"/>
                <a:cs typeface="Times New Roman" pitchFamily="18" charset="0"/>
              </a:rPr>
              <a:t>в регистър AL ще бъде заредено числото (AL)=0A1h. Знаковото</a:t>
            </a:r>
            <a:r>
              <a:rPr lang="en-US" sz="25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500">
                <a:latin typeface="Times New Roman" pitchFamily="18" charset="0"/>
                <a:cs typeface="Times New Roman" pitchFamily="18" charset="0"/>
              </a:rPr>
              <a:t>разширение на това отрицателно число ще бъде с незначещи единици</a:t>
            </a:r>
            <a:r>
              <a:rPr lang="en-US" sz="25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500">
                <a:latin typeface="Times New Roman" pitchFamily="18" charset="0"/>
                <a:cs typeface="Times New Roman" pitchFamily="18" charset="0"/>
              </a:rPr>
              <a:t>FF, което може да се постигне с командата:</a:t>
            </a:r>
            <a:br>
              <a:rPr lang="ru-RU" sz="2500">
                <a:latin typeface="Times New Roman" pitchFamily="18" charset="0"/>
                <a:cs typeface="Times New Roman" pitchFamily="18" charset="0"/>
              </a:rPr>
            </a:br>
            <a:r>
              <a:rPr lang="ru-RU" sz="2500">
                <a:latin typeface="Times New Roman" pitchFamily="18" charset="0"/>
                <a:cs typeface="Times New Roman" pitchFamily="18" charset="0"/>
              </a:rPr>
              <a:t>MOV AH, 0FFh</a:t>
            </a:r>
            <a:br>
              <a:rPr lang="ru-RU" sz="2500">
                <a:latin typeface="Times New Roman" pitchFamily="18" charset="0"/>
                <a:cs typeface="Times New Roman" pitchFamily="18" charset="0"/>
              </a:rPr>
            </a:br>
            <a:r>
              <a:rPr lang="ru-RU" sz="2500">
                <a:latin typeface="Times New Roman" pitchFamily="18" charset="0"/>
                <a:cs typeface="Times New Roman" pitchFamily="18" charset="0"/>
              </a:rPr>
              <a:t>Така съдържанието на регистър АХ става (АХ)=0FFA1h. Необходимата</a:t>
            </a:r>
            <a:r>
              <a:rPr lang="en-US" sz="25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500">
                <a:latin typeface="Times New Roman" pitchFamily="18" charset="0"/>
                <a:cs typeface="Times New Roman" pitchFamily="18" charset="0"/>
              </a:rPr>
              <a:t>сума може да се получи аналогично:</a:t>
            </a:r>
            <a:br>
              <a:rPr lang="ru-RU" sz="2500">
                <a:latin typeface="Times New Roman" pitchFamily="18" charset="0"/>
                <a:cs typeface="Times New Roman" pitchFamily="18" charset="0"/>
              </a:rPr>
            </a:br>
            <a:r>
              <a:rPr lang="ru-RU" sz="2500">
                <a:latin typeface="Times New Roman" pitchFamily="18" charset="0"/>
                <a:cs typeface="Times New Roman" pitchFamily="18" charset="0"/>
              </a:rPr>
              <a:t>ADD BX, AX ; BX:=(BX)+(AL)</a:t>
            </a:r>
            <a:endParaRPr lang="bg-BG" sz="25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00034" y="500042"/>
            <a:ext cx="8229600" cy="1045342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Промяна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формата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число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000">
                <a:latin typeface="Times New Roman" pitchFamily="18" charset="0"/>
                <a:cs typeface="Times New Roman" pitchFamily="18" charset="0"/>
              </a:rPr>
            </a:br>
            <a:r>
              <a:rPr lang="bg-BG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x86</a:t>
            </a:r>
            <a:endParaRPr lang="bg-BG" sz="40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571612"/>
            <a:ext cx="8715436" cy="2928958"/>
          </a:xfrm>
        </p:spPr>
        <p:txBody>
          <a:bodyPr>
            <a:noAutofit/>
          </a:bodyPr>
          <a:lstStyle/>
          <a:p>
            <a:r>
              <a:rPr lang="ru-RU" sz="2500">
                <a:latin typeface="Times New Roman" pitchFamily="18" charset="0"/>
                <a:cs typeface="Times New Roman" pitchFamily="18" charset="0"/>
              </a:rPr>
              <a:t>За да се улесни знаковото разширение на целите числа от по-късия</a:t>
            </a:r>
            <a:r>
              <a:rPr lang="en-US" sz="25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500">
                <a:latin typeface="Times New Roman" pitchFamily="18" charset="0"/>
                <a:cs typeface="Times New Roman" pitchFamily="18" charset="0"/>
              </a:rPr>
              <a:t>към по-дългия формат е създадена специална команда:</a:t>
            </a:r>
            <a:br>
              <a:rPr lang="ru-RU" sz="2500">
                <a:latin typeface="Times New Roman" pitchFamily="18" charset="0"/>
                <a:cs typeface="Times New Roman" pitchFamily="18" charset="0"/>
              </a:rPr>
            </a:br>
            <a:r>
              <a:rPr lang="ru-RU" sz="2500">
                <a:latin typeface="Times New Roman" pitchFamily="18" charset="0"/>
                <a:cs typeface="Times New Roman" pitchFamily="18" charset="0"/>
              </a:rPr>
              <a:t>CBW (</a:t>
            </a:r>
            <a:r>
              <a:rPr lang="ru-RU" sz="2500" i="1">
                <a:latin typeface="Times New Roman" pitchFamily="18" charset="0"/>
                <a:cs typeface="Times New Roman" pitchFamily="18" charset="0"/>
              </a:rPr>
              <a:t>Convert Byte to Word</a:t>
            </a:r>
            <a:r>
              <a:rPr lang="ru-RU" sz="2500">
                <a:latin typeface="Times New Roman" pitchFamily="18" charset="0"/>
                <a:cs typeface="Times New Roman" pitchFamily="18" charset="0"/>
              </a:rPr>
              <a:t>)</a:t>
            </a:r>
            <a:br>
              <a:rPr lang="ru-RU" sz="2500">
                <a:latin typeface="Times New Roman" pitchFamily="18" charset="0"/>
                <a:cs typeface="Times New Roman" pitchFamily="18" charset="0"/>
              </a:rPr>
            </a:br>
            <a:r>
              <a:rPr lang="ru-RU" sz="2500">
                <a:latin typeface="Times New Roman" pitchFamily="18" charset="0"/>
                <a:cs typeface="Times New Roman" pitchFamily="18" charset="0"/>
              </a:rPr>
              <a:t>Местоположението на операнда на тази команда е фиксирано и той</a:t>
            </a:r>
            <a:r>
              <a:rPr lang="en-US" sz="25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500">
                <a:latin typeface="Times New Roman" pitchFamily="18" charset="0"/>
                <a:cs typeface="Times New Roman" pitchFamily="18" charset="0"/>
              </a:rPr>
              <a:t>задължително трябва да се намира в регистър AL. Резултатът винаги се</a:t>
            </a:r>
            <a:r>
              <a:rPr lang="en-US" sz="25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500">
                <a:latin typeface="Times New Roman" pitchFamily="18" charset="0"/>
                <a:cs typeface="Times New Roman" pitchFamily="18" charset="0"/>
              </a:rPr>
              <a:t>получава в регистър АХ. Действието на командата може да изразим</a:t>
            </a:r>
            <a:r>
              <a:rPr lang="en-US" sz="25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500">
                <a:latin typeface="Times New Roman" pitchFamily="18" charset="0"/>
                <a:cs typeface="Times New Roman" pitchFamily="18" charset="0"/>
              </a:rPr>
              <a:t>така:</a:t>
            </a:r>
            <a:endParaRPr lang="bg-BG" sz="25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00034" y="500042"/>
            <a:ext cx="8229600" cy="1045342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Промяна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формата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число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000">
                <a:latin typeface="Times New Roman" pitchFamily="18" charset="0"/>
                <a:cs typeface="Times New Roman" pitchFamily="18" charset="0"/>
              </a:rPr>
            </a:br>
            <a:r>
              <a:rPr lang="bg-BG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x86</a:t>
            </a:r>
            <a:endParaRPr lang="bg-BG" sz="40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14546" y="4857760"/>
            <a:ext cx="4429125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571612"/>
            <a:ext cx="8715436" cy="3714776"/>
          </a:xfrm>
        </p:spPr>
        <p:txBody>
          <a:bodyPr>
            <a:noAutofit/>
          </a:bodyPr>
          <a:lstStyle/>
          <a:p>
            <a:r>
              <a:rPr lang="ru-RU" sz="2400">
                <a:latin typeface="Times New Roman" pitchFamily="18" charset="0"/>
                <a:cs typeface="Times New Roman" pitchFamily="18" charset="0"/>
              </a:rPr>
              <a:t>Тази команда не променя флаговете.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</a:rPr>
              <a:t>Примери: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</a:rPr>
              <a:t>MOV AL, 32 ; (AL)=32=20h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</a:rPr>
              <a:t>CBW ; (AX)=0020h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</a:rPr>
              <a:t>MOV AL, -32 ; (AL)=-32=0E0h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</a:rPr>
              <a:t>CBW ; (AX)=0FFE0h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</a:rPr>
              <a:t>Сега да припомним задачата: BX:=(BX)+(AL). В зависимост как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програмистът интерпретира съдържанието на разрядната мрежа, са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възможни два варианта: за знакови и за без знакови числа: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br>
              <a:rPr lang="ru-RU" sz="2300">
                <a:latin typeface="Times New Roman" pitchFamily="18" charset="0"/>
                <a:cs typeface="Times New Roman" pitchFamily="18" charset="0"/>
              </a:rPr>
            </a:br>
            <a:endParaRPr lang="bg-BG" sz="23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00034" y="500042"/>
            <a:ext cx="8229600" cy="1045342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Промяна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формата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число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000">
                <a:latin typeface="Times New Roman" pitchFamily="18" charset="0"/>
                <a:cs typeface="Times New Roman" pitchFamily="18" charset="0"/>
              </a:rPr>
            </a:br>
            <a:r>
              <a:rPr lang="bg-BG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x86</a:t>
            </a:r>
            <a:endParaRPr lang="bg-BG" sz="40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5272387"/>
            <a:ext cx="84201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571612"/>
            <a:ext cx="8715436" cy="3000396"/>
          </a:xfrm>
        </p:spPr>
        <p:txBody>
          <a:bodyPr>
            <a:noAutofit/>
          </a:bodyPr>
          <a:lstStyle/>
          <a:p>
            <a:r>
              <a:rPr lang="ru-RU" sz="2400">
                <a:latin typeface="Times New Roman" pitchFamily="18" charset="0"/>
                <a:cs typeface="Times New Roman" pitchFamily="18" charset="0"/>
              </a:rPr>
              <a:t>Необходимостта от удължаване на формàта възниква преди всичко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при операция деление, за която делимото следва да е от тип дума.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</a:rPr>
              <a:t>Аналогично се налага удължаване на формàта от дума до двойна дума.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r>
              <a:rPr lang="ru-RU" sz="2400">
                <a:latin typeface="Times New Roman" pitchFamily="18" charset="0"/>
                <a:cs typeface="Times New Roman" pitchFamily="18" charset="0"/>
              </a:rPr>
              <a:t>За да не се прави това последователно байт след байт, е създадена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командата CWD (</a:t>
            </a:r>
            <a:r>
              <a:rPr lang="ru-RU" sz="2400" i="1">
                <a:latin typeface="Times New Roman" pitchFamily="18" charset="0"/>
                <a:cs typeface="Times New Roman" pitchFamily="18" charset="0"/>
              </a:rPr>
              <a:t>Convert Word to Double word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), чието действие се</a:t>
            </a:r>
            <a:r>
              <a:rPr lang="en-US" sz="24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>
                <a:latin typeface="Times New Roman" pitchFamily="18" charset="0"/>
                <a:cs typeface="Times New Roman" pitchFamily="18" charset="0"/>
              </a:rPr>
              <a:t>представя както следва:</a:t>
            </a: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br>
              <a:rPr lang="ru-RU" sz="2400">
                <a:latin typeface="Times New Roman" pitchFamily="18" charset="0"/>
                <a:cs typeface="Times New Roman" pitchFamily="18" charset="0"/>
              </a:rPr>
            </a:br>
            <a:endParaRPr lang="bg-BG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00034" y="500042"/>
            <a:ext cx="8229600" cy="1045342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II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Промяна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формата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на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число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4000">
                <a:latin typeface="Times New Roman" pitchFamily="18" charset="0"/>
                <a:cs typeface="Times New Roman" pitchFamily="18" charset="0"/>
              </a:rPr>
            </a:br>
            <a:r>
              <a:rPr lang="bg-BG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I.1. 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x86</a:t>
            </a:r>
            <a:endParaRPr lang="bg-BG" sz="40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bg-BG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0"/>
            <a:ext cx="219075" cy="190500"/>
          </a:xfrm>
          <a:prstGeom prst="rect">
            <a:avLst/>
          </a:prstGeom>
          <a:noFill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00232" y="5000636"/>
            <a:ext cx="5072098" cy="1054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50453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IV.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Аритметични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инструкции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4000" b="1">
                <a:latin typeface="Times New Roman" pitchFamily="18" charset="0"/>
                <a:cs typeface="Times New Roman" pitchFamily="18" charset="0"/>
              </a:rPr>
            </a:br>
            <a:r>
              <a:rPr lang="en-US" sz="4000" b="1">
                <a:latin typeface="Times New Roman" pitchFamily="18" charset="0"/>
                <a:cs typeface="Times New Roman" pitchFamily="18" charset="0"/>
              </a:rPr>
              <a:t>IV.1.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За х86.</a:t>
            </a:r>
            <a:endParaRPr lang="bg-BG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857784"/>
          </a:xfrm>
        </p:spPr>
        <p:txBody>
          <a:bodyPr>
            <a:normAutofit/>
          </a:bodyPr>
          <a:lstStyle/>
          <a:p>
            <a:pPr marL="339090" algn="just">
              <a:spcBef>
                <a:spcPts val="10"/>
              </a:spcBef>
              <a:spcAft>
                <a:spcPts val="0"/>
              </a:spcAft>
            </a:pPr>
            <a:r>
              <a:rPr lang="bg-BG" sz="2100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Инструкции за събиране и изваждане</a:t>
            </a:r>
            <a:r>
              <a:rPr lang="en-US" sz="2100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endParaRPr lang="bg-BG" sz="2100" b="1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pPr marL="339090" algn="just">
              <a:spcBef>
                <a:spcPts val="10"/>
              </a:spcBef>
              <a:spcAft>
                <a:spcPts val="0"/>
              </a:spcAft>
            </a:pPr>
            <a:r>
              <a:rPr lang="en-US" sz="2100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ADD</a:t>
            </a:r>
            <a:r>
              <a:rPr lang="bg-BG" sz="2100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&lt;операнд1&gt;, &lt;операнд2&gt;</a:t>
            </a:r>
            <a:endParaRPr lang="en-US" sz="2100" b="1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pPr marL="339090" algn="just">
              <a:spcBef>
                <a:spcPts val="10"/>
              </a:spcBef>
              <a:spcAft>
                <a:spcPts val="0"/>
              </a:spcAft>
            </a:pPr>
            <a:r>
              <a:rPr lang="bg-BG" sz="2100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100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SUB &lt;операнд1&gt;, &lt;операнд2&gt; </a:t>
            </a:r>
            <a:endParaRPr lang="bg-BG" sz="2100" b="1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 ADD добавя операндите и записва тяхната сума на мястото на първия операнд.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 SUB изважда втория от първия операнд и записва получената разлика на мястото на първия операнд. 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Операндите трябва да са с еднакъв размер. Ако първият операнд е регистър, тогава вторият също може да бъде регистър, място в паметта и непосредствен операнд. Ако първият операнд е място в паметта, тогава вторият операнд може да бъде регистър или непосредствен операнд. Възможно е да събирате и изваждате както числа със знак, така и числа без знак.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Командите променят флаговете AF, OF, PF, SF и ZF.</a:t>
            </a:r>
          </a:p>
          <a:p>
            <a:pPr marL="339090" algn="just">
              <a:spcBef>
                <a:spcPts val="10"/>
              </a:spcBef>
              <a:spcAft>
                <a:spcPts val="0"/>
              </a:spcAft>
            </a:pPr>
            <a:endParaRPr lang="bg-BG" b="1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pPr marL="339090" algn="just">
              <a:spcBef>
                <a:spcPts val="10"/>
              </a:spcBef>
              <a:spcAft>
                <a:spcPts val="0"/>
              </a:spcAft>
            </a:pPr>
            <a:endParaRPr lang="bg-BG" b="1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endParaRPr lang="bg-BG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IV.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Аритметични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команди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4000" b="1">
                <a:latin typeface="Times New Roman" pitchFamily="18" charset="0"/>
                <a:cs typeface="Times New Roman" pitchFamily="18" charset="0"/>
              </a:rPr>
            </a:br>
            <a:r>
              <a:rPr lang="en-US" sz="4000" b="1">
                <a:latin typeface="Times New Roman" pitchFamily="18" charset="0"/>
                <a:cs typeface="Times New Roman" pitchFamily="18" charset="0"/>
              </a:rPr>
              <a:t>IV.1.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За х86.</a:t>
            </a:r>
            <a:endParaRPr lang="bg-BG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857784"/>
          </a:xfrm>
        </p:spPr>
        <p:txBody>
          <a:bodyPr>
            <a:normAutofit fontScale="85000" lnSpcReduction="20000"/>
          </a:bodyPr>
          <a:lstStyle/>
          <a:p>
            <a:r>
              <a:rPr lang="bg-BG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за промяна на знака:</a:t>
            </a:r>
          </a:p>
          <a:p>
            <a:pPr algn="just"/>
            <a:r>
              <a:rPr lang="bg-BG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NEG &lt;операнд&gt;</a:t>
            </a:r>
          </a:p>
          <a:p>
            <a:r>
              <a:rPr lang="bg-BG" sz="2400"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Операндът може да бъде регистър или място в паметта с произволен размер. Инструкцията NEG разглежда операнда като число със знак и обръща знака на операнда. Командата променя флаговете AF, CF, OF, PF, SF и ZF.</a:t>
            </a:r>
          </a:p>
          <a:p>
            <a:endParaRPr lang="bg-BG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g-BG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за увеличаване на операнд с 1. </a:t>
            </a: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INC &lt;</a:t>
            </a:r>
            <a:r>
              <a:rPr lang="bg-BG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операнд&gt;</a:t>
            </a:r>
          </a:p>
          <a:p>
            <a:pPr algn="just"/>
            <a:r>
              <a:rPr lang="bg-BG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за намаляване на операнд с 1.</a:t>
            </a: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DEC &lt;</a:t>
            </a:r>
            <a:r>
              <a:rPr lang="bg-BG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операнд&gt;</a:t>
            </a:r>
          </a:p>
          <a:p>
            <a:pPr algn="just"/>
            <a:r>
              <a:rPr lang="bg-BG" sz="2400"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Операндът може да е регистър или място в паметта с произволен размер. </a:t>
            </a:r>
          </a:p>
          <a:p>
            <a:pPr algn="just"/>
            <a:r>
              <a:rPr lang="bg-BG" sz="240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Командите променят флаговете 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AF, OF, PF, SF и ZF. </a:t>
            </a:r>
          </a:p>
          <a:p>
            <a:pPr algn="just"/>
            <a:r>
              <a:rPr lang="bg-BG" sz="24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Инструкциите за увеличаване и намаляване са резултатни, понеже заемат по-малко място от съответните инструкции за събиране и изваждане</a:t>
            </a:r>
            <a:r>
              <a:rPr lang="ru-RU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1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bg-BG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39090" algn="just">
              <a:spcBef>
                <a:spcPts val="10"/>
              </a:spcBef>
              <a:spcAft>
                <a:spcPts val="0"/>
              </a:spcAft>
            </a:pPr>
            <a:endParaRPr lang="bg-BG" b="1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pPr marL="339090" algn="just">
              <a:spcBef>
                <a:spcPts val="10"/>
              </a:spcBef>
              <a:spcAft>
                <a:spcPts val="0"/>
              </a:spcAft>
            </a:pPr>
            <a:endParaRPr lang="bg-BG" b="1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endParaRPr lang="bg-BG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IV.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Аритметични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команди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4000" b="1">
                <a:latin typeface="Times New Roman" pitchFamily="18" charset="0"/>
                <a:cs typeface="Times New Roman" pitchFamily="18" charset="0"/>
              </a:rPr>
            </a:br>
            <a:r>
              <a:rPr lang="en-US" sz="4000" b="1">
                <a:latin typeface="Times New Roman" pitchFamily="18" charset="0"/>
                <a:cs typeface="Times New Roman" pitchFamily="18" charset="0"/>
              </a:rPr>
              <a:t>IV.1.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За х86.</a:t>
            </a:r>
            <a:endParaRPr lang="bg-BG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785926"/>
            <a:ext cx="8543956" cy="4857784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bg-BG" b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за умножение</a:t>
            </a:r>
            <a:endParaRPr lang="bg-B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bg-BG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 за умножение със знак е с няколко няколко варианта. </a:t>
            </a:r>
          </a:p>
          <a:p>
            <a:pPr algn="just"/>
            <a:r>
              <a:rPr lang="bg-BG" b="1">
                <a:latin typeface="Times New Roman" panose="02020603050405020304" pitchFamily="18" charset="0"/>
                <a:cs typeface="Times New Roman" panose="02020603050405020304" pitchFamily="18" charset="0"/>
              </a:rPr>
              <a:t>IMUL &lt;операнд&gt;</a:t>
            </a:r>
          </a:p>
          <a:p>
            <a:pPr marL="112713" indent="344488" algn="just">
              <a:buFont typeface="Courier New" panose="02070309020205020404" pitchFamily="49" charset="0"/>
              <a:buChar char="o"/>
            </a:pPr>
            <a:r>
              <a:rPr lang="bg-BG">
                <a:latin typeface="Times New Roman" panose="02020603050405020304" pitchFamily="18" charset="0"/>
                <a:cs typeface="Times New Roman" panose="02020603050405020304" pitchFamily="18" charset="0"/>
              </a:rPr>
              <a:t>Първият на командата MUL - един от факторите е посочен в командата, вторият трябва да бъде в регистъра EAX/AX/AL, а резултатът се поставя в регистрите EDX:EAX/DX:AX/AX.</a:t>
            </a:r>
          </a:p>
          <a:p>
            <a:pPr algn="just"/>
            <a:r>
              <a:rPr lang="bg-BG" b="1">
                <a:latin typeface="Times New Roman" panose="02020603050405020304" pitchFamily="18" charset="0"/>
                <a:cs typeface="Times New Roman" panose="02020603050405020304" pitchFamily="18" charset="0"/>
              </a:rPr>
              <a:t>IMUL &lt;операнд1&gt;, &lt;операнд2&gt;</a:t>
            </a:r>
          </a:p>
          <a:p>
            <a:pPr marL="112713" indent="344488" algn="just">
              <a:buFont typeface="Courier New" panose="02070309020205020404" pitchFamily="49" charset="0"/>
              <a:buChar char="o"/>
            </a:pPr>
            <a:r>
              <a:rPr lang="bg-BG">
                <a:latin typeface="Times New Roman" panose="02020603050405020304" pitchFamily="18" charset="0"/>
                <a:cs typeface="Times New Roman" panose="02020603050405020304" pitchFamily="18" charset="0"/>
              </a:rPr>
              <a:t>Втората версия на командата IMUL ви позволява да посочите регистър, който ще съдържа един от факторите. Резултатът ще бъде поставен в същия регистър. Вторият фактор е посочен директно в командата.</a:t>
            </a:r>
          </a:p>
          <a:p>
            <a:pPr marL="339090" algn="just">
              <a:spcBef>
                <a:spcPts val="10"/>
              </a:spcBef>
              <a:spcAft>
                <a:spcPts val="0"/>
              </a:spcAft>
            </a:pPr>
            <a:endParaRPr lang="bg-BG" b="1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endParaRPr lang="bg-BG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IV.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Аритметични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команди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4000" b="1">
                <a:latin typeface="Times New Roman" pitchFamily="18" charset="0"/>
                <a:cs typeface="Times New Roman" pitchFamily="18" charset="0"/>
              </a:rPr>
            </a:br>
            <a:r>
              <a:rPr lang="en-US" sz="4000" b="1">
                <a:latin typeface="Times New Roman" pitchFamily="18" charset="0"/>
                <a:cs typeface="Times New Roman" pitchFamily="18" charset="0"/>
              </a:rPr>
              <a:t>IV.1.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За х86.</a:t>
            </a:r>
            <a:endParaRPr lang="bg-BG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85778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bg-BG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за умножение</a:t>
            </a:r>
            <a:endParaRPr lang="bg-BG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bg-BG" sz="2700">
                <a:latin typeface="Times New Roman" panose="02020603050405020304" pitchFamily="18" charset="0"/>
                <a:cs typeface="Times New Roman" panose="02020603050405020304" pitchFamily="18" charset="0"/>
              </a:rPr>
              <a:t>За умножение на числа без знак  се използва инструкцията MUL: </a:t>
            </a:r>
          </a:p>
          <a:p>
            <a:pPr algn="just"/>
            <a:r>
              <a:rPr lang="bg-BG" sz="2700" b="1">
                <a:latin typeface="Times New Roman" panose="02020603050405020304" pitchFamily="18" charset="0"/>
                <a:cs typeface="Times New Roman" panose="02020603050405020304" pitchFamily="18" charset="0"/>
              </a:rPr>
              <a:t>MUL &lt;операнд</a:t>
            </a:r>
            <a:r>
              <a:rPr lang="bg-BG" sz="270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pPr algn="just"/>
            <a:r>
              <a:rPr lang="bg-BG" sz="2700">
                <a:latin typeface="Times New Roman" panose="02020603050405020304" pitchFamily="18" charset="0"/>
                <a:cs typeface="Times New Roman" panose="02020603050405020304" pitchFamily="18" charset="0"/>
              </a:rPr>
              <a:t>Операндът, посочен в командата, може да е регистър или място в паметта, но не може да бъде непосредствен операнд.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bg-BG" sz="2700">
                <a:latin typeface="Times New Roman" panose="02020603050405020304" pitchFamily="18" charset="0"/>
                <a:cs typeface="Times New Roman" panose="02020603050405020304" pitchFamily="18" charset="0"/>
              </a:rPr>
              <a:t>=Ако операндът на инструкцията MUL е с размер 1 байт, тогава вторият фактор се взема от регистъра AL и резултатът се поставя в регистъра AX.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bg-BG" sz="2700">
                <a:latin typeface="Times New Roman" panose="02020603050405020304" pitchFamily="18" charset="0"/>
                <a:cs typeface="Times New Roman" panose="02020603050405020304" pitchFamily="18" charset="0"/>
              </a:rPr>
              <a:t>=Ако операндът на инструкцията MUL е с размер 2 байта, тогава вторият фактор се взема от регистъра AX и резултатът се поставя в двойката регистри DX:AX.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bg-BG" sz="2700">
                <a:latin typeface="Times New Roman" panose="02020603050405020304" pitchFamily="18" charset="0"/>
                <a:cs typeface="Times New Roman" panose="02020603050405020304" pitchFamily="18" charset="0"/>
              </a:rPr>
              <a:t>=Ако операндът на инструкцията MUL е с размер 4 байта, тогава вторият фактор се взема от регистъра EAX и резултатът се поставя в двойката регистри EDX:EAX.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bg-BG" sz="2700">
                <a:latin typeface="Times New Roman" panose="02020603050405020304" pitchFamily="18" charset="0"/>
                <a:cs typeface="Times New Roman" panose="02020603050405020304" pitchFamily="18" charset="0"/>
              </a:rPr>
              <a:t>Командата променя флаговете CF и OF. </a:t>
            </a:r>
            <a:endParaRPr lang="bg-BG" b="1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pPr marL="339090" algn="just">
              <a:spcBef>
                <a:spcPts val="10"/>
              </a:spcBef>
              <a:spcAft>
                <a:spcPts val="0"/>
              </a:spcAft>
            </a:pPr>
            <a:endParaRPr lang="bg-BG" b="1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endParaRPr lang="bg-BG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IV.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Аритметични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команди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4000" b="1">
                <a:latin typeface="Times New Roman" pitchFamily="18" charset="0"/>
                <a:cs typeface="Times New Roman" pitchFamily="18" charset="0"/>
              </a:rPr>
            </a:br>
            <a:r>
              <a:rPr lang="en-US" sz="4000" b="1">
                <a:latin typeface="Times New Roman" pitchFamily="18" charset="0"/>
                <a:cs typeface="Times New Roman" pitchFamily="18" charset="0"/>
              </a:rPr>
              <a:t>IV.1.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За х86.</a:t>
            </a:r>
            <a:endParaRPr lang="bg-BG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71546"/>
            <a:ext cx="8643998" cy="5572164"/>
          </a:xfrm>
        </p:spPr>
        <p:txBody>
          <a:bodyPr>
            <a:noAutofit/>
          </a:bodyPr>
          <a:lstStyle/>
          <a:p>
            <a:pPr algn="just"/>
            <a:r>
              <a:rPr lang="bg-BG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IMUL &lt;операнд&gt;, &lt;непосредствен операнд&gt;</a:t>
            </a:r>
          </a:p>
          <a:p>
            <a:pPr marL="112713" indent="344488" algn="just">
              <a:buFont typeface="Courier New" panose="02070309020205020404" pitchFamily="49" charset="0"/>
              <a:buChar char="o"/>
            </a:pP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Третият вариант на командата IMUL ви позволява да посочите както резултата, така и двата фактора. Резултатът обаче може да бъде поставен само в регистър, а вторият фактор може да бъде само непосредствен операнд. Първият фактор може да бъде регистър или място в паметта.</a:t>
            </a:r>
          </a:p>
          <a:p>
            <a:pPr marL="112713" indent="344488" algn="just">
              <a:buFont typeface="Courier New" panose="02070309020205020404" pitchFamily="49" charset="0"/>
              <a:buChar char="o"/>
            </a:pPr>
            <a:r>
              <a:rPr lang="bg-BG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IMUL &lt;операнд1&gt;, &lt;операнд2&gt;, &lt;непосредствен операнд&gt;</a:t>
            </a:r>
          </a:p>
          <a:p>
            <a:pPr marL="112713" indent="344488" algn="just">
              <a:buFont typeface="Courier New" panose="02070309020205020404" pitchFamily="49" charset="0"/>
              <a:buChar char="o"/>
            </a:pP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Четвъртата опция на командата IMUL ви позволява да посочите и двата фактора. Първият трябва да е регистър, а вторият трябва да е регистър или място в паметта. Резултатът се поставя в регистъра, който е първият операнд.</a:t>
            </a:r>
          </a:p>
          <a:p>
            <a:pPr marL="0" indent="0" algn="just">
              <a:buNone/>
            </a:pP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Инструкцията IMUL задава флагове по същия начин като командата MUL. Разширяването на резултата в регистъра EDX/DX става само когато се използва първият вариант на инструкцията IMUL. В други случаи частта от продукта, която не се вписва в резултатния регистър, се губи, дори ако EAX/AX регистърът е указан като резултат. При умножаване на две 1-байтови числа, чийто продукт е по-голям от байт, но по-малък от дума, резултатният регистър произвежда правилното произведение.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IV.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Аритметични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команди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4000" b="1">
                <a:latin typeface="Times New Roman" pitchFamily="18" charset="0"/>
                <a:cs typeface="Times New Roman" pitchFamily="18" charset="0"/>
              </a:rPr>
            </a:br>
            <a:r>
              <a:rPr lang="en-US" sz="4000" b="1">
                <a:latin typeface="Times New Roman" pitchFamily="18" charset="0"/>
                <a:cs typeface="Times New Roman" pitchFamily="18" charset="0"/>
              </a:rPr>
              <a:t>IV.1.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За х86.</a:t>
            </a:r>
            <a:endParaRPr lang="bg-BG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714488"/>
            <a:ext cx="8643998" cy="3643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bg-BG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за деление</a:t>
            </a: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От две команди се изпълнява, предназначени за числа със знак и без знак:</a:t>
            </a:r>
          </a:p>
          <a:p>
            <a:pPr marL="0" indent="0" algn="just">
              <a:buNone/>
            </a:pPr>
            <a:r>
              <a:rPr lang="bg-BG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DIV &lt;операнд&gt; ; Деление без знак</a:t>
            </a:r>
          </a:p>
          <a:p>
            <a:pPr marL="0" indent="0" algn="just">
              <a:buNone/>
            </a:pPr>
            <a:r>
              <a:rPr lang="bg-BG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IDIV &lt;операнд&gt; ; Деление на знаци</a:t>
            </a:r>
            <a:endParaRPr lang="bg-BG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Инструкциите определят само един операнд - делител, който може да бъде регистър или клетка от паметта, но не може да бъде непосредствен операнд. Местоположението на делимото и резултата за командите за деление е фиксирано.</a:t>
            </a:r>
          </a:p>
          <a:p>
            <a:pPr marL="0" indent="0" algn="just">
              <a:buNone/>
            </a:pP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Ако делителят е с размер 1 байт, тогава делимото се взема от регистъра AX. </a:t>
            </a:r>
          </a:p>
          <a:p>
            <a:pPr marL="0" indent="0" algn="just">
              <a:buNone/>
            </a:pP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Ако делителят е с размер 2 байта, тогава делимото се взема от регистровата двойка DX:AX. </a:t>
            </a:r>
          </a:p>
          <a:p>
            <a:pPr marL="0" indent="0" algn="just">
              <a:buNone/>
            </a:pPr>
            <a:r>
              <a:rPr lang="bg-BG" sz="2100">
                <a:latin typeface="Times New Roman" panose="02020603050405020304" pitchFamily="18" charset="0"/>
                <a:cs typeface="Times New Roman" panose="02020603050405020304" pitchFamily="18" charset="0"/>
              </a:rPr>
              <a:t>Ако делителят е с размер 4 байта, тогава дивидентът се взема от регистровата двойка EDX:EAX.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IV.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Аритметични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команди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4000" b="1">
                <a:latin typeface="Times New Roman" pitchFamily="18" charset="0"/>
                <a:cs typeface="Times New Roman" pitchFamily="18" charset="0"/>
              </a:rPr>
            </a:br>
            <a:r>
              <a:rPr lang="en-US" sz="4000" b="1">
                <a:latin typeface="Times New Roman" pitchFamily="18" charset="0"/>
                <a:cs typeface="Times New Roman" pitchFamily="18" charset="0"/>
              </a:rPr>
              <a:t>IV.1.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За х86.</a:t>
            </a:r>
            <a:endParaRPr lang="bg-BG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785926"/>
            <a:ext cx="8643998" cy="4857784"/>
          </a:xfrm>
        </p:spPr>
        <p:txBody>
          <a:bodyPr>
            <a:normAutofit fontScale="32500" lnSpcReduction="20000"/>
          </a:bodyPr>
          <a:lstStyle/>
          <a:p>
            <a:pPr marL="0" indent="0" algn="just">
              <a:buNone/>
            </a:pPr>
            <a:r>
              <a:rPr lang="bg-BG" sz="8000" b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Инструкция за деление</a:t>
            </a:r>
            <a:endParaRPr lang="bg-BG" sz="8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bg-BG" sz="800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Процесорът работи с цели числа,  то делението води до две числа наведнъж - частното и остатъка. Тези две числа също се поставят в определени регистри.</a:t>
            </a:r>
          </a:p>
          <a:p>
            <a:pPr marL="0" indent="0" algn="just">
              <a:buNone/>
            </a:pPr>
            <a:r>
              <a:rPr lang="bg-BG" sz="8000">
                <a:latin typeface="Times New Roman" panose="02020603050405020304" pitchFamily="18" charset="0"/>
                <a:cs typeface="Times New Roman" panose="02020603050405020304" pitchFamily="18" charset="0"/>
              </a:rPr>
              <a:t> Ако делителят е с размер 1 байт, тогава частното се поставя в регистъра AL, а остатъкът в регистъра AH. </a:t>
            </a:r>
          </a:p>
          <a:p>
            <a:pPr marL="0" indent="0" algn="just">
              <a:buNone/>
            </a:pPr>
            <a:r>
              <a:rPr lang="bg-BG" sz="8000">
                <a:latin typeface="Times New Roman" panose="02020603050405020304" pitchFamily="18" charset="0"/>
                <a:cs typeface="Times New Roman" panose="02020603050405020304" pitchFamily="18" charset="0"/>
              </a:rPr>
              <a:t>Ако делителят е с размер 2 байта, тогава частното се поставя в регистъра AX, а остатъкът в регистъра DX. </a:t>
            </a:r>
          </a:p>
          <a:p>
            <a:pPr marL="0" indent="0" algn="just">
              <a:buNone/>
            </a:pPr>
            <a:r>
              <a:rPr lang="bg-BG" sz="8000">
                <a:latin typeface="Times New Roman" panose="02020603050405020304" pitchFamily="18" charset="0"/>
                <a:cs typeface="Times New Roman" panose="02020603050405020304" pitchFamily="18" charset="0"/>
              </a:rPr>
              <a:t>Ако делителят е с размер 4 байта, тогава частното се поставя в регистъра EAX, а остатъкът в регистъра EDX</a:t>
            </a:r>
            <a:r>
              <a:rPr lang="bg-BG" sz="3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39090" algn="just">
              <a:spcBef>
                <a:spcPts val="10"/>
              </a:spcBef>
              <a:spcAft>
                <a:spcPts val="0"/>
              </a:spcAft>
            </a:pPr>
            <a:endParaRPr lang="bg-BG" b="1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endParaRPr lang="bg-BG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IV.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Аритметични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команди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4000" b="1">
                <a:latin typeface="Times New Roman" pitchFamily="18" charset="0"/>
                <a:cs typeface="Times New Roman" pitchFamily="18" charset="0"/>
              </a:rPr>
            </a:br>
            <a:r>
              <a:rPr lang="en-US" sz="4000" b="1">
                <a:latin typeface="Times New Roman" pitchFamily="18" charset="0"/>
                <a:cs typeface="Times New Roman" pitchFamily="18" charset="0"/>
              </a:rPr>
              <a:t>IV.1.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.</a:t>
            </a:r>
            <a:endParaRPr lang="bg-BG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85926"/>
            <a:ext cx="8929718" cy="4857784"/>
          </a:xfrm>
        </p:spPr>
        <p:txBody>
          <a:bodyPr>
            <a:normAutofit/>
          </a:bodyPr>
          <a:lstStyle/>
          <a:p>
            <a:pPr marL="339090" algn="just">
              <a:spcBef>
                <a:spcPts val="10"/>
              </a:spcBef>
            </a:pPr>
            <a:r>
              <a:rPr lang="bg-BG" sz="2800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Инструкции за събиране и изваждане</a:t>
            </a:r>
            <a:r>
              <a:rPr lang="en-US" sz="2800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endParaRPr lang="bg-BG" sz="2800" b="1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pPr marL="339090" algn="just">
              <a:spcBef>
                <a:spcPts val="10"/>
              </a:spcBef>
              <a:spcAft>
                <a:spcPts val="0"/>
              </a:spcAft>
            </a:pPr>
            <a:endParaRPr lang="bg-BG" b="1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pPr marL="339090" algn="just">
              <a:lnSpc>
                <a:spcPts val="3500"/>
              </a:lnSpc>
              <a:spcBef>
                <a:spcPts val="10"/>
              </a:spcBef>
              <a:spcAft>
                <a:spcPts val="0"/>
              </a:spcAft>
            </a:pPr>
            <a:r>
              <a:rPr lang="en-US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add r1, r2, r3     // r1 = r2 + r3           // </a:t>
            </a: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събиране</a:t>
            </a:r>
          </a:p>
          <a:p>
            <a:pPr marL="339090">
              <a:lnSpc>
                <a:spcPts val="3500"/>
              </a:lnSpc>
              <a:spcBef>
                <a:spcPts val="10"/>
              </a:spcBef>
              <a:spcAft>
                <a:spcPts val="0"/>
              </a:spcAft>
            </a:pP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adc</a:t>
            </a:r>
            <a:r>
              <a:rPr lang="en-US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r1, r2, r3     // r1 = r2 + r3 + CF    // </a:t>
            </a: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събиране с пренос</a:t>
            </a:r>
          </a:p>
          <a:p>
            <a:pPr marL="339090" algn="just">
              <a:lnSpc>
                <a:spcPts val="3500"/>
              </a:lnSpc>
              <a:spcBef>
                <a:spcPts val="10"/>
              </a:spcBef>
              <a:spcAft>
                <a:spcPts val="0"/>
              </a:spcAft>
            </a:pP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sub r1, r2, r3     // r1 = r2 </a:t>
            </a: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-</a:t>
            </a:r>
            <a:r>
              <a:rPr lang="en-US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r3          // </a:t>
            </a: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изваждане</a:t>
            </a:r>
          </a:p>
          <a:p>
            <a:pPr marL="339090" algn="just">
              <a:lnSpc>
                <a:spcPts val="3500"/>
              </a:lnSpc>
              <a:spcBef>
                <a:spcPts val="10"/>
              </a:spcBef>
              <a:spcAft>
                <a:spcPts val="0"/>
              </a:spcAft>
            </a:pP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sbc</a:t>
            </a:r>
            <a:r>
              <a:rPr lang="en-US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r1, r2, r3    // r1 = r2 </a:t>
            </a: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-</a:t>
            </a:r>
            <a:r>
              <a:rPr lang="en-US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r3 + CF - 1   // </a:t>
            </a: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изваждане със заем</a:t>
            </a:r>
          </a:p>
          <a:p>
            <a:pPr marL="339090" algn="just">
              <a:lnSpc>
                <a:spcPts val="3500"/>
              </a:lnSpc>
              <a:spcBef>
                <a:spcPts val="10"/>
              </a:spcBef>
              <a:spcAft>
                <a:spcPts val="0"/>
              </a:spcAft>
            </a:pP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rsb</a:t>
            </a:r>
            <a:r>
              <a:rPr lang="en-US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r1, r2, r3      // r1 = r</a:t>
            </a: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3</a:t>
            </a:r>
            <a:r>
              <a:rPr lang="en-US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–</a:t>
            </a:r>
            <a:r>
              <a:rPr lang="en-US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r</a:t>
            </a: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2</a:t>
            </a:r>
            <a:r>
              <a:rPr lang="en-US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// </a:t>
            </a: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обратно изваждане</a:t>
            </a:r>
          </a:p>
          <a:p>
            <a:pPr marL="339090" algn="just">
              <a:lnSpc>
                <a:spcPts val="3500"/>
              </a:lnSpc>
              <a:spcBef>
                <a:spcPts val="10"/>
              </a:spcBef>
              <a:spcAft>
                <a:spcPts val="0"/>
              </a:spcAft>
            </a:pP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 err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rsc</a:t>
            </a: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r1, r2, r3   // r1 = r</a:t>
            </a: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3</a:t>
            </a:r>
            <a:r>
              <a:rPr lang="en-US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–</a:t>
            </a:r>
            <a:r>
              <a:rPr lang="en-US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r</a:t>
            </a: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2</a:t>
            </a:r>
            <a:r>
              <a:rPr lang="en-US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+ CF - 1   // </a:t>
            </a:r>
            <a:r>
              <a:rPr lang="bg-BG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обратно изваждане със заем</a:t>
            </a:r>
          </a:p>
          <a:p>
            <a:endParaRPr lang="bg-BG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IV.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Аритметични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команди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4000" b="1">
                <a:latin typeface="Times New Roman" pitchFamily="18" charset="0"/>
                <a:cs typeface="Times New Roman" pitchFamily="18" charset="0"/>
              </a:rPr>
            </a:br>
            <a:r>
              <a:rPr lang="en-US" sz="4000" b="1">
                <a:latin typeface="Times New Roman" pitchFamily="18" charset="0"/>
                <a:cs typeface="Times New Roman" pitchFamily="18" charset="0"/>
              </a:rPr>
              <a:t>IV.1.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.</a:t>
            </a:r>
            <a:endParaRPr lang="bg-BG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85926"/>
            <a:ext cx="9144000" cy="4857784"/>
          </a:xfrm>
        </p:spPr>
        <p:txBody>
          <a:bodyPr>
            <a:noAutofit/>
          </a:bodyPr>
          <a:lstStyle/>
          <a:p>
            <a:pPr marL="339090" algn="just">
              <a:spcBef>
                <a:spcPts val="10"/>
              </a:spcBef>
            </a:pPr>
            <a:r>
              <a:rPr lang="bg-BG" sz="2200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Инструкции за умножение</a:t>
            </a:r>
            <a:r>
              <a:rPr lang="en-US" sz="2200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endParaRPr lang="bg-BG" sz="2200" b="1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r>
              <a:rPr lang="ru-RU" sz="2200">
                <a:latin typeface="Times New Roman" pitchFamily="18" charset="0"/>
                <a:cs typeface="Times New Roman" pitchFamily="18" charset="0"/>
              </a:rPr>
              <a:t>Инструкциите за умножение умножават съдържанието на двойка регистри и, в зависимост от инструкцията, натрупват резултатите в друг регистър. Дългите умножения се натрупват в двойка регистри, представляващи 64-битова стойност. Крайният резултат се поставя в целеви регистър или двойка регистри.</a:t>
            </a:r>
          </a:p>
          <a:p>
            <a:r>
              <a:rPr lang="en-US" sz="2200" err="1">
                <a:latin typeface="Times New Roman" pitchFamily="18" charset="0"/>
                <a:cs typeface="Times New Roman" pitchFamily="18" charset="0"/>
              </a:rPr>
              <a:t>Mul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err="1">
                <a:latin typeface="Times New Roman" pitchFamily="18" charset="0"/>
                <a:cs typeface="Times New Roman" pitchFamily="18" charset="0"/>
              </a:rPr>
              <a:t>Rd,Rm,Rs</a:t>
            </a:r>
            <a:endParaRPr lang="en-US" sz="22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err="1">
                <a:latin typeface="Times New Roman" pitchFamily="18" charset="0"/>
                <a:cs typeface="Times New Roman" pitchFamily="18" charset="0"/>
              </a:rPr>
              <a:t>Mla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err="1">
                <a:latin typeface="Times New Roman" pitchFamily="18" charset="0"/>
                <a:cs typeface="Times New Roman" pitchFamily="18" charset="0"/>
              </a:rPr>
              <a:t>Rd,Rm,Rs,Rn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 ; Rd=(</a:t>
            </a:r>
            <a:r>
              <a:rPr lang="en-US" sz="2200" err="1">
                <a:latin typeface="Times New Roman" pitchFamily="18" charset="0"/>
                <a:cs typeface="Times New Roman" pitchFamily="18" charset="0"/>
              </a:rPr>
              <a:t>Rm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*Rs)+</a:t>
            </a:r>
            <a:r>
              <a:rPr lang="en-US" sz="2200" err="1">
                <a:latin typeface="Times New Roman" pitchFamily="18" charset="0"/>
                <a:cs typeface="Times New Roman" pitchFamily="18" charset="0"/>
              </a:rPr>
              <a:t>Rn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bg-BG" sz="2200">
                <a:latin typeface="Times New Roman" pitchFamily="18" charset="0"/>
                <a:cs typeface="Times New Roman" pitchFamily="18" charset="0"/>
              </a:rPr>
              <a:t>умножаване и натрупване</a:t>
            </a:r>
            <a:endParaRPr lang="en-US" sz="22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err="1">
                <a:latin typeface="Times New Roman" pitchFamily="18" charset="0"/>
                <a:cs typeface="Times New Roman" pitchFamily="18" charset="0"/>
              </a:rPr>
              <a:t>Umull</a:t>
            </a:r>
            <a:r>
              <a:rPr lang="bg-BG" sz="22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err="1">
                <a:latin typeface="Times New Roman" pitchFamily="18" charset="0"/>
                <a:cs typeface="Times New Roman" pitchFamily="18" charset="0"/>
              </a:rPr>
              <a:t>Smull</a:t>
            </a:r>
            <a:r>
              <a:rPr lang="bg-BG" sz="2200">
                <a:latin typeface="Times New Roman" pitchFamily="18" charset="0"/>
                <a:cs typeface="Times New Roman" pitchFamily="18" charset="0"/>
              </a:rPr>
              <a:t> за числа без знак и числа със знак</a:t>
            </a:r>
          </a:p>
          <a:p>
            <a:r>
              <a:rPr lang="en-US" sz="2200" err="1">
                <a:latin typeface="Times New Roman" pitchFamily="18" charset="0"/>
                <a:cs typeface="Times New Roman" pitchFamily="18" charset="0"/>
              </a:rPr>
              <a:t>Umull</a:t>
            </a:r>
            <a:r>
              <a:rPr lang="bg-BG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pt-BR" sz="2200">
                <a:latin typeface="Times New Roman" pitchFamily="18" charset="0"/>
                <a:cs typeface="Times New Roman" pitchFamily="18" charset="0"/>
              </a:rPr>
              <a:t>1, R2, R3, R4 ; R3 * R4, store high bits in R2, low in R1</a:t>
            </a:r>
            <a:r>
              <a:rPr lang="pt-BR" sz="2200" i="1">
                <a:latin typeface="Times New Roman" pitchFamily="18" charset="0"/>
                <a:cs typeface="Times New Roman" pitchFamily="18" charset="0"/>
              </a:rPr>
              <a:t> </a:t>
            </a:r>
            <a:endParaRPr lang="bg-BG" sz="22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err="1">
                <a:latin typeface="Times New Roman" pitchFamily="18" charset="0"/>
                <a:cs typeface="Times New Roman" pitchFamily="18" charset="0"/>
              </a:rPr>
              <a:t>Umlal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bg-BG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err="1">
                <a:latin typeface="Times New Roman" pitchFamily="18" charset="0"/>
                <a:cs typeface="Times New Roman" pitchFamily="18" charset="0"/>
              </a:rPr>
              <a:t>Smlal</a:t>
            </a:r>
            <a:endParaRPr lang="en-US" sz="22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err="1">
                <a:latin typeface="Times New Roman" pitchFamily="18" charset="0"/>
                <a:cs typeface="Times New Roman" pitchFamily="18" charset="0"/>
              </a:rPr>
              <a:t>Umlal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pt-BR" sz="2200">
                <a:latin typeface="Times New Roman" pitchFamily="18" charset="0"/>
                <a:cs typeface="Times New Roman" pitchFamily="18" charset="0"/>
              </a:rPr>
              <a:t>1, R2, R3, R4 ; R3 * R4 + (R2,R1), store high bits in R2, low in R1</a:t>
            </a:r>
            <a:endParaRPr lang="bg-BG" sz="22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IV.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Аритметични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команди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4000" b="1">
                <a:latin typeface="Times New Roman" pitchFamily="18" charset="0"/>
                <a:cs typeface="Times New Roman" pitchFamily="18" charset="0"/>
              </a:rPr>
            </a:br>
            <a:r>
              <a:rPr lang="en-US" sz="4000" b="1">
                <a:latin typeface="Times New Roman" pitchFamily="18" charset="0"/>
                <a:cs typeface="Times New Roman" pitchFamily="18" charset="0"/>
              </a:rPr>
              <a:t>IV.1.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.</a:t>
            </a:r>
            <a:endParaRPr lang="bg-BG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85926"/>
            <a:ext cx="9144000" cy="4857784"/>
          </a:xfrm>
        </p:spPr>
        <p:txBody>
          <a:bodyPr vert="horz" lIns="91440" tIns="45720" rIns="91440" bIns="45720" anchor="t">
            <a:noAutofit/>
          </a:bodyPr>
          <a:lstStyle/>
          <a:p>
            <a:pPr marL="339090" algn="just">
              <a:spcBef>
                <a:spcPts val="10"/>
              </a:spcBef>
            </a:pPr>
            <a:r>
              <a:rPr lang="bg-BG" sz="2400" b="1">
                <a:latin typeface="Times New Roman"/>
                <a:ea typeface="Microsoft Sans Serif"/>
                <a:cs typeface="Times New Roman"/>
              </a:rPr>
              <a:t>Алгоритъм на делене.</a:t>
            </a:r>
          </a:p>
          <a:p>
            <a:r>
              <a:rPr lang="ru-RU" sz="2400" err="1">
                <a:latin typeface="Times New Roman"/>
                <a:cs typeface="Times New Roman"/>
              </a:rPr>
              <a:t>Има</a:t>
            </a:r>
            <a:r>
              <a:rPr lang="ru-RU" sz="2400">
                <a:latin typeface="Times New Roman"/>
                <a:cs typeface="Times New Roman"/>
              </a:rPr>
              <a:t> </a:t>
            </a:r>
            <a:r>
              <a:rPr lang="ru-RU" sz="2400" err="1">
                <a:latin typeface="Times New Roman"/>
                <a:cs typeface="Times New Roman"/>
              </a:rPr>
              <a:t>налични</a:t>
            </a:r>
            <a:r>
              <a:rPr lang="ru-RU" sz="2400">
                <a:latin typeface="Times New Roman"/>
                <a:cs typeface="Times New Roman"/>
              </a:rPr>
              <a:t> </a:t>
            </a:r>
            <a:r>
              <a:rPr lang="ru-RU" sz="2400" err="1">
                <a:latin typeface="Times New Roman"/>
                <a:cs typeface="Times New Roman"/>
              </a:rPr>
              <a:t>алгоритми</a:t>
            </a:r>
            <a:r>
              <a:rPr lang="ru-RU" sz="2400">
                <a:latin typeface="Times New Roman"/>
                <a:cs typeface="Times New Roman"/>
              </a:rPr>
              <a:t>, </a:t>
            </a:r>
            <a:r>
              <a:rPr lang="ru-RU" sz="2400" err="1">
                <a:latin typeface="Times New Roman"/>
                <a:cs typeface="Times New Roman"/>
              </a:rPr>
              <a:t>които</a:t>
            </a:r>
            <a:r>
              <a:rPr lang="ru-RU" sz="2400">
                <a:latin typeface="Times New Roman"/>
                <a:cs typeface="Times New Roman"/>
              </a:rPr>
              <a:t> </a:t>
            </a:r>
            <a:r>
              <a:rPr lang="ru-RU" sz="2400" err="1">
                <a:latin typeface="Times New Roman"/>
                <a:cs typeface="Times New Roman"/>
              </a:rPr>
              <a:t>изчисляват</a:t>
            </a:r>
            <a:r>
              <a:rPr lang="ru-RU" sz="2400">
                <a:latin typeface="Times New Roman"/>
                <a:cs typeface="Times New Roman"/>
              </a:rPr>
              <a:t> </a:t>
            </a:r>
            <a:r>
              <a:rPr lang="ru-RU" sz="2400" err="1">
                <a:latin typeface="Times New Roman"/>
                <a:cs typeface="Times New Roman"/>
              </a:rPr>
              <a:t>частното</a:t>
            </a:r>
            <a:r>
              <a:rPr lang="ru-RU" sz="2400">
                <a:latin typeface="Times New Roman"/>
                <a:cs typeface="Times New Roman"/>
              </a:rPr>
              <a:t> и </a:t>
            </a:r>
            <a:r>
              <a:rPr lang="ru-RU" sz="2400" err="1">
                <a:latin typeface="Times New Roman"/>
                <a:cs typeface="Times New Roman"/>
              </a:rPr>
              <a:t>остатъка</a:t>
            </a:r>
            <a:r>
              <a:rPr lang="ru-RU" sz="2400">
                <a:latin typeface="Times New Roman"/>
                <a:cs typeface="Times New Roman"/>
              </a:rPr>
              <a:t> от </a:t>
            </a:r>
            <a:r>
              <a:rPr lang="ru-RU" sz="2400" err="1">
                <a:latin typeface="Times New Roman"/>
                <a:cs typeface="Times New Roman"/>
              </a:rPr>
              <a:t>деление.Например</a:t>
            </a:r>
            <a:r>
              <a:rPr lang="ru-RU" sz="2400">
                <a:latin typeface="Times New Roman"/>
                <a:cs typeface="Times New Roman"/>
              </a:rPr>
              <a:t> чрез многократно </a:t>
            </a:r>
            <a:r>
              <a:rPr lang="ru-RU" sz="2400" err="1">
                <a:latin typeface="Times New Roman"/>
                <a:cs typeface="Times New Roman"/>
              </a:rPr>
              <a:t>изваждане</a:t>
            </a:r>
            <a:r>
              <a:rPr lang="ru-RU" sz="2400">
                <a:latin typeface="Times New Roman"/>
                <a:cs typeface="Times New Roman"/>
              </a:rPr>
              <a:t>:</a:t>
            </a:r>
          </a:p>
          <a:p>
            <a:r>
              <a:rPr lang="en-US" sz="2400">
                <a:latin typeface="Times New Roman"/>
                <a:cs typeface="Times New Roman"/>
              </a:rPr>
              <a:t>Algorithm to compute Q = A/B and R = A%B 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/>
                <a:cs typeface="Times New Roman"/>
              </a:rPr>
              <a:t>Q = 0; R = A; 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/>
                <a:cs typeface="Times New Roman"/>
              </a:rPr>
              <a:t> Subtract B from R as long as B has more to give.... </a:t>
            </a:r>
            <a:endParaRPr lang="bg-BG" sz="24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>
                <a:latin typeface="Times New Roman"/>
                <a:cs typeface="Times New Roman"/>
              </a:rPr>
              <a:t>while ( R ≥ B ) { Q = Q + 1; R = R - B; }</a:t>
            </a:r>
            <a:endParaRPr lang="bg-BG"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571480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IV.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Аритметични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000" b="1" err="1">
                <a:latin typeface="Times New Roman" pitchFamily="18" charset="0"/>
                <a:cs typeface="Times New Roman" pitchFamily="18" charset="0"/>
              </a:rPr>
              <a:t>команди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4000" b="1">
                <a:latin typeface="Times New Roman" pitchFamily="18" charset="0"/>
                <a:cs typeface="Times New Roman" pitchFamily="18" charset="0"/>
              </a:rPr>
            </a:br>
            <a:r>
              <a:rPr lang="en-US" sz="4000" b="1">
                <a:latin typeface="Times New Roman" pitchFamily="18" charset="0"/>
                <a:cs typeface="Times New Roman" pitchFamily="18" charset="0"/>
              </a:rPr>
              <a:t>IV.1.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За </a:t>
            </a:r>
            <a:r>
              <a:rPr lang="en-US" sz="4000" b="1">
                <a:latin typeface="Times New Roman" pitchFamily="18" charset="0"/>
                <a:cs typeface="Times New Roman" pitchFamily="18" charset="0"/>
              </a:rPr>
              <a:t>ARM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.</a:t>
            </a:r>
            <a:endParaRPr lang="bg-BG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785926"/>
            <a:ext cx="9144000" cy="4857784"/>
          </a:xfrm>
        </p:spPr>
        <p:txBody>
          <a:bodyPr>
            <a:noAutofit/>
          </a:bodyPr>
          <a:lstStyle/>
          <a:p>
            <a:pPr marL="339090" algn="just">
              <a:spcBef>
                <a:spcPts val="10"/>
              </a:spcBef>
            </a:pPr>
            <a:r>
              <a:rPr lang="bg-BG" sz="2200" b="1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Алгоритъм на делене на 128 на 4.</a:t>
            </a:r>
          </a:p>
          <a:p>
            <a:r>
              <a:rPr lang="ru-RU" sz="2200">
                <a:latin typeface="Times New Roman" pitchFamily="18" charset="0"/>
                <a:cs typeface="Times New Roman" pitchFamily="18" charset="0"/>
              </a:rPr>
              <a:t>MOV R1,#128 ;разделяне R1 </a:t>
            </a:r>
          </a:p>
          <a:p>
            <a:r>
              <a:rPr lang="ru-RU" sz="2200">
                <a:latin typeface="Times New Roman" pitchFamily="18" charset="0"/>
                <a:cs typeface="Times New Roman" pitchFamily="18" charset="0"/>
              </a:rPr>
              <a:t>MOV R2,#4 ;на R2 </a:t>
            </a:r>
          </a:p>
          <a:p>
            <a:r>
              <a:rPr lang="ru-RU" sz="2200">
                <a:latin typeface="Times New Roman" pitchFamily="18" charset="0"/>
                <a:cs typeface="Times New Roman" pitchFamily="18" charset="0"/>
              </a:rPr>
              <a:t>MOV R0,#0 ;инициализиране на брояча</a:t>
            </a:r>
          </a:p>
          <a:p>
            <a:r>
              <a:rPr lang="ru-RU" sz="220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200" err="1">
                <a:latin typeface="Times New Roman" pitchFamily="18" charset="0"/>
                <a:cs typeface="Times New Roman" pitchFamily="18" charset="0"/>
              </a:rPr>
              <a:t>substract</a:t>
            </a:r>
            <a:endParaRPr lang="ru-RU" sz="220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200">
                <a:latin typeface="Times New Roman" pitchFamily="18" charset="0"/>
                <a:cs typeface="Times New Roman" pitchFamily="18" charset="0"/>
              </a:rPr>
              <a:t>SUBS R1,R1,R2 ;извадете R2 от ;R1 и съхранявайте резултат обратно в                   		      ;R1 с установчване на флаговете</a:t>
            </a:r>
          </a:p>
          <a:p>
            <a:r>
              <a:rPr lang="ru-RU" sz="2200">
                <a:latin typeface="Times New Roman" pitchFamily="18" charset="0"/>
                <a:cs typeface="Times New Roman" pitchFamily="18" charset="0"/>
              </a:rPr>
              <a:t>ADD R0,R0,#1 ;добавете 1 към брояча, без установяване на флагове </a:t>
            </a:r>
          </a:p>
          <a:p>
            <a:r>
              <a:rPr lang="ru-RU" sz="2200">
                <a:latin typeface="Times New Roman" pitchFamily="18" charset="0"/>
                <a:cs typeface="Times New Roman" pitchFamily="18" charset="0"/>
              </a:rPr>
              <a:t>BHI </a:t>
            </a:r>
            <a:r>
              <a:rPr lang="en-US" sz="2200" err="1">
                <a:latin typeface="Times New Roman" pitchFamily="18" charset="0"/>
                <a:cs typeface="Times New Roman" pitchFamily="18" charset="0"/>
              </a:rPr>
              <a:t>substract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 ;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разклонение за начало ;цикъл при условие </a:t>
            </a:r>
            <a:endParaRPr lang="en-US" sz="220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>
                <a:latin typeface="Times New Roman" pitchFamily="18" charset="0"/>
                <a:cs typeface="Times New Roman" pitchFamily="18" charset="0"/>
              </a:rPr>
              <a:t>                         </a:t>
            </a:r>
            <a:r>
              <a:rPr lang="bg-BG" sz="2200"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US" sz="22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bg-BG" sz="2200">
                <a:latin typeface="Times New Roman" pitchFamily="18" charset="0"/>
                <a:cs typeface="Times New Roman" pitchFamily="18" charset="0"/>
              </a:rPr>
              <a:t>п</a:t>
            </a:r>
            <a:r>
              <a:rPr lang="ru-RU" sz="2200">
                <a:latin typeface="Times New Roman" pitchFamily="18" charset="0"/>
                <a:cs typeface="Times New Roman" pitchFamily="18" charset="0"/>
              </a:rPr>
              <a:t>о-високо, т.е. R1 е все още по-голямо от R2.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V.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Линейни програми</a:t>
            </a:r>
            <a:endParaRPr lang="bg-BG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785926"/>
            <a:ext cx="8643998" cy="4500594"/>
          </a:xfrm>
        </p:spPr>
        <p:txBody>
          <a:bodyPr>
            <a:noAutofit/>
          </a:bodyPr>
          <a:lstStyle/>
          <a:p>
            <a:pPr marL="339090" algn="just">
              <a:spcBef>
                <a:spcPts val="10"/>
              </a:spcBef>
            </a:pPr>
            <a:r>
              <a:rPr lang="ru-RU" sz="2200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Линейните програми се характеризират с изключително естествен ред на изпълнение на команди. В естествения ред командите се изпълняват една след друга строго в реда, в който са записани в паметта на компютъра. </a:t>
            </a:r>
            <a:endParaRPr lang="en-US" sz="2200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pPr marL="339090" algn="just">
              <a:spcBef>
                <a:spcPts val="10"/>
              </a:spcBef>
            </a:pPr>
            <a:r>
              <a:rPr lang="bg-BG" sz="2200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Графично </a:t>
            </a:r>
            <a:r>
              <a:rPr lang="ru-RU" sz="2200"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линейната програма може да бъде изобразена като права линия.</a:t>
            </a:r>
            <a:endParaRPr lang="bg-BG" sz="2200"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  <a:p>
            <a:pPr marL="339090" algn="just">
              <a:spcBef>
                <a:spcPts val="10"/>
              </a:spcBef>
            </a:pPr>
            <a:r>
              <a:rPr lang="ru-RU" sz="2200">
                <a:latin typeface="Times New Roman" pitchFamily="18" charset="0"/>
                <a:cs typeface="Times New Roman" pitchFamily="18" charset="0"/>
              </a:rPr>
              <a:t>Линейните програми в тяхната чиста форма са рядкост. Но в същото време сегментите на линейната програма формират основата, рамката на програмите от всички други типове.</a:t>
            </a:r>
            <a:endParaRPr lang="bg-BG" sz="22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V.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Линейни програми</a:t>
            </a:r>
            <a:endParaRPr lang="bg-BG" sz="4000" b="1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6759" y="1935163"/>
            <a:ext cx="3830482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1143000"/>
          </a:xfrm>
        </p:spPr>
        <p:txBody>
          <a:bodyPr>
            <a:noAutofit/>
          </a:bodyPr>
          <a:lstStyle/>
          <a:p>
            <a:r>
              <a:rPr lang="en-US" sz="4000" b="1">
                <a:latin typeface="Times New Roman" pitchFamily="18" charset="0"/>
                <a:cs typeface="Times New Roman" pitchFamily="18" charset="0"/>
              </a:rPr>
              <a:t>V. </a:t>
            </a:r>
            <a:r>
              <a:rPr lang="bg-BG" sz="4000" b="1">
                <a:latin typeface="Times New Roman" pitchFamily="18" charset="0"/>
                <a:cs typeface="Times New Roman" pitchFamily="18" charset="0"/>
              </a:rPr>
              <a:t>Линейни програми</a:t>
            </a:r>
            <a:endParaRPr lang="bg-BG" sz="4000" b="1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19872" y="2132856"/>
            <a:ext cx="2000423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251520" y="1628800"/>
            <a:ext cx="8643998" cy="634962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339090" marR="0" lvl="0" indent="-274320" algn="just" defTabSz="914400" rtl="0" eaLnBrk="1" fontAlgn="auto" latinLnBrk="0" hangingPunct="1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lang="bg-BG" sz="220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Алгоритъм, който разменя местата на две променливи.</a:t>
            </a:r>
            <a:endParaRPr kumimoji="0" lang="bg-BG" sz="2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1071546"/>
            <a:ext cx="8229600" cy="1428752"/>
          </a:xfrm>
        </p:spPr>
        <p:txBody>
          <a:bodyPr>
            <a:noAutofit/>
          </a:bodyPr>
          <a:lstStyle/>
          <a:p>
            <a:r>
              <a:rPr lang="bg-BG" sz="3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Зад.1. Изчислете сумата </a:t>
            </a:r>
            <a:r>
              <a:rPr lang="en-US" sz="3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=X+Y, </a:t>
            </a:r>
            <a:r>
              <a:rPr lang="bg-BG" sz="3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където</a:t>
            </a:r>
            <a:r>
              <a:rPr lang="ru-RU" sz="3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 </a:t>
            </a:r>
            <a:r>
              <a:rPr lang="en-US" sz="3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 </a:t>
            </a:r>
            <a:r>
              <a:rPr lang="ru-RU" sz="3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 b числа</a:t>
            </a:r>
            <a:r>
              <a:rPr lang="bg-BG" sz="3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3500" b="1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57224" y="2962268"/>
            <a:ext cx="7286676" cy="3610004"/>
          </a:xfrm>
        </p:spPr>
        <p:txBody>
          <a:bodyPr/>
          <a:lstStyle/>
          <a:p>
            <a:endParaRPr lang="bg-BG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357166"/>
            <a:ext cx="8229600" cy="1143000"/>
          </a:xfrm>
        </p:spPr>
        <p:txBody>
          <a:bodyPr>
            <a:noAutofit/>
          </a:bodyPr>
          <a:lstStyle/>
          <a:p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Зад.1. Изчислете сумата </a:t>
            </a:r>
            <a:r>
              <a:rPr lang="en-US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=X+Y,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където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 </a:t>
            </a:r>
            <a:r>
              <a:rPr lang="en-US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 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 b числа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3000" b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428736"/>
            <a:ext cx="8643998" cy="5214974"/>
          </a:xfrm>
        </p:spPr>
        <p:txBody>
          <a:bodyPr>
            <a:noAutofit/>
          </a:bodyPr>
          <a:lstStyle/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.486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.model 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flat,stdcall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</a:pP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includelib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\MASM32\lib\kernel32.lib</a:t>
            </a:r>
          </a:p>
          <a:p>
            <a:pPr marL="0">
              <a:spcBef>
                <a:spcPts val="0"/>
              </a:spcBef>
            </a:pP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proto:DWORD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.data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X      	dd     	-5,0FFFFFFFFh	;-5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Y      	dd    	2,0	</a:t>
            </a:r>
            <a:r>
              <a:rPr lang="bg-BG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;2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sum   dd     	?,?	</a:t>
            </a:r>
            <a:r>
              <a:rPr lang="bg-BG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;result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.code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start:  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	mov     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, X	</a:t>
            </a:r>
            <a:r>
              <a:rPr lang="bg-BG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=XL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	add      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, Y	</a:t>
            </a:r>
            <a:r>
              <a:rPr lang="bg-BG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=XL+YL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mov	 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sum,eax</a:t>
            </a:r>
            <a:r>
              <a:rPr lang="bg-BG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sumL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mov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ebx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, X+4</a:t>
            </a:r>
            <a:r>
              <a:rPr lang="bg-BG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ebx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=XH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adc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ebx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,  Y+4	;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ebx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= XH +YH+C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mov 	 sum+4,ebx	;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sumH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	Invoke ExitProcess,0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	end      start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Autofit/>
          </a:bodyPr>
          <a:lstStyle/>
          <a:p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Зад.1. Изчислете сумата </a:t>
            </a:r>
            <a:r>
              <a:rPr lang="en-US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=X+Y,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където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 </a:t>
            </a:r>
            <a:r>
              <a:rPr lang="en-US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 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 b числа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3000" b="1">
              <a:solidFill>
                <a:schemeClr val="tx1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3848" y="1032771"/>
            <a:ext cx="2880320" cy="5498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Autofit/>
          </a:bodyPr>
          <a:lstStyle/>
          <a:p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Зад.1. Изчислете сумата </a:t>
            </a:r>
            <a:r>
              <a:rPr lang="en-US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=X+Y,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където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 </a:t>
            </a:r>
            <a:r>
              <a:rPr lang="en-US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 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 b числа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3000" b="1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F423AD-9A08-4CAC-943C-9639EEC98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157725"/>
              </p:ext>
            </p:extLst>
          </p:nvPr>
        </p:nvGraphicFramePr>
        <p:xfrm>
          <a:off x="611560" y="1268767"/>
          <a:ext cx="5746389" cy="5482694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schemeClr val="tx2">
                      <a:alpha val="40000"/>
                    </a:schemeClr>
                  </a:outerShdw>
                </a:effectLst>
                <a:tableStyleId>{125E5076-3810-47DD-B79F-674D7AD40C01}</a:tableStyleId>
              </a:tblPr>
              <a:tblGrid>
                <a:gridCol w="1915463">
                  <a:extLst>
                    <a:ext uri="{9D8B030D-6E8A-4147-A177-3AD203B41FA5}">
                      <a16:colId xmlns:a16="http://schemas.microsoft.com/office/drawing/2014/main" val="3148050213"/>
                    </a:ext>
                  </a:extLst>
                </a:gridCol>
                <a:gridCol w="1915463">
                  <a:extLst>
                    <a:ext uri="{9D8B030D-6E8A-4147-A177-3AD203B41FA5}">
                      <a16:colId xmlns:a16="http://schemas.microsoft.com/office/drawing/2014/main" val="3776507924"/>
                    </a:ext>
                  </a:extLst>
                </a:gridCol>
                <a:gridCol w="1915463">
                  <a:extLst>
                    <a:ext uri="{9D8B030D-6E8A-4147-A177-3AD203B41FA5}">
                      <a16:colId xmlns:a16="http://schemas.microsoft.com/office/drawing/2014/main" val="1571726319"/>
                    </a:ext>
                  </a:extLst>
                </a:gridCol>
              </a:tblGrid>
              <a:tr h="235857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bg-BG" sz="14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Карта на паметта</a:t>
                      </a:r>
                      <a:endParaRPr lang="bg-BG" sz="14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16748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00005000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Клетка</a:t>
                      </a:r>
                      <a:endParaRPr lang="bg-BG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Стойност</a:t>
                      </a:r>
                      <a:endParaRPr lang="bg-BG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69767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5001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FB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160105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5002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20134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5003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505030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5004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0391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5005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+ 4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5006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5007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5008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5009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 fontAlgn="ctr"/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5010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5011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5012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5013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 + 4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457235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5014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374102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5015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79212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5016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652435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5017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sum</a:t>
                      </a:r>
                      <a:r>
                        <a:rPr lang="bg-BG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result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379527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5018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120820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5019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373542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5020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74327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5021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5022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5023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328133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5024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Autofit/>
          </a:bodyPr>
          <a:lstStyle/>
          <a:p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Зад.1. Изчислете сумата </a:t>
            </a:r>
            <a:r>
              <a:rPr lang="en-US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=X+Y,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където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 </a:t>
            </a:r>
            <a:r>
              <a:rPr lang="en-US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 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 b числа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3000" b="1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8662" y="857232"/>
            <a:ext cx="5214974" cy="6000768"/>
          </a:xfrm>
        </p:spPr>
        <p:txBody>
          <a:bodyPr>
            <a:noAutofit/>
          </a:bodyPr>
          <a:lstStyle/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.text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	.global start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start: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LDR	R0,=X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	LDR	R1,[R0]	;r1=XL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	LDR	R2,=Y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	LDR	R3,[R2]	;r3=YL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add 	R6,R3,R1	;R6=R3+R1=</a:t>
            </a:r>
            <a:r>
              <a:rPr lang="en-US" sz="1400" b="1" err="1">
                <a:latin typeface="Times New Roman" pitchFamily="18" charset="0"/>
                <a:cs typeface="Times New Roman" pitchFamily="18" charset="0"/>
              </a:rPr>
              <a:t>sumL</a:t>
            </a:r>
            <a:endParaRPr lang="en-US" sz="1400" b="1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LDR	R4,=X+4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	LDR	R4,[R4]	;r4=XH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	LDR	R5,=Y+4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	LDR	R5,[R5]	;r5=YH</a:t>
            </a:r>
          </a:p>
          <a:p>
            <a:r>
              <a:rPr lang="en-US" sz="1400" b="1" err="1">
                <a:latin typeface="Times New Roman" pitchFamily="18" charset="0"/>
                <a:cs typeface="Times New Roman" pitchFamily="18" charset="0"/>
              </a:rPr>
              <a:t>adc</a:t>
            </a:r>
            <a:r>
              <a:rPr lang="en-US" sz="1400" b="1">
                <a:latin typeface="Times New Roman" pitchFamily="18" charset="0"/>
                <a:cs typeface="Times New Roman" pitchFamily="18" charset="0"/>
              </a:rPr>
              <a:t> 	R7,R5,R4	;R7=R5+R4=</a:t>
            </a:r>
            <a:r>
              <a:rPr lang="en-US" sz="1400" b="1" err="1">
                <a:latin typeface="Times New Roman" pitchFamily="18" charset="0"/>
                <a:cs typeface="Times New Roman" pitchFamily="18" charset="0"/>
              </a:rPr>
              <a:t>sumH</a:t>
            </a:r>
            <a:endParaRPr lang="en-US" sz="1400" b="1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	LDR	R8,=sum+4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	STR	R7,[R8]	;</a:t>
            </a:r>
            <a:r>
              <a:rPr lang="en-US" sz="1400" b="1" err="1">
                <a:latin typeface="Times New Roman" pitchFamily="18" charset="0"/>
                <a:cs typeface="Times New Roman" pitchFamily="18" charset="0"/>
              </a:rPr>
              <a:t>sumH</a:t>
            </a:r>
            <a:endParaRPr lang="en-US" sz="1400" b="1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	LDR	R8,=sum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	STR	R6,[R8]	;</a:t>
            </a:r>
            <a:r>
              <a:rPr lang="en-US" sz="1400" b="1" err="1">
                <a:latin typeface="Times New Roman" pitchFamily="18" charset="0"/>
                <a:cs typeface="Times New Roman" pitchFamily="18" charset="0"/>
              </a:rPr>
              <a:t>sumL</a:t>
            </a:r>
            <a:endParaRPr lang="en-US" sz="1400" b="1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	SWI	0x11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	.data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X:	.WORD	-5,0xFFFFFFFF	;-5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Y:	.WORD	2,0	;2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sum:	.WORD	0,0</a:t>
            </a:r>
          </a:p>
          <a:p>
            <a:r>
              <a:rPr lang="en-US" sz="1400" b="1">
                <a:latin typeface="Times New Roman" pitchFamily="18" charset="0"/>
                <a:cs typeface="Times New Roman" pitchFamily="18" charset="0"/>
              </a:rPr>
              <a:t>	.end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-214338"/>
            <a:ext cx="8229600" cy="1143000"/>
          </a:xfrm>
        </p:spPr>
        <p:txBody>
          <a:bodyPr>
            <a:noAutofit/>
          </a:bodyPr>
          <a:lstStyle/>
          <a:p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Зад.1. Изчислете сумата </a:t>
            </a:r>
            <a:r>
              <a:rPr lang="en-US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=X+Y,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където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 </a:t>
            </a:r>
            <a:r>
              <a:rPr lang="en-US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 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 b числа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3000" b="1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67366" y="985323"/>
            <a:ext cx="2200777" cy="533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16632"/>
            <a:ext cx="8229600" cy="1143000"/>
          </a:xfrm>
        </p:spPr>
        <p:txBody>
          <a:bodyPr>
            <a:noAutofit/>
          </a:bodyPr>
          <a:lstStyle/>
          <a:p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Зад.1. Изчислете сумата </a:t>
            </a:r>
            <a:r>
              <a:rPr lang="en-US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=X+Y,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където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 </a:t>
            </a:r>
            <a:r>
              <a:rPr lang="en-US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 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 b числа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3000" b="1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8F423AD-9A08-4CAC-943C-9639EEC98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378777"/>
              </p:ext>
            </p:extLst>
          </p:nvPr>
        </p:nvGraphicFramePr>
        <p:xfrm>
          <a:off x="611560" y="1268767"/>
          <a:ext cx="5746389" cy="5344630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schemeClr val="tx2">
                      <a:alpha val="40000"/>
                    </a:schemeClr>
                  </a:outerShdw>
                </a:effectLst>
                <a:tableStyleId>{125E5076-3810-47DD-B79F-674D7AD40C01}</a:tableStyleId>
              </a:tblPr>
              <a:tblGrid>
                <a:gridCol w="1915463">
                  <a:extLst>
                    <a:ext uri="{9D8B030D-6E8A-4147-A177-3AD203B41FA5}">
                      <a16:colId xmlns:a16="http://schemas.microsoft.com/office/drawing/2014/main" val="3148050213"/>
                    </a:ext>
                  </a:extLst>
                </a:gridCol>
                <a:gridCol w="1915463">
                  <a:extLst>
                    <a:ext uri="{9D8B030D-6E8A-4147-A177-3AD203B41FA5}">
                      <a16:colId xmlns:a16="http://schemas.microsoft.com/office/drawing/2014/main" val="3776507924"/>
                    </a:ext>
                  </a:extLst>
                </a:gridCol>
                <a:gridCol w="1915463">
                  <a:extLst>
                    <a:ext uri="{9D8B030D-6E8A-4147-A177-3AD203B41FA5}">
                      <a16:colId xmlns:a16="http://schemas.microsoft.com/office/drawing/2014/main" val="1571726319"/>
                    </a:ext>
                  </a:extLst>
                </a:gridCol>
              </a:tblGrid>
              <a:tr h="204946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bg-BG" sz="14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Карта на паметта</a:t>
                      </a:r>
                      <a:endParaRPr lang="bg-BG" sz="14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16748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00005000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Клетка</a:t>
                      </a:r>
                      <a:endParaRPr lang="bg-BG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Стойност</a:t>
                      </a:r>
                      <a:endParaRPr lang="bg-BG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69767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5001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160105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5002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20134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5003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505030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5004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FB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0391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5005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 + 4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5006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5007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5008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5009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 fontAlgn="ctr"/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5010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5011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5012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02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5013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 + 4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457235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5014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374102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5015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79212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5016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652435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5017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sum</a:t>
                      </a:r>
                      <a:r>
                        <a:rPr lang="bg-BG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result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379527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5018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120820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5019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373542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5020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74327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5021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5022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5023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5024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428604"/>
            <a:ext cx="8372476" cy="1071570"/>
          </a:xfrm>
        </p:spPr>
        <p:txBody>
          <a:bodyPr>
            <a:noAutofit/>
          </a:bodyPr>
          <a:lstStyle/>
          <a:p>
            <a:endParaRPr lang="bg-BG" sz="3000" b="1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Зад. 2. : Дефинирайте в паметта X, Y  като 32 b числа. Изчислете и запазете Z=X</a:t>
            </a:r>
            <a:r>
              <a:rPr lang="bg-BG" sz="35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bg-BG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bg-BG" sz="35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bg-BG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като 64 b число.</a:t>
            </a:r>
            <a:endParaRPr lang="bg-BG" sz="35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372476" cy="1071570"/>
          </a:xfrm>
        </p:spPr>
        <p:txBody>
          <a:bodyPr>
            <a:noAutofit/>
          </a:bodyPr>
          <a:lstStyle/>
          <a:p>
            <a:r>
              <a:rPr lang="bg-BG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Зад. 2. : Дефинирайте в паметта X, Y  като 32 b числа. Изчислете и запазете Z=X</a:t>
            </a:r>
            <a:r>
              <a:rPr lang="bg-BG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bg-BG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bg-BG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bg-BG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като 64 b число.</a:t>
            </a:r>
            <a:endParaRPr lang="bg-BG" sz="2200" b="1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23505" y="1285860"/>
            <a:ext cx="8382187" cy="4944278"/>
          </a:xfrm>
        </p:spPr>
        <p:txBody>
          <a:bodyPr>
            <a:noAutofit/>
          </a:bodyPr>
          <a:lstStyle/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.486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.model 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flat,stdcall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</a:pP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includelib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c:\masm32\lib\kernel32.lib</a:t>
            </a:r>
          </a:p>
          <a:p>
            <a:pPr marL="0">
              <a:spcBef>
                <a:spcPts val="0"/>
              </a:spcBef>
            </a:pP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ExitProcess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proto:DWORD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.data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X      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	5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Y      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	-2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Z      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	?,?	; result/ </a:t>
            </a:r>
            <a:r>
              <a:rPr lang="bg-BG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резултат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.code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start:  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eax,X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bg-BG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imul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X		;</a:t>
            </a:r>
            <a:r>
              <a:rPr lang="bg-BG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edx:eax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=X*X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z,eax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;l-product value</a:t>
            </a:r>
            <a:r>
              <a:rPr lang="bg-BG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z+4,edx	;h-product value</a:t>
            </a:r>
            <a:r>
              <a:rPr lang="bg-BG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mov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eax,Y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;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=Y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imul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Y	;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edx:eax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=Y*Y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add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z,eax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;l-Z= X2+Y2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adc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	z+4,edx	;h-Z= X2+Y2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	Invoke ExitProcess,0</a:t>
            </a:r>
          </a:p>
          <a:p>
            <a:pPr marL="0">
              <a:spcBef>
                <a:spcPts val="0"/>
              </a:spcBef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	end      start</a:t>
            </a:r>
            <a:endParaRPr lang="bg-BG" sz="1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372476" cy="1071570"/>
          </a:xfrm>
        </p:spPr>
        <p:txBody>
          <a:bodyPr>
            <a:noAutofit/>
          </a:bodyPr>
          <a:lstStyle/>
          <a:p>
            <a:r>
              <a:rPr lang="bg-BG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Зад. 2. : Дефинирайте в паметта X, Y  като 32 b числа. Изчислете и запазете Z=X</a:t>
            </a:r>
            <a:r>
              <a:rPr lang="bg-BG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bg-BG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bg-BG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bg-BG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като 64 b число.</a:t>
            </a:r>
            <a:endParaRPr lang="bg-BG" sz="2200" b="1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488" y="1357298"/>
            <a:ext cx="2967049" cy="4898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Autofit/>
          </a:bodyPr>
          <a:lstStyle/>
          <a:p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Зад.1. Изчислете сумата </a:t>
            </a:r>
            <a:r>
              <a:rPr lang="en-US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=X+Y,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където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X,Y, </a:t>
            </a:r>
            <a:r>
              <a:rPr lang="en-US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 </a:t>
            </a:r>
            <a:r>
              <a:rPr lang="ru-RU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64 b числа</a:t>
            </a:r>
            <a:r>
              <a:rPr lang="bg-BG" sz="3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3000" b="1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F423AD-9A08-4CAC-943C-9639EEC98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378777"/>
              </p:ext>
            </p:extLst>
          </p:nvPr>
        </p:nvGraphicFramePr>
        <p:xfrm>
          <a:off x="1214414" y="2071678"/>
          <a:ext cx="5746389" cy="3705062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schemeClr val="tx2">
                      <a:alpha val="40000"/>
                    </a:schemeClr>
                  </a:outerShdw>
                </a:effectLst>
                <a:tableStyleId>{125E5076-3810-47DD-B79F-674D7AD40C01}</a:tableStyleId>
              </a:tblPr>
              <a:tblGrid>
                <a:gridCol w="1915463">
                  <a:extLst>
                    <a:ext uri="{9D8B030D-6E8A-4147-A177-3AD203B41FA5}">
                      <a16:colId xmlns:a16="http://schemas.microsoft.com/office/drawing/2014/main" val="3148050213"/>
                    </a:ext>
                  </a:extLst>
                </a:gridCol>
                <a:gridCol w="1915463">
                  <a:extLst>
                    <a:ext uri="{9D8B030D-6E8A-4147-A177-3AD203B41FA5}">
                      <a16:colId xmlns:a16="http://schemas.microsoft.com/office/drawing/2014/main" val="3776507924"/>
                    </a:ext>
                  </a:extLst>
                </a:gridCol>
                <a:gridCol w="1915463">
                  <a:extLst>
                    <a:ext uri="{9D8B030D-6E8A-4147-A177-3AD203B41FA5}">
                      <a16:colId xmlns:a16="http://schemas.microsoft.com/office/drawing/2014/main" val="1571726319"/>
                    </a:ext>
                  </a:extLst>
                </a:gridCol>
              </a:tblGrid>
              <a:tr h="204946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bg-BG" sz="14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Карта на паметта</a:t>
                      </a:r>
                      <a:endParaRPr lang="bg-BG" sz="14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16748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00005000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Клетка</a:t>
                      </a:r>
                      <a:endParaRPr lang="bg-BG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Стойност</a:t>
                      </a:r>
                      <a:endParaRPr lang="bg-BG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69767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5001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160105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5002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20134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5003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505030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5004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0391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5005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FE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5006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5007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5008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5009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1D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5010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5011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5012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5013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 + 4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 fontAlgn="ctr"/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457235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5014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374102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5015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79212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5016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6524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372476" cy="1071570"/>
          </a:xfrm>
        </p:spPr>
        <p:txBody>
          <a:bodyPr>
            <a:noAutofit/>
          </a:bodyPr>
          <a:lstStyle/>
          <a:p>
            <a:r>
              <a:rPr lang="bg-BG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Зад. 2. : Дефинирайте в паметта X, Y  като 32 b числа. Изчислете и запазете Z=X</a:t>
            </a:r>
            <a:r>
              <a:rPr lang="bg-BG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bg-BG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bg-BG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bg-BG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като 64 b число.</a:t>
            </a:r>
            <a:endParaRPr lang="bg-BG" sz="2200" b="1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DBE2DB-7D90-47ED-B7D9-B20A37BC7E97}"/>
              </a:ext>
            </a:extLst>
          </p:cNvPr>
          <p:cNvSpPr/>
          <p:nvPr/>
        </p:nvSpPr>
        <p:spPr>
          <a:xfrm>
            <a:off x="1714480" y="1214423"/>
            <a:ext cx="5402669" cy="5893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.text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.global start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start:	LDR	R0,=X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LDR	R1,[R0]		;r1=X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LDR	R2,=Y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LDR	R3,[R2]		;r3=Y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SMULL R5,R6,R1,R1	;R5:R6=R1*R1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SMULL R8,R9,R3,R3	;R8:R9=R3*R3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A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R5,R5,R8	;R5=ZL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ADC	R6,R6,R9	;R6= ZH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LDR	R7,=Z+4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STR	R5,[R7]		;ZL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LDR	R7,=Z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STR	R6,[R7]		;ZH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SWI	0x11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.data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X:	.WORD	5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Y:	.WORD	-2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Z:	.WORD	0,0</a:t>
            </a:r>
          </a:p>
          <a:p>
            <a:r>
              <a:rPr lang="pt-BR" b="1">
                <a:latin typeface="Times New Roman" panose="02020603050405020304" pitchFamily="18" charset="0"/>
                <a:cs typeface="Times New Roman" panose="02020603050405020304" pitchFamily="18" charset="0"/>
              </a:rPr>
              <a:t>	.end</a:t>
            </a:r>
          </a:p>
          <a:p>
            <a:endParaRPr lang="en-US" sz="17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8372476" cy="1071570"/>
          </a:xfrm>
        </p:spPr>
        <p:txBody>
          <a:bodyPr>
            <a:noAutofit/>
          </a:bodyPr>
          <a:lstStyle/>
          <a:p>
            <a:r>
              <a:rPr lang="bg-BG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Зад. 2. : Дефинирайте в паметта X, Y  като 32 b числа. Изчислете и запазете Z=X</a:t>
            </a:r>
            <a:r>
              <a:rPr lang="bg-BG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bg-BG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bg-BG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bg-BG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като 64 b число.</a:t>
            </a:r>
            <a:endParaRPr lang="bg-BG" sz="2200" b="1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F423AD-9A08-4CAC-943C-9639EEC98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378777"/>
              </p:ext>
            </p:extLst>
          </p:nvPr>
        </p:nvGraphicFramePr>
        <p:xfrm>
          <a:off x="1214414" y="2071678"/>
          <a:ext cx="5746389" cy="3850640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schemeClr val="tx2">
                      <a:alpha val="40000"/>
                    </a:schemeClr>
                  </a:outerShdw>
                </a:effectLst>
                <a:tableStyleId>{125E5076-3810-47DD-B79F-674D7AD40C01}</a:tableStyleId>
              </a:tblPr>
              <a:tblGrid>
                <a:gridCol w="1915463">
                  <a:extLst>
                    <a:ext uri="{9D8B030D-6E8A-4147-A177-3AD203B41FA5}">
                      <a16:colId xmlns:a16="http://schemas.microsoft.com/office/drawing/2014/main" val="3148050213"/>
                    </a:ext>
                  </a:extLst>
                </a:gridCol>
                <a:gridCol w="1915463">
                  <a:extLst>
                    <a:ext uri="{9D8B030D-6E8A-4147-A177-3AD203B41FA5}">
                      <a16:colId xmlns:a16="http://schemas.microsoft.com/office/drawing/2014/main" val="3776507924"/>
                    </a:ext>
                  </a:extLst>
                </a:gridCol>
                <a:gridCol w="1915463">
                  <a:extLst>
                    <a:ext uri="{9D8B030D-6E8A-4147-A177-3AD203B41FA5}">
                      <a16:colId xmlns:a16="http://schemas.microsoft.com/office/drawing/2014/main" val="1571726319"/>
                    </a:ext>
                  </a:extLst>
                </a:gridCol>
              </a:tblGrid>
              <a:tr h="204946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bg-BG" sz="14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Карта на паметта</a:t>
                      </a:r>
                      <a:endParaRPr lang="bg-BG" sz="14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16748"/>
                  </a:ext>
                </a:extLst>
              </a:tr>
              <a:tr h="350524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00005000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Клетка</a:t>
                      </a:r>
                      <a:endParaRPr lang="bg-BG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bg-BG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Стойност</a:t>
                      </a:r>
                      <a:endParaRPr lang="bg-BG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69767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5001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0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160105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5002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20134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5003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505030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5004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05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70391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5005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Y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5006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5007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FF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5008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FE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5009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200" b="1" i="1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5010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5011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5012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2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5013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Z + 4</a:t>
                      </a:r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ctr" fontAlgn="ctr"/>
                      <a:endParaRPr lang="en-US" sz="1200" b="1" i="1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8457235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5014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374102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5015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00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792129"/>
                  </a:ext>
                </a:extLst>
              </a:tr>
              <a:tr h="204946"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sz="1200" u="none" strike="noStrike" kern="1200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5016</a:t>
                      </a:r>
                      <a:endParaRPr kumimoji="0" lang="bg-BG" sz="1200" u="none" strike="noStrike" kern="1200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1D</a:t>
                      </a:r>
                      <a:endParaRPr lang="en-US" sz="1200" b="1" i="0" u="none" strike="noStrike"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65243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815A41C86513B4096C6BAC35CB04A7C" ma:contentTypeVersion="11" ma:contentTypeDescription="Създаване на нов документ" ma:contentTypeScope="" ma:versionID="aeaffb348d2b52f24d410ae28bdf175e">
  <xsd:schema xmlns:xsd="http://www.w3.org/2001/XMLSchema" xmlns:xs="http://www.w3.org/2001/XMLSchema" xmlns:p="http://schemas.microsoft.com/office/2006/metadata/properties" xmlns:ns2="1170580e-cc85-4814-90d0-7c45caf95435" xmlns:ns3="fa43d559-56ce-40e4-b5e0-b1d2f1c6a948" targetNamespace="http://schemas.microsoft.com/office/2006/metadata/properties" ma:root="true" ma:fieldsID="2b6c80141cda9f3fb17d02d04063fe73" ns2:_="" ns3:_="">
    <xsd:import namespace="1170580e-cc85-4814-90d0-7c45caf95435"/>
    <xsd:import namespace="fa43d559-56ce-40e4-b5e0-b1d2f1c6a9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70580e-cc85-4814-90d0-7c45caf954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Етикети за изображения" ma:readOnly="false" ma:fieldId="{5cf76f15-5ced-4ddc-b409-7134ff3c332f}" ma:taxonomyMulti="true" ma:sspId="f94169f7-4ae2-4031-b8fa-636baa109d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43d559-56ce-40e4-b5e0-b1d2f1c6a94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8ac84de-a7dc-4418-88f8-8ba02af593f2}" ma:internalName="TaxCatchAll" ma:showField="CatchAllData" ma:web="fa43d559-56ce-40e4-b5e0-b1d2f1c6a9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съдържание"/>
        <xsd:element ref="dc:title" minOccurs="0" maxOccurs="1" ma:index="4" ma:displayName="Заглав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a43d559-56ce-40e4-b5e0-b1d2f1c6a948" xsi:nil="true"/>
    <lcf76f155ced4ddcb4097134ff3c332f xmlns="1170580e-cc85-4814-90d0-7c45caf9543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4B442EC-B0AA-4E71-AF28-6125554DCF3D}"/>
</file>

<file path=customXml/itemProps2.xml><?xml version="1.0" encoding="utf-8"?>
<ds:datastoreItem xmlns:ds="http://schemas.openxmlformats.org/officeDocument/2006/customXml" ds:itemID="{250EBD5A-A5ED-49DA-A841-AAAEDEADDA3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CE2CFAF-5AFA-4A06-A60B-BFF5C5A03AE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Application>Microsoft Office PowerPoint</Application>
  <PresentationFormat>On-screen Show (4:3)</PresentationFormat>
  <Slides>54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Flow</vt:lpstr>
      <vt:lpstr>Прехвърляне на данни. Промяна на формата на число.  Аритметични команди. Линейни програми.</vt:lpstr>
      <vt:lpstr>  I. Въвеждане на данни. I.1. За х86 процесор.</vt:lpstr>
      <vt:lpstr>  I. Въвеждане на данни. I.1. За х86 процесор.</vt:lpstr>
      <vt:lpstr>  I. Въвеждане на данни. I.1. За х86 процесор.</vt:lpstr>
      <vt:lpstr>  I. Въвеждане на данни. I.1. За х86 процесор.</vt:lpstr>
      <vt:lpstr>  I. Въвеждане на данни. I.1. За х86 процесор.</vt:lpstr>
      <vt:lpstr>  I. Въвеждане на данни. I.1. За х86 процесор.</vt:lpstr>
      <vt:lpstr>  I. Въвеждане на данни. I.1. За х86 процесор.</vt:lpstr>
      <vt:lpstr>  I. Въвеждане на данни. I.1. За х86 процесор.</vt:lpstr>
      <vt:lpstr>  I. Въвеждане на данни. I.1. За х86 процесор.</vt:lpstr>
      <vt:lpstr>  I. Въвеждане на данни. I.1. За х86 процесор.</vt:lpstr>
      <vt:lpstr>  I. Въвеждане на данни. I.1. За х86 процесор.</vt:lpstr>
      <vt:lpstr>  I. Въвеждане на данни. I.2. За ARM процесор.</vt:lpstr>
      <vt:lpstr>  I. Въвеждане на данни. I.2. За ARM процесор.</vt:lpstr>
      <vt:lpstr>  I. Въвеждане на данни. I.2. За ARM процесор.</vt:lpstr>
      <vt:lpstr>  I. Въвеждане на данни. I.2. За ARM процесор.</vt:lpstr>
      <vt:lpstr>  I. Въвеждане на данни. I.2. За ARM процесор.</vt:lpstr>
      <vt:lpstr>  I. Въвеждане на данни. I.2. За ARM процесор.</vt:lpstr>
      <vt:lpstr>  I. Въвеждане на данни. I.2. За ARM процесор.</vt:lpstr>
      <vt:lpstr> II. Прехвърляне на данни. II.1. x86</vt:lpstr>
      <vt:lpstr> II. Прехвърляне на данни. II.1. x86</vt:lpstr>
      <vt:lpstr> II. Прехвърляне на данни. II.1. ARM</vt:lpstr>
      <vt:lpstr> III. Промяна на формата на число.  III.1. x86</vt:lpstr>
      <vt:lpstr> III. Промяна на формата на число.  III.1. x86</vt:lpstr>
      <vt:lpstr> III. Промяна на формата на число.  III.1. x86</vt:lpstr>
      <vt:lpstr> III. Промяна на формата на число.  III.1. x86</vt:lpstr>
      <vt:lpstr> III. Промяна на формата на число.  III.1. x86</vt:lpstr>
      <vt:lpstr>IV. Аритметични инструкции. IV.1. За х86.</vt:lpstr>
      <vt:lpstr>IV. Аритметични команди. IV.1. За х86.</vt:lpstr>
      <vt:lpstr>IV. Аритметични команди. IV.1. За х86.</vt:lpstr>
      <vt:lpstr>IV. Аритметични команди. IV.1. За х86.</vt:lpstr>
      <vt:lpstr>IV. Аритметични команди. IV.1. За х86.</vt:lpstr>
      <vt:lpstr>IV. Аритметични команди. IV.1. За х86.</vt:lpstr>
      <vt:lpstr>IV. Аритметични команди. IV.1. За х86.</vt:lpstr>
      <vt:lpstr>IV. Аритметични команди. IV.1. За ARM.</vt:lpstr>
      <vt:lpstr>IV. Аритметични команди. IV.1. За ARM.</vt:lpstr>
      <vt:lpstr>IV. Аритметични команди. IV.1. За ARM.</vt:lpstr>
      <vt:lpstr>IV. Аритметични команди. IV.1. За ARM.</vt:lpstr>
      <vt:lpstr>V. Линейни програми</vt:lpstr>
      <vt:lpstr>V. Линейни програми</vt:lpstr>
      <vt:lpstr>V. Линейни програми</vt:lpstr>
      <vt:lpstr>Зад.1. Изчислете сумата sum=X+Y, където X,Y, sum са 64 b числа.</vt:lpstr>
      <vt:lpstr>Зад.1. Изчислете сумата sum=X+Y, където X,Y, sum са 64 b числа.</vt:lpstr>
      <vt:lpstr>Зад.1. Изчислете сумата sum=X+Y, където X,Y, sum са 64 b числа.</vt:lpstr>
      <vt:lpstr>Зад.1. Изчислете сумата sum=X+Y, където X,Y, sum са 64 b числа.</vt:lpstr>
      <vt:lpstr>Зад.1. Изчислете сумата sum=X+Y, където X,Y, sum са 64 b числа.</vt:lpstr>
      <vt:lpstr>Зад.1. Изчислете сумата sum=X+Y, където X,Y, sum са 64 b числа.</vt:lpstr>
      <vt:lpstr>Зад.1. Изчислете сумата sum=X+Y, където X,Y, sum са 64 b числа.</vt:lpstr>
      <vt:lpstr>PowerPoint Presentation</vt:lpstr>
      <vt:lpstr>Зад. 2. : Дефинирайте в паметта X, Y  като 32 b числа. Изчислете и запазете Z=X2+Y2 като 64 b число.</vt:lpstr>
      <vt:lpstr>Зад. 2. : Дефинирайте в паметта X, Y  като 32 b числа. Изчислете и запазете Z=X2+Y2 като 64 b число.</vt:lpstr>
      <vt:lpstr>Зад.1. Изчислете сумата sum=X+Y, където X,Y, sum са 64 b числа.</vt:lpstr>
      <vt:lpstr>Зад. 2. : Дефинирайте в паметта X, Y  като 32 b числа. Изчислете и запазете Z=X2+Y2 като 64 b число.</vt:lpstr>
      <vt:lpstr>Зад. 2. : Дефинирайте в паметта X, Y  като 32 b числа. Изчислете и запазете Z=X2+Y2 като 64 b число.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Програмен модел на микропроцесор IA-32. Методи за адресация. Формати на данните. Структура на паметта. Таблица с инструкции за микропроцесора.</dc:title>
  <dc:creator>Desi</dc:creator>
  <cp:revision>7</cp:revision>
  <dcterms:created xsi:type="dcterms:W3CDTF">2024-02-15T19:55:55Z</dcterms:created>
  <dcterms:modified xsi:type="dcterms:W3CDTF">2024-04-05T06:57:31Z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0x0101002815A41C86513B4096C6BAC35CB04A7C</vt:lpwstr>
  </property>
</Properties>
</file>
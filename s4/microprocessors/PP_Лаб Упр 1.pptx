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66"/>
  </p:notesMasterIdLst>
  <p:sldIdLst>
    <p:sldId id="256" r:id="rId5"/>
    <p:sldId id="257" r:id="rId6"/>
    <p:sldId id="261" r:id="rId7"/>
    <p:sldId id="263" r:id="rId8"/>
    <p:sldId id="264" r:id="rId9"/>
    <p:sldId id="262" r:id="rId10"/>
    <p:sldId id="258" r:id="rId11"/>
    <p:sldId id="266" r:id="rId12"/>
    <p:sldId id="268" r:id="rId13"/>
    <p:sldId id="267" r:id="rId14"/>
    <p:sldId id="265" r:id="rId15"/>
    <p:sldId id="259" r:id="rId16"/>
    <p:sldId id="319" r:id="rId17"/>
    <p:sldId id="260"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4" r:id="rId33"/>
    <p:sldId id="317" r:id="rId34"/>
    <p:sldId id="285" r:id="rId35"/>
    <p:sldId id="283" r:id="rId36"/>
    <p:sldId id="286" r:id="rId37"/>
    <p:sldId id="287" r:id="rId38"/>
    <p:sldId id="288" r:id="rId39"/>
    <p:sldId id="289" r:id="rId40"/>
    <p:sldId id="292" r:id="rId41"/>
    <p:sldId id="318" r:id="rId42"/>
    <p:sldId id="294" r:id="rId43"/>
    <p:sldId id="291" r:id="rId44"/>
    <p:sldId id="295" r:id="rId45"/>
    <p:sldId id="296" r:id="rId46"/>
    <p:sldId id="299" r:id="rId47"/>
    <p:sldId id="300" r:id="rId48"/>
    <p:sldId id="301" r:id="rId49"/>
    <p:sldId id="302" r:id="rId50"/>
    <p:sldId id="303" r:id="rId51"/>
    <p:sldId id="304" r:id="rId52"/>
    <p:sldId id="305" r:id="rId53"/>
    <p:sldId id="297" r:id="rId54"/>
    <p:sldId id="306" r:id="rId55"/>
    <p:sldId id="307" r:id="rId56"/>
    <p:sldId id="308" r:id="rId57"/>
    <p:sldId id="309" r:id="rId58"/>
    <p:sldId id="310" r:id="rId59"/>
    <p:sldId id="311" r:id="rId60"/>
    <p:sldId id="312" r:id="rId61"/>
    <p:sldId id="313" r:id="rId62"/>
    <p:sldId id="314" r:id="rId63"/>
    <p:sldId id="315" r:id="rId64"/>
    <p:sldId id="316" r:id="rId65"/>
  </p:sldIdLst>
  <p:sldSz cx="9144000" cy="6858000" type="screen4x3"/>
  <p:notesSz cx="6858000" cy="9144000"/>
  <p:defaultTextStyle>
    <a:defPPr>
      <a:defRPr lang="bg-B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A209F7-5060-414B-B352-62B64EF194C6}" v="3" dt="2024-05-05T14:43:35.7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viewProps" Target="viewProps.xml"/><Relationship Id="rId7" Type="http://schemas.openxmlformats.org/officeDocument/2006/relationships/slide" Target="slides/slide3.xml"/><Relationship Id="rId71"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72"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НИЯ КИРИЛОВА ПЕНЧЕВА СИТ 2к - 22621665" userId="S::s22621665@onlineedu.tu-varna.bg::e79f06bd-da24-4e82-8c1a-f0adaf4ff472" providerId="AD" clId="Web-{E96FFC11-F768-4F42-8C2C-0AC040DBB4FF}"/>
    <pc:docChg chg="sldOrd">
      <pc:chgData name="НИЯ КИРИЛОВА ПЕНЧЕВА СИТ 2к - 22621665" userId="S::s22621665@onlineedu.tu-varna.bg::e79f06bd-da24-4e82-8c1a-f0adaf4ff472" providerId="AD" clId="Web-{E96FFC11-F768-4F42-8C2C-0AC040DBB4FF}" dt="2024-03-16T18:33:49.965" v="0"/>
      <pc:docMkLst>
        <pc:docMk/>
      </pc:docMkLst>
      <pc:sldChg chg="ord">
        <pc:chgData name="НИЯ КИРИЛОВА ПЕНЧЕВА СИТ 2к - 22621665" userId="S::s22621665@onlineedu.tu-varna.bg::e79f06bd-da24-4e82-8c1a-f0adaf4ff472" providerId="AD" clId="Web-{E96FFC11-F768-4F42-8C2C-0AC040DBB4FF}" dt="2024-03-16T18:33:49.965" v="0"/>
        <pc:sldMkLst>
          <pc:docMk/>
          <pc:sldMk cId="0" sldId="265"/>
        </pc:sldMkLst>
      </pc:sldChg>
    </pc:docChg>
  </pc:docChgLst>
  <pc:docChgLst>
    <pc:chgData name="САЛИМЕХМЕД МЕХМЕД НИЯЗИ СИТ 2к - 22621684" userId="S::s22621684@onlineedu.tu-varna.bg::928785cc-c36e-4c18-b455-b645ce211268" providerId="AD" clId="Web-{077D26DA-1604-CA1E-92B4-BBECCBBF8C18}"/>
    <pc:docChg chg="modSld">
      <pc:chgData name="САЛИМЕХМЕД МЕХМЕД НИЯЗИ СИТ 2к - 22621684" userId="S::s22621684@onlineedu.tu-varna.bg::928785cc-c36e-4c18-b455-b645ce211268" providerId="AD" clId="Web-{077D26DA-1604-CA1E-92B4-BBECCBBF8C18}" dt="2024-04-04T17:55:27.260" v="2"/>
      <pc:docMkLst>
        <pc:docMk/>
      </pc:docMkLst>
      <pc:sldChg chg="addSp delSp modSp">
        <pc:chgData name="САЛИМЕХМЕД МЕХМЕД НИЯЗИ СИТ 2к - 22621684" userId="S::s22621684@onlineedu.tu-varna.bg::928785cc-c36e-4c18-b455-b645ce211268" providerId="AD" clId="Web-{077D26DA-1604-CA1E-92B4-BBECCBBF8C18}" dt="2024-04-04T17:55:27.260" v="2"/>
        <pc:sldMkLst>
          <pc:docMk/>
          <pc:sldMk cId="0" sldId="256"/>
        </pc:sldMkLst>
        <pc:spChg chg="add del">
          <ac:chgData name="САЛИМЕХМЕД МЕХМЕД НИЯЗИ СИТ 2к - 22621684" userId="S::s22621684@onlineedu.tu-varna.bg::928785cc-c36e-4c18-b455-b645ce211268" providerId="AD" clId="Web-{077D26DA-1604-CA1E-92B4-BBECCBBF8C18}" dt="2024-04-04T17:55:27.260" v="2"/>
          <ac:spMkLst>
            <pc:docMk/>
            <pc:sldMk cId="0" sldId="256"/>
            <ac:spMk id="2" creationId="{00000000-0000-0000-0000-000000000000}"/>
          </ac:spMkLst>
        </pc:spChg>
        <pc:spChg chg="del">
          <ac:chgData name="САЛИМЕХМЕД МЕХМЕД НИЯЗИ СИТ 2к - 22621684" userId="S::s22621684@onlineedu.tu-varna.bg::928785cc-c36e-4c18-b455-b645ce211268" providerId="AD" clId="Web-{077D26DA-1604-CA1E-92B4-BBECCBBF8C18}" dt="2024-04-04T17:55:18.994" v="0"/>
          <ac:spMkLst>
            <pc:docMk/>
            <pc:sldMk cId="0" sldId="256"/>
            <ac:spMk id="3" creationId="{00000000-0000-0000-0000-000000000000}"/>
          </ac:spMkLst>
        </pc:spChg>
        <pc:spChg chg="add del mod">
          <ac:chgData name="САЛИМЕХМЕД МЕХМЕД НИЯЗИ СИТ 2к - 22621684" userId="S::s22621684@onlineedu.tu-varna.bg::928785cc-c36e-4c18-b455-b645ce211268" providerId="AD" clId="Web-{077D26DA-1604-CA1E-92B4-BBECCBBF8C18}" dt="2024-04-04T17:55:27.260" v="2"/>
          <ac:spMkLst>
            <pc:docMk/>
            <pc:sldMk cId="0" sldId="256"/>
            <ac:spMk id="5" creationId="{B985EECA-3D42-F06C-657B-89761863965B}"/>
          </ac:spMkLst>
        </pc:spChg>
      </pc:sldChg>
    </pc:docChg>
  </pc:docChgLst>
  <pc:docChgLst>
    <pc:chgData name="ЯНА  АМПОВА СИТ 2к - 22621751" userId="S::s22621751@onlineedu.tu-varna.bg::e3fef173-1d60-411b-802f-d8b58aa20486" providerId="AD" clId="Web-{937C119C-9380-4DFF-858F-E38D4043BD3F}"/>
    <pc:docChg chg="modSld">
      <pc:chgData name="ЯНА  АМПОВА СИТ 2к - 22621751" userId="S::s22621751@onlineedu.tu-varna.bg::e3fef173-1d60-411b-802f-d8b58aa20486" providerId="AD" clId="Web-{937C119C-9380-4DFF-858F-E38D4043BD3F}" dt="2024-03-24T13:22:46.881" v="2" actId="1076"/>
      <pc:docMkLst>
        <pc:docMk/>
      </pc:docMkLst>
      <pc:sldChg chg="modSp">
        <pc:chgData name="ЯНА  АМПОВА СИТ 2к - 22621751" userId="S::s22621751@onlineedu.tu-varna.bg::e3fef173-1d60-411b-802f-d8b58aa20486" providerId="AD" clId="Web-{937C119C-9380-4DFF-858F-E38D4043BD3F}" dt="2024-03-24T13:09:21.804" v="0" actId="1076"/>
        <pc:sldMkLst>
          <pc:docMk/>
          <pc:sldMk cId="0" sldId="283"/>
        </pc:sldMkLst>
        <pc:picChg chg="mod">
          <ac:chgData name="ЯНА  АМПОВА СИТ 2к - 22621751" userId="S::s22621751@onlineedu.tu-varna.bg::e3fef173-1d60-411b-802f-d8b58aa20486" providerId="AD" clId="Web-{937C119C-9380-4DFF-858F-E38D4043BD3F}" dt="2024-03-24T13:09:21.804" v="0" actId="1076"/>
          <ac:picMkLst>
            <pc:docMk/>
            <pc:sldMk cId="0" sldId="283"/>
            <ac:picMk id="7" creationId="{00000000-0000-0000-0000-000000000000}"/>
          </ac:picMkLst>
        </pc:picChg>
      </pc:sldChg>
      <pc:sldChg chg="modSp">
        <pc:chgData name="ЯНА  АМПОВА СИТ 2к - 22621751" userId="S::s22621751@onlineedu.tu-varna.bg::e3fef173-1d60-411b-802f-d8b58aa20486" providerId="AD" clId="Web-{937C119C-9380-4DFF-858F-E38D4043BD3F}" dt="2024-03-24T13:22:46.881" v="2" actId="1076"/>
        <pc:sldMkLst>
          <pc:docMk/>
          <pc:sldMk cId="0" sldId="295"/>
        </pc:sldMkLst>
        <pc:picChg chg="mod">
          <ac:chgData name="ЯНА  АМПОВА СИТ 2к - 22621751" userId="S::s22621751@onlineedu.tu-varna.bg::e3fef173-1d60-411b-802f-d8b58aa20486" providerId="AD" clId="Web-{937C119C-9380-4DFF-858F-E38D4043BD3F}" dt="2024-03-24T13:22:46.881" v="2" actId="1076"/>
          <ac:picMkLst>
            <pc:docMk/>
            <pc:sldMk cId="0" sldId="295"/>
            <ac:picMk id="4" creationId="{00000000-0000-0000-0000-000000000000}"/>
          </ac:picMkLst>
        </pc:picChg>
      </pc:sldChg>
    </pc:docChg>
  </pc:docChgLst>
  <pc:docChgLst>
    <pc:chgData name="ПАВЕЛ ВАСИЛЕВ ВАСИЛЕВ СИТ 2к - 22621644" userId="S::s22621644@onlineedu.tu-varna.bg::cab81fd7-78cf-42a6-8855-85072d559337" providerId="AD" clId="Web-{8FA209F7-5060-414B-B352-62B64EF194C6}"/>
    <pc:docChg chg="modSld">
      <pc:chgData name="ПАВЕЛ ВАСИЛЕВ ВАСИЛЕВ СИТ 2к - 22621644" userId="S::s22621644@onlineedu.tu-varna.bg::cab81fd7-78cf-42a6-8855-85072d559337" providerId="AD" clId="Web-{8FA209F7-5060-414B-B352-62B64EF194C6}" dt="2024-05-05T14:43:35.760" v="5" actId="1076"/>
      <pc:docMkLst>
        <pc:docMk/>
      </pc:docMkLst>
      <pc:sldChg chg="modSp">
        <pc:chgData name="ПАВЕЛ ВАСИЛЕВ ВАСИЛЕВ СИТ 2к - 22621644" userId="S::s22621644@onlineedu.tu-varna.bg::cab81fd7-78cf-42a6-8855-85072d559337" providerId="AD" clId="Web-{8FA209F7-5060-414B-B352-62B64EF194C6}" dt="2024-05-05T14:40:27.959" v="4" actId="20577"/>
        <pc:sldMkLst>
          <pc:docMk/>
          <pc:sldMk cId="0" sldId="258"/>
        </pc:sldMkLst>
        <pc:spChg chg="mod">
          <ac:chgData name="ПАВЕЛ ВАСИЛЕВ ВАСИЛЕВ СИТ 2к - 22621644" userId="S::s22621644@onlineedu.tu-varna.bg::cab81fd7-78cf-42a6-8855-85072d559337" providerId="AD" clId="Web-{8FA209F7-5060-414B-B352-62B64EF194C6}" dt="2024-05-05T14:40:27.959" v="4" actId="20577"/>
          <ac:spMkLst>
            <pc:docMk/>
            <pc:sldMk cId="0" sldId="258"/>
            <ac:spMk id="3" creationId="{00000000-0000-0000-0000-000000000000}"/>
          </ac:spMkLst>
        </pc:spChg>
      </pc:sldChg>
      <pc:sldChg chg="modSp">
        <pc:chgData name="ПАВЕЛ ВАСИЛЕВ ВАСИЛЕВ СИТ 2к - 22621644" userId="S::s22621644@onlineedu.tu-varna.bg::cab81fd7-78cf-42a6-8855-85072d559337" providerId="AD" clId="Web-{8FA209F7-5060-414B-B352-62B64EF194C6}" dt="2024-05-05T14:43:35.760" v="5" actId="1076"/>
        <pc:sldMkLst>
          <pc:docMk/>
          <pc:sldMk cId="2198844190" sldId="319"/>
        </pc:sldMkLst>
        <pc:picChg chg="mod">
          <ac:chgData name="ПАВЕЛ ВАСИЛЕВ ВАСИЛЕВ СИТ 2к - 22621644" userId="S::s22621644@onlineedu.tu-varna.bg::cab81fd7-78cf-42a6-8855-85072d559337" providerId="AD" clId="Web-{8FA209F7-5060-414B-B352-62B64EF194C6}" dt="2024-05-05T14:43:35.760" v="5" actId="1076"/>
          <ac:picMkLst>
            <pc:docMk/>
            <pc:sldMk cId="2198844190" sldId="319"/>
            <ac:picMk id="4" creationId="{00000000-0000-0000-0000-000000000000}"/>
          </ac:picMkLst>
        </pc:picChg>
      </pc:sldChg>
    </pc:docChg>
  </pc:docChgLst>
  <pc:docChgLst>
    <pc:chgData name="ЯНА  АМПОВА СИТ 2к - 22621751" userId="S::s22621751@onlineedu.tu-varna.bg::e3fef173-1d60-411b-802f-d8b58aa20486" providerId="AD" clId="Web-{9CE7713F-FC7C-49F5-8F9F-1B7B7612D0DE}"/>
    <pc:docChg chg="modSld">
      <pc:chgData name="ЯНА  АМПОВА СИТ 2к - 22621751" userId="S::s22621751@onlineedu.tu-varna.bg::e3fef173-1d60-411b-802f-d8b58aa20486" providerId="AD" clId="Web-{9CE7713F-FC7C-49F5-8F9F-1B7B7612D0DE}" dt="2024-03-30T14:02:25.312" v="1" actId="1076"/>
      <pc:docMkLst>
        <pc:docMk/>
      </pc:docMkLst>
      <pc:sldChg chg="modSp">
        <pc:chgData name="ЯНА  АМПОВА СИТ 2к - 22621751" userId="S::s22621751@onlineedu.tu-varna.bg::e3fef173-1d60-411b-802f-d8b58aa20486" providerId="AD" clId="Web-{9CE7713F-FC7C-49F5-8F9F-1B7B7612D0DE}" dt="2024-03-30T13:51:16.991" v="0" actId="1076"/>
        <pc:sldMkLst>
          <pc:docMk/>
          <pc:sldMk cId="0" sldId="267"/>
        </pc:sldMkLst>
        <pc:picChg chg="mod">
          <ac:chgData name="ЯНА  АМПОВА СИТ 2к - 22621751" userId="S::s22621751@onlineedu.tu-varna.bg::e3fef173-1d60-411b-802f-d8b58aa20486" providerId="AD" clId="Web-{9CE7713F-FC7C-49F5-8F9F-1B7B7612D0DE}" dt="2024-03-30T13:51:16.991" v="0" actId="1076"/>
          <ac:picMkLst>
            <pc:docMk/>
            <pc:sldMk cId="0" sldId="267"/>
            <ac:picMk id="4" creationId="{00000000-0000-0000-0000-000000000000}"/>
          </ac:picMkLst>
        </pc:picChg>
      </pc:sldChg>
      <pc:sldChg chg="modSp">
        <pc:chgData name="ЯНА  АМПОВА СИТ 2к - 22621751" userId="S::s22621751@onlineedu.tu-varna.bg::e3fef173-1d60-411b-802f-d8b58aa20486" providerId="AD" clId="Web-{9CE7713F-FC7C-49F5-8F9F-1B7B7612D0DE}" dt="2024-03-30T14:02:25.312" v="1" actId="1076"/>
        <pc:sldMkLst>
          <pc:docMk/>
          <pc:sldMk cId="0" sldId="283"/>
        </pc:sldMkLst>
        <pc:picChg chg="mod">
          <ac:chgData name="ЯНА  АМПОВА СИТ 2к - 22621751" userId="S::s22621751@onlineedu.tu-varna.bg::e3fef173-1d60-411b-802f-d8b58aa20486" providerId="AD" clId="Web-{9CE7713F-FC7C-49F5-8F9F-1B7B7612D0DE}" dt="2024-03-30T14:02:25.312" v="1" actId="1076"/>
          <ac:picMkLst>
            <pc:docMk/>
            <pc:sldMk cId="0" sldId="283"/>
            <ac:picMk id="7" creationId="{00000000-0000-0000-0000-000000000000}"/>
          </ac:picMkLst>
        </pc:picChg>
      </pc:sldChg>
    </pc:docChg>
  </pc:docChgLst>
  <pc:docChgLst>
    <pc:chgData name="ЗЕРИН СЕВГЮЗЕНОВА МЕХМЕДОВА СИТ 2к - 22621632" userId="S::s22621632@onlineedu.tu-varna.bg::79da57d7-ddc5-4e4e-b81c-aeabf7a3508c" providerId="AD" clId="Web-{18CB7004-24C8-4368-B91A-BB8B456EC50A}"/>
    <pc:docChg chg="addSld delSld">
      <pc:chgData name="ЗЕРИН СЕВГЮЗЕНОВА МЕХМЕДОВА СИТ 2к - 22621632" userId="S::s22621632@onlineedu.tu-varna.bg::79da57d7-ddc5-4e4e-b81c-aeabf7a3508c" providerId="AD" clId="Web-{18CB7004-24C8-4368-B91A-BB8B456EC50A}" dt="2024-03-26T21:09:36.497" v="1"/>
      <pc:docMkLst>
        <pc:docMk/>
      </pc:docMkLst>
      <pc:sldChg chg="new del">
        <pc:chgData name="ЗЕРИН СЕВГЮЗЕНОВА МЕХМЕДОВА СИТ 2к - 22621632" userId="S::s22621632@onlineedu.tu-varna.bg::79da57d7-ddc5-4e4e-b81c-aeabf7a3508c" providerId="AD" clId="Web-{18CB7004-24C8-4368-B91A-BB8B456EC50A}" dt="2024-03-26T21:09:36.497" v="1"/>
        <pc:sldMkLst>
          <pc:docMk/>
          <pc:sldMk cId="1958836212" sldId="32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bg-BG"/>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192332A-55AF-4551-8E83-32AC6773F37C}" type="datetimeFigureOut">
              <a:rPr lang="bg-BG" smtClean="0"/>
              <a:pPr/>
              <a:t>5.5.2024 г.</a:t>
            </a:fld>
            <a:endParaRPr lang="bg-BG"/>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bg-BG"/>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bg-BG"/>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A78BE4E-C978-4DDD-BFFE-20E7B8E0D29B}" type="slidenum">
              <a:rPr lang="bg-BG" smtClean="0"/>
              <a:pPr/>
              <a:t>‹#›</a:t>
            </a:fld>
            <a:endParaRPr lang="bg-BG"/>
          </a:p>
        </p:txBody>
      </p:sp>
    </p:spTree>
    <p:extLst>
      <p:ext uri="{BB962C8B-B14F-4D97-AF65-F5344CB8AC3E}">
        <p14:creationId xmlns:p14="http://schemas.microsoft.com/office/powerpoint/2010/main" val="39895932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a:p>
        </p:txBody>
      </p:sp>
      <p:sp>
        <p:nvSpPr>
          <p:cNvPr id="4" name="Slide Number Placeholder 3"/>
          <p:cNvSpPr>
            <a:spLocks noGrp="1"/>
          </p:cNvSpPr>
          <p:nvPr>
            <p:ph type="sldNum" sz="quarter" idx="10"/>
          </p:nvPr>
        </p:nvSpPr>
        <p:spPr/>
        <p:txBody>
          <a:bodyPr/>
          <a:lstStyle/>
          <a:p>
            <a:fld id="{7A78BE4E-C978-4DDD-BFFE-20E7B8E0D29B}" type="slidenum">
              <a:rPr lang="bg-BG" smtClean="0"/>
              <a:pPr/>
              <a:t>2</a:t>
            </a:fld>
            <a:endParaRPr lang="bg-BG"/>
          </a:p>
        </p:txBody>
      </p:sp>
    </p:spTree>
    <p:extLst>
      <p:ext uri="{BB962C8B-B14F-4D97-AF65-F5344CB8AC3E}">
        <p14:creationId xmlns:p14="http://schemas.microsoft.com/office/powerpoint/2010/main" val="39540104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BCD2AA38-B623-4529-8E38-4C26B6BE11C2}" type="datetimeFigureOut">
              <a:rPr lang="bg-BG" smtClean="0"/>
              <a:pPr/>
              <a:t>5.5.2024 г.</a:t>
            </a:fld>
            <a:endParaRPr lang="bg-BG"/>
          </a:p>
        </p:txBody>
      </p:sp>
      <p:sp>
        <p:nvSpPr>
          <p:cNvPr id="19" name="Footer Placeholder 18"/>
          <p:cNvSpPr>
            <a:spLocks noGrp="1"/>
          </p:cNvSpPr>
          <p:nvPr>
            <p:ph type="ftr" sz="quarter" idx="11"/>
          </p:nvPr>
        </p:nvSpPr>
        <p:spPr/>
        <p:txBody>
          <a:bodyPr/>
          <a:lstStyle/>
          <a:p>
            <a:endParaRPr lang="bg-BG"/>
          </a:p>
        </p:txBody>
      </p:sp>
      <p:sp>
        <p:nvSpPr>
          <p:cNvPr id="27" name="Slide Number Placeholder 26"/>
          <p:cNvSpPr>
            <a:spLocks noGrp="1"/>
          </p:cNvSpPr>
          <p:nvPr>
            <p:ph type="sldNum" sz="quarter" idx="12"/>
          </p:nvPr>
        </p:nvSpPr>
        <p:spPr/>
        <p:txBody>
          <a:bodyPr/>
          <a:lstStyle/>
          <a:p>
            <a:fld id="{24109040-8F74-4CAF-B14B-2C048A8F2A9A}" type="slidenum">
              <a:rPr lang="bg-BG" smtClean="0"/>
              <a:pPr/>
              <a:t>‹#›</a:t>
            </a:fld>
            <a:endParaRPr lang="bg-BG"/>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CD2AA38-B623-4529-8E38-4C26B6BE11C2}" type="datetimeFigureOut">
              <a:rPr lang="bg-BG" smtClean="0"/>
              <a:pPr/>
              <a:t>5.5.2024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BCD2AA38-B623-4529-8E38-4C26B6BE11C2}" type="datetimeFigureOut">
              <a:rPr lang="bg-BG" smtClean="0"/>
              <a:pPr/>
              <a:t>5.5.2024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24109040-8F74-4CAF-B14B-2C048A8F2A9A}" type="slidenum">
              <a:rPr lang="bg-BG" smtClean="0"/>
              <a:pPr/>
              <a:t>‹#›</a:t>
            </a:fld>
            <a:endParaRPr lang="bg-BG"/>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BCD2AA38-B623-4529-8E38-4C26B6BE11C2}" type="datetimeFigureOut">
              <a:rPr lang="bg-BG" smtClean="0"/>
              <a:pPr/>
              <a:t>5.5.2024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BCD2AA38-B623-4529-8E38-4C26B6BE11C2}" type="datetimeFigureOut">
              <a:rPr lang="bg-BG" smtClean="0"/>
              <a:pPr/>
              <a:t>5.5.2024 г.</a:t>
            </a:fld>
            <a:endParaRPr lang="bg-BG"/>
          </a:p>
        </p:txBody>
      </p:sp>
      <p:sp>
        <p:nvSpPr>
          <p:cNvPr id="8" name="Footer Placeholder 7"/>
          <p:cNvSpPr>
            <a:spLocks noGrp="1"/>
          </p:cNvSpPr>
          <p:nvPr>
            <p:ph type="ftr" sz="quarter" idx="11"/>
          </p:nvPr>
        </p:nvSpPr>
        <p:spPr/>
        <p:txBody>
          <a:bodyPr/>
          <a:lstStyle/>
          <a:p>
            <a:endParaRPr lang="bg-BG"/>
          </a:p>
        </p:txBody>
      </p:sp>
      <p:sp>
        <p:nvSpPr>
          <p:cNvPr id="9" name="Slide Number Placeholder 8"/>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BCD2AA38-B623-4529-8E38-4C26B6BE11C2}" type="datetimeFigureOut">
              <a:rPr lang="bg-BG" smtClean="0"/>
              <a:pPr/>
              <a:t>5.5.2024 г.</a:t>
            </a:fld>
            <a:endParaRPr lang="bg-BG"/>
          </a:p>
        </p:txBody>
      </p:sp>
      <p:sp>
        <p:nvSpPr>
          <p:cNvPr id="4" name="Footer Placeholder 3"/>
          <p:cNvSpPr>
            <a:spLocks noGrp="1"/>
          </p:cNvSpPr>
          <p:nvPr>
            <p:ph type="ftr" sz="quarter" idx="11"/>
          </p:nvPr>
        </p:nvSpPr>
        <p:spPr/>
        <p:txBody>
          <a:bodyPr/>
          <a:lstStyle/>
          <a:p>
            <a:endParaRPr lang="bg-BG"/>
          </a:p>
        </p:txBody>
      </p:sp>
      <p:sp>
        <p:nvSpPr>
          <p:cNvPr id="5" name="Slide Number Placeholder 4"/>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D2AA38-B623-4529-8E38-4C26B6BE11C2}" type="datetimeFigureOut">
              <a:rPr lang="bg-BG" smtClean="0"/>
              <a:pPr/>
              <a:t>5.5.2024 г.</a:t>
            </a:fld>
            <a:endParaRPr lang="bg-BG"/>
          </a:p>
        </p:txBody>
      </p:sp>
      <p:sp>
        <p:nvSpPr>
          <p:cNvPr id="3" name="Footer Placeholder 2"/>
          <p:cNvSpPr>
            <a:spLocks noGrp="1"/>
          </p:cNvSpPr>
          <p:nvPr>
            <p:ph type="ftr" sz="quarter" idx="11"/>
          </p:nvPr>
        </p:nvSpPr>
        <p:spPr/>
        <p:txBody>
          <a:bodyPr/>
          <a:lstStyle/>
          <a:p>
            <a:endParaRPr lang="bg-BG"/>
          </a:p>
        </p:txBody>
      </p:sp>
      <p:sp>
        <p:nvSpPr>
          <p:cNvPr id="4" name="Slide Number Placeholder 3"/>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BCD2AA38-B623-4529-8E38-4C26B6BE11C2}" type="datetimeFigureOut">
              <a:rPr lang="bg-BG" smtClean="0"/>
              <a:pPr/>
              <a:t>5.5.2024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BCD2AA38-B623-4529-8E38-4C26B6BE11C2}" type="datetimeFigureOut">
              <a:rPr lang="bg-BG" smtClean="0"/>
              <a:pPr/>
              <a:t>5.5.2024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a:xfrm>
            <a:off x="8077200" y="6356350"/>
            <a:ext cx="609600" cy="365125"/>
          </a:xfrm>
        </p:spPr>
        <p:txBody>
          <a:bodyPr/>
          <a:lstStyle/>
          <a:p>
            <a:fld id="{24109040-8F74-4CAF-B14B-2C048A8F2A9A}" type="slidenum">
              <a:rPr lang="bg-BG" smtClean="0"/>
              <a:pPr/>
              <a:t>‹#›</a:t>
            </a:fld>
            <a:endParaRPr lang="bg-BG"/>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CD2AA38-B623-4529-8E38-4C26B6BE11C2}" type="datetimeFigureOut">
              <a:rPr lang="bg-BG" smtClean="0"/>
              <a:pPr/>
              <a:t>5.5.2024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CD2AA38-B623-4529-8E38-4C26B6BE11C2}" type="datetimeFigureOut">
              <a:rPr lang="bg-BG" smtClean="0"/>
              <a:pPr/>
              <a:t>5.5.2024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24109040-8F74-4CAF-B14B-2C048A8F2A9A}" type="slidenum">
              <a:rPr lang="bg-BG" smtClean="0"/>
              <a:pPr/>
              <a:t>‹#›</a:t>
            </a:fld>
            <a:endParaRPr lang="bg-BG"/>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BCD2AA38-B623-4529-8E38-4C26B6BE11C2}" type="datetimeFigureOut">
              <a:rPr lang="bg-BG" smtClean="0"/>
              <a:pPr/>
              <a:t>5.5.2024 г.</a:t>
            </a:fld>
            <a:endParaRPr lang="bg-BG"/>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bg-BG"/>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24109040-8F74-4CAF-B14B-2C048A8F2A9A}" type="slidenum">
              <a:rPr lang="bg-BG" smtClean="0"/>
              <a:pPr/>
              <a:t>‹#›</a:t>
            </a:fld>
            <a:endParaRPr lang="bg-BG"/>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71472" y="4286256"/>
            <a:ext cx="7851648" cy="1828800"/>
          </a:xfrm>
        </p:spPr>
        <p:txBody>
          <a:bodyPr>
            <a:noAutofit/>
          </a:bodyPr>
          <a:lstStyle/>
          <a:p>
            <a:r>
              <a:rPr lang="bg-BG" sz="4800" dirty="0">
                <a:latin typeface="Times New Roman" pitchFamily="18" charset="0"/>
                <a:cs typeface="Times New Roman" pitchFamily="18" charset="0"/>
              </a:rPr>
              <a:t>Програмен модел на микропроцесор </a:t>
            </a:r>
            <a:r>
              <a:rPr lang="en-US" sz="4800" dirty="0">
                <a:latin typeface="Times New Roman" pitchFamily="18" charset="0"/>
                <a:cs typeface="Times New Roman" pitchFamily="18" charset="0"/>
              </a:rPr>
              <a:t>IA</a:t>
            </a:r>
            <a:r>
              <a:rPr lang="ru-RU" sz="4800" dirty="0">
                <a:latin typeface="Times New Roman" pitchFamily="18" charset="0"/>
                <a:cs typeface="Times New Roman" pitchFamily="18" charset="0"/>
              </a:rPr>
              <a:t>-32. </a:t>
            </a:r>
            <a:r>
              <a:rPr lang="ru-RU" sz="4800" dirty="0" err="1">
                <a:latin typeface="Times New Roman" pitchFamily="18" charset="0"/>
                <a:cs typeface="Times New Roman" pitchFamily="18" charset="0"/>
              </a:rPr>
              <a:t>Методи</a:t>
            </a:r>
            <a:r>
              <a:rPr lang="ru-RU" sz="4800" dirty="0">
                <a:latin typeface="Times New Roman" pitchFamily="18" charset="0"/>
                <a:cs typeface="Times New Roman" pitchFamily="18" charset="0"/>
              </a:rPr>
              <a:t> за адресация. </a:t>
            </a:r>
            <a:r>
              <a:rPr lang="ru-RU" sz="4800" dirty="0" err="1">
                <a:latin typeface="Times New Roman" pitchFamily="18" charset="0"/>
                <a:cs typeface="Times New Roman" pitchFamily="18" charset="0"/>
              </a:rPr>
              <a:t>Формати</a:t>
            </a:r>
            <a:r>
              <a:rPr lang="ru-RU" sz="4800" dirty="0">
                <a:latin typeface="Times New Roman" pitchFamily="18" charset="0"/>
                <a:cs typeface="Times New Roman" pitchFamily="18" charset="0"/>
              </a:rPr>
              <a:t> на </a:t>
            </a:r>
            <a:r>
              <a:rPr lang="ru-RU" sz="4800" dirty="0" err="1">
                <a:latin typeface="Times New Roman" pitchFamily="18" charset="0"/>
                <a:cs typeface="Times New Roman" pitchFamily="18" charset="0"/>
              </a:rPr>
              <a:t>данните</a:t>
            </a:r>
            <a:r>
              <a:rPr lang="ru-RU" sz="4800" dirty="0">
                <a:latin typeface="Times New Roman" pitchFamily="18" charset="0"/>
                <a:cs typeface="Times New Roman" pitchFamily="18" charset="0"/>
              </a:rPr>
              <a:t>. Структура на </a:t>
            </a:r>
            <a:r>
              <a:rPr lang="ru-RU" sz="4800" dirty="0" err="1">
                <a:latin typeface="Times New Roman" pitchFamily="18" charset="0"/>
                <a:cs typeface="Times New Roman" pitchFamily="18" charset="0"/>
              </a:rPr>
              <a:t>паметта</a:t>
            </a:r>
            <a:r>
              <a:rPr lang="ru-RU" sz="4800" dirty="0">
                <a:latin typeface="Times New Roman" pitchFamily="18" charset="0"/>
                <a:cs typeface="Times New Roman" pitchFamily="18" charset="0"/>
              </a:rPr>
              <a:t>. Таблица с инструкции за </a:t>
            </a:r>
            <a:r>
              <a:rPr lang="ru-RU" sz="4800" dirty="0" err="1">
                <a:latin typeface="Times New Roman" pitchFamily="18" charset="0"/>
                <a:cs typeface="Times New Roman" pitchFamily="18" charset="0"/>
              </a:rPr>
              <a:t>микропроцесора</a:t>
            </a:r>
            <a:r>
              <a:rPr lang="ru-RU" sz="4800" dirty="0">
                <a:latin typeface="Times New Roman" pitchFamily="18" charset="0"/>
                <a:cs typeface="Times New Roman" pitchFamily="18" charset="0"/>
              </a:rPr>
              <a:t>.</a:t>
            </a:r>
            <a:endParaRPr lang="bg-BG" sz="4800" dirty="0">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642918"/>
            <a:ext cx="8229600" cy="1143000"/>
          </a:xfrm>
        </p:spPr>
        <p:txBody>
          <a:bodyPr>
            <a:normAutofit/>
          </a:bodyPr>
          <a:lstStyle/>
          <a:p>
            <a:r>
              <a:rPr lang="en-US" sz="6400">
                <a:latin typeface="Times New Roman" pitchFamily="18" charset="0"/>
                <a:cs typeface="Times New Roman" pitchFamily="18" charset="0"/>
              </a:rPr>
              <a:t>  IA</a:t>
            </a:r>
            <a:r>
              <a:rPr lang="ru-RU" sz="6400">
                <a:latin typeface="Times New Roman" pitchFamily="18" charset="0"/>
                <a:cs typeface="Times New Roman" pitchFamily="18" charset="0"/>
              </a:rPr>
              <a:t>-32</a:t>
            </a:r>
            <a:endParaRPr lang="bg-BG" sz="6400"/>
          </a:p>
        </p:txBody>
      </p:sp>
      <p:sp>
        <p:nvSpPr>
          <p:cNvPr id="3" name="Content Placeholder 2"/>
          <p:cNvSpPr>
            <a:spLocks noGrp="1"/>
          </p:cNvSpPr>
          <p:nvPr>
            <p:ph idx="1"/>
          </p:nvPr>
        </p:nvSpPr>
        <p:spPr>
          <a:xfrm>
            <a:off x="285720" y="1785926"/>
            <a:ext cx="3643338" cy="4857784"/>
          </a:xfrm>
        </p:spPr>
        <p:txBody>
          <a:bodyPr>
            <a:normAutofit/>
          </a:bodyPr>
          <a:lstStyle/>
          <a:p>
            <a:pPr marL="0" indent="0" algn="ctr">
              <a:buNone/>
            </a:pPr>
            <a:r>
              <a:rPr lang="en-US" b="1">
                <a:latin typeface="Times New Roman" panose="02020603050405020304" pitchFamily="18" charset="0"/>
                <a:cs typeface="Times New Roman" panose="02020603050405020304" pitchFamily="18" charset="0"/>
              </a:rPr>
              <a:t>    </a:t>
            </a:r>
            <a:r>
              <a:rPr lang="ru-RU" b="1">
                <a:latin typeface="Times New Roman" panose="02020603050405020304" pitchFamily="18" charset="0"/>
                <a:cs typeface="Times New Roman" panose="02020603050405020304" pitchFamily="18" charset="0"/>
              </a:rPr>
              <a:t>IA-32</a:t>
            </a:r>
            <a:endParaRPr lang="en-US" b="1">
              <a:latin typeface="Times New Roman" panose="02020603050405020304" pitchFamily="18" charset="0"/>
              <a:cs typeface="Times New Roman" panose="02020603050405020304" pitchFamily="18" charset="0"/>
            </a:endParaRPr>
          </a:p>
          <a:p>
            <a:pPr marL="0" indent="0">
              <a:buNone/>
            </a:pPr>
            <a:r>
              <a:rPr lang="ru-RU">
                <a:latin typeface="Times New Roman" panose="02020603050405020304" pitchFamily="18" charset="0"/>
                <a:cs typeface="Times New Roman" panose="02020603050405020304" pitchFamily="18" charset="0"/>
              </a:rPr>
              <a:t>"Intel Architecture, 32-bit",</a:t>
            </a:r>
            <a:endParaRPr lang="en-US">
              <a:latin typeface="Times New Roman" panose="02020603050405020304" pitchFamily="18" charset="0"/>
              <a:cs typeface="Times New Roman" panose="02020603050405020304" pitchFamily="18" charset="0"/>
            </a:endParaRPr>
          </a:p>
          <a:p>
            <a:pPr marL="0" indent="0">
              <a:buNone/>
            </a:pPr>
            <a:r>
              <a:rPr lang="ru-RU">
                <a:latin typeface="Times New Roman" panose="02020603050405020304" pitchFamily="18" charset="0"/>
                <a:cs typeface="Times New Roman" panose="02020603050405020304" pitchFamily="18" charset="0"/>
              </a:rPr>
              <a:t> е 32-битовата версия на архитектурата на набора от инструкции x86 , проектирана от Intel и внедрена за първи път в 80386 микропроцесор през 1985 г.</a:t>
            </a:r>
            <a:endParaRPr lang="en-US">
              <a:latin typeface="Times New Roman" panose="02020603050405020304" pitchFamily="18" charset="0"/>
              <a:cs typeface="Times New Roman" panose="02020603050405020304" pitchFamily="18" charset="0"/>
            </a:endParaRPr>
          </a:p>
          <a:p>
            <a:pPr>
              <a:buNone/>
            </a:pPr>
            <a:r>
              <a:rPr lang="en-US"/>
              <a:t>   </a:t>
            </a:r>
            <a:endParaRPr lang="bg-BG"/>
          </a:p>
        </p:txBody>
      </p:sp>
      <p:pic>
        <p:nvPicPr>
          <p:cNvPr id="1026" name="Picture 2" descr="https://upload.wikimedia.org/wikipedia/commons/thumb/b/b0/I386SX.jpg/1280px-I386SX.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71934" y="2000240"/>
            <a:ext cx="5048284" cy="37862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1472" y="1928802"/>
            <a:ext cx="8358246" cy="4643470"/>
          </a:xfrm>
        </p:spPr>
        <p:txBody>
          <a:bodyPr>
            <a:normAutofit fontScale="92500"/>
          </a:bodyPr>
          <a:lstStyle/>
          <a:p>
            <a:pPr algn="just"/>
            <a:r>
              <a:rPr lang="ru-RU" sz="3500">
                <a:latin typeface="Times New Roman" pitchFamily="18" charset="0"/>
                <a:cs typeface="Times New Roman" pitchFamily="18" charset="0"/>
              </a:rPr>
              <a:t>Основната определяща характеристика на IA-32 е наличието на 32-битови процесорни регистри с общо предназначение (например EAX и EBX), 32-битови целочислени аритметични и логически операции, 32-битови отмествания в рамките на сегмент в защитен режим и транслацията на сегментирани адреси в 32-битови линейни адреси.</a:t>
            </a:r>
            <a:endParaRPr lang="bg-BG"/>
          </a:p>
          <a:p>
            <a:endParaRPr lang="bg-BG"/>
          </a:p>
        </p:txBody>
      </p:sp>
      <p:sp>
        <p:nvSpPr>
          <p:cNvPr id="4" name="Title 1"/>
          <p:cNvSpPr>
            <a:spLocks noGrp="1"/>
          </p:cNvSpPr>
          <p:nvPr>
            <p:ph type="title"/>
          </p:nvPr>
        </p:nvSpPr>
        <p:spPr>
          <a:xfrm>
            <a:off x="500034" y="642918"/>
            <a:ext cx="8229600" cy="1143000"/>
          </a:xfrm>
        </p:spPr>
        <p:txBody>
          <a:bodyPr>
            <a:normAutofit/>
          </a:bodyPr>
          <a:lstStyle/>
          <a:p>
            <a:r>
              <a:rPr lang="en-US" sz="5400">
                <a:latin typeface="Times New Roman" pitchFamily="18" charset="0"/>
                <a:cs typeface="Times New Roman" pitchFamily="18" charset="0"/>
              </a:rPr>
              <a:t>  </a:t>
            </a:r>
            <a:r>
              <a:rPr lang="en-US" sz="6400">
                <a:latin typeface="Times New Roman" pitchFamily="18" charset="0"/>
                <a:cs typeface="Times New Roman" pitchFamily="18" charset="0"/>
              </a:rPr>
              <a:t>IA</a:t>
            </a:r>
            <a:r>
              <a:rPr lang="ru-RU" sz="6400">
                <a:latin typeface="Times New Roman" pitchFamily="18" charset="0"/>
                <a:cs typeface="Times New Roman" pitchFamily="18" charset="0"/>
              </a:rPr>
              <a:t>-32</a:t>
            </a:r>
            <a:endParaRPr lang="bg-BG" sz="6400"/>
          </a:p>
        </p:txBody>
      </p:sp>
    </p:spTree>
    <p:extLst>
      <p:ext uri="{BB962C8B-B14F-4D97-AF65-F5344CB8AC3E}">
        <p14:creationId xmlns:p14="http://schemas.microsoft.com/office/powerpoint/2010/main" val="4154239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 </a:t>
            </a:r>
            <a:endParaRPr lang="bg-BG"/>
          </a:p>
        </p:txBody>
      </p:sp>
      <p:sp>
        <p:nvSpPr>
          <p:cNvPr id="3" name="Content Placeholder 2"/>
          <p:cNvSpPr>
            <a:spLocks noGrp="1"/>
          </p:cNvSpPr>
          <p:nvPr>
            <p:ph idx="1"/>
          </p:nvPr>
        </p:nvSpPr>
        <p:spPr/>
        <p:txBody>
          <a:bodyPr>
            <a:normAutofit fontScale="92500" lnSpcReduction="10000"/>
          </a:bodyPr>
          <a:lstStyle/>
          <a:p>
            <a:pPr algn="just"/>
            <a:r>
              <a:rPr lang="ru-RU" sz="3600">
                <a:latin typeface="Times New Roman" pitchFamily="18" charset="0"/>
                <a:cs typeface="Times New Roman" pitchFamily="18" charset="0"/>
              </a:rPr>
              <a:t>i486 или 80486 е по-високопроизводително продължение на Intel 386 . i486 </a:t>
            </a:r>
            <a:r>
              <a:rPr lang="bg-BG" sz="3600">
                <a:latin typeface="Times New Roman" pitchFamily="18" charset="0"/>
                <a:cs typeface="Times New Roman" pitchFamily="18" charset="0"/>
              </a:rPr>
              <a:t>е </a:t>
            </a:r>
            <a:r>
              <a:rPr lang="ru-RU" sz="3600">
                <a:latin typeface="Times New Roman" pitchFamily="18" charset="0"/>
                <a:cs typeface="Times New Roman" pitchFamily="18" charset="0"/>
              </a:rPr>
              <a:t>представен през 1989г. Той представлява четвъртото поколение бинарно съвместими процесори след 8086 от 1978 г., Intel 80286 от 1982 г. и i386 от 1985 г.</a:t>
            </a:r>
            <a:endParaRPr lang="bg-BG" sz="3600">
              <a:latin typeface="Times New Roman" pitchFamily="18" charset="0"/>
              <a:cs typeface="Times New Roman" pitchFamily="18" charset="0"/>
            </a:endParaRPr>
          </a:p>
          <a:p>
            <a:pPr algn="just"/>
            <a:r>
              <a:rPr lang="bg-BG" sz="3600">
                <a:latin typeface="Times New Roman" pitchFamily="18" charset="0"/>
                <a:cs typeface="Times New Roman" pitchFamily="18" charset="0"/>
              </a:rPr>
              <a:t>Pentium (наричан още i586) е x86 микропроцесор, представен от Intel на 22 март 1993 г.</a:t>
            </a:r>
          </a:p>
          <a:p>
            <a:endParaRPr lang="bg-BG"/>
          </a:p>
        </p:txBody>
      </p:sp>
      <p:sp>
        <p:nvSpPr>
          <p:cNvPr id="4" name="Title 1"/>
          <p:cNvSpPr txBox="1">
            <a:spLocks/>
          </p:cNvSpPr>
          <p:nvPr/>
        </p:nvSpPr>
        <p:spPr>
          <a:xfrm>
            <a:off x="500034" y="642918"/>
            <a:ext cx="8229600" cy="1143000"/>
          </a:xfrm>
          <a:prstGeom prst="rect">
            <a:avLst/>
          </a:prstGeom>
        </p:spPr>
        <p:txBody>
          <a:bodyPr vert="horz" lIns="0" rIns="0" bIns="0"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5400" b="0" i="0" u="none" strike="noStrike" kern="1200" cap="none" spc="0" normalizeH="0" baseline="0" noProof="0">
                <a:ln>
                  <a:noFill/>
                </a:ln>
                <a:solidFill>
                  <a:schemeClr val="tx2"/>
                </a:solidFill>
                <a:effectLst/>
                <a:uLnTx/>
                <a:uFillTx/>
                <a:latin typeface="Times New Roman" pitchFamily="18" charset="0"/>
                <a:ea typeface="+mj-ea"/>
                <a:cs typeface="Times New Roman" pitchFamily="18" charset="0"/>
              </a:rPr>
              <a:t>  </a:t>
            </a:r>
            <a:r>
              <a:rPr kumimoji="0" lang="en-US" sz="6400" b="0" i="0" u="none" strike="noStrike" kern="1200" cap="none" spc="0" normalizeH="0" baseline="0" noProof="0">
                <a:ln>
                  <a:noFill/>
                </a:ln>
                <a:solidFill>
                  <a:schemeClr val="tx2"/>
                </a:solidFill>
                <a:effectLst/>
                <a:uLnTx/>
                <a:uFillTx/>
                <a:latin typeface="Times New Roman" pitchFamily="18" charset="0"/>
                <a:ea typeface="+mj-ea"/>
                <a:cs typeface="Times New Roman" pitchFamily="18" charset="0"/>
              </a:rPr>
              <a:t>IA</a:t>
            </a:r>
            <a:r>
              <a:rPr kumimoji="0" lang="ru-RU" sz="6400" b="0" i="0" u="none" strike="noStrike" kern="1200" cap="none" spc="0" normalizeH="0" baseline="0" noProof="0">
                <a:ln>
                  <a:noFill/>
                </a:ln>
                <a:solidFill>
                  <a:schemeClr val="tx2"/>
                </a:solidFill>
                <a:effectLst/>
                <a:uLnTx/>
                <a:uFillTx/>
                <a:latin typeface="Times New Roman" pitchFamily="18" charset="0"/>
                <a:ea typeface="+mj-ea"/>
                <a:cs typeface="Times New Roman" pitchFamily="18" charset="0"/>
              </a:rPr>
              <a:t>-32</a:t>
            </a:r>
            <a:endParaRPr kumimoji="0" lang="bg-BG" sz="6400" b="0" i="0" u="none" strike="noStrike" kern="1200" cap="none" spc="0" normalizeH="0" baseline="0" noProof="0">
              <a:ln>
                <a:noFill/>
              </a:ln>
              <a:solidFill>
                <a:schemeClr val="tx2"/>
              </a:solidFill>
              <a:effectLst/>
              <a:uLnTx/>
              <a:uFillTx/>
              <a:latin typeface="+mj-lt"/>
              <a:ea typeface="+mj-ea"/>
              <a:cs typeface="+mj-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20000"/>
          </a:bodyPr>
          <a:lstStyle/>
          <a:p>
            <a:pPr algn="just"/>
            <a:r>
              <a:rPr lang="en-US">
                <a:latin typeface="Times New Roman" pitchFamily="18" charset="0"/>
                <a:cs typeface="Times New Roman" pitchFamily="18" charset="0"/>
              </a:rPr>
              <a:t>Intel Core </a:t>
            </a:r>
            <a:r>
              <a:rPr lang="bg-BG">
                <a:latin typeface="Times New Roman" pitchFamily="18" charset="0"/>
                <a:cs typeface="Times New Roman" pitchFamily="18" charset="0"/>
              </a:rPr>
              <a:t>Първите продукти, получили това обозначение, са процесорите Core Solo и Core Duo Yonah за мобилни устройства от дървото на дизайна на Pentium M, произведени при 65 nm и пуснати на пазара през януари 2006 г. Те са съществено различни по дизайн от останалите продукти на Intel Core група, произлязла от линията на Pentium Pro, която предхожда Pentium 4.</a:t>
            </a:r>
          </a:p>
          <a:p>
            <a:pPr algn="just"/>
            <a:r>
              <a:rPr lang="bg-BG">
                <a:latin typeface="Times New Roman" pitchFamily="18" charset="0"/>
                <a:cs typeface="Times New Roman" pitchFamily="18" charset="0"/>
              </a:rPr>
              <a:t>От 2019 г. марката Core се основава на четири продуктови линии, състоящи се от началното ниво i3, масовия i5, i7 от висок клас и i9 за "ентусиасти".</a:t>
            </a:r>
          </a:p>
          <a:p>
            <a:pPr algn="just"/>
            <a:r>
              <a:rPr lang="bg-BG">
                <a:latin typeface="Times New Roman" pitchFamily="18" charset="0"/>
                <a:cs typeface="Times New Roman" pitchFamily="18" charset="0"/>
              </a:rPr>
              <a:t>През 2023 г. Intel обяви, че ще премахне псевдонима „i“ от марката на своя процесор, превръщайки го в „Core 3/5/7/9“.Компанията ще въведе марката "Ultra" и за процесори от висок клас.</a:t>
            </a:r>
          </a:p>
          <a:p>
            <a:endParaRPr lang="bg-BG"/>
          </a:p>
        </p:txBody>
      </p:sp>
      <p:sp>
        <p:nvSpPr>
          <p:cNvPr id="4" name="Title 1"/>
          <p:cNvSpPr>
            <a:spLocks noGrp="1"/>
          </p:cNvSpPr>
          <p:nvPr>
            <p:ph type="title"/>
          </p:nvPr>
        </p:nvSpPr>
        <p:spPr>
          <a:xfrm>
            <a:off x="500034" y="642918"/>
            <a:ext cx="8229600" cy="1143000"/>
          </a:xfrm>
        </p:spPr>
        <p:txBody>
          <a:bodyPr/>
          <a:lstStyle/>
          <a:p>
            <a:r>
              <a:rPr lang="en-US"/>
              <a:t> </a:t>
            </a:r>
            <a:endParaRPr lang="bg-BG"/>
          </a:p>
        </p:txBody>
      </p:sp>
      <p:sp>
        <p:nvSpPr>
          <p:cNvPr id="5" name="Title 1"/>
          <p:cNvSpPr txBox="1">
            <a:spLocks/>
          </p:cNvSpPr>
          <p:nvPr/>
        </p:nvSpPr>
        <p:spPr>
          <a:xfrm>
            <a:off x="609600" y="856488"/>
            <a:ext cx="8229600" cy="1143000"/>
          </a:xfrm>
          <a:prstGeom prst="rect">
            <a:avLst/>
          </a:prstGeom>
        </p:spPr>
        <p:txBody>
          <a:bodyPr vert="horz" lIns="0" rIns="0" bIns="0"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5000" b="0" i="0" u="none" strike="noStrike" kern="1200" cap="none" spc="0" normalizeH="0" baseline="0" noProof="0">
                <a:ln>
                  <a:noFill/>
                </a:ln>
                <a:solidFill>
                  <a:schemeClr val="tx2"/>
                </a:solidFill>
                <a:effectLst/>
                <a:uLnTx/>
                <a:uFillTx/>
                <a:latin typeface="+mj-lt"/>
                <a:ea typeface="+mj-ea"/>
                <a:cs typeface="+mj-cs"/>
              </a:rPr>
              <a:t> </a:t>
            </a:r>
            <a:endParaRPr kumimoji="0" lang="bg-BG" sz="5000" b="0" i="0" u="none" strike="noStrike" kern="1200" cap="none" spc="0" normalizeH="0" baseline="0" noProof="0">
              <a:ln>
                <a:noFill/>
              </a:ln>
              <a:solidFill>
                <a:schemeClr val="tx2"/>
              </a:solidFill>
              <a:effectLst/>
              <a:uLnTx/>
              <a:uFillTx/>
              <a:latin typeface="+mj-lt"/>
              <a:ea typeface="+mj-ea"/>
              <a:cs typeface="+mj-cs"/>
            </a:endParaRPr>
          </a:p>
        </p:txBody>
      </p:sp>
      <p:sp>
        <p:nvSpPr>
          <p:cNvPr id="6" name="Title 1"/>
          <p:cNvSpPr txBox="1">
            <a:spLocks/>
          </p:cNvSpPr>
          <p:nvPr/>
        </p:nvSpPr>
        <p:spPr>
          <a:xfrm>
            <a:off x="500034" y="642918"/>
            <a:ext cx="8229600" cy="1143000"/>
          </a:xfrm>
          <a:prstGeom prst="rect">
            <a:avLst/>
          </a:prstGeom>
        </p:spPr>
        <p:txBody>
          <a:bodyPr vert="horz" lIns="0" rIns="0" bIns="0"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5400" b="0" i="0" u="none" strike="noStrike" kern="1200" cap="none" spc="0" normalizeH="0" baseline="0" noProof="0">
                <a:ln>
                  <a:noFill/>
                </a:ln>
                <a:solidFill>
                  <a:schemeClr val="tx2"/>
                </a:solidFill>
                <a:effectLst/>
                <a:uLnTx/>
                <a:uFillTx/>
                <a:latin typeface="Times New Roman" pitchFamily="18" charset="0"/>
                <a:ea typeface="+mj-ea"/>
                <a:cs typeface="Times New Roman" pitchFamily="18" charset="0"/>
              </a:rPr>
              <a:t>  </a:t>
            </a:r>
            <a:r>
              <a:rPr kumimoji="0" lang="en-US" sz="6400" b="0" i="0" u="none" strike="noStrike" kern="1200" cap="none" spc="0" normalizeH="0" baseline="0" noProof="0">
                <a:ln>
                  <a:noFill/>
                </a:ln>
                <a:solidFill>
                  <a:schemeClr val="tx2"/>
                </a:solidFill>
                <a:effectLst/>
                <a:uLnTx/>
                <a:uFillTx/>
                <a:latin typeface="Times New Roman" pitchFamily="18" charset="0"/>
                <a:ea typeface="+mj-ea"/>
                <a:cs typeface="Times New Roman" pitchFamily="18" charset="0"/>
              </a:rPr>
              <a:t>IA</a:t>
            </a:r>
            <a:r>
              <a:rPr kumimoji="0" lang="ru-RU" sz="6400" b="0" i="0" u="none" strike="noStrike" kern="1200" cap="none" spc="0" normalizeH="0" baseline="0" noProof="0">
                <a:ln>
                  <a:noFill/>
                </a:ln>
                <a:solidFill>
                  <a:schemeClr val="tx2"/>
                </a:solidFill>
                <a:effectLst/>
                <a:uLnTx/>
                <a:uFillTx/>
                <a:latin typeface="Times New Roman" pitchFamily="18" charset="0"/>
                <a:ea typeface="+mj-ea"/>
                <a:cs typeface="Times New Roman" pitchFamily="18" charset="0"/>
              </a:rPr>
              <a:t>-32</a:t>
            </a:r>
            <a:endParaRPr kumimoji="0" lang="bg-BG" sz="6400" b="0" i="0" u="none" strike="noStrike" kern="1200" cap="none" spc="0" normalizeH="0" baseline="0" noProof="0">
              <a:ln>
                <a:noFill/>
              </a:ln>
              <a:solidFill>
                <a:schemeClr val="tx2"/>
              </a:solidFill>
              <a:effectLst/>
              <a:uLnTx/>
              <a:uFillTx/>
              <a:latin typeface="+mj-lt"/>
              <a:ea typeface="+mj-ea"/>
              <a:cs typeface="+mj-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857356" y="4045128"/>
            <a:ext cx="5000660" cy="28128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itle 1"/>
          <p:cNvSpPr txBox="1">
            <a:spLocks/>
          </p:cNvSpPr>
          <p:nvPr/>
        </p:nvSpPr>
        <p:spPr>
          <a:xfrm>
            <a:off x="500034" y="642918"/>
            <a:ext cx="8229600" cy="1143000"/>
          </a:xfrm>
          <a:prstGeom prst="rect">
            <a:avLst/>
          </a:prstGeom>
        </p:spPr>
        <p:txBody>
          <a:bodyPr vert="horz" lIns="0" rIns="0" bIns="0" anchor="b">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5400" b="0" i="0" u="none" strike="noStrike" kern="1200" cap="none" spc="0" normalizeH="0" baseline="0" noProof="0">
                <a:ln>
                  <a:noFill/>
                </a:ln>
                <a:solidFill>
                  <a:schemeClr val="tx2"/>
                </a:solidFill>
                <a:effectLst/>
                <a:uLnTx/>
                <a:uFillTx/>
                <a:latin typeface="Times New Roman" pitchFamily="18" charset="0"/>
                <a:ea typeface="+mj-ea"/>
                <a:cs typeface="Times New Roman" pitchFamily="18" charset="0"/>
              </a:rPr>
              <a:t>  </a:t>
            </a:r>
            <a:r>
              <a:rPr kumimoji="0" lang="en-US" sz="6400" b="0" i="0" u="none" strike="noStrike" kern="1200" cap="none" spc="0" normalizeH="0" baseline="0" noProof="0">
                <a:ln>
                  <a:noFill/>
                </a:ln>
                <a:solidFill>
                  <a:schemeClr val="tx2"/>
                </a:solidFill>
                <a:effectLst/>
                <a:uLnTx/>
                <a:uFillTx/>
                <a:latin typeface="Times New Roman" pitchFamily="18" charset="0"/>
                <a:ea typeface="+mj-ea"/>
                <a:cs typeface="Times New Roman" pitchFamily="18" charset="0"/>
              </a:rPr>
              <a:t>IA</a:t>
            </a:r>
            <a:r>
              <a:rPr kumimoji="0" lang="ru-RU" sz="6400" b="0" i="0" u="none" strike="noStrike" kern="1200" cap="none" spc="0" normalizeH="0" baseline="0" noProof="0">
                <a:ln>
                  <a:noFill/>
                </a:ln>
                <a:solidFill>
                  <a:schemeClr val="tx2"/>
                </a:solidFill>
                <a:effectLst/>
                <a:uLnTx/>
                <a:uFillTx/>
                <a:latin typeface="Times New Roman" pitchFamily="18" charset="0"/>
                <a:ea typeface="+mj-ea"/>
                <a:cs typeface="Times New Roman" pitchFamily="18" charset="0"/>
              </a:rPr>
              <a:t>-32</a:t>
            </a:r>
            <a:endParaRPr kumimoji="0" lang="bg-BG" sz="6400" b="0" i="0" u="none" strike="noStrike" kern="1200" cap="none" spc="0" normalizeH="0" baseline="0" noProof="0">
              <a:ln>
                <a:noFill/>
              </a:ln>
              <a:solidFill>
                <a:schemeClr val="tx2"/>
              </a:solidFill>
              <a:effectLst/>
              <a:uLnTx/>
              <a:uFillTx/>
              <a:latin typeface="+mj-lt"/>
              <a:ea typeface="+mj-ea"/>
              <a:cs typeface="+mj-cs"/>
            </a:endParaRPr>
          </a:p>
        </p:txBody>
      </p:sp>
      <p:sp>
        <p:nvSpPr>
          <p:cNvPr id="4" name="Content Placeholder 2"/>
          <p:cNvSpPr txBox="1">
            <a:spLocks/>
          </p:cNvSpPr>
          <p:nvPr/>
        </p:nvSpPr>
        <p:spPr>
          <a:xfrm>
            <a:off x="0" y="2143116"/>
            <a:ext cx="8929718" cy="2286016"/>
          </a:xfrm>
          <a:prstGeom prst="rect">
            <a:avLst/>
          </a:prstGeom>
        </p:spPr>
        <p:txBody>
          <a:bodyPr vert="horz">
            <a:normAutofit fontScale="92500" lnSpcReduction="20000"/>
          </a:bodyPr>
          <a:lstStyle/>
          <a:p>
            <a:pPr marL="274320" lvl="0" indent="-274320" algn="just">
              <a:spcBef>
                <a:spcPct val="20000"/>
              </a:spcBef>
              <a:buClr>
                <a:schemeClr val="accent3"/>
              </a:buClr>
              <a:buSzPct val="95000"/>
            </a:pPr>
            <a:r>
              <a:rPr kumimoji="0" lang="bg-BG" sz="2600" b="0" i="0" u="none" strike="noStrike" kern="1200" cap="none" spc="0" normalizeH="0" baseline="0" noProof="0">
                <a:ln>
                  <a:noFill/>
                </a:ln>
                <a:solidFill>
                  <a:schemeClr val="tx1"/>
                </a:solidFill>
                <a:effectLst/>
                <a:uLnTx/>
                <a:uFillTx/>
                <a:latin typeface="Times New Roman" pitchFamily="18" charset="0"/>
                <a:cs typeface="Times New Roman" pitchFamily="18" charset="0"/>
              </a:rPr>
              <a:t>	</a:t>
            </a:r>
            <a:r>
              <a:rPr kumimoji="0" lang="bg-BG" sz="3600" b="0" i="0" u="none" strike="noStrike" kern="1200" cap="none" spc="0" normalizeH="0" baseline="0" noProof="0">
                <a:ln>
                  <a:noFill/>
                </a:ln>
                <a:solidFill>
                  <a:schemeClr val="tx1"/>
                </a:solidFill>
                <a:effectLst/>
                <a:uLnTx/>
                <a:uFillTx/>
                <a:latin typeface="Times New Roman" pitchFamily="18" charset="0"/>
                <a:cs typeface="Times New Roman" pitchFamily="18" charset="0"/>
              </a:rPr>
              <a:t>На 19 октомври 2023 г. </a:t>
            </a:r>
            <a:r>
              <a:rPr lang="en-US" sz="3600">
                <a:latin typeface="Times New Roman" pitchFamily="18" charset="0"/>
                <a:cs typeface="Times New Roman" pitchFamily="18" charset="0"/>
              </a:rPr>
              <a:t>Intel</a:t>
            </a:r>
            <a:r>
              <a:rPr lang="bg-BG" sz="3600">
                <a:latin typeface="Times New Roman" pitchFamily="18" charset="0"/>
                <a:cs typeface="Times New Roman" pitchFamily="18" charset="0"/>
              </a:rPr>
              <a:t> представи </a:t>
            </a:r>
            <a:r>
              <a:rPr lang="ru-RU" sz="3600">
                <a:latin typeface="Times New Roman" pitchFamily="18" charset="0"/>
                <a:cs typeface="Times New Roman" pitchFamily="18" charset="0"/>
              </a:rPr>
              <a:t>най-новото си поколение процесори за настолни компютри. 14-то поколение Intel Core модели, които достигат до честоти от 6 гигахерца (GHz) при основният модел Core i9-14900K. </a:t>
            </a:r>
            <a:endParaRPr kumimoji="0" lang="bg-BG" sz="3600" b="0" i="0" u="none" strike="noStrike" kern="1200" cap="none" spc="0" normalizeH="0" baseline="0" noProof="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15054652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ru-RU" sz="6500">
                <a:latin typeface="Times New Roman" pitchFamily="18" charset="0"/>
                <a:cs typeface="Times New Roman" pitchFamily="18" charset="0"/>
              </a:rPr>
              <a:t>Режими</a:t>
            </a:r>
            <a:r>
              <a:rPr lang="en-US" sz="6500">
                <a:latin typeface="Times New Roman" pitchFamily="18" charset="0"/>
                <a:cs typeface="Times New Roman" pitchFamily="18" charset="0"/>
              </a:rPr>
              <a:t> </a:t>
            </a:r>
            <a:r>
              <a:rPr lang="en-US" sz="6500" err="1">
                <a:latin typeface="Times New Roman" pitchFamily="18" charset="0"/>
                <a:cs typeface="Times New Roman" pitchFamily="18" charset="0"/>
              </a:rPr>
              <a:t>на</a:t>
            </a:r>
            <a:r>
              <a:rPr lang="en-US" sz="6500">
                <a:latin typeface="Times New Roman" pitchFamily="18" charset="0"/>
                <a:cs typeface="Times New Roman" pitchFamily="18" charset="0"/>
              </a:rPr>
              <a:t> </a:t>
            </a:r>
            <a:r>
              <a:rPr lang="en-US" sz="6500" err="1">
                <a:latin typeface="Times New Roman" pitchFamily="18" charset="0"/>
                <a:cs typeface="Times New Roman" pitchFamily="18" charset="0"/>
              </a:rPr>
              <a:t>работа</a:t>
            </a:r>
            <a:endParaRPr lang="bg-BG" sz="6500">
              <a:latin typeface="Times New Roman" pitchFamily="18" charset="0"/>
              <a:cs typeface="Times New Roman" pitchFamily="18" charset="0"/>
            </a:endParaRPr>
          </a:p>
        </p:txBody>
      </p:sp>
      <p:sp>
        <p:nvSpPr>
          <p:cNvPr id="3" name="Content Placeholder 2"/>
          <p:cNvSpPr>
            <a:spLocks noGrp="1"/>
          </p:cNvSpPr>
          <p:nvPr>
            <p:ph idx="1"/>
          </p:nvPr>
        </p:nvSpPr>
        <p:spPr>
          <a:xfrm>
            <a:off x="457200" y="1935480"/>
            <a:ext cx="8229600" cy="4922520"/>
          </a:xfrm>
        </p:spPr>
        <p:txBody>
          <a:bodyPr vert="horz" lIns="91440" tIns="45720" rIns="91440" bIns="45720" anchor="t">
            <a:normAutofit fontScale="92500" lnSpcReduction="20000"/>
          </a:bodyPr>
          <a:lstStyle/>
          <a:p>
            <a:pPr>
              <a:buNone/>
            </a:pPr>
            <a:r>
              <a:rPr lang="en-US" dirty="0"/>
              <a:t>	</a:t>
            </a:r>
            <a:r>
              <a:rPr lang="ru-RU">
                <a:latin typeface="Times New Roman"/>
                <a:cs typeface="Times New Roman"/>
              </a:rPr>
              <a:t>IA-32 има три режима на работа:</a:t>
            </a:r>
            <a:endParaRPr lang="bg-BG">
              <a:latin typeface="Times New Roman"/>
              <a:cs typeface="Times New Roman"/>
            </a:endParaRPr>
          </a:p>
          <a:p>
            <a:pPr algn="just"/>
            <a:r>
              <a:rPr lang="ru-RU" b="1">
                <a:latin typeface="Times New Roman"/>
                <a:cs typeface="Times New Roman"/>
              </a:rPr>
              <a:t>Режим на реален адрес.</a:t>
            </a:r>
            <a:r>
              <a:rPr lang="ru-RU">
                <a:latin typeface="Times New Roman"/>
                <a:cs typeface="Times New Roman"/>
              </a:rPr>
              <a:t> Този режим позволява на процесора да адресира "реалния" адрес на паметта. Може да адресира до 1Mb памет (20-битов адрес). Може също да се нарече "незащитен" режим, тъй като кодът на операционната система (като DOS) работи в същия режим като потребителските приложения. Процесорите IA-32  имат този режим, за да бъдат съвместими с ранните процесори на Intel като 8086. Процесорът е настроен на този режим след включване или нулиране и може да бъде превключен към защитен режим с помощта на една инструкция. </a:t>
            </a:r>
            <a:r>
              <a:rPr lang="bg-BG">
                <a:latin typeface="Times New Roman"/>
                <a:cs typeface="Times New Roman"/>
              </a:rPr>
              <a:t>Има две фиксирани области в паметта, които се запазват в режим на реално адресиране: областта за инициализация на системата и областта на таблицата на прекъсванията.</a:t>
            </a:r>
            <a:endParaRPr lang="bg-BG"/>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z="4800">
                <a:latin typeface="Times New Roman" pitchFamily="18" charset="0"/>
                <a:cs typeface="Times New Roman" pitchFamily="18" charset="0"/>
              </a:rPr>
              <a:t>Режими</a:t>
            </a:r>
            <a:r>
              <a:rPr lang="en-US" sz="4800">
                <a:latin typeface="Times New Roman" pitchFamily="18" charset="0"/>
                <a:cs typeface="Times New Roman" pitchFamily="18" charset="0"/>
              </a:rPr>
              <a:t> </a:t>
            </a:r>
            <a:r>
              <a:rPr lang="en-US" sz="4800" err="1">
                <a:latin typeface="Times New Roman" pitchFamily="18" charset="0"/>
                <a:cs typeface="Times New Roman" pitchFamily="18" charset="0"/>
              </a:rPr>
              <a:t>на</a:t>
            </a:r>
            <a:r>
              <a:rPr lang="en-US" sz="4800">
                <a:latin typeface="Times New Roman" pitchFamily="18" charset="0"/>
                <a:cs typeface="Times New Roman" pitchFamily="18" charset="0"/>
              </a:rPr>
              <a:t> </a:t>
            </a:r>
            <a:r>
              <a:rPr lang="en-US" sz="4800" err="1">
                <a:latin typeface="Times New Roman" pitchFamily="18" charset="0"/>
                <a:cs typeface="Times New Roman" pitchFamily="18" charset="0"/>
              </a:rPr>
              <a:t>работа</a:t>
            </a:r>
            <a:endParaRPr lang="bg-BG"/>
          </a:p>
        </p:txBody>
      </p:sp>
      <p:sp>
        <p:nvSpPr>
          <p:cNvPr id="3" name="Content Placeholder 2"/>
          <p:cNvSpPr>
            <a:spLocks noGrp="1"/>
          </p:cNvSpPr>
          <p:nvPr>
            <p:ph idx="1"/>
          </p:nvPr>
        </p:nvSpPr>
        <p:spPr/>
        <p:txBody>
          <a:bodyPr>
            <a:normAutofit fontScale="92500"/>
          </a:bodyPr>
          <a:lstStyle/>
          <a:p>
            <a:pPr algn="just"/>
            <a:r>
              <a:rPr lang="ru-RU" sz="3600" b="1">
                <a:latin typeface="Times New Roman" pitchFamily="18" charset="0"/>
                <a:cs typeface="Times New Roman" pitchFamily="18" charset="0"/>
              </a:rPr>
              <a:t>Режим на управление на системата.</a:t>
            </a:r>
            <a:r>
              <a:rPr lang="ru-RU" sz="3600">
                <a:latin typeface="Times New Roman" pitchFamily="18" charset="0"/>
                <a:cs typeface="Times New Roman" pitchFamily="18" charset="0"/>
              </a:rPr>
              <a:t> В този режим се осигурява механизъм за управление на консумацията на мощност и наблюдение на надеждността и производителността на процесора.  Този режим е предназначен за бърза снимка на състоянието и възобновяване. Полезен е за управление на захранването</a:t>
            </a:r>
            <a:r>
              <a:rPr lang="en-US" sz="3600">
                <a:latin typeface="Times New Roman" pitchFamily="18" charset="0"/>
                <a:cs typeface="Times New Roman" pitchFamily="18" charset="0"/>
              </a:rPr>
              <a:t>.</a:t>
            </a:r>
            <a:endParaRPr lang="bg-BG" sz="3600">
              <a:latin typeface="Times New Roman" pitchFamily="18" charset="0"/>
              <a:cs typeface="Times New Roman" pitchFamily="18" charset="0"/>
            </a:endParaRPr>
          </a:p>
          <a:p>
            <a:endParaRPr lang="bg-BG">
              <a:latin typeface="Times New Roman" pitchFamily="18" charset="0"/>
              <a:cs typeface="Times New Roman" pitchFamily="18" charset="0"/>
            </a:endParaRPr>
          </a:p>
          <a:p>
            <a:endParaRPr lang="bg-BG"/>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bg-BG"/>
              <a:t> </a:t>
            </a:r>
            <a:r>
              <a:rPr lang="bg-BG" b="1">
                <a:latin typeface="Times New Roman" pitchFamily="18" charset="0"/>
                <a:cs typeface="Times New Roman" pitchFamily="18" charset="0"/>
              </a:rPr>
              <a:t>Програмен модел на </a:t>
            </a:r>
            <a:r>
              <a:rPr lang="en-US" b="1">
                <a:latin typeface="Times New Roman" pitchFamily="18" charset="0"/>
                <a:cs typeface="Times New Roman" pitchFamily="18" charset="0"/>
              </a:rPr>
              <a:t>IA</a:t>
            </a:r>
            <a:r>
              <a:rPr lang="ru-RU" b="1">
                <a:latin typeface="Times New Roman" pitchFamily="18" charset="0"/>
                <a:cs typeface="Times New Roman" pitchFamily="18" charset="0"/>
              </a:rPr>
              <a:t>-32.</a:t>
            </a:r>
            <a:endParaRPr lang="bg-BG">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pPr algn="just"/>
            <a:r>
              <a:rPr lang="bg-BG" sz="3000">
                <a:latin typeface="Times New Roman" pitchFamily="18" charset="0"/>
                <a:cs typeface="Times New Roman" pitchFamily="18" charset="0"/>
              </a:rPr>
              <a:t>Програмният модел на микропроцесора е съвкупността от неговите регистри, </a:t>
            </a:r>
            <a:br>
              <a:rPr lang="bg-BG" sz="3000">
                <a:latin typeface="Times New Roman" pitchFamily="18" charset="0"/>
                <a:cs typeface="Times New Roman" pitchFamily="18" charset="0"/>
              </a:rPr>
            </a:br>
            <a:r>
              <a:rPr lang="bg-BG" sz="3000">
                <a:latin typeface="Times New Roman" pitchFamily="18" charset="0"/>
                <a:cs typeface="Times New Roman" pitchFamily="18" charset="0"/>
              </a:rPr>
              <a:t>достъпни за използване чрез набора от инструкции. </a:t>
            </a:r>
          </a:p>
          <a:p>
            <a:pPr algn="just"/>
            <a:r>
              <a:rPr lang="bg-BG" sz="3000">
                <a:latin typeface="Times New Roman" pitchFamily="18" charset="0"/>
                <a:cs typeface="Times New Roman" pitchFamily="18" charset="0"/>
              </a:rPr>
              <a:t>Процесорът има и други регистри, които се считат за невидими за програмата, тъй като не могат да бъдат адресирани директно по време на програмирането на приложения, но могат да бъдат използвани индиректно по време на системното програмиране</a:t>
            </a:r>
            <a:r>
              <a:rPr lang="bg-BG" sz="3000"/>
              <a:t>.  </a:t>
            </a:r>
          </a:p>
          <a:p>
            <a:endParaRPr lang="bg-BG"/>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a:blip r:embed="rId2" cstate="print"/>
          <a:srcRect/>
          <a:stretch>
            <a:fillRect/>
          </a:stretch>
        </p:blipFill>
        <p:spPr bwMode="auto">
          <a:xfrm>
            <a:off x="1036369" y="633046"/>
            <a:ext cx="6215106" cy="6429396"/>
          </a:xfrm>
          <a:prstGeom prst="rect">
            <a:avLst/>
          </a:prstGeom>
          <a:noFill/>
          <a:ln w="9525">
            <a:noFill/>
            <a:miter lim="800000"/>
            <a:headEnd/>
            <a:tailEnd/>
          </a:ln>
        </p:spPr>
      </p:pic>
      <p:sp>
        <p:nvSpPr>
          <p:cNvPr id="5" name="Rectangle 1"/>
          <p:cNvSpPr>
            <a:spLocks noChangeArrowheads="1"/>
          </p:cNvSpPr>
          <p:nvPr/>
        </p:nvSpPr>
        <p:spPr bwMode="auto">
          <a:xfrm>
            <a:off x="2714612" y="6457890"/>
            <a:ext cx="3214678" cy="40011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bg-BG" sz="20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Програмен модел на х86</a:t>
            </a:r>
            <a:endParaRPr kumimoji="0" lang="en-US" sz="3300" b="0" i="0" u="none" strike="noStrike" cap="none" normalizeH="0" baseline="0">
              <a:ln>
                <a:noFill/>
              </a:ln>
              <a:solidFill>
                <a:schemeClr val="tx1"/>
              </a:solidFill>
              <a:effectLst/>
              <a:latin typeface="Arial" pitchFamily="34" charset="0"/>
              <a:cs typeface="Arial"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z="5400">
                <a:latin typeface="Times New Roman" pitchFamily="18" charset="0"/>
                <a:cs typeface="Times New Roman" pitchFamily="18" charset="0"/>
              </a:rPr>
              <a:t>Режими</a:t>
            </a:r>
            <a:r>
              <a:rPr lang="en-US" sz="5400">
                <a:latin typeface="Times New Roman" pitchFamily="18" charset="0"/>
                <a:cs typeface="Times New Roman" pitchFamily="18" charset="0"/>
              </a:rPr>
              <a:t> </a:t>
            </a:r>
            <a:r>
              <a:rPr lang="en-US" sz="5400" err="1">
                <a:latin typeface="Times New Roman" pitchFamily="18" charset="0"/>
                <a:cs typeface="Times New Roman" pitchFamily="18" charset="0"/>
              </a:rPr>
              <a:t>на</a:t>
            </a:r>
            <a:r>
              <a:rPr lang="en-US" sz="5400">
                <a:latin typeface="Times New Roman" pitchFamily="18" charset="0"/>
                <a:cs typeface="Times New Roman" pitchFamily="18" charset="0"/>
              </a:rPr>
              <a:t> </a:t>
            </a:r>
            <a:r>
              <a:rPr lang="en-US" sz="5400" err="1">
                <a:latin typeface="Times New Roman" pitchFamily="18" charset="0"/>
                <a:cs typeface="Times New Roman" pitchFamily="18" charset="0"/>
              </a:rPr>
              <a:t>работа</a:t>
            </a:r>
            <a:endParaRPr lang="bg-BG"/>
          </a:p>
        </p:txBody>
      </p:sp>
      <p:sp>
        <p:nvSpPr>
          <p:cNvPr id="3" name="Content Placeholder 2"/>
          <p:cNvSpPr>
            <a:spLocks noGrp="1"/>
          </p:cNvSpPr>
          <p:nvPr>
            <p:ph idx="1"/>
          </p:nvPr>
        </p:nvSpPr>
        <p:spPr/>
        <p:txBody>
          <a:bodyPr>
            <a:normAutofit fontScale="92500" lnSpcReduction="20000"/>
          </a:bodyPr>
          <a:lstStyle/>
          <a:p>
            <a:pPr algn="just"/>
            <a:r>
              <a:rPr lang="ru-RU">
                <a:latin typeface="Times New Roman" pitchFamily="18" charset="0"/>
                <a:cs typeface="Times New Roman" pitchFamily="18" charset="0"/>
              </a:rPr>
              <a:t> </a:t>
            </a:r>
            <a:r>
              <a:rPr lang="ru-RU" sz="3600" b="1">
                <a:latin typeface="Times New Roman" pitchFamily="18" charset="0"/>
                <a:cs typeface="Times New Roman" pitchFamily="18" charset="0"/>
              </a:rPr>
              <a:t>Защитен режим</a:t>
            </a:r>
            <a:r>
              <a:rPr lang="ru-RU" sz="3600">
                <a:latin typeface="Times New Roman" pitchFamily="18" charset="0"/>
                <a:cs typeface="Times New Roman" pitchFamily="18" charset="0"/>
              </a:rPr>
              <a:t>. Това е основният режим на работа на микропроцесора. Той позволява на приложенията да използват адресиране на виртуална памет и поддържа множество среди за програмиране и защити.</a:t>
            </a:r>
            <a:endParaRPr lang="bg-BG" sz="3600">
              <a:latin typeface="Times New Roman" pitchFamily="18" charset="0"/>
              <a:cs typeface="Times New Roman" pitchFamily="18" charset="0"/>
            </a:endParaRPr>
          </a:p>
          <a:p>
            <a:pPr algn="just"/>
            <a:r>
              <a:rPr lang="ru-RU" sz="3600">
                <a:latin typeface="Times New Roman" pitchFamily="18" charset="0"/>
                <a:cs typeface="Times New Roman" pitchFamily="18" charset="0"/>
              </a:rPr>
              <a:t>Има и виртуален 8086 режим, който позволява на процесора да изпълнява 8086 софтуерен код в защитена, многозадачна среда.</a:t>
            </a:r>
            <a:endParaRPr lang="bg-BG" sz="3600">
              <a:latin typeface="Times New Roman" pitchFamily="18" charset="0"/>
              <a:cs typeface="Times New Roman" pitchFamily="18" charset="0"/>
            </a:endParaRPr>
          </a:p>
          <a:p>
            <a:endParaRPr lang="bg-BG"/>
          </a:p>
          <a:p>
            <a:endParaRPr lang="bg-BG"/>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428604"/>
            <a:ext cx="8229600" cy="1143000"/>
          </a:xfrm>
        </p:spPr>
        <p:txBody>
          <a:bodyPr/>
          <a:lstStyle/>
          <a:p>
            <a:r>
              <a:rPr lang="bg-BG">
                <a:latin typeface="Times New Roman" pitchFamily="18" charset="0"/>
                <a:cs typeface="Times New Roman" pitchFamily="18" charset="0"/>
              </a:rPr>
              <a:t>Регистри на </a:t>
            </a:r>
            <a:r>
              <a:rPr lang="en-US">
                <a:latin typeface="Times New Roman" pitchFamily="18" charset="0"/>
                <a:cs typeface="Times New Roman" pitchFamily="18" charset="0"/>
              </a:rPr>
              <a:t>IA-32</a:t>
            </a:r>
            <a:endParaRPr lang="bg-BG">
              <a:latin typeface="Times New Roman" pitchFamily="18" charset="0"/>
              <a:cs typeface="Times New Roman" pitchFamily="18" charset="0"/>
            </a:endParaRPr>
          </a:p>
        </p:txBody>
      </p:sp>
      <p:sp>
        <p:nvSpPr>
          <p:cNvPr id="1025" name="Rectangle 1"/>
          <p:cNvSpPr>
            <a:spLocks noChangeArrowheads="1"/>
          </p:cNvSpPr>
          <p:nvPr/>
        </p:nvSpPr>
        <p:spPr bwMode="auto">
          <a:xfrm>
            <a:off x="357158" y="1725359"/>
            <a:ext cx="8391306" cy="483209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
            <a:r>
              <a:rPr kumimoji="0" lang="en-US" sz="2800" b="0" i="0" u="none" strike="noStrike" cap="none" normalizeH="0" baseline="0">
                <a:ln>
                  <a:noFill/>
                </a:ln>
                <a:effectLst/>
                <a:latin typeface="Times New Roman" pitchFamily="18" charset="0"/>
                <a:ea typeface="Calibri" pitchFamily="34" charset="0"/>
                <a:cs typeface="Times New Roman" pitchFamily="18" charset="0"/>
              </a:rPr>
              <a:t> </a:t>
            </a:r>
            <a:r>
              <a:rPr lang="bg-BG" sz="2800">
                <a:latin typeface="Times New Roman" panose="02020603050405020304" pitchFamily="18" charset="0"/>
                <a:cs typeface="Times New Roman" panose="02020603050405020304" pitchFamily="18" charset="0"/>
              </a:rPr>
              <a:t>Регистрите са високоскоростни клетки с памет, разположени  в процесора. Достъпът до регистрите е много по-бърз от RAM клетките.</a:t>
            </a:r>
          </a:p>
          <a:p>
            <a:pPr algn="just"/>
            <a:r>
              <a:rPr lang="bg-BG" sz="2800" i="1">
                <a:latin typeface="Times New Roman" panose="02020603050405020304" pitchFamily="18" charset="0"/>
                <a:cs typeface="Times New Roman" panose="02020603050405020304" pitchFamily="18" charset="0"/>
              </a:rPr>
              <a:t>	</a:t>
            </a:r>
            <a:r>
              <a:rPr lang="bg-BG" sz="2800" b="1" i="1">
                <a:latin typeface="Times New Roman" panose="02020603050405020304" pitchFamily="18" charset="0"/>
                <a:cs typeface="Times New Roman" panose="02020603050405020304" pitchFamily="18" charset="0"/>
              </a:rPr>
              <a:t>Видове регистри за модели IA-32</a:t>
            </a:r>
          </a:p>
          <a:p>
            <a:pPr algn="just"/>
            <a:r>
              <a:rPr lang="bg-BG" sz="2800">
                <a:latin typeface="Times New Roman" panose="02020603050405020304" pitchFamily="18" charset="0"/>
                <a:cs typeface="Times New Roman" panose="02020603050405020304" pitchFamily="18" charset="0"/>
              </a:rPr>
              <a:t>– 32-битови регистри с общо предназначение (8 бр.); </a:t>
            </a:r>
          </a:p>
          <a:p>
            <a:pPr algn="just"/>
            <a:r>
              <a:rPr lang="bg-BG" sz="2800">
                <a:latin typeface="Times New Roman" panose="02020603050405020304" pitchFamily="18" charset="0"/>
                <a:cs typeface="Times New Roman" panose="02020603050405020304" pitchFamily="18" charset="0"/>
              </a:rPr>
              <a:t>– 16-битови сегментни регистри (6 бр.);</a:t>
            </a:r>
          </a:p>
          <a:p>
            <a:pPr algn="just"/>
            <a:r>
              <a:rPr lang="bg-BG" sz="2800">
                <a:latin typeface="Times New Roman" panose="02020603050405020304" pitchFamily="18" charset="0"/>
                <a:cs typeface="Times New Roman" panose="02020603050405020304" pitchFamily="18" charset="0"/>
              </a:rPr>
              <a:t>– 32-битови регистри за състояние и управление (2 бр.);</a:t>
            </a:r>
          </a:p>
          <a:p>
            <a:pPr algn="just"/>
            <a:r>
              <a:rPr lang="bg-BG" sz="2800">
                <a:latin typeface="Times New Roman" panose="02020603050405020304" pitchFamily="18" charset="0"/>
                <a:cs typeface="Times New Roman" panose="02020603050405020304" pitchFamily="18" charset="0"/>
              </a:rPr>
              <a:t>– 80-битови копроцесорни регистри (8 бр.);</a:t>
            </a:r>
          </a:p>
          <a:p>
            <a:pPr algn="just"/>
            <a:r>
              <a:rPr lang="bg-BG" sz="2800">
                <a:latin typeface="Times New Roman" panose="02020603050405020304" pitchFamily="18" charset="0"/>
                <a:cs typeface="Times New Roman" panose="02020603050405020304" pitchFamily="18" charset="0"/>
              </a:rPr>
              <a:t>– набори от регистри за разширение; </a:t>
            </a:r>
          </a:p>
          <a:p>
            <a:pPr algn="just"/>
            <a:r>
              <a:rPr lang="bg-BG" sz="2800">
                <a:latin typeface="Times New Roman" panose="02020603050405020304" pitchFamily="18" charset="0"/>
                <a:cs typeface="Times New Roman" panose="02020603050405020304" pitchFamily="18" charset="0"/>
              </a:rPr>
              <a:t>– системни регистри.</a:t>
            </a:r>
            <a:endParaRPr lang="ru-RU" sz="280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428604"/>
            <a:ext cx="8229600" cy="1143000"/>
          </a:xfrm>
        </p:spPr>
        <p:txBody>
          <a:bodyPr/>
          <a:lstStyle/>
          <a:p>
            <a:r>
              <a:rPr lang="bg-BG">
                <a:latin typeface="Times New Roman" pitchFamily="18" charset="0"/>
                <a:cs typeface="Times New Roman" pitchFamily="18" charset="0"/>
              </a:rPr>
              <a:t>Регистри на </a:t>
            </a:r>
            <a:r>
              <a:rPr lang="en-US">
                <a:latin typeface="Times New Roman" pitchFamily="18" charset="0"/>
                <a:cs typeface="Times New Roman" pitchFamily="18" charset="0"/>
              </a:rPr>
              <a:t>IA-32</a:t>
            </a:r>
            <a:endParaRPr lang="bg-BG">
              <a:latin typeface="Times New Roman" pitchFamily="18" charset="0"/>
              <a:cs typeface="Times New Roman" pitchFamily="18" charset="0"/>
            </a:endParaRPr>
          </a:p>
        </p:txBody>
      </p:sp>
      <p:pic>
        <p:nvPicPr>
          <p:cNvPr id="4" name="Content Placeholder 3" descr="https://flint.cs.yale.edu/cs422/doc/Image7.gif"/>
          <p:cNvPicPr>
            <a:picLocks noGrp="1"/>
          </p:cNvPicPr>
          <p:nvPr>
            <p:ph idx="1"/>
          </p:nvPr>
        </p:nvPicPr>
        <p:blipFill>
          <a:blip r:embed="rId2" cstate="print"/>
          <a:srcRect/>
          <a:stretch>
            <a:fillRect/>
          </a:stretch>
        </p:blipFill>
        <p:spPr bwMode="auto">
          <a:xfrm>
            <a:off x="3670718" y="1571613"/>
            <a:ext cx="5572195" cy="4429156"/>
          </a:xfrm>
          <a:prstGeom prst="rect">
            <a:avLst/>
          </a:prstGeom>
          <a:noFill/>
          <a:ln w="9525">
            <a:noFill/>
            <a:miter lim="800000"/>
            <a:headEnd/>
            <a:tailEnd/>
          </a:ln>
        </p:spPr>
      </p:pic>
      <p:sp>
        <p:nvSpPr>
          <p:cNvPr id="1025" name="Rectangle 1"/>
          <p:cNvSpPr>
            <a:spLocks noChangeArrowheads="1"/>
          </p:cNvSpPr>
          <p:nvPr/>
        </p:nvSpPr>
        <p:spPr bwMode="auto">
          <a:xfrm>
            <a:off x="357158" y="2571744"/>
            <a:ext cx="3214678" cy="313932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 </a:t>
            </a:r>
            <a:r>
              <a:rPr kumimoji="0" lang="en-US" sz="33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 </a:t>
            </a:r>
            <a:r>
              <a:rPr kumimoji="0" lang="en-US" sz="3300" b="0" i="0" u="none" strike="noStrike" cap="none" normalizeH="0" baseline="0" err="1">
                <a:ln>
                  <a:noFill/>
                </a:ln>
                <a:solidFill>
                  <a:schemeClr val="tx1"/>
                </a:solidFill>
                <a:effectLst/>
                <a:latin typeface="Times New Roman" pitchFamily="18" charset="0"/>
                <a:ea typeface="Calibri" pitchFamily="34" charset="0"/>
                <a:cs typeface="Times New Roman" pitchFamily="18" charset="0"/>
              </a:rPr>
              <a:t>регистри</a:t>
            </a:r>
            <a:r>
              <a:rPr kumimoji="0" lang="en-US" sz="33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 </a:t>
            </a:r>
            <a:r>
              <a:rPr kumimoji="0" lang="bg-BG" sz="33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с множествено</a:t>
            </a:r>
            <a:r>
              <a:rPr kumimoji="0" lang="bg-BG" sz="3300" b="0" i="0" u="none" strike="noStrike" cap="none" normalizeH="0">
                <a:ln>
                  <a:noFill/>
                </a:ln>
                <a:solidFill>
                  <a:schemeClr val="tx1"/>
                </a:solidFill>
                <a:effectLst/>
                <a:latin typeface="Times New Roman" pitchFamily="18" charset="0"/>
                <a:ea typeface="Calibri" pitchFamily="34" charset="0"/>
                <a:cs typeface="Times New Roman" pitchFamily="18" charset="0"/>
              </a:rPr>
              <a:t> </a:t>
            </a:r>
            <a:r>
              <a:rPr kumimoji="0" lang="en-US" sz="3300" b="0" i="0" u="none" strike="noStrike" cap="none" normalizeH="0" baseline="0" err="1">
                <a:ln>
                  <a:noFill/>
                </a:ln>
                <a:solidFill>
                  <a:schemeClr val="tx1"/>
                </a:solidFill>
                <a:effectLst/>
                <a:latin typeface="Times New Roman" pitchFamily="18" charset="0"/>
                <a:ea typeface="Calibri" pitchFamily="34" charset="0"/>
                <a:cs typeface="Times New Roman" pitchFamily="18" charset="0"/>
              </a:rPr>
              <a:t>предназначение</a:t>
            </a:r>
            <a:r>
              <a:rPr kumimoji="0" lang="en-US" sz="33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33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 - </a:t>
            </a:r>
            <a:r>
              <a:rPr kumimoji="0" lang="bg-BG" sz="33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регистри със специално предназначение</a:t>
            </a:r>
            <a:endParaRPr kumimoji="0" lang="en-US" sz="3300" b="0" i="0" u="none" strike="noStrike" cap="none" normalizeH="0" baseline="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21988441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571480"/>
            <a:ext cx="8229600" cy="1143000"/>
          </a:xfrm>
        </p:spPr>
        <p:txBody>
          <a:bodyPr>
            <a:noAutofit/>
          </a:bodyPr>
          <a:lstStyle/>
          <a:p>
            <a:r>
              <a:rPr lang="bg-BG" sz="3900" b="1">
                <a:latin typeface="Times New Roman" pitchFamily="18" charset="0"/>
                <a:cs typeface="Times New Roman" pitchFamily="18" charset="0"/>
              </a:rPr>
              <a:t>Р</a:t>
            </a:r>
            <a:r>
              <a:rPr lang="en-US" sz="3900" b="1" err="1">
                <a:latin typeface="Times New Roman" pitchFamily="18" charset="0"/>
                <a:cs typeface="Times New Roman" pitchFamily="18" charset="0"/>
              </a:rPr>
              <a:t>егистри</a:t>
            </a:r>
            <a:r>
              <a:rPr lang="en-US" sz="3900" b="1">
                <a:latin typeface="Times New Roman" pitchFamily="18" charset="0"/>
                <a:cs typeface="Times New Roman" pitchFamily="18" charset="0"/>
              </a:rPr>
              <a:t> </a:t>
            </a:r>
            <a:r>
              <a:rPr lang="bg-BG" sz="3900" b="1">
                <a:latin typeface="Times New Roman" pitchFamily="18" charset="0"/>
                <a:cs typeface="Times New Roman" pitchFamily="18" charset="0"/>
              </a:rPr>
              <a:t>с множествено предназначение</a:t>
            </a:r>
          </a:p>
        </p:txBody>
      </p:sp>
      <p:pic>
        <p:nvPicPr>
          <p:cNvPr id="4" name="Content Placeholder 3" descr="https://flint.cs.yale.edu/cs422/doc/Image8.gif"/>
          <p:cNvPicPr>
            <a:picLocks noGrp="1"/>
          </p:cNvPicPr>
          <p:nvPr>
            <p:ph idx="1"/>
          </p:nvPr>
        </p:nvPicPr>
        <p:blipFill>
          <a:blip r:embed="rId2" cstate="print"/>
          <a:srcRect/>
          <a:stretch>
            <a:fillRect/>
          </a:stretch>
        </p:blipFill>
        <p:spPr bwMode="auto">
          <a:xfrm>
            <a:off x="4286248" y="2143116"/>
            <a:ext cx="4643470" cy="3138493"/>
          </a:xfrm>
          <a:prstGeom prst="rect">
            <a:avLst/>
          </a:prstGeom>
          <a:noFill/>
          <a:ln w="9525">
            <a:noFill/>
            <a:miter lim="800000"/>
            <a:headEnd/>
            <a:tailEnd/>
          </a:ln>
        </p:spPr>
      </p:pic>
      <p:sp>
        <p:nvSpPr>
          <p:cNvPr id="6" name="Rectangle 1"/>
          <p:cNvSpPr>
            <a:spLocks noChangeArrowheads="1"/>
          </p:cNvSpPr>
          <p:nvPr/>
        </p:nvSpPr>
        <p:spPr bwMode="auto">
          <a:xfrm>
            <a:off x="142844" y="1571612"/>
            <a:ext cx="4214842" cy="449353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r>
              <a:rPr lang="bg-BG" sz="2600"/>
              <a:t>Многоцелевите регистри включват </a:t>
            </a:r>
            <a:r>
              <a:rPr lang="bg-BG" sz="2600" b="1"/>
              <a:t>EAX</a:t>
            </a:r>
            <a:r>
              <a:rPr lang="en-US" sz="2600" b="1"/>
              <a:t>,</a:t>
            </a:r>
            <a:r>
              <a:rPr lang="bg-BG" sz="2600" b="1"/>
              <a:t> EBX, ECX, EDX</a:t>
            </a:r>
            <a:r>
              <a:rPr lang="en-US" sz="2600" b="1"/>
              <a:t>,</a:t>
            </a:r>
            <a:r>
              <a:rPr lang="bg-BG" sz="2600" b="1"/>
              <a:t> EBP</a:t>
            </a:r>
            <a:r>
              <a:rPr lang="en-US" sz="2600" b="1"/>
              <a:t>,</a:t>
            </a:r>
            <a:r>
              <a:rPr lang="bg-BG" sz="2600" b="1"/>
              <a:t> EDI и ESI</a:t>
            </a:r>
            <a:r>
              <a:rPr lang="bg-BG" sz="2600"/>
              <a:t>. Тези регистри съдържат различни размери на данни (байтове, думи или двойни думи) и се използват за почти всякакви цели, продиктувани от програмата</a:t>
            </a:r>
            <a:r>
              <a:rPr lang="en-US" sz="2600"/>
              <a:t>.</a:t>
            </a:r>
            <a:endParaRPr lang="bg-BG" sz="26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642918"/>
            <a:ext cx="8229600" cy="1143000"/>
          </a:xfrm>
        </p:spPr>
        <p:txBody>
          <a:bodyPr>
            <a:noAutofit/>
          </a:bodyPr>
          <a:lstStyle/>
          <a:p>
            <a:r>
              <a:rPr lang="bg-BG" sz="3900" b="1">
                <a:latin typeface="Times New Roman" pitchFamily="18" charset="0"/>
                <a:cs typeface="Times New Roman" pitchFamily="18" charset="0"/>
              </a:rPr>
              <a:t>Ре</a:t>
            </a:r>
            <a:r>
              <a:rPr lang="en-US" sz="3900" b="1" err="1">
                <a:latin typeface="Times New Roman" pitchFamily="18" charset="0"/>
                <a:cs typeface="Times New Roman" pitchFamily="18" charset="0"/>
              </a:rPr>
              <a:t>гистри</a:t>
            </a:r>
            <a:r>
              <a:rPr lang="en-US" sz="3900" b="1">
                <a:latin typeface="Times New Roman" pitchFamily="18" charset="0"/>
                <a:cs typeface="Times New Roman" pitchFamily="18" charset="0"/>
              </a:rPr>
              <a:t> </a:t>
            </a:r>
            <a:r>
              <a:rPr lang="bg-BG" sz="3900" b="1">
                <a:latin typeface="Times New Roman" pitchFamily="18" charset="0"/>
                <a:cs typeface="Times New Roman" pitchFamily="18" charset="0"/>
              </a:rPr>
              <a:t>с множествено предназначение</a:t>
            </a:r>
            <a:endParaRPr lang="bg-BG" sz="3900"/>
          </a:p>
        </p:txBody>
      </p:sp>
      <p:sp>
        <p:nvSpPr>
          <p:cNvPr id="3" name="Content Placeholder 2"/>
          <p:cNvSpPr>
            <a:spLocks noGrp="1"/>
          </p:cNvSpPr>
          <p:nvPr>
            <p:ph idx="1"/>
          </p:nvPr>
        </p:nvSpPr>
        <p:spPr>
          <a:xfrm>
            <a:off x="214282" y="1935480"/>
            <a:ext cx="8786874" cy="4389120"/>
          </a:xfrm>
        </p:spPr>
        <p:txBody>
          <a:bodyPr>
            <a:noAutofit/>
          </a:bodyPr>
          <a:lstStyle/>
          <a:p>
            <a:pPr algn="just"/>
            <a:r>
              <a:rPr lang="bg-BG" sz="2400" b="1">
                <a:latin typeface="Times New Roman" pitchFamily="18" charset="0"/>
                <a:cs typeface="Times New Roman" pitchFamily="18" charset="0"/>
              </a:rPr>
              <a:t>EAX</a:t>
            </a:r>
            <a:r>
              <a:rPr lang="bg-BG" sz="2400">
                <a:latin typeface="Times New Roman" pitchFamily="18" charset="0"/>
                <a:cs typeface="Times New Roman" pitchFamily="18" charset="0"/>
              </a:rPr>
              <a:t>(акумулатор). EAX се ползва като 32-битов регистър (EAX), като 16-битов регистър (AX) или като един от двата 8-битови регистъра AH и AL. Забележете , че ако се адресира 8- или 16-битов регистър, само тази част от 32-битовия регистър се променя, без да се засягат останалите битове. Акумулаторът се използва за инструкции като умножение, деление и някои от инструкциите за настройка. В 80386 и по-горе регистърът EAX може също да съдържа отместването на адреса за паметта.</a:t>
            </a:r>
          </a:p>
          <a:p>
            <a:r>
              <a:rPr lang="bg-BG" sz="2400" b="1">
                <a:latin typeface="Times New Roman" pitchFamily="18" charset="0"/>
                <a:cs typeface="Times New Roman" pitchFamily="18" charset="0"/>
              </a:rPr>
              <a:t>EBX(база)</a:t>
            </a:r>
            <a:r>
              <a:rPr lang="bg-BG" sz="2400">
                <a:latin typeface="Times New Roman" pitchFamily="18" charset="0"/>
                <a:cs typeface="Times New Roman" pitchFamily="18" charset="0"/>
              </a:rPr>
              <a:t>. EBX се адресира като EBX, BX, BH, или BL. BX регистърът (база) понякога съдържа офсетния адрес на паметта на системата във всички версии на микропроцесора. В 80386 и по-високи, EBX също може да адресира данни от паметта. </a:t>
            </a:r>
            <a:r>
              <a:rPr lang="bg-BG" sz="2300">
                <a:latin typeface="Times New Roman" pitchFamily="18" charset="0"/>
                <a:cs typeface="Times New Roman" pitchFamily="18" charset="0"/>
              </a:rPr>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bg-BG" sz="3900" b="1">
                <a:latin typeface="Times New Roman" pitchFamily="18" charset="0"/>
                <a:cs typeface="Times New Roman" pitchFamily="18" charset="0"/>
              </a:rPr>
              <a:t>Р</a:t>
            </a:r>
            <a:r>
              <a:rPr lang="en-US" sz="3900" b="1" err="1">
                <a:latin typeface="Times New Roman" pitchFamily="18" charset="0"/>
                <a:cs typeface="Times New Roman" pitchFamily="18" charset="0"/>
              </a:rPr>
              <a:t>егистри</a:t>
            </a:r>
            <a:r>
              <a:rPr lang="en-US" sz="3900" b="1">
                <a:latin typeface="Times New Roman" pitchFamily="18" charset="0"/>
                <a:cs typeface="Times New Roman" pitchFamily="18" charset="0"/>
              </a:rPr>
              <a:t> </a:t>
            </a:r>
            <a:r>
              <a:rPr lang="bg-BG" sz="3900" b="1">
                <a:latin typeface="Times New Roman" pitchFamily="18" charset="0"/>
                <a:cs typeface="Times New Roman" pitchFamily="18" charset="0"/>
              </a:rPr>
              <a:t>с множествено предназначение</a:t>
            </a:r>
            <a:endParaRPr lang="bg-BG" sz="3900"/>
          </a:p>
        </p:txBody>
      </p:sp>
      <p:sp>
        <p:nvSpPr>
          <p:cNvPr id="3" name="Content Placeholder 2"/>
          <p:cNvSpPr>
            <a:spLocks noGrp="1"/>
          </p:cNvSpPr>
          <p:nvPr>
            <p:ph idx="1"/>
          </p:nvPr>
        </p:nvSpPr>
        <p:spPr/>
        <p:txBody>
          <a:bodyPr>
            <a:normAutofit fontScale="85000" lnSpcReduction="10000"/>
          </a:bodyPr>
          <a:lstStyle/>
          <a:p>
            <a:pPr algn="just"/>
            <a:r>
              <a:rPr lang="bg-BG" b="1">
                <a:latin typeface="Times New Roman" pitchFamily="18" charset="0"/>
                <a:cs typeface="Times New Roman" pitchFamily="18" charset="0"/>
              </a:rPr>
              <a:t>ECX(брояч). </a:t>
            </a:r>
            <a:r>
              <a:rPr lang="bg-BG">
                <a:latin typeface="Times New Roman" pitchFamily="18" charset="0"/>
                <a:cs typeface="Times New Roman" pitchFamily="18" charset="0"/>
              </a:rPr>
              <a:t>ECX е регистър с общо предназначение, който също</a:t>
            </a:r>
            <a:r>
              <a:rPr lang="en-US">
                <a:latin typeface="Times New Roman" pitchFamily="18" charset="0"/>
                <a:cs typeface="Times New Roman" pitchFamily="18" charset="0"/>
              </a:rPr>
              <a:t> </a:t>
            </a:r>
            <a:r>
              <a:rPr lang="bg-BG">
                <a:latin typeface="Times New Roman" pitchFamily="18" charset="0"/>
                <a:cs typeface="Times New Roman" pitchFamily="18" charset="0"/>
              </a:rPr>
              <a:t>така съхранява броя за различни инструкции. В 80386 и по-високи регистърът ECX може също така да съхранява отместването на данните от паметта. Инструкциите, които използват броене, са инструкциите за повторение при низ (REP/REPLV REPNE), инструкциите за изместване, завъртане и цикъл LOOP/LOOPD. Инструкциите за изместване и завъртане използват CL като брояч, а инструкциите за повторение при низове използват CX. Инструкциите LOOP/LOOPD използват CX или ECX за брояч.</a:t>
            </a:r>
          </a:p>
          <a:p>
            <a:pPr algn="just"/>
            <a:r>
              <a:rPr lang="bg-BG" b="1">
                <a:latin typeface="Times New Roman" pitchFamily="18" charset="0"/>
                <a:cs typeface="Times New Roman" pitchFamily="18" charset="0"/>
              </a:rPr>
              <a:t>ЕDX (данни). </a:t>
            </a:r>
            <a:r>
              <a:rPr lang="bg-BG">
                <a:latin typeface="Times New Roman" pitchFamily="18" charset="0"/>
                <a:cs typeface="Times New Roman" pitchFamily="18" charset="0"/>
              </a:rPr>
              <a:t>EDX е регистър с общо предназначение, който съхранява част от резултата от умножение или част от делимото преди делене. В 80386 и нагоре този регистър може да адресира и данни в паметта</a:t>
            </a:r>
            <a:r>
              <a:rPr lang="bg-BG"/>
              <a:t>.</a:t>
            </a:r>
          </a:p>
          <a:p>
            <a:pPr algn="just"/>
            <a:endParaRPr lang="bg-BG"/>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bg-BG" sz="3900" b="1">
                <a:latin typeface="Times New Roman" pitchFamily="18" charset="0"/>
                <a:cs typeface="Times New Roman" pitchFamily="18" charset="0"/>
              </a:rPr>
              <a:t>Р</a:t>
            </a:r>
            <a:r>
              <a:rPr lang="en-US" sz="3900" b="1" err="1">
                <a:latin typeface="Times New Roman" pitchFamily="18" charset="0"/>
                <a:cs typeface="Times New Roman" pitchFamily="18" charset="0"/>
              </a:rPr>
              <a:t>егистри</a:t>
            </a:r>
            <a:r>
              <a:rPr lang="en-US" sz="3900" b="1">
                <a:latin typeface="Times New Roman" pitchFamily="18" charset="0"/>
                <a:cs typeface="Times New Roman" pitchFamily="18" charset="0"/>
              </a:rPr>
              <a:t> </a:t>
            </a:r>
            <a:r>
              <a:rPr lang="bg-BG" sz="3900" b="1">
                <a:latin typeface="Times New Roman" pitchFamily="18" charset="0"/>
                <a:cs typeface="Times New Roman" pitchFamily="18" charset="0"/>
              </a:rPr>
              <a:t>с множествено предназначение</a:t>
            </a:r>
            <a:endParaRPr lang="bg-BG" sz="3900"/>
          </a:p>
        </p:txBody>
      </p:sp>
      <p:sp>
        <p:nvSpPr>
          <p:cNvPr id="3" name="Content Placeholder 2"/>
          <p:cNvSpPr>
            <a:spLocks noGrp="1"/>
          </p:cNvSpPr>
          <p:nvPr>
            <p:ph idx="1"/>
          </p:nvPr>
        </p:nvSpPr>
        <p:spPr/>
        <p:txBody>
          <a:bodyPr>
            <a:noAutofit/>
          </a:bodyPr>
          <a:lstStyle/>
          <a:p>
            <a:pPr algn="just"/>
            <a:r>
              <a:rPr lang="bg-BG" sz="2400" b="1">
                <a:latin typeface="Times New Roman" pitchFamily="18" charset="0"/>
                <a:cs typeface="Times New Roman" pitchFamily="18" charset="0"/>
              </a:rPr>
              <a:t>EDI (индекс на получателя). </a:t>
            </a:r>
            <a:r>
              <a:rPr lang="bg-BG" sz="2400">
                <a:latin typeface="Times New Roman" pitchFamily="18" charset="0"/>
                <a:cs typeface="Times New Roman" pitchFamily="18" charset="0"/>
              </a:rPr>
              <a:t>EDI често адресира данни за местоназначение на низа инструкции. Той също така функционира като 32-битов (EDI) или 16-битов (DI) регистър с общо предназначение.</a:t>
            </a:r>
          </a:p>
          <a:p>
            <a:pPr algn="just"/>
            <a:r>
              <a:rPr lang="bg-BG" sz="2400" b="1">
                <a:latin typeface="Times New Roman" pitchFamily="18" charset="0"/>
                <a:cs typeface="Times New Roman" pitchFamily="18" charset="0"/>
              </a:rPr>
              <a:t>ESI (индекс на източника) </a:t>
            </a:r>
            <a:r>
              <a:rPr lang="bg-BG" sz="2400">
                <a:latin typeface="Times New Roman" pitchFamily="18" charset="0"/>
                <a:cs typeface="Times New Roman" pitchFamily="18" charset="0"/>
              </a:rPr>
              <a:t>ESI се използва като SI или като ESI. Този регистър често адресира източника-стринг в стринговите инструкции. Като EDI, ESI също се ползва като регистър с обща употреба. SI е 16-битов, a ESI-32 битов.</a:t>
            </a:r>
          </a:p>
          <a:p>
            <a:pPr algn="just"/>
            <a:r>
              <a:rPr lang="bg-BG" sz="2400" b="1">
                <a:latin typeface="Times New Roman" pitchFamily="18" charset="0"/>
                <a:cs typeface="Times New Roman" pitchFamily="18" charset="0"/>
              </a:rPr>
              <a:t>EBP(базов указател) </a:t>
            </a:r>
            <a:r>
              <a:rPr lang="bg-BG" sz="2400">
                <a:latin typeface="Times New Roman" pitchFamily="18" charset="0"/>
                <a:cs typeface="Times New Roman" pitchFamily="18" charset="0"/>
              </a:rPr>
              <a:t>EBP сочи към място в паметта във всички версии на микропроцесора за трансфер на данни в паметта. Този регистър се ползва като BP или EBP.</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bg-BG" sz="3900" b="1">
                <a:latin typeface="Times New Roman" pitchFamily="18" charset="0"/>
                <a:cs typeface="Times New Roman" pitchFamily="18" charset="0"/>
              </a:rPr>
              <a:t>Регистри със специално предназначение. </a:t>
            </a:r>
          </a:p>
        </p:txBody>
      </p:sp>
      <p:sp>
        <p:nvSpPr>
          <p:cNvPr id="3" name="Content Placeholder 2"/>
          <p:cNvSpPr>
            <a:spLocks noGrp="1"/>
          </p:cNvSpPr>
          <p:nvPr>
            <p:ph idx="1"/>
          </p:nvPr>
        </p:nvSpPr>
        <p:spPr/>
        <p:txBody>
          <a:bodyPr>
            <a:normAutofit fontScale="92500" lnSpcReduction="20000"/>
          </a:bodyPr>
          <a:lstStyle/>
          <a:p>
            <a:pPr algn="just"/>
            <a:r>
              <a:rPr lang="bg-BG"/>
              <a:t>Регистрите със специално предназначение включват EIP, ESP, ЕFLAGS и сегментните регистри CS, DS, ES, SS, FS и GS.</a:t>
            </a:r>
          </a:p>
          <a:p>
            <a:pPr algn="just"/>
            <a:r>
              <a:rPr lang="bg-BG" b="1"/>
              <a:t>EIP(програмен брояч-</a:t>
            </a:r>
            <a:r>
              <a:rPr lang="en-US" b="1"/>
              <a:t>PC</a:t>
            </a:r>
            <a:r>
              <a:rPr lang="bg-BG" b="1"/>
              <a:t>) </a:t>
            </a:r>
            <a:r>
              <a:rPr lang="bg-BG"/>
              <a:t>EIP адресира следващата инструкция в секция от паметта, дефинирана като кодов сегмент. Регистърът IP е 16-бита, когато микропроцесорът работи в реален режим и EIP (32-бита), когато работи в защитен режим. Указателят на инструкциите, който сочи към следващата инструкция в програма, се използва от микропроцесора за намиране на следващата последователна инструкция в програма, разположена в кодовия сегмент. Програмният брояч може да бъде модифициран с инструкция за скок или извикване на подпрограма.</a:t>
            </a:r>
          </a:p>
          <a:p>
            <a:endParaRPr lang="bg-BG"/>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bg-BG" sz="3900" b="1">
                <a:latin typeface="Times New Roman" pitchFamily="18" charset="0"/>
                <a:cs typeface="Times New Roman" pitchFamily="18" charset="0"/>
              </a:rPr>
              <a:t>Регистри със специално предназначение. </a:t>
            </a:r>
            <a:endParaRPr lang="bg-BG" sz="3900"/>
          </a:p>
        </p:txBody>
      </p:sp>
      <p:sp>
        <p:nvSpPr>
          <p:cNvPr id="3" name="Content Placeholder 2"/>
          <p:cNvSpPr>
            <a:spLocks noGrp="1"/>
          </p:cNvSpPr>
          <p:nvPr>
            <p:ph idx="1"/>
          </p:nvPr>
        </p:nvSpPr>
        <p:spPr/>
        <p:txBody>
          <a:bodyPr>
            <a:normAutofit fontScale="92500"/>
          </a:bodyPr>
          <a:lstStyle/>
          <a:p>
            <a:pPr algn="just"/>
            <a:r>
              <a:rPr lang="bg-BG" sz="3600" b="1">
                <a:latin typeface="Times New Roman" pitchFamily="18" charset="0"/>
                <a:cs typeface="Times New Roman" pitchFamily="18" charset="0"/>
              </a:rPr>
              <a:t>ESP (stack pointer) </a:t>
            </a:r>
            <a:r>
              <a:rPr lang="bg-BG" sz="3600">
                <a:latin typeface="Times New Roman" pitchFamily="18" charset="0"/>
                <a:cs typeface="Times New Roman" pitchFamily="18" charset="0"/>
              </a:rPr>
              <a:t>ESP адресира област от паметта, наречена стек. Паметта на стека съхранява данни чрез този указател и е обяснена с инструкции, които адресират данните на стека. Този регистър се нарича SP, ако се използва като 16-битов регистър, и ESP, ако се ползва като 32-битов регистър.</a:t>
            </a:r>
          </a:p>
          <a:p>
            <a:pPr>
              <a:buNone/>
            </a:pPr>
            <a:endParaRPr lang="bg-BG"/>
          </a:p>
          <a:p>
            <a:endParaRPr lang="bg-BG"/>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2976" y="642918"/>
            <a:ext cx="7515252" cy="421950"/>
          </a:xfrm>
        </p:spPr>
        <p:txBody>
          <a:bodyPr>
            <a:normAutofit fontScale="92500" lnSpcReduction="10000"/>
          </a:bodyPr>
          <a:lstStyle/>
          <a:p>
            <a:r>
              <a:rPr lang="bg-BG" b="1"/>
              <a:t>EFLAGS</a:t>
            </a:r>
            <a:r>
              <a:rPr lang="bg-BG"/>
              <a:t>. </a:t>
            </a:r>
          </a:p>
        </p:txBody>
      </p:sp>
      <p:pic>
        <p:nvPicPr>
          <p:cNvPr id="4" name="Picture 3"/>
          <p:cNvPicPr/>
          <p:nvPr/>
        </p:nvPicPr>
        <p:blipFill>
          <a:blip r:embed="rId2" cstate="print"/>
          <a:srcRect/>
          <a:stretch>
            <a:fillRect/>
          </a:stretch>
        </p:blipFill>
        <p:spPr bwMode="auto">
          <a:xfrm>
            <a:off x="0" y="928670"/>
            <a:ext cx="9144000" cy="592933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472" y="642918"/>
            <a:ext cx="8229600" cy="1143000"/>
          </a:xfrm>
        </p:spPr>
        <p:txBody>
          <a:bodyPr>
            <a:noAutofit/>
          </a:bodyPr>
          <a:lstStyle/>
          <a:p>
            <a:r>
              <a:rPr lang="bg-BG" sz="3900" b="1">
                <a:latin typeface="Times New Roman" pitchFamily="18" charset="0"/>
                <a:cs typeface="Times New Roman" pitchFamily="18" charset="0"/>
              </a:rPr>
              <a:t>Регистри със специално предназначение. </a:t>
            </a:r>
            <a:endParaRPr lang="bg-BG" sz="3900"/>
          </a:p>
        </p:txBody>
      </p:sp>
      <p:sp>
        <p:nvSpPr>
          <p:cNvPr id="3" name="Content Placeholder 2"/>
          <p:cNvSpPr>
            <a:spLocks noGrp="1"/>
          </p:cNvSpPr>
          <p:nvPr>
            <p:ph idx="1"/>
          </p:nvPr>
        </p:nvSpPr>
        <p:spPr/>
        <p:txBody>
          <a:bodyPr>
            <a:normAutofit lnSpcReduction="10000"/>
          </a:bodyPr>
          <a:lstStyle/>
          <a:p>
            <a:pPr algn="just"/>
            <a:r>
              <a:rPr lang="bg-BG" b="1"/>
              <a:t>EFLAGS</a:t>
            </a:r>
            <a:r>
              <a:rPr lang="bg-BG"/>
              <a:t>. EFLAGS показват състоянието на микропроцесора, както и контролират неговата работа. </a:t>
            </a:r>
            <a:r>
              <a:rPr lang="ru-RU"/>
              <a:t>Всеки бит (флаг) от регистъра EFLAGS има собствено значение и обозначение. </a:t>
            </a:r>
            <a:r>
              <a:rPr lang="bg-BG"/>
              <a:t>Шест от флаговете в регистъра EFlags са флагове за състояние или аритметични операции. Те се използват за запис на информация за най-скоро изпълнената аритметична или логическа инструкция. Някои от флаговете се използват и за управление на функции, намиращи се в микропроцесора Три от флаговете: SF, PF и AF се използват рядко.</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bg-BG" sz="3900" b="1">
                <a:latin typeface="Times New Roman" pitchFamily="18" charset="0"/>
                <a:cs typeface="Times New Roman" pitchFamily="18" charset="0"/>
              </a:rPr>
              <a:t>Регистри със специално предназначение. </a:t>
            </a:r>
            <a:endParaRPr lang="bg-BG" sz="3900"/>
          </a:p>
        </p:txBody>
      </p:sp>
      <p:sp>
        <p:nvSpPr>
          <p:cNvPr id="3" name="Content Placeholder 2"/>
          <p:cNvSpPr>
            <a:spLocks noGrp="1"/>
          </p:cNvSpPr>
          <p:nvPr>
            <p:ph idx="1"/>
          </p:nvPr>
        </p:nvSpPr>
        <p:spPr>
          <a:xfrm>
            <a:off x="457200" y="1935480"/>
            <a:ext cx="8229600" cy="4636792"/>
          </a:xfrm>
        </p:spPr>
        <p:txBody>
          <a:bodyPr>
            <a:normAutofit fontScale="92500" lnSpcReduction="10000"/>
          </a:bodyPr>
          <a:lstStyle/>
          <a:p>
            <a:pPr algn="just"/>
            <a:r>
              <a:rPr lang="bg-BG" b="1">
                <a:latin typeface="Times New Roman" pitchFamily="18" charset="0"/>
                <a:cs typeface="Times New Roman" pitchFamily="18" charset="0"/>
              </a:rPr>
              <a:t>Z (zero). </a:t>
            </a:r>
            <a:r>
              <a:rPr lang="bg-BG">
                <a:latin typeface="Times New Roman" pitchFamily="18" charset="0"/>
                <a:cs typeface="Times New Roman" pitchFamily="18" charset="0"/>
              </a:rPr>
              <a:t>Флагът нула показва, че резултатът от аритметична или логическа операция е нула. Ако Z = 1, резултатът е нула; ако Z = 0, резултатът не е нула.</a:t>
            </a:r>
          </a:p>
          <a:p>
            <a:pPr algn="just"/>
            <a:r>
              <a:rPr lang="bg-BG" b="1">
                <a:latin typeface="Times New Roman" pitchFamily="18" charset="0"/>
                <a:cs typeface="Times New Roman" pitchFamily="18" charset="0"/>
              </a:rPr>
              <a:t>C (carry). </a:t>
            </a:r>
            <a:r>
              <a:rPr lang="bg-BG">
                <a:latin typeface="Times New Roman" pitchFamily="18" charset="0"/>
                <a:cs typeface="Times New Roman" pitchFamily="18" charset="0"/>
              </a:rPr>
              <a:t>Carry съдържа преноса след събиране или заема след изваждане. Флагът за пренасяне също показва състояния на грешка, продиктувани от някои програми и процедури. </a:t>
            </a:r>
            <a:r>
              <a:rPr lang="bg-BG" sz="2800">
                <a:latin typeface="Times New Roman" pitchFamily="18" charset="0"/>
                <a:cs typeface="Times New Roman" pitchFamily="18" charset="0"/>
              </a:rPr>
              <a:t>1 – при аритметично пренасяне; 0 – няма аритметичен трансфер. </a:t>
            </a:r>
          </a:p>
          <a:p>
            <a:pPr algn="just"/>
            <a:r>
              <a:rPr lang="bg-BG" b="1">
                <a:latin typeface="Times New Roman" pitchFamily="18" charset="0"/>
                <a:cs typeface="Times New Roman" pitchFamily="18" charset="0"/>
              </a:rPr>
              <a:t>O (overflow). </a:t>
            </a:r>
            <a:r>
              <a:rPr lang="bg-BG">
                <a:latin typeface="Times New Roman" pitchFamily="18" charset="0"/>
                <a:cs typeface="Times New Roman" pitchFamily="18" charset="0"/>
              </a:rPr>
              <a:t>Препълвания възникват, когато числата със знак се събират или изваждат. Препълване показва, че резултатът надвива възможностите за записа в разрядната мрежа. </a:t>
            </a:r>
          </a:p>
          <a:p>
            <a:endParaRPr lang="bg-BG" sz="2400">
              <a:latin typeface="Times New Roman" pitchFamily="18" charset="0"/>
              <a:cs typeface="Times New Roman"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bg-BG" sz="3900" b="1">
                <a:latin typeface="Times New Roman" pitchFamily="18" charset="0"/>
                <a:cs typeface="Times New Roman" pitchFamily="18" charset="0"/>
              </a:rPr>
              <a:t>Регистри със специално предназначение. </a:t>
            </a:r>
            <a:endParaRPr lang="bg-BG" sz="3900"/>
          </a:p>
        </p:txBody>
      </p:sp>
      <p:sp>
        <p:nvSpPr>
          <p:cNvPr id="3" name="Content Placeholder 2"/>
          <p:cNvSpPr>
            <a:spLocks noGrp="1"/>
          </p:cNvSpPr>
          <p:nvPr>
            <p:ph idx="1"/>
          </p:nvPr>
        </p:nvSpPr>
        <p:spPr>
          <a:xfrm>
            <a:off x="457200" y="1935480"/>
            <a:ext cx="8229600" cy="4636792"/>
          </a:xfrm>
        </p:spPr>
        <p:txBody>
          <a:bodyPr>
            <a:normAutofit fontScale="85000" lnSpcReduction="20000"/>
          </a:bodyPr>
          <a:lstStyle/>
          <a:p>
            <a:pPr algn="just"/>
            <a:r>
              <a:rPr lang="bg-BG" sz="2400" b="1">
                <a:latin typeface="Times New Roman" pitchFamily="18" charset="0"/>
                <a:cs typeface="Times New Roman" pitchFamily="18" charset="0"/>
              </a:rPr>
              <a:t>S (sign). </a:t>
            </a:r>
            <a:r>
              <a:rPr lang="bg-BG" sz="2400">
                <a:latin typeface="Times New Roman" pitchFamily="18" charset="0"/>
                <a:cs typeface="Times New Roman" pitchFamily="18" charset="0"/>
              </a:rPr>
              <a:t>Флагът на знака съдържа аритметичния знак на резултата след изпълнение на аритметична или логическа инструкция. Ако S = 1, знаковият бит (най-левият бит на числото) е 1 или то е отрицателно; ако S = 0, знаковият бит е 0 или числото е положително.</a:t>
            </a:r>
          </a:p>
          <a:p>
            <a:pPr algn="just"/>
            <a:r>
              <a:rPr lang="bg-BG" sz="2400" b="1">
                <a:latin typeface="Times New Roman" pitchFamily="18" charset="0"/>
                <a:cs typeface="Times New Roman" pitchFamily="18" charset="0"/>
              </a:rPr>
              <a:t>P(parity). </a:t>
            </a:r>
            <a:r>
              <a:rPr lang="bg-BG" sz="2400">
                <a:latin typeface="Times New Roman" pitchFamily="18" charset="0"/>
                <a:cs typeface="Times New Roman" pitchFamily="18" charset="0"/>
              </a:rPr>
              <a:t>Битът за паритет/четност/ е логическа 0 за нечетен брой и 1 за четен брой единици. Става 1 се, ако осемте бита от нисък ред на операнда съдържат четен брой единици (проверка за четност); в противен случай се изчиства. Този флаг се влияе само от осемте бита от нисък ред, независимо от дължината на операнда. Флагът за паритет </a:t>
            </a:r>
            <a:r>
              <a:rPr lang="en-US" sz="2400">
                <a:latin typeface="Times New Roman" pitchFamily="18" charset="0"/>
                <a:cs typeface="Times New Roman" pitchFamily="18" charset="0"/>
              </a:rPr>
              <a:t>e</a:t>
            </a:r>
            <a:r>
              <a:rPr lang="bg-BG" sz="2400">
                <a:latin typeface="Times New Roman" pitchFamily="18" charset="0"/>
                <a:cs typeface="Times New Roman" pitchFamily="18" charset="0"/>
              </a:rPr>
              <a:t> въведен в ранните микропроцесори на Intel за проверка на данни за комуникация.  </a:t>
            </a:r>
          </a:p>
          <a:p>
            <a:pPr algn="just"/>
            <a:r>
              <a:rPr lang="bg-BG" sz="2400" b="1">
                <a:latin typeface="Times New Roman" pitchFamily="18" charset="0"/>
                <a:cs typeface="Times New Roman" pitchFamily="18" charset="0"/>
              </a:rPr>
              <a:t>A (auxiliary carry). </a:t>
            </a:r>
            <a:r>
              <a:rPr lang="bg-BG" sz="2400">
                <a:latin typeface="Times New Roman" pitchFamily="18" charset="0"/>
                <a:cs typeface="Times New Roman" pitchFamily="18" charset="0"/>
              </a:rPr>
              <a:t>Полупреносът съдържа преноса/заема (полупреноса) между битовете 3 и 4 от резултата след събиране или изваждане. Този флаг се тества от инструкциите DAA и DAS, за да коригира стойността на AL след добавяне или изваждане на BCD числа. В противен случай битът за флаг A не се използва от микропроцесора или други инструкции. </a:t>
            </a:r>
          </a:p>
          <a:p>
            <a:endParaRPr lang="bg-BG" sz="2400">
              <a:latin typeface="Times New Roman" pitchFamily="18" charset="0"/>
              <a:cs typeface="Times New Roman"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bg-BG" sz="3900" b="1">
                <a:latin typeface="Times New Roman" pitchFamily="18" charset="0"/>
                <a:cs typeface="Times New Roman" pitchFamily="18" charset="0"/>
              </a:rPr>
              <a:t>Регистри със специално предназначение. </a:t>
            </a:r>
            <a:endParaRPr lang="bg-BG" sz="3900"/>
          </a:p>
        </p:txBody>
      </p:sp>
      <p:sp>
        <p:nvSpPr>
          <p:cNvPr id="3" name="Content Placeholder 2"/>
          <p:cNvSpPr>
            <a:spLocks noGrp="1"/>
          </p:cNvSpPr>
          <p:nvPr>
            <p:ph idx="1"/>
          </p:nvPr>
        </p:nvSpPr>
        <p:spPr>
          <a:xfrm>
            <a:off x="457200" y="2143116"/>
            <a:ext cx="8229600" cy="4429156"/>
          </a:xfrm>
        </p:spPr>
        <p:txBody>
          <a:bodyPr>
            <a:normAutofit/>
          </a:bodyPr>
          <a:lstStyle/>
          <a:p>
            <a:pPr algn="just"/>
            <a:r>
              <a:rPr lang="bg-BG">
                <a:latin typeface="Times New Roman" pitchFamily="18" charset="0"/>
                <a:cs typeface="Times New Roman" pitchFamily="18" charset="0"/>
              </a:rPr>
              <a:t>Един от флаговете е контролен флаг:</a:t>
            </a:r>
            <a:endParaRPr lang="bg-BG" b="1">
              <a:latin typeface="Times New Roman" pitchFamily="18" charset="0"/>
              <a:cs typeface="Times New Roman" pitchFamily="18" charset="0"/>
            </a:endParaRPr>
          </a:p>
          <a:p>
            <a:pPr algn="just"/>
            <a:r>
              <a:rPr lang="bg-BG" b="1">
                <a:latin typeface="Times New Roman" pitchFamily="18" charset="0"/>
                <a:cs typeface="Times New Roman" pitchFamily="18" charset="0"/>
              </a:rPr>
              <a:t>D (direction). </a:t>
            </a:r>
            <a:r>
              <a:rPr lang="bg-BG">
                <a:latin typeface="Times New Roman" pitchFamily="18" charset="0"/>
                <a:cs typeface="Times New Roman" pitchFamily="18" charset="0"/>
              </a:rPr>
              <a:t>Флагът за посока избира режима на нарастване или намаляване за</a:t>
            </a:r>
            <a:r>
              <a:rPr lang="en-US">
                <a:latin typeface="Times New Roman" pitchFamily="18" charset="0"/>
                <a:cs typeface="Times New Roman" pitchFamily="18" charset="0"/>
              </a:rPr>
              <a:t> </a:t>
            </a:r>
            <a:r>
              <a:rPr lang="bg-BG">
                <a:latin typeface="Times New Roman" pitchFamily="18" charset="0"/>
                <a:cs typeface="Times New Roman" pitchFamily="18" charset="0"/>
              </a:rPr>
              <a:t>регистрите DI и/или SI по време на инструкциите за низ. </a:t>
            </a:r>
          </a:p>
          <a:p>
            <a:pPr algn="just"/>
            <a:r>
              <a:rPr lang="bg-BG">
                <a:latin typeface="Times New Roman" pitchFamily="18" charset="0"/>
                <a:cs typeface="Times New Roman" pitchFamily="18" charset="0"/>
              </a:rPr>
              <a:t>Ако D = 1, регистрите се</a:t>
            </a:r>
            <a:r>
              <a:rPr lang="en-US">
                <a:latin typeface="Times New Roman" pitchFamily="18" charset="0"/>
                <a:cs typeface="Times New Roman" pitchFamily="18" charset="0"/>
              </a:rPr>
              <a:t> </a:t>
            </a:r>
            <a:r>
              <a:rPr lang="bg-BG">
                <a:latin typeface="Times New Roman" pitchFamily="18" charset="0"/>
                <a:cs typeface="Times New Roman" pitchFamily="18" charset="0"/>
              </a:rPr>
              <a:t>намаляват автоматично; </a:t>
            </a:r>
          </a:p>
          <a:p>
            <a:pPr algn="just"/>
            <a:r>
              <a:rPr lang="bg-BG">
                <a:latin typeface="Times New Roman" pitchFamily="18" charset="0"/>
                <a:cs typeface="Times New Roman" pitchFamily="18" charset="0"/>
              </a:rPr>
              <a:t>Ако D = 0, регистрите се увеличават автоматично. Флагът D се установява с STD и се изчиства с инструкциите CLD</a:t>
            </a:r>
            <a:r>
              <a:rPr lang="bg-BG" sz="2400"/>
              <a:t>.</a:t>
            </a:r>
          </a:p>
          <a:p>
            <a:endParaRPr lang="bg-BG" sz="2400">
              <a:latin typeface="Times New Roman" pitchFamily="18" charset="0"/>
              <a:cs typeface="Times New Roman"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bg-BG" sz="3900" b="1">
                <a:latin typeface="Times New Roman" pitchFamily="18" charset="0"/>
                <a:cs typeface="Times New Roman" pitchFamily="18" charset="0"/>
              </a:rPr>
              <a:t>Регистри със специално предназначение. </a:t>
            </a:r>
            <a:endParaRPr lang="bg-BG" sz="3900"/>
          </a:p>
        </p:txBody>
      </p:sp>
      <p:sp>
        <p:nvSpPr>
          <p:cNvPr id="3" name="Content Placeholder 2"/>
          <p:cNvSpPr>
            <a:spLocks noGrp="1"/>
          </p:cNvSpPr>
          <p:nvPr>
            <p:ph idx="1"/>
          </p:nvPr>
        </p:nvSpPr>
        <p:spPr>
          <a:xfrm>
            <a:off x="457200" y="1935480"/>
            <a:ext cx="7972452" cy="4493916"/>
          </a:xfrm>
        </p:spPr>
        <p:txBody>
          <a:bodyPr>
            <a:noAutofit/>
          </a:bodyPr>
          <a:lstStyle/>
          <a:p>
            <a:pPr algn="just"/>
            <a:r>
              <a:rPr lang="bg-BG" sz="2700">
                <a:latin typeface="Times New Roman" pitchFamily="18" charset="0"/>
                <a:cs typeface="Times New Roman" pitchFamily="18" charset="0"/>
              </a:rPr>
              <a:t>Останалите десет флага са системни флагове. Те се използват за управление на работата на процесора. Обикновените приложни програми не могат да задават тези флагове директно.</a:t>
            </a:r>
          </a:p>
          <a:p>
            <a:pPr algn="just"/>
            <a:r>
              <a:rPr lang="bg-BG" sz="2700" b="1">
                <a:latin typeface="Times New Roman" pitchFamily="18" charset="0"/>
                <a:cs typeface="Times New Roman" pitchFamily="18" charset="0"/>
              </a:rPr>
              <a:t>T (trap). </a:t>
            </a:r>
            <a:r>
              <a:rPr lang="bg-BG" sz="2700">
                <a:latin typeface="Times New Roman" pitchFamily="18" charset="0"/>
                <a:cs typeface="Times New Roman" pitchFamily="18" charset="0"/>
              </a:rPr>
              <a:t>Trap флагът позволява отстраняване на грешки в програмата чрез постъпково изпълнение. </a:t>
            </a:r>
          </a:p>
          <a:p>
            <a:pPr algn="just"/>
            <a:r>
              <a:rPr lang="bg-BG" sz="2700" b="1">
                <a:latin typeface="Times New Roman" pitchFamily="18" charset="0"/>
                <a:cs typeface="Times New Roman" pitchFamily="18" charset="0"/>
              </a:rPr>
              <a:t>I</a:t>
            </a:r>
            <a:r>
              <a:rPr lang="en-US" sz="2700" b="1">
                <a:latin typeface="Times New Roman" pitchFamily="18" charset="0"/>
                <a:cs typeface="Times New Roman" pitchFamily="18" charset="0"/>
              </a:rPr>
              <a:t>F</a:t>
            </a:r>
            <a:r>
              <a:rPr lang="bg-BG" sz="2700" b="1">
                <a:latin typeface="Times New Roman" pitchFamily="18" charset="0"/>
                <a:cs typeface="Times New Roman" pitchFamily="18" charset="0"/>
              </a:rPr>
              <a:t> (interrupt). </a:t>
            </a:r>
            <a:r>
              <a:rPr lang="bg-BG" sz="2700">
                <a:latin typeface="Times New Roman" pitchFamily="18" charset="0"/>
                <a:cs typeface="Times New Roman" pitchFamily="18" charset="0"/>
              </a:rPr>
              <a:t>Флаг за прекъсване</a:t>
            </a:r>
          </a:p>
          <a:p>
            <a:pPr algn="just"/>
            <a:r>
              <a:rPr lang="bg-BG" sz="2700" b="1">
                <a:latin typeface="Times New Roman" pitchFamily="18" charset="0"/>
                <a:cs typeface="Times New Roman" pitchFamily="18" charset="0"/>
              </a:rPr>
              <a:t>IOPL(I/O </a:t>
            </a:r>
            <a:r>
              <a:rPr lang="en-US" sz="2700" b="1">
                <a:latin typeface="Times New Roman" pitchFamily="18" charset="0"/>
                <a:cs typeface="Times New Roman" pitchFamily="18" charset="0"/>
              </a:rPr>
              <a:t>privilege level</a:t>
            </a:r>
            <a:r>
              <a:rPr lang="bg-BG" sz="2700" b="1">
                <a:latin typeface="Times New Roman" pitchFamily="18" charset="0"/>
                <a:cs typeface="Times New Roman" pitchFamily="18" charset="0"/>
              </a:rPr>
              <a:t>). </a:t>
            </a:r>
            <a:r>
              <a:rPr lang="bg-BG" sz="2700">
                <a:latin typeface="Times New Roman" pitchFamily="18" charset="0"/>
                <a:cs typeface="Times New Roman" pitchFamily="18" charset="0"/>
              </a:rPr>
              <a:t>Флаг за ниво на привилегия.</a:t>
            </a:r>
          </a:p>
          <a:p>
            <a:pPr algn="just"/>
            <a:r>
              <a:rPr lang="bg-BG" sz="2700" b="1">
                <a:latin typeface="Times New Roman" pitchFamily="18" charset="0"/>
                <a:cs typeface="Times New Roman" pitchFamily="18" charset="0"/>
              </a:rPr>
              <a:t>NT (</a:t>
            </a:r>
            <a:r>
              <a:rPr lang="en-US" sz="2700" b="1">
                <a:latin typeface="Times New Roman" pitchFamily="18" charset="0"/>
                <a:cs typeface="Times New Roman" pitchFamily="18" charset="0"/>
              </a:rPr>
              <a:t>nested task</a:t>
            </a:r>
            <a:r>
              <a:rPr lang="bg-BG" sz="2700">
                <a:latin typeface="Times New Roman" pitchFamily="18" charset="0"/>
                <a:cs typeface="Times New Roman" pitchFamily="18" charset="0"/>
              </a:rPr>
              <a:t>). Флаг за вложена задача.</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bg-BG" sz="3900" b="1">
                <a:latin typeface="Times New Roman" pitchFamily="18" charset="0"/>
                <a:cs typeface="Times New Roman" pitchFamily="18" charset="0"/>
              </a:rPr>
              <a:t>Регистри със специално предназначение. </a:t>
            </a:r>
            <a:endParaRPr lang="bg-BG" sz="3900"/>
          </a:p>
        </p:txBody>
      </p:sp>
      <p:sp>
        <p:nvSpPr>
          <p:cNvPr id="3" name="Content Placeholder 2"/>
          <p:cNvSpPr>
            <a:spLocks noGrp="1"/>
          </p:cNvSpPr>
          <p:nvPr>
            <p:ph idx="1"/>
          </p:nvPr>
        </p:nvSpPr>
        <p:spPr>
          <a:xfrm>
            <a:off x="428596" y="2000240"/>
            <a:ext cx="8229600" cy="4389120"/>
          </a:xfrm>
        </p:spPr>
        <p:txBody>
          <a:bodyPr>
            <a:normAutofit fontScale="92500" lnSpcReduction="10000"/>
          </a:bodyPr>
          <a:lstStyle/>
          <a:p>
            <a:pPr algn="just"/>
            <a:r>
              <a:rPr lang="bg-BG" sz="2800" b="1">
                <a:latin typeface="Times New Roman" pitchFamily="18" charset="0"/>
                <a:cs typeface="Times New Roman" pitchFamily="18" charset="0"/>
              </a:rPr>
              <a:t>RF (</a:t>
            </a:r>
            <a:r>
              <a:rPr lang="en-US" sz="2800" b="1">
                <a:latin typeface="Times New Roman" pitchFamily="18" charset="0"/>
                <a:cs typeface="Times New Roman" pitchFamily="18" charset="0"/>
              </a:rPr>
              <a:t>resume flag</a:t>
            </a:r>
            <a:r>
              <a:rPr lang="bg-BG" sz="2800" b="1">
                <a:latin typeface="Times New Roman" pitchFamily="18" charset="0"/>
                <a:cs typeface="Times New Roman" pitchFamily="18" charset="0"/>
              </a:rPr>
              <a:t>). </a:t>
            </a:r>
            <a:r>
              <a:rPr lang="bg-BG" sz="2800">
                <a:latin typeface="Times New Roman" pitchFamily="18" charset="0"/>
                <a:cs typeface="Times New Roman" pitchFamily="18" charset="0"/>
              </a:rPr>
              <a:t>Флаг за възобновяване. </a:t>
            </a:r>
          </a:p>
          <a:p>
            <a:pPr algn="just"/>
            <a:r>
              <a:rPr lang="bg-BG" sz="2800" b="1">
                <a:latin typeface="Times New Roman" pitchFamily="18" charset="0"/>
                <a:cs typeface="Times New Roman" pitchFamily="18" charset="0"/>
              </a:rPr>
              <a:t>VM (</a:t>
            </a:r>
            <a:r>
              <a:rPr lang="en-US" sz="2800" b="1">
                <a:latin typeface="Times New Roman" pitchFamily="18" charset="0"/>
                <a:cs typeface="Times New Roman" pitchFamily="18" charset="0"/>
              </a:rPr>
              <a:t>virtual 8086 mode</a:t>
            </a:r>
            <a:r>
              <a:rPr lang="bg-BG" sz="2800" b="1">
                <a:latin typeface="Times New Roman" pitchFamily="18" charset="0"/>
                <a:cs typeface="Times New Roman" pitchFamily="18" charset="0"/>
              </a:rPr>
              <a:t>).  </a:t>
            </a:r>
            <a:r>
              <a:rPr lang="bg-BG" sz="2800">
                <a:latin typeface="Times New Roman" pitchFamily="18" charset="0"/>
                <a:cs typeface="Times New Roman" pitchFamily="18" charset="0"/>
              </a:rPr>
              <a:t>Флагът VM избира работа във виртуален режим при система със защитен режим. </a:t>
            </a:r>
          </a:p>
          <a:p>
            <a:pPr algn="just"/>
            <a:r>
              <a:rPr lang="en-US" sz="2800" b="1">
                <a:latin typeface="Times New Roman" pitchFamily="18" charset="0"/>
                <a:cs typeface="Times New Roman" pitchFamily="18" charset="0"/>
              </a:rPr>
              <a:t>AC (alignment check). </a:t>
            </a:r>
            <a:r>
              <a:rPr lang="bg-BG" sz="2800">
                <a:latin typeface="Times New Roman" pitchFamily="18" charset="0"/>
                <a:cs typeface="Times New Roman" pitchFamily="18" charset="0"/>
              </a:rPr>
              <a:t>Флаг за проверка на изравняването</a:t>
            </a:r>
          </a:p>
          <a:p>
            <a:pPr algn="just"/>
            <a:r>
              <a:rPr lang="bg-BG" sz="2800" b="1">
                <a:latin typeface="Times New Roman" pitchFamily="18" charset="0"/>
                <a:cs typeface="Times New Roman" pitchFamily="18" charset="0"/>
              </a:rPr>
              <a:t>VIF </a:t>
            </a:r>
            <a:r>
              <a:rPr lang="en-US" sz="2800" b="1">
                <a:latin typeface="Times New Roman" pitchFamily="18" charset="0"/>
                <a:cs typeface="Times New Roman" pitchFamily="18" charset="0"/>
              </a:rPr>
              <a:t>(virtual interrupt flag)</a:t>
            </a:r>
            <a:r>
              <a:rPr lang="bg-BG" sz="2800" b="1">
                <a:latin typeface="Times New Roman" pitchFamily="18" charset="0"/>
                <a:cs typeface="Times New Roman" pitchFamily="18" charset="0"/>
              </a:rPr>
              <a:t>. </a:t>
            </a:r>
            <a:r>
              <a:rPr lang="bg-BG" sz="2800">
                <a:latin typeface="Times New Roman" pitchFamily="18" charset="0"/>
                <a:cs typeface="Times New Roman" pitchFamily="18" charset="0"/>
              </a:rPr>
              <a:t>Флаг за виртуално прекъсване</a:t>
            </a:r>
            <a:r>
              <a:rPr lang="en-US" sz="2800">
                <a:latin typeface="Times New Roman" pitchFamily="18" charset="0"/>
                <a:cs typeface="Times New Roman" pitchFamily="18" charset="0"/>
              </a:rPr>
              <a:t>. </a:t>
            </a:r>
            <a:endParaRPr lang="bg-BG" sz="2800">
              <a:latin typeface="Times New Roman" pitchFamily="18" charset="0"/>
              <a:cs typeface="Times New Roman" pitchFamily="18" charset="0"/>
            </a:endParaRPr>
          </a:p>
          <a:p>
            <a:pPr algn="just"/>
            <a:r>
              <a:rPr lang="bg-BG" sz="2800" b="1">
                <a:latin typeface="Times New Roman" pitchFamily="18" charset="0"/>
                <a:cs typeface="Times New Roman" pitchFamily="18" charset="0"/>
              </a:rPr>
              <a:t>VIP </a:t>
            </a:r>
            <a:r>
              <a:rPr lang="en-US" sz="2800" b="1">
                <a:latin typeface="Times New Roman" pitchFamily="18" charset="0"/>
                <a:cs typeface="Times New Roman" pitchFamily="18" charset="0"/>
              </a:rPr>
              <a:t>(virtual interrupt pending)</a:t>
            </a:r>
            <a:r>
              <a:rPr lang="bg-BG" sz="2800" b="1">
                <a:latin typeface="Times New Roman" pitchFamily="18" charset="0"/>
                <a:cs typeface="Times New Roman" pitchFamily="18" charset="0"/>
              </a:rPr>
              <a:t>. </a:t>
            </a:r>
            <a:r>
              <a:rPr lang="bg-BG" sz="2800">
                <a:latin typeface="Times New Roman" pitchFamily="18" charset="0"/>
                <a:cs typeface="Times New Roman" pitchFamily="18" charset="0"/>
              </a:rPr>
              <a:t>Флаг за очакване на виртуално прекъсване</a:t>
            </a:r>
            <a:r>
              <a:rPr lang="en-US" sz="2800" b="1">
                <a:latin typeface="Times New Roman" pitchFamily="18" charset="0"/>
                <a:cs typeface="Times New Roman" pitchFamily="18" charset="0"/>
              </a:rPr>
              <a:t>. </a:t>
            </a:r>
            <a:endParaRPr lang="bg-BG" sz="2800">
              <a:latin typeface="Times New Roman" pitchFamily="18" charset="0"/>
              <a:cs typeface="Times New Roman" pitchFamily="18" charset="0"/>
            </a:endParaRPr>
          </a:p>
          <a:p>
            <a:pPr algn="just"/>
            <a:r>
              <a:rPr lang="bg-BG" sz="2800" b="1">
                <a:latin typeface="Times New Roman" pitchFamily="18" charset="0"/>
                <a:cs typeface="Times New Roman" pitchFamily="18" charset="0"/>
              </a:rPr>
              <a:t>ID </a:t>
            </a:r>
            <a:r>
              <a:rPr lang="en-US" sz="2800" b="1">
                <a:latin typeface="Times New Roman" pitchFamily="18" charset="0"/>
                <a:cs typeface="Times New Roman" pitchFamily="18" charset="0"/>
              </a:rPr>
              <a:t>(ID flag)</a:t>
            </a:r>
            <a:r>
              <a:rPr lang="bg-BG" sz="2800" b="1">
                <a:latin typeface="Times New Roman" pitchFamily="18" charset="0"/>
                <a:cs typeface="Times New Roman" pitchFamily="18" charset="0"/>
              </a:rPr>
              <a:t>.</a:t>
            </a:r>
            <a:r>
              <a:rPr lang="en-US" sz="2800" b="1">
                <a:latin typeface="Times New Roman" pitchFamily="18" charset="0"/>
                <a:cs typeface="Times New Roman" pitchFamily="18" charset="0"/>
              </a:rPr>
              <a:t> </a:t>
            </a:r>
            <a:r>
              <a:rPr lang="bg-BG" sz="2800">
                <a:latin typeface="Times New Roman" pitchFamily="18" charset="0"/>
                <a:cs typeface="Times New Roman" pitchFamily="18" charset="0"/>
              </a:rPr>
              <a:t>Флаг за идентификация</a:t>
            </a:r>
            <a:endParaRPr lang="bg-BG"/>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bg-BG" sz="3900" b="1">
                <a:latin typeface="Times New Roman" pitchFamily="18" charset="0"/>
                <a:cs typeface="Times New Roman" pitchFamily="18" charset="0"/>
              </a:rPr>
              <a:t>Регистри със специално предназначение. </a:t>
            </a:r>
            <a:endParaRPr lang="bg-BG" sz="3900"/>
          </a:p>
        </p:txBody>
      </p:sp>
      <p:sp>
        <p:nvSpPr>
          <p:cNvPr id="3" name="Content Placeholder 2"/>
          <p:cNvSpPr>
            <a:spLocks noGrp="1"/>
          </p:cNvSpPr>
          <p:nvPr>
            <p:ph idx="1"/>
          </p:nvPr>
        </p:nvSpPr>
        <p:spPr>
          <a:xfrm>
            <a:off x="0" y="2000240"/>
            <a:ext cx="3643306" cy="4389120"/>
          </a:xfrm>
        </p:spPr>
        <p:txBody>
          <a:bodyPr>
            <a:normAutofit fontScale="85000" lnSpcReduction="20000"/>
          </a:bodyPr>
          <a:lstStyle/>
          <a:p>
            <a:pPr algn="just"/>
            <a:r>
              <a:rPr lang="bg-BG" sz="2800" b="1">
                <a:latin typeface="Times New Roman" pitchFamily="18" charset="0"/>
                <a:cs typeface="Times New Roman" pitchFamily="18" charset="0"/>
              </a:rPr>
              <a:t>Сегментни регистри.</a:t>
            </a:r>
            <a:endParaRPr lang="bg-BG" sz="2800">
              <a:latin typeface="Times New Roman" pitchFamily="18" charset="0"/>
              <a:cs typeface="Times New Roman" pitchFamily="18" charset="0"/>
            </a:endParaRPr>
          </a:p>
          <a:p>
            <a:r>
              <a:rPr lang="bg-BG" sz="2800">
                <a:latin typeface="Times New Roman" pitchFamily="18" charset="0"/>
                <a:cs typeface="Times New Roman" pitchFamily="18" charset="0"/>
              </a:rPr>
              <a:t>Сегментните регистри, генерират адреси на</a:t>
            </a:r>
            <a:br>
              <a:rPr lang="bg-BG" sz="2800">
                <a:latin typeface="Times New Roman" pitchFamily="18" charset="0"/>
                <a:cs typeface="Times New Roman" pitchFamily="18" charset="0"/>
              </a:rPr>
            </a:br>
            <a:r>
              <a:rPr lang="bg-BG" sz="2800">
                <a:latin typeface="Times New Roman" pitchFamily="18" charset="0"/>
                <a:cs typeface="Times New Roman" pitchFamily="18" charset="0"/>
              </a:rPr>
              <a:t>паметта, когато се комбинират с други регистри в микропроцесора. </a:t>
            </a:r>
          </a:p>
          <a:p>
            <a:r>
              <a:rPr lang="bg-BG" sz="2800">
                <a:latin typeface="Times New Roman" pitchFamily="18" charset="0"/>
                <a:cs typeface="Times New Roman" pitchFamily="18" charset="0"/>
              </a:rPr>
              <a:t>Сегментният регистър функционира различно в реалния режим в сравнение с работата в защитен режим на микропроцесора. </a:t>
            </a:r>
          </a:p>
          <a:p>
            <a:endParaRPr lang="bg-BG"/>
          </a:p>
        </p:txBody>
      </p:sp>
      <p:pic>
        <p:nvPicPr>
          <p:cNvPr id="4" name="Picture 3"/>
          <p:cNvPicPr/>
          <p:nvPr/>
        </p:nvPicPr>
        <p:blipFill>
          <a:blip r:embed="rId2" cstate="print"/>
          <a:srcRect/>
          <a:stretch>
            <a:fillRect/>
          </a:stretch>
        </p:blipFill>
        <p:spPr bwMode="auto">
          <a:xfrm>
            <a:off x="3643306" y="2071678"/>
            <a:ext cx="5305446" cy="4071966"/>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bg-BG" sz="3900" b="1">
                <a:latin typeface="Times New Roman" pitchFamily="18" charset="0"/>
                <a:cs typeface="Times New Roman" pitchFamily="18" charset="0"/>
              </a:rPr>
              <a:t>Регистри със специално предназначение. </a:t>
            </a:r>
            <a:endParaRPr lang="bg-BG" sz="3900"/>
          </a:p>
        </p:txBody>
      </p:sp>
      <p:sp>
        <p:nvSpPr>
          <p:cNvPr id="3" name="Content Placeholder 2"/>
          <p:cNvSpPr>
            <a:spLocks noGrp="1"/>
          </p:cNvSpPr>
          <p:nvPr>
            <p:ph idx="1"/>
          </p:nvPr>
        </p:nvSpPr>
        <p:spPr>
          <a:xfrm>
            <a:off x="457200" y="1935480"/>
            <a:ext cx="8229600" cy="4636792"/>
          </a:xfrm>
        </p:spPr>
        <p:txBody>
          <a:bodyPr>
            <a:normAutofit/>
          </a:bodyPr>
          <a:lstStyle/>
          <a:p>
            <a:pPr algn="just"/>
            <a:r>
              <a:rPr lang="bg-BG" sz="2400" b="1">
                <a:latin typeface="Times New Roman" pitchFamily="18" charset="0"/>
                <a:cs typeface="Times New Roman" pitchFamily="18" charset="0"/>
              </a:rPr>
              <a:t>Сегментни регистри.</a:t>
            </a:r>
            <a:endParaRPr lang="bg-BG" sz="2400">
              <a:latin typeface="Times New Roman" pitchFamily="18" charset="0"/>
              <a:cs typeface="Times New Roman" pitchFamily="18" charset="0"/>
            </a:endParaRPr>
          </a:p>
          <a:p>
            <a:pPr algn="just"/>
            <a:r>
              <a:rPr lang="bg-BG" b="1" i="1">
                <a:latin typeface="Times New Roman" pitchFamily="18" charset="0"/>
                <a:cs typeface="Times New Roman" pitchFamily="18" charset="0"/>
              </a:rPr>
              <a:t>CS (код-сегментен регистър) </a:t>
            </a:r>
            <a:r>
              <a:rPr lang="bg-BG">
                <a:latin typeface="Times New Roman" pitchFamily="18" charset="0"/>
                <a:cs typeface="Times New Roman" pitchFamily="18" charset="0"/>
              </a:rPr>
              <a:t>Кодовият сегмент е секция от паметта, която съдържа кода (програмите и процедурите), използвани от микропроцесора. </a:t>
            </a:r>
          </a:p>
          <a:p>
            <a:pPr algn="just"/>
            <a:r>
              <a:rPr lang="bg-BG">
                <a:latin typeface="Times New Roman" pitchFamily="18" charset="0"/>
                <a:cs typeface="Times New Roman" pitchFamily="18" charset="0"/>
              </a:rPr>
              <a:t> </a:t>
            </a:r>
            <a:r>
              <a:rPr lang="bg-BG" b="1" i="1">
                <a:latin typeface="Times New Roman" pitchFamily="18" charset="0"/>
                <a:cs typeface="Times New Roman" pitchFamily="18" charset="0"/>
              </a:rPr>
              <a:t>DS (даннов сегментен регистър)</a:t>
            </a:r>
            <a:r>
              <a:rPr lang="en-US" b="1" i="1">
                <a:latin typeface="Times New Roman" pitchFamily="18" charset="0"/>
                <a:cs typeface="Times New Roman" pitchFamily="18" charset="0"/>
              </a:rPr>
              <a:t>. </a:t>
            </a:r>
            <a:r>
              <a:rPr lang="bg-BG">
                <a:latin typeface="Times New Roman" pitchFamily="18" charset="0"/>
                <a:cs typeface="Times New Roman" pitchFamily="18" charset="0"/>
              </a:rPr>
              <a:t>Сегментът от данни е част от паметта, която съдържа повечето данни, използвани от програма. Достъпът до данните в сегмента от данни се осъществява чрез отместване на</a:t>
            </a:r>
            <a:r>
              <a:rPr lang="en-US">
                <a:latin typeface="Times New Roman" pitchFamily="18" charset="0"/>
                <a:cs typeface="Times New Roman" pitchFamily="18" charset="0"/>
              </a:rPr>
              <a:t> a</a:t>
            </a:r>
            <a:r>
              <a:rPr lang="bg-BG">
                <a:latin typeface="Times New Roman" pitchFamily="18" charset="0"/>
                <a:cs typeface="Times New Roman" pitchFamily="18" charset="0"/>
              </a:rPr>
              <a:t>дрес</a:t>
            </a:r>
            <a:r>
              <a:rPr lang="en-US">
                <a:latin typeface="Times New Roman" pitchFamily="18" charset="0"/>
                <a:cs typeface="Times New Roman" pitchFamily="18" charset="0"/>
              </a:rPr>
              <a:t>a</a:t>
            </a:r>
            <a:r>
              <a:rPr lang="bg-BG">
                <a:latin typeface="Times New Roman" pitchFamily="18" charset="0"/>
                <a:cs typeface="Times New Roman" pitchFamily="18" charset="0"/>
              </a:rPr>
              <a:t> или съдържанието на други регистри, които съдържат изместване на адреса</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bg-BG" sz="3900" b="1">
                <a:latin typeface="Times New Roman" pitchFamily="18" charset="0"/>
                <a:cs typeface="Times New Roman" pitchFamily="18" charset="0"/>
              </a:rPr>
              <a:t>Регистри със специално предназначение. </a:t>
            </a:r>
            <a:endParaRPr lang="bg-BG" sz="3900"/>
          </a:p>
        </p:txBody>
      </p:sp>
      <p:sp>
        <p:nvSpPr>
          <p:cNvPr id="3" name="Content Placeholder 2"/>
          <p:cNvSpPr>
            <a:spLocks noGrp="1"/>
          </p:cNvSpPr>
          <p:nvPr>
            <p:ph idx="1"/>
          </p:nvPr>
        </p:nvSpPr>
        <p:spPr>
          <a:xfrm>
            <a:off x="457200" y="1935480"/>
            <a:ext cx="8229600" cy="4422478"/>
          </a:xfrm>
        </p:spPr>
        <p:txBody>
          <a:bodyPr>
            <a:normAutofit/>
          </a:bodyPr>
          <a:lstStyle/>
          <a:p>
            <a:pPr algn="just"/>
            <a:r>
              <a:rPr lang="bg-BG" sz="2400" b="1">
                <a:latin typeface="Times New Roman" pitchFamily="18" charset="0"/>
                <a:cs typeface="Times New Roman" pitchFamily="18" charset="0"/>
              </a:rPr>
              <a:t>Сегментни регистри.</a:t>
            </a:r>
            <a:endParaRPr lang="bg-BG" sz="2400">
              <a:latin typeface="Times New Roman" pitchFamily="18" charset="0"/>
              <a:cs typeface="Times New Roman" pitchFamily="18" charset="0"/>
            </a:endParaRPr>
          </a:p>
          <a:p>
            <a:pPr algn="just"/>
            <a:r>
              <a:rPr lang="bg-BG" b="1" i="1">
                <a:latin typeface="Times New Roman" pitchFamily="18" charset="0"/>
                <a:cs typeface="Times New Roman" pitchFamily="18" charset="0"/>
              </a:rPr>
              <a:t>ES (регистър на допълнителен даннов сегмент)</a:t>
            </a:r>
            <a:r>
              <a:rPr lang="en-US" b="1" i="1">
                <a:latin typeface="Times New Roman" pitchFamily="18" charset="0"/>
                <a:cs typeface="Times New Roman" pitchFamily="18" charset="0"/>
              </a:rPr>
              <a:t>. </a:t>
            </a:r>
            <a:r>
              <a:rPr lang="bg-BG">
                <a:latin typeface="Times New Roman" pitchFamily="18" charset="0"/>
                <a:cs typeface="Times New Roman" pitchFamily="18" charset="0"/>
              </a:rPr>
              <a:t>Допълнителният сегмент от данни се използва от някои от низовите инструкции за съхраняване на данни на получателя.</a:t>
            </a:r>
          </a:p>
          <a:p>
            <a:pPr algn="just"/>
            <a:r>
              <a:rPr lang="bg-BG" b="1" i="1">
                <a:latin typeface="Times New Roman" pitchFamily="18" charset="0"/>
                <a:cs typeface="Times New Roman" pitchFamily="18" charset="0"/>
              </a:rPr>
              <a:t>SS (стек)</a:t>
            </a:r>
            <a:r>
              <a:rPr lang="en-US" b="1" i="1">
                <a:latin typeface="Times New Roman" pitchFamily="18" charset="0"/>
                <a:cs typeface="Times New Roman" pitchFamily="18" charset="0"/>
              </a:rPr>
              <a:t>. </a:t>
            </a:r>
            <a:r>
              <a:rPr lang="bg-BG">
                <a:latin typeface="Times New Roman" pitchFamily="18" charset="0"/>
                <a:cs typeface="Times New Roman" pitchFamily="18" charset="0"/>
              </a:rPr>
              <a:t>Сегментът на стека дефинира областта на паметта, използвана за съхранение на данни и адреси. </a:t>
            </a:r>
          </a:p>
          <a:p>
            <a:pPr algn="just"/>
            <a:r>
              <a:rPr lang="bg-BG" b="1" i="1">
                <a:latin typeface="Times New Roman" pitchFamily="18" charset="0"/>
                <a:cs typeface="Times New Roman" pitchFamily="18" charset="0"/>
              </a:rPr>
              <a:t>FS и GS сегментни регистри</a:t>
            </a:r>
            <a:r>
              <a:rPr lang="en-US" b="1" i="1">
                <a:latin typeface="Times New Roman" pitchFamily="18" charset="0"/>
                <a:cs typeface="Times New Roman" pitchFamily="18" charset="0"/>
              </a:rPr>
              <a:t>. </a:t>
            </a:r>
            <a:r>
              <a:rPr lang="bg-BG">
                <a:latin typeface="Times New Roman" pitchFamily="18" charset="0"/>
                <a:cs typeface="Times New Roman" pitchFamily="18" charset="0"/>
              </a:rPr>
              <a:t>FS и GS са допълнителни сегментни регистри.</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bg-BG" b="1">
                <a:latin typeface="Times New Roman" pitchFamily="18" charset="0"/>
                <a:cs typeface="Times New Roman" pitchFamily="18" charset="0"/>
              </a:rPr>
              <a:t>Методи на адресиране на данни</a:t>
            </a:r>
            <a:endParaRPr lang="bg-BG"/>
          </a:p>
        </p:txBody>
      </p:sp>
      <p:sp>
        <p:nvSpPr>
          <p:cNvPr id="3" name="Content Placeholder 2"/>
          <p:cNvSpPr>
            <a:spLocks noGrp="1"/>
          </p:cNvSpPr>
          <p:nvPr>
            <p:ph idx="1"/>
          </p:nvPr>
        </p:nvSpPr>
        <p:spPr/>
        <p:txBody>
          <a:bodyPr>
            <a:normAutofit lnSpcReduction="10000"/>
          </a:bodyPr>
          <a:lstStyle/>
          <a:p>
            <a:pPr algn="just"/>
            <a:r>
              <a:rPr lang="bg-BG">
                <a:latin typeface="Times New Roman" pitchFamily="18" charset="0"/>
                <a:cs typeface="Times New Roman" pitchFamily="18" charset="0"/>
              </a:rPr>
              <a:t>Режимите на адресиране за това семейство </a:t>
            </a:r>
            <a:r>
              <a:rPr lang="bg-BG" err="1">
                <a:latin typeface="Times New Roman" pitchFamily="18" charset="0"/>
                <a:cs typeface="Times New Roman" pitchFamily="18" charset="0"/>
              </a:rPr>
              <a:t>микропроцеси</a:t>
            </a:r>
            <a:r>
              <a:rPr lang="bg-BG">
                <a:latin typeface="Times New Roman" pitchFamily="18" charset="0"/>
                <a:cs typeface="Times New Roman" pitchFamily="18" charset="0"/>
              </a:rPr>
              <a:t> са описани както за реалния, така и за защитения режим на работа. Паметта в реален режим съществува на адреси 00000H-FFFFFH — първият 1MB на системата с памет — и присъства във всички версии на микропроцесора. Паметта в защитен режим съществува на всяко място в цялата система с памет, но е достъпна само за 80286-Pentium Pro, а не по-ранните микропроцесори 8086 или 8088. Паметта в защитен режим за I80286 съдържа 16M байта, за 80386-</a:t>
            </a:r>
            <a:r>
              <a:rPr lang="bg-BG" err="1">
                <a:latin typeface="Times New Roman" pitchFamily="18" charset="0"/>
                <a:cs typeface="Times New Roman" pitchFamily="18" charset="0"/>
              </a:rPr>
              <a:t>Рentium</a:t>
            </a:r>
            <a:r>
              <a:rPr lang="bg-BG">
                <a:latin typeface="Times New Roman" pitchFamily="18" charset="0"/>
                <a:cs typeface="Times New Roman" pitchFamily="18" charset="0"/>
              </a:rPr>
              <a:t>.4GB и за Pentium Pro 64GB.</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357166"/>
            <a:ext cx="8229600" cy="1143000"/>
          </a:xfrm>
        </p:spPr>
        <p:txBody>
          <a:bodyPr>
            <a:normAutofit fontScale="90000"/>
          </a:bodyPr>
          <a:lstStyle/>
          <a:p>
            <a:r>
              <a:rPr lang="bg-BG" b="1">
                <a:latin typeface="Times New Roman" pitchFamily="18" charset="0"/>
                <a:cs typeface="Times New Roman" pitchFamily="18" charset="0"/>
              </a:rPr>
              <a:t>Методи на адресиране на данни</a:t>
            </a:r>
            <a:endParaRPr lang="bg-BG"/>
          </a:p>
        </p:txBody>
      </p:sp>
      <p:sp>
        <p:nvSpPr>
          <p:cNvPr id="3" name="Content Placeholder 2"/>
          <p:cNvSpPr>
            <a:spLocks noGrp="1"/>
          </p:cNvSpPr>
          <p:nvPr>
            <p:ph idx="1"/>
          </p:nvPr>
        </p:nvSpPr>
        <p:spPr>
          <a:xfrm>
            <a:off x="457200" y="1571612"/>
            <a:ext cx="8229600" cy="4752988"/>
          </a:xfrm>
        </p:spPr>
        <p:txBody>
          <a:bodyPr/>
          <a:lstStyle/>
          <a:p>
            <a:r>
              <a:rPr lang="bg-BG" sz="2400">
                <a:latin typeface="Times New Roman" pitchFamily="18" charset="0"/>
                <a:cs typeface="Times New Roman" pitchFamily="18" charset="0"/>
              </a:rPr>
              <a:t>Инструкцията MOV осигурява основа за обяснението на режимите на адресиране на данни. </a:t>
            </a:r>
          </a:p>
          <a:p>
            <a:endParaRPr lang="bg-BG"/>
          </a:p>
        </p:txBody>
      </p:sp>
      <p:pic>
        <p:nvPicPr>
          <p:cNvPr id="4" name="Image 1"/>
          <p:cNvPicPr/>
          <p:nvPr/>
        </p:nvPicPr>
        <p:blipFill>
          <a:blip r:embed="rId2" cstate="print"/>
          <a:stretch>
            <a:fillRect/>
          </a:stretch>
        </p:blipFill>
        <p:spPr>
          <a:xfrm>
            <a:off x="1142976" y="2285992"/>
            <a:ext cx="6429420" cy="1928826"/>
          </a:xfrm>
          <a:prstGeom prst="rect">
            <a:avLst/>
          </a:prstGeom>
        </p:spPr>
      </p:pic>
      <p:sp>
        <p:nvSpPr>
          <p:cNvPr id="5" name="Rectangle 4"/>
          <p:cNvSpPr/>
          <p:nvPr/>
        </p:nvSpPr>
        <p:spPr>
          <a:xfrm>
            <a:off x="500034" y="4214818"/>
            <a:ext cx="8358246" cy="2215991"/>
          </a:xfrm>
          <a:prstGeom prst="rect">
            <a:avLst/>
          </a:prstGeom>
        </p:spPr>
        <p:txBody>
          <a:bodyPr wrap="square">
            <a:spAutoFit/>
          </a:bodyPr>
          <a:lstStyle/>
          <a:p>
            <a:pPr algn="just"/>
            <a:r>
              <a:rPr lang="bg-BG" sz="2300">
                <a:latin typeface="Times New Roman" pitchFamily="18" charset="0"/>
                <a:cs typeface="Times New Roman" pitchFamily="18" charset="0"/>
              </a:rPr>
              <a:t>Инструкцията MOV AX, BX прехвърля съдържанието на думата на изходния регистър (BX) в регистъра на получателя (AX). Източникът никога не се променя, но получателят се променя почти винаги. Инструкцията MOV винаги копира изходните данни в адреса на получателя. Регистърът на флаговете не се променя от повечето инструкции за трансфер на данни.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85728"/>
            <a:ext cx="8229600" cy="1143000"/>
          </a:xfrm>
        </p:spPr>
        <p:txBody>
          <a:bodyPr>
            <a:normAutofit fontScale="90000"/>
          </a:bodyPr>
          <a:lstStyle/>
          <a:p>
            <a:r>
              <a:rPr lang="bg-BG" b="1">
                <a:latin typeface="Times New Roman" pitchFamily="18" charset="0"/>
                <a:cs typeface="Times New Roman" pitchFamily="18" charset="0"/>
              </a:rPr>
              <a:t>Методи на адресиране на данни</a:t>
            </a:r>
            <a:endParaRPr lang="bg-BG"/>
          </a:p>
        </p:txBody>
      </p:sp>
      <p:pic>
        <p:nvPicPr>
          <p:cNvPr id="7" name="Image 2"/>
          <p:cNvPicPr>
            <a:picLocks noGrp="1"/>
          </p:cNvPicPr>
          <p:nvPr>
            <p:ph idx="1"/>
          </p:nvPr>
        </p:nvPicPr>
        <p:blipFill>
          <a:blip r:embed="rId2" cstate="print"/>
          <a:stretch>
            <a:fillRect/>
          </a:stretch>
        </p:blipFill>
        <p:spPr>
          <a:xfrm>
            <a:off x="254342" y="1351603"/>
            <a:ext cx="8358246" cy="5214973"/>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85728"/>
            <a:ext cx="8229600" cy="1143000"/>
          </a:xfrm>
        </p:spPr>
        <p:txBody>
          <a:bodyPr>
            <a:normAutofit fontScale="90000"/>
          </a:bodyPr>
          <a:lstStyle/>
          <a:p>
            <a:r>
              <a:rPr lang="bg-BG" b="1">
                <a:latin typeface="Times New Roman" pitchFamily="18" charset="0"/>
                <a:cs typeface="Times New Roman" pitchFamily="18" charset="0"/>
              </a:rPr>
              <a:t>Методи на адресиране на данни</a:t>
            </a:r>
            <a:endParaRPr lang="bg-BG"/>
          </a:p>
        </p:txBody>
      </p:sp>
      <p:sp>
        <p:nvSpPr>
          <p:cNvPr id="4" name="Content Placeholder 3"/>
          <p:cNvSpPr>
            <a:spLocks noGrp="1"/>
          </p:cNvSpPr>
          <p:nvPr>
            <p:ph idx="1"/>
          </p:nvPr>
        </p:nvSpPr>
        <p:spPr>
          <a:xfrm>
            <a:off x="285720" y="1428736"/>
            <a:ext cx="8686800" cy="4895864"/>
          </a:xfrm>
        </p:spPr>
        <p:txBody>
          <a:bodyPr>
            <a:normAutofit/>
          </a:bodyPr>
          <a:lstStyle/>
          <a:p>
            <a:pPr algn="just"/>
            <a:r>
              <a:rPr lang="bg-BG" b="1">
                <a:latin typeface="Times New Roman" pitchFamily="18" charset="0"/>
                <a:cs typeface="Times New Roman" pitchFamily="18" charset="0"/>
              </a:rPr>
              <a:t>Регистрова адресация</a:t>
            </a:r>
          </a:p>
          <a:p>
            <a:pPr algn="just"/>
            <a:r>
              <a:rPr lang="bg-BG">
                <a:latin typeface="Times New Roman" pitchFamily="18" charset="0"/>
                <a:cs typeface="Times New Roman" pitchFamily="18" charset="0"/>
              </a:rPr>
              <a:t>Адресирането чрез регистъра е най-често срещаната форма на адресиране на данни. За инструкциите е важно да се използват регистри с еднакъв размер. Никога не смесвайте 8-битов регистър с 16-битов регистър, 8-битов регистър с 32-битов регистър или 16-битов регистър с 32-битов регистър, тъй като това не е позволено от микропроцесора и води до в грешка при асемблирането на програмата. </a:t>
            </a:r>
          </a:p>
          <a:p>
            <a:r>
              <a:rPr lang="en-US" err="1">
                <a:latin typeface="Times New Roman" pitchFamily="18" charset="0"/>
                <a:cs typeface="Times New Roman" pitchFamily="18" charset="0"/>
              </a:rPr>
              <a:t>mov</a:t>
            </a:r>
            <a:r>
              <a:rPr lang="en-US">
                <a:latin typeface="Times New Roman" pitchFamily="18" charset="0"/>
                <a:cs typeface="Times New Roman" pitchFamily="18" charset="0"/>
              </a:rPr>
              <a:t> EAX, EBX ; move EBX to EAX </a:t>
            </a:r>
            <a:br>
              <a:rPr lang="en-US">
                <a:latin typeface="Times New Roman" pitchFamily="18" charset="0"/>
                <a:cs typeface="Times New Roman" pitchFamily="18" charset="0"/>
              </a:rPr>
            </a:br>
            <a:endParaRPr lang="bg-BG">
              <a:latin typeface="Times New Roman" pitchFamily="18" charset="0"/>
              <a:cs typeface="Times New Roman"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85728"/>
            <a:ext cx="8229600" cy="1143000"/>
          </a:xfrm>
        </p:spPr>
        <p:txBody>
          <a:bodyPr>
            <a:normAutofit fontScale="90000"/>
          </a:bodyPr>
          <a:lstStyle/>
          <a:p>
            <a:r>
              <a:rPr lang="bg-BG" b="1">
                <a:latin typeface="Times New Roman" pitchFamily="18" charset="0"/>
                <a:cs typeface="Times New Roman" pitchFamily="18" charset="0"/>
              </a:rPr>
              <a:t>Методи на адресиране на данни</a:t>
            </a:r>
            <a:endParaRPr lang="bg-BG"/>
          </a:p>
        </p:txBody>
      </p:sp>
      <p:sp>
        <p:nvSpPr>
          <p:cNvPr id="4" name="Content Placeholder 3"/>
          <p:cNvSpPr>
            <a:spLocks noGrp="1"/>
          </p:cNvSpPr>
          <p:nvPr>
            <p:ph idx="1"/>
          </p:nvPr>
        </p:nvSpPr>
        <p:spPr>
          <a:xfrm>
            <a:off x="285720" y="1428736"/>
            <a:ext cx="8686800" cy="4895864"/>
          </a:xfrm>
        </p:spPr>
        <p:txBody>
          <a:bodyPr>
            <a:normAutofit/>
          </a:bodyPr>
          <a:lstStyle/>
          <a:p>
            <a:r>
              <a:rPr lang="bg-BG" b="1"/>
              <a:t>Непосредствено адресиране</a:t>
            </a:r>
          </a:p>
          <a:p>
            <a:pPr algn="just"/>
            <a:r>
              <a:rPr lang="bg-BG">
                <a:latin typeface="Times New Roman" pitchFamily="18" charset="0"/>
                <a:cs typeface="Times New Roman" pitchFamily="18" charset="0"/>
              </a:rPr>
              <a:t>Данните непосредствено следват шестнадесетичния оптокод в паметта. Също така непосредствените данни са постоянни данни, докато данните, прехвърлени от регистър, са променливи данни. Непосредственото адресиране оперира с байт или дума от данни. </a:t>
            </a:r>
            <a:endParaRPr lang="bg-BG" b="1">
              <a:latin typeface="Times New Roman" pitchFamily="18" charset="0"/>
              <a:cs typeface="Times New Roman" pitchFamily="18" charset="0"/>
            </a:endParaRPr>
          </a:p>
          <a:p>
            <a:pPr algn="just">
              <a:buNone/>
            </a:pPr>
            <a:endParaRPr lang="bg-BG">
              <a:latin typeface="Times New Roman" pitchFamily="18" charset="0"/>
              <a:cs typeface="Times New Roman" pitchFamily="18" charset="0"/>
            </a:endParaRPr>
          </a:p>
          <a:p>
            <a:r>
              <a:rPr lang="en-US" err="1">
                <a:latin typeface="Times New Roman" pitchFamily="18" charset="0"/>
                <a:cs typeface="Times New Roman" pitchFamily="18" charset="0"/>
              </a:rPr>
              <a:t>mov</a:t>
            </a:r>
            <a:r>
              <a:rPr lang="en-US">
                <a:latin typeface="Times New Roman" pitchFamily="18" charset="0"/>
                <a:cs typeface="Times New Roman" pitchFamily="18" charset="0"/>
              </a:rPr>
              <a:t> EAX, 132h ; move 132h to EAX </a:t>
            </a:r>
            <a:br>
              <a:rPr lang="en-US">
                <a:latin typeface="Times New Roman" pitchFamily="18" charset="0"/>
                <a:cs typeface="Times New Roman" pitchFamily="18" charset="0"/>
              </a:rPr>
            </a:br>
            <a:br>
              <a:rPr lang="en-US">
                <a:latin typeface="Times New Roman" pitchFamily="18" charset="0"/>
                <a:cs typeface="Times New Roman" pitchFamily="18" charset="0"/>
              </a:rPr>
            </a:br>
            <a:endParaRPr lang="bg-BG">
              <a:latin typeface="Times New Roman" pitchFamily="18" charset="0"/>
              <a:cs typeface="Times New Roman"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85728"/>
            <a:ext cx="8229600" cy="1143000"/>
          </a:xfrm>
        </p:spPr>
        <p:txBody>
          <a:bodyPr>
            <a:normAutofit fontScale="90000"/>
          </a:bodyPr>
          <a:lstStyle/>
          <a:p>
            <a:r>
              <a:rPr lang="bg-BG" b="1">
                <a:latin typeface="Times New Roman" pitchFamily="18" charset="0"/>
                <a:cs typeface="Times New Roman" pitchFamily="18" charset="0"/>
              </a:rPr>
              <a:t>Методи на адресиране на данни</a:t>
            </a:r>
            <a:endParaRPr lang="bg-BG"/>
          </a:p>
        </p:txBody>
      </p:sp>
      <p:sp>
        <p:nvSpPr>
          <p:cNvPr id="4" name="Content Placeholder 3"/>
          <p:cNvSpPr>
            <a:spLocks noGrp="1"/>
          </p:cNvSpPr>
          <p:nvPr>
            <p:ph idx="1"/>
          </p:nvPr>
        </p:nvSpPr>
        <p:spPr>
          <a:xfrm>
            <a:off x="285720" y="1428736"/>
            <a:ext cx="8686800" cy="5214974"/>
          </a:xfrm>
        </p:spPr>
        <p:txBody>
          <a:bodyPr>
            <a:noAutofit/>
          </a:bodyPr>
          <a:lstStyle/>
          <a:p>
            <a:pPr marL="0" indent="274320">
              <a:spcBef>
                <a:spcPts val="0"/>
              </a:spcBef>
            </a:pPr>
            <a:r>
              <a:rPr lang="bg-BG" sz="2200" b="1">
                <a:latin typeface="Times New Roman" pitchFamily="18" charset="0"/>
                <a:cs typeface="Times New Roman" pitchFamily="18" charset="0"/>
              </a:rPr>
              <a:t>Методи за адресиране на паметта</a:t>
            </a:r>
          </a:p>
          <a:p>
            <a:pPr marL="0" indent="274320">
              <a:spcBef>
                <a:spcPts val="0"/>
              </a:spcBef>
            </a:pPr>
            <a:r>
              <a:rPr lang="bg-BG" sz="2200" b="1">
                <a:latin typeface="Times New Roman" pitchFamily="18" charset="0"/>
                <a:cs typeface="Times New Roman" pitchFamily="18" charset="0"/>
              </a:rPr>
              <a:t>Директно адресиране на данни</a:t>
            </a:r>
          </a:p>
          <a:p>
            <a:pPr marL="0" indent="274320">
              <a:spcBef>
                <a:spcPts val="0"/>
              </a:spcBef>
            </a:pPr>
            <a:r>
              <a:rPr lang="bg-BG" sz="2200">
                <a:latin typeface="Times New Roman" pitchFamily="18" charset="0"/>
                <a:cs typeface="Times New Roman" pitchFamily="18" charset="0"/>
              </a:rPr>
              <a:t>Повечето инструкции могат да използват директно адресиране на данни. </a:t>
            </a:r>
            <a:br>
              <a:rPr lang="bg-BG" sz="2200">
                <a:latin typeface="Times New Roman" pitchFamily="18" charset="0"/>
                <a:cs typeface="Times New Roman" pitchFamily="18" charset="0"/>
              </a:rPr>
            </a:br>
            <a:r>
              <a:rPr lang="bg-BG" sz="2200">
                <a:latin typeface="Times New Roman" pitchFamily="18" charset="0"/>
                <a:cs typeface="Times New Roman" pitchFamily="18" charset="0"/>
              </a:rPr>
              <a:t>=</a:t>
            </a:r>
            <a:r>
              <a:rPr lang="bg-BG" sz="2200" b="1">
                <a:latin typeface="Times New Roman" pitchFamily="18" charset="0"/>
                <a:cs typeface="Times New Roman" pitchFamily="18" charset="0"/>
              </a:rPr>
              <a:t>Директно адресиране. </a:t>
            </a:r>
            <a:r>
              <a:rPr lang="bg-BG" sz="2200">
                <a:latin typeface="Times New Roman" pitchFamily="18" charset="0"/>
                <a:cs typeface="Times New Roman" pitchFamily="18" charset="0"/>
              </a:rPr>
              <a:t>Директното адресиране с инструкция MOV прехвърля данни между място на паметта, разположено в сегмента от данни, и регистъра AL (8-битов), AX (16-битов)или EAX (32-битов).</a:t>
            </a:r>
          </a:p>
          <a:p>
            <a:pPr marL="0" indent="274320">
              <a:spcBef>
                <a:spcPts val="0"/>
              </a:spcBef>
            </a:pPr>
            <a:r>
              <a:rPr lang="en-US" sz="2200" b="1">
                <a:latin typeface="Times New Roman" pitchFamily="18" charset="0"/>
                <a:cs typeface="Times New Roman" pitchFamily="18" charset="0"/>
              </a:rPr>
              <a:t>mov [1000h], ax: memory at address 1000h gets the value of ax</a:t>
            </a:r>
          </a:p>
          <a:p>
            <a:pPr marL="0" indent="274320">
              <a:spcBef>
                <a:spcPts val="0"/>
              </a:spcBef>
            </a:pPr>
            <a:r>
              <a:rPr lang="bg-BG" sz="2200">
                <a:latin typeface="Times New Roman" pitchFamily="18" charset="0"/>
                <a:cs typeface="Times New Roman" pitchFamily="18" charset="0"/>
              </a:rPr>
              <a:t>=</a:t>
            </a:r>
            <a:r>
              <a:rPr lang="bg-BG" sz="2200" b="1">
                <a:latin typeface="Times New Roman" pitchFamily="18" charset="0"/>
                <a:cs typeface="Times New Roman" pitchFamily="18" charset="0"/>
              </a:rPr>
              <a:t>Адресиране с изместване.</a:t>
            </a:r>
            <a:r>
              <a:rPr lang="bg-BG" sz="2200">
                <a:latin typeface="Times New Roman" pitchFamily="18" charset="0"/>
                <a:cs typeface="Times New Roman" pitchFamily="18" charset="0"/>
              </a:rPr>
              <a:t> При него машинният код на инструкцията е дълга четири байта вместо три. В 80386 - Pentium Pro тази инструкция може да бъде дълга до седем байта, ако е указан 32-битов регистър и 32-битово изместване. Този тип директно адресиране на данни е много по-гъвкав и повечето инструкции го използват.</a:t>
            </a:r>
          </a:p>
          <a:p>
            <a:pPr marL="0" indent="274320">
              <a:spcBef>
                <a:spcPts val="0"/>
              </a:spcBef>
            </a:pPr>
            <a:r>
              <a:rPr lang="en-US" sz="2200" b="1" err="1">
                <a:latin typeface="Times New Roman" pitchFamily="18" charset="0"/>
                <a:cs typeface="Times New Roman" pitchFamily="18" charset="0"/>
              </a:rPr>
              <a:t>mov</a:t>
            </a:r>
            <a:r>
              <a:rPr lang="en-US" sz="2200" b="1">
                <a:latin typeface="Times New Roman" pitchFamily="18" charset="0"/>
                <a:cs typeface="Times New Roman" pitchFamily="18" charset="0"/>
              </a:rPr>
              <a:t> al, [byte_tbl+2]</a:t>
            </a:r>
          </a:p>
          <a:p>
            <a:pPr marL="0" indent="274320">
              <a:spcBef>
                <a:spcPts val="0"/>
              </a:spcBef>
            </a:pPr>
            <a:r>
              <a:rPr lang="bg-BG" sz="2200">
                <a:latin typeface="Times New Roman" pitchFamily="18" charset="0"/>
                <a:cs typeface="Times New Roman" pitchFamily="18" charset="0"/>
              </a:rPr>
              <a:t>същото като директното, но с  аритметична промяна на адреса</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0"/>
            <a:ext cx="8229600" cy="1143000"/>
          </a:xfrm>
        </p:spPr>
        <p:txBody>
          <a:bodyPr>
            <a:normAutofit fontScale="90000"/>
          </a:bodyPr>
          <a:lstStyle/>
          <a:p>
            <a:r>
              <a:rPr lang="bg-BG" b="1">
                <a:latin typeface="Times New Roman" pitchFamily="18" charset="0"/>
                <a:cs typeface="Times New Roman" pitchFamily="18" charset="0"/>
              </a:rPr>
              <a:t>Методи на адресиране на данни</a:t>
            </a:r>
            <a:endParaRPr lang="bg-BG"/>
          </a:p>
        </p:txBody>
      </p:sp>
      <p:sp>
        <p:nvSpPr>
          <p:cNvPr id="4" name="Content Placeholder 3"/>
          <p:cNvSpPr>
            <a:spLocks noGrp="1"/>
          </p:cNvSpPr>
          <p:nvPr>
            <p:ph idx="1"/>
          </p:nvPr>
        </p:nvSpPr>
        <p:spPr>
          <a:xfrm>
            <a:off x="214282" y="1142984"/>
            <a:ext cx="8686800" cy="5214974"/>
          </a:xfrm>
        </p:spPr>
        <p:txBody>
          <a:bodyPr>
            <a:noAutofit/>
          </a:bodyPr>
          <a:lstStyle/>
          <a:p>
            <a:r>
              <a:rPr lang="bg-BG" sz="2100" b="1">
                <a:latin typeface="Times New Roman" pitchFamily="18" charset="0"/>
                <a:cs typeface="Times New Roman" pitchFamily="18" charset="0"/>
              </a:rPr>
              <a:t>Косвена регистрова адресация</a:t>
            </a:r>
            <a:r>
              <a:rPr lang="en-US" sz="2100" b="1">
                <a:latin typeface="Times New Roman" pitchFamily="18" charset="0"/>
                <a:cs typeface="Times New Roman" pitchFamily="18" charset="0"/>
              </a:rPr>
              <a:t> </a:t>
            </a:r>
            <a:endParaRPr lang="bg-BG" sz="2100" b="1">
              <a:latin typeface="Times New Roman" pitchFamily="18" charset="0"/>
              <a:cs typeface="Times New Roman" pitchFamily="18" charset="0"/>
            </a:endParaRPr>
          </a:p>
          <a:p>
            <a:pPr marL="0">
              <a:spcBef>
                <a:spcPts val="0"/>
              </a:spcBef>
            </a:pPr>
            <a:r>
              <a:rPr lang="bg-BG" sz="2100">
                <a:latin typeface="Times New Roman" pitchFamily="18" charset="0"/>
                <a:cs typeface="Times New Roman" pitchFamily="18" charset="0"/>
              </a:rPr>
              <a:t>Индиректното адресиране с регистър позволява адресирането на данни във всяко място в паметта чрез отместване, съхранявано в някой от следните регистри: BP, BX, DI и SI.</a:t>
            </a:r>
          </a:p>
          <a:p>
            <a:pPr marL="0" fontAlgn="base">
              <a:spcBef>
                <a:spcPts val="0"/>
              </a:spcBef>
            </a:pPr>
            <a:r>
              <a:rPr lang="en-US" sz="2100" b="1">
                <a:latin typeface="Times New Roman" pitchFamily="18" charset="0"/>
                <a:cs typeface="Times New Roman" pitchFamily="18" charset="0"/>
              </a:rPr>
              <a:t>MOV AX, [DI] ; copies value at memory address specified by di, into ax</a:t>
            </a:r>
          </a:p>
          <a:p>
            <a:pPr marL="0">
              <a:spcBef>
                <a:spcPts val="0"/>
              </a:spcBef>
            </a:pPr>
            <a:r>
              <a:rPr lang="bg-BG" sz="2100" b="1">
                <a:latin typeface="Times New Roman" pitchFamily="18" charset="0"/>
                <a:cs typeface="Times New Roman" pitchFamily="18" charset="0"/>
              </a:rPr>
              <a:t>Базово-индексно адресиране</a:t>
            </a:r>
          </a:p>
          <a:p>
            <a:pPr marL="0">
              <a:spcBef>
                <a:spcPts val="0"/>
              </a:spcBef>
            </a:pPr>
            <a:r>
              <a:rPr lang="bg-BG" sz="2100">
                <a:latin typeface="Times New Roman" pitchFamily="18" charset="0"/>
                <a:cs typeface="Times New Roman" pitchFamily="18" charset="0"/>
              </a:rPr>
              <a:t>Базово-индексното адресиране непряко адресира данните от паметта. Използва се основно при адресирането на елементи от масив в паметта.</a:t>
            </a:r>
          </a:p>
          <a:p>
            <a:pPr marL="0">
              <a:spcBef>
                <a:spcPts val="0"/>
              </a:spcBef>
              <a:buNone/>
            </a:pPr>
            <a:r>
              <a:rPr lang="bg-BG" sz="2100" b="1"/>
              <a:t>MOV DX,[ BX+DI]</a:t>
            </a:r>
            <a:r>
              <a:rPr lang="en-US" sz="2100" b="1"/>
              <a:t> ; </a:t>
            </a:r>
            <a:r>
              <a:rPr lang="en-US" sz="2100" b="1">
                <a:latin typeface="Times New Roman" pitchFamily="18" charset="0"/>
                <a:cs typeface="Times New Roman" pitchFamily="18" charset="0"/>
              </a:rPr>
              <a:t>copies value at memory address specified by </a:t>
            </a:r>
            <a:r>
              <a:rPr lang="en-US" sz="2100" b="1" err="1">
                <a:latin typeface="Times New Roman" pitchFamily="18" charset="0"/>
                <a:cs typeface="Times New Roman" pitchFamily="18" charset="0"/>
              </a:rPr>
              <a:t>bx</a:t>
            </a:r>
            <a:r>
              <a:rPr lang="en-US" sz="2100" b="1">
                <a:latin typeface="Times New Roman" pitchFamily="18" charset="0"/>
                <a:cs typeface="Times New Roman" pitchFamily="18" charset="0"/>
              </a:rPr>
              <a:t> plus value at memory address specified by  di, into ax</a:t>
            </a:r>
            <a:endParaRPr lang="bg-BG" sz="2100" b="1">
              <a:latin typeface="Times New Roman" pitchFamily="18" charset="0"/>
              <a:cs typeface="Times New Roman" pitchFamily="18" charset="0"/>
            </a:endParaRPr>
          </a:p>
          <a:p>
            <a:pPr marL="0">
              <a:spcBef>
                <a:spcPts val="0"/>
              </a:spcBef>
            </a:pPr>
            <a:r>
              <a:rPr lang="bg-BG" sz="2100" b="1">
                <a:latin typeface="Times New Roman" pitchFamily="18" charset="0"/>
                <a:cs typeface="Times New Roman" pitchFamily="18" charset="0"/>
              </a:rPr>
              <a:t>Относителна регистрова адресация</a:t>
            </a:r>
          </a:p>
          <a:p>
            <a:pPr marL="0">
              <a:spcBef>
                <a:spcPts val="0"/>
              </a:spcBef>
            </a:pPr>
            <a:r>
              <a:rPr lang="bg-BG" sz="2100">
                <a:latin typeface="Times New Roman" pitchFamily="18" charset="0"/>
                <a:cs typeface="Times New Roman" pitchFamily="18" charset="0"/>
              </a:rPr>
              <a:t>При относителната регистрова адресация данните в сегмент от паметта се адресират чрез добавяне на изместване към съдържанието на основен или индексен регистър (BP, BX. DI или SI).</a:t>
            </a:r>
            <a:endParaRPr lang="en-US" sz="2100">
              <a:latin typeface="Times New Roman" pitchFamily="18" charset="0"/>
              <a:cs typeface="Times New Roman" pitchFamily="18" charset="0"/>
            </a:endParaRPr>
          </a:p>
          <a:p>
            <a:pPr marL="0">
              <a:spcBef>
                <a:spcPts val="0"/>
              </a:spcBef>
            </a:pPr>
            <a:r>
              <a:rPr lang="bg-BG" sz="2100" b="1">
                <a:latin typeface="Times New Roman" pitchFamily="18" charset="0"/>
                <a:cs typeface="Times New Roman" pitchFamily="18" charset="0"/>
              </a:rPr>
              <a:t>MOV AX, [BX+1000H]</a:t>
            </a:r>
            <a:r>
              <a:rPr lang="en-US" sz="2100" b="1">
                <a:latin typeface="Times New Roman" pitchFamily="18" charset="0"/>
                <a:cs typeface="Times New Roman" pitchFamily="18" charset="0"/>
              </a:rPr>
              <a:t> ; copies value at memory address specified by </a:t>
            </a:r>
            <a:r>
              <a:rPr lang="en-US" sz="2100" b="1" err="1">
                <a:latin typeface="Times New Roman" pitchFamily="18" charset="0"/>
                <a:cs typeface="Times New Roman" pitchFamily="18" charset="0"/>
              </a:rPr>
              <a:t>bx</a:t>
            </a:r>
            <a:r>
              <a:rPr lang="en-US" sz="2100" b="1">
                <a:latin typeface="Times New Roman" pitchFamily="18" charset="0"/>
                <a:cs typeface="Times New Roman" pitchFamily="18" charset="0"/>
              </a:rPr>
              <a:t> plus 1000h, into ax</a:t>
            </a:r>
            <a:endParaRPr lang="bg-BG" sz="2100" b="1">
              <a:latin typeface="Times New Roman" pitchFamily="18" charset="0"/>
              <a:cs typeface="Times New Roman"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85728"/>
            <a:ext cx="8229600" cy="1143000"/>
          </a:xfrm>
        </p:spPr>
        <p:txBody>
          <a:bodyPr>
            <a:normAutofit fontScale="90000"/>
          </a:bodyPr>
          <a:lstStyle/>
          <a:p>
            <a:r>
              <a:rPr lang="bg-BG" b="1">
                <a:latin typeface="Times New Roman" pitchFamily="18" charset="0"/>
                <a:cs typeface="Times New Roman" pitchFamily="18" charset="0"/>
              </a:rPr>
              <a:t>Методи на адресиране на данни</a:t>
            </a:r>
            <a:endParaRPr lang="bg-BG"/>
          </a:p>
        </p:txBody>
      </p:sp>
      <p:sp>
        <p:nvSpPr>
          <p:cNvPr id="4" name="Content Placeholder 3"/>
          <p:cNvSpPr>
            <a:spLocks noGrp="1"/>
          </p:cNvSpPr>
          <p:nvPr>
            <p:ph idx="1"/>
          </p:nvPr>
        </p:nvSpPr>
        <p:spPr>
          <a:xfrm>
            <a:off x="285720" y="1643026"/>
            <a:ext cx="8686800" cy="5214974"/>
          </a:xfrm>
        </p:spPr>
        <p:txBody>
          <a:bodyPr>
            <a:noAutofit/>
          </a:bodyPr>
          <a:lstStyle/>
          <a:p>
            <a:r>
              <a:rPr lang="bg-BG" b="1">
                <a:latin typeface="Times New Roman" pitchFamily="18" charset="0"/>
                <a:cs typeface="Times New Roman" pitchFamily="18" charset="0"/>
              </a:rPr>
              <a:t>Относителна базово-индексна адресация</a:t>
            </a:r>
          </a:p>
          <a:p>
            <a:pPr algn="just"/>
            <a:r>
              <a:rPr lang="bg-BG">
                <a:latin typeface="Times New Roman" pitchFamily="18" charset="0"/>
                <a:cs typeface="Times New Roman" pitchFamily="18" charset="0"/>
              </a:rPr>
              <a:t>Относителното базово-индексно адресиране е подобно на режима на базово-индексното адресиране, но добавя изместване освен използването на базата и индексен регистър за формиране на адреса на паметта. С този режим на адресиране често се адресира двумерен масив от данни в паметта.</a:t>
            </a:r>
            <a:endParaRPr lang="en-US">
              <a:latin typeface="Times New Roman" pitchFamily="18" charset="0"/>
              <a:cs typeface="Times New Roman" pitchFamily="18" charset="0"/>
            </a:endParaRPr>
          </a:p>
          <a:p>
            <a:r>
              <a:rPr lang="bg-BG" b="1">
                <a:latin typeface="Times New Roman" pitchFamily="18" charset="0"/>
                <a:cs typeface="Times New Roman" pitchFamily="18" charset="0"/>
              </a:rPr>
              <a:t>MOV AX, [BX</a:t>
            </a:r>
            <a:r>
              <a:rPr lang="en-US" b="1">
                <a:latin typeface="Times New Roman" pitchFamily="18" charset="0"/>
                <a:cs typeface="Times New Roman" pitchFamily="18" charset="0"/>
              </a:rPr>
              <a:t>+DI</a:t>
            </a:r>
            <a:r>
              <a:rPr lang="bg-BG" b="1">
                <a:latin typeface="Times New Roman" pitchFamily="18" charset="0"/>
                <a:cs typeface="Times New Roman" pitchFamily="18" charset="0"/>
              </a:rPr>
              <a:t>+1000H]</a:t>
            </a:r>
            <a:r>
              <a:rPr lang="en-US" b="1">
                <a:latin typeface="Times New Roman" pitchFamily="18" charset="0"/>
                <a:cs typeface="Times New Roman" pitchFamily="18" charset="0"/>
              </a:rPr>
              <a:t> ; copies value at memory address specified by </a:t>
            </a:r>
            <a:r>
              <a:rPr lang="en-US" b="1" err="1">
                <a:latin typeface="Times New Roman" pitchFamily="18" charset="0"/>
                <a:cs typeface="Times New Roman" pitchFamily="18" charset="0"/>
              </a:rPr>
              <a:t>bx</a:t>
            </a:r>
            <a:r>
              <a:rPr lang="en-US" b="1">
                <a:latin typeface="Times New Roman" pitchFamily="18" charset="0"/>
                <a:cs typeface="Times New Roman" pitchFamily="18" charset="0"/>
              </a:rPr>
              <a:t> plus value at memory address specified by </a:t>
            </a:r>
            <a:r>
              <a:rPr lang="en-US" b="1" err="1">
                <a:latin typeface="Times New Roman" pitchFamily="18" charset="0"/>
                <a:cs typeface="Times New Roman" pitchFamily="18" charset="0"/>
              </a:rPr>
              <a:t>bx</a:t>
            </a:r>
            <a:r>
              <a:rPr lang="en-US" b="1">
                <a:latin typeface="Times New Roman" pitchFamily="18" charset="0"/>
                <a:cs typeface="Times New Roman" pitchFamily="18" charset="0"/>
              </a:rPr>
              <a:t> plus 1000h, into ax</a:t>
            </a:r>
            <a:endParaRPr lang="bg-BG" b="1">
              <a:latin typeface="Times New Roman" pitchFamily="18" charset="0"/>
              <a:cs typeface="Times New Roman"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85728"/>
            <a:ext cx="8229600" cy="1143000"/>
          </a:xfrm>
        </p:spPr>
        <p:txBody>
          <a:bodyPr>
            <a:normAutofit fontScale="90000"/>
          </a:bodyPr>
          <a:lstStyle/>
          <a:p>
            <a:r>
              <a:rPr lang="bg-BG" b="1">
                <a:latin typeface="Times New Roman" pitchFamily="18" charset="0"/>
                <a:cs typeface="Times New Roman" pitchFamily="18" charset="0"/>
              </a:rPr>
              <a:t>Методи на адресиране на данни</a:t>
            </a:r>
            <a:endParaRPr lang="bg-BG"/>
          </a:p>
        </p:txBody>
      </p:sp>
      <p:sp>
        <p:nvSpPr>
          <p:cNvPr id="3" name="Content Placeholder 2"/>
          <p:cNvSpPr>
            <a:spLocks noGrp="1"/>
          </p:cNvSpPr>
          <p:nvPr>
            <p:ph idx="1"/>
          </p:nvPr>
        </p:nvSpPr>
        <p:spPr>
          <a:xfrm>
            <a:off x="500034" y="1643050"/>
            <a:ext cx="8229600" cy="4708230"/>
          </a:xfrm>
        </p:spPr>
        <p:txBody>
          <a:bodyPr>
            <a:normAutofit fontScale="62500" lnSpcReduction="20000"/>
          </a:bodyPr>
          <a:lstStyle/>
          <a:p>
            <a:r>
              <a:rPr lang="bg-BG" sz="3400" b="1">
                <a:latin typeface="Times New Roman" pitchFamily="18" charset="0"/>
                <a:cs typeface="Times New Roman" pitchFamily="18" charset="0"/>
              </a:rPr>
              <a:t>Мащабирано индексно адресиране </a:t>
            </a:r>
          </a:p>
          <a:p>
            <a:pPr algn="just"/>
            <a:r>
              <a:rPr lang="bg-BG" sz="3400">
                <a:latin typeface="Times New Roman" pitchFamily="18" charset="0"/>
                <a:cs typeface="Times New Roman" pitchFamily="18" charset="0"/>
              </a:rPr>
              <a:t>Мащабираното индексно адресиране на данни е уникално за 80386 - Pentium Pro микропроцесори. То използва два 32-битови регистъра (базов регистър и индексен регистър)за достъп до паметта. Вторият регистър(индекс) се умножава по коефициент на мащабиране. Коефициентът на мащабиране може да бъде 1, 2, 4 или 8. Коефициент на мащабиране 1 се подразбира и не е необходимо да се включва в инструкциите на асемблерния език. </a:t>
            </a:r>
            <a:r>
              <a:rPr lang="bg-BG" sz="3400" b="1">
                <a:latin typeface="Times New Roman" pitchFamily="18" charset="0"/>
                <a:cs typeface="Times New Roman" pitchFamily="18" charset="0"/>
              </a:rPr>
              <a:t>MOV AL, [EBX+ECX] </a:t>
            </a:r>
          </a:p>
          <a:p>
            <a:pPr algn="just"/>
            <a:r>
              <a:rPr lang="bg-BG" sz="3400">
                <a:latin typeface="Times New Roman" pitchFamily="18" charset="0"/>
                <a:cs typeface="Times New Roman" pitchFamily="18" charset="0"/>
              </a:rPr>
              <a:t>Коефициент на мащабиране 2 се използва за адресиране на масиви памет с размер на думи; мащабиращ фактор 4 се използва с масиви памет с размер на двойна дума; и коефициент на мащабиране 8 се използва с масиви памет с размер четири думи.</a:t>
            </a:r>
            <a:endParaRPr lang="en-US" sz="3400">
              <a:latin typeface="Times New Roman" pitchFamily="18" charset="0"/>
              <a:cs typeface="Times New Roman" pitchFamily="18" charset="0"/>
            </a:endParaRPr>
          </a:p>
          <a:p>
            <a:pPr algn="just"/>
            <a:r>
              <a:rPr lang="bg-BG" sz="3400" b="1">
                <a:latin typeface="Times New Roman" pitchFamily="18" charset="0"/>
                <a:cs typeface="Times New Roman" pitchFamily="18" charset="0"/>
              </a:rPr>
              <a:t>MOV</a:t>
            </a:r>
            <a:r>
              <a:rPr lang="en-US" sz="3400" b="1">
                <a:latin typeface="Times New Roman" pitchFamily="18" charset="0"/>
                <a:cs typeface="Times New Roman" pitchFamily="18" charset="0"/>
              </a:rPr>
              <a:t> </a:t>
            </a:r>
            <a:r>
              <a:rPr lang="bg-BG" sz="3400" b="1">
                <a:latin typeface="Times New Roman" pitchFamily="18" charset="0"/>
                <a:cs typeface="Times New Roman" pitchFamily="18" charset="0"/>
              </a:rPr>
              <a:t>AX, [EDI+2*ECX]</a:t>
            </a:r>
            <a:r>
              <a:rPr lang="en-US" sz="3400" b="1">
                <a:latin typeface="Times New Roman" pitchFamily="18" charset="0"/>
                <a:cs typeface="Times New Roman" pitchFamily="18" charset="0"/>
              </a:rPr>
              <a:t>  </a:t>
            </a:r>
          </a:p>
          <a:p>
            <a:pPr algn="just"/>
            <a:r>
              <a:rPr lang="bg-BG" sz="3400">
                <a:latin typeface="Times New Roman" pitchFamily="18" charset="0"/>
                <a:cs typeface="Times New Roman" pitchFamily="18" charset="0"/>
              </a:rPr>
              <a:t>Тази инструкция използва мащабиращ коефициент 2, който умножава съдържанието на ECX по 2, преди да го добави към регистъра на EDI, за да образува адреса на паметта.</a:t>
            </a:r>
          </a:p>
          <a:p>
            <a:endParaRPr lang="bg-BG" sz="2800" b="1">
              <a:latin typeface="Times New Roman" pitchFamily="18" charset="0"/>
              <a:cs typeface="Times New Roman" pitchFamily="18" charset="0"/>
            </a:endParaRPr>
          </a:p>
          <a:p>
            <a:endParaRPr lang="bg-BG"/>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85728"/>
            <a:ext cx="8229600" cy="1143000"/>
          </a:xfrm>
        </p:spPr>
        <p:txBody>
          <a:bodyPr>
            <a:normAutofit fontScale="90000"/>
          </a:bodyPr>
          <a:lstStyle/>
          <a:p>
            <a:r>
              <a:rPr lang="bg-BG" b="1">
                <a:latin typeface="Times New Roman" pitchFamily="18" charset="0"/>
                <a:cs typeface="Times New Roman" pitchFamily="18" charset="0"/>
              </a:rPr>
              <a:t>Методи на адресиране на данни</a:t>
            </a:r>
            <a:endParaRPr lang="bg-BG"/>
          </a:p>
        </p:txBody>
      </p:sp>
      <p:sp>
        <p:nvSpPr>
          <p:cNvPr id="4" name="Content Placeholder 3"/>
          <p:cNvSpPr>
            <a:spLocks noGrp="1"/>
          </p:cNvSpPr>
          <p:nvPr>
            <p:ph idx="1"/>
          </p:nvPr>
        </p:nvSpPr>
        <p:spPr>
          <a:xfrm>
            <a:off x="285720" y="1428736"/>
            <a:ext cx="8686800" cy="5214974"/>
          </a:xfrm>
        </p:spPr>
        <p:txBody>
          <a:bodyPr>
            <a:noAutofit/>
          </a:bodyPr>
          <a:lstStyle/>
          <a:p>
            <a:r>
              <a:rPr lang="bg-BG" sz="2100" b="1">
                <a:latin typeface="Times New Roman" pitchFamily="18" charset="0"/>
                <a:cs typeface="Times New Roman" pitchFamily="18" charset="0"/>
              </a:rPr>
              <a:t>Методи за адресиране на паметта за програмата</a:t>
            </a:r>
          </a:p>
          <a:p>
            <a:r>
              <a:rPr lang="bg-BG" sz="2100">
                <a:latin typeface="Times New Roman" pitchFamily="18" charset="0"/>
                <a:cs typeface="Times New Roman" pitchFamily="18" charset="0"/>
              </a:rPr>
              <a:t>Режимите на адресиране на паметта за програмата, използвани с инструкциите JMP и CALL, използват три различни форми:.</a:t>
            </a:r>
          </a:p>
          <a:p>
            <a:r>
              <a:rPr lang="bg-BG" sz="2100" b="1">
                <a:latin typeface="Times New Roman" pitchFamily="18" charset="0"/>
                <a:cs typeface="Times New Roman" pitchFamily="18" charset="0"/>
              </a:rPr>
              <a:t>Директно адресиране на паметта за програмата -</a:t>
            </a:r>
          </a:p>
          <a:p>
            <a:r>
              <a:rPr lang="bg-BG" sz="2100">
                <a:latin typeface="Times New Roman" pitchFamily="18" charset="0"/>
                <a:cs typeface="Times New Roman" pitchFamily="18" charset="0"/>
              </a:rPr>
              <a:t>Инструкциите за директно адресиране на програмната памет съхраняват адреса с операционния код. </a:t>
            </a:r>
          </a:p>
          <a:p>
            <a:r>
              <a:rPr lang="bg-BG" sz="2100" b="1">
                <a:latin typeface="Times New Roman" pitchFamily="18" charset="0"/>
                <a:cs typeface="Times New Roman" pitchFamily="18" charset="0"/>
              </a:rPr>
              <a:t>Относително адресиране на паметта на програмата</a:t>
            </a:r>
          </a:p>
          <a:p>
            <a:r>
              <a:rPr lang="bg-BG" sz="2100">
                <a:latin typeface="Times New Roman" pitchFamily="18" charset="0"/>
                <a:cs typeface="Times New Roman" pitchFamily="18" charset="0"/>
              </a:rPr>
              <a:t>Относителното адресиране на програмната памет се ползва за фамилията микропроцесори на Intel. Терминът относителен означава „относно програмния брояч (IP)“. Ако JMP инструкция пропусне следващите два байта памет, към програмния брояч се добавя 2. Това дава адреса на следващата програмна инструкция.</a:t>
            </a:r>
          </a:p>
          <a:p>
            <a:r>
              <a:rPr lang="bg-BG" sz="2100" b="1">
                <a:latin typeface="Times New Roman" pitchFamily="18" charset="0"/>
                <a:cs typeface="Times New Roman" pitchFamily="18" charset="0"/>
              </a:rPr>
              <a:t>Косвено адресиране на програмата в паметта</a:t>
            </a:r>
          </a:p>
          <a:p>
            <a:r>
              <a:rPr lang="bg-BG" sz="2100">
                <a:latin typeface="Times New Roman" pitchFamily="18" charset="0"/>
                <a:cs typeface="Times New Roman" pitchFamily="18" charset="0"/>
              </a:rPr>
              <a:t>Микропроцесорът позволява няколко форми на непряко адресиране на програмната памет за инструкциите JMP и CALL.  </a:t>
            </a:r>
            <a:endParaRPr lang="en-US" sz="2100">
              <a:latin typeface="Times New Roman" pitchFamily="18" charset="0"/>
              <a:cs typeface="Times New Roman"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bg-BG" b="1">
                <a:latin typeface="Times New Roman" pitchFamily="18" charset="0"/>
                <a:cs typeface="Times New Roman" pitchFamily="18" charset="0"/>
              </a:rPr>
              <a:t>Методи на адресиране на данни</a:t>
            </a:r>
            <a:endParaRPr lang="bg-BG"/>
          </a:p>
        </p:txBody>
      </p:sp>
      <p:sp>
        <p:nvSpPr>
          <p:cNvPr id="3" name="Content Placeholder 2"/>
          <p:cNvSpPr>
            <a:spLocks noGrp="1"/>
          </p:cNvSpPr>
          <p:nvPr>
            <p:ph idx="1"/>
          </p:nvPr>
        </p:nvSpPr>
        <p:spPr/>
        <p:txBody>
          <a:bodyPr>
            <a:normAutofit fontScale="85000" lnSpcReduction="20000"/>
          </a:bodyPr>
          <a:lstStyle/>
          <a:p>
            <a:r>
              <a:rPr lang="bg-BG" b="1">
                <a:latin typeface="Times New Roman" pitchFamily="18" charset="0"/>
                <a:cs typeface="Times New Roman" pitchFamily="18" charset="0"/>
              </a:rPr>
              <a:t>Методи за адресация на стековата памет</a:t>
            </a:r>
            <a:endParaRPr lang="en-US" b="1">
              <a:latin typeface="Times New Roman" pitchFamily="18" charset="0"/>
              <a:cs typeface="Times New Roman" pitchFamily="18" charset="0"/>
            </a:endParaRPr>
          </a:p>
          <a:p>
            <a:pPr algn="just"/>
            <a:r>
              <a:rPr lang="bg-BG">
                <a:latin typeface="Times New Roman" pitchFamily="18" charset="0"/>
                <a:cs typeface="Times New Roman" pitchFamily="18" charset="0"/>
              </a:rPr>
              <a:t>Паметта на стека се поддържа от два регистъра: указател на стека (SP или ESP) и сегментен регистър на стека (SS). Всеки път, когато дума от данни се запише в стека, старшият байт се записват по адрес, указван с SP - 1. </a:t>
            </a:r>
            <a:endParaRPr lang="en-US">
              <a:latin typeface="Times New Roman" pitchFamily="18" charset="0"/>
              <a:cs typeface="Times New Roman" pitchFamily="18" charset="0"/>
            </a:endParaRPr>
          </a:p>
          <a:p>
            <a:pPr algn="just"/>
            <a:r>
              <a:rPr lang="bg-BG">
                <a:latin typeface="Times New Roman" pitchFamily="18" charset="0"/>
                <a:cs typeface="Times New Roman" pitchFamily="18" charset="0"/>
              </a:rPr>
              <a:t>Младшият байт на думата се записват по адрес, указан с SP-2. След това SP се намалява с 2, така че следващата дума от данни се съхранява в следващия свободен адрес на стековата памет. Регистърът SP/ESP винаги сочи към област от памет, разположена в сегмента на стека. Регистърът SP/ESP се добавя към SSx10H, за да образува адреса на паметта на</a:t>
            </a:r>
            <a:r>
              <a:rPr lang="en-US">
                <a:latin typeface="Times New Roman" pitchFamily="18" charset="0"/>
                <a:cs typeface="Times New Roman" pitchFamily="18" charset="0"/>
              </a:rPr>
              <a:t>  </a:t>
            </a:r>
            <a:br>
              <a:rPr lang="en-US">
                <a:latin typeface="Times New Roman" pitchFamily="18" charset="0"/>
                <a:cs typeface="Times New Roman" pitchFamily="18" charset="0"/>
              </a:rPr>
            </a:br>
            <a:r>
              <a:rPr lang="bg-BG">
                <a:latin typeface="Times New Roman" pitchFamily="18" charset="0"/>
                <a:cs typeface="Times New Roman" pitchFamily="18" charset="0"/>
              </a:rPr>
              <a:t>стека в реалния режим. В защитен режим на работа, SS регистърът съдържа селектор, който осъществява достъп до дескриптор за основния адрес на сегмента на стека.</a:t>
            </a:r>
          </a:p>
          <a:p>
            <a:pPr algn="just"/>
            <a:r>
              <a:rPr lang="bg-BG">
                <a:latin typeface="Times New Roman" pitchFamily="18" charset="0"/>
                <a:cs typeface="Times New Roman" pitchFamily="18" charset="0"/>
              </a:rPr>
              <a:t>Използват се инструкциите PUSH и POP.</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428604"/>
            <a:ext cx="8229600" cy="1143000"/>
          </a:xfrm>
        </p:spPr>
        <p:txBody>
          <a:bodyPr>
            <a:normAutofit/>
          </a:bodyPr>
          <a:lstStyle/>
          <a:p>
            <a:r>
              <a:rPr lang="ru-RU" b="1">
                <a:latin typeface="Times New Roman" pitchFamily="18" charset="0"/>
                <a:cs typeface="Times New Roman" pitchFamily="18" charset="0"/>
              </a:rPr>
              <a:t>Формати на данните.</a:t>
            </a:r>
            <a:endParaRPr lang="bg-BG"/>
          </a:p>
        </p:txBody>
      </p:sp>
      <p:pic>
        <p:nvPicPr>
          <p:cNvPr id="4" name="Picture 3"/>
          <p:cNvPicPr/>
          <p:nvPr/>
        </p:nvPicPr>
        <p:blipFill>
          <a:blip r:embed="rId2" cstate="print"/>
          <a:srcRect/>
          <a:stretch>
            <a:fillRect/>
          </a:stretch>
        </p:blipFill>
        <p:spPr bwMode="auto">
          <a:xfrm>
            <a:off x="528170" y="1620849"/>
            <a:ext cx="8215370" cy="5072098"/>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85728"/>
            <a:ext cx="8229600" cy="1143000"/>
          </a:xfrm>
        </p:spPr>
        <p:txBody>
          <a:bodyPr>
            <a:normAutofit/>
          </a:bodyPr>
          <a:lstStyle/>
          <a:p>
            <a:r>
              <a:rPr lang="ru-RU" b="1">
                <a:latin typeface="Times New Roman" pitchFamily="18" charset="0"/>
                <a:cs typeface="Times New Roman" pitchFamily="18" charset="0"/>
              </a:rPr>
              <a:t>Формати на данните.</a:t>
            </a:r>
            <a:endParaRPr lang="bg-BG"/>
          </a:p>
        </p:txBody>
      </p:sp>
      <p:sp>
        <p:nvSpPr>
          <p:cNvPr id="1025" name="Rectangle 1"/>
          <p:cNvSpPr>
            <a:spLocks noChangeArrowheads="1"/>
          </p:cNvSpPr>
          <p:nvPr/>
        </p:nvSpPr>
        <p:spPr bwMode="auto">
          <a:xfrm>
            <a:off x="428596" y="1357298"/>
            <a:ext cx="8501122" cy="532453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450850" algn="l" defTabSz="914400" rtl="0" eaLnBrk="1" fontAlgn="base" latinLnBrk="0" hangingPunct="1">
              <a:lnSpc>
                <a:spcPct val="100000"/>
              </a:lnSpc>
              <a:spcBef>
                <a:spcPct val="0"/>
              </a:spcBef>
              <a:spcAft>
                <a:spcPct val="0"/>
              </a:spcAft>
              <a:buClrTx/>
              <a:buSzTx/>
              <a:buFontTx/>
              <a:buNone/>
              <a:tabLst/>
            </a:pPr>
            <a:r>
              <a:rPr kumimoji="0" lang="bg-BG" sz="2000" b="1" i="0" u="none" strike="noStrike" cap="none" normalizeH="0" baseline="0">
                <a:ln>
                  <a:noFill/>
                </a:ln>
                <a:solidFill>
                  <a:schemeClr val="tx1"/>
                </a:solidFill>
                <a:effectLst/>
                <a:latin typeface="Times New Roman" pitchFamily="18" charset="0"/>
                <a:ea typeface="Calibri" pitchFamily="34" charset="0"/>
                <a:cs typeface="Times New Roman" pitchFamily="18" charset="0"/>
              </a:rPr>
              <a:t>Подравняване на думи, двойни думи, четворни думи и двойни четворни думи</a:t>
            </a:r>
            <a:endParaRPr kumimoji="0" lang="bg-BG" sz="2000" b="0" i="0" u="none" strike="noStrike" cap="none" normalizeH="0" baseline="0">
              <a:ln>
                <a:noFill/>
              </a:ln>
              <a:solidFill>
                <a:schemeClr val="tx1"/>
              </a:solidFill>
              <a:effectLst/>
              <a:latin typeface="Times New Roman" pitchFamily="18" charset="0"/>
              <a:ea typeface="Calibri" pitchFamily="34" charset="0"/>
              <a:cs typeface="Times New Roman" pitchFamily="18" charset="0"/>
            </a:endParaRPr>
          </a:p>
          <a:p>
            <a:pPr marL="0" marR="0" lvl="0" indent="450850" algn="just" defTabSz="914400" rtl="0" eaLnBrk="0" fontAlgn="base" latinLnBrk="0" hangingPunct="0">
              <a:lnSpc>
                <a:spcPct val="100000"/>
              </a:lnSpc>
              <a:spcBef>
                <a:spcPct val="0"/>
              </a:spcBef>
              <a:spcAft>
                <a:spcPct val="0"/>
              </a:spcAft>
              <a:buClrTx/>
              <a:buSzTx/>
              <a:buFontTx/>
              <a:buNone/>
              <a:tabLst/>
            </a:pPr>
            <a:r>
              <a:rPr kumimoji="0" lang="bg-BG" sz="20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Всеки байт в думата има собствен адрес и по-малкия от адресите е адреса на думата. Байтът на този нисък адрес съдържа осемте най-малко значими бита на думата, докато байта на високия адрес съдържа осемте най-значими бита. Двойна дума са две последователни думи започващи от който и да е байт адрес. Двойната дума съдържа 32 номерирани от 0 до 31; нулевия бит е най-малко значимия бит. Думата съдържаща нулевия бит се нарича ниска дума (low word); думата съдържаща 31-вия бит се нарича висока дума (high word). Всеки байт в двойната дума има свой адрес и най-малкият адрес от тези адреси е адресът на двойната дума. Байтът на този най-малък адрес съдържа осемте най-малко значими бита от двойната дума, докато байта на най-високия адрес съдържа осемте най-значими бита. Аналогично можете да си представите образуването на четворни думи и двойни четворни думи.</a:t>
            </a:r>
            <a:r>
              <a:rPr kumimoji="0" lang="bg-BG" sz="2000" b="0" i="0" u="none" strike="noStrike" cap="none" normalizeH="0">
                <a:ln>
                  <a:noFill/>
                </a:ln>
                <a:solidFill>
                  <a:schemeClr val="tx1"/>
                </a:solidFill>
                <a:effectLst/>
                <a:latin typeface="Times New Roman" pitchFamily="18" charset="0"/>
                <a:ea typeface="Calibri" pitchFamily="34" charset="0"/>
                <a:cs typeface="Times New Roman" pitchFamily="18" charset="0"/>
              </a:rPr>
              <a:t> </a:t>
            </a:r>
            <a:r>
              <a:rPr kumimoji="0" lang="bg-BG" sz="20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Забележете, че думите не трябва да бъдат подравнени на четно-номерирани адреси и двойните думи не е необходимо да бъдат подравнени на адреси които се делят на четири.</a:t>
            </a:r>
            <a:r>
              <a:rPr kumimoji="0" lang="bg-BG" sz="2000" b="0" i="0" u="none" strike="noStrike" cap="none" normalizeH="0" baseline="0">
                <a:ln>
                  <a:noFill/>
                </a:ln>
                <a:solidFill>
                  <a:schemeClr val="tx1"/>
                </a:solidFill>
                <a:effectLst/>
                <a:latin typeface="Times New Roman" pitchFamily="18" charset="0"/>
                <a:cs typeface="Times New Roman" pitchFamily="18" charset="0"/>
              </a:rPr>
              <a:t>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229600" cy="1143000"/>
          </a:xfrm>
        </p:spPr>
        <p:txBody>
          <a:bodyPr>
            <a:normAutofit/>
          </a:bodyPr>
          <a:lstStyle/>
          <a:p>
            <a:r>
              <a:rPr lang="ru-RU" b="1">
                <a:latin typeface="Times New Roman" pitchFamily="18" charset="0"/>
                <a:cs typeface="Times New Roman" pitchFamily="18" charset="0"/>
              </a:rPr>
              <a:t>Формати на данните.</a:t>
            </a:r>
            <a:endParaRPr lang="bg-BG"/>
          </a:p>
        </p:txBody>
      </p:sp>
      <p:sp>
        <p:nvSpPr>
          <p:cNvPr id="3" name="Content Placeholder 2"/>
          <p:cNvSpPr>
            <a:spLocks noGrp="1"/>
          </p:cNvSpPr>
          <p:nvPr>
            <p:ph idx="1"/>
          </p:nvPr>
        </p:nvSpPr>
        <p:spPr>
          <a:xfrm>
            <a:off x="214282" y="1285860"/>
            <a:ext cx="8786874" cy="5572140"/>
          </a:xfrm>
        </p:spPr>
        <p:txBody>
          <a:bodyPr>
            <a:noAutofit/>
          </a:bodyPr>
          <a:lstStyle/>
          <a:p>
            <a:pPr marL="0">
              <a:spcBef>
                <a:spcPts val="0"/>
              </a:spcBef>
            </a:pPr>
            <a:r>
              <a:rPr lang="bg-BG" sz="2000" b="1">
                <a:latin typeface="Times New Roman" pitchFamily="18" charset="0"/>
                <a:cs typeface="Times New Roman" pitchFamily="18" charset="0"/>
              </a:rPr>
              <a:t>ЧИСЛОВИ ТИПОВЕ ДАННИ</a:t>
            </a:r>
          </a:p>
          <a:p>
            <a:pPr marL="0">
              <a:spcBef>
                <a:spcPts val="0"/>
              </a:spcBef>
            </a:pPr>
            <a:r>
              <a:rPr lang="bg-BG" sz="2000" b="1">
                <a:latin typeface="Times New Roman" pitchFamily="18" charset="0"/>
                <a:cs typeface="Times New Roman" pitchFamily="18" charset="0"/>
              </a:rPr>
              <a:t>Цели числа</a:t>
            </a:r>
            <a:endParaRPr lang="bg-BG" sz="2000">
              <a:latin typeface="Times New Roman" pitchFamily="18" charset="0"/>
              <a:cs typeface="Times New Roman" pitchFamily="18" charset="0"/>
            </a:endParaRPr>
          </a:p>
          <a:p>
            <a:pPr marL="0">
              <a:spcBef>
                <a:spcPts val="0"/>
              </a:spcBef>
            </a:pPr>
            <a:r>
              <a:rPr lang="bg-BG" sz="2000">
                <a:latin typeface="Times New Roman" pitchFamily="18" charset="0"/>
                <a:cs typeface="Times New Roman" pitchFamily="18" charset="0"/>
              </a:rPr>
              <a:t>Два типа цели числа: без знак и със знак. Целите числа без знак са обикновени бинарни двоични стойности, вариращи от 0 до максималното положително число, което може да бъде кодирано в избрания операнд размер. Целите числа със знак са двоични стойности в допълнителен код, които могат да се използват за представяне както на положителни, така и на отрицателни цели числа.</a:t>
            </a:r>
          </a:p>
          <a:p>
            <a:pPr marL="0">
              <a:spcBef>
                <a:spcPts val="0"/>
              </a:spcBef>
            </a:pPr>
            <a:r>
              <a:rPr lang="bg-BG" sz="2000" b="1">
                <a:latin typeface="Times New Roman" pitchFamily="18" charset="0"/>
                <a:cs typeface="Times New Roman" pitchFamily="18" charset="0"/>
              </a:rPr>
              <a:t>Цели числа без знак </a:t>
            </a:r>
            <a:r>
              <a:rPr lang="bg-BG" sz="2000">
                <a:latin typeface="Times New Roman" pitchFamily="18" charset="0"/>
                <a:cs typeface="Times New Roman" pitchFamily="18" charset="0"/>
              </a:rPr>
              <a:t>Техните стойностите варират от 0 до 255 за цяло байтово число без знак, от 0 до 65 535 за цяло число без знак,  от 0 до 2</a:t>
            </a:r>
            <a:r>
              <a:rPr lang="bg-BG" sz="2000" baseline="30000">
                <a:latin typeface="Times New Roman" pitchFamily="18" charset="0"/>
                <a:cs typeface="Times New Roman" pitchFamily="18" charset="0"/>
              </a:rPr>
              <a:t>32</a:t>
            </a:r>
            <a:r>
              <a:rPr lang="bg-BG" sz="2000">
                <a:latin typeface="Times New Roman" pitchFamily="18" charset="0"/>
                <a:cs typeface="Times New Roman" pitchFamily="18" charset="0"/>
              </a:rPr>
              <a:t>–1 за цяло число с двойна дума без знак и от 0 до</a:t>
            </a:r>
            <a:r>
              <a:rPr lang="en-US" sz="2000">
                <a:latin typeface="Times New Roman" pitchFamily="18" charset="0"/>
                <a:cs typeface="Times New Roman" pitchFamily="18" charset="0"/>
              </a:rPr>
              <a:t> </a:t>
            </a:r>
            <a:r>
              <a:rPr lang="bg-BG" sz="2000">
                <a:latin typeface="Times New Roman" pitchFamily="18" charset="0"/>
                <a:cs typeface="Times New Roman" pitchFamily="18" charset="0"/>
              </a:rPr>
              <a:t>2</a:t>
            </a:r>
            <a:r>
              <a:rPr lang="en-US" sz="2000" baseline="30000">
                <a:latin typeface="Times New Roman" pitchFamily="18" charset="0"/>
                <a:cs typeface="Times New Roman" pitchFamily="18" charset="0"/>
              </a:rPr>
              <a:t>64</a:t>
            </a:r>
            <a:r>
              <a:rPr lang="bg-BG" sz="2000">
                <a:latin typeface="Times New Roman" pitchFamily="18" charset="0"/>
                <a:cs typeface="Times New Roman" pitchFamily="18" charset="0"/>
              </a:rPr>
              <a:t>  – 1 за цяло число от четири думи без знак.</a:t>
            </a:r>
          </a:p>
          <a:p>
            <a:pPr marL="0">
              <a:spcBef>
                <a:spcPts val="0"/>
              </a:spcBef>
            </a:pPr>
            <a:r>
              <a:rPr lang="bg-BG" sz="2000" b="1">
                <a:latin typeface="Times New Roman" pitchFamily="18" charset="0"/>
                <a:cs typeface="Times New Roman" pitchFamily="18" charset="0"/>
              </a:rPr>
              <a:t>Цели числа със знак </a:t>
            </a:r>
            <a:r>
              <a:rPr lang="bg-BG" sz="2000">
                <a:latin typeface="Times New Roman" pitchFamily="18" charset="0"/>
                <a:cs typeface="Times New Roman" pitchFamily="18" charset="0"/>
              </a:rPr>
              <a:t>Всички операции се извършват над числа със знак и предполагат представяне в допълнителен код. Знаковият бит се намира в бит 7 в байт цяло число, бит 15 в a цяло число на думата, бит 31 в цяло число с двойна дума и бит 63 в цяло число с четири думи. Знаковият бит е 1 за отрицателни цели числа и 0 за положителни цели числа и нула. </a:t>
            </a:r>
          </a:p>
        </p:txBody>
      </p:sp>
      <p:sp>
        <p:nvSpPr>
          <p:cNvPr id="215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bg-BG"/>
          </a:p>
        </p:txBody>
      </p:sp>
      <p:pic>
        <p:nvPicPr>
          <p:cNvPr id="21505" name="Picture 1"/>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0" y="0"/>
            <a:ext cx="180975" cy="209550"/>
          </a:xfrm>
          <a:prstGeom prst="rect">
            <a:avLst/>
          </a:prstGeom>
          <a:noFill/>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229600" cy="1143000"/>
          </a:xfrm>
        </p:spPr>
        <p:txBody>
          <a:bodyPr>
            <a:normAutofit/>
          </a:bodyPr>
          <a:lstStyle/>
          <a:p>
            <a:r>
              <a:rPr lang="ru-RU" b="1">
                <a:latin typeface="Times New Roman" pitchFamily="18" charset="0"/>
                <a:cs typeface="Times New Roman" pitchFamily="18" charset="0"/>
              </a:rPr>
              <a:t>Формати на данните.</a:t>
            </a:r>
            <a:endParaRPr lang="bg-BG"/>
          </a:p>
        </p:txBody>
      </p:sp>
      <p:sp>
        <p:nvSpPr>
          <p:cNvPr id="3" name="Content Placeholder 2"/>
          <p:cNvSpPr>
            <a:spLocks noGrp="1"/>
          </p:cNvSpPr>
          <p:nvPr>
            <p:ph idx="1"/>
          </p:nvPr>
        </p:nvSpPr>
        <p:spPr>
          <a:xfrm>
            <a:off x="214282" y="1285860"/>
            <a:ext cx="8786874" cy="5572140"/>
          </a:xfrm>
        </p:spPr>
        <p:txBody>
          <a:bodyPr>
            <a:noAutofit/>
          </a:bodyPr>
          <a:lstStyle/>
          <a:p>
            <a:pPr marL="0">
              <a:spcBef>
                <a:spcPts val="0"/>
              </a:spcBef>
            </a:pPr>
            <a:r>
              <a:rPr lang="bg-BG" sz="2400" b="1">
                <a:latin typeface="Times New Roman" pitchFamily="18" charset="0"/>
                <a:cs typeface="Times New Roman" pitchFamily="18" charset="0"/>
              </a:rPr>
              <a:t>ЧИСЛОВИ ТИПОВЕ ДАННИ</a:t>
            </a:r>
          </a:p>
          <a:p>
            <a:r>
              <a:rPr lang="bg-BG" sz="2400" b="1">
                <a:latin typeface="Times New Roman" pitchFamily="18" charset="0"/>
                <a:cs typeface="Times New Roman" pitchFamily="18" charset="0"/>
              </a:rPr>
              <a:t>Числа с плаваща запетая</a:t>
            </a:r>
            <a:endParaRPr lang="bg-BG" sz="2400">
              <a:latin typeface="Times New Roman" pitchFamily="18" charset="0"/>
              <a:cs typeface="Times New Roman" pitchFamily="18" charset="0"/>
            </a:endParaRPr>
          </a:p>
          <a:p>
            <a:pPr algn="just"/>
            <a:r>
              <a:rPr lang="bg-BG" sz="2400">
                <a:latin typeface="Times New Roman" pitchFamily="18" charset="0"/>
                <a:cs typeface="Times New Roman" pitchFamily="18" charset="0"/>
              </a:rPr>
              <a:t>Форматът с плаваща запетая се основава на представянето на числата в нормализирана форма като произведение от мантиса с основата повдигнато на степен (експонентна част). Нормализираното представяне означава в ляво от десетичната точка да има само едно ненулево число. </a:t>
            </a:r>
          </a:p>
          <a:p>
            <a:pPr algn="just"/>
            <a:r>
              <a:rPr lang="bg-BG" sz="2400">
                <a:latin typeface="Times New Roman" pitchFamily="18" charset="0"/>
                <a:cs typeface="Times New Roman" pitchFamily="18" charset="0"/>
              </a:rPr>
              <a:t>Архитектурата IA-32 дефинира и работи с три типа данни с плаваща запетая: с плаваща запетая с единична точност,  плаваща запетая с двойна точност и с плаваща запетая с двойно разширена точност.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0"/>
            <a:ext cx="8229600" cy="1143000"/>
          </a:xfrm>
        </p:spPr>
        <p:txBody>
          <a:bodyPr>
            <a:normAutofit/>
          </a:bodyPr>
          <a:lstStyle/>
          <a:p>
            <a:r>
              <a:rPr lang="ru-RU" b="1">
                <a:latin typeface="Times New Roman" pitchFamily="18" charset="0"/>
                <a:cs typeface="Times New Roman" pitchFamily="18" charset="0"/>
              </a:rPr>
              <a:t>Формати на данните.</a:t>
            </a:r>
            <a:endParaRPr lang="bg-BG"/>
          </a:p>
        </p:txBody>
      </p:sp>
      <p:sp>
        <p:nvSpPr>
          <p:cNvPr id="3" name="Content Placeholder 2"/>
          <p:cNvSpPr>
            <a:spLocks noGrp="1"/>
          </p:cNvSpPr>
          <p:nvPr>
            <p:ph idx="1"/>
          </p:nvPr>
        </p:nvSpPr>
        <p:spPr>
          <a:xfrm>
            <a:off x="0" y="1000108"/>
            <a:ext cx="9001156" cy="1143008"/>
          </a:xfrm>
        </p:spPr>
        <p:txBody>
          <a:bodyPr>
            <a:noAutofit/>
          </a:bodyPr>
          <a:lstStyle/>
          <a:p>
            <a:r>
              <a:rPr lang="bg-BG" sz="2400" b="1">
                <a:latin typeface="Times New Roman" pitchFamily="18" charset="0"/>
                <a:cs typeface="Times New Roman" pitchFamily="18" charset="0"/>
              </a:rPr>
              <a:t>ТИПОВЕ ДАННИ ЗА УКАЗАТЕЛ </a:t>
            </a:r>
            <a:endParaRPr lang="bg-BG" sz="2400">
              <a:latin typeface="Times New Roman" pitchFamily="18" charset="0"/>
              <a:cs typeface="Times New Roman" pitchFamily="18" charset="0"/>
            </a:endParaRPr>
          </a:p>
          <a:p>
            <a:r>
              <a:rPr lang="bg-BG" sz="2400">
                <a:latin typeface="Times New Roman" pitchFamily="18" charset="0"/>
                <a:cs typeface="Times New Roman" pitchFamily="18" charset="0"/>
              </a:rPr>
              <a:t>Указателите са адреси на места в паметта. Има два типа указатели: близък указател и далечен указател. </a:t>
            </a:r>
          </a:p>
        </p:txBody>
      </p:sp>
      <p:pic>
        <p:nvPicPr>
          <p:cNvPr id="4" name="Picture 3"/>
          <p:cNvPicPr/>
          <p:nvPr/>
        </p:nvPicPr>
        <p:blipFill>
          <a:blip r:embed="rId2" cstate="print"/>
          <a:srcRect/>
          <a:stretch>
            <a:fillRect/>
          </a:stretch>
        </p:blipFill>
        <p:spPr bwMode="auto">
          <a:xfrm>
            <a:off x="4857720" y="3071810"/>
            <a:ext cx="4286280" cy="2618528"/>
          </a:xfrm>
          <a:prstGeom prst="rect">
            <a:avLst/>
          </a:prstGeom>
          <a:noFill/>
          <a:ln w="9525">
            <a:noFill/>
            <a:miter lim="800000"/>
            <a:headEnd/>
            <a:tailEnd/>
          </a:ln>
        </p:spPr>
      </p:pic>
      <p:sp>
        <p:nvSpPr>
          <p:cNvPr id="6" name="Content Placeholder 2"/>
          <p:cNvSpPr txBox="1">
            <a:spLocks/>
          </p:cNvSpPr>
          <p:nvPr/>
        </p:nvSpPr>
        <p:spPr>
          <a:xfrm>
            <a:off x="9144000" y="2285992"/>
            <a:ext cx="4133880" cy="4214842"/>
          </a:xfrm>
          <a:prstGeom prst="rect">
            <a:avLst/>
          </a:prstGeom>
        </p:spPr>
        <p:txBody>
          <a:bodyPr vert="horz">
            <a:noAutofit/>
          </a:bodyPr>
          <a:lstStyle/>
          <a:p>
            <a:pPr marL="0" marR="0" lvl="0" indent="-274320" algn="l" defTabSz="914400" rtl="0" eaLnBrk="1" fontAlgn="auto" latinLnBrk="0" hangingPunct="1">
              <a:lnSpc>
                <a:spcPct val="100000"/>
              </a:lnSpc>
              <a:spcBef>
                <a:spcPts val="0"/>
              </a:spcBef>
              <a:spcAft>
                <a:spcPts val="0"/>
              </a:spcAft>
              <a:buClr>
                <a:schemeClr val="accent3"/>
              </a:buClr>
              <a:buSzPct val="95000"/>
              <a:buFont typeface="Wingdings 2"/>
              <a:buChar char=""/>
              <a:tabLst/>
              <a:defRPr/>
            </a:pPr>
            <a:endParaRPr kumimoji="0" lang="bg-BG" sz="2400" b="0" i="0" u="none" strike="noStrike" kern="1200" cap="none" spc="0" normalizeH="0" baseline="0" noProof="0">
              <a:ln>
                <a:noFill/>
              </a:ln>
              <a:solidFill>
                <a:schemeClr val="tx1"/>
              </a:solidFill>
              <a:effectLst/>
              <a:uLnTx/>
              <a:uFillTx/>
              <a:latin typeface="Times New Roman" pitchFamily="18" charset="0"/>
              <a:ea typeface="+mn-ea"/>
              <a:cs typeface="Times New Roman" pitchFamily="18" charset="0"/>
            </a:endParaRPr>
          </a:p>
        </p:txBody>
      </p:sp>
      <p:sp>
        <p:nvSpPr>
          <p:cNvPr id="7" name="Rectangle 6"/>
          <p:cNvSpPr/>
          <p:nvPr/>
        </p:nvSpPr>
        <p:spPr>
          <a:xfrm>
            <a:off x="0" y="2357430"/>
            <a:ext cx="4929190" cy="4524315"/>
          </a:xfrm>
          <a:prstGeom prst="rect">
            <a:avLst/>
          </a:prstGeom>
        </p:spPr>
        <p:txBody>
          <a:bodyPr wrap="square">
            <a:spAutoFit/>
          </a:bodyPr>
          <a:lstStyle/>
          <a:p>
            <a:pPr algn="just"/>
            <a:r>
              <a:rPr lang="bg-BG">
                <a:latin typeface="Times New Roman" pitchFamily="18" charset="0"/>
                <a:cs typeface="Times New Roman" pitchFamily="18" charset="0"/>
              </a:rPr>
              <a:t>Близкият указател е 32-битово (или 16-битово) отместване (наричано още ефективен адрес) в рамките на сегмент. Използват се близки указатели за всички препратки към памет в плосък модел на памет или за препратки в сегментиран модел, където идентичността на сегментът, до който се осъществява достъп, се подразбира. </a:t>
            </a:r>
          </a:p>
          <a:p>
            <a:pPr algn="just"/>
            <a:r>
              <a:rPr lang="bg-BG">
                <a:latin typeface="Times New Roman" pitchFamily="18" charset="0"/>
                <a:cs typeface="Times New Roman" pitchFamily="18" charset="0"/>
              </a:rPr>
              <a:t>Далечният указател е логически адрес, състоящ се от 16-битов сегментен селектор и 32-битово (или 16-битово) отместване. Далечни указатели се използват за препратки към памет в модел на сегментирана памет, където идентичността на сегмент, до който се осъществява достъп трябва да се посочи изрично.</a:t>
            </a:r>
          </a:p>
          <a:p>
            <a:endParaRPr lang="bg-BG">
              <a:latin typeface="Times New Roman" pitchFamily="18" charset="0"/>
              <a:cs typeface="Times New Roman"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229600" cy="1143000"/>
          </a:xfrm>
        </p:spPr>
        <p:txBody>
          <a:bodyPr>
            <a:normAutofit/>
          </a:bodyPr>
          <a:lstStyle/>
          <a:p>
            <a:r>
              <a:rPr lang="ru-RU" b="1">
                <a:latin typeface="Times New Roman" pitchFamily="18" charset="0"/>
                <a:cs typeface="Times New Roman" pitchFamily="18" charset="0"/>
              </a:rPr>
              <a:t>Формати на данните.</a:t>
            </a:r>
            <a:endParaRPr lang="bg-BG"/>
          </a:p>
        </p:txBody>
      </p:sp>
      <p:sp>
        <p:nvSpPr>
          <p:cNvPr id="3" name="Content Placeholder 2"/>
          <p:cNvSpPr>
            <a:spLocks noGrp="1"/>
          </p:cNvSpPr>
          <p:nvPr>
            <p:ph idx="1"/>
          </p:nvPr>
        </p:nvSpPr>
        <p:spPr>
          <a:xfrm>
            <a:off x="214282" y="1285860"/>
            <a:ext cx="8786874" cy="5572140"/>
          </a:xfrm>
        </p:spPr>
        <p:txBody>
          <a:bodyPr>
            <a:noAutofit/>
          </a:bodyPr>
          <a:lstStyle/>
          <a:p>
            <a:pPr marL="0">
              <a:spcBef>
                <a:spcPts val="0"/>
              </a:spcBef>
            </a:pPr>
            <a:r>
              <a:rPr lang="bg-BG" sz="2200" b="1">
                <a:latin typeface="Times New Roman" pitchFamily="18" charset="0"/>
                <a:cs typeface="Times New Roman" pitchFamily="18" charset="0"/>
              </a:rPr>
              <a:t>ДАННИ В БИТОВОТО ПОЛЕ</a:t>
            </a:r>
            <a:r>
              <a:rPr lang="bg-BG" sz="2200">
                <a:latin typeface="Times New Roman" pitchFamily="18" charset="0"/>
                <a:cs typeface="Times New Roman" pitchFamily="18" charset="0"/>
              </a:rPr>
              <a:t> </a:t>
            </a:r>
          </a:p>
          <a:p>
            <a:pPr marL="0" algn="just">
              <a:spcBef>
                <a:spcPts val="0"/>
              </a:spcBef>
            </a:pPr>
            <a:r>
              <a:rPr lang="bg-BG" sz="2200">
                <a:latin typeface="Times New Roman" pitchFamily="18" charset="0"/>
                <a:cs typeface="Times New Roman" pitchFamily="18" charset="0"/>
              </a:rPr>
              <a:t>Битовото поле е непрекъсната последователност от битове. Може да започне от всяка битова позиция на всеки байт в паметта и може да съдържа до 32 бита.</a:t>
            </a:r>
          </a:p>
          <a:p>
            <a:pPr marL="0" algn="just">
              <a:spcBef>
                <a:spcPts val="0"/>
              </a:spcBef>
            </a:pPr>
            <a:r>
              <a:rPr lang="en-US" sz="2200" b="1">
                <a:latin typeface="Times New Roman" pitchFamily="18" charset="0"/>
                <a:cs typeface="Times New Roman" pitchFamily="18" charset="0"/>
              </a:rPr>
              <a:t>BCD </a:t>
            </a:r>
            <a:r>
              <a:rPr lang="en-US" sz="2200" b="1" err="1">
                <a:latin typeface="Times New Roman" pitchFamily="18" charset="0"/>
                <a:cs typeface="Times New Roman" pitchFamily="18" charset="0"/>
              </a:rPr>
              <a:t>числа</a:t>
            </a:r>
            <a:endParaRPr lang="bg-BG" sz="2200">
              <a:latin typeface="Times New Roman" pitchFamily="18" charset="0"/>
              <a:cs typeface="Times New Roman" pitchFamily="18" charset="0"/>
            </a:endParaRPr>
          </a:p>
          <a:p>
            <a:pPr marL="0" algn="just">
              <a:spcBef>
                <a:spcPts val="0"/>
              </a:spcBef>
            </a:pPr>
            <a:r>
              <a:rPr lang="bg-BG" sz="2200">
                <a:latin typeface="Times New Roman" pitchFamily="18" charset="0"/>
                <a:cs typeface="Times New Roman" pitchFamily="18" charset="0"/>
              </a:rPr>
              <a:t>Двоично кодираните десетични цели числа (BCD цели числа) са 4-битови цели числа без знак с валидни стойности, вариращи от 0 до 9. </a:t>
            </a:r>
            <a:br>
              <a:rPr lang="bg-BG" sz="2200">
                <a:latin typeface="Times New Roman" pitchFamily="18" charset="0"/>
                <a:cs typeface="Times New Roman" pitchFamily="18" charset="0"/>
              </a:rPr>
            </a:br>
            <a:r>
              <a:rPr lang="bg-BG" sz="2200">
                <a:latin typeface="Times New Roman" pitchFamily="18" charset="0"/>
                <a:cs typeface="Times New Roman" pitchFamily="18" charset="0"/>
              </a:rPr>
              <a:t>• </a:t>
            </a:r>
            <a:r>
              <a:rPr lang="bg-BG" sz="2200" b="1">
                <a:latin typeface="Times New Roman" pitchFamily="18" charset="0"/>
                <a:cs typeface="Times New Roman" pitchFamily="18" charset="0"/>
              </a:rPr>
              <a:t>опакован/пакетиран формат </a:t>
            </a:r>
            <a:r>
              <a:rPr lang="bg-BG" sz="2200">
                <a:latin typeface="Times New Roman" pitchFamily="18" charset="0"/>
                <a:cs typeface="Times New Roman" pitchFamily="18" charset="0"/>
              </a:rPr>
              <a:t>— в този формат всеки байт съдържа две десетични цифри. Диапазонът на представяне на десетичното опаковано число в един байт е от 00 до 99;</a:t>
            </a:r>
          </a:p>
          <a:p>
            <a:pPr marL="0" algn="just">
              <a:spcBef>
                <a:spcPts val="0"/>
              </a:spcBef>
            </a:pPr>
            <a:r>
              <a:rPr lang="bg-BG" sz="2200">
                <a:latin typeface="Times New Roman" pitchFamily="18" charset="0"/>
                <a:cs typeface="Times New Roman" pitchFamily="18" charset="0"/>
              </a:rPr>
              <a:t>•</a:t>
            </a:r>
            <a:r>
              <a:rPr lang="bg-BG" sz="2200" b="1">
                <a:latin typeface="Times New Roman" pitchFamily="18" charset="0"/>
                <a:cs typeface="Times New Roman" pitchFamily="18" charset="0"/>
              </a:rPr>
              <a:t> неопакован формат </a:t>
            </a:r>
            <a:r>
              <a:rPr lang="bg-BG" sz="2200">
                <a:latin typeface="Times New Roman" pitchFamily="18" charset="0"/>
                <a:cs typeface="Times New Roman" pitchFamily="18" charset="0"/>
              </a:rPr>
              <a:t>— в този формат всеки байт съдържа една десетична цифра в четирите си младши бита. Старшите четири бита имат нулева стойност. Наричат се зона. Следователно диапазонът на представяне на десетичното неопаковано число в един байт е от 0 до 9.</a:t>
            </a:r>
          </a:p>
          <a:p>
            <a:pPr algn="just"/>
            <a:endParaRPr lang="bg-BG" sz="2400">
              <a:latin typeface="Times New Roman" pitchFamily="18" charset="0"/>
              <a:cs typeface="Times New Roman"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229600" cy="1143000"/>
          </a:xfrm>
        </p:spPr>
        <p:txBody>
          <a:bodyPr>
            <a:normAutofit/>
          </a:bodyPr>
          <a:lstStyle/>
          <a:p>
            <a:r>
              <a:rPr lang="ru-RU" b="1">
                <a:latin typeface="Times New Roman" pitchFamily="18" charset="0"/>
                <a:cs typeface="Times New Roman" pitchFamily="18" charset="0"/>
              </a:rPr>
              <a:t>Формати на данните.</a:t>
            </a:r>
            <a:endParaRPr lang="bg-BG"/>
          </a:p>
        </p:txBody>
      </p:sp>
      <p:sp>
        <p:nvSpPr>
          <p:cNvPr id="3" name="Content Placeholder 2"/>
          <p:cNvSpPr>
            <a:spLocks noGrp="1"/>
          </p:cNvSpPr>
          <p:nvPr>
            <p:ph idx="1"/>
          </p:nvPr>
        </p:nvSpPr>
        <p:spPr>
          <a:xfrm>
            <a:off x="142844" y="1643050"/>
            <a:ext cx="8786874" cy="4929222"/>
          </a:xfrm>
        </p:spPr>
        <p:txBody>
          <a:bodyPr>
            <a:noAutofit/>
          </a:bodyPr>
          <a:lstStyle/>
          <a:p>
            <a:r>
              <a:rPr lang="en-US" sz="2400" b="1" err="1">
                <a:latin typeface="Times New Roman" pitchFamily="18" charset="0"/>
                <a:cs typeface="Times New Roman" pitchFamily="18" charset="0"/>
              </a:rPr>
              <a:t>Стрингов</a:t>
            </a:r>
            <a:r>
              <a:rPr lang="bg-BG" sz="2400" b="1">
                <a:latin typeface="Times New Roman" pitchFamily="18" charset="0"/>
                <a:cs typeface="Times New Roman" pitchFamily="18" charset="0"/>
              </a:rPr>
              <a:t>и/НИЗОВИ ТИПОВЕ ДАННИ</a:t>
            </a:r>
            <a:endParaRPr lang="bg-BG" sz="2400">
              <a:latin typeface="Times New Roman" pitchFamily="18" charset="0"/>
              <a:cs typeface="Times New Roman" pitchFamily="18" charset="0"/>
            </a:endParaRPr>
          </a:p>
          <a:p>
            <a:pPr algn="just"/>
            <a:r>
              <a:rPr lang="bg-BG" sz="2400">
                <a:latin typeface="Times New Roman" pitchFamily="18" charset="0"/>
                <a:cs typeface="Times New Roman" pitchFamily="18" charset="0"/>
              </a:rPr>
              <a:t>Стринговете -низовете са непрекъснати поредици от битове, байтове, думи или двойни думи. Низ от битове може да започне във всяка битова позиция от всеки байт и може да съдържа до 2</a:t>
            </a:r>
            <a:r>
              <a:rPr lang="bg-BG" sz="2400" baseline="30000">
                <a:latin typeface="Times New Roman" pitchFamily="18" charset="0"/>
                <a:cs typeface="Times New Roman" pitchFamily="18" charset="0"/>
              </a:rPr>
              <a:t>32</a:t>
            </a:r>
            <a:r>
              <a:rPr lang="bg-BG" sz="2400">
                <a:latin typeface="Times New Roman" pitchFamily="18" charset="0"/>
                <a:cs typeface="Times New Roman" pitchFamily="18" charset="0"/>
              </a:rPr>
              <a:t>–1 бита. Един байтов низ може да съдържа байтове, думи или двойни думи и може да бъде в диапазон от нула до 2</a:t>
            </a:r>
            <a:r>
              <a:rPr lang="bg-BG" sz="2400" baseline="30000">
                <a:latin typeface="Times New Roman" pitchFamily="18" charset="0"/>
                <a:cs typeface="Times New Roman" pitchFamily="18" charset="0"/>
              </a:rPr>
              <a:t>32</a:t>
            </a:r>
            <a:r>
              <a:rPr lang="bg-BG" sz="2400">
                <a:latin typeface="Times New Roman" pitchFamily="18" charset="0"/>
                <a:cs typeface="Times New Roman" pitchFamily="18" charset="0"/>
              </a:rPr>
              <a:t> – 1 байта (4 GB).</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229600" cy="1143000"/>
          </a:xfrm>
        </p:spPr>
        <p:txBody>
          <a:bodyPr>
            <a:normAutofit/>
          </a:bodyPr>
          <a:lstStyle/>
          <a:p>
            <a:r>
              <a:rPr lang="ru-RU" b="1">
                <a:latin typeface="Times New Roman" pitchFamily="18" charset="0"/>
                <a:cs typeface="Times New Roman" pitchFamily="18" charset="0"/>
              </a:rPr>
              <a:t>Формати на данните.</a:t>
            </a:r>
            <a:endParaRPr lang="bg-BG"/>
          </a:p>
        </p:txBody>
      </p:sp>
      <p:sp>
        <p:nvSpPr>
          <p:cNvPr id="3" name="Content Placeholder 2"/>
          <p:cNvSpPr>
            <a:spLocks noGrp="1"/>
          </p:cNvSpPr>
          <p:nvPr>
            <p:ph idx="1"/>
          </p:nvPr>
        </p:nvSpPr>
        <p:spPr>
          <a:xfrm>
            <a:off x="142844" y="1643050"/>
            <a:ext cx="8786874" cy="4929222"/>
          </a:xfrm>
        </p:spPr>
        <p:txBody>
          <a:bodyPr>
            <a:noAutofit/>
          </a:bodyPr>
          <a:lstStyle/>
          <a:p>
            <a:r>
              <a:rPr lang="bg-BG" sz="2400" b="1">
                <a:latin typeface="Times New Roman" pitchFamily="18" charset="0"/>
                <a:cs typeface="Times New Roman" pitchFamily="18" charset="0"/>
              </a:rPr>
              <a:t>ПАКЕТИРАНИ ТИПОВЕ ДАННИ SIMD</a:t>
            </a:r>
            <a:endParaRPr lang="bg-BG" sz="2400">
              <a:latin typeface="Times New Roman" pitchFamily="18" charset="0"/>
              <a:cs typeface="Times New Roman" pitchFamily="18" charset="0"/>
            </a:endParaRPr>
          </a:p>
          <a:p>
            <a:pPr algn="just"/>
            <a:r>
              <a:rPr lang="bg-BG" sz="2400" b="1">
                <a:latin typeface="Times New Roman" pitchFamily="18" charset="0"/>
                <a:cs typeface="Times New Roman" pitchFamily="18" charset="0"/>
              </a:rPr>
              <a:t>ЅІМD</a:t>
            </a:r>
            <a:r>
              <a:rPr lang="bg-BG" sz="2400">
                <a:latin typeface="Times New Roman" pitchFamily="18" charset="0"/>
                <a:cs typeface="Times New Roman" pitchFamily="18" charset="0"/>
              </a:rPr>
              <a:t> (ѕіnglе іnѕtruсtіоn, multірlе dаtа – eднa инcтpyĸция зa paбoтa c мнoгo дaнни) e пpинцип, пoзвoлявaщ дa ce пocтигнe пapaлeлнa paбoтa нa нивo дaнни. Πo тoзи нaчин знaчитeлнo ce пoвишaвa eфeĸтивнocттa нa лoгиĸaтa пpи изчиcлeниятa и цялocтнaтa пpoизвoдитeлнocт.</a:t>
            </a:r>
          </a:p>
          <a:p>
            <a:pPr algn="just"/>
            <a:r>
              <a:rPr lang="bg-BG" sz="2400">
                <a:latin typeface="Times New Roman" pitchFamily="18" charset="0"/>
                <a:cs typeface="Times New Roman" pitchFamily="18" charset="0"/>
              </a:rPr>
              <a:t>IA-32 дефинира и работи с набор от 64-битови и 128-битови пакетирани данни за използване в SIMD операции. Тези типове данни се състоят от основни типове данни (опаковани байтове, думи, двойни думи и четворни думи) и числени интерпретации на основни типове за използване в пакетирани цели числа и операции с плаваща запетая.</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8229600" cy="1143000"/>
          </a:xfrm>
        </p:spPr>
        <p:txBody>
          <a:bodyPr>
            <a:normAutofit/>
          </a:bodyPr>
          <a:lstStyle/>
          <a:p>
            <a:r>
              <a:rPr lang="ru-RU" b="1">
                <a:latin typeface="Times New Roman" pitchFamily="18" charset="0"/>
                <a:cs typeface="Times New Roman" pitchFamily="18" charset="0"/>
              </a:rPr>
              <a:t>Формати на данните.</a:t>
            </a:r>
            <a:endParaRPr lang="bg-BG"/>
          </a:p>
        </p:txBody>
      </p:sp>
      <p:sp>
        <p:nvSpPr>
          <p:cNvPr id="3" name="Content Placeholder 2"/>
          <p:cNvSpPr>
            <a:spLocks noGrp="1"/>
          </p:cNvSpPr>
          <p:nvPr>
            <p:ph idx="1"/>
          </p:nvPr>
        </p:nvSpPr>
        <p:spPr>
          <a:xfrm>
            <a:off x="142844" y="1285860"/>
            <a:ext cx="8786874" cy="5286412"/>
          </a:xfrm>
        </p:spPr>
        <p:txBody>
          <a:bodyPr>
            <a:noAutofit/>
          </a:bodyPr>
          <a:lstStyle/>
          <a:p>
            <a:pPr marL="0" algn="just">
              <a:spcBef>
                <a:spcPts val="0"/>
              </a:spcBef>
            </a:pPr>
            <a:r>
              <a:rPr lang="bg-BG" sz="2200" b="1">
                <a:latin typeface="Times New Roman" pitchFamily="18" charset="0"/>
                <a:cs typeface="Times New Roman" pitchFamily="18" charset="0"/>
              </a:rPr>
              <a:t>MMX</a:t>
            </a:r>
            <a:r>
              <a:rPr lang="bg-BG" sz="2200">
                <a:latin typeface="Times New Roman" pitchFamily="18" charset="0"/>
                <a:cs typeface="Times New Roman" pitchFamily="18" charset="0"/>
              </a:rPr>
              <a:t> означава Matrix Math Extensions (разширения за математически матрици), но понякога съкращението се дешифрира и като Multi-Media Extensions (мултимедийни разширения). MMX са специални SIMD целочислени инструкции, които са част от x86 процесорната архитектура.</a:t>
            </a:r>
          </a:p>
          <a:p>
            <a:pPr marL="0" algn="just">
              <a:spcBef>
                <a:spcPts val="0"/>
              </a:spcBef>
            </a:pPr>
            <a:r>
              <a:rPr lang="bg-BG" sz="2200">
                <a:latin typeface="Times New Roman" pitchFamily="18" charset="0"/>
                <a:cs typeface="Times New Roman" pitchFamily="18" charset="0"/>
              </a:rPr>
              <a:t>ММХ технологията е разработена за да ускори мултимедийните програми и програмите за комуникация като включват нови инструкции и типове данни които позволяват на програмите да достигат ново ниво на производителност.</a:t>
            </a:r>
            <a:endParaRPr lang="en-US" sz="2200">
              <a:latin typeface="Times New Roman" pitchFamily="18" charset="0"/>
              <a:cs typeface="Times New Roman" pitchFamily="18" charset="0"/>
            </a:endParaRPr>
          </a:p>
          <a:p>
            <a:pPr marL="0" algn="just">
              <a:spcBef>
                <a:spcPts val="0"/>
              </a:spcBef>
            </a:pPr>
            <a:r>
              <a:rPr lang="bg-BG" sz="2200">
                <a:latin typeface="Times New Roman" pitchFamily="18" charset="0"/>
                <a:cs typeface="Times New Roman" pitchFamily="18" charset="0"/>
              </a:rPr>
              <a:t>Основните точки на тази технология са:</a:t>
            </a:r>
          </a:p>
          <a:p>
            <a:pPr marL="0" algn="just">
              <a:spcBef>
                <a:spcPts val="0"/>
              </a:spcBef>
            </a:pPr>
            <a:r>
              <a:rPr lang="bg-BG" sz="2200">
                <a:latin typeface="Times New Roman" pitchFamily="18" charset="0"/>
                <a:cs typeface="Times New Roman" pitchFamily="18" charset="0"/>
              </a:rPr>
              <a:t>-Една инструкция, много информация(Single Instruction, Multiple Data (SIMD))</a:t>
            </a:r>
          </a:p>
          <a:p>
            <a:pPr marL="0" algn="just">
              <a:spcBef>
                <a:spcPts val="0"/>
              </a:spcBef>
            </a:pPr>
            <a:r>
              <a:rPr lang="bg-BG" sz="2200">
                <a:latin typeface="Times New Roman" pitchFamily="18" charset="0"/>
                <a:cs typeface="Times New Roman" pitchFamily="18" charset="0"/>
              </a:rPr>
              <a:t>-57 нови инструкции</a:t>
            </a:r>
          </a:p>
          <a:p>
            <a:pPr marL="0" algn="just">
              <a:spcBef>
                <a:spcPts val="0"/>
              </a:spcBef>
            </a:pPr>
            <a:r>
              <a:rPr lang="bg-BG" sz="2200">
                <a:latin typeface="Times New Roman" pitchFamily="18" charset="0"/>
                <a:cs typeface="Times New Roman" pitchFamily="18" charset="0"/>
              </a:rPr>
              <a:t>-8 64-битови ММХ регистри, наречени от 0 до 7</a:t>
            </a:r>
          </a:p>
          <a:p>
            <a:pPr marL="0" algn="just">
              <a:spcBef>
                <a:spcPts val="0"/>
              </a:spcBef>
            </a:pPr>
            <a:r>
              <a:rPr lang="bg-BG" sz="2200">
                <a:latin typeface="Times New Roman" pitchFamily="18" charset="0"/>
                <a:cs typeface="Times New Roman" pitchFamily="18" charset="0"/>
              </a:rPr>
              <a:t>-4 нови типа данни</a:t>
            </a:r>
          </a:p>
          <a:p>
            <a:pPr marL="0" algn="just">
              <a:spcBef>
                <a:spcPts val="0"/>
              </a:spcBef>
            </a:pPr>
            <a:endParaRPr lang="bg-BG" sz="2200">
              <a:latin typeface="Times New Roman" pitchFamily="18" charset="0"/>
              <a:cs typeface="Times New Roman"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bg-BG" b="1">
                <a:latin typeface="Times New Roman" pitchFamily="18" charset="0"/>
                <a:cs typeface="Times New Roman" pitchFamily="18" charset="0"/>
              </a:rPr>
              <a:t>Структура на паметта</a:t>
            </a:r>
            <a:endParaRPr lang="bg-BG">
              <a:latin typeface="Times New Roman" pitchFamily="18" charset="0"/>
              <a:cs typeface="Times New Roman" pitchFamily="18" charset="0"/>
            </a:endParaRPr>
          </a:p>
        </p:txBody>
      </p:sp>
      <p:sp>
        <p:nvSpPr>
          <p:cNvPr id="3" name="Content Placeholder 2"/>
          <p:cNvSpPr>
            <a:spLocks noGrp="1"/>
          </p:cNvSpPr>
          <p:nvPr>
            <p:ph idx="1"/>
          </p:nvPr>
        </p:nvSpPr>
        <p:spPr>
          <a:xfrm>
            <a:off x="457200" y="1935480"/>
            <a:ext cx="8229600" cy="4636792"/>
          </a:xfrm>
        </p:spPr>
        <p:txBody>
          <a:bodyPr>
            <a:normAutofit fontScale="85000" lnSpcReduction="10000"/>
          </a:bodyPr>
          <a:lstStyle/>
          <a:p>
            <a:pPr algn="just"/>
            <a:r>
              <a:rPr lang="bg-BG">
                <a:latin typeface="Times New Roman" pitchFamily="18" charset="0"/>
                <a:cs typeface="Times New Roman" pitchFamily="18" charset="0"/>
              </a:rPr>
              <a:t>Паметта на </a:t>
            </a:r>
            <a:r>
              <a:rPr lang="en-US">
                <a:latin typeface="Times New Roman" pitchFamily="18" charset="0"/>
                <a:cs typeface="Times New Roman" pitchFamily="18" charset="0"/>
              </a:rPr>
              <a:t>IA-</a:t>
            </a:r>
            <a:r>
              <a:rPr lang="bg-BG">
                <a:latin typeface="Times New Roman" pitchFamily="18" charset="0"/>
                <a:cs typeface="Times New Roman" pitchFamily="18" charset="0"/>
              </a:rPr>
              <a:t>32 е подредена в 8-битови байтове. Всеки байт може да съдържа ASCII символ или цяло число от 0-255 или произволен 8-битов модел. Всеки байт в паметта има адрес. Стойностите на адреса са дълги 32 бита </a:t>
            </a:r>
            <a:r>
              <a:rPr lang="en-US" err="1">
                <a:latin typeface="Times New Roman" pitchFamily="18" charset="0"/>
                <a:cs typeface="Times New Roman" pitchFamily="18" charset="0"/>
              </a:rPr>
              <a:t>също</a:t>
            </a:r>
            <a:r>
              <a:rPr lang="en-US">
                <a:latin typeface="Times New Roman" pitchFamily="18" charset="0"/>
                <a:cs typeface="Times New Roman" pitchFamily="18" charset="0"/>
              </a:rPr>
              <a:t> </a:t>
            </a:r>
            <a:r>
              <a:rPr lang="en-US" err="1">
                <a:latin typeface="Times New Roman" pitchFamily="18" charset="0"/>
                <a:cs typeface="Times New Roman" pitchFamily="18" charset="0"/>
              </a:rPr>
              <a:t>като</a:t>
            </a:r>
            <a:r>
              <a:rPr lang="bg-BG">
                <a:latin typeface="Times New Roman" pitchFamily="18" charset="0"/>
                <a:cs typeface="Times New Roman" pitchFamily="18" charset="0"/>
              </a:rPr>
              <a:t> дължината на регистрите, тъй като често поставяме адрес в регистър. Адресите не се съхраняват като такива в паметта, те са просто метод за идентифициране за кой байт говорите.</a:t>
            </a:r>
          </a:p>
          <a:p>
            <a:pPr algn="just"/>
            <a:r>
              <a:rPr lang="bg-BG">
                <a:latin typeface="Times New Roman" pitchFamily="18" charset="0"/>
                <a:cs typeface="Times New Roman" pitchFamily="18" charset="0"/>
              </a:rPr>
              <a:t> Наличието на 32-битов адрес позволява да се идентифицира уникален байт в паметта. Единица памет получава 32-битов адрес и или зарежда, или съхранява 8-битово количество в този адрес. Най-ниският възможен адрес е изцяло от битове с нули. Най-високият адрес е само битове с единици. Това е  </a:t>
            </a:r>
            <a:r>
              <a:rPr lang="bg-BG" sz="2800">
                <a:latin typeface="Times New Roman" pitchFamily="18" charset="0"/>
                <a:cs typeface="Times New Roman" pitchFamily="18" charset="0"/>
              </a:rPr>
              <a:t>2</a:t>
            </a:r>
            <a:r>
              <a:rPr lang="bg-BG" sz="2800" baseline="30000">
                <a:latin typeface="Times New Roman" pitchFamily="18" charset="0"/>
                <a:cs typeface="Times New Roman" pitchFamily="18" charset="0"/>
              </a:rPr>
              <a:t>32</a:t>
            </a:r>
            <a:r>
              <a:rPr lang="bg-BG">
                <a:latin typeface="Times New Roman" pitchFamily="18" charset="0"/>
                <a:cs typeface="Times New Roman" pitchFamily="18" charset="0"/>
              </a:rPr>
              <a:t> – 1, което е около четири милиарда, което е подходящо за адресиране до четири гигабайта памет. </a:t>
            </a:r>
          </a:p>
          <a:p>
            <a:endParaRPr lang="bg-BG"/>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14290"/>
            <a:ext cx="8229600" cy="1143000"/>
          </a:xfrm>
        </p:spPr>
        <p:txBody>
          <a:bodyPr>
            <a:normAutofit/>
          </a:bodyPr>
          <a:lstStyle/>
          <a:p>
            <a:r>
              <a:rPr lang="bg-BG" b="1">
                <a:latin typeface="Times New Roman" pitchFamily="18" charset="0"/>
                <a:cs typeface="Times New Roman" pitchFamily="18" charset="0"/>
              </a:rPr>
              <a:t>Достъп до паметта </a:t>
            </a:r>
            <a:endParaRPr lang="bg-BG">
              <a:latin typeface="Times New Roman" pitchFamily="18" charset="0"/>
              <a:cs typeface="Times New Roman" pitchFamily="18" charset="0"/>
            </a:endParaRPr>
          </a:p>
        </p:txBody>
      </p:sp>
      <p:sp>
        <p:nvSpPr>
          <p:cNvPr id="3" name="Content Placeholder 2"/>
          <p:cNvSpPr>
            <a:spLocks noGrp="1"/>
          </p:cNvSpPr>
          <p:nvPr>
            <p:ph idx="1"/>
          </p:nvPr>
        </p:nvSpPr>
        <p:spPr>
          <a:xfrm>
            <a:off x="0" y="1428736"/>
            <a:ext cx="8972552" cy="5429264"/>
          </a:xfrm>
        </p:spPr>
        <p:txBody>
          <a:bodyPr>
            <a:noAutofit/>
          </a:bodyPr>
          <a:lstStyle/>
          <a:p>
            <a:r>
              <a:rPr lang="en-US" sz="2000" err="1">
                <a:latin typeface="Times New Roman" pitchFamily="18" charset="0"/>
                <a:cs typeface="Times New Roman" pitchFamily="18" charset="0"/>
              </a:rPr>
              <a:t>i</a:t>
            </a:r>
            <a:r>
              <a:rPr lang="bg-BG" sz="2000">
                <a:latin typeface="Times New Roman" pitchFamily="18" charset="0"/>
                <a:cs typeface="Times New Roman" pitchFamily="18" charset="0"/>
              </a:rPr>
              <a:t>486 поддържат 2 модела достъп до паметта.  И в двата модела се осъществява чрез адрес. Това е начинът, по който се формират адресите (в рамките на процесора), който се различава при двата модела. </a:t>
            </a:r>
          </a:p>
          <a:p>
            <a:r>
              <a:rPr lang="bg-BG" sz="2000" b="1">
                <a:latin typeface="Times New Roman" pitchFamily="18" charset="0"/>
                <a:cs typeface="Times New Roman" pitchFamily="18" charset="0"/>
              </a:rPr>
              <a:t>МОДЕЛ С ПЛОСКА ПАМЕТ </a:t>
            </a:r>
            <a:r>
              <a:rPr lang="bg-BG" sz="2000">
                <a:latin typeface="Times New Roman" pitchFamily="18" charset="0"/>
                <a:cs typeface="Times New Roman" pitchFamily="18" charset="0"/>
              </a:rPr>
              <a:t>– използва се от всички процесори.</a:t>
            </a:r>
          </a:p>
          <a:p>
            <a:r>
              <a:rPr lang="bg-BG" sz="2000" b="1">
                <a:latin typeface="Times New Roman" pitchFamily="18" charset="0"/>
                <a:cs typeface="Times New Roman" pitchFamily="18" charset="0"/>
              </a:rPr>
              <a:t>МОДЕЛ НА СЕГМЕНТИРАНА ПАМЕТ </a:t>
            </a:r>
            <a:r>
              <a:rPr lang="bg-BG" sz="2000">
                <a:latin typeface="Times New Roman" pitchFamily="18" charset="0"/>
                <a:cs typeface="Times New Roman" pitchFamily="18" charset="0"/>
              </a:rPr>
              <a:t>-- Предполага се, че различните части на една програма са в собствени, заделени части от паметта. Тези части се наричат сегменти. </a:t>
            </a:r>
          </a:p>
          <a:p>
            <a:r>
              <a:rPr lang="en-US" sz="2000">
                <a:latin typeface="Times New Roman" pitchFamily="18" charset="0"/>
                <a:cs typeface="Times New Roman" pitchFamily="18" charset="0"/>
              </a:rPr>
              <a:t> - </a:t>
            </a:r>
            <a:r>
              <a:rPr lang="bg-BG" sz="2000">
                <a:latin typeface="Times New Roman" pitchFamily="18" charset="0"/>
                <a:cs typeface="Times New Roman" pitchFamily="18" charset="0"/>
              </a:rPr>
              <a:t>Адресът се формира от 2 части: местоположение на сегмент и отместване в сегмента. Всяка от тях може да бъде по-къса (да съдържа по-малко битове) от цял адрес. Това е голяма част от причината Intel да избере тази форма на модел памет за своите най-ранни едночипови процесори. </a:t>
            </a:r>
          </a:p>
          <a:p>
            <a:r>
              <a:rPr lang="bg-BG" sz="2000">
                <a:latin typeface="Times New Roman" pitchFamily="18" charset="0"/>
                <a:cs typeface="Times New Roman" pitchFamily="18" charset="0"/>
              </a:rPr>
              <a:t>- Има сегменти за - Код,  данни,  стек,  друго </a:t>
            </a:r>
          </a:p>
          <a:p>
            <a:r>
              <a:rPr lang="bg-BG" sz="2000">
                <a:latin typeface="Times New Roman" pitchFamily="18" charset="0"/>
                <a:cs typeface="Times New Roman" pitchFamily="18" charset="0"/>
              </a:rPr>
              <a:t>- В кой сегмент се намира нещо може да се подразбира от свързания достъп до паметта. Извличането на инструкции винаги ще се търси в кодовия сегмент. Инструкция за изпращане на данни в стека винаги има достъп до сегмента на стека.</a:t>
            </a:r>
            <a:endParaRPr lang="bg-BG" sz="20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ru-RU" sz="3900" b="1">
                <a:latin typeface="Times New Roman" pitchFamily="18" charset="0"/>
                <a:cs typeface="Times New Roman" pitchFamily="18" charset="0"/>
              </a:rPr>
              <a:t>Таблица с инструкции за микропроцесора.</a:t>
            </a:r>
            <a:endParaRPr lang="bg-BG" sz="390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a:bodyPr>
          <a:lstStyle/>
          <a:p>
            <a:r>
              <a:rPr lang="bg-BG">
                <a:latin typeface="Times New Roman" pitchFamily="18" charset="0"/>
                <a:cs typeface="Times New Roman" pitchFamily="18" charset="0"/>
              </a:rPr>
              <a:t>Процесорите х86 са известни като CISC (Complex Instruction Set Computer) </a:t>
            </a:r>
          </a:p>
          <a:p>
            <a:r>
              <a:rPr lang="bg-BG">
                <a:latin typeface="Times New Roman" pitchFamily="18" charset="0"/>
                <a:cs typeface="Times New Roman" pitchFamily="18" charset="0"/>
              </a:rPr>
              <a:t>CISC инструкциите могат да изпълняват сложни задачи, които отнемат повече от един цикъл за изпълнение. Те могат да включват математически изчисления с плаваща запетая и инструкции за обработка на графики. CISC може да бъде много ефективен по отношение на броя на инструкциите за програма, което води до по-ниско търсене на съхранение на код и RAM. От друга страна, един CISC процесор трябва да съдържа повече транзистори, за да се справи със сложността на инструкциите.</a:t>
            </a:r>
          </a:p>
          <a:p>
            <a:endParaRPr lang="bg-BG"/>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ru-RU" sz="3900" b="1">
                <a:latin typeface="Times New Roman" pitchFamily="18" charset="0"/>
                <a:cs typeface="Times New Roman" pitchFamily="18" charset="0"/>
              </a:rPr>
              <a:t>Таблица с инструкции за микропроцесора.</a:t>
            </a:r>
            <a:endParaRPr lang="bg-BG" sz="3900">
              <a:latin typeface="Times New Roman" pitchFamily="18" charset="0"/>
              <a:cs typeface="Times New Roman" pitchFamily="18" charset="0"/>
            </a:endParaRPr>
          </a:p>
        </p:txBody>
      </p:sp>
      <p:sp>
        <p:nvSpPr>
          <p:cNvPr id="3" name="Content Placeholder 2"/>
          <p:cNvSpPr>
            <a:spLocks noGrp="1"/>
          </p:cNvSpPr>
          <p:nvPr>
            <p:ph idx="1"/>
          </p:nvPr>
        </p:nvSpPr>
        <p:spPr>
          <a:xfrm>
            <a:off x="285720" y="1935480"/>
            <a:ext cx="8643998" cy="4708230"/>
          </a:xfrm>
        </p:spPr>
        <p:txBody>
          <a:bodyPr>
            <a:noAutofit/>
          </a:bodyPr>
          <a:lstStyle/>
          <a:p>
            <a:r>
              <a:rPr lang="bg-BG" sz="2400" b="1">
                <a:latin typeface="Times New Roman" pitchFamily="18" charset="0"/>
                <a:cs typeface="Times New Roman" pitchFamily="18" charset="0"/>
              </a:rPr>
              <a:t>Instruction set (IS)</a:t>
            </a:r>
            <a:r>
              <a:rPr lang="bg-BG" sz="2400">
                <a:latin typeface="Times New Roman" pitchFamily="18" charset="0"/>
                <a:cs typeface="Times New Roman" pitchFamily="18" charset="0"/>
              </a:rPr>
              <a:t> е набор от инструкции за даден процесор - множеството от всички инструкции, които може да изпълнява процесорът. Инструкциите биват в няколко различни формата - тоест, възможни дължини и от какви полета се състоят. Теоретично една инструкция се състои от 4 полета, а именно: код на операцията, адрес на операнд 1, адрес на операнд 2 и адрес на резултат.</a:t>
            </a:r>
          </a:p>
          <a:p>
            <a:endParaRPr lang="bg-BG" sz="2200" b="1">
              <a:latin typeface="Times New Roman" pitchFamily="18" charset="0"/>
              <a:cs typeface="Times New Roman" pitchFamily="18" charset="0"/>
            </a:endParaRPr>
          </a:p>
          <a:p>
            <a:endParaRPr lang="bg-BG" sz="2200">
              <a:latin typeface="Times New Roman" pitchFamily="18" charset="0"/>
              <a:cs typeface="Times New Roman" pitchFamily="18" charset="0"/>
            </a:endParaRPr>
          </a:p>
          <a:p>
            <a:r>
              <a:rPr lang="bg-BG" sz="2400">
                <a:latin typeface="Times New Roman" pitchFamily="18" charset="0"/>
                <a:cs typeface="Times New Roman" pitchFamily="18" charset="0"/>
              </a:rPr>
              <a:t>Като поле в инструкцията може да се сложи стойността на операнда, но това е неудобно, защото инструкцията е трудна за промяна. Затова е широко прието да се работи с адреси. </a:t>
            </a:r>
          </a:p>
        </p:txBody>
      </p:sp>
      <p:pic>
        <p:nvPicPr>
          <p:cNvPr id="4" name="Picture 3" descr="untitled23.JPG"/>
          <p:cNvPicPr/>
          <p:nvPr/>
        </p:nvPicPr>
        <p:blipFill>
          <a:blip r:embed="rId2" cstate="print"/>
          <a:srcRect/>
          <a:stretch>
            <a:fillRect/>
          </a:stretch>
        </p:blipFill>
        <p:spPr bwMode="auto">
          <a:xfrm>
            <a:off x="3714744" y="4214818"/>
            <a:ext cx="3143272" cy="1214446"/>
          </a:xfrm>
          <a:prstGeom prst="rect">
            <a:avLst/>
          </a:prstGeom>
          <a:noFill/>
          <a:ln w="9525">
            <a:noFill/>
            <a:miter lim="800000"/>
            <a:headEnd/>
            <a:tailEnd/>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ru-RU" sz="3900" b="1">
                <a:latin typeface="Times New Roman" pitchFamily="18" charset="0"/>
                <a:cs typeface="Times New Roman" pitchFamily="18" charset="0"/>
              </a:rPr>
              <a:t>Таблица с инструкции за микропроцесора.</a:t>
            </a:r>
            <a:endParaRPr lang="bg-BG" sz="3900">
              <a:latin typeface="Times New Roman" pitchFamily="18" charset="0"/>
              <a:cs typeface="Times New Roman" pitchFamily="18" charset="0"/>
            </a:endParaRPr>
          </a:p>
        </p:txBody>
      </p:sp>
      <p:sp>
        <p:nvSpPr>
          <p:cNvPr id="3" name="Content Placeholder 2"/>
          <p:cNvSpPr>
            <a:spLocks noGrp="1"/>
          </p:cNvSpPr>
          <p:nvPr>
            <p:ph idx="1"/>
          </p:nvPr>
        </p:nvSpPr>
        <p:spPr>
          <a:xfrm>
            <a:off x="142844" y="1935480"/>
            <a:ext cx="8786874" cy="3350908"/>
          </a:xfrm>
        </p:spPr>
        <p:txBody>
          <a:bodyPr>
            <a:noAutofit/>
          </a:bodyPr>
          <a:lstStyle/>
          <a:p>
            <a:r>
              <a:rPr lang="bg-BG" sz="2200">
                <a:latin typeface="Times New Roman" pitchFamily="18" charset="0"/>
                <a:cs typeface="Times New Roman" pitchFamily="18" charset="0"/>
              </a:rPr>
              <a:t>Ако операндите са представени със стойности, първо се чете инструкцията, после се отделят операндите и това е най-бързият начин на работа. За сметка на което е много неудобен за работа - операндът има фиксиран размер, който обикновено трябва да е малък (често 1B), за да бъде къса (съответно, бърза) самата инструкция. Използва се понякога, за къси константи.</a:t>
            </a:r>
          </a:p>
          <a:p>
            <a:r>
              <a:rPr lang="bg-BG" sz="2200">
                <a:latin typeface="Times New Roman" pitchFamily="18" charset="0"/>
                <a:cs typeface="Times New Roman" pitchFamily="18" charset="0"/>
              </a:rPr>
              <a:t>Тъй като 3 адресни полета може да са много, се решава Адрес да се записва на мястото на Аоп1, подменяйки деструктивно съдържанието му. Прочитане на операнда от подаден адрес не влияе на стойността на самия операнд. Така получената инструкция е със следния вид: </a:t>
            </a:r>
            <a:endParaRPr lang="bg-BG" sz="2200"/>
          </a:p>
        </p:txBody>
      </p:sp>
      <p:pic>
        <p:nvPicPr>
          <p:cNvPr id="5" name="Picture 4" descr="untitled24.JPG"/>
          <p:cNvPicPr/>
          <p:nvPr/>
        </p:nvPicPr>
        <p:blipFill>
          <a:blip r:embed="rId2" cstate="print"/>
          <a:srcRect/>
          <a:stretch>
            <a:fillRect/>
          </a:stretch>
        </p:blipFill>
        <p:spPr bwMode="auto">
          <a:xfrm>
            <a:off x="2857488" y="5381616"/>
            <a:ext cx="3333768" cy="1476384"/>
          </a:xfrm>
          <a:prstGeom prst="rect">
            <a:avLst/>
          </a:prstGeom>
          <a:noFill/>
          <a:ln w="9525">
            <a:noFill/>
            <a:miter lim="800000"/>
            <a:headEnd/>
            <a:tailEnd/>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571480"/>
            <a:ext cx="8786874" cy="2071702"/>
          </a:xfrm>
        </p:spPr>
        <p:txBody>
          <a:bodyPr>
            <a:noAutofit/>
          </a:bodyPr>
          <a:lstStyle/>
          <a:p>
            <a:r>
              <a:rPr lang="bg-BG" sz="2400" b="1">
                <a:latin typeface="Times New Roman" pitchFamily="18" charset="0"/>
                <a:cs typeface="Times New Roman" pitchFamily="18" charset="0"/>
              </a:rPr>
              <a:t>Инструкции за трансфер на данни</a:t>
            </a:r>
            <a:endParaRPr lang="bg-BG" sz="2400">
              <a:latin typeface="Times New Roman" pitchFamily="18" charset="0"/>
              <a:cs typeface="Times New Roman" pitchFamily="18" charset="0"/>
            </a:endParaRPr>
          </a:p>
          <a:p>
            <a:r>
              <a:rPr lang="bg-BG" sz="2400">
                <a:latin typeface="Times New Roman" pitchFamily="18" charset="0"/>
                <a:cs typeface="Times New Roman" pitchFamily="18" charset="0"/>
              </a:rPr>
              <a:t>Трансфер може да се осъществи между регистрите на процесора, клетки в паметта, стека. Във всяка инструкция за трансфер трябва да са посочени източника и дестинацията, както и дължината на данните.</a:t>
            </a:r>
          </a:p>
        </p:txBody>
      </p:sp>
      <p:graphicFrame>
        <p:nvGraphicFramePr>
          <p:cNvPr id="7" name="Table 6"/>
          <p:cNvGraphicFramePr>
            <a:graphicFrameLocks noGrp="1"/>
          </p:cNvGraphicFramePr>
          <p:nvPr/>
        </p:nvGraphicFramePr>
        <p:xfrm>
          <a:off x="214283" y="2643182"/>
          <a:ext cx="8786873" cy="4001670"/>
        </p:xfrm>
        <a:graphic>
          <a:graphicData uri="http://schemas.openxmlformats.org/drawingml/2006/table">
            <a:tbl>
              <a:tblPr/>
              <a:tblGrid>
                <a:gridCol w="1428759">
                  <a:extLst>
                    <a:ext uri="{9D8B030D-6E8A-4147-A177-3AD203B41FA5}">
                      <a16:colId xmlns:a16="http://schemas.microsoft.com/office/drawing/2014/main" val="20000"/>
                    </a:ext>
                  </a:extLst>
                </a:gridCol>
                <a:gridCol w="3286148">
                  <a:extLst>
                    <a:ext uri="{9D8B030D-6E8A-4147-A177-3AD203B41FA5}">
                      <a16:colId xmlns:a16="http://schemas.microsoft.com/office/drawing/2014/main" val="20001"/>
                    </a:ext>
                  </a:extLst>
                </a:gridCol>
                <a:gridCol w="4071966">
                  <a:extLst>
                    <a:ext uri="{9D8B030D-6E8A-4147-A177-3AD203B41FA5}">
                      <a16:colId xmlns:a16="http://schemas.microsoft.com/office/drawing/2014/main" val="20002"/>
                    </a:ext>
                  </a:extLst>
                </a:gridCol>
              </a:tblGrid>
              <a:tr h="645363">
                <a:tc rowSpan="5">
                  <a:txBody>
                    <a:bodyPr/>
                    <a:lstStyle/>
                    <a:p>
                      <a:pPr marL="38100" marR="38100">
                        <a:lnSpc>
                          <a:spcPct val="115000"/>
                        </a:lnSpc>
                        <a:spcBef>
                          <a:spcPts val="500"/>
                        </a:spcBef>
                        <a:spcAft>
                          <a:spcPts val="500"/>
                        </a:spcAft>
                      </a:pPr>
                      <a:r>
                        <a:rPr lang="bg-BG" sz="2400" b="1">
                          <a:latin typeface="Times New Roman" pitchFamily="18" charset="0"/>
                          <a:ea typeface="Times New Roman"/>
                          <a:cs typeface="Times New Roman" pitchFamily="18" charset="0"/>
                        </a:rPr>
                        <a:t>Data Transfer</a:t>
                      </a:r>
                      <a:endParaRPr lang="bg-BG" sz="2400">
                        <a:latin typeface="Times New Roman" pitchFamily="18" charset="0"/>
                        <a:ea typeface="Times New Roman"/>
                        <a:cs typeface="Times New Roman" pitchFamily="18" charset="0"/>
                      </a:endParaRP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400">
                          <a:latin typeface="Times New Roman" pitchFamily="18" charset="0"/>
                          <a:ea typeface="Times New Roman"/>
                          <a:cs typeface="Times New Roman" pitchFamily="18" charset="0"/>
                        </a:rPr>
                        <a:t>mov{l,w,b} dest, source</a:t>
                      </a: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400">
                          <a:latin typeface="Times New Roman" pitchFamily="18" charset="0"/>
                          <a:ea typeface="Times New Roman"/>
                          <a:cs typeface="Times New Roman" pitchFamily="18" charset="0"/>
                        </a:rPr>
                        <a:t>Move from source to dest</a:t>
                      </a: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0"/>
                  </a:ext>
                </a:extLst>
              </a:tr>
              <a:tr h="228841">
                <a:tc vMerge="1">
                  <a:txBody>
                    <a:bodyPr/>
                    <a:lstStyle/>
                    <a:p>
                      <a:endParaRPr lang="bg-BG"/>
                    </a:p>
                  </a:txBody>
                  <a:tcPr/>
                </a:tc>
                <a:tc>
                  <a:txBody>
                    <a:bodyPr/>
                    <a:lstStyle/>
                    <a:p>
                      <a:pPr marL="38100" marR="38100">
                        <a:lnSpc>
                          <a:spcPct val="115000"/>
                        </a:lnSpc>
                        <a:spcBef>
                          <a:spcPts val="500"/>
                        </a:spcBef>
                        <a:spcAft>
                          <a:spcPts val="500"/>
                        </a:spcAft>
                      </a:pPr>
                      <a:r>
                        <a:rPr lang="bg-BG" sz="2400">
                          <a:latin typeface="Times New Roman" pitchFamily="18" charset="0"/>
                          <a:ea typeface="Times New Roman"/>
                          <a:cs typeface="Times New Roman" pitchFamily="18" charset="0"/>
                        </a:rPr>
                        <a:t>xchg{l,w,b} dest1, dest2</a:t>
                      </a: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400">
                          <a:latin typeface="Times New Roman" pitchFamily="18" charset="0"/>
                          <a:ea typeface="Times New Roman"/>
                          <a:cs typeface="Times New Roman" pitchFamily="18" charset="0"/>
                        </a:rPr>
                        <a:t>Exchange </a:t>
                      </a: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1"/>
                  </a:ext>
                </a:extLst>
              </a:tr>
              <a:tr h="645363">
                <a:tc vMerge="1">
                  <a:txBody>
                    <a:bodyPr/>
                    <a:lstStyle/>
                    <a:p>
                      <a:endParaRPr lang="bg-BG"/>
                    </a:p>
                  </a:txBody>
                  <a:tcPr/>
                </a:tc>
                <a:tc>
                  <a:txBody>
                    <a:bodyPr/>
                    <a:lstStyle/>
                    <a:p>
                      <a:pPr marL="38100" marR="38100">
                        <a:lnSpc>
                          <a:spcPct val="115000"/>
                        </a:lnSpc>
                        <a:spcBef>
                          <a:spcPts val="500"/>
                        </a:spcBef>
                        <a:spcAft>
                          <a:spcPts val="500"/>
                        </a:spcAft>
                      </a:pPr>
                      <a:r>
                        <a:rPr lang="bg-BG" sz="2400">
                          <a:latin typeface="Times New Roman" pitchFamily="18" charset="0"/>
                          <a:ea typeface="Times New Roman"/>
                          <a:cs typeface="Times New Roman" pitchFamily="18" charset="0"/>
                        </a:rPr>
                        <a:t>cmpxchg{l,w,b} dest1, dest2</a:t>
                      </a: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400">
                          <a:latin typeface="Times New Roman" pitchFamily="18" charset="0"/>
                          <a:ea typeface="Times New Roman"/>
                          <a:cs typeface="Times New Roman" pitchFamily="18" charset="0"/>
                        </a:rPr>
                        <a:t>Compare and exchange</a:t>
                      </a: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2"/>
                  </a:ext>
                </a:extLst>
              </a:tr>
              <a:tr h="645363">
                <a:tc vMerge="1">
                  <a:txBody>
                    <a:bodyPr/>
                    <a:lstStyle/>
                    <a:p>
                      <a:endParaRPr lang="bg-BG"/>
                    </a:p>
                  </a:txBody>
                  <a:tcPr/>
                </a:tc>
                <a:tc>
                  <a:txBody>
                    <a:bodyPr/>
                    <a:lstStyle/>
                    <a:p>
                      <a:pPr marL="38100" marR="38100">
                        <a:lnSpc>
                          <a:spcPct val="115000"/>
                        </a:lnSpc>
                        <a:spcBef>
                          <a:spcPts val="500"/>
                        </a:spcBef>
                        <a:spcAft>
                          <a:spcPts val="500"/>
                        </a:spcAft>
                      </a:pPr>
                      <a:r>
                        <a:rPr lang="bg-BG" sz="2400">
                          <a:latin typeface="Times New Roman" pitchFamily="18" charset="0"/>
                          <a:ea typeface="Times New Roman"/>
                          <a:cs typeface="Times New Roman" pitchFamily="18" charset="0"/>
                        </a:rPr>
                        <a:t>push/pop{l,w}</a:t>
                      </a: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400">
                          <a:latin typeface="Times New Roman" pitchFamily="18" charset="0"/>
                          <a:ea typeface="Times New Roman"/>
                          <a:cs typeface="Times New Roman" pitchFamily="18" charset="0"/>
                        </a:rPr>
                        <a:t>Push onto / pop off the stack</a:t>
                      </a: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3"/>
                  </a:ext>
                </a:extLst>
              </a:tr>
              <a:tr h="1478408">
                <a:tc vMerge="1">
                  <a:txBody>
                    <a:bodyPr/>
                    <a:lstStyle/>
                    <a:p>
                      <a:endParaRPr lang="bg-BG"/>
                    </a:p>
                  </a:txBody>
                  <a:tcPr/>
                </a:tc>
                <a:tc>
                  <a:txBody>
                    <a:bodyPr/>
                    <a:lstStyle/>
                    <a:p>
                      <a:pPr marL="38100" marR="38100">
                        <a:lnSpc>
                          <a:spcPct val="115000"/>
                        </a:lnSpc>
                        <a:spcBef>
                          <a:spcPts val="500"/>
                        </a:spcBef>
                        <a:spcAft>
                          <a:spcPts val="500"/>
                        </a:spcAft>
                      </a:pPr>
                      <a:r>
                        <a:rPr lang="bg-BG" sz="2400">
                          <a:latin typeface="Times New Roman" pitchFamily="18" charset="0"/>
                          <a:ea typeface="Times New Roman"/>
                          <a:cs typeface="Times New Roman" pitchFamily="18" charset="0"/>
                        </a:rPr>
                        <a:t>movsb</a:t>
                      </a: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400">
                          <a:latin typeface="Times New Roman" pitchFamily="18" charset="0"/>
                          <a:ea typeface="Times New Roman"/>
                          <a:cs typeface="Times New Roman" pitchFamily="18" charset="0"/>
                        </a:rPr>
                        <a:t>Move bytes at DS:(E)SI to address ES:(E)DI, typically prefix with rep </a:t>
                      </a: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571480"/>
            <a:ext cx="8858280" cy="2500330"/>
          </a:xfrm>
        </p:spPr>
        <p:txBody>
          <a:bodyPr>
            <a:noAutofit/>
          </a:bodyPr>
          <a:lstStyle/>
          <a:p>
            <a:pPr marL="0">
              <a:spcBef>
                <a:spcPts val="0"/>
              </a:spcBef>
            </a:pPr>
            <a:r>
              <a:rPr lang="bg-BG" sz="2200" b="1">
                <a:latin typeface="Times New Roman" pitchFamily="18" charset="0"/>
                <a:cs typeface="Times New Roman" pitchFamily="18" charset="0"/>
              </a:rPr>
              <a:t>Инструкции за аритметична обработка</a:t>
            </a:r>
            <a:endParaRPr lang="bg-BG" sz="2200">
              <a:latin typeface="Times New Roman" pitchFamily="18" charset="0"/>
              <a:cs typeface="Times New Roman" pitchFamily="18" charset="0"/>
            </a:endParaRPr>
          </a:p>
          <a:p>
            <a:pPr marL="0">
              <a:spcBef>
                <a:spcPts val="0"/>
              </a:spcBef>
            </a:pPr>
            <a:r>
              <a:rPr lang="bg-BG" sz="2200">
                <a:latin typeface="Times New Roman" pitchFamily="18" charset="0"/>
                <a:cs typeface="Times New Roman" pitchFamily="18" charset="0"/>
              </a:rPr>
              <a:t>Събиране, изваждане, умножение, деление, унарните операции( abs, ++, --, - ) на числа с фиксирана точка, плаваща запетая и пакетирани десетични числа. Изпълнението на аритметичните операции предизвиква трансфер на данни за зареждане на операндите в регистрите на процесора, за да могат да бъдат използвани от АЛУ-то, както и запис на резултата от АЛУ-то в регистър на процесор</a:t>
            </a:r>
            <a:r>
              <a:rPr lang="bg-BG" sz="2400">
                <a:latin typeface="Times New Roman" pitchFamily="18" charset="0"/>
                <a:cs typeface="Times New Roman" pitchFamily="18" charset="0"/>
              </a:rPr>
              <a:t>а.</a:t>
            </a:r>
          </a:p>
        </p:txBody>
      </p:sp>
      <p:graphicFrame>
        <p:nvGraphicFramePr>
          <p:cNvPr id="4" name="Table 3"/>
          <p:cNvGraphicFramePr>
            <a:graphicFrameLocks noGrp="1"/>
          </p:cNvGraphicFramePr>
          <p:nvPr/>
        </p:nvGraphicFramePr>
        <p:xfrm>
          <a:off x="214283" y="3214686"/>
          <a:ext cx="8929718" cy="3402540"/>
        </p:xfrm>
        <a:graphic>
          <a:graphicData uri="http://schemas.openxmlformats.org/drawingml/2006/table">
            <a:tbl>
              <a:tblPr/>
              <a:tblGrid>
                <a:gridCol w="2214547">
                  <a:extLst>
                    <a:ext uri="{9D8B030D-6E8A-4147-A177-3AD203B41FA5}">
                      <a16:colId xmlns:a16="http://schemas.microsoft.com/office/drawing/2014/main" val="20000"/>
                    </a:ext>
                  </a:extLst>
                </a:gridCol>
                <a:gridCol w="3214710">
                  <a:extLst>
                    <a:ext uri="{9D8B030D-6E8A-4147-A177-3AD203B41FA5}">
                      <a16:colId xmlns:a16="http://schemas.microsoft.com/office/drawing/2014/main" val="20001"/>
                    </a:ext>
                  </a:extLst>
                </a:gridCol>
                <a:gridCol w="3500461">
                  <a:extLst>
                    <a:ext uri="{9D8B030D-6E8A-4147-A177-3AD203B41FA5}">
                      <a16:colId xmlns:a16="http://schemas.microsoft.com/office/drawing/2014/main" val="20002"/>
                    </a:ext>
                  </a:extLst>
                </a:gridCol>
              </a:tblGrid>
              <a:tr h="560916">
                <a:tc rowSpan="5">
                  <a:txBody>
                    <a:bodyPr/>
                    <a:lstStyle/>
                    <a:p>
                      <a:pPr marL="38100" marR="38100">
                        <a:lnSpc>
                          <a:spcPct val="115000"/>
                        </a:lnSpc>
                        <a:spcBef>
                          <a:spcPts val="1000"/>
                        </a:spcBef>
                        <a:spcAft>
                          <a:spcPts val="0"/>
                        </a:spcAft>
                      </a:pPr>
                      <a:r>
                        <a:rPr lang="bg-BG" sz="2200" b="1" i="0">
                          <a:solidFill>
                            <a:srgbClr val="000000"/>
                          </a:solidFill>
                          <a:latin typeface="Times New Roman" pitchFamily="18" charset="0"/>
                          <a:ea typeface="Times New Roman"/>
                          <a:cs typeface="Times New Roman" pitchFamily="18" charset="0"/>
                        </a:rPr>
                        <a:t>Arithmetic</a:t>
                      </a:r>
                      <a:endParaRPr lang="bg-BG" sz="2200" b="1" i="1">
                        <a:solidFill>
                          <a:srgbClr val="4F81BD"/>
                        </a:solidFill>
                        <a:latin typeface="Times New Roman" pitchFamily="18" charset="0"/>
                        <a:ea typeface="Times New Roman"/>
                        <a:cs typeface="Times New Roman" pitchFamily="18" charset="0"/>
                      </a:endParaRP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200">
                          <a:solidFill>
                            <a:srgbClr val="000000"/>
                          </a:solidFill>
                          <a:latin typeface="Times New Roman" pitchFamily="18" charset="0"/>
                          <a:ea typeface="Times New Roman"/>
                          <a:cs typeface="Times New Roman" pitchFamily="18" charset="0"/>
                        </a:rPr>
                        <a:t>add/sub{l,w,b} source, dest</a:t>
                      </a:r>
                      <a:endParaRPr lang="bg-BG" sz="2200">
                        <a:latin typeface="Times New Roman" pitchFamily="18" charset="0"/>
                        <a:ea typeface="Times New Roman"/>
                        <a:cs typeface="Times New Roman" pitchFamily="18" charset="0"/>
                      </a:endParaRP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200">
                          <a:solidFill>
                            <a:srgbClr val="000000"/>
                          </a:solidFill>
                          <a:latin typeface="Times New Roman" pitchFamily="18" charset="0"/>
                          <a:ea typeface="Times New Roman"/>
                          <a:cs typeface="Times New Roman" pitchFamily="18" charset="0"/>
                        </a:rPr>
                        <a:t>Add/subtract</a:t>
                      </a:r>
                      <a:endParaRPr lang="bg-BG" sz="2200">
                        <a:latin typeface="Times New Roman" pitchFamily="18" charset="0"/>
                        <a:ea typeface="Times New Roman"/>
                        <a:cs typeface="Times New Roman" pitchFamily="18" charset="0"/>
                      </a:endParaRP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0"/>
                  </a:ext>
                </a:extLst>
              </a:tr>
              <a:tr h="828170">
                <a:tc vMerge="1">
                  <a:txBody>
                    <a:bodyPr/>
                    <a:lstStyle/>
                    <a:p>
                      <a:endParaRPr lang="bg-BG"/>
                    </a:p>
                  </a:txBody>
                  <a:tcPr/>
                </a:tc>
                <a:tc>
                  <a:txBody>
                    <a:bodyPr/>
                    <a:lstStyle/>
                    <a:p>
                      <a:pPr marL="38100" marR="38100">
                        <a:lnSpc>
                          <a:spcPct val="115000"/>
                        </a:lnSpc>
                        <a:spcBef>
                          <a:spcPts val="500"/>
                        </a:spcBef>
                        <a:spcAft>
                          <a:spcPts val="500"/>
                        </a:spcAft>
                      </a:pPr>
                      <a:r>
                        <a:rPr lang="bg-BG" sz="2200">
                          <a:solidFill>
                            <a:srgbClr val="000000"/>
                          </a:solidFill>
                          <a:latin typeface="Times New Roman" pitchFamily="18" charset="0"/>
                          <a:ea typeface="Times New Roman"/>
                          <a:cs typeface="Times New Roman" pitchFamily="18" charset="0"/>
                        </a:rPr>
                        <a:t>imul/mul{l,w,b} formats</a:t>
                      </a:r>
                      <a:endParaRPr lang="bg-BG" sz="2200">
                        <a:latin typeface="Times New Roman" pitchFamily="18" charset="0"/>
                        <a:ea typeface="Times New Roman"/>
                        <a:cs typeface="Times New Roman" pitchFamily="18" charset="0"/>
                      </a:endParaRP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200">
                          <a:solidFill>
                            <a:srgbClr val="000000"/>
                          </a:solidFill>
                          <a:latin typeface="Times New Roman" pitchFamily="18" charset="0"/>
                          <a:ea typeface="Times New Roman"/>
                          <a:cs typeface="Times New Roman" pitchFamily="18" charset="0"/>
                        </a:rPr>
                        <a:t>Signed/unsigned multiply</a:t>
                      </a:r>
                      <a:endParaRPr lang="bg-BG" sz="2200">
                        <a:latin typeface="Times New Roman" pitchFamily="18" charset="0"/>
                        <a:ea typeface="Times New Roman"/>
                        <a:cs typeface="Times New Roman" pitchFamily="18" charset="0"/>
                      </a:endParaRP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1"/>
                  </a:ext>
                </a:extLst>
              </a:tr>
              <a:tr h="560916">
                <a:tc vMerge="1">
                  <a:txBody>
                    <a:bodyPr/>
                    <a:lstStyle/>
                    <a:p>
                      <a:endParaRPr lang="bg-BG"/>
                    </a:p>
                  </a:txBody>
                  <a:tcPr/>
                </a:tc>
                <a:tc>
                  <a:txBody>
                    <a:bodyPr/>
                    <a:lstStyle/>
                    <a:p>
                      <a:pPr marL="38100" marR="38100">
                        <a:lnSpc>
                          <a:spcPct val="115000"/>
                        </a:lnSpc>
                        <a:spcBef>
                          <a:spcPts val="500"/>
                        </a:spcBef>
                        <a:spcAft>
                          <a:spcPts val="500"/>
                        </a:spcAft>
                      </a:pPr>
                      <a:r>
                        <a:rPr lang="bg-BG" sz="2200">
                          <a:solidFill>
                            <a:srgbClr val="000000"/>
                          </a:solidFill>
                          <a:latin typeface="Times New Roman" pitchFamily="18" charset="0"/>
                          <a:ea typeface="Times New Roman"/>
                          <a:cs typeface="Times New Roman" pitchFamily="18" charset="0"/>
                        </a:rPr>
                        <a:t>idiv/div{l,w,b} dest</a:t>
                      </a:r>
                      <a:endParaRPr lang="bg-BG" sz="2200">
                        <a:latin typeface="Times New Roman" pitchFamily="18" charset="0"/>
                        <a:ea typeface="Times New Roman"/>
                        <a:cs typeface="Times New Roman" pitchFamily="18" charset="0"/>
                      </a:endParaRP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200">
                          <a:solidFill>
                            <a:srgbClr val="000000"/>
                          </a:solidFill>
                          <a:latin typeface="Times New Roman" pitchFamily="18" charset="0"/>
                          <a:ea typeface="Times New Roman"/>
                          <a:cs typeface="Times New Roman" pitchFamily="18" charset="0"/>
                        </a:rPr>
                        <a:t>Signed/unsigned divide</a:t>
                      </a:r>
                      <a:endParaRPr lang="bg-BG" sz="2200">
                        <a:latin typeface="Times New Roman" pitchFamily="18" charset="0"/>
                        <a:ea typeface="Times New Roman"/>
                        <a:cs typeface="Times New Roman" pitchFamily="18" charset="0"/>
                      </a:endParaRP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2"/>
                  </a:ext>
                </a:extLst>
              </a:tr>
              <a:tr h="693205">
                <a:tc vMerge="1">
                  <a:txBody>
                    <a:bodyPr/>
                    <a:lstStyle/>
                    <a:p>
                      <a:endParaRPr lang="bg-BG"/>
                    </a:p>
                  </a:txBody>
                  <a:tcPr/>
                </a:tc>
                <a:tc>
                  <a:txBody>
                    <a:bodyPr/>
                    <a:lstStyle/>
                    <a:p>
                      <a:pPr marL="38100" marR="38100">
                        <a:lnSpc>
                          <a:spcPct val="115000"/>
                        </a:lnSpc>
                        <a:spcBef>
                          <a:spcPts val="500"/>
                        </a:spcBef>
                        <a:spcAft>
                          <a:spcPts val="500"/>
                        </a:spcAft>
                      </a:pPr>
                      <a:r>
                        <a:rPr lang="bg-BG" sz="2200">
                          <a:solidFill>
                            <a:srgbClr val="000000"/>
                          </a:solidFill>
                          <a:latin typeface="Times New Roman" pitchFamily="18" charset="0"/>
                          <a:ea typeface="Times New Roman"/>
                          <a:cs typeface="Times New Roman" pitchFamily="18" charset="0"/>
                        </a:rPr>
                        <a:t>inc/dec/neg{l,w,b} dest</a:t>
                      </a:r>
                      <a:endParaRPr lang="bg-BG" sz="2200">
                        <a:latin typeface="Times New Roman" pitchFamily="18" charset="0"/>
                        <a:ea typeface="Times New Roman"/>
                        <a:cs typeface="Times New Roman" pitchFamily="18" charset="0"/>
                      </a:endParaRP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200">
                          <a:solidFill>
                            <a:srgbClr val="000000"/>
                          </a:solidFill>
                          <a:latin typeface="Times New Roman" pitchFamily="18" charset="0"/>
                          <a:ea typeface="Times New Roman"/>
                          <a:cs typeface="Times New Roman" pitchFamily="18" charset="0"/>
                        </a:rPr>
                        <a:t>Increment/decrement/negate</a:t>
                      </a:r>
                      <a:endParaRPr lang="bg-BG" sz="2200">
                        <a:latin typeface="Times New Roman" pitchFamily="18" charset="0"/>
                        <a:ea typeface="Times New Roman"/>
                        <a:cs typeface="Times New Roman" pitchFamily="18" charset="0"/>
                      </a:endParaRP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3"/>
                  </a:ext>
                </a:extLst>
              </a:tr>
              <a:tr h="293662">
                <a:tc vMerge="1">
                  <a:txBody>
                    <a:bodyPr/>
                    <a:lstStyle/>
                    <a:p>
                      <a:endParaRPr lang="bg-BG"/>
                    </a:p>
                  </a:txBody>
                  <a:tcPr/>
                </a:tc>
                <a:tc>
                  <a:txBody>
                    <a:bodyPr/>
                    <a:lstStyle/>
                    <a:p>
                      <a:pPr marL="38100" marR="38100">
                        <a:lnSpc>
                          <a:spcPct val="115000"/>
                        </a:lnSpc>
                        <a:spcBef>
                          <a:spcPts val="500"/>
                        </a:spcBef>
                        <a:spcAft>
                          <a:spcPts val="500"/>
                        </a:spcAft>
                      </a:pPr>
                      <a:r>
                        <a:rPr lang="bg-BG" sz="2200">
                          <a:solidFill>
                            <a:srgbClr val="000000"/>
                          </a:solidFill>
                          <a:latin typeface="Times New Roman" pitchFamily="18" charset="0"/>
                          <a:ea typeface="Times New Roman"/>
                          <a:cs typeface="Times New Roman" pitchFamily="18" charset="0"/>
                        </a:rPr>
                        <a:t>cmp{l,w,b} source1, source2</a:t>
                      </a:r>
                      <a:endParaRPr lang="bg-BG" sz="2200">
                        <a:latin typeface="Times New Roman" pitchFamily="18" charset="0"/>
                        <a:ea typeface="Times New Roman"/>
                        <a:cs typeface="Times New Roman" pitchFamily="18" charset="0"/>
                      </a:endParaRP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200">
                          <a:solidFill>
                            <a:srgbClr val="000000"/>
                          </a:solidFill>
                          <a:latin typeface="Times New Roman" pitchFamily="18" charset="0"/>
                          <a:ea typeface="Times New Roman"/>
                          <a:cs typeface="Times New Roman" pitchFamily="18" charset="0"/>
                        </a:rPr>
                        <a:t>Compare</a:t>
                      </a:r>
                      <a:endParaRPr lang="bg-BG" sz="2200">
                        <a:latin typeface="Times New Roman" pitchFamily="18" charset="0"/>
                        <a:ea typeface="Times New Roman"/>
                        <a:cs typeface="Times New Roman" pitchFamily="18" charset="0"/>
                      </a:endParaRP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1071546"/>
            <a:ext cx="8572560" cy="2500330"/>
          </a:xfrm>
        </p:spPr>
        <p:txBody>
          <a:bodyPr>
            <a:noAutofit/>
          </a:bodyPr>
          <a:lstStyle/>
          <a:p>
            <a:r>
              <a:rPr lang="bg-BG" sz="2400" b="1"/>
              <a:t>Инструкции за логическа обработка</a:t>
            </a:r>
            <a:endParaRPr lang="bg-BG" sz="2400"/>
          </a:p>
          <a:p>
            <a:r>
              <a:rPr lang="bg-BG"/>
              <a:t>Булеви операции над битове, дума и др. - not, and, or, xor, shiftL, shiftR, rotateL, rotateR .</a:t>
            </a:r>
          </a:p>
        </p:txBody>
      </p:sp>
      <p:graphicFrame>
        <p:nvGraphicFramePr>
          <p:cNvPr id="5" name="Table 4"/>
          <p:cNvGraphicFramePr>
            <a:graphicFrameLocks noGrp="1"/>
          </p:cNvGraphicFramePr>
          <p:nvPr/>
        </p:nvGraphicFramePr>
        <p:xfrm>
          <a:off x="214282" y="3857628"/>
          <a:ext cx="8715437" cy="1785951"/>
        </p:xfrm>
        <a:graphic>
          <a:graphicData uri="http://schemas.openxmlformats.org/drawingml/2006/table">
            <a:tbl>
              <a:tblPr/>
              <a:tblGrid>
                <a:gridCol w="1571637">
                  <a:extLst>
                    <a:ext uri="{9D8B030D-6E8A-4147-A177-3AD203B41FA5}">
                      <a16:colId xmlns:a16="http://schemas.microsoft.com/office/drawing/2014/main" val="20000"/>
                    </a:ext>
                  </a:extLst>
                </a:gridCol>
                <a:gridCol w="3786214">
                  <a:extLst>
                    <a:ext uri="{9D8B030D-6E8A-4147-A177-3AD203B41FA5}">
                      <a16:colId xmlns:a16="http://schemas.microsoft.com/office/drawing/2014/main" val="20001"/>
                    </a:ext>
                  </a:extLst>
                </a:gridCol>
                <a:gridCol w="3357586">
                  <a:extLst>
                    <a:ext uri="{9D8B030D-6E8A-4147-A177-3AD203B41FA5}">
                      <a16:colId xmlns:a16="http://schemas.microsoft.com/office/drawing/2014/main" val="20002"/>
                    </a:ext>
                  </a:extLst>
                </a:gridCol>
              </a:tblGrid>
              <a:tr h="787428">
                <a:tc rowSpan="3">
                  <a:txBody>
                    <a:bodyPr/>
                    <a:lstStyle/>
                    <a:p>
                      <a:pPr marL="38100" marR="38100">
                        <a:lnSpc>
                          <a:spcPct val="115000"/>
                        </a:lnSpc>
                        <a:spcBef>
                          <a:spcPts val="1000"/>
                        </a:spcBef>
                        <a:spcAft>
                          <a:spcPts val="0"/>
                        </a:spcAft>
                      </a:pPr>
                      <a:r>
                        <a:rPr lang="bg-BG" sz="2200" b="1" i="0">
                          <a:solidFill>
                            <a:srgbClr val="000000"/>
                          </a:solidFill>
                          <a:latin typeface="Times New Roman" pitchFamily="18" charset="0"/>
                          <a:ea typeface="Times New Roman"/>
                          <a:cs typeface="Times New Roman" pitchFamily="18" charset="0"/>
                        </a:rPr>
                        <a:t>Logic</a:t>
                      </a:r>
                      <a:endParaRPr lang="bg-BG" sz="2200" b="1" i="1">
                        <a:solidFill>
                          <a:srgbClr val="4F81BD"/>
                        </a:solidFill>
                        <a:latin typeface="Times New Roman" pitchFamily="18" charset="0"/>
                        <a:ea typeface="Times New Roman"/>
                        <a:cs typeface="Times New Roman" pitchFamily="18" charset="0"/>
                      </a:endParaRP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200">
                          <a:solidFill>
                            <a:srgbClr val="000000"/>
                          </a:solidFill>
                          <a:latin typeface="Times New Roman" pitchFamily="18" charset="0"/>
                          <a:ea typeface="Times New Roman"/>
                          <a:cs typeface="Times New Roman" pitchFamily="18" charset="0"/>
                        </a:rPr>
                        <a:t>and/or/xor/not{l,w,b} source, dest</a:t>
                      </a:r>
                      <a:endParaRPr lang="bg-BG" sz="2200">
                        <a:latin typeface="Times New Roman" pitchFamily="18" charset="0"/>
                        <a:ea typeface="Times New Roman"/>
                        <a:cs typeface="Times New Roman" pitchFamily="18" charset="0"/>
                      </a:endParaRP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200">
                          <a:solidFill>
                            <a:srgbClr val="000000"/>
                          </a:solidFill>
                          <a:latin typeface="Times New Roman" pitchFamily="18" charset="0"/>
                          <a:ea typeface="Times New Roman"/>
                          <a:cs typeface="Times New Roman" pitchFamily="18" charset="0"/>
                        </a:rPr>
                        <a:t>Logic and/or/xor/not operation</a:t>
                      </a:r>
                      <a:endParaRPr lang="bg-BG" sz="2200">
                        <a:latin typeface="Times New Roman" pitchFamily="18" charset="0"/>
                        <a:ea typeface="Times New Roman"/>
                        <a:cs typeface="Times New Roman" pitchFamily="18" charset="0"/>
                      </a:endParaRP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0"/>
                  </a:ext>
                </a:extLst>
              </a:tr>
              <a:tr h="595317">
                <a:tc vMerge="1">
                  <a:txBody>
                    <a:bodyPr/>
                    <a:lstStyle/>
                    <a:p>
                      <a:endParaRPr lang="bg-BG"/>
                    </a:p>
                  </a:txBody>
                  <a:tcPr/>
                </a:tc>
                <a:tc>
                  <a:txBody>
                    <a:bodyPr/>
                    <a:lstStyle/>
                    <a:p>
                      <a:pPr marL="38100" marR="38100">
                        <a:lnSpc>
                          <a:spcPct val="115000"/>
                        </a:lnSpc>
                        <a:spcBef>
                          <a:spcPts val="500"/>
                        </a:spcBef>
                        <a:spcAft>
                          <a:spcPts val="500"/>
                        </a:spcAft>
                      </a:pPr>
                      <a:r>
                        <a:rPr lang="bg-BG" sz="2200">
                          <a:solidFill>
                            <a:srgbClr val="000000"/>
                          </a:solidFill>
                          <a:latin typeface="Times New Roman" pitchFamily="18" charset="0"/>
                          <a:ea typeface="Times New Roman"/>
                          <a:cs typeface="Times New Roman" pitchFamily="18" charset="0"/>
                        </a:rPr>
                        <a:t>sal/sar{l,w,b} formats </a:t>
                      </a:r>
                      <a:endParaRPr lang="bg-BG" sz="2200">
                        <a:latin typeface="Times New Roman" pitchFamily="18" charset="0"/>
                        <a:ea typeface="Times New Roman"/>
                        <a:cs typeface="Times New Roman" pitchFamily="18" charset="0"/>
                      </a:endParaRP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200">
                          <a:solidFill>
                            <a:srgbClr val="000000"/>
                          </a:solidFill>
                          <a:latin typeface="Times New Roman" pitchFamily="18" charset="0"/>
                          <a:ea typeface="Times New Roman"/>
                          <a:cs typeface="Times New Roman" pitchFamily="18" charset="0"/>
                        </a:rPr>
                        <a:t>Arithmetic shift left/right</a:t>
                      </a:r>
                      <a:endParaRPr lang="bg-BG" sz="2200">
                        <a:latin typeface="Times New Roman" pitchFamily="18" charset="0"/>
                        <a:ea typeface="Times New Roman"/>
                        <a:cs typeface="Times New Roman" pitchFamily="18" charset="0"/>
                      </a:endParaRP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1"/>
                  </a:ext>
                </a:extLst>
              </a:tr>
              <a:tr h="403206">
                <a:tc vMerge="1">
                  <a:txBody>
                    <a:bodyPr/>
                    <a:lstStyle/>
                    <a:p>
                      <a:endParaRPr lang="bg-BG"/>
                    </a:p>
                  </a:txBody>
                  <a:tcPr/>
                </a:tc>
                <a:tc>
                  <a:txBody>
                    <a:bodyPr/>
                    <a:lstStyle/>
                    <a:p>
                      <a:pPr marL="38100" marR="38100">
                        <a:lnSpc>
                          <a:spcPct val="115000"/>
                        </a:lnSpc>
                        <a:spcBef>
                          <a:spcPts val="500"/>
                        </a:spcBef>
                        <a:spcAft>
                          <a:spcPts val="500"/>
                        </a:spcAft>
                      </a:pPr>
                      <a:r>
                        <a:rPr lang="bg-BG" sz="2200">
                          <a:solidFill>
                            <a:srgbClr val="000000"/>
                          </a:solidFill>
                          <a:latin typeface="Times New Roman" pitchFamily="18" charset="0"/>
                          <a:ea typeface="Times New Roman"/>
                          <a:cs typeface="Times New Roman" pitchFamily="18" charset="0"/>
                        </a:rPr>
                        <a:t>shl/shr{l,w,b} formats</a:t>
                      </a:r>
                      <a:endParaRPr lang="bg-BG" sz="2200">
                        <a:latin typeface="Times New Roman" pitchFamily="18" charset="0"/>
                        <a:ea typeface="Times New Roman"/>
                        <a:cs typeface="Times New Roman" pitchFamily="18" charset="0"/>
                      </a:endParaRP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200">
                          <a:solidFill>
                            <a:srgbClr val="000000"/>
                          </a:solidFill>
                          <a:latin typeface="Times New Roman" pitchFamily="18" charset="0"/>
                          <a:ea typeface="Times New Roman"/>
                          <a:cs typeface="Times New Roman" pitchFamily="18" charset="0"/>
                        </a:rPr>
                        <a:t>Logic shift left/right</a:t>
                      </a:r>
                      <a:endParaRPr lang="bg-BG" sz="2200">
                        <a:latin typeface="Times New Roman" pitchFamily="18" charset="0"/>
                        <a:ea typeface="Times New Roman"/>
                        <a:cs typeface="Times New Roman" pitchFamily="18" charset="0"/>
                      </a:endParaRPr>
                    </a:p>
                  </a:txBody>
                  <a:tcPr marL="9525" marR="9525" marT="9525" marB="9525"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1071546"/>
            <a:ext cx="8786874" cy="5500726"/>
          </a:xfrm>
        </p:spPr>
        <p:txBody>
          <a:bodyPr>
            <a:noAutofit/>
          </a:bodyPr>
          <a:lstStyle/>
          <a:p>
            <a:r>
              <a:rPr lang="bg-BG" sz="2200" b="1"/>
              <a:t>Инструкции за конвертиране на данните</a:t>
            </a:r>
            <a:endParaRPr lang="bg-BG" sz="2200"/>
          </a:p>
          <a:p>
            <a:pPr algn="just"/>
            <a:r>
              <a:rPr lang="bg-BG" sz="2200"/>
              <a:t>Форматират данните или променят техния формат (от десетична към двоична бройна система).</a:t>
            </a:r>
          </a:p>
          <a:p>
            <a:pPr algn="just"/>
            <a:r>
              <a:rPr lang="bg-BG" sz="2200" b="1"/>
              <a:t>Инструкции за управление на системата</a:t>
            </a:r>
            <a:endParaRPr lang="bg-BG" sz="2200"/>
          </a:p>
          <a:p>
            <a:pPr algn="just"/>
            <a:r>
              <a:rPr lang="bg-BG" sz="2200"/>
              <a:t>Привилегировани инструкции, които се използват в режим на супервайзор на ЦП и ОП. Такива са четене или зареждане на управляващите регистри, промяна на ключ за защита на паметта и други.</a:t>
            </a:r>
          </a:p>
          <a:p>
            <a:pPr algn="just"/>
            <a:r>
              <a:rPr lang="bg-BG" sz="2200" b="1"/>
              <a:t>Инструкции за предаване на управлението</a:t>
            </a:r>
            <a:endParaRPr lang="bg-BG" sz="2200"/>
          </a:p>
          <a:p>
            <a:pPr algn="just"/>
            <a:r>
              <a:rPr lang="bg-BG" sz="2200"/>
              <a:t>Те променят естествения ред на изпълнение на инструкциите в компютърната програма, като актуализират съдържанието на PC с адреса на инструкцията подлежаща на изпълнение. Включва инструкции за преход, извикване и връщане на процедура, примитиви за цикъл, прекъсване.</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126" y="1071546"/>
            <a:ext cx="8572592" cy="4143404"/>
          </a:xfrm>
        </p:spPr>
        <p:txBody>
          <a:bodyPr>
            <a:noAutofit/>
          </a:bodyPr>
          <a:lstStyle/>
          <a:p>
            <a:r>
              <a:rPr lang="bg-BG" sz="2200" b="1"/>
              <a:t>Инструкции за безусловен преход</a:t>
            </a:r>
            <a:endParaRPr lang="bg-BG" sz="2200"/>
          </a:p>
          <a:p>
            <a:r>
              <a:rPr lang="bg-BG" sz="2200"/>
              <a:t>JMP съдържат в адресното си поле адреса на следващата инструкция, която трябва да бъде изпълнена. Предизвиква зареждане на указания адрес на инструкцията в PC.</a:t>
            </a:r>
          </a:p>
          <a:p>
            <a:r>
              <a:rPr lang="bg-BG" sz="2200" b="1"/>
              <a:t>Инструкции за условен преход</a:t>
            </a:r>
            <a:endParaRPr lang="bg-BG" sz="2200"/>
          </a:p>
          <a:p>
            <a:r>
              <a:rPr lang="bg-BG" sz="2200"/>
              <a:t>Те тестват кода на условията CC (Condition Code), който включва флаг, отразяващ типа на резултата на определената операция. Когато е изпълнено условието, PC се зарежда с адреса на инструкцията, указана в адресното поле. В противен случай се изпълнява инструкцията, която следва от естествения ред на изпълнение.</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158" y="1785926"/>
            <a:ext cx="8572592" cy="3500462"/>
          </a:xfrm>
        </p:spPr>
        <p:txBody>
          <a:bodyPr>
            <a:noAutofit/>
          </a:bodyPr>
          <a:lstStyle/>
          <a:p>
            <a:r>
              <a:rPr lang="bg-BG" sz="2200" b="1"/>
              <a:t>Инструкции за символна обработка</a:t>
            </a:r>
            <a:endParaRPr lang="bg-BG" sz="2200"/>
          </a:p>
          <a:p>
            <a:r>
              <a:rPr lang="bg-BG" sz="2200"/>
              <a:t>MOVS трансфер на низ, CMPS сравнява два низа, търсене на шаблон, търсене на шаблон с канонично заместване, конкатенация, INS въвежда низ, OUTS извежда низ, REP повтаря указаната операция последователно за всеки елемент на низа.</a:t>
            </a:r>
          </a:p>
          <a:p>
            <a:r>
              <a:rPr lang="bg-BG" sz="2200" b="1"/>
              <a:t>Инструкции за вход и изход</a:t>
            </a:r>
            <a:endParaRPr lang="bg-BG" sz="2200"/>
          </a:p>
          <a:p>
            <a:r>
              <a:rPr lang="bg-BG" sz="2200"/>
              <a:t>Поддържат вход и изход на данни.</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323528" y="476672"/>
          <a:ext cx="8429683" cy="5923448"/>
        </p:xfrm>
        <a:graphic>
          <a:graphicData uri="http://schemas.openxmlformats.org/drawingml/2006/table">
            <a:tbl>
              <a:tblPr/>
              <a:tblGrid>
                <a:gridCol w="1428760">
                  <a:extLst>
                    <a:ext uri="{9D8B030D-6E8A-4147-A177-3AD203B41FA5}">
                      <a16:colId xmlns:a16="http://schemas.microsoft.com/office/drawing/2014/main" val="20000"/>
                    </a:ext>
                  </a:extLst>
                </a:gridCol>
                <a:gridCol w="3214710">
                  <a:extLst>
                    <a:ext uri="{9D8B030D-6E8A-4147-A177-3AD203B41FA5}">
                      <a16:colId xmlns:a16="http://schemas.microsoft.com/office/drawing/2014/main" val="20001"/>
                    </a:ext>
                  </a:extLst>
                </a:gridCol>
                <a:gridCol w="3786213">
                  <a:extLst>
                    <a:ext uri="{9D8B030D-6E8A-4147-A177-3AD203B41FA5}">
                      <a16:colId xmlns:a16="http://schemas.microsoft.com/office/drawing/2014/main" val="20002"/>
                    </a:ext>
                  </a:extLst>
                </a:gridCol>
              </a:tblGrid>
              <a:tr h="363636">
                <a:tc rowSpan="9">
                  <a:txBody>
                    <a:bodyPr/>
                    <a:lstStyle/>
                    <a:p>
                      <a:pPr marL="38100" marR="38100">
                        <a:lnSpc>
                          <a:spcPct val="115000"/>
                        </a:lnSpc>
                        <a:spcBef>
                          <a:spcPts val="1000"/>
                        </a:spcBef>
                        <a:spcAft>
                          <a:spcPts val="0"/>
                        </a:spcAft>
                      </a:pPr>
                      <a:r>
                        <a:rPr lang="bg-BG" sz="2300" b="1" i="0">
                          <a:solidFill>
                            <a:srgbClr val="000000"/>
                          </a:solidFill>
                          <a:latin typeface="Times New Roman" pitchFamily="18" charset="0"/>
                          <a:ea typeface="Times New Roman"/>
                          <a:cs typeface="Times New Roman" pitchFamily="18" charset="0"/>
                        </a:rPr>
                        <a:t>Control transfer</a:t>
                      </a:r>
                      <a:endParaRPr lang="bg-BG" sz="2300" b="1" i="1">
                        <a:solidFill>
                          <a:srgbClr val="4F81BD"/>
                        </a:solidFill>
                        <a:latin typeface="Times New Roman" pitchFamily="18" charset="0"/>
                        <a:ea typeface="Times New Roman"/>
                        <a:cs typeface="Times New Roman" pitchFamily="18" charset="0"/>
                      </a:endParaRPr>
                    </a:p>
                    <a:p>
                      <a:pPr marL="38100" marR="38100">
                        <a:lnSpc>
                          <a:spcPct val="115000"/>
                        </a:lnSpc>
                        <a:spcBef>
                          <a:spcPts val="500"/>
                        </a:spcBef>
                        <a:spcAft>
                          <a:spcPts val="500"/>
                        </a:spcAft>
                      </a:pPr>
                      <a:r>
                        <a:rPr lang="bg-BG" sz="2300">
                          <a:solidFill>
                            <a:srgbClr val="000000"/>
                          </a:solidFill>
                          <a:latin typeface="Times New Roman" pitchFamily="18" charset="0"/>
                          <a:ea typeface="Times New Roman"/>
                          <a:cs typeface="Times New Roman" pitchFamily="18" charset="0"/>
                        </a:rPr>
                        <a:t> </a:t>
                      </a:r>
                      <a:endParaRPr lang="bg-BG" sz="2300">
                        <a:latin typeface="Times New Roman" pitchFamily="18" charset="0"/>
                        <a:ea typeface="Times New Roman"/>
                        <a:cs typeface="Times New Roman" pitchFamily="18" charset="0"/>
                      </a:endParaRPr>
                    </a:p>
                    <a:p>
                      <a:pPr marL="38100" marR="38100">
                        <a:lnSpc>
                          <a:spcPct val="115000"/>
                        </a:lnSpc>
                        <a:spcBef>
                          <a:spcPts val="500"/>
                        </a:spcBef>
                        <a:spcAft>
                          <a:spcPts val="500"/>
                        </a:spcAft>
                      </a:pPr>
                      <a:r>
                        <a:rPr lang="bg-BG" sz="2300">
                          <a:solidFill>
                            <a:srgbClr val="000000"/>
                          </a:solidFill>
                          <a:latin typeface="Times New Roman" pitchFamily="18" charset="0"/>
                          <a:ea typeface="Times New Roman"/>
                          <a:cs typeface="Times New Roman" pitchFamily="18" charset="0"/>
                        </a:rPr>
                        <a:t> </a:t>
                      </a:r>
                      <a:endParaRPr lang="bg-BG" sz="2300">
                        <a:latin typeface="Times New Roman" pitchFamily="18" charset="0"/>
                        <a:ea typeface="Times New Roman"/>
                        <a:cs typeface="Times New Roman" pitchFamily="18" charset="0"/>
                      </a:endParaRPr>
                    </a:p>
                  </a:txBody>
                  <a:tcPr marL="5443" marR="5443" marT="5443" marB="5443"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300">
                          <a:solidFill>
                            <a:srgbClr val="000000"/>
                          </a:solidFill>
                          <a:latin typeface="Times New Roman" pitchFamily="18" charset="0"/>
                          <a:ea typeface="Times New Roman"/>
                          <a:cs typeface="Times New Roman" pitchFamily="18" charset="0"/>
                        </a:rPr>
                        <a:t>jmp address</a:t>
                      </a:r>
                      <a:endParaRPr lang="bg-BG" sz="2300">
                        <a:latin typeface="Times New Roman" pitchFamily="18" charset="0"/>
                        <a:ea typeface="Times New Roman"/>
                        <a:cs typeface="Times New Roman" pitchFamily="18" charset="0"/>
                      </a:endParaRPr>
                    </a:p>
                  </a:txBody>
                  <a:tcPr marL="5443" marR="5443" marT="5443" marB="5443"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300">
                          <a:solidFill>
                            <a:srgbClr val="000000"/>
                          </a:solidFill>
                          <a:latin typeface="Times New Roman" pitchFamily="18" charset="0"/>
                          <a:ea typeface="Times New Roman"/>
                          <a:cs typeface="Times New Roman" pitchFamily="18" charset="0"/>
                        </a:rPr>
                        <a:t>Unconditional jump</a:t>
                      </a:r>
                      <a:endParaRPr lang="bg-BG" sz="2300">
                        <a:latin typeface="Times New Roman" pitchFamily="18" charset="0"/>
                        <a:ea typeface="Times New Roman"/>
                        <a:cs typeface="Times New Roman" pitchFamily="18" charset="0"/>
                      </a:endParaRPr>
                    </a:p>
                  </a:txBody>
                  <a:tcPr marL="5443" marR="5443" marT="5443" marB="5443"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0"/>
                  </a:ext>
                </a:extLst>
              </a:tr>
              <a:tr h="451556">
                <a:tc vMerge="1">
                  <a:txBody>
                    <a:bodyPr/>
                    <a:lstStyle/>
                    <a:p>
                      <a:endParaRPr lang="bg-BG"/>
                    </a:p>
                  </a:txBody>
                  <a:tcPr/>
                </a:tc>
                <a:tc>
                  <a:txBody>
                    <a:bodyPr/>
                    <a:lstStyle/>
                    <a:p>
                      <a:pPr marL="38100" marR="38100">
                        <a:lnSpc>
                          <a:spcPct val="115000"/>
                        </a:lnSpc>
                        <a:spcBef>
                          <a:spcPts val="500"/>
                        </a:spcBef>
                        <a:spcAft>
                          <a:spcPts val="500"/>
                        </a:spcAft>
                      </a:pPr>
                      <a:r>
                        <a:rPr lang="bg-BG" sz="2300">
                          <a:solidFill>
                            <a:srgbClr val="000000"/>
                          </a:solidFill>
                          <a:latin typeface="Times New Roman" pitchFamily="18" charset="0"/>
                          <a:ea typeface="Times New Roman"/>
                          <a:cs typeface="Times New Roman" pitchFamily="18" charset="0"/>
                        </a:rPr>
                        <a:t>call address</a:t>
                      </a:r>
                      <a:endParaRPr lang="bg-BG" sz="2300">
                        <a:latin typeface="Times New Roman" pitchFamily="18" charset="0"/>
                        <a:ea typeface="Times New Roman"/>
                        <a:cs typeface="Times New Roman" pitchFamily="18" charset="0"/>
                      </a:endParaRPr>
                    </a:p>
                  </a:txBody>
                  <a:tcPr marL="5443" marR="5443" marT="5443" marB="5443"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300">
                          <a:solidFill>
                            <a:srgbClr val="000000"/>
                          </a:solidFill>
                          <a:latin typeface="Times New Roman" pitchFamily="18" charset="0"/>
                          <a:ea typeface="Times New Roman"/>
                          <a:cs typeface="Times New Roman" pitchFamily="18" charset="0"/>
                        </a:rPr>
                        <a:t>Save EIP on the stack jump to address</a:t>
                      </a:r>
                      <a:endParaRPr lang="bg-BG" sz="2300">
                        <a:latin typeface="Times New Roman" pitchFamily="18" charset="0"/>
                        <a:ea typeface="Times New Roman"/>
                        <a:cs typeface="Times New Roman" pitchFamily="18" charset="0"/>
                      </a:endParaRPr>
                    </a:p>
                  </a:txBody>
                  <a:tcPr marL="5443" marR="5443" marT="5443" marB="5443"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1"/>
                  </a:ext>
                </a:extLst>
              </a:tr>
              <a:tr h="561723">
                <a:tc vMerge="1">
                  <a:txBody>
                    <a:bodyPr/>
                    <a:lstStyle/>
                    <a:p>
                      <a:endParaRPr lang="bg-BG"/>
                    </a:p>
                  </a:txBody>
                  <a:tcPr/>
                </a:tc>
                <a:tc>
                  <a:txBody>
                    <a:bodyPr/>
                    <a:lstStyle/>
                    <a:p>
                      <a:pPr marL="38100" marR="38100">
                        <a:lnSpc>
                          <a:spcPct val="115000"/>
                        </a:lnSpc>
                        <a:spcBef>
                          <a:spcPts val="500"/>
                        </a:spcBef>
                        <a:spcAft>
                          <a:spcPts val="500"/>
                        </a:spcAft>
                      </a:pPr>
                      <a:r>
                        <a:rPr lang="bg-BG" sz="2300">
                          <a:solidFill>
                            <a:srgbClr val="000000"/>
                          </a:solidFill>
                          <a:latin typeface="Times New Roman" pitchFamily="18" charset="0"/>
                          <a:ea typeface="Times New Roman"/>
                          <a:cs typeface="Times New Roman" pitchFamily="18" charset="0"/>
                        </a:rPr>
                        <a:t>ret</a:t>
                      </a:r>
                      <a:endParaRPr lang="bg-BG" sz="2300">
                        <a:latin typeface="Times New Roman" pitchFamily="18" charset="0"/>
                        <a:ea typeface="Times New Roman"/>
                        <a:cs typeface="Times New Roman" pitchFamily="18" charset="0"/>
                      </a:endParaRPr>
                    </a:p>
                  </a:txBody>
                  <a:tcPr marL="5443" marR="5443" marT="5443" marB="5443"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300">
                          <a:solidFill>
                            <a:srgbClr val="000000"/>
                          </a:solidFill>
                          <a:latin typeface="Times New Roman" pitchFamily="18" charset="0"/>
                          <a:ea typeface="Times New Roman"/>
                          <a:cs typeface="Times New Roman" pitchFamily="18" charset="0"/>
                        </a:rPr>
                        <a:t>Return to the EIP location saved by call</a:t>
                      </a:r>
                      <a:endParaRPr lang="bg-BG" sz="2300">
                        <a:latin typeface="Times New Roman" pitchFamily="18" charset="0"/>
                        <a:ea typeface="Times New Roman"/>
                        <a:cs typeface="Times New Roman" pitchFamily="18" charset="0"/>
                      </a:endParaRPr>
                    </a:p>
                  </a:txBody>
                  <a:tcPr marL="5443" marR="5443" marT="5443" marB="5443"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2"/>
                  </a:ext>
                </a:extLst>
              </a:tr>
              <a:tr h="561723">
                <a:tc vMerge="1">
                  <a:txBody>
                    <a:bodyPr/>
                    <a:lstStyle/>
                    <a:p>
                      <a:endParaRPr lang="bg-BG"/>
                    </a:p>
                  </a:txBody>
                  <a:tcPr/>
                </a:tc>
                <a:tc>
                  <a:txBody>
                    <a:bodyPr/>
                    <a:lstStyle/>
                    <a:p>
                      <a:pPr marL="38100" marR="38100">
                        <a:lnSpc>
                          <a:spcPct val="115000"/>
                        </a:lnSpc>
                        <a:spcBef>
                          <a:spcPts val="500"/>
                        </a:spcBef>
                        <a:spcAft>
                          <a:spcPts val="500"/>
                        </a:spcAft>
                      </a:pPr>
                      <a:r>
                        <a:rPr lang="bg-BG" sz="2300">
                          <a:solidFill>
                            <a:srgbClr val="000000"/>
                          </a:solidFill>
                          <a:latin typeface="Times New Roman" pitchFamily="18" charset="0"/>
                          <a:ea typeface="Times New Roman"/>
                          <a:cs typeface="Times New Roman" pitchFamily="18" charset="0"/>
                        </a:rPr>
                        <a:t>leave</a:t>
                      </a:r>
                      <a:endParaRPr lang="bg-BG" sz="2300">
                        <a:latin typeface="Times New Roman" pitchFamily="18" charset="0"/>
                        <a:ea typeface="Times New Roman"/>
                        <a:cs typeface="Times New Roman" pitchFamily="18" charset="0"/>
                      </a:endParaRPr>
                    </a:p>
                  </a:txBody>
                  <a:tcPr marL="5443" marR="5443" marT="5443" marB="5443"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300">
                          <a:solidFill>
                            <a:srgbClr val="000000"/>
                          </a:solidFill>
                          <a:latin typeface="Times New Roman" pitchFamily="18" charset="0"/>
                          <a:ea typeface="Times New Roman"/>
                          <a:cs typeface="Times New Roman" pitchFamily="18" charset="0"/>
                        </a:rPr>
                        <a:t>Restore EBP from the stack; pop off the stack frame</a:t>
                      </a:r>
                      <a:endParaRPr lang="bg-BG" sz="2300">
                        <a:latin typeface="Times New Roman" pitchFamily="18" charset="0"/>
                        <a:ea typeface="Times New Roman"/>
                        <a:cs typeface="Times New Roman" pitchFamily="18" charset="0"/>
                      </a:endParaRPr>
                    </a:p>
                  </a:txBody>
                  <a:tcPr marL="5443" marR="5443" marT="5443" marB="5443"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3"/>
                  </a:ext>
                </a:extLst>
              </a:tr>
              <a:tr h="451556">
                <a:tc vMerge="1">
                  <a:txBody>
                    <a:bodyPr/>
                    <a:lstStyle/>
                    <a:p>
                      <a:endParaRPr lang="bg-BG"/>
                    </a:p>
                  </a:txBody>
                  <a:tcPr/>
                </a:tc>
                <a:tc>
                  <a:txBody>
                    <a:bodyPr/>
                    <a:lstStyle/>
                    <a:p>
                      <a:pPr marL="38100" marR="47625">
                        <a:lnSpc>
                          <a:spcPct val="115000"/>
                        </a:lnSpc>
                        <a:spcBef>
                          <a:spcPts val="500"/>
                        </a:spcBef>
                        <a:spcAft>
                          <a:spcPts val="500"/>
                        </a:spcAft>
                      </a:pPr>
                      <a:r>
                        <a:rPr lang="bg-BG" sz="2300">
                          <a:solidFill>
                            <a:srgbClr val="000000"/>
                          </a:solidFill>
                          <a:latin typeface="Times New Roman" pitchFamily="18" charset="0"/>
                          <a:ea typeface="Times New Roman"/>
                          <a:cs typeface="Times New Roman" pitchFamily="18" charset="0"/>
                        </a:rPr>
                        <a:t>j{e,ne,l,le,g,ge} address</a:t>
                      </a:r>
                      <a:endParaRPr lang="bg-BG" sz="2300">
                        <a:latin typeface="Times New Roman" pitchFamily="18" charset="0"/>
                        <a:ea typeface="Times New Roman"/>
                        <a:cs typeface="Times New Roman" pitchFamily="18" charset="0"/>
                      </a:endParaRPr>
                    </a:p>
                  </a:txBody>
                  <a:tcPr marL="5443" marR="5443" marT="5443" marB="5443"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47625">
                        <a:lnSpc>
                          <a:spcPct val="115000"/>
                        </a:lnSpc>
                        <a:spcBef>
                          <a:spcPts val="500"/>
                        </a:spcBef>
                        <a:spcAft>
                          <a:spcPts val="500"/>
                        </a:spcAft>
                      </a:pPr>
                      <a:r>
                        <a:rPr lang="bg-BG" sz="2300">
                          <a:solidFill>
                            <a:srgbClr val="000000"/>
                          </a:solidFill>
                          <a:latin typeface="Times New Roman" pitchFamily="18" charset="0"/>
                          <a:ea typeface="Times New Roman"/>
                          <a:cs typeface="Times New Roman" pitchFamily="18" charset="0"/>
                        </a:rPr>
                        <a:t>Jump to address if {=,!=,&lt;,&lt;=,&gt;,&gt;=}</a:t>
                      </a:r>
                      <a:endParaRPr lang="bg-BG" sz="2300">
                        <a:latin typeface="Times New Roman" pitchFamily="18" charset="0"/>
                        <a:ea typeface="Times New Roman"/>
                        <a:cs typeface="Times New Roman" pitchFamily="18" charset="0"/>
                      </a:endParaRPr>
                    </a:p>
                  </a:txBody>
                  <a:tcPr marL="5443" marR="5443" marT="5443" marB="5443"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4"/>
                  </a:ext>
                </a:extLst>
              </a:tr>
              <a:tr h="341388">
                <a:tc vMerge="1">
                  <a:txBody>
                    <a:bodyPr/>
                    <a:lstStyle/>
                    <a:p>
                      <a:endParaRPr lang="bg-BG"/>
                    </a:p>
                  </a:txBody>
                  <a:tcPr/>
                </a:tc>
                <a:tc>
                  <a:txBody>
                    <a:bodyPr/>
                    <a:lstStyle/>
                    <a:p>
                      <a:pPr marL="38100" marR="38100">
                        <a:lnSpc>
                          <a:spcPct val="115000"/>
                        </a:lnSpc>
                        <a:spcBef>
                          <a:spcPts val="500"/>
                        </a:spcBef>
                        <a:spcAft>
                          <a:spcPts val="500"/>
                        </a:spcAft>
                      </a:pPr>
                      <a:r>
                        <a:rPr lang="bg-BG" sz="2300">
                          <a:solidFill>
                            <a:srgbClr val="000000"/>
                          </a:solidFill>
                          <a:latin typeface="Times New Roman" pitchFamily="18" charset="0"/>
                          <a:ea typeface="Times New Roman"/>
                          <a:cs typeface="Times New Roman" pitchFamily="18" charset="0"/>
                        </a:rPr>
                        <a:t>loop address</a:t>
                      </a:r>
                      <a:endParaRPr lang="bg-BG" sz="2300">
                        <a:latin typeface="Times New Roman" pitchFamily="18" charset="0"/>
                        <a:ea typeface="Times New Roman"/>
                        <a:cs typeface="Times New Roman" pitchFamily="18" charset="0"/>
                      </a:endParaRPr>
                    </a:p>
                  </a:txBody>
                  <a:tcPr marL="5443" marR="5443" marT="5443" marB="5443"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300">
                          <a:solidFill>
                            <a:srgbClr val="000000"/>
                          </a:solidFill>
                          <a:latin typeface="Times New Roman" pitchFamily="18" charset="0"/>
                          <a:ea typeface="Times New Roman"/>
                          <a:cs typeface="Times New Roman" pitchFamily="18" charset="0"/>
                        </a:rPr>
                        <a:t>Decrement ECX or CX; jump if = 0</a:t>
                      </a:r>
                      <a:endParaRPr lang="bg-BG" sz="2300">
                        <a:latin typeface="Times New Roman" pitchFamily="18" charset="0"/>
                        <a:ea typeface="Times New Roman"/>
                        <a:cs typeface="Times New Roman" pitchFamily="18" charset="0"/>
                      </a:endParaRPr>
                    </a:p>
                  </a:txBody>
                  <a:tcPr marL="5443" marR="5443" marT="5443" marB="5443"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5"/>
                  </a:ext>
                </a:extLst>
              </a:tr>
              <a:tr h="451556">
                <a:tc vMerge="1">
                  <a:txBody>
                    <a:bodyPr/>
                    <a:lstStyle/>
                    <a:p>
                      <a:endParaRPr lang="bg-BG"/>
                    </a:p>
                  </a:txBody>
                  <a:tcPr/>
                </a:tc>
                <a:tc>
                  <a:txBody>
                    <a:bodyPr/>
                    <a:lstStyle/>
                    <a:p>
                      <a:pPr marL="38100" marR="38100">
                        <a:lnSpc>
                          <a:spcPct val="115000"/>
                        </a:lnSpc>
                        <a:spcBef>
                          <a:spcPts val="500"/>
                        </a:spcBef>
                        <a:spcAft>
                          <a:spcPts val="500"/>
                        </a:spcAft>
                      </a:pPr>
                      <a:r>
                        <a:rPr lang="bg-BG" sz="2300">
                          <a:solidFill>
                            <a:srgbClr val="000000"/>
                          </a:solidFill>
                          <a:latin typeface="Times New Roman" pitchFamily="18" charset="0"/>
                          <a:ea typeface="Times New Roman"/>
                          <a:cs typeface="Times New Roman" pitchFamily="18" charset="0"/>
                        </a:rPr>
                        <a:t>rep</a:t>
                      </a:r>
                      <a:endParaRPr lang="bg-BG" sz="2300">
                        <a:latin typeface="Times New Roman" pitchFamily="18" charset="0"/>
                        <a:ea typeface="Times New Roman"/>
                        <a:cs typeface="Times New Roman" pitchFamily="18" charset="0"/>
                      </a:endParaRPr>
                    </a:p>
                  </a:txBody>
                  <a:tcPr marL="5443" marR="5443" marT="5443" marB="5443"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300">
                          <a:solidFill>
                            <a:srgbClr val="000000"/>
                          </a:solidFill>
                          <a:latin typeface="Times New Roman" pitchFamily="18" charset="0"/>
                          <a:ea typeface="Times New Roman"/>
                          <a:cs typeface="Times New Roman" pitchFamily="18" charset="0"/>
                        </a:rPr>
                        <a:t>Repeat string operation prefix</a:t>
                      </a:r>
                      <a:endParaRPr lang="bg-BG" sz="2300">
                        <a:latin typeface="Times New Roman" pitchFamily="18" charset="0"/>
                        <a:ea typeface="Times New Roman"/>
                        <a:cs typeface="Times New Roman" pitchFamily="18" charset="0"/>
                      </a:endParaRPr>
                    </a:p>
                  </a:txBody>
                  <a:tcPr marL="5443" marR="5443" marT="5443" marB="5443"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6"/>
                  </a:ext>
                </a:extLst>
              </a:tr>
              <a:tr h="231221">
                <a:tc vMerge="1">
                  <a:txBody>
                    <a:bodyPr/>
                    <a:lstStyle/>
                    <a:p>
                      <a:endParaRPr lang="bg-BG"/>
                    </a:p>
                  </a:txBody>
                  <a:tcPr/>
                </a:tc>
                <a:tc>
                  <a:txBody>
                    <a:bodyPr/>
                    <a:lstStyle/>
                    <a:p>
                      <a:pPr marL="38100" marR="38100">
                        <a:lnSpc>
                          <a:spcPct val="115000"/>
                        </a:lnSpc>
                        <a:spcBef>
                          <a:spcPts val="500"/>
                        </a:spcBef>
                        <a:spcAft>
                          <a:spcPts val="500"/>
                        </a:spcAft>
                      </a:pPr>
                      <a:r>
                        <a:rPr lang="bg-BG" sz="2300">
                          <a:solidFill>
                            <a:srgbClr val="000000"/>
                          </a:solidFill>
                          <a:latin typeface="Times New Roman" pitchFamily="18" charset="0"/>
                          <a:ea typeface="Times New Roman"/>
                          <a:cs typeface="Times New Roman" pitchFamily="18" charset="0"/>
                        </a:rPr>
                        <a:t>int number</a:t>
                      </a:r>
                      <a:endParaRPr lang="bg-BG" sz="2300">
                        <a:latin typeface="Times New Roman" pitchFamily="18" charset="0"/>
                        <a:ea typeface="Times New Roman"/>
                        <a:cs typeface="Times New Roman" pitchFamily="18" charset="0"/>
                      </a:endParaRPr>
                    </a:p>
                  </a:txBody>
                  <a:tcPr marL="5443" marR="5443" marT="5443" marB="5443"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300">
                          <a:solidFill>
                            <a:srgbClr val="000000"/>
                          </a:solidFill>
                          <a:latin typeface="Times New Roman" pitchFamily="18" charset="0"/>
                          <a:ea typeface="Times New Roman"/>
                          <a:cs typeface="Times New Roman" pitchFamily="18" charset="0"/>
                        </a:rPr>
                        <a:t>Software interrupt</a:t>
                      </a:r>
                      <a:endParaRPr lang="bg-BG" sz="2300">
                        <a:latin typeface="Times New Roman" pitchFamily="18" charset="0"/>
                        <a:ea typeface="Times New Roman"/>
                        <a:cs typeface="Times New Roman" pitchFamily="18" charset="0"/>
                      </a:endParaRPr>
                    </a:p>
                  </a:txBody>
                  <a:tcPr marL="5443" marR="5443" marT="5443" marB="5443"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7"/>
                  </a:ext>
                </a:extLst>
              </a:tr>
              <a:tr h="782058">
                <a:tc vMerge="1">
                  <a:txBody>
                    <a:bodyPr/>
                    <a:lstStyle/>
                    <a:p>
                      <a:endParaRPr lang="bg-BG"/>
                    </a:p>
                  </a:txBody>
                  <a:tcPr/>
                </a:tc>
                <a:tc>
                  <a:txBody>
                    <a:bodyPr/>
                    <a:lstStyle/>
                    <a:p>
                      <a:pPr marL="38100" marR="38100">
                        <a:lnSpc>
                          <a:spcPct val="115000"/>
                        </a:lnSpc>
                        <a:spcBef>
                          <a:spcPts val="500"/>
                        </a:spcBef>
                        <a:spcAft>
                          <a:spcPts val="500"/>
                        </a:spcAft>
                      </a:pPr>
                      <a:r>
                        <a:rPr lang="bg-BG" sz="2300">
                          <a:solidFill>
                            <a:srgbClr val="000000"/>
                          </a:solidFill>
                          <a:latin typeface="Times New Roman" pitchFamily="18" charset="0"/>
                          <a:ea typeface="Times New Roman"/>
                          <a:cs typeface="Times New Roman" pitchFamily="18" charset="0"/>
                        </a:rPr>
                        <a:t>iret</a:t>
                      </a:r>
                      <a:endParaRPr lang="bg-BG" sz="2300">
                        <a:latin typeface="Times New Roman" pitchFamily="18" charset="0"/>
                        <a:ea typeface="Times New Roman"/>
                        <a:cs typeface="Times New Roman" pitchFamily="18" charset="0"/>
                      </a:endParaRPr>
                    </a:p>
                  </a:txBody>
                  <a:tcPr marL="5443" marR="5443" marT="5443" marB="5443"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tc>
                  <a:txBody>
                    <a:bodyPr/>
                    <a:lstStyle/>
                    <a:p>
                      <a:pPr marL="38100" marR="38100">
                        <a:lnSpc>
                          <a:spcPct val="115000"/>
                        </a:lnSpc>
                        <a:spcBef>
                          <a:spcPts val="500"/>
                        </a:spcBef>
                        <a:spcAft>
                          <a:spcPts val="500"/>
                        </a:spcAft>
                      </a:pPr>
                      <a:r>
                        <a:rPr lang="bg-BG" sz="2300">
                          <a:solidFill>
                            <a:srgbClr val="000000"/>
                          </a:solidFill>
                          <a:latin typeface="Times New Roman" pitchFamily="18" charset="0"/>
                          <a:ea typeface="Times New Roman"/>
                          <a:cs typeface="Times New Roman" pitchFamily="18" charset="0"/>
                        </a:rPr>
                        <a:t>Return from interrupt; pop EFLAGS from the stack</a:t>
                      </a:r>
                      <a:endParaRPr lang="bg-BG" sz="2300">
                        <a:latin typeface="Times New Roman" pitchFamily="18" charset="0"/>
                        <a:ea typeface="Times New Roman"/>
                        <a:cs typeface="Times New Roman" pitchFamily="18" charset="0"/>
                      </a:endParaRPr>
                    </a:p>
                  </a:txBody>
                  <a:tcPr marL="5443" marR="5443" marT="5443" marB="5443" anchor="ctr">
                    <a:lnL>
                      <a:noFill/>
                    </a:lnL>
                    <a:lnR>
                      <a:noFill/>
                    </a:lnR>
                    <a:lnT>
                      <a:noFill/>
                    </a:lnT>
                    <a:lnB>
                      <a:noFill/>
                    </a:lnB>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tcPr>
                </a:tc>
                <a:extLst>
                  <a:ext uri="{0D108BD9-81ED-4DB2-BD59-A6C34878D82A}">
                    <a16:rowId xmlns:a16="http://schemas.microsoft.com/office/drawing/2014/main" val="10008"/>
                  </a:ext>
                </a:extLst>
              </a:tr>
            </a:tbl>
          </a:graphicData>
        </a:graphic>
      </p:graphicFrame>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fa43d559-56ce-40e4-b5e0-b1d2f1c6a948" xsi:nil="true"/>
    <lcf76f155ced4ddcb4097134ff3c332f xmlns="1170580e-cc85-4814-90d0-7c45caf95435">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Документ" ma:contentTypeID="0x0101002815A41C86513B4096C6BAC35CB04A7C" ma:contentTypeVersion="11" ma:contentTypeDescription="Създаване на нов документ" ma:contentTypeScope="" ma:versionID="aeaffb348d2b52f24d410ae28bdf175e">
  <xsd:schema xmlns:xsd="http://www.w3.org/2001/XMLSchema" xmlns:xs="http://www.w3.org/2001/XMLSchema" xmlns:p="http://schemas.microsoft.com/office/2006/metadata/properties" xmlns:ns2="1170580e-cc85-4814-90d0-7c45caf95435" xmlns:ns3="fa43d559-56ce-40e4-b5e0-b1d2f1c6a948" targetNamespace="http://schemas.microsoft.com/office/2006/metadata/properties" ma:root="true" ma:fieldsID="2b6c80141cda9f3fb17d02d04063fe73" ns2:_="" ns3:_="">
    <xsd:import namespace="1170580e-cc85-4814-90d0-7c45caf95435"/>
    <xsd:import namespace="fa43d559-56ce-40e4-b5e0-b1d2f1c6a94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170580e-cc85-4814-90d0-7c45caf9543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Етикети за изображения" ma:readOnly="false" ma:fieldId="{5cf76f15-5ced-4ddc-b409-7134ff3c332f}" ma:taxonomyMulti="true" ma:sspId="f94169f7-4ae2-4031-b8fa-636baa109d89"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a43d559-56ce-40e4-b5e0-b1d2f1c6a948"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8ac84de-a7dc-4418-88f8-8ba02af593f2}" ma:internalName="TaxCatchAll" ma:showField="CatchAllData" ma:web="fa43d559-56ce-40e4-b5e0-b1d2f1c6a94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съдържание"/>
        <xsd:element ref="dc:title" minOccurs="0" maxOccurs="1" ma:index="4" ma:displayName="Заглав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640A2F1-26B9-43F5-AEB5-217F26AA7FC9}">
  <ds:schemaRefs>
    <ds:schemaRef ds:uri="http://schemas.microsoft.com/office/2006/metadata/properties"/>
    <ds:schemaRef ds:uri="http://schemas.microsoft.com/office/infopath/2007/PartnerControls"/>
    <ds:schemaRef ds:uri="fa43d559-56ce-40e4-b5e0-b1d2f1c6a948"/>
    <ds:schemaRef ds:uri="1170580e-cc85-4814-90d0-7c45caf95435"/>
  </ds:schemaRefs>
</ds:datastoreItem>
</file>

<file path=customXml/itemProps2.xml><?xml version="1.0" encoding="utf-8"?>
<ds:datastoreItem xmlns:ds="http://schemas.openxmlformats.org/officeDocument/2006/customXml" ds:itemID="{1C719B42-22E2-4864-A9E6-FFDB15415070}">
  <ds:schemaRefs>
    <ds:schemaRef ds:uri="http://schemas.microsoft.com/sharepoint/v3/contenttype/forms"/>
  </ds:schemaRefs>
</ds:datastoreItem>
</file>

<file path=customXml/itemProps3.xml><?xml version="1.0" encoding="utf-8"?>
<ds:datastoreItem xmlns:ds="http://schemas.openxmlformats.org/officeDocument/2006/customXml" ds:itemID="{EB9417BB-A7C2-49BB-A534-9E045F78637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170580e-cc85-4814-90d0-7c45caf95435"/>
    <ds:schemaRef ds:uri="fa43d559-56ce-40e4-b5e0-b1d2f1c6a94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Flow</Template>
  <Application>Microsoft Office PowerPoint</Application>
  <PresentationFormat>On-screen Show (4:3)</PresentationFormat>
  <Slides>61</Slides>
  <Notes>1</Notes>
  <HiddenSlides>0</HiddenSlides>
  <ScaleCrop>false</ScaleCrop>
  <HeadingPairs>
    <vt:vector size="4" baseType="variant">
      <vt:variant>
        <vt:lpstr>Theme</vt:lpstr>
      </vt:variant>
      <vt:variant>
        <vt:i4>1</vt:i4>
      </vt:variant>
      <vt:variant>
        <vt:lpstr>Slide Titles</vt:lpstr>
      </vt:variant>
      <vt:variant>
        <vt:i4>61</vt:i4>
      </vt:variant>
    </vt:vector>
  </HeadingPairs>
  <TitlesOfParts>
    <vt:vector size="62" baseType="lpstr">
      <vt:lpstr>Flow</vt:lpstr>
      <vt:lpstr>Програмен модел на микропроцесор IA-32. Методи за адресация. Формати на данните. Структура на паметта. Таблица с инструкции за микропроцесора.</vt:lpstr>
      <vt:lpstr>  IA-32</vt:lpstr>
      <vt:lpstr>  IA-32</vt:lpstr>
      <vt:lpstr> </vt:lpstr>
      <vt:lpstr> </vt:lpstr>
      <vt:lpstr>PowerPoint Presentation</vt:lpstr>
      <vt:lpstr>Режими на работа</vt:lpstr>
      <vt:lpstr>Режими на работа</vt:lpstr>
      <vt:lpstr> Програмен модел на IA-32.</vt:lpstr>
      <vt:lpstr>PowerPoint Presentation</vt:lpstr>
      <vt:lpstr>Режими на работа</vt:lpstr>
      <vt:lpstr>Регистри на IA-32</vt:lpstr>
      <vt:lpstr>Регистри на IA-32</vt:lpstr>
      <vt:lpstr>Регистри с множествено предназначение</vt:lpstr>
      <vt:lpstr>Регистри с множествено предназначение</vt:lpstr>
      <vt:lpstr>Регистри с множествено предназначение</vt:lpstr>
      <vt:lpstr>Регистри с множествено предназначение</vt:lpstr>
      <vt:lpstr>Регистри със специално предназначение. </vt:lpstr>
      <vt:lpstr>Регистри със специално предназначение. </vt:lpstr>
      <vt:lpstr>PowerPoint Presentation</vt:lpstr>
      <vt:lpstr>Регистри със специално предназначение. </vt:lpstr>
      <vt:lpstr>Регистри със специално предназначение. </vt:lpstr>
      <vt:lpstr>Регистри със специално предназначение. </vt:lpstr>
      <vt:lpstr>Регистри със специално предназначение. </vt:lpstr>
      <vt:lpstr>Регистри със специално предназначение. </vt:lpstr>
      <vt:lpstr>Регистри със специално предназначение. </vt:lpstr>
      <vt:lpstr>Регистри със специално предназначение. </vt:lpstr>
      <vt:lpstr>Регистри със специално предназначение. </vt:lpstr>
      <vt:lpstr>Регистри със специално предназначение. </vt:lpstr>
      <vt:lpstr>Методи на адресиране на данни</vt:lpstr>
      <vt:lpstr>Методи на адресиране на данни</vt:lpstr>
      <vt:lpstr>Методи на адресиране на данни</vt:lpstr>
      <vt:lpstr>Методи на адресиране на данни</vt:lpstr>
      <vt:lpstr>Методи на адресиране на данни</vt:lpstr>
      <vt:lpstr>Методи на адресиране на данни</vt:lpstr>
      <vt:lpstr>Методи на адресиране на данни</vt:lpstr>
      <vt:lpstr>Методи на адресиране на данни</vt:lpstr>
      <vt:lpstr>Методи на адресиране на данни</vt:lpstr>
      <vt:lpstr>Методи на адресиране на данни</vt:lpstr>
      <vt:lpstr>Методи на адресиране на данни</vt:lpstr>
      <vt:lpstr>Формати на данните.</vt:lpstr>
      <vt:lpstr>Формати на данните.</vt:lpstr>
      <vt:lpstr>Формати на данните.</vt:lpstr>
      <vt:lpstr>Формати на данните.</vt:lpstr>
      <vt:lpstr>Формати на данните.</vt:lpstr>
      <vt:lpstr>Формати на данните.</vt:lpstr>
      <vt:lpstr>Формати на данните.</vt:lpstr>
      <vt:lpstr>Формати на данните.</vt:lpstr>
      <vt:lpstr>Формати на данните.</vt:lpstr>
      <vt:lpstr>Структура на паметта</vt:lpstr>
      <vt:lpstr>Достъп до паметта </vt:lpstr>
      <vt:lpstr>Таблица с инструкции за микропроцесора.</vt:lpstr>
      <vt:lpstr>Таблица с инструкции за микропроцесора.</vt:lpstr>
      <vt:lpstr>Таблица с инструкции за микропроцесора.</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Програмен модел на микропроцесор IA-32. Методи за адресация. Формати на данните. Структура на паметта. Таблица с инструкции за микропроцесора.</dc:title>
  <dc:creator>Desi</dc:creator>
  <cp:revision>14</cp:revision>
  <dcterms:created xsi:type="dcterms:W3CDTF">2024-02-15T19:55:55Z</dcterms:created>
  <dcterms:modified xsi:type="dcterms:W3CDTF">2024-05-05T14:43:35Z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0x0101002815A41C86513B4096C6BAC35CB04A7C</vt:lpwstr>
  </property>
</Properties>
</file>
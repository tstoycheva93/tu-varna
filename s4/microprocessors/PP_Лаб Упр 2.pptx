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71"/>
  </p:notesMasterIdLst>
  <p:sldIdLst>
    <p:sldId id="256" r:id="rId5"/>
    <p:sldId id="321" r:id="rId6"/>
    <p:sldId id="261" r:id="rId7"/>
    <p:sldId id="324" r:id="rId8"/>
    <p:sldId id="320" r:id="rId9"/>
    <p:sldId id="325" r:id="rId10"/>
    <p:sldId id="326" r:id="rId11"/>
    <p:sldId id="327" r:id="rId12"/>
    <p:sldId id="329" r:id="rId13"/>
    <p:sldId id="328" r:id="rId14"/>
    <p:sldId id="267" r:id="rId15"/>
    <p:sldId id="259" r:id="rId16"/>
    <p:sldId id="331" r:id="rId17"/>
    <p:sldId id="330" r:id="rId18"/>
    <p:sldId id="332" r:id="rId19"/>
    <p:sldId id="333" r:id="rId20"/>
    <p:sldId id="334" r:id="rId21"/>
    <p:sldId id="343" r:id="rId22"/>
    <p:sldId id="356" r:id="rId23"/>
    <p:sldId id="317" r:id="rId24"/>
    <p:sldId id="335" r:id="rId25"/>
    <p:sldId id="353" r:id="rId26"/>
    <p:sldId id="375" r:id="rId27"/>
    <p:sldId id="354" r:id="rId28"/>
    <p:sldId id="380" r:id="rId29"/>
    <p:sldId id="376" r:id="rId30"/>
    <p:sldId id="359" r:id="rId31"/>
    <p:sldId id="360" r:id="rId32"/>
    <p:sldId id="361" r:id="rId33"/>
    <p:sldId id="299" r:id="rId34"/>
    <p:sldId id="337" r:id="rId35"/>
    <p:sldId id="336" r:id="rId36"/>
    <p:sldId id="297" r:id="rId37"/>
    <p:sldId id="377" r:id="rId38"/>
    <p:sldId id="379" r:id="rId39"/>
    <p:sldId id="381" r:id="rId40"/>
    <p:sldId id="382" r:id="rId41"/>
    <p:sldId id="383" r:id="rId42"/>
    <p:sldId id="307" r:id="rId43"/>
    <p:sldId id="339" r:id="rId44"/>
    <p:sldId id="338" r:id="rId45"/>
    <p:sldId id="341" r:id="rId46"/>
    <p:sldId id="344" r:id="rId47"/>
    <p:sldId id="345" r:id="rId48"/>
    <p:sldId id="346" r:id="rId49"/>
    <p:sldId id="340" r:id="rId50"/>
    <p:sldId id="347" r:id="rId51"/>
    <p:sldId id="349" r:id="rId52"/>
    <p:sldId id="348" r:id="rId53"/>
    <p:sldId id="350" r:id="rId54"/>
    <p:sldId id="351" r:id="rId55"/>
    <p:sldId id="352" r:id="rId56"/>
    <p:sldId id="357" r:id="rId57"/>
    <p:sldId id="362" r:id="rId58"/>
    <p:sldId id="358" r:id="rId59"/>
    <p:sldId id="363" r:id="rId60"/>
    <p:sldId id="364" r:id="rId61"/>
    <p:sldId id="378" r:id="rId62"/>
    <p:sldId id="366" r:id="rId63"/>
    <p:sldId id="367" r:id="rId64"/>
    <p:sldId id="369" r:id="rId65"/>
    <p:sldId id="370" r:id="rId66"/>
    <p:sldId id="371" r:id="rId67"/>
    <p:sldId id="372" r:id="rId68"/>
    <p:sldId id="373" r:id="rId69"/>
    <p:sldId id="374" r:id="rId70"/>
  </p:sldIdLst>
  <p:sldSz cx="9144000" cy="6858000" type="screen4x3"/>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3921AB-D292-4B80-8562-C223E7635750}" v="1" dt="2024-05-05T15:03:28.509"/>
    <p1510:client id="{DC0C23AA-1432-4A49-A878-1071B50C572B}" v="1" dt="2024-05-05T16:41:48.0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8015" autoAdjust="0"/>
    <p:restoredTop sz="94660"/>
  </p:normalViewPr>
  <p:slideViewPr>
    <p:cSldViewPr>
      <p:cViewPr varScale="1">
        <p:scale>
          <a:sx n="95" d="100"/>
          <a:sy n="95" d="100"/>
        </p:scale>
        <p:origin x="-9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ПАВЕЛ ВАСИЛЕВ ВАСИЛЕВ СИТ 2к - 22621644" userId="S::s22621644@onlineedu.tu-varna.bg::cab81fd7-78cf-42a6-8855-85072d559337" providerId="AD" clId="Web-{DC0C23AA-1432-4A49-A878-1071B50C572B}"/>
    <pc:docChg chg="modSld">
      <pc:chgData name="ПАВЕЛ ВАСИЛЕВ ВАСИЛЕВ СИТ 2к - 22621644" userId="S::s22621644@onlineedu.tu-varna.bg::cab81fd7-78cf-42a6-8855-85072d559337" providerId="AD" clId="Web-{DC0C23AA-1432-4A49-A878-1071B50C572B}" dt="2024-05-05T16:41:48.024" v="0" actId="1076"/>
      <pc:docMkLst>
        <pc:docMk/>
      </pc:docMkLst>
      <pc:sldChg chg="modSp">
        <pc:chgData name="ПАВЕЛ ВАСИЛЕВ ВАСИЛЕВ СИТ 2к - 22621644" userId="S::s22621644@onlineedu.tu-varna.bg::cab81fd7-78cf-42a6-8855-85072d559337" providerId="AD" clId="Web-{DC0C23AA-1432-4A49-A878-1071B50C572B}" dt="2024-05-05T16:41:48.024" v="0" actId="1076"/>
        <pc:sldMkLst>
          <pc:docMk/>
          <pc:sldMk cId="0" sldId="371"/>
        </pc:sldMkLst>
        <pc:picChg chg="mod">
          <ac:chgData name="ПАВЕЛ ВАСИЛЕВ ВАСИЛЕВ СИТ 2к - 22621644" userId="S::s22621644@onlineedu.tu-varna.bg::cab81fd7-78cf-42a6-8855-85072d559337" providerId="AD" clId="Web-{DC0C23AA-1432-4A49-A878-1071B50C572B}" dt="2024-05-05T16:41:48.024" v="0" actId="1076"/>
          <ac:picMkLst>
            <pc:docMk/>
            <pc:sldMk cId="0" sldId="371"/>
            <ac:picMk id="77826" creationId="{00000000-0000-0000-0000-000000000000}"/>
          </ac:picMkLst>
        </pc:picChg>
      </pc:sldChg>
    </pc:docChg>
  </pc:docChgLst>
  <pc:docChgLst>
    <pc:chgData name="ЯНА  АМПОВА СИТ 2к - 22621751" userId="S::s22621751@onlineedu.tu-varna.bg::e3fef173-1d60-411b-802f-d8b58aa20486" providerId="AD" clId="Web-{AE82BCED-39C0-478F-8B78-D246A471019C}"/>
    <pc:docChg chg="addSld delSld">
      <pc:chgData name="ЯНА  АМПОВА СИТ 2к - 22621751" userId="S::s22621751@onlineedu.tu-varna.bg::e3fef173-1d60-411b-802f-d8b58aa20486" providerId="AD" clId="Web-{AE82BCED-39C0-478F-8B78-D246A471019C}" dt="2024-03-24T17:02:30.496" v="1"/>
      <pc:docMkLst>
        <pc:docMk/>
      </pc:docMkLst>
      <pc:sldChg chg="new del">
        <pc:chgData name="ЯНА  АМПОВА СИТ 2к - 22621751" userId="S::s22621751@onlineedu.tu-varna.bg::e3fef173-1d60-411b-802f-d8b58aa20486" providerId="AD" clId="Web-{AE82BCED-39C0-478F-8B78-D246A471019C}" dt="2024-03-24T17:02:30.496" v="1"/>
        <pc:sldMkLst>
          <pc:docMk/>
          <pc:sldMk cId="3006449867" sldId="384"/>
        </pc:sldMkLst>
      </pc:sldChg>
    </pc:docChg>
  </pc:docChgLst>
  <pc:docChgLst>
    <pc:chgData name="ЯНА  АМПОВА СИТ 2к - 22621751" userId="S::s22621751@onlineedu.tu-varna.bg::e3fef173-1d60-411b-802f-d8b58aa20486" providerId="AD" clId="Web-{E216AE82-FA60-4DB9-96FB-7AD987D455F5}"/>
    <pc:docChg chg="addSld delSld modSld">
      <pc:chgData name="ЯНА  АМПОВА СИТ 2к - 22621751" userId="S::s22621751@onlineedu.tu-varna.bg::e3fef173-1d60-411b-802f-d8b58aa20486" providerId="AD" clId="Web-{E216AE82-FA60-4DB9-96FB-7AD987D455F5}" dt="2024-03-24T18:33:45.179" v="13"/>
      <pc:docMkLst>
        <pc:docMk/>
      </pc:docMkLst>
      <pc:sldChg chg="new del">
        <pc:chgData name="ЯНА  АМПОВА СИТ 2к - 22621751" userId="S::s22621751@onlineedu.tu-varna.bg::e3fef173-1d60-411b-802f-d8b58aa20486" providerId="AD" clId="Web-{E216AE82-FA60-4DB9-96FB-7AD987D455F5}" dt="2024-03-24T17:59:09.492" v="5"/>
        <pc:sldMkLst>
          <pc:docMk/>
          <pc:sldMk cId="270952301" sldId="384"/>
        </pc:sldMkLst>
      </pc:sldChg>
      <pc:sldChg chg="modSp new del">
        <pc:chgData name="ЯНА  АМПОВА СИТ 2к - 22621751" userId="S::s22621751@onlineedu.tu-varna.bg::e3fef173-1d60-411b-802f-d8b58aa20486" providerId="AD" clId="Web-{E216AE82-FA60-4DB9-96FB-7AD987D455F5}" dt="2024-03-24T18:12:51.609" v="11"/>
        <pc:sldMkLst>
          <pc:docMk/>
          <pc:sldMk cId="586810415" sldId="384"/>
        </pc:sldMkLst>
        <pc:spChg chg="mod">
          <ac:chgData name="ЯНА  АМПОВА СИТ 2к - 22621751" userId="S::s22621751@onlineedu.tu-varna.bg::e3fef173-1d60-411b-802f-d8b58aa20486" providerId="AD" clId="Web-{E216AE82-FA60-4DB9-96FB-7AD987D455F5}" dt="2024-03-24T18:12:44.374" v="10" actId="20577"/>
          <ac:spMkLst>
            <pc:docMk/>
            <pc:sldMk cId="586810415" sldId="384"/>
            <ac:spMk id="3" creationId="{1AA5C8BB-02F2-991D-E5AA-89C58A3A4EFB}"/>
          </ac:spMkLst>
        </pc:spChg>
      </pc:sldChg>
      <pc:sldChg chg="new del">
        <pc:chgData name="ЯНА  АМПОВА СИТ 2к - 22621751" userId="S::s22621751@onlineedu.tu-varna.bg::e3fef173-1d60-411b-802f-d8b58aa20486" providerId="AD" clId="Web-{E216AE82-FA60-4DB9-96FB-7AD987D455F5}" dt="2024-03-24T17:47:15.589" v="3"/>
        <pc:sldMkLst>
          <pc:docMk/>
          <pc:sldMk cId="870992773" sldId="384"/>
        </pc:sldMkLst>
      </pc:sldChg>
      <pc:sldChg chg="new del">
        <pc:chgData name="ЯНА  АМПОВА СИТ 2к - 22621751" userId="S::s22621751@onlineedu.tu-varna.bg::e3fef173-1d60-411b-802f-d8b58aa20486" providerId="AD" clId="Web-{E216AE82-FA60-4DB9-96FB-7AD987D455F5}" dt="2024-03-24T17:41:30.104" v="1"/>
        <pc:sldMkLst>
          <pc:docMk/>
          <pc:sldMk cId="1826225610" sldId="384"/>
        </pc:sldMkLst>
      </pc:sldChg>
      <pc:sldChg chg="new del">
        <pc:chgData name="ЯНА  АМПОВА СИТ 2к - 22621751" userId="S::s22621751@onlineedu.tu-varna.bg::e3fef173-1d60-411b-802f-d8b58aa20486" providerId="AD" clId="Web-{E216AE82-FA60-4DB9-96FB-7AD987D455F5}" dt="2024-03-24T18:02:20.993" v="7"/>
        <pc:sldMkLst>
          <pc:docMk/>
          <pc:sldMk cId="2020721467" sldId="384"/>
        </pc:sldMkLst>
      </pc:sldChg>
      <pc:sldChg chg="new del">
        <pc:chgData name="ЯНА  АМПОВА СИТ 2к - 22621751" userId="S::s22621751@onlineedu.tu-varna.bg::e3fef173-1d60-411b-802f-d8b58aa20486" providerId="AD" clId="Web-{E216AE82-FA60-4DB9-96FB-7AD987D455F5}" dt="2024-03-24T18:33:45.179" v="13"/>
        <pc:sldMkLst>
          <pc:docMk/>
          <pc:sldMk cId="2668077213" sldId="384"/>
        </pc:sldMkLst>
      </pc:sldChg>
    </pc:docChg>
  </pc:docChgLst>
  <pc:docChgLst>
    <pc:chgData name="ПАВЕЛ ВАСИЛЕВ ВАСИЛЕВ СИТ 2к - 22621644" userId="S::s22621644@onlineedu.tu-varna.bg::cab81fd7-78cf-42a6-8855-85072d559337" providerId="AD" clId="Web-{963921AB-D292-4B80-8562-C223E7635750}"/>
    <pc:docChg chg="modSld">
      <pc:chgData name="ПАВЕЛ ВАСИЛЕВ ВАСИЛЕВ СИТ 2к - 22621644" userId="S::s22621644@onlineedu.tu-varna.bg::cab81fd7-78cf-42a6-8855-85072d559337" providerId="AD" clId="Web-{963921AB-D292-4B80-8562-C223E7635750}" dt="2024-05-05T15:03:28.509" v="0" actId="1076"/>
      <pc:docMkLst>
        <pc:docMk/>
      </pc:docMkLst>
      <pc:sldChg chg="modSp">
        <pc:chgData name="ПАВЕЛ ВАСИЛЕВ ВАСИЛЕВ СИТ 2к - 22621644" userId="S::s22621644@onlineedu.tu-varna.bg::cab81fd7-78cf-42a6-8855-85072d559337" providerId="AD" clId="Web-{963921AB-D292-4B80-8562-C223E7635750}" dt="2024-05-05T15:03:28.509" v="0" actId="1076"/>
        <pc:sldMkLst>
          <pc:docMk/>
          <pc:sldMk cId="0" sldId="331"/>
        </pc:sldMkLst>
        <pc:picChg chg="mod">
          <ac:chgData name="ПАВЕЛ ВАСИЛЕВ ВАСИЛЕВ СИТ 2к - 22621644" userId="S::s22621644@onlineedu.tu-varna.bg::cab81fd7-78cf-42a6-8855-85072d559337" providerId="AD" clId="Web-{963921AB-D292-4B80-8562-C223E7635750}" dt="2024-05-05T15:03:28.509" v="0" actId="1076"/>
          <ac:picMkLst>
            <pc:docMk/>
            <pc:sldMk cId="0" sldId="331"/>
            <ac:picMk id="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92332A-55AF-4551-8E83-32AC6773F37C}" type="datetimeFigureOut">
              <a:rPr lang="bg-BG" smtClean="0"/>
              <a:pPr/>
              <a:t>5.5.2024 г.</a:t>
            </a:fld>
            <a:endParaRPr lang="bg-B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78BE4E-C978-4DDD-BFFE-20E7B8E0D29B}" type="slidenum">
              <a:rPr lang="bg-BG" smtClean="0"/>
              <a:pPr/>
              <a:t>‹#›</a:t>
            </a:fld>
            <a:endParaRPr lang="bg-BG"/>
          </a:p>
        </p:txBody>
      </p:sp>
    </p:spTree>
    <p:extLst>
      <p:ext uri="{BB962C8B-B14F-4D97-AF65-F5344CB8AC3E}">
        <p14:creationId xmlns:p14="http://schemas.microsoft.com/office/powerpoint/2010/main" val="3989593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bg-BG" dirty="0"/>
          </a:p>
        </p:txBody>
      </p:sp>
      <p:sp>
        <p:nvSpPr>
          <p:cNvPr id="4" name="Slide Number Placeholder 3"/>
          <p:cNvSpPr>
            <a:spLocks noGrp="1"/>
          </p:cNvSpPr>
          <p:nvPr>
            <p:ph type="sldNum" sz="quarter" idx="10"/>
          </p:nvPr>
        </p:nvSpPr>
        <p:spPr/>
        <p:txBody>
          <a:bodyPr/>
          <a:lstStyle/>
          <a:p>
            <a:fld id="{7A78BE4E-C978-4DDD-BFFE-20E7B8E0D29B}" type="slidenum">
              <a:rPr lang="bg-BG" smtClean="0"/>
              <a:pPr/>
              <a:t>14</a:t>
            </a:fld>
            <a:endParaRPr lang="bg-BG"/>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bg-BG" dirty="0"/>
          </a:p>
        </p:txBody>
      </p:sp>
      <p:sp>
        <p:nvSpPr>
          <p:cNvPr id="4" name="Slide Number Placeholder 3"/>
          <p:cNvSpPr>
            <a:spLocks noGrp="1"/>
          </p:cNvSpPr>
          <p:nvPr>
            <p:ph type="sldNum" sz="quarter" idx="10"/>
          </p:nvPr>
        </p:nvSpPr>
        <p:spPr/>
        <p:txBody>
          <a:bodyPr/>
          <a:lstStyle/>
          <a:p>
            <a:fld id="{7A78BE4E-C978-4DDD-BFFE-20E7B8E0D29B}" type="slidenum">
              <a:rPr lang="bg-BG" smtClean="0"/>
              <a:pPr/>
              <a:t>15</a:t>
            </a:fld>
            <a:endParaRPr lang="bg-BG"/>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bg-BG" dirty="0"/>
          </a:p>
        </p:txBody>
      </p:sp>
      <p:sp>
        <p:nvSpPr>
          <p:cNvPr id="4" name="Slide Number Placeholder 3"/>
          <p:cNvSpPr>
            <a:spLocks noGrp="1"/>
          </p:cNvSpPr>
          <p:nvPr>
            <p:ph type="sldNum" sz="quarter" idx="10"/>
          </p:nvPr>
        </p:nvSpPr>
        <p:spPr/>
        <p:txBody>
          <a:bodyPr/>
          <a:lstStyle/>
          <a:p>
            <a:fld id="{7A78BE4E-C978-4DDD-BFFE-20E7B8E0D29B}" type="slidenum">
              <a:rPr lang="bg-BG" smtClean="0"/>
              <a:pPr/>
              <a:t>16</a:t>
            </a:fld>
            <a:endParaRPr lang="bg-BG"/>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bg-BG" dirty="0"/>
          </a:p>
        </p:txBody>
      </p:sp>
      <p:sp>
        <p:nvSpPr>
          <p:cNvPr id="4" name="Slide Number Placeholder 3"/>
          <p:cNvSpPr>
            <a:spLocks noGrp="1"/>
          </p:cNvSpPr>
          <p:nvPr>
            <p:ph type="sldNum" sz="quarter" idx="10"/>
          </p:nvPr>
        </p:nvSpPr>
        <p:spPr/>
        <p:txBody>
          <a:bodyPr/>
          <a:lstStyle/>
          <a:p>
            <a:fld id="{7A78BE4E-C978-4DDD-BFFE-20E7B8E0D29B}" type="slidenum">
              <a:rPr lang="bg-BG" smtClean="0"/>
              <a:pPr/>
              <a:t>17</a:t>
            </a:fld>
            <a:endParaRPr lang="bg-BG"/>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bg-BG" dirty="0"/>
          </a:p>
        </p:txBody>
      </p:sp>
      <p:sp>
        <p:nvSpPr>
          <p:cNvPr id="4" name="Slide Number Placeholder 3"/>
          <p:cNvSpPr>
            <a:spLocks noGrp="1"/>
          </p:cNvSpPr>
          <p:nvPr>
            <p:ph type="sldNum" sz="quarter" idx="10"/>
          </p:nvPr>
        </p:nvSpPr>
        <p:spPr/>
        <p:txBody>
          <a:bodyPr/>
          <a:lstStyle/>
          <a:p>
            <a:fld id="{7A78BE4E-C978-4DDD-BFFE-20E7B8E0D29B}" type="slidenum">
              <a:rPr lang="bg-BG" smtClean="0"/>
              <a:pPr/>
              <a:t>18</a:t>
            </a:fld>
            <a:endParaRPr lang="bg-BG"/>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bg-BG" dirty="0"/>
          </a:p>
        </p:txBody>
      </p:sp>
      <p:sp>
        <p:nvSpPr>
          <p:cNvPr id="4" name="Slide Number Placeholder 3"/>
          <p:cNvSpPr>
            <a:spLocks noGrp="1"/>
          </p:cNvSpPr>
          <p:nvPr>
            <p:ph type="sldNum" sz="quarter" idx="10"/>
          </p:nvPr>
        </p:nvSpPr>
        <p:spPr/>
        <p:txBody>
          <a:bodyPr/>
          <a:lstStyle/>
          <a:p>
            <a:fld id="{7A78BE4E-C978-4DDD-BFFE-20E7B8E0D29B}" type="slidenum">
              <a:rPr lang="bg-BG" smtClean="0"/>
              <a:pPr/>
              <a:t>19</a:t>
            </a:fld>
            <a:endParaRPr lang="bg-BG"/>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bg-BG"/>
              <a:t>Стандартните или стандартизирани работни инструкции (SWI) са инструкции, специално предназначени да осигурят последователност, време и повторение на процесите.</a:t>
            </a:r>
          </a:p>
        </p:txBody>
      </p:sp>
      <p:sp>
        <p:nvSpPr>
          <p:cNvPr id="4" name="Slide Number Placeholder 3"/>
          <p:cNvSpPr>
            <a:spLocks noGrp="1"/>
          </p:cNvSpPr>
          <p:nvPr>
            <p:ph type="sldNum" sz="quarter" idx="10"/>
          </p:nvPr>
        </p:nvSpPr>
        <p:spPr/>
        <p:txBody>
          <a:bodyPr/>
          <a:lstStyle/>
          <a:p>
            <a:fld id="{7A78BE4E-C978-4DDD-BFFE-20E7B8E0D29B}" type="slidenum">
              <a:rPr lang="bg-BG" smtClean="0"/>
              <a:pPr/>
              <a:t>20</a:t>
            </a:fld>
            <a:endParaRPr lang="bg-BG"/>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bg-BG" dirty="0"/>
          </a:p>
        </p:txBody>
      </p:sp>
      <p:sp>
        <p:nvSpPr>
          <p:cNvPr id="4" name="Slide Number Placeholder 3"/>
          <p:cNvSpPr>
            <a:spLocks noGrp="1"/>
          </p:cNvSpPr>
          <p:nvPr>
            <p:ph type="sldNum" sz="quarter" idx="10"/>
          </p:nvPr>
        </p:nvSpPr>
        <p:spPr/>
        <p:txBody>
          <a:bodyPr/>
          <a:lstStyle/>
          <a:p>
            <a:fld id="{7A78BE4E-C978-4DDD-BFFE-20E7B8E0D29B}" type="slidenum">
              <a:rPr lang="bg-BG" smtClean="0"/>
              <a:pPr/>
              <a:t>21</a:t>
            </a:fld>
            <a:endParaRPr lang="bg-BG"/>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bg-BG"/>
          </a:p>
        </p:txBody>
      </p:sp>
      <p:sp>
        <p:nvSpPr>
          <p:cNvPr id="4" name="Slide Number Placeholder 3"/>
          <p:cNvSpPr>
            <a:spLocks noGrp="1"/>
          </p:cNvSpPr>
          <p:nvPr>
            <p:ph type="sldNum" sz="quarter" idx="10"/>
          </p:nvPr>
        </p:nvSpPr>
        <p:spPr/>
        <p:txBody>
          <a:bodyPr/>
          <a:lstStyle/>
          <a:p>
            <a:fld id="{7A78BE4E-C978-4DDD-BFFE-20E7B8E0D29B}" type="slidenum">
              <a:rPr lang="bg-BG" smtClean="0"/>
              <a:pPr/>
              <a:t>47</a:t>
            </a:fld>
            <a:endParaRPr lang="bg-BG"/>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19" name="Footer Placeholder 18"/>
          <p:cNvSpPr>
            <a:spLocks noGrp="1"/>
          </p:cNvSpPr>
          <p:nvPr>
            <p:ph type="ftr" sz="quarter" idx="11"/>
          </p:nvPr>
        </p:nvSpPr>
        <p:spPr/>
        <p:txBody>
          <a:bodyPr/>
          <a:lstStyle/>
          <a:p>
            <a:endParaRPr lang="bg-BG"/>
          </a:p>
        </p:txBody>
      </p:sp>
      <p:sp>
        <p:nvSpPr>
          <p:cNvPr id="27" name="Slide Number Placeholder 26"/>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a:xfrm>
            <a:off x="8077200" y="6356350"/>
            <a:ext cx="609600" cy="365125"/>
          </a:xfrm>
        </p:spPr>
        <p:txBody>
          <a:bodyPr/>
          <a:lstStyle/>
          <a:p>
            <a:fld id="{24109040-8F74-4CAF-B14B-2C048A8F2A9A}" type="slidenum">
              <a:rPr lang="bg-BG" smtClean="0"/>
              <a:pPr/>
              <a:t>‹#›</a:t>
            </a:fld>
            <a:endParaRPr lang="bg-B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CD2AA38-B623-4529-8E38-4C26B6BE11C2}" type="datetimeFigureOut">
              <a:rPr lang="bg-BG" smtClean="0"/>
              <a:pPr/>
              <a:t>5.5.2024 г.</a:t>
            </a:fld>
            <a:endParaRPr lang="bg-B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bg-B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4109040-8F74-4CAF-B14B-2C048A8F2A9A}" type="slidenum">
              <a:rPr lang="bg-BG" smtClean="0"/>
              <a:pPr/>
              <a:t>‹#›</a:t>
            </a:fld>
            <a:endParaRPr lang="bg-B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928670"/>
            <a:ext cx="7851648" cy="5186386"/>
          </a:xfrm>
        </p:spPr>
        <p:txBody>
          <a:bodyPr rIns="0">
            <a:noAutofit/>
          </a:bodyPr>
          <a:lstStyle/>
          <a:p>
            <a:r>
              <a:rPr lang="en-US" sz="4500">
                <a:effectLst/>
                <a:latin typeface="Times New Roman" pitchFamily="18" charset="0"/>
                <a:cs typeface="Times New Roman" pitchFamily="18" charset="0"/>
              </a:rPr>
              <a:t>ARM </a:t>
            </a:r>
            <a:r>
              <a:rPr lang="bg-BG" sz="4500">
                <a:effectLst/>
                <a:latin typeface="Times New Roman" pitchFamily="18" charset="0"/>
                <a:cs typeface="Times New Roman" pitchFamily="18" charset="0"/>
              </a:rPr>
              <a:t>процесор</a:t>
            </a:r>
            <a:r>
              <a:rPr lang="bg-BG" sz="4500">
                <a:latin typeface="Times New Roman" pitchFamily="18" charset="0"/>
                <a:cs typeface="Times New Roman" pitchFamily="18" charset="0"/>
              </a:rPr>
              <a:t>.</a:t>
            </a:r>
            <a:br>
              <a:rPr lang="bg-BG" sz="4500">
                <a:latin typeface="Times New Roman" pitchFamily="18" charset="0"/>
                <a:cs typeface="Times New Roman" pitchFamily="18" charset="0"/>
              </a:rPr>
            </a:br>
            <a:r>
              <a:rPr lang="bg-BG" sz="4500">
                <a:latin typeface="Times New Roman" pitchFamily="18" charset="0"/>
                <a:cs typeface="Times New Roman" pitchFamily="18" charset="0"/>
              </a:rPr>
              <a:t>Програмен модел, видове инструкции и методи на адресация. </a:t>
            </a:r>
            <a:br>
              <a:rPr lang="bg-BG" sz="4500">
                <a:latin typeface="Times New Roman" pitchFamily="18" charset="0"/>
                <a:cs typeface="Times New Roman" pitchFamily="18" charset="0"/>
              </a:rPr>
            </a:br>
            <a:r>
              <a:rPr lang="bg-BG" sz="4500">
                <a:latin typeface="Times New Roman" pitchFamily="18" charset="0"/>
                <a:cs typeface="Times New Roman" pitchFamily="18" charset="0"/>
              </a:rPr>
              <a:t>Структура на паметта. Таблица с инструкции за микропроцесора. </a:t>
            </a:r>
            <a:endParaRPr lang="bg-BG" sz="45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643050"/>
            <a:ext cx="8643998" cy="4929222"/>
          </a:xfrm>
        </p:spPr>
        <p:txBody>
          <a:bodyPr>
            <a:noAutofit/>
          </a:bodyPr>
          <a:lstStyle/>
          <a:p>
            <a:pPr marL="0" algn="just">
              <a:spcBef>
                <a:spcPts val="0"/>
              </a:spcBef>
            </a:pPr>
            <a:r>
              <a:rPr lang="en-US" sz="2300" dirty="0">
                <a:latin typeface="Times New Roman" pitchFamily="18" charset="0"/>
                <a:cs typeface="Times New Roman" pitchFamily="18" charset="0"/>
              </a:rPr>
              <a:t>Произходът </a:t>
            </a:r>
            <a:r>
              <a:rPr lang="en-US" sz="2300" dirty="0" err="1">
                <a:latin typeface="Times New Roman" pitchFamily="18" charset="0"/>
                <a:cs typeface="Times New Roman" pitchFamily="18" charset="0"/>
              </a:rPr>
              <a:t>на</a:t>
            </a:r>
            <a:r>
              <a:rPr lang="en-US" sz="2300" dirty="0">
                <a:latin typeface="Times New Roman" pitchFamily="18" charset="0"/>
                <a:cs typeface="Times New Roman" pitchFamily="18" charset="0"/>
              </a:rPr>
              <a:t> ARM </a:t>
            </a:r>
            <a:r>
              <a:rPr lang="en-US" sz="2300" dirty="0" err="1">
                <a:latin typeface="Times New Roman" pitchFamily="18" charset="0"/>
                <a:cs typeface="Times New Roman" pitchFamily="18" charset="0"/>
              </a:rPr>
              <a:t>технологията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може</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да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се</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проследи</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до</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базираната</a:t>
            </a:r>
            <a:r>
              <a:rPr lang="en-US" sz="2300" dirty="0">
                <a:latin typeface="Times New Roman" pitchFamily="18" charset="0"/>
                <a:cs typeface="Times New Roman" pitchFamily="18" charset="0"/>
              </a:rPr>
              <a:t> в </a:t>
            </a:r>
            <a:r>
              <a:rPr lang="en-US" sz="2300" dirty="0" err="1">
                <a:latin typeface="Times New Roman" pitchFamily="18" charset="0"/>
                <a:cs typeface="Times New Roman" pitchFamily="18" charset="0"/>
              </a:rPr>
              <a:t>Англия</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компания</a:t>
            </a:r>
            <a:r>
              <a:rPr lang="en-US" sz="2300" dirty="0">
                <a:latin typeface="Times New Roman" pitchFamily="18" charset="0"/>
                <a:cs typeface="Times New Roman" pitchFamily="18" charset="0"/>
              </a:rPr>
              <a:t> Acorn Computers. В </a:t>
            </a:r>
            <a:r>
              <a:rPr lang="en-US" sz="2300" dirty="0" err="1">
                <a:latin typeface="Times New Roman" pitchFamily="18" charset="0"/>
                <a:cs typeface="Times New Roman" pitchFamily="18" charset="0"/>
              </a:rPr>
              <a:t>началото</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на</a:t>
            </a:r>
            <a:r>
              <a:rPr lang="en-US" sz="2300" dirty="0">
                <a:latin typeface="Times New Roman" pitchFamily="18" charset="0"/>
                <a:cs typeface="Times New Roman" pitchFamily="18" charset="0"/>
              </a:rPr>
              <a:t> 80-те </a:t>
            </a:r>
            <a:r>
              <a:rPr lang="en-US" sz="2300" dirty="0" err="1">
                <a:latin typeface="Times New Roman" pitchFamily="18" charset="0"/>
                <a:cs typeface="Times New Roman" pitchFamily="18" charset="0"/>
              </a:rPr>
              <a:t>години</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на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миналия</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век</a:t>
            </a:r>
            <a:r>
              <a:rPr lang="en-US" sz="2300" dirty="0">
                <a:latin typeface="Times New Roman" pitchFamily="18" charset="0"/>
                <a:cs typeface="Times New Roman" pitchFamily="18" charset="0"/>
              </a:rPr>
              <a:t> Acorn </a:t>
            </a:r>
            <a:r>
              <a:rPr lang="en-US" sz="2300" dirty="0" err="1">
                <a:latin typeface="Times New Roman" pitchFamily="18" charset="0"/>
                <a:cs typeface="Times New Roman" pitchFamily="18" charset="0"/>
              </a:rPr>
              <a:t>получава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договор</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от</a:t>
            </a:r>
            <a:r>
              <a:rPr lang="en-US" sz="2300" dirty="0">
                <a:latin typeface="Times New Roman" pitchFamily="18" charset="0"/>
                <a:cs typeface="Times New Roman" pitchFamily="18" charset="0"/>
              </a:rPr>
              <a:t> British Broadcasting Corporation (BBC) </a:t>
            </a:r>
            <a:r>
              <a:rPr lang="en-US" sz="2300" dirty="0" err="1">
                <a:latin typeface="Times New Roman" pitchFamily="18" charset="0"/>
                <a:cs typeface="Times New Roman" pitchFamily="18" charset="0"/>
              </a:rPr>
              <a:t>за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разработване</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на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нова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микрокомпютърна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архитектура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за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проекта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за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компютърна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грамотност</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на</a:t>
            </a:r>
            <a:r>
              <a:rPr lang="en-US" sz="2300" dirty="0">
                <a:latin typeface="Times New Roman" pitchFamily="18" charset="0"/>
                <a:cs typeface="Times New Roman" pitchFamily="18" charset="0"/>
              </a:rPr>
              <a:t> BBC. </a:t>
            </a:r>
            <a:r>
              <a:rPr lang="en-US" sz="2300" dirty="0" err="1">
                <a:latin typeface="Times New Roman" pitchFamily="18" charset="0"/>
                <a:cs typeface="Times New Roman" pitchFamily="18" charset="0"/>
              </a:rPr>
              <a:t>Успехът</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на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този</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договор</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позвол</a:t>
            </a:r>
            <a:r>
              <a:rPr lang="bg-BG" sz="2300" dirty="0">
                <a:latin typeface="Times New Roman" pitchFamily="18" charset="0"/>
                <a:cs typeface="Times New Roman" pitchFamily="18" charset="0"/>
              </a:rPr>
              <a:t>ява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на</a:t>
            </a:r>
            <a:r>
              <a:rPr lang="en-US" sz="2300" dirty="0">
                <a:latin typeface="Times New Roman" pitchFamily="18" charset="0"/>
                <a:cs typeface="Times New Roman" pitchFamily="18" charset="0"/>
              </a:rPr>
              <a:t> Acorn </a:t>
            </a:r>
            <a:r>
              <a:rPr lang="en-US" sz="2300" dirty="0" err="1">
                <a:latin typeface="Times New Roman" pitchFamily="18" charset="0"/>
                <a:cs typeface="Times New Roman" pitchFamily="18" charset="0"/>
              </a:rPr>
              <a:t>да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продължи</a:t>
            </a:r>
            <a:r>
              <a:rPr lang="en-US" sz="2300" dirty="0">
                <a:latin typeface="Times New Roman" pitchFamily="18" charset="0"/>
                <a:cs typeface="Times New Roman" pitchFamily="18" charset="0"/>
              </a:rPr>
              <a:t> с </a:t>
            </a:r>
            <a:r>
              <a:rPr lang="en-US" sz="2300" dirty="0" err="1">
                <a:latin typeface="Times New Roman" pitchFamily="18" charset="0"/>
                <a:cs typeface="Times New Roman" pitchFamily="18" charset="0"/>
              </a:rPr>
              <a:t>разработването</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на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първия</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търговски</a:t>
            </a:r>
            <a:r>
              <a:rPr lang="en-US" sz="2300" dirty="0">
                <a:latin typeface="Times New Roman" pitchFamily="18" charset="0"/>
                <a:cs typeface="Times New Roman" pitchFamily="18" charset="0"/>
              </a:rPr>
              <a:t> RISC </a:t>
            </a:r>
            <a:r>
              <a:rPr lang="en-US" sz="2300" dirty="0" err="1">
                <a:latin typeface="Times New Roman" pitchFamily="18" charset="0"/>
                <a:cs typeface="Times New Roman" pitchFamily="18" charset="0"/>
              </a:rPr>
              <a:t>процесор</a:t>
            </a:r>
            <a:r>
              <a:rPr lang="en-US" sz="2300" dirty="0">
                <a:latin typeface="Times New Roman" pitchFamily="18" charset="0"/>
                <a:cs typeface="Times New Roman" pitchFamily="18" charset="0"/>
              </a:rPr>
              <a:t>, Acorn RISC Machine (ARM). </a:t>
            </a:r>
            <a:r>
              <a:rPr lang="en-US" sz="2300" dirty="0" err="1">
                <a:latin typeface="Times New Roman" pitchFamily="18" charset="0"/>
                <a:cs typeface="Times New Roman" pitchFamily="18" charset="0"/>
              </a:rPr>
              <a:t>Първата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версия</a:t>
            </a:r>
            <a:r>
              <a:rPr lang="en-US" sz="2300" dirty="0">
                <a:latin typeface="Times New Roman" pitchFamily="18" charset="0"/>
                <a:cs typeface="Times New Roman" pitchFamily="18" charset="0"/>
              </a:rPr>
              <a:t>, ARM1, </a:t>
            </a:r>
            <a:r>
              <a:rPr lang="en-US" sz="2300" dirty="0" err="1">
                <a:latin typeface="Times New Roman" pitchFamily="18" charset="0"/>
                <a:cs typeface="Times New Roman" pitchFamily="18" charset="0"/>
              </a:rPr>
              <a:t>започва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да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функционира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през</a:t>
            </a:r>
            <a:r>
              <a:rPr lang="en-US" sz="2300" dirty="0">
                <a:latin typeface="Times New Roman" pitchFamily="18" charset="0"/>
                <a:cs typeface="Times New Roman" pitchFamily="18" charset="0"/>
              </a:rPr>
              <a:t> 1985 г. и </a:t>
            </a:r>
            <a:r>
              <a:rPr lang="en-US" sz="2300" dirty="0" err="1">
                <a:latin typeface="Times New Roman" pitchFamily="18" charset="0"/>
                <a:cs typeface="Times New Roman" pitchFamily="18" charset="0"/>
              </a:rPr>
              <a:t>се</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използва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за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вътрешни</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изследвания</a:t>
            </a:r>
            <a:r>
              <a:rPr lang="en-US" sz="2300" dirty="0">
                <a:latin typeface="Times New Roman" pitchFamily="18" charset="0"/>
                <a:cs typeface="Times New Roman" pitchFamily="18" charset="0"/>
              </a:rPr>
              <a:t> и </a:t>
            </a:r>
            <a:r>
              <a:rPr lang="en-US" sz="2300" dirty="0" err="1">
                <a:latin typeface="Times New Roman" pitchFamily="18" charset="0"/>
                <a:cs typeface="Times New Roman" pitchFamily="18" charset="0"/>
              </a:rPr>
              <a:t>разработки</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както</a:t>
            </a:r>
            <a:r>
              <a:rPr lang="en-US" sz="2300" dirty="0">
                <a:latin typeface="Times New Roman" pitchFamily="18" charset="0"/>
                <a:cs typeface="Times New Roman" pitchFamily="18" charset="0"/>
              </a:rPr>
              <a:t> и </a:t>
            </a:r>
            <a:r>
              <a:rPr lang="en-US" sz="2300" dirty="0" err="1">
                <a:latin typeface="Times New Roman" pitchFamily="18" charset="0"/>
                <a:cs typeface="Times New Roman" pitchFamily="18" charset="0"/>
              </a:rPr>
              <a:t>като</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копроцесор</a:t>
            </a:r>
            <a:r>
              <a:rPr lang="en-US" sz="2300" dirty="0">
                <a:latin typeface="Times New Roman" pitchFamily="18" charset="0"/>
                <a:cs typeface="Times New Roman" pitchFamily="18" charset="0"/>
              </a:rPr>
              <a:t> в </a:t>
            </a:r>
            <a:r>
              <a:rPr lang="en-US" sz="2300" dirty="0" err="1">
                <a:latin typeface="Times New Roman" pitchFamily="18" charset="0"/>
                <a:cs typeface="Times New Roman" pitchFamily="18" charset="0"/>
              </a:rPr>
              <a:t>машината</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на</a:t>
            </a:r>
            <a:r>
              <a:rPr lang="en-US" sz="2300" dirty="0">
                <a:latin typeface="Times New Roman" pitchFamily="18" charset="0"/>
                <a:cs typeface="Times New Roman" pitchFamily="18" charset="0"/>
              </a:rPr>
              <a:t> BBC.</a:t>
            </a:r>
            <a:endParaRPr lang="bg-BG" sz="2300" dirty="0">
              <a:latin typeface="Times New Roman" pitchFamily="18" charset="0"/>
              <a:cs typeface="Times New Roman" pitchFamily="18" charset="0"/>
            </a:endParaRPr>
          </a:p>
          <a:p>
            <a:pPr marL="0" algn="just">
              <a:spcBef>
                <a:spcPts val="0"/>
              </a:spcBef>
            </a:pPr>
            <a:r>
              <a:rPr lang="ru-RU" sz="2300" dirty="0">
                <a:latin typeface="Times New Roman" pitchFamily="18" charset="0"/>
                <a:cs typeface="Times New Roman" pitchFamily="18" charset="0"/>
              </a:rPr>
              <a:t>В края на 1986 г. е въведен моделът ARM2, работещ на 8 MHz, а в началото на 1987 г. и неговата версия с повишена скорост от 10 до 12 MHz.</a:t>
            </a:r>
          </a:p>
        </p:txBody>
      </p:sp>
      <p:sp>
        <p:nvSpPr>
          <p:cNvPr id="4" name="Title 1"/>
          <p:cNvSpPr>
            <a:spLocks noGrp="1"/>
          </p:cNvSpPr>
          <p:nvPr>
            <p:ph type="title"/>
          </p:nvPr>
        </p:nvSpPr>
        <p:spPr>
          <a:xfrm>
            <a:off x="428596" y="428604"/>
            <a:ext cx="8229600" cy="1143000"/>
          </a:xfrm>
        </p:spPr>
        <p:txBody>
          <a:bodyPr>
            <a:normAutofit/>
          </a:bodyPr>
          <a:lstStyle/>
          <a:p>
            <a:r>
              <a:rPr lang="en-US" sz="5400" dirty="0">
                <a:latin typeface="Times New Roman" pitchFamily="18" charset="0"/>
                <a:cs typeface="Times New Roman" pitchFamily="18" charset="0"/>
              </a:rPr>
              <a:t>  </a:t>
            </a:r>
            <a:r>
              <a:rPr lang="en-US" sz="6400" b="1" dirty="0">
                <a:latin typeface="Times New Roman" pitchFamily="18" charset="0"/>
                <a:cs typeface="Times New Roman" pitchFamily="18" charset="0"/>
              </a:rPr>
              <a:t>ARM</a:t>
            </a:r>
            <a:endParaRPr lang="bg-BG" sz="6400" b="1" dirty="0"/>
          </a:p>
        </p:txBody>
      </p:sp>
    </p:spTree>
    <p:extLst>
      <p:ext uri="{BB962C8B-B14F-4D97-AF65-F5344CB8AC3E}">
        <p14:creationId xmlns:p14="http://schemas.microsoft.com/office/powerpoint/2010/main" val="4154239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928802"/>
            <a:ext cx="8643998" cy="4643470"/>
          </a:xfrm>
        </p:spPr>
        <p:txBody>
          <a:bodyPr>
            <a:normAutofit lnSpcReduction="10000"/>
          </a:bodyPr>
          <a:lstStyle/>
          <a:p>
            <a:pPr marL="0" algn="just">
              <a:spcBef>
                <a:spcPts val="0"/>
              </a:spcBef>
            </a:pPr>
            <a:r>
              <a:rPr lang="bg-BG" dirty="0">
                <a:latin typeface="Times New Roman" pitchFamily="18" charset="0"/>
                <a:cs typeface="Times New Roman" pitchFamily="18" charset="0"/>
              </a:rPr>
              <a:t>През 1990 г. </a:t>
            </a:r>
            <a:r>
              <a:rPr lang="en-US" dirty="0">
                <a:latin typeface="Times New Roman" pitchFamily="18" charset="0"/>
                <a:cs typeface="Times New Roman" pitchFamily="18" charset="0"/>
              </a:rPr>
              <a:t>Acorn Computers</a:t>
            </a:r>
            <a:r>
              <a:rPr lang="bg-BG" dirty="0">
                <a:latin typeface="Times New Roman" pitchFamily="18" charset="0"/>
                <a:cs typeface="Times New Roman" pitchFamily="18" charset="0"/>
              </a:rPr>
              <a:t>, </a:t>
            </a:r>
            <a:r>
              <a:rPr lang="en-US" dirty="0"/>
              <a:t>VLSI и Apple Computer </a:t>
            </a:r>
            <a:r>
              <a:rPr lang="bg-BG" dirty="0"/>
              <a:t> основават </a:t>
            </a:r>
            <a:r>
              <a:rPr lang="en-US" dirty="0">
                <a:latin typeface="Times New Roman" pitchFamily="18" charset="0"/>
                <a:cs typeface="Times New Roman" pitchFamily="18" charset="0"/>
              </a:rPr>
              <a:t>Arm Holdings plc </a:t>
            </a:r>
            <a:r>
              <a:rPr lang="bg-BG" dirty="0">
                <a:latin typeface="Times New Roman" pitchFamily="18" charset="0"/>
                <a:cs typeface="Times New Roman" pitchFamily="18" charset="0"/>
              </a:rPr>
              <a:t>и </a:t>
            </a:r>
            <a:r>
              <a:rPr lang="ru-RU" dirty="0">
                <a:latin typeface="Times New Roman" pitchFamily="18" charset="0"/>
                <a:cs typeface="Times New Roman" pitchFamily="18" charset="0"/>
              </a:rPr>
              <a:t>Acorn RISC Machine става Advanced RISC Machines. Това е компания за полупроводников и софтуерен дизайн, базирана в Кеймбридж, Англия. </a:t>
            </a:r>
          </a:p>
          <a:p>
            <a:pPr marL="0" algn="just">
              <a:spcBef>
                <a:spcPts val="0"/>
              </a:spcBef>
            </a:pPr>
            <a:r>
              <a:rPr lang="bg-BG" dirty="0">
                <a:latin typeface="Times New Roman" pitchFamily="18" charset="0"/>
                <a:cs typeface="Times New Roman" pitchFamily="18" charset="0"/>
              </a:rPr>
              <a:t>Компанията предлага </a:t>
            </a:r>
            <a:r>
              <a:rPr lang="en-US" dirty="0" err="1">
                <a:latin typeface="Times New Roman" pitchFamily="18" charset="0"/>
                <a:cs typeface="Times New Roman" pitchFamily="18" charset="0"/>
              </a:rPr>
              <a:t>два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вида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лицензирани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продукти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процесори</a:t>
            </a:r>
            <a:r>
              <a:rPr lang="en-US" dirty="0">
                <a:latin typeface="Times New Roman" pitchFamily="18" charset="0"/>
                <a:cs typeface="Times New Roman" pitchFamily="18" charset="0"/>
              </a:rPr>
              <a:t> и </a:t>
            </a:r>
            <a:r>
              <a:rPr lang="en-US" dirty="0" err="1">
                <a:latin typeface="Times New Roman" pitchFamily="18" charset="0"/>
                <a:cs typeface="Times New Roman" pitchFamily="18" charset="0"/>
              </a:rPr>
              <a:t>процесорни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архитектури</a:t>
            </a:r>
            <a:r>
              <a:rPr lang="en-US" dirty="0">
                <a:latin typeface="Times New Roman" pitchFamily="18" charset="0"/>
                <a:cs typeface="Times New Roman" pitchFamily="18" charset="0"/>
              </a:rPr>
              <a:t>. </a:t>
            </a:r>
            <a:endParaRPr lang="bg-BG" dirty="0">
              <a:latin typeface="Times New Roman" pitchFamily="18" charset="0"/>
              <a:cs typeface="Times New Roman" pitchFamily="18" charset="0"/>
            </a:endParaRPr>
          </a:p>
          <a:p>
            <a:pPr marL="0" algn="just">
              <a:spcBef>
                <a:spcPts val="0"/>
              </a:spcBef>
            </a:pPr>
            <a:r>
              <a:rPr lang="bg-BG" dirty="0">
                <a:latin typeface="Times New Roman" pitchFamily="18" charset="0"/>
                <a:cs typeface="Times New Roman" pitchFamily="18" charset="0"/>
              </a:rPr>
              <a:t>= </a:t>
            </a:r>
            <a:r>
              <a:rPr lang="en-US" dirty="0" err="1">
                <a:latin typeface="Times New Roman" pitchFamily="18" charset="0"/>
                <a:cs typeface="Times New Roman" pitchFamily="18" charset="0"/>
              </a:rPr>
              <a:t>За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процесори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клиентът</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купува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правата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за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използване</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на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предоставения</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от</a:t>
            </a:r>
            <a:r>
              <a:rPr lang="en-US" dirty="0">
                <a:latin typeface="Times New Roman" pitchFamily="18" charset="0"/>
                <a:cs typeface="Times New Roman" pitchFamily="18" charset="0"/>
              </a:rPr>
              <a:t> ARM </a:t>
            </a:r>
            <a:r>
              <a:rPr lang="en-US" dirty="0" err="1">
                <a:latin typeface="Times New Roman" pitchFamily="18" charset="0"/>
                <a:cs typeface="Times New Roman" pitchFamily="18" charset="0"/>
              </a:rPr>
              <a:t>дизайн</a:t>
            </a:r>
            <a:r>
              <a:rPr lang="en-US" dirty="0">
                <a:latin typeface="Times New Roman" pitchFamily="18" charset="0"/>
                <a:cs typeface="Times New Roman" pitchFamily="18" charset="0"/>
              </a:rPr>
              <a:t> в </a:t>
            </a:r>
            <a:r>
              <a:rPr lang="en-US" dirty="0" err="1">
                <a:latin typeface="Times New Roman" pitchFamily="18" charset="0"/>
                <a:cs typeface="Times New Roman" pitchFamily="18" charset="0"/>
              </a:rPr>
              <a:t>собствените</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чипове</a:t>
            </a:r>
            <a:r>
              <a:rPr lang="en-US" dirty="0">
                <a:latin typeface="Times New Roman" pitchFamily="18" charset="0"/>
                <a:cs typeface="Times New Roman" pitchFamily="18" charset="0"/>
              </a:rPr>
              <a:t>. </a:t>
            </a:r>
            <a:endParaRPr lang="bg-BG" dirty="0">
              <a:latin typeface="Times New Roman" pitchFamily="18" charset="0"/>
              <a:cs typeface="Times New Roman" pitchFamily="18" charset="0"/>
            </a:endParaRPr>
          </a:p>
          <a:p>
            <a:pPr marL="0" algn="just">
              <a:spcBef>
                <a:spcPts val="0"/>
              </a:spcBef>
            </a:pPr>
            <a:r>
              <a:rPr lang="bg-BG" dirty="0">
                <a:latin typeface="Times New Roman" pitchFamily="18" charset="0"/>
                <a:cs typeface="Times New Roman" pitchFamily="18" charset="0"/>
              </a:rPr>
              <a:t>= </a:t>
            </a:r>
            <a:r>
              <a:rPr lang="en-US" dirty="0" err="1">
                <a:latin typeface="Times New Roman" pitchFamily="18" charset="0"/>
                <a:cs typeface="Times New Roman" pitchFamily="18" charset="0"/>
              </a:rPr>
              <a:t>За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архитектура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на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процесора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клиентът</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купува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правата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да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проектира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свой</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собствен</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процесор</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съвместим</a:t>
            </a:r>
            <a:r>
              <a:rPr lang="en-US" dirty="0">
                <a:latin typeface="Times New Roman" pitchFamily="18" charset="0"/>
                <a:cs typeface="Times New Roman" pitchFamily="18" charset="0"/>
              </a:rPr>
              <a:t> с </a:t>
            </a:r>
            <a:r>
              <a:rPr lang="en-US" dirty="0" err="1">
                <a:latin typeface="Times New Roman" pitchFamily="18" charset="0"/>
                <a:cs typeface="Times New Roman" pitchFamily="18" charset="0"/>
              </a:rPr>
              <a:t>архитектурата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на</a:t>
            </a:r>
            <a:r>
              <a:rPr lang="en-US" dirty="0">
                <a:latin typeface="Times New Roman" pitchFamily="18" charset="0"/>
                <a:cs typeface="Times New Roman" pitchFamily="18" charset="0"/>
              </a:rPr>
              <a:t> ARM. </a:t>
            </a:r>
            <a:endParaRPr lang="ru-RU" dirty="0">
              <a:latin typeface="Times New Roman" pitchFamily="18" charset="0"/>
              <a:cs typeface="Times New Roman" pitchFamily="18" charset="0"/>
            </a:endParaRPr>
          </a:p>
        </p:txBody>
      </p:sp>
      <p:sp>
        <p:nvSpPr>
          <p:cNvPr id="4" name="Title 1"/>
          <p:cNvSpPr>
            <a:spLocks noGrp="1"/>
          </p:cNvSpPr>
          <p:nvPr>
            <p:ph type="title"/>
          </p:nvPr>
        </p:nvSpPr>
        <p:spPr>
          <a:xfrm>
            <a:off x="500034" y="642918"/>
            <a:ext cx="8229600" cy="1143000"/>
          </a:xfrm>
        </p:spPr>
        <p:txBody>
          <a:bodyPr>
            <a:normAutofit/>
          </a:bodyPr>
          <a:lstStyle/>
          <a:p>
            <a:r>
              <a:rPr lang="en-US" sz="5400" dirty="0">
                <a:latin typeface="Times New Roman" pitchFamily="18" charset="0"/>
                <a:cs typeface="Times New Roman" pitchFamily="18" charset="0"/>
              </a:rPr>
              <a:t>  </a:t>
            </a:r>
            <a:r>
              <a:rPr lang="en-US" sz="6400" b="1" dirty="0">
                <a:latin typeface="Times New Roman" pitchFamily="18" charset="0"/>
                <a:cs typeface="Times New Roman" pitchFamily="18" charset="0"/>
              </a:rPr>
              <a:t>ARM</a:t>
            </a:r>
            <a:endParaRPr lang="bg-BG" sz="6400" b="1" dirty="0"/>
          </a:p>
        </p:txBody>
      </p:sp>
    </p:spTree>
    <p:extLst>
      <p:ext uri="{BB962C8B-B14F-4D97-AF65-F5344CB8AC3E}">
        <p14:creationId xmlns:p14="http://schemas.microsoft.com/office/powerpoint/2010/main" val="4154239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928802"/>
            <a:ext cx="8643998" cy="4643470"/>
          </a:xfrm>
        </p:spPr>
        <p:txBody>
          <a:bodyPr>
            <a:normAutofit fontScale="92500" lnSpcReduction="10000"/>
          </a:bodyPr>
          <a:lstStyle/>
          <a:p>
            <a:pPr marL="0" algn="just">
              <a:spcBef>
                <a:spcPts val="0"/>
              </a:spcBef>
            </a:pPr>
            <a:r>
              <a:rPr lang="ru-RU" dirty="0">
                <a:latin typeface="Times New Roman" pitchFamily="18" charset="0"/>
                <a:cs typeface="Times New Roman" pitchFamily="18" charset="0"/>
              </a:rPr>
              <a:t>През февруари 2016 г. ARM обяви лиценза Built on ARM Cortex Technology, често съкращаван до лиценз Built on Cortex (BoC). Този лиценз позволява на компаниите да си партнират с ARM и да правят модификации на дизайна на ARM Cortex. </a:t>
            </a:r>
          </a:p>
          <a:p>
            <a:pPr marL="0" algn="just">
              <a:spcBef>
                <a:spcPts val="0"/>
              </a:spcBef>
            </a:pPr>
            <a:r>
              <a:rPr lang="ru-RU" dirty="0">
                <a:latin typeface="Times New Roman" pitchFamily="18" charset="0"/>
                <a:cs typeface="Times New Roman" pitchFamily="18" charset="0"/>
              </a:rPr>
              <a:t>Най-новате версии на архитектурата на Arm е Armv9-A, която е набор от разширения на архитектурата Armv8-A и част от текущата програма за значителни подобрения на архитектурата, които ще бъдат внедрени през следващите няколко години. Целта на тези подобрения е да помогнат за увеличаване на изчислителните възможности в области като цифрова обработка на сигнали (DSP) и машинно обучение (ML) и непрекъснато подобрчване на сигурността и устойчивостта на системите.</a:t>
            </a:r>
          </a:p>
        </p:txBody>
      </p:sp>
      <p:sp>
        <p:nvSpPr>
          <p:cNvPr id="4" name="Title 1"/>
          <p:cNvSpPr>
            <a:spLocks noGrp="1"/>
          </p:cNvSpPr>
          <p:nvPr>
            <p:ph type="title"/>
          </p:nvPr>
        </p:nvSpPr>
        <p:spPr>
          <a:xfrm>
            <a:off x="500034" y="642918"/>
            <a:ext cx="8229600" cy="1143000"/>
          </a:xfrm>
        </p:spPr>
        <p:txBody>
          <a:bodyPr>
            <a:normAutofit/>
          </a:bodyPr>
          <a:lstStyle/>
          <a:p>
            <a:r>
              <a:rPr lang="en-US" sz="5400" dirty="0">
                <a:latin typeface="Times New Roman" pitchFamily="18" charset="0"/>
                <a:cs typeface="Times New Roman" pitchFamily="18" charset="0"/>
              </a:rPr>
              <a:t>  </a:t>
            </a:r>
            <a:r>
              <a:rPr lang="en-US" sz="6400" b="1" dirty="0">
                <a:latin typeface="Times New Roman" pitchFamily="18" charset="0"/>
                <a:cs typeface="Times New Roman" pitchFamily="18" charset="0"/>
              </a:rPr>
              <a:t>ARM</a:t>
            </a:r>
            <a:endParaRPr lang="bg-BG" sz="6400" b="1" dirty="0"/>
          </a:p>
        </p:txBody>
      </p:sp>
    </p:spTree>
    <p:extLst>
      <p:ext uri="{BB962C8B-B14F-4D97-AF65-F5344CB8AC3E}">
        <p14:creationId xmlns:p14="http://schemas.microsoft.com/office/powerpoint/2010/main" val="4154239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3571876"/>
            <a:ext cx="8572560" cy="3071834"/>
          </a:xfrm>
        </p:spPr>
        <p:txBody>
          <a:bodyPr>
            <a:normAutofit lnSpcReduction="10000"/>
          </a:bodyPr>
          <a:lstStyle/>
          <a:p>
            <a:pPr marL="0" algn="just">
              <a:spcBef>
                <a:spcPts val="0"/>
              </a:spcBef>
            </a:pPr>
            <a:r>
              <a:rPr lang="en-US" dirty="0">
                <a:latin typeface="Times New Roman" pitchFamily="18" charset="0"/>
                <a:cs typeface="Times New Roman" pitchFamily="18" charset="0"/>
              </a:rPr>
              <a:t>ARM </a:t>
            </a:r>
            <a:r>
              <a:rPr lang="en-US" dirty="0" err="1">
                <a:latin typeface="Times New Roman" pitchFamily="18" charset="0"/>
                <a:cs typeface="Times New Roman" pitchFamily="18" charset="0"/>
              </a:rPr>
              <a:t>чиповете</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високоскоростни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процесори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които</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известни</a:t>
            </a:r>
            <a:r>
              <a:rPr lang="en-US" dirty="0">
                <a:latin typeface="Times New Roman" pitchFamily="18" charset="0"/>
                <a:cs typeface="Times New Roman" pitchFamily="18" charset="0"/>
              </a:rPr>
              <a:t> с </a:t>
            </a:r>
            <a:r>
              <a:rPr lang="en-US" dirty="0" err="1">
                <a:latin typeface="Times New Roman" pitchFamily="18" charset="0"/>
                <a:cs typeface="Times New Roman" pitchFamily="18" charset="0"/>
              </a:rPr>
              <a:t>малкия</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размер</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на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матрицата</a:t>
            </a:r>
            <a:r>
              <a:rPr lang="en-US" dirty="0">
                <a:latin typeface="Times New Roman" pitchFamily="18" charset="0"/>
                <a:cs typeface="Times New Roman" pitchFamily="18" charset="0"/>
              </a:rPr>
              <a:t> и </a:t>
            </a:r>
            <a:r>
              <a:rPr lang="en-US" dirty="0" err="1">
                <a:latin typeface="Times New Roman" pitchFamily="18" charset="0"/>
                <a:cs typeface="Times New Roman" pitchFamily="18" charset="0"/>
              </a:rPr>
              <a:t>ниските</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изисквания</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за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мощност</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Те</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се</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използват</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широко</a:t>
            </a:r>
            <a:r>
              <a:rPr lang="en-US" dirty="0">
                <a:latin typeface="Times New Roman" pitchFamily="18" charset="0"/>
                <a:cs typeface="Times New Roman" pitchFamily="18" charset="0"/>
              </a:rPr>
              <a:t> в </a:t>
            </a:r>
            <a:r>
              <a:rPr lang="en-US" dirty="0" err="1">
                <a:latin typeface="Times New Roman" pitchFamily="18" charset="0"/>
                <a:cs typeface="Times New Roman" pitchFamily="18" charset="0"/>
              </a:rPr>
              <a:t>смартфони</a:t>
            </a:r>
            <a:r>
              <a:rPr lang="en-US" dirty="0">
                <a:latin typeface="Times New Roman" pitchFamily="18" charset="0"/>
                <a:cs typeface="Times New Roman" pitchFamily="18" charset="0"/>
              </a:rPr>
              <a:t> и </a:t>
            </a:r>
            <a:r>
              <a:rPr lang="en-US" dirty="0" err="1">
                <a:latin typeface="Times New Roman" pitchFamily="18" charset="0"/>
                <a:cs typeface="Times New Roman" pitchFamily="18" charset="0"/>
              </a:rPr>
              <a:t>други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преносими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устройства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включително</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системи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за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игри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както</a:t>
            </a:r>
            <a:r>
              <a:rPr lang="en-US" dirty="0">
                <a:latin typeface="Times New Roman" pitchFamily="18" charset="0"/>
                <a:cs typeface="Times New Roman" pitchFamily="18" charset="0"/>
              </a:rPr>
              <a:t> и </a:t>
            </a:r>
            <a:r>
              <a:rPr lang="en-US" dirty="0" err="1">
                <a:latin typeface="Times New Roman" pitchFamily="18" charset="0"/>
                <a:cs typeface="Times New Roman" pitchFamily="18" charset="0"/>
              </a:rPr>
              <a:t>голямо</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разнообразие</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от</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потребителски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продукти</a:t>
            </a:r>
            <a:r>
              <a:rPr lang="en-US" dirty="0">
                <a:latin typeface="Times New Roman" pitchFamily="18" charset="0"/>
                <a:cs typeface="Times New Roman" pitchFamily="18" charset="0"/>
              </a:rPr>
              <a:t>. ARM </a:t>
            </a:r>
            <a:r>
              <a:rPr lang="en-US" dirty="0" err="1">
                <a:latin typeface="Times New Roman" pitchFamily="18" charset="0"/>
                <a:cs typeface="Times New Roman" pitchFamily="18" charset="0"/>
              </a:rPr>
              <a:t>чиповете</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процесорите</a:t>
            </a:r>
            <a:r>
              <a:rPr lang="en-US" dirty="0">
                <a:latin typeface="Times New Roman" pitchFamily="18" charset="0"/>
                <a:cs typeface="Times New Roman" pitchFamily="18" charset="0"/>
              </a:rPr>
              <a:t> в </a:t>
            </a:r>
            <a:r>
              <a:rPr lang="en-US" dirty="0" err="1">
                <a:latin typeface="Times New Roman" pitchFamily="18" charset="0"/>
                <a:cs typeface="Times New Roman" pitchFamily="18" charset="0"/>
              </a:rPr>
              <a:t>популярните</a:t>
            </a:r>
            <a:r>
              <a:rPr lang="en-US" dirty="0">
                <a:latin typeface="Times New Roman" pitchFamily="18" charset="0"/>
                <a:cs typeface="Times New Roman" pitchFamily="18" charset="0"/>
              </a:rPr>
              <a:t> iPod и </a:t>
            </a:r>
            <a:r>
              <a:rPr lang="en-US" dirty="0" err="1">
                <a:latin typeface="Times New Roman" pitchFamily="18" charset="0"/>
                <a:cs typeface="Times New Roman" pitchFamily="18" charset="0"/>
              </a:rPr>
              <a:t>iPhone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устройства</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на</a:t>
            </a:r>
            <a:r>
              <a:rPr lang="en-US" dirty="0">
                <a:latin typeface="Times New Roman" pitchFamily="18" charset="0"/>
                <a:cs typeface="Times New Roman" pitchFamily="18" charset="0"/>
              </a:rPr>
              <a:t> Apple и </a:t>
            </a:r>
            <a:r>
              <a:rPr lang="en-US" dirty="0" err="1">
                <a:latin typeface="Times New Roman" pitchFamily="18" charset="0"/>
                <a:cs typeface="Times New Roman" pitchFamily="18" charset="0"/>
              </a:rPr>
              <a:t>се</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използват</a:t>
            </a:r>
            <a:r>
              <a:rPr lang="en-US" dirty="0">
                <a:latin typeface="Times New Roman" pitchFamily="18" charset="0"/>
                <a:cs typeface="Times New Roman" pitchFamily="18" charset="0"/>
              </a:rPr>
              <a:t> и в </a:t>
            </a:r>
            <a:r>
              <a:rPr lang="en-US" dirty="0" err="1">
                <a:latin typeface="Times New Roman" pitchFamily="18" charset="0"/>
                <a:cs typeface="Times New Roman" pitchFamily="18" charset="0"/>
              </a:rPr>
              <a:t>почти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всички</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смартфони</a:t>
            </a:r>
            <a:r>
              <a:rPr lang="en-US" dirty="0">
                <a:latin typeface="Times New Roman" pitchFamily="18" charset="0"/>
                <a:cs typeface="Times New Roman" pitchFamily="18" charset="0"/>
              </a:rPr>
              <a:t> с Android.</a:t>
            </a:r>
            <a:endParaRPr lang="bg-BG" dirty="0">
              <a:latin typeface="Times New Roman" pitchFamily="18" charset="0"/>
              <a:cs typeface="Times New Roman" pitchFamily="18" charset="0"/>
            </a:endParaRPr>
          </a:p>
          <a:p>
            <a:pPr marL="0" algn="just">
              <a:spcBef>
                <a:spcPts val="0"/>
              </a:spcBef>
            </a:pPr>
            <a:endParaRPr lang="bg-BG" dirty="0">
              <a:latin typeface="Times New Roman" pitchFamily="18" charset="0"/>
              <a:cs typeface="Times New Roman" pitchFamily="18" charset="0"/>
            </a:endParaRPr>
          </a:p>
        </p:txBody>
      </p:sp>
      <p:sp>
        <p:nvSpPr>
          <p:cNvPr id="4" name="Title 1"/>
          <p:cNvSpPr>
            <a:spLocks noGrp="1"/>
          </p:cNvSpPr>
          <p:nvPr>
            <p:ph type="title"/>
          </p:nvPr>
        </p:nvSpPr>
        <p:spPr>
          <a:xfrm>
            <a:off x="285720" y="1285860"/>
            <a:ext cx="2500330" cy="1143000"/>
          </a:xfrm>
        </p:spPr>
        <p:txBody>
          <a:bodyPr>
            <a:normAutofit/>
          </a:bodyPr>
          <a:lstStyle/>
          <a:p>
            <a:r>
              <a:rPr lang="en-US" sz="5400" dirty="0">
                <a:latin typeface="Times New Roman" pitchFamily="18" charset="0"/>
                <a:cs typeface="Times New Roman" pitchFamily="18" charset="0"/>
              </a:rPr>
              <a:t>  </a:t>
            </a:r>
            <a:r>
              <a:rPr lang="en-US" sz="6400" b="1" dirty="0">
                <a:latin typeface="Times New Roman" pitchFamily="18" charset="0"/>
                <a:cs typeface="Times New Roman" pitchFamily="18" charset="0"/>
              </a:rPr>
              <a:t>ARM</a:t>
            </a:r>
            <a:endParaRPr lang="bg-BG" sz="6400" b="1" dirty="0"/>
          </a:p>
        </p:txBody>
      </p:sp>
      <p:sp>
        <p:nvSpPr>
          <p:cNvPr id="1026" name="AutoShape 2" descr="https://technoish.com/wp-content/uploads/2022/01/arm-processor.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bg-BG"/>
          </a:p>
        </p:txBody>
      </p:sp>
      <p:sp>
        <p:nvSpPr>
          <p:cNvPr id="1028" name="AutoShape 4" descr="https://technoish.com/wp-content/uploads/2022/01/arm-processor.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bg-BG"/>
          </a:p>
        </p:txBody>
      </p:sp>
      <p:pic>
        <p:nvPicPr>
          <p:cNvPr id="1030" name="Picture 6"/>
          <p:cNvPicPr>
            <a:picLocks noChangeAspect="1" noChangeArrowheads="1"/>
          </p:cNvPicPr>
          <p:nvPr/>
        </p:nvPicPr>
        <p:blipFill>
          <a:blip r:embed="rId2" cstate="print"/>
          <a:srcRect/>
          <a:stretch>
            <a:fillRect/>
          </a:stretch>
        </p:blipFill>
        <p:spPr bwMode="auto">
          <a:xfrm>
            <a:off x="2928926" y="142852"/>
            <a:ext cx="5969042" cy="3357586"/>
          </a:xfrm>
          <a:prstGeom prst="rect">
            <a:avLst/>
          </a:prstGeom>
          <a:noFill/>
          <a:ln w="9525">
            <a:noFill/>
            <a:miter lim="800000"/>
            <a:headEnd/>
            <a:tailEnd/>
          </a:ln>
          <a:effectLst/>
        </p:spPr>
      </p:pic>
    </p:spTree>
    <p:extLst>
      <p:ext uri="{BB962C8B-B14F-4D97-AF65-F5344CB8AC3E}">
        <p14:creationId xmlns:p14="http://schemas.microsoft.com/office/powerpoint/2010/main" val="4154239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857364"/>
            <a:ext cx="8358246" cy="4214842"/>
          </a:xfrm>
        </p:spPr>
        <p:txBody>
          <a:bodyPr>
            <a:normAutofit/>
          </a:bodyPr>
          <a:lstStyle/>
          <a:p>
            <a:pPr marL="0" algn="just">
              <a:spcBef>
                <a:spcPts val="0"/>
              </a:spcBef>
            </a:pPr>
            <a:r>
              <a:rPr lang="bg-BG" sz="2800" dirty="0">
                <a:latin typeface="Times New Roman" pitchFamily="18" charset="0"/>
                <a:cs typeface="Times New Roman" pitchFamily="18" charset="0"/>
              </a:rPr>
              <a:t>Архитектурата ARM поддържа седем режима на изпълнение.</a:t>
            </a:r>
          </a:p>
          <a:p>
            <a:pPr marL="0" algn="just">
              <a:spcBef>
                <a:spcPts val="0"/>
              </a:spcBef>
            </a:pPr>
            <a:r>
              <a:rPr lang="bg-BG" sz="2800" b="1" dirty="0">
                <a:latin typeface="Times New Roman" pitchFamily="18" charset="0"/>
                <a:cs typeface="Times New Roman" pitchFamily="18" charset="0"/>
              </a:rPr>
              <a:t>Потребителски режим</a:t>
            </a:r>
            <a:r>
              <a:rPr lang="en-US" sz="2800" b="1" dirty="0">
                <a:latin typeface="Times New Roman" pitchFamily="18" charset="0"/>
                <a:cs typeface="Times New Roman" pitchFamily="18" charset="0"/>
              </a:rPr>
              <a:t> </a:t>
            </a:r>
            <a:r>
              <a:rPr lang="bg-BG" sz="2800" dirty="0">
                <a:latin typeface="Times New Roman" pitchFamily="18" charset="0"/>
                <a:cs typeface="Times New Roman" pitchFamily="18" charset="0"/>
              </a:rPr>
              <a:t>(</a:t>
            </a:r>
            <a:r>
              <a:rPr lang="en-US" sz="2800" dirty="0"/>
              <a:t>User mode</a:t>
            </a:r>
            <a:r>
              <a:rPr lang="bg-BG" sz="2800" dirty="0"/>
              <a:t>/</a:t>
            </a:r>
            <a:r>
              <a:rPr lang="en-US" sz="2800" dirty="0" err="1"/>
              <a:t>Usr</a:t>
            </a:r>
            <a:r>
              <a:rPr lang="en-US" sz="2800" dirty="0"/>
              <a:t>)</a:t>
            </a:r>
            <a:r>
              <a:rPr lang="bg-BG" sz="2800" b="1" dirty="0">
                <a:latin typeface="Times New Roman" pitchFamily="18" charset="0"/>
                <a:cs typeface="Times New Roman" pitchFamily="18" charset="0"/>
              </a:rPr>
              <a:t> - </a:t>
            </a:r>
            <a:r>
              <a:rPr lang="bg-BG" sz="2800" dirty="0">
                <a:latin typeface="Times New Roman" pitchFamily="18" charset="0"/>
                <a:cs typeface="Times New Roman" pitchFamily="18" charset="0"/>
              </a:rPr>
              <a:t>основния режим на работа, по време на който се изпълняват повечето приложни програми</a:t>
            </a:r>
            <a:r>
              <a:rPr lang="bg-BG" sz="2800" b="1" dirty="0">
                <a:latin typeface="Times New Roman" pitchFamily="18" charset="0"/>
                <a:cs typeface="Times New Roman" pitchFamily="18" charset="0"/>
              </a:rPr>
              <a:t>.</a:t>
            </a:r>
            <a:r>
              <a:rPr lang="bg-BG" sz="2800" dirty="0">
                <a:latin typeface="Times New Roman" pitchFamily="18" charset="0"/>
                <a:cs typeface="Times New Roman" pitchFamily="18" charset="0"/>
              </a:rPr>
              <a:t> Докато процесорът е в потребителски режим,  изпълняваната програма не може да получи достъп до защитени системни ресурси или да промени режима, освен чрез предизвикване на изключение.</a:t>
            </a:r>
          </a:p>
          <a:p>
            <a:pPr marL="0" algn="just">
              <a:spcBef>
                <a:spcPts val="0"/>
              </a:spcBef>
              <a:buNone/>
            </a:pPr>
            <a:endParaRPr lang="bg-BG" dirty="0"/>
          </a:p>
          <a:p>
            <a:pPr marL="0" algn="just">
              <a:spcBef>
                <a:spcPts val="0"/>
              </a:spcBef>
            </a:pPr>
            <a:endParaRPr lang="ru-RU" dirty="0">
              <a:latin typeface="Times New Roman" pitchFamily="18" charset="0"/>
              <a:cs typeface="Times New Roman" pitchFamily="18" charset="0"/>
            </a:endParaRPr>
          </a:p>
        </p:txBody>
      </p:sp>
      <p:sp>
        <p:nvSpPr>
          <p:cNvPr id="4" name="Title 1"/>
          <p:cNvSpPr>
            <a:spLocks noGrp="1"/>
          </p:cNvSpPr>
          <p:nvPr>
            <p:ph type="title"/>
          </p:nvPr>
        </p:nvSpPr>
        <p:spPr>
          <a:xfrm>
            <a:off x="500034" y="357166"/>
            <a:ext cx="8229600" cy="1143000"/>
          </a:xfrm>
        </p:spPr>
        <p:txBody>
          <a:bodyPr>
            <a:normAutofit/>
          </a:bodyPr>
          <a:lstStyle/>
          <a:p>
            <a:r>
              <a:rPr lang="en-US" sz="5400" dirty="0">
                <a:latin typeface="Times New Roman" pitchFamily="18" charset="0"/>
                <a:cs typeface="Times New Roman" pitchFamily="18" charset="0"/>
              </a:rPr>
              <a:t>  </a:t>
            </a:r>
            <a:r>
              <a:rPr lang="ru-RU" sz="6000" dirty="0">
                <a:latin typeface="Times New Roman" pitchFamily="18" charset="0"/>
                <a:cs typeface="Times New Roman" pitchFamily="18" charset="0"/>
              </a:rPr>
              <a:t>Режими</a:t>
            </a:r>
            <a:r>
              <a:rPr lang="en-US" sz="6000" dirty="0">
                <a:latin typeface="Times New Roman" pitchFamily="18" charset="0"/>
                <a:cs typeface="Times New Roman" pitchFamily="18" charset="0"/>
              </a:rPr>
              <a:t> </a:t>
            </a:r>
            <a:r>
              <a:rPr lang="en-US" sz="6000" dirty="0" err="1">
                <a:latin typeface="Times New Roman" pitchFamily="18" charset="0"/>
                <a:cs typeface="Times New Roman" pitchFamily="18" charset="0"/>
              </a:rPr>
              <a:t>на</a:t>
            </a:r>
            <a:r>
              <a:rPr lang="en-US" sz="6000" dirty="0">
                <a:latin typeface="Times New Roman" pitchFamily="18" charset="0"/>
                <a:cs typeface="Times New Roman" pitchFamily="18" charset="0"/>
              </a:rPr>
              <a:t> </a:t>
            </a:r>
            <a:r>
              <a:rPr lang="en-US" sz="6000" dirty="0" err="1">
                <a:latin typeface="Times New Roman" pitchFamily="18" charset="0"/>
                <a:cs typeface="Times New Roman" pitchFamily="18" charset="0"/>
              </a:rPr>
              <a:t>работа</a:t>
            </a:r>
            <a:endParaRPr lang="bg-BG" sz="6400" b="1" dirty="0"/>
          </a:p>
        </p:txBody>
      </p:sp>
    </p:spTree>
    <p:extLst>
      <p:ext uri="{BB962C8B-B14F-4D97-AF65-F5344CB8AC3E}">
        <p14:creationId xmlns:p14="http://schemas.microsoft.com/office/powerpoint/2010/main" val="4154239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1714464"/>
            <a:ext cx="8001056" cy="4357742"/>
          </a:xfrm>
        </p:spPr>
        <p:txBody>
          <a:bodyPr>
            <a:normAutofit/>
          </a:bodyPr>
          <a:lstStyle/>
          <a:p>
            <a:pPr marL="0" algn="just">
              <a:spcBef>
                <a:spcPts val="0"/>
              </a:spcBef>
            </a:pPr>
            <a:r>
              <a:rPr lang="bg-BG" dirty="0">
                <a:latin typeface="Times New Roman" pitchFamily="18" charset="0"/>
                <a:cs typeface="Times New Roman" pitchFamily="18" charset="0"/>
              </a:rPr>
              <a:t>Останалите шест режима на изпълнение се наричат </a:t>
            </a:r>
            <a:r>
              <a:rPr lang="bg-BG" b="1" dirty="0">
                <a:latin typeface="Times New Roman" pitchFamily="18" charset="0"/>
                <a:cs typeface="Times New Roman" pitchFamily="18" charset="0"/>
              </a:rPr>
              <a:t>привилегировани режими</a:t>
            </a:r>
            <a:r>
              <a:rPr lang="bg-BG" dirty="0">
                <a:latin typeface="Times New Roman" pitchFamily="18" charset="0"/>
                <a:cs typeface="Times New Roman" pitchFamily="18" charset="0"/>
              </a:rPr>
              <a:t>. Тези режими се използват за стартиране на системния софтуер. </a:t>
            </a:r>
          </a:p>
          <a:p>
            <a:pPr algn="just"/>
            <a:r>
              <a:rPr lang="bg-BG" dirty="0">
                <a:latin typeface="Times New Roman" pitchFamily="18" charset="0"/>
                <a:cs typeface="Times New Roman" pitchFamily="18" charset="0"/>
              </a:rPr>
              <a:t>Основните предимства за дефинирането на толкова много различни привилегировани режими са: </a:t>
            </a:r>
          </a:p>
          <a:p>
            <a:pPr algn="just"/>
            <a:r>
              <a:rPr lang="bg-BG" dirty="0">
                <a:latin typeface="Times New Roman" pitchFamily="18" charset="0"/>
                <a:cs typeface="Times New Roman" pitchFamily="18" charset="0"/>
              </a:rPr>
              <a:t>(1) ОС може да приспособи използването на системния софтуер към различни обстоятелства;</a:t>
            </a:r>
          </a:p>
          <a:p>
            <a:pPr algn="just"/>
            <a:r>
              <a:rPr lang="bg-BG" dirty="0">
                <a:latin typeface="Times New Roman" pitchFamily="18" charset="0"/>
                <a:cs typeface="Times New Roman" pitchFamily="18" charset="0"/>
              </a:rPr>
              <a:t>(2) определени регистри са предназначени за използване за всеки от привилегированите режими, позволявайки по-бързо промени в контекста. </a:t>
            </a:r>
          </a:p>
          <a:p>
            <a:pPr marL="0" algn="just">
              <a:spcBef>
                <a:spcPts val="0"/>
              </a:spcBef>
            </a:pPr>
            <a:endParaRPr lang="bg-BG" dirty="0"/>
          </a:p>
          <a:p>
            <a:pPr marL="0" algn="just">
              <a:spcBef>
                <a:spcPts val="0"/>
              </a:spcBef>
            </a:pPr>
            <a:endParaRPr lang="ru-RU" dirty="0">
              <a:latin typeface="Times New Roman" pitchFamily="18" charset="0"/>
              <a:cs typeface="Times New Roman" pitchFamily="18" charset="0"/>
            </a:endParaRPr>
          </a:p>
        </p:txBody>
      </p:sp>
      <p:sp>
        <p:nvSpPr>
          <p:cNvPr id="4" name="Title 1"/>
          <p:cNvSpPr>
            <a:spLocks noGrp="1"/>
          </p:cNvSpPr>
          <p:nvPr>
            <p:ph type="title"/>
          </p:nvPr>
        </p:nvSpPr>
        <p:spPr>
          <a:xfrm>
            <a:off x="500034" y="357166"/>
            <a:ext cx="8229600" cy="1143000"/>
          </a:xfrm>
        </p:spPr>
        <p:txBody>
          <a:bodyPr>
            <a:normAutofit/>
          </a:bodyPr>
          <a:lstStyle/>
          <a:p>
            <a:r>
              <a:rPr lang="en-US" sz="5400" dirty="0">
                <a:latin typeface="Times New Roman" pitchFamily="18" charset="0"/>
                <a:cs typeface="Times New Roman" pitchFamily="18" charset="0"/>
              </a:rPr>
              <a:t>  </a:t>
            </a:r>
            <a:r>
              <a:rPr lang="ru-RU" sz="6000" dirty="0">
                <a:latin typeface="Times New Roman" pitchFamily="18" charset="0"/>
                <a:cs typeface="Times New Roman" pitchFamily="18" charset="0"/>
              </a:rPr>
              <a:t>Режими</a:t>
            </a:r>
            <a:r>
              <a:rPr lang="en-US" sz="6000" dirty="0">
                <a:latin typeface="Times New Roman" pitchFamily="18" charset="0"/>
                <a:cs typeface="Times New Roman" pitchFamily="18" charset="0"/>
              </a:rPr>
              <a:t> </a:t>
            </a:r>
            <a:r>
              <a:rPr lang="en-US" sz="6000" dirty="0" err="1">
                <a:latin typeface="Times New Roman" pitchFamily="18" charset="0"/>
                <a:cs typeface="Times New Roman" pitchFamily="18" charset="0"/>
              </a:rPr>
              <a:t>на</a:t>
            </a:r>
            <a:r>
              <a:rPr lang="en-US" sz="6000" dirty="0">
                <a:latin typeface="Times New Roman" pitchFamily="18" charset="0"/>
                <a:cs typeface="Times New Roman" pitchFamily="18" charset="0"/>
              </a:rPr>
              <a:t> </a:t>
            </a:r>
            <a:r>
              <a:rPr lang="en-US" sz="6000" dirty="0" err="1">
                <a:latin typeface="Times New Roman" pitchFamily="18" charset="0"/>
                <a:cs typeface="Times New Roman" pitchFamily="18" charset="0"/>
              </a:rPr>
              <a:t>работа</a:t>
            </a:r>
            <a:endParaRPr lang="bg-BG" sz="6400" b="1" dirty="0"/>
          </a:p>
        </p:txBody>
      </p:sp>
    </p:spTree>
    <p:extLst>
      <p:ext uri="{BB962C8B-B14F-4D97-AF65-F5344CB8AC3E}">
        <p14:creationId xmlns:p14="http://schemas.microsoft.com/office/powerpoint/2010/main" val="4154239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1714464"/>
            <a:ext cx="8001056" cy="4143428"/>
          </a:xfrm>
        </p:spPr>
        <p:txBody>
          <a:bodyPr>
            <a:noAutofit/>
          </a:bodyPr>
          <a:lstStyle/>
          <a:p>
            <a:pPr marL="0" algn="just">
              <a:spcBef>
                <a:spcPts val="0"/>
              </a:spcBef>
            </a:pPr>
            <a:r>
              <a:rPr lang="bg-BG" dirty="0"/>
              <a:t>Пет от тези режими са известни като режими на изключение. Те имат пълен достъп до системните ресурси и могат свободно да променят режимите. Въвеждат се, когато възникнат специфични изключения. Всеки от тези режими има някои специални регистри, които заместват някои от регистрите на потребителския режим и които се използват за избягване на повреда на информацията за състоянието на потребителския режим, когато възникне изключението.</a:t>
            </a:r>
            <a:endParaRPr lang="ru-RU" dirty="0">
              <a:latin typeface="Times New Roman" pitchFamily="18" charset="0"/>
              <a:cs typeface="Times New Roman" pitchFamily="18" charset="0"/>
            </a:endParaRPr>
          </a:p>
        </p:txBody>
      </p:sp>
      <p:sp>
        <p:nvSpPr>
          <p:cNvPr id="4" name="Title 1"/>
          <p:cNvSpPr>
            <a:spLocks noGrp="1"/>
          </p:cNvSpPr>
          <p:nvPr>
            <p:ph type="title"/>
          </p:nvPr>
        </p:nvSpPr>
        <p:spPr>
          <a:xfrm>
            <a:off x="500034" y="357166"/>
            <a:ext cx="8229600" cy="1143000"/>
          </a:xfrm>
        </p:spPr>
        <p:txBody>
          <a:bodyPr>
            <a:normAutofit/>
          </a:bodyPr>
          <a:lstStyle/>
          <a:p>
            <a:r>
              <a:rPr lang="en-US" sz="5400" dirty="0">
                <a:latin typeface="Times New Roman" pitchFamily="18" charset="0"/>
                <a:cs typeface="Times New Roman" pitchFamily="18" charset="0"/>
              </a:rPr>
              <a:t>  </a:t>
            </a:r>
            <a:r>
              <a:rPr lang="ru-RU" sz="6000" dirty="0">
                <a:latin typeface="Times New Roman" pitchFamily="18" charset="0"/>
                <a:cs typeface="Times New Roman" pitchFamily="18" charset="0"/>
              </a:rPr>
              <a:t>Режими</a:t>
            </a:r>
            <a:r>
              <a:rPr lang="en-US" sz="6000" dirty="0">
                <a:latin typeface="Times New Roman" pitchFamily="18" charset="0"/>
                <a:cs typeface="Times New Roman" pitchFamily="18" charset="0"/>
              </a:rPr>
              <a:t> </a:t>
            </a:r>
            <a:r>
              <a:rPr lang="en-US" sz="6000" dirty="0" err="1">
                <a:latin typeface="Times New Roman" pitchFamily="18" charset="0"/>
                <a:cs typeface="Times New Roman" pitchFamily="18" charset="0"/>
              </a:rPr>
              <a:t>на</a:t>
            </a:r>
            <a:r>
              <a:rPr lang="en-US" sz="6000" dirty="0">
                <a:latin typeface="Times New Roman" pitchFamily="18" charset="0"/>
                <a:cs typeface="Times New Roman" pitchFamily="18" charset="0"/>
              </a:rPr>
              <a:t> </a:t>
            </a:r>
            <a:r>
              <a:rPr lang="en-US" sz="6000" dirty="0" err="1">
                <a:latin typeface="Times New Roman" pitchFamily="18" charset="0"/>
                <a:cs typeface="Times New Roman" pitchFamily="18" charset="0"/>
              </a:rPr>
              <a:t>работа</a:t>
            </a:r>
            <a:endParaRPr lang="bg-BG" sz="6400" b="1" dirty="0"/>
          </a:p>
        </p:txBody>
      </p:sp>
    </p:spTree>
    <p:extLst>
      <p:ext uri="{BB962C8B-B14F-4D97-AF65-F5344CB8AC3E}">
        <p14:creationId xmlns:p14="http://schemas.microsoft.com/office/powerpoint/2010/main" val="4154239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714488"/>
            <a:ext cx="8572560" cy="5000660"/>
          </a:xfrm>
        </p:spPr>
        <p:txBody>
          <a:bodyPr>
            <a:noAutofit/>
          </a:bodyPr>
          <a:lstStyle/>
          <a:p>
            <a:pPr marL="0" indent="0" algn="just">
              <a:spcBef>
                <a:spcPts val="0"/>
              </a:spcBef>
            </a:pPr>
            <a:r>
              <a:rPr lang="bg-BG" dirty="0">
                <a:latin typeface="Times New Roman" pitchFamily="18" charset="0"/>
                <a:cs typeface="Times New Roman" pitchFamily="18" charset="0"/>
              </a:rPr>
              <a:t>Режимите на изключение са както следва: </a:t>
            </a:r>
          </a:p>
          <a:p>
            <a:pPr marL="0" indent="0" algn="just">
              <a:spcBef>
                <a:spcPts val="0"/>
              </a:spcBef>
            </a:pPr>
            <a:r>
              <a:rPr lang="bg-BG" dirty="0">
                <a:latin typeface="Times New Roman" pitchFamily="18" charset="0"/>
                <a:cs typeface="Times New Roman" pitchFamily="18" charset="0"/>
              </a:rPr>
              <a:t>■ </a:t>
            </a:r>
            <a:r>
              <a:rPr lang="bg-BG" b="1" dirty="0">
                <a:latin typeface="Times New Roman" pitchFamily="18" charset="0"/>
                <a:cs typeface="Times New Roman" pitchFamily="18" charset="0"/>
              </a:rPr>
              <a:t>Режим супервайзор</a:t>
            </a:r>
            <a:r>
              <a:rPr lang="en-US" b="1" dirty="0">
                <a:latin typeface="Times New Roman" pitchFamily="18" charset="0"/>
                <a:cs typeface="Times New Roman" pitchFamily="18" charset="0"/>
              </a:rPr>
              <a:t> (</a:t>
            </a:r>
            <a:r>
              <a:rPr lang="en-US" dirty="0"/>
              <a:t>Supervisor mode/svc)</a:t>
            </a:r>
            <a:r>
              <a:rPr lang="bg-BG" b="1" dirty="0">
                <a:latin typeface="Times New Roman" pitchFamily="18" charset="0"/>
                <a:cs typeface="Times New Roman" pitchFamily="18" charset="0"/>
              </a:rPr>
              <a:t>:</a:t>
            </a:r>
            <a:r>
              <a:rPr lang="bg-BG" dirty="0">
                <a:latin typeface="Times New Roman" pitchFamily="18" charset="0"/>
                <a:cs typeface="Times New Roman" pitchFamily="18" charset="0"/>
              </a:rPr>
              <a:t> Обикновено в него работи ОС. Въвежда се, когато процесорът срещне инструкция за софтуерно прекъсване. Софтуерните прекъсвания са стандартен начин за извикване на услуги на операционната система на ARM. </a:t>
            </a:r>
          </a:p>
          <a:p>
            <a:pPr marL="0" indent="0" algn="just">
              <a:spcBef>
                <a:spcPts val="0"/>
              </a:spcBef>
            </a:pPr>
            <a:r>
              <a:rPr lang="bg-BG" dirty="0">
                <a:latin typeface="Times New Roman" pitchFamily="18" charset="0"/>
                <a:cs typeface="Times New Roman" pitchFamily="18" charset="0"/>
              </a:rPr>
              <a:t>■ </a:t>
            </a:r>
            <a:r>
              <a:rPr lang="bg-BG" b="1" dirty="0">
                <a:latin typeface="Times New Roman" pitchFamily="18" charset="0"/>
                <a:cs typeface="Times New Roman" pitchFamily="18" charset="0"/>
              </a:rPr>
              <a:t>Режим на прекратяване</a:t>
            </a:r>
            <a:r>
              <a:rPr lang="en-US" dirty="0">
                <a:latin typeface="Times New Roman" pitchFamily="18" charset="0"/>
                <a:cs typeface="Times New Roman" pitchFamily="18" charset="0"/>
              </a:rPr>
              <a:t>(Abort/</a:t>
            </a:r>
            <a:r>
              <a:rPr lang="en-US" dirty="0" err="1"/>
              <a:t>abt</a:t>
            </a:r>
            <a:r>
              <a:rPr lang="en-US" dirty="0"/>
              <a:t>)</a:t>
            </a:r>
            <a:r>
              <a:rPr lang="bg-BG" b="1" dirty="0">
                <a:latin typeface="Times New Roman" pitchFamily="18" charset="0"/>
                <a:cs typeface="Times New Roman" pitchFamily="18" charset="0"/>
              </a:rPr>
              <a:t>: </a:t>
            </a:r>
            <a:r>
              <a:rPr lang="bg-BG" dirty="0">
                <a:latin typeface="Times New Roman" pitchFamily="18" charset="0"/>
                <a:cs typeface="Times New Roman" pitchFamily="18" charset="0"/>
              </a:rPr>
              <a:t>Въвежда се в отговор на грешки в паметта. </a:t>
            </a:r>
          </a:p>
          <a:p>
            <a:pPr marL="0" indent="0" algn="just">
              <a:spcBef>
                <a:spcPts val="0"/>
              </a:spcBef>
            </a:pPr>
            <a:r>
              <a:rPr lang="bg-BG" dirty="0">
                <a:latin typeface="Times New Roman" pitchFamily="18" charset="0"/>
                <a:cs typeface="Times New Roman" pitchFamily="18" charset="0"/>
              </a:rPr>
              <a:t>■ </a:t>
            </a:r>
            <a:r>
              <a:rPr lang="bg-BG" b="1" dirty="0">
                <a:latin typeface="Times New Roman" pitchFamily="18" charset="0"/>
                <a:cs typeface="Times New Roman" pitchFamily="18" charset="0"/>
              </a:rPr>
              <a:t>Недефиниран режим</a:t>
            </a:r>
            <a:r>
              <a:rPr lang="en-US" b="1" dirty="0">
                <a:latin typeface="Times New Roman" pitchFamily="18" charset="0"/>
                <a:cs typeface="Times New Roman" pitchFamily="18" charset="0"/>
              </a:rPr>
              <a:t>(</a:t>
            </a:r>
            <a:r>
              <a:rPr lang="en-US" dirty="0"/>
              <a:t>Undefined mode/und)</a:t>
            </a:r>
            <a:r>
              <a:rPr lang="bg-BG" dirty="0">
                <a:latin typeface="Times New Roman" pitchFamily="18" charset="0"/>
                <a:cs typeface="Times New Roman" pitchFamily="18" charset="0"/>
              </a:rPr>
              <a:t>: Въвежда се, когато процесорът се опитва да изпълни инструкция, която не се поддържа нито от основното целочислено ядро, нито от един от копроцесорите. </a:t>
            </a:r>
          </a:p>
          <a:p>
            <a:pPr marL="0" indent="0">
              <a:spcBef>
                <a:spcPts val="0"/>
              </a:spcBef>
            </a:pPr>
            <a:endParaRPr lang="bg-BG" dirty="0">
              <a:latin typeface="Times New Roman" pitchFamily="18" charset="0"/>
              <a:cs typeface="Times New Roman" pitchFamily="18" charset="0"/>
            </a:endParaRPr>
          </a:p>
          <a:p>
            <a:pPr marL="0" indent="0" algn="just">
              <a:spcBef>
                <a:spcPts val="0"/>
              </a:spcBef>
            </a:pPr>
            <a:endParaRPr lang="ru-RU" dirty="0">
              <a:latin typeface="Times New Roman" pitchFamily="18" charset="0"/>
              <a:cs typeface="Times New Roman" pitchFamily="18" charset="0"/>
            </a:endParaRPr>
          </a:p>
        </p:txBody>
      </p:sp>
      <p:sp>
        <p:nvSpPr>
          <p:cNvPr id="4" name="Title 1"/>
          <p:cNvSpPr>
            <a:spLocks noGrp="1"/>
          </p:cNvSpPr>
          <p:nvPr>
            <p:ph type="title"/>
          </p:nvPr>
        </p:nvSpPr>
        <p:spPr>
          <a:xfrm>
            <a:off x="500034" y="357166"/>
            <a:ext cx="8229600" cy="1143000"/>
          </a:xfrm>
        </p:spPr>
        <p:txBody>
          <a:bodyPr>
            <a:normAutofit/>
          </a:bodyPr>
          <a:lstStyle/>
          <a:p>
            <a:r>
              <a:rPr lang="en-US" sz="5400" dirty="0">
                <a:latin typeface="Times New Roman" pitchFamily="18" charset="0"/>
                <a:cs typeface="Times New Roman" pitchFamily="18" charset="0"/>
              </a:rPr>
              <a:t>  </a:t>
            </a:r>
            <a:r>
              <a:rPr lang="ru-RU" sz="6000" dirty="0">
                <a:latin typeface="Times New Roman" pitchFamily="18" charset="0"/>
                <a:cs typeface="Times New Roman" pitchFamily="18" charset="0"/>
              </a:rPr>
              <a:t>Режими</a:t>
            </a:r>
            <a:r>
              <a:rPr lang="en-US" sz="6000" dirty="0">
                <a:latin typeface="Times New Roman" pitchFamily="18" charset="0"/>
                <a:cs typeface="Times New Roman" pitchFamily="18" charset="0"/>
              </a:rPr>
              <a:t> </a:t>
            </a:r>
            <a:r>
              <a:rPr lang="en-US" sz="6000" dirty="0" err="1">
                <a:latin typeface="Times New Roman" pitchFamily="18" charset="0"/>
                <a:cs typeface="Times New Roman" pitchFamily="18" charset="0"/>
              </a:rPr>
              <a:t>на</a:t>
            </a:r>
            <a:r>
              <a:rPr lang="en-US" sz="6000" dirty="0">
                <a:latin typeface="Times New Roman" pitchFamily="18" charset="0"/>
                <a:cs typeface="Times New Roman" pitchFamily="18" charset="0"/>
              </a:rPr>
              <a:t> </a:t>
            </a:r>
            <a:r>
              <a:rPr lang="en-US" sz="6000" dirty="0" err="1">
                <a:latin typeface="Times New Roman" pitchFamily="18" charset="0"/>
                <a:cs typeface="Times New Roman" pitchFamily="18" charset="0"/>
              </a:rPr>
              <a:t>работа</a:t>
            </a:r>
            <a:endParaRPr lang="bg-BG" sz="6400" b="1" dirty="0"/>
          </a:p>
        </p:txBody>
      </p:sp>
    </p:spTree>
    <p:extLst>
      <p:ext uri="{BB962C8B-B14F-4D97-AF65-F5344CB8AC3E}">
        <p14:creationId xmlns:p14="http://schemas.microsoft.com/office/powerpoint/2010/main" val="4154239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44" y="1428736"/>
            <a:ext cx="8858312" cy="5286412"/>
          </a:xfrm>
        </p:spPr>
        <p:txBody>
          <a:bodyPr>
            <a:noAutofit/>
          </a:bodyPr>
          <a:lstStyle/>
          <a:p>
            <a:pPr marL="0" indent="0" algn="just">
              <a:spcBef>
                <a:spcPts val="0"/>
              </a:spcBef>
            </a:pPr>
            <a:r>
              <a:rPr lang="bg-BG" sz="2300" dirty="0">
                <a:latin typeface="Times New Roman" pitchFamily="18" charset="0"/>
                <a:cs typeface="Times New Roman" pitchFamily="18" charset="0"/>
              </a:rPr>
              <a:t>■ </a:t>
            </a:r>
            <a:r>
              <a:rPr lang="bg-BG" sz="2300" b="1" dirty="0">
                <a:latin typeface="Times New Roman" pitchFamily="18" charset="0"/>
                <a:cs typeface="Times New Roman" pitchFamily="18" charset="0"/>
              </a:rPr>
              <a:t>Режим на бързо прекъсване</a:t>
            </a:r>
            <a:r>
              <a:rPr lang="en-US" sz="2300" dirty="0">
                <a:latin typeface="Times New Roman" pitchFamily="18" charset="0"/>
                <a:cs typeface="Times New Roman" pitchFamily="18" charset="0"/>
              </a:rPr>
              <a:t>(Fast Interrupt</a:t>
            </a:r>
            <a:r>
              <a:rPr lang="bg-BG" sz="2300" dirty="0">
                <a:latin typeface="Times New Roman" pitchFamily="18" charset="0"/>
                <a:cs typeface="Times New Roman" pitchFamily="18" charset="0"/>
              </a:rPr>
              <a:t>/</a:t>
            </a:r>
            <a:r>
              <a:rPr lang="en-US" sz="2400" dirty="0" err="1">
                <a:latin typeface="Times New Roman" pitchFamily="18" charset="0"/>
                <a:cs typeface="Times New Roman" pitchFamily="18" charset="0"/>
              </a:rPr>
              <a:t>fiq</a:t>
            </a:r>
            <a:r>
              <a:rPr lang="en-US" sz="2400" dirty="0">
                <a:latin typeface="Times New Roman" pitchFamily="18" charset="0"/>
                <a:cs typeface="Times New Roman" pitchFamily="18" charset="0"/>
              </a:rPr>
              <a:t>)</a:t>
            </a:r>
            <a:r>
              <a:rPr lang="bg-BG" sz="2300">
                <a:latin typeface="Times New Roman" pitchFamily="18" charset="0"/>
                <a:cs typeface="Times New Roman" pitchFamily="18" charset="0"/>
              </a:rPr>
              <a:t>: Влиза в него </a:t>
            </a:r>
            <a:r>
              <a:rPr lang="bg-BG" sz="2300" dirty="0">
                <a:latin typeface="Times New Roman" pitchFamily="18" charset="0"/>
                <a:cs typeface="Times New Roman" pitchFamily="18" charset="0"/>
              </a:rPr>
              <a:t>винаги, когато процесорът получи сигнал за прекъсване от определения източник на бързо прекъсване. Едно бързо прекъсване не може да бъде прекъснато, но бързо прекъсване може да прекъсне нормално прекъсване.</a:t>
            </a:r>
          </a:p>
          <a:p>
            <a:pPr marL="0" indent="0" algn="just">
              <a:spcBef>
                <a:spcPts val="0"/>
              </a:spcBef>
            </a:pPr>
            <a:r>
              <a:rPr lang="bg-BG" sz="2300" dirty="0">
                <a:latin typeface="Times New Roman" pitchFamily="18" charset="0"/>
                <a:cs typeface="Times New Roman" pitchFamily="18" charset="0"/>
              </a:rPr>
              <a:t>■ </a:t>
            </a:r>
            <a:r>
              <a:rPr lang="bg-BG" sz="2300" b="1" dirty="0">
                <a:latin typeface="Times New Roman" pitchFamily="18" charset="0"/>
                <a:cs typeface="Times New Roman" pitchFamily="18" charset="0"/>
              </a:rPr>
              <a:t>Режим на прекъсване</a:t>
            </a:r>
            <a:r>
              <a:rPr lang="en-US" sz="2300" b="1" dirty="0">
                <a:latin typeface="Times New Roman" pitchFamily="18" charset="0"/>
                <a:cs typeface="Times New Roman" pitchFamily="18" charset="0"/>
              </a:rPr>
              <a:t>(</a:t>
            </a:r>
            <a:r>
              <a:rPr lang="en-US" sz="2400" dirty="0">
                <a:latin typeface="Times New Roman" pitchFamily="18" charset="0"/>
                <a:cs typeface="Times New Roman" pitchFamily="18" charset="0"/>
              </a:rPr>
              <a:t>Interrupt/IRQ) </a:t>
            </a:r>
            <a:r>
              <a:rPr lang="bg-BG" sz="2300" b="1" dirty="0">
                <a:latin typeface="Times New Roman" pitchFamily="18" charset="0"/>
                <a:cs typeface="Times New Roman" pitchFamily="18" charset="0"/>
              </a:rPr>
              <a:t>:</a:t>
            </a:r>
            <a:r>
              <a:rPr lang="bg-BG" sz="2300" dirty="0">
                <a:latin typeface="Times New Roman" pitchFamily="18" charset="0"/>
                <a:cs typeface="Times New Roman" pitchFamily="18" charset="0"/>
              </a:rPr>
              <a:t> Влиза в него когато процесорът получи сигнал за прекъсване от друг източник на прекъсване (различен от бързо прекъсване). Едно прекъсване може да бъде прекъснато само от бързо прекъсване. </a:t>
            </a:r>
          </a:p>
          <a:p>
            <a:pPr marL="0" indent="0" algn="just">
              <a:spcBef>
                <a:spcPts val="0"/>
              </a:spcBef>
            </a:pPr>
            <a:r>
              <a:rPr lang="bg-BG" sz="2300" dirty="0">
                <a:latin typeface="Times New Roman" pitchFamily="18" charset="0"/>
                <a:cs typeface="Times New Roman" pitchFamily="18" charset="0"/>
              </a:rPr>
              <a:t>■ </a:t>
            </a:r>
            <a:r>
              <a:rPr lang="bg-BG" sz="2300" b="1" dirty="0">
                <a:latin typeface="Times New Roman" pitchFamily="18" charset="0"/>
                <a:cs typeface="Times New Roman" pitchFamily="18" charset="0"/>
              </a:rPr>
              <a:t>Системен режим</a:t>
            </a:r>
            <a:r>
              <a:rPr lang="en-US" sz="2300" b="1" dirty="0">
                <a:latin typeface="Times New Roman" pitchFamily="18" charset="0"/>
                <a:cs typeface="Times New Roman" pitchFamily="18" charset="0"/>
              </a:rPr>
              <a:t>(</a:t>
            </a:r>
            <a:r>
              <a:rPr lang="en-US" sz="2400" dirty="0">
                <a:latin typeface="Times New Roman" pitchFamily="18" charset="0"/>
                <a:cs typeface="Times New Roman" pitchFamily="18" charset="0"/>
              </a:rPr>
              <a:t>System mode/sys)</a:t>
            </a:r>
            <a:r>
              <a:rPr lang="bg-BG" sz="2300" dirty="0">
                <a:latin typeface="Times New Roman" pitchFamily="18" charset="0"/>
                <a:cs typeface="Times New Roman" pitchFamily="18" charset="0"/>
              </a:rPr>
              <a:t>. Този режим не се стартира от никакви изключения и използва същите регистри, налични в потребителския режим. Системният режим се използва за изпълнение на определени привилегировани задачи на операционната система. Задачите в системния режим могат да бъдат прекъснати от всяка от петте категории изключения. </a:t>
            </a:r>
          </a:p>
          <a:p>
            <a:pPr marL="0" indent="0" algn="just">
              <a:spcBef>
                <a:spcPts val="0"/>
              </a:spcBef>
            </a:pPr>
            <a:endParaRPr lang="ru-RU" sz="2300" dirty="0">
              <a:latin typeface="Times New Roman" pitchFamily="18" charset="0"/>
              <a:cs typeface="Times New Roman" pitchFamily="18" charset="0"/>
            </a:endParaRPr>
          </a:p>
        </p:txBody>
      </p:sp>
      <p:sp>
        <p:nvSpPr>
          <p:cNvPr id="4" name="Title 1"/>
          <p:cNvSpPr>
            <a:spLocks noGrp="1"/>
          </p:cNvSpPr>
          <p:nvPr>
            <p:ph type="title"/>
          </p:nvPr>
        </p:nvSpPr>
        <p:spPr>
          <a:xfrm>
            <a:off x="500034" y="357166"/>
            <a:ext cx="8229600" cy="1143000"/>
          </a:xfrm>
        </p:spPr>
        <p:txBody>
          <a:bodyPr>
            <a:normAutofit/>
          </a:bodyPr>
          <a:lstStyle/>
          <a:p>
            <a:r>
              <a:rPr lang="en-US" sz="5400" dirty="0">
                <a:latin typeface="Times New Roman" pitchFamily="18" charset="0"/>
                <a:cs typeface="Times New Roman" pitchFamily="18" charset="0"/>
              </a:rPr>
              <a:t>  </a:t>
            </a:r>
            <a:r>
              <a:rPr lang="ru-RU" sz="6000" dirty="0">
                <a:latin typeface="Times New Roman" pitchFamily="18" charset="0"/>
                <a:cs typeface="Times New Roman" pitchFamily="18" charset="0"/>
              </a:rPr>
              <a:t>Режими</a:t>
            </a:r>
            <a:r>
              <a:rPr lang="en-US" sz="6000" dirty="0">
                <a:latin typeface="Times New Roman" pitchFamily="18" charset="0"/>
                <a:cs typeface="Times New Roman" pitchFamily="18" charset="0"/>
              </a:rPr>
              <a:t> </a:t>
            </a:r>
            <a:r>
              <a:rPr lang="en-US" sz="6000" dirty="0" err="1">
                <a:latin typeface="Times New Roman" pitchFamily="18" charset="0"/>
                <a:cs typeface="Times New Roman" pitchFamily="18" charset="0"/>
              </a:rPr>
              <a:t>на</a:t>
            </a:r>
            <a:r>
              <a:rPr lang="en-US" sz="6000" dirty="0">
                <a:latin typeface="Times New Roman" pitchFamily="18" charset="0"/>
                <a:cs typeface="Times New Roman" pitchFamily="18" charset="0"/>
              </a:rPr>
              <a:t> </a:t>
            </a:r>
            <a:r>
              <a:rPr lang="en-US" sz="6000" dirty="0" err="1">
                <a:latin typeface="Times New Roman" pitchFamily="18" charset="0"/>
                <a:cs typeface="Times New Roman" pitchFamily="18" charset="0"/>
              </a:rPr>
              <a:t>работа</a:t>
            </a:r>
            <a:endParaRPr lang="bg-BG" sz="6400" b="1" dirty="0"/>
          </a:p>
        </p:txBody>
      </p:sp>
    </p:spTree>
    <p:extLst>
      <p:ext uri="{BB962C8B-B14F-4D97-AF65-F5344CB8AC3E}">
        <p14:creationId xmlns:p14="http://schemas.microsoft.com/office/powerpoint/2010/main" val="4154239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2285984" y="6457890"/>
            <a:ext cx="5000628"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bg-BG"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Регистрова</a:t>
            </a:r>
            <a:r>
              <a:rPr kumimoji="0" lang="bg-BG" sz="2000" b="0" i="0" u="none" strike="noStrike" cap="none" normalizeH="0" dirty="0">
                <a:ln>
                  <a:noFill/>
                </a:ln>
                <a:solidFill>
                  <a:schemeClr val="tx1"/>
                </a:solidFill>
                <a:effectLst/>
                <a:latin typeface="Times New Roman" pitchFamily="18" charset="0"/>
                <a:ea typeface="Calibri" pitchFamily="34" charset="0"/>
                <a:cs typeface="Times New Roman" pitchFamily="18" charset="0"/>
              </a:rPr>
              <a:t> организация на </a:t>
            </a:r>
            <a:r>
              <a:rPr kumimoji="0" lang="en-US" sz="2000" b="0" i="0" u="none" strike="noStrike" cap="none" normalizeH="0" dirty="0">
                <a:ln>
                  <a:noFill/>
                </a:ln>
                <a:solidFill>
                  <a:schemeClr val="tx1"/>
                </a:solidFill>
                <a:effectLst/>
                <a:latin typeface="Times New Roman" pitchFamily="18" charset="0"/>
                <a:ea typeface="Calibri" pitchFamily="34" charset="0"/>
                <a:cs typeface="Times New Roman" pitchFamily="18" charset="0"/>
              </a:rPr>
              <a:t>ARM </a:t>
            </a:r>
            <a:r>
              <a:rPr kumimoji="0" lang="bg-BG" sz="2000" b="0" i="0" u="none" strike="noStrike" cap="none" normalizeH="0" dirty="0">
                <a:ln>
                  <a:noFill/>
                </a:ln>
                <a:solidFill>
                  <a:schemeClr val="tx1"/>
                </a:solidFill>
                <a:effectLst/>
                <a:latin typeface="Times New Roman" pitchFamily="18" charset="0"/>
                <a:ea typeface="Calibri" pitchFamily="34" charset="0"/>
                <a:cs typeface="Times New Roman" pitchFamily="18" charset="0"/>
              </a:rPr>
              <a:t>процесор</a:t>
            </a:r>
            <a:endParaRPr kumimoji="0" lang="en-US" sz="3300" b="0" i="0" u="none" strike="noStrike" cap="none" normalizeH="0" baseline="0" dirty="0">
              <a:ln>
                <a:noFill/>
              </a:ln>
              <a:solidFill>
                <a:schemeClr val="tx1"/>
              </a:solidFill>
              <a:effectLst/>
              <a:latin typeface="Arial" pitchFamily="34" charset="0"/>
              <a:cs typeface="Arial" pitchFamily="34" charset="0"/>
            </a:endParaRPr>
          </a:p>
        </p:txBody>
      </p:sp>
      <p:pic>
        <p:nvPicPr>
          <p:cNvPr id="6" name="Picture 5"/>
          <p:cNvPicPr/>
          <p:nvPr/>
        </p:nvPicPr>
        <p:blipFill>
          <a:blip r:embed="rId2" cstate="print"/>
          <a:srcRect/>
          <a:stretch>
            <a:fillRect/>
          </a:stretch>
        </p:blipFill>
        <p:spPr bwMode="auto">
          <a:xfrm>
            <a:off x="428595" y="285728"/>
            <a:ext cx="8286809" cy="6143667"/>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785794"/>
            <a:ext cx="8229600" cy="1143000"/>
          </a:xfrm>
        </p:spPr>
        <p:txBody>
          <a:bodyPr>
            <a:normAutofit fontScale="90000"/>
          </a:bodyPr>
          <a:lstStyle/>
          <a:p>
            <a:r>
              <a:rPr lang="bg-BG" dirty="0">
                <a:latin typeface="Times New Roman" pitchFamily="18" charset="0"/>
                <a:cs typeface="Times New Roman" pitchFamily="18" charset="0"/>
              </a:rPr>
              <a:t>Регистрова организация на </a:t>
            </a:r>
            <a:r>
              <a:rPr lang="en-US" dirty="0">
                <a:latin typeface="Times New Roman" pitchFamily="18" charset="0"/>
                <a:cs typeface="Times New Roman" pitchFamily="18" charset="0"/>
              </a:rPr>
              <a:t>ARM </a:t>
            </a:r>
            <a:r>
              <a:rPr lang="bg-BG" dirty="0">
                <a:latin typeface="Times New Roman" pitchFamily="18" charset="0"/>
                <a:cs typeface="Times New Roman" pitchFamily="18" charset="0"/>
              </a:rPr>
              <a:t>процесор</a:t>
            </a:r>
          </a:p>
        </p:txBody>
      </p:sp>
      <p:sp>
        <p:nvSpPr>
          <p:cNvPr id="4" name="Content Placeholder 2"/>
          <p:cNvSpPr>
            <a:spLocks noGrp="1"/>
          </p:cNvSpPr>
          <p:nvPr>
            <p:ph idx="1"/>
          </p:nvPr>
        </p:nvSpPr>
        <p:spPr>
          <a:xfrm>
            <a:off x="142844" y="1928802"/>
            <a:ext cx="8858312" cy="4786346"/>
          </a:xfrm>
        </p:spPr>
        <p:txBody>
          <a:bodyPr>
            <a:noAutofit/>
          </a:bodyPr>
          <a:lstStyle/>
          <a:p>
            <a:r>
              <a:rPr lang="ru-RU" dirty="0">
                <a:latin typeface="Times New Roman" pitchFamily="18" charset="0"/>
                <a:cs typeface="Times New Roman" pitchFamily="18" charset="0"/>
              </a:rPr>
              <a:t> </a:t>
            </a:r>
            <a:r>
              <a:rPr lang="bg-BG" dirty="0">
                <a:latin typeface="Times New Roman" pitchFamily="18" charset="0"/>
                <a:cs typeface="Times New Roman" pitchFamily="18" charset="0"/>
              </a:rPr>
              <a:t>ARM процесорът има общо 37 32-битови регистри:</a:t>
            </a:r>
          </a:p>
          <a:p>
            <a:pPr algn="just"/>
            <a:r>
              <a:rPr lang="bg-BG" dirty="0">
                <a:latin typeface="Times New Roman" pitchFamily="18" charset="0"/>
                <a:cs typeface="Times New Roman" pitchFamily="18" charset="0"/>
              </a:rPr>
              <a:t>■ 30 регистъра с общо предназначение. </a:t>
            </a:r>
          </a:p>
          <a:p>
            <a:pPr algn="just"/>
            <a:r>
              <a:rPr lang="bg-BG" dirty="0">
                <a:latin typeface="Times New Roman" pitchFamily="18" charset="0"/>
                <a:cs typeface="Times New Roman" pitchFamily="18" charset="0"/>
              </a:rPr>
              <a:t>■ 6 регистъра за състоянието на програмата. </a:t>
            </a:r>
          </a:p>
          <a:p>
            <a:r>
              <a:rPr lang="bg-BG" dirty="0">
                <a:latin typeface="Times New Roman" pitchFamily="18" charset="0"/>
                <a:cs typeface="Times New Roman" pitchFamily="18" charset="0"/>
              </a:rPr>
              <a:t>■ </a:t>
            </a:r>
            <a:r>
              <a:rPr lang="bg-BG" dirty="0"/>
              <a:t>програмен брояч</a:t>
            </a:r>
          </a:p>
          <a:p>
            <a:pPr algn="just"/>
            <a:r>
              <a:rPr lang="bg-BG" dirty="0">
                <a:latin typeface="Times New Roman" pitchFamily="18" charset="0"/>
                <a:cs typeface="Times New Roman" pitchFamily="18" charset="0"/>
              </a:rPr>
              <a:t>Регистрите са подредени в частично припокриващи се групи, като текущият режим на процесора определя коя група е налична. По всяко време са видими 16 номерирани регистри и един или два регистъра на състоянието на програмата, за общо 17 или 18 софтуерно видими регистри. </a:t>
            </a:r>
          </a:p>
          <a:p>
            <a:pPr marL="0" indent="0" algn="just">
              <a:spcBef>
                <a:spcPts val="0"/>
              </a:spcBef>
            </a:pPr>
            <a:endParaRPr lang="ru-RU" sz="23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fontScale="90000"/>
          </a:bodyPr>
          <a:lstStyle/>
          <a:p>
            <a:r>
              <a:rPr lang="bg-BG" dirty="0">
                <a:latin typeface="Times New Roman" pitchFamily="18" charset="0"/>
                <a:cs typeface="Times New Roman" pitchFamily="18" charset="0"/>
              </a:rPr>
              <a:t>Регистрова организация на </a:t>
            </a:r>
            <a:r>
              <a:rPr lang="en-US" dirty="0">
                <a:latin typeface="Times New Roman" pitchFamily="18" charset="0"/>
                <a:cs typeface="Times New Roman" pitchFamily="18" charset="0"/>
              </a:rPr>
              <a:t>ARM </a:t>
            </a:r>
            <a:r>
              <a:rPr lang="bg-BG" dirty="0">
                <a:latin typeface="Times New Roman" pitchFamily="18" charset="0"/>
                <a:cs typeface="Times New Roman" pitchFamily="18" charset="0"/>
              </a:rPr>
              <a:t>процесор</a:t>
            </a:r>
          </a:p>
        </p:txBody>
      </p:sp>
      <p:sp>
        <p:nvSpPr>
          <p:cNvPr id="4" name="Content Placeholder 2"/>
          <p:cNvSpPr>
            <a:spLocks noGrp="1"/>
          </p:cNvSpPr>
          <p:nvPr>
            <p:ph idx="1"/>
          </p:nvPr>
        </p:nvSpPr>
        <p:spPr>
          <a:xfrm>
            <a:off x="214282" y="6143644"/>
            <a:ext cx="8786874" cy="571504"/>
          </a:xfrm>
        </p:spPr>
        <p:txBody>
          <a:bodyPr>
            <a:noAutofit/>
          </a:bodyPr>
          <a:lstStyle/>
          <a:p>
            <a:pPr algn="ctr"/>
            <a:r>
              <a:rPr lang="bg-BG" dirty="0">
                <a:latin typeface="Times New Roman" pitchFamily="18" charset="0"/>
                <a:cs typeface="Times New Roman" pitchFamily="18" charset="0"/>
              </a:rPr>
              <a:t>Регистри с общо предназначение</a:t>
            </a:r>
          </a:p>
        </p:txBody>
      </p:sp>
      <p:pic>
        <p:nvPicPr>
          <p:cNvPr id="5" name="Picture 4"/>
          <p:cNvPicPr/>
          <p:nvPr/>
        </p:nvPicPr>
        <p:blipFill>
          <a:blip r:embed="rId2" cstate="print"/>
          <a:srcRect/>
          <a:stretch>
            <a:fillRect/>
          </a:stretch>
        </p:blipFill>
        <p:spPr bwMode="auto">
          <a:xfrm>
            <a:off x="2884964" y="785794"/>
            <a:ext cx="4286280" cy="5429288"/>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500042"/>
            <a:ext cx="8229600" cy="1143000"/>
          </a:xfrm>
        </p:spPr>
        <p:txBody>
          <a:bodyPr>
            <a:normAutofit fontScale="90000"/>
          </a:bodyPr>
          <a:lstStyle/>
          <a:p>
            <a:r>
              <a:rPr lang="bg-BG" dirty="0">
                <a:latin typeface="Times New Roman" pitchFamily="18" charset="0"/>
                <a:cs typeface="Times New Roman" pitchFamily="18" charset="0"/>
              </a:rPr>
              <a:t>Регистри с общо предназначение</a:t>
            </a:r>
          </a:p>
        </p:txBody>
      </p:sp>
      <p:sp>
        <p:nvSpPr>
          <p:cNvPr id="4" name="Content Placeholder 2"/>
          <p:cNvSpPr>
            <a:spLocks noGrp="1"/>
          </p:cNvSpPr>
          <p:nvPr>
            <p:ph idx="1"/>
          </p:nvPr>
        </p:nvSpPr>
        <p:spPr>
          <a:xfrm>
            <a:off x="428596" y="1643050"/>
            <a:ext cx="8001056" cy="5000660"/>
          </a:xfrm>
        </p:spPr>
        <p:txBody>
          <a:bodyPr>
            <a:noAutofit/>
          </a:bodyPr>
          <a:lstStyle/>
          <a:p>
            <a:pPr marL="0" algn="just">
              <a:spcBef>
                <a:spcPts val="0"/>
              </a:spcBef>
            </a:pPr>
            <a:r>
              <a:rPr lang="ru-RU" sz="2200" dirty="0">
                <a:latin typeface="Times New Roman" pitchFamily="18" charset="0"/>
                <a:cs typeface="Times New Roman" pitchFamily="18" charset="0"/>
              </a:rPr>
              <a:t> </a:t>
            </a:r>
            <a:r>
              <a:rPr lang="bg-BG" dirty="0">
                <a:latin typeface="Times New Roman" pitchFamily="18" charset="0"/>
                <a:cs typeface="Times New Roman" pitchFamily="18" charset="0"/>
              </a:rPr>
              <a:t>■ </a:t>
            </a:r>
            <a:r>
              <a:rPr lang="bg-BG" sz="2500" b="1" dirty="0">
                <a:latin typeface="Times New Roman" pitchFamily="18" charset="0"/>
                <a:cs typeface="Times New Roman" pitchFamily="18" charset="0"/>
              </a:rPr>
              <a:t>Регистри R0 до R7</a:t>
            </a:r>
            <a:r>
              <a:rPr lang="bg-BG" sz="2500" dirty="0">
                <a:latin typeface="Times New Roman" pitchFamily="18" charset="0"/>
                <a:cs typeface="Times New Roman" pitchFamily="18" charset="0"/>
              </a:rPr>
              <a:t>, регистър R15 (броячът на програмата) и регистърът на текущото състояние на програмата (CPSR) са видими и споделени от всички режими. </a:t>
            </a:r>
          </a:p>
          <a:p>
            <a:pPr marL="0" algn="just">
              <a:spcBef>
                <a:spcPts val="0"/>
              </a:spcBef>
            </a:pPr>
            <a:r>
              <a:rPr lang="bg-BG" sz="2500" dirty="0">
                <a:latin typeface="Times New Roman" pitchFamily="18" charset="0"/>
                <a:cs typeface="Times New Roman" pitchFamily="18" charset="0"/>
              </a:rPr>
              <a:t>■ </a:t>
            </a:r>
            <a:r>
              <a:rPr lang="bg-BG" sz="2500" b="1" dirty="0">
                <a:latin typeface="Times New Roman" pitchFamily="18" charset="0"/>
                <a:cs typeface="Times New Roman" pitchFamily="18" charset="0"/>
              </a:rPr>
              <a:t>Регистри R8 до R12 </a:t>
            </a:r>
            <a:r>
              <a:rPr lang="bg-BG" sz="2500" dirty="0">
                <a:latin typeface="Times New Roman" pitchFamily="18" charset="0"/>
                <a:cs typeface="Times New Roman" pitchFamily="18" charset="0"/>
              </a:rPr>
              <a:t>се споделят от всички режими с изключение на режим бързо прекъсване, който има свои собствени специални регистри R8_fiq до R12_fiq.</a:t>
            </a:r>
          </a:p>
          <a:p>
            <a:pPr marL="0" indent="0" algn="just">
              <a:spcBef>
                <a:spcPts val="0"/>
              </a:spcBef>
            </a:pPr>
            <a:r>
              <a:rPr lang="bg-BG" sz="2500" dirty="0">
                <a:latin typeface="Times New Roman" pitchFamily="18" charset="0"/>
                <a:cs typeface="Times New Roman" pitchFamily="18" charset="0"/>
              </a:rPr>
              <a:t> ■ </a:t>
            </a:r>
            <a:r>
              <a:rPr lang="bg-BG" sz="2500" b="1" dirty="0">
                <a:latin typeface="Times New Roman" pitchFamily="18" charset="0"/>
                <a:cs typeface="Times New Roman" pitchFamily="18" charset="0"/>
              </a:rPr>
              <a:t>Регистър 13</a:t>
            </a:r>
            <a:r>
              <a:rPr lang="bg-BG" sz="2500" dirty="0">
                <a:latin typeface="Times New Roman" pitchFamily="18" charset="0"/>
                <a:cs typeface="Times New Roman" pitchFamily="18" charset="0"/>
              </a:rPr>
              <a:t>, който е указател на стека или SP, е в групите с достъпни регистри във всички режими. Така се осигурява локален указател на стека за всеки режим (с изключение на системния режим, който споделя </a:t>
            </a:r>
            <a:r>
              <a:rPr lang="en-US" sz="2500" dirty="0">
                <a:latin typeface="Times New Roman" pitchFamily="18" charset="0"/>
                <a:cs typeface="Times New Roman" pitchFamily="18" charset="0"/>
              </a:rPr>
              <a:t>R13 </a:t>
            </a:r>
            <a:r>
              <a:rPr lang="bg-BG" sz="2500" dirty="0">
                <a:latin typeface="Times New Roman" pitchFamily="18" charset="0"/>
                <a:cs typeface="Times New Roman" pitchFamily="18" charset="0"/>
              </a:rPr>
              <a:t>на потребителския режим).</a:t>
            </a:r>
          </a:p>
          <a:p>
            <a:pPr marL="0" indent="0" algn="just">
              <a:spcBef>
                <a:spcPts val="0"/>
              </a:spcBef>
            </a:pPr>
            <a:endParaRPr lang="ru-RU" sz="22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1143000"/>
          </a:xfrm>
        </p:spPr>
        <p:txBody>
          <a:bodyPr>
            <a:normAutofit fontScale="90000"/>
          </a:bodyPr>
          <a:lstStyle/>
          <a:p>
            <a:r>
              <a:rPr lang="bg-BG" dirty="0">
                <a:latin typeface="Times New Roman" pitchFamily="18" charset="0"/>
                <a:cs typeface="Times New Roman" pitchFamily="18" charset="0"/>
              </a:rPr>
              <a:t>Регистри с общо предназначение</a:t>
            </a:r>
          </a:p>
        </p:txBody>
      </p:sp>
      <p:sp>
        <p:nvSpPr>
          <p:cNvPr id="4" name="Content Placeholder 2"/>
          <p:cNvSpPr>
            <a:spLocks noGrp="1"/>
          </p:cNvSpPr>
          <p:nvPr>
            <p:ph idx="1"/>
          </p:nvPr>
        </p:nvSpPr>
        <p:spPr>
          <a:xfrm>
            <a:off x="142844" y="1285860"/>
            <a:ext cx="9001156" cy="5357850"/>
          </a:xfrm>
        </p:spPr>
        <p:txBody>
          <a:bodyPr>
            <a:noAutofit/>
          </a:bodyPr>
          <a:lstStyle/>
          <a:p>
            <a:pPr marL="0" indent="0" algn="just">
              <a:spcBef>
                <a:spcPts val="0"/>
              </a:spcBef>
            </a:pPr>
            <a:r>
              <a:rPr lang="bg-BG" sz="2400" dirty="0">
                <a:latin typeface="Times New Roman" pitchFamily="18" charset="0"/>
                <a:cs typeface="Times New Roman" pitchFamily="18" charset="0"/>
              </a:rPr>
              <a:t> </a:t>
            </a:r>
            <a:r>
              <a:rPr lang="bg-BG" sz="2300" b="1" dirty="0">
                <a:latin typeface="Times New Roman" pitchFamily="18" charset="0"/>
                <a:cs typeface="Times New Roman" pitchFamily="18" charset="0"/>
              </a:rPr>
              <a:t>Регистър 14  </a:t>
            </a:r>
            <a:r>
              <a:rPr lang="bg-BG" sz="2300" dirty="0">
                <a:latin typeface="Times New Roman" pitchFamily="18" charset="0"/>
                <a:cs typeface="Times New Roman" pitchFamily="18" charset="0"/>
              </a:rPr>
              <a:t>- Link Register или LR се използва като адресен регистър, съдържащ адреса при връщане от подпрограма. R14 също се съдържа в групите с видими  регистри във всички режими (освен системния режим, който споделя </a:t>
            </a:r>
            <a:r>
              <a:rPr lang="en-US" sz="2300" dirty="0">
                <a:latin typeface="Times New Roman" pitchFamily="18" charset="0"/>
                <a:cs typeface="Times New Roman" pitchFamily="18" charset="0"/>
              </a:rPr>
              <a:t>R14 </a:t>
            </a:r>
            <a:r>
              <a:rPr lang="bg-BG" sz="2300" dirty="0">
                <a:latin typeface="Times New Roman" pitchFamily="18" charset="0"/>
                <a:cs typeface="Times New Roman" pitchFamily="18" charset="0"/>
              </a:rPr>
              <a:t>на потребителския режим). При обръщение към подпрограма (</a:t>
            </a:r>
            <a:r>
              <a:rPr lang="en-US" sz="2300" dirty="0">
                <a:latin typeface="Times New Roman" pitchFamily="18" charset="0"/>
                <a:cs typeface="Times New Roman" pitchFamily="18" charset="0"/>
              </a:rPr>
              <a:t>Branch</a:t>
            </a:r>
            <a:r>
              <a:rPr lang="bg-BG" sz="2300" dirty="0">
                <a:latin typeface="Times New Roman" pitchFamily="18" charset="0"/>
                <a:cs typeface="Times New Roman" pitchFamily="18" charset="0"/>
              </a:rPr>
              <a:t> и </a:t>
            </a:r>
            <a:r>
              <a:rPr lang="en-US" sz="2300" dirty="0">
                <a:latin typeface="Times New Roman" pitchFamily="18" charset="0"/>
                <a:cs typeface="Times New Roman" pitchFamily="18" charset="0"/>
              </a:rPr>
              <a:t>Link</a:t>
            </a:r>
            <a:r>
              <a:rPr lang="bg-BG" sz="2300" dirty="0">
                <a:latin typeface="Times New Roman" pitchFamily="18" charset="0"/>
                <a:cs typeface="Times New Roman" pitchFamily="18" charset="0"/>
              </a:rPr>
              <a:t> -инструкции за обръщение към подпрограма), в R14 се запомня адреса за връщане от подпрограмата. Регистрите R14_SVC, R14_IRQ, R14_FIQ, R14_ABORT и R14_UNDEF се използват по същия начин, като съдържат адреса за връщането. Във всички останали случаи R14 може да бъде третиран като регистър с общо предназначение.</a:t>
            </a:r>
          </a:p>
          <a:p>
            <a:pPr marL="0" indent="0">
              <a:spcBef>
                <a:spcPts val="0"/>
              </a:spcBef>
            </a:pPr>
            <a:r>
              <a:rPr lang="bg-BG" sz="2300" dirty="0">
                <a:latin typeface="Times New Roman" pitchFamily="18" charset="0"/>
                <a:cs typeface="Times New Roman" pitchFamily="18" charset="0"/>
              </a:rPr>
              <a:t>  </a:t>
            </a:r>
            <a:r>
              <a:rPr lang="bg-BG" sz="2300" b="1" dirty="0">
                <a:latin typeface="Times New Roman" pitchFamily="18" charset="0"/>
                <a:cs typeface="Times New Roman" pitchFamily="18" charset="0"/>
              </a:rPr>
              <a:t>Регистърът 15 </a:t>
            </a:r>
            <a:r>
              <a:rPr lang="bg-BG" sz="2300" dirty="0">
                <a:latin typeface="Times New Roman" pitchFamily="18" charset="0"/>
                <a:cs typeface="Times New Roman" pitchFamily="18" charset="0"/>
              </a:rPr>
              <a:t>се използва специално за съхранение на програмния брояч (PC - Program Counter ). При прочитане на R15, се вижда, че битове [1: 0] са със стойност нула, а битовете [31: 2] съдържат програмния брояч (PC). </a:t>
            </a:r>
          </a:p>
          <a:p>
            <a:pPr marL="0" indent="0">
              <a:spcBef>
                <a:spcPts val="0"/>
              </a:spcBef>
            </a:pPr>
            <a:endParaRPr lang="ru-RU" sz="24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1143000"/>
          </a:xfrm>
        </p:spPr>
        <p:txBody>
          <a:bodyPr>
            <a:normAutofit fontScale="90000"/>
          </a:bodyPr>
          <a:lstStyle/>
          <a:p>
            <a:r>
              <a:rPr lang="bg-BG" dirty="0">
                <a:latin typeface="Times New Roman" pitchFamily="18" charset="0"/>
                <a:cs typeface="Times New Roman" pitchFamily="18" charset="0"/>
              </a:rPr>
              <a:t>Регистри за статус на програмата</a:t>
            </a:r>
          </a:p>
        </p:txBody>
      </p:sp>
      <p:sp>
        <p:nvSpPr>
          <p:cNvPr id="4" name="Content Placeholder 2"/>
          <p:cNvSpPr>
            <a:spLocks noGrp="1"/>
          </p:cNvSpPr>
          <p:nvPr>
            <p:ph idx="1"/>
          </p:nvPr>
        </p:nvSpPr>
        <p:spPr>
          <a:xfrm>
            <a:off x="259487" y="1268760"/>
            <a:ext cx="8572592" cy="2874620"/>
          </a:xfrm>
        </p:spPr>
        <p:txBody>
          <a:bodyPr>
            <a:noAutofit/>
          </a:bodyPr>
          <a:lstStyle/>
          <a:p>
            <a:pPr algn="just"/>
            <a:r>
              <a:rPr lang="bg-BG" sz="2400" dirty="0">
                <a:latin typeface="Times New Roman" pitchFamily="18" charset="0"/>
                <a:cs typeface="Times New Roman" pitchFamily="18" charset="0"/>
              </a:rPr>
              <a:t> </a:t>
            </a:r>
            <a:r>
              <a:rPr lang="bg-BG" sz="2300" b="1">
                <a:latin typeface="Times New Roman" pitchFamily="18" charset="0"/>
                <a:cs typeface="Times New Roman" pitchFamily="18" charset="0"/>
              </a:rPr>
              <a:t>Регистър CPSR </a:t>
            </a:r>
            <a:r>
              <a:rPr lang="en-US" sz="2300" b="1">
                <a:latin typeface="Times New Roman" pitchFamily="18" charset="0"/>
                <a:cs typeface="Times New Roman" pitchFamily="18" charset="0"/>
              </a:rPr>
              <a:t>(</a:t>
            </a:r>
            <a:r>
              <a:rPr lang="bg-BG" sz="2300" b="1">
                <a:latin typeface="Times New Roman" pitchFamily="18" charset="0"/>
                <a:cs typeface="Times New Roman" pitchFamily="18" charset="0"/>
              </a:rPr>
              <a:t>регистър за статуса на програмата</a:t>
            </a:r>
            <a:r>
              <a:rPr lang="en-US" sz="2300" b="1">
                <a:latin typeface="Times New Roman" pitchFamily="18" charset="0"/>
                <a:cs typeface="Times New Roman" pitchFamily="18" charset="0"/>
              </a:rPr>
              <a:t>)</a:t>
            </a:r>
            <a:r>
              <a:rPr lang="bg-BG" sz="2300" b="1">
                <a:latin typeface="Times New Roman" pitchFamily="18" charset="0"/>
                <a:cs typeface="Times New Roman" pitchFamily="18" charset="0"/>
              </a:rPr>
              <a:t> </a:t>
            </a:r>
            <a:r>
              <a:rPr lang="bg-BG" sz="2300" dirty="0">
                <a:latin typeface="Times New Roman" pitchFamily="18" charset="0"/>
                <a:cs typeface="Times New Roman" pitchFamily="18" charset="0"/>
              </a:rPr>
              <a:t>е достъпен във всички режими на процесора. Всеки режим на изключение също има </a:t>
            </a:r>
            <a:r>
              <a:rPr lang="bg-BG" sz="2300">
                <a:latin typeface="Times New Roman" pitchFamily="18" charset="0"/>
                <a:cs typeface="Times New Roman" pitchFamily="18" charset="0"/>
              </a:rPr>
              <a:t>специален SPSR</a:t>
            </a:r>
            <a:r>
              <a:rPr lang="en-US" sz="2300">
                <a:latin typeface="Times New Roman" pitchFamily="18" charset="0"/>
                <a:cs typeface="Times New Roman" pitchFamily="18" charset="0"/>
              </a:rPr>
              <a:t>(</a:t>
            </a:r>
            <a:r>
              <a:rPr lang="ru-RU" sz="2300">
                <a:latin typeface="Times New Roman" pitchFamily="18" charset="0"/>
                <a:cs typeface="Times New Roman" pitchFamily="18" charset="0"/>
              </a:rPr>
              <a:t>регистър за запазване на състоянието на програмата</a:t>
            </a:r>
            <a:r>
              <a:rPr lang="en-US" sz="2300">
                <a:latin typeface="Times New Roman" pitchFamily="18" charset="0"/>
                <a:cs typeface="Times New Roman" pitchFamily="18" charset="0"/>
              </a:rPr>
              <a:t>)</a:t>
            </a:r>
            <a:r>
              <a:rPr lang="bg-BG" sz="2300">
                <a:latin typeface="Times New Roman" pitchFamily="18" charset="0"/>
                <a:cs typeface="Times New Roman" pitchFamily="18" charset="0"/>
              </a:rPr>
              <a:t>, </a:t>
            </a:r>
            <a:r>
              <a:rPr lang="bg-BG" sz="2300" dirty="0">
                <a:latin typeface="Times New Roman" pitchFamily="18" charset="0"/>
                <a:cs typeface="Times New Roman" pitchFamily="18" charset="0"/>
              </a:rPr>
              <a:t>който се използва за запазване на стойността на CPSR, когато се появи свързаното изключение.</a:t>
            </a:r>
          </a:p>
          <a:p>
            <a:pPr marL="0" indent="0" algn="just">
              <a:spcBef>
                <a:spcPts val="0"/>
              </a:spcBef>
            </a:pPr>
            <a:r>
              <a:rPr lang="bg-BG" sz="2300" dirty="0">
                <a:latin typeface="Times New Roman" pitchFamily="18" charset="0"/>
                <a:cs typeface="Times New Roman" pitchFamily="18" charset="0"/>
              </a:rPr>
              <a:t> 16-те най-значими бита на CPSR съдържат потребителски флагове, видими в потребителски режим и които могат да се използват, за да повлияят на работата на програмата.</a:t>
            </a:r>
          </a:p>
          <a:p>
            <a:pPr marL="0" indent="0">
              <a:spcBef>
                <a:spcPts val="0"/>
              </a:spcBef>
            </a:pPr>
            <a:endParaRPr lang="ru-RU" sz="2200" dirty="0">
              <a:latin typeface="Times New Roman" pitchFamily="18" charset="0"/>
              <a:cs typeface="Times New Roman" pitchFamily="18" charset="0"/>
            </a:endParaRPr>
          </a:p>
        </p:txBody>
      </p:sp>
      <p:pic>
        <p:nvPicPr>
          <p:cNvPr id="78850" name="Picture 2"/>
          <p:cNvPicPr>
            <a:picLocks noChangeAspect="1" noChangeArrowheads="1"/>
          </p:cNvPicPr>
          <p:nvPr/>
        </p:nvPicPr>
        <p:blipFill>
          <a:blip r:embed="rId3" cstate="print"/>
          <a:srcRect/>
          <a:stretch>
            <a:fillRect/>
          </a:stretch>
        </p:blipFill>
        <p:spPr bwMode="auto">
          <a:xfrm>
            <a:off x="1162301" y="4325413"/>
            <a:ext cx="6805614" cy="250033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1143000"/>
          </a:xfrm>
        </p:spPr>
        <p:txBody>
          <a:bodyPr>
            <a:normAutofit fontScale="90000"/>
          </a:bodyPr>
          <a:lstStyle/>
          <a:p>
            <a:r>
              <a:rPr lang="bg-BG" dirty="0">
                <a:latin typeface="Times New Roman" pitchFamily="18" charset="0"/>
                <a:cs typeface="Times New Roman" pitchFamily="18" charset="0"/>
              </a:rPr>
              <a:t>Регистри за статус на програмата</a:t>
            </a:r>
          </a:p>
        </p:txBody>
      </p:sp>
      <p:sp>
        <p:nvSpPr>
          <p:cNvPr id="4" name="Content Placeholder 2"/>
          <p:cNvSpPr>
            <a:spLocks noGrp="1"/>
          </p:cNvSpPr>
          <p:nvPr>
            <p:ph idx="1"/>
          </p:nvPr>
        </p:nvSpPr>
        <p:spPr>
          <a:xfrm>
            <a:off x="285720" y="1643050"/>
            <a:ext cx="8429684" cy="5000660"/>
          </a:xfrm>
        </p:spPr>
        <p:txBody>
          <a:bodyPr>
            <a:noAutofit/>
          </a:bodyPr>
          <a:lstStyle/>
          <a:p>
            <a:pPr algn="just"/>
            <a:r>
              <a:rPr lang="bg-BG" sz="2400" dirty="0">
                <a:latin typeface="Times New Roman" pitchFamily="18" charset="0"/>
                <a:cs typeface="Times New Roman" pitchFamily="18" charset="0"/>
              </a:rPr>
              <a:t>Битовете </a:t>
            </a:r>
            <a:r>
              <a:rPr lang="en-US" sz="2400" dirty="0">
                <a:latin typeface="Times New Roman" pitchFamily="18" charset="0"/>
                <a:cs typeface="Times New Roman" pitchFamily="18" charset="0"/>
              </a:rPr>
              <a:t>N</a:t>
            </a:r>
            <a:r>
              <a:rPr lang="bg-BG" sz="2400" dirty="0">
                <a:latin typeface="Times New Roman" pitchFamily="18" charset="0"/>
                <a:cs typeface="Times New Roman" pitchFamily="18" charset="0"/>
              </a:rPr>
              <a:t>, </a:t>
            </a:r>
            <a:r>
              <a:rPr lang="en-US" sz="2400" dirty="0">
                <a:latin typeface="Times New Roman" pitchFamily="18" charset="0"/>
                <a:cs typeface="Times New Roman" pitchFamily="18" charset="0"/>
              </a:rPr>
              <a:t>Z</a:t>
            </a:r>
            <a:r>
              <a:rPr lang="bg-BG" sz="2400" dirty="0">
                <a:latin typeface="Times New Roman" pitchFamily="18" charset="0"/>
                <a:cs typeface="Times New Roman" pitchFamily="18" charset="0"/>
              </a:rPr>
              <a:t>, </a:t>
            </a:r>
            <a:r>
              <a:rPr lang="en-US" sz="2400" dirty="0">
                <a:latin typeface="Times New Roman" pitchFamily="18" charset="0"/>
                <a:cs typeface="Times New Roman" pitchFamily="18" charset="0"/>
              </a:rPr>
              <a:t>C</a:t>
            </a:r>
            <a:r>
              <a:rPr lang="bg-BG" sz="2400" dirty="0">
                <a:latin typeface="Times New Roman" pitchFamily="18" charset="0"/>
                <a:cs typeface="Times New Roman" pitchFamily="18" charset="0"/>
              </a:rPr>
              <a:t> и </a:t>
            </a:r>
            <a:r>
              <a:rPr lang="en-US" sz="2400" dirty="0">
                <a:latin typeface="Times New Roman" pitchFamily="18" charset="0"/>
                <a:cs typeface="Times New Roman" pitchFamily="18" charset="0"/>
              </a:rPr>
              <a:t>V</a:t>
            </a:r>
            <a:r>
              <a:rPr lang="bg-BG" sz="2400" dirty="0">
                <a:latin typeface="Times New Roman" pitchFamily="18" charset="0"/>
                <a:cs typeface="Times New Roman" pitchFamily="18" charset="0"/>
              </a:rPr>
              <a:t> на статус регистъра са флагове и имат следното значение за състоянието на АЛУ след завършване на дадена операция:</a:t>
            </a:r>
          </a:p>
          <a:p>
            <a:pPr algn="just"/>
            <a:r>
              <a:rPr lang="en-US" sz="2400" b="1" dirty="0">
                <a:latin typeface="Times New Roman" pitchFamily="18" charset="0"/>
                <a:cs typeface="Times New Roman" pitchFamily="18" charset="0"/>
              </a:rPr>
              <a:t>N</a:t>
            </a:r>
            <a:r>
              <a:rPr lang="bg-BG" sz="2400" dirty="0">
                <a:latin typeface="Times New Roman" pitchFamily="18" charset="0"/>
                <a:cs typeface="Times New Roman" pitchFamily="18" charset="0"/>
              </a:rPr>
              <a:t> = </a:t>
            </a:r>
            <a:r>
              <a:rPr lang="en-US" sz="2400" b="1" dirty="0">
                <a:latin typeface="Times New Roman" pitchFamily="18" charset="0"/>
                <a:cs typeface="Times New Roman" pitchFamily="18" charset="0"/>
              </a:rPr>
              <a:t>N</a:t>
            </a:r>
            <a:r>
              <a:rPr lang="en-US" sz="2400" dirty="0">
                <a:latin typeface="Times New Roman" pitchFamily="18" charset="0"/>
                <a:cs typeface="Times New Roman" pitchFamily="18" charset="0"/>
              </a:rPr>
              <a:t>egative result from ALU flag</a:t>
            </a:r>
            <a:r>
              <a:rPr lang="bg-BG" sz="2400" dirty="0">
                <a:latin typeface="Times New Roman" pitchFamily="18" charset="0"/>
                <a:cs typeface="Times New Roman" pitchFamily="18" charset="0"/>
              </a:rPr>
              <a:t> - флаг за получен отрицателен резултат в АЛУ;</a:t>
            </a:r>
          </a:p>
          <a:p>
            <a:pPr lvl="0" algn="just"/>
            <a:r>
              <a:rPr lang="en-US" sz="2400" b="1" dirty="0">
                <a:latin typeface="Times New Roman" pitchFamily="18" charset="0"/>
                <a:cs typeface="Times New Roman" pitchFamily="18" charset="0"/>
              </a:rPr>
              <a:t>Z</a:t>
            </a:r>
            <a:r>
              <a:rPr lang="bg-BG" sz="2400" dirty="0">
                <a:latin typeface="Times New Roman" pitchFamily="18" charset="0"/>
                <a:cs typeface="Times New Roman" pitchFamily="18" charset="0"/>
              </a:rPr>
              <a:t> = </a:t>
            </a:r>
            <a:r>
              <a:rPr lang="en-US" sz="2400" b="1" dirty="0">
                <a:latin typeface="Times New Roman" pitchFamily="18" charset="0"/>
                <a:cs typeface="Times New Roman" pitchFamily="18" charset="0"/>
              </a:rPr>
              <a:t>Z</a:t>
            </a:r>
            <a:r>
              <a:rPr lang="en-US" sz="2400" dirty="0">
                <a:latin typeface="Times New Roman" pitchFamily="18" charset="0"/>
                <a:cs typeface="Times New Roman" pitchFamily="18" charset="0"/>
              </a:rPr>
              <a:t>ero result from ALU flag</a:t>
            </a:r>
            <a:r>
              <a:rPr lang="bg-BG" sz="2400" dirty="0">
                <a:latin typeface="Times New Roman" pitchFamily="18" charset="0"/>
                <a:cs typeface="Times New Roman" pitchFamily="18" charset="0"/>
              </a:rPr>
              <a:t> – флаг за получен нулев резултат в АЛУ;</a:t>
            </a:r>
          </a:p>
          <a:p>
            <a:pPr lvl="0" algn="just"/>
            <a:r>
              <a:rPr lang="en-US" sz="2400" b="1" dirty="0">
                <a:latin typeface="Times New Roman" pitchFamily="18" charset="0"/>
                <a:cs typeface="Times New Roman" pitchFamily="18" charset="0"/>
              </a:rPr>
              <a:t>C</a:t>
            </a:r>
            <a:r>
              <a:rPr lang="bg-BG" sz="2400" dirty="0">
                <a:latin typeface="Times New Roman" pitchFamily="18" charset="0"/>
                <a:cs typeface="Times New Roman" pitchFamily="18" charset="0"/>
              </a:rPr>
              <a:t> = </a:t>
            </a:r>
            <a:r>
              <a:rPr lang="en-US" sz="2400" dirty="0">
                <a:latin typeface="Times New Roman" pitchFamily="18" charset="0"/>
                <a:cs typeface="Times New Roman" pitchFamily="18" charset="0"/>
              </a:rPr>
              <a:t>ALU operation </a:t>
            </a:r>
            <a:r>
              <a:rPr lang="en-US" sz="2400" b="1" dirty="0">
                <a:latin typeface="Times New Roman" pitchFamily="18" charset="0"/>
                <a:cs typeface="Times New Roman" pitchFamily="18" charset="0"/>
              </a:rPr>
              <a:t>C</a:t>
            </a:r>
            <a:r>
              <a:rPr lang="en-US" sz="2400" dirty="0">
                <a:latin typeface="Times New Roman" pitchFamily="18" charset="0"/>
                <a:cs typeface="Times New Roman" pitchFamily="18" charset="0"/>
              </a:rPr>
              <a:t>arried out</a:t>
            </a:r>
            <a:r>
              <a:rPr lang="bg-BG" sz="2400" dirty="0">
                <a:latin typeface="Times New Roman" pitchFamily="18" charset="0"/>
                <a:cs typeface="Times New Roman" pitchFamily="18" charset="0"/>
              </a:rPr>
              <a:t> – флаг за получен преносен бит (към по-старши разряд) в АЛУ;</a:t>
            </a:r>
          </a:p>
          <a:p>
            <a:pPr lvl="0" algn="just"/>
            <a:r>
              <a:rPr lang="en-US" sz="2400" b="1" dirty="0">
                <a:latin typeface="Times New Roman" pitchFamily="18" charset="0"/>
                <a:cs typeface="Times New Roman" pitchFamily="18" charset="0"/>
              </a:rPr>
              <a:t>V</a:t>
            </a:r>
            <a:r>
              <a:rPr lang="bg-BG" sz="2400" b="1" dirty="0">
                <a:latin typeface="Times New Roman" pitchFamily="18" charset="0"/>
                <a:cs typeface="Times New Roman" pitchFamily="18" charset="0"/>
              </a:rPr>
              <a:t> </a:t>
            </a:r>
            <a:r>
              <a:rPr lang="bg-BG" sz="2400" dirty="0">
                <a:latin typeface="Times New Roman" pitchFamily="18" charset="0"/>
                <a:cs typeface="Times New Roman" pitchFamily="18" charset="0"/>
              </a:rPr>
              <a:t>= </a:t>
            </a:r>
            <a:r>
              <a:rPr lang="en-US" sz="2400" dirty="0">
                <a:latin typeface="Times New Roman" pitchFamily="18" charset="0"/>
                <a:cs typeface="Times New Roman" pitchFamily="18" charset="0"/>
              </a:rPr>
              <a:t>ALU operation </a:t>
            </a:r>
            <a:r>
              <a:rPr lang="en-US" sz="2400" dirty="0" err="1">
                <a:latin typeface="Times New Roman" pitchFamily="18" charset="0"/>
                <a:cs typeface="Times New Roman" pitchFamily="18" charset="0"/>
              </a:rPr>
              <a:t>o</a:t>
            </a:r>
            <a:r>
              <a:rPr lang="en-US" sz="2400" b="1" dirty="0" err="1">
                <a:latin typeface="Times New Roman" pitchFamily="18" charset="0"/>
                <a:cs typeface="Times New Roman" pitchFamily="18" charset="0"/>
              </a:rPr>
              <a:t>V</a:t>
            </a:r>
            <a:r>
              <a:rPr lang="en-US" sz="2400" dirty="0" err="1">
                <a:latin typeface="Times New Roman" pitchFamily="18" charset="0"/>
                <a:cs typeface="Times New Roman" pitchFamily="18" charset="0"/>
              </a:rPr>
              <a:t>erflowed</a:t>
            </a:r>
            <a:r>
              <a:rPr lang="bg-BG" sz="2400" dirty="0">
                <a:latin typeface="Times New Roman" pitchFamily="18" charset="0"/>
                <a:cs typeface="Times New Roman" pitchFamily="18" charset="0"/>
              </a:rPr>
              <a:t> – флаг за получено препълване в АЛУ. Препълване може да се получи при аритметични или логически действия с числа със знак.</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1143000"/>
          </a:xfrm>
        </p:spPr>
        <p:txBody>
          <a:bodyPr>
            <a:normAutofit fontScale="90000"/>
          </a:bodyPr>
          <a:lstStyle/>
          <a:p>
            <a:r>
              <a:rPr lang="bg-BG" dirty="0">
                <a:latin typeface="Times New Roman" pitchFamily="18" charset="0"/>
                <a:cs typeface="Times New Roman" pitchFamily="18" charset="0"/>
              </a:rPr>
              <a:t>Регистри за статус на програмата</a:t>
            </a:r>
          </a:p>
        </p:txBody>
      </p:sp>
      <p:sp>
        <p:nvSpPr>
          <p:cNvPr id="4" name="Content Placeholder 2"/>
          <p:cNvSpPr>
            <a:spLocks noGrp="1"/>
          </p:cNvSpPr>
          <p:nvPr>
            <p:ph idx="1"/>
          </p:nvPr>
        </p:nvSpPr>
        <p:spPr>
          <a:xfrm>
            <a:off x="285720" y="1285860"/>
            <a:ext cx="8643998" cy="5572140"/>
          </a:xfrm>
        </p:spPr>
        <p:txBody>
          <a:bodyPr>
            <a:noAutofit/>
          </a:bodyPr>
          <a:lstStyle/>
          <a:p>
            <a:pPr algn="just"/>
            <a:r>
              <a:rPr lang="bg-BG" sz="2200" dirty="0">
                <a:latin typeface="Times New Roman" pitchFamily="18" charset="0"/>
                <a:cs typeface="Times New Roman" pitchFamily="18" charset="0"/>
              </a:rPr>
              <a:t>Битове </a:t>
            </a:r>
            <a:r>
              <a:rPr lang="en-US" sz="2200" b="1" dirty="0">
                <a:latin typeface="Times New Roman" pitchFamily="18" charset="0"/>
                <a:cs typeface="Times New Roman" pitchFamily="18" charset="0"/>
              </a:rPr>
              <a:t>I</a:t>
            </a:r>
            <a:r>
              <a:rPr lang="bg-BG" sz="2200" dirty="0">
                <a:latin typeface="Times New Roman" pitchFamily="18" charset="0"/>
                <a:cs typeface="Times New Roman" pitchFamily="18" charset="0"/>
              </a:rPr>
              <a:t>  и </a:t>
            </a:r>
            <a:r>
              <a:rPr lang="en-US" sz="2200" b="1" dirty="0">
                <a:latin typeface="Times New Roman" pitchFamily="18" charset="0"/>
                <a:cs typeface="Times New Roman" pitchFamily="18" charset="0"/>
              </a:rPr>
              <a:t>F </a:t>
            </a:r>
            <a:r>
              <a:rPr lang="bg-BG" sz="2200" dirty="0">
                <a:latin typeface="Times New Roman" pitchFamily="18" charset="0"/>
                <a:cs typeface="Times New Roman" pitchFamily="18" charset="0"/>
              </a:rPr>
              <a:t>са забранителни битове и показват на процесора дали му е разрешено да  обработва сигналите за заявки за прекъсвания: </a:t>
            </a:r>
          </a:p>
          <a:p>
            <a:pPr algn="just"/>
            <a:r>
              <a:rPr lang="en-US" sz="2200" b="1" dirty="0">
                <a:latin typeface="Times New Roman" pitchFamily="18" charset="0"/>
                <a:cs typeface="Times New Roman" pitchFamily="18" charset="0"/>
              </a:rPr>
              <a:t>I </a:t>
            </a:r>
            <a:r>
              <a:rPr lang="en-US" sz="2200" dirty="0">
                <a:latin typeface="Times New Roman" pitchFamily="18" charset="0"/>
                <a:cs typeface="Times New Roman" pitchFamily="18" charset="0"/>
              </a:rPr>
              <a:t>= 1, disables the IRQ;</a:t>
            </a:r>
            <a:endParaRPr lang="bg-BG" sz="2200" dirty="0">
              <a:latin typeface="Times New Roman" pitchFamily="18" charset="0"/>
              <a:cs typeface="Times New Roman" pitchFamily="18" charset="0"/>
            </a:endParaRPr>
          </a:p>
          <a:p>
            <a:pPr lvl="0" algn="just"/>
            <a:r>
              <a:rPr lang="en-US" sz="2200" b="1" dirty="0">
                <a:latin typeface="Times New Roman" pitchFamily="18" charset="0"/>
                <a:cs typeface="Times New Roman" pitchFamily="18" charset="0"/>
              </a:rPr>
              <a:t>F </a:t>
            </a:r>
            <a:r>
              <a:rPr lang="en-US" sz="2200" dirty="0">
                <a:latin typeface="Times New Roman" pitchFamily="18" charset="0"/>
                <a:cs typeface="Times New Roman" pitchFamily="18" charset="0"/>
              </a:rPr>
              <a:t>= 1, disables the FIQ.</a:t>
            </a:r>
            <a:endParaRPr lang="bg-BG" sz="2200" dirty="0">
              <a:latin typeface="Times New Roman" pitchFamily="18" charset="0"/>
              <a:cs typeface="Times New Roman" pitchFamily="18" charset="0"/>
            </a:endParaRPr>
          </a:p>
          <a:p>
            <a:pPr algn="just"/>
            <a:r>
              <a:rPr lang="bg-BG" sz="2200" dirty="0">
                <a:latin typeface="Times New Roman" pitchFamily="18" charset="0"/>
                <a:cs typeface="Times New Roman" pitchFamily="18" charset="0"/>
              </a:rPr>
              <a:t>Бит </a:t>
            </a:r>
            <a:r>
              <a:rPr lang="bg-BG" sz="2200" b="1" dirty="0">
                <a:latin typeface="Times New Roman" pitchFamily="18" charset="0"/>
                <a:cs typeface="Times New Roman" pitchFamily="18" charset="0"/>
              </a:rPr>
              <a:t>Т</a:t>
            </a:r>
            <a:r>
              <a:rPr lang="bg-BG" sz="2200" dirty="0">
                <a:latin typeface="Times New Roman" pitchFamily="18" charset="0"/>
                <a:cs typeface="Times New Roman" pitchFamily="18" charset="0"/>
              </a:rPr>
              <a:t> се използва за разрешаване на работа в </a:t>
            </a:r>
            <a:r>
              <a:rPr lang="en-US" sz="2200" dirty="0">
                <a:latin typeface="Times New Roman" pitchFamily="18" charset="0"/>
                <a:cs typeface="Times New Roman" pitchFamily="18" charset="0"/>
              </a:rPr>
              <a:t>Thumb</a:t>
            </a:r>
            <a:r>
              <a:rPr lang="bg-BG" sz="2200" dirty="0">
                <a:latin typeface="Times New Roman" pitchFamily="18" charset="0"/>
                <a:cs typeface="Times New Roman" pitchFamily="18" charset="0"/>
              </a:rPr>
              <a:t> режим и се използва само в някои модели на процесора, които могат да работят в 16-битов режим.</a:t>
            </a:r>
          </a:p>
          <a:p>
            <a:pPr algn="just"/>
            <a:r>
              <a:rPr lang="bg-BG" sz="2200" dirty="0">
                <a:latin typeface="Times New Roman" pitchFamily="18" charset="0"/>
                <a:cs typeface="Times New Roman" pitchFamily="18" charset="0"/>
              </a:rPr>
              <a:t>Флагове М0-М4, наречени още битове за режим показват режима на работа на процесора. </a:t>
            </a:r>
          </a:p>
          <a:p>
            <a:pPr algn="just"/>
            <a:r>
              <a:rPr lang="bg-BG" sz="2200" dirty="0">
                <a:latin typeface="Times New Roman" pitchFamily="18" charset="0"/>
                <a:cs typeface="Times New Roman" pitchFamily="18" charset="0"/>
              </a:rPr>
              <a:t>Записът на информация в регистър CPRS се осъществява в зависимост от изпълнението на текущата машинна инструкция. Има група инструкции, при които записът се осъществява автоматично. За една група инструкции, запис в CPRS се извършва само след изрично указание на програмиста, чрез въвеждане на символ “S” след мнемоничния код на инструкцията.</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42852"/>
            <a:ext cx="8229600" cy="1143000"/>
          </a:xfrm>
        </p:spPr>
        <p:txBody>
          <a:bodyPr>
            <a:normAutofit fontScale="90000"/>
          </a:bodyPr>
          <a:lstStyle/>
          <a:p>
            <a:r>
              <a:rPr lang="bg-BG" dirty="0">
                <a:latin typeface="Times New Roman" pitchFamily="18" charset="0"/>
                <a:cs typeface="Times New Roman" pitchFamily="18" charset="0"/>
              </a:rPr>
              <a:t>Регистри за статус на програмата</a:t>
            </a:r>
          </a:p>
        </p:txBody>
      </p:sp>
      <p:sp>
        <p:nvSpPr>
          <p:cNvPr id="4" name="Content Placeholder 2"/>
          <p:cNvSpPr>
            <a:spLocks noGrp="1"/>
          </p:cNvSpPr>
          <p:nvPr>
            <p:ph idx="1"/>
          </p:nvPr>
        </p:nvSpPr>
        <p:spPr>
          <a:xfrm>
            <a:off x="285720" y="1643050"/>
            <a:ext cx="8643998" cy="4214842"/>
          </a:xfrm>
        </p:spPr>
        <p:txBody>
          <a:bodyPr>
            <a:noAutofit/>
          </a:bodyPr>
          <a:lstStyle/>
          <a:p>
            <a:pPr fontAlgn="t"/>
            <a:r>
              <a:rPr lang="bg-BG" b="1" dirty="0">
                <a:latin typeface="Times New Roman" pitchFamily="18" charset="0"/>
                <a:cs typeface="Times New Roman" pitchFamily="18" charset="0"/>
              </a:rPr>
              <a:t>Изместващ регистър (Barrel Shifter) на ARM</a:t>
            </a:r>
            <a:endParaRPr lang="bg-BG" dirty="0">
              <a:latin typeface="Times New Roman" pitchFamily="18" charset="0"/>
              <a:cs typeface="Times New Roman" pitchFamily="18" charset="0"/>
            </a:endParaRPr>
          </a:p>
          <a:p>
            <a:r>
              <a:rPr lang="bg-BG" dirty="0">
                <a:latin typeface="Times New Roman" pitchFamily="18" charset="0"/>
                <a:cs typeface="Times New Roman" pitchFamily="18" charset="0"/>
              </a:rPr>
              <a:t>В процесор ARM има вграден специален изместващ регистър, който съдържа стойност, която може да бъде изместена или завъртана (циклично изместена). Това може да се използва от различни класове инструкции на ARM за извършване на сравнително сложни операции в една инструкция. </a:t>
            </a:r>
          </a:p>
          <a:p>
            <a:r>
              <a:rPr lang="bg-BG" dirty="0">
                <a:latin typeface="Times New Roman" pitchFamily="18" charset="0"/>
                <a:cs typeface="Times New Roman" pitchFamily="18" charset="0"/>
              </a:rPr>
              <a:t>В набора от инструкции на процесора няма отделни команди за изместване. </a:t>
            </a:r>
          </a:p>
          <a:p>
            <a:pPr algn="just"/>
            <a:endParaRPr lang="bg-BG" sz="22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1143000"/>
          </a:xfrm>
        </p:spPr>
        <p:txBody>
          <a:bodyPr>
            <a:normAutofit fontScale="90000"/>
          </a:bodyPr>
          <a:lstStyle/>
          <a:p>
            <a:br>
              <a:rPr lang="bg-BG" b="1" dirty="0">
                <a:latin typeface="Times New Roman" pitchFamily="18" charset="0"/>
                <a:cs typeface="Times New Roman" pitchFamily="18" charset="0"/>
              </a:rPr>
            </a:br>
            <a:br>
              <a:rPr lang="bg-BG" b="1" dirty="0">
                <a:latin typeface="Times New Roman" pitchFamily="18" charset="0"/>
                <a:cs typeface="Times New Roman" pitchFamily="18" charset="0"/>
              </a:rPr>
            </a:br>
            <a:r>
              <a:rPr lang="bg-BG" b="1" dirty="0">
                <a:latin typeface="Times New Roman" pitchFamily="18" charset="0"/>
                <a:cs typeface="Times New Roman" pitchFamily="18" charset="0"/>
              </a:rPr>
              <a:t>Методи на адресация на ARM</a:t>
            </a:r>
          </a:p>
        </p:txBody>
      </p:sp>
      <p:sp>
        <p:nvSpPr>
          <p:cNvPr id="3" name="Content Placeholder 2"/>
          <p:cNvSpPr>
            <a:spLocks noGrp="1"/>
          </p:cNvSpPr>
          <p:nvPr>
            <p:ph idx="1"/>
          </p:nvPr>
        </p:nvSpPr>
        <p:spPr>
          <a:xfrm>
            <a:off x="457200" y="1643050"/>
            <a:ext cx="8229600" cy="5000660"/>
          </a:xfrm>
        </p:spPr>
        <p:txBody>
          <a:bodyPr>
            <a:normAutofit fontScale="92500" lnSpcReduction="10000"/>
          </a:bodyPr>
          <a:lstStyle/>
          <a:p>
            <a:pPr marL="0" lvl="0" algn="just">
              <a:lnSpc>
                <a:spcPct val="110000"/>
              </a:lnSpc>
              <a:spcBef>
                <a:spcPts val="0"/>
              </a:spcBef>
            </a:pPr>
            <a:r>
              <a:rPr lang="ru-RU" dirty="0">
                <a:latin typeface="Times New Roman" pitchFamily="18" charset="0"/>
                <a:cs typeface="Times New Roman" pitchFamily="18" charset="0"/>
              </a:rPr>
              <a:t>При достъп до операнд за обработка на данни или инструкция за движение има няколко стандартни техники, използвани за указване на желаното местоположение. Повечето процесори поддържат няколко от тези режими на адресиране</a:t>
            </a:r>
            <a:endParaRPr lang="bg-BG" dirty="0">
              <a:latin typeface="Times New Roman" pitchFamily="18" charset="0"/>
              <a:cs typeface="Times New Roman" pitchFamily="18" charset="0"/>
            </a:endParaRPr>
          </a:p>
          <a:p>
            <a:pPr marL="0" lvl="0">
              <a:lnSpc>
                <a:spcPct val="110000"/>
              </a:lnSpc>
              <a:spcBef>
                <a:spcPts val="0"/>
              </a:spcBef>
            </a:pPr>
            <a:r>
              <a:rPr lang="bg-BG" b="1" dirty="0">
                <a:latin typeface="Times New Roman" pitchFamily="18" charset="0"/>
                <a:cs typeface="Times New Roman" pitchFamily="18" charset="0"/>
              </a:rPr>
              <a:t>Регистрова адресация (Register addressing)</a:t>
            </a:r>
            <a:endParaRPr lang="bg-BG" dirty="0">
              <a:latin typeface="Times New Roman" pitchFamily="18" charset="0"/>
              <a:cs typeface="Times New Roman" pitchFamily="18" charset="0"/>
            </a:endParaRPr>
          </a:p>
          <a:p>
            <a:pPr marL="0">
              <a:lnSpc>
                <a:spcPct val="110000"/>
              </a:lnSpc>
              <a:spcBef>
                <a:spcPts val="0"/>
              </a:spcBef>
            </a:pPr>
            <a:r>
              <a:rPr lang="bg-BG" dirty="0">
                <a:latin typeface="Times New Roman" pitchFamily="18" charset="0"/>
                <a:cs typeface="Times New Roman" pitchFamily="18" charset="0"/>
              </a:rPr>
              <a:t>Този тип адресация се отнася за операции между регистри. Операндите се намират в регистрите на процесора.</a:t>
            </a:r>
          </a:p>
          <a:p>
            <a:pPr marL="0">
              <a:lnSpc>
                <a:spcPct val="110000"/>
              </a:lnSpc>
              <a:spcBef>
                <a:spcPts val="0"/>
              </a:spcBef>
            </a:pPr>
            <a:r>
              <a:rPr lang="bg-BG" b="1" dirty="0">
                <a:latin typeface="Times New Roman" pitchFamily="18" charset="0"/>
                <a:cs typeface="Times New Roman" pitchFamily="18" charset="0"/>
              </a:rPr>
              <a:t> MOV R0</a:t>
            </a:r>
            <a:r>
              <a:rPr lang="bg-BG" b="1">
                <a:latin typeface="Times New Roman" pitchFamily="18" charset="0"/>
                <a:cs typeface="Times New Roman" pitchFamily="18" charset="0"/>
              </a:rPr>
              <a:t>, R1</a:t>
            </a:r>
            <a:r>
              <a:rPr lang="en-US" b="1">
                <a:latin typeface="Times New Roman" pitchFamily="18" charset="0"/>
                <a:cs typeface="Times New Roman" pitchFamily="18" charset="0"/>
              </a:rPr>
              <a:t> ;</a:t>
            </a:r>
            <a:r>
              <a:rPr lang="en-US" b="1"/>
              <a:t> </a:t>
            </a:r>
            <a:r>
              <a:rPr lang="en-US" b="1">
                <a:latin typeface="Times New Roman" pitchFamily="18" charset="0"/>
                <a:cs typeface="Times New Roman" pitchFamily="18" charset="0"/>
              </a:rPr>
              <a:t>R0 gets R1 value</a:t>
            </a:r>
            <a:endParaRPr lang="bg-BG" b="1" dirty="0">
              <a:latin typeface="Times New Roman" pitchFamily="18" charset="0"/>
              <a:cs typeface="Times New Roman" pitchFamily="18" charset="0"/>
            </a:endParaRPr>
          </a:p>
          <a:p>
            <a:pPr marL="0" lvl="0">
              <a:lnSpc>
                <a:spcPct val="110000"/>
              </a:lnSpc>
              <a:spcBef>
                <a:spcPts val="0"/>
              </a:spcBef>
            </a:pPr>
            <a:r>
              <a:rPr lang="bg-BG" b="1" dirty="0">
                <a:latin typeface="Times New Roman" pitchFamily="18" charset="0"/>
                <a:cs typeface="Times New Roman" pitchFamily="18" charset="0"/>
              </a:rPr>
              <a:t>Подразбиращо се адресиране (Implied addressing)</a:t>
            </a:r>
            <a:endParaRPr lang="bg-BG" dirty="0">
              <a:latin typeface="Times New Roman" pitchFamily="18" charset="0"/>
              <a:cs typeface="Times New Roman" pitchFamily="18" charset="0"/>
            </a:endParaRPr>
          </a:p>
          <a:p>
            <a:pPr marL="0">
              <a:lnSpc>
                <a:spcPct val="110000"/>
              </a:lnSpc>
              <a:spcBef>
                <a:spcPts val="0"/>
              </a:spcBef>
            </a:pPr>
            <a:r>
              <a:rPr lang="bg-BG" dirty="0">
                <a:latin typeface="Times New Roman" pitchFamily="18" charset="0"/>
                <a:cs typeface="Times New Roman" pitchFamily="18" charset="0"/>
              </a:rPr>
              <a:t>Това е специален случай, когато инструкцията автоматично генерира адрес и предава управлението към него. </a:t>
            </a:r>
          </a:p>
          <a:p>
            <a:pPr marL="0">
              <a:lnSpc>
                <a:spcPct val="110000"/>
              </a:lnSpc>
              <a:spcBef>
                <a:spcPts val="0"/>
              </a:spcBef>
            </a:pPr>
            <a:r>
              <a:rPr lang="bg-BG" b="1" dirty="0">
                <a:latin typeface="Times New Roman" pitchFamily="18" charset="0"/>
                <a:cs typeface="Times New Roman" pitchFamily="18" charset="0"/>
              </a:rPr>
              <a:t>SWI 1</a:t>
            </a:r>
            <a:endParaRPr lang="bg-BG" dirty="0">
              <a:latin typeface="Times New Roman" pitchFamily="18" charset="0"/>
              <a:cs typeface="Times New Roman" pitchFamily="18" charset="0"/>
            </a:endParaRPr>
          </a:p>
          <a:p>
            <a:endParaRPr lang="bg-BG"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14290"/>
            <a:ext cx="8229600" cy="1143000"/>
          </a:xfrm>
        </p:spPr>
        <p:txBody>
          <a:bodyPr>
            <a:normAutofit fontScale="90000"/>
          </a:bodyPr>
          <a:lstStyle/>
          <a:p>
            <a:br>
              <a:rPr lang="bg-BG" b="1" dirty="0">
                <a:latin typeface="Times New Roman" pitchFamily="18" charset="0"/>
                <a:cs typeface="Times New Roman" pitchFamily="18" charset="0"/>
              </a:rPr>
            </a:br>
            <a:br>
              <a:rPr lang="bg-BG" b="1" dirty="0">
                <a:latin typeface="Times New Roman" pitchFamily="18" charset="0"/>
                <a:cs typeface="Times New Roman" pitchFamily="18" charset="0"/>
              </a:rPr>
            </a:br>
            <a:r>
              <a:rPr lang="bg-BG" b="1" dirty="0">
                <a:latin typeface="Times New Roman" pitchFamily="18" charset="0"/>
                <a:cs typeface="Times New Roman" pitchFamily="18" charset="0"/>
              </a:rPr>
              <a:t>Методи на адресация на ARM</a:t>
            </a:r>
          </a:p>
        </p:txBody>
      </p:sp>
      <p:sp>
        <p:nvSpPr>
          <p:cNvPr id="3" name="Content Placeholder 2"/>
          <p:cNvSpPr>
            <a:spLocks noGrp="1"/>
          </p:cNvSpPr>
          <p:nvPr>
            <p:ph idx="1"/>
          </p:nvPr>
        </p:nvSpPr>
        <p:spPr>
          <a:xfrm>
            <a:off x="214282" y="1285860"/>
            <a:ext cx="8472518" cy="5357850"/>
          </a:xfrm>
        </p:spPr>
        <p:txBody>
          <a:bodyPr>
            <a:noAutofit/>
          </a:bodyPr>
          <a:lstStyle/>
          <a:p>
            <a:pPr marL="0" lvl="0" algn="just">
              <a:spcBef>
                <a:spcPts val="0"/>
              </a:spcBef>
            </a:pPr>
            <a:r>
              <a:rPr lang="bg-BG" sz="2100" b="1" dirty="0">
                <a:latin typeface="Times New Roman" pitchFamily="18" charset="0"/>
                <a:cs typeface="Times New Roman" pitchFamily="18" charset="0"/>
              </a:rPr>
              <a:t>Непосредствена адресация (Immediate addressing). </a:t>
            </a:r>
            <a:endParaRPr lang="bg-BG" sz="2100" dirty="0">
              <a:latin typeface="Times New Roman" pitchFamily="18" charset="0"/>
              <a:cs typeface="Times New Roman" pitchFamily="18" charset="0"/>
            </a:endParaRPr>
          </a:p>
          <a:p>
            <a:pPr marL="0" algn="just">
              <a:spcBef>
                <a:spcPts val="0"/>
              </a:spcBef>
            </a:pPr>
            <a:r>
              <a:rPr lang="en-US" sz="2100" dirty="0" err="1">
                <a:latin typeface="Times New Roman" pitchFamily="18" charset="0"/>
                <a:cs typeface="Times New Roman" pitchFamily="18" charset="0"/>
              </a:rPr>
              <a:t>При</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нея</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последният</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операнд</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от</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дадена</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инструкция</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за</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работа</a:t>
            </a:r>
            <a:r>
              <a:rPr lang="en-US" sz="2100" dirty="0">
                <a:latin typeface="Times New Roman" pitchFamily="18" charset="0"/>
                <a:cs typeface="Times New Roman" pitchFamily="18" charset="0"/>
              </a:rPr>
              <a:t> с </a:t>
            </a:r>
            <a:r>
              <a:rPr lang="en-US" sz="2100" dirty="0" err="1">
                <a:latin typeface="Times New Roman" pitchFamily="18" charset="0"/>
                <a:cs typeface="Times New Roman" pitchFamily="18" charset="0"/>
              </a:rPr>
              <a:t>данни</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може</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да</a:t>
            </a:r>
            <a:r>
              <a:rPr lang="en-US" sz="2100" dirty="0">
                <a:latin typeface="Times New Roman" pitchFamily="18" charset="0"/>
                <a:cs typeface="Times New Roman" pitchFamily="18" charset="0"/>
              </a:rPr>
              <a:t> е </a:t>
            </a:r>
            <a:r>
              <a:rPr lang="en-US" sz="2100" dirty="0" err="1">
                <a:latin typeface="Times New Roman" pitchFamily="18" charset="0"/>
                <a:cs typeface="Times New Roman" pitchFamily="18" charset="0"/>
              </a:rPr>
              <a:t>директно</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записано</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число</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предшествано</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от</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знака</a:t>
            </a:r>
            <a:r>
              <a:rPr lang="en-US" sz="2100" dirty="0">
                <a:latin typeface="Times New Roman" pitchFamily="18" charset="0"/>
                <a:cs typeface="Times New Roman" pitchFamily="18" charset="0"/>
              </a:rPr>
              <a:t> #. </a:t>
            </a:r>
            <a:r>
              <a:rPr lang="en-US" sz="2100" dirty="0" err="1">
                <a:latin typeface="Times New Roman" pitchFamily="18" charset="0"/>
                <a:cs typeface="Times New Roman" pitchFamily="18" charset="0"/>
              </a:rPr>
              <a:t>Действителният</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операнд</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се</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съдържа</a:t>
            </a:r>
            <a:r>
              <a:rPr lang="en-US" sz="2100" dirty="0">
                <a:latin typeface="Times New Roman" pitchFamily="18" charset="0"/>
                <a:cs typeface="Times New Roman" pitchFamily="18" charset="0"/>
              </a:rPr>
              <a:t> в </a:t>
            </a:r>
            <a:r>
              <a:rPr lang="en-US" sz="2100" dirty="0" err="1">
                <a:latin typeface="Times New Roman" pitchFamily="18" charset="0"/>
                <a:cs typeface="Times New Roman" pitchFamily="18" charset="0"/>
              </a:rPr>
              <a:t>думата</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на</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инструкцията</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Операндът</a:t>
            </a:r>
            <a:r>
              <a:rPr lang="en-US" sz="2100" dirty="0">
                <a:latin typeface="Times New Roman" pitchFamily="18" charset="0"/>
                <a:cs typeface="Times New Roman" pitchFamily="18" charset="0"/>
              </a:rPr>
              <a:t> е 8-битово </a:t>
            </a:r>
            <a:r>
              <a:rPr lang="en-US" sz="2100" dirty="0" err="1">
                <a:latin typeface="Times New Roman" pitchFamily="18" charset="0"/>
                <a:cs typeface="Times New Roman" pitchFamily="18" charset="0"/>
              </a:rPr>
              <a:t>число</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записано</a:t>
            </a:r>
            <a:r>
              <a:rPr lang="en-US" sz="2100" dirty="0">
                <a:latin typeface="Times New Roman" pitchFamily="18" charset="0"/>
                <a:cs typeface="Times New Roman" pitchFamily="18" charset="0"/>
              </a:rPr>
              <a:t> в 32 </a:t>
            </a:r>
            <a:r>
              <a:rPr lang="en-US" sz="2100" dirty="0" err="1">
                <a:latin typeface="Times New Roman" pitchFamily="18" charset="0"/>
                <a:cs typeface="Times New Roman" pitchFamily="18" charset="0"/>
              </a:rPr>
              <a:t>битов</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формат</a:t>
            </a:r>
            <a:r>
              <a:rPr lang="bg-BG" sz="2100" dirty="0">
                <a:latin typeface="Times New Roman" pitchFamily="18" charset="0"/>
                <a:cs typeface="Times New Roman" pitchFamily="18" charset="0"/>
              </a:rPr>
              <a:t>.</a:t>
            </a:r>
          </a:p>
          <a:p>
            <a:pPr marL="0" algn="just">
              <a:spcBef>
                <a:spcPts val="0"/>
              </a:spcBef>
            </a:pPr>
            <a:r>
              <a:rPr lang="en-US" sz="2200" b="1" dirty="0" err="1">
                <a:latin typeface="Times New Roman" pitchFamily="18" charset="0"/>
                <a:cs typeface="Times New Roman" pitchFamily="18" charset="0"/>
              </a:rPr>
              <a:t>Mov</a:t>
            </a:r>
            <a:r>
              <a:rPr lang="en-US" sz="2200" b="1" dirty="0">
                <a:latin typeface="Times New Roman" pitchFamily="18" charset="0"/>
                <a:cs typeface="Times New Roman" pitchFamily="18" charset="0"/>
              </a:rPr>
              <a:t> R0,#25H ; </a:t>
            </a:r>
            <a:r>
              <a:rPr lang="pt-BR" sz="2200" b="1" dirty="0">
                <a:latin typeface="Times New Roman" pitchFamily="18" charset="0"/>
                <a:cs typeface="Times New Roman" pitchFamily="18" charset="0"/>
              </a:rPr>
              <a:t> R0 gets data value 25H</a:t>
            </a:r>
            <a:endParaRPr lang="en-US" sz="2200" b="1" dirty="0">
              <a:latin typeface="Times New Roman" pitchFamily="18" charset="0"/>
              <a:cs typeface="Times New Roman" pitchFamily="18" charset="0"/>
            </a:endParaRPr>
          </a:p>
          <a:p>
            <a:pPr marL="0" lvl="0" algn="just">
              <a:spcBef>
                <a:spcPts val="0"/>
              </a:spcBef>
            </a:pPr>
            <a:r>
              <a:rPr lang="bg-BG" sz="2100" b="1" dirty="0">
                <a:latin typeface="Times New Roman" pitchFamily="18" charset="0"/>
                <a:cs typeface="Times New Roman" pitchFamily="18" charset="0"/>
              </a:rPr>
              <a:t>Директно адресиране </a:t>
            </a:r>
            <a:r>
              <a:rPr lang="en-US" sz="2100" b="1" dirty="0">
                <a:latin typeface="Times New Roman" pitchFamily="18" charset="0"/>
                <a:cs typeface="Times New Roman" pitchFamily="18" charset="0"/>
              </a:rPr>
              <a:t>(Direct Addressing)</a:t>
            </a:r>
            <a:r>
              <a:rPr lang="bg-BG" sz="2100" b="1" dirty="0">
                <a:latin typeface="Times New Roman" pitchFamily="18" charset="0"/>
                <a:cs typeface="Times New Roman" pitchFamily="18" charset="0"/>
              </a:rPr>
              <a:t> </a:t>
            </a:r>
            <a:r>
              <a:rPr lang="bg-BG" sz="2100" dirty="0">
                <a:latin typeface="Times New Roman" pitchFamily="18" charset="0"/>
                <a:cs typeface="Times New Roman" pitchFamily="18" charset="0"/>
              </a:rPr>
              <a:t>- Тук адресът ще даде данните, когато данните са в паметта. "Var" </a:t>
            </a:r>
            <a:r>
              <a:rPr lang="bg-BG" sz="2100">
                <a:latin typeface="Times New Roman" pitchFamily="18" charset="0"/>
                <a:cs typeface="Times New Roman" pitchFamily="18" charset="0"/>
              </a:rPr>
              <a:t>е променлива,дефинирана в паметта, </a:t>
            </a:r>
            <a:r>
              <a:rPr lang="bg-BG" sz="2100" dirty="0">
                <a:latin typeface="Times New Roman" pitchFamily="18" charset="0"/>
                <a:cs typeface="Times New Roman" pitchFamily="18" charset="0"/>
              </a:rPr>
              <a:t>на която може да бъде присвоена някаква стойност. Тогава Assembler ще </a:t>
            </a:r>
            <a:r>
              <a:rPr lang="bg-BG" sz="2100">
                <a:latin typeface="Times New Roman" pitchFamily="18" charset="0"/>
                <a:cs typeface="Times New Roman" pitchFamily="18" charset="0"/>
              </a:rPr>
              <a:t>замени адреса катоняма </a:t>
            </a:r>
            <a:r>
              <a:rPr lang="bg-BG" sz="2100" dirty="0">
                <a:latin typeface="Times New Roman" pitchFamily="18" charset="0"/>
                <a:cs typeface="Times New Roman" pitchFamily="18" charset="0"/>
              </a:rPr>
              <a:t>да постави 32-битовия адрес. </a:t>
            </a:r>
            <a:r>
              <a:rPr lang="bg-BG" sz="2100">
                <a:latin typeface="Times New Roman" pitchFamily="18" charset="0"/>
                <a:cs typeface="Times New Roman" pitchFamily="18" charset="0"/>
              </a:rPr>
              <a:t>Той поставя 12-битовия офсет</a:t>
            </a:r>
            <a:r>
              <a:rPr lang="en-US" sz="2100">
                <a:latin typeface="Times New Roman" pitchFamily="18" charset="0"/>
                <a:cs typeface="Times New Roman" pitchFamily="18" charset="0"/>
              </a:rPr>
              <a:t>/</a:t>
            </a:r>
            <a:r>
              <a:rPr lang="bg-BG" sz="2100">
                <a:latin typeface="Times New Roman" pitchFamily="18" charset="0"/>
                <a:cs typeface="Times New Roman" pitchFamily="18" charset="0"/>
              </a:rPr>
              <a:t>отстъп. Офсетът </a:t>
            </a:r>
            <a:r>
              <a:rPr lang="bg-BG" sz="2100" dirty="0">
                <a:latin typeface="Times New Roman" pitchFamily="18" charset="0"/>
                <a:cs typeface="Times New Roman" pitchFamily="18" charset="0"/>
              </a:rPr>
              <a:t>не дава действителния адрес, той дава разстоянието от текущото местоположение до местоположението на променливата. 12bit може да даде стойност до 4k местоположение.</a:t>
            </a:r>
            <a:endParaRPr lang="en-US" sz="2100" dirty="0">
              <a:latin typeface="Times New Roman" pitchFamily="18" charset="0"/>
              <a:cs typeface="Times New Roman" pitchFamily="18" charset="0"/>
            </a:endParaRPr>
          </a:p>
          <a:p>
            <a:pPr marL="0" lvl="0" algn="just">
              <a:spcBef>
                <a:spcPts val="0"/>
              </a:spcBef>
            </a:pPr>
            <a:r>
              <a:rPr lang="en-US" sz="2200" b="1" dirty="0">
                <a:latin typeface="Times New Roman" pitchFamily="18" charset="0"/>
                <a:cs typeface="Times New Roman" pitchFamily="18" charset="0"/>
              </a:rPr>
              <a:t>LDR  R0, </a:t>
            </a:r>
            <a:r>
              <a:rPr lang="en-US" sz="2200" b="1" dirty="0" err="1">
                <a:latin typeface="Times New Roman" pitchFamily="18" charset="0"/>
                <a:cs typeface="Times New Roman" pitchFamily="18" charset="0"/>
              </a:rPr>
              <a:t>Var</a:t>
            </a:r>
            <a:r>
              <a:rPr lang="en-US" sz="2200" b="1" dirty="0">
                <a:latin typeface="Times New Roman" pitchFamily="18" charset="0"/>
                <a:cs typeface="Times New Roman" pitchFamily="18" charset="0"/>
              </a:rPr>
              <a:t>; R0 gets data from memory location “</a:t>
            </a:r>
            <a:r>
              <a:rPr lang="en-US" sz="2200" b="1" dirty="0" err="1">
                <a:latin typeface="Times New Roman" pitchFamily="18" charset="0"/>
                <a:cs typeface="Times New Roman" pitchFamily="18" charset="0"/>
              </a:rPr>
              <a:t>Var</a:t>
            </a:r>
            <a:r>
              <a:rPr lang="en-US" sz="2200" b="1" dirty="0">
                <a:latin typeface="Times New Roman" pitchFamily="18" charset="0"/>
                <a:cs typeface="Times New Roman" pitchFamily="18" charset="0"/>
              </a:rPr>
              <a:t>”</a:t>
            </a:r>
          </a:p>
          <a:p>
            <a:pPr marL="0" lvl="0" algn="just">
              <a:spcBef>
                <a:spcPts val="0"/>
              </a:spcBef>
            </a:pPr>
            <a:r>
              <a:rPr lang="en-US" sz="2200" b="1" dirty="0">
                <a:latin typeface="Times New Roman" pitchFamily="18" charset="0"/>
                <a:cs typeface="Times New Roman" pitchFamily="18" charset="0"/>
              </a:rPr>
              <a:t>STR  R0, </a:t>
            </a:r>
            <a:r>
              <a:rPr lang="en-US" sz="2200" b="1" dirty="0" err="1">
                <a:latin typeface="Times New Roman" pitchFamily="18" charset="0"/>
                <a:cs typeface="Times New Roman" pitchFamily="18" charset="0"/>
              </a:rPr>
              <a:t>Var</a:t>
            </a:r>
            <a:r>
              <a:rPr lang="en-US" sz="2200" b="1" dirty="0">
                <a:latin typeface="Times New Roman" pitchFamily="18" charset="0"/>
                <a:cs typeface="Times New Roman" pitchFamily="18" charset="0"/>
              </a:rPr>
              <a:t>; R2 will be stored at the memory location “</a:t>
            </a:r>
            <a:r>
              <a:rPr lang="en-US" sz="2200" b="1" dirty="0" err="1">
                <a:latin typeface="Times New Roman" pitchFamily="18" charset="0"/>
                <a:cs typeface="Times New Roman" pitchFamily="18" charset="0"/>
              </a:rPr>
              <a:t>Var</a:t>
            </a:r>
            <a:r>
              <a:rPr lang="en-US" sz="2200" b="1" dirty="0">
                <a:latin typeface="Times New Roman" pitchFamily="18" charset="0"/>
                <a:cs typeface="Times New Roman" pitchFamily="18" charset="0"/>
              </a:rPr>
              <a:t>”</a:t>
            </a:r>
            <a:endParaRPr lang="bg-BG" sz="2200" b="1"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1143000"/>
          </a:xfrm>
        </p:spPr>
        <p:txBody>
          <a:bodyPr>
            <a:normAutofit fontScale="90000"/>
          </a:bodyPr>
          <a:lstStyle/>
          <a:p>
            <a:br>
              <a:rPr lang="bg-BG" b="1" dirty="0">
                <a:latin typeface="Times New Roman" pitchFamily="18" charset="0"/>
                <a:cs typeface="Times New Roman" pitchFamily="18" charset="0"/>
              </a:rPr>
            </a:br>
            <a:br>
              <a:rPr lang="bg-BG" b="1" dirty="0">
                <a:latin typeface="Times New Roman" pitchFamily="18" charset="0"/>
                <a:cs typeface="Times New Roman" pitchFamily="18" charset="0"/>
              </a:rPr>
            </a:br>
            <a:r>
              <a:rPr lang="bg-BG" b="1" dirty="0">
                <a:latin typeface="Times New Roman" pitchFamily="18" charset="0"/>
                <a:cs typeface="Times New Roman" pitchFamily="18" charset="0"/>
              </a:rPr>
              <a:t>Методи на адресация на ARM</a:t>
            </a:r>
          </a:p>
        </p:txBody>
      </p:sp>
      <p:sp>
        <p:nvSpPr>
          <p:cNvPr id="3" name="Content Placeholder 2"/>
          <p:cNvSpPr>
            <a:spLocks noGrp="1"/>
          </p:cNvSpPr>
          <p:nvPr>
            <p:ph idx="1"/>
          </p:nvPr>
        </p:nvSpPr>
        <p:spPr>
          <a:xfrm>
            <a:off x="214282" y="1571612"/>
            <a:ext cx="8472518" cy="4752988"/>
          </a:xfrm>
        </p:spPr>
        <p:txBody>
          <a:bodyPr>
            <a:normAutofit fontScale="92500"/>
          </a:bodyPr>
          <a:lstStyle/>
          <a:p>
            <a:pPr lvl="0"/>
            <a:r>
              <a:rPr lang="bg-BG" b="1" dirty="0">
                <a:latin typeface="Times New Roman" pitchFamily="18" charset="0"/>
                <a:cs typeface="Times New Roman" pitchFamily="18" charset="0"/>
              </a:rPr>
              <a:t>Индиректни адресации. </a:t>
            </a:r>
            <a:endParaRPr lang="bg-BG" dirty="0">
              <a:latin typeface="Times New Roman" pitchFamily="18" charset="0"/>
              <a:cs typeface="Times New Roman" pitchFamily="18" charset="0"/>
            </a:endParaRPr>
          </a:p>
          <a:p>
            <a:pPr algn="just"/>
            <a:r>
              <a:rPr lang="bg-BG" dirty="0">
                <a:latin typeface="Times New Roman" pitchFamily="18" charset="0"/>
                <a:cs typeface="Times New Roman" pitchFamily="18" charset="0"/>
              </a:rPr>
              <a:t>При тази адресация един от адресните регистри съдържа адреса на операнда, от който ще бъдат извлечени данните или адреса на операнда, където ще бъдат записани. </a:t>
            </a:r>
          </a:p>
          <a:p>
            <a:pPr algn="just"/>
            <a:r>
              <a:rPr lang="bg-BG" dirty="0">
                <a:latin typeface="Times New Roman" pitchFamily="18" charset="0"/>
                <a:cs typeface="Times New Roman" pitchFamily="18" charset="0"/>
              </a:rPr>
              <a:t>При индиректната регистрова адресация адресният регистър се загражда в средни (квадратни) скоби. Скобите указват, че данните от адреса в адресния регистър ще бъдат извлечени или на тяхно място ще бъдат записани други данни.</a:t>
            </a:r>
          </a:p>
          <a:p>
            <a:pPr algn="just"/>
            <a:r>
              <a:rPr lang="bg-BG" dirty="0">
                <a:latin typeface="Times New Roman" pitchFamily="18" charset="0"/>
                <a:cs typeface="Times New Roman" pitchFamily="18" charset="0"/>
              </a:rPr>
              <a:t> Командите с индиректна адресация съдържат информация за базовия адрес, (записан в Rn - базов регистър) и отместване.</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1143000"/>
          </a:xfrm>
        </p:spPr>
        <p:txBody>
          <a:bodyPr>
            <a:normAutofit fontScale="90000"/>
          </a:bodyPr>
          <a:lstStyle/>
          <a:p>
            <a:br>
              <a:rPr lang="bg-BG" b="1" dirty="0">
                <a:latin typeface="Times New Roman" pitchFamily="18" charset="0"/>
                <a:cs typeface="Times New Roman" pitchFamily="18" charset="0"/>
              </a:rPr>
            </a:br>
            <a:br>
              <a:rPr lang="bg-BG" b="1" dirty="0">
                <a:latin typeface="Times New Roman" pitchFamily="18" charset="0"/>
                <a:cs typeface="Times New Roman" pitchFamily="18" charset="0"/>
              </a:rPr>
            </a:br>
            <a:r>
              <a:rPr lang="bg-BG" b="1" dirty="0">
                <a:latin typeface="Times New Roman" pitchFamily="18" charset="0"/>
                <a:cs typeface="Times New Roman" pitchFamily="18" charset="0"/>
              </a:rPr>
              <a:t>Методи на адресация на ARM</a:t>
            </a:r>
          </a:p>
        </p:txBody>
      </p:sp>
      <p:sp>
        <p:nvSpPr>
          <p:cNvPr id="3" name="Content Placeholder 2"/>
          <p:cNvSpPr>
            <a:spLocks noGrp="1"/>
          </p:cNvSpPr>
          <p:nvPr>
            <p:ph idx="1"/>
          </p:nvPr>
        </p:nvSpPr>
        <p:spPr>
          <a:xfrm>
            <a:off x="214282" y="1571612"/>
            <a:ext cx="8472518" cy="4752988"/>
          </a:xfrm>
        </p:spPr>
        <p:txBody>
          <a:bodyPr>
            <a:normAutofit fontScale="92500" lnSpcReduction="10000"/>
          </a:bodyPr>
          <a:lstStyle/>
          <a:p>
            <a:pPr lvl="0" algn="just"/>
            <a:r>
              <a:rPr lang="bg-BG" b="1">
                <a:latin typeface="Times New Roman" pitchFamily="18" charset="0"/>
                <a:cs typeface="Times New Roman" pitchFamily="18" charset="0"/>
              </a:rPr>
              <a:t>Относително </a:t>
            </a:r>
            <a:r>
              <a:rPr lang="bg-BG" b="1" dirty="0">
                <a:latin typeface="Times New Roman" pitchFamily="18" charset="0"/>
                <a:cs typeface="Times New Roman" pitchFamily="18" charset="0"/>
              </a:rPr>
              <a:t>адресиране (</a:t>
            </a:r>
            <a:r>
              <a:rPr lang="en-US" b="1" dirty="0">
                <a:latin typeface="Times New Roman" pitchFamily="18" charset="0"/>
                <a:cs typeface="Times New Roman" pitchFamily="18" charset="0"/>
              </a:rPr>
              <a:t>Relative addressing)</a:t>
            </a:r>
            <a:endParaRPr lang="bg-BG" dirty="0">
              <a:latin typeface="Times New Roman" pitchFamily="18" charset="0"/>
              <a:cs typeface="Times New Roman" pitchFamily="18" charset="0"/>
            </a:endParaRPr>
          </a:p>
          <a:p>
            <a:pPr algn="just"/>
            <a:r>
              <a:rPr lang="bg-BG" dirty="0">
                <a:latin typeface="Times New Roman" pitchFamily="18" charset="0"/>
                <a:cs typeface="Times New Roman" pitchFamily="18" charset="0"/>
              </a:rPr>
              <a:t>Относителното адресиране използва група от байтове в инструкцията, за да определи изместване от адреса на текущата инструкция, за да се осъществи разклоняване на програмата. Програмистът дава адреса, към който трябва да се разклони програмата, а асемблерът изчислява 24-битовата стойност на изместване от ардеса на текущата команда. Стойността на отместването се измества наляво с 2 бита и е достатъчна да позволи адресирането на цялата памет от 64 </a:t>
            </a:r>
            <a:r>
              <a:rPr lang="bg-BG">
                <a:latin typeface="Times New Roman" pitchFamily="18" charset="0"/>
                <a:cs typeface="Times New Roman" pitchFamily="18" charset="0"/>
              </a:rPr>
              <a:t>M</a:t>
            </a:r>
            <a:r>
              <a:rPr lang="en-US">
                <a:latin typeface="Times New Roman" pitchFamily="18" charset="0"/>
                <a:cs typeface="Times New Roman" pitchFamily="18" charset="0"/>
              </a:rPr>
              <a:t>B</a:t>
            </a:r>
          </a:p>
          <a:p>
            <a:r>
              <a:rPr lang="en-US" b="1">
                <a:latin typeface="Times New Roman" pitchFamily="18" charset="0"/>
                <a:cs typeface="Times New Roman" pitchFamily="18" charset="0"/>
              </a:rPr>
              <a:t>LDR R0, [R1, #05H] ;</a:t>
            </a:r>
            <a:r>
              <a:rPr lang="en-US">
                <a:latin typeface="Times New Roman" pitchFamily="18" charset="0"/>
                <a:cs typeface="Times New Roman" pitchFamily="18" charset="0"/>
              </a:rPr>
              <a:t> </a:t>
            </a:r>
          </a:p>
          <a:p>
            <a:r>
              <a:rPr lang="en-US">
                <a:latin typeface="Times New Roman" pitchFamily="18" charset="0"/>
                <a:cs typeface="Times New Roman" pitchFamily="18" charset="0"/>
              </a:rPr>
              <a:t>R0 gets  data from the memory location pointed by (R1 + 05H)</a:t>
            </a:r>
          </a:p>
          <a:p>
            <a:r>
              <a:rPr lang="en-US">
                <a:latin typeface="Times New Roman" pitchFamily="18" charset="0"/>
                <a:cs typeface="Times New Roman" pitchFamily="18" charset="0"/>
              </a:rPr>
              <a:t>R1 remains unchanged.</a:t>
            </a:r>
          </a:p>
          <a:p>
            <a:pPr algn="just"/>
            <a:endParaRPr lang="en-US">
              <a:latin typeface="Times New Roman" pitchFamily="18" charset="0"/>
              <a:cs typeface="Times New Roman" pitchFamily="18" charset="0"/>
            </a:endParaRPr>
          </a:p>
          <a:p>
            <a:pPr algn="just"/>
            <a:endParaRPr lang="en-US">
              <a:latin typeface="Times New Roman" pitchFamily="18" charset="0"/>
              <a:cs typeface="Times New Roman" pitchFamily="18" charset="0"/>
            </a:endParaRPr>
          </a:p>
          <a:p>
            <a:pPr algn="just"/>
            <a:endParaRPr lang="en-US">
              <a:latin typeface="Times New Roman" pitchFamily="18" charset="0"/>
              <a:cs typeface="Times New Roman" pitchFamily="18" charset="0"/>
            </a:endParaRPr>
          </a:p>
          <a:p>
            <a:pPr algn="just"/>
            <a:endParaRPr lang="bg-BG"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500042"/>
            <a:ext cx="8229600" cy="1143000"/>
          </a:xfrm>
        </p:spPr>
        <p:txBody>
          <a:bodyPr>
            <a:normAutofit fontScale="90000"/>
          </a:bodyPr>
          <a:lstStyle/>
          <a:p>
            <a:br>
              <a:rPr lang="bg-BG" b="1" dirty="0">
                <a:latin typeface="Times New Roman" pitchFamily="18" charset="0"/>
                <a:cs typeface="Times New Roman" pitchFamily="18" charset="0"/>
              </a:rPr>
            </a:br>
            <a:br>
              <a:rPr lang="bg-BG" b="1" dirty="0">
                <a:latin typeface="Times New Roman" pitchFamily="18" charset="0"/>
                <a:cs typeface="Times New Roman" pitchFamily="18" charset="0"/>
              </a:rPr>
            </a:br>
            <a:r>
              <a:rPr lang="bg-BG" b="1" dirty="0">
                <a:latin typeface="Times New Roman" pitchFamily="18" charset="0"/>
                <a:cs typeface="Times New Roman" pitchFamily="18" charset="0"/>
              </a:rPr>
              <a:t>Методи на адресация на ARM</a:t>
            </a:r>
          </a:p>
        </p:txBody>
      </p:sp>
      <p:sp>
        <p:nvSpPr>
          <p:cNvPr id="3" name="Content Placeholder 2"/>
          <p:cNvSpPr>
            <a:spLocks noGrp="1"/>
          </p:cNvSpPr>
          <p:nvPr>
            <p:ph idx="1"/>
          </p:nvPr>
        </p:nvSpPr>
        <p:spPr>
          <a:xfrm>
            <a:off x="214282" y="1571612"/>
            <a:ext cx="8643998" cy="4752988"/>
          </a:xfrm>
        </p:spPr>
        <p:txBody>
          <a:bodyPr>
            <a:noAutofit/>
          </a:bodyPr>
          <a:lstStyle/>
          <a:p>
            <a:pPr lvl="0"/>
            <a:r>
              <a:rPr lang="bg-BG" sz="2400" b="1" dirty="0">
                <a:latin typeface="Times New Roman" pitchFamily="18" charset="0"/>
                <a:cs typeface="Times New Roman" pitchFamily="18" charset="0"/>
              </a:rPr>
              <a:t>Индексирано адресиране</a:t>
            </a:r>
            <a:r>
              <a:rPr lang="en-US" sz="2400" b="1" dirty="0">
                <a:latin typeface="Times New Roman" pitchFamily="18" charset="0"/>
                <a:cs typeface="Times New Roman" pitchFamily="18" charset="0"/>
              </a:rPr>
              <a:t> (</a:t>
            </a:r>
            <a:r>
              <a:rPr lang="bg-BG" sz="2400" b="1" dirty="0">
                <a:latin typeface="Times New Roman" pitchFamily="18" charset="0"/>
                <a:cs typeface="Times New Roman" pitchFamily="18" charset="0"/>
              </a:rPr>
              <a:t>Indexed addressing</a:t>
            </a:r>
            <a:r>
              <a:rPr lang="en-US" sz="2400" b="1" dirty="0">
                <a:latin typeface="Times New Roman" pitchFamily="18" charset="0"/>
                <a:cs typeface="Times New Roman" pitchFamily="18" charset="0"/>
              </a:rPr>
              <a:t>)</a:t>
            </a:r>
            <a:endParaRPr lang="bg-BG" sz="2400" dirty="0">
              <a:latin typeface="Times New Roman" pitchFamily="18" charset="0"/>
              <a:cs typeface="Times New Roman" pitchFamily="18" charset="0"/>
            </a:endParaRPr>
          </a:p>
          <a:p>
            <a:pPr marL="0" algn="just">
              <a:spcBef>
                <a:spcPts val="0"/>
              </a:spcBef>
            </a:pPr>
            <a:r>
              <a:rPr lang="bg-BG" sz="2400" dirty="0">
                <a:latin typeface="Times New Roman" pitchFamily="18" charset="0"/>
                <a:cs typeface="Times New Roman" pitchFamily="18" charset="0"/>
              </a:rPr>
              <a:t>Това е индиректна адресация, която използва отместване или индекс, който се добавя към базов регистър </a:t>
            </a:r>
            <a:r>
              <a:rPr lang="en-US" sz="2400" dirty="0" err="1">
                <a:latin typeface="Times New Roman" pitchFamily="18" charset="0"/>
                <a:cs typeface="Times New Roman" pitchFamily="18" charset="0"/>
              </a:rPr>
              <a:t>Rn</a:t>
            </a:r>
            <a:r>
              <a:rPr lang="bg-BG" sz="2400" dirty="0">
                <a:latin typeface="Times New Roman" pitchFamily="18" charset="0"/>
                <a:cs typeface="Times New Roman" pitchFamily="18" charset="0"/>
              </a:rPr>
              <a:t>, за да се образува указател в паметта. Всеки </a:t>
            </a:r>
            <a:r>
              <a:rPr lang="en-US" sz="2400" dirty="0">
                <a:latin typeface="Times New Roman" pitchFamily="18" charset="0"/>
                <a:cs typeface="Times New Roman" pitchFamily="18" charset="0"/>
              </a:rPr>
              <a:t>ARM</a:t>
            </a:r>
            <a:r>
              <a:rPr lang="bg-BG" sz="2400" dirty="0">
                <a:latin typeface="Times New Roman" pitchFamily="18" charset="0"/>
                <a:cs typeface="Times New Roman" pitchFamily="18" charset="0"/>
              </a:rPr>
              <a:t> регистър може да бъде определен като базов регистър и като 32-битов регистър може да посочи всеки адрес в картата на паметта. </a:t>
            </a:r>
          </a:p>
          <a:p>
            <a:pPr marL="0" algn="just">
              <a:spcBef>
                <a:spcPts val="0"/>
              </a:spcBef>
            </a:pPr>
            <a:r>
              <a:rPr lang="en-US" sz="2400" dirty="0" err="1">
                <a:latin typeface="Times New Roman" pitchFamily="18" charset="0"/>
                <a:cs typeface="Times New Roman" pitchFamily="18" charset="0"/>
              </a:rPr>
              <a:t>Индексът</a:t>
            </a:r>
            <a:r>
              <a:rPr lang="en-US" sz="2400" dirty="0">
                <a:latin typeface="Times New Roman" pitchFamily="18" charset="0"/>
                <a:cs typeface="Times New Roman" pitchFamily="18" charset="0"/>
              </a:rPr>
              <a:t> </a:t>
            </a:r>
            <a:r>
              <a:rPr lang="bg-BG" sz="2400" dirty="0">
                <a:latin typeface="Times New Roman" pitchFamily="18" charset="0"/>
                <a:cs typeface="Times New Roman" pitchFamily="18" charset="0"/>
              </a:rPr>
              <a:t>(отместването) </a:t>
            </a:r>
            <a:r>
              <a:rPr lang="en-US" sz="2400" dirty="0" err="1">
                <a:latin typeface="Times New Roman" pitchFamily="18" charset="0"/>
                <a:cs typeface="Times New Roman" pitchFamily="18" charset="0"/>
              </a:rPr>
              <a:t>може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да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бъде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непосредствена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стойност</a:t>
            </a:r>
            <a:r>
              <a:rPr lang="bg-BG" sz="2400" dirty="0">
                <a:latin typeface="Times New Roman" pitchFamily="18" charset="0"/>
                <a:cs typeface="Times New Roman" pitchFamily="18" charset="0"/>
              </a:rPr>
              <a:t> 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дължина</a:t>
            </a:r>
            <a:r>
              <a:rPr lang="en-US" sz="2400" dirty="0">
                <a:latin typeface="Times New Roman" pitchFamily="18" charset="0"/>
                <a:cs typeface="Times New Roman" pitchFamily="18" charset="0"/>
              </a:rPr>
              <a:t> 12 </a:t>
            </a:r>
            <a:r>
              <a:rPr lang="en-US" sz="2400" dirty="0" err="1">
                <a:latin typeface="Times New Roman" pitchFamily="18" charset="0"/>
                <a:cs typeface="Times New Roman" pitchFamily="18" charset="0"/>
              </a:rPr>
              <a:t>бита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или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съдържанието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a:t>
            </a:r>
            <a:r>
              <a:rPr lang="en-US" sz="2400" dirty="0">
                <a:latin typeface="Times New Roman" pitchFamily="18" charset="0"/>
                <a:cs typeface="Times New Roman" pitchFamily="18" charset="0"/>
              </a:rPr>
              <a:t> </a:t>
            </a:r>
            <a:r>
              <a:rPr lang="bg-BG" sz="2400" dirty="0">
                <a:latin typeface="Times New Roman" pitchFamily="18" charset="0"/>
                <a:cs typeface="Times New Roman" pitchFamily="18" charset="0"/>
              </a:rPr>
              <a:t>втори </a:t>
            </a:r>
            <a:r>
              <a:rPr lang="en-US" sz="2400" dirty="0">
                <a:latin typeface="Times New Roman" pitchFamily="18" charset="0"/>
                <a:cs typeface="Times New Roman" pitchFamily="18" charset="0"/>
              </a:rPr>
              <a:t>32-битов </a:t>
            </a:r>
            <a:r>
              <a:rPr lang="en-US" sz="2400" dirty="0" err="1">
                <a:latin typeface="Times New Roman" pitchFamily="18" charset="0"/>
                <a:cs typeface="Times New Roman" pitchFamily="18" charset="0"/>
              </a:rPr>
              <a:t>регистър</a:t>
            </a:r>
            <a:r>
              <a:rPr lang="en-US" sz="2400" dirty="0">
                <a:latin typeface="Times New Roman" pitchFamily="18" charset="0"/>
                <a:cs typeface="Times New Roman" pitchFamily="18" charset="0"/>
              </a:rPr>
              <a:t> </a:t>
            </a:r>
            <a:r>
              <a:rPr lang="bg-BG"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Rm</a:t>
            </a:r>
            <a:r>
              <a:rPr lang="bg-BG" sz="2400" dirty="0">
                <a:latin typeface="Times New Roman" pitchFamily="18" charset="0"/>
                <a:cs typeface="Times New Roman" pitchFamily="18" charset="0"/>
              </a:rPr>
              <a:t> </a:t>
            </a:r>
            <a:r>
              <a:rPr lang="en-US" sz="2400" dirty="0">
                <a:latin typeface="Times New Roman" pitchFamily="18" charset="0"/>
                <a:cs typeface="Times New Roman" pitchFamily="18" charset="0"/>
              </a:rPr>
              <a:t>(offset register), </a:t>
            </a:r>
            <a:r>
              <a:rPr lang="en-US" sz="2400" dirty="0" err="1">
                <a:latin typeface="Times New Roman" pitchFamily="18" charset="0"/>
                <a:cs typeface="Times New Roman" pitchFamily="18" charset="0"/>
              </a:rPr>
              <a:t>ко</a:t>
            </a:r>
            <a:r>
              <a:rPr lang="bg-BG" sz="2400" dirty="0">
                <a:latin typeface="Times New Roman" pitchFamily="18" charset="0"/>
                <a:cs typeface="Times New Roman" pitchFamily="18" charset="0"/>
              </a:rPr>
              <a:t>ето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евентуално</a:t>
            </a:r>
            <a:r>
              <a:rPr lang="en-US" sz="2400" dirty="0">
                <a:latin typeface="Times New Roman" pitchFamily="18" charset="0"/>
                <a:cs typeface="Times New Roman" pitchFamily="18" charset="0"/>
              </a:rPr>
              <a:t> е </a:t>
            </a:r>
            <a:r>
              <a:rPr lang="bg-BG" sz="2400" dirty="0">
                <a:latin typeface="Times New Roman" pitchFamily="18" charset="0"/>
                <a:cs typeface="Times New Roman" pitchFamily="18" charset="0"/>
              </a:rPr>
              <a:t>изместено на</a:t>
            </a:r>
            <a:r>
              <a:rPr lang="en-US" sz="2400" dirty="0">
                <a:latin typeface="Times New Roman" pitchFamily="18" charset="0"/>
                <a:cs typeface="Times New Roman" pitchFamily="18" charset="0"/>
              </a:rPr>
              <a:t>л</a:t>
            </a:r>
            <a:r>
              <a:rPr lang="bg-BG" sz="2400" dirty="0">
                <a:latin typeface="Times New Roman" pitchFamily="18" charset="0"/>
                <a:cs typeface="Times New Roman" pitchFamily="18" charset="0"/>
              </a:rPr>
              <a:t>яв</a:t>
            </a:r>
            <a:r>
              <a:rPr lang="en-US" sz="2400" dirty="0">
                <a:latin typeface="Times New Roman" pitchFamily="18" charset="0"/>
                <a:cs typeface="Times New Roman" pitchFamily="18" charset="0"/>
              </a:rPr>
              <a:t>о. </a:t>
            </a:r>
            <a:r>
              <a:rPr lang="en-US" sz="2400" dirty="0" err="1">
                <a:latin typeface="Times New Roman" pitchFamily="18" charset="0"/>
                <a:cs typeface="Times New Roman" pitchFamily="18" charset="0"/>
              </a:rPr>
              <a:t>Всички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битове</a:t>
            </a:r>
            <a:r>
              <a:rPr lang="en-US" sz="2400" dirty="0">
                <a:latin typeface="Times New Roman" pitchFamily="18" charset="0"/>
                <a:cs typeface="Times New Roman" pitchFamily="18" charset="0"/>
              </a:rPr>
              <a:t> </a:t>
            </a:r>
            <a:r>
              <a:rPr lang="bg-BG" sz="2400" dirty="0">
                <a:latin typeface="Times New Roman" pitchFamily="18" charset="0"/>
                <a:cs typeface="Times New Roman" pitchFamily="18" charset="0"/>
              </a:rPr>
              <a:t>от непосредствената стойност или от </a:t>
            </a:r>
            <a:r>
              <a:rPr lang="en-US" sz="2400" dirty="0" err="1">
                <a:latin typeface="Times New Roman" pitchFamily="18" charset="0"/>
                <a:cs typeface="Times New Roman" pitchFamily="18" charset="0"/>
              </a:rPr>
              <a:t>Rm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вземат</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като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индекс</a:t>
            </a:r>
            <a:r>
              <a:rPr lang="en-US" sz="2400" dirty="0">
                <a:latin typeface="Times New Roman" pitchFamily="18" charset="0"/>
                <a:cs typeface="Times New Roman" pitchFamily="18" charset="0"/>
              </a:rPr>
              <a:t>, </a:t>
            </a:r>
            <a:r>
              <a:rPr lang="bg-BG" sz="2400" dirty="0">
                <a:latin typeface="Times New Roman" pitchFamily="18" charset="0"/>
                <a:cs typeface="Times New Roman" pitchFamily="18" charset="0"/>
              </a:rPr>
              <a:t>а </a:t>
            </a:r>
            <a:r>
              <a:rPr lang="en-US" sz="2400" dirty="0" err="1">
                <a:latin typeface="Times New Roman" pitchFamily="18" charset="0"/>
                <a:cs typeface="Times New Roman" pitchFamily="18" charset="0"/>
              </a:rPr>
              <a:t>отделен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бит</a:t>
            </a:r>
            <a:r>
              <a:rPr lang="en-US" sz="2400" dirty="0">
                <a:latin typeface="Times New Roman" pitchFamily="18" charset="0"/>
                <a:cs typeface="Times New Roman" pitchFamily="18" charset="0"/>
              </a:rPr>
              <a:t> </a:t>
            </a:r>
            <a:r>
              <a:rPr lang="bg-BG" sz="2400" dirty="0">
                <a:latin typeface="Times New Roman" pitchFamily="18" charset="0"/>
                <a:cs typeface="Times New Roman" pitchFamily="18" charset="0"/>
              </a:rPr>
              <a:t>в инструкцията </a:t>
            </a:r>
            <a:r>
              <a:rPr lang="en-US" sz="2400" dirty="0" err="1">
                <a:latin typeface="Times New Roman" pitchFamily="18" charset="0"/>
                <a:cs typeface="Times New Roman" pitchFamily="18" charset="0"/>
              </a:rPr>
              <a:t>определя</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дали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индексът</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прибавя</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към</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или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изважда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от</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стойността</a:t>
            </a:r>
            <a:r>
              <a:rPr lang="en-US" sz="2400" dirty="0">
                <a:latin typeface="Times New Roman" pitchFamily="18" charset="0"/>
                <a:cs typeface="Times New Roman" pitchFamily="18" charset="0"/>
              </a:rPr>
              <a:t> в </a:t>
            </a:r>
            <a:r>
              <a:rPr lang="en-US" sz="2400" dirty="0" err="1">
                <a:latin typeface="Times New Roman" pitchFamily="18" charset="0"/>
                <a:cs typeface="Times New Roman" pitchFamily="18" charset="0"/>
              </a:rPr>
              <a:t>базовия</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регистър</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Rn</a:t>
            </a:r>
            <a:r>
              <a:rPr lang="bg-BG" sz="2400"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8229600" cy="734892"/>
          </a:xfrm>
        </p:spPr>
        <p:txBody>
          <a:bodyPr>
            <a:normAutofit fontScale="90000"/>
          </a:bodyPr>
          <a:lstStyle/>
          <a:p>
            <a:br>
              <a:rPr lang="bg-BG" b="1" dirty="0">
                <a:latin typeface="Times New Roman" pitchFamily="18" charset="0"/>
                <a:cs typeface="Times New Roman" pitchFamily="18" charset="0"/>
              </a:rPr>
            </a:br>
            <a:br>
              <a:rPr lang="bg-BG" b="1" dirty="0">
                <a:latin typeface="Times New Roman" pitchFamily="18" charset="0"/>
                <a:cs typeface="Times New Roman" pitchFamily="18" charset="0"/>
              </a:rPr>
            </a:br>
            <a:r>
              <a:rPr lang="bg-BG" b="1" dirty="0">
                <a:latin typeface="Times New Roman" pitchFamily="18" charset="0"/>
                <a:cs typeface="Times New Roman" pitchFamily="18" charset="0"/>
              </a:rPr>
              <a:t>Методи на адресация на ARM</a:t>
            </a:r>
          </a:p>
        </p:txBody>
      </p:sp>
      <p:sp>
        <p:nvSpPr>
          <p:cNvPr id="3" name="Content Placeholder 2"/>
          <p:cNvSpPr>
            <a:spLocks noGrp="1"/>
          </p:cNvSpPr>
          <p:nvPr>
            <p:ph idx="1"/>
          </p:nvPr>
        </p:nvSpPr>
        <p:spPr>
          <a:xfrm>
            <a:off x="251520" y="980728"/>
            <a:ext cx="8643998" cy="5544616"/>
          </a:xfrm>
        </p:spPr>
        <p:txBody>
          <a:bodyPr>
            <a:noAutofit/>
          </a:bodyPr>
          <a:lstStyle/>
          <a:p>
            <a:pPr lvl="0"/>
            <a:r>
              <a:rPr lang="bg-BG" sz="2400" b="1" dirty="0">
                <a:latin typeface="Times New Roman" pitchFamily="18" charset="0"/>
                <a:cs typeface="Times New Roman" pitchFamily="18" charset="0"/>
              </a:rPr>
              <a:t>Индексирано адресиране</a:t>
            </a:r>
            <a:r>
              <a:rPr lang="en-US" sz="2400" b="1" dirty="0">
                <a:latin typeface="Times New Roman" pitchFamily="18" charset="0"/>
                <a:cs typeface="Times New Roman" pitchFamily="18" charset="0"/>
              </a:rPr>
              <a:t> (</a:t>
            </a:r>
            <a:r>
              <a:rPr lang="bg-BG" sz="2400" b="1" dirty="0">
                <a:latin typeface="Times New Roman" pitchFamily="18" charset="0"/>
                <a:cs typeface="Times New Roman" pitchFamily="18" charset="0"/>
              </a:rPr>
              <a:t>Indexed addressing</a:t>
            </a:r>
            <a:r>
              <a:rPr lang="en-US" sz="2400" b="1" dirty="0">
                <a:latin typeface="Times New Roman" pitchFamily="18" charset="0"/>
                <a:cs typeface="Times New Roman" pitchFamily="18" charset="0"/>
              </a:rPr>
              <a:t>)</a:t>
            </a:r>
            <a:endParaRPr lang="bg-BG" sz="2400" dirty="0">
              <a:latin typeface="Times New Roman" pitchFamily="18" charset="0"/>
              <a:cs typeface="Times New Roman" pitchFamily="18" charset="0"/>
            </a:endParaRPr>
          </a:p>
          <a:p>
            <a:pPr marL="0">
              <a:spcBef>
                <a:spcPts val="0"/>
              </a:spcBef>
            </a:pPr>
            <a:r>
              <a:rPr lang="en-US" sz="2400" b="1" dirty="0">
                <a:latin typeface="Times New Roman" pitchFamily="18" charset="0"/>
                <a:cs typeface="Times New Roman" pitchFamily="18" charset="0"/>
              </a:rPr>
              <a:t>LDR R0, [R1, #05H]!</a:t>
            </a:r>
            <a:r>
              <a:rPr lang="en-US" sz="2400" dirty="0">
                <a:latin typeface="Times New Roman" pitchFamily="18" charset="0"/>
                <a:cs typeface="Times New Roman" pitchFamily="18" charset="0"/>
              </a:rPr>
              <a:t> ; </a:t>
            </a:r>
          </a:p>
          <a:p>
            <a:pPr marL="0">
              <a:spcBef>
                <a:spcPts val="0"/>
              </a:spcBef>
            </a:pPr>
            <a:r>
              <a:rPr lang="en-US" sz="2400" dirty="0">
                <a:latin typeface="Times New Roman" pitchFamily="18" charset="0"/>
                <a:cs typeface="Times New Roman" pitchFamily="18" charset="0"/>
              </a:rPr>
              <a:t>First: R1 gets R1 + 05H</a:t>
            </a:r>
          </a:p>
          <a:p>
            <a:pPr marL="0">
              <a:spcBef>
                <a:spcPts val="0"/>
              </a:spcBef>
            </a:pPr>
            <a:r>
              <a:rPr lang="en-US" sz="2400" dirty="0">
                <a:latin typeface="Times New Roman" pitchFamily="18" charset="0"/>
                <a:cs typeface="Times New Roman" pitchFamily="18" charset="0"/>
              </a:rPr>
              <a:t>Then: R0 gets data from the new memory location pointed by R1.</a:t>
            </a:r>
          </a:p>
          <a:p>
            <a:pPr marL="0">
              <a:spcBef>
                <a:spcPts val="0"/>
              </a:spcBef>
            </a:pPr>
            <a:r>
              <a:rPr lang="bg-BG" sz="2400" dirty="0">
                <a:latin typeface="Times New Roman" pitchFamily="18" charset="0"/>
                <a:cs typeface="Times New Roman" pitchFamily="18" charset="0"/>
              </a:rPr>
              <a:t>Нарича се </a:t>
            </a:r>
            <a:r>
              <a:rPr lang="bg-BG" sz="2400" dirty="0" err="1">
                <a:latin typeface="Times New Roman" pitchFamily="18" charset="0"/>
                <a:cs typeface="Times New Roman" pitchFamily="18" charset="0"/>
              </a:rPr>
              <a:t>пре</a:t>
            </a:r>
            <a:r>
              <a:rPr lang="bg-BG" sz="2400" dirty="0">
                <a:latin typeface="Times New Roman" pitchFamily="18" charset="0"/>
                <a:cs typeface="Times New Roman" pitchFamily="18" charset="0"/>
              </a:rPr>
              <a:t>-индексно адресиране.</a:t>
            </a:r>
            <a:endParaRPr lang="en-US" sz="2400" dirty="0">
              <a:latin typeface="Times New Roman" pitchFamily="18" charset="0"/>
              <a:cs typeface="Times New Roman" pitchFamily="18" charset="0"/>
            </a:endParaRPr>
          </a:p>
          <a:p>
            <a:pPr marL="0" algn="just">
              <a:spcBef>
                <a:spcPts val="0"/>
              </a:spcBef>
            </a:pPr>
            <a:r>
              <a:rPr lang="ru-RU" sz="2400" dirty="0">
                <a:latin typeface="Times New Roman" pitchFamily="18" charset="0"/>
                <a:cs typeface="Times New Roman" pitchFamily="18" charset="0"/>
              </a:rPr>
              <a:t>При прединдексно адресиране адресът на паметта се формира по същия начин, както при относителното адресиране. Адресът се използва не само за достъп до паметта, но и основният регистър също се, за да съхранява новата стойност. В системата ARM това е известно като обратно записване и се обозначава с поставяне на удивителен знак след в края на кода.</a:t>
            </a:r>
          </a:p>
          <a:p>
            <a:pPr marL="0" algn="just">
              <a:spcBef>
                <a:spcPts val="0"/>
              </a:spcBef>
            </a:pPr>
            <a:r>
              <a:rPr lang="ru-RU" sz="2400" dirty="0">
                <a:latin typeface="Times New Roman" pitchFamily="18" charset="0"/>
                <a:cs typeface="Times New Roman" pitchFamily="18" charset="0"/>
              </a:rPr>
              <a:t> </a:t>
            </a:r>
            <a:r>
              <a:rPr lang="bg-BG" sz="2400" dirty="0" err="1">
                <a:latin typeface="Times New Roman" pitchFamily="18" charset="0"/>
                <a:cs typeface="Times New Roman" pitchFamily="18" charset="0"/>
              </a:rPr>
              <a:t>Пре</a:t>
            </a:r>
            <a:r>
              <a:rPr lang="bg-BG" sz="2400" dirty="0">
                <a:latin typeface="Times New Roman" pitchFamily="18" charset="0"/>
                <a:cs typeface="Times New Roman" pitchFamily="18" charset="0"/>
              </a:rPr>
              <a:t>-индексното адресиране </a:t>
            </a:r>
            <a:r>
              <a:rPr lang="ru-RU" sz="2400" dirty="0">
                <a:latin typeface="Times New Roman" pitchFamily="18" charset="0"/>
                <a:cs typeface="Times New Roman" pitchFamily="18" charset="0"/>
              </a:rPr>
              <a:t>може да бъде особено полезно в цикъл, тъй като може да се използва за автоматично увеличаване или намаляване на брояч или указател на паметта.</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8229600" cy="734892"/>
          </a:xfrm>
        </p:spPr>
        <p:txBody>
          <a:bodyPr>
            <a:normAutofit fontScale="90000"/>
          </a:bodyPr>
          <a:lstStyle/>
          <a:p>
            <a:br>
              <a:rPr lang="bg-BG" b="1" dirty="0">
                <a:latin typeface="Times New Roman" pitchFamily="18" charset="0"/>
                <a:cs typeface="Times New Roman" pitchFamily="18" charset="0"/>
              </a:rPr>
            </a:br>
            <a:br>
              <a:rPr lang="bg-BG" b="1" dirty="0">
                <a:latin typeface="Times New Roman" pitchFamily="18" charset="0"/>
                <a:cs typeface="Times New Roman" pitchFamily="18" charset="0"/>
              </a:rPr>
            </a:br>
            <a:r>
              <a:rPr lang="bg-BG" b="1" dirty="0">
                <a:latin typeface="Times New Roman" pitchFamily="18" charset="0"/>
                <a:cs typeface="Times New Roman" pitchFamily="18" charset="0"/>
              </a:rPr>
              <a:t>Методи на адресация на ARM</a:t>
            </a:r>
          </a:p>
        </p:txBody>
      </p:sp>
      <p:sp>
        <p:nvSpPr>
          <p:cNvPr id="3" name="Content Placeholder 2"/>
          <p:cNvSpPr>
            <a:spLocks noGrp="1"/>
          </p:cNvSpPr>
          <p:nvPr>
            <p:ph idx="1"/>
          </p:nvPr>
        </p:nvSpPr>
        <p:spPr>
          <a:xfrm>
            <a:off x="251520" y="980728"/>
            <a:ext cx="8643998" cy="5544616"/>
          </a:xfrm>
        </p:spPr>
        <p:txBody>
          <a:bodyPr>
            <a:noAutofit/>
          </a:bodyPr>
          <a:lstStyle/>
          <a:p>
            <a:pPr lvl="0"/>
            <a:r>
              <a:rPr lang="bg-BG" sz="1900" b="1" dirty="0">
                <a:latin typeface="Times New Roman" pitchFamily="18" charset="0"/>
                <a:cs typeface="Times New Roman" pitchFamily="18" charset="0"/>
              </a:rPr>
              <a:t>Индексирано адресиране</a:t>
            </a:r>
            <a:r>
              <a:rPr lang="en-US" sz="1900" b="1" dirty="0">
                <a:latin typeface="Times New Roman" pitchFamily="18" charset="0"/>
                <a:cs typeface="Times New Roman" pitchFamily="18" charset="0"/>
              </a:rPr>
              <a:t> (</a:t>
            </a:r>
            <a:r>
              <a:rPr lang="bg-BG" sz="1900" b="1" dirty="0">
                <a:latin typeface="Times New Roman" pitchFamily="18" charset="0"/>
                <a:cs typeface="Times New Roman" pitchFamily="18" charset="0"/>
              </a:rPr>
              <a:t>Indexed addressing</a:t>
            </a:r>
            <a:r>
              <a:rPr lang="en-US" sz="1900" b="1" dirty="0">
                <a:latin typeface="Times New Roman" pitchFamily="18" charset="0"/>
                <a:cs typeface="Times New Roman" pitchFamily="18" charset="0"/>
              </a:rPr>
              <a:t>)</a:t>
            </a:r>
            <a:endParaRPr lang="bg-BG" sz="1900" dirty="0">
              <a:latin typeface="Times New Roman" pitchFamily="18" charset="0"/>
              <a:cs typeface="Times New Roman" pitchFamily="18" charset="0"/>
            </a:endParaRPr>
          </a:p>
          <a:p>
            <a:pPr marL="0">
              <a:spcBef>
                <a:spcPts val="0"/>
              </a:spcBef>
            </a:pPr>
            <a:r>
              <a:rPr lang="en-US" sz="1900" b="1" dirty="0">
                <a:latin typeface="Times New Roman" pitchFamily="18" charset="0"/>
                <a:cs typeface="Times New Roman" pitchFamily="18" charset="0"/>
              </a:rPr>
              <a:t>LDR R0, [R1], #05H ;</a:t>
            </a:r>
            <a:r>
              <a:rPr lang="en-US" sz="1900" dirty="0">
                <a:latin typeface="Times New Roman" pitchFamily="18" charset="0"/>
                <a:cs typeface="Times New Roman" pitchFamily="18" charset="0"/>
              </a:rPr>
              <a:t> </a:t>
            </a:r>
          </a:p>
          <a:p>
            <a:pPr marL="0">
              <a:spcBef>
                <a:spcPts val="0"/>
              </a:spcBef>
            </a:pPr>
            <a:r>
              <a:rPr lang="en-US" sz="1900" dirty="0">
                <a:latin typeface="Times New Roman" pitchFamily="18" charset="0"/>
                <a:cs typeface="Times New Roman" pitchFamily="18" charset="0"/>
              </a:rPr>
              <a:t>First: R0 gets  data from memory location pointed by R1</a:t>
            </a:r>
          </a:p>
          <a:p>
            <a:pPr marL="0">
              <a:spcBef>
                <a:spcPts val="0"/>
              </a:spcBef>
            </a:pPr>
            <a:r>
              <a:rPr lang="en-US" sz="1900" dirty="0">
                <a:latin typeface="Times New Roman" pitchFamily="18" charset="0"/>
                <a:cs typeface="Times New Roman" pitchFamily="18" charset="0"/>
              </a:rPr>
              <a:t>Then: R1 gets  R1 + 05H</a:t>
            </a:r>
          </a:p>
          <a:p>
            <a:pPr marL="0">
              <a:spcBef>
                <a:spcPts val="0"/>
              </a:spcBef>
            </a:pPr>
            <a:r>
              <a:rPr lang="bg-BG" sz="1900" dirty="0">
                <a:latin typeface="Times New Roman" pitchFamily="18" charset="0"/>
                <a:cs typeface="Times New Roman" pitchFamily="18" charset="0"/>
              </a:rPr>
              <a:t>Нарича се пост-индексно адресиране.</a:t>
            </a:r>
          </a:p>
          <a:p>
            <a:pPr marL="0" algn="just">
              <a:spcBef>
                <a:spcPts val="0"/>
              </a:spcBef>
            </a:pPr>
            <a:r>
              <a:rPr lang="ru-RU" sz="1900" dirty="0">
                <a:latin typeface="Times New Roman" pitchFamily="18" charset="0"/>
                <a:cs typeface="Times New Roman" pitchFamily="18" charset="0"/>
              </a:rPr>
              <a:t>В </a:t>
            </a:r>
            <a:r>
              <a:rPr lang="bg-BG" sz="1900" dirty="0">
                <a:latin typeface="Times New Roman" pitchFamily="18" charset="0"/>
                <a:cs typeface="Times New Roman" pitchFamily="18" charset="0"/>
              </a:rPr>
              <a:t>пост-индексното адресиране </a:t>
            </a:r>
            <a:r>
              <a:rPr lang="ru-RU" sz="1900" dirty="0">
                <a:latin typeface="Times New Roman" pitchFamily="18" charset="0"/>
                <a:cs typeface="Times New Roman" pitchFamily="18" charset="0"/>
              </a:rPr>
              <a:t>адресът на паметта е стойността на основния регистър. Като страничен ефект се добавя или изважда отместване към стойността на основния регистър и резултатът се записва обратно в основния регистър.</a:t>
            </a:r>
          </a:p>
          <a:p>
            <a:pPr marL="0" algn="just">
              <a:spcBef>
                <a:spcPts val="0"/>
              </a:spcBef>
            </a:pPr>
            <a:r>
              <a:rPr lang="bg-BG" sz="1900" dirty="0">
                <a:latin typeface="Times New Roman" pitchFamily="18" charset="0"/>
                <a:cs typeface="Times New Roman" pitchFamily="18" charset="0"/>
              </a:rPr>
              <a:t>Пост-индексното адресиране </a:t>
            </a:r>
            <a:r>
              <a:rPr lang="ru-RU" sz="1900" dirty="0">
                <a:latin typeface="Times New Roman" pitchFamily="18" charset="0"/>
                <a:cs typeface="Times New Roman" pitchFamily="18" charset="0"/>
              </a:rPr>
              <a:t>използва стойността на основния регистър без модификация. След това прилага промяна на адреса и записва новия адрес обратно в основния регистър. Това може да се използва за автоматично увеличаване или намаляване на указател на паметта, след като е бил използван, така есочещи към следващото място, което да се използва.</a:t>
            </a:r>
          </a:p>
          <a:p>
            <a:pPr marL="0" algn="just">
              <a:spcBef>
                <a:spcPts val="0"/>
              </a:spcBef>
            </a:pPr>
            <a:r>
              <a:rPr lang="ru-RU" sz="1900" dirty="0">
                <a:latin typeface="Times New Roman" pitchFamily="18" charset="0"/>
                <a:cs typeface="Times New Roman" pitchFamily="18" charset="0"/>
              </a:rPr>
              <a:t>Тъй като инструкцията трябва да изпълни обратен запис, не е необходимо да включваме удивителен знак. По-скоро преместваме затварящата скоба, за да включим само основния регистър, тъй като това е регистърът, който съдържа адреса на паметта, до който ще имаме достъп.</a:t>
            </a:r>
            <a:endParaRPr lang="bg-BG" sz="19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1143000"/>
          </a:xfrm>
        </p:spPr>
        <p:txBody>
          <a:bodyPr>
            <a:normAutofit fontScale="90000"/>
          </a:bodyPr>
          <a:lstStyle/>
          <a:p>
            <a:br>
              <a:rPr lang="bg-BG" b="1" dirty="0">
                <a:latin typeface="Times New Roman" pitchFamily="18" charset="0"/>
                <a:cs typeface="Times New Roman" pitchFamily="18" charset="0"/>
              </a:rPr>
            </a:br>
            <a:br>
              <a:rPr lang="bg-BG" b="1" dirty="0">
                <a:latin typeface="Times New Roman" pitchFamily="18" charset="0"/>
                <a:cs typeface="Times New Roman" pitchFamily="18" charset="0"/>
              </a:rPr>
            </a:br>
            <a:r>
              <a:rPr lang="bg-BG" b="1" dirty="0">
                <a:latin typeface="Times New Roman" pitchFamily="18" charset="0"/>
                <a:cs typeface="Times New Roman" pitchFamily="18" charset="0"/>
              </a:rPr>
              <a:t>Методи на адресация на ARM</a:t>
            </a:r>
          </a:p>
        </p:txBody>
      </p:sp>
      <p:sp>
        <p:nvSpPr>
          <p:cNvPr id="3" name="Content Placeholder 2"/>
          <p:cNvSpPr>
            <a:spLocks noGrp="1"/>
          </p:cNvSpPr>
          <p:nvPr>
            <p:ph idx="1"/>
          </p:nvPr>
        </p:nvSpPr>
        <p:spPr>
          <a:xfrm>
            <a:off x="214282" y="1571612"/>
            <a:ext cx="8472518" cy="5072098"/>
          </a:xfrm>
        </p:spPr>
        <p:txBody>
          <a:bodyPr>
            <a:noAutofit/>
          </a:bodyPr>
          <a:lstStyle/>
          <a:p>
            <a:pPr lvl="0" algn="just"/>
            <a:r>
              <a:rPr lang="ru-RU" sz="2200" b="1">
                <a:latin typeface="Times New Roman" pitchFamily="18" charset="0"/>
                <a:cs typeface="Times New Roman" pitchFamily="18" charset="0"/>
              </a:rPr>
              <a:t>Базово </a:t>
            </a:r>
            <a:r>
              <a:rPr lang="ru-RU" sz="2200" b="1" dirty="0">
                <a:latin typeface="Times New Roman" pitchFamily="18" charset="0"/>
                <a:cs typeface="Times New Roman" pitchFamily="18" charset="0"/>
              </a:rPr>
              <a:t>плюс отместване адресиране: </a:t>
            </a:r>
            <a:r>
              <a:rPr lang="ru-RU" sz="2200" dirty="0">
                <a:latin typeface="Times New Roman" pitchFamily="18" charset="0"/>
                <a:cs typeface="Times New Roman" pitchFamily="18" charset="0"/>
              </a:rPr>
              <a:t>инструкцията определя регистър (базата) и двоично отместване, които да бъдат добавени към основата, за да се формира адресът на паметта.</a:t>
            </a:r>
          </a:p>
          <a:p>
            <a:pPr lvl="0" algn="just"/>
            <a:r>
              <a:rPr lang="ru-RU" sz="2200" b="1">
                <a:latin typeface="Times New Roman" pitchFamily="18" charset="0"/>
                <a:cs typeface="Times New Roman" pitchFamily="18" charset="0"/>
              </a:rPr>
              <a:t>Базово </a:t>
            </a:r>
            <a:r>
              <a:rPr lang="ru-RU" sz="2200" b="1" dirty="0">
                <a:latin typeface="Times New Roman" pitchFamily="18" charset="0"/>
                <a:cs typeface="Times New Roman" pitchFamily="18" charset="0"/>
              </a:rPr>
              <a:t>плюс индексно адресиране: </a:t>
            </a:r>
            <a:r>
              <a:rPr lang="ru-RU" sz="2200" dirty="0">
                <a:latin typeface="Times New Roman" pitchFamily="18" charset="0"/>
                <a:cs typeface="Times New Roman" pitchFamily="18" charset="0"/>
              </a:rPr>
              <a:t>инструкцията определя основен регистър и друг регистър (индекс), който се добавя към основата, за да формира адреса на паметта.</a:t>
            </a:r>
          </a:p>
          <a:p>
            <a:pPr lvl="0" algn="just"/>
            <a:r>
              <a:rPr lang="ru-RU" sz="2200" b="1">
                <a:latin typeface="Times New Roman" pitchFamily="18" charset="0"/>
                <a:cs typeface="Times New Roman" pitchFamily="18" charset="0"/>
              </a:rPr>
              <a:t>Адресиране </a:t>
            </a:r>
            <a:r>
              <a:rPr lang="ru-RU" sz="2200" b="1" dirty="0">
                <a:latin typeface="Times New Roman" pitchFamily="18" charset="0"/>
                <a:cs typeface="Times New Roman" pitchFamily="18" charset="0"/>
              </a:rPr>
              <a:t>на базов плюс мащабиран индекс</a:t>
            </a:r>
            <a:r>
              <a:rPr lang="ru-RU" sz="2200" dirty="0">
                <a:latin typeface="Times New Roman" pitchFamily="18" charset="0"/>
                <a:cs typeface="Times New Roman" pitchFamily="18" charset="0"/>
              </a:rPr>
              <a:t>: както по-горе, но индексът еумножен по константа (обикновено размера на елемента с данни и обикновено степен на две), преди да бъде добавен към основата.</a:t>
            </a:r>
          </a:p>
          <a:p>
            <a:pPr lvl="0" algn="just"/>
            <a:r>
              <a:rPr lang="ru-RU" sz="2200" b="1">
                <a:latin typeface="Times New Roman" pitchFamily="18" charset="0"/>
                <a:cs typeface="Times New Roman" pitchFamily="18" charset="0"/>
              </a:rPr>
              <a:t>Адресиране </a:t>
            </a:r>
            <a:r>
              <a:rPr lang="ru-RU" sz="2200" b="1" dirty="0">
                <a:latin typeface="Times New Roman" pitchFamily="18" charset="0"/>
                <a:cs typeface="Times New Roman" pitchFamily="18" charset="0"/>
              </a:rPr>
              <a:t>на стека: </a:t>
            </a:r>
            <a:r>
              <a:rPr lang="ru-RU" sz="2200" dirty="0">
                <a:latin typeface="Times New Roman" pitchFamily="18" charset="0"/>
                <a:cs typeface="Times New Roman" pitchFamily="18" charset="0"/>
              </a:rPr>
              <a:t>скрит или определен регистър (указател на стека) сочи към област от паметта (стека), където елементите от данни се записват (избутват) или четат (изскачат) на базата последен влязъл, първи излязъл.</a:t>
            </a:r>
            <a:endParaRPr lang="bg-BG" sz="22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1143000"/>
          </a:xfrm>
        </p:spPr>
        <p:txBody>
          <a:bodyPr>
            <a:normAutofit fontScale="90000"/>
          </a:bodyPr>
          <a:lstStyle/>
          <a:p>
            <a:br>
              <a:rPr lang="bg-BG" b="1" dirty="0">
                <a:latin typeface="Times New Roman" pitchFamily="18" charset="0"/>
                <a:cs typeface="Times New Roman" pitchFamily="18" charset="0"/>
              </a:rPr>
            </a:br>
            <a:br>
              <a:rPr lang="bg-BG" b="1" dirty="0">
                <a:latin typeface="Times New Roman" pitchFamily="18" charset="0"/>
                <a:cs typeface="Times New Roman" pitchFamily="18" charset="0"/>
              </a:rPr>
            </a:br>
            <a:r>
              <a:rPr lang="bg-BG" sz="4400" b="1" dirty="0">
                <a:latin typeface="Times New Roman" pitchFamily="18" charset="0"/>
                <a:cs typeface="Times New Roman" pitchFamily="18" charset="0"/>
              </a:rPr>
              <a:t>Методи на адресиране на паметта</a:t>
            </a:r>
          </a:p>
        </p:txBody>
      </p:sp>
      <p:sp>
        <p:nvSpPr>
          <p:cNvPr id="3" name="Content Placeholder 2"/>
          <p:cNvSpPr>
            <a:spLocks noGrp="1"/>
          </p:cNvSpPr>
          <p:nvPr>
            <p:ph idx="1"/>
          </p:nvPr>
        </p:nvSpPr>
        <p:spPr>
          <a:xfrm>
            <a:off x="214282" y="1571612"/>
            <a:ext cx="8472518" cy="5072098"/>
          </a:xfrm>
        </p:spPr>
        <p:txBody>
          <a:bodyPr>
            <a:noAutofit/>
          </a:bodyPr>
          <a:lstStyle/>
          <a:p>
            <a:pPr lvl="0" algn="just"/>
            <a:r>
              <a:rPr lang="ru-RU" sz="2400" dirty="0">
                <a:latin typeface="Times New Roman" pitchFamily="18" charset="0"/>
                <a:cs typeface="Times New Roman" pitchFamily="18" charset="0"/>
              </a:rPr>
              <a:t>Паметта се адресира чрез генериране на ефективен адрес(EA) на операнда чрез добавяне на отместване със </a:t>
            </a:r>
            <a:r>
              <a:rPr lang="ru-RU" sz="2400">
                <a:latin typeface="Times New Roman" pitchFamily="18" charset="0"/>
                <a:cs typeface="Times New Roman" pitchFamily="18" charset="0"/>
              </a:rPr>
              <a:t>знак към</a:t>
            </a:r>
            <a:r>
              <a:rPr lang="en-US" sz="2400">
                <a:latin typeface="Times New Roman" pitchFamily="18" charset="0"/>
                <a:cs typeface="Times New Roman" pitchFamily="18" charset="0"/>
              </a:rPr>
              <a:t> </a:t>
            </a:r>
            <a:r>
              <a:rPr lang="ru-RU" sz="2400">
                <a:latin typeface="Times New Roman" pitchFamily="18" charset="0"/>
                <a:cs typeface="Times New Roman" pitchFamily="18" charset="0"/>
              </a:rPr>
              <a:t>съдържание </a:t>
            </a:r>
            <a:r>
              <a:rPr lang="ru-RU" sz="2400" dirty="0">
                <a:latin typeface="Times New Roman" pitchFamily="18" charset="0"/>
                <a:cs typeface="Times New Roman" pitchFamily="18" charset="0"/>
              </a:rPr>
              <a:t>на базов регистър Rn.</a:t>
            </a:r>
          </a:p>
          <a:p>
            <a:pPr lvl="0" algn="just"/>
            <a:r>
              <a:rPr lang="ru-RU" sz="2400" dirty="0">
                <a:latin typeface="Times New Roman" pitchFamily="18" charset="0"/>
                <a:cs typeface="Times New Roman" pitchFamily="18" charset="0"/>
              </a:rPr>
              <a:t> </a:t>
            </a:r>
            <a:r>
              <a:rPr lang="ru-RU" sz="2400" b="1" dirty="0">
                <a:latin typeface="Times New Roman" pitchFamily="18" charset="0"/>
                <a:cs typeface="Times New Roman" pitchFamily="18" charset="0"/>
              </a:rPr>
              <a:t>Предварително индексиран режим: </a:t>
            </a:r>
            <a:r>
              <a:rPr lang="ru-RU" sz="2400" dirty="0">
                <a:latin typeface="Times New Roman" pitchFamily="18" charset="0"/>
                <a:cs typeface="Times New Roman" pitchFamily="18" charset="0"/>
              </a:rPr>
              <a:t>EA е сумата от съдържанието на основния регистър Rn и стойност на отместване.</a:t>
            </a:r>
          </a:p>
          <a:p>
            <a:pPr lvl="0" algn="just"/>
            <a:r>
              <a:rPr lang="ru-RU" sz="2400" dirty="0">
                <a:latin typeface="Times New Roman" pitchFamily="18" charset="0"/>
                <a:cs typeface="Times New Roman" pitchFamily="18" charset="0"/>
              </a:rPr>
              <a:t> </a:t>
            </a:r>
            <a:r>
              <a:rPr lang="ru-RU" sz="2400" b="1" dirty="0">
                <a:latin typeface="Times New Roman" pitchFamily="18" charset="0"/>
                <a:cs typeface="Times New Roman" pitchFamily="18" charset="0"/>
              </a:rPr>
              <a:t>Предварително индексиран с обратен запис:</a:t>
            </a:r>
            <a:r>
              <a:rPr lang="ru-RU" sz="2400" dirty="0">
                <a:latin typeface="Times New Roman" pitchFamily="18" charset="0"/>
                <a:cs typeface="Times New Roman" pitchFamily="18" charset="0"/>
              </a:rPr>
              <a:t> EA се генерира по същия начин като предварително индексирания режим. EA се записва обратно в Rn.</a:t>
            </a:r>
          </a:p>
          <a:p>
            <a:pPr lvl="0" algn="just"/>
            <a:r>
              <a:rPr lang="ru-RU" sz="2400" dirty="0">
                <a:latin typeface="Times New Roman" pitchFamily="18" charset="0"/>
                <a:cs typeface="Times New Roman" pitchFamily="18" charset="0"/>
              </a:rPr>
              <a:t> </a:t>
            </a:r>
            <a:r>
              <a:rPr lang="ru-RU" sz="2400" b="1" dirty="0">
                <a:latin typeface="Times New Roman" pitchFamily="18" charset="0"/>
                <a:cs typeface="Times New Roman" pitchFamily="18" charset="0"/>
              </a:rPr>
              <a:t>Пост-индексиран режим:</a:t>
            </a:r>
            <a:r>
              <a:rPr lang="ru-RU" sz="2400" dirty="0">
                <a:latin typeface="Times New Roman" pitchFamily="18" charset="0"/>
                <a:cs typeface="Times New Roman" pitchFamily="18" charset="0"/>
              </a:rPr>
              <a:t> EA е съдържанието на Rn. След това отместването се добавя към този адрес и резултатът се записва обратно към Rn.</a:t>
            </a:r>
          </a:p>
          <a:p>
            <a:pPr lvl="0" algn="just"/>
            <a:endParaRPr lang="bg-BG" sz="22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57166"/>
            <a:ext cx="8229600" cy="1143000"/>
          </a:xfrm>
        </p:spPr>
        <p:txBody>
          <a:bodyPr>
            <a:normAutofit fontScale="90000"/>
          </a:bodyPr>
          <a:lstStyle/>
          <a:p>
            <a:br>
              <a:rPr lang="bg-BG" b="1" dirty="0">
                <a:latin typeface="Times New Roman" pitchFamily="18" charset="0"/>
                <a:cs typeface="Times New Roman" pitchFamily="18" charset="0"/>
              </a:rPr>
            </a:br>
            <a:br>
              <a:rPr lang="bg-BG" b="1" dirty="0">
                <a:latin typeface="Times New Roman" pitchFamily="18" charset="0"/>
                <a:cs typeface="Times New Roman" pitchFamily="18" charset="0"/>
              </a:rPr>
            </a:br>
            <a:r>
              <a:rPr lang="bg-BG" sz="4400" b="1" dirty="0">
                <a:latin typeface="Times New Roman" pitchFamily="18" charset="0"/>
                <a:cs typeface="Times New Roman" pitchFamily="18" charset="0"/>
              </a:rPr>
              <a:t>Методи на адресиране на паметта</a:t>
            </a:r>
          </a:p>
        </p:txBody>
      </p:sp>
      <p:sp>
        <p:nvSpPr>
          <p:cNvPr id="3" name="Content Placeholder 2"/>
          <p:cNvSpPr>
            <a:spLocks noGrp="1"/>
          </p:cNvSpPr>
          <p:nvPr>
            <p:ph idx="1"/>
          </p:nvPr>
        </p:nvSpPr>
        <p:spPr>
          <a:xfrm>
            <a:off x="285720" y="1857364"/>
            <a:ext cx="8472518" cy="3929090"/>
          </a:xfrm>
        </p:spPr>
        <p:txBody>
          <a:bodyPr>
            <a:noAutofit/>
          </a:bodyPr>
          <a:lstStyle/>
          <a:p>
            <a:pPr lvl="0" algn="just"/>
            <a:r>
              <a:rPr lang="ru-RU" sz="2400" b="1" dirty="0">
                <a:latin typeface="Times New Roman" pitchFamily="18" charset="0"/>
                <a:cs typeface="Times New Roman" pitchFamily="18" charset="0"/>
              </a:rPr>
              <a:t>Режим на относително адресиране:</a:t>
            </a:r>
          </a:p>
          <a:p>
            <a:pPr lvl="0" algn="just"/>
            <a:r>
              <a:rPr lang="ru-RU" sz="2400" dirty="0">
                <a:latin typeface="Times New Roman" pitchFamily="18" charset="0"/>
                <a:cs typeface="Times New Roman" pitchFamily="18" charset="0"/>
              </a:rPr>
              <a:t>Програмният брояч (PC) се използва като основен регистър.</a:t>
            </a:r>
          </a:p>
          <a:p>
            <a:pPr lvl="0" algn="just"/>
            <a:r>
              <a:rPr lang="ru-RU" sz="2400" dirty="0">
                <a:latin typeface="Times New Roman" pitchFamily="18" charset="0"/>
                <a:cs typeface="Times New Roman" pitchFamily="18" charset="0"/>
              </a:rPr>
              <a:t>Това е режим на предварително индексирано адресиране с незабавно отместване.</a:t>
            </a:r>
          </a:p>
          <a:p>
            <a:pPr lvl="0" algn="just"/>
            <a:r>
              <a:rPr lang="ru-RU" sz="2400" dirty="0">
                <a:latin typeface="Times New Roman" pitchFamily="18" charset="0"/>
                <a:cs typeface="Times New Roman" pitchFamily="18" charset="0"/>
              </a:rPr>
              <a:t> </a:t>
            </a:r>
            <a:r>
              <a:rPr lang="ru-RU" sz="2400" b="1" dirty="0">
                <a:latin typeface="Times New Roman" pitchFamily="18" charset="0"/>
                <a:cs typeface="Times New Roman" pitchFamily="18" charset="0"/>
              </a:rPr>
              <a:t>Няма наличен режим на абсолютно адресиране в ARMпроцесор</a:t>
            </a:r>
            <a:r>
              <a:rPr lang="ru-RU" sz="2400" dirty="0">
                <a:latin typeface="Times New Roman" pitchFamily="18" charset="0"/>
                <a:cs typeface="Times New Roman" pitchFamily="18" charset="0"/>
              </a:rPr>
              <a:t>.</a:t>
            </a:r>
          </a:p>
          <a:p>
            <a:pPr lvl="0" algn="just"/>
            <a:r>
              <a:rPr lang="ru-RU" sz="2400" b="1" dirty="0">
                <a:latin typeface="Times New Roman" pitchFamily="18" charset="0"/>
                <a:cs typeface="Times New Roman" pitchFamily="18" charset="0"/>
              </a:rPr>
              <a:t>Отместването се определя като:</a:t>
            </a:r>
          </a:p>
          <a:p>
            <a:pPr lvl="0" algn="just"/>
            <a:r>
              <a:rPr lang="ru-RU" sz="2400" dirty="0">
                <a:latin typeface="Times New Roman" pitchFamily="18" charset="0"/>
                <a:cs typeface="Times New Roman" pitchFamily="18" charset="0"/>
              </a:rPr>
              <a:t>Незабавна стойност в самата инструкция.</a:t>
            </a:r>
          </a:p>
          <a:p>
            <a:pPr lvl="0" algn="just"/>
            <a:r>
              <a:rPr lang="ru-RU" sz="2400" dirty="0">
                <a:latin typeface="Times New Roman" pitchFamily="18" charset="0"/>
                <a:cs typeface="Times New Roman" pitchFamily="18" charset="0"/>
              </a:rPr>
              <a:t>Съдържание на регистъра, посочен в инструкцията.</a:t>
            </a:r>
            <a:endParaRPr lang="bg-BG" sz="24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dirty="0">
                <a:latin typeface="Times New Roman" pitchFamily="18" charset="0"/>
                <a:cs typeface="Times New Roman" pitchFamily="18" charset="0"/>
              </a:rPr>
              <a:t>Формати на данните.</a:t>
            </a:r>
            <a:endParaRPr lang="bg-BG" dirty="0"/>
          </a:p>
        </p:txBody>
      </p:sp>
      <p:sp>
        <p:nvSpPr>
          <p:cNvPr id="3" name="Content Placeholder 2"/>
          <p:cNvSpPr>
            <a:spLocks noGrp="1"/>
          </p:cNvSpPr>
          <p:nvPr>
            <p:ph idx="1"/>
          </p:nvPr>
        </p:nvSpPr>
        <p:spPr>
          <a:xfrm>
            <a:off x="357126" y="1571612"/>
            <a:ext cx="8358278" cy="1643074"/>
          </a:xfrm>
        </p:spPr>
        <p:txBody>
          <a:bodyPr>
            <a:noAutofit/>
          </a:bodyPr>
          <a:lstStyle/>
          <a:p>
            <a:pPr marL="0">
              <a:spcBef>
                <a:spcPts val="0"/>
              </a:spcBef>
            </a:pPr>
            <a:r>
              <a:rPr lang="bg-BG" sz="2200" dirty="0">
                <a:latin typeface="Times New Roman" pitchFamily="18" charset="0"/>
                <a:cs typeface="Times New Roman" pitchFamily="18" charset="0"/>
              </a:rPr>
              <a:t>ARM процесорите поддържат </a:t>
            </a:r>
            <a:r>
              <a:rPr lang="en-US" sz="2200" dirty="0">
                <a:latin typeface="Times New Roman" pitchFamily="18" charset="0"/>
                <a:cs typeface="Times New Roman" pitchFamily="18" charset="0"/>
              </a:rPr>
              <a:t> 6 </a:t>
            </a:r>
            <a:r>
              <a:rPr lang="bg-BG" sz="2200" dirty="0">
                <a:latin typeface="Times New Roman" pitchFamily="18" charset="0"/>
                <a:cs typeface="Times New Roman" pitchFamily="18" charset="0"/>
              </a:rPr>
              <a:t>тип</a:t>
            </a:r>
            <a:r>
              <a:rPr lang="en-US" sz="2200" dirty="0">
                <a:latin typeface="Times New Roman" pitchFamily="18" charset="0"/>
                <a:cs typeface="Times New Roman" pitchFamily="18" charset="0"/>
              </a:rPr>
              <a:t>a</a:t>
            </a:r>
            <a:r>
              <a:rPr lang="bg-BG" sz="2200" dirty="0">
                <a:latin typeface="Times New Roman" pitchFamily="18" charset="0"/>
                <a:cs typeface="Times New Roman" pitchFamily="18" charset="0"/>
              </a:rPr>
              <a:t> данни </a:t>
            </a:r>
            <a:r>
              <a:rPr lang="en-US" sz="2200" dirty="0">
                <a:latin typeface="Times New Roman" pitchFamily="18" charset="0"/>
                <a:cs typeface="Times New Roman" pitchFamily="18" charset="0"/>
              </a:rPr>
              <a:t> </a:t>
            </a:r>
          </a:p>
          <a:p>
            <a:pPr marL="0">
              <a:spcBef>
                <a:spcPts val="0"/>
              </a:spcBef>
            </a:pPr>
            <a:r>
              <a:rPr lang="en-US" sz="2200" dirty="0">
                <a:latin typeface="Times New Roman" pitchFamily="18" charset="0"/>
                <a:cs typeface="Times New Roman" pitchFamily="18" charset="0"/>
              </a:rPr>
              <a:t>- </a:t>
            </a:r>
            <a:r>
              <a:rPr lang="bg-BG" sz="2200" dirty="0">
                <a:latin typeface="Times New Roman" pitchFamily="18" charset="0"/>
                <a:cs typeface="Times New Roman" pitchFamily="18" charset="0"/>
              </a:rPr>
              <a:t>с дължина 8</a:t>
            </a:r>
            <a:r>
              <a:rPr lang="en-US" sz="2200" dirty="0">
                <a:latin typeface="Times New Roman" pitchFamily="18" charset="0"/>
                <a:cs typeface="Times New Roman" pitchFamily="18" charset="0"/>
              </a:rPr>
              <a:t> </a:t>
            </a:r>
            <a:r>
              <a:rPr lang="bg-BG" sz="2200" dirty="0">
                <a:latin typeface="Times New Roman" pitchFamily="18" charset="0"/>
                <a:cs typeface="Times New Roman" pitchFamily="18" charset="0"/>
              </a:rPr>
              <a:t>бита  - </a:t>
            </a:r>
            <a:r>
              <a:rPr lang="en-US" sz="2200" dirty="0">
                <a:latin typeface="Times New Roman" pitchFamily="18" charset="0"/>
                <a:cs typeface="Times New Roman" pitchFamily="18" charset="0"/>
              </a:rPr>
              <a:t>Byte</a:t>
            </a:r>
            <a:r>
              <a:rPr lang="bg-BG" sz="2200" dirty="0">
                <a:latin typeface="Times New Roman" pitchFamily="18" charset="0"/>
                <a:cs typeface="Times New Roman" pitchFamily="18" charset="0"/>
              </a:rPr>
              <a:t> (байт), </a:t>
            </a:r>
            <a:endParaRPr lang="en-US" sz="2200" dirty="0">
              <a:latin typeface="Times New Roman" pitchFamily="18" charset="0"/>
              <a:cs typeface="Times New Roman" pitchFamily="18" charset="0"/>
            </a:endParaRPr>
          </a:p>
          <a:p>
            <a:pPr marL="0">
              <a:spcBef>
                <a:spcPts val="0"/>
              </a:spcBef>
            </a:pPr>
            <a:r>
              <a:rPr lang="bg-BG" sz="2200" dirty="0">
                <a:latin typeface="Times New Roman" pitchFamily="18" charset="0"/>
                <a:cs typeface="Times New Roman" pitchFamily="18" charset="0"/>
              </a:rPr>
              <a:t>- с дължина 16</a:t>
            </a:r>
            <a:r>
              <a:rPr lang="en-US" sz="2200" dirty="0">
                <a:latin typeface="Times New Roman" pitchFamily="18" charset="0"/>
                <a:cs typeface="Times New Roman" pitchFamily="18" charset="0"/>
              </a:rPr>
              <a:t> </a:t>
            </a:r>
            <a:r>
              <a:rPr lang="bg-BG" sz="2200" dirty="0">
                <a:latin typeface="Times New Roman" pitchFamily="18" charset="0"/>
                <a:cs typeface="Times New Roman" pitchFamily="18" charset="0"/>
              </a:rPr>
              <a:t>бита </a:t>
            </a:r>
            <a:r>
              <a:rPr lang="en-US" sz="2200" dirty="0">
                <a:latin typeface="Times New Roman" pitchFamily="18" charset="0"/>
                <a:cs typeface="Times New Roman" pitchFamily="18" charset="0"/>
              </a:rPr>
              <a:t> - Half word</a:t>
            </a:r>
            <a:r>
              <a:rPr lang="bg-BG" sz="2200" dirty="0">
                <a:latin typeface="Times New Roman" pitchFamily="18" charset="0"/>
                <a:cs typeface="Times New Roman" pitchFamily="18" charset="0"/>
              </a:rPr>
              <a:t> (половин дума) </a:t>
            </a:r>
          </a:p>
          <a:p>
            <a:pPr marL="0">
              <a:spcBef>
                <a:spcPts val="0"/>
              </a:spcBef>
            </a:pPr>
            <a:r>
              <a:rPr lang="bg-BG" sz="2200" dirty="0">
                <a:latin typeface="Times New Roman" pitchFamily="18" charset="0"/>
                <a:cs typeface="Times New Roman" pitchFamily="18" charset="0"/>
              </a:rPr>
              <a:t>- с дължина 32</a:t>
            </a:r>
            <a:r>
              <a:rPr lang="en-US" sz="2200" dirty="0">
                <a:latin typeface="Times New Roman" pitchFamily="18" charset="0"/>
                <a:cs typeface="Times New Roman" pitchFamily="18" charset="0"/>
              </a:rPr>
              <a:t> </a:t>
            </a:r>
            <a:r>
              <a:rPr lang="bg-BG" sz="2200" dirty="0">
                <a:latin typeface="Times New Roman" pitchFamily="18" charset="0"/>
                <a:cs typeface="Times New Roman" pitchFamily="18" charset="0"/>
              </a:rPr>
              <a:t>бита  </a:t>
            </a:r>
            <a:r>
              <a:rPr lang="en-US" sz="2200" dirty="0">
                <a:latin typeface="Times New Roman" pitchFamily="18" charset="0"/>
                <a:cs typeface="Times New Roman" pitchFamily="18" charset="0"/>
              </a:rPr>
              <a:t>- Word</a:t>
            </a:r>
            <a:r>
              <a:rPr lang="bg-BG" sz="2200" dirty="0">
                <a:latin typeface="Times New Roman" pitchFamily="18" charset="0"/>
                <a:cs typeface="Times New Roman" pitchFamily="18" charset="0"/>
              </a:rPr>
              <a:t>(дума)</a:t>
            </a:r>
            <a:endParaRPr lang="en-US" sz="2200" dirty="0">
              <a:latin typeface="Times New Roman" pitchFamily="18" charset="0"/>
              <a:cs typeface="Times New Roman" pitchFamily="18" charset="0"/>
            </a:endParaRPr>
          </a:p>
          <a:p>
            <a:pPr marL="0">
              <a:spcBef>
                <a:spcPts val="0"/>
              </a:spcBef>
              <a:buNone/>
            </a:pPr>
            <a:r>
              <a:rPr lang="bg-BG" sz="2200" dirty="0">
                <a:latin typeface="Times New Roman" pitchFamily="18" charset="0"/>
                <a:cs typeface="Times New Roman" pitchFamily="18" charset="0"/>
              </a:rPr>
              <a:t>съответно със знак и без знак .</a:t>
            </a:r>
          </a:p>
        </p:txBody>
      </p:sp>
      <p:sp>
        <p:nvSpPr>
          <p:cNvPr id="215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bg-BG"/>
          </a:p>
        </p:txBody>
      </p:sp>
      <p:pic>
        <p:nvPicPr>
          <p:cNvPr id="2150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0" y="0"/>
            <a:ext cx="180975" cy="209550"/>
          </a:xfrm>
          <a:prstGeom prst="rect">
            <a:avLst/>
          </a:prstGeom>
          <a:noFill/>
        </p:spPr>
      </p:pic>
      <p:pic>
        <p:nvPicPr>
          <p:cNvPr id="19457" name="Picture 1"/>
          <p:cNvPicPr>
            <a:picLocks noChangeAspect="1" noChangeArrowheads="1"/>
          </p:cNvPicPr>
          <p:nvPr/>
        </p:nvPicPr>
        <p:blipFill>
          <a:blip r:embed="rId3" cstate="print"/>
          <a:srcRect/>
          <a:stretch>
            <a:fillRect/>
          </a:stretch>
        </p:blipFill>
        <p:spPr bwMode="auto">
          <a:xfrm>
            <a:off x="1428728" y="3500438"/>
            <a:ext cx="6143668" cy="3065775"/>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dirty="0">
                <a:latin typeface="Times New Roman" pitchFamily="18" charset="0"/>
                <a:cs typeface="Times New Roman" pitchFamily="18" charset="0"/>
              </a:rPr>
              <a:t>Формати на данните.</a:t>
            </a:r>
            <a:endParaRPr lang="bg-BG" dirty="0"/>
          </a:p>
        </p:txBody>
      </p:sp>
      <p:sp>
        <p:nvSpPr>
          <p:cNvPr id="3" name="Content Placeholder 2"/>
          <p:cNvSpPr>
            <a:spLocks noGrp="1"/>
          </p:cNvSpPr>
          <p:nvPr>
            <p:ph idx="1"/>
          </p:nvPr>
        </p:nvSpPr>
        <p:spPr>
          <a:xfrm>
            <a:off x="357126" y="1428736"/>
            <a:ext cx="8215402" cy="4643470"/>
          </a:xfrm>
        </p:spPr>
        <p:txBody>
          <a:bodyPr>
            <a:noAutofit/>
          </a:bodyPr>
          <a:lstStyle/>
          <a:p>
            <a:pPr marL="0" algn="just">
              <a:spcBef>
                <a:spcPts val="0"/>
              </a:spcBef>
            </a:pPr>
            <a:r>
              <a:rPr lang="ru-RU" sz="2400" dirty="0">
                <a:latin typeface="Times New Roman" pitchFamily="18" charset="0"/>
                <a:cs typeface="Times New Roman" pitchFamily="18" charset="0"/>
              </a:rPr>
              <a:t>Разширенията за тези типове данни са:</a:t>
            </a:r>
          </a:p>
          <a:p>
            <a:pPr marL="0" algn="just">
              <a:spcBef>
                <a:spcPts val="0"/>
              </a:spcBef>
            </a:pPr>
            <a:r>
              <a:rPr lang="ru-RU" sz="2400" dirty="0">
                <a:latin typeface="Times New Roman" pitchFamily="18" charset="0"/>
                <a:cs typeface="Times New Roman" pitchFamily="18" charset="0"/>
              </a:rPr>
              <a:t>-h или -sh за полудуми, </a:t>
            </a:r>
          </a:p>
          <a:p>
            <a:pPr marL="0" algn="just">
              <a:spcBef>
                <a:spcPts val="0"/>
              </a:spcBef>
            </a:pPr>
            <a:r>
              <a:rPr lang="ru-RU" sz="2400" dirty="0">
                <a:latin typeface="Times New Roman" pitchFamily="18" charset="0"/>
                <a:cs typeface="Times New Roman" pitchFamily="18" charset="0"/>
              </a:rPr>
              <a:t>-b или -sb за байтове </a:t>
            </a:r>
          </a:p>
          <a:p>
            <a:pPr marL="0" algn="just">
              <a:spcBef>
                <a:spcPts val="0"/>
              </a:spcBef>
            </a:pPr>
            <a:r>
              <a:rPr lang="ru-RU" sz="2400" dirty="0">
                <a:latin typeface="Times New Roman" pitchFamily="18" charset="0"/>
                <a:cs typeface="Times New Roman" pitchFamily="18" charset="0"/>
              </a:rPr>
              <a:t>без разширение за думи. </a:t>
            </a:r>
          </a:p>
          <a:p>
            <a:pPr marL="0" algn="just">
              <a:spcBef>
                <a:spcPts val="0"/>
              </a:spcBef>
            </a:pPr>
            <a:r>
              <a:rPr lang="ru-RU" sz="2400" dirty="0">
                <a:latin typeface="Times New Roman" pitchFamily="18" charset="0"/>
                <a:cs typeface="Times New Roman" pitchFamily="18" charset="0"/>
              </a:rPr>
              <a:t>Числата със знак могат да съдържат както положителни, така и отрицателни стойности и следователно са с по-нисък обхват.</a:t>
            </a:r>
          </a:p>
          <a:p>
            <a:pPr marL="0" algn="just">
              <a:spcBef>
                <a:spcPts val="0"/>
              </a:spcBef>
            </a:pPr>
            <a:r>
              <a:rPr lang="ru-RU" sz="2400" dirty="0">
                <a:latin typeface="Times New Roman" pitchFamily="18" charset="0"/>
                <a:cs typeface="Times New Roman" pitchFamily="18" charset="0"/>
              </a:rPr>
              <a:t>Числата без знак могат да съдържат големи положителни стойности (включително „нула“), но не могат да съдържат отрицателни стойности и следователно са с по-широк обхват.</a:t>
            </a:r>
          </a:p>
          <a:p>
            <a:pPr marL="0" algn="just">
              <a:spcBef>
                <a:spcPts val="0"/>
              </a:spcBef>
            </a:pPr>
            <a:r>
              <a:rPr lang="ru-RU" sz="2400" dirty="0">
                <a:latin typeface="Times New Roman" pitchFamily="18" charset="0"/>
                <a:cs typeface="Times New Roman" pitchFamily="18" charset="0"/>
              </a:rPr>
              <a:t>Ето някои примери за това как тези типове данни могат да се използват с инструкциите за зареждане и съхраняване:</a:t>
            </a:r>
            <a:endParaRPr lang="bg-BG" sz="2400" dirty="0">
              <a:latin typeface="Times New Roman" pitchFamily="18" charset="0"/>
              <a:cs typeface="Times New Roman" pitchFamily="18" charset="0"/>
            </a:endParaRPr>
          </a:p>
        </p:txBody>
      </p:sp>
      <p:sp>
        <p:nvSpPr>
          <p:cNvPr id="215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bg-BG"/>
          </a:p>
        </p:txBody>
      </p:sp>
      <p:pic>
        <p:nvPicPr>
          <p:cNvPr id="2150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0" y="0"/>
            <a:ext cx="180975" cy="20955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dirty="0">
                <a:latin typeface="Times New Roman" pitchFamily="18" charset="0"/>
                <a:cs typeface="Times New Roman" pitchFamily="18" charset="0"/>
              </a:rPr>
              <a:t>Формати на данните.</a:t>
            </a:r>
            <a:endParaRPr lang="bg-BG" dirty="0"/>
          </a:p>
        </p:txBody>
      </p:sp>
      <p:sp>
        <p:nvSpPr>
          <p:cNvPr id="215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bg-BG"/>
          </a:p>
        </p:txBody>
      </p:sp>
      <p:pic>
        <p:nvPicPr>
          <p:cNvPr id="2150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0" y="0"/>
            <a:ext cx="180975" cy="209550"/>
          </a:xfrm>
          <a:prstGeom prst="rect">
            <a:avLst/>
          </a:prstGeom>
          <a:noFill/>
        </p:spPr>
      </p:pic>
      <p:pic>
        <p:nvPicPr>
          <p:cNvPr id="69634" name="Picture 2"/>
          <p:cNvPicPr>
            <a:picLocks noChangeAspect="1" noChangeArrowheads="1"/>
          </p:cNvPicPr>
          <p:nvPr/>
        </p:nvPicPr>
        <p:blipFill>
          <a:blip r:embed="rId3" cstate="print"/>
          <a:srcRect/>
          <a:stretch>
            <a:fillRect/>
          </a:stretch>
        </p:blipFill>
        <p:spPr bwMode="auto">
          <a:xfrm>
            <a:off x="714348" y="1500174"/>
            <a:ext cx="7569525" cy="5057819"/>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a:bodyPr>
          <a:lstStyle/>
          <a:p>
            <a:r>
              <a:rPr lang="bg-BG" b="1" dirty="0">
                <a:latin typeface="Times New Roman" pitchFamily="18" charset="0"/>
                <a:cs typeface="Times New Roman" pitchFamily="18" charset="0"/>
              </a:rPr>
              <a:t>Структура на паметта</a:t>
            </a:r>
            <a:endParaRPr lang="bg-BG" dirty="0">
              <a:latin typeface="Times New Roman" pitchFamily="18" charset="0"/>
              <a:cs typeface="Times New Roman" pitchFamily="18" charset="0"/>
            </a:endParaRPr>
          </a:p>
        </p:txBody>
      </p:sp>
      <p:sp>
        <p:nvSpPr>
          <p:cNvPr id="3" name="Content Placeholder 2"/>
          <p:cNvSpPr>
            <a:spLocks noGrp="1"/>
          </p:cNvSpPr>
          <p:nvPr>
            <p:ph idx="1"/>
          </p:nvPr>
        </p:nvSpPr>
        <p:spPr>
          <a:xfrm>
            <a:off x="428596" y="1428736"/>
            <a:ext cx="8229600" cy="3071834"/>
          </a:xfrm>
        </p:spPr>
        <p:txBody>
          <a:bodyPr>
            <a:normAutofit/>
          </a:bodyPr>
          <a:lstStyle/>
          <a:p>
            <a:pPr algn="just"/>
            <a:r>
              <a:rPr lang="bg-BG" sz="2400" dirty="0">
                <a:latin typeface="Times New Roman" pitchFamily="18" charset="0"/>
                <a:cs typeface="Times New Roman" pitchFamily="18" charset="0"/>
              </a:rPr>
              <a:t>ARM разглежда паметта като линейна колекция от байтове, номерирани от нула нагоре. Байтове 0 до 3 съдържат първата записана дума, байтове 4 до 7 - втората и така нататък. ARM може да работи с думи, които са записани в паметта във формат Big Endian (на най-младшия адрес се записва старшата част на числото) или във формат Little Endian (на най-младшия адрес се записва младшата част на числото).</a:t>
            </a:r>
          </a:p>
          <a:p>
            <a:pPr algn="just"/>
            <a:endParaRPr lang="bg-BG" dirty="0"/>
          </a:p>
        </p:txBody>
      </p:sp>
      <p:pic>
        <p:nvPicPr>
          <p:cNvPr id="4" name="Picture 3"/>
          <p:cNvPicPr/>
          <p:nvPr/>
        </p:nvPicPr>
        <p:blipFill>
          <a:blip r:embed="rId2" cstate="print"/>
          <a:srcRect/>
          <a:stretch>
            <a:fillRect/>
          </a:stretch>
        </p:blipFill>
        <p:spPr bwMode="auto">
          <a:xfrm>
            <a:off x="1928794" y="4071942"/>
            <a:ext cx="5325121" cy="256693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266"/>
            <a:ext cx="8229600" cy="1143000"/>
          </a:xfrm>
        </p:spPr>
        <p:txBody>
          <a:bodyPr>
            <a:normAutofit/>
          </a:bodyPr>
          <a:lstStyle/>
          <a:p>
            <a:r>
              <a:rPr lang="bg-BG" b="1" dirty="0">
                <a:latin typeface="Times New Roman" pitchFamily="18" charset="0"/>
                <a:cs typeface="Times New Roman" pitchFamily="18" charset="0"/>
              </a:rPr>
              <a:t>Структура на паметта</a:t>
            </a:r>
            <a:endParaRPr lang="bg-BG" dirty="0">
              <a:latin typeface="Times New Roman" pitchFamily="18" charset="0"/>
              <a:cs typeface="Times New Roman" pitchFamily="18" charset="0"/>
            </a:endParaRPr>
          </a:p>
        </p:txBody>
      </p:sp>
      <p:sp>
        <p:nvSpPr>
          <p:cNvPr id="3" name="Content Placeholder 2"/>
          <p:cNvSpPr>
            <a:spLocks noGrp="1"/>
          </p:cNvSpPr>
          <p:nvPr>
            <p:ph idx="1"/>
          </p:nvPr>
        </p:nvSpPr>
        <p:spPr>
          <a:xfrm>
            <a:off x="251520" y="1569728"/>
            <a:ext cx="8712968" cy="4019512"/>
          </a:xfrm>
        </p:spPr>
        <p:txBody>
          <a:bodyPr>
            <a:noAutofit/>
          </a:bodyPr>
          <a:lstStyle/>
          <a:p>
            <a:pPr algn="just"/>
            <a:r>
              <a:rPr lang="ru-RU" sz="2400">
                <a:latin typeface="Times New Roman" pitchFamily="18" charset="0"/>
                <a:cs typeface="Times New Roman" pitchFamily="18" charset="0"/>
              </a:rPr>
              <a:t>Осигуряването на поддръжка за режими little endian и big endian в ARM дава значителни предимства:</a:t>
            </a:r>
          </a:p>
          <a:p>
            <a:pPr algn="just"/>
            <a:r>
              <a:rPr lang="ru-RU" sz="2400">
                <a:latin typeface="Times New Roman" pitchFamily="18" charset="0"/>
                <a:cs typeface="Times New Roman" pitchFamily="18" charset="0"/>
              </a:rPr>
              <a:t>=Оперативна съвместимост – Данните и кодът могат да се споделят между ARM системи, като се използва различен формат, което помага за оперативната съвместимост между компонентите.</a:t>
            </a:r>
          </a:p>
          <a:p>
            <a:pPr algn="just"/>
            <a:r>
              <a:rPr lang="ru-RU" sz="2400">
                <a:latin typeface="Times New Roman" pitchFamily="18" charset="0"/>
                <a:cs typeface="Times New Roman" pitchFamily="18" charset="0"/>
              </a:rPr>
              <a:t>=Работа в мрежа – Мрежовите пакети често използват голям формат. Вградената поддръжка на big endian позволява ефективна работа в мрежа на ARM.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266"/>
            <a:ext cx="8229600" cy="1143000"/>
          </a:xfrm>
        </p:spPr>
        <p:txBody>
          <a:bodyPr>
            <a:normAutofit/>
          </a:bodyPr>
          <a:lstStyle/>
          <a:p>
            <a:r>
              <a:rPr lang="bg-BG" b="1" dirty="0">
                <a:latin typeface="Times New Roman" pitchFamily="18" charset="0"/>
                <a:cs typeface="Times New Roman" pitchFamily="18" charset="0"/>
              </a:rPr>
              <a:t>Структура на паметта</a:t>
            </a:r>
            <a:endParaRPr lang="bg-BG" dirty="0">
              <a:latin typeface="Times New Roman" pitchFamily="18" charset="0"/>
              <a:cs typeface="Times New Roman" pitchFamily="18" charset="0"/>
            </a:endParaRPr>
          </a:p>
        </p:txBody>
      </p:sp>
      <p:sp>
        <p:nvSpPr>
          <p:cNvPr id="3" name="Content Placeholder 2"/>
          <p:cNvSpPr>
            <a:spLocks noGrp="1"/>
          </p:cNvSpPr>
          <p:nvPr>
            <p:ph idx="1"/>
          </p:nvPr>
        </p:nvSpPr>
        <p:spPr>
          <a:xfrm>
            <a:off x="102033" y="1340768"/>
            <a:ext cx="8790447" cy="5304652"/>
          </a:xfrm>
        </p:spPr>
        <p:txBody>
          <a:bodyPr>
            <a:noAutofit/>
          </a:bodyPr>
          <a:lstStyle/>
          <a:p>
            <a:pPr algn="just"/>
            <a:r>
              <a:rPr lang="ru-RU" sz="2400" dirty="0">
                <a:latin typeface="Times New Roman" pitchFamily="18" charset="0"/>
                <a:cs typeface="Times New Roman" pitchFamily="18" charset="0"/>
              </a:rPr>
              <a:t>=Наследен софтуер – По-старите системи, базирани на ARM, използват big endian, така че запазването на поддръжката на big endian позволява функционирането на наследения софтуер.</a:t>
            </a:r>
          </a:p>
          <a:p>
            <a:pPr algn="just"/>
            <a:r>
              <a:rPr lang="ru-RU" sz="2400" dirty="0">
                <a:latin typeface="Times New Roman" pitchFamily="18" charset="0"/>
                <a:cs typeface="Times New Roman" pitchFamily="18" charset="0"/>
              </a:rPr>
              <a:t>=Производителност – В някои случаи little endian осигурява по-добра производителност. ARM позволява избор на оптимален формат.</a:t>
            </a:r>
          </a:p>
          <a:p>
            <a:pPr algn="just"/>
            <a:r>
              <a:rPr lang="ru-RU" sz="2400" dirty="0">
                <a:latin typeface="Times New Roman" pitchFamily="18" charset="0"/>
                <a:cs typeface="Times New Roman" pitchFamily="18" charset="0"/>
              </a:rPr>
              <a:t>=Съвместимост на доставчици – Big endian съответства на формата на други архитектури на доставчици като SPARC, POWER.</a:t>
            </a:r>
          </a:p>
          <a:p>
            <a:pPr algn="just"/>
            <a:r>
              <a:rPr lang="ru-RU" sz="2400" dirty="0">
                <a:latin typeface="Times New Roman" pitchFamily="18" charset="0"/>
                <a:cs typeface="Times New Roman" pitchFamily="18" charset="0"/>
              </a:rPr>
              <a:t>Поддържайки операции както в хардуера, така и в софтуера с </a:t>
            </a:r>
            <a:r>
              <a:rPr lang="bg-BG" sz="2400" dirty="0">
                <a:latin typeface="Times New Roman" pitchFamily="18" charset="0"/>
                <a:cs typeface="Times New Roman" pitchFamily="18" charset="0"/>
              </a:rPr>
              <a:t>Big Endian</a:t>
            </a:r>
            <a:r>
              <a:rPr lang="ru-RU" sz="2400" dirty="0">
                <a:latin typeface="Times New Roman" pitchFamily="18" charset="0"/>
                <a:cs typeface="Times New Roman" pitchFamily="18" charset="0"/>
              </a:rPr>
              <a:t> и </a:t>
            </a:r>
            <a:r>
              <a:rPr lang="bg-BG" sz="2400" dirty="0">
                <a:latin typeface="Times New Roman" pitchFamily="18" charset="0"/>
                <a:cs typeface="Times New Roman" pitchFamily="18" charset="0"/>
              </a:rPr>
              <a:t>Little Endian</a:t>
            </a:r>
            <a:r>
              <a:rPr lang="ru-RU" sz="2400" dirty="0">
                <a:latin typeface="Times New Roman" pitchFamily="18" charset="0"/>
                <a:cs typeface="Times New Roman" pitchFamily="18" charset="0"/>
              </a:rPr>
              <a:t> порядъчен ред, процесорите ARM могат да бъдат разгърнати в широк диапазон от случаи на употреба, изискващи различни формати с порядъчен ред.</a:t>
            </a:r>
            <a:endParaRPr lang="bg-BG" sz="2400" dirty="0">
              <a:latin typeface="Times New Roman" pitchFamily="18" charset="0"/>
              <a:cs typeface="Times New Roman" pitchFamily="18" charset="0"/>
            </a:endParaRPr>
          </a:p>
        </p:txBody>
      </p:sp>
    </p:spTree>
    <p:extLst>
      <p:ext uri="{BB962C8B-B14F-4D97-AF65-F5344CB8AC3E}">
        <p14:creationId xmlns:p14="http://schemas.microsoft.com/office/powerpoint/2010/main" val="3914638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467544" y="1340768"/>
            <a:ext cx="8229600" cy="5112568"/>
          </a:xfrm>
        </p:spPr>
        <p:txBody>
          <a:bodyPr>
            <a:noAutofit/>
          </a:bodyPr>
          <a:lstStyle/>
          <a:p>
            <a:pPr marL="0" algn="just">
              <a:spcBef>
                <a:spcPts val="0"/>
              </a:spcBef>
            </a:pPr>
            <a:r>
              <a:rPr lang="en-US" sz="2400" dirty="0">
                <a:latin typeface="Times New Roman" pitchFamily="18" charset="0"/>
                <a:cs typeface="Times New Roman" pitchFamily="18" charset="0"/>
              </a:rPr>
              <a:t>ARM e RISC (</a:t>
            </a:r>
            <a:r>
              <a:rPr lang="ru-RU" sz="2400" dirty="0">
                <a:latin typeface="Times New Roman" pitchFamily="18" charset="0"/>
                <a:cs typeface="Times New Roman" pitchFamily="18" charset="0"/>
              </a:rPr>
              <a:t>Reduced Instruction Set Computing</a:t>
            </a:r>
            <a:r>
              <a:rPr lang="en-US" sz="2400" dirty="0">
                <a:latin typeface="Times New Roman" pitchFamily="18" charset="0"/>
                <a:cs typeface="Times New Roman" pitchFamily="18" charset="0"/>
              </a:rPr>
              <a:t>) </a:t>
            </a:r>
            <a:r>
              <a:rPr lang="bg-BG" sz="2400" dirty="0">
                <a:latin typeface="Times New Roman" pitchFamily="18" charset="0"/>
                <a:cs typeface="Times New Roman" pitchFamily="18" charset="0"/>
              </a:rPr>
              <a:t>процесор, което означава </a:t>
            </a:r>
            <a:r>
              <a:rPr lang="ru-RU" sz="2400" dirty="0">
                <a:latin typeface="Times New Roman" pitchFamily="18" charset="0"/>
                <a:cs typeface="Times New Roman" pitchFamily="18" charset="0"/>
              </a:rPr>
              <a:t>буквално изчисление с ограничен набор от инструкции. </a:t>
            </a:r>
            <a:endParaRPr lang="bg-BG" sz="2400" dirty="0">
              <a:latin typeface="Times New Roman" pitchFamily="18" charset="0"/>
              <a:cs typeface="Times New Roman" pitchFamily="18" charset="0"/>
            </a:endParaRPr>
          </a:p>
          <a:p>
            <a:pPr algn="just"/>
            <a:r>
              <a:rPr lang="ru-RU" sz="2400" dirty="0">
                <a:latin typeface="Times New Roman" pitchFamily="18" charset="0"/>
                <a:cs typeface="Times New Roman" pitchFamily="18" charset="0"/>
              </a:rPr>
              <a:t>RISC процесорът включва атрибутите, типични за този тип система:</a:t>
            </a:r>
          </a:p>
          <a:p>
            <a:pPr algn="just"/>
            <a:r>
              <a:rPr lang="ru-RU" sz="2400" dirty="0">
                <a:latin typeface="Times New Roman" pitchFamily="18" charset="0"/>
                <a:cs typeface="Times New Roman" pitchFamily="18" charset="0"/>
              </a:rPr>
              <a:t>=Голям набор от унифицирани регистри.</a:t>
            </a:r>
          </a:p>
          <a:p>
            <a:pPr algn="just"/>
            <a:r>
              <a:rPr lang="ru-RU" sz="2400" dirty="0">
                <a:latin typeface="Times New Roman" pitchFamily="18" charset="0"/>
                <a:cs typeface="Times New Roman" pitchFamily="18" charset="0"/>
              </a:rPr>
              <a:t>=Модел за зареждане/съхраняване на обработка на данни, при който операциите могат да работят само върху регистри, а не директно в паметта. Това изисква всички данни да бъдат заредени в регистрите, преди да може да бъде извършена операция, след което резултатът може да се използва за допълнителна обработка или да се съхрани обратно в паметта.</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467544" y="1340768"/>
            <a:ext cx="8229600" cy="4636792"/>
          </a:xfrm>
        </p:spPr>
        <p:txBody>
          <a:bodyPr>
            <a:noAutofit/>
          </a:bodyPr>
          <a:lstStyle/>
          <a:p>
            <a:pPr algn="just"/>
            <a:r>
              <a:rPr lang="ru-RU" sz="2400" dirty="0">
                <a:latin typeface="Times New Roman" pitchFamily="18" charset="0"/>
                <a:cs typeface="Times New Roman" pitchFamily="18" charset="0"/>
              </a:rPr>
              <a:t>=Малък брой режими на адресиране с всички адреси за зареждане/съхранение започват да се определят отсамо регистри и полета за инструкции.</a:t>
            </a:r>
          </a:p>
          <a:p>
            <a:pPr algn="just"/>
            <a:r>
              <a:rPr lang="ru-RU" sz="2400" dirty="0">
                <a:latin typeface="Times New Roman" pitchFamily="18" charset="0"/>
                <a:cs typeface="Times New Roman" pitchFamily="18" charset="0"/>
              </a:rPr>
              <a:t>=Единна инструкция с фиксирана дължина (32-битова).</a:t>
            </a:r>
          </a:p>
          <a:p>
            <a:pPr algn="just"/>
            <a:r>
              <a:rPr lang="ru-RU" sz="2400" dirty="0">
                <a:latin typeface="Times New Roman" pitchFamily="18" charset="0"/>
                <a:cs typeface="Times New Roman" pitchFamily="18" charset="0"/>
              </a:rPr>
              <a:t>В допълнение към тези традиционни характеристики на RISC системата ARM предоставя редица допълнителни функции:Отделно аритметично логическо устройство (ALU) и превключвател, даващи допълнителен контрол върху обработката на данни, за да се увеличи максимално скоростта на изпълнение.Режими на адресиране с автоматично увеличаване и автоматично намаляване за подобряване на работата на програмните цикли.Условно изпълнение на инструкции за намаляване на промиването на тръбопровода и по този начин увеличаване на скоростта на изпълнение.</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467544" y="1340768"/>
            <a:ext cx="8229600" cy="5256584"/>
          </a:xfrm>
        </p:spPr>
        <p:txBody>
          <a:bodyPr>
            <a:noAutofit/>
          </a:bodyPr>
          <a:lstStyle/>
          <a:p>
            <a:pPr algn="just"/>
            <a:r>
              <a:rPr lang="ru-RU" sz="2400" dirty="0">
                <a:latin typeface="Times New Roman" pitchFamily="18" charset="0"/>
                <a:cs typeface="Times New Roman" pitchFamily="18" charset="0"/>
              </a:rPr>
              <a:t>В допълнение към тези традиционни характеристики на RISC системата ARM предоставя редица допълнителни функции:</a:t>
            </a:r>
          </a:p>
          <a:p>
            <a:pPr algn="just"/>
            <a:r>
              <a:rPr lang="ru-RU" sz="2400" dirty="0">
                <a:latin typeface="Times New Roman" pitchFamily="18" charset="0"/>
                <a:cs typeface="Times New Roman" pitchFamily="18" charset="0"/>
              </a:rPr>
              <a:t>=Отделно аритметично логическо устройство (ALU) и превключвател, даващи допълнителен контрол върху обработката на данни, за да се увеличи максимално скоростта на изпълнение.</a:t>
            </a:r>
          </a:p>
          <a:p>
            <a:pPr algn="just"/>
            <a:r>
              <a:rPr lang="ru-RU" sz="2400" dirty="0">
                <a:latin typeface="Times New Roman" pitchFamily="18" charset="0"/>
                <a:cs typeface="Times New Roman" pitchFamily="18" charset="0"/>
              </a:rPr>
              <a:t>=Режими на адресиране с автоматично увеличаване и автоматично намаляване за подобряване на работата на програмните цикли.</a:t>
            </a:r>
          </a:p>
          <a:p>
            <a:pPr algn="just"/>
            <a:r>
              <a:rPr lang="ru-RU" sz="2400" dirty="0">
                <a:latin typeface="Times New Roman" pitchFamily="18" charset="0"/>
                <a:cs typeface="Times New Roman" pitchFamily="18" charset="0"/>
              </a:rPr>
              <a:t>=Условно изпълнение на инструкции за намаляване на предвидимите ситуации и по този начин увеличаване на скоростта на изпълнение.</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428596" y="1700808"/>
            <a:ext cx="8229600" cy="4436158"/>
          </a:xfrm>
        </p:spPr>
        <p:txBody>
          <a:bodyPr>
            <a:noAutofit/>
          </a:bodyPr>
          <a:lstStyle/>
          <a:p>
            <a:pPr algn="just"/>
            <a:r>
              <a:rPr lang="ru-RU" sz="2400" dirty="0">
                <a:latin typeface="Times New Roman" pitchFamily="18" charset="0"/>
                <a:cs typeface="Times New Roman" pitchFamily="18" charset="0"/>
              </a:rPr>
              <a:t>RISC процесорът има следните етапи за изпълнение на частта от цикъла за извличане/изпълнение:</a:t>
            </a:r>
          </a:p>
          <a:p>
            <a:pPr algn="just"/>
            <a:r>
              <a:rPr lang="en-US" sz="2400" b="1" dirty="0">
                <a:latin typeface="Times New Roman" pitchFamily="18" charset="0"/>
                <a:cs typeface="Times New Roman" pitchFamily="18" charset="0"/>
              </a:rPr>
              <a:t>Instruction Fetch</a:t>
            </a:r>
            <a:r>
              <a:rPr lang="bg-BG" sz="2400" b="1" dirty="0">
                <a:latin typeface="Times New Roman" pitchFamily="18" charset="0"/>
                <a:cs typeface="Times New Roman" pitchFamily="18" charset="0"/>
              </a:rPr>
              <a:t> - </a:t>
            </a:r>
            <a:r>
              <a:rPr lang="ru-RU" sz="2400" dirty="0">
                <a:latin typeface="Times New Roman" pitchFamily="18" charset="0"/>
                <a:cs typeface="Times New Roman" pitchFamily="18" charset="0"/>
              </a:rPr>
              <a:t>Извличане на инструкцията от паметта в регистъра на инструкциите.</a:t>
            </a:r>
          </a:p>
          <a:p>
            <a:pPr algn="just"/>
            <a:r>
              <a:rPr lang="en-US" sz="2400" b="1" dirty="0">
                <a:latin typeface="Times New Roman" pitchFamily="18" charset="0"/>
                <a:cs typeface="Times New Roman" pitchFamily="18" charset="0"/>
              </a:rPr>
              <a:t>Instruction Decode </a:t>
            </a:r>
            <a:r>
              <a:rPr lang="bg-BG" sz="2400" b="1" dirty="0">
                <a:latin typeface="Times New Roman" pitchFamily="18" charset="0"/>
                <a:cs typeface="Times New Roman" pitchFamily="18" charset="0"/>
              </a:rPr>
              <a:t>- </a:t>
            </a:r>
            <a:r>
              <a:rPr lang="ru-RU" sz="2400" dirty="0">
                <a:latin typeface="Times New Roman" pitchFamily="18" charset="0"/>
                <a:cs typeface="Times New Roman" pitchFamily="18" charset="0"/>
              </a:rPr>
              <a:t>Декодиране на инструкцията в регистъра на инструкциите, определяйки какво трябва да направим след това.</a:t>
            </a:r>
          </a:p>
          <a:p>
            <a:pPr algn="just"/>
            <a:r>
              <a:rPr lang="en-US" sz="2400" b="1" dirty="0">
                <a:latin typeface="Times New Roman" pitchFamily="18" charset="0"/>
                <a:cs typeface="Times New Roman" pitchFamily="18" charset="0"/>
              </a:rPr>
              <a:t>Operand Fetch</a:t>
            </a:r>
            <a:r>
              <a:rPr lang="bg-BG" sz="2400" b="1" dirty="0">
                <a:latin typeface="Times New Roman" pitchFamily="18" charset="0"/>
                <a:cs typeface="Times New Roman" pitchFamily="18" charset="0"/>
              </a:rPr>
              <a:t> - </a:t>
            </a:r>
            <a:r>
              <a:rPr lang="ru-RU" sz="2400" dirty="0">
                <a:latin typeface="Times New Roman" pitchFamily="18" charset="0"/>
                <a:cs typeface="Times New Roman" pitchFamily="18" charset="0"/>
              </a:rPr>
              <a:t>Извличане на операндите източник за задачата, това може да включва използването на режим на адресиране на данни или режим на адресиране на паметта.</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428596" y="1714488"/>
            <a:ext cx="8229600" cy="4422478"/>
          </a:xfrm>
        </p:spPr>
        <p:txBody>
          <a:bodyPr>
            <a:noAutofit/>
          </a:bodyPr>
          <a:lstStyle/>
          <a:p>
            <a:pPr algn="just"/>
            <a:r>
              <a:rPr lang="en-US" sz="2400" b="1" dirty="0">
                <a:latin typeface="Times New Roman" pitchFamily="18" charset="0"/>
                <a:cs typeface="Times New Roman" pitchFamily="18" charset="0"/>
              </a:rPr>
              <a:t>Execute</a:t>
            </a:r>
            <a:r>
              <a:rPr lang="ru-RU" sz="2400" dirty="0">
                <a:latin typeface="Times New Roman" pitchFamily="18" charset="0"/>
                <a:cs typeface="Times New Roman" pitchFamily="18" charset="0"/>
              </a:rPr>
              <a:t> Изпълнете исканата операция.</a:t>
            </a:r>
          </a:p>
          <a:p>
            <a:pPr algn="just"/>
            <a:r>
              <a:rPr lang="ru-RU" sz="2400" b="1" dirty="0">
                <a:latin typeface="Times New Roman" pitchFamily="18" charset="0"/>
                <a:cs typeface="Times New Roman" pitchFamily="18" charset="0"/>
              </a:rPr>
              <a:t>Operand Store </a:t>
            </a:r>
            <a:r>
              <a:rPr lang="ru-RU" sz="2400" dirty="0">
                <a:latin typeface="Times New Roman" pitchFamily="18" charset="0"/>
                <a:cs typeface="Times New Roman" pitchFamily="18" charset="0"/>
              </a:rPr>
              <a:t>Запазете резултата някъде, това почти винаги ще бъде регистър.</a:t>
            </a:r>
          </a:p>
          <a:p>
            <a:pPr algn="just"/>
            <a:r>
              <a:rPr lang="ru-RU" sz="2400" dirty="0">
                <a:latin typeface="Times New Roman" pitchFamily="18" charset="0"/>
                <a:cs typeface="Times New Roman" pitchFamily="18" charset="0"/>
              </a:rPr>
              <a:t>ARM са проектирани да изпълняват тези етапи едновременно. Така че докато декодира една инструкция, той може да извлича следващата инструкция от паметта. </a:t>
            </a:r>
          </a:p>
          <a:p>
            <a:pPr algn="just"/>
            <a:r>
              <a:rPr lang="en-US" sz="2400" b="1" dirty="0">
                <a:latin typeface="Times New Roman" pitchFamily="18" charset="0"/>
                <a:cs typeface="Times New Roman" pitchFamily="18" charset="0"/>
              </a:rPr>
              <a:t>SUBS	R0, R0, #1</a:t>
            </a:r>
            <a:endParaRPr lang="bg-BG" sz="2400" b="1" dirty="0">
              <a:latin typeface="Times New Roman" pitchFamily="18" charset="0"/>
              <a:cs typeface="Times New Roman" pitchFamily="18" charset="0"/>
            </a:endParaRPr>
          </a:p>
          <a:p>
            <a:pPr algn="just"/>
            <a:r>
              <a:rPr lang="ru-RU" sz="2400" dirty="0">
                <a:latin typeface="Times New Roman" pitchFamily="18" charset="0"/>
                <a:cs typeface="Times New Roman" pitchFamily="18" charset="0"/>
              </a:rPr>
              <a:t>Тази инструкция ще извади 1 от съдържанието на регистъра R0 и ще установи флага Z, ако резултатът е нула.</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7166"/>
            <a:ext cx="868680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85720" y="1928802"/>
            <a:ext cx="8572560" cy="4643470"/>
          </a:xfrm>
        </p:spPr>
        <p:txBody>
          <a:bodyPr>
            <a:noAutofit/>
          </a:bodyPr>
          <a:lstStyle/>
          <a:p>
            <a:pPr marL="0" algn="just">
              <a:spcBef>
                <a:spcPts val="0"/>
              </a:spcBef>
            </a:pPr>
            <a:r>
              <a:rPr lang="ru-RU" sz="2400" dirty="0">
                <a:latin typeface="Times New Roman" pitchFamily="18" charset="0"/>
                <a:cs typeface="Times New Roman" pitchFamily="18" charset="0"/>
              </a:rPr>
              <a:t>Всички ARM инструкции са с ширина 32 бита (с изключение на компресираните 16-битови Thumb инструкции) и са подравнени на 4-байтови граници в паметта.</a:t>
            </a:r>
          </a:p>
          <a:p>
            <a:pPr marL="0" algn="just">
              <a:spcBef>
                <a:spcPts val="0"/>
              </a:spcBef>
            </a:pPr>
            <a:r>
              <a:rPr lang="ru-RU" sz="2400" dirty="0">
                <a:latin typeface="Times New Roman" pitchFamily="18" charset="0"/>
                <a:cs typeface="Times New Roman" pitchFamily="18" charset="0"/>
              </a:rPr>
              <a:t>Най-забележителните характеристики на набора от инструкции на ARM са:</a:t>
            </a:r>
          </a:p>
          <a:p>
            <a:pPr marL="0" algn="just">
              <a:spcBef>
                <a:spcPts val="0"/>
              </a:spcBef>
            </a:pPr>
            <a:r>
              <a:rPr lang="ru-RU" sz="2400" dirty="0">
                <a:latin typeface="Times New Roman" pitchFamily="18" charset="0"/>
                <a:cs typeface="Times New Roman" pitchFamily="18" charset="0"/>
              </a:rPr>
              <a:t>Инструкциите са извличане/изпълнение;</a:t>
            </a:r>
          </a:p>
          <a:p>
            <a:pPr marL="0" algn="just">
              <a:spcBef>
                <a:spcPts val="0"/>
              </a:spcBef>
            </a:pPr>
            <a:r>
              <a:rPr lang="ru-RU" sz="2400" dirty="0">
                <a:latin typeface="Times New Roman" pitchFamily="18" charset="0"/>
                <a:cs typeface="Times New Roman" pitchFamily="18" charset="0"/>
              </a:rPr>
              <a:t>Инструкциите за обработка на данни са 3-адресни (т.е. двата регистъра на операнда източник и регистърът на резултата са независимо определени);</a:t>
            </a:r>
          </a:p>
          <a:p>
            <a:pPr marL="0" algn="just">
              <a:spcBef>
                <a:spcPts val="0"/>
              </a:spcBef>
            </a:pPr>
            <a:r>
              <a:rPr lang="ru-RU" sz="2400" dirty="0">
                <a:latin typeface="Times New Roman" pitchFamily="18" charset="0"/>
                <a:cs typeface="Times New Roman" pitchFamily="18" charset="0"/>
              </a:rPr>
              <a:t>Условно изпълнение на всяка инструкция;</a:t>
            </a:r>
          </a:p>
          <a:p>
            <a:pPr marL="0" algn="just">
              <a:spcBef>
                <a:spcPts val="0"/>
              </a:spcBef>
            </a:pPr>
            <a:r>
              <a:rPr lang="ru-RU" sz="2400" dirty="0">
                <a:latin typeface="Times New Roman" pitchFamily="18" charset="0"/>
                <a:cs typeface="Times New Roman" pitchFamily="18" charset="0"/>
              </a:rPr>
              <a:t>Включването на много мощни инструкции за зареждане и съхранение на множество регистри;</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428596" y="1714488"/>
            <a:ext cx="8229600" cy="4422478"/>
          </a:xfrm>
        </p:spPr>
        <p:txBody>
          <a:bodyPr>
            <a:noAutofit/>
          </a:bodyPr>
          <a:lstStyle/>
          <a:p>
            <a:r>
              <a:rPr lang="ru-RU" sz="2400">
                <a:latin typeface="Times New Roman" pitchFamily="18" charset="0"/>
                <a:cs typeface="Times New Roman" pitchFamily="18" charset="0"/>
              </a:rPr>
              <a:t>Способността за </a:t>
            </a:r>
            <a:r>
              <a:rPr lang="ru-RU" sz="2400" dirty="0">
                <a:latin typeface="Times New Roman" pitchFamily="18" charset="0"/>
                <a:cs typeface="Times New Roman" pitchFamily="18" charset="0"/>
              </a:rPr>
              <a:t>извършване на обща операция за преместване и обща операция на ALU в една инструкция, която се изпълнява в един тактов цикъл;</a:t>
            </a:r>
          </a:p>
          <a:p>
            <a:r>
              <a:rPr lang="ru-RU" sz="2400" dirty="0">
                <a:latin typeface="Times New Roman" pitchFamily="18" charset="0"/>
                <a:cs typeface="Times New Roman" pitchFamily="18" charset="0"/>
              </a:rPr>
              <a:t> Разширение на набора от отворени инструкции чрез набора от инструкции на копроцесора, включително добавяне на нови регистри и типове данни към модела на програмиста;</a:t>
            </a:r>
          </a:p>
          <a:p>
            <a:r>
              <a:rPr lang="ru-RU" sz="2400" dirty="0">
                <a:latin typeface="Times New Roman" pitchFamily="18" charset="0"/>
                <a:cs typeface="Times New Roman" pitchFamily="18" charset="0"/>
              </a:rPr>
              <a:t> Много плътно 16-битово компресирано представяне на набора от инструкции в Thumb архитектурата.</a:t>
            </a:r>
            <a:endParaRPr lang="bg-BG" sz="2400" dirty="0">
              <a:latin typeface="Times New Roman" pitchFamily="18" charset="0"/>
              <a:cs typeface="Times New Roman" pitchFamily="18" charset="0"/>
            </a:endParaRPr>
          </a:p>
          <a:p>
            <a:endParaRPr lang="bg-BG" sz="24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500174"/>
            <a:ext cx="8643998" cy="5143536"/>
          </a:xfrm>
        </p:spPr>
        <p:txBody>
          <a:bodyPr>
            <a:noAutofit/>
          </a:bodyPr>
          <a:lstStyle/>
          <a:p>
            <a:r>
              <a:rPr lang="bg-BG" sz="2200" b="1" dirty="0">
                <a:latin typeface="Times New Roman" pitchFamily="18" charset="0"/>
                <a:cs typeface="Times New Roman" pitchFamily="18" charset="0"/>
              </a:rPr>
              <a:t>Формат на инструкциите на </a:t>
            </a:r>
            <a:r>
              <a:rPr lang="en-US" sz="2200" b="1" dirty="0">
                <a:latin typeface="Times New Roman" pitchFamily="18" charset="0"/>
                <a:cs typeface="Times New Roman" pitchFamily="18" charset="0"/>
              </a:rPr>
              <a:t>ARM</a:t>
            </a:r>
            <a:endParaRPr lang="bg-BG" sz="2200" b="1" dirty="0">
              <a:latin typeface="Times New Roman" pitchFamily="18" charset="0"/>
              <a:cs typeface="Times New Roman" pitchFamily="18" charset="0"/>
            </a:endParaRPr>
          </a:p>
          <a:p>
            <a:r>
              <a:rPr lang="bg-BG" sz="2200" dirty="0">
                <a:latin typeface="Times New Roman" pitchFamily="18" charset="0"/>
                <a:cs typeface="Times New Roman" pitchFamily="18" charset="0"/>
              </a:rPr>
              <a:t>Повечето от инструкциите на процесора </a:t>
            </a:r>
            <a:r>
              <a:rPr lang="en-US" sz="2200" dirty="0">
                <a:latin typeface="Times New Roman" pitchFamily="18" charset="0"/>
                <a:cs typeface="Times New Roman" pitchFamily="18" charset="0"/>
              </a:rPr>
              <a:t>ARM</a:t>
            </a:r>
            <a:r>
              <a:rPr lang="bg-BG" sz="2200" dirty="0">
                <a:latin typeface="Times New Roman" pitchFamily="18" charset="0"/>
                <a:cs typeface="Times New Roman" pitchFamily="18" charset="0"/>
              </a:rPr>
              <a:t> са с три операнда и имат следният формат:</a:t>
            </a:r>
          </a:p>
          <a:p>
            <a:r>
              <a:rPr lang="bg-BG" sz="2200" dirty="0">
                <a:latin typeface="Times New Roman" pitchFamily="18" charset="0"/>
                <a:cs typeface="Times New Roman" pitchFamily="18" charset="0"/>
              </a:rPr>
              <a:t> </a:t>
            </a:r>
            <a:r>
              <a:rPr lang="bg-BG" sz="2200" b="1" dirty="0">
                <a:latin typeface="Times New Roman" pitchFamily="18" charset="0"/>
                <a:cs typeface="Times New Roman" pitchFamily="18" charset="0"/>
              </a:rPr>
              <a:t>КОП ОП1, ОП2, ОП3</a:t>
            </a:r>
            <a:endParaRPr lang="bg-BG" sz="2200" dirty="0">
              <a:latin typeface="Times New Roman" pitchFamily="18" charset="0"/>
              <a:cs typeface="Times New Roman" pitchFamily="18" charset="0"/>
            </a:endParaRPr>
          </a:p>
          <a:p>
            <a:r>
              <a:rPr lang="bg-BG" sz="2200" dirty="0">
                <a:latin typeface="Times New Roman" pitchFamily="18" charset="0"/>
                <a:cs typeface="Times New Roman" pitchFamily="18" charset="0"/>
              </a:rPr>
              <a:t> Резултатът от операцията, извършена между операнд 3 и операнд 2, се записва в операнд 1.</a:t>
            </a:r>
          </a:p>
          <a:p>
            <a:r>
              <a:rPr lang="bg-BG" sz="2200" b="1" dirty="0">
                <a:latin typeface="Times New Roman" pitchFamily="18" charset="0"/>
                <a:cs typeface="Times New Roman" pitchFamily="18" charset="0"/>
              </a:rPr>
              <a:t> </a:t>
            </a:r>
            <a:r>
              <a:rPr lang="en-US" sz="2200" b="1" dirty="0">
                <a:latin typeface="Times New Roman" pitchFamily="18" charset="0"/>
                <a:cs typeface="Times New Roman" pitchFamily="18" charset="0"/>
              </a:rPr>
              <a:t>[ОП1] &lt;- [ОП2] </a:t>
            </a:r>
            <a:r>
              <a:rPr lang="en-US" sz="2200" b="1" dirty="0" err="1">
                <a:latin typeface="Times New Roman" pitchFamily="18" charset="0"/>
                <a:cs typeface="Times New Roman" pitchFamily="18" charset="0"/>
              </a:rPr>
              <a:t>операция</a:t>
            </a:r>
            <a:r>
              <a:rPr lang="en-US" sz="2200" b="1" dirty="0">
                <a:latin typeface="Times New Roman" pitchFamily="18" charset="0"/>
                <a:cs typeface="Times New Roman" pitchFamily="18" charset="0"/>
              </a:rPr>
              <a:t> [OП3]</a:t>
            </a:r>
            <a:endParaRPr lang="bg-BG" sz="2200" dirty="0">
              <a:latin typeface="Times New Roman" pitchFamily="18" charset="0"/>
              <a:cs typeface="Times New Roman" pitchFamily="18" charset="0"/>
            </a:endParaRPr>
          </a:p>
          <a:p>
            <a:pPr algn="just"/>
            <a:r>
              <a:rPr lang="bg-BG" sz="2200" dirty="0">
                <a:latin typeface="Times New Roman" pitchFamily="18" charset="0"/>
                <a:cs typeface="Times New Roman" pitchFamily="18" charset="0"/>
              </a:rPr>
              <a:t>Съществуват и инструкции с четири, два и с един операнд, а когато стандартни инструкции се комбинират с инструкции за изместване и ротация, се получават и инструкции с още повече операнди. Инструкциите с два операнда са най-често свързани с прехвълряне на данни между регистри или между регистри и памет, както и сравнение на два операнда. Инструкциите с един операнд са тези за условен преход и преход към подпрограма.</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428736"/>
            <a:ext cx="8715436" cy="4636792"/>
          </a:xfrm>
        </p:spPr>
        <p:txBody>
          <a:bodyPr>
            <a:noAutofit/>
          </a:bodyPr>
          <a:lstStyle/>
          <a:p>
            <a:pPr algn="just"/>
            <a:r>
              <a:rPr lang="en-US" sz="2400" b="1" dirty="0">
                <a:latin typeface="Times New Roman" pitchFamily="18" charset="0"/>
                <a:cs typeface="Times New Roman" pitchFamily="18" charset="0"/>
              </a:rPr>
              <a:t>Operation{</a:t>
            </a:r>
            <a:r>
              <a:rPr lang="en-US" sz="2400" b="1" dirty="0" err="1">
                <a:latin typeface="Times New Roman" pitchFamily="18" charset="0"/>
                <a:cs typeface="Times New Roman" pitchFamily="18" charset="0"/>
              </a:rPr>
              <a:t>cond</a:t>
            </a:r>
            <a:r>
              <a:rPr lang="en-US" sz="2400" b="1" dirty="0">
                <a:latin typeface="Times New Roman" pitchFamily="18" charset="0"/>
                <a:cs typeface="Times New Roman" pitchFamily="18" charset="0"/>
              </a:rPr>
              <a:t>}{s}  Rd, </a:t>
            </a:r>
            <a:r>
              <a:rPr lang="en-US" sz="2400" b="1" dirty="0" err="1">
                <a:latin typeface="Times New Roman" pitchFamily="18" charset="0"/>
                <a:cs typeface="Times New Roman" pitchFamily="18" charset="0"/>
              </a:rPr>
              <a:t>Rn</a:t>
            </a:r>
            <a:r>
              <a:rPr lang="en-US" sz="2400" b="1">
                <a:latin typeface="Times New Roman" pitchFamily="18" charset="0"/>
                <a:cs typeface="Times New Roman" pitchFamily="18" charset="0"/>
              </a:rPr>
              <a:t>, Operand2</a:t>
            </a:r>
            <a:endParaRPr lang="bg-BG" sz="2400" b="1">
              <a:latin typeface="Times New Roman" pitchFamily="18" charset="0"/>
              <a:cs typeface="Times New Roman" pitchFamily="18" charset="0"/>
            </a:endParaRPr>
          </a:p>
          <a:p>
            <a:pPr algn="just"/>
            <a:endParaRPr lang="bg-BG"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Operation</a:t>
            </a:r>
            <a:r>
              <a:rPr lang="en-US" sz="2400" dirty="0">
                <a:latin typeface="Times New Roman" pitchFamily="18" charset="0"/>
                <a:cs typeface="Times New Roman" pitchFamily="18" charset="0"/>
              </a:rPr>
              <a:t>	е </a:t>
            </a:r>
            <a:r>
              <a:rPr lang="en-US" sz="2400" dirty="0" err="1">
                <a:latin typeface="Times New Roman" pitchFamily="18" charset="0"/>
                <a:cs typeface="Times New Roman" pitchFamily="18" charset="0"/>
              </a:rPr>
              <a:t>код</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операцията</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указва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процесора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какво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действие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трябва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да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извърши</a:t>
            </a:r>
            <a:r>
              <a:rPr lang="en-US" sz="2400" dirty="0">
                <a:latin typeface="Times New Roman" pitchFamily="18" charset="0"/>
                <a:cs typeface="Times New Roman" pitchFamily="18" charset="0"/>
              </a:rPr>
              <a:t>;</a:t>
            </a:r>
            <a:endParaRPr lang="bg-BG"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a:t>
            </a:r>
            <a:r>
              <a:rPr lang="en-US" sz="2400" b="1" dirty="0" err="1">
                <a:latin typeface="Times New Roman" pitchFamily="18" charset="0"/>
                <a:cs typeface="Times New Roman" pitchFamily="18" charset="0"/>
              </a:rPr>
              <a:t>cond</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	е </a:t>
            </a:r>
            <a:r>
              <a:rPr lang="en-US" sz="2400" dirty="0" err="1">
                <a:latin typeface="Times New Roman" pitchFamily="18" charset="0"/>
                <a:cs typeface="Times New Roman" pitchFamily="18" charset="0"/>
              </a:rPr>
              <a:t>двусимволен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мнемоничен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код</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условието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При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наличие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въведено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условие</a:t>
            </a:r>
            <a:r>
              <a:rPr lang="en-US" sz="2400" dirty="0">
                <a:latin typeface="Times New Roman" pitchFamily="18" charset="0"/>
                <a:cs typeface="Times New Roman" pitchFamily="18" charset="0"/>
              </a:rPr>
              <a:t>, </a:t>
            </a:r>
            <a:r>
              <a:rPr lang="bg-BG" sz="2400" dirty="0">
                <a:latin typeface="Times New Roman" pitchFamily="18" charset="0"/>
                <a:cs typeface="Times New Roman" pitchFamily="18" charset="0"/>
              </a:rPr>
              <a:t>инструкцията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изпълнява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само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ако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условието</a:t>
            </a:r>
            <a:r>
              <a:rPr lang="en-US" sz="2400" dirty="0">
                <a:latin typeface="Times New Roman" pitchFamily="18" charset="0"/>
                <a:cs typeface="Times New Roman" pitchFamily="18" charset="0"/>
              </a:rPr>
              <a:t> е </a:t>
            </a:r>
            <a:r>
              <a:rPr lang="en-US" sz="2400" dirty="0" err="1">
                <a:latin typeface="Times New Roman" pitchFamily="18" charset="0"/>
                <a:cs typeface="Times New Roman" pitchFamily="18" charset="0"/>
              </a:rPr>
              <a:t>изпълнено.Ако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липсва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изрично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указано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условие</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асемблерът</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приема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за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условие</a:t>
            </a:r>
            <a:r>
              <a:rPr lang="en-US" sz="2400" dirty="0">
                <a:latin typeface="Times New Roman" pitchFamily="18" charset="0"/>
                <a:cs typeface="Times New Roman" pitchFamily="18" charset="0"/>
              </a:rPr>
              <a:t> „ВИНАГИ”;</a:t>
            </a:r>
            <a:endParaRPr lang="bg-BG"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{S}</a:t>
            </a:r>
            <a:r>
              <a:rPr lang="bg-BG" sz="2400" b="1" dirty="0">
                <a:latin typeface="Times New Roman" pitchFamily="18" charset="0"/>
                <a:cs typeface="Times New Roman" pitchFamily="18" charset="0"/>
              </a:rPr>
              <a:t> </a:t>
            </a:r>
            <a:r>
              <a:rPr lang="en-US" sz="2400" dirty="0" err="1">
                <a:latin typeface="Times New Roman" pitchFamily="18" charset="0"/>
                <a:cs typeface="Times New Roman" pitchFamily="18" charset="0"/>
              </a:rPr>
              <a:t>Ако</a:t>
            </a:r>
            <a:r>
              <a:rPr lang="en-US" sz="2400" dirty="0">
                <a:latin typeface="Times New Roman" pitchFamily="18" charset="0"/>
                <a:cs typeface="Times New Roman" pitchFamily="18" charset="0"/>
              </a:rPr>
              <a:t> е </a:t>
            </a:r>
            <a:r>
              <a:rPr lang="en-US" sz="2400" dirty="0" err="1">
                <a:latin typeface="Times New Roman" pitchFamily="18" charset="0"/>
                <a:cs typeface="Times New Roman" pitchFamily="18" charset="0"/>
              </a:rPr>
              <a:t>налично</a:t>
            </a:r>
            <a:r>
              <a:rPr lang="en-US" sz="2400" dirty="0">
                <a:latin typeface="Times New Roman" pitchFamily="18" charset="0"/>
                <a:cs typeface="Times New Roman" pitchFamily="18" charset="0"/>
              </a:rPr>
              <a:t> – </a:t>
            </a:r>
            <a:r>
              <a:rPr lang="bg-BG" sz="2400" dirty="0">
                <a:latin typeface="Times New Roman" pitchFamily="18" charset="0"/>
                <a:cs typeface="Times New Roman" pitchFamily="18" charset="0"/>
              </a:rPr>
              <a:t>предизвиква обновяване на съдържанието на флаговете в регистър </a:t>
            </a:r>
            <a:r>
              <a:rPr lang="en-US" sz="2400" dirty="0">
                <a:latin typeface="Times New Roman" pitchFamily="18" charset="0"/>
                <a:cs typeface="Times New Roman" pitchFamily="18" charset="0"/>
              </a:rPr>
              <a:t>CPRS;</a:t>
            </a:r>
            <a:endParaRPr lang="bg-BG"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Rd</a:t>
            </a:r>
            <a:r>
              <a:rPr lang="bg-BG"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регистър</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за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резултата</a:t>
            </a:r>
            <a:r>
              <a:rPr lang="en-US" sz="2400" dirty="0">
                <a:latin typeface="Times New Roman" pitchFamily="18" charset="0"/>
                <a:cs typeface="Times New Roman" pitchFamily="18" charset="0"/>
              </a:rPr>
              <a:t>;</a:t>
            </a:r>
            <a:endParaRPr lang="bg-BG" sz="2400"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85720" y="1357298"/>
            <a:ext cx="8572560" cy="5072098"/>
          </a:xfrm>
        </p:spPr>
        <p:txBody>
          <a:bodyPr>
            <a:noAutofit/>
          </a:bodyPr>
          <a:lstStyle/>
          <a:p>
            <a:pPr algn="just"/>
            <a:r>
              <a:rPr lang="en-US" sz="2400" b="1" dirty="0">
                <a:latin typeface="Times New Roman" pitchFamily="18" charset="0"/>
                <a:cs typeface="Times New Roman" pitchFamily="18" charset="0"/>
              </a:rPr>
              <a:t>Operation{</a:t>
            </a:r>
            <a:r>
              <a:rPr lang="en-US" sz="2400" b="1" dirty="0" err="1">
                <a:latin typeface="Times New Roman" pitchFamily="18" charset="0"/>
                <a:cs typeface="Times New Roman" pitchFamily="18" charset="0"/>
              </a:rPr>
              <a:t>cond</a:t>
            </a:r>
            <a:r>
              <a:rPr lang="en-US" sz="2400" b="1" dirty="0">
                <a:latin typeface="Times New Roman" pitchFamily="18" charset="0"/>
                <a:cs typeface="Times New Roman" pitchFamily="18" charset="0"/>
              </a:rPr>
              <a:t>}{s}  Rd, </a:t>
            </a:r>
            <a:r>
              <a:rPr lang="en-US" sz="2400" b="1" dirty="0" err="1">
                <a:latin typeface="Times New Roman" pitchFamily="18" charset="0"/>
                <a:cs typeface="Times New Roman" pitchFamily="18" charset="0"/>
              </a:rPr>
              <a:t>Rn</a:t>
            </a:r>
            <a:r>
              <a:rPr lang="en-US" sz="2400" b="1" dirty="0">
                <a:latin typeface="Times New Roman" pitchFamily="18" charset="0"/>
                <a:cs typeface="Times New Roman" pitchFamily="18" charset="0"/>
              </a:rPr>
              <a:t>, Operand2</a:t>
            </a:r>
            <a:endParaRPr lang="bg-BG" sz="2400" b="1" dirty="0">
              <a:latin typeface="Times New Roman" pitchFamily="18" charset="0"/>
              <a:cs typeface="Times New Roman" pitchFamily="18" charset="0"/>
            </a:endParaRPr>
          </a:p>
          <a:p>
            <a:pPr algn="just"/>
            <a:endParaRPr lang="bg-BG"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b="1" dirty="0" err="1">
                <a:latin typeface="Times New Roman" pitchFamily="18" charset="0"/>
                <a:cs typeface="Times New Roman" pitchFamily="18" charset="0"/>
              </a:rPr>
              <a:t>Rn</a:t>
            </a:r>
            <a:r>
              <a:rPr lang="bg-BG"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регистър</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за</a:t>
            </a:r>
            <a:r>
              <a:rPr lang="en-US" sz="2400" dirty="0">
                <a:latin typeface="Times New Roman" pitchFamily="18" charset="0"/>
                <a:cs typeface="Times New Roman" pitchFamily="18" charset="0"/>
              </a:rPr>
              <a:t> 1-ви </a:t>
            </a:r>
            <a:r>
              <a:rPr lang="en-US" sz="2400" dirty="0" err="1">
                <a:latin typeface="Times New Roman" pitchFamily="18" charset="0"/>
                <a:cs typeface="Times New Roman" pitchFamily="18" charset="0"/>
              </a:rPr>
              <a:t>операнд</a:t>
            </a:r>
            <a:r>
              <a:rPr lang="en-US" sz="2400" dirty="0">
                <a:latin typeface="Times New Roman" pitchFamily="18" charset="0"/>
                <a:cs typeface="Times New Roman" pitchFamily="18" charset="0"/>
              </a:rPr>
              <a:t> (1st operand register). </a:t>
            </a:r>
            <a:r>
              <a:rPr lang="en-US" sz="2400" dirty="0" err="1">
                <a:latin typeface="Times New Roman" pitchFamily="18" charset="0"/>
                <a:cs typeface="Times New Roman" pitchFamily="18" charset="0"/>
              </a:rPr>
              <a:t>Винаги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първият</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операнд</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трябва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да</a:t>
            </a:r>
            <a:r>
              <a:rPr lang="en-US" sz="2400" dirty="0">
                <a:latin typeface="Times New Roman" pitchFamily="18" charset="0"/>
                <a:cs typeface="Times New Roman" pitchFamily="18" charset="0"/>
              </a:rPr>
              <a:t> е </a:t>
            </a:r>
            <a:r>
              <a:rPr lang="en-US" sz="2400" dirty="0" err="1">
                <a:latin typeface="Times New Roman" pitchFamily="18" charset="0"/>
                <a:cs typeface="Times New Roman" pitchFamily="18" charset="0"/>
              </a:rPr>
              <a:t>регистър</a:t>
            </a:r>
            <a:r>
              <a:rPr lang="en-US" sz="2400" dirty="0">
                <a:latin typeface="Times New Roman" pitchFamily="18" charset="0"/>
                <a:cs typeface="Times New Roman" pitchFamily="18" charset="0"/>
              </a:rPr>
              <a:t>;</a:t>
            </a:r>
            <a:endParaRPr lang="bg-BG"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 Operand2</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Вторият</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операнд</a:t>
            </a:r>
            <a:r>
              <a:rPr lang="en-US" sz="2400" dirty="0">
                <a:latin typeface="Times New Roman" pitchFamily="18" charset="0"/>
                <a:cs typeface="Times New Roman" pitchFamily="18" charset="0"/>
              </a:rPr>
              <a:t> е </a:t>
            </a:r>
            <a:r>
              <a:rPr lang="en-US" sz="2400" dirty="0" err="1">
                <a:latin typeface="Times New Roman" pitchFamily="18" charset="0"/>
                <a:cs typeface="Times New Roman" pitchFamily="18" charset="0"/>
              </a:rPr>
              <a:t>много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по-гъвкав</a:t>
            </a:r>
            <a:r>
              <a:rPr lang="en-US" sz="2400" dirty="0">
                <a:latin typeface="Times New Roman" pitchFamily="18" charset="0"/>
                <a:cs typeface="Times New Roman" pitchFamily="18" charset="0"/>
              </a:rPr>
              <a:t> и </a:t>
            </a:r>
            <a:r>
              <a:rPr lang="en-US" sz="2400" dirty="0" err="1">
                <a:latin typeface="Times New Roman" pitchFamily="18" charset="0"/>
                <a:cs typeface="Times New Roman" pitchFamily="18" charset="0"/>
              </a:rPr>
              <a:t>може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да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бъде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или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непосредствена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стойност</a:t>
            </a:r>
            <a:r>
              <a:rPr lang="en-US" sz="2400" dirty="0">
                <a:latin typeface="Times New Roman" pitchFamily="18" charset="0"/>
                <a:cs typeface="Times New Roman" pitchFamily="18" charset="0"/>
              </a:rPr>
              <a:t> (#x), </a:t>
            </a:r>
            <a:r>
              <a:rPr lang="en-US" sz="2400" dirty="0" err="1">
                <a:latin typeface="Times New Roman" pitchFamily="18" charset="0"/>
                <a:cs typeface="Times New Roman" pitchFamily="18" charset="0"/>
              </a:rPr>
              <a:t>регистър</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или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регистър</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изместен</a:t>
            </a:r>
            <a:r>
              <a:rPr lang="en-US" sz="2400" dirty="0">
                <a:latin typeface="Times New Roman" pitchFamily="18" charset="0"/>
                <a:cs typeface="Times New Roman" pitchFamily="18" charset="0"/>
              </a:rPr>
              <a:t> с </a:t>
            </a:r>
            <a:r>
              <a:rPr lang="en-US" sz="2400" dirty="0" err="1">
                <a:latin typeface="Times New Roman" pitchFamily="18" charset="0"/>
                <a:cs typeface="Times New Roman" pitchFamily="18" charset="0"/>
              </a:rPr>
              <a:t>непосредствена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стойност</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или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стойност</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регистър</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Rm</a:t>
            </a:r>
            <a:r>
              <a:rPr lang="en-US" sz="2400" dirty="0">
                <a:latin typeface="Times New Roman" pitchFamily="18" charset="0"/>
                <a:cs typeface="Times New Roman" pitchFamily="18" charset="0"/>
              </a:rPr>
              <a:t>, shift # x" </a:t>
            </a:r>
            <a:r>
              <a:rPr lang="en-US" sz="2400" dirty="0" err="1">
                <a:latin typeface="Times New Roman" pitchFamily="18" charset="0"/>
                <a:cs typeface="Times New Roman" pitchFamily="18" charset="0"/>
              </a:rPr>
              <a:t>или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Rm</a:t>
            </a:r>
            <a:r>
              <a:rPr lang="en-US" sz="2400" dirty="0">
                <a:latin typeface="Times New Roman" pitchFamily="18" charset="0"/>
                <a:cs typeface="Times New Roman" pitchFamily="18" charset="0"/>
              </a:rPr>
              <a:t>, shift Rs". </a:t>
            </a:r>
            <a:r>
              <a:rPr lang="en-US" sz="2400" dirty="0" err="1">
                <a:latin typeface="Times New Roman" pitchFamily="18" charset="0"/>
                <a:cs typeface="Times New Roman" pitchFamily="18" charset="0"/>
              </a:rPr>
              <a:t>Има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пет</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операции</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за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изместване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логическо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изместване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наляво</a:t>
            </a:r>
            <a:r>
              <a:rPr lang="en-US" sz="2400" dirty="0">
                <a:latin typeface="Times New Roman" pitchFamily="18" charset="0"/>
                <a:cs typeface="Times New Roman" pitchFamily="18" charset="0"/>
              </a:rPr>
              <a:t> (LSL), </a:t>
            </a:r>
            <a:r>
              <a:rPr lang="en-US" sz="2400" dirty="0" err="1">
                <a:latin typeface="Times New Roman" pitchFamily="18" charset="0"/>
                <a:cs typeface="Times New Roman" pitchFamily="18" charset="0"/>
              </a:rPr>
              <a:t>логическо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изместване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надясно</a:t>
            </a:r>
            <a:r>
              <a:rPr lang="en-US" sz="2400" dirty="0">
                <a:latin typeface="Times New Roman" pitchFamily="18" charset="0"/>
                <a:cs typeface="Times New Roman" pitchFamily="18" charset="0"/>
              </a:rPr>
              <a:t> (LSR), </a:t>
            </a:r>
            <a:r>
              <a:rPr lang="en-US" sz="2400" dirty="0" err="1">
                <a:latin typeface="Times New Roman" pitchFamily="18" charset="0"/>
                <a:cs typeface="Times New Roman" pitchFamily="18" charset="0"/>
              </a:rPr>
              <a:t>аритметическо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със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запазване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знаковия</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бит</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изместване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надясно</a:t>
            </a:r>
            <a:r>
              <a:rPr lang="en-US" sz="2400" dirty="0">
                <a:latin typeface="Times New Roman" pitchFamily="18" charset="0"/>
                <a:cs typeface="Times New Roman" pitchFamily="18" charset="0"/>
              </a:rPr>
              <a:t> (ASR), </a:t>
            </a:r>
            <a:r>
              <a:rPr lang="en-US" sz="2400" dirty="0" err="1">
                <a:latin typeface="Times New Roman" pitchFamily="18" charset="0"/>
                <a:cs typeface="Times New Roman" pitchFamily="18" charset="0"/>
              </a:rPr>
              <a:t>циклическо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изместване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ротация</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надясно</a:t>
            </a:r>
            <a:r>
              <a:rPr lang="en-US" sz="2400" dirty="0">
                <a:latin typeface="Times New Roman" pitchFamily="18" charset="0"/>
                <a:cs typeface="Times New Roman" pitchFamily="18" charset="0"/>
              </a:rPr>
              <a:t> (ROR) и </a:t>
            </a:r>
            <a:r>
              <a:rPr lang="en-US" sz="2400" dirty="0" err="1">
                <a:latin typeface="Times New Roman" pitchFamily="18" charset="0"/>
                <a:cs typeface="Times New Roman" pitchFamily="18" charset="0"/>
              </a:rPr>
              <a:t>разширено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циклическо</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изместване</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ротация</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надясно</a:t>
            </a:r>
            <a:r>
              <a:rPr lang="en-US" sz="2400" dirty="0">
                <a:latin typeface="Times New Roman" pitchFamily="18" charset="0"/>
                <a:cs typeface="Times New Roman" pitchFamily="18" charset="0"/>
              </a:rPr>
              <a:t> (RRX</a:t>
            </a:r>
            <a:r>
              <a:rPr lang="en-US" sz="2000" dirty="0">
                <a:latin typeface="Times New Roman" pitchFamily="18" charset="0"/>
                <a:cs typeface="Times New Roman" pitchFamily="18" charset="0"/>
              </a:rPr>
              <a:t>).</a:t>
            </a:r>
            <a:endParaRPr lang="bg-BG" sz="2000" dirty="0">
              <a:latin typeface="Times New Roman" pitchFamily="18" charset="0"/>
              <a:cs typeface="Times New Roman" pitchFamily="18" charset="0"/>
            </a:endParaRPr>
          </a:p>
          <a:p>
            <a:endParaRPr lang="bg-BG" sz="2000" dirty="0">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428596" y="1714488"/>
            <a:ext cx="8229600" cy="4422478"/>
          </a:xfrm>
        </p:spPr>
        <p:txBody>
          <a:bodyPr>
            <a:noAutofit/>
          </a:bodyPr>
          <a:lstStyle/>
          <a:p>
            <a:r>
              <a:rPr lang="bg-BG" sz="2400" dirty="0">
                <a:latin typeface="Times New Roman" pitchFamily="18" charset="0"/>
                <a:cs typeface="Times New Roman" pitchFamily="18" charset="0"/>
              </a:rPr>
              <a:t>Архитектурата на ARM предоставя голям брой операции. Основните категории инструкции са:</a:t>
            </a:r>
          </a:p>
          <a:p>
            <a:r>
              <a:rPr lang="ru-RU" sz="2400" dirty="0">
                <a:latin typeface="Times New Roman" pitchFamily="18" charset="0"/>
                <a:cs typeface="Times New Roman" pitchFamily="18" charset="0"/>
              </a:rPr>
              <a:t>= Инструкции за обработка на данни.</a:t>
            </a:r>
          </a:p>
          <a:p>
            <a:r>
              <a:rPr lang="ru-RU" sz="2400" dirty="0">
                <a:latin typeface="Times New Roman" pitchFamily="18" charset="0"/>
                <a:cs typeface="Times New Roman" pitchFamily="18" charset="0"/>
              </a:rPr>
              <a:t>= Инструкции за разклонение.</a:t>
            </a:r>
          </a:p>
          <a:p>
            <a:r>
              <a:rPr lang="ru-RU" sz="2400" dirty="0">
                <a:latin typeface="Times New Roman" pitchFamily="18" charset="0"/>
                <a:cs typeface="Times New Roman" pitchFamily="18" charset="0"/>
              </a:rPr>
              <a:t>= Инструкции за четене и запис на паметта.</a:t>
            </a:r>
          </a:p>
          <a:p>
            <a:r>
              <a:rPr lang="ru-RU" sz="2400" dirty="0">
                <a:latin typeface="Times New Roman" pitchFamily="18" charset="0"/>
                <a:cs typeface="Times New Roman" pitchFamily="18" charset="0"/>
              </a:rPr>
              <a:t>= Инструкции за </a:t>
            </a:r>
            <a:r>
              <a:rPr lang="bg-BG" sz="2400" dirty="0">
                <a:latin typeface="Times New Roman" pitchFamily="18" charset="0"/>
                <a:cs typeface="Times New Roman" pitchFamily="18" charset="0"/>
              </a:rPr>
              <a:t>софтуерно прекъсване</a:t>
            </a:r>
            <a:r>
              <a:rPr lang="ru-RU" sz="2400" dirty="0">
                <a:latin typeface="Times New Roman" pitchFamily="18" charset="0"/>
                <a:cs typeface="Times New Roman" pitchFamily="18" charset="0"/>
              </a:rPr>
              <a:t>.</a:t>
            </a:r>
          </a:p>
          <a:p>
            <a:r>
              <a:rPr lang="ru-RU" sz="2400" dirty="0">
                <a:latin typeface="Times New Roman" pitchFamily="18" charset="0"/>
                <a:cs typeface="Times New Roman" pitchFamily="18" charset="0"/>
              </a:rPr>
              <a:t>= Инструкции за регистър на състоянието на програмата.</a:t>
            </a:r>
          </a:p>
          <a:p>
            <a:r>
              <a:rPr lang="ru-RU" sz="2400" dirty="0">
                <a:latin typeface="Times New Roman" pitchFamily="18" charset="0"/>
                <a:cs typeface="Times New Roman" pitchFamily="18" charset="0"/>
              </a:rPr>
              <a:t>= Зареждане на константи.</a:t>
            </a:r>
          </a:p>
          <a:p>
            <a:r>
              <a:rPr lang="ru-RU" sz="2400" dirty="0">
                <a:latin typeface="Times New Roman" pitchFamily="18" charset="0"/>
                <a:cs typeface="Times New Roman" pitchFamily="18" charset="0"/>
              </a:rPr>
              <a:t>= Условно изпълнение.</a:t>
            </a:r>
            <a:endParaRPr lang="bg-BG" sz="2400" dirty="0">
              <a:latin typeface="Times New Roman" pitchFamily="18" charset="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428596" y="1285860"/>
            <a:ext cx="8229600" cy="5572140"/>
          </a:xfrm>
        </p:spPr>
        <p:txBody>
          <a:bodyPr>
            <a:noAutofit/>
          </a:bodyPr>
          <a:lstStyle/>
          <a:p>
            <a:r>
              <a:rPr lang="ru-RU" sz="2200" dirty="0">
                <a:latin typeface="Times New Roman" pitchFamily="18" charset="0"/>
                <a:cs typeface="Times New Roman" pitchFamily="18" charset="0"/>
              </a:rPr>
              <a:t>Инструкциите за обработка на данни биват:</a:t>
            </a:r>
          </a:p>
          <a:p>
            <a:r>
              <a:rPr lang="ru-RU" sz="2200" dirty="0">
                <a:latin typeface="Times New Roman" pitchFamily="18" charset="0"/>
                <a:cs typeface="Times New Roman" pitchFamily="18" charset="0"/>
              </a:rPr>
              <a:t>- Инструкции за преместване.</a:t>
            </a:r>
          </a:p>
          <a:p>
            <a:r>
              <a:rPr lang="en-US" sz="2200" dirty="0">
                <a:latin typeface="Times New Roman" pitchFamily="18" charset="0"/>
                <a:cs typeface="Times New Roman" pitchFamily="18" charset="0"/>
              </a:rPr>
              <a:t>MOV </a:t>
            </a:r>
            <a:r>
              <a:rPr lang="en-US" sz="2200" dirty="0" err="1">
                <a:latin typeface="Times New Roman" pitchFamily="18" charset="0"/>
                <a:cs typeface="Times New Roman" pitchFamily="18" charset="0"/>
              </a:rPr>
              <a:t>Rd,N</a:t>
            </a:r>
            <a:endParaRPr lang="en-US" sz="2200" dirty="0">
              <a:latin typeface="Times New Roman" pitchFamily="18" charset="0"/>
              <a:cs typeface="Times New Roman" pitchFamily="18" charset="0"/>
            </a:endParaRPr>
          </a:p>
          <a:p>
            <a:r>
              <a:rPr lang="ru-RU" sz="2200" dirty="0">
                <a:latin typeface="Times New Roman" pitchFamily="18" charset="0"/>
                <a:cs typeface="Times New Roman" pitchFamily="18" charset="0"/>
              </a:rPr>
              <a:t>Т</a:t>
            </a:r>
            <a:r>
              <a:rPr lang="bg-BG" sz="2200" dirty="0">
                <a:latin typeface="Times New Roman" pitchFamily="18" charset="0"/>
                <a:cs typeface="Times New Roman" pitchFamily="18" charset="0"/>
              </a:rPr>
              <a:t>я</a:t>
            </a:r>
            <a:r>
              <a:rPr lang="ru-RU" sz="2200" dirty="0">
                <a:latin typeface="Times New Roman" pitchFamily="18" charset="0"/>
                <a:cs typeface="Times New Roman" pitchFamily="18" charset="0"/>
              </a:rPr>
              <a:t> копира N в дестинационен регистър Rd, където N е регистър или незабавна стойност. Тази инструкция е полезна зазадаване на начални стойности и прехвърляне на данни между регистрите.</a:t>
            </a:r>
          </a:p>
          <a:p>
            <a:r>
              <a:rPr lang="ru-RU" sz="2200" dirty="0">
                <a:latin typeface="Times New Roman" pitchFamily="18" charset="0"/>
                <a:cs typeface="Times New Roman" pitchFamily="18" charset="0"/>
              </a:rPr>
              <a:t> - Инструкции </a:t>
            </a:r>
            <a:r>
              <a:rPr lang="en-US" sz="2200" dirty="0">
                <a:latin typeface="Times New Roman" pitchFamily="18" charset="0"/>
                <a:cs typeface="Times New Roman" pitchFamily="18" charset="0"/>
              </a:rPr>
              <a:t>barrel shifter</a:t>
            </a:r>
            <a:r>
              <a:rPr lang="bg-BG" sz="2200" dirty="0">
                <a:latin typeface="Times New Roman" pitchFamily="18" charset="0"/>
                <a:cs typeface="Times New Roman" pitchFamily="18" charset="0"/>
              </a:rPr>
              <a:t>.</a:t>
            </a:r>
            <a:endParaRPr lang="en-US" sz="2200" dirty="0">
              <a:latin typeface="Times New Roman" pitchFamily="18" charset="0"/>
              <a:cs typeface="Times New Roman" pitchFamily="18" charset="0"/>
            </a:endParaRPr>
          </a:p>
          <a:p>
            <a:r>
              <a:rPr lang="ru-RU" sz="2200" dirty="0">
                <a:latin typeface="Times New Roman" pitchFamily="18" charset="0"/>
                <a:cs typeface="Times New Roman" pitchFamily="18" charset="0"/>
              </a:rPr>
              <a:t>Barrel Shifter в ARM процесор </a:t>
            </a:r>
            <a:r>
              <a:rPr lang="ru-RU" sz="2200">
                <a:latin typeface="Times New Roman" pitchFamily="18" charset="0"/>
                <a:cs typeface="Times New Roman" pitchFamily="18" charset="0"/>
              </a:rPr>
              <a:t>е функционално тестване на единица, </a:t>
            </a:r>
            <a:r>
              <a:rPr lang="ru-RU" sz="2200" dirty="0">
                <a:latin typeface="Times New Roman" pitchFamily="18" charset="0"/>
                <a:cs typeface="Times New Roman" pitchFamily="18" charset="0"/>
              </a:rPr>
              <a:t>което се използва за извършване на операциите Shift и Rotate. Barrel Shifter предоставя пет типа операции за преместване и завъртане и те са: Логическо изместване наляво (LSL) Логическо изместване надясно (</a:t>
            </a:r>
            <a:r>
              <a:rPr lang="ru-RU" sz="2200">
                <a:latin typeface="Times New Roman" pitchFamily="18" charset="0"/>
                <a:cs typeface="Times New Roman" pitchFamily="18" charset="0"/>
              </a:rPr>
              <a:t>LSR) </a:t>
            </a:r>
            <a:r>
              <a:rPr lang="bg-BG" sz="2200">
                <a:latin typeface="Times New Roman" pitchFamily="18" charset="0"/>
                <a:cs typeface="Times New Roman" pitchFamily="18" charset="0"/>
              </a:rPr>
              <a:t>Аритметическо изместване надясно </a:t>
            </a:r>
            <a:r>
              <a:rPr lang="en-US" sz="2200">
                <a:latin typeface="Times New Roman" pitchFamily="18" charset="0"/>
                <a:cs typeface="Times New Roman" pitchFamily="18" charset="0"/>
              </a:rPr>
              <a:t>(ASR) </a:t>
            </a:r>
            <a:r>
              <a:rPr lang="bg-BG" sz="2200">
                <a:latin typeface="Times New Roman" pitchFamily="18" charset="0"/>
                <a:cs typeface="Times New Roman" pitchFamily="18" charset="0"/>
              </a:rPr>
              <a:t>Завъртане надясно </a:t>
            </a:r>
            <a:r>
              <a:rPr lang="en-US" sz="2200">
                <a:latin typeface="Times New Roman" pitchFamily="18" charset="0"/>
                <a:cs typeface="Times New Roman" pitchFamily="18" charset="0"/>
              </a:rPr>
              <a:t>(ROR) </a:t>
            </a:r>
            <a:r>
              <a:rPr lang="bg-BG" sz="2200">
                <a:latin typeface="Times New Roman" pitchFamily="18" charset="0"/>
                <a:cs typeface="Times New Roman" pitchFamily="18" charset="0"/>
              </a:rPr>
              <a:t>Завъртане надясно, удължено с 1 бит </a:t>
            </a:r>
            <a:r>
              <a:rPr lang="en-US" sz="2200">
                <a:latin typeface="Times New Roman" pitchFamily="18" charset="0"/>
                <a:cs typeface="Times New Roman" pitchFamily="18" charset="0"/>
              </a:rPr>
              <a:t>(RRX) </a:t>
            </a:r>
            <a:endParaRPr lang="en-US" sz="2200" dirty="0">
              <a:latin typeface="Times New Roman" pitchFamily="18" charset="0"/>
              <a:cs typeface="Times New Roman"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428596" y="1571612"/>
            <a:ext cx="8229600" cy="857256"/>
          </a:xfrm>
        </p:spPr>
        <p:txBody>
          <a:bodyPr>
            <a:noAutofit/>
          </a:bodyPr>
          <a:lstStyle/>
          <a:p>
            <a:r>
              <a:rPr lang="ru-RU" sz="2400" dirty="0">
                <a:latin typeface="Times New Roman" pitchFamily="18" charset="0"/>
                <a:cs typeface="Times New Roman" pitchFamily="18" charset="0"/>
              </a:rPr>
              <a:t>Аритметични инструкции.</a:t>
            </a:r>
          </a:p>
          <a:p>
            <a:r>
              <a:rPr lang="en-US" sz="2400" dirty="0">
                <a:latin typeface="Times New Roman" pitchFamily="18" charset="0"/>
                <a:cs typeface="Times New Roman" pitchFamily="18" charset="0"/>
              </a:rPr>
              <a:t>Add </a:t>
            </a:r>
            <a:r>
              <a:rPr lang="en-US" sz="2400" dirty="0" err="1">
                <a:latin typeface="Times New Roman" pitchFamily="18" charset="0"/>
                <a:cs typeface="Times New Roman" pitchFamily="18" charset="0"/>
              </a:rPr>
              <a:t>Rd,Rn,N</a:t>
            </a:r>
            <a:endParaRPr lang="ru-RU" sz="2400" dirty="0">
              <a:latin typeface="Times New Roman" pitchFamily="18" charset="0"/>
              <a:cs typeface="Times New Roman" pitchFamily="18" charset="0"/>
            </a:endParaRPr>
          </a:p>
          <a:p>
            <a:pPr>
              <a:buNone/>
            </a:pPr>
            <a:endParaRPr lang="ru-RU" sz="2400" dirty="0">
              <a:latin typeface="Times New Roman" pitchFamily="18" charset="0"/>
              <a:cs typeface="Times New Roman" pitchFamily="18" charset="0"/>
            </a:endParaRPr>
          </a:p>
        </p:txBody>
      </p:sp>
      <p:pic>
        <p:nvPicPr>
          <p:cNvPr id="71683" name="Picture 3"/>
          <p:cNvPicPr>
            <a:picLocks noChangeAspect="1" noChangeArrowheads="1"/>
          </p:cNvPicPr>
          <p:nvPr/>
        </p:nvPicPr>
        <p:blipFill>
          <a:blip r:embed="rId2" cstate="print"/>
          <a:srcRect/>
          <a:stretch>
            <a:fillRect/>
          </a:stretch>
        </p:blipFill>
        <p:spPr bwMode="auto">
          <a:xfrm>
            <a:off x="285720" y="2500306"/>
            <a:ext cx="8579250" cy="3357586"/>
          </a:xfrm>
          <a:prstGeom prst="rect">
            <a:avLst/>
          </a:prstGeom>
          <a:noFill/>
          <a:ln w="9525">
            <a:noFill/>
            <a:miter lim="800000"/>
            <a:headEnd/>
            <a:tailEnd/>
          </a:ln>
          <a:effectLst/>
        </p:spPr>
      </p:pic>
      <p:sp>
        <p:nvSpPr>
          <p:cNvPr id="5" name="Content Placeholder 2"/>
          <p:cNvSpPr txBox="1">
            <a:spLocks/>
          </p:cNvSpPr>
          <p:nvPr/>
        </p:nvSpPr>
        <p:spPr>
          <a:xfrm>
            <a:off x="500034" y="6000768"/>
            <a:ext cx="8229600" cy="642942"/>
          </a:xfrm>
          <a:prstGeom prst="rect">
            <a:avLst/>
          </a:prstGeom>
        </p:spPr>
        <p:txBody>
          <a:bodyPr vert="horz">
            <a:no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ru-RU" sz="2400" b="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rPr>
              <a:t>Използване </a:t>
            </a:r>
            <a:r>
              <a:rPr kumimoji="0" lang="ru-RU"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на </a:t>
            </a:r>
            <a:r>
              <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barrel shifter </a:t>
            </a:r>
            <a:r>
              <a:rPr kumimoji="0" lang="bg-BG"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 с </a:t>
            </a:r>
            <a:r>
              <a:rPr kumimoji="0" lang="ru-RU"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аритметични инструкции.</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428596" y="1714488"/>
            <a:ext cx="8229600" cy="928694"/>
          </a:xfrm>
        </p:spPr>
        <p:txBody>
          <a:bodyPr>
            <a:noAutofit/>
          </a:bodyPr>
          <a:lstStyle/>
          <a:p>
            <a:r>
              <a:rPr lang="ru-RU" sz="2400" dirty="0">
                <a:latin typeface="Times New Roman" pitchFamily="18" charset="0"/>
                <a:cs typeface="Times New Roman" pitchFamily="18" charset="0"/>
              </a:rPr>
              <a:t>Логически инструкции.</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And </a:t>
            </a:r>
            <a:r>
              <a:rPr lang="en-US" sz="2400" dirty="0" err="1">
                <a:latin typeface="Times New Roman" pitchFamily="18" charset="0"/>
                <a:cs typeface="Times New Roman" pitchFamily="18" charset="0"/>
              </a:rPr>
              <a:t>Rd,Rn.N</a:t>
            </a:r>
            <a:endParaRPr lang="ru-RU" sz="2400" dirty="0">
              <a:latin typeface="Times New Roman" pitchFamily="18" charset="0"/>
              <a:cs typeface="Times New Roman" pitchFamily="18" charset="0"/>
            </a:endParaRPr>
          </a:p>
        </p:txBody>
      </p:sp>
      <p:pic>
        <p:nvPicPr>
          <p:cNvPr id="71684" name="Picture 4"/>
          <p:cNvPicPr>
            <a:picLocks noChangeAspect="1" noChangeArrowheads="1"/>
          </p:cNvPicPr>
          <p:nvPr/>
        </p:nvPicPr>
        <p:blipFill>
          <a:blip r:embed="rId2" cstate="print"/>
          <a:srcRect/>
          <a:stretch>
            <a:fillRect/>
          </a:stretch>
        </p:blipFill>
        <p:spPr bwMode="auto">
          <a:xfrm>
            <a:off x="500034" y="2786058"/>
            <a:ext cx="8418984" cy="2286016"/>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357158" y="1571612"/>
            <a:ext cx="8229600" cy="3143272"/>
          </a:xfrm>
        </p:spPr>
        <p:txBody>
          <a:bodyPr>
            <a:noAutofit/>
          </a:bodyPr>
          <a:lstStyle/>
          <a:p>
            <a:pPr algn="just"/>
            <a:r>
              <a:rPr lang="ru-RU" sz="2400" dirty="0">
                <a:latin typeface="Times New Roman" pitchFamily="18" charset="0"/>
                <a:cs typeface="Times New Roman" pitchFamily="18" charset="0"/>
              </a:rPr>
              <a:t>Инструкции за сравнение.</a:t>
            </a:r>
            <a:endParaRPr lang="en-US" sz="2400" dirty="0">
              <a:latin typeface="Times New Roman" pitchFamily="18" charset="0"/>
              <a:cs typeface="Times New Roman" pitchFamily="18" charset="0"/>
            </a:endParaRPr>
          </a:p>
          <a:p>
            <a:pPr algn="just"/>
            <a:r>
              <a:rPr lang="ru-RU" sz="2400" dirty="0">
                <a:latin typeface="Times New Roman" pitchFamily="18" charset="0"/>
                <a:cs typeface="Times New Roman" pitchFamily="18" charset="0"/>
              </a:rPr>
              <a:t>Инструкциите за сравнение се използват за сравняване или тестване на регистър с 32-битова стойност. Те актуализират битовете на флага cpsr според резултата, но не засягат други регистри. След като битовете са зададени, информацията може да се използва за промяна на програмния поток чрез използване на условно изпълнение.</a:t>
            </a:r>
            <a:endParaRPr lang="en-US" sz="2400" dirty="0">
              <a:latin typeface="Times New Roman" pitchFamily="18" charset="0"/>
              <a:cs typeface="Times New Roman" pitchFamily="18" charset="0"/>
            </a:endParaRPr>
          </a:p>
          <a:p>
            <a:pPr algn="just"/>
            <a:r>
              <a:rPr lang="en-US" sz="2400" dirty="0" err="1">
                <a:latin typeface="Times New Roman" pitchFamily="18" charset="0"/>
                <a:cs typeface="Times New Roman" pitchFamily="18" charset="0"/>
              </a:rPr>
              <a:t>Cmp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Rn,N</a:t>
            </a:r>
            <a:endParaRPr lang="ru-RU" sz="2400" dirty="0">
              <a:latin typeface="Times New Roman" pitchFamily="18" charset="0"/>
              <a:cs typeface="Times New Roman" pitchFamily="18" charset="0"/>
            </a:endParaRPr>
          </a:p>
        </p:txBody>
      </p:sp>
      <p:pic>
        <p:nvPicPr>
          <p:cNvPr id="72706" name="Picture 2"/>
          <p:cNvPicPr>
            <a:picLocks noChangeAspect="1" noChangeArrowheads="1"/>
          </p:cNvPicPr>
          <p:nvPr/>
        </p:nvPicPr>
        <p:blipFill>
          <a:blip r:embed="rId2" cstate="print"/>
          <a:srcRect/>
          <a:stretch>
            <a:fillRect/>
          </a:stretch>
        </p:blipFill>
        <p:spPr bwMode="auto">
          <a:xfrm>
            <a:off x="428596" y="4848225"/>
            <a:ext cx="8372475" cy="2009775"/>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323528" y="1484784"/>
            <a:ext cx="8229600" cy="5328592"/>
          </a:xfrm>
        </p:spPr>
        <p:txBody>
          <a:bodyPr>
            <a:noAutofit/>
          </a:bodyPr>
          <a:lstStyle/>
          <a:p>
            <a:r>
              <a:rPr lang="bg-BG" sz="2200" dirty="0">
                <a:latin typeface="Times New Roman" pitchFamily="18" charset="0"/>
                <a:cs typeface="Times New Roman" pitchFamily="18" charset="0"/>
              </a:rPr>
              <a:t>Инструкции за умножение.</a:t>
            </a:r>
          </a:p>
          <a:p>
            <a:r>
              <a:rPr lang="ru-RU" sz="2200" dirty="0">
                <a:latin typeface="Times New Roman" pitchFamily="18" charset="0"/>
                <a:cs typeface="Times New Roman" pitchFamily="18" charset="0"/>
              </a:rPr>
              <a:t>Инструкциите за умножение умножават съдържанието на двойка регистри и, в зависимост от инструкцията, натрупват резултатите в друг регистър. Дългите умножения се натрупват в двойка регистри, представляващи 64-битова стойност. Крайният резултат се поставя в целеви регистър или двойка регистри.</a:t>
            </a:r>
          </a:p>
          <a:p>
            <a:r>
              <a:rPr lang="en-US" sz="2200" dirty="0" err="1">
                <a:latin typeface="Times New Roman" pitchFamily="18" charset="0"/>
                <a:cs typeface="Times New Roman" pitchFamily="18" charset="0"/>
              </a:rPr>
              <a:t>Mul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Rd,Rm,Rs</a:t>
            </a:r>
            <a:endParaRPr lang="en-US" sz="2200" dirty="0">
              <a:latin typeface="Times New Roman" pitchFamily="18" charset="0"/>
              <a:cs typeface="Times New Roman" pitchFamily="18" charset="0"/>
            </a:endParaRPr>
          </a:p>
          <a:p>
            <a:r>
              <a:rPr lang="en-US" sz="2200" dirty="0" err="1">
                <a:latin typeface="Times New Roman" pitchFamily="18" charset="0"/>
                <a:cs typeface="Times New Roman" pitchFamily="18" charset="0"/>
              </a:rPr>
              <a:t>Mla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Rd,Rm,Rs,Rn</a:t>
            </a:r>
            <a:r>
              <a:rPr lang="en-US" sz="2200" dirty="0">
                <a:latin typeface="Times New Roman" pitchFamily="18" charset="0"/>
                <a:cs typeface="Times New Roman" pitchFamily="18" charset="0"/>
              </a:rPr>
              <a:t> ; Rd=(Rm*Rs)+Rn, </a:t>
            </a:r>
            <a:r>
              <a:rPr lang="bg-BG" sz="2200" dirty="0">
                <a:latin typeface="Times New Roman" pitchFamily="18" charset="0"/>
                <a:cs typeface="Times New Roman" pitchFamily="18" charset="0"/>
              </a:rPr>
              <a:t>умножаване и натрупване</a:t>
            </a:r>
            <a:endParaRPr lang="en-US" sz="2200" dirty="0">
              <a:latin typeface="Times New Roman" pitchFamily="18" charset="0"/>
              <a:cs typeface="Times New Roman" pitchFamily="18" charset="0"/>
            </a:endParaRPr>
          </a:p>
          <a:p>
            <a:r>
              <a:rPr lang="en-US" sz="2200" dirty="0" err="1">
                <a:latin typeface="Times New Roman" pitchFamily="18" charset="0"/>
                <a:cs typeface="Times New Roman" pitchFamily="18" charset="0"/>
              </a:rPr>
              <a:t>Umull</a:t>
            </a:r>
            <a:r>
              <a:rPr lang="bg-BG"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Smull</a:t>
            </a:r>
            <a:r>
              <a:rPr lang="bg-BG" sz="2200" dirty="0">
                <a:latin typeface="Times New Roman" pitchFamily="18" charset="0"/>
                <a:cs typeface="Times New Roman" pitchFamily="18" charset="0"/>
              </a:rPr>
              <a:t> за числа без знак и числа със знак</a:t>
            </a:r>
          </a:p>
          <a:p>
            <a:r>
              <a:rPr lang="en-US" sz="2200" dirty="0" err="1">
                <a:latin typeface="Times New Roman" pitchFamily="18" charset="0"/>
                <a:cs typeface="Times New Roman" pitchFamily="18" charset="0"/>
              </a:rPr>
              <a:t>Umull</a:t>
            </a:r>
            <a:r>
              <a:rPr lang="bg-BG" sz="2200" dirty="0">
                <a:latin typeface="Times New Roman" pitchFamily="18" charset="0"/>
                <a:cs typeface="Times New Roman" pitchFamily="18" charset="0"/>
              </a:rPr>
              <a:t> </a:t>
            </a:r>
            <a:r>
              <a:rPr lang="en-US" sz="2200" dirty="0">
                <a:latin typeface="Times New Roman" panose="02020603050405020304" pitchFamily="18" charset="0"/>
                <a:cs typeface="Times New Roman" panose="02020603050405020304" pitchFamily="18" charset="0"/>
              </a:rPr>
              <a:t>R</a:t>
            </a:r>
            <a:r>
              <a:rPr lang="pt-BR" sz="2200" dirty="0">
                <a:latin typeface="Times New Roman" panose="02020603050405020304" pitchFamily="18" charset="0"/>
                <a:cs typeface="Times New Roman" panose="02020603050405020304" pitchFamily="18" charset="0"/>
              </a:rPr>
              <a:t>1, R2, R3, R4 ; R3 * R4, store high bits in R2, low in R1</a:t>
            </a:r>
            <a:r>
              <a:rPr lang="pt-BR" sz="2200" i="1" dirty="0"/>
              <a:t> </a:t>
            </a:r>
            <a:endParaRPr lang="bg-BG" sz="2200" dirty="0">
              <a:latin typeface="Times New Roman" pitchFamily="18" charset="0"/>
              <a:cs typeface="Times New Roman" pitchFamily="18" charset="0"/>
            </a:endParaRPr>
          </a:p>
          <a:p>
            <a:r>
              <a:rPr lang="en-US" sz="2200" dirty="0" err="1">
                <a:latin typeface="Times New Roman" pitchFamily="18" charset="0"/>
                <a:cs typeface="Times New Roman" pitchFamily="18" charset="0"/>
              </a:rPr>
              <a:t>Umlal</a:t>
            </a:r>
            <a:r>
              <a:rPr lang="en-US" sz="2200" dirty="0">
                <a:latin typeface="Times New Roman" pitchFamily="18" charset="0"/>
                <a:cs typeface="Times New Roman" pitchFamily="18" charset="0"/>
              </a:rPr>
              <a:t>,</a:t>
            </a:r>
            <a:r>
              <a:rPr lang="bg-BG"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Smlal</a:t>
            </a:r>
            <a:endParaRPr lang="en-US" sz="2200" dirty="0">
              <a:latin typeface="Times New Roman" pitchFamily="18" charset="0"/>
              <a:cs typeface="Times New Roman" pitchFamily="18" charset="0"/>
            </a:endParaRPr>
          </a:p>
          <a:p>
            <a:r>
              <a:rPr lang="en-US" sz="2200" dirty="0" err="1">
                <a:latin typeface="Times New Roman" pitchFamily="18" charset="0"/>
                <a:cs typeface="Times New Roman" pitchFamily="18" charset="0"/>
              </a:rPr>
              <a:t>Umlal</a:t>
            </a:r>
            <a:r>
              <a:rPr lang="en-US" sz="2200" dirty="0">
                <a:latin typeface="Times New Roman" pitchFamily="18" charset="0"/>
                <a:cs typeface="Times New Roman" pitchFamily="18" charset="0"/>
              </a:rPr>
              <a:t> R</a:t>
            </a:r>
            <a:r>
              <a:rPr lang="pt-BR" sz="2200" dirty="0">
                <a:latin typeface="Times New Roman" panose="02020603050405020304" pitchFamily="18" charset="0"/>
                <a:cs typeface="Times New Roman" panose="02020603050405020304" pitchFamily="18" charset="0"/>
              </a:rPr>
              <a:t>1, R2, R3, R4 ; R3 * R4 + (R2,R1), store high bits in R2, low in R1</a:t>
            </a:r>
            <a:endParaRPr lang="ru-RU" sz="2200" dirty="0">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323528" y="1340768"/>
            <a:ext cx="8358246" cy="5328592"/>
          </a:xfrm>
        </p:spPr>
        <p:txBody>
          <a:bodyPr>
            <a:noAutofit/>
          </a:bodyPr>
          <a:lstStyle/>
          <a:p>
            <a:pPr algn="just"/>
            <a:r>
              <a:rPr lang="bg-BG" sz="2400" b="1" dirty="0">
                <a:latin typeface="Times New Roman" pitchFamily="18" charset="0"/>
                <a:cs typeface="Times New Roman" pitchFamily="18" charset="0"/>
              </a:rPr>
              <a:t>Делене</a:t>
            </a:r>
            <a:endParaRPr lang="bg-BG" sz="2400" dirty="0">
              <a:latin typeface="Times New Roman" pitchFamily="18" charset="0"/>
              <a:cs typeface="Times New Roman" pitchFamily="18" charset="0"/>
            </a:endParaRPr>
          </a:p>
          <a:p>
            <a:pPr algn="just"/>
            <a:r>
              <a:rPr lang="bg-BG" sz="2400" dirty="0">
                <a:latin typeface="Times New Roman" pitchFamily="18" charset="0"/>
                <a:cs typeface="Times New Roman" pitchFamily="18" charset="0"/>
              </a:rPr>
              <a:t>Няма инструкции за делене.</a:t>
            </a:r>
          </a:p>
          <a:p>
            <a:pPr algn="just"/>
            <a:r>
              <a:rPr lang="bg-BG" sz="2400" dirty="0">
                <a:latin typeface="Times New Roman" pitchFamily="18" charset="0"/>
                <a:cs typeface="Times New Roman" pitchFamily="18" charset="0"/>
              </a:rPr>
              <a:t>Делението се извършва значително по-рядко от другите аритметични операции. Възможно е обаче да се извърши деление чрез многократно изваждане на делителя от делимото, докато резултатът стане нула или по-малък от делителя. Броят пъти, когато делителят е изваден, е известен като частно, а стойността, останала след последното изваждане, е остатъкът</a:t>
            </a:r>
            <a:r>
              <a:rPr lang="bg-BG" sz="2400">
                <a:latin typeface="Times New Roman" pitchFamily="18" charset="0"/>
                <a:cs typeface="Times New Roman" pitchFamily="18" charset="0"/>
              </a:rPr>
              <a:t>. </a:t>
            </a:r>
          </a:p>
          <a:p>
            <a:pPr algn="just"/>
            <a:r>
              <a:rPr lang="bg-BG" sz="2400">
                <a:latin typeface="Times New Roman" pitchFamily="18" charset="0"/>
                <a:cs typeface="Times New Roman" pitchFamily="18" charset="0"/>
              </a:rPr>
              <a:t>Тоест</a:t>
            </a:r>
            <a:r>
              <a:rPr lang="bg-BG" sz="2400" dirty="0">
                <a:latin typeface="Times New Roman" pitchFamily="18" charset="0"/>
                <a:cs typeface="Times New Roman" pitchFamily="18" charset="0"/>
              </a:rPr>
              <a:t>: делимо = частно * делител + остатък</a:t>
            </a:r>
            <a:endParaRPr lang="en-US" sz="2400" dirty="0">
              <a:latin typeface="Times New Roman" pitchFamily="18" charset="0"/>
              <a:cs typeface="Times New Roman" pitchFamily="18" charset="0"/>
            </a:endParaRPr>
          </a:p>
          <a:p>
            <a:pPr algn="just"/>
            <a:r>
              <a:rPr lang="bg-BG" sz="2400" dirty="0">
                <a:latin typeface="Times New Roman" panose="02020603050405020304" pitchFamily="18" charset="0"/>
                <a:cs typeface="Times New Roman" panose="02020603050405020304" pitchFamily="18" charset="0"/>
              </a:rPr>
              <a:t>12 - 4 = 8</a:t>
            </a:r>
            <a:endParaRPr lang="en-US" sz="2400" dirty="0">
              <a:latin typeface="Times New Roman" panose="02020603050405020304" pitchFamily="18" charset="0"/>
              <a:cs typeface="Times New Roman" panose="02020603050405020304" pitchFamily="18" charset="0"/>
            </a:endParaRPr>
          </a:p>
          <a:p>
            <a:pPr algn="just"/>
            <a:r>
              <a:rPr lang="bg-BG" sz="2400" dirty="0">
                <a:latin typeface="Times New Roman" panose="02020603050405020304" pitchFamily="18" charset="0"/>
                <a:cs typeface="Times New Roman" panose="02020603050405020304" pitchFamily="18" charset="0"/>
              </a:rPr>
              <a:t> 8 - 4 = 4 </a:t>
            </a:r>
            <a:endParaRPr lang="en-US" sz="2400" dirty="0">
              <a:latin typeface="Times New Roman" panose="02020603050405020304" pitchFamily="18" charset="0"/>
              <a:cs typeface="Times New Roman" panose="02020603050405020304" pitchFamily="18" charset="0"/>
            </a:endParaRPr>
          </a:p>
          <a:p>
            <a:pPr algn="just"/>
            <a:r>
              <a:rPr lang="bg-BG" sz="2400">
                <a:latin typeface="Times New Roman" panose="02020603050405020304" pitchFamily="18" charset="0"/>
                <a:cs typeface="Times New Roman" panose="02020603050405020304" pitchFamily="18" charset="0"/>
              </a:rPr>
              <a:t> 4 </a:t>
            </a:r>
            <a:r>
              <a:rPr lang="bg-BG" sz="2400" dirty="0">
                <a:latin typeface="Times New Roman" panose="02020603050405020304" pitchFamily="18" charset="0"/>
                <a:cs typeface="Times New Roman" panose="02020603050405020304" pitchFamily="18" charset="0"/>
              </a:rPr>
              <a:t>- 4 = 0</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357166"/>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357158" y="1785926"/>
            <a:ext cx="8358246" cy="4643470"/>
          </a:xfrm>
        </p:spPr>
        <p:txBody>
          <a:bodyPr>
            <a:noAutofit/>
          </a:bodyPr>
          <a:lstStyle/>
          <a:p>
            <a:r>
              <a:rPr lang="ru-RU" sz="2400" b="1" dirty="0">
                <a:latin typeface="Times New Roman" pitchFamily="18" charset="0"/>
                <a:cs typeface="Times New Roman" pitchFamily="18" charset="0"/>
              </a:rPr>
              <a:t>Инструкции за разклонение.</a:t>
            </a:r>
          </a:p>
          <a:p>
            <a:r>
              <a:rPr lang="bg-BG" sz="2400" dirty="0">
                <a:latin typeface="Times New Roman" pitchFamily="18" charset="0"/>
                <a:cs typeface="Times New Roman" pitchFamily="18" charset="0"/>
              </a:rPr>
              <a:t>Инструкцията B&lt;cc&gt; (Branch) се използва за промяна на реда на изпълнение на инструкциите чрез добавяне на отместване към текущата стойност на програмния брояч. Отместването е число със знак, което позволява преход  напред и назад до 32MB. В асемблера поставяме етикет след инструкцията B &lt;cc&gt; (Branch) и асемблерът ще изчисли отместването вместо нас.</a:t>
            </a:r>
          </a:p>
          <a:p>
            <a:r>
              <a:rPr lang="bg-BG" sz="2400" dirty="0">
                <a:latin typeface="Times New Roman" pitchFamily="18" charset="0"/>
                <a:cs typeface="Times New Roman" pitchFamily="18" charset="0"/>
              </a:rPr>
              <a:t>Инструкцията Branch може да се използва по два начина, условно и безусловно. Безусловният преход се прави винаги, независимо от стойността на флаговете. Това се записва като BAL (Branch Always).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357166"/>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357158" y="1785926"/>
            <a:ext cx="8358246" cy="4643470"/>
          </a:xfrm>
        </p:spPr>
        <p:txBody>
          <a:bodyPr>
            <a:noAutofit/>
          </a:bodyPr>
          <a:lstStyle/>
          <a:p>
            <a:r>
              <a:rPr lang="ru-RU" sz="2400" b="1" dirty="0">
                <a:latin typeface="Times New Roman" pitchFamily="18" charset="0"/>
                <a:cs typeface="Times New Roman" pitchFamily="18" charset="0"/>
              </a:rPr>
              <a:t>Скок.</a:t>
            </a:r>
          </a:p>
          <a:p>
            <a:pPr algn="just"/>
            <a:r>
              <a:rPr lang="bg-BG" sz="2400" dirty="0">
                <a:latin typeface="Times New Roman" pitchFamily="18" charset="0"/>
                <a:cs typeface="Times New Roman" pitchFamily="18" charset="0"/>
              </a:rPr>
              <a:t>Всички инструкции от групите аритметични, логически и прехвърляне на данни могат да използват програмния брояч (PC или R15) като регистър на местоназначението. Това им позволява да променят хода на изпълнението, от което се извлича следващата инструкция. Директната манипулация на компютъра по този начин е известна като скок. Всяка 32-битова стойност може да бъде копирана в компютъра, като по този начин може да се извърши скок до всяко място в 4GB памет. Това е полезна функция, когато може да се изчисли местоположението на следващата инструкция.</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357166"/>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357158" y="1714488"/>
            <a:ext cx="8358246" cy="3143272"/>
          </a:xfrm>
        </p:spPr>
        <p:txBody>
          <a:bodyPr>
            <a:noAutofit/>
          </a:bodyPr>
          <a:lstStyle/>
          <a:p>
            <a:r>
              <a:rPr lang="bg-BG" sz="2400" b="1" dirty="0">
                <a:latin typeface="Times New Roman" pitchFamily="18" charset="0"/>
                <a:cs typeface="Times New Roman" pitchFamily="18" charset="0"/>
              </a:rPr>
              <a:t>Инструкции за достъп до паметта</a:t>
            </a:r>
            <a:endParaRPr lang="bg-BG" sz="2400" dirty="0">
              <a:latin typeface="Times New Roman" pitchFamily="18" charset="0"/>
              <a:cs typeface="Times New Roman" pitchFamily="18" charset="0"/>
            </a:endParaRPr>
          </a:p>
          <a:p>
            <a:r>
              <a:rPr lang="bg-BG" sz="2400" dirty="0">
                <a:latin typeface="Times New Roman" pitchFamily="18" charset="0"/>
                <a:cs typeface="Times New Roman" pitchFamily="18" charset="0"/>
              </a:rPr>
              <a:t>Инструкциите за достъп до паметта биват три групи:</a:t>
            </a:r>
          </a:p>
          <a:p>
            <a:r>
              <a:rPr lang="bg-BG" sz="2400" dirty="0">
                <a:latin typeface="Times New Roman" pitchFamily="18" charset="0"/>
                <a:cs typeface="Times New Roman" pitchFamily="18" charset="0"/>
              </a:rPr>
              <a:t> = за достъп до регистър;</a:t>
            </a:r>
          </a:p>
          <a:p>
            <a:r>
              <a:rPr lang="bg-BG" sz="2400" dirty="0">
                <a:latin typeface="Times New Roman" pitchFamily="18" charset="0"/>
                <a:cs typeface="Times New Roman" pitchFamily="18" charset="0"/>
              </a:rPr>
              <a:t> = за достъп до регистрационен байт </a:t>
            </a:r>
          </a:p>
          <a:p>
            <a:r>
              <a:rPr lang="bg-BG" sz="2400" dirty="0">
                <a:latin typeface="Times New Roman" pitchFamily="18" charset="0"/>
                <a:cs typeface="Times New Roman" pitchFamily="18" charset="0"/>
              </a:rPr>
              <a:t> = за достъп до множество регистри. </a:t>
            </a:r>
          </a:p>
          <a:p>
            <a:r>
              <a:rPr lang="bg-BG" sz="2400" dirty="0">
                <a:latin typeface="Times New Roman" pitchFamily="18" charset="0"/>
                <a:cs typeface="Times New Roman" pitchFamily="18" charset="0"/>
              </a:rPr>
              <a:t>Всяка група от тях има инструкция за зареждане и съхранение.</a:t>
            </a:r>
          </a:p>
          <a:p>
            <a:pPr marL="0" indent="0">
              <a:buNone/>
            </a:pPr>
            <a:endParaRPr lang="bg-BG"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357298"/>
            <a:ext cx="8715436" cy="5286388"/>
          </a:xfrm>
        </p:spPr>
        <p:txBody>
          <a:bodyPr>
            <a:noAutofit/>
          </a:bodyPr>
          <a:lstStyle/>
          <a:p>
            <a:r>
              <a:rPr lang="bg-BG" sz="2400" b="1" dirty="0"/>
              <a:t>Инструкции за достъп до регистър</a:t>
            </a:r>
            <a:endParaRPr lang="bg-BG" sz="2400" dirty="0"/>
          </a:p>
          <a:p>
            <a:r>
              <a:rPr lang="bg-BG" sz="2400" dirty="0"/>
              <a:t>Инструкцията LDR (Load Register) може да зареди 32-битова дума от паметта в регистър. Докато инструкциите STR (Store Register) ще съхраняват 32-битова дума от регистър в паметта.</a:t>
            </a:r>
            <a:endParaRPr lang="en-US" sz="2400" dirty="0"/>
          </a:p>
          <a:p>
            <a:r>
              <a:rPr lang="en-US" sz="2400" dirty="0">
                <a:latin typeface="Times New Roman" pitchFamily="18" charset="0"/>
                <a:cs typeface="Times New Roman" pitchFamily="18" charset="0"/>
              </a:rPr>
              <a:t>LDR R0, [R1] </a:t>
            </a:r>
          </a:p>
          <a:p>
            <a:r>
              <a:rPr lang="en-US" sz="2400" dirty="0">
                <a:latin typeface="Times New Roman" pitchFamily="18" charset="0"/>
                <a:cs typeface="Times New Roman" pitchFamily="18" charset="0"/>
              </a:rPr>
              <a:t>STR R0, [R1] </a:t>
            </a:r>
          </a:p>
          <a:p>
            <a:r>
              <a:rPr lang="ru-RU" sz="2400" dirty="0">
                <a:latin typeface="Times New Roman" pitchFamily="18" charset="0"/>
                <a:cs typeface="Times New Roman" pitchFamily="18" charset="0"/>
              </a:rPr>
              <a:t>Първата инструкция зарежда дума от адреса, съхранен </a:t>
            </a:r>
            <a:r>
              <a:rPr lang="ru-RU" sz="2400">
                <a:latin typeface="Times New Roman" pitchFamily="18" charset="0"/>
                <a:cs typeface="Times New Roman" pitchFamily="18" charset="0"/>
              </a:rPr>
              <a:t>в регистъра</a:t>
            </a:r>
            <a:r>
              <a:rPr lang="en-US" sz="2400">
                <a:latin typeface="Times New Roman" pitchFamily="18" charset="0"/>
                <a:cs typeface="Times New Roman" pitchFamily="18" charset="0"/>
              </a:rPr>
              <a:t> R</a:t>
            </a:r>
            <a:r>
              <a:rPr lang="ru-RU" sz="2400">
                <a:latin typeface="Times New Roman" pitchFamily="18" charset="0"/>
                <a:cs typeface="Times New Roman" pitchFamily="18" charset="0"/>
              </a:rPr>
              <a:t>1 </a:t>
            </a:r>
            <a:r>
              <a:rPr lang="ru-RU" sz="2400" dirty="0">
                <a:latin typeface="Times New Roman" pitchFamily="18" charset="0"/>
                <a:cs typeface="Times New Roman" pitchFamily="18" charset="0"/>
              </a:rPr>
              <a:t>и го поставя в </a:t>
            </a:r>
            <a:r>
              <a:rPr lang="ru-RU" sz="2400">
                <a:latin typeface="Times New Roman" pitchFamily="18" charset="0"/>
                <a:cs typeface="Times New Roman" pitchFamily="18" charset="0"/>
              </a:rPr>
              <a:t>регистър </a:t>
            </a:r>
            <a:r>
              <a:rPr lang="en-US" sz="2400">
                <a:latin typeface="Times New Roman" pitchFamily="18" charset="0"/>
                <a:cs typeface="Times New Roman" pitchFamily="18" charset="0"/>
              </a:rPr>
              <a:t>R</a:t>
            </a:r>
            <a:r>
              <a:rPr lang="ru-RU" sz="2400">
                <a:latin typeface="Times New Roman" pitchFamily="18" charset="0"/>
                <a:cs typeface="Times New Roman" pitchFamily="18" charset="0"/>
              </a:rPr>
              <a:t>0</a:t>
            </a:r>
            <a:r>
              <a:rPr lang="ru-RU" sz="2400" dirty="0">
                <a:latin typeface="Times New Roman" pitchFamily="18" charset="0"/>
                <a:cs typeface="Times New Roman" pitchFamily="18" charset="0"/>
              </a:rPr>
              <a:t>. Втората инструкция върви по обратния начин, като съхранява съдържанието на </a:t>
            </a:r>
            <a:r>
              <a:rPr lang="ru-RU" sz="2400">
                <a:latin typeface="Times New Roman" pitchFamily="18" charset="0"/>
                <a:cs typeface="Times New Roman" pitchFamily="18" charset="0"/>
              </a:rPr>
              <a:t>регистър </a:t>
            </a:r>
            <a:r>
              <a:rPr lang="en-US" sz="2400">
                <a:latin typeface="Times New Roman" pitchFamily="18" charset="0"/>
                <a:cs typeface="Times New Roman" pitchFamily="18" charset="0"/>
              </a:rPr>
              <a:t>R</a:t>
            </a:r>
            <a:r>
              <a:rPr lang="ru-RU" sz="2400">
                <a:latin typeface="Times New Roman" pitchFamily="18" charset="0"/>
                <a:cs typeface="Times New Roman" pitchFamily="18" charset="0"/>
              </a:rPr>
              <a:t>0 </a:t>
            </a:r>
            <a:r>
              <a:rPr lang="ru-RU" sz="2400" dirty="0">
                <a:latin typeface="Times New Roman" pitchFamily="18" charset="0"/>
                <a:cs typeface="Times New Roman" pitchFamily="18" charset="0"/>
              </a:rPr>
              <a:t>на адреса, съдържащ се в регистър </a:t>
            </a:r>
            <a:r>
              <a:rPr lang="en-US" sz="2400" dirty="0">
                <a:latin typeface="Times New Roman" pitchFamily="18" charset="0"/>
                <a:cs typeface="Times New Roman" pitchFamily="18" charset="0"/>
              </a:rPr>
              <a:t>R</a:t>
            </a:r>
            <a:r>
              <a:rPr lang="ru-RU" sz="2400" dirty="0">
                <a:latin typeface="Times New Roman" pitchFamily="18" charset="0"/>
                <a:cs typeface="Times New Roman" pitchFamily="18" charset="0"/>
              </a:rPr>
              <a:t>1. Отместването от регистър </a:t>
            </a:r>
            <a:r>
              <a:rPr lang="en-US" sz="2400" dirty="0">
                <a:latin typeface="Times New Roman" pitchFamily="18" charset="0"/>
                <a:cs typeface="Times New Roman" pitchFamily="18" charset="0"/>
              </a:rPr>
              <a:t>R</a:t>
            </a:r>
            <a:r>
              <a:rPr lang="ru-RU" sz="2400" dirty="0">
                <a:latin typeface="Times New Roman" pitchFamily="18" charset="0"/>
                <a:cs typeface="Times New Roman" pitchFamily="18" charset="0"/>
              </a:rPr>
              <a:t>1 е нула. Регистър </a:t>
            </a:r>
            <a:r>
              <a:rPr lang="en-US" sz="2400" dirty="0">
                <a:latin typeface="Times New Roman" pitchFamily="18" charset="0"/>
                <a:cs typeface="Times New Roman" pitchFamily="18" charset="0"/>
              </a:rPr>
              <a:t>R</a:t>
            </a:r>
            <a:r>
              <a:rPr lang="ru-RU" sz="2400" dirty="0">
                <a:latin typeface="Times New Roman" pitchFamily="18" charset="0"/>
                <a:cs typeface="Times New Roman" pitchFamily="18" charset="0"/>
              </a:rPr>
              <a:t>1 се нарича основен адресен регистър.</a:t>
            </a:r>
            <a:endParaRPr lang="bg-BG" sz="2400" dirty="0">
              <a:latin typeface="Times New Roman" pitchFamily="18" charset="0"/>
              <a:cs typeface="Times New Roman" pitchFamily="18" charset="0"/>
            </a:endParaRPr>
          </a:p>
          <a:p>
            <a:endParaRPr lang="bg-BG"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357298"/>
            <a:ext cx="8715436" cy="5143536"/>
          </a:xfrm>
        </p:spPr>
        <p:txBody>
          <a:bodyPr>
            <a:noAutofit/>
          </a:bodyPr>
          <a:lstStyle/>
          <a:p>
            <a:r>
              <a:rPr lang="bg-BG" sz="2400" b="1" dirty="0">
                <a:latin typeface="Times New Roman" pitchFamily="18" charset="0"/>
                <a:cs typeface="Times New Roman" pitchFamily="18" charset="0"/>
              </a:rPr>
              <a:t>Инструкции за зареждане и съхраняване на байт на регистъра</a:t>
            </a:r>
          </a:p>
          <a:p>
            <a:pPr algn="just"/>
            <a:r>
              <a:rPr lang="bg-BG" sz="2400" dirty="0">
                <a:latin typeface="Times New Roman" pitchFamily="18" charset="0"/>
                <a:cs typeface="Times New Roman" pitchFamily="18" charset="0"/>
              </a:rPr>
              <a:t>Инструкциите LDRB (Зареждане на байт на регистъра) и STRB (Байт за съхранение на регистър) могат да заредят 8-битов байт от паметта или съответно да запазят такъв. Местоположението на паметта се идентифицира със стойност &lt;op2&gt; по същия начин.</a:t>
            </a:r>
          </a:p>
          <a:p>
            <a:pPr algn="just"/>
            <a:r>
              <a:rPr lang="bg-BG" sz="2400" dirty="0">
                <a:latin typeface="Times New Roman" pitchFamily="18" charset="0"/>
                <a:cs typeface="Times New Roman" pitchFamily="18" charset="0"/>
              </a:rPr>
              <a:t>Инструкцията за зареждане на байта ще зареди байта в младшите 8 бита на регистъра. Старшите 24-бита на регистъра се нулират. Байтът не може да бъде число със знак, освен ако не се предприемат допълнителни стъпки. Когато се съхранява байт, той се съхранява само най-младшите 8 бита от регистъра. Останалите 24-бита се игнорират.</a:t>
            </a:r>
          </a:p>
          <a:p>
            <a:endParaRPr lang="bg-BG" sz="2400"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pic>
        <p:nvPicPr>
          <p:cNvPr id="73730" name="Picture 2"/>
          <p:cNvPicPr>
            <a:picLocks noChangeAspect="1" noChangeArrowheads="1"/>
          </p:cNvPicPr>
          <p:nvPr/>
        </p:nvPicPr>
        <p:blipFill>
          <a:blip r:embed="rId2" cstate="print"/>
          <a:srcRect/>
          <a:stretch>
            <a:fillRect/>
          </a:stretch>
        </p:blipFill>
        <p:spPr bwMode="auto">
          <a:xfrm>
            <a:off x="285720" y="1428736"/>
            <a:ext cx="8691125" cy="2662240"/>
          </a:xfrm>
          <a:prstGeom prst="rect">
            <a:avLst/>
          </a:prstGeom>
          <a:noFill/>
          <a:ln w="9525">
            <a:noFill/>
            <a:miter lim="800000"/>
            <a:headEnd/>
            <a:tailEnd/>
          </a:ln>
          <a:effectLst/>
        </p:spPr>
      </p:pic>
      <p:pic>
        <p:nvPicPr>
          <p:cNvPr id="6" name="Picture 2"/>
          <p:cNvPicPr>
            <a:picLocks noGrp="1" noChangeAspect="1" noChangeArrowheads="1"/>
          </p:cNvPicPr>
          <p:nvPr>
            <p:ph idx="1"/>
          </p:nvPr>
        </p:nvPicPr>
        <p:blipFill>
          <a:blip r:embed="rId3" cstate="print"/>
          <a:srcRect/>
          <a:stretch>
            <a:fillRect/>
          </a:stretch>
        </p:blipFill>
        <p:spPr bwMode="auto">
          <a:xfrm>
            <a:off x="285720" y="4000504"/>
            <a:ext cx="8643998" cy="2671760"/>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357298"/>
            <a:ext cx="8715436" cy="5143536"/>
          </a:xfrm>
        </p:spPr>
        <p:txBody>
          <a:bodyPr>
            <a:noAutofit/>
          </a:bodyPr>
          <a:lstStyle/>
          <a:p>
            <a:pPr algn="just"/>
            <a:r>
              <a:rPr lang="bg-BG" sz="2300" b="1" dirty="0">
                <a:latin typeface="Times New Roman" pitchFamily="18" charset="0"/>
                <a:cs typeface="Times New Roman" pitchFamily="18" charset="0"/>
              </a:rPr>
              <a:t>Инструкции за зареждане и съхранение на множество регистри</a:t>
            </a:r>
            <a:endParaRPr lang="bg-BG" sz="2300" dirty="0">
              <a:latin typeface="Times New Roman" pitchFamily="18" charset="0"/>
              <a:cs typeface="Times New Roman" pitchFamily="18" charset="0"/>
            </a:endParaRPr>
          </a:p>
          <a:p>
            <a:pPr algn="just"/>
            <a:r>
              <a:rPr lang="bg-BG" sz="2200" dirty="0">
                <a:latin typeface="Times New Roman" pitchFamily="18" charset="0"/>
                <a:cs typeface="Times New Roman" pitchFamily="18" charset="0"/>
              </a:rPr>
              <a:t>Инструкциите LDM (Load Multiple) и STM (Store Multiple) позволяват блоково прехвърляне на произволен брой регистри към или от паметта. Местоположението на паметта трябва да е зададено в основен регистър, който по желание може да бъде актуализиран след прехвърлянето. Даден е списък с регистри за прехвърляне, като той може да включва и програмния брояч. Всеки регистър се прехвърля към или от паметта на свой ред, започвайки с най-ниския регистър (R0, ако е даден) и завършвайки с най-високия регистър (R15, ако е посочен в списъка с регистри). Базовият регистър се модифицира с прехвърляне, така че системата знае мястото на паметта за следващото прехвърляне според един от четирите режима на трансфер.</a:t>
            </a:r>
          </a:p>
          <a:p>
            <a:pPr algn="just"/>
            <a:endParaRPr lang="bg-BG" sz="2400" dirty="0">
              <a:latin typeface="Times New Roman" pitchFamily="18" charset="0"/>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357298"/>
            <a:ext cx="8715436" cy="5143536"/>
          </a:xfrm>
        </p:spPr>
        <p:txBody>
          <a:bodyPr>
            <a:noAutofit/>
          </a:bodyPr>
          <a:lstStyle/>
          <a:p>
            <a:pPr algn="just"/>
            <a:r>
              <a:rPr lang="bg-BG" sz="2300" b="1" dirty="0">
                <a:latin typeface="Times New Roman" pitchFamily="18" charset="0"/>
                <a:cs typeface="Times New Roman" pitchFamily="18" charset="0"/>
              </a:rPr>
              <a:t>Инструкции за софтуерно прекъсване</a:t>
            </a:r>
            <a:endParaRPr lang="bg-BG" sz="2300" dirty="0">
              <a:latin typeface="Times New Roman" pitchFamily="18" charset="0"/>
              <a:cs typeface="Times New Roman" pitchFamily="18" charset="0"/>
            </a:endParaRPr>
          </a:p>
          <a:p>
            <a:pPr algn="just"/>
            <a:r>
              <a:rPr lang="bg-BG" sz="2400" dirty="0">
                <a:latin typeface="Times New Roman" pitchFamily="18" charset="0"/>
                <a:cs typeface="Times New Roman" pitchFamily="18" charset="0"/>
              </a:rPr>
              <a:t>Инструкциите SWI (Software Interrupt) причиняват изключение за софтуерно прекъсване. Те обикновено се използват за заявяване на услуга от операционна система. Изключението кара процесора да премине в привилегирован режим, като по този начин позволява на задачата в потребителския режим да получи достъп до привилегировани функции, но само под управление на операционна система.</a:t>
            </a:r>
          </a:p>
          <a:p>
            <a:pPr algn="just"/>
            <a:r>
              <a:rPr lang="bg-BG" sz="2400" dirty="0">
                <a:latin typeface="Times New Roman" pitchFamily="18" charset="0"/>
                <a:cs typeface="Times New Roman" pitchFamily="18" charset="0"/>
              </a:rPr>
              <a:t>Използваната функция по-нататък има номер 0x11. В системата, която използваме, това представлява функцията exit() и се използва за излизане от програма.</a:t>
            </a:r>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SWI 0x11</a:t>
            </a:r>
            <a:endParaRPr lang="bg-BG" sz="2400" b="1" dirty="0">
              <a:latin typeface="Times New Roman" pitchFamily="18" charset="0"/>
              <a:cs typeface="Times New Roman" pitchFamily="18" charset="0"/>
            </a:endParaRPr>
          </a:p>
          <a:p>
            <a:pPr algn="just"/>
            <a:endParaRPr lang="bg-BG" sz="2400" dirty="0">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357298"/>
            <a:ext cx="8715436" cy="3143272"/>
          </a:xfrm>
        </p:spPr>
        <p:txBody>
          <a:bodyPr>
            <a:noAutofit/>
          </a:bodyPr>
          <a:lstStyle/>
          <a:p>
            <a:r>
              <a:rPr lang="bg-BG" sz="2200" b="1" dirty="0">
                <a:latin typeface="Times New Roman" pitchFamily="18" charset="0"/>
                <a:cs typeface="Times New Roman" pitchFamily="18" charset="0"/>
              </a:rPr>
              <a:t>Инструкции за достъп до регистър на състоянието</a:t>
            </a:r>
            <a:endParaRPr lang="bg-BG" sz="2200" dirty="0">
              <a:latin typeface="Times New Roman" pitchFamily="18" charset="0"/>
              <a:cs typeface="Times New Roman" pitchFamily="18" charset="0"/>
            </a:endParaRPr>
          </a:p>
          <a:p>
            <a:pPr algn="just"/>
            <a:r>
              <a:rPr lang="bg-BG" sz="2200" dirty="0">
                <a:latin typeface="Times New Roman" pitchFamily="18" charset="0"/>
                <a:cs typeface="Times New Roman" pitchFamily="18" charset="0"/>
              </a:rPr>
              <a:t>Регистърът на състоянието може да бъде достъпен чрез две инструкции. Инструкцията MRS (Прехвърляне към регистър от състояние) ще копира текущия регистър на състоянието на процеса (CPSR) в регистър с общо предназначение. Има само една причина за четене на регистъра на състоянието и това е да промените едно от полетата. Има и съответна инструкция MSR (Преместване към състояние от регистър), която замества определени полета в текущия регистър на състоянието. </a:t>
            </a:r>
          </a:p>
        </p:txBody>
      </p:sp>
      <p:pic>
        <p:nvPicPr>
          <p:cNvPr id="75778" name="Picture 2"/>
          <p:cNvPicPr>
            <a:picLocks noChangeAspect="1" noChangeArrowheads="1"/>
          </p:cNvPicPr>
          <p:nvPr/>
        </p:nvPicPr>
        <p:blipFill>
          <a:blip r:embed="rId2" cstate="print"/>
          <a:srcRect/>
          <a:stretch>
            <a:fillRect/>
          </a:stretch>
        </p:blipFill>
        <p:spPr bwMode="auto">
          <a:xfrm>
            <a:off x="571472" y="4643446"/>
            <a:ext cx="7929618" cy="1921681"/>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571612"/>
            <a:ext cx="8715436" cy="3357586"/>
          </a:xfrm>
        </p:spPr>
        <p:txBody>
          <a:bodyPr>
            <a:noAutofit/>
          </a:bodyPr>
          <a:lstStyle/>
          <a:p>
            <a:r>
              <a:rPr lang="bg-BG" sz="2400" b="1" dirty="0">
                <a:latin typeface="Times New Roman" pitchFamily="18" charset="0"/>
                <a:cs typeface="Times New Roman" pitchFamily="18" charset="0"/>
              </a:rPr>
              <a:t>Зареждане на константи</a:t>
            </a:r>
          </a:p>
          <a:p>
            <a:r>
              <a:rPr lang="ru-RU" sz="2400" dirty="0">
                <a:latin typeface="Times New Roman" pitchFamily="18" charset="0"/>
                <a:cs typeface="Times New Roman" pitchFamily="18" charset="0"/>
              </a:rPr>
              <a:t>Няма отделна ARM инструкция за преместване на 32-битова константа в регистър.</a:t>
            </a:r>
          </a:p>
          <a:p>
            <a:r>
              <a:rPr lang="ru-RU" sz="2400" dirty="0">
                <a:latin typeface="Times New Roman" pitchFamily="18" charset="0"/>
                <a:cs typeface="Times New Roman" pitchFamily="18" charset="0"/>
              </a:rPr>
              <a:t>Има два псевдоинструкции за преместване на 32-битова стойност в регистър.</a:t>
            </a:r>
          </a:p>
          <a:p>
            <a:r>
              <a:rPr lang="en-US" sz="2400" dirty="0">
                <a:latin typeface="Times New Roman" pitchFamily="18" charset="0"/>
                <a:cs typeface="Times New Roman" pitchFamily="18" charset="0"/>
              </a:rPr>
              <a:t>LDR Rd, =constant </a:t>
            </a:r>
            <a:endParaRPr lang="bg-BG"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ADR Rd, label</a:t>
            </a:r>
            <a:endParaRPr lang="ru-RU" sz="2400" dirty="0">
              <a:latin typeface="Times New Roman" pitchFamily="18" charset="0"/>
              <a:cs typeface="Times New Roman" pitchFamily="18" charset="0"/>
            </a:endParaRPr>
          </a:p>
          <a:p>
            <a:endParaRPr lang="ru-RU" sz="2400" dirty="0">
              <a:latin typeface="Times New Roman" pitchFamily="18" charset="0"/>
              <a:cs typeface="Times New Roman" pitchFamily="18" charset="0"/>
            </a:endParaRPr>
          </a:p>
          <a:p>
            <a:endParaRPr lang="bg-BG" sz="2200" dirty="0">
              <a:latin typeface="Times New Roman" pitchFamily="18" charset="0"/>
              <a:cs typeface="Times New Roman" pitchFamily="18" charset="0"/>
            </a:endParaRPr>
          </a:p>
        </p:txBody>
      </p:sp>
      <p:pic>
        <p:nvPicPr>
          <p:cNvPr id="76802" name="Picture 2"/>
          <p:cNvPicPr>
            <a:picLocks noChangeAspect="1" noChangeArrowheads="1"/>
          </p:cNvPicPr>
          <p:nvPr/>
        </p:nvPicPr>
        <p:blipFill>
          <a:blip r:embed="rId2" cstate="print"/>
          <a:srcRect/>
          <a:stretch>
            <a:fillRect/>
          </a:stretch>
        </p:blipFill>
        <p:spPr bwMode="auto">
          <a:xfrm>
            <a:off x="214282" y="4929198"/>
            <a:ext cx="8758651" cy="1395416"/>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142984"/>
            <a:ext cx="8715436" cy="3143272"/>
          </a:xfrm>
        </p:spPr>
        <p:txBody>
          <a:bodyPr>
            <a:noAutofit/>
          </a:bodyPr>
          <a:lstStyle/>
          <a:p>
            <a:r>
              <a:rPr lang="bg-BG" sz="2400" b="1" dirty="0">
                <a:latin typeface="Times New Roman" pitchFamily="18" charset="0"/>
                <a:cs typeface="Times New Roman" pitchFamily="18" charset="0"/>
              </a:rPr>
              <a:t>Условно изпълнение: </a:t>
            </a:r>
            <a:r>
              <a:rPr lang="en-US" sz="2400" b="1" dirty="0">
                <a:latin typeface="Times New Roman" pitchFamily="18" charset="0"/>
                <a:cs typeface="Times New Roman" pitchFamily="18" charset="0"/>
              </a:rPr>
              <a:t>&lt;</a:t>
            </a:r>
            <a:r>
              <a:rPr lang="bg-BG" sz="2400" b="1" dirty="0">
                <a:latin typeface="Times New Roman" pitchFamily="18" charset="0"/>
                <a:cs typeface="Times New Roman" pitchFamily="18" charset="0"/>
              </a:rPr>
              <a:t>cc</a:t>
            </a:r>
            <a:r>
              <a:rPr lang="en-US" sz="2400" b="1" dirty="0">
                <a:latin typeface="Times New Roman" pitchFamily="18" charset="0"/>
                <a:cs typeface="Times New Roman" pitchFamily="18" charset="0"/>
              </a:rPr>
              <a:t>&gt;</a:t>
            </a:r>
            <a:endParaRPr lang="bg-BG" sz="2400" dirty="0">
              <a:latin typeface="Times New Roman" pitchFamily="18" charset="0"/>
              <a:cs typeface="Times New Roman" pitchFamily="18" charset="0"/>
            </a:endParaRPr>
          </a:p>
          <a:p>
            <a:pPr algn="just"/>
            <a:r>
              <a:rPr lang="bg-BG" sz="2400" dirty="0">
                <a:latin typeface="Times New Roman" pitchFamily="18" charset="0"/>
                <a:cs typeface="Times New Roman" pitchFamily="18" charset="0"/>
              </a:rPr>
              <a:t>По-голямата част от инструкциите включват поле код на условие (&lt;cc&gt;), което позволява на инструкцията да бъде изпълнена условно в зависимост от текущото състояние на процесора (флагове на кода на условието). Ако флаговете показват, че условието е изпълнено, инструкцията се изпълнява, в противен случай инструкцията се игнорира и процесорът просто преминава към следващата инструкция. </a:t>
            </a:r>
            <a:endParaRPr lang="bg-BG" sz="2200" dirty="0">
              <a:latin typeface="Times New Roman" pitchFamily="18" charset="0"/>
              <a:cs typeface="Times New Roman" pitchFamily="18" charset="0"/>
            </a:endParaRPr>
          </a:p>
        </p:txBody>
      </p:sp>
      <p:pic>
        <p:nvPicPr>
          <p:cNvPr id="77826" name="Picture 2"/>
          <p:cNvPicPr>
            <a:picLocks noChangeAspect="1" noChangeArrowheads="1"/>
          </p:cNvPicPr>
          <p:nvPr/>
        </p:nvPicPr>
        <p:blipFill>
          <a:blip r:embed="rId2" cstate="print"/>
          <a:srcRect/>
          <a:stretch>
            <a:fillRect/>
          </a:stretch>
        </p:blipFill>
        <p:spPr bwMode="auto">
          <a:xfrm>
            <a:off x="692365" y="4533541"/>
            <a:ext cx="8449600" cy="2000264"/>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428736"/>
            <a:ext cx="8715436" cy="5143536"/>
          </a:xfrm>
        </p:spPr>
        <p:txBody>
          <a:bodyPr>
            <a:noAutofit/>
          </a:bodyPr>
          <a:lstStyle/>
          <a:p>
            <a:r>
              <a:rPr lang="bg-BG" sz="2400" b="1" dirty="0">
                <a:latin typeface="Times New Roman" pitchFamily="18" charset="0"/>
                <a:cs typeface="Times New Roman" pitchFamily="18" charset="0"/>
              </a:rPr>
              <a:t>Условно изпълнение: </a:t>
            </a:r>
            <a:r>
              <a:rPr lang="en-US" sz="2400" b="1" dirty="0">
                <a:latin typeface="Times New Roman" pitchFamily="18" charset="0"/>
                <a:cs typeface="Times New Roman" pitchFamily="18" charset="0"/>
              </a:rPr>
              <a:t>&lt;</a:t>
            </a:r>
            <a:r>
              <a:rPr lang="bg-BG" sz="2400" b="1" dirty="0">
                <a:latin typeface="Times New Roman" pitchFamily="18" charset="0"/>
                <a:cs typeface="Times New Roman" pitchFamily="18" charset="0"/>
              </a:rPr>
              <a:t>cc</a:t>
            </a:r>
            <a:r>
              <a:rPr lang="en-US" sz="2400" b="1" dirty="0">
                <a:latin typeface="Times New Roman" pitchFamily="18" charset="0"/>
                <a:cs typeface="Times New Roman" pitchFamily="18" charset="0"/>
              </a:rPr>
              <a:t>&gt;</a:t>
            </a:r>
            <a:endParaRPr lang="bg-BG" sz="2400" dirty="0">
              <a:latin typeface="Times New Roman" pitchFamily="18" charset="0"/>
              <a:cs typeface="Times New Roman" pitchFamily="18" charset="0"/>
            </a:endParaRPr>
          </a:p>
          <a:p>
            <a:pPr algn="just"/>
            <a:r>
              <a:rPr lang="bg-BG" sz="2400" dirty="0">
                <a:latin typeface="Times New Roman" pitchFamily="18" charset="0"/>
                <a:cs typeface="Times New Roman" pitchFamily="18" charset="0"/>
              </a:rPr>
              <a:t>За да посочим, че дадена инструкция е условна, поставяме мнемоника с две букви за условието след мнемониката на инструкцията, но преди &lt;S&gt; полето, ако присъства. Ако не се използва мнемоника за код на условие, инструкцията винаги ще се изпълнява. Има и мнемоника от две букви, която да обозначава винаги (AL). </a:t>
            </a:r>
          </a:p>
          <a:p>
            <a:pPr algn="just"/>
            <a:r>
              <a:rPr lang="bg-BG" sz="2400" dirty="0">
                <a:latin typeface="Times New Roman" pitchFamily="18" charset="0"/>
                <a:cs typeface="Times New Roman" pitchFamily="18" charset="0"/>
              </a:rPr>
              <a:t>MOVCC R0, R1</a:t>
            </a:r>
          </a:p>
          <a:p>
            <a:pPr algn="just"/>
            <a:r>
              <a:rPr lang="bg-BG" sz="2400" dirty="0">
                <a:latin typeface="Times New Roman" pitchFamily="18" charset="0"/>
                <a:cs typeface="Times New Roman" pitchFamily="18" charset="0"/>
              </a:rPr>
              <a:t>ще копира стойността в регистъра R1 в регистъра R0, само когато флагът за пренос е нулиран  (код на условието CC). R0 ще остане непроменен, ако флаг C е установен. </a:t>
            </a:r>
            <a:endParaRPr lang="bg-BG" sz="2200" dirty="0">
              <a:latin typeface="Times New Roman" pitchFamily="18" charset="0"/>
              <a:cs typeface="Times New Roman"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643050"/>
            <a:ext cx="8715436" cy="4929222"/>
          </a:xfrm>
        </p:spPr>
        <p:txBody>
          <a:bodyPr>
            <a:noAutofit/>
          </a:bodyPr>
          <a:lstStyle/>
          <a:p>
            <a:pPr algn="just"/>
            <a:r>
              <a:rPr lang="bg-BG" sz="2400" b="1" dirty="0">
                <a:latin typeface="Times New Roman" pitchFamily="18" charset="0"/>
                <a:cs typeface="Times New Roman" pitchFamily="18" charset="0"/>
              </a:rPr>
              <a:t>НАБОР THUMB ИНСТРУКЦИИ </a:t>
            </a:r>
            <a:endParaRPr lang="bg-BG" sz="2400" dirty="0">
              <a:latin typeface="Times New Roman" pitchFamily="18" charset="0"/>
              <a:cs typeface="Times New Roman" pitchFamily="18" charset="0"/>
            </a:endParaRPr>
          </a:p>
          <a:p>
            <a:pPr algn="just"/>
            <a:r>
              <a:rPr lang="bg-BG" sz="2400" dirty="0">
                <a:latin typeface="Times New Roman" pitchFamily="18" charset="0"/>
                <a:cs typeface="Times New Roman" pitchFamily="18" charset="0"/>
              </a:rPr>
              <a:t>Наборът от инструкции Thumb е повторно кодирано подмножество от набора от инструкции ARM. Thumb е проектиран да повиши производителността на ARM реализации, които използват 16-битова или по-тясна шина за данни на паметта и да позволи по-добра плътност на кода от предоставената от ARM инструкцията както за 16-битови, така и за 32-битови процесори. Наборът от инструкции Thumb е създаден чрез анализиране на 32-битовия набор от инструкции ARM и извличане на най-подходящия 16-битов набор от инструкции, като по този начин се намалява размерът на кода.</a:t>
            </a:r>
            <a:r>
              <a:rPr lang="bg-BG" sz="2200" dirty="0">
                <a:latin typeface="Times New Roman" pitchFamily="18" charset="0"/>
                <a:cs typeface="Times New Roman" pitchFamily="18" charset="0"/>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401080" cy="1143000"/>
          </a:xfrm>
        </p:spPr>
        <p:txBody>
          <a:bodyPr>
            <a:noAutofit/>
          </a:bodyPr>
          <a:lstStyle/>
          <a:p>
            <a:r>
              <a:rPr lang="ru-RU" sz="3700" b="1" dirty="0">
                <a:latin typeface="Times New Roman" pitchFamily="18" charset="0"/>
                <a:cs typeface="Times New Roman" pitchFamily="18" charset="0"/>
              </a:rPr>
              <a:t>Инструкции на </a:t>
            </a:r>
            <a:r>
              <a:rPr lang="en-US" sz="3700" b="1" dirty="0">
                <a:latin typeface="Times New Roman" pitchFamily="18" charset="0"/>
                <a:cs typeface="Times New Roman" pitchFamily="18" charset="0"/>
              </a:rPr>
              <a:t>ARM</a:t>
            </a:r>
            <a:r>
              <a:rPr lang="bg-BG" sz="3700" b="1" dirty="0">
                <a:latin typeface="Times New Roman" pitchFamily="18" charset="0"/>
                <a:cs typeface="Times New Roman" pitchFamily="18" charset="0"/>
              </a:rPr>
              <a:t> </a:t>
            </a:r>
            <a:r>
              <a:rPr lang="ru-RU" sz="3700" b="1" dirty="0">
                <a:latin typeface="Times New Roman" pitchFamily="18" charset="0"/>
                <a:cs typeface="Times New Roman" pitchFamily="18" charset="0"/>
              </a:rPr>
              <a:t>микропроцесора.</a:t>
            </a:r>
            <a:endParaRPr lang="bg-BG" sz="3700" dirty="0">
              <a:latin typeface="Times New Roman" pitchFamily="18" charset="0"/>
              <a:cs typeface="Times New Roman" pitchFamily="18" charset="0"/>
            </a:endParaRPr>
          </a:p>
        </p:txBody>
      </p:sp>
      <p:sp>
        <p:nvSpPr>
          <p:cNvPr id="3" name="Content Placeholder 2"/>
          <p:cNvSpPr>
            <a:spLocks noGrp="1"/>
          </p:cNvSpPr>
          <p:nvPr>
            <p:ph idx="1"/>
          </p:nvPr>
        </p:nvSpPr>
        <p:spPr>
          <a:xfrm>
            <a:off x="0" y="1428736"/>
            <a:ext cx="9144000" cy="5214974"/>
          </a:xfrm>
        </p:spPr>
        <p:txBody>
          <a:bodyPr>
            <a:noAutofit/>
          </a:bodyPr>
          <a:lstStyle/>
          <a:p>
            <a:pPr algn="just"/>
            <a:r>
              <a:rPr lang="bg-BG" sz="2200" b="1" dirty="0">
                <a:latin typeface="Times New Roman" pitchFamily="18" charset="0"/>
                <a:cs typeface="Times New Roman" pitchFamily="18" charset="0"/>
              </a:rPr>
              <a:t>НАБОР THUMB ИНСТРУКЦИИ </a:t>
            </a:r>
            <a:endParaRPr lang="bg-BG" sz="2200" dirty="0">
              <a:latin typeface="Times New Roman" pitchFamily="18" charset="0"/>
              <a:cs typeface="Times New Roman" pitchFamily="18" charset="0"/>
            </a:endParaRPr>
          </a:p>
          <a:p>
            <a:pPr algn="just"/>
            <a:r>
              <a:rPr lang="bg-BG" sz="2200" dirty="0">
                <a:latin typeface="Times New Roman" pitchFamily="18" charset="0"/>
                <a:cs typeface="Times New Roman" pitchFamily="18" charset="0"/>
              </a:rPr>
              <a:t>Спестяванията се постигат по следния начин: </a:t>
            </a:r>
          </a:p>
          <a:p>
            <a:pPr algn="just"/>
            <a:r>
              <a:rPr lang="bg-BG" sz="2200" dirty="0">
                <a:latin typeface="Times New Roman" pitchFamily="18" charset="0"/>
                <a:cs typeface="Times New Roman" pitchFamily="18" charset="0"/>
              </a:rPr>
              <a:t>1. Thumb инструкциите са безусловни, така че полето за код на условието не се използва. Също така, всички аритметични и логически инструкции Thumb актуализират флаговете на условието, така че битът за флаг за актуализиране не е необходим. Спестяват се 5 бита.</a:t>
            </a:r>
          </a:p>
          <a:p>
            <a:r>
              <a:rPr lang="bg-BG" sz="2200" dirty="0">
                <a:latin typeface="Times New Roman" pitchFamily="18" charset="0"/>
                <a:cs typeface="Times New Roman" pitchFamily="18" charset="0"/>
              </a:rPr>
              <a:t>2. Thumb има само подмножество от операциите в пълния набор от инструкции и използва само 2-битово поле за код на операция плюс поле от 3-битов тип. Спестява 2 бита. </a:t>
            </a:r>
          </a:p>
          <a:p>
            <a:r>
              <a:rPr lang="bg-BG" sz="2200" dirty="0">
                <a:latin typeface="Times New Roman" pitchFamily="18" charset="0"/>
                <a:cs typeface="Times New Roman" pitchFamily="18" charset="0"/>
              </a:rPr>
              <a:t>3. Останалите спестявания от 9 бита идват от намаляване на спецификациите на операнда. Например инструкциите Thumb препращат само към регистри </a:t>
            </a:r>
            <a:r>
              <a:rPr lang="bg-BG" sz="2200">
                <a:latin typeface="Times New Roman" pitchFamily="18" charset="0"/>
                <a:cs typeface="Times New Roman" pitchFamily="18" charset="0"/>
              </a:rPr>
              <a:t>от </a:t>
            </a:r>
            <a:r>
              <a:rPr lang="en-US" sz="2200">
                <a:latin typeface="Times New Roman" pitchFamily="18" charset="0"/>
                <a:cs typeface="Times New Roman" pitchFamily="18" charset="0"/>
              </a:rPr>
              <a:t>R</a:t>
            </a:r>
            <a:r>
              <a:rPr lang="bg-BG" sz="2200">
                <a:latin typeface="Times New Roman" pitchFamily="18" charset="0"/>
                <a:cs typeface="Times New Roman" pitchFamily="18" charset="0"/>
              </a:rPr>
              <a:t>0 до </a:t>
            </a:r>
            <a:r>
              <a:rPr lang="en-US" sz="2200">
                <a:latin typeface="Times New Roman" pitchFamily="18" charset="0"/>
                <a:cs typeface="Times New Roman" pitchFamily="18" charset="0"/>
              </a:rPr>
              <a:t>R</a:t>
            </a:r>
            <a:r>
              <a:rPr lang="bg-BG" sz="2200">
                <a:latin typeface="Times New Roman" pitchFamily="18" charset="0"/>
                <a:cs typeface="Times New Roman" pitchFamily="18" charset="0"/>
              </a:rPr>
              <a:t>7</a:t>
            </a:r>
            <a:r>
              <a:rPr lang="bg-BG" sz="2200" dirty="0">
                <a:latin typeface="Times New Roman" pitchFamily="18" charset="0"/>
                <a:cs typeface="Times New Roman" pitchFamily="18" charset="0"/>
              </a:rPr>
              <a:t>, така че за препратки към регистъра са необходими само 3 бита, а не 4 бита. Непосредствените стойности не включват 4-битово поле за завъртане.</a:t>
            </a:r>
          </a:p>
          <a:p>
            <a:pPr algn="just"/>
            <a:endParaRPr lang="bg-BG" sz="2200"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2815A41C86513B4096C6BAC35CB04A7C" ma:contentTypeVersion="11" ma:contentTypeDescription="Създаване на нов документ" ma:contentTypeScope="" ma:versionID="aeaffb348d2b52f24d410ae28bdf175e">
  <xsd:schema xmlns:xsd="http://www.w3.org/2001/XMLSchema" xmlns:xs="http://www.w3.org/2001/XMLSchema" xmlns:p="http://schemas.microsoft.com/office/2006/metadata/properties" xmlns:ns2="1170580e-cc85-4814-90d0-7c45caf95435" xmlns:ns3="fa43d559-56ce-40e4-b5e0-b1d2f1c6a948" targetNamespace="http://schemas.microsoft.com/office/2006/metadata/properties" ma:root="true" ma:fieldsID="2b6c80141cda9f3fb17d02d04063fe73" ns2:_="" ns3:_="">
    <xsd:import namespace="1170580e-cc85-4814-90d0-7c45caf95435"/>
    <xsd:import namespace="fa43d559-56ce-40e4-b5e0-b1d2f1c6a94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70580e-cc85-4814-90d0-7c45caf954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Етикети за изображения" ma:readOnly="false" ma:fieldId="{5cf76f15-5ced-4ddc-b409-7134ff3c332f}" ma:taxonomyMulti="true" ma:sspId="f94169f7-4ae2-4031-b8fa-636baa109d8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43d559-56ce-40e4-b5e0-b1d2f1c6a94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8ac84de-a7dc-4418-88f8-8ba02af593f2}" ma:internalName="TaxCatchAll" ma:showField="CatchAllData" ma:web="fa43d559-56ce-40e4-b5e0-b1d2f1c6a9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a43d559-56ce-40e4-b5e0-b1d2f1c6a948" xsi:nil="true"/>
    <lcf76f155ced4ddcb4097134ff3c332f xmlns="1170580e-cc85-4814-90d0-7c45caf9543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46B17A0-D750-4890-B4D7-1507403E55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70580e-cc85-4814-90d0-7c45caf95435"/>
    <ds:schemaRef ds:uri="fa43d559-56ce-40e4-b5e0-b1d2f1c6a9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46BE66-ED3E-4766-B413-8411DEE652ED}">
  <ds:schemaRefs>
    <ds:schemaRef ds:uri="http://schemas.microsoft.com/sharepoint/v3/contenttype/forms"/>
  </ds:schemaRefs>
</ds:datastoreItem>
</file>

<file path=customXml/itemProps3.xml><?xml version="1.0" encoding="utf-8"?>
<ds:datastoreItem xmlns:ds="http://schemas.openxmlformats.org/officeDocument/2006/customXml" ds:itemID="{D6D6BBAF-68D9-430C-A1E3-1533D7F9B849}">
  <ds:schemaRefs>
    <ds:schemaRef ds:uri="http://schemas.microsoft.com/office/2006/metadata/properties"/>
    <ds:schemaRef ds:uri="http://schemas.microsoft.com/office/infopath/2007/PartnerControls"/>
    <ds:schemaRef ds:uri="fa43d559-56ce-40e4-b5e0-b1d2f1c6a948"/>
    <ds:schemaRef ds:uri="1170580e-cc85-4814-90d0-7c45caf95435"/>
  </ds:schemaRefs>
</ds:datastoreItem>
</file>

<file path=docProps/app.xml><?xml version="1.0" encoding="utf-8"?>
<Properties xmlns="http://schemas.openxmlformats.org/officeDocument/2006/extended-properties" xmlns:vt="http://schemas.openxmlformats.org/officeDocument/2006/docPropsVTypes">
  <Template>Flow</Template>
  <TotalTime>2755</TotalTime>
  <Words>4991</Words>
  <Application>Microsoft Office PowerPoint</Application>
  <PresentationFormat>On-screen Show (4:3)</PresentationFormat>
  <Paragraphs>330</Paragraphs>
  <Slides>66</Slides>
  <Notes>9</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Flow</vt:lpstr>
      <vt:lpstr>ARM процесор. Програмен модел, видове инструкции и методи на адресация.  Структура на паметта. Таблица с инструкции за микропроцесора. </vt:lpstr>
      <vt:lpstr>  ARM</vt:lpstr>
      <vt:lpstr>  ARM</vt:lpstr>
      <vt:lpstr>  ARM</vt:lpstr>
      <vt:lpstr>  ARM</vt:lpstr>
      <vt:lpstr>  Режими на работа</vt:lpstr>
      <vt:lpstr>  Режими на работа</vt:lpstr>
      <vt:lpstr>  Режими на работа</vt:lpstr>
      <vt:lpstr>  Режими на работа</vt:lpstr>
      <vt:lpstr>  Режими на работа</vt:lpstr>
      <vt:lpstr>PowerPoint Presentation</vt:lpstr>
      <vt:lpstr>Регистрова организация на ARM процесор</vt:lpstr>
      <vt:lpstr>Регистрова организация на ARM процесор</vt:lpstr>
      <vt:lpstr>Регистри с общо предназначение</vt:lpstr>
      <vt:lpstr>Регистри с общо предназначение</vt:lpstr>
      <vt:lpstr>Регистри за статус на програмата</vt:lpstr>
      <vt:lpstr>Регистри за статус на програмата</vt:lpstr>
      <vt:lpstr>Регистри за статус на програмата</vt:lpstr>
      <vt:lpstr>Регистри за статус на програмата</vt:lpstr>
      <vt:lpstr>  Методи на адресация на ARM</vt:lpstr>
      <vt:lpstr>  Методи на адресация на ARM</vt:lpstr>
      <vt:lpstr>  Методи на адресация на ARM</vt:lpstr>
      <vt:lpstr>  Методи на адресация на ARM</vt:lpstr>
      <vt:lpstr>  Методи на адресация на ARM</vt:lpstr>
      <vt:lpstr>  Методи на адресация на ARM</vt:lpstr>
      <vt:lpstr>  Методи на адресация на ARM</vt:lpstr>
      <vt:lpstr>  Методи на адресация на ARM</vt:lpstr>
      <vt:lpstr>  Методи на адресиране на паметта</vt:lpstr>
      <vt:lpstr>  Методи на адресиране на паметта</vt:lpstr>
      <vt:lpstr>Формати на данните.</vt:lpstr>
      <vt:lpstr>Формати на данните.</vt:lpstr>
      <vt:lpstr>Формати на данните.</vt:lpstr>
      <vt:lpstr>Структура на паметта</vt:lpstr>
      <vt:lpstr>Структура на паметта</vt:lpstr>
      <vt:lpstr>Структура на паметта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lpstr>Инструкции на ARM микропроцесора.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Програмен модел на микропроцесор IA-32. Методи за адресация. Формати на данните. Структура на паметта. Таблица с инструкции за микропроцесора.</dc:title>
  <dc:creator>Desi</dc:creator>
  <cp:lastModifiedBy>Zh.Zhejnov</cp:lastModifiedBy>
  <cp:revision>271</cp:revision>
  <dcterms:created xsi:type="dcterms:W3CDTF">2024-02-15T19:55:55Z</dcterms:created>
  <dcterms:modified xsi:type="dcterms:W3CDTF">2024-05-05T16:41:48Z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0x0101002815A41C86513B4096C6BAC35CB04A7C</vt:lpwstr>
  </property>
  <property fmtid="{D5CDD505-2E9C-101B-9397-08002B2CF9AE}" pid="3" name="MediaServiceImageTags">
    <vt:lpwstr/>
  </property>
</Properties>
</file>
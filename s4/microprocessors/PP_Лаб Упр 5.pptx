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9"/>
  </p:notesMasterIdLst>
  <p:sldIdLst>
    <p:sldId id="256" r:id="rId5"/>
    <p:sldId id="402" r:id="rId6"/>
    <p:sldId id="381" r:id="rId7"/>
    <p:sldId id="459" r:id="rId8"/>
    <p:sldId id="480" r:id="rId9"/>
    <p:sldId id="479" r:id="rId10"/>
    <p:sldId id="461" r:id="rId11"/>
    <p:sldId id="466" r:id="rId12"/>
    <p:sldId id="463" r:id="rId13"/>
    <p:sldId id="464" r:id="rId14"/>
    <p:sldId id="465" r:id="rId15"/>
    <p:sldId id="467" r:id="rId16"/>
    <p:sldId id="469" r:id="rId17"/>
    <p:sldId id="482" r:id="rId18"/>
    <p:sldId id="483" r:id="rId19"/>
    <p:sldId id="484" r:id="rId20"/>
    <p:sldId id="485" r:id="rId21"/>
    <p:sldId id="481" r:id="rId22"/>
    <p:sldId id="472" r:id="rId23"/>
    <p:sldId id="473" r:id="rId24"/>
    <p:sldId id="474" r:id="rId25"/>
    <p:sldId id="471" r:id="rId26"/>
    <p:sldId id="470" r:id="rId27"/>
    <p:sldId id="476" r:id="rId28"/>
    <p:sldId id="477" r:id="rId29"/>
    <p:sldId id="478" r:id="rId30"/>
    <p:sldId id="496" r:id="rId31"/>
    <p:sldId id="488" r:id="rId32"/>
    <p:sldId id="489" r:id="rId33"/>
    <p:sldId id="437" r:id="rId34"/>
    <p:sldId id="447" r:id="rId35"/>
    <p:sldId id="486" r:id="rId36"/>
    <p:sldId id="497" r:id="rId37"/>
    <p:sldId id="487" r:id="rId38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37FFCA-77EE-FE87-CAD9-F52679CADEE6}" v="1" dt="2024-05-08T14:33:00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ЙОАН НЕЛЕВ РАЙЧЕВ СИТ 2к - 22621716" userId="S::s22621716@onlineedu.tu-varna.bg::c0ce6435-0bdb-4af8-9499-d01da870dd22" providerId="AD" clId="Web-{F7CC2973-AF3D-47FF-87BB-0DDE7AA84D04}"/>
    <pc:docChg chg="modSld">
      <pc:chgData name="ЙОАН НЕЛЕВ РАЙЧЕВ СИТ 2к - 22621716" userId="S::s22621716@onlineedu.tu-varna.bg::c0ce6435-0bdb-4af8-9499-d01da870dd22" providerId="AD" clId="Web-{F7CC2973-AF3D-47FF-87BB-0DDE7AA84D04}" dt="2024-04-01T15:00:49.969" v="1" actId="1076"/>
      <pc:docMkLst>
        <pc:docMk/>
      </pc:docMkLst>
      <pc:sldChg chg="modSp">
        <pc:chgData name="ЙОАН НЕЛЕВ РАЙЧЕВ СИТ 2к - 22621716" userId="S::s22621716@onlineedu.tu-varna.bg::c0ce6435-0bdb-4af8-9499-d01da870dd22" providerId="AD" clId="Web-{F7CC2973-AF3D-47FF-87BB-0DDE7AA84D04}" dt="2024-04-01T15:00:49.969" v="1" actId="1076"/>
        <pc:sldMkLst>
          <pc:docMk/>
          <pc:sldMk cId="3755211732" sldId="497"/>
        </pc:sldMkLst>
        <pc:spChg chg="mod">
          <ac:chgData name="ЙОАН НЕЛЕВ РАЙЧЕВ СИТ 2к - 22621716" userId="S::s22621716@onlineedu.tu-varna.bg::c0ce6435-0bdb-4af8-9499-d01da870dd22" providerId="AD" clId="Web-{F7CC2973-AF3D-47FF-87BB-0DDE7AA84D04}" dt="2024-04-01T15:00:49.969" v="1" actId="1076"/>
          <ac:spMkLst>
            <pc:docMk/>
            <pc:sldMk cId="3755211732" sldId="497"/>
            <ac:spMk id="4" creationId="{00000000-0000-0000-0000-000000000000}"/>
          </ac:spMkLst>
        </pc:spChg>
      </pc:sldChg>
    </pc:docChg>
  </pc:docChgLst>
  <pc:docChgLst>
    <pc:chgData name="ЯНА  АМПОВА СИТ 2к - 22621751" userId="S::s22621751@onlineedu.tu-varna.bg::e3fef173-1d60-411b-802f-d8b58aa20486" providerId="AD" clId="Web-{B1DD73D0-6EB0-4D04-B994-8218314A7C76}"/>
    <pc:docChg chg="addSld delSld">
      <pc:chgData name="ЯНА  АМПОВА СИТ 2к - 22621751" userId="S::s22621751@onlineedu.tu-varna.bg::e3fef173-1d60-411b-802f-d8b58aa20486" providerId="AD" clId="Web-{B1DD73D0-6EB0-4D04-B994-8218314A7C76}" dt="2024-03-28T08:28:56.680" v="1"/>
      <pc:docMkLst>
        <pc:docMk/>
      </pc:docMkLst>
      <pc:sldChg chg="new del">
        <pc:chgData name="ЯНА  АМПОВА СИТ 2к - 22621751" userId="S::s22621751@onlineedu.tu-varna.bg::e3fef173-1d60-411b-802f-d8b58aa20486" providerId="AD" clId="Web-{B1DD73D0-6EB0-4D04-B994-8218314A7C76}" dt="2024-03-28T08:28:56.680" v="1"/>
        <pc:sldMkLst>
          <pc:docMk/>
          <pc:sldMk cId="3584876442" sldId="498"/>
        </pc:sldMkLst>
      </pc:sldChg>
    </pc:docChg>
  </pc:docChgLst>
  <pc:docChgLst>
    <pc:chgData name="ЛЪЧЕЗАР ЙОРДАНОВ РАДУШЕВ СИТ 2к - 22621679" userId="S::s22621679@onlineedu.tu-varna.bg::2857b464-4fcf-4a6e-b549-87a1475ec596" providerId="AD" clId="Web-{EDCEF9A6-8AC4-C2BE-C83A-A809587A22AC}"/>
    <pc:docChg chg="modSld">
      <pc:chgData name="ЛЪЧЕЗАР ЙОРДАНОВ РАДУШЕВ СИТ 2к - 22621679" userId="S::s22621679@onlineedu.tu-varna.bg::2857b464-4fcf-4a6e-b549-87a1475ec596" providerId="AD" clId="Web-{EDCEF9A6-8AC4-C2BE-C83A-A809587A22AC}" dt="2024-04-03T11:32:46.224" v="3" actId="20577"/>
      <pc:docMkLst>
        <pc:docMk/>
      </pc:docMkLst>
      <pc:sldChg chg="modSp">
        <pc:chgData name="ЛЪЧЕЗАР ЙОРДАНОВ РАДУШЕВ СИТ 2к - 22621679" userId="S::s22621679@onlineedu.tu-varna.bg::2857b464-4fcf-4a6e-b549-87a1475ec596" providerId="AD" clId="Web-{EDCEF9A6-8AC4-C2BE-C83A-A809587A22AC}" dt="2024-04-03T11:32:38.614" v="1" actId="20577"/>
        <pc:sldMkLst>
          <pc:docMk/>
          <pc:sldMk cId="2755045368" sldId="381"/>
        </pc:sldMkLst>
        <pc:spChg chg="mod">
          <ac:chgData name="ЛЪЧЕЗАР ЙОРДАНОВ РАДУШЕВ СИТ 2к - 22621679" userId="S::s22621679@onlineedu.tu-varna.bg::2857b464-4fcf-4a6e-b549-87a1475ec596" providerId="AD" clId="Web-{EDCEF9A6-8AC4-C2BE-C83A-A809587A22AC}" dt="2024-04-03T11:32:38.614" v="1" actId="20577"/>
          <ac:spMkLst>
            <pc:docMk/>
            <pc:sldMk cId="2755045368" sldId="381"/>
            <ac:spMk id="3" creationId="{00000000-0000-0000-0000-000000000000}"/>
          </ac:spMkLst>
        </pc:spChg>
      </pc:sldChg>
      <pc:sldChg chg="modSp">
        <pc:chgData name="ЛЪЧЕЗАР ЙОРДАНОВ РАДУШЕВ СИТ 2к - 22621679" userId="S::s22621679@onlineedu.tu-varna.bg::2857b464-4fcf-4a6e-b549-87a1475ec596" providerId="AD" clId="Web-{EDCEF9A6-8AC4-C2BE-C83A-A809587A22AC}" dt="2024-04-03T11:32:37.474" v="0" actId="20577"/>
        <pc:sldMkLst>
          <pc:docMk/>
          <pc:sldMk cId="2755045368" sldId="402"/>
        </pc:sldMkLst>
        <pc:spChg chg="mod">
          <ac:chgData name="ЛЪЧЕЗАР ЙОРДАНОВ РАДУШЕВ СИТ 2к - 22621679" userId="S::s22621679@onlineedu.tu-varna.bg::2857b464-4fcf-4a6e-b549-87a1475ec596" providerId="AD" clId="Web-{EDCEF9A6-8AC4-C2BE-C83A-A809587A22AC}" dt="2024-04-03T11:32:37.474" v="0" actId="20577"/>
          <ac:spMkLst>
            <pc:docMk/>
            <pc:sldMk cId="2755045368" sldId="402"/>
            <ac:spMk id="3" creationId="{00000000-0000-0000-0000-000000000000}"/>
          </ac:spMkLst>
        </pc:spChg>
      </pc:sldChg>
      <pc:sldChg chg="modSp">
        <pc:chgData name="ЛЪЧЕЗАР ЙОРДАНОВ РАДУШЕВ СИТ 2к - 22621679" userId="S::s22621679@onlineedu.tu-varna.bg::2857b464-4fcf-4a6e-b549-87a1475ec596" providerId="AD" clId="Web-{EDCEF9A6-8AC4-C2BE-C83A-A809587A22AC}" dt="2024-04-03T11:32:46.224" v="3" actId="20577"/>
        <pc:sldMkLst>
          <pc:docMk/>
          <pc:sldMk cId="1528678289" sldId="461"/>
        </pc:sldMkLst>
        <pc:spChg chg="mod">
          <ac:chgData name="ЛЪЧЕЗАР ЙОРДАНОВ РАДУШЕВ СИТ 2к - 22621679" userId="S::s22621679@onlineedu.tu-varna.bg::2857b464-4fcf-4a6e-b549-87a1475ec596" providerId="AD" clId="Web-{EDCEF9A6-8AC4-C2BE-C83A-A809587A22AC}" dt="2024-04-03T11:32:46.224" v="3" actId="20577"/>
          <ac:spMkLst>
            <pc:docMk/>
            <pc:sldMk cId="1528678289" sldId="461"/>
            <ac:spMk id="3" creationId="{00000000-0000-0000-0000-000000000000}"/>
          </ac:spMkLst>
        </pc:spChg>
      </pc:sldChg>
      <pc:sldChg chg="modSp">
        <pc:chgData name="ЛЪЧЕЗАР ЙОРДАНОВ РАДУШЕВ СИТ 2к - 22621679" userId="S::s22621679@onlineedu.tu-varna.bg::2857b464-4fcf-4a6e-b549-87a1475ec596" providerId="AD" clId="Web-{EDCEF9A6-8AC4-C2BE-C83A-A809587A22AC}" dt="2024-04-03T11:32:43.989" v="2" actId="20577"/>
        <pc:sldMkLst>
          <pc:docMk/>
          <pc:sldMk cId="4209214008" sldId="479"/>
        </pc:sldMkLst>
        <pc:spChg chg="mod">
          <ac:chgData name="ЛЪЧЕЗАР ЙОРДАНОВ РАДУШЕВ СИТ 2к - 22621679" userId="S::s22621679@onlineedu.tu-varna.bg::2857b464-4fcf-4a6e-b549-87a1475ec596" providerId="AD" clId="Web-{EDCEF9A6-8AC4-C2BE-C83A-A809587A22AC}" dt="2024-04-03T11:32:43.989" v="2" actId="20577"/>
          <ac:spMkLst>
            <pc:docMk/>
            <pc:sldMk cId="4209214008" sldId="479"/>
            <ac:spMk id="3" creationId="{00000000-0000-0000-0000-000000000000}"/>
          </ac:spMkLst>
        </pc:spChg>
      </pc:sldChg>
    </pc:docChg>
  </pc:docChgLst>
  <pc:docChgLst>
    <pc:chgData name="АНТОН ЧАВДАРОВ АНТОНОВ СИТ 2к - 22621643" userId="S::s22621643@onlineedu.tu-varna.bg::80ece6ec-8317-4a30-a793-8ac648fcd58d" providerId="AD" clId="Web-{A2BA627A-E48F-8F26-8AC5-E83C07BA5FCE}"/>
    <pc:docChg chg="modSld">
      <pc:chgData name="АНТОН ЧАВДАРОВ АНТОНОВ СИТ 2к - 22621643" userId="S::s22621643@onlineedu.tu-varna.bg::80ece6ec-8317-4a30-a793-8ac648fcd58d" providerId="AD" clId="Web-{A2BA627A-E48F-8F26-8AC5-E83C07BA5FCE}" dt="2024-04-02T18:37:19.196" v="28" actId="20577"/>
      <pc:docMkLst>
        <pc:docMk/>
      </pc:docMkLst>
      <pc:sldChg chg="modSp">
        <pc:chgData name="АНТОН ЧАВДАРОВ АНТОНОВ СИТ 2к - 22621643" userId="S::s22621643@onlineedu.tu-varna.bg::80ece6ec-8317-4a30-a793-8ac648fcd58d" providerId="AD" clId="Web-{A2BA627A-E48F-8F26-8AC5-E83C07BA5FCE}" dt="2024-04-02T18:37:19.196" v="28" actId="20577"/>
        <pc:sldMkLst>
          <pc:docMk/>
          <pc:sldMk cId="0" sldId="447"/>
        </pc:sldMkLst>
        <pc:spChg chg="mod">
          <ac:chgData name="АНТОН ЧАВДАРОВ АНТОНОВ СИТ 2к - 22621643" userId="S::s22621643@onlineedu.tu-varna.bg::80ece6ec-8317-4a30-a793-8ac648fcd58d" providerId="AD" clId="Web-{A2BA627A-E48F-8F26-8AC5-E83C07BA5FCE}" dt="2024-04-02T18:37:19.196" v="28" actId="20577"/>
          <ac:spMkLst>
            <pc:docMk/>
            <pc:sldMk cId="0" sldId="447"/>
            <ac:spMk id="3" creationId="{00000000-0000-0000-0000-000000000000}"/>
          </ac:spMkLst>
        </pc:spChg>
      </pc:sldChg>
    </pc:docChg>
  </pc:docChgLst>
  <pc:docChgLst>
    <pc:chgData name="МИЛЕН БОГОМИЛОВ БОГДАНОВ СИТ 2к - 22621615" userId="S::s22621615@onlineedu.tu-varna.bg::932d368a-ce63-4f3e-8cd9-25702b40f174" providerId="AD" clId="Web-{1B0D8A49-E660-4BCC-92BE-262379E8EEEA}"/>
    <pc:docChg chg="modSld">
      <pc:chgData name="МИЛЕН БОГОМИЛОВ БОГДАНОВ СИТ 2к - 22621615" userId="S::s22621615@onlineedu.tu-varna.bg::932d368a-ce63-4f3e-8cd9-25702b40f174" providerId="AD" clId="Web-{1B0D8A49-E660-4BCC-92BE-262379E8EEEA}" dt="2024-03-27T14:13:52.343" v="0" actId="1076"/>
      <pc:docMkLst>
        <pc:docMk/>
      </pc:docMkLst>
      <pc:sldChg chg="modSp">
        <pc:chgData name="МИЛЕН БОГОМИЛОВ БОГДАНОВ СИТ 2к - 22621615" userId="S::s22621615@onlineedu.tu-varna.bg::932d368a-ce63-4f3e-8cd9-25702b40f174" providerId="AD" clId="Web-{1B0D8A49-E660-4BCC-92BE-262379E8EEEA}" dt="2024-03-27T14:13:52.343" v="0" actId="1076"/>
        <pc:sldMkLst>
          <pc:docMk/>
          <pc:sldMk cId="2852079258" sldId="486"/>
        </pc:sldMkLst>
        <pc:picChg chg="mod">
          <ac:chgData name="МИЛЕН БОГОМИЛОВ БОГДАНОВ СИТ 2к - 22621615" userId="S::s22621615@onlineedu.tu-varna.bg::932d368a-ce63-4f3e-8cd9-25702b40f174" providerId="AD" clId="Web-{1B0D8A49-E660-4BCC-92BE-262379E8EEEA}" dt="2024-03-27T14:13:52.343" v="0" actId="1076"/>
          <ac:picMkLst>
            <pc:docMk/>
            <pc:sldMk cId="2852079258" sldId="486"/>
            <ac:picMk id="2050" creationId="{00000000-0000-0000-0000-000000000000}"/>
          </ac:picMkLst>
        </pc:picChg>
      </pc:sldChg>
    </pc:docChg>
  </pc:docChgLst>
  <pc:docChgLst>
    <pc:chgData name="ЙОАНА ПАВЛИНОВА ЦВЕТАНОВА СИТ 2к - 22621732" userId="S::s22621732@onlineedu.tu-varna.bg::e81012f8-f727-4a2c-becf-0bec19982379" providerId="AD" clId="Web-{7D37FFCA-77EE-FE87-CAD9-F52679CADEE6}"/>
    <pc:docChg chg="modSld">
      <pc:chgData name="ЙОАНА ПАВЛИНОВА ЦВЕТАНОВА СИТ 2к - 22621732" userId="S::s22621732@onlineedu.tu-varna.bg::e81012f8-f727-4a2c-becf-0bec19982379" providerId="AD" clId="Web-{7D37FFCA-77EE-FE87-CAD9-F52679CADEE6}" dt="2024-05-08T14:33:00.281" v="0" actId="1076"/>
      <pc:docMkLst>
        <pc:docMk/>
      </pc:docMkLst>
      <pc:sldChg chg="modSp">
        <pc:chgData name="ЙОАНА ПАВЛИНОВА ЦВЕТАНОВА СИТ 2к - 22621732" userId="S::s22621732@onlineedu.tu-varna.bg::e81012f8-f727-4a2c-becf-0bec19982379" providerId="AD" clId="Web-{7D37FFCA-77EE-FE87-CAD9-F52679CADEE6}" dt="2024-05-08T14:33:00.281" v="0" actId="1076"/>
        <pc:sldMkLst>
          <pc:docMk/>
          <pc:sldMk cId="2852079258" sldId="486"/>
        </pc:sldMkLst>
        <pc:picChg chg="mod">
          <ac:chgData name="ЙОАНА ПАВЛИНОВА ЦВЕТАНОВА СИТ 2к - 22621732" userId="S::s22621732@onlineedu.tu-varna.bg::e81012f8-f727-4a2c-becf-0bec19982379" providerId="AD" clId="Web-{7D37FFCA-77EE-FE87-CAD9-F52679CADEE6}" dt="2024-05-08T14:33:00.281" v="0" actId="1076"/>
          <ac:picMkLst>
            <pc:docMk/>
            <pc:sldMk cId="2852079258" sldId="486"/>
            <ac:picMk id="2050" creationId="{00000000-0000-0000-0000-000000000000}"/>
          </ac:picMkLst>
        </pc:picChg>
      </pc:sldChg>
    </pc:docChg>
  </pc:docChgLst>
  <pc:docChgLst>
    <pc:chgData name="ЕРАЙ ШЕНОЛОВ АДЕМОВ СИТ 2к - 22621646" userId="S::s22621646@onlineedu.tu-varna.bg::1cb9291a-38ed-46c4-93c5-f117ae16dfcb" providerId="AD" clId="Web-{6AB6C28B-50EA-25B8-D889-90F42A10C900}"/>
    <pc:docChg chg="modSld">
      <pc:chgData name="ЕРАЙ ШЕНОЛОВ АДЕМОВ СИТ 2к - 22621646" userId="S::s22621646@onlineedu.tu-varna.bg::1cb9291a-38ed-46c4-93c5-f117ae16dfcb" providerId="AD" clId="Web-{6AB6C28B-50EA-25B8-D889-90F42A10C900}" dt="2024-03-27T13:00:18.439" v="0" actId="1076"/>
      <pc:docMkLst>
        <pc:docMk/>
      </pc:docMkLst>
      <pc:sldChg chg="modSp">
        <pc:chgData name="ЕРАЙ ШЕНОЛОВ АДЕМОВ СИТ 2к - 22621646" userId="S::s22621646@onlineedu.tu-varna.bg::1cb9291a-38ed-46c4-93c5-f117ae16dfcb" providerId="AD" clId="Web-{6AB6C28B-50EA-25B8-D889-90F42A10C900}" dt="2024-03-27T13:00:18.439" v="0" actId="1076"/>
        <pc:sldMkLst>
          <pc:docMk/>
          <pc:sldMk cId="2852079258" sldId="486"/>
        </pc:sldMkLst>
        <pc:picChg chg="mod">
          <ac:chgData name="ЕРАЙ ШЕНОЛОВ АДЕМОВ СИТ 2к - 22621646" userId="S::s22621646@onlineedu.tu-varna.bg::1cb9291a-38ed-46c4-93c5-f117ae16dfcb" providerId="AD" clId="Web-{6AB6C28B-50EA-25B8-D889-90F42A10C900}" dt="2024-03-27T13:00:18.439" v="0" actId="1076"/>
          <ac:picMkLst>
            <pc:docMk/>
            <pc:sldMk cId="2852079258" sldId="486"/>
            <ac:picMk id="2050" creationId="{00000000-0000-0000-0000-000000000000}"/>
          </ac:picMkLst>
        </pc:picChg>
      </pc:sldChg>
    </pc:docChg>
  </pc:docChgLst>
  <pc:docChgLst>
    <pc:chgData name="МИКИТА  ЩЕРБИНА СИТ 2к - 22621752" userId="S::s22621752@onlineedu.tu-varna.bg::0618f4d1-80e5-40a7-9116-29bd379714f9" providerId="AD" clId="Web-{893C7552-DB98-4211-5472-F462D7CC1A9B}"/>
    <pc:docChg chg="modSld">
      <pc:chgData name="МИКИТА  ЩЕРБИНА СИТ 2к - 22621752" userId="S::s22621752@onlineedu.tu-varna.bg::0618f4d1-80e5-40a7-9116-29bd379714f9" providerId="AD" clId="Web-{893C7552-DB98-4211-5472-F462D7CC1A9B}" dt="2024-03-26T21:44:28.324" v="3" actId="20577"/>
      <pc:docMkLst>
        <pc:docMk/>
      </pc:docMkLst>
      <pc:sldChg chg="modSp">
        <pc:chgData name="МИКИТА  ЩЕРБИНА СИТ 2к - 22621752" userId="S::s22621752@onlineedu.tu-varna.bg::0618f4d1-80e5-40a7-9116-29bd379714f9" providerId="AD" clId="Web-{893C7552-DB98-4211-5472-F462D7CC1A9B}" dt="2024-03-26T21:44:28.324" v="3" actId="20577"/>
        <pc:sldMkLst>
          <pc:docMk/>
          <pc:sldMk cId="3755211732" sldId="497"/>
        </pc:sldMkLst>
        <pc:spChg chg="mod">
          <ac:chgData name="МИКИТА  ЩЕРБИНА СИТ 2к - 22621752" userId="S::s22621752@onlineedu.tu-varna.bg::0618f4d1-80e5-40a7-9116-29bd379714f9" providerId="AD" clId="Web-{893C7552-DB98-4211-5472-F462D7CC1A9B}" dt="2024-03-26T21:44:28.324" v="3" actId="20577"/>
          <ac:spMkLst>
            <pc:docMk/>
            <pc:sldMk cId="3755211732" sldId="497"/>
            <ac:spMk id="3" creationId="{00000000-0000-0000-0000-000000000000}"/>
          </ac:spMkLst>
        </pc:spChg>
      </pc:sldChg>
    </pc:docChg>
  </pc:docChgLst>
  <pc:docChgLst>
    <pc:chgData name="КАЛОЯН АНДРЕЕВ АНДРЕЕВ СИТ 2к - 22621733" userId="S::s22621733@onlineedu.tu-varna.bg::d646115a-28b6-4615-8cfd-698e8ee3e972" providerId="AD" clId="Web-{50D6C743-FCA4-4E95-A1F4-718C10DEDA82}"/>
    <pc:docChg chg="modSld">
      <pc:chgData name="КАЛОЯН АНДРЕЕВ АНДРЕЕВ СИТ 2к - 22621733" userId="S::s22621733@onlineedu.tu-varna.bg::d646115a-28b6-4615-8cfd-698e8ee3e972" providerId="AD" clId="Web-{50D6C743-FCA4-4E95-A1F4-718C10DEDA82}" dt="2024-03-26T16:04:20.207" v="1" actId="1076"/>
      <pc:docMkLst>
        <pc:docMk/>
      </pc:docMkLst>
      <pc:sldChg chg="modSp">
        <pc:chgData name="КАЛОЯН АНДРЕЕВ АНДРЕЕВ СИТ 2к - 22621733" userId="S::s22621733@onlineedu.tu-varna.bg::d646115a-28b6-4615-8cfd-698e8ee3e972" providerId="AD" clId="Web-{50D6C743-FCA4-4E95-A1F4-718C10DEDA82}" dt="2024-03-26T16:04:20.207" v="1" actId="1076"/>
        <pc:sldMkLst>
          <pc:docMk/>
          <pc:sldMk cId="2852079258" sldId="486"/>
        </pc:sldMkLst>
        <pc:picChg chg="mod">
          <ac:chgData name="КАЛОЯН АНДРЕЕВ АНДРЕЕВ СИТ 2к - 22621733" userId="S::s22621733@onlineedu.tu-varna.bg::d646115a-28b6-4615-8cfd-698e8ee3e972" providerId="AD" clId="Web-{50D6C743-FCA4-4E95-A1F4-718C10DEDA82}" dt="2024-03-26T16:04:20.207" v="1" actId="1076"/>
          <ac:picMkLst>
            <pc:docMk/>
            <pc:sldMk cId="2852079258" sldId="486"/>
            <ac:picMk id="2050" creationId="{00000000-0000-0000-0000-000000000000}"/>
          </ac:picMkLst>
        </pc:picChg>
      </pc:sldChg>
    </pc:docChg>
  </pc:docChgLst>
  <pc:docChgLst>
    <pc:chgData name="ДАНИЛ  БАРАНОВ СИТ 2к - 22621738" userId="S::s22621738@onlineedu.tu-varna.bg::2211650d-1bf9-45a7-a236-524bbe178089" providerId="AD" clId="Web-{9349A5E1-A380-4045-9FC8-1AF066B81537}"/>
    <pc:docChg chg="modSld">
      <pc:chgData name="ДАНИЛ  БАРАНОВ СИТ 2к - 22621738" userId="S::s22621738@onlineedu.tu-varna.bg::2211650d-1bf9-45a7-a236-524bbe178089" providerId="AD" clId="Web-{9349A5E1-A380-4045-9FC8-1AF066B81537}" dt="2024-03-26T19:33:19.153" v="13" actId="20577"/>
      <pc:docMkLst>
        <pc:docMk/>
      </pc:docMkLst>
      <pc:sldChg chg="modSp">
        <pc:chgData name="ДАНИЛ  БАРАНОВ СИТ 2к - 22621738" userId="S::s22621738@onlineedu.tu-varna.bg::2211650d-1bf9-45a7-a236-524bbe178089" providerId="AD" clId="Web-{9349A5E1-A380-4045-9FC8-1AF066B81537}" dt="2024-03-26T19:33:19.153" v="13" actId="20577"/>
        <pc:sldMkLst>
          <pc:docMk/>
          <pc:sldMk cId="0" sldId="447"/>
        </pc:sldMkLst>
        <pc:spChg chg="mod">
          <ac:chgData name="ДАНИЛ  БАРАНОВ СИТ 2к - 22621738" userId="S::s22621738@onlineedu.tu-varna.bg::2211650d-1bf9-45a7-a236-524bbe178089" providerId="AD" clId="Web-{9349A5E1-A380-4045-9FC8-1AF066B81537}" dt="2024-03-26T19:33:19.153" v="13" actId="20577"/>
          <ac:spMkLst>
            <pc:docMk/>
            <pc:sldMk cId="0" sldId="44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2332A-55AF-4551-8E83-32AC6773F37C}" type="datetimeFigureOut">
              <a:rPr lang="bg-BG" smtClean="0"/>
              <a:pPr/>
              <a:t>9.5.2024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8BE4E-C978-4DDD-BFFE-20E7B8E0D29B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89593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9.5.2024 г.</a:t>
            </a:fld>
            <a:endParaRPr lang="bg-BG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9.5.2024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9.5.2024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9.5.2024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9.5.2024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9.5.2024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9.5.2024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9.5.2024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9.5.2024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9.5.2024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9.5.2024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CD2AA38-B623-4529-8E38-4C26B6BE11C2}" type="datetimeFigureOut">
              <a:rPr lang="bg-BG" smtClean="0"/>
              <a:pPr/>
              <a:t>9.5.2024 г.</a:t>
            </a:fld>
            <a:endParaRPr lang="bg-BG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72" y="928670"/>
            <a:ext cx="7851648" cy="5186386"/>
          </a:xfrm>
        </p:spPr>
        <p:txBody>
          <a:bodyPr rIns="0">
            <a:noAutofit/>
          </a:bodyPr>
          <a:lstStyle/>
          <a:p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хода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програмата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Безусловни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условни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преходи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Разклонени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програми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500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Цикли</a:t>
            </a:r>
            <a:r>
              <a:rPr lang="en-US" sz="5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357298"/>
            <a:ext cx="8572560" cy="5286412"/>
          </a:xfrm>
        </p:spPr>
        <p:txBody>
          <a:bodyPr vert="horz" lIns="91440" tIns="45720" rIns="91440" bIns="45720" anchor="t">
            <a:noAutofit/>
          </a:bodyPr>
          <a:lstStyle/>
          <a:p>
            <a:pPr algn="just"/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</a:t>
            </a:r>
            <a:r>
              <a:rPr lang="bg-BG" sz="2200">
                <a:latin typeface="Times New Roman" panose="02020603050405020304" pitchFamily="18" charset="0"/>
                <a:cs typeface="Times New Roman" panose="02020603050405020304" pitchFamily="18" charset="0"/>
              </a:rPr>
              <a:t>те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хода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програмата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представляват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алгоритмични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включително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такива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цикли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както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въвеждане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извеждане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данни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Машинните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изпълняват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онази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последователност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в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били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записани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Известно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обаче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този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ред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налага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нарушаван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Това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възможно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само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помощта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специално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създадените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групата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най-общо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делящи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безусловен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условен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Командите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имат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едноадресна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Командите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променят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съдържанието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флаговете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Последните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остават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непроменени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Точките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които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получават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чрез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командите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маркират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именуват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) с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помощта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етикети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2200">
              <a:latin typeface="Times New Roman" pitchFamily="18" charset="0"/>
              <a:cs typeface="Times New Roman" pitchFamily="18" charset="0"/>
            </a:endParaRPr>
          </a:p>
          <a:p>
            <a:pPr marL="0">
              <a:lnSpc>
                <a:spcPct val="125178"/>
              </a:lnSpc>
              <a:spcBef>
                <a:spcPts val="0"/>
              </a:spcBef>
            </a:pPr>
            <a:r>
              <a:rPr lang="bg-BG" sz="240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>
              <a:lnSpc>
                <a:spcPct val="114449"/>
              </a:lnSpc>
              <a:spcBef>
                <a:spcPts val="0"/>
              </a:spcBef>
            </a:pP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pPr marL="0">
              <a:lnSpc>
                <a:spcPct val="114449"/>
              </a:lnSpc>
              <a:spcBef>
                <a:spcPts val="0"/>
              </a:spcBef>
            </a:pPr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7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</a:t>
            </a:r>
            <a:r>
              <a:rPr lang="en-US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7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7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lang="en-US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7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7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хода</a:t>
            </a:r>
            <a:r>
              <a:rPr lang="en-US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7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7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</a:t>
            </a:r>
            <a:r>
              <a:rPr lang="en-US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7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7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програмата</a:t>
            </a:r>
            <a:r>
              <a:rPr lang="en-US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bg-BG" sz="3700" b="1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928802"/>
            <a:ext cx="8643998" cy="4786346"/>
          </a:xfrm>
        </p:spPr>
        <p:txBody>
          <a:bodyPr vert="horz" lIns="91440" tIns="45720" rIns="91440" bIns="45720" anchor="t">
            <a:noAutofit/>
          </a:bodyPr>
          <a:lstStyle/>
          <a:p>
            <a:pPr marL="0" algn="just">
              <a:lnSpc>
                <a:spcPct val="114449"/>
              </a:lnSpc>
              <a:spcBef>
                <a:spcPts val="0"/>
              </a:spcBef>
            </a:pP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Съществуват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няколко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безусловен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>
                <a:latin typeface="Times New Roman" panose="02020603050405020304" pitchFamily="18" charset="0"/>
                <a:cs typeface="Times New Roman" panose="02020603050405020304" pitchFamily="18" charset="0"/>
              </a:rPr>
              <a:t>за х86 процесор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означават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същи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начин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bg-B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>
              <a:lnSpc>
                <a:spcPct val="114449"/>
              </a:lnSpc>
              <a:spcBef>
                <a:spcPts val="0"/>
              </a:spcBef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JMP   &lt;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&gt;      ; jump –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скок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bg-B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>
              <a:lnSpc>
                <a:spcPct val="114449"/>
              </a:lnSpc>
              <a:spcBef>
                <a:spcPts val="0"/>
              </a:spcBef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Операндът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командата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безусловен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символичен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той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представлява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етикет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начин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указва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представлява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адреса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този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адрес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намира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следващата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действие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В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микропрограмен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смисъл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командата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зарежда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програмния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брояч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ново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нов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адрес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643998" cy="5328592"/>
          </a:xfrm>
        </p:spPr>
        <p:txBody>
          <a:bodyPr>
            <a:noAutofit/>
          </a:bodyPr>
          <a:lstStyle/>
          <a:p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JMP   Label       </a:t>
            </a:r>
          </a:p>
          <a:p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····  ····   </a:t>
            </a:r>
          </a:p>
          <a:p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    Label:   MOV   AX, 0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Асемблерът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поема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определяне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съответстващия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етикета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адрес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осигури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преместваемостта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програмите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етикетът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същността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отместване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още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изразява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адресируеми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единици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това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знаково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интерпретира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адрес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относителен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спрямо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нулева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ниво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адресът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изчислява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сума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програмния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брояч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отместването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съдържащо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сума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записва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ново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програмния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брояч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156460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50006"/>
            <a:ext cx="8856984" cy="5219354"/>
          </a:xfrm>
        </p:spPr>
        <p:txBody>
          <a:bodyPr>
            <a:noAutofit/>
          </a:bodyPr>
          <a:lstStyle/>
          <a:p>
            <a:pPr algn="just"/>
            <a:r>
              <a:rPr lang="bg-BG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 за </a:t>
            </a:r>
            <a:r>
              <a:rPr lang="en-US" sz="2400" b="1"/>
              <a:t> </a:t>
            </a:r>
            <a:r>
              <a:rPr lang="bg-BG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сравнения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Всеки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път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когато е необходимо 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стойностите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признаците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(на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флаговете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), които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фиксират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при всяка операция в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флаговете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актуализират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команда за сравнение. 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 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единствената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а само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признаците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CMP   op1, op2      ;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– сравнение.  </a:t>
            </a:r>
          </a:p>
          <a:p>
            <a:pPr algn="just"/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Действието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 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изваждане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:  (op1-op2).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Op1</a:t>
            </a: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може да бъде регистър или място в паметта, 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Op2</a:t>
            </a: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 – регистър, място в паметта или непосредствен операнд.</a:t>
            </a:r>
            <a:endParaRPr lang="ru-RU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Обикновено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се използва при условно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изважда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един операнд от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другия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за да сравни дали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операндите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са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равни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или не. Това не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нарушава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дестинацията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операндите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източник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Използва се заедно с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за условен скок за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вземане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решение. 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775089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643998" cy="5328592"/>
          </a:xfrm>
        </p:spPr>
        <p:txBody>
          <a:bodyPr vert="horz" lIns="91440" tIns="45720" rIns="91440" bIns="45720" anchor="t">
            <a:noAutofit/>
          </a:bodyPr>
          <a:lstStyle/>
          <a:p>
            <a:r>
              <a:rPr lang="bg-BG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 за условен преход</a:t>
            </a:r>
          </a:p>
          <a:p>
            <a:pPr marL="0">
              <a:lnSpc>
                <a:spcPct val="98099"/>
              </a:lnSpc>
              <a:spcBef>
                <a:spcPts val="0"/>
              </a:spcBef>
            </a:pP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 за условен преход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записва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следва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98099"/>
              </a:lnSpc>
              <a:spcBef>
                <a:spcPts val="0"/>
              </a:spcBef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Jxx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 &lt;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етикет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където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буквите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хх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изразява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проверяваното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98099"/>
              </a:lnSpc>
              <a:spcBef>
                <a:spcPts val="0"/>
              </a:spcBef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Всички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условен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могат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групират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в 3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98099"/>
              </a:lnSpc>
              <a:spcBef>
                <a:spcPts val="0"/>
              </a:spcBef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1.  В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първата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командите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които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употребяват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98099"/>
              </a:lnSpc>
              <a:spcBef>
                <a:spcPts val="0"/>
              </a:spcBef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 – equal (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равно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98099"/>
              </a:lnSpc>
              <a:spcBef>
                <a:spcPts val="0"/>
              </a:spcBef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N – not (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отрицание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98099"/>
              </a:lnSpc>
              <a:spcBef>
                <a:spcPts val="0"/>
              </a:spcBef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G – greater (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по-голямо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знак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98099"/>
              </a:lnSpc>
              <a:spcBef>
                <a:spcPts val="0"/>
              </a:spcBef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L – less (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по-малко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знак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98099"/>
              </a:lnSpc>
              <a:spcBef>
                <a:spcPts val="0"/>
              </a:spcBef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 – above (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по-нагоре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по-голямо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знак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98099"/>
              </a:lnSpc>
              <a:spcBef>
                <a:spcPts val="0"/>
              </a:spcBef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B – below (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по-надолу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по-малко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знак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98099"/>
              </a:lnSpc>
              <a:spcBef>
                <a:spcPts val="0"/>
              </a:spcBef>
            </a:pP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вижда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по-голямо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” и “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по-малко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въведени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означения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Това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свързано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това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знак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знак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тези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следва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анализират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признаци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>
              <a:lnSpc>
                <a:spcPct val="98099"/>
              </a:lnSpc>
              <a:spcBef>
                <a:spcPts val="0"/>
              </a:spcBef>
            </a:pP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4209214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643998" cy="5328592"/>
          </a:xfrm>
        </p:spPr>
        <p:txBody>
          <a:bodyPr vert="horz" lIns="91440" tIns="45720" rIns="91440" bIns="45720" anchor="t">
            <a:noAutofit/>
          </a:bodyPr>
          <a:lstStyle/>
          <a:p>
            <a:pPr marL="0">
              <a:lnSpc>
                <a:spcPct val="98099"/>
              </a:lnSpc>
              <a:spcBef>
                <a:spcPts val="0"/>
              </a:spcBef>
            </a:pP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ct val="98099"/>
              </a:lnSpc>
              <a:spcBef>
                <a:spcPts val="0"/>
              </a:spcBef>
            </a:pP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условен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да има в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няколко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наименования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синоними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). Това се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обяснява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факта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че за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ситуация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могат да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бъдат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зададени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въпроси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>
              <a:lnSpc>
                <a:spcPct val="98099"/>
              </a:lnSpc>
              <a:spcBef>
                <a:spcPts val="0"/>
              </a:spcBef>
            </a:pP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попита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така: По-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малко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 ?     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по-малко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отговорът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 “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”.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същото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попита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По-голямо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равно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е?      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по-малко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отговорът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 “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”.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защо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условният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по-малко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знак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означи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чиято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мнемоника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конструира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: JL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JNGE.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Коя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мнемоника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двата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синонима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използва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програмистът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>
              <a:lnSpc>
                <a:spcPct val="98099"/>
              </a:lnSpc>
              <a:spcBef>
                <a:spcPts val="0"/>
              </a:spcBef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Всички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са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представени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следващите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таблици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1528678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412776"/>
            <a:ext cx="8928992" cy="5328592"/>
          </a:xfrm>
        </p:spPr>
        <p:txBody>
          <a:bodyPr>
            <a:noAutofit/>
          </a:bodyPr>
          <a:lstStyle/>
          <a:p>
            <a:pPr marL="0">
              <a:lnSpc>
                <a:spcPts val="2400"/>
              </a:lnSpc>
              <a:spcBef>
                <a:spcPts val="0"/>
              </a:spcBef>
            </a:pP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без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знак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JB/JNAE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Jump Below or Jump Not Above/Equal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OP1˂OP2    CF =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JBE/JNA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Jump Below/Equal or Jump Not Above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OP1˂=OP2   ZF=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1 или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CF =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endParaRPr lang="bg-BG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JA/JNBE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Jump Above or Jump Not Below/Equal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OP1 ˃OP2     CF =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0 или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ZF =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marL="0">
              <a:lnSpc>
                <a:spcPts val="2400"/>
              </a:lnSpc>
              <a:spcBef>
                <a:spcPts val="0"/>
              </a:spcBef>
            </a:pP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JAE/JNB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Jump Above/Equal or Jump Not Below   OP1=˃OP2    CF =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468773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856984" cy="5328592"/>
          </a:xfrm>
        </p:spPr>
        <p:txBody>
          <a:bodyPr>
            <a:noAutofit/>
          </a:bodyPr>
          <a:lstStyle/>
          <a:p>
            <a:pPr marL="0">
              <a:lnSpc>
                <a:spcPts val="2400"/>
              </a:lnSpc>
              <a:spcBef>
                <a:spcPts val="0"/>
              </a:spcBef>
            </a:pP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числа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със </a:t>
            </a:r>
            <a:r>
              <a:rPr lang="en-US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знак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JL / JNGE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Jump Less or Jump Not Greater/Equal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Op1&lt; Op2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SF&lt;&gt;OF </a:t>
            </a:r>
          </a:p>
          <a:p>
            <a:pPr marL="0">
              <a:lnSpc>
                <a:spcPts val="2400"/>
              </a:lnSpc>
              <a:spcBef>
                <a:spcPts val="0"/>
              </a:spcBef>
            </a:pP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JLE / JNG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Jump Less/Equal or Jump Not Greater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Op1&lt;= Op2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SF&lt;&gt;OF 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или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ZF=1 </a:t>
            </a:r>
          </a:p>
          <a:p>
            <a:pPr marL="0">
              <a:lnSpc>
                <a:spcPts val="2400"/>
              </a:lnSpc>
              <a:spcBef>
                <a:spcPts val="0"/>
              </a:spcBef>
            </a:pP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JG / JNLE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Jump Greater or Jump Not Less/Equal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Op1 &gt; Op2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SF&lt;&gt;OF 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или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ZF=0 </a:t>
            </a:r>
          </a:p>
          <a:p>
            <a:pPr marL="0">
              <a:lnSpc>
                <a:spcPts val="2400"/>
              </a:lnSpc>
              <a:spcBef>
                <a:spcPts val="0"/>
              </a:spcBef>
            </a:pP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JGE / JNL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Jump Greater/Equal or Jump Not Less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Op1 &gt;= Op2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SF=OF </a:t>
            </a:r>
          </a:p>
          <a:p>
            <a:pPr marL="0">
              <a:lnSpc>
                <a:spcPts val="2400"/>
              </a:lnSpc>
              <a:spcBef>
                <a:spcPts val="0"/>
              </a:spcBef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bg-BG" sz="2000">
                <a:latin typeface="Times New Roman" panose="02020603050405020304" pitchFamily="18" charset="0"/>
                <a:cs typeface="Times New Roman" panose="02020603050405020304" pitchFamily="18" charset="0"/>
              </a:rPr>
              <a:t>където означението &lt;&gt; се чете “са различни”.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912039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856984" cy="1008112"/>
          </a:xfrm>
        </p:spPr>
        <p:txBody>
          <a:bodyPr>
            <a:noAutofit/>
          </a:bodyPr>
          <a:lstStyle/>
          <a:p>
            <a:r>
              <a:rPr lang="bg-BG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 за </a:t>
            </a:r>
            <a:r>
              <a:rPr lang="en-US" sz="2400" b="1"/>
              <a:t> </a:t>
            </a:r>
            <a:r>
              <a:rPr lang="bg-BG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сравнения</a:t>
            </a:r>
            <a:r>
              <a:rPr lang="bg-BG" sz="2400" b="1"/>
              <a:t> </a:t>
            </a:r>
            <a:r>
              <a:rPr lang="bg-BG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и за условен преход</a:t>
            </a:r>
          </a:p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За произволни числа: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lnSpc>
                <a:spcPts val="2400"/>
              </a:lnSpc>
              <a:spcBef>
                <a:spcPts val="0"/>
              </a:spcBef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  <p:sp>
        <p:nvSpPr>
          <p:cNvPr id="8" name="Правоъгълник 7"/>
          <p:cNvSpPr/>
          <p:nvPr/>
        </p:nvSpPr>
        <p:spPr>
          <a:xfrm>
            <a:off x="287016" y="2073397"/>
            <a:ext cx="88569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JE/JZ	       Jump Equal or Jump Zero                 Op1 = Op2       ZF=1 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JNE/JNZ     Jump not Equal or Jump Not Zero    Op1 &lt;&gt; Op2     ZF=0  </a:t>
            </a:r>
          </a:p>
        </p:txBody>
      </p:sp>
      <p:sp>
        <p:nvSpPr>
          <p:cNvPr id="9" name="Правоъгълник 8"/>
          <p:cNvSpPr/>
          <p:nvPr/>
        </p:nvSpPr>
        <p:spPr>
          <a:xfrm>
            <a:off x="287016" y="2903294"/>
            <a:ext cx="87494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</a:t>
            </a:r>
            <a:r>
              <a:rPr lang="ru-RU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Дадени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са </a:t>
            </a:r>
            <a:r>
              <a:rPr lang="ru-RU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променливите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X, Y и Z с формат дума. </a:t>
            </a:r>
            <a:r>
              <a:rPr lang="ru-RU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Нека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в Z се </a:t>
            </a:r>
            <a:r>
              <a:rPr lang="ru-RU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запише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по-голямото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числата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X и Y.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Решението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задачата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е различно за числа </a:t>
            </a:r>
            <a:r>
              <a:rPr lang="ru-RU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знак и за числа без знак: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Картина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67073" y="4221088"/>
            <a:ext cx="648652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400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856984" cy="5256584"/>
          </a:xfrm>
        </p:spPr>
        <p:txBody>
          <a:bodyPr>
            <a:noAutofit/>
          </a:bodyPr>
          <a:lstStyle/>
          <a:p>
            <a:pPr algn="just"/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2.  Във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втората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за условен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влизат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онези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които се поставят след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за сравнение, и които използват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или друга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определен признак.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Мнемоничният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код на тези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изгражда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буквата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J, след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записва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буквата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проверявания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флаг или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нейното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отрицание, в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от това, по коя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JXCZ		Jump if CX is Zero		       none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JC		Jump If Carry			       CF=1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JNC		Jump If No Carry			       CF=0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JO		Jump If Overflow			       OF=1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JNO		Jump If No Overflow		       OF=0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JP/JPE	Jump Parity or Jump Parity Even	       PF=1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JNP/JPO	Jump No Parity or Jump Parity Odd	       PF=0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JS		Jump Sign (negative value)	       SF=1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JNS		Jump No Sign (positive value)	       SF=0</a:t>
            </a: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107645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700808"/>
            <a:ext cx="8856984" cy="4968552"/>
          </a:xfrm>
        </p:spPr>
        <p:txBody>
          <a:bodyPr>
            <a:noAutofit/>
          </a:bodyPr>
          <a:lstStyle/>
          <a:p>
            <a:pPr algn="just"/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3.  В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третата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последна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влиза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само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команда за условен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проверяваща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флагове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съдържанието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брояч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СХ, т.е.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условието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(СХ)=0?. </a:t>
            </a:r>
            <a:endParaRPr 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g-BG" sz="23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има вида: </a:t>
            </a:r>
          </a:p>
          <a:p>
            <a:pPr algn="just"/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JCXZ    &lt;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етикет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&gt;  </a:t>
            </a:r>
          </a:p>
          <a:p>
            <a:pPr algn="just"/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Действието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командата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следното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/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CX=0  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&lt;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етикет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endParaRPr 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1308736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700808"/>
            <a:ext cx="8856984" cy="4392488"/>
          </a:xfrm>
        </p:spPr>
        <p:txBody>
          <a:bodyPr>
            <a:noAutofit/>
          </a:bodyPr>
          <a:lstStyle/>
          <a:p>
            <a:pPr marL="0" algn="just">
              <a:spcBef>
                <a:spcPts val="0"/>
              </a:spcBef>
            </a:pP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 за сравнения </a:t>
            </a:r>
          </a:p>
          <a:p>
            <a:pPr marL="0" algn="just">
              <a:spcBef>
                <a:spcPts val="0"/>
              </a:spcBef>
            </a:pP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В набора от инструкции на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ARM има 4 инструкции за сравнение, които използват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същия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формат като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аритметичните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инструкции. Те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извършват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аритметична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операция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върху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два операнда,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единият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от които трябва да е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другият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всяка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изчислена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по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формулите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за Operand2.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Инструкциите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записват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действието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, но използват този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, за да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актуализират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флаговете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състоянието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Асемблерът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винаги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задава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флаг S за тези инструкции,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дори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ако не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посочите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 това в </a:t>
            </a:r>
            <a:r>
              <a:rPr lang="ru-RU" sz="23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мнемониката</a:t>
            </a:r>
            <a:r>
              <a:rPr lang="ru-RU" sz="23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bg-BG" sz="4400" b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3889447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62088"/>
            <a:ext cx="8856984" cy="5395912"/>
          </a:xfrm>
        </p:spPr>
        <p:txBody>
          <a:bodyPr>
            <a:noAutofit/>
          </a:bodyPr>
          <a:lstStyle/>
          <a:p>
            <a:pPr marL="0" algn="just">
              <a:spcBef>
                <a:spcPts val="0"/>
              </a:spcBef>
            </a:pP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</a:t>
            </a: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сравнява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две числа: </a:t>
            </a:r>
          </a:p>
          <a:p>
            <a:pPr marL="0" algn="just">
              <a:spcBef>
                <a:spcPts val="0"/>
              </a:spcBef>
            </a:pP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CMP{</a:t>
            </a:r>
            <a:r>
              <a:rPr lang="ru-RU" sz="2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</a:t>
            </a: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ru-RU" sz="2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, Operand2 </a:t>
            </a:r>
          </a:p>
          <a:p>
            <a:pPr marL="0" algn="just">
              <a:spcBef>
                <a:spcPts val="0"/>
              </a:spcBef>
            </a:pP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извършва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изваждане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Operand2 от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Това действие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същото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като при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SUBS, само че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резултатът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не се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като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съответно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се установят всички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флагове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състоянието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algn="just">
              <a:spcBef>
                <a:spcPts val="0"/>
              </a:spcBef>
            </a:pPr>
            <a:r>
              <a:rPr lang="ru-RU" sz="2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Установява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се в „1“, ако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двете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числа са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равни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иначе се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нулира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just">
              <a:spcBef>
                <a:spcPts val="0"/>
              </a:spcBef>
            </a:pPr>
            <a:r>
              <a:rPr lang="ru-RU" sz="2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Установява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се в „1“, ако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вторият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операнд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по-голям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първия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и се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нулира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ако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по-малък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algn="just">
              <a:spcBef>
                <a:spcPts val="0"/>
              </a:spcBef>
            </a:pPr>
            <a:r>
              <a:rPr lang="ru-RU" sz="2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Carry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Установява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се в „1“, ако при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изваждането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има заем.</a:t>
            </a:r>
          </a:p>
          <a:p>
            <a:pPr marL="0" algn="just">
              <a:spcBef>
                <a:spcPts val="0"/>
              </a:spcBef>
            </a:pP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Установява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се в „1“, ако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имало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знаково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препълване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just">
              <a:spcBef>
                <a:spcPts val="0"/>
              </a:spcBef>
            </a:pP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Установяването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флаговете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позволява при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следващите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използва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пълният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набор от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кодове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състоянието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bg-BG" sz="4400" b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898913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772816"/>
            <a:ext cx="8568952" cy="5085184"/>
          </a:xfrm>
        </p:spPr>
        <p:txBody>
          <a:bodyPr>
            <a:noAutofit/>
          </a:bodyPr>
          <a:lstStyle/>
          <a:p>
            <a:pPr marL="0" algn="just">
              <a:spcBef>
                <a:spcPts val="0"/>
              </a:spcBef>
            </a:pP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</a:t>
            </a: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CMN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сравнява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число с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отрицанието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algn="just">
              <a:spcBef>
                <a:spcPts val="0"/>
              </a:spcBef>
            </a:pP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ru-RU" sz="2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</a:t>
            </a: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ru-RU" sz="2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, Operand2</a:t>
            </a:r>
          </a:p>
          <a:p>
            <a:pPr marL="0" algn="just">
              <a:spcBef>
                <a:spcPts val="0"/>
              </a:spcBef>
            </a:pP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CMN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добавя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Operand2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Това действие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същото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като при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ADDS, само че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резултатът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не се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 се използва за сравнение с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отрицателни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константи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чиято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абсолютна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представи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като 8-битово число, подложено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дясна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ротация с четен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разреди, например с −1.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bg-BG" sz="4400" b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3125760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860" y="1483232"/>
            <a:ext cx="8568952" cy="5085184"/>
          </a:xfrm>
        </p:spPr>
        <p:txBody>
          <a:bodyPr>
            <a:noAutofit/>
          </a:bodyPr>
          <a:lstStyle/>
          <a:p>
            <a:pPr marL="0" algn="just">
              <a:spcBef>
                <a:spcPts val="0"/>
              </a:spcBef>
            </a:pP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</a:t>
            </a:r>
            <a:r>
              <a:rPr lang="ru-RU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TEQ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еквивалентност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проверява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за =: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0"/>
              </a:spcBef>
            </a:pPr>
            <a:r>
              <a:rPr lang="ru-RU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 TEQ{</a:t>
            </a:r>
            <a:r>
              <a:rPr lang="ru-RU" sz="21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</a:t>
            </a:r>
            <a:r>
              <a:rPr lang="ru-RU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ru-RU" sz="21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ru-RU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, Operand2 </a:t>
            </a:r>
            <a:endParaRPr lang="en-US" sz="2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0"/>
              </a:spcBef>
            </a:pP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TEQ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изпълнява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битово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операцията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„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изключващо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ИЛИ“ (сума по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модул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2)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върху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Operand2.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Действието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TEQ 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същото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като при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EORS, само че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резултатът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не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записва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Можете да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използвайте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TEQ, за да проверите дали две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са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равни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без да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засягате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флагове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V или C (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CMP). При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вдига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флаг Z, ако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двете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са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равни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така че след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използват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кодовете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състояние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EQ (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) и NE (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използва и за проверка дали две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един 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знак. Флаг N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вдига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ако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двете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един 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знак 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използва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PL (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Plus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). Ако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двете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знаци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флагът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нулира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използва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кодът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MI (минус).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bg-BG" sz="4400" b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203865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860" y="1483232"/>
            <a:ext cx="8568952" cy="5085184"/>
          </a:xfrm>
        </p:spPr>
        <p:txBody>
          <a:bodyPr>
            <a:noAutofit/>
          </a:bodyPr>
          <a:lstStyle/>
          <a:p>
            <a:pPr marL="0" algn="just">
              <a:spcBef>
                <a:spcPts val="0"/>
              </a:spcBef>
            </a:pP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TST (</a:t>
            </a:r>
            <a:r>
              <a:rPr lang="ru-RU" sz="21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ru-RU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0"/>
              </a:spcBef>
            </a:pPr>
            <a:r>
              <a:rPr lang="ru-RU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TST{</a:t>
            </a:r>
            <a:r>
              <a:rPr lang="ru-RU" sz="21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</a:t>
            </a:r>
            <a:r>
              <a:rPr lang="ru-RU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ru-RU" sz="21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ru-RU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, Operand2 </a:t>
            </a:r>
            <a:endParaRPr lang="en-US" sz="2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0"/>
              </a:spcBef>
            </a:pP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TST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изпълнява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побитова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операция „И“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върху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Operand2.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Действието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TST 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същото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като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действието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инструкция ANDS, само че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резултатът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не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записва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При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изпълняването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само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актуализират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флаговете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състоянието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но той не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записва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един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TST се използва за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откриване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дали даден бит в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установен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в „1“. Флаг Z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вдига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ако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битът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нулиран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използва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кодът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EQ (равен). Ако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битът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 „1“, флаг Z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нулира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използва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кодът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състоянието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NE (не е равен). TST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използва </a:t>
            </a: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а проверка и на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повече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битове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, но за да се установи флаг Z, е необходимо всички те да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бъдат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„0“. Ако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някой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проверяваните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битове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 е „1“, флаг Z се </a:t>
            </a:r>
            <a:r>
              <a:rPr lang="ru-RU" sz="21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нулира</a:t>
            </a:r>
            <a:r>
              <a:rPr lang="ru-RU" sz="2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bg-BG" sz="4400" b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061335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62088"/>
            <a:ext cx="8856984" cy="5395912"/>
          </a:xfrm>
        </p:spPr>
        <p:txBody>
          <a:bodyPr>
            <a:noAutofit/>
          </a:bodyPr>
          <a:lstStyle/>
          <a:p>
            <a:pPr marL="0" algn="just">
              <a:spcBef>
                <a:spcPts val="0"/>
              </a:spcBef>
            </a:pP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Командите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за 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разклонение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следния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синтаксис:   </a:t>
            </a:r>
          </a:p>
          <a:p>
            <a:pPr marL="0" algn="just">
              <a:spcBef>
                <a:spcPts val="0"/>
              </a:spcBef>
            </a:pP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B {</a:t>
            </a:r>
            <a:r>
              <a:rPr lang="ru-RU" sz="2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</a:t>
            </a: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} &lt; </a:t>
            </a:r>
            <a:r>
              <a:rPr lang="ru-RU" sz="2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0" algn="just">
              <a:spcBef>
                <a:spcPts val="0"/>
              </a:spcBef>
            </a:pP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} 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двубуквен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мнемоничен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код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Асемблерът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подразбира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AL (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), ако не е указано;</a:t>
            </a:r>
          </a:p>
          <a:p>
            <a:pPr marL="0" algn="just">
              <a:spcBef>
                <a:spcPts val="0"/>
              </a:spcBef>
            </a:pP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&gt;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израз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изчислява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определяне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адреса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местоназначението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just">
              <a:spcBef>
                <a:spcPts val="0"/>
              </a:spcBef>
            </a:pP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Асемблерът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изчислява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отместването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като се има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предвид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че PC е с 8 адреса пред адреса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текущата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инструкция. </a:t>
            </a:r>
          </a:p>
          <a:p>
            <a:pPr marL="0" algn="just">
              <a:spcBef>
                <a:spcPts val="0"/>
              </a:spcBef>
            </a:pPr>
            <a:r>
              <a:rPr lang="ru-RU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е най-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простият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200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При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среща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 инструкция B, ARM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процесорът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незабавно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премине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дадения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адрес и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възобнови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от там.</a:t>
            </a:r>
          </a:p>
          <a:p>
            <a:pPr marL="0" algn="just">
              <a:spcBef>
                <a:spcPts val="0"/>
              </a:spcBef>
            </a:pP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Имайте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предвид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че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действителната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съхранена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отместване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спрямо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текущата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R15; а не абсолютен адрес.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bg-BG" sz="4400" b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786129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62088"/>
            <a:ext cx="8856984" cy="5395912"/>
          </a:xfrm>
        </p:spPr>
        <p:txBody>
          <a:bodyPr>
            <a:noAutofit/>
          </a:bodyPr>
          <a:lstStyle/>
          <a:p>
            <a:pPr marL="0" algn="just">
              <a:spcBef>
                <a:spcPts val="0"/>
              </a:spcBef>
            </a:pP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BL</a:t>
            </a:r>
            <a:r>
              <a:rPr lang="bg-BG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Branch with Link </a:t>
            </a:r>
            <a:r>
              <a:rPr lang="bg-BG" sz="2200">
                <a:latin typeface="Times New Roman" panose="02020603050405020304" pitchFamily="18" charset="0"/>
                <a:cs typeface="Times New Roman" panose="02020603050405020304" pitchFamily="18" charset="0"/>
              </a:rPr>
              <a:t>е вариант на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Branch </a:t>
            </a:r>
            <a:r>
              <a:rPr lang="bg-BG" sz="22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инструкцията, при който регистър 14 се зарежда със съдържанието на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R15 </a:t>
            </a:r>
            <a:r>
              <a:rPr lang="bg-BG" sz="2200">
                <a:latin typeface="Times New Roman" panose="02020603050405020304" pitchFamily="18" charset="0"/>
                <a:cs typeface="Times New Roman" panose="02020603050405020304" pitchFamily="18" charset="0"/>
              </a:rPr>
              <a:t>точно преди прехода. Можете да </a:t>
            </a:r>
            <a:r>
              <a:rPr lang="bg-BG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презаредите</a:t>
            </a:r>
            <a:r>
              <a:rPr lang="bg-BG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R14 </a:t>
            </a:r>
            <a:r>
              <a:rPr lang="bg-BG" sz="220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R15, </a:t>
            </a:r>
            <a:r>
              <a:rPr lang="bg-BG" sz="2200">
                <a:latin typeface="Times New Roman" panose="02020603050405020304" pitchFamily="18" charset="0"/>
                <a:cs typeface="Times New Roman" panose="02020603050405020304" pitchFamily="18" charset="0"/>
              </a:rPr>
              <a:t>за да се върнете към инструкцията след прехода - примитивна, но мощна реализация на подпрограма.</a:t>
            </a:r>
          </a:p>
          <a:p>
            <a:pPr marL="0" algn="just">
              <a:spcBef>
                <a:spcPts val="0"/>
              </a:spcBef>
            </a:pP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BL{</a:t>
            </a:r>
            <a:r>
              <a:rPr lang="en-US" sz="2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</a:t>
            </a: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} label</a:t>
            </a:r>
            <a:endParaRPr lang="bg-BG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0"/>
              </a:spcBef>
            </a:pP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ниво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машина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инструкциите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B и BL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диапазон от ±32Mb от адреса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текущата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инструкция. Можете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обаче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използвате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тези инструкции,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дори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ако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етикетът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извън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обхвата.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Често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не знаете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къде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поставен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етикетът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от линкера. Когато е необходимо, ARM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линкерът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добавя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код, за да позволи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по-дълги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разклонения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0"/>
              </a:spcBef>
            </a:pPr>
            <a:endParaRPr lang="bg-BG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     </a:t>
            </a:r>
            <a:r>
              <a:rPr lang="bg-BG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loopA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BLE     ng+8</a:t>
            </a:r>
          </a:p>
          <a:p>
            <a:pPr marL="0" algn="just">
              <a:spcBef>
                <a:spcPts val="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BL     </a:t>
            </a:r>
            <a:r>
              <a:rPr lang="bg-BG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subC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>
              <a:spcBef>
                <a:spcPts val="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BLLT   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rtX</a:t>
            </a:r>
            <a:endParaRPr lang="bg-BG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bg-BG" sz="4400" b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1576344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700808"/>
            <a:ext cx="8856984" cy="4896544"/>
          </a:xfrm>
        </p:spPr>
        <p:txBody>
          <a:bodyPr>
            <a:noAutofit/>
          </a:bodyPr>
          <a:lstStyle/>
          <a:p>
            <a:pPr marL="0" algn="just">
              <a:spcBef>
                <a:spcPts val="0"/>
              </a:spcBef>
            </a:pPr>
            <a:r>
              <a:rPr lang="bg-BG" sz="22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Branch</a:t>
            </a:r>
            <a:r>
              <a:rPr lang="bg-BG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може да бъде и:</a:t>
            </a:r>
          </a:p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bg-BG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Branch and exchange instruction set.</a:t>
            </a:r>
            <a:endParaRPr lang="bg-BG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BX{</a:t>
            </a:r>
            <a:r>
              <a:rPr lang="en-US" sz="2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</a:t>
            </a: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} Rm</a:t>
            </a:r>
            <a:endParaRPr lang="bg-BG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Rm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е ARM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съдържащ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адреса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Бит 0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Rm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не се използва като част от адреса.</a:t>
            </a:r>
          </a:p>
          <a:p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Ако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установен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бит 0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Rm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флага T в CPSR и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кодът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дестинацията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интерпретира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като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Thumb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код.</a:t>
            </a:r>
          </a:p>
          <a:p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Ако бит 0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Rm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нула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бит 1 не трябва да се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BX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предизвиква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разклоняване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адреса,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съхраняван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Rm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и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променя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набора от инструкции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Thumb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ако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зададен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бит 0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Rm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BX R7 </a:t>
            </a:r>
            <a:endParaRPr lang="bg-BG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bg-BG" sz="4400" b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3000755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50006"/>
            <a:ext cx="8856984" cy="5407994"/>
          </a:xfrm>
        </p:spPr>
        <p:txBody>
          <a:bodyPr>
            <a:noAutofit/>
          </a:bodyPr>
          <a:lstStyle/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BLX</a:t>
            </a:r>
            <a:r>
              <a:rPr lang="bg-BG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Branch with Link and exchange instruction set.</a:t>
            </a:r>
            <a:endParaRPr lang="bg-BG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 има две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алтернативни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форми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безусловен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връзка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адрес,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свързан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програмата</a:t>
            </a:r>
            <a:endParaRPr lang="ru-RU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- условен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връзка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абсолютен адрес,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съхраняван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BLX label</a:t>
            </a:r>
            <a:endParaRPr lang="bg-BG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BLX{</a:t>
            </a:r>
            <a:r>
              <a:rPr lang="en-US" sz="2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</a:t>
            </a: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} Rm</a:t>
            </a:r>
          </a:p>
          <a:p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Rm е ARM регистър, съдържащ адреса към branchto.</a:t>
            </a:r>
          </a:p>
          <a:p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Бит 0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Rm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не се използва като част от адреса.</a:t>
            </a:r>
          </a:p>
          <a:p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Ако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установен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бит 0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Rm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флага T в CPSR и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кодът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местоназначението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интерпретира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като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Thumb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код.</a:t>
            </a:r>
          </a:p>
          <a:p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Ако бит 0 на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Rm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нула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бит 1 не трябва да се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задава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е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 относителен </a:t>
            </a:r>
            <a:r>
              <a:rPr lang="ru-RU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израз</a:t>
            </a:r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bg-BG" sz="4400" b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1750944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2320126"/>
            <a:ext cx="8856984" cy="4392488"/>
          </a:xfrm>
        </p:spPr>
        <p:txBody>
          <a:bodyPr>
            <a:noAutofit/>
          </a:bodyPr>
          <a:lstStyle/>
          <a:p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(for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)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EQ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Z==1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NE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Z==0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GT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Signed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(Z==0)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(N==V)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LT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Signed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N!=V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GE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Signed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N==V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LE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Signed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(Z==1)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(N!=V)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CS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HS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Carry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)	C==1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CC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LO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Carry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)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C==0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MI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Minus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)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N==1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PL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Plus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)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N==0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AL	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executed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NV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Never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executed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VS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Signed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V==1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VC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signed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V==0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HI	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(C==1)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(Z==0)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LS	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(C==0)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bg-BG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(Z==0)</a:t>
            </a:r>
            <a:endParaRPr 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bg-BG" sz="4400" b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  <p:sp>
        <p:nvSpPr>
          <p:cNvPr id="2" name="Правоъгълник 1"/>
          <p:cNvSpPr/>
          <p:nvPr/>
        </p:nvSpPr>
        <p:spPr>
          <a:xfrm>
            <a:off x="395536" y="1532018"/>
            <a:ext cx="85689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bg-BG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- у</a:t>
            </a:r>
            <a:r>
              <a:rPr lang="ru-RU" sz="2000" err="1"/>
              <a:t>словието</a:t>
            </a:r>
            <a:r>
              <a:rPr lang="ru-RU" sz="2000"/>
              <a:t> за </a:t>
            </a:r>
            <a:r>
              <a:rPr lang="ru-RU" sz="2000" err="1"/>
              <a:t>изпълнение</a:t>
            </a:r>
            <a:r>
              <a:rPr lang="ru-RU" sz="2000"/>
              <a:t> на </a:t>
            </a:r>
            <a:r>
              <a:rPr lang="ru-RU" sz="2000" err="1"/>
              <a:t>командата</a:t>
            </a:r>
            <a:r>
              <a:rPr lang="ru-RU" sz="2000"/>
              <a:t> </a:t>
            </a:r>
            <a:r>
              <a:rPr lang="ru-RU" sz="2000" err="1"/>
              <a:t>зависи</a:t>
            </a:r>
            <a:r>
              <a:rPr lang="ru-RU" sz="2000"/>
              <a:t> от </a:t>
            </a:r>
            <a:r>
              <a:rPr lang="ru-RU" sz="2000" err="1"/>
              <a:t>състоянието</a:t>
            </a:r>
            <a:r>
              <a:rPr lang="ru-RU" sz="2000"/>
              <a:t> на </a:t>
            </a:r>
            <a:r>
              <a:rPr lang="ru-RU" sz="2000" err="1"/>
              <a:t>флаговете</a:t>
            </a:r>
            <a:r>
              <a:rPr lang="ru-RU" sz="2000"/>
              <a:t> N, Z, C и V в CPSR, като: 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36717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06" y="1124744"/>
            <a:ext cx="8856984" cy="5395912"/>
          </a:xfrm>
        </p:spPr>
        <p:txBody>
          <a:bodyPr>
            <a:noAutofit/>
          </a:bodyPr>
          <a:lstStyle/>
          <a:p>
            <a:pPr algn="just"/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Инструкциите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разклонение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програмата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изпълняват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само ако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дефинираното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мнемоничния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код условие е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изпълнено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. Иначе се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преминава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следващата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инструкция.</a:t>
            </a: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93204" y="188640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Безусловни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условни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err="1">
                <a:latin typeface="Times New Roman" pitchFamily="18" charset="0"/>
                <a:cs typeface="Times New Roman" pitchFamily="18" charset="0"/>
              </a:rPr>
              <a:t>преходи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bg-BG" sz="4400" b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6116" y="2060848"/>
            <a:ext cx="7343775" cy="2286000"/>
          </a:xfrm>
          <a:prstGeom prst="rect">
            <a:avLst/>
          </a:prstGeom>
        </p:spPr>
      </p:pic>
      <p:sp>
        <p:nvSpPr>
          <p:cNvPr id="5" name="Правоъгълник 4"/>
          <p:cNvSpPr/>
          <p:nvPr/>
        </p:nvSpPr>
        <p:spPr>
          <a:xfrm>
            <a:off x="173149" y="4341145"/>
            <a:ext cx="8652098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Инструкциите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разклонение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съдържат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24-битово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отместване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знак в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допълнителен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код. Това число се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измества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наляво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с два бита,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разширява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се до 32 бита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запазване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на знака и се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добавя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програмния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брояч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PC. По този начин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направено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разклонение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програмата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отместване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+/−32 MB.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Отместването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разклонение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програмата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трябва да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вземе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предвид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факта, че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програмният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брояч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PC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адресира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думи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(8 B)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напред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спрямо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текущата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команда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заради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конвейера.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Разклонения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над +/−32 MB трябва да използват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отместване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или абсолютен адрес, които са били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заредени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предварително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37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357298"/>
            <a:ext cx="8572560" cy="5286412"/>
          </a:xfrm>
        </p:spPr>
        <p:txBody>
          <a:bodyPr>
            <a:noAutofit/>
          </a:bodyPr>
          <a:lstStyle/>
          <a:p>
            <a:pPr marL="0" algn="just">
              <a:spcBef>
                <a:spcPts val="0"/>
              </a:spcBef>
            </a:pPr>
            <a:r>
              <a:rPr lang="bg-BG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Много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често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се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налага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да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избираме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между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няколко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възможни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варианта.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Какво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решение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ще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вземем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обикновено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зависи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от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някакво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условие.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Тоест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при тях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последователността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от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извършвани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действия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зависи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от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стойността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на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входните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данни. Тези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програми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съдържат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команди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, при които в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зависимост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от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изпълнението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или не на дадено условие, се определят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следващите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за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изпълнение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команди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Подобни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условия се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наричат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логически. </a:t>
            </a:r>
          </a:p>
          <a:p>
            <a:pPr marL="0" algn="just">
              <a:spcBef>
                <a:spcPts val="0"/>
              </a:spcBef>
            </a:pPr>
            <a:r>
              <a:rPr lang="ru-RU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Съществуват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две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форми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на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разклонен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алгоритъм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algn="just">
              <a:spcBef>
                <a:spcPts val="0"/>
              </a:spcBef>
            </a:pPr>
            <a:r>
              <a:rPr lang="ru-RU" sz="2200">
                <a:latin typeface="Times New Roman" pitchFamily="18" charset="0"/>
                <a:cs typeface="Times New Roman" pitchFamily="18" charset="0"/>
              </a:rPr>
              <a:t>- Кратка – Използва се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тогава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, когато е необходимо да се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изпълни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действието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А само при определено условие Р. Ако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условието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не е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изпълнено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, то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командата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не се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изпълнява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.  </a:t>
            </a:r>
          </a:p>
          <a:p>
            <a:pPr marL="0" algn="just">
              <a:spcBef>
                <a:spcPts val="0"/>
              </a:spcBef>
            </a:pPr>
            <a:r>
              <a:rPr lang="ru-RU" sz="220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Пълна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– Ако се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изпълни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условието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Р, се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извършва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действие А, а ако не се </a:t>
            </a:r>
            <a:r>
              <a:rPr lang="ru-RU" sz="2200" err="1">
                <a:latin typeface="Times New Roman" pitchFamily="18" charset="0"/>
                <a:cs typeface="Times New Roman" pitchFamily="18" charset="0"/>
              </a:rPr>
              <a:t>изпълни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действие B. </a:t>
            </a:r>
            <a:endParaRPr lang="bg-BG" sz="2200">
              <a:latin typeface="Times New Roman" pitchFamily="18" charset="0"/>
              <a:cs typeface="Times New Roman" pitchFamily="18" charset="0"/>
            </a:endParaRPr>
          </a:p>
          <a:p>
            <a:pPr marL="0">
              <a:lnSpc>
                <a:spcPts val="3200"/>
              </a:lnSpc>
              <a:spcBef>
                <a:spcPts val="0"/>
              </a:spcBef>
            </a:pPr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045342"/>
          </a:xfrm>
        </p:spPr>
        <p:txBody>
          <a:bodyPr>
            <a:normAutofit/>
          </a:bodyPr>
          <a:lstStyle/>
          <a:p>
            <a:r>
              <a:rPr lang="en-US" sz="3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Разклонени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програми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700" b="1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964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онтейнер за съдържание 1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04875" y="2333625"/>
            <a:ext cx="7334250" cy="333375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045342"/>
          </a:xfrm>
        </p:spPr>
        <p:txBody>
          <a:bodyPr>
            <a:normAutofit/>
          </a:bodyPr>
          <a:lstStyle/>
          <a:p>
            <a:r>
              <a:rPr lang="en-US" sz="3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Разклонени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програми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700" b="1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4922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8229600" cy="685302"/>
          </a:xfrm>
        </p:spPr>
        <p:txBody>
          <a:bodyPr>
            <a:normAutofit/>
          </a:bodyPr>
          <a:lstStyle/>
          <a:p>
            <a:r>
              <a:rPr lang="bg-BG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Цикли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7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911824"/>
          </a:xfrm>
        </p:spPr>
        <p:txBody>
          <a:bodyPr>
            <a:noAutofit/>
          </a:bodyPr>
          <a:lstStyle/>
          <a:p>
            <a:pPr marL="0" indent="357188" algn="just">
              <a:spcBef>
                <a:spcPts val="0"/>
              </a:spcBef>
            </a:pP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Много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често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налага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действия да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бъдат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повторени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многократно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докато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не се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изпълни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зададеното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условие.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Групата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блокове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които са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веднъж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но се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изпълняват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многократно се </a:t>
            </a:r>
            <a:r>
              <a:rPr lang="ru-RU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наричат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ТЯЛО НА ЦИКЪЛА.  При тях задължително има условен блок. </a:t>
            </a:r>
            <a:r>
              <a:rPr lang="bg-BG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еобходимо изискване е да се осигури край на цикличните повторения (излизане от цикъла).  В тялото на цикъла, трябва да се променя стойността поне на 1 променлива, участваща в условието за край. В противен случай ще се получи безкраен цикъл.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357188" algn="just">
              <a:spcBef>
                <a:spcPts val="0"/>
              </a:spcBef>
            </a:pPr>
            <a:r>
              <a:rPr lang="bg-BG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 програмната реализация на цикъл можете да използвате цикличен алгоритъм с фиксиран брой повторения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8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bg-BG" sz="1800">
                <a:latin typeface="Times New Roman" panose="02020603050405020304" pitchFamily="18" charset="0"/>
                <a:cs typeface="Times New Roman" panose="02020603050405020304" pitchFamily="18" charset="0"/>
              </a:rPr>
              <a:t>цикъл/. Тогава в блока за инициализация в някой регистър се зарежда броя на повторенията на тялото на цикъла – управляваща променлива. След като бъде изпълнен блока-тяло на цикъла, в алгоритъма се включва блок, в който тази управляваща променлива (стойността на регистъра)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се намалявя с 1. Веднага след това се проверява условието за продължаване на цикъла /или за край/, което се прави с логически блок за разклонение, в който се проверява дали управляващата променива е различна от 0(равна на 0). Ако това е изпълнено, управлението се предава към първия оператор от тялото на цикъла и така действията в тялото на цикличния алгоритъм се повтарят точно толкова пъти, колкото е била стойността на управляващата променлива, чиято стойност е била записана в регистъра. При инициализацията на цикъла.</a:t>
            </a:r>
          </a:p>
          <a:p>
            <a:pPr algn="just">
              <a:spcBef>
                <a:spcPts val="0"/>
              </a:spcBef>
              <a:buNone/>
            </a:pPr>
            <a:endParaRPr lang="bg-BG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None/>
            </a:pP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685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93204" y="0"/>
            <a:ext cx="8229600" cy="1045342"/>
          </a:xfrm>
        </p:spPr>
        <p:txBody>
          <a:bodyPr>
            <a:normAutofit/>
          </a:bodyPr>
          <a:lstStyle/>
          <a:p>
            <a:r>
              <a:rPr lang="bg-BG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Цикли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7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251520" y="980728"/>
            <a:ext cx="8712968" cy="576064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Да се намери сумата 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на първите 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N=5 </a:t>
            </a: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естествени числа. 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N, S </a:t>
            </a: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са  32б клетки в паметта.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.x86: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.data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N	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5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S	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?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.code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Start:	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ecx,N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броя повторения на тялото на цикъла</a:t>
            </a:r>
          </a:p>
          <a:p>
            <a:pPr algn="just">
              <a:spcBef>
                <a:spcPts val="0"/>
              </a:spcBef>
              <a:buNone/>
            </a:pP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				; В тялото се добавя поредното естествено число към</a:t>
            </a:r>
          </a:p>
          <a:p>
            <a:pPr algn="just">
              <a:spcBef>
                <a:spcPts val="0"/>
              </a:spcBef>
              <a:buNone/>
            </a:pP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				; сумата, генерира с е сл. </a:t>
            </a:r>
            <a:r>
              <a:rPr lang="bg-BG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ест</a:t>
            </a: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. число. отброяват се</a:t>
            </a:r>
          </a:p>
          <a:p>
            <a:pPr algn="just">
              <a:spcBef>
                <a:spcPts val="0"/>
              </a:spcBef>
              <a:buNone/>
            </a:pP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				; циклите.</a:t>
            </a:r>
          </a:p>
          <a:p>
            <a:pPr algn="just">
              <a:spcBef>
                <a:spcPts val="0"/>
              </a:spcBef>
              <a:buNone/>
            </a:pP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S,0	;</a:t>
            </a: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Сума 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S=0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eax,1</a:t>
            </a:r>
            <a:r>
              <a:rPr lang="ru-RU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=1-</a:t>
            </a: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Първо събираемо, добавяно към сумата</a:t>
            </a:r>
          </a:p>
          <a:p>
            <a:pPr algn="just">
              <a:spcBef>
                <a:spcPts val="0"/>
              </a:spcBef>
              <a:buNone/>
            </a:pP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				;Край на блока за инициализация на променливите на</a:t>
            </a:r>
          </a:p>
          <a:p>
            <a:pPr algn="just">
              <a:spcBef>
                <a:spcPts val="0"/>
              </a:spcBef>
              <a:buNone/>
            </a:pP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				; цикъла</a:t>
            </a:r>
          </a:p>
          <a:p>
            <a:pPr algn="just">
              <a:spcBef>
                <a:spcPts val="0"/>
              </a:spcBef>
              <a:buNone/>
            </a:pP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				;Тяло на цикъла</a:t>
            </a:r>
          </a:p>
          <a:p>
            <a:pPr algn="just">
              <a:spcBef>
                <a:spcPts val="0"/>
              </a:spcBef>
              <a:buNone/>
            </a:pP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L1:	add 	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S,eax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добавя поредното естествено число към сумата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	add	eax,2	;</a:t>
            </a: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Сл. </a:t>
            </a:r>
            <a:r>
              <a:rPr lang="bg-BG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ест</a:t>
            </a: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 ч-</a:t>
            </a:r>
            <a:r>
              <a:rPr lang="bg-BG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</a:t>
            </a: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None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bg-BG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бр.оставащи</a:t>
            </a: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 цикли до края-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=ecx-1</a:t>
            </a:r>
            <a:endParaRPr lang="bg-BG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None/>
            </a:pP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jne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	L1	;</a:t>
            </a: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Брояч !=0 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Проверка условието за край на цикъла, </a:t>
            </a:r>
          </a:p>
          <a:p>
            <a:pPr algn="just">
              <a:spcBef>
                <a:spcPts val="0"/>
              </a:spcBef>
              <a:buNone/>
            </a:pP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				;т.е. ако 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!&lt;&gt;0</a:t>
            </a: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 иди към първия оператор от тялото</a:t>
            </a:r>
          </a:p>
          <a:p>
            <a:pPr algn="just">
              <a:spcBef>
                <a:spcPts val="0"/>
              </a:spcBef>
              <a:buNone/>
            </a:pPr>
            <a:r>
              <a:rPr lang="bg-BG" sz="1700">
                <a:latin typeface="Times New Roman" panose="02020603050405020304" pitchFamily="18" charset="0"/>
                <a:cs typeface="Times New Roman" panose="02020603050405020304" pitchFamily="18" charset="0"/>
              </a:rPr>
              <a:t>				;Иначе край на цикъла. Резултатът е записан в паметта.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None/>
            </a:pP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None/>
            </a:pPr>
            <a:endParaRPr lang="bg-BG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None/>
            </a:pP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572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82992"/>
            <a:ext cx="9144000" cy="587500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bg-BG" sz="1200"/>
              <a:t>	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Това е програма с използването на брояч на циклите в регистър  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. В програмата се използват отделни инструкции за намаляване на брояча  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с  1, както и ако 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не е 0 инструкция за  условен преход към първия оператор от тялото на цикъла, пред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който стои етикет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L1.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 Тези инструкции за управлението на брояча на циклите и проверката му в края на тялото с преход към началото, ако не е изчерпан при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IA-32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микропроцесори може да се </a:t>
            </a:r>
            <a:r>
              <a:rPr lang="bg-BG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заменятт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със специалната инструкция за цикъл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етикет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При използването и  програмата се модифицира така:</a:t>
            </a:r>
          </a:p>
          <a:p>
            <a:pPr algn="just">
              <a:buNone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	.code</a:t>
            </a:r>
          </a:p>
          <a:p>
            <a:pPr algn="just">
              <a:buNone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Start:	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ecx,N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броя повторения на тялото на цикъла</a:t>
            </a:r>
          </a:p>
          <a:p>
            <a:pPr algn="just">
              <a:buNone/>
            </a:pP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				; В тялото се добавя поредното естествено число към сумата, </a:t>
            </a:r>
          </a:p>
          <a:p>
            <a:pPr algn="just">
              <a:buNone/>
            </a:pP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				;генерира се </a:t>
            </a:r>
            <a:r>
              <a:rPr lang="bg-BG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следващш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ест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. число. отброяват се  циклите.</a:t>
            </a:r>
          </a:p>
          <a:p>
            <a:pPr algn="just">
              <a:buNone/>
            </a:pP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	S,0	;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Сума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S=0</a:t>
            </a:r>
          </a:p>
          <a:p>
            <a:pPr algn="just">
              <a:buNone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	eax,1</a:t>
            </a:r>
            <a:r>
              <a:rPr lang="ru-RU" sz="1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=1-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Първо събираемо, добавяно към сумата</a:t>
            </a:r>
          </a:p>
          <a:p>
            <a:pPr algn="just">
              <a:buNone/>
            </a:pP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				;Край на блока за инициализация на променливите на цикъла</a:t>
            </a:r>
          </a:p>
          <a:p>
            <a:pPr algn="just">
              <a:buNone/>
            </a:pP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				;Тяло на цикъла</a:t>
            </a:r>
          </a:p>
          <a:p>
            <a:pPr algn="just">
              <a:buNone/>
            </a:pP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L1:	add 	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S,eax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добавя поредното естествено число към сумата</a:t>
            </a: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		add	eax,2	;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Сл. ест ч-ло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		loop	L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=ecx-1,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Ако 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!&lt;&gt;0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иди към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</a:p>
          <a:p>
            <a:pPr algn="just">
              <a:buNone/>
            </a:pP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				;Край на цикъла.</a:t>
            </a: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Вижда се, че инструкцията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 съкращава кода на програмата, защото 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900">
                <a:latin typeface="Times New Roman" panose="02020603050405020304" pitchFamily="18" charset="0"/>
                <a:cs typeface="Times New Roman" panose="02020603050405020304" pitchFamily="18" charset="0"/>
              </a:rPr>
              <a:t>заменя 2 инструкции в тялото на цикъла..</a:t>
            </a:r>
            <a:endParaRPr 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bg-BG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361950">
              <a:buNone/>
            </a:pPr>
            <a:endParaRPr lang="bg-BG" sz="1200">
              <a:latin typeface="Arial" pitchFamily="34" charset="0"/>
              <a:cs typeface="Arial" pitchFamily="34" charset="0"/>
            </a:endParaRPr>
          </a:p>
          <a:p>
            <a:pPr marL="0" indent="361950">
              <a:buNone/>
            </a:pPr>
            <a:endParaRPr lang="bg-BG"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8229600" cy="578328"/>
          </a:xfrm>
        </p:spPr>
        <p:txBody>
          <a:bodyPr>
            <a:normAutofit fontScale="90000"/>
          </a:bodyPr>
          <a:lstStyle/>
          <a:p>
            <a:r>
              <a:rPr lang="bg-BG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Цикли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700" b="1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75412"/>
            <a:ext cx="8856984" cy="5882588"/>
          </a:xfrm>
        </p:spPr>
        <p:txBody>
          <a:bodyPr>
            <a:no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ARM</a:t>
            </a:r>
          </a:p>
          <a:p>
            <a:pPr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Start:	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r0,#N	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;N-&gt;r0</a:t>
            </a:r>
          </a:p>
          <a:p>
            <a:pPr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r1,[r0]	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;r1= 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броя повторения на тялото на цикъла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r2,=s	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;s-&gt;r2 ;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Адрес в паметта на сумата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r3,#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	;r3 (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сумата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</a:p>
          <a:p>
            <a:pPr algn="just">
              <a:buNone/>
            </a:pP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r4,#1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;r4=1-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Първо поредно събираемо, добавяно към сумата</a:t>
            </a:r>
          </a:p>
          <a:p>
            <a:pPr algn="just">
              <a:buNone/>
            </a:pP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				;Край на блока за инициализация на променливите на цикъла</a:t>
            </a:r>
          </a:p>
          <a:p>
            <a:pPr algn="just">
              <a:buNone/>
            </a:pP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				;Тяло на цикъла</a:t>
            </a:r>
          </a:p>
          <a:p>
            <a:pPr algn="just">
              <a:buNone/>
            </a:pP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L1:	add 	r3,r3,r4	;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 добавя поредното естествено число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r4  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към сумата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</a:p>
          <a:p>
            <a:pPr algn="just"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		add	r4,r4,#1	;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Сл. </a:t>
            </a:r>
            <a:r>
              <a:rPr lang="bg-BG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ест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 ч-</a:t>
            </a:r>
            <a:r>
              <a:rPr lang="bg-BG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r4</a:t>
            </a:r>
          </a:p>
          <a:p>
            <a:pPr algn="just"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		subs	r1,r1,#1	;(r1)-1-&gt;r1=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бр.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оставащи цикли до края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bne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	L1	;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Брояч !=0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 Проверка условието за край на цикъла, 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				;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 т.е. Ако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(r1)!&lt;&gt;0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 иди към първия оператор от тялото</a:t>
            </a:r>
          </a:p>
          <a:p>
            <a:pPr>
              <a:buNone/>
            </a:pP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				;Иначе край на цикъла.</a:t>
            </a:r>
          </a:p>
          <a:p>
            <a:pPr>
              <a:buNone/>
            </a:pP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	r3,[r2]	;(r3)-&gt;(r2)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 Запис  на сумата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е в паметта.</a:t>
            </a:r>
          </a:p>
          <a:p>
            <a:pPr>
              <a:buNone/>
            </a:pP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N:	.word	5</a:t>
            </a:r>
          </a:p>
          <a:p>
            <a:pPr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S:	.word     0	</a:t>
            </a:r>
            <a:endParaRPr lang="bg-BG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Вижда се, че заради по-простия набор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на 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ARM </a:t>
            </a:r>
            <a:r>
              <a:rPr lang="bg-BG" sz="16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инструкциите тук се пише по-дълъг програмен код.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bg-BG" sz="160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bg-BG" sz="1600">
                <a:latin typeface="Arial" pitchFamily="34" charset="0"/>
                <a:cs typeface="Arial" pitchFamily="34" charset="0"/>
              </a:rPr>
              <a:t> </a:t>
            </a:r>
            <a:endParaRPr lang="en-US" sz="1600">
              <a:latin typeface="Arial" pitchFamily="34" charset="0"/>
              <a:cs typeface="Arial" pitchFamily="34" charset="0"/>
            </a:endParaRPr>
          </a:p>
          <a:p>
            <a:pPr lvl="6"/>
            <a:endParaRPr lang="bg-BG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8229600" cy="578328"/>
          </a:xfrm>
        </p:spPr>
        <p:txBody>
          <a:bodyPr>
            <a:normAutofit fontScale="90000"/>
          </a:bodyPr>
          <a:lstStyle/>
          <a:p>
            <a:r>
              <a:rPr lang="bg-BG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Цикли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700" b="1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9552" y="1988840"/>
            <a:ext cx="8146678" cy="3610004"/>
          </a:xfrm>
        </p:spPr>
        <p:txBody>
          <a:bodyPr/>
          <a:lstStyle/>
          <a:p>
            <a:r>
              <a:rPr lang="bg-BG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1</a:t>
            </a:r>
          </a:p>
          <a:p>
            <a:r>
              <a:rPr lang="bg-BG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Пресметнете функцията f(x), дефинирана както следва: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f(x)=3x+4, Ако x&lt;=-7;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f(x)=4-x, Ако -7&lt;x&lt;=0;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f(x)=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bg-BG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Ако x&gt;0.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x, f са 32b числа със знак, записани в паметта.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353" y="584508"/>
            <a:ext cx="8643998" cy="6273492"/>
          </a:xfrm>
        </p:spPr>
        <p:txBody>
          <a:bodyPr vert="horz" lIns="91440" tIns="45720" rIns="91440" bIns="45720" anchor="t">
            <a:noAutofit/>
          </a:bodyPr>
          <a:lstStyle/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.486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.model </a:t>
            </a:r>
            <a:r>
              <a:rPr lang="bg-BG" sz="1500" b="1">
                <a:latin typeface="Times New Roman"/>
                <a:cs typeface="Times New Roman"/>
              </a:rPr>
              <a:t> </a:t>
            </a:r>
            <a:r>
              <a:rPr lang="en-US" sz="1500" b="1">
                <a:latin typeface="Times New Roman"/>
                <a:cs typeface="Times New Roman"/>
              </a:rPr>
              <a:t>flat, </a:t>
            </a:r>
            <a:r>
              <a:rPr lang="en-US" sz="1500" b="1" err="1">
                <a:latin typeface="Times New Roman"/>
                <a:cs typeface="Times New Roman"/>
              </a:rPr>
              <a:t>stdcall</a:t>
            </a:r>
            <a:endParaRPr lang="en-US" sz="1500" b="1">
              <a:latin typeface="Times New Roman"/>
              <a:cs typeface="Times New Roman"/>
            </a:endParaRP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</a:t>
            </a:r>
            <a:r>
              <a:rPr lang="en-US" sz="1500" b="1" err="1">
                <a:latin typeface="Times New Roman"/>
                <a:cs typeface="Times New Roman"/>
              </a:rPr>
              <a:t>includelib</a:t>
            </a:r>
            <a:r>
              <a:rPr lang="en-US" sz="1500" b="1">
                <a:latin typeface="Times New Roman"/>
                <a:cs typeface="Times New Roman"/>
              </a:rPr>
              <a:t> </a:t>
            </a:r>
            <a:r>
              <a:rPr lang="bg-BG" sz="1500" b="1">
                <a:latin typeface="Times New Roman"/>
                <a:cs typeface="Times New Roman"/>
              </a:rPr>
              <a:t> </a:t>
            </a:r>
            <a:r>
              <a:rPr lang="en-US" sz="1500" b="1">
                <a:latin typeface="Times New Roman"/>
                <a:cs typeface="Times New Roman"/>
              </a:rPr>
              <a:t>\masm32\lib\kernel32.lib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</a:t>
            </a:r>
            <a:r>
              <a:rPr lang="en-US" sz="1500" b="1" err="1">
                <a:latin typeface="Times New Roman"/>
                <a:cs typeface="Times New Roman"/>
              </a:rPr>
              <a:t>ExitProcess</a:t>
            </a:r>
            <a:r>
              <a:rPr lang="en-US" sz="1500" b="1">
                <a:latin typeface="Times New Roman"/>
                <a:cs typeface="Times New Roman"/>
              </a:rPr>
              <a:t> </a:t>
            </a:r>
            <a:r>
              <a:rPr lang="bg-BG" sz="1500" b="1">
                <a:latin typeface="Times New Roman"/>
                <a:cs typeface="Times New Roman"/>
              </a:rPr>
              <a:t> </a:t>
            </a:r>
            <a:r>
              <a:rPr lang="en-US" sz="1500" b="1" err="1">
                <a:latin typeface="Times New Roman"/>
                <a:cs typeface="Times New Roman"/>
              </a:rPr>
              <a:t>proto:DWORD</a:t>
            </a:r>
            <a:endParaRPr lang="en-US" sz="1500" b="1">
              <a:latin typeface="Times New Roman"/>
              <a:cs typeface="Times New Roman"/>
            </a:endParaRP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.data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X		dd	-1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F		dd	?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.code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start:    mov	</a:t>
            </a:r>
            <a:r>
              <a:rPr lang="en-US" sz="1500" b="1" err="1">
                <a:latin typeface="Times New Roman"/>
                <a:cs typeface="Times New Roman"/>
              </a:rPr>
              <a:t>eax</a:t>
            </a:r>
            <a:r>
              <a:rPr lang="en-US" sz="1500" b="1">
                <a:latin typeface="Times New Roman"/>
                <a:cs typeface="Times New Roman"/>
              </a:rPr>
              <a:t>, X		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</a:t>
            </a:r>
            <a:r>
              <a:rPr lang="en-US" sz="1500" b="1" err="1">
                <a:latin typeface="Times New Roman"/>
                <a:cs typeface="Times New Roman"/>
              </a:rPr>
              <a:t>cmp</a:t>
            </a:r>
            <a:r>
              <a:rPr lang="en-US" sz="1500" b="1">
                <a:latin typeface="Times New Roman"/>
                <a:cs typeface="Times New Roman"/>
              </a:rPr>
              <a:t>	eax,-7</a:t>
            </a:r>
            <a:r>
              <a:rPr lang="bg-BG" sz="1500" b="1">
                <a:latin typeface="Times New Roman"/>
                <a:cs typeface="Times New Roman"/>
              </a:rPr>
              <a:t>		</a:t>
            </a:r>
            <a:r>
              <a:rPr lang="en-US" sz="1500" b="1">
                <a:latin typeface="Times New Roman"/>
                <a:cs typeface="Times New Roman"/>
              </a:rPr>
              <a:t>;</a:t>
            </a:r>
            <a:r>
              <a:rPr lang="bg-BG" sz="1500" b="1">
                <a:latin typeface="Times New Roman"/>
                <a:cs typeface="Times New Roman"/>
              </a:rPr>
              <a:t>Долна граница</a:t>
            </a:r>
          </a:p>
          <a:p>
            <a:pPr marL="0">
              <a:spcBef>
                <a:spcPts val="0"/>
              </a:spcBef>
            </a:pPr>
            <a:r>
              <a:rPr lang="bg-BG" sz="1500" b="1" i="1">
                <a:latin typeface="Times New Roman"/>
                <a:cs typeface="Times New Roman"/>
              </a:rPr>
              <a:t>	</a:t>
            </a:r>
            <a:r>
              <a:rPr lang="en-US" sz="1500" b="1" err="1">
                <a:latin typeface="Times New Roman"/>
                <a:cs typeface="Times New Roman"/>
              </a:rPr>
              <a:t>jle</a:t>
            </a:r>
            <a:r>
              <a:rPr lang="en-US" sz="1500" b="1">
                <a:latin typeface="Times New Roman"/>
                <a:cs typeface="Times New Roman"/>
              </a:rPr>
              <a:t>	L1</a:t>
            </a:r>
            <a:r>
              <a:rPr lang="en-US" sz="1500" b="1" i="1">
                <a:latin typeface="Times New Roman"/>
                <a:cs typeface="Times New Roman"/>
              </a:rPr>
              <a:t>	</a:t>
            </a:r>
            <a:r>
              <a:rPr lang="bg-BG" sz="1500" b="1" i="1">
                <a:latin typeface="Times New Roman"/>
                <a:cs typeface="Times New Roman"/>
              </a:rPr>
              <a:t>	</a:t>
            </a:r>
            <a:r>
              <a:rPr lang="en-US" sz="1500" b="1" i="1">
                <a:latin typeface="Times New Roman"/>
                <a:cs typeface="Times New Roman"/>
              </a:rPr>
              <a:t>;-7&lt;x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</a:t>
            </a:r>
            <a:r>
              <a:rPr lang="en-US" sz="1500" b="1" err="1">
                <a:latin typeface="Times New Roman"/>
                <a:cs typeface="Times New Roman"/>
              </a:rPr>
              <a:t>cmp</a:t>
            </a:r>
            <a:r>
              <a:rPr lang="en-US" sz="1500" b="1">
                <a:latin typeface="Times New Roman"/>
                <a:cs typeface="Times New Roman"/>
              </a:rPr>
              <a:t>	eax,0		;</a:t>
            </a:r>
            <a:r>
              <a:rPr lang="bg-BG" sz="1500" b="1">
                <a:latin typeface="Times New Roman"/>
                <a:cs typeface="Times New Roman"/>
              </a:rPr>
              <a:t>Горна граница</a:t>
            </a:r>
          </a:p>
          <a:p>
            <a:pPr marL="0">
              <a:spcBef>
                <a:spcPts val="0"/>
              </a:spcBef>
            </a:pPr>
            <a:r>
              <a:rPr lang="bg-BG" sz="1500" b="1">
                <a:latin typeface="Times New Roman"/>
                <a:cs typeface="Times New Roman"/>
              </a:rPr>
              <a:t>	</a:t>
            </a:r>
            <a:r>
              <a:rPr lang="en-US" sz="1500" b="1" err="1">
                <a:latin typeface="Times New Roman"/>
                <a:cs typeface="Times New Roman"/>
              </a:rPr>
              <a:t>jle</a:t>
            </a:r>
            <a:r>
              <a:rPr lang="en-US" sz="1500" b="1">
                <a:latin typeface="Times New Roman"/>
                <a:cs typeface="Times New Roman"/>
              </a:rPr>
              <a:t>	L2	</a:t>
            </a:r>
            <a:r>
              <a:rPr lang="bg-BG" sz="1500" b="1">
                <a:latin typeface="Times New Roman"/>
                <a:cs typeface="Times New Roman"/>
              </a:rPr>
              <a:t>	</a:t>
            </a:r>
            <a:r>
              <a:rPr lang="en-US" sz="1500" b="1">
                <a:latin typeface="Times New Roman"/>
                <a:cs typeface="Times New Roman"/>
              </a:rPr>
              <a:t>;x&lt;-7&lt;=0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L3:	mov	ebx,5	</a:t>
            </a:r>
            <a:r>
              <a:rPr lang="bg-BG" sz="1500" b="1">
                <a:latin typeface="Times New Roman"/>
                <a:cs typeface="Times New Roman"/>
              </a:rPr>
              <a:t>	</a:t>
            </a:r>
            <a:r>
              <a:rPr lang="en-US" sz="1500" b="1">
                <a:latin typeface="Times New Roman"/>
                <a:cs typeface="Times New Roman"/>
              </a:rPr>
              <a:t>;x&gt;0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mov	</a:t>
            </a:r>
            <a:r>
              <a:rPr lang="en-US" sz="1500" b="1" err="1">
                <a:latin typeface="Times New Roman"/>
                <a:cs typeface="Times New Roman"/>
              </a:rPr>
              <a:t>F,ebx</a:t>
            </a:r>
            <a:r>
              <a:rPr lang="en-US" sz="1500" b="1">
                <a:latin typeface="Times New Roman"/>
                <a:cs typeface="Times New Roman"/>
              </a:rPr>
              <a:t>	</a:t>
            </a:r>
            <a:r>
              <a:rPr lang="bg-BG" sz="1500" b="1">
                <a:latin typeface="Times New Roman"/>
                <a:cs typeface="Times New Roman"/>
              </a:rPr>
              <a:t>	</a:t>
            </a:r>
            <a:r>
              <a:rPr lang="en-US" sz="1500" b="1">
                <a:latin typeface="Times New Roman"/>
                <a:cs typeface="Times New Roman"/>
              </a:rPr>
              <a:t>; (</a:t>
            </a:r>
            <a:r>
              <a:rPr lang="en-US" sz="1500" b="1" err="1">
                <a:latin typeface="Times New Roman"/>
                <a:cs typeface="Times New Roman"/>
              </a:rPr>
              <a:t>ebx</a:t>
            </a:r>
            <a:r>
              <a:rPr lang="en-US" sz="1500" b="1">
                <a:latin typeface="Times New Roman"/>
                <a:cs typeface="Times New Roman"/>
              </a:rPr>
              <a:t>)-&gt;F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</a:t>
            </a:r>
            <a:r>
              <a:rPr lang="en-US" sz="1500" b="1" err="1">
                <a:latin typeface="Times New Roman"/>
                <a:cs typeface="Times New Roman"/>
              </a:rPr>
              <a:t>jmp</a:t>
            </a:r>
            <a:r>
              <a:rPr lang="en-US" sz="1500" b="1">
                <a:latin typeface="Times New Roman"/>
                <a:cs typeface="Times New Roman"/>
              </a:rPr>
              <a:t>	ex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L1:	mov	ebx,3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</a:t>
            </a:r>
            <a:r>
              <a:rPr lang="en-US" sz="1500" b="1" err="1">
                <a:latin typeface="Times New Roman"/>
                <a:cs typeface="Times New Roman"/>
              </a:rPr>
              <a:t>imul</a:t>
            </a:r>
            <a:r>
              <a:rPr lang="en-US" sz="1500" b="1">
                <a:latin typeface="Times New Roman"/>
                <a:cs typeface="Times New Roman"/>
              </a:rPr>
              <a:t>            </a:t>
            </a:r>
            <a:r>
              <a:rPr lang="en-US" sz="1500" b="1" err="1">
                <a:latin typeface="Times New Roman"/>
                <a:cs typeface="Times New Roman"/>
              </a:rPr>
              <a:t>ebx</a:t>
            </a:r>
            <a:endParaRPr lang="en-US" sz="1500" b="1">
              <a:latin typeface="Times New Roman"/>
              <a:cs typeface="Times New Roman"/>
            </a:endParaRP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add	eax,4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mov	</a:t>
            </a:r>
            <a:r>
              <a:rPr lang="en-US" sz="1500" b="1" err="1">
                <a:latin typeface="Times New Roman"/>
                <a:cs typeface="Times New Roman"/>
              </a:rPr>
              <a:t>F,eax</a:t>
            </a:r>
            <a:r>
              <a:rPr lang="en-US" sz="1500" b="1">
                <a:latin typeface="Times New Roman"/>
                <a:cs typeface="Times New Roman"/>
              </a:rPr>
              <a:t>	</a:t>
            </a:r>
            <a:r>
              <a:rPr lang="bg-BG" sz="1500" b="1">
                <a:latin typeface="Times New Roman"/>
                <a:cs typeface="Times New Roman"/>
              </a:rPr>
              <a:t>	</a:t>
            </a:r>
            <a:r>
              <a:rPr lang="en-US" sz="1500" b="1">
                <a:latin typeface="Times New Roman"/>
                <a:cs typeface="Times New Roman"/>
              </a:rPr>
              <a:t>; (</a:t>
            </a:r>
            <a:r>
              <a:rPr lang="en-US" sz="1500" b="1" err="1">
                <a:latin typeface="Times New Roman"/>
                <a:cs typeface="Times New Roman"/>
              </a:rPr>
              <a:t>eax</a:t>
            </a:r>
            <a:r>
              <a:rPr lang="en-US" sz="1500" b="1">
                <a:latin typeface="Times New Roman"/>
                <a:cs typeface="Times New Roman"/>
              </a:rPr>
              <a:t>)-&gt;F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</a:t>
            </a:r>
            <a:r>
              <a:rPr lang="en-US" sz="1500" b="1" err="1">
                <a:latin typeface="Times New Roman"/>
                <a:cs typeface="Times New Roman"/>
              </a:rPr>
              <a:t>jmp</a:t>
            </a:r>
            <a:r>
              <a:rPr lang="en-US" sz="1500" b="1">
                <a:latin typeface="Times New Roman"/>
                <a:cs typeface="Times New Roman"/>
              </a:rPr>
              <a:t>	ex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L2:	mov	ebx,4</a:t>
            </a:r>
            <a:r>
              <a:rPr lang="bg-BG" sz="1500" b="1">
                <a:latin typeface="Times New Roman"/>
                <a:cs typeface="Times New Roman"/>
              </a:rPr>
              <a:t>		</a:t>
            </a:r>
            <a:r>
              <a:rPr lang="en-US" sz="1500" b="1">
                <a:latin typeface="Times New Roman"/>
                <a:cs typeface="Times New Roman"/>
              </a:rPr>
              <a:t>; x&lt;-7&lt;=0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sub	</a:t>
            </a:r>
            <a:r>
              <a:rPr lang="en-US" sz="1500" b="1" err="1">
                <a:latin typeface="Times New Roman"/>
                <a:cs typeface="Times New Roman"/>
              </a:rPr>
              <a:t>ebx,eax</a:t>
            </a:r>
            <a:r>
              <a:rPr lang="bg-BG" sz="1500" b="1">
                <a:latin typeface="Times New Roman"/>
                <a:cs typeface="Times New Roman"/>
              </a:rPr>
              <a:t>		</a:t>
            </a:r>
            <a:r>
              <a:rPr lang="en-US" sz="1500" b="1">
                <a:latin typeface="Times New Roman"/>
                <a:cs typeface="Times New Roman"/>
              </a:rPr>
              <a:t>; F=4-x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	mov	</a:t>
            </a:r>
            <a:r>
              <a:rPr lang="en-US" sz="1500" b="1" err="1">
                <a:latin typeface="Times New Roman"/>
                <a:cs typeface="Times New Roman"/>
              </a:rPr>
              <a:t>F,ebx</a:t>
            </a:r>
            <a:r>
              <a:rPr lang="en-US" sz="1500" b="1">
                <a:latin typeface="Times New Roman"/>
                <a:cs typeface="Times New Roman"/>
              </a:rPr>
              <a:t>		;(</a:t>
            </a:r>
            <a:r>
              <a:rPr lang="en-US" sz="1500" b="1" err="1">
                <a:latin typeface="Times New Roman"/>
                <a:cs typeface="Times New Roman"/>
              </a:rPr>
              <a:t>ebx</a:t>
            </a:r>
            <a:r>
              <a:rPr lang="en-US" sz="1500" b="1">
                <a:latin typeface="Times New Roman"/>
                <a:cs typeface="Times New Roman"/>
              </a:rPr>
              <a:t>)-&gt;F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ex:  			</a:t>
            </a:r>
            <a:r>
              <a:rPr lang="bg-BG" sz="1500" b="1">
                <a:latin typeface="Times New Roman"/>
                <a:cs typeface="Times New Roman"/>
              </a:rPr>
              <a:t>	</a:t>
            </a:r>
            <a:r>
              <a:rPr lang="en-US" sz="1500" b="1">
                <a:latin typeface="Times New Roman"/>
                <a:cs typeface="Times New Roman"/>
              </a:rPr>
              <a:t>;end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    invoke ExitProcess,0</a:t>
            </a:r>
          </a:p>
          <a:p>
            <a:pPr marL="0">
              <a:spcBef>
                <a:spcPts val="0"/>
              </a:spcBef>
            </a:pPr>
            <a:r>
              <a:rPr lang="en-US" sz="1500" b="1">
                <a:latin typeface="Times New Roman"/>
                <a:cs typeface="Times New Roman"/>
              </a:rPr>
              <a:t>end start</a:t>
            </a:r>
          </a:p>
        </p:txBody>
      </p:sp>
      <p:sp>
        <p:nvSpPr>
          <p:cNvPr id="4" name="Заглавие 3"/>
          <p:cNvSpPr>
            <a:spLocks noGrp="1"/>
          </p:cNvSpPr>
          <p:nvPr>
            <p:ph type="title"/>
          </p:nvPr>
        </p:nvSpPr>
        <p:spPr>
          <a:xfrm>
            <a:off x="539552" y="17572"/>
            <a:ext cx="8229600" cy="566936"/>
          </a:xfrm>
        </p:spPr>
        <p:txBody>
          <a:bodyPr>
            <a:normAutofit fontScale="90000"/>
          </a:bodyPr>
          <a:lstStyle/>
          <a:p>
            <a:r>
              <a:rPr lang="bg-BG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лавие 3"/>
          <p:cNvSpPr>
            <a:spLocks noGrp="1"/>
          </p:cNvSpPr>
          <p:nvPr>
            <p:ph type="title"/>
          </p:nvPr>
        </p:nvSpPr>
        <p:spPr>
          <a:xfrm>
            <a:off x="539552" y="17572"/>
            <a:ext cx="8229600" cy="566936"/>
          </a:xfrm>
        </p:spPr>
        <p:txBody>
          <a:bodyPr>
            <a:normAutofit fontScale="90000"/>
          </a:bodyPr>
          <a:lstStyle/>
          <a:p>
            <a:r>
              <a:rPr lang="bg-BG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1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8" y="1117270"/>
            <a:ext cx="5544616" cy="5512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079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02" y="428604"/>
            <a:ext cx="8643998" cy="6156489"/>
          </a:xfrm>
        </p:spPr>
        <p:txBody>
          <a:bodyPr vert="horz" lIns="91440" tIns="45720" rIns="91440" bIns="45720" anchor="t">
            <a:noAutofit/>
          </a:bodyPr>
          <a:lstStyle/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.</a:t>
            </a:r>
            <a:r>
              <a:rPr lang="pt-BR" sz="1600" b="1" err="1">
                <a:latin typeface="Times New Roman"/>
                <a:cs typeface="Times New Roman"/>
              </a:rPr>
              <a:t>text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.global  start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start:	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             LDR	R0,=x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LDR	R0,[R0]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MOV	R1,R0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CMP         R0,#-7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BLE	L1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CMP	R0,#0	;-7&lt;x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BLE	L2	;-7&lt;x&lt;=0	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MOV        R2,#5	;x&gt;0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B	L3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L1:	MOV	R2,#3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MUL         R3,R1,R2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ADD	R2,R3,#4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      B	L3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L2:	MOV 	R2,#4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SUB	R2,R2,R1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L3:	LDR	R0,=</a:t>
            </a:r>
            <a:r>
              <a:rPr lang="pt-BR" sz="1600" b="1" err="1">
                <a:latin typeface="Times New Roman"/>
                <a:cs typeface="Times New Roman"/>
              </a:rPr>
              <a:t>fx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STR	R2,[R0]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</a:t>
            </a:r>
            <a:r>
              <a:rPr lang="pt-BR" sz="1600" b="1" err="1">
                <a:latin typeface="Times New Roman"/>
                <a:cs typeface="Times New Roman"/>
              </a:rPr>
              <a:t>swi</a:t>
            </a:r>
            <a:r>
              <a:rPr lang="pt-BR" sz="1600" b="1">
                <a:latin typeface="Times New Roman"/>
                <a:cs typeface="Times New Roman"/>
              </a:rPr>
              <a:t>	0x11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.data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x:	.word	-1</a:t>
            </a:r>
          </a:p>
          <a:p>
            <a:pPr marL="0">
              <a:spcBef>
                <a:spcPts val="0"/>
              </a:spcBef>
            </a:pPr>
            <a:r>
              <a:rPr lang="pt-BR" sz="1600" b="1" err="1">
                <a:latin typeface="Times New Roman"/>
                <a:cs typeface="Times New Roman"/>
              </a:rPr>
              <a:t>fx</a:t>
            </a:r>
            <a:r>
              <a:rPr lang="pt-BR" sz="1600" b="1">
                <a:latin typeface="Times New Roman"/>
                <a:cs typeface="Times New Roman"/>
              </a:rPr>
              <a:t>:	.word	0x11111111</a:t>
            </a:r>
          </a:p>
          <a:p>
            <a:pPr marL="0">
              <a:spcBef>
                <a:spcPts val="0"/>
              </a:spcBef>
            </a:pPr>
            <a:r>
              <a:rPr lang="pt-BR" sz="1600" b="1">
                <a:latin typeface="Times New Roman"/>
                <a:cs typeface="Times New Roman"/>
              </a:rPr>
              <a:t>	.</a:t>
            </a:r>
            <a:r>
              <a:rPr lang="pt-BR" sz="1600" b="1" err="1">
                <a:latin typeface="Times New Roman"/>
                <a:cs typeface="Times New Roman"/>
              </a:rPr>
              <a:t>end</a:t>
            </a:r>
          </a:p>
        </p:txBody>
      </p:sp>
      <p:sp>
        <p:nvSpPr>
          <p:cNvPr id="4" name="Заглавие 3"/>
          <p:cNvSpPr>
            <a:spLocks noGrp="1"/>
          </p:cNvSpPr>
          <p:nvPr>
            <p:ph type="title"/>
          </p:nvPr>
        </p:nvSpPr>
        <p:spPr>
          <a:xfrm>
            <a:off x="539552" y="17572"/>
            <a:ext cx="8229600" cy="566936"/>
          </a:xfrm>
        </p:spPr>
        <p:txBody>
          <a:bodyPr>
            <a:normAutofit fontScale="90000"/>
          </a:bodyPr>
          <a:lstStyle/>
          <a:p>
            <a:r>
              <a:rPr lang="bg-BG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1</a:t>
            </a:r>
          </a:p>
        </p:txBody>
      </p:sp>
    </p:spTree>
    <p:extLst>
      <p:ext uri="{BB962C8B-B14F-4D97-AF65-F5344CB8AC3E}">
        <p14:creationId xmlns:p14="http://schemas.microsoft.com/office/powerpoint/2010/main" val="37552117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лавие 3"/>
          <p:cNvSpPr>
            <a:spLocks noGrp="1"/>
          </p:cNvSpPr>
          <p:nvPr>
            <p:ph type="title"/>
          </p:nvPr>
        </p:nvSpPr>
        <p:spPr>
          <a:xfrm>
            <a:off x="539552" y="17572"/>
            <a:ext cx="8229600" cy="566936"/>
          </a:xfrm>
        </p:spPr>
        <p:txBody>
          <a:bodyPr>
            <a:normAutofit fontScale="90000"/>
          </a:bodyPr>
          <a:lstStyle/>
          <a:p>
            <a:r>
              <a:rPr lang="bg-BG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747523"/>
            <a:ext cx="4032448" cy="5778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06198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15A41C86513B4096C6BAC35CB04A7C" ma:contentTypeVersion="11" ma:contentTypeDescription="Създаване на нов документ" ma:contentTypeScope="" ma:versionID="aeaffb348d2b52f24d410ae28bdf175e">
  <xsd:schema xmlns:xsd="http://www.w3.org/2001/XMLSchema" xmlns:xs="http://www.w3.org/2001/XMLSchema" xmlns:p="http://schemas.microsoft.com/office/2006/metadata/properties" xmlns:ns2="1170580e-cc85-4814-90d0-7c45caf95435" xmlns:ns3="fa43d559-56ce-40e4-b5e0-b1d2f1c6a948" targetNamespace="http://schemas.microsoft.com/office/2006/metadata/properties" ma:root="true" ma:fieldsID="2b6c80141cda9f3fb17d02d04063fe73" ns2:_="" ns3:_="">
    <xsd:import namespace="1170580e-cc85-4814-90d0-7c45caf95435"/>
    <xsd:import namespace="fa43d559-56ce-40e4-b5e0-b1d2f1c6a9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70580e-cc85-4814-90d0-7c45caf954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Етикети за изображения" ma:readOnly="false" ma:fieldId="{5cf76f15-5ced-4ddc-b409-7134ff3c332f}" ma:taxonomyMulti="true" ma:sspId="f94169f7-4ae2-4031-b8fa-636baa109d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43d559-56ce-40e4-b5e0-b1d2f1c6a94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8ac84de-a7dc-4418-88f8-8ba02af593f2}" ma:internalName="TaxCatchAll" ma:showField="CatchAllData" ma:web="fa43d559-56ce-40e4-b5e0-b1d2f1c6a9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a43d559-56ce-40e4-b5e0-b1d2f1c6a948" xsi:nil="true"/>
    <lcf76f155ced4ddcb4097134ff3c332f xmlns="1170580e-cc85-4814-90d0-7c45caf9543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5A0C0B4-B329-45D1-9CFD-181CAB1C6A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7E9046-0F6D-4EF1-BFB2-E72CBBC775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70580e-cc85-4814-90d0-7c45caf95435"/>
    <ds:schemaRef ds:uri="fa43d559-56ce-40e4-b5e0-b1d2f1c6a9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D85C5EC-8229-4310-9601-E408530B5360}">
  <ds:schemaRefs>
    <ds:schemaRef ds:uri="http://schemas.microsoft.com/office/2006/metadata/properties"/>
    <ds:schemaRef ds:uri="http://schemas.microsoft.com/office/infopath/2007/PartnerControls"/>
    <ds:schemaRef ds:uri="fa43d559-56ce-40e4-b5e0-b1d2f1c6a948"/>
    <ds:schemaRef ds:uri="1170580e-cc85-4814-90d0-7c45caf9543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Application>Microsoft Office PowerPoint</Application>
  <PresentationFormat>On-screen Show (4:3)</PresentationFormat>
  <Slides>34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Flow</vt:lpstr>
      <vt:lpstr>Инструкции за управление на хода на изпълнение на програмата. Безусловни и условни преходи. Разклонени програми. Цикли.</vt:lpstr>
      <vt:lpstr>  Инструкции за управление на хода на изпълнение на програмата. </vt:lpstr>
      <vt:lpstr>  Безусловни и условни преходи.  1. За х86 процесор.</vt:lpstr>
      <vt:lpstr>  Безусловни и условни преходи.  1. За х86 процесор.</vt:lpstr>
      <vt:lpstr>  Безусловни и условни преходи.  1. За х86 процесор.</vt:lpstr>
      <vt:lpstr>  Безусловни и условни преходи.  1. За х86 процесор.</vt:lpstr>
      <vt:lpstr>  Безусловни и условни преходи.  1. За х86 процесор.</vt:lpstr>
      <vt:lpstr>  Безусловни и условни преходи.  1. За х86 процесор.</vt:lpstr>
      <vt:lpstr>  Безусловни и условни преходи.  1. За х86 процесор.</vt:lpstr>
      <vt:lpstr>  Безусловни и условни преходи.  1. За х86 процесор.</vt:lpstr>
      <vt:lpstr>  Безусловни и условни преходи.  1. За х86 процесор.</vt:lpstr>
      <vt:lpstr>  Безусловни и условни преходи.  1. За х86 процесор.</vt:lpstr>
      <vt:lpstr>  Безусловни и условни преходи.  2. За ARM процесор.</vt:lpstr>
      <vt:lpstr>  Безусловни и условни преходи.  2. За ARM процесор.</vt:lpstr>
      <vt:lpstr>  Безусловни и условни преходи.  2. За ARM процесор.</vt:lpstr>
      <vt:lpstr>  Безусловни и условни преходи.  2. За ARM процесор.</vt:lpstr>
      <vt:lpstr>  Безусловни и условни преходи.  2. За ARM процесор.</vt:lpstr>
      <vt:lpstr>  Безусловни и условни преходи.  2. За ARM процесор.</vt:lpstr>
      <vt:lpstr>  Безусловни и условни преходи.  2. За ARM процесор.</vt:lpstr>
      <vt:lpstr>  Безусловни и условни преходи.  2. За ARM процесор.</vt:lpstr>
      <vt:lpstr>  Безусловни и условни преходи.  2. За ARM процесор.</vt:lpstr>
      <vt:lpstr>  Безусловни и условни преходи.  2. За ARM процесор.</vt:lpstr>
      <vt:lpstr>  Безусловни и условни преходи.  2. За ARM процесор.</vt:lpstr>
      <vt:lpstr>Разклонени програми.</vt:lpstr>
      <vt:lpstr>Разклонени програми.</vt:lpstr>
      <vt:lpstr>Цикли.</vt:lpstr>
      <vt:lpstr>Цикли.</vt:lpstr>
      <vt:lpstr>Цикли.</vt:lpstr>
      <vt:lpstr>Цикли.</vt:lpstr>
      <vt:lpstr>PowerPoint Presentation</vt:lpstr>
      <vt:lpstr>Задача 1</vt:lpstr>
      <vt:lpstr>Задача 1</vt:lpstr>
      <vt:lpstr>Задача 1</vt:lpstr>
      <vt:lpstr>Задача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Програмен модел на микропроцесор IA-32. Методи за адресация. Формати на данните. Структура на паметта. Таблица с инструкции за микропроцесора.</dc:title>
  <dc:creator>Desi</dc:creator>
  <cp:revision>8</cp:revision>
  <dcterms:created xsi:type="dcterms:W3CDTF">2024-02-15T19:55:55Z</dcterms:created>
  <dcterms:modified xsi:type="dcterms:W3CDTF">2024-05-10T04:47:51Z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0x0101002815A41C86513B4096C6BAC35CB04A7C</vt:lpwstr>
  </property>
  <property fmtid="{D5CDD505-2E9C-101B-9397-08002B2CF9AE}" pid="3" name="MediaServiceImageTags">
    <vt:lpwstr/>
  </property>
</Properties>
</file>
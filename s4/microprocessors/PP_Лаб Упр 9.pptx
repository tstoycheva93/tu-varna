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36"/>
  </p:notesMasterIdLst>
  <p:sldIdLst>
    <p:sldId id="256" r:id="rId5"/>
    <p:sldId id="431" r:id="rId6"/>
    <p:sldId id="492" r:id="rId7"/>
    <p:sldId id="504" r:id="rId8"/>
    <p:sldId id="507" r:id="rId9"/>
    <p:sldId id="502" r:id="rId10"/>
    <p:sldId id="501" r:id="rId11"/>
    <p:sldId id="505" r:id="rId12"/>
    <p:sldId id="508" r:id="rId13"/>
    <p:sldId id="500" r:id="rId14"/>
    <p:sldId id="503" r:id="rId15"/>
    <p:sldId id="506" r:id="rId16"/>
    <p:sldId id="509" r:id="rId17"/>
    <p:sldId id="381" r:id="rId18"/>
    <p:sldId id="479" r:id="rId19"/>
    <p:sldId id="480" r:id="rId20"/>
    <p:sldId id="481" r:id="rId21"/>
    <p:sldId id="471" r:id="rId22"/>
    <p:sldId id="491" r:id="rId23"/>
    <p:sldId id="484" r:id="rId24"/>
    <p:sldId id="483" r:id="rId25"/>
    <p:sldId id="485" r:id="rId26"/>
    <p:sldId id="487" r:id="rId27"/>
    <p:sldId id="486" r:id="rId28"/>
    <p:sldId id="482" r:id="rId29"/>
    <p:sldId id="488" r:id="rId30"/>
    <p:sldId id="496" r:id="rId31"/>
    <p:sldId id="497" r:id="rId32"/>
    <p:sldId id="499" r:id="rId33"/>
    <p:sldId id="489" r:id="rId34"/>
    <p:sldId id="517" r:id="rId35"/>
  </p:sldIdLst>
  <p:sldSz cx="9144000" cy="6858000" type="screen4x3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ен стил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223" autoAdjust="0"/>
    <p:restoredTop sz="95455" autoAdjust="0"/>
  </p:normalViewPr>
  <p:slideViewPr>
    <p:cSldViewPr>
      <p:cViewPr varScale="1">
        <p:scale>
          <a:sx n="91" d="100"/>
          <a:sy n="91" d="100"/>
        </p:scale>
        <p:origin x="87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ОАННА ЦАНКОВА ЦОНЕВА СИТ 2к - 22621622" userId="S::s22621622@onlineedu.tu-varna.bg::93ae0538-7706-43cb-ac67-e31cbb132c89" providerId="AD" clId="Web-{6709338E-8FBA-4DC8-BA98-03C672CF311A}"/>
    <pc:docChg chg="modSld">
      <pc:chgData name="ИОАННА ЦАНКОВА ЦОНЕВА СИТ 2к - 22621622" userId="S::s22621622@onlineedu.tu-varna.bg::93ae0538-7706-43cb-ac67-e31cbb132c89" providerId="AD" clId="Web-{6709338E-8FBA-4DC8-BA98-03C672CF311A}" dt="2024-04-30T10:28:05.583" v="4" actId="20577"/>
      <pc:docMkLst>
        <pc:docMk/>
      </pc:docMkLst>
      <pc:sldChg chg="modSp">
        <pc:chgData name="ИОАННА ЦАНКОВА ЦОНЕВА СИТ 2к - 22621622" userId="S::s22621622@onlineedu.tu-varna.bg::93ae0538-7706-43cb-ac67-e31cbb132c89" providerId="AD" clId="Web-{6709338E-8FBA-4DC8-BA98-03C672CF311A}" dt="2024-04-30T10:28:05.583" v="4" actId="20577"/>
        <pc:sldMkLst>
          <pc:docMk/>
          <pc:sldMk cId="3420152111" sldId="501"/>
        </pc:sldMkLst>
        <pc:spChg chg="mod">
          <ac:chgData name="ИОАННА ЦАНКОВА ЦОНЕВА СИТ 2к - 22621622" userId="S::s22621622@onlineedu.tu-varna.bg::93ae0538-7706-43cb-ac67-e31cbb132c89" providerId="AD" clId="Web-{6709338E-8FBA-4DC8-BA98-03C672CF311A}" dt="2024-04-30T10:28:05.583" v="4" actId="20577"/>
          <ac:spMkLst>
            <pc:docMk/>
            <pc:sldMk cId="3420152111" sldId="501"/>
            <ac:spMk id="2" creationId="{62482F9F-C709-46A3-BA9D-9F16E3F47A4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92332A-55AF-4551-8E83-32AC6773F37C}" type="datetimeFigureOut">
              <a:rPr lang="bg-BG" smtClean="0"/>
              <a:pPr/>
              <a:t>8.5.2024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8BE4E-C978-4DDD-BFFE-20E7B8E0D29B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89593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8.5.2024 г.</a:t>
            </a:fld>
            <a:endParaRPr lang="bg-BG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8.5.2024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8.5.2024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8.5.2024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8.5.2024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8.5.2024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8.5.2024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8.5.2024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8.5.2024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8.5.2024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8.5.2024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CD2AA38-B623-4529-8E38-4C26B6BE11C2}" type="datetimeFigureOut">
              <a:rPr lang="bg-BG" smtClean="0"/>
              <a:pPr/>
              <a:t>8.5.2024 г.</a:t>
            </a:fld>
            <a:endParaRPr lang="bg-BG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72" y="928670"/>
            <a:ext cx="7851648" cy="5186386"/>
          </a:xfrm>
        </p:spPr>
        <p:txBody>
          <a:bodyPr rIns="0">
            <a:noAutofit/>
          </a:bodyPr>
          <a:lstStyle/>
          <a:p>
            <a:r>
              <a:rPr lang="ru-RU" sz="5500" dirty="0" err="1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Аритметични</a:t>
            </a:r>
            <a:r>
              <a:rPr lang="ru-RU" sz="550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задачи и задачи за обработка на </a:t>
            </a:r>
            <a:r>
              <a:rPr lang="ru-RU" sz="5500" dirty="0" err="1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даннови</a:t>
            </a:r>
            <a:r>
              <a:rPr lang="ru-RU" sz="550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5500" dirty="0" err="1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структури</a:t>
            </a:r>
            <a:r>
              <a:rPr lang="ru-RU" sz="5500" dirty="0">
                <a:effectLst/>
                <a:latin typeface="Times New Roman" pitchFamily="18" charset="0"/>
                <a:cs typeface="Times New Roman" pitchFamily="18" charset="0"/>
              </a:rPr>
              <a:t>. </a:t>
            </a:r>
            <a:endParaRPr lang="bg-BG" sz="55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016" y="1043608"/>
            <a:ext cx="8605464" cy="5570975"/>
          </a:xfrm>
        </p:spPr>
        <p:txBody>
          <a:bodyPr>
            <a:noAutofit/>
          </a:bodyPr>
          <a:lstStyle/>
          <a:p>
            <a:pPr algn="just">
              <a:lnSpc>
                <a:spcPts val="3000"/>
              </a:lnSpc>
              <a:spcBef>
                <a:spcPts val="0"/>
              </a:spcBef>
            </a:pP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3000"/>
              </a:lnSpc>
              <a:spcBef>
                <a:spcPts val="0"/>
              </a:spcBef>
            </a:pP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3000"/>
              </a:lnSpc>
              <a:spcBef>
                <a:spcPts val="0"/>
              </a:spcBef>
            </a:pP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ts val="3000"/>
              </a:lnSpc>
              <a:spcBef>
                <a:spcPts val="0"/>
              </a:spcBef>
              <a:buNone/>
            </a:pPr>
            <a:r>
              <a:rPr lang="bg-BG" b="1" dirty="0">
                <a:latin typeface="Times New Roman" pitchFamily="18" charset="0"/>
                <a:cs typeface="Times New Roman" pitchFamily="18" charset="0"/>
              </a:rPr>
              <a:t>Задача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1</a:t>
            </a:r>
            <a:r>
              <a:rPr lang="bg-BG" b="1" dirty="0">
                <a:latin typeface="Times New Roman" pitchFamily="18" charset="0"/>
                <a:cs typeface="Times New Roman" pitchFamily="18" charset="0"/>
              </a:rPr>
              <a:t>. Определете в паметта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bg-BG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b="1" dirty="0" err="1">
                <a:latin typeface="Times New Roman" pitchFamily="18" charset="0"/>
                <a:cs typeface="Times New Roman" pitchFamily="18" charset="0"/>
              </a:rPr>
              <a:t>двойк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bg-BG" b="1" dirty="0">
                <a:latin typeface="Times New Roman" pitchFamily="18" charset="0"/>
                <a:cs typeface="Times New Roman" pitchFamily="18" charset="0"/>
              </a:rPr>
              <a:t>числа със знак в 16 код с размер 1B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bg-BG" b="1" dirty="0">
                <a:latin typeface="Times New Roman" pitchFamily="18" charset="0"/>
                <a:cs typeface="Times New Roman" pitchFamily="18" charset="0"/>
              </a:rPr>
              <a:t> Напишете програма на Асемблер, за да реализирате събиране и изваждане на числата. Запишете резултатите в паметта със същия размер като операнди.</a:t>
            </a:r>
            <a:endParaRPr lang="bg-BG" sz="2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93204" y="188640"/>
            <a:ext cx="8229600" cy="85496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3663413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DD037D-9140-43F5-93D3-5884161D3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5400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.486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bg-BG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flat</a:t>
            </a: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stdcall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bg-BG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includelib</a:t>
            </a: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\masm32\</a:t>
            </a:r>
            <a:r>
              <a:rPr lang="bg-BG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</a:t>
            </a: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\kernel32.lib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bg-BG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ExitProcess</a:t>
            </a: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proto:DWORD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bg-BG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af1b 	</a:t>
            </a:r>
            <a:r>
              <a:rPr lang="bg-BG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0AAh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as1b 	</a:t>
            </a:r>
            <a:r>
              <a:rPr lang="bg-BG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00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add1b	</a:t>
            </a:r>
            <a:r>
              <a:rPr lang="bg-BG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?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sub1b	</a:t>
            </a:r>
            <a:r>
              <a:rPr lang="bg-BG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?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bg-BG" sz="2000" b="1" dirty="0"/>
              <a:t>.</a:t>
            </a:r>
            <a:r>
              <a:rPr lang="bg-BG" sz="2000" b="1" dirty="0" err="1"/>
              <a:t>code</a:t>
            </a:r>
            <a:endParaRPr lang="en-US" sz="2000" b="1" dirty="0"/>
          </a:p>
          <a:p>
            <a:pPr marL="0" indent="0">
              <a:buNone/>
            </a:pPr>
            <a:r>
              <a:rPr lang="bg-BG" sz="2000" b="1" dirty="0" err="1"/>
              <a:t>start</a:t>
            </a:r>
            <a:r>
              <a:rPr lang="bg-BG" sz="2000" b="1" dirty="0"/>
              <a:t>:  	</a:t>
            </a:r>
            <a:r>
              <a:rPr lang="en-US" sz="2000" b="1" dirty="0"/>
              <a:t> </a:t>
            </a:r>
            <a:r>
              <a:rPr lang="bg-BG" sz="2000" b="1" dirty="0" err="1"/>
              <a:t>mov</a:t>
            </a:r>
            <a:r>
              <a:rPr lang="bg-BG" sz="2000" b="1" dirty="0"/>
              <a:t>	</a:t>
            </a:r>
            <a:r>
              <a:rPr lang="bg-BG" sz="2000" b="1" dirty="0" err="1"/>
              <a:t>al</a:t>
            </a:r>
            <a:r>
              <a:rPr lang="bg-BG" sz="2000" b="1" dirty="0"/>
              <a:t>, af1b		;</a:t>
            </a:r>
            <a:r>
              <a:rPr lang="bg-BG" sz="2000" b="1" dirty="0" err="1"/>
              <a:t>Addition</a:t>
            </a:r>
            <a:r>
              <a:rPr lang="bg-BG" sz="2000" b="1" dirty="0"/>
              <a:t> </a:t>
            </a:r>
            <a:r>
              <a:rPr lang="bg-BG" sz="2000" b="1" dirty="0" err="1"/>
              <a:t>of</a:t>
            </a:r>
            <a:r>
              <a:rPr lang="bg-BG" sz="2000" b="1" dirty="0"/>
              <a:t> </a:t>
            </a:r>
            <a:r>
              <a:rPr lang="bg-BG" sz="2000" b="1" dirty="0" err="1"/>
              <a:t>bytes</a:t>
            </a:r>
            <a:endParaRPr lang="en-US" sz="2000" b="1" dirty="0"/>
          </a:p>
          <a:p>
            <a:pPr marL="0" indent="0">
              <a:buNone/>
            </a:pPr>
            <a:r>
              <a:rPr lang="bg-BG" sz="2000" b="1" dirty="0"/>
              <a:t>	</a:t>
            </a:r>
            <a:r>
              <a:rPr lang="bg-BG" sz="2000" b="1" dirty="0" err="1"/>
              <a:t>add</a:t>
            </a:r>
            <a:r>
              <a:rPr lang="bg-BG" sz="2000" b="1" dirty="0"/>
              <a:t>	</a:t>
            </a:r>
            <a:r>
              <a:rPr lang="bg-BG" sz="2000" b="1" dirty="0" err="1"/>
              <a:t>al</a:t>
            </a:r>
            <a:r>
              <a:rPr lang="bg-BG" sz="2000" b="1" dirty="0"/>
              <a:t>, as1b		;</a:t>
            </a:r>
            <a:r>
              <a:rPr lang="bg-BG" sz="2000" b="1" dirty="0" err="1"/>
              <a:t>in</a:t>
            </a:r>
            <a:r>
              <a:rPr lang="bg-BG" sz="2000" b="1" dirty="0"/>
              <a:t> 1B </a:t>
            </a:r>
            <a:r>
              <a:rPr lang="bg-BG" sz="2000" b="1" dirty="0" err="1"/>
              <a:t>registers</a:t>
            </a:r>
            <a:endParaRPr lang="en-US" sz="2000" b="1" dirty="0"/>
          </a:p>
          <a:p>
            <a:pPr marL="0" indent="0">
              <a:buNone/>
            </a:pPr>
            <a:r>
              <a:rPr lang="bg-BG" sz="2000" b="1" dirty="0"/>
              <a:t>	</a:t>
            </a:r>
            <a:r>
              <a:rPr lang="bg-BG" sz="2000" b="1" dirty="0" err="1"/>
              <a:t>mov</a:t>
            </a:r>
            <a:r>
              <a:rPr lang="bg-BG" sz="2000" b="1" dirty="0"/>
              <a:t>	add1b, </a:t>
            </a:r>
            <a:r>
              <a:rPr lang="bg-BG" sz="2000" b="1" dirty="0" err="1"/>
              <a:t>al</a:t>
            </a:r>
            <a:r>
              <a:rPr lang="bg-BG" sz="2000" b="1" dirty="0"/>
              <a:t>	;Store </a:t>
            </a:r>
            <a:r>
              <a:rPr lang="bg-BG" sz="2000" b="1" dirty="0" err="1"/>
              <a:t>the</a:t>
            </a:r>
            <a:r>
              <a:rPr lang="bg-BG" sz="2000" b="1" dirty="0"/>
              <a:t> </a:t>
            </a:r>
            <a:r>
              <a:rPr lang="bg-BG" sz="2000" b="1" dirty="0" err="1"/>
              <a:t>sum</a:t>
            </a:r>
            <a:endParaRPr lang="en-US" sz="2000" b="1" dirty="0"/>
          </a:p>
          <a:p>
            <a:pPr marL="0" indent="0">
              <a:buNone/>
            </a:pPr>
            <a:r>
              <a:rPr lang="bg-BG" sz="2000" b="1" dirty="0"/>
              <a:t> ;</a:t>
            </a:r>
            <a:r>
              <a:rPr lang="bg-BG" sz="2000" b="1" dirty="0" err="1"/>
              <a:t>Subrtraction</a:t>
            </a:r>
            <a:r>
              <a:rPr lang="bg-BG" sz="2000" b="1" dirty="0"/>
              <a:t> </a:t>
            </a:r>
            <a:r>
              <a:rPr lang="bg-BG" sz="2000" b="1" dirty="0" err="1"/>
              <a:t>of</a:t>
            </a:r>
            <a:r>
              <a:rPr lang="bg-BG" sz="2000" b="1" dirty="0"/>
              <a:t> 1B </a:t>
            </a:r>
            <a:r>
              <a:rPr lang="bg-BG" sz="2000" b="1" dirty="0" err="1"/>
              <a:t>operands</a:t>
            </a:r>
            <a:endParaRPr lang="en-US" sz="2000" b="1" dirty="0"/>
          </a:p>
          <a:p>
            <a:pPr marL="0" indent="0">
              <a:buNone/>
            </a:pPr>
            <a:r>
              <a:rPr lang="bg-BG" sz="2000" b="1" dirty="0"/>
              <a:t>	</a:t>
            </a:r>
            <a:r>
              <a:rPr lang="bg-BG" sz="2000" b="1" dirty="0" err="1"/>
              <a:t>mov</a:t>
            </a:r>
            <a:r>
              <a:rPr lang="bg-BG" sz="2000" b="1" dirty="0"/>
              <a:t>	</a:t>
            </a:r>
            <a:r>
              <a:rPr lang="bg-BG" sz="2000" b="1" dirty="0" err="1"/>
              <a:t>al</a:t>
            </a:r>
            <a:r>
              <a:rPr lang="bg-BG" sz="2000" b="1" dirty="0"/>
              <a:t>, af1b		;</a:t>
            </a:r>
            <a:r>
              <a:rPr lang="bg-BG" sz="2000" b="1" dirty="0" err="1"/>
              <a:t>Load</a:t>
            </a:r>
            <a:r>
              <a:rPr lang="bg-BG" sz="2000" b="1" dirty="0"/>
              <a:t> </a:t>
            </a:r>
            <a:r>
              <a:rPr lang="bg-BG" sz="2000" b="1" dirty="0" err="1"/>
              <a:t>minuend</a:t>
            </a:r>
            <a:r>
              <a:rPr lang="bg-BG" sz="2000" b="1" dirty="0"/>
              <a:t> </a:t>
            </a:r>
            <a:r>
              <a:rPr lang="bg-BG" sz="2000" b="1" dirty="0" err="1"/>
              <a:t>in</a:t>
            </a:r>
            <a:r>
              <a:rPr lang="bg-BG" sz="2000" b="1" dirty="0"/>
              <a:t> 1B </a:t>
            </a:r>
            <a:r>
              <a:rPr lang="bg-BG" sz="2000" b="1" dirty="0" err="1"/>
              <a:t>reg</a:t>
            </a:r>
            <a:endParaRPr lang="en-US" sz="2000" b="1" dirty="0"/>
          </a:p>
          <a:p>
            <a:pPr marL="0" indent="0">
              <a:buNone/>
            </a:pPr>
            <a:r>
              <a:rPr lang="bg-BG" sz="2000" b="1" dirty="0"/>
              <a:t>	</a:t>
            </a:r>
            <a:r>
              <a:rPr lang="bg-BG" sz="2000" b="1" dirty="0" err="1"/>
              <a:t>sub</a:t>
            </a:r>
            <a:r>
              <a:rPr lang="bg-BG" sz="2000" b="1" dirty="0"/>
              <a:t>	</a:t>
            </a:r>
            <a:r>
              <a:rPr lang="bg-BG" sz="2000" b="1" dirty="0" err="1"/>
              <a:t>al</a:t>
            </a:r>
            <a:r>
              <a:rPr lang="bg-BG" sz="2000" b="1" dirty="0"/>
              <a:t>, as1b	;</a:t>
            </a:r>
            <a:r>
              <a:rPr lang="bg-BG" sz="2000" b="1" dirty="0" err="1"/>
              <a:t>subtract</a:t>
            </a:r>
            <a:r>
              <a:rPr lang="bg-BG" sz="2000" b="1" dirty="0"/>
              <a:t> </a:t>
            </a:r>
            <a:r>
              <a:rPr lang="bg-BG" sz="2000" b="1" dirty="0" err="1"/>
              <a:t>subtrahend</a:t>
            </a:r>
            <a:r>
              <a:rPr lang="bg-BG" sz="2000" b="1" dirty="0"/>
              <a:t> </a:t>
            </a:r>
            <a:r>
              <a:rPr lang="bg-BG" sz="2000" b="1" dirty="0" err="1"/>
              <a:t>and</a:t>
            </a:r>
            <a:r>
              <a:rPr lang="bg-BG" sz="2000" b="1" dirty="0"/>
              <a:t> </a:t>
            </a:r>
            <a:r>
              <a:rPr lang="bg-BG" sz="2000" b="1" dirty="0" err="1"/>
              <a:t>take</a:t>
            </a:r>
            <a:r>
              <a:rPr lang="bg-BG" sz="2000" b="1" dirty="0"/>
              <a:t> a </a:t>
            </a:r>
            <a:r>
              <a:rPr lang="bg-BG" sz="2000" b="1" dirty="0" err="1"/>
              <a:t>difference</a:t>
            </a:r>
            <a:r>
              <a:rPr lang="bg-BG" sz="2000" b="1" dirty="0"/>
              <a:t> </a:t>
            </a:r>
            <a:r>
              <a:rPr lang="bg-BG" sz="2000" b="1" dirty="0" err="1"/>
              <a:t>in</a:t>
            </a:r>
            <a:r>
              <a:rPr lang="bg-BG" sz="2000" b="1" dirty="0"/>
              <a:t> 1B </a:t>
            </a:r>
            <a:r>
              <a:rPr lang="bg-BG" sz="2000" b="1" dirty="0" err="1"/>
              <a:t>reg</a:t>
            </a:r>
            <a:endParaRPr lang="en-US" sz="2000" b="1" dirty="0"/>
          </a:p>
          <a:p>
            <a:pPr marL="0" indent="0">
              <a:buNone/>
            </a:pPr>
            <a:r>
              <a:rPr lang="bg-BG" sz="2000" b="1" dirty="0"/>
              <a:t>	</a:t>
            </a:r>
            <a:r>
              <a:rPr lang="bg-BG" sz="2000" b="1" dirty="0" err="1"/>
              <a:t>mov</a:t>
            </a:r>
            <a:r>
              <a:rPr lang="bg-BG" sz="2000" b="1" dirty="0"/>
              <a:t>	sub1b, </a:t>
            </a:r>
            <a:r>
              <a:rPr lang="bg-BG" sz="2000" b="1" dirty="0" err="1"/>
              <a:t>al</a:t>
            </a:r>
            <a:r>
              <a:rPr lang="en-US" sz="2000" b="1" dirty="0"/>
              <a:t> 	</a:t>
            </a:r>
            <a:r>
              <a:rPr lang="bg-BG" sz="2000" b="1" dirty="0"/>
              <a:t>;Store </a:t>
            </a:r>
            <a:r>
              <a:rPr lang="bg-BG" sz="2000" b="1" dirty="0" err="1"/>
              <a:t>the</a:t>
            </a:r>
            <a:r>
              <a:rPr lang="bg-BG" sz="2000" b="1" dirty="0"/>
              <a:t> </a:t>
            </a:r>
            <a:r>
              <a:rPr lang="bg-BG" sz="2000" b="1" dirty="0" err="1"/>
              <a:t>difference</a:t>
            </a:r>
            <a:endParaRPr lang="en-US" sz="2000" b="1" dirty="0"/>
          </a:p>
          <a:p>
            <a:pPr marL="0" indent="0">
              <a:buNone/>
            </a:pPr>
            <a:r>
              <a:rPr lang="bg-BG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invoke</a:t>
            </a: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ExitProcess,0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</a:t>
            </a:r>
            <a:r>
              <a:rPr lang="bg-BG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734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Контейнер за съдържание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9736" y="548680"/>
            <a:ext cx="7704856" cy="602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294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539552" y="548680"/>
            <a:ext cx="8229600" cy="54006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.text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.global start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LDR	R0,= af1b		;I-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Addend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LDRB	R0,[R0]		;r0&lt;=af1b Load R0-LSB-byte. Clears B1,B2,B3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LDR	R1,=as1b		;II-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Addend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LDRB	R1,[R1]		;r1&lt;=as1b Load R1-LSB-byte. Clears B1,B2,B3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ADD	R2,R1,R0		;r2&lt;=(af1b)+(as1b)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LDR	R3,=add1b		;Sum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STRB	R2,[R3]		;add1b&lt;=(af1b)+(as1b). Store LSB of R2 only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;Subtraction of bytes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LDR	R0,=af1b		;Minuend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LDRB	R0,[R0]		;r0=&gt;(af1b) Loads R0-LSB-byte. Clears B1,B2,B3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LDR	R1,=as1b		;subtrahend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LDRB	R1,[R1]		;r1=&gt;(as1b) Load R1-LSB-byte. Clears B1,B2,B3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SUB 	R2,R0,R1		;r2&lt;=(af1b)-(as1b) - difference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LDR	R3,=sub1b	;Diff.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STRB	R2,[R3]		;sub1b&lt;=(af1b)-(as1b). Store difference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.data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af1b:	 .byte 	0xAA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as1b:	 .byte	0x0f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add1b:	 .byte	0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sub1b:	 .byte	0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.end</a:t>
            </a:r>
          </a:p>
        </p:txBody>
      </p:sp>
    </p:spTree>
    <p:extLst>
      <p:ext uri="{BB962C8B-B14F-4D97-AF65-F5344CB8AC3E}">
        <p14:creationId xmlns:p14="http://schemas.microsoft.com/office/powerpoint/2010/main" val="1753363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C6FD5-7303-4ED6-A626-101532A90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bg-BG" b="1" dirty="0">
                <a:latin typeface="Times New Roman" pitchFamily="18" charset="0"/>
                <a:cs typeface="Times New Roman" pitchFamily="18" charset="0"/>
              </a:rPr>
              <a:t>Задача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2</a:t>
            </a:r>
            <a:r>
              <a:rPr lang="bg-BG" b="1" dirty="0">
                <a:latin typeface="Times New Roman" pitchFamily="18" charset="0"/>
                <a:cs typeface="Times New Roman" pitchFamily="18" charset="0"/>
              </a:rPr>
              <a:t>. Определете в паметта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bg-BG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b="1" dirty="0" err="1">
                <a:latin typeface="Times New Roman" pitchFamily="18" charset="0"/>
                <a:cs typeface="Times New Roman" pitchFamily="18" charset="0"/>
              </a:rPr>
              <a:t>двойк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bg-BG" b="1" dirty="0">
                <a:latin typeface="Times New Roman" pitchFamily="18" charset="0"/>
                <a:cs typeface="Times New Roman" pitchFamily="18" charset="0"/>
              </a:rPr>
              <a:t>числа със знак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b="1" dirty="0">
                <a:latin typeface="Times New Roman" pitchFamily="18" charset="0"/>
                <a:cs typeface="Times New Roman" pitchFamily="18" charset="0"/>
              </a:rPr>
              <a:t>в 16 код с размер дума/половин дума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bg-BG" b="1" dirty="0">
                <a:latin typeface="Times New Roman" pitchFamily="18" charset="0"/>
                <a:cs typeface="Times New Roman" pitchFamily="18" charset="0"/>
              </a:rPr>
              <a:t> Напишете програма на Асемблер, за да реализирате събиране и изваждане в на числата. Запишете резултатите в паметта със същия размер като операнди.</a:t>
            </a:r>
            <a:endParaRPr lang="bg-BG" sz="21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425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482F9F-C709-46A3-BA9D-9F16E3F47A46}"/>
              </a:ext>
            </a:extLst>
          </p:cNvPr>
          <p:cNvSpPr/>
          <p:nvPr/>
        </p:nvSpPr>
        <p:spPr>
          <a:xfrm>
            <a:off x="395536" y="151179"/>
            <a:ext cx="8208912" cy="655564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 dirty="0">
                <a:latin typeface="Times New Roman"/>
                <a:cs typeface="Times New Roman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486</a:t>
            </a:r>
            <a:endParaRPr lang="bg-BG">
              <a:solidFill>
                <a:srgbClr val="000000"/>
              </a:solidFill>
              <a:latin typeface="Constantia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.model flat, </a:t>
            </a:r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stdcall</a:t>
            </a:r>
            <a:endParaRPr lang="en-US" sz="12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includelib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 \masm32\lib\kernel32.lib</a:t>
            </a:r>
            <a:endParaRPr lang="en"/>
          </a:p>
          <a:p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ExitProcess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proto:DWORD</a:t>
            </a:r>
            <a:endParaRPr lang="en-US" sz="12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.data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af2b	</a:t>
            </a:r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dw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 	0aabbh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as2b 	</a:t>
            </a:r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dw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 	00ffeh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add2b              </a:t>
            </a:r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dw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 	?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sub2b	</a:t>
            </a:r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dw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	?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.code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start:  	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	mov	ax, af2b		;Addition of words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	add	ax, as2b		;in 2B registers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	mov	add2b,ax		;Store the sum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; You can make twice addition of L and H–bytes of the addends separately  with taking in account carry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	mov	</a:t>
            </a:r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al,byte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ptr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 af2b	;L byte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	add	al, byte </a:t>
            </a:r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ptr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 as2b	;L byte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	mov	byte </a:t>
            </a:r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ptr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 add2b, al	;sum L byte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	mov	bl, byte </a:t>
            </a:r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ptr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 af2b+1	;H byte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adc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	bl, byte </a:t>
            </a:r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ptr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 as2b+1	;H byte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	mov	byte </a:t>
            </a:r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ptr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 add2b+1, bl	;sum H byte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;Subtraction of 2B operands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	mov	ax, af2b		;Load minuend in 2B reg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	sub	ax, as2b		;subtract subtrahend and take a difference in 2B reg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	mov	sub2b,ax		;Store the difference</a:t>
            </a:r>
            <a:endParaRPr lang="en"/>
          </a:p>
          <a:p>
            <a:endParaRPr lang="en-US" sz="12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; You can make twice subtractions of L and H–bytes of separately  with taking in account borrow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	mov	</a:t>
            </a:r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al,byte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ptr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 af2b	;L byte minuend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	sub	al, byte </a:t>
            </a:r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ptr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 as2b	;L byte subtrahend, difference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	mov	byte </a:t>
            </a:r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ptr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 sub2b, al	;store L byte difference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	mov	bl, byte </a:t>
            </a:r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ptr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 af2b+1	;H byte minuend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sbb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	bl, byte </a:t>
            </a:r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ptr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 as2b+1	;H byte subtrahend, difference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	mov	byte </a:t>
            </a:r>
            <a:r>
              <a:rPr lang="en-US" sz="1200" err="1">
                <a:solidFill>
                  <a:srgbClr val="000000"/>
                </a:solidFill>
                <a:latin typeface="Times New Roman"/>
                <a:cs typeface="Times New Roman"/>
              </a:rPr>
              <a:t>ptr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 sub2b+1, bl	;store H byte diff.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invoke ExitProcess,0</a:t>
            </a:r>
            <a:endParaRPr lang="en"/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        	end start     </a:t>
            </a:r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20152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611560" y="0"/>
            <a:ext cx="8229600" cy="1143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Контейнер за съдържание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576" y="416785"/>
            <a:ext cx="7416824" cy="590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87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251520" y="548680"/>
            <a:ext cx="8712968" cy="6192688"/>
          </a:xfrm>
        </p:spPr>
        <p:txBody>
          <a:bodyPr>
            <a:normAutofit fontScale="25000" lnSpcReduction="20000"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.global start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  	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r0,=af2b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ldrh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r0,[r0]		@r0=&gt;(af2b) Loads r0-LS half-word 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@from memory and clears B2,B3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r1,=as2b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ldrh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r1,[r1]		@r1=&gt;(as2b). Loads r1-LS half-word 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@from memory and clears B2,B3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add	r2,r0,r1		@Addition of words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r3,=add2b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strh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r2,[r3]		@add2b&lt;=(af2b)+(as2b). Store r2-LS half-word into memory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@Subtraction of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hwords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R0,=af2b		@Minuend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ldrh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R0,[R0]		@r0=&gt;(af2b) Loads r0-LS half-word 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@from memory and clears B2,B3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LDR	R1,=as2b		@subtrahend 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LDRH	R1,[R1]		@r1=&gt;(as2b) Loads r1-LS half-word 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@from memory and clears B2,B3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sub	R2,R0,R1		@r2&lt;=(af2b)-(as2b)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LDR	R3,=sub2b		@Diff.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STRH	R2,[R3]		@sub2b&lt;=(af4b)-(as4b) Store difference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.data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af2b:	 .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hword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0xaabb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as2b:	 .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hword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0x0ffe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add2b:  .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hword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0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sub2b:	  .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hword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0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.end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445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C6FD5-7303-4ED6-A626-101532A90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bg-BG" b="1" dirty="0">
                <a:latin typeface="Times New Roman" pitchFamily="18" charset="0"/>
                <a:cs typeface="Times New Roman" pitchFamily="18" charset="0"/>
              </a:rPr>
              <a:t>Задача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3</a:t>
            </a:r>
            <a:r>
              <a:rPr lang="bg-BG" b="1" dirty="0">
                <a:latin typeface="Times New Roman" pitchFamily="18" charset="0"/>
                <a:cs typeface="Times New Roman" pitchFamily="18" charset="0"/>
              </a:rPr>
              <a:t>. Определете в паметта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bg-BG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b="1" dirty="0" err="1">
                <a:latin typeface="Times New Roman" pitchFamily="18" charset="0"/>
                <a:cs typeface="Times New Roman" pitchFamily="18" charset="0"/>
              </a:rPr>
              <a:t>двойк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 32b</a:t>
            </a:r>
            <a:r>
              <a:rPr lang="bg-BG" b="1" dirty="0">
                <a:latin typeface="Times New Roman" pitchFamily="18" charset="0"/>
                <a:cs typeface="Times New Roman" pitchFamily="18" charset="0"/>
              </a:rPr>
              <a:t> числа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b="1" dirty="0">
                <a:latin typeface="Times New Roman" pitchFamily="18" charset="0"/>
                <a:cs typeface="Times New Roman" pitchFamily="18" charset="0"/>
              </a:rPr>
              <a:t>в 16 код със знак с размер двойна дума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bg-BG" b="1" dirty="0">
                <a:latin typeface="Times New Roman" pitchFamily="18" charset="0"/>
                <a:cs typeface="Times New Roman" pitchFamily="18" charset="0"/>
              </a:rPr>
              <a:t> Напишете програма на Асемблер, за да реализирате събиране и изваждане на числата. Запишете резултатите в паметта със същия размер като операнди.</a:t>
            </a:r>
            <a:endParaRPr lang="bg-BG" sz="21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023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9253BC-A2ED-402B-842F-563AF9653B1D}"/>
              </a:ext>
            </a:extLst>
          </p:cNvPr>
          <p:cNvSpPr/>
          <p:nvPr/>
        </p:nvSpPr>
        <p:spPr>
          <a:xfrm>
            <a:off x="251520" y="152197"/>
            <a:ext cx="8707248" cy="6571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bg-BG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486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model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flat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stdcall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includelib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\masm32\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lib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\kernel32.lib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ExitProcess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proto:DWORD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data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af4b		dd	00f23f500h</a:t>
            </a:r>
          </a:p>
          <a:p>
            <a:pPr algn="just"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as4b		dd	027777777h</a:t>
            </a:r>
          </a:p>
          <a:p>
            <a:pPr algn="just"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add4b		dd	?</a:t>
            </a:r>
          </a:p>
          <a:p>
            <a:pPr algn="just"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sub4b		dd	?</a:t>
            </a:r>
          </a:p>
          <a:p>
            <a:pPr algn="just"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.code</a:t>
            </a:r>
          </a:p>
          <a:p>
            <a:pPr algn="just"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start:  </a:t>
            </a:r>
          </a:p>
          <a:p>
            <a:pPr algn="just">
              <a:spcAft>
                <a:spcPts val="0"/>
              </a:spcAft>
            </a:pP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Добавяне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на двойни 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думи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като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използвате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32b 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регистри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, в 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които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зареждате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операндите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и след 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това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взимате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сума от един от тях-32b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mov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eax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, af4b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add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eax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, as4b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mov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	add4b,eax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bg-BG" sz="14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                   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mov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eax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, af4b		;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Dword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minuend</a:t>
            </a:r>
          </a:p>
          <a:p>
            <a:pPr algn="just">
              <a:spcAft>
                <a:spcPts val="0"/>
              </a:spcAft>
            </a:pP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sub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eax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, as4b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		;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Dword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subtrahend</a:t>
            </a:r>
          </a:p>
          <a:p>
            <a:pPr algn="just">
              <a:spcAft>
                <a:spcPts val="0"/>
              </a:spcAft>
            </a:pP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mov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	sub4b, 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eax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		;Store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dword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diff.</a:t>
            </a:r>
          </a:p>
          <a:p>
            <a:pPr algn="just"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Можете да направите два 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пъти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изваждане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на L и H–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думи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на 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умаляваното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и 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изважданото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поотделно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като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вземете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предвид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заемането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с 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помощта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на 16-b 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регистър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mov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ax,word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ptr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af4b	;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load 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L 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word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in 2B reg.</a:t>
            </a:r>
          </a:p>
          <a:p>
            <a:pPr algn="just">
              <a:spcAft>
                <a:spcPts val="0"/>
              </a:spcAft>
            </a:pP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sub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ax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word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ptr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as4b	;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subtract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L 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words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without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bg-BG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borrow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	mov	word ptr sub4b, ax	;difference of L words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	mov	bx, word ptr af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4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b+2	;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Load 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H word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in 2B reg.</a:t>
            </a:r>
          </a:p>
          <a:p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	sbb	bx, word ptr as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4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b+2	; subtract H words with borrow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	mov	word ptr sub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4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b+2, bx	;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Store </a:t>
            </a: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difference of H words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       	invoke ExitProcess,0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bg-BG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       	end start  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052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Картина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" y="548680"/>
            <a:ext cx="8715375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838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539552" y="476672"/>
            <a:ext cx="8229600" cy="525658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.text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.global start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  	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@Addition of words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R0,=af4b		@I-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Addend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R0,[R0]		@r0&lt;=af4b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LDR	R1,=as4b		@II-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Addend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LDR	R1,[R1]		@r1&lt;=as4b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Add	R2,R1,R0		@r2&lt;=(a4b)+(as4b)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LDR	R3,=add4b		@Sum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STR	R2,[R3]		@add4b&lt;=(af4b)+(as4b), Store the sum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@Subtraction of words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R0,=af4b		@Minuend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R0,[R0]		@r0=&gt;(af4b)  Load minuend –word size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LDR	R1,=as4b		@subtrahend 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LDR	R1,[R1]		@r1=&gt;(as4b) Load subtrahend –word size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sub	R2,R0,R1		@r2&lt;=(af4b)-(as4b)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LDR	R3,=sub4b	@Diff.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STR	R2,[R3]		@sub4b&lt;=(af4b)-(as4b) Store diff. as word size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0x11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.data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af4b:	  .word	0x00f23f500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as4b:	  .word	0x027777777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add4b:	  .word	0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sub4b:	  .word	0</a:t>
            </a:r>
          </a:p>
        </p:txBody>
      </p:sp>
    </p:spTree>
    <p:extLst>
      <p:ext uri="{BB962C8B-B14F-4D97-AF65-F5344CB8AC3E}">
        <p14:creationId xmlns:p14="http://schemas.microsoft.com/office/powerpoint/2010/main" val="4116412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336" y="1340768"/>
            <a:ext cx="8776151" cy="5328592"/>
          </a:xfrm>
        </p:spPr>
        <p:txBody>
          <a:bodyPr>
            <a:noAutofit/>
          </a:bodyPr>
          <a:lstStyle/>
          <a:p>
            <a:pPr algn="just">
              <a:lnSpc>
                <a:spcPts val="40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освен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двоично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представените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числа, се използват и двоично-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десетичните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числа (2/10-чни). Това 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естественото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представяне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числата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след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тяхното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въвеждане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например, от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клавиатурата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също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непосредствено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тяхната визуализация.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одът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представяне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десетичните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8421 или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още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прякото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заместване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чиято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кодова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таблица 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следната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</p:spPr>
        <p:txBody>
          <a:bodyPr>
            <a:normAutofit/>
          </a:bodyPr>
          <a:lstStyle/>
          <a:p>
            <a:r>
              <a:rPr lang="en-US" sz="37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Двоично-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десетични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числа</a:t>
            </a:r>
            <a:endParaRPr lang="bg-BG" sz="4000" b="1" dirty="0"/>
          </a:p>
        </p:txBody>
      </p:sp>
      <p:pic>
        <p:nvPicPr>
          <p:cNvPr id="2" name="Картина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88" y="5085184"/>
            <a:ext cx="852082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336" y="1143000"/>
            <a:ext cx="8776151" cy="5526360"/>
          </a:xfrm>
        </p:spPr>
        <p:txBody>
          <a:bodyPr>
            <a:noAutofit/>
          </a:bodyPr>
          <a:lstStyle/>
          <a:p>
            <a:pPr algn="just">
              <a:lnSpc>
                <a:spcPts val="38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2/10-чните числа се представят в два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формàта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ts val="38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опакован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пакетиран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</a:t>
            </a:r>
          </a:p>
          <a:p>
            <a:pPr algn="just">
              <a:lnSpc>
                <a:spcPts val="38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опакован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(не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пакетиран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algn="just">
              <a:lnSpc>
                <a:spcPts val="38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първия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формат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всеки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байт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две 2/10-чни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(по 2 тетради), а във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втория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формат – само по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която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разположена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дясната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половина. Например, за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числото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0596:</a:t>
            </a:r>
          </a:p>
          <a:p>
            <a:pPr algn="just">
              <a:lnSpc>
                <a:spcPts val="4000"/>
              </a:lnSpc>
              <a:spcBef>
                <a:spcPts val="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7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Двоично-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десетични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числа</a:t>
            </a:r>
            <a:endParaRPr lang="bg-BG" sz="4000" b="1" dirty="0"/>
          </a:p>
        </p:txBody>
      </p:sp>
      <p:pic>
        <p:nvPicPr>
          <p:cNvPr id="5" name="Картина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4149080"/>
            <a:ext cx="5544616" cy="238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36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360543"/>
            <a:ext cx="8776151" cy="5526360"/>
          </a:xfrm>
        </p:spPr>
        <p:txBody>
          <a:bodyPr>
            <a:noAutofit/>
          </a:bodyPr>
          <a:lstStyle/>
          <a:p>
            <a:pPr algn="just">
              <a:lnSpc>
                <a:spcPts val="4000"/>
              </a:lnSpc>
              <a:spcBef>
                <a:spcPts val="0"/>
              </a:spcBef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Асемблер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променливите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които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2/10-чни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могат да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бъдат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декларирани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с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директивата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ts val="4000"/>
              </a:lnSpc>
              <a:spcBef>
                <a:spcPts val="0"/>
              </a:spcBef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5h, 96h            ;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числото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596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пакетиран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формат</a:t>
            </a:r>
          </a:p>
          <a:p>
            <a:pPr algn="just">
              <a:lnSpc>
                <a:spcPts val="4000"/>
              </a:lnSpc>
              <a:spcBef>
                <a:spcPts val="0"/>
              </a:spcBef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UNPACK 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 5, 9, 6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числото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596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непакетиран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формат </a:t>
            </a:r>
          </a:p>
          <a:p>
            <a:pPr algn="just">
              <a:lnSpc>
                <a:spcPts val="4000"/>
              </a:lnSpc>
              <a:spcBef>
                <a:spcPts val="0"/>
              </a:spcBef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да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сме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сигурни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че 2/10-чните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един байт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бъдат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представени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така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както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искаме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ги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изписваме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16-чна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или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двоична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защото ако ги запишем в 10-чна,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числото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записано в 2-чна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система. </a:t>
            </a:r>
          </a:p>
          <a:p>
            <a:pPr algn="just">
              <a:lnSpc>
                <a:spcPts val="4000"/>
              </a:lnSpc>
              <a:spcBef>
                <a:spcPts val="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7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Двоично-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десетични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числа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3669939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360543"/>
            <a:ext cx="8776151" cy="5526360"/>
          </a:xfrm>
        </p:spPr>
        <p:txBody>
          <a:bodyPr>
            <a:noAutofit/>
          </a:bodyPr>
          <a:lstStyle/>
          <a:p>
            <a:pPr algn="just">
              <a:lnSpc>
                <a:spcPts val="4000"/>
              </a:lnSpc>
              <a:spcBef>
                <a:spcPts val="0"/>
              </a:spcBef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Непакетираният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вид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числото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различава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ASCII-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символния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вид по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старшата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тетрада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Непакетираното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число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старша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тетрада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нула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символите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цифрите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кода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своята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зона 30h. Например, като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символен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низ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числото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596 има вида: </a:t>
            </a:r>
          </a:p>
          <a:p>
            <a:pPr algn="just">
              <a:lnSpc>
                <a:spcPts val="4000"/>
              </a:lnSpc>
              <a:spcBef>
                <a:spcPts val="0"/>
              </a:spcBef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4000"/>
              </a:lnSpc>
              <a:spcBef>
                <a:spcPts val="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7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Двоично-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десетични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числа</a:t>
            </a:r>
            <a:endParaRPr lang="bg-BG" sz="4000" b="1" dirty="0"/>
          </a:p>
        </p:txBody>
      </p:sp>
      <p:pic>
        <p:nvPicPr>
          <p:cNvPr id="2" name="Картина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881" y="4437112"/>
            <a:ext cx="6454926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647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516" y="1556792"/>
            <a:ext cx="8712968" cy="4896544"/>
          </a:xfrm>
        </p:spPr>
        <p:txBody>
          <a:bodyPr>
            <a:noAutofit/>
          </a:bodyPr>
          <a:lstStyle/>
          <a:p>
            <a:pPr marL="0" indent="0" algn="just">
              <a:lnSpc>
                <a:spcPts val="3400"/>
              </a:lnSpc>
              <a:spcBef>
                <a:spcPts val="0"/>
              </a:spcBef>
              <a:buNone/>
            </a:pP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Събиране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неопаковани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непакетирани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числа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3400"/>
              </a:lnSpc>
              <a:spcBef>
                <a:spcPts val="0"/>
              </a:spcBef>
              <a:buNone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Събирането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непакетирани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числа е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същност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събиране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2 байта,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всеки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които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само по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десетична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цифра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ctr">
              <a:lnSpc>
                <a:spcPts val="34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апример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5+8=13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Резултатът</a:t>
            </a:r>
            <a:r>
              <a:rPr lang="ru-RU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събирането</a:t>
            </a:r>
            <a:r>
              <a:rPr lang="ru-RU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ru-RU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по-голям</a:t>
            </a:r>
            <a:r>
              <a:rPr lang="ru-RU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9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 = 0000 0101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 = 0000 1000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= 0000 1101</a:t>
            </a:r>
          </a:p>
          <a:p>
            <a:pPr marL="0" indent="0">
              <a:spcBef>
                <a:spcPts val="0"/>
              </a:spcBef>
              <a:buNone/>
            </a:pP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Правилният резултат в </a:t>
            </a:r>
            <a:r>
              <a:rPr lang="bg-BG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неопакован</a:t>
            </a: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 формат трябва да бъде: </a:t>
            </a:r>
            <a:r>
              <a:rPr lang="bg-BG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0000 0001 0000 0011 </a:t>
            </a: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двоична система (13 в десетична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82557" y="476672"/>
            <a:ext cx="8229600" cy="782960"/>
          </a:xfrm>
        </p:spPr>
        <p:txBody>
          <a:bodyPr>
            <a:normAutofit fontScale="90000"/>
          </a:bodyPr>
          <a:lstStyle/>
          <a:p>
            <a:r>
              <a:rPr lang="en-US" sz="37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Събиране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на двоично-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десетични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числа 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948788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844824"/>
            <a:ext cx="8229600" cy="3537520"/>
          </a:xfrm>
        </p:spPr>
        <p:txBody>
          <a:bodyPr>
            <a:noAutofit/>
          </a:bodyPr>
          <a:lstStyle/>
          <a:p>
            <a:pPr marL="0" indent="0" algn="just">
              <a:lnSpc>
                <a:spcPts val="3400"/>
              </a:lnSpc>
              <a:spcBef>
                <a:spcPts val="0"/>
              </a:spcBef>
              <a:buNone/>
            </a:pP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Събиране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неопаковани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непакетирани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числа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34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Получената сума не е </a:t>
            </a:r>
            <a:r>
              <a:rPr lang="bg-BG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едноцифрена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тя се представя по всички правила на бройната система, т.е. чрез функцията на </a:t>
            </a:r>
            <a:r>
              <a:rPr lang="bg-BG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едноразрядната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сума и функцията на преноса.</a:t>
            </a:r>
          </a:p>
          <a:p>
            <a:pPr marL="0" indent="0" algn="just">
              <a:lnSpc>
                <a:spcPts val="34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Този десетичен резултат не може да се получи чрез операция двоично събиране, която напомняме, че е реализирана хардуерно чрез суматора в АЛУ на процесор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а.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2403" y="475290"/>
            <a:ext cx="8229600" cy="782960"/>
          </a:xfrm>
        </p:spPr>
        <p:txBody>
          <a:bodyPr>
            <a:normAutofit fontScale="90000"/>
          </a:bodyPr>
          <a:lstStyle/>
          <a:p>
            <a:r>
              <a:rPr lang="en-US" sz="37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Събиране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на двоично-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десетични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числа 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2441136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192" y="620688"/>
            <a:ext cx="8579296" cy="5112568"/>
          </a:xfrm>
        </p:spPr>
        <p:txBody>
          <a:bodyPr>
            <a:noAutofit/>
          </a:bodyPr>
          <a:lstStyle/>
          <a:p>
            <a:pPr marL="0" indent="0" algn="just">
              <a:lnSpc>
                <a:spcPts val="40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Реализира се  изпълнението на втора, специална операция – операция 2/10-чна корекция. Тази корекция се изпълнява от командата </a:t>
            </a: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ААА (ASCII </a:t>
            </a:r>
            <a:r>
              <a:rPr lang="bg-BG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Adjust</a:t>
            </a: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Addition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която работи само с регистър </a:t>
            </a: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анализира значението на младшата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тетрада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Примерът, </a:t>
            </a: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5+8=13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следва да бъде програмиран с командите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lnSpc>
                <a:spcPts val="35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AL, 5</a:t>
            </a:r>
          </a:p>
          <a:p>
            <a:pPr marL="0" indent="0" algn="ctr">
              <a:lnSpc>
                <a:spcPts val="35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ADD AL, 8 ; (AL)=0Dh , D ≡ 13</a:t>
            </a:r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35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AAA ; CF=1 , (AL)=03h</a:t>
            </a:r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4000"/>
              </a:lnSpc>
              <a:spcBef>
                <a:spcPts val="0"/>
              </a:spcBef>
              <a:buNone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Получената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сума се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следния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начин: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старшата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цифра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флаг СF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неопакованата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младша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цифра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5192" y="-58824"/>
            <a:ext cx="8229600" cy="782960"/>
          </a:xfrm>
        </p:spPr>
        <p:txBody>
          <a:bodyPr>
            <a:normAutofit fontScale="90000"/>
          </a:bodyPr>
          <a:lstStyle/>
          <a:p>
            <a:r>
              <a:rPr lang="en-US" sz="37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Събиране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на двоично-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десетични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числа 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3970873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268760"/>
            <a:ext cx="8776151" cy="5112568"/>
          </a:xfrm>
        </p:spPr>
        <p:txBody>
          <a:bodyPr>
            <a:noAutofit/>
          </a:bodyPr>
          <a:lstStyle/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Събиране на опаковани (пакетирани) числа</a:t>
            </a:r>
          </a:p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Налага се  дългите числа (с по няколко байта) да събираме на части (</a:t>
            </a:r>
            <a:r>
              <a:rPr lang="bg-BG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побайтно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Разликата е в това, че във всеки байт са представени по две 2/10-чни цифри. Всяка порция от числата – двойка цифри се събира с две команди: </a:t>
            </a:r>
          </a:p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(или ADC) с последваща корекция</a:t>
            </a:r>
          </a:p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DAA (</a:t>
            </a:r>
            <a:r>
              <a:rPr lang="bg-BG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Decimal</a:t>
            </a: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Adjust</a:t>
            </a: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Addition</a:t>
            </a: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Тази команда също работи с регистър AL.</a:t>
            </a:r>
          </a:p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Например:</a:t>
            </a:r>
          </a:p>
          <a:p>
            <a:pPr marL="0" indent="137160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AL, 59h</a:t>
            </a:r>
          </a:p>
          <a:p>
            <a:pPr marL="0" indent="137160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AL, 69h ; AL := 0C2h</a:t>
            </a:r>
          </a:p>
          <a:p>
            <a:pPr marL="0" indent="137160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DAA ; CF=1 , (AL)=28h</a:t>
            </a:r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събиране на две двуцифрени числа може да се получи трицифрена сума, старшата цифра на която се съдържа в CF.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229600" cy="782960"/>
          </a:xfrm>
        </p:spPr>
        <p:txBody>
          <a:bodyPr>
            <a:normAutofit fontScale="90000"/>
          </a:bodyPr>
          <a:lstStyle/>
          <a:p>
            <a:r>
              <a:rPr lang="en-US" sz="37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Събиране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на двоично-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десетични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числа 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1876557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624" y="623229"/>
            <a:ext cx="8776151" cy="5112568"/>
          </a:xfrm>
        </p:spPr>
        <p:txBody>
          <a:bodyPr>
            <a:noAutofit/>
          </a:bodyPr>
          <a:lstStyle/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Изваждането се организира алгоритмично по същия начин, като операция събиране.  За реализация на корекциите са предвидени две команди:</a:t>
            </a:r>
          </a:p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ASCII-корекция след двоично изваждане: AAS;</a:t>
            </a:r>
          </a:p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Десетична корекция след двоично изваждане: DAS.</a:t>
            </a:r>
          </a:p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Командите работят с регистър AL и формират възможния заем във флаговия бит CF.</a:t>
            </a:r>
          </a:p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изваждане на не опаковани 2/10-чни числа </a:t>
            </a: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Z=X-Y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968375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AL, 05h ; Z=5-2</a:t>
            </a:r>
          </a:p>
          <a:p>
            <a:pPr marL="0" indent="968375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AL, 02h ; (AL)=03h , AF=0</a:t>
            </a:r>
          </a:p>
          <a:p>
            <a:pPr marL="0" indent="968375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AAS ; (AL)=03h , CF=0 без корекция</a:t>
            </a:r>
          </a:p>
          <a:p>
            <a:pPr marL="0" indent="968375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AL, 02h ; Z=2-5</a:t>
            </a:r>
          </a:p>
          <a:p>
            <a:pPr marL="0" indent="968375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AL, 05h ; (AL)=0Fh , AF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</a:p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AAS ; (AL)=07h , CF=1 с корекция</a:t>
            </a:r>
          </a:p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 AAS се използва както за </a:t>
            </a:r>
            <a:r>
              <a:rPr lang="bg-BG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неопаковани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така и за ASCII-</a:t>
            </a:r>
          </a:p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символи, аналогична на команда ААА.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97886" y="147699"/>
            <a:ext cx="8229600" cy="938645"/>
          </a:xfrm>
        </p:spPr>
        <p:txBody>
          <a:bodyPr>
            <a:normAutofit fontScale="90000"/>
          </a:bodyPr>
          <a:lstStyle/>
          <a:p>
            <a:r>
              <a:rPr lang="en-US" sz="37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Изваждане на двоично-десетични числа</a:t>
            </a:r>
            <a:br>
              <a:rPr lang="bg-BG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bg-BG" sz="3800" b="1" dirty="0"/>
          </a:p>
        </p:txBody>
      </p:sp>
    </p:spTree>
    <p:extLst>
      <p:ext uri="{BB962C8B-B14F-4D97-AF65-F5344CB8AC3E}">
        <p14:creationId xmlns:p14="http://schemas.microsoft.com/office/powerpoint/2010/main" val="3371441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916832"/>
            <a:ext cx="8776151" cy="4464496"/>
          </a:xfrm>
        </p:spPr>
        <p:txBody>
          <a:bodyPr>
            <a:noAutofit/>
          </a:bodyPr>
          <a:lstStyle/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Когато се изваждат опаковани 2/10-чни числа при обработка на всеки байт се използват две команди – двоично изваждане </a:t>
            </a: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(или SBB) с последваща корекция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Например:</a:t>
            </a:r>
          </a:p>
          <a:p>
            <a:pPr marL="0" indent="1317625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AH, 0</a:t>
            </a:r>
          </a:p>
          <a:p>
            <a:pPr marL="0" indent="1317625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AL, 25h</a:t>
            </a:r>
          </a:p>
          <a:p>
            <a:pPr marL="0" indent="1317625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AL, 52h ; (AL)=D3h , AF=0 , CF=1</a:t>
            </a:r>
          </a:p>
          <a:p>
            <a:pPr marL="0" indent="1317625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(AL)=73h , CF=1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800"/>
              </a:lnSpc>
              <a:spcBef>
                <a:spcPts val="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EF4DFA-F5C2-4C58-A530-475CE448855C}"/>
              </a:ext>
            </a:extLst>
          </p:cNvPr>
          <p:cNvSpPr txBox="1">
            <a:spLocks/>
          </p:cNvSpPr>
          <p:nvPr/>
        </p:nvSpPr>
        <p:spPr>
          <a:xfrm>
            <a:off x="524795" y="764704"/>
            <a:ext cx="8229600" cy="938645"/>
          </a:xfrm>
          <a:prstGeom prst="rect">
            <a:avLst/>
          </a:prstGeom>
        </p:spPr>
        <p:txBody>
          <a:bodyPr vert="horz" lIns="0" rIns="0" bIns="0" anchor="b">
            <a:normAutofit fontScale="90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7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Изваждане на двоично-десетични числа</a:t>
            </a:r>
            <a:br>
              <a:rPr lang="bg-BG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bg-BG" sz="3800" b="1" dirty="0"/>
          </a:p>
        </p:txBody>
      </p:sp>
    </p:spTree>
    <p:extLst>
      <p:ext uri="{BB962C8B-B14F-4D97-AF65-F5344CB8AC3E}">
        <p14:creationId xmlns:p14="http://schemas.microsoft.com/office/powerpoint/2010/main" val="17149483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556792"/>
            <a:ext cx="8568952" cy="5112568"/>
          </a:xfrm>
        </p:spPr>
        <p:txBody>
          <a:bodyPr>
            <a:noAutofit/>
          </a:bodyPr>
          <a:lstStyle/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Операциите </a:t>
            </a: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умножение и деление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 реализират сложно, което се дължи на това, че основната бройна система на процесора е </a:t>
            </a: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двоичната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 системата с машинни команди на разглеждания процесор са включени команди за изпълнение на тези операции, но само върху </a:t>
            </a:r>
            <a:r>
              <a:rPr lang="bg-BG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едноцифрени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неопаковани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операнди. Към тези команди </a:t>
            </a:r>
            <a:r>
              <a:rPr lang="bg-BG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следва да се добавят и командите за корекция след умножение и след деление</a:t>
            </a: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Корекцията след двоично умножение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изпълнява командата</a:t>
            </a:r>
          </a:p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ААМ: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AAM (ASCII Adjust After Multiply). </a:t>
            </a:r>
            <a:endParaRPr lang="bg-BG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620688"/>
            <a:ext cx="9036496" cy="782960"/>
          </a:xfrm>
        </p:spPr>
        <p:txBody>
          <a:bodyPr>
            <a:normAutofit fontScale="90000"/>
          </a:bodyPr>
          <a:lstStyle/>
          <a:p>
            <a:r>
              <a:rPr lang="en-US" sz="37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Умножение и деление на двоично-</a:t>
            </a:r>
            <a:r>
              <a:rPr lang="ru-RU" sz="3600" dirty="0" err="1">
                <a:latin typeface="Times New Roman" pitchFamily="18" charset="0"/>
                <a:cs typeface="Times New Roman" pitchFamily="18" charset="0"/>
              </a:rPr>
              <a:t>десетични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 числа</a:t>
            </a:r>
            <a:endParaRPr lang="bg-BG" sz="3600" b="1" dirty="0"/>
          </a:p>
        </p:txBody>
      </p:sp>
    </p:spTree>
    <p:extLst>
      <p:ext uri="{BB962C8B-B14F-4D97-AF65-F5344CB8AC3E}">
        <p14:creationId xmlns:p14="http://schemas.microsoft.com/office/powerpoint/2010/main" val="3519967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1" y="1268760"/>
            <a:ext cx="8568952" cy="5112568"/>
          </a:xfrm>
        </p:spPr>
        <p:txBody>
          <a:bodyPr>
            <a:noAutofit/>
          </a:bodyPr>
          <a:lstStyle/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Командата </a:t>
            </a:r>
            <a:r>
              <a:rPr lang="bg-BG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ААМ дели стойността в регистър AL на 10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записва непълното частно в </a:t>
            </a:r>
            <a:r>
              <a:rPr lang="bg-BG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 АН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lang="bg-BG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остатъка – в регистър AL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получавайки по този начин в тези два регистъра правилните десетични цифри на произведението.</a:t>
            </a:r>
          </a:p>
          <a:p>
            <a:pPr marL="0" indent="137160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AL, 6</a:t>
            </a:r>
          </a:p>
          <a:p>
            <a:pPr marL="0" indent="137160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BH, 9</a:t>
            </a:r>
          </a:p>
          <a:p>
            <a:pPr marL="0" indent="137160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 BH ; (AL)=54=36h , (AH)=0</a:t>
            </a:r>
          </a:p>
          <a:p>
            <a:pPr marL="0" indent="137160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AAM ; (AH)=5 , (AL)=4</a:t>
            </a:r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CD0CF0B-2811-4AB9-BA0A-F4A7D28EA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35" y="188640"/>
            <a:ext cx="9036496" cy="782960"/>
          </a:xfrm>
        </p:spPr>
        <p:txBody>
          <a:bodyPr>
            <a:normAutofit fontScale="90000"/>
          </a:bodyPr>
          <a:lstStyle/>
          <a:p>
            <a:r>
              <a:rPr lang="en-US" sz="37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Умножение и деление на двоично-</a:t>
            </a:r>
            <a:r>
              <a:rPr lang="ru-RU" sz="3600" dirty="0" err="1">
                <a:latin typeface="Times New Roman" pitchFamily="18" charset="0"/>
                <a:cs typeface="Times New Roman" pitchFamily="18" charset="0"/>
              </a:rPr>
              <a:t>десетични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 числа</a:t>
            </a:r>
            <a:endParaRPr lang="bg-BG" sz="3600" b="1" dirty="0"/>
          </a:p>
        </p:txBody>
      </p:sp>
    </p:spTree>
    <p:extLst>
      <p:ext uri="{BB962C8B-B14F-4D97-AF65-F5344CB8AC3E}">
        <p14:creationId xmlns:p14="http://schemas.microsoft.com/office/powerpoint/2010/main" val="3856642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71600"/>
            <a:ext cx="8568952" cy="5886400"/>
          </a:xfrm>
        </p:spPr>
        <p:txBody>
          <a:bodyPr>
            <a:noAutofit/>
          </a:bodyPr>
          <a:lstStyle/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двоично деление с команда DIV за корекция се използва</a:t>
            </a:r>
          </a:p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 AAD (ASCII </a:t>
            </a:r>
            <a:r>
              <a:rPr lang="bg-BG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Adjust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Division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Тази команда, за разлика от всички команди за корекция, разгледани до момента, се поставя преди командата за двоично деление. Веднага след поставяне на делимото в регистър АХ (двойка непакетирани 2/10-чни цифри – старшата в регистър АН и младшата в регистър AL) се поставя команда AAD, която преобразува тази двойка цифри в двоично число и го записва в регистър АХ така: </a:t>
            </a:r>
          </a:p>
          <a:p>
            <a:pPr marL="0" indent="182880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 := (AH)*10+(AL)</a:t>
            </a:r>
          </a:p>
          <a:p>
            <a:pPr marL="0" indent="0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 това командата DIV изпълнява операция деление. Например:</a:t>
            </a:r>
          </a:p>
          <a:p>
            <a:pPr marL="0" indent="1774825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BH, 9 ; делител</a:t>
            </a:r>
          </a:p>
          <a:p>
            <a:pPr marL="0" indent="1774825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AX, 0307h ; делимо = 37 - не опаковано</a:t>
            </a:r>
          </a:p>
          <a:p>
            <a:pPr marL="0" indent="1774825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AAD ; (AX)=25h - като двоично число</a:t>
            </a:r>
          </a:p>
          <a:p>
            <a:pPr marL="0" indent="1774825" algn="just">
              <a:lnSpc>
                <a:spcPts val="2800"/>
              </a:lnSpc>
              <a:spcBef>
                <a:spcPts val="0"/>
              </a:spcBef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 BH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CD0CF0B-2811-4AB9-BA0A-F4A7D28EA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35" y="188640"/>
            <a:ext cx="9036496" cy="782960"/>
          </a:xfrm>
        </p:spPr>
        <p:txBody>
          <a:bodyPr>
            <a:normAutofit fontScale="90000"/>
          </a:bodyPr>
          <a:lstStyle/>
          <a:p>
            <a:r>
              <a:rPr lang="en-US" sz="37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Умножение и деление на двоично-</a:t>
            </a:r>
            <a:r>
              <a:rPr lang="ru-RU" sz="3600" dirty="0" err="1">
                <a:latin typeface="Times New Roman" pitchFamily="18" charset="0"/>
                <a:cs typeface="Times New Roman" pitchFamily="18" charset="0"/>
              </a:rPr>
              <a:t>десетични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 числа</a:t>
            </a:r>
            <a:endParaRPr lang="bg-BG" sz="3600" b="1" dirty="0"/>
          </a:p>
        </p:txBody>
      </p:sp>
    </p:spTree>
    <p:extLst>
      <p:ext uri="{BB962C8B-B14F-4D97-AF65-F5344CB8AC3E}">
        <p14:creationId xmlns:p14="http://schemas.microsoft.com/office/powerpoint/2010/main" val="3832289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65231-6DE4-4B44-A264-CA9D8034B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214159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bg-BG" b="1" dirty="0">
                <a:latin typeface="Times New Roman" pitchFamily="18" charset="0"/>
                <a:cs typeface="Times New Roman" pitchFamily="18" charset="0"/>
              </a:rPr>
              <a:t>Задача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4</a:t>
            </a:r>
            <a:r>
              <a:rPr lang="bg-BG" b="1" dirty="0">
                <a:latin typeface="Times New Roman" pitchFamily="18" charset="0"/>
                <a:cs typeface="Times New Roman" pitchFamily="18" charset="0"/>
              </a:rPr>
              <a:t>. Определете 2 BCD числа, които са с дължина на думата, след което ги добавете и запишете резултата в паметта със същия размер като операнди в пакетиран BCD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формат.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466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65231-6DE4-4B44-A264-CA9D8034B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63190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bg-BG" dirty="0"/>
              <a:t>.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486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flat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stdcall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includelib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\masm32\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\kernel32.lib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ExitProcess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proto:DWORD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bcdf2b	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dw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07823h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bcds2b	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dw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01989h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bcdadd2b	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dw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?   ;</a:t>
            </a:r>
            <a:r>
              <a:rPr lang="bg-BG" sz="3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7823+1989=9812</a:t>
            </a:r>
            <a:r>
              <a:rPr lang="en-US" sz="3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  <a:p>
            <a:pPr marL="0" indent="0"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.code</a:t>
            </a:r>
          </a:p>
          <a:p>
            <a:pPr marL="0" indent="0">
              <a:buNone/>
            </a:pPr>
            <a:r>
              <a:rPr lang="bg-BG" sz="3600" dirty="0"/>
              <a:t>;Когато добавяте BCD опаковани числа, добавянето трябва да се извършва само във всички, байт по байт. След добавянето трябва да направите BCD корекция</a:t>
            </a:r>
          </a:p>
          <a:p>
            <a:pPr marL="0" indent="0"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al,byte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bcdf2b		;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addend in al(only here!)</a:t>
            </a:r>
          </a:p>
          <a:p>
            <a:pPr marL="0" indent="0">
              <a:buNone/>
            </a:pP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bcds2b	                  ;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DAA	                                                      ;BCD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correction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addition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al</a:t>
            </a:r>
          </a:p>
          <a:p>
            <a:pPr marL="0" indent="0">
              <a:buNone/>
            </a:pP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bcdadd2b,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	;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bytes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bcdf2b+1	                  ;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addend</a:t>
            </a:r>
          </a:p>
          <a:p>
            <a:pPr marL="0" indent="0">
              <a:buNone/>
            </a:pP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adc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bcds2b+1	                  ;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with carry</a:t>
            </a:r>
          </a:p>
          <a:p>
            <a:pPr marL="0" indent="0">
              <a:buNone/>
            </a:pP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DAA		                                    ;BCD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correction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addition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al</a:t>
            </a:r>
          </a:p>
          <a:p>
            <a:pPr marL="0" indent="0">
              <a:buNone/>
            </a:pP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bcdadd2b+1,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;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bytes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invoke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ExitProcess,0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bg-BG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7899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blob:https://www.facebook.com/666dd8e4-0b08-416c-a0cd-7697e108724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Картина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55099"/>
            <a:ext cx="8086725" cy="663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6262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D0CF0B-2811-4AB9-BA0A-F4A7D28EA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35" y="188640"/>
            <a:ext cx="9036496" cy="782960"/>
          </a:xfrm>
        </p:spPr>
        <p:txBody>
          <a:bodyPr>
            <a:normAutofit/>
          </a:bodyPr>
          <a:lstStyle/>
          <a:p>
            <a:r>
              <a:rPr lang="en-US" sz="37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 Двоично-</a:t>
            </a:r>
            <a:r>
              <a:rPr lang="ru-RU" sz="3600" dirty="0" err="1">
                <a:latin typeface="Times New Roman" pitchFamily="18" charset="0"/>
                <a:cs typeface="Times New Roman" pitchFamily="18" charset="0"/>
              </a:rPr>
              <a:t>десетични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 числа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ARM</a:t>
            </a:r>
            <a:endParaRPr lang="bg-BG" sz="36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4BAF6C-52EA-4265-B465-6794629E5061}"/>
              </a:ext>
            </a:extLst>
          </p:cNvPr>
          <p:cNvSpPr/>
          <p:nvPr/>
        </p:nvSpPr>
        <p:spPr>
          <a:xfrm>
            <a:off x="539552" y="1412776"/>
            <a:ext cx="820891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bg-BG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При BCD код се използва само стойности 0-9 за представянето на числата. Двоично десетичният код е метод за представяне на десетични числа, кодирани в двоичен код. Той използва всяка група от 4 бита (които обикновено могат да представляват числа от 0 до 15), за да представи една десетична цифра (със стойности от 0 до 9). Така числото 10 (или 0xa) е кодирано в BCD като 0x10. Ако при събиране се надхвърли 9, трябва да добавим 6, като прескочим частта от A-F и съхраним всяко пренасяне за следващата цифра това се повтаря за всичките 8 цифри.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bg-BG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Можем да напишем </a:t>
            </a:r>
            <a:r>
              <a:rPr lang="bg-BG" sz="2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SubBCD</a:t>
            </a:r>
            <a:r>
              <a:rPr lang="bg-BG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, за да извадим BCD по подобен начин. Работим с цифрите, следейки пренасянето.</a:t>
            </a:r>
          </a:p>
        </p:txBody>
      </p:sp>
    </p:spTree>
    <p:extLst>
      <p:ext uri="{BB962C8B-B14F-4D97-AF65-F5344CB8AC3E}">
        <p14:creationId xmlns:p14="http://schemas.microsoft.com/office/powerpoint/2010/main" val="40031819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404664"/>
            <a:ext cx="8712968" cy="619268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.486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.model flat,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stdcall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includelib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\masm32\lib\kernel32.lib</a:t>
            </a:r>
          </a:p>
          <a:p>
            <a:pPr>
              <a:spcBef>
                <a:spcPts val="0"/>
              </a:spcBef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ExitProcess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proto:DWORD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.data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Bcdf2b  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dw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07823h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Bcds2b  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dw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01989h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Bcdsub2b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dw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?              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;7823-1989=5834h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.code                                   ;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Когато се изваждат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BCD 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опаковани числа, изваждането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трябва да се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извършва байт по байт. </a:t>
            </a:r>
          </a:p>
          <a:p>
            <a:pPr>
              <a:spcBef>
                <a:spcPts val="0"/>
              </a:spcBef>
            </a:pP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;След добавянето трябва да направите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BCD 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корекция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	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al,byte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bcdf2b	       ;Load L byte addend in al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(only here!)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sub	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al,byte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bcds2b	       ;Sub L byte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DAS	                              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;BCD correction after </a:t>
            </a:r>
            <a:r>
              <a:rPr lang="en-US" sz="1800" dirty="0"/>
              <a:t>subtraction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al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byte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bcdsub2b, al         ;Store difference of L bytes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al, byte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bcdf2b+1	      ;Load H byte 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minuend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al, byte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bcds2b+1	      ;Sub H bytes with carry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DAS		                        ;BCD correction after </a:t>
            </a:r>
            <a:r>
              <a:rPr lang="en-US" sz="1800" dirty="0"/>
              <a:t>subtraction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al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byte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bcdsub2b+1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	      ;Store difference of H bytes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invoke ExitProcess,0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end start </a:t>
            </a:r>
          </a:p>
        </p:txBody>
      </p:sp>
    </p:spTree>
    <p:extLst>
      <p:ext uri="{BB962C8B-B14F-4D97-AF65-F5344CB8AC3E}">
        <p14:creationId xmlns:p14="http://schemas.microsoft.com/office/powerpoint/2010/main" val="23936558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815A41C86513B4096C6BAC35CB04A7C" ma:contentTypeVersion="11" ma:contentTypeDescription="Създаване на нов документ" ma:contentTypeScope="" ma:versionID="aeaffb348d2b52f24d410ae28bdf175e">
  <xsd:schema xmlns:xsd="http://www.w3.org/2001/XMLSchema" xmlns:xs="http://www.w3.org/2001/XMLSchema" xmlns:p="http://schemas.microsoft.com/office/2006/metadata/properties" xmlns:ns2="1170580e-cc85-4814-90d0-7c45caf95435" xmlns:ns3="fa43d559-56ce-40e4-b5e0-b1d2f1c6a948" targetNamespace="http://schemas.microsoft.com/office/2006/metadata/properties" ma:root="true" ma:fieldsID="2b6c80141cda9f3fb17d02d04063fe73" ns2:_="" ns3:_="">
    <xsd:import namespace="1170580e-cc85-4814-90d0-7c45caf95435"/>
    <xsd:import namespace="fa43d559-56ce-40e4-b5e0-b1d2f1c6a9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70580e-cc85-4814-90d0-7c45caf954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Етикети за изображения" ma:readOnly="false" ma:fieldId="{5cf76f15-5ced-4ddc-b409-7134ff3c332f}" ma:taxonomyMulti="true" ma:sspId="f94169f7-4ae2-4031-b8fa-636baa109d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43d559-56ce-40e4-b5e0-b1d2f1c6a94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8ac84de-a7dc-4418-88f8-8ba02af593f2}" ma:internalName="TaxCatchAll" ma:showField="CatchAllData" ma:web="fa43d559-56ce-40e4-b5e0-b1d2f1c6a9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съдържание"/>
        <xsd:element ref="dc:title" minOccurs="0" maxOccurs="1" ma:index="4" ma:displayName="Заглав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a43d559-56ce-40e4-b5e0-b1d2f1c6a948" xsi:nil="true"/>
    <lcf76f155ced4ddcb4097134ff3c332f xmlns="1170580e-cc85-4814-90d0-7c45caf9543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AE6B2B-E3A1-4763-BFF0-1E827E86D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70580e-cc85-4814-90d0-7c45caf95435"/>
    <ds:schemaRef ds:uri="fa43d559-56ce-40e4-b5e0-b1d2f1c6a9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489608-96ED-48F5-8EA6-C41B04591E7C}">
  <ds:schemaRefs>
    <ds:schemaRef ds:uri="http://schemas.microsoft.com/office/2006/metadata/properties"/>
    <ds:schemaRef ds:uri="http://schemas.microsoft.com/office/infopath/2007/PartnerControls"/>
    <ds:schemaRef ds:uri="fa43d559-56ce-40e4-b5e0-b1d2f1c6a948"/>
    <ds:schemaRef ds:uri="1170580e-cc85-4814-90d0-7c45caf95435"/>
  </ds:schemaRefs>
</ds:datastoreItem>
</file>

<file path=customXml/itemProps3.xml><?xml version="1.0" encoding="utf-8"?>
<ds:datastoreItem xmlns:ds="http://schemas.openxmlformats.org/officeDocument/2006/customXml" ds:itemID="{D51F7620-C39F-4E1B-A3E9-093ECB0202F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11197</TotalTime>
  <Words>1459</Words>
  <Application>Microsoft Office PowerPoint</Application>
  <PresentationFormat>Презентация на цял екран (4:3)</PresentationFormat>
  <Paragraphs>295</Paragraphs>
  <Slides>31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31</vt:i4>
      </vt:variant>
    </vt:vector>
  </HeadingPairs>
  <TitlesOfParts>
    <vt:vector size="32" baseType="lpstr">
      <vt:lpstr>Flow</vt:lpstr>
      <vt:lpstr>Аритметични задачи и задачи за обработка на даннови структури. </vt:lpstr>
      <vt:lpstr>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 Двоично-десетични числа</vt:lpstr>
      <vt:lpstr> Двоично-десетични числа</vt:lpstr>
      <vt:lpstr> Двоично-десетични числа</vt:lpstr>
      <vt:lpstr> Двоично-десетични числа</vt:lpstr>
      <vt:lpstr> Събиране на двоично-десетични числа </vt:lpstr>
      <vt:lpstr> Събиране на двоично-десетични числа </vt:lpstr>
      <vt:lpstr> Събиране на двоично-десетични числа </vt:lpstr>
      <vt:lpstr> Събиране на двоично-десетични числа </vt:lpstr>
      <vt:lpstr> Изваждане на двоично-десетични числа </vt:lpstr>
      <vt:lpstr>Презентация на PowerPoint</vt:lpstr>
      <vt:lpstr> Умножение и деление на двоично-десетични числа</vt:lpstr>
      <vt:lpstr> Умножение и деление на двоично-десетични числа</vt:lpstr>
      <vt:lpstr> Умножение и деление на двоично-десетични числа</vt:lpstr>
      <vt:lpstr>Презентация на PowerPoint</vt:lpstr>
      <vt:lpstr>Презентация на PowerPoint</vt:lpstr>
      <vt:lpstr>Презентация на PowerPoint</vt:lpstr>
      <vt:lpstr>  Двоично-десетични числа ARM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Програмен модел на микропроцесор IA-32. Методи за адресация. Формати на данните. Структура на паметта. Таблица с инструкции за микропроцесора.</dc:title>
  <dc:creator>Desi</dc:creator>
  <cp:lastModifiedBy>acer</cp:lastModifiedBy>
  <cp:revision>542</cp:revision>
  <dcterms:created xsi:type="dcterms:W3CDTF">2024-02-15T19:55:55Z</dcterms:created>
  <dcterms:modified xsi:type="dcterms:W3CDTF">2024-05-08T19:46:12Z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0x0101002815A41C86513B4096C6BAC35CB04A7C</vt:lpwstr>
  </property>
  <property fmtid="{D5CDD505-2E9C-101B-9397-08002B2CF9AE}" pid="3" name="MediaServiceImageTags">
    <vt:lpwstr/>
  </property>
</Properties>
</file>